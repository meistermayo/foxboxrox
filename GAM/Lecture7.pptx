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8"/>
  </p:notesMasterIdLst>
  <p:sldIdLst>
    <p:sldId id="259" r:id="rId2"/>
    <p:sldId id="446" r:id="rId3"/>
    <p:sldId id="428" r:id="rId4"/>
    <p:sldId id="440" r:id="rId5"/>
    <p:sldId id="468" r:id="rId6"/>
    <p:sldId id="429" r:id="rId7"/>
    <p:sldId id="431" r:id="rId8"/>
    <p:sldId id="432" r:id="rId9"/>
    <p:sldId id="441" r:id="rId10"/>
    <p:sldId id="442" r:id="rId11"/>
    <p:sldId id="443" r:id="rId12"/>
    <p:sldId id="437" r:id="rId13"/>
    <p:sldId id="464" r:id="rId14"/>
    <p:sldId id="460" r:id="rId15"/>
    <p:sldId id="445" r:id="rId16"/>
    <p:sldId id="417" r:id="rId17"/>
    <p:sldId id="453" r:id="rId18"/>
    <p:sldId id="426" r:id="rId19"/>
    <p:sldId id="447" r:id="rId20"/>
    <p:sldId id="448" r:id="rId21"/>
    <p:sldId id="467" r:id="rId22"/>
    <p:sldId id="451" r:id="rId23"/>
    <p:sldId id="450" r:id="rId24"/>
    <p:sldId id="452" r:id="rId25"/>
    <p:sldId id="449" r:id="rId26"/>
    <p:sldId id="454" r:id="rId27"/>
    <p:sldId id="455" r:id="rId28"/>
    <p:sldId id="456" r:id="rId29"/>
    <p:sldId id="457" r:id="rId30"/>
    <p:sldId id="458" r:id="rId31"/>
    <p:sldId id="459" r:id="rId32"/>
    <p:sldId id="461" r:id="rId33"/>
    <p:sldId id="465" r:id="rId34"/>
    <p:sldId id="462" r:id="rId35"/>
    <p:sldId id="466" r:id="rId36"/>
    <p:sldId id="415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F00FF"/>
    <a:srgbClr val="0D19FF"/>
    <a:srgbClr val="DE38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2881" autoAdjust="0"/>
    <p:restoredTop sz="94994" autoAdjust="0"/>
  </p:normalViewPr>
  <p:slideViewPr>
    <p:cSldViewPr>
      <p:cViewPr varScale="1">
        <p:scale>
          <a:sx n="101" d="100"/>
          <a:sy n="101" d="100"/>
        </p:scale>
        <p:origin x="-162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84DBB-6228-42E2-8BE2-B5B89DE36B0A}" type="datetimeFigureOut">
              <a:rPr lang="en-US" smtClean="0"/>
              <a:t>2/16/2018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6F42D-BF06-49B9-B552-461889774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5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72000" cy="3429000"/>
          </a:xfrm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361" y="4343978"/>
            <a:ext cx="5485279" cy="41130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72000" cy="3429000"/>
          </a:xfrm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361" y="4343978"/>
            <a:ext cx="5485279" cy="41130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72000" cy="3429000"/>
          </a:xfrm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361" y="4343978"/>
            <a:ext cx="5485279" cy="41130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72000" cy="3429000"/>
          </a:xfrm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361" y="4343978"/>
            <a:ext cx="5485279" cy="41130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72000" cy="3429000"/>
          </a:xfrm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361" y="4343978"/>
            <a:ext cx="5485279" cy="41130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72000" cy="3429000"/>
          </a:xfrm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361" y="4343978"/>
            <a:ext cx="5485279" cy="41130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8610600" cy="1295400"/>
          </a:xfrm>
        </p:spPr>
        <p:txBody>
          <a:bodyPr anchor="t" anchorCtr="0">
            <a:noAutofit/>
          </a:bodyPr>
          <a:lstStyle>
            <a:lvl1pPr algn="l">
              <a:defRPr sz="3200">
                <a:solidFill>
                  <a:srgbClr val="0070C0"/>
                </a:solidFill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3790950"/>
            <a:ext cx="5715000" cy="184785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  <a:latin typeface="Arial Black" pitchFamily="34" charset="0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dirty="0" smtClean="0"/>
              <a:t>Click to edit Master subtitle style</a:t>
            </a:r>
            <a:endParaRPr kumimoji="0" lang="en-US" dirty="0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2/16/2018</a:t>
            </a:fld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6106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501968"/>
            <a:ext cx="2289048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9793815C-EA6D-40C7-9E91-479112874C2D}" type="datetime1">
              <a:rPr lang="en-US" smtClean="0"/>
              <a:pPr/>
              <a:t>2/16/2018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96430"/>
            <a:ext cx="4797552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501968"/>
            <a:ext cx="609600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2DD2A927-C669-46EB-947E-64BB8CE605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10600" cy="5257800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</p:spPr>
        <p:txBody>
          <a:bodyPr/>
          <a:lstStyle/>
          <a:p>
            <a:fld id="{6DF0B6F7-A95D-415F-AB9C-947ED3F9C7B2}" type="datetime1">
              <a:rPr lang="en-US" smtClean="0"/>
              <a:t>2/16/2018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5257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52608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2/16/2018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343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343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2/16/2018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2/16/2018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2/16/2018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5257800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477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6172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2/16/2018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fld id="{DBA0D2F6-DF7A-40A9-B654-D40E4E483C8E}" type="datetime1">
              <a:rPr lang="en-US" smtClean="0"/>
              <a:t>2/16/2018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2/16/2018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2/16/2018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52578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2"/>
          </p:nvPr>
        </p:nvSpPr>
        <p:spPr>
          <a:xfrm>
            <a:off x="533400" y="6501968"/>
            <a:ext cx="2289048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9793815C-EA6D-40C7-9E91-479112874C2D}" type="datetime1">
              <a:rPr lang="en-US" smtClean="0"/>
              <a:pPr/>
              <a:t>2/16/2018</a:t>
            </a:fld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8648" y="6496430"/>
            <a:ext cx="4797552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501968"/>
            <a:ext cx="609600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2DD2A927-C669-46EB-947E-64BB8CE6050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randomBar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3200" b="1" kern="1200">
          <a:solidFill>
            <a:srgbClr val="0070C0"/>
          </a:solidFill>
          <a:latin typeface="Arial Black" pitchFamily="34" charset="0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tx1"/>
        </a:buClr>
        <a:buSzPct val="76000"/>
        <a:buFont typeface="Arial" pitchFamily="34" charset="0"/>
        <a:buChar char="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457200" algn="l" rtl="0" eaLnBrk="1" latinLnBrk="0" hangingPunct="1">
        <a:spcBef>
          <a:spcPts val="500"/>
        </a:spcBef>
        <a:buClr>
          <a:schemeClr val="tx1"/>
        </a:buClr>
        <a:buSzPct val="76000"/>
        <a:buFont typeface="Arial" pitchFamily="34" charset="0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tx1"/>
        </a:buClr>
        <a:buSzPct val="76000"/>
        <a:buFont typeface="Arial" pitchFamily="34" charset="0"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tx1"/>
        </a:buClr>
        <a:buSzPct val="70000"/>
        <a:buFont typeface="Arial" pitchFamily="34" charset="0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tx1"/>
        </a:buClr>
        <a:buSzPct val="70000"/>
        <a:buFont typeface="Wingdings"/>
        <a:buChar char="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lobal_illuminati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jpeg"/><Relationship Id="rId4" Type="http://schemas.openxmlformats.org/officeDocument/2006/relationships/hyperlink" Target="https://en.wikipedia.org/wiki/List_of_common_shading_algorithm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hong_reflection_mode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ambert's_cosine_law" TargetMode="External"/><Relationship Id="rId7" Type="http://schemas.openxmlformats.org/officeDocument/2006/relationships/image" Target="../media/image1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7" Type="http://schemas.openxmlformats.org/officeDocument/2006/relationships/image" Target="../media/image24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hyperlink" Target="https://en.wikipedia.org/wiki/Gouraud_shad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msdn.microsoft.com/en-us/library/windows/desktop/bb219869(v=vs.85).aspx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8839200" cy="1295400"/>
          </a:xfrm>
        </p:spPr>
        <p:txBody>
          <a:bodyPr/>
          <a:lstStyle/>
          <a:p>
            <a:r>
              <a:rPr lang="en-US" dirty="0" smtClean="0"/>
              <a:t>GAM 370/470: </a:t>
            </a:r>
            <a:br>
              <a:rPr lang="en-US" dirty="0" smtClean="0"/>
            </a:br>
            <a:r>
              <a:rPr lang="en-US" dirty="0" smtClean="0"/>
              <a:t>Rendering and Graphics Programming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7:</a:t>
            </a:r>
          </a:p>
          <a:p>
            <a:r>
              <a:rPr lang="en-US" dirty="0" smtClean="0"/>
              <a:t>Lighting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09367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1: </a:t>
            </a:r>
          </a:p>
          <a:p>
            <a:r>
              <a:rPr lang="en-US" dirty="0" smtClean="0"/>
              <a:t>Illumination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62162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45" tIns="41473" rIns="82945" bIns="41473"/>
          <a:lstStyle>
            <a:lvl1pPr defTabSz="914414">
              <a:defRPr>
                <a:solidFill>
                  <a:schemeClr val="tx1"/>
                </a:solidFill>
                <a:latin typeface="Arial" charset="0"/>
              </a:defRPr>
            </a:lvl1pPr>
            <a:lvl2pPr marL="673930" indent="-259204" defTabSz="914414">
              <a:defRPr>
                <a:solidFill>
                  <a:schemeClr val="tx1"/>
                </a:solidFill>
                <a:latin typeface="Arial" charset="0"/>
              </a:defRPr>
            </a:lvl2pPr>
            <a:lvl3pPr marL="1036815" indent="-207363" defTabSz="914414">
              <a:defRPr>
                <a:solidFill>
                  <a:schemeClr val="tx1"/>
                </a:solidFill>
                <a:latin typeface="Arial" charset="0"/>
              </a:defRPr>
            </a:lvl3pPr>
            <a:lvl4pPr marL="1451541" indent="-207363" defTabSz="914414">
              <a:defRPr>
                <a:solidFill>
                  <a:schemeClr val="tx1"/>
                </a:solidFill>
                <a:latin typeface="Arial" charset="0"/>
              </a:defRPr>
            </a:lvl4pPr>
            <a:lvl5pPr marL="1866268" indent="-207363" defTabSz="914414">
              <a:defRPr>
                <a:solidFill>
                  <a:schemeClr val="tx1"/>
                </a:solidFill>
                <a:latin typeface="Arial" charset="0"/>
              </a:defRPr>
            </a:lvl5pPr>
            <a:lvl6pPr marL="2280994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695720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10446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25172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0CB308B-3B02-471C-A047-FDB4FA95F073}" type="slidenum">
              <a:rPr lang="en-US" altLang="en-US" smtClean="0">
                <a:solidFill>
                  <a:schemeClr val="bg2"/>
                </a:solidFill>
              </a:rPr>
              <a:pPr/>
              <a:t>3</a:t>
            </a:fld>
            <a:endParaRPr lang="en-US" altLang="en-US" smtClean="0">
              <a:solidFill>
                <a:schemeClr val="bg2"/>
              </a:solidFill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82945" tIns="41473" rIns="82945" bIns="41473"/>
          <a:lstStyle/>
          <a:p>
            <a:r>
              <a:rPr lang="en-US" altLang="en-US" dirty="0" smtClean="0"/>
              <a:t>Illumination Models</a:t>
            </a:r>
          </a:p>
        </p:txBody>
      </p:sp>
      <p:sp>
        <p:nvSpPr>
          <p:cNvPr id="9220" name="Text Box 3"/>
          <p:cNvSpPr txBox="1">
            <a:spLocks noChangeArrowheads="1"/>
          </p:cNvSpPr>
          <p:nvPr/>
        </p:nvSpPr>
        <p:spPr bwMode="auto">
          <a:xfrm>
            <a:off x="424801" y="1219200"/>
            <a:ext cx="8550720" cy="3831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>
            <a:spAutoFit/>
          </a:bodyPr>
          <a:lstStyle>
            <a:lvl1pPr marL="193675" indent="-193675" defTabSz="1008063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1008063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1008063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1008063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1008063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/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light a scene, we must know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light interacts with surfaces and pigments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Unfortunately c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omputing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light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 make the rendering task too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expensive.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CG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approximates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 using an </a:t>
            </a:r>
            <a:r>
              <a:rPr lang="en-US" altLang="en-US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Illumination </a:t>
            </a:r>
            <a:r>
              <a:rPr lang="en-US" alt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buFontTx/>
              <a:buChar char="•"/>
            </a:pPr>
            <a:endParaRPr lang="en-US" altLang="en-US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 models come in two forms:</a:t>
            </a:r>
          </a:p>
          <a:p>
            <a:pPr marL="461963" lvl="1" indent="-168275">
              <a:buFontTx/>
              <a:buChar char="•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Global Illumination</a:t>
            </a: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(Ex: Ray tracing, etc.)</a:t>
            </a: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862013" lvl="2" indent="-168275">
              <a:buFontTx/>
              <a:buChar char="•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Realistic appearance, but computationally very intensive</a:t>
            </a:r>
          </a:p>
          <a:p>
            <a:pPr marL="862013" lvl="2" indent="-168275">
              <a:buFontTx/>
              <a:buChar char="•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 games avoid this or at most use it in very limited ways</a:t>
            </a:r>
          </a:p>
          <a:p>
            <a:pPr marL="862013" lvl="2" indent="-168275">
              <a:buFontTx/>
              <a:buChar char="•"/>
            </a:pPr>
            <a:endParaRPr lang="en-US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1963" lvl="1" indent="-177800">
              <a:buFontTx/>
              <a:buChar char="•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Local Illumination</a:t>
            </a: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(Ex: </a:t>
            </a:r>
            <a:r>
              <a:rPr lang="en-US" altLang="en-US" sz="16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Phong</a:t>
            </a:r>
            <a:r>
              <a:rPr lang="en-US" alt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etc.)</a:t>
            </a:r>
            <a:endParaRPr lang="en-US" alt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2013" lvl="2" indent="-177800">
              <a:buFontTx/>
              <a:buChar char="•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Looks ‘realistic enough’ for most applications</a:t>
            </a:r>
          </a:p>
          <a:p>
            <a:pPr marL="862013" lvl="2" indent="-177800">
              <a:buFontTx/>
              <a:buChar char="•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more features we add (shadows, reflections, refractions, </a:t>
            </a:r>
            <a:r>
              <a:rPr lang="en-US" alt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radiosity</a:t>
            </a: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etc.) the more computationally costly it gets</a:t>
            </a:r>
          </a:p>
          <a:p>
            <a:pPr marL="862013" lvl="2" indent="-177800">
              <a:buFontTx/>
              <a:buChar char="•"/>
            </a:pPr>
            <a:endParaRPr lang="en-US" alt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2013" lvl="2" indent="-174625"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Char char="•"/>
            </a:pPr>
            <a:endParaRPr lang="en-US" altLang="en-US" sz="7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Related im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495801"/>
            <a:ext cx="4979632" cy="2324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437566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92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45" tIns="41473" rIns="82945" bIns="41473"/>
          <a:lstStyle>
            <a:lvl1pPr defTabSz="914414">
              <a:defRPr>
                <a:solidFill>
                  <a:schemeClr val="tx1"/>
                </a:solidFill>
                <a:latin typeface="Arial" charset="0"/>
              </a:defRPr>
            </a:lvl1pPr>
            <a:lvl2pPr marL="673930" indent="-259204" defTabSz="914414">
              <a:defRPr>
                <a:solidFill>
                  <a:schemeClr val="tx1"/>
                </a:solidFill>
                <a:latin typeface="Arial" charset="0"/>
              </a:defRPr>
            </a:lvl2pPr>
            <a:lvl3pPr marL="1036815" indent="-207363" defTabSz="914414">
              <a:defRPr>
                <a:solidFill>
                  <a:schemeClr val="tx1"/>
                </a:solidFill>
                <a:latin typeface="Arial" charset="0"/>
              </a:defRPr>
            </a:lvl3pPr>
            <a:lvl4pPr marL="1451541" indent="-207363" defTabSz="914414">
              <a:defRPr>
                <a:solidFill>
                  <a:schemeClr val="tx1"/>
                </a:solidFill>
                <a:latin typeface="Arial" charset="0"/>
              </a:defRPr>
            </a:lvl4pPr>
            <a:lvl5pPr marL="1866268" indent="-207363" defTabSz="914414">
              <a:defRPr>
                <a:solidFill>
                  <a:schemeClr val="tx1"/>
                </a:solidFill>
                <a:latin typeface="Arial" charset="0"/>
              </a:defRPr>
            </a:lvl5pPr>
            <a:lvl6pPr marL="2280994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695720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10446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25172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0CB308B-3B02-471C-A047-FDB4FA95F073}" type="slidenum">
              <a:rPr lang="en-US" altLang="en-US" smtClean="0">
                <a:solidFill>
                  <a:schemeClr val="bg2"/>
                </a:solidFill>
              </a:rPr>
              <a:pPr/>
              <a:t>4</a:t>
            </a:fld>
            <a:endParaRPr lang="en-US" altLang="en-US" smtClean="0">
              <a:solidFill>
                <a:schemeClr val="bg2"/>
              </a:solidFill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82945" tIns="41473" rIns="82945" bIns="41473"/>
          <a:lstStyle/>
          <a:p>
            <a:r>
              <a:rPr lang="en-US" altLang="en-US" dirty="0" err="1" smtClean="0"/>
              <a:t>Phong</a:t>
            </a:r>
            <a:r>
              <a:rPr lang="en-US" altLang="en-US" dirty="0" smtClean="0"/>
              <a:t> Illumination Model</a:t>
            </a:r>
          </a:p>
        </p:txBody>
      </p:sp>
      <p:sp>
        <p:nvSpPr>
          <p:cNvPr id="9220" name="Text Box 3"/>
          <p:cNvSpPr txBox="1">
            <a:spLocks noChangeArrowheads="1"/>
          </p:cNvSpPr>
          <p:nvPr/>
        </p:nvSpPr>
        <p:spPr bwMode="auto">
          <a:xfrm>
            <a:off x="424801" y="1219200"/>
            <a:ext cx="8550720" cy="2492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>
            <a:spAutoFit/>
          </a:bodyPr>
          <a:lstStyle>
            <a:lvl1pPr marL="193675" indent="-193675" defTabSz="1008063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1008063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1008063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1008063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1008063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/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most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model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alt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Phong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US" alt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Illumination Model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 light’s into 3 components: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ambient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(A),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diffuse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and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specular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(S).</a:t>
            </a:r>
          </a:p>
          <a:p>
            <a:pPr lvl="1"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contribution of each component is computed independently</a:t>
            </a:r>
          </a:p>
          <a:p>
            <a:pPr lvl="1"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illumination value at any point is simply the sum of all the contributions</a:t>
            </a:r>
          </a:p>
          <a:p>
            <a:pPr marL="0" indent="0" eaLnBrk="1" hangingPunct="1"/>
            <a:endParaRPr lang="en-US" altLang="en-US" sz="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/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It’s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approximates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reasonably well and reasonably efficiently</a:t>
            </a:r>
          </a:p>
          <a:p>
            <a:pPr lvl="1" eaLnBrk="1" hangingPunct="1"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the interaction between light and surfaces</a:t>
            </a:r>
          </a:p>
          <a:p>
            <a:pPr lvl="1" eaLnBrk="1" hangingPunct="1"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come from either a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source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is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ambient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https://upload.wikimedia.org/wikipedia/commons/6/6b/Phong_components_version_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156" y="4191000"/>
            <a:ext cx="6982109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38785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9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Phong</a:t>
            </a:r>
            <a:r>
              <a:rPr lang="en-US" altLang="en-US" dirty="0"/>
              <a:t> Illumination Model:</a:t>
            </a:r>
            <a:br>
              <a:rPr lang="en-US" altLang="en-US" dirty="0"/>
            </a:br>
            <a:r>
              <a:rPr lang="en-US" altLang="en-US" dirty="0" smtClean="0"/>
              <a:t>Basics concepts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lvl="1" indent="0">
                  <a:buNone/>
                </a:pPr>
                <a:r>
                  <a:rPr lang="en-US" sz="1800" dirty="0" smtClean="0"/>
                  <a:t>Incoming like intensity is given separately for </a:t>
                </a:r>
                <a:r>
                  <a:rPr lang="en-US" sz="1800" i="1" dirty="0" smtClean="0"/>
                  <a:t>each component A, D &amp; S</a:t>
                </a:r>
                <a:r>
                  <a:rPr lang="en-US" sz="1800" dirty="0" smtClean="0"/>
                  <a:t>:</a:t>
                </a:r>
              </a:p>
              <a:p>
                <a:pPr marL="460375" lvl="2" indent="-188913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1600" dirty="0" smtClean="0"/>
                  <a:t> is the RGB light source’s contribution to the ambient (A) light</a:t>
                </a:r>
              </a:p>
              <a:p>
                <a:pPr marL="460375" lvl="2" indent="-188913"/>
                <a:r>
                  <a:rPr lang="en-US" sz="1600" dirty="0"/>
                  <a:t>Similarly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600" dirty="0"/>
                  <a:t> are </a:t>
                </a:r>
                <a:r>
                  <a:rPr lang="en-US" sz="1600" dirty="0" smtClean="0"/>
                  <a:t>the RGB contributions for diffuse (D) and specular (S), respectively</a:t>
                </a:r>
              </a:p>
              <a:p>
                <a:pPr marL="1031875" lvl="2" indent="-188913"/>
                <a:endParaRPr lang="en-US" sz="1600" dirty="0"/>
              </a:p>
              <a:p>
                <a:pPr marL="842962" lvl="2" indent="0">
                  <a:buNone/>
                </a:pPr>
                <a:endParaRPr lang="en-US" sz="800" dirty="0"/>
              </a:p>
              <a:p>
                <a:pPr marL="842962" lvl="2" indent="0">
                  <a:buNone/>
                </a:pPr>
                <a:endParaRPr lang="en-US" sz="800" dirty="0" smtClean="0"/>
              </a:p>
              <a:p>
                <a:pPr marL="0" lvl="1" indent="0">
                  <a:buNone/>
                </a:pPr>
                <a:r>
                  <a:rPr lang="en-US" sz="1800" dirty="0" smtClean="0"/>
                  <a:t>Surfaces can absorb/reflect light differently based on their </a:t>
                </a:r>
                <a:r>
                  <a:rPr lang="en-US" sz="1800" i="1" dirty="0" smtClean="0"/>
                  <a:t>material properties.</a:t>
                </a:r>
                <a:endParaRPr lang="en-US" sz="1800" dirty="0" smtClean="0"/>
              </a:p>
              <a:p>
                <a:pPr marL="460375" lvl="2" indent="-188913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  <m:sub>
                        <m:r>
                          <a:rPr lang="en-US" sz="1600" i="1">
                            <a:latin typeface="Cambria Math"/>
                            <a:ea typeface="Cambria Math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1600" i="1" dirty="0" smtClean="0"/>
                  <a:t> </a:t>
                </a:r>
                <a:r>
                  <a:rPr lang="en-US" sz="1600" dirty="0" smtClean="0"/>
                  <a:t>is the RGB values for the material under ambient light</a:t>
                </a:r>
              </a:p>
              <a:p>
                <a:pPr marL="460375" lvl="2" indent="-188913"/>
                <a:r>
                  <a:rPr lang="en-US" sz="1600" dirty="0" smtClean="0"/>
                  <a:t>Similarly,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16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600" dirty="0" smtClean="0"/>
                  <a:t> are the RGB values  under diffuse and specular lights, respectively.</a:t>
                </a:r>
              </a:p>
              <a:p>
                <a:pPr marL="1031875" lvl="2" indent="-188913"/>
                <a:endParaRPr lang="en-US" sz="800" dirty="0" smtClean="0"/>
              </a:p>
              <a:p>
                <a:pPr marL="0" lvl="1" indent="0">
                  <a:buNone/>
                </a:pPr>
                <a:r>
                  <a:rPr lang="en-US" sz="1800" dirty="0" smtClean="0"/>
                  <a:t>Intensity and material values are combined using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  <a:ea typeface="Cambria Math"/>
                      </a:rPr>
                      <m:t>⊗</m:t>
                    </m:r>
                  </m:oMath>
                </a14:m>
                <a:r>
                  <a:rPr lang="en-US" sz="1800" dirty="0" smtClean="0"/>
                  <a:t>, </a:t>
                </a:r>
                <a:r>
                  <a:rPr lang="en-US" sz="1800" i="1" dirty="0" smtClean="0"/>
                  <a:t>component-wise multiplication</a:t>
                </a:r>
                <a:r>
                  <a:rPr lang="en-US" sz="1800" dirty="0" smtClean="0"/>
                  <a:t>:</a:t>
                </a:r>
              </a:p>
              <a:p>
                <a:pPr marL="460375" lvl="2" indent="-188913"/>
                <a:r>
                  <a:rPr lang="en-US" altLang="en-US" sz="1600" b="1" dirty="0" smtClean="0"/>
                  <a:t>Ex:</a:t>
                </a:r>
                <a:r>
                  <a:rPr lang="en-US" altLang="en-US" sz="1600" dirty="0" smtClean="0"/>
                  <a:t> </a:t>
                </a:r>
                <a:r>
                  <a:rPr lang="en-US" altLang="en-US" sz="16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𝑎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=(0.1,  0.1,  0.1)</m:t>
                    </m:r>
                  </m:oMath>
                </a14:m>
                <a:r>
                  <a:rPr lang="en-US" altLang="en-US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  <m:sub>
                        <m:r>
                          <a:rPr lang="en-US" sz="1600" i="1">
                            <a:latin typeface="Cambria Math"/>
                            <a:ea typeface="Cambria Math"/>
                          </a:rPr>
                          <m:t>𝑎</m:t>
                        </m:r>
                      </m:sub>
                    </m:sSub>
                    <m:r>
                      <a:rPr lang="en-US" sz="1600" i="1">
                        <a:latin typeface="Cambria Math"/>
                        <a:ea typeface="Cambria Math"/>
                      </a:rPr>
                      <m:t>=(0.2,  1.0,  0.0)</m:t>
                    </m:r>
                  </m:oMath>
                </a14:m>
                <a:r>
                  <a:rPr lang="en-US" altLang="en-US" sz="1600" dirty="0"/>
                  <a:t> then</a:t>
                </a:r>
                <a:r>
                  <a:rPr lang="en-US" altLang="en-US" sz="16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/>
                      </a:rPr>
                      <m:t>A</m:t>
                    </m:r>
                    <m:r>
                      <a:rPr lang="en-US" sz="1600" i="1">
                        <a:latin typeface="Cambria Math"/>
                      </a:rPr>
                      <m:t>=</m:t>
                    </m:r>
                  </m:oMath>
                </a14:m>
                <a:r>
                  <a:rPr lang="en-US" alt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𝑎</m:t>
                        </m:r>
                      </m:sub>
                    </m:sSub>
                    <m:r>
                      <a:rPr lang="en-US" sz="1600" i="1">
                        <a:latin typeface="Cambria Math"/>
                        <a:ea typeface="Cambria Math"/>
                      </a:rPr>
                      <m:t>⊗</m:t>
                    </m:r>
                    <m:sSub>
                      <m:sSubPr>
                        <m:ctrlPr>
                          <a:rPr lang="en-US" sz="1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𝑎</m:t>
                        </m:r>
                      </m:sub>
                    </m:sSub>
                    <m:r>
                      <a:rPr lang="en-US" sz="1400" i="1">
                        <a:latin typeface="Cambria Math"/>
                      </a:rPr>
                      <m:t> </m:t>
                    </m:r>
                  </m:oMath>
                </a14:m>
                <a:r>
                  <a:rPr lang="en-US" altLang="en-US" sz="1600" dirty="0" smtClean="0"/>
                  <a:t>= (</a:t>
                </a:r>
                <a:r>
                  <a:rPr lang="en-US" altLang="en-US" sz="1600" dirty="0"/>
                  <a:t>0.02, 0.1, </a:t>
                </a:r>
                <a:r>
                  <a:rPr lang="en-US" altLang="en-US" sz="1600" dirty="0" smtClean="0"/>
                  <a:t>0.0)</a:t>
                </a:r>
              </a:p>
              <a:p>
                <a:pPr marL="1031875" lvl="2" indent="-188913"/>
                <a:endParaRPr lang="en-US" altLang="en-US" sz="800" dirty="0"/>
              </a:p>
              <a:p>
                <a:pPr marL="0" lvl="1" indent="0">
                  <a:buNone/>
                </a:pPr>
                <a:r>
                  <a:rPr lang="en-US" altLang="en-US" sz="1800" dirty="0" smtClean="0"/>
                  <a:t>To compute final light/color value, we combine intensity and material values for A, D and S and possibly multiply and an additional factor</a:t>
                </a:r>
              </a:p>
              <a:p>
                <a:pPr marL="0" lvl="1" indent="0">
                  <a:buNone/>
                </a:pPr>
                <a:endParaRPr lang="en-US" altLang="en-US" sz="800" dirty="0" smtClean="0"/>
              </a:p>
              <a:p>
                <a:pPr marL="27305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𝐿𝑖𝑡𝐶𝑜𝑙𝑜𝑟</m:t>
                      </m:r>
                      <m:r>
                        <m:rPr>
                          <m:aln/>
                        </m:rPr>
                        <a:rPr lang="en-US" sz="1800" i="1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>
                          <a:latin typeface="Cambria Math"/>
                        </a:rPr>
                        <m:t>A</m:t>
                      </m:r>
                      <m:r>
                        <a:rPr lang="en-US" sz="1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altLang="en-US" sz="1800" i="1">
                              <a:latin typeface="Cambria Math"/>
                            </a:rPr>
                            <m:t>𝑑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en-US" sz="1800">
                          <a:latin typeface="Cambria Math"/>
                        </a:rPr>
                        <m:t>D</m:t>
                      </m:r>
                      <m:r>
                        <a:rPr lang="en-US" altLang="en-US" sz="180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altLang="en-US" sz="1800" i="1"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en-US" sz="1800">
                          <a:latin typeface="Cambria Math"/>
                        </a:rPr>
                        <m:t>S</m:t>
                      </m:r>
                    </m:oMath>
                  </m:oMathPara>
                </a14:m>
                <a:r>
                  <a:rPr lang="en-US" altLang="en-US" sz="1800" dirty="0">
                    <a:latin typeface="Cambria Math"/>
                  </a:rPr>
                  <a:t/>
                </a:r>
                <a:br>
                  <a:rPr lang="en-US" altLang="en-US" sz="1800" dirty="0">
                    <a:latin typeface="Cambria Math"/>
                  </a:rPr>
                </a:br>
                <a:endParaRPr lang="en-US" altLang="en-US" sz="18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66" t="-579" r="-9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Image result for computer graphics multiple  ligh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0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990600" y="2209800"/>
            <a:ext cx="7924800" cy="577158"/>
          </a:xfrm>
          <a:prstGeom prst="roundRect">
            <a:avLst>
              <a:gd name="adj" fmla="val 10330"/>
            </a:avLst>
          </a:prstGeom>
          <a:solidFill>
            <a:srgbClr val="FFFF66"/>
          </a:solidFill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 lIns="82945" tIns="41473" rIns="82945" bIns="41473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829452"/>
            <a:r>
              <a:rPr lang="en-US" alt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Shouldn’t the light color be the same for each of A, D and S, only changing in intensity?</a:t>
            </a:r>
          </a:p>
          <a:p>
            <a:pPr defTabSz="829452"/>
            <a:r>
              <a:rPr lang="en-US" alt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A: 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Maybe but we’re </a:t>
            </a:r>
            <a:r>
              <a:rPr lang="en-US" altLang="en-US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approximating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light, so this gives the artist more freedom to get a scene to ‘look right’</a:t>
            </a:r>
            <a:endParaRPr lang="en-US" altLang="en-US" sz="1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utoShape 15"/>
          <p:cNvSpPr>
            <a:spLocks noChangeArrowheads="1"/>
          </p:cNvSpPr>
          <p:nvPr/>
        </p:nvSpPr>
        <p:spPr bwMode="auto">
          <a:xfrm>
            <a:off x="6362700" y="5638800"/>
            <a:ext cx="2743200" cy="304801"/>
          </a:xfrm>
          <a:prstGeom prst="roundRect">
            <a:avLst>
              <a:gd name="adj" fmla="val 10330"/>
            </a:avLst>
          </a:prstGeom>
          <a:solidFill>
            <a:srgbClr val="FFFF66"/>
          </a:solidFill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 lIns="82945" tIns="41473" rIns="82945" bIns="41473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829452"/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Let’s looks at the math/details</a:t>
            </a:r>
          </a:p>
        </p:txBody>
      </p:sp>
    </p:spTree>
    <p:extLst>
      <p:ext uri="{BB962C8B-B14F-4D97-AF65-F5344CB8AC3E}">
        <p14:creationId xmlns:p14="http://schemas.microsoft.com/office/powerpoint/2010/main" val="179581208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uiExpand="1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45" tIns="41473" rIns="82945" bIns="41473"/>
          <a:lstStyle>
            <a:lvl1pPr defTabSz="914414">
              <a:defRPr>
                <a:solidFill>
                  <a:schemeClr val="tx1"/>
                </a:solidFill>
                <a:latin typeface="Arial" charset="0"/>
              </a:defRPr>
            </a:lvl1pPr>
            <a:lvl2pPr marL="673930" indent="-259204" defTabSz="914414">
              <a:defRPr>
                <a:solidFill>
                  <a:schemeClr val="tx1"/>
                </a:solidFill>
                <a:latin typeface="Arial" charset="0"/>
              </a:defRPr>
            </a:lvl2pPr>
            <a:lvl3pPr marL="1036815" indent="-207363" defTabSz="914414">
              <a:defRPr>
                <a:solidFill>
                  <a:schemeClr val="tx1"/>
                </a:solidFill>
                <a:latin typeface="Arial" charset="0"/>
              </a:defRPr>
            </a:lvl3pPr>
            <a:lvl4pPr marL="1451541" indent="-207363" defTabSz="914414">
              <a:defRPr>
                <a:solidFill>
                  <a:schemeClr val="tx1"/>
                </a:solidFill>
                <a:latin typeface="Arial" charset="0"/>
              </a:defRPr>
            </a:lvl4pPr>
            <a:lvl5pPr marL="1866268" indent="-207363" defTabSz="914414">
              <a:defRPr>
                <a:solidFill>
                  <a:schemeClr val="tx1"/>
                </a:solidFill>
                <a:latin typeface="Arial" charset="0"/>
              </a:defRPr>
            </a:lvl5pPr>
            <a:lvl6pPr marL="2280994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695720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10446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25172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9663287-EB18-4A6A-8870-789F84FF3485}" type="slidenum">
              <a:rPr lang="en-US" altLang="en-US" smtClean="0">
                <a:solidFill>
                  <a:schemeClr val="bg2"/>
                </a:solidFill>
              </a:rPr>
              <a:pPr/>
              <a:t>6</a:t>
            </a:fld>
            <a:endParaRPr lang="en-US" altLang="en-US" smtClean="0">
              <a:solidFill>
                <a:schemeClr val="bg2"/>
              </a:solidFill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82945" tIns="41473" rIns="82945" bIns="41473"/>
          <a:lstStyle/>
          <a:p>
            <a:r>
              <a:rPr lang="en-US" altLang="en-US" dirty="0" err="1" smtClean="0"/>
              <a:t>Phong</a:t>
            </a:r>
            <a:r>
              <a:rPr lang="en-US" altLang="en-US" dirty="0" smtClean="0"/>
              <a:t>:</a:t>
            </a:r>
            <a:br>
              <a:rPr lang="en-US" altLang="en-US" dirty="0" smtClean="0"/>
            </a:br>
            <a:r>
              <a:rPr lang="en-US" altLang="en-US" dirty="0" smtClean="0"/>
              <a:t>Ambient Light Component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3"/>
              <p:cNvSpPr txBox="1">
                <a:spLocks noChangeArrowheads="1"/>
              </p:cNvSpPr>
              <p:nvPr/>
            </p:nvSpPr>
            <p:spPr bwMode="auto">
              <a:xfrm>
                <a:off x="424801" y="1219200"/>
                <a:ext cx="8550720" cy="40934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30" tIns="45715" rIns="91430" bIns="45715">
                <a:spAutoFit/>
              </a:bodyPr>
              <a:lstStyle>
                <a:lvl1pPr marL="193675" indent="-193675" defTabSz="1008063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indent="0"/>
                <a:r>
                  <a:rPr lang="en-US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Ambient light is directionless: comes from light reflected by all other objects and light sources 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the </a:t>
                </a:r>
                <a:r>
                  <a:rPr lang="en-US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scene.</a:t>
                </a:r>
              </a:p>
              <a:p>
                <a:pPr marL="0" indent="0"/>
                <a:endParaRPr lang="en-US" alt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49275" lvl="1" indent="0"/>
                <a:r>
                  <a:rPr lang="en-US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approximate it with the following formula: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A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⊗</m:t>
                    </m:r>
                    <m:sSub>
                      <m:sSub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𝑎</m:t>
                        </m:r>
                      </m:sub>
                    </m:sSub>
                  </m:oMath>
                </a14:m>
                <a:endParaRPr lang="en-US" alt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/>
                <a:endParaRPr lang="en-US" alt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4588" lvl="1" indent="-1381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RGB color of incoming ambient light</a:t>
                </a:r>
              </a:p>
              <a:p>
                <a:pPr marL="1144588" lvl="1" indent="-1381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  <m:sub>
                        <m:r>
                          <a:rPr lang="en-US" sz="1600" i="1">
                            <a:latin typeface="Cambria Math"/>
                            <a:ea typeface="Cambria Math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RGB absorption/reflection values for the surface/material</a:t>
                </a:r>
              </a:p>
              <a:p>
                <a:pPr marL="1144588" lvl="1" indent="-1381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  <a:ea typeface="Cambria Math"/>
                      </a:rPr>
                      <m:t>⊗</m:t>
                    </m:r>
                  </m:oMath>
                </a14:m>
                <a:r>
                  <a:rPr lang="en-US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component-wise multiplication</a:t>
                </a:r>
              </a:p>
              <a:p>
                <a:pPr marL="1144588" lvl="1" indent="-138113">
                  <a:buFont typeface="Arial" panose="020B0604020202020204" pitchFamily="34" charset="0"/>
                  <a:buChar char="•"/>
                </a:pPr>
                <a:r>
                  <a:rPr lang="en-US" sz="1600" i="1" dirty="0">
                    <a:latin typeface="Cambria Math"/>
                  </a:rPr>
                  <a:t>A</a:t>
                </a:r>
                <a:r>
                  <a:rPr lang="en-US" sz="1600" dirty="0">
                    <a:latin typeface="Cambria Math"/>
                  </a:rPr>
                  <a:t> is the RGB ambient light intensity </a:t>
                </a:r>
                <a:endParaRPr lang="en-US" alt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687388" lvl="1" indent="-138113">
                  <a:buFont typeface="Arial" panose="020B0604020202020204" pitchFamily="34" charset="0"/>
                  <a:buChar char="•"/>
                </a:pPr>
                <a:endParaRPr lang="en-US" altLang="en-US" sz="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/>
                <a:endParaRPr lang="en-US" alt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/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Ambient light alone is not enough</a:t>
                </a:r>
                <a:r>
                  <a:rPr lang="en-US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342900" lvl="1" indent="-227013">
                  <a:buFont typeface="Arial" panose="020B0604020202020204" pitchFamily="34" charset="0"/>
                  <a:buChar char="•"/>
                </a:pPr>
                <a:r>
                  <a:rPr lang="en-US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darkness/shadows opposite the light</a:t>
                </a:r>
              </a:p>
              <a:p>
                <a:pPr marL="342900" lvl="1" indent="-227013">
                  <a:buFont typeface="Arial" panose="020B0604020202020204" pitchFamily="34" charset="0"/>
                  <a:buChar char="•"/>
                </a:pPr>
                <a:r>
                  <a:rPr lang="en-US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Depth </a:t>
                </a: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difficult to </a:t>
                </a:r>
                <a:r>
                  <a:rPr lang="en-US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judge</a:t>
                </a:r>
              </a:p>
              <a:p>
                <a:pPr marL="342900" lvl="1" indent="-227013">
                  <a:buFont typeface="Arial" panose="020B0604020202020204" pitchFamily="34" charset="0"/>
                  <a:buChar char="•"/>
                </a:pPr>
                <a:r>
                  <a:rPr lang="en-US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Surface </a:t>
                </a: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properties are not visible</a:t>
                </a:r>
              </a:p>
              <a:p>
                <a:pPr marL="0" indent="0"/>
                <a:endPara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4801" y="1219200"/>
                <a:ext cx="8550720" cy="4093418"/>
              </a:xfrm>
              <a:prstGeom prst="rect">
                <a:avLst/>
              </a:prstGeom>
              <a:blipFill rotWithShape="1">
                <a:blip r:embed="rId3"/>
                <a:stretch>
                  <a:fillRect l="-785" t="-74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79" name="AutoShape 15"/>
          <p:cNvSpPr>
            <a:spLocks noChangeArrowheads="1"/>
          </p:cNvSpPr>
          <p:nvPr/>
        </p:nvSpPr>
        <p:spPr bwMode="auto">
          <a:xfrm>
            <a:off x="5333761" y="3200400"/>
            <a:ext cx="3504960" cy="761999"/>
          </a:xfrm>
          <a:prstGeom prst="roundRect">
            <a:avLst>
              <a:gd name="adj" fmla="val 10330"/>
            </a:avLst>
          </a:prstGeom>
          <a:solidFill>
            <a:srgbClr val="FFFF66"/>
          </a:solidFill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 lIns="82945" tIns="41473" rIns="82945" bIns="41473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829452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ambient light is not computed from the scene. </a:t>
            </a: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Instead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is set through </a:t>
            </a: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coefficients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24587" name="Picture 10" descr="ambien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760" y="4038184"/>
            <a:ext cx="3504960" cy="2629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509171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1127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68801" y="6401473"/>
            <a:ext cx="1905120" cy="2851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45" tIns="41473" rIns="82945" bIns="41473"/>
          <a:lstStyle>
            <a:lvl1pPr defTabSz="914414">
              <a:defRPr>
                <a:solidFill>
                  <a:schemeClr val="tx1"/>
                </a:solidFill>
                <a:latin typeface="Arial" charset="0"/>
              </a:defRPr>
            </a:lvl1pPr>
            <a:lvl2pPr marL="673930" indent="-259204" defTabSz="914414">
              <a:defRPr>
                <a:solidFill>
                  <a:schemeClr val="tx1"/>
                </a:solidFill>
                <a:latin typeface="Arial" charset="0"/>
              </a:defRPr>
            </a:lvl2pPr>
            <a:lvl3pPr marL="1036815" indent="-207363" defTabSz="914414">
              <a:defRPr>
                <a:solidFill>
                  <a:schemeClr val="tx1"/>
                </a:solidFill>
                <a:latin typeface="Arial" charset="0"/>
              </a:defRPr>
            </a:lvl3pPr>
            <a:lvl4pPr marL="1451541" indent="-207363" defTabSz="914414">
              <a:defRPr>
                <a:solidFill>
                  <a:schemeClr val="tx1"/>
                </a:solidFill>
                <a:latin typeface="Arial" charset="0"/>
              </a:defRPr>
            </a:lvl4pPr>
            <a:lvl5pPr marL="1866268" indent="-207363" defTabSz="914414">
              <a:defRPr>
                <a:solidFill>
                  <a:schemeClr val="tx1"/>
                </a:solidFill>
                <a:latin typeface="Arial" charset="0"/>
              </a:defRPr>
            </a:lvl5pPr>
            <a:lvl6pPr marL="2280994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695720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10446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25172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8325699E-FAB3-4DDA-B952-11AE7863C8FF}" type="slidenum">
              <a:rPr lang="en-US" altLang="en-US" smtClean="0">
                <a:solidFill>
                  <a:schemeClr val="bg2"/>
                </a:solidFill>
              </a:rPr>
              <a:pPr/>
              <a:t>7</a:t>
            </a:fld>
            <a:endParaRPr lang="en-US" altLang="en-US" smtClean="0">
              <a:solidFill>
                <a:schemeClr val="bg2"/>
              </a:solidFill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82945" tIns="41473" rIns="82945" bIns="41473"/>
          <a:lstStyle/>
          <a:p>
            <a:r>
              <a:rPr lang="en-US" altLang="en-US" dirty="0" smtClean="0"/>
              <a:t>Diffuse Lighting and</a:t>
            </a:r>
            <a:br>
              <a:rPr lang="en-US" altLang="en-US" dirty="0" smtClean="0"/>
            </a:br>
            <a:r>
              <a:rPr lang="en-US" altLang="en-US" dirty="0" smtClean="0"/>
              <a:t>Lambert’s Cosine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2211" name="Text Box 3"/>
              <p:cNvSpPr txBox="1">
                <a:spLocks noChangeArrowheads="1"/>
              </p:cNvSpPr>
              <p:nvPr/>
            </p:nvSpPr>
            <p:spPr bwMode="auto">
              <a:xfrm>
                <a:off x="381000" y="1207129"/>
                <a:ext cx="8640000" cy="52014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30" tIns="45715" rIns="91430" bIns="45715">
                <a:spAutoFit/>
              </a:bodyPr>
              <a:lstStyle>
                <a:lvl1pPr defTabSz="503238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476250" indent="-238125" defTabSz="503238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defTabSz="503238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defTabSz="503238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defTabSz="503238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defTabSz="5032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defTabSz="5032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defTabSz="5032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defTabSz="5032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Dull 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matt surfaces are </a:t>
                </a:r>
                <a:r>
                  <a:rPr lang="en-US" altLang="en-US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diffuse 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reflectors</a:t>
                </a:r>
              </a:p>
              <a:p>
                <a:pPr lvl="1" eaLnBrk="1" hangingPunct="1">
                  <a:buFontTx/>
                  <a:buChar char="•"/>
                </a:pPr>
                <a:r>
                  <a:rPr lang="en-US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They scatter </a:t>
                </a: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reflected light in all direction</a:t>
                </a:r>
              </a:p>
              <a:p>
                <a:pPr lvl="1" eaLnBrk="1" hangingPunct="1">
                  <a:buFontTx/>
                  <a:buChar char="•"/>
                </a:pPr>
                <a:r>
                  <a:rPr lang="en-US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Produces </a:t>
                </a: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the eye perceives as color </a:t>
                </a:r>
              </a:p>
              <a:p>
                <a:pPr lvl="1" eaLnBrk="1" hangingPunct="1">
                  <a:buFontTx/>
                  <a:buChar char="•"/>
                </a:pPr>
                <a:endPara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eaLnBrk="1" hangingPunct="1">
                  <a:buFontTx/>
                  <a:buChar char="•"/>
                </a:pPr>
                <a:endParaRPr lang="en-US" alt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1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Intensity </a:t>
                </a:r>
                <a:r>
                  <a:rPr lang="en-US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diffuse reflection depends on the angle between the surface and directional light</a:t>
                </a:r>
              </a:p>
              <a:p>
                <a:pPr eaLnBrk="1" hangingPunct="1"/>
                <a:endParaRPr lang="en-US" alt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19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en-US" sz="1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behavior is captured by </a:t>
                </a:r>
                <a:r>
                  <a:rPr kumimoji="1" lang="en-US" altLang="en-US" sz="1900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hlinkClick r:id="rId3"/>
                  </a:rPr>
                  <a:t>Lambert’s Cosine Law</a:t>
                </a:r>
                <a:r>
                  <a:rPr kumimoji="1" lang="en-US" altLang="en-US" sz="1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687388" lvl="1" indent="-211138">
                  <a:buFont typeface="Arial" panose="020B0604020202020204" pitchFamily="34" charset="0"/>
                  <a:buChar char="•"/>
                </a:pPr>
                <a:r>
                  <a:rPr kumimoji="1" lang="en-US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bit technical in its full form.</a:t>
                </a:r>
              </a:p>
              <a:p>
                <a:pPr marL="687388" lvl="1" indent="-211138">
                  <a:buFont typeface="Arial" panose="020B0604020202020204" pitchFamily="34" charset="0"/>
                  <a:buChar char="•"/>
                </a:pPr>
                <a:r>
                  <a:rPr kumimoji="1" lang="en-US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CG applications, it boils down to: </a:t>
                </a:r>
              </a:p>
              <a:p>
                <a:pPr marL="914400" lvl="1" indent="0"/>
                <a:r>
                  <a:rPr kumimoji="1" lang="en-US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intensity is proportional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en-US" altLang="en-US" sz="1600" i="1">
                            <a:latin typeface="Cambria Math"/>
                          </a:rPr>
                          <m:t>𝑑</m:t>
                        </m:r>
                      </m:sub>
                    </m:sSub>
                    <m:r>
                      <a:rPr lang="en-US" altLang="en-US" sz="1600" i="1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kumimoji="1" lang="en-US" altLang="en-US" sz="1600" b="0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en-US" sz="1600" b="0" i="0" smtClean="0">
                            <a:latin typeface="Cambria Math"/>
                            <a:cs typeface="Times New Roman" panose="02020603050405020304" pitchFamily="18" charset="0"/>
                          </a:rPr>
                          <m:t>max</m:t>
                        </m:r>
                      </m:fName>
                      <m:e>
                        <m:r>
                          <a:rPr kumimoji="1" lang="en-US" altLang="en-US" sz="16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( </m:t>
                        </m:r>
                        <m:r>
                          <a:rPr kumimoji="1" lang="en-US" altLang="en-US" sz="1600" b="1" i="0" smtClean="0">
                            <a:latin typeface="Cambria Math"/>
                            <a:cs typeface="Times New Roman" panose="02020603050405020304" pitchFamily="18" charset="0"/>
                          </a:rPr>
                          <m:t>𝐋</m:t>
                        </m:r>
                        <m:r>
                          <a:rPr kumimoji="1" lang="en-US" altLang="en-US" sz="1600" b="1" i="1" smtClean="0"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∙</m:t>
                        </m:r>
                        <m:r>
                          <a:rPr kumimoji="1" lang="en-US" altLang="en-US" sz="1600" b="1" i="0" smtClean="0"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𝐧</m:t>
                        </m:r>
                        <m:r>
                          <a:rPr kumimoji="1" lang="en-US" altLang="en-US" sz="16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,0)</m:t>
                        </m:r>
                      </m:e>
                    </m:func>
                  </m:oMath>
                </a14:m>
                <a:r>
                  <a:rPr kumimoji="1" lang="en-US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</a:p>
              <a:p>
                <a:pPr marL="914400" lvl="1" indent="0"/>
                <a:r>
                  <a:rPr kumimoji="1" lang="en-US" altLang="en-US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kumimoji="1" lang="en-US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direction </a:t>
                </a:r>
                <a:r>
                  <a:rPr kumimoji="1" lang="en-US" altLang="en-US" sz="1600" i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towards</a:t>
                </a:r>
                <a:r>
                  <a:rPr kumimoji="1" lang="en-US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light and </a:t>
                </a:r>
                <a:r>
                  <a:rPr kumimoji="1" lang="en-US" altLang="en-US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kumimoji="1" lang="en-US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surface normal </a:t>
                </a:r>
              </a:p>
              <a:p>
                <a:pPr marL="914400" lvl="1" indent="0"/>
                <a:r>
                  <a:rPr kumimoji="1" lang="en-US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(both vectors are normalized)</a:t>
                </a:r>
                <a:endParaRPr kumimoji="1"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2211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1207129"/>
                <a:ext cx="8640000" cy="5201414"/>
              </a:xfrm>
              <a:prstGeom prst="rect">
                <a:avLst/>
              </a:prstGeom>
              <a:blipFill rotWithShape="1">
                <a:blip r:embed="rId4"/>
                <a:stretch>
                  <a:fillRect l="-776" t="-586" r="-353" b="-5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2212" name="Picture 4" descr="fig4-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01" r="10400" b="11340"/>
          <a:stretch>
            <a:fillRect/>
          </a:stretch>
        </p:blipFill>
        <p:spPr bwMode="auto">
          <a:xfrm>
            <a:off x="6020640" y="1207129"/>
            <a:ext cx="1728000" cy="1239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2214" name="Picture 6" descr="fig4-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992" b="21815"/>
          <a:stretch>
            <a:fillRect/>
          </a:stretch>
        </p:blipFill>
        <p:spPr bwMode="auto">
          <a:xfrm>
            <a:off x="1828800" y="2895600"/>
            <a:ext cx="1337760" cy="1323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2215" name="Picture 7" descr="fig4-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34" r="25974" b="23097"/>
          <a:stretch>
            <a:fillRect/>
          </a:stretch>
        </p:blipFill>
        <p:spPr bwMode="auto">
          <a:xfrm>
            <a:off x="4895999" y="2895600"/>
            <a:ext cx="1388160" cy="1323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2216" name="Picture 8" descr="fig4-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22" r="52446" b="26942"/>
          <a:stretch>
            <a:fillRect/>
          </a:stretch>
        </p:blipFill>
        <p:spPr bwMode="auto">
          <a:xfrm>
            <a:off x="3358079" y="2895600"/>
            <a:ext cx="1346400" cy="1323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2217" name="Picture 9" descr="fig4-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22" b="14224"/>
          <a:stretch>
            <a:fillRect/>
          </a:stretch>
        </p:blipFill>
        <p:spPr bwMode="auto">
          <a:xfrm>
            <a:off x="6475679" y="2895600"/>
            <a:ext cx="1101600" cy="1323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2218" name="Text Box 10"/>
          <p:cNvSpPr txBox="1">
            <a:spLocks noChangeArrowheads="1"/>
          </p:cNvSpPr>
          <p:nvPr/>
        </p:nvSpPr>
        <p:spPr bwMode="auto">
          <a:xfrm>
            <a:off x="2112138" y="4242142"/>
            <a:ext cx="5243723" cy="492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 defTabSz="503238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503238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503238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503238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503238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sz="1200" b="1" i="1" dirty="0">
                <a:solidFill>
                  <a:srgbClr val="C00000"/>
                </a:solidFill>
              </a:rPr>
              <a:t>maximum	                 high                              low                             zero</a:t>
            </a:r>
            <a:endParaRPr lang="en-US" altLang="en-US" sz="800" b="1" i="1" dirty="0">
              <a:solidFill>
                <a:srgbClr val="C00000"/>
              </a:solidFill>
            </a:endParaRPr>
          </a:p>
          <a:p>
            <a:pPr algn="ctr" eaLnBrk="1" hangingPunct="1"/>
            <a:r>
              <a:rPr lang="en-US" altLang="en-US" sz="1400" b="1" dirty="0">
                <a:solidFill>
                  <a:srgbClr val="C00000"/>
                </a:solidFill>
              </a:rPr>
              <a:t>Intensity of reflected light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781800" y="4556412"/>
            <a:ext cx="2057400" cy="2072988"/>
            <a:chOff x="6781800" y="4729980"/>
            <a:chExt cx="2057400" cy="2072988"/>
          </a:xfrm>
        </p:grpSpPr>
        <p:pic>
          <p:nvPicPr>
            <p:cNvPr id="1026" name="Picture 2" descr="Image result for lambert cosine law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1800" y="4729980"/>
              <a:ext cx="2057400" cy="207298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7577279" y="533400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272046" y="5334000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016122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2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22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22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22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22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22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222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2222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222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222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2222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222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1" grpId="0" uiExpand="1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45" tIns="41473" rIns="82945" bIns="41473"/>
          <a:lstStyle>
            <a:lvl1pPr defTabSz="914414">
              <a:defRPr>
                <a:solidFill>
                  <a:schemeClr val="tx1"/>
                </a:solidFill>
                <a:latin typeface="Arial" charset="0"/>
              </a:defRPr>
            </a:lvl1pPr>
            <a:lvl2pPr marL="673930" indent="-259204" defTabSz="914414">
              <a:defRPr>
                <a:solidFill>
                  <a:schemeClr val="tx1"/>
                </a:solidFill>
                <a:latin typeface="Arial" charset="0"/>
              </a:defRPr>
            </a:lvl2pPr>
            <a:lvl3pPr marL="1036815" indent="-207363" defTabSz="914414">
              <a:defRPr>
                <a:solidFill>
                  <a:schemeClr val="tx1"/>
                </a:solidFill>
                <a:latin typeface="Arial" charset="0"/>
              </a:defRPr>
            </a:lvl3pPr>
            <a:lvl4pPr marL="1451541" indent="-207363" defTabSz="914414">
              <a:defRPr>
                <a:solidFill>
                  <a:schemeClr val="tx1"/>
                </a:solidFill>
                <a:latin typeface="Arial" charset="0"/>
              </a:defRPr>
            </a:lvl4pPr>
            <a:lvl5pPr marL="1866268" indent="-207363" defTabSz="914414">
              <a:defRPr>
                <a:solidFill>
                  <a:schemeClr val="tx1"/>
                </a:solidFill>
                <a:latin typeface="Arial" charset="0"/>
              </a:defRPr>
            </a:lvl5pPr>
            <a:lvl6pPr marL="2280994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695720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10446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25172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7BDCAE68-DA00-4364-AEBF-23E55371AA05}" type="slidenum">
              <a:rPr lang="en-US" altLang="en-US" smtClean="0">
                <a:solidFill>
                  <a:schemeClr val="bg2"/>
                </a:solidFill>
              </a:rPr>
              <a:pPr/>
              <a:t>8</a:t>
            </a:fld>
            <a:endParaRPr lang="en-US" altLang="en-US" smtClean="0">
              <a:solidFill>
                <a:schemeClr val="bg2"/>
              </a:solidFill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82945" tIns="41473" rIns="82945" bIns="41473"/>
          <a:lstStyle/>
          <a:p>
            <a:r>
              <a:rPr lang="en-US" altLang="en-US" dirty="0" err="1"/>
              <a:t>Phong</a:t>
            </a:r>
            <a:r>
              <a:rPr lang="en-US" altLang="en-US" dirty="0"/>
              <a:t>:</a:t>
            </a:r>
            <a:br>
              <a:rPr lang="en-US" altLang="en-US" dirty="0"/>
            </a:br>
            <a:r>
              <a:rPr lang="en-US" altLang="en-US" dirty="0"/>
              <a:t>Diffuse </a:t>
            </a:r>
            <a:r>
              <a:rPr lang="en-US" altLang="en-US" dirty="0" smtClean="0"/>
              <a:t>Light Component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630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32840" y="1221281"/>
                <a:ext cx="8177760" cy="3045919"/>
              </a:xfrm>
            </p:spPr>
            <p:txBody>
              <a:bodyPr lIns="82945" tIns="41473" rIns="82945" bIns="41473"/>
              <a:lstStyle/>
              <a:p>
                <a:pPr>
                  <a:buFontTx/>
                  <a:buNone/>
                </a:pPr>
                <a:r>
                  <a:rPr lang="en-US" altLang="en-US" sz="2000" dirty="0" smtClean="0"/>
                  <a:t>The reflected intensity of matte or dull surfaces</a:t>
                </a:r>
              </a:p>
              <a:p>
                <a:pPr marL="461963" lvl="1" indent="-188913"/>
                <a:r>
                  <a:rPr lang="en-US" altLang="en-US" sz="1800" dirty="0" smtClean="0"/>
                  <a:t>Is </a:t>
                </a:r>
                <a:r>
                  <a:rPr lang="en-US" altLang="en-US" sz="1800" dirty="0"/>
                  <a:t>independent of the viewing </a:t>
                </a:r>
                <a:r>
                  <a:rPr lang="en-US" altLang="en-US" sz="1800" dirty="0" smtClean="0"/>
                  <a:t>angle</a:t>
                </a:r>
              </a:p>
              <a:p>
                <a:pPr marL="461963" lvl="1" indent="-188913"/>
                <a:r>
                  <a:rPr lang="en-US" altLang="en-US" sz="1800" dirty="0" smtClean="0"/>
                  <a:t>Depends on the diffuse light color and the diffuse material color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1800">
                        <a:latin typeface="Cambria Math"/>
                      </a:rPr>
                      <m:t>D</m:t>
                    </m:r>
                    <m:r>
                      <a:rPr lang="en-US" altLang="en-US" sz="1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en-US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en-US" sz="1800" i="1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en-US" sz="1800" i="1">
                            <a:latin typeface="Cambria Math"/>
                          </a:rPr>
                          <m:t>𝑑</m:t>
                        </m:r>
                      </m:sub>
                    </m:sSub>
                    <m:r>
                      <a:rPr lang="en-US" altLang="en-US" sz="1800" i="1">
                        <a:latin typeface="Cambria Math"/>
                        <a:ea typeface="Cambria Math"/>
                      </a:rPr>
                      <m:t>⊗</m:t>
                    </m:r>
                    <m:sSub>
                      <m:sSubPr>
                        <m:ctrlPr>
                          <a:rPr lang="en-US" altLang="en-US" sz="18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en-US" sz="1800" i="1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  <m:sub>
                        <m:r>
                          <a:rPr lang="en-US" altLang="en-US" sz="1800" i="1">
                            <a:latin typeface="Cambria Math"/>
                            <a:ea typeface="Cambria Math"/>
                          </a:rPr>
                          <m:t>𝑑</m:t>
                        </m:r>
                      </m:sub>
                    </m:sSub>
                  </m:oMath>
                </a14:m>
                <a:endParaRPr lang="en-US" altLang="en-US" sz="1800" dirty="0" smtClean="0"/>
              </a:p>
              <a:p>
                <a:pPr marL="461963" lvl="1" indent="-188913"/>
                <a:r>
                  <a:rPr lang="en-US" altLang="en-US" sz="1800" dirty="0" smtClean="0"/>
                  <a:t>Also depends on Lambert’s cosine law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en-US" sz="1800" i="1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en-US" altLang="en-US" sz="1800" i="1">
                            <a:latin typeface="Cambria Math"/>
                          </a:rPr>
                          <m:t>𝑑</m:t>
                        </m:r>
                      </m:sub>
                    </m:sSub>
                    <m:r>
                      <a:rPr lang="en-US" altLang="en-US" sz="1800" i="1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kumimoji="1" lang="en-US" altLang="en-US" sz="1800" i="1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en-US" sz="1800">
                            <a:latin typeface="Cambria Math"/>
                          </a:rPr>
                          <m:t>max</m:t>
                        </m:r>
                      </m:fName>
                      <m:e>
                        <m:r>
                          <a:rPr kumimoji="1" lang="en-US" altLang="en-US" sz="1800" i="1">
                            <a:latin typeface="Cambria Math"/>
                          </a:rPr>
                          <m:t>( </m:t>
                        </m:r>
                        <m:r>
                          <a:rPr kumimoji="1" lang="en-US" altLang="en-US" sz="1800" b="1">
                            <a:latin typeface="Cambria Math"/>
                          </a:rPr>
                          <m:t>𝐋</m:t>
                        </m:r>
                        <m:r>
                          <a:rPr kumimoji="1" lang="en-US" altLang="en-US" sz="1800" b="1" i="1">
                            <a:latin typeface="Cambria Math"/>
                            <a:ea typeface="Cambria Math"/>
                          </a:rPr>
                          <m:t>∙</m:t>
                        </m:r>
                        <m:r>
                          <a:rPr kumimoji="1" lang="en-US" altLang="en-US" sz="1800" b="1">
                            <a:latin typeface="Cambria Math"/>
                            <a:ea typeface="Cambria Math"/>
                          </a:rPr>
                          <m:t>𝐧</m:t>
                        </m:r>
                        <m:r>
                          <a:rPr kumimoji="1" lang="en-US" altLang="en-US" sz="1800" i="1">
                            <a:latin typeface="Cambria Math"/>
                          </a:rPr>
                          <m:t>,0)</m:t>
                        </m:r>
                      </m:e>
                    </m:func>
                  </m:oMath>
                </a14:m>
                <a:endParaRPr lang="en-US" altLang="en-US" sz="1800" dirty="0" smtClean="0"/>
              </a:p>
              <a:p>
                <a:pPr marL="273050" lvl="1" indent="0">
                  <a:buNone/>
                </a:pPr>
                <a:endParaRPr lang="en-US" altLang="en-US" sz="1800" dirty="0" smtClean="0"/>
              </a:p>
              <a:p>
                <a:pPr marL="273050" lvl="1" indent="0">
                  <a:buNone/>
                </a:pPr>
                <a:r>
                  <a:rPr lang="en-US" altLang="en-US" sz="1800" dirty="0" smtClean="0"/>
                  <a:t>Putting all this together, we can compute the diffuse light component:</a:t>
                </a:r>
              </a:p>
              <a:p>
                <a:pPr marL="273050" lvl="1" indent="0">
                  <a:buNone/>
                </a:pPr>
                <a:endParaRPr lang="en-US" altLang="en-US" sz="800" dirty="0" smtClean="0"/>
              </a:p>
              <a:p>
                <a:pPr marL="27305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800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 sz="1800" b="0" i="0" smtClean="0">
                              <a:latin typeface="Cambria Math"/>
                              <a:ea typeface="Cambria Math"/>
                            </a:rPr>
                            <m:t>c</m:t>
                          </m:r>
                        </m:e>
                        <m:sub>
                          <m:r>
                            <a:rPr lang="en-US" altLang="en-US" sz="1800" b="0" i="1" smtClean="0">
                              <a:latin typeface="Cambria Math"/>
                              <a:ea typeface="Cambria Math"/>
                            </a:rPr>
                            <m:t>𝑑</m:t>
                          </m:r>
                        </m:sub>
                      </m:sSub>
                      <m:r>
                        <a:rPr lang="en-US" altLang="en-US" sz="1800" b="0" i="0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en-US" sz="1800" b="0" i="0" smtClean="0">
                          <a:latin typeface="Cambria Math"/>
                          <a:ea typeface="Cambria Math"/>
                        </a:rPr>
                        <m:t>D</m:t>
                      </m:r>
                      <m:sSub>
                        <m:sSubPr>
                          <m:ctrlPr>
                            <a:rPr lang="en-US" alt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altLang="en-US" sz="1800" i="1">
                              <a:latin typeface="Cambria Math"/>
                            </a:rPr>
                            <m:t>𝑑</m:t>
                          </m:r>
                        </m:sub>
                      </m:sSub>
                      <m:r>
                        <a:rPr lang="en-US" altLang="en-US" sz="1800" b="0" i="0" smtClean="0">
                          <a:latin typeface="Cambria Math"/>
                        </a:rPr>
                        <m:t>=</m:t>
                      </m:r>
                      <m:r>
                        <a:rPr lang="en-US" altLang="en-US" sz="1800" b="0" i="1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alt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altLang="en-US" sz="1800" i="1">
                              <a:latin typeface="Cambria Math"/>
                            </a:rPr>
                            <m:t>𝑑</m:t>
                          </m:r>
                        </m:sub>
                      </m:sSub>
                      <m:r>
                        <a:rPr lang="en-US" altLang="en-US" sz="1800" i="1">
                          <a:latin typeface="Cambria Math"/>
                          <a:ea typeface="Cambria Math"/>
                        </a:rPr>
                        <m:t>⊗</m:t>
                      </m:r>
                      <m:sSub>
                        <m:sSubPr>
                          <m:ctrlPr>
                            <a:rPr lang="en-US" altLang="en-US" sz="18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altLang="en-US" sz="1800" i="1">
                              <a:latin typeface="Cambria Math"/>
                              <a:ea typeface="Cambria Math"/>
                            </a:rPr>
                            <m:t>𝑑</m:t>
                          </m:r>
                        </m:sub>
                      </m:sSub>
                      <m:r>
                        <a:rPr lang="en-US" altLang="en-US" sz="1800" b="0" i="1" smtClean="0">
                          <a:latin typeface="Cambria Math"/>
                          <a:ea typeface="Cambria Math"/>
                        </a:rPr>
                        <m:t>)</m:t>
                      </m:r>
                      <m:func>
                        <m:funcPr>
                          <m:ctrlPr>
                            <a:rPr kumimoji="1" lang="en-US" altLang="en-US" sz="1800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en-US" sz="1800">
                              <a:latin typeface="Cambria Math"/>
                            </a:rPr>
                            <m:t>max</m:t>
                          </m:r>
                        </m:fName>
                        <m:e>
                          <m:r>
                            <a:rPr kumimoji="1" lang="en-US" altLang="en-US" sz="1800" i="1">
                              <a:latin typeface="Cambria Math"/>
                            </a:rPr>
                            <m:t>( </m:t>
                          </m:r>
                          <m:r>
                            <a:rPr kumimoji="1" lang="en-US" altLang="en-US" sz="1800" b="1">
                              <a:latin typeface="Cambria Math"/>
                            </a:rPr>
                            <m:t>𝐋</m:t>
                          </m:r>
                          <m:r>
                            <a:rPr kumimoji="1" lang="en-US" altLang="en-US" sz="1800" b="1" i="1"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kumimoji="1" lang="en-US" altLang="en-US" sz="1800" b="1">
                              <a:latin typeface="Cambria Math"/>
                              <a:ea typeface="Cambria Math"/>
                            </a:rPr>
                            <m:t>𝐧</m:t>
                          </m:r>
                          <m:r>
                            <a:rPr kumimoji="1" lang="en-US" altLang="en-US" sz="1800" i="1">
                              <a:latin typeface="Cambria Math"/>
                            </a:rPr>
                            <m:t>,0)</m:t>
                          </m:r>
                        </m:e>
                      </m:func>
                    </m:oMath>
                  </m:oMathPara>
                </a14:m>
                <a:r>
                  <a:rPr lang="en-US" altLang="en-US" sz="1800" b="0" dirty="0" smtClean="0">
                    <a:ea typeface="Cambria Math"/>
                  </a:rPr>
                  <a:t/>
                </a:r>
                <a:br>
                  <a:rPr lang="en-US" altLang="en-US" sz="1800" b="0" dirty="0" smtClean="0">
                    <a:ea typeface="Cambria Math"/>
                  </a:rPr>
                </a:br>
                <a:endParaRPr lang="en-US" altLang="en-US" sz="1800" dirty="0"/>
              </a:p>
              <a:p>
                <a:pPr marL="273050" lvl="1" indent="0">
                  <a:buNone/>
                </a:pPr>
                <a:endParaRPr lang="en-US" altLang="en-US" sz="1800" dirty="0" smtClean="0"/>
              </a:p>
              <a:p>
                <a:pPr marL="273050" lvl="1" indent="0">
                  <a:buNone/>
                </a:pPr>
                <a:endParaRPr lang="en-US" altLang="en-US" sz="1800" dirty="0"/>
              </a:p>
            </p:txBody>
          </p:sp>
        </mc:Choice>
        <mc:Fallback xmlns="">
          <p:sp>
            <p:nvSpPr>
              <p:cNvPr id="2263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32840" y="1221281"/>
                <a:ext cx="8177760" cy="3045919"/>
              </a:xfrm>
              <a:blipFill rotWithShape="1">
                <a:blip r:embed="rId3"/>
                <a:stretch>
                  <a:fillRect l="-894" t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5" descr="AMBIEN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84"/>
          <a:stretch>
            <a:fillRect/>
          </a:stretch>
        </p:blipFill>
        <p:spPr bwMode="auto">
          <a:xfrm>
            <a:off x="4800960" y="3886200"/>
            <a:ext cx="1531598" cy="2814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721595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6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2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2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2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2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26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7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Phong</a:t>
            </a:r>
            <a:r>
              <a:rPr lang="en-US" altLang="en-US" dirty="0"/>
              <a:t>:</a:t>
            </a:r>
            <a:br>
              <a:rPr lang="en-US" altLang="en-US" dirty="0"/>
            </a:br>
            <a:r>
              <a:rPr lang="en-US" altLang="en-US" dirty="0"/>
              <a:t>Ambient and Diffuse Light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 smtClean="0"/>
                  <a:t>So far, our lighting equation has two components: Ambient and Diffuse</a:t>
                </a:r>
              </a:p>
              <a:p>
                <a:pPr marL="0" indent="0">
                  <a:buNone/>
                </a:pPr>
                <a:endParaRPr lang="en-US" sz="800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/>
                        </a:rPr>
                        <m:t>𝐿𝑖𝑡𝐶𝑜𝑙𝑜𝑟</m:t>
                      </m:r>
                      <m:r>
                        <m:rPr>
                          <m:aln/>
                        </m:rPr>
                        <a:rPr lang="en-US" sz="1800" b="0" i="1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/>
                        </a:rPr>
                        <m:t>A</m:t>
                      </m:r>
                      <m:r>
                        <a:rPr lang="en-US" sz="1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altLang="en-US" sz="1800" i="1">
                              <a:latin typeface="Cambria Math"/>
                            </a:rPr>
                            <m:t>𝑑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en-US" sz="1800">
                          <a:latin typeface="Cambria Math"/>
                        </a:rPr>
                        <m:t>D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en-US" sz="1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1800" i="1">
                              <a:latin typeface="Cambria Math"/>
                            </a:rPr>
                            <m:t>𝑎</m:t>
                          </m:r>
                        </m:sub>
                      </m:sSub>
                      <m:r>
                        <a:rPr lang="en-US" sz="1800" i="1">
                          <a:latin typeface="Cambria Math"/>
                          <a:ea typeface="Cambria Math"/>
                        </a:rPr>
                        <m:t>⊗</m:t>
                      </m:r>
                      <m:sSub>
                        <m:sSubPr>
                          <m:ctrlPr>
                            <a:rPr lang="en-US" sz="18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𝑎</m:t>
                          </m:r>
                        </m:sub>
                      </m:sSub>
                      <m:r>
                        <a:rPr lang="en-US" sz="1800" b="0" i="1" smtClean="0">
                          <a:latin typeface="Cambria Math"/>
                          <a:ea typeface="Cambria Math"/>
                        </a:rPr>
                        <m:t>+</m:t>
                      </m:r>
                      <m:func>
                        <m:funcPr>
                          <m:ctrlPr>
                            <a:rPr kumimoji="1" lang="en-US" altLang="en-US" sz="1800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en-US" sz="1800">
                              <a:latin typeface="Cambria Math"/>
                            </a:rPr>
                            <m:t>max</m:t>
                          </m:r>
                        </m:fName>
                        <m:e>
                          <m:r>
                            <a:rPr kumimoji="1" lang="en-US" altLang="en-US" sz="1800" i="1">
                              <a:latin typeface="Cambria Math"/>
                            </a:rPr>
                            <m:t>( </m:t>
                          </m:r>
                          <m:r>
                            <a:rPr kumimoji="1" lang="en-US" altLang="en-US" sz="1800" b="1">
                              <a:latin typeface="Cambria Math"/>
                            </a:rPr>
                            <m:t>𝐋</m:t>
                          </m:r>
                          <m:r>
                            <a:rPr kumimoji="1" lang="en-US" altLang="en-US" sz="1800" b="1" i="1"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kumimoji="1" lang="en-US" altLang="en-US" sz="1800" b="1">
                              <a:latin typeface="Cambria Math"/>
                              <a:ea typeface="Cambria Math"/>
                            </a:rPr>
                            <m:t>𝐧</m:t>
                          </m:r>
                          <m:r>
                            <a:rPr kumimoji="1" lang="en-US" altLang="en-US" sz="1800" i="1">
                              <a:latin typeface="Cambria Math"/>
                            </a:rPr>
                            <m:t>,0)</m:t>
                          </m:r>
                        </m:e>
                      </m:func>
                      <m:r>
                        <a:rPr lang="en-US" altLang="en-US" sz="1800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alt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altLang="en-US" sz="1800" i="1">
                              <a:latin typeface="Cambria Math"/>
                            </a:rPr>
                            <m:t>𝑑</m:t>
                          </m:r>
                        </m:sub>
                      </m:sSub>
                      <m:r>
                        <a:rPr lang="en-US" altLang="en-US" sz="1800" i="1">
                          <a:latin typeface="Cambria Math"/>
                          <a:ea typeface="Cambria Math"/>
                        </a:rPr>
                        <m:t>⊗</m:t>
                      </m:r>
                      <m:sSub>
                        <m:sSubPr>
                          <m:ctrlPr>
                            <a:rPr lang="en-US" altLang="en-US" sz="18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altLang="en-US" sz="1800" i="1">
                              <a:latin typeface="Cambria Math"/>
                              <a:ea typeface="Cambria Math"/>
                            </a:rPr>
                            <m:t>𝑑</m:t>
                          </m:r>
                        </m:sub>
                      </m:sSub>
                      <m:r>
                        <a:rPr lang="en-US" altLang="en-US" sz="1800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1800" dirty="0" smtClean="0"/>
              </a:p>
              <a:p>
                <a:pPr marL="0" indent="0">
                  <a:buNone/>
                </a:pPr>
                <a:endParaRPr lang="en-US" sz="800" dirty="0" smtClean="0"/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r>
                  <a:rPr lang="en-US" sz="1800" dirty="0" smtClean="0"/>
                  <a:t>We can visualize these components below:</a:t>
                </a:r>
                <a:endParaRPr lang="en-US" sz="18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8" t="-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6" descr="AMBI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51"/>
          <a:stretch>
            <a:fillRect/>
          </a:stretch>
        </p:blipFill>
        <p:spPr bwMode="auto">
          <a:xfrm>
            <a:off x="6581233" y="3886200"/>
            <a:ext cx="1597168" cy="2814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7010400" y="5563305"/>
            <a:ext cx="867526" cy="276989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 defTabSz="503238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503238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503238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503238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503238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sz="1200" b="1" dirty="0">
                <a:solidFill>
                  <a:schemeClr val="bg1"/>
                </a:solidFill>
              </a:rPr>
              <a:t>Balanced</a:t>
            </a:r>
          </a:p>
        </p:txBody>
      </p:sp>
      <p:pic>
        <p:nvPicPr>
          <p:cNvPr id="17" name="Picture 5" descr="AMBIEN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84"/>
          <a:stretch>
            <a:fillRect/>
          </a:stretch>
        </p:blipFill>
        <p:spPr bwMode="auto">
          <a:xfrm>
            <a:off x="4800960" y="3886200"/>
            <a:ext cx="1531598" cy="2814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4783836" y="5563305"/>
            <a:ext cx="1571244" cy="276989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 defTabSz="503238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503238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503238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503238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503238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sz="1200" b="1" dirty="0">
                <a:solidFill>
                  <a:schemeClr val="bg1"/>
                </a:solidFill>
              </a:rPr>
              <a:t>Only diffuse </a:t>
            </a:r>
            <a:r>
              <a:rPr lang="en-US" altLang="en-US" sz="1200" b="1" dirty="0" err="1">
                <a:solidFill>
                  <a:schemeClr val="bg1"/>
                </a:solidFill>
              </a:rPr>
              <a:t>reflec</a:t>
            </a:r>
            <a:r>
              <a:rPr lang="en-US" altLang="en-US" sz="1200" b="1" dirty="0">
                <a:solidFill>
                  <a:schemeClr val="bg1"/>
                </a:solidFill>
              </a:rPr>
              <a:t>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813948" y="3886200"/>
            <a:ext cx="3758050" cy="2819143"/>
            <a:chOff x="813948" y="3886200"/>
            <a:chExt cx="3758050" cy="2819143"/>
          </a:xfrm>
        </p:grpSpPr>
        <p:pic>
          <p:nvPicPr>
            <p:cNvPr id="15" name="Picture 14" descr="AMBIENT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3948" y="3886200"/>
              <a:ext cx="3758050" cy="2819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813948" y="4190999"/>
              <a:ext cx="1959170" cy="46165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5" rIns="91430" bIns="45715">
              <a:spAutoFit/>
            </a:bodyPr>
            <a:lstStyle>
              <a:lvl1pPr defTabSz="503238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503238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503238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503238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503238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5032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5032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5032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5032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sz="1200" b="1" dirty="0" smtClean="0">
                  <a:solidFill>
                    <a:schemeClr val="bg1"/>
                  </a:solidFill>
                </a:rPr>
                <a:t>Properly lit</a:t>
              </a:r>
            </a:p>
            <a:p>
              <a:pPr algn="ctr" eaLnBrk="1" hangingPunct="1"/>
              <a:r>
                <a:rPr lang="en-US" altLang="en-US" sz="1200" b="1" dirty="0" smtClean="0">
                  <a:solidFill>
                    <a:schemeClr val="bg1"/>
                  </a:solidFill>
                </a:rPr>
                <a:t>Light source to the right</a:t>
              </a:r>
              <a:endParaRPr lang="en-US" altLang="en-US" sz="1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3046203" y="5563305"/>
            <a:ext cx="1160875" cy="276989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 defTabSz="503238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503238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503238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503238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503238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sz="1200" b="1" dirty="0">
                <a:solidFill>
                  <a:schemeClr val="bg1"/>
                </a:solidFill>
              </a:rPr>
              <a:t>Only ambient</a:t>
            </a:r>
          </a:p>
        </p:txBody>
      </p:sp>
    </p:spTree>
    <p:extLst>
      <p:ext uri="{BB962C8B-B14F-4D97-AF65-F5344CB8AC3E}">
        <p14:creationId xmlns:p14="http://schemas.microsoft.com/office/powerpoint/2010/main" val="312408320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3" grpId="0" animBg="1"/>
      <p:bldP spid="12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Phong</a:t>
            </a:r>
            <a:r>
              <a:rPr lang="en-US" altLang="en-US" dirty="0"/>
              <a:t>:</a:t>
            </a:r>
            <a:br>
              <a:rPr lang="en-US" altLang="en-US" dirty="0"/>
            </a:br>
            <a:r>
              <a:rPr lang="en-US" altLang="en-US" dirty="0"/>
              <a:t>Ambient and Diffuse Light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 smtClean="0"/>
                  <a:t>So far, our lighting equation has two components: Ambient and Diffuse</a:t>
                </a:r>
              </a:p>
              <a:p>
                <a:pPr marL="0" indent="0">
                  <a:buNone/>
                </a:pPr>
                <a:endParaRPr lang="en-US" sz="800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/>
                        </a:rPr>
                        <m:t>𝐿𝑖𝑡𝐶𝑜𝑙𝑜𝑟</m:t>
                      </m:r>
                      <m:r>
                        <m:rPr>
                          <m:aln/>
                        </m:rPr>
                        <a:rPr lang="en-US" sz="1800" b="0" i="1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/>
                        </a:rPr>
                        <m:t>A</m:t>
                      </m:r>
                      <m:r>
                        <a:rPr lang="en-US" sz="1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altLang="en-US" sz="1800" i="1">
                              <a:latin typeface="Cambria Math"/>
                            </a:rPr>
                            <m:t>𝑑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en-US" sz="1800">
                          <a:latin typeface="Cambria Math"/>
                        </a:rPr>
                        <m:t>D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en-US" sz="1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1800" i="1">
                              <a:latin typeface="Cambria Math"/>
                            </a:rPr>
                            <m:t>𝑎</m:t>
                          </m:r>
                        </m:sub>
                      </m:sSub>
                      <m:r>
                        <a:rPr lang="en-US" sz="1800" i="1">
                          <a:latin typeface="Cambria Math"/>
                          <a:ea typeface="Cambria Math"/>
                        </a:rPr>
                        <m:t>⊗</m:t>
                      </m:r>
                      <m:sSub>
                        <m:sSubPr>
                          <m:ctrlPr>
                            <a:rPr lang="en-US" sz="18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𝑎</m:t>
                          </m:r>
                        </m:sub>
                      </m:sSub>
                      <m:r>
                        <a:rPr lang="en-US" sz="1800" b="0" i="1" smtClean="0">
                          <a:latin typeface="Cambria Math"/>
                          <a:ea typeface="Cambria Math"/>
                        </a:rPr>
                        <m:t>+</m:t>
                      </m:r>
                      <m:func>
                        <m:funcPr>
                          <m:ctrlPr>
                            <a:rPr kumimoji="1" lang="en-US" altLang="en-US" sz="1800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en-US" sz="1800">
                              <a:latin typeface="Cambria Math"/>
                            </a:rPr>
                            <m:t>max</m:t>
                          </m:r>
                        </m:fName>
                        <m:e>
                          <m:r>
                            <a:rPr kumimoji="1" lang="en-US" altLang="en-US" sz="1800" i="1">
                              <a:latin typeface="Cambria Math"/>
                            </a:rPr>
                            <m:t>( </m:t>
                          </m:r>
                          <m:r>
                            <a:rPr kumimoji="1" lang="en-US" altLang="en-US" sz="1800" b="1">
                              <a:latin typeface="Cambria Math"/>
                            </a:rPr>
                            <m:t>𝐋</m:t>
                          </m:r>
                          <m:r>
                            <a:rPr kumimoji="1" lang="en-US" altLang="en-US" sz="1800" b="1" i="1"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kumimoji="1" lang="en-US" altLang="en-US" sz="1800" b="1">
                              <a:latin typeface="Cambria Math"/>
                              <a:ea typeface="Cambria Math"/>
                            </a:rPr>
                            <m:t>𝐧</m:t>
                          </m:r>
                          <m:r>
                            <a:rPr kumimoji="1" lang="en-US" altLang="en-US" sz="1800" i="1">
                              <a:latin typeface="Cambria Math"/>
                            </a:rPr>
                            <m:t>,0)</m:t>
                          </m:r>
                        </m:e>
                      </m:func>
                      <m:r>
                        <a:rPr lang="en-US" altLang="en-US" sz="1800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alt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altLang="en-US" sz="1800" i="1">
                              <a:latin typeface="Cambria Math"/>
                            </a:rPr>
                            <m:t>𝑑</m:t>
                          </m:r>
                        </m:sub>
                      </m:sSub>
                      <m:r>
                        <a:rPr lang="en-US" altLang="en-US" sz="1800" i="1">
                          <a:latin typeface="Cambria Math"/>
                          <a:ea typeface="Cambria Math"/>
                        </a:rPr>
                        <m:t>⊗</m:t>
                      </m:r>
                      <m:sSub>
                        <m:sSubPr>
                          <m:ctrlPr>
                            <a:rPr lang="en-US" altLang="en-US" sz="18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altLang="en-US" sz="1800" i="1">
                              <a:latin typeface="Cambria Math"/>
                              <a:ea typeface="Cambria Math"/>
                            </a:rPr>
                            <m:t>𝑑</m:t>
                          </m:r>
                        </m:sub>
                      </m:sSub>
                      <m:r>
                        <a:rPr lang="en-US" altLang="en-US" sz="1800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1800" dirty="0" smtClean="0"/>
              </a:p>
              <a:p>
                <a:pPr marL="0" indent="0">
                  <a:buNone/>
                </a:pPr>
                <a:endParaRPr lang="en-US" sz="800" dirty="0" smtClean="0"/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r>
                  <a:rPr lang="en-US" sz="1800" dirty="0"/>
                  <a:t>We can visualize these components below: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8" t="-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00" y="3429000"/>
            <a:ext cx="4229280" cy="3316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7280" y="3430440"/>
            <a:ext cx="4229280" cy="3316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1768924" y="6198411"/>
            <a:ext cx="1160875" cy="276989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 defTabSz="503238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503238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503238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503238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503238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sz="1200" b="1">
                <a:solidFill>
                  <a:schemeClr val="bg1"/>
                </a:solidFill>
              </a:rPr>
              <a:t>Only ambient</a:t>
            </a: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6352957" y="6198411"/>
            <a:ext cx="867526" cy="276989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 defTabSz="503238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503238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503238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503238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503238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sz="1200" b="1">
                <a:solidFill>
                  <a:schemeClr val="bg1"/>
                </a:solidFill>
              </a:rPr>
              <a:t>Balanced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10200" y="2743200"/>
            <a:ext cx="3352800" cy="53340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we’ll add the last component: specular reflection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83707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Specular Reflections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20624" y="1210056"/>
            <a:ext cx="6553200" cy="52578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In general, </a:t>
            </a:r>
            <a:r>
              <a:rPr lang="en-US" sz="2000" i="1" dirty="0" smtClean="0"/>
              <a:t>specular reflection </a:t>
            </a:r>
            <a:r>
              <a:rPr lang="en-US" sz="2000" dirty="0" smtClean="0"/>
              <a:t>is the mirror-like reflection seen on shiny surfaces. </a:t>
            </a:r>
            <a:r>
              <a:rPr lang="en-US" sz="2000" i="1" dirty="0" smtClean="0"/>
              <a:t>However…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The </a:t>
            </a:r>
            <a:r>
              <a:rPr lang="en-US" sz="2000" dirty="0" err="1" smtClean="0"/>
              <a:t>Phong</a:t>
            </a:r>
            <a:r>
              <a:rPr lang="en-US" sz="2000" dirty="0" smtClean="0"/>
              <a:t> model is only concerned with the </a:t>
            </a:r>
            <a:r>
              <a:rPr lang="en-US" sz="2000" i="1" dirty="0" smtClean="0"/>
              <a:t>light source </a:t>
            </a:r>
            <a:r>
              <a:rPr lang="en-US" sz="2000" dirty="0" smtClean="0"/>
              <a:t>being reflected (</a:t>
            </a:r>
            <a:r>
              <a:rPr lang="en-US" sz="2000" dirty="0" err="1" smtClean="0"/>
              <a:t>ie</a:t>
            </a:r>
            <a:r>
              <a:rPr lang="en-US" sz="2000" dirty="0" smtClean="0"/>
              <a:t>: the highlight or  ‘bright spot’)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 smtClean="0"/>
              <a:t>Specular reflection determined </a:t>
            </a:r>
            <a:r>
              <a:rPr lang="en-US" sz="2000" dirty="0"/>
              <a:t>by</a:t>
            </a:r>
            <a:r>
              <a:rPr lang="en-US" sz="2000" dirty="0" smtClean="0"/>
              <a:t>:</a:t>
            </a:r>
          </a:p>
          <a:p>
            <a:pPr marL="461963" lvl="1" indent="-188913">
              <a:spcBef>
                <a:spcPts val="0"/>
              </a:spcBef>
            </a:pPr>
            <a:r>
              <a:rPr lang="en-US" sz="1800" dirty="0" smtClean="0"/>
              <a:t>Intensity of </a:t>
            </a:r>
            <a:r>
              <a:rPr lang="en-US" sz="1800" dirty="0"/>
              <a:t>directional </a:t>
            </a:r>
            <a:r>
              <a:rPr lang="en-US" sz="1800" dirty="0" smtClean="0"/>
              <a:t>light</a:t>
            </a:r>
          </a:p>
          <a:p>
            <a:pPr marL="461963" lvl="1" indent="-188913">
              <a:spcBef>
                <a:spcPts val="0"/>
              </a:spcBef>
            </a:pPr>
            <a:r>
              <a:rPr lang="en-US" sz="1800" dirty="0" smtClean="0"/>
              <a:t>Position </a:t>
            </a:r>
            <a:r>
              <a:rPr lang="en-US" sz="1800" dirty="0"/>
              <a:t>of directional </a:t>
            </a:r>
            <a:r>
              <a:rPr lang="en-US" sz="1800" dirty="0" smtClean="0"/>
              <a:t>light</a:t>
            </a:r>
          </a:p>
          <a:p>
            <a:pPr marL="461963" lvl="1" indent="-188913">
              <a:spcBef>
                <a:spcPts val="0"/>
              </a:spcBef>
            </a:pPr>
            <a:r>
              <a:rPr lang="en-US" sz="1800" dirty="0" smtClean="0"/>
              <a:t>Orientation </a:t>
            </a:r>
            <a:r>
              <a:rPr lang="en-US" sz="1800" dirty="0"/>
              <a:t>of the </a:t>
            </a:r>
            <a:r>
              <a:rPr lang="en-US" sz="1800" dirty="0" smtClean="0"/>
              <a:t>surface</a:t>
            </a:r>
          </a:p>
          <a:p>
            <a:pPr marL="461963" lvl="1" indent="-188913">
              <a:spcBef>
                <a:spcPts val="0"/>
              </a:spcBef>
            </a:pPr>
            <a:r>
              <a:rPr lang="en-US" sz="1800" dirty="0" smtClean="0"/>
              <a:t>Surface color &amp; </a:t>
            </a:r>
            <a:r>
              <a:rPr lang="en-US" sz="1800" i="1" u="sng" dirty="0" smtClean="0"/>
              <a:t>roughness</a:t>
            </a:r>
          </a:p>
          <a:p>
            <a:pPr marL="461963" lvl="1" indent="-188913">
              <a:spcBef>
                <a:spcPts val="0"/>
              </a:spcBef>
            </a:pPr>
            <a:r>
              <a:rPr lang="en-US" sz="1800" dirty="0"/>
              <a:t>Position of </a:t>
            </a:r>
            <a:r>
              <a:rPr lang="en-US" sz="1800" dirty="0" smtClean="0"/>
              <a:t>viewer</a:t>
            </a:r>
            <a:endParaRPr lang="en-US" sz="1800" dirty="0"/>
          </a:p>
          <a:p>
            <a:pPr marL="0" indent="0">
              <a:buNone/>
            </a:pPr>
            <a:endParaRPr lang="en-US" sz="800" dirty="0" smtClean="0"/>
          </a:p>
        </p:txBody>
      </p:sp>
      <p:pic>
        <p:nvPicPr>
          <p:cNvPr id="1026" name="Picture 2" descr="Image result for specular refle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1219200"/>
            <a:ext cx="2171700" cy="145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specular reflec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901638"/>
            <a:ext cx="2133601" cy="1706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3494638" y="2901638"/>
            <a:ext cx="3341480" cy="1706880"/>
            <a:chOff x="3494638" y="2901638"/>
            <a:chExt cx="3341480" cy="1706880"/>
          </a:xfrm>
        </p:grpSpPr>
        <p:pic>
          <p:nvPicPr>
            <p:cNvPr id="1032" name="Picture 8" descr="http://140.129.20.249/~jmchen/cg/docs/rendering%20pipeline/rendering/li_specular3.gif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2518" y="2901638"/>
              <a:ext cx="2133600" cy="1706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Arrow Connector 5"/>
            <p:cNvCxnSpPr/>
            <p:nvPr/>
          </p:nvCxnSpPr>
          <p:spPr>
            <a:xfrm flipV="1">
              <a:off x="3494638" y="3874883"/>
              <a:ext cx="1158843" cy="20823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ounded Rectangle 19"/>
          <p:cNvSpPr/>
          <p:nvPr/>
        </p:nvSpPr>
        <p:spPr>
          <a:xfrm>
            <a:off x="1314450" y="5705474"/>
            <a:ext cx="3352800" cy="619125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We need a formula to capture this highlight (bright spot) effect </a:t>
            </a:r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2743200" y="4448175"/>
            <a:ext cx="6324601" cy="2112169"/>
            <a:chOff x="2743200" y="4448175"/>
            <a:chExt cx="6324601" cy="2112169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2743200" y="4448175"/>
              <a:ext cx="1957388" cy="50958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2501" y="4702969"/>
              <a:ext cx="4305300" cy="18573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2050" name="Picture 2" descr="C:\Users\andre\AppData\Local\Microsoft\Windows\Temporary Internet Files\Content.IE5\FFQ94ZC0\Boton-mal[1]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480" y="1944745"/>
            <a:ext cx="6858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andre\AppData\Local\Microsoft\Windows\Temporary Internet Files\Content.IE5\0JH69GBO\Boton-correcto[1]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743200"/>
            <a:ext cx="6858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58460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45" tIns="41473" rIns="82945" bIns="41473"/>
          <a:lstStyle>
            <a:lvl1pPr defTabSz="914414">
              <a:defRPr>
                <a:solidFill>
                  <a:schemeClr val="tx1"/>
                </a:solidFill>
                <a:latin typeface="Arial" charset="0"/>
              </a:defRPr>
            </a:lvl1pPr>
            <a:lvl2pPr marL="673930" indent="-259204" defTabSz="914414">
              <a:defRPr>
                <a:solidFill>
                  <a:schemeClr val="tx1"/>
                </a:solidFill>
                <a:latin typeface="Arial" charset="0"/>
              </a:defRPr>
            </a:lvl2pPr>
            <a:lvl3pPr marL="1036815" indent="-207363" defTabSz="914414">
              <a:defRPr>
                <a:solidFill>
                  <a:schemeClr val="tx1"/>
                </a:solidFill>
                <a:latin typeface="Arial" charset="0"/>
              </a:defRPr>
            </a:lvl3pPr>
            <a:lvl4pPr marL="1451541" indent="-207363" defTabSz="914414">
              <a:defRPr>
                <a:solidFill>
                  <a:schemeClr val="tx1"/>
                </a:solidFill>
                <a:latin typeface="Arial" charset="0"/>
              </a:defRPr>
            </a:lvl4pPr>
            <a:lvl5pPr marL="1866268" indent="-207363" defTabSz="914414">
              <a:defRPr>
                <a:solidFill>
                  <a:schemeClr val="tx1"/>
                </a:solidFill>
                <a:latin typeface="Arial" charset="0"/>
              </a:defRPr>
            </a:lvl5pPr>
            <a:lvl6pPr marL="2280994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695720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10446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25172" indent="-207363" defTabSz="91441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050F69A-5734-4DD8-A994-B54C68759E70}" type="slidenum">
              <a:rPr lang="en-US" altLang="en-US" smtClean="0">
                <a:solidFill>
                  <a:schemeClr val="bg2"/>
                </a:solidFill>
              </a:rPr>
              <a:pPr/>
              <a:t>12</a:t>
            </a:fld>
            <a:endParaRPr lang="en-US" altLang="en-US" smtClean="0">
              <a:solidFill>
                <a:schemeClr val="bg2"/>
              </a:solidFill>
            </a:endParaRP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title"/>
          </p:nvPr>
        </p:nvSpPr>
        <p:spPr/>
        <p:txBody>
          <a:bodyPr lIns="82945" tIns="41473" rIns="82945" bIns="41473"/>
          <a:lstStyle/>
          <a:p>
            <a:r>
              <a:rPr lang="en-US" altLang="en-US" smtClean="0"/>
              <a:t>Highlights</a:t>
            </a:r>
          </a:p>
        </p:txBody>
      </p:sp>
      <p:sp>
        <p:nvSpPr>
          <p:cNvPr id="234500" name="Text Box 4"/>
          <p:cNvSpPr txBox="1">
            <a:spLocks noChangeArrowheads="1"/>
          </p:cNvSpPr>
          <p:nvPr/>
        </p:nvSpPr>
        <p:spPr bwMode="auto">
          <a:xfrm>
            <a:off x="403098" y="1191768"/>
            <a:ext cx="8549280" cy="673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>
            <a:spAutoFit/>
          </a:bodyPr>
          <a:lstStyle>
            <a:lvl1pPr defTabSz="503238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503238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503238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503238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503238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occur when the light source is reflected back to the viewer. This occurs when the viewing angle and reflected angle are </a:t>
            </a:r>
            <a:r>
              <a:rPr lang="en-US" alt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‘close’ 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each other.</a:t>
            </a:r>
          </a:p>
        </p:txBody>
      </p:sp>
      <p:sp>
        <p:nvSpPr>
          <p:cNvPr id="234501" name="Text Box 5"/>
          <p:cNvSpPr txBox="1">
            <a:spLocks noChangeArrowheads="1"/>
          </p:cNvSpPr>
          <p:nvPr/>
        </p:nvSpPr>
        <p:spPr bwMode="auto">
          <a:xfrm>
            <a:off x="403098" y="3810641"/>
            <a:ext cx="6668793" cy="384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 defTabSz="503238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503238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503238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503238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503238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503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roughness also plays a rule in the appearance of highlights</a:t>
            </a:r>
          </a:p>
        </p:txBody>
      </p:sp>
      <p:pic>
        <p:nvPicPr>
          <p:cNvPr id="234502" name="Picture 6" descr="fig4-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253590"/>
            <a:ext cx="5409600" cy="1803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 descr="http://140.129.20.249/~jmchen/cg/docs/rendering%20pipeline/rendering/li_specular3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865758"/>
            <a:ext cx="2329264" cy="1863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871795"/>
            <a:ext cx="4305300" cy="1857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082698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3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0" grpId="0"/>
      <p:bldP spid="23450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Phong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Specular Light Component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 smtClean="0"/>
                  <a:t>The specular intensity of the light for a surface depends on</a:t>
                </a:r>
              </a:p>
              <a:p>
                <a:pPr marL="457200" lvl="1" indent="-184150"/>
                <a:r>
                  <a:rPr lang="en-US" altLang="en-US" sz="1800" dirty="0" smtClean="0"/>
                  <a:t>light </a:t>
                </a:r>
                <a:r>
                  <a:rPr lang="en-US" altLang="en-US" sz="1800" dirty="0"/>
                  <a:t>color and the </a:t>
                </a:r>
                <a:r>
                  <a:rPr lang="en-US" altLang="en-US" sz="1800" dirty="0" smtClean="0"/>
                  <a:t>material </a:t>
                </a:r>
                <a:r>
                  <a:rPr lang="en-US" altLang="en-US" sz="1800" dirty="0"/>
                  <a:t>color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1800" dirty="0">
                        <a:latin typeface="Cambria Math"/>
                      </a:rPr>
                      <m:t>S</m:t>
                    </m:r>
                    <m:r>
                      <a:rPr lang="en-US" altLang="en-US" sz="1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en-US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en-US" sz="1800" i="1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US" altLang="en-US" sz="1800" i="1">
                        <a:latin typeface="Cambria Math"/>
                        <a:ea typeface="Cambria Math"/>
                      </a:rPr>
                      <m:t>⊗</m:t>
                    </m:r>
                    <m:sSub>
                      <m:sSubPr>
                        <m:ctrlPr>
                          <a:rPr lang="en-US" altLang="en-US" sz="18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en-US" sz="1800" i="1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</m:sub>
                    </m:sSub>
                  </m:oMath>
                </a14:m>
                <a:endParaRPr lang="en-US" altLang="en-US" sz="1800" dirty="0" smtClean="0"/>
              </a:p>
              <a:p>
                <a:pPr marL="457200" lvl="1" indent="-184150"/>
                <a:r>
                  <a:rPr lang="en-US" altLang="en-US" sz="1800" dirty="0" smtClean="0"/>
                  <a:t>the </a:t>
                </a:r>
                <a:r>
                  <a:rPr lang="en-US" altLang="en-US" sz="1800" i="1" u="sng" dirty="0" smtClean="0"/>
                  <a:t>reflected</a:t>
                </a:r>
                <a:r>
                  <a:rPr lang="en-US" altLang="en-US" sz="1800" dirty="0" smtClean="0"/>
                  <a:t> ray </a:t>
                </a:r>
                <a:r>
                  <a:rPr lang="en-US" altLang="en-US" sz="1800" b="1" dirty="0" smtClean="0"/>
                  <a:t>r</a:t>
                </a:r>
                <a:r>
                  <a:rPr lang="en-US" altLang="en-US" sz="1800" dirty="0" smtClean="0"/>
                  <a:t> and the </a:t>
                </a:r>
                <a:r>
                  <a:rPr lang="en-US" altLang="en-US" sz="1800" i="1" u="sng" dirty="0" smtClean="0"/>
                  <a:t>viewing direction</a:t>
                </a:r>
                <a:r>
                  <a:rPr lang="en-US" altLang="en-US" sz="1800" i="1" dirty="0" smtClean="0"/>
                  <a:t> </a:t>
                </a:r>
                <a:r>
                  <a:rPr lang="en-US" altLang="en-US" sz="1800" dirty="0" smtClean="0"/>
                  <a:t> </a:t>
                </a:r>
                <a:r>
                  <a:rPr lang="en-US" altLang="en-US" sz="1800" b="1" dirty="0" smtClean="0"/>
                  <a:t>v</a:t>
                </a:r>
                <a:r>
                  <a:rPr lang="en-US" altLang="en-US" sz="1800" dirty="0" smtClean="0"/>
                  <a:t>.</a:t>
                </a:r>
              </a:p>
              <a:p>
                <a:pPr marL="457200" lvl="1" indent="-184150"/>
                <a:r>
                  <a:rPr lang="en-US" altLang="en-US" sz="1800" dirty="0" smtClean="0"/>
                  <a:t>Must also incorporate </a:t>
                </a:r>
                <a:r>
                  <a:rPr lang="en-US" altLang="en-US" sz="1800" i="1" dirty="0" smtClean="0"/>
                  <a:t>surface roughness</a:t>
                </a:r>
                <a:r>
                  <a:rPr lang="en-US" altLang="en-US" sz="1800" dirty="0" smtClean="0"/>
                  <a:t> somehow</a:t>
                </a:r>
              </a:p>
              <a:p>
                <a:pPr marL="273050" lvl="1" indent="0">
                  <a:buNone/>
                </a:pPr>
                <a:endParaRPr lang="en-US" altLang="en-US" sz="1800" dirty="0" smtClean="0"/>
              </a:p>
              <a:p>
                <a:pPr marL="273050" lvl="1" indent="0">
                  <a:buNone/>
                </a:pPr>
                <a:endParaRPr lang="en-US" altLang="en-US" sz="1800" dirty="0" smtClean="0"/>
              </a:p>
              <a:p>
                <a:pPr marL="273050" lvl="1" indent="0">
                  <a:buNone/>
                </a:pPr>
                <a:endParaRPr lang="en-US" altLang="en-US" sz="800" dirty="0" smtClean="0"/>
              </a:p>
              <a:p>
                <a:pPr marL="0" indent="0">
                  <a:buNone/>
                </a:pPr>
                <a:r>
                  <a:rPr lang="en-US" sz="2000" dirty="0"/>
                  <a:t>There are a few ways to compute </a:t>
                </a:r>
                <a:r>
                  <a:rPr lang="en-US" sz="2000" dirty="0" smtClean="0"/>
                  <a:t>the relationship between viewing angle and  intensity </a:t>
                </a:r>
                <a:r>
                  <a:rPr lang="en-US" sz="2000" dirty="0"/>
                  <a:t>of a spotlight beam. We will use the </a:t>
                </a:r>
                <a:r>
                  <a:rPr lang="en-US" sz="2000" dirty="0" smtClean="0"/>
                  <a:t>following, which is a </a:t>
                </a:r>
                <a:r>
                  <a:rPr lang="en-US" sz="2000" dirty="0"/>
                  <a:t>variation on Lambert’s cosine </a:t>
                </a:r>
                <a:r>
                  <a:rPr lang="en-US" sz="2000" dirty="0" smtClean="0"/>
                  <a:t>law.</a:t>
                </a:r>
                <a:endParaRPr lang="en-US" sz="2000" dirty="0"/>
              </a:p>
              <a:p>
                <a:pPr marL="273050" lvl="1" indent="0">
                  <a:buNone/>
                </a:pPr>
                <a:endParaRPr lang="en-US" altLang="en-US" sz="800" dirty="0" smtClean="0"/>
              </a:p>
              <a:p>
                <a:pPr marL="27305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i="1" smtClean="0">
                          <a:latin typeface="Cambria Math"/>
                        </a:rPr>
                        <m:t>𝐼</m:t>
                      </m:r>
                      <m:r>
                        <a:rPr lang="en-US" altLang="en-US" sz="18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kumimoji="1" lang="en-US" altLang="en-US" sz="1800" i="1">
                              <a:latin typeface="Cambria Math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kumimoji="1" lang="en-US" altLang="en-US" sz="1800" i="1"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en-US" sz="1800">
                                  <a:latin typeface="Cambria Math"/>
                                </a:rPr>
                                <m:t>max</m:t>
                              </m:r>
                            </m:fName>
                            <m:e>
                              <m:r>
                                <a:rPr kumimoji="1" lang="en-US" altLang="en-US" sz="1800" i="1">
                                  <a:latin typeface="Cambria Math"/>
                                </a:rPr>
                                <m:t>( </m:t>
                              </m:r>
                              <m:r>
                                <a:rPr kumimoji="1" lang="en-US" altLang="en-US" sz="1800" b="1">
                                  <a:latin typeface="Cambria Math"/>
                                </a:rPr>
                                <m:t>𝐯</m:t>
                              </m:r>
                              <m:r>
                                <a:rPr kumimoji="1" lang="en-US" altLang="en-US" sz="1800" b="1" i="1"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  <m:r>
                                <a:rPr kumimoji="1" lang="en-US" altLang="en-US" sz="1800" b="1">
                                  <a:latin typeface="Cambria Math"/>
                                  <a:ea typeface="Cambria Math"/>
                                </a:rPr>
                                <m:t>𝐫</m:t>
                              </m:r>
                              <m:r>
                                <a:rPr kumimoji="1" lang="en-US" altLang="en-US" sz="1800" i="1">
                                  <a:latin typeface="Cambria Math"/>
                                </a:rPr>
                                <m:t>,0)</m:t>
                              </m:r>
                            </m:e>
                          </m:func>
                        </m:e>
                        <m:sup>
                          <m:r>
                            <a:rPr kumimoji="1" lang="en-US" altLang="en-US" sz="1800" i="1">
                              <a:latin typeface="Cambria Math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altLang="en-US" sz="800" dirty="0" smtClean="0"/>
              </a:p>
              <a:p>
                <a:pPr marL="0" lvl="1" indent="0" algn="ctr">
                  <a:buNone/>
                </a:pPr>
                <a:r>
                  <a:rPr lang="en-US" altLang="en-US" sz="1600" dirty="0" smtClean="0"/>
                  <a:t>Where the exponent </a:t>
                </a:r>
                <a:r>
                  <a:rPr lang="en-US" altLang="en-US" sz="1600" i="1" dirty="0" smtClean="0"/>
                  <a:t>p</a:t>
                </a:r>
                <a:r>
                  <a:rPr lang="en-US" altLang="en-US" sz="1600" dirty="0" smtClean="0"/>
                  <a:t> controls the how shiny/rough the surface appears.</a:t>
                </a:r>
              </a:p>
              <a:p>
                <a:pPr marL="0" lvl="1" indent="0" algn="ctr">
                  <a:buNone/>
                </a:pPr>
                <a:r>
                  <a:rPr lang="en-US" altLang="en-US" sz="1600" dirty="0" smtClean="0"/>
                  <a:t>(Low </a:t>
                </a:r>
                <a:r>
                  <a:rPr lang="en-US" altLang="en-US" sz="1600" i="1" dirty="0" smtClean="0"/>
                  <a:t>p</a:t>
                </a:r>
                <a:r>
                  <a:rPr lang="en-US" altLang="en-US" sz="1600" dirty="0" smtClean="0"/>
                  <a:t> values for matte surfaces, high</a:t>
                </a:r>
                <a:r>
                  <a:rPr lang="en-US" altLang="en-US" sz="1600" i="1" dirty="0" smtClean="0"/>
                  <a:t> p</a:t>
                </a:r>
                <a:r>
                  <a:rPr lang="en-US" altLang="en-US" sz="1600" dirty="0" smtClean="0"/>
                  <a:t> values for shiny surfaces)</a:t>
                </a:r>
              </a:p>
              <a:p>
                <a:pPr marL="0" indent="-184150">
                  <a:buNone/>
                </a:pPr>
                <a:endParaRPr lang="en-US" altLang="en-US" sz="800" dirty="0" smtClean="0"/>
              </a:p>
              <a:p>
                <a:pPr marL="273050" lvl="1" indent="0">
                  <a:buNone/>
                </a:pPr>
                <a:endParaRPr lang="en-US" altLang="en-US" sz="1800" dirty="0" smtClean="0"/>
              </a:p>
              <a:p>
                <a:pPr marL="273050" lvl="1" indent="0">
                  <a:buNone/>
                </a:pPr>
                <a:endParaRPr lang="en-US" altLang="en-US" sz="1800" dirty="0" smtClean="0"/>
              </a:p>
              <a:p>
                <a:pPr marL="273050" lvl="1" indent="0">
                  <a:buNone/>
                </a:pPr>
                <a:endParaRPr lang="en-US" altLang="en-US" sz="1800" dirty="0"/>
              </a:p>
              <a:p>
                <a:pPr marL="457200" lvl="1" indent="-184150"/>
                <a:endParaRPr lang="en-US" sz="16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8" t="-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5791200" y="1600200"/>
            <a:ext cx="3429000" cy="1772826"/>
            <a:chOff x="5715000" y="2362200"/>
            <a:chExt cx="3429000" cy="1772826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2362200"/>
              <a:ext cx="3429000" cy="17728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7772400" y="3690768"/>
              <a:ext cx="2797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458200" y="3352800"/>
              <a:ext cx="2906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48400" y="3658502"/>
              <a:ext cx="2797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010400" y="3063947"/>
              <a:ext cx="2797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1752600" y="2678975"/>
            <a:ext cx="3200400" cy="619125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Small problem: How to compute the reflected vector </a:t>
            </a:r>
            <a:r>
              <a:rPr lang="en-US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36246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Phong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Specular Light Component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 smtClean="0"/>
                  <a:t>The graph below shows the function: </a:t>
                </a:r>
                <a14:m>
                  <m:oMath xmlns:m="http://schemas.openxmlformats.org/officeDocument/2006/math">
                    <m:r>
                      <a:rPr kumimoji="1" lang="en-US" altLang="en-US" sz="20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kumimoji="1" lang="en-US" alt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kumimoji="1" lang="en-US" altLang="en-US" sz="2000" b="0" i="1" smtClean="0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kumimoji="1" lang="en-US" altLang="en-US" sz="2000" b="0" i="1" smtClean="0">
                        <a:latin typeface="Cambria Math"/>
                      </a:rPr>
                      <m:t>= </m:t>
                    </m:r>
                    <m:sSup>
                      <m:sSupPr>
                        <m:ctrlPr>
                          <a:rPr kumimoji="1" lang="en-US" altLang="en-US" sz="2000" i="1">
                            <a:latin typeface="Cambria Math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kumimoji="1" lang="en-US" altLang="en-US" sz="2000" i="1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en-US" sz="2000">
                                <a:latin typeface="Cambria Math"/>
                              </a:rPr>
                              <m:t>max</m:t>
                            </m:r>
                          </m:fName>
                          <m:e>
                            <m:r>
                              <a:rPr kumimoji="1" lang="en-US" altLang="en-US" sz="2000" i="1">
                                <a:latin typeface="Cambria Math"/>
                              </a:rPr>
                              <m:t>( </m:t>
                            </m:r>
                            <m:r>
                              <a:rPr kumimoji="1" lang="en-US" altLang="en-US" sz="2000" b="1">
                                <a:latin typeface="Cambria Math"/>
                              </a:rPr>
                              <m:t>𝐯</m:t>
                            </m:r>
                            <m:r>
                              <a:rPr kumimoji="1" lang="en-US" altLang="en-US" sz="2000" b="1" i="1">
                                <a:latin typeface="Cambria Math"/>
                                <a:ea typeface="Cambria Math"/>
                              </a:rPr>
                              <m:t>∙</m:t>
                            </m:r>
                            <m:r>
                              <a:rPr kumimoji="1" lang="en-US" altLang="en-US" sz="2000" b="1">
                                <a:latin typeface="Cambria Math"/>
                                <a:ea typeface="Cambria Math"/>
                              </a:rPr>
                              <m:t>𝐫</m:t>
                            </m:r>
                            <m:r>
                              <a:rPr kumimoji="1" lang="en-US" altLang="en-US" sz="2000" i="1">
                                <a:latin typeface="Cambria Math"/>
                              </a:rPr>
                              <m:t>,0)</m:t>
                            </m:r>
                          </m:e>
                        </m:func>
                      </m:e>
                      <m:sup>
                        <m:r>
                          <a:rPr kumimoji="1" lang="en-US" altLang="en-US" sz="2000" i="1">
                            <a:latin typeface="Cambria Math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000" dirty="0" smtClean="0"/>
                  <a:t> for </a:t>
                </a:r>
                <a:r>
                  <a:rPr lang="en-US" sz="2000" i="1" dirty="0" smtClean="0"/>
                  <a:t>p </a:t>
                </a:r>
                <a:r>
                  <a:rPr lang="en-US" sz="2000" dirty="0" smtClean="0"/>
                  <a:t>= 1, 2, 8 &amp; 64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-184150">
                  <a:buNone/>
                </a:pPr>
                <a:r>
                  <a:rPr lang="en-US" altLang="en-US" sz="2000" dirty="0" smtClean="0"/>
                  <a:t>The </a:t>
                </a:r>
                <a:r>
                  <a:rPr lang="en-US" altLang="en-US" sz="2000" dirty="0" err="1" smtClean="0"/>
                  <a:t>Phong</a:t>
                </a:r>
                <a:r>
                  <a:rPr lang="en-US" altLang="en-US" sz="2000" dirty="0" smtClean="0"/>
                  <a:t> model calculates the specular </a:t>
                </a:r>
                <a:r>
                  <a:rPr lang="en-US" altLang="en-US" sz="2000" dirty="0"/>
                  <a:t>light </a:t>
                </a:r>
                <a:r>
                  <a:rPr lang="en-US" altLang="en-US" sz="2000" dirty="0" smtClean="0"/>
                  <a:t>component as:</a:t>
                </a:r>
                <a:endParaRPr lang="en-US" altLang="en-US" sz="2000" dirty="0"/>
              </a:p>
              <a:p>
                <a:pPr marL="273050" lvl="1" indent="0">
                  <a:buNone/>
                </a:pPr>
                <a:endParaRPr lang="en-US" altLang="en-US" sz="800" dirty="0"/>
              </a:p>
              <a:p>
                <a:pPr marL="27305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 sz="1800">
                              <a:latin typeface="Cambria Math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en-US" sz="1800">
                              <a:latin typeface="Cambria Math"/>
                            </a:rPr>
                            <m:t>s</m:t>
                          </m:r>
                        </m:sub>
                      </m:sSub>
                      <m:r>
                        <a:rPr lang="en-US" altLang="en-US" sz="180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altLang="en-US" sz="1800" i="1"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en-US" sz="1800">
                          <a:latin typeface="Cambria Math"/>
                        </a:rPr>
                        <m:t>S</m:t>
                      </m:r>
                      <m:r>
                        <a:rPr lang="en-US" altLang="en-US" sz="180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altLang="en-US" sz="1800" i="1"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US" altLang="en-US" sz="18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alt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altLang="en-US" sz="1800" i="1"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US" altLang="en-US" sz="1800" i="1">
                          <a:latin typeface="Cambria Math"/>
                          <a:ea typeface="Cambria Math"/>
                        </a:rPr>
                        <m:t>⊗</m:t>
                      </m:r>
                      <m:sSub>
                        <m:sSubPr>
                          <m:ctrlPr>
                            <a:rPr lang="en-US" altLang="en-US" sz="18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altLang="en-US" sz="1800" i="1">
                              <a:latin typeface="Cambria Math"/>
                              <a:ea typeface="Cambria Math"/>
                            </a:rPr>
                            <m:t>𝑠</m:t>
                          </m:r>
                        </m:sub>
                      </m:sSub>
                      <m:r>
                        <a:rPr lang="en-US" altLang="en-US" sz="18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en-US" sz="1800" dirty="0" smtClean="0"/>
              </a:p>
              <a:p>
                <a:pPr marL="273050" lvl="1" indent="0" algn="ctr">
                  <a:buNone/>
                </a:pPr>
                <a:endParaRPr lang="en-US" altLang="en-US" sz="800" dirty="0" smtClean="0"/>
              </a:p>
              <a:p>
                <a:pPr marL="273050" lvl="1" indent="0" algn="ctr">
                  <a:buNone/>
                </a:pPr>
                <a:r>
                  <a:rPr lang="en-US" altLang="en-US" sz="1800" dirty="0" smtClean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en-US" sz="1800" i="1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en-US" altLang="en-US" sz="1800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US" altLang="en-US" sz="1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en-US" sz="18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18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kumimoji="1" lang="en-US" altLang="en-US" sz="18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func>
                                    <m:funcPr>
                                      <m:ctrlPr>
                                        <a:rPr kumimoji="1" lang="en-US" altLang="en-US" sz="1800" i="1">
                                          <a:latin typeface="Cambria Math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en-US" sz="1800">
                                          <a:latin typeface="Cambria Math"/>
                                        </a:rPr>
                                        <m:t>max</m:t>
                                      </m:r>
                                    </m:fName>
                                    <m:e>
                                      <m:r>
                                        <a:rPr kumimoji="1" lang="en-US" altLang="en-US" sz="1800" i="1">
                                          <a:latin typeface="Cambria Math"/>
                                        </a:rPr>
                                        <m:t>( </m:t>
                                      </m:r>
                                      <m:r>
                                        <a:rPr kumimoji="1" lang="en-US" altLang="en-US" sz="1800" b="1">
                                          <a:latin typeface="Cambria Math"/>
                                        </a:rPr>
                                        <m:t>𝐯</m:t>
                                      </m:r>
                                      <m:r>
                                        <a:rPr kumimoji="1" lang="en-US" altLang="en-US" sz="1800" b="1" i="1">
                                          <a:latin typeface="Cambria Math"/>
                                          <a:ea typeface="Cambria Math"/>
                                        </a:rPr>
                                        <m:t>∙</m:t>
                                      </m:r>
                                      <m:r>
                                        <a:rPr kumimoji="1" lang="en-US" altLang="en-US" sz="1800" b="1">
                                          <a:latin typeface="Cambria Math"/>
                                          <a:ea typeface="Cambria Math"/>
                                        </a:rPr>
                                        <m:t>𝐫</m:t>
                                      </m:r>
                                      <m:r>
                                        <a:rPr kumimoji="1" lang="en-US" altLang="en-US" sz="1800" i="1">
                                          <a:latin typeface="Cambria Math"/>
                                        </a:rPr>
                                        <m:t>,0)</m:t>
                                      </m:r>
                                    </m:e>
                                  </m:func>
                                </m:e>
                                <m:sup>
                                  <m:r>
                                    <a:rPr kumimoji="1" lang="en-US" altLang="en-US" sz="1800" i="1">
                                      <a:latin typeface="Cambria Math"/>
                                    </a:rPr>
                                    <m:t>𝑝</m:t>
                                  </m:r>
                                </m:sup>
                              </m:sSup>
                            </m:e>
                            <m:e>
                              <m:r>
                                <a:rPr kumimoji="1" lang="en-US" altLang="en-US" sz="1800" b="1">
                                  <a:latin typeface="Cambria Math"/>
                                </a:rPr>
                                <m:t>𝐋</m:t>
                              </m:r>
                              <m:r>
                                <a:rPr kumimoji="1" lang="en-US" altLang="en-US" sz="1800" b="1" i="1"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  <m:r>
                                <a:rPr kumimoji="1" lang="en-US" altLang="en-US" sz="1800" b="1">
                                  <a:latin typeface="Cambria Math"/>
                                  <a:ea typeface="Cambria Math"/>
                                </a:rPr>
                                <m:t>𝐧</m:t>
                              </m:r>
                              <m:r>
                                <a:rPr kumimoji="1" lang="en-US" altLang="en-US" sz="1800" b="1">
                                  <a:latin typeface="Cambria Math"/>
                                  <a:ea typeface="Cambria Math"/>
                                </a:rPr>
                                <m:t>&gt;</m:t>
                              </m:r>
                              <m:r>
                                <a:rPr kumimoji="1" lang="en-US" altLang="en-US" sz="1800" i="1"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en-US" sz="1800" b="1">
                                  <a:latin typeface="Cambria Math"/>
                                </a:rPr>
                                <m:t>𝐋</m:t>
                              </m:r>
                              <m:r>
                                <a:rPr kumimoji="1" lang="en-US" altLang="en-US" sz="1800" b="1" i="1"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  <m:r>
                                <a:rPr kumimoji="1" lang="en-US" altLang="en-US" sz="1800" b="1">
                                  <a:latin typeface="Cambria Math"/>
                                  <a:ea typeface="Cambria Math"/>
                                </a:rPr>
                                <m:t>𝐧</m:t>
                              </m:r>
                              <m:r>
                                <a:rPr kumimoji="1" lang="en-US" altLang="en-US" sz="18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kumimoji="1" lang="en-US" altLang="en-US" sz="1800" i="1"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en-US" sz="18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8" t="-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8" name="Picture 4" descr="http://what-when-how.com/wp-content/uploads/2012/06/tmpc009427_thumb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57" y="1752600"/>
            <a:ext cx="27432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fig4-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752600"/>
            <a:ext cx="4419600" cy="1473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820545" y="3320402"/>
            <a:ext cx="46469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higher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is, the more rapidly the intensity falls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28842" y="2819400"/>
            <a:ext cx="1847120" cy="748844"/>
            <a:chOff x="1228842" y="2819400"/>
            <a:chExt cx="1847120" cy="748844"/>
          </a:xfrm>
        </p:grpSpPr>
        <p:sp>
          <p:nvSpPr>
            <p:cNvPr id="6" name="TextBox 5"/>
            <p:cNvSpPr txBox="1"/>
            <p:nvPr/>
          </p:nvSpPr>
          <p:spPr>
            <a:xfrm>
              <a:off x="1228842" y="3352800"/>
              <a:ext cx="4475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64</a:t>
              </a:r>
              <a:endParaRPr lang="en-US" sz="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52600" y="3124200"/>
              <a:ext cx="39626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8</a:t>
              </a:r>
              <a:endParaRPr lang="en-US" sz="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286000" y="2895600"/>
              <a:ext cx="39626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2</a:t>
              </a:r>
              <a:endParaRPr lang="en-US" sz="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679700" y="2819400"/>
              <a:ext cx="39626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1</a:t>
              </a:r>
              <a:endParaRPr lang="en-US" sz="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791676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Phong</a:t>
            </a:r>
            <a:r>
              <a:rPr lang="en-US" dirty="0" smtClean="0"/>
              <a:t> Illumination </a:t>
            </a:r>
            <a:r>
              <a:rPr lang="en-US" dirty="0"/>
              <a:t>Model:</a:t>
            </a:r>
            <a:br>
              <a:rPr lang="en-US" dirty="0"/>
            </a:br>
            <a:r>
              <a:rPr lang="en-US" dirty="0"/>
              <a:t>Putting it all </a:t>
            </a:r>
            <a:r>
              <a:rPr lang="en-US" dirty="0" smtClean="0"/>
              <a:t>together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 smtClean="0"/>
                  <a:t>To compute the light intensity at a </a:t>
                </a:r>
                <a:r>
                  <a:rPr lang="en-US" sz="2000" i="1" u="sng" dirty="0" smtClean="0"/>
                  <a:t>one point </a:t>
                </a:r>
                <a:r>
                  <a:rPr lang="en-US" sz="2000" dirty="0" smtClean="0"/>
                  <a:t>for </a:t>
                </a:r>
                <a:r>
                  <a:rPr lang="en-US" sz="2000" u="sng" dirty="0" smtClean="0"/>
                  <a:t>one light source</a:t>
                </a:r>
                <a:r>
                  <a:rPr lang="en-US" sz="2000" dirty="0" smtClean="0"/>
                  <a:t>, we need the following data:</a:t>
                </a:r>
              </a:p>
              <a:p>
                <a:pPr marL="461963" lvl="1" indent="-188913"/>
                <a:r>
                  <a:rPr lang="en-US" sz="1600" u="sng" dirty="0" smtClean="0"/>
                  <a:t>Light source</a:t>
                </a:r>
                <a:r>
                  <a:rPr lang="en-US" sz="1600" dirty="0" smtClean="0"/>
                  <a:t>:</a:t>
                </a:r>
              </a:p>
              <a:p>
                <a:pPr marL="914400" lvl="2" indent="-188913"/>
                <a:r>
                  <a:rPr lang="en-US" sz="1400" dirty="0"/>
                  <a:t>C</a:t>
                </a:r>
                <a:r>
                  <a:rPr lang="en-US" sz="1400" dirty="0" smtClean="0"/>
                  <a:t>olor/intensity for ambient, diffuse and specular: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en-US" sz="1400" i="1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en-US" sz="1400" b="0" i="1" smtClean="0">
                            <a:latin typeface="Cambria Math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14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en-US" sz="1400" i="1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en-US" sz="1400" b="0" i="1" smtClean="0">
                            <a:latin typeface="Cambria Math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14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en-US" sz="1400" i="1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en-US" sz="1400" i="1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endParaRPr lang="en-US" sz="1400" i="1" dirty="0" smtClean="0"/>
              </a:p>
              <a:p>
                <a:pPr marL="914400" lvl="2" indent="-188913"/>
                <a:r>
                  <a:rPr lang="en-US" sz="1400" dirty="0" smtClean="0"/>
                  <a:t>Direction </a:t>
                </a:r>
                <a:r>
                  <a:rPr lang="en-US" sz="1400" b="1" dirty="0" smtClean="0"/>
                  <a:t>L</a:t>
                </a:r>
                <a:r>
                  <a:rPr lang="en-US" sz="1400" dirty="0" smtClean="0"/>
                  <a:t> towards the light source</a:t>
                </a:r>
                <a:endParaRPr lang="en-US" sz="1400" b="1" dirty="0" smtClean="0"/>
              </a:p>
              <a:p>
                <a:pPr marL="914400" lvl="2" indent="-188913"/>
                <a:r>
                  <a:rPr lang="en-US" sz="1400" dirty="0" smtClean="0"/>
                  <a:t>Direction </a:t>
                </a:r>
                <a14:m>
                  <m:oMath xmlns:m="http://schemas.openxmlformats.org/officeDocument/2006/math">
                    <m:r>
                      <a:rPr kumimoji="1" lang="en-US" altLang="en-US" sz="1400" b="1">
                        <a:latin typeface="Cambria Math"/>
                      </a:rPr>
                      <m:t>𝐯</m:t>
                    </m:r>
                    <m:r>
                      <a:rPr kumimoji="1" lang="en-US" altLang="en-US" sz="1400" b="1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400" dirty="0" smtClean="0"/>
                  <a:t>towards the viewer</a:t>
                </a:r>
              </a:p>
              <a:p>
                <a:pPr marL="461963" lvl="1" indent="-188913"/>
                <a:r>
                  <a:rPr lang="en-US" sz="1600" u="sng" dirty="0" smtClean="0"/>
                  <a:t>Material</a:t>
                </a:r>
                <a:r>
                  <a:rPr lang="en-US" sz="1600" dirty="0" smtClean="0"/>
                  <a:t>:</a:t>
                </a:r>
              </a:p>
              <a:p>
                <a:pPr marL="914400" lvl="2" indent="-188913"/>
                <a:r>
                  <a:rPr lang="en-US" sz="1400" dirty="0" smtClean="0"/>
                  <a:t>color absorption / reflection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en-US" sz="1400" i="1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  <m:sub>
                        <m:r>
                          <a:rPr lang="en-US" altLang="en-US" sz="1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14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en-US" sz="1400" i="1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  <m:sub>
                        <m:r>
                          <a:rPr lang="en-US" altLang="en-US" sz="1400" b="0" i="1" smtClean="0">
                            <a:latin typeface="Cambria Math"/>
                            <a:ea typeface="Cambria Math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14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en-US" sz="1400" i="1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  <m:sub>
                        <m:r>
                          <a:rPr lang="en-US" altLang="en-US" sz="1400" i="1">
                            <a:latin typeface="Cambria Math"/>
                            <a:ea typeface="Cambria Math"/>
                          </a:rPr>
                          <m:t>𝑠</m:t>
                        </m:r>
                      </m:sub>
                    </m:sSub>
                  </m:oMath>
                </a14:m>
                <a:endParaRPr lang="en-US" altLang="en-US" sz="1400" dirty="0" smtClean="0">
                  <a:ea typeface="Cambria Math"/>
                </a:endParaRPr>
              </a:p>
              <a:p>
                <a:pPr marL="914400" lvl="2" indent="-188913"/>
                <a:r>
                  <a:rPr lang="en-US" sz="1400" dirty="0" smtClean="0"/>
                  <a:t>Surface roughness / specular exponent: </a:t>
                </a:r>
                <a:r>
                  <a:rPr lang="en-US" sz="1400" i="1" dirty="0" smtClean="0"/>
                  <a:t>p</a:t>
                </a:r>
              </a:p>
              <a:p>
                <a:pPr marL="914400" lvl="2" indent="-188913"/>
                <a:r>
                  <a:rPr lang="en-US" sz="1400" dirty="0" smtClean="0"/>
                  <a:t>Surface normal </a:t>
                </a:r>
                <a:r>
                  <a:rPr lang="en-US" sz="1400" b="1" dirty="0" smtClean="0"/>
                  <a:t>n</a:t>
                </a:r>
                <a:endParaRPr lang="en-US" sz="1400" dirty="0" smtClean="0"/>
              </a:p>
              <a:p>
                <a:pPr marL="4763" indent="0">
                  <a:buNone/>
                </a:pPr>
                <a:endParaRPr lang="en-US" sz="800" dirty="0"/>
              </a:p>
              <a:p>
                <a:pPr marL="4763" indent="0">
                  <a:buNone/>
                </a:pPr>
                <a:r>
                  <a:rPr lang="en-US" sz="2000" dirty="0" smtClean="0"/>
                  <a:t>The final color value is computed as:</a:t>
                </a:r>
              </a:p>
              <a:p>
                <a:pPr marL="4763" indent="0">
                  <a:buNone/>
                </a:pPr>
                <a:endParaRPr lang="en-US" sz="800" dirty="0" smtClean="0"/>
              </a:p>
              <a:p>
                <a:pPr marL="4763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𝐿𝑖𝑡𝐶𝑜𝑙𝑜𝑟</m:t>
                      </m:r>
                      <m:r>
                        <m:rPr>
                          <m:aln/>
                        </m:rPr>
                        <a:rPr lang="en-US" sz="1800" i="1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>
                          <a:latin typeface="Cambria Math"/>
                        </a:rPr>
                        <m:t>A</m:t>
                      </m:r>
                      <m:r>
                        <a:rPr lang="en-US" sz="1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altLang="en-US" sz="1800" i="1">
                              <a:latin typeface="Cambria Math"/>
                            </a:rPr>
                            <m:t>𝑑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en-US" sz="1800">
                          <a:latin typeface="Cambria Math"/>
                        </a:rPr>
                        <m:t>D</m:t>
                      </m:r>
                      <m:r>
                        <a:rPr lang="en-US" altLang="en-US" sz="1800" b="0" i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altLang="en-US" sz="1800" i="1"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en-US" sz="1800">
                          <a:latin typeface="Cambria Math"/>
                        </a:rPr>
                        <m:t>S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en-US" sz="1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1800" i="1">
                              <a:latin typeface="Cambria Math"/>
                            </a:rPr>
                            <m:t>𝑎</m:t>
                          </m:r>
                        </m:sub>
                      </m:sSub>
                      <m:r>
                        <a:rPr lang="en-US" sz="1800" i="1">
                          <a:latin typeface="Cambria Math"/>
                          <a:ea typeface="Cambria Math"/>
                        </a:rPr>
                        <m:t>⊗</m:t>
                      </m:r>
                      <m:sSub>
                        <m:sSubPr>
                          <m:ctrlPr>
                            <a:rPr lang="en-US" sz="18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𝑎</m:t>
                          </m:r>
                        </m:sub>
                      </m:sSub>
                      <m:r>
                        <a:rPr lang="en-US" sz="1800" i="1">
                          <a:latin typeface="Cambria Math"/>
                          <a:ea typeface="Cambria Math"/>
                        </a:rPr>
                        <m:t>+</m:t>
                      </m:r>
                      <m:func>
                        <m:funcPr>
                          <m:ctrlPr>
                            <a:rPr kumimoji="1" lang="en-US" altLang="en-US" sz="1800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en-US" sz="1800">
                              <a:latin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kumimoji="1" lang="en-US" altLang="en-US" sz="1800" i="1">
                                  <a:latin typeface="Cambria Math"/>
                                </a:rPr>
                                <m:t> </m:t>
                              </m:r>
                              <m:r>
                                <a:rPr kumimoji="1" lang="en-US" altLang="en-US" sz="1800" b="1">
                                  <a:latin typeface="Cambria Math"/>
                                </a:rPr>
                                <m:t>𝐋</m:t>
                              </m:r>
                              <m:r>
                                <a:rPr kumimoji="1" lang="en-US" altLang="en-US" sz="1800" b="1" i="1"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  <m:r>
                                <a:rPr kumimoji="1" lang="en-US" altLang="en-US" sz="1800" b="1">
                                  <a:latin typeface="Cambria Math"/>
                                  <a:ea typeface="Cambria Math"/>
                                </a:rPr>
                                <m:t>𝐧</m:t>
                              </m:r>
                              <m:r>
                                <a:rPr kumimoji="1" lang="en-US" altLang="en-US" sz="1800" i="1">
                                  <a:latin typeface="Cambria Math"/>
                                </a:rPr>
                                <m:t>,0</m:t>
                              </m:r>
                            </m:e>
                          </m:d>
                        </m:e>
                      </m:func>
                      <m:d>
                        <m:dPr>
                          <m:ctrlPr>
                            <a:rPr lang="en-US" altLang="en-US" sz="18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1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en-US" sz="1800" i="1">
                                  <a:latin typeface="Cambria Math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altLang="en-US" sz="1800" i="1">
                              <a:latin typeface="Cambria Math"/>
                              <a:ea typeface="Cambria Math"/>
                            </a:rPr>
                            <m:t>⊗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  <m:r>
                        <a:rPr kumimoji="1" lang="en-US" altLang="en-US" sz="1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altLang="en-US" sz="1800" i="1"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US" altLang="en-US" sz="18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alt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altLang="en-US" sz="1800" i="1"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US" altLang="en-US" sz="1800" i="1">
                          <a:latin typeface="Cambria Math"/>
                          <a:ea typeface="Cambria Math"/>
                        </a:rPr>
                        <m:t>⊗</m:t>
                      </m:r>
                      <m:sSub>
                        <m:sSubPr>
                          <m:ctrlPr>
                            <a:rPr lang="en-US" altLang="en-US" sz="18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altLang="en-US" sz="1800" i="1">
                              <a:latin typeface="Cambria Math"/>
                              <a:ea typeface="Cambria Math"/>
                            </a:rPr>
                            <m:t>𝑠</m:t>
                          </m:r>
                        </m:sub>
                      </m:sSub>
                      <m:r>
                        <a:rPr lang="en-US" altLang="en-US" sz="18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marL="4763" indent="0">
                  <a:buNone/>
                </a:pPr>
                <a:r>
                  <a:rPr lang="en-US" sz="2000" dirty="0" smtClean="0"/>
                  <a:t>	</a:t>
                </a:r>
                <a:r>
                  <a:rPr lang="en-US" sz="1800" dirty="0" smtClean="0"/>
                  <a:t>Where</a:t>
                </a:r>
                <a:r>
                  <a:rPr lang="en-US" altLang="en-US" sz="1800" dirty="0"/>
                  <a:t> </a:t>
                </a:r>
                <a:endParaRPr lang="en-US" altLang="en-US" sz="1800" dirty="0" smtClean="0"/>
              </a:p>
              <a:p>
                <a:pPr marL="4763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altLang="en-US" sz="1800" i="1"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US" altLang="en-US" sz="1800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en-US" sz="1800" i="1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1800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kumimoji="1" lang="en-US" altLang="en-US" sz="1800" i="1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func>
                                      <m:funcPr>
                                        <m:ctrlPr>
                                          <a:rPr kumimoji="1" lang="en-US" altLang="en-US" sz="1800" i="1">
                                            <a:latin typeface="Cambria Math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kumimoji="1" lang="en-US" altLang="en-US" sz="1800">
                                            <a:latin typeface="Cambria Math"/>
                                          </a:rPr>
                                          <m:t>max</m:t>
                                        </m:r>
                                      </m:fName>
                                      <m:e>
                                        <m:r>
                                          <a:rPr kumimoji="1" lang="en-US" altLang="en-US" sz="1800" i="1">
                                            <a:latin typeface="Cambria Math"/>
                                          </a:rPr>
                                          <m:t>( </m:t>
                                        </m:r>
                                        <m:r>
                                          <a:rPr kumimoji="1" lang="en-US" altLang="en-US" sz="1800" b="1">
                                            <a:latin typeface="Cambria Math"/>
                                          </a:rPr>
                                          <m:t>𝐯</m:t>
                                        </m:r>
                                        <m:r>
                                          <a:rPr kumimoji="1" lang="en-US" altLang="en-US" sz="1800" b="1" i="1">
                                            <a:latin typeface="Cambria Math"/>
                                            <a:ea typeface="Cambria Math"/>
                                          </a:rPr>
                                          <m:t>∙</m:t>
                                        </m:r>
                                        <m:r>
                                          <a:rPr kumimoji="1" lang="en-US" altLang="en-US" sz="1800" b="1">
                                            <a:latin typeface="Cambria Math"/>
                                            <a:ea typeface="Cambria Math"/>
                                          </a:rPr>
                                          <m:t>𝐫</m:t>
                                        </m:r>
                                        <m:r>
                                          <a:rPr kumimoji="1" lang="en-US" altLang="en-US" sz="1800" i="1">
                                            <a:latin typeface="Cambria Math"/>
                                          </a:rPr>
                                          <m:t>,0)</m:t>
                                        </m:r>
                                      </m:e>
                                    </m:func>
                                  </m:e>
                                  <m:sup>
                                    <m:r>
                                      <a:rPr kumimoji="1" lang="en-US" altLang="en-US" sz="1800" i="1">
                                        <a:latin typeface="Cambria Math"/>
                                      </a:rPr>
                                      <m:t>𝑝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kumimoji="1" lang="en-US" altLang="en-US" sz="1800" b="1">
                                    <a:latin typeface="Cambria Math"/>
                                  </a:rPr>
                                  <m:t>𝐋</m:t>
                                </m:r>
                                <m:r>
                                  <a:rPr kumimoji="1" lang="en-US" altLang="en-US" sz="1800" b="1" i="1">
                                    <a:latin typeface="Cambria Math"/>
                                    <a:ea typeface="Cambria Math"/>
                                  </a:rPr>
                                  <m:t>∙</m:t>
                                </m:r>
                                <m:r>
                                  <a:rPr kumimoji="1" lang="en-US" altLang="en-US" sz="1800" b="1">
                                    <a:latin typeface="Cambria Math"/>
                                    <a:ea typeface="Cambria Math"/>
                                  </a:rPr>
                                  <m:t>𝐧</m:t>
                                </m:r>
                                <m:r>
                                  <a:rPr kumimoji="1" lang="en-US" altLang="en-US" sz="1800" b="1">
                                    <a:latin typeface="Cambria Math"/>
                                    <a:ea typeface="Cambria Math"/>
                                  </a:rPr>
                                  <m:t>&gt;</m:t>
                                </m:r>
                                <m:r>
                                  <a:rPr kumimoji="1" lang="en-US" altLang="en-US" sz="1800" i="1">
                                    <a:latin typeface="Cambria Math"/>
                                    <a:ea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1800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en-US" sz="1800" b="1">
                                    <a:latin typeface="Cambria Math"/>
                                  </a:rPr>
                                  <m:t>𝐋</m:t>
                                </m:r>
                                <m:r>
                                  <a:rPr kumimoji="1" lang="en-US" altLang="en-US" sz="1800" b="1" i="1">
                                    <a:latin typeface="Cambria Math"/>
                                    <a:ea typeface="Cambria Math"/>
                                  </a:rPr>
                                  <m:t>∙</m:t>
                                </m:r>
                                <m:r>
                                  <a:rPr kumimoji="1" lang="en-US" altLang="en-US" sz="1800" b="1">
                                    <a:latin typeface="Cambria Math"/>
                                    <a:ea typeface="Cambria Math"/>
                                  </a:rPr>
                                  <m:t>𝐧</m:t>
                                </m:r>
                                <m:r>
                                  <a:rPr kumimoji="1" lang="en-US" altLang="en-US" sz="1800" b="1" i="1">
                                    <a:latin typeface="Cambria Math"/>
                                    <a:ea typeface="Cambria Math"/>
                                  </a:rPr>
                                  <m:t>≤</m:t>
                                </m:r>
                                <m:r>
                                  <a:rPr kumimoji="1" lang="en-US" altLang="en-US" sz="1800" i="1">
                                    <a:latin typeface="Cambria Math"/>
                                    <a:ea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 smtClean="0"/>
              </a:p>
              <a:p>
                <a:pPr marL="4763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8" t="-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6629400" y="4195762"/>
            <a:ext cx="2438400" cy="619125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Now let’s use all this math in a </a:t>
            </a:r>
            <a:r>
              <a:rPr lang="en-US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shader</a:t>
            </a:r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2690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2:</a:t>
            </a:r>
          </a:p>
          <a:p>
            <a:r>
              <a:rPr lang="en-US" dirty="0" err="1" smtClean="0"/>
              <a:t>Phong</a:t>
            </a:r>
            <a:r>
              <a:rPr lang="en-US" dirty="0" smtClean="0"/>
              <a:t> </a:t>
            </a:r>
            <a:r>
              <a:rPr lang="en-US" dirty="0" err="1" smtClean="0"/>
              <a:t>Shader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61112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</a:t>
            </a:r>
            <a:r>
              <a:rPr lang="en-US" dirty="0" err="1"/>
              <a:t>Phong</a:t>
            </a:r>
            <a:r>
              <a:rPr lang="en-US" dirty="0"/>
              <a:t> </a:t>
            </a:r>
            <a:r>
              <a:rPr lang="en-US" dirty="0" smtClean="0"/>
              <a:t>Model:</a:t>
            </a:r>
            <a:br>
              <a:rPr lang="en-US" dirty="0" smtClean="0"/>
            </a:br>
            <a:r>
              <a:rPr lang="en-US" dirty="0" err="1" smtClean="0"/>
              <a:t>ShaderColorLight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We will demonstrate how to use the </a:t>
            </a:r>
            <a:r>
              <a:rPr lang="en-US" sz="2000" dirty="0" err="1" smtClean="0"/>
              <a:t>Phong</a:t>
            </a:r>
            <a:r>
              <a:rPr lang="en-US" sz="2000" dirty="0" smtClean="0"/>
              <a:t> Illumination model by modifying the old </a:t>
            </a:r>
            <a:r>
              <a:rPr lang="en-US" sz="2000" dirty="0"/>
              <a:t>c</a:t>
            </a:r>
            <a:r>
              <a:rPr lang="en-US" sz="2000" dirty="0" smtClean="0"/>
              <a:t>olor </a:t>
            </a:r>
            <a:r>
              <a:rPr lang="en-US" sz="2000" dirty="0" err="1" smtClean="0"/>
              <a:t>shader</a:t>
            </a:r>
            <a:r>
              <a:rPr lang="en-US" sz="2000" dirty="0" smtClean="0"/>
              <a:t>.</a:t>
            </a:r>
          </a:p>
          <a:p>
            <a:pPr marL="274320" lvl="1" indent="0">
              <a:buNone/>
            </a:pPr>
            <a:r>
              <a:rPr lang="en-US" sz="1800" i="1" dirty="0" smtClean="0"/>
              <a:t>Your homework will be to adapt your texture </a:t>
            </a:r>
            <a:r>
              <a:rPr lang="en-US" sz="1800" i="1" dirty="0" err="1" smtClean="0"/>
              <a:t>shader</a:t>
            </a:r>
            <a:r>
              <a:rPr lang="en-US" sz="1800" i="1" dirty="0" smtClean="0"/>
              <a:t> similarly</a:t>
            </a:r>
          </a:p>
        </p:txBody>
      </p:sp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98" y="2514600"/>
            <a:ext cx="5983287" cy="370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500862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the </a:t>
            </a:r>
            <a:r>
              <a:rPr lang="en-US" dirty="0" err="1" smtClean="0"/>
              <a:t>Phong</a:t>
            </a:r>
            <a:r>
              <a:rPr lang="en-US" dirty="0" smtClean="0"/>
              <a:t> Model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4763" indent="0">
                  <a:buNone/>
                </a:pPr>
                <a:r>
                  <a:rPr lang="en-US" sz="2000" dirty="0" smtClean="0"/>
                  <a:t>Compare: 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𝐿𝑖𝑡𝐶𝑜𝑙𝑜𝑟</m:t>
                    </m:r>
                    <m:r>
                      <m:rPr>
                        <m:aln/>
                      </m:rPr>
                      <a:rPr lang="en-US" sz="1600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600">
                        <a:latin typeface="Cambria Math"/>
                      </a:rPr>
                      <m:t>A</m:t>
                    </m:r>
                    <m:r>
                      <a:rPr lang="en-US" sz="16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en-US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en-US" altLang="en-US" sz="1600" i="1">
                            <a:latin typeface="Cambria Math"/>
                          </a:rPr>
                          <m:t>𝑑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en-US" sz="1600">
                        <a:latin typeface="Cambria Math"/>
                      </a:rPr>
                      <m:t>D</m:t>
                    </m:r>
                    <m:r>
                      <a:rPr lang="en-US" altLang="en-US" sz="160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en-US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en-US" altLang="en-US" sz="1600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en-US" sz="1600">
                        <a:latin typeface="Cambria Math"/>
                      </a:rPr>
                      <m:t>S</m:t>
                    </m:r>
                  </m:oMath>
                </a14:m>
                <a:r>
                  <a:rPr lang="en-US" altLang="en-US" sz="1600" dirty="0">
                    <a:latin typeface="Cambria Math"/>
                  </a:rPr>
                  <a:t/>
                </a:r>
                <a:br>
                  <a:rPr lang="en-US" altLang="en-US" sz="1600" dirty="0">
                    <a:latin typeface="Cambria Math"/>
                  </a:rPr>
                </a:br>
                <a:r>
                  <a:rPr lang="en-US" altLang="en-US" sz="1600" dirty="0" smtClean="0">
                    <a:latin typeface="Cambria Math"/>
                  </a:rPr>
                  <a:t> 		     </a:t>
                </a:r>
                <a14:m>
                  <m:oMath xmlns:m="http://schemas.openxmlformats.org/officeDocument/2006/math">
                    <m:r>
                      <m:rPr>
                        <m:aln/>
                      </m:rPr>
                      <a:rPr lang="en-US" altLang="en-US" sz="16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𝑎</m:t>
                        </m:r>
                      </m:sub>
                    </m:sSub>
                    <m:r>
                      <a:rPr lang="en-US" sz="1600" i="1">
                        <a:latin typeface="Cambria Math"/>
                        <a:ea typeface="Cambria Math"/>
                      </a:rPr>
                      <m:t>⊗</m:t>
                    </m:r>
                    <m:sSub>
                      <m:sSubPr>
                        <m:ctrlPr>
                          <a:rPr lang="en-US" sz="16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  <m:sub>
                        <m:r>
                          <a:rPr lang="en-US" sz="1600" i="1">
                            <a:latin typeface="Cambria Math"/>
                            <a:ea typeface="Cambria Math"/>
                          </a:rPr>
                          <m:t>𝑎</m:t>
                        </m:r>
                      </m:sub>
                    </m:sSub>
                    <m:r>
                      <a:rPr lang="en-US" sz="1600" i="1">
                        <a:latin typeface="Cambria Math"/>
                        <a:ea typeface="Cambria Math"/>
                      </a:rPr>
                      <m:t>+</m:t>
                    </m:r>
                    <m:func>
                      <m:funcPr>
                        <m:ctrlPr>
                          <a:rPr kumimoji="1" lang="en-US" altLang="en-US" sz="1600" i="1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en-US" sz="1600">
                            <a:latin typeface="Cambria Math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kumimoji="1" lang="en-US" altLang="en-US" sz="16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kumimoji="1" lang="en-US" altLang="en-US" sz="1600" i="1">
                                <a:latin typeface="Cambria Math"/>
                              </a:rPr>
                              <m:t> </m:t>
                            </m:r>
                            <m:r>
                              <a:rPr kumimoji="1" lang="en-US" altLang="en-US" sz="1600" b="1">
                                <a:latin typeface="Cambria Math"/>
                              </a:rPr>
                              <m:t>𝐋</m:t>
                            </m:r>
                            <m:r>
                              <a:rPr kumimoji="1" lang="en-US" altLang="en-US" sz="1600" b="1" i="1">
                                <a:latin typeface="Cambria Math"/>
                                <a:ea typeface="Cambria Math"/>
                              </a:rPr>
                              <m:t>∙</m:t>
                            </m:r>
                            <m:r>
                              <a:rPr kumimoji="1" lang="en-US" altLang="en-US" sz="1600" b="1">
                                <a:latin typeface="Cambria Math"/>
                                <a:ea typeface="Cambria Math"/>
                              </a:rPr>
                              <m:t>𝐧</m:t>
                            </m:r>
                            <m:r>
                              <a:rPr kumimoji="1" lang="en-US" altLang="en-US" sz="1600" i="1">
                                <a:latin typeface="Cambria Math"/>
                              </a:rPr>
                              <m:t>,0</m:t>
                            </m:r>
                          </m:e>
                        </m:d>
                      </m:e>
                    </m:func>
                    <m:d>
                      <m:dPr>
                        <m:ctrlPr>
                          <a:rPr lang="en-US" altLang="en-US" sz="16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1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600" i="1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en-US" sz="1600" i="1">
                                <a:latin typeface="Cambria Math"/>
                              </a:rPr>
                              <m:t>𝑑</m:t>
                            </m:r>
                          </m:sub>
                        </m:sSub>
                        <m:r>
                          <a:rPr lang="en-US" altLang="en-US" sz="1600" i="1">
                            <a:latin typeface="Cambria Math"/>
                            <a:ea typeface="Cambria Math"/>
                          </a:rPr>
                          <m:t>⊗</m:t>
                        </m:r>
                        <m:sSub>
                          <m:sSubPr>
                            <m:ctrlPr>
                              <a:rPr lang="en-US" altLang="en-US" sz="1600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600" i="1">
                                <a:latin typeface="Cambria Math"/>
                                <a:ea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1600" i="1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sub>
                        </m:sSub>
                      </m:e>
                    </m:d>
                    <m:r>
                      <a:rPr kumimoji="1" lang="en-US" altLang="en-US" sz="16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en-US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en-US" altLang="en-US" sz="1600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US" altLang="en-US" sz="160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en-US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en-US" sz="1600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US" altLang="en-US" sz="1600" i="1">
                        <a:latin typeface="Cambria Math"/>
                        <a:ea typeface="Cambria Math"/>
                      </a:rPr>
                      <m:t>⊗</m:t>
                    </m:r>
                    <m:sSub>
                      <m:sSubPr>
                        <m:ctrlPr>
                          <a:rPr lang="en-US" altLang="en-US" sz="16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  <m:sub>
                        <m:r>
                          <a:rPr lang="en-US" altLang="en-US" sz="1600" i="1">
                            <a:latin typeface="Cambria Math"/>
                            <a:ea typeface="Cambria Math"/>
                          </a:rPr>
                          <m:t>𝑠</m:t>
                        </m:r>
                      </m:sub>
                    </m:sSub>
                    <m:r>
                      <a:rPr lang="en-US" altLang="en-US" sz="1600">
                        <a:latin typeface="Cambria Math"/>
                      </a:rPr>
                      <m:t>)</m:t>
                    </m:r>
                  </m:oMath>
                </a14:m>
                <a:endParaRPr lang="en-US" sz="1600" dirty="0"/>
              </a:p>
              <a:p>
                <a:pPr marL="4763" indent="0">
                  <a:buNone/>
                </a:pPr>
                <a:r>
                  <a:rPr lang="en-US" sz="1600" dirty="0"/>
                  <a:t>	Where</a:t>
                </a:r>
                <a:r>
                  <a:rPr lang="en-US" altLang="en-US" sz="1600" dirty="0"/>
                  <a:t> </a:t>
                </a:r>
              </a:p>
              <a:p>
                <a:pPr marL="4763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6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en-US" sz="1600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altLang="en-US" sz="1600" i="1"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US" altLang="en-US" sz="1600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en-US" sz="1600" i="1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1600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kumimoji="1" lang="en-US" altLang="en-US" sz="1600" i="1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func>
                                      <m:funcPr>
                                        <m:ctrlPr>
                                          <a:rPr kumimoji="1" lang="en-US" altLang="en-US" sz="1600" i="1">
                                            <a:latin typeface="Cambria Math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kumimoji="1" lang="en-US" altLang="en-US" sz="1600">
                                            <a:latin typeface="Cambria Math"/>
                                          </a:rPr>
                                          <m:t>max</m:t>
                                        </m:r>
                                      </m:fName>
                                      <m:e>
                                        <m:r>
                                          <a:rPr kumimoji="1" lang="en-US" altLang="en-US" sz="1600" i="1">
                                            <a:latin typeface="Cambria Math"/>
                                          </a:rPr>
                                          <m:t>( </m:t>
                                        </m:r>
                                        <m:r>
                                          <a:rPr kumimoji="1" lang="en-US" altLang="en-US" sz="1600" b="1">
                                            <a:latin typeface="Cambria Math"/>
                                          </a:rPr>
                                          <m:t>𝐯</m:t>
                                        </m:r>
                                        <m:r>
                                          <a:rPr kumimoji="1" lang="en-US" altLang="en-US" sz="1600" b="1" i="1">
                                            <a:latin typeface="Cambria Math"/>
                                            <a:ea typeface="Cambria Math"/>
                                          </a:rPr>
                                          <m:t>∙</m:t>
                                        </m:r>
                                        <m:r>
                                          <a:rPr kumimoji="1" lang="en-US" altLang="en-US" sz="1600" b="1">
                                            <a:latin typeface="Cambria Math"/>
                                            <a:ea typeface="Cambria Math"/>
                                          </a:rPr>
                                          <m:t>𝐫</m:t>
                                        </m:r>
                                        <m:r>
                                          <a:rPr kumimoji="1" lang="en-US" altLang="en-US" sz="1600" i="1">
                                            <a:latin typeface="Cambria Math"/>
                                          </a:rPr>
                                          <m:t>,0)</m:t>
                                        </m:r>
                                      </m:e>
                                    </m:func>
                                  </m:e>
                                  <m:sup>
                                    <m:r>
                                      <a:rPr kumimoji="1" lang="en-US" altLang="en-US" sz="1600" i="1">
                                        <a:latin typeface="Cambria Math"/>
                                      </a:rPr>
                                      <m:t>𝑝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kumimoji="1" lang="en-US" altLang="en-US" sz="1600" b="1">
                                    <a:latin typeface="Cambria Math"/>
                                  </a:rPr>
                                  <m:t>𝐋</m:t>
                                </m:r>
                                <m:r>
                                  <a:rPr kumimoji="1" lang="en-US" altLang="en-US" sz="1600" b="1" i="1">
                                    <a:latin typeface="Cambria Math"/>
                                    <a:ea typeface="Cambria Math"/>
                                  </a:rPr>
                                  <m:t>∙</m:t>
                                </m:r>
                                <m:r>
                                  <a:rPr kumimoji="1" lang="en-US" altLang="en-US" sz="1600" b="1">
                                    <a:latin typeface="Cambria Math"/>
                                    <a:ea typeface="Cambria Math"/>
                                  </a:rPr>
                                  <m:t>𝐧</m:t>
                                </m:r>
                                <m:r>
                                  <a:rPr kumimoji="1" lang="en-US" altLang="en-US" sz="1600" b="1">
                                    <a:latin typeface="Cambria Math"/>
                                    <a:ea typeface="Cambria Math"/>
                                  </a:rPr>
                                  <m:t>&gt;</m:t>
                                </m:r>
                                <m:r>
                                  <a:rPr kumimoji="1" lang="en-US" altLang="en-US" sz="1600" i="1">
                                    <a:latin typeface="Cambria Math"/>
                                    <a:ea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1600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en-US" sz="1600" b="1">
                                    <a:latin typeface="Cambria Math"/>
                                  </a:rPr>
                                  <m:t>𝐋</m:t>
                                </m:r>
                                <m:r>
                                  <a:rPr kumimoji="1" lang="en-US" altLang="en-US" sz="1600" b="1" i="1">
                                    <a:latin typeface="Cambria Math"/>
                                    <a:ea typeface="Cambria Math"/>
                                  </a:rPr>
                                  <m:t>∙</m:t>
                                </m:r>
                                <m:r>
                                  <a:rPr kumimoji="1" lang="en-US" altLang="en-US" sz="1600" b="1">
                                    <a:latin typeface="Cambria Math"/>
                                    <a:ea typeface="Cambria Math"/>
                                  </a:rPr>
                                  <m:t>𝐧</m:t>
                                </m:r>
                                <m:r>
                                  <a:rPr kumimoji="1" lang="en-US" altLang="en-US" sz="1600" b="1" i="1">
                                    <a:latin typeface="Cambria Math"/>
                                    <a:ea typeface="Cambria Math"/>
                                  </a:rPr>
                                  <m:t>≤</m:t>
                                </m:r>
                                <m:r>
                                  <a:rPr kumimoji="1" lang="en-US" altLang="en-US" sz="1600" i="1">
                                    <a:latin typeface="Cambria Math"/>
                                    <a:ea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637" t="-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5836" y="2752057"/>
            <a:ext cx="4416594" cy="22929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Material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Ambient;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Diffuse;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Specular; 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Hack: w holds the specular power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PhongADS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Ambient;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Diffuse;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Specular;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100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2752057"/>
            <a:ext cx="5801588" cy="41549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PhongModel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  Material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mat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PhongADS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lightint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	      float3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L,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float3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normal,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float3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DirToEye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	     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out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ambient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out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diffuse,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out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spec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       )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ambient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mat.Ambient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lightint.Ambient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diffuseFactor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dot(L,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normal);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if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diffuseFactor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&gt; 0.0f)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diffuse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diffuseFactor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mat.Diffuse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lightint.Diffuse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float3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r = reflect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(-L, normal);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compute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t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he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reflected ray 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spec_val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max(dot(r,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DirToEye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),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0);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specFactor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pow(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spec_val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mat.Specular.w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spec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specFactor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mat.Specular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lightint.Specular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else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    diffuse 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fr-FR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(0, 0, 0, 0);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spec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0, 0, 0);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228600" y="5203613"/>
            <a:ext cx="3113625" cy="11066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So, apply this per pixel and we’re done?</a:t>
            </a:r>
          </a:p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Not quite….</a:t>
            </a:r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00200" y="2689014"/>
            <a:ext cx="1720898" cy="578882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1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Note: </a:t>
            </a:r>
            <a:r>
              <a:rPr lang="en-US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these are just </a:t>
            </a:r>
            <a:r>
              <a:rPr lang="en-US" sz="14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en-US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not </a:t>
            </a:r>
            <a:r>
              <a:rPr lang="en-US" sz="14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cbuffers</a:t>
            </a:r>
            <a:endParaRPr lang="en-US" sz="1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62800" y="3374814"/>
            <a:ext cx="1905000" cy="578882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1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Note: </a:t>
            </a:r>
            <a:r>
              <a:rPr lang="en-US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this is just a function, not VS or PS</a:t>
            </a:r>
            <a:endParaRPr lang="en-US" sz="1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51995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Models and </a:t>
            </a:r>
            <a:r>
              <a:rPr lang="en-US" dirty="0" err="1" smtClean="0"/>
              <a:t>Normals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We need to modify our </a:t>
            </a:r>
            <a:r>
              <a:rPr lang="en-US" sz="2000" dirty="0" err="1" smtClean="0"/>
              <a:t>StandardVertex</a:t>
            </a:r>
            <a:r>
              <a:rPr lang="en-US" sz="2000" dirty="0" smtClean="0"/>
              <a:t> to include face </a:t>
            </a:r>
            <a:r>
              <a:rPr lang="en-US" sz="2000" dirty="0" err="1" smtClean="0"/>
              <a:t>normals</a:t>
            </a:r>
            <a:endParaRPr lang="en-US" sz="2000" dirty="0" smtClean="0"/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r>
              <a:rPr lang="en-US" sz="2000" dirty="0" smtClean="0"/>
              <a:t>Premade Models must also be updated:</a:t>
            </a:r>
          </a:p>
          <a:p>
            <a:pPr marL="461963" lvl="1" indent="-188913"/>
            <a:r>
              <a:rPr lang="en-US" sz="1800" dirty="0" smtClean="0"/>
              <a:t>For the Cube and </a:t>
            </a:r>
            <a:r>
              <a:rPr lang="en-US" sz="1800" dirty="0" err="1" smtClean="0"/>
              <a:t>and</a:t>
            </a:r>
            <a:r>
              <a:rPr lang="en-US" sz="1800" dirty="0" smtClean="0"/>
              <a:t> flat plane, the </a:t>
            </a:r>
            <a:r>
              <a:rPr lang="en-US" sz="1800" dirty="0" err="1" smtClean="0"/>
              <a:t>normals</a:t>
            </a:r>
            <a:r>
              <a:rPr lang="en-US" sz="1800" dirty="0" smtClean="0"/>
              <a:t> are easy</a:t>
            </a:r>
          </a:p>
          <a:p>
            <a:pPr marL="461963" lvl="1" indent="-188913"/>
            <a:r>
              <a:rPr lang="en-US" sz="1800" dirty="0" smtClean="0"/>
              <a:t>For the sphere: it’s also easy (think about it)</a:t>
            </a:r>
          </a:p>
          <a:p>
            <a:pPr marL="461963" lvl="1" indent="-188913"/>
            <a:r>
              <a:rPr lang="en-US" sz="1800" dirty="0" smtClean="0"/>
              <a:t>For Pyramid and Terrain, things are more complicated</a:t>
            </a:r>
          </a:p>
          <a:p>
            <a:pPr marL="1085850" lvl="2" indent="-188913"/>
            <a:r>
              <a:rPr lang="en-US" dirty="0" smtClean="0"/>
              <a:t>Pyramid: use the three vertices of a face to find the face normal</a:t>
            </a:r>
          </a:p>
          <a:p>
            <a:pPr marL="1085850" lvl="2" indent="-188913"/>
            <a:r>
              <a:rPr lang="en-US" dirty="0" smtClean="0"/>
              <a:t>For terrain: each vertex is incident (touches) multiple faces.</a:t>
            </a:r>
          </a:p>
          <a:p>
            <a:pPr marL="1541463" lvl="3" indent="-188913"/>
            <a:r>
              <a:rPr lang="en-US" sz="1800" dirty="0" smtClean="0"/>
              <a:t>Compute the normal for each face.</a:t>
            </a:r>
          </a:p>
          <a:p>
            <a:pPr marL="1541463" lvl="3" indent="-188913"/>
            <a:r>
              <a:rPr lang="en-US" sz="1800" dirty="0" smtClean="0"/>
              <a:t>The normal for a vertex is the average of the face normal incident on it</a:t>
            </a:r>
          </a:p>
          <a:p>
            <a:pPr marL="1541463" lvl="3" indent="-188913"/>
            <a:endParaRPr lang="en-US" sz="1800" dirty="0"/>
          </a:p>
        </p:txBody>
      </p:sp>
      <p:grpSp>
        <p:nvGrpSpPr>
          <p:cNvPr id="7" name="Group 6"/>
          <p:cNvGrpSpPr/>
          <p:nvPr/>
        </p:nvGrpSpPr>
        <p:grpSpPr>
          <a:xfrm>
            <a:off x="7162800" y="1295400"/>
            <a:ext cx="1800493" cy="1446550"/>
            <a:chOff x="7162800" y="1295400"/>
            <a:chExt cx="1800493" cy="1446550"/>
          </a:xfrm>
        </p:grpSpPr>
        <p:sp>
          <p:nvSpPr>
            <p:cNvPr id="5" name="TextBox 4"/>
            <p:cNvSpPr txBox="1"/>
            <p:nvPr/>
          </p:nvSpPr>
          <p:spPr>
            <a:xfrm>
              <a:off x="7162800" y="1295400"/>
              <a:ext cx="1800493" cy="14465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100" dirty="0" err="1">
                  <a:solidFill>
                    <a:srgbClr val="0000FF"/>
                  </a:solidFill>
                  <a:latin typeface="Consolas"/>
                </a:rPr>
                <a:t>struct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 smtClean="0">
                  <a:solidFill>
                    <a:srgbClr val="2B91AF"/>
                  </a:solidFill>
                  <a:latin typeface="Consolas"/>
                </a:rPr>
                <a:t>StandardVertex</a:t>
              </a:r>
              <a:endParaRPr lang="en-US" sz="1100" dirty="0">
                <a:solidFill>
                  <a:srgbClr val="000000"/>
                </a:solidFill>
                <a:latin typeface="Consola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{</a:t>
              </a:r>
            </a:p>
            <a:p>
              <a:r>
                <a:rPr lang="en-US" sz="1100" dirty="0" smtClean="0">
                  <a:solidFill>
                    <a:srgbClr val="2B91AF"/>
                  </a:solidFill>
                  <a:latin typeface="Consolas"/>
                </a:rPr>
                <a:t>  </a:t>
              </a:r>
              <a:r>
                <a:rPr lang="en-US" sz="1100" dirty="0" err="1" smtClean="0">
                  <a:solidFill>
                    <a:srgbClr val="2B91AF"/>
                  </a:solidFill>
                  <a:latin typeface="Consolas"/>
                </a:rPr>
                <a:t>Vect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Pos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 smtClean="0">
                  <a:solidFill>
                    <a:srgbClr val="0000FF"/>
                  </a:solidFill>
                  <a:latin typeface="Consolas"/>
                </a:rPr>
                <a:t>  float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u;    </a:t>
              </a:r>
            </a:p>
            <a:p>
              <a:r>
                <a:rPr lang="en-US" sz="1100" dirty="0" smtClean="0">
                  <a:solidFill>
                    <a:srgbClr val="0000FF"/>
                  </a:solidFill>
                  <a:latin typeface="Consolas"/>
                </a:rPr>
                <a:t>  float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v;</a:t>
              </a:r>
            </a:p>
            <a:p>
              <a:r>
                <a:rPr lang="en-US" sz="1100" dirty="0" smtClean="0">
                  <a:solidFill>
                    <a:srgbClr val="2B91AF"/>
                  </a:solidFill>
                  <a:latin typeface="Consolas"/>
                </a:rPr>
                <a:t>  </a:t>
              </a:r>
              <a:r>
                <a:rPr lang="en-US" sz="1100" dirty="0" err="1" smtClean="0">
                  <a:solidFill>
                    <a:srgbClr val="2B91AF"/>
                  </a:solidFill>
                  <a:latin typeface="Consolas"/>
                </a:rPr>
                <a:t>Vect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normal;</a:t>
              </a:r>
            </a:p>
            <a:p>
              <a:r>
                <a:rPr lang="en-US" sz="1100" dirty="0" smtClean="0">
                  <a:solidFill>
                    <a:srgbClr val="2B91AF"/>
                  </a:solidFill>
                  <a:latin typeface="Consolas"/>
                </a:rPr>
                <a:t>  </a:t>
              </a:r>
              <a:r>
                <a:rPr lang="en-US" sz="1100" dirty="0" err="1" smtClean="0">
                  <a:solidFill>
                    <a:srgbClr val="2B91AF"/>
                  </a:solidFill>
                  <a:latin typeface="Consolas"/>
                </a:rPr>
                <a:t>Vect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Color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}</a:t>
              </a:r>
              <a:endParaRPr lang="en-US" sz="1100" dirty="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334248" y="2169318"/>
              <a:ext cx="990600" cy="192881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888" y="4539396"/>
            <a:ext cx="2881312" cy="2090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008253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Light Types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The </a:t>
            </a:r>
            <a:r>
              <a:rPr lang="en-US" sz="2000" dirty="0" err="1" smtClean="0"/>
              <a:t>Phong</a:t>
            </a:r>
            <a:r>
              <a:rPr lang="en-US" sz="2000" dirty="0" smtClean="0"/>
              <a:t> illumination model is limited, but it still offer some latitude as to the type of light source we can model.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b="1" dirty="0" smtClean="0"/>
              <a:t>Directional Light:</a:t>
            </a:r>
            <a:endParaRPr lang="en-US" sz="2000" dirty="0" smtClean="0"/>
          </a:p>
          <a:p>
            <a:pPr marL="461963" lvl="1" indent="-188913"/>
            <a:r>
              <a:rPr lang="en-US" sz="1600" dirty="0" smtClean="0"/>
              <a:t>Simulates the sun (or any far away source)</a:t>
            </a:r>
          </a:p>
          <a:p>
            <a:pPr marL="461963" lvl="1" indent="-188913"/>
            <a:r>
              <a:rPr lang="en-US" sz="1600" dirty="0" smtClean="0"/>
              <a:t>All light rays are parallel.</a:t>
            </a:r>
          </a:p>
          <a:p>
            <a:pPr marL="461963" lvl="1" indent="-188913"/>
            <a:r>
              <a:rPr lang="en-US" sz="1600" dirty="0" smtClean="0"/>
              <a:t>No attenuation with distance</a:t>
            </a:r>
          </a:p>
          <a:p>
            <a:pPr marL="461963" lvl="1" indent="-188913"/>
            <a:endParaRPr lang="en-US" sz="1600" dirty="0"/>
          </a:p>
          <a:p>
            <a:pPr marL="0" indent="0">
              <a:buNone/>
            </a:pPr>
            <a:r>
              <a:rPr lang="en-US" sz="2000" b="1" dirty="0" smtClean="0"/>
              <a:t>Point Light</a:t>
            </a:r>
            <a:r>
              <a:rPr lang="en-US" sz="2000" b="1" dirty="0"/>
              <a:t>:</a:t>
            </a:r>
            <a:endParaRPr lang="en-US" sz="2000" dirty="0"/>
          </a:p>
          <a:p>
            <a:pPr marL="461963" lvl="1" indent="-188913"/>
            <a:r>
              <a:rPr lang="en-US" sz="1600" dirty="0" smtClean="0"/>
              <a:t>Simulates a small light source at a known position</a:t>
            </a:r>
          </a:p>
          <a:p>
            <a:pPr marL="461963" lvl="1" indent="-188913"/>
            <a:r>
              <a:rPr lang="en-US" sz="1600" dirty="0" smtClean="0"/>
              <a:t>Light ray emanate in all directions</a:t>
            </a:r>
          </a:p>
          <a:p>
            <a:pPr marL="461963" lvl="1" indent="-188913"/>
            <a:r>
              <a:rPr lang="en-US" sz="1600" dirty="0" smtClean="0"/>
              <a:t>Attenuates with distance</a:t>
            </a:r>
          </a:p>
          <a:p>
            <a:pPr marL="461963" lvl="1" indent="-188913"/>
            <a:endParaRPr lang="en-US" sz="1600" dirty="0"/>
          </a:p>
          <a:p>
            <a:pPr marL="0" indent="0">
              <a:buNone/>
            </a:pPr>
            <a:r>
              <a:rPr lang="en-US" sz="2000" b="1" dirty="0" smtClean="0"/>
              <a:t>Spot Light</a:t>
            </a:r>
            <a:r>
              <a:rPr lang="en-US" sz="2000" b="1" dirty="0"/>
              <a:t>:</a:t>
            </a:r>
            <a:endParaRPr lang="en-US" sz="2000" dirty="0"/>
          </a:p>
          <a:p>
            <a:pPr marL="461963" lvl="1" indent="-188913"/>
            <a:r>
              <a:rPr lang="en-US" sz="1600" dirty="0" smtClean="0"/>
              <a:t>Very directional with sharp fall-off at the edge of the beam</a:t>
            </a:r>
          </a:p>
          <a:p>
            <a:pPr marL="461963" lvl="1" indent="-188913"/>
            <a:r>
              <a:rPr lang="en-US" sz="1600" dirty="0" smtClean="0"/>
              <a:t>Attenuates with distance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905000"/>
            <a:ext cx="2114550" cy="1933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847849"/>
            <a:ext cx="1409700" cy="2047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 descr="Image result for computer graphics spotlight phong shad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191000"/>
            <a:ext cx="2105025" cy="211181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8323936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Spotlight Fall-Off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 smtClean="0"/>
                  <a:t>The fall-off factor is computed once again using a power cosine</a:t>
                </a:r>
              </a:p>
              <a:p>
                <a:pPr marL="457200" lvl="1" indent="0">
                  <a:buNone/>
                </a:pPr>
                <a:endParaRPr kumimoji="1" lang="en-US" altLang="en-US" sz="1800" i="1" dirty="0" smtClean="0">
                  <a:latin typeface="Cambria Math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en-US" sz="18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kumimoji="1" lang="en-US" altLang="en-US" sz="1800" b="0" i="1" smtClean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en-US" sz="1800" b="0" i="1" smtClean="0">
                              <a:latin typeface="Cambria Math"/>
                            </a:rPr>
                            <m:t>𝑓</m:t>
                          </m:r>
                        </m:sub>
                      </m:sSub>
                      <m:r>
                        <a:rPr kumimoji="1" lang="en-US" altLang="en-US" sz="18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kumimoji="1" lang="en-US" altLang="en-US" sz="1800" i="1">
                              <a:latin typeface="Cambria Math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kumimoji="1" lang="en-US" altLang="en-US" sz="1800" i="1"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en-US" sz="1800">
                                  <a:latin typeface="Cambria Math"/>
                                </a:rPr>
                                <m:t>max</m:t>
                              </m:r>
                            </m:fName>
                            <m:e>
                              <m:r>
                                <a:rPr kumimoji="1" lang="en-US" altLang="en-US" sz="1800" i="1">
                                  <a:latin typeface="Cambria Math"/>
                                </a:rPr>
                                <m:t>( </m:t>
                              </m:r>
                              <m:r>
                                <a:rPr kumimoji="1" lang="en-US" altLang="en-US" sz="1800" b="1" i="0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kumimoji="1" lang="en-US" altLang="en-US" sz="1800" b="1" i="0" smtClean="0">
                                  <a:latin typeface="Cambria Math"/>
                                </a:rPr>
                                <m:t>𝐋</m:t>
                              </m:r>
                              <m:r>
                                <a:rPr kumimoji="1" lang="en-US" altLang="en-US" sz="1800" b="1" i="1"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  <m:r>
                                <a:rPr kumimoji="1" lang="en-US" altLang="en-US" sz="1800" b="0" i="1" smtClean="0">
                                  <a:latin typeface="Cambria Math"/>
                                  <a:ea typeface="Cambria Math"/>
                                </a:rPr>
                                <m:t>𝑠𝑝𝑜𝑡𝐷𝑖𝑟</m:t>
                              </m:r>
                              <m:r>
                                <a:rPr kumimoji="1" lang="en-US" altLang="en-US" sz="1800" i="1">
                                  <a:latin typeface="Cambria Math"/>
                                </a:rPr>
                                <m:t>,0)</m:t>
                              </m:r>
                            </m:e>
                          </m:func>
                        </m:e>
                        <m:sup>
                          <m:r>
                            <a:rPr kumimoji="1" lang="en-US" altLang="en-US" sz="1800" i="1">
                              <a:latin typeface="Cambria Math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8" t="-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514600"/>
            <a:ext cx="3219450" cy="194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766887"/>
            <a:ext cx="4876800" cy="343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424086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Light Source Attenuation and Range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 smtClean="0"/>
                  <a:t>Light range</a:t>
                </a:r>
                <a:r>
                  <a:rPr lang="en-US" sz="2000" dirty="0" smtClean="0"/>
                  <a:t>: As you will soon see, light computation can get expensive. In order to improve performance, we include a </a:t>
                </a:r>
                <a:r>
                  <a:rPr lang="en-US" sz="2000" i="1" dirty="0" smtClean="0"/>
                  <a:t>range parameter</a:t>
                </a:r>
                <a:r>
                  <a:rPr lang="en-US" sz="2000" dirty="0" smtClean="0"/>
                  <a:t>: </a:t>
                </a:r>
              </a:p>
              <a:p>
                <a:pPr marL="457200" lvl="1" indent="0">
                  <a:buNone/>
                </a:pPr>
                <a:r>
                  <a:rPr lang="en-US" sz="1800" i="1" dirty="0"/>
                  <a:t>I</a:t>
                </a:r>
                <a:r>
                  <a:rPr lang="en-US" sz="1800" i="1" dirty="0" smtClean="0"/>
                  <a:t>f a light source is placed beyond the range, we can simply ignore its contribution</a:t>
                </a:r>
                <a:r>
                  <a:rPr lang="en-US" sz="1600" i="1" dirty="0" smtClean="0"/>
                  <a:t>.</a:t>
                </a:r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r>
                  <a:rPr lang="en-US" sz="2000" b="1" dirty="0" smtClean="0"/>
                  <a:t>Light Attenuation</a:t>
                </a:r>
                <a:r>
                  <a:rPr lang="en-US" sz="2000" dirty="0" smtClean="0"/>
                  <a:t>: Physically, a light source’s intensity should drop proportionally to the inverse square of the distance.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/>
                        </a:rPr>
                        <m:t>𝐼</m:t>
                      </m:r>
                      <m:d>
                        <m:d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/>
                            </a:rPr>
                            <m:t>𝑑</m:t>
                          </m:r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/>
                            </a:rPr>
                            <m:t>𝐼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 smtClean="0"/>
              </a:p>
              <a:p>
                <a:pPr marL="461963" lvl="1" indent="-188913"/>
                <a:r>
                  <a:rPr lang="en-US" sz="1800" dirty="0" smtClean="0"/>
                  <a:t>Often not practical in CG: </a:t>
                </a:r>
                <a:r>
                  <a:rPr lang="en-US" sz="1800" dirty="0"/>
                  <a:t> </a:t>
                </a:r>
                <a:r>
                  <a:rPr lang="en-US" sz="1800" dirty="0" smtClean="0"/>
                  <a:t>if far away object are well lit, the near ones are too bright</a:t>
                </a:r>
              </a:p>
              <a:p>
                <a:pPr marL="461963" lvl="1" indent="-188913"/>
                <a:r>
                  <a:rPr lang="en-US" sz="1800" dirty="0" smtClean="0"/>
                  <a:t>Some context may not need any attenuation at all</a:t>
                </a:r>
              </a:p>
              <a:p>
                <a:pPr marL="461963" lvl="1" indent="-188913"/>
                <a:endParaRPr lang="en-US" sz="800" dirty="0"/>
              </a:p>
              <a:p>
                <a:pPr marL="273050" lvl="1" indent="0">
                  <a:buNone/>
                </a:pPr>
                <a:r>
                  <a:rPr lang="en-US" sz="1800" b="1" dirty="0" smtClean="0"/>
                  <a:t>Solution: </a:t>
                </a:r>
                <a:r>
                  <a:rPr lang="en-US" sz="1800" dirty="0" smtClean="0"/>
                  <a:t>Request 3 attenuation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 smtClean="0"/>
                  <a:t> and compute</a:t>
                </a:r>
              </a:p>
              <a:p>
                <a:pPr marL="27305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𝐼</m:t>
                      </m:r>
                      <m:d>
                        <m:dPr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𝑑</m:t>
                          </m:r>
                        </m:e>
                      </m:d>
                      <m:r>
                        <a:rPr lang="en-US" sz="1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/>
                            </a:rPr>
                            <m:t>𝑖</m:t>
                          </m:r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/>
                            </a:rPr>
                            <m:t>𝑑</m:t>
                          </m:r>
                          <m:r>
                            <a:rPr lang="en-US" sz="1800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8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800" dirty="0" smtClean="0"/>
              </a:p>
              <a:p>
                <a:pPr marL="1260475" lvl="2" indent="0">
                  <a:buNone/>
                </a:pPr>
                <a:r>
                  <a:rPr lang="en-US" dirty="0" smtClean="0"/>
                  <a:t>Now the user/artist can select which attenuation mode to use:</a:t>
                </a:r>
              </a:p>
              <a:p>
                <a:pPr marL="1260475" lvl="2" indent="0">
                  <a:buNone/>
                </a:pPr>
                <a:r>
                  <a:rPr lang="en-US" dirty="0" smtClean="0"/>
                  <a:t>Ex: (0,0,1) is inverse square. (0,1,0) is inverse linear, etc.</a:t>
                </a:r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8" t="-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277725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 to Light Types in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How can we code these light types?</a:t>
            </a:r>
            <a:endParaRPr lang="en-US" sz="20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b="1" dirty="0"/>
              <a:t>Directional Light:</a:t>
            </a:r>
            <a:endParaRPr lang="en-US" sz="2000" dirty="0"/>
          </a:p>
          <a:p>
            <a:pPr marL="461963" lvl="1" indent="-188913"/>
            <a:r>
              <a:rPr lang="en-US" sz="1600" dirty="0"/>
              <a:t>Simulate Sun (or far away source)</a:t>
            </a:r>
          </a:p>
          <a:p>
            <a:pPr marL="461963" lvl="1" indent="-188913"/>
            <a:r>
              <a:rPr lang="en-US" sz="1600" dirty="0"/>
              <a:t>All light rays are parallel.</a:t>
            </a:r>
          </a:p>
          <a:p>
            <a:pPr marL="461963" lvl="1" indent="-188913"/>
            <a:r>
              <a:rPr lang="en-US" sz="1600" dirty="0"/>
              <a:t>No attenuation with distance</a:t>
            </a:r>
          </a:p>
          <a:p>
            <a:pPr marL="461963" lvl="1" indent="-188913"/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Point Light:</a:t>
            </a:r>
            <a:endParaRPr lang="en-US" sz="2000" dirty="0"/>
          </a:p>
          <a:p>
            <a:pPr marL="461963" lvl="1" indent="-188913"/>
            <a:r>
              <a:rPr lang="en-US" sz="1600" dirty="0"/>
              <a:t>Simulate a small light source at a known position</a:t>
            </a:r>
          </a:p>
          <a:p>
            <a:pPr marL="461963" lvl="1" indent="-188913"/>
            <a:r>
              <a:rPr lang="en-US" sz="1600" dirty="0"/>
              <a:t>Light ray emanate in all directions</a:t>
            </a:r>
          </a:p>
          <a:p>
            <a:pPr marL="461963" lvl="1" indent="-188913"/>
            <a:r>
              <a:rPr lang="en-US" sz="1600" dirty="0"/>
              <a:t>Attenuates with distance</a:t>
            </a:r>
          </a:p>
          <a:p>
            <a:pPr marL="461963" lvl="1" indent="-188913"/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Spot Light:</a:t>
            </a:r>
            <a:endParaRPr lang="en-US" sz="2000" dirty="0"/>
          </a:p>
          <a:p>
            <a:pPr marL="461963" lvl="1" indent="-188913"/>
            <a:r>
              <a:rPr lang="en-US" sz="1600" dirty="0"/>
              <a:t>Very directional with sharp fall off at the edge of the beam</a:t>
            </a:r>
          </a:p>
          <a:p>
            <a:pPr marL="461963" lvl="1" indent="-188913"/>
            <a:r>
              <a:rPr lang="en-US" sz="1600" dirty="0"/>
              <a:t>Attenuates with distance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3419" y="1611154"/>
            <a:ext cx="1954381" cy="51706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PhongADS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Ambient;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Diffuse;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Specular;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 smtClean="0">
              <a:solidFill>
                <a:srgbClr val="0000FF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DirectionalLight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PhongADS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Light;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Direction;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PointLight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PhongADS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Light;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Position;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Attenuation;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Range;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SpotLight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PhongADS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Light;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Position;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Attenuation;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Direction;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SpotExp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Range;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0" y="2347529"/>
            <a:ext cx="2204917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16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Note: 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these are still just </a:t>
            </a:r>
            <a:r>
              <a:rPr lang="en-US" sz="16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not </a:t>
            </a:r>
            <a:r>
              <a:rPr lang="en-US" sz="16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cbuffers</a:t>
            </a:r>
            <a:endParaRPr lang="en-US" sz="1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47286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8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8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8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8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8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8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2" dur="500"/>
                                        <p:tgtEl>
                                          <p:spTgt spid="8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 uiExpand="1" build="allAtOnce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Shader</a:t>
            </a:r>
            <a:r>
              <a:rPr lang="en-US" dirty="0" smtClean="0"/>
              <a:t> Constants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3657600" cy="52578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We’ll use 3 constant buffers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2000" dirty="0" smtClean="0"/>
              <a:t>Standard camera data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2000" dirty="0" smtClean="0"/>
              <a:t>Light data (all three options)</a:t>
            </a:r>
          </a:p>
          <a:p>
            <a:pPr marL="457200" lvl="1" indent="0">
              <a:buNone/>
            </a:pPr>
            <a:r>
              <a:rPr lang="en-US" sz="1600" i="1" dirty="0" smtClean="0"/>
              <a:t>Also: eye position for specular ref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2000" dirty="0" smtClean="0"/>
              <a:t>Instance data</a:t>
            </a:r>
          </a:p>
          <a:p>
            <a:pPr marL="457200" lvl="1" indent="0">
              <a:buNone/>
            </a:pPr>
            <a:r>
              <a:rPr lang="en-US" sz="1600" i="1" dirty="0" smtClean="0"/>
              <a:t>Includes Material info</a:t>
            </a:r>
          </a:p>
          <a:p>
            <a:pPr marL="457200" lvl="1" indent="0">
              <a:buNone/>
            </a:pPr>
            <a:r>
              <a:rPr lang="en-US" sz="1600" i="1" dirty="0" smtClean="0"/>
              <a:t>World mat and its inverse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3419" y="1611154"/>
            <a:ext cx="1954381" cy="51706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PhongADS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Ambient;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Diffuse;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Specular;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 smtClean="0">
              <a:solidFill>
                <a:srgbClr val="0000FF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DirectionalLight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PhongADS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Light;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Direction;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PointLight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PhongADS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Light;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Position;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Attenuation;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Range;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 smtClean="0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SpotLight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PhongADS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Light;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Position;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Attenuation;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Direction;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SpotExp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Range;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100" dirty="0"/>
          </a:p>
        </p:txBody>
      </p:sp>
      <p:sp>
        <p:nvSpPr>
          <p:cNvPr id="6" name="TextBox 5"/>
          <p:cNvSpPr txBox="1"/>
          <p:nvPr/>
        </p:nvSpPr>
        <p:spPr>
          <a:xfrm>
            <a:off x="3901113" y="1600199"/>
            <a:ext cx="3185487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cbuffer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CamData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register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(b0)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float4x4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View;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float4x4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Projection;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cbuffer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LightParameters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register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(b1)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DirectionalLight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DirLight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PointLight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PntLight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SpotLight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SpLight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EyePosWorld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cbuffer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InstanceData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register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(b2)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float4x4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World;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float4x4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WorldInv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Material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Mater;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4516666" y="5664279"/>
            <a:ext cx="2569934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Material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Ambient;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Diffuse;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Specular; 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w=spec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exp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704850" y="3724275"/>
            <a:ext cx="2724150" cy="91940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16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Note: 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We’ll compute light in model-local space, hence </a:t>
            </a:r>
            <a:r>
              <a:rPr lang="en-US" sz="16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WorldInv</a:t>
            </a:r>
            <a:endParaRPr lang="en-US" sz="1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34000" y="542925"/>
            <a:ext cx="2743200" cy="100453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This is a lot of data!</a:t>
            </a:r>
          </a:p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And the </a:t>
            </a:r>
            <a:r>
              <a:rPr lang="en-US" sz="16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ShaderColor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class must replicate all this</a:t>
            </a:r>
            <a:endParaRPr lang="en-US" sz="1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4850" y="4775237"/>
            <a:ext cx="2743200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Sending </a:t>
            </a:r>
            <a:r>
              <a:rPr lang="en-US" sz="16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CamData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or Instance data is nothing new</a:t>
            </a:r>
            <a:endParaRPr lang="en-US" sz="1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4850" y="5551527"/>
            <a:ext cx="2743200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Sending Light data is done similarly </a:t>
            </a:r>
            <a:endParaRPr lang="en-US" sz="1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43774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uiExpand="1" build="allAtOnce" animBg="1"/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</a:t>
            </a:r>
            <a:r>
              <a:rPr lang="en-US" dirty="0" err="1" smtClean="0"/>
              <a:t>ShaderColorLight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Directional Light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462057"/>
            <a:ext cx="4343400" cy="3395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6618" y="1295400"/>
            <a:ext cx="8860118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InitDemo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smtClean="0">
                <a:solidFill>
                  <a:srgbClr val="000000"/>
                </a:solidFill>
                <a:latin typeface="Consolas"/>
              </a:rPr>
              <a:t>  pShaderColLight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onsolas"/>
              </a:rPr>
              <a:t>ShaderColorLight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(md3dDevice);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pShaderColLight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SetDirectionalLightParameters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(-1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,-1,1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).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getNorm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(), .1 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(1,1,1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), .5 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(1,1,1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), </a:t>
            </a:r>
            <a:r>
              <a:rPr lang="en-US" sz="10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(1,1,1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));</a:t>
            </a:r>
            <a:endParaRPr lang="en-US" sz="1000" dirty="0"/>
          </a:p>
        </p:txBody>
      </p:sp>
      <p:grpSp>
        <p:nvGrpSpPr>
          <p:cNvPr id="19" name="Group 18"/>
          <p:cNvGrpSpPr/>
          <p:nvPr/>
        </p:nvGrpSpPr>
        <p:grpSpPr>
          <a:xfrm>
            <a:off x="1981200" y="1795123"/>
            <a:ext cx="3224229" cy="759619"/>
            <a:chOff x="1981200" y="1943100"/>
            <a:chExt cx="3224229" cy="759619"/>
          </a:xfrm>
        </p:grpSpPr>
        <p:sp>
          <p:nvSpPr>
            <p:cNvPr id="10" name="TextBox 9"/>
            <p:cNvSpPr txBox="1"/>
            <p:nvPr/>
          </p:nvSpPr>
          <p:spPr>
            <a:xfrm>
              <a:off x="1981200" y="2362200"/>
              <a:ext cx="1066800" cy="340519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spcBef>
                  <a:spcPts val="600"/>
                </a:spcBef>
                <a:buClr>
                  <a:prstClr val="black"/>
                </a:buClr>
                <a:buSzPct val="76000"/>
              </a:pPr>
              <a:r>
                <a:rPr lang="en-US" sz="14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Light </a:t>
              </a:r>
              <a:r>
                <a:rPr lang="en-US" sz="1400" dirty="0" err="1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dir</a:t>
              </a:r>
              <a:endParaRPr lang="en-US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538521" y="1943100"/>
              <a:ext cx="1666908" cy="180975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6" name="Straight Connector 15"/>
            <p:cNvCxnSpPr>
              <a:stCxn id="10" idx="3"/>
              <a:endCxn id="5" idx="2"/>
            </p:cNvCxnSpPr>
            <p:nvPr/>
          </p:nvCxnSpPr>
          <p:spPr>
            <a:xfrm flipV="1">
              <a:off x="3048000" y="2124075"/>
              <a:ext cx="1323975" cy="408385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4114800" y="1795122"/>
            <a:ext cx="2362200" cy="759620"/>
            <a:chOff x="4114800" y="1943099"/>
            <a:chExt cx="2362200" cy="759620"/>
          </a:xfrm>
        </p:grpSpPr>
        <p:sp>
          <p:nvSpPr>
            <p:cNvPr id="20" name="Rounded Rectangle 19"/>
            <p:cNvSpPr/>
            <p:nvPr/>
          </p:nvSpPr>
          <p:spPr>
            <a:xfrm>
              <a:off x="5314950" y="1943099"/>
              <a:ext cx="1162050" cy="180975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114800" y="2362200"/>
              <a:ext cx="823912" cy="340519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spcBef>
                  <a:spcPts val="600"/>
                </a:spcBef>
                <a:buClr>
                  <a:prstClr val="black"/>
                </a:buClr>
                <a:buSzPct val="76000"/>
              </a:pPr>
              <a:r>
                <a:rPr lang="en-US" sz="14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ambient</a:t>
              </a:r>
              <a:endParaRPr lang="en-US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2" name="Straight Connector 21"/>
            <p:cNvCxnSpPr>
              <a:stCxn id="21" idx="3"/>
              <a:endCxn id="20" idx="2"/>
            </p:cNvCxnSpPr>
            <p:nvPr/>
          </p:nvCxnSpPr>
          <p:spPr>
            <a:xfrm flipV="1">
              <a:off x="4938712" y="2124074"/>
              <a:ext cx="957263" cy="408386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5791200" y="1791967"/>
            <a:ext cx="1905000" cy="759620"/>
            <a:chOff x="4100512" y="1943099"/>
            <a:chExt cx="1905000" cy="759620"/>
          </a:xfrm>
        </p:grpSpPr>
        <p:sp>
          <p:nvSpPr>
            <p:cNvPr id="28" name="Rounded Rectangle 27"/>
            <p:cNvSpPr/>
            <p:nvPr/>
          </p:nvSpPr>
          <p:spPr>
            <a:xfrm>
              <a:off x="4862512" y="1943099"/>
              <a:ext cx="1143000" cy="180975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100512" y="2362200"/>
              <a:ext cx="762000" cy="340519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spcBef>
                  <a:spcPts val="600"/>
                </a:spcBef>
                <a:buClr>
                  <a:prstClr val="black"/>
                </a:buClr>
                <a:buSzPct val="76000"/>
              </a:pPr>
              <a:r>
                <a:rPr lang="en-US" sz="14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diffuse</a:t>
              </a:r>
              <a:endParaRPr lang="en-US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0" name="Straight Connector 29"/>
            <p:cNvCxnSpPr>
              <a:stCxn id="29" idx="3"/>
              <a:endCxn id="28" idx="2"/>
            </p:cNvCxnSpPr>
            <p:nvPr/>
          </p:nvCxnSpPr>
          <p:spPr>
            <a:xfrm flipV="1">
              <a:off x="4862512" y="2124074"/>
              <a:ext cx="571500" cy="408386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7010400" y="1788812"/>
            <a:ext cx="1676400" cy="759620"/>
            <a:chOff x="4100512" y="1943099"/>
            <a:chExt cx="1676400" cy="759620"/>
          </a:xfrm>
        </p:grpSpPr>
        <p:sp>
          <p:nvSpPr>
            <p:cNvPr id="36" name="Rounded Rectangle 35"/>
            <p:cNvSpPr/>
            <p:nvPr/>
          </p:nvSpPr>
          <p:spPr>
            <a:xfrm>
              <a:off x="4862512" y="1943099"/>
              <a:ext cx="914400" cy="180975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100512" y="2362200"/>
              <a:ext cx="838200" cy="340519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spcBef>
                  <a:spcPts val="600"/>
                </a:spcBef>
                <a:buClr>
                  <a:prstClr val="black"/>
                </a:buClr>
                <a:buSzPct val="76000"/>
              </a:pPr>
              <a:r>
                <a:rPr lang="en-US" sz="14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specular</a:t>
              </a:r>
              <a:endParaRPr lang="en-US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8" name="Straight Connector 37"/>
            <p:cNvCxnSpPr>
              <a:stCxn id="37" idx="3"/>
              <a:endCxn id="36" idx="2"/>
            </p:cNvCxnSpPr>
            <p:nvPr/>
          </p:nvCxnSpPr>
          <p:spPr>
            <a:xfrm flipV="1">
              <a:off x="4938712" y="2124074"/>
              <a:ext cx="381000" cy="408386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/>
          <p:cNvSpPr txBox="1"/>
          <p:nvPr/>
        </p:nvSpPr>
        <p:spPr>
          <a:xfrm>
            <a:off x="66618" y="2667000"/>
            <a:ext cx="7802136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DrawScene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…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pShaderColLight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(md3dImmediateContext);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pShaderColLight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SendCamMatrices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mCam.getViewMatrix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mCam.getProjMatrix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2B91AF"/>
                </a:solidFill>
                <a:latin typeface="Consolas"/>
              </a:rPr>
              <a:t>  </a:t>
            </a:r>
            <a:r>
              <a:rPr lang="en-US" sz="10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eyepos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mCam.getPos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eyepos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pShaderColLight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SendLightParameters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eyepos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pShaderColLight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SendWorldAndMaterial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(mWorld1,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Colors::Firebrick, Colors::Firebrick, </a:t>
            </a:r>
            <a:r>
              <a:rPr lang="en-US" sz="10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(1,1,1,100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pModel1-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&gt;Render(md3dImmediateContext);</a:t>
            </a:r>
            <a:endParaRPr lang="en-US" sz="1000" dirty="0"/>
          </a:p>
        </p:txBody>
      </p:sp>
      <p:grpSp>
        <p:nvGrpSpPr>
          <p:cNvPr id="51" name="Group 50"/>
          <p:cNvGrpSpPr/>
          <p:nvPr/>
        </p:nvGrpSpPr>
        <p:grpSpPr>
          <a:xfrm>
            <a:off x="3538521" y="3714750"/>
            <a:ext cx="1262079" cy="689582"/>
            <a:chOff x="4883150" y="1066193"/>
            <a:chExt cx="1262079" cy="689582"/>
          </a:xfrm>
        </p:grpSpPr>
        <p:sp>
          <p:nvSpPr>
            <p:cNvPr id="52" name="TextBox 51"/>
            <p:cNvSpPr txBox="1"/>
            <p:nvPr/>
          </p:nvSpPr>
          <p:spPr>
            <a:xfrm>
              <a:off x="5071277" y="1066193"/>
              <a:ext cx="885825" cy="340519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buClr>
                  <a:prstClr val="black"/>
                </a:buClr>
                <a:buSzPct val="76000"/>
              </a:pPr>
              <a:r>
                <a:rPr lang="en-US" sz="14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ambient</a:t>
              </a:r>
              <a:endParaRPr lang="en-US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4883150" y="1574800"/>
              <a:ext cx="1262079" cy="180975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54" name="Straight Connector 53"/>
            <p:cNvCxnSpPr>
              <a:stCxn id="52" idx="2"/>
              <a:endCxn id="53" idx="0"/>
            </p:cNvCxnSpPr>
            <p:nvPr/>
          </p:nvCxnSpPr>
          <p:spPr>
            <a:xfrm>
              <a:off x="5514190" y="1406712"/>
              <a:ext cx="0" cy="16808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/>
          <p:cNvGrpSpPr/>
          <p:nvPr/>
        </p:nvGrpSpPr>
        <p:grpSpPr>
          <a:xfrm>
            <a:off x="4884721" y="3710478"/>
            <a:ext cx="1262079" cy="689582"/>
            <a:chOff x="4883150" y="1066193"/>
            <a:chExt cx="1262079" cy="689582"/>
          </a:xfrm>
        </p:grpSpPr>
        <p:sp>
          <p:nvSpPr>
            <p:cNvPr id="66" name="TextBox 65"/>
            <p:cNvSpPr txBox="1"/>
            <p:nvPr/>
          </p:nvSpPr>
          <p:spPr>
            <a:xfrm>
              <a:off x="5071277" y="1066193"/>
              <a:ext cx="885825" cy="340519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buClr>
                  <a:prstClr val="black"/>
                </a:buClr>
                <a:buSzPct val="76000"/>
              </a:pPr>
              <a:r>
                <a:rPr lang="en-US" sz="14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diffuse</a:t>
              </a:r>
              <a:endParaRPr lang="en-US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4883150" y="1574800"/>
              <a:ext cx="1262079" cy="180975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68" name="Straight Connector 67"/>
            <p:cNvCxnSpPr>
              <a:stCxn id="66" idx="2"/>
              <a:endCxn id="67" idx="0"/>
            </p:cNvCxnSpPr>
            <p:nvPr/>
          </p:nvCxnSpPr>
          <p:spPr>
            <a:xfrm>
              <a:off x="5514190" y="1406712"/>
              <a:ext cx="0" cy="16808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6207910" y="3714750"/>
            <a:ext cx="1262079" cy="689582"/>
            <a:chOff x="4883150" y="1066193"/>
            <a:chExt cx="1262079" cy="689582"/>
          </a:xfrm>
        </p:grpSpPr>
        <p:sp>
          <p:nvSpPr>
            <p:cNvPr id="70" name="TextBox 69"/>
            <p:cNvSpPr txBox="1"/>
            <p:nvPr/>
          </p:nvSpPr>
          <p:spPr>
            <a:xfrm>
              <a:off x="4961739" y="1066193"/>
              <a:ext cx="1104900" cy="340519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buClr>
                  <a:prstClr val="black"/>
                </a:buClr>
                <a:buSzPct val="76000"/>
              </a:pPr>
              <a:r>
                <a:rPr lang="en-US" sz="14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Spec &amp; </a:t>
              </a:r>
              <a:r>
                <a:rPr lang="en-US" sz="1400" dirty="0" err="1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exp</a:t>
              </a:r>
              <a:endParaRPr lang="en-US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4883150" y="1574800"/>
              <a:ext cx="1262079" cy="180975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72" name="Straight Connector 71"/>
            <p:cNvCxnSpPr>
              <a:stCxn id="70" idx="2"/>
              <a:endCxn id="71" idx="0"/>
            </p:cNvCxnSpPr>
            <p:nvPr/>
          </p:nvCxnSpPr>
          <p:spPr>
            <a:xfrm>
              <a:off x="5514189" y="1406712"/>
              <a:ext cx="1" cy="16808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TextBox 75"/>
          <p:cNvSpPr txBox="1"/>
          <p:nvPr/>
        </p:nvSpPr>
        <p:spPr>
          <a:xfrm>
            <a:off x="762000" y="4876800"/>
            <a:ext cx="3505200" cy="91940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16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Important: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Play around with light intensities and material properties to get a sense of their contributions</a:t>
            </a:r>
            <a:endParaRPr lang="en-US" sz="1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09612" y="5957901"/>
            <a:ext cx="3609975" cy="37457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16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But how did the </a:t>
            </a:r>
            <a:r>
              <a:rPr lang="en-US" sz="1600" b="1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shader</a:t>
            </a:r>
            <a:r>
              <a:rPr lang="en-US" sz="16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work this out?</a:t>
            </a:r>
            <a:endParaRPr lang="en-US" sz="1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06256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0" grpId="0" animBg="1"/>
      <p:bldP spid="76" grpId="0" animBg="1"/>
      <p:bldP spid="7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ShaderColorLight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smtClean="0"/>
              <a:t>Vertex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The vertex </a:t>
            </a:r>
            <a:r>
              <a:rPr lang="en-US" sz="2000" dirty="0" err="1" smtClean="0"/>
              <a:t>shader</a:t>
            </a:r>
            <a:r>
              <a:rPr lang="en-US" sz="2000" dirty="0" smtClean="0"/>
              <a:t> isn’t too different than what we are used to.</a:t>
            </a:r>
          </a:p>
          <a:p>
            <a:pPr marL="457200" lvl="1" indent="0">
              <a:buNone/>
            </a:pPr>
            <a:r>
              <a:rPr lang="en-US" sz="1800" i="1" dirty="0" smtClean="0"/>
              <a:t>We just make sure to pass along to the PS the model-space position and face normal </a:t>
            </a:r>
            <a:endParaRPr lang="en-US" sz="1800" i="1" dirty="0"/>
          </a:p>
        </p:txBody>
      </p:sp>
      <p:sp>
        <p:nvSpPr>
          <p:cNvPr id="5" name="TextBox 4"/>
          <p:cNvSpPr txBox="1"/>
          <p:nvPr/>
        </p:nvSpPr>
        <p:spPr>
          <a:xfrm>
            <a:off x="1752600" y="2133600"/>
            <a:ext cx="5647700" cy="33085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VS_OUTPUT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SV_POSITION;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PosMS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POSITION;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Norm : NORMAL;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VS_OUTPUT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VS(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POSITION,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nor : NORMAL 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VS_OUTPUT output;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output.PosMS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 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We pass along the raw model space position 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output.Norm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nor;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and the face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normal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World 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View 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output.Pos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Projection 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output;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0" y="3843196"/>
            <a:ext cx="5181600" cy="347804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28227356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ShaderColorLight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smtClean="0"/>
              <a:t>Pixel </a:t>
            </a:r>
            <a:r>
              <a:rPr lang="en-US" dirty="0" err="1" smtClean="0"/>
              <a:t>Shader</a:t>
            </a:r>
            <a:r>
              <a:rPr lang="en-US" dirty="0" smtClean="0"/>
              <a:t> (Directional Light)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7413" y="1143000"/>
            <a:ext cx="6878806" cy="33085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PS( VS_OUTPUT input ) :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SV_Target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msEyePos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EyePosWorld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WorldInv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// Compute light values in model-space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msToEye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normalize(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msEyePos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-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input.PosMS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ambient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0, 0, 0);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diffuse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0, 0, 0);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spec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0, 0, 0);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A, D, S;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ComputeDirectionalLight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(Mater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DirLight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normalize(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input.Norm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msToEye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A, D, S);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ambient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+= A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    diffuse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+= 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    spec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+= 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&lt;…&gt;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fr-FR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 err="1">
                <a:solidFill>
                  <a:srgbClr val="000000"/>
                </a:solidFill>
                <a:latin typeface="Consolas"/>
              </a:rPr>
              <a:t>litColor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= ambient + diffuse + </a:t>
            </a:r>
            <a:r>
              <a:rPr lang="fr-FR" sz="1100" dirty="0" err="1">
                <a:solidFill>
                  <a:srgbClr val="000000"/>
                </a:solidFill>
                <a:latin typeface="Consolas"/>
              </a:rPr>
              <a:t>spec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return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litColor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81000" y="2971800"/>
            <a:ext cx="8455223" cy="3791367"/>
            <a:chOff x="381000" y="2971800"/>
            <a:chExt cx="8455223" cy="3791367"/>
          </a:xfrm>
        </p:grpSpPr>
        <p:sp>
          <p:nvSpPr>
            <p:cNvPr id="9" name="Rounded Rectangle 8"/>
            <p:cNvSpPr/>
            <p:nvPr/>
          </p:nvSpPr>
          <p:spPr>
            <a:xfrm>
              <a:off x="381000" y="2971800"/>
              <a:ext cx="6477000" cy="347804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1957417" y="3319604"/>
              <a:ext cx="6878806" cy="3443563"/>
              <a:chOff x="1957417" y="3319604"/>
              <a:chExt cx="6878806" cy="3443563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1957417" y="3962400"/>
                <a:ext cx="6878806" cy="280076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solidFill>
                      <a:srgbClr val="0000FF"/>
                    </a:solidFill>
                    <a:latin typeface="Consolas"/>
                  </a:rPr>
                  <a:t>void</a:t>
                </a:r>
                <a:r>
                  <a:rPr lang="en-US" sz="1100" dirty="0">
                    <a:solidFill>
                      <a:srgbClr val="000000"/>
                    </a:solidFill>
                    <a:latin typeface="Consolas"/>
                  </a:rPr>
                  <a:t> </a:t>
                </a:r>
                <a:r>
                  <a:rPr lang="en-US" sz="1100" dirty="0" err="1">
                    <a:solidFill>
                      <a:srgbClr val="000000"/>
                    </a:solidFill>
                    <a:latin typeface="Consolas"/>
                  </a:rPr>
                  <a:t>ComputeDirectionalLight</a:t>
                </a:r>
                <a:r>
                  <a:rPr lang="en-US" sz="1100" dirty="0">
                    <a:solidFill>
                      <a:srgbClr val="000000"/>
                    </a:solidFill>
                    <a:latin typeface="Consolas"/>
                  </a:rPr>
                  <a:t>(</a:t>
                </a:r>
              </a:p>
              <a:p>
                <a:r>
                  <a:rPr lang="en-US" sz="1100" dirty="0" smtClean="0">
                    <a:solidFill>
                      <a:srgbClr val="000000"/>
                    </a:solidFill>
                    <a:latin typeface="Consolas"/>
                  </a:rPr>
                  <a:t>	Material mat, </a:t>
                </a:r>
                <a:r>
                  <a:rPr lang="en-US" sz="1100" dirty="0" err="1" smtClean="0">
                    <a:solidFill>
                      <a:srgbClr val="000000"/>
                    </a:solidFill>
                    <a:latin typeface="Consolas"/>
                  </a:rPr>
                  <a:t>DirectionalLight</a:t>
                </a:r>
                <a:r>
                  <a:rPr lang="en-US" sz="1100" dirty="0" smtClean="0">
                    <a:solidFill>
                      <a:srgbClr val="000000"/>
                    </a:solidFill>
                    <a:latin typeface="Consolas"/>
                  </a:rPr>
                  <a:t> </a:t>
                </a:r>
                <a:r>
                  <a:rPr lang="en-US" sz="1100" dirty="0" err="1">
                    <a:solidFill>
                      <a:srgbClr val="000000"/>
                    </a:solidFill>
                    <a:latin typeface="Consolas"/>
                  </a:rPr>
                  <a:t>DirLit</a:t>
                </a:r>
                <a:r>
                  <a:rPr lang="en-US" sz="1100" dirty="0" smtClean="0">
                    <a:solidFill>
                      <a:srgbClr val="000000"/>
                    </a:solidFill>
                    <a:latin typeface="Consolas"/>
                  </a:rPr>
                  <a:t>,</a:t>
                </a:r>
              </a:p>
              <a:p>
                <a:r>
                  <a:rPr lang="en-US" sz="1100" dirty="0">
                    <a:solidFill>
                      <a:srgbClr val="000000"/>
                    </a:solidFill>
                    <a:latin typeface="Consolas"/>
                  </a:rPr>
                  <a:t>	</a:t>
                </a:r>
                <a:r>
                  <a:rPr lang="en-US" sz="1100" dirty="0" smtClean="0">
                    <a:solidFill>
                      <a:srgbClr val="0000FF"/>
                    </a:solidFill>
                    <a:latin typeface="Consolas"/>
                  </a:rPr>
                  <a:t>float4</a:t>
                </a:r>
                <a:r>
                  <a:rPr lang="en-US" sz="1100" dirty="0" smtClean="0">
                    <a:solidFill>
                      <a:srgbClr val="000000"/>
                    </a:solidFill>
                    <a:latin typeface="Consolas"/>
                  </a:rPr>
                  <a:t> </a:t>
                </a:r>
                <a:r>
                  <a:rPr lang="en-US" sz="1100" dirty="0">
                    <a:solidFill>
                      <a:srgbClr val="000000"/>
                    </a:solidFill>
                    <a:latin typeface="Consolas"/>
                  </a:rPr>
                  <a:t>normal</a:t>
                </a:r>
                <a:r>
                  <a:rPr lang="en-US" sz="1100" dirty="0" smtClean="0">
                    <a:solidFill>
                      <a:srgbClr val="000000"/>
                    </a:solidFill>
                    <a:latin typeface="Consolas"/>
                  </a:rPr>
                  <a:t>, </a:t>
                </a:r>
                <a:r>
                  <a:rPr lang="en-US" sz="1100" dirty="0" smtClean="0">
                    <a:solidFill>
                      <a:srgbClr val="0000FF"/>
                    </a:solidFill>
                    <a:latin typeface="Consolas"/>
                  </a:rPr>
                  <a:t>float4</a:t>
                </a:r>
                <a:r>
                  <a:rPr lang="en-US" sz="1100" dirty="0" smtClean="0">
                    <a:solidFill>
                      <a:srgbClr val="000000"/>
                    </a:solidFill>
                    <a:latin typeface="Consolas"/>
                  </a:rPr>
                  <a:t> </a:t>
                </a:r>
                <a:r>
                  <a:rPr lang="en-US" sz="1100" dirty="0" err="1">
                    <a:solidFill>
                      <a:srgbClr val="000000"/>
                    </a:solidFill>
                    <a:latin typeface="Consolas"/>
                  </a:rPr>
                  <a:t>toEye</a:t>
                </a:r>
                <a:r>
                  <a:rPr lang="en-US" sz="1100" dirty="0" smtClean="0">
                    <a:solidFill>
                      <a:srgbClr val="000000"/>
                    </a:solidFill>
                    <a:latin typeface="Consolas"/>
                  </a:rPr>
                  <a:t>,</a:t>
                </a:r>
              </a:p>
              <a:p>
                <a:r>
                  <a:rPr lang="en-US" sz="1100" dirty="0">
                    <a:solidFill>
                      <a:srgbClr val="000000"/>
                    </a:solidFill>
                    <a:latin typeface="Consolas"/>
                  </a:rPr>
                  <a:t>	</a:t>
                </a:r>
                <a:r>
                  <a:rPr lang="en-US" sz="1100" dirty="0" smtClean="0">
                    <a:solidFill>
                      <a:srgbClr val="0000FF"/>
                    </a:solidFill>
                    <a:latin typeface="Consolas"/>
                  </a:rPr>
                  <a:t>out</a:t>
                </a:r>
                <a:r>
                  <a:rPr lang="en-US" sz="1100" dirty="0" smtClean="0">
                    <a:solidFill>
                      <a:srgbClr val="000000"/>
                    </a:solidFill>
                    <a:latin typeface="Consolas"/>
                  </a:rPr>
                  <a:t> </a:t>
                </a:r>
                <a:r>
                  <a:rPr lang="en-US" sz="1100" dirty="0">
                    <a:solidFill>
                      <a:srgbClr val="0000FF"/>
                    </a:solidFill>
                    <a:latin typeface="Consolas"/>
                  </a:rPr>
                  <a:t>float4</a:t>
                </a:r>
                <a:r>
                  <a:rPr lang="en-US" sz="1100" dirty="0">
                    <a:solidFill>
                      <a:srgbClr val="000000"/>
                    </a:solidFill>
                    <a:latin typeface="Consolas"/>
                  </a:rPr>
                  <a:t> ambient</a:t>
                </a:r>
                <a:r>
                  <a:rPr lang="en-US" sz="1100" dirty="0" smtClean="0">
                    <a:solidFill>
                      <a:srgbClr val="000000"/>
                    </a:solidFill>
                    <a:latin typeface="Consolas"/>
                  </a:rPr>
                  <a:t>, </a:t>
                </a:r>
                <a:r>
                  <a:rPr lang="en-US" sz="1100" dirty="0" smtClean="0">
                    <a:solidFill>
                      <a:srgbClr val="0000FF"/>
                    </a:solidFill>
                    <a:latin typeface="Consolas"/>
                  </a:rPr>
                  <a:t>out</a:t>
                </a:r>
                <a:r>
                  <a:rPr lang="en-US" sz="1100" dirty="0" smtClean="0">
                    <a:solidFill>
                      <a:srgbClr val="000000"/>
                    </a:solidFill>
                    <a:latin typeface="Consolas"/>
                  </a:rPr>
                  <a:t> </a:t>
                </a:r>
                <a:r>
                  <a:rPr lang="en-US" sz="1100" dirty="0">
                    <a:solidFill>
                      <a:srgbClr val="0000FF"/>
                    </a:solidFill>
                    <a:latin typeface="Consolas"/>
                  </a:rPr>
                  <a:t>float4</a:t>
                </a:r>
                <a:r>
                  <a:rPr lang="en-US" sz="1100" dirty="0">
                    <a:solidFill>
                      <a:srgbClr val="000000"/>
                    </a:solidFill>
                    <a:latin typeface="Consolas"/>
                  </a:rPr>
                  <a:t> </a:t>
                </a:r>
                <a:r>
                  <a:rPr lang="en-US" sz="1100" dirty="0" smtClean="0">
                    <a:solidFill>
                      <a:srgbClr val="000000"/>
                    </a:solidFill>
                    <a:latin typeface="Consolas"/>
                  </a:rPr>
                  <a:t>diffuse, </a:t>
                </a:r>
                <a:r>
                  <a:rPr lang="en-US" sz="1100" dirty="0" smtClean="0">
                    <a:solidFill>
                      <a:srgbClr val="0000FF"/>
                    </a:solidFill>
                    <a:latin typeface="Consolas"/>
                  </a:rPr>
                  <a:t>out</a:t>
                </a:r>
                <a:r>
                  <a:rPr lang="en-US" sz="1100" dirty="0" smtClean="0">
                    <a:solidFill>
                      <a:srgbClr val="000000"/>
                    </a:solidFill>
                    <a:latin typeface="Consolas"/>
                  </a:rPr>
                  <a:t> </a:t>
                </a:r>
                <a:r>
                  <a:rPr lang="en-US" sz="1100" dirty="0">
                    <a:solidFill>
                      <a:srgbClr val="0000FF"/>
                    </a:solidFill>
                    <a:latin typeface="Consolas"/>
                  </a:rPr>
                  <a:t>float4</a:t>
                </a:r>
                <a:r>
                  <a:rPr lang="en-US" sz="1100" dirty="0">
                    <a:solidFill>
                      <a:srgbClr val="000000"/>
                    </a:solidFill>
                    <a:latin typeface="Consolas"/>
                  </a:rPr>
                  <a:t> spec</a:t>
                </a:r>
              </a:p>
              <a:p>
                <a:r>
                  <a:rPr lang="en-US" sz="1100" dirty="0" smtClean="0">
                    <a:solidFill>
                      <a:srgbClr val="000000"/>
                    </a:solidFill>
                    <a:latin typeface="Consolas"/>
                  </a:rPr>
                  <a:t>	)</a:t>
                </a:r>
                <a:endParaRPr lang="en-US" sz="1100" dirty="0">
                  <a:solidFill>
                    <a:srgbClr val="000000"/>
                  </a:solidFill>
                  <a:latin typeface="Consolas"/>
                </a:endParaRPr>
              </a:p>
              <a:p>
                <a:r>
                  <a:rPr lang="en-US" sz="1100" dirty="0">
                    <a:solidFill>
                      <a:srgbClr val="000000"/>
                    </a:solidFill>
                    <a:latin typeface="Consolas"/>
                  </a:rPr>
                  <a:t>{</a:t>
                </a:r>
              </a:p>
              <a:p>
                <a:r>
                  <a:rPr lang="fr-FR" sz="1100" dirty="0" smtClean="0">
                    <a:solidFill>
                      <a:srgbClr val="000000"/>
                    </a:solidFill>
                    <a:latin typeface="Consolas"/>
                  </a:rPr>
                  <a:t>  ambient </a:t>
                </a:r>
                <a:r>
                  <a:rPr lang="fr-FR" sz="1100" dirty="0">
                    <a:solidFill>
                      <a:srgbClr val="000000"/>
                    </a:solidFill>
                    <a:latin typeface="Consolas"/>
                  </a:rPr>
                  <a:t>= </a:t>
                </a:r>
                <a:r>
                  <a:rPr lang="fr-FR" sz="1100" dirty="0">
                    <a:solidFill>
                      <a:srgbClr val="0000FF"/>
                    </a:solidFill>
                    <a:latin typeface="Consolas"/>
                  </a:rPr>
                  <a:t>float4</a:t>
                </a:r>
                <a:r>
                  <a:rPr lang="fr-FR" sz="1100" dirty="0">
                    <a:solidFill>
                      <a:srgbClr val="000000"/>
                    </a:solidFill>
                    <a:latin typeface="Consolas"/>
                  </a:rPr>
                  <a:t>(0, 0, 0, 0</a:t>
                </a:r>
                <a:r>
                  <a:rPr lang="fr-FR" sz="1100" dirty="0" smtClean="0">
                    <a:solidFill>
                      <a:srgbClr val="000000"/>
                    </a:solidFill>
                    <a:latin typeface="Consolas"/>
                  </a:rPr>
                  <a:t>); </a:t>
                </a:r>
                <a:r>
                  <a:rPr lang="en-US" sz="1100" dirty="0">
                    <a:solidFill>
                      <a:srgbClr val="008000"/>
                    </a:solidFill>
                    <a:latin typeface="Consolas"/>
                  </a:rPr>
                  <a:t>// Zeroing out the initial ADS contributions</a:t>
                </a:r>
                <a:endParaRPr lang="fr-FR" sz="1100" dirty="0">
                  <a:solidFill>
                    <a:srgbClr val="000000"/>
                  </a:solidFill>
                  <a:latin typeface="Consolas"/>
                </a:endParaRPr>
              </a:p>
              <a:p>
                <a:r>
                  <a:rPr lang="fr-FR" sz="1100" dirty="0" smtClean="0">
                    <a:solidFill>
                      <a:srgbClr val="000000"/>
                    </a:solidFill>
                    <a:latin typeface="Consolas"/>
                  </a:rPr>
                  <a:t>  diffuse </a:t>
                </a:r>
                <a:r>
                  <a:rPr lang="fr-FR" sz="1100" dirty="0">
                    <a:solidFill>
                      <a:srgbClr val="000000"/>
                    </a:solidFill>
                    <a:latin typeface="Consolas"/>
                  </a:rPr>
                  <a:t>= </a:t>
                </a:r>
                <a:r>
                  <a:rPr lang="fr-FR" sz="1100" dirty="0">
                    <a:solidFill>
                      <a:srgbClr val="0000FF"/>
                    </a:solidFill>
                    <a:latin typeface="Consolas"/>
                  </a:rPr>
                  <a:t>float4</a:t>
                </a:r>
                <a:r>
                  <a:rPr lang="fr-FR" sz="1100" dirty="0">
                    <a:solidFill>
                      <a:srgbClr val="000000"/>
                    </a:solidFill>
                    <a:latin typeface="Consolas"/>
                  </a:rPr>
                  <a:t>(0, 0, 0, 0);</a:t>
                </a:r>
              </a:p>
              <a:p>
                <a:r>
                  <a:rPr lang="en-US" sz="1100" dirty="0" smtClean="0">
                    <a:solidFill>
                      <a:srgbClr val="000000"/>
                    </a:solidFill>
                    <a:latin typeface="Consolas"/>
                  </a:rPr>
                  <a:t>  spec </a:t>
                </a:r>
                <a:r>
                  <a:rPr lang="en-US" sz="1100" dirty="0">
                    <a:solidFill>
                      <a:srgbClr val="000000"/>
                    </a:solidFill>
                    <a:latin typeface="Consolas"/>
                  </a:rPr>
                  <a:t>= </a:t>
                </a:r>
                <a:r>
                  <a:rPr lang="en-US" sz="1100" dirty="0">
                    <a:solidFill>
                      <a:srgbClr val="0000FF"/>
                    </a:solidFill>
                    <a:latin typeface="Consolas"/>
                  </a:rPr>
                  <a:t>float4</a:t>
                </a:r>
                <a:r>
                  <a:rPr lang="en-US" sz="1100" dirty="0">
                    <a:solidFill>
                      <a:srgbClr val="000000"/>
                    </a:solidFill>
                    <a:latin typeface="Consolas"/>
                  </a:rPr>
                  <a:t>(0, 0, 0, 0);</a:t>
                </a:r>
              </a:p>
              <a:p>
                <a:endParaRPr lang="en-US" sz="1100" dirty="0">
                  <a:solidFill>
                    <a:srgbClr val="000000"/>
                  </a:solidFill>
                  <a:latin typeface="Consolas"/>
                </a:endParaRPr>
              </a:p>
              <a:p>
                <a:r>
                  <a:rPr lang="en-US" sz="1100" dirty="0" smtClean="0">
                    <a:solidFill>
                      <a:srgbClr val="008000"/>
                    </a:solidFill>
                    <a:latin typeface="Consolas"/>
                  </a:rPr>
                  <a:t>  // </a:t>
                </a:r>
                <a:r>
                  <a:rPr lang="en-US" sz="1100" dirty="0">
                    <a:solidFill>
                      <a:srgbClr val="008000"/>
                    </a:solidFill>
                    <a:latin typeface="Consolas"/>
                  </a:rPr>
                  <a:t>we compute the model-space position</a:t>
                </a:r>
                <a:endParaRPr lang="en-US" sz="1100" dirty="0">
                  <a:solidFill>
                    <a:srgbClr val="000000"/>
                  </a:solidFill>
                  <a:latin typeface="Consolas"/>
                </a:endParaRPr>
              </a:p>
              <a:p>
                <a:r>
                  <a:rPr lang="en-US" sz="1100" dirty="0" smtClean="0">
                    <a:solidFill>
                      <a:srgbClr val="008000"/>
                    </a:solidFill>
                    <a:latin typeface="Consolas"/>
                  </a:rPr>
                  <a:t>  // </a:t>
                </a:r>
                <a:r>
                  <a:rPr lang="en-US" sz="1100" dirty="0">
                    <a:solidFill>
                      <a:srgbClr val="008000"/>
                    </a:solidFill>
                    <a:latin typeface="Consolas"/>
                  </a:rPr>
                  <a:t>For directional light, the source is </a:t>
                </a:r>
                <a:r>
                  <a:rPr lang="en-US" sz="1100" dirty="0" smtClean="0">
                    <a:solidFill>
                      <a:srgbClr val="008000"/>
                    </a:solidFill>
                    <a:latin typeface="Consolas"/>
                  </a:rPr>
                  <a:t>infinitely </a:t>
                </a:r>
                <a:r>
                  <a:rPr lang="en-US" sz="1100" dirty="0">
                    <a:solidFill>
                      <a:srgbClr val="008000"/>
                    </a:solidFill>
                    <a:latin typeface="Consolas"/>
                  </a:rPr>
                  <a:t>far, so translation have no effect</a:t>
                </a:r>
                <a:endParaRPr lang="en-US" sz="1100" dirty="0">
                  <a:solidFill>
                    <a:srgbClr val="000000"/>
                  </a:solidFill>
                  <a:latin typeface="Consolas"/>
                </a:endParaRPr>
              </a:p>
              <a:p>
                <a:r>
                  <a:rPr lang="en-US" sz="1100" dirty="0" smtClean="0">
                    <a:solidFill>
                      <a:srgbClr val="0000FF"/>
                    </a:solidFill>
                    <a:latin typeface="Consolas"/>
                  </a:rPr>
                  <a:t>  float3</a:t>
                </a:r>
                <a:r>
                  <a:rPr lang="en-US" sz="1100" dirty="0" smtClean="0">
                    <a:solidFill>
                      <a:srgbClr val="000000"/>
                    </a:solidFill>
                    <a:latin typeface="Consolas"/>
                  </a:rPr>
                  <a:t> L = </a:t>
                </a:r>
                <a:r>
                  <a:rPr lang="en-US" sz="1100" dirty="0">
                    <a:solidFill>
                      <a:srgbClr val="000000"/>
                    </a:solidFill>
                    <a:latin typeface="Consolas"/>
                  </a:rPr>
                  <a:t>normalize(</a:t>
                </a:r>
                <a:r>
                  <a:rPr lang="en-US" sz="1100" dirty="0" err="1">
                    <a:solidFill>
                      <a:srgbClr val="000000"/>
                    </a:solidFill>
                    <a:latin typeface="Consolas"/>
                  </a:rPr>
                  <a:t>mul</a:t>
                </a:r>
                <a:r>
                  <a:rPr lang="en-US" sz="1100" dirty="0">
                    <a:solidFill>
                      <a:srgbClr val="000000"/>
                    </a:solidFill>
                    <a:latin typeface="Consolas"/>
                  </a:rPr>
                  <a:t>(-</a:t>
                </a:r>
                <a:r>
                  <a:rPr lang="en-US" sz="1100" dirty="0" err="1">
                    <a:solidFill>
                      <a:srgbClr val="000000"/>
                    </a:solidFill>
                    <a:latin typeface="Consolas"/>
                  </a:rPr>
                  <a:t>DirLit.Direction.xyz</a:t>
                </a:r>
                <a:r>
                  <a:rPr lang="en-US" sz="1100" dirty="0">
                    <a:solidFill>
                      <a:srgbClr val="000000"/>
                    </a:solidFill>
                    <a:latin typeface="Consolas"/>
                  </a:rPr>
                  <a:t>, (</a:t>
                </a:r>
                <a:r>
                  <a:rPr lang="en-US" sz="1100" dirty="0">
                    <a:solidFill>
                      <a:srgbClr val="0000FF"/>
                    </a:solidFill>
                    <a:latin typeface="Consolas"/>
                  </a:rPr>
                  <a:t>float3x3</a:t>
                </a:r>
                <a:r>
                  <a:rPr lang="en-US" sz="1100" dirty="0">
                    <a:solidFill>
                      <a:srgbClr val="000000"/>
                    </a:solidFill>
                    <a:latin typeface="Consolas"/>
                  </a:rPr>
                  <a:t>)</a:t>
                </a:r>
                <a:r>
                  <a:rPr lang="en-US" sz="1100" dirty="0" err="1">
                    <a:solidFill>
                      <a:srgbClr val="000000"/>
                    </a:solidFill>
                    <a:latin typeface="Consolas"/>
                  </a:rPr>
                  <a:t>WorldInv</a:t>
                </a:r>
                <a:r>
                  <a:rPr lang="en-US" sz="1100" dirty="0">
                    <a:solidFill>
                      <a:srgbClr val="000000"/>
                    </a:solidFill>
                    <a:latin typeface="Consolas"/>
                  </a:rPr>
                  <a:t>));</a:t>
                </a:r>
              </a:p>
              <a:p>
                <a:endParaRPr lang="en-US" sz="1100" dirty="0">
                  <a:solidFill>
                    <a:srgbClr val="000000"/>
                  </a:solidFill>
                  <a:latin typeface="Consolas"/>
                </a:endParaRPr>
              </a:p>
              <a:p>
                <a:r>
                  <a:rPr lang="en-US" sz="1100" dirty="0" smtClean="0">
                    <a:solidFill>
                      <a:srgbClr val="000000"/>
                    </a:solidFill>
                    <a:latin typeface="Consolas"/>
                  </a:rPr>
                  <a:t>  </a:t>
                </a:r>
                <a:r>
                  <a:rPr lang="en-US" sz="1100" dirty="0" err="1" smtClean="0">
                    <a:solidFill>
                      <a:srgbClr val="000000"/>
                    </a:solidFill>
                    <a:latin typeface="Consolas"/>
                    <a:hlinkClick r:id="rId2" action="ppaction://hlinksldjump"/>
                  </a:rPr>
                  <a:t>PhongModel</a:t>
                </a:r>
                <a:r>
                  <a:rPr lang="en-US" sz="1100" dirty="0" smtClean="0">
                    <a:solidFill>
                      <a:srgbClr val="000000"/>
                    </a:solidFill>
                    <a:latin typeface="Consolas"/>
                  </a:rPr>
                  <a:t>(mat</a:t>
                </a:r>
                <a:r>
                  <a:rPr lang="en-US" sz="1100" dirty="0">
                    <a:solidFill>
                      <a:srgbClr val="000000"/>
                    </a:solidFill>
                    <a:latin typeface="Consolas"/>
                  </a:rPr>
                  <a:t>, </a:t>
                </a:r>
                <a:r>
                  <a:rPr lang="en-US" sz="1100" dirty="0" err="1">
                    <a:solidFill>
                      <a:srgbClr val="000000"/>
                    </a:solidFill>
                    <a:latin typeface="Consolas"/>
                  </a:rPr>
                  <a:t>DirLight.Light</a:t>
                </a:r>
                <a:r>
                  <a:rPr lang="en-US" sz="1100" dirty="0">
                    <a:solidFill>
                      <a:srgbClr val="000000"/>
                    </a:solidFill>
                    <a:latin typeface="Consolas"/>
                  </a:rPr>
                  <a:t>, </a:t>
                </a:r>
                <a:r>
                  <a:rPr lang="en-US" sz="1100" dirty="0" smtClean="0">
                    <a:solidFill>
                      <a:srgbClr val="000000"/>
                    </a:solidFill>
                    <a:latin typeface="Consolas"/>
                  </a:rPr>
                  <a:t>L, </a:t>
                </a:r>
                <a:r>
                  <a:rPr lang="en-US" sz="1100" dirty="0" err="1">
                    <a:solidFill>
                      <a:srgbClr val="000000"/>
                    </a:solidFill>
                    <a:latin typeface="Consolas"/>
                  </a:rPr>
                  <a:t>normal.xyz</a:t>
                </a:r>
                <a:r>
                  <a:rPr lang="en-US" sz="1100" dirty="0">
                    <a:solidFill>
                      <a:srgbClr val="000000"/>
                    </a:solidFill>
                    <a:latin typeface="Consolas"/>
                  </a:rPr>
                  <a:t>, </a:t>
                </a:r>
                <a:r>
                  <a:rPr lang="en-US" sz="1100" dirty="0" err="1">
                    <a:solidFill>
                      <a:srgbClr val="000000"/>
                    </a:solidFill>
                    <a:latin typeface="Consolas"/>
                  </a:rPr>
                  <a:t>toEye.xyz</a:t>
                </a:r>
                <a:r>
                  <a:rPr lang="en-US" sz="1100" dirty="0">
                    <a:solidFill>
                      <a:srgbClr val="000000"/>
                    </a:solidFill>
                    <a:latin typeface="Consolas"/>
                  </a:rPr>
                  <a:t>, ambient, diffuse, spec);</a:t>
                </a:r>
              </a:p>
              <a:p>
                <a:r>
                  <a:rPr lang="en-US" sz="1100" dirty="0">
                    <a:solidFill>
                      <a:srgbClr val="000000"/>
                    </a:solidFill>
                    <a:latin typeface="Consolas"/>
                  </a:rPr>
                  <a:t>}</a:t>
                </a:r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 flipH="1">
                <a:off x="4038600" y="3319604"/>
                <a:ext cx="1358220" cy="642795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TextBox 6"/>
          <p:cNvSpPr txBox="1"/>
          <p:nvPr/>
        </p:nvSpPr>
        <p:spPr>
          <a:xfrm>
            <a:off x="4572000" y="1707118"/>
            <a:ext cx="4038600" cy="578882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1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Warning: </a:t>
            </a:r>
            <a:r>
              <a:rPr lang="en-US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As usual in CG</a:t>
            </a:r>
            <a:r>
              <a:rPr lang="en-US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caling (particularly non-uniform scaling) really makes a mess of things</a:t>
            </a:r>
            <a:endParaRPr lang="en-US" sz="1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77000" y="3775114"/>
            <a:ext cx="2514600" cy="37457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Let’s add a point light next</a:t>
            </a:r>
            <a:endParaRPr lang="en-US" sz="1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33565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ShaderColorLight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smtClean="0"/>
              <a:t>Point Light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sz="2000" dirty="0" smtClean="0"/>
              <a:t>Nothing to change in </a:t>
            </a:r>
            <a:r>
              <a:rPr lang="en-US" sz="2000" dirty="0" err="1" smtClean="0"/>
              <a:t>DrawScene</a:t>
            </a:r>
            <a:r>
              <a:rPr lang="en-US" sz="2000" dirty="0" smtClean="0"/>
              <a:t> </a:t>
            </a:r>
            <a:endParaRPr lang="en-US" sz="20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462059"/>
            <a:ext cx="4343399" cy="3395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6618" y="1295400"/>
            <a:ext cx="9353843" cy="8617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InitDemo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pShaderColLight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0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onsolas"/>
              </a:rPr>
              <a:t>ShaderColorLight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(md3dDevice);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pShaderColLight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SetDirectionalLightParameters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(-1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,-1,1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).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getNorm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(), .1 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(1,1,1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), .5 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(1,1,1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), </a:t>
            </a:r>
            <a:r>
              <a:rPr lang="en-US" sz="10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(1,1,1));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pShaderColLight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SetPointLightParameters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(0,10,0), 100, .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2 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(0,1,0), .1 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(1,1,1), 2 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(1,1,1), 1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0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(1,1,1));</a:t>
            </a:r>
            <a:endParaRPr lang="en-US" sz="1000" dirty="0"/>
          </a:p>
        </p:txBody>
      </p:sp>
      <p:grpSp>
        <p:nvGrpSpPr>
          <p:cNvPr id="7" name="Group 6"/>
          <p:cNvGrpSpPr/>
          <p:nvPr/>
        </p:nvGrpSpPr>
        <p:grpSpPr>
          <a:xfrm>
            <a:off x="1574821" y="1941212"/>
            <a:ext cx="2463779" cy="664392"/>
            <a:chOff x="1958566" y="1934047"/>
            <a:chExt cx="2463779" cy="664392"/>
          </a:xfrm>
        </p:grpSpPr>
        <p:sp>
          <p:nvSpPr>
            <p:cNvPr id="8" name="TextBox 7"/>
            <p:cNvSpPr txBox="1"/>
            <p:nvPr/>
          </p:nvSpPr>
          <p:spPr>
            <a:xfrm>
              <a:off x="1958566" y="2257920"/>
              <a:ext cx="1066800" cy="340519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spcBef>
                  <a:spcPts val="600"/>
                </a:spcBef>
                <a:buClr>
                  <a:prstClr val="black"/>
                </a:buClr>
                <a:buSzPct val="76000"/>
              </a:pPr>
              <a:r>
                <a:rPr lang="en-US" sz="14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Light </a:t>
              </a:r>
              <a:r>
                <a:rPr lang="en-US" sz="1400" dirty="0" err="1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pos</a:t>
              </a:r>
              <a:endParaRPr lang="en-US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490865" y="1934047"/>
              <a:ext cx="931480" cy="180975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0" name="Straight Connector 9"/>
            <p:cNvCxnSpPr>
              <a:stCxn id="8" idx="3"/>
              <a:endCxn id="9" idx="2"/>
            </p:cNvCxnSpPr>
            <p:nvPr/>
          </p:nvCxnSpPr>
          <p:spPr>
            <a:xfrm flipV="1">
              <a:off x="3025366" y="2115022"/>
              <a:ext cx="931239" cy="31315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4814888" y="1953119"/>
            <a:ext cx="2132141" cy="759620"/>
            <a:chOff x="4344859" y="1943099"/>
            <a:chExt cx="2132141" cy="759620"/>
          </a:xfrm>
        </p:grpSpPr>
        <p:sp>
          <p:nvSpPr>
            <p:cNvPr id="12" name="Rounded Rectangle 11"/>
            <p:cNvSpPr/>
            <p:nvPr/>
          </p:nvSpPr>
          <p:spPr>
            <a:xfrm>
              <a:off x="5267196" y="1943099"/>
              <a:ext cx="1209804" cy="180975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344859" y="2362200"/>
              <a:ext cx="823912" cy="340519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spcBef>
                  <a:spcPts val="600"/>
                </a:spcBef>
                <a:buClr>
                  <a:prstClr val="black"/>
                </a:buClr>
                <a:buSzPct val="76000"/>
              </a:pPr>
              <a:r>
                <a:rPr lang="en-US" sz="14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ambient</a:t>
              </a:r>
              <a:endParaRPr lang="en-US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4" name="Straight Connector 13"/>
            <p:cNvCxnSpPr>
              <a:stCxn id="13" idx="3"/>
              <a:endCxn id="12" idx="2"/>
            </p:cNvCxnSpPr>
            <p:nvPr/>
          </p:nvCxnSpPr>
          <p:spPr>
            <a:xfrm flipV="1">
              <a:off x="5168771" y="2124074"/>
              <a:ext cx="703327" cy="408386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6261229" y="1949964"/>
            <a:ext cx="1844546" cy="759620"/>
            <a:chOff x="4100512" y="1943099"/>
            <a:chExt cx="1844546" cy="759620"/>
          </a:xfrm>
        </p:grpSpPr>
        <p:sp>
          <p:nvSpPr>
            <p:cNvPr id="16" name="Rounded Rectangle 15"/>
            <p:cNvSpPr/>
            <p:nvPr/>
          </p:nvSpPr>
          <p:spPr>
            <a:xfrm>
              <a:off x="4821108" y="1943099"/>
              <a:ext cx="1123950" cy="180975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100512" y="2362200"/>
              <a:ext cx="762000" cy="340519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spcBef>
                  <a:spcPts val="600"/>
                </a:spcBef>
                <a:buClr>
                  <a:prstClr val="black"/>
                </a:buClr>
                <a:buSzPct val="76000"/>
              </a:pPr>
              <a:r>
                <a:rPr lang="en-US" sz="14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diffuse</a:t>
              </a:r>
              <a:endParaRPr lang="en-US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8" name="Straight Connector 17"/>
            <p:cNvCxnSpPr>
              <a:stCxn id="17" idx="3"/>
              <a:endCxn id="16" idx="2"/>
            </p:cNvCxnSpPr>
            <p:nvPr/>
          </p:nvCxnSpPr>
          <p:spPr>
            <a:xfrm flipV="1">
              <a:off x="4862512" y="2124074"/>
              <a:ext cx="520571" cy="408386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7480429" y="1946809"/>
            <a:ext cx="1632615" cy="759620"/>
            <a:chOff x="4100512" y="1943099"/>
            <a:chExt cx="1632615" cy="759620"/>
          </a:xfrm>
        </p:grpSpPr>
        <p:sp>
          <p:nvSpPr>
            <p:cNvPr id="20" name="Rounded Rectangle 19"/>
            <p:cNvSpPr/>
            <p:nvPr/>
          </p:nvSpPr>
          <p:spPr>
            <a:xfrm>
              <a:off x="4771102" y="1943099"/>
              <a:ext cx="962025" cy="180975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100512" y="2362200"/>
              <a:ext cx="838200" cy="340519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spcBef>
                  <a:spcPts val="600"/>
                </a:spcBef>
                <a:buClr>
                  <a:prstClr val="black"/>
                </a:buClr>
                <a:buSzPct val="76000"/>
              </a:pPr>
              <a:r>
                <a:rPr lang="en-US" sz="14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specular</a:t>
              </a:r>
              <a:endParaRPr lang="en-US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2" name="Straight Connector 21"/>
            <p:cNvCxnSpPr>
              <a:stCxn id="21" idx="3"/>
              <a:endCxn id="20" idx="2"/>
            </p:cNvCxnSpPr>
            <p:nvPr/>
          </p:nvCxnSpPr>
          <p:spPr>
            <a:xfrm flipV="1">
              <a:off x="4938712" y="2124074"/>
              <a:ext cx="313403" cy="408386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783438" y="1946808"/>
            <a:ext cx="2636162" cy="1115996"/>
            <a:chOff x="2130969" y="1500867"/>
            <a:chExt cx="2636162" cy="1115996"/>
          </a:xfrm>
        </p:grpSpPr>
        <p:sp>
          <p:nvSpPr>
            <p:cNvPr id="27" name="TextBox 26"/>
            <p:cNvSpPr txBox="1"/>
            <p:nvPr/>
          </p:nvSpPr>
          <p:spPr>
            <a:xfrm>
              <a:off x="2130969" y="2276344"/>
              <a:ext cx="649566" cy="340519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spcBef>
                  <a:spcPts val="600"/>
                </a:spcBef>
                <a:buClr>
                  <a:prstClr val="black"/>
                </a:buClr>
                <a:buSzPct val="76000"/>
              </a:pPr>
              <a:r>
                <a:rPr lang="en-US" sz="14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range</a:t>
              </a:r>
              <a:endParaRPr lang="en-US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4433662" y="1500867"/>
              <a:ext cx="333469" cy="180975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29" name="Straight Connector 28"/>
            <p:cNvCxnSpPr>
              <a:stCxn id="27" idx="3"/>
              <a:endCxn id="28" idx="2"/>
            </p:cNvCxnSpPr>
            <p:nvPr/>
          </p:nvCxnSpPr>
          <p:spPr>
            <a:xfrm flipV="1">
              <a:off x="2780535" y="1681842"/>
              <a:ext cx="1819862" cy="764762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1574820" y="1953119"/>
            <a:ext cx="4063980" cy="1566885"/>
            <a:chOff x="1928701" y="1050969"/>
            <a:chExt cx="4063980" cy="1566885"/>
          </a:xfrm>
        </p:grpSpPr>
        <p:sp>
          <p:nvSpPr>
            <p:cNvPr id="37" name="TextBox 36"/>
            <p:cNvSpPr txBox="1"/>
            <p:nvPr/>
          </p:nvSpPr>
          <p:spPr>
            <a:xfrm>
              <a:off x="1928701" y="2277335"/>
              <a:ext cx="1168379" cy="340519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spcBef>
                  <a:spcPts val="600"/>
                </a:spcBef>
                <a:buClr>
                  <a:prstClr val="black"/>
                </a:buClr>
                <a:buSzPct val="76000"/>
              </a:pPr>
              <a:r>
                <a:rPr lang="en-US" sz="14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Attenuation</a:t>
              </a:r>
              <a:endParaRPr lang="en-US" sz="1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4821012" y="1050969"/>
              <a:ext cx="1171669" cy="180975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39" name="Straight Connector 38"/>
            <p:cNvCxnSpPr>
              <a:stCxn id="37" idx="3"/>
              <a:endCxn id="38" idx="2"/>
            </p:cNvCxnSpPr>
            <p:nvPr/>
          </p:nvCxnSpPr>
          <p:spPr>
            <a:xfrm flipV="1">
              <a:off x="3097080" y="1231944"/>
              <a:ext cx="2309767" cy="1215651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/>
          <p:cNvSpPr txBox="1"/>
          <p:nvPr/>
        </p:nvSpPr>
        <p:spPr>
          <a:xfrm>
            <a:off x="990600" y="4495799"/>
            <a:ext cx="3048000" cy="91940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16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Again: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Play around with the various parameters to get a sense of their contributions</a:t>
            </a:r>
            <a:endParaRPr lang="en-US" sz="1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09612" y="5500701"/>
            <a:ext cx="3609975" cy="37457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16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But how did the </a:t>
            </a:r>
            <a:r>
              <a:rPr lang="en-US" sz="1600" b="1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shader</a:t>
            </a:r>
            <a:r>
              <a:rPr lang="en-US" sz="16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work this out?</a:t>
            </a:r>
            <a:endParaRPr lang="en-US" sz="1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71186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animBg="1"/>
      <p:bldP spid="45" grpId="0" animBg="1"/>
      <p:bldP spid="4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ShaderColorLight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Pixel </a:t>
            </a:r>
            <a:r>
              <a:rPr lang="en-US" dirty="0" err="1" smtClean="0"/>
              <a:t>Shader</a:t>
            </a:r>
            <a:r>
              <a:rPr lang="en-US" dirty="0" smtClean="0"/>
              <a:t> (Point Light)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57413" y="1143000"/>
            <a:ext cx="7186583" cy="29700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PS( VS_OUTPUT input ) :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SV_Target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msEyePos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EyePosWorld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WorldInv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// Compute light values in model-space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msToEye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normalize(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msEyePos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-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input.PosMS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&lt;…&gt;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Includes contributions from Directional Light</a:t>
            </a: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ComputePointLight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(Mater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PntLight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input.PosMS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normalize(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input.Norm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msToEye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A, D, S);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ambient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+= A;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diffuse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+= D;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spec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+= S;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&lt;…&gt;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fr-FR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 err="1">
                <a:solidFill>
                  <a:srgbClr val="000000"/>
                </a:solidFill>
                <a:latin typeface="Consolas"/>
              </a:rPr>
              <a:t>litColor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= ambient + diffuse + </a:t>
            </a:r>
            <a:r>
              <a:rPr lang="fr-FR" sz="1100" dirty="0" err="1">
                <a:solidFill>
                  <a:srgbClr val="000000"/>
                </a:solidFill>
                <a:latin typeface="Consolas"/>
              </a:rPr>
              <a:t>spec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return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litColor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999" y="2286000"/>
            <a:ext cx="6934201" cy="312722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" name="TextBox 5"/>
          <p:cNvSpPr txBox="1"/>
          <p:nvPr/>
        </p:nvSpPr>
        <p:spPr>
          <a:xfrm>
            <a:off x="2802315" y="2025908"/>
            <a:ext cx="6494085" cy="48320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ComputePointLight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	Material mat,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PointLight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PLight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posms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normal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toEye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out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ambient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out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diffuse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out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spec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	)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  ambient 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fr-FR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(0, 0, 0, 0);</a:t>
            </a:r>
          </a:p>
          <a:p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  diffuse 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fr-FR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(0, 0, 0, 0);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spec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0, 0, 0);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we compute the model-space position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float3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litPosMS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PLight.Position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WorldInv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).xyz;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float3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L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litPosMS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-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posms.xyz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Early out if out of range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d = length(L);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if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(d &gt;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PLight.Range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 return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L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/= 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normalize 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PhongModel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(mat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PLight.Light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L,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normal.xyz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toEye.xyz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ambient, diffuse, spec);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Now we attenuate based on range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att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1 / dot(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PLight.Attenuation.xyz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float3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(1,d, d*d) );</a:t>
            </a: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Ambient not attenuated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diffuse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att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spec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att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7334" y="3832139"/>
            <a:ext cx="2095500" cy="340519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1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Warning: </a:t>
            </a:r>
            <a:r>
              <a:rPr lang="en-US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scaling evils</a:t>
            </a:r>
            <a:endParaRPr lang="en-US" sz="1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53200" y="955714"/>
            <a:ext cx="2514600" cy="37457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Let’s add a spotlight next</a:t>
            </a:r>
            <a:endParaRPr lang="en-US" sz="1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26276" y="4481867"/>
            <a:ext cx="2541524" cy="715089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1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Again:</a:t>
            </a:r>
            <a:r>
              <a:rPr lang="en-US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Play around with the various parameters to get a sense of their contributions</a:t>
            </a:r>
            <a:endParaRPr lang="en-US" sz="1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624246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ShaderColorLight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 smtClean="0"/>
              <a:t>SpotLight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Just for fun, we’ll make it a moving spotlight</a:t>
            </a:r>
            <a:endParaRPr lang="en-US" sz="20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429000"/>
            <a:ext cx="5457735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33400" y="2450554"/>
            <a:ext cx="7520007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DrawScene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…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pShaderColLight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SetSpotLightParameters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 pos2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, 100, 1 </a:t>
            </a:r>
            <a:r>
              <a:rPr lang="en-US" sz="1000" dirty="0" smtClean="0">
                <a:solidFill>
                  <a:srgbClr val="008080"/>
                </a:solidFill>
                <a:latin typeface="Consolas"/>
              </a:rPr>
              <a:t>* </a:t>
            </a:r>
            <a:r>
              <a:rPr lang="en-US" sz="10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(1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, 0, 0), </a:t>
            </a:r>
            <a:endParaRPr lang="en-US" sz="10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                                       </a:t>
            </a:r>
            <a:r>
              <a:rPr lang="en-US" sz="1000" dirty="0" smtClean="0">
                <a:solidFill>
                  <a:srgbClr val="00808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pos2.getNorm(), 12, </a:t>
            </a:r>
            <a:endParaRPr lang="en-US" sz="10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                                       .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2 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(1, 1, 1), 3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0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(1, 1, 1), 1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en-US" sz="10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(1, 1, 1, 150 ));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pShaderColLight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(md3dImmediateContext);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pShaderColLight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SendCamMatrices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mCam.getViewMatrix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mCam.getProjMatrix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2B91AF"/>
                </a:solidFill>
                <a:latin typeface="Consolas"/>
              </a:rPr>
              <a:t>  </a:t>
            </a:r>
            <a:r>
              <a:rPr lang="en-US" sz="10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eyepos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mCam.getPos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eyepos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pShaderColLight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SendLightParameters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eyepos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pShaderColLight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SendWorldAndMaterial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(mWorld1,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Colors::Firebrick, Colors::Firebrick, </a:t>
            </a:r>
            <a:r>
              <a:rPr lang="en-US" sz="10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(1,1,1,100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pModel1-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&gt;Render(md3dImmediateContext);</a:t>
            </a:r>
            <a:endParaRPr lang="en-US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533400" y="1632695"/>
            <a:ext cx="5404043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UpdateScene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mWorld2 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*=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ROT_Y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, .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0003f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 ;  </a:t>
            </a:r>
            <a:r>
              <a:rPr lang="en-US" sz="1000" dirty="0">
                <a:solidFill>
                  <a:srgbClr val="008000"/>
                </a:solidFill>
                <a:latin typeface="Consolas"/>
              </a:rPr>
              <a:t>// Simple slow rotation about y axis</a:t>
            </a:r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 pos2 </a:t>
            </a:r>
            <a:r>
              <a:rPr lang="en-US" sz="10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mWorld2.get(</a:t>
            </a:r>
            <a:r>
              <a:rPr lang="en-US" sz="1000" dirty="0" err="1">
                <a:solidFill>
                  <a:srgbClr val="2B91AF"/>
                </a:solidFill>
                <a:latin typeface="Consolas"/>
              </a:rPr>
              <a:t>MatrixRowType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000" dirty="0">
                <a:solidFill>
                  <a:srgbClr val="2F4F4F"/>
                </a:solidFill>
                <a:latin typeface="Consolas"/>
              </a:rPr>
              <a:t>ROW_3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);</a:t>
            </a:r>
            <a:endParaRPr lang="en-US" sz="1000" dirty="0"/>
          </a:p>
        </p:txBody>
      </p:sp>
      <p:grpSp>
        <p:nvGrpSpPr>
          <p:cNvPr id="43" name="Group 42"/>
          <p:cNvGrpSpPr/>
          <p:nvPr/>
        </p:nvGrpSpPr>
        <p:grpSpPr>
          <a:xfrm>
            <a:off x="3886200" y="3962400"/>
            <a:ext cx="4495800" cy="646986"/>
            <a:chOff x="3886200" y="3962400"/>
            <a:chExt cx="4495800" cy="646986"/>
          </a:xfrm>
        </p:grpSpPr>
        <p:cxnSp>
          <p:nvCxnSpPr>
            <p:cNvPr id="10" name="Straight Arrow Connector 9"/>
            <p:cNvCxnSpPr>
              <a:stCxn id="7" idx="1"/>
            </p:cNvCxnSpPr>
            <p:nvPr/>
          </p:nvCxnSpPr>
          <p:spPr>
            <a:xfrm rot="10800000" flipV="1">
              <a:off x="3886200" y="4285892"/>
              <a:ext cx="1219200" cy="133707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5105400" y="3962400"/>
              <a:ext cx="3276600" cy="646986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spcBef>
                  <a:spcPts val="600"/>
                </a:spcBef>
                <a:buClr>
                  <a:prstClr val="black"/>
                </a:buClr>
                <a:buSzPct val="76000"/>
              </a:pPr>
              <a:r>
                <a:rPr lang="en-US" sz="1600" b="1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Warning: </a:t>
              </a:r>
              <a:r>
                <a:rPr lang="en-US" sz="16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Set the parameters </a:t>
              </a:r>
              <a:r>
                <a:rPr lang="en-US" sz="1600" i="1" u="sng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before</a:t>
              </a:r>
              <a:r>
                <a:rPr lang="en-US" sz="16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 sending the light parameters</a:t>
              </a:r>
              <a:endParaRPr lang="en-US" sz="16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463209" y="2470782"/>
            <a:ext cx="3175591" cy="639131"/>
            <a:chOff x="1843665" y="2386755"/>
            <a:chExt cx="3175591" cy="639131"/>
          </a:xfrm>
        </p:grpSpPr>
        <p:sp>
          <p:nvSpPr>
            <p:cNvPr id="23" name="TextBox 22"/>
            <p:cNvSpPr txBox="1"/>
            <p:nvPr/>
          </p:nvSpPr>
          <p:spPr>
            <a:xfrm>
              <a:off x="1843665" y="2386755"/>
              <a:ext cx="1839719" cy="306467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spcBef>
                  <a:spcPts val="600"/>
                </a:spcBef>
                <a:buClr>
                  <a:prstClr val="black"/>
                </a:buClr>
                <a:buSzPct val="76000"/>
              </a:pPr>
              <a:r>
                <a:rPr lang="en-US" sz="12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Light </a:t>
              </a:r>
              <a:r>
                <a:rPr lang="en-US" sz="1200" dirty="0" err="1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pos</a:t>
              </a:r>
              <a:r>
                <a:rPr lang="en-US" sz="12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, range &amp; </a:t>
              </a:r>
              <a:r>
                <a:rPr lang="en-US" sz="1200" dirty="0" err="1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att</a:t>
              </a:r>
              <a:endParaRPr lang="en-US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2904706" y="2856817"/>
              <a:ext cx="2114550" cy="169069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25" name="Straight Connector 24"/>
            <p:cNvCxnSpPr>
              <a:stCxn id="23" idx="3"/>
              <a:endCxn id="24" idx="0"/>
            </p:cNvCxnSpPr>
            <p:nvPr/>
          </p:nvCxnSpPr>
          <p:spPr>
            <a:xfrm>
              <a:off x="3683384" y="2539989"/>
              <a:ext cx="278597" cy="31682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1600200" y="3119557"/>
            <a:ext cx="3386138" cy="309443"/>
            <a:chOff x="1501366" y="1934048"/>
            <a:chExt cx="3386138" cy="309443"/>
          </a:xfrm>
        </p:grpSpPr>
        <p:sp>
          <p:nvSpPr>
            <p:cNvPr id="37" name="TextBox 36"/>
            <p:cNvSpPr txBox="1"/>
            <p:nvPr/>
          </p:nvSpPr>
          <p:spPr>
            <a:xfrm>
              <a:off x="1501366" y="1937024"/>
              <a:ext cx="1524000" cy="306467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spcBef>
                  <a:spcPts val="600"/>
                </a:spcBef>
                <a:buClr>
                  <a:prstClr val="black"/>
                </a:buClr>
                <a:buSzPct val="76000"/>
              </a:pPr>
              <a:r>
                <a:rPr lang="en-US" sz="12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Light </a:t>
              </a:r>
              <a:r>
                <a:rPr lang="en-US" sz="1200" dirty="0" err="1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dir</a:t>
              </a:r>
              <a:r>
                <a:rPr lang="en-US" sz="12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 &amp; spot exp.</a:t>
              </a:r>
              <a:endParaRPr lang="en-US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3434941" y="1934048"/>
              <a:ext cx="1452563" cy="142756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39" name="Straight Connector 38"/>
            <p:cNvCxnSpPr>
              <a:stCxn id="37" idx="3"/>
              <a:endCxn id="38" idx="1"/>
            </p:cNvCxnSpPr>
            <p:nvPr/>
          </p:nvCxnSpPr>
          <p:spPr>
            <a:xfrm flipV="1">
              <a:off x="3025366" y="2005426"/>
              <a:ext cx="409575" cy="84832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/>
          <p:cNvGrpSpPr/>
          <p:nvPr/>
        </p:nvGrpSpPr>
        <p:grpSpPr>
          <a:xfrm>
            <a:off x="3533775" y="3271957"/>
            <a:ext cx="4162425" cy="503153"/>
            <a:chOff x="3434941" y="1934048"/>
            <a:chExt cx="4162425" cy="503153"/>
          </a:xfrm>
        </p:grpSpPr>
        <p:sp>
          <p:nvSpPr>
            <p:cNvPr id="57" name="TextBox 56"/>
            <p:cNvSpPr txBox="1"/>
            <p:nvPr/>
          </p:nvSpPr>
          <p:spPr>
            <a:xfrm>
              <a:off x="6073366" y="2130734"/>
              <a:ext cx="1524000" cy="306467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spcBef>
                  <a:spcPts val="600"/>
                </a:spcBef>
                <a:buClr>
                  <a:prstClr val="black"/>
                </a:buClr>
                <a:buSzPct val="76000"/>
              </a:pPr>
              <a:r>
                <a:rPr lang="en-US" sz="12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Light </a:t>
              </a:r>
              <a:r>
                <a:rPr lang="en-US" sz="1200" dirty="0" err="1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dir</a:t>
              </a:r>
              <a:r>
                <a:rPr lang="en-US" sz="12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 &amp; spot exp.</a:t>
              </a:r>
              <a:endParaRPr lang="en-US" sz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3434941" y="1934048"/>
              <a:ext cx="4086225" cy="142756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59" name="Straight Connector 58"/>
            <p:cNvCxnSpPr>
              <a:stCxn id="57" idx="1"/>
              <a:endCxn id="58" idx="2"/>
            </p:cNvCxnSpPr>
            <p:nvPr/>
          </p:nvCxnSpPr>
          <p:spPr>
            <a:xfrm flipH="1" flipV="1">
              <a:off x="5478054" y="2076804"/>
              <a:ext cx="595312" cy="20716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851894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ShaderColorLight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Pixel </a:t>
            </a:r>
            <a:r>
              <a:rPr lang="en-US" dirty="0" err="1"/>
              <a:t>Shader</a:t>
            </a:r>
            <a:r>
              <a:rPr lang="en-US" dirty="0"/>
              <a:t> (</a:t>
            </a:r>
            <a:r>
              <a:rPr lang="en-US" dirty="0" err="1"/>
              <a:t>SpotLight</a:t>
            </a:r>
            <a:r>
              <a:rPr 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57413" y="1143000"/>
            <a:ext cx="7032694" cy="29700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PS( VS_OUTPUT input ) :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SV_Target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msEyePos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EyePosWorld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WorldInv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	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// Compute light values in model-space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msToEye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normalize(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msEyePos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-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input.PosMS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&lt;…&gt;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Includes contributions from Directional Light &amp; Point light</a:t>
            </a: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ComputeSpotLight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(Mater,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SpLight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input.PosMS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normalize(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input.Norm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msToEye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A, D, 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ambient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+= A;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diffuse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+= D;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spec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+= S;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fr-FR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 err="1">
                <a:solidFill>
                  <a:srgbClr val="000000"/>
                </a:solidFill>
                <a:latin typeface="Consolas"/>
              </a:rPr>
              <a:t>litColor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= ambient + diffuse + </a:t>
            </a:r>
            <a:r>
              <a:rPr lang="fr-FR" sz="1100" dirty="0" err="1">
                <a:solidFill>
                  <a:srgbClr val="000000"/>
                </a:solidFill>
                <a:latin typeface="Consolas"/>
              </a:rPr>
              <a:t>spec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return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litColor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9107" y="2297194"/>
            <a:ext cx="6843666" cy="312722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" name="TextBox 5"/>
          <p:cNvSpPr txBox="1"/>
          <p:nvPr/>
        </p:nvSpPr>
        <p:spPr>
          <a:xfrm>
            <a:off x="3581400" y="2227906"/>
            <a:ext cx="5416868" cy="44935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ComputeSpotLight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	Material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mat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SpotLight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SptLight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posms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normal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toEye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out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ambient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out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diffuse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out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spec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	)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  ambient 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fr-FR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(0, 0, 0, 0);</a:t>
            </a:r>
          </a:p>
          <a:p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  diffuse 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fr-FR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(0, 0, 0, 0);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spec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0, 0, 0);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****** Same calculations as Point Light  ****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float3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litPosMS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SptLight.Position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WorldInv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).xyz;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float3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L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litPosMS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-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posms.xyz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&lt;…&gt;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*****************************************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now we compute the spotlight factor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msLitDir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SptLight.Direction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msLitDir.w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0;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making sure we have a vector and not a point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msLitDir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normalize(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msLitDir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WorldInv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spot = pow(max(dot(-L,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msLitDir.xyz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), 0),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SptLight.SpotExp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ambient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*= spot;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diffuse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*= spot;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spec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*= spot;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24700" y="3751906"/>
            <a:ext cx="2095500" cy="340519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1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Warning: </a:t>
            </a:r>
            <a:r>
              <a:rPr lang="en-US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scaling evils</a:t>
            </a:r>
            <a:endParaRPr lang="en-US" sz="1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81600" y="6037659"/>
            <a:ext cx="3371661" cy="340519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1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Warning: </a:t>
            </a:r>
            <a:r>
              <a:rPr lang="en-US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The book is confusing here…</a:t>
            </a:r>
            <a:endParaRPr lang="en-US" sz="1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8200" y="4648200"/>
            <a:ext cx="2541524" cy="715089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1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Again:</a:t>
            </a:r>
            <a:r>
              <a:rPr lang="en-US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Play around with the various parameters to get a sense of their contributions</a:t>
            </a:r>
            <a:endParaRPr lang="en-US" sz="1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25914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6" grpId="0" animBg="1"/>
      <p:bldP spid="8" grpId="0" animBg="1"/>
      <p:bldP spid="7" grpId="0" animBg="1"/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ShaderColorLight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Pixel </a:t>
            </a:r>
            <a:r>
              <a:rPr lang="en-US" dirty="0" err="1"/>
              <a:t>Shader</a:t>
            </a:r>
            <a:r>
              <a:rPr lang="en-US" dirty="0"/>
              <a:t> </a:t>
            </a:r>
            <a:r>
              <a:rPr lang="en-US" dirty="0" smtClean="0"/>
              <a:t>(in full)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The pixel </a:t>
            </a:r>
            <a:r>
              <a:rPr lang="en-US" sz="2000" dirty="0" err="1" smtClean="0"/>
              <a:t>shader</a:t>
            </a:r>
            <a:r>
              <a:rPr lang="en-US" sz="2000" dirty="0" smtClean="0"/>
              <a:t> is simply adding the ADS contributions of each light source.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33400" y="1659802"/>
            <a:ext cx="7186583" cy="50013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PS( VS_OUTPUT input ) :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SV_Target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msEyePos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mul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EyePosWorld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WorldInv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msToEye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normalize(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msEyePos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-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input.PosMS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ambient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0, 0, 0); 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diffuse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0, 0, 0);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spec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float4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(0, 0, 0, 0);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A, D, S;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ComputeDirectionalLight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(Mater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DirLight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normalize(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input.Norm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msToEye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A, D, S);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ambient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+= A;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diffuse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+= D;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spec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+= S;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ComputePointLight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(Mater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PntLight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input.PosMS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normalize(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input.Norm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msToEye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A, D, S);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ambient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+= A;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diffuse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+= D;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spec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+= S;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ComputeSpotLight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(Mater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SpLight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input.PosMS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normalize(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input.Norm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msToEye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A, D, S);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ambient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+= A;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diffuse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+= D;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spec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+= S;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fr-FR" sz="1100" dirty="0" smtClean="0">
                <a:solidFill>
                  <a:srgbClr val="0000FF"/>
                </a:solidFill>
                <a:latin typeface="Consolas"/>
              </a:rPr>
              <a:t>  float4</a:t>
            </a:r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 err="1">
                <a:solidFill>
                  <a:srgbClr val="000000"/>
                </a:solidFill>
                <a:latin typeface="Consolas"/>
              </a:rPr>
              <a:t>litColor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= ambient + diffuse + </a:t>
            </a:r>
            <a:r>
              <a:rPr lang="fr-FR" sz="1100" dirty="0" err="1">
                <a:solidFill>
                  <a:srgbClr val="000000"/>
                </a:solidFill>
                <a:latin typeface="Consolas"/>
              </a:rPr>
              <a:t>spec</a:t>
            </a:r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fr-FR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litColor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438400"/>
            <a:ext cx="4495800" cy="91940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spcBef>
                <a:spcPts val="600"/>
              </a:spcBef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This would work even with multiple light sources of the same type: we simply compute their individual ADS contributions and add it all up </a:t>
            </a:r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24400" y="5638800"/>
            <a:ext cx="4114800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What about texture with light?</a:t>
            </a:r>
          </a:p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Simply multiply the texture color by </a:t>
            </a:r>
            <a:r>
              <a:rPr lang="en-US" sz="16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LitColor</a:t>
            </a:r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00828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animBg="1"/>
      <p:bldP spid="7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3:</a:t>
            </a:r>
          </a:p>
          <a:p>
            <a:r>
              <a:rPr lang="en-US" dirty="0" smtClean="0"/>
              <a:t>Odds and Ends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96167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Comments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u="sng" dirty="0" err="1"/>
              <a:t>Gouraud</a:t>
            </a:r>
            <a:r>
              <a:rPr lang="en-US" sz="2000" u="sng" dirty="0"/>
              <a:t> Shading</a:t>
            </a:r>
            <a:r>
              <a:rPr lang="en-US" sz="2000" dirty="0"/>
              <a:t> (per-vertex)</a:t>
            </a:r>
          </a:p>
          <a:p>
            <a:pPr marL="625475" lvl="1" indent="-188913"/>
            <a:r>
              <a:rPr lang="en-US" sz="1800" dirty="0"/>
              <a:t>We’ve applied the </a:t>
            </a:r>
            <a:r>
              <a:rPr lang="en-US" sz="1800" dirty="0" err="1"/>
              <a:t>Phong</a:t>
            </a:r>
            <a:r>
              <a:rPr lang="en-US" sz="1800" dirty="0"/>
              <a:t> model at each pixel.</a:t>
            </a:r>
          </a:p>
          <a:p>
            <a:pPr marL="625475" lvl="1" indent="-188913"/>
            <a:r>
              <a:rPr lang="en-US" sz="1800" dirty="0"/>
              <a:t>A cheaper </a:t>
            </a:r>
            <a:r>
              <a:rPr lang="en-US" sz="1800" dirty="0" smtClean="0"/>
              <a:t>alternative is to apply </a:t>
            </a:r>
            <a:r>
              <a:rPr lang="en-US" sz="1800" dirty="0" err="1" smtClean="0"/>
              <a:t>Phong</a:t>
            </a:r>
            <a:r>
              <a:rPr lang="en-US" sz="1800" dirty="0" smtClean="0"/>
              <a:t> at each </a:t>
            </a:r>
            <a:r>
              <a:rPr lang="en-US" sz="1800" i="1" dirty="0" smtClean="0"/>
              <a:t>vertex</a:t>
            </a:r>
            <a:r>
              <a:rPr lang="en-US" sz="1800" dirty="0" smtClean="0"/>
              <a:t> and simply let the color on the face be interpolated by the rasterizer stage </a:t>
            </a:r>
            <a:r>
              <a:rPr lang="en-US" sz="1800" dirty="0"/>
              <a:t>(</a:t>
            </a:r>
            <a:r>
              <a:rPr lang="en-US" sz="1800" dirty="0" err="1">
                <a:hlinkClick r:id="rId2"/>
              </a:rPr>
              <a:t>Gouraud</a:t>
            </a:r>
            <a:r>
              <a:rPr lang="en-US" sz="1800" dirty="0">
                <a:hlinkClick r:id="rId2"/>
              </a:rPr>
              <a:t> Shading</a:t>
            </a:r>
            <a:r>
              <a:rPr lang="en-US" sz="1800" dirty="0"/>
              <a:t>) </a:t>
            </a:r>
            <a:endParaRPr lang="en-US" sz="1800" dirty="0" smtClean="0"/>
          </a:p>
          <a:p>
            <a:pPr marL="625475" lvl="1" indent="-188913"/>
            <a:endParaRPr lang="en-US" sz="1800" dirty="0"/>
          </a:p>
          <a:p>
            <a:pPr marL="625475" lvl="1" indent="-188913"/>
            <a:endParaRPr lang="en-US" sz="1800" dirty="0" smtClean="0"/>
          </a:p>
          <a:p>
            <a:pPr marL="625475" lvl="1" indent="-188913"/>
            <a:endParaRPr lang="en-US" sz="1800" dirty="0"/>
          </a:p>
          <a:p>
            <a:pPr marL="625475" lvl="1" indent="-188913"/>
            <a:endParaRPr lang="en-US" sz="1800" dirty="0" smtClean="0"/>
          </a:p>
          <a:p>
            <a:pPr marL="625475" lvl="1" indent="-188913"/>
            <a:endParaRPr lang="en-US" sz="1800" dirty="0"/>
          </a:p>
          <a:p>
            <a:pPr marL="625475" lvl="1" indent="-188913"/>
            <a:endParaRPr lang="en-US" sz="1800" dirty="0" smtClean="0"/>
          </a:p>
          <a:p>
            <a:pPr marL="436562" lvl="1" indent="0">
              <a:buNone/>
            </a:pPr>
            <a:r>
              <a:rPr lang="en-US" sz="1800" b="1" dirty="0" smtClean="0"/>
              <a:t>Pro: </a:t>
            </a:r>
            <a:r>
              <a:rPr lang="en-US" sz="1800" dirty="0" smtClean="0"/>
              <a:t>much faster! Preferred for underpowered systems (or old-school games)</a:t>
            </a:r>
          </a:p>
          <a:p>
            <a:pPr marL="436562" lvl="1" indent="0">
              <a:buNone/>
            </a:pPr>
            <a:r>
              <a:rPr lang="en-US" sz="1800" b="1" dirty="0" smtClean="0"/>
              <a:t>Con: </a:t>
            </a:r>
            <a:r>
              <a:rPr lang="en-US" sz="1800" dirty="0" smtClean="0"/>
              <a:t>Lots of visual artefact with the faces, particularly with specular highlights</a:t>
            </a:r>
            <a:endParaRPr lang="en-US" sz="1800" dirty="0"/>
          </a:p>
        </p:txBody>
      </p:sp>
      <p:pic>
        <p:nvPicPr>
          <p:cNvPr id="7170" name="Picture 2" descr="https://upload.wikimedia.org/wikipedia/commons/thumb/a/af/Gouraud_low_anim.gif/180px-Gouraud_low_anim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2642857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642857"/>
            <a:ext cx="3302584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3026054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Comments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u="sng" dirty="0" smtClean="0"/>
              <a:t>HLSL swizzles</a:t>
            </a:r>
            <a:r>
              <a:rPr lang="en-US" sz="2000" dirty="0"/>
              <a:t> (Book </a:t>
            </a:r>
            <a:r>
              <a:rPr lang="en-US" sz="2000" dirty="0" smtClean="0"/>
              <a:t>App B, </a:t>
            </a:r>
            <a:r>
              <a:rPr lang="en-US" sz="2000" dirty="0"/>
              <a:t>p </a:t>
            </a:r>
            <a:r>
              <a:rPr lang="en-US" sz="2000" dirty="0" smtClean="0"/>
              <a:t>814, also </a:t>
            </a:r>
            <a:r>
              <a:rPr lang="en-US" sz="2000" dirty="0" smtClean="0">
                <a:hlinkClick r:id="rId2"/>
              </a:rPr>
              <a:t>swizzle</a:t>
            </a:r>
            <a:r>
              <a:rPr lang="en-US" sz="2000" dirty="0" smtClean="0"/>
              <a:t>): </a:t>
            </a:r>
          </a:p>
          <a:p>
            <a:pPr marL="457200" lvl="1" indent="0">
              <a:buNone/>
            </a:pPr>
            <a:r>
              <a:rPr lang="en-US" sz="1800" dirty="0" smtClean="0"/>
              <a:t>Look it up!</a:t>
            </a:r>
          </a:p>
          <a:p>
            <a:pPr marL="457200" lvl="1" indent="0">
              <a:buNone/>
            </a:pPr>
            <a:endParaRPr lang="en-US" sz="800" u="sng" dirty="0" smtClean="0"/>
          </a:p>
          <a:p>
            <a:pPr marL="0" indent="0">
              <a:buNone/>
            </a:pPr>
            <a:r>
              <a:rPr lang="en-US" sz="2000" u="sng" dirty="0" smtClean="0"/>
              <a:t>Structure packing</a:t>
            </a:r>
            <a:r>
              <a:rPr lang="en-US" sz="2000" dirty="0" smtClean="0"/>
              <a:t> (Book 7.12.2, p 293):</a:t>
            </a:r>
          </a:p>
          <a:p>
            <a:pPr marL="625475" lvl="1" indent="-168275"/>
            <a:r>
              <a:rPr lang="en-US" sz="1800" dirty="0" smtClean="0"/>
              <a:t>We have been cavalier with how we pass data to the GPU: Using </a:t>
            </a:r>
            <a:r>
              <a:rPr lang="en-US" sz="1800" dirty="0" err="1" smtClean="0"/>
              <a:t>Vect</a:t>
            </a:r>
            <a:r>
              <a:rPr lang="en-US" sz="1800" dirty="0" smtClean="0"/>
              <a:t>/float4 to store only 3 floats is wasteful</a:t>
            </a:r>
          </a:p>
          <a:p>
            <a:pPr marL="625475" lvl="1" indent="-168275"/>
            <a:r>
              <a:rPr lang="en-US" sz="1800" dirty="0" smtClean="0"/>
              <a:t>With some additional data manipulation, we could easily compress the number of bytes sent, which would save GPU memory and improve performance</a:t>
            </a:r>
          </a:p>
          <a:p>
            <a:pPr marL="625475" lvl="1" indent="-168275"/>
            <a:r>
              <a:rPr lang="en-US" sz="1800" dirty="0" smtClean="0"/>
              <a:t>Also be aware of the 16-byte alignment issues, which may require you to pad your structure</a:t>
            </a:r>
          </a:p>
          <a:p>
            <a:pPr marL="625475" lvl="1" indent="-168275"/>
            <a:r>
              <a:rPr lang="en-US" sz="1800" b="1" dirty="0" smtClean="0"/>
              <a:t>NOTE: I am not requiring you to do this for this class. (But you should!)</a:t>
            </a:r>
          </a:p>
          <a:p>
            <a:pPr marL="625475" lvl="1" indent="-168275"/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40479340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28075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Custom 1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0070C0"/>
      </a:hlink>
      <a:folHlink>
        <a:srgbClr val="638BAD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38647</TotalTime>
  <Words>3465</Words>
  <Application>Microsoft Office PowerPoint</Application>
  <PresentationFormat>On-screen Show (4:3)</PresentationFormat>
  <Paragraphs>731</Paragraphs>
  <Slides>36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Origin</vt:lpstr>
      <vt:lpstr>GAM 370/470:  Rendering and Graphics Programming</vt:lpstr>
      <vt:lpstr>PowerPoint Presentation</vt:lpstr>
      <vt:lpstr>Illumination Models</vt:lpstr>
      <vt:lpstr>Phong Illumination Model</vt:lpstr>
      <vt:lpstr>Phong Illumination Model: Basics concepts</vt:lpstr>
      <vt:lpstr>Phong: Ambient Light Component</vt:lpstr>
      <vt:lpstr>Diffuse Lighting and Lambert’s Cosine Law</vt:lpstr>
      <vt:lpstr>Phong: Diffuse Light Component</vt:lpstr>
      <vt:lpstr>Phong: Ambient and Diffuse Light</vt:lpstr>
      <vt:lpstr>Phong: Ambient and Diffuse Light</vt:lpstr>
      <vt:lpstr>Specular Reflections</vt:lpstr>
      <vt:lpstr>Highlights</vt:lpstr>
      <vt:lpstr>Phong: Specular Light Component</vt:lpstr>
      <vt:lpstr>Phong: Specular Light Component</vt:lpstr>
      <vt:lpstr>Phong Illumination Model: Putting it all together</vt:lpstr>
      <vt:lpstr>PowerPoint Presentation</vt:lpstr>
      <vt:lpstr>Using the Phong Model: ShaderColorLight</vt:lpstr>
      <vt:lpstr>Using the Phong Model</vt:lpstr>
      <vt:lpstr>Models and Normals </vt:lpstr>
      <vt:lpstr>Light Types</vt:lpstr>
      <vt:lpstr>Spotlight Fall-Off</vt:lpstr>
      <vt:lpstr>Light Source Attenuation and Range</vt:lpstr>
      <vt:lpstr>Back to Light Types in Shader</vt:lpstr>
      <vt:lpstr>Shader Constants</vt:lpstr>
      <vt:lpstr>Using ShaderColorLight: Directional Light</vt:lpstr>
      <vt:lpstr>Using ShaderColorLight: Vertex Shader</vt:lpstr>
      <vt:lpstr>Using ShaderColorLight: Pixel Shader (Directional Light)</vt:lpstr>
      <vt:lpstr>Using ShaderColorLight: Point Light</vt:lpstr>
      <vt:lpstr>Using ShaderColorLight: Pixel Shader (Point Light)</vt:lpstr>
      <vt:lpstr>Using ShaderColorLight: SpotLight</vt:lpstr>
      <vt:lpstr>Using ShaderColorLight: Pixel Shader (SpotLight)</vt:lpstr>
      <vt:lpstr>ShaderColorLight: Pixel Shader (in full)</vt:lpstr>
      <vt:lpstr>PowerPoint Presentation</vt:lpstr>
      <vt:lpstr>General Comments</vt:lpstr>
      <vt:lpstr>General Comments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</dc:creator>
  <cp:lastModifiedBy>andre</cp:lastModifiedBy>
  <cp:revision>1753</cp:revision>
  <dcterms:created xsi:type="dcterms:W3CDTF">2013-03-17T23:02:21Z</dcterms:created>
  <dcterms:modified xsi:type="dcterms:W3CDTF">2018-02-16T16:36:41Z</dcterms:modified>
</cp:coreProperties>
</file>