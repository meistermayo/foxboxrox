
<file path=[Content_Types].xml><?xml version="1.0" encoding="utf-8"?>
<Types xmlns="http://schemas.openxmlformats.org/package/2006/content-types">
  <Default Extension="xml" ContentType="application/xml"/>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62" r:id="rId2"/>
  </p:sldMasterIdLst>
  <p:notesMasterIdLst>
    <p:notesMasterId r:id="rId143"/>
  </p:notesMasterIdLst>
  <p:handoutMasterIdLst>
    <p:handoutMasterId r:id="rId144"/>
  </p:handoutMasterIdLst>
  <p:sldIdLst>
    <p:sldId id="542" r:id="rId3"/>
    <p:sldId id="1085" r:id="rId4"/>
    <p:sldId id="1376" r:id="rId5"/>
    <p:sldId id="1377" r:id="rId6"/>
    <p:sldId id="1378" r:id="rId7"/>
    <p:sldId id="1379" r:id="rId8"/>
    <p:sldId id="1380" r:id="rId9"/>
    <p:sldId id="1381" r:id="rId10"/>
    <p:sldId id="1382" r:id="rId11"/>
    <p:sldId id="1383" r:id="rId12"/>
    <p:sldId id="1384" r:id="rId13"/>
    <p:sldId id="1385" r:id="rId14"/>
    <p:sldId id="1386" r:id="rId15"/>
    <p:sldId id="1387" r:id="rId16"/>
    <p:sldId id="1388" r:id="rId17"/>
    <p:sldId id="1389" r:id="rId18"/>
    <p:sldId id="1390" r:id="rId19"/>
    <p:sldId id="1391" r:id="rId20"/>
    <p:sldId id="1392" r:id="rId21"/>
    <p:sldId id="1393" r:id="rId22"/>
    <p:sldId id="1394" r:id="rId23"/>
    <p:sldId id="1395" r:id="rId24"/>
    <p:sldId id="1396" r:id="rId25"/>
    <p:sldId id="1397" r:id="rId26"/>
    <p:sldId id="1398" r:id="rId27"/>
    <p:sldId id="1399" r:id="rId28"/>
    <p:sldId id="1400" r:id="rId29"/>
    <p:sldId id="1401" r:id="rId30"/>
    <p:sldId id="1403" r:id="rId31"/>
    <p:sldId id="1404" r:id="rId32"/>
    <p:sldId id="1405" r:id="rId33"/>
    <p:sldId id="1406" r:id="rId34"/>
    <p:sldId id="1407" r:id="rId35"/>
    <p:sldId id="1408" r:id="rId36"/>
    <p:sldId id="1409" r:id="rId37"/>
    <p:sldId id="1410" r:id="rId38"/>
    <p:sldId id="1411" r:id="rId39"/>
    <p:sldId id="1412" r:id="rId40"/>
    <p:sldId id="1413" r:id="rId41"/>
    <p:sldId id="1414" r:id="rId42"/>
    <p:sldId id="1415" r:id="rId43"/>
    <p:sldId id="1416" r:id="rId44"/>
    <p:sldId id="1417" r:id="rId45"/>
    <p:sldId id="1418" r:id="rId46"/>
    <p:sldId id="1433" r:id="rId47"/>
    <p:sldId id="1420" r:id="rId48"/>
    <p:sldId id="1421" r:id="rId49"/>
    <p:sldId id="1422" r:id="rId50"/>
    <p:sldId id="1423" r:id="rId51"/>
    <p:sldId id="1424" r:id="rId52"/>
    <p:sldId id="1425" r:id="rId53"/>
    <p:sldId id="1426" r:id="rId54"/>
    <p:sldId id="1427" r:id="rId55"/>
    <p:sldId id="1428" r:id="rId56"/>
    <p:sldId id="1429" r:id="rId57"/>
    <p:sldId id="1430" r:id="rId58"/>
    <p:sldId id="1431" r:id="rId59"/>
    <p:sldId id="1432" r:id="rId60"/>
    <p:sldId id="1329" r:id="rId61"/>
    <p:sldId id="1374" r:id="rId62"/>
    <p:sldId id="1436" r:id="rId63"/>
    <p:sldId id="1437" r:id="rId64"/>
    <p:sldId id="1438" r:id="rId65"/>
    <p:sldId id="1496" r:id="rId66"/>
    <p:sldId id="1440" r:id="rId67"/>
    <p:sldId id="1441" r:id="rId68"/>
    <p:sldId id="1442" r:id="rId69"/>
    <p:sldId id="1443" r:id="rId70"/>
    <p:sldId id="1444" r:id="rId71"/>
    <p:sldId id="1445" r:id="rId72"/>
    <p:sldId id="1446" r:id="rId73"/>
    <p:sldId id="1448" r:id="rId74"/>
    <p:sldId id="1449" r:id="rId75"/>
    <p:sldId id="1497" r:id="rId76"/>
    <p:sldId id="1451" r:id="rId77"/>
    <p:sldId id="1452" r:id="rId78"/>
    <p:sldId id="1453" r:id="rId79"/>
    <p:sldId id="1454" r:id="rId80"/>
    <p:sldId id="1455" r:id="rId81"/>
    <p:sldId id="1456" r:id="rId82"/>
    <p:sldId id="1457" r:id="rId83"/>
    <p:sldId id="1458" r:id="rId84"/>
    <p:sldId id="1459" r:id="rId85"/>
    <p:sldId id="1460" r:id="rId86"/>
    <p:sldId id="1461" r:id="rId87"/>
    <p:sldId id="1498" r:id="rId88"/>
    <p:sldId id="1463" r:id="rId89"/>
    <p:sldId id="1464" r:id="rId90"/>
    <p:sldId id="1465" r:id="rId91"/>
    <p:sldId id="1466" r:id="rId92"/>
    <p:sldId id="1467" r:id="rId93"/>
    <p:sldId id="1468" r:id="rId94"/>
    <p:sldId id="1469" r:id="rId95"/>
    <p:sldId id="1470" r:id="rId96"/>
    <p:sldId id="1471" r:id="rId97"/>
    <p:sldId id="1475" r:id="rId98"/>
    <p:sldId id="1476" r:id="rId99"/>
    <p:sldId id="1477" r:id="rId100"/>
    <p:sldId id="1478" r:id="rId101"/>
    <p:sldId id="1479" r:id="rId102"/>
    <p:sldId id="1480" r:id="rId103"/>
    <p:sldId id="1482" r:id="rId104"/>
    <p:sldId id="1483" r:id="rId105"/>
    <p:sldId id="1484" r:id="rId106"/>
    <p:sldId id="1485" r:id="rId107"/>
    <p:sldId id="1486" r:id="rId108"/>
    <p:sldId id="1487" r:id="rId109"/>
    <p:sldId id="1488" r:id="rId110"/>
    <p:sldId id="1489" r:id="rId111"/>
    <p:sldId id="1490" r:id="rId112"/>
    <p:sldId id="1491" r:id="rId113"/>
    <p:sldId id="1492" r:id="rId114"/>
    <p:sldId id="1493" r:id="rId115"/>
    <p:sldId id="1494" r:id="rId116"/>
    <p:sldId id="1495" r:id="rId117"/>
    <p:sldId id="1363" r:id="rId118"/>
    <p:sldId id="1364" r:id="rId119"/>
    <p:sldId id="1365" r:id="rId120"/>
    <p:sldId id="1366" r:id="rId121"/>
    <p:sldId id="1367" r:id="rId122"/>
    <p:sldId id="1368" r:id="rId123"/>
    <p:sldId id="1369" r:id="rId124"/>
    <p:sldId id="1370" r:id="rId125"/>
    <p:sldId id="1371" r:id="rId126"/>
    <p:sldId id="1372" r:id="rId127"/>
    <p:sldId id="1373" r:id="rId128"/>
    <p:sldId id="1504" r:id="rId129"/>
    <p:sldId id="1245" r:id="rId130"/>
    <p:sldId id="1361" r:id="rId131"/>
    <p:sldId id="1354" r:id="rId132"/>
    <p:sldId id="1355" r:id="rId133"/>
    <p:sldId id="1356" r:id="rId134"/>
    <p:sldId id="1357" r:id="rId135"/>
    <p:sldId id="1358" r:id="rId136"/>
    <p:sldId id="1359" r:id="rId137"/>
    <p:sldId id="1360" r:id="rId138"/>
    <p:sldId id="1503" r:id="rId139"/>
    <p:sldId id="1500" r:id="rId140"/>
    <p:sldId id="1501" r:id="rId141"/>
    <p:sldId id="1502" r:id="rId142"/>
  </p:sldIdLst>
  <p:sldSz cx="9144000" cy="6858000" type="screen4x3"/>
  <p:notesSz cx="7302500" cy="9586913"/>
  <p:custDataLst>
    <p:tags r:id="rId146"/>
  </p:custDataLst>
  <p:defaultTextStyle>
    <a:defPPr>
      <a:defRPr lang="en-US"/>
    </a:defPPr>
    <a:lvl1pPr algn="l" rtl="0" eaLnBrk="0" fontAlgn="base" hangingPunct="0">
      <a:spcBef>
        <a:spcPct val="0"/>
      </a:spcBef>
      <a:spcAft>
        <a:spcPct val="0"/>
      </a:spcAft>
      <a:defRPr sz="2400" b="1"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Narrow" pitchFamily="34" charset="0"/>
        <a:ea typeface="+mn-ea"/>
        <a:cs typeface="+mn-cs"/>
      </a:defRPr>
    </a:lvl5pPr>
    <a:lvl6pPr marL="2286000" algn="l" defTabSz="914400" rtl="0" eaLnBrk="1" latinLnBrk="0" hangingPunct="1">
      <a:defRPr sz="2400" b="1" kern="1200">
        <a:solidFill>
          <a:schemeClr val="tx1"/>
        </a:solidFill>
        <a:latin typeface="Arial Narrow" pitchFamily="34" charset="0"/>
        <a:ea typeface="+mn-ea"/>
        <a:cs typeface="+mn-cs"/>
      </a:defRPr>
    </a:lvl6pPr>
    <a:lvl7pPr marL="2743200" algn="l" defTabSz="914400" rtl="0" eaLnBrk="1" latinLnBrk="0" hangingPunct="1">
      <a:defRPr sz="2400" b="1" kern="1200">
        <a:solidFill>
          <a:schemeClr val="tx1"/>
        </a:solidFill>
        <a:latin typeface="Arial Narrow" pitchFamily="34" charset="0"/>
        <a:ea typeface="+mn-ea"/>
        <a:cs typeface="+mn-cs"/>
      </a:defRPr>
    </a:lvl7pPr>
    <a:lvl8pPr marL="3200400" algn="l" defTabSz="914400" rtl="0" eaLnBrk="1" latinLnBrk="0" hangingPunct="1">
      <a:defRPr sz="2400" b="1" kern="1200">
        <a:solidFill>
          <a:schemeClr val="tx1"/>
        </a:solidFill>
        <a:latin typeface="Arial Narrow" pitchFamily="34" charset="0"/>
        <a:ea typeface="+mn-ea"/>
        <a:cs typeface="+mn-cs"/>
      </a:defRPr>
    </a:lvl8pPr>
    <a:lvl9pPr marL="3657600" algn="l" defTabSz="914400" rtl="0" eaLnBrk="1" latinLnBrk="0" hangingPunct="1">
      <a:defRPr sz="2400" b="1" kern="1200">
        <a:solidFill>
          <a:schemeClr val="tx1"/>
        </a:solidFill>
        <a:latin typeface="Arial Narrow" pitchFamily="34" charset="0"/>
        <a:ea typeface="+mn-ea"/>
        <a:cs typeface="+mn-cs"/>
      </a:defRPr>
    </a:lvl9pPr>
  </p:defaultTextStyle>
  <p:extLst>
    <p:ext uri="{EFAFB233-063F-42B5-8137-9DF3F51BA10A}">
      <p15:sldGuideLst xmlns:p15="http://schemas.microsoft.com/office/powerpoint/2012/main" xmlns="">
        <p15:guide id="1" orient="horz" pos="1728">
          <p15:clr>
            <a:srgbClr val="A4A3A4"/>
          </p15:clr>
        </p15:guide>
        <p15:guide id="2" pos="2880">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DFF5"/>
    <a:srgbClr val="E0E0E0"/>
    <a:srgbClr val="FFFFFF"/>
    <a:srgbClr val="FCFCFC"/>
    <a:srgbClr val="DF9F98"/>
    <a:srgbClr val="D6CDEE"/>
    <a:srgbClr val="F7F5CD"/>
    <a:srgbClr val="FFABAA"/>
    <a:srgbClr val="000000"/>
    <a:srgbClr val="B2E6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1" autoAdjust="0"/>
    <p:restoredTop sz="94649" autoAdjust="0"/>
  </p:normalViewPr>
  <p:slideViewPr>
    <p:cSldViewPr snapToGrid="0" snapToObjects="1">
      <p:cViewPr varScale="1">
        <p:scale>
          <a:sx n="88" d="100"/>
          <a:sy n="88" d="100"/>
        </p:scale>
        <p:origin x="-1520" y="-112"/>
      </p:cViewPr>
      <p:guideLst>
        <p:guide orient="horz" pos="1728"/>
        <p:guide pos="2880"/>
      </p:guideLst>
    </p:cSldViewPr>
  </p:slideViewPr>
  <p:notesTextViewPr>
    <p:cViewPr>
      <p:scale>
        <a:sx n="100" d="100"/>
        <a:sy n="100" d="100"/>
      </p:scale>
      <p:origin x="0" y="0"/>
    </p:cViewPr>
  </p:notesTextViewPr>
  <p:sorterViewPr>
    <p:cViewPr>
      <p:scale>
        <a:sx n="110" d="100"/>
        <a:sy n="110" d="100"/>
      </p:scale>
      <p:origin x="0" y="-15585"/>
    </p:cViewPr>
  </p:sorterViewPr>
  <p:notesViewPr>
    <p:cSldViewPr snapToObjects="1">
      <p:cViewPr varScale="1">
        <p:scale>
          <a:sx n="64" d="100"/>
          <a:sy n="64" d="100"/>
        </p:scale>
        <p:origin x="-3384" y="-128"/>
      </p:cViewPr>
      <p:guideLst>
        <p:guide orient="horz" pos="3019"/>
        <p:guide pos="2300"/>
      </p:guideLst>
    </p:cSldViewPr>
  </p:notesViewPr>
  <p:gridSpacing cx="76200" cy="76200"/>
</p:viewPr>
</file>

<file path=ppt/_rels/presentation.xml.rels><?xml version="1.0" encoding="UTF-8" standalone="yes"?>
<Relationships xmlns="http://schemas.openxmlformats.org/package/2006/relationships"><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120" Type="http://schemas.openxmlformats.org/officeDocument/2006/relationships/slide" Target="slides/slide118.xml"/><Relationship Id="rId121" Type="http://schemas.openxmlformats.org/officeDocument/2006/relationships/slide" Target="slides/slide119.xml"/><Relationship Id="rId122" Type="http://schemas.openxmlformats.org/officeDocument/2006/relationships/slide" Target="slides/slide120.xml"/><Relationship Id="rId123" Type="http://schemas.openxmlformats.org/officeDocument/2006/relationships/slide" Target="slides/slide121.xml"/><Relationship Id="rId124" Type="http://schemas.openxmlformats.org/officeDocument/2006/relationships/slide" Target="slides/slide122.xml"/><Relationship Id="rId125" Type="http://schemas.openxmlformats.org/officeDocument/2006/relationships/slide" Target="slides/slide123.xml"/><Relationship Id="rId126" Type="http://schemas.openxmlformats.org/officeDocument/2006/relationships/slide" Target="slides/slide124.xml"/><Relationship Id="rId127" Type="http://schemas.openxmlformats.org/officeDocument/2006/relationships/slide" Target="slides/slide125.xml"/><Relationship Id="rId128" Type="http://schemas.openxmlformats.org/officeDocument/2006/relationships/slide" Target="slides/slide126.xml"/><Relationship Id="rId129" Type="http://schemas.openxmlformats.org/officeDocument/2006/relationships/slide" Target="slides/slide12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90" Type="http://schemas.openxmlformats.org/officeDocument/2006/relationships/slide" Target="slides/slide88.xml"/><Relationship Id="rId91" Type="http://schemas.openxmlformats.org/officeDocument/2006/relationships/slide" Target="slides/slide89.xml"/><Relationship Id="rId92" Type="http://schemas.openxmlformats.org/officeDocument/2006/relationships/slide" Target="slides/slide90.xml"/><Relationship Id="rId93" Type="http://schemas.openxmlformats.org/officeDocument/2006/relationships/slide" Target="slides/slide91.xml"/><Relationship Id="rId94" Type="http://schemas.openxmlformats.org/officeDocument/2006/relationships/slide" Target="slides/slide92.xml"/><Relationship Id="rId95" Type="http://schemas.openxmlformats.org/officeDocument/2006/relationships/slide" Target="slides/slide93.xml"/><Relationship Id="rId96" Type="http://schemas.openxmlformats.org/officeDocument/2006/relationships/slide" Target="slides/slide94.xml"/><Relationship Id="rId101" Type="http://schemas.openxmlformats.org/officeDocument/2006/relationships/slide" Target="slides/slide99.xml"/><Relationship Id="rId102" Type="http://schemas.openxmlformats.org/officeDocument/2006/relationships/slide" Target="slides/slide100.xml"/><Relationship Id="rId103" Type="http://schemas.openxmlformats.org/officeDocument/2006/relationships/slide" Target="slides/slide101.xml"/><Relationship Id="rId104" Type="http://schemas.openxmlformats.org/officeDocument/2006/relationships/slide" Target="slides/slide102.xml"/><Relationship Id="rId105" Type="http://schemas.openxmlformats.org/officeDocument/2006/relationships/slide" Target="slides/slide103.xml"/><Relationship Id="rId106" Type="http://schemas.openxmlformats.org/officeDocument/2006/relationships/slide" Target="slides/slide104.xml"/><Relationship Id="rId107" Type="http://schemas.openxmlformats.org/officeDocument/2006/relationships/slide" Target="slides/slide105.xml"/><Relationship Id="rId108" Type="http://schemas.openxmlformats.org/officeDocument/2006/relationships/slide" Target="slides/slide106.xml"/><Relationship Id="rId109" Type="http://schemas.openxmlformats.org/officeDocument/2006/relationships/slide" Target="slides/slide107.xml"/><Relationship Id="rId97" Type="http://schemas.openxmlformats.org/officeDocument/2006/relationships/slide" Target="slides/slide95.xml"/><Relationship Id="rId98" Type="http://schemas.openxmlformats.org/officeDocument/2006/relationships/slide" Target="slides/slide96.xml"/><Relationship Id="rId99" Type="http://schemas.openxmlformats.org/officeDocument/2006/relationships/slide" Target="slides/slide97.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100" Type="http://schemas.openxmlformats.org/officeDocument/2006/relationships/slide" Target="slides/slide98.xml"/><Relationship Id="rId150" Type="http://schemas.openxmlformats.org/officeDocument/2006/relationships/tableStyles" Target="tableStyles.xml"/><Relationship Id="rId151" Type="http://schemas.microsoft.com/office/2015/10/relationships/revisionInfo" Target="revisionInfo.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130" Type="http://schemas.openxmlformats.org/officeDocument/2006/relationships/slide" Target="slides/slide128.xml"/><Relationship Id="rId131" Type="http://schemas.openxmlformats.org/officeDocument/2006/relationships/slide" Target="slides/slide129.xml"/><Relationship Id="rId132" Type="http://schemas.openxmlformats.org/officeDocument/2006/relationships/slide" Target="slides/slide130.xml"/><Relationship Id="rId133" Type="http://schemas.openxmlformats.org/officeDocument/2006/relationships/slide" Target="slides/slide131.xml"/><Relationship Id="rId134" Type="http://schemas.openxmlformats.org/officeDocument/2006/relationships/slide" Target="slides/slide132.xml"/><Relationship Id="rId135" Type="http://schemas.openxmlformats.org/officeDocument/2006/relationships/slide" Target="slides/slide133.xml"/><Relationship Id="rId136" Type="http://schemas.openxmlformats.org/officeDocument/2006/relationships/slide" Target="slides/slide134.xml"/><Relationship Id="rId137" Type="http://schemas.openxmlformats.org/officeDocument/2006/relationships/slide" Target="slides/slide135.xml"/><Relationship Id="rId138" Type="http://schemas.openxmlformats.org/officeDocument/2006/relationships/slide" Target="slides/slide136.xml"/><Relationship Id="rId139" Type="http://schemas.openxmlformats.org/officeDocument/2006/relationships/slide" Target="slides/slide13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110" Type="http://schemas.openxmlformats.org/officeDocument/2006/relationships/slide" Target="slides/slide108.xml"/><Relationship Id="rId111" Type="http://schemas.openxmlformats.org/officeDocument/2006/relationships/slide" Target="slides/slide109.xml"/><Relationship Id="rId112" Type="http://schemas.openxmlformats.org/officeDocument/2006/relationships/slide" Target="slides/slide110.xml"/><Relationship Id="rId113" Type="http://schemas.openxmlformats.org/officeDocument/2006/relationships/slide" Target="slides/slide111.xml"/><Relationship Id="rId114" Type="http://schemas.openxmlformats.org/officeDocument/2006/relationships/slide" Target="slides/slide112.xml"/><Relationship Id="rId115" Type="http://schemas.openxmlformats.org/officeDocument/2006/relationships/slide" Target="slides/slide113.xml"/><Relationship Id="rId116" Type="http://schemas.openxmlformats.org/officeDocument/2006/relationships/slide" Target="slides/slide114.xml"/><Relationship Id="rId117" Type="http://schemas.openxmlformats.org/officeDocument/2006/relationships/slide" Target="slides/slide115.xml"/><Relationship Id="rId118" Type="http://schemas.openxmlformats.org/officeDocument/2006/relationships/slide" Target="slides/slide116.xml"/><Relationship Id="rId119" Type="http://schemas.openxmlformats.org/officeDocument/2006/relationships/slide" Target="slides/slide11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slide" Target="slides/slide82.xml"/><Relationship Id="rId85" Type="http://schemas.openxmlformats.org/officeDocument/2006/relationships/slide" Target="slides/slide83.xml"/><Relationship Id="rId86" Type="http://schemas.openxmlformats.org/officeDocument/2006/relationships/slide" Target="slides/slide84.xml"/><Relationship Id="rId87" Type="http://schemas.openxmlformats.org/officeDocument/2006/relationships/slide" Target="slides/slide85.xml"/><Relationship Id="rId88" Type="http://schemas.openxmlformats.org/officeDocument/2006/relationships/slide" Target="slides/slide86.xml"/><Relationship Id="rId89" Type="http://schemas.openxmlformats.org/officeDocument/2006/relationships/slide" Target="slides/slide87.xml"/><Relationship Id="rId140" Type="http://schemas.openxmlformats.org/officeDocument/2006/relationships/slide" Target="slides/slide138.xml"/><Relationship Id="rId141" Type="http://schemas.openxmlformats.org/officeDocument/2006/relationships/slide" Target="slides/slide139.xml"/><Relationship Id="rId142" Type="http://schemas.openxmlformats.org/officeDocument/2006/relationships/slide" Target="slides/slide140.xml"/><Relationship Id="rId143" Type="http://schemas.openxmlformats.org/officeDocument/2006/relationships/notesMaster" Target="notesMasters/notesMaster1.xml"/><Relationship Id="rId144" Type="http://schemas.openxmlformats.org/officeDocument/2006/relationships/handoutMaster" Target="handoutMasters/handoutMaster1.xml"/><Relationship Id="rId145" Type="http://schemas.openxmlformats.org/officeDocument/2006/relationships/printerSettings" Target="printerSettings/printerSettings1.bin"/><Relationship Id="rId146" Type="http://schemas.openxmlformats.org/officeDocument/2006/relationships/tags" Target="tags/tag1.xml"/><Relationship Id="rId147" Type="http://schemas.openxmlformats.org/officeDocument/2006/relationships/presProps" Target="presProps.xml"/><Relationship Id="rId148" Type="http://schemas.openxmlformats.org/officeDocument/2006/relationships/viewProps" Target="viewProps.xml"/><Relationship Id="rId14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2930" name="Rectangle 2"/>
          <p:cNvSpPr>
            <a:spLocks noGrp="1" noChangeArrowheads="1"/>
          </p:cNvSpPr>
          <p:nvPr>
            <p:ph type="hdr" sz="quarter"/>
          </p:nvPr>
        </p:nvSpPr>
        <p:spPr bwMode="auto">
          <a:xfrm>
            <a:off x="0" y="0"/>
            <a:ext cx="3130550" cy="482600"/>
          </a:xfrm>
          <a:prstGeom prst="rect">
            <a:avLst/>
          </a:prstGeom>
          <a:noFill/>
          <a:ln w="9525">
            <a:noFill/>
            <a:miter lim="800000"/>
            <a:headEnd/>
            <a:tailEnd/>
          </a:ln>
          <a:effectLst/>
        </p:spPr>
        <p:txBody>
          <a:bodyPr vert="horz" wrap="square" lIns="96422" tIns="48211" rIns="96422" bIns="48211" numCol="1" anchor="t" anchorCtr="0" compatLnSpc="1">
            <a:prstTxWarp prst="textNoShape">
              <a:avLst/>
            </a:prstTxWarp>
          </a:bodyPr>
          <a:lstStyle>
            <a:lvl1pPr defTabSz="965200">
              <a:defRPr sz="1200" smtClean="0">
                <a:latin typeface="Times New Roman" pitchFamily="18" charset="0"/>
              </a:defRPr>
            </a:lvl1pPr>
          </a:lstStyle>
          <a:p>
            <a:pPr>
              <a:defRPr/>
            </a:pPr>
            <a:r>
              <a:rPr lang="en-US"/>
              <a:t>DAC 2001 Tutorial</a:t>
            </a:r>
          </a:p>
        </p:txBody>
      </p:sp>
      <p:sp>
        <p:nvSpPr>
          <p:cNvPr id="252931" name="Rectangle 3"/>
          <p:cNvSpPr>
            <a:spLocks noGrp="1" noChangeArrowheads="1"/>
          </p:cNvSpPr>
          <p:nvPr>
            <p:ph type="dt" sz="quarter" idx="1"/>
          </p:nvPr>
        </p:nvSpPr>
        <p:spPr bwMode="auto">
          <a:xfrm>
            <a:off x="4171950" y="0"/>
            <a:ext cx="3130550" cy="482600"/>
          </a:xfrm>
          <a:prstGeom prst="rect">
            <a:avLst/>
          </a:prstGeom>
          <a:noFill/>
          <a:ln w="9525">
            <a:noFill/>
            <a:miter lim="800000"/>
            <a:headEnd/>
            <a:tailEnd/>
          </a:ln>
          <a:effectLst/>
        </p:spPr>
        <p:txBody>
          <a:bodyPr vert="horz" wrap="square" lIns="96422" tIns="48211" rIns="96422" bIns="48211" numCol="1" anchor="t" anchorCtr="0" compatLnSpc="1">
            <a:prstTxWarp prst="textNoShape">
              <a:avLst/>
            </a:prstTxWarp>
          </a:bodyPr>
          <a:lstStyle>
            <a:lvl1pPr algn="r" defTabSz="965200">
              <a:defRPr sz="1200" smtClean="0">
                <a:latin typeface="Times New Roman" pitchFamily="18" charset="0"/>
              </a:defRPr>
            </a:lvl1pPr>
          </a:lstStyle>
          <a:p>
            <a:pPr>
              <a:defRPr/>
            </a:pPr>
            <a:endParaRPr lang="en-US"/>
          </a:p>
        </p:txBody>
      </p:sp>
      <p:sp>
        <p:nvSpPr>
          <p:cNvPr id="252932" name="Rectangle 4"/>
          <p:cNvSpPr>
            <a:spLocks noGrp="1" noChangeArrowheads="1"/>
          </p:cNvSpPr>
          <p:nvPr>
            <p:ph type="ftr" sz="quarter" idx="2"/>
          </p:nvPr>
        </p:nvSpPr>
        <p:spPr bwMode="auto">
          <a:xfrm>
            <a:off x="0" y="9091613"/>
            <a:ext cx="3130550" cy="482600"/>
          </a:xfrm>
          <a:prstGeom prst="rect">
            <a:avLst/>
          </a:prstGeom>
          <a:noFill/>
          <a:ln w="9525">
            <a:noFill/>
            <a:miter lim="800000"/>
            <a:headEnd/>
            <a:tailEnd/>
          </a:ln>
          <a:effectLst/>
        </p:spPr>
        <p:txBody>
          <a:bodyPr vert="horz" wrap="square" lIns="96422" tIns="48211" rIns="96422" bIns="48211" numCol="1" anchor="b" anchorCtr="0" compatLnSpc="1">
            <a:prstTxWarp prst="textNoShape">
              <a:avLst/>
            </a:prstTxWarp>
          </a:bodyPr>
          <a:lstStyle>
            <a:lvl1pPr defTabSz="965200">
              <a:defRPr sz="1200" smtClean="0">
                <a:latin typeface="Times New Roman" pitchFamily="18" charset="0"/>
                <a:cs typeface="Times New Roman" pitchFamily="18" charset="0"/>
              </a:defRPr>
            </a:lvl1pPr>
          </a:lstStyle>
          <a:p>
            <a:pPr>
              <a:defRPr/>
            </a:pPr>
            <a:r>
              <a:rPr lang="en-US"/>
              <a:t>©R.A. Rutenbar, 2001</a:t>
            </a:r>
          </a:p>
        </p:txBody>
      </p:sp>
      <p:sp>
        <p:nvSpPr>
          <p:cNvPr id="252933" name="Rectangle 5"/>
          <p:cNvSpPr>
            <a:spLocks noGrp="1" noChangeArrowheads="1"/>
          </p:cNvSpPr>
          <p:nvPr>
            <p:ph type="sldNum" sz="quarter" idx="3"/>
          </p:nvPr>
        </p:nvSpPr>
        <p:spPr bwMode="auto">
          <a:xfrm>
            <a:off x="4171950" y="9091613"/>
            <a:ext cx="3130550" cy="482600"/>
          </a:xfrm>
          <a:prstGeom prst="rect">
            <a:avLst/>
          </a:prstGeom>
          <a:noFill/>
          <a:ln w="9525">
            <a:noFill/>
            <a:miter lim="800000"/>
            <a:headEnd/>
            <a:tailEnd/>
          </a:ln>
          <a:effectLst/>
        </p:spPr>
        <p:txBody>
          <a:bodyPr vert="horz" wrap="square" lIns="96422" tIns="48211" rIns="96422" bIns="48211" numCol="1" anchor="b" anchorCtr="0" compatLnSpc="1">
            <a:prstTxWarp prst="textNoShape">
              <a:avLst/>
            </a:prstTxWarp>
          </a:bodyPr>
          <a:lstStyle>
            <a:lvl1pPr algn="r" defTabSz="965200">
              <a:defRPr sz="1200" smtClean="0">
                <a:latin typeface="Times New Roman" pitchFamily="18" charset="0"/>
              </a:defRPr>
            </a:lvl1pPr>
          </a:lstStyle>
          <a:p>
            <a:pPr>
              <a:defRPr/>
            </a:pPr>
            <a:fld id="{83587096-7852-44F5-9A71-D621B1FF2472}" type="slidenum">
              <a:rPr lang="en-US"/>
              <a:pPr>
                <a:defRPr/>
              </a:pPr>
              <a:t>‹#›</a:t>
            </a:fld>
            <a:endParaRPr lang="en-US"/>
          </a:p>
        </p:txBody>
      </p:sp>
    </p:spTree>
    <p:extLst>
      <p:ext uri="{BB962C8B-B14F-4D97-AF65-F5344CB8AC3E}">
        <p14:creationId xmlns:p14="http://schemas.microsoft.com/office/powerpoint/2010/main" val="34533336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8578" name="Rectangle 2"/>
          <p:cNvSpPr>
            <a:spLocks noGrp="1" noChangeArrowheads="1"/>
          </p:cNvSpPr>
          <p:nvPr>
            <p:ph type="hdr" sz="quarter"/>
          </p:nvPr>
        </p:nvSpPr>
        <p:spPr bwMode="auto">
          <a:xfrm>
            <a:off x="0" y="0"/>
            <a:ext cx="3200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smtClean="0">
                <a:latin typeface="Times New Roman" pitchFamily="18" charset="0"/>
              </a:defRPr>
            </a:lvl1pPr>
          </a:lstStyle>
          <a:p>
            <a:pPr>
              <a:defRPr/>
            </a:pPr>
            <a:endParaRPr lang="en-US"/>
          </a:p>
        </p:txBody>
      </p:sp>
      <p:sp>
        <p:nvSpPr>
          <p:cNvPr id="408579" name="Rectangle 3"/>
          <p:cNvSpPr>
            <a:spLocks noGrp="1" noChangeArrowheads="1"/>
          </p:cNvSpPr>
          <p:nvPr>
            <p:ph type="dt" idx="1"/>
          </p:nvPr>
        </p:nvSpPr>
        <p:spPr bwMode="auto">
          <a:xfrm>
            <a:off x="4114800" y="0"/>
            <a:ext cx="3200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smtClean="0">
                <a:latin typeface="Times New Roman" pitchFamily="18" charset="0"/>
              </a:defRPr>
            </a:lvl1pPr>
          </a:lstStyle>
          <a:p>
            <a:pPr>
              <a:defRPr/>
            </a:pPr>
            <a:endParaRPr lang="en-US"/>
          </a:p>
        </p:txBody>
      </p:sp>
      <p:sp>
        <p:nvSpPr>
          <p:cNvPr id="50180" name="Rectangle 4"/>
          <p:cNvSpPr>
            <a:spLocks noGrp="1" noRot="1" noChangeAspect="1" noChangeArrowheads="1" noTextEdit="1"/>
          </p:cNvSpPr>
          <p:nvPr>
            <p:ph type="sldImg" idx="2"/>
          </p:nvPr>
        </p:nvSpPr>
        <p:spPr bwMode="auto">
          <a:xfrm>
            <a:off x="1219200" y="685800"/>
            <a:ext cx="4876800" cy="3657600"/>
          </a:xfrm>
          <a:prstGeom prst="rect">
            <a:avLst/>
          </a:prstGeom>
          <a:noFill/>
          <a:ln w="9525">
            <a:solidFill>
              <a:srgbClr val="000000"/>
            </a:solidFill>
            <a:miter lim="800000"/>
            <a:headEnd/>
            <a:tailEnd/>
          </a:ln>
        </p:spPr>
      </p:sp>
      <p:sp>
        <p:nvSpPr>
          <p:cNvPr id="408581" name="Rectangle 5"/>
          <p:cNvSpPr>
            <a:spLocks noGrp="1" noChangeArrowheads="1"/>
          </p:cNvSpPr>
          <p:nvPr>
            <p:ph type="body" sz="quarter" idx="3"/>
          </p:nvPr>
        </p:nvSpPr>
        <p:spPr bwMode="auto">
          <a:xfrm>
            <a:off x="990600" y="4572000"/>
            <a:ext cx="5334000" cy="426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08582" name="Rectangle 6"/>
          <p:cNvSpPr>
            <a:spLocks noGrp="1" noChangeArrowheads="1"/>
          </p:cNvSpPr>
          <p:nvPr>
            <p:ph type="ftr" sz="quarter" idx="4"/>
          </p:nvPr>
        </p:nvSpPr>
        <p:spPr bwMode="auto">
          <a:xfrm>
            <a:off x="0" y="9144000"/>
            <a:ext cx="3200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smtClean="0">
                <a:latin typeface="Times New Roman" pitchFamily="18" charset="0"/>
              </a:defRPr>
            </a:lvl1pPr>
          </a:lstStyle>
          <a:p>
            <a:pPr>
              <a:defRPr/>
            </a:pPr>
            <a:endParaRPr lang="en-US"/>
          </a:p>
        </p:txBody>
      </p:sp>
      <p:sp>
        <p:nvSpPr>
          <p:cNvPr id="408583" name="Rectangle 7"/>
          <p:cNvSpPr>
            <a:spLocks noGrp="1" noChangeArrowheads="1"/>
          </p:cNvSpPr>
          <p:nvPr>
            <p:ph type="sldNum" sz="quarter" idx="5"/>
          </p:nvPr>
        </p:nvSpPr>
        <p:spPr bwMode="auto">
          <a:xfrm>
            <a:off x="4114800" y="9144000"/>
            <a:ext cx="3200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smtClean="0">
                <a:latin typeface="Times New Roman" pitchFamily="18" charset="0"/>
              </a:defRPr>
            </a:lvl1pPr>
          </a:lstStyle>
          <a:p>
            <a:pPr>
              <a:defRPr/>
            </a:pPr>
            <a:fld id="{40F64717-A5A5-4C4E-9291-2F18B7410B06}" type="slidenum">
              <a:rPr lang="en-US"/>
              <a:pPr>
                <a:defRPr/>
              </a:pPr>
              <a:t>‹#›</a:t>
            </a:fld>
            <a:endParaRPr lang="en-US"/>
          </a:p>
        </p:txBody>
      </p:sp>
    </p:spTree>
    <p:extLst>
      <p:ext uri="{BB962C8B-B14F-4D97-AF65-F5344CB8AC3E}">
        <p14:creationId xmlns:p14="http://schemas.microsoft.com/office/powerpoint/2010/main" val="109348283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endParaRPr lang="en-US"/>
          </a:p>
        </p:txBody>
      </p:sp>
      <p:sp>
        <p:nvSpPr>
          <p:cNvPr id="51204" name="Slide Number Placeholder 3"/>
          <p:cNvSpPr>
            <a:spLocks noGrp="1"/>
          </p:cNvSpPr>
          <p:nvPr>
            <p:ph type="sldNum" sz="quarter" idx="5"/>
          </p:nvPr>
        </p:nvSpPr>
        <p:spPr>
          <a:noFill/>
        </p:spPr>
        <p:txBody>
          <a:bodyPr/>
          <a:lstStyle/>
          <a:p>
            <a:fld id="{7F803353-72E2-470C-8E67-87750F01FAF1}" type="slidenum">
              <a:rPr lang="en-US"/>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Rot="1" noChangeAspect="1" noChangeArrowheads="1" noTextEdit="1"/>
          </p:cNvSpPr>
          <p:nvPr>
            <p:ph type="sldImg"/>
          </p:nvPr>
        </p:nvSpPr>
        <p:spPr>
          <a:xfrm>
            <a:off x="1263650" y="725488"/>
            <a:ext cx="4775200" cy="3581400"/>
          </a:xfrm>
          <a:ln/>
        </p:spPr>
      </p:sp>
      <p:sp>
        <p:nvSpPr>
          <p:cNvPr id="2467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76339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Rot="1" noChangeAspect="1" noChangeArrowheads="1" noTextEdit="1"/>
          </p:cNvSpPr>
          <p:nvPr>
            <p:ph type="sldImg"/>
          </p:nvPr>
        </p:nvSpPr>
        <p:spPr>
          <a:xfrm>
            <a:off x="1263650" y="725488"/>
            <a:ext cx="4775200" cy="3581400"/>
          </a:xfrm>
          <a:ln/>
        </p:spPr>
      </p:sp>
      <p:sp>
        <p:nvSpPr>
          <p:cNvPr id="2478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68275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Rot="1" noChangeAspect="1" noChangeArrowheads="1" noTextEdit="1"/>
          </p:cNvSpPr>
          <p:nvPr>
            <p:ph type="sldImg"/>
          </p:nvPr>
        </p:nvSpPr>
        <p:spPr>
          <a:xfrm>
            <a:off x="1263650" y="725488"/>
            <a:ext cx="4775200" cy="3581400"/>
          </a:xfrm>
          <a:ln/>
        </p:spPr>
      </p:sp>
      <p:sp>
        <p:nvSpPr>
          <p:cNvPr id="2488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83825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Rot="1" noChangeAspect="1" noChangeArrowheads="1" noTextEdit="1"/>
          </p:cNvSpPr>
          <p:nvPr>
            <p:ph type="sldImg"/>
          </p:nvPr>
        </p:nvSpPr>
        <p:spPr>
          <a:xfrm>
            <a:off x="1263650" y="725488"/>
            <a:ext cx="4775200" cy="3581400"/>
          </a:xfrm>
          <a:ln/>
        </p:spPr>
      </p:sp>
      <p:sp>
        <p:nvSpPr>
          <p:cNvPr id="2826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77575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Rot="1" noChangeAspect="1" noChangeArrowheads="1" noTextEdit="1"/>
          </p:cNvSpPr>
          <p:nvPr>
            <p:ph type="sldImg"/>
          </p:nvPr>
        </p:nvSpPr>
        <p:spPr>
          <a:xfrm>
            <a:off x="1263650" y="725488"/>
            <a:ext cx="4775200" cy="3581400"/>
          </a:xfrm>
          <a:ln/>
        </p:spPr>
      </p:sp>
      <p:sp>
        <p:nvSpPr>
          <p:cNvPr id="2498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29871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Rot="1" noChangeAspect="1" noChangeArrowheads="1" noTextEdit="1"/>
          </p:cNvSpPr>
          <p:nvPr>
            <p:ph type="sldImg"/>
          </p:nvPr>
        </p:nvSpPr>
        <p:spPr>
          <a:xfrm>
            <a:off x="1263650" y="725488"/>
            <a:ext cx="4775200" cy="3581400"/>
          </a:xfrm>
          <a:ln/>
        </p:spPr>
      </p:sp>
      <p:sp>
        <p:nvSpPr>
          <p:cNvPr id="246787" name="Rectangle 3"/>
          <p:cNvSpPr>
            <a:spLocks noGrp="1" noChangeArrowheads="1"/>
          </p:cNvSpPr>
          <p:nvPr>
            <p:ph type="body" idx="1"/>
          </p:nvPr>
        </p:nvSpPr>
        <p:spPr/>
        <p:txBody>
          <a:bodyPr/>
          <a:lstStyle/>
          <a:p>
            <a:r>
              <a:rPr lang="en-US" smtClean="0"/>
              <a:t>Try:</a:t>
            </a:r>
          </a:p>
          <a:p>
            <a:endParaRPr lang="en-US" smtClean="0"/>
          </a:p>
          <a:p>
            <a:r>
              <a:rPr lang="en-US" err="1" smtClean="0"/>
              <a:t>objdump</a:t>
            </a:r>
            <a:r>
              <a:rPr lang="en-US" baseline="0" smtClean="0"/>
              <a:t> –t </a:t>
            </a:r>
            <a:r>
              <a:rPr lang="en-US" baseline="0" err="1" smtClean="0"/>
              <a:t>main.o</a:t>
            </a:r>
            <a:endParaRPr lang="en-US" baseline="0" smtClean="0"/>
          </a:p>
          <a:p>
            <a:r>
              <a:rPr lang="en-US" baseline="0" err="1" smtClean="0"/>
              <a:t>objdump</a:t>
            </a:r>
            <a:r>
              <a:rPr lang="en-US" baseline="0" smtClean="0"/>
              <a:t> –t </a:t>
            </a:r>
            <a:r>
              <a:rPr lang="en-US" baseline="0" err="1" smtClean="0"/>
              <a:t>sum.o</a:t>
            </a:r>
            <a:endParaRPr lang="en-US" baseline="0" smtClean="0"/>
          </a:p>
          <a:p>
            <a:endParaRPr lang="en-US" baseline="0" smtClean="0"/>
          </a:p>
          <a:p>
            <a:endParaRPr lang="en-US"/>
          </a:p>
        </p:txBody>
      </p:sp>
    </p:spTree>
    <p:extLst>
      <p:ext uri="{BB962C8B-B14F-4D97-AF65-F5344CB8AC3E}">
        <p14:creationId xmlns:p14="http://schemas.microsoft.com/office/powerpoint/2010/main" val="2076339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Rot="1" noChangeAspect="1" noChangeArrowheads="1" noTextEdit="1"/>
          </p:cNvSpPr>
          <p:nvPr>
            <p:ph type="sldImg"/>
          </p:nvPr>
        </p:nvSpPr>
        <p:spPr>
          <a:xfrm>
            <a:off x="1263650" y="725488"/>
            <a:ext cx="4775200" cy="3581400"/>
          </a:xfrm>
          <a:ln/>
        </p:spPr>
      </p:sp>
      <p:sp>
        <p:nvSpPr>
          <p:cNvPr id="2836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67615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Rot="1" noChangeAspect="1" noChangeArrowheads="1" noTextEdit="1"/>
          </p:cNvSpPr>
          <p:nvPr>
            <p:ph type="sldImg"/>
          </p:nvPr>
        </p:nvSpPr>
        <p:spPr>
          <a:xfrm>
            <a:off x="1263650" y="725488"/>
            <a:ext cx="4775200" cy="3581400"/>
          </a:xfrm>
          <a:ln/>
        </p:spPr>
      </p:sp>
      <p:sp>
        <p:nvSpPr>
          <p:cNvPr id="2508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219531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Rot="1" noChangeAspect="1" noChangeArrowheads="1" noTextEdit="1"/>
          </p:cNvSpPr>
          <p:nvPr>
            <p:ph type="sldImg"/>
          </p:nvPr>
        </p:nvSpPr>
        <p:spPr>
          <a:xfrm>
            <a:off x="1263650" y="725488"/>
            <a:ext cx="4775200" cy="3581400"/>
          </a:xfrm>
          <a:ln/>
        </p:spPr>
      </p:sp>
      <p:sp>
        <p:nvSpPr>
          <p:cNvPr id="2519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970929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49"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53250"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40092522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3"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54274"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16282967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7"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55298"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9111571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7"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45058"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5136996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Answer: </a:t>
            </a:r>
          </a:p>
          <a:p>
            <a:endParaRPr lang="en-US" dirty="0" smtClean="0"/>
          </a:p>
          <a:p>
            <a:r>
              <a:rPr lang="en-US" dirty="0" smtClean="0"/>
              <a:t>time, foo, main, </a:t>
            </a:r>
            <a:r>
              <a:rPr lang="en-US" dirty="0" err="1" smtClean="0"/>
              <a:t>printf</a:t>
            </a:r>
            <a:endParaRPr lang="en-US" dirty="0" smtClean="0"/>
          </a:p>
          <a:p>
            <a:endParaRPr lang="en-US" dirty="0" smtClean="0"/>
          </a:p>
          <a:p>
            <a:r>
              <a:rPr lang="en-US" dirty="0" smtClean="0"/>
              <a:t>Can actually make a case for “%d\n”: it’s a global</a:t>
            </a:r>
            <a:r>
              <a:rPr lang="en-US" baseline="0" dirty="0" smtClean="0"/>
              <a:t> constant string (in read only section) so it will have a name</a:t>
            </a:r>
            <a:endParaRPr lang="en-US" dirty="0"/>
          </a:p>
        </p:txBody>
      </p:sp>
    </p:spTree>
    <p:extLst>
      <p:ext uri="{BB962C8B-B14F-4D97-AF65-F5344CB8AC3E}">
        <p14:creationId xmlns:p14="http://schemas.microsoft.com/office/powerpoint/2010/main" val="22987210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Try:</a:t>
            </a:r>
          </a:p>
          <a:p>
            <a:endParaRPr lang="en-US" dirty="0" smtClean="0"/>
          </a:p>
          <a:p>
            <a:r>
              <a:rPr lang="en-US" dirty="0" err="1" smtClean="0"/>
              <a:t>objdump</a:t>
            </a:r>
            <a:r>
              <a:rPr lang="en-US" baseline="0" dirty="0" smtClean="0"/>
              <a:t> –t static-</a:t>
            </a:r>
            <a:r>
              <a:rPr lang="en-US" baseline="0" dirty="0" err="1" smtClean="0"/>
              <a:t>local.o</a:t>
            </a:r>
            <a:endParaRPr lang="en-US" baseline="0" dirty="0" smtClean="0"/>
          </a:p>
          <a:p>
            <a:r>
              <a:rPr lang="en-US" baseline="0" dirty="0" err="1" smtClean="0"/>
              <a:t>objdump</a:t>
            </a:r>
            <a:r>
              <a:rPr lang="en-US" baseline="0" dirty="0" smtClean="0"/>
              <a:t> –</a:t>
            </a:r>
            <a:r>
              <a:rPr lang="en-US" baseline="0" dirty="0" err="1" smtClean="0"/>
              <a:t>rd</a:t>
            </a:r>
            <a:r>
              <a:rPr lang="en-US" baseline="0" dirty="0" smtClean="0"/>
              <a:t> static-</a:t>
            </a:r>
            <a:r>
              <a:rPr lang="en-US" baseline="0" dirty="0" err="1" smtClean="0"/>
              <a:t>local.o</a:t>
            </a:r>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17</a:t>
            </a:fld>
            <a:endParaRPr lang="en-US"/>
          </a:p>
        </p:txBody>
      </p:sp>
    </p:spTree>
    <p:extLst>
      <p:ext uri="{BB962C8B-B14F-4D97-AF65-F5344CB8AC3E}">
        <p14:creationId xmlns:p14="http://schemas.microsoft.com/office/powerpoint/2010/main" val="184385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89"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63490"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30926960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3"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64514"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r>
              <a:rPr lang="en-US" smtClean="0"/>
              <a:t>If you are not aware of these rules, you can run into very nasty,</a:t>
            </a:r>
            <a:r>
              <a:rPr lang="en-US" baseline="0" smtClean="0"/>
              <a:t> difficult problems.</a:t>
            </a:r>
            <a:endParaRPr lang="en-US"/>
          </a:p>
        </p:txBody>
      </p:sp>
    </p:spTree>
    <p:extLst>
      <p:ext uri="{BB962C8B-B14F-4D97-AF65-F5344CB8AC3E}">
        <p14:creationId xmlns:p14="http://schemas.microsoft.com/office/powerpoint/2010/main" val="6069555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7"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65538"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4079687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Rot="1" noChangeAspect="1" noChangeArrowheads="1" noTextEdit="1"/>
          </p:cNvSpPr>
          <p:nvPr>
            <p:ph type="sldImg"/>
          </p:nvPr>
        </p:nvSpPr>
        <p:spPr>
          <a:xfrm>
            <a:off x="1263650" y="725488"/>
            <a:ext cx="4775200" cy="3581400"/>
          </a:xfrm>
          <a:ln/>
        </p:spPr>
      </p:sp>
      <p:sp>
        <p:nvSpPr>
          <p:cNvPr id="246787" name="Rectangle 3"/>
          <p:cNvSpPr>
            <a:spLocks noGrp="1" noChangeArrowheads="1"/>
          </p:cNvSpPr>
          <p:nvPr>
            <p:ph type="body" idx="1"/>
          </p:nvPr>
        </p:nvSpPr>
        <p:spPr/>
        <p:txBody>
          <a:bodyPr/>
          <a:lstStyle/>
          <a:p>
            <a:r>
              <a:rPr lang="en-US" dirty="0" smtClean="0"/>
              <a:t>Try:</a:t>
            </a:r>
          </a:p>
          <a:p>
            <a:endParaRPr lang="en-US" dirty="0" smtClean="0"/>
          </a:p>
          <a:p>
            <a:r>
              <a:rPr lang="en-US" dirty="0" err="1" smtClean="0"/>
              <a:t>objdump</a:t>
            </a:r>
            <a:r>
              <a:rPr lang="en-US" baseline="0" dirty="0" smtClean="0"/>
              <a:t> –t mismatch-</a:t>
            </a:r>
            <a:r>
              <a:rPr lang="en-US" baseline="0" dirty="0" err="1" smtClean="0"/>
              <a:t>main.o</a:t>
            </a:r>
            <a:endParaRPr lang="en-US" baseline="0" dirty="0" smtClean="0"/>
          </a:p>
          <a:p>
            <a:r>
              <a:rPr lang="en-US" baseline="0" dirty="0" err="1" smtClean="0"/>
              <a:t>objdump</a:t>
            </a:r>
            <a:r>
              <a:rPr lang="en-US" baseline="0" dirty="0" smtClean="0"/>
              <a:t> –t mismatch-</a:t>
            </a:r>
            <a:r>
              <a:rPr lang="en-US" baseline="0" dirty="0" err="1" smtClean="0"/>
              <a:t>variable.o</a:t>
            </a:r>
            <a:endParaRPr lang="en-US" baseline="0" dirty="0" smtClean="0"/>
          </a:p>
          <a:p>
            <a:endParaRPr lang="en-US" baseline="0" dirty="0" smtClean="0"/>
          </a:p>
          <a:p>
            <a:endParaRPr lang="en-US" dirty="0"/>
          </a:p>
        </p:txBody>
      </p:sp>
    </p:spTree>
    <p:extLst>
      <p:ext uri="{BB962C8B-B14F-4D97-AF65-F5344CB8AC3E}">
        <p14:creationId xmlns:p14="http://schemas.microsoft.com/office/powerpoint/2010/main" val="11624830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22</a:t>
            </a:fld>
            <a:endParaRPr lang="en-US"/>
          </a:p>
        </p:txBody>
      </p:sp>
    </p:spTree>
    <p:extLst>
      <p:ext uri="{BB962C8B-B14F-4D97-AF65-F5344CB8AC3E}">
        <p14:creationId xmlns:p14="http://schemas.microsoft.com/office/powerpoint/2010/main" val="4344968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Rot="1" noChangeAspect="1" noChangeArrowheads="1" noTextEdit="1"/>
          </p:cNvSpPr>
          <p:nvPr>
            <p:ph type="sldImg"/>
          </p:nvPr>
        </p:nvSpPr>
        <p:spPr>
          <a:xfrm>
            <a:off x="1263650" y="725488"/>
            <a:ext cx="4775200" cy="3581400"/>
          </a:xfrm>
          <a:ln/>
        </p:spPr>
      </p:sp>
      <p:sp>
        <p:nvSpPr>
          <p:cNvPr id="2467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274691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Rot="1" noChangeAspect="1" noChangeArrowheads="1" noTextEdit="1"/>
          </p:cNvSpPr>
          <p:nvPr>
            <p:ph type="sldImg"/>
          </p:nvPr>
        </p:nvSpPr>
        <p:spPr>
          <a:xfrm>
            <a:off x="1263650" y="725488"/>
            <a:ext cx="4775200" cy="3581400"/>
          </a:xfrm>
          <a:ln/>
        </p:spPr>
      </p:sp>
      <p:sp>
        <p:nvSpPr>
          <p:cNvPr id="2467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097531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5"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57346"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r>
              <a:rPr lang="en-US" smtClean="0"/>
              <a:t>System code including code</a:t>
            </a:r>
            <a:r>
              <a:rPr lang="en-US" baseline="0" smtClean="0"/>
              <a:t> that runs before and after main.  Sets up </a:t>
            </a:r>
            <a:r>
              <a:rPr lang="en-US" baseline="0" err="1" smtClean="0"/>
              <a:t>argc</a:t>
            </a:r>
            <a:r>
              <a:rPr lang="en-US" baseline="0" smtClean="0"/>
              <a:t>/v and takes the return value</a:t>
            </a:r>
          </a:p>
          <a:p>
            <a:endParaRPr lang="en-US" baseline="0" smtClean="0"/>
          </a:p>
          <a:p>
            <a:r>
              <a:rPr lang="en-US" baseline="0" err="1" smtClean="0"/>
              <a:t>objdump</a:t>
            </a:r>
            <a:r>
              <a:rPr lang="en-US" baseline="0" smtClean="0"/>
              <a:t> –t </a:t>
            </a:r>
            <a:r>
              <a:rPr lang="en-US" baseline="0" err="1" smtClean="0"/>
              <a:t>prog</a:t>
            </a:r>
            <a:endParaRPr lang="en-US" baseline="0" smtClean="0"/>
          </a:p>
          <a:p>
            <a:endParaRPr lang="en-US" baseline="0" smtClean="0"/>
          </a:p>
          <a:p>
            <a:r>
              <a:rPr lang="en-US" baseline="0" smtClean="0"/>
              <a:t>generates LOTS of stuff</a:t>
            </a:r>
            <a:endParaRPr lang="en-US"/>
          </a:p>
        </p:txBody>
      </p:sp>
    </p:spTree>
    <p:extLst>
      <p:ext uri="{BB962C8B-B14F-4D97-AF65-F5344CB8AC3E}">
        <p14:creationId xmlns:p14="http://schemas.microsoft.com/office/powerpoint/2010/main" val="39687812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69"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58370"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r>
              <a:rPr lang="en-US" smtClean="0"/>
              <a:t>What are the </a:t>
            </a:r>
            <a:r>
              <a:rPr lang="en-US" err="1" smtClean="0"/>
              <a:t>globals</a:t>
            </a:r>
            <a:r>
              <a:rPr lang="en-US" smtClean="0"/>
              <a:t>?  Where are they (address / section)?</a:t>
            </a:r>
            <a:r>
              <a:rPr lang="en-US" baseline="0" smtClean="0"/>
              <a:t>  … Then click.</a:t>
            </a:r>
          </a:p>
          <a:p>
            <a:endParaRPr lang="en-US" baseline="0" smtClean="0"/>
          </a:p>
          <a:p>
            <a:r>
              <a:rPr lang="en-US" baseline="0" smtClean="0"/>
              <a:t>PC32, PC relative to next RIP – 0x4 for the offset</a:t>
            </a:r>
            <a:endParaRPr lang="en-US"/>
          </a:p>
        </p:txBody>
      </p:sp>
    </p:spTree>
    <p:extLst>
      <p:ext uri="{BB962C8B-B14F-4D97-AF65-F5344CB8AC3E}">
        <p14:creationId xmlns:p14="http://schemas.microsoft.com/office/powerpoint/2010/main" val="7770949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1"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61442"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18252712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705"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72706"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r>
              <a:rPr lang="en-US" smtClean="0"/>
              <a:t>…</a:t>
            </a:r>
          </a:p>
          <a:p>
            <a:r>
              <a:rPr lang="en-US" smtClean="0"/>
              <a:t>Large heap in the high addresses (</a:t>
            </a:r>
            <a:r>
              <a:rPr lang="en-US" err="1" smtClean="0"/>
              <a:t>mmap</a:t>
            </a:r>
            <a:r>
              <a:rPr lang="en-US" smtClean="0"/>
              <a:t>)</a:t>
            </a:r>
            <a:endParaRPr lang="en-US"/>
          </a:p>
        </p:txBody>
      </p:sp>
    </p:spTree>
    <p:extLst>
      <p:ext uri="{BB962C8B-B14F-4D97-AF65-F5344CB8AC3E}">
        <p14:creationId xmlns:p14="http://schemas.microsoft.com/office/powerpoint/2010/main" val="13060777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1"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66562"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22376833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5"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67586"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22837518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09"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68610"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27113867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3"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69634"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r>
              <a:rPr lang="en-US" smtClean="0"/>
              <a:t>The convention</a:t>
            </a:r>
            <a:r>
              <a:rPr lang="en-US" baseline="0" smtClean="0"/>
              <a:t> is that libraries are always prefixed with “lib”</a:t>
            </a:r>
          </a:p>
          <a:p>
            <a:r>
              <a:rPr lang="en-US" smtClean="0"/>
              <a:t> $(CC) $(CFLAGS) -o </a:t>
            </a:r>
            <a:r>
              <a:rPr lang="en-US" err="1" smtClean="0"/>
              <a:t>csim</a:t>
            </a:r>
            <a:r>
              <a:rPr lang="en-US" smtClean="0"/>
              <a:t> </a:t>
            </a:r>
            <a:r>
              <a:rPr lang="en-US" err="1" smtClean="0"/>
              <a:t>csim.c</a:t>
            </a:r>
            <a:r>
              <a:rPr lang="en-US" smtClean="0"/>
              <a:t> </a:t>
            </a:r>
            <a:r>
              <a:rPr lang="en-US" err="1" smtClean="0"/>
              <a:t>cachelab.c</a:t>
            </a:r>
            <a:r>
              <a:rPr lang="en-US" smtClean="0"/>
              <a:t> -lm</a:t>
            </a:r>
            <a:endParaRPr lang="en-US"/>
          </a:p>
        </p:txBody>
      </p:sp>
    </p:spTree>
    <p:extLst>
      <p:ext uri="{BB962C8B-B14F-4D97-AF65-F5344CB8AC3E}">
        <p14:creationId xmlns:p14="http://schemas.microsoft.com/office/powerpoint/2010/main" val="5965769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7"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70658"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r>
              <a:rPr lang="en-US" smtClean="0"/>
              <a:t>Try</a:t>
            </a:r>
            <a:r>
              <a:rPr lang="en-US" baseline="0" smtClean="0"/>
              <a:t>:</a:t>
            </a:r>
          </a:p>
          <a:p>
            <a:endParaRPr lang="en-US" baseline="0" smtClean="0"/>
          </a:p>
          <a:p>
            <a:r>
              <a:rPr lang="en-US" baseline="0" err="1" smtClean="0"/>
              <a:t>objdump</a:t>
            </a:r>
            <a:r>
              <a:rPr lang="en-US" baseline="0" smtClean="0"/>
              <a:t> –t main2.o</a:t>
            </a:r>
          </a:p>
          <a:p>
            <a:r>
              <a:rPr lang="en-US" baseline="0" err="1" smtClean="0"/>
              <a:t>objdump</a:t>
            </a:r>
            <a:r>
              <a:rPr lang="en-US" baseline="0" smtClean="0"/>
              <a:t> –</a:t>
            </a:r>
            <a:r>
              <a:rPr lang="en-US" baseline="0" err="1" smtClean="0"/>
              <a:t>rd</a:t>
            </a:r>
            <a:r>
              <a:rPr lang="en-US" baseline="0" smtClean="0"/>
              <a:t> main2.o</a:t>
            </a:r>
          </a:p>
          <a:p>
            <a:r>
              <a:rPr lang="en-US" baseline="0" err="1" smtClean="0"/>
              <a:t>objdump</a:t>
            </a:r>
            <a:r>
              <a:rPr lang="en-US" baseline="0" smtClean="0"/>
              <a:t> –t </a:t>
            </a:r>
            <a:r>
              <a:rPr lang="en-US" baseline="0" err="1" smtClean="0"/>
              <a:t>libvector.a</a:t>
            </a:r>
            <a:endParaRPr lang="en-US" baseline="0" smtClean="0"/>
          </a:p>
          <a:p>
            <a:r>
              <a:rPr lang="en-US" baseline="0" err="1" smtClean="0"/>
              <a:t>objdump</a:t>
            </a:r>
            <a:r>
              <a:rPr lang="en-US" baseline="0" smtClean="0"/>
              <a:t> –</a:t>
            </a:r>
            <a:r>
              <a:rPr lang="en-US" baseline="0" err="1" smtClean="0"/>
              <a:t>rd</a:t>
            </a:r>
            <a:r>
              <a:rPr lang="en-US" baseline="0" smtClean="0"/>
              <a:t> </a:t>
            </a:r>
            <a:r>
              <a:rPr lang="en-US" baseline="0" err="1" smtClean="0"/>
              <a:t>libvector.a</a:t>
            </a:r>
            <a:endParaRPr lang="en-US" baseline="0" smtClean="0"/>
          </a:p>
          <a:p>
            <a:endParaRPr lang="en-US"/>
          </a:p>
        </p:txBody>
      </p:sp>
    </p:spTree>
    <p:extLst>
      <p:ext uri="{BB962C8B-B14F-4D97-AF65-F5344CB8AC3E}">
        <p14:creationId xmlns:p14="http://schemas.microsoft.com/office/powerpoint/2010/main" val="8462750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1"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71682"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8013321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29"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73730"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30944220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3"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74754"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13980448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09"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68610"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18097326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7"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75778"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r>
              <a:rPr lang="en-US" smtClean="0"/>
              <a:t>Partially linked still has relocatable entries</a:t>
            </a:r>
          </a:p>
          <a:p>
            <a:r>
              <a:rPr lang="en-US" smtClean="0"/>
              <a:t>Loader</a:t>
            </a:r>
            <a:r>
              <a:rPr lang="en-US" baseline="0" smtClean="0"/>
              <a:t> (i.e., the </a:t>
            </a:r>
            <a:r>
              <a:rPr lang="en-US" baseline="0" err="1" smtClean="0"/>
              <a:t>execve</a:t>
            </a:r>
            <a:r>
              <a:rPr lang="en-US" baseline="0" smtClean="0"/>
              <a:t> </a:t>
            </a:r>
            <a:r>
              <a:rPr lang="en-US" baseline="0" err="1" smtClean="0"/>
              <a:t>syscall</a:t>
            </a:r>
            <a:r>
              <a:rPr lang="en-US" baseline="0" smtClean="0"/>
              <a:t>, which we will cover later)</a:t>
            </a:r>
          </a:p>
          <a:p>
            <a:endParaRPr lang="en-US" baseline="0" smtClean="0"/>
          </a:p>
          <a:p>
            <a:r>
              <a:rPr lang="en-US" baseline="0" smtClean="0"/>
              <a:t>Try:</a:t>
            </a:r>
          </a:p>
          <a:p>
            <a:r>
              <a:rPr lang="en-US" baseline="0" err="1" smtClean="0"/>
              <a:t>ldd</a:t>
            </a:r>
            <a:r>
              <a:rPr lang="en-US" baseline="0" smtClean="0"/>
              <a:t> prog2l</a:t>
            </a:r>
          </a:p>
          <a:p>
            <a:r>
              <a:rPr lang="en-US" baseline="0" err="1" smtClean="0"/>
              <a:t>objdump</a:t>
            </a:r>
            <a:r>
              <a:rPr lang="en-US" baseline="0" smtClean="0"/>
              <a:t> –t </a:t>
            </a:r>
            <a:r>
              <a:rPr lang="en-US" baseline="0" err="1" smtClean="0"/>
              <a:t>libvector.so</a:t>
            </a:r>
            <a:endParaRPr lang="en-US" baseline="0" smtClean="0"/>
          </a:p>
          <a:p>
            <a:r>
              <a:rPr lang="en-US" baseline="0" err="1" smtClean="0"/>
              <a:t>objdump</a:t>
            </a:r>
            <a:r>
              <a:rPr lang="en-US" baseline="0" smtClean="0"/>
              <a:t> –</a:t>
            </a:r>
            <a:r>
              <a:rPr lang="en-US" baseline="0" err="1" smtClean="0"/>
              <a:t>rd</a:t>
            </a:r>
            <a:r>
              <a:rPr lang="en-US" baseline="0" smtClean="0"/>
              <a:t> </a:t>
            </a:r>
            <a:r>
              <a:rPr lang="en-US" baseline="0" err="1" smtClean="0"/>
              <a:t>libvector.so</a:t>
            </a:r>
            <a:endParaRPr lang="en-US" baseline="0" smtClean="0"/>
          </a:p>
          <a:p>
            <a:endParaRPr lang="en-US" smtClean="0"/>
          </a:p>
          <a:p>
            <a:endParaRPr lang="en-US"/>
          </a:p>
        </p:txBody>
      </p:sp>
    </p:spTree>
    <p:extLst>
      <p:ext uri="{BB962C8B-B14F-4D97-AF65-F5344CB8AC3E}">
        <p14:creationId xmlns:p14="http://schemas.microsoft.com/office/powerpoint/2010/main" val="20324115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1"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76802"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r>
              <a:rPr lang="en-US" smtClean="0"/>
              <a:t>…</a:t>
            </a:r>
          </a:p>
          <a:p>
            <a:r>
              <a:rPr lang="en-US" smtClean="0"/>
              <a:t>RTLD_LAZY – don’t resolve references until requested</a:t>
            </a:r>
            <a:endParaRPr lang="en-US"/>
          </a:p>
        </p:txBody>
      </p:sp>
    </p:spTree>
    <p:extLst>
      <p:ext uri="{BB962C8B-B14F-4D97-AF65-F5344CB8AC3E}">
        <p14:creationId xmlns:p14="http://schemas.microsoft.com/office/powerpoint/2010/main" val="15763616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5"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77826"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20427893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7" name="Text Box 1"/>
          <p:cNvSpPr txBox="1">
            <a:spLocks noChangeArrowheads="1"/>
          </p:cNvSpPr>
          <p:nvPr/>
        </p:nvSpPr>
        <p:spPr bwMode="auto">
          <a:xfrm>
            <a:off x="2265128" y="726094"/>
            <a:ext cx="2772245" cy="3580528"/>
          </a:xfrm>
          <a:prstGeom prst="rect">
            <a:avLst/>
          </a:prstGeom>
          <a:solidFill>
            <a:srgbClr val="FFFFFF"/>
          </a:solidFill>
          <a:ln w="9525">
            <a:solidFill>
              <a:srgbClr val="000000"/>
            </a:solidFill>
            <a:miter lim="800000"/>
            <a:headEnd/>
            <a:tailEnd/>
          </a:ln>
          <a:effectLst/>
        </p:spPr>
        <p:txBody>
          <a:bodyPr wrap="none" anchor="ctr"/>
          <a:lstStyle/>
          <a:p>
            <a:endParaRPr lang="en-US"/>
          </a:p>
        </p:txBody>
      </p:sp>
      <p:sp>
        <p:nvSpPr>
          <p:cNvPr id="75778" name="Rectangle 2"/>
          <p:cNvSpPr txBox="1">
            <a:spLocks noGrp="1" noChangeArrowheads="1"/>
          </p:cNvSpPr>
          <p:nvPr>
            <p:ph type="body"/>
          </p:nvPr>
        </p:nvSpPr>
        <p:spPr bwMode="auto">
          <a:xfrm>
            <a:off x="973184" y="4554201"/>
            <a:ext cx="5356133" cy="4314943"/>
          </a:xfrm>
          <a:prstGeom prst="rect">
            <a:avLst/>
          </a:prstGeom>
          <a:noFill/>
          <a:ln>
            <a:round/>
            <a:headEnd/>
            <a:tailEnd/>
          </a:ln>
        </p:spPr>
        <p:txBody>
          <a:bodyPr wrap="none" anchor="ctr"/>
          <a:lstStyle/>
          <a:p>
            <a:r>
              <a:rPr lang="en-US" dirty="0" smtClean="0"/>
              <a:t>Linker</a:t>
            </a:r>
            <a:r>
              <a:rPr lang="en-US" baseline="0" dirty="0" smtClean="0"/>
              <a:t> has no information about vector library</a:t>
            </a:r>
            <a:endParaRPr lang="en-US" dirty="0" smtClean="0"/>
          </a:p>
          <a:p>
            <a:endParaRPr lang="en-US" baseline="0" dirty="0" smtClean="0"/>
          </a:p>
          <a:p>
            <a:r>
              <a:rPr lang="en-US" baseline="0" dirty="0" smtClean="0"/>
              <a:t>Try:</a:t>
            </a:r>
          </a:p>
          <a:p>
            <a:r>
              <a:rPr lang="en-US" baseline="0" dirty="0" err="1" smtClean="0"/>
              <a:t>ldd</a:t>
            </a:r>
            <a:r>
              <a:rPr lang="en-US" baseline="0" dirty="0" smtClean="0"/>
              <a:t> prog2r</a:t>
            </a:r>
          </a:p>
          <a:p>
            <a:endParaRPr lang="en-US" dirty="0" smtClean="0"/>
          </a:p>
          <a:p>
            <a:endParaRPr lang="en-US" dirty="0"/>
          </a:p>
        </p:txBody>
      </p:sp>
    </p:spTree>
    <p:extLst>
      <p:ext uri="{BB962C8B-B14F-4D97-AF65-F5344CB8AC3E}">
        <p14:creationId xmlns:p14="http://schemas.microsoft.com/office/powerpoint/2010/main" val="20324115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45</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This technique is used to create the trace that you will use in the </a:t>
            </a:r>
            <a:r>
              <a:rPr lang="en-US" err="1" smtClean="0"/>
              <a:t>malloc</a:t>
            </a:r>
            <a:r>
              <a:rPr lang="en-US" smtClean="0"/>
              <a:t> lab.</a:t>
            </a:r>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48</a:t>
            </a:fld>
            <a:endParaRPr lang="en-US"/>
          </a:p>
        </p:txBody>
      </p:sp>
    </p:spTree>
    <p:extLst>
      <p:ext uri="{BB962C8B-B14F-4D97-AF65-F5344CB8AC3E}">
        <p14:creationId xmlns:p14="http://schemas.microsoft.com/office/powerpoint/2010/main" val="1611524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int</a:t>
            </a:r>
            <a:r>
              <a:rPr lang="en-US" dirty="0" smtClean="0"/>
              <a:t> for </a:t>
            </a:r>
            <a:r>
              <a:rPr lang="en-US" dirty="0" err="1" smtClean="0"/>
              <a:t>interpositioning</a:t>
            </a:r>
            <a:endParaRPr lang="en-US" dirty="0" smtClean="0"/>
          </a:p>
          <a:p>
            <a:endParaRPr lang="en-US" dirty="0" smtClean="0"/>
          </a:p>
          <a:p>
            <a:endParaRPr lang="en-US" dirty="0" smtClean="0"/>
          </a:p>
          <a:p>
            <a:r>
              <a:rPr lang="en-US" dirty="0" smtClean="0"/>
              <a:t>Putting </a:t>
            </a:r>
            <a:r>
              <a:rPr lang="en-US" dirty="0" err="1" smtClean="0"/>
              <a:t>malloc.h</a:t>
            </a:r>
            <a:r>
              <a:rPr lang="en-US" baseline="0" dirty="0" smtClean="0"/>
              <a:t> in angle brackets is important.  Also, calling it </a:t>
            </a:r>
            <a:r>
              <a:rPr lang="en-US" baseline="0" dirty="0" err="1" smtClean="0"/>
              <a:t>malloc.h</a:t>
            </a:r>
            <a:endParaRPr lang="en-US" baseline="0" dirty="0" smtClean="0"/>
          </a:p>
          <a:p>
            <a:endParaRPr lang="en-US"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49</a:t>
            </a:fld>
            <a:endParaRPr lang="en-US"/>
          </a:p>
        </p:txBody>
      </p:sp>
    </p:spTree>
    <p:extLst>
      <p:ext uri="{BB962C8B-B14F-4D97-AF65-F5344CB8AC3E}">
        <p14:creationId xmlns:p14="http://schemas.microsoft.com/office/powerpoint/2010/main" val="30814537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Here are the wrapper</a:t>
            </a:r>
            <a:r>
              <a:rPr lang="en-US" baseline="0" smtClean="0"/>
              <a:t> functions.</a:t>
            </a:r>
          </a:p>
          <a:p>
            <a:endParaRPr lang="en-US" baseline="0" smtClean="0"/>
          </a:p>
          <a:p>
            <a:r>
              <a:rPr lang="en-US" baseline="0" smtClean="0"/>
              <a:t>Now, we want the application to call the wrappers, rather than the library functions</a:t>
            </a:r>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50</a:t>
            </a:fld>
            <a:endParaRPr lang="en-US"/>
          </a:p>
        </p:txBody>
      </p:sp>
    </p:spTree>
    <p:extLst>
      <p:ext uri="{BB962C8B-B14F-4D97-AF65-F5344CB8AC3E}">
        <p14:creationId xmlns:p14="http://schemas.microsoft.com/office/powerpoint/2010/main" val="24890876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Compile-time flags</a:t>
            </a:r>
            <a:r>
              <a:rPr lang="en-US" baseline="0" smtClean="0"/>
              <a:t> are important</a:t>
            </a:r>
          </a:p>
          <a:p>
            <a:endParaRPr lang="en-US" baseline="0" smtClean="0"/>
          </a:p>
          <a:p>
            <a:r>
              <a:rPr lang="en-US" baseline="0" err="1" smtClean="0"/>
              <a:t>mymalloc.c</a:t>
            </a:r>
            <a:r>
              <a:rPr lang="en-US" baseline="0" smtClean="0"/>
              <a:t> will use library version of </a:t>
            </a:r>
            <a:r>
              <a:rPr lang="en-US" baseline="0" err="1" smtClean="0"/>
              <a:t>malloc.h</a:t>
            </a:r>
            <a:endParaRPr lang="en-US" baseline="0" smtClean="0"/>
          </a:p>
          <a:p>
            <a:r>
              <a:rPr lang="en-US" baseline="0" err="1" smtClean="0"/>
              <a:t>int.c</a:t>
            </a:r>
            <a:r>
              <a:rPr lang="en-US" baseline="0" smtClean="0"/>
              <a:t> will use custom version, which redefines </a:t>
            </a:r>
            <a:r>
              <a:rPr lang="en-US" baseline="0" err="1" smtClean="0"/>
              <a:t>malloc</a:t>
            </a:r>
            <a:r>
              <a:rPr lang="en-US" baseline="0" smtClean="0"/>
              <a:t>/free to by </a:t>
            </a:r>
            <a:r>
              <a:rPr lang="en-US" baseline="0" err="1" smtClean="0"/>
              <a:t>mymalloc</a:t>
            </a:r>
            <a:r>
              <a:rPr lang="en-US" baseline="0" smtClean="0"/>
              <a:t>/</a:t>
            </a:r>
            <a:r>
              <a:rPr lang="en-US" baseline="0" err="1" smtClean="0"/>
              <a:t>myfree</a:t>
            </a:r>
            <a:endParaRPr lang="en-US" baseline="0" smtClean="0"/>
          </a:p>
          <a:p>
            <a:endParaRPr lang="en-US" smtClean="0"/>
          </a:p>
          <a:p>
            <a:r>
              <a:rPr lang="en-US" smtClean="0"/>
              <a:t>Try disassembling main when</a:t>
            </a:r>
            <a:r>
              <a:rPr lang="en-US" baseline="0" smtClean="0"/>
              <a:t> </a:t>
            </a:r>
            <a:r>
              <a:rPr lang="en-US" baseline="0" err="1" smtClean="0"/>
              <a:t>gdb</a:t>
            </a:r>
            <a:r>
              <a:rPr lang="en-US" baseline="0" smtClean="0"/>
              <a:t> </a:t>
            </a:r>
            <a:r>
              <a:rPr lang="en-US" baseline="0" err="1" smtClean="0"/>
              <a:t>intc</a:t>
            </a:r>
            <a:endParaRPr lang="en-US" baseline="0" smtClean="0"/>
          </a:p>
          <a:p>
            <a:endParaRPr lang="en-US" baseline="0" smtClean="0"/>
          </a:p>
          <a:p>
            <a:r>
              <a:rPr lang="en-US" baseline="0" smtClean="0"/>
              <a:t>Run </a:t>
            </a:r>
            <a:r>
              <a:rPr lang="en-US" baseline="0" err="1" smtClean="0"/>
              <a:t>intc</a:t>
            </a:r>
            <a:r>
              <a:rPr lang="en-US" baseline="0" smtClean="0"/>
              <a:t> multiple times and see how heap gets randomized as a security precaution</a:t>
            </a:r>
          </a:p>
          <a:p>
            <a:endParaRPr lang="en-US" baseline="0" smtClean="0"/>
          </a:p>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51</a:t>
            </a:fld>
            <a:endParaRPr lang="en-US"/>
          </a:p>
        </p:txBody>
      </p:sp>
    </p:spTree>
    <p:extLst>
      <p:ext uri="{BB962C8B-B14F-4D97-AF65-F5344CB8AC3E}">
        <p14:creationId xmlns:p14="http://schemas.microsoft.com/office/powerpoint/2010/main" val="8018166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Both </a:t>
            </a:r>
            <a:r>
              <a:rPr lang="en-US" err="1" smtClean="0"/>
              <a:t>mymalloc.c</a:t>
            </a:r>
            <a:r>
              <a:rPr lang="en-US" baseline="0" smtClean="0"/>
              <a:t> &amp; </a:t>
            </a:r>
            <a:r>
              <a:rPr lang="en-US" baseline="0" err="1" smtClean="0"/>
              <a:t>int.c</a:t>
            </a:r>
            <a:r>
              <a:rPr lang="en-US" baseline="0" smtClean="0"/>
              <a:t> will get library version of </a:t>
            </a:r>
            <a:r>
              <a:rPr lang="en-US" baseline="0" err="1" smtClean="0"/>
              <a:t>malloc.h</a:t>
            </a:r>
            <a:endParaRPr lang="en-US" baseline="0" smtClean="0"/>
          </a:p>
          <a:p>
            <a:endParaRPr lang="en-US" baseline="0" smtClean="0"/>
          </a:p>
          <a:p>
            <a:r>
              <a:rPr lang="en-US" baseline="0" smtClean="0"/>
              <a:t>But, </a:t>
            </a:r>
            <a:r>
              <a:rPr lang="en-US" baseline="0" err="1" smtClean="0"/>
              <a:t>interpositioning</a:t>
            </a:r>
            <a:r>
              <a:rPr lang="en-US" baseline="0" smtClean="0"/>
              <a:t> trick causes nonstandard symbol resolution</a:t>
            </a:r>
          </a:p>
          <a:p>
            <a:endParaRPr lang="en-US" baseline="0" smtClean="0"/>
          </a:p>
          <a:p>
            <a:r>
              <a:rPr lang="en-US" baseline="0" smtClean="0"/>
              <a:t>Try disassembling main from within </a:t>
            </a:r>
            <a:r>
              <a:rPr lang="en-US" baseline="0" err="1" smtClean="0"/>
              <a:t>gdb</a:t>
            </a:r>
            <a:endParaRPr lang="en-US" baseline="0" smtClean="0"/>
          </a:p>
          <a:p>
            <a:endParaRPr lang="en-US" baseline="0" smtClean="0"/>
          </a:p>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53</a:t>
            </a:fld>
            <a:endParaRPr lang="en-US"/>
          </a:p>
        </p:txBody>
      </p:sp>
    </p:spTree>
    <p:extLst>
      <p:ext uri="{BB962C8B-B14F-4D97-AF65-F5344CB8AC3E}">
        <p14:creationId xmlns:p14="http://schemas.microsoft.com/office/powerpoint/2010/main" val="24658274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This code includes &lt;</a:t>
            </a:r>
            <a:r>
              <a:rPr lang="en-US" err="1" smtClean="0"/>
              <a:t>stdlib.h</a:t>
            </a:r>
            <a:r>
              <a:rPr lang="en-US" smtClean="0"/>
              <a:t>&gt;, which defines</a:t>
            </a:r>
            <a:r>
              <a:rPr lang="en-US" baseline="0" smtClean="0"/>
              <a:t> </a:t>
            </a:r>
            <a:r>
              <a:rPr lang="en-US" baseline="0" err="1" smtClean="0"/>
              <a:t>malloc</a:t>
            </a:r>
            <a:r>
              <a:rPr lang="en-US" baseline="0" smtClean="0"/>
              <a:t> &amp; free</a:t>
            </a:r>
          </a:p>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54</a:t>
            </a:fld>
            <a:endParaRPr lang="en-US"/>
          </a:p>
        </p:txBody>
      </p:sp>
    </p:spTree>
    <p:extLst>
      <p:ext uri="{BB962C8B-B14F-4D97-AF65-F5344CB8AC3E}">
        <p14:creationId xmlns:p14="http://schemas.microsoft.com/office/powerpoint/2010/main" val="34880702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D</a:t>
            </a:r>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55</a:t>
            </a:fld>
            <a:endParaRPr lang="en-US"/>
          </a:p>
        </p:txBody>
      </p:sp>
    </p:spTree>
    <p:extLst>
      <p:ext uri="{BB962C8B-B14F-4D97-AF65-F5344CB8AC3E}">
        <p14:creationId xmlns:p14="http://schemas.microsoft.com/office/powerpoint/2010/main" val="171369227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Disassemble main from within</a:t>
            </a:r>
            <a:r>
              <a:rPr lang="en-US" baseline="0" dirty="0" smtClean="0"/>
              <a:t> intr.</a:t>
            </a:r>
          </a:p>
          <a:p>
            <a:endParaRPr lang="en-US" baseline="0" dirty="0" smtClean="0"/>
          </a:p>
          <a:p>
            <a:r>
              <a:rPr lang="en-US" baseline="0" dirty="0" smtClean="0"/>
              <a:t>See that will have to call dynamic linker to find it.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56</a:t>
            </a:fld>
            <a:endParaRPr lang="en-US"/>
          </a:p>
        </p:txBody>
      </p:sp>
    </p:spTree>
    <p:extLst>
      <p:ext uri="{BB962C8B-B14F-4D97-AF65-F5344CB8AC3E}">
        <p14:creationId xmlns:p14="http://schemas.microsoft.com/office/powerpoint/2010/main" val="399872006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Fun</a:t>
            </a:r>
            <a:r>
              <a:rPr lang="en-US" baseline="0" smtClean="0"/>
              <a:t> to trace other programs, including </a:t>
            </a:r>
            <a:r>
              <a:rPr lang="en-US" baseline="0" err="1" smtClean="0"/>
              <a:t>gcc</a:t>
            </a:r>
            <a:r>
              <a:rPr lang="en-US" baseline="0" smtClean="0"/>
              <a:t>.</a:t>
            </a:r>
          </a:p>
          <a:p>
            <a:endParaRPr lang="en-US" baseline="0" smtClean="0"/>
          </a:p>
          <a:p>
            <a:r>
              <a:rPr lang="en-US" baseline="0" smtClean="0"/>
              <a:t>Need to </a:t>
            </a:r>
          </a:p>
          <a:p>
            <a:endParaRPr lang="en-US" baseline="0" smtClean="0"/>
          </a:p>
          <a:p>
            <a:r>
              <a:rPr lang="en-US" baseline="0" err="1" smtClean="0"/>
              <a:t>setenv</a:t>
            </a:r>
            <a:r>
              <a:rPr lang="en-US" baseline="0" smtClean="0"/>
              <a:t> LD_PRELOAD</a:t>
            </a:r>
          </a:p>
          <a:p>
            <a:endParaRPr lang="en-US" baseline="0" smtClean="0"/>
          </a:p>
          <a:p>
            <a:r>
              <a:rPr lang="en-US" baseline="0" smtClean="0"/>
              <a:t>to turn off feature.</a:t>
            </a:r>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57</a:t>
            </a:fld>
            <a:endParaRPr lang="en-US"/>
          </a:p>
        </p:txBody>
      </p:sp>
    </p:spTree>
    <p:extLst>
      <p:ext uri="{BB962C8B-B14F-4D97-AF65-F5344CB8AC3E}">
        <p14:creationId xmlns:p14="http://schemas.microsoft.com/office/powerpoint/2010/main" val="337335981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58</a:t>
            </a:fld>
            <a:endParaRPr lang="en-US"/>
          </a:p>
        </p:txBody>
      </p:sp>
    </p:spTree>
    <p:extLst>
      <p:ext uri="{BB962C8B-B14F-4D97-AF65-F5344CB8AC3E}">
        <p14:creationId xmlns:p14="http://schemas.microsoft.com/office/powerpoint/2010/main" val="165113918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60</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p:cNvSpPr>
            <a:spLocks noGrp="1" noRot="1" noChangeAspect="1" noChangeArrowheads="1" noTextEdit="1"/>
          </p:cNvSpPr>
          <p:nvPr>
            <p:ph type="sldImg"/>
          </p:nvPr>
        </p:nvSpPr>
        <p:spPr>
          <a:ln/>
        </p:spPr>
      </p:sp>
      <p:sp>
        <p:nvSpPr>
          <p:cNvPr id="5140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Rot="1" noChangeAspect="1" noChangeArrowheads="1" noTextEdit="1"/>
          </p:cNvSpPr>
          <p:nvPr>
            <p:ph type="sldImg"/>
          </p:nvPr>
        </p:nvSpPr>
        <p:spPr>
          <a:ln/>
        </p:spPr>
      </p:sp>
      <p:sp>
        <p:nvSpPr>
          <p:cNvPr id="5150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Rot="1" noChangeAspect="1" noChangeArrowheads="1" noTextEdit="1"/>
          </p:cNvSpPr>
          <p:nvPr>
            <p:ph type="sldImg"/>
          </p:nvPr>
        </p:nvSpPr>
        <p:spPr>
          <a:ln/>
        </p:spPr>
      </p:sp>
      <p:sp>
        <p:nvSpPr>
          <p:cNvPr id="5160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64</a:t>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Grp="1" noRot="1" noChangeAspect="1" noChangeArrowheads="1" noTextEdit="1"/>
          </p:cNvSpPr>
          <p:nvPr>
            <p:ph type="sldImg"/>
          </p:nvPr>
        </p:nvSpPr>
        <p:spPr>
          <a:ln/>
        </p:spPr>
      </p:sp>
      <p:sp>
        <p:nvSpPr>
          <p:cNvPr id="5181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Rectangle 2"/>
          <p:cNvSpPr>
            <a:spLocks noGrp="1" noRot="1" noChangeAspect="1" noChangeArrowheads="1" noTextEdit="1"/>
          </p:cNvSpPr>
          <p:nvPr>
            <p:ph type="sldImg"/>
          </p:nvPr>
        </p:nvSpPr>
        <p:spPr>
          <a:ln/>
        </p:spPr>
      </p:sp>
      <p:sp>
        <p:nvSpPr>
          <p:cNvPr id="5191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Rectangle 2"/>
          <p:cNvSpPr>
            <a:spLocks noGrp="1" noRot="1" noChangeAspect="1" noChangeArrowheads="1" noTextEdit="1"/>
          </p:cNvSpPr>
          <p:nvPr>
            <p:ph type="sldImg"/>
          </p:nvPr>
        </p:nvSpPr>
        <p:spPr>
          <a:ln/>
        </p:spPr>
      </p:sp>
      <p:sp>
        <p:nvSpPr>
          <p:cNvPr id="5201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2"/>
          <p:cNvSpPr>
            <a:spLocks noGrp="1" noRot="1" noChangeAspect="1" noChangeArrowheads="1" noTextEdit="1"/>
          </p:cNvSpPr>
          <p:nvPr>
            <p:ph type="sldImg"/>
          </p:nvPr>
        </p:nvSpPr>
        <p:spPr>
          <a:ln/>
        </p:spPr>
      </p:sp>
      <p:sp>
        <p:nvSpPr>
          <p:cNvPr id="5232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Rectangle 2"/>
          <p:cNvSpPr>
            <a:spLocks noGrp="1" noRot="1" noChangeAspect="1" noChangeArrowheads="1" noTextEdit="1"/>
          </p:cNvSpPr>
          <p:nvPr>
            <p:ph type="sldImg"/>
          </p:nvPr>
        </p:nvSpPr>
        <p:spPr>
          <a:ln/>
        </p:spPr>
      </p:sp>
      <p:sp>
        <p:nvSpPr>
          <p:cNvPr id="5242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p:cNvSpPr>
            <a:spLocks noGrp="1" noRot="1" noChangeAspect="1" noChangeArrowheads="1" noTextEdit="1"/>
          </p:cNvSpPr>
          <p:nvPr>
            <p:ph type="sldImg"/>
          </p:nvPr>
        </p:nvSpPr>
        <p:spPr>
          <a:ln/>
        </p:spPr>
      </p:sp>
      <p:sp>
        <p:nvSpPr>
          <p:cNvPr id="5263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74</a:t>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p:cNvSpPr>
            <a:spLocks noGrp="1" noRot="1" noChangeAspect="1" noChangeArrowheads="1" noTextEdit="1"/>
          </p:cNvSpPr>
          <p:nvPr>
            <p:ph type="sldImg"/>
          </p:nvPr>
        </p:nvSpPr>
        <p:spPr>
          <a:ln/>
        </p:spPr>
      </p:sp>
      <p:sp>
        <p:nvSpPr>
          <p:cNvPr id="5273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p:cNvSpPr>
            <a:spLocks noGrp="1" noRot="1" noChangeAspect="1" noChangeArrowheads="1" noTextEdit="1"/>
          </p:cNvSpPr>
          <p:nvPr>
            <p:ph type="sldImg"/>
          </p:nvPr>
        </p:nvSpPr>
        <p:spPr>
          <a:ln/>
        </p:spPr>
      </p:sp>
      <p:sp>
        <p:nvSpPr>
          <p:cNvPr id="5294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Rectangle 2"/>
          <p:cNvSpPr>
            <a:spLocks noGrp="1" noRot="1" noChangeAspect="1" noChangeArrowheads="1" noTextEdit="1"/>
          </p:cNvSpPr>
          <p:nvPr>
            <p:ph type="sldImg"/>
          </p:nvPr>
        </p:nvSpPr>
        <p:spPr>
          <a:ln/>
        </p:spPr>
      </p:sp>
      <p:sp>
        <p:nvSpPr>
          <p:cNvPr id="5304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Rectangle 2"/>
          <p:cNvSpPr>
            <a:spLocks noGrp="1" noRot="1" noChangeAspect="1" noChangeArrowheads="1" noTextEdit="1"/>
          </p:cNvSpPr>
          <p:nvPr>
            <p:ph type="sldImg"/>
          </p:nvPr>
        </p:nvSpPr>
        <p:spPr>
          <a:ln/>
        </p:spPr>
      </p:sp>
      <p:sp>
        <p:nvSpPr>
          <p:cNvPr id="5314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86</a:t>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Rectangle 2"/>
          <p:cNvSpPr>
            <a:spLocks noGrp="1" noRot="1" noChangeAspect="1" noChangeArrowheads="1" noTextEdit="1"/>
          </p:cNvSpPr>
          <p:nvPr>
            <p:ph type="sldImg"/>
          </p:nvPr>
        </p:nvSpPr>
        <p:spPr>
          <a:ln/>
        </p:spPr>
      </p:sp>
      <p:sp>
        <p:nvSpPr>
          <p:cNvPr id="5314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Rectangle 2"/>
          <p:cNvSpPr>
            <a:spLocks noGrp="1" noRot="1" noChangeAspect="1" noChangeArrowheads="1" noTextEdit="1"/>
          </p:cNvSpPr>
          <p:nvPr>
            <p:ph type="sldImg"/>
          </p:nvPr>
        </p:nvSpPr>
        <p:spPr>
          <a:ln/>
        </p:spPr>
      </p:sp>
      <p:sp>
        <p:nvSpPr>
          <p:cNvPr id="5345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Rot="1" noChangeAspect="1" noChangeArrowheads="1" noTextEdit="1"/>
          </p:cNvSpPr>
          <p:nvPr>
            <p:ph type="sldImg"/>
          </p:nvPr>
        </p:nvSpPr>
        <p:spPr>
          <a:ln/>
        </p:spPr>
      </p:sp>
      <p:sp>
        <p:nvSpPr>
          <p:cNvPr id="5355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p:cNvSpPr>
            <a:spLocks noGrp="1" noRot="1" noChangeAspect="1" noChangeArrowheads="1" noTextEdit="1"/>
          </p:cNvSpPr>
          <p:nvPr>
            <p:ph type="sldImg"/>
          </p:nvPr>
        </p:nvSpPr>
        <p:spPr>
          <a:ln/>
        </p:spPr>
      </p:sp>
      <p:sp>
        <p:nvSpPr>
          <p:cNvPr id="536579" name="Rectangle 3"/>
          <p:cNvSpPr>
            <a:spLocks noGrp="1" noChangeArrowheads="1"/>
          </p:cNvSpPr>
          <p:nvPr>
            <p:ph type="body" idx="1"/>
          </p:nvPr>
        </p:nvSpPr>
        <p:spPr/>
        <p:txBody>
          <a:bodyPr/>
          <a:lstStyle/>
          <a:p>
            <a:r>
              <a:rPr lang="en-US" dirty="0" smtClean="0"/>
              <a:t>Run ./forks</a:t>
            </a:r>
            <a:r>
              <a:rPr lang="en-US" baseline="0" dirty="0" smtClean="0"/>
              <a:t> 2</a:t>
            </a:r>
          </a:p>
          <a:p>
            <a:endParaRPr lang="en-US" baseline="0" dirty="0" smtClean="0"/>
          </a:p>
          <a:p>
            <a:r>
              <a:rPr lang="en-US" baseline="0" dirty="0" smtClean="0"/>
              <a:t>(Similarly for other examples)</a:t>
            </a:r>
          </a:p>
          <a:p>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p:cNvSpPr>
            <a:spLocks noGrp="1" noRot="1" noChangeAspect="1" noChangeArrowheads="1" noTextEdit="1"/>
          </p:cNvSpPr>
          <p:nvPr>
            <p:ph type="sldImg"/>
          </p:nvPr>
        </p:nvSpPr>
        <p:spPr>
          <a:ln/>
        </p:spPr>
      </p:sp>
      <p:sp>
        <p:nvSpPr>
          <p:cNvPr id="536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p:cNvSpPr>
            <a:spLocks noGrp="1" noRot="1" noChangeAspect="1" noChangeArrowheads="1" noTextEdit="1"/>
          </p:cNvSpPr>
          <p:nvPr>
            <p:ph type="sldImg"/>
          </p:nvPr>
        </p:nvSpPr>
        <p:spPr>
          <a:ln/>
        </p:spPr>
      </p:sp>
      <p:sp>
        <p:nvSpPr>
          <p:cNvPr id="536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8" name="Rectangle 2"/>
          <p:cNvSpPr>
            <a:spLocks noGrp="1" noRot="1" noChangeAspect="1" noChangeArrowheads="1" noTextEdit="1"/>
          </p:cNvSpPr>
          <p:nvPr>
            <p:ph type="sldImg"/>
          </p:nvPr>
        </p:nvSpPr>
        <p:spPr>
          <a:ln/>
        </p:spPr>
      </p:sp>
      <p:sp>
        <p:nvSpPr>
          <p:cNvPr id="5416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2"/>
          <p:cNvSpPr>
            <a:spLocks noGrp="1" noRot="1" noChangeAspect="1" noChangeArrowheads="1" noTextEdit="1"/>
          </p:cNvSpPr>
          <p:nvPr>
            <p:ph type="sldImg"/>
          </p:nvPr>
        </p:nvSpPr>
        <p:spPr>
          <a:ln/>
        </p:spPr>
      </p:sp>
      <p:sp>
        <p:nvSpPr>
          <p:cNvPr id="5427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Rot="1" noChangeAspect="1" noChangeArrowheads="1" noTextEdit="1"/>
          </p:cNvSpPr>
          <p:nvPr>
            <p:ph type="sldImg"/>
          </p:nvPr>
        </p:nvSpPr>
        <p:spPr>
          <a:ln/>
        </p:spPr>
      </p:sp>
      <p:sp>
        <p:nvSpPr>
          <p:cNvPr id="5437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Rot="1" noChangeAspect="1" noChangeArrowheads="1" noTextEdit="1"/>
          </p:cNvSpPr>
          <p:nvPr>
            <p:ph type="sldImg"/>
          </p:nvPr>
        </p:nvSpPr>
        <p:spPr>
          <a:ln/>
        </p:spPr>
      </p:sp>
      <p:sp>
        <p:nvSpPr>
          <p:cNvPr id="5447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Rot="1" noChangeAspect="1" noChangeArrowheads="1" noTextEdit="1"/>
          </p:cNvSpPr>
          <p:nvPr>
            <p:ph type="sldImg"/>
          </p:nvPr>
        </p:nvSpPr>
        <p:spPr>
          <a:ln/>
        </p:spPr>
      </p:sp>
      <p:sp>
        <p:nvSpPr>
          <p:cNvPr id="5447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noRot="1" noChangeAspect="1" noChangeArrowheads="1" noTextEdit="1"/>
          </p:cNvSpPr>
          <p:nvPr>
            <p:ph type="sldImg"/>
          </p:nvPr>
        </p:nvSpPr>
        <p:spPr>
          <a:ln/>
        </p:spPr>
      </p:sp>
      <p:sp>
        <p:nvSpPr>
          <p:cNvPr id="5457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Rectangle 2"/>
          <p:cNvSpPr>
            <a:spLocks noGrp="1" noRot="1" noChangeAspect="1" noChangeArrowheads="1" noTextEdit="1"/>
          </p:cNvSpPr>
          <p:nvPr>
            <p:ph type="sldImg"/>
          </p:nvPr>
        </p:nvSpPr>
        <p:spPr>
          <a:ln/>
        </p:spPr>
      </p:sp>
      <p:sp>
        <p:nvSpPr>
          <p:cNvPr id="546819" name="Rectangle 3"/>
          <p:cNvSpPr>
            <a:spLocks noGrp="1" noChangeArrowheads="1"/>
          </p:cNvSpPr>
          <p:nvPr>
            <p:ph type="body" idx="1"/>
          </p:nvPr>
        </p:nvSpPr>
        <p:spPr/>
        <p:txBody>
          <a:bodyPr/>
          <a:lstStyle/>
          <a:p>
            <a:r>
              <a:rPr lang="en-US" dirty="0" smtClean="0"/>
              <a:t>Will consistently terminate in order, even with random delays.</a:t>
            </a:r>
            <a:endParaRPr lang="en-US" baseline="0" dirty="0" smtClean="0"/>
          </a:p>
          <a:p>
            <a:endParaRPr lang="en-US" baseline="0" dirty="0" smtClean="0"/>
          </a:p>
          <a:p>
            <a:r>
              <a:rPr lang="en-US" baseline="0" dirty="0" smtClean="0"/>
              <a:t>But, can turn off delays on parent with</a:t>
            </a:r>
          </a:p>
          <a:p>
            <a:endParaRPr lang="en-US" baseline="0" dirty="0" smtClean="0"/>
          </a:p>
          <a:p>
            <a:r>
              <a:rPr lang="en-US" baseline="0" dirty="0" err="1" smtClean="0"/>
              <a:t>setenv</a:t>
            </a:r>
            <a:r>
              <a:rPr lang="en-US" baseline="0" dirty="0" smtClean="0"/>
              <a:t> PARENT 0</a:t>
            </a:r>
          </a:p>
          <a:p>
            <a:endParaRPr lang="en-US" baseline="0" dirty="0" smtClean="0"/>
          </a:p>
          <a:p>
            <a:r>
              <a:rPr lang="en-US" baseline="0" dirty="0" smtClean="0"/>
              <a:t>Then see variations in termination order</a:t>
            </a:r>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2"/>
          <p:cNvSpPr>
            <a:spLocks noGrp="1" noRot="1" noChangeAspect="1" noChangeArrowheads="1" noTextEdit="1"/>
          </p:cNvSpPr>
          <p:nvPr>
            <p:ph type="sldImg"/>
          </p:nvPr>
        </p:nvSpPr>
        <p:spPr>
          <a:ln/>
        </p:spPr>
      </p:sp>
      <p:sp>
        <p:nvSpPr>
          <p:cNvPr id="547843" name="Rectangle 3"/>
          <p:cNvSpPr>
            <a:spLocks noGrp="1" noChangeArrowheads="1"/>
          </p:cNvSpPr>
          <p:nvPr>
            <p:ph type="body" idx="1"/>
          </p:nvPr>
        </p:nvSpPr>
        <p:spPr/>
        <p:txBody>
          <a:bodyPr/>
          <a:lstStyle/>
          <a:p>
            <a:r>
              <a:rPr lang="en-US" dirty="0" smtClean="0"/>
              <a:t>Will always terminate in reverse order</a:t>
            </a:r>
          </a:p>
          <a:p>
            <a:endParaRPr lang="en-US" dirty="0" smtClean="0"/>
          </a:p>
          <a:p>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Rot="1" noChangeAspect="1" noChangeArrowheads="1" noTextEdit="1"/>
          </p:cNvSpPr>
          <p:nvPr>
            <p:ph type="sldImg"/>
          </p:nvPr>
        </p:nvSpPr>
        <p:spPr>
          <a:ln/>
        </p:spPr>
      </p:sp>
      <p:sp>
        <p:nvSpPr>
          <p:cNvPr id="5498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2"/>
          <p:cNvSpPr>
            <a:spLocks noGrp="1" noRot="1" noChangeAspect="1" noChangeArrowheads="1" noTextEdit="1"/>
          </p:cNvSpPr>
          <p:nvPr>
            <p:ph type="sldImg"/>
          </p:nvPr>
        </p:nvSpPr>
        <p:spPr>
          <a:ln/>
        </p:spPr>
      </p:sp>
      <p:sp>
        <p:nvSpPr>
          <p:cNvPr id="5498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2"/>
          <p:cNvSpPr>
            <a:spLocks noGrp="1" noRot="1" noChangeAspect="1" noChangeArrowheads="1" noTextEdit="1"/>
          </p:cNvSpPr>
          <p:nvPr>
            <p:ph type="sldImg"/>
          </p:nvPr>
        </p:nvSpPr>
        <p:spPr>
          <a:ln/>
        </p:spPr>
      </p:sp>
      <p:sp>
        <p:nvSpPr>
          <p:cNvPr id="550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Rot="1" noChangeAspect="1" noChangeArrowheads="1" noTextEdit="1"/>
          </p:cNvSpPr>
          <p:nvPr>
            <p:ph type="sldImg"/>
          </p:nvPr>
        </p:nvSpPr>
        <p:spPr>
          <a:ln/>
        </p:spPr>
      </p:sp>
      <p:sp>
        <p:nvSpPr>
          <p:cNvPr id="5519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40F64717-A5A5-4C4E-9291-2F18B7410B06}" type="slidenum">
              <a:rPr lang="en-US" smtClean="0"/>
              <a:pPr>
                <a:defRPr/>
              </a:pPr>
              <a:t>115</a:t>
            </a:fld>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28916" y="725676"/>
            <a:ext cx="4848049" cy="3581777"/>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161719674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28916" y="725676"/>
            <a:ext cx="4848049" cy="3581777"/>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376788200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28916" y="725676"/>
            <a:ext cx="4848049" cy="3581777"/>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126805835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28916" y="725676"/>
            <a:ext cx="4848049" cy="3581777"/>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1599366402"/>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28916" y="725676"/>
            <a:ext cx="4848049" cy="3581777"/>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207199964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28916" y="725676"/>
            <a:ext cx="4848049" cy="3581777"/>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50460134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28916" y="725676"/>
            <a:ext cx="4848049" cy="3581777"/>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47559607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1228916" y="725676"/>
            <a:ext cx="4848049" cy="3581777"/>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972751" y="4553934"/>
            <a:ext cx="5357498" cy="276999"/>
          </a:xfrm>
        </p:spPr>
        <p:txBody>
          <a:bodyPr>
            <a:spAutoFit/>
          </a:bodyPr>
          <a:lstStyle>
            <a:defPPr lvl="0">
              <a:buNone/>
            </a:defPPr>
            <a:lvl1pPr lvl="0">
              <a:buNone/>
            </a:lvl1pPr>
            <a:lvl2pPr lvl="1">
              <a:buClr>
                <a:srgbClr val="000000"/>
              </a:buClr>
              <a:buSzPct val="100000"/>
              <a:buFont typeface="Century Gothic" pitchFamily="34"/>
              <a:buChar char="•"/>
            </a:lvl2pPr>
            <a:lvl3pPr lvl="2">
              <a:buClr>
                <a:srgbClr val="000000"/>
              </a:buClr>
              <a:buSzPct val="100000"/>
              <a:buFont typeface="Century Gothic" pitchFamily="34"/>
              <a:buChar char="•"/>
            </a:lvl3pPr>
            <a:lvl4pPr lvl="3">
              <a:buClr>
                <a:srgbClr val="000000"/>
              </a:buClr>
              <a:buSzPct val="100000"/>
              <a:buFont typeface="Century Gothic" pitchFamily="34"/>
              <a:buChar char="•"/>
            </a:lvl4pPr>
            <a:lvl5pPr lvl="4">
              <a:buClr>
                <a:srgbClr val="000000"/>
              </a:buClr>
              <a:buSzPct val="100000"/>
              <a:buFont typeface="Century Gothic" pitchFamily="34"/>
              <a:buChar char="•"/>
            </a:lvl5pPr>
            <a:lvl6pPr lvl="5">
              <a:buClr>
                <a:srgbClr val="000000"/>
              </a:buClr>
              <a:buSzPct val="100000"/>
              <a:buFont typeface="Century Gothic" pitchFamily="34"/>
              <a:buChar char="•"/>
            </a:lvl6pPr>
            <a:lvl7pPr lvl="6">
              <a:buClr>
                <a:srgbClr val="000000"/>
              </a:buClr>
              <a:buSzPct val="100000"/>
              <a:buFont typeface="Century Gothic" pitchFamily="34"/>
              <a:buChar char="•"/>
            </a:lvl7pPr>
            <a:lvl8pPr lvl="7">
              <a:buClr>
                <a:srgbClr val="000000"/>
              </a:buClr>
              <a:buSzPct val="100000"/>
              <a:buFont typeface="Century Gothic" pitchFamily="34"/>
              <a:buChar char="•"/>
            </a:lvl8pPr>
            <a:lvl9pPr lvl="8">
              <a:buClr>
                <a:srgbClr val="000000"/>
              </a:buClr>
              <a:buSzPct val="100000"/>
              <a:buFont typeface="Century Gothic" pitchFamily="34"/>
              <a:buChar char="•"/>
            </a:lvl9pPr>
          </a:lstStyle>
          <a:p>
            <a:endParaRPr lang="en-US"/>
          </a:p>
        </p:txBody>
      </p:sp>
    </p:spTree>
    <p:extLst>
      <p:ext uri="{BB962C8B-B14F-4D97-AF65-F5344CB8AC3E}">
        <p14:creationId xmlns:p14="http://schemas.microsoft.com/office/powerpoint/2010/main" val="221649700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Rot="1" noChangeAspect="1" noChangeArrowheads="1" noTextEdit="1"/>
          </p:cNvSpPr>
          <p:nvPr>
            <p:ph type="sldImg"/>
          </p:nvPr>
        </p:nvSpPr>
        <p:spPr>
          <a:ln/>
        </p:spPr>
      </p:sp>
      <p:sp>
        <p:nvSpPr>
          <p:cNvPr id="5355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Rot="1" noChangeAspect="1" noChangeArrowheads="1" noTextEdit="1"/>
          </p:cNvSpPr>
          <p:nvPr>
            <p:ph type="sldImg"/>
          </p:nvPr>
        </p:nvSpPr>
        <p:spPr>
          <a:ln/>
        </p:spPr>
      </p:sp>
      <p:sp>
        <p:nvSpPr>
          <p:cNvPr id="535555" name="Rectangle 3"/>
          <p:cNvSpPr>
            <a:spLocks noGrp="1" noChangeArrowheads="1"/>
          </p:cNvSpPr>
          <p:nvPr>
            <p:ph type="body" idx="1"/>
          </p:nvPr>
        </p:nvSpPr>
        <p:spPr/>
        <p:txBody>
          <a:bodyPr/>
          <a:lstStyle/>
          <a:p>
            <a:r>
              <a:rPr lang="en-US" dirty="0" smtClean="0"/>
              <a:t>Enable with:</a:t>
            </a:r>
          </a:p>
          <a:p>
            <a:endParaRPr lang="en-US" dirty="0" smtClean="0"/>
          </a:p>
          <a:p>
            <a:r>
              <a:rPr lang="en-US" dirty="0" err="1" smtClean="0"/>
              <a:t>setenv</a:t>
            </a:r>
            <a:r>
              <a:rPr lang="en-US" baseline="0" dirty="0" smtClean="0"/>
              <a:t> LD_PRELOAD ./</a:t>
            </a:r>
            <a:r>
              <a:rPr lang="en-US" baseline="0" dirty="0" err="1" smtClean="0"/>
              <a:t>myfork.so</a:t>
            </a:r>
            <a:endParaRPr lang="en-US" baseline="0" dirty="0" smtClean="0"/>
          </a:p>
          <a:p>
            <a:endParaRPr lang="en-US" baseline="0" dirty="0" smtClean="0"/>
          </a:p>
          <a:p>
            <a:r>
              <a:rPr lang="en-US" baseline="0" dirty="0" smtClean="0"/>
              <a:t>Can turn on/off verbose printing with:</a:t>
            </a:r>
          </a:p>
          <a:p>
            <a:endParaRPr lang="en-US" baseline="0" dirty="0" smtClean="0"/>
          </a:p>
          <a:p>
            <a:r>
              <a:rPr lang="en-US" baseline="0" dirty="0" err="1" smtClean="0"/>
              <a:t>setenv</a:t>
            </a:r>
            <a:r>
              <a:rPr lang="en-US" baseline="0" dirty="0" smtClean="0"/>
              <a:t> VERBOSE 1</a:t>
            </a:r>
          </a:p>
          <a:p>
            <a:endParaRPr lang="en-US" baseline="0" dirty="0" smtClean="0"/>
          </a:p>
          <a:p>
            <a:r>
              <a:rPr lang="en-US" baseline="0" dirty="0" err="1" smtClean="0"/>
              <a:t>unsetenv</a:t>
            </a:r>
            <a:r>
              <a:rPr lang="en-US" baseline="0" dirty="0" smtClean="0"/>
              <a:t> VERBOSE</a:t>
            </a:r>
          </a:p>
          <a:p>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2"/>
          <p:cNvSpPr>
            <a:spLocks noGrp="1" noRot="1" noChangeAspect="1" noChangeArrowheads="1" noTextEdit="1"/>
          </p:cNvSpPr>
          <p:nvPr>
            <p:ph type="sldImg"/>
          </p:nvPr>
        </p:nvSpPr>
        <p:spPr>
          <a:ln/>
        </p:spPr>
      </p:sp>
      <p:sp>
        <p:nvSpPr>
          <p:cNvPr id="535555"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08012"/>
            <a:ext cx="7772400" cy="1470025"/>
          </a:xfrm>
        </p:spPr>
        <p:txBody>
          <a:bodyPr/>
          <a:lstStyle>
            <a:lvl1pPr>
              <a:defRPr>
                <a:latin typeface="Calibri" pitchFamily="34" charset="0"/>
              </a:defRPr>
            </a:lvl1pPr>
          </a:lstStyle>
          <a:p>
            <a:r>
              <a:rPr lang="en-US" dirty="0"/>
              <a:t>Click to edit Master title style</a:t>
            </a:r>
          </a:p>
        </p:txBody>
      </p:sp>
      <p:sp>
        <p:nvSpPr>
          <p:cNvPr id="3" name="Subtitle 2"/>
          <p:cNvSpPr>
            <a:spLocks noGrp="1"/>
          </p:cNvSpPr>
          <p:nvPr>
            <p:ph type="subTitle" idx="1"/>
          </p:nvPr>
        </p:nvSpPr>
        <p:spPr>
          <a:xfrm>
            <a:off x="685800" y="3886200"/>
            <a:ext cx="7677492" cy="1752600"/>
          </a:xfrm>
        </p:spPr>
        <p:txBody>
          <a:bodyPr/>
          <a:lstStyle>
            <a:lvl1pPr marL="0" indent="0" algn="l">
              <a:buNone/>
              <a:defRPr sz="2000" b="0">
                <a:latin typeface="Calibri"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7592093" cy="762000"/>
          </a:xfrm>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atin typeface="Calibri" pitchFamily="34" charset="0"/>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sz="half" idx="1"/>
          </p:nvPr>
        </p:nvSpPr>
        <p:spPr>
          <a:xfrm>
            <a:off x="638175" y="1362075"/>
            <a:ext cx="3871913"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62488" y="1362075"/>
            <a:ext cx="3871912" cy="4972050"/>
          </a:xfrm>
        </p:spPr>
        <p:txBody>
          <a:bodyPr/>
          <a:lstStyle>
            <a:lvl1pPr>
              <a:defRPr sz="2800">
                <a:latin typeface="Calibri" pitchFamily="34" charset="0"/>
              </a:defRPr>
            </a:lvl1pPr>
            <a:lvl2pPr>
              <a:defRPr sz="2400">
                <a:latin typeface="Calibri" pitchFamily="34" charset="0"/>
              </a:defRPr>
            </a:lvl2pPr>
            <a:lvl3pPr>
              <a:defRPr sz="2000">
                <a:latin typeface="Calibri" pitchFamily="34" charset="0"/>
              </a:defRPr>
            </a:lvl3pPr>
            <a:lvl4pPr>
              <a:defRPr sz="1800">
                <a:latin typeface="Calibri" pitchFamily="34" charset="0"/>
              </a:defRPr>
            </a:lvl4pPr>
            <a:lvl5pPr>
              <a:defRPr sz="1800">
                <a:latin typeface="Calibri"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atin typeface="Calibri" pitchFamily="34" charset="0"/>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Calibri" pitchFamily="34" charset="0"/>
              </a:defRPr>
            </a:lvl1pPr>
            <a:lvl2pPr>
              <a:defRPr sz="2000">
                <a:latin typeface="Calibri" pitchFamily="34" charset="0"/>
              </a:defRPr>
            </a:lvl2pPr>
            <a:lvl3pPr>
              <a:defRPr sz="1800">
                <a:latin typeface="Calibri" pitchFamily="34" charset="0"/>
              </a:defRPr>
            </a:lvl3pPr>
            <a:lvl4pPr>
              <a:defRPr sz="1600">
                <a:latin typeface="Calibri" pitchFamily="34" charset="0"/>
              </a:defRPr>
            </a:lvl4pPr>
            <a:lvl5pPr>
              <a:defRPr sz="1600">
                <a:latin typeface="Calibri"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57762" y="445070"/>
            <a:ext cx="7591425" cy="762000"/>
          </a:xfrm>
        </p:spPr>
        <p:txBody>
          <a:bodyPr/>
          <a:lstStyle>
            <a:lvl1pPr>
              <a:defRPr>
                <a:latin typeface="Calibri" pitchFamily="34" charset="0"/>
              </a:defRPr>
            </a:lvl1pPr>
          </a:lstStyle>
          <a:p>
            <a:r>
              <a:rPr lang="en-US" dirty="0"/>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Calibri" pitchFamily="34" charset="0"/>
              </a:defRPr>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atin typeface="Calibri" pitchFamily="34" charset="0"/>
              </a:defRPr>
            </a:lvl1pPr>
            <a:lvl2pPr>
              <a:defRPr sz="2800">
                <a:latin typeface="Calibri" pitchFamily="34" charset="0"/>
              </a:defRPr>
            </a:lvl2pPr>
            <a:lvl3pPr>
              <a:defRPr sz="2400">
                <a:latin typeface="Calibri" pitchFamily="34" charset="0"/>
              </a:defRPr>
            </a:lvl3pPr>
            <a:lvl4pPr>
              <a:defRPr sz="2000">
                <a:latin typeface="Calibri" pitchFamily="34" charset="0"/>
              </a:defRPr>
            </a:lvl4pPr>
            <a:lvl5pPr>
              <a:defRPr sz="2000">
                <a:latin typeface="Calibri" pitchFamily="34"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Calibri" pitchFamily="34" charset="0"/>
              </a:defRPr>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Calibri"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58013" y="228600"/>
            <a:ext cx="2185987" cy="6105525"/>
          </a:xfrm>
        </p:spPr>
        <p:txBody>
          <a:bodyPr vert="eaVert"/>
          <a:lstStyle>
            <a:lvl1pPr>
              <a:defRPr>
                <a:latin typeface="Calibri" pitchFamily="34" charset="0"/>
              </a:defRPr>
            </a:lvl1pPr>
          </a:lstStyle>
          <a:p>
            <a:r>
              <a:rPr lang="en-US" dirty="0"/>
              <a:t>Click to edit Master title style</a:t>
            </a:r>
          </a:p>
        </p:txBody>
      </p:sp>
      <p:sp>
        <p:nvSpPr>
          <p:cNvPr id="3" name="Vertical Text Placeholder 2"/>
          <p:cNvSpPr>
            <a:spLocks noGrp="1"/>
          </p:cNvSpPr>
          <p:nvPr>
            <p:ph type="body" orient="vert" idx="1"/>
          </p:nvPr>
        </p:nvSpPr>
        <p:spPr>
          <a:xfrm>
            <a:off x="396875" y="228600"/>
            <a:ext cx="6408738" cy="6105525"/>
          </a:xfrm>
        </p:spPr>
        <p:txBody>
          <a:bodyPr vert="eaVert"/>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96875" y="228600"/>
            <a:ext cx="8747125" cy="762000"/>
          </a:xfrm>
        </p:spPr>
        <p:txBody>
          <a:bodyPr/>
          <a:lstStyle>
            <a:lvl1pPr>
              <a:defRPr>
                <a:latin typeface="Calibri" pitchFamily="34" charset="0"/>
              </a:defRPr>
            </a:lvl1pPr>
          </a:lstStyle>
          <a:p>
            <a:r>
              <a:rPr lang="en-US" dirty="0"/>
              <a:t>Click to edit Master title style</a:t>
            </a:r>
          </a:p>
        </p:txBody>
      </p:sp>
      <p:sp>
        <p:nvSpPr>
          <p:cNvPr id="3" name="Content Placeholder 2"/>
          <p:cNvSpPr>
            <a:spLocks noGrp="1"/>
          </p:cNvSpPr>
          <p:nvPr>
            <p:ph sz="half" idx="1"/>
          </p:nvPr>
        </p:nvSpPr>
        <p:spPr>
          <a:xfrm>
            <a:off x="638175" y="1362075"/>
            <a:ext cx="3871913"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
          </p:nvPr>
        </p:nvSpPr>
        <p:spPr>
          <a:xfrm>
            <a:off x="4662488" y="1362075"/>
            <a:ext cx="3871912"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3"/>
          </p:nvPr>
        </p:nvSpPr>
        <p:spPr>
          <a:xfrm>
            <a:off x="4662488" y="3924300"/>
            <a:ext cx="3871912" cy="2409825"/>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6875" y="228600"/>
            <a:ext cx="8747125" cy="762000"/>
          </a:xfrm>
        </p:spPr>
        <p:txBody>
          <a:bodyPr/>
          <a:lstStyle>
            <a:lvl1pPr>
              <a:defRPr>
                <a:latin typeface="Calibri" pitchFamily="34" charset="0"/>
              </a:defRPr>
            </a:lvl1pPr>
          </a:lstStyle>
          <a:p>
            <a:r>
              <a:rPr lang="en-US" dirty="0"/>
              <a:t>Click to edit Master title style</a:t>
            </a:r>
          </a:p>
        </p:txBody>
      </p:sp>
      <p:sp>
        <p:nvSpPr>
          <p:cNvPr id="3" name="Text Placeholder 2"/>
          <p:cNvSpPr>
            <a:spLocks noGrp="1"/>
          </p:cNvSpPr>
          <p:nvPr>
            <p:ph type="body" sz="half" idx="1"/>
          </p:nvPr>
        </p:nvSpPr>
        <p:spPr>
          <a:xfrm>
            <a:off x="638175" y="1362075"/>
            <a:ext cx="3871913"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62488" y="1362075"/>
            <a:ext cx="3871912" cy="4972050"/>
          </a:xfrm>
        </p:spPr>
        <p:txBody>
          <a:bodyPr/>
          <a:lstStyle>
            <a:lvl1pPr>
              <a:defRPr>
                <a:latin typeface="Calibri" pitchFamily="34" charset="0"/>
              </a:defRPr>
            </a:lvl1pPr>
            <a:lvl2pPr>
              <a:defRPr>
                <a:latin typeface="Calibri" pitchFamily="34" charset="0"/>
              </a:defRPr>
            </a:lvl2pPr>
            <a:lvl3pPr>
              <a:defRPr>
                <a:latin typeface="Calibri" pitchFamily="34" charset="0"/>
              </a:defRPr>
            </a:lvl3pPr>
            <a:lvl4pPr>
              <a:defRPr>
                <a:latin typeface="Calibri" pitchFamily="34" charset="0"/>
              </a:defRPr>
            </a:lvl4pPr>
            <a:lvl5pPr>
              <a:defRPr>
                <a:latin typeface="Calibr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374090" y="371182"/>
            <a:ext cx="7591425"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8195" name="Rectangle 3"/>
          <p:cNvSpPr>
            <a:spLocks noGrp="1" noChangeArrowheads="1"/>
          </p:cNvSpPr>
          <p:nvPr>
            <p:ph type="body" idx="1"/>
          </p:nvPr>
        </p:nvSpPr>
        <p:spPr bwMode="auto">
          <a:xfrm>
            <a:off x="396875" y="1362075"/>
            <a:ext cx="7896225" cy="4972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p:cNvSpPr/>
          <p:nvPr userDrawn="1"/>
        </p:nvSpPr>
        <p:spPr>
          <a:xfrm>
            <a:off x="8830843" y="6611779"/>
            <a:ext cx="338554" cy="246221"/>
          </a:xfrm>
          <a:prstGeom prst="rect">
            <a:avLst/>
          </a:prstGeom>
        </p:spPr>
        <p:txBody>
          <a:bodyPr wrap="none">
            <a:spAutoFit/>
          </a:bodyPr>
          <a:lstStyle/>
          <a:p>
            <a:fld id="{F5551B27-49BC-4291-80C6-707CDCF1D651}" type="slidenum">
              <a:rPr kumimoji="0" lang="en-US" sz="1000" b="1" i="0" u="none" strike="noStrike" kern="1200" cap="none" spc="0" normalizeH="0" baseline="0" noProof="0" smtClean="0">
                <a:ln>
                  <a:noFill/>
                </a:ln>
                <a:solidFill>
                  <a:srgbClr val="000000"/>
                </a:solidFill>
                <a:effectLst/>
                <a:uLnTx/>
                <a:uFillTx/>
                <a:latin typeface="Calibri" panose="020F0502020204030204" pitchFamily="34" charset="0"/>
                <a:ea typeface="ＭＳ Ｐゴシック" pitchFamily="-96" charset="-128"/>
                <a:cs typeface="ＭＳ Ｐゴシック" pitchFamily="-96" charset="-128"/>
              </a:rPr>
              <a:pPr/>
              <a:t>‹#›</a:t>
            </a:fld>
            <a:endParaRPr lang="en-US" sz="1000" dirty="0">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0" r:id="rId2"/>
    <p:sldLayoutId id="2147483659" r:id="rId3"/>
    <p:sldLayoutId id="2147483658" r:id="rId4"/>
    <p:sldLayoutId id="2147483657" r:id="rId5"/>
    <p:sldLayoutId id="2147483656" r:id="rId6"/>
    <p:sldLayoutId id="2147483655" r:id="rId7"/>
    <p:sldLayoutId id="2147483654" r:id="rId8"/>
    <p:sldLayoutId id="2147483653" r:id="rId9"/>
    <p:sldLayoutId id="2147483652" r:id="rId10"/>
    <p:sldLayoutId id="2147483651" r:id="rId11"/>
    <p:sldLayoutId id="2147483650" r:id="rId12"/>
    <p:sldLayoutId id="2147483649" r:id="rId13"/>
  </p:sldLayoutIdLst>
  <p:txStyles>
    <p:titleStyle>
      <a:lvl1pPr marL="119063" indent="-119063" algn="l" rtl="0" eaLnBrk="1" fontAlgn="base" hangingPunct="1">
        <a:spcBef>
          <a:spcPct val="0"/>
        </a:spcBef>
        <a:spcAft>
          <a:spcPct val="0"/>
        </a:spcAft>
        <a:defRPr sz="3600" b="1">
          <a:solidFill>
            <a:schemeClr val="tx1"/>
          </a:solidFill>
          <a:latin typeface="Calibri" pitchFamily="34" charset="0"/>
          <a:ea typeface="+mj-ea"/>
          <a:cs typeface="+mj-cs"/>
        </a:defRPr>
      </a:lvl1pPr>
      <a:lvl2pPr marL="119063" indent="-119063" algn="l" rtl="0" eaLnBrk="1" fontAlgn="base" hangingPunct="1">
        <a:spcBef>
          <a:spcPct val="0"/>
        </a:spcBef>
        <a:spcAft>
          <a:spcPct val="0"/>
        </a:spcAft>
        <a:defRPr sz="3600" b="1">
          <a:solidFill>
            <a:schemeClr val="tx1"/>
          </a:solidFill>
          <a:latin typeface="Arial Narrow" pitchFamily="34" charset="0"/>
        </a:defRPr>
      </a:lvl2pPr>
      <a:lvl3pPr marL="119063" indent="-119063" algn="l" rtl="0" eaLnBrk="1" fontAlgn="base" hangingPunct="1">
        <a:spcBef>
          <a:spcPct val="0"/>
        </a:spcBef>
        <a:spcAft>
          <a:spcPct val="0"/>
        </a:spcAft>
        <a:defRPr sz="3600" b="1">
          <a:solidFill>
            <a:schemeClr val="tx1"/>
          </a:solidFill>
          <a:latin typeface="Arial Narrow" pitchFamily="34" charset="0"/>
        </a:defRPr>
      </a:lvl3pPr>
      <a:lvl4pPr marL="119063" indent="-119063" algn="l" rtl="0" eaLnBrk="1" fontAlgn="base" hangingPunct="1">
        <a:spcBef>
          <a:spcPct val="0"/>
        </a:spcBef>
        <a:spcAft>
          <a:spcPct val="0"/>
        </a:spcAft>
        <a:defRPr sz="3600" b="1">
          <a:solidFill>
            <a:schemeClr val="tx1"/>
          </a:solidFill>
          <a:latin typeface="Arial Narrow" pitchFamily="34" charset="0"/>
        </a:defRPr>
      </a:lvl4pPr>
      <a:lvl5pPr marL="119063" indent="-119063" algn="l" rtl="0" eaLnBrk="1" fontAlgn="base" hangingPunct="1">
        <a:spcBef>
          <a:spcPct val="0"/>
        </a:spcBef>
        <a:spcAft>
          <a:spcPct val="0"/>
        </a:spcAft>
        <a:defRPr sz="3600" b="1">
          <a:solidFill>
            <a:schemeClr val="tx1"/>
          </a:solidFill>
          <a:latin typeface="Arial Narrow" pitchFamily="34" charset="0"/>
        </a:defRPr>
      </a:lvl5pPr>
      <a:lvl6pPr marL="576263" algn="l" rtl="0" eaLnBrk="1" fontAlgn="base" hangingPunct="1">
        <a:spcBef>
          <a:spcPct val="0"/>
        </a:spcBef>
        <a:spcAft>
          <a:spcPct val="0"/>
        </a:spcAft>
        <a:defRPr sz="3600" b="1">
          <a:solidFill>
            <a:schemeClr val="tx1"/>
          </a:solidFill>
          <a:latin typeface="Arial Narrow" pitchFamily="34" charset="0"/>
        </a:defRPr>
      </a:lvl6pPr>
      <a:lvl7pPr marL="1033463" algn="l" rtl="0" eaLnBrk="1" fontAlgn="base" hangingPunct="1">
        <a:spcBef>
          <a:spcPct val="0"/>
        </a:spcBef>
        <a:spcAft>
          <a:spcPct val="0"/>
        </a:spcAft>
        <a:defRPr sz="3600" b="1">
          <a:solidFill>
            <a:schemeClr val="tx1"/>
          </a:solidFill>
          <a:latin typeface="Arial Narrow" pitchFamily="34" charset="0"/>
        </a:defRPr>
      </a:lvl7pPr>
      <a:lvl8pPr marL="1490663" algn="l" rtl="0" eaLnBrk="1" fontAlgn="base" hangingPunct="1">
        <a:spcBef>
          <a:spcPct val="0"/>
        </a:spcBef>
        <a:spcAft>
          <a:spcPct val="0"/>
        </a:spcAft>
        <a:defRPr sz="3600" b="1">
          <a:solidFill>
            <a:schemeClr val="tx1"/>
          </a:solidFill>
          <a:latin typeface="Arial Narrow" pitchFamily="34" charset="0"/>
        </a:defRPr>
      </a:lvl8pPr>
      <a:lvl9pPr marL="1947863" algn="l" rtl="0" eaLnBrk="1" fontAlgn="base" hangingPunct="1">
        <a:spcBef>
          <a:spcPct val="0"/>
        </a:spcBef>
        <a:spcAft>
          <a:spcPct val="0"/>
        </a:spcAft>
        <a:defRPr sz="3600" b="1">
          <a:solidFill>
            <a:schemeClr val="tx1"/>
          </a:solidFill>
          <a:latin typeface="Arial Narrow" pitchFamily="34" charset="0"/>
        </a:defRPr>
      </a:lvl9pPr>
    </p:titleStyle>
    <p:body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p:cNvSpPr>
            <a:spLocks noGrp="1" noChangeArrowheads="1"/>
          </p:cNvSpPr>
          <p:nvPr>
            <p:ph type="body" idx="1"/>
          </p:nvPr>
        </p:nvSpPr>
        <p:spPr bwMode="auto">
          <a:xfrm>
            <a:off x="290513" y="1220788"/>
            <a:ext cx="8305800" cy="5222875"/>
          </a:xfrm>
          <a:prstGeom prst="rect">
            <a:avLst/>
          </a:prstGeom>
          <a:noFill/>
          <a:ln w="9525">
            <a:noFill/>
            <a:round/>
            <a:headEnd/>
            <a:tailEnd/>
          </a:ln>
          <a:effectLst/>
        </p:spPr>
        <p:txBody>
          <a:bodyPr vert="horz" wrap="square" lIns="90360" tIns="44280" rIns="90360" bIns="44280" numCol="1" anchor="t" anchorCtr="0" compatLnSpc="1">
            <a:prstTxWarp prst="textNoShape">
              <a:avLst/>
            </a:prstTxWarp>
          </a:bodyPr>
          <a:lstStyle/>
          <a:p>
            <a:pPr lvl="0"/>
            <a:r>
              <a:rPr lang="en-GB"/>
              <a:t>Click to edit the outline text format</a:t>
            </a:r>
          </a:p>
          <a:p>
            <a:pPr lvl="1"/>
            <a:r>
              <a:rPr lang="en-GB"/>
              <a:t>Second Outline Level</a:t>
            </a:r>
          </a:p>
          <a:p>
            <a:pPr lvl="2"/>
            <a:r>
              <a:rPr lang="en-GB"/>
              <a:t>Third Outline Level</a:t>
            </a:r>
          </a:p>
          <a:p>
            <a:pPr lvl="3"/>
            <a:r>
              <a:rPr lang="en-GB"/>
              <a:t>Fourth Outline Level</a:t>
            </a:r>
          </a:p>
          <a:p>
            <a:pPr lvl="4"/>
            <a:r>
              <a:rPr lang="en-GB"/>
              <a:t>Fifth Outline Level</a:t>
            </a:r>
          </a:p>
          <a:p>
            <a:pPr lvl="4"/>
            <a:r>
              <a:rPr lang="en-GB"/>
              <a:t>Sixth Outline Level</a:t>
            </a:r>
          </a:p>
          <a:p>
            <a:pPr lvl="4"/>
            <a:r>
              <a:rPr lang="en-GB"/>
              <a:t>Seventh Outline Level</a:t>
            </a:r>
          </a:p>
          <a:p>
            <a:pPr lvl="4"/>
            <a:r>
              <a:rPr lang="en-GB"/>
              <a:t>Eighth Outline Level</a:t>
            </a:r>
          </a:p>
          <a:p>
            <a:pPr lvl="4"/>
            <a:r>
              <a:rPr lang="en-GB"/>
              <a:t>Ninth Outline Level</a:t>
            </a:r>
          </a:p>
        </p:txBody>
      </p:sp>
      <p:sp>
        <p:nvSpPr>
          <p:cNvPr id="1027" name="Rectangle 2"/>
          <p:cNvSpPr>
            <a:spLocks noGrp="1" noChangeArrowheads="1"/>
          </p:cNvSpPr>
          <p:nvPr>
            <p:ph type="title"/>
          </p:nvPr>
        </p:nvSpPr>
        <p:spPr bwMode="auto">
          <a:xfrm>
            <a:off x="404813" y="247650"/>
            <a:ext cx="8715375" cy="781050"/>
          </a:xfrm>
          <a:prstGeom prst="rect">
            <a:avLst/>
          </a:prstGeom>
          <a:noFill/>
          <a:ln w="9525">
            <a:noFill/>
            <a:round/>
            <a:headEnd/>
            <a:tailEnd/>
          </a:ln>
        </p:spPr>
        <p:txBody>
          <a:bodyPr vert="horz" wrap="square" lIns="0" tIns="0" rIns="0" bIns="0" numCol="1" anchor="ctr" anchorCtr="0" compatLnSpc="1">
            <a:prstTxWarp prst="textNoShape">
              <a:avLst/>
            </a:prstTxWarp>
          </a:bodyPr>
          <a:lstStyle/>
          <a:p>
            <a:pPr lvl="0"/>
            <a:r>
              <a:rPr lang="en-GB"/>
              <a:t>Click to edit the title text format</a:t>
            </a:r>
          </a:p>
        </p:txBody>
      </p:sp>
      <p:sp>
        <p:nvSpPr>
          <p:cNvPr id="2" name="Text Box 3"/>
          <p:cNvSpPr txBox="1">
            <a:spLocks noChangeArrowheads="1"/>
          </p:cNvSpPr>
          <p:nvPr/>
        </p:nvSpPr>
        <p:spPr bwMode="auto">
          <a:xfrm>
            <a:off x="442913" y="6345238"/>
            <a:ext cx="447675" cy="395287"/>
          </a:xfrm>
          <a:prstGeom prst="rect">
            <a:avLst/>
          </a:prstGeom>
          <a:noFill/>
          <a:ln w="9525">
            <a:noFill/>
            <a:round/>
            <a:headEnd/>
            <a:tailEnd/>
          </a:ln>
          <a:effectLst/>
        </p:spPr>
        <p:txBody>
          <a:bodyPr wrap="none" lIns="45720" rIns="45720" anchor="ctr">
            <a:prstTxWarp prst="textNoShape">
              <a:avLst/>
            </a:prstTxWarp>
            <a:spAutoFit/>
          </a:bodyPr>
          <a:lstStyle/>
          <a:p>
            <a:pPr algn="ctr" defTabSz="457200">
              <a:lnSpc>
                <a:spcPct val="83000"/>
              </a:lnSpc>
              <a:buClr>
                <a:srgbClr val="000066"/>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fld id="{BBC07E77-5360-6D43-8AEB-E24B08212AFE}" type="slidenum">
              <a:rPr lang="en-GB" b="0">
                <a:solidFill>
                  <a:srgbClr val="000066"/>
                </a:solidFill>
                <a:latin typeface="Times New Roman" charset="0"/>
              </a:rPr>
              <a:pPr algn="ctr" defTabSz="457200">
                <a:lnSpc>
                  <a:spcPct val="83000"/>
                </a:lnSpc>
                <a:buClr>
                  <a:srgbClr val="000066"/>
                </a:buClr>
                <a:buSzPct val="100000"/>
                <a:buFont typeface="Times New Roman"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t>‹#›</a:t>
            </a:fld>
            <a:endParaRPr lang="en-GB" b="0">
              <a:solidFill>
                <a:srgbClr val="000066"/>
              </a:solidFill>
              <a:latin typeface="Times New Roman" charset="0"/>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457200" rtl="0" eaLnBrk="0" fontAlgn="base" hangingPunct="0">
        <a:lnSpc>
          <a:spcPct val="85000"/>
        </a:lnSpc>
        <a:spcBef>
          <a:spcPct val="0"/>
        </a:spcBef>
        <a:spcAft>
          <a:spcPct val="0"/>
        </a:spcAft>
        <a:buClr>
          <a:srgbClr val="660033"/>
        </a:buClr>
        <a:buSzPct val="100000"/>
        <a:buFont typeface="Helvetica" charset="0"/>
        <a:defRPr sz="3800" b="1">
          <a:solidFill>
            <a:srgbClr val="660033"/>
          </a:solidFill>
          <a:latin typeface="+mj-lt"/>
          <a:ea typeface="ＭＳ Ｐゴシック" charset="-128"/>
          <a:cs typeface="ＭＳ Ｐゴシック" charset="-128"/>
        </a:defRPr>
      </a:lvl1pPr>
      <a:lvl2pPr algn="l" defTabSz="457200" rtl="0" eaLnBrk="0" fontAlgn="base" hangingPunct="0">
        <a:lnSpc>
          <a:spcPct val="85000"/>
        </a:lnSpc>
        <a:spcBef>
          <a:spcPct val="0"/>
        </a:spcBef>
        <a:spcAft>
          <a:spcPct val="0"/>
        </a:spcAft>
        <a:buClr>
          <a:srgbClr val="660033"/>
        </a:buClr>
        <a:buSzPct val="100000"/>
        <a:buFont typeface="Helvetica" charset="0"/>
        <a:defRPr sz="3800" b="1">
          <a:solidFill>
            <a:srgbClr val="660033"/>
          </a:solidFill>
          <a:latin typeface="Helvetica" charset="0"/>
          <a:ea typeface="ＭＳ Ｐゴシック" charset="-128"/>
          <a:cs typeface="ＭＳ Ｐゴシック" charset="-128"/>
        </a:defRPr>
      </a:lvl2pPr>
      <a:lvl3pPr algn="l" defTabSz="457200" rtl="0" eaLnBrk="0" fontAlgn="base" hangingPunct="0">
        <a:lnSpc>
          <a:spcPct val="85000"/>
        </a:lnSpc>
        <a:spcBef>
          <a:spcPct val="0"/>
        </a:spcBef>
        <a:spcAft>
          <a:spcPct val="0"/>
        </a:spcAft>
        <a:buClr>
          <a:srgbClr val="660033"/>
        </a:buClr>
        <a:buSzPct val="100000"/>
        <a:buFont typeface="Helvetica" charset="0"/>
        <a:defRPr sz="3800" b="1">
          <a:solidFill>
            <a:srgbClr val="660033"/>
          </a:solidFill>
          <a:latin typeface="Helvetica" charset="0"/>
          <a:ea typeface="ＭＳ Ｐゴシック" charset="-128"/>
          <a:cs typeface="ＭＳ Ｐゴシック" charset="-128"/>
        </a:defRPr>
      </a:lvl3pPr>
      <a:lvl4pPr algn="l" defTabSz="457200" rtl="0" eaLnBrk="0" fontAlgn="base" hangingPunct="0">
        <a:lnSpc>
          <a:spcPct val="85000"/>
        </a:lnSpc>
        <a:spcBef>
          <a:spcPct val="0"/>
        </a:spcBef>
        <a:spcAft>
          <a:spcPct val="0"/>
        </a:spcAft>
        <a:buClr>
          <a:srgbClr val="660033"/>
        </a:buClr>
        <a:buSzPct val="100000"/>
        <a:buFont typeface="Helvetica" charset="0"/>
        <a:defRPr sz="3800" b="1">
          <a:solidFill>
            <a:srgbClr val="660033"/>
          </a:solidFill>
          <a:latin typeface="Helvetica" charset="0"/>
          <a:ea typeface="ＭＳ Ｐゴシック" charset="-128"/>
          <a:cs typeface="ＭＳ Ｐゴシック" charset="-128"/>
        </a:defRPr>
      </a:lvl4pPr>
      <a:lvl5pPr algn="l" defTabSz="457200" rtl="0" eaLnBrk="0" fontAlgn="base" hangingPunct="0">
        <a:lnSpc>
          <a:spcPct val="85000"/>
        </a:lnSpc>
        <a:spcBef>
          <a:spcPct val="0"/>
        </a:spcBef>
        <a:spcAft>
          <a:spcPct val="0"/>
        </a:spcAft>
        <a:buClr>
          <a:srgbClr val="660033"/>
        </a:buClr>
        <a:buSzPct val="100000"/>
        <a:buFont typeface="Helvetica" charset="0"/>
        <a:defRPr sz="3800" b="1">
          <a:solidFill>
            <a:srgbClr val="660033"/>
          </a:solidFill>
          <a:latin typeface="Helvetica" charset="0"/>
          <a:ea typeface="ＭＳ Ｐゴシック" charset="-128"/>
          <a:cs typeface="ＭＳ Ｐゴシック" charset="-128"/>
        </a:defRPr>
      </a:lvl5pPr>
      <a:lvl6pPr marL="1536700" indent="-215900" algn="l" defTabSz="457200" rtl="0" fontAlgn="base">
        <a:lnSpc>
          <a:spcPct val="85000"/>
        </a:lnSpc>
        <a:spcBef>
          <a:spcPct val="0"/>
        </a:spcBef>
        <a:spcAft>
          <a:spcPct val="0"/>
        </a:spcAft>
        <a:buClr>
          <a:srgbClr val="000000"/>
        </a:buClr>
        <a:buSzPct val="45000"/>
        <a:buFont typeface="StarSymbol" charset="0"/>
        <a:defRPr sz="3800" b="1">
          <a:solidFill>
            <a:srgbClr val="660033"/>
          </a:solidFill>
          <a:latin typeface="Helvetica" charset="0"/>
          <a:ea typeface="ＭＳ Ｐゴシック" charset="-128"/>
        </a:defRPr>
      </a:lvl6pPr>
      <a:lvl7pPr marL="1993900" indent="-215900" algn="l" defTabSz="457200" rtl="0" fontAlgn="base">
        <a:lnSpc>
          <a:spcPct val="85000"/>
        </a:lnSpc>
        <a:spcBef>
          <a:spcPct val="0"/>
        </a:spcBef>
        <a:spcAft>
          <a:spcPct val="0"/>
        </a:spcAft>
        <a:buClr>
          <a:srgbClr val="000000"/>
        </a:buClr>
        <a:buSzPct val="45000"/>
        <a:buFont typeface="StarSymbol" charset="0"/>
        <a:defRPr sz="3800" b="1">
          <a:solidFill>
            <a:srgbClr val="660033"/>
          </a:solidFill>
          <a:latin typeface="Helvetica" charset="0"/>
          <a:ea typeface="ＭＳ Ｐゴシック" charset="-128"/>
        </a:defRPr>
      </a:lvl7pPr>
      <a:lvl8pPr marL="2451100" indent="-215900" algn="l" defTabSz="457200" rtl="0" fontAlgn="base">
        <a:lnSpc>
          <a:spcPct val="85000"/>
        </a:lnSpc>
        <a:spcBef>
          <a:spcPct val="0"/>
        </a:spcBef>
        <a:spcAft>
          <a:spcPct val="0"/>
        </a:spcAft>
        <a:buClr>
          <a:srgbClr val="000000"/>
        </a:buClr>
        <a:buSzPct val="45000"/>
        <a:buFont typeface="StarSymbol" charset="0"/>
        <a:defRPr sz="3800" b="1">
          <a:solidFill>
            <a:srgbClr val="660033"/>
          </a:solidFill>
          <a:latin typeface="Helvetica" charset="0"/>
          <a:ea typeface="ＭＳ Ｐゴシック" charset="-128"/>
        </a:defRPr>
      </a:lvl8pPr>
      <a:lvl9pPr marL="2908300" indent="-215900" algn="l" defTabSz="457200" rtl="0" fontAlgn="base">
        <a:lnSpc>
          <a:spcPct val="85000"/>
        </a:lnSpc>
        <a:spcBef>
          <a:spcPct val="0"/>
        </a:spcBef>
        <a:spcAft>
          <a:spcPct val="0"/>
        </a:spcAft>
        <a:buClr>
          <a:srgbClr val="000000"/>
        </a:buClr>
        <a:buSzPct val="45000"/>
        <a:buFont typeface="StarSymbol" charset="0"/>
        <a:defRPr sz="3800" b="1">
          <a:solidFill>
            <a:srgbClr val="660033"/>
          </a:solidFill>
          <a:latin typeface="Helvetica" charset="0"/>
          <a:ea typeface="ＭＳ Ｐゴシック" charset="-128"/>
        </a:defRPr>
      </a:lvl9pPr>
    </p:titleStyle>
    <p:bodyStyle>
      <a:lvl1pPr marL="384175" indent="-384175" algn="l" defTabSz="457200" rtl="0" eaLnBrk="0" fontAlgn="base" hangingPunct="0">
        <a:lnSpc>
          <a:spcPct val="93000"/>
        </a:lnSpc>
        <a:spcBef>
          <a:spcPts val="1500"/>
        </a:spcBef>
        <a:spcAft>
          <a:spcPct val="0"/>
        </a:spcAft>
        <a:buClr>
          <a:srgbClr val="660033"/>
        </a:buClr>
        <a:buSzPct val="45000"/>
        <a:buFont typeface="Wingdings" charset="2"/>
        <a:buChar char=""/>
        <a:defRPr sz="2400" b="1">
          <a:solidFill>
            <a:srgbClr val="003300"/>
          </a:solidFill>
          <a:effectLst>
            <a:outerShdw blurRad="38100" dist="38100" dir="2700000" algn="tl">
              <a:srgbClr val="DDDDDD"/>
            </a:outerShdw>
          </a:effectLst>
          <a:latin typeface="+mn-lt"/>
          <a:ea typeface="ＭＳ Ｐゴシック" charset="-128"/>
          <a:cs typeface="ＭＳ Ｐゴシック" charset="-128"/>
        </a:defRPr>
      </a:lvl1pPr>
      <a:lvl2pPr marL="742950" indent="-246063" algn="l" defTabSz="457200" rtl="0" eaLnBrk="0" fontAlgn="base" hangingPunct="0">
        <a:lnSpc>
          <a:spcPct val="98000"/>
        </a:lnSpc>
        <a:spcBef>
          <a:spcPts val="625"/>
        </a:spcBef>
        <a:spcAft>
          <a:spcPct val="0"/>
        </a:spcAft>
        <a:buClr>
          <a:srgbClr val="660033"/>
        </a:buClr>
        <a:buSzPct val="45000"/>
        <a:buFont typeface="Wingdings" charset="2"/>
        <a:buChar char=""/>
        <a:defRPr sz="2000" b="1">
          <a:solidFill>
            <a:srgbClr val="000066"/>
          </a:solidFill>
          <a:latin typeface="+mn-lt"/>
          <a:ea typeface="ＭＳ Ｐゴシック" charset="-128"/>
        </a:defRPr>
      </a:lvl2pPr>
      <a:lvl3pPr marL="1144588" indent="-236538" algn="l" defTabSz="457200" rtl="0" eaLnBrk="0" fontAlgn="base" hangingPunct="0">
        <a:lnSpc>
          <a:spcPct val="104000"/>
        </a:lnSpc>
        <a:spcBef>
          <a:spcPts val="225"/>
        </a:spcBef>
        <a:spcAft>
          <a:spcPct val="0"/>
        </a:spcAft>
        <a:buClr>
          <a:srgbClr val="005400"/>
        </a:buClr>
        <a:buSzPct val="45000"/>
        <a:buFont typeface="Wingdings" charset="2"/>
        <a:buChar char=""/>
        <a:defRPr b="1">
          <a:solidFill>
            <a:srgbClr val="000099"/>
          </a:solidFill>
          <a:latin typeface="+mn-lt"/>
          <a:ea typeface="ＭＳ Ｐゴシック" charset="-128"/>
        </a:defRPr>
      </a:lvl3pPr>
      <a:lvl4pPr marL="1600200" indent="-228600" algn="l" defTabSz="457200" rtl="0" eaLnBrk="0" fontAlgn="base" hangingPunct="0">
        <a:lnSpc>
          <a:spcPct val="98000"/>
        </a:lnSpc>
        <a:spcBef>
          <a:spcPts val="450"/>
        </a:spcBef>
        <a:spcAft>
          <a:spcPct val="0"/>
        </a:spcAft>
        <a:buClr>
          <a:srgbClr val="000066"/>
        </a:buClr>
        <a:buSzPct val="45000"/>
        <a:buFont typeface="Wingdings" charset="2"/>
        <a:buChar char=""/>
        <a:defRPr b="1">
          <a:solidFill>
            <a:srgbClr val="000066"/>
          </a:solidFill>
          <a:latin typeface="+mn-lt"/>
          <a:ea typeface="ＭＳ Ｐゴシック" charset="-128"/>
        </a:defRPr>
      </a:lvl4pPr>
      <a:lvl5pPr marL="2449513" indent="-228600" algn="l" defTabSz="457200" rtl="0" eaLnBrk="0" fontAlgn="base" hangingPunct="0">
        <a:lnSpc>
          <a:spcPct val="93000"/>
        </a:lnSpc>
        <a:spcBef>
          <a:spcPts val="500"/>
        </a:spcBef>
        <a:spcAft>
          <a:spcPct val="0"/>
        </a:spcAft>
        <a:buClr>
          <a:srgbClr val="000066"/>
        </a:buClr>
        <a:buSzPct val="45000"/>
        <a:buFont typeface="Wingdings" charset="2"/>
        <a:buChar char=""/>
        <a:defRPr sz="2000">
          <a:solidFill>
            <a:srgbClr val="000066"/>
          </a:solidFill>
          <a:latin typeface="Times New Roman" charset="0"/>
          <a:ea typeface="ＭＳ Ｐゴシック" charset="-128"/>
        </a:defRPr>
      </a:lvl5pPr>
      <a:lvl6pPr marL="2906713" indent="-228600" algn="l" defTabSz="457200" rtl="0" fontAlgn="base">
        <a:lnSpc>
          <a:spcPct val="93000"/>
        </a:lnSpc>
        <a:spcBef>
          <a:spcPts val="500"/>
        </a:spcBef>
        <a:spcAft>
          <a:spcPct val="0"/>
        </a:spcAft>
        <a:buClr>
          <a:srgbClr val="000066"/>
        </a:buClr>
        <a:buSzPct val="45000"/>
        <a:buFont typeface="Wingdings" charset="2"/>
        <a:buChar char=""/>
        <a:defRPr sz="2000">
          <a:solidFill>
            <a:srgbClr val="000066"/>
          </a:solidFill>
          <a:latin typeface="Times New Roman" charset="0"/>
          <a:ea typeface="ＭＳ Ｐゴシック" charset="-128"/>
        </a:defRPr>
      </a:lvl6pPr>
      <a:lvl7pPr marL="3363913" indent="-228600" algn="l" defTabSz="457200" rtl="0" fontAlgn="base">
        <a:lnSpc>
          <a:spcPct val="93000"/>
        </a:lnSpc>
        <a:spcBef>
          <a:spcPts val="500"/>
        </a:spcBef>
        <a:spcAft>
          <a:spcPct val="0"/>
        </a:spcAft>
        <a:buClr>
          <a:srgbClr val="000066"/>
        </a:buClr>
        <a:buSzPct val="45000"/>
        <a:buFont typeface="Wingdings" charset="2"/>
        <a:buChar char=""/>
        <a:defRPr sz="2000">
          <a:solidFill>
            <a:srgbClr val="000066"/>
          </a:solidFill>
          <a:latin typeface="Times New Roman" charset="0"/>
          <a:ea typeface="ＭＳ Ｐゴシック" charset="-128"/>
        </a:defRPr>
      </a:lvl7pPr>
      <a:lvl8pPr marL="3821113" indent="-228600" algn="l" defTabSz="457200" rtl="0" fontAlgn="base">
        <a:lnSpc>
          <a:spcPct val="93000"/>
        </a:lnSpc>
        <a:spcBef>
          <a:spcPts val="500"/>
        </a:spcBef>
        <a:spcAft>
          <a:spcPct val="0"/>
        </a:spcAft>
        <a:buClr>
          <a:srgbClr val="000066"/>
        </a:buClr>
        <a:buSzPct val="45000"/>
        <a:buFont typeface="Wingdings" charset="2"/>
        <a:buChar char=""/>
        <a:defRPr sz="2000">
          <a:solidFill>
            <a:srgbClr val="000066"/>
          </a:solidFill>
          <a:latin typeface="Times New Roman" charset="0"/>
          <a:ea typeface="ＭＳ Ｐゴシック" charset="-128"/>
        </a:defRPr>
      </a:lvl8pPr>
      <a:lvl9pPr marL="4278313" indent="-228600" algn="l" defTabSz="457200" rtl="0" fontAlgn="base">
        <a:lnSpc>
          <a:spcPct val="93000"/>
        </a:lnSpc>
        <a:spcBef>
          <a:spcPts val="500"/>
        </a:spcBef>
        <a:spcAft>
          <a:spcPct val="0"/>
        </a:spcAft>
        <a:buClr>
          <a:srgbClr val="000066"/>
        </a:buClr>
        <a:buSzPct val="45000"/>
        <a:buFont typeface="Wingdings" charset="2"/>
        <a:buChar char=""/>
        <a:defRPr sz="2000">
          <a:solidFill>
            <a:srgbClr val="000066"/>
          </a:solidFill>
          <a:latin typeface="Times New Roman" charset="0"/>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https://security.googleblog.com/2016/02/cve-2015-7547-glibc-getaddrinfo-stack.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ctrTitle"/>
          </p:nvPr>
        </p:nvSpPr>
        <p:spPr>
          <a:xfrm>
            <a:off x="685800" y="1631950"/>
            <a:ext cx="7772400" cy="1644650"/>
          </a:xfrm>
        </p:spPr>
        <p:txBody>
          <a:bodyPr/>
          <a:lstStyle/>
          <a:p>
            <a:pPr marL="0" lvl="0" indent="0"/>
            <a:r>
              <a:rPr lang="en-US" dirty="0" smtClean="0"/>
              <a:t>Cache Lab</a:t>
            </a:r>
            <a:br>
              <a:rPr lang="en-US" dirty="0" smtClean="0"/>
            </a:br>
            <a:r>
              <a:rPr lang="en-US" dirty="0" smtClean="0"/>
              <a:t>Linking</a:t>
            </a:r>
            <a:r>
              <a:rPr lang="en-US" dirty="0" smtClean="0"/>
              <a:t/>
            </a:r>
            <a:br>
              <a:rPr lang="en-US" dirty="0" smtClean="0"/>
            </a:br>
            <a:r>
              <a:rPr lang="en-US" dirty="0" smtClean="0"/>
              <a:t>Exceptional Control Flow: </a:t>
            </a:r>
            <a:br>
              <a:rPr lang="en-US" dirty="0" smtClean="0"/>
            </a:br>
            <a:r>
              <a:rPr lang="en-US" dirty="0"/>
              <a:t>	</a:t>
            </a:r>
            <a:r>
              <a:rPr lang="en-US" sz="3200" dirty="0" smtClean="0"/>
              <a:t>Exceptions &amp; Processes</a:t>
            </a:r>
            <a:r>
              <a:rPr lang="en-US" dirty="0" smtClean="0"/>
              <a:t/>
            </a:r>
            <a:br>
              <a:rPr lang="en-US" dirty="0" smtClean="0"/>
            </a:br>
            <a:r>
              <a:rPr lang="en-US" dirty="0"/>
              <a:t/>
            </a:r>
            <a:br>
              <a:rPr lang="en-US" dirty="0"/>
            </a:br>
            <a:r>
              <a:rPr lang="en-US" sz="2000" b="0" dirty="0"/>
              <a:t>CSC 374: Computer Systems II</a:t>
            </a:r>
            <a:br>
              <a:rPr lang="en-US" sz="2000" b="0" dirty="0"/>
            </a:br>
            <a:r>
              <a:rPr lang="en-US" sz="2000" b="0" dirty="0" smtClean="0"/>
              <a:t>3</a:t>
            </a:r>
            <a:r>
              <a:rPr lang="en-US" sz="2000" b="0" baseline="30000" dirty="0" smtClean="0"/>
              <a:t>rd</a:t>
            </a:r>
            <a:r>
              <a:rPr lang="en-US" sz="2000" b="0" dirty="0"/>
              <a:t> </a:t>
            </a:r>
            <a:r>
              <a:rPr lang="en-US" sz="2000" b="0" dirty="0" smtClean="0"/>
              <a:t>Lecture</a:t>
            </a:r>
            <a:r>
              <a:rPr lang="en-US" sz="2000" b="0" dirty="0"/>
              <a:t>, January </a:t>
            </a:r>
            <a:r>
              <a:rPr lang="en-US" sz="2000" b="0" dirty="0" smtClean="0"/>
              <a:t>16, </a:t>
            </a:r>
            <a:r>
              <a:rPr lang="en-US" sz="2000" b="0" dirty="0"/>
              <a:t>2018</a:t>
            </a:r>
          </a:p>
        </p:txBody>
      </p:sp>
      <p:sp>
        <p:nvSpPr>
          <p:cNvPr id="9219" name="Subtitle 2"/>
          <p:cNvSpPr>
            <a:spLocks noGrp="1"/>
          </p:cNvSpPr>
          <p:nvPr>
            <p:ph type="subTitle" idx="1"/>
          </p:nvPr>
        </p:nvSpPr>
        <p:spPr>
          <a:xfrm>
            <a:off x="685800" y="4102650"/>
            <a:ext cx="7678738" cy="1752600"/>
          </a:xfrm>
        </p:spPr>
        <p:txBody>
          <a:bodyPr/>
          <a:lstStyle/>
          <a:p>
            <a:r>
              <a:rPr lang="en-US" b="1" dirty="0" smtClean="0"/>
              <a:t>Instructor</a:t>
            </a:r>
            <a:r>
              <a:rPr lang="en-US" b="1" dirty="0"/>
              <a:t>:</a:t>
            </a:r>
            <a:r>
              <a:rPr lang="en-US" dirty="0"/>
              <a:t> </a:t>
            </a:r>
          </a:p>
          <a:p>
            <a:r>
              <a:rPr lang="en-US" dirty="0" smtClean="0"/>
              <a:t>Walter Martens</a:t>
            </a:r>
            <a:endParaRPr lang="en-US" dirty="0"/>
          </a:p>
        </p:txBody>
      </p:sp>
    </p:spTree>
  </p:cSld>
  <p:clrMapOvr>
    <a:masterClrMapping/>
  </p:clrMapOvr>
  <p:transition xmlns:p14="http://schemas.microsoft.com/office/powerpoint/2010/mai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pPr marL="0" indent="0">
              <a:lnSpc>
                <a:spcPct val="80000"/>
              </a:lnSpc>
              <a:buNone/>
            </a:pPr>
            <a:endParaRPr lang="en-US" sz="2800" dirty="0" smtClean="0"/>
          </a:p>
          <a:p>
            <a:r>
              <a:rPr lang="en-US" sz="2800" dirty="0" smtClean="0"/>
              <a:t>Linking</a:t>
            </a:r>
            <a:endParaRPr lang="en-US" dirty="0" smtClean="0"/>
          </a:p>
          <a:p>
            <a:pPr lvl="1"/>
            <a:r>
              <a:rPr lang="en-US" dirty="0" smtClean="0">
                <a:solidFill>
                  <a:srgbClr val="B3B3B3"/>
                </a:solidFill>
              </a:rPr>
              <a:t>Case </a:t>
            </a:r>
            <a:r>
              <a:rPr lang="en-US" dirty="0">
                <a:solidFill>
                  <a:srgbClr val="B3B3B3"/>
                </a:solidFill>
              </a:rPr>
              <a:t>study: Library </a:t>
            </a:r>
            <a:r>
              <a:rPr lang="en-US" dirty="0" err="1" smtClean="0">
                <a:solidFill>
                  <a:srgbClr val="B3B3B3"/>
                </a:solidFill>
              </a:rPr>
              <a:t>interpositioning</a:t>
            </a:r>
            <a:endParaRPr lang="en-US" dirty="0" smtClean="0">
              <a:solidFill>
                <a:srgbClr val="B3B3B3"/>
              </a:solidFill>
            </a:endParaRPr>
          </a:p>
          <a:p>
            <a:r>
              <a:rPr lang="en-US" sz="2800" dirty="0" smtClean="0">
                <a:solidFill>
                  <a:schemeClr val="bg2">
                    <a:lumMod val="60000"/>
                    <a:lumOff val="40000"/>
                  </a:schemeClr>
                </a:solidFill>
              </a:rPr>
              <a:t>Exceptional Control Flow</a:t>
            </a:r>
          </a:p>
          <a:p>
            <a:r>
              <a:rPr lang="en-US" sz="2800" dirty="0">
                <a:solidFill>
                  <a:srgbClr val="B3B3B3"/>
                </a:solidFill>
              </a:rPr>
              <a:t>Cache Lab</a:t>
            </a:r>
          </a:p>
          <a:p>
            <a:pPr marL="0" indent="0">
              <a:buNone/>
            </a:pPr>
            <a:endParaRPr lang="en-US" sz="2800" dirty="0">
              <a:solidFill>
                <a:schemeClr val="bg2">
                  <a:lumMod val="60000"/>
                  <a:lumOff val="40000"/>
                </a:schemeClr>
              </a:solidFill>
            </a:endParaRPr>
          </a:p>
          <a:p>
            <a:endParaRPr lang="en-US" dirty="0" smtClean="0">
              <a:solidFill>
                <a:srgbClr val="B3B3B3"/>
              </a:solidFill>
            </a:endParaRPr>
          </a:p>
          <a:p>
            <a:pPr marL="0" indent="0">
              <a:lnSpc>
                <a:spcPct val="80000"/>
              </a:lnSpc>
              <a:buNone/>
            </a:pPr>
            <a:endParaRPr lang="en-US" sz="2800" dirty="0" smtClean="0">
              <a:solidFill>
                <a:schemeClr val="bg2">
                  <a:lumMod val="60000"/>
                  <a:lumOff val="40000"/>
                </a:schemeClr>
              </a:solidFill>
            </a:endParaRPr>
          </a:p>
          <a:p>
            <a:endParaRPr lang="en-US" dirty="0">
              <a:solidFill>
                <a:schemeClr val="bg2">
                  <a:lumMod val="60000"/>
                  <a:lumOff val="40000"/>
                </a:schemeClr>
              </a:solidFill>
            </a:endParaRPr>
          </a:p>
          <a:p>
            <a:endParaRPr lang="en-US" dirty="0">
              <a:solidFill>
                <a:schemeClr val="bg1">
                  <a:lumMod val="75000"/>
                </a:schemeClr>
              </a:solidFill>
            </a:endParaRPr>
          </a:p>
        </p:txBody>
      </p:sp>
      <p:sp>
        <p:nvSpPr>
          <p:cNvPr id="4" name="TextBox 3"/>
          <p:cNvSpPr txBox="1"/>
          <p:nvPr/>
        </p:nvSpPr>
        <p:spPr>
          <a:xfrm>
            <a:off x="2851727" y="5657273"/>
            <a:ext cx="184666" cy="369332"/>
          </a:xfrm>
          <a:prstGeom prst="rect">
            <a:avLst/>
          </a:prstGeom>
          <a:noFill/>
        </p:spPr>
        <p:txBody>
          <a:bodyPr wrap="none" rtlCol="0">
            <a:spAutoFit/>
          </a:bodyPr>
          <a:lstStyle/>
          <a:p>
            <a:endParaRPr lang="en-US" sz="1800" dirty="0">
              <a:latin typeface="Calibri"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5" name="Rectangle 7"/>
          <p:cNvSpPr>
            <a:spLocks noGrp="1" noChangeArrowheads="1"/>
          </p:cNvSpPr>
          <p:nvPr>
            <p:ph type="title"/>
          </p:nvPr>
        </p:nvSpPr>
        <p:spPr/>
        <p:txBody>
          <a:bodyPr/>
          <a:lstStyle/>
          <a:p>
            <a:r>
              <a:rPr lang="en-US" smtClean="0"/>
              <a:t>Example C Program</a:t>
            </a:r>
            <a:endParaRPr lang="en-US"/>
          </a:p>
        </p:txBody>
      </p:sp>
      <p:sp>
        <p:nvSpPr>
          <p:cNvPr id="201731" name="Rectangle 3"/>
          <p:cNvSpPr>
            <a:spLocks noChangeArrowheads="1"/>
          </p:cNvSpPr>
          <p:nvPr/>
        </p:nvSpPr>
        <p:spPr bwMode="auto">
          <a:xfrm>
            <a:off x="139700" y="1928813"/>
            <a:ext cx="4508500" cy="2862322"/>
          </a:xfrm>
          <a:prstGeom prst="rect">
            <a:avLst/>
          </a:prstGeom>
          <a:solidFill>
            <a:srgbClr val="F7F5CD"/>
          </a:solidFill>
          <a:ln w="3175">
            <a:solidFill>
              <a:schemeClr val="tx1"/>
            </a:solidFill>
            <a:miter lim="800000"/>
            <a:headEnd/>
            <a:tailEnd/>
          </a:ln>
          <a:effectLst/>
        </p:spPr>
        <p:txBody>
          <a:bodyPr wrap="square">
            <a:prstTxWarp prst="textNoShape">
              <a:avLst/>
            </a:prstTxWarp>
            <a:spAutoFit/>
          </a:bodyPr>
          <a:lstStyle/>
          <a:p>
            <a:r>
              <a:rPr lang="en-US" sz="1800" dirty="0" err="1">
                <a:solidFill>
                  <a:srgbClr val="2D961E"/>
                </a:solidFill>
                <a:latin typeface="Courier New"/>
                <a:cs typeface="Courier New"/>
              </a:rPr>
              <a:t>int</a:t>
            </a:r>
            <a:r>
              <a:rPr lang="en-US" sz="1800" dirty="0">
                <a:solidFill>
                  <a:srgbClr val="000000"/>
                </a:solidFill>
                <a:latin typeface="Courier New"/>
                <a:cs typeface="Courier New"/>
              </a:rPr>
              <a:t> </a:t>
            </a:r>
            <a:r>
              <a:rPr lang="en-US" sz="1800" dirty="0">
                <a:solidFill>
                  <a:srgbClr val="4A00FF"/>
                </a:solidFill>
                <a:latin typeface="Courier New"/>
                <a:cs typeface="Courier New"/>
              </a:rPr>
              <a:t>sum</a:t>
            </a:r>
            <a:r>
              <a:rPr lang="en-US" sz="1800" dirty="0">
                <a:solidFill>
                  <a:srgbClr val="000000"/>
                </a:solidFill>
                <a:latin typeface="Courier New"/>
                <a:cs typeface="Courier New"/>
              </a:rPr>
              <a:t>(</a:t>
            </a:r>
            <a:r>
              <a:rPr lang="en-US" sz="1800" dirty="0" err="1">
                <a:solidFill>
                  <a:srgbClr val="2D961E"/>
                </a:solidFill>
                <a:latin typeface="Courier New"/>
                <a:cs typeface="Courier New"/>
              </a:rPr>
              <a:t>int</a:t>
            </a:r>
            <a:r>
              <a:rPr lang="en-US" sz="1800" dirty="0">
                <a:solidFill>
                  <a:srgbClr val="000000"/>
                </a:solidFill>
                <a:latin typeface="Courier New"/>
                <a:cs typeface="Courier New"/>
              </a:rPr>
              <a:t> *</a:t>
            </a:r>
            <a:r>
              <a:rPr lang="en-US" sz="1800" dirty="0">
                <a:solidFill>
                  <a:srgbClr val="C1651C"/>
                </a:solidFill>
                <a:latin typeface="Courier New"/>
                <a:cs typeface="Courier New"/>
              </a:rPr>
              <a:t>a</a:t>
            </a:r>
            <a:r>
              <a:rPr lang="en-US" sz="1800" dirty="0">
                <a:solidFill>
                  <a:srgbClr val="000000"/>
                </a:solidFill>
                <a:latin typeface="Courier New"/>
                <a:cs typeface="Courier New"/>
              </a:rPr>
              <a:t>, </a:t>
            </a:r>
            <a:r>
              <a:rPr lang="en-US" sz="1800" dirty="0" err="1">
                <a:solidFill>
                  <a:srgbClr val="2D961E"/>
                </a:solidFill>
                <a:latin typeface="Courier New"/>
                <a:cs typeface="Courier New"/>
              </a:rPr>
              <a:t>int</a:t>
            </a:r>
            <a:r>
              <a:rPr lang="en-US" sz="1800" dirty="0">
                <a:solidFill>
                  <a:srgbClr val="000000"/>
                </a:solidFill>
                <a:latin typeface="Courier New"/>
                <a:cs typeface="Courier New"/>
              </a:rPr>
              <a:t> </a:t>
            </a:r>
            <a:r>
              <a:rPr lang="en-US" sz="1800" dirty="0">
                <a:solidFill>
                  <a:srgbClr val="C1651C"/>
                </a:solidFill>
                <a:latin typeface="Courier New"/>
                <a:cs typeface="Courier New"/>
              </a:rPr>
              <a:t>n</a:t>
            </a:r>
            <a:r>
              <a:rPr lang="en-US" sz="1800" dirty="0">
                <a:solidFill>
                  <a:srgbClr val="000000"/>
                </a:solidFill>
                <a:latin typeface="Courier New"/>
                <a:cs typeface="Courier New"/>
              </a:rPr>
              <a:t>);</a:t>
            </a:r>
          </a:p>
          <a:p>
            <a:endParaRPr lang="en-US" sz="1800" dirty="0">
              <a:solidFill>
                <a:srgbClr val="000000"/>
              </a:solidFill>
              <a:latin typeface="Courier New"/>
              <a:cs typeface="Courier New"/>
            </a:endParaRPr>
          </a:p>
          <a:p>
            <a:r>
              <a:rPr lang="hu-HU" sz="1800" dirty="0">
                <a:solidFill>
                  <a:srgbClr val="2D961E"/>
                </a:solidFill>
                <a:latin typeface="Courier New"/>
                <a:cs typeface="Courier New"/>
              </a:rPr>
              <a:t>int</a:t>
            </a:r>
            <a:r>
              <a:rPr lang="hu-HU" sz="1800" dirty="0">
                <a:solidFill>
                  <a:srgbClr val="000000"/>
                </a:solidFill>
                <a:latin typeface="Courier New"/>
                <a:cs typeface="Courier New"/>
              </a:rPr>
              <a:t> </a:t>
            </a:r>
            <a:r>
              <a:rPr lang="hu-HU" sz="1800" dirty="0" err="1">
                <a:solidFill>
                  <a:srgbClr val="C1651C"/>
                </a:solidFill>
                <a:latin typeface="Courier New"/>
                <a:cs typeface="Courier New"/>
              </a:rPr>
              <a:t>array</a:t>
            </a:r>
            <a:r>
              <a:rPr lang="hu-HU" sz="1800" dirty="0">
                <a:solidFill>
                  <a:srgbClr val="000000"/>
                </a:solidFill>
                <a:latin typeface="Courier New"/>
                <a:cs typeface="Courier New"/>
              </a:rPr>
              <a:t>[2] = {1, 2};</a:t>
            </a:r>
          </a:p>
          <a:p>
            <a:endParaRPr lang="hu-HU" sz="1800" dirty="0">
              <a:solidFill>
                <a:srgbClr val="000000"/>
              </a:solidFill>
              <a:latin typeface="Courier New"/>
              <a:cs typeface="Courier New"/>
            </a:endParaRPr>
          </a:p>
          <a:p>
            <a:r>
              <a:rPr lang="en-US" sz="1800" dirty="0" err="1">
                <a:solidFill>
                  <a:srgbClr val="2D961E"/>
                </a:solidFill>
                <a:latin typeface="Courier New"/>
                <a:cs typeface="Courier New"/>
              </a:rPr>
              <a:t>int</a:t>
            </a:r>
            <a:r>
              <a:rPr lang="en-US" sz="1800" dirty="0">
                <a:solidFill>
                  <a:srgbClr val="000000"/>
                </a:solidFill>
                <a:latin typeface="Courier New"/>
                <a:cs typeface="Courier New"/>
              </a:rPr>
              <a:t> </a:t>
            </a:r>
            <a:r>
              <a:rPr lang="en-US" sz="1800" dirty="0" smtClean="0">
                <a:solidFill>
                  <a:srgbClr val="4A00FF"/>
                </a:solidFill>
                <a:latin typeface="Courier New"/>
                <a:cs typeface="Courier New"/>
              </a:rPr>
              <a:t>main</a:t>
            </a:r>
            <a:r>
              <a:rPr lang="en-US" sz="1800" dirty="0" smtClean="0">
                <a:solidFill>
                  <a:srgbClr val="000000"/>
                </a:solidFill>
                <a:latin typeface="Courier New"/>
                <a:cs typeface="Courier New"/>
              </a:rPr>
              <a:t>(</a:t>
            </a:r>
            <a:r>
              <a:rPr lang="en-US" sz="1800" dirty="0" err="1" smtClean="0">
                <a:solidFill>
                  <a:srgbClr val="000000"/>
                </a:solidFill>
                <a:latin typeface="Courier New"/>
                <a:cs typeface="Courier New"/>
              </a:rPr>
              <a:t>int</a:t>
            </a:r>
            <a:r>
              <a:rPr lang="en-US" sz="1800" dirty="0" smtClean="0">
                <a:solidFill>
                  <a:srgbClr val="000000"/>
                </a:solidFill>
                <a:latin typeface="Courier New"/>
                <a:cs typeface="Courier New"/>
              </a:rPr>
              <a:t> </a:t>
            </a:r>
            <a:r>
              <a:rPr lang="en-US" sz="1800" dirty="0" err="1" smtClean="0">
                <a:solidFill>
                  <a:srgbClr val="000000"/>
                </a:solidFill>
                <a:latin typeface="Courier New"/>
                <a:cs typeface="Courier New"/>
              </a:rPr>
              <a:t>argc</a:t>
            </a:r>
            <a:r>
              <a:rPr lang="en-US" sz="1800" dirty="0" smtClean="0">
                <a:solidFill>
                  <a:srgbClr val="000000"/>
                </a:solidFill>
                <a:latin typeface="Courier New"/>
                <a:cs typeface="Courier New"/>
              </a:rPr>
              <a:t>, char** </a:t>
            </a:r>
            <a:r>
              <a:rPr lang="en-US" sz="1800" dirty="0" err="1" smtClean="0">
                <a:solidFill>
                  <a:srgbClr val="000000"/>
                </a:solidFill>
                <a:latin typeface="Courier New"/>
                <a:cs typeface="Courier New"/>
              </a:rPr>
              <a:t>argv</a:t>
            </a:r>
            <a:r>
              <a:rPr lang="en-US" sz="1800" dirty="0" smtClean="0">
                <a:solidFill>
                  <a:srgbClr val="000000"/>
                </a:solidFill>
                <a:latin typeface="Courier New"/>
                <a:cs typeface="Courier New"/>
              </a:rPr>
              <a:t>)</a:t>
            </a:r>
            <a:endParaRPr lang="en-US" sz="1800" dirty="0">
              <a:solidFill>
                <a:srgbClr val="000000"/>
              </a:solidFill>
              <a:latin typeface="Courier New"/>
              <a:cs typeface="Courier New"/>
            </a:endParaRPr>
          </a:p>
          <a:p>
            <a:r>
              <a:rPr lang="en-US" sz="1800" dirty="0">
                <a:solidFill>
                  <a:srgbClr val="000000"/>
                </a:solidFill>
                <a:latin typeface="Courier New"/>
                <a:cs typeface="Courier New"/>
              </a:rPr>
              <a:t>{</a:t>
            </a:r>
          </a:p>
          <a:p>
            <a:r>
              <a:rPr lang="fr-FR" sz="1800" dirty="0">
                <a:solidFill>
                  <a:srgbClr val="000000"/>
                </a:solidFill>
                <a:latin typeface="Courier New"/>
                <a:cs typeface="Courier New"/>
              </a:rPr>
              <a:t>    </a:t>
            </a:r>
            <a:r>
              <a:rPr lang="fr-FR" sz="1800" dirty="0" err="1">
                <a:solidFill>
                  <a:srgbClr val="2D961E"/>
                </a:solidFill>
                <a:latin typeface="Courier New"/>
                <a:cs typeface="Courier New"/>
              </a:rPr>
              <a:t>int</a:t>
            </a:r>
            <a:r>
              <a:rPr lang="fr-FR" sz="1800" dirty="0">
                <a:solidFill>
                  <a:srgbClr val="000000"/>
                </a:solidFill>
                <a:latin typeface="Courier New"/>
                <a:cs typeface="Courier New"/>
              </a:rPr>
              <a:t> </a:t>
            </a:r>
            <a:r>
              <a:rPr lang="fr-FR" sz="1800" dirty="0">
                <a:solidFill>
                  <a:srgbClr val="C1651C"/>
                </a:solidFill>
                <a:latin typeface="Courier New"/>
                <a:cs typeface="Courier New"/>
              </a:rPr>
              <a:t>val</a:t>
            </a:r>
            <a:r>
              <a:rPr lang="fr-FR" sz="1800" dirty="0">
                <a:solidFill>
                  <a:srgbClr val="000000"/>
                </a:solidFill>
                <a:latin typeface="Courier New"/>
                <a:cs typeface="Courier New"/>
              </a:rPr>
              <a:t> = </a:t>
            </a:r>
            <a:r>
              <a:rPr lang="fr-FR" sz="1800" dirty="0" err="1">
                <a:solidFill>
                  <a:srgbClr val="000000"/>
                </a:solidFill>
                <a:latin typeface="Courier New"/>
                <a:cs typeface="Courier New"/>
              </a:rPr>
              <a:t>sum</a:t>
            </a:r>
            <a:r>
              <a:rPr lang="fr-FR" sz="1800" dirty="0">
                <a:solidFill>
                  <a:srgbClr val="000000"/>
                </a:solidFill>
                <a:latin typeface="Courier New"/>
                <a:cs typeface="Courier New"/>
              </a:rPr>
              <a:t>(</a:t>
            </a:r>
            <a:r>
              <a:rPr lang="fr-FR" sz="1800" dirty="0" err="1">
                <a:solidFill>
                  <a:srgbClr val="000000"/>
                </a:solidFill>
                <a:latin typeface="Courier New"/>
                <a:cs typeface="Courier New"/>
              </a:rPr>
              <a:t>array</a:t>
            </a:r>
            <a:r>
              <a:rPr lang="fr-FR" sz="1800" dirty="0">
                <a:solidFill>
                  <a:srgbClr val="000000"/>
                </a:solidFill>
                <a:latin typeface="Courier New"/>
                <a:cs typeface="Courier New"/>
              </a:rPr>
              <a:t>, 2</a:t>
            </a:r>
            <a:r>
              <a:rPr lang="fr-FR" sz="1800" dirty="0" smtClean="0">
                <a:solidFill>
                  <a:srgbClr val="000000"/>
                </a:solidFill>
                <a:latin typeface="Courier New"/>
                <a:cs typeface="Courier New"/>
              </a:rPr>
              <a:t>);</a:t>
            </a:r>
          </a:p>
          <a:p>
            <a:r>
              <a:rPr lang="fr-FR" sz="1800" dirty="0" smtClean="0">
                <a:solidFill>
                  <a:srgbClr val="C200FF"/>
                </a:solidFill>
                <a:latin typeface="Courier New"/>
                <a:cs typeface="Courier New"/>
              </a:rPr>
              <a:t>    return</a:t>
            </a:r>
            <a:r>
              <a:rPr lang="fr-FR" sz="1800" dirty="0" smtClean="0">
                <a:solidFill>
                  <a:srgbClr val="000000"/>
                </a:solidFill>
                <a:latin typeface="Courier New"/>
                <a:cs typeface="Courier New"/>
              </a:rPr>
              <a:t> val;</a:t>
            </a:r>
            <a:endParaRPr lang="fr-FR" sz="1800" dirty="0">
              <a:solidFill>
                <a:srgbClr val="000000"/>
              </a:solidFill>
              <a:latin typeface="Courier New"/>
              <a:cs typeface="Courier New"/>
            </a:endParaRPr>
          </a:p>
          <a:p>
            <a:r>
              <a:rPr lang="fr-FR" sz="1800" dirty="0" smtClean="0">
                <a:solidFill>
                  <a:srgbClr val="000000"/>
                </a:solidFill>
                <a:latin typeface="Courier New"/>
                <a:cs typeface="Courier New"/>
              </a:rPr>
              <a:t>}</a:t>
            </a:r>
          </a:p>
          <a:p>
            <a:endParaRPr lang="en-US" sz="1800" dirty="0">
              <a:latin typeface="Courier New"/>
              <a:cs typeface="Courier New"/>
            </a:endParaRPr>
          </a:p>
        </p:txBody>
      </p:sp>
      <p:sp>
        <p:nvSpPr>
          <p:cNvPr id="201734" name="Rectangle 6"/>
          <p:cNvSpPr>
            <a:spLocks noChangeArrowheads="1"/>
          </p:cNvSpPr>
          <p:nvPr/>
        </p:nvSpPr>
        <p:spPr bwMode="auto">
          <a:xfrm>
            <a:off x="4724400" y="1928813"/>
            <a:ext cx="4256209" cy="2862323"/>
          </a:xfrm>
          <a:prstGeom prst="rect">
            <a:avLst/>
          </a:prstGeom>
          <a:solidFill>
            <a:srgbClr val="DBF2DA"/>
          </a:solidFill>
          <a:ln w="3175">
            <a:solidFill>
              <a:schemeClr val="tx1"/>
            </a:solidFill>
            <a:miter lim="800000"/>
            <a:headEnd/>
            <a:tailEnd/>
          </a:ln>
          <a:effectLst/>
        </p:spPr>
        <p:txBody>
          <a:bodyPr wrap="none">
            <a:prstTxWarp prst="textNoShape">
              <a:avLst/>
            </a:prstTxWarp>
            <a:spAutoFit/>
          </a:bodyPr>
          <a:lstStyle/>
          <a:p>
            <a:r>
              <a:rPr lang="en-US" sz="1800" err="1">
                <a:solidFill>
                  <a:srgbClr val="2D961E"/>
                </a:solidFill>
                <a:latin typeface="Courier New"/>
                <a:cs typeface="Courier New"/>
              </a:rPr>
              <a:t>int</a:t>
            </a:r>
            <a:r>
              <a:rPr lang="en-US" sz="1800">
                <a:solidFill>
                  <a:srgbClr val="000000"/>
                </a:solidFill>
                <a:latin typeface="Courier New"/>
                <a:cs typeface="Courier New"/>
              </a:rPr>
              <a:t> </a:t>
            </a:r>
            <a:r>
              <a:rPr lang="en-US" sz="1800">
                <a:solidFill>
                  <a:srgbClr val="4A00FF"/>
                </a:solidFill>
                <a:latin typeface="Courier New"/>
                <a:cs typeface="Courier New"/>
              </a:rPr>
              <a:t>sum</a:t>
            </a:r>
            <a:r>
              <a:rPr lang="en-US" sz="1800">
                <a:solidFill>
                  <a:srgbClr val="000000"/>
                </a:solidFill>
                <a:latin typeface="Courier New"/>
                <a:cs typeface="Courier New"/>
              </a:rPr>
              <a:t>(</a:t>
            </a:r>
            <a:r>
              <a:rPr lang="en-US" sz="1800" err="1">
                <a:solidFill>
                  <a:srgbClr val="2D961E"/>
                </a:solidFill>
                <a:latin typeface="Courier New"/>
                <a:cs typeface="Courier New"/>
              </a:rPr>
              <a:t>int</a:t>
            </a:r>
            <a:r>
              <a:rPr lang="en-US" sz="1800">
                <a:solidFill>
                  <a:srgbClr val="000000"/>
                </a:solidFill>
                <a:latin typeface="Courier New"/>
                <a:cs typeface="Courier New"/>
              </a:rPr>
              <a:t> *</a:t>
            </a:r>
            <a:r>
              <a:rPr lang="en-US" sz="1800">
                <a:solidFill>
                  <a:srgbClr val="C1651C"/>
                </a:solidFill>
                <a:latin typeface="Courier New"/>
                <a:cs typeface="Courier New"/>
              </a:rPr>
              <a:t>a</a:t>
            </a:r>
            <a:r>
              <a:rPr lang="en-US" sz="1800">
                <a:solidFill>
                  <a:srgbClr val="000000"/>
                </a:solidFill>
                <a:latin typeface="Courier New"/>
                <a:cs typeface="Courier New"/>
              </a:rPr>
              <a:t>, </a:t>
            </a:r>
            <a:r>
              <a:rPr lang="en-US" sz="1800" err="1">
                <a:solidFill>
                  <a:srgbClr val="2D961E"/>
                </a:solidFill>
                <a:latin typeface="Courier New"/>
                <a:cs typeface="Courier New"/>
              </a:rPr>
              <a:t>int</a:t>
            </a:r>
            <a:r>
              <a:rPr lang="en-US" sz="1800">
                <a:solidFill>
                  <a:srgbClr val="000000"/>
                </a:solidFill>
                <a:latin typeface="Courier New"/>
                <a:cs typeface="Courier New"/>
              </a:rPr>
              <a:t> </a:t>
            </a:r>
            <a:r>
              <a:rPr lang="en-US" sz="1800">
                <a:solidFill>
                  <a:srgbClr val="C1651C"/>
                </a:solidFill>
                <a:latin typeface="Courier New"/>
                <a:cs typeface="Courier New"/>
              </a:rPr>
              <a:t>n</a:t>
            </a:r>
            <a:r>
              <a:rPr lang="en-US" sz="1800">
                <a:solidFill>
                  <a:srgbClr val="000000"/>
                </a:solidFill>
                <a:latin typeface="Courier New"/>
                <a:cs typeface="Courier New"/>
              </a:rPr>
              <a:t>)</a:t>
            </a:r>
          </a:p>
          <a:p>
            <a:r>
              <a:rPr lang="en-US" sz="1800">
                <a:solidFill>
                  <a:srgbClr val="000000"/>
                </a:solidFill>
                <a:latin typeface="Courier New"/>
                <a:cs typeface="Courier New"/>
              </a:rPr>
              <a:t>{</a:t>
            </a:r>
          </a:p>
          <a:p>
            <a:r>
              <a:rPr lang="fr-FR" sz="1800">
                <a:solidFill>
                  <a:srgbClr val="000000"/>
                </a:solidFill>
                <a:latin typeface="Courier New"/>
                <a:cs typeface="Courier New"/>
              </a:rPr>
              <a:t>    </a:t>
            </a:r>
            <a:r>
              <a:rPr lang="fr-FR" sz="1800" err="1">
                <a:solidFill>
                  <a:srgbClr val="2D961E"/>
                </a:solidFill>
                <a:latin typeface="Courier New"/>
                <a:cs typeface="Courier New"/>
              </a:rPr>
              <a:t>int</a:t>
            </a:r>
            <a:r>
              <a:rPr lang="fr-FR" sz="1800">
                <a:solidFill>
                  <a:srgbClr val="000000"/>
                </a:solidFill>
                <a:latin typeface="Courier New"/>
                <a:cs typeface="Courier New"/>
              </a:rPr>
              <a:t> </a:t>
            </a:r>
            <a:r>
              <a:rPr lang="fr-FR" sz="1800">
                <a:solidFill>
                  <a:srgbClr val="C1651C"/>
                </a:solidFill>
                <a:latin typeface="Courier New"/>
                <a:cs typeface="Courier New"/>
              </a:rPr>
              <a:t>i</a:t>
            </a:r>
            <a:r>
              <a:rPr lang="fr-FR" sz="1800">
                <a:solidFill>
                  <a:srgbClr val="000000"/>
                </a:solidFill>
                <a:latin typeface="Courier New"/>
                <a:cs typeface="Courier New"/>
              </a:rPr>
              <a:t>, </a:t>
            </a:r>
            <a:r>
              <a:rPr lang="fr-FR" sz="1800">
                <a:solidFill>
                  <a:srgbClr val="C1651C"/>
                </a:solidFill>
                <a:latin typeface="Courier New"/>
                <a:cs typeface="Courier New"/>
              </a:rPr>
              <a:t>s</a:t>
            </a:r>
            <a:r>
              <a:rPr lang="fr-FR" sz="1800">
                <a:solidFill>
                  <a:srgbClr val="000000"/>
                </a:solidFill>
                <a:latin typeface="Courier New"/>
                <a:cs typeface="Courier New"/>
              </a:rPr>
              <a:t> = 0;</a:t>
            </a:r>
          </a:p>
          <a:p>
            <a:endParaRPr lang="fr-FR" sz="1800">
              <a:solidFill>
                <a:srgbClr val="000000"/>
              </a:solidFill>
              <a:latin typeface="Courier New"/>
              <a:cs typeface="Courier New"/>
            </a:endParaRPr>
          </a:p>
          <a:p>
            <a:r>
              <a:rPr lang="da-DK" sz="1800">
                <a:solidFill>
                  <a:srgbClr val="000000"/>
                </a:solidFill>
                <a:latin typeface="Courier New"/>
                <a:cs typeface="Courier New"/>
              </a:rPr>
              <a:t>    </a:t>
            </a:r>
            <a:r>
              <a:rPr lang="da-DK" sz="1800">
                <a:solidFill>
                  <a:srgbClr val="C200FF"/>
                </a:solidFill>
                <a:latin typeface="Courier New"/>
                <a:cs typeface="Courier New"/>
              </a:rPr>
              <a:t>for</a:t>
            </a:r>
            <a:r>
              <a:rPr lang="da-DK" sz="1800">
                <a:solidFill>
                  <a:srgbClr val="000000"/>
                </a:solidFill>
                <a:latin typeface="Courier New"/>
                <a:cs typeface="Courier New"/>
              </a:rPr>
              <a:t> (i = 0; i &lt; n; i++) {</a:t>
            </a:r>
          </a:p>
          <a:p>
            <a:r>
              <a:rPr lang="da-DK" sz="1800">
                <a:solidFill>
                  <a:srgbClr val="000000"/>
                </a:solidFill>
                <a:latin typeface="Courier New"/>
                <a:cs typeface="Courier New"/>
              </a:rPr>
              <a:t>        s += a[i];</a:t>
            </a:r>
          </a:p>
          <a:p>
            <a:r>
              <a:rPr lang="da-DK" sz="1800">
                <a:solidFill>
                  <a:srgbClr val="000000"/>
                </a:solidFill>
                <a:latin typeface="Courier New"/>
                <a:cs typeface="Courier New"/>
              </a:rPr>
              <a:t>    }</a:t>
            </a:r>
          </a:p>
          <a:p>
            <a:r>
              <a:rPr lang="is-IS" sz="1800">
                <a:solidFill>
                  <a:srgbClr val="000000"/>
                </a:solidFill>
                <a:latin typeface="Courier New"/>
                <a:cs typeface="Courier New"/>
              </a:rPr>
              <a:t>    </a:t>
            </a:r>
            <a:r>
              <a:rPr lang="is-IS" sz="1800">
                <a:solidFill>
                  <a:srgbClr val="C200FF"/>
                </a:solidFill>
                <a:latin typeface="Courier New"/>
                <a:cs typeface="Courier New"/>
              </a:rPr>
              <a:t>return</a:t>
            </a:r>
            <a:r>
              <a:rPr lang="is-IS" sz="1800">
                <a:solidFill>
                  <a:srgbClr val="000000"/>
                </a:solidFill>
                <a:latin typeface="Courier New"/>
                <a:cs typeface="Courier New"/>
              </a:rPr>
              <a:t> s;</a:t>
            </a:r>
          </a:p>
          <a:p>
            <a:r>
              <a:rPr lang="is-IS" sz="1800" smtClean="0">
                <a:solidFill>
                  <a:srgbClr val="000000"/>
                </a:solidFill>
                <a:latin typeface="Courier New"/>
                <a:cs typeface="Courier New"/>
              </a:rPr>
              <a:t>}</a:t>
            </a:r>
          </a:p>
          <a:p>
            <a:endParaRPr lang="is-IS" sz="1800">
              <a:solidFill>
                <a:srgbClr val="000000"/>
              </a:solidFill>
              <a:latin typeface="Courier New"/>
              <a:cs typeface="Courier New"/>
            </a:endParaRPr>
          </a:p>
        </p:txBody>
      </p:sp>
      <p:sp>
        <p:nvSpPr>
          <p:cNvPr id="7" name="Rectangle 3"/>
          <p:cNvSpPr>
            <a:spLocks noChangeArrowheads="1"/>
          </p:cNvSpPr>
          <p:nvPr/>
        </p:nvSpPr>
        <p:spPr bwMode="auto">
          <a:xfrm>
            <a:off x="3199906" y="4442937"/>
            <a:ext cx="1067294"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err="1" smtClean="0">
                <a:solidFill>
                  <a:schemeClr val="tx1">
                    <a:lumMod val="50000"/>
                    <a:lumOff val="50000"/>
                  </a:schemeClr>
                </a:solidFill>
                <a:latin typeface="Courier New" pitchFamily="49" charset="0"/>
                <a:ea typeface="msgothic" charset="0"/>
                <a:cs typeface="msgothic" charset="0"/>
              </a:rPr>
              <a:t>main.c</a:t>
            </a:r>
            <a:endParaRPr lang="en-GB" sz="1800" b="1" i="1">
              <a:solidFill>
                <a:schemeClr val="tx1">
                  <a:lumMod val="50000"/>
                  <a:lumOff val="50000"/>
                </a:schemeClr>
              </a:solidFill>
              <a:latin typeface="Courier New" pitchFamily="49" charset="0"/>
              <a:ea typeface="msgothic" charset="0"/>
              <a:cs typeface="msgothic" charset="0"/>
            </a:endParaRPr>
          </a:p>
        </p:txBody>
      </p:sp>
      <p:sp>
        <p:nvSpPr>
          <p:cNvPr id="8" name="Rectangle 3"/>
          <p:cNvSpPr>
            <a:spLocks noChangeArrowheads="1"/>
          </p:cNvSpPr>
          <p:nvPr/>
        </p:nvSpPr>
        <p:spPr bwMode="auto">
          <a:xfrm>
            <a:off x="7871984" y="4433473"/>
            <a:ext cx="928772"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err="1" smtClean="0">
                <a:solidFill>
                  <a:schemeClr val="tx1">
                    <a:lumMod val="50000"/>
                    <a:lumOff val="50000"/>
                  </a:schemeClr>
                </a:solidFill>
                <a:latin typeface="Courier New" pitchFamily="49" charset="0"/>
                <a:ea typeface="msgothic" charset="0"/>
                <a:cs typeface="msgothic" charset="0"/>
              </a:rPr>
              <a:t>sum.c</a:t>
            </a:r>
            <a:endParaRPr lang="en-GB" sz="1800" b="1" i="1">
              <a:solidFill>
                <a:schemeClr val="tx1">
                  <a:lumMod val="50000"/>
                  <a:lumOff val="50000"/>
                </a:schemeClr>
              </a:solidFill>
              <a:latin typeface="Courier New" pitchFamily="49" charset="0"/>
              <a:ea typeface="msgothic" charset="0"/>
              <a:cs typeface="msgothic" charset="0"/>
            </a:endParaRPr>
          </a:p>
        </p:txBody>
      </p:sp>
    </p:spTree>
    <p:extLst>
      <p:ext uri="{BB962C8B-B14F-4D97-AF65-F5344CB8AC3E}">
        <p14:creationId xmlns:p14="http://schemas.microsoft.com/office/powerpoint/2010/main" val="3248377641"/>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lstStyle/>
          <a:p>
            <a:r>
              <a:rPr lang="en-US" smtClean="0"/>
              <a:t>Linking</a:t>
            </a:r>
            <a:endParaRPr lang="en-US"/>
          </a:p>
        </p:txBody>
      </p:sp>
      <p:sp>
        <p:nvSpPr>
          <p:cNvPr id="228355" name="Rectangle 3"/>
          <p:cNvSpPr>
            <a:spLocks noGrp="1" noChangeArrowheads="1"/>
          </p:cNvSpPr>
          <p:nvPr>
            <p:ph type="body" idx="1"/>
          </p:nvPr>
        </p:nvSpPr>
        <p:spPr>
          <a:xfrm>
            <a:off x="404813" y="1219200"/>
            <a:ext cx="7772400" cy="1143000"/>
          </a:xfrm>
          <a:solidFill>
            <a:srgbClr val="E0E0E0"/>
          </a:solidFill>
          <a:ln>
            <a:solidFill>
              <a:srgbClr val="000004"/>
            </a:solidFill>
          </a:ln>
        </p:spPr>
        <p:txBody>
          <a:bodyPr/>
          <a:lstStyle/>
          <a:p>
            <a:r>
              <a:rPr lang="en-US" sz="2000">
                <a:latin typeface="Calibri"/>
                <a:cs typeface="Calibri"/>
              </a:rPr>
              <a:t>Programs are translated and linked using a </a:t>
            </a:r>
            <a:r>
              <a:rPr lang="en-US" sz="2000" i="1">
                <a:latin typeface="Calibri"/>
                <a:cs typeface="Calibri"/>
              </a:rPr>
              <a:t>compiler driver</a:t>
            </a:r>
            <a:r>
              <a:rPr lang="en-US" sz="2000">
                <a:latin typeface="Calibri"/>
                <a:cs typeface="Calibri"/>
              </a:rPr>
              <a:t>:</a:t>
            </a:r>
          </a:p>
          <a:p>
            <a:pPr lvl="1"/>
            <a:r>
              <a:rPr lang="en-US" sz="1800" err="1" smtClean="0">
                <a:latin typeface="Courier New" charset="0"/>
              </a:rPr>
              <a:t>linux</a:t>
            </a:r>
            <a:r>
              <a:rPr lang="en-US" sz="1800" smtClean="0">
                <a:latin typeface="Courier New" charset="0"/>
              </a:rPr>
              <a:t>&gt; </a:t>
            </a:r>
            <a:r>
              <a:rPr lang="en-US" sz="1800" i="1" err="1">
                <a:latin typeface="Courier New" charset="0"/>
              </a:rPr>
              <a:t>gcc</a:t>
            </a:r>
            <a:r>
              <a:rPr lang="en-US" sz="1800" i="1">
                <a:latin typeface="Courier New" charset="0"/>
              </a:rPr>
              <a:t> </a:t>
            </a:r>
            <a:r>
              <a:rPr lang="en-US" sz="1800" i="1" smtClean="0">
                <a:latin typeface="Courier New" charset="0"/>
              </a:rPr>
              <a:t>-</a:t>
            </a:r>
            <a:r>
              <a:rPr lang="en-US" sz="1800" i="1" err="1" smtClean="0">
                <a:latin typeface="Courier New" charset="0"/>
              </a:rPr>
              <a:t>Og</a:t>
            </a:r>
            <a:r>
              <a:rPr lang="en-US" sz="1800" i="1" smtClean="0">
                <a:latin typeface="Courier New" charset="0"/>
              </a:rPr>
              <a:t> -</a:t>
            </a:r>
            <a:r>
              <a:rPr lang="en-US" sz="1800" i="1">
                <a:latin typeface="Courier New" charset="0"/>
              </a:rPr>
              <a:t>o </a:t>
            </a:r>
            <a:r>
              <a:rPr lang="en-US" sz="1800" i="1" err="1" smtClean="0">
                <a:latin typeface="Courier New" charset="0"/>
              </a:rPr>
              <a:t>prog</a:t>
            </a:r>
            <a:r>
              <a:rPr lang="en-US" sz="1800" i="1" smtClean="0">
                <a:latin typeface="Courier New" charset="0"/>
              </a:rPr>
              <a:t> </a:t>
            </a:r>
            <a:r>
              <a:rPr lang="en-US" sz="1800" i="1" err="1">
                <a:latin typeface="Courier New" charset="0"/>
              </a:rPr>
              <a:t>main.c</a:t>
            </a:r>
            <a:r>
              <a:rPr lang="en-US" sz="1800" i="1">
                <a:latin typeface="Courier New" charset="0"/>
              </a:rPr>
              <a:t> </a:t>
            </a:r>
            <a:r>
              <a:rPr lang="en-US" sz="1800" i="1" err="1" smtClean="0">
                <a:latin typeface="Courier New" charset="0"/>
              </a:rPr>
              <a:t>sum.c</a:t>
            </a:r>
            <a:endParaRPr lang="en-US" sz="1800" i="1">
              <a:latin typeface="Courier New" charset="0"/>
            </a:endParaRPr>
          </a:p>
          <a:p>
            <a:pPr lvl="1"/>
            <a:r>
              <a:rPr lang="en-US" sz="1800" err="1" smtClean="0">
                <a:latin typeface="Courier New" charset="0"/>
              </a:rPr>
              <a:t>linux</a:t>
            </a:r>
            <a:r>
              <a:rPr lang="en-US" sz="1800" smtClean="0">
                <a:latin typeface="Courier New" charset="0"/>
              </a:rPr>
              <a:t>&gt; </a:t>
            </a:r>
            <a:r>
              <a:rPr lang="en-US" sz="1800" i="1">
                <a:latin typeface="Courier New" charset="0"/>
              </a:rPr>
              <a:t>./</a:t>
            </a:r>
            <a:r>
              <a:rPr lang="en-US" sz="1800" i="1" err="1" smtClean="0">
                <a:latin typeface="Courier New" charset="0"/>
              </a:rPr>
              <a:t>prog</a:t>
            </a:r>
            <a:endParaRPr lang="en-US" sz="1800" i="1">
              <a:latin typeface="Courier New" charset="0"/>
            </a:endParaRPr>
          </a:p>
        </p:txBody>
      </p:sp>
      <p:sp>
        <p:nvSpPr>
          <p:cNvPr id="228356" name="Line 4"/>
          <p:cNvSpPr>
            <a:spLocks noChangeShapeType="1"/>
          </p:cNvSpPr>
          <p:nvPr/>
        </p:nvSpPr>
        <p:spPr bwMode="auto">
          <a:xfrm>
            <a:off x="2667000" y="3040063"/>
            <a:ext cx="0" cy="381000"/>
          </a:xfrm>
          <a:prstGeom prst="line">
            <a:avLst/>
          </a:prstGeom>
          <a:noFill/>
          <a:ln w="28575">
            <a:solidFill>
              <a:schemeClr val="tx1"/>
            </a:solidFill>
            <a:round/>
            <a:headEnd/>
            <a:tailEnd type="triangle" w="med" len="med"/>
          </a:ln>
          <a:effectLst/>
        </p:spPr>
        <p:txBody>
          <a:bodyPr lIns="90487" tIns="44450" rIns="90487" bIns="44450">
            <a:prstTxWarp prst="textNoShape">
              <a:avLst/>
            </a:prstTxWarp>
            <a:spAutoFit/>
          </a:bodyPr>
          <a:lstStyle/>
          <a:p>
            <a:endParaRPr lang="en-US" sz="1800"/>
          </a:p>
        </p:txBody>
      </p:sp>
      <p:sp>
        <p:nvSpPr>
          <p:cNvPr id="228357" name="Rectangle 5"/>
          <p:cNvSpPr>
            <a:spLocks noChangeArrowheads="1"/>
          </p:cNvSpPr>
          <p:nvPr/>
        </p:nvSpPr>
        <p:spPr bwMode="auto">
          <a:xfrm>
            <a:off x="2057400" y="5097463"/>
            <a:ext cx="2971800" cy="366767"/>
          </a:xfrm>
          <a:prstGeom prst="rect">
            <a:avLst/>
          </a:prstGeom>
          <a:solidFill>
            <a:srgbClr val="DEDFF5"/>
          </a:solidFill>
          <a:ln w="28575">
            <a:solidFill>
              <a:schemeClr val="tx1"/>
            </a:solidFill>
            <a:miter lim="800000"/>
            <a:headEnd/>
            <a:tailEnd/>
          </a:ln>
          <a:effectLst/>
        </p:spPr>
        <p:txBody>
          <a:bodyPr lIns="90487" tIns="44450" rIns="90487" bIns="44450">
            <a:prstTxWarp prst="textNoShape">
              <a:avLst/>
            </a:prstTxWarp>
            <a:spAutoFit/>
          </a:bodyPr>
          <a:lstStyle/>
          <a:p>
            <a:pPr algn="ctr"/>
            <a:r>
              <a:rPr lang="en-US" sz="1800">
                <a:latin typeface="Calibri"/>
                <a:cs typeface="Calibri"/>
              </a:rPr>
              <a:t>Linker (ld)</a:t>
            </a:r>
          </a:p>
        </p:txBody>
      </p:sp>
      <p:sp>
        <p:nvSpPr>
          <p:cNvPr id="228358" name="Rectangle 6"/>
          <p:cNvSpPr>
            <a:spLocks noChangeArrowheads="1"/>
          </p:cNvSpPr>
          <p:nvPr/>
        </p:nvSpPr>
        <p:spPr bwMode="auto">
          <a:xfrm>
            <a:off x="1828800" y="3409950"/>
            <a:ext cx="1752600" cy="666750"/>
          </a:xfrm>
          <a:prstGeom prst="rect">
            <a:avLst/>
          </a:prstGeom>
          <a:solidFill>
            <a:srgbClr val="DEDFF5"/>
          </a:solidFill>
          <a:ln w="28575">
            <a:solidFill>
              <a:schemeClr val="tx1"/>
            </a:solidFill>
            <a:miter lim="800000"/>
            <a:headEnd/>
            <a:tailEnd/>
          </a:ln>
          <a:effectLst/>
        </p:spPr>
        <p:txBody>
          <a:bodyPr lIns="90487" tIns="44450" rIns="90487" bIns="44450">
            <a:prstTxWarp prst="textNoShape">
              <a:avLst/>
            </a:prstTxWarp>
            <a:spAutoFit/>
          </a:bodyPr>
          <a:lstStyle/>
          <a:p>
            <a:pPr algn="ctr"/>
            <a:r>
              <a:rPr lang="en-US" sz="1800">
                <a:latin typeface="Calibri"/>
                <a:cs typeface="Calibri"/>
              </a:rPr>
              <a:t>Translators</a:t>
            </a:r>
          </a:p>
          <a:p>
            <a:pPr algn="ctr"/>
            <a:r>
              <a:rPr lang="en-US" sz="1800">
                <a:latin typeface="Calibri"/>
                <a:cs typeface="Calibri"/>
              </a:rPr>
              <a:t>(</a:t>
            </a:r>
            <a:r>
              <a:rPr lang="en-US" sz="1800" err="1">
                <a:latin typeface="Calibri"/>
                <a:cs typeface="Calibri"/>
              </a:rPr>
              <a:t>cpp</a:t>
            </a:r>
            <a:r>
              <a:rPr lang="en-US" sz="1800">
                <a:latin typeface="Calibri"/>
                <a:cs typeface="Calibri"/>
              </a:rPr>
              <a:t>, cc1, as)</a:t>
            </a:r>
          </a:p>
        </p:txBody>
      </p:sp>
      <p:sp>
        <p:nvSpPr>
          <p:cNvPr id="228359" name="Text Box 7"/>
          <p:cNvSpPr txBox="1">
            <a:spLocks noChangeArrowheads="1"/>
          </p:cNvSpPr>
          <p:nvPr/>
        </p:nvSpPr>
        <p:spPr bwMode="auto">
          <a:xfrm>
            <a:off x="2133600" y="2667000"/>
            <a:ext cx="1015798" cy="369332"/>
          </a:xfrm>
          <a:prstGeom prst="rect">
            <a:avLst/>
          </a:prstGeom>
          <a:noFill/>
          <a:ln w="25400">
            <a:noFill/>
            <a:miter lim="800000"/>
            <a:headEnd/>
            <a:tailEnd/>
          </a:ln>
          <a:effectLst/>
        </p:spPr>
        <p:txBody>
          <a:bodyPr wrap="none">
            <a:prstTxWarp prst="textNoShape">
              <a:avLst/>
            </a:prstTxWarp>
            <a:spAutoFit/>
          </a:bodyPr>
          <a:lstStyle/>
          <a:p>
            <a:r>
              <a:rPr lang="en-US" sz="1800" err="1">
                <a:latin typeface="Courier New"/>
                <a:cs typeface="Courier New"/>
              </a:rPr>
              <a:t>main.c</a:t>
            </a:r>
            <a:endParaRPr lang="en-US" sz="1800">
              <a:latin typeface="Courier New"/>
              <a:cs typeface="Courier New"/>
            </a:endParaRPr>
          </a:p>
        </p:txBody>
      </p:sp>
      <p:sp>
        <p:nvSpPr>
          <p:cNvPr id="228360" name="Text Box 8"/>
          <p:cNvSpPr txBox="1">
            <a:spLocks noChangeArrowheads="1"/>
          </p:cNvSpPr>
          <p:nvPr/>
        </p:nvSpPr>
        <p:spPr bwMode="auto">
          <a:xfrm>
            <a:off x="2268538" y="4343400"/>
            <a:ext cx="1015798" cy="369332"/>
          </a:xfrm>
          <a:prstGeom prst="rect">
            <a:avLst/>
          </a:prstGeom>
          <a:noFill/>
          <a:ln w="25400">
            <a:noFill/>
            <a:miter lim="800000"/>
            <a:headEnd/>
            <a:tailEnd/>
          </a:ln>
          <a:effectLst/>
        </p:spPr>
        <p:txBody>
          <a:bodyPr wrap="none">
            <a:prstTxWarp prst="textNoShape">
              <a:avLst/>
            </a:prstTxWarp>
            <a:spAutoFit/>
          </a:bodyPr>
          <a:lstStyle/>
          <a:p>
            <a:r>
              <a:rPr lang="en-US" sz="1800">
                <a:latin typeface="Courier New"/>
                <a:cs typeface="Courier New"/>
              </a:rPr>
              <a:t>main.o</a:t>
            </a:r>
          </a:p>
        </p:txBody>
      </p:sp>
      <p:sp>
        <p:nvSpPr>
          <p:cNvPr id="228361" name="Rectangle 9"/>
          <p:cNvSpPr>
            <a:spLocks noChangeArrowheads="1"/>
          </p:cNvSpPr>
          <p:nvPr/>
        </p:nvSpPr>
        <p:spPr bwMode="auto">
          <a:xfrm>
            <a:off x="3733800" y="3409950"/>
            <a:ext cx="1797050" cy="666750"/>
          </a:xfrm>
          <a:prstGeom prst="rect">
            <a:avLst/>
          </a:prstGeom>
          <a:solidFill>
            <a:srgbClr val="DEDFF5"/>
          </a:solidFill>
          <a:ln w="28575">
            <a:solidFill>
              <a:schemeClr val="tx1"/>
            </a:solidFill>
            <a:miter lim="800000"/>
            <a:headEnd/>
            <a:tailEnd/>
          </a:ln>
          <a:effectLst/>
        </p:spPr>
        <p:txBody>
          <a:bodyPr lIns="90487" tIns="44450" rIns="90487" bIns="44450">
            <a:prstTxWarp prst="textNoShape">
              <a:avLst/>
            </a:prstTxWarp>
            <a:spAutoFit/>
          </a:bodyPr>
          <a:lstStyle/>
          <a:p>
            <a:pPr algn="ctr"/>
            <a:r>
              <a:rPr lang="en-US" sz="1800">
                <a:latin typeface="Calibri"/>
                <a:cs typeface="Calibri"/>
              </a:rPr>
              <a:t>Translators</a:t>
            </a:r>
          </a:p>
          <a:p>
            <a:pPr algn="ctr"/>
            <a:r>
              <a:rPr lang="en-US" sz="1800">
                <a:latin typeface="Calibri"/>
                <a:cs typeface="Calibri"/>
              </a:rPr>
              <a:t>(</a:t>
            </a:r>
            <a:r>
              <a:rPr lang="en-US" sz="1800" err="1">
                <a:latin typeface="Calibri"/>
                <a:cs typeface="Calibri"/>
              </a:rPr>
              <a:t>cpp</a:t>
            </a:r>
            <a:r>
              <a:rPr lang="en-US" sz="1800">
                <a:latin typeface="Calibri"/>
                <a:cs typeface="Calibri"/>
              </a:rPr>
              <a:t>, cc1, as)</a:t>
            </a:r>
          </a:p>
        </p:txBody>
      </p:sp>
      <p:sp>
        <p:nvSpPr>
          <p:cNvPr id="228362" name="Text Box 10"/>
          <p:cNvSpPr txBox="1">
            <a:spLocks noChangeArrowheads="1"/>
          </p:cNvSpPr>
          <p:nvPr/>
        </p:nvSpPr>
        <p:spPr bwMode="auto">
          <a:xfrm>
            <a:off x="4191000" y="2667000"/>
            <a:ext cx="877276" cy="369332"/>
          </a:xfrm>
          <a:prstGeom prst="rect">
            <a:avLst/>
          </a:prstGeom>
          <a:noFill/>
          <a:ln w="25400">
            <a:noFill/>
            <a:miter lim="800000"/>
            <a:headEnd/>
            <a:tailEnd/>
          </a:ln>
          <a:effectLst/>
        </p:spPr>
        <p:txBody>
          <a:bodyPr wrap="none">
            <a:prstTxWarp prst="textNoShape">
              <a:avLst/>
            </a:prstTxWarp>
            <a:spAutoFit/>
          </a:bodyPr>
          <a:lstStyle/>
          <a:p>
            <a:r>
              <a:rPr lang="en-US" sz="1800" err="1" smtClean="0">
                <a:latin typeface="Courier New"/>
                <a:cs typeface="Courier New"/>
              </a:rPr>
              <a:t>sum.c</a:t>
            </a:r>
            <a:endParaRPr lang="en-US" sz="1800">
              <a:latin typeface="Courier New"/>
              <a:cs typeface="Courier New"/>
            </a:endParaRPr>
          </a:p>
        </p:txBody>
      </p:sp>
      <p:sp>
        <p:nvSpPr>
          <p:cNvPr id="228363" name="Text Box 11"/>
          <p:cNvSpPr txBox="1">
            <a:spLocks noChangeArrowheads="1"/>
          </p:cNvSpPr>
          <p:nvPr/>
        </p:nvSpPr>
        <p:spPr bwMode="auto">
          <a:xfrm>
            <a:off x="4268300" y="4343400"/>
            <a:ext cx="877276" cy="369332"/>
          </a:xfrm>
          <a:prstGeom prst="rect">
            <a:avLst/>
          </a:prstGeom>
          <a:noFill/>
          <a:ln w="25400">
            <a:noFill/>
            <a:miter lim="800000"/>
            <a:headEnd/>
            <a:tailEnd/>
          </a:ln>
          <a:effectLst/>
        </p:spPr>
        <p:txBody>
          <a:bodyPr wrap="none">
            <a:prstTxWarp prst="textNoShape">
              <a:avLst/>
            </a:prstTxWarp>
            <a:spAutoFit/>
          </a:bodyPr>
          <a:lstStyle/>
          <a:p>
            <a:pPr algn="ctr"/>
            <a:r>
              <a:rPr lang="en-US" sz="1800" err="1" smtClean="0">
                <a:latin typeface="Courier New"/>
                <a:cs typeface="Courier New"/>
              </a:rPr>
              <a:t>sum.o</a:t>
            </a:r>
            <a:endParaRPr lang="en-US" sz="1800">
              <a:latin typeface="Courier New"/>
              <a:cs typeface="Courier New"/>
            </a:endParaRPr>
          </a:p>
        </p:txBody>
      </p:sp>
      <p:sp>
        <p:nvSpPr>
          <p:cNvPr id="228364" name="Text Box 12"/>
          <p:cNvSpPr txBox="1">
            <a:spLocks noChangeArrowheads="1"/>
          </p:cNvSpPr>
          <p:nvPr/>
        </p:nvSpPr>
        <p:spPr bwMode="auto">
          <a:xfrm>
            <a:off x="3200400" y="5789613"/>
            <a:ext cx="738754" cy="369332"/>
          </a:xfrm>
          <a:prstGeom prst="rect">
            <a:avLst/>
          </a:prstGeom>
          <a:noFill/>
          <a:ln w="25400">
            <a:noFill/>
            <a:miter lim="800000"/>
            <a:headEnd/>
            <a:tailEnd/>
          </a:ln>
          <a:effectLst/>
        </p:spPr>
        <p:txBody>
          <a:bodyPr wrap="none">
            <a:prstTxWarp prst="textNoShape">
              <a:avLst/>
            </a:prstTxWarp>
            <a:spAutoFit/>
          </a:bodyPr>
          <a:lstStyle/>
          <a:p>
            <a:r>
              <a:rPr lang="en-US" sz="1800" err="1" smtClean="0">
                <a:latin typeface="Courier New"/>
                <a:cs typeface="Courier New"/>
              </a:rPr>
              <a:t>prog</a:t>
            </a:r>
            <a:endParaRPr lang="en-US" sz="1800">
              <a:latin typeface="Courier New"/>
              <a:cs typeface="Courier New"/>
            </a:endParaRPr>
          </a:p>
        </p:txBody>
      </p:sp>
      <p:sp>
        <p:nvSpPr>
          <p:cNvPr id="228365" name="Line 13"/>
          <p:cNvSpPr>
            <a:spLocks noChangeShapeType="1"/>
          </p:cNvSpPr>
          <p:nvPr/>
        </p:nvSpPr>
        <p:spPr bwMode="auto">
          <a:xfrm>
            <a:off x="4659313" y="3040063"/>
            <a:ext cx="0" cy="381000"/>
          </a:xfrm>
          <a:prstGeom prst="line">
            <a:avLst/>
          </a:prstGeom>
          <a:noFill/>
          <a:ln w="28575">
            <a:solidFill>
              <a:schemeClr val="tx1"/>
            </a:solidFill>
            <a:round/>
            <a:headEnd/>
            <a:tailEnd type="triangle" w="med" len="med"/>
          </a:ln>
          <a:effectLst/>
        </p:spPr>
        <p:txBody>
          <a:bodyPr lIns="90487" tIns="44450" rIns="90487" bIns="44450">
            <a:prstTxWarp prst="textNoShape">
              <a:avLst/>
            </a:prstTxWarp>
            <a:spAutoFit/>
          </a:bodyPr>
          <a:lstStyle/>
          <a:p>
            <a:endParaRPr lang="en-US" sz="1800"/>
          </a:p>
        </p:txBody>
      </p:sp>
      <p:sp>
        <p:nvSpPr>
          <p:cNvPr id="228366" name="Line 14"/>
          <p:cNvSpPr>
            <a:spLocks noChangeShapeType="1"/>
          </p:cNvSpPr>
          <p:nvPr/>
        </p:nvSpPr>
        <p:spPr bwMode="auto">
          <a:xfrm>
            <a:off x="2667000" y="4106863"/>
            <a:ext cx="0" cy="381000"/>
          </a:xfrm>
          <a:prstGeom prst="line">
            <a:avLst/>
          </a:prstGeom>
          <a:noFill/>
          <a:ln w="28575">
            <a:solidFill>
              <a:schemeClr val="tx1"/>
            </a:solidFill>
            <a:round/>
            <a:headEnd/>
            <a:tailEnd type="triangle" w="med" len="med"/>
          </a:ln>
          <a:effectLst/>
        </p:spPr>
        <p:txBody>
          <a:bodyPr lIns="90487" tIns="44450" rIns="90487" bIns="44450">
            <a:prstTxWarp prst="textNoShape">
              <a:avLst/>
            </a:prstTxWarp>
            <a:spAutoFit/>
          </a:bodyPr>
          <a:lstStyle/>
          <a:p>
            <a:endParaRPr lang="en-US" sz="1800"/>
          </a:p>
        </p:txBody>
      </p:sp>
      <p:sp>
        <p:nvSpPr>
          <p:cNvPr id="228367" name="Line 15"/>
          <p:cNvSpPr>
            <a:spLocks noChangeShapeType="1"/>
          </p:cNvSpPr>
          <p:nvPr/>
        </p:nvSpPr>
        <p:spPr bwMode="auto">
          <a:xfrm>
            <a:off x="4659313" y="4106863"/>
            <a:ext cx="0" cy="381000"/>
          </a:xfrm>
          <a:prstGeom prst="line">
            <a:avLst/>
          </a:prstGeom>
          <a:noFill/>
          <a:ln w="28575">
            <a:solidFill>
              <a:schemeClr val="tx1"/>
            </a:solidFill>
            <a:round/>
            <a:headEnd/>
            <a:tailEnd type="triangle" w="med" len="med"/>
          </a:ln>
          <a:effectLst/>
        </p:spPr>
        <p:txBody>
          <a:bodyPr lIns="90487" tIns="44450" rIns="90487" bIns="44450">
            <a:prstTxWarp prst="textNoShape">
              <a:avLst/>
            </a:prstTxWarp>
            <a:spAutoFit/>
          </a:bodyPr>
          <a:lstStyle/>
          <a:p>
            <a:endParaRPr lang="en-US" sz="1800"/>
          </a:p>
        </p:txBody>
      </p:sp>
      <p:sp>
        <p:nvSpPr>
          <p:cNvPr id="228368" name="Line 16"/>
          <p:cNvSpPr>
            <a:spLocks noChangeShapeType="1"/>
          </p:cNvSpPr>
          <p:nvPr/>
        </p:nvSpPr>
        <p:spPr bwMode="auto">
          <a:xfrm>
            <a:off x="4659313" y="4716463"/>
            <a:ext cx="0" cy="381000"/>
          </a:xfrm>
          <a:prstGeom prst="line">
            <a:avLst/>
          </a:prstGeom>
          <a:noFill/>
          <a:ln w="28575">
            <a:solidFill>
              <a:schemeClr val="tx1"/>
            </a:solidFill>
            <a:round/>
            <a:headEnd/>
            <a:tailEnd type="triangle" w="med" len="med"/>
          </a:ln>
          <a:effectLst/>
        </p:spPr>
        <p:txBody>
          <a:bodyPr lIns="90487" tIns="44450" rIns="90487" bIns="44450">
            <a:prstTxWarp prst="textNoShape">
              <a:avLst/>
            </a:prstTxWarp>
            <a:spAutoFit/>
          </a:bodyPr>
          <a:lstStyle/>
          <a:p>
            <a:endParaRPr lang="en-US" sz="1800"/>
          </a:p>
        </p:txBody>
      </p:sp>
      <p:sp>
        <p:nvSpPr>
          <p:cNvPr id="228369" name="Line 17"/>
          <p:cNvSpPr>
            <a:spLocks noChangeShapeType="1"/>
          </p:cNvSpPr>
          <p:nvPr/>
        </p:nvSpPr>
        <p:spPr bwMode="auto">
          <a:xfrm>
            <a:off x="3559175" y="5489575"/>
            <a:ext cx="0" cy="381000"/>
          </a:xfrm>
          <a:prstGeom prst="line">
            <a:avLst/>
          </a:prstGeom>
          <a:noFill/>
          <a:ln w="28575">
            <a:solidFill>
              <a:schemeClr val="tx1"/>
            </a:solidFill>
            <a:round/>
            <a:headEnd/>
            <a:tailEnd type="triangle" w="med" len="med"/>
          </a:ln>
          <a:effectLst/>
        </p:spPr>
        <p:txBody>
          <a:bodyPr lIns="90487" tIns="44450" rIns="90487" bIns="44450">
            <a:prstTxWarp prst="textNoShape">
              <a:avLst/>
            </a:prstTxWarp>
            <a:spAutoFit/>
          </a:bodyPr>
          <a:lstStyle/>
          <a:p>
            <a:endParaRPr lang="en-US" sz="1800"/>
          </a:p>
        </p:txBody>
      </p:sp>
      <p:sp>
        <p:nvSpPr>
          <p:cNvPr id="228370" name="Line 18"/>
          <p:cNvSpPr>
            <a:spLocks noChangeShapeType="1"/>
          </p:cNvSpPr>
          <p:nvPr/>
        </p:nvSpPr>
        <p:spPr bwMode="auto">
          <a:xfrm>
            <a:off x="2667000" y="4716463"/>
            <a:ext cx="0" cy="381000"/>
          </a:xfrm>
          <a:prstGeom prst="line">
            <a:avLst/>
          </a:prstGeom>
          <a:noFill/>
          <a:ln w="28575">
            <a:solidFill>
              <a:schemeClr val="tx1"/>
            </a:solidFill>
            <a:round/>
            <a:headEnd/>
            <a:tailEnd type="triangle" w="med" len="med"/>
          </a:ln>
          <a:effectLst/>
        </p:spPr>
        <p:txBody>
          <a:bodyPr lIns="90487" tIns="44450" rIns="90487" bIns="44450">
            <a:prstTxWarp prst="textNoShape">
              <a:avLst/>
            </a:prstTxWarp>
            <a:spAutoFit/>
          </a:bodyPr>
          <a:lstStyle/>
          <a:p>
            <a:endParaRPr lang="en-US" sz="1800"/>
          </a:p>
        </p:txBody>
      </p:sp>
      <p:sp>
        <p:nvSpPr>
          <p:cNvPr id="228371" name="Text Box 19"/>
          <p:cNvSpPr txBox="1">
            <a:spLocks noChangeArrowheads="1"/>
          </p:cNvSpPr>
          <p:nvPr/>
        </p:nvSpPr>
        <p:spPr bwMode="auto">
          <a:xfrm>
            <a:off x="5683250" y="2719388"/>
            <a:ext cx="1321145" cy="369332"/>
          </a:xfrm>
          <a:prstGeom prst="rect">
            <a:avLst/>
          </a:prstGeom>
          <a:noFill/>
          <a:ln w="25400">
            <a:noFill/>
            <a:miter lim="800000"/>
            <a:headEnd/>
            <a:tailEnd/>
          </a:ln>
          <a:effectLst/>
        </p:spPr>
        <p:txBody>
          <a:bodyPr wrap="none">
            <a:prstTxWarp prst="textNoShape">
              <a:avLst/>
            </a:prstTxWarp>
            <a:spAutoFit/>
          </a:bodyPr>
          <a:lstStyle/>
          <a:p>
            <a:r>
              <a:rPr lang="en-US" sz="1800" i="1">
                <a:solidFill>
                  <a:srgbClr val="C00000"/>
                </a:solidFill>
                <a:latin typeface="Calibri"/>
                <a:cs typeface="Calibri"/>
              </a:rPr>
              <a:t>Source files</a:t>
            </a:r>
          </a:p>
        </p:txBody>
      </p:sp>
      <p:sp>
        <p:nvSpPr>
          <p:cNvPr id="228372" name="Text Box 20"/>
          <p:cNvSpPr txBox="1">
            <a:spLocks noChangeArrowheads="1"/>
          </p:cNvSpPr>
          <p:nvPr/>
        </p:nvSpPr>
        <p:spPr bwMode="auto">
          <a:xfrm>
            <a:off x="5619750" y="4264025"/>
            <a:ext cx="2404637" cy="646331"/>
          </a:xfrm>
          <a:prstGeom prst="rect">
            <a:avLst/>
          </a:prstGeom>
          <a:noFill/>
          <a:ln w="25400">
            <a:noFill/>
            <a:miter lim="800000"/>
            <a:headEnd/>
            <a:tailEnd/>
          </a:ln>
          <a:effectLst/>
        </p:spPr>
        <p:txBody>
          <a:bodyPr wrap="none">
            <a:prstTxWarp prst="textNoShape">
              <a:avLst/>
            </a:prstTxWarp>
            <a:spAutoFit/>
          </a:bodyPr>
          <a:lstStyle/>
          <a:p>
            <a:r>
              <a:rPr lang="en-US" sz="1800" i="1">
                <a:solidFill>
                  <a:srgbClr val="C00000"/>
                </a:solidFill>
                <a:latin typeface="Calibri"/>
                <a:cs typeface="Calibri"/>
              </a:rPr>
              <a:t>Separately compiled</a:t>
            </a:r>
          </a:p>
          <a:p>
            <a:r>
              <a:rPr lang="en-US" sz="1800" i="1" u="sng">
                <a:solidFill>
                  <a:srgbClr val="C00000"/>
                </a:solidFill>
                <a:latin typeface="Calibri"/>
                <a:cs typeface="Calibri"/>
              </a:rPr>
              <a:t>relocatable</a:t>
            </a:r>
            <a:r>
              <a:rPr lang="en-US" sz="1800" i="1">
                <a:solidFill>
                  <a:srgbClr val="C00000"/>
                </a:solidFill>
                <a:latin typeface="Calibri"/>
                <a:cs typeface="Calibri"/>
              </a:rPr>
              <a:t> object files</a:t>
            </a:r>
          </a:p>
        </p:txBody>
      </p:sp>
      <p:sp>
        <p:nvSpPr>
          <p:cNvPr id="228373" name="Text Box 21"/>
          <p:cNvSpPr txBox="1">
            <a:spLocks noChangeArrowheads="1"/>
          </p:cNvSpPr>
          <p:nvPr/>
        </p:nvSpPr>
        <p:spPr bwMode="auto">
          <a:xfrm>
            <a:off x="3999592" y="5607050"/>
            <a:ext cx="4077608" cy="923330"/>
          </a:xfrm>
          <a:prstGeom prst="rect">
            <a:avLst/>
          </a:prstGeom>
          <a:noFill/>
          <a:ln w="25400">
            <a:noFill/>
            <a:miter lim="800000"/>
            <a:headEnd/>
            <a:tailEnd/>
          </a:ln>
          <a:effectLst/>
        </p:spPr>
        <p:txBody>
          <a:bodyPr wrap="none">
            <a:prstTxWarp prst="textNoShape">
              <a:avLst/>
            </a:prstTxWarp>
            <a:spAutoFit/>
          </a:bodyPr>
          <a:lstStyle/>
          <a:p>
            <a:r>
              <a:rPr lang="en-US" sz="1800" i="1">
                <a:solidFill>
                  <a:srgbClr val="C00000"/>
                </a:solidFill>
                <a:latin typeface="Calibri"/>
                <a:cs typeface="Calibri"/>
              </a:rPr>
              <a:t>Fully linked </a:t>
            </a:r>
            <a:r>
              <a:rPr lang="en-US" sz="1800" i="1" u="sng">
                <a:solidFill>
                  <a:srgbClr val="C00000"/>
                </a:solidFill>
                <a:latin typeface="Calibri"/>
                <a:cs typeface="Calibri"/>
              </a:rPr>
              <a:t>executable</a:t>
            </a:r>
            <a:r>
              <a:rPr lang="en-US" sz="1800" i="1">
                <a:solidFill>
                  <a:srgbClr val="C00000"/>
                </a:solidFill>
                <a:latin typeface="Calibri"/>
                <a:cs typeface="Calibri"/>
              </a:rPr>
              <a:t> object file</a:t>
            </a:r>
          </a:p>
          <a:p>
            <a:r>
              <a:rPr lang="en-US" sz="1800" i="1">
                <a:solidFill>
                  <a:srgbClr val="C00000"/>
                </a:solidFill>
                <a:latin typeface="Calibri"/>
                <a:cs typeface="Calibri"/>
              </a:rPr>
              <a:t>(contains code and data for all functions</a:t>
            </a:r>
          </a:p>
          <a:p>
            <a:r>
              <a:rPr lang="en-US" sz="1800" i="1">
                <a:solidFill>
                  <a:srgbClr val="C00000"/>
                </a:solidFill>
                <a:latin typeface="Calibri"/>
                <a:cs typeface="Calibri"/>
              </a:rPr>
              <a:t>defined in </a:t>
            </a:r>
            <a:r>
              <a:rPr lang="en-US" sz="1800" i="1" err="1">
                <a:solidFill>
                  <a:srgbClr val="C00000"/>
                </a:solidFill>
                <a:latin typeface="Courier New"/>
                <a:cs typeface="Courier New"/>
              </a:rPr>
              <a:t>main.c</a:t>
            </a:r>
            <a:r>
              <a:rPr lang="en-US" sz="1800" i="1">
                <a:solidFill>
                  <a:srgbClr val="C00000"/>
                </a:solidFill>
                <a:latin typeface="Courier New"/>
                <a:cs typeface="Courier New"/>
              </a:rPr>
              <a:t> </a:t>
            </a:r>
            <a:r>
              <a:rPr lang="en-US" sz="1800" i="1">
                <a:solidFill>
                  <a:srgbClr val="C00000"/>
                </a:solidFill>
                <a:latin typeface="Calibri"/>
                <a:cs typeface="Calibri"/>
              </a:rPr>
              <a:t>and</a:t>
            </a:r>
            <a:r>
              <a:rPr lang="en-US" sz="1800" i="1">
                <a:solidFill>
                  <a:srgbClr val="C00000"/>
                </a:solidFill>
                <a:latin typeface="Courier New"/>
                <a:cs typeface="Courier New"/>
              </a:rPr>
              <a:t> </a:t>
            </a:r>
            <a:r>
              <a:rPr lang="en-US" sz="1800" i="1" err="1" smtClean="0">
                <a:solidFill>
                  <a:srgbClr val="C00000"/>
                </a:solidFill>
                <a:latin typeface="Courier New"/>
                <a:cs typeface="Courier New"/>
              </a:rPr>
              <a:t>sum.c</a:t>
            </a:r>
            <a:r>
              <a:rPr lang="en-US" sz="1800" i="1" smtClean="0">
                <a:solidFill>
                  <a:srgbClr val="C00000"/>
                </a:solidFill>
                <a:latin typeface="Calibri"/>
                <a:cs typeface="Calibri"/>
              </a:rPr>
              <a:t>)</a:t>
            </a:r>
            <a:endParaRPr lang="en-US" sz="1800" i="1">
              <a:solidFill>
                <a:srgbClr val="C00000"/>
              </a:solidFill>
              <a:latin typeface="Calibri"/>
              <a:cs typeface="Calibri"/>
            </a:endParaRPr>
          </a:p>
        </p:txBody>
      </p:sp>
    </p:spTree>
    <p:extLst>
      <p:ext uri="{BB962C8B-B14F-4D97-AF65-F5344CB8AC3E}">
        <p14:creationId xmlns:p14="http://schemas.microsoft.com/office/powerpoint/2010/main" val="3858830656"/>
      </p:ext>
    </p:extLst>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83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83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83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71" grpId="0"/>
      <p:bldP spid="228372" grpId="0"/>
      <p:bldP spid="22837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6" name="Rectangle 4"/>
          <p:cNvSpPr>
            <a:spLocks noGrp="1" noChangeArrowheads="1"/>
          </p:cNvSpPr>
          <p:nvPr>
            <p:ph type="title"/>
          </p:nvPr>
        </p:nvSpPr>
        <p:spPr/>
        <p:txBody>
          <a:bodyPr/>
          <a:lstStyle/>
          <a:p>
            <a:r>
              <a:rPr lang="en-US" smtClean="0"/>
              <a:t>Why Linkers?</a:t>
            </a:r>
            <a:endParaRPr lang="en-US"/>
          </a:p>
        </p:txBody>
      </p:sp>
      <p:sp>
        <p:nvSpPr>
          <p:cNvPr id="197637" name="Rectangle 5"/>
          <p:cNvSpPr>
            <a:spLocks noGrp="1" noChangeArrowheads="1"/>
          </p:cNvSpPr>
          <p:nvPr>
            <p:ph type="body" idx="1"/>
          </p:nvPr>
        </p:nvSpPr>
        <p:spPr/>
        <p:txBody>
          <a:bodyPr/>
          <a:lstStyle/>
          <a:p>
            <a:r>
              <a:rPr lang="en-US" smtClean="0"/>
              <a:t>Reason 1: Modularity</a:t>
            </a:r>
          </a:p>
          <a:p>
            <a:endParaRPr lang="en-US" smtClean="0"/>
          </a:p>
          <a:p>
            <a:pPr lvl="1"/>
            <a:r>
              <a:rPr lang="en-US" smtClean="0"/>
              <a:t>Program can be written as a collection of smaller source files, rather than one monolithic mass.</a:t>
            </a:r>
          </a:p>
          <a:p>
            <a:pPr lvl="1"/>
            <a:endParaRPr lang="en-US" smtClean="0"/>
          </a:p>
          <a:p>
            <a:pPr lvl="1"/>
            <a:r>
              <a:rPr lang="en-US" smtClean="0"/>
              <a:t>Can build libraries of common functions (more on this later)</a:t>
            </a:r>
          </a:p>
          <a:p>
            <a:pPr lvl="2"/>
            <a:r>
              <a:rPr lang="en-US" smtClean="0"/>
              <a:t>e.g., Math library, standard C library</a:t>
            </a:r>
            <a:endParaRPr lang="en-US"/>
          </a:p>
        </p:txBody>
      </p:sp>
    </p:spTree>
    <p:extLst>
      <p:ext uri="{BB962C8B-B14F-4D97-AF65-F5344CB8AC3E}">
        <p14:creationId xmlns:p14="http://schemas.microsoft.com/office/powerpoint/2010/main" val="841986050"/>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p:txBody>
          <a:bodyPr/>
          <a:lstStyle/>
          <a:p>
            <a:r>
              <a:rPr lang="en-US" smtClean="0"/>
              <a:t>Why Linkers? (cont)</a:t>
            </a:r>
            <a:endParaRPr lang="en-US"/>
          </a:p>
        </p:txBody>
      </p:sp>
      <p:sp>
        <p:nvSpPr>
          <p:cNvPr id="281603" name="Rectangle 3"/>
          <p:cNvSpPr>
            <a:spLocks noGrp="1" noChangeArrowheads="1"/>
          </p:cNvSpPr>
          <p:nvPr>
            <p:ph type="body" idx="1"/>
          </p:nvPr>
        </p:nvSpPr>
        <p:spPr/>
        <p:txBody>
          <a:bodyPr/>
          <a:lstStyle/>
          <a:p>
            <a:r>
              <a:rPr lang="en-US" smtClean="0"/>
              <a:t>Reason 2: Efficiency</a:t>
            </a:r>
          </a:p>
          <a:p>
            <a:pPr lvl="1"/>
            <a:r>
              <a:rPr lang="en-US" smtClean="0"/>
              <a:t>Time: Separate compilation</a:t>
            </a:r>
          </a:p>
          <a:p>
            <a:pPr lvl="2"/>
            <a:r>
              <a:rPr lang="en-US" smtClean="0"/>
              <a:t>Change one source file, compile, and then </a:t>
            </a:r>
            <a:r>
              <a:rPr lang="en-US" err="1" smtClean="0"/>
              <a:t>relink</a:t>
            </a:r>
            <a:r>
              <a:rPr lang="en-US" smtClean="0"/>
              <a:t>.</a:t>
            </a:r>
          </a:p>
          <a:p>
            <a:pPr lvl="2"/>
            <a:r>
              <a:rPr lang="en-US" smtClean="0"/>
              <a:t>No need to recompile other source files.</a:t>
            </a:r>
          </a:p>
          <a:p>
            <a:pPr lvl="2"/>
            <a:r>
              <a:rPr lang="en-US" smtClean="0"/>
              <a:t>Can compile multiple files concurrently.</a:t>
            </a:r>
          </a:p>
          <a:p>
            <a:pPr lvl="1"/>
            <a:r>
              <a:rPr lang="en-US" smtClean="0"/>
              <a:t>Space: Libraries </a:t>
            </a:r>
          </a:p>
          <a:p>
            <a:pPr lvl="2"/>
            <a:r>
              <a:rPr lang="en-US" smtClean="0"/>
              <a:t>Common functions can be aggregated into a single file...</a:t>
            </a:r>
          </a:p>
          <a:p>
            <a:pPr lvl="2"/>
            <a:r>
              <a:rPr lang="en-US" b="1" smtClean="0"/>
              <a:t>Option 1: </a:t>
            </a:r>
            <a:r>
              <a:rPr lang="en-US" b="1" i="1" smtClean="0"/>
              <a:t>Static Linking</a:t>
            </a:r>
          </a:p>
          <a:p>
            <a:pPr lvl="3"/>
            <a:r>
              <a:rPr lang="en-US" smtClean="0"/>
              <a:t>Executable files and running memory images contain only the library code they actually use</a:t>
            </a:r>
          </a:p>
          <a:p>
            <a:pPr lvl="2"/>
            <a:r>
              <a:rPr lang="en-US" b="1" smtClean="0"/>
              <a:t>Option 2: </a:t>
            </a:r>
            <a:r>
              <a:rPr lang="en-US" b="1" i="1" smtClean="0"/>
              <a:t>Dynamic linking</a:t>
            </a:r>
          </a:p>
          <a:p>
            <a:pPr lvl="3"/>
            <a:r>
              <a:rPr lang="en-US" smtClean="0"/>
              <a:t>Executable files contain no library code</a:t>
            </a:r>
          </a:p>
          <a:p>
            <a:pPr lvl="3"/>
            <a:r>
              <a:rPr lang="en-US" smtClean="0"/>
              <a:t>During execution, single copy of library code can be shared across all executing processes</a:t>
            </a:r>
          </a:p>
          <a:p>
            <a:pPr marL="1371600" lvl="3" indent="0">
              <a:buNone/>
            </a:pPr>
            <a:endParaRPr lang="en-US" smtClean="0"/>
          </a:p>
          <a:p>
            <a:endParaRPr lang="en-US"/>
          </a:p>
        </p:txBody>
      </p:sp>
    </p:spTree>
    <p:extLst>
      <p:ext uri="{BB962C8B-B14F-4D97-AF65-F5344CB8AC3E}">
        <p14:creationId xmlns:p14="http://schemas.microsoft.com/office/powerpoint/2010/main" val="352591500"/>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2" name="Rectangle 4"/>
          <p:cNvSpPr>
            <a:spLocks noGrp="1" noChangeArrowheads="1"/>
          </p:cNvSpPr>
          <p:nvPr>
            <p:ph type="title"/>
          </p:nvPr>
        </p:nvSpPr>
        <p:spPr>
          <a:xfrm>
            <a:off x="404813" y="457200"/>
            <a:ext cx="6986587" cy="781050"/>
          </a:xfrm>
        </p:spPr>
        <p:txBody>
          <a:bodyPr/>
          <a:lstStyle/>
          <a:p>
            <a:r>
              <a:rPr lang="en-US"/>
              <a:t>What Do Linkers Do?</a:t>
            </a:r>
          </a:p>
        </p:txBody>
      </p:sp>
      <p:sp>
        <p:nvSpPr>
          <p:cNvPr id="196613" name="Rectangle 5"/>
          <p:cNvSpPr>
            <a:spLocks noGrp="1" noChangeArrowheads="1"/>
          </p:cNvSpPr>
          <p:nvPr>
            <p:ph type="body" idx="1"/>
          </p:nvPr>
        </p:nvSpPr>
        <p:spPr>
          <a:xfrm>
            <a:off x="290513" y="1449388"/>
            <a:ext cx="8853487" cy="5484812"/>
          </a:xfrm>
        </p:spPr>
        <p:txBody>
          <a:bodyPr/>
          <a:lstStyle/>
          <a:p>
            <a:r>
              <a:rPr lang="en-US"/>
              <a:t>Step </a:t>
            </a:r>
            <a:r>
              <a:rPr lang="en-US" smtClean="0"/>
              <a:t>1: Symbol </a:t>
            </a:r>
            <a:r>
              <a:rPr lang="en-US"/>
              <a:t>resolution</a:t>
            </a:r>
          </a:p>
          <a:p>
            <a:pPr lvl="1"/>
            <a:endParaRPr lang="en-US"/>
          </a:p>
          <a:p>
            <a:pPr lvl="1"/>
            <a:r>
              <a:rPr lang="en-US"/>
              <a:t>Programs define and reference </a:t>
            </a:r>
            <a:r>
              <a:rPr lang="en-US" i="1"/>
              <a:t>symbols</a:t>
            </a:r>
            <a:r>
              <a:rPr lang="en-US"/>
              <a:t> </a:t>
            </a:r>
            <a:r>
              <a:rPr lang="en-US" smtClean="0"/>
              <a:t>(global variables </a:t>
            </a:r>
            <a:r>
              <a:rPr lang="en-US"/>
              <a:t>and functions):</a:t>
            </a:r>
          </a:p>
          <a:p>
            <a:pPr lvl="2"/>
            <a:r>
              <a:rPr lang="en-US" sz="1800" b="1">
                <a:latin typeface="Courier New" charset="0"/>
              </a:rPr>
              <a:t>void swap() {…}   /* define symbol swap */</a:t>
            </a:r>
          </a:p>
          <a:p>
            <a:pPr lvl="2"/>
            <a:r>
              <a:rPr lang="en-US" sz="1800" b="1">
                <a:latin typeface="Courier New" charset="0"/>
              </a:rPr>
              <a:t>swap();           /* reference symbol</a:t>
            </a:r>
            <a:r>
              <a:rPr lang="en-US" sz="1800" b="1" smtClean="0">
                <a:latin typeface="Courier New" charset="0"/>
              </a:rPr>
              <a:t> swap </a:t>
            </a:r>
            <a:r>
              <a:rPr lang="en-US" sz="1800" b="1">
                <a:latin typeface="Courier New" charset="0"/>
              </a:rPr>
              <a:t>*/</a:t>
            </a:r>
          </a:p>
          <a:p>
            <a:pPr lvl="2"/>
            <a:r>
              <a:rPr lang="en-US" sz="1800" b="1" err="1">
                <a:latin typeface="Courier New" charset="0"/>
              </a:rPr>
              <a:t>int</a:t>
            </a:r>
            <a:r>
              <a:rPr lang="en-US" sz="1800" b="1">
                <a:latin typeface="Courier New" charset="0"/>
              </a:rPr>
              <a:t> *</a:t>
            </a:r>
            <a:r>
              <a:rPr lang="en-US" sz="1800" b="1" err="1">
                <a:latin typeface="Courier New" charset="0"/>
              </a:rPr>
              <a:t>xp</a:t>
            </a:r>
            <a:r>
              <a:rPr lang="en-US" sz="1800" b="1">
                <a:latin typeface="Courier New" charset="0"/>
              </a:rPr>
              <a:t> = &amp;</a:t>
            </a:r>
            <a:r>
              <a:rPr lang="en-US" sz="1800" b="1" err="1">
                <a:latin typeface="Courier New" charset="0"/>
              </a:rPr>
              <a:t>x</a:t>
            </a:r>
            <a:r>
              <a:rPr lang="en-US" sz="1800" b="1">
                <a:latin typeface="Courier New" charset="0"/>
              </a:rPr>
              <a:t>; </a:t>
            </a:r>
            <a:r>
              <a:rPr lang="en-US" sz="1800" b="1" smtClean="0">
                <a:latin typeface="Courier New" charset="0"/>
              </a:rPr>
              <a:t>    /</a:t>
            </a:r>
            <a:r>
              <a:rPr lang="en-US" sz="1800" b="1">
                <a:latin typeface="Courier New" charset="0"/>
              </a:rPr>
              <a:t>* define symbol </a:t>
            </a:r>
            <a:r>
              <a:rPr lang="en-US" sz="1800" b="1" err="1">
                <a:latin typeface="Courier New" charset="0"/>
              </a:rPr>
              <a:t>xp</a:t>
            </a:r>
            <a:r>
              <a:rPr lang="en-US" sz="1800" b="1">
                <a:latin typeface="Courier New" charset="0"/>
              </a:rPr>
              <a:t>, reference </a:t>
            </a:r>
            <a:r>
              <a:rPr lang="en-US" sz="1800" b="1" err="1">
                <a:latin typeface="Courier New" charset="0"/>
              </a:rPr>
              <a:t>x</a:t>
            </a:r>
            <a:r>
              <a:rPr lang="en-US" sz="1800" b="1">
                <a:latin typeface="Courier New" charset="0"/>
              </a:rPr>
              <a:t> */</a:t>
            </a:r>
            <a:endParaRPr lang="en-US" sz="1800" b="1"/>
          </a:p>
          <a:p>
            <a:pPr lvl="1"/>
            <a:endParaRPr lang="en-US"/>
          </a:p>
          <a:p>
            <a:pPr lvl="1"/>
            <a:r>
              <a:rPr lang="en-US"/>
              <a:t>Symbol definitions are </a:t>
            </a:r>
            <a:r>
              <a:rPr lang="en-US" smtClean="0"/>
              <a:t>stored in object file </a:t>
            </a:r>
            <a:r>
              <a:rPr lang="en-US"/>
              <a:t>(by </a:t>
            </a:r>
            <a:r>
              <a:rPr lang="en-US" smtClean="0"/>
              <a:t>assembler) </a:t>
            </a:r>
            <a:r>
              <a:rPr lang="en-US"/>
              <a:t>in </a:t>
            </a:r>
            <a:r>
              <a:rPr lang="en-US" i="1"/>
              <a:t>symbol table</a:t>
            </a:r>
            <a:r>
              <a:rPr lang="en-US"/>
              <a:t>.</a:t>
            </a:r>
          </a:p>
          <a:p>
            <a:pPr lvl="2"/>
            <a:r>
              <a:rPr lang="en-US"/>
              <a:t>Symbol table is an array </a:t>
            </a:r>
            <a:r>
              <a:rPr lang="en-US" smtClean="0"/>
              <a:t>of entries</a:t>
            </a:r>
            <a:endParaRPr lang="en-US">
              <a:latin typeface="Courier New"/>
              <a:cs typeface="Courier New"/>
            </a:endParaRPr>
          </a:p>
          <a:p>
            <a:pPr lvl="2"/>
            <a:r>
              <a:rPr lang="en-US"/>
              <a:t>Each entry includes name, size, and location of symbol.</a:t>
            </a:r>
          </a:p>
          <a:p>
            <a:pPr lvl="1"/>
            <a:endParaRPr lang="en-US"/>
          </a:p>
          <a:p>
            <a:pPr lvl="1"/>
            <a:r>
              <a:rPr lang="en-US" b="1" smtClean="0">
                <a:solidFill>
                  <a:srgbClr val="FF0000"/>
                </a:solidFill>
              </a:rPr>
              <a:t>During symbol resolution step, the linker associates </a:t>
            </a:r>
            <a:r>
              <a:rPr lang="en-US" b="1">
                <a:solidFill>
                  <a:srgbClr val="FF0000"/>
                </a:solidFill>
              </a:rPr>
              <a:t>each symbol reference with exactly one symbol definition.</a:t>
            </a:r>
          </a:p>
          <a:p>
            <a:endParaRPr lang="en-US"/>
          </a:p>
        </p:txBody>
      </p:sp>
    </p:spTree>
    <p:extLst>
      <p:ext uri="{BB962C8B-B14F-4D97-AF65-F5344CB8AC3E}">
        <p14:creationId xmlns:p14="http://schemas.microsoft.com/office/powerpoint/2010/main" val="2468056357"/>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5" name="Rectangle 7"/>
          <p:cNvSpPr>
            <a:spLocks noGrp="1" noChangeArrowheads="1"/>
          </p:cNvSpPr>
          <p:nvPr>
            <p:ph type="title"/>
          </p:nvPr>
        </p:nvSpPr>
        <p:spPr/>
        <p:txBody>
          <a:bodyPr/>
          <a:lstStyle/>
          <a:p>
            <a:r>
              <a:rPr lang="en-US" smtClean="0"/>
              <a:t>Symbols in Example C Program</a:t>
            </a:r>
            <a:endParaRPr lang="en-US"/>
          </a:p>
        </p:txBody>
      </p:sp>
      <p:sp>
        <p:nvSpPr>
          <p:cNvPr id="201731" name="Rectangle 3"/>
          <p:cNvSpPr>
            <a:spLocks noChangeArrowheads="1"/>
          </p:cNvSpPr>
          <p:nvPr/>
        </p:nvSpPr>
        <p:spPr bwMode="auto">
          <a:xfrm>
            <a:off x="139700" y="1928813"/>
            <a:ext cx="4508500" cy="2862323"/>
          </a:xfrm>
          <a:prstGeom prst="rect">
            <a:avLst/>
          </a:prstGeom>
          <a:solidFill>
            <a:srgbClr val="F7F5CD"/>
          </a:solidFill>
          <a:ln w="3175">
            <a:solidFill>
              <a:schemeClr val="tx1"/>
            </a:solidFill>
            <a:miter lim="800000"/>
            <a:headEnd/>
            <a:tailEnd/>
          </a:ln>
          <a:effectLst/>
        </p:spPr>
        <p:txBody>
          <a:bodyPr wrap="square">
            <a:prstTxWarp prst="textNoShape">
              <a:avLst/>
            </a:prstTxWarp>
            <a:spAutoFit/>
          </a:bodyPr>
          <a:lstStyle/>
          <a:p>
            <a:r>
              <a:rPr lang="en-US" sz="1800" err="1">
                <a:latin typeface="Courier New"/>
                <a:cs typeface="Courier New"/>
              </a:rPr>
              <a:t>int</a:t>
            </a:r>
            <a:r>
              <a:rPr lang="en-US" sz="1800">
                <a:latin typeface="Courier New"/>
                <a:cs typeface="Courier New"/>
              </a:rPr>
              <a:t> sum(</a:t>
            </a:r>
            <a:r>
              <a:rPr lang="en-US" sz="1800" err="1">
                <a:latin typeface="Courier New"/>
                <a:cs typeface="Courier New"/>
              </a:rPr>
              <a:t>int</a:t>
            </a:r>
            <a:r>
              <a:rPr lang="en-US" sz="1800">
                <a:latin typeface="Courier New"/>
                <a:cs typeface="Courier New"/>
              </a:rPr>
              <a:t> *a, </a:t>
            </a:r>
            <a:r>
              <a:rPr lang="en-US" sz="1800" err="1">
                <a:latin typeface="Courier New"/>
                <a:cs typeface="Courier New"/>
              </a:rPr>
              <a:t>int</a:t>
            </a:r>
            <a:r>
              <a:rPr lang="en-US" sz="1800">
                <a:latin typeface="Courier New"/>
                <a:cs typeface="Courier New"/>
              </a:rPr>
              <a:t> n);</a:t>
            </a:r>
          </a:p>
          <a:p>
            <a:endParaRPr lang="en-US" sz="1800">
              <a:latin typeface="Courier New"/>
              <a:cs typeface="Courier New"/>
            </a:endParaRPr>
          </a:p>
          <a:p>
            <a:r>
              <a:rPr lang="hu-HU" sz="1800">
                <a:latin typeface="Courier New"/>
                <a:cs typeface="Courier New"/>
              </a:rPr>
              <a:t>int </a:t>
            </a:r>
            <a:r>
              <a:rPr lang="hu-HU" sz="1800">
                <a:solidFill>
                  <a:schemeClr val="accent2"/>
                </a:solidFill>
                <a:latin typeface="Courier New"/>
                <a:cs typeface="Courier New"/>
              </a:rPr>
              <a:t>array</a:t>
            </a:r>
            <a:r>
              <a:rPr lang="hu-HU" sz="1800">
                <a:latin typeface="Courier New"/>
                <a:cs typeface="Courier New"/>
              </a:rPr>
              <a:t>[2] = {1, 2};</a:t>
            </a:r>
          </a:p>
          <a:p>
            <a:endParaRPr lang="hu-HU" sz="1800">
              <a:latin typeface="Courier New"/>
              <a:cs typeface="Courier New"/>
            </a:endParaRPr>
          </a:p>
          <a:p>
            <a:r>
              <a:rPr lang="en-US" sz="1800" err="1">
                <a:latin typeface="Courier New"/>
                <a:cs typeface="Courier New"/>
              </a:rPr>
              <a:t>int</a:t>
            </a:r>
            <a:r>
              <a:rPr lang="en-US" sz="1800">
                <a:latin typeface="Courier New"/>
                <a:cs typeface="Courier New"/>
              </a:rPr>
              <a:t> </a:t>
            </a:r>
            <a:r>
              <a:rPr lang="en-US" sz="1800" smtClean="0">
                <a:solidFill>
                  <a:srgbClr val="3333CC"/>
                </a:solidFill>
                <a:latin typeface="Courier New"/>
                <a:cs typeface="Courier New"/>
              </a:rPr>
              <a:t>main</a:t>
            </a:r>
            <a:r>
              <a:rPr lang="en-US" sz="1800" smtClean="0">
                <a:latin typeface="Courier New"/>
                <a:cs typeface="Courier New"/>
              </a:rPr>
              <a:t>(</a:t>
            </a:r>
            <a:r>
              <a:rPr lang="en-US" sz="1800" err="1" smtClean="0">
                <a:latin typeface="Courier New"/>
                <a:cs typeface="Courier New"/>
              </a:rPr>
              <a:t>int</a:t>
            </a:r>
            <a:r>
              <a:rPr lang="en-US" sz="1800" smtClean="0">
                <a:latin typeface="Courier New"/>
                <a:cs typeface="Courier New"/>
              </a:rPr>
              <a:t> </a:t>
            </a:r>
            <a:r>
              <a:rPr lang="en-US" sz="1800" err="1" smtClean="0">
                <a:latin typeface="Courier New"/>
                <a:cs typeface="Courier New"/>
              </a:rPr>
              <a:t>argc</a:t>
            </a:r>
            <a:r>
              <a:rPr lang="en-US" sz="1800" smtClean="0">
                <a:latin typeface="Courier New"/>
                <a:cs typeface="Courier New"/>
              </a:rPr>
              <a:t>, char** </a:t>
            </a:r>
            <a:r>
              <a:rPr lang="en-US" sz="1800" err="1" smtClean="0">
                <a:latin typeface="Courier New"/>
                <a:cs typeface="Courier New"/>
              </a:rPr>
              <a:t>argv</a:t>
            </a:r>
            <a:r>
              <a:rPr lang="en-US" sz="1800" smtClean="0">
                <a:latin typeface="Courier New"/>
                <a:cs typeface="Courier New"/>
              </a:rPr>
              <a:t>)</a:t>
            </a:r>
            <a:endParaRPr lang="en-US" sz="1800">
              <a:latin typeface="Courier New"/>
              <a:cs typeface="Courier New"/>
            </a:endParaRPr>
          </a:p>
          <a:p>
            <a:r>
              <a:rPr lang="en-US" sz="1800">
                <a:latin typeface="Courier New"/>
                <a:cs typeface="Courier New"/>
              </a:rPr>
              <a:t>{</a:t>
            </a:r>
          </a:p>
          <a:p>
            <a:r>
              <a:rPr lang="fr-FR" sz="1800">
                <a:latin typeface="Courier New"/>
                <a:cs typeface="Courier New"/>
              </a:rPr>
              <a:t>    </a:t>
            </a:r>
            <a:r>
              <a:rPr lang="fr-FR" sz="1800" err="1">
                <a:latin typeface="Courier New"/>
                <a:cs typeface="Courier New"/>
              </a:rPr>
              <a:t>int</a:t>
            </a:r>
            <a:r>
              <a:rPr lang="fr-FR" sz="1800">
                <a:latin typeface="Courier New"/>
                <a:cs typeface="Courier New"/>
              </a:rPr>
              <a:t> val = </a:t>
            </a:r>
            <a:r>
              <a:rPr lang="fr-FR" sz="1800" err="1">
                <a:solidFill>
                  <a:srgbClr val="C00000"/>
                </a:solidFill>
                <a:latin typeface="Courier New"/>
                <a:cs typeface="Courier New"/>
              </a:rPr>
              <a:t>sum</a:t>
            </a:r>
            <a:r>
              <a:rPr lang="fr-FR" sz="1800">
                <a:latin typeface="Courier New"/>
                <a:cs typeface="Courier New"/>
              </a:rPr>
              <a:t>(</a:t>
            </a:r>
            <a:r>
              <a:rPr lang="fr-FR" sz="1800" err="1">
                <a:latin typeface="Courier New"/>
                <a:cs typeface="Courier New"/>
              </a:rPr>
              <a:t>array</a:t>
            </a:r>
            <a:r>
              <a:rPr lang="fr-FR" sz="1800">
                <a:latin typeface="Courier New"/>
                <a:cs typeface="Courier New"/>
              </a:rPr>
              <a:t>, 2);</a:t>
            </a:r>
          </a:p>
          <a:p>
            <a:r>
              <a:rPr lang="fr-FR" sz="1800">
                <a:latin typeface="Courier New"/>
                <a:cs typeface="Courier New"/>
              </a:rPr>
              <a:t>    return val;</a:t>
            </a:r>
          </a:p>
          <a:p>
            <a:r>
              <a:rPr lang="fr-FR" sz="1800" smtClean="0">
                <a:latin typeface="Courier New"/>
                <a:cs typeface="Courier New"/>
              </a:rPr>
              <a:t>}</a:t>
            </a:r>
          </a:p>
          <a:p>
            <a:endParaRPr lang="en-US" sz="1800">
              <a:latin typeface="Courier New"/>
              <a:cs typeface="Courier New"/>
            </a:endParaRPr>
          </a:p>
        </p:txBody>
      </p:sp>
      <p:sp>
        <p:nvSpPr>
          <p:cNvPr id="201734" name="Rectangle 6"/>
          <p:cNvSpPr>
            <a:spLocks noChangeArrowheads="1"/>
          </p:cNvSpPr>
          <p:nvPr/>
        </p:nvSpPr>
        <p:spPr bwMode="auto">
          <a:xfrm>
            <a:off x="4724400" y="1928813"/>
            <a:ext cx="4256209" cy="2862323"/>
          </a:xfrm>
          <a:prstGeom prst="rect">
            <a:avLst/>
          </a:prstGeom>
          <a:solidFill>
            <a:srgbClr val="DBF2DA"/>
          </a:solidFill>
          <a:ln w="3175">
            <a:solidFill>
              <a:schemeClr val="tx1"/>
            </a:solidFill>
            <a:miter lim="800000"/>
            <a:headEnd/>
            <a:tailEnd/>
          </a:ln>
          <a:effectLst/>
        </p:spPr>
        <p:txBody>
          <a:bodyPr wrap="none">
            <a:prstTxWarp prst="textNoShape">
              <a:avLst/>
            </a:prstTxWarp>
            <a:spAutoFit/>
          </a:bodyPr>
          <a:lstStyle/>
          <a:p>
            <a:r>
              <a:rPr lang="en-US" sz="1800" err="1">
                <a:solidFill>
                  <a:srgbClr val="000000"/>
                </a:solidFill>
                <a:latin typeface="Courier New"/>
                <a:cs typeface="Courier New"/>
              </a:rPr>
              <a:t>int</a:t>
            </a:r>
            <a:r>
              <a:rPr lang="en-US" sz="1800">
                <a:solidFill>
                  <a:srgbClr val="000000"/>
                </a:solidFill>
                <a:latin typeface="Courier New"/>
                <a:cs typeface="Courier New"/>
              </a:rPr>
              <a:t> </a:t>
            </a:r>
            <a:r>
              <a:rPr lang="en-US" sz="1800">
                <a:solidFill>
                  <a:srgbClr val="3333CC"/>
                </a:solidFill>
                <a:latin typeface="Courier New"/>
                <a:cs typeface="Courier New"/>
              </a:rPr>
              <a:t>sum</a:t>
            </a:r>
            <a:r>
              <a:rPr lang="en-US" sz="1800">
                <a:solidFill>
                  <a:srgbClr val="000000"/>
                </a:solidFill>
                <a:latin typeface="Courier New"/>
                <a:cs typeface="Courier New"/>
              </a:rPr>
              <a:t>(</a:t>
            </a:r>
            <a:r>
              <a:rPr lang="en-US" sz="1800" err="1">
                <a:solidFill>
                  <a:srgbClr val="000000"/>
                </a:solidFill>
                <a:latin typeface="Courier New"/>
                <a:cs typeface="Courier New"/>
              </a:rPr>
              <a:t>int</a:t>
            </a:r>
            <a:r>
              <a:rPr lang="en-US" sz="1800">
                <a:solidFill>
                  <a:srgbClr val="000000"/>
                </a:solidFill>
                <a:latin typeface="Courier New"/>
                <a:cs typeface="Courier New"/>
              </a:rPr>
              <a:t> *a, </a:t>
            </a:r>
            <a:r>
              <a:rPr lang="en-US" sz="1800" err="1">
                <a:solidFill>
                  <a:srgbClr val="000000"/>
                </a:solidFill>
                <a:latin typeface="Courier New"/>
                <a:cs typeface="Courier New"/>
              </a:rPr>
              <a:t>int</a:t>
            </a:r>
            <a:r>
              <a:rPr lang="en-US" sz="1800">
                <a:solidFill>
                  <a:srgbClr val="000000"/>
                </a:solidFill>
                <a:latin typeface="Courier New"/>
                <a:cs typeface="Courier New"/>
              </a:rPr>
              <a:t> n)</a:t>
            </a:r>
          </a:p>
          <a:p>
            <a:r>
              <a:rPr lang="en-US" sz="1800">
                <a:solidFill>
                  <a:srgbClr val="000000"/>
                </a:solidFill>
                <a:latin typeface="Courier New"/>
                <a:cs typeface="Courier New"/>
              </a:rPr>
              <a:t>{</a:t>
            </a:r>
          </a:p>
          <a:p>
            <a:r>
              <a:rPr lang="fr-FR" sz="1800">
                <a:solidFill>
                  <a:srgbClr val="000000"/>
                </a:solidFill>
                <a:latin typeface="Courier New"/>
                <a:cs typeface="Courier New"/>
              </a:rPr>
              <a:t>    </a:t>
            </a:r>
            <a:r>
              <a:rPr lang="fr-FR" sz="1800" err="1">
                <a:solidFill>
                  <a:srgbClr val="000000"/>
                </a:solidFill>
                <a:latin typeface="Courier New"/>
                <a:cs typeface="Courier New"/>
              </a:rPr>
              <a:t>int</a:t>
            </a:r>
            <a:r>
              <a:rPr lang="fr-FR" sz="1800">
                <a:solidFill>
                  <a:srgbClr val="000000"/>
                </a:solidFill>
                <a:latin typeface="Courier New"/>
                <a:cs typeface="Courier New"/>
              </a:rPr>
              <a:t> i, s = 0;</a:t>
            </a:r>
          </a:p>
          <a:p>
            <a:endParaRPr lang="fr-FR" sz="1800">
              <a:solidFill>
                <a:srgbClr val="000000"/>
              </a:solidFill>
              <a:latin typeface="Courier New"/>
              <a:cs typeface="Courier New"/>
            </a:endParaRPr>
          </a:p>
          <a:p>
            <a:r>
              <a:rPr lang="da-DK" sz="1800">
                <a:solidFill>
                  <a:srgbClr val="000000"/>
                </a:solidFill>
                <a:latin typeface="Courier New"/>
                <a:cs typeface="Courier New"/>
              </a:rPr>
              <a:t>    for (i = 0; i &lt; n; i++) {</a:t>
            </a:r>
          </a:p>
          <a:p>
            <a:r>
              <a:rPr lang="da-DK" sz="1800">
                <a:solidFill>
                  <a:srgbClr val="000000"/>
                </a:solidFill>
                <a:latin typeface="Courier New"/>
                <a:cs typeface="Courier New"/>
              </a:rPr>
              <a:t>        s += a[i];</a:t>
            </a:r>
          </a:p>
          <a:p>
            <a:r>
              <a:rPr lang="da-DK" sz="1800">
                <a:solidFill>
                  <a:srgbClr val="000000"/>
                </a:solidFill>
                <a:latin typeface="Courier New"/>
                <a:cs typeface="Courier New"/>
              </a:rPr>
              <a:t>    }</a:t>
            </a:r>
          </a:p>
          <a:p>
            <a:r>
              <a:rPr lang="is-IS" sz="1800">
                <a:solidFill>
                  <a:srgbClr val="000000"/>
                </a:solidFill>
                <a:latin typeface="Courier New"/>
                <a:cs typeface="Courier New"/>
              </a:rPr>
              <a:t>    return s;</a:t>
            </a:r>
          </a:p>
          <a:p>
            <a:r>
              <a:rPr lang="is-IS" sz="1800" smtClean="0">
                <a:solidFill>
                  <a:srgbClr val="000000"/>
                </a:solidFill>
                <a:latin typeface="Courier New"/>
                <a:cs typeface="Courier New"/>
              </a:rPr>
              <a:t>}</a:t>
            </a:r>
          </a:p>
          <a:p>
            <a:endParaRPr lang="is-IS" sz="1800">
              <a:solidFill>
                <a:srgbClr val="000000"/>
              </a:solidFill>
              <a:latin typeface="Courier New"/>
              <a:cs typeface="Courier New"/>
            </a:endParaRPr>
          </a:p>
        </p:txBody>
      </p:sp>
      <p:sp>
        <p:nvSpPr>
          <p:cNvPr id="7" name="Rectangle 3"/>
          <p:cNvSpPr>
            <a:spLocks noChangeArrowheads="1"/>
          </p:cNvSpPr>
          <p:nvPr/>
        </p:nvSpPr>
        <p:spPr bwMode="auto">
          <a:xfrm>
            <a:off x="3199906" y="4442937"/>
            <a:ext cx="1067294"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err="1" smtClean="0">
                <a:solidFill>
                  <a:schemeClr val="tx1">
                    <a:lumMod val="50000"/>
                    <a:lumOff val="50000"/>
                  </a:schemeClr>
                </a:solidFill>
                <a:latin typeface="Courier New" pitchFamily="49" charset="0"/>
                <a:ea typeface="msgothic" charset="0"/>
                <a:cs typeface="msgothic" charset="0"/>
              </a:rPr>
              <a:t>main.c</a:t>
            </a:r>
            <a:endParaRPr lang="en-GB" sz="1800" b="1" i="1">
              <a:solidFill>
                <a:schemeClr val="tx1">
                  <a:lumMod val="50000"/>
                  <a:lumOff val="50000"/>
                </a:schemeClr>
              </a:solidFill>
              <a:latin typeface="Courier New" pitchFamily="49" charset="0"/>
              <a:ea typeface="msgothic" charset="0"/>
              <a:cs typeface="msgothic" charset="0"/>
            </a:endParaRPr>
          </a:p>
        </p:txBody>
      </p:sp>
      <p:sp>
        <p:nvSpPr>
          <p:cNvPr id="8" name="Rectangle 3"/>
          <p:cNvSpPr>
            <a:spLocks noChangeArrowheads="1"/>
          </p:cNvSpPr>
          <p:nvPr/>
        </p:nvSpPr>
        <p:spPr bwMode="auto">
          <a:xfrm>
            <a:off x="7871984" y="4433473"/>
            <a:ext cx="928772"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err="1" smtClean="0">
                <a:solidFill>
                  <a:schemeClr val="tx1">
                    <a:lumMod val="50000"/>
                    <a:lumOff val="50000"/>
                  </a:schemeClr>
                </a:solidFill>
                <a:latin typeface="Courier New" pitchFamily="49" charset="0"/>
                <a:ea typeface="msgothic" charset="0"/>
                <a:cs typeface="msgothic" charset="0"/>
              </a:rPr>
              <a:t>sum.c</a:t>
            </a:r>
            <a:endParaRPr lang="en-GB" sz="1800" b="1" i="1">
              <a:solidFill>
                <a:schemeClr val="tx1">
                  <a:lumMod val="50000"/>
                  <a:lumOff val="50000"/>
                </a:schemeClr>
              </a:solidFill>
              <a:latin typeface="Courier New" pitchFamily="49" charset="0"/>
              <a:ea typeface="msgothic" charset="0"/>
              <a:cs typeface="msgothic" charset="0"/>
            </a:endParaRPr>
          </a:p>
        </p:txBody>
      </p:sp>
      <p:sp>
        <p:nvSpPr>
          <p:cNvPr id="2" name="Oval 1"/>
          <p:cNvSpPr/>
          <p:nvPr/>
        </p:nvSpPr>
        <p:spPr bwMode="auto">
          <a:xfrm>
            <a:off x="685800" y="2514600"/>
            <a:ext cx="838200" cy="381000"/>
          </a:xfrm>
          <a:prstGeom prst="ellipse">
            <a:avLst/>
          </a:prstGeom>
          <a:noFill/>
          <a:ln w="28575" cap="flat" cmpd="sng" algn="ctr">
            <a:solidFill>
              <a:schemeClr val="accent2"/>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mtClean="0">
              <a:solidFill>
                <a:schemeClr val="accent2"/>
              </a:solidFill>
              <a:latin typeface="Calibri" pitchFamily="34" charset="0"/>
            </a:endParaRPr>
          </a:p>
        </p:txBody>
      </p:sp>
      <p:sp>
        <p:nvSpPr>
          <p:cNvPr id="9" name="Oval 8"/>
          <p:cNvSpPr/>
          <p:nvPr/>
        </p:nvSpPr>
        <p:spPr bwMode="auto">
          <a:xfrm>
            <a:off x="673497" y="3048000"/>
            <a:ext cx="838200" cy="381000"/>
          </a:xfrm>
          <a:prstGeom prst="ellipse">
            <a:avLst/>
          </a:prstGeom>
          <a:noFill/>
          <a:ln w="28575" cap="flat" cmpd="sng" algn="ctr">
            <a:solidFill>
              <a:schemeClr val="accent2"/>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mtClean="0">
              <a:solidFill>
                <a:schemeClr val="accent2"/>
              </a:solidFill>
              <a:latin typeface="Calibri" pitchFamily="34" charset="0"/>
            </a:endParaRPr>
          </a:p>
        </p:txBody>
      </p:sp>
      <p:sp>
        <p:nvSpPr>
          <p:cNvPr id="10" name="Oval 9"/>
          <p:cNvSpPr/>
          <p:nvPr/>
        </p:nvSpPr>
        <p:spPr bwMode="auto">
          <a:xfrm>
            <a:off x="5181600" y="1924613"/>
            <a:ext cx="838200" cy="381000"/>
          </a:xfrm>
          <a:prstGeom prst="ellipse">
            <a:avLst/>
          </a:prstGeom>
          <a:noFill/>
          <a:ln w="28575" cap="flat" cmpd="sng" algn="ctr">
            <a:solidFill>
              <a:schemeClr val="accent2"/>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mtClean="0">
              <a:solidFill>
                <a:schemeClr val="accent2"/>
              </a:solidFill>
              <a:latin typeface="Calibri" pitchFamily="34" charset="0"/>
            </a:endParaRPr>
          </a:p>
        </p:txBody>
      </p:sp>
      <p:sp>
        <p:nvSpPr>
          <p:cNvPr id="11" name="Oval 10"/>
          <p:cNvSpPr/>
          <p:nvPr/>
        </p:nvSpPr>
        <p:spPr bwMode="auto">
          <a:xfrm>
            <a:off x="1930436" y="3581400"/>
            <a:ext cx="838200" cy="381000"/>
          </a:xfrm>
          <a:prstGeom prst="ellipse">
            <a:avLst/>
          </a:prstGeom>
          <a:noFill/>
          <a:ln w="28575" cap="flat" cmpd="sng" algn="ctr">
            <a:solidFill>
              <a:srgbClr val="C00000"/>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mtClean="0">
              <a:solidFill>
                <a:schemeClr val="accent2"/>
              </a:solidFill>
              <a:latin typeface="Calibri" pitchFamily="34" charset="0"/>
            </a:endParaRPr>
          </a:p>
        </p:txBody>
      </p:sp>
      <p:cxnSp>
        <p:nvCxnSpPr>
          <p:cNvPr id="4" name="Straight Connector 3"/>
          <p:cNvCxnSpPr>
            <a:stCxn id="2" idx="7"/>
          </p:cNvCxnSpPr>
          <p:nvPr/>
        </p:nvCxnSpPr>
        <p:spPr bwMode="auto">
          <a:xfrm flipV="1">
            <a:off x="1401248" y="1600200"/>
            <a:ext cx="2484952" cy="970196"/>
          </a:xfrm>
          <a:prstGeom prst="line">
            <a:avLst/>
          </a:prstGeom>
          <a:noFill/>
          <a:ln w="25400" cap="flat" cmpd="sng" algn="ctr">
            <a:solidFill>
              <a:schemeClr val="accent2"/>
            </a:solidFill>
            <a:prstDash val="solid"/>
            <a:round/>
            <a:headEnd type="none" w="med" len="med"/>
            <a:tailEnd type="none" w="med" len="med"/>
          </a:ln>
          <a:effectLst/>
        </p:spPr>
      </p:cxnSp>
      <p:cxnSp>
        <p:nvCxnSpPr>
          <p:cNvPr id="13" name="Straight Connector 12"/>
          <p:cNvCxnSpPr>
            <a:stCxn id="9" idx="7"/>
          </p:cNvCxnSpPr>
          <p:nvPr/>
        </p:nvCxnSpPr>
        <p:spPr bwMode="auto">
          <a:xfrm flipV="1">
            <a:off x="1388945" y="1600200"/>
            <a:ext cx="2878255" cy="1503596"/>
          </a:xfrm>
          <a:prstGeom prst="line">
            <a:avLst/>
          </a:prstGeom>
          <a:noFill/>
          <a:ln w="25400" cap="flat" cmpd="sng" algn="ctr">
            <a:solidFill>
              <a:schemeClr val="accent2"/>
            </a:solidFill>
            <a:prstDash val="solid"/>
            <a:round/>
            <a:headEnd type="none" w="med" len="med"/>
            <a:tailEnd type="none" w="med" len="med"/>
          </a:ln>
          <a:effectLst/>
        </p:spPr>
      </p:cxnSp>
      <p:cxnSp>
        <p:nvCxnSpPr>
          <p:cNvPr id="17" name="Straight Connector 16"/>
          <p:cNvCxnSpPr>
            <a:stCxn id="10" idx="1"/>
          </p:cNvCxnSpPr>
          <p:nvPr/>
        </p:nvCxnSpPr>
        <p:spPr bwMode="auto">
          <a:xfrm flipH="1" flipV="1">
            <a:off x="4495800" y="1600200"/>
            <a:ext cx="808552" cy="380209"/>
          </a:xfrm>
          <a:prstGeom prst="line">
            <a:avLst/>
          </a:prstGeom>
          <a:noFill/>
          <a:ln w="25400" cap="flat" cmpd="sng" algn="ctr">
            <a:solidFill>
              <a:schemeClr val="accent2"/>
            </a:solidFill>
            <a:prstDash val="solid"/>
            <a:round/>
            <a:headEnd type="none" w="med" len="med"/>
            <a:tailEnd type="none" w="med" len="med"/>
          </a:ln>
          <a:effectLst/>
        </p:spPr>
      </p:cxnSp>
      <p:sp>
        <p:nvSpPr>
          <p:cNvPr id="16" name="TextBox 15"/>
          <p:cNvSpPr txBox="1"/>
          <p:nvPr/>
        </p:nvSpPr>
        <p:spPr>
          <a:xfrm>
            <a:off x="3652169" y="1233496"/>
            <a:ext cx="1230062" cy="369332"/>
          </a:xfrm>
          <a:prstGeom prst="rect">
            <a:avLst/>
          </a:prstGeom>
          <a:noFill/>
        </p:spPr>
        <p:txBody>
          <a:bodyPr wrap="none" rtlCol="0">
            <a:spAutoFit/>
          </a:bodyPr>
          <a:lstStyle/>
          <a:p>
            <a:pPr algn="ctr"/>
            <a:r>
              <a:rPr lang="en-US" sz="1800" smtClean="0">
                <a:latin typeface="Calibri" pitchFamily="34" charset="0"/>
              </a:rPr>
              <a:t>Definitions</a:t>
            </a:r>
          </a:p>
        </p:txBody>
      </p:sp>
      <p:sp>
        <p:nvSpPr>
          <p:cNvPr id="21" name="TextBox 20"/>
          <p:cNvSpPr txBox="1"/>
          <p:nvPr/>
        </p:nvSpPr>
        <p:spPr>
          <a:xfrm>
            <a:off x="3488908" y="4966320"/>
            <a:ext cx="1159292" cy="369332"/>
          </a:xfrm>
          <a:prstGeom prst="rect">
            <a:avLst/>
          </a:prstGeom>
          <a:noFill/>
        </p:spPr>
        <p:txBody>
          <a:bodyPr wrap="none" rtlCol="0">
            <a:spAutoFit/>
          </a:bodyPr>
          <a:lstStyle/>
          <a:p>
            <a:pPr algn="ctr"/>
            <a:r>
              <a:rPr lang="en-US" sz="1800" smtClean="0">
                <a:latin typeface="Calibri" pitchFamily="34" charset="0"/>
              </a:rPr>
              <a:t>Reference</a:t>
            </a:r>
          </a:p>
        </p:txBody>
      </p:sp>
      <p:cxnSp>
        <p:nvCxnSpPr>
          <p:cNvPr id="22" name="Straight Connector 21"/>
          <p:cNvCxnSpPr>
            <a:stCxn id="11" idx="5"/>
          </p:cNvCxnSpPr>
          <p:nvPr/>
        </p:nvCxnSpPr>
        <p:spPr bwMode="auto">
          <a:xfrm>
            <a:off x="2645884" y="3906604"/>
            <a:ext cx="1341952" cy="1046396"/>
          </a:xfrm>
          <a:prstGeom prst="line">
            <a:avLst/>
          </a:prstGeom>
          <a:noFill/>
          <a:ln w="25400" cap="flat" cmpd="sng" algn="ctr">
            <a:solidFill>
              <a:srgbClr val="C00000"/>
            </a:solidFill>
            <a:prstDash val="solid"/>
            <a:round/>
            <a:headEnd type="none" w="med" len="med"/>
            <a:tailEnd type="none" w="med" len="med"/>
          </a:ln>
          <a:effectLst/>
        </p:spPr>
      </p:cxnSp>
    </p:spTree>
    <p:extLst>
      <p:ext uri="{BB962C8B-B14F-4D97-AF65-F5344CB8AC3E}">
        <p14:creationId xmlns:p14="http://schemas.microsoft.com/office/powerpoint/2010/main" val="1904031112"/>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p:txBody>
          <a:bodyPr/>
          <a:lstStyle/>
          <a:p>
            <a:r>
              <a:rPr lang="en-US" smtClean="0"/>
              <a:t>What Do Linkers Do? (cont)</a:t>
            </a:r>
            <a:endParaRPr lang="en-US"/>
          </a:p>
        </p:txBody>
      </p:sp>
      <p:sp>
        <p:nvSpPr>
          <p:cNvPr id="280579" name="Rectangle 3"/>
          <p:cNvSpPr>
            <a:spLocks noGrp="1" noChangeArrowheads="1"/>
          </p:cNvSpPr>
          <p:nvPr>
            <p:ph type="body" idx="1"/>
          </p:nvPr>
        </p:nvSpPr>
        <p:spPr/>
        <p:txBody>
          <a:bodyPr/>
          <a:lstStyle/>
          <a:p>
            <a:r>
              <a:rPr lang="en-US" smtClean="0"/>
              <a:t>Step 2: Relocation</a:t>
            </a:r>
          </a:p>
          <a:p>
            <a:pPr lvl="1"/>
            <a:endParaRPr lang="en-US" smtClean="0"/>
          </a:p>
          <a:p>
            <a:pPr lvl="1"/>
            <a:r>
              <a:rPr lang="en-US" smtClean="0"/>
              <a:t>Merges separate code and data sections into single sections</a:t>
            </a:r>
          </a:p>
          <a:p>
            <a:pPr lvl="1"/>
            <a:endParaRPr lang="en-US" smtClean="0"/>
          </a:p>
          <a:p>
            <a:pPr lvl="1"/>
            <a:r>
              <a:rPr lang="en-US" smtClean="0"/>
              <a:t>Relocates symbols from their relative locations in the </a:t>
            </a:r>
            <a:r>
              <a:rPr lang="en-US" smtClean="0">
                <a:latin typeface="Courier New"/>
                <a:cs typeface="Courier New"/>
              </a:rPr>
              <a:t>.</a:t>
            </a:r>
            <a:r>
              <a:rPr lang="en-US" err="1" smtClean="0">
                <a:latin typeface="Courier New"/>
                <a:cs typeface="Courier New"/>
              </a:rPr>
              <a:t>o</a:t>
            </a:r>
            <a:r>
              <a:rPr lang="en-US" smtClean="0"/>
              <a:t> files to their final absolute memory locations in the executable.</a:t>
            </a:r>
          </a:p>
          <a:p>
            <a:pPr lvl="1"/>
            <a:endParaRPr lang="en-US" smtClean="0"/>
          </a:p>
          <a:p>
            <a:pPr lvl="1"/>
            <a:r>
              <a:rPr lang="en-US" smtClean="0"/>
              <a:t>Updates all references to these symbols to reflect their new positions.</a:t>
            </a:r>
          </a:p>
          <a:p>
            <a:endParaRPr lang="en-US"/>
          </a:p>
        </p:txBody>
      </p:sp>
      <p:sp>
        <p:nvSpPr>
          <p:cNvPr id="2" name="TextBox 1"/>
          <p:cNvSpPr txBox="1"/>
          <p:nvPr/>
        </p:nvSpPr>
        <p:spPr>
          <a:xfrm>
            <a:off x="396875" y="5331767"/>
            <a:ext cx="5978469" cy="461665"/>
          </a:xfrm>
          <a:prstGeom prst="rect">
            <a:avLst/>
          </a:prstGeom>
          <a:noFill/>
        </p:spPr>
        <p:txBody>
          <a:bodyPr wrap="none" rtlCol="0">
            <a:spAutoFit/>
          </a:bodyPr>
          <a:lstStyle/>
          <a:p>
            <a:r>
              <a:rPr lang="en-US" smtClean="0">
                <a:latin typeface="Calibri" pitchFamily="34" charset="0"/>
              </a:rPr>
              <a:t>Let’s look at these two steps in more detail….</a:t>
            </a:r>
          </a:p>
        </p:txBody>
      </p:sp>
    </p:spTree>
    <p:extLst>
      <p:ext uri="{BB962C8B-B14F-4D97-AF65-F5344CB8AC3E}">
        <p14:creationId xmlns:p14="http://schemas.microsoft.com/office/powerpoint/2010/main" val="3932050476"/>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a:lstStyle/>
          <a:p>
            <a:r>
              <a:rPr lang="en-US" smtClean="0"/>
              <a:t>Three Kinds of Object Files (Modules)</a:t>
            </a:r>
            <a:endParaRPr lang="en-US"/>
          </a:p>
        </p:txBody>
      </p:sp>
      <p:sp>
        <p:nvSpPr>
          <p:cNvPr id="229379" name="Rectangle 3"/>
          <p:cNvSpPr>
            <a:spLocks noGrp="1" noChangeArrowheads="1"/>
          </p:cNvSpPr>
          <p:nvPr>
            <p:ph type="body" idx="1"/>
          </p:nvPr>
        </p:nvSpPr>
        <p:spPr/>
        <p:txBody>
          <a:bodyPr/>
          <a:lstStyle/>
          <a:p>
            <a:r>
              <a:rPr lang="en-US" smtClean="0"/>
              <a:t>Relocatable object file (</a:t>
            </a:r>
            <a:r>
              <a:rPr lang="en-US" smtClean="0">
                <a:latin typeface="Courier New"/>
                <a:cs typeface="Courier New"/>
              </a:rPr>
              <a:t>.o</a:t>
            </a:r>
            <a:r>
              <a:rPr lang="en-US" smtClean="0"/>
              <a:t> file)</a:t>
            </a:r>
          </a:p>
          <a:p>
            <a:pPr lvl="1"/>
            <a:r>
              <a:rPr lang="en-US" smtClean="0"/>
              <a:t>Contains code and data in a form that can be combined with other relocatable object files to form executable object file.</a:t>
            </a:r>
          </a:p>
          <a:p>
            <a:pPr lvl="2"/>
            <a:r>
              <a:rPr lang="en-US" smtClean="0"/>
              <a:t>Each </a:t>
            </a:r>
            <a:r>
              <a:rPr lang="en-US" smtClean="0">
                <a:latin typeface="Courier New"/>
                <a:cs typeface="Courier New"/>
              </a:rPr>
              <a:t>.</a:t>
            </a:r>
            <a:r>
              <a:rPr lang="en-US" err="1" smtClean="0">
                <a:latin typeface="Courier New"/>
                <a:cs typeface="Courier New"/>
              </a:rPr>
              <a:t>o</a:t>
            </a:r>
            <a:r>
              <a:rPr lang="en-US" smtClean="0"/>
              <a:t> file is produced from exactly one source (</a:t>
            </a:r>
            <a:r>
              <a:rPr lang="en-US" smtClean="0">
                <a:latin typeface="Courier New"/>
                <a:cs typeface="Courier New"/>
              </a:rPr>
              <a:t>.</a:t>
            </a:r>
            <a:r>
              <a:rPr lang="en-US" err="1" smtClean="0">
                <a:latin typeface="Courier New"/>
                <a:cs typeface="Courier New"/>
              </a:rPr>
              <a:t>c</a:t>
            </a:r>
            <a:r>
              <a:rPr lang="en-US" smtClean="0"/>
              <a:t>) file</a:t>
            </a:r>
          </a:p>
          <a:p>
            <a:endParaRPr lang="en-US" smtClean="0"/>
          </a:p>
          <a:p>
            <a:r>
              <a:rPr lang="en-US" smtClean="0"/>
              <a:t>Executable object file (</a:t>
            </a:r>
            <a:r>
              <a:rPr lang="en-US" err="1" smtClean="0">
                <a:latin typeface="Courier New"/>
                <a:cs typeface="Courier New"/>
              </a:rPr>
              <a:t>a.out</a:t>
            </a:r>
            <a:r>
              <a:rPr lang="en-US" smtClean="0"/>
              <a:t> file)</a:t>
            </a:r>
          </a:p>
          <a:p>
            <a:pPr lvl="1"/>
            <a:r>
              <a:rPr lang="en-US" smtClean="0"/>
              <a:t>Contains code and data in a form that can be copied directly into memory and then executed.</a:t>
            </a:r>
          </a:p>
          <a:p>
            <a:endParaRPr lang="en-US" smtClean="0"/>
          </a:p>
          <a:p>
            <a:r>
              <a:rPr lang="en-US" smtClean="0"/>
              <a:t>Shared object file (</a:t>
            </a:r>
            <a:r>
              <a:rPr lang="en-US" smtClean="0">
                <a:latin typeface="Courier New"/>
                <a:cs typeface="Courier New"/>
              </a:rPr>
              <a:t>.so </a:t>
            </a:r>
            <a:r>
              <a:rPr lang="en-US" smtClean="0"/>
              <a:t>file)</a:t>
            </a:r>
          </a:p>
          <a:p>
            <a:pPr lvl="1"/>
            <a:r>
              <a:rPr lang="en-US" smtClean="0"/>
              <a:t>Special type of relocatable object file that can be loaded into memory and linked dynamically, at either load time or run-time.</a:t>
            </a:r>
          </a:p>
          <a:p>
            <a:pPr lvl="1"/>
            <a:r>
              <a:rPr lang="en-US" smtClean="0"/>
              <a:t>Called </a:t>
            </a:r>
            <a:r>
              <a:rPr lang="en-US" i="1" smtClean="0"/>
              <a:t>Dynamic Link Libraries</a:t>
            </a:r>
            <a:r>
              <a:rPr lang="en-US" smtClean="0"/>
              <a:t> (DLLs) by Windows</a:t>
            </a:r>
          </a:p>
          <a:p>
            <a:pPr lvl="1"/>
            <a:endParaRPr lang="en-US"/>
          </a:p>
        </p:txBody>
      </p:sp>
    </p:spTree>
    <p:extLst>
      <p:ext uri="{BB962C8B-B14F-4D97-AF65-F5344CB8AC3E}">
        <p14:creationId xmlns:p14="http://schemas.microsoft.com/office/powerpoint/2010/main" val="3265254017"/>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r>
              <a:rPr lang="en-US" smtClean="0"/>
              <a:t>Executable and Linkable Format (ELF)</a:t>
            </a:r>
            <a:endParaRPr lang="en-US"/>
          </a:p>
        </p:txBody>
      </p:sp>
      <p:sp>
        <p:nvSpPr>
          <p:cNvPr id="198659" name="Rectangle 3"/>
          <p:cNvSpPr>
            <a:spLocks noGrp="1" noChangeArrowheads="1"/>
          </p:cNvSpPr>
          <p:nvPr>
            <p:ph type="body" idx="1"/>
          </p:nvPr>
        </p:nvSpPr>
        <p:spPr/>
        <p:txBody>
          <a:bodyPr/>
          <a:lstStyle/>
          <a:p>
            <a:r>
              <a:rPr lang="en-US" smtClean="0"/>
              <a:t>Standard binary format for object files</a:t>
            </a:r>
          </a:p>
          <a:p>
            <a:endParaRPr lang="en-US" smtClean="0"/>
          </a:p>
          <a:p>
            <a:r>
              <a:rPr lang="en-US" smtClean="0"/>
              <a:t>One unified format for </a:t>
            </a:r>
          </a:p>
          <a:p>
            <a:pPr lvl="1"/>
            <a:r>
              <a:rPr lang="en-US" smtClean="0"/>
              <a:t>Relocatable object files (</a:t>
            </a:r>
            <a:r>
              <a:rPr lang="en-US" smtClean="0">
                <a:latin typeface="Courier New"/>
                <a:cs typeface="Courier New"/>
              </a:rPr>
              <a:t>.o</a:t>
            </a:r>
            <a:r>
              <a:rPr lang="en-US" smtClean="0"/>
              <a:t>), </a:t>
            </a:r>
          </a:p>
          <a:p>
            <a:pPr lvl="1"/>
            <a:r>
              <a:rPr lang="en-US" smtClean="0"/>
              <a:t>Executable object files </a:t>
            </a:r>
            <a:r>
              <a:rPr lang="en-US" smtClean="0">
                <a:latin typeface="Courier New"/>
                <a:cs typeface="Courier New"/>
              </a:rPr>
              <a:t>(</a:t>
            </a:r>
            <a:r>
              <a:rPr lang="en-US" err="1" smtClean="0">
                <a:latin typeface="Courier New"/>
                <a:cs typeface="Courier New"/>
              </a:rPr>
              <a:t>a.out</a:t>
            </a:r>
            <a:r>
              <a:rPr lang="en-US" smtClean="0"/>
              <a:t>)</a:t>
            </a:r>
          </a:p>
          <a:p>
            <a:pPr lvl="1"/>
            <a:r>
              <a:rPr lang="en-US" smtClean="0"/>
              <a:t>Shared object files (</a:t>
            </a:r>
            <a:r>
              <a:rPr lang="en-US" smtClean="0">
                <a:latin typeface="Courier New"/>
                <a:cs typeface="Courier New"/>
              </a:rPr>
              <a:t>.so</a:t>
            </a:r>
            <a:r>
              <a:rPr lang="en-US" smtClean="0"/>
              <a:t>)</a:t>
            </a:r>
          </a:p>
          <a:p>
            <a:pPr lvl="1"/>
            <a:endParaRPr lang="en-US" smtClean="0"/>
          </a:p>
          <a:p>
            <a:r>
              <a:rPr lang="en-US" smtClean="0"/>
              <a:t>Generic name: ELF binaries</a:t>
            </a:r>
            <a:endParaRPr lang="en-US"/>
          </a:p>
        </p:txBody>
      </p:sp>
    </p:spTree>
    <p:extLst>
      <p:ext uri="{BB962C8B-B14F-4D97-AF65-F5344CB8AC3E}">
        <p14:creationId xmlns:p14="http://schemas.microsoft.com/office/powerpoint/2010/main" val="3148383245"/>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
          <p:cNvSpPr>
            <a:spLocks noGrp="1" noChangeArrowheads="1"/>
          </p:cNvSpPr>
          <p:nvPr>
            <p:ph type="title" idx="4294967295"/>
          </p:nvPr>
        </p:nvSpPr>
        <p:spPr>
          <a:xfrm>
            <a:off x="372533" y="228600"/>
            <a:ext cx="8716962" cy="782638"/>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t>ELF Object File Format</a:t>
            </a:r>
          </a:p>
        </p:txBody>
      </p:sp>
      <p:sp>
        <p:nvSpPr>
          <p:cNvPr id="14338" name="Rectangle 2"/>
          <p:cNvSpPr>
            <a:spLocks noGrp="1" noChangeArrowheads="1"/>
          </p:cNvSpPr>
          <p:nvPr>
            <p:ph type="body" idx="1"/>
          </p:nvPr>
        </p:nvSpPr>
        <p:spPr>
          <a:xfrm>
            <a:off x="152400" y="862012"/>
            <a:ext cx="5576887" cy="5381625"/>
          </a:xfrm>
          <a:ln/>
        </p:spPr>
        <p:txBody>
          <a:bodyPr/>
          <a:lstStyle/>
          <a:p>
            <a:pPr>
              <a:lnSpc>
                <a:spcPct val="83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2000" dirty="0"/>
              <a:t>Elf header</a:t>
            </a:r>
          </a:p>
          <a:p>
            <a:pPr lvl="1">
              <a:lnSpc>
                <a:spcPct val="8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dirty="0" smtClean="0"/>
              <a:t>Word size, byte ordering, file type </a:t>
            </a:r>
            <a:r>
              <a:rPr lang="en-GB" sz="1800" dirty="0"/>
              <a:t>(.o, exec, .so</a:t>
            </a:r>
            <a:r>
              <a:rPr lang="en-GB" sz="1800" dirty="0" smtClean="0"/>
              <a:t>), machine type, etc</a:t>
            </a:r>
            <a:r>
              <a:rPr lang="en-GB" sz="1800" dirty="0"/>
              <a:t>.</a:t>
            </a:r>
          </a:p>
          <a:p>
            <a:pPr>
              <a:lnSpc>
                <a:spcPct val="83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2000" dirty="0"/>
              <a:t>Segment header table</a:t>
            </a:r>
          </a:p>
          <a:p>
            <a:pPr lvl="1">
              <a:lnSpc>
                <a:spcPct val="8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dirty="0"/>
              <a:t>Page size, virtual addresses memory segments (sections), segment sizes.</a:t>
            </a:r>
          </a:p>
          <a:p>
            <a:pPr>
              <a:lnSpc>
                <a:spcPct val="8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2000" dirty="0">
                <a:latin typeface="Courier New" pitchFamily="49" charset="0"/>
              </a:rPr>
              <a:t>.text</a:t>
            </a:r>
            <a:r>
              <a:rPr lang="en-GB" sz="2000" dirty="0"/>
              <a:t> section</a:t>
            </a:r>
          </a:p>
          <a:p>
            <a:pPr lvl="1">
              <a:lnSpc>
                <a:spcPct val="8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dirty="0"/>
              <a:t>Code</a:t>
            </a:r>
          </a:p>
          <a:p>
            <a:pPr>
              <a:lnSpc>
                <a:spcPct val="8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2000" dirty="0" smtClean="0">
                <a:latin typeface="Courier New" pitchFamily="49" charset="0"/>
              </a:rPr>
              <a:t>.</a:t>
            </a:r>
            <a:r>
              <a:rPr lang="en-GB" sz="2000" dirty="0" err="1" smtClean="0">
                <a:latin typeface="Courier New" pitchFamily="49" charset="0"/>
              </a:rPr>
              <a:t>rodata</a:t>
            </a:r>
            <a:r>
              <a:rPr lang="en-GB" sz="2000" dirty="0" smtClean="0">
                <a:latin typeface="Courier New" pitchFamily="49" charset="0"/>
              </a:rPr>
              <a:t> </a:t>
            </a:r>
            <a:r>
              <a:rPr lang="en-GB" sz="2000" dirty="0" smtClean="0"/>
              <a:t>section</a:t>
            </a:r>
          </a:p>
          <a:p>
            <a:pPr lvl="1">
              <a:lnSpc>
                <a:spcPct val="8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dirty="0" smtClean="0"/>
              <a:t>Read only data: jump tables, string constants, ...</a:t>
            </a:r>
          </a:p>
          <a:p>
            <a:pPr>
              <a:lnSpc>
                <a:spcPct val="8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2000" dirty="0" smtClean="0">
                <a:latin typeface="Courier New" pitchFamily="49" charset="0"/>
              </a:rPr>
              <a:t>.</a:t>
            </a:r>
            <a:r>
              <a:rPr lang="en-GB" sz="2000" dirty="0">
                <a:latin typeface="Courier New" pitchFamily="49" charset="0"/>
              </a:rPr>
              <a:t>data</a:t>
            </a:r>
            <a:r>
              <a:rPr lang="en-GB" sz="2000" dirty="0"/>
              <a:t> section</a:t>
            </a:r>
          </a:p>
          <a:p>
            <a:pPr lvl="1">
              <a:lnSpc>
                <a:spcPct val="8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dirty="0"/>
              <a:t>Initialized global variables</a:t>
            </a:r>
          </a:p>
          <a:p>
            <a:pPr>
              <a:lnSpc>
                <a:spcPct val="8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2000" dirty="0">
                <a:latin typeface="Courier New" pitchFamily="49" charset="0"/>
              </a:rPr>
              <a:t>.</a:t>
            </a:r>
            <a:r>
              <a:rPr lang="en-GB" sz="2000" dirty="0" err="1">
                <a:latin typeface="Courier New" pitchFamily="49" charset="0"/>
              </a:rPr>
              <a:t>bss</a:t>
            </a:r>
            <a:r>
              <a:rPr lang="en-GB" sz="2000" dirty="0"/>
              <a:t> section</a:t>
            </a:r>
          </a:p>
          <a:p>
            <a:pPr lvl="1">
              <a:lnSpc>
                <a:spcPct val="8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dirty="0"/>
              <a:t>Uninitialized global variables</a:t>
            </a:r>
          </a:p>
          <a:p>
            <a:pPr lvl="1">
              <a:lnSpc>
                <a:spcPct val="8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dirty="0"/>
              <a:t>“Block Started by Symbol”</a:t>
            </a:r>
          </a:p>
          <a:p>
            <a:pPr lvl="1">
              <a:lnSpc>
                <a:spcPct val="8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dirty="0">
                <a:solidFill>
                  <a:srgbClr val="C00000"/>
                </a:solidFill>
              </a:rPr>
              <a:t>“Better Save Space”</a:t>
            </a:r>
          </a:p>
          <a:p>
            <a:pPr lvl="1">
              <a:lnSpc>
                <a:spcPct val="8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dirty="0"/>
              <a:t>Has section header but occupies no space</a:t>
            </a:r>
          </a:p>
          <a:p>
            <a:pPr lvl="1">
              <a:lnSpc>
                <a:spcPct val="88000"/>
              </a:lnSpc>
              <a:spcBef>
                <a:spcPts val="563"/>
              </a:spcBef>
              <a:buFont typeface="Wingdings" charset="2"/>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sz="1800" dirty="0"/>
          </a:p>
        </p:txBody>
      </p:sp>
      <p:sp>
        <p:nvSpPr>
          <p:cNvPr id="14339" name="Rectangle 3"/>
          <p:cNvSpPr>
            <a:spLocks noChangeArrowheads="1"/>
          </p:cNvSpPr>
          <p:nvPr/>
        </p:nvSpPr>
        <p:spPr bwMode="auto">
          <a:xfrm>
            <a:off x="5867400" y="1600200"/>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ELF header</a:t>
            </a:r>
          </a:p>
        </p:txBody>
      </p:sp>
      <p:sp>
        <p:nvSpPr>
          <p:cNvPr id="14340" name="Rectangle 4"/>
          <p:cNvSpPr>
            <a:spLocks noChangeArrowheads="1"/>
          </p:cNvSpPr>
          <p:nvPr/>
        </p:nvSpPr>
        <p:spPr bwMode="auto">
          <a:xfrm>
            <a:off x="5867400" y="1981200"/>
            <a:ext cx="2971800" cy="6096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Segment header table</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(required for executables)</a:t>
            </a:r>
          </a:p>
        </p:txBody>
      </p:sp>
      <p:sp>
        <p:nvSpPr>
          <p:cNvPr id="14341" name="Rectangle 5"/>
          <p:cNvSpPr>
            <a:spLocks noChangeArrowheads="1"/>
          </p:cNvSpPr>
          <p:nvPr/>
        </p:nvSpPr>
        <p:spPr bwMode="auto">
          <a:xfrm>
            <a:off x="5867400" y="2590800"/>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.text</a:t>
            </a:r>
            <a:r>
              <a:rPr lang="en-GB" sz="1600" b="1">
                <a:latin typeface="Calibri" pitchFamily="34" charset="0"/>
                <a:ea typeface="msgothic" charset="0"/>
                <a:cs typeface="msgothic" charset="0"/>
              </a:rPr>
              <a:t> section</a:t>
            </a:r>
          </a:p>
        </p:txBody>
      </p:sp>
      <p:sp>
        <p:nvSpPr>
          <p:cNvPr id="14342" name="Rectangle 6"/>
          <p:cNvSpPr>
            <a:spLocks noChangeArrowheads="1"/>
          </p:cNvSpPr>
          <p:nvPr/>
        </p:nvSpPr>
        <p:spPr bwMode="auto">
          <a:xfrm>
            <a:off x="5867400" y="2971800"/>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smtClean="0">
                <a:latin typeface="Courier New" pitchFamily="49" charset="0"/>
                <a:ea typeface="msgothic" charset="0"/>
                <a:cs typeface="msgothic" charset="0"/>
              </a:rPr>
              <a:t>.</a:t>
            </a:r>
            <a:r>
              <a:rPr lang="en-GB" sz="1600" b="1" err="1" smtClean="0">
                <a:latin typeface="Courier New" pitchFamily="49" charset="0"/>
                <a:ea typeface="msgothic" charset="0"/>
                <a:cs typeface="msgothic" charset="0"/>
              </a:rPr>
              <a:t>rodata</a:t>
            </a:r>
            <a:r>
              <a:rPr lang="en-GB" sz="1600" b="1" smtClean="0">
                <a:latin typeface="Calibri" pitchFamily="34" charset="0"/>
                <a:ea typeface="msgothic" charset="0"/>
                <a:cs typeface="msgothic" charset="0"/>
              </a:rPr>
              <a:t> </a:t>
            </a:r>
            <a:r>
              <a:rPr lang="en-GB" sz="1600" b="1">
                <a:latin typeface="Calibri" pitchFamily="34" charset="0"/>
                <a:ea typeface="msgothic" charset="0"/>
                <a:cs typeface="msgothic" charset="0"/>
              </a:rPr>
              <a:t>section</a:t>
            </a:r>
          </a:p>
        </p:txBody>
      </p:sp>
      <p:sp>
        <p:nvSpPr>
          <p:cNvPr id="14343" name="Rectangle 7"/>
          <p:cNvSpPr>
            <a:spLocks noChangeArrowheads="1"/>
          </p:cNvSpPr>
          <p:nvPr/>
        </p:nvSpPr>
        <p:spPr bwMode="auto">
          <a:xfrm>
            <a:off x="5867400" y="3733800"/>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a:t>
            </a:r>
            <a:r>
              <a:rPr lang="en-GB" sz="1600" b="1" err="1">
                <a:latin typeface="Courier New" pitchFamily="49" charset="0"/>
                <a:ea typeface="msgothic" charset="0"/>
                <a:cs typeface="msgothic" charset="0"/>
              </a:rPr>
              <a:t>bss</a:t>
            </a:r>
            <a:r>
              <a:rPr lang="en-GB" sz="1600" b="1">
                <a:latin typeface="Calibri" pitchFamily="34" charset="0"/>
                <a:ea typeface="msgothic" charset="0"/>
                <a:cs typeface="msgothic" charset="0"/>
              </a:rPr>
              <a:t> section</a:t>
            </a:r>
          </a:p>
        </p:txBody>
      </p:sp>
      <p:sp>
        <p:nvSpPr>
          <p:cNvPr id="14344" name="Rectangle 8"/>
          <p:cNvSpPr>
            <a:spLocks noChangeArrowheads="1"/>
          </p:cNvSpPr>
          <p:nvPr/>
        </p:nvSpPr>
        <p:spPr bwMode="auto">
          <a:xfrm>
            <a:off x="5867400" y="411480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a:t>
            </a:r>
            <a:r>
              <a:rPr lang="en-GB" sz="1600" b="1" err="1">
                <a:latin typeface="Courier New" pitchFamily="49" charset="0"/>
                <a:ea typeface="msgothic" charset="0"/>
                <a:cs typeface="msgothic" charset="0"/>
              </a:rPr>
              <a:t>symtab</a:t>
            </a:r>
            <a:r>
              <a:rPr lang="en-GB" sz="1600" b="1">
                <a:latin typeface="Courier New" pitchFamily="49" charset="0"/>
                <a:ea typeface="msgothic" charset="0"/>
                <a:cs typeface="msgothic" charset="0"/>
              </a:rPr>
              <a:t> </a:t>
            </a:r>
            <a:r>
              <a:rPr lang="en-GB" sz="1600">
                <a:latin typeface="Calibri" pitchFamily="34" charset="0"/>
                <a:ea typeface="msgothic" charset="0"/>
                <a:cs typeface="msgothic" charset="0"/>
              </a:rPr>
              <a:t>section</a:t>
            </a:r>
          </a:p>
        </p:txBody>
      </p:sp>
      <p:sp>
        <p:nvSpPr>
          <p:cNvPr id="14345" name="Rectangle 9"/>
          <p:cNvSpPr>
            <a:spLocks noChangeArrowheads="1"/>
          </p:cNvSpPr>
          <p:nvPr/>
        </p:nvSpPr>
        <p:spPr bwMode="auto">
          <a:xfrm>
            <a:off x="5867400" y="449580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a:t>
            </a:r>
            <a:r>
              <a:rPr lang="en-GB" sz="1600" b="1" err="1">
                <a:latin typeface="Courier New" pitchFamily="49" charset="0"/>
                <a:ea typeface="msgothic" charset="0"/>
                <a:cs typeface="msgothic" charset="0"/>
              </a:rPr>
              <a:t>rel.txt</a:t>
            </a:r>
            <a:r>
              <a:rPr lang="en-GB" sz="1600" b="1">
                <a:latin typeface="Courier New" pitchFamily="49" charset="0"/>
                <a:ea typeface="msgothic" charset="0"/>
                <a:cs typeface="msgothic" charset="0"/>
              </a:rPr>
              <a:t> </a:t>
            </a:r>
            <a:r>
              <a:rPr lang="en-GB" sz="1600">
                <a:latin typeface="Calibri" pitchFamily="34" charset="0"/>
                <a:ea typeface="msgothic" charset="0"/>
                <a:cs typeface="msgothic" charset="0"/>
              </a:rPr>
              <a:t>section</a:t>
            </a:r>
          </a:p>
        </p:txBody>
      </p:sp>
      <p:sp>
        <p:nvSpPr>
          <p:cNvPr id="14346" name="Rectangle 10"/>
          <p:cNvSpPr>
            <a:spLocks noChangeArrowheads="1"/>
          </p:cNvSpPr>
          <p:nvPr/>
        </p:nvSpPr>
        <p:spPr bwMode="auto">
          <a:xfrm>
            <a:off x="5867400" y="487680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a:t>
            </a:r>
            <a:r>
              <a:rPr lang="en-GB" sz="1600" b="1" err="1">
                <a:latin typeface="Courier New" pitchFamily="49" charset="0"/>
                <a:ea typeface="msgothic" charset="0"/>
                <a:cs typeface="msgothic" charset="0"/>
              </a:rPr>
              <a:t>rel.data</a:t>
            </a:r>
            <a:r>
              <a:rPr lang="en-GB" sz="1600" b="1">
                <a:latin typeface="Courier New" pitchFamily="49" charset="0"/>
                <a:ea typeface="msgothic" charset="0"/>
                <a:cs typeface="msgothic" charset="0"/>
              </a:rPr>
              <a:t> </a:t>
            </a:r>
            <a:r>
              <a:rPr lang="en-GB" sz="1600">
                <a:latin typeface="Calibri" pitchFamily="34" charset="0"/>
                <a:ea typeface="msgothic" charset="0"/>
                <a:cs typeface="msgothic" charset="0"/>
              </a:rPr>
              <a:t>section</a:t>
            </a:r>
          </a:p>
        </p:txBody>
      </p:sp>
      <p:sp>
        <p:nvSpPr>
          <p:cNvPr id="14347" name="Rectangle 11"/>
          <p:cNvSpPr>
            <a:spLocks noChangeArrowheads="1"/>
          </p:cNvSpPr>
          <p:nvPr/>
        </p:nvSpPr>
        <p:spPr bwMode="auto">
          <a:xfrm>
            <a:off x="5867400" y="525780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.debug </a:t>
            </a:r>
            <a:r>
              <a:rPr lang="en-GB" sz="1600">
                <a:latin typeface="Calibri" pitchFamily="34" charset="0"/>
                <a:ea typeface="msgothic" charset="0"/>
                <a:cs typeface="msgothic" charset="0"/>
              </a:rPr>
              <a:t>section</a:t>
            </a:r>
          </a:p>
        </p:txBody>
      </p:sp>
      <p:sp>
        <p:nvSpPr>
          <p:cNvPr id="14348" name="Rectangle 12"/>
          <p:cNvSpPr>
            <a:spLocks noChangeArrowheads="1"/>
          </p:cNvSpPr>
          <p:nvPr/>
        </p:nvSpPr>
        <p:spPr bwMode="auto">
          <a:xfrm>
            <a:off x="5867400" y="5638800"/>
            <a:ext cx="2971800" cy="6096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Section header table</a:t>
            </a:r>
          </a:p>
        </p:txBody>
      </p:sp>
      <p:sp>
        <p:nvSpPr>
          <p:cNvPr id="14349" name="Text Box 13"/>
          <p:cNvSpPr txBox="1">
            <a:spLocks noChangeArrowheads="1"/>
          </p:cNvSpPr>
          <p:nvPr/>
        </p:nvSpPr>
        <p:spPr bwMode="auto">
          <a:xfrm>
            <a:off x="8839200" y="1447800"/>
            <a:ext cx="285954" cy="3357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solidFill>
                  <a:srgbClr val="000066"/>
                </a:solidFill>
                <a:latin typeface="Calibri" pitchFamily="34" charset="0"/>
                <a:ea typeface="msgothic" charset="0"/>
                <a:cs typeface="msgothic" charset="0"/>
              </a:rPr>
              <a:t>0</a:t>
            </a:r>
          </a:p>
        </p:txBody>
      </p:sp>
      <p:sp>
        <p:nvSpPr>
          <p:cNvPr id="15" name="Rectangle 6"/>
          <p:cNvSpPr>
            <a:spLocks noChangeArrowheads="1"/>
          </p:cNvSpPr>
          <p:nvPr/>
        </p:nvSpPr>
        <p:spPr bwMode="auto">
          <a:xfrm>
            <a:off x="5867400" y="3352800"/>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.data</a:t>
            </a:r>
            <a:r>
              <a:rPr lang="en-GB" sz="1600" b="1">
                <a:latin typeface="Calibri" pitchFamily="34" charset="0"/>
                <a:ea typeface="msgothic" charset="0"/>
                <a:cs typeface="msgothic" charset="0"/>
              </a:rPr>
              <a:t> section</a:t>
            </a:r>
          </a:p>
        </p:txBody>
      </p:sp>
    </p:spTree>
    <p:extLst>
      <p:ext uri="{BB962C8B-B14F-4D97-AF65-F5344CB8AC3E}">
        <p14:creationId xmlns:p14="http://schemas.microsoft.com/office/powerpoint/2010/main" val="3072339799"/>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idx="4294967295"/>
          </p:nvPr>
        </p:nvSpPr>
        <p:spPr>
          <a:xfrm>
            <a:off x="381000" y="385763"/>
            <a:ext cx="8716962" cy="782638"/>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ELF Object File Format (</a:t>
            </a:r>
            <a:r>
              <a:rPr lang="en-GB" smtClean="0"/>
              <a:t>cont.)</a:t>
            </a:r>
            <a:endParaRPr lang="en-GB"/>
          </a:p>
        </p:txBody>
      </p:sp>
      <p:sp>
        <p:nvSpPr>
          <p:cNvPr id="15362" name="Rectangle 2"/>
          <p:cNvSpPr>
            <a:spLocks noGrp="1" noChangeArrowheads="1"/>
          </p:cNvSpPr>
          <p:nvPr>
            <p:ph type="body" idx="1"/>
          </p:nvPr>
        </p:nvSpPr>
        <p:spPr>
          <a:xfrm>
            <a:off x="396875" y="1309688"/>
            <a:ext cx="5272087" cy="5472112"/>
          </a:xfrm>
          <a:ln/>
        </p:spPr>
        <p:txBody>
          <a:bodyPr/>
          <a:lstStyle/>
          <a:p>
            <a:pPr>
              <a:lnSpc>
                <a:spcPct val="71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2000">
                <a:latin typeface="Courier New" pitchFamily="49" charset="0"/>
              </a:rPr>
              <a:t>.</a:t>
            </a:r>
            <a:r>
              <a:rPr lang="en-GB" sz="2000" err="1">
                <a:latin typeface="Courier New" pitchFamily="49" charset="0"/>
              </a:rPr>
              <a:t>symtab</a:t>
            </a:r>
            <a:r>
              <a:rPr lang="en-GB" sz="2000"/>
              <a:t> section</a:t>
            </a:r>
          </a:p>
          <a:p>
            <a:pPr lvl="1">
              <a:lnSpc>
                <a:spcPct val="7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a:t>Symbol table</a:t>
            </a:r>
          </a:p>
          <a:p>
            <a:pPr lvl="1">
              <a:lnSpc>
                <a:spcPct val="7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a:t>Procedure and static variable names</a:t>
            </a:r>
          </a:p>
          <a:p>
            <a:pPr lvl="1">
              <a:lnSpc>
                <a:spcPct val="7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a:t>Section names and locations</a:t>
            </a:r>
          </a:p>
          <a:p>
            <a:pPr>
              <a:lnSpc>
                <a:spcPct val="71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2000">
                <a:latin typeface="Courier New" pitchFamily="49" charset="0"/>
              </a:rPr>
              <a:t>.</a:t>
            </a:r>
            <a:r>
              <a:rPr lang="en-GB" sz="2000" err="1">
                <a:latin typeface="Courier New" pitchFamily="49" charset="0"/>
              </a:rPr>
              <a:t>rel.text</a:t>
            </a:r>
            <a:r>
              <a:rPr lang="en-GB" sz="2000"/>
              <a:t> section</a:t>
            </a:r>
          </a:p>
          <a:p>
            <a:pPr lvl="1">
              <a:lnSpc>
                <a:spcPct val="7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a:t>Relocation info for </a:t>
            </a:r>
            <a:r>
              <a:rPr lang="en-GB" sz="1800" b="1">
                <a:latin typeface="Courier New" pitchFamily="49" charset="0"/>
              </a:rPr>
              <a:t>.text</a:t>
            </a:r>
            <a:r>
              <a:rPr lang="en-GB" sz="1800" b="1"/>
              <a:t> </a:t>
            </a:r>
            <a:r>
              <a:rPr lang="en-GB" sz="1800"/>
              <a:t>section</a:t>
            </a:r>
          </a:p>
          <a:p>
            <a:pPr lvl="1">
              <a:lnSpc>
                <a:spcPct val="7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a:t>Addresses of instructions that will need to be modified in the executable</a:t>
            </a:r>
          </a:p>
          <a:p>
            <a:pPr lvl="1">
              <a:lnSpc>
                <a:spcPct val="7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a:t>Instructions for modifying.</a:t>
            </a:r>
          </a:p>
          <a:p>
            <a:pPr>
              <a:lnSpc>
                <a:spcPct val="71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2000">
                <a:latin typeface="Courier New" pitchFamily="49" charset="0"/>
              </a:rPr>
              <a:t>.</a:t>
            </a:r>
            <a:r>
              <a:rPr lang="en-GB" sz="2000" err="1">
                <a:latin typeface="Courier New" pitchFamily="49" charset="0"/>
              </a:rPr>
              <a:t>rel.data</a:t>
            </a:r>
            <a:r>
              <a:rPr lang="en-GB" sz="2000"/>
              <a:t> section</a:t>
            </a:r>
          </a:p>
          <a:p>
            <a:pPr lvl="1">
              <a:lnSpc>
                <a:spcPct val="7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a:t>Relocation info for </a:t>
            </a:r>
            <a:r>
              <a:rPr lang="en-GB" sz="1800" b="1">
                <a:latin typeface="Courier New" pitchFamily="49" charset="0"/>
              </a:rPr>
              <a:t>.data</a:t>
            </a:r>
            <a:r>
              <a:rPr lang="en-GB" sz="1800" b="1"/>
              <a:t> </a:t>
            </a:r>
            <a:r>
              <a:rPr lang="en-GB" sz="1800"/>
              <a:t>section</a:t>
            </a:r>
          </a:p>
          <a:p>
            <a:pPr lvl="1">
              <a:lnSpc>
                <a:spcPct val="7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a:t>Addresses of pointer data that will need to be modified in the merged executable</a:t>
            </a:r>
          </a:p>
          <a:p>
            <a:pPr>
              <a:lnSpc>
                <a:spcPct val="71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2000">
                <a:latin typeface="Courier New" pitchFamily="49" charset="0"/>
              </a:rPr>
              <a:t>.debug</a:t>
            </a:r>
            <a:r>
              <a:rPr lang="en-GB" sz="2000"/>
              <a:t> section</a:t>
            </a:r>
          </a:p>
          <a:p>
            <a:pPr lvl="1">
              <a:lnSpc>
                <a:spcPct val="7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a:t>Info for symbolic debugging (</a:t>
            </a:r>
            <a:r>
              <a:rPr lang="en-GB" sz="1800" b="1" err="1">
                <a:latin typeface="Courier New" pitchFamily="49" charset="0"/>
              </a:rPr>
              <a:t>gcc</a:t>
            </a:r>
            <a:r>
              <a:rPr lang="en-GB" sz="1800" b="1">
                <a:latin typeface="Courier New" pitchFamily="49" charset="0"/>
              </a:rPr>
              <a:t> -g</a:t>
            </a:r>
            <a:r>
              <a:rPr lang="en-GB" sz="1800"/>
              <a:t>)</a:t>
            </a:r>
          </a:p>
          <a:p>
            <a:pPr>
              <a:lnSpc>
                <a:spcPct val="88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2000"/>
              <a:t>Section header table</a:t>
            </a:r>
          </a:p>
          <a:p>
            <a:pPr lvl="1">
              <a:lnSpc>
                <a:spcPct val="8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a:t>Offsets and sizes of each section</a:t>
            </a:r>
          </a:p>
        </p:txBody>
      </p:sp>
      <p:sp>
        <p:nvSpPr>
          <p:cNvPr id="26" name="Rectangle 3"/>
          <p:cNvSpPr>
            <a:spLocks noChangeArrowheads="1"/>
          </p:cNvSpPr>
          <p:nvPr/>
        </p:nvSpPr>
        <p:spPr bwMode="auto">
          <a:xfrm>
            <a:off x="5867400" y="160020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ELF header</a:t>
            </a:r>
          </a:p>
        </p:txBody>
      </p:sp>
      <p:sp>
        <p:nvSpPr>
          <p:cNvPr id="27" name="Rectangle 4"/>
          <p:cNvSpPr>
            <a:spLocks noChangeArrowheads="1"/>
          </p:cNvSpPr>
          <p:nvPr/>
        </p:nvSpPr>
        <p:spPr bwMode="auto">
          <a:xfrm>
            <a:off x="5867400" y="1981200"/>
            <a:ext cx="2971800" cy="6096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Segment header table</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(required for executables)</a:t>
            </a:r>
          </a:p>
        </p:txBody>
      </p:sp>
      <p:sp>
        <p:nvSpPr>
          <p:cNvPr id="28" name="Rectangle 5"/>
          <p:cNvSpPr>
            <a:spLocks noChangeArrowheads="1"/>
          </p:cNvSpPr>
          <p:nvPr/>
        </p:nvSpPr>
        <p:spPr bwMode="auto">
          <a:xfrm>
            <a:off x="5867400" y="259080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.text</a:t>
            </a:r>
            <a:r>
              <a:rPr lang="en-GB" sz="1600" b="1">
                <a:latin typeface="Calibri" pitchFamily="34" charset="0"/>
                <a:ea typeface="msgothic" charset="0"/>
                <a:cs typeface="msgothic" charset="0"/>
              </a:rPr>
              <a:t> section</a:t>
            </a:r>
          </a:p>
        </p:txBody>
      </p:sp>
      <p:sp>
        <p:nvSpPr>
          <p:cNvPr id="29" name="Rectangle 6"/>
          <p:cNvSpPr>
            <a:spLocks noChangeArrowheads="1"/>
          </p:cNvSpPr>
          <p:nvPr/>
        </p:nvSpPr>
        <p:spPr bwMode="auto">
          <a:xfrm>
            <a:off x="5867400" y="297180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smtClean="0">
                <a:latin typeface="Courier New" pitchFamily="49" charset="0"/>
                <a:ea typeface="msgothic" charset="0"/>
                <a:cs typeface="msgothic" charset="0"/>
              </a:rPr>
              <a:t>.</a:t>
            </a:r>
            <a:r>
              <a:rPr lang="en-GB" sz="1600" b="1" err="1" smtClean="0">
                <a:latin typeface="Courier New" pitchFamily="49" charset="0"/>
                <a:ea typeface="msgothic" charset="0"/>
                <a:cs typeface="msgothic" charset="0"/>
              </a:rPr>
              <a:t>rodata</a:t>
            </a:r>
            <a:r>
              <a:rPr lang="en-GB" sz="1600" b="1" smtClean="0">
                <a:latin typeface="Calibri" pitchFamily="34" charset="0"/>
                <a:ea typeface="msgothic" charset="0"/>
                <a:cs typeface="msgothic" charset="0"/>
              </a:rPr>
              <a:t> </a:t>
            </a:r>
            <a:r>
              <a:rPr lang="en-GB" sz="1600" b="1">
                <a:latin typeface="Calibri" pitchFamily="34" charset="0"/>
                <a:ea typeface="msgothic" charset="0"/>
                <a:cs typeface="msgothic" charset="0"/>
              </a:rPr>
              <a:t>section</a:t>
            </a:r>
          </a:p>
        </p:txBody>
      </p:sp>
      <p:sp>
        <p:nvSpPr>
          <p:cNvPr id="30" name="Rectangle 7"/>
          <p:cNvSpPr>
            <a:spLocks noChangeArrowheads="1"/>
          </p:cNvSpPr>
          <p:nvPr/>
        </p:nvSpPr>
        <p:spPr bwMode="auto">
          <a:xfrm>
            <a:off x="5867400" y="373380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a:t>
            </a:r>
            <a:r>
              <a:rPr lang="en-GB" sz="1600" b="1" err="1">
                <a:latin typeface="Courier New" pitchFamily="49" charset="0"/>
                <a:ea typeface="msgothic" charset="0"/>
                <a:cs typeface="msgothic" charset="0"/>
              </a:rPr>
              <a:t>bss</a:t>
            </a:r>
            <a:r>
              <a:rPr lang="en-GB" sz="1600" b="1">
                <a:latin typeface="Calibri" pitchFamily="34" charset="0"/>
                <a:ea typeface="msgothic" charset="0"/>
                <a:cs typeface="msgothic" charset="0"/>
              </a:rPr>
              <a:t> section</a:t>
            </a:r>
          </a:p>
        </p:txBody>
      </p:sp>
      <p:sp>
        <p:nvSpPr>
          <p:cNvPr id="31" name="Rectangle 8"/>
          <p:cNvSpPr>
            <a:spLocks noChangeArrowheads="1"/>
          </p:cNvSpPr>
          <p:nvPr/>
        </p:nvSpPr>
        <p:spPr bwMode="auto">
          <a:xfrm>
            <a:off x="5867400" y="4114800"/>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a:t>
            </a:r>
            <a:r>
              <a:rPr lang="en-GB" sz="1600" b="1" err="1">
                <a:latin typeface="Courier New" pitchFamily="49" charset="0"/>
                <a:ea typeface="msgothic" charset="0"/>
                <a:cs typeface="msgothic" charset="0"/>
              </a:rPr>
              <a:t>symtab</a:t>
            </a:r>
            <a:r>
              <a:rPr lang="en-GB" sz="1600" b="1">
                <a:latin typeface="Courier New" pitchFamily="49" charset="0"/>
                <a:ea typeface="msgothic" charset="0"/>
                <a:cs typeface="msgothic" charset="0"/>
              </a:rPr>
              <a:t> </a:t>
            </a:r>
            <a:r>
              <a:rPr lang="en-GB" sz="1600">
                <a:latin typeface="Calibri" pitchFamily="34" charset="0"/>
                <a:ea typeface="msgothic" charset="0"/>
                <a:cs typeface="msgothic" charset="0"/>
              </a:rPr>
              <a:t>section</a:t>
            </a:r>
          </a:p>
        </p:txBody>
      </p:sp>
      <p:sp>
        <p:nvSpPr>
          <p:cNvPr id="32" name="Rectangle 9"/>
          <p:cNvSpPr>
            <a:spLocks noChangeArrowheads="1"/>
          </p:cNvSpPr>
          <p:nvPr/>
        </p:nvSpPr>
        <p:spPr bwMode="auto">
          <a:xfrm>
            <a:off x="5867400" y="4495800"/>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a:t>
            </a:r>
            <a:r>
              <a:rPr lang="en-GB" sz="1600" b="1" err="1">
                <a:latin typeface="Courier New" pitchFamily="49" charset="0"/>
                <a:ea typeface="msgothic" charset="0"/>
                <a:cs typeface="msgothic" charset="0"/>
              </a:rPr>
              <a:t>rel.txt</a:t>
            </a:r>
            <a:r>
              <a:rPr lang="en-GB" sz="1600" b="1">
                <a:latin typeface="Courier New" pitchFamily="49" charset="0"/>
                <a:ea typeface="msgothic" charset="0"/>
                <a:cs typeface="msgothic" charset="0"/>
              </a:rPr>
              <a:t> </a:t>
            </a:r>
            <a:r>
              <a:rPr lang="en-GB" sz="1600">
                <a:latin typeface="Calibri" pitchFamily="34" charset="0"/>
                <a:ea typeface="msgothic" charset="0"/>
                <a:cs typeface="msgothic" charset="0"/>
              </a:rPr>
              <a:t>section</a:t>
            </a:r>
          </a:p>
        </p:txBody>
      </p:sp>
      <p:sp>
        <p:nvSpPr>
          <p:cNvPr id="33" name="Rectangle 10"/>
          <p:cNvSpPr>
            <a:spLocks noChangeArrowheads="1"/>
          </p:cNvSpPr>
          <p:nvPr/>
        </p:nvSpPr>
        <p:spPr bwMode="auto">
          <a:xfrm>
            <a:off x="5867400" y="4876800"/>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a:t>
            </a:r>
            <a:r>
              <a:rPr lang="en-GB" sz="1600" b="1" err="1">
                <a:latin typeface="Courier New" pitchFamily="49" charset="0"/>
                <a:ea typeface="msgothic" charset="0"/>
                <a:cs typeface="msgothic" charset="0"/>
              </a:rPr>
              <a:t>rel.data</a:t>
            </a:r>
            <a:r>
              <a:rPr lang="en-GB" sz="1600" b="1">
                <a:latin typeface="Courier New" pitchFamily="49" charset="0"/>
                <a:ea typeface="msgothic" charset="0"/>
                <a:cs typeface="msgothic" charset="0"/>
              </a:rPr>
              <a:t> </a:t>
            </a:r>
            <a:r>
              <a:rPr lang="en-GB" sz="1600">
                <a:latin typeface="Calibri" pitchFamily="34" charset="0"/>
                <a:ea typeface="msgothic" charset="0"/>
                <a:cs typeface="msgothic" charset="0"/>
              </a:rPr>
              <a:t>section</a:t>
            </a:r>
          </a:p>
        </p:txBody>
      </p:sp>
      <p:sp>
        <p:nvSpPr>
          <p:cNvPr id="34" name="Rectangle 11"/>
          <p:cNvSpPr>
            <a:spLocks noChangeArrowheads="1"/>
          </p:cNvSpPr>
          <p:nvPr/>
        </p:nvSpPr>
        <p:spPr bwMode="auto">
          <a:xfrm>
            <a:off x="5867400" y="5257800"/>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.debug </a:t>
            </a:r>
            <a:r>
              <a:rPr lang="en-GB" sz="1600">
                <a:latin typeface="Calibri" pitchFamily="34" charset="0"/>
                <a:ea typeface="msgothic" charset="0"/>
                <a:cs typeface="msgothic" charset="0"/>
              </a:rPr>
              <a:t>section</a:t>
            </a:r>
          </a:p>
        </p:txBody>
      </p:sp>
      <p:sp>
        <p:nvSpPr>
          <p:cNvPr id="35" name="Rectangle 12"/>
          <p:cNvSpPr>
            <a:spLocks noChangeArrowheads="1"/>
          </p:cNvSpPr>
          <p:nvPr/>
        </p:nvSpPr>
        <p:spPr bwMode="auto">
          <a:xfrm>
            <a:off x="5867400" y="5638800"/>
            <a:ext cx="2971800" cy="6096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Section header table</a:t>
            </a:r>
          </a:p>
        </p:txBody>
      </p:sp>
      <p:sp>
        <p:nvSpPr>
          <p:cNvPr id="36" name="Text Box 13"/>
          <p:cNvSpPr txBox="1">
            <a:spLocks noChangeArrowheads="1"/>
          </p:cNvSpPr>
          <p:nvPr/>
        </p:nvSpPr>
        <p:spPr bwMode="auto">
          <a:xfrm>
            <a:off x="8839200" y="1447800"/>
            <a:ext cx="285954" cy="3357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solidFill>
                  <a:srgbClr val="000066"/>
                </a:solidFill>
                <a:latin typeface="Calibri" pitchFamily="34" charset="0"/>
                <a:ea typeface="msgothic" charset="0"/>
                <a:cs typeface="msgothic" charset="0"/>
              </a:rPr>
              <a:t>0</a:t>
            </a:r>
          </a:p>
        </p:txBody>
      </p:sp>
      <p:sp>
        <p:nvSpPr>
          <p:cNvPr id="37" name="Rectangle 6"/>
          <p:cNvSpPr>
            <a:spLocks noChangeArrowheads="1"/>
          </p:cNvSpPr>
          <p:nvPr/>
        </p:nvSpPr>
        <p:spPr bwMode="auto">
          <a:xfrm>
            <a:off x="5867400" y="335280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.data</a:t>
            </a:r>
            <a:r>
              <a:rPr lang="en-GB" sz="1600" b="1">
                <a:latin typeface="Calibri" pitchFamily="34" charset="0"/>
                <a:ea typeface="msgothic" charset="0"/>
                <a:cs typeface="msgothic" charset="0"/>
              </a:rPr>
              <a:t> section</a:t>
            </a:r>
          </a:p>
        </p:txBody>
      </p:sp>
    </p:spTree>
    <p:extLst>
      <p:ext uri="{BB962C8B-B14F-4D97-AF65-F5344CB8AC3E}">
        <p14:creationId xmlns:p14="http://schemas.microsoft.com/office/powerpoint/2010/main" val="3452246658"/>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Grp="1" noChangeArrowheads="1"/>
          </p:cNvSpPr>
          <p:nvPr>
            <p:ph type="title" idx="4294967295"/>
          </p:nvPr>
        </p:nvSpPr>
        <p:spPr>
          <a:xfrm>
            <a:off x="421747" y="436562"/>
            <a:ext cx="8716962" cy="782638"/>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Linker Symbols	</a:t>
            </a:r>
          </a:p>
        </p:txBody>
      </p:sp>
      <p:sp>
        <p:nvSpPr>
          <p:cNvPr id="16386" name="Rectangle 2"/>
          <p:cNvSpPr>
            <a:spLocks noGrp="1" noChangeArrowheads="1"/>
          </p:cNvSpPr>
          <p:nvPr>
            <p:ph type="body" idx="1"/>
          </p:nvPr>
        </p:nvSpPr>
        <p:spPr>
          <a:xfrm>
            <a:off x="442913" y="1449388"/>
            <a:ext cx="8548687" cy="4570412"/>
          </a:xfrm>
          <a:ln/>
        </p:spPr>
        <p:txBody>
          <a:bodyPr/>
          <a:lstStyle/>
          <a:p>
            <a:pPr>
              <a:lnSpc>
                <a:spcPct val="83000"/>
              </a:lnSpc>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Global symbols</a:t>
            </a:r>
          </a:p>
          <a:p>
            <a:pPr lvl="1">
              <a:lnSpc>
                <a:spcPct val="88000"/>
              </a:lnSpc>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Symbols defined by module </a:t>
            </a:r>
            <a:r>
              <a:rPr lang="en-GB" i="1"/>
              <a:t>m</a:t>
            </a:r>
            <a:r>
              <a:rPr lang="en-GB"/>
              <a:t> that can be referenced by other modules.</a:t>
            </a:r>
          </a:p>
          <a:p>
            <a:pPr lvl="1">
              <a:lnSpc>
                <a:spcPct val="88000"/>
              </a:lnSpc>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mtClean="0"/>
              <a:t>E.g.: </a:t>
            </a:r>
            <a:r>
              <a:rPr lang="en-GB"/>
              <a:t>non-</a:t>
            </a:r>
            <a:r>
              <a:rPr lang="en-GB" b="1">
                <a:latin typeface="Courier New" pitchFamily="49" charset="0"/>
              </a:rPr>
              <a:t>static</a:t>
            </a:r>
            <a:r>
              <a:rPr lang="en-GB"/>
              <a:t> C functions and non-</a:t>
            </a:r>
            <a:r>
              <a:rPr lang="en-GB" b="1">
                <a:latin typeface="Courier New" pitchFamily="49" charset="0"/>
              </a:rPr>
              <a:t>static</a:t>
            </a:r>
            <a:r>
              <a:rPr lang="en-GB"/>
              <a:t> global variables.</a:t>
            </a:r>
          </a:p>
          <a:p>
            <a:pPr>
              <a:lnSpc>
                <a:spcPct val="83000"/>
              </a:lnSpc>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smtClean="0"/>
          </a:p>
          <a:p>
            <a:pPr>
              <a:lnSpc>
                <a:spcPct val="83000"/>
              </a:lnSpc>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mtClean="0"/>
              <a:t>External </a:t>
            </a:r>
            <a:r>
              <a:rPr lang="en-GB"/>
              <a:t>symbols</a:t>
            </a:r>
          </a:p>
          <a:p>
            <a:pPr lvl="1">
              <a:lnSpc>
                <a:spcPct val="88000"/>
              </a:lnSpc>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Global symbols that are referenced by module </a:t>
            </a:r>
            <a:r>
              <a:rPr lang="en-GB" i="1"/>
              <a:t>m</a:t>
            </a:r>
            <a:r>
              <a:rPr lang="en-GB"/>
              <a:t> but defined by some other module.</a:t>
            </a:r>
          </a:p>
          <a:p>
            <a:pPr>
              <a:lnSpc>
                <a:spcPct val="83000"/>
              </a:lnSpc>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smtClean="0"/>
          </a:p>
          <a:p>
            <a:pPr>
              <a:lnSpc>
                <a:spcPct val="83000"/>
              </a:lnSpc>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mtClean="0"/>
              <a:t>Local </a:t>
            </a:r>
            <a:r>
              <a:rPr lang="en-GB"/>
              <a:t>symbols</a:t>
            </a:r>
          </a:p>
          <a:p>
            <a:pPr lvl="1">
              <a:lnSpc>
                <a:spcPct val="88000"/>
              </a:lnSpc>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Symbols that are defined and referenced exclusively by module </a:t>
            </a:r>
            <a:r>
              <a:rPr lang="en-GB" i="1"/>
              <a:t>m</a:t>
            </a:r>
            <a:r>
              <a:rPr lang="en-GB"/>
              <a:t>.</a:t>
            </a:r>
          </a:p>
          <a:p>
            <a:pPr lvl="1">
              <a:lnSpc>
                <a:spcPct val="88000"/>
              </a:lnSpc>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mtClean="0"/>
              <a:t>E.g.: </a:t>
            </a:r>
            <a:r>
              <a:rPr lang="en-GB"/>
              <a:t>C functions and </a:t>
            </a:r>
            <a:r>
              <a:rPr lang="en-GB" smtClean="0"/>
              <a:t>global variables </a:t>
            </a:r>
            <a:r>
              <a:rPr lang="en-GB"/>
              <a:t>defined with the </a:t>
            </a:r>
            <a:r>
              <a:rPr lang="en-GB" b="1">
                <a:latin typeface="Courier New" pitchFamily="49" charset="0"/>
              </a:rPr>
              <a:t>static</a:t>
            </a:r>
            <a:r>
              <a:rPr lang="en-GB">
                <a:latin typeface="Courier New" pitchFamily="49" charset="0"/>
              </a:rPr>
              <a:t> </a:t>
            </a:r>
            <a:r>
              <a:rPr lang="en-GB" smtClean="0"/>
              <a:t>attribute.</a:t>
            </a:r>
          </a:p>
          <a:p>
            <a:pPr lvl="1">
              <a:lnSpc>
                <a:spcPct val="88000"/>
              </a:lnSpc>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b="1" smtClean="0">
                <a:solidFill>
                  <a:srgbClr val="C00000"/>
                </a:solidFill>
              </a:rPr>
              <a:t>Local </a:t>
            </a:r>
            <a:r>
              <a:rPr lang="en-GB" b="1">
                <a:solidFill>
                  <a:srgbClr val="C00000"/>
                </a:solidFill>
              </a:rPr>
              <a:t>linker symbols are </a:t>
            </a:r>
            <a:r>
              <a:rPr lang="en-GB" b="1" i="1">
                <a:solidFill>
                  <a:srgbClr val="C00000"/>
                </a:solidFill>
              </a:rPr>
              <a:t>not</a:t>
            </a:r>
            <a:r>
              <a:rPr lang="en-GB" b="1">
                <a:solidFill>
                  <a:srgbClr val="C00000"/>
                </a:solidFill>
              </a:rPr>
              <a:t> local program variables</a:t>
            </a:r>
          </a:p>
        </p:txBody>
      </p:sp>
    </p:spTree>
    <p:extLst>
      <p:ext uri="{BB962C8B-B14F-4D97-AF65-F5344CB8AC3E}">
        <p14:creationId xmlns:p14="http://schemas.microsoft.com/office/powerpoint/2010/main" val="3226440321"/>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Grp="1" noChangeArrowheads="1"/>
          </p:cNvSpPr>
          <p:nvPr>
            <p:ph type="title" idx="4294967295"/>
          </p:nvPr>
        </p:nvSpPr>
        <p:spPr>
          <a:xfrm>
            <a:off x="404813" y="360362"/>
            <a:ext cx="8716962" cy="782638"/>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Step 1: Symbol Resolution</a:t>
            </a:r>
            <a:endParaRPr lang="en-GB"/>
          </a:p>
        </p:txBody>
      </p:sp>
      <p:sp>
        <p:nvSpPr>
          <p:cNvPr id="6146" name="Rectangle 2"/>
          <p:cNvSpPr>
            <a:spLocks noChangeArrowheads="1"/>
          </p:cNvSpPr>
          <p:nvPr/>
        </p:nvSpPr>
        <p:spPr bwMode="auto">
          <a:xfrm>
            <a:off x="118002" y="2702650"/>
            <a:ext cx="4369846" cy="2587504"/>
          </a:xfrm>
          <a:prstGeom prst="rect">
            <a:avLst/>
          </a:prstGeom>
          <a:solidFill>
            <a:srgbClr val="F7F5CD"/>
          </a:solidFill>
          <a:ln w="3240">
            <a:solidFill>
              <a:srgbClr val="000066"/>
            </a:solidFill>
            <a:miter lim="800000"/>
            <a:headEnd/>
            <a:tailEnd/>
          </a:ln>
          <a:effectLst/>
        </p:spPr>
        <p:txBody>
          <a:bodyPr wrap="square" lIns="90000" tIns="46800" rIns="90000" bIns="46800">
            <a:spAutoFit/>
          </a:bodyPr>
          <a:lstStyle/>
          <a:p>
            <a:r>
              <a:rPr lang="en-US" sz="1800" err="1">
                <a:solidFill>
                  <a:srgbClr val="2D961E"/>
                </a:solidFill>
                <a:latin typeface="Courier New"/>
                <a:cs typeface="Courier New"/>
              </a:rPr>
              <a:t>int</a:t>
            </a:r>
            <a:r>
              <a:rPr lang="en-US" sz="1800">
                <a:solidFill>
                  <a:srgbClr val="000000"/>
                </a:solidFill>
                <a:latin typeface="Courier New"/>
                <a:cs typeface="Courier New"/>
              </a:rPr>
              <a:t> </a:t>
            </a:r>
            <a:r>
              <a:rPr lang="en-US" sz="1800">
                <a:solidFill>
                  <a:srgbClr val="4A00FF"/>
                </a:solidFill>
                <a:latin typeface="Courier New"/>
                <a:cs typeface="Courier New"/>
              </a:rPr>
              <a:t>sum</a:t>
            </a:r>
            <a:r>
              <a:rPr lang="en-US" sz="1800">
                <a:solidFill>
                  <a:srgbClr val="000000"/>
                </a:solidFill>
                <a:latin typeface="Courier New"/>
                <a:cs typeface="Courier New"/>
              </a:rPr>
              <a:t>(</a:t>
            </a:r>
            <a:r>
              <a:rPr lang="en-US" sz="1800" err="1">
                <a:solidFill>
                  <a:srgbClr val="2D961E"/>
                </a:solidFill>
                <a:latin typeface="Courier New"/>
                <a:cs typeface="Courier New"/>
              </a:rPr>
              <a:t>int</a:t>
            </a:r>
            <a:r>
              <a:rPr lang="en-US" sz="1800">
                <a:solidFill>
                  <a:srgbClr val="000000"/>
                </a:solidFill>
                <a:latin typeface="Courier New"/>
                <a:cs typeface="Courier New"/>
              </a:rPr>
              <a:t> *</a:t>
            </a:r>
            <a:r>
              <a:rPr lang="en-US" sz="1800">
                <a:solidFill>
                  <a:srgbClr val="C1651C"/>
                </a:solidFill>
                <a:latin typeface="Courier New"/>
                <a:cs typeface="Courier New"/>
              </a:rPr>
              <a:t>a</a:t>
            </a:r>
            <a:r>
              <a:rPr lang="en-US" sz="1800">
                <a:solidFill>
                  <a:srgbClr val="000000"/>
                </a:solidFill>
                <a:latin typeface="Courier New"/>
                <a:cs typeface="Courier New"/>
              </a:rPr>
              <a:t>, </a:t>
            </a:r>
            <a:r>
              <a:rPr lang="en-US" sz="1800" err="1">
                <a:solidFill>
                  <a:srgbClr val="2D961E"/>
                </a:solidFill>
                <a:latin typeface="Courier New"/>
                <a:cs typeface="Courier New"/>
              </a:rPr>
              <a:t>int</a:t>
            </a:r>
            <a:r>
              <a:rPr lang="en-US" sz="1800">
                <a:solidFill>
                  <a:srgbClr val="000000"/>
                </a:solidFill>
                <a:latin typeface="Courier New"/>
                <a:cs typeface="Courier New"/>
              </a:rPr>
              <a:t> </a:t>
            </a:r>
            <a:r>
              <a:rPr lang="en-US" sz="1800">
                <a:solidFill>
                  <a:srgbClr val="C1651C"/>
                </a:solidFill>
                <a:latin typeface="Courier New"/>
                <a:cs typeface="Courier New"/>
              </a:rPr>
              <a:t>n</a:t>
            </a:r>
            <a:r>
              <a:rPr lang="en-US" sz="1800">
                <a:solidFill>
                  <a:srgbClr val="000000"/>
                </a:solidFill>
                <a:latin typeface="Courier New"/>
                <a:cs typeface="Courier New"/>
              </a:rPr>
              <a:t>);</a:t>
            </a:r>
          </a:p>
          <a:p>
            <a:endParaRPr lang="en-US" sz="1800">
              <a:solidFill>
                <a:srgbClr val="000000"/>
              </a:solidFill>
              <a:latin typeface="Courier New"/>
              <a:cs typeface="Courier New"/>
            </a:endParaRPr>
          </a:p>
          <a:p>
            <a:r>
              <a:rPr lang="hu-HU" sz="1800">
                <a:solidFill>
                  <a:srgbClr val="2D961E"/>
                </a:solidFill>
                <a:latin typeface="Courier New"/>
                <a:cs typeface="Courier New"/>
              </a:rPr>
              <a:t>int</a:t>
            </a:r>
            <a:r>
              <a:rPr lang="hu-HU" sz="1800">
                <a:solidFill>
                  <a:srgbClr val="000000"/>
                </a:solidFill>
                <a:latin typeface="Courier New"/>
                <a:cs typeface="Courier New"/>
              </a:rPr>
              <a:t> </a:t>
            </a:r>
            <a:r>
              <a:rPr lang="hu-HU" sz="1800">
                <a:solidFill>
                  <a:srgbClr val="C1651C"/>
                </a:solidFill>
                <a:latin typeface="Courier New"/>
                <a:cs typeface="Courier New"/>
              </a:rPr>
              <a:t>array</a:t>
            </a:r>
            <a:r>
              <a:rPr lang="hu-HU" sz="1800">
                <a:solidFill>
                  <a:srgbClr val="000000"/>
                </a:solidFill>
                <a:latin typeface="Courier New"/>
                <a:cs typeface="Courier New"/>
              </a:rPr>
              <a:t>[2] = {1, 2};</a:t>
            </a:r>
          </a:p>
          <a:p>
            <a:endParaRPr lang="hu-HU" sz="1800">
              <a:solidFill>
                <a:srgbClr val="000000"/>
              </a:solidFill>
              <a:latin typeface="Courier New"/>
              <a:cs typeface="Courier New"/>
            </a:endParaRPr>
          </a:p>
          <a:p>
            <a:r>
              <a:rPr lang="en-US" sz="1800" err="1">
                <a:solidFill>
                  <a:srgbClr val="2D961E"/>
                </a:solidFill>
                <a:latin typeface="Courier New"/>
                <a:cs typeface="Courier New"/>
              </a:rPr>
              <a:t>int</a:t>
            </a:r>
            <a:r>
              <a:rPr lang="en-US" sz="1800">
                <a:solidFill>
                  <a:srgbClr val="000000"/>
                </a:solidFill>
                <a:latin typeface="Courier New"/>
                <a:cs typeface="Courier New"/>
              </a:rPr>
              <a:t> </a:t>
            </a:r>
            <a:r>
              <a:rPr lang="en-US" sz="1800" smtClean="0">
                <a:solidFill>
                  <a:srgbClr val="4A00FF"/>
                </a:solidFill>
                <a:latin typeface="Courier New"/>
                <a:cs typeface="Courier New"/>
              </a:rPr>
              <a:t>main</a:t>
            </a:r>
            <a:r>
              <a:rPr lang="en-US" sz="1800" smtClean="0">
                <a:solidFill>
                  <a:srgbClr val="000000"/>
                </a:solidFill>
                <a:latin typeface="Courier New"/>
                <a:cs typeface="Courier New"/>
              </a:rPr>
              <a:t>(</a:t>
            </a:r>
            <a:r>
              <a:rPr lang="en-US" sz="1800" err="1" smtClean="0">
                <a:solidFill>
                  <a:srgbClr val="000000"/>
                </a:solidFill>
                <a:latin typeface="Courier New"/>
                <a:cs typeface="Courier New"/>
              </a:rPr>
              <a:t>int</a:t>
            </a:r>
            <a:r>
              <a:rPr lang="en-US" sz="1800" smtClean="0">
                <a:solidFill>
                  <a:srgbClr val="000000"/>
                </a:solidFill>
                <a:latin typeface="Courier New"/>
                <a:cs typeface="Courier New"/>
              </a:rPr>
              <a:t> </a:t>
            </a:r>
            <a:r>
              <a:rPr lang="en-US" sz="1800" err="1" smtClean="0">
                <a:solidFill>
                  <a:srgbClr val="000000"/>
                </a:solidFill>
                <a:latin typeface="Courier New"/>
                <a:cs typeface="Courier New"/>
              </a:rPr>
              <a:t>argc,char</a:t>
            </a:r>
            <a:r>
              <a:rPr lang="en-US" sz="1800" smtClean="0">
                <a:solidFill>
                  <a:srgbClr val="000000"/>
                </a:solidFill>
                <a:latin typeface="Courier New"/>
                <a:cs typeface="Courier New"/>
              </a:rPr>
              <a:t> **</a:t>
            </a:r>
            <a:r>
              <a:rPr lang="en-US" sz="1800" err="1" smtClean="0">
                <a:solidFill>
                  <a:srgbClr val="000000"/>
                </a:solidFill>
                <a:latin typeface="Courier New"/>
                <a:cs typeface="Courier New"/>
              </a:rPr>
              <a:t>argv</a:t>
            </a:r>
            <a:r>
              <a:rPr lang="en-US" sz="1800" smtClean="0">
                <a:solidFill>
                  <a:srgbClr val="000000"/>
                </a:solidFill>
                <a:latin typeface="Courier New"/>
                <a:cs typeface="Courier New"/>
              </a:rPr>
              <a:t>)</a:t>
            </a:r>
            <a:endParaRPr lang="en-US" sz="1800">
              <a:solidFill>
                <a:srgbClr val="000000"/>
              </a:solidFill>
              <a:latin typeface="Courier New"/>
              <a:cs typeface="Courier New"/>
            </a:endParaRPr>
          </a:p>
          <a:p>
            <a:r>
              <a:rPr lang="en-US" sz="1800">
                <a:solidFill>
                  <a:srgbClr val="000000"/>
                </a:solidFill>
                <a:latin typeface="Courier New"/>
                <a:cs typeface="Courier New"/>
              </a:rPr>
              <a:t>{</a:t>
            </a:r>
          </a:p>
          <a:p>
            <a:r>
              <a:rPr lang="fr-FR" sz="1800">
                <a:solidFill>
                  <a:srgbClr val="000000"/>
                </a:solidFill>
                <a:latin typeface="Courier New"/>
                <a:cs typeface="Courier New"/>
              </a:rPr>
              <a:t>    </a:t>
            </a:r>
            <a:r>
              <a:rPr lang="fr-FR" sz="1800" err="1">
                <a:solidFill>
                  <a:srgbClr val="2D961E"/>
                </a:solidFill>
                <a:latin typeface="Courier New"/>
                <a:cs typeface="Courier New"/>
              </a:rPr>
              <a:t>int</a:t>
            </a:r>
            <a:r>
              <a:rPr lang="fr-FR" sz="1800">
                <a:solidFill>
                  <a:srgbClr val="000000"/>
                </a:solidFill>
                <a:latin typeface="Courier New"/>
                <a:cs typeface="Courier New"/>
              </a:rPr>
              <a:t> </a:t>
            </a:r>
            <a:r>
              <a:rPr lang="fr-FR" sz="1800">
                <a:solidFill>
                  <a:srgbClr val="C1651C"/>
                </a:solidFill>
                <a:latin typeface="Courier New"/>
                <a:cs typeface="Courier New"/>
              </a:rPr>
              <a:t>val</a:t>
            </a:r>
            <a:r>
              <a:rPr lang="fr-FR" sz="1800">
                <a:solidFill>
                  <a:srgbClr val="000000"/>
                </a:solidFill>
                <a:latin typeface="Courier New"/>
                <a:cs typeface="Courier New"/>
              </a:rPr>
              <a:t> = </a:t>
            </a:r>
            <a:r>
              <a:rPr lang="fr-FR" sz="1800" err="1">
                <a:solidFill>
                  <a:srgbClr val="000000"/>
                </a:solidFill>
                <a:latin typeface="Courier New"/>
                <a:cs typeface="Courier New"/>
              </a:rPr>
              <a:t>sum</a:t>
            </a:r>
            <a:r>
              <a:rPr lang="fr-FR" sz="1800">
                <a:solidFill>
                  <a:srgbClr val="000000"/>
                </a:solidFill>
                <a:latin typeface="Courier New"/>
                <a:cs typeface="Courier New"/>
              </a:rPr>
              <a:t>(</a:t>
            </a:r>
            <a:r>
              <a:rPr lang="fr-FR" sz="1800" err="1">
                <a:solidFill>
                  <a:srgbClr val="000000"/>
                </a:solidFill>
                <a:latin typeface="Courier New"/>
                <a:cs typeface="Courier New"/>
              </a:rPr>
              <a:t>array</a:t>
            </a:r>
            <a:r>
              <a:rPr lang="fr-FR" sz="1800">
                <a:solidFill>
                  <a:srgbClr val="000000"/>
                </a:solidFill>
                <a:latin typeface="Courier New"/>
                <a:cs typeface="Courier New"/>
              </a:rPr>
              <a:t>, 2);</a:t>
            </a:r>
          </a:p>
          <a:p>
            <a:r>
              <a:rPr lang="fr-FR" sz="1800">
                <a:solidFill>
                  <a:srgbClr val="000000"/>
                </a:solidFill>
                <a:latin typeface="Courier New"/>
                <a:cs typeface="Courier New"/>
              </a:rPr>
              <a:t>    </a:t>
            </a:r>
            <a:r>
              <a:rPr lang="fr-FR" sz="1800">
                <a:solidFill>
                  <a:srgbClr val="C200FF"/>
                </a:solidFill>
                <a:latin typeface="Courier New"/>
                <a:cs typeface="Courier New"/>
              </a:rPr>
              <a:t>return</a:t>
            </a:r>
            <a:r>
              <a:rPr lang="fr-FR" sz="1800">
                <a:solidFill>
                  <a:srgbClr val="000000"/>
                </a:solidFill>
                <a:latin typeface="Courier New"/>
                <a:cs typeface="Courier New"/>
              </a:rPr>
              <a:t> val;</a:t>
            </a:r>
          </a:p>
          <a:p>
            <a:r>
              <a:rPr lang="fr-FR" sz="1800">
                <a:solidFill>
                  <a:srgbClr val="000000"/>
                </a:solidFill>
                <a:latin typeface="Courier New"/>
                <a:cs typeface="Courier New"/>
              </a:rPr>
              <a:t>}</a:t>
            </a:r>
            <a:endParaRPr lang="en-US" sz="1800">
              <a:latin typeface="Courier New"/>
              <a:cs typeface="Courier New"/>
            </a:endParaRPr>
          </a:p>
        </p:txBody>
      </p:sp>
      <p:sp>
        <p:nvSpPr>
          <p:cNvPr id="6147" name="Rectangle 3"/>
          <p:cNvSpPr>
            <a:spLocks noChangeArrowheads="1"/>
          </p:cNvSpPr>
          <p:nvPr/>
        </p:nvSpPr>
        <p:spPr bwMode="auto">
          <a:xfrm>
            <a:off x="3182093" y="4931144"/>
            <a:ext cx="1008907" cy="359010"/>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err="1">
                <a:solidFill>
                  <a:schemeClr val="tx1">
                    <a:lumMod val="50000"/>
                    <a:lumOff val="50000"/>
                  </a:schemeClr>
                </a:solidFill>
                <a:latin typeface="Courier New" pitchFamily="49" charset="0"/>
                <a:ea typeface="msgothic" charset="0"/>
                <a:cs typeface="msgothic" charset="0"/>
              </a:rPr>
              <a:t>main.c</a:t>
            </a:r>
            <a:endParaRPr lang="en-GB" sz="1800" b="1" i="1">
              <a:solidFill>
                <a:schemeClr val="tx1">
                  <a:lumMod val="50000"/>
                  <a:lumOff val="50000"/>
                </a:schemeClr>
              </a:solidFill>
              <a:latin typeface="Courier New" pitchFamily="49" charset="0"/>
              <a:ea typeface="msgothic" charset="0"/>
              <a:cs typeface="msgothic" charset="0"/>
            </a:endParaRPr>
          </a:p>
        </p:txBody>
      </p:sp>
      <p:sp>
        <p:nvSpPr>
          <p:cNvPr id="6149" name="Rectangle 5"/>
          <p:cNvSpPr>
            <a:spLocks noChangeArrowheads="1"/>
          </p:cNvSpPr>
          <p:nvPr/>
        </p:nvSpPr>
        <p:spPr bwMode="auto">
          <a:xfrm>
            <a:off x="4487848" y="2704237"/>
            <a:ext cx="4253301" cy="2587504"/>
          </a:xfrm>
          <a:prstGeom prst="rect">
            <a:avLst/>
          </a:prstGeom>
          <a:solidFill>
            <a:srgbClr val="D5F1CF"/>
          </a:solidFill>
          <a:ln w="3240">
            <a:solidFill>
              <a:srgbClr val="000066"/>
            </a:solidFill>
            <a:miter lim="800000"/>
            <a:headEnd/>
            <a:tailEnd/>
          </a:ln>
          <a:effectLst/>
        </p:spPr>
        <p:txBody>
          <a:bodyPr wrap="none" lIns="90000" tIns="46800" rIns="90000" bIns="46800">
            <a:spAutoFit/>
          </a:bodyPr>
          <a:lstStyle/>
          <a:p>
            <a:r>
              <a:rPr lang="en-US" sz="1800" err="1">
                <a:solidFill>
                  <a:srgbClr val="2D961E"/>
                </a:solidFill>
                <a:latin typeface="Courier New"/>
                <a:cs typeface="Courier New"/>
              </a:rPr>
              <a:t>int</a:t>
            </a:r>
            <a:r>
              <a:rPr lang="en-US" sz="1800">
                <a:solidFill>
                  <a:srgbClr val="000000"/>
                </a:solidFill>
                <a:latin typeface="Courier New"/>
                <a:cs typeface="Courier New"/>
              </a:rPr>
              <a:t> </a:t>
            </a:r>
            <a:r>
              <a:rPr lang="en-US" sz="1800">
                <a:solidFill>
                  <a:srgbClr val="4A00FF"/>
                </a:solidFill>
                <a:latin typeface="Courier New"/>
                <a:cs typeface="Courier New"/>
              </a:rPr>
              <a:t>sum</a:t>
            </a:r>
            <a:r>
              <a:rPr lang="en-US" sz="1800">
                <a:solidFill>
                  <a:srgbClr val="000000"/>
                </a:solidFill>
                <a:latin typeface="Courier New"/>
                <a:cs typeface="Courier New"/>
              </a:rPr>
              <a:t>(</a:t>
            </a:r>
            <a:r>
              <a:rPr lang="en-US" sz="1800" err="1">
                <a:solidFill>
                  <a:srgbClr val="2D961E"/>
                </a:solidFill>
                <a:latin typeface="Courier New"/>
                <a:cs typeface="Courier New"/>
              </a:rPr>
              <a:t>int</a:t>
            </a:r>
            <a:r>
              <a:rPr lang="en-US" sz="1800">
                <a:solidFill>
                  <a:srgbClr val="000000"/>
                </a:solidFill>
                <a:latin typeface="Courier New"/>
                <a:cs typeface="Courier New"/>
              </a:rPr>
              <a:t> *</a:t>
            </a:r>
            <a:r>
              <a:rPr lang="en-US" sz="1800">
                <a:solidFill>
                  <a:srgbClr val="C1651C"/>
                </a:solidFill>
                <a:latin typeface="Courier New"/>
                <a:cs typeface="Courier New"/>
              </a:rPr>
              <a:t>a</a:t>
            </a:r>
            <a:r>
              <a:rPr lang="en-US" sz="1800">
                <a:solidFill>
                  <a:srgbClr val="000000"/>
                </a:solidFill>
                <a:latin typeface="Courier New"/>
                <a:cs typeface="Courier New"/>
              </a:rPr>
              <a:t>, </a:t>
            </a:r>
            <a:r>
              <a:rPr lang="en-US" sz="1800" err="1">
                <a:solidFill>
                  <a:srgbClr val="2D961E"/>
                </a:solidFill>
                <a:latin typeface="Courier New"/>
                <a:cs typeface="Courier New"/>
              </a:rPr>
              <a:t>int</a:t>
            </a:r>
            <a:r>
              <a:rPr lang="en-US" sz="1800">
                <a:solidFill>
                  <a:srgbClr val="000000"/>
                </a:solidFill>
                <a:latin typeface="Courier New"/>
                <a:cs typeface="Courier New"/>
              </a:rPr>
              <a:t> </a:t>
            </a:r>
            <a:r>
              <a:rPr lang="en-US" sz="1800">
                <a:solidFill>
                  <a:srgbClr val="C1651C"/>
                </a:solidFill>
                <a:latin typeface="Courier New"/>
                <a:cs typeface="Courier New"/>
              </a:rPr>
              <a:t>n</a:t>
            </a:r>
            <a:r>
              <a:rPr lang="en-US" sz="1800">
                <a:solidFill>
                  <a:srgbClr val="000000"/>
                </a:solidFill>
                <a:latin typeface="Courier New"/>
                <a:cs typeface="Courier New"/>
              </a:rPr>
              <a:t>)</a:t>
            </a:r>
          </a:p>
          <a:p>
            <a:r>
              <a:rPr lang="en-US" sz="1800">
                <a:solidFill>
                  <a:srgbClr val="000000"/>
                </a:solidFill>
                <a:latin typeface="Courier New"/>
                <a:cs typeface="Courier New"/>
              </a:rPr>
              <a:t>{</a:t>
            </a:r>
          </a:p>
          <a:p>
            <a:r>
              <a:rPr lang="fr-FR" sz="1800">
                <a:solidFill>
                  <a:srgbClr val="000000"/>
                </a:solidFill>
                <a:latin typeface="Courier New"/>
                <a:cs typeface="Courier New"/>
              </a:rPr>
              <a:t>    </a:t>
            </a:r>
            <a:r>
              <a:rPr lang="fr-FR" sz="1800" err="1">
                <a:solidFill>
                  <a:srgbClr val="2D961E"/>
                </a:solidFill>
                <a:latin typeface="Courier New"/>
                <a:cs typeface="Courier New"/>
              </a:rPr>
              <a:t>int</a:t>
            </a:r>
            <a:r>
              <a:rPr lang="fr-FR" sz="1800">
                <a:solidFill>
                  <a:srgbClr val="000000"/>
                </a:solidFill>
                <a:latin typeface="Courier New"/>
                <a:cs typeface="Courier New"/>
              </a:rPr>
              <a:t> </a:t>
            </a:r>
            <a:r>
              <a:rPr lang="fr-FR" sz="1800">
                <a:solidFill>
                  <a:srgbClr val="C1651C"/>
                </a:solidFill>
                <a:latin typeface="Courier New"/>
                <a:cs typeface="Courier New"/>
              </a:rPr>
              <a:t>i</a:t>
            </a:r>
            <a:r>
              <a:rPr lang="fr-FR" sz="1800">
                <a:solidFill>
                  <a:srgbClr val="000000"/>
                </a:solidFill>
                <a:latin typeface="Courier New"/>
                <a:cs typeface="Courier New"/>
              </a:rPr>
              <a:t>, </a:t>
            </a:r>
            <a:r>
              <a:rPr lang="fr-FR" sz="1800">
                <a:solidFill>
                  <a:srgbClr val="C1651C"/>
                </a:solidFill>
                <a:latin typeface="Courier New"/>
                <a:cs typeface="Courier New"/>
              </a:rPr>
              <a:t>s</a:t>
            </a:r>
            <a:r>
              <a:rPr lang="fr-FR" sz="1800">
                <a:solidFill>
                  <a:srgbClr val="000000"/>
                </a:solidFill>
                <a:latin typeface="Courier New"/>
                <a:cs typeface="Courier New"/>
              </a:rPr>
              <a:t> = 0;</a:t>
            </a:r>
          </a:p>
          <a:p>
            <a:endParaRPr lang="fr-FR" sz="1800">
              <a:solidFill>
                <a:srgbClr val="000000"/>
              </a:solidFill>
              <a:latin typeface="Courier New"/>
              <a:cs typeface="Courier New"/>
            </a:endParaRPr>
          </a:p>
          <a:p>
            <a:r>
              <a:rPr lang="da-DK" sz="1800">
                <a:solidFill>
                  <a:srgbClr val="000000"/>
                </a:solidFill>
                <a:latin typeface="Courier New"/>
                <a:cs typeface="Courier New"/>
              </a:rPr>
              <a:t>    </a:t>
            </a:r>
            <a:r>
              <a:rPr lang="da-DK" sz="1800">
                <a:solidFill>
                  <a:srgbClr val="C200FF"/>
                </a:solidFill>
                <a:latin typeface="Courier New"/>
                <a:cs typeface="Courier New"/>
              </a:rPr>
              <a:t>for</a:t>
            </a:r>
            <a:r>
              <a:rPr lang="da-DK" sz="1800">
                <a:solidFill>
                  <a:srgbClr val="000000"/>
                </a:solidFill>
                <a:latin typeface="Courier New"/>
                <a:cs typeface="Courier New"/>
              </a:rPr>
              <a:t> (i = 0; i &lt; n; i++) {</a:t>
            </a:r>
          </a:p>
          <a:p>
            <a:r>
              <a:rPr lang="da-DK" sz="1800">
                <a:solidFill>
                  <a:srgbClr val="000000"/>
                </a:solidFill>
                <a:latin typeface="Courier New"/>
                <a:cs typeface="Courier New"/>
              </a:rPr>
              <a:t>        s += a[i];</a:t>
            </a:r>
          </a:p>
          <a:p>
            <a:r>
              <a:rPr lang="da-DK" sz="1800">
                <a:solidFill>
                  <a:srgbClr val="000000"/>
                </a:solidFill>
                <a:latin typeface="Courier New"/>
                <a:cs typeface="Courier New"/>
              </a:rPr>
              <a:t>    }</a:t>
            </a:r>
          </a:p>
          <a:p>
            <a:r>
              <a:rPr lang="is-IS" sz="1800">
                <a:solidFill>
                  <a:srgbClr val="000000"/>
                </a:solidFill>
                <a:latin typeface="Courier New"/>
                <a:cs typeface="Courier New"/>
              </a:rPr>
              <a:t>    </a:t>
            </a:r>
            <a:r>
              <a:rPr lang="is-IS" sz="1800">
                <a:solidFill>
                  <a:srgbClr val="C200FF"/>
                </a:solidFill>
                <a:latin typeface="Courier New"/>
                <a:cs typeface="Courier New"/>
              </a:rPr>
              <a:t>return</a:t>
            </a:r>
            <a:r>
              <a:rPr lang="is-IS" sz="1800">
                <a:solidFill>
                  <a:srgbClr val="000000"/>
                </a:solidFill>
                <a:latin typeface="Courier New"/>
                <a:cs typeface="Courier New"/>
              </a:rPr>
              <a:t> s;</a:t>
            </a:r>
          </a:p>
          <a:p>
            <a:r>
              <a:rPr lang="is-IS" sz="1800">
                <a:solidFill>
                  <a:srgbClr val="000000"/>
                </a:solidFill>
                <a:latin typeface="Courier New"/>
                <a:cs typeface="Courier New"/>
              </a:rPr>
              <a:t>}</a:t>
            </a:r>
          </a:p>
        </p:txBody>
      </p:sp>
      <p:sp>
        <p:nvSpPr>
          <p:cNvPr id="6148" name="Rectangle 4"/>
          <p:cNvSpPr>
            <a:spLocks noChangeArrowheads="1"/>
          </p:cNvSpPr>
          <p:nvPr/>
        </p:nvSpPr>
        <p:spPr bwMode="auto">
          <a:xfrm>
            <a:off x="7758028" y="4913085"/>
            <a:ext cx="928772"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err="1" smtClean="0">
                <a:solidFill>
                  <a:schemeClr val="tx1">
                    <a:lumMod val="50000"/>
                    <a:lumOff val="50000"/>
                  </a:schemeClr>
                </a:solidFill>
                <a:latin typeface="Courier New" pitchFamily="49" charset="0"/>
                <a:ea typeface="msgothic" charset="0"/>
                <a:cs typeface="msgothic" charset="0"/>
              </a:rPr>
              <a:t>sum.c</a:t>
            </a:r>
            <a:endParaRPr lang="en-GB" sz="1800" b="1" i="1">
              <a:solidFill>
                <a:schemeClr val="tx1">
                  <a:lumMod val="50000"/>
                  <a:lumOff val="50000"/>
                </a:schemeClr>
              </a:solidFill>
              <a:latin typeface="Courier New" pitchFamily="49" charset="0"/>
              <a:ea typeface="msgothic" charset="0"/>
              <a:cs typeface="msgothic" charset="0"/>
            </a:endParaRPr>
          </a:p>
        </p:txBody>
      </p:sp>
      <p:grpSp>
        <p:nvGrpSpPr>
          <p:cNvPr id="48" name="Group 47"/>
          <p:cNvGrpSpPr/>
          <p:nvPr/>
        </p:nvGrpSpPr>
        <p:grpSpPr>
          <a:xfrm>
            <a:off x="3016017" y="1217472"/>
            <a:ext cx="1102549" cy="3217056"/>
            <a:chOff x="1523473" y="689057"/>
            <a:chExt cx="1658620" cy="3217056"/>
          </a:xfrm>
        </p:grpSpPr>
        <p:sp>
          <p:nvSpPr>
            <p:cNvPr id="7" name="TextBox 6"/>
            <p:cNvSpPr txBox="1"/>
            <p:nvPr/>
          </p:nvSpPr>
          <p:spPr>
            <a:xfrm>
              <a:off x="1843265" y="689057"/>
              <a:ext cx="1338828" cy="646331"/>
            </a:xfrm>
            <a:prstGeom prst="rect">
              <a:avLst/>
            </a:prstGeom>
            <a:noFill/>
          </p:spPr>
          <p:txBody>
            <a:bodyPr wrap="none" rtlCol="0">
              <a:spAutoFit/>
            </a:bodyPr>
            <a:lstStyle/>
            <a:p>
              <a:r>
                <a:rPr lang="en-US" sz="1800" smtClean="0">
                  <a:solidFill>
                    <a:srgbClr val="990000"/>
                  </a:solidFill>
                  <a:latin typeface="Calibri" pitchFamily="34" charset="0"/>
                </a:rPr>
                <a:t>Referencing </a:t>
              </a:r>
            </a:p>
            <a:p>
              <a:r>
                <a:rPr lang="en-US" sz="1800" smtClean="0">
                  <a:solidFill>
                    <a:srgbClr val="990000"/>
                  </a:solidFill>
                  <a:latin typeface="Calibri" pitchFamily="34" charset="0"/>
                </a:rPr>
                <a:t>a global…</a:t>
              </a:r>
            </a:p>
          </p:txBody>
        </p:sp>
        <p:cxnSp>
          <p:nvCxnSpPr>
            <p:cNvPr id="12" name="Straight Arrow Connector 11"/>
            <p:cNvCxnSpPr>
              <a:stCxn id="7" idx="2"/>
            </p:cNvCxnSpPr>
            <p:nvPr/>
          </p:nvCxnSpPr>
          <p:spPr bwMode="auto">
            <a:xfrm flipH="1">
              <a:off x="1523473" y="1335388"/>
              <a:ext cx="989206" cy="2570725"/>
            </a:xfrm>
            <a:prstGeom prst="straightConnector1">
              <a:avLst/>
            </a:prstGeom>
            <a:noFill/>
            <a:ln w="25400" cap="flat" cmpd="sng" algn="ctr">
              <a:solidFill>
                <a:srgbClr val="990000"/>
              </a:solidFill>
              <a:prstDash val="solid"/>
              <a:round/>
              <a:headEnd type="none" w="med" len="med"/>
              <a:tailEnd type="arrow"/>
            </a:ln>
            <a:effectLst/>
          </p:spPr>
        </p:cxnSp>
      </p:grpSp>
      <p:grpSp>
        <p:nvGrpSpPr>
          <p:cNvPr id="54" name="Group 53"/>
          <p:cNvGrpSpPr/>
          <p:nvPr/>
        </p:nvGrpSpPr>
        <p:grpSpPr>
          <a:xfrm>
            <a:off x="132131" y="4120568"/>
            <a:ext cx="992579" cy="1936469"/>
            <a:chOff x="132131" y="3397531"/>
            <a:chExt cx="992579" cy="1936469"/>
          </a:xfrm>
        </p:grpSpPr>
        <p:sp>
          <p:nvSpPr>
            <p:cNvPr id="14" name="TextBox 13"/>
            <p:cNvSpPr txBox="1"/>
            <p:nvPr/>
          </p:nvSpPr>
          <p:spPr>
            <a:xfrm>
              <a:off x="132131" y="4687669"/>
              <a:ext cx="992579" cy="646331"/>
            </a:xfrm>
            <a:prstGeom prst="rect">
              <a:avLst/>
            </a:prstGeom>
            <a:noFill/>
          </p:spPr>
          <p:txBody>
            <a:bodyPr wrap="none" rtlCol="0">
              <a:spAutoFit/>
            </a:bodyPr>
            <a:lstStyle/>
            <a:p>
              <a:pPr algn="ctr"/>
              <a:r>
                <a:rPr lang="en-US" sz="1800" smtClean="0">
                  <a:solidFill>
                    <a:srgbClr val="990000"/>
                  </a:solidFill>
                  <a:latin typeface="Calibri" pitchFamily="34" charset="0"/>
                </a:rPr>
                <a:t>Defining </a:t>
              </a:r>
            </a:p>
            <a:p>
              <a:pPr algn="ctr"/>
              <a:r>
                <a:rPr lang="en-US" sz="1800" smtClean="0">
                  <a:solidFill>
                    <a:srgbClr val="990000"/>
                  </a:solidFill>
                  <a:latin typeface="Calibri" pitchFamily="34" charset="0"/>
                </a:rPr>
                <a:t>a global</a:t>
              </a:r>
            </a:p>
          </p:txBody>
        </p:sp>
        <p:cxnSp>
          <p:nvCxnSpPr>
            <p:cNvPr id="15" name="Straight Arrow Connector 14"/>
            <p:cNvCxnSpPr>
              <a:stCxn id="14" idx="0"/>
            </p:cNvCxnSpPr>
            <p:nvPr/>
          </p:nvCxnSpPr>
          <p:spPr bwMode="auto">
            <a:xfrm flipV="1">
              <a:off x="628421" y="3397531"/>
              <a:ext cx="395906" cy="1290138"/>
            </a:xfrm>
            <a:prstGeom prst="straightConnector1">
              <a:avLst/>
            </a:prstGeom>
            <a:noFill/>
            <a:ln w="25400" cap="flat" cmpd="sng" algn="ctr">
              <a:solidFill>
                <a:srgbClr val="990000"/>
              </a:solidFill>
              <a:prstDash val="solid"/>
              <a:round/>
              <a:headEnd type="none" w="med" len="med"/>
              <a:tailEnd type="arrow"/>
            </a:ln>
            <a:effectLst/>
          </p:spPr>
        </p:cxnSp>
      </p:grpSp>
      <p:grpSp>
        <p:nvGrpSpPr>
          <p:cNvPr id="56" name="Group 55"/>
          <p:cNvGrpSpPr/>
          <p:nvPr/>
        </p:nvGrpSpPr>
        <p:grpSpPr>
          <a:xfrm>
            <a:off x="994380" y="4648201"/>
            <a:ext cx="1643599" cy="2018436"/>
            <a:chOff x="994380" y="3886202"/>
            <a:chExt cx="1643599" cy="2057398"/>
          </a:xfrm>
        </p:grpSpPr>
        <p:sp>
          <p:nvSpPr>
            <p:cNvPr id="28" name="TextBox 27"/>
            <p:cNvSpPr txBox="1"/>
            <p:nvPr/>
          </p:nvSpPr>
          <p:spPr>
            <a:xfrm>
              <a:off x="994380" y="5297269"/>
              <a:ext cx="1643599" cy="646331"/>
            </a:xfrm>
            <a:prstGeom prst="rect">
              <a:avLst/>
            </a:prstGeom>
            <a:noFill/>
          </p:spPr>
          <p:txBody>
            <a:bodyPr wrap="none" rtlCol="0">
              <a:spAutoFit/>
            </a:bodyPr>
            <a:lstStyle/>
            <a:p>
              <a:pPr algn="r"/>
              <a:r>
                <a:rPr lang="en-US" sz="1800" smtClean="0">
                  <a:solidFill>
                    <a:srgbClr val="990000"/>
                  </a:solidFill>
                  <a:latin typeface="Calibri" pitchFamily="34" charset="0"/>
                </a:rPr>
                <a:t>Linker knows</a:t>
              </a:r>
            </a:p>
            <a:p>
              <a:pPr algn="r"/>
              <a:r>
                <a:rPr lang="en-US" sz="1800" smtClean="0">
                  <a:solidFill>
                    <a:srgbClr val="990000"/>
                  </a:solidFill>
                  <a:latin typeface="Calibri" pitchFamily="34" charset="0"/>
                </a:rPr>
                <a:t>nothing of </a:t>
              </a:r>
              <a:r>
                <a:rPr lang="en-US" sz="1800" err="1" smtClean="0">
                  <a:solidFill>
                    <a:srgbClr val="990000"/>
                  </a:solidFill>
                  <a:latin typeface="Courier New"/>
                  <a:cs typeface="Courier New"/>
                </a:rPr>
                <a:t>val</a:t>
              </a:r>
              <a:endParaRPr lang="en-US" sz="1800" smtClean="0">
                <a:solidFill>
                  <a:srgbClr val="990000"/>
                </a:solidFill>
                <a:latin typeface="Courier New"/>
                <a:cs typeface="Courier New"/>
              </a:endParaRPr>
            </a:p>
          </p:txBody>
        </p:sp>
        <p:cxnSp>
          <p:nvCxnSpPr>
            <p:cNvPr id="32" name="Straight Arrow Connector 31"/>
            <p:cNvCxnSpPr>
              <a:stCxn id="28" idx="0"/>
            </p:cNvCxnSpPr>
            <p:nvPr/>
          </p:nvCxnSpPr>
          <p:spPr bwMode="auto">
            <a:xfrm flipH="1" flipV="1">
              <a:off x="1524000" y="3886202"/>
              <a:ext cx="292180" cy="1411067"/>
            </a:xfrm>
            <a:prstGeom prst="straightConnector1">
              <a:avLst/>
            </a:prstGeom>
            <a:noFill/>
            <a:ln w="25400" cap="flat" cmpd="sng" algn="ctr">
              <a:solidFill>
                <a:srgbClr val="990000"/>
              </a:solidFill>
              <a:prstDash val="solid"/>
              <a:round/>
              <a:headEnd type="none" w="med" len="med"/>
              <a:tailEnd type="arrow"/>
            </a:ln>
            <a:effectLst/>
          </p:spPr>
        </p:cxnSp>
      </p:grpSp>
      <p:grpSp>
        <p:nvGrpSpPr>
          <p:cNvPr id="6153" name="Group 6152"/>
          <p:cNvGrpSpPr/>
          <p:nvPr/>
        </p:nvGrpSpPr>
        <p:grpSpPr>
          <a:xfrm>
            <a:off x="2363907" y="4724400"/>
            <a:ext cx="1338828" cy="1642070"/>
            <a:chOff x="2400301" y="4609239"/>
            <a:chExt cx="1900433" cy="1734232"/>
          </a:xfrm>
        </p:grpSpPr>
        <p:sp>
          <p:nvSpPr>
            <p:cNvPr id="42" name="TextBox 41"/>
            <p:cNvSpPr txBox="1"/>
            <p:nvPr/>
          </p:nvSpPr>
          <p:spPr>
            <a:xfrm>
              <a:off x="2961906" y="5697140"/>
              <a:ext cx="1338828" cy="646331"/>
            </a:xfrm>
            <a:prstGeom prst="rect">
              <a:avLst/>
            </a:prstGeom>
            <a:noFill/>
          </p:spPr>
          <p:txBody>
            <a:bodyPr wrap="none" rtlCol="0">
              <a:spAutoFit/>
            </a:bodyPr>
            <a:lstStyle/>
            <a:p>
              <a:pPr algn="ctr"/>
              <a:r>
                <a:rPr lang="en-US" sz="1800" smtClean="0">
                  <a:solidFill>
                    <a:srgbClr val="990000"/>
                  </a:solidFill>
                  <a:latin typeface="Calibri" pitchFamily="34" charset="0"/>
                </a:rPr>
                <a:t>Referencing</a:t>
              </a:r>
            </a:p>
            <a:p>
              <a:pPr algn="ctr"/>
              <a:r>
                <a:rPr lang="en-US" sz="1800" smtClean="0">
                  <a:solidFill>
                    <a:srgbClr val="990000"/>
                  </a:solidFill>
                  <a:latin typeface="Calibri" pitchFamily="34" charset="0"/>
                </a:rPr>
                <a:t>a global…</a:t>
              </a:r>
            </a:p>
          </p:txBody>
        </p:sp>
        <p:cxnSp>
          <p:nvCxnSpPr>
            <p:cNvPr id="43" name="Straight Arrow Connector 42"/>
            <p:cNvCxnSpPr>
              <a:stCxn id="42" idx="0"/>
            </p:cNvCxnSpPr>
            <p:nvPr/>
          </p:nvCxnSpPr>
          <p:spPr bwMode="auto">
            <a:xfrm flipH="1" flipV="1">
              <a:off x="2400301" y="4609239"/>
              <a:ext cx="1231019" cy="1087901"/>
            </a:xfrm>
            <a:prstGeom prst="straightConnector1">
              <a:avLst/>
            </a:prstGeom>
            <a:noFill/>
            <a:ln w="25400" cap="flat" cmpd="sng" algn="ctr">
              <a:solidFill>
                <a:srgbClr val="990000"/>
              </a:solidFill>
              <a:prstDash val="solid"/>
              <a:round/>
              <a:headEnd type="none" w="med" len="med"/>
              <a:tailEnd type="arrow"/>
            </a:ln>
            <a:effectLst/>
          </p:spPr>
        </p:cxnSp>
      </p:grpSp>
      <p:grpSp>
        <p:nvGrpSpPr>
          <p:cNvPr id="6154" name="Group 6153"/>
          <p:cNvGrpSpPr/>
          <p:nvPr/>
        </p:nvGrpSpPr>
        <p:grpSpPr>
          <a:xfrm>
            <a:off x="3404589" y="3009038"/>
            <a:ext cx="2173003" cy="3726764"/>
            <a:chOff x="3404589" y="3009038"/>
            <a:chExt cx="2173003" cy="3726764"/>
          </a:xfrm>
        </p:grpSpPr>
        <p:sp>
          <p:nvSpPr>
            <p:cNvPr id="49" name="TextBox 48"/>
            <p:cNvSpPr txBox="1"/>
            <p:nvPr/>
          </p:nvSpPr>
          <p:spPr>
            <a:xfrm>
              <a:off x="3404589" y="6366470"/>
              <a:ext cx="2173003" cy="369332"/>
            </a:xfrm>
            <a:prstGeom prst="rect">
              <a:avLst/>
            </a:prstGeom>
            <a:noFill/>
          </p:spPr>
          <p:txBody>
            <a:bodyPr wrap="none" rtlCol="0">
              <a:spAutoFit/>
            </a:bodyPr>
            <a:lstStyle/>
            <a:p>
              <a:r>
                <a:rPr lang="en-US" sz="1800" smtClean="0">
                  <a:solidFill>
                    <a:srgbClr val="990000"/>
                  </a:solidFill>
                  <a:latin typeface="Calibri" pitchFamily="34" charset="0"/>
                </a:rPr>
                <a:t>…that’s defined here</a:t>
              </a:r>
            </a:p>
          </p:txBody>
        </p:sp>
        <p:cxnSp>
          <p:nvCxnSpPr>
            <p:cNvPr id="50" name="Straight Arrow Connector 49"/>
            <p:cNvCxnSpPr/>
            <p:nvPr/>
          </p:nvCxnSpPr>
          <p:spPr bwMode="auto">
            <a:xfrm flipV="1">
              <a:off x="4487848" y="3009038"/>
              <a:ext cx="769952" cy="3334433"/>
            </a:xfrm>
            <a:prstGeom prst="straightConnector1">
              <a:avLst/>
            </a:prstGeom>
            <a:noFill/>
            <a:ln w="25400" cap="flat" cmpd="sng" algn="ctr">
              <a:solidFill>
                <a:srgbClr val="990000"/>
              </a:solidFill>
              <a:prstDash val="solid"/>
              <a:round/>
              <a:headEnd type="none" w="med" len="med"/>
              <a:tailEnd type="arrow"/>
            </a:ln>
            <a:effectLst/>
          </p:spPr>
        </p:cxnSp>
      </p:grpSp>
      <p:grpSp>
        <p:nvGrpSpPr>
          <p:cNvPr id="57" name="Group 56"/>
          <p:cNvGrpSpPr/>
          <p:nvPr/>
        </p:nvGrpSpPr>
        <p:grpSpPr>
          <a:xfrm>
            <a:off x="6324600" y="3605937"/>
            <a:ext cx="2059165" cy="2774265"/>
            <a:chOff x="6324600" y="2882900"/>
            <a:chExt cx="2059165" cy="2774265"/>
          </a:xfrm>
        </p:grpSpPr>
        <p:sp>
          <p:nvSpPr>
            <p:cNvPr id="52" name="TextBox 51"/>
            <p:cNvSpPr txBox="1"/>
            <p:nvPr/>
          </p:nvSpPr>
          <p:spPr>
            <a:xfrm>
              <a:off x="6324600" y="5010834"/>
              <a:ext cx="2059165" cy="646331"/>
            </a:xfrm>
            <a:prstGeom prst="rect">
              <a:avLst/>
            </a:prstGeom>
            <a:noFill/>
          </p:spPr>
          <p:txBody>
            <a:bodyPr wrap="none" rtlCol="0">
              <a:spAutoFit/>
            </a:bodyPr>
            <a:lstStyle/>
            <a:p>
              <a:pPr algn="ctr"/>
              <a:r>
                <a:rPr lang="en-US" sz="1800" smtClean="0">
                  <a:solidFill>
                    <a:srgbClr val="990000"/>
                  </a:solidFill>
                  <a:latin typeface="Calibri" pitchFamily="34" charset="0"/>
                </a:rPr>
                <a:t>Linker knows</a:t>
              </a:r>
            </a:p>
            <a:p>
              <a:pPr algn="ctr"/>
              <a:r>
                <a:rPr lang="en-US" sz="1800" smtClean="0">
                  <a:solidFill>
                    <a:srgbClr val="990000"/>
                  </a:solidFill>
                  <a:latin typeface="Calibri" pitchFamily="34" charset="0"/>
                </a:rPr>
                <a:t>nothing of </a:t>
              </a:r>
              <a:r>
                <a:rPr lang="en-US" sz="1800" err="1" smtClean="0">
                  <a:solidFill>
                    <a:srgbClr val="990000"/>
                  </a:solidFill>
                  <a:latin typeface="Courier New"/>
                  <a:cs typeface="Courier New"/>
                </a:rPr>
                <a:t>i</a:t>
              </a:r>
              <a:r>
                <a:rPr lang="en-US" sz="1800">
                  <a:solidFill>
                    <a:srgbClr val="990000"/>
                  </a:solidFill>
                  <a:latin typeface="Courier New"/>
                  <a:cs typeface="Courier New"/>
                </a:rPr>
                <a:t> </a:t>
              </a:r>
              <a:r>
                <a:rPr lang="en-US" sz="1800" smtClean="0">
                  <a:solidFill>
                    <a:srgbClr val="990000"/>
                  </a:solidFill>
                  <a:latin typeface="Calibri"/>
                  <a:cs typeface="Calibri"/>
                </a:rPr>
                <a:t>or</a:t>
              </a:r>
              <a:r>
                <a:rPr lang="en-US" sz="1800" smtClean="0">
                  <a:solidFill>
                    <a:srgbClr val="990000"/>
                  </a:solidFill>
                  <a:latin typeface="Courier New"/>
                  <a:cs typeface="Courier New"/>
                </a:rPr>
                <a:t> s</a:t>
              </a:r>
            </a:p>
          </p:txBody>
        </p:sp>
        <p:cxnSp>
          <p:nvCxnSpPr>
            <p:cNvPr id="53" name="Straight Arrow Connector 52"/>
            <p:cNvCxnSpPr>
              <a:stCxn id="52" idx="0"/>
            </p:cNvCxnSpPr>
            <p:nvPr/>
          </p:nvCxnSpPr>
          <p:spPr bwMode="auto">
            <a:xfrm flipH="1" flipV="1">
              <a:off x="6324600" y="2882900"/>
              <a:ext cx="1029583" cy="2127934"/>
            </a:xfrm>
            <a:prstGeom prst="straightConnector1">
              <a:avLst/>
            </a:prstGeom>
            <a:noFill/>
            <a:ln w="25400" cap="flat" cmpd="sng" algn="ctr">
              <a:solidFill>
                <a:srgbClr val="990000"/>
              </a:solidFill>
              <a:prstDash val="solid"/>
              <a:round/>
              <a:headEnd type="none" w="med" len="med"/>
              <a:tailEnd type="arrow"/>
            </a:ln>
            <a:effectLst/>
          </p:spPr>
        </p:cxnSp>
      </p:grpSp>
      <p:grpSp>
        <p:nvGrpSpPr>
          <p:cNvPr id="6155" name="Group 6154"/>
          <p:cNvGrpSpPr/>
          <p:nvPr/>
        </p:nvGrpSpPr>
        <p:grpSpPr>
          <a:xfrm>
            <a:off x="843015" y="1879705"/>
            <a:ext cx="2173003" cy="1473094"/>
            <a:chOff x="843015" y="1879705"/>
            <a:chExt cx="2173003" cy="1473094"/>
          </a:xfrm>
        </p:grpSpPr>
        <p:sp>
          <p:nvSpPr>
            <p:cNvPr id="71" name="TextBox 70"/>
            <p:cNvSpPr txBox="1"/>
            <p:nvPr/>
          </p:nvSpPr>
          <p:spPr>
            <a:xfrm>
              <a:off x="843015" y="1879705"/>
              <a:ext cx="2173003" cy="369332"/>
            </a:xfrm>
            <a:prstGeom prst="rect">
              <a:avLst/>
            </a:prstGeom>
            <a:noFill/>
          </p:spPr>
          <p:txBody>
            <a:bodyPr wrap="none" rtlCol="0">
              <a:spAutoFit/>
            </a:bodyPr>
            <a:lstStyle/>
            <a:p>
              <a:r>
                <a:rPr lang="en-US" sz="1800" smtClean="0">
                  <a:solidFill>
                    <a:srgbClr val="990000"/>
                  </a:solidFill>
                  <a:latin typeface="Calibri" pitchFamily="34" charset="0"/>
                </a:rPr>
                <a:t>…that’s defined here</a:t>
              </a:r>
            </a:p>
          </p:txBody>
        </p:sp>
        <p:cxnSp>
          <p:nvCxnSpPr>
            <p:cNvPr id="72" name="Straight Arrow Connector 71"/>
            <p:cNvCxnSpPr>
              <a:stCxn id="71" idx="2"/>
            </p:cNvCxnSpPr>
            <p:nvPr/>
          </p:nvCxnSpPr>
          <p:spPr bwMode="auto">
            <a:xfrm flipH="1">
              <a:off x="894847" y="2249037"/>
              <a:ext cx="1034670" cy="1103762"/>
            </a:xfrm>
            <a:prstGeom prst="straightConnector1">
              <a:avLst/>
            </a:prstGeom>
            <a:noFill/>
            <a:ln w="25400" cap="flat" cmpd="sng" algn="ctr">
              <a:solidFill>
                <a:srgbClr val="990000"/>
              </a:solidFill>
              <a:prstDash val="solid"/>
              <a:round/>
              <a:headEnd type="none" w="med" len="med"/>
              <a:tailEnd type="arrow"/>
            </a:ln>
            <a:effectLst/>
          </p:spPr>
        </p:cxnSp>
      </p:grpSp>
    </p:spTree>
    <p:extLst>
      <p:ext uri="{BB962C8B-B14F-4D97-AF65-F5344CB8AC3E}">
        <p14:creationId xmlns:p14="http://schemas.microsoft.com/office/powerpoint/2010/main" val="581207507"/>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5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Symbol Identification</a:t>
            </a:r>
            <a:endParaRPr lang="en-US"/>
          </a:p>
        </p:txBody>
      </p:sp>
      <p:sp>
        <p:nvSpPr>
          <p:cNvPr id="3" name="Content Placeholder 2"/>
          <p:cNvSpPr>
            <a:spLocks noGrp="1"/>
          </p:cNvSpPr>
          <p:nvPr>
            <p:ph idx="1"/>
          </p:nvPr>
        </p:nvSpPr>
        <p:spPr>
          <a:xfrm>
            <a:off x="457200" y="1219201"/>
            <a:ext cx="8077200" cy="990599"/>
          </a:xfrm>
        </p:spPr>
        <p:txBody>
          <a:bodyPr/>
          <a:lstStyle/>
          <a:p>
            <a:pPr marL="0" indent="0">
              <a:buNone/>
            </a:pPr>
            <a:r>
              <a:rPr lang="en-US" sz="2800" i="1" dirty="0" smtClean="0"/>
              <a:t>Which </a:t>
            </a:r>
            <a:r>
              <a:rPr lang="en-US" sz="2800" dirty="0" smtClean="0"/>
              <a:t>of the following names will be in the symbol table of </a:t>
            </a:r>
            <a:r>
              <a:rPr lang="en-US" sz="2800" dirty="0" err="1" smtClean="0">
                <a:latin typeface="Courier"/>
                <a:cs typeface="Courier"/>
              </a:rPr>
              <a:t>symbols.o</a:t>
            </a:r>
            <a:r>
              <a:rPr lang="en-US" sz="2800" dirty="0" smtClean="0"/>
              <a:t>?</a:t>
            </a:r>
          </a:p>
        </p:txBody>
      </p:sp>
      <p:sp>
        <p:nvSpPr>
          <p:cNvPr id="4" name="Slide Number Placeholder 3"/>
          <p:cNvSpPr>
            <a:spLocks noGrp="1"/>
          </p:cNvSpPr>
          <p:nvPr>
            <p:ph type="sldNum" sz="quarter" idx="4294967295"/>
          </p:nvPr>
        </p:nvSpPr>
        <p:spPr/>
        <p:txBody>
          <a:bodyPr/>
          <a:lstStyle/>
          <a:p>
            <a:pPr>
              <a:defRPr/>
            </a:pPr>
            <a:r>
              <a:rPr lang="en-US" smtClean="0"/>
              <a:t> </a:t>
            </a:r>
            <a:endParaRPr lang="en-US"/>
          </a:p>
        </p:txBody>
      </p:sp>
      <p:sp>
        <p:nvSpPr>
          <p:cNvPr id="6" name="TextBox 5"/>
          <p:cNvSpPr txBox="1"/>
          <p:nvPr/>
        </p:nvSpPr>
        <p:spPr>
          <a:xfrm>
            <a:off x="76200" y="2362200"/>
            <a:ext cx="1765227" cy="461665"/>
          </a:xfrm>
          <a:prstGeom prst="rect">
            <a:avLst/>
          </a:prstGeom>
          <a:noFill/>
        </p:spPr>
        <p:txBody>
          <a:bodyPr wrap="none" rtlCol="0">
            <a:spAutoFit/>
          </a:bodyPr>
          <a:lstStyle/>
          <a:p>
            <a:r>
              <a:rPr lang="en-US" dirty="0" err="1" smtClean="0">
                <a:latin typeface="Century Gothic"/>
                <a:cs typeface="Century Gothic"/>
              </a:rPr>
              <a:t>symbols</a:t>
            </a:r>
            <a:r>
              <a:rPr lang="en-US" b="1" dirty="0" err="1" smtClean="0">
                <a:latin typeface="Century Gothic"/>
                <a:cs typeface="Century Gothic"/>
              </a:rPr>
              <a:t>.c</a:t>
            </a:r>
            <a:r>
              <a:rPr lang="en-US" b="1" dirty="0" smtClean="0">
                <a:latin typeface="Century Gothic"/>
                <a:cs typeface="Century Gothic"/>
              </a:rPr>
              <a:t>:</a:t>
            </a:r>
          </a:p>
        </p:txBody>
      </p:sp>
      <p:sp>
        <p:nvSpPr>
          <p:cNvPr id="7" name="TextBox 6"/>
          <p:cNvSpPr txBox="1"/>
          <p:nvPr/>
        </p:nvSpPr>
        <p:spPr>
          <a:xfrm>
            <a:off x="610477" y="2928877"/>
            <a:ext cx="3631122" cy="3416320"/>
          </a:xfrm>
          <a:prstGeom prst="rect">
            <a:avLst/>
          </a:prstGeom>
          <a:noFill/>
          <a:ln>
            <a:solidFill>
              <a:srgbClr val="7F7F7F"/>
            </a:solidFill>
            <a:prstDash val="sysDash"/>
          </a:ln>
        </p:spPr>
        <p:txBody>
          <a:bodyPr wrap="none" rtlCol="0">
            <a:spAutoFit/>
          </a:bodyPr>
          <a:lstStyle/>
          <a:p>
            <a:pPr algn="l"/>
            <a:r>
              <a:rPr lang="en-US" sz="1800" dirty="0" err="1" smtClean="0">
                <a:solidFill>
                  <a:srgbClr val="008000"/>
                </a:solidFill>
                <a:latin typeface="Courier"/>
                <a:cs typeface="Courier"/>
              </a:rPr>
              <a:t>int</a:t>
            </a:r>
            <a:r>
              <a:rPr lang="en-US" sz="1800" dirty="0" smtClean="0">
                <a:solidFill>
                  <a:srgbClr val="008000"/>
                </a:solidFill>
                <a:latin typeface="Courier"/>
                <a:cs typeface="Courier"/>
              </a:rPr>
              <a:t> </a:t>
            </a:r>
            <a:r>
              <a:rPr lang="en-US" sz="1800" dirty="0" smtClean="0">
                <a:latin typeface="Courier"/>
                <a:cs typeface="Courier"/>
              </a:rPr>
              <a:t>time;</a:t>
            </a:r>
          </a:p>
          <a:p>
            <a:pPr algn="l"/>
            <a:endParaRPr lang="en-US" sz="1800" dirty="0">
              <a:latin typeface="Courier"/>
              <a:cs typeface="Courier"/>
            </a:endParaRPr>
          </a:p>
          <a:p>
            <a:pPr algn="l"/>
            <a:r>
              <a:rPr lang="en-US" sz="1800" dirty="0" err="1">
                <a:solidFill>
                  <a:srgbClr val="008000"/>
                </a:solidFill>
                <a:latin typeface="Courier"/>
                <a:cs typeface="Courier"/>
              </a:rPr>
              <a:t>int</a:t>
            </a:r>
            <a:r>
              <a:rPr lang="en-US" sz="1800" dirty="0">
                <a:solidFill>
                  <a:srgbClr val="008000"/>
                </a:solidFill>
                <a:latin typeface="Courier"/>
                <a:cs typeface="Courier"/>
              </a:rPr>
              <a:t> </a:t>
            </a:r>
            <a:r>
              <a:rPr lang="en-US" sz="1800" dirty="0" smtClean="0">
                <a:latin typeface="Courier"/>
                <a:cs typeface="Courier"/>
              </a:rPr>
              <a:t>foo(</a:t>
            </a:r>
            <a:r>
              <a:rPr lang="en-US" sz="1800" dirty="0" err="1">
                <a:solidFill>
                  <a:srgbClr val="008000"/>
                </a:solidFill>
                <a:latin typeface="Courier"/>
                <a:cs typeface="Courier"/>
              </a:rPr>
              <a:t>int</a:t>
            </a:r>
            <a:r>
              <a:rPr lang="en-US" sz="1800" dirty="0">
                <a:solidFill>
                  <a:srgbClr val="008000"/>
                </a:solidFill>
                <a:latin typeface="Courier"/>
                <a:cs typeface="Courier"/>
              </a:rPr>
              <a:t> </a:t>
            </a:r>
            <a:r>
              <a:rPr lang="en-US" sz="1800" dirty="0">
                <a:latin typeface="Courier"/>
                <a:cs typeface="Courier"/>
              </a:rPr>
              <a:t>a) {</a:t>
            </a:r>
          </a:p>
          <a:p>
            <a:pPr algn="l"/>
            <a:r>
              <a:rPr lang="en-US" sz="1800" dirty="0" smtClean="0">
                <a:latin typeface="Courier"/>
                <a:cs typeface="Courier"/>
              </a:rPr>
              <a:t>  </a:t>
            </a:r>
            <a:r>
              <a:rPr lang="en-US" sz="1800" dirty="0" err="1" smtClean="0">
                <a:solidFill>
                  <a:srgbClr val="008000"/>
                </a:solidFill>
                <a:latin typeface="Courier"/>
                <a:cs typeface="Courier"/>
              </a:rPr>
              <a:t>int</a:t>
            </a:r>
            <a:r>
              <a:rPr lang="en-US" sz="1800" dirty="0" smtClean="0">
                <a:solidFill>
                  <a:srgbClr val="008000"/>
                </a:solidFill>
                <a:latin typeface="Courier"/>
                <a:cs typeface="Courier"/>
              </a:rPr>
              <a:t> </a:t>
            </a:r>
            <a:r>
              <a:rPr lang="en-US" sz="1800" dirty="0">
                <a:latin typeface="Courier"/>
                <a:cs typeface="Courier"/>
              </a:rPr>
              <a:t>b = a + 1;</a:t>
            </a:r>
          </a:p>
          <a:p>
            <a:pPr algn="l"/>
            <a:r>
              <a:rPr lang="en-US" sz="1800" dirty="0" smtClean="0">
                <a:latin typeface="Courier"/>
                <a:cs typeface="Courier"/>
              </a:rPr>
              <a:t>  return </a:t>
            </a:r>
            <a:r>
              <a:rPr lang="en-US" sz="1800" dirty="0">
                <a:latin typeface="Courier"/>
                <a:cs typeface="Courier"/>
              </a:rPr>
              <a:t>b;</a:t>
            </a:r>
          </a:p>
          <a:p>
            <a:pPr algn="l"/>
            <a:r>
              <a:rPr lang="en-US" sz="1800" dirty="0">
                <a:latin typeface="Courier"/>
                <a:cs typeface="Courier"/>
              </a:rPr>
              <a:t>}</a:t>
            </a:r>
          </a:p>
          <a:p>
            <a:pPr algn="l"/>
            <a:endParaRPr lang="en-US" sz="1800" dirty="0">
              <a:latin typeface="Courier"/>
              <a:cs typeface="Courier"/>
            </a:endParaRPr>
          </a:p>
          <a:p>
            <a:pPr algn="l"/>
            <a:r>
              <a:rPr lang="en-US" sz="1800" dirty="0" err="1">
                <a:solidFill>
                  <a:srgbClr val="008000"/>
                </a:solidFill>
                <a:latin typeface="Courier"/>
                <a:cs typeface="Courier"/>
              </a:rPr>
              <a:t>int</a:t>
            </a:r>
            <a:r>
              <a:rPr lang="en-US" sz="1800" dirty="0">
                <a:solidFill>
                  <a:srgbClr val="008000"/>
                </a:solidFill>
                <a:latin typeface="Courier"/>
                <a:cs typeface="Courier"/>
              </a:rPr>
              <a:t> </a:t>
            </a:r>
            <a:r>
              <a:rPr lang="en-US" sz="1800" dirty="0" smtClean="0">
                <a:latin typeface="Courier"/>
                <a:cs typeface="Courier"/>
              </a:rPr>
              <a:t>main(</a:t>
            </a:r>
            <a:r>
              <a:rPr lang="en-US" sz="1800" dirty="0" err="1" smtClean="0">
                <a:latin typeface="Courier"/>
                <a:cs typeface="Courier"/>
              </a:rPr>
              <a:t>int</a:t>
            </a:r>
            <a:r>
              <a:rPr lang="en-US" sz="1800" dirty="0" smtClean="0">
                <a:latin typeface="Courier"/>
                <a:cs typeface="Courier"/>
              </a:rPr>
              <a:t> </a:t>
            </a:r>
            <a:r>
              <a:rPr lang="en-US" sz="1800" dirty="0" err="1" smtClean="0">
                <a:latin typeface="Courier"/>
                <a:cs typeface="Courier"/>
              </a:rPr>
              <a:t>argc</a:t>
            </a:r>
            <a:r>
              <a:rPr lang="en-US" sz="1800" dirty="0" smtClean="0">
                <a:latin typeface="Courier"/>
                <a:cs typeface="Courier"/>
              </a:rPr>
              <a:t>,</a:t>
            </a:r>
          </a:p>
          <a:p>
            <a:pPr algn="l"/>
            <a:r>
              <a:rPr lang="en-US" sz="1800" dirty="0">
                <a:latin typeface="Courier"/>
                <a:cs typeface="Courier"/>
              </a:rPr>
              <a:t> </a:t>
            </a:r>
            <a:r>
              <a:rPr lang="en-US" sz="1800" dirty="0" smtClean="0">
                <a:latin typeface="Courier"/>
                <a:cs typeface="Courier"/>
              </a:rPr>
              <a:t>        char* </a:t>
            </a:r>
            <a:r>
              <a:rPr lang="en-US" sz="1800" dirty="0" err="1" smtClean="0">
                <a:latin typeface="Courier"/>
                <a:cs typeface="Courier"/>
              </a:rPr>
              <a:t>argv</a:t>
            </a:r>
            <a:r>
              <a:rPr lang="en-US" sz="1800" dirty="0" smtClean="0">
                <a:latin typeface="Courier"/>
                <a:cs typeface="Courier"/>
              </a:rPr>
              <a:t>[]) {</a:t>
            </a:r>
          </a:p>
          <a:p>
            <a:pPr algn="l"/>
            <a:r>
              <a:rPr lang="en-US" sz="1800" dirty="0" smtClean="0">
                <a:latin typeface="Courier"/>
                <a:cs typeface="Courier"/>
              </a:rPr>
              <a:t>  </a:t>
            </a:r>
            <a:r>
              <a:rPr lang="en-US" sz="1800" dirty="0" err="1" smtClean="0">
                <a:latin typeface="Courier"/>
                <a:cs typeface="Courier"/>
              </a:rPr>
              <a:t>printf</a:t>
            </a:r>
            <a:r>
              <a:rPr lang="en-US" sz="1800" dirty="0">
                <a:latin typeface="Courier"/>
                <a:cs typeface="Courier"/>
              </a:rPr>
              <a:t>(</a:t>
            </a:r>
            <a:r>
              <a:rPr lang="en-US" sz="1800" dirty="0">
                <a:solidFill>
                  <a:srgbClr val="FF0000"/>
                </a:solidFill>
                <a:latin typeface="Courier"/>
                <a:cs typeface="Courier"/>
              </a:rPr>
              <a:t>"%</a:t>
            </a:r>
            <a:r>
              <a:rPr lang="en-US" sz="1800" dirty="0" smtClean="0">
                <a:solidFill>
                  <a:srgbClr val="FF0000"/>
                </a:solidFill>
                <a:latin typeface="Courier"/>
                <a:cs typeface="Courier"/>
              </a:rPr>
              <a:t>d\n"</a:t>
            </a:r>
            <a:r>
              <a:rPr lang="en-US" sz="1800" dirty="0" smtClean="0">
                <a:latin typeface="Courier"/>
                <a:cs typeface="Courier"/>
              </a:rPr>
              <a:t>, foo(</a:t>
            </a:r>
            <a:r>
              <a:rPr lang="en-US" sz="1800" dirty="0">
                <a:solidFill>
                  <a:srgbClr val="FF0000"/>
                </a:solidFill>
                <a:latin typeface="Courier"/>
                <a:cs typeface="Courier"/>
              </a:rPr>
              <a:t>5</a:t>
            </a:r>
            <a:r>
              <a:rPr lang="en-US" sz="1800" dirty="0" smtClean="0">
                <a:latin typeface="Courier"/>
                <a:cs typeface="Courier"/>
              </a:rPr>
              <a:t>));</a:t>
            </a:r>
          </a:p>
          <a:p>
            <a:pPr algn="l"/>
            <a:r>
              <a:rPr lang="en-US" sz="1800" dirty="0">
                <a:latin typeface="Courier"/>
                <a:cs typeface="Courier"/>
              </a:rPr>
              <a:t> </a:t>
            </a:r>
            <a:r>
              <a:rPr lang="en-US" sz="1800" dirty="0" smtClean="0">
                <a:latin typeface="Courier"/>
                <a:cs typeface="Courier"/>
              </a:rPr>
              <a:t> return 0;</a:t>
            </a:r>
            <a:endParaRPr lang="en-US" sz="1800" dirty="0">
              <a:latin typeface="Courier"/>
              <a:cs typeface="Courier"/>
            </a:endParaRPr>
          </a:p>
          <a:p>
            <a:pPr algn="l"/>
            <a:r>
              <a:rPr lang="en-US" sz="1800" dirty="0">
                <a:latin typeface="Courier"/>
                <a:cs typeface="Courier"/>
              </a:rPr>
              <a:t>}</a:t>
            </a:r>
            <a:endParaRPr lang="en-US" sz="1800" dirty="0" smtClean="0">
              <a:latin typeface="Courier"/>
              <a:cs typeface="Courier"/>
            </a:endParaRPr>
          </a:p>
        </p:txBody>
      </p:sp>
      <p:sp>
        <p:nvSpPr>
          <p:cNvPr id="5" name="TextBox 4"/>
          <p:cNvSpPr txBox="1"/>
          <p:nvPr/>
        </p:nvSpPr>
        <p:spPr>
          <a:xfrm>
            <a:off x="5029200" y="2286000"/>
            <a:ext cx="2034531" cy="3970318"/>
          </a:xfrm>
          <a:prstGeom prst="rect">
            <a:avLst/>
          </a:prstGeom>
          <a:noFill/>
        </p:spPr>
        <p:txBody>
          <a:bodyPr wrap="none" rtlCol="0">
            <a:spAutoFit/>
          </a:bodyPr>
          <a:lstStyle/>
          <a:p>
            <a:pPr marL="342900" indent="-342900" algn="l">
              <a:buFont typeface="Arial"/>
              <a:buChar char="•"/>
            </a:pPr>
            <a:r>
              <a:rPr lang="en-US" sz="2800" dirty="0" smtClean="0">
                <a:latin typeface="Courier"/>
                <a:cs typeface="Courier"/>
              </a:rPr>
              <a:t>time</a:t>
            </a:r>
          </a:p>
          <a:p>
            <a:pPr marL="342900" indent="-342900" algn="l">
              <a:buFont typeface="Arial"/>
              <a:buChar char="•"/>
            </a:pPr>
            <a:r>
              <a:rPr lang="en-US" sz="2800" dirty="0" smtClean="0">
                <a:latin typeface="Courier"/>
                <a:cs typeface="Courier"/>
              </a:rPr>
              <a:t>foo</a:t>
            </a:r>
          </a:p>
          <a:p>
            <a:pPr marL="342900" indent="-342900" algn="l">
              <a:buFont typeface="Arial"/>
              <a:buChar char="•"/>
            </a:pPr>
            <a:r>
              <a:rPr lang="en-US" sz="2800" dirty="0" smtClean="0">
                <a:latin typeface="Courier"/>
                <a:cs typeface="Courier"/>
              </a:rPr>
              <a:t>a</a:t>
            </a:r>
          </a:p>
          <a:p>
            <a:pPr marL="342900" indent="-342900" algn="l">
              <a:buFont typeface="Arial"/>
              <a:buChar char="•"/>
            </a:pPr>
            <a:r>
              <a:rPr lang="en-US" sz="2800" dirty="0" err="1">
                <a:latin typeface="Courier"/>
                <a:cs typeface="Courier"/>
              </a:rPr>
              <a:t>a</a:t>
            </a:r>
            <a:r>
              <a:rPr lang="en-US" sz="2800" dirty="0" err="1" smtClean="0">
                <a:latin typeface="Courier"/>
                <a:cs typeface="Courier"/>
              </a:rPr>
              <a:t>rgc</a:t>
            </a:r>
            <a:endParaRPr lang="en-US" sz="2800" dirty="0" smtClean="0">
              <a:latin typeface="Courier"/>
              <a:cs typeface="Courier"/>
            </a:endParaRPr>
          </a:p>
          <a:p>
            <a:pPr marL="342900" indent="-342900" algn="l">
              <a:buFont typeface="Arial"/>
              <a:buChar char="•"/>
            </a:pPr>
            <a:r>
              <a:rPr lang="en-US" sz="2800" dirty="0" err="1" smtClean="0">
                <a:latin typeface="Courier"/>
                <a:cs typeface="Courier"/>
              </a:rPr>
              <a:t>argv</a:t>
            </a:r>
            <a:endParaRPr lang="en-US" sz="2800" dirty="0" smtClean="0">
              <a:latin typeface="Courier"/>
              <a:cs typeface="Courier"/>
            </a:endParaRPr>
          </a:p>
          <a:p>
            <a:pPr marL="342900" indent="-342900" algn="l">
              <a:buFont typeface="Arial"/>
              <a:buChar char="•"/>
            </a:pPr>
            <a:r>
              <a:rPr lang="en-US" sz="2800" dirty="0" smtClean="0">
                <a:latin typeface="Courier"/>
                <a:cs typeface="Courier"/>
              </a:rPr>
              <a:t>b</a:t>
            </a:r>
          </a:p>
          <a:p>
            <a:pPr marL="342900" indent="-342900" algn="l">
              <a:buFont typeface="Arial"/>
              <a:buChar char="•"/>
            </a:pPr>
            <a:r>
              <a:rPr lang="en-US" sz="2800" dirty="0" smtClean="0">
                <a:latin typeface="Courier"/>
                <a:cs typeface="Courier"/>
              </a:rPr>
              <a:t>main</a:t>
            </a:r>
          </a:p>
          <a:p>
            <a:pPr marL="342900" indent="-342900" algn="l">
              <a:buFont typeface="Arial"/>
              <a:buChar char="•"/>
            </a:pPr>
            <a:r>
              <a:rPr lang="en-US" sz="2800" dirty="0" err="1" smtClean="0">
                <a:latin typeface="Courier"/>
                <a:cs typeface="Courier"/>
              </a:rPr>
              <a:t>printf</a:t>
            </a:r>
            <a:endParaRPr lang="en-US" sz="2800" dirty="0" smtClean="0">
              <a:latin typeface="Courier"/>
              <a:cs typeface="Courier"/>
            </a:endParaRPr>
          </a:p>
          <a:p>
            <a:pPr marL="342900" indent="-342900" algn="l">
              <a:buFont typeface="Arial"/>
              <a:buChar char="•"/>
            </a:pPr>
            <a:r>
              <a:rPr lang="en-US" sz="2800" dirty="0" smtClean="0">
                <a:latin typeface="Courier"/>
                <a:cs typeface="Courier"/>
              </a:rPr>
              <a:t>Others?</a:t>
            </a:r>
          </a:p>
        </p:txBody>
      </p:sp>
      <p:sp>
        <p:nvSpPr>
          <p:cNvPr id="9" name="TextBox 8"/>
          <p:cNvSpPr txBox="1"/>
          <p:nvPr/>
        </p:nvSpPr>
        <p:spPr>
          <a:xfrm>
            <a:off x="4703815" y="1828800"/>
            <a:ext cx="1315985" cy="461665"/>
          </a:xfrm>
          <a:prstGeom prst="rect">
            <a:avLst/>
          </a:prstGeom>
          <a:noFill/>
        </p:spPr>
        <p:txBody>
          <a:bodyPr wrap="none" rtlCol="0">
            <a:spAutoFit/>
          </a:bodyPr>
          <a:lstStyle/>
          <a:p>
            <a:r>
              <a:rPr lang="en-US" b="1" smtClean="0">
                <a:latin typeface="Century Gothic"/>
                <a:cs typeface="Century Gothic"/>
              </a:rPr>
              <a:t>Names:</a:t>
            </a:r>
          </a:p>
        </p:txBody>
      </p:sp>
      <p:sp>
        <p:nvSpPr>
          <p:cNvPr id="12" name="TextBox 11"/>
          <p:cNvSpPr txBox="1"/>
          <p:nvPr/>
        </p:nvSpPr>
        <p:spPr>
          <a:xfrm>
            <a:off x="5029200" y="2286000"/>
            <a:ext cx="2362200" cy="3970318"/>
          </a:xfrm>
          <a:prstGeom prst="rect">
            <a:avLst/>
          </a:prstGeom>
          <a:solidFill>
            <a:schemeClr val="bg1"/>
          </a:solidFill>
        </p:spPr>
        <p:txBody>
          <a:bodyPr wrap="square" rtlCol="0">
            <a:spAutoFit/>
          </a:bodyPr>
          <a:lstStyle/>
          <a:p>
            <a:pPr marL="342900" indent="-342900" algn="l">
              <a:buFont typeface="Arial"/>
              <a:buChar char="•"/>
            </a:pPr>
            <a:r>
              <a:rPr lang="en-US" sz="2800" dirty="0" smtClean="0">
                <a:solidFill>
                  <a:srgbClr val="FF0000"/>
                </a:solidFill>
                <a:latin typeface="Courier"/>
                <a:cs typeface="Courier"/>
              </a:rPr>
              <a:t>time</a:t>
            </a:r>
          </a:p>
          <a:p>
            <a:pPr marL="342900" indent="-342900" algn="l">
              <a:buFont typeface="Arial"/>
              <a:buChar char="•"/>
            </a:pPr>
            <a:r>
              <a:rPr lang="en-US" sz="2800" dirty="0" smtClean="0">
                <a:solidFill>
                  <a:srgbClr val="FF0000"/>
                </a:solidFill>
                <a:latin typeface="Courier"/>
                <a:cs typeface="Courier"/>
              </a:rPr>
              <a:t>foo</a:t>
            </a:r>
          </a:p>
          <a:p>
            <a:pPr marL="342900" indent="-342900" algn="l">
              <a:buFont typeface="Arial"/>
              <a:buChar char="•"/>
            </a:pPr>
            <a:r>
              <a:rPr lang="en-US" sz="2800" dirty="0" smtClean="0">
                <a:latin typeface="Courier"/>
                <a:cs typeface="Courier"/>
              </a:rPr>
              <a:t>a</a:t>
            </a:r>
          </a:p>
          <a:p>
            <a:pPr marL="342900" indent="-342900" algn="l">
              <a:buFont typeface="Arial"/>
              <a:buChar char="•"/>
            </a:pPr>
            <a:r>
              <a:rPr lang="en-US" sz="2800" dirty="0" err="1">
                <a:latin typeface="Courier"/>
                <a:cs typeface="Courier"/>
              </a:rPr>
              <a:t>a</a:t>
            </a:r>
            <a:r>
              <a:rPr lang="en-US" sz="2800" dirty="0" err="1" smtClean="0">
                <a:latin typeface="Courier"/>
                <a:cs typeface="Courier"/>
              </a:rPr>
              <a:t>rgc</a:t>
            </a:r>
            <a:endParaRPr lang="en-US" sz="2800" dirty="0" smtClean="0">
              <a:latin typeface="Courier"/>
              <a:cs typeface="Courier"/>
            </a:endParaRPr>
          </a:p>
          <a:p>
            <a:pPr marL="342900" indent="-342900" algn="l">
              <a:buFont typeface="Arial"/>
              <a:buChar char="•"/>
            </a:pPr>
            <a:r>
              <a:rPr lang="en-US" sz="2800" dirty="0" err="1" smtClean="0">
                <a:latin typeface="Courier"/>
                <a:cs typeface="Courier"/>
              </a:rPr>
              <a:t>argv</a:t>
            </a:r>
            <a:endParaRPr lang="en-US" sz="2800" dirty="0" smtClean="0">
              <a:latin typeface="Courier"/>
              <a:cs typeface="Courier"/>
            </a:endParaRPr>
          </a:p>
          <a:p>
            <a:pPr marL="342900" indent="-342900" algn="l">
              <a:buFont typeface="Arial"/>
              <a:buChar char="•"/>
            </a:pPr>
            <a:r>
              <a:rPr lang="en-US" sz="2800" dirty="0" smtClean="0">
                <a:latin typeface="Courier"/>
                <a:cs typeface="Courier"/>
              </a:rPr>
              <a:t>b</a:t>
            </a:r>
          </a:p>
          <a:p>
            <a:pPr marL="342900" indent="-342900" algn="l">
              <a:buFont typeface="Arial"/>
              <a:buChar char="•"/>
            </a:pPr>
            <a:r>
              <a:rPr lang="en-US" sz="2800" dirty="0" smtClean="0">
                <a:solidFill>
                  <a:srgbClr val="FF0000"/>
                </a:solidFill>
                <a:latin typeface="Courier"/>
                <a:cs typeface="Courier"/>
              </a:rPr>
              <a:t>main</a:t>
            </a:r>
          </a:p>
          <a:p>
            <a:pPr marL="342900" indent="-342900" algn="l">
              <a:buFont typeface="Arial"/>
              <a:buChar char="•"/>
            </a:pPr>
            <a:r>
              <a:rPr lang="en-US" sz="2800" dirty="0" err="1" smtClean="0">
                <a:solidFill>
                  <a:srgbClr val="FF0000"/>
                </a:solidFill>
                <a:latin typeface="Courier"/>
                <a:cs typeface="Courier"/>
              </a:rPr>
              <a:t>printf</a:t>
            </a:r>
            <a:endParaRPr lang="en-US" sz="2800" dirty="0" smtClean="0">
              <a:solidFill>
                <a:srgbClr val="FF0000"/>
              </a:solidFill>
              <a:latin typeface="Courier"/>
              <a:cs typeface="Courier"/>
            </a:endParaRPr>
          </a:p>
          <a:p>
            <a:pPr marL="342900" indent="-342900">
              <a:buFont typeface="Arial"/>
              <a:buChar char="•"/>
            </a:pPr>
            <a:r>
              <a:rPr lang="en-US" sz="2800" dirty="0" smtClean="0">
                <a:solidFill>
                  <a:srgbClr val="FF0000"/>
                </a:solidFill>
                <a:latin typeface="Courier"/>
                <a:cs typeface="Courier"/>
              </a:rPr>
              <a:t>"%</a:t>
            </a:r>
            <a:r>
              <a:rPr lang="en-US" sz="2800" dirty="0">
                <a:solidFill>
                  <a:srgbClr val="FF0000"/>
                </a:solidFill>
                <a:latin typeface="Courier"/>
                <a:cs typeface="Courier"/>
              </a:rPr>
              <a:t>d\n</a:t>
            </a:r>
            <a:r>
              <a:rPr lang="en-US" sz="2800" dirty="0" smtClean="0">
                <a:solidFill>
                  <a:srgbClr val="FF0000"/>
                </a:solidFill>
                <a:latin typeface="Courier"/>
                <a:cs typeface="Courier"/>
              </a:rPr>
              <a:t>"</a:t>
            </a:r>
            <a:endParaRPr lang="en-US" sz="2800" dirty="0" smtClean="0">
              <a:latin typeface="Courier"/>
              <a:cs typeface="Courier"/>
            </a:endParaRPr>
          </a:p>
        </p:txBody>
      </p:sp>
    </p:spTree>
    <p:extLst>
      <p:ext uri="{BB962C8B-B14F-4D97-AF65-F5344CB8AC3E}">
        <p14:creationId xmlns:p14="http://schemas.microsoft.com/office/powerpoint/2010/main" val="26954476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Local Symbols</a:t>
            </a:r>
            <a:endParaRPr lang="en-US"/>
          </a:p>
        </p:txBody>
      </p:sp>
      <p:sp>
        <p:nvSpPr>
          <p:cNvPr id="3" name="Content Placeholder 2"/>
          <p:cNvSpPr>
            <a:spLocks noGrp="1"/>
          </p:cNvSpPr>
          <p:nvPr>
            <p:ph idx="1"/>
          </p:nvPr>
        </p:nvSpPr>
        <p:spPr>
          <a:xfrm>
            <a:off x="396875" y="1362075"/>
            <a:ext cx="7896225" cy="1228725"/>
          </a:xfrm>
        </p:spPr>
        <p:txBody>
          <a:bodyPr/>
          <a:lstStyle/>
          <a:p>
            <a:r>
              <a:rPr lang="en-US" smtClean="0"/>
              <a:t>Local non-static C variables vs. local static C variables</a:t>
            </a:r>
          </a:p>
          <a:p>
            <a:pPr lvl="1"/>
            <a:r>
              <a:rPr lang="en-US" smtClean="0"/>
              <a:t>local non-static C variables: stored on the stack </a:t>
            </a:r>
          </a:p>
          <a:p>
            <a:pPr lvl="1"/>
            <a:r>
              <a:rPr lang="en-US" smtClean="0"/>
              <a:t>local static C variables: stored in either </a:t>
            </a:r>
            <a:r>
              <a:rPr lang="en-US" smtClean="0">
                <a:latin typeface="Courier New"/>
                <a:cs typeface="Courier New"/>
              </a:rPr>
              <a:t>.</a:t>
            </a:r>
            <a:r>
              <a:rPr lang="en-US" err="1" smtClean="0">
                <a:latin typeface="Courier New"/>
                <a:cs typeface="Courier New"/>
              </a:rPr>
              <a:t>bss</a:t>
            </a:r>
            <a:r>
              <a:rPr lang="en-US" smtClean="0">
                <a:latin typeface="Courier New"/>
                <a:cs typeface="Courier New"/>
              </a:rPr>
              <a:t>, </a:t>
            </a:r>
            <a:r>
              <a:rPr lang="en-US" smtClean="0"/>
              <a:t>or </a:t>
            </a:r>
            <a:r>
              <a:rPr lang="en-US" smtClean="0">
                <a:latin typeface="Courier New"/>
                <a:cs typeface="Courier New"/>
              </a:rPr>
              <a:t>.data</a:t>
            </a:r>
            <a:endParaRPr lang="en-US">
              <a:latin typeface="Courier New"/>
              <a:cs typeface="Courier New"/>
            </a:endParaRPr>
          </a:p>
        </p:txBody>
      </p:sp>
      <p:sp>
        <p:nvSpPr>
          <p:cNvPr id="4" name="Rectangle 2"/>
          <p:cNvSpPr>
            <a:spLocks noChangeArrowheads="1"/>
          </p:cNvSpPr>
          <p:nvPr/>
        </p:nvSpPr>
        <p:spPr bwMode="auto">
          <a:xfrm>
            <a:off x="481213" y="2574147"/>
            <a:ext cx="3328787" cy="4249498"/>
          </a:xfrm>
          <a:prstGeom prst="rect">
            <a:avLst/>
          </a:prstGeom>
          <a:solidFill>
            <a:srgbClr val="F7F5CD"/>
          </a:solidFill>
          <a:ln w="3240">
            <a:solidFill>
              <a:srgbClr val="000066"/>
            </a:solidFill>
            <a:miter lim="800000"/>
            <a:headEnd/>
            <a:tailEnd/>
          </a:ln>
          <a:effectLst/>
        </p:spPr>
        <p:txBody>
          <a:bodyPr wrap="square" lIns="90000" tIns="46800" rIns="90000" bIns="46800">
            <a:spAutoFit/>
          </a:bodyPr>
          <a:lstStyle/>
          <a:p>
            <a:r>
              <a:rPr lang="en-US" sz="1800">
                <a:solidFill>
                  <a:srgbClr val="000000"/>
                </a:solidFill>
                <a:latin typeface="Courier New"/>
                <a:cs typeface="Courier New"/>
              </a:rPr>
              <a:t>static </a:t>
            </a:r>
            <a:r>
              <a:rPr lang="en-US" sz="1800" err="1">
                <a:solidFill>
                  <a:srgbClr val="000000"/>
                </a:solidFill>
                <a:latin typeface="Courier New"/>
                <a:cs typeface="Courier New"/>
              </a:rPr>
              <a:t>int</a:t>
            </a:r>
            <a:r>
              <a:rPr lang="en-US" sz="1800">
                <a:solidFill>
                  <a:srgbClr val="000000"/>
                </a:solidFill>
                <a:latin typeface="Courier New"/>
                <a:cs typeface="Courier New"/>
              </a:rPr>
              <a:t> x = 15;</a:t>
            </a:r>
          </a:p>
          <a:p>
            <a:endParaRPr lang="en-US" sz="1800">
              <a:solidFill>
                <a:srgbClr val="000000"/>
              </a:solidFill>
              <a:latin typeface="Courier New"/>
              <a:cs typeface="Courier New"/>
            </a:endParaRPr>
          </a:p>
          <a:p>
            <a:r>
              <a:rPr lang="en-US" sz="1800" err="1">
                <a:solidFill>
                  <a:srgbClr val="000000"/>
                </a:solidFill>
                <a:latin typeface="Courier New"/>
                <a:cs typeface="Courier New"/>
              </a:rPr>
              <a:t>int</a:t>
            </a:r>
            <a:r>
              <a:rPr lang="en-US" sz="1800">
                <a:solidFill>
                  <a:srgbClr val="000000"/>
                </a:solidFill>
                <a:latin typeface="Courier New"/>
                <a:cs typeface="Courier New"/>
              </a:rPr>
              <a:t> f() {</a:t>
            </a:r>
          </a:p>
          <a:p>
            <a:r>
              <a:rPr lang="en-US" sz="1800">
                <a:solidFill>
                  <a:srgbClr val="000000"/>
                </a:solidFill>
                <a:latin typeface="Courier New"/>
                <a:cs typeface="Courier New"/>
              </a:rPr>
              <a:t>    static </a:t>
            </a:r>
            <a:r>
              <a:rPr lang="en-US" sz="1800" err="1">
                <a:solidFill>
                  <a:srgbClr val="000000"/>
                </a:solidFill>
                <a:latin typeface="Courier New"/>
                <a:cs typeface="Courier New"/>
              </a:rPr>
              <a:t>int</a:t>
            </a:r>
            <a:r>
              <a:rPr lang="en-US" sz="1800">
                <a:solidFill>
                  <a:srgbClr val="000000"/>
                </a:solidFill>
                <a:latin typeface="Courier New"/>
                <a:cs typeface="Courier New"/>
              </a:rPr>
              <a:t> x = 17;</a:t>
            </a:r>
          </a:p>
          <a:p>
            <a:r>
              <a:rPr lang="en-US" sz="1800">
                <a:solidFill>
                  <a:srgbClr val="000000"/>
                </a:solidFill>
                <a:latin typeface="Courier New"/>
                <a:cs typeface="Courier New"/>
              </a:rPr>
              <a:t>    return x++;</a:t>
            </a:r>
          </a:p>
          <a:p>
            <a:r>
              <a:rPr lang="en-US" sz="1800">
                <a:solidFill>
                  <a:srgbClr val="000000"/>
                </a:solidFill>
                <a:latin typeface="Courier New"/>
                <a:cs typeface="Courier New"/>
              </a:rPr>
              <a:t>}</a:t>
            </a:r>
          </a:p>
          <a:p>
            <a:endParaRPr lang="en-US" sz="1800">
              <a:solidFill>
                <a:srgbClr val="000000"/>
              </a:solidFill>
              <a:latin typeface="Courier New"/>
              <a:cs typeface="Courier New"/>
            </a:endParaRPr>
          </a:p>
          <a:p>
            <a:r>
              <a:rPr lang="en-US" sz="1800" err="1">
                <a:solidFill>
                  <a:srgbClr val="000000"/>
                </a:solidFill>
                <a:latin typeface="Courier New"/>
                <a:cs typeface="Courier New"/>
              </a:rPr>
              <a:t>int</a:t>
            </a:r>
            <a:r>
              <a:rPr lang="en-US" sz="1800">
                <a:solidFill>
                  <a:srgbClr val="000000"/>
                </a:solidFill>
                <a:latin typeface="Courier New"/>
                <a:cs typeface="Courier New"/>
              </a:rPr>
              <a:t> g() {</a:t>
            </a:r>
          </a:p>
          <a:p>
            <a:r>
              <a:rPr lang="en-US" sz="1800">
                <a:solidFill>
                  <a:srgbClr val="000000"/>
                </a:solidFill>
                <a:latin typeface="Courier New"/>
                <a:cs typeface="Courier New"/>
              </a:rPr>
              <a:t>    static </a:t>
            </a:r>
            <a:r>
              <a:rPr lang="en-US" sz="1800" err="1">
                <a:solidFill>
                  <a:srgbClr val="000000"/>
                </a:solidFill>
                <a:latin typeface="Courier New"/>
                <a:cs typeface="Courier New"/>
              </a:rPr>
              <a:t>int</a:t>
            </a:r>
            <a:r>
              <a:rPr lang="en-US" sz="1800">
                <a:solidFill>
                  <a:srgbClr val="000000"/>
                </a:solidFill>
                <a:latin typeface="Courier New"/>
                <a:cs typeface="Courier New"/>
              </a:rPr>
              <a:t> x = 19;</a:t>
            </a:r>
          </a:p>
          <a:p>
            <a:r>
              <a:rPr lang="en-US" sz="1800">
                <a:solidFill>
                  <a:srgbClr val="000000"/>
                </a:solidFill>
                <a:latin typeface="Courier New"/>
                <a:cs typeface="Courier New"/>
              </a:rPr>
              <a:t>    return x += 14;</a:t>
            </a:r>
          </a:p>
          <a:p>
            <a:r>
              <a:rPr lang="en-US" sz="1800">
                <a:solidFill>
                  <a:srgbClr val="000000"/>
                </a:solidFill>
                <a:latin typeface="Courier New"/>
                <a:cs typeface="Courier New"/>
              </a:rPr>
              <a:t>}</a:t>
            </a:r>
          </a:p>
          <a:p>
            <a:endParaRPr lang="en-US" sz="1800">
              <a:solidFill>
                <a:srgbClr val="000000"/>
              </a:solidFill>
              <a:latin typeface="Courier New"/>
              <a:cs typeface="Courier New"/>
            </a:endParaRPr>
          </a:p>
          <a:p>
            <a:r>
              <a:rPr lang="en-US" sz="1800" err="1">
                <a:solidFill>
                  <a:srgbClr val="000000"/>
                </a:solidFill>
                <a:latin typeface="Courier New"/>
                <a:cs typeface="Courier New"/>
              </a:rPr>
              <a:t>int</a:t>
            </a:r>
            <a:r>
              <a:rPr lang="en-US" sz="1800">
                <a:solidFill>
                  <a:srgbClr val="000000"/>
                </a:solidFill>
                <a:latin typeface="Courier New"/>
                <a:cs typeface="Courier New"/>
              </a:rPr>
              <a:t> h() {</a:t>
            </a:r>
          </a:p>
          <a:p>
            <a:r>
              <a:rPr lang="en-US" sz="1800">
                <a:solidFill>
                  <a:srgbClr val="000000"/>
                </a:solidFill>
                <a:latin typeface="Courier New"/>
                <a:cs typeface="Courier New"/>
              </a:rPr>
              <a:t>    return x += 27;</a:t>
            </a:r>
          </a:p>
          <a:p>
            <a:r>
              <a:rPr lang="en-US" sz="1800" smtClean="0">
                <a:solidFill>
                  <a:srgbClr val="000000"/>
                </a:solidFill>
                <a:latin typeface="Courier New"/>
                <a:cs typeface="Courier New"/>
              </a:rPr>
              <a:t>}</a:t>
            </a:r>
            <a:endParaRPr lang="en-US" sz="1800">
              <a:solidFill>
                <a:srgbClr val="000000"/>
              </a:solidFill>
              <a:latin typeface="Courier New"/>
              <a:cs typeface="Courier New"/>
            </a:endParaRPr>
          </a:p>
        </p:txBody>
      </p:sp>
      <p:sp>
        <p:nvSpPr>
          <p:cNvPr id="5" name="TextBox 4"/>
          <p:cNvSpPr txBox="1"/>
          <p:nvPr/>
        </p:nvSpPr>
        <p:spPr>
          <a:xfrm>
            <a:off x="4267200" y="3505200"/>
            <a:ext cx="4343400" cy="3170099"/>
          </a:xfrm>
          <a:prstGeom prst="rect">
            <a:avLst/>
          </a:prstGeom>
          <a:noFill/>
        </p:spPr>
        <p:txBody>
          <a:bodyPr wrap="square" rtlCol="0">
            <a:spAutoFit/>
          </a:bodyPr>
          <a:lstStyle/>
          <a:p>
            <a:r>
              <a:rPr lang="en-US" sz="2000" dirty="0" smtClean="0">
                <a:latin typeface="Calibri" pitchFamily="34" charset="0"/>
              </a:rPr>
              <a:t>Compiler allocates space in </a:t>
            </a:r>
            <a:r>
              <a:rPr lang="en-US" sz="2000" dirty="0" smtClean="0">
                <a:latin typeface="Courier New"/>
                <a:cs typeface="Courier New"/>
              </a:rPr>
              <a:t>.data </a:t>
            </a:r>
            <a:r>
              <a:rPr lang="en-US" sz="2000" dirty="0" smtClean="0">
                <a:latin typeface="Calibri" pitchFamily="34" charset="0"/>
              </a:rPr>
              <a:t>for each definition of </a:t>
            </a:r>
            <a:r>
              <a:rPr lang="en-US" sz="2000" dirty="0" smtClean="0">
                <a:latin typeface="Courier New"/>
                <a:cs typeface="Courier New"/>
              </a:rPr>
              <a:t>x</a:t>
            </a:r>
          </a:p>
          <a:p>
            <a:endParaRPr lang="en-US" sz="2000" dirty="0">
              <a:latin typeface="Calibri" pitchFamily="34" charset="0"/>
            </a:endParaRPr>
          </a:p>
          <a:p>
            <a:r>
              <a:rPr lang="en-US" sz="2000" dirty="0">
                <a:latin typeface="Calibri" pitchFamily="34" charset="0"/>
              </a:rPr>
              <a:t>C</a:t>
            </a:r>
            <a:r>
              <a:rPr lang="en-US" sz="2000" dirty="0" smtClean="0">
                <a:latin typeface="Calibri" pitchFamily="34" charset="0"/>
              </a:rPr>
              <a:t>reates local symbols in the symbol table with unique names, e.g., </a:t>
            </a:r>
            <a:r>
              <a:rPr lang="en-US" sz="2000" dirty="0" smtClean="0">
                <a:latin typeface="Courier New"/>
                <a:cs typeface="Courier New"/>
              </a:rPr>
              <a:t>x</a:t>
            </a:r>
            <a:r>
              <a:rPr lang="en-US" sz="2000" dirty="0" smtClean="0">
                <a:latin typeface="Calibri" pitchFamily="34" charset="0"/>
              </a:rPr>
              <a:t>, </a:t>
            </a:r>
            <a:r>
              <a:rPr lang="en-US" sz="2000" dirty="0" smtClean="0">
                <a:latin typeface="Courier New"/>
                <a:cs typeface="Courier New"/>
              </a:rPr>
              <a:t>x.1721</a:t>
            </a:r>
            <a:r>
              <a:rPr lang="en-US" sz="2000" dirty="0" smtClean="0">
                <a:latin typeface="Calibri" pitchFamily="34" charset="0"/>
              </a:rPr>
              <a:t> and </a:t>
            </a:r>
            <a:r>
              <a:rPr lang="en-US" sz="2000" dirty="0" smtClean="0">
                <a:latin typeface="Courier New"/>
                <a:cs typeface="Courier New"/>
              </a:rPr>
              <a:t>x.1724</a:t>
            </a:r>
            <a:r>
              <a:rPr lang="en-US" sz="2000" dirty="0" smtClean="0">
                <a:latin typeface="Calibri" pitchFamily="34" charset="0"/>
              </a:rPr>
              <a:t>.</a:t>
            </a:r>
          </a:p>
          <a:p>
            <a:endParaRPr lang="en-US" sz="2000" dirty="0">
              <a:latin typeface="Calibri" pitchFamily="34" charset="0"/>
            </a:endParaRPr>
          </a:p>
          <a:p>
            <a:r>
              <a:rPr lang="en-US" sz="2000" dirty="0" smtClean="0">
                <a:latin typeface="Calibri" pitchFamily="34" charset="0"/>
              </a:rPr>
              <a:t>$ </a:t>
            </a:r>
            <a:r>
              <a:rPr lang="en-US" sz="2000" dirty="0" err="1" smtClean="0">
                <a:latin typeface="Calibri" pitchFamily="34" charset="0"/>
              </a:rPr>
              <a:t>objdump</a:t>
            </a:r>
            <a:r>
              <a:rPr lang="en-US" sz="2000" dirty="0" smtClean="0">
                <a:latin typeface="Calibri" pitchFamily="34" charset="0"/>
              </a:rPr>
              <a:t> </a:t>
            </a:r>
            <a:r>
              <a:rPr lang="mr-IN" sz="2000" dirty="0" smtClean="0">
                <a:latin typeface="Calibri" pitchFamily="34" charset="0"/>
              </a:rPr>
              <a:t>–</a:t>
            </a:r>
            <a:r>
              <a:rPr lang="en-US" sz="2000" dirty="0" smtClean="0">
                <a:latin typeface="Calibri" pitchFamily="34" charset="0"/>
              </a:rPr>
              <a:t>t static-</a:t>
            </a:r>
            <a:r>
              <a:rPr lang="en-US" sz="2000" dirty="0" err="1" smtClean="0">
                <a:latin typeface="Calibri" pitchFamily="34" charset="0"/>
              </a:rPr>
              <a:t>local.o</a:t>
            </a:r>
            <a:endParaRPr lang="en-US" sz="2000" dirty="0" smtClean="0">
              <a:latin typeface="Calibri" pitchFamily="34" charset="0"/>
            </a:endParaRPr>
          </a:p>
          <a:p>
            <a:r>
              <a:rPr lang="en-US" sz="2000" dirty="0" smtClean="0">
                <a:latin typeface="Calibri" pitchFamily="34" charset="0"/>
              </a:rPr>
              <a:t>$ </a:t>
            </a:r>
            <a:r>
              <a:rPr lang="en-US" sz="2000" dirty="0" err="1" smtClean="0">
                <a:latin typeface="Calibri" pitchFamily="34" charset="0"/>
              </a:rPr>
              <a:t>objdump</a:t>
            </a:r>
            <a:r>
              <a:rPr lang="en-US" sz="2000" dirty="0">
                <a:latin typeface="Calibri" pitchFamily="34" charset="0"/>
              </a:rPr>
              <a:t> </a:t>
            </a:r>
            <a:r>
              <a:rPr lang="mr-IN" sz="2000" dirty="0" smtClean="0">
                <a:latin typeface="Calibri" pitchFamily="34" charset="0"/>
              </a:rPr>
              <a:t>–</a:t>
            </a:r>
            <a:r>
              <a:rPr lang="en-US" sz="2000" dirty="0" err="1" smtClean="0">
                <a:latin typeface="Calibri" pitchFamily="34" charset="0"/>
              </a:rPr>
              <a:t>rd</a:t>
            </a:r>
            <a:r>
              <a:rPr lang="en-US" sz="2000" dirty="0" smtClean="0">
                <a:latin typeface="Calibri" pitchFamily="34" charset="0"/>
              </a:rPr>
              <a:t> static-</a:t>
            </a:r>
            <a:r>
              <a:rPr lang="en-US" sz="2000" dirty="0" err="1" smtClean="0">
                <a:latin typeface="Calibri" pitchFamily="34" charset="0"/>
              </a:rPr>
              <a:t>local.o</a:t>
            </a:r>
            <a:endParaRPr lang="en-US" sz="2000" dirty="0" smtClean="0">
              <a:latin typeface="Calibri" pitchFamily="34" charset="0"/>
            </a:endParaRPr>
          </a:p>
          <a:p>
            <a:endParaRPr lang="en-US" sz="2000" dirty="0" smtClean="0">
              <a:latin typeface="Calibri" pitchFamily="34" charset="0"/>
            </a:endParaRPr>
          </a:p>
        </p:txBody>
      </p:sp>
      <p:sp>
        <p:nvSpPr>
          <p:cNvPr id="6" name="Rectangle 3"/>
          <p:cNvSpPr>
            <a:spLocks noChangeArrowheads="1"/>
          </p:cNvSpPr>
          <p:nvPr/>
        </p:nvSpPr>
        <p:spPr bwMode="auto">
          <a:xfrm>
            <a:off x="1621392" y="6478338"/>
            <a:ext cx="2175470" cy="357663"/>
          </a:xfrm>
          <a:prstGeom prst="rect">
            <a:avLst/>
          </a:prstGeom>
          <a:noFill/>
          <a:ln w="3240">
            <a:noFill/>
            <a:miter lim="800000"/>
            <a:headEnd/>
            <a:tailEnd/>
          </a:ln>
          <a:effectLst/>
        </p:spPr>
        <p:txBody>
          <a:bodyPr wrap="none" lIns="90000" tIns="46800" rIns="90000" bIns="46800">
            <a:spAutoFit/>
          </a:bodyPr>
          <a:lstStyle/>
          <a:p>
            <a:pPr algn="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smtClean="0">
                <a:solidFill>
                  <a:schemeClr val="tx1">
                    <a:lumMod val="50000"/>
                    <a:lumOff val="50000"/>
                  </a:schemeClr>
                </a:solidFill>
                <a:latin typeface="Courier New" pitchFamily="49" charset="0"/>
                <a:ea typeface="msgothic" charset="0"/>
                <a:cs typeface="msgothic" charset="0"/>
              </a:rPr>
              <a:t>static-</a:t>
            </a:r>
            <a:r>
              <a:rPr lang="en-GB" sz="1800" b="1" i="1" err="1" smtClean="0">
                <a:solidFill>
                  <a:schemeClr val="tx1">
                    <a:lumMod val="50000"/>
                    <a:lumOff val="50000"/>
                  </a:schemeClr>
                </a:solidFill>
                <a:latin typeface="Courier New" pitchFamily="49" charset="0"/>
                <a:ea typeface="msgothic" charset="0"/>
                <a:cs typeface="msgothic" charset="0"/>
              </a:rPr>
              <a:t>local.c</a:t>
            </a:r>
            <a:endParaRPr lang="en-GB" sz="1800" b="1" i="1">
              <a:solidFill>
                <a:schemeClr val="tx1">
                  <a:lumMod val="50000"/>
                  <a:lumOff val="50000"/>
                </a:schemeClr>
              </a:solidFill>
              <a:latin typeface="Courier New" pitchFamily="49" charset="0"/>
              <a:ea typeface="msgothic" charset="0"/>
              <a:cs typeface="msgothic" charset="0"/>
            </a:endParaRPr>
          </a:p>
        </p:txBody>
      </p:sp>
    </p:spTree>
    <p:extLst>
      <p:ext uri="{BB962C8B-B14F-4D97-AF65-F5344CB8AC3E}">
        <p14:creationId xmlns:p14="http://schemas.microsoft.com/office/powerpoint/2010/main" val="339032146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
          <p:cNvSpPr>
            <a:spLocks noGrp="1" noChangeArrowheads="1"/>
          </p:cNvSpPr>
          <p:nvPr>
            <p:ph type="title" idx="4294967295"/>
          </p:nvPr>
        </p:nvSpPr>
        <p:spPr>
          <a:xfrm>
            <a:off x="440266" y="436562"/>
            <a:ext cx="8716962" cy="782638"/>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How Linker Resolves Duplicate Symbol Definitions</a:t>
            </a:r>
            <a:endParaRPr lang="en-GB"/>
          </a:p>
        </p:txBody>
      </p:sp>
      <p:sp>
        <p:nvSpPr>
          <p:cNvPr id="24578" name="Rectangle 2"/>
          <p:cNvSpPr>
            <a:spLocks noGrp="1" noChangeArrowheads="1"/>
          </p:cNvSpPr>
          <p:nvPr>
            <p:ph type="body" idx="1"/>
          </p:nvPr>
        </p:nvSpPr>
        <p:spPr>
          <a:xfrm>
            <a:off x="455613" y="1754188"/>
            <a:ext cx="8307387" cy="1446212"/>
          </a:xfrm>
          <a:ln/>
        </p:spPr>
        <p:txBody>
          <a:bodyPr/>
          <a:lstStyle/>
          <a:p>
            <a:pP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Program symbols are either </a:t>
            </a:r>
            <a:r>
              <a:rPr lang="en-GB" i="1" dirty="0"/>
              <a:t>strong</a:t>
            </a:r>
            <a:r>
              <a:rPr lang="en-GB" dirty="0"/>
              <a:t> or </a:t>
            </a:r>
            <a:r>
              <a:rPr lang="en-GB" i="1" dirty="0"/>
              <a:t>weak</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b="1" i="1" dirty="0">
                <a:solidFill>
                  <a:srgbClr val="C00000"/>
                </a:solidFill>
              </a:rPr>
              <a:t>S</a:t>
            </a:r>
            <a:r>
              <a:rPr lang="en-GB" b="1" i="1" dirty="0" smtClean="0">
                <a:solidFill>
                  <a:srgbClr val="C00000"/>
                </a:solidFill>
              </a:rPr>
              <a:t>trong</a:t>
            </a:r>
            <a:r>
              <a:rPr lang="en-GB" dirty="0"/>
              <a:t>: procedures and initialized </a:t>
            </a:r>
            <a:r>
              <a:rPr lang="en-GB" dirty="0" err="1"/>
              <a:t>globals</a:t>
            </a:r>
            <a:endParaRPr lang="en-GB" dirty="0"/>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b="1" i="1" dirty="0">
                <a:solidFill>
                  <a:srgbClr val="C00000"/>
                </a:solidFill>
              </a:rPr>
              <a:t>W</a:t>
            </a:r>
            <a:r>
              <a:rPr lang="en-GB" b="1" i="1" dirty="0" smtClean="0">
                <a:solidFill>
                  <a:srgbClr val="C00000"/>
                </a:solidFill>
              </a:rPr>
              <a:t>eak</a:t>
            </a:r>
            <a:r>
              <a:rPr lang="en-GB" dirty="0"/>
              <a:t>: uninitialized </a:t>
            </a:r>
            <a:r>
              <a:rPr lang="en-GB" dirty="0" err="1" smtClean="0"/>
              <a:t>globals</a:t>
            </a:r>
            <a:endParaRPr lang="en-GB" dirty="0" smtClean="0"/>
          </a:p>
          <a:p>
            <a:pPr lvl="2">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smtClean="0"/>
              <a:t>Or ones declared with specifier </a:t>
            </a:r>
            <a:r>
              <a:rPr lang="en-GB" b="1" dirty="0" smtClean="0">
                <a:latin typeface="Courier New" charset="0"/>
                <a:ea typeface="Courier New" charset="0"/>
                <a:cs typeface="Courier New" charset="0"/>
              </a:rPr>
              <a:t>extern</a:t>
            </a:r>
            <a:endParaRPr lang="en-GB" b="1" dirty="0">
              <a:latin typeface="Courier New" charset="0"/>
              <a:ea typeface="Courier New" charset="0"/>
              <a:cs typeface="Courier New" charset="0"/>
            </a:endParaRPr>
          </a:p>
        </p:txBody>
      </p:sp>
      <p:sp>
        <p:nvSpPr>
          <p:cNvPr id="24579" name="Rectangle 3"/>
          <p:cNvSpPr>
            <a:spLocks noChangeArrowheads="1"/>
          </p:cNvSpPr>
          <p:nvPr/>
        </p:nvSpPr>
        <p:spPr bwMode="auto">
          <a:xfrm>
            <a:off x="2470150" y="3893119"/>
            <a:ext cx="1560340" cy="1136081"/>
          </a:xfrm>
          <a:prstGeom prst="rect">
            <a:avLst/>
          </a:prstGeom>
          <a:solidFill>
            <a:srgbClr val="F6F5BD"/>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int foo=5;</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z="1800" b="1">
              <a:latin typeface="Courier New" pitchFamily="49" charset="0"/>
              <a:ea typeface="msgothic" charset="0"/>
              <a:cs typeface="msgothic" charset="0"/>
            </a:endParaRP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p1()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a:t>
            </a:r>
          </a:p>
        </p:txBody>
      </p:sp>
      <p:sp>
        <p:nvSpPr>
          <p:cNvPr id="24580" name="Rectangle 4"/>
          <p:cNvSpPr>
            <a:spLocks noChangeArrowheads="1"/>
          </p:cNvSpPr>
          <p:nvPr/>
        </p:nvSpPr>
        <p:spPr bwMode="auto">
          <a:xfrm>
            <a:off x="4981575" y="3893119"/>
            <a:ext cx="1284624" cy="1136081"/>
          </a:xfrm>
          <a:prstGeom prst="rect">
            <a:avLst/>
          </a:prstGeom>
          <a:solidFill>
            <a:srgbClr val="F6F5BD"/>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int foo;</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z="1800" b="1">
              <a:latin typeface="Courier New" pitchFamily="49" charset="0"/>
              <a:ea typeface="msgothic" charset="0"/>
              <a:cs typeface="msgothic" charset="0"/>
            </a:endParaRP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p2()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a:t>
            </a:r>
          </a:p>
        </p:txBody>
      </p:sp>
      <p:sp>
        <p:nvSpPr>
          <p:cNvPr id="24581" name="Rectangle 5"/>
          <p:cNvSpPr>
            <a:spLocks noChangeArrowheads="1"/>
          </p:cNvSpPr>
          <p:nvPr/>
        </p:nvSpPr>
        <p:spPr bwMode="auto">
          <a:xfrm>
            <a:off x="2462213" y="3523232"/>
            <a:ext cx="717550" cy="354012"/>
          </a:xfrm>
          <a:prstGeom prst="rect">
            <a:avLst/>
          </a:prstGeom>
          <a:noFill/>
          <a:ln w="3240">
            <a:solidFill>
              <a:srgbClr val="FFFFFF"/>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solidFill>
                  <a:srgbClr val="000000"/>
                </a:solidFill>
                <a:latin typeface="Courier New" pitchFamily="49" charset="0"/>
                <a:ea typeface="msgothic" charset="0"/>
                <a:cs typeface="msgothic" charset="0"/>
              </a:rPr>
              <a:t>p1.c</a:t>
            </a:r>
          </a:p>
        </p:txBody>
      </p:sp>
      <p:sp>
        <p:nvSpPr>
          <p:cNvPr id="24582" name="Rectangle 6"/>
          <p:cNvSpPr>
            <a:spLocks noChangeArrowheads="1"/>
          </p:cNvSpPr>
          <p:nvPr/>
        </p:nvSpPr>
        <p:spPr bwMode="auto">
          <a:xfrm>
            <a:off x="4976813" y="3523232"/>
            <a:ext cx="717550" cy="354012"/>
          </a:xfrm>
          <a:prstGeom prst="rect">
            <a:avLst/>
          </a:prstGeom>
          <a:noFill/>
          <a:ln w="3240">
            <a:solidFill>
              <a:srgbClr val="FFFFFF"/>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solidFill>
                  <a:srgbClr val="000000"/>
                </a:solidFill>
                <a:latin typeface="Courier New" pitchFamily="49" charset="0"/>
                <a:ea typeface="msgothic" charset="0"/>
                <a:cs typeface="msgothic" charset="0"/>
              </a:rPr>
              <a:t>p2.c</a:t>
            </a:r>
          </a:p>
        </p:txBody>
      </p:sp>
      <p:sp>
        <p:nvSpPr>
          <p:cNvPr id="24583" name="Text Box 7"/>
          <p:cNvSpPr txBox="1">
            <a:spLocks noChangeArrowheads="1"/>
          </p:cNvSpPr>
          <p:nvPr/>
        </p:nvSpPr>
        <p:spPr bwMode="auto">
          <a:xfrm>
            <a:off x="7242175" y="4391593"/>
            <a:ext cx="785513" cy="3659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solidFill>
                  <a:srgbClr val="990000"/>
                </a:solidFill>
                <a:latin typeface="Calibri" pitchFamily="34" charset="0"/>
                <a:ea typeface="msgothic" charset="0"/>
                <a:cs typeface="msgothic" charset="0"/>
              </a:rPr>
              <a:t>strong</a:t>
            </a:r>
          </a:p>
        </p:txBody>
      </p:sp>
      <p:sp>
        <p:nvSpPr>
          <p:cNvPr id="24584" name="Line 8"/>
          <p:cNvSpPr>
            <a:spLocks noChangeShapeType="1"/>
          </p:cNvSpPr>
          <p:nvPr/>
        </p:nvSpPr>
        <p:spPr bwMode="auto">
          <a:xfrm flipH="1">
            <a:off x="6327775" y="4572000"/>
            <a:ext cx="917575" cy="1588"/>
          </a:xfrm>
          <a:prstGeom prst="line">
            <a:avLst/>
          </a:prstGeom>
          <a:noFill/>
          <a:ln w="25560">
            <a:solidFill>
              <a:srgbClr val="990000"/>
            </a:solidFill>
            <a:miter lim="800000"/>
            <a:headEnd/>
            <a:tailEnd type="triangle" w="med" len="med"/>
          </a:ln>
          <a:effectLst/>
        </p:spPr>
        <p:txBody>
          <a:bodyPr/>
          <a:lstStyle/>
          <a:p>
            <a:endParaRPr lang="en-US">
              <a:solidFill>
                <a:srgbClr val="990000"/>
              </a:solidFill>
            </a:endParaRPr>
          </a:p>
        </p:txBody>
      </p:sp>
      <p:sp>
        <p:nvSpPr>
          <p:cNvPr id="24585" name="Text Box 9"/>
          <p:cNvSpPr txBox="1">
            <a:spLocks noChangeArrowheads="1"/>
          </p:cNvSpPr>
          <p:nvPr/>
        </p:nvSpPr>
        <p:spPr bwMode="auto">
          <a:xfrm>
            <a:off x="7242175" y="3883594"/>
            <a:ext cx="691321" cy="3659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solidFill>
                  <a:srgbClr val="990000"/>
                </a:solidFill>
                <a:latin typeface="Calibri" pitchFamily="34" charset="0"/>
                <a:ea typeface="msgothic" charset="0"/>
                <a:cs typeface="msgothic" charset="0"/>
              </a:rPr>
              <a:t>weak</a:t>
            </a:r>
          </a:p>
        </p:txBody>
      </p:sp>
      <p:sp>
        <p:nvSpPr>
          <p:cNvPr id="24586" name="Line 10"/>
          <p:cNvSpPr>
            <a:spLocks noChangeShapeType="1"/>
          </p:cNvSpPr>
          <p:nvPr/>
        </p:nvSpPr>
        <p:spPr bwMode="auto">
          <a:xfrm flipH="1">
            <a:off x="6324600" y="4070877"/>
            <a:ext cx="917575" cy="1588"/>
          </a:xfrm>
          <a:prstGeom prst="line">
            <a:avLst/>
          </a:prstGeom>
          <a:noFill/>
          <a:ln w="25560">
            <a:solidFill>
              <a:srgbClr val="990000"/>
            </a:solidFill>
            <a:miter lim="800000"/>
            <a:headEnd/>
            <a:tailEnd type="triangle" w="med" len="med"/>
          </a:ln>
          <a:effectLst/>
        </p:spPr>
        <p:txBody>
          <a:bodyPr/>
          <a:lstStyle/>
          <a:p>
            <a:endParaRPr lang="en-US">
              <a:solidFill>
                <a:srgbClr val="990000"/>
              </a:solidFill>
            </a:endParaRPr>
          </a:p>
        </p:txBody>
      </p:sp>
      <p:sp>
        <p:nvSpPr>
          <p:cNvPr id="24587" name="Text Box 11"/>
          <p:cNvSpPr txBox="1">
            <a:spLocks noChangeArrowheads="1"/>
          </p:cNvSpPr>
          <p:nvPr/>
        </p:nvSpPr>
        <p:spPr bwMode="auto">
          <a:xfrm>
            <a:off x="704850" y="4431282"/>
            <a:ext cx="785513" cy="3659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solidFill>
                  <a:srgbClr val="990000"/>
                </a:solidFill>
                <a:latin typeface="Calibri" pitchFamily="34" charset="0"/>
                <a:ea typeface="msgothic" charset="0"/>
                <a:cs typeface="msgothic" charset="0"/>
              </a:rPr>
              <a:t>strong</a:t>
            </a:r>
          </a:p>
        </p:txBody>
      </p:sp>
      <p:sp>
        <p:nvSpPr>
          <p:cNvPr id="24588" name="Line 12"/>
          <p:cNvSpPr>
            <a:spLocks noChangeShapeType="1"/>
          </p:cNvSpPr>
          <p:nvPr/>
        </p:nvSpPr>
        <p:spPr bwMode="auto">
          <a:xfrm flipH="1">
            <a:off x="1520825" y="4645594"/>
            <a:ext cx="917575" cy="1588"/>
          </a:xfrm>
          <a:prstGeom prst="line">
            <a:avLst/>
          </a:prstGeom>
          <a:noFill/>
          <a:ln w="25560">
            <a:solidFill>
              <a:srgbClr val="990000"/>
            </a:solidFill>
            <a:miter lim="800000"/>
            <a:headEnd type="triangle" w="med" len="med"/>
            <a:tailEnd/>
          </a:ln>
          <a:effectLst/>
        </p:spPr>
        <p:txBody>
          <a:bodyPr/>
          <a:lstStyle/>
          <a:p>
            <a:endParaRPr lang="en-US"/>
          </a:p>
        </p:txBody>
      </p:sp>
      <p:sp>
        <p:nvSpPr>
          <p:cNvPr id="24589" name="Text Box 13"/>
          <p:cNvSpPr txBox="1">
            <a:spLocks noChangeArrowheads="1"/>
          </p:cNvSpPr>
          <p:nvPr/>
        </p:nvSpPr>
        <p:spPr bwMode="auto">
          <a:xfrm>
            <a:off x="704850" y="3889415"/>
            <a:ext cx="785513" cy="3659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solidFill>
                  <a:srgbClr val="990000"/>
                </a:solidFill>
                <a:latin typeface="Calibri" pitchFamily="34" charset="0"/>
                <a:ea typeface="msgothic" charset="0"/>
                <a:cs typeface="msgothic" charset="0"/>
              </a:rPr>
              <a:t>strong</a:t>
            </a:r>
          </a:p>
        </p:txBody>
      </p:sp>
      <p:sp>
        <p:nvSpPr>
          <p:cNvPr id="24590" name="Line 14"/>
          <p:cNvSpPr>
            <a:spLocks noChangeShapeType="1"/>
          </p:cNvSpPr>
          <p:nvPr/>
        </p:nvSpPr>
        <p:spPr bwMode="auto">
          <a:xfrm flipH="1">
            <a:off x="1520825" y="4072468"/>
            <a:ext cx="917575" cy="1588"/>
          </a:xfrm>
          <a:prstGeom prst="line">
            <a:avLst/>
          </a:prstGeom>
          <a:noFill/>
          <a:ln w="25560">
            <a:solidFill>
              <a:srgbClr val="990000"/>
            </a:solidFill>
            <a:miter lim="800000"/>
            <a:headEnd type="triangle" w="med" len="med"/>
            <a:tailEnd/>
          </a:ln>
          <a:effectLst/>
        </p:spPr>
        <p:txBody>
          <a:bodyPr/>
          <a:lstStyle/>
          <a:p>
            <a:endParaRPr lang="en-US"/>
          </a:p>
        </p:txBody>
      </p:sp>
    </p:spTree>
    <p:extLst>
      <p:ext uri="{BB962C8B-B14F-4D97-AF65-F5344CB8AC3E}">
        <p14:creationId xmlns:p14="http://schemas.microsoft.com/office/powerpoint/2010/main" val="4203072457"/>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8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59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58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58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58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58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58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5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3" grpId="0"/>
      <p:bldP spid="24584" grpId="0" animBg="1"/>
      <p:bldP spid="24585" grpId="0"/>
      <p:bldP spid="24586" grpId="0" animBg="1"/>
      <p:bldP spid="24587" grpId="0"/>
      <p:bldP spid="24588" grpId="0" animBg="1"/>
      <p:bldP spid="24589" grpId="0"/>
      <p:bldP spid="2459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1"/>
          <p:cNvSpPr>
            <a:spLocks noGrp="1" noChangeArrowheads="1"/>
          </p:cNvSpPr>
          <p:nvPr>
            <p:ph type="title" idx="4294967295"/>
          </p:nvPr>
        </p:nvSpPr>
        <p:spPr>
          <a:xfrm>
            <a:off x="379412" y="436562"/>
            <a:ext cx="8716962" cy="782638"/>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Linker’s Symbol Rules</a:t>
            </a:r>
          </a:p>
        </p:txBody>
      </p:sp>
      <p:sp>
        <p:nvSpPr>
          <p:cNvPr id="25602" name="Rectangle 2"/>
          <p:cNvSpPr>
            <a:spLocks noGrp="1" noChangeArrowheads="1"/>
          </p:cNvSpPr>
          <p:nvPr>
            <p:ph type="body" idx="1"/>
          </p:nvPr>
        </p:nvSpPr>
        <p:spPr>
          <a:xfrm>
            <a:off x="381000" y="1371600"/>
            <a:ext cx="8307387" cy="5224462"/>
          </a:xfrm>
          <a:ln/>
        </p:spPr>
        <p:txBody>
          <a:bodyPr/>
          <a:lstStyle/>
          <a:p>
            <a:pP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Rule </a:t>
            </a:r>
            <a:r>
              <a:rPr lang="en-GB" smtClean="0"/>
              <a:t>1: Multiple strong symbols are not allowed</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mtClean="0"/>
              <a:t>Each </a:t>
            </a:r>
            <a:r>
              <a:rPr lang="en-GB"/>
              <a:t>item can be defined only </a:t>
            </a:r>
            <a:r>
              <a:rPr lang="en-GB" smtClean="0"/>
              <a:t>once</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mtClean="0"/>
              <a:t>Otherwise: Linker error</a:t>
            </a:r>
            <a:endParaRPr lang="en-GB"/>
          </a:p>
          <a:p>
            <a:pPr>
              <a:buFont typeface="Wingdings" charset="2"/>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a:p>
          <a:p>
            <a:pP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Rule </a:t>
            </a:r>
            <a:r>
              <a:rPr lang="en-GB" smtClean="0"/>
              <a:t>2: Given a strong symbol and multiple weak symbols, choose the strong symbol</a:t>
            </a:r>
            <a:endParaRPr lang="en-GB"/>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R</a:t>
            </a:r>
            <a:r>
              <a:rPr lang="en-GB" smtClean="0"/>
              <a:t>eferences </a:t>
            </a:r>
            <a:r>
              <a:rPr lang="en-GB"/>
              <a:t>to the weak symbol resolve to the strong </a:t>
            </a:r>
            <a:r>
              <a:rPr lang="en-GB" smtClean="0"/>
              <a:t>symbol</a:t>
            </a:r>
            <a:endParaRPr lang="en-GB"/>
          </a:p>
          <a:p>
            <a:pPr>
              <a:buFont typeface="Wingdings" charset="2"/>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a:p>
          <a:p>
            <a:pP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Rule </a:t>
            </a:r>
            <a:r>
              <a:rPr lang="en-GB" smtClean="0"/>
              <a:t>3: </a:t>
            </a:r>
            <a:r>
              <a:rPr lang="en-GB"/>
              <a:t>If there are multiple weak symbols, </a:t>
            </a:r>
            <a:r>
              <a:rPr lang="en-GB" smtClean="0"/>
              <a:t>pick </a:t>
            </a:r>
            <a:r>
              <a:rPr lang="en-GB"/>
              <a:t>an arbitrary </a:t>
            </a:r>
            <a:r>
              <a:rPr lang="en-GB" smtClean="0"/>
              <a:t>one</a:t>
            </a:r>
            <a:endParaRPr lang="en-GB"/>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Can override this with </a:t>
            </a:r>
            <a:r>
              <a:rPr lang="en-GB" b="1" err="1">
                <a:latin typeface="Courier New" pitchFamily="49" charset="0"/>
              </a:rPr>
              <a:t>gcc</a:t>
            </a:r>
            <a:r>
              <a:rPr lang="en-GB" b="1">
                <a:latin typeface="Courier New" pitchFamily="49" charset="0"/>
              </a:rPr>
              <a:t> –</a:t>
            </a:r>
            <a:r>
              <a:rPr lang="en-GB" b="1" err="1" smtClean="0">
                <a:latin typeface="Courier New" pitchFamily="49" charset="0"/>
              </a:rPr>
              <a:t>fno</a:t>
            </a:r>
            <a:r>
              <a:rPr lang="en-GB" b="1" smtClean="0">
                <a:latin typeface="Courier New" pitchFamily="49" charset="0"/>
              </a:rPr>
              <a:t>-common</a:t>
            </a:r>
          </a:p>
          <a:p>
            <a:pP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a:latin typeface="Courier New" pitchFamily="49" charset="0"/>
            </a:endParaRPr>
          </a:p>
          <a:p>
            <a:pP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b="1" smtClean="0"/>
              <a:t>Puzzles on the next slide</a:t>
            </a:r>
            <a:endParaRPr lang="en-GB" b="1"/>
          </a:p>
          <a:p>
            <a:pPr>
              <a:buFont typeface="Wingdings" charset="2"/>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	</a:t>
            </a:r>
          </a:p>
        </p:txBody>
      </p:sp>
    </p:spTree>
    <p:extLst>
      <p:ext uri="{BB962C8B-B14F-4D97-AF65-F5344CB8AC3E}">
        <p14:creationId xmlns:p14="http://schemas.microsoft.com/office/powerpoint/2010/main" val="1783127732"/>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2">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602">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602">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60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p:cNvSpPr/>
          <p:nvPr/>
        </p:nvSpPr>
        <p:spPr bwMode="auto">
          <a:xfrm>
            <a:off x="0" y="3962400"/>
            <a:ext cx="9144000" cy="1103841"/>
          </a:xfrm>
          <a:prstGeom prst="rect">
            <a:avLst/>
          </a:prstGeom>
          <a:solidFill>
            <a:schemeClr val="bg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mtClean="0">
              <a:latin typeface="Calibri" pitchFamily="34" charset="0"/>
            </a:endParaRPr>
          </a:p>
        </p:txBody>
      </p:sp>
      <p:sp>
        <p:nvSpPr>
          <p:cNvPr id="24" name="Rectangle 23"/>
          <p:cNvSpPr/>
          <p:nvPr/>
        </p:nvSpPr>
        <p:spPr bwMode="auto">
          <a:xfrm>
            <a:off x="0" y="1879599"/>
            <a:ext cx="9144000" cy="1098550"/>
          </a:xfrm>
          <a:prstGeom prst="rect">
            <a:avLst/>
          </a:prstGeom>
          <a:solidFill>
            <a:schemeClr val="bg2">
              <a:lumMod val="20000"/>
              <a:lumOff val="80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smtClean="0">
              <a:latin typeface="Calibri" pitchFamily="34" charset="0"/>
            </a:endParaRPr>
          </a:p>
        </p:txBody>
      </p:sp>
      <p:sp>
        <p:nvSpPr>
          <p:cNvPr id="26625" name="Rectangle 1"/>
          <p:cNvSpPr>
            <a:spLocks noGrp="1" noChangeArrowheads="1"/>
          </p:cNvSpPr>
          <p:nvPr>
            <p:ph type="title" idx="4294967295"/>
          </p:nvPr>
        </p:nvSpPr>
        <p:spPr>
          <a:xfrm>
            <a:off x="427038" y="284162"/>
            <a:ext cx="8716962" cy="782638"/>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Linker Puzzles</a:t>
            </a:r>
          </a:p>
        </p:txBody>
      </p:sp>
      <p:sp>
        <p:nvSpPr>
          <p:cNvPr id="26626" name="Text Box 2"/>
          <p:cNvSpPr txBox="1">
            <a:spLocks noChangeArrowheads="1"/>
          </p:cNvSpPr>
          <p:nvPr/>
        </p:nvSpPr>
        <p:spPr bwMode="auto">
          <a:xfrm>
            <a:off x="533400" y="2165350"/>
            <a:ext cx="1045777" cy="557461"/>
          </a:xfrm>
          <a:prstGeom prst="rect">
            <a:avLst/>
          </a:prstGeom>
          <a:solidFill>
            <a:srgbClr val="F6F5BD"/>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int x;</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p1() {}</a:t>
            </a:r>
          </a:p>
        </p:txBody>
      </p:sp>
      <p:sp>
        <p:nvSpPr>
          <p:cNvPr id="26627" name="Text Box 3"/>
          <p:cNvSpPr txBox="1">
            <a:spLocks noChangeArrowheads="1"/>
          </p:cNvSpPr>
          <p:nvPr/>
        </p:nvSpPr>
        <p:spPr bwMode="auto">
          <a:xfrm>
            <a:off x="1983961" y="2165350"/>
            <a:ext cx="1045777" cy="557461"/>
          </a:xfrm>
          <a:prstGeom prst="rect">
            <a:avLst/>
          </a:prstGeom>
          <a:solidFill>
            <a:srgbClr val="F6F5BD"/>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int x;</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p2() {}</a:t>
            </a:r>
          </a:p>
        </p:txBody>
      </p:sp>
      <p:sp>
        <p:nvSpPr>
          <p:cNvPr id="26628" name="Text Box 4"/>
          <p:cNvSpPr txBox="1">
            <a:spLocks noChangeArrowheads="1"/>
          </p:cNvSpPr>
          <p:nvPr/>
        </p:nvSpPr>
        <p:spPr bwMode="auto">
          <a:xfrm>
            <a:off x="533400" y="3079750"/>
            <a:ext cx="1045777" cy="788935"/>
          </a:xfrm>
          <a:prstGeom prst="rect">
            <a:avLst/>
          </a:prstGeom>
          <a:solidFill>
            <a:srgbClr val="F6F5BD"/>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int x;</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int y;</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p1() {}</a:t>
            </a:r>
          </a:p>
        </p:txBody>
      </p:sp>
      <p:sp>
        <p:nvSpPr>
          <p:cNvPr id="26629" name="Text Box 5"/>
          <p:cNvSpPr txBox="1">
            <a:spLocks noChangeArrowheads="1"/>
          </p:cNvSpPr>
          <p:nvPr/>
        </p:nvSpPr>
        <p:spPr bwMode="auto">
          <a:xfrm>
            <a:off x="1983961" y="3079750"/>
            <a:ext cx="1292639" cy="557461"/>
          </a:xfrm>
          <a:prstGeom prst="rect">
            <a:avLst/>
          </a:prstGeom>
          <a:solidFill>
            <a:srgbClr val="F6F5BD"/>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double x;</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p2() {}</a:t>
            </a:r>
          </a:p>
        </p:txBody>
      </p:sp>
      <p:sp>
        <p:nvSpPr>
          <p:cNvPr id="26630" name="Text Box 6"/>
          <p:cNvSpPr txBox="1">
            <a:spLocks noChangeArrowheads="1"/>
          </p:cNvSpPr>
          <p:nvPr/>
        </p:nvSpPr>
        <p:spPr bwMode="auto">
          <a:xfrm>
            <a:off x="533400" y="4129088"/>
            <a:ext cx="1169208" cy="788935"/>
          </a:xfrm>
          <a:prstGeom prst="rect">
            <a:avLst/>
          </a:prstGeom>
          <a:solidFill>
            <a:srgbClr val="F6F5BD"/>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int x=7;</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int y=5;</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p1() {}</a:t>
            </a:r>
          </a:p>
        </p:txBody>
      </p:sp>
      <p:sp>
        <p:nvSpPr>
          <p:cNvPr id="26631" name="Text Box 7"/>
          <p:cNvSpPr txBox="1">
            <a:spLocks noChangeArrowheads="1"/>
          </p:cNvSpPr>
          <p:nvPr/>
        </p:nvSpPr>
        <p:spPr bwMode="auto">
          <a:xfrm>
            <a:off x="1983961" y="4129088"/>
            <a:ext cx="1292639" cy="557461"/>
          </a:xfrm>
          <a:prstGeom prst="rect">
            <a:avLst/>
          </a:prstGeom>
          <a:solidFill>
            <a:srgbClr val="F6F5BD"/>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double x;</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p2() {}</a:t>
            </a:r>
          </a:p>
        </p:txBody>
      </p:sp>
      <p:sp>
        <p:nvSpPr>
          <p:cNvPr id="26632" name="Text Box 8"/>
          <p:cNvSpPr txBox="1">
            <a:spLocks noChangeArrowheads="1"/>
          </p:cNvSpPr>
          <p:nvPr/>
        </p:nvSpPr>
        <p:spPr bwMode="auto">
          <a:xfrm>
            <a:off x="533400" y="5195888"/>
            <a:ext cx="1169208" cy="557461"/>
          </a:xfrm>
          <a:prstGeom prst="rect">
            <a:avLst/>
          </a:prstGeom>
          <a:solidFill>
            <a:srgbClr val="F6F5BD"/>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int x=7;</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p1() {}</a:t>
            </a:r>
          </a:p>
        </p:txBody>
      </p:sp>
      <p:sp>
        <p:nvSpPr>
          <p:cNvPr id="26633" name="Text Box 9"/>
          <p:cNvSpPr txBox="1">
            <a:spLocks noChangeArrowheads="1"/>
          </p:cNvSpPr>
          <p:nvPr/>
        </p:nvSpPr>
        <p:spPr bwMode="auto">
          <a:xfrm>
            <a:off x="1983961" y="5195888"/>
            <a:ext cx="1045777" cy="557461"/>
          </a:xfrm>
          <a:prstGeom prst="rect">
            <a:avLst/>
          </a:prstGeom>
          <a:solidFill>
            <a:srgbClr val="F6F5BD"/>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int x;</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p2() {}</a:t>
            </a:r>
          </a:p>
        </p:txBody>
      </p:sp>
      <p:sp>
        <p:nvSpPr>
          <p:cNvPr id="26634" name="Text Box 10"/>
          <p:cNvSpPr txBox="1">
            <a:spLocks noChangeArrowheads="1"/>
          </p:cNvSpPr>
          <p:nvPr/>
        </p:nvSpPr>
        <p:spPr bwMode="auto">
          <a:xfrm>
            <a:off x="533400" y="1174750"/>
            <a:ext cx="1045777" cy="557461"/>
          </a:xfrm>
          <a:prstGeom prst="rect">
            <a:avLst/>
          </a:prstGeom>
          <a:solidFill>
            <a:srgbClr val="F6F5BD"/>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int x;</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p1() {}</a:t>
            </a:r>
          </a:p>
        </p:txBody>
      </p:sp>
      <p:sp>
        <p:nvSpPr>
          <p:cNvPr id="26635" name="Text Box 11"/>
          <p:cNvSpPr txBox="1">
            <a:spLocks noChangeArrowheads="1"/>
          </p:cNvSpPr>
          <p:nvPr/>
        </p:nvSpPr>
        <p:spPr bwMode="auto">
          <a:xfrm>
            <a:off x="1983961" y="1174750"/>
            <a:ext cx="1045777" cy="557461"/>
          </a:xfrm>
          <a:prstGeom prst="rect">
            <a:avLst/>
          </a:prstGeom>
          <a:solidFill>
            <a:srgbClr val="F6F5BD"/>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z="1600" b="1">
              <a:latin typeface="Courier New" pitchFamily="49" charset="0"/>
              <a:ea typeface="msgothic" charset="0"/>
              <a:cs typeface="msgothic" charset="0"/>
            </a:endParaRP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p1() {}</a:t>
            </a:r>
          </a:p>
        </p:txBody>
      </p:sp>
      <p:sp>
        <p:nvSpPr>
          <p:cNvPr id="26636" name="Text Box 12"/>
          <p:cNvSpPr txBox="1">
            <a:spLocks noChangeArrowheads="1"/>
          </p:cNvSpPr>
          <p:nvPr/>
        </p:nvSpPr>
        <p:spPr bwMode="auto">
          <a:xfrm>
            <a:off x="3819525" y="1304925"/>
            <a:ext cx="4047431" cy="3659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0">
                <a:latin typeface="Calibri" pitchFamily="34" charset="0"/>
                <a:ea typeface="msgothic" charset="0"/>
                <a:cs typeface="msgothic" charset="0"/>
              </a:rPr>
              <a:t>Link time error: two strong symbols (</a:t>
            </a:r>
            <a:r>
              <a:rPr lang="en-GB" sz="1800">
                <a:latin typeface="Courier New" pitchFamily="49" charset="0"/>
                <a:ea typeface="msgothic" charset="0"/>
                <a:cs typeface="msgothic" charset="0"/>
              </a:rPr>
              <a:t>p1</a:t>
            </a:r>
            <a:r>
              <a:rPr lang="en-GB" sz="1800" b="0">
                <a:latin typeface="Calibri" pitchFamily="34" charset="0"/>
                <a:ea typeface="msgothic" charset="0"/>
                <a:cs typeface="msgothic" charset="0"/>
              </a:rPr>
              <a:t>)</a:t>
            </a:r>
          </a:p>
        </p:txBody>
      </p:sp>
      <p:sp>
        <p:nvSpPr>
          <p:cNvPr id="26637" name="Text Box 13"/>
          <p:cNvSpPr txBox="1">
            <a:spLocks noChangeArrowheads="1"/>
          </p:cNvSpPr>
          <p:nvPr/>
        </p:nvSpPr>
        <p:spPr bwMode="auto">
          <a:xfrm>
            <a:off x="3794125" y="2159000"/>
            <a:ext cx="4397079" cy="637483"/>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0">
                <a:latin typeface="Calibri" pitchFamily="34" charset="0"/>
                <a:ea typeface="msgothic" charset="0"/>
                <a:cs typeface="msgothic" charset="0"/>
              </a:rPr>
              <a:t>References to  </a:t>
            </a:r>
            <a:r>
              <a:rPr lang="en-GB" sz="1800">
                <a:latin typeface="Courier New" pitchFamily="49" charset="0"/>
                <a:ea typeface="msgothic" charset="0"/>
                <a:cs typeface="msgothic" charset="0"/>
              </a:rPr>
              <a:t>x</a:t>
            </a:r>
            <a:r>
              <a:rPr lang="en-GB" sz="1800" b="0">
                <a:latin typeface="Calibri" pitchFamily="34" charset="0"/>
                <a:ea typeface="msgothic" charset="0"/>
                <a:cs typeface="msgothic" charset="0"/>
              </a:rPr>
              <a:t> will refer to the same </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0">
                <a:latin typeface="Calibri" pitchFamily="34" charset="0"/>
                <a:ea typeface="msgothic" charset="0"/>
                <a:cs typeface="msgothic" charset="0"/>
              </a:rPr>
              <a:t>uninitialized int. Is this what you really want?</a:t>
            </a:r>
          </a:p>
        </p:txBody>
      </p:sp>
      <p:sp>
        <p:nvSpPr>
          <p:cNvPr id="26638" name="Text Box 14"/>
          <p:cNvSpPr txBox="1">
            <a:spLocks noChangeArrowheads="1"/>
          </p:cNvSpPr>
          <p:nvPr/>
        </p:nvSpPr>
        <p:spPr bwMode="auto">
          <a:xfrm>
            <a:off x="3824287" y="3194050"/>
            <a:ext cx="3611671" cy="637483"/>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0">
                <a:latin typeface="Calibri" pitchFamily="34" charset="0"/>
                <a:ea typeface="msgothic" charset="0"/>
                <a:cs typeface="msgothic" charset="0"/>
              </a:rPr>
              <a:t>Writes to </a:t>
            </a:r>
            <a:r>
              <a:rPr lang="en-GB" sz="1800">
                <a:latin typeface="Courier New" pitchFamily="49" charset="0"/>
                <a:ea typeface="msgothic" charset="0"/>
                <a:cs typeface="msgothic" charset="0"/>
              </a:rPr>
              <a:t>x</a:t>
            </a:r>
            <a:r>
              <a:rPr lang="en-GB" sz="1800" b="0">
                <a:latin typeface="Calibri" pitchFamily="34" charset="0"/>
                <a:ea typeface="msgothic" charset="0"/>
                <a:cs typeface="msgothic" charset="0"/>
              </a:rPr>
              <a:t> in </a:t>
            </a:r>
            <a:r>
              <a:rPr lang="en-GB" sz="1800">
                <a:latin typeface="Courier New" pitchFamily="49" charset="0"/>
                <a:ea typeface="msgothic" charset="0"/>
                <a:cs typeface="msgothic" charset="0"/>
              </a:rPr>
              <a:t>p2</a:t>
            </a:r>
            <a:r>
              <a:rPr lang="en-GB" sz="1800" b="0">
                <a:latin typeface="Calibri" pitchFamily="34" charset="0"/>
                <a:ea typeface="msgothic" charset="0"/>
                <a:cs typeface="msgothic" charset="0"/>
              </a:rPr>
              <a:t> might overwrite </a:t>
            </a:r>
            <a:r>
              <a:rPr lang="en-GB" sz="1800">
                <a:latin typeface="Courier New" pitchFamily="49" charset="0"/>
                <a:ea typeface="msgothic" charset="0"/>
                <a:cs typeface="msgothic" charset="0"/>
              </a:rPr>
              <a:t>y</a:t>
            </a:r>
            <a:r>
              <a:rPr lang="en-GB" sz="1800" b="0">
                <a:latin typeface="Calibri" pitchFamily="34" charset="0"/>
                <a:ea typeface="msgothic" charset="0"/>
                <a:cs typeface="msgothic" charset="0"/>
              </a:rPr>
              <a:t>!</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0">
                <a:latin typeface="Calibri" pitchFamily="34" charset="0"/>
                <a:ea typeface="msgothic" charset="0"/>
                <a:cs typeface="msgothic" charset="0"/>
              </a:rPr>
              <a:t>Evil!</a:t>
            </a:r>
          </a:p>
        </p:txBody>
      </p:sp>
      <p:sp>
        <p:nvSpPr>
          <p:cNvPr id="26639" name="Text Box 15"/>
          <p:cNvSpPr txBox="1">
            <a:spLocks noChangeArrowheads="1"/>
          </p:cNvSpPr>
          <p:nvPr/>
        </p:nvSpPr>
        <p:spPr bwMode="auto">
          <a:xfrm>
            <a:off x="3829050" y="4140200"/>
            <a:ext cx="3477532" cy="637483"/>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0">
                <a:latin typeface="Calibri" pitchFamily="34" charset="0"/>
                <a:ea typeface="msgothic" charset="0"/>
                <a:cs typeface="msgothic" charset="0"/>
              </a:rPr>
              <a:t>Writes to </a:t>
            </a:r>
            <a:r>
              <a:rPr lang="en-GB" sz="1800">
                <a:latin typeface="Courier New" pitchFamily="49" charset="0"/>
                <a:ea typeface="msgothic" charset="0"/>
                <a:cs typeface="msgothic" charset="0"/>
              </a:rPr>
              <a:t>x</a:t>
            </a:r>
            <a:r>
              <a:rPr lang="en-GB" sz="1800" b="0">
                <a:latin typeface="Calibri" pitchFamily="34" charset="0"/>
                <a:ea typeface="msgothic" charset="0"/>
                <a:cs typeface="msgothic" charset="0"/>
              </a:rPr>
              <a:t> in </a:t>
            </a:r>
            <a:r>
              <a:rPr lang="en-GB" sz="1800" smtClean="0">
                <a:latin typeface="Courier New" pitchFamily="49" charset="0"/>
                <a:ea typeface="msgothic" charset="0"/>
                <a:cs typeface="msgothic" charset="0"/>
              </a:rPr>
              <a:t>p2</a:t>
            </a:r>
            <a:r>
              <a:rPr lang="en-GB" sz="1800" b="0">
                <a:latin typeface="Courier New" pitchFamily="49" charset="0"/>
                <a:ea typeface="msgothic" charset="0"/>
                <a:cs typeface="msgothic" charset="0"/>
              </a:rPr>
              <a:t> </a:t>
            </a:r>
            <a:r>
              <a:rPr lang="en-GB" sz="1800" b="0" smtClean="0">
                <a:latin typeface="Calibri" pitchFamily="34" charset="0"/>
                <a:ea typeface="msgothic" charset="0"/>
                <a:cs typeface="msgothic" charset="0"/>
              </a:rPr>
              <a:t>will </a:t>
            </a:r>
            <a:r>
              <a:rPr lang="en-GB" sz="1800" b="0">
                <a:latin typeface="Calibri" pitchFamily="34" charset="0"/>
                <a:ea typeface="msgothic" charset="0"/>
                <a:cs typeface="msgothic" charset="0"/>
              </a:rPr>
              <a:t>overwrite </a:t>
            </a:r>
            <a:r>
              <a:rPr lang="en-GB" sz="1800">
                <a:latin typeface="Courier New" pitchFamily="49" charset="0"/>
                <a:ea typeface="msgothic" charset="0"/>
                <a:cs typeface="msgothic" charset="0"/>
              </a:rPr>
              <a:t>y</a:t>
            </a:r>
            <a:r>
              <a:rPr lang="en-GB" sz="1800" b="0">
                <a:latin typeface="Calibri" pitchFamily="34" charset="0"/>
                <a:ea typeface="msgothic" charset="0"/>
                <a:cs typeface="msgothic" charset="0"/>
              </a:rPr>
              <a:t>!</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0">
                <a:latin typeface="Calibri" pitchFamily="34" charset="0"/>
                <a:ea typeface="msgothic" charset="0"/>
                <a:cs typeface="msgothic" charset="0"/>
              </a:rPr>
              <a:t>Nasty! </a:t>
            </a:r>
          </a:p>
        </p:txBody>
      </p:sp>
      <p:sp>
        <p:nvSpPr>
          <p:cNvPr id="26641" name="Text Box 17"/>
          <p:cNvSpPr txBox="1">
            <a:spLocks noChangeArrowheads="1"/>
          </p:cNvSpPr>
          <p:nvPr/>
        </p:nvSpPr>
        <p:spPr bwMode="auto">
          <a:xfrm>
            <a:off x="440266" y="6051550"/>
            <a:ext cx="4459467" cy="3659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smtClean="0">
                <a:latin typeface="Calibri" pitchFamily="34" charset="0"/>
                <a:ea typeface="msgothic" charset="0"/>
                <a:cs typeface="msgothic" charset="0"/>
              </a:rPr>
              <a:t>Important: Linker does not do type checking.</a:t>
            </a:r>
            <a:endParaRPr lang="en-GB" sz="1800" b="1" dirty="0">
              <a:latin typeface="Calibri" pitchFamily="34" charset="0"/>
              <a:ea typeface="msgothic" charset="0"/>
              <a:cs typeface="msgothic" charset="0"/>
            </a:endParaRPr>
          </a:p>
        </p:txBody>
      </p:sp>
      <p:sp>
        <p:nvSpPr>
          <p:cNvPr id="26642" name="Text Box 18"/>
          <p:cNvSpPr txBox="1">
            <a:spLocks noChangeArrowheads="1"/>
          </p:cNvSpPr>
          <p:nvPr/>
        </p:nvSpPr>
        <p:spPr bwMode="auto">
          <a:xfrm>
            <a:off x="3824287" y="5159375"/>
            <a:ext cx="4654008" cy="637483"/>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0">
                <a:latin typeface="Calibri" pitchFamily="34" charset="0"/>
                <a:ea typeface="msgothic" charset="0"/>
                <a:cs typeface="msgothic" charset="0"/>
              </a:rPr>
              <a:t>References to </a:t>
            </a:r>
            <a:r>
              <a:rPr lang="en-GB" sz="1800">
                <a:latin typeface="Courier New" pitchFamily="49" charset="0"/>
                <a:ea typeface="msgothic" charset="0"/>
                <a:cs typeface="msgothic" charset="0"/>
              </a:rPr>
              <a:t>x</a:t>
            </a:r>
            <a:r>
              <a:rPr lang="en-GB" sz="1800" b="0">
                <a:latin typeface="Calibri" pitchFamily="34" charset="0"/>
                <a:ea typeface="msgothic" charset="0"/>
                <a:cs typeface="msgothic" charset="0"/>
              </a:rPr>
              <a:t> will refer to the same initialized</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0">
                <a:latin typeface="Calibri" pitchFamily="34" charset="0"/>
                <a:ea typeface="msgothic" charset="0"/>
                <a:cs typeface="msgothic" charset="0"/>
              </a:rPr>
              <a:t>variable.</a:t>
            </a:r>
          </a:p>
        </p:txBody>
      </p:sp>
    </p:spTree>
    <p:extLst>
      <p:ext uri="{BB962C8B-B14F-4D97-AF65-F5344CB8AC3E}">
        <p14:creationId xmlns:p14="http://schemas.microsoft.com/office/powerpoint/2010/main" val="605088893"/>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6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6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6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6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6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6" grpId="0"/>
      <p:bldP spid="26637" grpId="0"/>
      <p:bldP spid="26638" grpId="0"/>
      <p:bldP spid="26639" grpId="0"/>
      <p:bldP spid="26641" grpId="0"/>
      <p:bldP spid="2664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6"/>
          <p:cNvSpPr>
            <a:spLocks noChangeArrowheads="1"/>
          </p:cNvSpPr>
          <p:nvPr/>
        </p:nvSpPr>
        <p:spPr bwMode="auto">
          <a:xfrm>
            <a:off x="4724400" y="1951672"/>
            <a:ext cx="4267200" cy="2848928"/>
          </a:xfrm>
          <a:prstGeom prst="rect">
            <a:avLst/>
          </a:prstGeom>
          <a:solidFill>
            <a:srgbClr val="DBF2DA"/>
          </a:solidFill>
          <a:ln w="3175">
            <a:solidFill>
              <a:schemeClr val="tx1"/>
            </a:solidFill>
            <a:miter lim="800000"/>
            <a:headEnd/>
            <a:tailEnd/>
          </a:ln>
          <a:effectLst/>
        </p:spPr>
        <p:txBody>
          <a:bodyPr wrap="square">
            <a:prstTxWarp prst="textNoShape">
              <a:avLst/>
            </a:prstTxWarp>
            <a:noAutofit/>
          </a:bodyPr>
          <a:lstStyle/>
          <a:p>
            <a:r>
              <a:rPr lang="en-US" sz="1800" dirty="0">
                <a:solidFill>
                  <a:srgbClr val="D7391E"/>
                </a:solidFill>
                <a:latin typeface="Courier New" charset="0"/>
                <a:ea typeface="Courier New" charset="0"/>
                <a:cs typeface="Courier New" charset="0"/>
              </a:rPr>
              <a:t>/* Global strong symbol */</a:t>
            </a:r>
          </a:p>
          <a:p>
            <a:r>
              <a:rPr lang="en-US" sz="1800" dirty="0">
                <a:solidFill>
                  <a:srgbClr val="34A327"/>
                </a:solidFill>
                <a:latin typeface="Courier New" charset="0"/>
                <a:ea typeface="Courier New" charset="0"/>
                <a:cs typeface="Courier New" charset="0"/>
              </a:rPr>
              <a:t>double</a:t>
            </a:r>
            <a:r>
              <a:rPr lang="en-US" sz="1800" dirty="0">
                <a:solidFill>
                  <a:srgbClr val="000000"/>
                </a:solidFill>
                <a:latin typeface="Courier New" charset="0"/>
                <a:ea typeface="Courier New" charset="0"/>
                <a:cs typeface="Courier New" charset="0"/>
              </a:rPr>
              <a:t> </a:t>
            </a:r>
            <a:r>
              <a:rPr lang="en-US" sz="1800" dirty="0">
                <a:solidFill>
                  <a:srgbClr val="C79C24"/>
                </a:solidFill>
                <a:latin typeface="Courier New" charset="0"/>
                <a:ea typeface="Courier New" charset="0"/>
                <a:cs typeface="Courier New" charset="0"/>
              </a:rPr>
              <a:t>x</a:t>
            </a:r>
            <a:r>
              <a:rPr lang="en-US" sz="1800" dirty="0">
                <a:solidFill>
                  <a:srgbClr val="000000"/>
                </a:solidFill>
                <a:latin typeface="Courier New" charset="0"/>
                <a:ea typeface="Courier New" charset="0"/>
                <a:cs typeface="Courier New" charset="0"/>
              </a:rPr>
              <a:t> = 3.14;</a:t>
            </a:r>
          </a:p>
          <a:p>
            <a:r>
              <a:rPr lang="en-US" sz="1800" dirty="0">
                <a:solidFill>
                  <a:srgbClr val="000000"/>
                </a:solidFill>
                <a:latin typeface="Courier New" charset="0"/>
                <a:ea typeface="Courier New" charset="0"/>
                <a:cs typeface="Courier New" charset="0"/>
              </a:rPr>
              <a:t/>
            </a:r>
            <a:br>
              <a:rPr lang="en-US" sz="1800" dirty="0">
                <a:solidFill>
                  <a:srgbClr val="000000"/>
                </a:solidFill>
                <a:latin typeface="Courier New" charset="0"/>
                <a:ea typeface="Courier New" charset="0"/>
                <a:cs typeface="Courier New" charset="0"/>
              </a:rPr>
            </a:br>
            <a:endParaRPr lang="en-US" sz="1800" dirty="0">
              <a:solidFill>
                <a:srgbClr val="000000"/>
              </a:solidFill>
              <a:latin typeface="Courier New" charset="0"/>
              <a:ea typeface="Courier New" charset="0"/>
              <a:cs typeface="Courier New" charset="0"/>
            </a:endParaRPr>
          </a:p>
          <a:p>
            <a:endParaRPr lang="is-IS" sz="1800" dirty="0">
              <a:solidFill>
                <a:srgbClr val="000000"/>
              </a:solidFill>
              <a:latin typeface="Courier New"/>
              <a:cs typeface="Courier New"/>
            </a:endParaRPr>
          </a:p>
        </p:txBody>
      </p:sp>
      <p:sp>
        <p:nvSpPr>
          <p:cNvPr id="201735" name="Rectangle 7"/>
          <p:cNvSpPr>
            <a:spLocks noGrp="1" noChangeArrowheads="1"/>
          </p:cNvSpPr>
          <p:nvPr>
            <p:ph type="title"/>
          </p:nvPr>
        </p:nvSpPr>
        <p:spPr/>
        <p:txBody>
          <a:bodyPr/>
          <a:lstStyle/>
          <a:p>
            <a:r>
              <a:rPr lang="en-US" dirty="0" smtClean="0"/>
              <a:t>Type Mismatch Example</a:t>
            </a:r>
            <a:endParaRPr lang="en-US" dirty="0"/>
          </a:p>
        </p:txBody>
      </p:sp>
      <p:sp>
        <p:nvSpPr>
          <p:cNvPr id="3" name="Content Placeholder 2"/>
          <p:cNvSpPr>
            <a:spLocks noGrp="1"/>
          </p:cNvSpPr>
          <p:nvPr>
            <p:ph idx="1"/>
          </p:nvPr>
        </p:nvSpPr>
        <p:spPr>
          <a:xfrm>
            <a:off x="396875" y="4876799"/>
            <a:ext cx="7896225" cy="1457325"/>
          </a:xfrm>
        </p:spPr>
        <p:txBody>
          <a:bodyPr/>
          <a:lstStyle/>
          <a:p>
            <a:r>
              <a:rPr lang="en-US" dirty="0" smtClean="0"/>
              <a:t>Compiles without any errors or warnings</a:t>
            </a:r>
          </a:p>
          <a:p>
            <a:r>
              <a:rPr lang="en-US" dirty="0" smtClean="0"/>
              <a:t>What gets printed?</a:t>
            </a:r>
            <a:endParaRPr lang="en-US" dirty="0"/>
          </a:p>
        </p:txBody>
      </p:sp>
      <p:sp>
        <p:nvSpPr>
          <p:cNvPr id="201731" name="Rectangle 3"/>
          <p:cNvSpPr>
            <a:spLocks noChangeArrowheads="1"/>
          </p:cNvSpPr>
          <p:nvPr/>
        </p:nvSpPr>
        <p:spPr bwMode="auto">
          <a:xfrm>
            <a:off x="139700" y="1928812"/>
            <a:ext cx="4584700" cy="2871787"/>
          </a:xfrm>
          <a:prstGeom prst="rect">
            <a:avLst/>
          </a:prstGeom>
          <a:solidFill>
            <a:srgbClr val="F7F5CD"/>
          </a:solidFill>
          <a:ln w="3175">
            <a:solidFill>
              <a:schemeClr val="tx1"/>
            </a:solidFill>
            <a:miter lim="800000"/>
            <a:headEnd/>
            <a:tailEnd/>
          </a:ln>
          <a:effectLst/>
        </p:spPr>
        <p:txBody>
          <a:bodyPr wrap="square">
            <a:prstTxWarp prst="textNoShape">
              <a:avLst/>
            </a:prstTxWarp>
            <a:noAutofit/>
          </a:bodyPr>
          <a:lstStyle/>
          <a:p>
            <a:r>
              <a:rPr lang="en-US" sz="1800" dirty="0">
                <a:solidFill>
                  <a:srgbClr val="34A327"/>
                </a:solidFill>
                <a:latin typeface="Courier New" charset="0"/>
                <a:ea typeface="Courier New" charset="0"/>
                <a:cs typeface="Courier New" charset="0"/>
              </a:rPr>
              <a:t>long</a:t>
            </a:r>
            <a:r>
              <a:rPr lang="en-US" sz="1800" dirty="0">
                <a:solidFill>
                  <a:srgbClr val="000000"/>
                </a:solidFill>
                <a:latin typeface="Courier New" charset="0"/>
                <a:ea typeface="Courier New" charset="0"/>
                <a:cs typeface="Courier New" charset="0"/>
              </a:rPr>
              <a:t> </a:t>
            </a:r>
            <a:r>
              <a:rPr lang="en-US" sz="1800" dirty="0" err="1">
                <a:solidFill>
                  <a:srgbClr val="34A327"/>
                </a:solidFill>
                <a:latin typeface="Courier New" charset="0"/>
                <a:ea typeface="Courier New" charset="0"/>
                <a:cs typeface="Courier New" charset="0"/>
              </a:rPr>
              <a:t>int</a:t>
            </a:r>
            <a:r>
              <a:rPr lang="en-US" sz="1800" dirty="0">
                <a:solidFill>
                  <a:srgbClr val="000000"/>
                </a:solidFill>
                <a:latin typeface="Courier New" charset="0"/>
                <a:ea typeface="Courier New" charset="0"/>
                <a:cs typeface="Courier New" charset="0"/>
              </a:rPr>
              <a:t> </a:t>
            </a:r>
            <a:r>
              <a:rPr lang="en-US" sz="1800" dirty="0">
                <a:solidFill>
                  <a:srgbClr val="C79C24"/>
                </a:solidFill>
                <a:latin typeface="Courier New" charset="0"/>
                <a:ea typeface="Courier New" charset="0"/>
                <a:cs typeface="Courier New" charset="0"/>
              </a:rPr>
              <a:t>x</a:t>
            </a:r>
            <a:r>
              <a:rPr lang="en-US" sz="1800" dirty="0">
                <a:solidFill>
                  <a:srgbClr val="000000"/>
                </a:solidFill>
                <a:latin typeface="Courier New" charset="0"/>
                <a:ea typeface="Courier New" charset="0"/>
                <a:cs typeface="Courier New" charset="0"/>
              </a:rPr>
              <a:t>;  </a:t>
            </a:r>
            <a:r>
              <a:rPr lang="en-US" sz="1800" dirty="0">
                <a:solidFill>
                  <a:srgbClr val="D7391E"/>
                </a:solidFill>
                <a:latin typeface="Courier New" charset="0"/>
                <a:ea typeface="Courier New" charset="0"/>
                <a:cs typeface="Courier New" charset="0"/>
              </a:rPr>
              <a:t>/* Weak symbol </a:t>
            </a:r>
            <a:r>
              <a:rPr lang="en-US" sz="1800" dirty="0" smtClean="0">
                <a:solidFill>
                  <a:srgbClr val="D7391E"/>
                </a:solidFill>
                <a:latin typeface="Courier New" charset="0"/>
                <a:ea typeface="Courier New" charset="0"/>
                <a:cs typeface="Courier New" charset="0"/>
              </a:rPr>
              <a:t>*/</a:t>
            </a:r>
            <a:r>
              <a:rPr lang="en-US" sz="1800" dirty="0">
                <a:solidFill>
                  <a:srgbClr val="000000"/>
                </a:solidFill>
                <a:latin typeface="Courier New" charset="0"/>
                <a:ea typeface="Courier New" charset="0"/>
                <a:cs typeface="Courier New" charset="0"/>
              </a:rPr>
              <a:t/>
            </a:r>
            <a:br>
              <a:rPr lang="en-US" sz="1800" dirty="0">
                <a:solidFill>
                  <a:srgbClr val="000000"/>
                </a:solidFill>
                <a:latin typeface="Courier New" charset="0"/>
                <a:ea typeface="Courier New" charset="0"/>
                <a:cs typeface="Courier New" charset="0"/>
              </a:rPr>
            </a:br>
            <a:endParaRPr lang="en-US" sz="1800" dirty="0">
              <a:solidFill>
                <a:srgbClr val="000000"/>
              </a:solidFill>
              <a:latin typeface="Courier New" charset="0"/>
              <a:ea typeface="Courier New" charset="0"/>
              <a:cs typeface="Courier New" charset="0"/>
            </a:endParaRPr>
          </a:p>
          <a:p>
            <a:r>
              <a:rPr lang="en-US" sz="1800" dirty="0" err="1">
                <a:solidFill>
                  <a:srgbClr val="34A327"/>
                </a:solidFill>
                <a:latin typeface="Courier New" charset="0"/>
                <a:ea typeface="Courier New" charset="0"/>
                <a:cs typeface="Courier New" charset="0"/>
              </a:rPr>
              <a:t>int</a:t>
            </a:r>
            <a:r>
              <a:rPr lang="en-US" sz="1800" dirty="0">
                <a:solidFill>
                  <a:srgbClr val="000000"/>
                </a:solidFill>
                <a:latin typeface="Courier New" charset="0"/>
                <a:ea typeface="Courier New" charset="0"/>
                <a:cs typeface="Courier New" charset="0"/>
              </a:rPr>
              <a:t> </a:t>
            </a:r>
            <a:r>
              <a:rPr lang="en-US" sz="1800" dirty="0">
                <a:solidFill>
                  <a:srgbClr val="5E34FF"/>
                </a:solidFill>
                <a:latin typeface="Courier New" charset="0"/>
                <a:ea typeface="Courier New" charset="0"/>
                <a:cs typeface="Courier New" charset="0"/>
              </a:rPr>
              <a:t>main</a:t>
            </a:r>
            <a:r>
              <a:rPr lang="en-US" sz="1800" dirty="0">
                <a:solidFill>
                  <a:srgbClr val="000000"/>
                </a:solidFill>
                <a:latin typeface="Courier New" charset="0"/>
                <a:ea typeface="Courier New" charset="0"/>
                <a:cs typeface="Courier New" charset="0"/>
              </a:rPr>
              <a:t>(</a:t>
            </a:r>
            <a:r>
              <a:rPr lang="en-US" sz="1800" dirty="0" err="1">
                <a:solidFill>
                  <a:srgbClr val="34A327"/>
                </a:solidFill>
                <a:latin typeface="Courier New" charset="0"/>
                <a:ea typeface="Courier New" charset="0"/>
                <a:cs typeface="Courier New" charset="0"/>
              </a:rPr>
              <a:t>int</a:t>
            </a:r>
            <a:r>
              <a:rPr lang="en-US" sz="1800" dirty="0">
                <a:solidFill>
                  <a:srgbClr val="000000"/>
                </a:solidFill>
                <a:latin typeface="Courier New" charset="0"/>
                <a:ea typeface="Courier New" charset="0"/>
                <a:cs typeface="Courier New" charset="0"/>
              </a:rPr>
              <a:t> </a:t>
            </a:r>
            <a:r>
              <a:rPr lang="en-US" sz="1800" dirty="0" err="1" smtClean="0">
                <a:solidFill>
                  <a:srgbClr val="C79C24"/>
                </a:solidFill>
                <a:latin typeface="Courier New" charset="0"/>
                <a:ea typeface="Courier New" charset="0"/>
                <a:cs typeface="Courier New" charset="0"/>
              </a:rPr>
              <a:t>argc</a:t>
            </a:r>
            <a:r>
              <a:rPr lang="en-US" sz="1800" dirty="0" smtClean="0">
                <a:solidFill>
                  <a:srgbClr val="000000"/>
                </a:solidFill>
                <a:latin typeface="Courier New" charset="0"/>
                <a:ea typeface="Courier New" charset="0"/>
                <a:cs typeface="Courier New" charset="0"/>
              </a:rPr>
              <a:t>,</a:t>
            </a:r>
          </a:p>
          <a:p>
            <a:r>
              <a:rPr lang="en-US" sz="1800" dirty="0">
                <a:solidFill>
                  <a:srgbClr val="000000"/>
                </a:solidFill>
                <a:latin typeface="Courier New" charset="0"/>
                <a:ea typeface="Courier New" charset="0"/>
                <a:cs typeface="Courier New" charset="0"/>
              </a:rPr>
              <a:t> </a:t>
            </a:r>
            <a:r>
              <a:rPr lang="en-US" sz="1800" dirty="0" smtClean="0">
                <a:solidFill>
                  <a:srgbClr val="000000"/>
                </a:solidFill>
                <a:latin typeface="Courier New" charset="0"/>
                <a:ea typeface="Courier New" charset="0"/>
                <a:cs typeface="Courier New" charset="0"/>
              </a:rPr>
              <a:t>        </a:t>
            </a:r>
            <a:r>
              <a:rPr lang="en-US" sz="1800" dirty="0" smtClean="0">
                <a:solidFill>
                  <a:srgbClr val="34A327"/>
                </a:solidFill>
                <a:latin typeface="Courier New" charset="0"/>
                <a:ea typeface="Courier New" charset="0"/>
                <a:cs typeface="Courier New" charset="0"/>
              </a:rPr>
              <a:t>char</a:t>
            </a:r>
            <a:r>
              <a:rPr lang="en-US" sz="1800" dirty="0" smtClean="0">
                <a:solidFill>
                  <a:srgbClr val="000000"/>
                </a:solidFill>
                <a:latin typeface="Courier New" charset="0"/>
                <a:ea typeface="Courier New" charset="0"/>
                <a:cs typeface="Courier New" charset="0"/>
              </a:rPr>
              <a:t> </a:t>
            </a:r>
            <a:r>
              <a:rPr lang="en-US" sz="1800" dirty="0">
                <a:solidFill>
                  <a:srgbClr val="000000"/>
                </a:solidFill>
                <a:latin typeface="Courier New" charset="0"/>
                <a:ea typeface="Courier New" charset="0"/>
                <a:cs typeface="Courier New" charset="0"/>
              </a:rPr>
              <a:t>*</a:t>
            </a:r>
            <a:r>
              <a:rPr lang="en-US" sz="1800" dirty="0" err="1">
                <a:solidFill>
                  <a:srgbClr val="C79C24"/>
                </a:solidFill>
                <a:latin typeface="Courier New" charset="0"/>
                <a:ea typeface="Courier New" charset="0"/>
                <a:cs typeface="Courier New" charset="0"/>
              </a:rPr>
              <a:t>argv</a:t>
            </a:r>
            <a:r>
              <a:rPr lang="en-US" sz="1800" dirty="0">
                <a:solidFill>
                  <a:srgbClr val="000000"/>
                </a:solidFill>
                <a:latin typeface="Courier New" charset="0"/>
                <a:ea typeface="Courier New" charset="0"/>
                <a:cs typeface="Courier New" charset="0"/>
              </a:rPr>
              <a:t>[]) {</a:t>
            </a:r>
          </a:p>
          <a:p>
            <a:r>
              <a:rPr lang="en-US" sz="1800" dirty="0">
                <a:solidFill>
                  <a:srgbClr val="000000"/>
                </a:solidFill>
                <a:latin typeface="Courier New" charset="0"/>
                <a:ea typeface="Courier New" charset="0"/>
                <a:cs typeface="Courier New" charset="0"/>
              </a:rPr>
              <a:t>    </a:t>
            </a:r>
            <a:r>
              <a:rPr lang="en-US" sz="1800" dirty="0" err="1">
                <a:solidFill>
                  <a:srgbClr val="000000"/>
                </a:solidFill>
                <a:latin typeface="Courier New" charset="0"/>
                <a:ea typeface="Courier New" charset="0"/>
                <a:cs typeface="Courier New" charset="0"/>
              </a:rPr>
              <a:t>printf</a:t>
            </a:r>
            <a:r>
              <a:rPr lang="en-US" sz="1800" dirty="0">
                <a:solidFill>
                  <a:srgbClr val="000000"/>
                </a:solidFill>
                <a:latin typeface="Courier New" charset="0"/>
                <a:ea typeface="Courier New" charset="0"/>
                <a:cs typeface="Courier New" charset="0"/>
              </a:rPr>
              <a:t>(</a:t>
            </a:r>
            <a:r>
              <a:rPr lang="en-US" sz="1800" dirty="0">
                <a:solidFill>
                  <a:srgbClr val="C59C9C"/>
                </a:solidFill>
                <a:latin typeface="Courier New" charset="0"/>
                <a:ea typeface="Courier New" charset="0"/>
                <a:cs typeface="Courier New" charset="0"/>
              </a:rPr>
              <a:t>"%</a:t>
            </a:r>
            <a:r>
              <a:rPr lang="en-US" sz="1800" dirty="0" err="1">
                <a:solidFill>
                  <a:srgbClr val="C59C9C"/>
                </a:solidFill>
                <a:latin typeface="Courier New" charset="0"/>
                <a:ea typeface="Courier New" charset="0"/>
                <a:cs typeface="Courier New" charset="0"/>
              </a:rPr>
              <a:t>ld</a:t>
            </a:r>
            <a:r>
              <a:rPr lang="en-US" sz="1800" dirty="0">
                <a:solidFill>
                  <a:srgbClr val="C59C9C"/>
                </a:solidFill>
                <a:latin typeface="Courier New" charset="0"/>
                <a:ea typeface="Courier New" charset="0"/>
                <a:cs typeface="Courier New" charset="0"/>
              </a:rPr>
              <a:t>\n"</a:t>
            </a:r>
            <a:r>
              <a:rPr lang="en-US" sz="1800" dirty="0">
                <a:solidFill>
                  <a:srgbClr val="000000"/>
                </a:solidFill>
                <a:latin typeface="Courier New" charset="0"/>
                <a:ea typeface="Courier New" charset="0"/>
                <a:cs typeface="Courier New" charset="0"/>
              </a:rPr>
              <a:t>, x</a:t>
            </a:r>
            <a:r>
              <a:rPr lang="en-US" sz="1800" dirty="0" smtClean="0">
                <a:solidFill>
                  <a:srgbClr val="000000"/>
                </a:solidFill>
                <a:latin typeface="Courier New" charset="0"/>
                <a:ea typeface="Courier New" charset="0"/>
                <a:cs typeface="Courier New" charset="0"/>
              </a:rPr>
              <a:t>);</a:t>
            </a:r>
          </a:p>
          <a:p>
            <a:r>
              <a:rPr lang="en-US" sz="1800" dirty="0">
                <a:solidFill>
                  <a:srgbClr val="000000"/>
                </a:solidFill>
                <a:latin typeface="Courier New" charset="0"/>
                <a:ea typeface="Courier New" charset="0"/>
                <a:cs typeface="Courier New" charset="0"/>
              </a:rPr>
              <a:t> </a:t>
            </a:r>
            <a:r>
              <a:rPr lang="en-US" sz="1800" dirty="0" smtClean="0">
                <a:solidFill>
                  <a:srgbClr val="000000"/>
                </a:solidFill>
                <a:latin typeface="Courier New" charset="0"/>
                <a:ea typeface="Courier New" charset="0"/>
                <a:cs typeface="Courier New" charset="0"/>
              </a:rPr>
              <a:t>   </a:t>
            </a:r>
            <a:r>
              <a:rPr lang="en-US" sz="1800" dirty="0" smtClean="0">
                <a:solidFill>
                  <a:srgbClr val="D03BFF"/>
                </a:solidFill>
                <a:latin typeface="Courier New" charset="0"/>
                <a:ea typeface="Courier New" charset="0"/>
                <a:cs typeface="Courier New" charset="0"/>
              </a:rPr>
              <a:t>return </a:t>
            </a:r>
            <a:r>
              <a:rPr lang="en-US" sz="1800" dirty="0" smtClean="0">
                <a:solidFill>
                  <a:srgbClr val="000000"/>
                </a:solidFill>
                <a:latin typeface="Courier New" charset="0"/>
                <a:ea typeface="Courier New" charset="0"/>
                <a:cs typeface="Courier New" charset="0"/>
              </a:rPr>
              <a:t>0;</a:t>
            </a:r>
            <a:endParaRPr lang="en-US" sz="1800" dirty="0">
              <a:solidFill>
                <a:srgbClr val="000000"/>
              </a:solidFill>
              <a:latin typeface="Courier New" charset="0"/>
              <a:ea typeface="Courier New" charset="0"/>
              <a:cs typeface="Courier New" charset="0"/>
            </a:endParaRPr>
          </a:p>
          <a:p>
            <a:r>
              <a:rPr lang="en-US" sz="1800" dirty="0">
                <a:solidFill>
                  <a:srgbClr val="000000"/>
                </a:solidFill>
                <a:latin typeface="Courier New" charset="0"/>
                <a:ea typeface="Courier New" charset="0"/>
                <a:cs typeface="Courier New" charset="0"/>
              </a:rPr>
              <a:t>}</a:t>
            </a:r>
          </a:p>
          <a:p>
            <a:endParaRPr lang="en-US" sz="1800" dirty="0">
              <a:latin typeface="Courier New"/>
              <a:cs typeface="Courier New"/>
            </a:endParaRPr>
          </a:p>
        </p:txBody>
      </p:sp>
      <p:sp>
        <p:nvSpPr>
          <p:cNvPr id="201734" name="Rectangle 6"/>
          <p:cNvSpPr>
            <a:spLocks noChangeArrowheads="1"/>
          </p:cNvSpPr>
          <p:nvPr/>
        </p:nvSpPr>
        <p:spPr bwMode="auto">
          <a:xfrm>
            <a:off x="4724400" y="1928812"/>
            <a:ext cx="4267200" cy="1477328"/>
          </a:xfrm>
          <a:prstGeom prst="rect">
            <a:avLst/>
          </a:prstGeom>
          <a:solidFill>
            <a:srgbClr val="DBF2DA"/>
          </a:solidFill>
          <a:ln w="3175">
            <a:solidFill>
              <a:schemeClr val="tx1"/>
            </a:solidFill>
            <a:miter lim="800000"/>
            <a:headEnd/>
            <a:tailEnd/>
          </a:ln>
          <a:effectLst/>
        </p:spPr>
        <p:txBody>
          <a:bodyPr wrap="square">
            <a:prstTxWarp prst="textNoShape">
              <a:avLst/>
            </a:prstTxWarp>
            <a:spAutoFit/>
          </a:bodyPr>
          <a:lstStyle/>
          <a:p>
            <a:r>
              <a:rPr lang="en-US" sz="1800" dirty="0">
                <a:solidFill>
                  <a:srgbClr val="D7391E"/>
                </a:solidFill>
                <a:latin typeface="Courier New" charset="0"/>
                <a:ea typeface="Courier New" charset="0"/>
                <a:cs typeface="Courier New" charset="0"/>
              </a:rPr>
              <a:t>/* Global strong symbol */</a:t>
            </a:r>
          </a:p>
          <a:p>
            <a:r>
              <a:rPr lang="en-US" sz="1800" dirty="0">
                <a:solidFill>
                  <a:srgbClr val="34A327"/>
                </a:solidFill>
                <a:latin typeface="Courier New" charset="0"/>
                <a:ea typeface="Courier New" charset="0"/>
                <a:cs typeface="Courier New" charset="0"/>
              </a:rPr>
              <a:t>double</a:t>
            </a:r>
            <a:r>
              <a:rPr lang="en-US" sz="1800" dirty="0">
                <a:solidFill>
                  <a:srgbClr val="000000"/>
                </a:solidFill>
                <a:latin typeface="Courier New" charset="0"/>
                <a:ea typeface="Courier New" charset="0"/>
                <a:cs typeface="Courier New" charset="0"/>
              </a:rPr>
              <a:t> </a:t>
            </a:r>
            <a:r>
              <a:rPr lang="en-US" sz="1800" dirty="0">
                <a:solidFill>
                  <a:srgbClr val="C79C24"/>
                </a:solidFill>
                <a:latin typeface="Courier New" charset="0"/>
                <a:ea typeface="Courier New" charset="0"/>
                <a:cs typeface="Courier New" charset="0"/>
              </a:rPr>
              <a:t>x</a:t>
            </a:r>
            <a:r>
              <a:rPr lang="en-US" sz="1800" dirty="0">
                <a:solidFill>
                  <a:srgbClr val="000000"/>
                </a:solidFill>
                <a:latin typeface="Courier New" charset="0"/>
                <a:ea typeface="Courier New" charset="0"/>
                <a:cs typeface="Courier New" charset="0"/>
              </a:rPr>
              <a:t> = 3.14;</a:t>
            </a:r>
          </a:p>
          <a:p>
            <a:r>
              <a:rPr lang="en-US" sz="1800" dirty="0">
                <a:solidFill>
                  <a:srgbClr val="000000"/>
                </a:solidFill>
                <a:latin typeface="Courier New" charset="0"/>
                <a:ea typeface="Courier New" charset="0"/>
                <a:cs typeface="Courier New" charset="0"/>
              </a:rPr>
              <a:t/>
            </a:r>
            <a:br>
              <a:rPr lang="en-US" sz="1800" dirty="0">
                <a:solidFill>
                  <a:srgbClr val="000000"/>
                </a:solidFill>
                <a:latin typeface="Courier New" charset="0"/>
                <a:ea typeface="Courier New" charset="0"/>
                <a:cs typeface="Courier New" charset="0"/>
              </a:rPr>
            </a:br>
            <a:endParaRPr lang="en-US" sz="1800" dirty="0">
              <a:solidFill>
                <a:srgbClr val="000000"/>
              </a:solidFill>
              <a:latin typeface="Courier New" charset="0"/>
              <a:ea typeface="Courier New" charset="0"/>
              <a:cs typeface="Courier New" charset="0"/>
            </a:endParaRPr>
          </a:p>
          <a:p>
            <a:endParaRPr lang="is-IS" sz="1800" dirty="0">
              <a:solidFill>
                <a:srgbClr val="000000"/>
              </a:solidFill>
              <a:latin typeface="Courier New"/>
              <a:cs typeface="Courier New"/>
            </a:endParaRPr>
          </a:p>
        </p:txBody>
      </p:sp>
      <p:sp>
        <p:nvSpPr>
          <p:cNvPr id="8" name="Rectangle 3"/>
          <p:cNvSpPr>
            <a:spLocks noChangeArrowheads="1"/>
          </p:cNvSpPr>
          <p:nvPr/>
        </p:nvSpPr>
        <p:spPr bwMode="auto">
          <a:xfrm>
            <a:off x="6096001" y="4433473"/>
            <a:ext cx="2895600" cy="354906"/>
          </a:xfrm>
          <a:prstGeom prst="rect">
            <a:avLst/>
          </a:prstGeom>
          <a:noFill/>
          <a:ln w="3240">
            <a:noFill/>
            <a:miter lim="800000"/>
            <a:headEnd/>
            <a:tailEnd/>
          </a:ln>
          <a:effectLst/>
        </p:spPr>
        <p:txBody>
          <a:bodyPr wrap="square" lIns="90000" tIns="46800" rIns="90000" bIns="46800">
            <a:spAutoFit/>
          </a:bodyPr>
          <a:lstStyle/>
          <a:p>
            <a:pPr algn="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smtClean="0">
                <a:solidFill>
                  <a:schemeClr val="tx1">
                    <a:lumMod val="50000"/>
                    <a:lumOff val="50000"/>
                  </a:schemeClr>
                </a:solidFill>
                <a:latin typeface="Courier New" pitchFamily="49" charset="0"/>
                <a:ea typeface="msgothic" charset="0"/>
                <a:cs typeface="msgothic" charset="0"/>
              </a:rPr>
              <a:t>mismatch-</a:t>
            </a:r>
            <a:r>
              <a:rPr lang="en-GB" sz="1800" b="1" i="1" dirty="0" err="1" smtClean="0">
                <a:solidFill>
                  <a:schemeClr val="tx1">
                    <a:lumMod val="50000"/>
                    <a:lumOff val="50000"/>
                  </a:schemeClr>
                </a:solidFill>
                <a:latin typeface="Courier New" pitchFamily="49" charset="0"/>
                <a:ea typeface="msgothic" charset="0"/>
                <a:cs typeface="msgothic" charset="0"/>
              </a:rPr>
              <a:t>variable.c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18" name="Rectangle 3"/>
          <p:cNvSpPr>
            <a:spLocks noChangeArrowheads="1"/>
          </p:cNvSpPr>
          <p:nvPr/>
        </p:nvSpPr>
        <p:spPr bwMode="auto">
          <a:xfrm>
            <a:off x="2362200" y="4441590"/>
            <a:ext cx="2266950" cy="359010"/>
          </a:xfrm>
          <a:prstGeom prst="rect">
            <a:avLst/>
          </a:prstGeom>
          <a:noFill/>
          <a:ln w="3240">
            <a:noFill/>
            <a:miter lim="800000"/>
            <a:headEnd/>
            <a:tailEnd/>
          </a:ln>
          <a:effectLst/>
        </p:spPr>
        <p:txBody>
          <a:bodyPr wrap="square" lIns="90000" tIns="46800" rIns="90000" bIns="46800">
            <a:spAutoFit/>
          </a:bodyPr>
          <a:lstStyle/>
          <a:p>
            <a:pPr algn="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smtClean="0">
                <a:solidFill>
                  <a:schemeClr val="tx1">
                    <a:lumMod val="50000"/>
                    <a:lumOff val="50000"/>
                  </a:schemeClr>
                </a:solidFill>
                <a:latin typeface="Courier New" pitchFamily="49" charset="0"/>
                <a:ea typeface="msgothic" charset="0"/>
                <a:cs typeface="msgothic" charset="0"/>
              </a:rPr>
              <a:t>mismatch-</a:t>
            </a:r>
            <a:r>
              <a:rPr lang="en-GB" sz="1800" b="1" i="1" dirty="0" err="1" smtClean="0">
                <a:solidFill>
                  <a:schemeClr val="tx1">
                    <a:lumMod val="50000"/>
                    <a:lumOff val="50000"/>
                  </a:schemeClr>
                </a:solidFill>
                <a:latin typeface="Courier New" pitchFamily="49" charset="0"/>
                <a:ea typeface="msgothic" charset="0"/>
                <a:cs typeface="msgothic" charset="0"/>
              </a:rPr>
              <a:t>main.c</a:t>
            </a:r>
            <a:endParaRPr lang="en-GB" sz="1800" b="1" i="1" dirty="0">
              <a:solidFill>
                <a:schemeClr val="tx1">
                  <a:lumMod val="50000"/>
                  <a:lumOff val="50000"/>
                </a:schemeClr>
              </a:solidFill>
              <a:latin typeface="Courier New" pitchFamily="49" charset="0"/>
              <a:ea typeface="msgothic" charset="0"/>
              <a:cs typeface="msgothic" charset="0"/>
            </a:endParaRPr>
          </a:p>
        </p:txBody>
      </p:sp>
    </p:spTree>
    <p:extLst>
      <p:ext uri="{BB962C8B-B14F-4D97-AF65-F5344CB8AC3E}">
        <p14:creationId xmlns:p14="http://schemas.microsoft.com/office/powerpoint/2010/main" val="2384382148"/>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Global Variables</a:t>
            </a:r>
            <a:endParaRPr lang="en-US"/>
          </a:p>
        </p:txBody>
      </p:sp>
      <p:sp>
        <p:nvSpPr>
          <p:cNvPr id="3" name="Content Placeholder 2"/>
          <p:cNvSpPr>
            <a:spLocks noGrp="1"/>
          </p:cNvSpPr>
          <p:nvPr>
            <p:ph idx="1"/>
          </p:nvPr>
        </p:nvSpPr>
        <p:spPr/>
        <p:txBody>
          <a:bodyPr/>
          <a:lstStyle/>
          <a:p>
            <a:r>
              <a:rPr lang="en-US" dirty="0" smtClean="0"/>
              <a:t>Avoid if you can</a:t>
            </a:r>
          </a:p>
          <a:p>
            <a:endParaRPr lang="en-US" dirty="0" smtClean="0"/>
          </a:p>
          <a:p>
            <a:r>
              <a:rPr lang="en-US" dirty="0" smtClean="0"/>
              <a:t>Otherwise</a:t>
            </a:r>
          </a:p>
          <a:p>
            <a:pPr lvl="1"/>
            <a:r>
              <a:rPr lang="en-US" dirty="0" smtClean="0"/>
              <a:t>Use </a:t>
            </a:r>
            <a:r>
              <a:rPr lang="en-US" b="1" dirty="0" smtClean="0">
                <a:latin typeface="Courier New" pitchFamily="49" charset="0"/>
                <a:cs typeface="Courier New" pitchFamily="49" charset="0"/>
              </a:rPr>
              <a:t>static </a:t>
            </a:r>
            <a:r>
              <a:rPr lang="en-US" dirty="0" smtClean="0"/>
              <a:t>if you can</a:t>
            </a:r>
          </a:p>
          <a:p>
            <a:pPr lvl="1"/>
            <a:r>
              <a:rPr lang="en-US" dirty="0" smtClean="0"/>
              <a:t>Initialize if you define a global variable</a:t>
            </a:r>
          </a:p>
          <a:p>
            <a:pPr lvl="1"/>
            <a:r>
              <a:rPr lang="en-US" dirty="0" smtClean="0"/>
              <a:t>Use </a:t>
            </a:r>
            <a:r>
              <a:rPr lang="en-US" b="1" dirty="0" smtClean="0">
                <a:latin typeface="Courier New" pitchFamily="49" charset="0"/>
                <a:cs typeface="Courier New" pitchFamily="49" charset="0"/>
              </a:rPr>
              <a:t>extern</a:t>
            </a:r>
            <a:r>
              <a:rPr lang="en-US" dirty="0" smtClean="0"/>
              <a:t> if you reference an external global variable</a:t>
            </a:r>
          </a:p>
          <a:p>
            <a:pPr lvl="2"/>
            <a:r>
              <a:rPr lang="en-US" dirty="0" smtClean="0"/>
              <a:t>Treated as weak symbol</a:t>
            </a:r>
          </a:p>
          <a:p>
            <a:pPr lvl="2"/>
            <a:r>
              <a:rPr lang="en-US" dirty="0" smtClean="0"/>
              <a:t>But also causes linker error if not defined in some file</a:t>
            </a:r>
          </a:p>
        </p:txBody>
      </p:sp>
    </p:spTree>
    <p:extLst>
      <p:ext uri="{BB962C8B-B14F-4D97-AF65-F5344CB8AC3E}">
        <p14:creationId xmlns:p14="http://schemas.microsoft.com/office/powerpoint/2010/main" val="4181143572"/>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5" name="Rectangle 7"/>
          <p:cNvSpPr>
            <a:spLocks noGrp="1" noChangeArrowheads="1"/>
          </p:cNvSpPr>
          <p:nvPr>
            <p:ph type="title"/>
          </p:nvPr>
        </p:nvSpPr>
        <p:spPr/>
        <p:txBody>
          <a:bodyPr/>
          <a:lstStyle/>
          <a:p>
            <a:r>
              <a:rPr lang="en-US" dirty="0" smtClean="0"/>
              <a:t>Use of </a:t>
            </a:r>
            <a:r>
              <a:rPr lang="en-US" dirty="0" smtClean="0">
                <a:latin typeface="Courier New" charset="0"/>
                <a:ea typeface="Courier New" charset="0"/>
                <a:cs typeface="Courier New" charset="0"/>
              </a:rPr>
              <a:t>extern</a:t>
            </a:r>
            <a:r>
              <a:rPr lang="en-US" dirty="0" smtClean="0"/>
              <a:t> in .h Files (#1)</a:t>
            </a:r>
            <a:endParaRPr lang="en-US" dirty="0"/>
          </a:p>
        </p:txBody>
      </p:sp>
      <p:sp>
        <p:nvSpPr>
          <p:cNvPr id="201731" name="Rectangle 3"/>
          <p:cNvSpPr>
            <a:spLocks noChangeArrowheads="1"/>
          </p:cNvSpPr>
          <p:nvPr/>
        </p:nvSpPr>
        <p:spPr bwMode="auto">
          <a:xfrm>
            <a:off x="825500" y="1624013"/>
            <a:ext cx="2803973" cy="1477328"/>
          </a:xfrm>
          <a:prstGeom prst="rect">
            <a:avLst/>
          </a:prstGeom>
          <a:solidFill>
            <a:srgbClr val="F7F5CD"/>
          </a:solidFill>
          <a:ln w="3175">
            <a:solidFill>
              <a:schemeClr val="tx1"/>
            </a:solidFill>
            <a:miter lim="800000"/>
            <a:headEnd/>
            <a:tailEnd/>
          </a:ln>
          <a:effectLst/>
        </p:spPr>
        <p:txBody>
          <a:bodyPr wrap="none">
            <a:prstTxWarp prst="textNoShape">
              <a:avLst/>
            </a:prstTxWarp>
            <a:spAutoFit/>
          </a:bodyPr>
          <a:lstStyle/>
          <a:p>
            <a:r>
              <a:rPr lang="en-US" sz="1800" smtClean="0">
                <a:latin typeface="Courier New"/>
                <a:cs typeface="Courier New"/>
              </a:rPr>
              <a:t>#include "</a:t>
            </a:r>
            <a:r>
              <a:rPr lang="en-US" sz="1800" err="1" smtClean="0">
                <a:latin typeface="Courier New"/>
                <a:cs typeface="Courier New"/>
              </a:rPr>
              <a:t>global.h</a:t>
            </a:r>
            <a:r>
              <a:rPr lang="en-US" sz="1800" smtClean="0">
                <a:latin typeface="Courier New"/>
                <a:cs typeface="Courier New"/>
              </a:rPr>
              <a:t>"</a:t>
            </a:r>
          </a:p>
          <a:p>
            <a:endParaRPr lang="en-US" sz="1800" smtClean="0">
              <a:latin typeface="Courier New"/>
              <a:cs typeface="Courier New"/>
            </a:endParaRPr>
          </a:p>
          <a:p>
            <a:r>
              <a:rPr lang="en-US" sz="1800" err="1" smtClean="0">
                <a:latin typeface="Courier New"/>
                <a:cs typeface="Courier New"/>
              </a:rPr>
              <a:t>int</a:t>
            </a:r>
            <a:r>
              <a:rPr lang="en-US" sz="1800" smtClean="0">
                <a:latin typeface="Courier New"/>
                <a:cs typeface="Courier New"/>
              </a:rPr>
              <a:t> f() {</a:t>
            </a:r>
          </a:p>
          <a:p>
            <a:r>
              <a:rPr lang="en-US" sz="1800" smtClean="0">
                <a:latin typeface="Courier New"/>
                <a:cs typeface="Courier New"/>
              </a:rPr>
              <a:t>  return g+1;</a:t>
            </a:r>
          </a:p>
          <a:p>
            <a:r>
              <a:rPr lang="en-US" sz="1800" smtClean="0">
                <a:latin typeface="Courier New"/>
                <a:cs typeface="Courier New"/>
              </a:rPr>
              <a:t>}</a:t>
            </a:r>
          </a:p>
        </p:txBody>
      </p:sp>
      <p:sp>
        <p:nvSpPr>
          <p:cNvPr id="201732" name="Rectangle 4"/>
          <p:cNvSpPr>
            <a:spLocks noChangeArrowheads="1"/>
          </p:cNvSpPr>
          <p:nvPr/>
        </p:nvSpPr>
        <p:spPr bwMode="auto">
          <a:xfrm>
            <a:off x="762000" y="1143000"/>
            <a:ext cx="922047" cy="461665"/>
          </a:xfrm>
          <a:prstGeom prst="rect">
            <a:avLst/>
          </a:prstGeom>
          <a:noFill/>
          <a:ln w="3175">
            <a:solidFill>
              <a:schemeClr val="bg1"/>
            </a:solidFill>
            <a:miter lim="800000"/>
            <a:headEnd/>
            <a:tailEnd/>
          </a:ln>
          <a:effectLst/>
        </p:spPr>
        <p:txBody>
          <a:bodyPr wrap="none">
            <a:prstTxWarp prst="textNoShape">
              <a:avLst/>
            </a:prstTxWarp>
            <a:spAutoFit/>
          </a:bodyPr>
          <a:lstStyle/>
          <a:p>
            <a:r>
              <a:rPr lang="en-US" smtClean="0">
                <a:solidFill>
                  <a:srgbClr val="000000"/>
                </a:solidFill>
                <a:latin typeface="Courier New"/>
                <a:cs typeface="Courier New"/>
              </a:rPr>
              <a:t>c1.c</a:t>
            </a:r>
            <a:endParaRPr lang="en-US">
              <a:solidFill>
                <a:srgbClr val="000000"/>
              </a:solidFill>
              <a:latin typeface="Courier New"/>
              <a:cs typeface="Courier New"/>
            </a:endParaRPr>
          </a:p>
        </p:txBody>
      </p:sp>
      <p:sp>
        <p:nvSpPr>
          <p:cNvPr id="201733" name="Rectangle 5"/>
          <p:cNvSpPr>
            <a:spLocks noChangeArrowheads="1"/>
          </p:cNvSpPr>
          <p:nvPr/>
        </p:nvSpPr>
        <p:spPr bwMode="auto">
          <a:xfrm>
            <a:off x="4572000" y="1332636"/>
            <a:ext cx="1659429" cy="461665"/>
          </a:xfrm>
          <a:prstGeom prst="rect">
            <a:avLst/>
          </a:prstGeom>
          <a:noFill/>
          <a:ln w="3175">
            <a:solidFill>
              <a:schemeClr val="bg1"/>
            </a:solidFill>
            <a:miter lim="800000"/>
            <a:headEnd/>
            <a:tailEnd/>
          </a:ln>
          <a:effectLst/>
        </p:spPr>
        <p:txBody>
          <a:bodyPr wrap="none">
            <a:prstTxWarp prst="textNoShape">
              <a:avLst/>
            </a:prstTxWarp>
            <a:spAutoFit/>
          </a:bodyPr>
          <a:lstStyle/>
          <a:p>
            <a:r>
              <a:rPr lang="en-US" err="1" smtClean="0">
                <a:solidFill>
                  <a:srgbClr val="000000"/>
                </a:solidFill>
                <a:latin typeface="Courier New"/>
                <a:cs typeface="Courier New"/>
              </a:rPr>
              <a:t>global.h</a:t>
            </a:r>
            <a:endParaRPr lang="en-US">
              <a:solidFill>
                <a:srgbClr val="000000"/>
              </a:solidFill>
              <a:latin typeface="Courier New"/>
              <a:cs typeface="Courier New"/>
            </a:endParaRPr>
          </a:p>
        </p:txBody>
      </p:sp>
      <p:sp>
        <p:nvSpPr>
          <p:cNvPr id="201734" name="Rectangle 6"/>
          <p:cNvSpPr>
            <a:spLocks noChangeArrowheads="1"/>
          </p:cNvSpPr>
          <p:nvPr/>
        </p:nvSpPr>
        <p:spPr bwMode="auto">
          <a:xfrm>
            <a:off x="4648200" y="1792069"/>
            <a:ext cx="1976823" cy="646331"/>
          </a:xfrm>
          <a:prstGeom prst="rect">
            <a:avLst/>
          </a:prstGeom>
          <a:solidFill>
            <a:srgbClr val="DBF2DA"/>
          </a:solidFill>
          <a:ln w="3175">
            <a:solidFill>
              <a:schemeClr val="tx1"/>
            </a:solidFill>
            <a:miter lim="800000"/>
            <a:headEnd/>
            <a:tailEnd/>
          </a:ln>
          <a:effectLst/>
        </p:spPr>
        <p:txBody>
          <a:bodyPr wrap="none">
            <a:prstTxWarp prst="textNoShape">
              <a:avLst/>
            </a:prstTxWarp>
            <a:spAutoFit/>
          </a:bodyPr>
          <a:lstStyle/>
          <a:p>
            <a:r>
              <a:rPr lang="en-US" sz="1800" dirty="0" smtClean="0">
                <a:latin typeface="Courier New"/>
                <a:cs typeface="Courier New"/>
              </a:rPr>
              <a:t>extern </a:t>
            </a:r>
            <a:r>
              <a:rPr lang="en-US" sz="1800" dirty="0" err="1" smtClean="0">
                <a:latin typeface="Courier New"/>
                <a:cs typeface="Courier New"/>
              </a:rPr>
              <a:t>int</a:t>
            </a:r>
            <a:r>
              <a:rPr lang="en-US" sz="1800" dirty="0" smtClean="0">
                <a:latin typeface="Courier New"/>
                <a:cs typeface="Courier New"/>
              </a:rPr>
              <a:t> g;</a:t>
            </a:r>
          </a:p>
          <a:p>
            <a:r>
              <a:rPr lang="en-US" sz="1800" dirty="0" err="1" smtClean="0">
                <a:latin typeface="Courier New"/>
                <a:cs typeface="Courier New"/>
              </a:rPr>
              <a:t>int</a:t>
            </a:r>
            <a:r>
              <a:rPr lang="en-US" sz="1800" dirty="0" smtClean="0">
                <a:latin typeface="Courier New"/>
                <a:cs typeface="Courier New"/>
              </a:rPr>
              <a:t> f();</a:t>
            </a:r>
          </a:p>
        </p:txBody>
      </p:sp>
      <p:sp>
        <p:nvSpPr>
          <p:cNvPr id="7" name="Rectangle 3"/>
          <p:cNvSpPr>
            <a:spLocks noChangeArrowheads="1"/>
          </p:cNvSpPr>
          <p:nvPr/>
        </p:nvSpPr>
        <p:spPr bwMode="auto">
          <a:xfrm>
            <a:off x="825500" y="3605213"/>
            <a:ext cx="5285421" cy="2862322"/>
          </a:xfrm>
          <a:prstGeom prst="rect">
            <a:avLst/>
          </a:prstGeom>
          <a:solidFill>
            <a:srgbClr val="F7F5CD"/>
          </a:solidFill>
          <a:ln w="3175">
            <a:solidFill>
              <a:schemeClr val="tx1"/>
            </a:solidFill>
            <a:miter lim="800000"/>
            <a:headEnd/>
            <a:tailEnd/>
          </a:ln>
          <a:effectLst/>
        </p:spPr>
        <p:txBody>
          <a:bodyPr wrap="none">
            <a:prstTxWarp prst="textNoShape">
              <a:avLst/>
            </a:prstTxWarp>
            <a:spAutoFit/>
          </a:bodyPr>
          <a:lstStyle/>
          <a:p>
            <a:r>
              <a:rPr lang="en-US" sz="1800" dirty="0" smtClean="0">
                <a:latin typeface="Courier New"/>
                <a:cs typeface="Courier New"/>
              </a:rPr>
              <a:t>#include &lt;</a:t>
            </a:r>
            <a:r>
              <a:rPr lang="en-US" sz="1800" dirty="0" err="1" smtClean="0">
                <a:latin typeface="Courier New"/>
                <a:cs typeface="Courier New"/>
              </a:rPr>
              <a:t>stdio.h</a:t>
            </a:r>
            <a:r>
              <a:rPr lang="en-US" sz="1800" dirty="0" smtClean="0">
                <a:latin typeface="Courier New"/>
                <a:cs typeface="Courier New"/>
              </a:rPr>
              <a:t>&gt;</a:t>
            </a:r>
          </a:p>
          <a:p>
            <a:r>
              <a:rPr lang="en-US" sz="1800" dirty="0" smtClean="0">
                <a:latin typeface="Courier New"/>
                <a:cs typeface="Courier New"/>
              </a:rPr>
              <a:t>#include "</a:t>
            </a:r>
            <a:r>
              <a:rPr lang="en-US" sz="1800" dirty="0" err="1" smtClean="0">
                <a:latin typeface="Courier New"/>
                <a:cs typeface="Courier New"/>
              </a:rPr>
              <a:t>global.h</a:t>
            </a:r>
            <a:r>
              <a:rPr lang="en-US" sz="1800" dirty="0" smtClean="0">
                <a:latin typeface="Courier New"/>
                <a:cs typeface="Courier New"/>
              </a:rPr>
              <a:t>”</a:t>
            </a:r>
          </a:p>
          <a:p>
            <a:endParaRPr lang="en-US" sz="1800" dirty="0">
              <a:latin typeface="Courier New"/>
              <a:cs typeface="Courier New"/>
            </a:endParaRPr>
          </a:p>
          <a:p>
            <a:r>
              <a:rPr lang="en-US" sz="1800" dirty="0" err="1" smtClean="0">
                <a:latin typeface="Courier New"/>
                <a:cs typeface="Courier New"/>
              </a:rPr>
              <a:t>int</a:t>
            </a:r>
            <a:r>
              <a:rPr lang="en-US" sz="1800" dirty="0" smtClean="0">
                <a:latin typeface="Courier New"/>
                <a:cs typeface="Courier New"/>
              </a:rPr>
              <a:t> g = 0;</a:t>
            </a:r>
          </a:p>
          <a:p>
            <a:endParaRPr lang="en-US" sz="1800" dirty="0" smtClean="0">
              <a:latin typeface="Courier New"/>
              <a:cs typeface="Courier New"/>
            </a:endParaRPr>
          </a:p>
          <a:p>
            <a:r>
              <a:rPr lang="en-US" sz="1800" dirty="0" err="1" smtClean="0">
                <a:latin typeface="Courier New"/>
                <a:cs typeface="Courier New"/>
              </a:rPr>
              <a:t>int</a:t>
            </a:r>
            <a:r>
              <a:rPr lang="en-US" sz="1800" dirty="0" smtClean="0">
                <a:latin typeface="Courier New"/>
                <a:cs typeface="Courier New"/>
              </a:rPr>
              <a:t> main(</a:t>
            </a:r>
            <a:r>
              <a:rPr lang="en-US" sz="1800" dirty="0" err="1" smtClean="0">
                <a:latin typeface="Courier New"/>
                <a:cs typeface="Courier New"/>
              </a:rPr>
              <a:t>int</a:t>
            </a:r>
            <a:r>
              <a:rPr lang="en-US" sz="1800" dirty="0" smtClean="0">
                <a:latin typeface="Courier New"/>
                <a:cs typeface="Courier New"/>
              </a:rPr>
              <a:t> </a:t>
            </a:r>
            <a:r>
              <a:rPr lang="en-US" sz="1800" dirty="0" err="1" smtClean="0">
                <a:latin typeface="Courier New"/>
                <a:cs typeface="Courier New"/>
              </a:rPr>
              <a:t>argc</a:t>
            </a:r>
            <a:r>
              <a:rPr lang="en-US" sz="1800" dirty="0" smtClean="0">
                <a:latin typeface="Courier New"/>
                <a:cs typeface="Courier New"/>
              </a:rPr>
              <a:t>, char </a:t>
            </a:r>
            <a:r>
              <a:rPr lang="en-US" sz="1800" dirty="0" err="1" smtClean="0">
                <a:latin typeface="Courier New"/>
                <a:cs typeface="Courier New"/>
              </a:rPr>
              <a:t>argv</a:t>
            </a:r>
            <a:r>
              <a:rPr lang="en-US" sz="1800" dirty="0" smtClean="0">
                <a:latin typeface="Courier New"/>
                <a:cs typeface="Courier New"/>
              </a:rPr>
              <a:t>[]) {</a:t>
            </a:r>
          </a:p>
          <a:p>
            <a:r>
              <a:rPr lang="en-US" sz="1800" dirty="0" smtClean="0">
                <a:latin typeface="Courier New"/>
                <a:cs typeface="Courier New"/>
              </a:rPr>
              <a:t>  </a:t>
            </a:r>
            <a:r>
              <a:rPr lang="en-US" sz="1800" dirty="0" err="1" smtClean="0">
                <a:latin typeface="Courier New"/>
                <a:cs typeface="Courier New"/>
              </a:rPr>
              <a:t>int</a:t>
            </a:r>
            <a:r>
              <a:rPr lang="en-US" sz="1800" dirty="0" smtClean="0">
                <a:latin typeface="Courier New"/>
                <a:cs typeface="Courier New"/>
              </a:rPr>
              <a:t> t = f();</a:t>
            </a:r>
          </a:p>
          <a:p>
            <a:r>
              <a:rPr lang="en-US" sz="1800" dirty="0" smtClean="0">
                <a:latin typeface="Courier New"/>
                <a:cs typeface="Courier New"/>
              </a:rPr>
              <a:t>  </a:t>
            </a:r>
            <a:r>
              <a:rPr lang="en-US" sz="1800" dirty="0" err="1" smtClean="0">
                <a:latin typeface="Courier New"/>
                <a:cs typeface="Courier New"/>
              </a:rPr>
              <a:t>printf</a:t>
            </a:r>
            <a:r>
              <a:rPr lang="en-US" sz="1800" dirty="0" smtClean="0">
                <a:latin typeface="Courier New"/>
                <a:cs typeface="Courier New"/>
              </a:rPr>
              <a:t>("Calling f yields %d\n", t);</a:t>
            </a:r>
          </a:p>
          <a:p>
            <a:r>
              <a:rPr lang="en-US" sz="1800" dirty="0" smtClean="0">
                <a:latin typeface="Courier New"/>
                <a:cs typeface="Courier New"/>
              </a:rPr>
              <a:t>  return 0;</a:t>
            </a:r>
          </a:p>
          <a:p>
            <a:r>
              <a:rPr lang="en-US" sz="1800" dirty="0" smtClean="0">
                <a:latin typeface="Courier New"/>
                <a:cs typeface="Courier New"/>
              </a:rPr>
              <a:t>}</a:t>
            </a:r>
            <a:endParaRPr lang="en-US" sz="1800" dirty="0">
              <a:latin typeface="Courier New"/>
              <a:cs typeface="Courier New"/>
            </a:endParaRPr>
          </a:p>
        </p:txBody>
      </p:sp>
      <p:sp>
        <p:nvSpPr>
          <p:cNvPr id="8" name="Rectangle 4"/>
          <p:cNvSpPr>
            <a:spLocks noChangeArrowheads="1"/>
          </p:cNvSpPr>
          <p:nvPr/>
        </p:nvSpPr>
        <p:spPr bwMode="auto">
          <a:xfrm>
            <a:off x="762000" y="3195935"/>
            <a:ext cx="922047" cy="461665"/>
          </a:xfrm>
          <a:prstGeom prst="rect">
            <a:avLst/>
          </a:prstGeom>
          <a:noFill/>
          <a:ln w="3175">
            <a:solidFill>
              <a:schemeClr val="bg1"/>
            </a:solidFill>
            <a:miter lim="800000"/>
            <a:headEnd/>
            <a:tailEnd/>
          </a:ln>
          <a:effectLst/>
        </p:spPr>
        <p:txBody>
          <a:bodyPr wrap="none">
            <a:prstTxWarp prst="textNoShape">
              <a:avLst/>
            </a:prstTxWarp>
            <a:spAutoFit/>
          </a:bodyPr>
          <a:lstStyle/>
          <a:p>
            <a:r>
              <a:rPr lang="en-US" smtClean="0">
                <a:solidFill>
                  <a:srgbClr val="000000"/>
                </a:solidFill>
                <a:latin typeface="Courier New"/>
                <a:cs typeface="Courier New"/>
              </a:rPr>
              <a:t>c2.c</a:t>
            </a:r>
            <a:endParaRPr lang="en-US">
              <a:solidFill>
                <a:srgbClr val="000000"/>
              </a:solidFill>
              <a:latin typeface="Courier New"/>
              <a:cs typeface="Courier New"/>
            </a:endParaRPr>
          </a:p>
        </p:txBody>
      </p:sp>
    </p:spTree>
    <p:extLst>
      <p:ext uri="{BB962C8B-B14F-4D97-AF65-F5344CB8AC3E}">
        <p14:creationId xmlns:p14="http://schemas.microsoft.com/office/powerpoint/2010/main" val="1110606207"/>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5" name="Rectangle 7"/>
          <p:cNvSpPr>
            <a:spLocks noGrp="1" noChangeArrowheads="1"/>
          </p:cNvSpPr>
          <p:nvPr>
            <p:ph type="title"/>
          </p:nvPr>
        </p:nvSpPr>
        <p:spPr/>
        <p:txBody>
          <a:bodyPr/>
          <a:lstStyle/>
          <a:p>
            <a:r>
              <a:rPr lang="en-US" dirty="0" smtClean="0"/>
              <a:t>Use of .h Files (#2)</a:t>
            </a:r>
            <a:endParaRPr lang="en-US" dirty="0"/>
          </a:p>
        </p:txBody>
      </p:sp>
      <p:sp>
        <p:nvSpPr>
          <p:cNvPr id="201731" name="Rectangle 3"/>
          <p:cNvSpPr>
            <a:spLocks noChangeArrowheads="1"/>
          </p:cNvSpPr>
          <p:nvPr/>
        </p:nvSpPr>
        <p:spPr bwMode="auto">
          <a:xfrm>
            <a:off x="825500" y="1624013"/>
            <a:ext cx="2803973" cy="1477328"/>
          </a:xfrm>
          <a:prstGeom prst="rect">
            <a:avLst/>
          </a:prstGeom>
          <a:solidFill>
            <a:srgbClr val="F7F5CD"/>
          </a:solidFill>
          <a:ln w="3175">
            <a:solidFill>
              <a:schemeClr val="tx1"/>
            </a:solidFill>
            <a:miter lim="800000"/>
            <a:headEnd/>
            <a:tailEnd/>
          </a:ln>
          <a:effectLst/>
        </p:spPr>
        <p:txBody>
          <a:bodyPr wrap="none">
            <a:prstTxWarp prst="textNoShape">
              <a:avLst/>
            </a:prstTxWarp>
            <a:spAutoFit/>
          </a:bodyPr>
          <a:lstStyle/>
          <a:p>
            <a:r>
              <a:rPr lang="en-US" sz="1800" smtClean="0">
                <a:latin typeface="Courier New"/>
                <a:cs typeface="Courier New"/>
              </a:rPr>
              <a:t>#include "</a:t>
            </a:r>
            <a:r>
              <a:rPr lang="en-US" sz="1800" err="1" smtClean="0">
                <a:latin typeface="Courier New"/>
                <a:cs typeface="Courier New"/>
              </a:rPr>
              <a:t>global.h</a:t>
            </a:r>
            <a:r>
              <a:rPr lang="en-US" sz="1800" smtClean="0">
                <a:latin typeface="Courier New"/>
                <a:cs typeface="Courier New"/>
              </a:rPr>
              <a:t>"</a:t>
            </a:r>
          </a:p>
          <a:p>
            <a:endParaRPr lang="en-US" sz="1800" smtClean="0">
              <a:latin typeface="Courier New"/>
              <a:cs typeface="Courier New"/>
            </a:endParaRPr>
          </a:p>
          <a:p>
            <a:r>
              <a:rPr lang="en-US" sz="1800" err="1" smtClean="0">
                <a:latin typeface="Courier New"/>
                <a:cs typeface="Courier New"/>
              </a:rPr>
              <a:t>int</a:t>
            </a:r>
            <a:r>
              <a:rPr lang="en-US" sz="1800" smtClean="0">
                <a:latin typeface="Courier New"/>
                <a:cs typeface="Courier New"/>
              </a:rPr>
              <a:t> f() {</a:t>
            </a:r>
          </a:p>
          <a:p>
            <a:r>
              <a:rPr lang="en-US" sz="1800" smtClean="0">
                <a:latin typeface="Courier New"/>
                <a:cs typeface="Courier New"/>
              </a:rPr>
              <a:t>  return g+1;</a:t>
            </a:r>
          </a:p>
          <a:p>
            <a:r>
              <a:rPr lang="en-US" sz="1800" smtClean="0">
                <a:latin typeface="Courier New"/>
                <a:cs typeface="Courier New"/>
              </a:rPr>
              <a:t>}</a:t>
            </a:r>
          </a:p>
        </p:txBody>
      </p:sp>
      <p:sp>
        <p:nvSpPr>
          <p:cNvPr id="201732" name="Rectangle 4"/>
          <p:cNvSpPr>
            <a:spLocks noChangeArrowheads="1"/>
          </p:cNvSpPr>
          <p:nvPr/>
        </p:nvSpPr>
        <p:spPr bwMode="auto">
          <a:xfrm>
            <a:off x="762000" y="1143000"/>
            <a:ext cx="922047" cy="461665"/>
          </a:xfrm>
          <a:prstGeom prst="rect">
            <a:avLst/>
          </a:prstGeom>
          <a:noFill/>
          <a:ln w="3175">
            <a:solidFill>
              <a:schemeClr val="bg1"/>
            </a:solidFill>
            <a:miter lim="800000"/>
            <a:headEnd/>
            <a:tailEnd/>
          </a:ln>
          <a:effectLst/>
        </p:spPr>
        <p:txBody>
          <a:bodyPr wrap="none">
            <a:prstTxWarp prst="textNoShape">
              <a:avLst/>
            </a:prstTxWarp>
            <a:spAutoFit/>
          </a:bodyPr>
          <a:lstStyle/>
          <a:p>
            <a:r>
              <a:rPr lang="en-US" smtClean="0">
                <a:solidFill>
                  <a:srgbClr val="000000"/>
                </a:solidFill>
                <a:latin typeface="Courier New"/>
                <a:cs typeface="Courier New"/>
              </a:rPr>
              <a:t>c1.c</a:t>
            </a:r>
            <a:endParaRPr lang="en-US">
              <a:solidFill>
                <a:srgbClr val="000000"/>
              </a:solidFill>
              <a:latin typeface="Courier New"/>
              <a:cs typeface="Courier New"/>
            </a:endParaRPr>
          </a:p>
        </p:txBody>
      </p:sp>
      <p:sp>
        <p:nvSpPr>
          <p:cNvPr id="201733" name="Rectangle 5"/>
          <p:cNvSpPr>
            <a:spLocks noChangeArrowheads="1"/>
          </p:cNvSpPr>
          <p:nvPr/>
        </p:nvSpPr>
        <p:spPr bwMode="auto">
          <a:xfrm>
            <a:off x="4572000" y="912167"/>
            <a:ext cx="1659429" cy="461665"/>
          </a:xfrm>
          <a:prstGeom prst="rect">
            <a:avLst/>
          </a:prstGeom>
          <a:noFill/>
          <a:ln w="3175">
            <a:solidFill>
              <a:schemeClr val="bg1"/>
            </a:solidFill>
            <a:miter lim="800000"/>
            <a:headEnd/>
            <a:tailEnd/>
          </a:ln>
          <a:effectLst/>
        </p:spPr>
        <p:txBody>
          <a:bodyPr wrap="none">
            <a:prstTxWarp prst="textNoShape">
              <a:avLst/>
            </a:prstTxWarp>
            <a:spAutoFit/>
          </a:bodyPr>
          <a:lstStyle/>
          <a:p>
            <a:r>
              <a:rPr lang="en-US" err="1" smtClean="0">
                <a:solidFill>
                  <a:srgbClr val="000000"/>
                </a:solidFill>
                <a:latin typeface="Courier New"/>
                <a:cs typeface="Courier New"/>
              </a:rPr>
              <a:t>global.h</a:t>
            </a:r>
            <a:endParaRPr lang="en-US">
              <a:solidFill>
                <a:srgbClr val="000000"/>
              </a:solidFill>
              <a:latin typeface="Courier New"/>
              <a:cs typeface="Courier New"/>
            </a:endParaRPr>
          </a:p>
        </p:txBody>
      </p:sp>
      <p:sp>
        <p:nvSpPr>
          <p:cNvPr id="201734" name="Rectangle 6"/>
          <p:cNvSpPr>
            <a:spLocks noChangeArrowheads="1"/>
          </p:cNvSpPr>
          <p:nvPr/>
        </p:nvSpPr>
        <p:spPr bwMode="auto">
          <a:xfrm>
            <a:off x="4648200" y="1393180"/>
            <a:ext cx="3217547" cy="2031325"/>
          </a:xfrm>
          <a:prstGeom prst="rect">
            <a:avLst/>
          </a:prstGeom>
          <a:solidFill>
            <a:srgbClr val="DBF2DA"/>
          </a:solidFill>
          <a:ln w="3175">
            <a:solidFill>
              <a:schemeClr val="tx1"/>
            </a:solidFill>
            <a:miter lim="800000"/>
            <a:headEnd/>
            <a:tailEnd/>
          </a:ln>
          <a:effectLst/>
        </p:spPr>
        <p:txBody>
          <a:bodyPr wrap="none">
            <a:prstTxWarp prst="textNoShape">
              <a:avLst/>
            </a:prstTxWarp>
            <a:spAutoFit/>
          </a:bodyPr>
          <a:lstStyle/>
          <a:p>
            <a:r>
              <a:rPr lang="en-US" sz="1800" smtClean="0">
                <a:latin typeface="Courier New"/>
                <a:cs typeface="Courier New"/>
              </a:rPr>
              <a:t>#</a:t>
            </a:r>
            <a:r>
              <a:rPr lang="en-US" sz="1800" err="1" smtClean="0">
                <a:latin typeface="Courier New"/>
                <a:cs typeface="Courier New"/>
              </a:rPr>
              <a:t>ifdef</a:t>
            </a:r>
            <a:r>
              <a:rPr lang="en-US" sz="1800" smtClean="0">
                <a:latin typeface="Courier New"/>
                <a:cs typeface="Courier New"/>
              </a:rPr>
              <a:t> INITIALIZE</a:t>
            </a:r>
          </a:p>
          <a:p>
            <a:r>
              <a:rPr lang="en-US" sz="1800" smtClean="0">
                <a:latin typeface="Courier New"/>
                <a:cs typeface="Courier New"/>
              </a:rPr>
              <a:t>  </a:t>
            </a:r>
            <a:r>
              <a:rPr lang="en-US" sz="1800" err="1" smtClean="0">
                <a:solidFill>
                  <a:srgbClr val="FF0000"/>
                </a:solidFill>
                <a:latin typeface="Courier New"/>
                <a:cs typeface="Courier New"/>
              </a:rPr>
              <a:t>int</a:t>
            </a:r>
            <a:r>
              <a:rPr lang="en-US" sz="1800" smtClean="0">
                <a:solidFill>
                  <a:srgbClr val="FF0000"/>
                </a:solidFill>
                <a:latin typeface="Courier New"/>
                <a:cs typeface="Courier New"/>
              </a:rPr>
              <a:t> g = 23;</a:t>
            </a:r>
          </a:p>
          <a:p>
            <a:r>
              <a:rPr lang="en-US" sz="1800" smtClean="0">
                <a:solidFill>
                  <a:srgbClr val="FF0000"/>
                </a:solidFill>
                <a:latin typeface="Courier New"/>
                <a:cs typeface="Courier New"/>
              </a:rPr>
              <a:t>  static </a:t>
            </a:r>
            <a:r>
              <a:rPr lang="en-US" sz="1800" err="1" smtClean="0">
                <a:solidFill>
                  <a:srgbClr val="FF0000"/>
                </a:solidFill>
                <a:latin typeface="Courier New"/>
                <a:cs typeface="Courier New"/>
              </a:rPr>
              <a:t>int</a:t>
            </a:r>
            <a:r>
              <a:rPr lang="en-US" sz="1800" smtClean="0">
                <a:solidFill>
                  <a:srgbClr val="FF0000"/>
                </a:solidFill>
                <a:latin typeface="Courier New"/>
                <a:cs typeface="Courier New"/>
              </a:rPr>
              <a:t> init = 1;</a:t>
            </a:r>
          </a:p>
          <a:p>
            <a:r>
              <a:rPr lang="en-US" sz="1800" smtClean="0">
                <a:latin typeface="Courier New"/>
                <a:cs typeface="Courier New"/>
              </a:rPr>
              <a:t>#else</a:t>
            </a:r>
          </a:p>
          <a:p>
            <a:r>
              <a:rPr lang="en-US" sz="1800" smtClean="0">
                <a:latin typeface="Courier New"/>
                <a:cs typeface="Courier New"/>
              </a:rPr>
              <a:t>  extern </a:t>
            </a:r>
            <a:r>
              <a:rPr lang="en-US" sz="1800" err="1" smtClean="0">
                <a:latin typeface="Courier New"/>
                <a:cs typeface="Courier New"/>
              </a:rPr>
              <a:t>int</a:t>
            </a:r>
            <a:r>
              <a:rPr lang="en-US" sz="1800" smtClean="0">
                <a:latin typeface="Courier New"/>
                <a:cs typeface="Courier New"/>
              </a:rPr>
              <a:t> g;</a:t>
            </a:r>
          </a:p>
          <a:p>
            <a:r>
              <a:rPr lang="en-US" sz="1800" smtClean="0">
                <a:latin typeface="Courier New"/>
                <a:cs typeface="Courier New"/>
              </a:rPr>
              <a:t>  static </a:t>
            </a:r>
            <a:r>
              <a:rPr lang="en-US" sz="1800" err="1" smtClean="0">
                <a:latin typeface="Courier New"/>
                <a:cs typeface="Courier New"/>
              </a:rPr>
              <a:t>int</a:t>
            </a:r>
            <a:r>
              <a:rPr lang="en-US" sz="1800" smtClean="0">
                <a:latin typeface="Courier New"/>
                <a:cs typeface="Courier New"/>
              </a:rPr>
              <a:t> init = 0;</a:t>
            </a:r>
          </a:p>
          <a:p>
            <a:r>
              <a:rPr lang="en-US" sz="1800" smtClean="0">
                <a:latin typeface="Courier New"/>
                <a:cs typeface="Courier New"/>
              </a:rPr>
              <a:t>#</a:t>
            </a:r>
            <a:r>
              <a:rPr lang="en-US" sz="1800" err="1" smtClean="0">
                <a:latin typeface="Courier New"/>
                <a:cs typeface="Courier New"/>
              </a:rPr>
              <a:t>endif</a:t>
            </a:r>
            <a:endParaRPr lang="en-US" sz="1800" smtClean="0">
              <a:latin typeface="Courier New"/>
              <a:cs typeface="Courier New"/>
            </a:endParaRPr>
          </a:p>
        </p:txBody>
      </p:sp>
      <p:sp>
        <p:nvSpPr>
          <p:cNvPr id="7" name="Rectangle 3"/>
          <p:cNvSpPr>
            <a:spLocks noChangeArrowheads="1"/>
          </p:cNvSpPr>
          <p:nvPr/>
        </p:nvSpPr>
        <p:spPr bwMode="auto">
          <a:xfrm>
            <a:off x="825500" y="3605213"/>
            <a:ext cx="5285421" cy="3139321"/>
          </a:xfrm>
          <a:prstGeom prst="rect">
            <a:avLst/>
          </a:prstGeom>
          <a:solidFill>
            <a:srgbClr val="F7F5CD"/>
          </a:solidFill>
          <a:ln w="3175">
            <a:solidFill>
              <a:schemeClr val="tx1"/>
            </a:solidFill>
            <a:miter lim="800000"/>
            <a:headEnd/>
            <a:tailEnd/>
          </a:ln>
          <a:effectLst/>
        </p:spPr>
        <p:txBody>
          <a:bodyPr wrap="none">
            <a:prstTxWarp prst="textNoShape">
              <a:avLst/>
            </a:prstTxWarp>
            <a:spAutoFit/>
          </a:bodyPr>
          <a:lstStyle/>
          <a:p>
            <a:r>
              <a:rPr lang="en-US" sz="1800" smtClean="0">
                <a:solidFill>
                  <a:srgbClr val="FF0000"/>
                </a:solidFill>
                <a:latin typeface="Courier New"/>
                <a:cs typeface="Courier New"/>
              </a:rPr>
              <a:t>#define INITIALIZE</a:t>
            </a:r>
          </a:p>
          <a:p>
            <a:r>
              <a:rPr lang="en-US" sz="1800" smtClean="0">
                <a:latin typeface="Courier New"/>
                <a:cs typeface="Courier New"/>
              </a:rPr>
              <a:t>#include &lt;</a:t>
            </a:r>
            <a:r>
              <a:rPr lang="en-US" sz="1800" err="1" smtClean="0">
                <a:latin typeface="Courier New"/>
                <a:cs typeface="Courier New"/>
              </a:rPr>
              <a:t>stdio.h</a:t>
            </a:r>
            <a:r>
              <a:rPr lang="en-US" sz="1800" smtClean="0">
                <a:latin typeface="Courier New"/>
                <a:cs typeface="Courier New"/>
              </a:rPr>
              <a:t>&gt;</a:t>
            </a:r>
          </a:p>
          <a:p>
            <a:r>
              <a:rPr lang="en-US" sz="1800" smtClean="0">
                <a:latin typeface="Courier New"/>
                <a:cs typeface="Courier New"/>
              </a:rPr>
              <a:t>#include "</a:t>
            </a:r>
            <a:r>
              <a:rPr lang="en-US" sz="1800" err="1" smtClean="0">
                <a:latin typeface="Courier New"/>
                <a:cs typeface="Courier New"/>
              </a:rPr>
              <a:t>global.h</a:t>
            </a:r>
            <a:r>
              <a:rPr lang="en-US" sz="1800" smtClean="0">
                <a:latin typeface="Courier New"/>
                <a:cs typeface="Courier New"/>
              </a:rPr>
              <a:t>"</a:t>
            </a:r>
          </a:p>
          <a:p>
            <a:endParaRPr lang="en-US" sz="1800" smtClean="0">
              <a:latin typeface="Courier New"/>
              <a:cs typeface="Courier New"/>
            </a:endParaRPr>
          </a:p>
          <a:p>
            <a:r>
              <a:rPr lang="en-US" sz="1800" err="1" smtClean="0">
                <a:latin typeface="Courier New"/>
                <a:cs typeface="Courier New"/>
              </a:rPr>
              <a:t>int</a:t>
            </a:r>
            <a:r>
              <a:rPr lang="en-US" sz="1800" smtClean="0">
                <a:latin typeface="Courier New"/>
                <a:cs typeface="Courier New"/>
              </a:rPr>
              <a:t> main(</a:t>
            </a:r>
            <a:r>
              <a:rPr lang="en-US" sz="1800" err="1" smtClean="0">
                <a:latin typeface="Courier New"/>
                <a:cs typeface="Courier New"/>
              </a:rPr>
              <a:t>int</a:t>
            </a:r>
            <a:r>
              <a:rPr lang="en-US" sz="1800" smtClean="0">
                <a:latin typeface="Courier New"/>
                <a:cs typeface="Courier New"/>
              </a:rPr>
              <a:t> </a:t>
            </a:r>
            <a:r>
              <a:rPr lang="en-US" sz="1800" err="1" smtClean="0">
                <a:latin typeface="Courier New"/>
                <a:cs typeface="Courier New"/>
              </a:rPr>
              <a:t>argc</a:t>
            </a:r>
            <a:r>
              <a:rPr lang="en-US" sz="1800" smtClean="0">
                <a:latin typeface="Courier New"/>
                <a:cs typeface="Courier New"/>
              </a:rPr>
              <a:t>, char** </a:t>
            </a:r>
            <a:r>
              <a:rPr lang="en-US" sz="1800" err="1" smtClean="0">
                <a:latin typeface="Courier New"/>
                <a:cs typeface="Courier New"/>
              </a:rPr>
              <a:t>argv</a:t>
            </a:r>
            <a:r>
              <a:rPr lang="en-US" sz="1800" smtClean="0">
                <a:latin typeface="Courier New"/>
                <a:cs typeface="Courier New"/>
              </a:rPr>
              <a:t>) {</a:t>
            </a:r>
          </a:p>
          <a:p>
            <a:r>
              <a:rPr lang="en-US" sz="1800" smtClean="0">
                <a:latin typeface="Courier New"/>
                <a:cs typeface="Courier New"/>
              </a:rPr>
              <a:t>  if (</a:t>
            </a:r>
            <a:r>
              <a:rPr lang="en-US" sz="1800" err="1" smtClean="0">
                <a:latin typeface="Courier New"/>
                <a:cs typeface="Courier New"/>
              </a:rPr>
              <a:t>init</a:t>
            </a:r>
            <a:r>
              <a:rPr lang="en-US" sz="1800" smtClean="0">
                <a:latin typeface="Courier New"/>
                <a:cs typeface="Courier New"/>
              </a:rPr>
              <a:t>)</a:t>
            </a:r>
          </a:p>
          <a:p>
            <a:r>
              <a:rPr lang="en-US" sz="1800" smtClean="0">
                <a:latin typeface="Courier New"/>
                <a:cs typeface="Courier New"/>
              </a:rPr>
              <a:t>    // do something, e.g., g=31;</a:t>
            </a:r>
          </a:p>
          <a:p>
            <a:r>
              <a:rPr lang="en-US" sz="1800" smtClean="0">
                <a:latin typeface="Courier New"/>
                <a:cs typeface="Courier New"/>
              </a:rPr>
              <a:t>  </a:t>
            </a:r>
            <a:r>
              <a:rPr lang="en-US" sz="1800" err="1" smtClean="0">
                <a:latin typeface="Courier New"/>
                <a:cs typeface="Courier New"/>
              </a:rPr>
              <a:t>int</a:t>
            </a:r>
            <a:r>
              <a:rPr lang="en-US" sz="1800" smtClean="0">
                <a:latin typeface="Courier New"/>
                <a:cs typeface="Courier New"/>
              </a:rPr>
              <a:t> t = f();</a:t>
            </a:r>
          </a:p>
          <a:p>
            <a:r>
              <a:rPr lang="en-US" sz="1800" smtClean="0">
                <a:latin typeface="Courier New"/>
                <a:cs typeface="Courier New"/>
              </a:rPr>
              <a:t>  </a:t>
            </a:r>
            <a:r>
              <a:rPr lang="en-US" sz="1800" err="1" smtClean="0">
                <a:latin typeface="Courier New"/>
                <a:cs typeface="Courier New"/>
              </a:rPr>
              <a:t>printf</a:t>
            </a:r>
            <a:r>
              <a:rPr lang="en-US" sz="1800" smtClean="0">
                <a:latin typeface="Courier New"/>
                <a:cs typeface="Courier New"/>
              </a:rPr>
              <a:t>("Calling f yields %d\n", t);</a:t>
            </a:r>
          </a:p>
          <a:p>
            <a:r>
              <a:rPr lang="en-US" sz="1800" smtClean="0">
                <a:latin typeface="Courier New"/>
                <a:cs typeface="Courier New"/>
              </a:rPr>
              <a:t>  return 0;</a:t>
            </a:r>
          </a:p>
          <a:p>
            <a:r>
              <a:rPr lang="en-US" sz="1800" smtClean="0">
                <a:latin typeface="Courier New"/>
                <a:cs typeface="Courier New"/>
              </a:rPr>
              <a:t>}</a:t>
            </a:r>
            <a:endParaRPr lang="en-US" sz="1800">
              <a:latin typeface="Courier New"/>
              <a:cs typeface="Courier New"/>
            </a:endParaRPr>
          </a:p>
        </p:txBody>
      </p:sp>
      <p:sp>
        <p:nvSpPr>
          <p:cNvPr id="8" name="Rectangle 4"/>
          <p:cNvSpPr>
            <a:spLocks noChangeArrowheads="1"/>
          </p:cNvSpPr>
          <p:nvPr/>
        </p:nvSpPr>
        <p:spPr bwMode="auto">
          <a:xfrm>
            <a:off x="762000" y="3195935"/>
            <a:ext cx="922047" cy="461665"/>
          </a:xfrm>
          <a:prstGeom prst="rect">
            <a:avLst/>
          </a:prstGeom>
          <a:noFill/>
          <a:ln w="3175">
            <a:solidFill>
              <a:schemeClr val="bg1"/>
            </a:solidFill>
            <a:miter lim="800000"/>
            <a:headEnd/>
            <a:tailEnd/>
          </a:ln>
          <a:effectLst/>
        </p:spPr>
        <p:txBody>
          <a:bodyPr wrap="none">
            <a:prstTxWarp prst="textNoShape">
              <a:avLst/>
            </a:prstTxWarp>
            <a:spAutoFit/>
          </a:bodyPr>
          <a:lstStyle/>
          <a:p>
            <a:r>
              <a:rPr lang="en-US" smtClean="0">
                <a:solidFill>
                  <a:srgbClr val="000000"/>
                </a:solidFill>
                <a:latin typeface="Courier New"/>
                <a:cs typeface="Courier New"/>
              </a:rPr>
              <a:t>c2.c</a:t>
            </a:r>
            <a:endParaRPr lang="en-US">
              <a:solidFill>
                <a:srgbClr val="000000"/>
              </a:solidFill>
              <a:latin typeface="Courier New"/>
              <a:cs typeface="Courier New"/>
            </a:endParaRPr>
          </a:p>
        </p:txBody>
      </p:sp>
      <p:grpSp>
        <p:nvGrpSpPr>
          <p:cNvPr id="9" name="Group 8"/>
          <p:cNvGrpSpPr/>
          <p:nvPr/>
        </p:nvGrpSpPr>
        <p:grpSpPr>
          <a:xfrm>
            <a:off x="1077686" y="3940628"/>
            <a:ext cx="6882311" cy="838200"/>
            <a:chOff x="1077686" y="3940628"/>
            <a:chExt cx="6882311" cy="838200"/>
          </a:xfrm>
        </p:grpSpPr>
        <p:sp>
          <p:nvSpPr>
            <p:cNvPr id="2" name="Rectangle 1"/>
            <p:cNvSpPr/>
            <p:nvPr/>
          </p:nvSpPr>
          <p:spPr bwMode="auto">
            <a:xfrm>
              <a:off x="3997597" y="3940628"/>
              <a:ext cx="3962400" cy="838200"/>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r>
                <a:rPr lang="en-US" sz="1800" err="1">
                  <a:solidFill>
                    <a:srgbClr val="FF0000"/>
                  </a:solidFill>
                  <a:latin typeface="Courier New"/>
                  <a:cs typeface="Courier New"/>
                </a:rPr>
                <a:t>int</a:t>
              </a:r>
              <a:r>
                <a:rPr lang="en-US" sz="1800">
                  <a:solidFill>
                    <a:srgbClr val="FF0000"/>
                  </a:solidFill>
                  <a:latin typeface="Courier New"/>
                  <a:cs typeface="Courier New"/>
                </a:rPr>
                <a:t> g = 23;</a:t>
              </a:r>
            </a:p>
            <a:p>
              <a:r>
                <a:rPr lang="en-US" sz="1800" smtClean="0">
                  <a:solidFill>
                    <a:srgbClr val="FF0000"/>
                  </a:solidFill>
                  <a:latin typeface="Courier New"/>
                  <a:cs typeface="Courier New"/>
                </a:rPr>
                <a:t>static </a:t>
              </a:r>
              <a:r>
                <a:rPr lang="en-US" sz="1800" err="1">
                  <a:solidFill>
                    <a:srgbClr val="FF0000"/>
                  </a:solidFill>
                  <a:latin typeface="Courier New"/>
                  <a:cs typeface="Courier New"/>
                </a:rPr>
                <a:t>int</a:t>
              </a:r>
              <a:r>
                <a:rPr lang="en-US" sz="1800">
                  <a:solidFill>
                    <a:srgbClr val="FF0000"/>
                  </a:solidFill>
                  <a:latin typeface="Courier New"/>
                  <a:cs typeface="Courier New"/>
                </a:rPr>
                <a:t> </a:t>
              </a:r>
              <a:r>
                <a:rPr lang="en-US" sz="1800" err="1">
                  <a:solidFill>
                    <a:srgbClr val="FF0000"/>
                  </a:solidFill>
                  <a:latin typeface="Courier New"/>
                  <a:cs typeface="Courier New"/>
                </a:rPr>
                <a:t>init</a:t>
              </a:r>
              <a:r>
                <a:rPr lang="en-US" sz="1800">
                  <a:solidFill>
                    <a:srgbClr val="FF0000"/>
                  </a:solidFill>
                  <a:latin typeface="Courier New"/>
                  <a:cs typeface="Courier New"/>
                </a:rPr>
                <a:t> = 1;</a:t>
              </a:r>
            </a:p>
          </p:txBody>
        </p:sp>
        <p:cxnSp>
          <p:nvCxnSpPr>
            <p:cNvPr id="4" name="Straight Arrow Connector 3"/>
            <p:cNvCxnSpPr>
              <a:stCxn id="2" idx="1"/>
            </p:cNvCxnSpPr>
            <p:nvPr/>
          </p:nvCxnSpPr>
          <p:spPr bwMode="auto">
            <a:xfrm flipH="1">
              <a:off x="1077686" y="4359728"/>
              <a:ext cx="2919911" cy="0"/>
            </a:xfrm>
            <a:prstGeom prst="straightConnector1">
              <a:avLst/>
            </a:prstGeom>
            <a:noFill/>
            <a:ln w="25400" cap="flat" cmpd="sng" algn="ctr">
              <a:solidFill>
                <a:schemeClr val="tx1"/>
              </a:solidFill>
              <a:prstDash val="solid"/>
              <a:round/>
              <a:headEnd type="none" w="med" len="med"/>
              <a:tailEnd type="arrow"/>
            </a:ln>
            <a:effectLst/>
          </p:spPr>
        </p:cxnSp>
      </p:grpSp>
      <p:grpSp>
        <p:nvGrpSpPr>
          <p:cNvPr id="15" name="Group 14"/>
          <p:cNvGrpSpPr/>
          <p:nvPr/>
        </p:nvGrpSpPr>
        <p:grpSpPr>
          <a:xfrm>
            <a:off x="1223023" y="1393180"/>
            <a:ext cx="6882311" cy="838200"/>
            <a:chOff x="1077686" y="3940628"/>
            <a:chExt cx="6882311" cy="838200"/>
          </a:xfrm>
        </p:grpSpPr>
        <p:sp>
          <p:nvSpPr>
            <p:cNvPr id="16" name="Rectangle 15"/>
            <p:cNvSpPr/>
            <p:nvPr/>
          </p:nvSpPr>
          <p:spPr bwMode="auto">
            <a:xfrm>
              <a:off x="3997597" y="3940628"/>
              <a:ext cx="3962400" cy="838200"/>
            </a:xfrm>
            <a:prstGeom prst="rect">
              <a:avLst/>
            </a:prstGeom>
            <a:solidFill>
              <a:schemeClr val="accent2">
                <a:lumMod val="20000"/>
                <a:lumOff val="80000"/>
              </a:schemeClr>
            </a:solidFill>
            <a:ln w="28575" cap="flat" cmpd="sng" algn="ctr">
              <a:solidFill>
                <a:schemeClr val="tx1"/>
              </a:solid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r>
                <a:rPr lang="en-US" sz="1800">
                  <a:latin typeface="Courier New"/>
                  <a:cs typeface="Courier New"/>
                </a:rPr>
                <a:t>e</a:t>
              </a:r>
              <a:r>
                <a:rPr lang="en-US" sz="1800" smtClean="0">
                  <a:latin typeface="Courier New"/>
                  <a:cs typeface="Courier New"/>
                </a:rPr>
                <a:t>xtern </a:t>
              </a:r>
              <a:r>
                <a:rPr lang="en-US" sz="1800" err="1" smtClean="0">
                  <a:latin typeface="Courier New"/>
                  <a:cs typeface="Courier New"/>
                </a:rPr>
                <a:t>int</a:t>
              </a:r>
              <a:r>
                <a:rPr lang="en-US" sz="1800" smtClean="0">
                  <a:latin typeface="Courier New"/>
                  <a:cs typeface="Courier New"/>
                </a:rPr>
                <a:t> g;</a:t>
              </a:r>
              <a:endParaRPr lang="en-US" sz="1800">
                <a:latin typeface="Courier New"/>
                <a:cs typeface="Courier New"/>
              </a:endParaRPr>
            </a:p>
            <a:p>
              <a:r>
                <a:rPr lang="en-US" sz="1800" smtClean="0">
                  <a:latin typeface="Courier New"/>
                  <a:cs typeface="Courier New"/>
                </a:rPr>
                <a:t>static </a:t>
              </a:r>
              <a:r>
                <a:rPr lang="en-US" sz="1800" err="1">
                  <a:latin typeface="Courier New"/>
                  <a:cs typeface="Courier New"/>
                </a:rPr>
                <a:t>int</a:t>
              </a:r>
              <a:r>
                <a:rPr lang="en-US" sz="1800">
                  <a:latin typeface="Courier New"/>
                  <a:cs typeface="Courier New"/>
                </a:rPr>
                <a:t> </a:t>
              </a:r>
              <a:r>
                <a:rPr lang="en-US" sz="1800" err="1">
                  <a:latin typeface="Courier New"/>
                  <a:cs typeface="Courier New"/>
                </a:rPr>
                <a:t>init</a:t>
              </a:r>
              <a:r>
                <a:rPr lang="en-US" sz="1800">
                  <a:latin typeface="Courier New"/>
                  <a:cs typeface="Courier New"/>
                </a:rPr>
                <a:t> = </a:t>
              </a:r>
              <a:r>
                <a:rPr lang="en-US" sz="1800" smtClean="0">
                  <a:latin typeface="Courier New"/>
                  <a:cs typeface="Courier New"/>
                </a:rPr>
                <a:t>0;</a:t>
              </a:r>
              <a:endParaRPr lang="en-US" sz="1800">
                <a:latin typeface="Courier New"/>
                <a:cs typeface="Courier New"/>
              </a:endParaRPr>
            </a:p>
          </p:txBody>
        </p:sp>
        <p:cxnSp>
          <p:nvCxnSpPr>
            <p:cNvPr id="17" name="Straight Arrow Connector 16"/>
            <p:cNvCxnSpPr>
              <a:stCxn id="16" idx="1"/>
            </p:cNvCxnSpPr>
            <p:nvPr/>
          </p:nvCxnSpPr>
          <p:spPr bwMode="auto">
            <a:xfrm flipH="1">
              <a:off x="1077686" y="4359728"/>
              <a:ext cx="2919911" cy="0"/>
            </a:xfrm>
            <a:prstGeom prst="straightConnector1">
              <a:avLst/>
            </a:prstGeom>
            <a:noFill/>
            <a:ln w="25400" cap="flat" cmpd="sng" algn="ctr">
              <a:solidFill>
                <a:schemeClr val="tx1"/>
              </a:solidFill>
              <a:prstDash val="solid"/>
              <a:round/>
              <a:headEnd type="none" w="med" len="med"/>
              <a:tailEnd type="arrow"/>
            </a:ln>
            <a:effectLst/>
          </p:spPr>
        </p:cxnSp>
      </p:grpSp>
    </p:spTree>
    <p:extLst>
      <p:ext uri="{BB962C8B-B14F-4D97-AF65-F5344CB8AC3E}">
        <p14:creationId xmlns:p14="http://schemas.microsoft.com/office/powerpoint/2010/main" val="384633655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01734"/>
                                        </p:tgtEl>
                                      </p:cBhvr>
                                    </p:animEffect>
                                    <p:set>
                                      <p:cBhvr>
                                        <p:cTn id="7" dur="1" fill="hold">
                                          <p:stCondLst>
                                            <p:cond delay="499"/>
                                          </p:stCondLst>
                                        </p:cTn>
                                        <p:tgtEl>
                                          <p:spTgt spid="201734"/>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
          <p:cNvSpPr>
            <a:spLocks noGrp="1" noChangeArrowheads="1"/>
          </p:cNvSpPr>
          <p:nvPr>
            <p:ph type="title" idx="4294967295"/>
          </p:nvPr>
        </p:nvSpPr>
        <p:spPr>
          <a:xfrm>
            <a:off x="372533" y="465667"/>
            <a:ext cx="7594600" cy="573088"/>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Step 2: Relocation</a:t>
            </a:r>
            <a:endParaRPr lang="en-GB"/>
          </a:p>
        </p:txBody>
      </p:sp>
      <p:sp>
        <p:nvSpPr>
          <p:cNvPr id="18434" name="Rectangle 2"/>
          <p:cNvSpPr>
            <a:spLocks noChangeArrowheads="1"/>
          </p:cNvSpPr>
          <p:nvPr/>
        </p:nvSpPr>
        <p:spPr bwMode="auto">
          <a:xfrm>
            <a:off x="508174" y="3702050"/>
            <a:ext cx="2278062" cy="533400"/>
          </a:xfrm>
          <a:prstGeom prst="rect">
            <a:avLst/>
          </a:prstGeom>
          <a:solidFill>
            <a:srgbClr val="F6F5BD"/>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main()</a:t>
            </a:r>
          </a:p>
        </p:txBody>
      </p:sp>
      <p:sp>
        <p:nvSpPr>
          <p:cNvPr id="18435" name="Text Box 3"/>
          <p:cNvSpPr txBox="1">
            <a:spLocks noChangeArrowheads="1"/>
          </p:cNvSpPr>
          <p:nvPr/>
        </p:nvSpPr>
        <p:spPr bwMode="auto">
          <a:xfrm>
            <a:off x="414865" y="3395828"/>
            <a:ext cx="1008907" cy="354906"/>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main.o</a:t>
            </a:r>
          </a:p>
        </p:txBody>
      </p:sp>
      <p:sp>
        <p:nvSpPr>
          <p:cNvPr id="18437" name="Rectangle 5"/>
          <p:cNvSpPr>
            <a:spLocks noChangeArrowheads="1"/>
          </p:cNvSpPr>
          <p:nvPr/>
        </p:nvSpPr>
        <p:spPr bwMode="auto">
          <a:xfrm>
            <a:off x="508174" y="5032375"/>
            <a:ext cx="2278062" cy="533400"/>
          </a:xfrm>
          <a:prstGeom prst="rect">
            <a:avLst/>
          </a:prstGeom>
          <a:solidFill>
            <a:srgbClr val="F6F5BD"/>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smtClean="0">
                <a:latin typeface="Courier New" pitchFamily="49" charset="0"/>
                <a:ea typeface="msgothic" charset="0"/>
                <a:cs typeface="msgothic" charset="0"/>
              </a:rPr>
              <a:t>sum(</a:t>
            </a:r>
            <a:r>
              <a:rPr lang="en-GB" sz="1600" b="1">
                <a:latin typeface="Courier New" pitchFamily="49" charset="0"/>
                <a:ea typeface="msgothic" charset="0"/>
                <a:cs typeface="msgothic" charset="0"/>
              </a:rPr>
              <a:t>)</a:t>
            </a:r>
          </a:p>
        </p:txBody>
      </p:sp>
      <p:sp>
        <p:nvSpPr>
          <p:cNvPr id="18438" name="Text Box 6"/>
          <p:cNvSpPr txBox="1">
            <a:spLocks noChangeArrowheads="1"/>
          </p:cNvSpPr>
          <p:nvPr/>
        </p:nvSpPr>
        <p:spPr bwMode="auto">
          <a:xfrm>
            <a:off x="381000" y="4738689"/>
            <a:ext cx="874368" cy="357663"/>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err="1" smtClean="0">
                <a:latin typeface="Courier New" pitchFamily="49" charset="0"/>
                <a:ea typeface="msgothic" charset="0"/>
                <a:cs typeface="msgothic" charset="0"/>
              </a:rPr>
              <a:t>sum.o</a:t>
            </a:r>
            <a:endParaRPr lang="en-GB" sz="1800" b="1">
              <a:latin typeface="Courier New" pitchFamily="49" charset="0"/>
              <a:ea typeface="msgothic" charset="0"/>
              <a:cs typeface="msgothic" charset="0"/>
            </a:endParaRPr>
          </a:p>
        </p:txBody>
      </p:sp>
      <p:sp>
        <p:nvSpPr>
          <p:cNvPr id="18444" name="Rectangle 12"/>
          <p:cNvSpPr>
            <a:spLocks noChangeArrowheads="1"/>
          </p:cNvSpPr>
          <p:nvPr/>
        </p:nvSpPr>
        <p:spPr bwMode="auto">
          <a:xfrm>
            <a:off x="508174" y="2057400"/>
            <a:ext cx="2278062" cy="533400"/>
          </a:xfrm>
          <a:prstGeom prst="rect">
            <a:avLst/>
          </a:prstGeom>
          <a:solidFill>
            <a:srgbClr val="F6F5BD"/>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System code</a:t>
            </a:r>
          </a:p>
        </p:txBody>
      </p:sp>
      <p:sp>
        <p:nvSpPr>
          <p:cNvPr id="18446" name="Rectangle 14"/>
          <p:cNvSpPr>
            <a:spLocks noChangeArrowheads="1"/>
          </p:cNvSpPr>
          <p:nvPr/>
        </p:nvSpPr>
        <p:spPr bwMode="auto">
          <a:xfrm>
            <a:off x="508174" y="4235450"/>
            <a:ext cx="2278062" cy="322262"/>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err="1">
                <a:latin typeface="Courier New" pitchFamily="49" charset="0"/>
                <a:ea typeface="msgothic" charset="0"/>
                <a:cs typeface="msgothic" charset="0"/>
              </a:rPr>
              <a:t>int</a:t>
            </a:r>
            <a:r>
              <a:rPr lang="en-GB" sz="1600" b="1">
                <a:latin typeface="Courier New" pitchFamily="49" charset="0"/>
                <a:ea typeface="msgothic" charset="0"/>
                <a:cs typeface="msgothic" charset="0"/>
              </a:rPr>
              <a:t> </a:t>
            </a:r>
            <a:r>
              <a:rPr lang="en-GB" sz="1600" b="1" smtClean="0">
                <a:latin typeface="Courier New" pitchFamily="49" charset="0"/>
                <a:ea typeface="msgothic" charset="0"/>
                <a:cs typeface="msgothic" charset="0"/>
              </a:rPr>
              <a:t>array[</a:t>
            </a:r>
            <a:r>
              <a:rPr lang="en-GB" sz="1600" b="1">
                <a:latin typeface="Courier New" pitchFamily="49" charset="0"/>
                <a:ea typeface="msgothic" charset="0"/>
                <a:cs typeface="msgothic" charset="0"/>
              </a:rPr>
              <a:t>2]={1,2}</a:t>
            </a:r>
          </a:p>
        </p:txBody>
      </p:sp>
      <p:sp>
        <p:nvSpPr>
          <p:cNvPr id="18447" name="Rectangle 15"/>
          <p:cNvSpPr>
            <a:spLocks noChangeArrowheads="1"/>
          </p:cNvSpPr>
          <p:nvPr/>
        </p:nvSpPr>
        <p:spPr bwMode="auto">
          <a:xfrm>
            <a:off x="508174" y="2590800"/>
            <a:ext cx="2278062" cy="36195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System </a:t>
            </a:r>
            <a:r>
              <a:rPr lang="en-GB" sz="1600" b="1" smtClean="0">
                <a:latin typeface="Calibri" pitchFamily="34" charset="0"/>
                <a:ea typeface="msgothic" charset="0"/>
                <a:cs typeface="msgothic" charset="0"/>
              </a:rPr>
              <a:t>data</a:t>
            </a:r>
            <a:endParaRPr lang="en-GB" sz="1600" b="1">
              <a:latin typeface="Calibri" pitchFamily="34" charset="0"/>
              <a:ea typeface="msgothic" charset="0"/>
              <a:cs typeface="msgothic" charset="0"/>
            </a:endParaRPr>
          </a:p>
        </p:txBody>
      </p:sp>
      <p:sp>
        <p:nvSpPr>
          <p:cNvPr id="18451" name="Text Box 19"/>
          <p:cNvSpPr txBox="1">
            <a:spLocks noChangeArrowheads="1"/>
          </p:cNvSpPr>
          <p:nvPr/>
        </p:nvSpPr>
        <p:spPr bwMode="auto">
          <a:xfrm>
            <a:off x="389467" y="1306513"/>
            <a:ext cx="3226502" cy="456473"/>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err="1">
                <a:latin typeface="Calibri" pitchFamily="34" charset="0"/>
                <a:ea typeface="msgothic" charset="0"/>
                <a:cs typeface="msgothic" charset="0"/>
              </a:rPr>
              <a:t>Relocatable</a:t>
            </a:r>
            <a:r>
              <a:rPr lang="en-GB" b="1">
                <a:latin typeface="Calibri" pitchFamily="34" charset="0"/>
                <a:ea typeface="msgothic" charset="0"/>
                <a:cs typeface="msgothic" charset="0"/>
              </a:rPr>
              <a:t> Object Files</a:t>
            </a:r>
          </a:p>
        </p:txBody>
      </p:sp>
      <p:sp>
        <p:nvSpPr>
          <p:cNvPr id="18455" name="Text Box 23"/>
          <p:cNvSpPr txBox="1">
            <a:spLocks noChangeArrowheads="1"/>
          </p:cNvSpPr>
          <p:nvPr/>
        </p:nvSpPr>
        <p:spPr bwMode="auto">
          <a:xfrm>
            <a:off x="2778299" y="2112963"/>
            <a:ext cx="871049" cy="354906"/>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.text</a:t>
            </a:r>
          </a:p>
        </p:txBody>
      </p:sp>
      <p:sp>
        <p:nvSpPr>
          <p:cNvPr id="18456" name="Text Box 24"/>
          <p:cNvSpPr txBox="1">
            <a:spLocks noChangeArrowheads="1"/>
          </p:cNvSpPr>
          <p:nvPr/>
        </p:nvSpPr>
        <p:spPr bwMode="auto">
          <a:xfrm>
            <a:off x="2778299" y="2478088"/>
            <a:ext cx="871049" cy="354906"/>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.data</a:t>
            </a:r>
          </a:p>
        </p:txBody>
      </p:sp>
      <p:sp>
        <p:nvSpPr>
          <p:cNvPr id="18457" name="Text Box 25"/>
          <p:cNvSpPr txBox="1">
            <a:spLocks noChangeArrowheads="1"/>
          </p:cNvSpPr>
          <p:nvPr/>
        </p:nvSpPr>
        <p:spPr bwMode="auto">
          <a:xfrm>
            <a:off x="2778299" y="3741738"/>
            <a:ext cx="871049" cy="354906"/>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.text</a:t>
            </a:r>
          </a:p>
        </p:txBody>
      </p:sp>
      <p:sp>
        <p:nvSpPr>
          <p:cNvPr id="18458" name="Text Box 26"/>
          <p:cNvSpPr txBox="1">
            <a:spLocks noChangeArrowheads="1"/>
          </p:cNvSpPr>
          <p:nvPr/>
        </p:nvSpPr>
        <p:spPr bwMode="auto">
          <a:xfrm>
            <a:off x="2778299" y="4154488"/>
            <a:ext cx="871049" cy="354906"/>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.data</a:t>
            </a:r>
          </a:p>
        </p:txBody>
      </p:sp>
      <p:sp>
        <p:nvSpPr>
          <p:cNvPr id="18459" name="Text Box 27"/>
          <p:cNvSpPr txBox="1">
            <a:spLocks noChangeArrowheads="1"/>
          </p:cNvSpPr>
          <p:nvPr/>
        </p:nvSpPr>
        <p:spPr bwMode="auto">
          <a:xfrm>
            <a:off x="2778299" y="5103813"/>
            <a:ext cx="871049" cy="354906"/>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.text</a:t>
            </a:r>
          </a:p>
        </p:txBody>
      </p:sp>
      <p:grpSp>
        <p:nvGrpSpPr>
          <p:cNvPr id="2" name="Group 1"/>
          <p:cNvGrpSpPr/>
          <p:nvPr/>
        </p:nvGrpSpPr>
        <p:grpSpPr>
          <a:xfrm>
            <a:off x="4038600" y="1306513"/>
            <a:ext cx="4900862" cy="4635499"/>
            <a:chOff x="4038600" y="1306513"/>
            <a:chExt cx="4900862" cy="4635499"/>
          </a:xfrm>
        </p:grpSpPr>
        <p:sp>
          <p:nvSpPr>
            <p:cNvPr id="18440" name="Rectangle 8"/>
            <p:cNvSpPr>
              <a:spLocks noChangeArrowheads="1"/>
            </p:cNvSpPr>
            <p:nvPr/>
          </p:nvSpPr>
          <p:spPr bwMode="auto">
            <a:xfrm>
              <a:off x="5231591" y="2309813"/>
              <a:ext cx="2422525" cy="319087"/>
            </a:xfrm>
            <a:prstGeom prst="rect">
              <a:avLst/>
            </a:prstGeom>
            <a:solidFill>
              <a:srgbClr val="FFFFFF"/>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Headers</a:t>
              </a:r>
            </a:p>
          </p:txBody>
        </p:sp>
        <p:sp>
          <p:nvSpPr>
            <p:cNvPr id="18441" name="Rectangle 9"/>
            <p:cNvSpPr>
              <a:spLocks noChangeArrowheads="1"/>
            </p:cNvSpPr>
            <p:nvPr/>
          </p:nvSpPr>
          <p:spPr bwMode="auto">
            <a:xfrm>
              <a:off x="5231591" y="2957513"/>
              <a:ext cx="2422525" cy="533400"/>
            </a:xfrm>
            <a:prstGeom prst="rect">
              <a:avLst/>
            </a:prstGeom>
            <a:solidFill>
              <a:srgbClr val="F6F5BD"/>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main()</a:t>
              </a:r>
            </a:p>
          </p:txBody>
        </p:sp>
        <p:sp>
          <p:nvSpPr>
            <p:cNvPr id="18442" name="Rectangle 10"/>
            <p:cNvSpPr>
              <a:spLocks noChangeArrowheads="1"/>
            </p:cNvSpPr>
            <p:nvPr/>
          </p:nvSpPr>
          <p:spPr bwMode="auto">
            <a:xfrm>
              <a:off x="5231591" y="3490913"/>
              <a:ext cx="2422525" cy="533400"/>
            </a:xfrm>
            <a:prstGeom prst="rect">
              <a:avLst/>
            </a:prstGeom>
            <a:solidFill>
              <a:srgbClr val="F6F5BD"/>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smtClean="0">
                  <a:latin typeface="Courier New" pitchFamily="49" charset="0"/>
                  <a:ea typeface="msgothic" charset="0"/>
                  <a:cs typeface="msgothic" charset="0"/>
                </a:rPr>
                <a:t>sum()</a:t>
              </a:r>
              <a:endParaRPr lang="en-GB" sz="1600" b="1" dirty="0">
                <a:latin typeface="Courier New" pitchFamily="49" charset="0"/>
                <a:ea typeface="msgothic" charset="0"/>
                <a:cs typeface="msgothic" charset="0"/>
              </a:endParaRPr>
            </a:p>
          </p:txBody>
        </p:sp>
        <p:sp>
          <p:nvSpPr>
            <p:cNvPr id="18443" name="Text Box 11"/>
            <p:cNvSpPr txBox="1">
              <a:spLocks noChangeArrowheads="1"/>
            </p:cNvSpPr>
            <p:nvPr/>
          </p:nvSpPr>
          <p:spPr bwMode="auto">
            <a:xfrm>
              <a:off x="4948237" y="2136774"/>
              <a:ext cx="309563" cy="363538"/>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a:latin typeface="Calibri" pitchFamily="34" charset="0"/>
                  <a:ea typeface="msgothic" charset="0"/>
                  <a:cs typeface="msgothic" charset="0"/>
                </a:rPr>
                <a:t>0</a:t>
              </a:r>
            </a:p>
          </p:txBody>
        </p:sp>
        <p:sp>
          <p:nvSpPr>
            <p:cNvPr id="18448" name="Rectangle 16"/>
            <p:cNvSpPr>
              <a:spLocks noChangeArrowheads="1"/>
            </p:cNvSpPr>
            <p:nvPr/>
          </p:nvSpPr>
          <p:spPr bwMode="auto">
            <a:xfrm>
              <a:off x="5231591" y="4024313"/>
              <a:ext cx="2422525" cy="533400"/>
            </a:xfrm>
            <a:prstGeom prst="rect">
              <a:avLst/>
            </a:prstGeom>
            <a:solidFill>
              <a:srgbClr val="F6F5BD"/>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More system code</a:t>
              </a:r>
            </a:p>
          </p:txBody>
        </p:sp>
        <p:sp>
          <p:nvSpPr>
            <p:cNvPr id="18452" name="Text Box 20"/>
            <p:cNvSpPr txBox="1">
              <a:spLocks noChangeArrowheads="1"/>
            </p:cNvSpPr>
            <p:nvPr/>
          </p:nvSpPr>
          <p:spPr bwMode="auto">
            <a:xfrm>
              <a:off x="5105400" y="1306513"/>
              <a:ext cx="2995862" cy="456473"/>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latin typeface="Calibri" pitchFamily="34" charset="0"/>
                  <a:ea typeface="msgothic" charset="0"/>
                  <a:cs typeface="msgothic" charset="0"/>
                </a:rPr>
                <a:t>Executable Object File</a:t>
              </a:r>
            </a:p>
          </p:txBody>
        </p:sp>
        <p:sp>
          <p:nvSpPr>
            <p:cNvPr id="18453" name="AutoShape 21"/>
            <p:cNvSpPr>
              <a:spLocks/>
            </p:cNvSpPr>
            <p:nvPr/>
          </p:nvSpPr>
          <p:spPr bwMode="auto">
            <a:xfrm>
              <a:off x="7772400" y="2628899"/>
              <a:ext cx="304800" cy="1928813"/>
            </a:xfrm>
            <a:prstGeom prst="rightBrace">
              <a:avLst>
                <a:gd name="adj1" fmla="val 59766"/>
                <a:gd name="adj2" fmla="val 50000"/>
              </a:avLst>
            </a:prstGeom>
            <a:noFill/>
            <a:ln w="25560">
              <a:solidFill>
                <a:schemeClr val="tx1"/>
              </a:solidFill>
              <a:miter lim="800000"/>
              <a:headEnd/>
              <a:tailEnd/>
            </a:ln>
            <a:effectLst/>
          </p:spPr>
          <p:txBody>
            <a:bodyPr wrap="none" anchor="ctr"/>
            <a:lstStyle/>
            <a:p>
              <a:endParaRPr lang="en-US"/>
            </a:p>
          </p:txBody>
        </p:sp>
        <p:sp>
          <p:nvSpPr>
            <p:cNvPr id="18454" name="Text Box 22"/>
            <p:cNvSpPr txBox="1">
              <a:spLocks noChangeArrowheads="1"/>
            </p:cNvSpPr>
            <p:nvPr/>
          </p:nvSpPr>
          <p:spPr bwMode="auto">
            <a:xfrm>
              <a:off x="8068413" y="3224742"/>
              <a:ext cx="871049" cy="354906"/>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.text</a:t>
              </a:r>
            </a:p>
          </p:txBody>
        </p:sp>
        <p:sp>
          <p:nvSpPr>
            <p:cNvPr id="18462" name="Rectangle 30"/>
            <p:cNvSpPr>
              <a:spLocks noChangeArrowheads="1"/>
            </p:cNvSpPr>
            <p:nvPr/>
          </p:nvSpPr>
          <p:spPr bwMode="auto">
            <a:xfrm>
              <a:off x="5231591" y="5257800"/>
              <a:ext cx="2422525" cy="684212"/>
            </a:xfrm>
            <a:prstGeom prst="rect">
              <a:avLst/>
            </a:prstGeom>
            <a:solidFill>
              <a:srgbClr val="FFFFFF"/>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.symtab</a:t>
              </a:r>
            </a:p>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.debug</a:t>
              </a:r>
            </a:p>
          </p:txBody>
        </p:sp>
        <p:sp>
          <p:nvSpPr>
            <p:cNvPr id="18463" name="AutoShape 31"/>
            <p:cNvSpPr>
              <a:spLocks/>
            </p:cNvSpPr>
            <p:nvPr/>
          </p:nvSpPr>
          <p:spPr bwMode="auto">
            <a:xfrm>
              <a:off x="7730316" y="4557713"/>
              <a:ext cx="304800" cy="676275"/>
            </a:xfrm>
            <a:prstGeom prst="rightBrace">
              <a:avLst>
                <a:gd name="adj1" fmla="val 18490"/>
                <a:gd name="adj2" fmla="val 50000"/>
              </a:avLst>
            </a:prstGeom>
            <a:noFill/>
            <a:ln w="25560">
              <a:solidFill>
                <a:schemeClr val="tx1"/>
              </a:solidFill>
              <a:miter lim="800000"/>
              <a:headEnd/>
              <a:tailEnd/>
            </a:ln>
            <a:effectLst/>
          </p:spPr>
          <p:txBody>
            <a:bodyPr wrap="none" anchor="ctr"/>
            <a:lstStyle/>
            <a:p>
              <a:endParaRPr lang="en-US"/>
            </a:p>
          </p:txBody>
        </p:sp>
        <p:sp>
          <p:nvSpPr>
            <p:cNvPr id="18464" name="Text Box 32"/>
            <p:cNvSpPr txBox="1">
              <a:spLocks noChangeArrowheads="1"/>
            </p:cNvSpPr>
            <p:nvPr/>
          </p:nvSpPr>
          <p:spPr bwMode="auto">
            <a:xfrm>
              <a:off x="8068413" y="4696354"/>
              <a:ext cx="871049" cy="354906"/>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.data</a:t>
              </a:r>
            </a:p>
          </p:txBody>
        </p:sp>
        <p:sp>
          <p:nvSpPr>
            <p:cNvPr id="18467" name="Line 35"/>
            <p:cNvSpPr>
              <a:spLocks noChangeShapeType="1"/>
            </p:cNvSpPr>
            <p:nvPr/>
          </p:nvSpPr>
          <p:spPr bwMode="auto">
            <a:xfrm>
              <a:off x="4038600" y="4106070"/>
              <a:ext cx="836613" cy="1587"/>
            </a:xfrm>
            <a:prstGeom prst="line">
              <a:avLst/>
            </a:prstGeom>
            <a:noFill/>
            <a:ln w="76320">
              <a:solidFill>
                <a:schemeClr val="tx1">
                  <a:lumMod val="65000"/>
                  <a:lumOff val="35000"/>
                </a:schemeClr>
              </a:solidFill>
              <a:miter lim="800000"/>
              <a:headEnd/>
              <a:tailEnd type="triangle" w="med" len="med"/>
            </a:ln>
            <a:effectLst/>
          </p:spPr>
          <p:txBody>
            <a:bodyPr/>
            <a:lstStyle/>
            <a:p>
              <a:endParaRPr lang="en-US"/>
            </a:p>
          </p:txBody>
        </p:sp>
        <p:sp>
          <p:nvSpPr>
            <p:cNvPr id="18468" name="Line 36"/>
            <p:cNvSpPr>
              <a:spLocks noChangeShapeType="1"/>
            </p:cNvSpPr>
            <p:nvPr/>
          </p:nvSpPr>
          <p:spPr bwMode="auto">
            <a:xfrm>
              <a:off x="4038600" y="2971800"/>
              <a:ext cx="836613" cy="392113"/>
            </a:xfrm>
            <a:prstGeom prst="line">
              <a:avLst/>
            </a:prstGeom>
            <a:noFill/>
            <a:ln w="76320">
              <a:solidFill>
                <a:schemeClr val="tx1">
                  <a:lumMod val="65000"/>
                  <a:lumOff val="35000"/>
                </a:schemeClr>
              </a:solidFill>
              <a:miter lim="800000"/>
              <a:headEnd/>
              <a:tailEnd type="triangle" w="med" len="med"/>
            </a:ln>
            <a:effectLst/>
          </p:spPr>
          <p:txBody>
            <a:bodyPr/>
            <a:lstStyle/>
            <a:p>
              <a:endParaRPr lang="en-US"/>
            </a:p>
          </p:txBody>
        </p:sp>
        <p:sp>
          <p:nvSpPr>
            <p:cNvPr id="18469" name="Line 37"/>
            <p:cNvSpPr>
              <a:spLocks noChangeShapeType="1"/>
            </p:cNvSpPr>
            <p:nvPr/>
          </p:nvSpPr>
          <p:spPr bwMode="auto">
            <a:xfrm flipV="1">
              <a:off x="4038600" y="4849813"/>
              <a:ext cx="836613" cy="409575"/>
            </a:xfrm>
            <a:prstGeom prst="line">
              <a:avLst/>
            </a:prstGeom>
            <a:noFill/>
            <a:ln w="76320">
              <a:solidFill>
                <a:schemeClr val="tx1">
                  <a:lumMod val="65000"/>
                  <a:lumOff val="35000"/>
                </a:schemeClr>
              </a:solidFill>
              <a:miter lim="800000"/>
              <a:headEnd/>
              <a:tailEnd type="triangle" w="med" len="med"/>
            </a:ln>
            <a:effectLst/>
          </p:spPr>
          <p:txBody>
            <a:bodyPr/>
            <a:lstStyle/>
            <a:p>
              <a:endParaRPr lang="en-US"/>
            </a:p>
          </p:txBody>
        </p:sp>
        <p:sp>
          <p:nvSpPr>
            <p:cNvPr id="18470" name="Rectangle 38"/>
            <p:cNvSpPr>
              <a:spLocks noChangeArrowheads="1"/>
            </p:cNvSpPr>
            <p:nvPr/>
          </p:nvSpPr>
          <p:spPr bwMode="auto">
            <a:xfrm>
              <a:off x="5231591" y="2633663"/>
              <a:ext cx="2422525" cy="319087"/>
            </a:xfrm>
            <a:prstGeom prst="rect">
              <a:avLst/>
            </a:prstGeom>
            <a:solidFill>
              <a:srgbClr val="F6F5BD"/>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System code</a:t>
              </a:r>
            </a:p>
          </p:txBody>
        </p:sp>
        <p:sp>
          <p:nvSpPr>
            <p:cNvPr id="46" name="Rectangle 15"/>
            <p:cNvSpPr>
              <a:spLocks noChangeArrowheads="1"/>
            </p:cNvSpPr>
            <p:nvPr/>
          </p:nvSpPr>
          <p:spPr bwMode="auto">
            <a:xfrm>
              <a:off x="5231590" y="4564063"/>
              <a:ext cx="2422525" cy="36195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System </a:t>
              </a:r>
              <a:r>
                <a:rPr lang="en-GB" sz="1600" b="1" smtClean="0">
                  <a:latin typeface="Calibri" pitchFamily="34" charset="0"/>
                  <a:ea typeface="msgothic" charset="0"/>
                  <a:cs typeface="msgothic" charset="0"/>
                </a:rPr>
                <a:t>data</a:t>
              </a:r>
              <a:endParaRPr lang="en-GB" sz="1600" b="1">
                <a:latin typeface="Calibri" pitchFamily="34" charset="0"/>
                <a:ea typeface="msgothic" charset="0"/>
                <a:cs typeface="msgothic" charset="0"/>
              </a:endParaRPr>
            </a:p>
          </p:txBody>
        </p:sp>
        <p:sp>
          <p:nvSpPr>
            <p:cNvPr id="47" name="Rectangle 14"/>
            <p:cNvSpPr>
              <a:spLocks noChangeArrowheads="1"/>
            </p:cNvSpPr>
            <p:nvPr/>
          </p:nvSpPr>
          <p:spPr bwMode="auto">
            <a:xfrm>
              <a:off x="5231591" y="4942682"/>
              <a:ext cx="2422524" cy="322262"/>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err="1">
                  <a:latin typeface="Courier New" pitchFamily="49" charset="0"/>
                  <a:ea typeface="msgothic" charset="0"/>
                  <a:cs typeface="msgothic" charset="0"/>
                </a:rPr>
                <a:t>int</a:t>
              </a:r>
              <a:r>
                <a:rPr lang="en-GB" sz="1600" b="1">
                  <a:latin typeface="Courier New" pitchFamily="49" charset="0"/>
                  <a:ea typeface="msgothic" charset="0"/>
                  <a:cs typeface="msgothic" charset="0"/>
                </a:rPr>
                <a:t> </a:t>
              </a:r>
              <a:r>
                <a:rPr lang="en-GB" sz="1600" b="1" smtClean="0">
                  <a:latin typeface="Courier New" pitchFamily="49" charset="0"/>
                  <a:ea typeface="msgothic" charset="0"/>
                  <a:cs typeface="msgothic" charset="0"/>
                </a:rPr>
                <a:t>array[</a:t>
              </a:r>
              <a:r>
                <a:rPr lang="en-GB" sz="1600" b="1">
                  <a:latin typeface="Courier New" pitchFamily="49" charset="0"/>
                  <a:ea typeface="msgothic" charset="0"/>
                  <a:cs typeface="msgothic" charset="0"/>
                </a:rPr>
                <a:t>2]={1,2}</a:t>
              </a:r>
            </a:p>
          </p:txBody>
        </p:sp>
      </p:grpSp>
    </p:spTree>
    <p:extLst>
      <p:ext uri="{BB962C8B-B14F-4D97-AF65-F5344CB8AC3E}">
        <p14:creationId xmlns:p14="http://schemas.microsoft.com/office/powerpoint/2010/main" val="3502329941"/>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1"/>
          <p:cNvSpPr>
            <a:spLocks noGrp="1" noChangeArrowheads="1"/>
          </p:cNvSpPr>
          <p:nvPr>
            <p:ph type="title" idx="4294967295"/>
          </p:nvPr>
        </p:nvSpPr>
        <p:spPr>
          <a:xfrm>
            <a:off x="333904" y="445029"/>
            <a:ext cx="8716962" cy="782638"/>
          </a:xfrm>
          <a:ln/>
        </p:spPr>
        <p:txBody>
          <a:bodyPr/>
          <a:lstStyle/>
          <a:p>
            <a:pPr>
              <a:lnSpc>
                <a:spcPct val="82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Relocation Entries</a:t>
            </a:r>
            <a:endParaRPr lang="en-GB"/>
          </a:p>
        </p:txBody>
      </p:sp>
      <p:sp>
        <p:nvSpPr>
          <p:cNvPr id="19460" name="Text Box 4"/>
          <p:cNvSpPr txBox="1">
            <a:spLocks noChangeArrowheads="1"/>
          </p:cNvSpPr>
          <p:nvPr/>
        </p:nvSpPr>
        <p:spPr bwMode="auto">
          <a:xfrm>
            <a:off x="5715000" y="6551633"/>
            <a:ext cx="2933713" cy="306367"/>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b="1">
                <a:latin typeface="Calibri" pitchFamily="34" charset="0"/>
                <a:ea typeface="msgothic" charset="0"/>
                <a:cs typeface="msgothic" charset="0"/>
              </a:rPr>
              <a:t>Source: </a:t>
            </a:r>
            <a:r>
              <a:rPr lang="en-GB" sz="1400" b="1" err="1" smtClean="0">
                <a:latin typeface="Courier New" pitchFamily="49" charset="0"/>
                <a:ea typeface="msgothic" charset="0"/>
                <a:cs typeface="msgothic" charset="0"/>
              </a:rPr>
              <a:t>objdump</a:t>
            </a:r>
            <a:r>
              <a:rPr lang="en-GB" sz="1400" b="1" smtClean="0">
                <a:latin typeface="Courier New" pitchFamily="49" charset="0"/>
                <a:ea typeface="msgothic" charset="0"/>
                <a:cs typeface="msgothic" charset="0"/>
              </a:rPr>
              <a:t> –r –d </a:t>
            </a:r>
            <a:r>
              <a:rPr lang="en-GB" sz="1400" b="1" err="1" smtClean="0">
                <a:latin typeface="Courier New" pitchFamily="49" charset="0"/>
                <a:ea typeface="msgothic" charset="0"/>
                <a:cs typeface="msgothic" charset="0"/>
              </a:rPr>
              <a:t>main.o</a:t>
            </a:r>
            <a:endParaRPr lang="en-GB" sz="1400" b="1">
              <a:latin typeface="Courier New" pitchFamily="49" charset="0"/>
              <a:ea typeface="msgothic" charset="0"/>
              <a:cs typeface="msgothic" charset="0"/>
            </a:endParaRPr>
          </a:p>
        </p:txBody>
      </p:sp>
      <p:sp>
        <p:nvSpPr>
          <p:cNvPr id="9" name="Text Box 2"/>
          <p:cNvSpPr txBox="1">
            <a:spLocks noChangeArrowheads="1"/>
          </p:cNvSpPr>
          <p:nvPr/>
        </p:nvSpPr>
        <p:spPr bwMode="auto">
          <a:xfrm>
            <a:off x="0" y="3581400"/>
            <a:ext cx="9144000" cy="2790636"/>
          </a:xfrm>
          <a:prstGeom prst="rect">
            <a:avLst/>
          </a:prstGeom>
          <a:solidFill>
            <a:schemeClr val="bg1">
              <a:lumMod val="95000"/>
            </a:schemeClr>
          </a:solidFill>
          <a:ln w="3240">
            <a:solidFill>
              <a:schemeClr val="tx1"/>
            </a:solidFill>
            <a:miter lim="800000"/>
            <a:headEnd/>
            <a:tailEnd/>
          </a:ln>
          <a:effectLst/>
        </p:spPr>
        <p:txBody>
          <a:bodyPr wrap="square" lIns="90000" tIns="46800" rIns="90000" bIns="46800">
            <a:spAutoFit/>
          </a:bodyPr>
          <a:lstStyle/>
          <a:p>
            <a:r>
              <a:rPr lang="fr-FR" sz="1600">
                <a:solidFill>
                  <a:srgbClr val="000000"/>
                </a:solidFill>
                <a:latin typeface="Courier New"/>
                <a:cs typeface="Courier New"/>
              </a:rPr>
              <a:t>0000000000000000 &lt;main&gt;:</a:t>
            </a:r>
          </a:p>
          <a:p>
            <a:r>
              <a:rPr lang="ro-RO" sz="1600">
                <a:solidFill>
                  <a:srgbClr val="000000"/>
                </a:solidFill>
                <a:latin typeface="Courier New"/>
                <a:cs typeface="Courier New"/>
              </a:rPr>
              <a:t>   0:   48 83 ec 08             sub    $0x8,%rsp</a:t>
            </a:r>
          </a:p>
          <a:p>
            <a:r>
              <a:rPr lang="en-US" sz="1600">
                <a:solidFill>
                  <a:srgbClr val="000000"/>
                </a:solidFill>
                <a:latin typeface="Courier New"/>
                <a:cs typeface="Courier New"/>
              </a:rPr>
              <a:t>   4:   be 02 00 00 00          </a:t>
            </a:r>
            <a:r>
              <a:rPr lang="en-US" sz="1600" err="1">
                <a:solidFill>
                  <a:srgbClr val="000000"/>
                </a:solidFill>
                <a:latin typeface="Courier New"/>
                <a:cs typeface="Courier New"/>
              </a:rPr>
              <a:t>mov</a:t>
            </a:r>
            <a:r>
              <a:rPr lang="en-US" sz="1600">
                <a:solidFill>
                  <a:srgbClr val="000000"/>
                </a:solidFill>
                <a:latin typeface="Courier New"/>
                <a:cs typeface="Courier New"/>
              </a:rPr>
              <a:t>    $0x2,%esi</a:t>
            </a:r>
          </a:p>
          <a:p>
            <a:r>
              <a:rPr lang="sk-SK" sz="1600">
                <a:solidFill>
                  <a:srgbClr val="000000"/>
                </a:solidFill>
                <a:latin typeface="Courier New"/>
                <a:cs typeface="Courier New"/>
              </a:rPr>
              <a:t>   9:   bf 00 00 00 00          mov    $0x0,%edi      </a:t>
            </a:r>
            <a:r>
              <a:rPr lang="sk-SK" sz="1600">
                <a:solidFill>
                  <a:srgbClr val="3366FF"/>
                </a:solidFill>
                <a:latin typeface="Courier New"/>
                <a:cs typeface="Courier New"/>
              </a:rPr>
              <a:t># %edi = &amp;array</a:t>
            </a:r>
          </a:p>
          <a:p>
            <a:r>
              <a:rPr lang="en-US" sz="1600">
                <a:solidFill>
                  <a:srgbClr val="000000"/>
                </a:solidFill>
                <a:latin typeface="Courier New"/>
                <a:cs typeface="Courier New"/>
              </a:rPr>
              <a:t>                        </a:t>
            </a:r>
            <a:r>
              <a:rPr lang="en-US" sz="1600">
                <a:solidFill>
                  <a:srgbClr val="FF0000"/>
                </a:solidFill>
                <a:latin typeface="Courier New"/>
                <a:cs typeface="Courier New"/>
              </a:rPr>
              <a:t>a: R_X86_64_32 array          </a:t>
            </a:r>
            <a:r>
              <a:rPr lang="en-US" sz="1600">
                <a:solidFill>
                  <a:srgbClr val="3366FF"/>
                </a:solidFill>
                <a:latin typeface="Courier New"/>
                <a:cs typeface="Courier New"/>
              </a:rPr>
              <a:t># Relocation entry</a:t>
            </a:r>
          </a:p>
          <a:p>
            <a:endParaRPr lang="en-US" sz="1600">
              <a:solidFill>
                <a:srgbClr val="3366FF"/>
              </a:solidFill>
              <a:latin typeface="Courier New"/>
              <a:cs typeface="Courier New"/>
            </a:endParaRPr>
          </a:p>
          <a:p>
            <a:r>
              <a:rPr lang="en-US" sz="1600">
                <a:solidFill>
                  <a:srgbClr val="000000"/>
                </a:solidFill>
                <a:latin typeface="Courier New"/>
                <a:cs typeface="Courier New"/>
              </a:rPr>
              <a:t>   e:   e8 00 00 00 00          </a:t>
            </a:r>
            <a:r>
              <a:rPr lang="en-US" sz="1600" err="1">
                <a:solidFill>
                  <a:srgbClr val="000000"/>
                </a:solidFill>
                <a:latin typeface="Courier New"/>
                <a:cs typeface="Courier New"/>
              </a:rPr>
              <a:t>callq</a:t>
            </a:r>
            <a:r>
              <a:rPr lang="en-US" sz="1600">
                <a:solidFill>
                  <a:srgbClr val="000000"/>
                </a:solidFill>
                <a:latin typeface="Courier New"/>
                <a:cs typeface="Courier New"/>
              </a:rPr>
              <a:t>  13 &lt;main+0x13&gt; </a:t>
            </a:r>
            <a:r>
              <a:rPr lang="en-US" sz="1600">
                <a:solidFill>
                  <a:srgbClr val="3366FF"/>
                </a:solidFill>
                <a:latin typeface="Courier New"/>
                <a:cs typeface="Courier New"/>
              </a:rPr>
              <a:t># sum()</a:t>
            </a:r>
          </a:p>
          <a:p>
            <a:r>
              <a:rPr lang="en-US" sz="1600">
                <a:solidFill>
                  <a:srgbClr val="000000"/>
                </a:solidFill>
                <a:latin typeface="Courier New"/>
                <a:cs typeface="Courier New"/>
              </a:rPr>
              <a:t>                        </a:t>
            </a:r>
            <a:r>
              <a:rPr lang="en-US" sz="1600">
                <a:solidFill>
                  <a:srgbClr val="FF0000"/>
                </a:solidFill>
                <a:latin typeface="Courier New"/>
                <a:cs typeface="Courier New"/>
              </a:rPr>
              <a:t>f: R_X86_64_PC32 sum-0x4      </a:t>
            </a:r>
            <a:r>
              <a:rPr lang="en-US" sz="1600">
                <a:solidFill>
                  <a:srgbClr val="3366FF"/>
                </a:solidFill>
                <a:latin typeface="Courier New"/>
                <a:cs typeface="Courier New"/>
              </a:rPr>
              <a:t># Relocation entry</a:t>
            </a:r>
          </a:p>
          <a:p>
            <a:r>
              <a:rPr lang="en-US" sz="1600">
                <a:solidFill>
                  <a:srgbClr val="000000"/>
                </a:solidFill>
                <a:latin typeface="Courier New"/>
                <a:cs typeface="Courier New"/>
              </a:rPr>
              <a:t>  13:   48 83 c4 08             add    $0x8,%rsp</a:t>
            </a:r>
          </a:p>
          <a:p>
            <a:r>
              <a:rPr lang="en-US" sz="1600">
                <a:solidFill>
                  <a:srgbClr val="000000"/>
                </a:solidFill>
                <a:latin typeface="Courier New"/>
                <a:cs typeface="Courier New"/>
              </a:rPr>
              <a:t>  17:   c3                      </a:t>
            </a:r>
            <a:r>
              <a:rPr lang="en-US" sz="1600" err="1">
                <a:solidFill>
                  <a:srgbClr val="000000"/>
                </a:solidFill>
                <a:latin typeface="Courier New"/>
                <a:cs typeface="Courier New"/>
              </a:rPr>
              <a:t>retq</a:t>
            </a:r>
            <a:endParaRPr lang="en-US" sz="1600">
              <a:solidFill>
                <a:srgbClr val="000000"/>
              </a:solidFill>
              <a:latin typeface="Courier New"/>
              <a:cs typeface="Courier New"/>
            </a:endParaRP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o-RO" sz="1600">
              <a:latin typeface="Courier New"/>
              <a:ea typeface="msgothic" charset="0"/>
              <a:cs typeface="Courier New"/>
            </a:endParaRPr>
          </a:p>
        </p:txBody>
      </p:sp>
      <p:sp>
        <p:nvSpPr>
          <p:cNvPr id="13" name="Rectangle 3"/>
          <p:cNvSpPr>
            <a:spLocks noChangeArrowheads="1"/>
          </p:cNvSpPr>
          <p:nvPr/>
        </p:nvSpPr>
        <p:spPr bwMode="auto">
          <a:xfrm>
            <a:off x="8067113" y="6014373"/>
            <a:ext cx="1067294"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err="1" smtClean="0">
                <a:solidFill>
                  <a:schemeClr val="tx1">
                    <a:lumMod val="50000"/>
                    <a:lumOff val="50000"/>
                  </a:schemeClr>
                </a:solidFill>
                <a:latin typeface="Courier New" pitchFamily="49" charset="0"/>
                <a:ea typeface="msgothic" charset="0"/>
                <a:cs typeface="msgothic" charset="0"/>
              </a:rPr>
              <a:t>main.o</a:t>
            </a:r>
            <a:endParaRPr lang="en-GB" sz="1800" b="1" i="1">
              <a:solidFill>
                <a:schemeClr val="tx1">
                  <a:lumMod val="50000"/>
                  <a:lumOff val="50000"/>
                </a:schemeClr>
              </a:solidFill>
              <a:latin typeface="Courier New" pitchFamily="49" charset="0"/>
              <a:ea typeface="msgothic" charset="0"/>
              <a:cs typeface="msgothic" charset="0"/>
            </a:endParaRPr>
          </a:p>
        </p:txBody>
      </p:sp>
      <p:sp>
        <p:nvSpPr>
          <p:cNvPr id="14" name="Rectangle 2"/>
          <p:cNvSpPr>
            <a:spLocks noChangeArrowheads="1"/>
          </p:cNvSpPr>
          <p:nvPr/>
        </p:nvSpPr>
        <p:spPr bwMode="auto">
          <a:xfrm>
            <a:off x="118002" y="1219200"/>
            <a:ext cx="4149198" cy="2310506"/>
          </a:xfrm>
          <a:prstGeom prst="rect">
            <a:avLst/>
          </a:prstGeom>
          <a:solidFill>
            <a:srgbClr val="F7F5CD"/>
          </a:solidFill>
          <a:ln w="3240">
            <a:solidFill>
              <a:srgbClr val="000066"/>
            </a:solidFill>
            <a:miter lim="800000"/>
            <a:headEnd/>
            <a:tailEnd/>
          </a:ln>
          <a:effectLst/>
        </p:spPr>
        <p:txBody>
          <a:bodyPr wrap="square" lIns="90000" tIns="46800" rIns="90000" bIns="46800">
            <a:spAutoFit/>
          </a:bodyPr>
          <a:lstStyle/>
          <a:p>
            <a:r>
              <a:rPr lang="hu-HU" sz="1800" smtClean="0">
                <a:solidFill>
                  <a:srgbClr val="2D961E"/>
                </a:solidFill>
                <a:latin typeface="Courier New"/>
                <a:cs typeface="Courier New"/>
              </a:rPr>
              <a:t>int</a:t>
            </a:r>
            <a:r>
              <a:rPr lang="hu-HU" sz="1800" smtClean="0">
                <a:solidFill>
                  <a:srgbClr val="000000"/>
                </a:solidFill>
                <a:latin typeface="Courier New"/>
                <a:cs typeface="Courier New"/>
              </a:rPr>
              <a:t> </a:t>
            </a:r>
            <a:r>
              <a:rPr lang="hu-HU" sz="1800">
                <a:solidFill>
                  <a:srgbClr val="C1651C"/>
                </a:solidFill>
                <a:latin typeface="Courier New"/>
                <a:cs typeface="Courier New"/>
              </a:rPr>
              <a:t>array</a:t>
            </a:r>
            <a:r>
              <a:rPr lang="hu-HU" sz="1800">
                <a:solidFill>
                  <a:srgbClr val="000000"/>
                </a:solidFill>
                <a:latin typeface="Courier New"/>
                <a:cs typeface="Courier New"/>
              </a:rPr>
              <a:t>[2] = {1, 2};</a:t>
            </a:r>
          </a:p>
          <a:p>
            <a:endParaRPr lang="hu-HU" sz="1800">
              <a:solidFill>
                <a:srgbClr val="000000"/>
              </a:solidFill>
              <a:latin typeface="Courier New"/>
              <a:cs typeface="Courier New"/>
            </a:endParaRPr>
          </a:p>
          <a:p>
            <a:r>
              <a:rPr lang="en-US" sz="1800" err="1">
                <a:solidFill>
                  <a:srgbClr val="2D961E"/>
                </a:solidFill>
                <a:latin typeface="Courier New"/>
                <a:cs typeface="Courier New"/>
              </a:rPr>
              <a:t>int</a:t>
            </a:r>
            <a:r>
              <a:rPr lang="en-US" sz="1800">
                <a:solidFill>
                  <a:srgbClr val="000000"/>
                </a:solidFill>
                <a:latin typeface="Courier New"/>
                <a:cs typeface="Courier New"/>
              </a:rPr>
              <a:t> </a:t>
            </a:r>
            <a:r>
              <a:rPr lang="en-US" sz="1800" smtClean="0">
                <a:solidFill>
                  <a:srgbClr val="4A00FF"/>
                </a:solidFill>
                <a:latin typeface="Courier New"/>
                <a:cs typeface="Courier New"/>
              </a:rPr>
              <a:t>main</a:t>
            </a:r>
            <a:r>
              <a:rPr lang="en-US" sz="1800" smtClean="0">
                <a:solidFill>
                  <a:srgbClr val="000000"/>
                </a:solidFill>
                <a:latin typeface="Courier New"/>
                <a:cs typeface="Courier New"/>
              </a:rPr>
              <a:t>(</a:t>
            </a:r>
            <a:r>
              <a:rPr lang="en-US" sz="1800" err="1" smtClean="0">
                <a:solidFill>
                  <a:srgbClr val="000000"/>
                </a:solidFill>
                <a:latin typeface="Courier New"/>
                <a:cs typeface="Courier New"/>
              </a:rPr>
              <a:t>int</a:t>
            </a:r>
            <a:r>
              <a:rPr lang="en-US" sz="1800" smtClean="0">
                <a:solidFill>
                  <a:srgbClr val="000000"/>
                </a:solidFill>
                <a:latin typeface="Courier New"/>
                <a:cs typeface="Courier New"/>
              </a:rPr>
              <a:t> </a:t>
            </a:r>
            <a:r>
              <a:rPr lang="en-US" sz="1800" err="1" smtClean="0">
                <a:solidFill>
                  <a:srgbClr val="000000"/>
                </a:solidFill>
                <a:latin typeface="Courier New"/>
                <a:cs typeface="Courier New"/>
              </a:rPr>
              <a:t>argc</a:t>
            </a:r>
            <a:r>
              <a:rPr lang="en-US" sz="1800" smtClean="0">
                <a:solidFill>
                  <a:srgbClr val="000000"/>
                </a:solidFill>
                <a:latin typeface="Courier New"/>
                <a:cs typeface="Courier New"/>
              </a:rPr>
              <a:t>, char** </a:t>
            </a:r>
            <a:r>
              <a:rPr lang="en-US" sz="1800" err="1" smtClean="0">
                <a:solidFill>
                  <a:srgbClr val="000000"/>
                </a:solidFill>
                <a:latin typeface="Courier New"/>
                <a:cs typeface="Courier New"/>
              </a:rPr>
              <a:t>argv</a:t>
            </a:r>
            <a:r>
              <a:rPr lang="en-US" sz="1800" smtClean="0">
                <a:solidFill>
                  <a:srgbClr val="000000"/>
                </a:solidFill>
                <a:latin typeface="Courier New"/>
                <a:cs typeface="Courier New"/>
              </a:rPr>
              <a:t>)</a:t>
            </a:r>
            <a:endParaRPr lang="en-US" sz="1800">
              <a:solidFill>
                <a:srgbClr val="000000"/>
              </a:solidFill>
              <a:latin typeface="Courier New"/>
              <a:cs typeface="Courier New"/>
            </a:endParaRPr>
          </a:p>
          <a:p>
            <a:r>
              <a:rPr lang="en-US" sz="1800">
                <a:solidFill>
                  <a:srgbClr val="000000"/>
                </a:solidFill>
                <a:latin typeface="Courier New"/>
                <a:cs typeface="Courier New"/>
              </a:rPr>
              <a:t>{</a:t>
            </a:r>
          </a:p>
          <a:p>
            <a:r>
              <a:rPr lang="fr-FR" sz="1800">
                <a:solidFill>
                  <a:srgbClr val="000000"/>
                </a:solidFill>
                <a:latin typeface="Courier New"/>
                <a:cs typeface="Courier New"/>
              </a:rPr>
              <a:t>    </a:t>
            </a:r>
            <a:r>
              <a:rPr lang="fr-FR" sz="1800" err="1">
                <a:solidFill>
                  <a:srgbClr val="2D961E"/>
                </a:solidFill>
                <a:latin typeface="Courier New"/>
                <a:cs typeface="Courier New"/>
              </a:rPr>
              <a:t>int</a:t>
            </a:r>
            <a:r>
              <a:rPr lang="fr-FR" sz="1800">
                <a:solidFill>
                  <a:srgbClr val="000000"/>
                </a:solidFill>
                <a:latin typeface="Courier New"/>
                <a:cs typeface="Courier New"/>
              </a:rPr>
              <a:t> </a:t>
            </a:r>
            <a:r>
              <a:rPr lang="fr-FR" sz="1800">
                <a:solidFill>
                  <a:srgbClr val="C1651C"/>
                </a:solidFill>
                <a:latin typeface="Courier New"/>
                <a:cs typeface="Courier New"/>
              </a:rPr>
              <a:t>val</a:t>
            </a:r>
            <a:r>
              <a:rPr lang="fr-FR" sz="1800">
                <a:solidFill>
                  <a:srgbClr val="000000"/>
                </a:solidFill>
                <a:latin typeface="Courier New"/>
                <a:cs typeface="Courier New"/>
              </a:rPr>
              <a:t> = </a:t>
            </a:r>
            <a:r>
              <a:rPr lang="fr-FR" sz="1800" err="1">
                <a:solidFill>
                  <a:srgbClr val="000000"/>
                </a:solidFill>
                <a:latin typeface="Courier New"/>
                <a:cs typeface="Courier New"/>
              </a:rPr>
              <a:t>sum</a:t>
            </a:r>
            <a:r>
              <a:rPr lang="fr-FR" sz="1800">
                <a:solidFill>
                  <a:srgbClr val="000000"/>
                </a:solidFill>
                <a:latin typeface="Courier New"/>
                <a:cs typeface="Courier New"/>
              </a:rPr>
              <a:t>(</a:t>
            </a:r>
            <a:r>
              <a:rPr lang="fr-FR" sz="1800" err="1">
                <a:solidFill>
                  <a:srgbClr val="000000"/>
                </a:solidFill>
                <a:latin typeface="Courier New"/>
                <a:cs typeface="Courier New"/>
              </a:rPr>
              <a:t>array</a:t>
            </a:r>
            <a:r>
              <a:rPr lang="fr-FR" sz="1800">
                <a:solidFill>
                  <a:srgbClr val="000000"/>
                </a:solidFill>
                <a:latin typeface="Courier New"/>
                <a:cs typeface="Courier New"/>
              </a:rPr>
              <a:t>, 2);</a:t>
            </a:r>
          </a:p>
          <a:p>
            <a:r>
              <a:rPr lang="fr-FR" sz="1800">
                <a:solidFill>
                  <a:srgbClr val="000000"/>
                </a:solidFill>
                <a:latin typeface="Courier New"/>
                <a:cs typeface="Courier New"/>
              </a:rPr>
              <a:t>    </a:t>
            </a:r>
            <a:r>
              <a:rPr lang="fr-FR" sz="1800">
                <a:solidFill>
                  <a:srgbClr val="C200FF"/>
                </a:solidFill>
                <a:latin typeface="Courier New"/>
                <a:cs typeface="Courier New"/>
              </a:rPr>
              <a:t>return</a:t>
            </a:r>
            <a:r>
              <a:rPr lang="fr-FR" sz="1800">
                <a:solidFill>
                  <a:srgbClr val="000000"/>
                </a:solidFill>
                <a:latin typeface="Courier New"/>
                <a:cs typeface="Courier New"/>
              </a:rPr>
              <a:t> val;</a:t>
            </a:r>
          </a:p>
          <a:p>
            <a:r>
              <a:rPr lang="fr-FR" sz="1800">
                <a:solidFill>
                  <a:srgbClr val="000000"/>
                </a:solidFill>
                <a:latin typeface="Courier New"/>
                <a:cs typeface="Courier New"/>
              </a:rPr>
              <a:t>}</a:t>
            </a:r>
            <a:endParaRPr lang="en-US" sz="1800">
              <a:latin typeface="Courier New"/>
              <a:cs typeface="Courier New"/>
            </a:endParaRPr>
          </a:p>
        </p:txBody>
      </p:sp>
      <p:sp>
        <p:nvSpPr>
          <p:cNvPr id="15" name="Rectangle 3"/>
          <p:cNvSpPr>
            <a:spLocks noChangeArrowheads="1"/>
          </p:cNvSpPr>
          <p:nvPr/>
        </p:nvSpPr>
        <p:spPr bwMode="auto">
          <a:xfrm>
            <a:off x="3199906" y="3167984"/>
            <a:ext cx="1067294"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err="1" smtClean="0">
                <a:solidFill>
                  <a:schemeClr val="tx1">
                    <a:lumMod val="50000"/>
                    <a:lumOff val="50000"/>
                  </a:schemeClr>
                </a:solidFill>
                <a:latin typeface="Courier New" pitchFamily="49" charset="0"/>
                <a:ea typeface="msgothic" charset="0"/>
                <a:cs typeface="msgothic" charset="0"/>
              </a:rPr>
              <a:t>main.c</a:t>
            </a:r>
            <a:endParaRPr lang="en-GB" sz="1800" b="1" i="1">
              <a:solidFill>
                <a:schemeClr val="tx1">
                  <a:lumMod val="50000"/>
                  <a:lumOff val="50000"/>
                </a:schemeClr>
              </a:solidFill>
              <a:latin typeface="Courier New" pitchFamily="49" charset="0"/>
              <a:ea typeface="msgothic" charset="0"/>
              <a:cs typeface="msgothic" charset="0"/>
            </a:endParaRPr>
          </a:p>
        </p:txBody>
      </p:sp>
    </p:spTree>
    <p:extLst>
      <p:ext uri="{BB962C8B-B14F-4D97-AF65-F5344CB8AC3E}">
        <p14:creationId xmlns:p14="http://schemas.microsoft.com/office/powerpoint/2010/main" val="2299603973"/>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Grp="1" noChangeArrowheads="1"/>
          </p:cNvSpPr>
          <p:nvPr>
            <p:ph type="title" idx="4294967295"/>
          </p:nvPr>
        </p:nvSpPr>
        <p:spPr>
          <a:xfrm>
            <a:off x="250826" y="152400"/>
            <a:ext cx="8918575" cy="1135063"/>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smtClean="0"/>
              <a:t>Relocated .text section</a:t>
            </a:r>
            <a:endParaRPr lang="en-GB" dirty="0"/>
          </a:p>
        </p:txBody>
      </p:sp>
      <p:sp>
        <p:nvSpPr>
          <p:cNvPr id="4" name="Rectangle 2"/>
          <p:cNvSpPr>
            <a:spLocks noChangeArrowheads="1"/>
          </p:cNvSpPr>
          <p:nvPr/>
        </p:nvSpPr>
        <p:spPr bwMode="auto">
          <a:xfrm>
            <a:off x="152400" y="3200400"/>
            <a:ext cx="181758" cy="328424"/>
          </a:xfrm>
          <a:prstGeom prst="rect">
            <a:avLst/>
          </a:prstGeom>
          <a:solidFill>
            <a:schemeClr val="bg1">
              <a:lumMod val="95000"/>
            </a:schemeClr>
          </a:solidFill>
          <a:ln w="1260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ro-RO" sz="1600">
              <a:latin typeface="Courier New" pitchFamily="49" charset="0"/>
              <a:ea typeface="msgothic" charset="0"/>
              <a:cs typeface="msgothic" charset="0"/>
            </a:endParaRPr>
          </a:p>
        </p:txBody>
      </p:sp>
      <p:sp>
        <p:nvSpPr>
          <p:cNvPr id="6" name="Text Box 2"/>
          <p:cNvSpPr txBox="1">
            <a:spLocks noChangeArrowheads="1"/>
          </p:cNvSpPr>
          <p:nvPr/>
        </p:nvSpPr>
        <p:spPr bwMode="auto">
          <a:xfrm>
            <a:off x="76200" y="1330888"/>
            <a:ext cx="9017001" cy="4526497"/>
          </a:xfrm>
          <a:prstGeom prst="rect">
            <a:avLst/>
          </a:prstGeom>
          <a:solidFill>
            <a:schemeClr val="bg1">
              <a:lumMod val="95000"/>
            </a:schemeClr>
          </a:solidFill>
          <a:ln w="3240">
            <a:solidFill>
              <a:schemeClr val="tx1"/>
            </a:solidFill>
            <a:miter lim="800000"/>
            <a:headEnd/>
            <a:tailEnd/>
          </a:ln>
          <a:effectLst/>
        </p:spPr>
        <p:txBody>
          <a:bodyPr wrap="square" lIns="90000" tIns="46800" rIns="90000" bIns="46800">
            <a:spAutoFit/>
          </a:bodyPr>
          <a:lstStyle/>
          <a:p>
            <a:r>
              <a:rPr lang="fr-FR" sz="1600" dirty="0">
                <a:solidFill>
                  <a:srgbClr val="000000"/>
                </a:solidFill>
                <a:latin typeface="Courier New"/>
                <a:cs typeface="Courier New"/>
              </a:rPr>
              <a:t>00000000004004d0 &lt;main&gt;:</a:t>
            </a:r>
          </a:p>
          <a:p>
            <a:r>
              <a:rPr lang="ro-RO" sz="1600" dirty="0">
                <a:solidFill>
                  <a:srgbClr val="000000"/>
                </a:solidFill>
                <a:latin typeface="Courier New"/>
                <a:cs typeface="Courier New"/>
              </a:rPr>
              <a:t>  4004d0:       48 83 </a:t>
            </a:r>
            <a:r>
              <a:rPr lang="ro-RO" sz="1600" dirty="0" err="1">
                <a:solidFill>
                  <a:srgbClr val="000000"/>
                </a:solidFill>
                <a:latin typeface="Courier New"/>
                <a:cs typeface="Courier New"/>
              </a:rPr>
              <a:t>ec</a:t>
            </a:r>
            <a:r>
              <a:rPr lang="ro-RO" sz="1600" dirty="0">
                <a:solidFill>
                  <a:srgbClr val="000000"/>
                </a:solidFill>
                <a:latin typeface="Courier New"/>
                <a:cs typeface="Courier New"/>
              </a:rPr>
              <a:t> 08       </a:t>
            </a:r>
            <a:r>
              <a:rPr lang="ro-RO" sz="1600" dirty="0" smtClean="0">
                <a:solidFill>
                  <a:srgbClr val="000000"/>
                </a:solidFill>
                <a:latin typeface="Courier New"/>
                <a:cs typeface="Courier New"/>
              </a:rPr>
              <a:t>sub    </a:t>
            </a:r>
            <a:r>
              <a:rPr lang="ro-RO" sz="1600" dirty="0">
                <a:solidFill>
                  <a:srgbClr val="000000"/>
                </a:solidFill>
                <a:latin typeface="Courier New"/>
                <a:cs typeface="Courier New"/>
              </a:rPr>
              <a:t>$0x8,%rsp</a:t>
            </a:r>
          </a:p>
          <a:p>
            <a:r>
              <a:rPr lang="en-US" sz="1600" dirty="0">
                <a:solidFill>
                  <a:srgbClr val="000000"/>
                </a:solidFill>
                <a:latin typeface="Courier New"/>
                <a:cs typeface="Courier New"/>
              </a:rPr>
              <a:t>  4004d4:       be 02 00 00 00    </a:t>
            </a:r>
            <a:r>
              <a:rPr lang="en-US" sz="1600" dirty="0" err="1" smtClean="0">
                <a:solidFill>
                  <a:srgbClr val="000000"/>
                </a:solidFill>
                <a:latin typeface="Courier New"/>
                <a:cs typeface="Courier New"/>
              </a:rPr>
              <a:t>mov</a:t>
            </a:r>
            <a:r>
              <a:rPr lang="en-US" sz="1600" dirty="0" smtClean="0">
                <a:solidFill>
                  <a:srgbClr val="000000"/>
                </a:solidFill>
                <a:latin typeface="Courier New"/>
                <a:cs typeface="Courier New"/>
              </a:rPr>
              <a:t>    </a:t>
            </a:r>
            <a:r>
              <a:rPr lang="en-US" sz="1600" dirty="0">
                <a:solidFill>
                  <a:srgbClr val="000000"/>
                </a:solidFill>
                <a:latin typeface="Courier New"/>
                <a:cs typeface="Courier New"/>
              </a:rPr>
              <a:t>$0x2,%esi</a:t>
            </a:r>
          </a:p>
          <a:p>
            <a:r>
              <a:rPr lang="sk-SK" sz="1600" dirty="0" smtClean="0">
                <a:solidFill>
                  <a:srgbClr val="000000"/>
                </a:solidFill>
                <a:latin typeface="Courier New"/>
                <a:cs typeface="Courier New"/>
              </a:rPr>
              <a:t>  4004d9</a:t>
            </a:r>
            <a:r>
              <a:rPr lang="sk-SK" sz="1600" dirty="0">
                <a:solidFill>
                  <a:srgbClr val="000000"/>
                </a:solidFill>
                <a:latin typeface="Courier New"/>
                <a:cs typeface="Courier New"/>
              </a:rPr>
              <a:t>:       </a:t>
            </a:r>
            <a:r>
              <a:rPr lang="sk-SK" sz="1600" dirty="0" err="1">
                <a:solidFill>
                  <a:srgbClr val="000000"/>
                </a:solidFill>
                <a:latin typeface="Courier New"/>
                <a:cs typeface="Courier New"/>
              </a:rPr>
              <a:t>bf</a:t>
            </a:r>
            <a:r>
              <a:rPr lang="sk-SK" sz="1600" dirty="0">
                <a:solidFill>
                  <a:srgbClr val="000000"/>
                </a:solidFill>
                <a:latin typeface="Courier New"/>
                <a:cs typeface="Courier New"/>
              </a:rPr>
              <a:t> 18 10 60 00    </a:t>
            </a:r>
            <a:r>
              <a:rPr lang="sk-SK" sz="1600" dirty="0" err="1" smtClean="0">
                <a:solidFill>
                  <a:srgbClr val="000000"/>
                </a:solidFill>
                <a:latin typeface="Courier New"/>
                <a:cs typeface="Courier New"/>
              </a:rPr>
              <a:t>mov</a:t>
            </a:r>
            <a:r>
              <a:rPr lang="sk-SK" sz="1600" dirty="0" smtClean="0">
                <a:solidFill>
                  <a:srgbClr val="000000"/>
                </a:solidFill>
                <a:latin typeface="Courier New"/>
                <a:cs typeface="Courier New"/>
              </a:rPr>
              <a:t>    </a:t>
            </a:r>
            <a:r>
              <a:rPr lang="sk-SK" sz="1600" dirty="0">
                <a:solidFill>
                  <a:srgbClr val="7030A0"/>
                </a:solidFill>
                <a:latin typeface="Courier New"/>
                <a:cs typeface="Courier New"/>
              </a:rPr>
              <a:t>$0x601018</a:t>
            </a:r>
            <a:r>
              <a:rPr lang="sk-SK" sz="1600" dirty="0">
                <a:solidFill>
                  <a:srgbClr val="000000"/>
                </a:solidFill>
                <a:latin typeface="Courier New"/>
                <a:cs typeface="Courier New"/>
              </a:rPr>
              <a:t>,%edi  </a:t>
            </a:r>
            <a:r>
              <a:rPr lang="sk-SK" sz="1600" dirty="0">
                <a:latin typeface="Courier New"/>
                <a:cs typeface="Courier New"/>
              </a:rPr>
              <a:t># %</a:t>
            </a:r>
            <a:r>
              <a:rPr lang="sk-SK" sz="1600" dirty="0" err="1">
                <a:latin typeface="Courier New"/>
                <a:cs typeface="Courier New"/>
              </a:rPr>
              <a:t>edi</a:t>
            </a:r>
            <a:r>
              <a:rPr lang="sk-SK" sz="1600" dirty="0">
                <a:latin typeface="Courier New"/>
                <a:cs typeface="Courier New"/>
              </a:rPr>
              <a:t> = &amp;</a:t>
            </a:r>
            <a:r>
              <a:rPr lang="sk-SK" sz="1600" dirty="0" err="1">
                <a:latin typeface="Courier New"/>
                <a:cs typeface="Courier New"/>
              </a:rPr>
              <a:t>array</a:t>
            </a:r>
            <a:endParaRPr lang="sk-SK" sz="1600" dirty="0">
              <a:latin typeface="Courier New"/>
              <a:cs typeface="Courier New"/>
            </a:endParaRPr>
          </a:p>
          <a:p>
            <a:r>
              <a:rPr lang="en-US" sz="1600" dirty="0" smtClean="0">
                <a:solidFill>
                  <a:srgbClr val="000000"/>
                </a:solidFill>
                <a:latin typeface="Courier New"/>
                <a:cs typeface="Courier New"/>
              </a:rPr>
              <a:t>  4004de</a:t>
            </a:r>
            <a:r>
              <a:rPr lang="en-US" sz="1600" dirty="0">
                <a:solidFill>
                  <a:srgbClr val="000000"/>
                </a:solidFill>
                <a:latin typeface="Courier New"/>
                <a:cs typeface="Courier New"/>
              </a:rPr>
              <a:t>:       e8 </a:t>
            </a:r>
            <a:r>
              <a:rPr lang="en-US" sz="1600" dirty="0">
                <a:solidFill>
                  <a:schemeClr val="accent1"/>
                </a:solidFill>
                <a:latin typeface="Courier New"/>
                <a:cs typeface="Courier New"/>
              </a:rPr>
              <a:t>05 00 00 00    </a:t>
            </a:r>
            <a:r>
              <a:rPr lang="en-US" sz="1600" dirty="0" err="1" smtClean="0">
                <a:solidFill>
                  <a:srgbClr val="000000"/>
                </a:solidFill>
                <a:latin typeface="Courier New"/>
                <a:cs typeface="Courier New"/>
              </a:rPr>
              <a:t>callq</a:t>
            </a:r>
            <a:r>
              <a:rPr lang="en-US" sz="1600" dirty="0" smtClean="0">
                <a:solidFill>
                  <a:srgbClr val="000000"/>
                </a:solidFill>
                <a:latin typeface="Courier New"/>
                <a:cs typeface="Courier New"/>
              </a:rPr>
              <a:t>  </a:t>
            </a:r>
            <a:r>
              <a:rPr lang="en-US" sz="1600" dirty="0">
                <a:solidFill>
                  <a:srgbClr val="FF0000"/>
                </a:solidFill>
                <a:latin typeface="Courier New"/>
                <a:cs typeface="Courier New"/>
              </a:rPr>
              <a:t>4004e8 </a:t>
            </a:r>
            <a:r>
              <a:rPr lang="en-US" sz="1600" dirty="0">
                <a:solidFill>
                  <a:srgbClr val="000000"/>
                </a:solidFill>
                <a:latin typeface="Courier New"/>
                <a:cs typeface="Courier New"/>
              </a:rPr>
              <a:t>&lt;sum&gt;    # sum()</a:t>
            </a:r>
          </a:p>
          <a:p>
            <a:r>
              <a:rPr lang="en-US" sz="1600" dirty="0" smtClean="0">
                <a:solidFill>
                  <a:srgbClr val="000000"/>
                </a:solidFill>
                <a:latin typeface="Courier New"/>
                <a:cs typeface="Courier New"/>
              </a:rPr>
              <a:t>  </a:t>
            </a:r>
            <a:r>
              <a:rPr lang="en-US" sz="1600" dirty="0" smtClean="0">
                <a:solidFill>
                  <a:srgbClr val="3366FF"/>
                </a:solidFill>
                <a:latin typeface="Courier New"/>
                <a:cs typeface="Courier New"/>
              </a:rPr>
              <a:t>4004e3</a:t>
            </a:r>
            <a:r>
              <a:rPr lang="en-US" sz="1600" dirty="0">
                <a:solidFill>
                  <a:srgbClr val="000000"/>
                </a:solidFill>
                <a:latin typeface="Courier New"/>
                <a:cs typeface="Courier New"/>
              </a:rPr>
              <a:t>:       48 83 c4 08       </a:t>
            </a:r>
            <a:r>
              <a:rPr lang="en-US" sz="1600" dirty="0" smtClean="0">
                <a:solidFill>
                  <a:srgbClr val="000000"/>
                </a:solidFill>
                <a:latin typeface="Courier New"/>
                <a:cs typeface="Courier New"/>
              </a:rPr>
              <a:t>add    </a:t>
            </a:r>
            <a:r>
              <a:rPr lang="en-US" sz="1600" dirty="0">
                <a:solidFill>
                  <a:srgbClr val="000000"/>
                </a:solidFill>
                <a:latin typeface="Courier New"/>
                <a:cs typeface="Courier New"/>
              </a:rPr>
              <a:t>$0x8,%rsp</a:t>
            </a:r>
          </a:p>
          <a:p>
            <a:r>
              <a:rPr lang="en-US" sz="1600" dirty="0">
                <a:solidFill>
                  <a:srgbClr val="000000"/>
                </a:solidFill>
                <a:latin typeface="Courier New"/>
                <a:cs typeface="Courier New"/>
              </a:rPr>
              <a:t>  4004e7:       c3                </a:t>
            </a:r>
            <a:r>
              <a:rPr lang="en-US" sz="1600" dirty="0" err="1" smtClean="0">
                <a:solidFill>
                  <a:srgbClr val="000000"/>
                </a:solidFill>
                <a:latin typeface="Courier New"/>
                <a:cs typeface="Courier New"/>
              </a:rPr>
              <a:t>retq</a:t>
            </a:r>
            <a:endParaRPr lang="en-US" sz="1600" dirty="0">
              <a:solidFill>
                <a:srgbClr val="000000"/>
              </a:solidFill>
              <a:latin typeface="Courier New"/>
              <a:cs typeface="Courier New"/>
            </a:endParaRP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00000000004004e8 &lt;sum&gt;:</a:t>
            </a:r>
          </a:p>
          <a:p>
            <a:r>
              <a:rPr lang="sk-SK" sz="1600" dirty="0">
                <a:solidFill>
                  <a:srgbClr val="000000"/>
                </a:solidFill>
                <a:latin typeface="Courier New"/>
                <a:cs typeface="Courier New"/>
              </a:rPr>
              <a:t>  </a:t>
            </a:r>
            <a:r>
              <a:rPr lang="sk-SK" sz="1600" dirty="0">
                <a:solidFill>
                  <a:srgbClr val="FF0000"/>
                </a:solidFill>
                <a:latin typeface="Courier New"/>
                <a:cs typeface="Courier New"/>
              </a:rPr>
              <a:t>4004e8</a:t>
            </a:r>
            <a:r>
              <a:rPr lang="sk-SK" sz="1600" dirty="0">
                <a:solidFill>
                  <a:srgbClr val="000000"/>
                </a:solidFill>
                <a:latin typeface="Courier New"/>
                <a:cs typeface="Courier New"/>
              </a:rPr>
              <a:t>:       b8 00 00 00 00          </a:t>
            </a:r>
            <a:r>
              <a:rPr lang="sk-SK" sz="1600" dirty="0" err="1">
                <a:solidFill>
                  <a:srgbClr val="000000"/>
                </a:solidFill>
                <a:latin typeface="Courier New"/>
                <a:cs typeface="Courier New"/>
              </a:rPr>
              <a:t>mov</a:t>
            </a:r>
            <a:r>
              <a:rPr lang="sk-SK" sz="1600" dirty="0">
                <a:solidFill>
                  <a:srgbClr val="000000"/>
                </a:solidFill>
                <a:latin typeface="Courier New"/>
                <a:cs typeface="Courier New"/>
              </a:rPr>
              <a:t>    $0x0,%eax</a:t>
            </a:r>
          </a:p>
          <a:p>
            <a:r>
              <a:rPr lang="sk-SK" sz="1600" dirty="0">
                <a:solidFill>
                  <a:srgbClr val="000000"/>
                </a:solidFill>
                <a:latin typeface="Courier New"/>
                <a:cs typeface="Courier New"/>
              </a:rPr>
              <a:t>  4004ed:       ba 00 00 00 00          </a:t>
            </a:r>
            <a:r>
              <a:rPr lang="sk-SK" sz="1600" dirty="0" err="1">
                <a:solidFill>
                  <a:srgbClr val="000000"/>
                </a:solidFill>
                <a:latin typeface="Courier New"/>
                <a:cs typeface="Courier New"/>
              </a:rPr>
              <a:t>mov</a:t>
            </a:r>
            <a:r>
              <a:rPr lang="sk-SK" sz="1600" dirty="0">
                <a:solidFill>
                  <a:srgbClr val="000000"/>
                </a:solidFill>
                <a:latin typeface="Courier New"/>
                <a:cs typeface="Courier New"/>
              </a:rPr>
              <a:t>    $0x0,%edx</a:t>
            </a:r>
          </a:p>
          <a:p>
            <a:r>
              <a:rPr lang="cs-CZ" sz="1600" dirty="0">
                <a:solidFill>
                  <a:srgbClr val="000000"/>
                </a:solidFill>
                <a:latin typeface="Courier New"/>
                <a:cs typeface="Courier New"/>
              </a:rPr>
              <a:t>  4004f2:       </a:t>
            </a:r>
            <a:r>
              <a:rPr lang="cs-CZ" sz="1600" dirty="0" err="1">
                <a:solidFill>
                  <a:srgbClr val="000000"/>
                </a:solidFill>
                <a:latin typeface="Courier New"/>
                <a:cs typeface="Courier New"/>
              </a:rPr>
              <a:t>eb</a:t>
            </a:r>
            <a:r>
              <a:rPr lang="cs-CZ" sz="1600" dirty="0">
                <a:solidFill>
                  <a:srgbClr val="000000"/>
                </a:solidFill>
                <a:latin typeface="Courier New"/>
                <a:cs typeface="Courier New"/>
              </a:rPr>
              <a:t> 09                   </a:t>
            </a:r>
            <a:r>
              <a:rPr lang="cs-CZ" sz="1600" dirty="0" err="1">
                <a:solidFill>
                  <a:srgbClr val="000000"/>
                </a:solidFill>
                <a:latin typeface="Courier New"/>
                <a:cs typeface="Courier New"/>
              </a:rPr>
              <a:t>jmp</a:t>
            </a:r>
            <a:r>
              <a:rPr lang="cs-CZ" sz="1600" dirty="0">
                <a:solidFill>
                  <a:srgbClr val="000000"/>
                </a:solidFill>
                <a:latin typeface="Courier New"/>
                <a:cs typeface="Courier New"/>
              </a:rPr>
              <a:t>    4004fd &lt;sum+0x15&gt;</a:t>
            </a:r>
          </a:p>
          <a:p>
            <a:r>
              <a:rPr lang="ro-RO" sz="1600" dirty="0">
                <a:solidFill>
                  <a:srgbClr val="000000"/>
                </a:solidFill>
                <a:latin typeface="Courier New"/>
                <a:cs typeface="Courier New"/>
              </a:rPr>
              <a:t>  4004f4:       48 63 ca                </a:t>
            </a:r>
            <a:r>
              <a:rPr lang="ro-RO" sz="1600" dirty="0" err="1">
                <a:solidFill>
                  <a:srgbClr val="000000"/>
                </a:solidFill>
                <a:latin typeface="Courier New"/>
                <a:cs typeface="Courier New"/>
              </a:rPr>
              <a:t>movslq</a:t>
            </a:r>
            <a:r>
              <a:rPr lang="ro-RO" sz="1600" dirty="0">
                <a:solidFill>
                  <a:srgbClr val="000000"/>
                </a:solidFill>
                <a:latin typeface="Courier New"/>
                <a:cs typeface="Courier New"/>
              </a:rPr>
              <a:t> %</a:t>
            </a:r>
            <a:r>
              <a:rPr lang="ro-RO" sz="1600" dirty="0" err="1">
                <a:solidFill>
                  <a:srgbClr val="000000"/>
                </a:solidFill>
                <a:latin typeface="Courier New"/>
                <a:cs typeface="Courier New"/>
              </a:rPr>
              <a:t>edx</a:t>
            </a:r>
            <a:r>
              <a:rPr lang="ro-RO" sz="1600" dirty="0">
                <a:solidFill>
                  <a:srgbClr val="000000"/>
                </a:solidFill>
                <a:latin typeface="Courier New"/>
                <a:cs typeface="Courier New"/>
              </a:rPr>
              <a:t>,%</a:t>
            </a:r>
            <a:r>
              <a:rPr lang="ro-RO" sz="1600" dirty="0" err="1">
                <a:solidFill>
                  <a:srgbClr val="000000"/>
                </a:solidFill>
                <a:latin typeface="Courier New"/>
                <a:cs typeface="Courier New"/>
              </a:rPr>
              <a:t>rcx</a:t>
            </a:r>
            <a:endParaRPr lang="ro-RO" sz="1600" dirty="0">
              <a:solidFill>
                <a:srgbClr val="000000"/>
              </a:solidFill>
              <a:latin typeface="Courier New"/>
              <a:cs typeface="Courier New"/>
            </a:endParaRPr>
          </a:p>
          <a:p>
            <a:r>
              <a:rPr lang="en-US" sz="1600" dirty="0">
                <a:solidFill>
                  <a:srgbClr val="000000"/>
                </a:solidFill>
                <a:latin typeface="Courier New"/>
                <a:cs typeface="Courier New"/>
              </a:rPr>
              <a:t>  4004f7:       03 04 8f                add    (%rdi,%rcx,4),%</a:t>
            </a:r>
            <a:r>
              <a:rPr lang="en-US" sz="1600" dirty="0" err="1">
                <a:solidFill>
                  <a:srgbClr val="000000"/>
                </a:solidFill>
                <a:latin typeface="Courier New"/>
                <a:cs typeface="Courier New"/>
              </a:rPr>
              <a:t>eax</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4004fa:       83 c2 01                add    $0x1,%edx</a:t>
            </a:r>
          </a:p>
          <a:p>
            <a:r>
              <a:rPr lang="nl-NL" sz="1600" dirty="0">
                <a:solidFill>
                  <a:srgbClr val="000000"/>
                </a:solidFill>
                <a:latin typeface="Courier New"/>
                <a:cs typeface="Courier New"/>
              </a:rPr>
              <a:t>  4004fd:       39 f2                   </a:t>
            </a:r>
            <a:r>
              <a:rPr lang="nl-NL" sz="1600" dirty="0" err="1">
                <a:solidFill>
                  <a:srgbClr val="000000"/>
                </a:solidFill>
                <a:latin typeface="Courier New"/>
                <a:cs typeface="Courier New"/>
              </a:rPr>
              <a:t>cmp</a:t>
            </a:r>
            <a:r>
              <a:rPr lang="nl-NL" sz="1600" dirty="0">
                <a:solidFill>
                  <a:srgbClr val="000000"/>
                </a:solidFill>
                <a:latin typeface="Courier New"/>
                <a:cs typeface="Courier New"/>
              </a:rPr>
              <a:t>    %</a:t>
            </a:r>
            <a:r>
              <a:rPr lang="nl-NL" sz="1600" dirty="0" err="1">
                <a:solidFill>
                  <a:srgbClr val="000000"/>
                </a:solidFill>
                <a:latin typeface="Courier New"/>
                <a:cs typeface="Courier New"/>
              </a:rPr>
              <a:t>esi</a:t>
            </a:r>
            <a:r>
              <a:rPr lang="nl-NL" sz="1600" dirty="0">
                <a:solidFill>
                  <a:srgbClr val="000000"/>
                </a:solidFill>
                <a:latin typeface="Courier New"/>
                <a:cs typeface="Courier New"/>
              </a:rPr>
              <a:t>,%</a:t>
            </a:r>
            <a:r>
              <a:rPr lang="nl-NL" sz="1600" dirty="0" err="1">
                <a:solidFill>
                  <a:srgbClr val="000000"/>
                </a:solidFill>
                <a:latin typeface="Courier New"/>
                <a:cs typeface="Courier New"/>
              </a:rPr>
              <a:t>edx</a:t>
            </a:r>
            <a:endParaRPr lang="nl-NL" sz="1600" dirty="0">
              <a:solidFill>
                <a:srgbClr val="000000"/>
              </a:solidFill>
              <a:latin typeface="Courier New"/>
              <a:cs typeface="Courier New"/>
            </a:endParaRPr>
          </a:p>
          <a:p>
            <a:r>
              <a:rPr lang="nl-NL" sz="1600" dirty="0">
                <a:solidFill>
                  <a:srgbClr val="000000"/>
                </a:solidFill>
                <a:latin typeface="Courier New"/>
                <a:cs typeface="Courier New"/>
              </a:rPr>
              <a:t>  4004ff:       7c f3                   </a:t>
            </a:r>
            <a:r>
              <a:rPr lang="nl-NL" sz="1600" dirty="0" err="1">
                <a:solidFill>
                  <a:srgbClr val="000000"/>
                </a:solidFill>
                <a:latin typeface="Courier New"/>
                <a:cs typeface="Courier New"/>
              </a:rPr>
              <a:t>jl</a:t>
            </a:r>
            <a:r>
              <a:rPr lang="nl-NL" sz="1600" dirty="0">
                <a:solidFill>
                  <a:srgbClr val="000000"/>
                </a:solidFill>
                <a:latin typeface="Courier New"/>
                <a:cs typeface="Courier New"/>
              </a:rPr>
              <a:t>     4004f4 &lt;sum+0xc&gt;</a:t>
            </a:r>
          </a:p>
          <a:p>
            <a:r>
              <a:rPr lang="hu-HU" sz="1600" dirty="0">
                <a:solidFill>
                  <a:srgbClr val="000000"/>
                </a:solidFill>
                <a:latin typeface="Courier New"/>
                <a:cs typeface="Courier New"/>
              </a:rPr>
              <a:t>  400501:       f3 c3                   </a:t>
            </a:r>
            <a:r>
              <a:rPr lang="hu-HU" sz="1600" dirty="0" err="1">
                <a:solidFill>
                  <a:srgbClr val="000000"/>
                </a:solidFill>
                <a:latin typeface="Courier New"/>
                <a:cs typeface="Courier New"/>
              </a:rPr>
              <a:t>repz</a:t>
            </a:r>
            <a:r>
              <a:rPr lang="hu-HU" sz="1600" dirty="0">
                <a:solidFill>
                  <a:srgbClr val="000000"/>
                </a:solidFill>
                <a:latin typeface="Courier New"/>
                <a:cs typeface="Courier New"/>
              </a:rPr>
              <a:t> </a:t>
            </a:r>
            <a:r>
              <a:rPr lang="hu-HU" sz="1600" dirty="0" err="1">
                <a:solidFill>
                  <a:srgbClr val="000000"/>
                </a:solidFill>
                <a:latin typeface="Courier New"/>
                <a:cs typeface="Courier New"/>
              </a:rPr>
              <a:t>retq</a:t>
            </a:r>
            <a:endParaRPr lang="ro-RO" sz="1600" dirty="0">
              <a:latin typeface="Courier New"/>
              <a:ea typeface="msgothic" charset="0"/>
              <a:cs typeface="Courier New"/>
            </a:endParaRPr>
          </a:p>
        </p:txBody>
      </p:sp>
      <p:sp>
        <p:nvSpPr>
          <p:cNvPr id="2" name="TextBox 1"/>
          <p:cNvSpPr txBox="1"/>
          <p:nvPr/>
        </p:nvSpPr>
        <p:spPr>
          <a:xfrm>
            <a:off x="115370" y="5943600"/>
            <a:ext cx="6226860" cy="707886"/>
          </a:xfrm>
          <a:prstGeom prst="rect">
            <a:avLst/>
          </a:prstGeom>
          <a:noFill/>
        </p:spPr>
        <p:txBody>
          <a:bodyPr wrap="none" rtlCol="0">
            <a:spAutoFit/>
          </a:bodyPr>
          <a:lstStyle/>
          <a:p>
            <a:r>
              <a:rPr lang="en-US" sz="2000" err="1" smtClean="0">
                <a:latin typeface="Courier New"/>
                <a:cs typeface="Courier New"/>
              </a:rPr>
              <a:t>callq</a:t>
            </a:r>
            <a:r>
              <a:rPr lang="en-US" sz="2000" smtClean="0">
                <a:latin typeface="Calibri" pitchFamily="34" charset="0"/>
              </a:rPr>
              <a:t> instruction uses PC-relative addressing for sum():  </a:t>
            </a:r>
          </a:p>
          <a:p>
            <a:r>
              <a:rPr lang="en-US" sz="2000" smtClean="0">
                <a:solidFill>
                  <a:srgbClr val="FF0000"/>
                </a:solidFill>
                <a:latin typeface="Courier New"/>
                <a:cs typeface="Courier New"/>
              </a:rPr>
              <a:t>0x4004e8</a:t>
            </a:r>
            <a:r>
              <a:rPr lang="en-US" sz="2000" smtClean="0">
                <a:latin typeface="Calibri" pitchFamily="34" charset="0"/>
              </a:rPr>
              <a:t> = </a:t>
            </a:r>
            <a:r>
              <a:rPr lang="en-US" sz="2000" smtClean="0">
                <a:solidFill>
                  <a:srgbClr val="3366FF"/>
                </a:solidFill>
                <a:latin typeface="Courier New"/>
                <a:cs typeface="Courier New"/>
              </a:rPr>
              <a:t>0x4004e3</a:t>
            </a:r>
            <a:r>
              <a:rPr lang="en-US" sz="2000" smtClean="0">
                <a:latin typeface="Calibri" pitchFamily="34" charset="0"/>
              </a:rPr>
              <a:t> + </a:t>
            </a:r>
            <a:r>
              <a:rPr lang="en-US" sz="2000" smtClean="0">
                <a:solidFill>
                  <a:srgbClr val="00CC99"/>
                </a:solidFill>
                <a:latin typeface="Courier New"/>
                <a:cs typeface="Courier New"/>
              </a:rPr>
              <a:t>0x5</a:t>
            </a:r>
          </a:p>
        </p:txBody>
      </p:sp>
      <p:sp>
        <p:nvSpPr>
          <p:cNvPr id="3" name="Rectangle 2"/>
          <p:cNvSpPr/>
          <p:nvPr/>
        </p:nvSpPr>
        <p:spPr>
          <a:xfrm>
            <a:off x="5394598" y="6519446"/>
            <a:ext cx="3139802" cy="338554"/>
          </a:xfrm>
          <a:prstGeom prst="rect">
            <a:avLst/>
          </a:prstGeom>
        </p:spPr>
        <p:txBody>
          <a:bodyPr wrap="none">
            <a:spAutoFit/>
          </a:bodyPr>
          <a:lstStyle/>
          <a:p>
            <a:r>
              <a:rPr lang="en-US" sz="1600" dirty="0">
                <a:latin typeface="Courier New"/>
                <a:cs typeface="Courier New"/>
              </a:rPr>
              <a:t>S</a:t>
            </a:r>
            <a:r>
              <a:rPr lang="en-US" sz="1600" dirty="0" smtClean="0">
                <a:latin typeface="Courier New"/>
                <a:cs typeface="Courier New"/>
              </a:rPr>
              <a:t>ource: </a:t>
            </a:r>
            <a:r>
              <a:rPr lang="en-US" sz="1600" dirty="0" err="1" smtClean="0">
                <a:latin typeface="Courier New"/>
                <a:cs typeface="Courier New"/>
              </a:rPr>
              <a:t>objdump</a:t>
            </a:r>
            <a:r>
              <a:rPr lang="en-US" sz="1600" dirty="0" smtClean="0">
                <a:latin typeface="Courier New"/>
                <a:cs typeface="Courier New"/>
              </a:rPr>
              <a:t> </a:t>
            </a:r>
            <a:r>
              <a:rPr lang="en-US" sz="1600" dirty="0">
                <a:latin typeface="Courier New"/>
                <a:cs typeface="Courier New"/>
              </a:rPr>
              <a:t>-</a:t>
            </a:r>
            <a:r>
              <a:rPr lang="en-US" sz="1600" dirty="0" smtClean="0">
                <a:latin typeface="Courier New"/>
                <a:cs typeface="Courier New"/>
              </a:rPr>
              <a:t>d </a:t>
            </a:r>
            <a:r>
              <a:rPr lang="en-US" sz="1600" dirty="0" err="1">
                <a:latin typeface="Courier New"/>
                <a:cs typeface="Courier New"/>
              </a:rPr>
              <a:t>prog</a:t>
            </a:r>
            <a:endParaRPr lang="en-US" sz="1600" dirty="0">
              <a:latin typeface="Courier New"/>
              <a:cs typeface="Courier New"/>
            </a:endParaRPr>
          </a:p>
        </p:txBody>
      </p:sp>
    </p:spTree>
    <p:extLst>
      <p:ext uri="{BB962C8B-B14F-4D97-AF65-F5344CB8AC3E}">
        <p14:creationId xmlns:p14="http://schemas.microsoft.com/office/powerpoint/2010/main" val="3297901552"/>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
          <p:cNvSpPr>
            <a:spLocks noGrp="1" noChangeArrowheads="1"/>
          </p:cNvSpPr>
          <p:nvPr>
            <p:ph type="title" idx="4294967295"/>
          </p:nvPr>
        </p:nvSpPr>
        <p:spPr>
          <a:xfrm>
            <a:off x="350838" y="381000"/>
            <a:ext cx="8716962" cy="782638"/>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Loading Executable Object </a:t>
            </a:r>
            <a:r>
              <a:rPr lang="en-GB" smtClean="0"/>
              <a:t>Files</a:t>
            </a:r>
            <a:endParaRPr lang="en-GB"/>
          </a:p>
        </p:txBody>
      </p:sp>
      <p:sp>
        <p:nvSpPr>
          <p:cNvPr id="33794" name="Rectangle 2"/>
          <p:cNvSpPr>
            <a:spLocks noChangeArrowheads="1"/>
          </p:cNvSpPr>
          <p:nvPr/>
        </p:nvSpPr>
        <p:spPr bwMode="auto">
          <a:xfrm>
            <a:off x="323646" y="1567788"/>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ELF header</a:t>
            </a:r>
          </a:p>
        </p:txBody>
      </p:sp>
      <p:sp>
        <p:nvSpPr>
          <p:cNvPr id="33795" name="Rectangle 3"/>
          <p:cNvSpPr>
            <a:spLocks noChangeArrowheads="1"/>
          </p:cNvSpPr>
          <p:nvPr/>
        </p:nvSpPr>
        <p:spPr bwMode="auto">
          <a:xfrm>
            <a:off x="323646" y="1948788"/>
            <a:ext cx="2971800" cy="6096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Program header table</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(required for executables)</a:t>
            </a:r>
          </a:p>
        </p:txBody>
      </p:sp>
      <p:sp>
        <p:nvSpPr>
          <p:cNvPr id="33796" name="Rectangle 4"/>
          <p:cNvSpPr>
            <a:spLocks noChangeArrowheads="1"/>
          </p:cNvSpPr>
          <p:nvPr/>
        </p:nvSpPr>
        <p:spPr bwMode="auto">
          <a:xfrm>
            <a:off x="323646" y="2939388"/>
            <a:ext cx="2971800" cy="381000"/>
          </a:xfrm>
          <a:prstGeom prst="rect">
            <a:avLst/>
          </a:prstGeom>
          <a:solidFill>
            <a:srgbClr val="F6F5BD"/>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.text section</a:t>
            </a:r>
          </a:p>
        </p:txBody>
      </p:sp>
      <p:sp>
        <p:nvSpPr>
          <p:cNvPr id="33797" name="Rectangle 5"/>
          <p:cNvSpPr>
            <a:spLocks noChangeArrowheads="1"/>
          </p:cNvSpPr>
          <p:nvPr/>
        </p:nvSpPr>
        <p:spPr bwMode="auto">
          <a:xfrm>
            <a:off x="323646" y="3701388"/>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.data section</a:t>
            </a:r>
          </a:p>
        </p:txBody>
      </p:sp>
      <p:sp>
        <p:nvSpPr>
          <p:cNvPr id="33798" name="Rectangle 6"/>
          <p:cNvSpPr>
            <a:spLocks noChangeArrowheads="1"/>
          </p:cNvSpPr>
          <p:nvPr/>
        </p:nvSpPr>
        <p:spPr bwMode="auto">
          <a:xfrm>
            <a:off x="323646" y="4082388"/>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a:t>
            </a:r>
            <a:r>
              <a:rPr lang="en-GB" sz="1600" b="1" err="1">
                <a:latin typeface="Calibri" pitchFamily="34" charset="0"/>
                <a:ea typeface="msgothic" charset="0"/>
                <a:cs typeface="msgothic" charset="0"/>
              </a:rPr>
              <a:t>bss</a:t>
            </a:r>
            <a:r>
              <a:rPr lang="en-GB" sz="1600" b="1">
                <a:latin typeface="Calibri" pitchFamily="34" charset="0"/>
                <a:ea typeface="msgothic" charset="0"/>
                <a:cs typeface="msgothic" charset="0"/>
              </a:rPr>
              <a:t> section</a:t>
            </a:r>
          </a:p>
        </p:txBody>
      </p:sp>
      <p:sp>
        <p:nvSpPr>
          <p:cNvPr id="33799" name="Rectangle 7"/>
          <p:cNvSpPr>
            <a:spLocks noChangeArrowheads="1"/>
          </p:cNvSpPr>
          <p:nvPr/>
        </p:nvSpPr>
        <p:spPr bwMode="auto">
          <a:xfrm>
            <a:off x="323646" y="4463388"/>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a:t>
            </a:r>
            <a:r>
              <a:rPr lang="en-GB" sz="1600" b="1" err="1">
                <a:latin typeface="Calibri" pitchFamily="34" charset="0"/>
                <a:ea typeface="msgothic" charset="0"/>
                <a:cs typeface="msgothic" charset="0"/>
              </a:rPr>
              <a:t>symtab</a:t>
            </a:r>
            <a:endParaRPr lang="en-GB" sz="1600" b="1">
              <a:latin typeface="Calibri" pitchFamily="34" charset="0"/>
              <a:ea typeface="msgothic" charset="0"/>
              <a:cs typeface="msgothic" charset="0"/>
            </a:endParaRPr>
          </a:p>
        </p:txBody>
      </p:sp>
      <p:sp>
        <p:nvSpPr>
          <p:cNvPr id="33802" name="Rectangle 10"/>
          <p:cNvSpPr>
            <a:spLocks noChangeArrowheads="1"/>
          </p:cNvSpPr>
          <p:nvPr/>
        </p:nvSpPr>
        <p:spPr bwMode="auto">
          <a:xfrm>
            <a:off x="323646" y="4844388"/>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.debug</a:t>
            </a:r>
          </a:p>
        </p:txBody>
      </p:sp>
      <p:sp>
        <p:nvSpPr>
          <p:cNvPr id="33803" name="Rectangle 11"/>
          <p:cNvSpPr>
            <a:spLocks noChangeArrowheads="1"/>
          </p:cNvSpPr>
          <p:nvPr/>
        </p:nvSpPr>
        <p:spPr bwMode="auto">
          <a:xfrm>
            <a:off x="323646" y="5987388"/>
            <a:ext cx="2971800" cy="6096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Section header table</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(required for </a:t>
            </a:r>
            <a:r>
              <a:rPr lang="en-GB" sz="1600" b="1" err="1">
                <a:latin typeface="Calibri" pitchFamily="34" charset="0"/>
                <a:ea typeface="msgothic" charset="0"/>
                <a:cs typeface="msgothic" charset="0"/>
              </a:rPr>
              <a:t>relocatables</a:t>
            </a:r>
            <a:r>
              <a:rPr lang="en-GB" sz="1600" b="1">
                <a:latin typeface="Calibri" pitchFamily="34" charset="0"/>
                <a:ea typeface="msgothic" charset="0"/>
                <a:cs typeface="msgothic" charset="0"/>
              </a:rPr>
              <a:t>)</a:t>
            </a:r>
          </a:p>
        </p:txBody>
      </p:sp>
      <p:sp>
        <p:nvSpPr>
          <p:cNvPr id="33804" name="Text Box 12"/>
          <p:cNvSpPr txBox="1">
            <a:spLocks noChangeArrowheads="1"/>
          </p:cNvSpPr>
          <p:nvPr/>
        </p:nvSpPr>
        <p:spPr bwMode="auto">
          <a:xfrm>
            <a:off x="3269568" y="1413296"/>
            <a:ext cx="285954" cy="3357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0</a:t>
            </a:r>
          </a:p>
        </p:txBody>
      </p:sp>
      <p:sp>
        <p:nvSpPr>
          <p:cNvPr id="33805" name="Text Box 13"/>
          <p:cNvSpPr txBox="1">
            <a:spLocks noChangeArrowheads="1"/>
          </p:cNvSpPr>
          <p:nvPr/>
        </p:nvSpPr>
        <p:spPr bwMode="auto">
          <a:xfrm>
            <a:off x="198806" y="1236452"/>
            <a:ext cx="2285154" cy="365999"/>
          </a:xfrm>
          <a:prstGeom prst="rect">
            <a:avLst/>
          </a:prstGeom>
          <a:noFill/>
          <a:ln w="9525">
            <a:noFill/>
            <a:round/>
            <a:headEnd/>
            <a:tailEnd/>
          </a:ln>
          <a:effectLst/>
        </p:spPr>
        <p:txBody>
          <a:bodyPr wrap="none" lIns="90000" tIns="46800" rIns="90000" bIns="4680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alibri" pitchFamily="34" charset="0"/>
                <a:ea typeface="msgothic" charset="0"/>
                <a:cs typeface="msgothic" charset="0"/>
              </a:rPr>
              <a:t>Executable Object File</a:t>
            </a:r>
          </a:p>
        </p:txBody>
      </p:sp>
      <p:sp>
        <p:nvSpPr>
          <p:cNvPr id="33806" name="Rectangle 14"/>
          <p:cNvSpPr>
            <a:spLocks noChangeArrowheads="1"/>
          </p:cNvSpPr>
          <p:nvPr/>
        </p:nvSpPr>
        <p:spPr bwMode="auto">
          <a:xfrm>
            <a:off x="4686829" y="1262063"/>
            <a:ext cx="2789237" cy="487362"/>
          </a:xfrm>
          <a:prstGeom prst="rect">
            <a:avLst/>
          </a:prstGeom>
          <a:solidFill>
            <a:srgbClr val="F1C7C7"/>
          </a:solidFill>
          <a:ln w="324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Kernel virtual memory</a:t>
            </a:r>
          </a:p>
        </p:txBody>
      </p:sp>
      <p:sp>
        <p:nvSpPr>
          <p:cNvPr id="33807" name="Rectangle 15"/>
          <p:cNvSpPr>
            <a:spLocks noChangeArrowheads="1"/>
          </p:cNvSpPr>
          <p:nvPr/>
        </p:nvSpPr>
        <p:spPr bwMode="auto">
          <a:xfrm>
            <a:off x="4686829" y="2963863"/>
            <a:ext cx="2789237" cy="669925"/>
          </a:xfrm>
          <a:prstGeom prst="rect">
            <a:avLst/>
          </a:prstGeom>
          <a:solidFill>
            <a:srgbClr val="D5F1CF"/>
          </a:solidFill>
          <a:ln w="324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Memory-mapped region for</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shared libraries</a:t>
            </a:r>
          </a:p>
        </p:txBody>
      </p:sp>
      <p:sp>
        <p:nvSpPr>
          <p:cNvPr id="33808" name="Rectangle 16"/>
          <p:cNvSpPr>
            <a:spLocks noChangeArrowheads="1"/>
          </p:cNvSpPr>
          <p:nvPr/>
        </p:nvSpPr>
        <p:spPr bwMode="auto">
          <a:xfrm>
            <a:off x="4686829" y="3629025"/>
            <a:ext cx="2789237" cy="723900"/>
          </a:xfrm>
          <a:prstGeom prst="rect">
            <a:avLst/>
          </a:prstGeom>
          <a:solidFill>
            <a:schemeClr val="bg1">
              <a:lumMod val="75000"/>
            </a:schemeClr>
          </a:solidFill>
          <a:ln w="3240">
            <a:solidFill>
              <a:schemeClr val="tx1"/>
            </a:solidFill>
            <a:miter lim="800000"/>
            <a:headEnd/>
            <a:tailEnd/>
          </a:ln>
          <a:effectLst/>
        </p:spPr>
        <p:txBody>
          <a:bodyPr wrap="none" anchor="ctr"/>
          <a:lstStyle/>
          <a:p>
            <a:endParaRPr lang="en-US"/>
          </a:p>
        </p:txBody>
      </p:sp>
      <p:sp>
        <p:nvSpPr>
          <p:cNvPr id="33809" name="Rectangle 17"/>
          <p:cNvSpPr>
            <a:spLocks noChangeArrowheads="1"/>
          </p:cNvSpPr>
          <p:nvPr/>
        </p:nvSpPr>
        <p:spPr bwMode="auto">
          <a:xfrm>
            <a:off x="4686830" y="4350808"/>
            <a:ext cx="2789237" cy="669925"/>
          </a:xfrm>
          <a:prstGeom prst="rect">
            <a:avLst/>
          </a:prstGeom>
          <a:solidFill>
            <a:srgbClr val="D5F1CF"/>
          </a:solidFill>
          <a:ln w="324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Run-time heap</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(created by </a:t>
            </a:r>
            <a:r>
              <a:rPr lang="en-GB" sz="1600" b="1" err="1">
                <a:latin typeface="Courier New" pitchFamily="49" charset="0"/>
                <a:ea typeface="msgothic" charset="0"/>
                <a:cs typeface="msgothic" charset="0"/>
              </a:rPr>
              <a:t>malloc</a:t>
            </a:r>
            <a:r>
              <a:rPr lang="en-GB" sz="1600" b="1">
                <a:latin typeface="Calibri" pitchFamily="34" charset="0"/>
                <a:ea typeface="msgothic" charset="0"/>
                <a:cs typeface="msgothic" charset="0"/>
              </a:rPr>
              <a:t>)</a:t>
            </a:r>
          </a:p>
        </p:txBody>
      </p:sp>
      <p:sp>
        <p:nvSpPr>
          <p:cNvPr id="33810" name="Rectangle 18"/>
          <p:cNvSpPr>
            <a:spLocks noChangeArrowheads="1"/>
          </p:cNvSpPr>
          <p:nvPr/>
        </p:nvSpPr>
        <p:spPr bwMode="auto">
          <a:xfrm>
            <a:off x="4686829" y="2054225"/>
            <a:ext cx="2789237" cy="906463"/>
          </a:xfrm>
          <a:prstGeom prst="rect">
            <a:avLst/>
          </a:prstGeom>
          <a:solidFill>
            <a:schemeClr val="bg1">
              <a:lumMod val="75000"/>
            </a:schemeClr>
          </a:solidFill>
          <a:ln w="3240">
            <a:solidFill>
              <a:schemeClr val="tx1"/>
            </a:solidFill>
            <a:miter lim="800000"/>
            <a:headEnd/>
            <a:tailEnd/>
          </a:ln>
          <a:effectLst/>
        </p:spPr>
        <p:txBody>
          <a:bodyPr wrap="none" anchor="ctr"/>
          <a:lstStyle/>
          <a:p>
            <a:endParaRPr lang="en-US"/>
          </a:p>
        </p:txBody>
      </p:sp>
      <p:sp>
        <p:nvSpPr>
          <p:cNvPr id="33811" name="Line 19"/>
          <p:cNvSpPr>
            <a:spLocks noChangeShapeType="1"/>
          </p:cNvSpPr>
          <p:nvPr/>
        </p:nvSpPr>
        <p:spPr bwMode="auto">
          <a:xfrm flipV="1">
            <a:off x="6076950" y="3957638"/>
            <a:ext cx="1588" cy="384175"/>
          </a:xfrm>
          <a:prstGeom prst="line">
            <a:avLst/>
          </a:prstGeom>
          <a:noFill/>
          <a:ln w="3240">
            <a:solidFill>
              <a:schemeClr val="tx1"/>
            </a:solidFill>
            <a:miter lim="800000"/>
            <a:headEnd/>
            <a:tailEnd type="triangle" w="med" len="med"/>
          </a:ln>
          <a:effectLst/>
        </p:spPr>
        <p:txBody>
          <a:bodyPr/>
          <a:lstStyle/>
          <a:p>
            <a:endParaRPr lang="en-US"/>
          </a:p>
        </p:txBody>
      </p:sp>
      <p:sp>
        <p:nvSpPr>
          <p:cNvPr id="33812" name="Rectangle 20"/>
          <p:cNvSpPr>
            <a:spLocks noChangeArrowheads="1"/>
          </p:cNvSpPr>
          <p:nvPr/>
        </p:nvSpPr>
        <p:spPr bwMode="auto">
          <a:xfrm>
            <a:off x="4686829" y="1719263"/>
            <a:ext cx="2789237" cy="563562"/>
          </a:xfrm>
          <a:prstGeom prst="rect">
            <a:avLst/>
          </a:prstGeom>
          <a:solidFill>
            <a:srgbClr val="D5F1CF"/>
          </a:solidFill>
          <a:ln w="324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User stack</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(created at runtime)</a:t>
            </a:r>
          </a:p>
        </p:txBody>
      </p:sp>
      <p:sp>
        <p:nvSpPr>
          <p:cNvPr id="33814" name="Line 22"/>
          <p:cNvSpPr>
            <a:spLocks noChangeShapeType="1"/>
          </p:cNvSpPr>
          <p:nvPr/>
        </p:nvSpPr>
        <p:spPr bwMode="auto">
          <a:xfrm>
            <a:off x="6076950" y="2282825"/>
            <a:ext cx="1588" cy="228600"/>
          </a:xfrm>
          <a:prstGeom prst="line">
            <a:avLst/>
          </a:prstGeom>
          <a:noFill/>
          <a:ln w="3240">
            <a:solidFill>
              <a:schemeClr val="tx1"/>
            </a:solidFill>
            <a:miter lim="800000"/>
            <a:headEnd/>
            <a:tailEnd type="triangle" w="med" len="med"/>
          </a:ln>
          <a:effectLst/>
        </p:spPr>
        <p:txBody>
          <a:bodyPr/>
          <a:lstStyle/>
          <a:p>
            <a:endParaRPr lang="en-US"/>
          </a:p>
        </p:txBody>
      </p:sp>
      <p:sp>
        <p:nvSpPr>
          <p:cNvPr id="33815" name="Rectangle 23"/>
          <p:cNvSpPr>
            <a:spLocks noChangeArrowheads="1"/>
          </p:cNvSpPr>
          <p:nvPr/>
        </p:nvSpPr>
        <p:spPr bwMode="auto">
          <a:xfrm>
            <a:off x="4686829" y="6312958"/>
            <a:ext cx="2789238" cy="396875"/>
          </a:xfrm>
          <a:prstGeom prst="rect">
            <a:avLst/>
          </a:prstGeom>
          <a:solidFill>
            <a:schemeClr val="bg1">
              <a:lumMod val="75000"/>
            </a:schemeClr>
          </a:solidFill>
          <a:ln w="324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Unused</a:t>
            </a:r>
          </a:p>
        </p:txBody>
      </p:sp>
      <p:sp>
        <p:nvSpPr>
          <p:cNvPr id="33816" name="Text Box 24"/>
          <p:cNvSpPr txBox="1">
            <a:spLocks noChangeArrowheads="1"/>
          </p:cNvSpPr>
          <p:nvPr/>
        </p:nvSpPr>
        <p:spPr bwMode="auto">
          <a:xfrm>
            <a:off x="4421194" y="6531510"/>
            <a:ext cx="285954" cy="3357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0</a:t>
            </a:r>
          </a:p>
        </p:txBody>
      </p:sp>
      <p:sp>
        <p:nvSpPr>
          <p:cNvPr id="33817" name="Text Box 25"/>
          <p:cNvSpPr txBox="1">
            <a:spLocks noChangeArrowheads="1"/>
          </p:cNvSpPr>
          <p:nvPr/>
        </p:nvSpPr>
        <p:spPr bwMode="auto">
          <a:xfrm>
            <a:off x="7834221" y="2108200"/>
            <a:ext cx="869831" cy="808556"/>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smtClean="0">
                <a:latin typeface="Courier New" pitchFamily="49" charset="0"/>
                <a:ea typeface="msgothic" charset="0"/>
                <a:cs typeface="msgothic" charset="0"/>
              </a:rPr>
              <a:t>%</a:t>
            </a:r>
            <a:r>
              <a:rPr lang="en-GB" sz="1600" err="1">
                <a:latin typeface="Courier New" pitchFamily="49" charset="0"/>
                <a:ea typeface="msgothic" charset="0"/>
                <a:cs typeface="msgothic" charset="0"/>
              </a:rPr>
              <a:t>r</a:t>
            </a:r>
            <a:r>
              <a:rPr lang="en-GB" sz="1600" b="1" err="1" smtClean="0">
                <a:latin typeface="Courier New" pitchFamily="49" charset="0"/>
                <a:ea typeface="msgothic" charset="0"/>
                <a:cs typeface="msgothic" charset="0"/>
              </a:rPr>
              <a:t>sp</a:t>
            </a:r>
            <a:r>
              <a:rPr lang="en-GB" sz="1600" b="1" smtClean="0">
                <a:latin typeface="Calibri" pitchFamily="34" charset="0"/>
                <a:ea typeface="msgothic" charset="0"/>
                <a:cs typeface="msgothic" charset="0"/>
              </a:rPr>
              <a:t> </a:t>
            </a:r>
            <a:endParaRPr lang="en-GB" sz="1600" b="1">
              <a:latin typeface="Calibri" pitchFamily="34" charset="0"/>
              <a:ea typeface="msgothic" charset="0"/>
              <a:cs typeface="msgothic" charset="0"/>
            </a:endParaRP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(stack </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pointer)</a:t>
            </a:r>
          </a:p>
        </p:txBody>
      </p:sp>
      <p:sp>
        <p:nvSpPr>
          <p:cNvPr id="33818" name="Line 26"/>
          <p:cNvSpPr>
            <a:spLocks noChangeShapeType="1"/>
          </p:cNvSpPr>
          <p:nvPr/>
        </p:nvSpPr>
        <p:spPr bwMode="auto">
          <a:xfrm flipH="1">
            <a:off x="7527834" y="2279650"/>
            <a:ext cx="384175" cy="1588"/>
          </a:xfrm>
          <a:prstGeom prst="line">
            <a:avLst/>
          </a:prstGeom>
          <a:noFill/>
          <a:ln w="3240">
            <a:solidFill>
              <a:srgbClr val="000066"/>
            </a:solidFill>
            <a:miter lim="800000"/>
            <a:headEnd/>
            <a:tailEnd type="triangle" w="med" len="med"/>
          </a:ln>
          <a:effectLst/>
        </p:spPr>
        <p:txBody>
          <a:bodyPr/>
          <a:lstStyle/>
          <a:p>
            <a:endParaRPr lang="en-US"/>
          </a:p>
        </p:txBody>
      </p:sp>
      <p:sp>
        <p:nvSpPr>
          <p:cNvPr id="33819" name="Text Box 27"/>
          <p:cNvSpPr txBox="1">
            <a:spLocks noChangeArrowheads="1"/>
          </p:cNvSpPr>
          <p:nvPr/>
        </p:nvSpPr>
        <p:spPr bwMode="auto">
          <a:xfrm>
            <a:off x="7677150" y="899576"/>
            <a:ext cx="1314450" cy="819225"/>
          </a:xfrm>
          <a:prstGeom prst="rect">
            <a:avLst/>
          </a:prstGeom>
          <a:noFill/>
          <a:ln w="9525">
            <a:noFill/>
            <a:round/>
            <a:headEnd/>
            <a:tailEnd/>
          </a:ln>
          <a:effectLst/>
        </p:spPr>
        <p:txBody>
          <a:bodyPr wrap="squar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Memory</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smtClean="0">
                <a:latin typeface="Calibri" pitchFamily="34" charset="0"/>
                <a:ea typeface="msgothic" charset="0"/>
                <a:cs typeface="msgothic" charset="0"/>
              </a:rPr>
              <a:t>invisible to user code</a:t>
            </a:r>
            <a:endParaRPr lang="en-GB" sz="1600" b="1">
              <a:latin typeface="Calibri" pitchFamily="34" charset="0"/>
              <a:ea typeface="msgothic" charset="0"/>
              <a:cs typeface="msgothic" charset="0"/>
            </a:endParaRPr>
          </a:p>
        </p:txBody>
      </p:sp>
      <p:sp>
        <p:nvSpPr>
          <p:cNvPr id="33820" name="Line 28"/>
          <p:cNvSpPr>
            <a:spLocks noChangeShapeType="1"/>
          </p:cNvSpPr>
          <p:nvPr/>
        </p:nvSpPr>
        <p:spPr bwMode="auto">
          <a:xfrm flipV="1">
            <a:off x="7543800" y="1257568"/>
            <a:ext cx="1588" cy="460375"/>
          </a:xfrm>
          <a:prstGeom prst="line">
            <a:avLst/>
          </a:prstGeom>
          <a:noFill/>
          <a:ln w="3240">
            <a:solidFill>
              <a:schemeClr val="tx1"/>
            </a:solidFill>
            <a:miter lim="800000"/>
            <a:headEnd/>
            <a:tailEnd type="triangle" w="med" len="med"/>
          </a:ln>
          <a:effectLst/>
        </p:spPr>
        <p:txBody>
          <a:bodyPr/>
          <a:lstStyle/>
          <a:p>
            <a:endParaRPr lang="en-US"/>
          </a:p>
        </p:txBody>
      </p:sp>
      <p:sp>
        <p:nvSpPr>
          <p:cNvPr id="33821" name="Text Box 29"/>
          <p:cNvSpPr txBox="1">
            <a:spLocks noChangeArrowheads="1"/>
          </p:cNvSpPr>
          <p:nvPr/>
        </p:nvSpPr>
        <p:spPr bwMode="auto">
          <a:xfrm>
            <a:off x="7888288" y="4173538"/>
            <a:ext cx="552052" cy="325988"/>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brk</a:t>
            </a:r>
          </a:p>
        </p:txBody>
      </p:sp>
      <p:sp>
        <p:nvSpPr>
          <p:cNvPr id="33822" name="Line 30"/>
          <p:cNvSpPr>
            <a:spLocks noChangeShapeType="1"/>
          </p:cNvSpPr>
          <p:nvPr/>
        </p:nvSpPr>
        <p:spPr bwMode="auto">
          <a:xfrm flipH="1">
            <a:off x="7504113" y="4340225"/>
            <a:ext cx="384175" cy="1588"/>
          </a:xfrm>
          <a:prstGeom prst="line">
            <a:avLst/>
          </a:prstGeom>
          <a:noFill/>
          <a:ln w="3240">
            <a:solidFill>
              <a:srgbClr val="000066"/>
            </a:solidFill>
            <a:miter lim="800000"/>
            <a:headEnd/>
            <a:tailEnd type="triangle" w="med" len="med"/>
          </a:ln>
          <a:effectLst/>
        </p:spPr>
        <p:txBody>
          <a:bodyPr/>
          <a:lstStyle/>
          <a:p>
            <a:endParaRPr lang="en-US"/>
          </a:p>
        </p:txBody>
      </p:sp>
      <p:sp>
        <p:nvSpPr>
          <p:cNvPr id="33824" name="Text Box 32"/>
          <p:cNvSpPr txBox="1">
            <a:spLocks noChangeArrowheads="1"/>
          </p:cNvSpPr>
          <p:nvPr/>
        </p:nvSpPr>
        <p:spPr bwMode="auto">
          <a:xfrm>
            <a:off x="3810000" y="6172200"/>
            <a:ext cx="920542" cy="269947"/>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200" b="1" smtClean="0">
                <a:latin typeface="Courier New" pitchFamily="49" charset="0"/>
                <a:ea typeface="msgothic" charset="0"/>
                <a:cs typeface="msgothic" charset="0"/>
              </a:rPr>
              <a:t>0x400000</a:t>
            </a:r>
            <a:endParaRPr lang="en-GB" sz="1200" b="1">
              <a:latin typeface="Courier New" pitchFamily="49" charset="0"/>
              <a:ea typeface="msgothic" charset="0"/>
              <a:cs typeface="msgothic" charset="0"/>
            </a:endParaRPr>
          </a:p>
        </p:txBody>
      </p:sp>
      <p:sp>
        <p:nvSpPr>
          <p:cNvPr id="33826" name="Rectangle 34"/>
          <p:cNvSpPr>
            <a:spLocks noChangeArrowheads="1"/>
          </p:cNvSpPr>
          <p:nvPr/>
        </p:nvSpPr>
        <p:spPr bwMode="auto">
          <a:xfrm>
            <a:off x="4686829" y="5017558"/>
            <a:ext cx="2789238" cy="669925"/>
          </a:xfrm>
          <a:prstGeom prst="rect">
            <a:avLst/>
          </a:prstGeom>
          <a:solidFill>
            <a:schemeClr val="accent2">
              <a:lumMod val="20000"/>
              <a:lumOff val="80000"/>
            </a:schemeClr>
          </a:solidFill>
          <a:ln w="324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Read/write </a:t>
            </a:r>
            <a:r>
              <a:rPr lang="en-GB" sz="1600" b="1" smtClean="0">
                <a:latin typeface="Calibri" pitchFamily="34" charset="0"/>
                <a:ea typeface="msgothic" charset="0"/>
                <a:cs typeface="msgothic" charset="0"/>
              </a:rPr>
              <a:t>data segment</a:t>
            </a:r>
            <a:endParaRPr lang="en-GB" sz="1600" b="1">
              <a:latin typeface="Calibri" pitchFamily="34" charset="0"/>
              <a:ea typeface="msgothic" charset="0"/>
              <a:cs typeface="msgothic" charset="0"/>
            </a:endParaRP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a:t>
            </a:r>
            <a:r>
              <a:rPr lang="en-GB" sz="1600" b="1">
                <a:latin typeface="Courier New" pitchFamily="49" charset="0"/>
                <a:ea typeface="msgothic" charset="0"/>
                <a:cs typeface="msgothic" charset="0"/>
              </a:rPr>
              <a:t>data</a:t>
            </a:r>
            <a:r>
              <a:rPr lang="en-GB" sz="1600" b="1">
                <a:latin typeface="Calibri" pitchFamily="34" charset="0"/>
                <a:ea typeface="msgothic" charset="0"/>
                <a:cs typeface="msgothic" charset="0"/>
              </a:rPr>
              <a:t>, .</a:t>
            </a:r>
            <a:r>
              <a:rPr lang="en-GB" sz="1600" b="1" err="1">
                <a:latin typeface="Courier New" pitchFamily="49" charset="0"/>
                <a:ea typeface="msgothic" charset="0"/>
                <a:cs typeface="msgothic" charset="0"/>
              </a:rPr>
              <a:t>bss</a:t>
            </a:r>
            <a:r>
              <a:rPr lang="en-GB" sz="1600" b="1">
                <a:latin typeface="Calibri" pitchFamily="34" charset="0"/>
                <a:ea typeface="msgothic" charset="0"/>
                <a:cs typeface="msgothic" charset="0"/>
              </a:rPr>
              <a:t>)</a:t>
            </a:r>
          </a:p>
        </p:txBody>
      </p:sp>
      <p:sp>
        <p:nvSpPr>
          <p:cNvPr id="33827" name="Rectangle 35"/>
          <p:cNvSpPr>
            <a:spLocks noChangeArrowheads="1"/>
          </p:cNvSpPr>
          <p:nvPr/>
        </p:nvSpPr>
        <p:spPr bwMode="auto">
          <a:xfrm>
            <a:off x="4686829" y="5643033"/>
            <a:ext cx="2789238" cy="669925"/>
          </a:xfrm>
          <a:prstGeom prst="rect">
            <a:avLst/>
          </a:prstGeom>
          <a:solidFill>
            <a:srgbClr val="F6F5BD"/>
          </a:solidFill>
          <a:ln w="324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Read-only </a:t>
            </a:r>
            <a:r>
              <a:rPr lang="en-GB" sz="1600" b="1" smtClean="0">
                <a:latin typeface="Calibri" pitchFamily="34" charset="0"/>
                <a:ea typeface="msgothic" charset="0"/>
                <a:cs typeface="msgothic" charset="0"/>
              </a:rPr>
              <a:t>code segment</a:t>
            </a:r>
            <a:endParaRPr lang="en-GB" sz="1600" b="1">
              <a:latin typeface="Calibri" pitchFamily="34" charset="0"/>
              <a:ea typeface="msgothic" charset="0"/>
              <a:cs typeface="msgothic" charset="0"/>
            </a:endParaRP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a:t>
            </a:r>
            <a:r>
              <a:rPr lang="en-GB" sz="1600" b="1">
                <a:latin typeface="Courier New" pitchFamily="49" charset="0"/>
                <a:ea typeface="msgothic" charset="0"/>
                <a:cs typeface="msgothic" charset="0"/>
              </a:rPr>
              <a:t>.init</a:t>
            </a:r>
            <a:r>
              <a:rPr lang="en-GB" sz="1600" b="1">
                <a:latin typeface="Calibri" pitchFamily="34" charset="0"/>
                <a:ea typeface="msgothic" charset="0"/>
                <a:cs typeface="msgothic" charset="0"/>
              </a:rPr>
              <a:t>, .</a:t>
            </a:r>
            <a:r>
              <a:rPr lang="en-GB" sz="1600" b="1">
                <a:latin typeface="Courier New" pitchFamily="49" charset="0"/>
                <a:ea typeface="msgothic" charset="0"/>
                <a:cs typeface="msgothic" charset="0"/>
              </a:rPr>
              <a:t>text</a:t>
            </a:r>
            <a:r>
              <a:rPr lang="en-GB" sz="1600" b="1">
                <a:latin typeface="Calibri" pitchFamily="34" charset="0"/>
                <a:ea typeface="msgothic" charset="0"/>
                <a:cs typeface="msgothic" charset="0"/>
              </a:rPr>
              <a:t>, </a:t>
            </a:r>
            <a:r>
              <a:rPr lang="en-GB" sz="1600" b="1">
                <a:latin typeface="Courier New" pitchFamily="49" charset="0"/>
                <a:ea typeface="msgothic" charset="0"/>
                <a:cs typeface="msgothic" charset="0"/>
              </a:rPr>
              <a:t>.</a:t>
            </a:r>
            <a:r>
              <a:rPr lang="en-GB" sz="1600" b="1" err="1">
                <a:latin typeface="Courier New" pitchFamily="49" charset="0"/>
                <a:ea typeface="msgothic" charset="0"/>
                <a:cs typeface="msgothic" charset="0"/>
              </a:rPr>
              <a:t>rodata</a:t>
            </a:r>
            <a:r>
              <a:rPr lang="en-GB" sz="1600" b="1">
                <a:latin typeface="Calibri" pitchFamily="34" charset="0"/>
                <a:ea typeface="msgothic" charset="0"/>
                <a:cs typeface="msgothic" charset="0"/>
              </a:rPr>
              <a:t>)</a:t>
            </a:r>
          </a:p>
        </p:txBody>
      </p:sp>
      <p:sp>
        <p:nvSpPr>
          <p:cNvPr id="33828" name="AutoShape 36"/>
          <p:cNvSpPr>
            <a:spLocks/>
          </p:cNvSpPr>
          <p:nvPr/>
        </p:nvSpPr>
        <p:spPr bwMode="auto">
          <a:xfrm>
            <a:off x="7524750" y="5026025"/>
            <a:ext cx="76200" cy="1295400"/>
          </a:xfrm>
          <a:prstGeom prst="rightBrace">
            <a:avLst>
              <a:gd name="adj1" fmla="val 141667"/>
              <a:gd name="adj2" fmla="val 50000"/>
            </a:avLst>
          </a:prstGeom>
          <a:noFill/>
          <a:ln w="12600">
            <a:solidFill>
              <a:srgbClr val="000066"/>
            </a:solidFill>
            <a:miter lim="800000"/>
            <a:headEnd/>
            <a:tailEnd/>
          </a:ln>
          <a:effectLst/>
        </p:spPr>
        <p:txBody>
          <a:bodyPr wrap="none" anchor="ctr"/>
          <a:lstStyle/>
          <a:p>
            <a:endParaRPr lang="en-US"/>
          </a:p>
        </p:txBody>
      </p:sp>
      <p:sp>
        <p:nvSpPr>
          <p:cNvPr id="33829" name="Text Box 37"/>
          <p:cNvSpPr txBox="1">
            <a:spLocks noChangeArrowheads="1"/>
          </p:cNvSpPr>
          <p:nvPr/>
        </p:nvSpPr>
        <p:spPr bwMode="auto">
          <a:xfrm>
            <a:off x="7677150" y="5010150"/>
            <a:ext cx="1149459" cy="1300935"/>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Loaded </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from </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the </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executable </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file</a:t>
            </a:r>
          </a:p>
        </p:txBody>
      </p:sp>
      <p:sp>
        <p:nvSpPr>
          <p:cNvPr id="39" name="Rectangle 5"/>
          <p:cNvSpPr>
            <a:spLocks noChangeArrowheads="1"/>
          </p:cNvSpPr>
          <p:nvPr/>
        </p:nvSpPr>
        <p:spPr bwMode="auto">
          <a:xfrm>
            <a:off x="323646" y="3320388"/>
            <a:ext cx="2971800" cy="381000"/>
          </a:xfrm>
          <a:prstGeom prst="rect">
            <a:avLst/>
          </a:prstGeom>
          <a:solidFill>
            <a:srgbClr val="F6F5BD"/>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smtClean="0">
                <a:latin typeface="Calibri" pitchFamily="34" charset="0"/>
                <a:ea typeface="msgothic" charset="0"/>
                <a:cs typeface="msgothic" charset="0"/>
              </a:rPr>
              <a:t>.</a:t>
            </a:r>
            <a:r>
              <a:rPr lang="en-GB" sz="1600" b="1" err="1" smtClean="0">
                <a:latin typeface="Calibri" pitchFamily="34" charset="0"/>
                <a:ea typeface="msgothic" charset="0"/>
                <a:cs typeface="msgothic" charset="0"/>
              </a:rPr>
              <a:t>rodata</a:t>
            </a:r>
            <a:r>
              <a:rPr lang="en-GB" sz="1600" b="1" smtClean="0">
                <a:latin typeface="Calibri" pitchFamily="34" charset="0"/>
                <a:ea typeface="msgothic" charset="0"/>
                <a:cs typeface="msgothic" charset="0"/>
              </a:rPr>
              <a:t> </a:t>
            </a:r>
            <a:r>
              <a:rPr lang="en-GB" sz="1600" b="1">
                <a:latin typeface="Calibri" pitchFamily="34" charset="0"/>
                <a:ea typeface="msgothic" charset="0"/>
                <a:cs typeface="msgothic" charset="0"/>
              </a:rPr>
              <a:t>section</a:t>
            </a:r>
          </a:p>
        </p:txBody>
      </p:sp>
      <p:sp>
        <p:nvSpPr>
          <p:cNvPr id="40" name="Rectangle 10"/>
          <p:cNvSpPr>
            <a:spLocks noChangeArrowheads="1"/>
          </p:cNvSpPr>
          <p:nvPr/>
        </p:nvSpPr>
        <p:spPr bwMode="auto">
          <a:xfrm>
            <a:off x="323646" y="5225388"/>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smtClean="0">
                <a:latin typeface="Calibri" pitchFamily="34" charset="0"/>
                <a:ea typeface="msgothic" charset="0"/>
                <a:cs typeface="msgothic" charset="0"/>
              </a:rPr>
              <a:t>.line</a:t>
            </a:r>
            <a:endParaRPr lang="en-GB" sz="1600" b="1">
              <a:latin typeface="Calibri" pitchFamily="34" charset="0"/>
              <a:ea typeface="msgothic" charset="0"/>
              <a:cs typeface="msgothic" charset="0"/>
            </a:endParaRPr>
          </a:p>
        </p:txBody>
      </p:sp>
      <p:sp>
        <p:nvSpPr>
          <p:cNvPr id="41" name="Rectangle 4"/>
          <p:cNvSpPr>
            <a:spLocks noChangeArrowheads="1"/>
          </p:cNvSpPr>
          <p:nvPr/>
        </p:nvSpPr>
        <p:spPr bwMode="auto">
          <a:xfrm>
            <a:off x="323646" y="2558388"/>
            <a:ext cx="2971800" cy="381000"/>
          </a:xfrm>
          <a:prstGeom prst="rect">
            <a:avLst/>
          </a:prstGeom>
          <a:solidFill>
            <a:srgbClr val="F6F5BD"/>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smtClean="0">
                <a:latin typeface="Calibri" pitchFamily="34" charset="0"/>
                <a:ea typeface="msgothic" charset="0"/>
                <a:cs typeface="msgothic" charset="0"/>
              </a:rPr>
              <a:t>.</a:t>
            </a:r>
            <a:r>
              <a:rPr lang="en-GB" sz="1600" smtClean="0">
                <a:latin typeface="Calibri" pitchFamily="34" charset="0"/>
                <a:ea typeface="msgothic" charset="0"/>
                <a:cs typeface="msgothic" charset="0"/>
              </a:rPr>
              <a:t>ini</a:t>
            </a:r>
            <a:r>
              <a:rPr lang="en-GB" sz="1600" b="1" smtClean="0">
                <a:latin typeface="Calibri" pitchFamily="34" charset="0"/>
                <a:ea typeface="msgothic" charset="0"/>
                <a:cs typeface="msgothic" charset="0"/>
              </a:rPr>
              <a:t>t </a:t>
            </a:r>
            <a:r>
              <a:rPr lang="en-GB" sz="1600" b="1">
                <a:latin typeface="Calibri" pitchFamily="34" charset="0"/>
                <a:ea typeface="msgothic" charset="0"/>
                <a:cs typeface="msgothic" charset="0"/>
              </a:rPr>
              <a:t>section</a:t>
            </a:r>
          </a:p>
        </p:txBody>
      </p:sp>
      <p:sp>
        <p:nvSpPr>
          <p:cNvPr id="42" name="Rectangle 10"/>
          <p:cNvSpPr>
            <a:spLocks noChangeArrowheads="1"/>
          </p:cNvSpPr>
          <p:nvPr/>
        </p:nvSpPr>
        <p:spPr bwMode="auto">
          <a:xfrm>
            <a:off x="323646" y="5606388"/>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smtClean="0">
                <a:latin typeface="Calibri" pitchFamily="34" charset="0"/>
                <a:ea typeface="msgothic" charset="0"/>
                <a:cs typeface="msgothic" charset="0"/>
              </a:rPr>
              <a:t>.</a:t>
            </a:r>
            <a:r>
              <a:rPr lang="en-GB" sz="1600" b="1" err="1" smtClean="0">
                <a:latin typeface="Calibri" pitchFamily="34" charset="0"/>
                <a:ea typeface="msgothic" charset="0"/>
                <a:cs typeface="msgothic" charset="0"/>
              </a:rPr>
              <a:t>strtab</a:t>
            </a:r>
            <a:endParaRPr lang="en-GB" sz="1600" b="1">
              <a:latin typeface="Calibri" pitchFamily="34" charset="0"/>
              <a:ea typeface="msgothic" charset="0"/>
              <a:cs typeface="msgothic" charset="0"/>
            </a:endParaRPr>
          </a:p>
        </p:txBody>
      </p:sp>
    </p:spTree>
    <p:extLst>
      <p:ext uri="{BB962C8B-B14F-4D97-AF65-F5344CB8AC3E}">
        <p14:creationId xmlns:p14="http://schemas.microsoft.com/office/powerpoint/2010/main" val="916628033"/>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Grp="1" noChangeArrowheads="1"/>
          </p:cNvSpPr>
          <p:nvPr>
            <p:ph type="title" idx="4294967295"/>
          </p:nvPr>
        </p:nvSpPr>
        <p:spPr>
          <a:xfrm>
            <a:off x="355070" y="304800"/>
            <a:ext cx="8831262" cy="1054100"/>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Packaging Commonly Used Functions</a:t>
            </a:r>
          </a:p>
        </p:txBody>
      </p:sp>
      <p:sp>
        <p:nvSpPr>
          <p:cNvPr id="27650" name="Rectangle 2"/>
          <p:cNvSpPr>
            <a:spLocks noGrp="1" noChangeArrowheads="1"/>
          </p:cNvSpPr>
          <p:nvPr>
            <p:ph type="body" idx="1"/>
          </p:nvPr>
        </p:nvSpPr>
        <p:spPr>
          <a:xfrm>
            <a:off x="362161" y="1333500"/>
            <a:ext cx="8307387" cy="5295900"/>
          </a:xfrm>
          <a:ln/>
        </p:spPr>
        <p:txBody>
          <a:bodyPr/>
          <a:lstStyle/>
          <a:p>
            <a:pP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How to package functions commonly used by programmers?</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Math, I/O, memory management, string manipulation, etc.</a:t>
            </a:r>
          </a:p>
          <a:p>
            <a:pP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smtClean="0"/>
          </a:p>
          <a:p>
            <a:pP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mtClean="0"/>
              <a:t>Awkward</a:t>
            </a:r>
            <a:r>
              <a:rPr lang="en-GB"/>
              <a:t>, given the linker framework so far:</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b="1">
                <a:solidFill>
                  <a:srgbClr val="990000"/>
                </a:solidFill>
              </a:rPr>
              <a:t>Option 1:</a:t>
            </a:r>
            <a:r>
              <a:rPr lang="en-GB"/>
              <a:t> Put all functions </a:t>
            </a:r>
            <a:r>
              <a:rPr lang="en-GB" smtClean="0"/>
              <a:t>into </a:t>
            </a:r>
            <a:r>
              <a:rPr lang="en-GB"/>
              <a:t>a single source file</a:t>
            </a:r>
          </a:p>
          <a:p>
            <a:pPr lvl="2">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Programmers link big object file into their programs</a:t>
            </a:r>
          </a:p>
          <a:p>
            <a:pPr lvl="2">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Space and time inefficient</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b="1">
                <a:solidFill>
                  <a:srgbClr val="990000"/>
                </a:solidFill>
              </a:rPr>
              <a:t>Option 2:</a:t>
            </a:r>
            <a:r>
              <a:rPr lang="en-GB"/>
              <a:t> Put each function in a separate source file</a:t>
            </a:r>
          </a:p>
          <a:p>
            <a:pPr lvl="2">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Programmers explicitly link appropriate binaries into their programs</a:t>
            </a:r>
          </a:p>
          <a:p>
            <a:pPr lvl="2">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More efficient, but burdensome on the programmer</a:t>
            </a:r>
          </a:p>
        </p:txBody>
      </p:sp>
    </p:spTree>
    <p:extLst>
      <p:ext uri="{BB962C8B-B14F-4D97-AF65-F5344CB8AC3E}">
        <p14:creationId xmlns:p14="http://schemas.microsoft.com/office/powerpoint/2010/main" val="560927420"/>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1"/>
          <p:cNvSpPr>
            <a:spLocks noGrp="1" noChangeArrowheads="1"/>
          </p:cNvSpPr>
          <p:nvPr>
            <p:ph type="title" idx="4294967295"/>
          </p:nvPr>
        </p:nvSpPr>
        <p:spPr>
          <a:xfrm>
            <a:off x="379412" y="436562"/>
            <a:ext cx="8716962" cy="782638"/>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Old-fashioned Solution: Static </a:t>
            </a:r>
            <a:r>
              <a:rPr lang="en-GB"/>
              <a:t>Libraries</a:t>
            </a:r>
          </a:p>
        </p:txBody>
      </p:sp>
      <p:sp>
        <p:nvSpPr>
          <p:cNvPr id="28674" name="Rectangle 2"/>
          <p:cNvSpPr>
            <a:spLocks noGrp="1" noChangeArrowheads="1"/>
          </p:cNvSpPr>
          <p:nvPr>
            <p:ph type="body" idx="1"/>
          </p:nvPr>
        </p:nvSpPr>
        <p:spPr>
          <a:xfrm>
            <a:off x="379413" y="1447800"/>
            <a:ext cx="8459787" cy="4767262"/>
          </a:xfrm>
          <a:ln/>
        </p:spPr>
        <p:txBody>
          <a:bodyPr/>
          <a:lstStyle/>
          <a:p>
            <a:pP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mtClean="0">
                <a:solidFill>
                  <a:srgbClr val="990000"/>
                </a:solidFill>
              </a:rPr>
              <a:t>Static </a:t>
            </a:r>
            <a:r>
              <a:rPr lang="en-GB">
                <a:solidFill>
                  <a:srgbClr val="990000"/>
                </a:solidFill>
              </a:rPr>
              <a:t>libraries </a:t>
            </a:r>
            <a:r>
              <a:rPr lang="en-GB"/>
              <a:t>(.</a:t>
            </a:r>
            <a:r>
              <a:rPr lang="en-GB">
                <a:latin typeface="Courier New" pitchFamily="49" charset="0"/>
              </a:rPr>
              <a:t>a</a:t>
            </a:r>
            <a:r>
              <a:rPr lang="en-GB"/>
              <a:t> </a:t>
            </a:r>
            <a:r>
              <a:rPr lang="en-GB">
                <a:solidFill>
                  <a:srgbClr val="000004"/>
                </a:solidFill>
              </a:rPr>
              <a:t>archive files</a:t>
            </a:r>
            <a:r>
              <a:rPr lang="en-GB"/>
              <a:t>)</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Concatenate related </a:t>
            </a:r>
            <a:r>
              <a:rPr lang="en-GB" err="1"/>
              <a:t>relocatable</a:t>
            </a:r>
            <a:r>
              <a:rPr lang="en-GB"/>
              <a:t> object files into a single file with an index (called an </a:t>
            </a:r>
            <a:r>
              <a:rPr lang="en-GB" i="1"/>
              <a:t>archive</a:t>
            </a:r>
            <a:r>
              <a:rPr lang="en-GB"/>
              <a:t>).</a:t>
            </a:r>
          </a:p>
          <a:p>
            <a:pPr lvl="1">
              <a:buFont typeface="Wingdings" charset="2"/>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Enhance linker so that it tries to resolve unresolved external references by looking for the symbols in one or more archives.</a:t>
            </a:r>
          </a:p>
          <a:p>
            <a:pPr lvl="1">
              <a:buSzPct val="75000"/>
              <a:buFont typeface="Wingdings" charset="2"/>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If an archive member file resolves reference, </a:t>
            </a:r>
            <a:r>
              <a:rPr lang="en-GB" smtClean="0"/>
              <a:t>link it  </a:t>
            </a:r>
            <a:r>
              <a:rPr lang="en-GB"/>
              <a:t>into</a:t>
            </a:r>
            <a:r>
              <a:rPr lang="en-GB" smtClean="0"/>
              <a:t> the executable</a:t>
            </a:r>
            <a:r>
              <a:rPr lang="en-GB"/>
              <a:t>.</a:t>
            </a:r>
          </a:p>
          <a:p>
            <a:pPr>
              <a:buFont typeface="Wingdings" charset="2"/>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a:p>
        </p:txBody>
      </p:sp>
    </p:spTree>
    <p:extLst>
      <p:ext uri="{BB962C8B-B14F-4D97-AF65-F5344CB8AC3E}">
        <p14:creationId xmlns:p14="http://schemas.microsoft.com/office/powerpoint/2010/main" val="756592117"/>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
          <p:cNvSpPr>
            <a:spLocks noGrp="1" noChangeArrowheads="1"/>
          </p:cNvSpPr>
          <p:nvPr>
            <p:ph type="title" idx="4294967295"/>
          </p:nvPr>
        </p:nvSpPr>
        <p:spPr>
          <a:xfrm>
            <a:off x="503238" y="436562"/>
            <a:ext cx="8716962" cy="782638"/>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Creating Static Libraries</a:t>
            </a:r>
          </a:p>
        </p:txBody>
      </p:sp>
      <p:sp>
        <p:nvSpPr>
          <p:cNvPr id="29698" name="Line 2"/>
          <p:cNvSpPr>
            <a:spLocks noChangeShapeType="1"/>
          </p:cNvSpPr>
          <p:nvPr/>
        </p:nvSpPr>
        <p:spPr bwMode="auto">
          <a:xfrm>
            <a:off x="1295400" y="1919981"/>
            <a:ext cx="1588" cy="381000"/>
          </a:xfrm>
          <a:prstGeom prst="line">
            <a:avLst/>
          </a:prstGeom>
          <a:noFill/>
          <a:ln w="28440">
            <a:solidFill>
              <a:srgbClr val="000066"/>
            </a:solidFill>
            <a:miter lim="800000"/>
            <a:headEnd/>
            <a:tailEnd type="triangle" w="med" len="med"/>
          </a:ln>
          <a:effectLst/>
        </p:spPr>
        <p:txBody>
          <a:bodyPr/>
          <a:lstStyle/>
          <a:p>
            <a:endParaRPr lang="en-US"/>
          </a:p>
        </p:txBody>
      </p:sp>
      <p:sp>
        <p:nvSpPr>
          <p:cNvPr id="29699" name="Rectangle 3"/>
          <p:cNvSpPr>
            <a:spLocks noChangeArrowheads="1"/>
          </p:cNvSpPr>
          <p:nvPr/>
        </p:nvSpPr>
        <p:spPr bwMode="auto">
          <a:xfrm>
            <a:off x="609600" y="2289869"/>
            <a:ext cx="1371600" cy="360909"/>
          </a:xfrm>
          <a:prstGeom prst="rect">
            <a:avLst/>
          </a:prstGeom>
          <a:solidFill>
            <a:srgbClr val="DEDFF5"/>
          </a:solidFill>
          <a:ln w="284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alibri" pitchFamily="34" charset="0"/>
                <a:ea typeface="msgothic" charset="0"/>
                <a:cs typeface="msgothic" charset="0"/>
              </a:rPr>
              <a:t>Translator</a:t>
            </a:r>
          </a:p>
        </p:txBody>
      </p:sp>
      <p:sp>
        <p:nvSpPr>
          <p:cNvPr id="29700" name="Text Box 4"/>
          <p:cNvSpPr txBox="1">
            <a:spLocks noChangeArrowheads="1"/>
          </p:cNvSpPr>
          <p:nvPr/>
        </p:nvSpPr>
        <p:spPr bwMode="auto">
          <a:xfrm>
            <a:off x="771525" y="1615181"/>
            <a:ext cx="1008907" cy="354906"/>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err="1">
                <a:latin typeface="Courier New" pitchFamily="49" charset="0"/>
                <a:ea typeface="msgothic" charset="0"/>
                <a:cs typeface="msgothic" charset="0"/>
              </a:rPr>
              <a:t>atoi.c</a:t>
            </a:r>
            <a:endParaRPr lang="en-GB" sz="1800" b="1">
              <a:latin typeface="Courier New" pitchFamily="49" charset="0"/>
              <a:ea typeface="msgothic" charset="0"/>
              <a:cs typeface="msgothic" charset="0"/>
            </a:endParaRPr>
          </a:p>
        </p:txBody>
      </p:sp>
      <p:sp>
        <p:nvSpPr>
          <p:cNvPr id="29701" name="Text Box 5"/>
          <p:cNvSpPr txBox="1">
            <a:spLocks noChangeArrowheads="1"/>
          </p:cNvSpPr>
          <p:nvPr/>
        </p:nvSpPr>
        <p:spPr bwMode="auto">
          <a:xfrm>
            <a:off x="955675" y="2986781"/>
            <a:ext cx="1008907" cy="354906"/>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atoi.o</a:t>
            </a:r>
          </a:p>
        </p:txBody>
      </p:sp>
      <p:sp>
        <p:nvSpPr>
          <p:cNvPr id="29702" name="Rectangle 6"/>
          <p:cNvSpPr>
            <a:spLocks noChangeArrowheads="1"/>
          </p:cNvSpPr>
          <p:nvPr/>
        </p:nvSpPr>
        <p:spPr bwMode="auto">
          <a:xfrm>
            <a:off x="2286000" y="2289869"/>
            <a:ext cx="1371600" cy="360909"/>
          </a:xfrm>
          <a:prstGeom prst="rect">
            <a:avLst/>
          </a:prstGeom>
          <a:solidFill>
            <a:schemeClr val="accent2">
              <a:lumMod val="20000"/>
              <a:lumOff val="80000"/>
            </a:schemeClr>
          </a:solidFill>
          <a:ln w="284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alibri" pitchFamily="34" charset="0"/>
                <a:ea typeface="msgothic" charset="0"/>
                <a:cs typeface="msgothic" charset="0"/>
              </a:rPr>
              <a:t>Translator</a:t>
            </a:r>
          </a:p>
        </p:txBody>
      </p:sp>
      <p:sp>
        <p:nvSpPr>
          <p:cNvPr id="29703" name="Text Box 7"/>
          <p:cNvSpPr txBox="1">
            <a:spLocks noChangeArrowheads="1"/>
          </p:cNvSpPr>
          <p:nvPr/>
        </p:nvSpPr>
        <p:spPr bwMode="auto">
          <a:xfrm>
            <a:off x="2297113" y="1615181"/>
            <a:ext cx="1284624" cy="354906"/>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printf.c</a:t>
            </a:r>
          </a:p>
        </p:txBody>
      </p:sp>
      <p:sp>
        <p:nvSpPr>
          <p:cNvPr id="29704" name="Text Box 8"/>
          <p:cNvSpPr txBox="1">
            <a:spLocks noChangeArrowheads="1"/>
          </p:cNvSpPr>
          <p:nvPr/>
        </p:nvSpPr>
        <p:spPr bwMode="auto">
          <a:xfrm>
            <a:off x="2316163" y="2986781"/>
            <a:ext cx="1284624" cy="354906"/>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printf.o</a:t>
            </a:r>
          </a:p>
        </p:txBody>
      </p:sp>
      <p:sp>
        <p:nvSpPr>
          <p:cNvPr id="29705" name="Line 9"/>
          <p:cNvSpPr>
            <a:spLocks noChangeShapeType="1"/>
          </p:cNvSpPr>
          <p:nvPr/>
        </p:nvSpPr>
        <p:spPr bwMode="auto">
          <a:xfrm>
            <a:off x="2971800" y="1919981"/>
            <a:ext cx="1588" cy="381000"/>
          </a:xfrm>
          <a:prstGeom prst="line">
            <a:avLst/>
          </a:prstGeom>
          <a:noFill/>
          <a:ln w="28440">
            <a:solidFill>
              <a:srgbClr val="000066"/>
            </a:solidFill>
            <a:miter lim="800000"/>
            <a:headEnd/>
            <a:tailEnd type="triangle" w="med" len="med"/>
          </a:ln>
          <a:effectLst/>
        </p:spPr>
        <p:txBody>
          <a:bodyPr/>
          <a:lstStyle/>
          <a:p>
            <a:endParaRPr lang="en-US"/>
          </a:p>
        </p:txBody>
      </p:sp>
      <p:sp>
        <p:nvSpPr>
          <p:cNvPr id="29706" name="Line 10"/>
          <p:cNvSpPr>
            <a:spLocks noChangeShapeType="1"/>
          </p:cNvSpPr>
          <p:nvPr/>
        </p:nvSpPr>
        <p:spPr bwMode="auto">
          <a:xfrm>
            <a:off x="1295400" y="2681981"/>
            <a:ext cx="1588" cy="381000"/>
          </a:xfrm>
          <a:prstGeom prst="line">
            <a:avLst/>
          </a:prstGeom>
          <a:noFill/>
          <a:ln w="28440">
            <a:solidFill>
              <a:srgbClr val="000066"/>
            </a:solidFill>
            <a:miter lim="800000"/>
            <a:headEnd/>
            <a:tailEnd type="triangle" w="med" len="med"/>
          </a:ln>
          <a:effectLst/>
        </p:spPr>
        <p:txBody>
          <a:bodyPr/>
          <a:lstStyle/>
          <a:p>
            <a:endParaRPr lang="en-US"/>
          </a:p>
        </p:txBody>
      </p:sp>
      <p:sp>
        <p:nvSpPr>
          <p:cNvPr id="29707" name="Line 11"/>
          <p:cNvSpPr>
            <a:spLocks noChangeShapeType="1"/>
          </p:cNvSpPr>
          <p:nvPr/>
        </p:nvSpPr>
        <p:spPr bwMode="auto">
          <a:xfrm>
            <a:off x="2971800" y="2681981"/>
            <a:ext cx="1588" cy="381000"/>
          </a:xfrm>
          <a:prstGeom prst="line">
            <a:avLst/>
          </a:prstGeom>
          <a:noFill/>
          <a:ln w="28440">
            <a:solidFill>
              <a:srgbClr val="000066"/>
            </a:solidFill>
            <a:miter lim="800000"/>
            <a:headEnd/>
            <a:tailEnd type="triangle" w="med" len="med"/>
          </a:ln>
          <a:effectLst/>
        </p:spPr>
        <p:txBody>
          <a:bodyPr/>
          <a:lstStyle/>
          <a:p>
            <a:endParaRPr lang="en-US"/>
          </a:p>
        </p:txBody>
      </p:sp>
      <p:sp>
        <p:nvSpPr>
          <p:cNvPr id="29708" name="Line 12"/>
          <p:cNvSpPr>
            <a:spLocks noChangeShapeType="1"/>
          </p:cNvSpPr>
          <p:nvPr/>
        </p:nvSpPr>
        <p:spPr bwMode="auto">
          <a:xfrm>
            <a:off x="2971800" y="3364606"/>
            <a:ext cx="1588" cy="471488"/>
          </a:xfrm>
          <a:prstGeom prst="line">
            <a:avLst/>
          </a:prstGeom>
          <a:noFill/>
          <a:ln w="28440">
            <a:solidFill>
              <a:srgbClr val="000066"/>
            </a:solidFill>
            <a:miter lim="800000"/>
            <a:headEnd/>
            <a:tailEnd type="triangle" w="med" len="med"/>
          </a:ln>
          <a:effectLst/>
        </p:spPr>
        <p:txBody>
          <a:bodyPr/>
          <a:lstStyle/>
          <a:p>
            <a:endParaRPr lang="en-US"/>
          </a:p>
        </p:txBody>
      </p:sp>
      <p:sp>
        <p:nvSpPr>
          <p:cNvPr id="29709" name="Text Box 13"/>
          <p:cNvSpPr txBox="1">
            <a:spLocks noChangeArrowheads="1"/>
          </p:cNvSpPr>
          <p:nvPr/>
        </p:nvSpPr>
        <p:spPr bwMode="auto">
          <a:xfrm>
            <a:off x="2511425" y="4674294"/>
            <a:ext cx="1008907" cy="354906"/>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libc.a</a:t>
            </a:r>
          </a:p>
        </p:txBody>
      </p:sp>
      <p:sp>
        <p:nvSpPr>
          <p:cNvPr id="29710" name="Line 14"/>
          <p:cNvSpPr>
            <a:spLocks noChangeShapeType="1"/>
          </p:cNvSpPr>
          <p:nvPr/>
        </p:nvSpPr>
        <p:spPr bwMode="auto">
          <a:xfrm flipH="1">
            <a:off x="3884613" y="3302694"/>
            <a:ext cx="1298575" cy="457200"/>
          </a:xfrm>
          <a:prstGeom prst="line">
            <a:avLst/>
          </a:prstGeom>
          <a:noFill/>
          <a:ln w="28440">
            <a:solidFill>
              <a:srgbClr val="000066"/>
            </a:solidFill>
            <a:miter lim="800000"/>
            <a:headEnd/>
            <a:tailEnd type="triangle" w="med" len="med"/>
          </a:ln>
          <a:effectLst/>
        </p:spPr>
        <p:txBody>
          <a:bodyPr/>
          <a:lstStyle/>
          <a:p>
            <a:endParaRPr lang="en-US"/>
          </a:p>
        </p:txBody>
      </p:sp>
      <p:sp>
        <p:nvSpPr>
          <p:cNvPr id="29711" name="Rectangle 15"/>
          <p:cNvSpPr>
            <a:spLocks noChangeArrowheads="1"/>
          </p:cNvSpPr>
          <p:nvPr/>
        </p:nvSpPr>
        <p:spPr bwMode="auto">
          <a:xfrm>
            <a:off x="1828800" y="3836094"/>
            <a:ext cx="2971800" cy="360909"/>
          </a:xfrm>
          <a:prstGeom prst="rect">
            <a:avLst/>
          </a:prstGeom>
          <a:solidFill>
            <a:schemeClr val="accent2">
              <a:lumMod val="20000"/>
              <a:lumOff val="80000"/>
            </a:schemeClr>
          </a:solidFill>
          <a:ln w="284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err="1">
                <a:latin typeface="Calibri" pitchFamily="34" charset="0"/>
                <a:ea typeface="msgothic" charset="0"/>
                <a:cs typeface="msgothic" charset="0"/>
              </a:rPr>
              <a:t>Archiver</a:t>
            </a:r>
            <a:r>
              <a:rPr lang="en-GB" sz="1800" b="1">
                <a:latin typeface="Calibri" pitchFamily="34" charset="0"/>
                <a:ea typeface="msgothic" charset="0"/>
                <a:cs typeface="msgothic" charset="0"/>
              </a:rPr>
              <a:t> (</a:t>
            </a:r>
            <a:r>
              <a:rPr lang="en-GB" sz="1800" b="1" err="1">
                <a:latin typeface="Calibri" pitchFamily="34" charset="0"/>
                <a:ea typeface="msgothic" charset="0"/>
                <a:cs typeface="msgothic" charset="0"/>
              </a:rPr>
              <a:t>ar</a:t>
            </a:r>
            <a:r>
              <a:rPr lang="en-GB" sz="1800" b="1">
                <a:latin typeface="Calibri" pitchFamily="34" charset="0"/>
                <a:ea typeface="msgothic" charset="0"/>
                <a:cs typeface="msgothic" charset="0"/>
              </a:rPr>
              <a:t>)</a:t>
            </a:r>
          </a:p>
        </p:txBody>
      </p:sp>
      <p:sp>
        <p:nvSpPr>
          <p:cNvPr id="29712" name="Text Box 16"/>
          <p:cNvSpPr txBox="1">
            <a:spLocks noChangeArrowheads="1"/>
          </p:cNvSpPr>
          <p:nvPr/>
        </p:nvSpPr>
        <p:spPr bwMode="auto">
          <a:xfrm>
            <a:off x="3886200" y="2159694"/>
            <a:ext cx="436563" cy="454025"/>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a:latin typeface="Calibri" pitchFamily="34" charset="0"/>
                <a:ea typeface="msgothic" charset="0"/>
                <a:cs typeface="msgothic" charset="0"/>
              </a:rPr>
              <a:t>...</a:t>
            </a:r>
          </a:p>
        </p:txBody>
      </p:sp>
      <p:sp>
        <p:nvSpPr>
          <p:cNvPr id="29713" name="Rectangle 17"/>
          <p:cNvSpPr>
            <a:spLocks noChangeArrowheads="1"/>
          </p:cNvSpPr>
          <p:nvPr/>
        </p:nvSpPr>
        <p:spPr bwMode="auto">
          <a:xfrm>
            <a:off x="4572000" y="2300981"/>
            <a:ext cx="1371600" cy="360909"/>
          </a:xfrm>
          <a:prstGeom prst="rect">
            <a:avLst/>
          </a:prstGeom>
          <a:solidFill>
            <a:schemeClr val="accent2">
              <a:lumMod val="20000"/>
              <a:lumOff val="80000"/>
            </a:schemeClr>
          </a:solidFill>
          <a:ln w="284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alibri" pitchFamily="34" charset="0"/>
                <a:ea typeface="msgothic" charset="0"/>
                <a:cs typeface="msgothic" charset="0"/>
              </a:rPr>
              <a:t>Translator</a:t>
            </a:r>
          </a:p>
        </p:txBody>
      </p:sp>
      <p:sp>
        <p:nvSpPr>
          <p:cNvPr id="29714" name="Text Box 18"/>
          <p:cNvSpPr txBox="1">
            <a:spLocks noChangeArrowheads="1"/>
          </p:cNvSpPr>
          <p:nvPr/>
        </p:nvSpPr>
        <p:spPr bwMode="auto">
          <a:xfrm>
            <a:off x="4583113" y="1626294"/>
            <a:ext cx="1284624" cy="354906"/>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random.c</a:t>
            </a:r>
          </a:p>
        </p:txBody>
      </p:sp>
      <p:sp>
        <p:nvSpPr>
          <p:cNvPr id="29715" name="Text Box 19"/>
          <p:cNvSpPr txBox="1">
            <a:spLocks noChangeArrowheads="1"/>
          </p:cNvSpPr>
          <p:nvPr/>
        </p:nvSpPr>
        <p:spPr bwMode="auto">
          <a:xfrm>
            <a:off x="4602163" y="2997894"/>
            <a:ext cx="1284624" cy="354906"/>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random.o</a:t>
            </a:r>
          </a:p>
        </p:txBody>
      </p:sp>
      <p:sp>
        <p:nvSpPr>
          <p:cNvPr id="29716" name="Line 20"/>
          <p:cNvSpPr>
            <a:spLocks noChangeShapeType="1"/>
          </p:cNvSpPr>
          <p:nvPr/>
        </p:nvSpPr>
        <p:spPr bwMode="auto">
          <a:xfrm>
            <a:off x="5257800" y="1931094"/>
            <a:ext cx="1588" cy="381000"/>
          </a:xfrm>
          <a:prstGeom prst="line">
            <a:avLst/>
          </a:prstGeom>
          <a:noFill/>
          <a:ln w="28440">
            <a:solidFill>
              <a:srgbClr val="000066"/>
            </a:solidFill>
            <a:miter lim="800000"/>
            <a:headEnd/>
            <a:tailEnd type="triangle" w="med" len="med"/>
          </a:ln>
          <a:effectLst/>
        </p:spPr>
        <p:txBody>
          <a:bodyPr/>
          <a:lstStyle/>
          <a:p>
            <a:endParaRPr lang="en-US"/>
          </a:p>
        </p:txBody>
      </p:sp>
      <p:sp>
        <p:nvSpPr>
          <p:cNvPr id="29717" name="Line 21"/>
          <p:cNvSpPr>
            <a:spLocks noChangeShapeType="1"/>
          </p:cNvSpPr>
          <p:nvPr/>
        </p:nvSpPr>
        <p:spPr bwMode="auto">
          <a:xfrm>
            <a:off x="5257800" y="2693094"/>
            <a:ext cx="1588" cy="381000"/>
          </a:xfrm>
          <a:prstGeom prst="line">
            <a:avLst/>
          </a:prstGeom>
          <a:noFill/>
          <a:ln w="28440">
            <a:solidFill>
              <a:srgbClr val="000066"/>
            </a:solidFill>
            <a:miter lim="800000"/>
            <a:headEnd/>
            <a:tailEnd type="triangle" w="med" len="med"/>
          </a:ln>
          <a:effectLst/>
        </p:spPr>
        <p:txBody>
          <a:bodyPr/>
          <a:lstStyle/>
          <a:p>
            <a:endParaRPr lang="en-US"/>
          </a:p>
        </p:txBody>
      </p:sp>
      <p:sp>
        <p:nvSpPr>
          <p:cNvPr id="29718" name="Line 22"/>
          <p:cNvSpPr>
            <a:spLocks noChangeShapeType="1"/>
          </p:cNvSpPr>
          <p:nvPr/>
        </p:nvSpPr>
        <p:spPr bwMode="auto">
          <a:xfrm>
            <a:off x="1295400" y="3302694"/>
            <a:ext cx="1219200" cy="457200"/>
          </a:xfrm>
          <a:prstGeom prst="line">
            <a:avLst/>
          </a:prstGeom>
          <a:noFill/>
          <a:ln w="28440">
            <a:solidFill>
              <a:srgbClr val="000066"/>
            </a:solidFill>
            <a:miter lim="800000"/>
            <a:headEnd/>
            <a:tailEnd type="triangle" w="med" len="med"/>
          </a:ln>
          <a:effectLst/>
        </p:spPr>
        <p:txBody>
          <a:bodyPr/>
          <a:lstStyle/>
          <a:p>
            <a:endParaRPr lang="en-US"/>
          </a:p>
        </p:txBody>
      </p:sp>
      <p:sp>
        <p:nvSpPr>
          <p:cNvPr id="29719" name="Text Box 23"/>
          <p:cNvSpPr txBox="1">
            <a:spLocks noChangeArrowheads="1"/>
          </p:cNvSpPr>
          <p:nvPr/>
        </p:nvSpPr>
        <p:spPr bwMode="auto">
          <a:xfrm>
            <a:off x="5095875" y="3759894"/>
            <a:ext cx="3637832" cy="557461"/>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smtClean="0">
                <a:solidFill>
                  <a:srgbClr val="C00000"/>
                </a:solidFill>
                <a:latin typeface="Courier New" pitchFamily="49" charset="0"/>
                <a:ea typeface="msgothic" charset="0"/>
                <a:cs typeface="msgothic" charset="0"/>
              </a:rPr>
              <a:t>$ </a:t>
            </a:r>
            <a:r>
              <a:rPr lang="en-GB" sz="1600" b="1" dirty="0" err="1">
                <a:solidFill>
                  <a:srgbClr val="C00000"/>
                </a:solidFill>
                <a:latin typeface="Courier New" pitchFamily="49" charset="0"/>
                <a:ea typeface="msgothic" charset="0"/>
                <a:cs typeface="msgothic" charset="0"/>
              </a:rPr>
              <a:t>ar</a:t>
            </a:r>
            <a:r>
              <a:rPr lang="en-GB" sz="1600" b="1" dirty="0">
                <a:solidFill>
                  <a:srgbClr val="C00000"/>
                </a:solidFill>
                <a:latin typeface="Courier New" pitchFamily="49" charset="0"/>
                <a:ea typeface="msgothic" charset="0"/>
                <a:cs typeface="msgothic" charset="0"/>
              </a:rPr>
              <a:t> </a:t>
            </a:r>
            <a:r>
              <a:rPr lang="en-GB" sz="1600" b="1" dirty="0" err="1">
                <a:solidFill>
                  <a:srgbClr val="C00000"/>
                </a:solidFill>
                <a:latin typeface="Courier New" pitchFamily="49" charset="0"/>
                <a:ea typeface="msgothic" charset="0"/>
                <a:cs typeface="msgothic" charset="0"/>
              </a:rPr>
              <a:t>rs</a:t>
            </a:r>
            <a:r>
              <a:rPr lang="en-GB" sz="1600" b="1" dirty="0">
                <a:solidFill>
                  <a:srgbClr val="C00000"/>
                </a:solidFill>
                <a:latin typeface="Courier New" pitchFamily="49" charset="0"/>
                <a:ea typeface="msgothic" charset="0"/>
                <a:cs typeface="msgothic" charset="0"/>
              </a:rPr>
              <a:t> </a:t>
            </a:r>
            <a:r>
              <a:rPr lang="en-GB" sz="1600" b="1" dirty="0" err="1">
                <a:solidFill>
                  <a:srgbClr val="C00000"/>
                </a:solidFill>
                <a:latin typeface="Courier New" pitchFamily="49" charset="0"/>
                <a:ea typeface="msgothic" charset="0"/>
                <a:cs typeface="msgothic" charset="0"/>
              </a:rPr>
              <a:t>libc.a</a:t>
            </a:r>
            <a:r>
              <a:rPr lang="en-GB" sz="1600" b="1" dirty="0">
                <a:solidFill>
                  <a:srgbClr val="C00000"/>
                </a:solidFill>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solidFill>
                  <a:srgbClr val="C00000"/>
                </a:solidFill>
                <a:latin typeface="Courier New" pitchFamily="49" charset="0"/>
                <a:ea typeface="msgothic" charset="0"/>
                <a:cs typeface="msgothic" charset="0"/>
              </a:rPr>
              <a:t>  </a:t>
            </a:r>
            <a:r>
              <a:rPr lang="en-GB" sz="1600" b="1" dirty="0" err="1">
                <a:solidFill>
                  <a:srgbClr val="C00000"/>
                </a:solidFill>
                <a:latin typeface="Courier New" pitchFamily="49" charset="0"/>
                <a:ea typeface="msgothic" charset="0"/>
                <a:cs typeface="msgothic" charset="0"/>
              </a:rPr>
              <a:t>atoi.o</a:t>
            </a:r>
            <a:r>
              <a:rPr lang="en-GB" sz="1600" b="1" dirty="0">
                <a:solidFill>
                  <a:srgbClr val="C00000"/>
                </a:solidFill>
                <a:latin typeface="Courier New" pitchFamily="49" charset="0"/>
                <a:ea typeface="msgothic" charset="0"/>
                <a:cs typeface="msgothic" charset="0"/>
              </a:rPr>
              <a:t> </a:t>
            </a:r>
            <a:r>
              <a:rPr lang="en-GB" sz="1600" b="1" dirty="0" err="1">
                <a:solidFill>
                  <a:srgbClr val="C00000"/>
                </a:solidFill>
                <a:latin typeface="Courier New" pitchFamily="49" charset="0"/>
                <a:ea typeface="msgothic" charset="0"/>
                <a:cs typeface="msgothic" charset="0"/>
              </a:rPr>
              <a:t>printf.o</a:t>
            </a:r>
            <a:r>
              <a:rPr lang="en-GB" sz="1600" b="1" dirty="0">
                <a:solidFill>
                  <a:srgbClr val="C00000"/>
                </a:solidFill>
                <a:latin typeface="Courier New" pitchFamily="49" charset="0"/>
                <a:ea typeface="msgothic" charset="0"/>
                <a:cs typeface="msgothic" charset="0"/>
              </a:rPr>
              <a:t> … </a:t>
            </a:r>
            <a:r>
              <a:rPr lang="en-GB" sz="1600" b="1" dirty="0" err="1">
                <a:solidFill>
                  <a:srgbClr val="C00000"/>
                </a:solidFill>
                <a:latin typeface="Courier New" pitchFamily="49" charset="0"/>
                <a:ea typeface="msgothic" charset="0"/>
                <a:cs typeface="msgothic" charset="0"/>
              </a:rPr>
              <a:t>random.o</a:t>
            </a:r>
            <a:endParaRPr lang="en-GB" sz="1600" b="1" dirty="0">
              <a:solidFill>
                <a:srgbClr val="C00000"/>
              </a:solidFill>
              <a:latin typeface="Courier New" pitchFamily="49" charset="0"/>
              <a:ea typeface="msgothic" charset="0"/>
              <a:cs typeface="msgothic" charset="0"/>
            </a:endParaRPr>
          </a:p>
        </p:txBody>
      </p:sp>
      <p:sp>
        <p:nvSpPr>
          <p:cNvPr id="29720" name="Line 24"/>
          <p:cNvSpPr>
            <a:spLocks noChangeShapeType="1"/>
          </p:cNvSpPr>
          <p:nvPr/>
        </p:nvSpPr>
        <p:spPr bwMode="auto">
          <a:xfrm>
            <a:off x="2971800" y="4279006"/>
            <a:ext cx="1588" cy="457200"/>
          </a:xfrm>
          <a:prstGeom prst="line">
            <a:avLst/>
          </a:prstGeom>
          <a:noFill/>
          <a:ln w="28440">
            <a:solidFill>
              <a:srgbClr val="000066"/>
            </a:solidFill>
            <a:miter lim="800000"/>
            <a:headEnd/>
            <a:tailEnd type="triangle" w="med" len="med"/>
          </a:ln>
          <a:effectLst/>
        </p:spPr>
        <p:txBody>
          <a:bodyPr/>
          <a:lstStyle/>
          <a:p>
            <a:endParaRPr lang="en-US"/>
          </a:p>
        </p:txBody>
      </p:sp>
      <p:sp>
        <p:nvSpPr>
          <p:cNvPr id="29722" name="Text Box 26"/>
          <p:cNvSpPr txBox="1">
            <a:spLocks noChangeArrowheads="1"/>
          </p:cNvSpPr>
          <p:nvPr/>
        </p:nvSpPr>
        <p:spPr bwMode="auto">
          <a:xfrm>
            <a:off x="3886200" y="4654714"/>
            <a:ext cx="2971800" cy="365999"/>
          </a:xfrm>
          <a:prstGeom prst="rect">
            <a:avLst/>
          </a:prstGeom>
          <a:noFill/>
          <a:ln w="9525">
            <a:noFill/>
            <a:round/>
            <a:headEnd/>
            <a:tailEnd/>
          </a:ln>
          <a:effectLst/>
        </p:spPr>
        <p:txBody>
          <a:bodyPr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a:solidFill>
                  <a:srgbClr val="C00000"/>
                </a:solidFill>
                <a:latin typeface="Calibri" pitchFamily="34" charset="0"/>
                <a:ea typeface="msgothic" charset="0"/>
                <a:cs typeface="msgothic" charset="0"/>
              </a:rPr>
              <a:t>C standard library</a:t>
            </a:r>
          </a:p>
        </p:txBody>
      </p:sp>
      <p:sp>
        <p:nvSpPr>
          <p:cNvPr id="28" name="Rectangle 2"/>
          <p:cNvSpPr txBox="1">
            <a:spLocks noChangeArrowheads="1"/>
          </p:cNvSpPr>
          <p:nvPr/>
        </p:nvSpPr>
        <p:spPr bwMode="auto">
          <a:xfrm>
            <a:off x="457200" y="5562600"/>
            <a:ext cx="8307387" cy="106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lvl="0" indent="-342900" eaLnBrk="1" hangingPunct="1">
              <a:spcBef>
                <a:spcPct val="20000"/>
              </a:spcBef>
              <a:buClr>
                <a:srgbClr val="990000"/>
              </a:buClr>
              <a:buSzPct val="60000"/>
              <a:buFont typeface="Wingdings 2" pitchFamily="18" charset="2"/>
              <a:buChar cha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2000" kern="0" err="1" smtClean="0">
                <a:latin typeface="Calibri" pitchFamily="34" charset="0"/>
              </a:rPr>
              <a:t>Archiver</a:t>
            </a:r>
            <a:r>
              <a:rPr lang="en-GB" sz="2000" kern="0" smtClean="0">
                <a:latin typeface="Calibri" pitchFamily="34" charset="0"/>
              </a:rPr>
              <a:t> allows incremental updates</a:t>
            </a:r>
          </a:p>
          <a:p>
            <a:pPr marL="342900" lvl="0" indent="-342900" eaLnBrk="1" hangingPunct="1">
              <a:spcBef>
                <a:spcPct val="20000"/>
              </a:spcBef>
              <a:buClr>
                <a:srgbClr val="990000"/>
              </a:buClr>
              <a:buSzPct val="60000"/>
              <a:buFont typeface="Wingdings 2" pitchFamily="18" charset="2"/>
              <a:buChar cha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US" sz="2000" kern="0" smtClean="0">
                <a:latin typeface="Calibri" pitchFamily="34" charset="0"/>
              </a:rPr>
              <a:t>Recompile function that changes and replace .o file in archive.</a:t>
            </a:r>
          </a:p>
          <a:p>
            <a:pPr marL="342900" lvl="0" indent="-342900" eaLnBrk="1" hangingPunct="1">
              <a:spcBef>
                <a:spcPct val="20000"/>
              </a:spcBef>
              <a:buClr>
                <a:srgbClr val="990000"/>
              </a:buClr>
              <a:buSzPct val="60000"/>
              <a:buFont typeface="Wingdings 2" pitchFamily="18" charset="2"/>
              <a:buChar cha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sz="2000" kern="0" smtClean="0">
              <a:latin typeface="Calibri" pitchFamily="34" charset="0"/>
            </a:endParaRPr>
          </a:p>
        </p:txBody>
      </p:sp>
    </p:spTree>
    <p:extLst>
      <p:ext uri="{BB962C8B-B14F-4D97-AF65-F5344CB8AC3E}">
        <p14:creationId xmlns:p14="http://schemas.microsoft.com/office/powerpoint/2010/main" val="1045156086"/>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1"/>
          <p:cNvSpPr>
            <a:spLocks noGrp="1" noChangeArrowheads="1"/>
          </p:cNvSpPr>
          <p:nvPr>
            <p:ph type="title" idx="4294967295"/>
          </p:nvPr>
        </p:nvSpPr>
        <p:spPr>
          <a:xfrm>
            <a:off x="350838" y="304800"/>
            <a:ext cx="8716962" cy="782638"/>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Commonly Used Libraries</a:t>
            </a:r>
          </a:p>
        </p:txBody>
      </p:sp>
      <p:sp>
        <p:nvSpPr>
          <p:cNvPr id="30722" name="Rectangle 2"/>
          <p:cNvSpPr>
            <a:spLocks noGrp="1" noChangeArrowheads="1"/>
          </p:cNvSpPr>
          <p:nvPr>
            <p:ph type="body" idx="1"/>
          </p:nvPr>
        </p:nvSpPr>
        <p:spPr>
          <a:xfrm>
            <a:off x="354012" y="1220788"/>
            <a:ext cx="8307387" cy="3152775"/>
          </a:xfrm>
          <a:ln/>
        </p:spPr>
        <p:txBody>
          <a:bodyPr/>
          <a:lstStyle/>
          <a:p>
            <a:pPr>
              <a:lnSpc>
                <a:spcPct val="80000"/>
              </a:lnSpc>
              <a:spcBef>
                <a:spcPts val="1250"/>
              </a:spcBef>
              <a:buFont typeface="Wingdings" charset="2"/>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2000" err="1">
                <a:latin typeface="Courier New" pitchFamily="49" charset="0"/>
              </a:rPr>
              <a:t>libc.a</a:t>
            </a:r>
            <a:r>
              <a:rPr lang="en-GB" sz="2000"/>
              <a:t> (the C standard library)</a:t>
            </a:r>
          </a:p>
          <a:p>
            <a:pPr lvl="1">
              <a:lnSpc>
                <a:spcPct val="8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smtClean="0"/>
              <a:t>4.6 MB archive </a:t>
            </a:r>
            <a:r>
              <a:rPr lang="en-GB" sz="1800"/>
              <a:t>of </a:t>
            </a:r>
            <a:r>
              <a:rPr lang="en-GB" sz="1800" smtClean="0"/>
              <a:t>1496 object </a:t>
            </a:r>
            <a:r>
              <a:rPr lang="en-GB" sz="1800"/>
              <a:t>files.</a:t>
            </a:r>
          </a:p>
          <a:p>
            <a:pPr lvl="1">
              <a:lnSpc>
                <a:spcPct val="8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a:t>I/O, memory allocation, signal handling, string handling, data and time, random numbers, integer math</a:t>
            </a:r>
          </a:p>
          <a:p>
            <a:pPr>
              <a:lnSpc>
                <a:spcPct val="80000"/>
              </a:lnSpc>
              <a:spcBef>
                <a:spcPts val="1250"/>
              </a:spcBef>
              <a:buFont typeface="Wingdings" charset="2"/>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2000" err="1">
                <a:latin typeface="Courier New" pitchFamily="49" charset="0"/>
              </a:rPr>
              <a:t>libm.a</a:t>
            </a:r>
            <a:r>
              <a:rPr lang="en-GB" sz="2000"/>
              <a:t> (the C math library)</a:t>
            </a:r>
          </a:p>
          <a:p>
            <a:pPr lvl="1">
              <a:lnSpc>
                <a:spcPct val="8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smtClean="0"/>
              <a:t>2 </a:t>
            </a:r>
            <a:r>
              <a:rPr lang="en-GB" sz="1800"/>
              <a:t>MB archive of </a:t>
            </a:r>
            <a:r>
              <a:rPr lang="en-GB" sz="1800" smtClean="0"/>
              <a:t>444 </a:t>
            </a:r>
            <a:r>
              <a:rPr lang="en-GB" sz="1800"/>
              <a:t>object files. </a:t>
            </a:r>
          </a:p>
          <a:p>
            <a:pPr lvl="1">
              <a:lnSpc>
                <a:spcPct val="88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z="1800"/>
              <a:t>floating point math (sin, </a:t>
            </a:r>
            <a:r>
              <a:rPr lang="en-GB" sz="1800" err="1"/>
              <a:t>cos</a:t>
            </a:r>
            <a:r>
              <a:rPr lang="en-GB" sz="1800"/>
              <a:t>, tan, log, exp, </a:t>
            </a:r>
            <a:r>
              <a:rPr lang="en-GB" sz="1800" err="1"/>
              <a:t>sqrt</a:t>
            </a:r>
            <a:r>
              <a:rPr lang="en-GB" sz="1800"/>
              <a:t>, …) 	</a:t>
            </a:r>
          </a:p>
          <a:p>
            <a:pPr>
              <a:lnSpc>
                <a:spcPct val="83000"/>
              </a:lnSpc>
              <a:spcBef>
                <a:spcPts val="1250"/>
              </a:spcBef>
              <a:buFont typeface="Wingdings" charset="2"/>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sz="2000"/>
          </a:p>
          <a:p>
            <a:pPr>
              <a:lnSpc>
                <a:spcPct val="83000"/>
              </a:lnSpc>
              <a:spcBef>
                <a:spcPts val="1250"/>
              </a:spcBef>
              <a:buFont typeface="Wingdings" charset="2"/>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sz="2000"/>
          </a:p>
        </p:txBody>
      </p:sp>
      <p:sp>
        <p:nvSpPr>
          <p:cNvPr id="30723" name="Text Box 3"/>
          <p:cNvSpPr txBox="1">
            <a:spLocks noChangeArrowheads="1"/>
          </p:cNvSpPr>
          <p:nvPr/>
        </p:nvSpPr>
        <p:spPr bwMode="auto">
          <a:xfrm>
            <a:off x="228600" y="3657600"/>
            <a:ext cx="4008126" cy="2872198"/>
          </a:xfrm>
          <a:prstGeom prst="rect">
            <a:avLst/>
          </a:prstGeom>
          <a:solidFill>
            <a:srgbClr val="E6E6E6"/>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 </a:t>
            </a:r>
            <a:r>
              <a:rPr lang="en-GB" sz="1600" b="1" dirty="0" err="1">
                <a:latin typeface="Courier New" pitchFamily="49" charset="0"/>
                <a:ea typeface="msgothic" charset="0"/>
                <a:cs typeface="msgothic" charset="0"/>
              </a:rPr>
              <a:t>ar</a:t>
            </a:r>
            <a:r>
              <a:rPr lang="en-GB" sz="1600" b="1" dirty="0">
                <a:latin typeface="Courier New" pitchFamily="49" charset="0"/>
                <a:ea typeface="msgothic" charset="0"/>
                <a:cs typeface="msgothic" charset="0"/>
              </a:rPr>
              <a:t> </a:t>
            </a:r>
            <a:r>
              <a:rPr lang="en-GB" sz="1600" b="1" dirty="0" smtClean="0">
                <a:latin typeface="Courier New" pitchFamily="49" charset="0"/>
                <a:ea typeface="msgothic" charset="0"/>
                <a:cs typeface="msgothic" charset="0"/>
              </a:rPr>
              <a:t>–t /</a:t>
            </a:r>
            <a:r>
              <a:rPr lang="en-GB" sz="1600" b="1" dirty="0" err="1" smtClean="0">
                <a:latin typeface="Courier New" pitchFamily="49" charset="0"/>
                <a:ea typeface="msgothic" charset="0"/>
                <a:cs typeface="msgothic" charset="0"/>
              </a:rPr>
              <a:t>usr</a:t>
            </a:r>
            <a:r>
              <a:rPr lang="en-GB" sz="1600" b="1" dirty="0" smtClean="0">
                <a:latin typeface="Courier New" pitchFamily="49" charset="0"/>
                <a:ea typeface="msgothic" charset="0"/>
                <a:cs typeface="msgothic" charset="0"/>
              </a:rPr>
              <a:t>/lib/</a:t>
            </a:r>
            <a:r>
              <a:rPr lang="en-GB" sz="1600" b="1" dirty="0" err="1" smtClean="0">
                <a:latin typeface="Courier New" pitchFamily="49" charset="0"/>
                <a:ea typeface="msgothic" charset="0"/>
                <a:cs typeface="msgothic" charset="0"/>
              </a:rPr>
              <a:t>libc.a</a:t>
            </a:r>
            <a:r>
              <a:rPr lang="en-GB" sz="1600" b="1" dirty="0" smtClean="0">
                <a:latin typeface="Courier New" pitchFamily="49" charset="0"/>
                <a:ea typeface="msgothic" charset="0"/>
                <a:cs typeface="msgothic" charset="0"/>
              </a:rPr>
              <a:t> </a:t>
            </a:r>
            <a:r>
              <a:rPr lang="en-GB" sz="1600" b="1" dirty="0">
                <a:latin typeface="Courier New" pitchFamily="49" charset="0"/>
                <a:ea typeface="msgothic" charset="0"/>
                <a:cs typeface="msgothic" charset="0"/>
              </a:rPr>
              <a:t>| sort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itchFamily="49" charset="0"/>
                <a:ea typeface="msgothic" charset="0"/>
                <a:cs typeface="msgothic" charset="0"/>
              </a:rPr>
              <a:t>fork.o</a:t>
            </a: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itchFamily="49" charset="0"/>
                <a:ea typeface="msgothic" charset="0"/>
                <a:cs typeface="msgothic" charset="0"/>
              </a:rPr>
              <a:t>fprintf.o</a:t>
            </a: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itchFamily="49" charset="0"/>
                <a:ea typeface="msgothic" charset="0"/>
                <a:cs typeface="msgothic" charset="0"/>
              </a:rPr>
              <a:t>fpu_control.o</a:t>
            </a: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itchFamily="49" charset="0"/>
                <a:ea typeface="msgothic" charset="0"/>
                <a:cs typeface="msgothic" charset="0"/>
              </a:rPr>
              <a:t>fputc.o</a:t>
            </a: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itchFamily="49" charset="0"/>
                <a:ea typeface="msgothic" charset="0"/>
                <a:cs typeface="msgothic" charset="0"/>
              </a:rPr>
              <a:t>freopen.o</a:t>
            </a: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itchFamily="49" charset="0"/>
                <a:ea typeface="msgothic" charset="0"/>
                <a:cs typeface="msgothic" charset="0"/>
              </a:rPr>
              <a:t>fscanf.o</a:t>
            </a: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itchFamily="49" charset="0"/>
                <a:ea typeface="msgothic" charset="0"/>
                <a:cs typeface="msgothic" charset="0"/>
              </a:rPr>
              <a:t>fseek.o</a:t>
            </a: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itchFamily="49" charset="0"/>
                <a:ea typeface="msgothic" charset="0"/>
                <a:cs typeface="msgothic" charset="0"/>
              </a:rPr>
              <a:t>fstab.o</a:t>
            </a: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a:t>
            </a:r>
          </a:p>
        </p:txBody>
      </p:sp>
      <p:sp>
        <p:nvSpPr>
          <p:cNvPr id="30724" name="Text Box 4"/>
          <p:cNvSpPr txBox="1">
            <a:spLocks noChangeArrowheads="1"/>
          </p:cNvSpPr>
          <p:nvPr/>
        </p:nvSpPr>
        <p:spPr bwMode="auto">
          <a:xfrm>
            <a:off x="4754874" y="3677347"/>
            <a:ext cx="4008126" cy="2872198"/>
          </a:xfrm>
          <a:prstGeom prst="rect">
            <a:avLst/>
          </a:prstGeom>
          <a:solidFill>
            <a:srgbClr val="E6E6E6"/>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 </a:t>
            </a:r>
            <a:r>
              <a:rPr lang="en-GB" sz="1600" b="1" dirty="0" err="1">
                <a:latin typeface="Courier New" pitchFamily="49" charset="0"/>
                <a:ea typeface="msgothic" charset="0"/>
                <a:cs typeface="msgothic" charset="0"/>
              </a:rPr>
              <a:t>ar</a:t>
            </a:r>
            <a:r>
              <a:rPr lang="en-GB" sz="1600" b="1" dirty="0">
                <a:latin typeface="Courier New" pitchFamily="49" charset="0"/>
                <a:ea typeface="msgothic" charset="0"/>
                <a:cs typeface="msgothic" charset="0"/>
              </a:rPr>
              <a:t> </a:t>
            </a:r>
            <a:r>
              <a:rPr lang="en-GB" sz="1600" b="1" dirty="0" smtClean="0">
                <a:latin typeface="Courier New" pitchFamily="49" charset="0"/>
                <a:ea typeface="msgothic" charset="0"/>
                <a:cs typeface="msgothic" charset="0"/>
              </a:rPr>
              <a:t>–t /</a:t>
            </a:r>
            <a:r>
              <a:rPr lang="en-GB" sz="1600" dirty="0" err="1" smtClean="0">
                <a:latin typeface="Courier New" pitchFamily="49" charset="0"/>
                <a:ea typeface="msgothic" charset="0"/>
                <a:cs typeface="msgothic" charset="0"/>
              </a:rPr>
              <a:t>usr</a:t>
            </a:r>
            <a:r>
              <a:rPr lang="en-GB" sz="1600" dirty="0" smtClean="0">
                <a:latin typeface="Courier New" pitchFamily="49" charset="0"/>
                <a:ea typeface="msgothic" charset="0"/>
                <a:cs typeface="msgothic" charset="0"/>
              </a:rPr>
              <a:t>/lib/</a:t>
            </a:r>
            <a:r>
              <a:rPr lang="en-GB" sz="1600" b="1" dirty="0" err="1" smtClean="0">
                <a:latin typeface="Courier New" pitchFamily="49" charset="0"/>
                <a:ea typeface="msgothic" charset="0"/>
                <a:cs typeface="msgothic" charset="0"/>
              </a:rPr>
              <a:t>libm.a</a:t>
            </a:r>
            <a:r>
              <a:rPr lang="en-GB" sz="1600" b="1" dirty="0" smtClean="0">
                <a:latin typeface="Courier New" pitchFamily="49" charset="0"/>
                <a:ea typeface="msgothic" charset="0"/>
                <a:cs typeface="msgothic" charset="0"/>
              </a:rPr>
              <a:t> </a:t>
            </a:r>
            <a:r>
              <a:rPr lang="en-GB" sz="1600" b="1" dirty="0">
                <a:latin typeface="Courier New" pitchFamily="49" charset="0"/>
                <a:ea typeface="msgothic" charset="0"/>
                <a:cs typeface="msgothic" charset="0"/>
              </a:rPr>
              <a:t>| sort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itchFamily="49" charset="0"/>
                <a:ea typeface="msgothic" charset="0"/>
                <a:cs typeface="msgothic" charset="0"/>
              </a:rPr>
              <a:t>e_acos.o</a:t>
            </a: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itchFamily="49" charset="0"/>
                <a:ea typeface="msgothic" charset="0"/>
                <a:cs typeface="msgothic" charset="0"/>
              </a:rPr>
              <a:t>e_acosf.o</a:t>
            </a: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itchFamily="49" charset="0"/>
                <a:ea typeface="msgothic" charset="0"/>
                <a:cs typeface="msgothic" charset="0"/>
              </a:rPr>
              <a:t>e_acosh.o</a:t>
            </a: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itchFamily="49" charset="0"/>
                <a:ea typeface="msgothic" charset="0"/>
                <a:cs typeface="msgothic" charset="0"/>
              </a:rPr>
              <a:t>e_acoshf.o</a:t>
            </a: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itchFamily="49" charset="0"/>
                <a:ea typeface="msgothic" charset="0"/>
                <a:cs typeface="msgothic" charset="0"/>
              </a:rPr>
              <a:t>e_acoshl.o</a:t>
            </a: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itchFamily="49" charset="0"/>
                <a:ea typeface="msgothic" charset="0"/>
                <a:cs typeface="msgothic" charset="0"/>
              </a:rPr>
              <a:t>e_acosl.o</a:t>
            </a: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itchFamily="49" charset="0"/>
                <a:ea typeface="msgothic" charset="0"/>
                <a:cs typeface="msgothic" charset="0"/>
              </a:rPr>
              <a:t>e_asin.o</a:t>
            </a: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itchFamily="49" charset="0"/>
                <a:ea typeface="msgothic" charset="0"/>
                <a:cs typeface="msgothic" charset="0"/>
              </a:rPr>
              <a:t>e_asinf.o</a:t>
            </a: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itchFamily="49" charset="0"/>
                <a:ea typeface="msgothic" charset="0"/>
                <a:cs typeface="msgothic" charset="0"/>
              </a:rPr>
              <a:t>e_asinl.o</a:t>
            </a: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a:t>
            </a:r>
          </a:p>
        </p:txBody>
      </p:sp>
    </p:spTree>
    <p:extLst>
      <p:ext uri="{BB962C8B-B14F-4D97-AF65-F5344CB8AC3E}">
        <p14:creationId xmlns:p14="http://schemas.microsoft.com/office/powerpoint/2010/main" val="3101113489"/>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a:spLocks noChangeArrowheads="1"/>
          </p:cNvSpPr>
          <p:nvPr/>
        </p:nvSpPr>
        <p:spPr bwMode="auto">
          <a:xfrm>
            <a:off x="3962400" y="838200"/>
            <a:ext cx="4876800" cy="5334000"/>
          </a:xfrm>
          <a:prstGeom prst="rect">
            <a:avLst/>
          </a:prstGeom>
          <a:solidFill>
            <a:schemeClr val="bg1">
              <a:lumMod val="75000"/>
            </a:schemeClr>
          </a:solidFill>
          <a:ln w="3240">
            <a:solidFill>
              <a:srgbClr val="000066"/>
            </a:solidFill>
            <a:miter lim="800000"/>
            <a:headEnd/>
            <a:tailEnd/>
          </a:ln>
          <a:effectLst/>
        </p:spPr>
        <p:txBody>
          <a:bodyPr wrap="square" lIns="90000" tIns="46800" rIns="90000" bIns="46800">
            <a:noAutofit/>
          </a:bodyPr>
          <a:lstStyle/>
          <a:p>
            <a:endParaRPr lang="is-IS" sz="1600" dirty="0">
              <a:solidFill>
                <a:srgbClr val="000000"/>
              </a:solidFill>
              <a:latin typeface="Courier New"/>
              <a:cs typeface="Courier New"/>
            </a:endParaRPr>
          </a:p>
        </p:txBody>
      </p:sp>
      <p:sp>
        <p:nvSpPr>
          <p:cNvPr id="2" name="Title 1"/>
          <p:cNvSpPr>
            <a:spLocks noGrp="1"/>
          </p:cNvSpPr>
          <p:nvPr>
            <p:ph type="title"/>
          </p:nvPr>
        </p:nvSpPr>
        <p:spPr>
          <a:xfrm>
            <a:off x="357019" y="435678"/>
            <a:ext cx="3452982" cy="1240722"/>
          </a:xfrm>
        </p:spPr>
        <p:txBody>
          <a:bodyPr/>
          <a:lstStyle/>
          <a:p>
            <a:r>
              <a:rPr lang="en-US" smtClean="0"/>
              <a:t>Linking with Static Libraries</a:t>
            </a:r>
            <a:endParaRPr lang="en-US"/>
          </a:p>
        </p:txBody>
      </p:sp>
      <p:sp>
        <p:nvSpPr>
          <p:cNvPr id="4" name="Rectangle 2"/>
          <p:cNvSpPr>
            <a:spLocks noChangeArrowheads="1"/>
          </p:cNvSpPr>
          <p:nvPr/>
        </p:nvSpPr>
        <p:spPr bwMode="auto">
          <a:xfrm>
            <a:off x="216694" y="2020989"/>
            <a:ext cx="3517106" cy="3787833"/>
          </a:xfrm>
          <a:prstGeom prst="rect">
            <a:avLst/>
          </a:prstGeom>
          <a:solidFill>
            <a:srgbClr val="F7F5CD"/>
          </a:solidFill>
          <a:ln w="3240">
            <a:solidFill>
              <a:srgbClr val="000066"/>
            </a:solidFill>
            <a:miter lim="800000"/>
            <a:headEnd/>
            <a:tailEnd/>
          </a:ln>
          <a:effectLst/>
        </p:spPr>
        <p:txBody>
          <a:bodyPr wrap="square" lIns="90000" tIns="46800" rIns="90000" bIns="46800">
            <a:spAutoFit/>
          </a:bodyPr>
          <a:lstStyle/>
          <a:p>
            <a:r>
              <a:rPr lang="en-US" sz="1600" smtClean="0">
                <a:solidFill>
                  <a:srgbClr val="926492"/>
                </a:solidFill>
                <a:latin typeface="Courier New"/>
                <a:cs typeface="Courier New"/>
              </a:rPr>
              <a:t>#</a:t>
            </a:r>
            <a:r>
              <a:rPr lang="en-US" sz="1600">
                <a:solidFill>
                  <a:srgbClr val="926492"/>
                </a:solidFill>
                <a:latin typeface="Courier New"/>
                <a:cs typeface="Courier New"/>
              </a:rPr>
              <a:t>include</a:t>
            </a:r>
            <a:r>
              <a:rPr lang="en-US" sz="1600">
                <a:solidFill>
                  <a:srgbClr val="000000"/>
                </a:solidFill>
                <a:latin typeface="Courier New"/>
                <a:cs typeface="Courier New"/>
              </a:rPr>
              <a:t> </a:t>
            </a:r>
            <a:r>
              <a:rPr lang="en-US" sz="1600">
                <a:solidFill>
                  <a:srgbClr val="9D206F"/>
                </a:solidFill>
                <a:latin typeface="Courier New"/>
                <a:cs typeface="Courier New"/>
              </a:rPr>
              <a:t>&lt;</a:t>
            </a:r>
            <a:r>
              <a:rPr lang="en-US" sz="1600" err="1">
                <a:solidFill>
                  <a:srgbClr val="9D206F"/>
                </a:solidFill>
                <a:latin typeface="Courier New"/>
                <a:cs typeface="Courier New"/>
              </a:rPr>
              <a:t>stdio.h</a:t>
            </a:r>
            <a:r>
              <a:rPr lang="en-US" sz="1600">
                <a:solidFill>
                  <a:srgbClr val="9D206F"/>
                </a:solidFill>
                <a:latin typeface="Courier New"/>
                <a:cs typeface="Courier New"/>
              </a:rPr>
              <a:t>&gt;</a:t>
            </a:r>
            <a:endParaRPr lang="en-US" sz="1600">
              <a:solidFill>
                <a:srgbClr val="000000"/>
              </a:solidFill>
              <a:latin typeface="Courier New"/>
              <a:cs typeface="Courier New"/>
            </a:endParaRPr>
          </a:p>
          <a:p>
            <a:r>
              <a:rPr lang="en-US" sz="1600">
                <a:solidFill>
                  <a:srgbClr val="926492"/>
                </a:solidFill>
                <a:latin typeface="Courier New"/>
                <a:cs typeface="Courier New"/>
              </a:rPr>
              <a:t>#include</a:t>
            </a:r>
            <a:r>
              <a:rPr lang="en-US" sz="1600">
                <a:solidFill>
                  <a:srgbClr val="000000"/>
                </a:solidFill>
                <a:latin typeface="Courier New"/>
                <a:cs typeface="Courier New"/>
              </a:rPr>
              <a:t> </a:t>
            </a:r>
            <a:r>
              <a:rPr lang="en-US" sz="1600">
                <a:solidFill>
                  <a:srgbClr val="9D206F"/>
                </a:solidFill>
                <a:latin typeface="Courier New"/>
                <a:cs typeface="Courier New"/>
              </a:rPr>
              <a:t>"</a:t>
            </a:r>
            <a:r>
              <a:rPr lang="en-US" sz="1600" err="1">
                <a:solidFill>
                  <a:srgbClr val="9D206F"/>
                </a:solidFill>
                <a:latin typeface="Courier New"/>
                <a:cs typeface="Courier New"/>
              </a:rPr>
              <a:t>vector.h</a:t>
            </a:r>
            <a:r>
              <a:rPr lang="en-US" sz="1600">
                <a:solidFill>
                  <a:srgbClr val="9D206F"/>
                </a:solidFill>
                <a:latin typeface="Courier New"/>
                <a:cs typeface="Courier New"/>
              </a:rPr>
              <a:t>"</a:t>
            </a:r>
            <a:endParaRPr lang="en-US" sz="1600">
              <a:solidFill>
                <a:srgbClr val="000000"/>
              </a:solidFill>
              <a:latin typeface="Courier New"/>
              <a:cs typeface="Courier New"/>
            </a:endParaRPr>
          </a:p>
          <a:p>
            <a:endParaRPr lang="en-US" sz="1600">
              <a:solidFill>
                <a:srgbClr val="000000"/>
              </a:solidFill>
              <a:latin typeface="Courier New"/>
              <a:cs typeface="Courier New"/>
            </a:endParaRPr>
          </a:p>
          <a:p>
            <a:r>
              <a:rPr lang="fr-FR" sz="1600" err="1">
                <a:solidFill>
                  <a:srgbClr val="2D961E"/>
                </a:solidFill>
                <a:latin typeface="Courier New"/>
                <a:cs typeface="Courier New"/>
              </a:rPr>
              <a:t>int</a:t>
            </a:r>
            <a:r>
              <a:rPr lang="fr-FR" sz="1600">
                <a:solidFill>
                  <a:srgbClr val="000000"/>
                </a:solidFill>
                <a:latin typeface="Courier New"/>
                <a:cs typeface="Courier New"/>
              </a:rPr>
              <a:t> </a:t>
            </a:r>
            <a:r>
              <a:rPr lang="fr-FR" sz="1600">
                <a:solidFill>
                  <a:srgbClr val="C1651C"/>
                </a:solidFill>
                <a:latin typeface="Courier New"/>
                <a:cs typeface="Courier New"/>
              </a:rPr>
              <a:t>x</a:t>
            </a:r>
            <a:r>
              <a:rPr lang="fr-FR" sz="1600">
                <a:solidFill>
                  <a:srgbClr val="000000"/>
                </a:solidFill>
                <a:latin typeface="Courier New"/>
                <a:cs typeface="Courier New"/>
              </a:rPr>
              <a:t>[2] = {1, 2};</a:t>
            </a:r>
          </a:p>
          <a:p>
            <a:r>
              <a:rPr lang="fr-FR" sz="1600" err="1">
                <a:solidFill>
                  <a:srgbClr val="2D961E"/>
                </a:solidFill>
                <a:latin typeface="Courier New"/>
                <a:cs typeface="Courier New"/>
              </a:rPr>
              <a:t>int</a:t>
            </a:r>
            <a:r>
              <a:rPr lang="fr-FR" sz="1600">
                <a:solidFill>
                  <a:srgbClr val="000000"/>
                </a:solidFill>
                <a:latin typeface="Courier New"/>
                <a:cs typeface="Courier New"/>
              </a:rPr>
              <a:t> </a:t>
            </a:r>
            <a:r>
              <a:rPr lang="fr-FR" sz="1600">
                <a:solidFill>
                  <a:srgbClr val="C1651C"/>
                </a:solidFill>
                <a:latin typeface="Courier New"/>
                <a:cs typeface="Courier New"/>
              </a:rPr>
              <a:t>y</a:t>
            </a:r>
            <a:r>
              <a:rPr lang="fr-FR" sz="1600">
                <a:solidFill>
                  <a:srgbClr val="000000"/>
                </a:solidFill>
                <a:latin typeface="Courier New"/>
                <a:cs typeface="Courier New"/>
              </a:rPr>
              <a:t>[2] = {3, 4};</a:t>
            </a:r>
          </a:p>
          <a:p>
            <a:r>
              <a:rPr lang="nl-NL" sz="1600">
                <a:solidFill>
                  <a:srgbClr val="2D961E"/>
                </a:solidFill>
                <a:latin typeface="Courier New"/>
                <a:cs typeface="Courier New"/>
              </a:rPr>
              <a:t>int</a:t>
            </a:r>
            <a:r>
              <a:rPr lang="nl-NL" sz="1600">
                <a:solidFill>
                  <a:srgbClr val="000000"/>
                </a:solidFill>
                <a:latin typeface="Courier New"/>
                <a:cs typeface="Courier New"/>
              </a:rPr>
              <a:t> </a:t>
            </a:r>
            <a:r>
              <a:rPr lang="nl-NL" sz="1600" err="1">
                <a:solidFill>
                  <a:srgbClr val="C1651C"/>
                </a:solidFill>
                <a:latin typeface="Courier New"/>
                <a:cs typeface="Courier New"/>
              </a:rPr>
              <a:t>z</a:t>
            </a:r>
            <a:r>
              <a:rPr lang="nl-NL" sz="1600">
                <a:solidFill>
                  <a:srgbClr val="000000"/>
                </a:solidFill>
                <a:latin typeface="Courier New"/>
                <a:cs typeface="Courier New"/>
              </a:rPr>
              <a:t>[2];</a:t>
            </a:r>
          </a:p>
          <a:p>
            <a:endParaRPr lang="nl-NL" sz="1600">
              <a:solidFill>
                <a:srgbClr val="000000"/>
              </a:solidFill>
              <a:latin typeface="Courier New"/>
              <a:cs typeface="Courier New"/>
            </a:endParaRPr>
          </a:p>
          <a:p>
            <a:r>
              <a:rPr lang="nl-NL" sz="1600">
                <a:solidFill>
                  <a:srgbClr val="2D961E"/>
                </a:solidFill>
                <a:latin typeface="Courier New"/>
                <a:cs typeface="Courier New"/>
              </a:rPr>
              <a:t>int</a:t>
            </a:r>
            <a:r>
              <a:rPr lang="nl-NL" sz="1600">
                <a:solidFill>
                  <a:srgbClr val="000000"/>
                </a:solidFill>
                <a:latin typeface="Courier New"/>
                <a:cs typeface="Courier New"/>
              </a:rPr>
              <a:t> </a:t>
            </a:r>
            <a:r>
              <a:rPr lang="nl-NL" sz="1600" smtClean="0">
                <a:solidFill>
                  <a:srgbClr val="4A00FF"/>
                </a:solidFill>
                <a:latin typeface="Courier New"/>
                <a:cs typeface="Courier New"/>
              </a:rPr>
              <a:t>main</a:t>
            </a:r>
            <a:r>
              <a:rPr lang="nl-NL" sz="1600" smtClean="0">
                <a:solidFill>
                  <a:srgbClr val="000000"/>
                </a:solidFill>
                <a:latin typeface="Courier New"/>
                <a:cs typeface="Courier New"/>
              </a:rPr>
              <a:t>(int argc, char** argv)</a:t>
            </a:r>
            <a:endParaRPr lang="nl-NL" sz="1600">
              <a:solidFill>
                <a:srgbClr val="000000"/>
              </a:solidFill>
              <a:latin typeface="Courier New"/>
              <a:cs typeface="Courier New"/>
            </a:endParaRPr>
          </a:p>
          <a:p>
            <a:r>
              <a:rPr lang="nl-NL" sz="1600">
                <a:solidFill>
                  <a:srgbClr val="000000"/>
                </a:solidFill>
                <a:latin typeface="Courier New"/>
                <a:cs typeface="Courier New"/>
              </a:rPr>
              <a:t>{</a:t>
            </a:r>
          </a:p>
          <a:p>
            <a:r>
              <a:rPr lang="en-US" sz="1600">
                <a:solidFill>
                  <a:srgbClr val="000000"/>
                </a:solidFill>
                <a:latin typeface="Courier New"/>
                <a:cs typeface="Courier New"/>
              </a:rPr>
              <a:t>    </a:t>
            </a:r>
            <a:r>
              <a:rPr lang="en-US" sz="1600" err="1">
                <a:solidFill>
                  <a:srgbClr val="000000"/>
                </a:solidFill>
                <a:latin typeface="Courier New"/>
                <a:cs typeface="Courier New"/>
              </a:rPr>
              <a:t>addvec</a:t>
            </a:r>
            <a:r>
              <a:rPr lang="en-US" sz="1600">
                <a:solidFill>
                  <a:srgbClr val="000000"/>
                </a:solidFill>
                <a:latin typeface="Courier New"/>
                <a:cs typeface="Courier New"/>
              </a:rPr>
              <a:t>(x, y, z, 2);</a:t>
            </a:r>
          </a:p>
          <a:p>
            <a:r>
              <a:rPr lang="ro-RO" sz="1600">
                <a:solidFill>
                  <a:srgbClr val="000000"/>
                </a:solidFill>
                <a:latin typeface="Courier New"/>
                <a:cs typeface="Courier New"/>
              </a:rPr>
              <a:t>    printf(</a:t>
            </a:r>
            <a:r>
              <a:rPr lang="ro-RO" sz="1600">
                <a:solidFill>
                  <a:srgbClr val="9D206F"/>
                </a:solidFill>
                <a:latin typeface="Courier New"/>
                <a:cs typeface="Courier New"/>
              </a:rPr>
              <a:t>"z = [%d %d]\</a:t>
            </a:r>
            <a:r>
              <a:rPr lang="ro-RO" sz="1600" smtClean="0">
                <a:solidFill>
                  <a:srgbClr val="9D206F"/>
                </a:solidFill>
                <a:latin typeface="Courier New"/>
                <a:cs typeface="Courier New"/>
              </a:rPr>
              <a:t>n”</a:t>
            </a:r>
            <a:r>
              <a:rPr lang="ro-RO" sz="1600" smtClean="0">
                <a:solidFill>
                  <a:srgbClr val="000000"/>
                </a:solidFill>
                <a:latin typeface="Courier New"/>
                <a:cs typeface="Courier New"/>
              </a:rPr>
              <a:t>,</a:t>
            </a:r>
          </a:p>
          <a:p>
            <a:r>
              <a:rPr lang="ro-RO" sz="1600">
                <a:solidFill>
                  <a:srgbClr val="000000"/>
                </a:solidFill>
                <a:latin typeface="Courier New"/>
                <a:cs typeface="Courier New"/>
              </a:rPr>
              <a:t> </a:t>
            </a:r>
            <a:r>
              <a:rPr lang="ro-RO" sz="1600" smtClean="0">
                <a:solidFill>
                  <a:srgbClr val="000000"/>
                </a:solidFill>
                <a:latin typeface="Courier New"/>
                <a:cs typeface="Courier New"/>
              </a:rPr>
              <a:t>          </a:t>
            </a:r>
            <a:r>
              <a:rPr lang="ro-RO" sz="1600">
                <a:solidFill>
                  <a:srgbClr val="000000"/>
                </a:solidFill>
                <a:latin typeface="Courier New"/>
                <a:cs typeface="Courier New"/>
              </a:rPr>
              <a:t>z[0], z[1]);</a:t>
            </a:r>
          </a:p>
          <a:p>
            <a:r>
              <a:rPr lang="is-IS" sz="1600">
                <a:solidFill>
                  <a:srgbClr val="000000"/>
                </a:solidFill>
                <a:latin typeface="Courier New"/>
                <a:cs typeface="Courier New"/>
              </a:rPr>
              <a:t>    </a:t>
            </a:r>
            <a:r>
              <a:rPr lang="is-IS" sz="1600">
                <a:solidFill>
                  <a:srgbClr val="C200FF"/>
                </a:solidFill>
                <a:latin typeface="Courier New"/>
                <a:cs typeface="Courier New"/>
              </a:rPr>
              <a:t>return</a:t>
            </a:r>
            <a:r>
              <a:rPr lang="is-IS" sz="1600">
                <a:solidFill>
                  <a:srgbClr val="000000"/>
                </a:solidFill>
                <a:latin typeface="Courier New"/>
                <a:cs typeface="Courier New"/>
              </a:rPr>
              <a:t> 0;</a:t>
            </a:r>
          </a:p>
          <a:p>
            <a:r>
              <a:rPr lang="is-IS" sz="1600">
                <a:solidFill>
                  <a:srgbClr val="000000"/>
                </a:solidFill>
                <a:latin typeface="Courier New"/>
                <a:cs typeface="Courier New"/>
              </a:rPr>
              <a:t>}</a:t>
            </a:r>
          </a:p>
        </p:txBody>
      </p:sp>
      <p:sp>
        <p:nvSpPr>
          <p:cNvPr id="5" name="Rectangle 3"/>
          <p:cNvSpPr>
            <a:spLocks noChangeArrowheads="1"/>
          </p:cNvSpPr>
          <p:nvPr/>
        </p:nvSpPr>
        <p:spPr bwMode="auto">
          <a:xfrm>
            <a:off x="2604184" y="5257800"/>
            <a:ext cx="1205816"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smtClean="0">
                <a:solidFill>
                  <a:schemeClr val="tx1">
                    <a:lumMod val="50000"/>
                    <a:lumOff val="50000"/>
                  </a:schemeClr>
                </a:solidFill>
                <a:latin typeface="Courier New" pitchFamily="49" charset="0"/>
                <a:ea typeface="msgothic" charset="0"/>
                <a:cs typeface="msgothic" charset="0"/>
              </a:rPr>
              <a:t>main2.c</a:t>
            </a:r>
            <a:endParaRPr lang="en-GB" sz="1800" b="1" i="1">
              <a:solidFill>
                <a:schemeClr val="tx1">
                  <a:lumMod val="50000"/>
                  <a:lumOff val="50000"/>
                </a:schemeClr>
              </a:solidFill>
              <a:latin typeface="Courier New" pitchFamily="49" charset="0"/>
              <a:ea typeface="msgothic" charset="0"/>
              <a:cs typeface="msgothic" charset="0"/>
            </a:endParaRPr>
          </a:p>
        </p:txBody>
      </p:sp>
      <p:sp>
        <p:nvSpPr>
          <p:cNvPr id="6" name="Rectangle 2"/>
          <p:cNvSpPr>
            <a:spLocks noChangeArrowheads="1"/>
          </p:cNvSpPr>
          <p:nvPr/>
        </p:nvSpPr>
        <p:spPr bwMode="auto">
          <a:xfrm>
            <a:off x="4169138" y="1817132"/>
            <a:ext cx="4441462" cy="1818063"/>
          </a:xfrm>
          <a:prstGeom prst="rect">
            <a:avLst/>
          </a:prstGeom>
          <a:solidFill>
            <a:srgbClr val="F7F5CD"/>
          </a:solidFill>
          <a:ln w="3240">
            <a:solidFill>
              <a:srgbClr val="000066"/>
            </a:solidFill>
            <a:miter lim="800000"/>
            <a:headEnd/>
            <a:tailEnd/>
          </a:ln>
          <a:effectLst/>
        </p:spPr>
        <p:txBody>
          <a:bodyPr wrap="square" lIns="90000" tIns="46800" rIns="90000" bIns="46800">
            <a:spAutoFit/>
          </a:bodyPr>
          <a:lstStyle/>
          <a:p>
            <a:r>
              <a:rPr lang="en-US" sz="1600" smtClean="0">
                <a:solidFill>
                  <a:srgbClr val="2D961E"/>
                </a:solidFill>
                <a:latin typeface="Courier New"/>
                <a:cs typeface="Courier New"/>
              </a:rPr>
              <a:t>void</a:t>
            </a:r>
            <a:r>
              <a:rPr lang="en-US" sz="1600" smtClean="0">
                <a:solidFill>
                  <a:srgbClr val="000000"/>
                </a:solidFill>
                <a:latin typeface="Courier New"/>
                <a:cs typeface="Courier New"/>
              </a:rPr>
              <a:t> </a:t>
            </a:r>
            <a:r>
              <a:rPr lang="en-US" sz="1600" err="1">
                <a:solidFill>
                  <a:srgbClr val="4A00FF"/>
                </a:solidFill>
                <a:latin typeface="Courier New"/>
                <a:cs typeface="Courier New"/>
              </a:rPr>
              <a:t>addvec</a:t>
            </a:r>
            <a:r>
              <a:rPr lang="en-US" sz="1600">
                <a:solidFill>
                  <a:srgbClr val="000000"/>
                </a:solidFill>
                <a:latin typeface="Courier New"/>
                <a:cs typeface="Courier New"/>
              </a:rPr>
              <a:t>(</a:t>
            </a:r>
            <a:r>
              <a:rPr lang="en-US" sz="1600" err="1">
                <a:solidFill>
                  <a:srgbClr val="2D961E"/>
                </a:solidFill>
                <a:latin typeface="Courier New"/>
                <a:cs typeface="Courier New"/>
              </a:rPr>
              <a:t>int</a:t>
            </a:r>
            <a:r>
              <a:rPr lang="en-US" sz="1600">
                <a:solidFill>
                  <a:srgbClr val="000000"/>
                </a:solidFill>
                <a:latin typeface="Courier New"/>
                <a:cs typeface="Courier New"/>
              </a:rPr>
              <a:t> *</a:t>
            </a:r>
            <a:r>
              <a:rPr lang="en-US" sz="1600">
                <a:solidFill>
                  <a:srgbClr val="C1651C"/>
                </a:solidFill>
                <a:latin typeface="Courier New"/>
                <a:cs typeface="Courier New"/>
              </a:rPr>
              <a:t>x</a:t>
            </a:r>
            <a:r>
              <a:rPr lang="en-US" sz="1600">
                <a:solidFill>
                  <a:srgbClr val="000000"/>
                </a:solidFill>
                <a:latin typeface="Courier New"/>
                <a:cs typeface="Courier New"/>
              </a:rPr>
              <a:t>, </a:t>
            </a:r>
            <a:r>
              <a:rPr lang="en-US" sz="1600" err="1">
                <a:solidFill>
                  <a:srgbClr val="2D961E"/>
                </a:solidFill>
                <a:latin typeface="Courier New"/>
                <a:cs typeface="Courier New"/>
              </a:rPr>
              <a:t>int</a:t>
            </a:r>
            <a:r>
              <a:rPr lang="en-US" sz="1600">
                <a:solidFill>
                  <a:srgbClr val="000000"/>
                </a:solidFill>
                <a:latin typeface="Courier New"/>
                <a:cs typeface="Courier New"/>
              </a:rPr>
              <a:t> *</a:t>
            </a:r>
            <a:r>
              <a:rPr lang="en-US" sz="1600">
                <a:solidFill>
                  <a:srgbClr val="C1651C"/>
                </a:solidFill>
                <a:latin typeface="Courier New"/>
                <a:cs typeface="Courier New"/>
              </a:rPr>
              <a:t>y</a:t>
            </a:r>
            <a:r>
              <a:rPr lang="en-US" sz="1600">
                <a:solidFill>
                  <a:srgbClr val="000000"/>
                </a:solidFill>
                <a:latin typeface="Courier New"/>
                <a:cs typeface="Courier New"/>
              </a:rPr>
              <a:t>,</a:t>
            </a:r>
          </a:p>
          <a:p>
            <a:r>
              <a:rPr lang="fr-FR" sz="1600">
                <a:solidFill>
                  <a:srgbClr val="000000"/>
                </a:solidFill>
                <a:latin typeface="Courier New"/>
                <a:cs typeface="Courier New"/>
              </a:rPr>
              <a:t>            </a:t>
            </a:r>
            <a:r>
              <a:rPr lang="fr-FR" sz="1600" err="1">
                <a:solidFill>
                  <a:srgbClr val="2D961E"/>
                </a:solidFill>
                <a:latin typeface="Courier New"/>
                <a:cs typeface="Courier New"/>
              </a:rPr>
              <a:t>int</a:t>
            </a:r>
            <a:r>
              <a:rPr lang="fr-FR" sz="1600">
                <a:solidFill>
                  <a:srgbClr val="000000"/>
                </a:solidFill>
                <a:latin typeface="Courier New"/>
                <a:cs typeface="Courier New"/>
              </a:rPr>
              <a:t> *</a:t>
            </a:r>
            <a:r>
              <a:rPr lang="fr-FR" sz="1600">
                <a:solidFill>
                  <a:srgbClr val="C1651C"/>
                </a:solidFill>
                <a:latin typeface="Courier New"/>
                <a:cs typeface="Courier New"/>
              </a:rPr>
              <a:t>z</a:t>
            </a:r>
            <a:r>
              <a:rPr lang="fr-FR" sz="1600">
                <a:solidFill>
                  <a:srgbClr val="000000"/>
                </a:solidFill>
                <a:latin typeface="Courier New"/>
                <a:cs typeface="Courier New"/>
              </a:rPr>
              <a:t>, </a:t>
            </a:r>
            <a:r>
              <a:rPr lang="fr-FR" sz="1600" err="1">
                <a:solidFill>
                  <a:srgbClr val="2D961E"/>
                </a:solidFill>
                <a:latin typeface="Courier New"/>
                <a:cs typeface="Courier New"/>
              </a:rPr>
              <a:t>int</a:t>
            </a:r>
            <a:r>
              <a:rPr lang="fr-FR" sz="1600">
                <a:solidFill>
                  <a:srgbClr val="000000"/>
                </a:solidFill>
                <a:latin typeface="Courier New"/>
                <a:cs typeface="Courier New"/>
              </a:rPr>
              <a:t> </a:t>
            </a:r>
            <a:r>
              <a:rPr lang="fr-FR" sz="1600">
                <a:solidFill>
                  <a:srgbClr val="C1651C"/>
                </a:solidFill>
                <a:latin typeface="Courier New"/>
                <a:cs typeface="Courier New"/>
              </a:rPr>
              <a:t>n</a:t>
            </a:r>
            <a:r>
              <a:rPr lang="fr-FR" sz="1600" smtClean="0">
                <a:solidFill>
                  <a:srgbClr val="000000"/>
                </a:solidFill>
                <a:latin typeface="Courier New"/>
                <a:cs typeface="Courier New"/>
              </a:rPr>
              <a:t>) {</a:t>
            </a:r>
            <a:endParaRPr lang="fr-FR" sz="1600">
              <a:solidFill>
                <a:srgbClr val="000000"/>
              </a:solidFill>
              <a:latin typeface="Courier New"/>
              <a:cs typeface="Courier New"/>
            </a:endParaRPr>
          </a:p>
          <a:p>
            <a:r>
              <a:rPr lang="fr-FR" sz="1600">
                <a:solidFill>
                  <a:srgbClr val="000000"/>
                </a:solidFill>
                <a:latin typeface="Courier New"/>
                <a:cs typeface="Courier New"/>
              </a:rPr>
              <a:t>    </a:t>
            </a:r>
            <a:r>
              <a:rPr lang="fr-FR" sz="1600" err="1">
                <a:solidFill>
                  <a:srgbClr val="2D961E"/>
                </a:solidFill>
                <a:latin typeface="Courier New"/>
                <a:cs typeface="Courier New"/>
              </a:rPr>
              <a:t>int</a:t>
            </a:r>
            <a:r>
              <a:rPr lang="fr-FR" sz="1600">
                <a:solidFill>
                  <a:srgbClr val="000000"/>
                </a:solidFill>
                <a:latin typeface="Courier New"/>
                <a:cs typeface="Courier New"/>
              </a:rPr>
              <a:t> </a:t>
            </a:r>
            <a:r>
              <a:rPr lang="fr-FR" sz="1600">
                <a:solidFill>
                  <a:srgbClr val="C1651C"/>
                </a:solidFill>
                <a:latin typeface="Courier New"/>
                <a:cs typeface="Courier New"/>
              </a:rPr>
              <a:t>i</a:t>
            </a:r>
            <a:r>
              <a:rPr lang="fr-FR" sz="1600" smtClean="0">
                <a:solidFill>
                  <a:srgbClr val="000000"/>
                </a:solidFill>
                <a:latin typeface="Courier New"/>
                <a:cs typeface="Courier New"/>
              </a:rPr>
              <a:t>;</a:t>
            </a:r>
          </a:p>
          <a:p>
            <a:endParaRPr lang="en-US" sz="1600">
              <a:solidFill>
                <a:srgbClr val="000000"/>
              </a:solidFill>
              <a:latin typeface="Courier New"/>
              <a:cs typeface="Courier New"/>
            </a:endParaRPr>
          </a:p>
          <a:p>
            <a:r>
              <a:rPr lang="en-US" sz="1600" smtClean="0">
                <a:solidFill>
                  <a:srgbClr val="000000"/>
                </a:solidFill>
                <a:latin typeface="Courier New"/>
                <a:cs typeface="Courier New"/>
              </a:rPr>
              <a:t>    </a:t>
            </a:r>
            <a:r>
              <a:rPr lang="da-DK" sz="1600" smtClean="0">
                <a:solidFill>
                  <a:srgbClr val="C200FF"/>
                </a:solidFill>
                <a:latin typeface="Courier New"/>
                <a:cs typeface="Courier New"/>
              </a:rPr>
              <a:t>for</a:t>
            </a:r>
            <a:r>
              <a:rPr lang="da-DK" sz="1600" smtClean="0">
                <a:solidFill>
                  <a:srgbClr val="000000"/>
                </a:solidFill>
                <a:latin typeface="Courier New"/>
                <a:cs typeface="Courier New"/>
              </a:rPr>
              <a:t> </a:t>
            </a:r>
            <a:r>
              <a:rPr lang="da-DK" sz="1600">
                <a:solidFill>
                  <a:srgbClr val="000000"/>
                </a:solidFill>
                <a:latin typeface="Courier New"/>
                <a:cs typeface="Courier New"/>
              </a:rPr>
              <a:t>(i = 0; i &lt; n; i++)</a:t>
            </a:r>
          </a:p>
          <a:p>
            <a:r>
              <a:rPr lang="es-ES_tradnl" sz="1600">
                <a:solidFill>
                  <a:srgbClr val="000000"/>
                </a:solidFill>
                <a:latin typeface="Courier New"/>
                <a:cs typeface="Courier New"/>
              </a:rPr>
              <a:t>        z[i] = x[i] + y[i];</a:t>
            </a:r>
          </a:p>
          <a:p>
            <a:r>
              <a:rPr lang="es-ES_tradnl" sz="1600">
                <a:solidFill>
                  <a:srgbClr val="000000"/>
                </a:solidFill>
                <a:latin typeface="Courier New"/>
                <a:cs typeface="Courier New"/>
              </a:rPr>
              <a:t>}</a:t>
            </a:r>
            <a:endParaRPr lang="is-IS" sz="1600">
              <a:solidFill>
                <a:srgbClr val="000000"/>
              </a:solidFill>
              <a:latin typeface="Courier New"/>
              <a:cs typeface="Courier New"/>
            </a:endParaRPr>
          </a:p>
        </p:txBody>
      </p:sp>
      <p:sp>
        <p:nvSpPr>
          <p:cNvPr id="7" name="Rectangle 2"/>
          <p:cNvSpPr>
            <a:spLocks noChangeArrowheads="1"/>
          </p:cNvSpPr>
          <p:nvPr/>
        </p:nvSpPr>
        <p:spPr bwMode="auto">
          <a:xfrm>
            <a:off x="4169138" y="3774995"/>
            <a:ext cx="4441462" cy="2064284"/>
          </a:xfrm>
          <a:prstGeom prst="rect">
            <a:avLst/>
          </a:prstGeom>
          <a:solidFill>
            <a:srgbClr val="F7F5CD"/>
          </a:solidFill>
          <a:ln w="3240">
            <a:solidFill>
              <a:srgbClr val="000066"/>
            </a:solidFill>
            <a:miter lim="800000"/>
            <a:headEnd/>
            <a:tailEnd/>
          </a:ln>
          <a:effectLst/>
        </p:spPr>
        <p:txBody>
          <a:bodyPr wrap="square" lIns="90000" tIns="46800" rIns="90000" bIns="46800">
            <a:spAutoFit/>
          </a:bodyPr>
          <a:lstStyle/>
          <a:p>
            <a:r>
              <a:rPr lang="en-US" sz="1600" smtClean="0">
                <a:solidFill>
                  <a:srgbClr val="2D961E"/>
                </a:solidFill>
                <a:latin typeface="Courier New"/>
                <a:cs typeface="Courier New"/>
              </a:rPr>
              <a:t>void</a:t>
            </a:r>
            <a:r>
              <a:rPr lang="en-US" sz="1600" smtClean="0">
                <a:solidFill>
                  <a:srgbClr val="000000"/>
                </a:solidFill>
                <a:latin typeface="Courier New"/>
                <a:cs typeface="Courier New"/>
              </a:rPr>
              <a:t> </a:t>
            </a:r>
            <a:r>
              <a:rPr lang="en-US" sz="1600" err="1">
                <a:solidFill>
                  <a:srgbClr val="4A00FF"/>
                </a:solidFill>
                <a:latin typeface="Courier New"/>
                <a:cs typeface="Courier New"/>
              </a:rPr>
              <a:t>multvec</a:t>
            </a:r>
            <a:r>
              <a:rPr lang="en-US" sz="1600">
                <a:solidFill>
                  <a:srgbClr val="000000"/>
                </a:solidFill>
                <a:latin typeface="Courier New"/>
                <a:cs typeface="Courier New"/>
              </a:rPr>
              <a:t>(</a:t>
            </a:r>
            <a:r>
              <a:rPr lang="en-US" sz="1600" err="1">
                <a:solidFill>
                  <a:srgbClr val="2D961E"/>
                </a:solidFill>
                <a:latin typeface="Courier New"/>
                <a:cs typeface="Courier New"/>
              </a:rPr>
              <a:t>int</a:t>
            </a:r>
            <a:r>
              <a:rPr lang="en-US" sz="1600">
                <a:solidFill>
                  <a:srgbClr val="000000"/>
                </a:solidFill>
                <a:latin typeface="Courier New"/>
                <a:cs typeface="Courier New"/>
              </a:rPr>
              <a:t> *</a:t>
            </a:r>
            <a:r>
              <a:rPr lang="en-US" sz="1600">
                <a:solidFill>
                  <a:srgbClr val="C1651C"/>
                </a:solidFill>
                <a:latin typeface="Courier New"/>
                <a:cs typeface="Courier New"/>
              </a:rPr>
              <a:t>x</a:t>
            </a:r>
            <a:r>
              <a:rPr lang="en-US" sz="1600">
                <a:solidFill>
                  <a:srgbClr val="000000"/>
                </a:solidFill>
                <a:latin typeface="Courier New"/>
                <a:cs typeface="Courier New"/>
              </a:rPr>
              <a:t>, </a:t>
            </a:r>
            <a:r>
              <a:rPr lang="en-US" sz="1600" err="1">
                <a:solidFill>
                  <a:srgbClr val="2D961E"/>
                </a:solidFill>
                <a:latin typeface="Courier New"/>
                <a:cs typeface="Courier New"/>
              </a:rPr>
              <a:t>int</a:t>
            </a:r>
            <a:r>
              <a:rPr lang="en-US" sz="1600">
                <a:solidFill>
                  <a:srgbClr val="000000"/>
                </a:solidFill>
                <a:latin typeface="Courier New"/>
                <a:cs typeface="Courier New"/>
              </a:rPr>
              <a:t> *</a:t>
            </a:r>
            <a:r>
              <a:rPr lang="en-US" sz="1600">
                <a:solidFill>
                  <a:srgbClr val="C1651C"/>
                </a:solidFill>
                <a:latin typeface="Courier New"/>
                <a:cs typeface="Courier New"/>
              </a:rPr>
              <a:t>y</a:t>
            </a:r>
            <a:r>
              <a:rPr lang="en-US" sz="1600">
                <a:solidFill>
                  <a:srgbClr val="000000"/>
                </a:solidFill>
                <a:latin typeface="Courier New"/>
                <a:cs typeface="Courier New"/>
              </a:rPr>
              <a:t>,</a:t>
            </a:r>
          </a:p>
          <a:p>
            <a:r>
              <a:rPr lang="fr-FR" sz="1600">
                <a:solidFill>
                  <a:srgbClr val="000000"/>
                </a:solidFill>
                <a:latin typeface="Courier New"/>
                <a:cs typeface="Courier New"/>
              </a:rPr>
              <a:t>             </a:t>
            </a:r>
            <a:r>
              <a:rPr lang="fr-FR" sz="1600" err="1">
                <a:solidFill>
                  <a:srgbClr val="2D961E"/>
                </a:solidFill>
                <a:latin typeface="Courier New"/>
                <a:cs typeface="Courier New"/>
              </a:rPr>
              <a:t>int</a:t>
            </a:r>
            <a:r>
              <a:rPr lang="fr-FR" sz="1600">
                <a:solidFill>
                  <a:srgbClr val="000000"/>
                </a:solidFill>
                <a:latin typeface="Courier New"/>
                <a:cs typeface="Courier New"/>
              </a:rPr>
              <a:t> *</a:t>
            </a:r>
            <a:r>
              <a:rPr lang="fr-FR" sz="1600">
                <a:solidFill>
                  <a:srgbClr val="C1651C"/>
                </a:solidFill>
                <a:latin typeface="Courier New"/>
                <a:cs typeface="Courier New"/>
              </a:rPr>
              <a:t>z</a:t>
            </a:r>
            <a:r>
              <a:rPr lang="fr-FR" sz="1600">
                <a:solidFill>
                  <a:srgbClr val="000000"/>
                </a:solidFill>
                <a:latin typeface="Courier New"/>
                <a:cs typeface="Courier New"/>
              </a:rPr>
              <a:t>, </a:t>
            </a:r>
            <a:r>
              <a:rPr lang="fr-FR" sz="1600" err="1">
                <a:solidFill>
                  <a:srgbClr val="2D961E"/>
                </a:solidFill>
                <a:latin typeface="Courier New"/>
                <a:cs typeface="Courier New"/>
              </a:rPr>
              <a:t>int</a:t>
            </a:r>
            <a:r>
              <a:rPr lang="fr-FR" sz="1600">
                <a:solidFill>
                  <a:srgbClr val="000000"/>
                </a:solidFill>
                <a:latin typeface="Courier New"/>
                <a:cs typeface="Courier New"/>
              </a:rPr>
              <a:t> </a:t>
            </a:r>
            <a:r>
              <a:rPr lang="fr-FR" sz="1600">
                <a:solidFill>
                  <a:srgbClr val="C1651C"/>
                </a:solidFill>
                <a:latin typeface="Courier New"/>
                <a:cs typeface="Courier New"/>
              </a:rPr>
              <a:t>n</a:t>
            </a:r>
            <a:r>
              <a:rPr lang="fr-FR" sz="1600">
                <a:solidFill>
                  <a:srgbClr val="000000"/>
                </a:solidFill>
                <a:latin typeface="Courier New"/>
                <a:cs typeface="Courier New"/>
              </a:rPr>
              <a:t>)</a:t>
            </a:r>
          </a:p>
          <a:p>
            <a:r>
              <a:rPr lang="fr-FR" sz="1600">
                <a:solidFill>
                  <a:srgbClr val="000000"/>
                </a:solidFill>
                <a:latin typeface="Courier New"/>
                <a:cs typeface="Courier New"/>
              </a:rPr>
              <a:t>{</a:t>
            </a:r>
          </a:p>
          <a:p>
            <a:r>
              <a:rPr lang="fr-FR" sz="1600">
                <a:solidFill>
                  <a:srgbClr val="000000"/>
                </a:solidFill>
                <a:latin typeface="Courier New"/>
                <a:cs typeface="Courier New"/>
              </a:rPr>
              <a:t>    </a:t>
            </a:r>
            <a:r>
              <a:rPr lang="fr-FR" sz="1600" err="1">
                <a:solidFill>
                  <a:srgbClr val="2D961E"/>
                </a:solidFill>
                <a:latin typeface="Courier New"/>
                <a:cs typeface="Courier New"/>
              </a:rPr>
              <a:t>int</a:t>
            </a:r>
            <a:r>
              <a:rPr lang="fr-FR" sz="1600">
                <a:solidFill>
                  <a:srgbClr val="000000"/>
                </a:solidFill>
                <a:latin typeface="Courier New"/>
                <a:cs typeface="Courier New"/>
              </a:rPr>
              <a:t> </a:t>
            </a:r>
            <a:r>
              <a:rPr lang="fr-FR" sz="1600">
                <a:solidFill>
                  <a:srgbClr val="C1651C"/>
                </a:solidFill>
                <a:latin typeface="Courier New"/>
                <a:cs typeface="Courier New"/>
              </a:rPr>
              <a:t>i</a:t>
            </a:r>
            <a:r>
              <a:rPr lang="fr-FR" sz="1600">
                <a:solidFill>
                  <a:srgbClr val="000000"/>
                </a:solidFill>
                <a:latin typeface="Courier New"/>
                <a:cs typeface="Courier New"/>
              </a:rPr>
              <a:t>;</a:t>
            </a:r>
          </a:p>
          <a:p>
            <a:endParaRPr lang="fr-FR" sz="1600">
              <a:solidFill>
                <a:srgbClr val="000000"/>
              </a:solidFill>
              <a:latin typeface="Courier New"/>
              <a:cs typeface="Courier New"/>
            </a:endParaRPr>
          </a:p>
          <a:p>
            <a:r>
              <a:rPr lang="da-DK" sz="1600" smtClean="0">
                <a:solidFill>
                  <a:srgbClr val="C200FF"/>
                </a:solidFill>
                <a:latin typeface="Courier New"/>
                <a:cs typeface="Courier New"/>
              </a:rPr>
              <a:t>    for</a:t>
            </a:r>
            <a:r>
              <a:rPr lang="da-DK" sz="1600" smtClean="0">
                <a:solidFill>
                  <a:srgbClr val="000000"/>
                </a:solidFill>
                <a:latin typeface="Courier New"/>
                <a:cs typeface="Courier New"/>
              </a:rPr>
              <a:t> </a:t>
            </a:r>
            <a:r>
              <a:rPr lang="da-DK" sz="1600">
                <a:solidFill>
                  <a:srgbClr val="000000"/>
                </a:solidFill>
                <a:latin typeface="Courier New"/>
                <a:cs typeface="Courier New"/>
              </a:rPr>
              <a:t>(i = 0; i &lt; n; i++)</a:t>
            </a:r>
          </a:p>
          <a:p>
            <a:r>
              <a:rPr lang="es-ES_tradnl" sz="1600">
                <a:solidFill>
                  <a:srgbClr val="000000"/>
                </a:solidFill>
                <a:latin typeface="Courier New"/>
                <a:cs typeface="Courier New"/>
              </a:rPr>
              <a:t>        z[i] = x[i] * y[i];</a:t>
            </a:r>
          </a:p>
          <a:p>
            <a:r>
              <a:rPr lang="es-ES_tradnl" sz="1600">
                <a:solidFill>
                  <a:srgbClr val="000000"/>
                </a:solidFill>
                <a:latin typeface="Courier New"/>
                <a:cs typeface="Courier New"/>
              </a:rPr>
              <a:t>}</a:t>
            </a:r>
            <a:endParaRPr lang="is-IS" sz="1600">
              <a:solidFill>
                <a:srgbClr val="000000"/>
              </a:solidFill>
              <a:latin typeface="Courier New"/>
              <a:cs typeface="Courier New"/>
            </a:endParaRPr>
          </a:p>
        </p:txBody>
      </p:sp>
      <p:sp>
        <p:nvSpPr>
          <p:cNvPr id="8" name="Rectangle 3"/>
          <p:cNvSpPr>
            <a:spLocks noChangeArrowheads="1"/>
          </p:cNvSpPr>
          <p:nvPr/>
        </p:nvSpPr>
        <p:spPr bwMode="auto">
          <a:xfrm>
            <a:off x="7203940" y="5527595"/>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err="1" smtClean="0">
                <a:solidFill>
                  <a:schemeClr val="tx1">
                    <a:lumMod val="50000"/>
                    <a:lumOff val="50000"/>
                  </a:schemeClr>
                </a:solidFill>
                <a:latin typeface="Courier New" pitchFamily="49" charset="0"/>
                <a:ea typeface="msgothic" charset="0"/>
                <a:cs typeface="msgothic" charset="0"/>
              </a:rPr>
              <a:t>multvec.c</a:t>
            </a:r>
            <a:endParaRPr lang="en-GB" sz="1800" b="1" i="1">
              <a:solidFill>
                <a:schemeClr val="tx1">
                  <a:lumMod val="50000"/>
                  <a:lumOff val="50000"/>
                </a:schemeClr>
              </a:solidFill>
              <a:latin typeface="Courier New" pitchFamily="49" charset="0"/>
              <a:ea typeface="msgothic" charset="0"/>
              <a:cs typeface="msgothic" charset="0"/>
            </a:endParaRPr>
          </a:p>
        </p:txBody>
      </p:sp>
      <p:sp>
        <p:nvSpPr>
          <p:cNvPr id="9" name="Rectangle 3"/>
          <p:cNvSpPr>
            <a:spLocks noChangeArrowheads="1"/>
          </p:cNvSpPr>
          <p:nvPr/>
        </p:nvSpPr>
        <p:spPr bwMode="auto">
          <a:xfrm>
            <a:off x="7342462" y="3341132"/>
            <a:ext cx="1344338"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err="1" smtClean="0">
                <a:solidFill>
                  <a:schemeClr val="tx1">
                    <a:lumMod val="50000"/>
                    <a:lumOff val="50000"/>
                  </a:schemeClr>
                </a:solidFill>
                <a:latin typeface="Courier New" pitchFamily="49" charset="0"/>
                <a:ea typeface="msgothic" charset="0"/>
                <a:cs typeface="msgothic" charset="0"/>
              </a:rPr>
              <a:t>addvec.c</a:t>
            </a:r>
            <a:endParaRPr lang="en-GB" sz="1800" b="1" i="1">
              <a:solidFill>
                <a:schemeClr val="tx1">
                  <a:lumMod val="50000"/>
                  <a:lumOff val="50000"/>
                </a:schemeClr>
              </a:solidFill>
              <a:latin typeface="Courier New" pitchFamily="49" charset="0"/>
              <a:ea typeface="msgothic" charset="0"/>
              <a:cs typeface="msgothic" charset="0"/>
            </a:endParaRPr>
          </a:p>
        </p:txBody>
      </p:sp>
      <p:sp>
        <p:nvSpPr>
          <p:cNvPr id="12" name="TextBox 11"/>
          <p:cNvSpPr txBox="1"/>
          <p:nvPr/>
        </p:nvSpPr>
        <p:spPr>
          <a:xfrm>
            <a:off x="5791200" y="914400"/>
            <a:ext cx="1762813" cy="369332"/>
          </a:xfrm>
          <a:prstGeom prst="rect">
            <a:avLst/>
          </a:prstGeom>
          <a:noFill/>
        </p:spPr>
        <p:txBody>
          <a:bodyPr wrap="none" rtlCol="0">
            <a:spAutoFit/>
          </a:bodyPr>
          <a:lstStyle/>
          <a:p>
            <a:r>
              <a:rPr lang="en-US" sz="1800" err="1" smtClean="0">
                <a:latin typeface="Courier New"/>
                <a:cs typeface="Courier New"/>
              </a:rPr>
              <a:t>libvector.a</a:t>
            </a:r>
            <a:endParaRPr lang="en-US" sz="1800" smtClean="0">
              <a:latin typeface="Courier New"/>
              <a:cs typeface="Courier New"/>
            </a:endParaRPr>
          </a:p>
        </p:txBody>
      </p:sp>
    </p:spTree>
    <p:extLst>
      <p:ext uri="{BB962C8B-B14F-4D97-AF65-F5344CB8AC3E}">
        <p14:creationId xmlns:p14="http://schemas.microsoft.com/office/powerpoint/2010/main" val="4200113903"/>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Grp="1" noChangeArrowheads="1"/>
          </p:cNvSpPr>
          <p:nvPr>
            <p:ph type="title" idx="4294967295"/>
          </p:nvPr>
        </p:nvSpPr>
        <p:spPr>
          <a:xfrm>
            <a:off x="404813" y="284162"/>
            <a:ext cx="5614987" cy="782638"/>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Linking with Static Libraries</a:t>
            </a:r>
          </a:p>
        </p:txBody>
      </p:sp>
      <p:sp>
        <p:nvSpPr>
          <p:cNvPr id="31746" name="Line 2"/>
          <p:cNvSpPr>
            <a:spLocks noChangeShapeType="1"/>
          </p:cNvSpPr>
          <p:nvPr/>
        </p:nvSpPr>
        <p:spPr bwMode="auto">
          <a:xfrm>
            <a:off x="698500" y="2582862"/>
            <a:ext cx="1587" cy="381000"/>
          </a:xfrm>
          <a:prstGeom prst="line">
            <a:avLst/>
          </a:prstGeom>
          <a:noFill/>
          <a:ln w="28440">
            <a:solidFill>
              <a:srgbClr val="000066"/>
            </a:solidFill>
            <a:miter lim="800000"/>
            <a:headEnd/>
            <a:tailEnd type="triangle" w="med" len="med"/>
          </a:ln>
          <a:effectLst/>
        </p:spPr>
        <p:txBody>
          <a:bodyPr/>
          <a:lstStyle/>
          <a:p>
            <a:endParaRPr lang="en-US"/>
          </a:p>
        </p:txBody>
      </p:sp>
      <p:sp>
        <p:nvSpPr>
          <p:cNvPr id="31747" name="Rectangle 3"/>
          <p:cNvSpPr>
            <a:spLocks noChangeArrowheads="1"/>
          </p:cNvSpPr>
          <p:nvPr/>
        </p:nvSpPr>
        <p:spPr bwMode="auto">
          <a:xfrm>
            <a:off x="174625" y="2992438"/>
            <a:ext cx="2070100" cy="644525"/>
          </a:xfrm>
          <a:prstGeom prst="rect">
            <a:avLst/>
          </a:prstGeom>
          <a:solidFill>
            <a:schemeClr val="accent2">
              <a:lumMod val="20000"/>
              <a:lumOff val="80000"/>
            </a:schemeClr>
          </a:solidFill>
          <a:ln w="284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alibri" pitchFamily="34" charset="0"/>
                <a:ea typeface="msgothic" charset="0"/>
                <a:cs typeface="msgothic" charset="0"/>
              </a:rPr>
              <a:t>Translators</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alibri" pitchFamily="34" charset="0"/>
                <a:ea typeface="msgothic" charset="0"/>
                <a:cs typeface="msgothic" charset="0"/>
              </a:rPr>
              <a:t>(</a:t>
            </a:r>
            <a:r>
              <a:rPr lang="en-GB" sz="1800" b="1" err="1">
                <a:latin typeface="Courier New" pitchFamily="49" charset="0"/>
                <a:ea typeface="msgothic" charset="0"/>
                <a:cs typeface="msgothic" charset="0"/>
              </a:rPr>
              <a:t>cpp</a:t>
            </a:r>
            <a:r>
              <a:rPr lang="en-GB" sz="1800" b="1">
                <a:latin typeface="Calibri" pitchFamily="34" charset="0"/>
                <a:ea typeface="msgothic" charset="0"/>
                <a:cs typeface="msgothic" charset="0"/>
              </a:rPr>
              <a:t>, </a:t>
            </a:r>
            <a:r>
              <a:rPr lang="en-GB" sz="1800" b="1">
                <a:latin typeface="Courier New" pitchFamily="49" charset="0"/>
                <a:ea typeface="msgothic" charset="0"/>
                <a:cs typeface="msgothic" charset="0"/>
              </a:rPr>
              <a:t>cc1</a:t>
            </a:r>
            <a:r>
              <a:rPr lang="en-GB" sz="1800" b="1">
                <a:latin typeface="Calibri" pitchFamily="34" charset="0"/>
                <a:ea typeface="msgothic" charset="0"/>
                <a:cs typeface="msgothic" charset="0"/>
              </a:rPr>
              <a:t>, </a:t>
            </a:r>
            <a:r>
              <a:rPr lang="en-GB" sz="1800" b="1">
                <a:latin typeface="Courier New" pitchFamily="49" charset="0"/>
                <a:ea typeface="msgothic" charset="0"/>
                <a:cs typeface="msgothic" charset="0"/>
              </a:rPr>
              <a:t>as</a:t>
            </a:r>
            <a:r>
              <a:rPr lang="en-GB" sz="1800" b="1">
                <a:latin typeface="Calibri" pitchFamily="34" charset="0"/>
                <a:ea typeface="msgothic" charset="0"/>
                <a:cs typeface="msgothic" charset="0"/>
              </a:rPr>
              <a:t>)</a:t>
            </a:r>
          </a:p>
        </p:txBody>
      </p:sp>
      <p:sp>
        <p:nvSpPr>
          <p:cNvPr id="31748" name="Text Box 4"/>
          <p:cNvSpPr txBox="1">
            <a:spLocks noChangeArrowheads="1"/>
          </p:cNvSpPr>
          <p:nvPr/>
        </p:nvSpPr>
        <p:spPr bwMode="auto">
          <a:xfrm>
            <a:off x="152400" y="2286000"/>
            <a:ext cx="1146767" cy="354906"/>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main2.c</a:t>
            </a:r>
          </a:p>
        </p:txBody>
      </p:sp>
      <p:sp>
        <p:nvSpPr>
          <p:cNvPr id="31749" name="Text Box 5"/>
          <p:cNvSpPr txBox="1">
            <a:spLocks noChangeArrowheads="1"/>
          </p:cNvSpPr>
          <p:nvPr/>
        </p:nvSpPr>
        <p:spPr bwMode="auto">
          <a:xfrm>
            <a:off x="1801813" y="3994150"/>
            <a:ext cx="1146767" cy="354906"/>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main2.o</a:t>
            </a:r>
          </a:p>
        </p:txBody>
      </p:sp>
      <p:sp>
        <p:nvSpPr>
          <p:cNvPr id="31750" name="Line 6"/>
          <p:cNvSpPr>
            <a:spLocks noChangeShapeType="1"/>
          </p:cNvSpPr>
          <p:nvPr/>
        </p:nvSpPr>
        <p:spPr bwMode="auto">
          <a:xfrm>
            <a:off x="1241425" y="3681413"/>
            <a:ext cx="815975" cy="381000"/>
          </a:xfrm>
          <a:prstGeom prst="line">
            <a:avLst/>
          </a:prstGeom>
          <a:noFill/>
          <a:ln w="28440">
            <a:solidFill>
              <a:srgbClr val="000066"/>
            </a:solidFill>
            <a:miter lim="800000"/>
            <a:headEnd/>
            <a:tailEnd type="triangle" w="med" len="med"/>
          </a:ln>
          <a:effectLst/>
        </p:spPr>
        <p:txBody>
          <a:bodyPr/>
          <a:lstStyle/>
          <a:p>
            <a:endParaRPr lang="en-US"/>
          </a:p>
        </p:txBody>
      </p:sp>
      <p:sp>
        <p:nvSpPr>
          <p:cNvPr id="31751" name="Line 7"/>
          <p:cNvSpPr>
            <a:spLocks noChangeShapeType="1"/>
          </p:cNvSpPr>
          <p:nvPr/>
        </p:nvSpPr>
        <p:spPr bwMode="auto">
          <a:xfrm>
            <a:off x="2344738" y="4291013"/>
            <a:ext cx="762000" cy="304800"/>
          </a:xfrm>
          <a:prstGeom prst="line">
            <a:avLst/>
          </a:prstGeom>
          <a:noFill/>
          <a:ln w="28440">
            <a:solidFill>
              <a:srgbClr val="000066"/>
            </a:solidFill>
            <a:miter lim="800000"/>
            <a:headEnd/>
            <a:tailEnd type="triangle" w="med" len="med"/>
          </a:ln>
          <a:effectLst/>
        </p:spPr>
        <p:txBody>
          <a:bodyPr/>
          <a:lstStyle/>
          <a:p>
            <a:endParaRPr lang="en-US"/>
          </a:p>
        </p:txBody>
      </p:sp>
      <p:sp>
        <p:nvSpPr>
          <p:cNvPr id="31752" name="Text Box 8"/>
          <p:cNvSpPr txBox="1">
            <a:spLocks noChangeArrowheads="1"/>
          </p:cNvSpPr>
          <p:nvPr/>
        </p:nvSpPr>
        <p:spPr bwMode="auto">
          <a:xfrm>
            <a:off x="5353050" y="3263900"/>
            <a:ext cx="1008907" cy="354906"/>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libc.a</a:t>
            </a:r>
          </a:p>
        </p:txBody>
      </p:sp>
      <p:sp>
        <p:nvSpPr>
          <p:cNvPr id="31753" name="Line 9"/>
          <p:cNvSpPr>
            <a:spLocks noChangeShapeType="1"/>
          </p:cNvSpPr>
          <p:nvPr/>
        </p:nvSpPr>
        <p:spPr bwMode="auto">
          <a:xfrm>
            <a:off x="3981451" y="3649663"/>
            <a:ext cx="1587" cy="1022350"/>
          </a:xfrm>
          <a:prstGeom prst="line">
            <a:avLst/>
          </a:prstGeom>
          <a:noFill/>
          <a:ln w="28440">
            <a:solidFill>
              <a:srgbClr val="000066"/>
            </a:solidFill>
            <a:miter lim="800000"/>
            <a:headEnd/>
            <a:tailEnd type="triangle" w="med" len="med"/>
          </a:ln>
          <a:effectLst/>
        </p:spPr>
        <p:txBody>
          <a:bodyPr/>
          <a:lstStyle/>
          <a:p>
            <a:endParaRPr lang="en-US"/>
          </a:p>
        </p:txBody>
      </p:sp>
      <p:sp>
        <p:nvSpPr>
          <p:cNvPr id="31754" name="Rectangle 10"/>
          <p:cNvSpPr>
            <a:spLocks noChangeArrowheads="1"/>
          </p:cNvSpPr>
          <p:nvPr/>
        </p:nvSpPr>
        <p:spPr bwMode="auto">
          <a:xfrm>
            <a:off x="2497138" y="4672013"/>
            <a:ext cx="2971800" cy="360909"/>
          </a:xfrm>
          <a:prstGeom prst="rect">
            <a:avLst/>
          </a:prstGeom>
          <a:solidFill>
            <a:schemeClr val="accent2">
              <a:lumMod val="20000"/>
              <a:lumOff val="80000"/>
            </a:schemeClr>
          </a:solidFill>
          <a:ln w="284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alibri" pitchFamily="34" charset="0"/>
                <a:ea typeface="msgothic" charset="0"/>
                <a:cs typeface="msgothic" charset="0"/>
              </a:rPr>
              <a:t>Linker (</a:t>
            </a:r>
            <a:r>
              <a:rPr lang="en-GB" sz="1800" b="1">
                <a:latin typeface="Courier New" pitchFamily="49" charset="0"/>
                <a:ea typeface="msgothic" charset="0"/>
                <a:cs typeface="msgothic" charset="0"/>
              </a:rPr>
              <a:t>ld</a:t>
            </a:r>
            <a:r>
              <a:rPr lang="en-GB" sz="1800" b="1">
                <a:latin typeface="Calibri" pitchFamily="34" charset="0"/>
                <a:ea typeface="msgothic" charset="0"/>
                <a:cs typeface="msgothic" charset="0"/>
              </a:rPr>
              <a:t>)</a:t>
            </a:r>
          </a:p>
        </p:txBody>
      </p:sp>
      <p:sp>
        <p:nvSpPr>
          <p:cNvPr id="31755" name="Text Box 11"/>
          <p:cNvSpPr txBox="1">
            <a:spLocks noChangeArrowheads="1"/>
          </p:cNvSpPr>
          <p:nvPr/>
        </p:nvSpPr>
        <p:spPr bwMode="auto">
          <a:xfrm>
            <a:off x="3519593" y="5518150"/>
            <a:ext cx="1012890" cy="357663"/>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smtClean="0">
                <a:latin typeface="Courier New" pitchFamily="49" charset="0"/>
                <a:ea typeface="msgothic" charset="0"/>
                <a:cs typeface="msgothic" charset="0"/>
              </a:rPr>
              <a:t>prog2c</a:t>
            </a:r>
            <a:endParaRPr lang="en-GB" sz="1800" b="1">
              <a:latin typeface="Courier New" pitchFamily="49" charset="0"/>
              <a:ea typeface="msgothic" charset="0"/>
              <a:cs typeface="msgothic" charset="0"/>
            </a:endParaRPr>
          </a:p>
        </p:txBody>
      </p:sp>
      <p:sp>
        <p:nvSpPr>
          <p:cNvPr id="31756" name="Line 12"/>
          <p:cNvSpPr>
            <a:spLocks noChangeShapeType="1"/>
          </p:cNvSpPr>
          <p:nvPr/>
        </p:nvSpPr>
        <p:spPr bwMode="auto">
          <a:xfrm>
            <a:off x="3981450" y="5047191"/>
            <a:ext cx="1588" cy="414338"/>
          </a:xfrm>
          <a:prstGeom prst="line">
            <a:avLst/>
          </a:prstGeom>
          <a:noFill/>
          <a:ln w="28440">
            <a:solidFill>
              <a:srgbClr val="000066"/>
            </a:solidFill>
            <a:miter lim="800000"/>
            <a:headEnd/>
            <a:tailEnd type="triangle" w="med" len="med"/>
          </a:ln>
          <a:effectLst/>
        </p:spPr>
        <p:txBody>
          <a:bodyPr/>
          <a:lstStyle/>
          <a:p>
            <a:endParaRPr lang="en-US"/>
          </a:p>
        </p:txBody>
      </p:sp>
      <p:sp>
        <p:nvSpPr>
          <p:cNvPr id="31757" name="Text Box 13"/>
          <p:cNvSpPr txBox="1">
            <a:spLocks noChangeArrowheads="1"/>
          </p:cNvSpPr>
          <p:nvPr/>
        </p:nvSpPr>
        <p:spPr bwMode="auto">
          <a:xfrm>
            <a:off x="5577022" y="3886200"/>
            <a:ext cx="3185978" cy="626391"/>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err="1">
                <a:solidFill>
                  <a:schemeClr val="tx1">
                    <a:lumMod val="50000"/>
                    <a:lumOff val="50000"/>
                  </a:schemeClr>
                </a:solidFill>
                <a:latin typeface="Courier New" pitchFamily="49" charset="0"/>
                <a:ea typeface="msgothic" charset="0"/>
                <a:cs typeface="msgothic" charset="0"/>
              </a:rPr>
              <a:t>printf.o</a:t>
            </a:r>
            <a:r>
              <a:rPr lang="en-GB" sz="1800" b="1" i="1">
                <a:solidFill>
                  <a:schemeClr val="tx1">
                    <a:lumMod val="50000"/>
                    <a:lumOff val="50000"/>
                  </a:schemeClr>
                </a:solidFill>
                <a:latin typeface="Courier New" pitchFamily="49" charset="0"/>
                <a:ea typeface="msgothic" charset="0"/>
                <a:cs typeface="msgothic" charset="0"/>
              </a:rPr>
              <a:t> </a:t>
            </a:r>
            <a:r>
              <a:rPr lang="en-GB" sz="1800" b="1" i="1">
                <a:solidFill>
                  <a:schemeClr val="tx1">
                    <a:lumMod val="50000"/>
                    <a:lumOff val="50000"/>
                  </a:schemeClr>
                </a:solidFill>
                <a:latin typeface="Calibri" pitchFamily="34" charset="0"/>
                <a:ea typeface="msgothic" charset="0"/>
                <a:cs typeface="msgothic" charset="0"/>
              </a:rPr>
              <a:t>and any other </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a:solidFill>
                  <a:schemeClr val="tx1">
                    <a:lumMod val="50000"/>
                    <a:lumOff val="50000"/>
                  </a:schemeClr>
                </a:solidFill>
                <a:latin typeface="Calibri" pitchFamily="34" charset="0"/>
                <a:ea typeface="msgothic" charset="0"/>
                <a:cs typeface="msgothic" charset="0"/>
              </a:rPr>
              <a:t>modules called by </a:t>
            </a:r>
            <a:r>
              <a:rPr lang="en-GB" sz="1800" b="1" i="1" err="1">
                <a:solidFill>
                  <a:schemeClr val="tx1">
                    <a:lumMod val="50000"/>
                    <a:lumOff val="50000"/>
                  </a:schemeClr>
                </a:solidFill>
                <a:latin typeface="Courier New" pitchFamily="49" charset="0"/>
                <a:ea typeface="msgothic" charset="0"/>
                <a:cs typeface="msgothic" charset="0"/>
              </a:rPr>
              <a:t>printf.o</a:t>
            </a:r>
            <a:r>
              <a:rPr lang="en-GB" sz="1800" b="1" i="1">
                <a:solidFill>
                  <a:schemeClr val="tx1">
                    <a:lumMod val="50000"/>
                    <a:lumOff val="50000"/>
                  </a:schemeClr>
                </a:solidFill>
                <a:latin typeface="Courier New" pitchFamily="49" charset="0"/>
                <a:ea typeface="msgothic" charset="0"/>
                <a:cs typeface="msgothic" charset="0"/>
              </a:rPr>
              <a:t> </a:t>
            </a:r>
          </a:p>
        </p:txBody>
      </p:sp>
      <p:sp>
        <p:nvSpPr>
          <p:cNvPr id="31758" name="Text Box 14"/>
          <p:cNvSpPr txBox="1">
            <a:spLocks noChangeArrowheads="1"/>
          </p:cNvSpPr>
          <p:nvPr/>
        </p:nvSpPr>
        <p:spPr bwMode="auto">
          <a:xfrm>
            <a:off x="3187700" y="3263900"/>
            <a:ext cx="1698199" cy="354906"/>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libvector.a</a:t>
            </a:r>
          </a:p>
        </p:txBody>
      </p:sp>
      <p:sp>
        <p:nvSpPr>
          <p:cNvPr id="31759" name="Text Box 15"/>
          <p:cNvSpPr txBox="1">
            <a:spLocks noChangeArrowheads="1"/>
          </p:cNvSpPr>
          <p:nvPr/>
        </p:nvSpPr>
        <p:spPr bwMode="auto">
          <a:xfrm>
            <a:off x="3992563" y="3994150"/>
            <a:ext cx="1284624" cy="354906"/>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addvec.o</a:t>
            </a:r>
          </a:p>
        </p:txBody>
      </p:sp>
      <p:sp>
        <p:nvSpPr>
          <p:cNvPr id="31760" name="Line 16"/>
          <p:cNvSpPr>
            <a:spLocks noChangeShapeType="1"/>
          </p:cNvSpPr>
          <p:nvPr/>
        </p:nvSpPr>
        <p:spPr bwMode="auto">
          <a:xfrm flipH="1">
            <a:off x="4981575" y="3590397"/>
            <a:ext cx="841375" cy="1066800"/>
          </a:xfrm>
          <a:prstGeom prst="line">
            <a:avLst/>
          </a:prstGeom>
          <a:noFill/>
          <a:ln w="28440">
            <a:solidFill>
              <a:srgbClr val="000066"/>
            </a:solidFill>
            <a:miter lim="800000"/>
            <a:headEnd/>
            <a:tailEnd type="triangle" w="med" len="med"/>
          </a:ln>
          <a:effectLst/>
        </p:spPr>
        <p:txBody>
          <a:bodyPr/>
          <a:lstStyle/>
          <a:p>
            <a:endParaRPr lang="en-US"/>
          </a:p>
        </p:txBody>
      </p:sp>
      <p:sp>
        <p:nvSpPr>
          <p:cNvPr id="31761" name="Text Box 17"/>
          <p:cNvSpPr txBox="1">
            <a:spLocks noChangeArrowheads="1"/>
          </p:cNvSpPr>
          <p:nvPr/>
        </p:nvSpPr>
        <p:spPr bwMode="auto">
          <a:xfrm>
            <a:off x="6929438" y="3206750"/>
            <a:ext cx="1552839" cy="3659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a:solidFill>
                  <a:srgbClr val="C00000"/>
                </a:solidFill>
                <a:latin typeface="Calibri" pitchFamily="34" charset="0"/>
                <a:ea typeface="msgothic" charset="0"/>
                <a:cs typeface="msgothic" charset="0"/>
              </a:rPr>
              <a:t>Static libraries</a:t>
            </a:r>
          </a:p>
        </p:txBody>
      </p:sp>
      <p:sp>
        <p:nvSpPr>
          <p:cNvPr id="31762" name="Text Box 18"/>
          <p:cNvSpPr txBox="1">
            <a:spLocks noChangeArrowheads="1"/>
          </p:cNvSpPr>
          <p:nvPr/>
        </p:nvSpPr>
        <p:spPr bwMode="auto">
          <a:xfrm>
            <a:off x="225425" y="3883025"/>
            <a:ext cx="1305592" cy="637483"/>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err="1">
                <a:solidFill>
                  <a:srgbClr val="C00000"/>
                </a:solidFill>
                <a:latin typeface="Calibri" pitchFamily="34" charset="0"/>
                <a:ea typeface="msgothic" charset="0"/>
                <a:cs typeface="msgothic" charset="0"/>
              </a:rPr>
              <a:t>Relocatable</a:t>
            </a:r>
            <a:endParaRPr lang="en-GB" sz="1800" b="1" i="1">
              <a:solidFill>
                <a:srgbClr val="C00000"/>
              </a:solidFill>
              <a:latin typeface="Calibri" pitchFamily="34" charset="0"/>
              <a:ea typeface="msgothic" charset="0"/>
              <a:cs typeface="msgothic" charset="0"/>
            </a:endParaRP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a:solidFill>
                  <a:srgbClr val="C00000"/>
                </a:solidFill>
                <a:latin typeface="Calibri" pitchFamily="34" charset="0"/>
                <a:ea typeface="msgothic" charset="0"/>
                <a:cs typeface="msgothic" charset="0"/>
              </a:rPr>
              <a:t>object files</a:t>
            </a:r>
          </a:p>
        </p:txBody>
      </p:sp>
      <p:sp>
        <p:nvSpPr>
          <p:cNvPr id="31763" name="Text Box 19"/>
          <p:cNvSpPr txBox="1">
            <a:spLocks noChangeArrowheads="1"/>
          </p:cNvSpPr>
          <p:nvPr/>
        </p:nvSpPr>
        <p:spPr bwMode="auto">
          <a:xfrm>
            <a:off x="4648251" y="5378450"/>
            <a:ext cx="2210134" cy="908968"/>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a:solidFill>
                  <a:srgbClr val="C00000"/>
                </a:solidFill>
                <a:latin typeface="Calibri" pitchFamily="34" charset="0"/>
                <a:ea typeface="msgothic" charset="0"/>
                <a:cs typeface="msgothic" charset="0"/>
              </a:rPr>
              <a:t>Fully linked </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a:solidFill>
                  <a:srgbClr val="C00000"/>
                </a:solidFill>
                <a:latin typeface="Calibri" pitchFamily="34" charset="0"/>
                <a:ea typeface="msgothic" charset="0"/>
                <a:cs typeface="msgothic" charset="0"/>
              </a:rPr>
              <a:t>executable object </a:t>
            </a:r>
            <a:r>
              <a:rPr lang="en-GB" sz="1800" b="1" i="1" dirty="0" smtClean="0">
                <a:solidFill>
                  <a:srgbClr val="C00000"/>
                </a:solidFill>
                <a:latin typeface="Calibri" pitchFamily="34" charset="0"/>
                <a:ea typeface="msgothic" charset="0"/>
                <a:cs typeface="msgothic" charset="0"/>
              </a:rPr>
              <a:t>file</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dirty="0" smtClean="0">
                <a:latin typeface="Calibri" pitchFamily="34" charset="0"/>
                <a:ea typeface="msgothic" charset="0"/>
                <a:cs typeface="msgothic" charset="0"/>
              </a:rPr>
              <a:t>(892,607 bytes)</a:t>
            </a:r>
            <a:endParaRPr lang="en-GB" sz="1800" b="1" dirty="0">
              <a:latin typeface="Calibri" pitchFamily="34" charset="0"/>
              <a:ea typeface="msgothic" charset="0"/>
              <a:cs typeface="msgothic" charset="0"/>
            </a:endParaRPr>
          </a:p>
        </p:txBody>
      </p:sp>
      <p:sp>
        <p:nvSpPr>
          <p:cNvPr id="31764" name="Text Box 20"/>
          <p:cNvSpPr txBox="1">
            <a:spLocks noChangeArrowheads="1"/>
          </p:cNvSpPr>
          <p:nvPr/>
        </p:nvSpPr>
        <p:spPr bwMode="auto">
          <a:xfrm>
            <a:off x="1260475" y="2286000"/>
            <a:ext cx="1284624" cy="354906"/>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vector.h</a:t>
            </a:r>
          </a:p>
        </p:txBody>
      </p:sp>
      <p:sp>
        <p:nvSpPr>
          <p:cNvPr id="31765" name="Line 21"/>
          <p:cNvSpPr>
            <a:spLocks noChangeShapeType="1"/>
          </p:cNvSpPr>
          <p:nvPr/>
        </p:nvSpPr>
        <p:spPr bwMode="auto">
          <a:xfrm>
            <a:off x="1882775" y="2582862"/>
            <a:ext cx="1587" cy="381000"/>
          </a:xfrm>
          <a:prstGeom prst="line">
            <a:avLst/>
          </a:prstGeom>
          <a:noFill/>
          <a:ln w="28440">
            <a:solidFill>
              <a:srgbClr val="000066"/>
            </a:solidFill>
            <a:miter lim="800000"/>
            <a:headEnd/>
            <a:tailEnd type="triangle" w="med" len="med"/>
          </a:ln>
          <a:effectLst/>
        </p:spPr>
        <p:txBody>
          <a:bodyPr/>
          <a:lstStyle/>
          <a:p>
            <a:endParaRPr lang="en-US"/>
          </a:p>
        </p:txBody>
      </p:sp>
      <p:sp>
        <p:nvSpPr>
          <p:cNvPr id="31766" name="Rectangle 22"/>
          <p:cNvSpPr>
            <a:spLocks noChangeArrowheads="1"/>
          </p:cNvSpPr>
          <p:nvPr/>
        </p:nvSpPr>
        <p:spPr bwMode="auto">
          <a:xfrm>
            <a:off x="3328988" y="2289175"/>
            <a:ext cx="1304925" cy="644525"/>
          </a:xfrm>
          <a:prstGeom prst="rect">
            <a:avLst/>
          </a:prstGeom>
          <a:solidFill>
            <a:schemeClr val="accent2">
              <a:lumMod val="20000"/>
              <a:lumOff val="80000"/>
            </a:schemeClr>
          </a:solidFill>
          <a:ln w="284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err="1">
                <a:latin typeface="Calibri" pitchFamily="34" charset="0"/>
                <a:ea typeface="msgothic" charset="0"/>
                <a:cs typeface="msgothic" charset="0"/>
              </a:rPr>
              <a:t>Archiver</a:t>
            </a:r>
            <a:endParaRPr lang="en-GB" sz="1800" b="1">
              <a:latin typeface="Calibri" pitchFamily="34" charset="0"/>
              <a:ea typeface="msgothic" charset="0"/>
              <a:cs typeface="msgothic" charset="0"/>
            </a:endParaRP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alibri" pitchFamily="34" charset="0"/>
                <a:ea typeface="msgothic" charset="0"/>
                <a:cs typeface="msgothic" charset="0"/>
              </a:rPr>
              <a:t>(</a:t>
            </a:r>
            <a:r>
              <a:rPr lang="en-GB" sz="1800" b="1" err="1">
                <a:latin typeface="Courier New" pitchFamily="49" charset="0"/>
                <a:ea typeface="msgothic" charset="0"/>
                <a:cs typeface="msgothic" charset="0"/>
              </a:rPr>
              <a:t>ar</a:t>
            </a:r>
            <a:r>
              <a:rPr lang="en-GB" sz="1800" b="1">
                <a:latin typeface="Calibri" pitchFamily="34" charset="0"/>
                <a:ea typeface="msgothic" charset="0"/>
                <a:cs typeface="msgothic" charset="0"/>
              </a:rPr>
              <a:t>)</a:t>
            </a:r>
          </a:p>
        </p:txBody>
      </p:sp>
      <p:sp>
        <p:nvSpPr>
          <p:cNvPr id="31767" name="Line 23"/>
          <p:cNvSpPr>
            <a:spLocks noChangeShapeType="1"/>
          </p:cNvSpPr>
          <p:nvPr/>
        </p:nvSpPr>
        <p:spPr bwMode="auto">
          <a:xfrm>
            <a:off x="3981451" y="2955925"/>
            <a:ext cx="1587" cy="411163"/>
          </a:xfrm>
          <a:prstGeom prst="line">
            <a:avLst/>
          </a:prstGeom>
          <a:noFill/>
          <a:ln w="28440">
            <a:solidFill>
              <a:srgbClr val="000066"/>
            </a:solidFill>
            <a:miter lim="800000"/>
            <a:headEnd/>
            <a:tailEnd type="triangle" w="med" len="med"/>
          </a:ln>
          <a:effectLst/>
        </p:spPr>
        <p:txBody>
          <a:bodyPr/>
          <a:lstStyle/>
          <a:p>
            <a:endParaRPr lang="en-US"/>
          </a:p>
        </p:txBody>
      </p:sp>
      <p:sp>
        <p:nvSpPr>
          <p:cNvPr id="31768" name="Line 24"/>
          <p:cNvSpPr>
            <a:spLocks noChangeShapeType="1"/>
          </p:cNvSpPr>
          <p:nvPr/>
        </p:nvSpPr>
        <p:spPr bwMode="auto">
          <a:xfrm>
            <a:off x="3429000" y="1874837"/>
            <a:ext cx="1588" cy="411163"/>
          </a:xfrm>
          <a:prstGeom prst="line">
            <a:avLst/>
          </a:prstGeom>
          <a:noFill/>
          <a:ln w="28440">
            <a:solidFill>
              <a:srgbClr val="000066"/>
            </a:solidFill>
            <a:miter lim="800000"/>
            <a:headEnd/>
            <a:tailEnd type="triangle" w="med" len="med"/>
          </a:ln>
          <a:effectLst/>
        </p:spPr>
        <p:txBody>
          <a:bodyPr/>
          <a:lstStyle/>
          <a:p>
            <a:endParaRPr lang="en-US"/>
          </a:p>
        </p:txBody>
      </p:sp>
      <p:sp>
        <p:nvSpPr>
          <p:cNvPr id="31769" name="Line 25"/>
          <p:cNvSpPr>
            <a:spLocks noChangeShapeType="1"/>
          </p:cNvSpPr>
          <p:nvPr/>
        </p:nvSpPr>
        <p:spPr bwMode="auto">
          <a:xfrm>
            <a:off x="4572000" y="1874837"/>
            <a:ext cx="1588" cy="411163"/>
          </a:xfrm>
          <a:prstGeom prst="line">
            <a:avLst/>
          </a:prstGeom>
          <a:noFill/>
          <a:ln w="28440">
            <a:solidFill>
              <a:srgbClr val="000066"/>
            </a:solidFill>
            <a:miter lim="800000"/>
            <a:headEnd/>
            <a:tailEnd type="triangle" w="med" len="med"/>
          </a:ln>
          <a:effectLst/>
        </p:spPr>
        <p:txBody>
          <a:bodyPr/>
          <a:lstStyle/>
          <a:p>
            <a:endParaRPr lang="en-US"/>
          </a:p>
        </p:txBody>
      </p:sp>
      <p:sp>
        <p:nvSpPr>
          <p:cNvPr id="31770" name="Text Box 26"/>
          <p:cNvSpPr txBox="1">
            <a:spLocks noChangeArrowheads="1"/>
          </p:cNvSpPr>
          <p:nvPr/>
        </p:nvSpPr>
        <p:spPr bwMode="auto">
          <a:xfrm>
            <a:off x="2601913" y="1538288"/>
            <a:ext cx="1284624" cy="354906"/>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addvec.o</a:t>
            </a:r>
          </a:p>
        </p:txBody>
      </p:sp>
      <p:sp>
        <p:nvSpPr>
          <p:cNvPr id="31771" name="Text Box 27"/>
          <p:cNvSpPr txBox="1">
            <a:spLocks noChangeArrowheads="1"/>
          </p:cNvSpPr>
          <p:nvPr/>
        </p:nvSpPr>
        <p:spPr bwMode="auto">
          <a:xfrm>
            <a:off x="3925888" y="1524000"/>
            <a:ext cx="1422483" cy="354906"/>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multvec.o</a:t>
            </a:r>
          </a:p>
        </p:txBody>
      </p:sp>
      <p:sp>
        <p:nvSpPr>
          <p:cNvPr id="2" name="TextBox 1"/>
          <p:cNvSpPr txBox="1"/>
          <p:nvPr/>
        </p:nvSpPr>
        <p:spPr>
          <a:xfrm>
            <a:off x="2895600" y="6347379"/>
            <a:ext cx="2175583" cy="338554"/>
          </a:xfrm>
          <a:prstGeom prst="rect">
            <a:avLst/>
          </a:prstGeom>
          <a:noFill/>
        </p:spPr>
        <p:txBody>
          <a:bodyPr wrap="none" rtlCol="0">
            <a:spAutoFit/>
          </a:bodyPr>
          <a:lstStyle/>
          <a:p>
            <a:r>
              <a:rPr lang="en-US" sz="1600" i="1" smtClean="0">
                <a:latin typeface="Calibri" pitchFamily="34" charset="0"/>
              </a:rPr>
              <a:t>“c” for “compile-time”</a:t>
            </a:r>
          </a:p>
        </p:txBody>
      </p:sp>
      <p:sp>
        <p:nvSpPr>
          <p:cNvPr id="30" name="Text Box 26"/>
          <p:cNvSpPr txBox="1">
            <a:spLocks noChangeArrowheads="1"/>
          </p:cNvSpPr>
          <p:nvPr/>
        </p:nvSpPr>
        <p:spPr bwMode="auto">
          <a:xfrm>
            <a:off x="5487134" y="4724400"/>
            <a:ext cx="4306485" cy="559872"/>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smtClean="0">
                <a:solidFill>
                  <a:srgbClr val="990000"/>
                </a:solidFill>
                <a:latin typeface="Courier New" pitchFamily="49" charset="0"/>
                <a:ea typeface="msgothic" charset="0"/>
                <a:cs typeface="msgothic" charset="0"/>
              </a:rPr>
              <a:t>$ </a:t>
            </a:r>
            <a:r>
              <a:rPr lang="en-GB" sz="1600" b="1" dirty="0" err="1">
                <a:solidFill>
                  <a:srgbClr val="990000"/>
                </a:solidFill>
                <a:latin typeface="Courier New" pitchFamily="49" charset="0"/>
                <a:ea typeface="msgothic" charset="0"/>
                <a:cs typeface="msgothic" charset="0"/>
              </a:rPr>
              <a:t>gcc</a:t>
            </a:r>
            <a:r>
              <a:rPr lang="en-GB" sz="1600" b="1" dirty="0">
                <a:solidFill>
                  <a:srgbClr val="990000"/>
                </a:solidFill>
                <a:latin typeface="Courier New" pitchFamily="49" charset="0"/>
                <a:ea typeface="msgothic" charset="0"/>
                <a:cs typeface="msgothic" charset="0"/>
              </a:rPr>
              <a:t> </a:t>
            </a:r>
            <a:r>
              <a:rPr lang="mr-IN" sz="1600" b="1" dirty="0" smtClean="0">
                <a:solidFill>
                  <a:srgbClr val="990000"/>
                </a:solidFill>
                <a:latin typeface="Courier New" pitchFamily="49" charset="0"/>
                <a:ea typeface="msgothic" charset="0"/>
                <a:cs typeface="msgothic" charset="0"/>
              </a:rPr>
              <a:t>–</a:t>
            </a:r>
            <a:r>
              <a:rPr lang="en-GB" sz="1600" dirty="0" smtClean="0">
                <a:solidFill>
                  <a:srgbClr val="990000"/>
                </a:solidFill>
                <a:latin typeface="Courier New" pitchFamily="49" charset="0"/>
                <a:ea typeface="msgothic" charset="0"/>
                <a:cs typeface="msgothic" charset="0"/>
              </a:rPr>
              <a:t>static </a:t>
            </a:r>
            <a:r>
              <a:rPr lang="mr-IN" sz="1600" dirty="0" smtClean="0">
                <a:solidFill>
                  <a:srgbClr val="990000"/>
                </a:solidFill>
                <a:latin typeface="Courier New" pitchFamily="49" charset="0"/>
                <a:ea typeface="msgothic" charset="0"/>
                <a:cs typeface="msgothic" charset="0"/>
              </a:rPr>
              <a:t>–</a:t>
            </a:r>
            <a:r>
              <a:rPr lang="en-GB" sz="1600" dirty="0" smtClean="0">
                <a:solidFill>
                  <a:srgbClr val="990000"/>
                </a:solidFill>
                <a:latin typeface="Courier New" pitchFamily="49" charset="0"/>
                <a:ea typeface="msgothic" charset="0"/>
                <a:cs typeface="msgothic" charset="0"/>
              </a:rPr>
              <a:t>o prog2r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solidFill>
                  <a:srgbClr val="990000"/>
                </a:solidFill>
                <a:latin typeface="Courier New" pitchFamily="49" charset="0"/>
                <a:ea typeface="msgothic" charset="0"/>
                <a:cs typeface="msgothic" charset="0"/>
              </a:rPr>
              <a:t>	</a:t>
            </a:r>
            <a:r>
              <a:rPr lang="en-GB" sz="1600" b="1" dirty="0" smtClean="0">
                <a:solidFill>
                  <a:srgbClr val="990000"/>
                </a:solidFill>
                <a:latin typeface="Courier New" pitchFamily="49" charset="0"/>
                <a:ea typeface="msgothic" charset="0"/>
                <a:cs typeface="msgothic" charset="0"/>
              </a:rPr>
              <a:t>      main2.o -L. -</a:t>
            </a:r>
            <a:r>
              <a:rPr lang="en-GB" sz="1600" b="1" dirty="0" err="1" smtClean="0">
                <a:solidFill>
                  <a:srgbClr val="990000"/>
                </a:solidFill>
                <a:latin typeface="Courier New" pitchFamily="49" charset="0"/>
                <a:ea typeface="msgothic" charset="0"/>
                <a:cs typeface="msgothic" charset="0"/>
              </a:rPr>
              <a:t>lvector</a:t>
            </a:r>
            <a:endParaRPr lang="en-GB" sz="1600" b="1" dirty="0">
              <a:solidFill>
                <a:srgbClr val="990000"/>
              </a:solidFill>
              <a:latin typeface="Courier New" pitchFamily="49" charset="0"/>
              <a:ea typeface="msgothic" charset="0"/>
              <a:cs typeface="msgothic" charset="0"/>
            </a:endParaRPr>
          </a:p>
        </p:txBody>
      </p:sp>
    </p:spTree>
    <p:extLst>
      <p:ext uri="{BB962C8B-B14F-4D97-AF65-F5344CB8AC3E}">
        <p14:creationId xmlns:p14="http://schemas.microsoft.com/office/powerpoint/2010/main" val="928176383"/>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
          <p:cNvSpPr>
            <a:spLocks noGrp="1" noChangeArrowheads="1"/>
          </p:cNvSpPr>
          <p:nvPr>
            <p:ph type="title" idx="4294967295"/>
          </p:nvPr>
        </p:nvSpPr>
        <p:spPr>
          <a:xfrm>
            <a:off x="457200" y="360362"/>
            <a:ext cx="8716962" cy="782638"/>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Using Static Libraries</a:t>
            </a:r>
          </a:p>
        </p:txBody>
      </p:sp>
      <p:sp>
        <p:nvSpPr>
          <p:cNvPr id="32770" name="Rectangle 2"/>
          <p:cNvSpPr>
            <a:spLocks noGrp="1" noChangeArrowheads="1"/>
          </p:cNvSpPr>
          <p:nvPr>
            <p:ph type="body" idx="1"/>
          </p:nvPr>
        </p:nvSpPr>
        <p:spPr>
          <a:xfrm>
            <a:off x="455613" y="1428750"/>
            <a:ext cx="8307387" cy="4133850"/>
          </a:xfrm>
          <a:ln/>
        </p:spPr>
        <p:txBody>
          <a:bodyPr/>
          <a:lstStyle/>
          <a:p>
            <a:pPr>
              <a:lnSpc>
                <a:spcPct val="83000"/>
              </a:lnSpc>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Linker’s algorithm for resolving external references:</a:t>
            </a:r>
          </a:p>
          <a:p>
            <a:pPr lvl="1">
              <a:lnSpc>
                <a:spcPct val="88000"/>
              </a:lnSpc>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Scan </a:t>
            </a:r>
            <a:r>
              <a:rPr lang="en-GB" b="1">
                <a:latin typeface="Courier New" pitchFamily="49" charset="0"/>
              </a:rPr>
              <a:t>.o</a:t>
            </a:r>
            <a:r>
              <a:rPr lang="en-GB"/>
              <a:t> files and </a:t>
            </a:r>
            <a:r>
              <a:rPr lang="en-GB" b="1">
                <a:latin typeface="Courier New" pitchFamily="49" charset="0"/>
              </a:rPr>
              <a:t>.a</a:t>
            </a:r>
            <a:r>
              <a:rPr lang="en-GB"/>
              <a:t> files in the command line order.</a:t>
            </a:r>
          </a:p>
          <a:p>
            <a:pPr lvl="1">
              <a:lnSpc>
                <a:spcPct val="88000"/>
              </a:lnSpc>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During the scan, keep a list of the current unresolved references.</a:t>
            </a:r>
          </a:p>
          <a:p>
            <a:pPr lvl="1">
              <a:lnSpc>
                <a:spcPct val="88000"/>
              </a:lnSpc>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As each new </a:t>
            </a:r>
            <a:r>
              <a:rPr lang="en-GB" b="1">
                <a:latin typeface="Courier New" pitchFamily="49" charset="0"/>
              </a:rPr>
              <a:t>.o</a:t>
            </a:r>
            <a:r>
              <a:rPr lang="en-GB"/>
              <a:t> or </a:t>
            </a:r>
            <a:r>
              <a:rPr lang="en-GB" b="1">
                <a:latin typeface="Courier New" pitchFamily="49" charset="0"/>
              </a:rPr>
              <a:t>.a</a:t>
            </a:r>
            <a:r>
              <a:rPr lang="en-GB"/>
              <a:t> file, </a:t>
            </a:r>
            <a:r>
              <a:rPr lang="en-GB" i="1" err="1"/>
              <a:t>obj</a:t>
            </a:r>
            <a:r>
              <a:rPr lang="en-GB"/>
              <a:t>, is encountered, try to resolve each unresolved reference in the list against the symbols defined in </a:t>
            </a:r>
            <a:r>
              <a:rPr lang="en-GB" i="1"/>
              <a:t>obj</a:t>
            </a:r>
            <a:r>
              <a:rPr lang="en-GB"/>
              <a:t>. </a:t>
            </a:r>
          </a:p>
          <a:p>
            <a:pPr lvl="1">
              <a:lnSpc>
                <a:spcPct val="88000"/>
              </a:lnSpc>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If any entries in the unresolved list at end of scan, then error.</a:t>
            </a:r>
          </a:p>
          <a:p>
            <a:pPr>
              <a:lnSpc>
                <a:spcPct val="83000"/>
              </a:lnSpc>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smtClean="0"/>
          </a:p>
          <a:p>
            <a:pPr>
              <a:lnSpc>
                <a:spcPct val="83000"/>
              </a:lnSpc>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mtClean="0"/>
              <a:t>Problem</a:t>
            </a:r>
            <a:r>
              <a:rPr lang="en-GB"/>
              <a:t>:</a:t>
            </a:r>
          </a:p>
          <a:p>
            <a:pPr lvl="1">
              <a:lnSpc>
                <a:spcPct val="88000"/>
              </a:lnSpc>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Command line order matters!</a:t>
            </a:r>
          </a:p>
          <a:p>
            <a:pPr lvl="1">
              <a:lnSpc>
                <a:spcPct val="88000"/>
              </a:lnSpc>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Moral: put libraries at the end of the command line. </a:t>
            </a:r>
          </a:p>
        </p:txBody>
      </p:sp>
      <p:sp>
        <p:nvSpPr>
          <p:cNvPr id="32771" name="Rectangle 3"/>
          <p:cNvSpPr>
            <a:spLocks noChangeArrowheads="1"/>
          </p:cNvSpPr>
          <p:nvPr/>
        </p:nvSpPr>
        <p:spPr bwMode="auto">
          <a:xfrm>
            <a:off x="990600" y="4995736"/>
            <a:ext cx="6847044" cy="1024064"/>
          </a:xfrm>
          <a:prstGeom prst="rect">
            <a:avLst/>
          </a:prstGeom>
          <a:solidFill>
            <a:srgbClr val="E6E6E6"/>
          </a:solidFill>
          <a:ln w="648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smtClean="0">
                <a:latin typeface="Courier New" pitchFamily="49" charset="0"/>
                <a:ea typeface="msgothic" charset="0"/>
                <a:cs typeface="msgothic" charset="0"/>
              </a:rPr>
              <a:t>$ </a:t>
            </a:r>
            <a:r>
              <a:rPr lang="en-GB" sz="1600" b="1" dirty="0" err="1">
                <a:latin typeface="Courier New" pitchFamily="49" charset="0"/>
                <a:ea typeface="msgothic" charset="0"/>
                <a:cs typeface="msgothic" charset="0"/>
              </a:rPr>
              <a:t>gcc</a:t>
            </a:r>
            <a:r>
              <a:rPr lang="en-GB" sz="1600" b="1" dirty="0">
                <a:latin typeface="Courier New" pitchFamily="49" charset="0"/>
                <a:ea typeface="msgothic" charset="0"/>
                <a:cs typeface="msgothic" charset="0"/>
              </a:rPr>
              <a:t> -L. </a:t>
            </a:r>
            <a:r>
              <a:rPr lang="en-GB" sz="1600" b="1" dirty="0" err="1">
                <a:latin typeface="Courier New" pitchFamily="49" charset="0"/>
                <a:ea typeface="msgothic" charset="0"/>
                <a:cs typeface="msgothic" charset="0"/>
              </a:rPr>
              <a:t>libtest.o</a:t>
            </a:r>
            <a:r>
              <a:rPr lang="en-GB" sz="1600" b="1" dirty="0">
                <a:latin typeface="Courier New" pitchFamily="49" charset="0"/>
                <a:ea typeface="msgothic" charset="0"/>
                <a:cs typeface="msgothic" charset="0"/>
              </a:rPr>
              <a:t> -</a:t>
            </a:r>
            <a:r>
              <a:rPr lang="en-GB" sz="1600" b="1" dirty="0" err="1">
                <a:latin typeface="Courier New" pitchFamily="49" charset="0"/>
                <a:ea typeface="msgothic" charset="0"/>
                <a:cs typeface="msgothic" charset="0"/>
              </a:rPr>
              <a:t>lmine</a:t>
            </a: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smtClean="0">
                <a:latin typeface="Courier New" pitchFamily="49" charset="0"/>
                <a:ea typeface="msgothic" charset="0"/>
                <a:cs typeface="msgothic" charset="0"/>
              </a:rPr>
              <a:t>$ </a:t>
            </a:r>
            <a:r>
              <a:rPr lang="en-GB" sz="1600" b="1" dirty="0" err="1">
                <a:latin typeface="Courier New" pitchFamily="49" charset="0"/>
                <a:ea typeface="msgothic" charset="0"/>
                <a:cs typeface="msgothic" charset="0"/>
              </a:rPr>
              <a:t>gcc</a:t>
            </a:r>
            <a:r>
              <a:rPr lang="en-GB" sz="1600" b="1" dirty="0">
                <a:latin typeface="Courier New" pitchFamily="49" charset="0"/>
                <a:ea typeface="msgothic" charset="0"/>
                <a:cs typeface="msgothic" charset="0"/>
              </a:rPr>
              <a:t> -L. -</a:t>
            </a:r>
            <a:r>
              <a:rPr lang="en-GB" sz="1600" b="1" dirty="0" err="1">
                <a:latin typeface="Courier New" pitchFamily="49" charset="0"/>
                <a:ea typeface="msgothic" charset="0"/>
                <a:cs typeface="msgothic" charset="0"/>
              </a:rPr>
              <a:t>lmine</a:t>
            </a:r>
            <a:r>
              <a:rPr lang="en-GB" sz="1600" b="1" dirty="0">
                <a:latin typeface="Courier New" pitchFamily="49" charset="0"/>
                <a:ea typeface="msgothic" charset="0"/>
                <a:cs typeface="msgothic" charset="0"/>
              </a:rPr>
              <a:t> </a:t>
            </a:r>
            <a:r>
              <a:rPr lang="en-GB" sz="1600" b="1" dirty="0" err="1">
                <a:latin typeface="Courier New" pitchFamily="49" charset="0"/>
                <a:ea typeface="msgothic" charset="0"/>
                <a:cs typeface="msgothic" charset="0"/>
              </a:rPr>
              <a:t>libtest.o</a:t>
            </a: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itchFamily="49" charset="0"/>
                <a:ea typeface="msgothic" charset="0"/>
                <a:cs typeface="msgothic" charset="0"/>
              </a:rPr>
              <a:t>libtest.o</a:t>
            </a:r>
            <a:r>
              <a:rPr lang="en-GB" sz="1600" b="1" dirty="0">
                <a:latin typeface="Courier New" pitchFamily="49" charset="0"/>
                <a:ea typeface="msgothic" charset="0"/>
                <a:cs typeface="msgothic" charset="0"/>
              </a:rPr>
              <a:t>: In function </a:t>
            </a:r>
            <a:r>
              <a:rPr lang="en-GB" sz="1600" dirty="0">
                <a:latin typeface="Courier New" pitchFamily="49" charset="0"/>
                <a:ea typeface="msgothic" charset="0"/>
                <a:cs typeface="msgothic" charset="0"/>
              </a:rPr>
              <a:t>'main</a:t>
            </a:r>
            <a:r>
              <a:rPr lang="en-GB" sz="1600" b="1" dirty="0">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latin typeface="Courier New" pitchFamily="49" charset="0"/>
                <a:ea typeface="msgothic" charset="0"/>
                <a:cs typeface="msgothic" charset="0"/>
              </a:rPr>
              <a:t>libtest.o</a:t>
            </a:r>
            <a:r>
              <a:rPr lang="en-GB" sz="1600" b="1" dirty="0">
                <a:latin typeface="Courier New" pitchFamily="49" charset="0"/>
                <a:ea typeface="msgothic" charset="0"/>
                <a:cs typeface="msgothic" charset="0"/>
              </a:rPr>
              <a:t>(.text+0x4): undefined reference to </a:t>
            </a:r>
            <a:r>
              <a:rPr lang="en-GB" sz="1600" dirty="0">
                <a:latin typeface="Courier New" pitchFamily="49" charset="0"/>
                <a:ea typeface="msgothic" charset="0"/>
                <a:cs typeface="msgothic" charset="0"/>
              </a:rPr>
              <a:t>'</a:t>
            </a:r>
            <a:r>
              <a:rPr lang="en-GB" sz="1600" dirty="0" err="1">
                <a:latin typeface="Courier New" pitchFamily="49" charset="0"/>
                <a:ea typeface="msgothic" charset="0"/>
                <a:cs typeface="msgothic" charset="0"/>
              </a:rPr>
              <a:t>libfun</a:t>
            </a:r>
            <a:r>
              <a:rPr lang="en-GB" sz="1600" b="1" dirty="0">
                <a:latin typeface="Courier New" pitchFamily="49" charset="0"/>
                <a:ea typeface="msgothic" charset="0"/>
                <a:cs typeface="msgothic" charset="0"/>
              </a:rPr>
              <a:t>' </a:t>
            </a:r>
          </a:p>
        </p:txBody>
      </p:sp>
    </p:spTree>
    <p:extLst>
      <p:ext uri="{BB962C8B-B14F-4D97-AF65-F5344CB8AC3E}">
        <p14:creationId xmlns:p14="http://schemas.microsoft.com/office/powerpoint/2010/main" val="3402105182"/>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
          <p:cNvSpPr>
            <a:spLocks noGrp="1" noChangeArrowheads="1"/>
          </p:cNvSpPr>
          <p:nvPr>
            <p:ph type="title" idx="4294967295"/>
          </p:nvPr>
        </p:nvSpPr>
        <p:spPr>
          <a:xfrm>
            <a:off x="350838" y="381000"/>
            <a:ext cx="8716962" cy="782638"/>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Modern Solution: Shared </a:t>
            </a:r>
            <a:r>
              <a:rPr lang="en-GB"/>
              <a:t>Libraries</a:t>
            </a:r>
          </a:p>
        </p:txBody>
      </p:sp>
      <p:sp>
        <p:nvSpPr>
          <p:cNvPr id="34818" name="Rectangle 2"/>
          <p:cNvSpPr>
            <a:spLocks noGrp="1" noChangeArrowheads="1"/>
          </p:cNvSpPr>
          <p:nvPr>
            <p:ph type="body" idx="1"/>
          </p:nvPr>
        </p:nvSpPr>
        <p:spPr>
          <a:xfrm>
            <a:off x="379413" y="1344613"/>
            <a:ext cx="8307387" cy="4979987"/>
          </a:xfrm>
          <a:ln/>
        </p:spPr>
        <p:txBody>
          <a:bodyPr/>
          <a:lstStyle/>
          <a:p>
            <a:pP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Static libraries have the following disadvantages:</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smtClean="0"/>
              <a:t>Duplication in the stored executables (every function needs </a:t>
            </a:r>
            <a:r>
              <a:rPr lang="en-GB" dirty="0" err="1" smtClean="0"/>
              <a:t>libc</a:t>
            </a:r>
            <a:r>
              <a:rPr lang="en-GB" dirty="0" smtClean="0"/>
              <a:t>)</a:t>
            </a:r>
            <a:endParaRPr lang="en-GB" dirty="0"/>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smtClean="0"/>
              <a:t>Duplication in the running executables</a:t>
            </a:r>
            <a:endParaRPr lang="en-GB" dirty="0"/>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Minor bug fixes of system libraries require each application to explicitly </a:t>
            </a:r>
            <a:r>
              <a:rPr lang="en-GB" dirty="0" smtClean="0"/>
              <a:t>relink </a:t>
            </a:r>
          </a:p>
          <a:p>
            <a:pPr lvl="2">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smtClean="0"/>
              <a:t>Rebuild everything with </a:t>
            </a:r>
            <a:r>
              <a:rPr lang="en-GB" dirty="0" err="1" smtClean="0"/>
              <a:t>glibc</a:t>
            </a:r>
            <a:r>
              <a:rPr lang="en-GB" dirty="0" smtClean="0"/>
              <a:t>?</a:t>
            </a:r>
          </a:p>
          <a:p>
            <a:pPr lvl="2">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smtClean="0">
                <a:hlinkClick r:id="rId3"/>
              </a:rPr>
              <a:t>https</a:t>
            </a:r>
            <a:r>
              <a:rPr lang="en-GB" dirty="0">
                <a:hlinkClick r:id="rId3"/>
              </a:rPr>
              <a:t>://</a:t>
            </a:r>
            <a:r>
              <a:rPr lang="en-GB" dirty="0" smtClean="0">
                <a:hlinkClick r:id="rId3"/>
              </a:rPr>
              <a:t>security.googleblog.com/2016/02/cve-2015-7547-glibc-getaddrinfo-stack.html</a:t>
            </a:r>
            <a:endParaRPr lang="en-GB" dirty="0" smtClean="0"/>
          </a:p>
          <a:p>
            <a:pPr marL="0" indent="0">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dirty="0" smtClean="0">
              <a:solidFill>
                <a:srgbClr val="000004"/>
              </a:solidFill>
            </a:endParaRPr>
          </a:p>
          <a:p>
            <a:pP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smtClean="0">
                <a:solidFill>
                  <a:srgbClr val="000004"/>
                </a:solidFill>
              </a:rPr>
              <a:t>Modern </a:t>
            </a:r>
            <a:r>
              <a:rPr lang="en-GB" dirty="0">
                <a:solidFill>
                  <a:srgbClr val="000004"/>
                </a:solidFill>
              </a:rPr>
              <a:t>s</a:t>
            </a:r>
            <a:r>
              <a:rPr lang="en-GB" dirty="0" smtClean="0">
                <a:solidFill>
                  <a:srgbClr val="000004"/>
                </a:solidFill>
              </a:rPr>
              <a:t>olution</a:t>
            </a:r>
            <a:r>
              <a:rPr lang="en-GB" dirty="0">
                <a:solidFill>
                  <a:srgbClr val="000004"/>
                </a:solidFill>
              </a:rPr>
              <a:t>: Shared Libraries </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Object files that contain code and data that are loaded and linked into an application </a:t>
            </a:r>
            <a:r>
              <a:rPr lang="en-GB" i="1" dirty="0"/>
              <a:t>dynamically, </a:t>
            </a:r>
            <a:r>
              <a:rPr lang="en-GB" dirty="0"/>
              <a:t>at either </a:t>
            </a:r>
            <a:r>
              <a:rPr lang="en-GB" i="1" dirty="0"/>
              <a:t>load-time</a:t>
            </a:r>
            <a:r>
              <a:rPr lang="en-GB" dirty="0"/>
              <a:t> or </a:t>
            </a:r>
            <a:r>
              <a:rPr lang="en-GB" i="1" dirty="0"/>
              <a:t>run-time</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dirty="0"/>
              <a:t>Also called: dynamic link libraries, DLLs, </a:t>
            </a:r>
            <a:r>
              <a:rPr lang="en-GB" dirty="0">
                <a:latin typeface="Courier New"/>
                <a:cs typeface="Courier New"/>
              </a:rPr>
              <a:t>.so </a:t>
            </a:r>
            <a:r>
              <a:rPr lang="en-GB" dirty="0"/>
              <a:t>files</a:t>
            </a:r>
          </a:p>
          <a:p>
            <a:pPr lvl="1">
              <a:buFont typeface="Wingdings" charset="2"/>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i="1" dirty="0"/>
          </a:p>
          <a:p>
            <a:pPr>
              <a:buFont typeface="Wingdings" charset="2"/>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i="1" dirty="0"/>
          </a:p>
        </p:txBody>
      </p:sp>
    </p:spTree>
    <p:extLst>
      <p:ext uri="{BB962C8B-B14F-4D97-AF65-F5344CB8AC3E}">
        <p14:creationId xmlns:p14="http://schemas.microsoft.com/office/powerpoint/2010/main" val="3872464651"/>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8">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18">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8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1"/>
          <p:cNvSpPr>
            <a:spLocks noGrp="1" noChangeArrowheads="1"/>
          </p:cNvSpPr>
          <p:nvPr>
            <p:ph type="title" idx="4294967295"/>
          </p:nvPr>
        </p:nvSpPr>
        <p:spPr>
          <a:xfrm>
            <a:off x="404813" y="436562"/>
            <a:ext cx="8716962" cy="782638"/>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Shared Libraries (</a:t>
            </a:r>
            <a:r>
              <a:rPr lang="en-GB" smtClean="0"/>
              <a:t>cont.)</a:t>
            </a:r>
            <a:endParaRPr lang="en-GB"/>
          </a:p>
        </p:txBody>
      </p:sp>
      <p:sp>
        <p:nvSpPr>
          <p:cNvPr id="35842" name="Rectangle 2"/>
          <p:cNvSpPr>
            <a:spLocks noGrp="1" noChangeArrowheads="1"/>
          </p:cNvSpPr>
          <p:nvPr>
            <p:ph type="body" idx="1"/>
          </p:nvPr>
        </p:nvSpPr>
        <p:spPr>
          <a:xfrm>
            <a:off x="396347" y="1295400"/>
            <a:ext cx="8307387" cy="5486400"/>
          </a:xfrm>
          <a:ln/>
        </p:spPr>
        <p:txBody>
          <a:bodyPr/>
          <a:lstStyle/>
          <a:p>
            <a:pPr>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Dynamic linking can occur when executable is first loaded and run (load-time linking).</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Common case for Linux, handled automatically by the dynamic linker (</a:t>
            </a:r>
            <a:r>
              <a:rPr lang="en-GB" b="1">
                <a:latin typeface="Courier New" pitchFamily="49" charset="0"/>
              </a:rPr>
              <a:t>ld-linux.so</a:t>
            </a:r>
            <a:r>
              <a:rPr lang="en-GB">
                <a:latin typeface="Courier New" pitchFamily="49" charset="0"/>
              </a:rPr>
              <a:t>)</a:t>
            </a:r>
            <a:r>
              <a:rPr lang="en-GB"/>
              <a:t>.</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Standard C library (</a:t>
            </a:r>
            <a:r>
              <a:rPr lang="en-GB" b="1" err="1">
                <a:latin typeface="Courier New" pitchFamily="49" charset="0"/>
              </a:rPr>
              <a:t>libc.so</a:t>
            </a:r>
            <a:r>
              <a:rPr lang="en-GB"/>
              <a:t>) usually dynamically linked. </a:t>
            </a:r>
          </a:p>
          <a:p>
            <a:pPr>
              <a:spcBef>
                <a:spcPts val="180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Dynamic linking can also occur after program has begun </a:t>
            </a:r>
            <a:r>
              <a:rPr lang="en-GB" smtClean="0"/>
              <a:t/>
            </a:r>
            <a:br>
              <a:rPr lang="en-GB" smtClean="0"/>
            </a:br>
            <a:r>
              <a:rPr lang="en-GB" smtClean="0"/>
              <a:t>(</a:t>
            </a:r>
            <a:r>
              <a:rPr lang="en-GB"/>
              <a:t>run-time linking).</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In</a:t>
            </a:r>
            <a:r>
              <a:rPr lang="en-GB" smtClean="0"/>
              <a:t> Linux, </a:t>
            </a:r>
            <a:r>
              <a:rPr lang="en-GB"/>
              <a:t>this is done by calls to the </a:t>
            </a:r>
            <a:r>
              <a:rPr lang="en-GB" b="1" err="1">
                <a:latin typeface="Courier New" pitchFamily="49" charset="0"/>
              </a:rPr>
              <a:t>dlopen</a:t>
            </a:r>
            <a:r>
              <a:rPr lang="en-GB" b="1">
                <a:latin typeface="Courier New" pitchFamily="49" charset="0"/>
              </a:rPr>
              <a:t>() </a:t>
            </a:r>
            <a:r>
              <a:rPr lang="en-GB"/>
              <a:t>interface</a:t>
            </a:r>
            <a:r>
              <a:rPr lang="en-GB">
                <a:latin typeface="Courier New" pitchFamily="49" charset="0"/>
              </a:rPr>
              <a:t>.</a:t>
            </a:r>
            <a:endParaRPr lang="en-GB" smtClean="0">
              <a:latin typeface="Courier New" pitchFamily="49" charset="0"/>
            </a:endParaRPr>
          </a:p>
          <a:p>
            <a:pPr lvl="2">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mtClean="0"/>
              <a:t>Distributing software.</a:t>
            </a:r>
          </a:p>
          <a:p>
            <a:pPr lvl="2">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smtClean="0"/>
              <a:t>High</a:t>
            </a:r>
            <a:r>
              <a:rPr lang="en-GB"/>
              <a:t>-performance web servers. </a:t>
            </a:r>
          </a:p>
          <a:p>
            <a:pPr lvl="2">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Runtime library </a:t>
            </a:r>
            <a:r>
              <a:rPr lang="en-GB" err="1" smtClean="0"/>
              <a:t>interpositioning</a:t>
            </a:r>
            <a:r>
              <a:rPr lang="en-GB" smtClean="0"/>
              <a:t>.</a:t>
            </a:r>
          </a:p>
          <a:p>
            <a:pPr>
              <a:spcBef>
                <a:spcPts val="180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Shared library routines can be shared by multiple processes.</a:t>
            </a:r>
          </a:p>
          <a:p>
            <a:pPr lvl="1">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t>More on this when we learn about virtual </a:t>
            </a:r>
            <a:r>
              <a:rPr lang="en-GB" smtClean="0"/>
              <a:t>memory</a:t>
            </a:r>
            <a:endParaRPr lang="en-GB"/>
          </a:p>
        </p:txBody>
      </p:sp>
    </p:spTree>
    <p:extLst>
      <p:ext uri="{BB962C8B-B14F-4D97-AF65-F5344CB8AC3E}">
        <p14:creationId xmlns:p14="http://schemas.microsoft.com/office/powerpoint/2010/main" val="2442389331"/>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842">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84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842">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842">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84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What dynamic libraries are required?</a:t>
            </a:r>
            <a:endParaRPr lang="en-US"/>
          </a:p>
        </p:txBody>
      </p:sp>
      <p:sp>
        <p:nvSpPr>
          <p:cNvPr id="3" name="Content Placeholder 2"/>
          <p:cNvSpPr>
            <a:spLocks noGrp="1"/>
          </p:cNvSpPr>
          <p:nvPr>
            <p:ph idx="1"/>
          </p:nvPr>
        </p:nvSpPr>
        <p:spPr/>
        <p:txBody>
          <a:bodyPr/>
          <a:lstStyle/>
          <a:p>
            <a:r>
              <a:rPr lang="en-US" dirty="0" smtClean="0"/>
              <a:t>.</a:t>
            </a:r>
            <a:r>
              <a:rPr lang="en-US" dirty="0" err="1" smtClean="0"/>
              <a:t>interp</a:t>
            </a:r>
            <a:r>
              <a:rPr lang="en-US" dirty="0" smtClean="0"/>
              <a:t> section</a:t>
            </a:r>
          </a:p>
          <a:p>
            <a:pPr lvl="1"/>
            <a:r>
              <a:rPr lang="en-US" dirty="0" smtClean="0"/>
              <a:t>Specifies the dynamic linker to use (i.e., </a:t>
            </a:r>
            <a:r>
              <a:rPr lang="en-GB" b="1" dirty="0" err="1">
                <a:latin typeface="Courier New" pitchFamily="49" charset="0"/>
              </a:rPr>
              <a:t>ld-linux.so</a:t>
            </a:r>
            <a:r>
              <a:rPr lang="en-US" dirty="0" smtClean="0"/>
              <a:t>)</a:t>
            </a:r>
          </a:p>
          <a:p>
            <a:r>
              <a:rPr lang="en-US" dirty="0" smtClean="0"/>
              <a:t>.dynamic section</a:t>
            </a:r>
          </a:p>
          <a:p>
            <a:pPr lvl="1"/>
            <a:r>
              <a:rPr lang="en-US" dirty="0" smtClean="0"/>
              <a:t>Specifies the names, </a:t>
            </a:r>
            <a:r>
              <a:rPr lang="en-US" dirty="0" err="1" smtClean="0"/>
              <a:t>etc</a:t>
            </a:r>
            <a:r>
              <a:rPr lang="en-US" dirty="0" smtClean="0"/>
              <a:t> of the dynamic libraries to use</a:t>
            </a:r>
          </a:p>
          <a:p>
            <a:pPr lvl="1"/>
            <a:r>
              <a:rPr lang="en-US" dirty="0" smtClean="0"/>
              <a:t>Follow an example of </a:t>
            </a:r>
            <a:r>
              <a:rPr lang="en-US" b="1" dirty="0" err="1" smtClean="0">
                <a:latin typeface="Courier New" charset="0"/>
                <a:ea typeface="Courier New" charset="0"/>
                <a:cs typeface="Courier New" charset="0"/>
              </a:rPr>
              <a:t>prog</a:t>
            </a:r>
            <a:endParaRPr lang="en-US" b="1" dirty="0" smtClean="0">
              <a:latin typeface="Courier New" charset="0"/>
              <a:ea typeface="Courier New" charset="0"/>
              <a:cs typeface="Courier New" charset="0"/>
            </a:endParaRPr>
          </a:p>
          <a:p>
            <a:pPr marL="457200" lvl="1" indent="0">
              <a:buNone/>
            </a:pPr>
            <a:r>
              <a:rPr lang="en-US" sz="1800" dirty="0">
                <a:latin typeface="Courier New" panose="02070309020205020404" pitchFamily="49" charset="0"/>
                <a:cs typeface="Courier New" panose="02070309020205020404" pitchFamily="49" charset="0"/>
              </a:rPr>
              <a:t>(NEEDED)             Shared library: [libm.so.6]</a:t>
            </a:r>
          </a:p>
          <a:p>
            <a:r>
              <a:rPr lang="en-US" dirty="0" smtClean="0"/>
              <a:t>Where are the libraries found?</a:t>
            </a:r>
          </a:p>
          <a:p>
            <a:pPr lvl="1"/>
            <a:r>
              <a:rPr lang="en-US" dirty="0" smtClean="0"/>
              <a:t>Use “</a:t>
            </a:r>
            <a:r>
              <a:rPr lang="en-US" b="1" dirty="0" err="1" smtClean="0">
                <a:latin typeface="Courier New"/>
                <a:cs typeface="Courier New"/>
              </a:rPr>
              <a:t>ldd</a:t>
            </a:r>
            <a:r>
              <a:rPr lang="en-US" dirty="0" smtClean="0"/>
              <a:t>” to find out:</a:t>
            </a:r>
            <a:endParaRPr lang="en-US" dirty="0"/>
          </a:p>
        </p:txBody>
      </p:sp>
      <p:sp>
        <p:nvSpPr>
          <p:cNvPr id="4" name="Rectangle 3"/>
          <p:cNvSpPr>
            <a:spLocks noChangeArrowheads="1"/>
          </p:cNvSpPr>
          <p:nvPr/>
        </p:nvSpPr>
        <p:spPr bwMode="auto">
          <a:xfrm>
            <a:off x="228600" y="5181600"/>
            <a:ext cx="8451650" cy="1020409"/>
          </a:xfrm>
          <a:prstGeom prst="rect">
            <a:avLst/>
          </a:prstGeom>
          <a:solidFill>
            <a:srgbClr val="E6E6E6"/>
          </a:solidFill>
          <a:ln w="648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smtClean="0">
                <a:latin typeface="Courier New" pitchFamily="49" charset="0"/>
                <a:ea typeface="msgothic" charset="0"/>
                <a:cs typeface="msgothic" charset="0"/>
              </a:rPr>
              <a:t>$ </a:t>
            </a:r>
            <a:r>
              <a:rPr lang="en-GB" sz="1600" dirty="0" err="1">
                <a:latin typeface="Courier New" pitchFamily="49" charset="0"/>
                <a:ea typeface="msgothic" charset="0"/>
                <a:cs typeface="msgothic" charset="0"/>
              </a:rPr>
              <a:t>ldd</a:t>
            </a:r>
            <a:r>
              <a:rPr lang="en-GB" sz="1600" dirty="0">
                <a:latin typeface="Courier New" pitchFamily="49" charset="0"/>
                <a:ea typeface="msgothic" charset="0"/>
                <a:cs typeface="msgothic" charset="0"/>
              </a:rPr>
              <a:t> </a:t>
            </a:r>
            <a:r>
              <a:rPr lang="en-GB" sz="1600" dirty="0" err="1" smtClean="0">
                <a:latin typeface="Courier New" pitchFamily="49" charset="0"/>
                <a:ea typeface="msgothic" charset="0"/>
                <a:cs typeface="msgothic" charset="0"/>
              </a:rPr>
              <a:t>prog</a:t>
            </a:r>
            <a:endParaRPr lang="en-GB" sz="1600" dirty="0">
              <a:latin typeface="Courier New" pitchFamily="49" charset="0"/>
              <a:ea typeface="msgothic" charset="0"/>
              <a:cs typeface="msgothic" charset="0"/>
            </a:endParaRP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1600" dirty="0">
                <a:latin typeface="Courier New" pitchFamily="49" charset="0"/>
                <a:ea typeface="msgothic" charset="0"/>
                <a:cs typeface="msgothic" charset="0"/>
              </a:rPr>
              <a:t> </a:t>
            </a:r>
            <a:r>
              <a:rPr lang="fr-FR" sz="1600" dirty="0" smtClean="0">
                <a:latin typeface="Courier New" pitchFamily="49" charset="0"/>
                <a:ea typeface="msgothic" charset="0"/>
                <a:cs typeface="msgothic" charset="0"/>
              </a:rPr>
              <a:t> linux</a:t>
            </a:r>
            <a:r>
              <a:rPr lang="fr-FR" sz="1600" dirty="0">
                <a:latin typeface="Courier New" pitchFamily="49" charset="0"/>
                <a:ea typeface="msgothic" charset="0"/>
                <a:cs typeface="msgothic" charset="0"/>
              </a:rPr>
              <a:t>-vdso.so.1 =&gt;  (</a:t>
            </a:r>
            <a:r>
              <a:rPr lang="fr-FR" sz="1600" dirty="0" smtClean="0">
                <a:latin typeface="Courier New" pitchFamily="49" charset="0"/>
                <a:ea typeface="msgothic" charset="0"/>
                <a:cs typeface="msgothic" charset="0"/>
              </a:rPr>
              <a:t>0x00007ffcf2998000)</a:t>
            </a:r>
            <a:endParaRPr lang="fr-FR" sz="1600" dirty="0">
              <a:latin typeface="Courier New" pitchFamily="49" charset="0"/>
              <a:ea typeface="msgothic" charset="0"/>
              <a:cs typeface="msgothic" charset="0"/>
            </a:endParaRP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1600" dirty="0" smtClean="0">
                <a:latin typeface="Courier New" pitchFamily="49" charset="0"/>
                <a:ea typeface="msgothic" charset="0"/>
                <a:cs typeface="msgothic" charset="0"/>
              </a:rPr>
              <a:t>  libc.so</a:t>
            </a:r>
            <a:r>
              <a:rPr lang="fr-FR" sz="1600" dirty="0">
                <a:latin typeface="Courier New" pitchFamily="49" charset="0"/>
                <a:ea typeface="msgothic" charset="0"/>
                <a:cs typeface="msgothic" charset="0"/>
              </a:rPr>
              <a:t>.6 =&gt; /lib/x86_64-linux-gnu/libc.so.6 (</a:t>
            </a:r>
            <a:r>
              <a:rPr lang="fr-FR" sz="1600" dirty="0" smtClean="0">
                <a:latin typeface="Courier New" pitchFamily="49" charset="0"/>
                <a:ea typeface="msgothic" charset="0"/>
                <a:cs typeface="msgothic" charset="0"/>
              </a:rPr>
              <a:t>0x00007f99ad927000)</a:t>
            </a:r>
            <a:endParaRPr lang="fr-FR" sz="1600" dirty="0">
              <a:latin typeface="Courier New" pitchFamily="49" charset="0"/>
              <a:ea typeface="msgothic" charset="0"/>
              <a:cs typeface="msgothic" charset="0"/>
            </a:endParaRP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fr-FR" sz="1600" dirty="0" smtClean="0">
                <a:latin typeface="Courier New" pitchFamily="49" charset="0"/>
                <a:ea typeface="msgothic" charset="0"/>
                <a:cs typeface="msgothic" charset="0"/>
              </a:rPr>
              <a:t>  /</a:t>
            </a:r>
            <a:r>
              <a:rPr lang="fr-FR" sz="1600" dirty="0">
                <a:latin typeface="Courier New" pitchFamily="49" charset="0"/>
                <a:ea typeface="msgothic" charset="0"/>
                <a:cs typeface="msgothic" charset="0"/>
              </a:rPr>
              <a:t>lib64/ld-linux-x86-64.so.2 (</a:t>
            </a:r>
            <a:r>
              <a:rPr lang="fr-FR" sz="1600" dirty="0" smtClean="0">
                <a:latin typeface="Courier New" pitchFamily="49" charset="0"/>
                <a:ea typeface="msgothic" charset="0"/>
                <a:cs typeface="msgothic" charset="0"/>
              </a:rPr>
              <a:t>0x00007f99adcef000)</a:t>
            </a:r>
            <a:endParaRPr lang="en-GB" sz="1600" b="1" dirty="0">
              <a:latin typeface="Courier New" pitchFamily="49" charset="0"/>
              <a:ea typeface="msgothic" charset="0"/>
              <a:cs typeface="msgothic" charset="0"/>
            </a:endParaRPr>
          </a:p>
        </p:txBody>
      </p:sp>
    </p:spTree>
    <p:extLst>
      <p:ext uri="{BB962C8B-B14F-4D97-AF65-F5344CB8AC3E}">
        <p14:creationId xmlns:p14="http://schemas.microsoft.com/office/powerpoint/2010/main" val="185987057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1"/>
          <p:cNvSpPr>
            <a:spLocks noGrp="1" noChangeArrowheads="1"/>
          </p:cNvSpPr>
          <p:nvPr>
            <p:ph type="title" idx="4294967295"/>
          </p:nvPr>
        </p:nvSpPr>
        <p:spPr>
          <a:xfrm>
            <a:off x="503238" y="436562"/>
            <a:ext cx="8716962" cy="782638"/>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smtClean="0"/>
              <a:t>Dynamic Library Example</a:t>
            </a:r>
            <a:endParaRPr lang="en-GB" dirty="0"/>
          </a:p>
        </p:txBody>
      </p:sp>
      <p:sp>
        <p:nvSpPr>
          <p:cNvPr id="29698" name="Line 2"/>
          <p:cNvSpPr>
            <a:spLocks noChangeShapeType="1"/>
          </p:cNvSpPr>
          <p:nvPr/>
        </p:nvSpPr>
        <p:spPr bwMode="auto">
          <a:xfrm>
            <a:off x="1295400" y="1919981"/>
            <a:ext cx="1588" cy="381000"/>
          </a:xfrm>
          <a:prstGeom prst="line">
            <a:avLst/>
          </a:prstGeom>
          <a:noFill/>
          <a:ln w="28440">
            <a:solidFill>
              <a:srgbClr val="000066"/>
            </a:solidFill>
            <a:miter lim="800000"/>
            <a:headEnd/>
            <a:tailEnd type="triangle" w="med" len="med"/>
          </a:ln>
          <a:effectLst/>
        </p:spPr>
        <p:txBody>
          <a:bodyPr/>
          <a:lstStyle/>
          <a:p>
            <a:endParaRPr lang="en-US"/>
          </a:p>
        </p:txBody>
      </p:sp>
      <p:sp>
        <p:nvSpPr>
          <p:cNvPr id="29699" name="Rectangle 3"/>
          <p:cNvSpPr>
            <a:spLocks noChangeArrowheads="1"/>
          </p:cNvSpPr>
          <p:nvPr/>
        </p:nvSpPr>
        <p:spPr bwMode="auto">
          <a:xfrm>
            <a:off x="609600" y="2289869"/>
            <a:ext cx="1371600" cy="360909"/>
          </a:xfrm>
          <a:prstGeom prst="rect">
            <a:avLst/>
          </a:prstGeom>
          <a:solidFill>
            <a:srgbClr val="DEDFF5"/>
          </a:solidFill>
          <a:ln w="284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alibri" pitchFamily="34" charset="0"/>
                <a:ea typeface="msgothic" charset="0"/>
                <a:cs typeface="msgothic" charset="0"/>
              </a:rPr>
              <a:t>Translator</a:t>
            </a:r>
          </a:p>
        </p:txBody>
      </p:sp>
      <p:sp>
        <p:nvSpPr>
          <p:cNvPr id="29700" name="Text Box 4"/>
          <p:cNvSpPr txBox="1">
            <a:spLocks noChangeArrowheads="1"/>
          </p:cNvSpPr>
          <p:nvPr/>
        </p:nvSpPr>
        <p:spPr bwMode="auto">
          <a:xfrm>
            <a:off x="771525" y="1615181"/>
            <a:ext cx="1284624" cy="359010"/>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dirty="0" err="1" smtClean="0">
                <a:latin typeface="Courier New" pitchFamily="49" charset="0"/>
                <a:ea typeface="msgothic" charset="0"/>
                <a:cs typeface="msgothic" charset="0"/>
              </a:rPr>
              <a:t>addvec</a:t>
            </a:r>
            <a:r>
              <a:rPr lang="en-GB" sz="1800" b="1" dirty="0" err="1" smtClean="0">
                <a:latin typeface="Courier New" pitchFamily="49" charset="0"/>
                <a:ea typeface="msgothic" charset="0"/>
                <a:cs typeface="msgothic" charset="0"/>
              </a:rPr>
              <a:t>.c</a:t>
            </a:r>
            <a:endParaRPr lang="en-GB" sz="1800" b="1" dirty="0">
              <a:latin typeface="Courier New" pitchFamily="49" charset="0"/>
              <a:ea typeface="msgothic" charset="0"/>
              <a:cs typeface="msgothic" charset="0"/>
            </a:endParaRPr>
          </a:p>
        </p:txBody>
      </p:sp>
      <p:sp>
        <p:nvSpPr>
          <p:cNvPr id="29701" name="Text Box 5"/>
          <p:cNvSpPr txBox="1">
            <a:spLocks noChangeArrowheads="1"/>
          </p:cNvSpPr>
          <p:nvPr/>
        </p:nvSpPr>
        <p:spPr bwMode="auto">
          <a:xfrm>
            <a:off x="609600" y="2971800"/>
            <a:ext cx="1284624" cy="359010"/>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err="1" smtClean="0">
                <a:latin typeface="Courier New" pitchFamily="49" charset="0"/>
                <a:ea typeface="msgothic" charset="0"/>
                <a:cs typeface="msgothic" charset="0"/>
              </a:rPr>
              <a:t>addvec.o</a:t>
            </a:r>
            <a:endParaRPr lang="en-GB" sz="1800" b="1" dirty="0">
              <a:latin typeface="Courier New" pitchFamily="49" charset="0"/>
              <a:ea typeface="msgothic" charset="0"/>
              <a:cs typeface="msgothic" charset="0"/>
            </a:endParaRPr>
          </a:p>
        </p:txBody>
      </p:sp>
      <p:sp>
        <p:nvSpPr>
          <p:cNvPr id="29702" name="Rectangle 6"/>
          <p:cNvSpPr>
            <a:spLocks noChangeArrowheads="1"/>
          </p:cNvSpPr>
          <p:nvPr/>
        </p:nvSpPr>
        <p:spPr bwMode="auto">
          <a:xfrm>
            <a:off x="2286000" y="2289869"/>
            <a:ext cx="1371600" cy="360909"/>
          </a:xfrm>
          <a:prstGeom prst="rect">
            <a:avLst/>
          </a:prstGeom>
          <a:solidFill>
            <a:schemeClr val="accent2">
              <a:lumMod val="20000"/>
              <a:lumOff val="80000"/>
            </a:schemeClr>
          </a:solidFill>
          <a:ln w="284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alibri" pitchFamily="34" charset="0"/>
                <a:ea typeface="msgothic" charset="0"/>
                <a:cs typeface="msgothic" charset="0"/>
              </a:rPr>
              <a:t>Translator</a:t>
            </a:r>
          </a:p>
        </p:txBody>
      </p:sp>
      <p:sp>
        <p:nvSpPr>
          <p:cNvPr id="29703" name="Text Box 7"/>
          <p:cNvSpPr txBox="1">
            <a:spLocks noChangeArrowheads="1"/>
          </p:cNvSpPr>
          <p:nvPr/>
        </p:nvSpPr>
        <p:spPr bwMode="auto">
          <a:xfrm>
            <a:off x="2297113" y="1615181"/>
            <a:ext cx="1422482" cy="359010"/>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err="1" smtClean="0">
                <a:latin typeface="Courier New" pitchFamily="49" charset="0"/>
                <a:ea typeface="msgothic" charset="0"/>
                <a:cs typeface="msgothic" charset="0"/>
              </a:rPr>
              <a:t>multvec.c</a:t>
            </a:r>
            <a:endParaRPr lang="en-GB" sz="1800" b="1" dirty="0">
              <a:latin typeface="Courier New" pitchFamily="49" charset="0"/>
              <a:ea typeface="msgothic" charset="0"/>
              <a:cs typeface="msgothic" charset="0"/>
            </a:endParaRPr>
          </a:p>
        </p:txBody>
      </p:sp>
      <p:sp>
        <p:nvSpPr>
          <p:cNvPr id="29704" name="Text Box 8"/>
          <p:cNvSpPr txBox="1">
            <a:spLocks noChangeArrowheads="1"/>
          </p:cNvSpPr>
          <p:nvPr/>
        </p:nvSpPr>
        <p:spPr bwMode="auto">
          <a:xfrm>
            <a:off x="2316163" y="2986781"/>
            <a:ext cx="1422482" cy="359010"/>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err="1" smtClean="0">
                <a:latin typeface="Courier New" pitchFamily="49" charset="0"/>
                <a:ea typeface="msgothic" charset="0"/>
                <a:cs typeface="msgothic" charset="0"/>
              </a:rPr>
              <a:t>multvec.o</a:t>
            </a:r>
            <a:endParaRPr lang="en-GB" sz="1800" b="1" dirty="0">
              <a:latin typeface="Courier New" pitchFamily="49" charset="0"/>
              <a:ea typeface="msgothic" charset="0"/>
              <a:cs typeface="msgothic" charset="0"/>
            </a:endParaRPr>
          </a:p>
        </p:txBody>
      </p:sp>
      <p:sp>
        <p:nvSpPr>
          <p:cNvPr id="29705" name="Line 9"/>
          <p:cNvSpPr>
            <a:spLocks noChangeShapeType="1"/>
          </p:cNvSpPr>
          <p:nvPr/>
        </p:nvSpPr>
        <p:spPr bwMode="auto">
          <a:xfrm>
            <a:off x="2971800" y="1919981"/>
            <a:ext cx="1588" cy="381000"/>
          </a:xfrm>
          <a:prstGeom prst="line">
            <a:avLst/>
          </a:prstGeom>
          <a:noFill/>
          <a:ln w="28440">
            <a:solidFill>
              <a:srgbClr val="000066"/>
            </a:solidFill>
            <a:miter lim="800000"/>
            <a:headEnd/>
            <a:tailEnd type="triangle" w="med" len="med"/>
          </a:ln>
          <a:effectLst/>
        </p:spPr>
        <p:txBody>
          <a:bodyPr/>
          <a:lstStyle/>
          <a:p>
            <a:endParaRPr lang="en-US"/>
          </a:p>
        </p:txBody>
      </p:sp>
      <p:sp>
        <p:nvSpPr>
          <p:cNvPr id="29706" name="Line 10"/>
          <p:cNvSpPr>
            <a:spLocks noChangeShapeType="1"/>
          </p:cNvSpPr>
          <p:nvPr/>
        </p:nvSpPr>
        <p:spPr bwMode="auto">
          <a:xfrm>
            <a:off x="1295400" y="2681981"/>
            <a:ext cx="1588" cy="381000"/>
          </a:xfrm>
          <a:prstGeom prst="line">
            <a:avLst/>
          </a:prstGeom>
          <a:noFill/>
          <a:ln w="28440">
            <a:solidFill>
              <a:srgbClr val="000066"/>
            </a:solidFill>
            <a:miter lim="800000"/>
            <a:headEnd/>
            <a:tailEnd type="triangle" w="med" len="med"/>
          </a:ln>
          <a:effectLst/>
        </p:spPr>
        <p:txBody>
          <a:bodyPr/>
          <a:lstStyle/>
          <a:p>
            <a:endParaRPr lang="en-US"/>
          </a:p>
        </p:txBody>
      </p:sp>
      <p:sp>
        <p:nvSpPr>
          <p:cNvPr id="29707" name="Line 11"/>
          <p:cNvSpPr>
            <a:spLocks noChangeShapeType="1"/>
          </p:cNvSpPr>
          <p:nvPr/>
        </p:nvSpPr>
        <p:spPr bwMode="auto">
          <a:xfrm>
            <a:off x="2971800" y="2681981"/>
            <a:ext cx="1588" cy="381000"/>
          </a:xfrm>
          <a:prstGeom prst="line">
            <a:avLst/>
          </a:prstGeom>
          <a:noFill/>
          <a:ln w="28440">
            <a:solidFill>
              <a:srgbClr val="000066"/>
            </a:solidFill>
            <a:miter lim="800000"/>
            <a:headEnd/>
            <a:tailEnd type="triangle" w="med" len="med"/>
          </a:ln>
          <a:effectLst/>
        </p:spPr>
        <p:txBody>
          <a:bodyPr/>
          <a:lstStyle/>
          <a:p>
            <a:endParaRPr lang="en-US"/>
          </a:p>
        </p:txBody>
      </p:sp>
      <p:sp>
        <p:nvSpPr>
          <p:cNvPr id="29708" name="Line 12"/>
          <p:cNvSpPr>
            <a:spLocks noChangeShapeType="1"/>
          </p:cNvSpPr>
          <p:nvPr/>
        </p:nvSpPr>
        <p:spPr bwMode="auto">
          <a:xfrm>
            <a:off x="2971800" y="3364606"/>
            <a:ext cx="1588" cy="471488"/>
          </a:xfrm>
          <a:prstGeom prst="line">
            <a:avLst/>
          </a:prstGeom>
          <a:noFill/>
          <a:ln w="28440">
            <a:solidFill>
              <a:srgbClr val="000066"/>
            </a:solidFill>
            <a:miter lim="800000"/>
            <a:headEnd/>
            <a:tailEnd type="triangle" w="med" len="med"/>
          </a:ln>
          <a:effectLst/>
        </p:spPr>
        <p:txBody>
          <a:bodyPr/>
          <a:lstStyle/>
          <a:p>
            <a:endParaRPr lang="en-US"/>
          </a:p>
        </p:txBody>
      </p:sp>
      <p:sp>
        <p:nvSpPr>
          <p:cNvPr id="29709" name="Text Box 13"/>
          <p:cNvSpPr txBox="1">
            <a:spLocks noChangeArrowheads="1"/>
          </p:cNvSpPr>
          <p:nvPr/>
        </p:nvSpPr>
        <p:spPr bwMode="auto">
          <a:xfrm>
            <a:off x="2071942" y="4724400"/>
            <a:ext cx="1836057" cy="359010"/>
          </a:xfrm>
          <a:prstGeom prst="rect">
            <a:avLst/>
          </a:prstGeom>
          <a:noFill/>
          <a:ln w="9525">
            <a:noFill/>
            <a:round/>
            <a:headEnd/>
            <a:tailEnd/>
          </a:ln>
          <a:effectLst/>
        </p:spPr>
        <p:txBody>
          <a:bodyPr wrap="none" lIns="90000" tIns="46800" rIns="90000" bIns="46800">
            <a:spAutoFit/>
          </a:bodyPr>
          <a:lstStyle/>
          <a:p>
            <a:pPr algn="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err="1" smtClean="0">
                <a:latin typeface="Courier New" pitchFamily="49" charset="0"/>
                <a:ea typeface="msgothic" charset="0"/>
                <a:cs typeface="msgothic" charset="0"/>
              </a:rPr>
              <a:t>libvector.so</a:t>
            </a:r>
            <a:endParaRPr lang="en-GB" sz="1800" b="1" dirty="0">
              <a:latin typeface="Courier New" pitchFamily="49" charset="0"/>
              <a:ea typeface="msgothic" charset="0"/>
              <a:cs typeface="msgothic" charset="0"/>
            </a:endParaRPr>
          </a:p>
        </p:txBody>
      </p:sp>
      <p:sp>
        <p:nvSpPr>
          <p:cNvPr id="29711" name="Rectangle 15"/>
          <p:cNvSpPr>
            <a:spLocks noChangeArrowheads="1"/>
          </p:cNvSpPr>
          <p:nvPr/>
        </p:nvSpPr>
        <p:spPr bwMode="auto">
          <a:xfrm>
            <a:off x="1828800" y="3810000"/>
            <a:ext cx="2971800" cy="360909"/>
          </a:xfrm>
          <a:prstGeom prst="rect">
            <a:avLst/>
          </a:prstGeom>
          <a:solidFill>
            <a:schemeClr val="accent2">
              <a:lumMod val="20000"/>
              <a:lumOff val="80000"/>
            </a:schemeClr>
          </a:solidFill>
          <a:ln w="284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smtClean="0">
                <a:latin typeface="Calibri" pitchFamily="34" charset="0"/>
                <a:ea typeface="msgothic" charset="0"/>
                <a:cs typeface="msgothic" charset="0"/>
              </a:rPr>
              <a:t>Loader (</a:t>
            </a:r>
            <a:r>
              <a:rPr lang="en-GB" sz="1800" b="1" dirty="0" err="1" smtClean="0">
                <a:latin typeface="Calibri" pitchFamily="34" charset="0"/>
                <a:ea typeface="msgothic" charset="0"/>
                <a:cs typeface="msgothic" charset="0"/>
              </a:rPr>
              <a:t>ld</a:t>
            </a:r>
            <a:r>
              <a:rPr lang="en-GB" sz="1800" b="1" dirty="0" smtClean="0">
                <a:latin typeface="Calibri" pitchFamily="34" charset="0"/>
                <a:ea typeface="msgothic" charset="0"/>
                <a:cs typeface="msgothic" charset="0"/>
              </a:rPr>
              <a:t>)</a:t>
            </a:r>
            <a:endParaRPr lang="en-GB" sz="1800" b="1" dirty="0">
              <a:latin typeface="Calibri" pitchFamily="34" charset="0"/>
              <a:ea typeface="msgothic" charset="0"/>
              <a:cs typeface="msgothic" charset="0"/>
            </a:endParaRPr>
          </a:p>
        </p:txBody>
      </p:sp>
      <p:sp>
        <p:nvSpPr>
          <p:cNvPr id="29718" name="Line 22"/>
          <p:cNvSpPr>
            <a:spLocks noChangeShapeType="1"/>
          </p:cNvSpPr>
          <p:nvPr/>
        </p:nvSpPr>
        <p:spPr bwMode="auto">
          <a:xfrm>
            <a:off x="1295400" y="3302694"/>
            <a:ext cx="1219200" cy="457200"/>
          </a:xfrm>
          <a:prstGeom prst="line">
            <a:avLst/>
          </a:prstGeom>
          <a:noFill/>
          <a:ln w="28440">
            <a:solidFill>
              <a:srgbClr val="000066"/>
            </a:solidFill>
            <a:miter lim="800000"/>
            <a:headEnd/>
            <a:tailEnd type="triangle" w="med" len="med"/>
          </a:ln>
          <a:effectLst/>
        </p:spPr>
        <p:txBody>
          <a:bodyPr/>
          <a:lstStyle/>
          <a:p>
            <a:endParaRPr lang="en-US"/>
          </a:p>
        </p:txBody>
      </p:sp>
      <p:sp>
        <p:nvSpPr>
          <p:cNvPr id="29719" name="Text Box 23"/>
          <p:cNvSpPr txBox="1">
            <a:spLocks noChangeArrowheads="1"/>
          </p:cNvSpPr>
          <p:nvPr/>
        </p:nvSpPr>
        <p:spPr bwMode="auto">
          <a:xfrm>
            <a:off x="3962400" y="3276600"/>
            <a:ext cx="3998808" cy="559872"/>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solidFill>
                  <a:srgbClr val="C00000"/>
                </a:solidFill>
                <a:latin typeface="Courier New" pitchFamily="49" charset="0"/>
                <a:ea typeface="msgothic" charset="0"/>
                <a:cs typeface="msgothic" charset="0"/>
              </a:rPr>
              <a:t>$</a:t>
            </a:r>
            <a:r>
              <a:rPr lang="en-GB" sz="1600" b="1" dirty="0" smtClean="0">
                <a:solidFill>
                  <a:srgbClr val="C00000"/>
                </a:solidFill>
                <a:latin typeface="Courier New" pitchFamily="49" charset="0"/>
                <a:ea typeface="msgothic" charset="0"/>
                <a:cs typeface="msgothic" charset="0"/>
              </a:rPr>
              <a:t> </a:t>
            </a:r>
            <a:r>
              <a:rPr lang="en-GB" sz="1600" dirty="0" err="1">
                <a:solidFill>
                  <a:srgbClr val="990000"/>
                </a:solidFill>
                <a:latin typeface="Courier New" pitchFamily="49" charset="0"/>
                <a:ea typeface="msgothic" charset="0"/>
                <a:cs typeface="msgothic" charset="0"/>
              </a:rPr>
              <a:t>gcc</a:t>
            </a:r>
            <a:r>
              <a:rPr lang="en-GB" sz="1600" dirty="0">
                <a:solidFill>
                  <a:srgbClr val="990000"/>
                </a:solidFill>
                <a:latin typeface="Courier New" pitchFamily="49" charset="0"/>
                <a:ea typeface="msgothic" charset="0"/>
                <a:cs typeface="msgothic" charset="0"/>
              </a:rPr>
              <a:t> -shared -o </a:t>
            </a:r>
            <a:r>
              <a:rPr lang="en-GB" sz="1600" dirty="0" err="1">
                <a:solidFill>
                  <a:srgbClr val="990000"/>
                </a:solidFill>
                <a:latin typeface="Courier New" pitchFamily="49" charset="0"/>
                <a:ea typeface="msgothic" charset="0"/>
                <a:cs typeface="msgothic" charset="0"/>
              </a:rPr>
              <a:t>libvector.so</a:t>
            </a:r>
            <a:r>
              <a:rPr lang="en-GB" sz="1600" dirty="0">
                <a:solidFill>
                  <a:srgbClr val="990000"/>
                </a:solidFill>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solidFill>
                  <a:srgbClr val="990000"/>
                </a:solidFill>
                <a:latin typeface="Courier New" pitchFamily="49" charset="0"/>
                <a:ea typeface="msgothic" charset="0"/>
                <a:cs typeface="msgothic" charset="0"/>
              </a:rPr>
              <a:t>     </a:t>
            </a:r>
            <a:r>
              <a:rPr lang="en-GB" sz="1600" dirty="0" err="1" smtClean="0">
                <a:solidFill>
                  <a:srgbClr val="990000"/>
                </a:solidFill>
                <a:latin typeface="Courier New" pitchFamily="49" charset="0"/>
                <a:ea typeface="msgothic" charset="0"/>
                <a:cs typeface="msgothic" charset="0"/>
              </a:rPr>
              <a:t>addvec.o</a:t>
            </a:r>
            <a:r>
              <a:rPr lang="en-GB" sz="1600" dirty="0" smtClean="0">
                <a:solidFill>
                  <a:srgbClr val="990000"/>
                </a:solidFill>
                <a:latin typeface="Courier New" pitchFamily="49" charset="0"/>
                <a:ea typeface="msgothic" charset="0"/>
                <a:cs typeface="msgothic" charset="0"/>
              </a:rPr>
              <a:t> </a:t>
            </a:r>
            <a:r>
              <a:rPr lang="en-GB" sz="1600" dirty="0" err="1" smtClean="0">
                <a:solidFill>
                  <a:srgbClr val="990000"/>
                </a:solidFill>
                <a:latin typeface="Courier New" pitchFamily="49" charset="0"/>
                <a:ea typeface="msgothic" charset="0"/>
                <a:cs typeface="msgothic" charset="0"/>
              </a:rPr>
              <a:t>multvec.o</a:t>
            </a:r>
            <a:endParaRPr lang="en-GB" sz="1600" dirty="0">
              <a:solidFill>
                <a:srgbClr val="990000"/>
              </a:solidFill>
              <a:latin typeface="Courier New" pitchFamily="49" charset="0"/>
              <a:ea typeface="msgothic" charset="0"/>
              <a:cs typeface="msgothic" charset="0"/>
            </a:endParaRPr>
          </a:p>
        </p:txBody>
      </p:sp>
      <p:sp>
        <p:nvSpPr>
          <p:cNvPr id="29720" name="Line 24"/>
          <p:cNvSpPr>
            <a:spLocks noChangeShapeType="1"/>
          </p:cNvSpPr>
          <p:nvPr/>
        </p:nvSpPr>
        <p:spPr bwMode="auto">
          <a:xfrm>
            <a:off x="2971800" y="4279006"/>
            <a:ext cx="1588" cy="457200"/>
          </a:xfrm>
          <a:prstGeom prst="line">
            <a:avLst/>
          </a:prstGeom>
          <a:noFill/>
          <a:ln w="28440">
            <a:solidFill>
              <a:srgbClr val="000066"/>
            </a:solidFill>
            <a:miter lim="800000"/>
            <a:headEnd/>
            <a:tailEnd type="triangle" w="med" len="med"/>
          </a:ln>
          <a:effectLst/>
        </p:spPr>
        <p:txBody>
          <a:bodyPr/>
          <a:lstStyle/>
          <a:p>
            <a:endParaRPr lang="en-US"/>
          </a:p>
        </p:txBody>
      </p:sp>
      <p:sp>
        <p:nvSpPr>
          <p:cNvPr id="29722" name="Text Box 26"/>
          <p:cNvSpPr txBox="1">
            <a:spLocks noChangeArrowheads="1"/>
          </p:cNvSpPr>
          <p:nvPr/>
        </p:nvSpPr>
        <p:spPr bwMode="auto">
          <a:xfrm>
            <a:off x="4343400" y="4648200"/>
            <a:ext cx="2971800" cy="365999"/>
          </a:xfrm>
          <a:prstGeom prst="rect">
            <a:avLst/>
          </a:prstGeom>
          <a:noFill/>
          <a:ln w="9525">
            <a:noFill/>
            <a:round/>
            <a:headEnd/>
            <a:tailEnd/>
          </a:ln>
          <a:effectLst/>
        </p:spPr>
        <p:txBody>
          <a:bodyPr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i="1" dirty="0" smtClean="0">
                <a:solidFill>
                  <a:srgbClr val="C00000"/>
                </a:solidFill>
                <a:latin typeface="Calibri" pitchFamily="34" charset="0"/>
                <a:ea typeface="msgothic" charset="0"/>
                <a:cs typeface="msgothic" charset="0"/>
              </a:rPr>
              <a:t>Dynamic v</a:t>
            </a:r>
            <a:r>
              <a:rPr lang="en-GB" sz="1800" b="1" i="1" dirty="0" smtClean="0">
                <a:solidFill>
                  <a:srgbClr val="C00000"/>
                </a:solidFill>
                <a:latin typeface="Calibri" pitchFamily="34" charset="0"/>
                <a:ea typeface="msgothic" charset="0"/>
                <a:cs typeface="msgothic" charset="0"/>
              </a:rPr>
              <a:t>ector library</a:t>
            </a:r>
            <a:endParaRPr lang="en-GB" sz="1800" b="1" i="1" dirty="0">
              <a:solidFill>
                <a:srgbClr val="C00000"/>
              </a:solidFill>
              <a:latin typeface="Calibri" pitchFamily="34" charset="0"/>
              <a:ea typeface="msgothic" charset="0"/>
              <a:cs typeface="msgothic" charset="0"/>
            </a:endParaRPr>
          </a:p>
        </p:txBody>
      </p:sp>
      <p:sp>
        <p:nvSpPr>
          <p:cNvPr id="2" name="Rectangle 1"/>
          <p:cNvSpPr/>
          <p:nvPr/>
        </p:nvSpPr>
        <p:spPr>
          <a:xfrm>
            <a:off x="3738644" y="1905000"/>
            <a:ext cx="5329155" cy="352725"/>
          </a:xfrm>
          <a:prstGeom prst="rect">
            <a:avLst/>
          </a:prstGeom>
        </p:spPr>
        <p:txBody>
          <a:bodyPr wrap="square">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dirty="0" smtClean="0">
                <a:solidFill>
                  <a:srgbClr val="C00000"/>
                </a:solidFill>
                <a:latin typeface="Courier New" pitchFamily="49" charset="0"/>
                <a:ea typeface="msgothic" charset="0"/>
                <a:cs typeface="msgothic" charset="0"/>
              </a:rPr>
              <a:t>$ </a:t>
            </a:r>
            <a:r>
              <a:rPr lang="en-GB" sz="1800" dirty="0" err="1" smtClean="0">
                <a:solidFill>
                  <a:srgbClr val="C00000"/>
                </a:solidFill>
                <a:latin typeface="Courier New" pitchFamily="49" charset="0"/>
                <a:ea typeface="msgothic" charset="0"/>
                <a:cs typeface="msgothic" charset="0"/>
              </a:rPr>
              <a:t>gcc</a:t>
            </a:r>
            <a:r>
              <a:rPr lang="en-GB" sz="1800" dirty="0" smtClean="0">
                <a:solidFill>
                  <a:srgbClr val="C00000"/>
                </a:solidFill>
                <a:latin typeface="Courier New" pitchFamily="49" charset="0"/>
                <a:ea typeface="msgothic" charset="0"/>
                <a:cs typeface="msgothic" charset="0"/>
              </a:rPr>
              <a:t> </a:t>
            </a:r>
            <a:r>
              <a:rPr lang="mr-IN" sz="1800" dirty="0" smtClean="0">
                <a:solidFill>
                  <a:srgbClr val="C00000"/>
                </a:solidFill>
                <a:latin typeface="Courier New" pitchFamily="49" charset="0"/>
                <a:ea typeface="msgothic" charset="0"/>
                <a:cs typeface="msgothic" charset="0"/>
              </a:rPr>
              <a:t>–</a:t>
            </a:r>
            <a:r>
              <a:rPr lang="en-GB" sz="1800" dirty="0" err="1" smtClean="0">
                <a:solidFill>
                  <a:srgbClr val="C00000"/>
                </a:solidFill>
                <a:latin typeface="Courier New" pitchFamily="49" charset="0"/>
                <a:ea typeface="msgothic" charset="0"/>
                <a:cs typeface="msgothic" charset="0"/>
              </a:rPr>
              <a:t>Og</a:t>
            </a:r>
            <a:r>
              <a:rPr lang="en-GB" sz="1800" dirty="0" smtClean="0">
                <a:solidFill>
                  <a:srgbClr val="C00000"/>
                </a:solidFill>
                <a:latin typeface="Courier New" pitchFamily="49" charset="0"/>
                <a:ea typeface="msgothic" charset="0"/>
                <a:cs typeface="msgothic" charset="0"/>
              </a:rPr>
              <a:t> </a:t>
            </a:r>
            <a:r>
              <a:rPr lang="mr-IN" sz="1800" dirty="0" smtClean="0">
                <a:solidFill>
                  <a:srgbClr val="C00000"/>
                </a:solidFill>
                <a:latin typeface="Courier New" pitchFamily="49" charset="0"/>
                <a:ea typeface="msgothic" charset="0"/>
                <a:cs typeface="msgothic" charset="0"/>
              </a:rPr>
              <a:t>–</a:t>
            </a:r>
            <a:r>
              <a:rPr lang="en-GB" sz="1800" dirty="0" smtClean="0">
                <a:solidFill>
                  <a:srgbClr val="C00000"/>
                </a:solidFill>
                <a:latin typeface="Courier New" pitchFamily="49" charset="0"/>
                <a:ea typeface="msgothic" charset="0"/>
                <a:cs typeface="msgothic" charset="0"/>
              </a:rPr>
              <a:t>c </a:t>
            </a:r>
            <a:r>
              <a:rPr lang="en-GB" sz="1800" dirty="0" err="1" smtClean="0">
                <a:solidFill>
                  <a:srgbClr val="C00000"/>
                </a:solidFill>
                <a:latin typeface="Courier New" pitchFamily="49" charset="0"/>
                <a:ea typeface="msgothic" charset="0"/>
                <a:cs typeface="msgothic" charset="0"/>
              </a:rPr>
              <a:t>addvec.c</a:t>
            </a:r>
            <a:r>
              <a:rPr lang="en-GB" sz="1800" dirty="0" smtClean="0">
                <a:solidFill>
                  <a:srgbClr val="C00000"/>
                </a:solidFill>
                <a:latin typeface="Courier New" pitchFamily="49" charset="0"/>
                <a:ea typeface="msgothic" charset="0"/>
                <a:cs typeface="msgothic" charset="0"/>
              </a:rPr>
              <a:t> </a:t>
            </a:r>
            <a:r>
              <a:rPr lang="en-GB" sz="1800" dirty="0" err="1" smtClean="0">
                <a:solidFill>
                  <a:srgbClr val="C00000"/>
                </a:solidFill>
                <a:latin typeface="Courier New" pitchFamily="49" charset="0"/>
                <a:ea typeface="msgothic" charset="0"/>
                <a:cs typeface="msgothic" charset="0"/>
              </a:rPr>
              <a:t>multvec.c</a:t>
            </a:r>
            <a:r>
              <a:rPr lang="en-GB" sz="1800" dirty="0" smtClean="0">
                <a:solidFill>
                  <a:srgbClr val="C00000"/>
                </a:solidFill>
                <a:latin typeface="Courier New" pitchFamily="49" charset="0"/>
                <a:ea typeface="msgothic" charset="0"/>
                <a:cs typeface="msgothic" charset="0"/>
              </a:rPr>
              <a:t> -</a:t>
            </a:r>
            <a:r>
              <a:rPr lang="en-GB" sz="1800" dirty="0" err="1" smtClean="0">
                <a:solidFill>
                  <a:srgbClr val="C00000"/>
                </a:solidFill>
                <a:latin typeface="Courier New" pitchFamily="49" charset="0"/>
                <a:ea typeface="msgothic" charset="0"/>
                <a:cs typeface="msgothic" charset="0"/>
              </a:rPr>
              <a:t>fpic</a:t>
            </a:r>
            <a:endParaRPr lang="en-GB" sz="1800" dirty="0">
              <a:solidFill>
                <a:srgbClr val="C00000"/>
              </a:solidFill>
              <a:latin typeface="Courier New" pitchFamily="49" charset="0"/>
              <a:ea typeface="msgothic" charset="0"/>
              <a:cs typeface="msgothic" charset="0"/>
            </a:endParaRPr>
          </a:p>
        </p:txBody>
      </p:sp>
    </p:spTree>
    <p:extLst>
      <p:ext uri="{BB962C8B-B14F-4D97-AF65-F5344CB8AC3E}">
        <p14:creationId xmlns:p14="http://schemas.microsoft.com/office/powerpoint/2010/main" val="1910792834"/>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1"/>
          <p:cNvSpPr>
            <a:spLocks noGrp="1" noChangeArrowheads="1"/>
          </p:cNvSpPr>
          <p:nvPr>
            <p:ph type="title" idx="4294967295"/>
          </p:nvPr>
        </p:nvSpPr>
        <p:spPr>
          <a:xfrm>
            <a:off x="350838" y="285750"/>
            <a:ext cx="8716962" cy="781050"/>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Dynamic Linking at Load-time</a:t>
            </a:r>
          </a:p>
        </p:txBody>
      </p:sp>
      <p:sp>
        <p:nvSpPr>
          <p:cNvPr id="36866" name="Line 2"/>
          <p:cNvSpPr>
            <a:spLocks noChangeShapeType="1"/>
          </p:cNvSpPr>
          <p:nvPr/>
        </p:nvSpPr>
        <p:spPr bwMode="auto">
          <a:xfrm>
            <a:off x="2620963" y="1247500"/>
            <a:ext cx="1587" cy="381000"/>
          </a:xfrm>
          <a:prstGeom prst="line">
            <a:avLst/>
          </a:prstGeom>
          <a:noFill/>
          <a:ln w="3240">
            <a:solidFill>
              <a:srgbClr val="000066"/>
            </a:solidFill>
            <a:miter lim="800000"/>
            <a:headEnd/>
            <a:tailEnd type="triangle" w="med" len="med"/>
          </a:ln>
          <a:effectLst/>
        </p:spPr>
        <p:txBody>
          <a:bodyPr/>
          <a:lstStyle/>
          <a:p>
            <a:endParaRPr lang="en-US"/>
          </a:p>
        </p:txBody>
      </p:sp>
      <p:sp>
        <p:nvSpPr>
          <p:cNvPr id="36867" name="Rectangle 3"/>
          <p:cNvSpPr>
            <a:spLocks noChangeArrowheads="1"/>
          </p:cNvSpPr>
          <p:nvPr/>
        </p:nvSpPr>
        <p:spPr bwMode="auto">
          <a:xfrm>
            <a:off x="2454275" y="1657075"/>
            <a:ext cx="1676400" cy="574675"/>
          </a:xfrm>
          <a:prstGeom prst="rect">
            <a:avLst/>
          </a:prstGeom>
          <a:solidFill>
            <a:schemeClr val="accent2">
              <a:lumMod val="20000"/>
              <a:lumOff val="80000"/>
            </a:schemeClr>
          </a:solidFill>
          <a:ln w="32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Translators </a:t>
            </a:r>
            <a:endParaRPr lang="en-GB" sz="1600" b="1" smtClean="0">
              <a:latin typeface="Calibri" pitchFamily="34" charset="0"/>
              <a:ea typeface="msgothic" charset="0"/>
              <a:cs typeface="msgothic" charset="0"/>
            </a:endParaRP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smtClean="0">
                <a:latin typeface="Calibri" pitchFamily="34" charset="0"/>
                <a:ea typeface="msgothic" charset="0"/>
                <a:cs typeface="msgothic" charset="0"/>
              </a:rPr>
              <a:t>(</a:t>
            </a:r>
            <a:r>
              <a:rPr lang="en-GB" sz="1600" b="1" err="1">
                <a:latin typeface="Courier New" pitchFamily="49" charset="0"/>
                <a:ea typeface="msgothic" charset="0"/>
                <a:cs typeface="msgothic" charset="0"/>
              </a:rPr>
              <a:t>cpp</a:t>
            </a:r>
            <a:r>
              <a:rPr lang="en-GB" sz="1600" b="1">
                <a:latin typeface="Calibri" pitchFamily="34" charset="0"/>
                <a:ea typeface="msgothic" charset="0"/>
                <a:cs typeface="msgothic" charset="0"/>
              </a:rPr>
              <a:t>, </a:t>
            </a:r>
            <a:r>
              <a:rPr lang="en-GB" sz="1600" b="1">
                <a:latin typeface="Courier New" pitchFamily="49" charset="0"/>
                <a:ea typeface="msgothic" charset="0"/>
                <a:cs typeface="msgothic" charset="0"/>
              </a:rPr>
              <a:t>cc1</a:t>
            </a:r>
            <a:r>
              <a:rPr lang="en-GB" sz="1600" b="1">
                <a:latin typeface="Calibri" pitchFamily="34" charset="0"/>
                <a:ea typeface="msgothic" charset="0"/>
                <a:cs typeface="msgothic" charset="0"/>
              </a:rPr>
              <a:t>, </a:t>
            </a:r>
            <a:r>
              <a:rPr lang="en-GB" sz="1600" b="1">
                <a:latin typeface="Courier New" pitchFamily="49" charset="0"/>
                <a:ea typeface="msgothic" charset="0"/>
                <a:cs typeface="msgothic" charset="0"/>
              </a:rPr>
              <a:t>as</a:t>
            </a:r>
            <a:r>
              <a:rPr lang="en-GB" sz="1600" b="1">
                <a:latin typeface="Calibri" pitchFamily="34" charset="0"/>
                <a:ea typeface="msgothic" charset="0"/>
                <a:cs typeface="msgothic" charset="0"/>
              </a:rPr>
              <a:t>)</a:t>
            </a:r>
          </a:p>
        </p:txBody>
      </p:sp>
      <p:sp>
        <p:nvSpPr>
          <p:cNvPr id="36868" name="Text Box 4"/>
          <p:cNvSpPr txBox="1">
            <a:spLocks noChangeArrowheads="1"/>
          </p:cNvSpPr>
          <p:nvPr/>
        </p:nvSpPr>
        <p:spPr bwMode="auto">
          <a:xfrm>
            <a:off x="2081213" y="1010963"/>
            <a:ext cx="1045777" cy="329643"/>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main2.c</a:t>
            </a:r>
          </a:p>
        </p:txBody>
      </p:sp>
      <p:sp>
        <p:nvSpPr>
          <p:cNvPr id="36869" name="Text Box 5"/>
          <p:cNvSpPr txBox="1">
            <a:spLocks noChangeArrowheads="1"/>
          </p:cNvSpPr>
          <p:nvPr/>
        </p:nvSpPr>
        <p:spPr bwMode="auto">
          <a:xfrm>
            <a:off x="2757488" y="2568300"/>
            <a:ext cx="1045777" cy="329643"/>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main2.o</a:t>
            </a:r>
          </a:p>
        </p:txBody>
      </p:sp>
      <p:sp>
        <p:nvSpPr>
          <p:cNvPr id="36870" name="Line 6"/>
          <p:cNvSpPr>
            <a:spLocks noChangeShapeType="1"/>
          </p:cNvSpPr>
          <p:nvPr/>
        </p:nvSpPr>
        <p:spPr bwMode="auto">
          <a:xfrm>
            <a:off x="3292475" y="2238100"/>
            <a:ext cx="1588" cy="381000"/>
          </a:xfrm>
          <a:prstGeom prst="line">
            <a:avLst/>
          </a:prstGeom>
          <a:noFill/>
          <a:ln w="3240">
            <a:solidFill>
              <a:srgbClr val="000066"/>
            </a:solidFill>
            <a:miter lim="800000"/>
            <a:headEnd/>
            <a:tailEnd type="triangle" w="med" len="med"/>
          </a:ln>
          <a:effectLst/>
        </p:spPr>
        <p:txBody>
          <a:bodyPr/>
          <a:lstStyle/>
          <a:p>
            <a:endParaRPr lang="en-US"/>
          </a:p>
        </p:txBody>
      </p:sp>
      <p:sp>
        <p:nvSpPr>
          <p:cNvPr id="36871" name="Text Box 7"/>
          <p:cNvSpPr txBox="1">
            <a:spLocks noChangeArrowheads="1"/>
          </p:cNvSpPr>
          <p:nvPr/>
        </p:nvSpPr>
        <p:spPr bwMode="auto">
          <a:xfrm>
            <a:off x="4359275" y="1949175"/>
            <a:ext cx="1662934" cy="561117"/>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libc.so</a:t>
            </a:r>
          </a:p>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libvector.so</a:t>
            </a:r>
          </a:p>
        </p:txBody>
      </p:sp>
      <p:sp>
        <p:nvSpPr>
          <p:cNvPr id="36872" name="Rectangle 8"/>
          <p:cNvSpPr>
            <a:spLocks noChangeArrowheads="1"/>
          </p:cNvSpPr>
          <p:nvPr/>
        </p:nvSpPr>
        <p:spPr bwMode="auto">
          <a:xfrm>
            <a:off x="2454275" y="3225525"/>
            <a:ext cx="3028950" cy="341313"/>
          </a:xfrm>
          <a:prstGeom prst="rect">
            <a:avLst/>
          </a:prstGeom>
          <a:solidFill>
            <a:schemeClr val="accent2">
              <a:lumMod val="20000"/>
              <a:lumOff val="80000"/>
            </a:schemeClr>
          </a:solidFill>
          <a:ln w="32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Linker (</a:t>
            </a:r>
            <a:r>
              <a:rPr lang="en-GB" sz="1600" b="1">
                <a:latin typeface="Courier New" pitchFamily="49" charset="0"/>
                <a:ea typeface="msgothic" charset="0"/>
                <a:cs typeface="msgothic" charset="0"/>
              </a:rPr>
              <a:t>ld</a:t>
            </a:r>
            <a:r>
              <a:rPr lang="en-GB" sz="1600" b="1">
                <a:latin typeface="Calibri" pitchFamily="34" charset="0"/>
                <a:ea typeface="msgothic" charset="0"/>
                <a:cs typeface="msgothic" charset="0"/>
              </a:rPr>
              <a:t>)</a:t>
            </a:r>
          </a:p>
        </p:txBody>
      </p:sp>
      <p:sp>
        <p:nvSpPr>
          <p:cNvPr id="36873" name="Text Box 9"/>
          <p:cNvSpPr txBox="1">
            <a:spLocks noChangeArrowheads="1"/>
          </p:cNvSpPr>
          <p:nvPr/>
        </p:nvSpPr>
        <p:spPr bwMode="auto">
          <a:xfrm>
            <a:off x="2795691" y="3974825"/>
            <a:ext cx="920542" cy="328424"/>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smtClean="0">
                <a:latin typeface="Courier New" pitchFamily="49" charset="0"/>
                <a:ea typeface="msgothic" charset="0"/>
                <a:cs typeface="msgothic" charset="0"/>
              </a:rPr>
              <a:t>prog2l</a:t>
            </a:r>
            <a:endParaRPr lang="en-GB" sz="1600" b="1">
              <a:latin typeface="Courier New" pitchFamily="49" charset="0"/>
              <a:ea typeface="msgothic" charset="0"/>
              <a:cs typeface="msgothic" charset="0"/>
            </a:endParaRPr>
          </a:p>
        </p:txBody>
      </p:sp>
      <p:sp>
        <p:nvSpPr>
          <p:cNvPr id="36874" name="Line 10"/>
          <p:cNvSpPr>
            <a:spLocks noChangeShapeType="1"/>
          </p:cNvSpPr>
          <p:nvPr/>
        </p:nvSpPr>
        <p:spPr bwMode="auto">
          <a:xfrm>
            <a:off x="3292475" y="3609700"/>
            <a:ext cx="1588" cy="381000"/>
          </a:xfrm>
          <a:prstGeom prst="line">
            <a:avLst/>
          </a:prstGeom>
          <a:noFill/>
          <a:ln w="3240">
            <a:solidFill>
              <a:srgbClr val="000066"/>
            </a:solidFill>
            <a:miter lim="800000"/>
            <a:headEnd/>
            <a:tailEnd type="triangle" w="med" len="med"/>
          </a:ln>
          <a:effectLst/>
        </p:spPr>
        <p:txBody>
          <a:bodyPr/>
          <a:lstStyle/>
          <a:p>
            <a:endParaRPr lang="en-US"/>
          </a:p>
        </p:txBody>
      </p:sp>
      <p:sp>
        <p:nvSpPr>
          <p:cNvPr id="36875" name="Line 11"/>
          <p:cNvSpPr>
            <a:spLocks noChangeShapeType="1"/>
          </p:cNvSpPr>
          <p:nvPr/>
        </p:nvSpPr>
        <p:spPr bwMode="auto">
          <a:xfrm>
            <a:off x="3292475" y="4295500"/>
            <a:ext cx="1588" cy="457200"/>
          </a:xfrm>
          <a:prstGeom prst="line">
            <a:avLst/>
          </a:prstGeom>
          <a:noFill/>
          <a:ln w="3240">
            <a:solidFill>
              <a:srgbClr val="000066"/>
            </a:solidFill>
            <a:miter lim="800000"/>
            <a:headEnd/>
            <a:tailEnd type="triangle" w="med" len="med"/>
          </a:ln>
          <a:effectLst/>
        </p:spPr>
        <p:txBody>
          <a:bodyPr/>
          <a:lstStyle/>
          <a:p>
            <a:endParaRPr lang="en-US"/>
          </a:p>
        </p:txBody>
      </p:sp>
      <p:sp>
        <p:nvSpPr>
          <p:cNvPr id="36876" name="Rectangle 12"/>
          <p:cNvSpPr>
            <a:spLocks noChangeArrowheads="1"/>
          </p:cNvSpPr>
          <p:nvPr/>
        </p:nvSpPr>
        <p:spPr bwMode="auto">
          <a:xfrm>
            <a:off x="2454275" y="6124300"/>
            <a:ext cx="3200400" cy="341313"/>
          </a:xfrm>
          <a:prstGeom prst="rect">
            <a:avLst/>
          </a:prstGeom>
          <a:solidFill>
            <a:schemeClr val="accent2">
              <a:lumMod val="20000"/>
              <a:lumOff val="80000"/>
            </a:schemeClr>
          </a:solidFill>
          <a:ln w="32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Dynamic linker (</a:t>
            </a:r>
            <a:r>
              <a:rPr lang="en-GB" sz="1600" b="1">
                <a:latin typeface="Courier New" pitchFamily="49" charset="0"/>
                <a:ea typeface="msgothic" charset="0"/>
                <a:cs typeface="msgothic" charset="0"/>
              </a:rPr>
              <a:t>ld-linux.so</a:t>
            </a:r>
            <a:r>
              <a:rPr lang="en-GB" sz="1600" b="1">
                <a:latin typeface="Calibri" pitchFamily="34" charset="0"/>
                <a:ea typeface="msgothic" charset="0"/>
                <a:cs typeface="msgothic" charset="0"/>
              </a:rPr>
              <a:t>)</a:t>
            </a:r>
          </a:p>
        </p:txBody>
      </p:sp>
      <p:sp>
        <p:nvSpPr>
          <p:cNvPr id="36877" name="Line 13"/>
          <p:cNvSpPr>
            <a:spLocks noChangeShapeType="1"/>
          </p:cNvSpPr>
          <p:nvPr/>
        </p:nvSpPr>
        <p:spPr bwMode="auto">
          <a:xfrm>
            <a:off x="3292475" y="5133700"/>
            <a:ext cx="1588" cy="990600"/>
          </a:xfrm>
          <a:prstGeom prst="line">
            <a:avLst/>
          </a:prstGeom>
          <a:noFill/>
          <a:ln w="3240">
            <a:solidFill>
              <a:srgbClr val="000066"/>
            </a:solidFill>
            <a:miter lim="800000"/>
            <a:headEnd/>
            <a:tailEnd type="triangle" w="med" len="med"/>
          </a:ln>
          <a:effectLst/>
        </p:spPr>
        <p:txBody>
          <a:bodyPr/>
          <a:lstStyle/>
          <a:p>
            <a:endParaRPr lang="en-US"/>
          </a:p>
        </p:txBody>
      </p:sp>
      <p:sp>
        <p:nvSpPr>
          <p:cNvPr id="36878" name="Line 14"/>
          <p:cNvSpPr>
            <a:spLocks noChangeShapeType="1"/>
          </p:cNvSpPr>
          <p:nvPr/>
        </p:nvSpPr>
        <p:spPr bwMode="auto">
          <a:xfrm>
            <a:off x="3292475" y="2847700"/>
            <a:ext cx="1588" cy="381000"/>
          </a:xfrm>
          <a:prstGeom prst="line">
            <a:avLst/>
          </a:prstGeom>
          <a:noFill/>
          <a:ln w="3240">
            <a:solidFill>
              <a:srgbClr val="000066"/>
            </a:solidFill>
            <a:miter lim="800000"/>
            <a:headEnd/>
            <a:tailEnd type="triangle" w="med" len="med"/>
          </a:ln>
          <a:effectLst/>
        </p:spPr>
        <p:txBody>
          <a:bodyPr/>
          <a:lstStyle/>
          <a:p>
            <a:endParaRPr lang="en-US"/>
          </a:p>
        </p:txBody>
      </p:sp>
      <p:sp>
        <p:nvSpPr>
          <p:cNvPr id="36879" name="Text Box 15"/>
          <p:cNvSpPr txBox="1">
            <a:spLocks noChangeArrowheads="1"/>
          </p:cNvSpPr>
          <p:nvPr/>
        </p:nvSpPr>
        <p:spPr bwMode="auto">
          <a:xfrm>
            <a:off x="5254625" y="2542900"/>
            <a:ext cx="2609850" cy="577082"/>
          </a:xfrm>
          <a:prstGeom prst="rect">
            <a:avLst/>
          </a:prstGeom>
          <a:noFill/>
          <a:ln w="9525">
            <a:noFill/>
            <a:round/>
            <a:headEnd/>
            <a:tailEnd/>
          </a:ln>
          <a:effectLst/>
        </p:spPr>
        <p:txBody>
          <a:bodyPr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a:solidFill>
                  <a:schemeClr val="tx1">
                    <a:lumMod val="50000"/>
                    <a:lumOff val="50000"/>
                  </a:schemeClr>
                </a:solidFill>
                <a:latin typeface="Calibri" pitchFamily="34" charset="0"/>
                <a:ea typeface="msgothic" charset="0"/>
                <a:cs typeface="msgothic" charset="0"/>
              </a:rPr>
              <a:t>Relocation and symbol  table info</a:t>
            </a:r>
          </a:p>
        </p:txBody>
      </p:sp>
      <p:sp>
        <p:nvSpPr>
          <p:cNvPr id="36880" name="Line 16"/>
          <p:cNvSpPr>
            <a:spLocks noChangeShapeType="1"/>
          </p:cNvSpPr>
          <p:nvPr/>
        </p:nvSpPr>
        <p:spPr bwMode="auto">
          <a:xfrm>
            <a:off x="5180013" y="2542900"/>
            <a:ext cx="1587" cy="685800"/>
          </a:xfrm>
          <a:prstGeom prst="line">
            <a:avLst/>
          </a:prstGeom>
          <a:noFill/>
          <a:ln w="3240">
            <a:solidFill>
              <a:srgbClr val="000066"/>
            </a:solidFill>
            <a:miter lim="800000"/>
            <a:headEnd/>
            <a:tailEnd type="triangle" w="med" len="med"/>
          </a:ln>
          <a:effectLst/>
        </p:spPr>
        <p:txBody>
          <a:bodyPr/>
          <a:lstStyle/>
          <a:p>
            <a:endParaRPr lang="en-US"/>
          </a:p>
        </p:txBody>
      </p:sp>
      <p:sp>
        <p:nvSpPr>
          <p:cNvPr id="36881" name="Text Box 17"/>
          <p:cNvSpPr txBox="1">
            <a:spLocks noChangeArrowheads="1"/>
          </p:cNvSpPr>
          <p:nvPr/>
        </p:nvSpPr>
        <p:spPr bwMode="auto">
          <a:xfrm>
            <a:off x="4352925" y="4844775"/>
            <a:ext cx="1662934" cy="561117"/>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libc.so</a:t>
            </a:r>
          </a:p>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libvector.so</a:t>
            </a:r>
          </a:p>
        </p:txBody>
      </p:sp>
      <p:sp>
        <p:nvSpPr>
          <p:cNvPr id="36882" name="Text Box 18"/>
          <p:cNvSpPr txBox="1">
            <a:spLocks noChangeArrowheads="1"/>
          </p:cNvSpPr>
          <p:nvPr/>
        </p:nvSpPr>
        <p:spPr bwMode="auto">
          <a:xfrm>
            <a:off x="5254625" y="5559150"/>
            <a:ext cx="1771650" cy="335799"/>
          </a:xfrm>
          <a:prstGeom prst="rect">
            <a:avLst/>
          </a:prstGeom>
          <a:noFill/>
          <a:ln w="9525">
            <a:noFill/>
            <a:round/>
            <a:headEnd/>
            <a:tailEnd/>
          </a:ln>
          <a:effectLst/>
        </p:spPr>
        <p:txBody>
          <a:bodyPr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a:solidFill>
                  <a:schemeClr val="tx1">
                    <a:lumMod val="50000"/>
                    <a:lumOff val="50000"/>
                  </a:schemeClr>
                </a:solidFill>
                <a:latin typeface="Calibri" pitchFamily="34" charset="0"/>
                <a:ea typeface="msgothic" charset="0"/>
                <a:cs typeface="msgothic" charset="0"/>
              </a:rPr>
              <a:t>Code and data</a:t>
            </a:r>
          </a:p>
        </p:txBody>
      </p:sp>
      <p:sp>
        <p:nvSpPr>
          <p:cNvPr id="36883" name="Line 19"/>
          <p:cNvSpPr>
            <a:spLocks noChangeShapeType="1"/>
          </p:cNvSpPr>
          <p:nvPr/>
        </p:nvSpPr>
        <p:spPr bwMode="auto">
          <a:xfrm>
            <a:off x="5173663" y="5438500"/>
            <a:ext cx="1587" cy="685800"/>
          </a:xfrm>
          <a:prstGeom prst="line">
            <a:avLst/>
          </a:prstGeom>
          <a:noFill/>
          <a:ln w="3240">
            <a:solidFill>
              <a:srgbClr val="000066"/>
            </a:solidFill>
            <a:miter lim="800000"/>
            <a:headEnd/>
            <a:tailEnd type="triangle" w="med" len="med"/>
          </a:ln>
          <a:effectLst/>
        </p:spPr>
        <p:txBody>
          <a:bodyPr/>
          <a:lstStyle/>
          <a:p>
            <a:endParaRPr lang="en-US"/>
          </a:p>
        </p:txBody>
      </p:sp>
      <p:sp>
        <p:nvSpPr>
          <p:cNvPr id="36884" name="Text Box 20"/>
          <p:cNvSpPr txBox="1">
            <a:spLocks noChangeArrowheads="1"/>
          </p:cNvSpPr>
          <p:nvPr/>
        </p:nvSpPr>
        <p:spPr bwMode="auto">
          <a:xfrm>
            <a:off x="-228600" y="3873224"/>
            <a:ext cx="2514600" cy="818367"/>
          </a:xfrm>
          <a:prstGeom prst="rect">
            <a:avLst/>
          </a:prstGeom>
          <a:noFill/>
          <a:ln w="9525">
            <a:noFill/>
            <a:round/>
            <a:headEnd/>
            <a:tailEnd/>
          </a:ln>
          <a:effectLst/>
        </p:spPr>
        <p:txBody>
          <a:bodyPr lIns="90000" tIns="46800" rIns="90000" bIns="46800">
            <a:spAutoFit/>
          </a:bodyPr>
          <a:lstStyle/>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dirty="0">
                <a:solidFill>
                  <a:srgbClr val="990000"/>
                </a:solidFill>
                <a:latin typeface="Calibri" pitchFamily="34" charset="0"/>
                <a:ea typeface="msgothic" charset="0"/>
                <a:cs typeface="msgothic" charset="0"/>
              </a:rPr>
              <a:t>Partially linked </a:t>
            </a:r>
            <a:endParaRPr lang="en-GB" sz="1600" b="1" i="1" dirty="0" smtClean="0">
              <a:solidFill>
                <a:srgbClr val="990000"/>
              </a:solidFill>
              <a:latin typeface="Calibri" pitchFamily="34" charset="0"/>
              <a:ea typeface="msgothic" charset="0"/>
              <a:cs typeface="msgothic" charset="0"/>
            </a:endParaRPr>
          </a:p>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dirty="0" smtClean="0">
                <a:solidFill>
                  <a:srgbClr val="990000"/>
                </a:solidFill>
                <a:latin typeface="Calibri" pitchFamily="34" charset="0"/>
                <a:ea typeface="msgothic" charset="0"/>
                <a:cs typeface="msgothic" charset="0"/>
              </a:rPr>
              <a:t>executable </a:t>
            </a:r>
            <a:r>
              <a:rPr lang="en-GB" sz="1600" b="1" i="1" dirty="0">
                <a:solidFill>
                  <a:srgbClr val="990000"/>
                </a:solidFill>
                <a:latin typeface="Calibri" pitchFamily="34" charset="0"/>
                <a:ea typeface="msgothic" charset="0"/>
                <a:cs typeface="msgothic" charset="0"/>
              </a:rPr>
              <a:t>object </a:t>
            </a:r>
            <a:r>
              <a:rPr lang="en-GB" sz="1600" b="1" i="1" dirty="0" smtClean="0">
                <a:solidFill>
                  <a:srgbClr val="990000"/>
                </a:solidFill>
                <a:latin typeface="Calibri" pitchFamily="34" charset="0"/>
                <a:ea typeface="msgothic" charset="0"/>
                <a:cs typeface="msgothic" charset="0"/>
              </a:rPr>
              <a:t>file</a:t>
            </a:r>
          </a:p>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smtClean="0">
                <a:latin typeface="Calibri" pitchFamily="34" charset="0"/>
                <a:ea typeface="msgothic" charset="0"/>
                <a:cs typeface="msgothic" charset="0"/>
              </a:rPr>
              <a:t>(7426 bytes)</a:t>
            </a:r>
            <a:endParaRPr lang="en-GB" sz="1600" b="1" dirty="0">
              <a:latin typeface="Calibri" pitchFamily="34" charset="0"/>
              <a:ea typeface="msgothic" charset="0"/>
              <a:cs typeface="msgothic" charset="0"/>
            </a:endParaRPr>
          </a:p>
        </p:txBody>
      </p:sp>
      <p:sp>
        <p:nvSpPr>
          <p:cNvPr id="36885" name="Text Box 21"/>
          <p:cNvSpPr txBox="1">
            <a:spLocks noChangeArrowheads="1"/>
          </p:cNvSpPr>
          <p:nvPr/>
        </p:nvSpPr>
        <p:spPr bwMode="auto">
          <a:xfrm>
            <a:off x="914400" y="2451355"/>
            <a:ext cx="1371600" cy="577082"/>
          </a:xfrm>
          <a:prstGeom prst="rect">
            <a:avLst/>
          </a:prstGeom>
          <a:noFill/>
          <a:ln w="9525">
            <a:noFill/>
            <a:round/>
            <a:headEnd/>
            <a:tailEnd/>
          </a:ln>
          <a:effectLst/>
        </p:spPr>
        <p:txBody>
          <a:bodyPr lIns="90000" tIns="46800" rIns="90000" bIns="46800">
            <a:spAutoFit/>
          </a:bodyPr>
          <a:lstStyle/>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err="1">
                <a:solidFill>
                  <a:srgbClr val="990000"/>
                </a:solidFill>
                <a:latin typeface="Calibri" pitchFamily="34" charset="0"/>
                <a:ea typeface="msgothic" charset="0"/>
                <a:cs typeface="msgothic" charset="0"/>
              </a:rPr>
              <a:t>Relocatable</a:t>
            </a:r>
            <a:endParaRPr lang="en-GB" sz="1600" b="1" i="1">
              <a:solidFill>
                <a:srgbClr val="990000"/>
              </a:solidFill>
              <a:latin typeface="Calibri" pitchFamily="34" charset="0"/>
              <a:ea typeface="msgothic" charset="0"/>
              <a:cs typeface="msgothic" charset="0"/>
            </a:endParaRPr>
          </a:p>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a:solidFill>
                  <a:srgbClr val="990000"/>
                </a:solidFill>
                <a:latin typeface="Calibri" pitchFamily="34" charset="0"/>
                <a:ea typeface="msgothic" charset="0"/>
                <a:cs typeface="msgothic" charset="0"/>
              </a:rPr>
              <a:t>object file</a:t>
            </a:r>
          </a:p>
        </p:txBody>
      </p:sp>
      <p:sp>
        <p:nvSpPr>
          <p:cNvPr id="36886" name="Text Box 22"/>
          <p:cNvSpPr txBox="1">
            <a:spLocks noChangeArrowheads="1"/>
          </p:cNvSpPr>
          <p:nvPr/>
        </p:nvSpPr>
        <p:spPr bwMode="auto">
          <a:xfrm>
            <a:off x="533400" y="5887233"/>
            <a:ext cx="1752600" cy="818367"/>
          </a:xfrm>
          <a:prstGeom prst="rect">
            <a:avLst/>
          </a:prstGeom>
          <a:noFill/>
          <a:ln w="9525">
            <a:noFill/>
            <a:round/>
            <a:headEnd/>
            <a:tailEnd/>
          </a:ln>
          <a:effectLst/>
        </p:spPr>
        <p:txBody>
          <a:bodyPr lIns="90000" tIns="46800" rIns="90000" bIns="46800">
            <a:spAutoFit/>
          </a:bodyPr>
          <a:lstStyle/>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a:solidFill>
                  <a:srgbClr val="990000"/>
                </a:solidFill>
                <a:latin typeface="Calibri" pitchFamily="34" charset="0"/>
                <a:ea typeface="msgothic" charset="0"/>
                <a:cs typeface="msgothic" charset="0"/>
              </a:rPr>
              <a:t>Fully linked </a:t>
            </a:r>
          </a:p>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a:solidFill>
                  <a:srgbClr val="990000"/>
                </a:solidFill>
                <a:latin typeface="Calibri" pitchFamily="34" charset="0"/>
                <a:ea typeface="msgothic" charset="0"/>
                <a:cs typeface="msgothic" charset="0"/>
              </a:rPr>
              <a:t>executable</a:t>
            </a:r>
          </a:p>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a:solidFill>
                  <a:srgbClr val="990000"/>
                </a:solidFill>
                <a:latin typeface="Calibri" pitchFamily="34" charset="0"/>
                <a:ea typeface="msgothic" charset="0"/>
                <a:cs typeface="msgothic" charset="0"/>
              </a:rPr>
              <a:t>in memory</a:t>
            </a:r>
          </a:p>
        </p:txBody>
      </p:sp>
      <p:sp>
        <p:nvSpPr>
          <p:cNvPr id="36887" name="Line 23"/>
          <p:cNvSpPr>
            <a:spLocks noChangeShapeType="1"/>
          </p:cNvSpPr>
          <p:nvPr/>
        </p:nvSpPr>
        <p:spPr bwMode="auto">
          <a:xfrm>
            <a:off x="3783013" y="1247500"/>
            <a:ext cx="1587" cy="381000"/>
          </a:xfrm>
          <a:prstGeom prst="line">
            <a:avLst/>
          </a:prstGeom>
          <a:noFill/>
          <a:ln w="3240">
            <a:solidFill>
              <a:srgbClr val="000066"/>
            </a:solidFill>
            <a:miter lim="800000"/>
            <a:headEnd/>
            <a:tailEnd type="triangle" w="med" len="med"/>
          </a:ln>
          <a:effectLst/>
        </p:spPr>
        <p:txBody>
          <a:bodyPr/>
          <a:lstStyle/>
          <a:p>
            <a:endParaRPr lang="en-US"/>
          </a:p>
        </p:txBody>
      </p:sp>
      <p:sp>
        <p:nvSpPr>
          <p:cNvPr id="36888" name="Text Box 24"/>
          <p:cNvSpPr txBox="1">
            <a:spLocks noChangeArrowheads="1"/>
          </p:cNvSpPr>
          <p:nvPr/>
        </p:nvSpPr>
        <p:spPr bwMode="auto">
          <a:xfrm>
            <a:off x="3184525" y="1010963"/>
            <a:ext cx="1169209" cy="329643"/>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vector.h</a:t>
            </a:r>
          </a:p>
        </p:txBody>
      </p:sp>
      <p:sp>
        <p:nvSpPr>
          <p:cNvPr id="36889" name="Rectangle 25"/>
          <p:cNvSpPr>
            <a:spLocks noChangeArrowheads="1"/>
          </p:cNvSpPr>
          <p:nvPr/>
        </p:nvSpPr>
        <p:spPr bwMode="auto">
          <a:xfrm>
            <a:off x="2454275" y="4749525"/>
            <a:ext cx="1657350" cy="574675"/>
          </a:xfrm>
          <a:prstGeom prst="rect">
            <a:avLst/>
          </a:prstGeom>
          <a:solidFill>
            <a:schemeClr val="accent2">
              <a:lumMod val="20000"/>
              <a:lumOff val="80000"/>
            </a:schemeClr>
          </a:solidFill>
          <a:ln w="32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Loader (</a:t>
            </a:r>
            <a:r>
              <a:rPr lang="en-GB" sz="1600" b="1" err="1">
                <a:latin typeface="Courier New" pitchFamily="49" charset="0"/>
                <a:ea typeface="msgothic" charset="0"/>
                <a:cs typeface="msgothic" charset="0"/>
              </a:rPr>
              <a:t>execve</a:t>
            </a:r>
            <a:r>
              <a:rPr lang="en-GB" sz="1600" b="1">
                <a:latin typeface="Calibri" pitchFamily="34" charset="0"/>
                <a:ea typeface="msgothic" charset="0"/>
                <a:cs typeface="msgothic" charset="0"/>
              </a:rPr>
              <a:t>)</a:t>
            </a:r>
          </a:p>
        </p:txBody>
      </p:sp>
      <p:sp>
        <p:nvSpPr>
          <p:cNvPr id="36890" name="Text Box 26"/>
          <p:cNvSpPr txBox="1">
            <a:spLocks noChangeArrowheads="1"/>
          </p:cNvSpPr>
          <p:nvPr/>
        </p:nvSpPr>
        <p:spPr bwMode="auto">
          <a:xfrm>
            <a:off x="4689475" y="1047475"/>
            <a:ext cx="3998808" cy="559872"/>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solidFill>
                  <a:srgbClr val="990000"/>
                </a:solidFill>
                <a:latin typeface="Courier New" pitchFamily="49" charset="0"/>
                <a:ea typeface="msgothic" charset="0"/>
                <a:cs typeface="msgothic" charset="0"/>
              </a:rPr>
              <a:t>$</a:t>
            </a:r>
            <a:r>
              <a:rPr lang="en-GB" sz="1600" b="1" dirty="0" smtClean="0">
                <a:solidFill>
                  <a:srgbClr val="990000"/>
                </a:solidFill>
                <a:latin typeface="Courier New" pitchFamily="49" charset="0"/>
                <a:ea typeface="msgothic" charset="0"/>
                <a:cs typeface="msgothic" charset="0"/>
              </a:rPr>
              <a:t> </a:t>
            </a:r>
            <a:r>
              <a:rPr lang="en-GB" sz="1600" b="1" dirty="0" err="1">
                <a:solidFill>
                  <a:srgbClr val="990000"/>
                </a:solidFill>
                <a:latin typeface="Courier New" pitchFamily="49" charset="0"/>
                <a:ea typeface="msgothic" charset="0"/>
                <a:cs typeface="msgothic" charset="0"/>
              </a:rPr>
              <a:t>gcc</a:t>
            </a:r>
            <a:r>
              <a:rPr lang="en-GB" sz="1600" b="1" dirty="0">
                <a:solidFill>
                  <a:srgbClr val="990000"/>
                </a:solidFill>
                <a:latin typeface="Courier New" pitchFamily="49" charset="0"/>
                <a:ea typeface="msgothic" charset="0"/>
                <a:cs typeface="msgothic" charset="0"/>
              </a:rPr>
              <a:t> </a:t>
            </a:r>
            <a:r>
              <a:rPr lang="en-GB" sz="1600" b="1" dirty="0" smtClean="0">
                <a:solidFill>
                  <a:srgbClr val="990000"/>
                </a:solidFill>
                <a:latin typeface="Courier New" pitchFamily="49" charset="0"/>
                <a:ea typeface="msgothic" charset="0"/>
                <a:cs typeface="msgothic" charset="0"/>
              </a:rPr>
              <a:t>-shared </a:t>
            </a:r>
            <a:r>
              <a:rPr lang="en-GB" sz="1600" b="1" dirty="0">
                <a:solidFill>
                  <a:srgbClr val="990000"/>
                </a:solidFill>
                <a:latin typeface="Courier New" pitchFamily="49" charset="0"/>
                <a:ea typeface="msgothic" charset="0"/>
                <a:cs typeface="msgothic" charset="0"/>
              </a:rPr>
              <a:t>-o </a:t>
            </a:r>
            <a:r>
              <a:rPr lang="en-GB" sz="1600" b="1" dirty="0" err="1">
                <a:solidFill>
                  <a:srgbClr val="990000"/>
                </a:solidFill>
                <a:latin typeface="Courier New" pitchFamily="49" charset="0"/>
                <a:ea typeface="msgothic" charset="0"/>
                <a:cs typeface="msgothic" charset="0"/>
              </a:rPr>
              <a:t>libvector.so</a:t>
            </a:r>
            <a:r>
              <a:rPr lang="en-GB" sz="1600" b="1" dirty="0">
                <a:solidFill>
                  <a:srgbClr val="990000"/>
                </a:solidFill>
                <a:latin typeface="Courier New" pitchFamily="49" charset="0"/>
                <a:ea typeface="msgothic" charset="0"/>
                <a:cs typeface="msgothic" charset="0"/>
              </a:rPr>
              <a:t>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solidFill>
                  <a:srgbClr val="990000"/>
                </a:solidFill>
                <a:latin typeface="Courier New" pitchFamily="49" charset="0"/>
                <a:ea typeface="msgothic" charset="0"/>
                <a:cs typeface="msgothic" charset="0"/>
              </a:rPr>
              <a:t>     </a:t>
            </a:r>
            <a:r>
              <a:rPr lang="en-GB" sz="1600" b="1" dirty="0" err="1">
                <a:solidFill>
                  <a:srgbClr val="990000"/>
                </a:solidFill>
                <a:latin typeface="Courier New" pitchFamily="49" charset="0"/>
                <a:ea typeface="msgothic" charset="0"/>
                <a:cs typeface="msgothic" charset="0"/>
              </a:rPr>
              <a:t>addvec.c</a:t>
            </a:r>
            <a:r>
              <a:rPr lang="en-GB" sz="1600" b="1" dirty="0">
                <a:solidFill>
                  <a:srgbClr val="990000"/>
                </a:solidFill>
                <a:latin typeface="Courier New" pitchFamily="49" charset="0"/>
                <a:ea typeface="msgothic" charset="0"/>
                <a:cs typeface="msgothic" charset="0"/>
              </a:rPr>
              <a:t> </a:t>
            </a:r>
            <a:r>
              <a:rPr lang="en-GB" sz="1600" b="1" dirty="0" err="1" smtClean="0">
                <a:solidFill>
                  <a:srgbClr val="990000"/>
                </a:solidFill>
                <a:latin typeface="Courier New" pitchFamily="49" charset="0"/>
                <a:ea typeface="msgothic" charset="0"/>
                <a:cs typeface="msgothic" charset="0"/>
              </a:rPr>
              <a:t>multvec.c</a:t>
            </a:r>
            <a:r>
              <a:rPr lang="en-GB" sz="1600" b="1" dirty="0" smtClean="0">
                <a:solidFill>
                  <a:srgbClr val="990000"/>
                </a:solidFill>
                <a:latin typeface="Courier New" pitchFamily="49" charset="0"/>
                <a:ea typeface="msgothic" charset="0"/>
                <a:cs typeface="msgothic" charset="0"/>
              </a:rPr>
              <a:t> -</a:t>
            </a:r>
            <a:r>
              <a:rPr lang="en-GB" sz="1600" b="1" dirty="0" err="1" smtClean="0">
                <a:solidFill>
                  <a:srgbClr val="990000"/>
                </a:solidFill>
                <a:latin typeface="Courier New" pitchFamily="49" charset="0"/>
                <a:ea typeface="msgothic" charset="0"/>
                <a:cs typeface="msgothic" charset="0"/>
              </a:rPr>
              <a:t>fpic</a:t>
            </a:r>
            <a:endParaRPr lang="en-GB" sz="1600" b="1" dirty="0">
              <a:solidFill>
                <a:srgbClr val="990000"/>
              </a:solidFill>
              <a:latin typeface="Courier New" pitchFamily="49" charset="0"/>
              <a:ea typeface="msgothic" charset="0"/>
              <a:cs typeface="msgothic" charset="0"/>
            </a:endParaRPr>
          </a:p>
        </p:txBody>
      </p:sp>
      <p:sp>
        <p:nvSpPr>
          <p:cNvPr id="36891" name="Line 27"/>
          <p:cNvSpPr>
            <a:spLocks noChangeShapeType="1"/>
          </p:cNvSpPr>
          <p:nvPr/>
        </p:nvSpPr>
        <p:spPr bwMode="auto">
          <a:xfrm flipH="1">
            <a:off x="5715000" y="1574799"/>
            <a:ext cx="460375" cy="609600"/>
          </a:xfrm>
          <a:prstGeom prst="line">
            <a:avLst/>
          </a:prstGeom>
          <a:noFill/>
          <a:ln w="25560">
            <a:solidFill>
              <a:schemeClr val="tx1"/>
            </a:solidFill>
            <a:miter lim="800000"/>
            <a:headEnd/>
            <a:tailEnd type="triangle" w="med" len="med"/>
          </a:ln>
          <a:effectLst/>
        </p:spPr>
        <p:txBody>
          <a:bodyPr/>
          <a:lstStyle/>
          <a:p>
            <a:endParaRPr lang="en-US"/>
          </a:p>
        </p:txBody>
      </p:sp>
      <p:sp>
        <p:nvSpPr>
          <p:cNvPr id="29" name="Text Box 26"/>
          <p:cNvSpPr txBox="1">
            <a:spLocks noChangeArrowheads="1"/>
          </p:cNvSpPr>
          <p:nvPr/>
        </p:nvSpPr>
        <p:spPr bwMode="auto">
          <a:xfrm>
            <a:off x="4724400" y="3581400"/>
            <a:ext cx="4552746" cy="559872"/>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solidFill>
                  <a:srgbClr val="990000"/>
                </a:solidFill>
                <a:latin typeface="Courier New" pitchFamily="49" charset="0"/>
                <a:ea typeface="msgothic" charset="0"/>
                <a:cs typeface="msgothic" charset="0"/>
              </a:rPr>
              <a:t>$</a:t>
            </a:r>
            <a:r>
              <a:rPr lang="en-GB" sz="1600" b="1" dirty="0" smtClean="0">
                <a:solidFill>
                  <a:srgbClr val="990000"/>
                </a:solidFill>
                <a:latin typeface="Courier New" pitchFamily="49" charset="0"/>
                <a:ea typeface="msgothic" charset="0"/>
                <a:cs typeface="msgothic" charset="0"/>
              </a:rPr>
              <a:t> </a:t>
            </a:r>
            <a:r>
              <a:rPr lang="en-GB" sz="1600" b="1" dirty="0" err="1" smtClean="0">
                <a:solidFill>
                  <a:srgbClr val="990000"/>
                </a:solidFill>
                <a:latin typeface="Courier New" pitchFamily="49" charset="0"/>
                <a:ea typeface="msgothic" charset="0"/>
                <a:cs typeface="msgothic" charset="0"/>
              </a:rPr>
              <a:t>gcc</a:t>
            </a:r>
            <a:r>
              <a:rPr lang="en-GB" sz="1600" dirty="0" smtClean="0">
                <a:solidFill>
                  <a:srgbClr val="990000"/>
                </a:solidFill>
                <a:latin typeface="Courier New" pitchFamily="49" charset="0"/>
                <a:ea typeface="msgothic" charset="0"/>
                <a:cs typeface="msgothic" charset="0"/>
              </a:rPr>
              <a:t> </a:t>
            </a:r>
            <a:r>
              <a:rPr lang="mr-IN" sz="1600" dirty="0" smtClean="0">
                <a:solidFill>
                  <a:srgbClr val="990000"/>
                </a:solidFill>
                <a:latin typeface="Courier New" pitchFamily="49" charset="0"/>
                <a:ea typeface="msgothic" charset="0"/>
                <a:cs typeface="msgothic" charset="0"/>
              </a:rPr>
              <a:t>–</a:t>
            </a:r>
            <a:r>
              <a:rPr lang="en-GB" sz="1600" dirty="0" smtClean="0">
                <a:solidFill>
                  <a:srgbClr val="990000"/>
                </a:solidFill>
                <a:latin typeface="Courier New" pitchFamily="49" charset="0"/>
                <a:ea typeface="msgothic" charset="0"/>
                <a:cs typeface="msgothic" charset="0"/>
              </a:rPr>
              <a:t>o prog2l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solidFill>
                  <a:srgbClr val="990000"/>
                </a:solidFill>
                <a:latin typeface="Courier New" pitchFamily="49" charset="0"/>
                <a:ea typeface="msgothic" charset="0"/>
                <a:cs typeface="msgothic" charset="0"/>
              </a:rPr>
              <a:t>	</a:t>
            </a:r>
            <a:r>
              <a:rPr lang="en-GB" sz="1600" b="1" dirty="0" smtClean="0">
                <a:solidFill>
                  <a:srgbClr val="990000"/>
                </a:solidFill>
                <a:latin typeface="Courier New" pitchFamily="49" charset="0"/>
                <a:ea typeface="msgothic" charset="0"/>
                <a:cs typeface="msgothic" charset="0"/>
              </a:rPr>
              <a:t>      main2.o ./</a:t>
            </a:r>
            <a:r>
              <a:rPr lang="en-GB" sz="1600" b="1" dirty="0" err="1" smtClean="0">
                <a:solidFill>
                  <a:srgbClr val="990000"/>
                </a:solidFill>
                <a:latin typeface="Courier New" pitchFamily="49" charset="0"/>
                <a:ea typeface="msgothic" charset="0"/>
                <a:cs typeface="msgothic" charset="0"/>
              </a:rPr>
              <a:t>libvector.so</a:t>
            </a:r>
            <a:endParaRPr lang="en-GB" sz="1600" b="1" dirty="0">
              <a:solidFill>
                <a:srgbClr val="990000"/>
              </a:solidFill>
              <a:latin typeface="Courier New" pitchFamily="49" charset="0"/>
              <a:ea typeface="msgothic" charset="0"/>
              <a:cs typeface="msgothic" charset="0"/>
            </a:endParaRPr>
          </a:p>
        </p:txBody>
      </p:sp>
    </p:spTree>
    <p:extLst>
      <p:ext uri="{BB962C8B-B14F-4D97-AF65-F5344CB8AC3E}">
        <p14:creationId xmlns:p14="http://schemas.microsoft.com/office/powerpoint/2010/main" val="2649395658"/>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1"/>
          <p:cNvSpPr>
            <a:spLocks noGrp="1" noChangeArrowheads="1"/>
          </p:cNvSpPr>
          <p:nvPr>
            <p:ph type="title" idx="4294967295"/>
          </p:nvPr>
        </p:nvSpPr>
        <p:spPr>
          <a:xfrm>
            <a:off x="427038" y="360362"/>
            <a:ext cx="8716962" cy="782638"/>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Dynamic Linking at </a:t>
            </a:r>
            <a:r>
              <a:rPr lang="en-GB" smtClean="0"/>
              <a:t>Run-time</a:t>
            </a:r>
            <a:endParaRPr lang="en-GB"/>
          </a:p>
        </p:txBody>
      </p:sp>
      <p:sp>
        <p:nvSpPr>
          <p:cNvPr id="37890" name="Text Box 2"/>
          <p:cNvSpPr txBox="1">
            <a:spLocks noChangeArrowheads="1"/>
          </p:cNvSpPr>
          <p:nvPr/>
        </p:nvSpPr>
        <p:spPr bwMode="auto">
          <a:xfrm>
            <a:off x="304800" y="1323975"/>
            <a:ext cx="8686800" cy="5265161"/>
          </a:xfrm>
          <a:prstGeom prst="rect">
            <a:avLst/>
          </a:prstGeom>
          <a:solidFill>
            <a:srgbClr val="F6F5BD"/>
          </a:solidFill>
          <a:ln w="12600">
            <a:solidFill>
              <a:srgbClr val="000066"/>
            </a:solidFill>
            <a:miter lim="800000"/>
            <a:headEnd/>
            <a:tailEnd/>
          </a:ln>
          <a:effectLst/>
        </p:spPr>
        <p:txBody>
          <a:bodyPr wrap="square" lIns="90000" tIns="46800" rIns="90000" bIns="46800">
            <a:spAutoFit/>
          </a:bodyPr>
          <a:lstStyle/>
          <a:p>
            <a:r>
              <a:rPr lang="en-US" sz="1600">
                <a:solidFill>
                  <a:srgbClr val="926492"/>
                </a:solidFill>
                <a:latin typeface="Courier New"/>
                <a:cs typeface="Courier New"/>
              </a:rPr>
              <a:t>#include</a:t>
            </a:r>
            <a:r>
              <a:rPr lang="en-US" sz="1600">
                <a:solidFill>
                  <a:srgbClr val="000000"/>
                </a:solidFill>
                <a:latin typeface="Courier New"/>
                <a:cs typeface="Courier New"/>
              </a:rPr>
              <a:t> </a:t>
            </a:r>
            <a:r>
              <a:rPr lang="en-US" sz="1600">
                <a:solidFill>
                  <a:srgbClr val="9D206F"/>
                </a:solidFill>
                <a:latin typeface="Courier New"/>
                <a:cs typeface="Courier New"/>
              </a:rPr>
              <a:t>&lt;</a:t>
            </a:r>
            <a:r>
              <a:rPr lang="en-US" sz="1600" err="1">
                <a:solidFill>
                  <a:srgbClr val="9D206F"/>
                </a:solidFill>
                <a:latin typeface="Courier New"/>
                <a:cs typeface="Courier New"/>
              </a:rPr>
              <a:t>stdio.h</a:t>
            </a:r>
            <a:r>
              <a:rPr lang="en-US" sz="1600">
                <a:solidFill>
                  <a:srgbClr val="9D206F"/>
                </a:solidFill>
                <a:latin typeface="Courier New"/>
                <a:cs typeface="Courier New"/>
              </a:rPr>
              <a:t>&gt;</a:t>
            </a:r>
            <a:endParaRPr lang="en-US" sz="1600">
              <a:solidFill>
                <a:srgbClr val="000000"/>
              </a:solidFill>
              <a:latin typeface="Courier New"/>
              <a:cs typeface="Courier New"/>
            </a:endParaRPr>
          </a:p>
          <a:p>
            <a:r>
              <a:rPr lang="en-US" sz="1600">
                <a:solidFill>
                  <a:srgbClr val="926492"/>
                </a:solidFill>
                <a:latin typeface="Courier New"/>
                <a:cs typeface="Courier New"/>
              </a:rPr>
              <a:t>#include</a:t>
            </a:r>
            <a:r>
              <a:rPr lang="en-US" sz="1600">
                <a:solidFill>
                  <a:srgbClr val="000000"/>
                </a:solidFill>
                <a:latin typeface="Courier New"/>
                <a:cs typeface="Courier New"/>
              </a:rPr>
              <a:t> </a:t>
            </a:r>
            <a:r>
              <a:rPr lang="en-US" sz="1600">
                <a:solidFill>
                  <a:srgbClr val="9D206F"/>
                </a:solidFill>
                <a:latin typeface="Courier New"/>
                <a:cs typeface="Courier New"/>
              </a:rPr>
              <a:t>&lt;</a:t>
            </a:r>
            <a:r>
              <a:rPr lang="en-US" sz="1600" err="1">
                <a:solidFill>
                  <a:srgbClr val="9D206F"/>
                </a:solidFill>
                <a:latin typeface="Courier New"/>
                <a:cs typeface="Courier New"/>
              </a:rPr>
              <a:t>stdlib.h</a:t>
            </a:r>
            <a:r>
              <a:rPr lang="en-US" sz="1600">
                <a:solidFill>
                  <a:srgbClr val="9D206F"/>
                </a:solidFill>
                <a:latin typeface="Courier New"/>
                <a:cs typeface="Courier New"/>
              </a:rPr>
              <a:t>&gt;</a:t>
            </a:r>
            <a:endParaRPr lang="en-US" sz="1600">
              <a:solidFill>
                <a:srgbClr val="000000"/>
              </a:solidFill>
              <a:latin typeface="Courier New"/>
              <a:cs typeface="Courier New"/>
            </a:endParaRPr>
          </a:p>
          <a:p>
            <a:r>
              <a:rPr lang="en-US" sz="1600">
                <a:solidFill>
                  <a:srgbClr val="926492"/>
                </a:solidFill>
                <a:latin typeface="Courier New"/>
                <a:cs typeface="Courier New"/>
              </a:rPr>
              <a:t>#include</a:t>
            </a:r>
            <a:r>
              <a:rPr lang="en-US" sz="1600">
                <a:solidFill>
                  <a:srgbClr val="000000"/>
                </a:solidFill>
                <a:latin typeface="Courier New"/>
                <a:cs typeface="Courier New"/>
              </a:rPr>
              <a:t> </a:t>
            </a:r>
            <a:r>
              <a:rPr lang="en-US" sz="1600">
                <a:solidFill>
                  <a:srgbClr val="9D206F"/>
                </a:solidFill>
                <a:latin typeface="Courier New"/>
                <a:cs typeface="Courier New"/>
              </a:rPr>
              <a:t>&lt;</a:t>
            </a:r>
            <a:r>
              <a:rPr lang="en-US" sz="1600" err="1">
                <a:solidFill>
                  <a:srgbClr val="9D206F"/>
                </a:solidFill>
                <a:latin typeface="Courier New"/>
                <a:cs typeface="Courier New"/>
              </a:rPr>
              <a:t>dlfcn.h</a:t>
            </a:r>
            <a:r>
              <a:rPr lang="en-US" sz="1600">
                <a:solidFill>
                  <a:srgbClr val="9D206F"/>
                </a:solidFill>
                <a:latin typeface="Courier New"/>
                <a:cs typeface="Courier New"/>
              </a:rPr>
              <a:t>&gt;</a:t>
            </a:r>
            <a:endParaRPr lang="en-US" sz="1600">
              <a:solidFill>
                <a:srgbClr val="000000"/>
              </a:solidFill>
              <a:latin typeface="Courier New"/>
              <a:cs typeface="Courier New"/>
            </a:endParaRPr>
          </a:p>
          <a:p>
            <a:endParaRPr lang="en-US" sz="1600">
              <a:solidFill>
                <a:srgbClr val="000000"/>
              </a:solidFill>
              <a:latin typeface="Courier New"/>
              <a:cs typeface="Courier New"/>
            </a:endParaRPr>
          </a:p>
          <a:p>
            <a:r>
              <a:rPr lang="fr-FR" sz="1600" err="1">
                <a:solidFill>
                  <a:srgbClr val="2D961E"/>
                </a:solidFill>
                <a:latin typeface="Courier New"/>
                <a:cs typeface="Courier New"/>
              </a:rPr>
              <a:t>int</a:t>
            </a:r>
            <a:r>
              <a:rPr lang="fr-FR" sz="1600">
                <a:solidFill>
                  <a:srgbClr val="000000"/>
                </a:solidFill>
                <a:latin typeface="Courier New"/>
                <a:cs typeface="Courier New"/>
              </a:rPr>
              <a:t> </a:t>
            </a:r>
            <a:r>
              <a:rPr lang="fr-FR" sz="1600">
                <a:solidFill>
                  <a:srgbClr val="C1651C"/>
                </a:solidFill>
                <a:latin typeface="Courier New"/>
                <a:cs typeface="Courier New"/>
              </a:rPr>
              <a:t>x</a:t>
            </a:r>
            <a:r>
              <a:rPr lang="fr-FR" sz="1600">
                <a:solidFill>
                  <a:srgbClr val="000000"/>
                </a:solidFill>
                <a:latin typeface="Courier New"/>
                <a:cs typeface="Courier New"/>
              </a:rPr>
              <a:t>[2] = {1, 2};</a:t>
            </a:r>
          </a:p>
          <a:p>
            <a:r>
              <a:rPr lang="fr-FR" sz="1600" err="1">
                <a:solidFill>
                  <a:srgbClr val="2D961E"/>
                </a:solidFill>
                <a:latin typeface="Courier New"/>
                <a:cs typeface="Courier New"/>
              </a:rPr>
              <a:t>int</a:t>
            </a:r>
            <a:r>
              <a:rPr lang="fr-FR" sz="1600">
                <a:solidFill>
                  <a:srgbClr val="000000"/>
                </a:solidFill>
                <a:latin typeface="Courier New"/>
                <a:cs typeface="Courier New"/>
              </a:rPr>
              <a:t> </a:t>
            </a:r>
            <a:r>
              <a:rPr lang="fr-FR" sz="1600">
                <a:solidFill>
                  <a:srgbClr val="C1651C"/>
                </a:solidFill>
                <a:latin typeface="Courier New"/>
                <a:cs typeface="Courier New"/>
              </a:rPr>
              <a:t>y</a:t>
            </a:r>
            <a:r>
              <a:rPr lang="fr-FR" sz="1600">
                <a:solidFill>
                  <a:srgbClr val="000000"/>
                </a:solidFill>
                <a:latin typeface="Courier New"/>
                <a:cs typeface="Courier New"/>
              </a:rPr>
              <a:t>[2] = {3, 4};</a:t>
            </a:r>
          </a:p>
          <a:p>
            <a:r>
              <a:rPr lang="nl-NL" sz="1600">
                <a:solidFill>
                  <a:srgbClr val="2D961E"/>
                </a:solidFill>
                <a:latin typeface="Courier New"/>
                <a:cs typeface="Courier New"/>
              </a:rPr>
              <a:t>int</a:t>
            </a:r>
            <a:r>
              <a:rPr lang="nl-NL" sz="1600">
                <a:solidFill>
                  <a:srgbClr val="000000"/>
                </a:solidFill>
                <a:latin typeface="Courier New"/>
                <a:cs typeface="Courier New"/>
              </a:rPr>
              <a:t> </a:t>
            </a:r>
            <a:r>
              <a:rPr lang="nl-NL" sz="1600" err="1">
                <a:solidFill>
                  <a:srgbClr val="C1651C"/>
                </a:solidFill>
                <a:latin typeface="Courier New"/>
                <a:cs typeface="Courier New"/>
              </a:rPr>
              <a:t>z</a:t>
            </a:r>
            <a:r>
              <a:rPr lang="nl-NL" sz="1600">
                <a:solidFill>
                  <a:srgbClr val="000000"/>
                </a:solidFill>
                <a:latin typeface="Courier New"/>
                <a:cs typeface="Courier New"/>
              </a:rPr>
              <a:t>[2];</a:t>
            </a:r>
          </a:p>
          <a:p>
            <a:endParaRPr lang="nl-NL" sz="1600">
              <a:solidFill>
                <a:srgbClr val="000000"/>
              </a:solidFill>
              <a:latin typeface="Courier New"/>
              <a:cs typeface="Courier New"/>
            </a:endParaRPr>
          </a:p>
          <a:p>
            <a:r>
              <a:rPr lang="nl-NL" sz="1600">
                <a:solidFill>
                  <a:srgbClr val="2D961E"/>
                </a:solidFill>
                <a:latin typeface="Courier New"/>
                <a:cs typeface="Courier New"/>
              </a:rPr>
              <a:t>int</a:t>
            </a:r>
            <a:r>
              <a:rPr lang="nl-NL" sz="1600">
                <a:solidFill>
                  <a:srgbClr val="000000"/>
                </a:solidFill>
                <a:latin typeface="Courier New"/>
                <a:cs typeface="Courier New"/>
              </a:rPr>
              <a:t> </a:t>
            </a:r>
            <a:r>
              <a:rPr lang="nl-NL" sz="1600" smtClean="0">
                <a:solidFill>
                  <a:srgbClr val="4A00FF"/>
                </a:solidFill>
                <a:latin typeface="Courier New"/>
                <a:cs typeface="Courier New"/>
              </a:rPr>
              <a:t>main</a:t>
            </a:r>
            <a:r>
              <a:rPr lang="nl-NL" sz="1600" smtClean="0">
                <a:solidFill>
                  <a:srgbClr val="000000"/>
                </a:solidFill>
                <a:latin typeface="Courier New"/>
                <a:cs typeface="Courier New"/>
              </a:rPr>
              <a:t>(int argc, char** argv)</a:t>
            </a:r>
            <a:endParaRPr lang="nl-NL" sz="1600">
              <a:solidFill>
                <a:srgbClr val="000000"/>
              </a:solidFill>
              <a:latin typeface="Courier New"/>
              <a:cs typeface="Courier New"/>
            </a:endParaRPr>
          </a:p>
          <a:p>
            <a:r>
              <a:rPr lang="nl-NL" sz="1600">
                <a:solidFill>
                  <a:srgbClr val="000000"/>
                </a:solidFill>
                <a:latin typeface="Courier New"/>
                <a:cs typeface="Courier New"/>
              </a:rPr>
              <a:t>{</a:t>
            </a:r>
          </a:p>
          <a:p>
            <a:r>
              <a:rPr lang="nl-NL" sz="1600">
                <a:solidFill>
                  <a:srgbClr val="000000"/>
                </a:solidFill>
                <a:latin typeface="Courier New"/>
                <a:cs typeface="Courier New"/>
              </a:rPr>
              <a:t>    </a:t>
            </a:r>
            <a:r>
              <a:rPr lang="nl-NL" sz="1600" err="1">
                <a:solidFill>
                  <a:srgbClr val="2D961E"/>
                </a:solidFill>
                <a:latin typeface="Courier New"/>
                <a:cs typeface="Courier New"/>
              </a:rPr>
              <a:t>void</a:t>
            </a:r>
            <a:r>
              <a:rPr lang="nl-NL" sz="1600">
                <a:solidFill>
                  <a:srgbClr val="000000"/>
                </a:solidFill>
                <a:latin typeface="Courier New"/>
                <a:cs typeface="Courier New"/>
              </a:rPr>
              <a:t> *</a:t>
            </a:r>
            <a:r>
              <a:rPr lang="nl-NL" sz="1600">
                <a:solidFill>
                  <a:srgbClr val="C1651C"/>
                </a:solidFill>
                <a:latin typeface="Courier New"/>
                <a:cs typeface="Courier New"/>
              </a:rPr>
              <a:t>handle</a:t>
            </a:r>
            <a:r>
              <a:rPr lang="nl-NL" sz="1600">
                <a:solidFill>
                  <a:srgbClr val="000000"/>
                </a:solidFill>
                <a:latin typeface="Courier New"/>
                <a:cs typeface="Courier New"/>
              </a:rPr>
              <a:t>;</a:t>
            </a:r>
          </a:p>
          <a:p>
            <a:r>
              <a:rPr lang="fi-FI" sz="1600">
                <a:solidFill>
                  <a:srgbClr val="000000"/>
                </a:solidFill>
                <a:latin typeface="Courier New"/>
                <a:cs typeface="Courier New"/>
              </a:rPr>
              <a:t>    </a:t>
            </a:r>
            <a:r>
              <a:rPr lang="fi-FI" sz="1600" err="1">
                <a:solidFill>
                  <a:srgbClr val="2D961E"/>
                </a:solidFill>
                <a:latin typeface="Courier New"/>
                <a:cs typeface="Courier New"/>
              </a:rPr>
              <a:t>void</a:t>
            </a:r>
            <a:r>
              <a:rPr lang="fi-FI" sz="1600">
                <a:solidFill>
                  <a:srgbClr val="000000"/>
                </a:solidFill>
                <a:latin typeface="Courier New"/>
                <a:cs typeface="Courier New"/>
              </a:rPr>
              <a:t> (*</a:t>
            </a:r>
            <a:r>
              <a:rPr lang="fi-FI" sz="1600" err="1">
                <a:solidFill>
                  <a:srgbClr val="C1651C"/>
                </a:solidFill>
                <a:latin typeface="Courier New"/>
                <a:cs typeface="Courier New"/>
              </a:rPr>
              <a:t>addvec</a:t>
            </a:r>
            <a:r>
              <a:rPr lang="fi-FI" sz="1600" err="1">
                <a:solidFill>
                  <a:srgbClr val="000000"/>
                </a:solidFill>
                <a:latin typeface="Courier New"/>
                <a:cs typeface="Courier New"/>
              </a:rPr>
              <a:t>)(</a:t>
            </a:r>
            <a:r>
              <a:rPr lang="fi-FI" sz="1600" err="1">
                <a:solidFill>
                  <a:srgbClr val="2D961E"/>
                </a:solidFill>
                <a:latin typeface="Courier New"/>
                <a:cs typeface="Courier New"/>
              </a:rPr>
              <a:t>int</a:t>
            </a:r>
            <a:r>
              <a:rPr lang="fi-FI" sz="1600">
                <a:solidFill>
                  <a:srgbClr val="000000"/>
                </a:solidFill>
                <a:latin typeface="Courier New"/>
                <a:cs typeface="Courier New"/>
              </a:rPr>
              <a:t> *, </a:t>
            </a:r>
            <a:r>
              <a:rPr lang="fi-FI" sz="1600" err="1">
                <a:solidFill>
                  <a:srgbClr val="2D961E"/>
                </a:solidFill>
                <a:latin typeface="Courier New"/>
                <a:cs typeface="Courier New"/>
              </a:rPr>
              <a:t>int</a:t>
            </a:r>
            <a:r>
              <a:rPr lang="fi-FI" sz="1600">
                <a:solidFill>
                  <a:srgbClr val="000000"/>
                </a:solidFill>
                <a:latin typeface="Courier New"/>
                <a:cs typeface="Courier New"/>
              </a:rPr>
              <a:t> *, </a:t>
            </a:r>
            <a:r>
              <a:rPr lang="fi-FI" sz="1600" err="1">
                <a:solidFill>
                  <a:srgbClr val="2D961E"/>
                </a:solidFill>
                <a:latin typeface="Courier New"/>
                <a:cs typeface="Courier New"/>
              </a:rPr>
              <a:t>int</a:t>
            </a:r>
            <a:r>
              <a:rPr lang="fi-FI" sz="1600">
                <a:solidFill>
                  <a:srgbClr val="000000"/>
                </a:solidFill>
                <a:latin typeface="Courier New"/>
                <a:cs typeface="Courier New"/>
              </a:rPr>
              <a:t> *, </a:t>
            </a:r>
            <a:r>
              <a:rPr lang="fi-FI" sz="1600" err="1">
                <a:solidFill>
                  <a:srgbClr val="2D961E"/>
                </a:solidFill>
                <a:latin typeface="Courier New"/>
                <a:cs typeface="Courier New"/>
              </a:rPr>
              <a:t>int</a:t>
            </a:r>
            <a:r>
              <a:rPr lang="fi-FI" sz="1600">
                <a:solidFill>
                  <a:srgbClr val="000000"/>
                </a:solidFill>
                <a:latin typeface="Courier New"/>
                <a:cs typeface="Courier New"/>
              </a:rPr>
              <a:t>);</a:t>
            </a:r>
          </a:p>
          <a:p>
            <a:r>
              <a:rPr lang="fi-FI" sz="1600">
                <a:solidFill>
                  <a:srgbClr val="000000"/>
                </a:solidFill>
                <a:latin typeface="Courier New"/>
                <a:cs typeface="Courier New"/>
              </a:rPr>
              <a:t>    </a:t>
            </a:r>
            <a:r>
              <a:rPr lang="fi-FI" sz="1600" err="1">
                <a:solidFill>
                  <a:srgbClr val="2D961E"/>
                </a:solidFill>
                <a:latin typeface="Courier New"/>
                <a:cs typeface="Courier New"/>
              </a:rPr>
              <a:t>char</a:t>
            </a:r>
            <a:r>
              <a:rPr lang="fi-FI" sz="1600">
                <a:solidFill>
                  <a:srgbClr val="000000"/>
                </a:solidFill>
                <a:latin typeface="Courier New"/>
                <a:cs typeface="Courier New"/>
              </a:rPr>
              <a:t> *</a:t>
            </a:r>
            <a:r>
              <a:rPr lang="fi-FI" sz="1600" err="1">
                <a:solidFill>
                  <a:srgbClr val="C1651C"/>
                </a:solidFill>
                <a:latin typeface="Courier New"/>
                <a:cs typeface="Courier New"/>
              </a:rPr>
              <a:t>error</a:t>
            </a:r>
            <a:r>
              <a:rPr lang="fi-FI" sz="1600">
                <a:solidFill>
                  <a:srgbClr val="000000"/>
                </a:solidFill>
                <a:latin typeface="Courier New"/>
                <a:cs typeface="Courier New"/>
              </a:rPr>
              <a:t>;</a:t>
            </a:r>
          </a:p>
          <a:p>
            <a:endParaRPr lang="fi-FI" sz="1600">
              <a:solidFill>
                <a:srgbClr val="000000"/>
              </a:solidFill>
              <a:latin typeface="Courier New"/>
              <a:cs typeface="Courier New"/>
            </a:endParaRPr>
          </a:p>
          <a:p>
            <a:r>
              <a:rPr lang="fi-FI" sz="1600">
                <a:solidFill>
                  <a:srgbClr val="000000"/>
                </a:solidFill>
                <a:latin typeface="Courier New"/>
                <a:cs typeface="Courier New"/>
              </a:rPr>
              <a:t>    </a:t>
            </a:r>
            <a:r>
              <a:rPr lang="fi-FI" sz="1600">
                <a:solidFill>
                  <a:srgbClr val="CB2418"/>
                </a:solidFill>
                <a:latin typeface="Courier New"/>
                <a:cs typeface="Courier New"/>
              </a:rPr>
              <a:t>/* </a:t>
            </a:r>
            <a:r>
              <a:rPr lang="fi-FI" sz="1600" err="1">
                <a:solidFill>
                  <a:srgbClr val="CB2418"/>
                </a:solidFill>
                <a:latin typeface="Courier New"/>
                <a:cs typeface="Courier New"/>
              </a:rPr>
              <a:t>Dynamically</a:t>
            </a:r>
            <a:r>
              <a:rPr lang="fi-FI" sz="1600">
                <a:solidFill>
                  <a:srgbClr val="CB2418"/>
                </a:solidFill>
                <a:latin typeface="Courier New"/>
                <a:cs typeface="Courier New"/>
              </a:rPr>
              <a:t> </a:t>
            </a:r>
            <a:r>
              <a:rPr lang="fi-FI" sz="1600" err="1">
                <a:solidFill>
                  <a:srgbClr val="CB2418"/>
                </a:solidFill>
                <a:latin typeface="Courier New"/>
                <a:cs typeface="Courier New"/>
              </a:rPr>
              <a:t>load</a:t>
            </a:r>
            <a:r>
              <a:rPr lang="fi-FI" sz="1600">
                <a:solidFill>
                  <a:srgbClr val="CB2418"/>
                </a:solidFill>
                <a:latin typeface="Courier New"/>
                <a:cs typeface="Courier New"/>
              </a:rPr>
              <a:t> the </a:t>
            </a:r>
            <a:r>
              <a:rPr lang="fi-FI" sz="1600" err="1">
                <a:solidFill>
                  <a:srgbClr val="CB2418"/>
                </a:solidFill>
                <a:latin typeface="Courier New"/>
                <a:cs typeface="Courier New"/>
              </a:rPr>
              <a:t>shared</a:t>
            </a:r>
            <a:r>
              <a:rPr lang="fi-FI" sz="1600">
                <a:solidFill>
                  <a:srgbClr val="CB2418"/>
                </a:solidFill>
                <a:latin typeface="Courier New"/>
                <a:cs typeface="Courier New"/>
              </a:rPr>
              <a:t> </a:t>
            </a:r>
            <a:r>
              <a:rPr lang="fi-FI" sz="1600" err="1">
                <a:solidFill>
                  <a:srgbClr val="CB2418"/>
                </a:solidFill>
                <a:latin typeface="Courier New"/>
                <a:cs typeface="Courier New"/>
              </a:rPr>
              <a:t>library</a:t>
            </a:r>
            <a:r>
              <a:rPr lang="fi-FI" sz="1600">
                <a:solidFill>
                  <a:srgbClr val="CB2418"/>
                </a:solidFill>
                <a:latin typeface="Courier New"/>
                <a:cs typeface="Courier New"/>
              </a:rPr>
              <a:t> </a:t>
            </a:r>
            <a:r>
              <a:rPr lang="fi-FI" sz="1600" err="1">
                <a:solidFill>
                  <a:srgbClr val="CB2418"/>
                </a:solidFill>
                <a:latin typeface="Courier New"/>
                <a:cs typeface="Courier New"/>
              </a:rPr>
              <a:t>that</a:t>
            </a:r>
            <a:r>
              <a:rPr lang="fi-FI" sz="1600">
                <a:solidFill>
                  <a:srgbClr val="CB2418"/>
                </a:solidFill>
                <a:latin typeface="Courier New"/>
                <a:cs typeface="Courier New"/>
              </a:rPr>
              <a:t> </a:t>
            </a:r>
            <a:r>
              <a:rPr lang="fi-FI" sz="1600" err="1">
                <a:solidFill>
                  <a:srgbClr val="CB2418"/>
                </a:solidFill>
                <a:latin typeface="Courier New"/>
                <a:cs typeface="Courier New"/>
              </a:rPr>
              <a:t>contains</a:t>
            </a:r>
            <a:r>
              <a:rPr lang="fi-FI" sz="1600">
                <a:solidFill>
                  <a:srgbClr val="CB2418"/>
                </a:solidFill>
                <a:latin typeface="Courier New"/>
                <a:cs typeface="Courier New"/>
              </a:rPr>
              <a:t> </a:t>
            </a:r>
            <a:r>
              <a:rPr lang="fi-FI" sz="1600" err="1">
                <a:solidFill>
                  <a:srgbClr val="CB2418"/>
                </a:solidFill>
                <a:latin typeface="Courier New"/>
                <a:cs typeface="Courier New"/>
              </a:rPr>
              <a:t>addvec</a:t>
            </a:r>
            <a:r>
              <a:rPr lang="fi-FI" sz="1600">
                <a:solidFill>
                  <a:srgbClr val="CB2418"/>
                </a:solidFill>
                <a:latin typeface="Courier New"/>
                <a:cs typeface="Courier New"/>
              </a:rPr>
              <a:t>() */</a:t>
            </a:r>
            <a:endParaRPr lang="fi-FI" sz="1600">
              <a:solidFill>
                <a:srgbClr val="000000"/>
              </a:solidFill>
              <a:latin typeface="Courier New"/>
              <a:cs typeface="Courier New"/>
            </a:endParaRPr>
          </a:p>
          <a:p>
            <a:r>
              <a:rPr lang="fi-FI" sz="1600">
                <a:solidFill>
                  <a:srgbClr val="000000"/>
                </a:solidFill>
                <a:latin typeface="Courier New"/>
                <a:cs typeface="Courier New"/>
              </a:rPr>
              <a:t>    </a:t>
            </a:r>
            <a:r>
              <a:rPr lang="fi-FI" sz="1600" err="1">
                <a:solidFill>
                  <a:srgbClr val="000000"/>
                </a:solidFill>
                <a:latin typeface="Courier New"/>
                <a:cs typeface="Courier New"/>
              </a:rPr>
              <a:t>handle</a:t>
            </a:r>
            <a:r>
              <a:rPr lang="fi-FI" sz="1600">
                <a:solidFill>
                  <a:srgbClr val="000000"/>
                </a:solidFill>
                <a:latin typeface="Courier New"/>
                <a:cs typeface="Courier New"/>
              </a:rPr>
              <a:t> = </a:t>
            </a:r>
            <a:r>
              <a:rPr lang="fi-FI" sz="1600" err="1">
                <a:solidFill>
                  <a:srgbClr val="000000"/>
                </a:solidFill>
                <a:latin typeface="Courier New"/>
                <a:cs typeface="Courier New"/>
              </a:rPr>
              <a:t>dlopen(</a:t>
            </a:r>
            <a:r>
              <a:rPr lang="fi-FI" sz="1600" err="1">
                <a:solidFill>
                  <a:srgbClr val="9D206F"/>
                </a:solidFill>
                <a:latin typeface="Courier New"/>
                <a:cs typeface="Courier New"/>
              </a:rPr>
              <a:t>"./libvector.so</a:t>
            </a:r>
            <a:r>
              <a:rPr lang="fi-FI" sz="1600">
                <a:solidFill>
                  <a:srgbClr val="9D206F"/>
                </a:solidFill>
                <a:latin typeface="Courier New"/>
                <a:cs typeface="Courier New"/>
              </a:rPr>
              <a:t>"</a:t>
            </a:r>
            <a:r>
              <a:rPr lang="fi-FI" sz="1600">
                <a:solidFill>
                  <a:srgbClr val="000000"/>
                </a:solidFill>
                <a:latin typeface="Courier New"/>
                <a:cs typeface="Courier New"/>
              </a:rPr>
              <a:t>, RTLD_LAZY);</a:t>
            </a:r>
          </a:p>
          <a:p>
            <a:r>
              <a:rPr lang="en-US" sz="1600">
                <a:solidFill>
                  <a:srgbClr val="000000"/>
                </a:solidFill>
                <a:latin typeface="Courier New"/>
                <a:cs typeface="Courier New"/>
              </a:rPr>
              <a:t>    </a:t>
            </a:r>
            <a:r>
              <a:rPr lang="en-US" sz="1600">
                <a:solidFill>
                  <a:srgbClr val="C200FF"/>
                </a:solidFill>
                <a:latin typeface="Courier New"/>
                <a:cs typeface="Courier New"/>
              </a:rPr>
              <a:t>if</a:t>
            </a:r>
            <a:r>
              <a:rPr lang="en-US" sz="1600">
                <a:solidFill>
                  <a:srgbClr val="000000"/>
                </a:solidFill>
                <a:latin typeface="Courier New"/>
                <a:cs typeface="Courier New"/>
              </a:rPr>
              <a:t> (!handle) {</a:t>
            </a:r>
          </a:p>
          <a:p>
            <a:r>
              <a:rPr lang="pl-PL" sz="1600">
                <a:solidFill>
                  <a:srgbClr val="000000"/>
                </a:solidFill>
                <a:latin typeface="Courier New"/>
                <a:cs typeface="Courier New"/>
              </a:rPr>
              <a:t>        </a:t>
            </a:r>
            <a:r>
              <a:rPr lang="pl-PL" sz="1600" err="1">
                <a:solidFill>
                  <a:srgbClr val="000000"/>
                </a:solidFill>
                <a:latin typeface="Courier New"/>
                <a:cs typeface="Courier New"/>
              </a:rPr>
              <a:t>fprintf</a:t>
            </a:r>
            <a:r>
              <a:rPr lang="pl-PL" sz="1600">
                <a:solidFill>
                  <a:srgbClr val="000000"/>
                </a:solidFill>
                <a:latin typeface="Courier New"/>
                <a:cs typeface="Courier New"/>
              </a:rPr>
              <a:t>(</a:t>
            </a:r>
            <a:r>
              <a:rPr lang="pl-PL" sz="1600" err="1">
                <a:solidFill>
                  <a:srgbClr val="000000"/>
                </a:solidFill>
                <a:latin typeface="Courier New"/>
                <a:cs typeface="Courier New"/>
              </a:rPr>
              <a:t>stderr</a:t>
            </a:r>
            <a:r>
              <a:rPr lang="pl-PL" sz="1600">
                <a:solidFill>
                  <a:srgbClr val="000000"/>
                </a:solidFill>
                <a:latin typeface="Courier New"/>
                <a:cs typeface="Courier New"/>
              </a:rPr>
              <a:t>, </a:t>
            </a:r>
            <a:r>
              <a:rPr lang="pl-PL" sz="1600">
                <a:solidFill>
                  <a:srgbClr val="9D206F"/>
                </a:solidFill>
                <a:latin typeface="Courier New"/>
                <a:cs typeface="Courier New"/>
              </a:rPr>
              <a:t>"%s\n"</a:t>
            </a:r>
            <a:r>
              <a:rPr lang="pl-PL" sz="1600">
                <a:solidFill>
                  <a:srgbClr val="000000"/>
                </a:solidFill>
                <a:latin typeface="Courier New"/>
                <a:cs typeface="Courier New"/>
              </a:rPr>
              <a:t>, </a:t>
            </a:r>
            <a:r>
              <a:rPr lang="pl-PL" sz="1600" err="1">
                <a:solidFill>
                  <a:srgbClr val="000000"/>
                </a:solidFill>
                <a:latin typeface="Courier New"/>
                <a:cs typeface="Courier New"/>
              </a:rPr>
              <a:t>dlerror</a:t>
            </a:r>
            <a:r>
              <a:rPr lang="pl-PL" sz="1600">
                <a:solidFill>
                  <a:srgbClr val="000000"/>
                </a:solidFill>
                <a:latin typeface="Courier New"/>
                <a:cs typeface="Courier New"/>
              </a:rPr>
              <a:t>());</a:t>
            </a:r>
          </a:p>
          <a:p>
            <a:r>
              <a:rPr lang="pl-PL" sz="1600">
                <a:solidFill>
                  <a:srgbClr val="000000"/>
                </a:solidFill>
                <a:latin typeface="Courier New"/>
                <a:cs typeface="Courier New"/>
              </a:rPr>
              <a:t>        </a:t>
            </a:r>
            <a:r>
              <a:rPr lang="pl-PL" sz="1600" err="1">
                <a:solidFill>
                  <a:srgbClr val="000000"/>
                </a:solidFill>
                <a:latin typeface="Courier New"/>
                <a:cs typeface="Courier New"/>
              </a:rPr>
              <a:t>exit</a:t>
            </a:r>
            <a:r>
              <a:rPr lang="pl-PL" sz="1600">
                <a:solidFill>
                  <a:srgbClr val="000000"/>
                </a:solidFill>
                <a:latin typeface="Courier New"/>
                <a:cs typeface="Courier New"/>
              </a:rPr>
              <a:t>(1);</a:t>
            </a:r>
          </a:p>
          <a:p>
            <a:r>
              <a:rPr lang="pl-PL" sz="1600">
                <a:solidFill>
                  <a:srgbClr val="000000"/>
                </a:solidFill>
                <a:latin typeface="Courier New"/>
                <a:cs typeface="Courier New"/>
              </a:rPr>
              <a:t>    </a:t>
            </a:r>
            <a:r>
              <a:rPr lang="pl-PL" sz="1600" smtClean="0">
                <a:solidFill>
                  <a:srgbClr val="000000"/>
                </a:solidFill>
                <a:latin typeface="Courier New"/>
                <a:cs typeface="Courier New"/>
              </a:rPr>
              <a:t>}</a:t>
            </a:r>
          </a:p>
          <a:p>
            <a:r>
              <a:rPr lang="pl-PL" sz="1600" smtClean="0">
                <a:solidFill>
                  <a:srgbClr val="000000"/>
                </a:solidFill>
                <a:latin typeface="Courier New"/>
                <a:cs typeface="Courier New"/>
              </a:rPr>
              <a:t>  . . .</a:t>
            </a:r>
          </a:p>
        </p:txBody>
      </p:sp>
      <p:sp>
        <p:nvSpPr>
          <p:cNvPr id="4" name="Rectangle 3"/>
          <p:cNvSpPr>
            <a:spLocks noChangeArrowheads="1"/>
          </p:cNvSpPr>
          <p:nvPr/>
        </p:nvSpPr>
        <p:spPr bwMode="auto">
          <a:xfrm>
            <a:off x="7910428" y="6198631"/>
            <a:ext cx="928772"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err="1" smtClean="0">
                <a:solidFill>
                  <a:schemeClr val="tx1">
                    <a:lumMod val="50000"/>
                    <a:lumOff val="50000"/>
                  </a:schemeClr>
                </a:solidFill>
                <a:latin typeface="Courier New" pitchFamily="49" charset="0"/>
                <a:ea typeface="msgothic" charset="0"/>
                <a:cs typeface="msgothic" charset="0"/>
              </a:rPr>
              <a:t>dll.c</a:t>
            </a:r>
            <a:endParaRPr lang="en-GB" sz="1800" b="1" i="1">
              <a:solidFill>
                <a:schemeClr val="tx1">
                  <a:lumMod val="50000"/>
                  <a:lumOff val="50000"/>
                </a:schemeClr>
              </a:solidFill>
              <a:latin typeface="Courier New" pitchFamily="49" charset="0"/>
              <a:ea typeface="msgothic" charset="0"/>
              <a:cs typeface="msgothic" charset="0"/>
            </a:endParaRPr>
          </a:p>
        </p:txBody>
      </p:sp>
    </p:spTree>
    <p:extLst>
      <p:ext uri="{BB962C8B-B14F-4D97-AF65-F5344CB8AC3E}">
        <p14:creationId xmlns:p14="http://schemas.microsoft.com/office/powerpoint/2010/main" val="988931028"/>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1"/>
          <p:cNvSpPr>
            <a:spLocks noGrp="1" noChangeArrowheads="1"/>
          </p:cNvSpPr>
          <p:nvPr>
            <p:ph type="title" idx="4294967295"/>
          </p:nvPr>
        </p:nvSpPr>
        <p:spPr>
          <a:xfrm>
            <a:off x="404813" y="381000"/>
            <a:ext cx="8716962" cy="782638"/>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Dynamic Linking at Run-</a:t>
            </a:r>
            <a:r>
              <a:rPr lang="en-GB" smtClean="0"/>
              <a:t>time (</a:t>
            </a:r>
            <a:r>
              <a:rPr lang="en-GB" err="1" smtClean="0"/>
              <a:t>cont</a:t>
            </a:r>
            <a:r>
              <a:rPr lang="en-GB" smtClean="0"/>
              <a:t>)</a:t>
            </a:r>
            <a:endParaRPr lang="en-GB"/>
          </a:p>
        </p:txBody>
      </p:sp>
      <p:sp>
        <p:nvSpPr>
          <p:cNvPr id="38914" name="Text Box 2"/>
          <p:cNvSpPr txBox="1">
            <a:spLocks noChangeArrowheads="1"/>
          </p:cNvSpPr>
          <p:nvPr/>
        </p:nvSpPr>
        <p:spPr bwMode="auto">
          <a:xfrm>
            <a:off x="510981" y="1371600"/>
            <a:ext cx="7964237" cy="5004167"/>
          </a:xfrm>
          <a:prstGeom prst="rect">
            <a:avLst/>
          </a:prstGeom>
          <a:solidFill>
            <a:srgbClr val="F6F5BD"/>
          </a:solidFill>
          <a:ln w="1260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a:latin typeface="Courier New"/>
                <a:ea typeface="msgothic" charset="0"/>
                <a:cs typeface="Courier New"/>
              </a:rPr>
              <a:t>    ...</a:t>
            </a:r>
          </a:p>
          <a:p>
            <a:endParaRPr lang="en-US" sz="1600" smtClean="0">
              <a:solidFill>
                <a:srgbClr val="000000"/>
              </a:solidFill>
              <a:latin typeface="Courier New"/>
              <a:cs typeface="Courier New"/>
            </a:endParaRPr>
          </a:p>
          <a:p>
            <a:r>
              <a:rPr lang="en-US" sz="1600" smtClean="0">
                <a:solidFill>
                  <a:srgbClr val="000000"/>
                </a:solidFill>
                <a:latin typeface="Courier New"/>
                <a:cs typeface="Courier New"/>
              </a:rPr>
              <a:t>    </a:t>
            </a:r>
            <a:r>
              <a:rPr lang="en-US" sz="1600" smtClean="0">
                <a:solidFill>
                  <a:srgbClr val="CB2418"/>
                </a:solidFill>
                <a:latin typeface="Courier New"/>
                <a:cs typeface="Courier New"/>
              </a:rPr>
              <a:t>/</a:t>
            </a:r>
            <a:r>
              <a:rPr lang="en-US" sz="1600">
                <a:solidFill>
                  <a:srgbClr val="CB2418"/>
                </a:solidFill>
                <a:latin typeface="Courier New"/>
                <a:cs typeface="Courier New"/>
              </a:rPr>
              <a:t>* Get a pointer to the </a:t>
            </a:r>
            <a:r>
              <a:rPr lang="en-US" sz="1600" err="1">
                <a:solidFill>
                  <a:srgbClr val="CB2418"/>
                </a:solidFill>
                <a:latin typeface="Courier New"/>
                <a:cs typeface="Courier New"/>
              </a:rPr>
              <a:t>addvec</a:t>
            </a:r>
            <a:r>
              <a:rPr lang="en-US" sz="1600">
                <a:solidFill>
                  <a:srgbClr val="CB2418"/>
                </a:solidFill>
                <a:latin typeface="Courier New"/>
                <a:cs typeface="Courier New"/>
              </a:rPr>
              <a:t>() function we just loaded */</a:t>
            </a:r>
            <a:endParaRPr lang="en-US" sz="1600">
              <a:solidFill>
                <a:srgbClr val="000000"/>
              </a:solidFill>
              <a:latin typeface="Courier New"/>
              <a:cs typeface="Courier New"/>
            </a:endParaRPr>
          </a:p>
          <a:p>
            <a:r>
              <a:rPr lang="en-US" sz="1600">
                <a:solidFill>
                  <a:srgbClr val="000000"/>
                </a:solidFill>
                <a:latin typeface="Courier New"/>
                <a:cs typeface="Courier New"/>
              </a:rPr>
              <a:t>    </a:t>
            </a:r>
            <a:r>
              <a:rPr lang="en-US" sz="1600" err="1">
                <a:solidFill>
                  <a:srgbClr val="000000"/>
                </a:solidFill>
                <a:latin typeface="Courier New"/>
                <a:cs typeface="Courier New"/>
              </a:rPr>
              <a:t>addvec</a:t>
            </a:r>
            <a:r>
              <a:rPr lang="en-US" sz="1600">
                <a:solidFill>
                  <a:srgbClr val="000000"/>
                </a:solidFill>
                <a:latin typeface="Courier New"/>
                <a:cs typeface="Courier New"/>
              </a:rPr>
              <a:t> = </a:t>
            </a:r>
            <a:r>
              <a:rPr lang="en-US" sz="1600" err="1">
                <a:solidFill>
                  <a:srgbClr val="000000"/>
                </a:solidFill>
                <a:latin typeface="Courier New"/>
                <a:cs typeface="Courier New"/>
              </a:rPr>
              <a:t>dlsym</a:t>
            </a:r>
            <a:r>
              <a:rPr lang="en-US" sz="1600">
                <a:solidFill>
                  <a:srgbClr val="000000"/>
                </a:solidFill>
                <a:latin typeface="Courier New"/>
                <a:cs typeface="Courier New"/>
              </a:rPr>
              <a:t>(handle, </a:t>
            </a:r>
            <a:r>
              <a:rPr lang="en-US" sz="1600">
                <a:solidFill>
                  <a:srgbClr val="9D206F"/>
                </a:solidFill>
                <a:latin typeface="Courier New"/>
                <a:cs typeface="Courier New"/>
              </a:rPr>
              <a:t>"</a:t>
            </a:r>
            <a:r>
              <a:rPr lang="en-US" sz="1600" err="1">
                <a:solidFill>
                  <a:srgbClr val="9D206F"/>
                </a:solidFill>
                <a:latin typeface="Courier New"/>
                <a:cs typeface="Courier New"/>
              </a:rPr>
              <a:t>addvec</a:t>
            </a:r>
            <a:r>
              <a:rPr lang="en-US" sz="1600">
                <a:solidFill>
                  <a:srgbClr val="9D206F"/>
                </a:solidFill>
                <a:latin typeface="Courier New"/>
                <a:cs typeface="Courier New"/>
              </a:rPr>
              <a:t>"</a:t>
            </a:r>
            <a:r>
              <a:rPr lang="en-US" sz="1600">
                <a:solidFill>
                  <a:srgbClr val="000000"/>
                </a:solidFill>
                <a:latin typeface="Courier New"/>
                <a:cs typeface="Courier New"/>
              </a:rPr>
              <a:t>);</a:t>
            </a:r>
          </a:p>
          <a:p>
            <a:r>
              <a:rPr lang="en-US" sz="1600">
                <a:solidFill>
                  <a:srgbClr val="000000"/>
                </a:solidFill>
                <a:latin typeface="Courier New"/>
                <a:cs typeface="Courier New"/>
              </a:rPr>
              <a:t>    </a:t>
            </a:r>
            <a:r>
              <a:rPr lang="en-US" sz="1600">
                <a:solidFill>
                  <a:srgbClr val="C200FF"/>
                </a:solidFill>
                <a:latin typeface="Courier New"/>
                <a:cs typeface="Courier New"/>
              </a:rPr>
              <a:t>if</a:t>
            </a:r>
            <a:r>
              <a:rPr lang="en-US" sz="1600">
                <a:solidFill>
                  <a:srgbClr val="000000"/>
                </a:solidFill>
                <a:latin typeface="Courier New"/>
                <a:cs typeface="Courier New"/>
              </a:rPr>
              <a:t> ((error = </a:t>
            </a:r>
            <a:r>
              <a:rPr lang="en-US" sz="1600" err="1">
                <a:solidFill>
                  <a:srgbClr val="000000"/>
                </a:solidFill>
                <a:latin typeface="Courier New"/>
                <a:cs typeface="Courier New"/>
              </a:rPr>
              <a:t>dlerror</a:t>
            </a:r>
            <a:r>
              <a:rPr lang="en-US" sz="1600">
                <a:solidFill>
                  <a:srgbClr val="000000"/>
                </a:solidFill>
                <a:latin typeface="Courier New"/>
                <a:cs typeface="Courier New"/>
              </a:rPr>
              <a:t>()) != </a:t>
            </a:r>
            <a:r>
              <a:rPr lang="en-US" sz="1600">
                <a:solidFill>
                  <a:srgbClr val="2C9290"/>
                </a:solidFill>
                <a:latin typeface="Courier New"/>
                <a:cs typeface="Courier New"/>
              </a:rPr>
              <a:t>NULL</a:t>
            </a:r>
            <a:r>
              <a:rPr lang="en-US" sz="1600">
                <a:solidFill>
                  <a:srgbClr val="000000"/>
                </a:solidFill>
                <a:latin typeface="Courier New"/>
                <a:cs typeface="Courier New"/>
              </a:rPr>
              <a:t>) {</a:t>
            </a:r>
          </a:p>
          <a:p>
            <a:r>
              <a:rPr lang="en-US" sz="1600">
                <a:solidFill>
                  <a:srgbClr val="000000"/>
                </a:solidFill>
                <a:latin typeface="Courier New"/>
                <a:cs typeface="Courier New"/>
              </a:rPr>
              <a:t>        </a:t>
            </a:r>
            <a:r>
              <a:rPr lang="en-US" sz="1600" err="1">
                <a:solidFill>
                  <a:srgbClr val="000000"/>
                </a:solidFill>
                <a:latin typeface="Courier New"/>
                <a:cs typeface="Courier New"/>
              </a:rPr>
              <a:t>fprintf</a:t>
            </a:r>
            <a:r>
              <a:rPr lang="en-US" sz="1600">
                <a:solidFill>
                  <a:srgbClr val="000000"/>
                </a:solidFill>
                <a:latin typeface="Courier New"/>
                <a:cs typeface="Courier New"/>
              </a:rPr>
              <a:t>(</a:t>
            </a:r>
            <a:r>
              <a:rPr lang="en-US" sz="1600" err="1">
                <a:solidFill>
                  <a:srgbClr val="000000"/>
                </a:solidFill>
                <a:latin typeface="Courier New"/>
                <a:cs typeface="Courier New"/>
              </a:rPr>
              <a:t>stderr</a:t>
            </a:r>
            <a:r>
              <a:rPr lang="en-US" sz="1600">
                <a:solidFill>
                  <a:srgbClr val="000000"/>
                </a:solidFill>
                <a:latin typeface="Courier New"/>
                <a:cs typeface="Courier New"/>
              </a:rPr>
              <a:t>, </a:t>
            </a:r>
            <a:r>
              <a:rPr lang="en-US" sz="1600">
                <a:solidFill>
                  <a:srgbClr val="9D206F"/>
                </a:solidFill>
                <a:latin typeface="Courier New"/>
                <a:cs typeface="Courier New"/>
              </a:rPr>
              <a:t>"%s\n"</a:t>
            </a:r>
            <a:r>
              <a:rPr lang="en-US" sz="1600">
                <a:solidFill>
                  <a:srgbClr val="000000"/>
                </a:solidFill>
                <a:latin typeface="Courier New"/>
                <a:cs typeface="Courier New"/>
              </a:rPr>
              <a:t>, error);</a:t>
            </a:r>
          </a:p>
          <a:p>
            <a:r>
              <a:rPr lang="en-US" sz="1600">
                <a:solidFill>
                  <a:srgbClr val="000000"/>
                </a:solidFill>
                <a:latin typeface="Courier New"/>
                <a:cs typeface="Courier New"/>
              </a:rPr>
              <a:t>        exit(1);</a:t>
            </a:r>
          </a:p>
          <a:p>
            <a:r>
              <a:rPr lang="en-US" sz="1600">
                <a:solidFill>
                  <a:srgbClr val="000000"/>
                </a:solidFill>
                <a:latin typeface="Courier New"/>
                <a:cs typeface="Courier New"/>
              </a:rPr>
              <a:t>    }</a:t>
            </a:r>
          </a:p>
          <a:p>
            <a:endParaRPr lang="en-US" sz="1600">
              <a:solidFill>
                <a:srgbClr val="000000"/>
              </a:solidFill>
              <a:latin typeface="Courier New"/>
              <a:cs typeface="Courier New"/>
            </a:endParaRPr>
          </a:p>
          <a:p>
            <a:r>
              <a:rPr lang="en-US" sz="1600">
                <a:solidFill>
                  <a:srgbClr val="000000"/>
                </a:solidFill>
                <a:latin typeface="Courier New"/>
                <a:cs typeface="Courier New"/>
              </a:rPr>
              <a:t>    </a:t>
            </a:r>
            <a:r>
              <a:rPr lang="en-US" sz="1600">
                <a:solidFill>
                  <a:srgbClr val="CB2418"/>
                </a:solidFill>
                <a:latin typeface="Courier New"/>
                <a:cs typeface="Courier New"/>
              </a:rPr>
              <a:t>/* Now we can call </a:t>
            </a:r>
            <a:r>
              <a:rPr lang="en-US" sz="1600" err="1">
                <a:solidFill>
                  <a:srgbClr val="CB2418"/>
                </a:solidFill>
                <a:latin typeface="Courier New"/>
                <a:cs typeface="Courier New"/>
              </a:rPr>
              <a:t>addvec</a:t>
            </a:r>
            <a:r>
              <a:rPr lang="en-US" sz="1600">
                <a:solidFill>
                  <a:srgbClr val="CB2418"/>
                </a:solidFill>
                <a:latin typeface="Courier New"/>
                <a:cs typeface="Courier New"/>
              </a:rPr>
              <a:t>() just like any other function */</a:t>
            </a:r>
            <a:endParaRPr lang="en-US" sz="1600">
              <a:solidFill>
                <a:srgbClr val="000000"/>
              </a:solidFill>
              <a:latin typeface="Courier New"/>
              <a:cs typeface="Courier New"/>
            </a:endParaRPr>
          </a:p>
          <a:p>
            <a:r>
              <a:rPr lang="en-US" sz="1600">
                <a:solidFill>
                  <a:srgbClr val="000000"/>
                </a:solidFill>
                <a:latin typeface="Courier New"/>
                <a:cs typeface="Courier New"/>
              </a:rPr>
              <a:t>    </a:t>
            </a:r>
            <a:r>
              <a:rPr lang="en-US" sz="1600" err="1">
                <a:solidFill>
                  <a:srgbClr val="000000"/>
                </a:solidFill>
                <a:latin typeface="Courier New"/>
                <a:cs typeface="Courier New"/>
              </a:rPr>
              <a:t>addvec</a:t>
            </a:r>
            <a:r>
              <a:rPr lang="en-US" sz="1600">
                <a:solidFill>
                  <a:srgbClr val="000000"/>
                </a:solidFill>
                <a:latin typeface="Courier New"/>
                <a:cs typeface="Courier New"/>
              </a:rPr>
              <a:t>(x, y, z, 2);</a:t>
            </a:r>
          </a:p>
          <a:p>
            <a:r>
              <a:rPr lang="ro-RO" sz="1600">
                <a:solidFill>
                  <a:srgbClr val="000000"/>
                </a:solidFill>
                <a:latin typeface="Courier New"/>
                <a:cs typeface="Courier New"/>
              </a:rPr>
              <a:t>    printf(</a:t>
            </a:r>
            <a:r>
              <a:rPr lang="ro-RO" sz="1600">
                <a:solidFill>
                  <a:srgbClr val="9D206F"/>
                </a:solidFill>
                <a:latin typeface="Courier New"/>
                <a:cs typeface="Courier New"/>
              </a:rPr>
              <a:t>"z = [%d %d]\n"</a:t>
            </a:r>
            <a:r>
              <a:rPr lang="ro-RO" sz="1600">
                <a:solidFill>
                  <a:srgbClr val="000000"/>
                </a:solidFill>
                <a:latin typeface="Courier New"/>
                <a:cs typeface="Courier New"/>
              </a:rPr>
              <a:t>, z[0], z[1]);</a:t>
            </a:r>
          </a:p>
          <a:p>
            <a:endParaRPr lang="ro-RO" sz="1600">
              <a:solidFill>
                <a:srgbClr val="000000"/>
              </a:solidFill>
              <a:latin typeface="Courier New"/>
              <a:cs typeface="Courier New"/>
            </a:endParaRPr>
          </a:p>
          <a:p>
            <a:r>
              <a:rPr lang="ro-RO" sz="1600">
                <a:solidFill>
                  <a:srgbClr val="000000"/>
                </a:solidFill>
                <a:latin typeface="Courier New"/>
                <a:cs typeface="Courier New"/>
              </a:rPr>
              <a:t>    </a:t>
            </a:r>
            <a:r>
              <a:rPr lang="ro-RO" sz="1600">
                <a:solidFill>
                  <a:srgbClr val="CB2418"/>
                </a:solidFill>
                <a:latin typeface="Courier New"/>
                <a:cs typeface="Courier New"/>
              </a:rPr>
              <a:t>/* Unload the shared library */</a:t>
            </a:r>
            <a:endParaRPr lang="ro-RO" sz="1600">
              <a:solidFill>
                <a:srgbClr val="000000"/>
              </a:solidFill>
              <a:latin typeface="Courier New"/>
              <a:cs typeface="Courier New"/>
            </a:endParaRPr>
          </a:p>
          <a:p>
            <a:r>
              <a:rPr lang="en-US" sz="1600">
                <a:solidFill>
                  <a:srgbClr val="000000"/>
                </a:solidFill>
                <a:latin typeface="Courier New"/>
                <a:cs typeface="Courier New"/>
              </a:rPr>
              <a:t>    </a:t>
            </a:r>
            <a:r>
              <a:rPr lang="en-US" sz="1600">
                <a:solidFill>
                  <a:srgbClr val="C200FF"/>
                </a:solidFill>
                <a:latin typeface="Courier New"/>
                <a:cs typeface="Courier New"/>
              </a:rPr>
              <a:t>if</a:t>
            </a:r>
            <a:r>
              <a:rPr lang="en-US" sz="1600">
                <a:solidFill>
                  <a:srgbClr val="000000"/>
                </a:solidFill>
                <a:latin typeface="Courier New"/>
                <a:cs typeface="Courier New"/>
              </a:rPr>
              <a:t> (</a:t>
            </a:r>
            <a:r>
              <a:rPr lang="en-US" sz="1600" err="1">
                <a:solidFill>
                  <a:srgbClr val="000000"/>
                </a:solidFill>
                <a:latin typeface="Courier New"/>
                <a:cs typeface="Courier New"/>
              </a:rPr>
              <a:t>dlclose</a:t>
            </a:r>
            <a:r>
              <a:rPr lang="en-US" sz="1600">
                <a:solidFill>
                  <a:srgbClr val="000000"/>
                </a:solidFill>
                <a:latin typeface="Courier New"/>
                <a:cs typeface="Courier New"/>
              </a:rPr>
              <a:t>(handle) &lt; 0) {</a:t>
            </a:r>
          </a:p>
          <a:p>
            <a:r>
              <a:rPr lang="pl-PL" sz="1600">
                <a:solidFill>
                  <a:srgbClr val="000000"/>
                </a:solidFill>
                <a:latin typeface="Courier New"/>
                <a:cs typeface="Courier New"/>
              </a:rPr>
              <a:t>        </a:t>
            </a:r>
            <a:r>
              <a:rPr lang="pl-PL" sz="1600" err="1">
                <a:solidFill>
                  <a:srgbClr val="000000"/>
                </a:solidFill>
                <a:latin typeface="Courier New"/>
                <a:cs typeface="Courier New"/>
              </a:rPr>
              <a:t>fprintf</a:t>
            </a:r>
            <a:r>
              <a:rPr lang="pl-PL" sz="1600">
                <a:solidFill>
                  <a:srgbClr val="000000"/>
                </a:solidFill>
                <a:latin typeface="Courier New"/>
                <a:cs typeface="Courier New"/>
              </a:rPr>
              <a:t>(</a:t>
            </a:r>
            <a:r>
              <a:rPr lang="pl-PL" sz="1600" err="1">
                <a:solidFill>
                  <a:srgbClr val="000000"/>
                </a:solidFill>
                <a:latin typeface="Courier New"/>
                <a:cs typeface="Courier New"/>
              </a:rPr>
              <a:t>stderr</a:t>
            </a:r>
            <a:r>
              <a:rPr lang="pl-PL" sz="1600">
                <a:solidFill>
                  <a:srgbClr val="000000"/>
                </a:solidFill>
                <a:latin typeface="Courier New"/>
                <a:cs typeface="Courier New"/>
              </a:rPr>
              <a:t>, </a:t>
            </a:r>
            <a:r>
              <a:rPr lang="pl-PL" sz="1600">
                <a:solidFill>
                  <a:srgbClr val="9D206F"/>
                </a:solidFill>
                <a:latin typeface="Courier New"/>
                <a:cs typeface="Courier New"/>
              </a:rPr>
              <a:t>"%s\n"</a:t>
            </a:r>
            <a:r>
              <a:rPr lang="pl-PL" sz="1600">
                <a:solidFill>
                  <a:srgbClr val="000000"/>
                </a:solidFill>
                <a:latin typeface="Courier New"/>
                <a:cs typeface="Courier New"/>
              </a:rPr>
              <a:t>, </a:t>
            </a:r>
            <a:r>
              <a:rPr lang="pl-PL" sz="1600" err="1">
                <a:solidFill>
                  <a:srgbClr val="000000"/>
                </a:solidFill>
                <a:latin typeface="Courier New"/>
                <a:cs typeface="Courier New"/>
              </a:rPr>
              <a:t>dlerror</a:t>
            </a:r>
            <a:r>
              <a:rPr lang="pl-PL" sz="1600">
                <a:solidFill>
                  <a:srgbClr val="000000"/>
                </a:solidFill>
                <a:latin typeface="Courier New"/>
                <a:cs typeface="Courier New"/>
              </a:rPr>
              <a:t>());</a:t>
            </a:r>
          </a:p>
          <a:p>
            <a:r>
              <a:rPr lang="pl-PL" sz="1600">
                <a:solidFill>
                  <a:srgbClr val="000000"/>
                </a:solidFill>
                <a:latin typeface="Courier New"/>
                <a:cs typeface="Courier New"/>
              </a:rPr>
              <a:t>        </a:t>
            </a:r>
            <a:r>
              <a:rPr lang="pl-PL" sz="1600" err="1">
                <a:solidFill>
                  <a:srgbClr val="000000"/>
                </a:solidFill>
                <a:latin typeface="Courier New"/>
                <a:cs typeface="Courier New"/>
              </a:rPr>
              <a:t>exit</a:t>
            </a:r>
            <a:r>
              <a:rPr lang="pl-PL" sz="1600">
                <a:solidFill>
                  <a:srgbClr val="000000"/>
                </a:solidFill>
                <a:latin typeface="Courier New"/>
                <a:cs typeface="Courier New"/>
              </a:rPr>
              <a:t>(1);</a:t>
            </a:r>
          </a:p>
          <a:p>
            <a:r>
              <a:rPr lang="pl-PL" sz="1600">
                <a:solidFill>
                  <a:srgbClr val="000000"/>
                </a:solidFill>
                <a:latin typeface="Courier New"/>
                <a:cs typeface="Courier New"/>
              </a:rPr>
              <a:t>    }</a:t>
            </a:r>
          </a:p>
          <a:p>
            <a:r>
              <a:rPr lang="is-IS" sz="1600">
                <a:solidFill>
                  <a:srgbClr val="000000"/>
                </a:solidFill>
                <a:latin typeface="Courier New"/>
                <a:cs typeface="Courier New"/>
              </a:rPr>
              <a:t>    </a:t>
            </a:r>
            <a:r>
              <a:rPr lang="is-IS" sz="1600">
                <a:solidFill>
                  <a:srgbClr val="C200FF"/>
                </a:solidFill>
                <a:latin typeface="Courier New"/>
                <a:cs typeface="Courier New"/>
              </a:rPr>
              <a:t>return</a:t>
            </a:r>
            <a:r>
              <a:rPr lang="is-IS" sz="1600">
                <a:solidFill>
                  <a:srgbClr val="000000"/>
                </a:solidFill>
                <a:latin typeface="Courier New"/>
                <a:cs typeface="Courier New"/>
              </a:rPr>
              <a:t> 0;</a:t>
            </a:r>
          </a:p>
          <a:p>
            <a:r>
              <a:rPr lang="is-IS" sz="1600" smtClean="0">
                <a:solidFill>
                  <a:srgbClr val="000000"/>
                </a:solidFill>
                <a:latin typeface="Courier New"/>
                <a:cs typeface="Courier New"/>
              </a:rPr>
              <a:t>}</a:t>
            </a:r>
            <a:endParaRPr lang="en-GB" sz="1600">
              <a:latin typeface="Courier New"/>
              <a:ea typeface="msgothic" charset="0"/>
              <a:cs typeface="Courier New"/>
            </a:endParaRPr>
          </a:p>
        </p:txBody>
      </p:sp>
      <p:sp>
        <p:nvSpPr>
          <p:cNvPr id="4" name="Rectangle 3"/>
          <p:cNvSpPr>
            <a:spLocks noChangeArrowheads="1"/>
          </p:cNvSpPr>
          <p:nvPr/>
        </p:nvSpPr>
        <p:spPr bwMode="auto">
          <a:xfrm>
            <a:off x="7605628" y="6019800"/>
            <a:ext cx="928772"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err="1" smtClean="0">
                <a:solidFill>
                  <a:schemeClr val="tx1">
                    <a:lumMod val="50000"/>
                    <a:lumOff val="50000"/>
                  </a:schemeClr>
                </a:solidFill>
                <a:latin typeface="Courier New" pitchFamily="49" charset="0"/>
                <a:ea typeface="msgothic" charset="0"/>
                <a:cs typeface="msgothic" charset="0"/>
              </a:rPr>
              <a:t>dll.c</a:t>
            </a:r>
            <a:endParaRPr lang="en-GB" sz="1800" b="1" i="1">
              <a:solidFill>
                <a:schemeClr val="tx1">
                  <a:lumMod val="50000"/>
                  <a:lumOff val="50000"/>
                </a:schemeClr>
              </a:solidFill>
              <a:latin typeface="Courier New" pitchFamily="49" charset="0"/>
              <a:ea typeface="msgothic" charset="0"/>
              <a:cs typeface="msgothic" charset="0"/>
            </a:endParaRPr>
          </a:p>
        </p:txBody>
      </p:sp>
    </p:spTree>
    <p:extLst>
      <p:ext uri="{BB962C8B-B14F-4D97-AF65-F5344CB8AC3E}">
        <p14:creationId xmlns:p14="http://schemas.microsoft.com/office/powerpoint/2010/main" val="696764614"/>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1"/>
          <p:cNvSpPr>
            <a:spLocks noGrp="1" noChangeArrowheads="1"/>
          </p:cNvSpPr>
          <p:nvPr>
            <p:ph type="title" idx="4294967295"/>
          </p:nvPr>
        </p:nvSpPr>
        <p:spPr>
          <a:xfrm>
            <a:off x="350838" y="285750"/>
            <a:ext cx="8716962" cy="781050"/>
          </a:xfrm>
          <a:ln/>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t>Dynamic Linking at </a:t>
            </a:r>
            <a:r>
              <a:rPr lang="en-GB" smtClean="0"/>
              <a:t>Run-</a:t>
            </a:r>
            <a:r>
              <a:rPr lang="en-GB"/>
              <a:t>time</a:t>
            </a:r>
          </a:p>
        </p:txBody>
      </p:sp>
      <p:sp>
        <p:nvSpPr>
          <p:cNvPr id="36866" name="Line 2"/>
          <p:cNvSpPr>
            <a:spLocks noChangeShapeType="1"/>
          </p:cNvSpPr>
          <p:nvPr/>
        </p:nvSpPr>
        <p:spPr bwMode="auto">
          <a:xfrm>
            <a:off x="2620963" y="1247500"/>
            <a:ext cx="1587" cy="381000"/>
          </a:xfrm>
          <a:prstGeom prst="line">
            <a:avLst/>
          </a:prstGeom>
          <a:noFill/>
          <a:ln w="3240">
            <a:solidFill>
              <a:srgbClr val="000066"/>
            </a:solidFill>
            <a:miter lim="800000"/>
            <a:headEnd/>
            <a:tailEnd type="triangle" w="med" len="med"/>
          </a:ln>
          <a:effectLst/>
        </p:spPr>
        <p:txBody>
          <a:bodyPr/>
          <a:lstStyle/>
          <a:p>
            <a:endParaRPr lang="en-US"/>
          </a:p>
        </p:txBody>
      </p:sp>
      <p:sp>
        <p:nvSpPr>
          <p:cNvPr id="36867" name="Rectangle 3"/>
          <p:cNvSpPr>
            <a:spLocks noChangeArrowheads="1"/>
          </p:cNvSpPr>
          <p:nvPr/>
        </p:nvSpPr>
        <p:spPr bwMode="auto">
          <a:xfrm>
            <a:off x="2454275" y="1657075"/>
            <a:ext cx="1676400" cy="574675"/>
          </a:xfrm>
          <a:prstGeom prst="rect">
            <a:avLst/>
          </a:prstGeom>
          <a:solidFill>
            <a:schemeClr val="accent2">
              <a:lumMod val="20000"/>
              <a:lumOff val="80000"/>
            </a:schemeClr>
          </a:solidFill>
          <a:ln w="32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Translators </a:t>
            </a:r>
            <a:endParaRPr lang="en-GB" sz="1600" b="1" smtClean="0">
              <a:latin typeface="Calibri" pitchFamily="34" charset="0"/>
              <a:ea typeface="msgothic" charset="0"/>
              <a:cs typeface="msgothic" charset="0"/>
            </a:endParaRP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smtClean="0">
                <a:latin typeface="Calibri" pitchFamily="34" charset="0"/>
                <a:ea typeface="msgothic" charset="0"/>
                <a:cs typeface="msgothic" charset="0"/>
              </a:rPr>
              <a:t>(</a:t>
            </a:r>
            <a:r>
              <a:rPr lang="en-GB" sz="1600" b="1" err="1">
                <a:latin typeface="Courier New" pitchFamily="49" charset="0"/>
                <a:ea typeface="msgothic" charset="0"/>
                <a:cs typeface="msgothic" charset="0"/>
              </a:rPr>
              <a:t>cpp</a:t>
            </a:r>
            <a:r>
              <a:rPr lang="en-GB" sz="1600" b="1">
                <a:latin typeface="Calibri" pitchFamily="34" charset="0"/>
                <a:ea typeface="msgothic" charset="0"/>
                <a:cs typeface="msgothic" charset="0"/>
              </a:rPr>
              <a:t>, </a:t>
            </a:r>
            <a:r>
              <a:rPr lang="en-GB" sz="1600" b="1">
                <a:latin typeface="Courier New" pitchFamily="49" charset="0"/>
                <a:ea typeface="msgothic" charset="0"/>
                <a:cs typeface="msgothic" charset="0"/>
              </a:rPr>
              <a:t>cc1</a:t>
            </a:r>
            <a:r>
              <a:rPr lang="en-GB" sz="1600" b="1">
                <a:latin typeface="Calibri" pitchFamily="34" charset="0"/>
                <a:ea typeface="msgothic" charset="0"/>
                <a:cs typeface="msgothic" charset="0"/>
              </a:rPr>
              <a:t>, </a:t>
            </a:r>
            <a:r>
              <a:rPr lang="en-GB" sz="1600" b="1">
                <a:latin typeface="Courier New" pitchFamily="49" charset="0"/>
                <a:ea typeface="msgothic" charset="0"/>
                <a:cs typeface="msgothic" charset="0"/>
              </a:rPr>
              <a:t>as</a:t>
            </a:r>
            <a:r>
              <a:rPr lang="en-GB" sz="1600" b="1">
                <a:latin typeface="Calibri" pitchFamily="34" charset="0"/>
                <a:ea typeface="msgothic" charset="0"/>
                <a:cs typeface="msgothic" charset="0"/>
              </a:rPr>
              <a:t>)</a:t>
            </a:r>
          </a:p>
        </p:txBody>
      </p:sp>
      <p:sp>
        <p:nvSpPr>
          <p:cNvPr id="36868" name="Text Box 4"/>
          <p:cNvSpPr txBox="1">
            <a:spLocks noChangeArrowheads="1"/>
          </p:cNvSpPr>
          <p:nvPr/>
        </p:nvSpPr>
        <p:spPr bwMode="auto">
          <a:xfrm>
            <a:off x="2205396" y="1010963"/>
            <a:ext cx="797411" cy="328424"/>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err="1" smtClean="0">
                <a:latin typeface="Courier New" pitchFamily="49" charset="0"/>
                <a:ea typeface="msgothic" charset="0"/>
                <a:cs typeface="msgothic" charset="0"/>
              </a:rPr>
              <a:t>dll.c</a:t>
            </a:r>
            <a:endParaRPr lang="en-GB" sz="1600" b="1">
              <a:latin typeface="Courier New" pitchFamily="49" charset="0"/>
              <a:ea typeface="msgothic" charset="0"/>
              <a:cs typeface="msgothic" charset="0"/>
            </a:endParaRPr>
          </a:p>
        </p:txBody>
      </p:sp>
      <p:sp>
        <p:nvSpPr>
          <p:cNvPr id="36869" name="Text Box 5"/>
          <p:cNvSpPr txBox="1">
            <a:spLocks noChangeArrowheads="1"/>
          </p:cNvSpPr>
          <p:nvPr/>
        </p:nvSpPr>
        <p:spPr bwMode="auto">
          <a:xfrm>
            <a:off x="2881671" y="2568300"/>
            <a:ext cx="797411" cy="328424"/>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err="1" smtClean="0">
                <a:latin typeface="Courier New" pitchFamily="49" charset="0"/>
                <a:ea typeface="msgothic" charset="0"/>
                <a:cs typeface="msgothic" charset="0"/>
              </a:rPr>
              <a:t>dll.o</a:t>
            </a:r>
            <a:endParaRPr lang="en-GB" sz="1600" b="1">
              <a:latin typeface="Courier New" pitchFamily="49" charset="0"/>
              <a:ea typeface="msgothic" charset="0"/>
              <a:cs typeface="msgothic" charset="0"/>
            </a:endParaRPr>
          </a:p>
        </p:txBody>
      </p:sp>
      <p:sp>
        <p:nvSpPr>
          <p:cNvPr id="36870" name="Line 6"/>
          <p:cNvSpPr>
            <a:spLocks noChangeShapeType="1"/>
          </p:cNvSpPr>
          <p:nvPr/>
        </p:nvSpPr>
        <p:spPr bwMode="auto">
          <a:xfrm>
            <a:off x="3292475" y="2238100"/>
            <a:ext cx="1588" cy="381000"/>
          </a:xfrm>
          <a:prstGeom prst="line">
            <a:avLst/>
          </a:prstGeom>
          <a:noFill/>
          <a:ln w="3240">
            <a:solidFill>
              <a:srgbClr val="000066"/>
            </a:solidFill>
            <a:miter lim="800000"/>
            <a:headEnd/>
            <a:tailEnd type="triangle" w="med" len="med"/>
          </a:ln>
          <a:effectLst/>
        </p:spPr>
        <p:txBody>
          <a:bodyPr/>
          <a:lstStyle/>
          <a:p>
            <a:endParaRPr lang="en-US"/>
          </a:p>
        </p:txBody>
      </p:sp>
      <p:sp>
        <p:nvSpPr>
          <p:cNvPr id="36871" name="Text Box 7"/>
          <p:cNvSpPr txBox="1">
            <a:spLocks noChangeArrowheads="1"/>
          </p:cNvSpPr>
          <p:nvPr/>
        </p:nvSpPr>
        <p:spPr bwMode="auto">
          <a:xfrm>
            <a:off x="4668906" y="2132047"/>
            <a:ext cx="1043672" cy="328424"/>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err="1" smtClean="0">
                <a:latin typeface="Courier New" pitchFamily="49" charset="0"/>
                <a:ea typeface="msgothic" charset="0"/>
                <a:cs typeface="msgothic" charset="0"/>
              </a:rPr>
              <a:t>libc.so</a:t>
            </a:r>
            <a:endParaRPr lang="en-GB" sz="1600" b="1">
              <a:latin typeface="Courier New" pitchFamily="49" charset="0"/>
              <a:ea typeface="msgothic" charset="0"/>
              <a:cs typeface="msgothic" charset="0"/>
            </a:endParaRPr>
          </a:p>
        </p:txBody>
      </p:sp>
      <p:sp>
        <p:nvSpPr>
          <p:cNvPr id="36872" name="Rectangle 8"/>
          <p:cNvSpPr>
            <a:spLocks noChangeArrowheads="1"/>
          </p:cNvSpPr>
          <p:nvPr/>
        </p:nvSpPr>
        <p:spPr bwMode="auto">
          <a:xfrm>
            <a:off x="2454275" y="3225525"/>
            <a:ext cx="3028950" cy="341313"/>
          </a:xfrm>
          <a:prstGeom prst="rect">
            <a:avLst/>
          </a:prstGeom>
          <a:solidFill>
            <a:schemeClr val="accent2">
              <a:lumMod val="20000"/>
              <a:lumOff val="80000"/>
            </a:schemeClr>
          </a:solidFill>
          <a:ln w="32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Linker (</a:t>
            </a:r>
            <a:r>
              <a:rPr lang="en-GB" sz="1600" b="1">
                <a:latin typeface="Courier New" pitchFamily="49" charset="0"/>
                <a:ea typeface="msgothic" charset="0"/>
                <a:cs typeface="msgothic" charset="0"/>
              </a:rPr>
              <a:t>ld</a:t>
            </a:r>
            <a:r>
              <a:rPr lang="en-GB" sz="1600" b="1">
                <a:latin typeface="Calibri" pitchFamily="34" charset="0"/>
                <a:ea typeface="msgothic" charset="0"/>
                <a:cs typeface="msgothic" charset="0"/>
              </a:rPr>
              <a:t>)</a:t>
            </a:r>
          </a:p>
        </p:txBody>
      </p:sp>
      <p:sp>
        <p:nvSpPr>
          <p:cNvPr id="36873" name="Text Box 9"/>
          <p:cNvSpPr txBox="1">
            <a:spLocks noChangeArrowheads="1"/>
          </p:cNvSpPr>
          <p:nvPr/>
        </p:nvSpPr>
        <p:spPr bwMode="auto">
          <a:xfrm>
            <a:off x="2795691" y="3822586"/>
            <a:ext cx="920542" cy="328424"/>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smtClean="0">
                <a:latin typeface="Courier New" pitchFamily="49" charset="0"/>
                <a:ea typeface="msgothic" charset="0"/>
                <a:cs typeface="msgothic" charset="0"/>
              </a:rPr>
              <a:t>prog2r</a:t>
            </a:r>
            <a:endParaRPr lang="en-GB" sz="1600" b="1">
              <a:latin typeface="Courier New" pitchFamily="49" charset="0"/>
              <a:ea typeface="msgothic" charset="0"/>
              <a:cs typeface="msgothic" charset="0"/>
            </a:endParaRPr>
          </a:p>
        </p:txBody>
      </p:sp>
      <p:sp>
        <p:nvSpPr>
          <p:cNvPr id="36874" name="Line 10"/>
          <p:cNvSpPr>
            <a:spLocks noChangeShapeType="1"/>
          </p:cNvSpPr>
          <p:nvPr/>
        </p:nvSpPr>
        <p:spPr bwMode="auto">
          <a:xfrm>
            <a:off x="3292475" y="3609700"/>
            <a:ext cx="0" cy="200300"/>
          </a:xfrm>
          <a:prstGeom prst="line">
            <a:avLst/>
          </a:prstGeom>
          <a:noFill/>
          <a:ln w="3240">
            <a:solidFill>
              <a:srgbClr val="000066"/>
            </a:solidFill>
            <a:miter lim="800000"/>
            <a:headEnd/>
            <a:tailEnd type="triangle" w="med" len="med"/>
          </a:ln>
          <a:effectLst/>
        </p:spPr>
        <p:txBody>
          <a:bodyPr/>
          <a:lstStyle/>
          <a:p>
            <a:endParaRPr lang="en-US"/>
          </a:p>
        </p:txBody>
      </p:sp>
      <p:sp>
        <p:nvSpPr>
          <p:cNvPr id="36875" name="Line 11"/>
          <p:cNvSpPr>
            <a:spLocks noChangeShapeType="1"/>
          </p:cNvSpPr>
          <p:nvPr/>
        </p:nvSpPr>
        <p:spPr bwMode="auto">
          <a:xfrm>
            <a:off x="3292475" y="4151010"/>
            <a:ext cx="0" cy="192390"/>
          </a:xfrm>
          <a:prstGeom prst="line">
            <a:avLst/>
          </a:prstGeom>
          <a:noFill/>
          <a:ln w="3240">
            <a:solidFill>
              <a:srgbClr val="000066"/>
            </a:solidFill>
            <a:miter lim="800000"/>
            <a:headEnd/>
            <a:tailEnd type="triangle" w="med" len="med"/>
          </a:ln>
          <a:effectLst/>
        </p:spPr>
        <p:txBody>
          <a:bodyPr/>
          <a:lstStyle/>
          <a:p>
            <a:endParaRPr lang="en-US"/>
          </a:p>
        </p:txBody>
      </p:sp>
      <p:sp>
        <p:nvSpPr>
          <p:cNvPr id="36876" name="Rectangle 12"/>
          <p:cNvSpPr>
            <a:spLocks noChangeArrowheads="1"/>
          </p:cNvSpPr>
          <p:nvPr/>
        </p:nvSpPr>
        <p:spPr bwMode="auto">
          <a:xfrm>
            <a:off x="2454275" y="5112485"/>
            <a:ext cx="3200400" cy="341313"/>
          </a:xfrm>
          <a:prstGeom prst="rect">
            <a:avLst/>
          </a:prstGeom>
          <a:solidFill>
            <a:schemeClr val="accent2">
              <a:lumMod val="20000"/>
              <a:lumOff val="80000"/>
            </a:schemeClr>
          </a:solidFill>
          <a:ln w="32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Dynamic linker (</a:t>
            </a:r>
            <a:r>
              <a:rPr lang="en-GB" sz="1600" b="1">
                <a:latin typeface="Courier New" pitchFamily="49" charset="0"/>
                <a:ea typeface="msgothic" charset="0"/>
                <a:cs typeface="msgothic" charset="0"/>
              </a:rPr>
              <a:t>ld-linux.so</a:t>
            </a:r>
            <a:r>
              <a:rPr lang="en-GB" sz="1600" b="1">
                <a:latin typeface="Calibri" pitchFamily="34" charset="0"/>
                <a:ea typeface="msgothic" charset="0"/>
                <a:cs typeface="msgothic" charset="0"/>
              </a:rPr>
              <a:t>)</a:t>
            </a:r>
          </a:p>
        </p:txBody>
      </p:sp>
      <p:sp>
        <p:nvSpPr>
          <p:cNvPr id="36877" name="Line 13"/>
          <p:cNvSpPr>
            <a:spLocks noChangeShapeType="1"/>
          </p:cNvSpPr>
          <p:nvPr/>
        </p:nvSpPr>
        <p:spPr bwMode="auto">
          <a:xfrm flipH="1">
            <a:off x="3292475" y="4941777"/>
            <a:ext cx="1588" cy="168299"/>
          </a:xfrm>
          <a:prstGeom prst="line">
            <a:avLst/>
          </a:prstGeom>
          <a:noFill/>
          <a:ln w="3240">
            <a:solidFill>
              <a:srgbClr val="000066"/>
            </a:solidFill>
            <a:miter lim="800000"/>
            <a:headEnd/>
            <a:tailEnd type="triangle" w="med" len="med"/>
          </a:ln>
          <a:effectLst/>
        </p:spPr>
        <p:txBody>
          <a:bodyPr/>
          <a:lstStyle/>
          <a:p>
            <a:endParaRPr lang="en-US"/>
          </a:p>
        </p:txBody>
      </p:sp>
      <p:sp>
        <p:nvSpPr>
          <p:cNvPr id="36878" name="Line 14"/>
          <p:cNvSpPr>
            <a:spLocks noChangeShapeType="1"/>
          </p:cNvSpPr>
          <p:nvPr/>
        </p:nvSpPr>
        <p:spPr bwMode="auto">
          <a:xfrm>
            <a:off x="3292475" y="2847700"/>
            <a:ext cx="1588" cy="381000"/>
          </a:xfrm>
          <a:prstGeom prst="line">
            <a:avLst/>
          </a:prstGeom>
          <a:noFill/>
          <a:ln w="3240">
            <a:solidFill>
              <a:srgbClr val="000066"/>
            </a:solidFill>
            <a:miter lim="800000"/>
            <a:headEnd/>
            <a:tailEnd type="triangle" w="med" len="med"/>
          </a:ln>
          <a:effectLst/>
        </p:spPr>
        <p:txBody>
          <a:bodyPr/>
          <a:lstStyle/>
          <a:p>
            <a:endParaRPr lang="en-US"/>
          </a:p>
        </p:txBody>
      </p:sp>
      <p:sp>
        <p:nvSpPr>
          <p:cNvPr id="36879" name="Text Box 15"/>
          <p:cNvSpPr txBox="1">
            <a:spLocks noChangeArrowheads="1"/>
          </p:cNvSpPr>
          <p:nvPr/>
        </p:nvSpPr>
        <p:spPr bwMode="auto">
          <a:xfrm>
            <a:off x="5254625" y="2542900"/>
            <a:ext cx="2609850" cy="577082"/>
          </a:xfrm>
          <a:prstGeom prst="rect">
            <a:avLst/>
          </a:prstGeom>
          <a:noFill/>
          <a:ln w="9525">
            <a:noFill/>
            <a:round/>
            <a:headEnd/>
            <a:tailEnd/>
          </a:ln>
          <a:effectLst/>
        </p:spPr>
        <p:txBody>
          <a:bodyPr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a:solidFill>
                  <a:schemeClr val="tx1">
                    <a:lumMod val="50000"/>
                    <a:lumOff val="50000"/>
                  </a:schemeClr>
                </a:solidFill>
                <a:latin typeface="Calibri" pitchFamily="34" charset="0"/>
                <a:ea typeface="msgothic" charset="0"/>
                <a:cs typeface="msgothic" charset="0"/>
              </a:rPr>
              <a:t>Relocation and symbol  table info</a:t>
            </a:r>
          </a:p>
        </p:txBody>
      </p:sp>
      <p:sp>
        <p:nvSpPr>
          <p:cNvPr id="36880" name="Line 16"/>
          <p:cNvSpPr>
            <a:spLocks noChangeShapeType="1"/>
          </p:cNvSpPr>
          <p:nvPr/>
        </p:nvSpPr>
        <p:spPr bwMode="auto">
          <a:xfrm>
            <a:off x="5180013" y="2542900"/>
            <a:ext cx="1587" cy="685800"/>
          </a:xfrm>
          <a:prstGeom prst="line">
            <a:avLst/>
          </a:prstGeom>
          <a:noFill/>
          <a:ln w="3240">
            <a:solidFill>
              <a:srgbClr val="000066"/>
            </a:solidFill>
            <a:miter lim="800000"/>
            <a:headEnd/>
            <a:tailEnd type="triangle" w="med" len="med"/>
          </a:ln>
          <a:effectLst/>
        </p:spPr>
        <p:txBody>
          <a:bodyPr/>
          <a:lstStyle/>
          <a:p>
            <a:endParaRPr lang="en-US"/>
          </a:p>
        </p:txBody>
      </p:sp>
      <p:sp>
        <p:nvSpPr>
          <p:cNvPr id="36881" name="Text Box 17"/>
          <p:cNvSpPr txBox="1">
            <a:spLocks noChangeArrowheads="1"/>
          </p:cNvSpPr>
          <p:nvPr/>
        </p:nvSpPr>
        <p:spPr bwMode="auto">
          <a:xfrm>
            <a:off x="4645052" y="4114800"/>
            <a:ext cx="1043672" cy="328424"/>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err="1" smtClean="0">
                <a:latin typeface="Courier New" pitchFamily="49" charset="0"/>
                <a:ea typeface="msgothic" charset="0"/>
                <a:cs typeface="msgothic" charset="0"/>
              </a:rPr>
              <a:t>libc.so</a:t>
            </a:r>
            <a:endParaRPr lang="en-GB" sz="1600" b="1">
              <a:latin typeface="Courier New" pitchFamily="49" charset="0"/>
              <a:ea typeface="msgothic" charset="0"/>
              <a:cs typeface="msgothic" charset="0"/>
            </a:endParaRPr>
          </a:p>
        </p:txBody>
      </p:sp>
      <p:sp>
        <p:nvSpPr>
          <p:cNvPr id="36882" name="Text Box 18"/>
          <p:cNvSpPr txBox="1">
            <a:spLocks noChangeArrowheads="1"/>
          </p:cNvSpPr>
          <p:nvPr/>
        </p:nvSpPr>
        <p:spPr bwMode="auto">
          <a:xfrm>
            <a:off x="5254625" y="4551110"/>
            <a:ext cx="1771650" cy="335799"/>
          </a:xfrm>
          <a:prstGeom prst="rect">
            <a:avLst/>
          </a:prstGeom>
          <a:noFill/>
          <a:ln w="9525">
            <a:noFill/>
            <a:round/>
            <a:headEnd/>
            <a:tailEnd/>
          </a:ln>
          <a:effectLst/>
        </p:spPr>
        <p:txBody>
          <a:bodyPr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a:solidFill>
                  <a:schemeClr val="tx1">
                    <a:lumMod val="50000"/>
                    <a:lumOff val="50000"/>
                  </a:schemeClr>
                </a:solidFill>
                <a:latin typeface="Calibri" pitchFamily="34" charset="0"/>
                <a:ea typeface="msgothic" charset="0"/>
                <a:cs typeface="msgothic" charset="0"/>
              </a:rPr>
              <a:t>Code and data</a:t>
            </a:r>
          </a:p>
        </p:txBody>
      </p:sp>
      <p:sp>
        <p:nvSpPr>
          <p:cNvPr id="36883" name="Line 19"/>
          <p:cNvSpPr>
            <a:spLocks noChangeShapeType="1"/>
          </p:cNvSpPr>
          <p:nvPr/>
        </p:nvSpPr>
        <p:spPr bwMode="auto">
          <a:xfrm>
            <a:off x="5173663" y="4430460"/>
            <a:ext cx="1587" cy="685800"/>
          </a:xfrm>
          <a:prstGeom prst="line">
            <a:avLst/>
          </a:prstGeom>
          <a:noFill/>
          <a:ln w="3240">
            <a:solidFill>
              <a:srgbClr val="000066"/>
            </a:solidFill>
            <a:miter lim="800000"/>
            <a:headEnd/>
            <a:tailEnd type="triangle" w="med" len="med"/>
          </a:ln>
          <a:effectLst/>
        </p:spPr>
        <p:txBody>
          <a:bodyPr/>
          <a:lstStyle/>
          <a:p>
            <a:endParaRPr lang="en-US"/>
          </a:p>
        </p:txBody>
      </p:sp>
      <p:sp>
        <p:nvSpPr>
          <p:cNvPr id="36884" name="Text Box 20"/>
          <p:cNvSpPr txBox="1">
            <a:spLocks noChangeArrowheads="1"/>
          </p:cNvSpPr>
          <p:nvPr/>
        </p:nvSpPr>
        <p:spPr bwMode="auto">
          <a:xfrm>
            <a:off x="152400" y="4191000"/>
            <a:ext cx="2133600" cy="1059650"/>
          </a:xfrm>
          <a:prstGeom prst="rect">
            <a:avLst/>
          </a:prstGeom>
          <a:noFill/>
          <a:ln w="9525">
            <a:noFill/>
            <a:round/>
            <a:headEnd/>
            <a:tailEnd/>
          </a:ln>
          <a:effectLst/>
        </p:spPr>
        <p:txBody>
          <a:bodyPr wrap="square" lIns="90000" tIns="46800" rIns="90000" bIns="46800">
            <a:spAutoFit/>
          </a:bodyPr>
          <a:lstStyle/>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dirty="0">
                <a:solidFill>
                  <a:srgbClr val="990000"/>
                </a:solidFill>
                <a:latin typeface="Calibri" pitchFamily="34" charset="0"/>
                <a:ea typeface="msgothic" charset="0"/>
                <a:cs typeface="msgothic" charset="0"/>
              </a:rPr>
              <a:t>Partially linked </a:t>
            </a:r>
            <a:endParaRPr lang="en-GB" sz="1600" b="1" i="1" dirty="0" smtClean="0">
              <a:solidFill>
                <a:srgbClr val="990000"/>
              </a:solidFill>
              <a:latin typeface="Calibri" pitchFamily="34" charset="0"/>
              <a:ea typeface="msgothic" charset="0"/>
              <a:cs typeface="msgothic" charset="0"/>
            </a:endParaRPr>
          </a:p>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dirty="0" smtClean="0">
                <a:solidFill>
                  <a:srgbClr val="990000"/>
                </a:solidFill>
                <a:latin typeface="Calibri" pitchFamily="34" charset="0"/>
                <a:ea typeface="msgothic" charset="0"/>
                <a:cs typeface="msgothic" charset="0"/>
              </a:rPr>
              <a:t>executable </a:t>
            </a:r>
            <a:r>
              <a:rPr lang="en-GB" sz="1600" b="1" i="1" dirty="0">
                <a:solidFill>
                  <a:srgbClr val="990000"/>
                </a:solidFill>
                <a:latin typeface="Calibri" pitchFamily="34" charset="0"/>
                <a:ea typeface="msgothic" charset="0"/>
                <a:cs typeface="msgothic" charset="0"/>
              </a:rPr>
              <a:t>object </a:t>
            </a:r>
            <a:r>
              <a:rPr lang="en-GB" sz="1600" b="1" i="1" dirty="0" smtClean="0">
                <a:solidFill>
                  <a:srgbClr val="990000"/>
                </a:solidFill>
                <a:latin typeface="Calibri" pitchFamily="34" charset="0"/>
                <a:ea typeface="msgothic" charset="0"/>
                <a:cs typeface="msgothic" charset="0"/>
              </a:rPr>
              <a:t>file</a:t>
            </a:r>
          </a:p>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smtClean="0">
                <a:latin typeface="Calibri" pitchFamily="34" charset="0"/>
                <a:ea typeface="msgothic" charset="0"/>
                <a:cs typeface="msgothic" charset="0"/>
              </a:rPr>
              <a:t>(8837 </a:t>
            </a:r>
            <a:r>
              <a:rPr lang="en-GB" sz="1600" dirty="0">
                <a:latin typeface="Calibri" pitchFamily="34" charset="0"/>
                <a:ea typeface="msgothic" charset="0"/>
                <a:cs typeface="msgothic" charset="0"/>
              </a:rPr>
              <a:t>bytes)</a:t>
            </a:r>
          </a:p>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z="1600" b="1" i="1" dirty="0">
              <a:solidFill>
                <a:srgbClr val="990000"/>
              </a:solidFill>
              <a:latin typeface="Calibri" pitchFamily="34" charset="0"/>
              <a:ea typeface="msgothic" charset="0"/>
              <a:cs typeface="msgothic" charset="0"/>
            </a:endParaRPr>
          </a:p>
        </p:txBody>
      </p:sp>
      <p:sp>
        <p:nvSpPr>
          <p:cNvPr id="36885" name="Text Box 21"/>
          <p:cNvSpPr txBox="1">
            <a:spLocks noChangeArrowheads="1"/>
          </p:cNvSpPr>
          <p:nvPr/>
        </p:nvSpPr>
        <p:spPr bwMode="auto">
          <a:xfrm>
            <a:off x="914400" y="2451355"/>
            <a:ext cx="1371600" cy="577082"/>
          </a:xfrm>
          <a:prstGeom prst="rect">
            <a:avLst/>
          </a:prstGeom>
          <a:noFill/>
          <a:ln w="9525">
            <a:noFill/>
            <a:round/>
            <a:headEnd/>
            <a:tailEnd/>
          </a:ln>
          <a:effectLst/>
        </p:spPr>
        <p:txBody>
          <a:bodyPr lIns="90000" tIns="46800" rIns="90000" bIns="46800">
            <a:spAutoFit/>
          </a:bodyPr>
          <a:lstStyle/>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err="1">
                <a:solidFill>
                  <a:srgbClr val="990000"/>
                </a:solidFill>
                <a:latin typeface="Calibri" pitchFamily="34" charset="0"/>
                <a:ea typeface="msgothic" charset="0"/>
                <a:cs typeface="msgothic" charset="0"/>
              </a:rPr>
              <a:t>Relocatable</a:t>
            </a:r>
            <a:endParaRPr lang="en-GB" sz="1600" b="1" i="1">
              <a:solidFill>
                <a:srgbClr val="990000"/>
              </a:solidFill>
              <a:latin typeface="Calibri" pitchFamily="34" charset="0"/>
              <a:ea typeface="msgothic" charset="0"/>
              <a:cs typeface="msgothic" charset="0"/>
            </a:endParaRPr>
          </a:p>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a:solidFill>
                  <a:srgbClr val="990000"/>
                </a:solidFill>
                <a:latin typeface="Calibri" pitchFamily="34" charset="0"/>
                <a:ea typeface="msgothic" charset="0"/>
                <a:cs typeface="msgothic" charset="0"/>
              </a:rPr>
              <a:t>object file</a:t>
            </a:r>
          </a:p>
        </p:txBody>
      </p:sp>
      <p:sp>
        <p:nvSpPr>
          <p:cNvPr id="36886" name="Text Box 22"/>
          <p:cNvSpPr txBox="1">
            <a:spLocks noChangeArrowheads="1"/>
          </p:cNvSpPr>
          <p:nvPr/>
        </p:nvSpPr>
        <p:spPr bwMode="auto">
          <a:xfrm>
            <a:off x="533400" y="5098830"/>
            <a:ext cx="1752600" cy="818367"/>
          </a:xfrm>
          <a:prstGeom prst="rect">
            <a:avLst/>
          </a:prstGeom>
          <a:noFill/>
          <a:ln w="9525">
            <a:noFill/>
            <a:round/>
            <a:headEnd/>
            <a:tailEnd/>
          </a:ln>
          <a:effectLst/>
        </p:spPr>
        <p:txBody>
          <a:bodyPr lIns="90000" tIns="46800" rIns="90000" bIns="46800">
            <a:spAutoFit/>
          </a:bodyPr>
          <a:lstStyle/>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a:solidFill>
                  <a:srgbClr val="990000"/>
                </a:solidFill>
                <a:latin typeface="Calibri" pitchFamily="34" charset="0"/>
                <a:ea typeface="msgothic" charset="0"/>
                <a:cs typeface="msgothic" charset="0"/>
              </a:rPr>
              <a:t>Fully linked </a:t>
            </a:r>
          </a:p>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a:solidFill>
                  <a:srgbClr val="990000"/>
                </a:solidFill>
                <a:latin typeface="Calibri" pitchFamily="34" charset="0"/>
                <a:ea typeface="msgothic" charset="0"/>
                <a:cs typeface="msgothic" charset="0"/>
              </a:rPr>
              <a:t>executable</a:t>
            </a:r>
          </a:p>
          <a:p>
            <a:pPr algn="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a:solidFill>
                  <a:srgbClr val="990000"/>
                </a:solidFill>
                <a:latin typeface="Calibri" pitchFamily="34" charset="0"/>
                <a:ea typeface="msgothic" charset="0"/>
                <a:cs typeface="msgothic" charset="0"/>
              </a:rPr>
              <a:t>in memory</a:t>
            </a:r>
          </a:p>
        </p:txBody>
      </p:sp>
      <p:sp>
        <p:nvSpPr>
          <p:cNvPr id="36887" name="Line 23"/>
          <p:cNvSpPr>
            <a:spLocks noChangeShapeType="1"/>
          </p:cNvSpPr>
          <p:nvPr/>
        </p:nvSpPr>
        <p:spPr bwMode="auto">
          <a:xfrm>
            <a:off x="3783013" y="1247500"/>
            <a:ext cx="1587" cy="381000"/>
          </a:xfrm>
          <a:prstGeom prst="line">
            <a:avLst/>
          </a:prstGeom>
          <a:noFill/>
          <a:ln w="3240">
            <a:solidFill>
              <a:srgbClr val="000066"/>
            </a:solidFill>
            <a:miter lim="800000"/>
            <a:headEnd/>
            <a:tailEnd type="triangle" w="med" len="med"/>
          </a:ln>
          <a:effectLst/>
        </p:spPr>
        <p:txBody>
          <a:bodyPr/>
          <a:lstStyle/>
          <a:p>
            <a:endParaRPr lang="en-US"/>
          </a:p>
        </p:txBody>
      </p:sp>
      <p:sp>
        <p:nvSpPr>
          <p:cNvPr id="36888" name="Text Box 24"/>
          <p:cNvSpPr txBox="1">
            <a:spLocks noChangeArrowheads="1"/>
          </p:cNvSpPr>
          <p:nvPr/>
        </p:nvSpPr>
        <p:spPr bwMode="auto">
          <a:xfrm>
            <a:off x="3184525" y="1010963"/>
            <a:ext cx="1169209" cy="329643"/>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vector.h</a:t>
            </a:r>
          </a:p>
        </p:txBody>
      </p:sp>
      <p:sp>
        <p:nvSpPr>
          <p:cNvPr id="36889" name="Rectangle 25"/>
          <p:cNvSpPr>
            <a:spLocks noChangeArrowheads="1"/>
          </p:cNvSpPr>
          <p:nvPr/>
        </p:nvSpPr>
        <p:spPr bwMode="auto">
          <a:xfrm>
            <a:off x="2454275" y="4343400"/>
            <a:ext cx="1657350" cy="574675"/>
          </a:xfrm>
          <a:prstGeom prst="rect">
            <a:avLst/>
          </a:prstGeom>
          <a:solidFill>
            <a:schemeClr val="accent2">
              <a:lumMod val="20000"/>
              <a:lumOff val="80000"/>
            </a:schemeClr>
          </a:solidFill>
          <a:ln w="32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alibri" pitchFamily="34" charset="0"/>
                <a:ea typeface="msgothic" charset="0"/>
                <a:cs typeface="msgothic" charset="0"/>
              </a:rPr>
              <a:t>Loader (</a:t>
            </a:r>
            <a:r>
              <a:rPr lang="en-GB" sz="1600" b="1" err="1">
                <a:latin typeface="Courier New" pitchFamily="49" charset="0"/>
                <a:ea typeface="msgothic" charset="0"/>
                <a:cs typeface="msgothic" charset="0"/>
              </a:rPr>
              <a:t>execve</a:t>
            </a:r>
            <a:r>
              <a:rPr lang="en-GB" sz="1600" b="1">
                <a:latin typeface="Calibri" pitchFamily="34" charset="0"/>
                <a:ea typeface="msgothic" charset="0"/>
                <a:cs typeface="msgothic" charset="0"/>
              </a:rPr>
              <a:t>)</a:t>
            </a:r>
          </a:p>
        </p:txBody>
      </p:sp>
      <p:sp>
        <p:nvSpPr>
          <p:cNvPr id="36890" name="Text Box 26"/>
          <p:cNvSpPr txBox="1">
            <a:spLocks noChangeArrowheads="1"/>
          </p:cNvSpPr>
          <p:nvPr/>
        </p:nvSpPr>
        <p:spPr bwMode="auto">
          <a:xfrm>
            <a:off x="4689475" y="1047475"/>
            <a:ext cx="4501851" cy="561117"/>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err="1">
                <a:solidFill>
                  <a:srgbClr val="990000"/>
                </a:solidFill>
                <a:latin typeface="Courier New" pitchFamily="49" charset="0"/>
                <a:ea typeface="msgothic" charset="0"/>
                <a:cs typeface="msgothic" charset="0"/>
              </a:rPr>
              <a:t>unix</a:t>
            </a:r>
            <a:r>
              <a:rPr lang="en-GB" sz="1600" b="1">
                <a:solidFill>
                  <a:srgbClr val="990000"/>
                </a:solidFill>
                <a:latin typeface="Courier New" pitchFamily="49" charset="0"/>
                <a:ea typeface="msgothic" charset="0"/>
                <a:cs typeface="msgothic" charset="0"/>
              </a:rPr>
              <a:t>&gt; </a:t>
            </a:r>
            <a:r>
              <a:rPr lang="en-GB" sz="1600" b="1" err="1">
                <a:solidFill>
                  <a:srgbClr val="990000"/>
                </a:solidFill>
                <a:latin typeface="Courier New" pitchFamily="49" charset="0"/>
                <a:ea typeface="msgothic" charset="0"/>
                <a:cs typeface="msgothic" charset="0"/>
              </a:rPr>
              <a:t>gcc</a:t>
            </a:r>
            <a:r>
              <a:rPr lang="en-GB" sz="1600" b="1">
                <a:solidFill>
                  <a:srgbClr val="990000"/>
                </a:solidFill>
                <a:latin typeface="Courier New" pitchFamily="49" charset="0"/>
                <a:ea typeface="msgothic" charset="0"/>
                <a:cs typeface="msgothic" charset="0"/>
              </a:rPr>
              <a:t> </a:t>
            </a:r>
            <a:r>
              <a:rPr lang="en-GB" sz="1600" b="1" smtClean="0">
                <a:solidFill>
                  <a:srgbClr val="990000"/>
                </a:solidFill>
                <a:latin typeface="Courier New" pitchFamily="49" charset="0"/>
                <a:ea typeface="msgothic" charset="0"/>
                <a:cs typeface="msgothic" charset="0"/>
              </a:rPr>
              <a:t>-shared </a:t>
            </a:r>
            <a:r>
              <a:rPr lang="en-GB" sz="1600" b="1">
                <a:solidFill>
                  <a:srgbClr val="990000"/>
                </a:solidFill>
                <a:latin typeface="Courier New" pitchFamily="49" charset="0"/>
                <a:ea typeface="msgothic" charset="0"/>
                <a:cs typeface="msgothic" charset="0"/>
              </a:rPr>
              <a:t>-o libvector.so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solidFill>
                  <a:srgbClr val="990000"/>
                </a:solidFill>
                <a:latin typeface="Courier New" pitchFamily="49" charset="0"/>
                <a:ea typeface="msgothic" charset="0"/>
                <a:cs typeface="msgothic" charset="0"/>
              </a:rPr>
              <a:t>     </a:t>
            </a:r>
            <a:r>
              <a:rPr lang="en-GB" sz="1600" b="1" err="1">
                <a:solidFill>
                  <a:srgbClr val="990000"/>
                </a:solidFill>
                <a:latin typeface="Courier New" pitchFamily="49" charset="0"/>
                <a:ea typeface="msgothic" charset="0"/>
                <a:cs typeface="msgothic" charset="0"/>
              </a:rPr>
              <a:t>addvec.c</a:t>
            </a:r>
            <a:r>
              <a:rPr lang="en-GB" sz="1600" b="1">
                <a:solidFill>
                  <a:srgbClr val="990000"/>
                </a:solidFill>
                <a:latin typeface="Courier New" pitchFamily="49" charset="0"/>
                <a:ea typeface="msgothic" charset="0"/>
                <a:cs typeface="msgothic" charset="0"/>
              </a:rPr>
              <a:t> </a:t>
            </a:r>
            <a:r>
              <a:rPr lang="en-GB" sz="1600" b="1" err="1" smtClean="0">
                <a:solidFill>
                  <a:srgbClr val="990000"/>
                </a:solidFill>
                <a:latin typeface="Courier New" pitchFamily="49" charset="0"/>
                <a:ea typeface="msgothic" charset="0"/>
                <a:cs typeface="msgothic" charset="0"/>
              </a:rPr>
              <a:t>multvec.c</a:t>
            </a:r>
            <a:r>
              <a:rPr lang="en-GB" sz="1600" b="1" smtClean="0">
                <a:solidFill>
                  <a:srgbClr val="990000"/>
                </a:solidFill>
                <a:latin typeface="Courier New" pitchFamily="49" charset="0"/>
                <a:ea typeface="msgothic" charset="0"/>
                <a:cs typeface="msgothic" charset="0"/>
              </a:rPr>
              <a:t> -</a:t>
            </a:r>
            <a:r>
              <a:rPr lang="en-GB" sz="1600" b="1" err="1" smtClean="0">
                <a:solidFill>
                  <a:srgbClr val="990000"/>
                </a:solidFill>
                <a:latin typeface="Courier New" pitchFamily="49" charset="0"/>
                <a:ea typeface="msgothic" charset="0"/>
                <a:cs typeface="msgothic" charset="0"/>
              </a:rPr>
              <a:t>fpic</a:t>
            </a:r>
            <a:endParaRPr lang="en-GB" sz="1600" b="1">
              <a:solidFill>
                <a:srgbClr val="990000"/>
              </a:solidFill>
              <a:latin typeface="Courier New" pitchFamily="49" charset="0"/>
              <a:ea typeface="msgothic" charset="0"/>
              <a:cs typeface="msgothic" charset="0"/>
            </a:endParaRPr>
          </a:p>
        </p:txBody>
      </p:sp>
      <p:sp>
        <p:nvSpPr>
          <p:cNvPr id="36891" name="Line 27"/>
          <p:cNvSpPr>
            <a:spLocks noChangeShapeType="1"/>
          </p:cNvSpPr>
          <p:nvPr/>
        </p:nvSpPr>
        <p:spPr bwMode="auto">
          <a:xfrm>
            <a:off x="7543799" y="2362200"/>
            <a:ext cx="0" cy="3276600"/>
          </a:xfrm>
          <a:prstGeom prst="line">
            <a:avLst/>
          </a:prstGeom>
          <a:noFill/>
          <a:ln w="25560">
            <a:solidFill>
              <a:schemeClr val="tx1"/>
            </a:solidFill>
            <a:miter lim="800000"/>
            <a:headEnd type="none"/>
            <a:tailEnd type="none" w="med" len="med"/>
          </a:ln>
          <a:effectLst/>
        </p:spPr>
        <p:txBody>
          <a:bodyPr/>
          <a:lstStyle/>
          <a:p>
            <a:endParaRPr lang="en-US"/>
          </a:p>
        </p:txBody>
      </p:sp>
      <p:sp>
        <p:nvSpPr>
          <p:cNvPr id="29" name="Rectangle 12"/>
          <p:cNvSpPr>
            <a:spLocks noChangeArrowheads="1"/>
          </p:cNvSpPr>
          <p:nvPr/>
        </p:nvSpPr>
        <p:spPr bwMode="auto">
          <a:xfrm>
            <a:off x="2454274" y="5454479"/>
            <a:ext cx="3200401" cy="341313"/>
          </a:xfrm>
          <a:prstGeom prst="rect">
            <a:avLst/>
          </a:prstGeom>
          <a:solidFill>
            <a:schemeClr val="accent2">
              <a:lumMod val="20000"/>
              <a:lumOff val="80000"/>
            </a:schemeClr>
          </a:solidFill>
          <a:ln w="3240">
            <a:solidFill>
              <a:schemeClr val="tx1"/>
            </a:solidFill>
            <a:miter lim="800000"/>
            <a:headEnd/>
            <a:tailEnd/>
          </a:ln>
          <a:effectLst/>
        </p:spPr>
        <p:txBody>
          <a:bodyPr wrap="square"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smtClean="0">
                <a:latin typeface="Calibri" pitchFamily="34" charset="0"/>
                <a:ea typeface="msgothic" charset="0"/>
                <a:cs typeface="msgothic" charset="0"/>
              </a:rPr>
              <a:t>Call to dynamic </a:t>
            </a:r>
            <a:r>
              <a:rPr lang="en-GB" sz="1600" b="1">
                <a:latin typeface="Calibri" pitchFamily="34" charset="0"/>
                <a:ea typeface="msgothic" charset="0"/>
                <a:cs typeface="msgothic" charset="0"/>
              </a:rPr>
              <a:t>linker </a:t>
            </a:r>
            <a:r>
              <a:rPr lang="en-GB" sz="1600" smtClean="0">
                <a:latin typeface="Calibri" pitchFamily="34" charset="0"/>
                <a:ea typeface="msgothic" charset="0"/>
                <a:cs typeface="msgothic" charset="0"/>
              </a:rPr>
              <a:t>via </a:t>
            </a:r>
            <a:r>
              <a:rPr lang="en-GB" sz="1600" b="1" err="1" smtClean="0">
                <a:latin typeface="Courier New" pitchFamily="49" charset="0"/>
                <a:ea typeface="msgothic" charset="0"/>
                <a:cs typeface="msgothic" charset="0"/>
              </a:rPr>
              <a:t>dlopen</a:t>
            </a:r>
            <a:endParaRPr lang="en-GB" sz="1600" b="1">
              <a:latin typeface="Calibri" pitchFamily="34" charset="0"/>
              <a:ea typeface="msgothic" charset="0"/>
              <a:cs typeface="msgothic" charset="0"/>
            </a:endParaRPr>
          </a:p>
        </p:txBody>
      </p:sp>
      <p:sp>
        <p:nvSpPr>
          <p:cNvPr id="30" name="Line 27"/>
          <p:cNvSpPr>
            <a:spLocks noChangeShapeType="1"/>
          </p:cNvSpPr>
          <p:nvPr/>
        </p:nvSpPr>
        <p:spPr bwMode="auto">
          <a:xfrm flipH="1">
            <a:off x="5654675" y="5638800"/>
            <a:ext cx="1889124" cy="0"/>
          </a:xfrm>
          <a:prstGeom prst="line">
            <a:avLst/>
          </a:prstGeom>
          <a:noFill/>
          <a:ln w="25560">
            <a:solidFill>
              <a:schemeClr val="tx1"/>
            </a:solidFill>
            <a:miter lim="800000"/>
            <a:headEnd/>
            <a:tailEnd type="triangle" w="med" len="med"/>
          </a:ln>
          <a:effectLst/>
        </p:spPr>
        <p:txBody>
          <a:bodyPr/>
          <a:lstStyle/>
          <a:p>
            <a:endParaRPr lang="en-US"/>
          </a:p>
        </p:txBody>
      </p:sp>
      <p:sp>
        <p:nvSpPr>
          <p:cNvPr id="31" name="Text Box 7"/>
          <p:cNvSpPr txBox="1">
            <a:spLocks noChangeArrowheads="1"/>
          </p:cNvSpPr>
          <p:nvPr/>
        </p:nvSpPr>
        <p:spPr bwMode="auto">
          <a:xfrm>
            <a:off x="6693050" y="2033776"/>
            <a:ext cx="1659326" cy="328424"/>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err="1" smtClean="0">
                <a:latin typeface="Courier New" pitchFamily="49" charset="0"/>
                <a:ea typeface="msgothic" charset="0"/>
                <a:cs typeface="msgothic" charset="0"/>
              </a:rPr>
              <a:t>libvector.so</a:t>
            </a:r>
            <a:endParaRPr lang="en-GB" sz="1600" b="1">
              <a:latin typeface="Courier New" pitchFamily="49" charset="0"/>
              <a:ea typeface="msgothic" charset="0"/>
              <a:cs typeface="msgothic" charset="0"/>
            </a:endParaRPr>
          </a:p>
        </p:txBody>
      </p:sp>
      <p:sp>
        <p:nvSpPr>
          <p:cNvPr id="32" name="Text Box 26"/>
          <p:cNvSpPr txBox="1">
            <a:spLocks noChangeArrowheads="1"/>
          </p:cNvSpPr>
          <p:nvPr/>
        </p:nvSpPr>
        <p:spPr bwMode="auto">
          <a:xfrm>
            <a:off x="3581400" y="3581400"/>
            <a:ext cx="4008126" cy="557461"/>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err="1">
                <a:solidFill>
                  <a:srgbClr val="990000"/>
                </a:solidFill>
                <a:latin typeface="Courier New" pitchFamily="49" charset="0"/>
                <a:ea typeface="msgothic" charset="0"/>
                <a:cs typeface="msgothic" charset="0"/>
              </a:rPr>
              <a:t>unix</a:t>
            </a:r>
            <a:r>
              <a:rPr lang="en-GB" sz="1600" b="1" dirty="0">
                <a:solidFill>
                  <a:srgbClr val="990000"/>
                </a:solidFill>
                <a:latin typeface="Courier New" pitchFamily="49" charset="0"/>
                <a:ea typeface="msgothic" charset="0"/>
                <a:cs typeface="msgothic" charset="0"/>
              </a:rPr>
              <a:t>&gt; </a:t>
            </a:r>
            <a:r>
              <a:rPr lang="en-GB" sz="1600" b="1" dirty="0" err="1">
                <a:solidFill>
                  <a:srgbClr val="990000"/>
                </a:solidFill>
                <a:latin typeface="Courier New" pitchFamily="49" charset="0"/>
                <a:ea typeface="msgothic" charset="0"/>
                <a:cs typeface="msgothic" charset="0"/>
              </a:rPr>
              <a:t>gcc</a:t>
            </a:r>
            <a:r>
              <a:rPr lang="en-GB" sz="1600" b="1" dirty="0">
                <a:solidFill>
                  <a:srgbClr val="990000"/>
                </a:solidFill>
                <a:latin typeface="Courier New" pitchFamily="49" charset="0"/>
                <a:ea typeface="msgothic" charset="0"/>
                <a:cs typeface="msgothic" charset="0"/>
              </a:rPr>
              <a:t> </a:t>
            </a:r>
            <a:r>
              <a:rPr lang="en-US" sz="1600" dirty="0" smtClean="0">
                <a:solidFill>
                  <a:srgbClr val="990000"/>
                </a:solidFill>
                <a:latin typeface="Courier New" pitchFamily="49" charset="0"/>
                <a:ea typeface="msgothic" charset="0"/>
                <a:cs typeface="msgothic" charset="0"/>
              </a:rPr>
              <a:t>-</a:t>
            </a:r>
            <a:r>
              <a:rPr lang="en-US" sz="1600" dirty="0" err="1" smtClean="0">
                <a:solidFill>
                  <a:srgbClr val="990000"/>
                </a:solidFill>
                <a:latin typeface="Courier New" pitchFamily="49" charset="0"/>
                <a:ea typeface="msgothic" charset="0"/>
                <a:cs typeface="msgothic" charset="0"/>
              </a:rPr>
              <a:t>rdynamic</a:t>
            </a:r>
            <a:r>
              <a:rPr lang="en-GB" sz="1600" dirty="0" smtClean="0">
                <a:solidFill>
                  <a:srgbClr val="990000"/>
                </a:solidFill>
                <a:latin typeface="Courier New" pitchFamily="49" charset="0"/>
                <a:ea typeface="msgothic" charset="0"/>
                <a:cs typeface="msgothic" charset="0"/>
              </a:rPr>
              <a:t> </a:t>
            </a:r>
            <a:r>
              <a:rPr lang="mr-IN" sz="1600" dirty="0" smtClean="0">
                <a:solidFill>
                  <a:srgbClr val="990000"/>
                </a:solidFill>
                <a:latin typeface="Courier New" pitchFamily="49" charset="0"/>
                <a:ea typeface="msgothic" charset="0"/>
                <a:cs typeface="msgothic" charset="0"/>
              </a:rPr>
              <a:t>–</a:t>
            </a:r>
            <a:r>
              <a:rPr lang="en-GB" sz="1600" dirty="0" smtClean="0">
                <a:solidFill>
                  <a:srgbClr val="990000"/>
                </a:solidFill>
                <a:latin typeface="Courier New" pitchFamily="49" charset="0"/>
                <a:ea typeface="msgothic" charset="0"/>
                <a:cs typeface="msgothic" charset="0"/>
              </a:rPr>
              <a:t>o prog2r \</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solidFill>
                  <a:srgbClr val="990000"/>
                </a:solidFill>
                <a:latin typeface="Courier New" pitchFamily="49" charset="0"/>
                <a:ea typeface="msgothic" charset="0"/>
                <a:cs typeface="msgothic" charset="0"/>
              </a:rPr>
              <a:t>	</a:t>
            </a:r>
            <a:r>
              <a:rPr lang="en-GB" sz="1600" b="1" dirty="0" smtClean="0">
                <a:solidFill>
                  <a:srgbClr val="990000"/>
                </a:solidFill>
                <a:latin typeface="Courier New" pitchFamily="49" charset="0"/>
                <a:ea typeface="msgothic" charset="0"/>
                <a:cs typeface="msgothic" charset="0"/>
              </a:rPr>
              <a:t>      </a:t>
            </a:r>
            <a:r>
              <a:rPr lang="en-GB" sz="1600" b="1" dirty="0" err="1" smtClean="0">
                <a:solidFill>
                  <a:srgbClr val="990000"/>
                </a:solidFill>
                <a:latin typeface="Courier New" pitchFamily="49" charset="0"/>
                <a:ea typeface="msgothic" charset="0"/>
                <a:cs typeface="msgothic" charset="0"/>
              </a:rPr>
              <a:t>dll.o</a:t>
            </a:r>
            <a:r>
              <a:rPr lang="en-GB" sz="1600" b="1" dirty="0" smtClean="0">
                <a:solidFill>
                  <a:srgbClr val="990000"/>
                </a:solidFill>
                <a:latin typeface="Courier New" pitchFamily="49" charset="0"/>
                <a:ea typeface="msgothic" charset="0"/>
                <a:cs typeface="msgothic" charset="0"/>
              </a:rPr>
              <a:t> -</a:t>
            </a:r>
            <a:r>
              <a:rPr lang="en-GB" sz="1600" b="1" dirty="0" err="1" smtClean="0">
                <a:solidFill>
                  <a:srgbClr val="990000"/>
                </a:solidFill>
                <a:latin typeface="Courier New" pitchFamily="49" charset="0"/>
                <a:ea typeface="msgothic" charset="0"/>
                <a:cs typeface="msgothic" charset="0"/>
              </a:rPr>
              <a:t>ldl</a:t>
            </a:r>
            <a:endParaRPr lang="en-GB" sz="1600" b="1" dirty="0">
              <a:solidFill>
                <a:srgbClr val="990000"/>
              </a:solidFill>
              <a:latin typeface="Courier New" pitchFamily="49" charset="0"/>
              <a:ea typeface="msgothic" charset="0"/>
              <a:cs typeface="msgothic" charset="0"/>
            </a:endParaRPr>
          </a:p>
        </p:txBody>
      </p:sp>
    </p:spTree>
    <p:extLst>
      <p:ext uri="{BB962C8B-B14F-4D97-AF65-F5344CB8AC3E}">
        <p14:creationId xmlns:p14="http://schemas.microsoft.com/office/powerpoint/2010/main" val="3332890439"/>
      </p:ext>
    </p:extLst>
  </p:cSld>
  <p:clrMapOvr>
    <a:masterClrMapping/>
  </p:clrMapOvr>
  <p:transition xmlns:p14="http://schemas.microsoft.com/office/powerpoint/2010/main" spd="med"/>
  <p:timing>
    <p:tnLst>
      <p:par>
        <p:cTn xmlns:p14="http://schemas.microsoft.com/office/powerpoint/2010/mai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Linking Summary	</a:t>
            </a:r>
            <a:endParaRPr lang="en-US"/>
          </a:p>
        </p:txBody>
      </p:sp>
      <p:sp>
        <p:nvSpPr>
          <p:cNvPr id="3" name="Content Placeholder 2"/>
          <p:cNvSpPr>
            <a:spLocks noGrp="1"/>
          </p:cNvSpPr>
          <p:nvPr>
            <p:ph idx="1"/>
          </p:nvPr>
        </p:nvSpPr>
        <p:spPr/>
        <p:txBody>
          <a:bodyPr/>
          <a:lstStyle/>
          <a:p>
            <a:r>
              <a:rPr lang="en-US" smtClean="0"/>
              <a:t>Linking is a technique that allows programs to be constructed from multiple object files. </a:t>
            </a:r>
          </a:p>
          <a:p>
            <a:endParaRPr lang="en-US" smtClean="0"/>
          </a:p>
          <a:p>
            <a:r>
              <a:rPr lang="en-US" smtClean="0"/>
              <a:t>Linking can happen at different times in a program’s lifetime:</a:t>
            </a:r>
          </a:p>
          <a:p>
            <a:pPr lvl="1"/>
            <a:r>
              <a:rPr lang="en-US" smtClean="0"/>
              <a:t>Compile time (when a program is compiled)</a:t>
            </a:r>
          </a:p>
          <a:p>
            <a:pPr lvl="1"/>
            <a:r>
              <a:rPr lang="en-US" smtClean="0"/>
              <a:t>Load time (when a program is loaded into memory)</a:t>
            </a:r>
          </a:p>
          <a:p>
            <a:pPr lvl="1"/>
            <a:r>
              <a:rPr lang="en-US" smtClean="0"/>
              <a:t>Run time (while a program is executing)</a:t>
            </a:r>
          </a:p>
          <a:p>
            <a:pPr lvl="1"/>
            <a:endParaRPr lang="en-US"/>
          </a:p>
          <a:p>
            <a:r>
              <a:rPr lang="en-US" smtClean="0"/>
              <a:t>Understanding linking can help you avoid nasty errors and make you a better programmer. </a:t>
            </a:r>
            <a:endParaRPr lang="en-US"/>
          </a:p>
        </p:txBody>
      </p:sp>
    </p:spTree>
    <p:extLst>
      <p:ext uri="{BB962C8B-B14F-4D97-AF65-F5344CB8AC3E}">
        <p14:creationId xmlns:p14="http://schemas.microsoft.com/office/powerpoint/2010/main" val="37228272"/>
      </p:ext>
    </p:extLst>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pPr marL="0" indent="0">
              <a:lnSpc>
                <a:spcPct val="80000"/>
              </a:lnSpc>
              <a:buNone/>
            </a:pPr>
            <a:endParaRPr lang="en-US" sz="2800" dirty="0" smtClean="0"/>
          </a:p>
          <a:p>
            <a:r>
              <a:rPr lang="en-US" sz="2800" dirty="0" smtClean="0"/>
              <a:t>Linking</a:t>
            </a:r>
            <a:endParaRPr lang="en-US" dirty="0" smtClean="0"/>
          </a:p>
          <a:p>
            <a:pPr lvl="1"/>
            <a:r>
              <a:rPr lang="en-US" dirty="0" smtClean="0">
                <a:solidFill>
                  <a:srgbClr val="000000"/>
                </a:solidFill>
              </a:rPr>
              <a:t>Case </a:t>
            </a:r>
            <a:r>
              <a:rPr lang="en-US" dirty="0">
                <a:solidFill>
                  <a:srgbClr val="000000"/>
                </a:solidFill>
              </a:rPr>
              <a:t>study: Library </a:t>
            </a:r>
            <a:r>
              <a:rPr lang="en-US" dirty="0" err="1" smtClean="0">
                <a:solidFill>
                  <a:srgbClr val="000000"/>
                </a:solidFill>
              </a:rPr>
              <a:t>interpositioning</a:t>
            </a:r>
            <a:endParaRPr lang="en-US" dirty="0" smtClean="0">
              <a:solidFill>
                <a:srgbClr val="000000"/>
              </a:solidFill>
            </a:endParaRPr>
          </a:p>
          <a:p>
            <a:r>
              <a:rPr lang="en-US" sz="2800" dirty="0" smtClean="0">
                <a:solidFill>
                  <a:schemeClr val="bg2">
                    <a:lumMod val="60000"/>
                    <a:lumOff val="40000"/>
                  </a:schemeClr>
                </a:solidFill>
              </a:rPr>
              <a:t>Exceptional Control Flow</a:t>
            </a:r>
          </a:p>
          <a:p>
            <a:r>
              <a:rPr lang="en-US" sz="2800" dirty="0">
                <a:solidFill>
                  <a:srgbClr val="B3B3B3"/>
                </a:solidFill>
              </a:rPr>
              <a:t>Cache Lab</a:t>
            </a:r>
          </a:p>
          <a:p>
            <a:pPr marL="0" indent="0">
              <a:buNone/>
            </a:pPr>
            <a:endParaRPr lang="en-US" sz="2800" dirty="0">
              <a:solidFill>
                <a:schemeClr val="bg2">
                  <a:lumMod val="60000"/>
                  <a:lumOff val="40000"/>
                </a:schemeClr>
              </a:solidFill>
            </a:endParaRPr>
          </a:p>
          <a:p>
            <a:endParaRPr lang="en-US" dirty="0" smtClean="0">
              <a:solidFill>
                <a:srgbClr val="B3B3B3"/>
              </a:solidFill>
            </a:endParaRPr>
          </a:p>
          <a:p>
            <a:pPr marL="0" indent="0">
              <a:lnSpc>
                <a:spcPct val="80000"/>
              </a:lnSpc>
              <a:buNone/>
            </a:pPr>
            <a:endParaRPr lang="en-US" sz="2800" dirty="0" smtClean="0">
              <a:solidFill>
                <a:schemeClr val="bg2">
                  <a:lumMod val="60000"/>
                  <a:lumOff val="40000"/>
                </a:schemeClr>
              </a:solidFill>
            </a:endParaRPr>
          </a:p>
          <a:p>
            <a:endParaRPr lang="en-US" dirty="0">
              <a:solidFill>
                <a:schemeClr val="bg2">
                  <a:lumMod val="60000"/>
                  <a:lumOff val="40000"/>
                </a:schemeClr>
              </a:solidFill>
            </a:endParaRPr>
          </a:p>
          <a:p>
            <a:endParaRPr lang="en-US" dirty="0">
              <a:solidFill>
                <a:schemeClr val="bg1">
                  <a:lumMod val="75000"/>
                </a:schemeClr>
              </a:solidFill>
            </a:endParaRPr>
          </a:p>
        </p:txBody>
      </p:sp>
      <p:sp>
        <p:nvSpPr>
          <p:cNvPr id="4" name="TextBox 3"/>
          <p:cNvSpPr txBox="1"/>
          <p:nvPr/>
        </p:nvSpPr>
        <p:spPr>
          <a:xfrm>
            <a:off x="2851727" y="5657273"/>
            <a:ext cx="184666" cy="369332"/>
          </a:xfrm>
          <a:prstGeom prst="rect">
            <a:avLst/>
          </a:prstGeom>
          <a:noFill/>
        </p:spPr>
        <p:txBody>
          <a:bodyPr wrap="none" rtlCol="0">
            <a:spAutoFit/>
          </a:bodyPr>
          <a:lstStyle/>
          <a:p>
            <a:endParaRPr lang="en-US" sz="1800" dirty="0">
              <a:latin typeface="Calibri" pitchFamily="34" charset="0"/>
            </a:endParaRPr>
          </a:p>
        </p:txBody>
      </p:sp>
    </p:spTree>
    <p:extLst>
      <p:ext uri="{BB962C8B-B14F-4D97-AF65-F5344CB8AC3E}">
        <p14:creationId xmlns:p14="http://schemas.microsoft.com/office/powerpoint/2010/main" val="29128585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Case Study: Library </a:t>
            </a:r>
            <a:r>
              <a:rPr lang="en-US" err="1" smtClean="0"/>
              <a:t>Interpositioning</a:t>
            </a:r>
            <a:endParaRPr lang="en-US"/>
          </a:p>
        </p:txBody>
      </p:sp>
      <p:sp>
        <p:nvSpPr>
          <p:cNvPr id="3" name="Content Placeholder 2"/>
          <p:cNvSpPr>
            <a:spLocks noGrp="1"/>
          </p:cNvSpPr>
          <p:nvPr>
            <p:ph idx="1"/>
          </p:nvPr>
        </p:nvSpPr>
        <p:spPr/>
        <p:txBody>
          <a:bodyPr/>
          <a:lstStyle/>
          <a:p>
            <a:r>
              <a:rPr lang="en-GB" smtClean="0"/>
              <a:t>Library </a:t>
            </a:r>
            <a:r>
              <a:rPr lang="en-GB" err="1" smtClean="0"/>
              <a:t>interpositioning</a:t>
            </a:r>
            <a:r>
              <a:rPr lang="en-GB" smtClean="0"/>
              <a:t> : powerful linking technique that allows programmers to intercept calls to arbitrary functions</a:t>
            </a:r>
          </a:p>
          <a:p>
            <a:r>
              <a:rPr lang="en-GB" err="1" smtClean="0"/>
              <a:t>Interpositioning</a:t>
            </a:r>
            <a:r>
              <a:rPr lang="en-GB" smtClean="0"/>
              <a:t> can occur at:</a:t>
            </a:r>
          </a:p>
          <a:p>
            <a:pPr lvl="1"/>
            <a:r>
              <a:rPr lang="en-GB" smtClean="0"/>
              <a:t>Compile time: When the source code is compiled	</a:t>
            </a:r>
          </a:p>
          <a:p>
            <a:pPr lvl="1"/>
            <a:r>
              <a:rPr lang="en-GB" smtClean="0"/>
              <a:t>Link time: When the </a:t>
            </a:r>
            <a:r>
              <a:rPr lang="en-GB" err="1" smtClean="0"/>
              <a:t>relocatable</a:t>
            </a:r>
            <a:r>
              <a:rPr lang="en-GB" smtClean="0"/>
              <a:t> object files are statically linked to form an executable object file</a:t>
            </a:r>
          </a:p>
          <a:p>
            <a:pPr lvl="1"/>
            <a:r>
              <a:rPr lang="en-GB" smtClean="0"/>
              <a:t>Load/run time: When an executable object file is loaded into memory, dynamically linked, and then executed.</a:t>
            </a:r>
          </a:p>
          <a:p>
            <a:endParaRPr lang="en-US"/>
          </a:p>
        </p:txBody>
      </p:sp>
    </p:spTree>
    <p:extLst>
      <p:ext uri="{BB962C8B-B14F-4D97-AF65-F5344CB8AC3E}">
        <p14:creationId xmlns:p14="http://schemas.microsoft.com/office/powerpoint/2010/main" val="2802412092"/>
      </p:ext>
    </p:extLst>
  </p:cSld>
  <p:clrMapOvr>
    <a:masterClrMapping/>
  </p:clrMapOvr>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Some </a:t>
            </a:r>
            <a:r>
              <a:rPr lang="en-US" err="1" smtClean="0"/>
              <a:t>Interpositioning</a:t>
            </a:r>
            <a:r>
              <a:rPr lang="en-US" smtClean="0"/>
              <a:t> Applications</a:t>
            </a:r>
            <a:endParaRPr lang="en-US"/>
          </a:p>
        </p:txBody>
      </p:sp>
      <p:sp>
        <p:nvSpPr>
          <p:cNvPr id="3" name="Content Placeholder 2"/>
          <p:cNvSpPr>
            <a:spLocks noGrp="1"/>
          </p:cNvSpPr>
          <p:nvPr>
            <p:ph idx="1"/>
          </p:nvPr>
        </p:nvSpPr>
        <p:spPr/>
        <p:txBody>
          <a:bodyPr/>
          <a:lstStyle/>
          <a:p>
            <a:r>
              <a:rPr lang="en-GB" smtClean="0"/>
              <a:t>Security</a:t>
            </a:r>
          </a:p>
          <a:p>
            <a:pPr lvl="1"/>
            <a:r>
              <a:rPr lang="en-GB" smtClean="0"/>
              <a:t>Confinement (sandboxing)</a:t>
            </a:r>
          </a:p>
          <a:p>
            <a:pPr lvl="1"/>
            <a:r>
              <a:rPr lang="en-GB" smtClean="0"/>
              <a:t>Behind the scenes encryption</a:t>
            </a:r>
          </a:p>
          <a:p>
            <a:r>
              <a:rPr lang="en-US" smtClean="0"/>
              <a:t>Debugging</a:t>
            </a:r>
            <a:endParaRPr lang="en-US"/>
          </a:p>
          <a:p>
            <a:pPr lvl="1"/>
            <a:r>
              <a:rPr lang="en-US"/>
              <a:t>In 2014, two Facebook engineers debugged a treacherous 1-year old bug in their iPhone app using </a:t>
            </a:r>
            <a:r>
              <a:rPr lang="en-US" err="1"/>
              <a:t>interpositioning</a:t>
            </a:r>
            <a:endParaRPr lang="en-US"/>
          </a:p>
          <a:p>
            <a:pPr lvl="1"/>
            <a:r>
              <a:rPr lang="en-US"/>
              <a:t>Code in the SPDY networking stack was writing to the wrong location</a:t>
            </a:r>
          </a:p>
          <a:p>
            <a:pPr lvl="1"/>
            <a:r>
              <a:rPr lang="en-US"/>
              <a:t>Solved by intercepting calls to </a:t>
            </a:r>
            <a:r>
              <a:rPr lang="en-US" err="1"/>
              <a:t>Posix</a:t>
            </a:r>
            <a:r>
              <a:rPr lang="en-US"/>
              <a:t> write functions (write, </a:t>
            </a:r>
            <a:r>
              <a:rPr lang="en-US" err="1"/>
              <a:t>writev</a:t>
            </a:r>
            <a:r>
              <a:rPr lang="en-US"/>
              <a:t>, </a:t>
            </a:r>
            <a:r>
              <a:rPr lang="en-US" err="1"/>
              <a:t>pwrite</a:t>
            </a:r>
            <a:r>
              <a:rPr lang="en-US"/>
              <a:t>)</a:t>
            </a:r>
          </a:p>
          <a:p>
            <a:pPr marL="457200" lvl="1" indent="0">
              <a:buNone/>
            </a:pPr>
            <a:endParaRPr lang="en-US"/>
          </a:p>
          <a:p>
            <a:pPr marL="457200" lvl="1" indent="0">
              <a:buNone/>
            </a:pPr>
            <a:r>
              <a:rPr lang="en-US" sz="1600"/>
              <a:t>Source: </a:t>
            </a:r>
            <a:r>
              <a:rPr lang="en-US" sz="1600" smtClean="0"/>
              <a:t> Facebook engineering blog post at: </a:t>
            </a:r>
          </a:p>
          <a:p>
            <a:pPr marL="457200" lvl="1" indent="0">
              <a:buNone/>
            </a:pPr>
            <a:r>
              <a:rPr lang="en-US" sz="1600" u="sng" smtClean="0">
                <a:solidFill>
                  <a:srgbClr val="C00000"/>
                </a:solidFill>
                <a:latin typeface="Calibri"/>
                <a:cs typeface="Calibri"/>
              </a:rPr>
              <a:t>https</a:t>
            </a:r>
            <a:r>
              <a:rPr lang="en-US" sz="1600" u="sng">
                <a:solidFill>
                  <a:srgbClr val="C00000"/>
                </a:solidFill>
                <a:latin typeface="Calibri"/>
                <a:cs typeface="Calibri"/>
              </a:rPr>
              <a:t>://</a:t>
            </a:r>
            <a:r>
              <a:rPr lang="en-US" sz="1600" u="sng" err="1">
                <a:solidFill>
                  <a:srgbClr val="C00000"/>
                </a:solidFill>
                <a:latin typeface="Calibri"/>
                <a:cs typeface="Calibri"/>
              </a:rPr>
              <a:t>code.facebook.com</a:t>
            </a:r>
            <a:r>
              <a:rPr lang="en-US" sz="1600" u="sng">
                <a:solidFill>
                  <a:srgbClr val="C00000"/>
                </a:solidFill>
                <a:latin typeface="Calibri"/>
                <a:cs typeface="Calibri"/>
              </a:rPr>
              <a:t>/posts/313033472212144/debugging-file-corruption-on-</a:t>
            </a:r>
            <a:r>
              <a:rPr lang="en-US" sz="1600" u="sng" err="1">
                <a:solidFill>
                  <a:srgbClr val="C00000"/>
                </a:solidFill>
                <a:latin typeface="Calibri"/>
                <a:cs typeface="Calibri"/>
              </a:rPr>
              <a:t>ios</a:t>
            </a:r>
            <a:r>
              <a:rPr lang="en-US" sz="1600" u="sng">
                <a:solidFill>
                  <a:srgbClr val="C00000"/>
                </a:solidFill>
                <a:latin typeface="Calibri"/>
                <a:cs typeface="Calibri"/>
              </a:rPr>
              <a:t>/</a:t>
            </a:r>
          </a:p>
          <a:p>
            <a:pPr marL="0" indent="0">
              <a:buNone/>
            </a:pPr>
            <a:endParaRPr lang="en-US"/>
          </a:p>
        </p:txBody>
      </p:sp>
    </p:spTree>
    <p:extLst>
      <p:ext uri="{BB962C8B-B14F-4D97-AF65-F5344CB8AC3E}">
        <p14:creationId xmlns:p14="http://schemas.microsoft.com/office/powerpoint/2010/main" val="2411262153"/>
      </p:ext>
    </p:extLst>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Some </a:t>
            </a:r>
            <a:r>
              <a:rPr lang="en-US" err="1" smtClean="0"/>
              <a:t>Interpositioning</a:t>
            </a:r>
            <a:r>
              <a:rPr lang="en-US" smtClean="0"/>
              <a:t> Applications</a:t>
            </a:r>
            <a:endParaRPr lang="en-US"/>
          </a:p>
        </p:txBody>
      </p:sp>
      <p:sp>
        <p:nvSpPr>
          <p:cNvPr id="3" name="Content Placeholder 2"/>
          <p:cNvSpPr>
            <a:spLocks noGrp="1"/>
          </p:cNvSpPr>
          <p:nvPr>
            <p:ph idx="1"/>
          </p:nvPr>
        </p:nvSpPr>
        <p:spPr>
          <a:xfrm>
            <a:off x="396875" y="1362075"/>
            <a:ext cx="8213725" cy="4972050"/>
          </a:xfrm>
        </p:spPr>
        <p:txBody>
          <a:bodyPr/>
          <a:lstStyle/>
          <a:p>
            <a:r>
              <a:rPr lang="en-GB" dirty="0"/>
              <a:t>Monitoring and Profiling</a:t>
            </a:r>
          </a:p>
          <a:p>
            <a:pPr lvl="1"/>
            <a:r>
              <a:rPr lang="en-GB" dirty="0"/>
              <a:t>Count number of calls to functions</a:t>
            </a:r>
          </a:p>
          <a:p>
            <a:pPr lvl="1"/>
            <a:r>
              <a:rPr lang="en-GB" dirty="0"/>
              <a:t>Characterize call sites and arguments to functions</a:t>
            </a:r>
          </a:p>
          <a:p>
            <a:pPr lvl="1"/>
            <a:r>
              <a:rPr lang="en-GB" dirty="0" err="1"/>
              <a:t>Malloc</a:t>
            </a:r>
            <a:r>
              <a:rPr lang="en-GB" dirty="0"/>
              <a:t> tracing</a:t>
            </a:r>
          </a:p>
          <a:p>
            <a:pPr lvl="2"/>
            <a:r>
              <a:rPr lang="en-GB" dirty="0"/>
              <a:t>Detecting memory leaks</a:t>
            </a:r>
          </a:p>
          <a:p>
            <a:pPr lvl="2"/>
            <a:r>
              <a:rPr lang="en-GB" b="1" dirty="0">
                <a:solidFill>
                  <a:srgbClr val="C00000"/>
                </a:solidFill>
              </a:rPr>
              <a:t>Generating address </a:t>
            </a:r>
            <a:r>
              <a:rPr lang="en-GB" b="1" dirty="0" smtClean="0">
                <a:solidFill>
                  <a:srgbClr val="C00000"/>
                </a:solidFill>
              </a:rPr>
              <a:t>traces</a:t>
            </a:r>
          </a:p>
          <a:p>
            <a:r>
              <a:rPr lang="en-GB" dirty="0" smtClean="0"/>
              <a:t>Error Checking</a:t>
            </a:r>
          </a:p>
          <a:p>
            <a:pPr lvl="1"/>
            <a:r>
              <a:rPr lang="en-GB" dirty="0" smtClean="0"/>
              <a:t>C Programming Lab used customized versions of </a:t>
            </a:r>
            <a:r>
              <a:rPr lang="en-GB" dirty="0" err="1" smtClean="0"/>
              <a:t>malloc</a:t>
            </a:r>
            <a:r>
              <a:rPr lang="en-GB" dirty="0" smtClean="0"/>
              <a:t>/free to do careful error checking</a:t>
            </a:r>
            <a:endParaRPr lang="en-GB" dirty="0"/>
          </a:p>
          <a:p>
            <a:endParaRPr lang="en-US" dirty="0">
              <a:latin typeface="Courier New"/>
              <a:cs typeface="Courier New"/>
            </a:endParaRPr>
          </a:p>
        </p:txBody>
      </p:sp>
    </p:spTree>
    <p:extLst>
      <p:ext uri="{BB962C8B-B14F-4D97-AF65-F5344CB8AC3E}">
        <p14:creationId xmlns:p14="http://schemas.microsoft.com/office/powerpoint/2010/main" val="3121014546"/>
      </p:ext>
    </p:extLst>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Example program		</a:t>
            </a:r>
            <a:endParaRPr lang="en-US"/>
          </a:p>
        </p:txBody>
      </p:sp>
      <p:sp>
        <p:nvSpPr>
          <p:cNvPr id="3" name="Content Placeholder 2"/>
          <p:cNvSpPr>
            <a:spLocks noGrp="1"/>
          </p:cNvSpPr>
          <p:nvPr>
            <p:ph idx="1"/>
          </p:nvPr>
        </p:nvSpPr>
        <p:spPr>
          <a:xfrm>
            <a:off x="4800600" y="1410522"/>
            <a:ext cx="4114800" cy="2323278"/>
          </a:xfrm>
        </p:spPr>
        <p:txBody>
          <a:bodyPr/>
          <a:lstStyle/>
          <a:p>
            <a:r>
              <a:rPr lang="en-US" smtClean="0"/>
              <a:t>Goal: trace the addresses and sizes of the allocated and freed blocks, without breaking the program, and without modifying the source code. </a:t>
            </a:r>
          </a:p>
          <a:p>
            <a:endParaRPr lang="en-US" smtClean="0"/>
          </a:p>
          <a:p>
            <a:r>
              <a:rPr lang="en-US" smtClean="0"/>
              <a:t>Three solutions: interpose on the library </a:t>
            </a:r>
            <a:r>
              <a:rPr lang="en-US" err="1" smtClean="0">
                <a:latin typeface="Courier New"/>
                <a:cs typeface="Courier New"/>
              </a:rPr>
              <a:t>malloc</a:t>
            </a:r>
            <a:r>
              <a:rPr lang="en-US" smtClean="0"/>
              <a:t> and </a:t>
            </a:r>
            <a:r>
              <a:rPr lang="en-US" smtClean="0">
                <a:latin typeface="Courier New"/>
                <a:cs typeface="Courier New"/>
              </a:rPr>
              <a:t>free</a:t>
            </a:r>
            <a:r>
              <a:rPr lang="en-US" smtClean="0"/>
              <a:t> functions at compile time, link time, and load/run time. </a:t>
            </a:r>
            <a:endParaRPr lang="en-US"/>
          </a:p>
        </p:txBody>
      </p:sp>
      <p:sp>
        <p:nvSpPr>
          <p:cNvPr id="5" name="Text Box 2"/>
          <p:cNvSpPr txBox="1">
            <a:spLocks noChangeArrowheads="1"/>
          </p:cNvSpPr>
          <p:nvPr/>
        </p:nvSpPr>
        <p:spPr bwMode="auto">
          <a:xfrm>
            <a:off x="152400" y="1197678"/>
            <a:ext cx="4648199" cy="4249498"/>
          </a:xfrm>
          <a:prstGeom prst="rect">
            <a:avLst/>
          </a:prstGeom>
          <a:solidFill>
            <a:srgbClr val="F6F5BD"/>
          </a:solidFill>
          <a:ln w="12600">
            <a:solidFill>
              <a:schemeClr val="tx1"/>
            </a:solidFill>
            <a:miter lim="800000"/>
            <a:headEnd/>
            <a:tailEnd/>
          </a:ln>
          <a:effectLst/>
        </p:spPr>
        <p:txBody>
          <a:bodyPr wrap="square" lIns="90000" tIns="46800" rIns="90000" bIns="46800">
            <a:spAutoFit/>
          </a:bodyPr>
          <a:lstStyle/>
          <a:p>
            <a:r>
              <a:rPr lang="en-US" sz="1800">
                <a:latin typeface="Courier New"/>
                <a:cs typeface="Courier New"/>
              </a:rPr>
              <a:t>#include &lt;</a:t>
            </a:r>
            <a:r>
              <a:rPr lang="en-US" sz="1800" err="1">
                <a:latin typeface="Courier New"/>
                <a:cs typeface="Courier New"/>
              </a:rPr>
              <a:t>stdio.h</a:t>
            </a:r>
            <a:r>
              <a:rPr lang="en-US" sz="1800">
                <a:latin typeface="Courier New"/>
                <a:cs typeface="Courier New"/>
              </a:rPr>
              <a:t>&gt;</a:t>
            </a:r>
          </a:p>
          <a:p>
            <a:r>
              <a:rPr lang="en-US" sz="1800">
                <a:latin typeface="Courier New"/>
                <a:cs typeface="Courier New"/>
              </a:rPr>
              <a:t>#include </a:t>
            </a:r>
            <a:r>
              <a:rPr lang="en-US" sz="1800">
                <a:solidFill>
                  <a:srgbClr val="C00000"/>
                </a:solidFill>
                <a:latin typeface="Courier New"/>
                <a:cs typeface="Courier New"/>
              </a:rPr>
              <a:t>&lt;</a:t>
            </a:r>
            <a:r>
              <a:rPr lang="en-US" sz="1800" err="1">
                <a:solidFill>
                  <a:srgbClr val="C00000"/>
                </a:solidFill>
                <a:latin typeface="Courier New"/>
                <a:cs typeface="Courier New"/>
              </a:rPr>
              <a:t>malloc.h</a:t>
            </a:r>
            <a:r>
              <a:rPr lang="en-US" sz="1800">
                <a:solidFill>
                  <a:srgbClr val="C00000"/>
                </a:solidFill>
                <a:latin typeface="Courier New"/>
                <a:cs typeface="Courier New"/>
              </a:rPr>
              <a:t>&gt;</a:t>
            </a:r>
          </a:p>
          <a:p>
            <a:r>
              <a:rPr lang="en-US" sz="1800">
                <a:latin typeface="Courier New"/>
                <a:cs typeface="Courier New"/>
              </a:rPr>
              <a:t>#include &lt;</a:t>
            </a:r>
            <a:r>
              <a:rPr lang="en-US" sz="1800" err="1">
                <a:latin typeface="Courier New"/>
                <a:cs typeface="Courier New"/>
              </a:rPr>
              <a:t>stdlib.h</a:t>
            </a:r>
            <a:r>
              <a:rPr lang="en-US" sz="1800" smtClean="0">
                <a:latin typeface="Courier New"/>
                <a:cs typeface="Courier New"/>
              </a:rPr>
              <a:t>&gt;</a:t>
            </a:r>
            <a:endParaRPr lang="en-US" sz="1800">
              <a:latin typeface="Courier New"/>
              <a:cs typeface="Courier New"/>
            </a:endParaRPr>
          </a:p>
          <a:p>
            <a:endParaRPr lang="en-US" sz="1800">
              <a:latin typeface="Courier New"/>
              <a:cs typeface="Courier New"/>
            </a:endParaRPr>
          </a:p>
          <a:p>
            <a:r>
              <a:rPr lang="en-US" sz="1800" err="1">
                <a:latin typeface="Courier New"/>
                <a:cs typeface="Courier New"/>
              </a:rPr>
              <a:t>int</a:t>
            </a:r>
            <a:r>
              <a:rPr lang="en-US" sz="1800">
                <a:latin typeface="Courier New"/>
                <a:cs typeface="Courier New"/>
              </a:rPr>
              <a:t> main(</a:t>
            </a:r>
            <a:r>
              <a:rPr lang="en-US" sz="1800" err="1">
                <a:latin typeface="Courier New"/>
                <a:cs typeface="Courier New"/>
              </a:rPr>
              <a:t>int</a:t>
            </a:r>
            <a:r>
              <a:rPr lang="en-US" sz="1800">
                <a:latin typeface="Courier New"/>
                <a:cs typeface="Courier New"/>
              </a:rPr>
              <a:t> </a:t>
            </a:r>
            <a:r>
              <a:rPr lang="en-US" sz="1800" err="1">
                <a:latin typeface="Courier New"/>
                <a:cs typeface="Courier New"/>
              </a:rPr>
              <a:t>argc</a:t>
            </a:r>
            <a:r>
              <a:rPr lang="en-US" sz="1800" smtClean="0">
                <a:latin typeface="Courier New"/>
                <a:cs typeface="Courier New"/>
              </a:rPr>
              <a:t>,</a:t>
            </a:r>
          </a:p>
          <a:p>
            <a:r>
              <a:rPr lang="en-US" sz="1800">
                <a:latin typeface="Courier New"/>
                <a:cs typeface="Courier New"/>
              </a:rPr>
              <a:t> </a:t>
            </a:r>
            <a:r>
              <a:rPr lang="en-US" sz="1800" smtClean="0">
                <a:latin typeface="Courier New"/>
                <a:cs typeface="Courier New"/>
              </a:rPr>
              <a:t>        char </a:t>
            </a:r>
            <a:r>
              <a:rPr lang="en-US" sz="1800">
                <a:latin typeface="Courier New"/>
                <a:cs typeface="Courier New"/>
              </a:rPr>
              <a:t>*</a:t>
            </a:r>
            <a:r>
              <a:rPr lang="en-US" sz="1800" err="1">
                <a:latin typeface="Courier New"/>
                <a:cs typeface="Courier New"/>
              </a:rPr>
              <a:t>argv</a:t>
            </a:r>
            <a:r>
              <a:rPr lang="en-US" sz="1800">
                <a:latin typeface="Courier New"/>
                <a:cs typeface="Courier New"/>
              </a:rPr>
              <a:t>[])</a:t>
            </a:r>
          </a:p>
          <a:p>
            <a:r>
              <a:rPr lang="en-US" sz="1800">
                <a:latin typeface="Courier New"/>
                <a:cs typeface="Courier New"/>
              </a:rPr>
              <a:t>{</a:t>
            </a:r>
          </a:p>
          <a:p>
            <a:r>
              <a:rPr lang="en-US" sz="1800" smtClean="0">
                <a:latin typeface="Courier New"/>
                <a:cs typeface="Courier New"/>
              </a:rPr>
              <a:t>  </a:t>
            </a:r>
            <a:r>
              <a:rPr lang="en-US" sz="1800" err="1" smtClean="0">
                <a:latin typeface="Courier New"/>
                <a:cs typeface="Courier New"/>
              </a:rPr>
              <a:t>int</a:t>
            </a:r>
            <a:r>
              <a:rPr lang="en-US" sz="1800" smtClean="0">
                <a:latin typeface="Courier New"/>
                <a:cs typeface="Courier New"/>
              </a:rPr>
              <a:t> </a:t>
            </a:r>
            <a:r>
              <a:rPr lang="en-US" sz="1800" err="1">
                <a:latin typeface="Courier New"/>
                <a:cs typeface="Courier New"/>
              </a:rPr>
              <a:t>i</a:t>
            </a:r>
            <a:r>
              <a:rPr lang="en-US" sz="1800">
                <a:latin typeface="Courier New"/>
                <a:cs typeface="Courier New"/>
              </a:rPr>
              <a:t>;</a:t>
            </a:r>
          </a:p>
          <a:p>
            <a:r>
              <a:rPr lang="en-US" sz="1800" smtClean="0">
                <a:latin typeface="Courier New"/>
                <a:cs typeface="Courier New"/>
              </a:rPr>
              <a:t>  for </a:t>
            </a:r>
            <a:r>
              <a:rPr lang="en-US" sz="1800">
                <a:latin typeface="Courier New"/>
                <a:cs typeface="Courier New"/>
              </a:rPr>
              <a:t>(</a:t>
            </a:r>
            <a:r>
              <a:rPr lang="en-US" sz="1800" err="1">
                <a:latin typeface="Courier New"/>
                <a:cs typeface="Courier New"/>
              </a:rPr>
              <a:t>i</a:t>
            </a:r>
            <a:r>
              <a:rPr lang="en-US" sz="1800">
                <a:latin typeface="Courier New"/>
                <a:cs typeface="Courier New"/>
              </a:rPr>
              <a:t> = 1; </a:t>
            </a:r>
            <a:r>
              <a:rPr lang="en-US" sz="1800" err="1">
                <a:latin typeface="Courier New"/>
                <a:cs typeface="Courier New"/>
              </a:rPr>
              <a:t>i</a:t>
            </a:r>
            <a:r>
              <a:rPr lang="en-US" sz="1800">
                <a:latin typeface="Courier New"/>
                <a:cs typeface="Courier New"/>
              </a:rPr>
              <a:t> &lt; </a:t>
            </a:r>
            <a:r>
              <a:rPr lang="en-US" sz="1800" err="1">
                <a:latin typeface="Courier New"/>
                <a:cs typeface="Courier New"/>
              </a:rPr>
              <a:t>argc</a:t>
            </a:r>
            <a:r>
              <a:rPr lang="en-US" sz="1800">
                <a:latin typeface="Courier New"/>
                <a:cs typeface="Courier New"/>
              </a:rPr>
              <a:t>; </a:t>
            </a:r>
            <a:r>
              <a:rPr lang="en-US" sz="1800" err="1">
                <a:latin typeface="Courier New"/>
                <a:cs typeface="Courier New"/>
              </a:rPr>
              <a:t>i</a:t>
            </a:r>
            <a:r>
              <a:rPr lang="en-US" sz="1800">
                <a:latin typeface="Courier New"/>
                <a:cs typeface="Courier New"/>
              </a:rPr>
              <a:t>++) {</a:t>
            </a:r>
          </a:p>
          <a:p>
            <a:r>
              <a:rPr lang="en-US" sz="1800" smtClean="0">
                <a:latin typeface="Courier New"/>
                <a:cs typeface="Courier New"/>
              </a:rPr>
              <a:t>    void </a:t>
            </a:r>
            <a:r>
              <a:rPr lang="en-US" sz="1800">
                <a:latin typeface="Courier New"/>
                <a:cs typeface="Courier New"/>
              </a:rPr>
              <a:t>*p </a:t>
            </a:r>
            <a:r>
              <a:rPr lang="en-US" sz="1800" smtClean="0">
                <a:latin typeface="Courier New"/>
                <a:cs typeface="Courier New"/>
              </a:rPr>
              <a:t>= </a:t>
            </a:r>
          </a:p>
          <a:p>
            <a:r>
              <a:rPr lang="en-US" sz="1800">
                <a:latin typeface="Courier New"/>
                <a:cs typeface="Courier New"/>
              </a:rPr>
              <a:t> </a:t>
            </a:r>
            <a:r>
              <a:rPr lang="en-US" sz="1800" smtClean="0">
                <a:latin typeface="Courier New"/>
                <a:cs typeface="Courier New"/>
              </a:rPr>
              <a:t>         </a:t>
            </a:r>
            <a:r>
              <a:rPr lang="en-US" sz="1800" err="1" smtClean="0">
                <a:latin typeface="Courier New"/>
                <a:cs typeface="Courier New"/>
              </a:rPr>
              <a:t>malloc</a:t>
            </a:r>
            <a:r>
              <a:rPr lang="en-US" sz="1800">
                <a:latin typeface="Courier New"/>
                <a:cs typeface="Courier New"/>
              </a:rPr>
              <a:t>(</a:t>
            </a:r>
            <a:r>
              <a:rPr lang="en-US" sz="1800" err="1">
                <a:latin typeface="Courier New"/>
                <a:cs typeface="Courier New"/>
              </a:rPr>
              <a:t>atoi</a:t>
            </a:r>
            <a:r>
              <a:rPr lang="en-US" sz="1800">
                <a:latin typeface="Courier New"/>
                <a:cs typeface="Courier New"/>
              </a:rPr>
              <a:t>(</a:t>
            </a:r>
            <a:r>
              <a:rPr lang="en-US" sz="1800" err="1">
                <a:latin typeface="Courier New"/>
                <a:cs typeface="Courier New"/>
              </a:rPr>
              <a:t>argv</a:t>
            </a:r>
            <a:r>
              <a:rPr lang="en-US" sz="1800">
                <a:latin typeface="Courier New"/>
                <a:cs typeface="Courier New"/>
              </a:rPr>
              <a:t>[</a:t>
            </a:r>
            <a:r>
              <a:rPr lang="en-US" sz="1800" err="1">
                <a:latin typeface="Courier New"/>
                <a:cs typeface="Courier New"/>
              </a:rPr>
              <a:t>i</a:t>
            </a:r>
            <a:r>
              <a:rPr lang="en-US" sz="1800">
                <a:latin typeface="Courier New"/>
                <a:cs typeface="Courier New"/>
              </a:rPr>
              <a:t>]));</a:t>
            </a:r>
          </a:p>
          <a:p>
            <a:r>
              <a:rPr lang="en-US" sz="1800" smtClean="0">
                <a:latin typeface="Courier New"/>
                <a:cs typeface="Courier New"/>
              </a:rPr>
              <a:t>    free</a:t>
            </a:r>
            <a:r>
              <a:rPr lang="en-US" sz="1800">
                <a:latin typeface="Courier New"/>
                <a:cs typeface="Courier New"/>
              </a:rPr>
              <a:t>(p);</a:t>
            </a:r>
          </a:p>
          <a:p>
            <a:r>
              <a:rPr lang="en-US" sz="1800" smtClean="0">
                <a:latin typeface="Courier New"/>
                <a:cs typeface="Courier New"/>
              </a:rPr>
              <a:t>  }</a:t>
            </a:r>
            <a:endParaRPr lang="en-US" sz="1800">
              <a:latin typeface="Courier New"/>
              <a:cs typeface="Courier New"/>
            </a:endParaRPr>
          </a:p>
          <a:p>
            <a:r>
              <a:rPr lang="en-US" sz="1800" smtClean="0">
                <a:latin typeface="Courier New"/>
                <a:cs typeface="Courier New"/>
              </a:rPr>
              <a:t>  return</a:t>
            </a:r>
            <a:r>
              <a:rPr lang="en-US" sz="1800">
                <a:latin typeface="Courier New"/>
                <a:cs typeface="Courier New"/>
              </a:rPr>
              <a:t>(0); </a:t>
            </a:r>
          </a:p>
          <a:p>
            <a:r>
              <a:rPr lang="en-US" sz="1800">
                <a:latin typeface="Courier New"/>
                <a:cs typeface="Courier New"/>
              </a:rPr>
              <a:t>}</a:t>
            </a:r>
          </a:p>
        </p:txBody>
      </p:sp>
      <p:sp>
        <p:nvSpPr>
          <p:cNvPr id="6" name="TextBox 5"/>
          <p:cNvSpPr txBox="1"/>
          <p:nvPr/>
        </p:nvSpPr>
        <p:spPr>
          <a:xfrm>
            <a:off x="3923324" y="5077844"/>
            <a:ext cx="877276" cy="369332"/>
          </a:xfrm>
          <a:prstGeom prst="rect">
            <a:avLst/>
          </a:prstGeom>
          <a:noFill/>
        </p:spPr>
        <p:txBody>
          <a:bodyPr wrap="none" rtlCol="0">
            <a:spAutoFit/>
          </a:bodyPr>
          <a:lstStyle/>
          <a:p>
            <a:r>
              <a:rPr lang="en-US" sz="1800" err="1" smtClean="0">
                <a:solidFill>
                  <a:srgbClr val="7F7F7F"/>
                </a:solidFill>
                <a:latin typeface="Courier New"/>
                <a:cs typeface="Courier New"/>
              </a:rPr>
              <a:t>int.c</a:t>
            </a:r>
            <a:endParaRPr lang="en-US" sz="1800" smtClean="0">
              <a:solidFill>
                <a:srgbClr val="7F7F7F"/>
              </a:solidFill>
              <a:latin typeface="Courier New"/>
              <a:cs typeface="Courier New"/>
            </a:endParaRPr>
          </a:p>
        </p:txBody>
      </p:sp>
    </p:spTree>
    <p:extLst>
      <p:ext uri="{BB962C8B-B14F-4D97-AF65-F5344CB8AC3E}">
        <p14:creationId xmlns:p14="http://schemas.microsoft.com/office/powerpoint/2010/main" val="1681094331"/>
      </p:ext>
    </p:extLst>
  </p:cSld>
  <p:clrMapOvr>
    <a:masterClrMapping/>
  </p:clrMapOvr>
  <p:timing>
    <p:tnLst>
      <p:par>
        <p:cTn xmlns:p14="http://schemas.microsoft.com/office/powerpoint/2010/mai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35678"/>
            <a:ext cx="7592093" cy="762000"/>
          </a:xfrm>
        </p:spPr>
        <p:txBody>
          <a:bodyPr/>
          <a:lstStyle/>
          <a:p>
            <a:r>
              <a:rPr lang="en-US" smtClean="0"/>
              <a:t>Compile-time </a:t>
            </a:r>
            <a:r>
              <a:rPr lang="en-US" err="1" smtClean="0"/>
              <a:t>Interpositioning</a:t>
            </a:r>
            <a:endParaRPr lang="en-US"/>
          </a:p>
        </p:txBody>
      </p:sp>
      <p:sp>
        <p:nvSpPr>
          <p:cNvPr id="4" name="Rectangle 3"/>
          <p:cNvSpPr/>
          <p:nvPr/>
        </p:nvSpPr>
        <p:spPr>
          <a:xfrm>
            <a:off x="357018" y="1149488"/>
            <a:ext cx="8558382" cy="5355313"/>
          </a:xfrm>
          <a:prstGeom prst="rect">
            <a:avLst/>
          </a:prstGeom>
          <a:solidFill>
            <a:srgbClr val="F7F5CD"/>
          </a:solidFill>
          <a:ln w="28575" cap="flat" cmpd="sng" algn="ctr">
            <a:solidFill>
              <a:schemeClr val="tx1"/>
            </a:solidFill>
            <a:prstDash val="solid"/>
            <a:round/>
            <a:headEnd type="none" w="med" len="med"/>
            <a:tailEnd type="none" w="med" len="med"/>
          </a:ln>
        </p:spPr>
        <p:txBody>
          <a:bodyPr wrap="square">
            <a:spAutoFit/>
          </a:bodyPr>
          <a:lstStyle/>
          <a:p>
            <a:r>
              <a:rPr lang="en-US" sz="1800" dirty="0">
                <a:solidFill>
                  <a:srgbClr val="926492"/>
                </a:solidFill>
                <a:latin typeface="Courier New"/>
                <a:cs typeface="Courier New"/>
              </a:rPr>
              <a:t>#</a:t>
            </a:r>
            <a:r>
              <a:rPr lang="en-US" sz="1800" dirty="0" err="1">
                <a:solidFill>
                  <a:srgbClr val="926492"/>
                </a:solidFill>
                <a:latin typeface="Courier New"/>
                <a:cs typeface="Courier New"/>
              </a:rPr>
              <a:t>ifdef</a:t>
            </a:r>
            <a:r>
              <a:rPr lang="en-US" sz="1800" dirty="0">
                <a:solidFill>
                  <a:srgbClr val="000000"/>
                </a:solidFill>
                <a:latin typeface="Courier New"/>
                <a:cs typeface="Courier New"/>
              </a:rPr>
              <a:t> COMPILETIME</a:t>
            </a:r>
          </a:p>
          <a:p>
            <a:r>
              <a:rPr lang="en-US" sz="1800" dirty="0">
                <a:solidFill>
                  <a:srgbClr val="926492"/>
                </a:solidFill>
                <a:latin typeface="Courier New"/>
                <a:cs typeface="Courier New"/>
              </a:rPr>
              <a:t>#include</a:t>
            </a:r>
            <a:r>
              <a:rPr lang="en-US" sz="1800" dirty="0">
                <a:solidFill>
                  <a:srgbClr val="000000"/>
                </a:solidFill>
                <a:latin typeface="Courier New"/>
                <a:cs typeface="Courier New"/>
              </a:rPr>
              <a:t> </a:t>
            </a:r>
            <a:r>
              <a:rPr lang="en-US" sz="1800" dirty="0">
                <a:solidFill>
                  <a:srgbClr val="9D206F"/>
                </a:solidFill>
                <a:latin typeface="Courier New"/>
                <a:cs typeface="Courier New"/>
              </a:rPr>
              <a:t>&lt;</a:t>
            </a:r>
            <a:r>
              <a:rPr lang="en-US" sz="1800" dirty="0" err="1">
                <a:solidFill>
                  <a:srgbClr val="9D206F"/>
                </a:solidFill>
                <a:latin typeface="Courier New"/>
                <a:cs typeface="Courier New"/>
              </a:rPr>
              <a:t>stdio.h</a:t>
            </a:r>
            <a:r>
              <a:rPr lang="en-US" sz="1800" dirty="0">
                <a:solidFill>
                  <a:srgbClr val="9D206F"/>
                </a:solidFill>
                <a:latin typeface="Courier New"/>
                <a:cs typeface="Courier New"/>
              </a:rPr>
              <a:t>&gt;</a:t>
            </a:r>
            <a:endParaRPr lang="en-US" sz="1800" dirty="0">
              <a:solidFill>
                <a:srgbClr val="000000"/>
              </a:solidFill>
              <a:latin typeface="Courier New"/>
              <a:cs typeface="Courier New"/>
            </a:endParaRPr>
          </a:p>
          <a:p>
            <a:r>
              <a:rPr lang="en-US" sz="1800" dirty="0">
                <a:solidFill>
                  <a:srgbClr val="926492"/>
                </a:solidFill>
                <a:latin typeface="Courier New"/>
                <a:cs typeface="Courier New"/>
              </a:rPr>
              <a:t>#include</a:t>
            </a:r>
            <a:r>
              <a:rPr lang="en-US" sz="1800" dirty="0">
                <a:solidFill>
                  <a:srgbClr val="000000"/>
                </a:solidFill>
                <a:latin typeface="Courier New"/>
                <a:cs typeface="Courier New"/>
              </a:rPr>
              <a:t> </a:t>
            </a:r>
            <a:r>
              <a:rPr lang="en-US" sz="1800" dirty="0">
                <a:solidFill>
                  <a:srgbClr val="9D206F"/>
                </a:solidFill>
                <a:latin typeface="Courier New"/>
                <a:cs typeface="Courier New"/>
              </a:rPr>
              <a:t>&lt;</a:t>
            </a:r>
            <a:r>
              <a:rPr lang="en-US" sz="1800" dirty="0" err="1" smtClean="0">
                <a:solidFill>
                  <a:srgbClr val="9D206F"/>
                </a:solidFill>
                <a:latin typeface="Courier New"/>
                <a:cs typeface="Courier New"/>
              </a:rPr>
              <a:t>malloc.h</a:t>
            </a:r>
            <a:r>
              <a:rPr lang="en-US" sz="1800" dirty="0">
                <a:solidFill>
                  <a:srgbClr val="9D206F"/>
                </a:solidFill>
                <a:latin typeface="Courier New"/>
                <a:cs typeface="Courier New"/>
              </a:rPr>
              <a:t>&gt;</a:t>
            </a:r>
            <a:endParaRPr lang="en-US" sz="1800" dirty="0">
              <a:solidFill>
                <a:srgbClr val="000000"/>
              </a:solidFill>
              <a:latin typeface="Courier New"/>
              <a:cs typeface="Courier New"/>
            </a:endParaRPr>
          </a:p>
          <a:p>
            <a:endParaRPr lang="en-US" sz="1800" dirty="0">
              <a:solidFill>
                <a:srgbClr val="000000"/>
              </a:solidFill>
              <a:latin typeface="Courier New"/>
              <a:cs typeface="Courier New"/>
            </a:endParaRPr>
          </a:p>
          <a:p>
            <a:r>
              <a:rPr lang="en-US" sz="1800" dirty="0">
                <a:solidFill>
                  <a:srgbClr val="CB2418"/>
                </a:solidFill>
                <a:latin typeface="Courier New"/>
                <a:cs typeface="Courier New"/>
              </a:rPr>
              <a:t>/* </a:t>
            </a:r>
            <a:r>
              <a:rPr lang="en-US" sz="1800" dirty="0" err="1">
                <a:solidFill>
                  <a:srgbClr val="CB2418"/>
                </a:solidFill>
                <a:latin typeface="Courier New"/>
                <a:cs typeface="Courier New"/>
              </a:rPr>
              <a:t>malloc</a:t>
            </a:r>
            <a:r>
              <a:rPr lang="en-US" sz="1800" dirty="0">
                <a:solidFill>
                  <a:srgbClr val="CB2418"/>
                </a:solidFill>
                <a:latin typeface="Courier New"/>
                <a:cs typeface="Courier New"/>
              </a:rPr>
              <a:t> wrapper function */</a:t>
            </a:r>
            <a:endParaRPr lang="en-US" sz="1800" dirty="0">
              <a:solidFill>
                <a:srgbClr val="000000"/>
              </a:solidFill>
              <a:latin typeface="Courier New"/>
              <a:cs typeface="Courier New"/>
            </a:endParaRPr>
          </a:p>
          <a:p>
            <a:r>
              <a:rPr lang="en-US" sz="1800" dirty="0">
                <a:solidFill>
                  <a:srgbClr val="2D961E"/>
                </a:solidFill>
                <a:latin typeface="Courier New"/>
                <a:cs typeface="Courier New"/>
              </a:rPr>
              <a:t>void</a:t>
            </a:r>
            <a:r>
              <a:rPr lang="en-US" sz="1800" dirty="0">
                <a:solidFill>
                  <a:srgbClr val="000000"/>
                </a:solidFill>
                <a:latin typeface="Courier New"/>
                <a:cs typeface="Courier New"/>
              </a:rPr>
              <a:t> *</a:t>
            </a:r>
            <a:r>
              <a:rPr lang="en-US" sz="1800" dirty="0" err="1">
                <a:solidFill>
                  <a:srgbClr val="4A00FF"/>
                </a:solidFill>
                <a:latin typeface="Courier New"/>
                <a:cs typeface="Courier New"/>
              </a:rPr>
              <a:t>mymalloc</a:t>
            </a:r>
            <a:r>
              <a:rPr lang="en-US" sz="1800" dirty="0">
                <a:solidFill>
                  <a:srgbClr val="000000"/>
                </a:solidFill>
                <a:latin typeface="Courier New"/>
                <a:cs typeface="Courier New"/>
              </a:rPr>
              <a:t>(</a:t>
            </a:r>
            <a:r>
              <a:rPr lang="en-US" sz="1800" dirty="0" err="1">
                <a:solidFill>
                  <a:srgbClr val="2D961E"/>
                </a:solidFill>
                <a:latin typeface="Courier New"/>
                <a:cs typeface="Courier New"/>
              </a:rPr>
              <a:t>size_t</a:t>
            </a:r>
            <a:r>
              <a:rPr lang="en-US" sz="1800" dirty="0">
                <a:solidFill>
                  <a:srgbClr val="000000"/>
                </a:solidFill>
                <a:latin typeface="Courier New"/>
                <a:cs typeface="Courier New"/>
              </a:rPr>
              <a:t> </a:t>
            </a:r>
            <a:r>
              <a:rPr lang="en-US" sz="1800" dirty="0">
                <a:solidFill>
                  <a:srgbClr val="C1651C"/>
                </a:solidFill>
                <a:latin typeface="Courier New"/>
                <a:cs typeface="Courier New"/>
              </a:rPr>
              <a:t>size</a:t>
            </a:r>
            <a:r>
              <a:rPr lang="en-US" sz="1800" dirty="0">
                <a:solidFill>
                  <a:srgbClr val="000000"/>
                </a:solidFill>
                <a:latin typeface="Courier New"/>
                <a:cs typeface="Courier New"/>
              </a:rPr>
              <a:t>)</a:t>
            </a:r>
          </a:p>
          <a:p>
            <a:r>
              <a:rPr lang="en-US"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a:solidFill>
                  <a:srgbClr val="2D961E"/>
                </a:solidFill>
                <a:latin typeface="Courier New"/>
                <a:cs typeface="Courier New"/>
              </a:rPr>
              <a:t>void</a:t>
            </a:r>
            <a:r>
              <a:rPr lang="en-US" sz="1800" dirty="0">
                <a:solidFill>
                  <a:srgbClr val="000000"/>
                </a:solidFill>
                <a:latin typeface="Courier New"/>
                <a:cs typeface="Courier New"/>
              </a:rPr>
              <a:t> *</a:t>
            </a:r>
            <a:r>
              <a:rPr lang="en-US" sz="1800" dirty="0" err="1">
                <a:solidFill>
                  <a:srgbClr val="C1651C"/>
                </a:solidFill>
                <a:latin typeface="Courier New"/>
                <a:cs typeface="Courier New"/>
              </a:rPr>
              <a:t>ptr</a:t>
            </a:r>
            <a:r>
              <a:rPr lang="en-US" sz="1800" dirty="0">
                <a:solidFill>
                  <a:srgbClr val="000000"/>
                </a:solidFill>
                <a:latin typeface="Courier New"/>
                <a:cs typeface="Courier New"/>
              </a:rPr>
              <a:t> = </a:t>
            </a:r>
            <a:r>
              <a:rPr lang="en-US" sz="1800" dirty="0" err="1">
                <a:solidFill>
                  <a:srgbClr val="000000"/>
                </a:solidFill>
                <a:latin typeface="Courier New"/>
                <a:cs typeface="Courier New"/>
              </a:rPr>
              <a:t>malloc</a:t>
            </a:r>
            <a:r>
              <a:rPr lang="en-US" sz="1800" dirty="0">
                <a:solidFill>
                  <a:srgbClr val="000000"/>
                </a:solidFill>
                <a:latin typeface="Courier New"/>
                <a:cs typeface="Courier New"/>
              </a:rPr>
              <a:t>(size);</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printf</a:t>
            </a:r>
            <a:r>
              <a:rPr lang="en-US" sz="1800" dirty="0">
                <a:solidFill>
                  <a:srgbClr val="000000"/>
                </a:solidFill>
                <a:latin typeface="Courier New"/>
                <a:cs typeface="Courier New"/>
              </a:rPr>
              <a:t>(</a:t>
            </a:r>
            <a:r>
              <a:rPr lang="en-US" sz="1800" dirty="0">
                <a:solidFill>
                  <a:srgbClr val="9D206F"/>
                </a:solidFill>
                <a:latin typeface="Courier New"/>
                <a:cs typeface="Courier New"/>
              </a:rPr>
              <a:t>"</a:t>
            </a:r>
            <a:r>
              <a:rPr lang="en-US" sz="1800" dirty="0" err="1">
                <a:solidFill>
                  <a:srgbClr val="9D206F"/>
                </a:solidFill>
                <a:latin typeface="Courier New"/>
                <a:cs typeface="Courier New"/>
              </a:rPr>
              <a:t>malloc</a:t>
            </a:r>
            <a:r>
              <a:rPr lang="en-US" sz="1800" dirty="0">
                <a:solidFill>
                  <a:srgbClr val="9D206F"/>
                </a:solidFill>
                <a:latin typeface="Courier New"/>
                <a:cs typeface="Courier New"/>
              </a:rPr>
              <a:t>(%d)=%p\n"</a:t>
            </a:r>
            <a:r>
              <a:rPr lang="en-US" sz="1800" dirty="0" smtClean="0">
                <a:solidFill>
                  <a:srgbClr val="000000"/>
                </a:solidFill>
                <a:latin typeface="Courier New"/>
                <a:cs typeface="Courier New"/>
              </a:rPr>
              <a:t>, </a:t>
            </a:r>
            <a:r>
              <a:rPr lang="it-IT" sz="1800" dirty="0" smtClean="0">
                <a:solidFill>
                  <a:srgbClr val="000000"/>
                </a:solidFill>
                <a:latin typeface="Courier New"/>
                <a:cs typeface="Courier New"/>
              </a:rPr>
              <a:t>(</a:t>
            </a:r>
            <a:r>
              <a:rPr lang="it-IT" sz="1800" dirty="0" err="1">
                <a:solidFill>
                  <a:srgbClr val="2D961E"/>
                </a:solidFill>
                <a:latin typeface="Courier New"/>
                <a:cs typeface="Courier New"/>
              </a:rPr>
              <a:t>int</a:t>
            </a:r>
            <a:r>
              <a:rPr lang="it-IT" sz="1800" dirty="0">
                <a:solidFill>
                  <a:srgbClr val="000000"/>
                </a:solidFill>
                <a:latin typeface="Courier New"/>
                <a:cs typeface="Courier New"/>
              </a:rPr>
              <a:t>)</a:t>
            </a:r>
            <a:r>
              <a:rPr lang="it-IT" sz="1800" dirty="0" err="1">
                <a:solidFill>
                  <a:srgbClr val="000000"/>
                </a:solidFill>
                <a:latin typeface="Courier New"/>
                <a:cs typeface="Courier New"/>
              </a:rPr>
              <a:t>size</a:t>
            </a:r>
            <a:r>
              <a:rPr lang="it-IT" sz="1800" dirty="0">
                <a:solidFill>
                  <a:srgbClr val="000000"/>
                </a:solidFill>
                <a:latin typeface="Courier New"/>
                <a:cs typeface="Courier New"/>
              </a:rPr>
              <a:t>, </a:t>
            </a:r>
            <a:r>
              <a:rPr lang="it-IT" sz="1800" dirty="0" err="1">
                <a:solidFill>
                  <a:srgbClr val="000000"/>
                </a:solidFill>
                <a:latin typeface="Courier New"/>
                <a:cs typeface="Courier New"/>
              </a:rPr>
              <a:t>ptr</a:t>
            </a:r>
            <a:r>
              <a:rPr lang="it-IT" sz="1800" dirty="0">
                <a:solidFill>
                  <a:srgbClr val="000000"/>
                </a:solidFill>
                <a:latin typeface="Courier New"/>
                <a:cs typeface="Courier New"/>
              </a:rPr>
              <a:t>);</a:t>
            </a:r>
          </a:p>
          <a:p>
            <a:r>
              <a:rPr lang="it-IT" sz="1800" dirty="0">
                <a:solidFill>
                  <a:srgbClr val="000000"/>
                </a:solidFill>
                <a:latin typeface="Courier New"/>
                <a:cs typeface="Courier New"/>
              </a:rPr>
              <a:t>    </a:t>
            </a:r>
            <a:r>
              <a:rPr lang="it-IT" sz="1800" dirty="0" err="1">
                <a:solidFill>
                  <a:srgbClr val="C200FF"/>
                </a:solidFill>
                <a:latin typeface="Courier New"/>
                <a:cs typeface="Courier New"/>
              </a:rPr>
              <a:t>return</a:t>
            </a:r>
            <a:r>
              <a:rPr lang="it-IT" sz="1800" dirty="0">
                <a:solidFill>
                  <a:srgbClr val="000000"/>
                </a:solidFill>
                <a:latin typeface="Courier New"/>
                <a:cs typeface="Courier New"/>
              </a:rPr>
              <a:t> </a:t>
            </a:r>
            <a:r>
              <a:rPr lang="it-IT" sz="1800" dirty="0" err="1">
                <a:solidFill>
                  <a:srgbClr val="000000"/>
                </a:solidFill>
                <a:latin typeface="Courier New"/>
                <a:cs typeface="Courier New"/>
              </a:rPr>
              <a:t>ptr</a:t>
            </a:r>
            <a:r>
              <a:rPr lang="it-IT" sz="1800" dirty="0">
                <a:solidFill>
                  <a:srgbClr val="000000"/>
                </a:solidFill>
                <a:latin typeface="Courier New"/>
                <a:cs typeface="Courier New"/>
              </a:rPr>
              <a:t>;</a:t>
            </a:r>
          </a:p>
          <a:p>
            <a:r>
              <a:rPr lang="it-IT" sz="1800" dirty="0">
                <a:solidFill>
                  <a:srgbClr val="000000"/>
                </a:solidFill>
                <a:latin typeface="Courier New"/>
                <a:cs typeface="Courier New"/>
              </a:rPr>
              <a:t>}</a:t>
            </a:r>
          </a:p>
          <a:p>
            <a:endParaRPr lang="it-IT" sz="1800" dirty="0">
              <a:solidFill>
                <a:srgbClr val="000000"/>
              </a:solidFill>
              <a:latin typeface="Courier New"/>
              <a:cs typeface="Courier New"/>
            </a:endParaRPr>
          </a:p>
          <a:p>
            <a:r>
              <a:rPr lang="it-IT" sz="1800" dirty="0">
                <a:solidFill>
                  <a:srgbClr val="CB2418"/>
                </a:solidFill>
                <a:latin typeface="Courier New"/>
                <a:cs typeface="Courier New"/>
              </a:rPr>
              <a:t>/* free </a:t>
            </a:r>
            <a:r>
              <a:rPr lang="it-IT" sz="1800" dirty="0" err="1">
                <a:solidFill>
                  <a:srgbClr val="CB2418"/>
                </a:solidFill>
                <a:latin typeface="Courier New"/>
                <a:cs typeface="Courier New"/>
              </a:rPr>
              <a:t>wrapper</a:t>
            </a:r>
            <a:r>
              <a:rPr lang="it-IT" sz="1800" dirty="0">
                <a:solidFill>
                  <a:srgbClr val="CB2418"/>
                </a:solidFill>
                <a:latin typeface="Courier New"/>
                <a:cs typeface="Courier New"/>
              </a:rPr>
              <a:t> </a:t>
            </a:r>
            <a:r>
              <a:rPr lang="it-IT" sz="1800" dirty="0" err="1">
                <a:solidFill>
                  <a:srgbClr val="CB2418"/>
                </a:solidFill>
                <a:latin typeface="Courier New"/>
                <a:cs typeface="Courier New"/>
              </a:rPr>
              <a:t>function</a:t>
            </a:r>
            <a:r>
              <a:rPr lang="it-IT" sz="1800" dirty="0">
                <a:solidFill>
                  <a:srgbClr val="CB2418"/>
                </a:solidFill>
                <a:latin typeface="Courier New"/>
                <a:cs typeface="Courier New"/>
              </a:rPr>
              <a:t> */</a:t>
            </a:r>
            <a:endParaRPr lang="it-IT" sz="1800" dirty="0">
              <a:solidFill>
                <a:srgbClr val="000000"/>
              </a:solidFill>
              <a:latin typeface="Courier New"/>
              <a:cs typeface="Courier New"/>
            </a:endParaRPr>
          </a:p>
          <a:p>
            <a:r>
              <a:rPr lang="it-IT" sz="1800" dirty="0" err="1">
                <a:solidFill>
                  <a:srgbClr val="2D961E"/>
                </a:solidFill>
                <a:latin typeface="Courier New"/>
                <a:cs typeface="Courier New"/>
              </a:rPr>
              <a:t>void</a:t>
            </a:r>
            <a:r>
              <a:rPr lang="it-IT" sz="1800" dirty="0">
                <a:solidFill>
                  <a:srgbClr val="000000"/>
                </a:solidFill>
                <a:latin typeface="Courier New"/>
                <a:cs typeface="Courier New"/>
              </a:rPr>
              <a:t> </a:t>
            </a:r>
            <a:r>
              <a:rPr lang="it-IT" sz="1800" dirty="0" err="1">
                <a:solidFill>
                  <a:srgbClr val="4A00FF"/>
                </a:solidFill>
                <a:latin typeface="Courier New"/>
                <a:cs typeface="Courier New"/>
              </a:rPr>
              <a:t>myfree</a:t>
            </a:r>
            <a:r>
              <a:rPr lang="it-IT" sz="1800" dirty="0">
                <a:solidFill>
                  <a:srgbClr val="000000"/>
                </a:solidFill>
                <a:latin typeface="Courier New"/>
                <a:cs typeface="Courier New"/>
              </a:rPr>
              <a:t>(</a:t>
            </a:r>
            <a:r>
              <a:rPr lang="it-IT" sz="1800" dirty="0" err="1">
                <a:solidFill>
                  <a:srgbClr val="2D961E"/>
                </a:solidFill>
                <a:latin typeface="Courier New"/>
                <a:cs typeface="Courier New"/>
              </a:rPr>
              <a:t>void</a:t>
            </a:r>
            <a:r>
              <a:rPr lang="it-IT" sz="1800" dirty="0">
                <a:solidFill>
                  <a:srgbClr val="000000"/>
                </a:solidFill>
                <a:latin typeface="Courier New"/>
                <a:cs typeface="Courier New"/>
              </a:rPr>
              <a:t> *</a:t>
            </a:r>
            <a:r>
              <a:rPr lang="it-IT" sz="1800" dirty="0" err="1">
                <a:solidFill>
                  <a:srgbClr val="C1651C"/>
                </a:solidFill>
                <a:latin typeface="Courier New"/>
                <a:cs typeface="Courier New"/>
              </a:rPr>
              <a:t>ptr</a:t>
            </a:r>
            <a:r>
              <a:rPr lang="it-IT" sz="1800" dirty="0">
                <a:solidFill>
                  <a:srgbClr val="000000"/>
                </a:solidFill>
                <a:latin typeface="Courier New"/>
                <a:cs typeface="Courier New"/>
              </a:rPr>
              <a:t>)</a:t>
            </a:r>
          </a:p>
          <a:p>
            <a:r>
              <a:rPr lang="it-IT" sz="1800" dirty="0">
                <a:solidFill>
                  <a:srgbClr val="000000"/>
                </a:solidFill>
                <a:latin typeface="Courier New"/>
                <a:cs typeface="Courier New"/>
              </a:rPr>
              <a:t>{</a:t>
            </a:r>
          </a:p>
          <a:p>
            <a:r>
              <a:rPr lang="en-US" sz="1800" dirty="0">
                <a:solidFill>
                  <a:srgbClr val="000000"/>
                </a:solidFill>
                <a:latin typeface="Courier New"/>
                <a:cs typeface="Courier New"/>
              </a:rPr>
              <a:t>    free(</a:t>
            </a:r>
            <a:r>
              <a:rPr lang="en-US" sz="1800" dirty="0" err="1">
                <a:solidFill>
                  <a:srgbClr val="000000"/>
                </a:solidFill>
                <a:latin typeface="Courier New"/>
                <a:cs typeface="Courier New"/>
              </a:rPr>
              <a:t>ptr</a:t>
            </a:r>
            <a:r>
              <a:rPr lang="en-US"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printf</a:t>
            </a:r>
            <a:r>
              <a:rPr lang="en-US" sz="1800" dirty="0">
                <a:solidFill>
                  <a:srgbClr val="000000"/>
                </a:solidFill>
                <a:latin typeface="Courier New"/>
                <a:cs typeface="Courier New"/>
              </a:rPr>
              <a:t>(</a:t>
            </a:r>
            <a:r>
              <a:rPr lang="en-US" sz="1800" dirty="0">
                <a:solidFill>
                  <a:srgbClr val="9D206F"/>
                </a:solidFill>
                <a:latin typeface="Courier New"/>
                <a:cs typeface="Courier New"/>
              </a:rPr>
              <a:t>"free(%p)\n"</a:t>
            </a:r>
            <a:r>
              <a:rPr lang="en-US" sz="1800" dirty="0">
                <a:solidFill>
                  <a:srgbClr val="000000"/>
                </a:solidFill>
                <a:latin typeface="Courier New"/>
                <a:cs typeface="Courier New"/>
              </a:rPr>
              <a:t>, </a:t>
            </a:r>
            <a:r>
              <a:rPr lang="en-US" sz="1800" dirty="0" err="1">
                <a:solidFill>
                  <a:srgbClr val="000000"/>
                </a:solidFill>
                <a:latin typeface="Courier New"/>
                <a:cs typeface="Courier New"/>
              </a:rPr>
              <a:t>ptr</a:t>
            </a:r>
            <a:r>
              <a:rPr lang="en-US" sz="1800" dirty="0">
                <a:solidFill>
                  <a:srgbClr val="000000"/>
                </a:solidFill>
                <a:latin typeface="Courier New"/>
                <a:cs typeface="Courier New"/>
              </a:rPr>
              <a:t>);</a:t>
            </a:r>
          </a:p>
          <a:p>
            <a:r>
              <a:rPr lang="en-US" sz="1800" dirty="0">
                <a:solidFill>
                  <a:srgbClr val="000000"/>
                </a:solidFill>
                <a:latin typeface="Courier New"/>
                <a:cs typeface="Courier New"/>
              </a:rPr>
              <a:t>}</a:t>
            </a:r>
          </a:p>
          <a:p>
            <a:r>
              <a:rPr lang="en-US" sz="1800" dirty="0">
                <a:solidFill>
                  <a:srgbClr val="926492"/>
                </a:solidFill>
                <a:latin typeface="Courier New"/>
                <a:cs typeface="Courier New"/>
              </a:rPr>
              <a:t>#</a:t>
            </a:r>
            <a:r>
              <a:rPr lang="en-US" sz="1800" dirty="0" err="1">
                <a:solidFill>
                  <a:srgbClr val="926492"/>
                </a:solidFill>
                <a:latin typeface="Courier New"/>
                <a:cs typeface="Courier New"/>
              </a:rPr>
              <a:t>endif</a:t>
            </a:r>
            <a:endParaRPr lang="en-US" sz="1800" dirty="0">
              <a:latin typeface="Courier New"/>
              <a:cs typeface="Courier New"/>
            </a:endParaRPr>
          </a:p>
        </p:txBody>
      </p:sp>
      <p:sp>
        <p:nvSpPr>
          <p:cNvPr id="5" name="TextBox 4"/>
          <p:cNvSpPr txBox="1"/>
          <p:nvPr/>
        </p:nvSpPr>
        <p:spPr>
          <a:xfrm>
            <a:off x="7332024" y="6128417"/>
            <a:ext cx="1569886" cy="369332"/>
          </a:xfrm>
          <a:prstGeom prst="rect">
            <a:avLst/>
          </a:prstGeom>
          <a:noFill/>
        </p:spPr>
        <p:txBody>
          <a:bodyPr wrap="none" rtlCol="0">
            <a:spAutoFit/>
          </a:bodyPr>
          <a:lstStyle/>
          <a:p>
            <a:r>
              <a:rPr lang="en-US" sz="1800" err="1" smtClean="0">
                <a:solidFill>
                  <a:srgbClr val="7F7F7F"/>
                </a:solidFill>
                <a:latin typeface="Courier New"/>
                <a:cs typeface="Courier New"/>
              </a:rPr>
              <a:t>mymalloc.c</a:t>
            </a:r>
            <a:endParaRPr lang="en-US" sz="1800" smtClean="0">
              <a:solidFill>
                <a:srgbClr val="7F7F7F"/>
              </a:solidFill>
              <a:latin typeface="Courier New"/>
              <a:cs typeface="Courier New"/>
            </a:endParaRPr>
          </a:p>
        </p:txBody>
      </p:sp>
    </p:spTree>
    <p:extLst>
      <p:ext uri="{BB962C8B-B14F-4D97-AF65-F5344CB8AC3E}">
        <p14:creationId xmlns:p14="http://schemas.microsoft.com/office/powerpoint/2010/main" val="1394687689"/>
      </p:ext>
    </p:extLst>
  </p:cSld>
  <p:clrMapOvr>
    <a:masterClrMapping/>
  </p:clrMapOvr>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Compile-time </a:t>
            </a:r>
            <a:r>
              <a:rPr lang="en-US" err="1" smtClean="0"/>
              <a:t>Interpositioning</a:t>
            </a:r>
            <a:endParaRPr lang="en-US"/>
          </a:p>
        </p:txBody>
      </p:sp>
      <p:sp>
        <p:nvSpPr>
          <p:cNvPr id="4" name="Rectangle 3"/>
          <p:cNvSpPr/>
          <p:nvPr/>
        </p:nvSpPr>
        <p:spPr>
          <a:xfrm>
            <a:off x="357018" y="1219200"/>
            <a:ext cx="8558382" cy="1754327"/>
          </a:xfrm>
          <a:prstGeom prst="rect">
            <a:avLst/>
          </a:prstGeom>
          <a:solidFill>
            <a:srgbClr val="F7F5CD"/>
          </a:solidFill>
          <a:ln w="28575" cap="flat" cmpd="sng" algn="ctr">
            <a:solidFill>
              <a:schemeClr val="tx1"/>
            </a:solidFill>
            <a:prstDash val="solid"/>
            <a:round/>
            <a:headEnd type="none" w="med" len="med"/>
            <a:tailEnd type="none" w="med" len="med"/>
          </a:ln>
        </p:spPr>
        <p:txBody>
          <a:bodyPr wrap="square">
            <a:spAutoFit/>
          </a:bodyPr>
          <a:lstStyle/>
          <a:p>
            <a:r>
              <a:rPr lang="en-US" sz="1800">
                <a:solidFill>
                  <a:srgbClr val="926492"/>
                </a:solidFill>
                <a:latin typeface="Courier New"/>
                <a:cs typeface="Courier New"/>
              </a:rPr>
              <a:t>#define</a:t>
            </a:r>
            <a:r>
              <a:rPr lang="en-US" sz="1800">
                <a:solidFill>
                  <a:srgbClr val="000000"/>
                </a:solidFill>
                <a:latin typeface="Courier New"/>
                <a:cs typeface="Courier New"/>
              </a:rPr>
              <a:t> </a:t>
            </a:r>
            <a:r>
              <a:rPr lang="en-US" sz="1800" err="1">
                <a:solidFill>
                  <a:srgbClr val="4A00FF"/>
                </a:solidFill>
                <a:latin typeface="Courier New"/>
                <a:cs typeface="Courier New"/>
              </a:rPr>
              <a:t>malloc</a:t>
            </a:r>
            <a:r>
              <a:rPr lang="en-US" sz="1800">
                <a:solidFill>
                  <a:srgbClr val="000000"/>
                </a:solidFill>
                <a:latin typeface="Courier New"/>
                <a:cs typeface="Courier New"/>
              </a:rPr>
              <a:t>(</a:t>
            </a:r>
            <a:r>
              <a:rPr lang="en-US" sz="1800">
                <a:solidFill>
                  <a:srgbClr val="C1651C"/>
                </a:solidFill>
                <a:latin typeface="Courier New"/>
                <a:cs typeface="Courier New"/>
              </a:rPr>
              <a:t>size</a:t>
            </a:r>
            <a:r>
              <a:rPr lang="en-US" sz="1800">
                <a:solidFill>
                  <a:srgbClr val="000000"/>
                </a:solidFill>
                <a:latin typeface="Courier New"/>
                <a:cs typeface="Courier New"/>
              </a:rPr>
              <a:t>) </a:t>
            </a:r>
            <a:r>
              <a:rPr lang="en-US" sz="1800" err="1">
                <a:solidFill>
                  <a:srgbClr val="000000"/>
                </a:solidFill>
                <a:latin typeface="Courier New"/>
                <a:cs typeface="Courier New"/>
              </a:rPr>
              <a:t>mymalloc</a:t>
            </a:r>
            <a:r>
              <a:rPr lang="en-US" sz="1800">
                <a:solidFill>
                  <a:srgbClr val="000000"/>
                </a:solidFill>
                <a:latin typeface="Courier New"/>
                <a:cs typeface="Courier New"/>
              </a:rPr>
              <a:t>(size)</a:t>
            </a:r>
          </a:p>
          <a:p>
            <a:r>
              <a:rPr lang="en-US" sz="1800">
                <a:solidFill>
                  <a:srgbClr val="926492"/>
                </a:solidFill>
                <a:latin typeface="Courier New"/>
                <a:cs typeface="Courier New"/>
              </a:rPr>
              <a:t>#define</a:t>
            </a:r>
            <a:r>
              <a:rPr lang="en-US" sz="1800">
                <a:solidFill>
                  <a:srgbClr val="000000"/>
                </a:solidFill>
                <a:latin typeface="Courier New"/>
                <a:cs typeface="Courier New"/>
              </a:rPr>
              <a:t> </a:t>
            </a:r>
            <a:r>
              <a:rPr lang="en-US" sz="1800">
                <a:solidFill>
                  <a:srgbClr val="4A00FF"/>
                </a:solidFill>
                <a:latin typeface="Courier New"/>
                <a:cs typeface="Courier New"/>
              </a:rPr>
              <a:t>free</a:t>
            </a:r>
            <a:r>
              <a:rPr lang="en-US" sz="1800">
                <a:solidFill>
                  <a:srgbClr val="000000"/>
                </a:solidFill>
                <a:latin typeface="Courier New"/>
                <a:cs typeface="Courier New"/>
              </a:rPr>
              <a:t>(</a:t>
            </a:r>
            <a:r>
              <a:rPr lang="en-US" sz="1800" err="1">
                <a:solidFill>
                  <a:srgbClr val="C1651C"/>
                </a:solidFill>
                <a:latin typeface="Courier New"/>
                <a:cs typeface="Courier New"/>
              </a:rPr>
              <a:t>ptr</a:t>
            </a:r>
            <a:r>
              <a:rPr lang="en-US" sz="1800">
                <a:solidFill>
                  <a:srgbClr val="000000"/>
                </a:solidFill>
                <a:latin typeface="Courier New"/>
                <a:cs typeface="Courier New"/>
              </a:rPr>
              <a:t>) </a:t>
            </a:r>
            <a:r>
              <a:rPr lang="en-US" sz="1800" err="1">
                <a:solidFill>
                  <a:srgbClr val="000000"/>
                </a:solidFill>
                <a:latin typeface="Courier New"/>
                <a:cs typeface="Courier New"/>
              </a:rPr>
              <a:t>myfree</a:t>
            </a:r>
            <a:r>
              <a:rPr lang="en-US" sz="1800">
                <a:solidFill>
                  <a:srgbClr val="000000"/>
                </a:solidFill>
                <a:latin typeface="Courier New"/>
                <a:cs typeface="Courier New"/>
              </a:rPr>
              <a:t>(</a:t>
            </a:r>
            <a:r>
              <a:rPr lang="en-US" sz="1800" err="1">
                <a:solidFill>
                  <a:srgbClr val="000000"/>
                </a:solidFill>
                <a:latin typeface="Courier New"/>
                <a:cs typeface="Courier New"/>
              </a:rPr>
              <a:t>ptr</a:t>
            </a:r>
            <a:r>
              <a:rPr lang="en-US" sz="1800">
                <a:solidFill>
                  <a:srgbClr val="000000"/>
                </a:solidFill>
                <a:latin typeface="Courier New"/>
                <a:cs typeface="Courier New"/>
              </a:rPr>
              <a:t>)</a:t>
            </a:r>
          </a:p>
          <a:p>
            <a:endParaRPr lang="en-US" sz="1800">
              <a:solidFill>
                <a:srgbClr val="000000"/>
              </a:solidFill>
              <a:latin typeface="Courier New"/>
              <a:cs typeface="Courier New"/>
            </a:endParaRPr>
          </a:p>
          <a:p>
            <a:r>
              <a:rPr lang="en-US" sz="1800">
                <a:solidFill>
                  <a:srgbClr val="2D961E"/>
                </a:solidFill>
                <a:latin typeface="Courier New"/>
                <a:cs typeface="Courier New"/>
              </a:rPr>
              <a:t>void</a:t>
            </a:r>
            <a:r>
              <a:rPr lang="en-US" sz="1800">
                <a:solidFill>
                  <a:srgbClr val="000000"/>
                </a:solidFill>
                <a:latin typeface="Courier New"/>
                <a:cs typeface="Courier New"/>
              </a:rPr>
              <a:t> *</a:t>
            </a:r>
            <a:r>
              <a:rPr lang="en-US" sz="1800" err="1">
                <a:solidFill>
                  <a:srgbClr val="4A00FF"/>
                </a:solidFill>
                <a:latin typeface="Courier New"/>
                <a:cs typeface="Courier New"/>
              </a:rPr>
              <a:t>mymalloc</a:t>
            </a:r>
            <a:r>
              <a:rPr lang="en-US" sz="1800">
                <a:solidFill>
                  <a:srgbClr val="000000"/>
                </a:solidFill>
                <a:latin typeface="Courier New"/>
                <a:cs typeface="Courier New"/>
              </a:rPr>
              <a:t>(</a:t>
            </a:r>
            <a:r>
              <a:rPr lang="en-US" sz="1800" err="1">
                <a:solidFill>
                  <a:srgbClr val="2D961E"/>
                </a:solidFill>
                <a:latin typeface="Courier New"/>
                <a:cs typeface="Courier New"/>
              </a:rPr>
              <a:t>size_t</a:t>
            </a:r>
            <a:r>
              <a:rPr lang="en-US" sz="1800">
                <a:solidFill>
                  <a:srgbClr val="000000"/>
                </a:solidFill>
                <a:latin typeface="Courier New"/>
                <a:cs typeface="Courier New"/>
              </a:rPr>
              <a:t> </a:t>
            </a:r>
            <a:r>
              <a:rPr lang="en-US" sz="1800">
                <a:solidFill>
                  <a:srgbClr val="C1651C"/>
                </a:solidFill>
                <a:latin typeface="Courier New"/>
                <a:cs typeface="Courier New"/>
              </a:rPr>
              <a:t>size</a:t>
            </a:r>
            <a:r>
              <a:rPr lang="en-US" sz="1800">
                <a:solidFill>
                  <a:srgbClr val="000000"/>
                </a:solidFill>
                <a:latin typeface="Courier New"/>
                <a:cs typeface="Courier New"/>
              </a:rPr>
              <a:t>);</a:t>
            </a:r>
          </a:p>
          <a:p>
            <a:r>
              <a:rPr lang="en-US" sz="1800">
                <a:solidFill>
                  <a:srgbClr val="2D961E"/>
                </a:solidFill>
                <a:latin typeface="Courier New"/>
                <a:cs typeface="Courier New"/>
              </a:rPr>
              <a:t>void</a:t>
            </a:r>
            <a:r>
              <a:rPr lang="en-US" sz="1800">
                <a:solidFill>
                  <a:srgbClr val="000000"/>
                </a:solidFill>
                <a:latin typeface="Courier New"/>
                <a:cs typeface="Courier New"/>
              </a:rPr>
              <a:t> </a:t>
            </a:r>
            <a:r>
              <a:rPr lang="en-US" sz="1800" err="1">
                <a:solidFill>
                  <a:srgbClr val="4A00FF"/>
                </a:solidFill>
                <a:latin typeface="Courier New"/>
                <a:cs typeface="Courier New"/>
              </a:rPr>
              <a:t>myfree</a:t>
            </a:r>
            <a:r>
              <a:rPr lang="en-US" sz="1800">
                <a:solidFill>
                  <a:srgbClr val="000000"/>
                </a:solidFill>
                <a:latin typeface="Courier New"/>
                <a:cs typeface="Courier New"/>
              </a:rPr>
              <a:t>(</a:t>
            </a:r>
            <a:r>
              <a:rPr lang="en-US" sz="1800">
                <a:solidFill>
                  <a:srgbClr val="2D961E"/>
                </a:solidFill>
                <a:latin typeface="Courier New"/>
                <a:cs typeface="Courier New"/>
              </a:rPr>
              <a:t>void</a:t>
            </a:r>
            <a:r>
              <a:rPr lang="en-US" sz="1800">
                <a:solidFill>
                  <a:srgbClr val="000000"/>
                </a:solidFill>
                <a:latin typeface="Courier New"/>
                <a:cs typeface="Courier New"/>
              </a:rPr>
              <a:t> *</a:t>
            </a:r>
            <a:r>
              <a:rPr lang="en-US" sz="1800" err="1">
                <a:solidFill>
                  <a:srgbClr val="C1651C"/>
                </a:solidFill>
                <a:latin typeface="Courier New"/>
                <a:cs typeface="Courier New"/>
              </a:rPr>
              <a:t>ptr</a:t>
            </a:r>
            <a:r>
              <a:rPr lang="en-US" sz="1800">
                <a:solidFill>
                  <a:srgbClr val="000000"/>
                </a:solidFill>
                <a:latin typeface="Courier New"/>
                <a:cs typeface="Courier New"/>
              </a:rPr>
              <a:t>);</a:t>
            </a:r>
          </a:p>
          <a:p>
            <a:endParaRPr lang="en-US" sz="1800" smtClean="0">
              <a:latin typeface="Courier New"/>
              <a:cs typeface="Courier New"/>
            </a:endParaRPr>
          </a:p>
        </p:txBody>
      </p:sp>
      <p:sp>
        <p:nvSpPr>
          <p:cNvPr id="5" name="TextBox 4"/>
          <p:cNvSpPr txBox="1"/>
          <p:nvPr/>
        </p:nvSpPr>
        <p:spPr>
          <a:xfrm>
            <a:off x="7622558" y="2603601"/>
            <a:ext cx="1292842" cy="369332"/>
          </a:xfrm>
          <a:prstGeom prst="rect">
            <a:avLst/>
          </a:prstGeom>
          <a:noFill/>
        </p:spPr>
        <p:txBody>
          <a:bodyPr wrap="none" rtlCol="0">
            <a:spAutoFit/>
          </a:bodyPr>
          <a:lstStyle/>
          <a:p>
            <a:r>
              <a:rPr lang="en-US" sz="1800" err="1" smtClean="0">
                <a:solidFill>
                  <a:srgbClr val="7F7F7F"/>
                </a:solidFill>
                <a:latin typeface="Courier New"/>
                <a:cs typeface="Courier New"/>
              </a:rPr>
              <a:t>malloc.h</a:t>
            </a:r>
            <a:endParaRPr lang="en-US" sz="1800" smtClean="0">
              <a:solidFill>
                <a:srgbClr val="7F7F7F"/>
              </a:solidFill>
              <a:latin typeface="Courier New"/>
              <a:cs typeface="Courier New"/>
            </a:endParaRPr>
          </a:p>
        </p:txBody>
      </p:sp>
      <p:sp>
        <p:nvSpPr>
          <p:cNvPr id="7" name="Rectangle 6"/>
          <p:cNvSpPr/>
          <p:nvPr/>
        </p:nvSpPr>
        <p:spPr>
          <a:xfrm>
            <a:off x="357017" y="3048000"/>
            <a:ext cx="7592093" cy="3693319"/>
          </a:xfrm>
          <a:prstGeom prst="rect">
            <a:avLst/>
          </a:prstGeom>
          <a:solidFill>
            <a:srgbClr val="E6E6E6"/>
          </a:solidFill>
          <a:ln w="28575" cap="flat" cmpd="sng" algn="ctr">
            <a:solidFill>
              <a:srgbClr val="000000"/>
            </a:solidFill>
            <a:prstDash val="solid"/>
            <a:round/>
            <a:headEnd type="none" w="med" len="med"/>
            <a:tailEnd type="none" w="med" len="med"/>
          </a:ln>
        </p:spPr>
        <p:txBody>
          <a:bodyPr wrap="square">
            <a:spAutoFit/>
          </a:bodyPr>
          <a:lstStyle/>
          <a:p>
            <a:r>
              <a:rPr lang="en-US" sz="1800" err="1" smtClean="0">
                <a:latin typeface="Courier New"/>
                <a:cs typeface="Courier New"/>
              </a:rPr>
              <a:t>linux</a:t>
            </a:r>
            <a:r>
              <a:rPr lang="en-US" sz="1800" smtClean="0">
                <a:latin typeface="Courier New"/>
                <a:cs typeface="Courier New"/>
              </a:rPr>
              <a:t>&gt; </a:t>
            </a:r>
            <a:r>
              <a:rPr lang="en-US" sz="1800">
                <a:latin typeface="Courier New"/>
                <a:cs typeface="Courier New"/>
              </a:rPr>
              <a:t>make </a:t>
            </a:r>
            <a:r>
              <a:rPr lang="en-US" sz="1800" err="1">
                <a:latin typeface="Courier New"/>
                <a:cs typeface="Courier New"/>
              </a:rPr>
              <a:t>intc</a:t>
            </a:r>
            <a:endParaRPr lang="en-US" sz="1800" b="0">
              <a:latin typeface="Courier New"/>
              <a:cs typeface="Courier New"/>
            </a:endParaRPr>
          </a:p>
          <a:p>
            <a:r>
              <a:rPr lang="en-US" sz="1800" b="0" err="1">
                <a:latin typeface="Courier New"/>
                <a:cs typeface="Courier New"/>
              </a:rPr>
              <a:t>gcc</a:t>
            </a:r>
            <a:r>
              <a:rPr lang="en-US" sz="1800" b="0">
                <a:latin typeface="Courier New"/>
                <a:cs typeface="Courier New"/>
              </a:rPr>
              <a:t> -Wall -DCOMPILETIME -c </a:t>
            </a:r>
            <a:r>
              <a:rPr lang="en-US" sz="1800" b="0" err="1">
                <a:latin typeface="Courier New"/>
                <a:cs typeface="Courier New"/>
              </a:rPr>
              <a:t>mymalloc.c</a:t>
            </a:r>
            <a:endParaRPr lang="en-US" sz="1800" b="0">
              <a:latin typeface="Courier New"/>
              <a:cs typeface="Courier New"/>
            </a:endParaRPr>
          </a:p>
          <a:p>
            <a:r>
              <a:rPr lang="en-US" sz="1800" b="0" err="1">
                <a:latin typeface="Courier New"/>
                <a:cs typeface="Courier New"/>
              </a:rPr>
              <a:t>gcc</a:t>
            </a:r>
            <a:r>
              <a:rPr lang="en-US" sz="1800" b="0">
                <a:latin typeface="Courier New"/>
                <a:cs typeface="Courier New"/>
              </a:rPr>
              <a:t> -Wall </a:t>
            </a:r>
            <a:r>
              <a:rPr lang="en-US" sz="1800" b="0">
                <a:solidFill>
                  <a:srgbClr val="C00000"/>
                </a:solidFill>
                <a:latin typeface="Courier New"/>
                <a:cs typeface="Courier New"/>
              </a:rPr>
              <a:t>-I.</a:t>
            </a:r>
            <a:r>
              <a:rPr lang="en-US" sz="1800" b="0">
                <a:latin typeface="Courier New"/>
                <a:cs typeface="Courier New"/>
              </a:rPr>
              <a:t> -o </a:t>
            </a:r>
            <a:r>
              <a:rPr lang="en-US" sz="1800" b="0" err="1">
                <a:latin typeface="Courier New"/>
                <a:cs typeface="Courier New"/>
              </a:rPr>
              <a:t>intc</a:t>
            </a:r>
            <a:r>
              <a:rPr lang="en-US" sz="1800" b="0">
                <a:latin typeface="Courier New"/>
                <a:cs typeface="Courier New"/>
              </a:rPr>
              <a:t> </a:t>
            </a:r>
            <a:r>
              <a:rPr lang="en-US" sz="1800" b="0" err="1">
                <a:latin typeface="Courier New"/>
                <a:cs typeface="Courier New"/>
              </a:rPr>
              <a:t>int.c</a:t>
            </a:r>
            <a:r>
              <a:rPr lang="en-US" sz="1800" b="0">
                <a:latin typeface="Courier New"/>
                <a:cs typeface="Courier New"/>
              </a:rPr>
              <a:t> </a:t>
            </a:r>
            <a:r>
              <a:rPr lang="en-US" sz="1800" b="0" err="1">
                <a:latin typeface="Courier New"/>
                <a:cs typeface="Courier New"/>
              </a:rPr>
              <a:t>mymalloc.o</a:t>
            </a:r>
            <a:endParaRPr lang="en-US" sz="1800" b="0">
              <a:latin typeface="Courier New"/>
              <a:cs typeface="Courier New"/>
            </a:endParaRPr>
          </a:p>
          <a:p>
            <a:r>
              <a:rPr lang="en-US" sz="1800" err="1" smtClean="0">
                <a:latin typeface="Courier New"/>
                <a:cs typeface="Courier New"/>
              </a:rPr>
              <a:t>linux</a:t>
            </a:r>
            <a:r>
              <a:rPr lang="en-US" sz="1800" smtClean="0">
                <a:latin typeface="Courier New"/>
                <a:cs typeface="Courier New"/>
              </a:rPr>
              <a:t>&gt; </a:t>
            </a:r>
            <a:r>
              <a:rPr lang="en-US" sz="1800">
                <a:latin typeface="Courier New"/>
                <a:cs typeface="Courier New"/>
              </a:rPr>
              <a:t>make </a:t>
            </a:r>
            <a:r>
              <a:rPr lang="en-US" sz="1800" err="1">
                <a:latin typeface="Courier New"/>
                <a:cs typeface="Courier New"/>
              </a:rPr>
              <a:t>runc</a:t>
            </a:r>
            <a:endParaRPr lang="en-US" sz="1800" b="0">
              <a:latin typeface="Courier New"/>
              <a:cs typeface="Courier New"/>
            </a:endParaRPr>
          </a:p>
          <a:p>
            <a:r>
              <a:rPr lang="en-US" sz="1800" b="0">
                <a:latin typeface="Courier New"/>
                <a:cs typeface="Courier New"/>
              </a:rPr>
              <a:t>./</a:t>
            </a:r>
            <a:r>
              <a:rPr lang="en-US" sz="1800" b="0" err="1">
                <a:latin typeface="Courier New"/>
                <a:cs typeface="Courier New"/>
              </a:rPr>
              <a:t>intc</a:t>
            </a:r>
            <a:r>
              <a:rPr lang="en-US" sz="1800" b="0">
                <a:latin typeface="Courier New"/>
                <a:cs typeface="Courier New"/>
              </a:rPr>
              <a:t> 10 100 1000</a:t>
            </a:r>
          </a:p>
          <a:p>
            <a:r>
              <a:rPr lang="en-US" sz="1800" b="0" err="1">
                <a:latin typeface="Courier New"/>
                <a:cs typeface="Courier New"/>
              </a:rPr>
              <a:t>malloc</a:t>
            </a:r>
            <a:r>
              <a:rPr lang="en-US" sz="1800" b="0">
                <a:latin typeface="Courier New"/>
                <a:cs typeface="Courier New"/>
              </a:rPr>
              <a:t>(10)=0x1ba7010</a:t>
            </a:r>
          </a:p>
          <a:p>
            <a:r>
              <a:rPr lang="en-US" sz="1800" b="0">
                <a:latin typeface="Courier New"/>
                <a:cs typeface="Courier New"/>
              </a:rPr>
              <a:t>free(0x1ba7010)</a:t>
            </a:r>
          </a:p>
          <a:p>
            <a:r>
              <a:rPr lang="en-US" sz="1800" b="0" err="1">
                <a:latin typeface="Courier New"/>
                <a:cs typeface="Courier New"/>
              </a:rPr>
              <a:t>malloc</a:t>
            </a:r>
            <a:r>
              <a:rPr lang="en-US" sz="1800" b="0">
                <a:latin typeface="Courier New"/>
                <a:cs typeface="Courier New"/>
              </a:rPr>
              <a:t>(100)=0x1ba7030</a:t>
            </a:r>
          </a:p>
          <a:p>
            <a:r>
              <a:rPr lang="en-US" sz="1800" b="0">
                <a:latin typeface="Courier New"/>
                <a:cs typeface="Courier New"/>
              </a:rPr>
              <a:t>free(0x1ba7030)</a:t>
            </a:r>
          </a:p>
          <a:p>
            <a:r>
              <a:rPr lang="en-US" sz="1800" b="0" err="1">
                <a:latin typeface="Courier New"/>
                <a:cs typeface="Courier New"/>
              </a:rPr>
              <a:t>malloc</a:t>
            </a:r>
            <a:r>
              <a:rPr lang="en-US" sz="1800" b="0">
                <a:latin typeface="Courier New"/>
                <a:cs typeface="Courier New"/>
              </a:rPr>
              <a:t>(1000)=0x1ba70a0</a:t>
            </a:r>
          </a:p>
          <a:p>
            <a:r>
              <a:rPr lang="en-US" sz="1800" b="0">
                <a:latin typeface="Courier New"/>
                <a:cs typeface="Courier New"/>
              </a:rPr>
              <a:t>free(0x1ba70a0)</a:t>
            </a:r>
          </a:p>
          <a:p>
            <a:r>
              <a:rPr lang="en-US" sz="1800" err="1" smtClean="0">
                <a:latin typeface="Courier New"/>
                <a:cs typeface="Courier New"/>
              </a:rPr>
              <a:t>linux</a:t>
            </a:r>
            <a:r>
              <a:rPr lang="en-US" sz="1800" smtClean="0">
                <a:latin typeface="Courier New"/>
                <a:cs typeface="Courier New"/>
              </a:rPr>
              <a:t>&gt;</a:t>
            </a:r>
            <a:endParaRPr lang="en-US" sz="1800">
              <a:latin typeface="Courier New"/>
              <a:cs typeface="Courier New"/>
            </a:endParaRPr>
          </a:p>
          <a:p>
            <a:endParaRPr lang="en-US" sz="1800" smtClean="0">
              <a:latin typeface="Courier New"/>
              <a:cs typeface="Courier New"/>
            </a:endParaRPr>
          </a:p>
        </p:txBody>
      </p:sp>
      <p:sp>
        <p:nvSpPr>
          <p:cNvPr id="3" name="TextBox 2"/>
          <p:cNvSpPr txBox="1"/>
          <p:nvPr/>
        </p:nvSpPr>
        <p:spPr>
          <a:xfrm>
            <a:off x="3891789" y="5791200"/>
            <a:ext cx="3406514" cy="369332"/>
          </a:xfrm>
          <a:prstGeom prst="rect">
            <a:avLst/>
          </a:prstGeom>
          <a:solidFill>
            <a:srgbClr val="D5F1CF"/>
          </a:solidFill>
          <a:ln>
            <a:solidFill>
              <a:schemeClr val="tx1"/>
            </a:solidFill>
          </a:ln>
        </p:spPr>
        <p:txBody>
          <a:bodyPr wrap="none" rtlCol="0">
            <a:spAutoFit/>
          </a:bodyPr>
          <a:lstStyle/>
          <a:p>
            <a:r>
              <a:rPr lang="en-US" sz="1800" smtClean="0">
                <a:solidFill>
                  <a:srgbClr val="C00000"/>
                </a:solidFill>
                <a:latin typeface="Calibri" pitchFamily="34" charset="0"/>
              </a:rPr>
              <a:t>Search for </a:t>
            </a:r>
            <a:r>
              <a:rPr lang="en-US" sz="1800" smtClean="0">
                <a:solidFill>
                  <a:srgbClr val="C00000"/>
                </a:solidFill>
                <a:latin typeface="Courier New"/>
                <a:cs typeface="Courier New"/>
              </a:rPr>
              <a:t>&lt;</a:t>
            </a:r>
            <a:r>
              <a:rPr lang="en-US" sz="1800" err="1" smtClean="0">
                <a:solidFill>
                  <a:srgbClr val="C00000"/>
                </a:solidFill>
                <a:latin typeface="Courier New"/>
                <a:cs typeface="Courier New"/>
              </a:rPr>
              <a:t>malloc.h</a:t>
            </a:r>
            <a:r>
              <a:rPr lang="en-US" sz="1800" smtClean="0">
                <a:solidFill>
                  <a:srgbClr val="C00000"/>
                </a:solidFill>
                <a:latin typeface="Courier New"/>
                <a:cs typeface="Courier New"/>
              </a:rPr>
              <a:t>&gt;</a:t>
            </a:r>
            <a:r>
              <a:rPr lang="en-US" sz="1800" smtClean="0">
                <a:solidFill>
                  <a:srgbClr val="C00000"/>
                </a:solidFill>
                <a:latin typeface="Calibri" pitchFamily="34" charset="0"/>
              </a:rPr>
              <a:t> leads to</a:t>
            </a:r>
          </a:p>
        </p:txBody>
      </p:sp>
      <p:cxnSp>
        <p:nvCxnSpPr>
          <p:cNvPr id="8" name="Straight Arrow Connector 7"/>
          <p:cNvCxnSpPr/>
          <p:nvPr/>
        </p:nvCxnSpPr>
        <p:spPr bwMode="auto">
          <a:xfrm>
            <a:off x="2362200" y="3886200"/>
            <a:ext cx="1529589" cy="1905000"/>
          </a:xfrm>
          <a:prstGeom prst="straightConnector1">
            <a:avLst/>
          </a:prstGeom>
          <a:noFill/>
          <a:ln w="25400" cap="flat" cmpd="sng" algn="ctr">
            <a:solidFill>
              <a:srgbClr val="008000"/>
            </a:solidFill>
            <a:prstDash val="solid"/>
            <a:round/>
            <a:headEnd type="none" w="med" len="med"/>
            <a:tailEnd type="arrow"/>
          </a:ln>
          <a:effectLst/>
        </p:spPr>
      </p:cxnSp>
      <p:cxnSp>
        <p:nvCxnSpPr>
          <p:cNvPr id="9" name="Straight Arrow Connector 8"/>
          <p:cNvCxnSpPr/>
          <p:nvPr/>
        </p:nvCxnSpPr>
        <p:spPr bwMode="auto">
          <a:xfrm flipV="1">
            <a:off x="7298303" y="2973528"/>
            <a:ext cx="1007497" cy="2817672"/>
          </a:xfrm>
          <a:prstGeom prst="straightConnector1">
            <a:avLst/>
          </a:prstGeom>
          <a:noFill/>
          <a:ln w="25400" cap="flat" cmpd="sng" algn="ctr">
            <a:solidFill>
              <a:schemeClr val="tx1"/>
            </a:solidFill>
            <a:prstDash val="solid"/>
            <a:round/>
            <a:headEnd type="none" w="med" len="med"/>
            <a:tailEnd type="arrow"/>
          </a:ln>
          <a:effectLst/>
        </p:spPr>
      </p:cxnSp>
      <p:sp>
        <p:nvSpPr>
          <p:cNvPr id="11" name="TextBox 10"/>
          <p:cNvSpPr txBox="1"/>
          <p:nvPr/>
        </p:nvSpPr>
        <p:spPr>
          <a:xfrm>
            <a:off x="4114800" y="4267200"/>
            <a:ext cx="3406514" cy="646331"/>
          </a:xfrm>
          <a:prstGeom prst="rect">
            <a:avLst/>
          </a:prstGeom>
          <a:solidFill>
            <a:srgbClr val="D5F1CF"/>
          </a:solidFill>
          <a:ln>
            <a:solidFill>
              <a:srgbClr val="008000"/>
            </a:solidFill>
          </a:ln>
        </p:spPr>
        <p:txBody>
          <a:bodyPr wrap="none" rtlCol="0">
            <a:spAutoFit/>
          </a:bodyPr>
          <a:lstStyle/>
          <a:p>
            <a:r>
              <a:rPr lang="en-US" sz="1800" smtClean="0">
                <a:solidFill>
                  <a:srgbClr val="C00000"/>
                </a:solidFill>
                <a:latin typeface="Calibri" pitchFamily="34" charset="0"/>
              </a:rPr>
              <a:t>Search for </a:t>
            </a:r>
            <a:r>
              <a:rPr lang="en-US" sz="1800" smtClean="0">
                <a:solidFill>
                  <a:srgbClr val="C00000"/>
                </a:solidFill>
                <a:latin typeface="Courier New"/>
                <a:cs typeface="Courier New"/>
              </a:rPr>
              <a:t>&lt;</a:t>
            </a:r>
            <a:r>
              <a:rPr lang="en-US" sz="1800" err="1" smtClean="0">
                <a:solidFill>
                  <a:srgbClr val="C00000"/>
                </a:solidFill>
                <a:latin typeface="Courier New"/>
                <a:cs typeface="Courier New"/>
              </a:rPr>
              <a:t>malloc.h</a:t>
            </a:r>
            <a:r>
              <a:rPr lang="en-US" sz="1800" smtClean="0">
                <a:solidFill>
                  <a:srgbClr val="C00000"/>
                </a:solidFill>
                <a:latin typeface="Courier New"/>
                <a:cs typeface="Courier New"/>
              </a:rPr>
              <a:t>&gt;</a:t>
            </a:r>
            <a:r>
              <a:rPr lang="en-US" sz="1800" smtClean="0">
                <a:solidFill>
                  <a:srgbClr val="C00000"/>
                </a:solidFill>
                <a:latin typeface="Calibri" pitchFamily="34" charset="0"/>
              </a:rPr>
              <a:t> leads to</a:t>
            </a:r>
          </a:p>
          <a:p>
            <a:r>
              <a:rPr lang="en-US" sz="1800" smtClean="0">
                <a:solidFill>
                  <a:srgbClr val="C00000"/>
                </a:solidFill>
                <a:latin typeface="Courier New"/>
                <a:cs typeface="Courier New"/>
              </a:rPr>
              <a:t>/</a:t>
            </a:r>
            <a:r>
              <a:rPr lang="en-US" sz="1800" err="1" smtClean="0">
                <a:solidFill>
                  <a:srgbClr val="C00000"/>
                </a:solidFill>
                <a:latin typeface="Courier New"/>
                <a:cs typeface="Courier New"/>
              </a:rPr>
              <a:t>usr</a:t>
            </a:r>
            <a:r>
              <a:rPr lang="en-US" sz="1800" smtClean="0">
                <a:solidFill>
                  <a:srgbClr val="C00000"/>
                </a:solidFill>
                <a:latin typeface="Courier New"/>
                <a:cs typeface="Courier New"/>
              </a:rPr>
              <a:t>/include/</a:t>
            </a:r>
            <a:r>
              <a:rPr lang="en-US" sz="1800" err="1" smtClean="0">
                <a:solidFill>
                  <a:srgbClr val="C00000"/>
                </a:solidFill>
                <a:latin typeface="Courier New"/>
                <a:cs typeface="Courier New"/>
              </a:rPr>
              <a:t>malloc.h</a:t>
            </a:r>
            <a:endParaRPr lang="en-US" sz="1800" smtClean="0">
              <a:solidFill>
                <a:srgbClr val="C00000"/>
              </a:solidFill>
              <a:latin typeface="Courier New"/>
              <a:cs typeface="Courier New"/>
            </a:endParaRPr>
          </a:p>
        </p:txBody>
      </p:sp>
      <p:cxnSp>
        <p:nvCxnSpPr>
          <p:cNvPr id="12" name="Straight Arrow Connector 11"/>
          <p:cNvCxnSpPr/>
          <p:nvPr/>
        </p:nvCxnSpPr>
        <p:spPr bwMode="auto">
          <a:xfrm>
            <a:off x="2362200" y="3657600"/>
            <a:ext cx="1752600" cy="609600"/>
          </a:xfrm>
          <a:prstGeom prst="straightConnector1">
            <a:avLst/>
          </a:prstGeom>
          <a:noFill/>
          <a:ln w="25400" cap="flat" cmpd="sng" algn="ctr">
            <a:solidFill>
              <a:srgbClr val="008000"/>
            </a:solidFill>
            <a:prstDash val="solid"/>
            <a:round/>
            <a:headEnd type="none" w="med" len="med"/>
            <a:tailEnd type="arrow"/>
          </a:ln>
          <a:effectLst/>
        </p:spPr>
      </p:cxnSp>
    </p:spTree>
    <p:extLst>
      <p:ext uri="{BB962C8B-B14F-4D97-AF65-F5344CB8AC3E}">
        <p14:creationId xmlns:p14="http://schemas.microsoft.com/office/powerpoint/2010/main" val="706986538"/>
      </p:ext>
    </p:extLst>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152400"/>
            <a:ext cx="7592093" cy="762000"/>
          </a:xfrm>
        </p:spPr>
        <p:txBody>
          <a:bodyPr/>
          <a:lstStyle/>
          <a:p>
            <a:r>
              <a:rPr lang="en-US" smtClean="0"/>
              <a:t>Link-time </a:t>
            </a:r>
            <a:r>
              <a:rPr lang="en-US" err="1" smtClean="0"/>
              <a:t>Interpositioning</a:t>
            </a:r>
            <a:endParaRPr lang="en-US"/>
          </a:p>
        </p:txBody>
      </p:sp>
      <p:sp>
        <p:nvSpPr>
          <p:cNvPr id="4" name="Rectangle 3"/>
          <p:cNvSpPr/>
          <p:nvPr/>
        </p:nvSpPr>
        <p:spPr>
          <a:xfrm>
            <a:off x="357018" y="838200"/>
            <a:ext cx="8558382" cy="5909311"/>
          </a:xfrm>
          <a:prstGeom prst="rect">
            <a:avLst/>
          </a:prstGeom>
          <a:solidFill>
            <a:srgbClr val="F7F5CD"/>
          </a:solidFill>
          <a:ln w="28575" cap="flat" cmpd="sng" algn="ctr">
            <a:solidFill>
              <a:schemeClr val="tx1"/>
            </a:solidFill>
            <a:prstDash val="solid"/>
            <a:round/>
            <a:headEnd type="none" w="med" len="med"/>
            <a:tailEnd type="none" w="med" len="med"/>
          </a:ln>
        </p:spPr>
        <p:txBody>
          <a:bodyPr wrap="square">
            <a:spAutoFit/>
          </a:bodyPr>
          <a:lstStyle/>
          <a:p>
            <a:r>
              <a:rPr lang="en-US" sz="1800">
                <a:solidFill>
                  <a:srgbClr val="926492"/>
                </a:solidFill>
                <a:latin typeface="Courier New"/>
                <a:cs typeface="Courier New"/>
              </a:rPr>
              <a:t>#</a:t>
            </a:r>
            <a:r>
              <a:rPr lang="en-US" sz="1800" err="1">
                <a:solidFill>
                  <a:srgbClr val="926492"/>
                </a:solidFill>
                <a:latin typeface="Courier New"/>
                <a:cs typeface="Courier New"/>
              </a:rPr>
              <a:t>ifdef</a:t>
            </a:r>
            <a:r>
              <a:rPr lang="en-US" sz="1800">
                <a:solidFill>
                  <a:srgbClr val="000000"/>
                </a:solidFill>
                <a:latin typeface="Courier New"/>
                <a:cs typeface="Courier New"/>
              </a:rPr>
              <a:t> LINKTIME</a:t>
            </a:r>
          </a:p>
          <a:p>
            <a:r>
              <a:rPr lang="en-US" sz="1800">
                <a:solidFill>
                  <a:srgbClr val="926492"/>
                </a:solidFill>
                <a:latin typeface="Courier New"/>
                <a:cs typeface="Courier New"/>
              </a:rPr>
              <a:t>#include</a:t>
            </a:r>
            <a:r>
              <a:rPr lang="en-US" sz="1800">
                <a:solidFill>
                  <a:srgbClr val="000000"/>
                </a:solidFill>
                <a:latin typeface="Courier New"/>
                <a:cs typeface="Courier New"/>
              </a:rPr>
              <a:t> </a:t>
            </a:r>
            <a:r>
              <a:rPr lang="en-US" sz="1800">
                <a:solidFill>
                  <a:srgbClr val="9D206F"/>
                </a:solidFill>
                <a:latin typeface="Courier New"/>
                <a:cs typeface="Courier New"/>
              </a:rPr>
              <a:t>&lt;</a:t>
            </a:r>
            <a:r>
              <a:rPr lang="en-US" sz="1800" err="1">
                <a:solidFill>
                  <a:srgbClr val="9D206F"/>
                </a:solidFill>
                <a:latin typeface="Courier New"/>
                <a:cs typeface="Courier New"/>
              </a:rPr>
              <a:t>stdio.h</a:t>
            </a:r>
            <a:r>
              <a:rPr lang="en-US" sz="1800">
                <a:solidFill>
                  <a:srgbClr val="9D206F"/>
                </a:solidFill>
                <a:latin typeface="Courier New"/>
                <a:cs typeface="Courier New"/>
              </a:rPr>
              <a:t>&gt;</a:t>
            </a:r>
            <a:endParaRPr lang="en-US" sz="1800">
              <a:solidFill>
                <a:srgbClr val="000000"/>
              </a:solidFill>
              <a:latin typeface="Courier New"/>
              <a:cs typeface="Courier New"/>
            </a:endParaRPr>
          </a:p>
          <a:p>
            <a:endParaRPr lang="en-US" sz="1800">
              <a:solidFill>
                <a:srgbClr val="000000"/>
              </a:solidFill>
              <a:latin typeface="Courier New"/>
              <a:cs typeface="Courier New"/>
            </a:endParaRPr>
          </a:p>
          <a:p>
            <a:r>
              <a:rPr lang="en-US" sz="1800">
                <a:solidFill>
                  <a:srgbClr val="2D961E"/>
                </a:solidFill>
                <a:latin typeface="Courier New"/>
                <a:cs typeface="Courier New"/>
              </a:rPr>
              <a:t>void</a:t>
            </a:r>
            <a:r>
              <a:rPr lang="en-US" sz="1800">
                <a:solidFill>
                  <a:srgbClr val="000000"/>
                </a:solidFill>
                <a:latin typeface="Courier New"/>
                <a:cs typeface="Courier New"/>
              </a:rPr>
              <a:t> *</a:t>
            </a:r>
            <a:r>
              <a:rPr lang="en-US" sz="1800">
                <a:solidFill>
                  <a:srgbClr val="4A00FF"/>
                </a:solidFill>
                <a:latin typeface="Courier New"/>
                <a:cs typeface="Courier New"/>
              </a:rPr>
              <a:t>__</a:t>
            </a:r>
            <a:r>
              <a:rPr lang="en-US" sz="1800" err="1">
                <a:solidFill>
                  <a:srgbClr val="4A00FF"/>
                </a:solidFill>
                <a:latin typeface="Courier New"/>
                <a:cs typeface="Courier New"/>
              </a:rPr>
              <a:t>real_malloc</a:t>
            </a:r>
            <a:r>
              <a:rPr lang="en-US" sz="1800">
                <a:solidFill>
                  <a:srgbClr val="000000"/>
                </a:solidFill>
                <a:latin typeface="Courier New"/>
                <a:cs typeface="Courier New"/>
              </a:rPr>
              <a:t>(</a:t>
            </a:r>
            <a:r>
              <a:rPr lang="en-US" sz="1800" err="1">
                <a:solidFill>
                  <a:srgbClr val="2D961E"/>
                </a:solidFill>
                <a:latin typeface="Courier New"/>
                <a:cs typeface="Courier New"/>
              </a:rPr>
              <a:t>size_t</a:t>
            </a:r>
            <a:r>
              <a:rPr lang="en-US" sz="1800">
                <a:solidFill>
                  <a:srgbClr val="000000"/>
                </a:solidFill>
                <a:latin typeface="Courier New"/>
                <a:cs typeface="Courier New"/>
              </a:rPr>
              <a:t> </a:t>
            </a:r>
            <a:r>
              <a:rPr lang="en-US" sz="1800">
                <a:solidFill>
                  <a:srgbClr val="C1651C"/>
                </a:solidFill>
                <a:latin typeface="Courier New"/>
                <a:cs typeface="Courier New"/>
              </a:rPr>
              <a:t>size</a:t>
            </a:r>
            <a:r>
              <a:rPr lang="en-US" sz="1800">
                <a:solidFill>
                  <a:srgbClr val="000000"/>
                </a:solidFill>
                <a:latin typeface="Courier New"/>
                <a:cs typeface="Courier New"/>
              </a:rPr>
              <a:t>);</a:t>
            </a:r>
          </a:p>
          <a:p>
            <a:r>
              <a:rPr lang="en-US" sz="1800">
                <a:solidFill>
                  <a:srgbClr val="2D961E"/>
                </a:solidFill>
                <a:latin typeface="Courier New"/>
                <a:cs typeface="Courier New"/>
              </a:rPr>
              <a:t>void</a:t>
            </a:r>
            <a:r>
              <a:rPr lang="en-US" sz="1800">
                <a:solidFill>
                  <a:srgbClr val="000000"/>
                </a:solidFill>
                <a:latin typeface="Courier New"/>
                <a:cs typeface="Courier New"/>
              </a:rPr>
              <a:t> </a:t>
            </a:r>
            <a:r>
              <a:rPr lang="en-US" sz="1800">
                <a:solidFill>
                  <a:srgbClr val="4A00FF"/>
                </a:solidFill>
                <a:latin typeface="Courier New"/>
                <a:cs typeface="Courier New"/>
              </a:rPr>
              <a:t>__</a:t>
            </a:r>
            <a:r>
              <a:rPr lang="en-US" sz="1800" err="1">
                <a:solidFill>
                  <a:srgbClr val="4A00FF"/>
                </a:solidFill>
                <a:latin typeface="Courier New"/>
                <a:cs typeface="Courier New"/>
              </a:rPr>
              <a:t>real_free</a:t>
            </a:r>
            <a:r>
              <a:rPr lang="en-US" sz="1800">
                <a:solidFill>
                  <a:srgbClr val="000000"/>
                </a:solidFill>
                <a:latin typeface="Courier New"/>
                <a:cs typeface="Courier New"/>
              </a:rPr>
              <a:t>(</a:t>
            </a:r>
            <a:r>
              <a:rPr lang="en-US" sz="1800">
                <a:solidFill>
                  <a:srgbClr val="2D961E"/>
                </a:solidFill>
                <a:latin typeface="Courier New"/>
                <a:cs typeface="Courier New"/>
              </a:rPr>
              <a:t>void</a:t>
            </a:r>
            <a:r>
              <a:rPr lang="en-US" sz="1800">
                <a:solidFill>
                  <a:srgbClr val="000000"/>
                </a:solidFill>
                <a:latin typeface="Courier New"/>
                <a:cs typeface="Courier New"/>
              </a:rPr>
              <a:t> *</a:t>
            </a:r>
            <a:r>
              <a:rPr lang="en-US" sz="1800" err="1">
                <a:solidFill>
                  <a:srgbClr val="C1651C"/>
                </a:solidFill>
                <a:latin typeface="Courier New"/>
                <a:cs typeface="Courier New"/>
              </a:rPr>
              <a:t>ptr</a:t>
            </a:r>
            <a:r>
              <a:rPr lang="en-US" sz="1800">
                <a:solidFill>
                  <a:srgbClr val="000000"/>
                </a:solidFill>
                <a:latin typeface="Courier New"/>
                <a:cs typeface="Courier New"/>
              </a:rPr>
              <a:t>);</a:t>
            </a:r>
          </a:p>
          <a:p>
            <a:endParaRPr lang="en-US" sz="1800">
              <a:solidFill>
                <a:srgbClr val="000000"/>
              </a:solidFill>
              <a:latin typeface="Courier New"/>
              <a:cs typeface="Courier New"/>
            </a:endParaRPr>
          </a:p>
          <a:p>
            <a:r>
              <a:rPr lang="en-US" sz="1800">
                <a:solidFill>
                  <a:srgbClr val="CB2418"/>
                </a:solidFill>
                <a:latin typeface="Courier New"/>
                <a:cs typeface="Courier New"/>
              </a:rPr>
              <a:t>/* </a:t>
            </a:r>
            <a:r>
              <a:rPr lang="en-US" sz="1800" err="1">
                <a:solidFill>
                  <a:srgbClr val="CB2418"/>
                </a:solidFill>
                <a:latin typeface="Courier New"/>
                <a:cs typeface="Courier New"/>
              </a:rPr>
              <a:t>malloc</a:t>
            </a:r>
            <a:r>
              <a:rPr lang="en-US" sz="1800">
                <a:solidFill>
                  <a:srgbClr val="CB2418"/>
                </a:solidFill>
                <a:latin typeface="Courier New"/>
                <a:cs typeface="Courier New"/>
              </a:rPr>
              <a:t> wrapper function */</a:t>
            </a:r>
            <a:endParaRPr lang="en-US" sz="1800">
              <a:solidFill>
                <a:srgbClr val="000000"/>
              </a:solidFill>
              <a:latin typeface="Courier New"/>
              <a:cs typeface="Courier New"/>
            </a:endParaRPr>
          </a:p>
          <a:p>
            <a:r>
              <a:rPr lang="en-US" sz="1800">
                <a:solidFill>
                  <a:srgbClr val="2D961E"/>
                </a:solidFill>
                <a:latin typeface="Courier New"/>
                <a:cs typeface="Courier New"/>
              </a:rPr>
              <a:t>void</a:t>
            </a:r>
            <a:r>
              <a:rPr lang="en-US" sz="1800">
                <a:solidFill>
                  <a:srgbClr val="000000"/>
                </a:solidFill>
                <a:latin typeface="Courier New"/>
                <a:cs typeface="Courier New"/>
              </a:rPr>
              <a:t> *</a:t>
            </a:r>
            <a:r>
              <a:rPr lang="en-US" sz="1800">
                <a:solidFill>
                  <a:srgbClr val="4A00FF"/>
                </a:solidFill>
                <a:latin typeface="Courier New"/>
                <a:cs typeface="Courier New"/>
              </a:rPr>
              <a:t>__</a:t>
            </a:r>
            <a:r>
              <a:rPr lang="en-US" sz="1800" err="1">
                <a:solidFill>
                  <a:srgbClr val="4A00FF"/>
                </a:solidFill>
                <a:latin typeface="Courier New"/>
                <a:cs typeface="Courier New"/>
              </a:rPr>
              <a:t>wrap_malloc</a:t>
            </a:r>
            <a:r>
              <a:rPr lang="en-US" sz="1800">
                <a:solidFill>
                  <a:srgbClr val="000000"/>
                </a:solidFill>
                <a:latin typeface="Courier New"/>
                <a:cs typeface="Courier New"/>
              </a:rPr>
              <a:t>(</a:t>
            </a:r>
            <a:r>
              <a:rPr lang="en-US" sz="1800" err="1">
                <a:solidFill>
                  <a:srgbClr val="2D961E"/>
                </a:solidFill>
                <a:latin typeface="Courier New"/>
                <a:cs typeface="Courier New"/>
              </a:rPr>
              <a:t>size_t</a:t>
            </a:r>
            <a:r>
              <a:rPr lang="en-US" sz="1800">
                <a:solidFill>
                  <a:srgbClr val="000000"/>
                </a:solidFill>
                <a:latin typeface="Courier New"/>
                <a:cs typeface="Courier New"/>
              </a:rPr>
              <a:t> </a:t>
            </a:r>
            <a:r>
              <a:rPr lang="en-US" sz="1800">
                <a:solidFill>
                  <a:srgbClr val="C1651C"/>
                </a:solidFill>
                <a:latin typeface="Courier New"/>
                <a:cs typeface="Courier New"/>
              </a:rPr>
              <a:t>size</a:t>
            </a:r>
            <a:r>
              <a:rPr lang="en-US" sz="1800">
                <a:solidFill>
                  <a:srgbClr val="000000"/>
                </a:solidFill>
                <a:latin typeface="Courier New"/>
                <a:cs typeface="Courier New"/>
              </a:rPr>
              <a:t>)</a:t>
            </a:r>
          </a:p>
          <a:p>
            <a:r>
              <a:rPr lang="en-US" sz="1800">
                <a:solidFill>
                  <a:srgbClr val="000000"/>
                </a:solidFill>
                <a:latin typeface="Courier New"/>
                <a:cs typeface="Courier New"/>
              </a:rPr>
              <a:t>{</a:t>
            </a:r>
          </a:p>
          <a:p>
            <a:r>
              <a:rPr lang="en-US" sz="1800">
                <a:solidFill>
                  <a:srgbClr val="000000"/>
                </a:solidFill>
                <a:latin typeface="Courier New"/>
                <a:cs typeface="Courier New"/>
              </a:rPr>
              <a:t>    </a:t>
            </a:r>
            <a:r>
              <a:rPr lang="en-US" sz="1800">
                <a:solidFill>
                  <a:srgbClr val="2D961E"/>
                </a:solidFill>
                <a:latin typeface="Courier New"/>
                <a:cs typeface="Courier New"/>
              </a:rPr>
              <a:t>void</a:t>
            </a:r>
            <a:r>
              <a:rPr lang="en-US" sz="1800">
                <a:solidFill>
                  <a:srgbClr val="000000"/>
                </a:solidFill>
                <a:latin typeface="Courier New"/>
                <a:cs typeface="Courier New"/>
              </a:rPr>
              <a:t> *</a:t>
            </a:r>
            <a:r>
              <a:rPr lang="en-US" sz="1800" err="1">
                <a:solidFill>
                  <a:srgbClr val="C1651C"/>
                </a:solidFill>
                <a:latin typeface="Courier New"/>
                <a:cs typeface="Courier New"/>
              </a:rPr>
              <a:t>ptr</a:t>
            </a:r>
            <a:r>
              <a:rPr lang="en-US" sz="1800">
                <a:solidFill>
                  <a:srgbClr val="000000"/>
                </a:solidFill>
                <a:latin typeface="Courier New"/>
                <a:cs typeface="Courier New"/>
              </a:rPr>
              <a:t> = __</a:t>
            </a:r>
            <a:r>
              <a:rPr lang="en-US" sz="1800" err="1">
                <a:solidFill>
                  <a:srgbClr val="000000"/>
                </a:solidFill>
                <a:latin typeface="Courier New"/>
                <a:cs typeface="Courier New"/>
              </a:rPr>
              <a:t>real_malloc</a:t>
            </a:r>
            <a:r>
              <a:rPr lang="en-US" sz="1800">
                <a:solidFill>
                  <a:srgbClr val="000000"/>
                </a:solidFill>
                <a:latin typeface="Courier New"/>
                <a:cs typeface="Courier New"/>
              </a:rPr>
              <a:t>(size); </a:t>
            </a:r>
            <a:r>
              <a:rPr lang="en-US" sz="1800">
                <a:solidFill>
                  <a:srgbClr val="CB2418"/>
                </a:solidFill>
                <a:latin typeface="Courier New"/>
                <a:cs typeface="Courier New"/>
              </a:rPr>
              <a:t>/* Call </a:t>
            </a:r>
            <a:r>
              <a:rPr lang="en-US" sz="1800" err="1">
                <a:solidFill>
                  <a:srgbClr val="CB2418"/>
                </a:solidFill>
                <a:latin typeface="Courier New"/>
                <a:cs typeface="Courier New"/>
              </a:rPr>
              <a:t>libc</a:t>
            </a:r>
            <a:r>
              <a:rPr lang="en-US" sz="1800">
                <a:solidFill>
                  <a:srgbClr val="CB2418"/>
                </a:solidFill>
                <a:latin typeface="Courier New"/>
                <a:cs typeface="Courier New"/>
              </a:rPr>
              <a:t> </a:t>
            </a:r>
            <a:r>
              <a:rPr lang="en-US" sz="1800" err="1">
                <a:solidFill>
                  <a:srgbClr val="CB2418"/>
                </a:solidFill>
                <a:latin typeface="Courier New"/>
                <a:cs typeface="Courier New"/>
              </a:rPr>
              <a:t>malloc</a:t>
            </a:r>
            <a:r>
              <a:rPr lang="en-US" sz="1800">
                <a:solidFill>
                  <a:srgbClr val="CB2418"/>
                </a:solidFill>
                <a:latin typeface="Courier New"/>
                <a:cs typeface="Courier New"/>
              </a:rPr>
              <a:t> */</a:t>
            </a:r>
            <a:endParaRPr lang="en-US" sz="1800">
              <a:solidFill>
                <a:srgbClr val="000000"/>
              </a:solidFill>
              <a:latin typeface="Courier New"/>
              <a:cs typeface="Courier New"/>
            </a:endParaRPr>
          </a:p>
          <a:p>
            <a:r>
              <a:rPr lang="en-US" sz="1800">
                <a:solidFill>
                  <a:srgbClr val="000000"/>
                </a:solidFill>
                <a:latin typeface="Courier New"/>
                <a:cs typeface="Courier New"/>
              </a:rPr>
              <a:t>    </a:t>
            </a:r>
            <a:r>
              <a:rPr lang="en-US" sz="1800" err="1">
                <a:solidFill>
                  <a:srgbClr val="000000"/>
                </a:solidFill>
                <a:latin typeface="Courier New"/>
                <a:cs typeface="Courier New"/>
              </a:rPr>
              <a:t>printf</a:t>
            </a:r>
            <a:r>
              <a:rPr lang="en-US" sz="1800">
                <a:solidFill>
                  <a:srgbClr val="000000"/>
                </a:solidFill>
                <a:latin typeface="Courier New"/>
                <a:cs typeface="Courier New"/>
              </a:rPr>
              <a:t>(</a:t>
            </a:r>
            <a:r>
              <a:rPr lang="en-US" sz="1800">
                <a:solidFill>
                  <a:srgbClr val="9D206F"/>
                </a:solidFill>
                <a:latin typeface="Courier New"/>
                <a:cs typeface="Courier New"/>
              </a:rPr>
              <a:t>"</a:t>
            </a:r>
            <a:r>
              <a:rPr lang="en-US" sz="1800" err="1">
                <a:solidFill>
                  <a:srgbClr val="9D206F"/>
                </a:solidFill>
                <a:latin typeface="Courier New"/>
                <a:cs typeface="Courier New"/>
              </a:rPr>
              <a:t>malloc</a:t>
            </a:r>
            <a:r>
              <a:rPr lang="en-US" sz="1800">
                <a:solidFill>
                  <a:srgbClr val="9D206F"/>
                </a:solidFill>
                <a:latin typeface="Courier New"/>
                <a:cs typeface="Courier New"/>
              </a:rPr>
              <a:t>(%d) = %p\n"</a:t>
            </a:r>
            <a:r>
              <a:rPr lang="en-US" sz="1800">
                <a:solidFill>
                  <a:srgbClr val="000000"/>
                </a:solidFill>
                <a:latin typeface="Courier New"/>
                <a:cs typeface="Courier New"/>
              </a:rPr>
              <a:t>, (</a:t>
            </a:r>
            <a:r>
              <a:rPr lang="en-US" sz="1800" err="1">
                <a:solidFill>
                  <a:srgbClr val="2D961E"/>
                </a:solidFill>
                <a:latin typeface="Courier New"/>
                <a:cs typeface="Courier New"/>
              </a:rPr>
              <a:t>int</a:t>
            </a:r>
            <a:r>
              <a:rPr lang="en-US" sz="1800">
                <a:solidFill>
                  <a:srgbClr val="000000"/>
                </a:solidFill>
                <a:latin typeface="Courier New"/>
                <a:cs typeface="Courier New"/>
              </a:rPr>
              <a:t>)size, </a:t>
            </a:r>
            <a:r>
              <a:rPr lang="en-US" sz="1800" err="1">
                <a:solidFill>
                  <a:srgbClr val="000000"/>
                </a:solidFill>
                <a:latin typeface="Courier New"/>
                <a:cs typeface="Courier New"/>
              </a:rPr>
              <a:t>ptr</a:t>
            </a:r>
            <a:r>
              <a:rPr lang="en-US" sz="1800">
                <a:solidFill>
                  <a:srgbClr val="000000"/>
                </a:solidFill>
                <a:latin typeface="Courier New"/>
                <a:cs typeface="Courier New"/>
              </a:rPr>
              <a:t>);</a:t>
            </a:r>
          </a:p>
          <a:p>
            <a:r>
              <a:rPr lang="en-US" sz="1800">
                <a:solidFill>
                  <a:srgbClr val="000000"/>
                </a:solidFill>
                <a:latin typeface="Courier New"/>
                <a:cs typeface="Courier New"/>
              </a:rPr>
              <a:t>    </a:t>
            </a:r>
            <a:r>
              <a:rPr lang="en-US" sz="1800">
                <a:solidFill>
                  <a:srgbClr val="C200FF"/>
                </a:solidFill>
                <a:latin typeface="Courier New"/>
                <a:cs typeface="Courier New"/>
              </a:rPr>
              <a:t>return</a:t>
            </a:r>
            <a:r>
              <a:rPr lang="en-US" sz="1800">
                <a:solidFill>
                  <a:srgbClr val="000000"/>
                </a:solidFill>
                <a:latin typeface="Courier New"/>
                <a:cs typeface="Courier New"/>
              </a:rPr>
              <a:t> </a:t>
            </a:r>
            <a:r>
              <a:rPr lang="en-US" sz="1800" err="1">
                <a:solidFill>
                  <a:srgbClr val="000000"/>
                </a:solidFill>
                <a:latin typeface="Courier New"/>
                <a:cs typeface="Courier New"/>
              </a:rPr>
              <a:t>ptr</a:t>
            </a:r>
            <a:r>
              <a:rPr lang="en-US" sz="1800">
                <a:solidFill>
                  <a:srgbClr val="000000"/>
                </a:solidFill>
                <a:latin typeface="Courier New"/>
                <a:cs typeface="Courier New"/>
              </a:rPr>
              <a:t>;</a:t>
            </a:r>
          </a:p>
          <a:p>
            <a:r>
              <a:rPr lang="en-US" sz="1800">
                <a:solidFill>
                  <a:srgbClr val="000000"/>
                </a:solidFill>
                <a:latin typeface="Courier New"/>
                <a:cs typeface="Courier New"/>
              </a:rPr>
              <a:t>}</a:t>
            </a:r>
          </a:p>
          <a:p>
            <a:endParaRPr lang="en-US" sz="1800">
              <a:solidFill>
                <a:srgbClr val="000000"/>
              </a:solidFill>
              <a:latin typeface="Courier New"/>
              <a:cs typeface="Courier New"/>
            </a:endParaRPr>
          </a:p>
          <a:p>
            <a:r>
              <a:rPr lang="en-US" sz="1800">
                <a:solidFill>
                  <a:srgbClr val="CB2418"/>
                </a:solidFill>
                <a:latin typeface="Courier New"/>
                <a:cs typeface="Courier New"/>
              </a:rPr>
              <a:t>/* free wrapper function */</a:t>
            </a:r>
            <a:endParaRPr lang="en-US" sz="1800">
              <a:solidFill>
                <a:srgbClr val="000000"/>
              </a:solidFill>
              <a:latin typeface="Courier New"/>
              <a:cs typeface="Courier New"/>
            </a:endParaRPr>
          </a:p>
          <a:p>
            <a:r>
              <a:rPr lang="en-US" sz="1800">
                <a:solidFill>
                  <a:srgbClr val="2D961E"/>
                </a:solidFill>
                <a:latin typeface="Courier New"/>
                <a:cs typeface="Courier New"/>
              </a:rPr>
              <a:t>void</a:t>
            </a:r>
            <a:r>
              <a:rPr lang="en-US" sz="1800">
                <a:solidFill>
                  <a:srgbClr val="000000"/>
                </a:solidFill>
                <a:latin typeface="Courier New"/>
                <a:cs typeface="Courier New"/>
              </a:rPr>
              <a:t> </a:t>
            </a:r>
            <a:r>
              <a:rPr lang="en-US" sz="1800">
                <a:solidFill>
                  <a:srgbClr val="4A00FF"/>
                </a:solidFill>
                <a:latin typeface="Courier New"/>
                <a:cs typeface="Courier New"/>
              </a:rPr>
              <a:t>__</a:t>
            </a:r>
            <a:r>
              <a:rPr lang="en-US" sz="1800" err="1">
                <a:solidFill>
                  <a:srgbClr val="4A00FF"/>
                </a:solidFill>
                <a:latin typeface="Courier New"/>
                <a:cs typeface="Courier New"/>
              </a:rPr>
              <a:t>wrap_free</a:t>
            </a:r>
            <a:r>
              <a:rPr lang="en-US" sz="1800">
                <a:solidFill>
                  <a:srgbClr val="000000"/>
                </a:solidFill>
                <a:latin typeface="Courier New"/>
                <a:cs typeface="Courier New"/>
              </a:rPr>
              <a:t>(</a:t>
            </a:r>
            <a:r>
              <a:rPr lang="en-US" sz="1800">
                <a:solidFill>
                  <a:srgbClr val="2D961E"/>
                </a:solidFill>
                <a:latin typeface="Courier New"/>
                <a:cs typeface="Courier New"/>
              </a:rPr>
              <a:t>void</a:t>
            </a:r>
            <a:r>
              <a:rPr lang="en-US" sz="1800">
                <a:solidFill>
                  <a:srgbClr val="000000"/>
                </a:solidFill>
                <a:latin typeface="Courier New"/>
                <a:cs typeface="Courier New"/>
              </a:rPr>
              <a:t> *</a:t>
            </a:r>
            <a:r>
              <a:rPr lang="en-US" sz="1800" err="1">
                <a:solidFill>
                  <a:srgbClr val="C1651C"/>
                </a:solidFill>
                <a:latin typeface="Courier New"/>
                <a:cs typeface="Courier New"/>
              </a:rPr>
              <a:t>ptr</a:t>
            </a:r>
            <a:r>
              <a:rPr lang="en-US" sz="1800">
                <a:solidFill>
                  <a:srgbClr val="000000"/>
                </a:solidFill>
                <a:latin typeface="Courier New"/>
                <a:cs typeface="Courier New"/>
              </a:rPr>
              <a:t>)</a:t>
            </a:r>
          </a:p>
          <a:p>
            <a:r>
              <a:rPr lang="en-US" sz="1800">
                <a:solidFill>
                  <a:srgbClr val="000000"/>
                </a:solidFill>
                <a:latin typeface="Courier New"/>
                <a:cs typeface="Courier New"/>
              </a:rPr>
              <a:t>{</a:t>
            </a:r>
          </a:p>
          <a:p>
            <a:r>
              <a:rPr lang="en-US" sz="1800">
                <a:solidFill>
                  <a:srgbClr val="000000"/>
                </a:solidFill>
                <a:latin typeface="Courier New"/>
                <a:cs typeface="Courier New"/>
              </a:rPr>
              <a:t>    __</a:t>
            </a:r>
            <a:r>
              <a:rPr lang="en-US" sz="1800" err="1">
                <a:solidFill>
                  <a:srgbClr val="000000"/>
                </a:solidFill>
                <a:latin typeface="Courier New"/>
                <a:cs typeface="Courier New"/>
              </a:rPr>
              <a:t>real_free</a:t>
            </a:r>
            <a:r>
              <a:rPr lang="en-US" sz="1800">
                <a:solidFill>
                  <a:srgbClr val="000000"/>
                </a:solidFill>
                <a:latin typeface="Courier New"/>
                <a:cs typeface="Courier New"/>
              </a:rPr>
              <a:t>(</a:t>
            </a:r>
            <a:r>
              <a:rPr lang="en-US" sz="1800" err="1">
                <a:solidFill>
                  <a:srgbClr val="000000"/>
                </a:solidFill>
                <a:latin typeface="Courier New"/>
                <a:cs typeface="Courier New"/>
              </a:rPr>
              <a:t>ptr</a:t>
            </a:r>
            <a:r>
              <a:rPr lang="en-US" sz="1800">
                <a:solidFill>
                  <a:srgbClr val="000000"/>
                </a:solidFill>
                <a:latin typeface="Courier New"/>
                <a:cs typeface="Courier New"/>
              </a:rPr>
              <a:t>); </a:t>
            </a:r>
            <a:r>
              <a:rPr lang="en-US" sz="1800">
                <a:solidFill>
                  <a:srgbClr val="CB2418"/>
                </a:solidFill>
                <a:latin typeface="Courier New"/>
                <a:cs typeface="Courier New"/>
              </a:rPr>
              <a:t>/* Call </a:t>
            </a:r>
            <a:r>
              <a:rPr lang="en-US" sz="1800" err="1">
                <a:solidFill>
                  <a:srgbClr val="CB2418"/>
                </a:solidFill>
                <a:latin typeface="Courier New"/>
                <a:cs typeface="Courier New"/>
              </a:rPr>
              <a:t>libc</a:t>
            </a:r>
            <a:r>
              <a:rPr lang="en-US" sz="1800">
                <a:solidFill>
                  <a:srgbClr val="CB2418"/>
                </a:solidFill>
                <a:latin typeface="Courier New"/>
                <a:cs typeface="Courier New"/>
              </a:rPr>
              <a:t> free */</a:t>
            </a:r>
            <a:endParaRPr lang="en-US" sz="1800">
              <a:solidFill>
                <a:srgbClr val="000000"/>
              </a:solidFill>
              <a:latin typeface="Courier New"/>
              <a:cs typeface="Courier New"/>
            </a:endParaRPr>
          </a:p>
          <a:p>
            <a:r>
              <a:rPr lang="en-US" sz="1800">
                <a:solidFill>
                  <a:srgbClr val="000000"/>
                </a:solidFill>
                <a:latin typeface="Courier New"/>
                <a:cs typeface="Courier New"/>
              </a:rPr>
              <a:t>    </a:t>
            </a:r>
            <a:r>
              <a:rPr lang="en-US" sz="1800" err="1">
                <a:solidFill>
                  <a:srgbClr val="000000"/>
                </a:solidFill>
                <a:latin typeface="Courier New"/>
                <a:cs typeface="Courier New"/>
              </a:rPr>
              <a:t>printf</a:t>
            </a:r>
            <a:r>
              <a:rPr lang="en-US" sz="1800">
                <a:solidFill>
                  <a:srgbClr val="000000"/>
                </a:solidFill>
                <a:latin typeface="Courier New"/>
                <a:cs typeface="Courier New"/>
              </a:rPr>
              <a:t>(</a:t>
            </a:r>
            <a:r>
              <a:rPr lang="en-US" sz="1800">
                <a:solidFill>
                  <a:srgbClr val="9D206F"/>
                </a:solidFill>
                <a:latin typeface="Courier New"/>
                <a:cs typeface="Courier New"/>
              </a:rPr>
              <a:t>"free(%p)\n"</a:t>
            </a:r>
            <a:r>
              <a:rPr lang="en-US" sz="1800">
                <a:solidFill>
                  <a:srgbClr val="000000"/>
                </a:solidFill>
                <a:latin typeface="Courier New"/>
                <a:cs typeface="Courier New"/>
              </a:rPr>
              <a:t>, </a:t>
            </a:r>
            <a:r>
              <a:rPr lang="en-US" sz="1800" err="1">
                <a:solidFill>
                  <a:srgbClr val="000000"/>
                </a:solidFill>
                <a:latin typeface="Courier New"/>
                <a:cs typeface="Courier New"/>
              </a:rPr>
              <a:t>ptr</a:t>
            </a:r>
            <a:r>
              <a:rPr lang="en-US" sz="1800">
                <a:solidFill>
                  <a:srgbClr val="000000"/>
                </a:solidFill>
                <a:latin typeface="Courier New"/>
                <a:cs typeface="Courier New"/>
              </a:rPr>
              <a:t>);</a:t>
            </a:r>
          </a:p>
          <a:p>
            <a:r>
              <a:rPr lang="en-US" sz="1800">
                <a:solidFill>
                  <a:srgbClr val="000000"/>
                </a:solidFill>
                <a:latin typeface="Courier New"/>
                <a:cs typeface="Courier New"/>
              </a:rPr>
              <a:t>}</a:t>
            </a:r>
          </a:p>
          <a:p>
            <a:r>
              <a:rPr lang="en-US" sz="1800">
                <a:solidFill>
                  <a:srgbClr val="926492"/>
                </a:solidFill>
                <a:latin typeface="Courier New"/>
                <a:cs typeface="Courier New"/>
              </a:rPr>
              <a:t>#</a:t>
            </a:r>
            <a:r>
              <a:rPr lang="en-US" sz="1800" err="1">
                <a:solidFill>
                  <a:srgbClr val="926492"/>
                </a:solidFill>
                <a:latin typeface="Courier New"/>
                <a:cs typeface="Courier New"/>
              </a:rPr>
              <a:t>endif</a:t>
            </a:r>
            <a:endParaRPr lang="en-US" sz="1800">
              <a:latin typeface="Courier New"/>
              <a:cs typeface="Courier New"/>
            </a:endParaRPr>
          </a:p>
        </p:txBody>
      </p:sp>
      <p:sp>
        <p:nvSpPr>
          <p:cNvPr id="5" name="TextBox 4"/>
          <p:cNvSpPr txBox="1"/>
          <p:nvPr/>
        </p:nvSpPr>
        <p:spPr>
          <a:xfrm>
            <a:off x="7345514" y="6336268"/>
            <a:ext cx="1569886" cy="369332"/>
          </a:xfrm>
          <a:prstGeom prst="rect">
            <a:avLst/>
          </a:prstGeom>
          <a:noFill/>
        </p:spPr>
        <p:txBody>
          <a:bodyPr wrap="none" rtlCol="0">
            <a:spAutoFit/>
          </a:bodyPr>
          <a:lstStyle/>
          <a:p>
            <a:r>
              <a:rPr lang="en-US" sz="1800" err="1" smtClean="0">
                <a:solidFill>
                  <a:srgbClr val="7F7F7F"/>
                </a:solidFill>
                <a:latin typeface="Courier New"/>
                <a:cs typeface="Courier New"/>
              </a:rPr>
              <a:t>mymalloc.c</a:t>
            </a:r>
            <a:endParaRPr lang="en-US" sz="1800" smtClean="0">
              <a:solidFill>
                <a:srgbClr val="7F7F7F"/>
              </a:solidFill>
              <a:latin typeface="Courier New"/>
              <a:cs typeface="Courier New"/>
            </a:endParaRPr>
          </a:p>
        </p:txBody>
      </p:sp>
    </p:spTree>
    <p:extLst>
      <p:ext uri="{BB962C8B-B14F-4D97-AF65-F5344CB8AC3E}">
        <p14:creationId xmlns:p14="http://schemas.microsoft.com/office/powerpoint/2010/main" val="873252817"/>
      </p:ext>
    </p:extLst>
  </p:cSld>
  <p:clrMapOvr>
    <a:masterClrMapping/>
  </p:clrMapOvr>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Link-time </a:t>
            </a:r>
            <a:r>
              <a:rPr lang="en-US" err="1" smtClean="0"/>
              <a:t>Interpositioning</a:t>
            </a:r>
            <a:endParaRPr lang="en-US"/>
          </a:p>
        </p:txBody>
      </p:sp>
      <p:sp>
        <p:nvSpPr>
          <p:cNvPr id="3" name="Content Placeholder 2"/>
          <p:cNvSpPr>
            <a:spLocks noGrp="1"/>
          </p:cNvSpPr>
          <p:nvPr>
            <p:ph idx="1"/>
          </p:nvPr>
        </p:nvSpPr>
        <p:spPr>
          <a:xfrm>
            <a:off x="152401" y="4191000"/>
            <a:ext cx="8305799" cy="2438400"/>
          </a:xfrm>
        </p:spPr>
        <p:txBody>
          <a:bodyPr/>
          <a:lstStyle/>
          <a:p>
            <a:r>
              <a:rPr lang="en-US" smtClean="0"/>
              <a:t>The “</a:t>
            </a:r>
            <a:r>
              <a:rPr lang="en-US" smtClean="0">
                <a:latin typeface="Courier New" pitchFamily="49" charset="0"/>
                <a:cs typeface="Courier New" pitchFamily="49" charset="0"/>
              </a:rPr>
              <a:t>-</a:t>
            </a:r>
            <a:r>
              <a:rPr lang="en-US" err="1" smtClean="0">
                <a:latin typeface="Courier New" pitchFamily="49" charset="0"/>
                <a:cs typeface="Courier New" pitchFamily="49" charset="0"/>
              </a:rPr>
              <a:t>Wl</a:t>
            </a:r>
            <a:r>
              <a:rPr lang="en-US" smtClean="0"/>
              <a:t>” flag passes argument to linker, replacing each comma with a space. </a:t>
            </a:r>
          </a:p>
          <a:p>
            <a:r>
              <a:rPr lang="en-US" smtClean="0"/>
              <a:t>The  “</a:t>
            </a:r>
            <a:r>
              <a:rPr lang="en-US" smtClean="0">
                <a:latin typeface="Courier New"/>
                <a:cs typeface="Courier New"/>
              </a:rPr>
              <a:t>--</a:t>
            </a:r>
            <a:r>
              <a:rPr lang="en-US" err="1" smtClean="0">
                <a:latin typeface="Courier New"/>
                <a:cs typeface="Courier New"/>
              </a:rPr>
              <a:t>wrap,malloc</a:t>
            </a:r>
            <a:r>
              <a:rPr lang="en-US" smtClean="0"/>
              <a:t> ”</a:t>
            </a:r>
            <a:r>
              <a:rPr lang="en-US" smtClean="0">
                <a:latin typeface="Courier New"/>
                <a:cs typeface="Courier New"/>
              </a:rPr>
              <a:t> </a:t>
            </a:r>
            <a:r>
              <a:rPr lang="en-US" err="1" smtClean="0">
                <a:latin typeface="Courier New"/>
                <a:cs typeface="Courier New"/>
              </a:rPr>
              <a:t>arg</a:t>
            </a:r>
            <a:r>
              <a:rPr lang="en-US" smtClean="0">
                <a:latin typeface="Courier New"/>
                <a:cs typeface="Courier New"/>
              </a:rPr>
              <a:t> </a:t>
            </a:r>
            <a:r>
              <a:rPr lang="en-US" smtClean="0"/>
              <a:t>instructs linker to resolve references in a special way:</a:t>
            </a:r>
          </a:p>
          <a:p>
            <a:pPr lvl="1"/>
            <a:r>
              <a:rPr lang="en-US" smtClean="0"/>
              <a:t>Refs to </a:t>
            </a:r>
            <a:r>
              <a:rPr lang="en-US" err="1" smtClean="0">
                <a:latin typeface="Courier New"/>
                <a:cs typeface="Courier New"/>
              </a:rPr>
              <a:t>malloc</a:t>
            </a:r>
            <a:r>
              <a:rPr lang="en-US" smtClean="0"/>
              <a:t> should be resolved as </a:t>
            </a:r>
            <a:r>
              <a:rPr lang="en-US" smtClean="0">
                <a:latin typeface="Courier New"/>
                <a:cs typeface="Courier New"/>
              </a:rPr>
              <a:t>__</a:t>
            </a:r>
            <a:r>
              <a:rPr lang="en-US" err="1" smtClean="0">
                <a:latin typeface="Courier New"/>
                <a:cs typeface="Courier New"/>
              </a:rPr>
              <a:t>wrap_malloc</a:t>
            </a:r>
            <a:endParaRPr lang="en-US" smtClean="0">
              <a:latin typeface="Courier New"/>
              <a:cs typeface="Courier New"/>
            </a:endParaRPr>
          </a:p>
          <a:p>
            <a:pPr lvl="1"/>
            <a:r>
              <a:rPr lang="en-US" smtClean="0">
                <a:latin typeface="Calibri"/>
                <a:cs typeface="Calibri"/>
              </a:rPr>
              <a:t>Refs to </a:t>
            </a:r>
            <a:r>
              <a:rPr lang="en-US" smtClean="0">
                <a:cs typeface="Courier New"/>
              </a:rPr>
              <a:t> </a:t>
            </a:r>
            <a:r>
              <a:rPr lang="en-US" smtClean="0"/>
              <a:t> </a:t>
            </a:r>
            <a:r>
              <a:rPr lang="en-US" smtClean="0">
                <a:latin typeface="Courier New"/>
                <a:cs typeface="Courier New"/>
              </a:rPr>
              <a:t>__</a:t>
            </a:r>
            <a:r>
              <a:rPr lang="en-US" err="1" smtClean="0">
                <a:latin typeface="Courier New"/>
                <a:cs typeface="Courier New"/>
              </a:rPr>
              <a:t>real_malloc</a:t>
            </a:r>
            <a:r>
              <a:rPr lang="en-US" smtClean="0"/>
              <a:t> should be resolved as </a:t>
            </a:r>
            <a:r>
              <a:rPr lang="en-US" err="1" smtClean="0">
                <a:latin typeface="Courier New"/>
                <a:cs typeface="Courier New"/>
              </a:rPr>
              <a:t>malloc</a:t>
            </a:r>
            <a:endParaRPr lang="en-US"/>
          </a:p>
        </p:txBody>
      </p:sp>
      <p:sp>
        <p:nvSpPr>
          <p:cNvPr id="6" name="Rectangle 5"/>
          <p:cNvSpPr/>
          <p:nvPr/>
        </p:nvSpPr>
        <p:spPr>
          <a:xfrm>
            <a:off x="357018" y="1300877"/>
            <a:ext cx="8710782" cy="2862323"/>
          </a:xfrm>
          <a:prstGeom prst="rect">
            <a:avLst/>
          </a:prstGeom>
          <a:solidFill>
            <a:srgbClr val="E6E6E6"/>
          </a:solidFill>
          <a:ln w="28575" cap="flat" cmpd="sng" algn="ctr">
            <a:solidFill>
              <a:schemeClr val="tx1"/>
            </a:solidFill>
            <a:prstDash val="solid"/>
            <a:round/>
            <a:headEnd type="none" w="med" len="med"/>
            <a:tailEnd type="none" w="med" len="med"/>
          </a:ln>
        </p:spPr>
        <p:txBody>
          <a:bodyPr wrap="square">
            <a:spAutoFit/>
          </a:bodyPr>
          <a:lstStyle/>
          <a:p>
            <a:r>
              <a:rPr lang="en-US" sz="1800" err="1" smtClean="0">
                <a:latin typeface="Courier New"/>
                <a:cs typeface="Courier New"/>
              </a:rPr>
              <a:t>linux</a:t>
            </a:r>
            <a:r>
              <a:rPr lang="en-US" sz="1800" smtClean="0">
                <a:latin typeface="Courier New"/>
                <a:cs typeface="Courier New"/>
              </a:rPr>
              <a:t>&gt; </a:t>
            </a:r>
            <a:r>
              <a:rPr lang="en-US" sz="1800">
                <a:latin typeface="Courier New"/>
                <a:cs typeface="Courier New"/>
              </a:rPr>
              <a:t>make </a:t>
            </a:r>
            <a:r>
              <a:rPr lang="en-US" sz="1800" err="1">
                <a:latin typeface="Courier New"/>
                <a:cs typeface="Courier New"/>
              </a:rPr>
              <a:t>intl</a:t>
            </a:r>
            <a:endParaRPr lang="en-US" sz="1800" b="0">
              <a:latin typeface="Courier New"/>
              <a:cs typeface="Courier New"/>
            </a:endParaRPr>
          </a:p>
          <a:p>
            <a:r>
              <a:rPr lang="en-US" sz="1800" b="0" err="1">
                <a:latin typeface="Courier New"/>
                <a:cs typeface="Courier New"/>
              </a:rPr>
              <a:t>gcc</a:t>
            </a:r>
            <a:r>
              <a:rPr lang="en-US" sz="1800" b="0">
                <a:latin typeface="Courier New"/>
                <a:cs typeface="Courier New"/>
              </a:rPr>
              <a:t> -Wall -DLINKTIME -c </a:t>
            </a:r>
            <a:r>
              <a:rPr lang="en-US" sz="1800" b="0" err="1">
                <a:latin typeface="Courier New"/>
                <a:cs typeface="Courier New"/>
              </a:rPr>
              <a:t>mymalloc.c</a:t>
            </a:r>
            <a:endParaRPr lang="en-US" sz="1800" b="0">
              <a:latin typeface="Courier New"/>
              <a:cs typeface="Courier New"/>
            </a:endParaRPr>
          </a:p>
          <a:p>
            <a:r>
              <a:rPr lang="en-US" sz="1800" b="0" err="1">
                <a:latin typeface="Courier New"/>
                <a:cs typeface="Courier New"/>
              </a:rPr>
              <a:t>gcc</a:t>
            </a:r>
            <a:r>
              <a:rPr lang="en-US" sz="1800" b="0">
                <a:latin typeface="Courier New"/>
                <a:cs typeface="Courier New"/>
              </a:rPr>
              <a:t> -Wall -c </a:t>
            </a:r>
            <a:r>
              <a:rPr lang="en-US" sz="1800" b="0" err="1">
                <a:latin typeface="Courier New"/>
                <a:cs typeface="Courier New"/>
              </a:rPr>
              <a:t>int.c</a:t>
            </a:r>
            <a:endParaRPr lang="en-US" sz="1800" b="0">
              <a:latin typeface="Courier New"/>
              <a:cs typeface="Courier New"/>
            </a:endParaRPr>
          </a:p>
          <a:p>
            <a:r>
              <a:rPr lang="en-US" sz="1800" b="0" err="1">
                <a:latin typeface="Courier New"/>
                <a:cs typeface="Courier New"/>
              </a:rPr>
              <a:t>gcc</a:t>
            </a:r>
            <a:r>
              <a:rPr lang="en-US" sz="1800" b="0">
                <a:latin typeface="Courier New"/>
                <a:cs typeface="Courier New"/>
              </a:rPr>
              <a:t> -Wall -</a:t>
            </a:r>
            <a:r>
              <a:rPr lang="en-US" sz="1800" b="0" err="1">
                <a:latin typeface="Courier New"/>
                <a:cs typeface="Courier New"/>
              </a:rPr>
              <a:t>Wl</a:t>
            </a:r>
            <a:r>
              <a:rPr lang="en-US" sz="1800" b="0">
                <a:latin typeface="Courier New"/>
                <a:cs typeface="Courier New"/>
              </a:rPr>
              <a:t>,--</a:t>
            </a:r>
            <a:r>
              <a:rPr lang="en-US" sz="1800" b="0" err="1">
                <a:latin typeface="Courier New"/>
                <a:cs typeface="Courier New"/>
              </a:rPr>
              <a:t>wrap,malloc</a:t>
            </a:r>
            <a:r>
              <a:rPr lang="en-US" sz="1800" b="0">
                <a:latin typeface="Courier New"/>
                <a:cs typeface="Courier New"/>
              </a:rPr>
              <a:t> -</a:t>
            </a:r>
            <a:r>
              <a:rPr lang="en-US" sz="1800" b="0" err="1">
                <a:latin typeface="Courier New"/>
                <a:cs typeface="Courier New"/>
              </a:rPr>
              <a:t>Wl</a:t>
            </a:r>
            <a:r>
              <a:rPr lang="en-US" sz="1800" b="0">
                <a:latin typeface="Courier New"/>
                <a:cs typeface="Courier New"/>
              </a:rPr>
              <a:t>,--</a:t>
            </a:r>
            <a:r>
              <a:rPr lang="en-US" sz="1800" b="0" err="1">
                <a:latin typeface="Courier New"/>
                <a:cs typeface="Courier New"/>
              </a:rPr>
              <a:t>wrap,free</a:t>
            </a:r>
            <a:r>
              <a:rPr lang="en-US" sz="1800" b="0">
                <a:latin typeface="Courier New"/>
                <a:cs typeface="Courier New"/>
              </a:rPr>
              <a:t> -o </a:t>
            </a:r>
            <a:r>
              <a:rPr lang="en-US" sz="1800" b="0" err="1">
                <a:latin typeface="Courier New"/>
                <a:cs typeface="Courier New"/>
              </a:rPr>
              <a:t>intl</a:t>
            </a:r>
            <a:r>
              <a:rPr lang="en-US" sz="1800" b="0">
                <a:latin typeface="Courier New"/>
                <a:cs typeface="Courier New"/>
              </a:rPr>
              <a:t> </a:t>
            </a:r>
            <a:r>
              <a:rPr lang="en-US" sz="1800" b="0" smtClean="0">
                <a:latin typeface="Courier New"/>
                <a:cs typeface="Courier New"/>
              </a:rPr>
              <a:t>\</a:t>
            </a:r>
          </a:p>
          <a:p>
            <a:r>
              <a:rPr lang="en-US" sz="1800" b="0">
                <a:latin typeface="Courier New"/>
                <a:cs typeface="Courier New"/>
              </a:rPr>
              <a:t> </a:t>
            </a:r>
            <a:r>
              <a:rPr lang="en-US" sz="1800" b="0" smtClean="0">
                <a:latin typeface="Courier New"/>
                <a:cs typeface="Courier New"/>
              </a:rPr>
              <a:t>   </a:t>
            </a:r>
            <a:r>
              <a:rPr lang="en-US" sz="1800" b="0" err="1" smtClean="0">
                <a:latin typeface="Courier New"/>
                <a:cs typeface="Courier New"/>
              </a:rPr>
              <a:t>int.o</a:t>
            </a:r>
            <a:r>
              <a:rPr lang="en-US" sz="1800" b="0" smtClean="0">
                <a:latin typeface="Courier New"/>
                <a:cs typeface="Courier New"/>
              </a:rPr>
              <a:t> </a:t>
            </a:r>
            <a:r>
              <a:rPr lang="en-US" sz="1800" b="0" err="1">
                <a:latin typeface="Courier New"/>
                <a:cs typeface="Courier New"/>
              </a:rPr>
              <a:t>mymalloc.o</a:t>
            </a:r>
            <a:endParaRPr lang="en-US" sz="1800" b="0">
              <a:latin typeface="Courier New"/>
              <a:cs typeface="Courier New"/>
            </a:endParaRPr>
          </a:p>
          <a:p>
            <a:r>
              <a:rPr lang="en-US" sz="1800" err="1" smtClean="0">
                <a:latin typeface="Courier New"/>
                <a:cs typeface="Courier New"/>
              </a:rPr>
              <a:t>linux</a:t>
            </a:r>
            <a:r>
              <a:rPr lang="en-US" sz="1800" smtClean="0">
                <a:latin typeface="Courier New"/>
                <a:cs typeface="Courier New"/>
              </a:rPr>
              <a:t>&gt; make </a:t>
            </a:r>
            <a:r>
              <a:rPr lang="en-US" sz="1800" err="1">
                <a:latin typeface="Courier New"/>
                <a:cs typeface="Courier New"/>
              </a:rPr>
              <a:t>runl</a:t>
            </a:r>
            <a:endParaRPr lang="en-US" sz="1800" b="0">
              <a:latin typeface="Courier New"/>
              <a:cs typeface="Courier New"/>
            </a:endParaRPr>
          </a:p>
          <a:p>
            <a:r>
              <a:rPr lang="en-US" sz="1800" b="0">
                <a:latin typeface="Courier New"/>
                <a:cs typeface="Courier New"/>
              </a:rPr>
              <a:t>./</a:t>
            </a:r>
            <a:r>
              <a:rPr lang="en-US" sz="1800" b="0" err="1" smtClean="0">
                <a:latin typeface="Courier New"/>
                <a:cs typeface="Courier New"/>
              </a:rPr>
              <a:t>intl</a:t>
            </a:r>
            <a:r>
              <a:rPr lang="en-US" sz="1800" b="0" smtClean="0">
                <a:latin typeface="Courier New"/>
                <a:cs typeface="Courier New"/>
              </a:rPr>
              <a:t> 10 100 1000</a:t>
            </a:r>
            <a:endParaRPr lang="en-US" sz="1800" b="0">
              <a:latin typeface="Courier New"/>
              <a:cs typeface="Courier New"/>
            </a:endParaRPr>
          </a:p>
          <a:p>
            <a:r>
              <a:rPr lang="fi-FI" sz="1800" b="0">
                <a:latin typeface="Courier New"/>
                <a:cs typeface="Courier New"/>
              </a:rPr>
              <a:t>malloc</a:t>
            </a:r>
            <a:r>
              <a:rPr lang="fi-FI" sz="1800" b="0" smtClean="0">
                <a:latin typeface="Courier New"/>
                <a:cs typeface="Courier New"/>
              </a:rPr>
              <a:t>(10) </a:t>
            </a:r>
            <a:r>
              <a:rPr lang="fi-FI" sz="1800" b="0">
                <a:latin typeface="Courier New"/>
                <a:cs typeface="Courier New"/>
              </a:rPr>
              <a:t>= </a:t>
            </a:r>
            <a:r>
              <a:rPr lang="fi-FI" sz="1800" b="0" smtClean="0">
                <a:latin typeface="Courier New"/>
                <a:cs typeface="Courier New"/>
              </a:rPr>
              <a:t>0x91a010</a:t>
            </a:r>
            <a:endParaRPr lang="fi-FI" sz="1800" b="0">
              <a:latin typeface="Courier New"/>
              <a:cs typeface="Courier New"/>
            </a:endParaRPr>
          </a:p>
          <a:p>
            <a:r>
              <a:rPr lang="en-US" sz="1800" b="0">
                <a:latin typeface="Courier New"/>
                <a:cs typeface="Courier New"/>
              </a:rPr>
              <a:t>free</a:t>
            </a:r>
            <a:r>
              <a:rPr lang="en-US" sz="1800" b="0" smtClean="0">
                <a:latin typeface="Courier New"/>
                <a:cs typeface="Courier New"/>
              </a:rPr>
              <a:t>(0x91a010)</a:t>
            </a:r>
            <a:endParaRPr lang="en-US" sz="1800" b="0">
              <a:latin typeface="Courier New"/>
              <a:cs typeface="Courier New"/>
            </a:endParaRPr>
          </a:p>
          <a:p>
            <a:r>
              <a:rPr lang="en-US" sz="1800" smtClean="0">
                <a:latin typeface="Courier New"/>
                <a:cs typeface="Courier New"/>
              </a:rPr>
              <a:t>. . . </a:t>
            </a:r>
            <a:endParaRPr lang="en-US" sz="1800">
              <a:latin typeface="Courier New"/>
              <a:cs typeface="Courier New"/>
            </a:endParaRPr>
          </a:p>
        </p:txBody>
      </p:sp>
      <p:sp>
        <p:nvSpPr>
          <p:cNvPr id="5" name="TextBox 4"/>
          <p:cNvSpPr txBox="1"/>
          <p:nvPr/>
        </p:nvSpPr>
        <p:spPr>
          <a:xfrm>
            <a:off x="5645780" y="1346760"/>
            <a:ext cx="3406514" cy="646331"/>
          </a:xfrm>
          <a:prstGeom prst="rect">
            <a:avLst/>
          </a:prstGeom>
          <a:solidFill>
            <a:srgbClr val="D5F1CF"/>
          </a:solidFill>
          <a:ln>
            <a:solidFill>
              <a:schemeClr val="tx1"/>
            </a:solidFill>
          </a:ln>
        </p:spPr>
        <p:txBody>
          <a:bodyPr wrap="none" rtlCol="0">
            <a:spAutoFit/>
          </a:bodyPr>
          <a:lstStyle/>
          <a:p>
            <a:r>
              <a:rPr lang="en-US" sz="1800" smtClean="0">
                <a:solidFill>
                  <a:srgbClr val="C00000"/>
                </a:solidFill>
                <a:latin typeface="Calibri" pitchFamily="34" charset="0"/>
              </a:rPr>
              <a:t>Search for </a:t>
            </a:r>
            <a:r>
              <a:rPr lang="en-US" sz="1800" smtClean="0">
                <a:solidFill>
                  <a:srgbClr val="C00000"/>
                </a:solidFill>
                <a:latin typeface="Courier New"/>
                <a:cs typeface="Courier New"/>
              </a:rPr>
              <a:t>&lt;</a:t>
            </a:r>
            <a:r>
              <a:rPr lang="en-US" sz="1800" err="1" smtClean="0">
                <a:solidFill>
                  <a:srgbClr val="C00000"/>
                </a:solidFill>
                <a:latin typeface="Courier New"/>
                <a:cs typeface="Courier New"/>
              </a:rPr>
              <a:t>malloc.h</a:t>
            </a:r>
            <a:r>
              <a:rPr lang="en-US" sz="1800" smtClean="0">
                <a:solidFill>
                  <a:srgbClr val="C00000"/>
                </a:solidFill>
                <a:latin typeface="Courier New"/>
                <a:cs typeface="Courier New"/>
              </a:rPr>
              <a:t>&gt;</a:t>
            </a:r>
            <a:r>
              <a:rPr lang="en-US" sz="1800" smtClean="0">
                <a:solidFill>
                  <a:srgbClr val="C00000"/>
                </a:solidFill>
                <a:latin typeface="Calibri" pitchFamily="34" charset="0"/>
              </a:rPr>
              <a:t> leads to</a:t>
            </a:r>
          </a:p>
          <a:p>
            <a:r>
              <a:rPr lang="en-US" sz="1800" smtClean="0">
                <a:solidFill>
                  <a:srgbClr val="C00000"/>
                </a:solidFill>
                <a:latin typeface="Courier New"/>
                <a:cs typeface="Courier New"/>
              </a:rPr>
              <a:t>/</a:t>
            </a:r>
            <a:r>
              <a:rPr lang="en-US" sz="1800" err="1" smtClean="0">
                <a:solidFill>
                  <a:srgbClr val="C00000"/>
                </a:solidFill>
                <a:latin typeface="Courier New"/>
                <a:cs typeface="Courier New"/>
              </a:rPr>
              <a:t>usr</a:t>
            </a:r>
            <a:r>
              <a:rPr lang="en-US" sz="1800" smtClean="0">
                <a:solidFill>
                  <a:srgbClr val="C00000"/>
                </a:solidFill>
                <a:latin typeface="Courier New"/>
                <a:cs typeface="Courier New"/>
              </a:rPr>
              <a:t>/include/</a:t>
            </a:r>
            <a:r>
              <a:rPr lang="en-US" sz="1800" err="1" smtClean="0">
                <a:solidFill>
                  <a:srgbClr val="C00000"/>
                </a:solidFill>
                <a:latin typeface="Courier New"/>
                <a:cs typeface="Courier New"/>
              </a:rPr>
              <a:t>malloc.h</a:t>
            </a:r>
            <a:endParaRPr lang="en-US" sz="1800" smtClean="0">
              <a:solidFill>
                <a:srgbClr val="C00000"/>
              </a:solidFill>
              <a:latin typeface="Courier New"/>
              <a:cs typeface="Courier New"/>
            </a:endParaRPr>
          </a:p>
        </p:txBody>
      </p:sp>
      <p:cxnSp>
        <p:nvCxnSpPr>
          <p:cNvPr id="7" name="Straight Arrow Connector 6"/>
          <p:cNvCxnSpPr/>
          <p:nvPr/>
        </p:nvCxnSpPr>
        <p:spPr bwMode="auto">
          <a:xfrm flipV="1">
            <a:off x="3048000" y="1981200"/>
            <a:ext cx="2597780" cy="112932"/>
          </a:xfrm>
          <a:prstGeom prst="straightConnector1">
            <a:avLst/>
          </a:prstGeom>
          <a:noFill/>
          <a:ln w="25400" cap="flat" cmpd="sng" algn="ctr">
            <a:solidFill>
              <a:srgbClr val="008000"/>
            </a:solidFill>
            <a:prstDash val="solid"/>
            <a:round/>
            <a:headEnd type="none" w="med" len="med"/>
            <a:tailEnd type="arrow"/>
          </a:ln>
          <a:effectLst/>
        </p:spPr>
      </p:cxnSp>
      <p:cxnSp>
        <p:nvCxnSpPr>
          <p:cNvPr id="10" name="Straight Arrow Connector 9"/>
          <p:cNvCxnSpPr/>
          <p:nvPr/>
        </p:nvCxnSpPr>
        <p:spPr bwMode="auto">
          <a:xfrm flipV="1">
            <a:off x="3048000" y="1524000"/>
            <a:ext cx="2597780" cy="112932"/>
          </a:xfrm>
          <a:prstGeom prst="straightConnector1">
            <a:avLst/>
          </a:prstGeom>
          <a:noFill/>
          <a:ln w="25400" cap="flat" cmpd="sng" algn="ctr">
            <a:solidFill>
              <a:srgbClr val="008000"/>
            </a:solidFill>
            <a:prstDash val="solid"/>
            <a:round/>
            <a:headEnd type="none" w="med" len="med"/>
            <a:tailEnd type="arrow"/>
          </a:ln>
          <a:effectLst/>
        </p:spPr>
      </p:cxnSp>
    </p:spTree>
    <p:extLst>
      <p:ext uri="{BB962C8B-B14F-4D97-AF65-F5344CB8AC3E}">
        <p14:creationId xmlns:p14="http://schemas.microsoft.com/office/powerpoint/2010/main" val="1179788792"/>
      </p:ext>
    </p:extLst>
  </p:cSld>
  <p:clrMapOvr>
    <a:masterClrMapping/>
  </p:clrMapOvr>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399" y="914400"/>
            <a:ext cx="8915401" cy="5262980"/>
          </a:xfrm>
          <a:prstGeom prst="rect">
            <a:avLst/>
          </a:prstGeom>
          <a:solidFill>
            <a:srgbClr val="F7F5CD"/>
          </a:solidFill>
          <a:ln w="28575" cap="flat" cmpd="sng" algn="ctr">
            <a:solidFill>
              <a:schemeClr val="tx1"/>
            </a:solidFill>
            <a:prstDash val="solid"/>
            <a:round/>
            <a:headEnd type="none" w="med" len="med"/>
            <a:tailEnd type="none" w="med" len="med"/>
          </a:ln>
        </p:spPr>
        <p:txBody>
          <a:bodyPr wrap="square">
            <a:spAutoFit/>
          </a:bodyPr>
          <a:lstStyle/>
          <a:p>
            <a:r>
              <a:rPr lang="en-US" sz="1600">
                <a:solidFill>
                  <a:srgbClr val="926492"/>
                </a:solidFill>
                <a:latin typeface="Courier New"/>
                <a:cs typeface="Courier New"/>
              </a:rPr>
              <a:t>#</a:t>
            </a:r>
            <a:r>
              <a:rPr lang="en-US" sz="1600" err="1">
                <a:solidFill>
                  <a:srgbClr val="926492"/>
                </a:solidFill>
                <a:latin typeface="Courier New"/>
                <a:cs typeface="Courier New"/>
              </a:rPr>
              <a:t>ifdef</a:t>
            </a:r>
            <a:r>
              <a:rPr lang="en-US" sz="1600">
                <a:solidFill>
                  <a:srgbClr val="000000"/>
                </a:solidFill>
                <a:latin typeface="Courier New"/>
                <a:cs typeface="Courier New"/>
              </a:rPr>
              <a:t> RUNTIME</a:t>
            </a:r>
          </a:p>
          <a:p>
            <a:r>
              <a:rPr lang="en-US" sz="1600">
                <a:solidFill>
                  <a:srgbClr val="926492"/>
                </a:solidFill>
                <a:latin typeface="Courier New"/>
                <a:cs typeface="Courier New"/>
              </a:rPr>
              <a:t>#define</a:t>
            </a:r>
            <a:r>
              <a:rPr lang="en-US" sz="1600">
                <a:solidFill>
                  <a:srgbClr val="000000"/>
                </a:solidFill>
                <a:latin typeface="Courier New"/>
                <a:cs typeface="Courier New"/>
              </a:rPr>
              <a:t> </a:t>
            </a:r>
            <a:r>
              <a:rPr lang="en-US" sz="1600">
                <a:solidFill>
                  <a:srgbClr val="C1651C"/>
                </a:solidFill>
                <a:latin typeface="Courier New"/>
                <a:cs typeface="Courier New"/>
              </a:rPr>
              <a:t>_GNU_SOURCE</a:t>
            </a:r>
            <a:endParaRPr lang="en-US" sz="1600">
              <a:solidFill>
                <a:srgbClr val="000000"/>
              </a:solidFill>
              <a:latin typeface="Courier New"/>
              <a:cs typeface="Courier New"/>
            </a:endParaRPr>
          </a:p>
          <a:p>
            <a:r>
              <a:rPr lang="en-US" sz="1600">
                <a:solidFill>
                  <a:srgbClr val="926492"/>
                </a:solidFill>
                <a:latin typeface="Courier New"/>
                <a:cs typeface="Courier New"/>
              </a:rPr>
              <a:t>#include</a:t>
            </a:r>
            <a:r>
              <a:rPr lang="en-US" sz="1600">
                <a:solidFill>
                  <a:srgbClr val="000000"/>
                </a:solidFill>
                <a:latin typeface="Courier New"/>
                <a:cs typeface="Courier New"/>
              </a:rPr>
              <a:t> </a:t>
            </a:r>
            <a:r>
              <a:rPr lang="en-US" sz="1600">
                <a:solidFill>
                  <a:srgbClr val="9D206F"/>
                </a:solidFill>
                <a:latin typeface="Courier New"/>
                <a:cs typeface="Courier New"/>
              </a:rPr>
              <a:t>&lt;</a:t>
            </a:r>
            <a:r>
              <a:rPr lang="en-US" sz="1600" err="1">
                <a:solidFill>
                  <a:srgbClr val="9D206F"/>
                </a:solidFill>
                <a:latin typeface="Courier New"/>
                <a:cs typeface="Courier New"/>
              </a:rPr>
              <a:t>stdio.h</a:t>
            </a:r>
            <a:r>
              <a:rPr lang="en-US" sz="1600">
                <a:solidFill>
                  <a:srgbClr val="9D206F"/>
                </a:solidFill>
                <a:latin typeface="Courier New"/>
                <a:cs typeface="Courier New"/>
              </a:rPr>
              <a:t>&gt;</a:t>
            </a:r>
            <a:endParaRPr lang="en-US" sz="1600">
              <a:solidFill>
                <a:srgbClr val="000000"/>
              </a:solidFill>
              <a:latin typeface="Courier New"/>
              <a:cs typeface="Courier New"/>
            </a:endParaRPr>
          </a:p>
          <a:p>
            <a:r>
              <a:rPr lang="en-US" sz="1600">
                <a:solidFill>
                  <a:srgbClr val="926492"/>
                </a:solidFill>
                <a:latin typeface="Courier New"/>
                <a:cs typeface="Courier New"/>
              </a:rPr>
              <a:t>#include</a:t>
            </a:r>
            <a:r>
              <a:rPr lang="en-US" sz="1600">
                <a:solidFill>
                  <a:srgbClr val="000000"/>
                </a:solidFill>
                <a:latin typeface="Courier New"/>
                <a:cs typeface="Courier New"/>
              </a:rPr>
              <a:t> </a:t>
            </a:r>
            <a:r>
              <a:rPr lang="en-US" sz="1600">
                <a:solidFill>
                  <a:srgbClr val="9D206F"/>
                </a:solidFill>
                <a:latin typeface="Courier New"/>
                <a:cs typeface="Courier New"/>
              </a:rPr>
              <a:t>&lt;</a:t>
            </a:r>
            <a:r>
              <a:rPr lang="en-US" sz="1600" err="1">
                <a:solidFill>
                  <a:srgbClr val="9D206F"/>
                </a:solidFill>
                <a:latin typeface="Courier New"/>
                <a:cs typeface="Courier New"/>
              </a:rPr>
              <a:t>stdlib.h</a:t>
            </a:r>
            <a:r>
              <a:rPr lang="en-US" sz="1600">
                <a:solidFill>
                  <a:srgbClr val="9D206F"/>
                </a:solidFill>
                <a:latin typeface="Courier New"/>
                <a:cs typeface="Courier New"/>
              </a:rPr>
              <a:t>&gt;</a:t>
            </a:r>
            <a:endParaRPr lang="en-US" sz="1600">
              <a:solidFill>
                <a:srgbClr val="000000"/>
              </a:solidFill>
              <a:latin typeface="Courier New"/>
              <a:cs typeface="Courier New"/>
            </a:endParaRPr>
          </a:p>
          <a:p>
            <a:r>
              <a:rPr lang="en-US" sz="1600">
                <a:solidFill>
                  <a:srgbClr val="926492"/>
                </a:solidFill>
                <a:latin typeface="Courier New"/>
                <a:cs typeface="Courier New"/>
              </a:rPr>
              <a:t>#include</a:t>
            </a:r>
            <a:r>
              <a:rPr lang="en-US" sz="1600">
                <a:solidFill>
                  <a:srgbClr val="000000"/>
                </a:solidFill>
                <a:latin typeface="Courier New"/>
                <a:cs typeface="Courier New"/>
              </a:rPr>
              <a:t> </a:t>
            </a:r>
            <a:r>
              <a:rPr lang="en-US" sz="1600">
                <a:solidFill>
                  <a:srgbClr val="9D206F"/>
                </a:solidFill>
                <a:latin typeface="Courier New"/>
                <a:cs typeface="Courier New"/>
              </a:rPr>
              <a:t>&lt;</a:t>
            </a:r>
            <a:r>
              <a:rPr lang="en-US" sz="1600" err="1">
                <a:solidFill>
                  <a:srgbClr val="9D206F"/>
                </a:solidFill>
                <a:latin typeface="Courier New"/>
                <a:cs typeface="Courier New"/>
              </a:rPr>
              <a:t>dlfcn.h</a:t>
            </a:r>
            <a:r>
              <a:rPr lang="en-US" sz="1600">
                <a:solidFill>
                  <a:srgbClr val="9D206F"/>
                </a:solidFill>
                <a:latin typeface="Courier New"/>
                <a:cs typeface="Courier New"/>
              </a:rPr>
              <a:t>&gt;</a:t>
            </a:r>
            <a:endParaRPr lang="en-US" sz="1600">
              <a:solidFill>
                <a:srgbClr val="000000"/>
              </a:solidFill>
              <a:latin typeface="Courier New"/>
              <a:cs typeface="Courier New"/>
            </a:endParaRPr>
          </a:p>
          <a:p>
            <a:endParaRPr lang="en-US" sz="1600">
              <a:solidFill>
                <a:srgbClr val="000000"/>
              </a:solidFill>
              <a:latin typeface="Courier New"/>
              <a:cs typeface="Courier New"/>
            </a:endParaRPr>
          </a:p>
          <a:p>
            <a:r>
              <a:rPr lang="en-US" sz="1600">
                <a:solidFill>
                  <a:srgbClr val="CB2418"/>
                </a:solidFill>
                <a:latin typeface="Courier New"/>
                <a:cs typeface="Courier New"/>
              </a:rPr>
              <a:t>/* </a:t>
            </a:r>
            <a:r>
              <a:rPr lang="en-US" sz="1600" err="1">
                <a:solidFill>
                  <a:srgbClr val="CB2418"/>
                </a:solidFill>
                <a:latin typeface="Courier New"/>
                <a:cs typeface="Courier New"/>
              </a:rPr>
              <a:t>malloc</a:t>
            </a:r>
            <a:r>
              <a:rPr lang="en-US" sz="1600">
                <a:solidFill>
                  <a:srgbClr val="CB2418"/>
                </a:solidFill>
                <a:latin typeface="Courier New"/>
                <a:cs typeface="Courier New"/>
              </a:rPr>
              <a:t> wrapper function */</a:t>
            </a:r>
            <a:endParaRPr lang="en-US" sz="1600">
              <a:solidFill>
                <a:srgbClr val="000000"/>
              </a:solidFill>
              <a:latin typeface="Courier New"/>
              <a:cs typeface="Courier New"/>
            </a:endParaRPr>
          </a:p>
          <a:p>
            <a:r>
              <a:rPr lang="en-US" sz="1600">
                <a:solidFill>
                  <a:srgbClr val="2D961E"/>
                </a:solidFill>
                <a:latin typeface="Courier New"/>
                <a:cs typeface="Courier New"/>
              </a:rPr>
              <a:t>void</a:t>
            </a:r>
            <a:r>
              <a:rPr lang="en-US" sz="1600">
                <a:solidFill>
                  <a:srgbClr val="000000"/>
                </a:solidFill>
                <a:latin typeface="Courier New"/>
                <a:cs typeface="Courier New"/>
              </a:rPr>
              <a:t> *</a:t>
            </a:r>
            <a:r>
              <a:rPr lang="en-US" sz="1600" err="1">
                <a:solidFill>
                  <a:srgbClr val="4A00FF"/>
                </a:solidFill>
                <a:latin typeface="Courier New"/>
                <a:cs typeface="Courier New"/>
              </a:rPr>
              <a:t>malloc</a:t>
            </a:r>
            <a:r>
              <a:rPr lang="en-US" sz="1600">
                <a:solidFill>
                  <a:srgbClr val="000000"/>
                </a:solidFill>
                <a:latin typeface="Courier New"/>
                <a:cs typeface="Courier New"/>
              </a:rPr>
              <a:t>(</a:t>
            </a:r>
            <a:r>
              <a:rPr lang="en-US" sz="1600" err="1">
                <a:solidFill>
                  <a:srgbClr val="2D961E"/>
                </a:solidFill>
                <a:latin typeface="Courier New"/>
                <a:cs typeface="Courier New"/>
              </a:rPr>
              <a:t>size_t</a:t>
            </a:r>
            <a:r>
              <a:rPr lang="en-US" sz="1600">
                <a:solidFill>
                  <a:srgbClr val="000000"/>
                </a:solidFill>
                <a:latin typeface="Courier New"/>
                <a:cs typeface="Courier New"/>
              </a:rPr>
              <a:t> </a:t>
            </a:r>
            <a:r>
              <a:rPr lang="en-US" sz="1600">
                <a:solidFill>
                  <a:srgbClr val="C1651C"/>
                </a:solidFill>
                <a:latin typeface="Courier New"/>
                <a:cs typeface="Courier New"/>
              </a:rPr>
              <a:t>size</a:t>
            </a:r>
            <a:r>
              <a:rPr lang="en-US" sz="1600">
                <a:solidFill>
                  <a:srgbClr val="000000"/>
                </a:solidFill>
                <a:latin typeface="Courier New"/>
                <a:cs typeface="Courier New"/>
              </a:rPr>
              <a:t>)</a:t>
            </a:r>
          </a:p>
          <a:p>
            <a:r>
              <a:rPr lang="en-US" sz="1600">
                <a:solidFill>
                  <a:srgbClr val="000000"/>
                </a:solidFill>
                <a:latin typeface="Courier New"/>
                <a:cs typeface="Courier New"/>
              </a:rPr>
              <a:t>{</a:t>
            </a:r>
          </a:p>
          <a:p>
            <a:r>
              <a:rPr lang="en-US" sz="1600">
                <a:solidFill>
                  <a:srgbClr val="000000"/>
                </a:solidFill>
                <a:latin typeface="Courier New"/>
                <a:cs typeface="Courier New"/>
              </a:rPr>
              <a:t>    </a:t>
            </a:r>
            <a:r>
              <a:rPr lang="en-US" sz="1600">
                <a:solidFill>
                  <a:srgbClr val="2D961E"/>
                </a:solidFill>
                <a:latin typeface="Courier New"/>
                <a:cs typeface="Courier New"/>
              </a:rPr>
              <a:t>void</a:t>
            </a:r>
            <a:r>
              <a:rPr lang="en-US" sz="1600">
                <a:solidFill>
                  <a:srgbClr val="000000"/>
                </a:solidFill>
                <a:latin typeface="Courier New"/>
                <a:cs typeface="Courier New"/>
              </a:rPr>
              <a:t> *(*</a:t>
            </a:r>
            <a:r>
              <a:rPr lang="en-US" sz="1600" err="1">
                <a:solidFill>
                  <a:srgbClr val="C1651C"/>
                </a:solidFill>
                <a:latin typeface="Courier New"/>
                <a:cs typeface="Courier New"/>
              </a:rPr>
              <a:t>mallocp</a:t>
            </a:r>
            <a:r>
              <a:rPr lang="en-US" sz="1600">
                <a:solidFill>
                  <a:srgbClr val="000000"/>
                </a:solidFill>
                <a:latin typeface="Courier New"/>
                <a:cs typeface="Courier New"/>
              </a:rPr>
              <a:t>)(</a:t>
            </a:r>
            <a:r>
              <a:rPr lang="en-US" sz="1600" err="1">
                <a:solidFill>
                  <a:srgbClr val="2D961E"/>
                </a:solidFill>
                <a:latin typeface="Courier New"/>
                <a:cs typeface="Courier New"/>
              </a:rPr>
              <a:t>size_t</a:t>
            </a:r>
            <a:r>
              <a:rPr lang="en-US" sz="1600">
                <a:solidFill>
                  <a:srgbClr val="000000"/>
                </a:solidFill>
                <a:latin typeface="Courier New"/>
                <a:cs typeface="Courier New"/>
              </a:rPr>
              <a:t> </a:t>
            </a:r>
            <a:r>
              <a:rPr lang="en-US" sz="1600">
                <a:solidFill>
                  <a:srgbClr val="C1651C"/>
                </a:solidFill>
                <a:latin typeface="Courier New"/>
                <a:cs typeface="Courier New"/>
              </a:rPr>
              <a:t>size</a:t>
            </a:r>
            <a:r>
              <a:rPr lang="en-US" sz="1600">
                <a:solidFill>
                  <a:srgbClr val="000000"/>
                </a:solidFill>
                <a:latin typeface="Courier New"/>
                <a:cs typeface="Courier New"/>
              </a:rPr>
              <a:t>);</a:t>
            </a:r>
          </a:p>
          <a:p>
            <a:r>
              <a:rPr lang="en-US" sz="1600">
                <a:solidFill>
                  <a:srgbClr val="000000"/>
                </a:solidFill>
                <a:latin typeface="Courier New"/>
                <a:cs typeface="Courier New"/>
              </a:rPr>
              <a:t>    </a:t>
            </a:r>
            <a:r>
              <a:rPr lang="en-US" sz="1600">
                <a:solidFill>
                  <a:srgbClr val="2D961E"/>
                </a:solidFill>
                <a:latin typeface="Courier New"/>
                <a:cs typeface="Courier New"/>
              </a:rPr>
              <a:t>char</a:t>
            </a:r>
            <a:r>
              <a:rPr lang="en-US" sz="1600">
                <a:solidFill>
                  <a:srgbClr val="000000"/>
                </a:solidFill>
                <a:latin typeface="Courier New"/>
                <a:cs typeface="Courier New"/>
              </a:rPr>
              <a:t> *</a:t>
            </a:r>
            <a:r>
              <a:rPr lang="en-US" sz="1600">
                <a:solidFill>
                  <a:srgbClr val="C1651C"/>
                </a:solidFill>
                <a:latin typeface="Courier New"/>
                <a:cs typeface="Courier New"/>
              </a:rPr>
              <a:t>error</a:t>
            </a:r>
            <a:r>
              <a:rPr lang="en-US" sz="1600">
                <a:solidFill>
                  <a:srgbClr val="000000"/>
                </a:solidFill>
                <a:latin typeface="Courier New"/>
                <a:cs typeface="Courier New"/>
              </a:rPr>
              <a:t>;</a:t>
            </a:r>
          </a:p>
          <a:p>
            <a:endParaRPr lang="en-US" sz="1600">
              <a:solidFill>
                <a:srgbClr val="000000"/>
              </a:solidFill>
              <a:latin typeface="Courier New"/>
              <a:cs typeface="Courier New"/>
            </a:endParaRPr>
          </a:p>
          <a:p>
            <a:r>
              <a:rPr lang="en-US" sz="1600">
                <a:solidFill>
                  <a:srgbClr val="000000"/>
                </a:solidFill>
                <a:latin typeface="Courier New"/>
                <a:cs typeface="Courier New"/>
              </a:rPr>
              <a:t>    </a:t>
            </a:r>
            <a:r>
              <a:rPr lang="en-US" sz="1600" err="1">
                <a:solidFill>
                  <a:srgbClr val="000000"/>
                </a:solidFill>
                <a:latin typeface="Courier New"/>
                <a:cs typeface="Courier New"/>
              </a:rPr>
              <a:t>mallocp</a:t>
            </a:r>
            <a:r>
              <a:rPr lang="en-US" sz="1600">
                <a:solidFill>
                  <a:srgbClr val="000000"/>
                </a:solidFill>
                <a:latin typeface="Courier New"/>
                <a:cs typeface="Courier New"/>
              </a:rPr>
              <a:t> = </a:t>
            </a:r>
            <a:r>
              <a:rPr lang="en-US" sz="1600" err="1">
                <a:solidFill>
                  <a:srgbClr val="000000"/>
                </a:solidFill>
                <a:latin typeface="Courier New"/>
                <a:cs typeface="Courier New"/>
              </a:rPr>
              <a:t>dlsym</a:t>
            </a:r>
            <a:r>
              <a:rPr lang="en-US" sz="1600">
                <a:solidFill>
                  <a:srgbClr val="000000"/>
                </a:solidFill>
                <a:latin typeface="Courier New"/>
                <a:cs typeface="Courier New"/>
              </a:rPr>
              <a:t>(RTLD_NEXT, </a:t>
            </a:r>
            <a:r>
              <a:rPr lang="en-US" sz="1600">
                <a:solidFill>
                  <a:srgbClr val="9D206F"/>
                </a:solidFill>
                <a:latin typeface="Courier New"/>
                <a:cs typeface="Courier New"/>
              </a:rPr>
              <a:t>"</a:t>
            </a:r>
            <a:r>
              <a:rPr lang="en-US" sz="1600" err="1">
                <a:solidFill>
                  <a:srgbClr val="9D206F"/>
                </a:solidFill>
                <a:latin typeface="Courier New"/>
                <a:cs typeface="Courier New"/>
              </a:rPr>
              <a:t>malloc</a:t>
            </a:r>
            <a:r>
              <a:rPr lang="en-US" sz="1600">
                <a:solidFill>
                  <a:srgbClr val="9D206F"/>
                </a:solidFill>
                <a:latin typeface="Courier New"/>
                <a:cs typeface="Courier New"/>
              </a:rPr>
              <a:t>"</a:t>
            </a:r>
            <a:r>
              <a:rPr lang="en-US" sz="1600">
                <a:solidFill>
                  <a:srgbClr val="000000"/>
                </a:solidFill>
                <a:latin typeface="Courier New"/>
                <a:cs typeface="Courier New"/>
              </a:rPr>
              <a:t>); </a:t>
            </a:r>
            <a:r>
              <a:rPr lang="en-US" sz="1600">
                <a:solidFill>
                  <a:srgbClr val="CB2418"/>
                </a:solidFill>
                <a:latin typeface="Courier New"/>
                <a:cs typeface="Courier New"/>
              </a:rPr>
              <a:t>/* Get </a:t>
            </a:r>
            <a:r>
              <a:rPr lang="en-US" sz="1600" err="1" smtClean="0">
                <a:solidFill>
                  <a:srgbClr val="CB2418"/>
                </a:solidFill>
                <a:latin typeface="Courier New"/>
                <a:cs typeface="Courier New"/>
              </a:rPr>
              <a:t>addr</a:t>
            </a:r>
            <a:r>
              <a:rPr lang="en-US" sz="1600" smtClean="0">
                <a:solidFill>
                  <a:srgbClr val="CB2418"/>
                </a:solidFill>
                <a:latin typeface="Courier New"/>
                <a:cs typeface="Courier New"/>
              </a:rPr>
              <a:t> </a:t>
            </a:r>
            <a:r>
              <a:rPr lang="en-US" sz="1600">
                <a:solidFill>
                  <a:srgbClr val="CB2418"/>
                </a:solidFill>
                <a:latin typeface="Courier New"/>
                <a:cs typeface="Courier New"/>
              </a:rPr>
              <a:t>of </a:t>
            </a:r>
            <a:r>
              <a:rPr lang="en-US" sz="1600" err="1">
                <a:solidFill>
                  <a:srgbClr val="CB2418"/>
                </a:solidFill>
                <a:latin typeface="Courier New"/>
                <a:cs typeface="Courier New"/>
              </a:rPr>
              <a:t>libc</a:t>
            </a:r>
            <a:r>
              <a:rPr lang="en-US" sz="1600">
                <a:solidFill>
                  <a:srgbClr val="CB2418"/>
                </a:solidFill>
                <a:latin typeface="Courier New"/>
                <a:cs typeface="Courier New"/>
              </a:rPr>
              <a:t> </a:t>
            </a:r>
            <a:r>
              <a:rPr lang="en-US" sz="1600" err="1">
                <a:solidFill>
                  <a:srgbClr val="CB2418"/>
                </a:solidFill>
                <a:latin typeface="Courier New"/>
                <a:cs typeface="Courier New"/>
              </a:rPr>
              <a:t>malloc</a:t>
            </a:r>
            <a:r>
              <a:rPr lang="en-US" sz="1600">
                <a:solidFill>
                  <a:srgbClr val="CB2418"/>
                </a:solidFill>
                <a:latin typeface="Courier New"/>
                <a:cs typeface="Courier New"/>
              </a:rPr>
              <a:t> */</a:t>
            </a:r>
            <a:endParaRPr lang="en-US" sz="1600">
              <a:solidFill>
                <a:srgbClr val="000000"/>
              </a:solidFill>
              <a:latin typeface="Courier New"/>
              <a:cs typeface="Courier New"/>
            </a:endParaRPr>
          </a:p>
          <a:p>
            <a:r>
              <a:rPr lang="en-US" sz="1600">
                <a:solidFill>
                  <a:srgbClr val="000000"/>
                </a:solidFill>
                <a:latin typeface="Courier New"/>
                <a:cs typeface="Courier New"/>
              </a:rPr>
              <a:t>    </a:t>
            </a:r>
            <a:r>
              <a:rPr lang="en-US" sz="1600">
                <a:solidFill>
                  <a:srgbClr val="C200FF"/>
                </a:solidFill>
                <a:latin typeface="Courier New"/>
                <a:cs typeface="Courier New"/>
              </a:rPr>
              <a:t>if</a:t>
            </a:r>
            <a:r>
              <a:rPr lang="en-US" sz="1600">
                <a:solidFill>
                  <a:srgbClr val="000000"/>
                </a:solidFill>
                <a:latin typeface="Courier New"/>
                <a:cs typeface="Courier New"/>
              </a:rPr>
              <a:t> ((error = </a:t>
            </a:r>
            <a:r>
              <a:rPr lang="en-US" sz="1600" err="1">
                <a:solidFill>
                  <a:srgbClr val="000000"/>
                </a:solidFill>
                <a:latin typeface="Courier New"/>
                <a:cs typeface="Courier New"/>
              </a:rPr>
              <a:t>dlerror</a:t>
            </a:r>
            <a:r>
              <a:rPr lang="en-US" sz="1600">
                <a:solidFill>
                  <a:srgbClr val="000000"/>
                </a:solidFill>
                <a:latin typeface="Courier New"/>
                <a:cs typeface="Courier New"/>
              </a:rPr>
              <a:t>()) != </a:t>
            </a:r>
            <a:r>
              <a:rPr lang="en-US" sz="1600">
                <a:solidFill>
                  <a:srgbClr val="2C9290"/>
                </a:solidFill>
                <a:latin typeface="Courier New"/>
                <a:cs typeface="Courier New"/>
              </a:rPr>
              <a:t>NULL</a:t>
            </a:r>
            <a:r>
              <a:rPr lang="en-US" sz="1600">
                <a:solidFill>
                  <a:srgbClr val="000000"/>
                </a:solidFill>
                <a:latin typeface="Courier New"/>
                <a:cs typeface="Courier New"/>
              </a:rPr>
              <a:t>) {</a:t>
            </a:r>
          </a:p>
          <a:p>
            <a:r>
              <a:rPr lang="en-US" sz="1600">
                <a:solidFill>
                  <a:srgbClr val="000000"/>
                </a:solidFill>
                <a:latin typeface="Courier New"/>
                <a:cs typeface="Courier New"/>
              </a:rPr>
              <a:t>        </a:t>
            </a:r>
            <a:r>
              <a:rPr lang="en-US" sz="1600" err="1">
                <a:solidFill>
                  <a:srgbClr val="000000"/>
                </a:solidFill>
                <a:latin typeface="Courier New"/>
                <a:cs typeface="Courier New"/>
              </a:rPr>
              <a:t>fputs</a:t>
            </a:r>
            <a:r>
              <a:rPr lang="en-US" sz="1600">
                <a:solidFill>
                  <a:srgbClr val="000000"/>
                </a:solidFill>
                <a:latin typeface="Courier New"/>
                <a:cs typeface="Courier New"/>
              </a:rPr>
              <a:t>(error, </a:t>
            </a:r>
            <a:r>
              <a:rPr lang="en-US" sz="1600" err="1">
                <a:solidFill>
                  <a:srgbClr val="000000"/>
                </a:solidFill>
                <a:latin typeface="Courier New"/>
                <a:cs typeface="Courier New"/>
              </a:rPr>
              <a:t>stderr</a:t>
            </a:r>
            <a:r>
              <a:rPr lang="en-US" sz="1600">
                <a:solidFill>
                  <a:srgbClr val="000000"/>
                </a:solidFill>
                <a:latin typeface="Courier New"/>
                <a:cs typeface="Courier New"/>
              </a:rPr>
              <a:t>);</a:t>
            </a:r>
          </a:p>
          <a:p>
            <a:r>
              <a:rPr lang="en-US" sz="1600">
                <a:solidFill>
                  <a:srgbClr val="000000"/>
                </a:solidFill>
                <a:latin typeface="Courier New"/>
                <a:cs typeface="Courier New"/>
              </a:rPr>
              <a:t>        exit(1);</a:t>
            </a:r>
          </a:p>
          <a:p>
            <a:r>
              <a:rPr lang="en-US" sz="1600">
                <a:solidFill>
                  <a:srgbClr val="000000"/>
                </a:solidFill>
                <a:latin typeface="Courier New"/>
                <a:cs typeface="Courier New"/>
              </a:rPr>
              <a:t>    }</a:t>
            </a:r>
          </a:p>
          <a:p>
            <a:r>
              <a:rPr lang="en-US" sz="1600">
                <a:solidFill>
                  <a:srgbClr val="000000"/>
                </a:solidFill>
                <a:latin typeface="Courier New"/>
                <a:cs typeface="Courier New"/>
              </a:rPr>
              <a:t>    </a:t>
            </a:r>
            <a:r>
              <a:rPr lang="en-US" sz="1600">
                <a:solidFill>
                  <a:srgbClr val="2D961E"/>
                </a:solidFill>
                <a:latin typeface="Courier New"/>
                <a:cs typeface="Courier New"/>
              </a:rPr>
              <a:t>char</a:t>
            </a:r>
            <a:r>
              <a:rPr lang="en-US" sz="1600">
                <a:solidFill>
                  <a:srgbClr val="000000"/>
                </a:solidFill>
                <a:latin typeface="Courier New"/>
                <a:cs typeface="Courier New"/>
              </a:rPr>
              <a:t> *</a:t>
            </a:r>
            <a:r>
              <a:rPr lang="en-US" sz="1600" err="1">
                <a:solidFill>
                  <a:srgbClr val="C1651C"/>
                </a:solidFill>
                <a:latin typeface="Courier New"/>
                <a:cs typeface="Courier New"/>
              </a:rPr>
              <a:t>ptr</a:t>
            </a:r>
            <a:r>
              <a:rPr lang="en-US" sz="1600">
                <a:solidFill>
                  <a:srgbClr val="000000"/>
                </a:solidFill>
                <a:latin typeface="Courier New"/>
                <a:cs typeface="Courier New"/>
              </a:rPr>
              <a:t> = </a:t>
            </a:r>
            <a:r>
              <a:rPr lang="en-US" sz="1600" err="1">
                <a:solidFill>
                  <a:srgbClr val="000000"/>
                </a:solidFill>
                <a:latin typeface="Courier New"/>
                <a:cs typeface="Courier New"/>
              </a:rPr>
              <a:t>mallocp</a:t>
            </a:r>
            <a:r>
              <a:rPr lang="en-US" sz="1600">
                <a:solidFill>
                  <a:srgbClr val="000000"/>
                </a:solidFill>
                <a:latin typeface="Courier New"/>
                <a:cs typeface="Courier New"/>
              </a:rPr>
              <a:t>(size); </a:t>
            </a:r>
            <a:r>
              <a:rPr lang="en-US" sz="1600">
                <a:solidFill>
                  <a:srgbClr val="CB2418"/>
                </a:solidFill>
                <a:latin typeface="Courier New"/>
                <a:cs typeface="Courier New"/>
              </a:rPr>
              <a:t>/* Call </a:t>
            </a:r>
            <a:r>
              <a:rPr lang="en-US" sz="1600" err="1">
                <a:solidFill>
                  <a:srgbClr val="CB2418"/>
                </a:solidFill>
                <a:latin typeface="Courier New"/>
                <a:cs typeface="Courier New"/>
              </a:rPr>
              <a:t>libc</a:t>
            </a:r>
            <a:r>
              <a:rPr lang="en-US" sz="1600">
                <a:solidFill>
                  <a:srgbClr val="CB2418"/>
                </a:solidFill>
                <a:latin typeface="Courier New"/>
                <a:cs typeface="Courier New"/>
              </a:rPr>
              <a:t> </a:t>
            </a:r>
            <a:r>
              <a:rPr lang="en-US" sz="1600" err="1">
                <a:solidFill>
                  <a:srgbClr val="CB2418"/>
                </a:solidFill>
                <a:latin typeface="Courier New"/>
                <a:cs typeface="Courier New"/>
              </a:rPr>
              <a:t>malloc</a:t>
            </a:r>
            <a:r>
              <a:rPr lang="en-US" sz="1600">
                <a:solidFill>
                  <a:srgbClr val="CB2418"/>
                </a:solidFill>
                <a:latin typeface="Courier New"/>
                <a:cs typeface="Courier New"/>
              </a:rPr>
              <a:t> */</a:t>
            </a:r>
            <a:endParaRPr lang="en-US" sz="1600">
              <a:solidFill>
                <a:srgbClr val="000000"/>
              </a:solidFill>
              <a:latin typeface="Courier New"/>
              <a:cs typeface="Courier New"/>
            </a:endParaRPr>
          </a:p>
          <a:p>
            <a:r>
              <a:rPr lang="en-US" sz="1600">
                <a:solidFill>
                  <a:srgbClr val="000000"/>
                </a:solidFill>
                <a:latin typeface="Courier New"/>
                <a:cs typeface="Courier New"/>
              </a:rPr>
              <a:t>    </a:t>
            </a:r>
            <a:r>
              <a:rPr lang="en-US" sz="1600" err="1">
                <a:solidFill>
                  <a:srgbClr val="000000"/>
                </a:solidFill>
                <a:latin typeface="Courier New"/>
                <a:cs typeface="Courier New"/>
              </a:rPr>
              <a:t>printf</a:t>
            </a:r>
            <a:r>
              <a:rPr lang="en-US" sz="1600">
                <a:solidFill>
                  <a:srgbClr val="000000"/>
                </a:solidFill>
                <a:latin typeface="Courier New"/>
                <a:cs typeface="Courier New"/>
              </a:rPr>
              <a:t>(</a:t>
            </a:r>
            <a:r>
              <a:rPr lang="en-US" sz="1600">
                <a:solidFill>
                  <a:srgbClr val="9D206F"/>
                </a:solidFill>
                <a:latin typeface="Courier New"/>
                <a:cs typeface="Courier New"/>
              </a:rPr>
              <a:t>"</a:t>
            </a:r>
            <a:r>
              <a:rPr lang="en-US" sz="1600" err="1">
                <a:solidFill>
                  <a:srgbClr val="9D206F"/>
                </a:solidFill>
                <a:latin typeface="Courier New"/>
                <a:cs typeface="Courier New"/>
              </a:rPr>
              <a:t>malloc</a:t>
            </a:r>
            <a:r>
              <a:rPr lang="en-US" sz="1600">
                <a:solidFill>
                  <a:srgbClr val="9D206F"/>
                </a:solidFill>
                <a:latin typeface="Courier New"/>
                <a:cs typeface="Courier New"/>
              </a:rPr>
              <a:t>(%d) = %p\n"</a:t>
            </a:r>
            <a:r>
              <a:rPr lang="en-US" sz="1600">
                <a:solidFill>
                  <a:srgbClr val="000000"/>
                </a:solidFill>
                <a:latin typeface="Courier New"/>
                <a:cs typeface="Courier New"/>
              </a:rPr>
              <a:t>, (</a:t>
            </a:r>
            <a:r>
              <a:rPr lang="en-US" sz="1600" err="1">
                <a:solidFill>
                  <a:srgbClr val="2D961E"/>
                </a:solidFill>
                <a:latin typeface="Courier New"/>
                <a:cs typeface="Courier New"/>
              </a:rPr>
              <a:t>int</a:t>
            </a:r>
            <a:r>
              <a:rPr lang="en-US" sz="1600">
                <a:solidFill>
                  <a:srgbClr val="000000"/>
                </a:solidFill>
                <a:latin typeface="Courier New"/>
                <a:cs typeface="Courier New"/>
              </a:rPr>
              <a:t>)size, </a:t>
            </a:r>
            <a:r>
              <a:rPr lang="en-US" sz="1600" err="1">
                <a:solidFill>
                  <a:srgbClr val="000000"/>
                </a:solidFill>
                <a:latin typeface="Courier New"/>
                <a:cs typeface="Courier New"/>
              </a:rPr>
              <a:t>ptr</a:t>
            </a:r>
            <a:r>
              <a:rPr lang="en-US" sz="1600">
                <a:solidFill>
                  <a:srgbClr val="000000"/>
                </a:solidFill>
                <a:latin typeface="Courier New"/>
                <a:cs typeface="Courier New"/>
              </a:rPr>
              <a:t>);</a:t>
            </a:r>
          </a:p>
          <a:p>
            <a:r>
              <a:rPr lang="en-US" sz="1600">
                <a:solidFill>
                  <a:srgbClr val="000000"/>
                </a:solidFill>
                <a:latin typeface="Courier New"/>
                <a:cs typeface="Courier New"/>
              </a:rPr>
              <a:t>    </a:t>
            </a:r>
            <a:r>
              <a:rPr lang="en-US" sz="1600">
                <a:solidFill>
                  <a:srgbClr val="C200FF"/>
                </a:solidFill>
                <a:latin typeface="Courier New"/>
                <a:cs typeface="Courier New"/>
              </a:rPr>
              <a:t>return</a:t>
            </a:r>
            <a:r>
              <a:rPr lang="en-US" sz="1600">
                <a:solidFill>
                  <a:srgbClr val="000000"/>
                </a:solidFill>
                <a:latin typeface="Courier New"/>
                <a:cs typeface="Courier New"/>
              </a:rPr>
              <a:t> </a:t>
            </a:r>
            <a:r>
              <a:rPr lang="en-US" sz="1600" err="1">
                <a:solidFill>
                  <a:srgbClr val="000000"/>
                </a:solidFill>
                <a:latin typeface="Courier New"/>
                <a:cs typeface="Courier New"/>
              </a:rPr>
              <a:t>ptr</a:t>
            </a:r>
            <a:r>
              <a:rPr lang="en-US" sz="1600">
                <a:solidFill>
                  <a:srgbClr val="000000"/>
                </a:solidFill>
                <a:latin typeface="Courier New"/>
                <a:cs typeface="Courier New"/>
              </a:rPr>
              <a:t>;</a:t>
            </a:r>
          </a:p>
          <a:p>
            <a:r>
              <a:rPr lang="en-US" sz="1600">
                <a:solidFill>
                  <a:srgbClr val="000000"/>
                </a:solidFill>
                <a:latin typeface="Courier New"/>
                <a:cs typeface="Courier New"/>
              </a:rPr>
              <a:t>}</a:t>
            </a:r>
            <a:endParaRPr lang="en-US" sz="1600">
              <a:latin typeface="Courier New"/>
              <a:cs typeface="Courier New"/>
            </a:endParaRPr>
          </a:p>
        </p:txBody>
      </p:sp>
      <p:sp>
        <p:nvSpPr>
          <p:cNvPr id="2" name="Title 1"/>
          <p:cNvSpPr>
            <a:spLocks noGrp="1"/>
          </p:cNvSpPr>
          <p:nvPr>
            <p:ph type="title"/>
          </p:nvPr>
        </p:nvSpPr>
        <p:spPr>
          <a:xfrm>
            <a:off x="5181600" y="304800"/>
            <a:ext cx="3657599" cy="1219200"/>
          </a:xfrm>
          <a:solidFill>
            <a:schemeClr val="bg1"/>
          </a:solidFill>
          <a:ln w="28575" cap="flat" cmpd="sng" algn="ctr">
            <a:solidFill>
              <a:schemeClr val="tx1"/>
            </a:solidFill>
            <a:prstDash val="solid"/>
            <a:miter lim="800000"/>
            <a:headEnd type="none" w="med" len="med"/>
            <a:tailEnd type="none" w="med" len="med"/>
          </a:ln>
        </p:spPr>
        <p:txBody>
          <a:bodyPr/>
          <a:lstStyle/>
          <a:p>
            <a:pPr algn="ctr"/>
            <a:r>
              <a:rPr lang="en-US" smtClean="0"/>
              <a:t>Load/Run-time </a:t>
            </a:r>
            <a:br>
              <a:rPr lang="en-US" smtClean="0"/>
            </a:br>
            <a:r>
              <a:rPr lang="en-US" err="1" smtClean="0"/>
              <a:t>Interpositioning</a:t>
            </a:r>
            <a:endParaRPr lang="en-US"/>
          </a:p>
        </p:txBody>
      </p:sp>
      <p:sp>
        <p:nvSpPr>
          <p:cNvPr id="5" name="TextBox 4"/>
          <p:cNvSpPr txBox="1"/>
          <p:nvPr/>
        </p:nvSpPr>
        <p:spPr>
          <a:xfrm>
            <a:off x="7466627" y="5766890"/>
            <a:ext cx="1569886" cy="369332"/>
          </a:xfrm>
          <a:prstGeom prst="rect">
            <a:avLst/>
          </a:prstGeom>
          <a:noFill/>
        </p:spPr>
        <p:txBody>
          <a:bodyPr wrap="none" rtlCol="0">
            <a:spAutoFit/>
          </a:bodyPr>
          <a:lstStyle/>
          <a:p>
            <a:r>
              <a:rPr lang="en-US" sz="1800" err="1" smtClean="0">
                <a:solidFill>
                  <a:srgbClr val="7F7F7F"/>
                </a:solidFill>
                <a:latin typeface="Courier New"/>
                <a:cs typeface="Courier New"/>
              </a:rPr>
              <a:t>mymalloc.c</a:t>
            </a:r>
            <a:endParaRPr lang="en-US" sz="1800" smtClean="0">
              <a:solidFill>
                <a:srgbClr val="7F7F7F"/>
              </a:solidFill>
              <a:latin typeface="Courier New"/>
              <a:cs typeface="Courier New"/>
            </a:endParaRPr>
          </a:p>
        </p:txBody>
      </p:sp>
      <p:sp>
        <p:nvSpPr>
          <p:cNvPr id="7" name="TextBox 6"/>
          <p:cNvSpPr txBox="1"/>
          <p:nvPr/>
        </p:nvSpPr>
        <p:spPr>
          <a:xfrm>
            <a:off x="3581400" y="1669924"/>
            <a:ext cx="2816584" cy="646331"/>
          </a:xfrm>
          <a:prstGeom prst="rect">
            <a:avLst/>
          </a:prstGeom>
          <a:solidFill>
            <a:srgbClr val="DEDFF5"/>
          </a:solidFill>
          <a:ln>
            <a:solidFill>
              <a:schemeClr val="tx1"/>
            </a:solidFill>
          </a:ln>
        </p:spPr>
        <p:txBody>
          <a:bodyPr wrap="none" rtlCol="0">
            <a:spAutoFit/>
          </a:bodyPr>
          <a:lstStyle/>
          <a:p>
            <a:r>
              <a:rPr lang="en-US" sz="1800" smtClean="0">
                <a:solidFill>
                  <a:srgbClr val="C00000"/>
                </a:solidFill>
                <a:latin typeface="Calibri" pitchFamily="34" charset="0"/>
              </a:rPr>
              <a:t>Observe that DON’T have </a:t>
            </a:r>
          </a:p>
          <a:p>
            <a:r>
              <a:rPr lang="en-US" sz="1800" smtClean="0">
                <a:solidFill>
                  <a:srgbClr val="C00000"/>
                </a:solidFill>
                <a:latin typeface="Courier New"/>
                <a:cs typeface="Courier New"/>
              </a:rPr>
              <a:t>#include &lt;</a:t>
            </a:r>
            <a:r>
              <a:rPr lang="en-US" sz="1800" err="1" smtClean="0">
                <a:solidFill>
                  <a:srgbClr val="C00000"/>
                </a:solidFill>
                <a:latin typeface="Courier New"/>
                <a:cs typeface="Courier New"/>
              </a:rPr>
              <a:t>malloc.h</a:t>
            </a:r>
            <a:r>
              <a:rPr lang="en-US" sz="1800" smtClean="0">
                <a:solidFill>
                  <a:srgbClr val="C00000"/>
                </a:solidFill>
                <a:latin typeface="Courier New"/>
                <a:cs typeface="Courier New"/>
              </a:rPr>
              <a:t>&gt;</a:t>
            </a:r>
          </a:p>
        </p:txBody>
      </p:sp>
    </p:spTree>
    <p:extLst>
      <p:ext uri="{BB962C8B-B14F-4D97-AF65-F5344CB8AC3E}">
        <p14:creationId xmlns:p14="http://schemas.microsoft.com/office/powerpoint/2010/main" val="163478903"/>
      </p:ext>
    </p:extLst>
  </p:cSld>
  <p:clrMapOvr>
    <a:masterClrMapping/>
  </p:clrMapOvr>
  <p:timing>
    <p:tnLst>
      <p:par>
        <p:cTn xmlns:p14="http://schemas.microsoft.com/office/powerpoint/2010/mai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Load/Run-time </a:t>
            </a:r>
            <a:r>
              <a:rPr lang="en-US" err="1" smtClean="0"/>
              <a:t>Interpositioning</a:t>
            </a:r>
            <a:endParaRPr lang="en-US"/>
          </a:p>
        </p:txBody>
      </p:sp>
      <p:sp>
        <p:nvSpPr>
          <p:cNvPr id="4" name="Rectangle 3"/>
          <p:cNvSpPr/>
          <p:nvPr/>
        </p:nvSpPr>
        <p:spPr>
          <a:xfrm>
            <a:off x="152400" y="1524000"/>
            <a:ext cx="8763000" cy="4524316"/>
          </a:xfrm>
          <a:prstGeom prst="rect">
            <a:avLst/>
          </a:prstGeom>
          <a:solidFill>
            <a:srgbClr val="F7F5CD"/>
          </a:solidFill>
          <a:ln w="28575" cap="flat" cmpd="sng" algn="ctr">
            <a:solidFill>
              <a:schemeClr val="tx1"/>
            </a:solidFill>
            <a:prstDash val="solid"/>
            <a:round/>
            <a:headEnd type="none" w="med" len="med"/>
            <a:tailEnd type="none" w="med" len="med"/>
          </a:ln>
        </p:spPr>
        <p:txBody>
          <a:bodyPr wrap="square">
            <a:spAutoFit/>
          </a:bodyPr>
          <a:lstStyle/>
          <a:p>
            <a:r>
              <a:rPr lang="en-US" sz="1600">
                <a:solidFill>
                  <a:srgbClr val="CB2418"/>
                </a:solidFill>
                <a:latin typeface="Courier New"/>
                <a:cs typeface="Courier New"/>
              </a:rPr>
              <a:t>/* free wrapper function */</a:t>
            </a:r>
            <a:endParaRPr lang="en-US" sz="1600">
              <a:solidFill>
                <a:srgbClr val="000000"/>
              </a:solidFill>
              <a:latin typeface="Courier New"/>
              <a:cs typeface="Courier New"/>
            </a:endParaRPr>
          </a:p>
          <a:p>
            <a:r>
              <a:rPr lang="en-US" sz="1600">
                <a:solidFill>
                  <a:srgbClr val="2D961E"/>
                </a:solidFill>
                <a:latin typeface="Courier New"/>
                <a:cs typeface="Courier New"/>
              </a:rPr>
              <a:t>void</a:t>
            </a:r>
            <a:r>
              <a:rPr lang="en-US" sz="1600">
                <a:solidFill>
                  <a:srgbClr val="000000"/>
                </a:solidFill>
                <a:latin typeface="Courier New"/>
                <a:cs typeface="Courier New"/>
              </a:rPr>
              <a:t> </a:t>
            </a:r>
            <a:r>
              <a:rPr lang="en-US" sz="1600">
                <a:solidFill>
                  <a:srgbClr val="4A00FF"/>
                </a:solidFill>
                <a:latin typeface="Courier New"/>
                <a:cs typeface="Courier New"/>
              </a:rPr>
              <a:t>free</a:t>
            </a:r>
            <a:r>
              <a:rPr lang="en-US" sz="1600">
                <a:solidFill>
                  <a:srgbClr val="000000"/>
                </a:solidFill>
                <a:latin typeface="Courier New"/>
                <a:cs typeface="Courier New"/>
              </a:rPr>
              <a:t>(</a:t>
            </a:r>
            <a:r>
              <a:rPr lang="en-US" sz="1600">
                <a:solidFill>
                  <a:srgbClr val="2D961E"/>
                </a:solidFill>
                <a:latin typeface="Courier New"/>
                <a:cs typeface="Courier New"/>
              </a:rPr>
              <a:t>void</a:t>
            </a:r>
            <a:r>
              <a:rPr lang="en-US" sz="1600">
                <a:solidFill>
                  <a:srgbClr val="000000"/>
                </a:solidFill>
                <a:latin typeface="Courier New"/>
                <a:cs typeface="Courier New"/>
              </a:rPr>
              <a:t> *</a:t>
            </a:r>
            <a:r>
              <a:rPr lang="en-US" sz="1600" err="1">
                <a:solidFill>
                  <a:srgbClr val="C1651C"/>
                </a:solidFill>
                <a:latin typeface="Courier New"/>
                <a:cs typeface="Courier New"/>
              </a:rPr>
              <a:t>ptr</a:t>
            </a:r>
            <a:r>
              <a:rPr lang="en-US" sz="1600">
                <a:solidFill>
                  <a:srgbClr val="000000"/>
                </a:solidFill>
                <a:latin typeface="Courier New"/>
                <a:cs typeface="Courier New"/>
              </a:rPr>
              <a:t>)</a:t>
            </a:r>
          </a:p>
          <a:p>
            <a:r>
              <a:rPr lang="en-US" sz="1600">
                <a:solidFill>
                  <a:srgbClr val="000000"/>
                </a:solidFill>
                <a:latin typeface="Courier New"/>
                <a:cs typeface="Courier New"/>
              </a:rPr>
              <a:t>{</a:t>
            </a:r>
          </a:p>
          <a:p>
            <a:r>
              <a:rPr lang="fi-FI" sz="1600">
                <a:solidFill>
                  <a:srgbClr val="000000"/>
                </a:solidFill>
                <a:latin typeface="Courier New"/>
                <a:cs typeface="Courier New"/>
              </a:rPr>
              <a:t>    </a:t>
            </a:r>
            <a:r>
              <a:rPr lang="fi-FI" sz="1600" err="1">
                <a:solidFill>
                  <a:srgbClr val="2D961E"/>
                </a:solidFill>
                <a:latin typeface="Courier New"/>
                <a:cs typeface="Courier New"/>
              </a:rPr>
              <a:t>void</a:t>
            </a:r>
            <a:r>
              <a:rPr lang="fi-FI" sz="1600">
                <a:solidFill>
                  <a:srgbClr val="000000"/>
                </a:solidFill>
                <a:latin typeface="Courier New"/>
                <a:cs typeface="Courier New"/>
              </a:rPr>
              <a:t> (*</a:t>
            </a:r>
            <a:r>
              <a:rPr lang="fi-FI" sz="1600" err="1">
                <a:solidFill>
                  <a:srgbClr val="C1651C"/>
                </a:solidFill>
                <a:latin typeface="Courier New"/>
                <a:cs typeface="Courier New"/>
              </a:rPr>
              <a:t>freep</a:t>
            </a:r>
            <a:r>
              <a:rPr lang="fi-FI" sz="1600" err="1">
                <a:solidFill>
                  <a:srgbClr val="000000"/>
                </a:solidFill>
                <a:latin typeface="Courier New"/>
                <a:cs typeface="Courier New"/>
              </a:rPr>
              <a:t>)(</a:t>
            </a:r>
            <a:r>
              <a:rPr lang="fi-FI" sz="1600" err="1">
                <a:solidFill>
                  <a:srgbClr val="2D961E"/>
                </a:solidFill>
                <a:latin typeface="Courier New"/>
                <a:cs typeface="Courier New"/>
              </a:rPr>
              <a:t>void</a:t>
            </a:r>
            <a:r>
              <a:rPr lang="fi-FI" sz="1600">
                <a:solidFill>
                  <a:srgbClr val="000000"/>
                </a:solidFill>
                <a:latin typeface="Courier New"/>
                <a:cs typeface="Courier New"/>
              </a:rPr>
              <a:t> *) = </a:t>
            </a:r>
            <a:r>
              <a:rPr lang="fi-FI" sz="1600">
                <a:solidFill>
                  <a:srgbClr val="2C9290"/>
                </a:solidFill>
                <a:latin typeface="Courier New"/>
                <a:cs typeface="Courier New"/>
              </a:rPr>
              <a:t>NULL</a:t>
            </a:r>
            <a:r>
              <a:rPr lang="fi-FI" sz="1600">
                <a:solidFill>
                  <a:srgbClr val="000000"/>
                </a:solidFill>
                <a:latin typeface="Courier New"/>
                <a:cs typeface="Courier New"/>
              </a:rPr>
              <a:t>;</a:t>
            </a:r>
          </a:p>
          <a:p>
            <a:r>
              <a:rPr lang="fi-FI" sz="1600">
                <a:solidFill>
                  <a:srgbClr val="000000"/>
                </a:solidFill>
                <a:latin typeface="Courier New"/>
                <a:cs typeface="Courier New"/>
              </a:rPr>
              <a:t>    </a:t>
            </a:r>
            <a:r>
              <a:rPr lang="fi-FI" sz="1600" err="1">
                <a:solidFill>
                  <a:srgbClr val="2D961E"/>
                </a:solidFill>
                <a:latin typeface="Courier New"/>
                <a:cs typeface="Courier New"/>
              </a:rPr>
              <a:t>char</a:t>
            </a:r>
            <a:r>
              <a:rPr lang="fi-FI" sz="1600">
                <a:solidFill>
                  <a:srgbClr val="000000"/>
                </a:solidFill>
                <a:latin typeface="Courier New"/>
                <a:cs typeface="Courier New"/>
              </a:rPr>
              <a:t> *</a:t>
            </a:r>
            <a:r>
              <a:rPr lang="fi-FI" sz="1600" err="1">
                <a:solidFill>
                  <a:srgbClr val="C1651C"/>
                </a:solidFill>
                <a:latin typeface="Courier New"/>
                <a:cs typeface="Courier New"/>
              </a:rPr>
              <a:t>error</a:t>
            </a:r>
            <a:r>
              <a:rPr lang="fi-FI" sz="1600">
                <a:solidFill>
                  <a:srgbClr val="000000"/>
                </a:solidFill>
                <a:latin typeface="Courier New"/>
                <a:cs typeface="Courier New"/>
              </a:rPr>
              <a:t>;</a:t>
            </a:r>
          </a:p>
          <a:p>
            <a:endParaRPr lang="fi-FI" sz="1600">
              <a:solidFill>
                <a:srgbClr val="000000"/>
              </a:solidFill>
              <a:latin typeface="Courier New"/>
              <a:cs typeface="Courier New"/>
            </a:endParaRPr>
          </a:p>
          <a:p>
            <a:r>
              <a:rPr lang="en-US" sz="1600">
                <a:solidFill>
                  <a:srgbClr val="000000"/>
                </a:solidFill>
                <a:latin typeface="Courier New"/>
                <a:cs typeface="Courier New"/>
              </a:rPr>
              <a:t>    </a:t>
            </a:r>
            <a:r>
              <a:rPr lang="en-US" sz="1600">
                <a:solidFill>
                  <a:srgbClr val="C200FF"/>
                </a:solidFill>
                <a:latin typeface="Courier New"/>
                <a:cs typeface="Courier New"/>
              </a:rPr>
              <a:t>if</a:t>
            </a:r>
            <a:r>
              <a:rPr lang="en-US" sz="1600">
                <a:solidFill>
                  <a:srgbClr val="000000"/>
                </a:solidFill>
                <a:latin typeface="Courier New"/>
                <a:cs typeface="Courier New"/>
              </a:rPr>
              <a:t> (!</a:t>
            </a:r>
            <a:r>
              <a:rPr lang="en-US" sz="1600" err="1">
                <a:solidFill>
                  <a:srgbClr val="000000"/>
                </a:solidFill>
                <a:latin typeface="Courier New"/>
                <a:cs typeface="Courier New"/>
              </a:rPr>
              <a:t>ptr</a:t>
            </a:r>
            <a:r>
              <a:rPr lang="en-US" sz="1600">
                <a:solidFill>
                  <a:srgbClr val="000000"/>
                </a:solidFill>
                <a:latin typeface="Courier New"/>
                <a:cs typeface="Courier New"/>
              </a:rPr>
              <a:t>)</a:t>
            </a:r>
          </a:p>
          <a:p>
            <a:r>
              <a:rPr lang="is-IS" sz="1600">
                <a:solidFill>
                  <a:srgbClr val="000000"/>
                </a:solidFill>
                <a:latin typeface="Courier New"/>
                <a:cs typeface="Courier New"/>
              </a:rPr>
              <a:t>        </a:t>
            </a:r>
            <a:r>
              <a:rPr lang="is-IS" sz="1600">
                <a:solidFill>
                  <a:srgbClr val="C200FF"/>
                </a:solidFill>
                <a:latin typeface="Courier New"/>
                <a:cs typeface="Courier New"/>
              </a:rPr>
              <a:t>return</a:t>
            </a:r>
            <a:r>
              <a:rPr lang="is-IS" sz="1600">
                <a:solidFill>
                  <a:srgbClr val="000000"/>
                </a:solidFill>
                <a:latin typeface="Courier New"/>
                <a:cs typeface="Courier New"/>
              </a:rPr>
              <a:t>;</a:t>
            </a:r>
          </a:p>
          <a:p>
            <a:endParaRPr lang="is-IS" sz="1600">
              <a:solidFill>
                <a:srgbClr val="000000"/>
              </a:solidFill>
              <a:latin typeface="Courier New"/>
              <a:cs typeface="Courier New"/>
            </a:endParaRPr>
          </a:p>
          <a:p>
            <a:r>
              <a:rPr lang="en-US" sz="1600">
                <a:solidFill>
                  <a:srgbClr val="000000"/>
                </a:solidFill>
                <a:latin typeface="Courier New"/>
                <a:cs typeface="Courier New"/>
              </a:rPr>
              <a:t>    </a:t>
            </a:r>
            <a:r>
              <a:rPr lang="en-US" sz="1600" err="1">
                <a:solidFill>
                  <a:srgbClr val="000000"/>
                </a:solidFill>
                <a:latin typeface="Courier New"/>
                <a:cs typeface="Courier New"/>
              </a:rPr>
              <a:t>freep</a:t>
            </a:r>
            <a:r>
              <a:rPr lang="en-US" sz="1600">
                <a:solidFill>
                  <a:srgbClr val="000000"/>
                </a:solidFill>
                <a:latin typeface="Courier New"/>
                <a:cs typeface="Courier New"/>
              </a:rPr>
              <a:t> = </a:t>
            </a:r>
            <a:r>
              <a:rPr lang="en-US" sz="1600" err="1">
                <a:solidFill>
                  <a:srgbClr val="000000"/>
                </a:solidFill>
                <a:latin typeface="Courier New"/>
                <a:cs typeface="Courier New"/>
              </a:rPr>
              <a:t>dlsym</a:t>
            </a:r>
            <a:r>
              <a:rPr lang="en-US" sz="1600">
                <a:solidFill>
                  <a:srgbClr val="000000"/>
                </a:solidFill>
                <a:latin typeface="Courier New"/>
                <a:cs typeface="Courier New"/>
              </a:rPr>
              <a:t>(RTLD_NEXT, </a:t>
            </a:r>
            <a:r>
              <a:rPr lang="en-US" sz="1600">
                <a:solidFill>
                  <a:srgbClr val="9D206F"/>
                </a:solidFill>
                <a:latin typeface="Courier New"/>
                <a:cs typeface="Courier New"/>
              </a:rPr>
              <a:t>"free"</a:t>
            </a:r>
            <a:r>
              <a:rPr lang="en-US" sz="1600">
                <a:solidFill>
                  <a:srgbClr val="000000"/>
                </a:solidFill>
                <a:latin typeface="Courier New"/>
                <a:cs typeface="Courier New"/>
              </a:rPr>
              <a:t>); </a:t>
            </a:r>
            <a:r>
              <a:rPr lang="en-US" sz="1600">
                <a:solidFill>
                  <a:srgbClr val="CB2418"/>
                </a:solidFill>
                <a:latin typeface="Courier New"/>
                <a:cs typeface="Courier New"/>
              </a:rPr>
              <a:t>/* Get address of </a:t>
            </a:r>
            <a:r>
              <a:rPr lang="en-US" sz="1600" err="1">
                <a:solidFill>
                  <a:srgbClr val="CB2418"/>
                </a:solidFill>
                <a:latin typeface="Courier New"/>
                <a:cs typeface="Courier New"/>
              </a:rPr>
              <a:t>libc</a:t>
            </a:r>
            <a:r>
              <a:rPr lang="en-US" sz="1600">
                <a:solidFill>
                  <a:srgbClr val="CB2418"/>
                </a:solidFill>
                <a:latin typeface="Courier New"/>
                <a:cs typeface="Courier New"/>
              </a:rPr>
              <a:t> free */</a:t>
            </a:r>
            <a:endParaRPr lang="en-US" sz="1600">
              <a:solidFill>
                <a:srgbClr val="000000"/>
              </a:solidFill>
              <a:latin typeface="Courier New"/>
              <a:cs typeface="Courier New"/>
            </a:endParaRPr>
          </a:p>
          <a:p>
            <a:r>
              <a:rPr lang="en-US" sz="1600">
                <a:solidFill>
                  <a:srgbClr val="000000"/>
                </a:solidFill>
                <a:latin typeface="Courier New"/>
                <a:cs typeface="Courier New"/>
              </a:rPr>
              <a:t>    </a:t>
            </a:r>
            <a:r>
              <a:rPr lang="en-US" sz="1600">
                <a:solidFill>
                  <a:srgbClr val="C200FF"/>
                </a:solidFill>
                <a:latin typeface="Courier New"/>
                <a:cs typeface="Courier New"/>
              </a:rPr>
              <a:t>if</a:t>
            </a:r>
            <a:r>
              <a:rPr lang="en-US" sz="1600">
                <a:solidFill>
                  <a:srgbClr val="000000"/>
                </a:solidFill>
                <a:latin typeface="Courier New"/>
                <a:cs typeface="Courier New"/>
              </a:rPr>
              <a:t> ((error = </a:t>
            </a:r>
            <a:r>
              <a:rPr lang="en-US" sz="1600" err="1">
                <a:solidFill>
                  <a:srgbClr val="000000"/>
                </a:solidFill>
                <a:latin typeface="Courier New"/>
                <a:cs typeface="Courier New"/>
              </a:rPr>
              <a:t>dlerror</a:t>
            </a:r>
            <a:r>
              <a:rPr lang="en-US" sz="1600">
                <a:solidFill>
                  <a:srgbClr val="000000"/>
                </a:solidFill>
                <a:latin typeface="Courier New"/>
                <a:cs typeface="Courier New"/>
              </a:rPr>
              <a:t>()) != </a:t>
            </a:r>
            <a:r>
              <a:rPr lang="en-US" sz="1600">
                <a:solidFill>
                  <a:srgbClr val="2C9290"/>
                </a:solidFill>
                <a:latin typeface="Courier New"/>
                <a:cs typeface="Courier New"/>
              </a:rPr>
              <a:t>NULL</a:t>
            </a:r>
            <a:r>
              <a:rPr lang="en-US" sz="1600">
                <a:solidFill>
                  <a:srgbClr val="000000"/>
                </a:solidFill>
                <a:latin typeface="Courier New"/>
                <a:cs typeface="Courier New"/>
              </a:rPr>
              <a:t>) {</a:t>
            </a:r>
          </a:p>
          <a:p>
            <a:r>
              <a:rPr lang="en-US" sz="1600">
                <a:solidFill>
                  <a:srgbClr val="000000"/>
                </a:solidFill>
                <a:latin typeface="Courier New"/>
                <a:cs typeface="Courier New"/>
              </a:rPr>
              <a:t>        </a:t>
            </a:r>
            <a:r>
              <a:rPr lang="en-US" sz="1600" err="1">
                <a:solidFill>
                  <a:srgbClr val="000000"/>
                </a:solidFill>
                <a:latin typeface="Courier New"/>
                <a:cs typeface="Courier New"/>
              </a:rPr>
              <a:t>fputs</a:t>
            </a:r>
            <a:r>
              <a:rPr lang="en-US" sz="1600">
                <a:solidFill>
                  <a:srgbClr val="000000"/>
                </a:solidFill>
                <a:latin typeface="Courier New"/>
                <a:cs typeface="Courier New"/>
              </a:rPr>
              <a:t>(error, </a:t>
            </a:r>
            <a:r>
              <a:rPr lang="en-US" sz="1600" err="1">
                <a:solidFill>
                  <a:srgbClr val="000000"/>
                </a:solidFill>
                <a:latin typeface="Courier New"/>
                <a:cs typeface="Courier New"/>
              </a:rPr>
              <a:t>stderr</a:t>
            </a:r>
            <a:r>
              <a:rPr lang="en-US" sz="1600">
                <a:solidFill>
                  <a:srgbClr val="000000"/>
                </a:solidFill>
                <a:latin typeface="Courier New"/>
                <a:cs typeface="Courier New"/>
              </a:rPr>
              <a:t>);</a:t>
            </a:r>
          </a:p>
          <a:p>
            <a:r>
              <a:rPr lang="en-US" sz="1600">
                <a:solidFill>
                  <a:srgbClr val="000000"/>
                </a:solidFill>
                <a:latin typeface="Courier New"/>
                <a:cs typeface="Courier New"/>
              </a:rPr>
              <a:t>        exit(1);</a:t>
            </a:r>
          </a:p>
          <a:p>
            <a:r>
              <a:rPr lang="en-US" sz="1600">
                <a:solidFill>
                  <a:srgbClr val="000000"/>
                </a:solidFill>
                <a:latin typeface="Courier New"/>
                <a:cs typeface="Courier New"/>
              </a:rPr>
              <a:t>    }</a:t>
            </a:r>
          </a:p>
          <a:p>
            <a:r>
              <a:rPr lang="en-US" sz="1600">
                <a:solidFill>
                  <a:srgbClr val="000000"/>
                </a:solidFill>
                <a:latin typeface="Courier New"/>
                <a:cs typeface="Courier New"/>
              </a:rPr>
              <a:t>    </a:t>
            </a:r>
            <a:r>
              <a:rPr lang="en-US" sz="1600" err="1">
                <a:solidFill>
                  <a:srgbClr val="000000"/>
                </a:solidFill>
                <a:latin typeface="Courier New"/>
                <a:cs typeface="Courier New"/>
              </a:rPr>
              <a:t>freep</a:t>
            </a:r>
            <a:r>
              <a:rPr lang="en-US" sz="1600">
                <a:solidFill>
                  <a:srgbClr val="000000"/>
                </a:solidFill>
                <a:latin typeface="Courier New"/>
                <a:cs typeface="Courier New"/>
              </a:rPr>
              <a:t>(</a:t>
            </a:r>
            <a:r>
              <a:rPr lang="en-US" sz="1600" err="1">
                <a:solidFill>
                  <a:srgbClr val="000000"/>
                </a:solidFill>
                <a:latin typeface="Courier New"/>
                <a:cs typeface="Courier New"/>
              </a:rPr>
              <a:t>ptr</a:t>
            </a:r>
            <a:r>
              <a:rPr lang="en-US" sz="1600">
                <a:solidFill>
                  <a:srgbClr val="000000"/>
                </a:solidFill>
                <a:latin typeface="Courier New"/>
                <a:cs typeface="Courier New"/>
              </a:rPr>
              <a:t>); </a:t>
            </a:r>
            <a:r>
              <a:rPr lang="en-US" sz="1600">
                <a:solidFill>
                  <a:srgbClr val="CB2418"/>
                </a:solidFill>
                <a:latin typeface="Courier New"/>
                <a:cs typeface="Courier New"/>
              </a:rPr>
              <a:t>/* Call </a:t>
            </a:r>
            <a:r>
              <a:rPr lang="en-US" sz="1600" err="1">
                <a:solidFill>
                  <a:srgbClr val="CB2418"/>
                </a:solidFill>
                <a:latin typeface="Courier New"/>
                <a:cs typeface="Courier New"/>
              </a:rPr>
              <a:t>libc</a:t>
            </a:r>
            <a:r>
              <a:rPr lang="en-US" sz="1600">
                <a:solidFill>
                  <a:srgbClr val="CB2418"/>
                </a:solidFill>
                <a:latin typeface="Courier New"/>
                <a:cs typeface="Courier New"/>
              </a:rPr>
              <a:t> free */</a:t>
            </a:r>
            <a:endParaRPr lang="en-US" sz="1600">
              <a:solidFill>
                <a:srgbClr val="000000"/>
              </a:solidFill>
              <a:latin typeface="Courier New"/>
              <a:cs typeface="Courier New"/>
            </a:endParaRPr>
          </a:p>
          <a:p>
            <a:r>
              <a:rPr lang="en-US" sz="1600">
                <a:solidFill>
                  <a:srgbClr val="000000"/>
                </a:solidFill>
                <a:latin typeface="Courier New"/>
                <a:cs typeface="Courier New"/>
              </a:rPr>
              <a:t>    </a:t>
            </a:r>
            <a:r>
              <a:rPr lang="en-US" sz="1600" err="1">
                <a:solidFill>
                  <a:srgbClr val="000000"/>
                </a:solidFill>
                <a:latin typeface="Courier New"/>
                <a:cs typeface="Courier New"/>
              </a:rPr>
              <a:t>printf</a:t>
            </a:r>
            <a:r>
              <a:rPr lang="en-US" sz="1600">
                <a:solidFill>
                  <a:srgbClr val="000000"/>
                </a:solidFill>
                <a:latin typeface="Courier New"/>
                <a:cs typeface="Courier New"/>
              </a:rPr>
              <a:t>(</a:t>
            </a:r>
            <a:r>
              <a:rPr lang="en-US" sz="1600">
                <a:solidFill>
                  <a:srgbClr val="9D206F"/>
                </a:solidFill>
                <a:latin typeface="Courier New"/>
                <a:cs typeface="Courier New"/>
              </a:rPr>
              <a:t>"free(%p)\n"</a:t>
            </a:r>
            <a:r>
              <a:rPr lang="en-US" sz="1600">
                <a:solidFill>
                  <a:srgbClr val="000000"/>
                </a:solidFill>
                <a:latin typeface="Courier New"/>
                <a:cs typeface="Courier New"/>
              </a:rPr>
              <a:t>, </a:t>
            </a:r>
            <a:r>
              <a:rPr lang="en-US" sz="1600" err="1">
                <a:solidFill>
                  <a:srgbClr val="000000"/>
                </a:solidFill>
                <a:latin typeface="Courier New"/>
                <a:cs typeface="Courier New"/>
              </a:rPr>
              <a:t>ptr</a:t>
            </a:r>
            <a:r>
              <a:rPr lang="en-US" sz="1600">
                <a:solidFill>
                  <a:srgbClr val="000000"/>
                </a:solidFill>
                <a:latin typeface="Courier New"/>
                <a:cs typeface="Courier New"/>
              </a:rPr>
              <a:t>);</a:t>
            </a:r>
          </a:p>
          <a:p>
            <a:r>
              <a:rPr lang="en-US" sz="1600">
                <a:solidFill>
                  <a:srgbClr val="000000"/>
                </a:solidFill>
                <a:latin typeface="Courier New"/>
                <a:cs typeface="Courier New"/>
              </a:rPr>
              <a:t>}</a:t>
            </a:r>
          </a:p>
          <a:p>
            <a:r>
              <a:rPr lang="en-US" sz="1600">
                <a:solidFill>
                  <a:srgbClr val="926492"/>
                </a:solidFill>
                <a:latin typeface="Courier New"/>
                <a:cs typeface="Courier New"/>
              </a:rPr>
              <a:t>#</a:t>
            </a:r>
            <a:r>
              <a:rPr lang="en-US" sz="1600" err="1">
                <a:solidFill>
                  <a:srgbClr val="926492"/>
                </a:solidFill>
                <a:latin typeface="Courier New"/>
                <a:cs typeface="Courier New"/>
              </a:rPr>
              <a:t>endif</a:t>
            </a:r>
            <a:endParaRPr lang="en-US" sz="1600">
              <a:latin typeface="Courier New"/>
              <a:cs typeface="Courier New"/>
            </a:endParaRPr>
          </a:p>
        </p:txBody>
      </p:sp>
      <p:sp>
        <p:nvSpPr>
          <p:cNvPr id="6" name="TextBox 5"/>
          <p:cNvSpPr txBox="1"/>
          <p:nvPr/>
        </p:nvSpPr>
        <p:spPr>
          <a:xfrm>
            <a:off x="6812114" y="5955268"/>
            <a:ext cx="1569886" cy="369332"/>
          </a:xfrm>
          <a:prstGeom prst="rect">
            <a:avLst/>
          </a:prstGeom>
          <a:noFill/>
        </p:spPr>
        <p:txBody>
          <a:bodyPr wrap="none" rtlCol="0">
            <a:spAutoFit/>
          </a:bodyPr>
          <a:lstStyle/>
          <a:p>
            <a:r>
              <a:rPr lang="en-US" sz="1800" err="1" smtClean="0">
                <a:solidFill>
                  <a:srgbClr val="7F7F7F"/>
                </a:solidFill>
                <a:latin typeface="Courier New"/>
                <a:cs typeface="Courier New"/>
              </a:rPr>
              <a:t>mymalloc.c</a:t>
            </a:r>
            <a:endParaRPr lang="en-US" sz="1800" smtClean="0">
              <a:solidFill>
                <a:srgbClr val="7F7F7F"/>
              </a:solidFill>
              <a:latin typeface="Courier New"/>
              <a:cs typeface="Courier New"/>
            </a:endParaRPr>
          </a:p>
        </p:txBody>
      </p:sp>
    </p:spTree>
    <p:extLst>
      <p:ext uri="{BB962C8B-B14F-4D97-AF65-F5344CB8AC3E}">
        <p14:creationId xmlns:p14="http://schemas.microsoft.com/office/powerpoint/2010/main" val="3414888605"/>
      </p:ext>
    </p:extLst>
  </p:cSld>
  <p:clrMapOvr>
    <a:masterClrMapping/>
  </p:clrMapOvr>
  <p:timing>
    <p:tnLst>
      <p:par>
        <p:cTn xmlns:p14="http://schemas.microsoft.com/office/powerpoint/2010/mai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Load/Run-time </a:t>
            </a:r>
            <a:r>
              <a:rPr lang="en-US" err="1" smtClean="0"/>
              <a:t>Interpositioning</a:t>
            </a:r>
            <a:endParaRPr lang="en-US"/>
          </a:p>
        </p:txBody>
      </p:sp>
      <p:sp>
        <p:nvSpPr>
          <p:cNvPr id="3" name="Content Placeholder 2"/>
          <p:cNvSpPr>
            <a:spLocks noGrp="1"/>
          </p:cNvSpPr>
          <p:nvPr>
            <p:ph idx="1"/>
          </p:nvPr>
        </p:nvSpPr>
        <p:spPr>
          <a:xfrm>
            <a:off x="152401" y="4114800"/>
            <a:ext cx="8991599" cy="2362200"/>
          </a:xfrm>
        </p:spPr>
        <p:txBody>
          <a:bodyPr/>
          <a:lstStyle/>
          <a:p>
            <a:r>
              <a:rPr lang="en-US" smtClean="0"/>
              <a:t> </a:t>
            </a:r>
            <a:r>
              <a:rPr lang="en-US" smtClean="0">
                <a:latin typeface="Courier New"/>
                <a:cs typeface="Courier New"/>
              </a:rPr>
              <a:t>The LD_PRELOAD </a:t>
            </a:r>
            <a:r>
              <a:rPr lang="en-US" smtClean="0"/>
              <a:t>environment variable tells the dynamic linker to resolve unresolved refs (e.g., to </a:t>
            </a:r>
            <a:r>
              <a:rPr lang="en-US" err="1" smtClean="0">
                <a:latin typeface="Courier New"/>
                <a:cs typeface="Courier New"/>
              </a:rPr>
              <a:t>malloc</a:t>
            </a:r>
            <a:r>
              <a:rPr lang="en-US" smtClean="0">
                <a:latin typeface="Courier New"/>
                <a:cs typeface="Courier New"/>
              </a:rPr>
              <a:t>)</a:t>
            </a:r>
            <a:r>
              <a:rPr lang="en-US" smtClean="0"/>
              <a:t>by looking in </a:t>
            </a:r>
            <a:r>
              <a:rPr lang="en-US" err="1" smtClean="0">
                <a:latin typeface="Courier New"/>
                <a:cs typeface="Courier New"/>
              </a:rPr>
              <a:t>mymalloc.so</a:t>
            </a:r>
            <a:r>
              <a:rPr lang="en-US" smtClean="0"/>
              <a:t> first.</a:t>
            </a:r>
          </a:p>
          <a:p>
            <a:r>
              <a:rPr lang="en-US" smtClean="0"/>
              <a:t>Type into (some) shells as:</a:t>
            </a:r>
          </a:p>
          <a:p>
            <a:pPr marL="57150" indent="0">
              <a:buNone/>
            </a:pPr>
            <a:r>
              <a:rPr lang="en-US" sz="2000" b="0" smtClean="0">
                <a:latin typeface="Courier New"/>
                <a:cs typeface="Courier New"/>
              </a:rPr>
              <a:t>(</a:t>
            </a:r>
            <a:r>
              <a:rPr lang="en-US" sz="2000" b="0" err="1" smtClean="0">
                <a:latin typeface="Courier New"/>
                <a:cs typeface="Courier New"/>
              </a:rPr>
              <a:t>setenv</a:t>
            </a:r>
            <a:r>
              <a:rPr lang="en-US" sz="2000" b="0" smtClean="0">
                <a:latin typeface="Courier New"/>
                <a:cs typeface="Courier New"/>
              </a:rPr>
              <a:t> LD_PRELOAD "</a:t>
            </a:r>
            <a:r>
              <a:rPr lang="en-US" sz="2000" b="0">
                <a:latin typeface="Courier New"/>
                <a:cs typeface="Courier New"/>
              </a:rPr>
              <a:t>./</a:t>
            </a:r>
            <a:r>
              <a:rPr lang="en-US" sz="2000" b="0" err="1" smtClean="0">
                <a:latin typeface="Courier New"/>
                <a:cs typeface="Courier New"/>
              </a:rPr>
              <a:t>mymalloc.so</a:t>
            </a:r>
            <a:r>
              <a:rPr lang="en-US" sz="2000" b="0">
                <a:latin typeface="Courier New"/>
                <a:cs typeface="Courier New"/>
              </a:rPr>
              <a:t>"</a:t>
            </a:r>
            <a:r>
              <a:rPr lang="en-US" sz="2000" b="0" smtClean="0">
                <a:latin typeface="Courier New"/>
                <a:cs typeface="Courier New"/>
              </a:rPr>
              <a:t>; </a:t>
            </a:r>
            <a:r>
              <a:rPr lang="en-US" sz="2000" b="0">
                <a:latin typeface="Courier New"/>
                <a:cs typeface="Courier New"/>
              </a:rPr>
              <a:t>./</a:t>
            </a:r>
            <a:r>
              <a:rPr lang="en-US" sz="2000" b="0" err="1">
                <a:latin typeface="Courier New"/>
                <a:cs typeface="Courier New"/>
              </a:rPr>
              <a:t>intr</a:t>
            </a:r>
            <a:r>
              <a:rPr lang="en-US" sz="2000" b="0">
                <a:latin typeface="Courier New"/>
                <a:cs typeface="Courier New"/>
              </a:rPr>
              <a:t> 10 </a:t>
            </a:r>
            <a:r>
              <a:rPr lang="en-US" sz="2000" b="0" smtClean="0">
                <a:latin typeface="Courier New"/>
                <a:cs typeface="Courier New"/>
              </a:rPr>
              <a:t>100 1000</a:t>
            </a:r>
            <a:r>
              <a:rPr lang="en-US" sz="2000" b="0">
                <a:latin typeface="Courier New"/>
                <a:cs typeface="Courier New"/>
              </a:rPr>
              <a:t>)</a:t>
            </a:r>
          </a:p>
          <a:p>
            <a:pPr lvl="1"/>
            <a:endParaRPr lang="en-US" smtClean="0"/>
          </a:p>
          <a:p>
            <a:endParaRPr lang="en-US" smtClean="0"/>
          </a:p>
        </p:txBody>
      </p:sp>
      <p:sp>
        <p:nvSpPr>
          <p:cNvPr id="6" name="Rectangle 5"/>
          <p:cNvSpPr/>
          <p:nvPr/>
        </p:nvSpPr>
        <p:spPr>
          <a:xfrm>
            <a:off x="152402" y="1300877"/>
            <a:ext cx="8991598" cy="2585323"/>
          </a:xfrm>
          <a:prstGeom prst="rect">
            <a:avLst/>
          </a:prstGeom>
          <a:solidFill>
            <a:srgbClr val="E6E6E6"/>
          </a:solidFill>
          <a:ln w="28575" cap="flat" cmpd="sng" algn="ctr">
            <a:solidFill>
              <a:schemeClr val="tx1"/>
            </a:solidFill>
            <a:prstDash val="solid"/>
            <a:round/>
            <a:headEnd type="none" w="med" len="med"/>
            <a:tailEnd type="none" w="med" len="med"/>
          </a:ln>
        </p:spPr>
        <p:txBody>
          <a:bodyPr wrap="square">
            <a:spAutoFit/>
          </a:bodyPr>
          <a:lstStyle/>
          <a:p>
            <a:r>
              <a:rPr lang="en-US" sz="1800" err="1" smtClean="0">
                <a:latin typeface="Courier New"/>
                <a:cs typeface="Courier New"/>
              </a:rPr>
              <a:t>linux</a:t>
            </a:r>
            <a:r>
              <a:rPr lang="en-US" sz="1800" smtClean="0">
                <a:latin typeface="Courier New"/>
                <a:cs typeface="Courier New"/>
              </a:rPr>
              <a:t>&gt; </a:t>
            </a:r>
            <a:r>
              <a:rPr lang="en-US" sz="1800">
                <a:latin typeface="Courier New"/>
                <a:cs typeface="Courier New"/>
              </a:rPr>
              <a:t>make </a:t>
            </a:r>
            <a:r>
              <a:rPr lang="en-US" sz="1800" err="1">
                <a:latin typeface="Courier New"/>
                <a:cs typeface="Courier New"/>
              </a:rPr>
              <a:t>intr</a:t>
            </a:r>
            <a:endParaRPr lang="en-US" sz="1800" b="0">
              <a:latin typeface="Courier New"/>
              <a:cs typeface="Courier New"/>
            </a:endParaRPr>
          </a:p>
          <a:p>
            <a:r>
              <a:rPr lang="en-US" sz="1800" b="0" err="1">
                <a:latin typeface="Courier New"/>
                <a:cs typeface="Courier New"/>
              </a:rPr>
              <a:t>gcc</a:t>
            </a:r>
            <a:r>
              <a:rPr lang="en-US" sz="1800" b="0">
                <a:latin typeface="Courier New"/>
                <a:cs typeface="Courier New"/>
              </a:rPr>
              <a:t> -Wall -DRUNTIME -shared -</a:t>
            </a:r>
            <a:r>
              <a:rPr lang="en-US" sz="1800" b="0" err="1">
                <a:latin typeface="Courier New"/>
                <a:cs typeface="Courier New"/>
              </a:rPr>
              <a:t>fpic</a:t>
            </a:r>
            <a:r>
              <a:rPr lang="en-US" sz="1800" b="0">
                <a:latin typeface="Courier New"/>
                <a:cs typeface="Courier New"/>
              </a:rPr>
              <a:t> -o </a:t>
            </a:r>
            <a:r>
              <a:rPr lang="en-US" sz="1800" b="0" err="1">
                <a:latin typeface="Courier New"/>
                <a:cs typeface="Courier New"/>
              </a:rPr>
              <a:t>mymalloc.so</a:t>
            </a:r>
            <a:r>
              <a:rPr lang="en-US" sz="1800" b="0">
                <a:latin typeface="Courier New"/>
                <a:cs typeface="Courier New"/>
              </a:rPr>
              <a:t> </a:t>
            </a:r>
            <a:r>
              <a:rPr lang="en-US" sz="1800" b="0" err="1">
                <a:latin typeface="Courier New"/>
                <a:cs typeface="Courier New"/>
              </a:rPr>
              <a:t>mymalloc.c</a:t>
            </a:r>
            <a:r>
              <a:rPr lang="en-US" sz="1800" b="0">
                <a:latin typeface="Courier New"/>
                <a:cs typeface="Courier New"/>
              </a:rPr>
              <a:t> -</a:t>
            </a:r>
            <a:r>
              <a:rPr lang="en-US" sz="1800" b="0" err="1">
                <a:latin typeface="Courier New"/>
                <a:cs typeface="Courier New"/>
              </a:rPr>
              <a:t>ldl</a:t>
            </a:r>
            <a:endParaRPr lang="en-US" sz="1800" b="0">
              <a:latin typeface="Courier New"/>
              <a:cs typeface="Courier New"/>
            </a:endParaRPr>
          </a:p>
          <a:p>
            <a:r>
              <a:rPr lang="en-US" sz="1800" b="0" err="1">
                <a:latin typeface="Courier New"/>
                <a:cs typeface="Courier New"/>
              </a:rPr>
              <a:t>gcc</a:t>
            </a:r>
            <a:r>
              <a:rPr lang="en-US" sz="1800" b="0">
                <a:latin typeface="Courier New"/>
                <a:cs typeface="Courier New"/>
              </a:rPr>
              <a:t> -Wall -o </a:t>
            </a:r>
            <a:r>
              <a:rPr lang="en-US" sz="1800" b="0" err="1">
                <a:latin typeface="Courier New"/>
                <a:cs typeface="Courier New"/>
              </a:rPr>
              <a:t>intr</a:t>
            </a:r>
            <a:r>
              <a:rPr lang="en-US" sz="1800" b="0">
                <a:latin typeface="Courier New"/>
                <a:cs typeface="Courier New"/>
              </a:rPr>
              <a:t> </a:t>
            </a:r>
            <a:r>
              <a:rPr lang="en-US" sz="1800" b="0" err="1">
                <a:latin typeface="Courier New"/>
                <a:cs typeface="Courier New"/>
              </a:rPr>
              <a:t>int.c</a:t>
            </a:r>
            <a:endParaRPr lang="en-US" sz="1800" b="0">
              <a:latin typeface="Courier New"/>
              <a:cs typeface="Courier New"/>
            </a:endParaRPr>
          </a:p>
          <a:p>
            <a:r>
              <a:rPr lang="en-US" sz="1800" err="1" smtClean="0">
                <a:latin typeface="Courier New"/>
                <a:cs typeface="Courier New"/>
              </a:rPr>
              <a:t>linux</a:t>
            </a:r>
            <a:r>
              <a:rPr lang="en-US" sz="1800" smtClean="0">
                <a:latin typeface="Courier New"/>
                <a:cs typeface="Courier New"/>
              </a:rPr>
              <a:t>&gt; </a:t>
            </a:r>
            <a:r>
              <a:rPr lang="en-US" sz="1800">
                <a:latin typeface="Courier New"/>
                <a:cs typeface="Courier New"/>
              </a:rPr>
              <a:t>make </a:t>
            </a:r>
            <a:r>
              <a:rPr lang="en-US" sz="1800" err="1">
                <a:latin typeface="Courier New"/>
                <a:cs typeface="Courier New"/>
              </a:rPr>
              <a:t>runr</a:t>
            </a:r>
            <a:endParaRPr lang="en-US" sz="1800">
              <a:latin typeface="Courier New"/>
              <a:cs typeface="Courier New"/>
            </a:endParaRPr>
          </a:p>
          <a:p>
            <a:r>
              <a:rPr lang="en-US" sz="1800" b="0">
                <a:latin typeface="Courier New"/>
                <a:cs typeface="Courier New"/>
              </a:rPr>
              <a:t>(LD_PRELOAD="./</a:t>
            </a:r>
            <a:r>
              <a:rPr lang="en-US" sz="1800" b="0" err="1">
                <a:latin typeface="Courier New"/>
                <a:cs typeface="Courier New"/>
              </a:rPr>
              <a:t>mymalloc.so</a:t>
            </a:r>
            <a:r>
              <a:rPr lang="en-US" sz="1800" b="0">
                <a:latin typeface="Courier New"/>
                <a:cs typeface="Courier New"/>
              </a:rPr>
              <a:t>" ./</a:t>
            </a:r>
            <a:r>
              <a:rPr lang="en-US" sz="1800" b="0" err="1" smtClean="0">
                <a:latin typeface="Courier New"/>
                <a:cs typeface="Courier New"/>
              </a:rPr>
              <a:t>intr</a:t>
            </a:r>
            <a:r>
              <a:rPr lang="en-US" sz="1800" b="0" smtClean="0">
                <a:latin typeface="Courier New"/>
                <a:cs typeface="Courier New"/>
              </a:rPr>
              <a:t> 10 100 1000)</a:t>
            </a:r>
            <a:endParaRPr lang="en-US" sz="1800" b="0">
              <a:latin typeface="Courier New"/>
              <a:cs typeface="Courier New"/>
            </a:endParaRPr>
          </a:p>
          <a:p>
            <a:r>
              <a:rPr lang="fi-FI" sz="1800" b="0">
                <a:latin typeface="Courier New"/>
                <a:cs typeface="Courier New"/>
              </a:rPr>
              <a:t>malloc(10) = 0x91a010</a:t>
            </a:r>
          </a:p>
          <a:p>
            <a:r>
              <a:rPr lang="en-US" sz="1800" b="0">
                <a:latin typeface="Courier New"/>
                <a:cs typeface="Courier New"/>
              </a:rPr>
              <a:t>free(0x91a010)</a:t>
            </a:r>
          </a:p>
          <a:p>
            <a:r>
              <a:rPr lang="en-US" sz="1800">
                <a:latin typeface="Courier New"/>
                <a:cs typeface="Courier New"/>
              </a:rPr>
              <a:t>. . . </a:t>
            </a:r>
          </a:p>
          <a:p>
            <a:r>
              <a:rPr lang="en-US" sz="1800" err="1" smtClean="0">
                <a:latin typeface="Courier New"/>
                <a:cs typeface="Courier New"/>
              </a:rPr>
              <a:t>linux</a:t>
            </a:r>
            <a:r>
              <a:rPr lang="en-US" sz="1800" smtClean="0">
                <a:latin typeface="Courier New"/>
                <a:cs typeface="Courier New"/>
              </a:rPr>
              <a:t>&gt;</a:t>
            </a:r>
            <a:endParaRPr lang="en-US" sz="1800">
              <a:latin typeface="Courier New"/>
              <a:cs typeface="Courier New"/>
            </a:endParaRPr>
          </a:p>
        </p:txBody>
      </p:sp>
      <p:sp>
        <p:nvSpPr>
          <p:cNvPr id="5" name="TextBox 4"/>
          <p:cNvSpPr txBox="1"/>
          <p:nvPr/>
        </p:nvSpPr>
        <p:spPr>
          <a:xfrm>
            <a:off x="4953000" y="2895600"/>
            <a:ext cx="3406514" cy="646331"/>
          </a:xfrm>
          <a:prstGeom prst="rect">
            <a:avLst/>
          </a:prstGeom>
          <a:solidFill>
            <a:srgbClr val="D5F1CF"/>
          </a:solidFill>
          <a:ln>
            <a:solidFill>
              <a:schemeClr val="tx1"/>
            </a:solidFill>
          </a:ln>
        </p:spPr>
        <p:txBody>
          <a:bodyPr wrap="none" rtlCol="0">
            <a:spAutoFit/>
          </a:bodyPr>
          <a:lstStyle/>
          <a:p>
            <a:r>
              <a:rPr lang="en-US" sz="1800" smtClean="0">
                <a:solidFill>
                  <a:srgbClr val="C00000"/>
                </a:solidFill>
                <a:latin typeface="Calibri" pitchFamily="34" charset="0"/>
              </a:rPr>
              <a:t>Search for </a:t>
            </a:r>
            <a:r>
              <a:rPr lang="en-US" sz="1800" smtClean="0">
                <a:solidFill>
                  <a:srgbClr val="C00000"/>
                </a:solidFill>
                <a:latin typeface="Courier New"/>
                <a:cs typeface="Courier New"/>
              </a:rPr>
              <a:t>&lt;</a:t>
            </a:r>
            <a:r>
              <a:rPr lang="en-US" sz="1800" err="1" smtClean="0">
                <a:solidFill>
                  <a:srgbClr val="C00000"/>
                </a:solidFill>
                <a:latin typeface="Courier New"/>
                <a:cs typeface="Courier New"/>
              </a:rPr>
              <a:t>malloc.h</a:t>
            </a:r>
            <a:r>
              <a:rPr lang="en-US" sz="1800" smtClean="0">
                <a:solidFill>
                  <a:srgbClr val="C00000"/>
                </a:solidFill>
                <a:latin typeface="Courier New"/>
                <a:cs typeface="Courier New"/>
              </a:rPr>
              <a:t>&gt;</a:t>
            </a:r>
            <a:r>
              <a:rPr lang="en-US" sz="1800" smtClean="0">
                <a:solidFill>
                  <a:srgbClr val="C00000"/>
                </a:solidFill>
                <a:latin typeface="Calibri" pitchFamily="34" charset="0"/>
              </a:rPr>
              <a:t> leads to</a:t>
            </a:r>
          </a:p>
          <a:p>
            <a:r>
              <a:rPr lang="en-US" sz="1800" smtClean="0">
                <a:solidFill>
                  <a:srgbClr val="C00000"/>
                </a:solidFill>
                <a:latin typeface="Courier New"/>
                <a:cs typeface="Courier New"/>
              </a:rPr>
              <a:t>/</a:t>
            </a:r>
            <a:r>
              <a:rPr lang="en-US" sz="1800" err="1" smtClean="0">
                <a:solidFill>
                  <a:srgbClr val="C00000"/>
                </a:solidFill>
                <a:latin typeface="Courier New"/>
                <a:cs typeface="Courier New"/>
              </a:rPr>
              <a:t>usr</a:t>
            </a:r>
            <a:r>
              <a:rPr lang="en-US" sz="1800" smtClean="0">
                <a:solidFill>
                  <a:srgbClr val="C00000"/>
                </a:solidFill>
                <a:latin typeface="Courier New"/>
                <a:cs typeface="Courier New"/>
              </a:rPr>
              <a:t>/include/</a:t>
            </a:r>
            <a:r>
              <a:rPr lang="en-US" sz="1800" err="1" smtClean="0">
                <a:solidFill>
                  <a:srgbClr val="C00000"/>
                </a:solidFill>
                <a:latin typeface="Courier New"/>
                <a:cs typeface="Courier New"/>
              </a:rPr>
              <a:t>malloc.h</a:t>
            </a:r>
            <a:endParaRPr lang="en-US" sz="1800" smtClean="0">
              <a:solidFill>
                <a:srgbClr val="C00000"/>
              </a:solidFill>
              <a:latin typeface="Courier New"/>
              <a:cs typeface="Courier New"/>
            </a:endParaRPr>
          </a:p>
        </p:txBody>
      </p:sp>
      <p:cxnSp>
        <p:nvCxnSpPr>
          <p:cNvPr id="7" name="Straight Arrow Connector 6"/>
          <p:cNvCxnSpPr/>
          <p:nvPr/>
        </p:nvCxnSpPr>
        <p:spPr bwMode="auto">
          <a:xfrm>
            <a:off x="3581400" y="2057400"/>
            <a:ext cx="1371600" cy="838200"/>
          </a:xfrm>
          <a:prstGeom prst="straightConnector1">
            <a:avLst/>
          </a:prstGeom>
          <a:noFill/>
          <a:ln w="25400" cap="flat" cmpd="sng" algn="ctr">
            <a:solidFill>
              <a:schemeClr val="tx1"/>
            </a:solidFill>
            <a:prstDash val="solid"/>
            <a:round/>
            <a:headEnd type="none" w="med" len="med"/>
            <a:tailEnd type="arrow"/>
          </a:ln>
          <a:effectLst/>
        </p:spPr>
      </p:cxnSp>
    </p:spTree>
    <p:extLst>
      <p:ext uri="{BB962C8B-B14F-4D97-AF65-F5344CB8AC3E}">
        <p14:creationId xmlns:p14="http://schemas.microsoft.com/office/powerpoint/2010/main" val="4017997290"/>
      </p:ext>
    </p:extLst>
  </p:cSld>
  <p:clrMapOvr>
    <a:masterClrMapping/>
  </p:clrMapOvr>
  <p:timing>
    <p:tnLst>
      <p:par>
        <p:cTn xmlns:p14="http://schemas.microsoft.com/office/powerpoint/2010/mai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smtClean="0"/>
              <a:t>Interpositioning</a:t>
            </a:r>
            <a:r>
              <a:rPr lang="en-US" smtClean="0"/>
              <a:t> Recap</a:t>
            </a:r>
            <a:endParaRPr lang="en-US"/>
          </a:p>
        </p:txBody>
      </p:sp>
      <p:sp>
        <p:nvSpPr>
          <p:cNvPr id="3" name="Content Placeholder 2"/>
          <p:cNvSpPr>
            <a:spLocks noGrp="1"/>
          </p:cNvSpPr>
          <p:nvPr>
            <p:ph idx="1"/>
          </p:nvPr>
        </p:nvSpPr>
        <p:spPr/>
        <p:txBody>
          <a:bodyPr/>
          <a:lstStyle/>
          <a:p>
            <a:r>
              <a:rPr lang="en-US" smtClean="0"/>
              <a:t>Compile Time</a:t>
            </a:r>
          </a:p>
          <a:p>
            <a:pPr lvl="1"/>
            <a:r>
              <a:rPr lang="en-US" smtClean="0"/>
              <a:t>Apparent calls to </a:t>
            </a:r>
            <a:r>
              <a:rPr lang="en-US" b="1" err="1" smtClean="0">
                <a:latin typeface="Courier New"/>
                <a:cs typeface="Courier New"/>
              </a:rPr>
              <a:t>mallo</a:t>
            </a:r>
            <a:r>
              <a:rPr lang="en-US" err="1" smtClean="0"/>
              <a:t>c</a:t>
            </a:r>
            <a:r>
              <a:rPr lang="en-US" smtClean="0"/>
              <a:t>/</a:t>
            </a:r>
            <a:r>
              <a:rPr lang="en-US" b="1" smtClean="0">
                <a:latin typeface="Courier New"/>
                <a:cs typeface="Courier New"/>
              </a:rPr>
              <a:t>free</a:t>
            </a:r>
            <a:r>
              <a:rPr lang="en-US" smtClean="0"/>
              <a:t> get macro-expanded into calls to </a:t>
            </a:r>
            <a:r>
              <a:rPr lang="en-US" b="1" err="1" smtClean="0">
                <a:latin typeface="Courier New"/>
                <a:cs typeface="Courier New"/>
              </a:rPr>
              <a:t>mymalloc</a:t>
            </a:r>
            <a:r>
              <a:rPr lang="en-US" smtClean="0"/>
              <a:t>/</a:t>
            </a:r>
            <a:r>
              <a:rPr lang="en-US" b="1" err="1" smtClean="0">
                <a:latin typeface="Courier New"/>
                <a:cs typeface="Courier New"/>
              </a:rPr>
              <a:t>myfree</a:t>
            </a:r>
            <a:endParaRPr lang="en-US" b="1" smtClean="0">
              <a:latin typeface="Courier New"/>
              <a:cs typeface="Courier New"/>
            </a:endParaRPr>
          </a:p>
          <a:p>
            <a:pPr lvl="1"/>
            <a:r>
              <a:rPr lang="en-US" smtClean="0"/>
              <a:t>Simple approach.  Must have access to source &amp; recompile</a:t>
            </a:r>
            <a:endParaRPr lang="en-US" b="1" smtClean="0">
              <a:latin typeface="Courier New"/>
              <a:cs typeface="Courier New"/>
            </a:endParaRPr>
          </a:p>
          <a:p>
            <a:r>
              <a:rPr lang="en-US" smtClean="0"/>
              <a:t>Link Time</a:t>
            </a:r>
          </a:p>
          <a:p>
            <a:pPr lvl="1"/>
            <a:r>
              <a:rPr lang="en-US" smtClean="0"/>
              <a:t>Use linker trick to have special name resolutions</a:t>
            </a:r>
          </a:p>
          <a:p>
            <a:pPr lvl="2"/>
            <a:r>
              <a:rPr lang="en-US" b="1" err="1" smtClean="0">
                <a:latin typeface="Courier New"/>
                <a:cs typeface="Courier New"/>
              </a:rPr>
              <a:t>malloc</a:t>
            </a:r>
            <a:r>
              <a:rPr lang="en-US" b="1" smtClean="0">
                <a:latin typeface="Courier New"/>
                <a:cs typeface="Courier New"/>
              </a:rPr>
              <a:t> </a:t>
            </a:r>
            <a:r>
              <a:rPr lang="en-US" smtClean="0">
                <a:sym typeface="Wingdings" pitchFamily="2" charset="2"/>
              </a:rPr>
              <a:t> </a:t>
            </a:r>
            <a:r>
              <a:rPr lang="en-US" b="1" smtClean="0">
                <a:latin typeface="Courier New"/>
                <a:cs typeface="Courier New"/>
                <a:sym typeface="Wingdings" pitchFamily="2" charset="2"/>
              </a:rPr>
              <a:t>__</a:t>
            </a:r>
            <a:r>
              <a:rPr lang="en-US" b="1" err="1" smtClean="0">
                <a:latin typeface="Courier New"/>
                <a:cs typeface="Courier New"/>
                <a:sym typeface="Wingdings" pitchFamily="2" charset="2"/>
              </a:rPr>
              <a:t>wrap_malloc</a:t>
            </a:r>
            <a:endParaRPr lang="en-US" b="1" smtClean="0">
              <a:latin typeface="Courier New"/>
              <a:cs typeface="Courier New"/>
              <a:sym typeface="Wingdings" pitchFamily="2" charset="2"/>
            </a:endParaRPr>
          </a:p>
          <a:p>
            <a:pPr lvl="2"/>
            <a:r>
              <a:rPr lang="en-US" b="1" smtClean="0">
                <a:latin typeface="Courier New"/>
                <a:cs typeface="Courier New"/>
                <a:sym typeface="Wingdings" pitchFamily="2" charset="2"/>
              </a:rPr>
              <a:t>__</a:t>
            </a:r>
            <a:r>
              <a:rPr lang="en-US" b="1" err="1" smtClean="0">
                <a:latin typeface="Courier New"/>
                <a:cs typeface="Courier New"/>
                <a:sym typeface="Wingdings" pitchFamily="2" charset="2"/>
              </a:rPr>
              <a:t>real_malloc</a:t>
            </a:r>
            <a:r>
              <a:rPr lang="en-US" smtClean="0">
                <a:sym typeface="Wingdings" pitchFamily="2" charset="2"/>
              </a:rPr>
              <a:t>  </a:t>
            </a:r>
            <a:r>
              <a:rPr lang="en-US" b="1" err="1" smtClean="0">
                <a:latin typeface="Courier New"/>
                <a:cs typeface="Courier New"/>
                <a:sym typeface="Wingdings" pitchFamily="2" charset="2"/>
              </a:rPr>
              <a:t>malloc</a:t>
            </a:r>
            <a:endParaRPr lang="en-US" b="1" smtClean="0">
              <a:latin typeface="Courier New"/>
              <a:cs typeface="Courier New"/>
              <a:sym typeface="Wingdings" pitchFamily="2" charset="2"/>
            </a:endParaRPr>
          </a:p>
          <a:p>
            <a:r>
              <a:rPr lang="en-US" smtClean="0">
                <a:sym typeface="Wingdings" pitchFamily="2" charset="2"/>
              </a:rPr>
              <a:t>Load/Run Time</a:t>
            </a:r>
          </a:p>
          <a:p>
            <a:pPr lvl="1"/>
            <a:r>
              <a:rPr lang="en-US" smtClean="0">
                <a:sym typeface="Wingdings" pitchFamily="2" charset="2"/>
              </a:rPr>
              <a:t>Implement custom version of </a:t>
            </a:r>
            <a:r>
              <a:rPr lang="en-US" b="1" err="1" smtClean="0">
                <a:latin typeface="Courier New"/>
                <a:cs typeface="Courier New"/>
                <a:sym typeface="Wingdings" pitchFamily="2" charset="2"/>
              </a:rPr>
              <a:t>malloc</a:t>
            </a:r>
            <a:r>
              <a:rPr lang="en-US" smtClean="0">
                <a:sym typeface="Wingdings" pitchFamily="2" charset="2"/>
              </a:rPr>
              <a:t>/</a:t>
            </a:r>
            <a:r>
              <a:rPr lang="en-US" b="1" smtClean="0">
                <a:latin typeface="Courier New"/>
                <a:cs typeface="Courier New"/>
                <a:sym typeface="Wingdings" pitchFamily="2" charset="2"/>
              </a:rPr>
              <a:t>free</a:t>
            </a:r>
            <a:r>
              <a:rPr lang="en-US" smtClean="0">
                <a:sym typeface="Wingdings" pitchFamily="2" charset="2"/>
              </a:rPr>
              <a:t> that use dynamic linking to load library </a:t>
            </a:r>
            <a:r>
              <a:rPr lang="en-US" b="1" err="1" smtClean="0">
                <a:latin typeface="Courier New"/>
                <a:cs typeface="Courier New"/>
                <a:sym typeface="Wingdings" pitchFamily="2" charset="2"/>
              </a:rPr>
              <a:t>malloc</a:t>
            </a:r>
            <a:r>
              <a:rPr lang="en-US" smtClean="0">
                <a:sym typeface="Wingdings" pitchFamily="2" charset="2"/>
              </a:rPr>
              <a:t>/</a:t>
            </a:r>
            <a:r>
              <a:rPr lang="en-US" b="1" smtClean="0">
                <a:latin typeface="Courier New"/>
                <a:cs typeface="Courier New"/>
                <a:sym typeface="Wingdings" pitchFamily="2" charset="2"/>
              </a:rPr>
              <a:t>free</a:t>
            </a:r>
            <a:r>
              <a:rPr lang="en-US" smtClean="0">
                <a:sym typeface="Wingdings" pitchFamily="2" charset="2"/>
              </a:rPr>
              <a:t> under different names</a:t>
            </a:r>
          </a:p>
          <a:p>
            <a:pPr lvl="1"/>
            <a:r>
              <a:rPr lang="en-US" smtClean="0">
                <a:sym typeface="Wingdings" pitchFamily="2" charset="2"/>
              </a:rPr>
              <a:t>Can use with ANY dynamically linked binary</a:t>
            </a:r>
          </a:p>
          <a:p>
            <a:pPr marL="57150" indent="0">
              <a:buNone/>
            </a:pPr>
            <a:r>
              <a:rPr lang="en-US" sz="1800" b="0">
                <a:latin typeface="Courier New"/>
                <a:cs typeface="Courier New"/>
              </a:rPr>
              <a:t>(</a:t>
            </a:r>
            <a:r>
              <a:rPr lang="en-US" sz="1800" b="0" err="1">
                <a:latin typeface="Courier New"/>
                <a:cs typeface="Courier New"/>
              </a:rPr>
              <a:t>setenv</a:t>
            </a:r>
            <a:r>
              <a:rPr lang="en-US" sz="1800" b="0">
                <a:latin typeface="Courier New"/>
                <a:cs typeface="Courier New"/>
              </a:rPr>
              <a:t> LD_PRELOAD "./</a:t>
            </a:r>
            <a:r>
              <a:rPr lang="en-US" sz="1800" b="0" err="1">
                <a:latin typeface="Courier New"/>
                <a:cs typeface="Courier New"/>
              </a:rPr>
              <a:t>mymalloc.so</a:t>
            </a:r>
            <a:r>
              <a:rPr lang="en-US" sz="1800" b="0">
                <a:latin typeface="Courier New"/>
                <a:cs typeface="Courier New"/>
              </a:rPr>
              <a:t>"; </a:t>
            </a:r>
            <a:r>
              <a:rPr lang="en-US" sz="1800" b="0" err="1" smtClean="0">
                <a:latin typeface="Courier New"/>
                <a:cs typeface="Courier New"/>
              </a:rPr>
              <a:t>gcc</a:t>
            </a:r>
            <a:r>
              <a:rPr lang="en-US" sz="1800" b="0" smtClean="0">
                <a:latin typeface="Courier New"/>
                <a:cs typeface="Courier New"/>
              </a:rPr>
              <a:t> –c </a:t>
            </a:r>
            <a:r>
              <a:rPr lang="en-US" sz="1800" b="0" err="1" smtClean="0">
                <a:latin typeface="Courier New"/>
                <a:cs typeface="Courier New"/>
              </a:rPr>
              <a:t>int.c</a:t>
            </a:r>
            <a:r>
              <a:rPr lang="en-US" sz="1800" b="0" smtClean="0">
                <a:latin typeface="Courier New"/>
                <a:cs typeface="Courier New"/>
              </a:rPr>
              <a:t>)</a:t>
            </a:r>
            <a:endParaRPr lang="en-US" sz="1800" b="0">
              <a:latin typeface="Courier New"/>
              <a:cs typeface="Courier New"/>
            </a:endParaRPr>
          </a:p>
          <a:p>
            <a:pPr lvl="1"/>
            <a:endParaRPr lang="en-US"/>
          </a:p>
        </p:txBody>
      </p:sp>
    </p:spTree>
    <p:extLst>
      <p:ext uri="{BB962C8B-B14F-4D97-AF65-F5344CB8AC3E}">
        <p14:creationId xmlns:p14="http://schemas.microsoft.com/office/powerpoint/2010/main" val="4249916843"/>
      </p:ext>
    </p:extLst>
  </p:cSld>
  <p:clrMapOvr>
    <a:masterClrMapping/>
  </p:clrMapOvr>
  <p:timing>
    <p:tnLst>
      <p:par>
        <p:cTn xmlns:p14="http://schemas.microsoft.com/office/powerpoint/2010/mai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Linking Recap</a:t>
            </a:r>
            <a:endParaRPr lang="en-US"/>
          </a:p>
        </p:txBody>
      </p:sp>
      <p:sp>
        <p:nvSpPr>
          <p:cNvPr id="3" name="Content Placeholder 2"/>
          <p:cNvSpPr>
            <a:spLocks noGrp="1"/>
          </p:cNvSpPr>
          <p:nvPr>
            <p:ph idx="1"/>
          </p:nvPr>
        </p:nvSpPr>
        <p:spPr/>
        <p:txBody>
          <a:bodyPr/>
          <a:lstStyle/>
          <a:p>
            <a:r>
              <a:rPr lang="en-US" smtClean="0"/>
              <a:t>Usually: Just happens, no big deal</a:t>
            </a:r>
          </a:p>
          <a:p>
            <a:r>
              <a:rPr lang="en-US" smtClean="0"/>
              <a:t>Sometimes: Strange errors</a:t>
            </a:r>
          </a:p>
          <a:p>
            <a:pPr lvl="1"/>
            <a:r>
              <a:rPr lang="en-US" smtClean="0"/>
              <a:t>Bad symbol resolution</a:t>
            </a:r>
          </a:p>
          <a:p>
            <a:pPr lvl="1"/>
            <a:r>
              <a:rPr lang="en-US" smtClean="0"/>
              <a:t>Ordering dependence of linked .o, .a, and .so files</a:t>
            </a:r>
          </a:p>
          <a:p>
            <a:r>
              <a:rPr lang="en-US" smtClean="0"/>
              <a:t>For power users:</a:t>
            </a:r>
          </a:p>
          <a:p>
            <a:pPr lvl="1"/>
            <a:r>
              <a:rPr lang="en-US" err="1" smtClean="0"/>
              <a:t>Interpositioning</a:t>
            </a:r>
            <a:r>
              <a:rPr lang="en-US" smtClean="0"/>
              <a:t> to trace programs with &amp; without source</a:t>
            </a:r>
          </a:p>
          <a:p>
            <a:endParaRPr lang="en-US"/>
          </a:p>
        </p:txBody>
      </p:sp>
    </p:spTree>
    <p:extLst>
      <p:ext uri="{BB962C8B-B14F-4D97-AF65-F5344CB8AC3E}">
        <p14:creationId xmlns:p14="http://schemas.microsoft.com/office/powerpoint/2010/main" val="4223097680"/>
      </p:ext>
    </p:extLst>
  </p:cSld>
  <p:clrMapOvr>
    <a:masterClrMapping/>
  </p:clrMapOvr>
  <p:timing>
    <p:tnLst>
      <p:par>
        <p:cTn xmlns:p14="http://schemas.microsoft.com/office/powerpoint/2010/mai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15 Minute Break</a:t>
            </a:r>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2133034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pPr marL="0" indent="0">
              <a:lnSpc>
                <a:spcPct val="80000"/>
              </a:lnSpc>
              <a:buNone/>
            </a:pPr>
            <a:endParaRPr lang="en-US" sz="2800" dirty="0" smtClean="0"/>
          </a:p>
          <a:p>
            <a:r>
              <a:rPr lang="en-US" sz="2800" dirty="0" smtClean="0">
                <a:solidFill>
                  <a:schemeClr val="bg2">
                    <a:lumMod val="60000"/>
                    <a:lumOff val="40000"/>
                  </a:schemeClr>
                </a:solidFill>
              </a:rPr>
              <a:t>Linking</a:t>
            </a:r>
            <a:endParaRPr lang="en-US" dirty="0" smtClean="0">
              <a:solidFill>
                <a:schemeClr val="bg2">
                  <a:lumMod val="60000"/>
                  <a:lumOff val="40000"/>
                </a:schemeClr>
              </a:solidFill>
            </a:endParaRPr>
          </a:p>
          <a:p>
            <a:r>
              <a:rPr lang="en-US" sz="2800" dirty="0" smtClean="0"/>
              <a:t>Exceptional Control Flow</a:t>
            </a:r>
          </a:p>
          <a:p>
            <a:pPr lvl="1"/>
            <a:r>
              <a:rPr lang="en-US" dirty="0"/>
              <a:t>Exceptional Control Flow</a:t>
            </a:r>
          </a:p>
          <a:p>
            <a:pPr lvl="1"/>
            <a:r>
              <a:rPr lang="en-US" dirty="0">
                <a:solidFill>
                  <a:srgbClr val="B3B3B3"/>
                </a:solidFill>
              </a:rPr>
              <a:t>Exceptions</a:t>
            </a:r>
          </a:p>
          <a:p>
            <a:pPr lvl="1"/>
            <a:r>
              <a:rPr lang="en-US" dirty="0">
                <a:solidFill>
                  <a:srgbClr val="B3B3B3"/>
                </a:solidFill>
              </a:rPr>
              <a:t>Processes</a:t>
            </a:r>
          </a:p>
          <a:p>
            <a:pPr lvl="1"/>
            <a:r>
              <a:rPr lang="en-US" dirty="0">
                <a:solidFill>
                  <a:srgbClr val="B3B3B3"/>
                </a:solidFill>
              </a:rPr>
              <a:t>Process </a:t>
            </a:r>
            <a:r>
              <a:rPr lang="en-US" dirty="0" smtClean="0">
                <a:solidFill>
                  <a:srgbClr val="B3B3B3"/>
                </a:solidFill>
              </a:rPr>
              <a:t>Control</a:t>
            </a:r>
          </a:p>
          <a:p>
            <a:r>
              <a:rPr lang="en-US" sz="2800" dirty="0">
                <a:solidFill>
                  <a:srgbClr val="B3B3B3"/>
                </a:solidFill>
              </a:rPr>
              <a:t>Cache Lab</a:t>
            </a:r>
          </a:p>
          <a:p>
            <a:pPr marL="0" indent="0">
              <a:buNone/>
            </a:pPr>
            <a:endParaRPr lang="en-US" sz="2800" dirty="0">
              <a:solidFill>
                <a:schemeClr val="bg2">
                  <a:lumMod val="60000"/>
                  <a:lumOff val="40000"/>
                </a:schemeClr>
              </a:solidFill>
            </a:endParaRPr>
          </a:p>
          <a:p>
            <a:endParaRPr lang="en-US" dirty="0" smtClean="0">
              <a:solidFill>
                <a:srgbClr val="B3B3B3"/>
              </a:solidFill>
            </a:endParaRPr>
          </a:p>
          <a:p>
            <a:pPr marL="0" indent="0">
              <a:lnSpc>
                <a:spcPct val="80000"/>
              </a:lnSpc>
              <a:buNone/>
            </a:pPr>
            <a:endParaRPr lang="en-US" sz="2800" dirty="0" smtClean="0">
              <a:solidFill>
                <a:schemeClr val="bg2">
                  <a:lumMod val="60000"/>
                  <a:lumOff val="40000"/>
                </a:schemeClr>
              </a:solidFill>
            </a:endParaRPr>
          </a:p>
          <a:p>
            <a:endParaRPr lang="en-US" dirty="0">
              <a:solidFill>
                <a:schemeClr val="bg2">
                  <a:lumMod val="60000"/>
                  <a:lumOff val="40000"/>
                </a:schemeClr>
              </a:solidFill>
            </a:endParaRPr>
          </a:p>
          <a:p>
            <a:endParaRPr lang="en-US" dirty="0">
              <a:solidFill>
                <a:schemeClr val="bg1">
                  <a:lumMod val="75000"/>
                </a:schemeClr>
              </a:solidFill>
            </a:endParaRPr>
          </a:p>
        </p:txBody>
      </p:sp>
      <p:sp>
        <p:nvSpPr>
          <p:cNvPr id="4" name="TextBox 3"/>
          <p:cNvSpPr txBox="1"/>
          <p:nvPr/>
        </p:nvSpPr>
        <p:spPr>
          <a:xfrm>
            <a:off x="2851727" y="5657273"/>
            <a:ext cx="184666" cy="369332"/>
          </a:xfrm>
          <a:prstGeom prst="rect">
            <a:avLst/>
          </a:prstGeom>
          <a:noFill/>
        </p:spPr>
        <p:txBody>
          <a:bodyPr wrap="none" rtlCol="0">
            <a:spAutoFit/>
          </a:bodyPr>
          <a:lstStyle/>
          <a:p>
            <a:endParaRPr lang="en-US" sz="1800" dirty="0">
              <a:latin typeface="Calibri" pitchFamily="34" charset="0"/>
            </a:endParaRPr>
          </a:p>
        </p:txBody>
      </p:sp>
    </p:spTree>
    <p:extLst>
      <p:ext uri="{BB962C8B-B14F-4D97-AF65-F5344CB8AC3E}">
        <p14:creationId xmlns:p14="http://schemas.microsoft.com/office/powerpoint/2010/main" val="10620326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1026"/>
          <p:cNvSpPr>
            <a:spLocks noGrp="1" noChangeArrowheads="1"/>
          </p:cNvSpPr>
          <p:nvPr>
            <p:ph type="title"/>
          </p:nvPr>
        </p:nvSpPr>
        <p:spPr>
          <a:xfrm>
            <a:off x="431800" y="457200"/>
            <a:ext cx="4292600" cy="573088"/>
          </a:xfrm>
        </p:spPr>
        <p:txBody>
          <a:bodyPr/>
          <a:lstStyle/>
          <a:p>
            <a:r>
              <a:rPr lang="en-US"/>
              <a:t>Control Flow</a:t>
            </a:r>
          </a:p>
        </p:txBody>
      </p:sp>
      <p:sp>
        <p:nvSpPr>
          <p:cNvPr id="472067" name="Text Box 1027"/>
          <p:cNvSpPr txBox="1">
            <a:spLocks noChangeArrowheads="1"/>
          </p:cNvSpPr>
          <p:nvPr/>
        </p:nvSpPr>
        <p:spPr bwMode="auto">
          <a:xfrm>
            <a:off x="3190875" y="3460750"/>
            <a:ext cx="1774012" cy="2677656"/>
          </a:xfrm>
          <a:prstGeom prst="rect">
            <a:avLst/>
          </a:prstGeom>
          <a:noFill/>
          <a:ln w="25400">
            <a:noFill/>
            <a:miter lim="800000"/>
            <a:headEnd/>
            <a:tailEnd/>
          </a:ln>
          <a:effectLst/>
        </p:spPr>
        <p:txBody>
          <a:bodyPr wrap="none">
            <a:spAutoFit/>
          </a:bodyPr>
          <a:lstStyle/>
          <a:p>
            <a:pPr>
              <a:lnSpc>
                <a:spcPct val="100000"/>
              </a:lnSpc>
            </a:pPr>
            <a:r>
              <a:rPr lang="en-US" dirty="0">
                <a:solidFill>
                  <a:schemeClr val="tx1">
                    <a:lumMod val="50000"/>
                    <a:lumOff val="50000"/>
                  </a:schemeClr>
                </a:solidFill>
                <a:latin typeface="Calibri" pitchFamily="34" charset="0"/>
              </a:rPr>
              <a:t>&lt;startup&gt;</a:t>
            </a:r>
          </a:p>
          <a:p>
            <a:pPr>
              <a:lnSpc>
                <a:spcPct val="100000"/>
              </a:lnSpc>
            </a:pPr>
            <a:r>
              <a:rPr lang="en-US" dirty="0">
                <a:latin typeface="Calibri" pitchFamily="34" charset="0"/>
              </a:rPr>
              <a:t>inst</a:t>
            </a:r>
            <a:r>
              <a:rPr lang="en-US" baseline="-25000" dirty="0">
                <a:latin typeface="Calibri" pitchFamily="34" charset="0"/>
              </a:rPr>
              <a:t>1</a:t>
            </a:r>
            <a:endParaRPr lang="en-US" dirty="0">
              <a:latin typeface="Calibri" pitchFamily="34" charset="0"/>
            </a:endParaRPr>
          </a:p>
          <a:p>
            <a:pPr>
              <a:lnSpc>
                <a:spcPct val="100000"/>
              </a:lnSpc>
            </a:pPr>
            <a:r>
              <a:rPr lang="en-US" dirty="0">
                <a:latin typeface="Calibri" pitchFamily="34" charset="0"/>
              </a:rPr>
              <a:t>inst</a:t>
            </a:r>
            <a:r>
              <a:rPr lang="en-US" baseline="-25000" dirty="0">
                <a:latin typeface="Calibri" pitchFamily="34" charset="0"/>
              </a:rPr>
              <a:t>2</a:t>
            </a:r>
            <a:endParaRPr lang="en-US" dirty="0">
              <a:latin typeface="Calibri" pitchFamily="34" charset="0"/>
            </a:endParaRPr>
          </a:p>
          <a:p>
            <a:pPr>
              <a:lnSpc>
                <a:spcPct val="100000"/>
              </a:lnSpc>
            </a:pPr>
            <a:r>
              <a:rPr lang="en-US" dirty="0">
                <a:latin typeface="Calibri" pitchFamily="34" charset="0"/>
              </a:rPr>
              <a:t>inst</a:t>
            </a:r>
            <a:r>
              <a:rPr lang="en-US" baseline="-25000" dirty="0">
                <a:latin typeface="Calibri" pitchFamily="34" charset="0"/>
              </a:rPr>
              <a:t>3</a:t>
            </a:r>
            <a:endParaRPr lang="en-US" dirty="0">
              <a:latin typeface="Calibri" pitchFamily="34" charset="0"/>
            </a:endParaRPr>
          </a:p>
          <a:p>
            <a:pPr>
              <a:lnSpc>
                <a:spcPct val="100000"/>
              </a:lnSpc>
            </a:pPr>
            <a:r>
              <a:rPr lang="en-US" dirty="0">
                <a:latin typeface="Calibri" pitchFamily="34" charset="0"/>
              </a:rPr>
              <a:t>…</a:t>
            </a:r>
          </a:p>
          <a:p>
            <a:pPr>
              <a:lnSpc>
                <a:spcPct val="100000"/>
              </a:lnSpc>
            </a:pPr>
            <a:r>
              <a:rPr lang="en-US" dirty="0" err="1">
                <a:latin typeface="Calibri" pitchFamily="34" charset="0"/>
              </a:rPr>
              <a:t>inst</a:t>
            </a:r>
            <a:r>
              <a:rPr lang="en-US" baseline="-25000" dirty="0" err="1">
                <a:latin typeface="Calibri" pitchFamily="34" charset="0"/>
              </a:rPr>
              <a:t>n</a:t>
            </a:r>
            <a:endParaRPr lang="en-US" dirty="0">
              <a:latin typeface="Calibri" pitchFamily="34" charset="0"/>
            </a:endParaRPr>
          </a:p>
          <a:p>
            <a:pPr>
              <a:lnSpc>
                <a:spcPct val="100000"/>
              </a:lnSpc>
            </a:pPr>
            <a:r>
              <a:rPr lang="en-US" dirty="0">
                <a:solidFill>
                  <a:schemeClr val="tx1">
                    <a:lumMod val="50000"/>
                    <a:lumOff val="50000"/>
                  </a:schemeClr>
                </a:solidFill>
                <a:latin typeface="Calibri" pitchFamily="34" charset="0"/>
              </a:rPr>
              <a:t>&lt;shutdown&gt;</a:t>
            </a:r>
          </a:p>
        </p:txBody>
      </p:sp>
      <p:sp>
        <p:nvSpPr>
          <p:cNvPr id="472068" name="Rectangle 1028"/>
          <p:cNvSpPr>
            <a:spLocks noGrp="1" noChangeArrowheads="1"/>
          </p:cNvSpPr>
          <p:nvPr>
            <p:ph type="body" idx="1"/>
          </p:nvPr>
        </p:nvSpPr>
        <p:spPr>
          <a:xfrm>
            <a:off x="452547" y="1219200"/>
            <a:ext cx="8294687" cy="1741487"/>
          </a:xfrm>
          <a:noFill/>
          <a:ln/>
        </p:spPr>
        <p:txBody>
          <a:bodyPr lIns="90487" tIns="44450" rIns="90487" bIns="44450"/>
          <a:lstStyle/>
          <a:p>
            <a:r>
              <a:rPr lang="en-US" dirty="0"/>
              <a:t>Processors do only one thing:</a:t>
            </a:r>
          </a:p>
          <a:p>
            <a:pPr lvl="1"/>
            <a:r>
              <a:rPr lang="en-US" dirty="0"/>
              <a:t>From startup to shutdown, a CPU simply reads and executes (interprets) a sequence of instructions, one at a time</a:t>
            </a:r>
          </a:p>
          <a:p>
            <a:pPr lvl="1"/>
            <a:r>
              <a:rPr lang="en-US" dirty="0"/>
              <a:t>This sequence is the CPU’s </a:t>
            </a:r>
            <a:r>
              <a:rPr lang="en-US" i="1" dirty="0"/>
              <a:t>control flow</a:t>
            </a:r>
            <a:r>
              <a:rPr lang="en-US" dirty="0"/>
              <a:t> (or </a:t>
            </a:r>
            <a:r>
              <a:rPr lang="en-US" i="1" dirty="0"/>
              <a:t>flow of control</a:t>
            </a:r>
            <a:r>
              <a:rPr lang="en-US" dirty="0" smtClean="0"/>
              <a:t>)</a:t>
            </a:r>
            <a:endParaRPr lang="en-US" dirty="0"/>
          </a:p>
          <a:p>
            <a:endParaRPr lang="en-US" dirty="0"/>
          </a:p>
        </p:txBody>
      </p:sp>
      <p:sp>
        <p:nvSpPr>
          <p:cNvPr id="472069" name="Text Box 1029"/>
          <p:cNvSpPr txBox="1">
            <a:spLocks noChangeArrowheads="1"/>
          </p:cNvSpPr>
          <p:nvPr/>
        </p:nvSpPr>
        <p:spPr bwMode="auto">
          <a:xfrm>
            <a:off x="3190875" y="2895600"/>
            <a:ext cx="2816412" cy="461665"/>
          </a:xfrm>
          <a:prstGeom prst="rect">
            <a:avLst/>
          </a:prstGeom>
          <a:noFill/>
          <a:ln w="25400">
            <a:noFill/>
            <a:miter lim="800000"/>
            <a:headEnd/>
            <a:tailEnd/>
          </a:ln>
          <a:effectLst/>
        </p:spPr>
        <p:txBody>
          <a:bodyPr wrap="none">
            <a:spAutoFit/>
          </a:bodyPr>
          <a:lstStyle/>
          <a:p>
            <a:pPr algn="l">
              <a:lnSpc>
                <a:spcPct val="100000"/>
              </a:lnSpc>
            </a:pPr>
            <a:r>
              <a:rPr lang="en-US" i="1" dirty="0">
                <a:solidFill>
                  <a:srgbClr val="C00000"/>
                </a:solidFill>
                <a:latin typeface="Calibri" pitchFamily="34" charset="0"/>
              </a:rPr>
              <a:t>Physical control flow</a:t>
            </a:r>
          </a:p>
        </p:txBody>
      </p:sp>
      <p:sp>
        <p:nvSpPr>
          <p:cNvPr id="472071" name="Text Box 1031"/>
          <p:cNvSpPr txBox="1">
            <a:spLocks noChangeArrowheads="1"/>
          </p:cNvSpPr>
          <p:nvPr/>
        </p:nvSpPr>
        <p:spPr bwMode="auto">
          <a:xfrm>
            <a:off x="1544347" y="4370685"/>
            <a:ext cx="817853" cy="461665"/>
          </a:xfrm>
          <a:prstGeom prst="rect">
            <a:avLst/>
          </a:prstGeom>
          <a:noFill/>
          <a:ln w="25400">
            <a:noFill/>
            <a:miter lim="800000"/>
            <a:headEnd/>
            <a:tailEnd/>
          </a:ln>
          <a:effectLst/>
        </p:spPr>
        <p:txBody>
          <a:bodyPr wrap="none">
            <a:spAutoFit/>
          </a:bodyPr>
          <a:lstStyle/>
          <a:p>
            <a:pPr algn="l">
              <a:lnSpc>
                <a:spcPct val="100000"/>
              </a:lnSpc>
            </a:pPr>
            <a:r>
              <a:rPr lang="en-US" dirty="0">
                <a:latin typeface="Calibri" pitchFamily="34" charset="0"/>
              </a:rPr>
              <a:t>Time</a:t>
            </a:r>
          </a:p>
        </p:txBody>
      </p:sp>
      <p:sp>
        <p:nvSpPr>
          <p:cNvPr id="8" name="Down Arrow 7"/>
          <p:cNvSpPr/>
          <p:nvPr/>
        </p:nvSpPr>
        <p:spPr bwMode="auto">
          <a:xfrm>
            <a:off x="2438400" y="3613150"/>
            <a:ext cx="457200" cy="2362200"/>
          </a:xfrm>
          <a:prstGeom prst="downArrow">
            <a:avLst/>
          </a:prstGeom>
          <a:solidFill>
            <a:schemeClr val="bg1">
              <a:lumMod val="6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Tree>
    <p:extLst>
      <p:ext uri="{BB962C8B-B14F-4D97-AF65-F5344CB8AC3E}">
        <p14:creationId xmlns:p14="http://schemas.microsoft.com/office/powerpoint/2010/main" val="2709130437"/>
      </p:ext>
    </p:extLst>
  </p:cSld>
  <p:clrMapOvr>
    <a:masterClrMapping/>
  </p:clrMapOvr>
  <p:timing>
    <p:tnLst>
      <p:par>
        <p:cTn xmlns:p14="http://schemas.microsoft.com/office/powerpoint/2010/mai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2"/>
          <p:cNvSpPr>
            <a:spLocks noGrp="1" noChangeArrowheads="1"/>
          </p:cNvSpPr>
          <p:nvPr>
            <p:ph type="title"/>
          </p:nvPr>
        </p:nvSpPr>
        <p:spPr>
          <a:xfrm>
            <a:off x="381000" y="493712"/>
            <a:ext cx="6299200" cy="573088"/>
          </a:xfrm>
        </p:spPr>
        <p:txBody>
          <a:bodyPr/>
          <a:lstStyle/>
          <a:p>
            <a:r>
              <a:rPr lang="en-US"/>
              <a:t>Altering the Control Flow</a:t>
            </a:r>
          </a:p>
        </p:txBody>
      </p:sp>
      <p:sp>
        <p:nvSpPr>
          <p:cNvPr id="473091" name="Rectangle 3"/>
          <p:cNvSpPr>
            <a:spLocks noGrp="1" noChangeArrowheads="1"/>
          </p:cNvSpPr>
          <p:nvPr>
            <p:ph type="body" idx="1"/>
          </p:nvPr>
        </p:nvSpPr>
        <p:spPr>
          <a:xfrm>
            <a:off x="381000" y="1250950"/>
            <a:ext cx="8624887" cy="5378450"/>
          </a:xfrm>
        </p:spPr>
        <p:txBody>
          <a:bodyPr/>
          <a:lstStyle/>
          <a:p>
            <a:r>
              <a:rPr lang="en-US" dirty="0"/>
              <a:t>Up to now: two mechanisms for changing control flow:</a:t>
            </a:r>
          </a:p>
          <a:p>
            <a:pPr lvl="1"/>
            <a:r>
              <a:rPr lang="en-US" dirty="0"/>
              <a:t>Jumps and branches</a:t>
            </a:r>
          </a:p>
          <a:p>
            <a:pPr lvl="1"/>
            <a:r>
              <a:rPr lang="en-US" dirty="0"/>
              <a:t>Call and return</a:t>
            </a:r>
          </a:p>
          <a:p>
            <a:pPr lvl="1">
              <a:buFont typeface="Wingdings" pitchFamily="2" charset="2"/>
              <a:buNone/>
            </a:pPr>
            <a:r>
              <a:rPr lang="en-US" dirty="0" smtClean="0"/>
              <a:t>React </a:t>
            </a:r>
            <a:r>
              <a:rPr lang="en-US" dirty="0"/>
              <a:t>to changes in </a:t>
            </a:r>
            <a:r>
              <a:rPr lang="en-US" b="1" i="1" dirty="0">
                <a:solidFill>
                  <a:srgbClr val="C00000"/>
                </a:solidFill>
              </a:rPr>
              <a:t>program </a:t>
            </a:r>
            <a:r>
              <a:rPr lang="en-US" b="1" i="1" dirty="0" smtClean="0">
                <a:solidFill>
                  <a:srgbClr val="C00000"/>
                </a:solidFill>
              </a:rPr>
              <a:t>state</a:t>
            </a:r>
          </a:p>
          <a:p>
            <a:pPr lvl="1">
              <a:buFont typeface="Wingdings" pitchFamily="2" charset="2"/>
              <a:buNone/>
            </a:pPr>
            <a:endParaRPr lang="en-US" dirty="0"/>
          </a:p>
          <a:p>
            <a:r>
              <a:rPr lang="en-US" dirty="0"/>
              <a:t>Insufficient  for a useful </a:t>
            </a:r>
            <a:r>
              <a:rPr lang="en-US" dirty="0" smtClean="0"/>
              <a:t>system: </a:t>
            </a:r>
            <a:br>
              <a:rPr lang="en-US" dirty="0" smtClean="0"/>
            </a:br>
            <a:r>
              <a:rPr lang="en-US" dirty="0" smtClean="0"/>
              <a:t>Difficult to </a:t>
            </a:r>
            <a:r>
              <a:rPr lang="en-US" dirty="0"/>
              <a:t>react to changes in </a:t>
            </a:r>
            <a:r>
              <a:rPr lang="en-US" i="1" dirty="0">
                <a:solidFill>
                  <a:srgbClr val="C00000"/>
                </a:solidFill>
              </a:rPr>
              <a:t>system state </a:t>
            </a:r>
          </a:p>
          <a:p>
            <a:pPr lvl="1"/>
            <a:r>
              <a:rPr lang="en-US" dirty="0"/>
              <a:t>D</a:t>
            </a:r>
            <a:r>
              <a:rPr lang="en-US" dirty="0" smtClean="0"/>
              <a:t>ata </a:t>
            </a:r>
            <a:r>
              <a:rPr lang="en-US" dirty="0"/>
              <a:t>arrives from a disk or a network adapter</a:t>
            </a:r>
          </a:p>
          <a:p>
            <a:pPr lvl="1"/>
            <a:r>
              <a:rPr lang="en-US" dirty="0"/>
              <a:t>I</a:t>
            </a:r>
            <a:r>
              <a:rPr lang="en-US" dirty="0" smtClean="0"/>
              <a:t>nstruction </a:t>
            </a:r>
            <a:r>
              <a:rPr lang="en-US" dirty="0"/>
              <a:t>divides by zero</a:t>
            </a:r>
          </a:p>
          <a:p>
            <a:pPr lvl="1"/>
            <a:r>
              <a:rPr lang="en-US" dirty="0"/>
              <a:t>U</a:t>
            </a:r>
            <a:r>
              <a:rPr lang="en-US" dirty="0" smtClean="0"/>
              <a:t>ser </a:t>
            </a:r>
            <a:r>
              <a:rPr lang="en-US" dirty="0"/>
              <a:t>hits Ctrl-C at the keyboard</a:t>
            </a:r>
          </a:p>
          <a:p>
            <a:pPr lvl="1"/>
            <a:r>
              <a:rPr lang="en-US" dirty="0"/>
              <a:t>System timer expires</a:t>
            </a:r>
          </a:p>
          <a:p>
            <a:endParaRPr lang="en-US" dirty="0" smtClean="0"/>
          </a:p>
          <a:p>
            <a:r>
              <a:rPr lang="en-US" dirty="0" smtClean="0"/>
              <a:t>System </a:t>
            </a:r>
            <a:r>
              <a:rPr lang="en-US" dirty="0"/>
              <a:t>needs mechanisms for “exceptional control flow”</a:t>
            </a:r>
          </a:p>
        </p:txBody>
      </p:sp>
    </p:spTree>
    <p:extLst>
      <p:ext uri="{BB962C8B-B14F-4D97-AF65-F5344CB8AC3E}">
        <p14:creationId xmlns:p14="http://schemas.microsoft.com/office/powerpoint/2010/main" val="81190914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3091">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3091">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3091">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3091">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3091">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309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a:xfrm>
            <a:off x="304800" y="493712"/>
            <a:ext cx="8686800" cy="573088"/>
          </a:xfrm>
        </p:spPr>
        <p:txBody>
          <a:bodyPr/>
          <a:lstStyle/>
          <a:p>
            <a:r>
              <a:rPr lang="en-US"/>
              <a:t>Exceptional Control Flow</a:t>
            </a:r>
          </a:p>
        </p:txBody>
      </p:sp>
      <p:sp>
        <p:nvSpPr>
          <p:cNvPr id="474115" name="Rectangle 3"/>
          <p:cNvSpPr>
            <a:spLocks noGrp="1" noChangeArrowheads="1"/>
          </p:cNvSpPr>
          <p:nvPr>
            <p:ph type="body" idx="1"/>
          </p:nvPr>
        </p:nvSpPr>
        <p:spPr>
          <a:xfrm>
            <a:off x="303213" y="1282700"/>
            <a:ext cx="8281987" cy="5118100"/>
          </a:xfrm>
        </p:spPr>
        <p:txBody>
          <a:bodyPr/>
          <a:lstStyle/>
          <a:p>
            <a:r>
              <a:rPr lang="en-US" dirty="0" smtClean="0"/>
              <a:t>Exists </a:t>
            </a:r>
            <a:r>
              <a:rPr lang="en-US" dirty="0"/>
              <a:t>at all levels of a computer </a:t>
            </a:r>
            <a:r>
              <a:rPr lang="en-US" dirty="0" smtClean="0"/>
              <a:t>system</a:t>
            </a:r>
            <a:endParaRPr lang="en-US" dirty="0"/>
          </a:p>
          <a:p>
            <a:r>
              <a:rPr lang="en-US" dirty="0"/>
              <a:t>Low level </a:t>
            </a:r>
            <a:r>
              <a:rPr lang="en-US" dirty="0" smtClean="0"/>
              <a:t>mechanisms</a:t>
            </a:r>
            <a:endParaRPr lang="en-US" dirty="0"/>
          </a:p>
          <a:p>
            <a:pPr lvl="1"/>
            <a:r>
              <a:rPr lang="en-US" dirty="0" smtClean="0"/>
              <a:t>1. </a:t>
            </a:r>
            <a:r>
              <a:rPr lang="en-US" b="1" dirty="0" smtClean="0">
                <a:solidFill>
                  <a:srgbClr val="FF0000"/>
                </a:solidFill>
              </a:rPr>
              <a:t>Exceptions </a:t>
            </a:r>
            <a:endParaRPr lang="en-US" b="1" dirty="0">
              <a:solidFill>
                <a:srgbClr val="FF0000"/>
              </a:solidFill>
            </a:endParaRPr>
          </a:p>
          <a:p>
            <a:pPr lvl="2"/>
            <a:r>
              <a:rPr lang="en-US" dirty="0"/>
              <a:t>C</a:t>
            </a:r>
            <a:r>
              <a:rPr lang="en-US" dirty="0" smtClean="0"/>
              <a:t>hange </a:t>
            </a:r>
            <a:r>
              <a:rPr lang="en-US" dirty="0"/>
              <a:t>in control flow in response to a system event </a:t>
            </a:r>
            <a:r>
              <a:rPr lang="en-US" dirty="0" smtClean="0"/>
              <a:t/>
            </a:r>
            <a:br>
              <a:rPr lang="en-US" dirty="0" smtClean="0"/>
            </a:br>
            <a:r>
              <a:rPr lang="en-US" dirty="0" smtClean="0"/>
              <a:t>(</a:t>
            </a:r>
            <a:r>
              <a:rPr lang="en-US" dirty="0"/>
              <a:t>i.e.,  change in system state)</a:t>
            </a:r>
          </a:p>
          <a:p>
            <a:pPr lvl="2"/>
            <a:r>
              <a:rPr lang="en-US" dirty="0" smtClean="0"/>
              <a:t>Implemented using combination </a:t>
            </a:r>
            <a:r>
              <a:rPr lang="en-US" dirty="0"/>
              <a:t>of hardware and OS software	</a:t>
            </a:r>
          </a:p>
          <a:p>
            <a:r>
              <a:rPr lang="en-US" dirty="0"/>
              <a:t>Higher </a:t>
            </a:r>
            <a:r>
              <a:rPr lang="en-US" dirty="0" smtClean="0"/>
              <a:t>level </a:t>
            </a:r>
            <a:r>
              <a:rPr lang="en-US" dirty="0"/>
              <a:t>m</a:t>
            </a:r>
            <a:r>
              <a:rPr lang="en-US" dirty="0" smtClean="0"/>
              <a:t>echanisms</a:t>
            </a:r>
            <a:endParaRPr lang="en-US" dirty="0"/>
          </a:p>
          <a:p>
            <a:pPr lvl="1"/>
            <a:r>
              <a:rPr lang="en-US" dirty="0" smtClean="0"/>
              <a:t>2. </a:t>
            </a:r>
            <a:r>
              <a:rPr lang="en-US" b="1" dirty="0" smtClean="0">
                <a:solidFill>
                  <a:srgbClr val="FF0000"/>
                </a:solidFill>
              </a:rPr>
              <a:t>Process </a:t>
            </a:r>
            <a:r>
              <a:rPr lang="en-US" b="1" dirty="0">
                <a:solidFill>
                  <a:srgbClr val="FF0000"/>
                </a:solidFill>
              </a:rPr>
              <a:t>context </a:t>
            </a:r>
            <a:r>
              <a:rPr lang="en-US" b="1" dirty="0" smtClean="0">
                <a:solidFill>
                  <a:srgbClr val="FF0000"/>
                </a:solidFill>
              </a:rPr>
              <a:t>switch</a:t>
            </a:r>
          </a:p>
          <a:p>
            <a:pPr lvl="2"/>
            <a:r>
              <a:rPr lang="en-US" dirty="0" smtClean="0"/>
              <a:t>Implemented by OS software and hardware timer</a:t>
            </a:r>
            <a:endParaRPr lang="en-US" dirty="0"/>
          </a:p>
          <a:p>
            <a:pPr lvl="1"/>
            <a:r>
              <a:rPr lang="en-US" dirty="0" smtClean="0"/>
              <a:t>3. </a:t>
            </a:r>
            <a:r>
              <a:rPr lang="en-US" b="1" dirty="0" smtClean="0">
                <a:solidFill>
                  <a:srgbClr val="FF0000"/>
                </a:solidFill>
              </a:rPr>
              <a:t>Signals</a:t>
            </a:r>
          </a:p>
          <a:p>
            <a:pPr lvl="2"/>
            <a:r>
              <a:rPr lang="en-US" dirty="0" smtClean="0"/>
              <a:t>Implemented by OS software </a:t>
            </a:r>
          </a:p>
          <a:p>
            <a:pPr lvl="1"/>
            <a:r>
              <a:rPr lang="en-US" dirty="0" smtClean="0"/>
              <a:t>4. </a:t>
            </a:r>
            <a:r>
              <a:rPr lang="en-US" b="1" dirty="0" smtClean="0">
                <a:solidFill>
                  <a:srgbClr val="FF0000"/>
                </a:solidFill>
              </a:rPr>
              <a:t>Nonlocal </a:t>
            </a:r>
            <a:r>
              <a:rPr lang="en-US" b="1" dirty="0">
                <a:solidFill>
                  <a:srgbClr val="FF0000"/>
                </a:solidFill>
              </a:rPr>
              <a:t>jumps</a:t>
            </a:r>
            <a:r>
              <a:rPr lang="en-US" dirty="0"/>
              <a:t>: </a:t>
            </a:r>
            <a:r>
              <a:rPr lang="en-US" dirty="0" err="1">
                <a:latin typeface="Courier New"/>
                <a:cs typeface="Courier New"/>
              </a:rPr>
              <a:t>setjmp</a:t>
            </a:r>
            <a:r>
              <a:rPr lang="en-US" dirty="0">
                <a:latin typeface="Courier New"/>
                <a:cs typeface="Courier New"/>
              </a:rPr>
              <a:t>(</a:t>
            </a:r>
            <a:r>
              <a:rPr lang="en-US" dirty="0" smtClean="0">
                <a:latin typeface="Courier New"/>
                <a:cs typeface="Courier New"/>
              </a:rPr>
              <a:t>)</a:t>
            </a:r>
            <a:r>
              <a:rPr lang="en-US" dirty="0">
                <a:cs typeface="Courier New"/>
              </a:rPr>
              <a:t> </a:t>
            </a:r>
            <a:r>
              <a:rPr lang="en-US" dirty="0" smtClean="0">
                <a:cs typeface="Courier New"/>
              </a:rPr>
              <a:t>and </a:t>
            </a:r>
            <a:r>
              <a:rPr lang="en-US" dirty="0" err="1" smtClean="0">
                <a:latin typeface="Courier New"/>
                <a:cs typeface="Courier New"/>
              </a:rPr>
              <a:t>longjmp</a:t>
            </a:r>
            <a:r>
              <a:rPr lang="en-US" dirty="0">
                <a:latin typeface="Courier New"/>
                <a:cs typeface="Courier New"/>
              </a:rPr>
              <a:t>()</a:t>
            </a:r>
          </a:p>
          <a:p>
            <a:pPr lvl="2"/>
            <a:r>
              <a:rPr lang="en-US" dirty="0"/>
              <a:t>I</a:t>
            </a:r>
            <a:r>
              <a:rPr lang="en-US" dirty="0" smtClean="0"/>
              <a:t>mplemented by C runtime library</a:t>
            </a:r>
          </a:p>
        </p:txBody>
      </p:sp>
    </p:spTree>
    <p:extLst>
      <p:ext uri="{BB962C8B-B14F-4D97-AF65-F5344CB8AC3E}">
        <p14:creationId xmlns:p14="http://schemas.microsoft.com/office/powerpoint/2010/main" val="153964623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411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411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411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411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7411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411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411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411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74115">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74115">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7411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pPr marL="0" indent="0">
              <a:lnSpc>
                <a:spcPct val="80000"/>
              </a:lnSpc>
              <a:buNone/>
            </a:pPr>
            <a:endParaRPr lang="en-US" sz="2800" dirty="0" smtClean="0"/>
          </a:p>
          <a:p>
            <a:r>
              <a:rPr lang="en-US" sz="2800" dirty="0" smtClean="0">
                <a:solidFill>
                  <a:schemeClr val="bg2">
                    <a:lumMod val="60000"/>
                    <a:lumOff val="40000"/>
                  </a:schemeClr>
                </a:solidFill>
              </a:rPr>
              <a:t>Linking</a:t>
            </a:r>
            <a:endParaRPr lang="en-US" dirty="0" smtClean="0">
              <a:solidFill>
                <a:schemeClr val="bg2">
                  <a:lumMod val="60000"/>
                  <a:lumOff val="40000"/>
                </a:schemeClr>
              </a:solidFill>
            </a:endParaRPr>
          </a:p>
          <a:p>
            <a:r>
              <a:rPr lang="en-US" sz="2800" dirty="0" smtClean="0"/>
              <a:t>Exceptional Control Flow</a:t>
            </a:r>
          </a:p>
          <a:p>
            <a:pPr lvl="1"/>
            <a:r>
              <a:rPr lang="en-US" dirty="0">
                <a:solidFill>
                  <a:srgbClr val="B3B3B3"/>
                </a:solidFill>
              </a:rPr>
              <a:t>Exceptional Control Flow</a:t>
            </a:r>
          </a:p>
          <a:p>
            <a:pPr lvl="1"/>
            <a:r>
              <a:rPr lang="en-US" dirty="0"/>
              <a:t>Exceptions</a:t>
            </a:r>
          </a:p>
          <a:p>
            <a:pPr lvl="1"/>
            <a:r>
              <a:rPr lang="en-US" dirty="0">
                <a:solidFill>
                  <a:srgbClr val="B3B3B3"/>
                </a:solidFill>
              </a:rPr>
              <a:t>Processes</a:t>
            </a:r>
          </a:p>
          <a:p>
            <a:pPr lvl="1"/>
            <a:r>
              <a:rPr lang="en-US" dirty="0">
                <a:solidFill>
                  <a:srgbClr val="B3B3B3"/>
                </a:solidFill>
              </a:rPr>
              <a:t>Process </a:t>
            </a:r>
            <a:r>
              <a:rPr lang="en-US" dirty="0" smtClean="0">
                <a:solidFill>
                  <a:srgbClr val="B3B3B3"/>
                </a:solidFill>
              </a:rPr>
              <a:t>Control</a:t>
            </a:r>
          </a:p>
          <a:p>
            <a:r>
              <a:rPr lang="en-US" sz="2800" dirty="0">
                <a:solidFill>
                  <a:srgbClr val="B3B3B3"/>
                </a:solidFill>
              </a:rPr>
              <a:t>Cache Lab</a:t>
            </a:r>
          </a:p>
          <a:p>
            <a:pPr marL="0" indent="0">
              <a:buNone/>
            </a:pPr>
            <a:endParaRPr lang="en-US" sz="2800" dirty="0">
              <a:solidFill>
                <a:schemeClr val="bg2">
                  <a:lumMod val="60000"/>
                  <a:lumOff val="40000"/>
                </a:schemeClr>
              </a:solidFill>
            </a:endParaRPr>
          </a:p>
          <a:p>
            <a:endParaRPr lang="en-US" dirty="0" smtClean="0">
              <a:solidFill>
                <a:srgbClr val="B3B3B3"/>
              </a:solidFill>
            </a:endParaRPr>
          </a:p>
          <a:p>
            <a:pPr marL="0" indent="0">
              <a:lnSpc>
                <a:spcPct val="80000"/>
              </a:lnSpc>
              <a:buNone/>
            </a:pPr>
            <a:endParaRPr lang="en-US" sz="2800" dirty="0" smtClean="0">
              <a:solidFill>
                <a:schemeClr val="bg2">
                  <a:lumMod val="60000"/>
                  <a:lumOff val="40000"/>
                </a:schemeClr>
              </a:solidFill>
            </a:endParaRPr>
          </a:p>
          <a:p>
            <a:endParaRPr lang="en-US" dirty="0">
              <a:solidFill>
                <a:schemeClr val="bg2">
                  <a:lumMod val="60000"/>
                  <a:lumOff val="40000"/>
                </a:schemeClr>
              </a:solidFill>
            </a:endParaRPr>
          </a:p>
          <a:p>
            <a:endParaRPr lang="en-US" dirty="0">
              <a:solidFill>
                <a:schemeClr val="bg1">
                  <a:lumMod val="75000"/>
                </a:schemeClr>
              </a:solidFill>
            </a:endParaRPr>
          </a:p>
        </p:txBody>
      </p:sp>
      <p:sp>
        <p:nvSpPr>
          <p:cNvPr id="4" name="TextBox 3"/>
          <p:cNvSpPr txBox="1"/>
          <p:nvPr/>
        </p:nvSpPr>
        <p:spPr>
          <a:xfrm>
            <a:off x="2851727" y="5657273"/>
            <a:ext cx="184666" cy="369332"/>
          </a:xfrm>
          <a:prstGeom prst="rect">
            <a:avLst/>
          </a:prstGeom>
          <a:noFill/>
        </p:spPr>
        <p:txBody>
          <a:bodyPr wrap="none" rtlCol="0">
            <a:spAutoFit/>
          </a:bodyPr>
          <a:lstStyle/>
          <a:p>
            <a:endParaRPr lang="en-US" sz="1800" dirty="0">
              <a:latin typeface="Calibri" pitchFamily="34" charset="0"/>
            </a:endParaRPr>
          </a:p>
        </p:txBody>
      </p:sp>
    </p:spTree>
    <p:extLst>
      <p:ext uri="{BB962C8B-B14F-4D97-AF65-F5344CB8AC3E}">
        <p14:creationId xmlns:p14="http://schemas.microsoft.com/office/powerpoint/2010/main" val="1707675253"/>
      </p:ext>
    </p:extLst>
  </p:cSld>
  <p:clrMapOvr>
    <a:masterClrMapping/>
  </p:clrMapOvr>
  <p:timing>
    <p:tnLst>
      <p:par>
        <p:cTn xmlns:p14="http://schemas.microsoft.com/office/powerpoint/2010/mai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bwMode="auto">
          <a:xfrm>
            <a:off x="825500" y="3429000"/>
            <a:ext cx="7570461" cy="2971800"/>
          </a:xfrm>
          <a:prstGeom prst="rect">
            <a:avLst/>
          </a:prstGeom>
          <a:solidFill>
            <a:srgbClr val="E9E1C9"/>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476162" name="Rectangle 2"/>
          <p:cNvSpPr>
            <a:spLocks noGrp="1" noChangeArrowheads="1"/>
          </p:cNvSpPr>
          <p:nvPr>
            <p:ph type="title"/>
          </p:nvPr>
        </p:nvSpPr>
        <p:spPr>
          <a:xfrm>
            <a:off x="381000" y="533400"/>
            <a:ext cx="3352800" cy="573088"/>
          </a:xfrm>
          <a:noFill/>
          <a:ln/>
        </p:spPr>
        <p:txBody>
          <a:bodyPr lIns="91294" tIns="45647" rIns="91294" bIns="45647" anchor="t"/>
          <a:lstStyle/>
          <a:p>
            <a:r>
              <a:rPr lang="en-US"/>
              <a:t>Exceptions</a:t>
            </a:r>
          </a:p>
        </p:txBody>
      </p:sp>
      <p:sp>
        <p:nvSpPr>
          <p:cNvPr id="476163" name="Rectangle 3"/>
          <p:cNvSpPr>
            <a:spLocks noGrp="1" noChangeArrowheads="1"/>
          </p:cNvSpPr>
          <p:nvPr>
            <p:ph type="body" idx="1"/>
          </p:nvPr>
        </p:nvSpPr>
        <p:spPr>
          <a:xfrm>
            <a:off x="381000" y="1371600"/>
            <a:ext cx="8686800" cy="1902130"/>
          </a:xfrm>
          <a:noFill/>
          <a:ln/>
        </p:spPr>
        <p:txBody>
          <a:bodyPr/>
          <a:lstStyle/>
          <a:p>
            <a:r>
              <a:rPr lang="en-US" dirty="0"/>
              <a:t>An </a:t>
            </a:r>
            <a:r>
              <a:rPr lang="en-US" i="1" dirty="0">
                <a:solidFill>
                  <a:srgbClr val="C00000"/>
                </a:solidFill>
              </a:rPr>
              <a:t>exception</a:t>
            </a:r>
            <a:r>
              <a:rPr lang="en-US" dirty="0"/>
              <a:t> is a transfer of control to the OS </a:t>
            </a:r>
            <a:r>
              <a:rPr lang="en-US" i="1" dirty="0" smtClean="0"/>
              <a:t>kernel</a:t>
            </a:r>
            <a:r>
              <a:rPr lang="en-US" dirty="0" smtClean="0"/>
              <a:t> in </a:t>
            </a:r>
            <a:r>
              <a:rPr lang="en-US" dirty="0"/>
              <a:t>response to some </a:t>
            </a:r>
            <a:r>
              <a:rPr lang="en-US" i="1" dirty="0"/>
              <a:t>event</a:t>
            </a:r>
            <a:r>
              <a:rPr lang="en-US" dirty="0"/>
              <a:t>  (i.e., change in processor state</a:t>
            </a:r>
            <a:r>
              <a:rPr lang="en-US" dirty="0" smtClean="0"/>
              <a:t>)</a:t>
            </a:r>
          </a:p>
          <a:p>
            <a:pPr lvl="1"/>
            <a:r>
              <a:rPr lang="en-US" dirty="0" smtClean="0"/>
              <a:t>Kernel is the memory-resident part of the OS</a:t>
            </a:r>
          </a:p>
          <a:p>
            <a:pPr lvl="1"/>
            <a:r>
              <a:rPr lang="en-US" dirty="0" smtClean="0"/>
              <a:t>Examples of events: Divide </a:t>
            </a:r>
            <a:r>
              <a:rPr lang="en-US" dirty="0"/>
              <a:t>by 0, arithmetic overflow, page fault, I/O request completes, </a:t>
            </a:r>
            <a:r>
              <a:rPr lang="en-US" dirty="0" smtClean="0"/>
              <a:t>typing Ctrl</a:t>
            </a:r>
            <a:r>
              <a:rPr lang="en-US" dirty="0"/>
              <a:t>-C</a:t>
            </a:r>
          </a:p>
          <a:p>
            <a:pPr lvl="1"/>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p:txBody>
      </p:sp>
      <p:sp>
        <p:nvSpPr>
          <p:cNvPr id="476164" name="Rectangle 4"/>
          <p:cNvSpPr>
            <a:spLocks noChangeArrowheads="1"/>
          </p:cNvSpPr>
          <p:nvPr/>
        </p:nvSpPr>
        <p:spPr bwMode="auto">
          <a:xfrm>
            <a:off x="2494562" y="3500438"/>
            <a:ext cx="1544038" cy="459092"/>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i="1" dirty="0">
                <a:solidFill>
                  <a:schemeClr val="tx1">
                    <a:lumMod val="50000"/>
                    <a:lumOff val="50000"/>
                  </a:schemeClr>
                </a:solidFill>
                <a:latin typeface="Calibri" pitchFamily="34" charset="0"/>
              </a:rPr>
              <a:t>User </a:t>
            </a:r>
            <a:r>
              <a:rPr lang="en-US" i="1" dirty="0" smtClean="0">
                <a:solidFill>
                  <a:schemeClr val="tx1">
                    <a:lumMod val="50000"/>
                    <a:lumOff val="50000"/>
                  </a:schemeClr>
                </a:solidFill>
                <a:latin typeface="Calibri" pitchFamily="34" charset="0"/>
              </a:rPr>
              <a:t>code</a:t>
            </a:r>
            <a:endParaRPr lang="en-US" i="1" dirty="0">
              <a:solidFill>
                <a:schemeClr val="tx1">
                  <a:lumMod val="50000"/>
                  <a:lumOff val="50000"/>
                </a:schemeClr>
              </a:solidFill>
              <a:latin typeface="Calibri" pitchFamily="34" charset="0"/>
            </a:endParaRPr>
          </a:p>
        </p:txBody>
      </p:sp>
      <p:sp>
        <p:nvSpPr>
          <p:cNvPr id="476165" name="Rectangle 5"/>
          <p:cNvSpPr>
            <a:spLocks noChangeArrowheads="1"/>
          </p:cNvSpPr>
          <p:nvPr/>
        </p:nvSpPr>
        <p:spPr bwMode="auto">
          <a:xfrm>
            <a:off x="5105400" y="3500438"/>
            <a:ext cx="1779228" cy="459092"/>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i="1" dirty="0" smtClean="0">
                <a:solidFill>
                  <a:schemeClr val="tx1">
                    <a:lumMod val="50000"/>
                    <a:lumOff val="50000"/>
                  </a:schemeClr>
                </a:solidFill>
                <a:latin typeface="Calibri" pitchFamily="34" charset="0"/>
              </a:rPr>
              <a:t>Kernel code</a:t>
            </a:r>
            <a:endParaRPr lang="en-US" i="1" dirty="0">
              <a:solidFill>
                <a:schemeClr val="tx1">
                  <a:lumMod val="50000"/>
                  <a:lumOff val="50000"/>
                </a:schemeClr>
              </a:solidFill>
              <a:latin typeface="Calibri" pitchFamily="34" charset="0"/>
            </a:endParaRPr>
          </a:p>
        </p:txBody>
      </p:sp>
      <p:sp>
        <p:nvSpPr>
          <p:cNvPr id="476166" name="Line 6"/>
          <p:cNvSpPr>
            <a:spLocks noChangeShapeType="1"/>
          </p:cNvSpPr>
          <p:nvPr/>
        </p:nvSpPr>
        <p:spPr bwMode="auto">
          <a:xfrm>
            <a:off x="3233738" y="4022725"/>
            <a:ext cx="0" cy="598488"/>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476167" name="Line 7"/>
          <p:cNvSpPr>
            <a:spLocks noChangeShapeType="1"/>
          </p:cNvSpPr>
          <p:nvPr/>
        </p:nvSpPr>
        <p:spPr bwMode="auto">
          <a:xfrm>
            <a:off x="3240088" y="4627563"/>
            <a:ext cx="2806700" cy="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476168" name="Line 8"/>
          <p:cNvSpPr>
            <a:spLocks noChangeShapeType="1"/>
          </p:cNvSpPr>
          <p:nvPr/>
        </p:nvSpPr>
        <p:spPr bwMode="auto">
          <a:xfrm>
            <a:off x="6053138" y="4633913"/>
            <a:ext cx="0" cy="59690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476169" name="Line 9"/>
          <p:cNvSpPr>
            <a:spLocks noChangeShapeType="1"/>
          </p:cNvSpPr>
          <p:nvPr/>
        </p:nvSpPr>
        <p:spPr bwMode="auto">
          <a:xfrm flipH="1" flipV="1">
            <a:off x="3227388" y="4697413"/>
            <a:ext cx="2832100" cy="54610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476170" name="Line 10"/>
          <p:cNvSpPr>
            <a:spLocks noChangeShapeType="1"/>
          </p:cNvSpPr>
          <p:nvPr/>
        </p:nvSpPr>
        <p:spPr bwMode="auto">
          <a:xfrm>
            <a:off x="3233738" y="4724400"/>
            <a:ext cx="0" cy="1512888"/>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476171" name="Rectangle 11"/>
          <p:cNvSpPr>
            <a:spLocks noChangeArrowheads="1"/>
          </p:cNvSpPr>
          <p:nvPr/>
        </p:nvSpPr>
        <p:spPr bwMode="auto">
          <a:xfrm>
            <a:off x="4102100" y="4300538"/>
            <a:ext cx="1142586" cy="366759"/>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sz="1800" b="0" i="1" dirty="0" smtClean="0">
                <a:latin typeface="Calibri" pitchFamily="34" charset="0"/>
              </a:rPr>
              <a:t>Exception</a:t>
            </a:r>
            <a:endParaRPr lang="en-US" sz="1800" b="0" i="1" dirty="0">
              <a:latin typeface="Calibri" pitchFamily="34" charset="0"/>
            </a:endParaRPr>
          </a:p>
        </p:txBody>
      </p:sp>
      <p:sp>
        <p:nvSpPr>
          <p:cNvPr id="476172" name="Rectangle 12"/>
          <p:cNvSpPr>
            <a:spLocks noChangeArrowheads="1"/>
          </p:cNvSpPr>
          <p:nvPr/>
        </p:nvSpPr>
        <p:spPr bwMode="auto">
          <a:xfrm>
            <a:off x="6083300" y="4573588"/>
            <a:ext cx="2146300" cy="920757"/>
          </a:xfrm>
          <a:prstGeom prst="rect">
            <a:avLst/>
          </a:prstGeom>
          <a:noFill/>
          <a:ln w="12700">
            <a:noFill/>
            <a:miter lim="800000"/>
            <a:headEnd/>
            <a:tailEnd/>
          </a:ln>
          <a:effectLst/>
        </p:spPr>
        <p:txBody>
          <a:bodyPr wrap="square" lIns="90479" tIns="44446" rIns="90479" bIns="44446">
            <a:spAutoFit/>
          </a:bodyPr>
          <a:lstStyle/>
          <a:p>
            <a:pPr algn="l">
              <a:lnSpc>
                <a:spcPct val="100000"/>
              </a:lnSpc>
            </a:pPr>
            <a:r>
              <a:rPr lang="en-US" sz="1800" b="0" i="1" dirty="0">
                <a:latin typeface="Calibri" pitchFamily="34" charset="0"/>
              </a:rPr>
              <a:t>E</a:t>
            </a:r>
            <a:r>
              <a:rPr lang="en-US" sz="1800" b="0" i="1" dirty="0" smtClean="0">
                <a:latin typeface="Calibri" pitchFamily="34" charset="0"/>
              </a:rPr>
              <a:t>xception </a:t>
            </a:r>
            <a:r>
              <a:rPr lang="en-US" sz="1800" b="0" i="1" dirty="0">
                <a:latin typeface="Calibri" pitchFamily="34" charset="0"/>
              </a:rPr>
              <a:t>processing</a:t>
            </a:r>
          </a:p>
          <a:p>
            <a:pPr algn="l">
              <a:lnSpc>
                <a:spcPct val="100000"/>
              </a:lnSpc>
            </a:pPr>
            <a:r>
              <a:rPr lang="en-US" sz="1800" b="0" dirty="0">
                <a:latin typeface="Calibri" pitchFamily="34" charset="0"/>
              </a:rPr>
              <a:t>by </a:t>
            </a:r>
            <a:r>
              <a:rPr lang="en-US" sz="1800" b="0" i="1" dirty="0">
                <a:latin typeface="Calibri" pitchFamily="34" charset="0"/>
              </a:rPr>
              <a:t>exception handler</a:t>
            </a:r>
          </a:p>
          <a:p>
            <a:pPr algn="l">
              <a:lnSpc>
                <a:spcPct val="100000"/>
              </a:lnSpc>
            </a:pPr>
            <a:endParaRPr lang="en-US" sz="1800" b="0" i="1" dirty="0">
              <a:latin typeface="Calibri" pitchFamily="34" charset="0"/>
            </a:endParaRPr>
          </a:p>
        </p:txBody>
      </p:sp>
      <p:sp>
        <p:nvSpPr>
          <p:cNvPr id="476173" name="Rectangle 13"/>
          <p:cNvSpPr>
            <a:spLocks noChangeArrowheads="1"/>
          </p:cNvSpPr>
          <p:nvPr/>
        </p:nvSpPr>
        <p:spPr bwMode="auto">
          <a:xfrm>
            <a:off x="3733800" y="5140794"/>
            <a:ext cx="2093505" cy="920757"/>
          </a:xfrm>
          <a:prstGeom prst="rect">
            <a:avLst/>
          </a:prstGeom>
          <a:noFill/>
          <a:ln w="12700">
            <a:noFill/>
            <a:miter lim="800000"/>
            <a:headEnd/>
            <a:tailEnd/>
          </a:ln>
          <a:effectLst/>
        </p:spPr>
        <p:txBody>
          <a:bodyPr wrap="none" lIns="90479" tIns="44446" rIns="90479" bIns="44446">
            <a:spAutoFit/>
          </a:bodyPr>
          <a:lstStyle/>
          <a:p>
            <a:pPr algn="l">
              <a:lnSpc>
                <a:spcPct val="100000"/>
              </a:lnSpc>
              <a:buFont typeface="Arial" pitchFamily="34" charset="0"/>
              <a:buChar char="•"/>
            </a:pPr>
            <a:r>
              <a:rPr lang="en-US" sz="1800" b="0" i="1" dirty="0" smtClean="0">
                <a:latin typeface="Calibri" pitchFamily="34" charset="0"/>
              </a:rPr>
              <a:t> Return to </a:t>
            </a:r>
            <a:r>
              <a:rPr lang="en-US" sz="1800" b="0" i="1" dirty="0" err="1" smtClean="0">
                <a:latin typeface="Calibri" pitchFamily="34" charset="0"/>
              </a:rPr>
              <a:t>I_current</a:t>
            </a:r>
            <a:endParaRPr lang="en-US" sz="1800" b="0" i="1" dirty="0" smtClean="0">
              <a:latin typeface="Calibri" pitchFamily="34" charset="0"/>
            </a:endParaRPr>
          </a:p>
          <a:p>
            <a:pPr marL="112713" indent="-112713" algn="l">
              <a:lnSpc>
                <a:spcPct val="100000"/>
              </a:lnSpc>
              <a:buFont typeface="Arial" pitchFamily="34" charset="0"/>
              <a:buChar char="•"/>
            </a:pPr>
            <a:r>
              <a:rPr lang="en-US" sz="1800" b="0" i="1" dirty="0">
                <a:latin typeface="Calibri" pitchFamily="34" charset="0"/>
              </a:rPr>
              <a:t>R</a:t>
            </a:r>
            <a:r>
              <a:rPr lang="en-US" sz="1800" b="0" i="1" dirty="0" smtClean="0">
                <a:latin typeface="Calibri" pitchFamily="34" charset="0"/>
              </a:rPr>
              <a:t>eturn to </a:t>
            </a:r>
            <a:r>
              <a:rPr lang="en-US" sz="1800" b="0" i="1" dirty="0" err="1" smtClean="0">
                <a:latin typeface="Calibri" pitchFamily="34" charset="0"/>
              </a:rPr>
              <a:t>I_next</a:t>
            </a:r>
            <a:endParaRPr lang="en-US" sz="1800" b="0" i="1" dirty="0" smtClean="0">
              <a:latin typeface="Calibri" pitchFamily="34" charset="0"/>
            </a:endParaRPr>
          </a:p>
          <a:p>
            <a:pPr marL="112713" indent="-112713" algn="l">
              <a:lnSpc>
                <a:spcPct val="100000"/>
              </a:lnSpc>
              <a:buFont typeface="Arial" pitchFamily="34" charset="0"/>
              <a:buChar char="•"/>
            </a:pPr>
            <a:r>
              <a:rPr lang="en-US" sz="1800" b="0" i="1" dirty="0">
                <a:latin typeface="Calibri" pitchFamily="34" charset="0"/>
              </a:rPr>
              <a:t>A</a:t>
            </a:r>
            <a:r>
              <a:rPr lang="en-US" sz="1800" b="0" i="1" dirty="0" smtClean="0">
                <a:latin typeface="Calibri" pitchFamily="34" charset="0"/>
              </a:rPr>
              <a:t>bort</a:t>
            </a:r>
            <a:endParaRPr lang="en-US" sz="1800" b="0" dirty="0">
              <a:latin typeface="Calibri" pitchFamily="34" charset="0"/>
            </a:endParaRPr>
          </a:p>
        </p:txBody>
      </p:sp>
      <p:sp>
        <p:nvSpPr>
          <p:cNvPr id="476174" name="Rectangle 14"/>
          <p:cNvSpPr>
            <a:spLocks noChangeArrowheads="1"/>
          </p:cNvSpPr>
          <p:nvPr/>
        </p:nvSpPr>
        <p:spPr bwMode="auto">
          <a:xfrm>
            <a:off x="1040139" y="4359166"/>
            <a:ext cx="804863" cy="366759"/>
          </a:xfrm>
          <a:prstGeom prst="rect">
            <a:avLst/>
          </a:prstGeom>
          <a:noFill/>
          <a:ln w="12700">
            <a:noFill/>
            <a:miter lim="800000"/>
            <a:headEnd/>
            <a:tailEnd/>
          </a:ln>
          <a:effectLst/>
        </p:spPr>
        <p:txBody>
          <a:bodyPr lIns="90479" tIns="44446" rIns="90479" bIns="44446">
            <a:spAutoFit/>
          </a:bodyPr>
          <a:lstStyle/>
          <a:p>
            <a:pPr algn="l">
              <a:lnSpc>
                <a:spcPct val="100000"/>
              </a:lnSpc>
            </a:pPr>
            <a:r>
              <a:rPr lang="en-US" sz="1800" i="1" dirty="0">
                <a:solidFill>
                  <a:srgbClr val="C00000"/>
                </a:solidFill>
                <a:latin typeface="Calibri" pitchFamily="34" charset="0"/>
              </a:rPr>
              <a:t>E</a:t>
            </a:r>
            <a:r>
              <a:rPr lang="en-US" sz="1800" i="1" dirty="0" smtClean="0">
                <a:solidFill>
                  <a:srgbClr val="C00000"/>
                </a:solidFill>
                <a:latin typeface="Calibri" pitchFamily="34" charset="0"/>
              </a:rPr>
              <a:t>vent </a:t>
            </a:r>
            <a:endParaRPr lang="en-US" sz="1800" i="1" dirty="0">
              <a:solidFill>
                <a:srgbClr val="C00000"/>
              </a:solidFill>
              <a:latin typeface="Calibri" pitchFamily="34" charset="0"/>
            </a:endParaRPr>
          </a:p>
        </p:txBody>
      </p:sp>
      <p:sp>
        <p:nvSpPr>
          <p:cNvPr id="476175" name="Text Box 15"/>
          <p:cNvSpPr txBox="1">
            <a:spLocks noChangeArrowheads="1"/>
          </p:cNvSpPr>
          <p:nvPr/>
        </p:nvSpPr>
        <p:spPr bwMode="auto">
          <a:xfrm>
            <a:off x="2396803" y="4395951"/>
            <a:ext cx="867097" cy="307777"/>
          </a:xfrm>
          <a:prstGeom prst="rect">
            <a:avLst/>
          </a:prstGeom>
          <a:noFill/>
          <a:ln w="25400">
            <a:noFill/>
            <a:miter lim="800000"/>
            <a:headEnd/>
            <a:tailEnd/>
          </a:ln>
          <a:effectLst/>
        </p:spPr>
        <p:txBody>
          <a:bodyPr wrap="none">
            <a:spAutoFit/>
          </a:bodyPr>
          <a:lstStyle/>
          <a:p>
            <a:pPr algn="l">
              <a:lnSpc>
                <a:spcPct val="100000"/>
              </a:lnSpc>
            </a:pPr>
            <a:r>
              <a:rPr lang="en-US" sz="1400" b="0" dirty="0" err="1" smtClean="0">
                <a:latin typeface="Calibri" pitchFamily="34" charset="0"/>
              </a:rPr>
              <a:t>I_current</a:t>
            </a:r>
            <a:endParaRPr lang="en-US" sz="1400" b="0" dirty="0">
              <a:latin typeface="Calibri" pitchFamily="34" charset="0"/>
            </a:endParaRPr>
          </a:p>
        </p:txBody>
      </p:sp>
      <p:sp>
        <p:nvSpPr>
          <p:cNvPr id="476176" name="Text Box 16"/>
          <p:cNvSpPr txBox="1">
            <a:spLocks noChangeArrowheads="1"/>
          </p:cNvSpPr>
          <p:nvPr/>
        </p:nvSpPr>
        <p:spPr bwMode="auto">
          <a:xfrm>
            <a:off x="2613978" y="4601310"/>
            <a:ext cx="649922" cy="307777"/>
          </a:xfrm>
          <a:prstGeom prst="rect">
            <a:avLst/>
          </a:prstGeom>
          <a:noFill/>
          <a:ln w="25400">
            <a:noFill/>
            <a:miter lim="800000"/>
            <a:headEnd/>
            <a:tailEnd/>
          </a:ln>
          <a:effectLst/>
        </p:spPr>
        <p:txBody>
          <a:bodyPr wrap="none">
            <a:spAutoFit/>
          </a:bodyPr>
          <a:lstStyle/>
          <a:p>
            <a:pPr algn="l">
              <a:lnSpc>
                <a:spcPct val="100000"/>
              </a:lnSpc>
            </a:pPr>
            <a:r>
              <a:rPr lang="en-US" sz="1400" b="0" dirty="0" err="1" smtClean="0">
                <a:latin typeface="Calibri" pitchFamily="34" charset="0"/>
              </a:rPr>
              <a:t>I_next</a:t>
            </a:r>
            <a:endParaRPr lang="en-US" sz="1400" b="0" dirty="0">
              <a:latin typeface="Calibri" pitchFamily="34" charset="0"/>
            </a:endParaRPr>
          </a:p>
        </p:txBody>
      </p:sp>
      <p:sp>
        <p:nvSpPr>
          <p:cNvPr id="476177" name="Line 17"/>
          <p:cNvSpPr>
            <a:spLocks noChangeShapeType="1"/>
          </p:cNvSpPr>
          <p:nvPr/>
        </p:nvSpPr>
        <p:spPr bwMode="auto">
          <a:xfrm>
            <a:off x="1716251" y="4544623"/>
            <a:ext cx="685800" cy="0"/>
          </a:xfrm>
          <a:prstGeom prst="line">
            <a:avLst/>
          </a:prstGeom>
          <a:noFill/>
          <a:ln w="25400">
            <a:solidFill>
              <a:srgbClr val="C00000"/>
            </a:solidFill>
            <a:round/>
            <a:headEnd/>
            <a:tailEnd type="triangle" w="med" len="med"/>
          </a:ln>
          <a:effectLst/>
        </p:spPr>
        <p:txBody>
          <a:bodyPr wrap="none" anchor="ctr"/>
          <a:lstStyle/>
          <a:p>
            <a:endParaRPr lang="en-US" dirty="0">
              <a:latin typeface="Calibri" pitchFamily="34" charset="0"/>
            </a:endParaRPr>
          </a:p>
        </p:txBody>
      </p:sp>
    </p:spTree>
    <p:extLst>
      <p:ext uri="{BB962C8B-B14F-4D97-AF65-F5344CB8AC3E}">
        <p14:creationId xmlns:p14="http://schemas.microsoft.com/office/powerpoint/2010/main" val="327450650"/>
      </p:ext>
    </p:extLst>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617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617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7617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61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616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617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7617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7616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7617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761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7" grpId="0" animBg="1"/>
      <p:bldP spid="476168" grpId="0" animBg="1"/>
      <p:bldP spid="476169" grpId="0" animBg="1"/>
      <p:bldP spid="476170" grpId="0" animBg="1"/>
      <p:bldP spid="476171" grpId="0"/>
      <p:bldP spid="476172" grpId="0"/>
      <p:bldP spid="476173" grpId="0"/>
      <p:bldP spid="476174" grpId="0"/>
      <p:bldP spid="476176" grpId="0"/>
      <p:bldP spid="476177"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5"/>
          <p:cNvSpPr>
            <a:spLocks noChangeArrowheads="1"/>
          </p:cNvSpPr>
          <p:nvPr/>
        </p:nvSpPr>
        <p:spPr bwMode="auto">
          <a:xfrm>
            <a:off x="611188" y="3556000"/>
            <a:ext cx="1219200" cy="228600"/>
          </a:xfrm>
          <a:prstGeom prst="rect">
            <a:avLst/>
          </a:prstGeom>
          <a:solidFill>
            <a:schemeClr val="accent2">
              <a:lumMod val="20000"/>
              <a:lumOff val="80000"/>
            </a:schemeClr>
          </a:solidFill>
          <a:ln w="12700">
            <a:solidFill>
              <a:schemeClr val="tx1"/>
            </a:solidFill>
            <a:miter lim="800000"/>
            <a:headEnd/>
            <a:tailEnd/>
          </a:ln>
          <a:effectLst/>
        </p:spPr>
        <p:txBody>
          <a:bodyPr wrap="none" anchor="ctr">
            <a:spAutoFit/>
          </a:bodyPr>
          <a:lstStyle/>
          <a:p>
            <a:endParaRPr lang="en-US"/>
          </a:p>
        </p:txBody>
      </p:sp>
      <p:sp>
        <p:nvSpPr>
          <p:cNvPr id="43" name="Rectangle 6"/>
          <p:cNvSpPr>
            <a:spLocks noChangeArrowheads="1"/>
          </p:cNvSpPr>
          <p:nvPr/>
        </p:nvSpPr>
        <p:spPr bwMode="auto">
          <a:xfrm>
            <a:off x="611188" y="3784600"/>
            <a:ext cx="1219200" cy="228600"/>
          </a:xfrm>
          <a:prstGeom prst="rect">
            <a:avLst/>
          </a:prstGeom>
          <a:solidFill>
            <a:schemeClr val="accent2">
              <a:lumMod val="20000"/>
              <a:lumOff val="80000"/>
            </a:schemeClr>
          </a:solidFill>
          <a:ln w="12700">
            <a:solidFill>
              <a:schemeClr val="tx1"/>
            </a:solidFill>
            <a:miter lim="800000"/>
            <a:headEnd/>
            <a:tailEnd/>
          </a:ln>
          <a:effectLst/>
        </p:spPr>
        <p:txBody>
          <a:bodyPr wrap="none" anchor="ctr">
            <a:spAutoFit/>
          </a:bodyPr>
          <a:lstStyle/>
          <a:p>
            <a:endParaRPr lang="en-US"/>
          </a:p>
        </p:txBody>
      </p:sp>
      <p:sp>
        <p:nvSpPr>
          <p:cNvPr id="44" name="Rectangle 7"/>
          <p:cNvSpPr>
            <a:spLocks noChangeArrowheads="1"/>
          </p:cNvSpPr>
          <p:nvPr/>
        </p:nvSpPr>
        <p:spPr bwMode="auto">
          <a:xfrm>
            <a:off x="611188" y="4013200"/>
            <a:ext cx="1219200" cy="228600"/>
          </a:xfrm>
          <a:prstGeom prst="rect">
            <a:avLst/>
          </a:prstGeom>
          <a:solidFill>
            <a:schemeClr val="accent2">
              <a:lumMod val="20000"/>
              <a:lumOff val="80000"/>
            </a:schemeClr>
          </a:solidFill>
          <a:ln w="12700">
            <a:solidFill>
              <a:schemeClr val="tx1"/>
            </a:solidFill>
            <a:miter lim="800000"/>
            <a:headEnd/>
            <a:tailEnd/>
          </a:ln>
          <a:effectLst/>
        </p:spPr>
        <p:txBody>
          <a:bodyPr wrap="none" anchor="ctr">
            <a:spAutoFit/>
          </a:bodyPr>
          <a:lstStyle/>
          <a:p>
            <a:endParaRPr lang="en-US"/>
          </a:p>
        </p:txBody>
      </p:sp>
      <p:sp>
        <p:nvSpPr>
          <p:cNvPr id="45" name="Oval 9"/>
          <p:cNvSpPr>
            <a:spLocks noChangeArrowheads="1"/>
          </p:cNvSpPr>
          <p:nvPr/>
        </p:nvSpPr>
        <p:spPr bwMode="auto">
          <a:xfrm>
            <a:off x="1179513" y="4076700"/>
            <a:ext cx="88900" cy="88900"/>
          </a:xfrm>
          <a:prstGeom prst="ellipse">
            <a:avLst/>
          </a:prstGeom>
          <a:solidFill>
            <a:schemeClr val="tx1"/>
          </a:solidFill>
          <a:ln w="12700">
            <a:solidFill>
              <a:schemeClr val="tx1"/>
            </a:solidFill>
            <a:round/>
            <a:headEnd/>
            <a:tailEnd/>
          </a:ln>
          <a:effectLst/>
        </p:spPr>
        <p:txBody>
          <a:bodyPr wrap="none" anchor="ctr">
            <a:spAutoFit/>
          </a:bodyPr>
          <a:lstStyle/>
          <a:p>
            <a:endParaRPr lang="en-US"/>
          </a:p>
        </p:txBody>
      </p:sp>
      <p:sp>
        <p:nvSpPr>
          <p:cNvPr id="46" name="Text Box 10"/>
          <p:cNvSpPr txBox="1">
            <a:spLocks noChangeArrowheads="1"/>
          </p:cNvSpPr>
          <p:nvPr/>
        </p:nvSpPr>
        <p:spPr bwMode="auto">
          <a:xfrm>
            <a:off x="390525" y="3505200"/>
            <a:ext cx="282575" cy="304800"/>
          </a:xfrm>
          <a:prstGeom prst="rect">
            <a:avLst/>
          </a:prstGeom>
          <a:noFill/>
          <a:ln w="12700">
            <a:noFill/>
            <a:miter lim="800000"/>
            <a:headEnd/>
            <a:tailEnd/>
          </a:ln>
          <a:effectLst/>
        </p:spPr>
        <p:txBody>
          <a:bodyPr wrap="none" anchor="ctr">
            <a:spAutoFit/>
          </a:bodyPr>
          <a:lstStyle/>
          <a:p>
            <a:pPr>
              <a:lnSpc>
                <a:spcPct val="100000"/>
              </a:lnSpc>
            </a:pPr>
            <a:r>
              <a:rPr lang="en-US" sz="1400">
                <a:latin typeface="Arial" pitchFamily="34" charset="0"/>
              </a:rPr>
              <a:t>0</a:t>
            </a:r>
          </a:p>
        </p:txBody>
      </p:sp>
      <p:sp>
        <p:nvSpPr>
          <p:cNvPr id="47" name="Text Box 11"/>
          <p:cNvSpPr txBox="1">
            <a:spLocks noChangeArrowheads="1"/>
          </p:cNvSpPr>
          <p:nvPr/>
        </p:nvSpPr>
        <p:spPr bwMode="auto">
          <a:xfrm>
            <a:off x="390525" y="3708400"/>
            <a:ext cx="282575" cy="304800"/>
          </a:xfrm>
          <a:prstGeom prst="rect">
            <a:avLst/>
          </a:prstGeom>
          <a:noFill/>
          <a:ln w="12700">
            <a:noFill/>
            <a:miter lim="800000"/>
            <a:headEnd/>
            <a:tailEnd/>
          </a:ln>
          <a:effectLst/>
        </p:spPr>
        <p:txBody>
          <a:bodyPr wrap="none" anchor="ctr">
            <a:spAutoFit/>
          </a:bodyPr>
          <a:lstStyle/>
          <a:p>
            <a:pPr>
              <a:lnSpc>
                <a:spcPct val="100000"/>
              </a:lnSpc>
            </a:pPr>
            <a:r>
              <a:rPr lang="en-US" sz="1400">
                <a:latin typeface="Arial" pitchFamily="34" charset="0"/>
              </a:rPr>
              <a:t>1</a:t>
            </a:r>
          </a:p>
        </p:txBody>
      </p:sp>
      <p:sp>
        <p:nvSpPr>
          <p:cNvPr id="48" name="Text Box 12"/>
          <p:cNvSpPr txBox="1">
            <a:spLocks noChangeArrowheads="1"/>
          </p:cNvSpPr>
          <p:nvPr/>
        </p:nvSpPr>
        <p:spPr bwMode="auto">
          <a:xfrm>
            <a:off x="390525" y="3962400"/>
            <a:ext cx="282575" cy="304800"/>
          </a:xfrm>
          <a:prstGeom prst="rect">
            <a:avLst/>
          </a:prstGeom>
          <a:noFill/>
          <a:ln w="12700">
            <a:noFill/>
            <a:miter lim="800000"/>
            <a:headEnd/>
            <a:tailEnd/>
          </a:ln>
          <a:effectLst/>
        </p:spPr>
        <p:txBody>
          <a:bodyPr wrap="none" anchor="ctr">
            <a:spAutoFit/>
          </a:bodyPr>
          <a:lstStyle/>
          <a:p>
            <a:pPr>
              <a:lnSpc>
                <a:spcPct val="100000"/>
              </a:lnSpc>
            </a:pPr>
            <a:r>
              <a:rPr lang="en-US" sz="1400">
                <a:latin typeface="Arial" pitchFamily="34" charset="0"/>
              </a:rPr>
              <a:t>2</a:t>
            </a:r>
          </a:p>
        </p:txBody>
      </p:sp>
      <p:sp>
        <p:nvSpPr>
          <p:cNvPr id="49" name="Text Box 13"/>
          <p:cNvSpPr txBox="1">
            <a:spLocks noChangeArrowheads="1"/>
          </p:cNvSpPr>
          <p:nvPr/>
        </p:nvSpPr>
        <p:spPr bwMode="auto">
          <a:xfrm>
            <a:off x="1004888" y="4025900"/>
            <a:ext cx="436562" cy="457200"/>
          </a:xfrm>
          <a:prstGeom prst="rect">
            <a:avLst/>
          </a:prstGeom>
          <a:noFill/>
          <a:ln w="12700">
            <a:noFill/>
            <a:miter lim="800000"/>
            <a:headEnd/>
            <a:tailEnd/>
          </a:ln>
          <a:effectLst/>
        </p:spPr>
        <p:txBody>
          <a:bodyPr wrap="none" anchor="ctr">
            <a:spAutoFit/>
          </a:bodyPr>
          <a:lstStyle/>
          <a:p>
            <a:pPr>
              <a:lnSpc>
                <a:spcPct val="100000"/>
              </a:lnSpc>
            </a:pPr>
            <a:r>
              <a:rPr lang="en-US" sz="2400">
                <a:latin typeface="Arial" pitchFamily="34" charset="0"/>
              </a:rPr>
              <a:t>...</a:t>
            </a:r>
          </a:p>
        </p:txBody>
      </p:sp>
      <p:sp>
        <p:nvSpPr>
          <p:cNvPr id="50" name="Rectangle 14"/>
          <p:cNvSpPr>
            <a:spLocks noChangeArrowheads="1"/>
          </p:cNvSpPr>
          <p:nvPr/>
        </p:nvSpPr>
        <p:spPr bwMode="auto">
          <a:xfrm>
            <a:off x="611188" y="4495800"/>
            <a:ext cx="1219200" cy="228600"/>
          </a:xfrm>
          <a:prstGeom prst="rect">
            <a:avLst/>
          </a:prstGeom>
          <a:solidFill>
            <a:schemeClr val="accent2">
              <a:lumMod val="20000"/>
              <a:lumOff val="80000"/>
            </a:schemeClr>
          </a:solidFill>
          <a:ln w="12700">
            <a:solidFill>
              <a:schemeClr val="tx1"/>
            </a:solidFill>
            <a:miter lim="800000"/>
            <a:headEnd/>
            <a:tailEnd/>
          </a:ln>
          <a:effectLst/>
        </p:spPr>
        <p:txBody>
          <a:bodyPr wrap="none" anchor="ctr">
            <a:spAutoFit/>
          </a:bodyPr>
          <a:lstStyle/>
          <a:p>
            <a:endParaRPr lang="en-US"/>
          </a:p>
        </p:txBody>
      </p:sp>
      <p:sp>
        <p:nvSpPr>
          <p:cNvPr id="51" name="Text Box 15"/>
          <p:cNvSpPr txBox="1">
            <a:spLocks noChangeArrowheads="1"/>
          </p:cNvSpPr>
          <p:nvPr/>
        </p:nvSpPr>
        <p:spPr bwMode="auto">
          <a:xfrm>
            <a:off x="223838" y="4445000"/>
            <a:ext cx="449262" cy="304800"/>
          </a:xfrm>
          <a:prstGeom prst="rect">
            <a:avLst/>
          </a:prstGeom>
          <a:noFill/>
          <a:ln w="12700">
            <a:noFill/>
            <a:miter lim="800000"/>
            <a:headEnd/>
            <a:tailEnd/>
          </a:ln>
          <a:effectLst/>
        </p:spPr>
        <p:txBody>
          <a:bodyPr wrap="none" anchor="ctr">
            <a:spAutoFit/>
          </a:bodyPr>
          <a:lstStyle/>
          <a:p>
            <a:pPr>
              <a:lnSpc>
                <a:spcPct val="100000"/>
              </a:lnSpc>
            </a:pPr>
            <a:r>
              <a:rPr lang="en-US" sz="1400">
                <a:latin typeface="Arial" pitchFamily="34" charset="0"/>
              </a:rPr>
              <a:t>n-1</a:t>
            </a:r>
          </a:p>
        </p:txBody>
      </p:sp>
      <p:sp>
        <p:nvSpPr>
          <p:cNvPr id="52" name="Oval 16"/>
          <p:cNvSpPr>
            <a:spLocks noChangeArrowheads="1"/>
          </p:cNvSpPr>
          <p:nvPr/>
        </p:nvSpPr>
        <p:spPr bwMode="auto">
          <a:xfrm>
            <a:off x="1179513" y="3644900"/>
            <a:ext cx="88900" cy="88900"/>
          </a:xfrm>
          <a:prstGeom prst="ellipse">
            <a:avLst/>
          </a:prstGeom>
          <a:solidFill>
            <a:schemeClr val="tx1"/>
          </a:solidFill>
          <a:ln w="12700">
            <a:solidFill>
              <a:schemeClr val="tx1"/>
            </a:solidFill>
            <a:round/>
            <a:headEnd/>
            <a:tailEnd/>
          </a:ln>
          <a:effectLst/>
        </p:spPr>
        <p:txBody>
          <a:bodyPr wrap="none" anchor="ctr">
            <a:spAutoFit/>
          </a:bodyPr>
          <a:lstStyle/>
          <a:p>
            <a:endParaRPr lang="en-US"/>
          </a:p>
        </p:txBody>
      </p:sp>
      <p:sp>
        <p:nvSpPr>
          <p:cNvPr id="53" name="Oval 20"/>
          <p:cNvSpPr>
            <a:spLocks noChangeArrowheads="1"/>
          </p:cNvSpPr>
          <p:nvPr/>
        </p:nvSpPr>
        <p:spPr bwMode="auto">
          <a:xfrm>
            <a:off x="1179513" y="3860800"/>
            <a:ext cx="88900" cy="88900"/>
          </a:xfrm>
          <a:prstGeom prst="ellipse">
            <a:avLst/>
          </a:prstGeom>
          <a:solidFill>
            <a:schemeClr val="tx1"/>
          </a:solidFill>
          <a:ln w="12700">
            <a:solidFill>
              <a:schemeClr val="tx1"/>
            </a:solidFill>
            <a:round/>
            <a:headEnd/>
            <a:tailEnd/>
          </a:ln>
          <a:effectLst/>
        </p:spPr>
        <p:txBody>
          <a:bodyPr wrap="none" anchor="ctr">
            <a:spAutoFit/>
          </a:bodyPr>
          <a:lstStyle/>
          <a:p>
            <a:endParaRPr lang="en-US"/>
          </a:p>
        </p:txBody>
      </p:sp>
      <p:sp>
        <p:nvSpPr>
          <p:cNvPr id="54" name="Oval 25"/>
          <p:cNvSpPr>
            <a:spLocks noChangeArrowheads="1"/>
          </p:cNvSpPr>
          <p:nvPr/>
        </p:nvSpPr>
        <p:spPr bwMode="auto">
          <a:xfrm>
            <a:off x="1179513" y="4559300"/>
            <a:ext cx="88900" cy="88900"/>
          </a:xfrm>
          <a:prstGeom prst="ellipse">
            <a:avLst/>
          </a:prstGeom>
          <a:solidFill>
            <a:schemeClr val="tx1"/>
          </a:solidFill>
          <a:ln w="12700">
            <a:solidFill>
              <a:schemeClr val="tx1"/>
            </a:solidFill>
            <a:round/>
            <a:headEnd/>
            <a:tailEnd/>
          </a:ln>
          <a:effectLst/>
        </p:spPr>
        <p:txBody>
          <a:bodyPr wrap="none" anchor="ctr">
            <a:spAutoFit/>
          </a:bodyPr>
          <a:lstStyle/>
          <a:p>
            <a:endParaRPr lang="en-US"/>
          </a:p>
        </p:txBody>
      </p:sp>
      <p:sp>
        <p:nvSpPr>
          <p:cNvPr id="477213" name="Rectangle 29"/>
          <p:cNvSpPr>
            <a:spLocks noGrp="1" noChangeArrowheads="1"/>
          </p:cNvSpPr>
          <p:nvPr>
            <p:ph type="title"/>
          </p:nvPr>
        </p:nvSpPr>
        <p:spPr/>
        <p:txBody>
          <a:bodyPr/>
          <a:lstStyle/>
          <a:p>
            <a:r>
              <a:rPr lang="en-US" dirty="0" smtClean="0"/>
              <a:t>Exception Tables</a:t>
            </a:r>
            <a:endParaRPr lang="en-US" dirty="0"/>
          </a:p>
        </p:txBody>
      </p:sp>
      <p:sp>
        <p:nvSpPr>
          <p:cNvPr id="477214" name="Rectangle 30"/>
          <p:cNvSpPr>
            <a:spLocks noGrp="1" noChangeArrowheads="1"/>
          </p:cNvSpPr>
          <p:nvPr>
            <p:ph type="body" idx="1"/>
          </p:nvPr>
        </p:nvSpPr>
        <p:spPr>
          <a:xfrm>
            <a:off x="5181600" y="2340138"/>
            <a:ext cx="3810000" cy="3222462"/>
          </a:xfrm>
        </p:spPr>
        <p:txBody>
          <a:bodyPr/>
          <a:lstStyle/>
          <a:p>
            <a:r>
              <a:rPr lang="en-US" sz="2000" dirty="0"/>
              <a:t>Each </a:t>
            </a:r>
            <a:r>
              <a:rPr lang="en-US" sz="2000" dirty="0" smtClean="0"/>
              <a:t>type </a:t>
            </a:r>
            <a:r>
              <a:rPr lang="en-US" sz="2000" dirty="0"/>
              <a:t>of event has a </a:t>
            </a:r>
            <a:r>
              <a:rPr lang="en-US" sz="2000" dirty="0" smtClean="0"/>
              <a:t/>
            </a:r>
            <a:br>
              <a:rPr lang="en-US" sz="2000" dirty="0" smtClean="0"/>
            </a:br>
            <a:r>
              <a:rPr lang="en-US" sz="2000" dirty="0" smtClean="0"/>
              <a:t>unique </a:t>
            </a:r>
            <a:r>
              <a:rPr lang="en-US" sz="2000" dirty="0"/>
              <a:t>exception number k</a:t>
            </a:r>
          </a:p>
          <a:p>
            <a:endParaRPr lang="en-US" sz="2000" dirty="0" smtClean="0"/>
          </a:p>
          <a:p>
            <a:r>
              <a:rPr lang="en-US" sz="2000" dirty="0" smtClean="0"/>
              <a:t>k = index </a:t>
            </a:r>
            <a:r>
              <a:rPr lang="en-US" sz="2000" dirty="0"/>
              <a:t>into </a:t>
            </a:r>
            <a:r>
              <a:rPr lang="en-US" sz="2000" dirty="0" smtClean="0"/>
              <a:t>exception table </a:t>
            </a:r>
            <a:br>
              <a:rPr lang="en-US" sz="2000" dirty="0" smtClean="0"/>
            </a:br>
            <a:r>
              <a:rPr lang="en-US" sz="2000" dirty="0" smtClean="0"/>
              <a:t>(</a:t>
            </a:r>
            <a:r>
              <a:rPr lang="en-US" sz="2000" dirty="0"/>
              <a:t>a.k.a</a:t>
            </a:r>
            <a:r>
              <a:rPr lang="en-US" sz="2000" dirty="0" smtClean="0"/>
              <a:t>. </a:t>
            </a:r>
            <a:r>
              <a:rPr lang="en-US" sz="2000" dirty="0"/>
              <a:t>interrupt vector)</a:t>
            </a:r>
          </a:p>
          <a:p>
            <a:endParaRPr lang="en-US" sz="2000" dirty="0" smtClean="0"/>
          </a:p>
          <a:p>
            <a:r>
              <a:rPr lang="en-US" sz="2000" dirty="0" smtClean="0"/>
              <a:t>Handler </a:t>
            </a:r>
            <a:r>
              <a:rPr lang="en-US" sz="2000" dirty="0"/>
              <a:t>k is called each time </a:t>
            </a:r>
            <a:r>
              <a:rPr lang="en-US" sz="2000" dirty="0" smtClean="0"/>
              <a:t/>
            </a:r>
            <a:br>
              <a:rPr lang="en-US" sz="2000" dirty="0" smtClean="0"/>
            </a:br>
            <a:r>
              <a:rPr lang="en-US" sz="2000" dirty="0" smtClean="0"/>
              <a:t>exception </a:t>
            </a:r>
            <a:r>
              <a:rPr lang="en-US" sz="2000" dirty="0"/>
              <a:t>k occurs</a:t>
            </a:r>
          </a:p>
        </p:txBody>
      </p:sp>
      <p:sp>
        <p:nvSpPr>
          <p:cNvPr id="477188" name="Rectangle 4"/>
          <p:cNvSpPr>
            <a:spLocks noChangeArrowheads="1"/>
          </p:cNvSpPr>
          <p:nvPr/>
        </p:nvSpPr>
        <p:spPr bwMode="auto">
          <a:xfrm>
            <a:off x="511624" y="2993480"/>
            <a:ext cx="1012376" cy="582203"/>
          </a:xfrm>
          <a:prstGeom prst="rect">
            <a:avLst/>
          </a:prstGeom>
          <a:noFill/>
          <a:ln w="12700">
            <a:noFill/>
            <a:miter lim="800000"/>
            <a:headEnd/>
            <a:tailEnd/>
          </a:ln>
          <a:effectLst/>
        </p:spPr>
        <p:txBody>
          <a:bodyPr wrap="none" lIns="90479" tIns="44446" rIns="90479" bIns="44446">
            <a:spAutoFit/>
          </a:bodyPr>
          <a:lstStyle/>
          <a:p>
            <a:pPr>
              <a:lnSpc>
                <a:spcPct val="100000"/>
              </a:lnSpc>
            </a:pPr>
            <a:r>
              <a:rPr lang="en-US" sz="1600" dirty="0" smtClean="0">
                <a:latin typeface="Calibri" pitchFamily="34" charset="0"/>
              </a:rPr>
              <a:t>Exception</a:t>
            </a:r>
          </a:p>
          <a:p>
            <a:pPr>
              <a:lnSpc>
                <a:spcPct val="100000"/>
              </a:lnSpc>
            </a:pPr>
            <a:r>
              <a:rPr lang="en-US" sz="1600" dirty="0" smtClean="0">
                <a:latin typeface="Calibri" pitchFamily="34" charset="0"/>
              </a:rPr>
              <a:t>Table</a:t>
            </a:r>
            <a:endParaRPr lang="en-US" sz="1600" dirty="0">
              <a:latin typeface="Calibri" pitchFamily="34" charset="0"/>
            </a:endParaRPr>
          </a:p>
        </p:txBody>
      </p:sp>
      <p:sp>
        <p:nvSpPr>
          <p:cNvPr id="477192" name="Line 8"/>
          <p:cNvSpPr>
            <a:spLocks noChangeShapeType="1"/>
          </p:cNvSpPr>
          <p:nvPr/>
        </p:nvSpPr>
        <p:spPr bwMode="auto">
          <a:xfrm flipV="1">
            <a:off x="1220788" y="3797300"/>
            <a:ext cx="1219200" cy="317500"/>
          </a:xfrm>
          <a:prstGeom prst="line">
            <a:avLst/>
          </a:prstGeom>
          <a:noFill/>
          <a:ln w="12700">
            <a:solidFill>
              <a:schemeClr val="tx1"/>
            </a:solidFill>
            <a:round/>
            <a:headEnd/>
            <a:tailEnd type="triangle" w="med" len="med"/>
          </a:ln>
          <a:effectLst/>
        </p:spPr>
        <p:txBody>
          <a:bodyPr anchor="ctr">
            <a:spAutoFit/>
          </a:bodyPr>
          <a:lstStyle/>
          <a:p>
            <a:endParaRPr lang="en-US" dirty="0">
              <a:latin typeface="Calibri" pitchFamily="34" charset="0"/>
            </a:endParaRPr>
          </a:p>
        </p:txBody>
      </p:sp>
      <p:sp>
        <p:nvSpPr>
          <p:cNvPr id="477201" name="Line 17"/>
          <p:cNvSpPr>
            <a:spLocks noChangeShapeType="1"/>
          </p:cNvSpPr>
          <p:nvPr/>
        </p:nvSpPr>
        <p:spPr bwMode="auto">
          <a:xfrm flipV="1">
            <a:off x="1220788" y="2425700"/>
            <a:ext cx="1219200" cy="1257300"/>
          </a:xfrm>
          <a:prstGeom prst="line">
            <a:avLst/>
          </a:prstGeom>
          <a:noFill/>
          <a:ln w="12700">
            <a:solidFill>
              <a:schemeClr val="tx1"/>
            </a:solidFill>
            <a:round/>
            <a:headEnd/>
            <a:tailEnd type="triangle" w="med" len="med"/>
          </a:ln>
          <a:effectLst/>
        </p:spPr>
        <p:txBody>
          <a:bodyPr anchor="ctr">
            <a:spAutoFit/>
          </a:bodyPr>
          <a:lstStyle/>
          <a:p>
            <a:endParaRPr lang="en-US" dirty="0">
              <a:latin typeface="Calibri" pitchFamily="34" charset="0"/>
            </a:endParaRPr>
          </a:p>
        </p:txBody>
      </p:sp>
      <p:sp>
        <p:nvSpPr>
          <p:cNvPr id="477202" name="Rectangle 18"/>
          <p:cNvSpPr>
            <a:spLocks noChangeArrowheads="1"/>
          </p:cNvSpPr>
          <p:nvPr/>
        </p:nvSpPr>
        <p:spPr bwMode="auto">
          <a:xfrm>
            <a:off x="2439988" y="2425700"/>
            <a:ext cx="2589212" cy="533400"/>
          </a:xfrm>
          <a:prstGeom prst="rect">
            <a:avLst/>
          </a:prstGeom>
          <a:solidFill>
            <a:srgbClr val="F6F5BD"/>
          </a:solidFill>
          <a:ln w="9525">
            <a:solidFill>
              <a:schemeClr val="tx1"/>
            </a:solidFill>
            <a:miter lim="800000"/>
            <a:headEnd/>
            <a:tailEnd/>
          </a:ln>
          <a:effectLst/>
        </p:spPr>
        <p:txBody>
          <a:bodyPr wrap="none" anchor="ctr"/>
          <a:lstStyle/>
          <a:p>
            <a:pPr>
              <a:lnSpc>
                <a:spcPct val="100000"/>
              </a:lnSpc>
            </a:pPr>
            <a:r>
              <a:rPr lang="en-US" sz="1600" dirty="0">
                <a:latin typeface="Calibri" pitchFamily="34" charset="0"/>
              </a:rPr>
              <a:t>C</a:t>
            </a:r>
            <a:r>
              <a:rPr lang="en-US" sz="1600" dirty="0" smtClean="0">
                <a:latin typeface="Calibri" pitchFamily="34" charset="0"/>
              </a:rPr>
              <a:t>ode </a:t>
            </a:r>
            <a:r>
              <a:rPr lang="en-US" sz="1600" dirty="0">
                <a:latin typeface="Calibri" pitchFamily="34" charset="0"/>
              </a:rPr>
              <a:t>for  </a:t>
            </a:r>
          </a:p>
          <a:p>
            <a:pPr>
              <a:lnSpc>
                <a:spcPct val="100000"/>
              </a:lnSpc>
            </a:pPr>
            <a:r>
              <a:rPr lang="en-US" sz="1600" dirty="0">
                <a:latin typeface="Calibri" pitchFamily="34" charset="0"/>
              </a:rPr>
              <a:t>exception handler 0</a:t>
            </a:r>
          </a:p>
        </p:txBody>
      </p:sp>
      <p:sp>
        <p:nvSpPr>
          <p:cNvPr id="477203" name="Rectangle 19"/>
          <p:cNvSpPr>
            <a:spLocks noChangeArrowheads="1"/>
          </p:cNvSpPr>
          <p:nvPr/>
        </p:nvSpPr>
        <p:spPr bwMode="auto">
          <a:xfrm>
            <a:off x="2439988" y="3111500"/>
            <a:ext cx="2589212" cy="533400"/>
          </a:xfrm>
          <a:prstGeom prst="rect">
            <a:avLst/>
          </a:prstGeom>
          <a:solidFill>
            <a:srgbClr val="F6F5BD"/>
          </a:solidFill>
          <a:ln w="9525">
            <a:solidFill>
              <a:schemeClr val="tx1"/>
            </a:solidFill>
            <a:miter lim="800000"/>
            <a:headEnd/>
            <a:tailEnd/>
          </a:ln>
          <a:effectLst/>
        </p:spPr>
        <p:txBody>
          <a:bodyPr wrap="none" anchor="ctr"/>
          <a:lstStyle/>
          <a:p>
            <a:pPr>
              <a:lnSpc>
                <a:spcPct val="100000"/>
              </a:lnSpc>
            </a:pPr>
            <a:r>
              <a:rPr lang="en-US" sz="1600" dirty="0">
                <a:latin typeface="Calibri" pitchFamily="34" charset="0"/>
              </a:rPr>
              <a:t>C</a:t>
            </a:r>
            <a:r>
              <a:rPr lang="en-US" sz="1600" dirty="0" smtClean="0">
                <a:latin typeface="Calibri" pitchFamily="34" charset="0"/>
              </a:rPr>
              <a:t>ode </a:t>
            </a:r>
            <a:r>
              <a:rPr lang="en-US" sz="1600" dirty="0">
                <a:latin typeface="Calibri" pitchFamily="34" charset="0"/>
              </a:rPr>
              <a:t>for </a:t>
            </a:r>
          </a:p>
          <a:p>
            <a:pPr>
              <a:lnSpc>
                <a:spcPct val="100000"/>
              </a:lnSpc>
            </a:pPr>
            <a:r>
              <a:rPr lang="en-US" sz="1600" dirty="0">
                <a:latin typeface="Calibri" pitchFamily="34" charset="0"/>
              </a:rPr>
              <a:t>exception handler 1</a:t>
            </a:r>
          </a:p>
        </p:txBody>
      </p:sp>
      <p:sp>
        <p:nvSpPr>
          <p:cNvPr id="477205" name="Line 21"/>
          <p:cNvSpPr>
            <a:spLocks noChangeShapeType="1"/>
          </p:cNvSpPr>
          <p:nvPr/>
        </p:nvSpPr>
        <p:spPr bwMode="auto">
          <a:xfrm flipV="1">
            <a:off x="1220788" y="3111500"/>
            <a:ext cx="1219200" cy="793750"/>
          </a:xfrm>
          <a:prstGeom prst="line">
            <a:avLst/>
          </a:prstGeom>
          <a:noFill/>
          <a:ln w="12700">
            <a:solidFill>
              <a:schemeClr val="tx1"/>
            </a:solidFill>
            <a:round/>
            <a:headEnd/>
            <a:tailEnd type="triangle" w="med" len="med"/>
          </a:ln>
          <a:effectLst/>
        </p:spPr>
        <p:txBody>
          <a:bodyPr anchor="ctr">
            <a:spAutoFit/>
          </a:bodyPr>
          <a:lstStyle/>
          <a:p>
            <a:endParaRPr lang="en-US" dirty="0">
              <a:latin typeface="Calibri" pitchFamily="34" charset="0"/>
            </a:endParaRPr>
          </a:p>
        </p:txBody>
      </p:sp>
      <p:sp>
        <p:nvSpPr>
          <p:cNvPr id="477206" name="Rectangle 22"/>
          <p:cNvSpPr>
            <a:spLocks noChangeArrowheads="1"/>
          </p:cNvSpPr>
          <p:nvPr/>
        </p:nvSpPr>
        <p:spPr bwMode="auto">
          <a:xfrm>
            <a:off x="2439988" y="3797300"/>
            <a:ext cx="2589212" cy="533400"/>
          </a:xfrm>
          <a:prstGeom prst="rect">
            <a:avLst/>
          </a:prstGeom>
          <a:solidFill>
            <a:srgbClr val="F6F5BD"/>
          </a:solidFill>
          <a:ln w="9525">
            <a:solidFill>
              <a:schemeClr val="tx1"/>
            </a:solidFill>
            <a:miter lim="800000"/>
            <a:headEnd/>
            <a:tailEnd/>
          </a:ln>
          <a:effectLst/>
        </p:spPr>
        <p:txBody>
          <a:bodyPr wrap="none" anchor="ctr"/>
          <a:lstStyle/>
          <a:p>
            <a:pPr>
              <a:lnSpc>
                <a:spcPct val="100000"/>
              </a:lnSpc>
            </a:pPr>
            <a:r>
              <a:rPr lang="en-US" sz="1600" dirty="0">
                <a:latin typeface="Calibri" pitchFamily="34" charset="0"/>
              </a:rPr>
              <a:t>C</a:t>
            </a:r>
            <a:r>
              <a:rPr lang="en-US" sz="1600" dirty="0" smtClean="0">
                <a:latin typeface="Calibri" pitchFamily="34" charset="0"/>
              </a:rPr>
              <a:t>ode </a:t>
            </a:r>
            <a:r>
              <a:rPr lang="en-US" sz="1600" dirty="0">
                <a:latin typeface="Calibri" pitchFamily="34" charset="0"/>
              </a:rPr>
              <a:t>for</a:t>
            </a:r>
          </a:p>
          <a:p>
            <a:pPr>
              <a:lnSpc>
                <a:spcPct val="100000"/>
              </a:lnSpc>
            </a:pPr>
            <a:r>
              <a:rPr lang="en-US" sz="1600" dirty="0">
                <a:latin typeface="Calibri" pitchFamily="34" charset="0"/>
              </a:rPr>
              <a:t>exception handler 2</a:t>
            </a:r>
          </a:p>
        </p:txBody>
      </p:sp>
      <p:sp>
        <p:nvSpPr>
          <p:cNvPr id="477207" name="Rectangle 23"/>
          <p:cNvSpPr>
            <a:spLocks noChangeArrowheads="1"/>
          </p:cNvSpPr>
          <p:nvPr/>
        </p:nvSpPr>
        <p:spPr bwMode="auto">
          <a:xfrm>
            <a:off x="2439988" y="5105400"/>
            <a:ext cx="2589212" cy="533400"/>
          </a:xfrm>
          <a:prstGeom prst="rect">
            <a:avLst/>
          </a:prstGeom>
          <a:solidFill>
            <a:srgbClr val="F6F5BD"/>
          </a:solidFill>
          <a:ln w="9525">
            <a:solidFill>
              <a:schemeClr val="tx1"/>
            </a:solidFill>
            <a:miter lim="800000"/>
            <a:headEnd/>
            <a:tailEnd/>
          </a:ln>
          <a:effectLst/>
        </p:spPr>
        <p:txBody>
          <a:bodyPr wrap="none" anchor="ctr"/>
          <a:lstStyle/>
          <a:p>
            <a:pPr>
              <a:lnSpc>
                <a:spcPct val="100000"/>
              </a:lnSpc>
            </a:pPr>
            <a:r>
              <a:rPr lang="en-US" sz="1600" dirty="0">
                <a:latin typeface="Calibri" pitchFamily="34" charset="0"/>
              </a:rPr>
              <a:t>C</a:t>
            </a:r>
            <a:r>
              <a:rPr lang="en-US" sz="1600" dirty="0" smtClean="0">
                <a:latin typeface="Calibri" pitchFamily="34" charset="0"/>
              </a:rPr>
              <a:t>ode </a:t>
            </a:r>
            <a:r>
              <a:rPr lang="en-US" sz="1600" dirty="0">
                <a:latin typeface="Calibri" pitchFamily="34" charset="0"/>
              </a:rPr>
              <a:t>for </a:t>
            </a:r>
          </a:p>
          <a:p>
            <a:pPr>
              <a:lnSpc>
                <a:spcPct val="100000"/>
              </a:lnSpc>
            </a:pPr>
            <a:r>
              <a:rPr lang="en-US" sz="1600" dirty="0">
                <a:latin typeface="Calibri" pitchFamily="34" charset="0"/>
              </a:rPr>
              <a:t>exception handler n-1</a:t>
            </a:r>
          </a:p>
        </p:txBody>
      </p:sp>
      <p:sp>
        <p:nvSpPr>
          <p:cNvPr id="477208" name="Text Box 24"/>
          <p:cNvSpPr txBox="1">
            <a:spLocks noChangeArrowheads="1"/>
          </p:cNvSpPr>
          <p:nvPr/>
        </p:nvSpPr>
        <p:spPr bwMode="auto">
          <a:xfrm>
            <a:off x="3581400" y="4406900"/>
            <a:ext cx="436563" cy="457200"/>
          </a:xfrm>
          <a:prstGeom prst="rect">
            <a:avLst/>
          </a:prstGeom>
          <a:noFill/>
          <a:ln w="12700">
            <a:noFill/>
            <a:miter lim="800000"/>
            <a:headEnd/>
            <a:tailEnd/>
          </a:ln>
          <a:effectLst/>
        </p:spPr>
        <p:txBody>
          <a:bodyPr wrap="none" anchor="ctr">
            <a:spAutoFit/>
          </a:bodyPr>
          <a:lstStyle/>
          <a:p>
            <a:pPr>
              <a:lnSpc>
                <a:spcPct val="100000"/>
              </a:lnSpc>
            </a:pPr>
            <a:r>
              <a:rPr lang="en-US" sz="2400" dirty="0">
                <a:latin typeface="Calibri" pitchFamily="34" charset="0"/>
              </a:rPr>
              <a:t>...</a:t>
            </a:r>
          </a:p>
        </p:txBody>
      </p:sp>
      <p:sp>
        <p:nvSpPr>
          <p:cNvPr id="477210" name="Line 26"/>
          <p:cNvSpPr>
            <a:spLocks noChangeShapeType="1"/>
          </p:cNvSpPr>
          <p:nvPr/>
        </p:nvSpPr>
        <p:spPr bwMode="auto">
          <a:xfrm>
            <a:off x="1220788" y="4603750"/>
            <a:ext cx="1219200" cy="501650"/>
          </a:xfrm>
          <a:prstGeom prst="line">
            <a:avLst/>
          </a:prstGeom>
          <a:noFill/>
          <a:ln w="12700">
            <a:solidFill>
              <a:schemeClr val="tx1"/>
            </a:solidFill>
            <a:round/>
            <a:headEnd/>
            <a:tailEnd type="triangle" w="med" len="med"/>
          </a:ln>
          <a:effectLst/>
        </p:spPr>
        <p:txBody>
          <a:bodyPr anchor="ctr">
            <a:spAutoFit/>
          </a:bodyPr>
          <a:lstStyle/>
          <a:p>
            <a:endParaRPr lang="en-US" dirty="0">
              <a:latin typeface="Calibri" pitchFamily="34" charset="0"/>
            </a:endParaRPr>
          </a:p>
        </p:txBody>
      </p:sp>
      <p:sp>
        <p:nvSpPr>
          <p:cNvPr id="477211" name="Text Box 27"/>
          <p:cNvSpPr txBox="1">
            <a:spLocks noChangeArrowheads="1"/>
          </p:cNvSpPr>
          <p:nvPr/>
        </p:nvSpPr>
        <p:spPr bwMode="auto">
          <a:xfrm>
            <a:off x="433551" y="1625025"/>
            <a:ext cx="1060803" cy="584775"/>
          </a:xfrm>
          <a:prstGeom prst="rect">
            <a:avLst/>
          </a:prstGeom>
          <a:noFill/>
          <a:ln w="25400">
            <a:noFill/>
            <a:miter lim="800000"/>
            <a:headEnd/>
            <a:tailEnd/>
          </a:ln>
          <a:effectLst/>
        </p:spPr>
        <p:txBody>
          <a:bodyPr wrap="none">
            <a:spAutoFit/>
          </a:bodyPr>
          <a:lstStyle/>
          <a:p>
            <a:pPr algn="l">
              <a:lnSpc>
                <a:spcPct val="100000"/>
              </a:lnSpc>
            </a:pPr>
            <a:r>
              <a:rPr lang="en-US" sz="1600" dirty="0">
                <a:solidFill>
                  <a:schemeClr val="tx1">
                    <a:lumMod val="50000"/>
                    <a:lumOff val="50000"/>
                  </a:schemeClr>
                </a:solidFill>
                <a:latin typeface="Calibri" pitchFamily="34" charset="0"/>
              </a:rPr>
              <a:t>Exception </a:t>
            </a:r>
          </a:p>
          <a:p>
            <a:pPr algn="l">
              <a:lnSpc>
                <a:spcPct val="100000"/>
              </a:lnSpc>
            </a:pPr>
            <a:r>
              <a:rPr lang="en-US" sz="1600" dirty="0">
                <a:solidFill>
                  <a:schemeClr val="tx1">
                    <a:lumMod val="50000"/>
                    <a:lumOff val="50000"/>
                  </a:schemeClr>
                </a:solidFill>
                <a:latin typeface="Calibri" pitchFamily="34" charset="0"/>
              </a:rPr>
              <a:t>numbers</a:t>
            </a:r>
          </a:p>
        </p:txBody>
      </p:sp>
      <p:cxnSp>
        <p:nvCxnSpPr>
          <p:cNvPr id="57" name="Straight Arrow Connector 56"/>
          <p:cNvCxnSpPr/>
          <p:nvPr/>
        </p:nvCxnSpPr>
        <p:spPr bwMode="auto">
          <a:xfrm rot="5400000">
            <a:off x="-124894" y="2837150"/>
            <a:ext cx="1336100" cy="1588"/>
          </a:xfrm>
          <a:prstGeom prst="straightConnector1">
            <a:avLst/>
          </a:prstGeom>
          <a:noFill/>
          <a:ln w="25400" cap="flat" cmpd="sng" algn="ctr">
            <a:solidFill>
              <a:schemeClr val="tx1">
                <a:lumMod val="50000"/>
                <a:lumOff val="50000"/>
              </a:schemeClr>
            </a:solidFill>
            <a:prstDash val="solid"/>
            <a:round/>
            <a:headEnd type="none" w="med" len="med"/>
            <a:tailEnd type="arrow"/>
          </a:ln>
          <a:effectLst/>
        </p:spPr>
      </p:cxnSp>
    </p:spTree>
    <p:extLst>
      <p:ext uri="{BB962C8B-B14F-4D97-AF65-F5344CB8AC3E}">
        <p14:creationId xmlns:p14="http://schemas.microsoft.com/office/powerpoint/2010/main" val="207155035"/>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(partial) Taxonomy</a:t>
            </a:r>
            <a:endParaRPr lang="en-US" dirty="0"/>
          </a:p>
        </p:txBody>
      </p:sp>
      <p:sp>
        <p:nvSpPr>
          <p:cNvPr id="4" name="TextBox 3"/>
          <p:cNvSpPr txBox="1"/>
          <p:nvPr/>
        </p:nvSpPr>
        <p:spPr>
          <a:xfrm>
            <a:off x="762000" y="2895600"/>
            <a:ext cx="2362200" cy="461665"/>
          </a:xfrm>
          <a:prstGeom prst="rect">
            <a:avLst/>
          </a:prstGeom>
          <a:solidFill>
            <a:srgbClr val="DED8C4"/>
          </a:solidFill>
          <a:ln>
            <a:solidFill>
              <a:schemeClr val="tx1"/>
            </a:solidFill>
          </a:ln>
        </p:spPr>
        <p:txBody>
          <a:bodyPr wrap="square" rtlCol="0">
            <a:spAutoFit/>
          </a:bodyPr>
          <a:lstStyle/>
          <a:p>
            <a:pPr algn="ctr"/>
            <a:r>
              <a:rPr lang="en-US" dirty="0" smtClean="0">
                <a:latin typeface="Calibri" pitchFamily="34" charset="0"/>
              </a:rPr>
              <a:t>Asynchronous</a:t>
            </a:r>
          </a:p>
        </p:txBody>
      </p:sp>
      <p:sp>
        <p:nvSpPr>
          <p:cNvPr id="5" name="TextBox 4"/>
          <p:cNvSpPr txBox="1"/>
          <p:nvPr/>
        </p:nvSpPr>
        <p:spPr>
          <a:xfrm>
            <a:off x="4800600" y="3048000"/>
            <a:ext cx="2209800" cy="461665"/>
          </a:xfrm>
          <a:prstGeom prst="rect">
            <a:avLst/>
          </a:prstGeom>
          <a:solidFill>
            <a:srgbClr val="DED8C4"/>
          </a:solidFill>
          <a:ln>
            <a:solidFill>
              <a:schemeClr val="tx1"/>
            </a:solidFill>
          </a:ln>
        </p:spPr>
        <p:txBody>
          <a:bodyPr wrap="square" rtlCol="0">
            <a:spAutoFit/>
          </a:bodyPr>
          <a:lstStyle/>
          <a:p>
            <a:pPr algn="ctr"/>
            <a:r>
              <a:rPr lang="en-US" dirty="0" smtClean="0">
                <a:latin typeface="Calibri" pitchFamily="34" charset="0"/>
              </a:rPr>
              <a:t>Synchronous</a:t>
            </a:r>
          </a:p>
        </p:txBody>
      </p:sp>
      <p:sp>
        <p:nvSpPr>
          <p:cNvPr id="6" name="TextBox 5"/>
          <p:cNvSpPr txBox="1"/>
          <p:nvPr/>
        </p:nvSpPr>
        <p:spPr>
          <a:xfrm>
            <a:off x="357018" y="4380384"/>
            <a:ext cx="1600200" cy="461665"/>
          </a:xfrm>
          <a:prstGeom prst="rect">
            <a:avLst/>
          </a:prstGeom>
          <a:solidFill>
            <a:srgbClr val="DED8C4"/>
          </a:solidFill>
          <a:ln>
            <a:solidFill>
              <a:schemeClr val="tx1"/>
            </a:solidFill>
          </a:ln>
        </p:spPr>
        <p:txBody>
          <a:bodyPr wrap="square" rtlCol="0">
            <a:spAutoFit/>
          </a:bodyPr>
          <a:lstStyle/>
          <a:p>
            <a:pPr algn="ctr"/>
            <a:r>
              <a:rPr lang="en-US" dirty="0" smtClean="0">
                <a:latin typeface="Calibri" pitchFamily="34" charset="0"/>
              </a:rPr>
              <a:t>Interrupts</a:t>
            </a:r>
          </a:p>
        </p:txBody>
      </p:sp>
      <p:sp>
        <p:nvSpPr>
          <p:cNvPr id="7" name="TextBox 6"/>
          <p:cNvSpPr txBox="1"/>
          <p:nvPr/>
        </p:nvSpPr>
        <p:spPr>
          <a:xfrm>
            <a:off x="3429000" y="4380384"/>
            <a:ext cx="1600200" cy="461665"/>
          </a:xfrm>
          <a:prstGeom prst="rect">
            <a:avLst/>
          </a:prstGeom>
          <a:solidFill>
            <a:srgbClr val="DED8C4"/>
          </a:solidFill>
          <a:ln>
            <a:solidFill>
              <a:schemeClr val="tx1"/>
            </a:solidFill>
          </a:ln>
        </p:spPr>
        <p:txBody>
          <a:bodyPr wrap="square" rtlCol="0">
            <a:spAutoFit/>
          </a:bodyPr>
          <a:lstStyle/>
          <a:p>
            <a:pPr algn="ctr"/>
            <a:r>
              <a:rPr lang="en-US" dirty="0" smtClean="0">
                <a:latin typeface="Calibri" pitchFamily="34" charset="0"/>
              </a:rPr>
              <a:t>Traps</a:t>
            </a:r>
          </a:p>
        </p:txBody>
      </p:sp>
      <p:sp>
        <p:nvSpPr>
          <p:cNvPr id="8" name="TextBox 7"/>
          <p:cNvSpPr txBox="1"/>
          <p:nvPr/>
        </p:nvSpPr>
        <p:spPr>
          <a:xfrm>
            <a:off x="5219700" y="4380384"/>
            <a:ext cx="1600200" cy="461665"/>
          </a:xfrm>
          <a:prstGeom prst="rect">
            <a:avLst/>
          </a:prstGeom>
          <a:solidFill>
            <a:srgbClr val="DED8C4"/>
          </a:solidFill>
          <a:ln>
            <a:solidFill>
              <a:schemeClr val="tx1"/>
            </a:solidFill>
          </a:ln>
        </p:spPr>
        <p:txBody>
          <a:bodyPr wrap="square" rtlCol="0">
            <a:spAutoFit/>
          </a:bodyPr>
          <a:lstStyle/>
          <a:p>
            <a:pPr algn="ctr"/>
            <a:r>
              <a:rPr lang="en-US" dirty="0" smtClean="0">
                <a:latin typeface="Calibri" pitchFamily="34" charset="0"/>
              </a:rPr>
              <a:t>Faults</a:t>
            </a:r>
          </a:p>
        </p:txBody>
      </p:sp>
      <p:sp>
        <p:nvSpPr>
          <p:cNvPr id="9" name="TextBox 8"/>
          <p:cNvSpPr txBox="1"/>
          <p:nvPr/>
        </p:nvSpPr>
        <p:spPr>
          <a:xfrm>
            <a:off x="7010400" y="4380384"/>
            <a:ext cx="1600200" cy="461665"/>
          </a:xfrm>
          <a:prstGeom prst="rect">
            <a:avLst/>
          </a:prstGeom>
          <a:solidFill>
            <a:srgbClr val="DED8C4"/>
          </a:solidFill>
          <a:ln>
            <a:solidFill>
              <a:schemeClr val="tx1"/>
            </a:solidFill>
          </a:ln>
        </p:spPr>
        <p:txBody>
          <a:bodyPr wrap="square" rtlCol="0">
            <a:spAutoFit/>
          </a:bodyPr>
          <a:lstStyle/>
          <a:p>
            <a:pPr algn="ctr"/>
            <a:r>
              <a:rPr lang="en-US" dirty="0" smtClean="0">
                <a:latin typeface="Calibri" pitchFamily="34" charset="0"/>
              </a:rPr>
              <a:t>Aborts</a:t>
            </a:r>
          </a:p>
        </p:txBody>
      </p:sp>
      <p:cxnSp>
        <p:nvCxnSpPr>
          <p:cNvPr id="11" name="Straight Connector 10"/>
          <p:cNvCxnSpPr>
            <a:stCxn id="4" idx="2"/>
            <a:endCxn id="6" idx="0"/>
          </p:cNvCxnSpPr>
          <p:nvPr/>
        </p:nvCxnSpPr>
        <p:spPr bwMode="auto">
          <a:xfrm flipH="1">
            <a:off x="1157118" y="3357265"/>
            <a:ext cx="785982" cy="1023119"/>
          </a:xfrm>
          <a:prstGeom prst="line">
            <a:avLst/>
          </a:prstGeom>
          <a:noFill/>
          <a:ln w="25400" cap="flat" cmpd="sng" algn="ctr">
            <a:solidFill>
              <a:schemeClr val="tx1"/>
            </a:solidFill>
            <a:prstDash val="solid"/>
            <a:round/>
            <a:headEnd type="none" w="med" len="med"/>
            <a:tailEnd type="none" w="med" len="med"/>
          </a:ln>
          <a:effectLst/>
        </p:spPr>
      </p:cxnSp>
      <p:cxnSp>
        <p:nvCxnSpPr>
          <p:cNvPr id="13" name="Straight Connector 12"/>
          <p:cNvCxnSpPr>
            <a:stCxn id="5" idx="2"/>
            <a:endCxn id="7" idx="0"/>
          </p:cNvCxnSpPr>
          <p:nvPr/>
        </p:nvCxnSpPr>
        <p:spPr bwMode="auto">
          <a:xfrm flipH="1">
            <a:off x="4229100" y="3509665"/>
            <a:ext cx="1676400" cy="870719"/>
          </a:xfrm>
          <a:prstGeom prst="line">
            <a:avLst/>
          </a:prstGeom>
          <a:noFill/>
          <a:ln w="25400" cap="flat" cmpd="sng" algn="ctr">
            <a:solidFill>
              <a:schemeClr val="tx1"/>
            </a:solidFill>
            <a:prstDash val="solid"/>
            <a:round/>
            <a:headEnd type="none" w="med" len="med"/>
            <a:tailEnd type="none" w="med" len="med"/>
          </a:ln>
          <a:effectLst/>
        </p:spPr>
      </p:cxnSp>
      <p:cxnSp>
        <p:nvCxnSpPr>
          <p:cNvPr id="15" name="Straight Connector 14"/>
          <p:cNvCxnSpPr>
            <a:stCxn id="5" idx="2"/>
            <a:endCxn id="8" idx="0"/>
          </p:cNvCxnSpPr>
          <p:nvPr/>
        </p:nvCxnSpPr>
        <p:spPr bwMode="auto">
          <a:xfrm>
            <a:off x="5905500" y="3509665"/>
            <a:ext cx="114300" cy="870719"/>
          </a:xfrm>
          <a:prstGeom prst="line">
            <a:avLst/>
          </a:prstGeom>
          <a:noFill/>
          <a:ln w="25400" cap="flat" cmpd="sng" algn="ctr">
            <a:solidFill>
              <a:schemeClr val="tx1"/>
            </a:solidFill>
            <a:prstDash val="solid"/>
            <a:round/>
            <a:headEnd type="none" w="med" len="med"/>
            <a:tailEnd type="none" w="med" len="med"/>
          </a:ln>
          <a:effectLst/>
        </p:spPr>
      </p:cxnSp>
      <p:cxnSp>
        <p:nvCxnSpPr>
          <p:cNvPr id="17" name="Straight Connector 16"/>
          <p:cNvCxnSpPr>
            <a:stCxn id="5" idx="2"/>
            <a:endCxn id="9" idx="0"/>
          </p:cNvCxnSpPr>
          <p:nvPr/>
        </p:nvCxnSpPr>
        <p:spPr bwMode="auto">
          <a:xfrm>
            <a:off x="5905500" y="3509665"/>
            <a:ext cx="1905000" cy="870719"/>
          </a:xfrm>
          <a:prstGeom prst="line">
            <a:avLst/>
          </a:prstGeom>
          <a:noFill/>
          <a:ln w="25400" cap="flat" cmpd="sng" algn="ctr">
            <a:solidFill>
              <a:schemeClr val="tx1"/>
            </a:solidFill>
            <a:prstDash val="solid"/>
            <a:round/>
            <a:headEnd type="none" w="med" len="med"/>
            <a:tailEnd type="none" w="med" len="med"/>
          </a:ln>
          <a:effectLst/>
        </p:spPr>
      </p:cxnSp>
      <p:sp>
        <p:nvSpPr>
          <p:cNvPr id="18" name="TextBox 17"/>
          <p:cNvSpPr txBox="1"/>
          <p:nvPr/>
        </p:nvSpPr>
        <p:spPr>
          <a:xfrm>
            <a:off x="3394435" y="1215560"/>
            <a:ext cx="1600200" cy="461665"/>
          </a:xfrm>
          <a:prstGeom prst="rect">
            <a:avLst/>
          </a:prstGeom>
          <a:solidFill>
            <a:srgbClr val="DED8C4"/>
          </a:solidFill>
          <a:ln>
            <a:solidFill>
              <a:schemeClr val="tx1"/>
            </a:solidFill>
          </a:ln>
        </p:spPr>
        <p:txBody>
          <a:bodyPr wrap="square" rtlCol="0">
            <a:spAutoFit/>
          </a:bodyPr>
          <a:lstStyle/>
          <a:p>
            <a:pPr algn="ctr"/>
            <a:r>
              <a:rPr lang="en-US" dirty="0" smtClean="0">
                <a:latin typeface="Calibri" pitchFamily="34" charset="0"/>
              </a:rPr>
              <a:t>ECF</a:t>
            </a:r>
          </a:p>
        </p:txBody>
      </p:sp>
      <p:cxnSp>
        <p:nvCxnSpPr>
          <p:cNvPr id="20" name="Straight Connector 19"/>
          <p:cNvCxnSpPr>
            <a:stCxn id="18" idx="2"/>
            <a:endCxn id="4" idx="0"/>
          </p:cNvCxnSpPr>
          <p:nvPr/>
        </p:nvCxnSpPr>
        <p:spPr bwMode="auto">
          <a:xfrm flipH="1">
            <a:off x="1943100" y="1677225"/>
            <a:ext cx="2251435" cy="1218375"/>
          </a:xfrm>
          <a:prstGeom prst="line">
            <a:avLst/>
          </a:prstGeom>
          <a:noFill/>
          <a:ln w="25400" cap="flat" cmpd="sng" algn="ctr">
            <a:solidFill>
              <a:schemeClr val="tx1"/>
            </a:solidFill>
            <a:prstDash val="solid"/>
            <a:round/>
            <a:headEnd type="none" w="med" len="med"/>
            <a:tailEnd type="none" w="med" len="med"/>
          </a:ln>
          <a:effectLst/>
        </p:spPr>
      </p:cxnSp>
      <p:cxnSp>
        <p:nvCxnSpPr>
          <p:cNvPr id="22" name="Straight Connector 21"/>
          <p:cNvCxnSpPr>
            <a:stCxn id="18" idx="2"/>
            <a:endCxn id="5" idx="0"/>
          </p:cNvCxnSpPr>
          <p:nvPr/>
        </p:nvCxnSpPr>
        <p:spPr bwMode="auto">
          <a:xfrm>
            <a:off x="4194535" y="1677225"/>
            <a:ext cx="1710965" cy="1370775"/>
          </a:xfrm>
          <a:prstGeom prst="line">
            <a:avLst/>
          </a:prstGeom>
          <a:noFill/>
          <a:ln w="2540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2877756659"/>
      </p:ext>
    </p:extLst>
  </p:cSld>
  <p:clrMapOvr>
    <a:masterClrMapping/>
  </p:clrMapOvr>
  <p:timing>
    <p:tnLst>
      <p:par>
        <p:cTn xmlns:p14="http://schemas.microsoft.com/office/powerpoint/2010/mai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a:xfrm>
            <a:off x="396766" y="569912"/>
            <a:ext cx="7912100" cy="573088"/>
          </a:xfrm>
        </p:spPr>
        <p:txBody>
          <a:bodyPr/>
          <a:lstStyle/>
          <a:p>
            <a:r>
              <a:rPr lang="en-US"/>
              <a:t>Asynchronous Exceptions (Interrupts)</a:t>
            </a:r>
          </a:p>
        </p:txBody>
      </p:sp>
      <p:sp>
        <p:nvSpPr>
          <p:cNvPr id="478211" name="Rectangle 3"/>
          <p:cNvSpPr>
            <a:spLocks noGrp="1" noChangeArrowheads="1"/>
          </p:cNvSpPr>
          <p:nvPr>
            <p:ph type="body" idx="1"/>
          </p:nvPr>
        </p:nvSpPr>
        <p:spPr/>
        <p:txBody>
          <a:bodyPr/>
          <a:lstStyle/>
          <a:p>
            <a:r>
              <a:rPr lang="en-US" dirty="0"/>
              <a:t>Caused by events external to the processor</a:t>
            </a:r>
          </a:p>
          <a:p>
            <a:pPr lvl="1"/>
            <a:r>
              <a:rPr lang="en-US" dirty="0"/>
              <a:t>Indicated by setting the processor’s </a:t>
            </a:r>
            <a:r>
              <a:rPr lang="en-US" i="1" dirty="0"/>
              <a:t>interrupt pin</a:t>
            </a:r>
          </a:p>
          <a:p>
            <a:pPr lvl="1"/>
            <a:r>
              <a:rPr lang="en-US" dirty="0" smtClean="0"/>
              <a:t>Handler </a:t>
            </a:r>
            <a:r>
              <a:rPr lang="en-US" dirty="0"/>
              <a:t>returns to “next” instruction</a:t>
            </a:r>
          </a:p>
          <a:p>
            <a:endParaRPr lang="en-US" dirty="0" smtClean="0"/>
          </a:p>
          <a:p>
            <a:r>
              <a:rPr lang="en-US" dirty="0" smtClean="0"/>
              <a:t>Examples</a:t>
            </a:r>
            <a:r>
              <a:rPr lang="en-US" dirty="0"/>
              <a:t>:</a:t>
            </a:r>
          </a:p>
          <a:p>
            <a:pPr lvl="1"/>
            <a:r>
              <a:rPr lang="en-US" dirty="0" smtClean="0"/>
              <a:t>Timer interrupt</a:t>
            </a:r>
          </a:p>
          <a:p>
            <a:pPr lvl="2"/>
            <a:r>
              <a:rPr lang="en-US" dirty="0" smtClean="0"/>
              <a:t>Every few </a:t>
            </a:r>
            <a:r>
              <a:rPr lang="en-US" dirty="0" err="1" smtClean="0"/>
              <a:t>ms</a:t>
            </a:r>
            <a:r>
              <a:rPr lang="en-US" dirty="0" smtClean="0"/>
              <a:t>, an external timer chip triggers an interrupt</a:t>
            </a:r>
          </a:p>
          <a:p>
            <a:pPr lvl="2"/>
            <a:r>
              <a:rPr lang="en-US" dirty="0" smtClean="0"/>
              <a:t>Used by the kernel to take back control from user programs</a:t>
            </a:r>
          </a:p>
          <a:p>
            <a:pPr lvl="1"/>
            <a:r>
              <a:rPr lang="en-US" dirty="0" smtClean="0"/>
              <a:t> I</a:t>
            </a:r>
            <a:r>
              <a:rPr lang="en-US" dirty="0"/>
              <a:t>/O </a:t>
            </a:r>
            <a:r>
              <a:rPr lang="en-US" dirty="0" smtClean="0"/>
              <a:t>interrupt from external device</a:t>
            </a:r>
            <a:endParaRPr lang="en-US" dirty="0"/>
          </a:p>
          <a:p>
            <a:pPr lvl="2"/>
            <a:r>
              <a:rPr lang="en-US" dirty="0"/>
              <a:t>H</a:t>
            </a:r>
            <a:r>
              <a:rPr lang="en-US" dirty="0" smtClean="0"/>
              <a:t>itting </a:t>
            </a:r>
            <a:r>
              <a:rPr lang="en-US" dirty="0"/>
              <a:t>Ctrl-C at the keyboard</a:t>
            </a:r>
          </a:p>
          <a:p>
            <a:pPr lvl="2"/>
            <a:r>
              <a:rPr lang="en-US" dirty="0"/>
              <a:t>A</a:t>
            </a:r>
            <a:r>
              <a:rPr lang="en-US" dirty="0" smtClean="0"/>
              <a:t>rrival </a:t>
            </a:r>
            <a:r>
              <a:rPr lang="en-US" dirty="0"/>
              <a:t>of a packet from a network</a:t>
            </a:r>
          </a:p>
          <a:p>
            <a:pPr lvl="2"/>
            <a:r>
              <a:rPr lang="en-US" dirty="0"/>
              <a:t>A</a:t>
            </a:r>
            <a:r>
              <a:rPr lang="en-US" dirty="0" smtClean="0"/>
              <a:t>rrival </a:t>
            </a:r>
            <a:r>
              <a:rPr lang="en-US" dirty="0"/>
              <a:t>of data from a </a:t>
            </a:r>
            <a:r>
              <a:rPr lang="en-US" dirty="0" smtClean="0"/>
              <a:t>disk</a:t>
            </a:r>
            <a:endParaRPr lang="en-US" dirty="0"/>
          </a:p>
        </p:txBody>
      </p:sp>
    </p:spTree>
    <p:extLst>
      <p:ext uri="{BB962C8B-B14F-4D97-AF65-F5344CB8AC3E}">
        <p14:creationId xmlns:p14="http://schemas.microsoft.com/office/powerpoint/2010/main" val="264055884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821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821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8211">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8211">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78211">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8211">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8211">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821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p:cNvSpPr>
            <a:spLocks noGrp="1" noChangeArrowheads="1"/>
          </p:cNvSpPr>
          <p:nvPr>
            <p:ph type="title"/>
          </p:nvPr>
        </p:nvSpPr>
        <p:spPr>
          <a:xfrm>
            <a:off x="419100" y="569912"/>
            <a:ext cx="6819900" cy="573088"/>
          </a:xfrm>
        </p:spPr>
        <p:txBody>
          <a:bodyPr/>
          <a:lstStyle/>
          <a:p>
            <a:r>
              <a:rPr lang="en-US" dirty="0"/>
              <a:t>Synchronous Exceptions</a:t>
            </a:r>
          </a:p>
        </p:txBody>
      </p:sp>
      <p:sp>
        <p:nvSpPr>
          <p:cNvPr id="479235" name="Rectangle 3"/>
          <p:cNvSpPr>
            <a:spLocks noGrp="1" noChangeArrowheads="1"/>
          </p:cNvSpPr>
          <p:nvPr>
            <p:ph type="body" idx="1"/>
          </p:nvPr>
        </p:nvSpPr>
        <p:spPr>
          <a:xfrm>
            <a:off x="396875" y="1219200"/>
            <a:ext cx="7896225" cy="5334000"/>
          </a:xfrm>
        </p:spPr>
        <p:txBody>
          <a:bodyPr>
            <a:normAutofit lnSpcReduction="10000"/>
          </a:bodyPr>
          <a:lstStyle/>
          <a:p>
            <a:r>
              <a:rPr lang="en-US" dirty="0"/>
              <a:t>Caused by </a:t>
            </a:r>
            <a:r>
              <a:rPr lang="en-US" dirty="0" smtClean="0"/>
              <a:t>events </a:t>
            </a:r>
            <a:r>
              <a:rPr lang="en-US" dirty="0"/>
              <a:t>that occur as a result of executing an instruction:</a:t>
            </a:r>
          </a:p>
          <a:p>
            <a:pPr lvl="1"/>
            <a:r>
              <a:rPr lang="en-US" b="1" i="1" dirty="0">
                <a:solidFill>
                  <a:srgbClr val="C00000"/>
                </a:solidFill>
              </a:rPr>
              <a:t>Traps</a:t>
            </a:r>
          </a:p>
          <a:p>
            <a:pPr lvl="2"/>
            <a:r>
              <a:rPr lang="en-US" dirty="0"/>
              <a:t>Intentional</a:t>
            </a:r>
          </a:p>
          <a:p>
            <a:pPr lvl="2"/>
            <a:r>
              <a:rPr lang="en-US" dirty="0"/>
              <a:t>Examples: </a:t>
            </a:r>
            <a:r>
              <a:rPr lang="en-US" b="1" i="1" dirty="0"/>
              <a:t>system calls</a:t>
            </a:r>
            <a:r>
              <a:rPr lang="en-US" dirty="0"/>
              <a:t>, breakpoint traps, special instructions</a:t>
            </a:r>
          </a:p>
          <a:p>
            <a:pPr lvl="2"/>
            <a:r>
              <a:rPr lang="en-US" dirty="0"/>
              <a:t>Returns control to “next” instruction</a:t>
            </a:r>
          </a:p>
          <a:p>
            <a:pPr lvl="1"/>
            <a:r>
              <a:rPr lang="en-US" b="1" i="1" dirty="0">
                <a:solidFill>
                  <a:srgbClr val="C00000"/>
                </a:solidFill>
              </a:rPr>
              <a:t>Faults</a:t>
            </a:r>
          </a:p>
          <a:p>
            <a:pPr lvl="2"/>
            <a:r>
              <a:rPr lang="en-US" dirty="0"/>
              <a:t>Unintentional but possibly recoverable </a:t>
            </a:r>
          </a:p>
          <a:p>
            <a:pPr lvl="2"/>
            <a:r>
              <a:rPr lang="en-US" dirty="0"/>
              <a:t>Examples: page faults (recoverable), protection faults (unrecoverable), floating point exceptions</a:t>
            </a:r>
          </a:p>
          <a:p>
            <a:pPr lvl="2"/>
            <a:r>
              <a:rPr lang="en-US" dirty="0"/>
              <a:t>Either re-executes faulting (“current”) instruction or aborts</a:t>
            </a:r>
          </a:p>
          <a:p>
            <a:pPr lvl="1"/>
            <a:r>
              <a:rPr lang="en-US" b="1" i="1" dirty="0">
                <a:solidFill>
                  <a:srgbClr val="C00000"/>
                </a:solidFill>
              </a:rPr>
              <a:t>Aborts</a:t>
            </a:r>
          </a:p>
          <a:p>
            <a:pPr lvl="2"/>
            <a:r>
              <a:rPr lang="en-US" dirty="0"/>
              <a:t>U</a:t>
            </a:r>
            <a:r>
              <a:rPr lang="en-US" dirty="0" smtClean="0"/>
              <a:t>nintentional </a:t>
            </a:r>
            <a:r>
              <a:rPr lang="en-US" dirty="0"/>
              <a:t>and unrecoverable</a:t>
            </a:r>
          </a:p>
          <a:p>
            <a:pPr lvl="2"/>
            <a:r>
              <a:rPr lang="en-US" dirty="0"/>
              <a:t>Examples: </a:t>
            </a:r>
            <a:r>
              <a:rPr lang="en-US" dirty="0" smtClean="0"/>
              <a:t>illegal instruction, parity </a:t>
            </a:r>
            <a:r>
              <a:rPr lang="en-US" dirty="0"/>
              <a:t>error, machine check</a:t>
            </a:r>
          </a:p>
          <a:p>
            <a:pPr lvl="2"/>
            <a:r>
              <a:rPr lang="en-US" dirty="0"/>
              <a:t>Aborts current program</a:t>
            </a:r>
          </a:p>
        </p:txBody>
      </p:sp>
    </p:spTree>
    <p:extLst>
      <p:ext uri="{BB962C8B-B14F-4D97-AF65-F5344CB8AC3E}">
        <p14:creationId xmlns:p14="http://schemas.microsoft.com/office/powerpoint/2010/main" val="169416536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923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923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923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923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7923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923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923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7923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9235">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79235">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79235">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7923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Calls</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4006923886"/>
              </p:ext>
            </p:extLst>
          </p:nvPr>
        </p:nvGraphicFramePr>
        <p:xfrm>
          <a:off x="457200" y="2311400"/>
          <a:ext cx="7086600" cy="3708400"/>
        </p:xfrm>
        <a:graphic>
          <a:graphicData uri="http://schemas.openxmlformats.org/drawingml/2006/table">
            <a:tbl>
              <a:tblPr firstRow="1" bandRow="1">
                <a:tableStyleId>{91EBBBCC-DAD2-459C-BE2E-F6DE35CF9A28}</a:tableStyleId>
              </a:tblPr>
              <a:tblGrid>
                <a:gridCol w="1447800">
                  <a:extLst>
                    <a:ext uri="{9D8B030D-6E8A-4147-A177-3AD203B41FA5}">
                      <a16:colId xmlns="" xmlns:a16="http://schemas.microsoft.com/office/drawing/2014/main" val="20000"/>
                    </a:ext>
                  </a:extLst>
                </a:gridCol>
                <a:gridCol w="2590800">
                  <a:extLst>
                    <a:ext uri="{9D8B030D-6E8A-4147-A177-3AD203B41FA5}">
                      <a16:colId xmlns="" xmlns:a16="http://schemas.microsoft.com/office/drawing/2014/main" val="20001"/>
                    </a:ext>
                  </a:extLst>
                </a:gridCol>
                <a:gridCol w="3048000">
                  <a:extLst>
                    <a:ext uri="{9D8B030D-6E8A-4147-A177-3AD203B41FA5}">
                      <a16:colId xmlns="" xmlns:a16="http://schemas.microsoft.com/office/drawing/2014/main" val="20002"/>
                    </a:ext>
                  </a:extLst>
                </a:gridCol>
              </a:tblGrid>
              <a:tr h="370840">
                <a:tc>
                  <a:txBody>
                    <a:bodyPr/>
                    <a:lstStyle/>
                    <a:p>
                      <a:r>
                        <a:rPr lang="en-US" i="1" dirty="0" smtClean="0">
                          <a:solidFill>
                            <a:srgbClr val="C00000"/>
                          </a:solidFill>
                          <a:latin typeface="Calibri" pitchFamily="34" charset="0"/>
                        </a:rPr>
                        <a:t>Number</a:t>
                      </a:r>
                      <a:endParaRPr lang="en-US" i="1" dirty="0">
                        <a:solidFill>
                          <a:srgbClr val="C00000"/>
                        </a:solidFill>
                        <a:latin typeface="Calibri" pitchFamily="34" charset="0"/>
                      </a:endParaRPr>
                    </a:p>
                  </a:txBody>
                  <a:tcPr>
                    <a:solidFill>
                      <a:schemeClr val="bg1"/>
                    </a:solidFill>
                  </a:tcPr>
                </a:tc>
                <a:tc>
                  <a:txBody>
                    <a:bodyPr/>
                    <a:lstStyle/>
                    <a:p>
                      <a:r>
                        <a:rPr lang="en-US" i="1" dirty="0" smtClean="0">
                          <a:solidFill>
                            <a:srgbClr val="C00000"/>
                          </a:solidFill>
                          <a:latin typeface="Calibri" pitchFamily="34" charset="0"/>
                        </a:rPr>
                        <a:t>Name</a:t>
                      </a:r>
                      <a:endParaRPr lang="en-US" i="1" dirty="0">
                        <a:solidFill>
                          <a:srgbClr val="C00000"/>
                        </a:solidFill>
                        <a:latin typeface="Calibri" pitchFamily="34" charset="0"/>
                      </a:endParaRPr>
                    </a:p>
                  </a:txBody>
                  <a:tcPr>
                    <a:solidFill>
                      <a:schemeClr val="bg1"/>
                    </a:solidFill>
                  </a:tcPr>
                </a:tc>
                <a:tc>
                  <a:txBody>
                    <a:bodyPr/>
                    <a:lstStyle/>
                    <a:p>
                      <a:r>
                        <a:rPr lang="en-US" i="1" dirty="0" smtClean="0">
                          <a:solidFill>
                            <a:srgbClr val="C00000"/>
                          </a:solidFill>
                          <a:latin typeface="Calibri" pitchFamily="34" charset="0"/>
                        </a:rPr>
                        <a:t>Description</a:t>
                      </a:r>
                      <a:endParaRPr lang="en-US" i="1" dirty="0">
                        <a:solidFill>
                          <a:srgbClr val="C00000"/>
                        </a:solidFill>
                        <a:latin typeface="Calibri" pitchFamily="34" charset="0"/>
                      </a:endParaRPr>
                    </a:p>
                  </a:txBody>
                  <a:tcPr>
                    <a:solidFill>
                      <a:schemeClr val="bg1"/>
                    </a:solidFill>
                  </a:tcPr>
                </a:tc>
                <a:extLst>
                  <a:ext uri="{0D108BD9-81ED-4DB2-BD59-A6C34878D82A}">
                    <a16:rowId xmlns="" xmlns:a16="http://schemas.microsoft.com/office/drawing/2014/main" val="10000"/>
                  </a:ext>
                </a:extLst>
              </a:tr>
              <a:tr h="370840">
                <a:tc>
                  <a:txBody>
                    <a:bodyPr/>
                    <a:lstStyle/>
                    <a:p>
                      <a:r>
                        <a:rPr lang="en-US" dirty="0" smtClean="0">
                          <a:latin typeface="Calibri" pitchFamily="34" charset="0"/>
                        </a:rPr>
                        <a:t>0</a:t>
                      </a:r>
                      <a:endParaRPr lang="en-US" dirty="0">
                        <a:latin typeface="Calibri" pitchFamily="34" charset="0"/>
                      </a:endParaRPr>
                    </a:p>
                  </a:txBody>
                  <a:tcPr>
                    <a:solidFill>
                      <a:schemeClr val="accent3">
                        <a:lumMod val="85000"/>
                      </a:schemeClr>
                    </a:solidFill>
                  </a:tcPr>
                </a:tc>
                <a:tc>
                  <a:txBody>
                    <a:bodyPr/>
                    <a:lstStyle/>
                    <a:p>
                      <a:r>
                        <a:rPr lang="en-US" b="0" dirty="0" smtClean="0">
                          <a:latin typeface="Courier New"/>
                        </a:rPr>
                        <a:t>read</a:t>
                      </a:r>
                      <a:endParaRPr lang="en-US" b="0" dirty="0">
                        <a:latin typeface="Courier New"/>
                      </a:endParaRPr>
                    </a:p>
                  </a:txBody>
                  <a:tcPr>
                    <a:solidFill>
                      <a:schemeClr val="accent3">
                        <a:lumMod val="85000"/>
                      </a:schemeClr>
                    </a:solidFill>
                  </a:tcPr>
                </a:tc>
                <a:tc>
                  <a:txBody>
                    <a:bodyPr/>
                    <a:lstStyle/>
                    <a:p>
                      <a:r>
                        <a:rPr lang="en-US" dirty="0" smtClean="0">
                          <a:latin typeface="Calibri" pitchFamily="34" charset="0"/>
                        </a:rPr>
                        <a:t>Read file</a:t>
                      </a:r>
                      <a:endParaRPr lang="en-US" dirty="0">
                        <a:latin typeface="Calibri" pitchFamily="34" charset="0"/>
                      </a:endParaRPr>
                    </a:p>
                  </a:txBody>
                  <a:tcPr>
                    <a:solidFill>
                      <a:schemeClr val="accent3">
                        <a:lumMod val="85000"/>
                      </a:schemeClr>
                    </a:solidFill>
                  </a:tcPr>
                </a:tc>
                <a:extLst>
                  <a:ext uri="{0D108BD9-81ED-4DB2-BD59-A6C34878D82A}">
                    <a16:rowId xmlns="" xmlns:a16="http://schemas.microsoft.com/office/drawing/2014/main" val="10001"/>
                  </a:ext>
                </a:extLst>
              </a:tr>
              <a:tr h="370840">
                <a:tc>
                  <a:txBody>
                    <a:bodyPr/>
                    <a:lstStyle/>
                    <a:p>
                      <a:r>
                        <a:rPr lang="en-US" dirty="0" smtClean="0">
                          <a:latin typeface="Calibri" pitchFamily="34" charset="0"/>
                        </a:rPr>
                        <a:t>1</a:t>
                      </a:r>
                      <a:endParaRPr lang="en-US" dirty="0">
                        <a:latin typeface="Calibri" pitchFamily="34" charset="0"/>
                      </a:endParaRPr>
                    </a:p>
                  </a:txBody>
                  <a:tcPr>
                    <a:solidFill>
                      <a:schemeClr val="accent3">
                        <a:lumMod val="85000"/>
                      </a:schemeClr>
                    </a:solidFill>
                  </a:tcPr>
                </a:tc>
                <a:tc>
                  <a:txBody>
                    <a:bodyPr/>
                    <a:lstStyle/>
                    <a:p>
                      <a:r>
                        <a:rPr lang="en-US" b="0" dirty="0" smtClean="0">
                          <a:latin typeface="Courier New"/>
                        </a:rPr>
                        <a:t>write</a:t>
                      </a:r>
                      <a:endParaRPr lang="en-US" b="0" dirty="0">
                        <a:latin typeface="Courier New"/>
                      </a:endParaRPr>
                    </a:p>
                  </a:txBody>
                  <a:tcPr>
                    <a:solidFill>
                      <a:schemeClr val="accent3">
                        <a:lumMod val="85000"/>
                      </a:schemeClr>
                    </a:solidFill>
                  </a:tcPr>
                </a:tc>
                <a:tc>
                  <a:txBody>
                    <a:bodyPr/>
                    <a:lstStyle/>
                    <a:p>
                      <a:r>
                        <a:rPr lang="en-US" dirty="0" smtClean="0">
                          <a:latin typeface="Calibri" pitchFamily="34" charset="0"/>
                        </a:rPr>
                        <a:t>Write file</a:t>
                      </a:r>
                      <a:endParaRPr lang="en-US" dirty="0">
                        <a:latin typeface="Calibri" pitchFamily="34" charset="0"/>
                      </a:endParaRPr>
                    </a:p>
                  </a:txBody>
                  <a:tcPr>
                    <a:solidFill>
                      <a:schemeClr val="accent3">
                        <a:lumMod val="85000"/>
                      </a:schemeClr>
                    </a:solidFill>
                  </a:tcPr>
                </a:tc>
                <a:extLst>
                  <a:ext uri="{0D108BD9-81ED-4DB2-BD59-A6C34878D82A}">
                    <a16:rowId xmlns="" xmlns:a16="http://schemas.microsoft.com/office/drawing/2014/main" val="10002"/>
                  </a:ext>
                </a:extLst>
              </a:tr>
              <a:tr h="370840">
                <a:tc>
                  <a:txBody>
                    <a:bodyPr/>
                    <a:lstStyle/>
                    <a:p>
                      <a:r>
                        <a:rPr lang="en-US" dirty="0" smtClean="0">
                          <a:latin typeface="Calibri" pitchFamily="34" charset="0"/>
                        </a:rPr>
                        <a:t>2</a:t>
                      </a:r>
                      <a:endParaRPr lang="en-US" dirty="0">
                        <a:latin typeface="Calibri" pitchFamily="34" charset="0"/>
                      </a:endParaRPr>
                    </a:p>
                  </a:txBody>
                  <a:tcPr>
                    <a:solidFill>
                      <a:schemeClr val="accent3">
                        <a:lumMod val="85000"/>
                      </a:schemeClr>
                    </a:solidFill>
                  </a:tcPr>
                </a:tc>
                <a:tc>
                  <a:txBody>
                    <a:bodyPr/>
                    <a:lstStyle/>
                    <a:p>
                      <a:r>
                        <a:rPr lang="en-US" b="0" dirty="0" smtClean="0">
                          <a:latin typeface="Courier New"/>
                        </a:rPr>
                        <a:t>open</a:t>
                      </a:r>
                      <a:endParaRPr lang="en-US" b="0" dirty="0">
                        <a:latin typeface="Courier New"/>
                      </a:endParaRPr>
                    </a:p>
                  </a:txBody>
                  <a:tcPr>
                    <a:solidFill>
                      <a:schemeClr val="accent3">
                        <a:lumMod val="85000"/>
                      </a:schemeClr>
                    </a:solidFill>
                  </a:tcPr>
                </a:tc>
                <a:tc>
                  <a:txBody>
                    <a:bodyPr/>
                    <a:lstStyle/>
                    <a:p>
                      <a:r>
                        <a:rPr lang="en-US" dirty="0" smtClean="0">
                          <a:latin typeface="Calibri" pitchFamily="34" charset="0"/>
                        </a:rPr>
                        <a:t>Open file</a:t>
                      </a:r>
                      <a:endParaRPr lang="en-US" dirty="0">
                        <a:latin typeface="Calibri" pitchFamily="34" charset="0"/>
                      </a:endParaRPr>
                    </a:p>
                  </a:txBody>
                  <a:tcPr>
                    <a:solidFill>
                      <a:schemeClr val="accent3">
                        <a:lumMod val="85000"/>
                      </a:schemeClr>
                    </a:solidFill>
                  </a:tcPr>
                </a:tc>
                <a:extLst>
                  <a:ext uri="{0D108BD9-81ED-4DB2-BD59-A6C34878D82A}">
                    <a16:rowId xmlns="" xmlns:a16="http://schemas.microsoft.com/office/drawing/2014/main" val="10003"/>
                  </a:ext>
                </a:extLst>
              </a:tr>
              <a:tr h="370840">
                <a:tc>
                  <a:txBody>
                    <a:bodyPr/>
                    <a:lstStyle/>
                    <a:p>
                      <a:r>
                        <a:rPr lang="en-US" dirty="0" smtClean="0">
                          <a:latin typeface="Calibri" pitchFamily="34" charset="0"/>
                        </a:rPr>
                        <a:t>3</a:t>
                      </a:r>
                      <a:endParaRPr lang="en-US" dirty="0">
                        <a:latin typeface="Calibri" pitchFamily="34" charset="0"/>
                      </a:endParaRPr>
                    </a:p>
                  </a:txBody>
                  <a:tcPr>
                    <a:solidFill>
                      <a:schemeClr val="accent3">
                        <a:lumMod val="85000"/>
                      </a:schemeClr>
                    </a:solidFill>
                  </a:tcPr>
                </a:tc>
                <a:tc>
                  <a:txBody>
                    <a:bodyPr/>
                    <a:lstStyle/>
                    <a:p>
                      <a:r>
                        <a:rPr lang="en-US" b="0" dirty="0" smtClean="0">
                          <a:latin typeface="Courier New"/>
                        </a:rPr>
                        <a:t>close</a:t>
                      </a:r>
                      <a:endParaRPr lang="en-US" b="0" dirty="0">
                        <a:latin typeface="Courier New"/>
                      </a:endParaRPr>
                    </a:p>
                  </a:txBody>
                  <a:tcPr>
                    <a:solidFill>
                      <a:schemeClr val="accent3">
                        <a:lumMod val="85000"/>
                      </a:schemeClr>
                    </a:solidFill>
                  </a:tcPr>
                </a:tc>
                <a:tc>
                  <a:txBody>
                    <a:bodyPr/>
                    <a:lstStyle/>
                    <a:p>
                      <a:r>
                        <a:rPr lang="en-US" dirty="0" smtClean="0">
                          <a:latin typeface="Calibri" pitchFamily="34" charset="0"/>
                        </a:rPr>
                        <a:t>Close file</a:t>
                      </a:r>
                      <a:endParaRPr lang="en-US" dirty="0">
                        <a:latin typeface="Calibri" pitchFamily="34" charset="0"/>
                      </a:endParaRPr>
                    </a:p>
                  </a:txBody>
                  <a:tcPr>
                    <a:solidFill>
                      <a:schemeClr val="accent3">
                        <a:lumMod val="85000"/>
                      </a:schemeClr>
                    </a:solidFill>
                  </a:tcPr>
                </a:tc>
                <a:extLst>
                  <a:ext uri="{0D108BD9-81ED-4DB2-BD59-A6C34878D82A}">
                    <a16:rowId xmlns="" xmlns:a16="http://schemas.microsoft.com/office/drawing/2014/main" val="10004"/>
                  </a:ext>
                </a:extLst>
              </a:tr>
              <a:tr h="370840">
                <a:tc>
                  <a:txBody>
                    <a:bodyPr/>
                    <a:lstStyle/>
                    <a:p>
                      <a:r>
                        <a:rPr lang="en-US" dirty="0" smtClean="0">
                          <a:latin typeface="Calibri" pitchFamily="34" charset="0"/>
                        </a:rPr>
                        <a:t>4</a:t>
                      </a:r>
                      <a:endParaRPr lang="en-US" dirty="0">
                        <a:latin typeface="Calibri" pitchFamily="34" charset="0"/>
                      </a:endParaRPr>
                    </a:p>
                  </a:txBody>
                  <a:tcPr>
                    <a:solidFill>
                      <a:schemeClr val="accent3">
                        <a:lumMod val="85000"/>
                      </a:schemeClr>
                    </a:solidFill>
                  </a:tcPr>
                </a:tc>
                <a:tc>
                  <a:txBody>
                    <a:bodyPr/>
                    <a:lstStyle/>
                    <a:p>
                      <a:r>
                        <a:rPr lang="en-US" b="0" dirty="0" smtClean="0">
                          <a:latin typeface="Courier New"/>
                        </a:rPr>
                        <a:t>stat</a:t>
                      </a:r>
                      <a:endParaRPr lang="en-US" b="0" dirty="0">
                        <a:latin typeface="Courier New"/>
                      </a:endParaRPr>
                    </a:p>
                  </a:txBody>
                  <a:tcPr>
                    <a:solidFill>
                      <a:schemeClr val="accent3">
                        <a:lumMod val="85000"/>
                      </a:schemeClr>
                    </a:solidFill>
                  </a:tcPr>
                </a:tc>
                <a:tc>
                  <a:txBody>
                    <a:bodyPr/>
                    <a:lstStyle/>
                    <a:p>
                      <a:r>
                        <a:rPr lang="en-US" dirty="0" smtClean="0">
                          <a:latin typeface="Calibri" pitchFamily="34" charset="0"/>
                        </a:rPr>
                        <a:t>Get info</a:t>
                      </a:r>
                      <a:r>
                        <a:rPr lang="en-US" baseline="0" dirty="0" smtClean="0">
                          <a:latin typeface="Calibri" pitchFamily="34" charset="0"/>
                        </a:rPr>
                        <a:t> about file</a:t>
                      </a:r>
                      <a:endParaRPr lang="en-US" dirty="0">
                        <a:latin typeface="Calibri" pitchFamily="34" charset="0"/>
                      </a:endParaRPr>
                    </a:p>
                  </a:txBody>
                  <a:tcPr>
                    <a:solidFill>
                      <a:schemeClr val="accent3">
                        <a:lumMod val="85000"/>
                      </a:schemeClr>
                    </a:solidFill>
                  </a:tcPr>
                </a:tc>
                <a:extLst>
                  <a:ext uri="{0D108BD9-81ED-4DB2-BD59-A6C34878D82A}">
                    <a16:rowId xmlns="" xmlns:a16="http://schemas.microsoft.com/office/drawing/2014/main" val="10005"/>
                  </a:ext>
                </a:extLst>
              </a:tr>
              <a:tr h="370840">
                <a:tc>
                  <a:txBody>
                    <a:bodyPr/>
                    <a:lstStyle/>
                    <a:p>
                      <a:r>
                        <a:rPr lang="en-US" dirty="0" smtClean="0">
                          <a:latin typeface="Calibri" pitchFamily="34" charset="0"/>
                        </a:rPr>
                        <a:t>57</a:t>
                      </a:r>
                      <a:endParaRPr lang="en-US" dirty="0">
                        <a:latin typeface="Calibri" pitchFamily="34" charset="0"/>
                      </a:endParaRPr>
                    </a:p>
                  </a:txBody>
                  <a:tcPr>
                    <a:solidFill>
                      <a:schemeClr val="accent3">
                        <a:lumMod val="85000"/>
                      </a:schemeClr>
                    </a:solidFill>
                  </a:tcPr>
                </a:tc>
                <a:tc>
                  <a:txBody>
                    <a:bodyPr/>
                    <a:lstStyle/>
                    <a:p>
                      <a:r>
                        <a:rPr lang="en-US" b="0" dirty="0" smtClean="0">
                          <a:latin typeface="Courier New"/>
                        </a:rPr>
                        <a:t>fork</a:t>
                      </a:r>
                      <a:endParaRPr lang="en-US" b="0" dirty="0">
                        <a:latin typeface="Courier New"/>
                      </a:endParaRPr>
                    </a:p>
                  </a:txBody>
                  <a:tcPr>
                    <a:solidFill>
                      <a:schemeClr val="accent3">
                        <a:lumMod val="85000"/>
                      </a:schemeClr>
                    </a:solidFill>
                  </a:tcPr>
                </a:tc>
                <a:tc>
                  <a:txBody>
                    <a:bodyPr/>
                    <a:lstStyle/>
                    <a:p>
                      <a:r>
                        <a:rPr lang="en-US" dirty="0" smtClean="0">
                          <a:latin typeface="Calibri" pitchFamily="34" charset="0"/>
                        </a:rPr>
                        <a:t>Create process</a:t>
                      </a:r>
                      <a:endParaRPr lang="en-US" dirty="0">
                        <a:latin typeface="Calibri" pitchFamily="34" charset="0"/>
                      </a:endParaRPr>
                    </a:p>
                  </a:txBody>
                  <a:tcPr>
                    <a:solidFill>
                      <a:schemeClr val="accent3">
                        <a:lumMod val="85000"/>
                      </a:schemeClr>
                    </a:solidFill>
                  </a:tcPr>
                </a:tc>
                <a:extLst>
                  <a:ext uri="{0D108BD9-81ED-4DB2-BD59-A6C34878D82A}">
                    <a16:rowId xmlns="" xmlns:a16="http://schemas.microsoft.com/office/drawing/2014/main" val="10006"/>
                  </a:ext>
                </a:extLst>
              </a:tr>
              <a:tr h="370840">
                <a:tc>
                  <a:txBody>
                    <a:bodyPr/>
                    <a:lstStyle/>
                    <a:p>
                      <a:r>
                        <a:rPr lang="en-US" dirty="0" smtClean="0">
                          <a:latin typeface="Calibri" pitchFamily="34" charset="0"/>
                        </a:rPr>
                        <a:t>59</a:t>
                      </a:r>
                      <a:endParaRPr lang="en-US" dirty="0">
                        <a:latin typeface="Calibri" pitchFamily="34" charset="0"/>
                      </a:endParaRPr>
                    </a:p>
                  </a:txBody>
                  <a:tcPr>
                    <a:solidFill>
                      <a:schemeClr val="accent3">
                        <a:lumMod val="85000"/>
                      </a:schemeClr>
                    </a:solidFill>
                  </a:tcPr>
                </a:tc>
                <a:tc>
                  <a:txBody>
                    <a:bodyPr/>
                    <a:lstStyle/>
                    <a:p>
                      <a:r>
                        <a:rPr lang="en-US" b="0" dirty="0" err="1" smtClean="0">
                          <a:latin typeface="Courier New"/>
                        </a:rPr>
                        <a:t>execve</a:t>
                      </a:r>
                      <a:endParaRPr lang="en-US" b="0" dirty="0">
                        <a:latin typeface="Courier New"/>
                      </a:endParaRPr>
                    </a:p>
                  </a:txBody>
                  <a:tcPr>
                    <a:solidFill>
                      <a:schemeClr val="accent3">
                        <a:lumMod val="85000"/>
                      </a:schemeClr>
                    </a:solidFill>
                  </a:tcPr>
                </a:tc>
                <a:tc>
                  <a:txBody>
                    <a:bodyPr/>
                    <a:lstStyle/>
                    <a:p>
                      <a:r>
                        <a:rPr lang="en-US" dirty="0" smtClean="0">
                          <a:latin typeface="Calibri" pitchFamily="34" charset="0"/>
                        </a:rPr>
                        <a:t>Execute a program</a:t>
                      </a:r>
                      <a:endParaRPr lang="en-US" dirty="0">
                        <a:latin typeface="Calibri" pitchFamily="34" charset="0"/>
                      </a:endParaRPr>
                    </a:p>
                  </a:txBody>
                  <a:tcPr>
                    <a:solidFill>
                      <a:schemeClr val="accent3">
                        <a:lumMod val="85000"/>
                      </a:schemeClr>
                    </a:solidFill>
                  </a:tcPr>
                </a:tc>
                <a:extLst>
                  <a:ext uri="{0D108BD9-81ED-4DB2-BD59-A6C34878D82A}">
                    <a16:rowId xmlns="" xmlns:a16="http://schemas.microsoft.com/office/drawing/2014/main" val="10007"/>
                  </a:ext>
                </a:extLst>
              </a:tr>
              <a:tr h="370840">
                <a:tc>
                  <a:txBody>
                    <a:bodyPr/>
                    <a:lstStyle/>
                    <a:p>
                      <a:r>
                        <a:rPr lang="en-US" dirty="0" smtClean="0">
                          <a:latin typeface="Calibri" pitchFamily="34" charset="0"/>
                        </a:rPr>
                        <a:t>60</a:t>
                      </a:r>
                      <a:endParaRPr lang="en-US" dirty="0">
                        <a:latin typeface="Calibri" pitchFamily="34" charset="0"/>
                      </a:endParaRPr>
                    </a:p>
                  </a:txBody>
                  <a:tcPr>
                    <a:solidFill>
                      <a:schemeClr val="accent3">
                        <a:lumMod val="85000"/>
                      </a:schemeClr>
                    </a:solidFill>
                  </a:tcPr>
                </a:tc>
                <a:tc>
                  <a:txBody>
                    <a:bodyPr/>
                    <a:lstStyle/>
                    <a:p>
                      <a:r>
                        <a:rPr lang="en-US" b="0" dirty="0" smtClean="0">
                          <a:latin typeface="Courier New"/>
                        </a:rPr>
                        <a:t>_exit</a:t>
                      </a:r>
                      <a:endParaRPr lang="en-US" b="0" dirty="0">
                        <a:latin typeface="Courier New"/>
                      </a:endParaRPr>
                    </a:p>
                  </a:txBody>
                  <a:tcPr>
                    <a:solidFill>
                      <a:schemeClr val="accent3">
                        <a:lumMod val="85000"/>
                      </a:schemeClr>
                    </a:solidFill>
                  </a:tcPr>
                </a:tc>
                <a:tc>
                  <a:txBody>
                    <a:bodyPr/>
                    <a:lstStyle/>
                    <a:p>
                      <a:r>
                        <a:rPr lang="en-US" dirty="0" smtClean="0">
                          <a:latin typeface="Calibri" pitchFamily="34" charset="0"/>
                        </a:rPr>
                        <a:t>Terminate process</a:t>
                      </a:r>
                      <a:endParaRPr lang="en-US" dirty="0">
                        <a:latin typeface="Calibri" pitchFamily="34" charset="0"/>
                      </a:endParaRPr>
                    </a:p>
                  </a:txBody>
                  <a:tcPr>
                    <a:solidFill>
                      <a:schemeClr val="accent3">
                        <a:lumMod val="85000"/>
                      </a:schemeClr>
                    </a:solidFill>
                  </a:tcPr>
                </a:tc>
                <a:extLst>
                  <a:ext uri="{0D108BD9-81ED-4DB2-BD59-A6C34878D82A}">
                    <a16:rowId xmlns="" xmlns:a16="http://schemas.microsoft.com/office/drawing/2014/main" val="10008"/>
                  </a:ext>
                </a:extLst>
              </a:tr>
              <a:tr h="370840">
                <a:tc>
                  <a:txBody>
                    <a:bodyPr/>
                    <a:lstStyle/>
                    <a:p>
                      <a:r>
                        <a:rPr lang="en-US" dirty="0" smtClean="0">
                          <a:latin typeface="Calibri" pitchFamily="34" charset="0"/>
                        </a:rPr>
                        <a:t>62</a:t>
                      </a:r>
                      <a:endParaRPr lang="en-US" dirty="0">
                        <a:latin typeface="Calibri" pitchFamily="34" charset="0"/>
                      </a:endParaRPr>
                    </a:p>
                  </a:txBody>
                  <a:tcPr>
                    <a:solidFill>
                      <a:schemeClr val="accent3">
                        <a:lumMod val="85000"/>
                      </a:schemeClr>
                    </a:solidFill>
                  </a:tcPr>
                </a:tc>
                <a:tc>
                  <a:txBody>
                    <a:bodyPr/>
                    <a:lstStyle/>
                    <a:p>
                      <a:r>
                        <a:rPr lang="en-US" b="0" dirty="0" smtClean="0">
                          <a:latin typeface="Courier New"/>
                        </a:rPr>
                        <a:t>kill</a:t>
                      </a:r>
                      <a:endParaRPr lang="en-US" b="0" dirty="0">
                        <a:latin typeface="Courier New"/>
                      </a:endParaRPr>
                    </a:p>
                  </a:txBody>
                  <a:tcPr>
                    <a:solidFill>
                      <a:schemeClr val="accent3">
                        <a:lumMod val="85000"/>
                      </a:schemeClr>
                    </a:solidFill>
                  </a:tcPr>
                </a:tc>
                <a:tc>
                  <a:txBody>
                    <a:bodyPr/>
                    <a:lstStyle/>
                    <a:p>
                      <a:r>
                        <a:rPr lang="en-US" dirty="0" smtClean="0">
                          <a:latin typeface="Calibri" pitchFamily="34" charset="0"/>
                        </a:rPr>
                        <a:t>Send signal to process</a:t>
                      </a:r>
                      <a:endParaRPr lang="en-US" dirty="0">
                        <a:latin typeface="Calibri" pitchFamily="34" charset="0"/>
                      </a:endParaRPr>
                    </a:p>
                  </a:txBody>
                  <a:tcPr>
                    <a:solidFill>
                      <a:schemeClr val="accent3">
                        <a:lumMod val="85000"/>
                      </a:schemeClr>
                    </a:solidFill>
                  </a:tcPr>
                </a:tc>
                <a:extLst>
                  <a:ext uri="{0D108BD9-81ED-4DB2-BD59-A6C34878D82A}">
                    <a16:rowId xmlns="" xmlns:a16="http://schemas.microsoft.com/office/drawing/2014/main" val="10009"/>
                  </a:ext>
                </a:extLst>
              </a:tr>
            </a:tbl>
          </a:graphicData>
        </a:graphic>
      </p:graphicFrame>
      <p:sp>
        <p:nvSpPr>
          <p:cNvPr id="4" name="Rectangle 3"/>
          <p:cNvSpPr txBox="1">
            <a:spLocks noChangeArrowheads="1"/>
          </p:cNvSpPr>
          <p:nvPr/>
        </p:nvSpPr>
        <p:spPr>
          <a:xfrm>
            <a:off x="396875" y="1219200"/>
            <a:ext cx="7896225" cy="5334000"/>
          </a:xfrm>
          <a:prstGeom prst="rect">
            <a:avLst/>
          </a:prstGeom>
        </p:spPr>
        <p:txBody>
          <a:bodyPr>
            <a:normAutofit/>
          </a:bodyPr>
          <a:lst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a:lstStyle>
          <a:p>
            <a:r>
              <a:rPr lang="en-US" dirty="0" smtClean="0"/>
              <a:t>Each x86-64 system call has a unique ID number</a:t>
            </a:r>
          </a:p>
          <a:p>
            <a:r>
              <a:rPr lang="en-US" dirty="0" smtClean="0"/>
              <a:t>Examples:</a:t>
            </a:r>
            <a:endParaRPr lang="en-US" dirty="0"/>
          </a:p>
        </p:txBody>
      </p:sp>
    </p:spTree>
    <p:extLst>
      <p:ext uri="{BB962C8B-B14F-4D97-AF65-F5344CB8AC3E}">
        <p14:creationId xmlns:p14="http://schemas.microsoft.com/office/powerpoint/2010/main" val="729054092"/>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bwMode="auto">
          <a:xfrm>
            <a:off x="381000" y="4191000"/>
            <a:ext cx="4876800" cy="2286000"/>
          </a:xfrm>
          <a:prstGeom prst="rect">
            <a:avLst/>
          </a:prstGeom>
          <a:solidFill>
            <a:srgbClr val="E9E1C9"/>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480258" name="Rectangle 2"/>
          <p:cNvSpPr>
            <a:spLocks noGrp="1" noChangeArrowheads="1"/>
          </p:cNvSpPr>
          <p:nvPr>
            <p:ph type="title"/>
          </p:nvPr>
        </p:nvSpPr>
        <p:spPr>
          <a:xfrm>
            <a:off x="380999" y="188912"/>
            <a:ext cx="8606503" cy="573088"/>
          </a:xfrm>
          <a:noFill/>
          <a:ln/>
        </p:spPr>
        <p:txBody>
          <a:bodyPr/>
          <a:lstStyle/>
          <a:p>
            <a:r>
              <a:rPr lang="en-US" dirty="0" smtClean="0"/>
              <a:t>System Call Example: Opening File</a:t>
            </a:r>
            <a:endParaRPr lang="en-US" dirty="0"/>
          </a:p>
        </p:txBody>
      </p:sp>
      <p:sp>
        <p:nvSpPr>
          <p:cNvPr id="480271" name="Rectangle 15"/>
          <p:cNvSpPr>
            <a:spLocks noGrp="1" noChangeArrowheads="1"/>
          </p:cNvSpPr>
          <p:nvPr>
            <p:ph type="body" idx="1"/>
          </p:nvPr>
        </p:nvSpPr>
        <p:spPr>
          <a:xfrm>
            <a:off x="363008" y="859519"/>
            <a:ext cx="8399992" cy="1045481"/>
          </a:xfrm>
        </p:spPr>
        <p:txBody>
          <a:bodyPr>
            <a:normAutofit/>
          </a:bodyPr>
          <a:lstStyle/>
          <a:p>
            <a:r>
              <a:rPr lang="en-US" sz="2000" b="0" dirty="0" smtClean="0"/>
              <a:t>User calls: </a:t>
            </a:r>
            <a:r>
              <a:rPr lang="en-US" sz="2000" dirty="0" smtClean="0">
                <a:latin typeface="Courier New" pitchFamily="49" charset="0"/>
              </a:rPr>
              <a:t>open(filename, options)</a:t>
            </a:r>
            <a:endParaRPr lang="en-US" sz="2000" b="0" dirty="0" smtClean="0"/>
          </a:p>
          <a:p>
            <a:r>
              <a:rPr lang="en-US" sz="2000" b="0" dirty="0" smtClean="0"/>
              <a:t>Calls __</a:t>
            </a:r>
            <a:r>
              <a:rPr lang="en-US" sz="2000" dirty="0" smtClean="0">
                <a:latin typeface="Courier New" pitchFamily="49" charset="0"/>
              </a:rPr>
              <a:t>open</a:t>
            </a:r>
            <a:r>
              <a:rPr lang="en-US" sz="2000" b="0" dirty="0" smtClean="0"/>
              <a:t> function, which invokes </a:t>
            </a:r>
            <a:r>
              <a:rPr lang="en-US" sz="2000" b="0" dirty="0"/>
              <a:t>system call </a:t>
            </a:r>
            <a:r>
              <a:rPr lang="en-US" sz="2000" b="0" dirty="0" smtClean="0"/>
              <a:t>instruction </a:t>
            </a:r>
            <a:r>
              <a:rPr lang="en-US" sz="2000" dirty="0" err="1" smtClean="0">
                <a:latin typeface="Courier New" pitchFamily="49" charset="0"/>
              </a:rPr>
              <a:t>syscall</a:t>
            </a:r>
            <a:endParaRPr lang="en-US" sz="2200" b="0" dirty="0" smtClean="0"/>
          </a:p>
          <a:p>
            <a:endParaRPr lang="en-US" sz="2200" b="0" dirty="0" smtClean="0"/>
          </a:p>
          <a:p>
            <a:endParaRPr lang="en-US" sz="2200" b="0" dirty="0" smtClean="0"/>
          </a:p>
          <a:p>
            <a:endParaRPr lang="en-US" sz="2200" b="0" dirty="0" smtClean="0"/>
          </a:p>
          <a:p>
            <a:endParaRPr lang="en-US" sz="2200" b="0" dirty="0" smtClean="0"/>
          </a:p>
          <a:p>
            <a:endParaRPr lang="en-US" sz="2200" b="0" dirty="0" smtClean="0"/>
          </a:p>
          <a:p>
            <a:endParaRPr lang="en-US" sz="2200" b="0" dirty="0" smtClean="0"/>
          </a:p>
          <a:p>
            <a:pPr marL="0" indent="0">
              <a:buNone/>
            </a:pPr>
            <a:endParaRPr lang="en-US" sz="2200" b="0" dirty="0" smtClean="0"/>
          </a:p>
          <a:p>
            <a:pPr marL="0" indent="0">
              <a:buNone/>
            </a:pPr>
            <a:endParaRPr lang="en-US" sz="2200" b="0" dirty="0" smtClean="0"/>
          </a:p>
          <a:p>
            <a:endParaRPr lang="en-US" sz="2200" b="0" dirty="0" smtClean="0"/>
          </a:p>
          <a:p>
            <a:pPr marL="0" indent="0">
              <a:buNone/>
            </a:pPr>
            <a:endParaRPr lang="en-US" sz="2000" b="0" dirty="0" smtClean="0"/>
          </a:p>
          <a:p>
            <a:pPr marL="0" indent="0">
              <a:buNone/>
            </a:pPr>
            <a:endParaRPr lang="en-US" sz="2000" b="0" dirty="0"/>
          </a:p>
        </p:txBody>
      </p:sp>
      <p:sp>
        <p:nvSpPr>
          <p:cNvPr id="480272" name="Text Box 16"/>
          <p:cNvSpPr txBox="1">
            <a:spLocks noChangeArrowheads="1"/>
          </p:cNvSpPr>
          <p:nvPr/>
        </p:nvSpPr>
        <p:spPr bwMode="auto">
          <a:xfrm>
            <a:off x="529303" y="1917918"/>
            <a:ext cx="8458200" cy="1815882"/>
          </a:xfrm>
          <a:prstGeom prst="rect">
            <a:avLst/>
          </a:prstGeom>
          <a:solidFill>
            <a:schemeClr val="bg1">
              <a:lumMod val="95000"/>
            </a:schemeClr>
          </a:solidFill>
          <a:ln w="12700">
            <a:solidFill>
              <a:schemeClr val="tx1"/>
            </a:solidFill>
            <a:miter lim="800000"/>
            <a:headEnd/>
            <a:tailEnd/>
          </a:ln>
          <a:effectLst/>
        </p:spPr>
        <p:txBody>
          <a:bodyPr wrap="square">
            <a:spAutoFit/>
          </a:bodyPr>
          <a:lstStyle/>
          <a:p>
            <a:r>
              <a:rPr lang="de-DE" sz="1600" dirty="0">
                <a:solidFill>
                  <a:srgbClr val="000000"/>
                </a:solidFill>
                <a:latin typeface="Menlo-Regular"/>
              </a:rPr>
              <a:t>00000000000e5d70 &lt;__open&gt;</a:t>
            </a:r>
            <a:r>
              <a:rPr lang="de-DE" sz="1600" dirty="0" smtClean="0">
                <a:solidFill>
                  <a:srgbClr val="000000"/>
                </a:solidFill>
                <a:latin typeface="Menlo-Regular"/>
              </a:rPr>
              <a:t>:</a:t>
            </a:r>
          </a:p>
          <a:p>
            <a:r>
              <a:rPr lang="de-DE" sz="1600" dirty="0" smtClean="0">
                <a:solidFill>
                  <a:srgbClr val="000000"/>
                </a:solidFill>
                <a:latin typeface="Menlo-Regular"/>
              </a:rPr>
              <a:t>...</a:t>
            </a:r>
          </a:p>
          <a:p>
            <a:r>
              <a:rPr lang="sk-SK" sz="1600" dirty="0" smtClean="0">
                <a:solidFill>
                  <a:srgbClr val="000000"/>
                </a:solidFill>
                <a:latin typeface="Menlo-Regular"/>
              </a:rPr>
              <a:t>e5d79</a:t>
            </a:r>
            <a:r>
              <a:rPr lang="sk-SK" sz="1600" dirty="0">
                <a:solidFill>
                  <a:srgbClr val="000000"/>
                </a:solidFill>
                <a:latin typeface="Menlo-Regular"/>
              </a:rPr>
              <a:t>:   </a:t>
            </a:r>
            <a:r>
              <a:rPr lang="sk-SK" sz="1600" dirty="0" smtClean="0">
                <a:solidFill>
                  <a:srgbClr val="000000"/>
                </a:solidFill>
                <a:latin typeface="Menlo-Regular"/>
              </a:rPr>
              <a:t>b8 </a:t>
            </a:r>
            <a:r>
              <a:rPr lang="sk-SK" sz="1600" dirty="0">
                <a:solidFill>
                  <a:srgbClr val="000000"/>
                </a:solidFill>
                <a:latin typeface="Menlo-Regular"/>
              </a:rPr>
              <a:t>02 00 00 00    </a:t>
            </a:r>
            <a:r>
              <a:rPr lang="sk-SK" sz="1600" dirty="0" smtClean="0">
                <a:solidFill>
                  <a:srgbClr val="000000"/>
                </a:solidFill>
                <a:latin typeface="Menlo-Regular"/>
              </a:rPr>
              <a:t>  mov  $</a:t>
            </a:r>
            <a:r>
              <a:rPr lang="sk-SK" sz="1600" dirty="0">
                <a:solidFill>
                  <a:srgbClr val="000000"/>
                </a:solidFill>
                <a:latin typeface="Menlo-Regular"/>
              </a:rPr>
              <a:t>0x2,%</a:t>
            </a:r>
            <a:r>
              <a:rPr lang="sk-SK" sz="1600" dirty="0" smtClean="0">
                <a:solidFill>
                  <a:srgbClr val="000000"/>
                </a:solidFill>
                <a:latin typeface="Menlo-Regular"/>
              </a:rPr>
              <a:t>eax  # </a:t>
            </a:r>
            <a:r>
              <a:rPr lang="sk-SK" sz="1600" dirty="0" smtClean="0">
                <a:solidFill>
                  <a:srgbClr val="000000"/>
                </a:solidFill>
                <a:latin typeface="Courier New"/>
                <a:cs typeface="Courier New"/>
              </a:rPr>
              <a:t>open</a:t>
            </a:r>
            <a:r>
              <a:rPr lang="sk-SK" sz="1600" dirty="0" smtClean="0">
                <a:solidFill>
                  <a:srgbClr val="000000"/>
                </a:solidFill>
                <a:latin typeface="Menlo-Regular"/>
              </a:rPr>
              <a:t> is syscall #2</a:t>
            </a:r>
            <a:endParaRPr lang="de-DE" sz="1600" dirty="0" smtClean="0">
              <a:solidFill>
                <a:srgbClr val="000000"/>
              </a:solidFill>
              <a:latin typeface="Menlo-Regular"/>
            </a:endParaRPr>
          </a:p>
          <a:p>
            <a:r>
              <a:rPr lang="en-US" sz="1600" dirty="0" smtClean="0">
                <a:solidFill>
                  <a:srgbClr val="000000"/>
                </a:solidFill>
                <a:latin typeface="Menlo-Regular"/>
              </a:rPr>
              <a:t>e5d7e</a:t>
            </a:r>
            <a:r>
              <a:rPr lang="en-US" sz="1600" dirty="0">
                <a:solidFill>
                  <a:srgbClr val="000000"/>
                </a:solidFill>
                <a:latin typeface="Menlo-Regular"/>
              </a:rPr>
              <a:t>:   </a:t>
            </a:r>
            <a:r>
              <a:rPr lang="en-US" sz="1600" dirty="0" smtClean="0">
                <a:solidFill>
                  <a:srgbClr val="000000"/>
                </a:solidFill>
                <a:latin typeface="Menlo-Regular"/>
              </a:rPr>
              <a:t>0f </a:t>
            </a:r>
            <a:r>
              <a:rPr lang="en-US" sz="1600" dirty="0">
                <a:solidFill>
                  <a:srgbClr val="000000"/>
                </a:solidFill>
                <a:latin typeface="Menlo-Regular"/>
              </a:rPr>
              <a:t>05   </a:t>
            </a:r>
            <a:r>
              <a:rPr lang="en-US" sz="1600" dirty="0" smtClean="0">
                <a:solidFill>
                  <a:srgbClr val="000000"/>
                </a:solidFill>
                <a:latin typeface="Menlo-Regular"/>
              </a:rPr>
              <a:t>            </a:t>
            </a:r>
            <a:r>
              <a:rPr lang="en-US" sz="1600" dirty="0" err="1" smtClean="0">
                <a:solidFill>
                  <a:srgbClr val="000000"/>
                </a:solidFill>
                <a:latin typeface="Menlo-Regular"/>
              </a:rPr>
              <a:t>syscall</a:t>
            </a:r>
            <a:r>
              <a:rPr lang="en-US" sz="1600" dirty="0" smtClean="0">
                <a:solidFill>
                  <a:srgbClr val="000000"/>
                </a:solidFill>
                <a:latin typeface="Menlo-Regular"/>
              </a:rPr>
              <a:t>         # Return value in %</a:t>
            </a:r>
            <a:r>
              <a:rPr lang="en-US" sz="1600" dirty="0" err="1" smtClean="0">
                <a:solidFill>
                  <a:srgbClr val="000000"/>
                </a:solidFill>
                <a:latin typeface="Menlo-Regular"/>
              </a:rPr>
              <a:t>rax</a:t>
            </a:r>
            <a:endParaRPr lang="en-US" sz="1600" dirty="0" smtClean="0">
              <a:solidFill>
                <a:srgbClr val="000000"/>
              </a:solidFill>
              <a:latin typeface="Menlo-Regular"/>
            </a:endParaRPr>
          </a:p>
          <a:p>
            <a:r>
              <a:rPr lang="da-DK" sz="1600" dirty="0">
                <a:solidFill>
                  <a:srgbClr val="000000"/>
                </a:solidFill>
                <a:latin typeface="Menlo-Regular"/>
              </a:rPr>
              <a:t>e5d80:   </a:t>
            </a:r>
            <a:r>
              <a:rPr lang="da-DK" sz="1600" dirty="0" smtClean="0">
                <a:solidFill>
                  <a:srgbClr val="000000"/>
                </a:solidFill>
                <a:latin typeface="Menlo-Regular"/>
              </a:rPr>
              <a:t>48 </a:t>
            </a:r>
            <a:r>
              <a:rPr lang="da-DK" sz="1600" dirty="0">
                <a:solidFill>
                  <a:srgbClr val="000000"/>
                </a:solidFill>
                <a:latin typeface="Menlo-Regular"/>
              </a:rPr>
              <a:t>3d 01 f0 </a:t>
            </a:r>
            <a:r>
              <a:rPr lang="da-DK" sz="1600" dirty="0" err="1">
                <a:solidFill>
                  <a:srgbClr val="000000"/>
                </a:solidFill>
                <a:latin typeface="Menlo-Regular"/>
              </a:rPr>
              <a:t>ff</a:t>
            </a:r>
            <a:r>
              <a:rPr lang="da-DK" sz="1600" dirty="0">
                <a:solidFill>
                  <a:srgbClr val="000000"/>
                </a:solidFill>
                <a:latin typeface="Menlo-Regular"/>
              </a:rPr>
              <a:t> </a:t>
            </a:r>
            <a:r>
              <a:rPr lang="da-DK" sz="1600" dirty="0" err="1">
                <a:solidFill>
                  <a:srgbClr val="000000"/>
                </a:solidFill>
                <a:latin typeface="Menlo-Regular"/>
              </a:rPr>
              <a:t>ff</a:t>
            </a:r>
            <a:r>
              <a:rPr lang="da-DK" sz="1600" dirty="0">
                <a:solidFill>
                  <a:srgbClr val="000000"/>
                </a:solidFill>
                <a:latin typeface="Menlo-Regular"/>
              </a:rPr>
              <a:t>  </a:t>
            </a:r>
            <a:r>
              <a:rPr lang="da-DK" sz="1600" dirty="0" smtClean="0">
                <a:solidFill>
                  <a:srgbClr val="000000"/>
                </a:solidFill>
                <a:latin typeface="Menlo-Regular"/>
              </a:rPr>
              <a:t> </a:t>
            </a:r>
            <a:r>
              <a:rPr lang="da-DK" sz="1600" dirty="0" err="1" smtClean="0">
                <a:solidFill>
                  <a:srgbClr val="000000"/>
                </a:solidFill>
                <a:latin typeface="Menlo-Regular"/>
              </a:rPr>
              <a:t>cmp</a:t>
            </a:r>
            <a:r>
              <a:rPr lang="da-DK" sz="1600" dirty="0" smtClean="0">
                <a:solidFill>
                  <a:srgbClr val="000000"/>
                </a:solidFill>
                <a:latin typeface="Menlo-Regular"/>
              </a:rPr>
              <a:t>  $</a:t>
            </a:r>
            <a:r>
              <a:rPr lang="da-DK" sz="1600" dirty="0">
                <a:solidFill>
                  <a:srgbClr val="000000"/>
                </a:solidFill>
                <a:latin typeface="Menlo-Regular"/>
              </a:rPr>
              <a:t>0xfffffffffffff001,%</a:t>
            </a:r>
            <a:r>
              <a:rPr lang="da-DK" sz="1600" dirty="0" smtClean="0">
                <a:solidFill>
                  <a:srgbClr val="000000"/>
                </a:solidFill>
                <a:latin typeface="Menlo-Regular"/>
              </a:rPr>
              <a:t>rax </a:t>
            </a:r>
            <a:endParaRPr lang="en-US" sz="1600" dirty="0" smtClean="0">
              <a:solidFill>
                <a:srgbClr val="000000"/>
              </a:solidFill>
              <a:latin typeface="Menlo-Regular"/>
            </a:endParaRPr>
          </a:p>
          <a:p>
            <a:r>
              <a:rPr lang="en-US" sz="1600" dirty="0" smtClean="0">
                <a:solidFill>
                  <a:srgbClr val="000000"/>
                </a:solidFill>
                <a:latin typeface="Menlo-Regular"/>
              </a:rPr>
              <a:t>...</a:t>
            </a:r>
          </a:p>
          <a:p>
            <a:r>
              <a:rPr lang="da-DK" sz="1600" dirty="0">
                <a:solidFill>
                  <a:srgbClr val="000000"/>
                </a:solidFill>
                <a:latin typeface="Menlo-Regular"/>
              </a:rPr>
              <a:t>e5dfa:   </a:t>
            </a:r>
            <a:r>
              <a:rPr lang="da-DK" sz="1600" dirty="0" smtClean="0">
                <a:solidFill>
                  <a:srgbClr val="000000"/>
                </a:solidFill>
                <a:latin typeface="Menlo-Regular"/>
              </a:rPr>
              <a:t>c3                  </a:t>
            </a:r>
            <a:r>
              <a:rPr lang="da-DK" sz="1600" dirty="0" err="1" smtClean="0">
                <a:solidFill>
                  <a:srgbClr val="000000"/>
                </a:solidFill>
                <a:latin typeface="Menlo-Regular"/>
              </a:rPr>
              <a:t>retq</a:t>
            </a:r>
            <a:endParaRPr lang="en-US" sz="1600" dirty="0">
              <a:latin typeface="Courier New" pitchFamily="49" charset="0"/>
            </a:endParaRPr>
          </a:p>
        </p:txBody>
      </p:sp>
      <p:sp>
        <p:nvSpPr>
          <p:cNvPr id="17" name="Rectangle 4"/>
          <p:cNvSpPr>
            <a:spLocks noChangeArrowheads="1"/>
          </p:cNvSpPr>
          <p:nvPr/>
        </p:nvSpPr>
        <p:spPr bwMode="auto">
          <a:xfrm>
            <a:off x="482382" y="4191000"/>
            <a:ext cx="1544038" cy="459092"/>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i="1" dirty="0">
                <a:solidFill>
                  <a:schemeClr val="tx1">
                    <a:lumMod val="50000"/>
                    <a:lumOff val="50000"/>
                  </a:schemeClr>
                </a:solidFill>
                <a:latin typeface="Calibri" pitchFamily="34" charset="0"/>
              </a:rPr>
              <a:t>User </a:t>
            </a:r>
            <a:r>
              <a:rPr lang="en-US" i="1" dirty="0" smtClean="0">
                <a:solidFill>
                  <a:schemeClr val="tx1">
                    <a:lumMod val="50000"/>
                    <a:lumOff val="50000"/>
                  </a:schemeClr>
                </a:solidFill>
                <a:latin typeface="Calibri" pitchFamily="34" charset="0"/>
              </a:rPr>
              <a:t>code</a:t>
            </a:r>
            <a:endParaRPr lang="en-US" i="1" dirty="0">
              <a:solidFill>
                <a:schemeClr val="tx1">
                  <a:lumMod val="50000"/>
                  <a:lumOff val="50000"/>
                </a:schemeClr>
              </a:solidFill>
              <a:latin typeface="Calibri" pitchFamily="34" charset="0"/>
            </a:endParaRPr>
          </a:p>
        </p:txBody>
      </p:sp>
      <p:sp>
        <p:nvSpPr>
          <p:cNvPr id="18" name="Rectangle 5"/>
          <p:cNvSpPr>
            <a:spLocks noChangeArrowheads="1"/>
          </p:cNvSpPr>
          <p:nvPr/>
        </p:nvSpPr>
        <p:spPr bwMode="auto">
          <a:xfrm>
            <a:off x="3173772" y="4191000"/>
            <a:ext cx="1779228" cy="459092"/>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i="1" dirty="0" smtClean="0">
                <a:solidFill>
                  <a:schemeClr val="tx1">
                    <a:lumMod val="50000"/>
                    <a:lumOff val="50000"/>
                  </a:schemeClr>
                </a:solidFill>
                <a:latin typeface="Calibri" pitchFamily="34" charset="0"/>
              </a:rPr>
              <a:t>Kernel code</a:t>
            </a:r>
            <a:endParaRPr lang="en-US" i="1" dirty="0">
              <a:solidFill>
                <a:schemeClr val="tx1">
                  <a:lumMod val="50000"/>
                  <a:lumOff val="50000"/>
                </a:schemeClr>
              </a:solidFill>
              <a:latin typeface="Calibri" pitchFamily="34" charset="0"/>
            </a:endParaRPr>
          </a:p>
        </p:txBody>
      </p:sp>
      <p:sp>
        <p:nvSpPr>
          <p:cNvPr id="19" name="Line 6"/>
          <p:cNvSpPr>
            <a:spLocks noChangeShapeType="1"/>
          </p:cNvSpPr>
          <p:nvPr/>
        </p:nvSpPr>
        <p:spPr bwMode="auto">
          <a:xfrm>
            <a:off x="1296770" y="4713287"/>
            <a:ext cx="0" cy="598488"/>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0" name="Line 7"/>
          <p:cNvSpPr>
            <a:spLocks noChangeShapeType="1"/>
          </p:cNvSpPr>
          <p:nvPr/>
        </p:nvSpPr>
        <p:spPr bwMode="auto">
          <a:xfrm>
            <a:off x="1303120" y="5318125"/>
            <a:ext cx="2806700" cy="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1" name="Line 8"/>
          <p:cNvSpPr>
            <a:spLocks noChangeShapeType="1"/>
          </p:cNvSpPr>
          <p:nvPr/>
        </p:nvSpPr>
        <p:spPr bwMode="auto">
          <a:xfrm>
            <a:off x="4116170" y="5324475"/>
            <a:ext cx="0" cy="59690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2" name="Line 9"/>
          <p:cNvSpPr>
            <a:spLocks noChangeShapeType="1"/>
          </p:cNvSpPr>
          <p:nvPr/>
        </p:nvSpPr>
        <p:spPr bwMode="auto">
          <a:xfrm flipH="1" flipV="1">
            <a:off x="1290420" y="5387975"/>
            <a:ext cx="2832100" cy="54610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3" name="Line 10"/>
          <p:cNvSpPr>
            <a:spLocks noChangeShapeType="1"/>
          </p:cNvSpPr>
          <p:nvPr/>
        </p:nvSpPr>
        <p:spPr bwMode="auto">
          <a:xfrm flipH="1">
            <a:off x="1290420" y="5414962"/>
            <a:ext cx="6350" cy="909638"/>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4" name="Rectangle 11"/>
          <p:cNvSpPr>
            <a:spLocks noChangeArrowheads="1"/>
          </p:cNvSpPr>
          <p:nvPr/>
        </p:nvSpPr>
        <p:spPr bwMode="auto">
          <a:xfrm>
            <a:off x="2165132" y="4953000"/>
            <a:ext cx="1142586" cy="366759"/>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sz="1800" b="0" i="1" dirty="0">
                <a:latin typeface="Calibri" pitchFamily="34" charset="0"/>
              </a:rPr>
              <a:t>E</a:t>
            </a:r>
            <a:r>
              <a:rPr lang="en-US" sz="1800" b="0" i="1" dirty="0" smtClean="0">
                <a:latin typeface="Calibri" pitchFamily="34" charset="0"/>
              </a:rPr>
              <a:t>xception</a:t>
            </a:r>
            <a:endParaRPr lang="en-US" sz="1800" b="0" i="1" dirty="0">
              <a:latin typeface="Calibri" pitchFamily="34" charset="0"/>
            </a:endParaRPr>
          </a:p>
        </p:txBody>
      </p:sp>
      <p:sp>
        <p:nvSpPr>
          <p:cNvPr id="25" name="Rectangle 12"/>
          <p:cNvSpPr>
            <a:spLocks noChangeArrowheads="1"/>
          </p:cNvSpPr>
          <p:nvPr/>
        </p:nvSpPr>
        <p:spPr bwMode="auto">
          <a:xfrm>
            <a:off x="4146332" y="5410200"/>
            <a:ext cx="1219200" cy="366759"/>
          </a:xfrm>
          <a:prstGeom prst="rect">
            <a:avLst/>
          </a:prstGeom>
          <a:noFill/>
          <a:ln w="12700">
            <a:noFill/>
            <a:miter lim="800000"/>
            <a:headEnd/>
            <a:tailEnd/>
          </a:ln>
          <a:effectLst/>
        </p:spPr>
        <p:txBody>
          <a:bodyPr wrap="square" lIns="90479" tIns="44446" rIns="90479" bIns="44446">
            <a:spAutoFit/>
          </a:bodyPr>
          <a:lstStyle/>
          <a:p>
            <a:pPr algn="l">
              <a:lnSpc>
                <a:spcPct val="100000"/>
              </a:lnSpc>
            </a:pPr>
            <a:r>
              <a:rPr lang="en-US" sz="1800" b="0" i="1" dirty="0">
                <a:latin typeface="Calibri" pitchFamily="34" charset="0"/>
              </a:rPr>
              <a:t>O</a:t>
            </a:r>
            <a:r>
              <a:rPr lang="en-US" sz="1800" b="0" i="1" dirty="0" smtClean="0">
                <a:latin typeface="Calibri" pitchFamily="34" charset="0"/>
              </a:rPr>
              <a:t>pen file</a:t>
            </a:r>
            <a:endParaRPr lang="en-US" sz="1800" b="0" i="1" dirty="0">
              <a:latin typeface="Calibri" pitchFamily="34" charset="0"/>
            </a:endParaRPr>
          </a:p>
        </p:txBody>
      </p:sp>
      <p:sp>
        <p:nvSpPr>
          <p:cNvPr id="26" name="Rectangle 13"/>
          <p:cNvSpPr>
            <a:spLocks noChangeArrowheads="1"/>
          </p:cNvSpPr>
          <p:nvPr/>
        </p:nvSpPr>
        <p:spPr bwMode="auto">
          <a:xfrm>
            <a:off x="2165132" y="5719762"/>
            <a:ext cx="914772" cy="366759"/>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sz="1800" b="0" i="1" dirty="0">
                <a:latin typeface="Calibri" pitchFamily="34" charset="0"/>
              </a:rPr>
              <a:t>R</a:t>
            </a:r>
            <a:r>
              <a:rPr lang="en-US" sz="1800" b="0" i="1" dirty="0" smtClean="0">
                <a:latin typeface="Calibri" pitchFamily="34" charset="0"/>
              </a:rPr>
              <a:t>eturns</a:t>
            </a:r>
            <a:endParaRPr lang="en-US" sz="1800" b="0" dirty="0">
              <a:latin typeface="Calibri" pitchFamily="34" charset="0"/>
            </a:endParaRPr>
          </a:p>
        </p:txBody>
      </p:sp>
      <p:sp>
        <p:nvSpPr>
          <p:cNvPr id="28" name="Text Box 15"/>
          <p:cNvSpPr txBox="1">
            <a:spLocks noChangeArrowheads="1"/>
          </p:cNvSpPr>
          <p:nvPr/>
        </p:nvSpPr>
        <p:spPr bwMode="auto">
          <a:xfrm>
            <a:off x="685800" y="5086513"/>
            <a:ext cx="650689" cy="307777"/>
          </a:xfrm>
          <a:prstGeom prst="rect">
            <a:avLst/>
          </a:prstGeom>
          <a:noFill/>
          <a:ln w="25400">
            <a:noFill/>
            <a:miter lim="800000"/>
            <a:headEnd/>
            <a:tailEnd/>
          </a:ln>
          <a:effectLst/>
        </p:spPr>
        <p:txBody>
          <a:bodyPr wrap="none">
            <a:spAutoFit/>
          </a:bodyPr>
          <a:lstStyle/>
          <a:p>
            <a:pPr algn="l">
              <a:lnSpc>
                <a:spcPct val="100000"/>
              </a:lnSpc>
            </a:pPr>
            <a:r>
              <a:rPr lang="en-US" sz="1400" b="0" dirty="0" err="1" smtClean="0">
                <a:latin typeface="Calibri" pitchFamily="34" charset="0"/>
              </a:rPr>
              <a:t>syscall</a:t>
            </a:r>
            <a:endParaRPr lang="en-US" sz="1400" b="0" dirty="0">
              <a:latin typeface="Calibri" pitchFamily="34" charset="0"/>
            </a:endParaRPr>
          </a:p>
        </p:txBody>
      </p:sp>
      <p:sp>
        <p:nvSpPr>
          <p:cNvPr id="29" name="Text Box 16"/>
          <p:cNvSpPr txBox="1">
            <a:spLocks noChangeArrowheads="1"/>
          </p:cNvSpPr>
          <p:nvPr/>
        </p:nvSpPr>
        <p:spPr bwMode="auto">
          <a:xfrm>
            <a:off x="782334" y="5291872"/>
            <a:ext cx="498329" cy="307777"/>
          </a:xfrm>
          <a:prstGeom prst="rect">
            <a:avLst/>
          </a:prstGeom>
          <a:noFill/>
          <a:ln w="25400">
            <a:noFill/>
            <a:miter lim="800000"/>
            <a:headEnd/>
            <a:tailEnd/>
          </a:ln>
          <a:effectLst/>
        </p:spPr>
        <p:txBody>
          <a:bodyPr wrap="none">
            <a:spAutoFit/>
          </a:bodyPr>
          <a:lstStyle/>
          <a:p>
            <a:pPr algn="l">
              <a:lnSpc>
                <a:spcPct val="100000"/>
              </a:lnSpc>
            </a:pPr>
            <a:r>
              <a:rPr lang="en-US" sz="1400" b="0" dirty="0" err="1" smtClean="0">
                <a:latin typeface="Calibri" pitchFamily="34" charset="0"/>
              </a:rPr>
              <a:t>cmp</a:t>
            </a:r>
            <a:endParaRPr lang="en-US" sz="1400" b="0" dirty="0">
              <a:latin typeface="Calibri" pitchFamily="34" charset="0"/>
            </a:endParaRPr>
          </a:p>
        </p:txBody>
      </p:sp>
      <p:sp>
        <p:nvSpPr>
          <p:cNvPr id="32" name="Rectangle 15"/>
          <p:cNvSpPr txBox="1">
            <a:spLocks noChangeArrowheads="1"/>
          </p:cNvSpPr>
          <p:nvPr/>
        </p:nvSpPr>
        <p:spPr bwMode="auto">
          <a:xfrm>
            <a:off x="5410200" y="4241215"/>
            <a:ext cx="3753280" cy="254058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a:lstStyle>
          <a:p>
            <a:r>
              <a:rPr lang="en-US" sz="2000" b="0" dirty="0" smtClean="0">
                <a:latin typeface="Courier New"/>
                <a:cs typeface="Courier New"/>
              </a:rPr>
              <a:t>%</a:t>
            </a:r>
            <a:r>
              <a:rPr lang="en-US" sz="2000" b="0" dirty="0" err="1" smtClean="0">
                <a:latin typeface="Courier New"/>
                <a:cs typeface="Courier New"/>
              </a:rPr>
              <a:t>rax</a:t>
            </a:r>
            <a:r>
              <a:rPr lang="en-US" sz="2000" b="0" dirty="0" smtClean="0">
                <a:latin typeface="Courier New"/>
                <a:cs typeface="Courier New"/>
              </a:rPr>
              <a:t> </a:t>
            </a:r>
            <a:r>
              <a:rPr lang="en-US" sz="2000" b="0" dirty="0" smtClean="0"/>
              <a:t>contains </a:t>
            </a:r>
            <a:r>
              <a:rPr lang="en-US" sz="2000" b="0" dirty="0" err="1" smtClean="0"/>
              <a:t>syscall</a:t>
            </a:r>
            <a:r>
              <a:rPr lang="en-US" sz="2000" b="0" dirty="0" smtClean="0"/>
              <a:t> number</a:t>
            </a:r>
          </a:p>
          <a:p>
            <a:r>
              <a:rPr lang="en-US" sz="2000" b="0" dirty="0" smtClean="0"/>
              <a:t>Other arguments in </a:t>
            </a:r>
            <a:r>
              <a:rPr lang="en-US" sz="2000" b="0" dirty="0" smtClean="0">
                <a:latin typeface="Courier New"/>
                <a:cs typeface="Courier New"/>
              </a:rPr>
              <a:t>%</a:t>
            </a:r>
            <a:r>
              <a:rPr lang="en-US" sz="2000" b="0" dirty="0" err="1" smtClean="0">
                <a:latin typeface="Courier New"/>
                <a:cs typeface="Courier New"/>
              </a:rPr>
              <a:t>rdi</a:t>
            </a:r>
            <a:r>
              <a:rPr lang="en-US" sz="2000" b="0" dirty="0" smtClean="0"/>
              <a:t>, </a:t>
            </a:r>
            <a:r>
              <a:rPr lang="en-US" sz="2000" b="0" dirty="0" smtClean="0">
                <a:latin typeface="Courier New"/>
                <a:cs typeface="Courier New"/>
              </a:rPr>
              <a:t>%</a:t>
            </a:r>
            <a:r>
              <a:rPr lang="en-US" sz="2000" b="0" dirty="0" err="1" smtClean="0">
                <a:latin typeface="Courier New"/>
                <a:cs typeface="Courier New"/>
              </a:rPr>
              <a:t>rsi</a:t>
            </a:r>
            <a:r>
              <a:rPr lang="en-US" sz="2000" b="0" dirty="0" smtClean="0"/>
              <a:t>, </a:t>
            </a:r>
            <a:r>
              <a:rPr lang="en-US" sz="2000" b="0" dirty="0" smtClean="0">
                <a:latin typeface="Courier New"/>
                <a:cs typeface="Courier New"/>
              </a:rPr>
              <a:t>%</a:t>
            </a:r>
            <a:r>
              <a:rPr lang="en-US" sz="2000" b="0" dirty="0" err="1" smtClean="0">
                <a:latin typeface="Courier New"/>
                <a:cs typeface="Courier New"/>
              </a:rPr>
              <a:t>rdx</a:t>
            </a:r>
            <a:r>
              <a:rPr lang="en-US" sz="2000" b="0" dirty="0" smtClean="0"/>
              <a:t>, </a:t>
            </a:r>
            <a:r>
              <a:rPr lang="en-US" sz="2000" b="0" dirty="0" smtClean="0">
                <a:latin typeface="Courier New"/>
                <a:cs typeface="Courier New"/>
              </a:rPr>
              <a:t>%r10</a:t>
            </a:r>
            <a:r>
              <a:rPr lang="en-US" sz="2000" b="0" dirty="0" smtClean="0"/>
              <a:t>, </a:t>
            </a:r>
            <a:r>
              <a:rPr lang="en-US" sz="2000" b="0" dirty="0" smtClean="0">
                <a:latin typeface="Courier New"/>
                <a:cs typeface="Courier New"/>
              </a:rPr>
              <a:t>%r8</a:t>
            </a:r>
            <a:r>
              <a:rPr lang="en-US" sz="2000" b="0" dirty="0" smtClean="0"/>
              <a:t>, </a:t>
            </a:r>
            <a:r>
              <a:rPr lang="en-US" sz="2000" b="0" dirty="0" smtClean="0">
                <a:latin typeface="Courier New"/>
                <a:cs typeface="Courier New"/>
              </a:rPr>
              <a:t>%r9</a:t>
            </a:r>
          </a:p>
          <a:p>
            <a:r>
              <a:rPr lang="en-US" sz="2000" b="0" dirty="0" smtClean="0"/>
              <a:t>Return value in </a:t>
            </a:r>
            <a:r>
              <a:rPr lang="en-US" sz="2000" b="0" dirty="0" smtClean="0">
                <a:latin typeface="Courier New"/>
                <a:cs typeface="Courier New"/>
              </a:rPr>
              <a:t>%</a:t>
            </a:r>
            <a:r>
              <a:rPr lang="en-US" sz="2000" b="0" dirty="0" err="1" smtClean="0">
                <a:latin typeface="Courier New"/>
                <a:cs typeface="Courier New"/>
              </a:rPr>
              <a:t>rax</a:t>
            </a:r>
            <a:endParaRPr lang="en-US" sz="2000" b="0" dirty="0" smtClean="0">
              <a:latin typeface="Courier New"/>
              <a:cs typeface="Courier New"/>
            </a:endParaRPr>
          </a:p>
          <a:p>
            <a:r>
              <a:rPr lang="en-US" sz="2000" b="0" dirty="0" smtClean="0">
                <a:latin typeface="Calibri"/>
                <a:cs typeface="Calibri"/>
              </a:rPr>
              <a:t>Negative value is an error corresponding to negative </a:t>
            </a:r>
            <a:r>
              <a:rPr lang="en-US" sz="2000" b="0" dirty="0" err="1" smtClean="0">
                <a:latin typeface="Courier New"/>
                <a:cs typeface="Courier New"/>
              </a:rPr>
              <a:t>errno</a:t>
            </a:r>
            <a:endParaRPr lang="en-US" sz="2000" b="0" dirty="0" smtClean="0">
              <a:latin typeface="Courier New"/>
              <a:cs typeface="Courier New"/>
            </a:endParaRPr>
          </a:p>
          <a:p>
            <a:endParaRPr lang="en-US" sz="2000" b="0" dirty="0" smtClean="0">
              <a:latin typeface="+mn-lt"/>
              <a:cs typeface="Courier New"/>
            </a:endParaRPr>
          </a:p>
          <a:p>
            <a:endParaRPr lang="en-US" sz="2000" b="0" dirty="0" smtClean="0"/>
          </a:p>
          <a:p>
            <a:endParaRPr lang="en-US" sz="2000" b="0" dirty="0" smtClean="0"/>
          </a:p>
          <a:p>
            <a:endParaRPr lang="en-US" sz="2000" b="0" dirty="0" smtClean="0"/>
          </a:p>
          <a:p>
            <a:endParaRPr lang="en-US" sz="2000" b="0" dirty="0" smtClean="0"/>
          </a:p>
          <a:p>
            <a:endParaRPr lang="en-US" sz="2000" b="0" dirty="0" smtClean="0"/>
          </a:p>
          <a:p>
            <a:pPr marL="0" indent="0">
              <a:buFont typeface="Wingdings 2" pitchFamily="18" charset="2"/>
              <a:buNone/>
            </a:pPr>
            <a:endParaRPr lang="en-US" sz="2000" b="0" dirty="0" smtClean="0"/>
          </a:p>
          <a:p>
            <a:pPr marL="0" indent="0">
              <a:buFont typeface="Wingdings 2" pitchFamily="18" charset="2"/>
              <a:buNone/>
            </a:pPr>
            <a:endParaRPr lang="en-US" sz="2000" b="0" dirty="0" smtClean="0"/>
          </a:p>
          <a:p>
            <a:endParaRPr lang="en-US" sz="2000" b="0" dirty="0" smtClean="0"/>
          </a:p>
          <a:p>
            <a:endParaRPr lang="en-US" sz="2000" b="0" dirty="0" smtClean="0"/>
          </a:p>
          <a:p>
            <a:pPr marL="0" indent="0">
              <a:buFont typeface="Wingdings 2" pitchFamily="18" charset="2"/>
              <a:buNone/>
            </a:pPr>
            <a:endParaRPr lang="en-US" sz="2000" b="0" dirty="0"/>
          </a:p>
        </p:txBody>
      </p:sp>
    </p:spTree>
    <p:extLst>
      <p:ext uri="{BB962C8B-B14F-4D97-AF65-F5344CB8AC3E}">
        <p14:creationId xmlns:p14="http://schemas.microsoft.com/office/powerpoint/2010/main" val="3300986449"/>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p:cNvSpPr/>
          <p:nvPr/>
        </p:nvSpPr>
        <p:spPr bwMode="auto">
          <a:xfrm>
            <a:off x="762000" y="3581400"/>
            <a:ext cx="5715000" cy="2286000"/>
          </a:xfrm>
          <a:prstGeom prst="rect">
            <a:avLst/>
          </a:prstGeom>
          <a:solidFill>
            <a:srgbClr val="E9E1C9"/>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481282" name="Rectangle 2"/>
          <p:cNvSpPr>
            <a:spLocks noGrp="1" noChangeArrowheads="1"/>
          </p:cNvSpPr>
          <p:nvPr>
            <p:ph type="title"/>
          </p:nvPr>
        </p:nvSpPr>
        <p:spPr>
          <a:xfrm>
            <a:off x="441652" y="587375"/>
            <a:ext cx="7893050" cy="555625"/>
          </a:xfrm>
          <a:noFill/>
          <a:ln/>
        </p:spPr>
        <p:txBody>
          <a:bodyPr/>
          <a:lstStyle/>
          <a:p>
            <a:r>
              <a:rPr lang="en-US" dirty="0"/>
              <a:t>Fault </a:t>
            </a:r>
            <a:r>
              <a:rPr lang="en-US" dirty="0" smtClean="0"/>
              <a:t>Example: Page Fault</a:t>
            </a:r>
            <a:endParaRPr lang="en-US" dirty="0"/>
          </a:p>
        </p:txBody>
      </p:sp>
      <p:sp>
        <p:nvSpPr>
          <p:cNvPr id="481297" name="Rectangle 17"/>
          <p:cNvSpPr>
            <a:spLocks noGrp="1" noChangeArrowheads="1"/>
          </p:cNvSpPr>
          <p:nvPr>
            <p:ph type="body" idx="1"/>
          </p:nvPr>
        </p:nvSpPr>
        <p:spPr>
          <a:xfrm>
            <a:off x="457200" y="1295400"/>
            <a:ext cx="8153400" cy="1066800"/>
          </a:xfrm>
        </p:spPr>
        <p:txBody>
          <a:bodyPr/>
          <a:lstStyle/>
          <a:p>
            <a:r>
              <a:rPr lang="en-US" sz="2000" b="0" dirty="0" smtClean="0"/>
              <a:t>User </a:t>
            </a:r>
            <a:r>
              <a:rPr lang="en-US" sz="2000" b="0" dirty="0"/>
              <a:t>writes to memory location</a:t>
            </a:r>
          </a:p>
          <a:p>
            <a:r>
              <a:rPr lang="en-US" sz="2000" b="0" dirty="0"/>
              <a:t>That portion (page) of user’s memory </a:t>
            </a:r>
            <a:r>
              <a:rPr lang="en-US" sz="2000" b="0" dirty="0" smtClean="0"/>
              <a:t/>
            </a:r>
            <a:br>
              <a:rPr lang="en-US" sz="2000" b="0" dirty="0" smtClean="0"/>
            </a:br>
            <a:r>
              <a:rPr lang="en-US" sz="2000" b="0" dirty="0" smtClean="0"/>
              <a:t>is </a:t>
            </a:r>
            <a:r>
              <a:rPr lang="en-US" sz="2000" b="0" dirty="0"/>
              <a:t>currently on disk</a:t>
            </a:r>
          </a:p>
          <a:p>
            <a:endParaRPr lang="en-US" sz="2200" b="0" dirty="0"/>
          </a:p>
          <a:p>
            <a:endParaRPr lang="en-US" sz="2200" b="0" dirty="0" smtClean="0"/>
          </a:p>
          <a:p>
            <a:endParaRPr lang="en-US" sz="2200" b="0" dirty="0" smtClean="0"/>
          </a:p>
          <a:p>
            <a:endParaRPr lang="en-US" sz="2200" b="0" dirty="0" smtClean="0"/>
          </a:p>
          <a:p>
            <a:endParaRPr lang="en-US" sz="2200" b="0" dirty="0" smtClean="0"/>
          </a:p>
          <a:p>
            <a:endParaRPr lang="en-US" sz="2200" b="0" dirty="0" smtClean="0"/>
          </a:p>
          <a:p>
            <a:endParaRPr lang="en-US" sz="2200" b="0" dirty="0" smtClean="0"/>
          </a:p>
          <a:p>
            <a:pPr marL="0" indent="0">
              <a:buNone/>
            </a:pPr>
            <a:endParaRPr lang="en-US" sz="2000" b="0" dirty="0" smtClean="0"/>
          </a:p>
        </p:txBody>
      </p:sp>
      <p:sp>
        <p:nvSpPr>
          <p:cNvPr id="481298" name="Text Box 18"/>
          <p:cNvSpPr txBox="1">
            <a:spLocks noChangeArrowheads="1"/>
          </p:cNvSpPr>
          <p:nvPr/>
        </p:nvSpPr>
        <p:spPr bwMode="auto">
          <a:xfrm>
            <a:off x="6113354" y="1022350"/>
            <a:ext cx="2165350" cy="1339850"/>
          </a:xfrm>
          <a:prstGeom prst="rect">
            <a:avLst/>
          </a:prstGeom>
          <a:solidFill>
            <a:srgbClr val="F6F5BD"/>
          </a:solidFill>
          <a:ln w="12700">
            <a:solidFill>
              <a:schemeClr val="tx1"/>
            </a:solidFill>
            <a:miter lim="800000"/>
            <a:headEnd/>
            <a:tailEnd/>
          </a:ln>
          <a:effectLst/>
        </p:spPr>
        <p:txBody>
          <a:bodyPr wrap="none">
            <a:spAutoFit/>
          </a:bodyPr>
          <a:lstStyle/>
          <a:p>
            <a:pPr algn="l">
              <a:lnSpc>
                <a:spcPct val="100000"/>
              </a:lnSpc>
            </a:pPr>
            <a:r>
              <a:rPr lang="en-US" sz="1600" dirty="0" err="1">
                <a:latin typeface="Courier New" pitchFamily="49" charset="0"/>
              </a:rPr>
              <a:t>int</a:t>
            </a:r>
            <a:r>
              <a:rPr lang="en-US" sz="1600" dirty="0">
                <a:latin typeface="Courier New" pitchFamily="49" charset="0"/>
              </a:rPr>
              <a:t> a[1000];</a:t>
            </a:r>
          </a:p>
          <a:p>
            <a:pPr algn="l">
              <a:lnSpc>
                <a:spcPct val="100000"/>
              </a:lnSpc>
            </a:pPr>
            <a:r>
              <a:rPr lang="en-US" sz="1600" dirty="0">
                <a:latin typeface="Courier New" pitchFamily="49" charset="0"/>
              </a:rPr>
              <a:t>main ()</a:t>
            </a:r>
          </a:p>
          <a:p>
            <a:pPr algn="l">
              <a:lnSpc>
                <a:spcPct val="100000"/>
              </a:lnSpc>
            </a:pPr>
            <a:r>
              <a:rPr lang="en-US" sz="1600" dirty="0">
                <a:latin typeface="Courier New" pitchFamily="49" charset="0"/>
              </a:rPr>
              <a:t>{</a:t>
            </a:r>
          </a:p>
          <a:p>
            <a:pPr algn="l">
              <a:lnSpc>
                <a:spcPct val="100000"/>
              </a:lnSpc>
            </a:pPr>
            <a:r>
              <a:rPr lang="en-US" sz="1600" dirty="0">
                <a:latin typeface="Courier New" pitchFamily="49" charset="0"/>
              </a:rPr>
              <a:t>    a[500] = 13;</a:t>
            </a:r>
          </a:p>
          <a:p>
            <a:pPr algn="l">
              <a:lnSpc>
                <a:spcPct val="100000"/>
              </a:lnSpc>
            </a:pPr>
            <a:r>
              <a:rPr lang="en-US" sz="1600" dirty="0">
                <a:latin typeface="Courier New" pitchFamily="49" charset="0"/>
              </a:rPr>
              <a:t>}</a:t>
            </a:r>
          </a:p>
        </p:txBody>
      </p:sp>
      <p:sp>
        <p:nvSpPr>
          <p:cNvPr id="481299" name="Text Box 19"/>
          <p:cNvSpPr txBox="1">
            <a:spLocks noChangeArrowheads="1"/>
          </p:cNvSpPr>
          <p:nvPr/>
        </p:nvSpPr>
        <p:spPr bwMode="auto">
          <a:xfrm>
            <a:off x="914400" y="2488982"/>
            <a:ext cx="7348538" cy="361950"/>
          </a:xfrm>
          <a:prstGeom prst="rect">
            <a:avLst/>
          </a:prstGeom>
          <a:solidFill>
            <a:schemeClr val="bg1">
              <a:lumMod val="95000"/>
            </a:schemeClr>
          </a:solidFill>
          <a:ln w="12700">
            <a:solidFill>
              <a:schemeClr val="tx1"/>
            </a:solidFill>
            <a:miter lim="800000"/>
            <a:headEnd/>
            <a:tailEnd/>
          </a:ln>
          <a:effectLst/>
        </p:spPr>
        <p:txBody>
          <a:bodyPr wrap="none">
            <a:spAutoFit/>
          </a:bodyPr>
          <a:lstStyle/>
          <a:p>
            <a:pPr algn="l">
              <a:lnSpc>
                <a:spcPct val="100000"/>
              </a:lnSpc>
            </a:pPr>
            <a:r>
              <a:rPr lang="en-US" sz="1600">
                <a:latin typeface="Courier New" pitchFamily="49" charset="0"/>
              </a:rPr>
              <a:t> 80483b7:	c7 05 10 9d 04 08 0d 	movl   $0xd,0x8049d10</a:t>
            </a:r>
          </a:p>
        </p:txBody>
      </p:sp>
      <p:sp>
        <p:nvSpPr>
          <p:cNvPr id="20" name="Rectangle 4"/>
          <p:cNvSpPr>
            <a:spLocks noChangeArrowheads="1"/>
          </p:cNvSpPr>
          <p:nvPr/>
        </p:nvSpPr>
        <p:spPr bwMode="auto">
          <a:xfrm>
            <a:off x="838200" y="3633951"/>
            <a:ext cx="1511126" cy="459092"/>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i="1" dirty="0">
                <a:solidFill>
                  <a:schemeClr val="tx1">
                    <a:lumMod val="50000"/>
                    <a:lumOff val="50000"/>
                  </a:schemeClr>
                </a:solidFill>
                <a:latin typeface="Calibri" pitchFamily="34" charset="0"/>
              </a:rPr>
              <a:t>User </a:t>
            </a:r>
            <a:r>
              <a:rPr lang="en-US" i="1" dirty="0" smtClean="0">
                <a:solidFill>
                  <a:schemeClr val="tx1">
                    <a:lumMod val="50000"/>
                    <a:lumOff val="50000"/>
                  </a:schemeClr>
                </a:solidFill>
                <a:latin typeface="Calibri" pitchFamily="34" charset="0"/>
              </a:rPr>
              <a:t>code</a:t>
            </a:r>
            <a:endParaRPr lang="en-US" i="1" dirty="0">
              <a:solidFill>
                <a:schemeClr val="tx1">
                  <a:lumMod val="50000"/>
                  <a:lumOff val="50000"/>
                </a:schemeClr>
              </a:solidFill>
              <a:latin typeface="Calibri" pitchFamily="34" charset="0"/>
            </a:endParaRPr>
          </a:p>
        </p:txBody>
      </p:sp>
      <p:sp>
        <p:nvSpPr>
          <p:cNvPr id="21" name="Rectangle 5"/>
          <p:cNvSpPr>
            <a:spLocks noChangeArrowheads="1"/>
          </p:cNvSpPr>
          <p:nvPr/>
        </p:nvSpPr>
        <p:spPr bwMode="auto">
          <a:xfrm>
            <a:off x="3581400" y="3633951"/>
            <a:ext cx="1746317" cy="459092"/>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i="1" dirty="0" smtClean="0">
                <a:solidFill>
                  <a:schemeClr val="tx1">
                    <a:lumMod val="50000"/>
                    <a:lumOff val="50000"/>
                  </a:schemeClr>
                </a:solidFill>
                <a:latin typeface="Calibri" pitchFamily="34" charset="0"/>
              </a:rPr>
              <a:t>Kernel code</a:t>
            </a:r>
            <a:endParaRPr lang="en-US" i="1" dirty="0">
              <a:solidFill>
                <a:schemeClr val="tx1">
                  <a:lumMod val="50000"/>
                  <a:lumOff val="50000"/>
                </a:schemeClr>
              </a:solidFill>
              <a:latin typeface="Calibri" pitchFamily="34" charset="0"/>
            </a:endParaRPr>
          </a:p>
        </p:txBody>
      </p:sp>
      <p:sp>
        <p:nvSpPr>
          <p:cNvPr id="22" name="Line 6"/>
          <p:cNvSpPr>
            <a:spLocks noChangeShapeType="1"/>
          </p:cNvSpPr>
          <p:nvPr/>
        </p:nvSpPr>
        <p:spPr bwMode="auto">
          <a:xfrm>
            <a:off x="1652588" y="4156238"/>
            <a:ext cx="0" cy="598488"/>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3" name="Line 7"/>
          <p:cNvSpPr>
            <a:spLocks noChangeShapeType="1"/>
          </p:cNvSpPr>
          <p:nvPr/>
        </p:nvSpPr>
        <p:spPr bwMode="auto">
          <a:xfrm>
            <a:off x="1658938" y="4761076"/>
            <a:ext cx="2806700" cy="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4" name="Line 8"/>
          <p:cNvSpPr>
            <a:spLocks noChangeShapeType="1"/>
          </p:cNvSpPr>
          <p:nvPr/>
        </p:nvSpPr>
        <p:spPr bwMode="auto">
          <a:xfrm>
            <a:off x="4471988" y="4767426"/>
            <a:ext cx="0" cy="59690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5" name="Line 9"/>
          <p:cNvSpPr>
            <a:spLocks noChangeShapeType="1"/>
          </p:cNvSpPr>
          <p:nvPr/>
        </p:nvSpPr>
        <p:spPr bwMode="auto">
          <a:xfrm flipH="1" flipV="1">
            <a:off x="1646237" y="4767426"/>
            <a:ext cx="2832100" cy="60960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6" name="Line 10"/>
          <p:cNvSpPr>
            <a:spLocks noChangeShapeType="1"/>
          </p:cNvSpPr>
          <p:nvPr/>
        </p:nvSpPr>
        <p:spPr bwMode="auto">
          <a:xfrm flipH="1">
            <a:off x="1646238" y="4857913"/>
            <a:ext cx="6350" cy="909638"/>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7" name="Rectangle 11"/>
          <p:cNvSpPr>
            <a:spLocks noChangeArrowheads="1"/>
          </p:cNvSpPr>
          <p:nvPr/>
        </p:nvSpPr>
        <p:spPr bwMode="auto">
          <a:xfrm>
            <a:off x="2124964" y="4395951"/>
            <a:ext cx="2213116" cy="366759"/>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sz="1800" b="0" i="1" dirty="0">
                <a:latin typeface="Calibri" pitchFamily="34" charset="0"/>
              </a:rPr>
              <a:t>E</a:t>
            </a:r>
            <a:r>
              <a:rPr lang="en-US" sz="1800" b="0" i="1" dirty="0" smtClean="0">
                <a:latin typeface="Calibri" pitchFamily="34" charset="0"/>
              </a:rPr>
              <a:t>xception: page fault</a:t>
            </a:r>
            <a:endParaRPr lang="en-US" sz="1800" b="0" i="1" dirty="0">
              <a:latin typeface="Calibri" pitchFamily="34" charset="0"/>
            </a:endParaRPr>
          </a:p>
        </p:txBody>
      </p:sp>
      <p:sp>
        <p:nvSpPr>
          <p:cNvPr id="28" name="Rectangle 12"/>
          <p:cNvSpPr>
            <a:spLocks noChangeArrowheads="1"/>
          </p:cNvSpPr>
          <p:nvPr/>
        </p:nvSpPr>
        <p:spPr bwMode="auto">
          <a:xfrm>
            <a:off x="4502150" y="4740166"/>
            <a:ext cx="1974850" cy="643758"/>
          </a:xfrm>
          <a:prstGeom prst="rect">
            <a:avLst/>
          </a:prstGeom>
          <a:noFill/>
          <a:ln w="12700">
            <a:noFill/>
            <a:miter lim="800000"/>
            <a:headEnd/>
            <a:tailEnd/>
          </a:ln>
          <a:effectLst/>
        </p:spPr>
        <p:txBody>
          <a:bodyPr wrap="square" lIns="90479" tIns="44446" rIns="90479" bIns="44446">
            <a:spAutoFit/>
          </a:bodyPr>
          <a:lstStyle/>
          <a:p>
            <a:pPr algn="l">
              <a:lnSpc>
                <a:spcPct val="100000"/>
              </a:lnSpc>
            </a:pPr>
            <a:r>
              <a:rPr lang="en-US" sz="1800" b="0" i="1" dirty="0" smtClean="0">
                <a:latin typeface="Calibri" pitchFamily="34" charset="0"/>
              </a:rPr>
              <a:t>Copy page from disk to memory</a:t>
            </a:r>
            <a:endParaRPr lang="en-US" sz="1800" b="0" i="1" dirty="0">
              <a:latin typeface="Calibri" pitchFamily="34" charset="0"/>
            </a:endParaRPr>
          </a:p>
        </p:txBody>
      </p:sp>
      <p:sp>
        <p:nvSpPr>
          <p:cNvPr id="29" name="Rectangle 13"/>
          <p:cNvSpPr>
            <a:spLocks noChangeArrowheads="1"/>
          </p:cNvSpPr>
          <p:nvPr/>
        </p:nvSpPr>
        <p:spPr bwMode="auto">
          <a:xfrm>
            <a:off x="2520951" y="5147442"/>
            <a:ext cx="1817130" cy="643758"/>
          </a:xfrm>
          <a:prstGeom prst="rect">
            <a:avLst/>
          </a:prstGeom>
          <a:noFill/>
          <a:ln w="12700">
            <a:noFill/>
            <a:miter lim="800000"/>
            <a:headEnd/>
            <a:tailEnd/>
          </a:ln>
          <a:effectLst/>
        </p:spPr>
        <p:txBody>
          <a:bodyPr wrap="square" lIns="90479" tIns="44446" rIns="90479" bIns="44446">
            <a:spAutoFit/>
          </a:bodyPr>
          <a:lstStyle/>
          <a:p>
            <a:pPr algn="l">
              <a:lnSpc>
                <a:spcPct val="100000"/>
              </a:lnSpc>
            </a:pPr>
            <a:r>
              <a:rPr lang="en-US" sz="1800" b="0" i="1" dirty="0" smtClean="0">
                <a:latin typeface="Calibri" pitchFamily="34" charset="0"/>
              </a:rPr>
              <a:t>Return and </a:t>
            </a:r>
            <a:r>
              <a:rPr lang="en-US" sz="1800" b="0" i="1" dirty="0" err="1" smtClean="0">
                <a:latin typeface="Calibri" pitchFamily="34" charset="0"/>
              </a:rPr>
              <a:t>reexecute</a:t>
            </a:r>
            <a:r>
              <a:rPr lang="en-US" sz="1800" b="0" i="1" dirty="0" smtClean="0">
                <a:latin typeface="Calibri" pitchFamily="34" charset="0"/>
              </a:rPr>
              <a:t> </a:t>
            </a:r>
            <a:r>
              <a:rPr lang="en-US" sz="1800" b="0" i="1" dirty="0" err="1" smtClean="0">
                <a:latin typeface="Calibri" pitchFamily="34" charset="0"/>
              </a:rPr>
              <a:t>movl</a:t>
            </a:r>
            <a:endParaRPr lang="en-US" sz="1800" b="0" dirty="0">
              <a:latin typeface="Calibri" pitchFamily="34" charset="0"/>
            </a:endParaRPr>
          </a:p>
        </p:txBody>
      </p:sp>
      <p:sp>
        <p:nvSpPr>
          <p:cNvPr id="30" name="Text Box 15"/>
          <p:cNvSpPr txBox="1">
            <a:spLocks noChangeArrowheads="1"/>
          </p:cNvSpPr>
          <p:nvPr/>
        </p:nvSpPr>
        <p:spPr bwMode="auto">
          <a:xfrm>
            <a:off x="1098332" y="4595649"/>
            <a:ext cx="544573" cy="307777"/>
          </a:xfrm>
          <a:prstGeom prst="rect">
            <a:avLst/>
          </a:prstGeom>
          <a:noFill/>
          <a:ln w="25400">
            <a:noFill/>
            <a:miter lim="800000"/>
            <a:headEnd/>
            <a:tailEnd/>
          </a:ln>
          <a:effectLst/>
        </p:spPr>
        <p:txBody>
          <a:bodyPr wrap="none">
            <a:spAutoFit/>
          </a:bodyPr>
          <a:lstStyle/>
          <a:p>
            <a:pPr algn="l">
              <a:lnSpc>
                <a:spcPct val="100000"/>
              </a:lnSpc>
            </a:pPr>
            <a:r>
              <a:rPr lang="en-US" sz="1400" b="0" dirty="0" err="1" smtClean="0">
                <a:latin typeface="Calibri" pitchFamily="34" charset="0"/>
              </a:rPr>
              <a:t>movl</a:t>
            </a:r>
            <a:endParaRPr lang="en-US" sz="1400" b="0" dirty="0">
              <a:latin typeface="Calibri" pitchFamily="34" charset="0"/>
            </a:endParaRPr>
          </a:p>
        </p:txBody>
      </p:sp>
    </p:spTree>
    <p:extLst>
      <p:ext uri="{BB962C8B-B14F-4D97-AF65-F5344CB8AC3E}">
        <p14:creationId xmlns:p14="http://schemas.microsoft.com/office/powerpoint/2010/main" val="794180324"/>
      </p:ext>
    </p:extLst>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20" grpId="0"/>
      <p:bldP spid="21" grpId="0"/>
      <p:bldP spid="22" grpId="0" animBg="1"/>
      <p:bldP spid="23" grpId="0" animBg="1"/>
      <p:bldP spid="24" grpId="0" animBg="1"/>
      <p:bldP spid="25" grpId="0" animBg="1"/>
      <p:bldP spid="26" grpId="0" animBg="1"/>
      <p:bldP spid="27" grpId="0"/>
      <p:bldP spid="28" grpId="0"/>
      <p:bldP spid="29" grpId="0"/>
      <p:bldP spid="3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a:xfrm>
            <a:off x="457200" y="533400"/>
            <a:ext cx="8686800" cy="555625"/>
          </a:xfrm>
          <a:noFill/>
          <a:ln/>
        </p:spPr>
        <p:txBody>
          <a:bodyPr/>
          <a:lstStyle/>
          <a:p>
            <a:r>
              <a:rPr lang="en-US" dirty="0"/>
              <a:t>Fault </a:t>
            </a:r>
            <a:r>
              <a:rPr lang="en-US" dirty="0" smtClean="0"/>
              <a:t>Example: Invalid Memory Reference</a:t>
            </a:r>
            <a:endParaRPr lang="en-US" dirty="0"/>
          </a:p>
        </p:txBody>
      </p:sp>
      <p:sp>
        <p:nvSpPr>
          <p:cNvPr id="482318" name="Rectangle 14"/>
          <p:cNvSpPr>
            <a:spLocks noGrp="1" noChangeArrowheads="1"/>
          </p:cNvSpPr>
          <p:nvPr>
            <p:ph type="body" idx="1"/>
          </p:nvPr>
        </p:nvSpPr>
        <p:spPr>
          <a:xfrm>
            <a:off x="517634" y="5525815"/>
            <a:ext cx="6705600" cy="874985"/>
          </a:xfrm>
        </p:spPr>
        <p:txBody>
          <a:bodyPr/>
          <a:lstStyle/>
          <a:p>
            <a:r>
              <a:rPr lang="en-US" sz="2000" b="0" dirty="0" smtClean="0"/>
              <a:t>Sends </a:t>
            </a:r>
            <a:r>
              <a:rPr lang="en-US" sz="2000" dirty="0">
                <a:latin typeface="Courier New" pitchFamily="49" charset="0"/>
              </a:rPr>
              <a:t>SIGSEGV</a:t>
            </a:r>
            <a:r>
              <a:rPr lang="en-US" sz="2000" b="0" dirty="0"/>
              <a:t> signal to user process</a:t>
            </a:r>
          </a:p>
          <a:p>
            <a:r>
              <a:rPr lang="en-US" sz="2000" b="0" dirty="0"/>
              <a:t>User process exits with “segmentation fault”</a:t>
            </a:r>
          </a:p>
        </p:txBody>
      </p:sp>
      <p:sp>
        <p:nvSpPr>
          <p:cNvPr id="482319" name="Text Box 15"/>
          <p:cNvSpPr txBox="1">
            <a:spLocks noChangeArrowheads="1"/>
          </p:cNvSpPr>
          <p:nvPr/>
        </p:nvSpPr>
        <p:spPr bwMode="auto">
          <a:xfrm>
            <a:off x="959068" y="1219200"/>
            <a:ext cx="2287588" cy="1339850"/>
          </a:xfrm>
          <a:prstGeom prst="rect">
            <a:avLst/>
          </a:prstGeom>
          <a:solidFill>
            <a:srgbClr val="F6F5BD"/>
          </a:solidFill>
          <a:ln w="12700">
            <a:solidFill>
              <a:schemeClr val="tx1"/>
            </a:solidFill>
            <a:miter lim="800000"/>
            <a:headEnd/>
            <a:tailEnd/>
          </a:ln>
          <a:effectLst/>
        </p:spPr>
        <p:txBody>
          <a:bodyPr wrap="none">
            <a:spAutoFit/>
          </a:bodyPr>
          <a:lstStyle/>
          <a:p>
            <a:r>
              <a:rPr lang="en-US" sz="1600" dirty="0" err="1">
                <a:latin typeface="Courier New" pitchFamily="49" charset="0"/>
              </a:rPr>
              <a:t>int a[1000];</a:t>
            </a:r>
          </a:p>
          <a:p>
            <a:r>
              <a:rPr lang="en-US" sz="1600" dirty="0" err="1">
                <a:latin typeface="Courier New" pitchFamily="49" charset="0"/>
              </a:rPr>
              <a:t>main ()</a:t>
            </a:r>
          </a:p>
          <a:p>
            <a:r>
              <a:rPr lang="en-US" sz="1600" dirty="0" err="1">
                <a:latin typeface="Courier New" pitchFamily="49" charset="0"/>
              </a:rPr>
              <a:t>{</a:t>
            </a:r>
          </a:p>
          <a:p>
            <a:r>
              <a:rPr lang="en-US" sz="1600" dirty="0" err="1">
                <a:latin typeface="Courier New" pitchFamily="49" charset="0"/>
              </a:rPr>
              <a:t>    a[5000] = 13;</a:t>
            </a:r>
          </a:p>
          <a:p>
            <a:r>
              <a:rPr lang="en-US" sz="1600" dirty="0" err="1">
                <a:latin typeface="Courier New" pitchFamily="49" charset="0"/>
              </a:rPr>
              <a:t>}</a:t>
            </a:r>
          </a:p>
        </p:txBody>
      </p:sp>
      <p:sp>
        <p:nvSpPr>
          <p:cNvPr id="482320" name="Text Box 16"/>
          <p:cNvSpPr txBox="1">
            <a:spLocks noChangeArrowheads="1"/>
          </p:cNvSpPr>
          <p:nvPr/>
        </p:nvSpPr>
        <p:spPr bwMode="auto">
          <a:xfrm>
            <a:off x="959068" y="2667000"/>
            <a:ext cx="7393371" cy="338554"/>
          </a:xfrm>
          <a:prstGeom prst="rect">
            <a:avLst/>
          </a:prstGeom>
          <a:solidFill>
            <a:schemeClr val="bg1">
              <a:lumMod val="95000"/>
            </a:schemeClr>
          </a:solidFill>
          <a:ln w="12700">
            <a:solidFill>
              <a:schemeClr val="tx1"/>
            </a:solidFill>
            <a:miter lim="800000"/>
            <a:headEnd/>
            <a:tailEnd/>
          </a:ln>
          <a:effectLst/>
        </p:spPr>
        <p:txBody>
          <a:bodyPr wrap="none">
            <a:spAutoFit/>
          </a:bodyPr>
          <a:lstStyle/>
          <a:p>
            <a:r>
              <a:rPr lang="en-US" sz="1600">
                <a:latin typeface="Courier New" pitchFamily="49" charset="0"/>
              </a:rPr>
              <a:t> 80483b7:	c7 05 60 e3 04 08 0d 	movl   $0xd,0x804e360</a:t>
            </a:r>
          </a:p>
        </p:txBody>
      </p:sp>
      <p:sp>
        <p:nvSpPr>
          <p:cNvPr id="18" name="Rectangle 17"/>
          <p:cNvSpPr/>
          <p:nvPr/>
        </p:nvSpPr>
        <p:spPr bwMode="auto">
          <a:xfrm>
            <a:off x="959068" y="3276600"/>
            <a:ext cx="7270532" cy="2057400"/>
          </a:xfrm>
          <a:prstGeom prst="rect">
            <a:avLst/>
          </a:prstGeom>
          <a:solidFill>
            <a:srgbClr val="E9E1C9"/>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19" name="Rectangle 4"/>
          <p:cNvSpPr>
            <a:spLocks noChangeArrowheads="1"/>
          </p:cNvSpPr>
          <p:nvPr/>
        </p:nvSpPr>
        <p:spPr bwMode="auto">
          <a:xfrm>
            <a:off x="1060450" y="3276600"/>
            <a:ext cx="1511126" cy="459092"/>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i="1" dirty="0">
                <a:solidFill>
                  <a:schemeClr val="tx1">
                    <a:lumMod val="50000"/>
                    <a:lumOff val="50000"/>
                  </a:schemeClr>
                </a:solidFill>
                <a:latin typeface="Calibri" pitchFamily="34" charset="0"/>
              </a:rPr>
              <a:t>User </a:t>
            </a:r>
            <a:r>
              <a:rPr lang="en-US" i="1" dirty="0" smtClean="0">
                <a:solidFill>
                  <a:schemeClr val="tx1">
                    <a:lumMod val="50000"/>
                    <a:lumOff val="50000"/>
                  </a:schemeClr>
                </a:solidFill>
                <a:latin typeface="Calibri" pitchFamily="34" charset="0"/>
              </a:rPr>
              <a:t>code</a:t>
            </a:r>
            <a:endParaRPr lang="en-US" i="1" dirty="0">
              <a:solidFill>
                <a:schemeClr val="tx1">
                  <a:lumMod val="50000"/>
                  <a:lumOff val="50000"/>
                </a:schemeClr>
              </a:solidFill>
              <a:latin typeface="Calibri" pitchFamily="34" charset="0"/>
            </a:endParaRPr>
          </a:p>
        </p:txBody>
      </p:sp>
      <p:sp>
        <p:nvSpPr>
          <p:cNvPr id="20" name="Rectangle 5"/>
          <p:cNvSpPr>
            <a:spLocks noChangeArrowheads="1"/>
          </p:cNvSpPr>
          <p:nvPr/>
        </p:nvSpPr>
        <p:spPr bwMode="auto">
          <a:xfrm>
            <a:off x="3810000" y="3276600"/>
            <a:ext cx="1746317" cy="459092"/>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i="1" dirty="0" smtClean="0">
                <a:solidFill>
                  <a:schemeClr val="tx1">
                    <a:lumMod val="50000"/>
                    <a:lumOff val="50000"/>
                  </a:schemeClr>
                </a:solidFill>
                <a:latin typeface="Calibri" pitchFamily="34" charset="0"/>
              </a:rPr>
              <a:t>Kernel code</a:t>
            </a:r>
            <a:endParaRPr lang="en-US" i="1" dirty="0">
              <a:solidFill>
                <a:schemeClr val="tx1">
                  <a:lumMod val="50000"/>
                  <a:lumOff val="50000"/>
                </a:schemeClr>
              </a:solidFill>
              <a:latin typeface="Calibri" pitchFamily="34" charset="0"/>
            </a:endParaRPr>
          </a:p>
        </p:txBody>
      </p:sp>
      <p:sp>
        <p:nvSpPr>
          <p:cNvPr id="21" name="Line 6"/>
          <p:cNvSpPr>
            <a:spLocks noChangeShapeType="1"/>
          </p:cNvSpPr>
          <p:nvPr/>
        </p:nvSpPr>
        <p:spPr bwMode="auto">
          <a:xfrm>
            <a:off x="1874838" y="3798887"/>
            <a:ext cx="0" cy="598488"/>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2" name="Line 7"/>
          <p:cNvSpPr>
            <a:spLocks noChangeShapeType="1"/>
          </p:cNvSpPr>
          <p:nvPr/>
        </p:nvSpPr>
        <p:spPr bwMode="auto">
          <a:xfrm>
            <a:off x="1881188" y="4403725"/>
            <a:ext cx="2806700" cy="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3" name="Line 8"/>
          <p:cNvSpPr>
            <a:spLocks noChangeShapeType="1"/>
          </p:cNvSpPr>
          <p:nvPr/>
        </p:nvSpPr>
        <p:spPr bwMode="auto">
          <a:xfrm>
            <a:off x="4694238" y="4410075"/>
            <a:ext cx="0" cy="59690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26" name="Rectangle 11"/>
          <p:cNvSpPr>
            <a:spLocks noChangeArrowheads="1"/>
          </p:cNvSpPr>
          <p:nvPr/>
        </p:nvSpPr>
        <p:spPr bwMode="auto">
          <a:xfrm>
            <a:off x="2277364" y="4038600"/>
            <a:ext cx="2213116" cy="366759"/>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sz="1800" b="0" i="1" dirty="0">
                <a:latin typeface="Calibri" pitchFamily="34" charset="0"/>
              </a:rPr>
              <a:t>E</a:t>
            </a:r>
            <a:r>
              <a:rPr lang="en-US" sz="1800" b="0" i="1" dirty="0" smtClean="0">
                <a:latin typeface="Calibri" pitchFamily="34" charset="0"/>
              </a:rPr>
              <a:t>xception: page fault</a:t>
            </a:r>
            <a:endParaRPr lang="en-US" sz="1800" b="0" i="1" dirty="0">
              <a:latin typeface="Calibri" pitchFamily="34" charset="0"/>
            </a:endParaRPr>
          </a:p>
        </p:txBody>
      </p:sp>
      <p:sp>
        <p:nvSpPr>
          <p:cNvPr id="27" name="Rectangle 12"/>
          <p:cNvSpPr>
            <a:spLocks noChangeArrowheads="1"/>
          </p:cNvSpPr>
          <p:nvPr/>
        </p:nvSpPr>
        <p:spPr bwMode="auto">
          <a:xfrm>
            <a:off x="4724400" y="4495800"/>
            <a:ext cx="2286000" cy="366759"/>
          </a:xfrm>
          <a:prstGeom prst="rect">
            <a:avLst/>
          </a:prstGeom>
          <a:noFill/>
          <a:ln w="12700">
            <a:noFill/>
            <a:miter lim="800000"/>
            <a:headEnd/>
            <a:tailEnd/>
          </a:ln>
          <a:effectLst/>
        </p:spPr>
        <p:txBody>
          <a:bodyPr wrap="square" lIns="90479" tIns="44446" rIns="90479" bIns="44446">
            <a:spAutoFit/>
          </a:bodyPr>
          <a:lstStyle/>
          <a:p>
            <a:pPr algn="l">
              <a:lnSpc>
                <a:spcPct val="100000"/>
              </a:lnSpc>
            </a:pPr>
            <a:r>
              <a:rPr lang="en-US" sz="1800" b="0" i="1" dirty="0">
                <a:latin typeface="Calibri" pitchFamily="34" charset="0"/>
              </a:rPr>
              <a:t>D</a:t>
            </a:r>
            <a:r>
              <a:rPr lang="en-US" sz="1800" b="0" i="1" dirty="0" smtClean="0">
                <a:latin typeface="Calibri" pitchFamily="34" charset="0"/>
              </a:rPr>
              <a:t>etect invalid address</a:t>
            </a:r>
            <a:endParaRPr lang="en-US" sz="1800" b="0" i="1" dirty="0">
              <a:latin typeface="Calibri" pitchFamily="34" charset="0"/>
            </a:endParaRPr>
          </a:p>
        </p:txBody>
      </p:sp>
      <p:sp>
        <p:nvSpPr>
          <p:cNvPr id="29" name="Text Box 15"/>
          <p:cNvSpPr txBox="1">
            <a:spLocks noChangeArrowheads="1"/>
          </p:cNvSpPr>
          <p:nvPr/>
        </p:nvSpPr>
        <p:spPr bwMode="auto">
          <a:xfrm>
            <a:off x="1319049" y="4240574"/>
            <a:ext cx="544573" cy="307777"/>
          </a:xfrm>
          <a:prstGeom prst="rect">
            <a:avLst/>
          </a:prstGeom>
          <a:noFill/>
          <a:ln w="25400">
            <a:noFill/>
            <a:miter lim="800000"/>
            <a:headEnd/>
            <a:tailEnd/>
          </a:ln>
          <a:effectLst/>
        </p:spPr>
        <p:txBody>
          <a:bodyPr wrap="none">
            <a:spAutoFit/>
          </a:bodyPr>
          <a:lstStyle/>
          <a:p>
            <a:pPr algn="l">
              <a:lnSpc>
                <a:spcPct val="100000"/>
              </a:lnSpc>
            </a:pPr>
            <a:r>
              <a:rPr lang="en-US" sz="1400" b="0" dirty="0" err="1" smtClean="0">
                <a:latin typeface="Calibri" pitchFamily="34" charset="0"/>
              </a:rPr>
              <a:t>movl</a:t>
            </a:r>
            <a:endParaRPr lang="en-US" sz="1400" b="0" dirty="0">
              <a:latin typeface="Calibri" pitchFamily="34" charset="0"/>
            </a:endParaRPr>
          </a:p>
        </p:txBody>
      </p:sp>
      <p:sp>
        <p:nvSpPr>
          <p:cNvPr id="31" name="Line 7"/>
          <p:cNvSpPr>
            <a:spLocks noChangeShapeType="1"/>
          </p:cNvSpPr>
          <p:nvPr/>
        </p:nvSpPr>
        <p:spPr bwMode="auto">
          <a:xfrm>
            <a:off x="4708634" y="5005551"/>
            <a:ext cx="1768366" cy="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32" name="Rectangle 12"/>
          <p:cNvSpPr>
            <a:spLocks noChangeArrowheads="1"/>
          </p:cNvSpPr>
          <p:nvPr/>
        </p:nvSpPr>
        <p:spPr bwMode="auto">
          <a:xfrm>
            <a:off x="6477000" y="4814841"/>
            <a:ext cx="1600200" cy="366759"/>
          </a:xfrm>
          <a:prstGeom prst="rect">
            <a:avLst/>
          </a:prstGeom>
          <a:noFill/>
          <a:ln w="12700">
            <a:noFill/>
            <a:miter lim="800000"/>
            <a:headEnd/>
            <a:tailEnd/>
          </a:ln>
          <a:effectLst/>
        </p:spPr>
        <p:txBody>
          <a:bodyPr wrap="square" lIns="90479" tIns="44446" rIns="90479" bIns="44446">
            <a:spAutoFit/>
          </a:bodyPr>
          <a:lstStyle/>
          <a:p>
            <a:pPr algn="l">
              <a:lnSpc>
                <a:spcPct val="100000"/>
              </a:lnSpc>
            </a:pPr>
            <a:r>
              <a:rPr lang="en-US" sz="1800" b="0" i="1" dirty="0">
                <a:latin typeface="Calibri" pitchFamily="34" charset="0"/>
              </a:rPr>
              <a:t>S</a:t>
            </a:r>
            <a:r>
              <a:rPr lang="en-US" sz="1800" b="0" i="1" dirty="0" smtClean="0">
                <a:latin typeface="Calibri" pitchFamily="34" charset="0"/>
              </a:rPr>
              <a:t>ignal process</a:t>
            </a:r>
            <a:endParaRPr lang="en-US" sz="1800" b="0" i="1" dirty="0">
              <a:latin typeface="Calibri" pitchFamily="34" charset="0"/>
            </a:endParaRPr>
          </a:p>
        </p:txBody>
      </p:sp>
    </p:spTree>
    <p:extLst>
      <p:ext uri="{BB962C8B-B14F-4D97-AF65-F5344CB8AC3E}">
        <p14:creationId xmlns:p14="http://schemas.microsoft.com/office/powerpoint/2010/main" val="2736686165"/>
      </p:ext>
    </p:extLst>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82318">
                                            <p:txEl>
                                              <p:pRg st="0" end="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8231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18" grpId="0" build="p"/>
      <p:bldP spid="18" grpId="0" animBg="1"/>
      <p:bldP spid="19" grpId="0"/>
      <p:bldP spid="20" grpId="0"/>
      <p:bldP spid="21" grpId="0" animBg="1"/>
      <p:bldP spid="22" grpId="0" animBg="1"/>
      <p:bldP spid="23" grpId="0" animBg="1"/>
      <p:bldP spid="26" grpId="0"/>
      <p:bldP spid="27" grpId="0"/>
      <p:bldP spid="29" grpId="0"/>
      <p:bldP spid="31" grpId="0" animBg="1"/>
      <p:bldP spid="3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pPr marL="0" indent="0">
              <a:lnSpc>
                <a:spcPct val="80000"/>
              </a:lnSpc>
              <a:buNone/>
            </a:pPr>
            <a:endParaRPr lang="en-US" sz="2800" dirty="0" smtClean="0"/>
          </a:p>
          <a:p>
            <a:r>
              <a:rPr lang="en-US" sz="2800" dirty="0" smtClean="0">
                <a:solidFill>
                  <a:schemeClr val="bg2">
                    <a:lumMod val="60000"/>
                    <a:lumOff val="40000"/>
                  </a:schemeClr>
                </a:solidFill>
              </a:rPr>
              <a:t>Linking</a:t>
            </a:r>
            <a:endParaRPr lang="en-US" dirty="0" smtClean="0">
              <a:solidFill>
                <a:schemeClr val="bg2">
                  <a:lumMod val="60000"/>
                  <a:lumOff val="40000"/>
                </a:schemeClr>
              </a:solidFill>
            </a:endParaRPr>
          </a:p>
          <a:p>
            <a:r>
              <a:rPr lang="en-US" sz="2800" dirty="0"/>
              <a:t>Exceptional Control Flow</a:t>
            </a:r>
            <a:endParaRPr lang="en-US" sz="2800" dirty="0" smtClean="0"/>
          </a:p>
          <a:p>
            <a:pPr lvl="1"/>
            <a:r>
              <a:rPr lang="en-US" dirty="0">
                <a:solidFill>
                  <a:schemeClr val="bg2">
                    <a:lumMod val="60000"/>
                    <a:lumOff val="40000"/>
                  </a:schemeClr>
                </a:solidFill>
              </a:rPr>
              <a:t>Exceptional Control Flow</a:t>
            </a:r>
          </a:p>
          <a:p>
            <a:pPr lvl="1"/>
            <a:r>
              <a:rPr lang="en-US" dirty="0">
                <a:solidFill>
                  <a:srgbClr val="B3B3B3"/>
                </a:solidFill>
              </a:rPr>
              <a:t>Exceptions</a:t>
            </a:r>
          </a:p>
          <a:p>
            <a:pPr lvl="1"/>
            <a:r>
              <a:rPr lang="en-US" dirty="0"/>
              <a:t>Processes</a:t>
            </a:r>
          </a:p>
          <a:p>
            <a:pPr lvl="1"/>
            <a:r>
              <a:rPr lang="en-US" dirty="0">
                <a:solidFill>
                  <a:srgbClr val="B3B3B3"/>
                </a:solidFill>
              </a:rPr>
              <a:t>Process </a:t>
            </a:r>
            <a:r>
              <a:rPr lang="en-US" dirty="0" smtClean="0">
                <a:solidFill>
                  <a:srgbClr val="B3B3B3"/>
                </a:solidFill>
              </a:rPr>
              <a:t>Control</a:t>
            </a:r>
          </a:p>
          <a:p>
            <a:r>
              <a:rPr lang="en-US" sz="2800" dirty="0">
                <a:solidFill>
                  <a:srgbClr val="B3B3B3"/>
                </a:solidFill>
              </a:rPr>
              <a:t>Cache Lab</a:t>
            </a:r>
          </a:p>
          <a:p>
            <a:pPr marL="0" indent="0">
              <a:buNone/>
            </a:pPr>
            <a:endParaRPr lang="en-US" sz="2800" dirty="0">
              <a:solidFill>
                <a:schemeClr val="bg2">
                  <a:lumMod val="60000"/>
                  <a:lumOff val="40000"/>
                </a:schemeClr>
              </a:solidFill>
            </a:endParaRPr>
          </a:p>
          <a:p>
            <a:endParaRPr lang="en-US" dirty="0" smtClean="0">
              <a:solidFill>
                <a:srgbClr val="B3B3B3"/>
              </a:solidFill>
            </a:endParaRPr>
          </a:p>
          <a:p>
            <a:pPr marL="0" indent="0">
              <a:lnSpc>
                <a:spcPct val="80000"/>
              </a:lnSpc>
              <a:buNone/>
            </a:pPr>
            <a:endParaRPr lang="en-US" sz="2800" dirty="0" smtClean="0">
              <a:solidFill>
                <a:schemeClr val="bg2">
                  <a:lumMod val="60000"/>
                  <a:lumOff val="40000"/>
                </a:schemeClr>
              </a:solidFill>
            </a:endParaRPr>
          </a:p>
          <a:p>
            <a:endParaRPr lang="en-US" dirty="0">
              <a:solidFill>
                <a:schemeClr val="bg2">
                  <a:lumMod val="60000"/>
                  <a:lumOff val="40000"/>
                </a:schemeClr>
              </a:solidFill>
            </a:endParaRPr>
          </a:p>
          <a:p>
            <a:endParaRPr lang="en-US" dirty="0">
              <a:solidFill>
                <a:schemeClr val="bg1">
                  <a:lumMod val="75000"/>
                </a:schemeClr>
              </a:solidFill>
            </a:endParaRPr>
          </a:p>
        </p:txBody>
      </p:sp>
      <p:sp>
        <p:nvSpPr>
          <p:cNvPr id="4" name="TextBox 3"/>
          <p:cNvSpPr txBox="1"/>
          <p:nvPr/>
        </p:nvSpPr>
        <p:spPr>
          <a:xfrm>
            <a:off x="2851727" y="5657273"/>
            <a:ext cx="184666" cy="369332"/>
          </a:xfrm>
          <a:prstGeom prst="rect">
            <a:avLst/>
          </a:prstGeom>
          <a:noFill/>
        </p:spPr>
        <p:txBody>
          <a:bodyPr wrap="none" rtlCol="0">
            <a:spAutoFit/>
          </a:bodyPr>
          <a:lstStyle/>
          <a:p>
            <a:endParaRPr lang="en-US" sz="1800" dirty="0">
              <a:latin typeface="Calibri" pitchFamily="34" charset="0"/>
            </a:endParaRPr>
          </a:p>
        </p:txBody>
      </p:sp>
    </p:spTree>
    <p:extLst>
      <p:ext uri="{BB962C8B-B14F-4D97-AF65-F5344CB8AC3E}">
        <p14:creationId xmlns:p14="http://schemas.microsoft.com/office/powerpoint/2010/main" val="1707675253"/>
      </p:ext>
    </p:extLst>
  </p:cSld>
  <p:clrMapOvr>
    <a:masterClrMapping/>
  </p:clrMapOvr>
  <p:timing>
    <p:tnLst>
      <p:par>
        <p:cTn xmlns:p14="http://schemas.microsoft.com/office/powerpoint/2010/mai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p:cNvSpPr>
            <a:spLocks noGrp="1" noChangeArrowheads="1"/>
          </p:cNvSpPr>
          <p:nvPr>
            <p:ph type="title"/>
          </p:nvPr>
        </p:nvSpPr>
        <p:spPr>
          <a:xfrm>
            <a:off x="341149" y="457200"/>
            <a:ext cx="5245100" cy="573088"/>
          </a:xfrm>
        </p:spPr>
        <p:txBody>
          <a:bodyPr/>
          <a:lstStyle/>
          <a:p>
            <a:r>
              <a:rPr lang="en-US"/>
              <a:t>Processes</a:t>
            </a:r>
          </a:p>
        </p:txBody>
      </p:sp>
      <p:sp>
        <p:nvSpPr>
          <p:cNvPr id="483331" name="Rectangle 3"/>
          <p:cNvSpPr>
            <a:spLocks noGrp="1" noChangeArrowheads="1"/>
          </p:cNvSpPr>
          <p:nvPr>
            <p:ph type="body" idx="1"/>
          </p:nvPr>
        </p:nvSpPr>
        <p:spPr>
          <a:xfrm>
            <a:off x="366713" y="1143000"/>
            <a:ext cx="7100887" cy="5530850"/>
          </a:xfrm>
        </p:spPr>
        <p:txBody>
          <a:bodyPr/>
          <a:lstStyle/>
          <a:p>
            <a:r>
              <a:rPr lang="en-US" dirty="0"/>
              <a:t>Definition: A </a:t>
            </a:r>
            <a:r>
              <a:rPr lang="en-US" i="1" dirty="0">
                <a:solidFill>
                  <a:srgbClr val="C00000"/>
                </a:solidFill>
              </a:rPr>
              <a:t>process</a:t>
            </a:r>
            <a:r>
              <a:rPr lang="en-US" dirty="0"/>
              <a:t> is an instance of a running program.</a:t>
            </a:r>
          </a:p>
          <a:p>
            <a:pPr lvl="1"/>
            <a:r>
              <a:rPr lang="en-US" dirty="0"/>
              <a:t>One of the most profound ideas in computer </a:t>
            </a:r>
            <a:r>
              <a:rPr lang="en-US" dirty="0" smtClean="0"/>
              <a:t>science</a:t>
            </a:r>
            <a:endParaRPr lang="en-US" dirty="0"/>
          </a:p>
          <a:p>
            <a:pPr lvl="1"/>
            <a:r>
              <a:rPr lang="en-US" dirty="0"/>
              <a:t>Not the same as “program” or “processor</a:t>
            </a:r>
            <a:r>
              <a:rPr lang="en-US" dirty="0" smtClean="0"/>
              <a:t>”</a:t>
            </a:r>
          </a:p>
          <a:p>
            <a:pPr marL="0" indent="0">
              <a:buNone/>
            </a:pPr>
            <a:endParaRPr lang="en-US" dirty="0" smtClean="0"/>
          </a:p>
          <a:p>
            <a:r>
              <a:rPr lang="en-US" dirty="0" smtClean="0"/>
              <a:t>Process </a:t>
            </a:r>
            <a:r>
              <a:rPr lang="en-US" dirty="0"/>
              <a:t>provides each program with two key abstractions:</a:t>
            </a:r>
          </a:p>
          <a:p>
            <a:pPr lvl="1"/>
            <a:r>
              <a:rPr lang="en-US" b="1" i="1" dirty="0">
                <a:solidFill>
                  <a:srgbClr val="FF0000"/>
                </a:solidFill>
              </a:rPr>
              <a:t>Logical control flow</a:t>
            </a:r>
          </a:p>
          <a:p>
            <a:pPr lvl="2"/>
            <a:r>
              <a:rPr lang="en-US" dirty="0"/>
              <a:t>Each program seems to have exclusive use of the </a:t>
            </a:r>
            <a:r>
              <a:rPr lang="en-US" dirty="0" smtClean="0"/>
              <a:t>CPU</a:t>
            </a:r>
          </a:p>
          <a:p>
            <a:pPr lvl="2"/>
            <a:r>
              <a:rPr lang="en-US" dirty="0" smtClean="0"/>
              <a:t>Provided by kernel mechanism called </a:t>
            </a:r>
            <a:r>
              <a:rPr lang="en-US" i="1" dirty="0" smtClean="0"/>
              <a:t>context switching</a:t>
            </a:r>
            <a:endParaRPr lang="en-US" i="1" dirty="0"/>
          </a:p>
          <a:p>
            <a:pPr lvl="1"/>
            <a:r>
              <a:rPr lang="en-US" b="1" i="1" dirty="0" smtClean="0">
                <a:solidFill>
                  <a:srgbClr val="FF0000"/>
                </a:solidFill>
              </a:rPr>
              <a:t>Private address space</a:t>
            </a:r>
          </a:p>
          <a:p>
            <a:pPr lvl="2"/>
            <a:r>
              <a:rPr lang="en-US" dirty="0" smtClean="0"/>
              <a:t>Each program seems to have exclusive use of main memory. </a:t>
            </a:r>
          </a:p>
          <a:p>
            <a:pPr lvl="2"/>
            <a:r>
              <a:rPr lang="en-US" dirty="0" smtClean="0"/>
              <a:t>Provided by kernel mechanism called </a:t>
            </a:r>
            <a:r>
              <a:rPr lang="en-US" i="1" dirty="0" smtClean="0"/>
              <a:t>virtual memory</a:t>
            </a:r>
          </a:p>
        </p:txBody>
      </p:sp>
      <p:grpSp>
        <p:nvGrpSpPr>
          <p:cNvPr id="12" name="Group 11"/>
          <p:cNvGrpSpPr/>
          <p:nvPr/>
        </p:nvGrpSpPr>
        <p:grpSpPr>
          <a:xfrm>
            <a:off x="7616520" y="5257800"/>
            <a:ext cx="1371600" cy="990600"/>
            <a:chOff x="7208670" y="5257800"/>
            <a:chExt cx="1371600" cy="990600"/>
          </a:xfrm>
        </p:grpSpPr>
        <p:sp>
          <p:nvSpPr>
            <p:cNvPr id="5" name="Rectangle 4"/>
            <p:cNvSpPr/>
            <p:nvPr/>
          </p:nvSpPr>
          <p:spPr bwMode="auto">
            <a:xfrm>
              <a:off x="7208670" y="5257800"/>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t>CPU</a:t>
              </a:r>
              <a:endParaRPr lang="en-US" dirty="0"/>
            </a:p>
          </p:txBody>
        </p:sp>
        <p:sp>
          <p:nvSpPr>
            <p:cNvPr id="3" name="Rectangle 2"/>
            <p:cNvSpPr/>
            <p:nvPr/>
          </p:nvSpPr>
          <p:spPr bwMode="auto">
            <a:xfrm>
              <a:off x="7361070" y="5715000"/>
              <a:ext cx="1066800" cy="304800"/>
            </a:xfrm>
            <a:prstGeom prst="rect">
              <a:avLst/>
            </a:prstGeom>
            <a:solidFill>
              <a:srgbClr val="FFFFFF"/>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Registers</a:t>
              </a:r>
              <a:endParaRPr lang="en-US" sz="1800" dirty="0"/>
            </a:p>
          </p:txBody>
        </p:sp>
      </p:grpSp>
      <p:grpSp>
        <p:nvGrpSpPr>
          <p:cNvPr id="8" name="Group 7"/>
          <p:cNvGrpSpPr/>
          <p:nvPr/>
        </p:nvGrpSpPr>
        <p:grpSpPr>
          <a:xfrm>
            <a:off x="7620000" y="3291499"/>
            <a:ext cx="1371600" cy="1905000"/>
            <a:chOff x="7212150" y="3291499"/>
            <a:chExt cx="1371600" cy="1905000"/>
          </a:xfrm>
        </p:grpSpPr>
        <p:sp>
          <p:nvSpPr>
            <p:cNvPr id="2" name="Rectangle 1"/>
            <p:cNvSpPr/>
            <p:nvPr/>
          </p:nvSpPr>
          <p:spPr bwMode="auto">
            <a:xfrm>
              <a:off x="7212150" y="3291499"/>
              <a:ext cx="1371600" cy="19050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t>Memory</a:t>
              </a:r>
              <a:endParaRPr lang="en-US" dirty="0"/>
            </a:p>
          </p:txBody>
        </p:sp>
        <p:sp>
          <p:nvSpPr>
            <p:cNvPr id="7" name="Rectangle 6"/>
            <p:cNvSpPr/>
            <p:nvPr/>
          </p:nvSpPr>
          <p:spPr bwMode="auto">
            <a:xfrm>
              <a:off x="7348740" y="3861884"/>
              <a:ext cx="1066800" cy="304801"/>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Stac</a:t>
              </a:r>
              <a:r>
                <a:rPr lang="en-US" sz="1800" dirty="0"/>
                <a:t>k</a:t>
              </a:r>
            </a:p>
          </p:txBody>
        </p:sp>
        <p:sp>
          <p:nvSpPr>
            <p:cNvPr id="9" name="Rectangle 8"/>
            <p:cNvSpPr/>
            <p:nvPr/>
          </p:nvSpPr>
          <p:spPr bwMode="auto">
            <a:xfrm>
              <a:off x="7348740" y="4166685"/>
              <a:ext cx="1066800" cy="304801"/>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Heap</a:t>
              </a:r>
              <a:endParaRPr lang="en-US" sz="1800" dirty="0"/>
            </a:p>
          </p:txBody>
        </p:sp>
        <p:sp>
          <p:nvSpPr>
            <p:cNvPr id="10" name="Rectangle 9"/>
            <p:cNvSpPr/>
            <p:nvPr/>
          </p:nvSpPr>
          <p:spPr bwMode="auto">
            <a:xfrm>
              <a:off x="7348740" y="4739470"/>
              <a:ext cx="1066800" cy="304801"/>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Code</a:t>
              </a:r>
              <a:endParaRPr lang="en-US" sz="1800" dirty="0"/>
            </a:p>
          </p:txBody>
        </p:sp>
        <p:sp>
          <p:nvSpPr>
            <p:cNvPr id="11" name="Rectangle 10"/>
            <p:cNvSpPr/>
            <p:nvPr/>
          </p:nvSpPr>
          <p:spPr bwMode="auto">
            <a:xfrm>
              <a:off x="7348740" y="4455389"/>
              <a:ext cx="1066800" cy="304801"/>
            </a:xfrm>
            <a:prstGeom prst="rect">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Data</a:t>
              </a:r>
              <a:endParaRPr lang="en-US" sz="1800" dirty="0"/>
            </a:p>
          </p:txBody>
        </p:sp>
      </p:grpSp>
    </p:spTree>
    <p:extLst>
      <p:ext uri="{BB962C8B-B14F-4D97-AF65-F5344CB8AC3E}">
        <p14:creationId xmlns:p14="http://schemas.microsoft.com/office/powerpoint/2010/main" val="97642967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333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333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83331">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83331">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3331">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83331">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83331">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Multiprocessing: The Illusion</a:t>
            </a:r>
            <a:endParaRPr lang="en-US" dirty="0"/>
          </a:p>
        </p:txBody>
      </p:sp>
      <p:sp>
        <p:nvSpPr>
          <p:cNvPr id="4" name="Text Placeholder 3"/>
          <p:cNvSpPr>
            <a:spLocks noGrp="1"/>
          </p:cNvSpPr>
          <p:nvPr>
            <p:ph idx="1"/>
          </p:nvPr>
        </p:nvSpPr>
        <p:spPr>
          <a:xfrm>
            <a:off x="396875" y="4501452"/>
            <a:ext cx="7896225" cy="1975548"/>
          </a:xfrm>
        </p:spPr>
        <p:txBody>
          <a:bodyPr/>
          <a:lstStyle/>
          <a:p>
            <a:r>
              <a:rPr lang="en-US" dirty="0" smtClean="0"/>
              <a:t>Computer runs many processes simultaneously</a:t>
            </a:r>
          </a:p>
          <a:p>
            <a:pPr lvl="1"/>
            <a:r>
              <a:rPr lang="en-US" dirty="0" smtClean="0"/>
              <a:t>Applications for one or more users</a:t>
            </a:r>
          </a:p>
          <a:p>
            <a:pPr lvl="2"/>
            <a:r>
              <a:rPr lang="en-US" dirty="0" smtClean="0"/>
              <a:t>Web browsers, email clients, editors, …</a:t>
            </a:r>
          </a:p>
          <a:p>
            <a:pPr lvl="1"/>
            <a:r>
              <a:rPr lang="en-US" dirty="0" smtClean="0"/>
              <a:t>Background tasks</a:t>
            </a:r>
          </a:p>
          <a:p>
            <a:pPr lvl="2"/>
            <a:r>
              <a:rPr lang="en-US" dirty="0" smtClean="0"/>
              <a:t>Monitoring network &amp; I/O devices</a:t>
            </a:r>
          </a:p>
          <a:p>
            <a:pPr lvl="2"/>
            <a:endParaRPr lang="en-US" dirty="0"/>
          </a:p>
        </p:txBody>
      </p:sp>
      <p:sp>
        <p:nvSpPr>
          <p:cNvPr id="23" name="Rectangle 22"/>
          <p:cNvSpPr/>
          <p:nvPr/>
        </p:nvSpPr>
        <p:spPr bwMode="auto">
          <a:xfrm>
            <a:off x="747916" y="3352628"/>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t>CPU</a:t>
            </a:r>
            <a:endParaRPr lang="en-US" dirty="0"/>
          </a:p>
        </p:txBody>
      </p:sp>
      <p:sp>
        <p:nvSpPr>
          <p:cNvPr id="24" name="Rectangle 23"/>
          <p:cNvSpPr/>
          <p:nvPr/>
        </p:nvSpPr>
        <p:spPr bwMode="auto">
          <a:xfrm>
            <a:off x="900316" y="3809828"/>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Registers</a:t>
            </a:r>
            <a:endParaRPr lang="en-US" sz="1800" dirty="0"/>
          </a:p>
        </p:txBody>
      </p:sp>
      <p:sp>
        <p:nvSpPr>
          <p:cNvPr id="25" name="Rectangle 24"/>
          <p:cNvSpPr/>
          <p:nvPr/>
        </p:nvSpPr>
        <p:spPr bwMode="auto">
          <a:xfrm>
            <a:off x="751396" y="1379305"/>
            <a:ext cx="1371600" cy="19050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t>Memory</a:t>
            </a:r>
            <a:endParaRPr lang="en-US" dirty="0"/>
          </a:p>
        </p:txBody>
      </p:sp>
      <p:sp>
        <p:nvSpPr>
          <p:cNvPr id="26" name="Rectangle 25"/>
          <p:cNvSpPr/>
          <p:nvPr/>
        </p:nvSpPr>
        <p:spPr bwMode="auto">
          <a:xfrm>
            <a:off x="887986" y="1949690"/>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Stac</a:t>
            </a:r>
            <a:r>
              <a:rPr lang="en-US" sz="1800" dirty="0"/>
              <a:t>k</a:t>
            </a:r>
          </a:p>
        </p:txBody>
      </p:sp>
      <p:sp>
        <p:nvSpPr>
          <p:cNvPr id="27" name="Rectangle 26"/>
          <p:cNvSpPr/>
          <p:nvPr/>
        </p:nvSpPr>
        <p:spPr bwMode="auto">
          <a:xfrm>
            <a:off x="887986" y="2254491"/>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Heap</a:t>
            </a:r>
            <a:endParaRPr lang="en-US" sz="1800" dirty="0"/>
          </a:p>
        </p:txBody>
      </p:sp>
      <p:sp>
        <p:nvSpPr>
          <p:cNvPr id="28" name="Rectangle 27"/>
          <p:cNvSpPr/>
          <p:nvPr/>
        </p:nvSpPr>
        <p:spPr bwMode="auto">
          <a:xfrm>
            <a:off x="887986" y="2827276"/>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Code</a:t>
            </a:r>
            <a:endParaRPr lang="en-US" sz="1800" dirty="0"/>
          </a:p>
        </p:txBody>
      </p:sp>
      <p:sp>
        <p:nvSpPr>
          <p:cNvPr id="36" name="Rectangle 35"/>
          <p:cNvSpPr/>
          <p:nvPr/>
        </p:nvSpPr>
        <p:spPr bwMode="auto">
          <a:xfrm>
            <a:off x="887986" y="2543195"/>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Data</a:t>
            </a:r>
            <a:endParaRPr lang="en-US" sz="1800" dirty="0"/>
          </a:p>
        </p:txBody>
      </p:sp>
      <p:sp>
        <p:nvSpPr>
          <p:cNvPr id="37" name="Rectangle 36"/>
          <p:cNvSpPr/>
          <p:nvPr/>
        </p:nvSpPr>
        <p:spPr bwMode="auto">
          <a:xfrm>
            <a:off x="2527834" y="3352800"/>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t>CPU</a:t>
            </a:r>
            <a:endParaRPr lang="en-US" dirty="0"/>
          </a:p>
        </p:txBody>
      </p:sp>
      <p:sp>
        <p:nvSpPr>
          <p:cNvPr id="38" name="Rectangle 37"/>
          <p:cNvSpPr/>
          <p:nvPr/>
        </p:nvSpPr>
        <p:spPr bwMode="auto">
          <a:xfrm>
            <a:off x="2680234" y="3810000"/>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Registers</a:t>
            </a:r>
            <a:endParaRPr lang="en-US" sz="1800" dirty="0"/>
          </a:p>
        </p:txBody>
      </p:sp>
      <p:sp>
        <p:nvSpPr>
          <p:cNvPr id="39" name="Rectangle 38"/>
          <p:cNvSpPr/>
          <p:nvPr/>
        </p:nvSpPr>
        <p:spPr bwMode="auto">
          <a:xfrm>
            <a:off x="2531314" y="1379477"/>
            <a:ext cx="1371600" cy="19050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t>Memory</a:t>
            </a:r>
            <a:endParaRPr lang="en-US" dirty="0"/>
          </a:p>
        </p:txBody>
      </p:sp>
      <p:sp>
        <p:nvSpPr>
          <p:cNvPr id="40" name="Rectangle 39"/>
          <p:cNvSpPr/>
          <p:nvPr/>
        </p:nvSpPr>
        <p:spPr bwMode="auto">
          <a:xfrm>
            <a:off x="2667904" y="1949862"/>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Stac</a:t>
            </a:r>
            <a:r>
              <a:rPr lang="en-US" sz="1800" dirty="0"/>
              <a:t>k</a:t>
            </a:r>
          </a:p>
        </p:txBody>
      </p:sp>
      <p:sp>
        <p:nvSpPr>
          <p:cNvPr id="41" name="Rectangle 40"/>
          <p:cNvSpPr/>
          <p:nvPr/>
        </p:nvSpPr>
        <p:spPr bwMode="auto">
          <a:xfrm>
            <a:off x="2667904" y="225466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Heap</a:t>
            </a:r>
            <a:endParaRPr lang="en-US" sz="1800" dirty="0"/>
          </a:p>
        </p:txBody>
      </p:sp>
      <p:sp>
        <p:nvSpPr>
          <p:cNvPr id="42" name="Rectangle 41"/>
          <p:cNvSpPr/>
          <p:nvPr/>
        </p:nvSpPr>
        <p:spPr bwMode="auto">
          <a:xfrm>
            <a:off x="2667904" y="282744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Code</a:t>
            </a:r>
            <a:endParaRPr lang="en-US" sz="1800" dirty="0"/>
          </a:p>
        </p:txBody>
      </p:sp>
      <p:sp>
        <p:nvSpPr>
          <p:cNvPr id="43" name="Rectangle 42"/>
          <p:cNvSpPr/>
          <p:nvPr/>
        </p:nvSpPr>
        <p:spPr bwMode="auto">
          <a:xfrm>
            <a:off x="2667904" y="2543367"/>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Data</a:t>
            </a:r>
            <a:endParaRPr lang="en-US" sz="1800" dirty="0"/>
          </a:p>
        </p:txBody>
      </p:sp>
      <p:sp>
        <p:nvSpPr>
          <p:cNvPr id="3" name="TextBox 2"/>
          <p:cNvSpPr txBox="1"/>
          <p:nvPr/>
        </p:nvSpPr>
        <p:spPr>
          <a:xfrm>
            <a:off x="4267200" y="2254663"/>
            <a:ext cx="513106" cy="646331"/>
          </a:xfrm>
          <a:prstGeom prst="rect">
            <a:avLst/>
          </a:prstGeom>
          <a:noFill/>
        </p:spPr>
        <p:txBody>
          <a:bodyPr wrap="none" rtlCol="0">
            <a:spAutoFit/>
          </a:bodyPr>
          <a:lstStyle/>
          <a:p>
            <a:r>
              <a:rPr lang="en-US" sz="3600" dirty="0" smtClean="0">
                <a:latin typeface="Calibri" pitchFamily="34" charset="0"/>
              </a:rPr>
              <a:t>…</a:t>
            </a:r>
          </a:p>
        </p:txBody>
      </p:sp>
      <p:sp>
        <p:nvSpPr>
          <p:cNvPr id="44" name="Rectangle 43"/>
          <p:cNvSpPr/>
          <p:nvPr/>
        </p:nvSpPr>
        <p:spPr bwMode="auto">
          <a:xfrm>
            <a:off x="5104737" y="3352800"/>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t>CPU</a:t>
            </a:r>
            <a:endParaRPr lang="en-US" dirty="0"/>
          </a:p>
        </p:txBody>
      </p:sp>
      <p:sp>
        <p:nvSpPr>
          <p:cNvPr id="45" name="Rectangle 44"/>
          <p:cNvSpPr/>
          <p:nvPr/>
        </p:nvSpPr>
        <p:spPr bwMode="auto">
          <a:xfrm>
            <a:off x="5257137" y="3810000"/>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Registers</a:t>
            </a:r>
            <a:endParaRPr lang="en-US" sz="1800" dirty="0"/>
          </a:p>
        </p:txBody>
      </p:sp>
      <p:sp>
        <p:nvSpPr>
          <p:cNvPr id="46" name="Rectangle 45"/>
          <p:cNvSpPr/>
          <p:nvPr/>
        </p:nvSpPr>
        <p:spPr bwMode="auto">
          <a:xfrm>
            <a:off x="5108217" y="1379477"/>
            <a:ext cx="1371600" cy="19050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t>Memory</a:t>
            </a:r>
            <a:endParaRPr lang="en-US" dirty="0"/>
          </a:p>
        </p:txBody>
      </p:sp>
      <p:sp>
        <p:nvSpPr>
          <p:cNvPr id="47" name="Rectangle 46"/>
          <p:cNvSpPr/>
          <p:nvPr/>
        </p:nvSpPr>
        <p:spPr bwMode="auto">
          <a:xfrm>
            <a:off x="5244807" y="1949862"/>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Stac</a:t>
            </a:r>
            <a:r>
              <a:rPr lang="en-US" sz="1800" dirty="0"/>
              <a:t>k</a:t>
            </a:r>
          </a:p>
        </p:txBody>
      </p:sp>
      <p:sp>
        <p:nvSpPr>
          <p:cNvPr id="48" name="Rectangle 47"/>
          <p:cNvSpPr/>
          <p:nvPr/>
        </p:nvSpPr>
        <p:spPr bwMode="auto">
          <a:xfrm>
            <a:off x="5244807" y="225466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Heap</a:t>
            </a:r>
            <a:endParaRPr lang="en-US" sz="1800" dirty="0"/>
          </a:p>
        </p:txBody>
      </p:sp>
      <p:sp>
        <p:nvSpPr>
          <p:cNvPr id="49" name="Rectangle 48"/>
          <p:cNvSpPr/>
          <p:nvPr/>
        </p:nvSpPr>
        <p:spPr bwMode="auto">
          <a:xfrm>
            <a:off x="5244807" y="282744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Code</a:t>
            </a:r>
            <a:endParaRPr lang="en-US" sz="1800" dirty="0"/>
          </a:p>
        </p:txBody>
      </p:sp>
      <p:sp>
        <p:nvSpPr>
          <p:cNvPr id="50" name="Rectangle 49"/>
          <p:cNvSpPr/>
          <p:nvPr/>
        </p:nvSpPr>
        <p:spPr bwMode="auto">
          <a:xfrm>
            <a:off x="5244807" y="2543367"/>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Data</a:t>
            </a:r>
            <a:endParaRPr lang="en-US" sz="1800" dirty="0"/>
          </a:p>
        </p:txBody>
      </p:sp>
    </p:spTree>
    <p:extLst>
      <p:ext uri="{BB962C8B-B14F-4D97-AF65-F5344CB8AC3E}">
        <p14:creationId xmlns:p14="http://schemas.microsoft.com/office/powerpoint/2010/main" val="1034453155"/>
      </p:ext>
    </p:extLst>
  </p:cSld>
  <p:clrMapOvr>
    <a:masterClrMapping/>
  </p:clrMapOvr>
  <p:timing>
    <p:tnLst>
      <p:par>
        <p:cTn xmlns:p14="http://schemas.microsoft.com/office/powerpoint/2010/mai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Multiprocessing Example</a:t>
            </a:r>
            <a:endParaRPr lang="en-US" dirty="0"/>
          </a:p>
        </p:txBody>
      </p:sp>
      <p:pic>
        <p:nvPicPr>
          <p:cNvPr id="4" name="Picture 3"/>
          <p:cNvPicPr>
            <a:picLocks noChangeAspect="1"/>
          </p:cNvPicPr>
          <p:nvPr/>
        </p:nvPicPr>
        <p:blipFill>
          <a:blip r:embed="rId2"/>
          <a:stretch>
            <a:fillRect/>
          </a:stretch>
        </p:blipFill>
        <p:spPr>
          <a:xfrm>
            <a:off x="927100" y="1168400"/>
            <a:ext cx="7277100" cy="4851400"/>
          </a:xfrm>
          <a:prstGeom prst="rect">
            <a:avLst/>
          </a:prstGeom>
        </p:spPr>
      </p:pic>
      <p:sp>
        <p:nvSpPr>
          <p:cNvPr id="3" name="Content Placeholder 2"/>
          <p:cNvSpPr>
            <a:spLocks noGrp="1"/>
          </p:cNvSpPr>
          <p:nvPr>
            <p:ph idx="1"/>
          </p:nvPr>
        </p:nvSpPr>
        <p:spPr>
          <a:xfrm>
            <a:off x="396875" y="5410200"/>
            <a:ext cx="7896225" cy="923924"/>
          </a:xfrm>
          <a:solidFill>
            <a:schemeClr val="bg1">
              <a:alpha val="76000"/>
            </a:schemeClr>
          </a:solidFill>
        </p:spPr>
        <p:txBody>
          <a:bodyPr/>
          <a:lstStyle/>
          <a:p>
            <a:r>
              <a:rPr lang="en-US" dirty="0" smtClean="0"/>
              <a:t>Running program “top” on Mac</a:t>
            </a:r>
          </a:p>
          <a:p>
            <a:pPr lvl="1"/>
            <a:r>
              <a:rPr lang="en-US" dirty="0" smtClean="0"/>
              <a:t>System has 123 processes, 5 of which are active</a:t>
            </a:r>
          </a:p>
          <a:p>
            <a:pPr lvl="1"/>
            <a:r>
              <a:rPr lang="en-US" dirty="0" smtClean="0"/>
              <a:t>Identified by Process ID (PID)</a:t>
            </a:r>
            <a:endParaRPr lang="en-US" dirty="0"/>
          </a:p>
        </p:txBody>
      </p:sp>
    </p:spTree>
    <p:extLst>
      <p:ext uri="{BB962C8B-B14F-4D97-AF65-F5344CB8AC3E}">
        <p14:creationId xmlns:p14="http://schemas.microsoft.com/office/powerpoint/2010/main" val="1580956757"/>
      </p:ext>
    </p:extLst>
  </p:cSld>
  <p:clrMapOvr>
    <a:masterClrMapping/>
  </p:clrMapOvr>
  <p:timing>
    <p:tnLst>
      <p:par>
        <p:cTn xmlns:p14="http://schemas.microsoft.com/office/powerpoint/2010/mai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482182" cy="762000"/>
          </a:xfrm>
        </p:spPr>
        <p:txBody>
          <a:bodyPr/>
          <a:lstStyle/>
          <a:p>
            <a:r>
              <a:rPr lang="en-US" dirty="0" smtClean="0"/>
              <a:t>Multiprocessing: The (Traditional) Reality</a:t>
            </a:r>
            <a:endParaRPr lang="en-US" dirty="0"/>
          </a:p>
        </p:txBody>
      </p:sp>
      <p:sp>
        <p:nvSpPr>
          <p:cNvPr id="4" name="Text Placeholder 3"/>
          <p:cNvSpPr>
            <a:spLocks noGrp="1"/>
          </p:cNvSpPr>
          <p:nvPr>
            <p:ph idx="1"/>
          </p:nvPr>
        </p:nvSpPr>
        <p:spPr>
          <a:xfrm>
            <a:off x="533400" y="5257800"/>
            <a:ext cx="8534400" cy="1295400"/>
          </a:xfrm>
        </p:spPr>
        <p:txBody>
          <a:bodyPr>
            <a:normAutofit fontScale="92500" lnSpcReduction="20000"/>
          </a:bodyPr>
          <a:lstStyle/>
          <a:p>
            <a:r>
              <a:rPr lang="en-US" dirty="0" smtClean="0"/>
              <a:t>Single processor executes multiple processes </a:t>
            </a:r>
            <a:r>
              <a:rPr lang="en-US" dirty="0"/>
              <a:t>c</a:t>
            </a:r>
            <a:r>
              <a:rPr lang="en-US" dirty="0" smtClean="0"/>
              <a:t>oncurrently</a:t>
            </a:r>
            <a:endParaRPr lang="en-US" dirty="0"/>
          </a:p>
          <a:p>
            <a:pPr lvl="1"/>
            <a:r>
              <a:rPr lang="en-US" dirty="0"/>
              <a:t>Process executions interleaved (multitasking) </a:t>
            </a:r>
            <a:endParaRPr lang="en-US" dirty="0" smtClean="0"/>
          </a:p>
          <a:p>
            <a:pPr lvl="1"/>
            <a:r>
              <a:rPr lang="en-US" dirty="0" smtClean="0"/>
              <a:t>Address </a:t>
            </a:r>
            <a:r>
              <a:rPr lang="en-US" dirty="0"/>
              <a:t>spaces managed by virtual memory </a:t>
            </a:r>
            <a:r>
              <a:rPr lang="en-US" dirty="0" smtClean="0"/>
              <a:t>system (later in course)</a:t>
            </a:r>
            <a:endParaRPr lang="en-US" dirty="0"/>
          </a:p>
          <a:p>
            <a:pPr lvl="1"/>
            <a:r>
              <a:rPr lang="en-US" dirty="0" smtClean="0"/>
              <a:t>Register values for </a:t>
            </a:r>
            <a:r>
              <a:rPr lang="en-US" dirty="0" err="1" smtClean="0"/>
              <a:t>nonexecuting</a:t>
            </a:r>
            <a:r>
              <a:rPr lang="en-US" dirty="0" smtClean="0"/>
              <a:t> processes saved in memory</a:t>
            </a:r>
            <a:endParaRPr lang="en-US" dirty="0"/>
          </a:p>
        </p:txBody>
      </p:sp>
      <p:sp>
        <p:nvSpPr>
          <p:cNvPr id="13" name="Rectangle 12"/>
          <p:cNvSpPr/>
          <p:nvPr/>
        </p:nvSpPr>
        <p:spPr bwMode="auto">
          <a:xfrm>
            <a:off x="914400" y="4038600"/>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t>CPU</a:t>
            </a:r>
            <a:endParaRPr lang="en-US" dirty="0"/>
          </a:p>
        </p:txBody>
      </p:sp>
      <p:sp>
        <p:nvSpPr>
          <p:cNvPr id="14" name="Rectangle 13"/>
          <p:cNvSpPr/>
          <p:nvPr/>
        </p:nvSpPr>
        <p:spPr bwMode="auto">
          <a:xfrm>
            <a:off x="1052716" y="4495800"/>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Registers</a:t>
            </a:r>
            <a:endParaRPr lang="en-US" sz="1800" dirty="0"/>
          </a:p>
        </p:txBody>
      </p:sp>
      <p:sp>
        <p:nvSpPr>
          <p:cNvPr id="15" name="Rectangle 14"/>
          <p:cNvSpPr/>
          <p:nvPr/>
        </p:nvSpPr>
        <p:spPr bwMode="auto">
          <a:xfrm>
            <a:off x="751396" y="1219200"/>
            <a:ext cx="6030404" cy="2506896"/>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t>Memory</a:t>
            </a:r>
            <a:endParaRPr lang="en-US" dirty="0"/>
          </a:p>
        </p:txBody>
      </p:sp>
      <p:sp>
        <p:nvSpPr>
          <p:cNvPr id="16" name="Rectangle 15"/>
          <p:cNvSpPr/>
          <p:nvPr/>
        </p:nvSpPr>
        <p:spPr bwMode="auto">
          <a:xfrm>
            <a:off x="1040386" y="1789587"/>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Stac</a:t>
            </a:r>
            <a:r>
              <a:rPr lang="en-US" sz="1800" dirty="0"/>
              <a:t>k</a:t>
            </a:r>
          </a:p>
        </p:txBody>
      </p:sp>
      <p:sp>
        <p:nvSpPr>
          <p:cNvPr id="17" name="Rectangle 16"/>
          <p:cNvSpPr/>
          <p:nvPr/>
        </p:nvSpPr>
        <p:spPr bwMode="auto">
          <a:xfrm>
            <a:off x="1040386" y="20943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Heap</a:t>
            </a:r>
            <a:endParaRPr lang="en-US" sz="1800" dirty="0"/>
          </a:p>
        </p:txBody>
      </p:sp>
      <p:sp>
        <p:nvSpPr>
          <p:cNvPr id="18" name="Rectangle 17"/>
          <p:cNvSpPr/>
          <p:nvPr/>
        </p:nvSpPr>
        <p:spPr bwMode="auto">
          <a:xfrm>
            <a:off x="1040386" y="266717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Code</a:t>
            </a:r>
            <a:endParaRPr lang="en-US" sz="1800" dirty="0"/>
          </a:p>
        </p:txBody>
      </p:sp>
      <p:sp>
        <p:nvSpPr>
          <p:cNvPr id="19" name="Rectangle 18"/>
          <p:cNvSpPr/>
          <p:nvPr/>
        </p:nvSpPr>
        <p:spPr bwMode="auto">
          <a:xfrm>
            <a:off x="1040386" y="2383092"/>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Data</a:t>
            </a:r>
            <a:endParaRPr lang="en-US" sz="1800" dirty="0"/>
          </a:p>
        </p:txBody>
      </p:sp>
      <p:sp>
        <p:nvSpPr>
          <p:cNvPr id="3" name="Rectangle 2"/>
          <p:cNvSpPr/>
          <p:nvPr/>
        </p:nvSpPr>
        <p:spPr bwMode="auto">
          <a:xfrm>
            <a:off x="838200" y="1668696"/>
            <a:ext cx="1538084" cy="3436704"/>
          </a:xfrm>
          <a:prstGeom prst="rect">
            <a:avLst/>
          </a:prstGeom>
          <a:noFill/>
          <a:ln w="25400" cap="flat" cmpd="sng" algn="ctr">
            <a:solidFill>
              <a:schemeClr val="tx1"/>
            </a:solidFill>
            <a:prstDash val="dot"/>
            <a:round/>
            <a:headEnd type="none" w="med" len="med"/>
            <a:tailEnd type="arrow" w="med" len="med"/>
          </a:ln>
          <a:effectLst/>
        </p:spPr>
        <p:txBody>
          <a:bodyPr rtlCol="0" anchor="ctr"/>
          <a:lstStyle/>
          <a:p>
            <a:pPr algn="ctr"/>
            <a:endParaRPr lang="en-US">
              <a:ln>
                <a:solidFill>
                  <a:schemeClr val="tx1"/>
                </a:solidFill>
                <a:prstDash val="dash"/>
              </a:ln>
            </a:endParaRPr>
          </a:p>
        </p:txBody>
      </p:sp>
      <p:sp>
        <p:nvSpPr>
          <p:cNvPr id="30" name="Rectangle 29"/>
          <p:cNvSpPr/>
          <p:nvPr/>
        </p:nvSpPr>
        <p:spPr bwMode="auto">
          <a:xfrm>
            <a:off x="2730870" y="17895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Stac</a:t>
            </a:r>
            <a:r>
              <a:rPr lang="en-US" sz="1800" dirty="0"/>
              <a:t>k</a:t>
            </a:r>
          </a:p>
        </p:txBody>
      </p:sp>
      <p:sp>
        <p:nvSpPr>
          <p:cNvPr id="31" name="Rectangle 30"/>
          <p:cNvSpPr/>
          <p:nvPr/>
        </p:nvSpPr>
        <p:spPr bwMode="auto">
          <a:xfrm>
            <a:off x="2730870" y="2094390"/>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Heap</a:t>
            </a:r>
            <a:endParaRPr lang="en-US" sz="1800" dirty="0"/>
          </a:p>
        </p:txBody>
      </p:sp>
      <p:sp>
        <p:nvSpPr>
          <p:cNvPr id="32" name="Rectangle 31"/>
          <p:cNvSpPr/>
          <p:nvPr/>
        </p:nvSpPr>
        <p:spPr bwMode="auto">
          <a:xfrm>
            <a:off x="2730870" y="2667175"/>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Code</a:t>
            </a:r>
            <a:endParaRPr lang="en-US" sz="1800" dirty="0"/>
          </a:p>
        </p:txBody>
      </p:sp>
      <p:sp>
        <p:nvSpPr>
          <p:cNvPr id="33" name="Rectangle 32"/>
          <p:cNvSpPr/>
          <p:nvPr/>
        </p:nvSpPr>
        <p:spPr bwMode="auto">
          <a:xfrm>
            <a:off x="2730870" y="238309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Data</a:t>
            </a:r>
            <a:endParaRPr lang="en-US" sz="1800" dirty="0"/>
          </a:p>
        </p:txBody>
      </p:sp>
      <p:sp>
        <p:nvSpPr>
          <p:cNvPr id="35" name="Rectangle 34"/>
          <p:cNvSpPr/>
          <p:nvPr/>
        </p:nvSpPr>
        <p:spPr bwMode="auto">
          <a:xfrm>
            <a:off x="2730870" y="3040299"/>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Saved registers</a:t>
            </a:r>
            <a:endParaRPr lang="en-US" sz="1800" dirty="0"/>
          </a:p>
        </p:txBody>
      </p:sp>
      <p:sp>
        <p:nvSpPr>
          <p:cNvPr id="36" name="Rectangle 35"/>
          <p:cNvSpPr/>
          <p:nvPr/>
        </p:nvSpPr>
        <p:spPr bwMode="auto">
          <a:xfrm>
            <a:off x="5321670" y="17895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Stac</a:t>
            </a:r>
            <a:r>
              <a:rPr lang="en-US" sz="1800" dirty="0"/>
              <a:t>k</a:t>
            </a:r>
          </a:p>
        </p:txBody>
      </p:sp>
      <p:sp>
        <p:nvSpPr>
          <p:cNvPr id="39" name="Rectangle 38"/>
          <p:cNvSpPr/>
          <p:nvPr/>
        </p:nvSpPr>
        <p:spPr bwMode="auto">
          <a:xfrm>
            <a:off x="5321670" y="20943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Heap</a:t>
            </a:r>
            <a:endParaRPr lang="en-US" sz="1800" dirty="0"/>
          </a:p>
        </p:txBody>
      </p:sp>
      <p:sp>
        <p:nvSpPr>
          <p:cNvPr id="40" name="Rectangle 39"/>
          <p:cNvSpPr/>
          <p:nvPr/>
        </p:nvSpPr>
        <p:spPr bwMode="auto">
          <a:xfrm>
            <a:off x="5321670" y="266717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Code</a:t>
            </a:r>
            <a:endParaRPr lang="en-US" sz="1800" dirty="0"/>
          </a:p>
        </p:txBody>
      </p:sp>
      <p:sp>
        <p:nvSpPr>
          <p:cNvPr id="47" name="Rectangle 46"/>
          <p:cNvSpPr/>
          <p:nvPr/>
        </p:nvSpPr>
        <p:spPr bwMode="auto">
          <a:xfrm>
            <a:off x="5321670" y="238309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Data</a:t>
            </a:r>
            <a:endParaRPr lang="en-US" sz="1800" dirty="0"/>
          </a:p>
        </p:txBody>
      </p:sp>
      <p:sp>
        <p:nvSpPr>
          <p:cNvPr id="49" name="Rectangle 48"/>
          <p:cNvSpPr/>
          <p:nvPr/>
        </p:nvSpPr>
        <p:spPr bwMode="auto">
          <a:xfrm>
            <a:off x="5321670" y="3040298"/>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Saved registers</a:t>
            </a:r>
            <a:endParaRPr lang="en-US" sz="1800" dirty="0"/>
          </a:p>
        </p:txBody>
      </p:sp>
      <p:sp>
        <p:nvSpPr>
          <p:cNvPr id="50" name="TextBox 49"/>
          <p:cNvSpPr txBox="1"/>
          <p:nvPr/>
        </p:nvSpPr>
        <p:spPr>
          <a:xfrm>
            <a:off x="4343400" y="2165366"/>
            <a:ext cx="513106" cy="646331"/>
          </a:xfrm>
          <a:prstGeom prst="rect">
            <a:avLst/>
          </a:prstGeom>
          <a:noFill/>
        </p:spPr>
        <p:txBody>
          <a:bodyPr wrap="none" rtlCol="0">
            <a:spAutoFit/>
          </a:bodyPr>
          <a:lstStyle/>
          <a:p>
            <a:r>
              <a:rPr lang="en-US" sz="3600" dirty="0" smtClean="0">
                <a:latin typeface="Calibri" pitchFamily="34" charset="0"/>
              </a:rPr>
              <a:t>…</a:t>
            </a:r>
          </a:p>
        </p:txBody>
      </p:sp>
    </p:spTree>
    <p:extLst>
      <p:ext uri="{BB962C8B-B14F-4D97-AF65-F5344CB8AC3E}">
        <p14:creationId xmlns:p14="http://schemas.microsoft.com/office/powerpoint/2010/main" val="2280021004"/>
      </p:ext>
    </p:extLst>
  </p:cSld>
  <p:clrMapOvr>
    <a:masterClrMapping/>
  </p:clrMapOvr>
  <p:timing>
    <p:tnLst>
      <p:par>
        <p:cTn xmlns:p14="http://schemas.microsoft.com/office/powerpoint/2010/mai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482182" cy="762000"/>
          </a:xfrm>
        </p:spPr>
        <p:txBody>
          <a:bodyPr/>
          <a:lstStyle/>
          <a:p>
            <a:r>
              <a:rPr lang="en-US" dirty="0" smtClean="0"/>
              <a:t>Multiprocessing: The (Traditional) Reality</a:t>
            </a:r>
            <a:endParaRPr lang="en-US" dirty="0"/>
          </a:p>
        </p:txBody>
      </p:sp>
      <p:sp>
        <p:nvSpPr>
          <p:cNvPr id="4" name="Text Placeholder 3"/>
          <p:cNvSpPr>
            <a:spLocks noGrp="1"/>
          </p:cNvSpPr>
          <p:nvPr>
            <p:ph idx="1"/>
          </p:nvPr>
        </p:nvSpPr>
        <p:spPr>
          <a:xfrm>
            <a:off x="533400" y="5257800"/>
            <a:ext cx="8534400" cy="533400"/>
          </a:xfrm>
        </p:spPr>
        <p:txBody>
          <a:bodyPr>
            <a:normAutofit/>
          </a:bodyPr>
          <a:lstStyle/>
          <a:p>
            <a:r>
              <a:rPr lang="en-US" dirty="0" smtClean="0"/>
              <a:t>Save current registers in memory</a:t>
            </a:r>
            <a:endParaRPr lang="en-US" dirty="0"/>
          </a:p>
        </p:txBody>
      </p:sp>
      <p:sp>
        <p:nvSpPr>
          <p:cNvPr id="13" name="Rectangle 12"/>
          <p:cNvSpPr/>
          <p:nvPr/>
        </p:nvSpPr>
        <p:spPr bwMode="auto">
          <a:xfrm>
            <a:off x="914400" y="4038600"/>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t>CPU</a:t>
            </a:r>
            <a:endParaRPr lang="en-US" dirty="0"/>
          </a:p>
        </p:txBody>
      </p:sp>
      <p:sp>
        <p:nvSpPr>
          <p:cNvPr id="14" name="Rectangle 13"/>
          <p:cNvSpPr/>
          <p:nvPr/>
        </p:nvSpPr>
        <p:spPr bwMode="auto">
          <a:xfrm>
            <a:off x="1052716" y="4495800"/>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Registers</a:t>
            </a:r>
            <a:endParaRPr lang="en-US" sz="1800" dirty="0"/>
          </a:p>
        </p:txBody>
      </p:sp>
      <p:sp>
        <p:nvSpPr>
          <p:cNvPr id="15" name="Rectangle 14"/>
          <p:cNvSpPr/>
          <p:nvPr/>
        </p:nvSpPr>
        <p:spPr bwMode="auto">
          <a:xfrm>
            <a:off x="751396" y="1219200"/>
            <a:ext cx="6030404" cy="2506896"/>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t>Memory</a:t>
            </a:r>
            <a:endParaRPr lang="en-US" dirty="0"/>
          </a:p>
        </p:txBody>
      </p:sp>
      <p:sp>
        <p:nvSpPr>
          <p:cNvPr id="16" name="Rectangle 15"/>
          <p:cNvSpPr/>
          <p:nvPr/>
        </p:nvSpPr>
        <p:spPr bwMode="auto">
          <a:xfrm>
            <a:off x="1040386" y="1789587"/>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Stac</a:t>
            </a:r>
            <a:r>
              <a:rPr lang="en-US" sz="1800" dirty="0"/>
              <a:t>k</a:t>
            </a:r>
          </a:p>
        </p:txBody>
      </p:sp>
      <p:sp>
        <p:nvSpPr>
          <p:cNvPr id="17" name="Rectangle 16"/>
          <p:cNvSpPr/>
          <p:nvPr/>
        </p:nvSpPr>
        <p:spPr bwMode="auto">
          <a:xfrm>
            <a:off x="1040386" y="20943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Heap</a:t>
            </a:r>
            <a:endParaRPr lang="en-US" sz="1800" dirty="0"/>
          </a:p>
        </p:txBody>
      </p:sp>
      <p:sp>
        <p:nvSpPr>
          <p:cNvPr id="18" name="Rectangle 17"/>
          <p:cNvSpPr/>
          <p:nvPr/>
        </p:nvSpPr>
        <p:spPr bwMode="auto">
          <a:xfrm>
            <a:off x="1040386" y="266717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Code</a:t>
            </a:r>
            <a:endParaRPr lang="en-US" sz="1800" dirty="0"/>
          </a:p>
        </p:txBody>
      </p:sp>
      <p:sp>
        <p:nvSpPr>
          <p:cNvPr id="19" name="Rectangle 18"/>
          <p:cNvSpPr/>
          <p:nvPr/>
        </p:nvSpPr>
        <p:spPr bwMode="auto">
          <a:xfrm>
            <a:off x="1040386" y="2383092"/>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Data</a:t>
            </a:r>
            <a:endParaRPr lang="en-US" sz="1800" dirty="0"/>
          </a:p>
        </p:txBody>
      </p:sp>
      <p:sp>
        <p:nvSpPr>
          <p:cNvPr id="3" name="Rectangle 2"/>
          <p:cNvSpPr/>
          <p:nvPr/>
        </p:nvSpPr>
        <p:spPr bwMode="auto">
          <a:xfrm>
            <a:off x="838200" y="1668696"/>
            <a:ext cx="1538084" cy="3436704"/>
          </a:xfrm>
          <a:prstGeom prst="rect">
            <a:avLst/>
          </a:prstGeom>
          <a:noFill/>
          <a:ln w="25400" cap="flat" cmpd="sng" algn="ctr">
            <a:solidFill>
              <a:schemeClr val="tx1"/>
            </a:solidFill>
            <a:prstDash val="dot"/>
            <a:round/>
            <a:headEnd type="none" w="med" len="med"/>
            <a:tailEnd type="arrow" w="med" len="med"/>
          </a:ln>
          <a:effectLst/>
        </p:spPr>
        <p:txBody>
          <a:bodyPr rtlCol="0" anchor="ctr"/>
          <a:lstStyle/>
          <a:p>
            <a:pPr algn="ctr"/>
            <a:endParaRPr lang="en-US">
              <a:ln>
                <a:solidFill>
                  <a:schemeClr val="tx1"/>
                </a:solidFill>
                <a:prstDash val="dash"/>
              </a:ln>
            </a:endParaRPr>
          </a:p>
        </p:txBody>
      </p:sp>
      <p:sp>
        <p:nvSpPr>
          <p:cNvPr id="29" name="Rectangle 28"/>
          <p:cNvSpPr/>
          <p:nvPr/>
        </p:nvSpPr>
        <p:spPr bwMode="auto">
          <a:xfrm>
            <a:off x="1040386" y="3040297"/>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Saved registers</a:t>
            </a:r>
            <a:endParaRPr lang="en-US" sz="1800" dirty="0"/>
          </a:p>
        </p:txBody>
      </p:sp>
      <p:sp>
        <p:nvSpPr>
          <p:cNvPr id="30" name="Rectangle 29"/>
          <p:cNvSpPr/>
          <p:nvPr/>
        </p:nvSpPr>
        <p:spPr bwMode="auto">
          <a:xfrm>
            <a:off x="2730870" y="17895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Stac</a:t>
            </a:r>
            <a:r>
              <a:rPr lang="en-US" sz="1800" dirty="0"/>
              <a:t>k</a:t>
            </a:r>
          </a:p>
        </p:txBody>
      </p:sp>
      <p:sp>
        <p:nvSpPr>
          <p:cNvPr id="31" name="Rectangle 30"/>
          <p:cNvSpPr/>
          <p:nvPr/>
        </p:nvSpPr>
        <p:spPr bwMode="auto">
          <a:xfrm>
            <a:off x="2730870" y="2094390"/>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Heap</a:t>
            </a:r>
            <a:endParaRPr lang="en-US" sz="1800" dirty="0"/>
          </a:p>
        </p:txBody>
      </p:sp>
      <p:sp>
        <p:nvSpPr>
          <p:cNvPr id="32" name="Rectangle 31"/>
          <p:cNvSpPr/>
          <p:nvPr/>
        </p:nvSpPr>
        <p:spPr bwMode="auto">
          <a:xfrm>
            <a:off x="2730870" y="2667175"/>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Code</a:t>
            </a:r>
            <a:endParaRPr lang="en-US" sz="1800" dirty="0"/>
          </a:p>
        </p:txBody>
      </p:sp>
      <p:sp>
        <p:nvSpPr>
          <p:cNvPr id="33" name="Rectangle 32"/>
          <p:cNvSpPr/>
          <p:nvPr/>
        </p:nvSpPr>
        <p:spPr bwMode="auto">
          <a:xfrm>
            <a:off x="2730870" y="238309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Data</a:t>
            </a:r>
            <a:endParaRPr lang="en-US" sz="1800" dirty="0"/>
          </a:p>
        </p:txBody>
      </p:sp>
      <p:sp>
        <p:nvSpPr>
          <p:cNvPr id="35" name="Rectangle 34"/>
          <p:cNvSpPr/>
          <p:nvPr/>
        </p:nvSpPr>
        <p:spPr bwMode="auto">
          <a:xfrm>
            <a:off x="2730870" y="3040299"/>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Saved registers</a:t>
            </a:r>
            <a:endParaRPr lang="en-US" sz="1800" dirty="0"/>
          </a:p>
        </p:txBody>
      </p:sp>
      <p:sp>
        <p:nvSpPr>
          <p:cNvPr id="36" name="Rectangle 35"/>
          <p:cNvSpPr/>
          <p:nvPr/>
        </p:nvSpPr>
        <p:spPr bwMode="auto">
          <a:xfrm>
            <a:off x="5321670" y="17895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Stac</a:t>
            </a:r>
            <a:r>
              <a:rPr lang="en-US" sz="1800" dirty="0"/>
              <a:t>k</a:t>
            </a:r>
          </a:p>
        </p:txBody>
      </p:sp>
      <p:sp>
        <p:nvSpPr>
          <p:cNvPr id="39" name="Rectangle 38"/>
          <p:cNvSpPr/>
          <p:nvPr/>
        </p:nvSpPr>
        <p:spPr bwMode="auto">
          <a:xfrm>
            <a:off x="5321670" y="20943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Heap</a:t>
            </a:r>
            <a:endParaRPr lang="en-US" sz="1800" dirty="0"/>
          </a:p>
        </p:txBody>
      </p:sp>
      <p:sp>
        <p:nvSpPr>
          <p:cNvPr id="40" name="Rectangle 39"/>
          <p:cNvSpPr/>
          <p:nvPr/>
        </p:nvSpPr>
        <p:spPr bwMode="auto">
          <a:xfrm>
            <a:off x="5321670" y="266717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Code</a:t>
            </a:r>
            <a:endParaRPr lang="en-US" sz="1800" dirty="0"/>
          </a:p>
        </p:txBody>
      </p:sp>
      <p:sp>
        <p:nvSpPr>
          <p:cNvPr id="47" name="Rectangle 46"/>
          <p:cNvSpPr/>
          <p:nvPr/>
        </p:nvSpPr>
        <p:spPr bwMode="auto">
          <a:xfrm>
            <a:off x="5321670" y="238309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Data</a:t>
            </a:r>
            <a:endParaRPr lang="en-US" sz="1800" dirty="0"/>
          </a:p>
        </p:txBody>
      </p:sp>
      <p:sp>
        <p:nvSpPr>
          <p:cNvPr id="49" name="Rectangle 48"/>
          <p:cNvSpPr/>
          <p:nvPr/>
        </p:nvSpPr>
        <p:spPr bwMode="auto">
          <a:xfrm>
            <a:off x="5321670" y="3040298"/>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Saved registers</a:t>
            </a:r>
            <a:endParaRPr lang="en-US" sz="1800" dirty="0"/>
          </a:p>
        </p:txBody>
      </p:sp>
      <p:sp>
        <p:nvSpPr>
          <p:cNvPr id="50" name="TextBox 49"/>
          <p:cNvSpPr txBox="1"/>
          <p:nvPr/>
        </p:nvSpPr>
        <p:spPr>
          <a:xfrm>
            <a:off x="4343400" y="2165366"/>
            <a:ext cx="513106" cy="646331"/>
          </a:xfrm>
          <a:prstGeom prst="rect">
            <a:avLst/>
          </a:prstGeom>
          <a:noFill/>
        </p:spPr>
        <p:txBody>
          <a:bodyPr wrap="none" rtlCol="0">
            <a:spAutoFit/>
          </a:bodyPr>
          <a:lstStyle/>
          <a:p>
            <a:r>
              <a:rPr lang="en-US" sz="3600" dirty="0" smtClean="0">
                <a:latin typeface="Calibri" pitchFamily="34" charset="0"/>
              </a:rPr>
              <a:t>…</a:t>
            </a:r>
          </a:p>
        </p:txBody>
      </p:sp>
      <p:sp>
        <p:nvSpPr>
          <p:cNvPr id="5" name="Up Arrow 4"/>
          <p:cNvSpPr/>
          <p:nvPr/>
        </p:nvSpPr>
        <p:spPr bwMode="auto">
          <a:xfrm>
            <a:off x="1447800" y="3573699"/>
            <a:ext cx="228600" cy="464901"/>
          </a:xfrm>
          <a:prstGeom prst="upArrow">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endParaRPr lang="en-US"/>
          </a:p>
        </p:txBody>
      </p:sp>
    </p:spTree>
    <p:extLst>
      <p:ext uri="{BB962C8B-B14F-4D97-AF65-F5344CB8AC3E}">
        <p14:creationId xmlns:p14="http://schemas.microsoft.com/office/powerpoint/2010/main" val="2660413214"/>
      </p:ext>
    </p:extLst>
  </p:cSld>
  <p:clrMapOvr>
    <a:masterClrMapping/>
  </p:clrMapOvr>
  <p:timing>
    <p:tnLst>
      <p:par>
        <p:cTn xmlns:p14="http://schemas.microsoft.com/office/powerpoint/2010/mai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2514600" y="1668696"/>
            <a:ext cx="1538084" cy="3436704"/>
          </a:xfrm>
          <a:prstGeom prst="rect">
            <a:avLst/>
          </a:prstGeom>
          <a:noFill/>
          <a:ln w="25400" cap="flat" cmpd="sng" algn="ctr">
            <a:solidFill>
              <a:schemeClr val="tx1"/>
            </a:solidFill>
            <a:prstDash val="dot"/>
            <a:round/>
            <a:headEnd type="none" w="med" len="med"/>
            <a:tailEnd type="arrow" w="med" len="med"/>
          </a:ln>
          <a:effectLst/>
        </p:spPr>
        <p:txBody>
          <a:bodyPr rtlCol="0" anchor="ctr"/>
          <a:lstStyle/>
          <a:p>
            <a:pPr algn="ctr"/>
            <a:endParaRPr lang="en-US">
              <a:ln>
                <a:solidFill>
                  <a:schemeClr val="tx1"/>
                </a:solidFill>
                <a:prstDash val="dash"/>
              </a:ln>
            </a:endParaRPr>
          </a:p>
        </p:txBody>
      </p:sp>
      <p:sp>
        <p:nvSpPr>
          <p:cNvPr id="2" name="Title 1"/>
          <p:cNvSpPr>
            <a:spLocks noGrp="1"/>
          </p:cNvSpPr>
          <p:nvPr>
            <p:ph type="title"/>
          </p:nvPr>
        </p:nvSpPr>
        <p:spPr>
          <a:xfrm>
            <a:off x="357018" y="435678"/>
            <a:ext cx="8482182" cy="762000"/>
          </a:xfrm>
        </p:spPr>
        <p:txBody>
          <a:bodyPr/>
          <a:lstStyle/>
          <a:p>
            <a:r>
              <a:rPr lang="en-US" dirty="0" smtClean="0"/>
              <a:t>Multiprocessing: The (Traditional) Reality</a:t>
            </a:r>
            <a:endParaRPr lang="en-US" dirty="0"/>
          </a:p>
        </p:txBody>
      </p:sp>
      <p:sp>
        <p:nvSpPr>
          <p:cNvPr id="4" name="Text Placeholder 3"/>
          <p:cNvSpPr>
            <a:spLocks noGrp="1"/>
          </p:cNvSpPr>
          <p:nvPr>
            <p:ph idx="1"/>
          </p:nvPr>
        </p:nvSpPr>
        <p:spPr>
          <a:xfrm>
            <a:off x="533400" y="5257800"/>
            <a:ext cx="8534400" cy="533400"/>
          </a:xfrm>
        </p:spPr>
        <p:txBody>
          <a:bodyPr>
            <a:normAutofit/>
          </a:bodyPr>
          <a:lstStyle/>
          <a:p>
            <a:r>
              <a:rPr lang="en-US" dirty="0" smtClean="0"/>
              <a:t>Schedule next process for execution</a:t>
            </a:r>
            <a:endParaRPr lang="en-US" dirty="0"/>
          </a:p>
        </p:txBody>
      </p:sp>
      <p:sp>
        <p:nvSpPr>
          <p:cNvPr id="13" name="Rectangle 12"/>
          <p:cNvSpPr/>
          <p:nvPr/>
        </p:nvSpPr>
        <p:spPr bwMode="auto">
          <a:xfrm>
            <a:off x="2590800" y="4038600"/>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t>CPU</a:t>
            </a:r>
            <a:endParaRPr lang="en-US" dirty="0"/>
          </a:p>
        </p:txBody>
      </p:sp>
      <p:sp>
        <p:nvSpPr>
          <p:cNvPr id="14" name="Rectangle 13"/>
          <p:cNvSpPr/>
          <p:nvPr/>
        </p:nvSpPr>
        <p:spPr bwMode="auto">
          <a:xfrm>
            <a:off x="2729116" y="4495800"/>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Registers</a:t>
            </a:r>
            <a:endParaRPr lang="en-US" sz="1800" dirty="0"/>
          </a:p>
        </p:txBody>
      </p:sp>
      <p:sp>
        <p:nvSpPr>
          <p:cNvPr id="15" name="Rectangle 14"/>
          <p:cNvSpPr/>
          <p:nvPr/>
        </p:nvSpPr>
        <p:spPr bwMode="auto">
          <a:xfrm>
            <a:off x="751396" y="1219200"/>
            <a:ext cx="6030404" cy="2506896"/>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t>Memory</a:t>
            </a:r>
            <a:endParaRPr lang="en-US" dirty="0"/>
          </a:p>
        </p:txBody>
      </p:sp>
      <p:sp>
        <p:nvSpPr>
          <p:cNvPr id="16" name="Rectangle 15"/>
          <p:cNvSpPr/>
          <p:nvPr/>
        </p:nvSpPr>
        <p:spPr bwMode="auto">
          <a:xfrm>
            <a:off x="1040386" y="1789587"/>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Stac</a:t>
            </a:r>
            <a:r>
              <a:rPr lang="en-US" sz="1800" dirty="0"/>
              <a:t>k</a:t>
            </a:r>
          </a:p>
        </p:txBody>
      </p:sp>
      <p:sp>
        <p:nvSpPr>
          <p:cNvPr id="17" name="Rectangle 16"/>
          <p:cNvSpPr/>
          <p:nvPr/>
        </p:nvSpPr>
        <p:spPr bwMode="auto">
          <a:xfrm>
            <a:off x="1040386" y="20943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Heap</a:t>
            </a:r>
            <a:endParaRPr lang="en-US" sz="1800" dirty="0"/>
          </a:p>
        </p:txBody>
      </p:sp>
      <p:sp>
        <p:nvSpPr>
          <p:cNvPr id="18" name="Rectangle 17"/>
          <p:cNvSpPr/>
          <p:nvPr/>
        </p:nvSpPr>
        <p:spPr bwMode="auto">
          <a:xfrm>
            <a:off x="1040386" y="266717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Code</a:t>
            </a:r>
            <a:endParaRPr lang="en-US" sz="1800" dirty="0"/>
          </a:p>
        </p:txBody>
      </p:sp>
      <p:sp>
        <p:nvSpPr>
          <p:cNvPr id="19" name="Rectangle 18"/>
          <p:cNvSpPr/>
          <p:nvPr/>
        </p:nvSpPr>
        <p:spPr bwMode="auto">
          <a:xfrm>
            <a:off x="1040386" y="2383092"/>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Data</a:t>
            </a:r>
            <a:endParaRPr lang="en-US" sz="1800" dirty="0"/>
          </a:p>
        </p:txBody>
      </p:sp>
      <p:sp>
        <p:nvSpPr>
          <p:cNvPr id="29" name="Rectangle 28"/>
          <p:cNvSpPr/>
          <p:nvPr/>
        </p:nvSpPr>
        <p:spPr bwMode="auto">
          <a:xfrm>
            <a:off x="1040386" y="3040297"/>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Saved registers</a:t>
            </a:r>
            <a:endParaRPr lang="en-US" sz="1800" dirty="0"/>
          </a:p>
        </p:txBody>
      </p:sp>
      <p:sp>
        <p:nvSpPr>
          <p:cNvPr id="30" name="Rectangle 29"/>
          <p:cNvSpPr/>
          <p:nvPr/>
        </p:nvSpPr>
        <p:spPr bwMode="auto">
          <a:xfrm>
            <a:off x="2730870" y="17895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Stac</a:t>
            </a:r>
            <a:r>
              <a:rPr lang="en-US" sz="1800" dirty="0"/>
              <a:t>k</a:t>
            </a:r>
          </a:p>
        </p:txBody>
      </p:sp>
      <p:sp>
        <p:nvSpPr>
          <p:cNvPr id="31" name="Rectangle 30"/>
          <p:cNvSpPr/>
          <p:nvPr/>
        </p:nvSpPr>
        <p:spPr bwMode="auto">
          <a:xfrm>
            <a:off x="2730870" y="2094390"/>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Heap</a:t>
            </a:r>
            <a:endParaRPr lang="en-US" sz="1800" dirty="0"/>
          </a:p>
        </p:txBody>
      </p:sp>
      <p:sp>
        <p:nvSpPr>
          <p:cNvPr id="32" name="Rectangle 31"/>
          <p:cNvSpPr/>
          <p:nvPr/>
        </p:nvSpPr>
        <p:spPr bwMode="auto">
          <a:xfrm>
            <a:off x="2730870" y="2667175"/>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Code</a:t>
            </a:r>
            <a:endParaRPr lang="en-US" sz="1800" dirty="0"/>
          </a:p>
        </p:txBody>
      </p:sp>
      <p:sp>
        <p:nvSpPr>
          <p:cNvPr id="33" name="Rectangle 32"/>
          <p:cNvSpPr/>
          <p:nvPr/>
        </p:nvSpPr>
        <p:spPr bwMode="auto">
          <a:xfrm>
            <a:off x="2730870" y="238309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Data</a:t>
            </a:r>
            <a:endParaRPr lang="en-US" sz="1800" dirty="0"/>
          </a:p>
        </p:txBody>
      </p:sp>
      <p:sp>
        <p:nvSpPr>
          <p:cNvPr id="36" name="Rectangle 35"/>
          <p:cNvSpPr/>
          <p:nvPr/>
        </p:nvSpPr>
        <p:spPr bwMode="auto">
          <a:xfrm>
            <a:off x="5321670" y="17895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Stac</a:t>
            </a:r>
            <a:r>
              <a:rPr lang="en-US" sz="1800" dirty="0"/>
              <a:t>k</a:t>
            </a:r>
          </a:p>
        </p:txBody>
      </p:sp>
      <p:sp>
        <p:nvSpPr>
          <p:cNvPr id="39" name="Rectangle 38"/>
          <p:cNvSpPr/>
          <p:nvPr/>
        </p:nvSpPr>
        <p:spPr bwMode="auto">
          <a:xfrm>
            <a:off x="5321670" y="20943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Heap</a:t>
            </a:r>
            <a:endParaRPr lang="en-US" sz="1800" dirty="0"/>
          </a:p>
        </p:txBody>
      </p:sp>
      <p:sp>
        <p:nvSpPr>
          <p:cNvPr id="40" name="Rectangle 39"/>
          <p:cNvSpPr/>
          <p:nvPr/>
        </p:nvSpPr>
        <p:spPr bwMode="auto">
          <a:xfrm>
            <a:off x="5321670" y="266717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Code</a:t>
            </a:r>
            <a:endParaRPr lang="en-US" sz="1800" dirty="0"/>
          </a:p>
        </p:txBody>
      </p:sp>
      <p:sp>
        <p:nvSpPr>
          <p:cNvPr id="47" name="Rectangle 46"/>
          <p:cNvSpPr/>
          <p:nvPr/>
        </p:nvSpPr>
        <p:spPr bwMode="auto">
          <a:xfrm>
            <a:off x="5321670" y="238309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Data</a:t>
            </a:r>
            <a:endParaRPr lang="en-US" sz="1800" dirty="0"/>
          </a:p>
        </p:txBody>
      </p:sp>
      <p:sp>
        <p:nvSpPr>
          <p:cNvPr id="49" name="Rectangle 48"/>
          <p:cNvSpPr/>
          <p:nvPr/>
        </p:nvSpPr>
        <p:spPr bwMode="auto">
          <a:xfrm>
            <a:off x="5321670" y="3040298"/>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Saved registers</a:t>
            </a:r>
            <a:endParaRPr lang="en-US" sz="1800" dirty="0"/>
          </a:p>
        </p:txBody>
      </p:sp>
      <p:sp>
        <p:nvSpPr>
          <p:cNvPr id="50" name="TextBox 49"/>
          <p:cNvSpPr txBox="1"/>
          <p:nvPr/>
        </p:nvSpPr>
        <p:spPr>
          <a:xfrm>
            <a:off x="4343400" y="2165366"/>
            <a:ext cx="513106" cy="646331"/>
          </a:xfrm>
          <a:prstGeom prst="rect">
            <a:avLst/>
          </a:prstGeom>
          <a:noFill/>
        </p:spPr>
        <p:txBody>
          <a:bodyPr wrap="none" rtlCol="0">
            <a:spAutoFit/>
          </a:bodyPr>
          <a:lstStyle/>
          <a:p>
            <a:r>
              <a:rPr lang="en-US" sz="3600" dirty="0" smtClean="0">
                <a:latin typeface="Calibri" pitchFamily="34" charset="0"/>
              </a:rPr>
              <a:t>…</a:t>
            </a:r>
          </a:p>
        </p:txBody>
      </p:sp>
    </p:spTree>
    <p:extLst>
      <p:ext uri="{BB962C8B-B14F-4D97-AF65-F5344CB8AC3E}">
        <p14:creationId xmlns:p14="http://schemas.microsoft.com/office/powerpoint/2010/main" val="1543080504"/>
      </p:ext>
    </p:extLst>
  </p:cSld>
  <p:clrMapOvr>
    <a:masterClrMapping/>
  </p:clrMapOvr>
  <p:timing>
    <p:tnLst>
      <p:par>
        <p:cTn xmlns:p14="http://schemas.microsoft.com/office/powerpoint/2010/mai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482182" cy="762000"/>
          </a:xfrm>
        </p:spPr>
        <p:txBody>
          <a:bodyPr/>
          <a:lstStyle/>
          <a:p>
            <a:r>
              <a:rPr lang="en-US" dirty="0" smtClean="0"/>
              <a:t>Multiprocessing: The (Traditional) Reality</a:t>
            </a:r>
            <a:endParaRPr lang="en-US" dirty="0"/>
          </a:p>
        </p:txBody>
      </p:sp>
      <p:sp>
        <p:nvSpPr>
          <p:cNvPr id="4" name="Text Placeholder 3"/>
          <p:cNvSpPr>
            <a:spLocks noGrp="1"/>
          </p:cNvSpPr>
          <p:nvPr>
            <p:ph idx="1"/>
          </p:nvPr>
        </p:nvSpPr>
        <p:spPr>
          <a:xfrm>
            <a:off x="533400" y="5257800"/>
            <a:ext cx="8534400" cy="533400"/>
          </a:xfrm>
        </p:spPr>
        <p:txBody>
          <a:bodyPr>
            <a:normAutofit/>
          </a:bodyPr>
          <a:lstStyle/>
          <a:p>
            <a:r>
              <a:rPr lang="en-US" dirty="0" smtClean="0"/>
              <a:t>Load saved registers and switch address space (context switch)</a:t>
            </a:r>
            <a:endParaRPr lang="en-US" dirty="0"/>
          </a:p>
        </p:txBody>
      </p:sp>
      <p:sp>
        <p:nvSpPr>
          <p:cNvPr id="13" name="Rectangle 12"/>
          <p:cNvSpPr/>
          <p:nvPr/>
        </p:nvSpPr>
        <p:spPr bwMode="auto">
          <a:xfrm>
            <a:off x="2590800" y="4038600"/>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t>CPU</a:t>
            </a:r>
            <a:endParaRPr lang="en-US" dirty="0"/>
          </a:p>
        </p:txBody>
      </p:sp>
      <p:sp>
        <p:nvSpPr>
          <p:cNvPr id="14" name="Rectangle 13"/>
          <p:cNvSpPr/>
          <p:nvPr/>
        </p:nvSpPr>
        <p:spPr bwMode="auto">
          <a:xfrm>
            <a:off x="2729116" y="4495800"/>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Registers</a:t>
            </a:r>
            <a:endParaRPr lang="en-US" sz="1800" dirty="0"/>
          </a:p>
        </p:txBody>
      </p:sp>
      <p:sp>
        <p:nvSpPr>
          <p:cNvPr id="15" name="Rectangle 14"/>
          <p:cNvSpPr/>
          <p:nvPr/>
        </p:nvSpPr>
        <p:spPr bwMode="auto">
          <a:xfrm>
            <a:off x="751396" y="1219200"/>
            <a:ext cx="6030404" cy="2506896"/>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t>Memory</a:t>
            </a:r>
            <a:endParaRPr lang="en-US" dirty="0"/>
          </a:p>
        </p:txBody>
      </p:sp>
      <p:sp>
        <p:nvSpPr>
          <p:cNvPr id="16" name="Rectangle 15"/>
          <p:cNvSpPr/>
          <p:nvPr/>
        </p:nvSpPr>
        <p:spPr bwMode="auto">
          <a:xfrm>
            <a:off x="1040386" y="1789587"/>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Stac</a:t>
            </a:r>
            <a:r>
              <a:rPr lang="en-US" sz="1800" dirty="0"/>
              <a:t>k</a:t>
            </a:r>
          </a:p>
        </p:txBody>
      </p:sp>
      <p:sp>
        <p:nvSpPr>
          <p:cNvPr id="17" name="Rectangle 16"/>
          <p:cNvSpPr/>
          <p:nvPr/>
        </p:nvSpPr>
        <p:spPr bwMode="auto">
          <a:xfrm>
            <a:off x="1040386" y="20943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Heap</a:t>
            </a:r>
            <a:endParaRPr lang="en-US" sz="1800" dirty="0"/>
          </a:p>
        </p:txBody>
      </p:sp>
      <p:sp>
        <p:nvSpPr>
          <p:cNvPr id="18" name="Rectangle 17"/>
          <p:cNvSpPr/>
          <p:nvPr/>
        </p:nvSpPr>
        <p:spPr bwMode="auto">
          <a:xfrm>
            <a:off x="1040386" y="266717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Code</a:t>
            </a:r>
            <a:endParaRPr lang="en-US" sz="1800" dirty="0"/>
          </a:p>
        </p:txBody>
      </p:sp>
      <p:sp>
        <p:nvSpPr>
          <p:cNvPr id="19" name="Rectangle 18"/>
          <p:cNvSpPr/>
          <p:nvPr/>
        </p:nvSpPr>
        <p:spPr bwMode="auto">
          <a:xfrm>
            <a:off x="1040386" y="2383092"/>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Data</a:t>
            </a:r>
            <a:endParaRPr lang="en-US" sz="1800" dirty="0"/>
          </a:p>
        </p:txBody>
      </p:sp>
      <p:sp>
        <p:nvSpPr>
          <p:cNvPr id="3" name="Rectangle 2"/>
          <p:cNvSpPr/>
          <p:nvPr/>
        </p:nvSpPr>
        <p:spPr bwMode="auto">
          <a:xfrm>
            <a:off x="2514600" y="1668696"/>
            <a:ext cx="1538084" cy="3436704"/>
          </a:xfrm>
          <a:prstGeom prst="rect">
            <a:avLst/>
          </a:prstGeom>
          <a:noFill/>
          <a:ln w="25400" cap="flat" cmpd="sng" algn="ctr">
            <a:solidFill>
              <a:schemeClr val="tx1"/>
            </a:solidFill>
            <a:prstDash val="dot"/>
            <a:round/>
            <a:headEnd type="none" w="med" len="med"/>
            <a:tailEnd type="arrow" w="med" len="med"/>
          </a:ln>
          <a:effectLst/>
        </p:spPr>
        <p:txBody>
          <a:bodyPr rtlCol="0" anchor="ctr"/>
          <a:lstStyle/>
          <a:p>
            <a:pPr algn="ctr"/>
            <a:endParaRPr lang="en-US">
              <a:ln>
                <a:solidFill>
                  <a:schemeClr val="tx1"/>
                </a:solidFill>
                <a:prstDash val="dash"/>
              </a:ln>
            </a:endParaRPr>
          </a:p>
        </p:txBody>
      </p:sp>
      <p:sp>
        <p:nvSpPr>
          <p:cNvPr id="29" name="Rectangle 28"/>
          <p:cNvSpPr/>
          <p:nvPr/>
        </p:nvSpPr>
        <p:spPr bwMode="auto">
          <a:xfrm>
            <a:off x="1040386" y="3040297"/>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Saved registers</a:t>
            </a:r>
            <a:endParaRPr lang="en-US" sz="1800" dirty="0"/>
          </a:p>
        </p:txBody>
      </p:sp>
      <p:sp>
        <p:nvSpPr>
          <p:cNvPr id="30" name="Rectangle 29"/>
          <p:cNvSpPr/>
          <p:nvPr/>
        </p:nvSpPr>
        <p:spPr bwMode="auto">
          <a:xfrm>
            <a:off x="2730870" y="17895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Stac</a:t>
            </a:r>
            <a:r>
              <a:rPr lang="en-US" sz="1800" dirty="0"/>
              <a:t>k</a:t>
            </a:r>
          </a:p>
        </p:txBody>
      </p:sp>
      <p:sp>
        <p:nvSpPr>
          <p:cNvPr id="31" name="Rectangle 30"/>
          <p:cNvSpPr/>
          <p:nvPr/>
        </p:nvSpPr>
        <p:spPr bwMode="auto">
          <a:xfrm>
            <a:off x="2730870" y="2094390"/>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Heap</a:t>
            </a:r>
            <a:endParaRPr lang="en-US" sz="1800" dirty="0"/>
          </a:p>
        </p:txBody>
      </p:sp>
      <p:sp>
        <p:nvSpPr>
          <p:cNvPr id="32" name="Rectangle 31"/>
          <p:cNvSpPr/>
          <p:nvPr/>
        </p:nvSpPr>
        <p:spPr bwMode="auto">
          <a:xfrm>
            <a:off x="2730870" y="2667175"/>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Code</a:t>
            </a:r>
            <a:endParaRPr lang="en-US" sz="1800" dirty="0"/>
          </a:p>
        </p:txBody>
      </p:sp>
      <p:sp>
        <p:nvSpPr>
          <p:cNvPr id="33" name="Rectangle 32"/>
          <p:cNvSpPr/>
          <p:nvPr/>
        </p:nvSpPr>
        <p:spPr bwMode="auto">
          <a:xfrm>
            <a:off x="2730870" y="238309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Data</a:t>
            </a:r>
            <a:endParaRPr lang="en-US" sz="1800" dirty="0"/>
          </a:p>
        </p:txBody>
      </p:sp>
      <p:sp>
        <p:nvSpPr>
          <p:cNvPr id="35" name="Rectangle 34"/>
          <p:cNvSpPr/>
          <p:nvPr/>
        </p:nvSpPr>
        <p:spPr bwMode="auto">
          <a:xfrm>
            <a:off x="2730870" y="3040299"/>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Saved registers</a:t>
            </a:r>
            <a:endParaRPr lang="en-US" sz="1800" dirty="0"/>
          </a:p>
        </p:txBody>
      </p:sp>
      <p:sp>
        <p:nvSpPr>
          <p:cNvPr id="36" name="Rectangle 35"/>
          <p:cNvSpPr/>
          <p:nvPr/>
        </p:nvSpPr>
        <p:spPr bwMode="auto">
          <a:xfrm>
            <a:off x="5321670" y="17895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Stac</a:t>
            </a:r>
            <a:r>
              <a:rPr lang="en-US" sz="1800" dirty="0"/>
              <a:t>k</a:t>
            </a:r>
          </a:p>
        </p:txBody>
      </p:sp>
      <p:sp>
        <p:nvSpPr>
          <p:cNvPr id="39" name="Rectangle 38"/>
          <p:cNvSpPr/>
          <p:nvPr/>
        </p:nvSpPr>
        <p:spPr bwMode="auto">
          <a:xfrm>
            <a:off x="5321670" y="20943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Heap</a:t>
            </a:r>
            <a:endParaRPr lang="en-US" sz="1800" dirty="0"/>
          </a:p>
        </p:txBody>
      </p:sp>
      <p:sp>
        <p:nvSpPr>
          <p:cNvPr id="40" name="Rectangle 39"/>
          <p:cNvSpPr/>
          <p:nvPr/>
        </p:nvSpPr>
        <p:spPr bwMode="auto">
          <a:xfrm>
            <a:off x="5321670" y="266717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Code</a:t>
            </a:r>
            <a:endParaRPr lang="en-US" sz="1800" dirty="0"/>
          </a:p>
        </p:txBody>
      </p:sp>
      <p:sp>
        <p:nvSpPr>
          <p:cNvPr id="47" name="Rectangle 46"/>
          <p:cNvSpPr/>
          <p:nvPr/>
        </p:nvSpPr>
        <p:spPr bwMode="auto">
          <a:xfrm>
            <a:off x="5321670" y="238309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Data</a:t>
            </a:r>
            <a:endParaRPr lang="en-US" sz="1800" dirty="0"/>
          </a:p>
        </p:txBody>
      </p:sp>
      <p:sp>
        <p:nvSpPr>
          <p:cNvPr id="49" name="Rectangle 48"/>
          <p:cNvSpPr/>
          <p:nvPr/>
        </p:nvSpPr>
        <p:spPr bwMode="auto">
          <a:xfrm>
            <a:off x="5321670" y="3040298"/>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Saved registers</a:t>
            </a:r>
            <a:endParaRPr lang="en-US" sz="1800" dirty="0"/>
          </a:p>
        </p:txBody>
      </p:sp>
      <p:sp>
        <p:nvSpPr>
          <p:cNvPr id="50" name="TextBox 49"/>
          <p:cNvSpPr txBox="1"/>
          <p:nvPr/>
        </p:nvSpPr>
        <p:spPr>
          <a:xfrm>
            <a:off x="4343400" y="2165366"/>
            <a:ext cx="513106" cy="646331"/>
          </a:xfrm>
          <a:prstGeom prst="rect">
            <a:avLst/>
          </a:prstGeom>
          <a:noFill/>
        </p:spPr>
        <p:txBody>
          <a:bodyPr wrap="none" rtlCol="0">
            <a:spAutoFit/>
          </a:bodyPr>
          <a:lstStyle/>
          <a:p>
            <a:r>
              <a:rPr lang="en-US" sz="3600" dirty="0" smtClean="0">
                <a:latin typeface="Calibri" pitchFamily="34" charset="0"/>
              </a:rPr>
              <a:t>…</a:t>
            </a:r>
          </a:p>
        </p:txBody>
      </p:sp>
      <p:sp>
        <p:nvSpPr>
          <p:cNvPr id="5" name="Up Arrow 4"/>
          <p:cNvSpPr/>
          <p:nvPr/>
        </p:nvSpPr>
        <p:spPr bwMode="auto">
          <a:xfrm flipV="1">
            <a:off x="3200400" y="3573699"/>
            <a:ext cx="228600" cy="464901"/>
          </a:xfrm>
          <a:prstGeom prst="upArrow">
            <a:avLst/>
          </a:prstGeom>
          <a:solidFill>
            <a:schemeClr val="bg1"/>
          </a:solidFill>
          <a:ln w="25400" cap="flat" cmpd="sng" algn="ctr">
            <a:solidFill>
              <a:schemeClr val="tx1"/>
            </a:solidFill>
            <a:prstDash val="solid"/>
            <a:round/>
            <a:headEnd type="none" w="med" len="med"/>
            <a:tailEnd type="arrow" w="med" len="med"/>
          </a:ln>
          <a:effectLst/>
        </p:spPr>
        <p:txBody>
          <a:bodyPr rtlCol="0" anchor="ctr"/>
          <a:lstStyle/>
          <a:p>
            <a:pPr algn="ctr"/>
            <a:endParaRPr lang="en-US"/>
          </a:p>
        </p:txBody>
      </p:sp>
    </p:spTree>
    <p:extLst>
      <p:ext uri="{BB962C8B-B14F-4D97-AF65-F5344CB8AC3E}">
        <p14:creationId xmlns:p14="http://schemas.microsoft.com/office/powerpoint/2010/main" val="4203636573"/>
      </p:ext>
    </p:extLst>
  </p:cSld>
  <p:clrMapOvr>
    <a:masterClrMapping/>
  </p:clrMapOvr>
  <p:timing>
    <p:tnLst>
      <p:par>
        <p:cTn xmlns:p14="http://schemas.microsoft.com/office/powerpoint/2010/mai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18" y="435678"/>
            <a:ext cx="8482182" cy="762000"/>
          </a:xfrm>
        </p:spPr>
        <p:txBody>
          <a:bodyPr/>
          <a:lstStyle/>
          <a:p>
            <a:r>
              <a:rPr lang="en-US" dirty="0" smtClean="0"/>
              <a:t>Multiprocessing: The (Modern) Reality</a:t>
            </a:r>
            <a:endParaRPr lang="en-US" dirty="0"/>
          </a:p>
        </p:txBody>
      </p:sp>
      <p:sp>
        <p:nvSpPr>
          <p:cNvPr id="4" name="Text Placeholder 3"/>
          <p:cNvSpPr>
            <a:spLocks noGrp="1"/>
          </p:cNvSpPr>
          <p:nvPr>
            <p:ph idx="1"/>
          </p:nvPr>
        </p:nvSpPr>
        <p:spPr>
          <a:xfrm>
            <a:off x="4343401" y="4110038"/>
            <a:ext cx="4952999" cy="2671762"/>
          </a:xfrm>
        </p:spPr>
        <p:txBody>
          <a:bodyPr/>
          <a:lstStyle/>
          <a:p>
            <a:r>
              <a:rPr lang="en-US" dirty="0" smtClean="0"/>
              <a:t>Multicore processors</a:t>
            </a:r>
          </a:p>
          <a:p>
            <a:pPr marL="519113" lvl="1" indent="-179388"/>
            <a:r>
              <a:rPr lang="en-US" dirty="0" smtClean="0"/>
              <a:t>Multiple CPUs on single chip</a:t>
            </a:r>
          </a:p>
          <a:p>
            <a:pPr marL="519113" lvl="1" indent="-179388"/>
            <a:r>
              <a:rPr lang="en-US" dirty="0" smtClean="0"/>
              <a:t>Share main memory (and some caches)</a:t>
            </a:r>
          </a:p>
          <a:p>
            <a:pPr marL="519113" lvl="1" indent="-179388"/>
            <a:r>
              <a:rPr lang="en-US" dirty="0" smtClean="0"/>
              <a:t>Each can execute a separate process</a:t>
            </a:r>
          </a:p>
          <a:p>
            <a:pPr marL="687388" lvl="2" indent="-168275"/>
            <a:r>
              <a:rPr lang="en-US" dirty="0" smtClean="0"/>
              <a:t>Scheduling of processors onto cores done by kernel</a:t>
            </a:r>
          </a:p>
          <a:p>
            <a:endParaRPr lang="en-US" dirty="0"/>
          </a:p>
        </p:txBody>
      </p:sp>
      <p:sp>
        <p:nvSpPr>
          <p:cNvPr id="17" name="Rectangle 16"/>
          <p:cNvSpPr/>
          <p:nvPr/>
        </p:nvSpPr>
        <p:spPr bwMode="auto">
          <a:xfrm>
            <a:off x="2590800" y="4038600"/>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t>CPU</a:t>
            </a:r>
            <a:endParaRPr lang="en-US" dirty="0"/>
          </a:p>
        </p:txBody>
      </p:sp>
      <p:sp>
        <p:nvSpPr>
          <p:cNvPr id="18" name="Rectangle 17"/>
          <p:cNvSpPr/>
          <p:nvPr/>
        </p:nvSpPr>
        <p:spPr bwMode="auto">
          <a:xfrm>
            <a:off x="2729116" y="4495800"/>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Registers</a:t>
            </a:r>
            <a:endParaRPr lang="en-US" sz="1800" dirty="0"/>
          </a:p>
        </p:txBody>
      </p:sp>
      <p:sp>
        <p:nvSpPr>
          <p:cNvPr id="23" name="Rectangle 22"/>
          <p:cNvSpPr/>
          <p:nvPr/>
        </p:nvSpPr>
        <p:spPr bwMode="auto">
          <a:xfrm>
            <a:off x="751396" y="1219200"/>
            <a:ext cx="6030404" cy="2506896"/>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t>Memory</a:t>
            </a:r>
            <a:endParaRPr lang="en-US" dirty="0"/>
          </a:p>
        </p:txBody>
      </p:sp>
      <p:sp>
        <p:nvSpPr>
          <p:cNvPr id="28" name="Rectangle 27"/>
          <p:cNvSpPr/>
          <p:nvPr/>
        </p:nvSpPr>
        <p:spPr bwMode="auto">
          <a:xfrm>
            <a:off x="1040386" y="1789587"/>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Stac</a:t>
            </a:r>
            <a:r>
              <a:rPr lang="en-US" sz="1800" dirty="0"/>
              <a:t>k</a:t>
            </a:r>
          </a:p>
        </p:txBody>
      </p:sp>
      <p:sp>
        <p:nvSpPr>
          <p:cNvPr id="29" name="Rectangle 28"/>
          <p:cNvSpPr/>
          <p:nvPr/>
        </p:nvSpPr>
        <p:spPr bwMode="auto">
          <a:xfrm>
            <a:off x="1040386" y="20943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Heap</a:t>
            </a:r>
            <a:endParaRPr lang="en-US" sz="1800" dirty="0"/>
          </a:p>
        </p:txBody>
      </p:sp>
      <p:sp>
        <p:nvSpPr>
          <p:cNvPr id="30" name="Rectangle 29"/>
          <p:cNvSpPr/>
          <p:nvPr/>
        </p:nvSpPr>
        <p:spPr bwMode="auto">
          <a:xfrm>
            <a:off x="1040386" y="266717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Code</a:t>
            </a:r>
            <a:endParaRPr lang="en-US" sz="1800" dirty="0"/>
          </a:p>
        </p:txBody>
      </p:sp>
      <p:sp>
        <p:nvSpPr>
          <p:cNvPr id="31" name="Rectangle 30"/>
          <p:cNvSpPr/>
          <p:nvPr/>
        </p:nvSpPr>
        <p:spPr bwMode="auto">
          <a:xfrm>
            <a:off x="1040386" y="2383092"/>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Data</a:t>
            </a:r>
            <a:endParaRPr lang="en-US" sz="1800" dirty="0"/>
          </a:p>
        </p:txBody>
      </p:sp>
      <p:sp>
        <p:nvSpPr>
          <p:cNvPr id="32" name="Rectangle 31"/>
          <p:cNvSpPr/>
          <p:nvPr/>
        </p:nvSpPr>
        <p:spPr bwMode="auto">
          <a:xfrm>
            <a:off x="2514600" y="1668696"/>
            <a:ext cx="1538084" cy="3436704"/>
          </a:xfrm>
          <a:prstGeom prst="rect">
            <a:avLst/>
          </a:prstGeom>
          <a:noFill/>
          <a:ln w="25400" cap="flat" cmpd="sng" algn="ctr">
            <a:solidFill>
              <a:schemeClr val="tx1"/>
            </a:solidFill>
            <a:prstDash val="dot"/>
            <a:round/>
            <a:headEnd type="none" w="med" len="med"/>
            <a:tailEnd type="arrow" w="med" len="med"/>
          </a:ln>
          <a:effectLst/>
        </p:spPr>
        <p:txBody>
          <a:bodyPr rtlCol="0" anchor="ctr"/>
          <a:lstStyle/>
          <a:p>
            <a:pPr algn="ctr"/>
            <a:endParaRPr lang="en-US">
              <a:ln>
                <a:solidFill>
                  <a:schemeClr val="tx1"/>
                </a:solidFill>
                <a:prstDash val="dash"/>
              </a:ln>
            </a:endParaRPr>
          </a:p>
        </p:txBody>
      </p:sp>
      <p:sp>
        <p:nvSpPr>
          <p:cNvPr id="37" name="Rectangle 36"/>
          <p:cNvSpPr/>
          <p:nvPr/>
        </p:nvSpPr>
        <p:spPr bwMode="auto">
          <a:xfrm>
            <a:off x="2730870" y="17895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Stac</a:t>
            </a:r>
            <a:r>
              <a:rPr lang="en-US" sz="1800" dirty="0"/>
              <a:t>k</a:t>
            </a:r>
          </a:p>
        </p:txBody>
      </p:sp>
      <p:sp>
        <p:nvSpPr>
          <p:cNvPr id="38" name="Rectangle 37"/>
          <p:cNvSpPr/>
          <p:nvPr/>
        </p:nvSpPr>
        <p:spPr bwMode="auto">
          <a:xfrm>
            <a:off x="2730870" y="2094390"/>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Heap</a:t>
            </a:r>
            <a:endParaRPr lang="en-US" sz="1800" dirty="0"/>
          </a:p>
        </p:txBody>
      </p:sp>
      <p:sp>
        <p:nvSpPr>
          <p:cNvPr id="39" name="Rectangle 38"/>
          <p:cNvSpPr/>
          <p:nvPr/>
        </p:nvSpPr>
        <p:spPr bwMode="auto">
          <a:xfrm>
            <a:off x="2730870" y="2667175"/>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Code</a:t>
            </a:r>
            <a:endParaRPr lang="en-US" sz="1800" dirty="0"/>
          </a:p>
        </p:txBody>
      </p:sp>
      <p:sp>
        <p:nvSpPr>
          <p:cNvPr id="40" name="Rectangle 39"/>
          <p:cNvSpPr/>
          <p:nvPr/>
        </p:nvSpPr>
        <p:spPr bwMode="auto">
          <a:xfrm>
            <a:off x="2730870" y="238309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Data</a:t>
            </a:r>
            <a:endParaRPr lang="en-US" sz="1800" dirty="0"/>
          </a:p>
        </p:txBody>
      </p:sp>
      <p:sp>
        <p:nvSpPr>
          <p:cNvPr id="42" name="Rectangle 41"/>
          <p:cNvSpPr/>
          <p:nvPr/>
        </p:nvSpPr>
        <p:spPr bwMode="auto">
          <a:xfrm>
            <a:off x="5321670" y="17895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Stac</a:t>
            </a:r>
            <a:r>
              <a:rPr lang="en-US" sz="1800" dirty="0"/>
              <a:t>k</a:t>
            </a:r>
          </a:p>
        </p:txBody>
      </p:sp>
      <p:sp>
        <p:nvSpPr>
          <p:cNvPr id="43" name="Rectangle 42"/>
          <p:cNvSpPr/>
          <p:nvPr/>
        </p:nvSpPr>
        <p:spPr bwMode="auto">
          <a:xfrm>
            <a:off x="5321670" y="20943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Heap</a:t>
            </a:r>
            <a:endParaRPr lang="en-US" sz="1800" dirty="0"/>
          </a:p>
        </p:txBody>
      </p:sp>
      <p:sp>
        <p:nvSpPr>
          <p:cNvPr id="44" name="Rectangle 43"/>
          <p:cNvSpPr/>
          <p:nvPr/>
        </p:nvSpPr>
        <p:spPr bwMode="auto">
          <a:xfrm>
            <a:off x="5321670" y="266717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Code</a:t>
            </a:r>
            <a:endParaRPr lang="en-US" sz="1800" dirty="0"/>
          </a:p>
        </p:txBody>
      </p:sp>
      <p:sp>
        <p:nvSpPr>
          <p:cNvPr id="45" name="Rectangle 44"/>
          <p:cNvSpPr/>
          <p:nvPr/>
        </p:nvSpPr>
        <p:spPr bwMode="auto">
          <a:xfrm>
            <a:off x="5321670" y="238309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Data</a:t>
            </a:r>
            <a:endParaRPr lang="en-US" sz="1800" dirty="0"/>
          </a:p>
        </p:txBody>
      </p:sp>
      <p:sp>
        <p:nvSpPr>
          <p:cNvPr id="46" name="Rectangle 45"/>
          <p:cNvSpPr/>
          <p:nvPr/>
        </p:nvSpPr>
        <p:spPr bwMode="auto">
          <a:xfrm>
            <a:off x="5321670" y="3040298"/>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Saved registers</a:t>
            </a:r>
            <a:endParaRPr lang="en-US" sz="1800" dirty="0"/>
          </a:p>
        </p:txBody>
      </p:sp>
      <p:sp>
        <p:nvSpPr>
          <p:cNvPr id="47" name="TextBox 46"/>
          <p:cNvSpPr txBox="1"/>
          <p:nvPr/>
        </p:nvSpPr>
        <p:spPr>
          <a:xfrm>
            <a:off x="4343400" y="2165366"/>
            <a:ext cx="513106" cy="646331"/>
          </a:xfrm>
          <a:prstGeom prst="rect">
            <a:avLst/>
          </a:prstGeom>
          <a:noFill/>
        </p:spPr>
        <p:txBody>
          <a:bodyPr wrap="none" rtlCol="0">
            <a:spAutoFit/>
          </a:bodyPr>
          <a:lstStyle/>
          <a:p>
            <a:r>
              <a:rPr lang="en-US" sz="3600" dirty="0" smtClean="0">
                <a:latin typeface="Calibri" pitchFamily="34" charset="0"/>
              </a:rPr>
              <a:t>…</a:t>
            </a:r>
          </a:p>
        </p:txBody>
      </p:sp>
      <p:sp>
        <p:nvSpPr>
          <p:cNvPr id="49" name="Rectangle 48"/>
          <p:cNvSpPr/>
          <p:nvPr/>
        </p:nvSpPr>
        <p:spPr bwMode="auto">
          <a:xfrm>
            <a:off x="914400" y="4046304"/>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t>CPU</a:t>
            </a:r>
            <a:endParaRPr lang="en-US" dirty="0"/>
          </a:p>
        </p:txBody>
      </p:sp>
      <p:sp>
        <p:nvSpPr>
          <p:cNvPr id="50" name="Rectangle 49"/>
          <p:cNvSpPr/>
          <p:nvPr/>
        </p:nvSpPr>
        <p:spPr bwMode="auto">
          <a:xfrm>
            <a:off x="1052716" y="4503504"/>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t>Registers</a:t>
            </a:r>
            <a:endParaRPr lang="en-US" sz="1800" dirty="0"/>
          </a:p>
        </p:txBody>
      </p:sp>
      <p:sp>
        <p:nvSpPr>
          <p:cNvPr id="51" name="Rectangle 50"/>
          <p:cNvSpPr/>
          <p:nvPr/>
        </p:nvSpPr>
        <p:spPr bwMode="auto">
          <a:xfrm>
            <a:off x="838200" y="1676400"/>
            <a:ext cx="1538084" cy="3436704"/>
          </a:xfrm>
          <a:prstGeom prst="rect">
            <a:avLst/>
          </a:prstGeom>
          <a:noFill/>
          <a:ln w="25400" cap="flat" cmpd="sng" algn="ctr">
            <a:solidFill>
              <a:schemeClr val="tx1"/>
            </a:solidFill>
            <a:prstDash val="dot"/>
            <a:round/>
            <a:headEnd type="none" w="med" len="med"/>
            <a:tailEnd type="arrow" w="med" len="med"/>
          </a:ln>
          <a:effectLst/>
        </p:spPr>
        <p:txBody>
          <a:bodyPr rtlCol="0" anchor="ctr"/>
          <a:lstStyle/>
          <a:p>
            <a:pPr algn="ctr"/>
            <a:endParaRPr lang="en-US">
              <a:ln>
                <a:solidFill>
                  <a:schemeClr val="tx1"/>
                </a:solidFill>
                <a:prstDash val="dash"/>
              </a:ln>
            </a:endParaRPr>
          </a:p>
        </p:txBody>
      </p:sp>
    </p:spTree>
    <p:extLst>
      <p:ext uri="{BB962C8B-B14F-4D97-AF65-F5344CB8AC3E}">
        <p14:creationId xmlns:p14="http://schemas.microsoft.com/office/powerpoint/2010/main" val="2440669178"/>
      </p:ext>
    </p:extLst>
  </p:cSld>
  <p:clrMapOvr>
    <a:masterClrMapping/>
  </p:clrMapOvr>
  <p:timing>
    <p:tnLst>
      <p:par>
        <p:cTn xmlns:p14="http://schemas.microsoft.com/office/powerpoint/2010/mai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2"/>
          <p:cNvSpPr>
            <a:spLocks noGrp="1" noChangeArrowheads="1"/>
          </p:cNvSpPr>
          <p:nvPr>
            <p:ph type="title"/>
          </p:nvPr>
        </p:nvSpPr>
        <p:spPr>
          <a:xfrm>
            <a:off x="406400" y="493712"/>
            <a:ext cx="6070600" cy="573088"/>
          </a:xfrm>
        </p:spPr>
        <p:txBody>
          <a:bodyPr/>
          <a:lstStyle/>
          <a:p>
            <a:r>
              <a:rPr lang="en-US" dirty="0"/>
              <a:t>Concurrent </a:t>
            </a:r>
            <a:r>
              <a:rPr lang="en-US" dirty="0" smtClean="0"/>
              <a:t>Processes</a:t>
            </a:r>
            <a:endParaRPr lang="en-US" dirty="0"/>
          </a:p>
        </p:txBody>
      </p:sp>
      <p:sp>
        <p:nvSpPr>
          <p:cNvPr id="485379" name="Rectangle 3"/>
          <p:cNvSpPr>
            <a:spLocks noGrp="1" noChangeArrowheads="1"/>
          </p:cNvSpPr>
          <p:nvPr>
            <p:ph type="body" idx="1"/>
          </p:nvPr>
        </p:nvSpPr>
        <p:spPr>
          <a:xfrm>
            <a:off x="409575" y="1219200"/>
            <a:ext cx="7896225" cy="2590800"/>
          </a:xfrm>
        </p:spPr>
        <p:txBody>
          <a:bodyPr/>
          <a:lstStyle/>
          <a:p>
            <a:r>
              <a:rPr lang="en-US" dirty="0" smtClean="0"/>
              <a:t>Each process is a logical control flow. </a:t>
            </a:r>
          </a:p>
          <a:p>
            <a:r>
              <a:rPr lang="en-US" dirty="0" smtClean="0"/>
              <a:t>Two </a:t>
            </a:r>
            <a:r>
              <a:rPr lang="en-US" dirty="0"/>
              <a:t>processes </a:t>
            </a:r>
            <a:r>
              <a:rPr lang="en-US" i="1" dirty="0"/>
              <a:t>run </a:t>
            </a:r>
            <a:r>
              <a:rPr lang="en-US" i="1" dirty="0">
                <a:solidFill>
                  <a:srgbClr val="C00000"/>
                </a:solidFill>
              </a:rPr>
              <a:t>concurrently</a:t>
            </a:r>
            <a:r>
              <a:rPr lang="en-US" dirty="0"/>
              <a:t> (</a:t>
            </a:r>
            <a:r>
              <a:rPr lang="en-US" i="1" dirty="0"/>
              <a:t>are concurrent)</a:t>
            </a:r>
            <a:r>
              <a:rPr lang="en-US" dirty="0"/>
              <a:t> if their flows overlap in time</a:t>
            </a:r>
          </a:p>
          <a:p>
            <a:r>
              <a:rPr lang="en-US" dirty="0"/>
              <a:t>Otherwise, they are </a:t>
            </a:r>
            <a:r>
              <a:rPr lang="en-US" i="1" dirty="0" smtClean="0">
                <a:solidFill>
                  <a:srgbClr val="C00000"/>
                </a:solidFill>
              </a:rPr>
              <a:t>sequential</a:t>
            </a:r>
            <a:endParaRPr lang="en-US" dirty="0">
              <a:solidFill>
                <a:srgbClr val="C00000"/>
              </a:solidFill>
            </a:endParaRPr>
          </a:p>
          <a:p>
            <a:r>
              <a:rPr lang="en-US" dirty="0" smtClean="0"/>
              <a:t>Examples (running on single core):</a:t>
            </a:r>
            <a:endParaRPr lang="en-US" dirty="0"/>
          </a:p>
          <a:p>
            <a:pPr lvl="1"/>
            <a:r>
              <a:rPr lang="en-US" dirty="0"/>
              <a:t>Concurrent: A &amp; B, A &amp; C</a:t>
            </a:r>
          </a:p>
          <a:p>
            <a:pPr lvl="1"/>
            <a:r>
              <a:rPr lang="en-US" dirty="0"/>
              <a:t>Sequential: B &amp; </a:t>
            </a:r>
            <a:r>
              <a:rPr lang="en-US" dirty="0" smtClean="0"/>
              <a:t>C</a:t>
            </a:r>
            <a:endParaRPr lang="en-US" dirty="0"/>
          </a:p>
        </p:txBody>
      </p:sp>
      <p:sp>
        <p:nvSpPr>
          <p:cNvPr id="485383" name="Line 7"/>
          <p:cNvSpPr>
            <a:spLocks noChangeShapeType="1"/>
          </p:cNvSpPr>
          <p:nvPr/>
        </p:nvSpPr>
        <p:spPr bwMode="auto">
          <a:xfrm>
            <a:off x="3124200" y="46482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485384" name="Text Box 8"/>
          <p:cNvSpPr txBox="1">
            <a:spLocks noChangeArrowheads="1"/>
          </p:cNvSpPr>
          <p:nvPr/>
        </p:nvSpPr>
        <p:spPr bwMode="auto">
          <a:xfrm>
            <a:off x="2622332" y="4267200"/>
            <a:ext cx="999697" cy="338554"/>
          </a:xfrm>
          <a:prstGeom prst="rect">
            <a:avLst/>
          </a:prstGeom>
          <a:noFill/>
          <a:ln w="25400">
            <a:noFill/>
            <a:miter lim="800000"/>
            <a:headEnd/>
            <a:tailEnd/>
          </a:ln>
          <a:effectLst/>
        </p:spPr>
        <p:txBody>
          <a:bodyPr wrap="none">
            <a:spAutoFit/>
          </a:bodyPr>
          <a:lstStyle/>
          <a:p>
            <a:pPr algn="l">
              <a:lnSpc>
                <a:spcPct val="100000"/>
              </a:lnSpc>
            </a:pPr>
            <a:r>
              <a:rPr lang="en-US" sz="1600" i="1" dirty="0">
                <a:solidFill>
                  <a:srgbClr val="C00000"/>
                </a:solidFill>
                <a:latin typeface="Calibri" pitchFamily="34" charset="0"/>
              </a:rPr>
              <a:t>Process A</a:t>
            </a:r>
          </a:p>
        </p:txBody>
      </p:sp>
      <p:sp>
        <p:nvSpPr>
          <p:cNvPr id="485385" name="Text Box 9"/>
          <p:cNvSpPr txBox="1">
            <a:spLocks noChangeArrowheads="1"/>
          </p:cNvSpPr>
          <p:nvPr/>
        </p:nvSpPr>
        <p:spPr bwMode="auto">
          <a:xfrm>
            <a:off x="4146332" y="4267200"/>
            <a:ext cx="990079" cy="338554"/>
          </a:xfrm>
          <a:prstGeom prst="rect">
            <a:avLst/>
          </a:prstGeom>
          <a:noFill/>
          <a:ln w="25400">
            <a:noFill/>
            <a:miter lim="800000"/>
            <a:headEnd/>
            <a:tailEnd/>
          </a:ln>
          <a:effectLst/>
        </p:spPr>
        <p:txBody>
          <a:bodyPr wrap="none">
            <a:spAutoFit/>
          </a:bodyPr>
          <a:lstStyle/>
          <a:p>
            <a:pPr algn="l">
              <a:lnSpc>
                <a:spcPct val="100000"/>
              </a:lnSpc>
            </a:pPr>
            <a:r>
              <a:rPr lang="en-US" sz="1600" i="1" dirty="0">
                <a:solidFill>
                  <a:srgbClr val="C00000"/>
                </a:solidFill>
                <a:latin typeface="Calibri" pitchFamily="34" charset="0"/>
              </a:rPr>
              <a:t>Process B</a:t>
            </a:r>
          </a:p>
        </p:txBody>
      </p:sp>
      <p:sp>
        <p:nvSpPr>
          <p:cNvPr id="485386" name="Text Box 10"/>
          <p:cNvSpPr txBox="1">
            <a:spLocks noChangeArrowheads="1"/>
          </p:cNvSpPr>
          <p:nvPr/>
        </p:nvSpPr>
        <p:spPr bwMode="auto">
          <a:xfrm>
            <a:off x="5670332" y="4267200"/>
            <a:ext cx="983667" cy="338554"/>
          </a:xfrm>
          <a:prstGeom prst="rect">
            <a:avLst/>
          </a:prstGeom>
          <a:noFill/>
          <a:ln w="25400">
            <a:noFill/>
            <a:miter lim="800000"/>
            <a:headEnd/>
            <a:tailEnd/>
          </a:ln>
          <a:effectLst/>
        </p:spPr>
        <p:txBody>
          <a:bodyPr wrap="none">
            <a:spAutoFit/>
          </a:bodyPr>
          <a:lstStyle/>
          <a:p>
            <a:pPr algn="l">
              <a:lnSpc>
                <a:spcPct val="100000"/>
              </a:lnSpc>
            </a:pPr>
            <a:r>
              <a:rPr lang="en-US" sz="1600" i="1" dirty="0">
                <a:solidFill>
                  <a:srgbClr val="C00000"/>
                </a:solidFill>
                <a:latin typeface="Calibri" pitchFamily="34" charset="0"/>
              </a:rPr>
              <a:t>Process C</a:t>
            </a:r>
          </a:p>
        </p:txBody>
      </p:sp>
      <p:sp>
        <p:nvSpPr>
          <p:cNvPr id="485387" name="Line 11"/>
          <p:cNvSpPr>
            <a:spLocks noChangeShapeType="1"/>
          </p:cNvSpPr>
          <p:nvPr/>
        </p:nvSpPr>
        <p:spPr bwMode="auto">
          <a:xfrm>
            <a:off x="4648200" y="49530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485388" name="Line 12"/>
          <p:cNvSpPr>
            <a:spLocks noChangeShapeType="1"/>
          </p:cNvSpPr>
          <p:nvPr/>
        </p:nvSpPr>
        <p:spPr bwMode="auto">
          <a:xfrm>
            <a:off x="6172200" y="52578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485389" name="Line 13"/>
          <p:cNvSpPr>
            <a:spLocks noChangeShapeType="1"/>
          </p:cNvSpPr>
          <p:nvPr/>
        </p:nvSpPr>
        <p:spPr bwMode="auto">
          <a:xfrm>
            <a:off x="3124200" y="55626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485390" name="Line 14"/>
          <p:cNvSpPr>
            <a:spLocks noChangeShapeType="1"/>
          </p:cNvSpPr>
          <p:nvPr/>
        </p:nvSpPr>
        <p:spPr bwMode="auto">
          <a:xfrm>
            <a:off x="6172200" y="58674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485391" name="Line 15"/>
          <p:cNvSpPr>
            <a:spLocks noChangeShapeType="1"/>
          </p:cNvSpPr>
          <p:nvPr/>
        </p:nvSpPr>
        <p:spPr bwMode="auto">
          <a:xfrm>
            <a:off x="2667000" y="49530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485392" name="Line 16"/>
          <p:cNvSpPr>
            <a:spLocks noChangeShapeType="1"/>
          </p:cNvSpPr>
          <p:nvPr/>
        </p:nvSpPr>
        <p:spPr bwMode="auto">
          <a:xfrm>
            <a:off x="2667000" y="52578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485393" name="Line 17"/>
          <p:cNvSpPr>
            <a:spLocks noChangeShapeType="1"/>
          </p:cNvSpPr>
          <p:nvPr/>
        </p:nvSpPr>
        <p:spPr bwMode="auto">
          <a:xfrm>
            <a:off x="2667000" y="55626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485394" name="Line 18"/>
          <p:cNvSpPr>
            <a:spLocks noChangeShapeType="1"/>
          </p:cNvSpPr>
          <p:nvPr/>
        </p:nvSpPr>
        <p:spPr bwMode="auto">
          <a:xfrm>
            <a:off x="2667000" y="58674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485395" name="Line 19"/>
          <p:cNvSpPr>
            <a:spLocks noChangeShapeType="1"/>
          </p:cNvSpPr>
          <p:nvPr/>
        </p:nvSpPr>
        <p:spPr bwMode="auto">
          <a:xfrm>
            <a:off x="2667000" y="61722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20" name="Text Box 1031"/>
          <p:cNvSpPr txBox="1">
            <a:spLocks noChangeArrowheads="1"/>
          </p:cNvSpPr>
          <p:nvPr/>
        </p:nvSpPr>
        <p:spPr bwMode="auto">
          <a:xfrm>
            <a:off x="1010947" y="5177135"/>
            <a:ext cx="817853" cy="461665"/>
          </a:xfrm>
          <a:prstGeom prst="rect">
            <a:avLst/>
          </a:prstGeom>
          <a:noFill/>
          <a:ln w="25400">
            <a:noFill/>
            <a:miter lim="800000"/>
            <a:headEnd/>
            <a:tailEnd/>
          </a:ln>
          <a:effectLst/>
        </p:spPr>
        <p:txBody>
          <a:bodyPr wrap="square">
            <a:spAutoFit/>
          </a:bodyPr>
          <a:lstStyle/>
          <a:p>
            <a:pPr algn="l">
              <a:lnSpc>
                <a:spcPct val="100000"/>
              </a:lnSpc>
            </a:pPr>
            <a:r>
              <a:rPr lang="en-US" dirty="0">
                <a:latin typeface="Calibri" pitchFamily="34" charset="0"/>
              </a:rPr>
              <a:t>Time</a:t>
            </a:r>
          </a:p>
        </p:txBody>
      </p:sp>
      <p:sp>
        <p:nvSpPr>
          <p:cNvPr id="21" name="Down Arrow 20"/>
          <p:cNvSpPr/>
          <p:nvPr/>
        </p:nvSpPr>
        <p:spPr bwMode="auto">
          <a:xfrm>
            <a:off x="1752600" y="4800600"/>
            <a:ext cx="457200" cy="1600200"/>
          </a:xfrm>
          <a:prstGeom prst="downArrow">
            <a:avLst/>
          </a:prstGeom>
          <a:solidFill>
            <a:schemeClr val="bg1">
              <a:lumMod val="6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Tree>
    <p:extLst>
      <p:ext uri="{BB962C8B-B14F-4D97-AF65-F5344CB8AC3E}">
        <p14:creationId xmlns:p14="http://schemas.microsoft.com/office/powerpoint/2010/main" val="422000795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5379">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538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538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538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8538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538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8538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8538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8539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8539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8539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539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8539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8539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85379">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853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383" grpId="0" animBg="1"/>
      <p:bldP spid="485384" grpId="0"/>
      <p:bldP spid="485385" grpId="0"/>
      <p:bldP spid="485386" grpId="0"/>
      <p:bldP spid="485387" grpId="0" animBg="1"/>
      <p:bldP spid="485388" grpId="0" animBg="1"/>
      <p:bldP spid="485389" grpId="0" animBg="1"/>
      <p:bldP spid="485390" grpId="0" animBg="1"/>
      <p:bldP spid="485391" grpId="0" animBg="1"/>
      <p:bldP spid="485392" grpId="0" animBg="1"/>
      <p:bldP spid="485393" grpId="0" animBg="1"/>
      <p:bldP spid="485394" grpId="0" animBg="1"/>
      <p:bldP spid="485395" grpId="0" animBg="1"/>
      <p:bldP spid="20" grpId="0"/>
      <p:bldP spid="21"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a:xfrm>
            <a:off x="381000" y="533400"/>
            <a:ext cx="8458200" cy="573088"/>
          </a:xfrm>
        </p:spPr>
        <p:txBody>
          <a:bodyPr/>
          <a:lstStyle/>
          <a:p>
            <a:r>
              <a:rPr lang="en-US"/>
              <a:t>User View of Concurrent Processes</a:t>
            </a:r>
          </a:p>
        </p:txBody>
      </p:sp>
      <p:sp>
        <p:nvSpPr>
          <p:cNvPr id="486403" name="Rectangle 3"/>
          <p:cNvSpPr>
            <a:spLocks noGrp="1" noChangeArrowheads="1"/>
          </p:cNvSpPr>
          <p:nvPr>
            <p:ph type="body" idx="1"/>
          </p:nvPr>
        </p:nvSpPr>
        <p:spPr>
          <a:xfrm>
            <a:off x="410031" y="1285875"/>
            <a:ext cx="7896225" cy="1990725"/>
          </a:xfrm>
        </p:spPr>
        <p:txBody>
          <a:bodyPr/>
          <a:lstStyle/>
          <a:p>
            <a:r>
              <a:rPr lang="en-US" dirty="0"/>
              <a:t>Control flows for concurrent processes are physically disjoint in </a:t>
            </a:r>
            <a:r>
              <a:rPr lang="en-US" dirty="0" smtClean="0"/>
              <a:t>time</a:t>
            </a:r>
            <a:endParaRPr lang="en-US" dirty="0"/>
          </a:p>
          <a:p>
            <a:endParaRPr lang="en-US" dirty="0" smtClean="0"/>
          </a:p>
          <a:p>
            <a:r>
              <a:rPr lang="en-US" dirty="0" smtClean="0"/>
              <a:t>However</a:t>
            </a:r>
            <a:r>
              <a:rPr lang="en-US" dirty="0"/>
              <a:t>, we can think of concurrent processes</a:t>
            </a:r>
            <a:r>
              <a:rPr lang="en-US" dirty="0" smtClean="0"/>
              <a:t> as </a:t>
            </a:r>
            <a:r>
              <a:rPr lang="en-US" dirty="0"/>
              <a:t>running in parallel with each </a:t>
            </a:r>
            <a:r>
              <a:rPr lang="en-US" dirty="0" smtClean="0"/>
              <a:t>other</a:t>
            </a:r>
            <a:endParaRPr lang="en-US" dirty="0"/>
          </a:p>
        </p:txBody>
      </p:sp>
      <p:sp>
        <p:nvSpPr>
          <p:cNvPr id="486405" name="Text Box 5"/>
          <p:cNvSpPr txBox="1">
            <a:spLocks noChangeArrowheads="1"/>
          </p:cNvSpPr>
          <p:nvPr/>
        </p:nvSpPr>
        <p:spPr bwMode="auto">
          <a:xfrm>
            <a:off x="1219200" y="4311650"/>
            <a:ext cx="817853" cy="461665"/>
          </a:xfrm>
          <a:prstGeom prst="rect">
            <a:avLst/>
          </a:prstGeom>
          <a:noFill/>
          <a:ln w="25400">
            <a:noFill/>
            <a:miter lim="800000"/>
            <a:headEnd/>
            <a:tailEnd/>
          </a:ln>
          <a:effectLst/>
        </p:spPr>
        <p:txBody>
          <a:bodyPr wrap="none">
            <a:spAutoFit/>
          </a:bodyPr>
          <a:lstStyle/>
          <a:p>
            <a:pPr algn="l">
              <a:lnSpc>
                <a:spcPct val="100000"/>
              </a:lnSpc>
            </a:pPr>
            <a:r>
              <a:rPr lang="en-US" dirty="0">
                <a:latin typeface="Calibri" pitchFamily="34" charset="0"/>
              </a:rPr>
              <a:t>Time</a:t>
            </a:r>
          </a:p>
        </p:txBody>
      </p:sp>
      <p:sp>
        <p:nvSpPr>
          <p:cNvPr id="486406" name="Line 6"/>
          <p:cNvSpPr>
            <a:spLocks noChangeShapeType="1"/>
          </p:cNvSpPr>
          <p:nvPr/>
        </p:nvSpPr>
        <p:spPr bwMode="auto">
          <a:xfrm>
            <a:off x="3276600" y="41910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486407" name="Text Box 7"/>
          <p:cNvSpPr txBox="1">
            <a:spLocks noChangeArrowheads="1"/>
          </p:cNvSpPr>
          <p:nvPr/>
        </p:nvSpPr>
        <p:spPr bwMode="auto">
          <a:xfrm>
            <a:off x="2709863" y="3810000"/>
            <a:ext cx="999697" cy="338554"/>
          </a:xfrm>
          <a:prstGeom prst="rect">
            <a:avLst/>
          </a:prstGeom>
          <a:noFill/>
          <a:ln w="25400">
            <a:noFill/>
            <a:miter lim="800000"/>
            <a:headEnd/>
            <a:tailEnd/>
          </a:ln>
          <a:effectLst/>
        </p:spPr>
        <p:txBody>
          <a:bodyPr wrap="none">
            <a:spAutoFit/>
          </a:bodyPr>
          <a:lstStyle/>
          <a:p>
            <a:pPr algn="l">
              <a:lnSpc>
                <a:spcPct val="100000"/>
              </a:lnSpc>
            </a:pPr>
            <a:r>
              <a:rPr lang="en-US" sz="1600" i="1" dirty="0">
                <a:solidFill>
                  <a:srgbClr val="C00000"/>
                </a:solidFill>
                <a:latin typeface="Calibri" pitchFamily="34" charset="0"/>
              </a:rPr>
              <a:t>Process A</a:t>
            </a:r>
          </a:p>
        </p:txBody>
      </p:sp>
      <p:sp>
        <p:nvSpPr>
          <p:cNvPr id="486408" name="Text Box 8"/>
          <p:cNvSpPr txBox="1">
            <a:spLocks noChangeArrowheads="1"/>
          </p:cNvSpPr>
          <p:nvPr/>
        </p:nvSpPr>
        <p:spPr bwMode="auto">
          <a:xfrm>
            <a:off x="4233863" y="3810000"/>
            <a:ext cx="990079" cy="338554"/>
          </a:xfrm>
          <a:prstGeom prst="rect">
            <a:avLst/>
          </a:prstGeom>
          <a:noFill/>
          <a:ln w="25400">
            <a:noFill/>
            <a:miter lim="800000"/>
            <a:headEnd/>
            <a:tailEnd/>
          </a:ln>
          <a:effectLst/>
        </p:spPr>
        <p:txBody>
          <a:bodyPr wrap="none">
            <a:spAutoFit/>
          </a:bodyPr>
          <a:lstStyle/>
          <a:p>
            <a:pPr algn="l">
              <a:lnSpc>
                <a:spcPct val="100000"/>
              </a:lnSpc>
            </a:pPr>
            <a:r>
              <a:rPr lang="en-US" sz="1600" i="1" dirty="0">
                <a:solidFill>
                  <a:srgbClr val="C00000"/>
                </a:solidFill>
                <a:latin typeface="Calibri" pitchFamily="34" charset="0"/>
              </a:rPr>
              <a:t>Process B</a:t>
            </a:r>
          </a:p>
        </p:txBody>
      </p:sp>
      <p:sp>
        <p:nvSpPr>
          <p:cNvPr id="486409" name="Text Box 9"/>
          <p:cNvSpPr txBox="1">
            <a:spLocks noChangeArrowheads="1"/>
          </p:cNvSpPr>
          <p:nvPr/>
        </p:nvSpPr>
        <p:spPr bwMode="auto">
          <a:xfrm>
            <a:off x="5757863" y="3810000"/>
            <a:ext cx="983667" cy="338554"/>
          </a:xfrm>
          <a:prstGeom prst="rect">
            <a:avLst/>
          </a:prstGeom>
          <a:noFill/>
          <a:ln w="25400">
            <a:noFill/>
            <a:miter lim="800000"/>
            <a:headEnd/>
            <a:tailEnd/>
          </a:ln>
          <a:effectLst/>
        </p:spPr>
        <p:txBody>
          <a:bodyPr wrap="none">
            <a:spAutoFit/>
          </a:bodyPr>
          <a:lstStyle/>
          <a:p>
            <a:pPr algn="l">
              <a:lnSpc>
                <a:spcPct val="100000"/>
              </a:lnSpc>
            </a:pPr>
            <a:r>
              <a:rPr lang="en-US" sz="1600" i="1" dirty="0">
                <a:solidFill>
                  <a:srgbClr val="C00000"/>
                </a:solidFill>
                <a:latin typeface="Calibri" pitchFamily="34" charset="0"/>
              </a:rPr>
              <a:t>Process C</a:t>
            </a:r>
          </a:p>
        </p:txBody>
      </p:sp>
      <p:sp>
        <p:nvSpPr>
          <p:cNvPr id="486410" name="Line 10"/>
          <p:cNvSpPr>
            <a:spLocks noChangeShapeType="1"/>
          </p:cNvSpPr>
          <p:nvPr/>
        </p:nvSpPr>
        <p:spPr bwMode="auto">
          <a:xfrm>
            <a:off x="4800600" y="43434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486411" name="Line 11"/>
          <p:cNvSpPr>
            <a:spLocks noChangeShapeType="1"/>
          </p:cNvSpPr>
          <p:nvPr/>
        </p:nvSpPr>
        <p:spPr bwMode="auto">
          <a:xfrm>
            <a:off x="6324600" y="46482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486412" name="Line 12"/>
          <p:cNvSpPr>
            <a:spLocks noChangeShapeType="1"/>
          </p:cNvSpPr>
          <p:nvPr/>
        </p:nvSpPr>
        <p:spPr bwMode="auto">
          <a:xfrm>
            <a:off x="3276600" y="44958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486413" name="Line 13"/>
          <p:cNvSpPr>
            <a:spLocks noChangeShapeType="1"/>
          </p:cNvSpPr>
          <p:nvPr/>
        </p:nvSpPr>
        <p:spPr bwMode="auto">
          <a:xfrm>
            <a:off x="2819400" y="41910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486414" name="Line 14"/>
          <p:cNvSpPr>
            <a:spLocks noChangeShapeType="1"/>
          </p:cNvSpPr>
          <p:nvPr/>
        </p:nvSpPr>
        <p:spPr bwMode="auto">
          <a:xfrm>
            <a:off x="2819400" y="48006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486415" name="Line 15"/>
          <p:cNvSpPr>
            <a:spLocks noChangeShapeType="1"/>
          </p:cNvSpPr>
          <p:nvPr/>
        </p:nvSpPr>
        <p:spPr bwMode="auto">
          <a:xfrm>
            <a:off x="6324600" y="4953000"/>
            <a:ext cx="0" cy="304800"/>
          </a:xfrm>
          <a:prstGeom prst="line">
            <a:avLst/>
          </a:prstGeom>
          <a:noFill/>
          <a:ln w="25400">
            <a:solidFill>
              <a:schemeClr val="tx1"/>
            </a:solidFill>
            <a:round/>
            <a:headEnd/>
            <a:tailEnd/>
          </a:ln>
          <a:effectLst/>
        </p:spPr>
        <p:txBody>
          <a:bodyPr wrap="none" anchor="ctr"/>
          <a:lstStyle/>
          <a:p>
            <a:endParaRPr lang="en-US" dirty="0">
              <a:latin typeface="Calibri" pitchFamily="34" charset="0"/>
            </a:endParaRPr>
          </a:p>
        </p:txBody>
      </p:sp>
      <p:sp>
        <p:nvSpPr>
          <p:cNvPr id="486416" name="Line 16"/>
          <p:cNvSpPr>
            <a:spLocks noChangeShapeType="1"/>
          </p:cNvSpPr>
          <p:nvPr/>
        </p:nvSpPr>
        <p:spPr bwMode="auto">
          <a:xfrm>
            <a:off x="2819400" y="43434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486417" name="Line 17"/>
          <p:cNvSpPr>
            <a:spLocks noChangeShapeType="1"/>
          </p:cNvSpPr>
          <p:nvPr/>
        </p:nvSpPr>
        <p:spPr bwMode="auto">
          <a:xfrm>
            <a:off x="2819400" y="4648200"/>
            <a:ext cx="4038600" cy="0"/>
          </a:xfrm>
          <a:prstGeom prst="line">
            <a:avLst/>
          </a:prstGeom>
          <a:noFill/>
          <a:ln w="3175">
            <a:solidFill>
              <a:schemeClr val="tx1"/>
            </a:solidFill>
            <a:prstDash val="dash"/>
            <a:round/>
            <a:headEnd/>
            <a:tailEnd/>
          </a:ln>
          <a:effectLst/>
        </p:spPr>
        <p:txBody>
          <a:bodyPr wrap="none" anchor="ctr"/>
          <a:lstStyle/>
          <a:p>
            <a:endParaRPr lang="en-US" dirty="0">
              <a:latin typeface="Calibri" pitchFamily="34" charset="0"/>
            </a:endParaRPr>
          </a:p>
        </p:txBody>
      </p:sp>
      <p:sp>
        <p:nvSpPr>
          <p:cNvPr id="18" name="Down Arrow 17"/>
          <p:cNvSpPr/>
          <p:nvPr/>
        </p:nvSpPr>
        <p:spPr bwMode="auto">
          <a:xfrm>
            <a:off x="1981200" y="4000500"/>
            <a:ext cx="457200" cy="1257300"/>
          </a:xfrm>
          <a:prstGeom prst="downArrow">
            <a:avLst/>
          </a:prstGeom>
          <a:solidFill>
            <a:schemeClr val="bg1">
              <a:lumMod val="6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Tree>
    <p:extLst>
      <p:ext uri="{BB962C8B-B14F-4D97-AF65-F5344CB8AC3E}">
        <p14:creationId xmlns:p14="http://schemas.microsoft.com/office/powerpoint/2010/main" val="1089201089"/>
      </p:ext>
    </p:extLst>
  </p:cSld>
  <p:clrMapOvr>
    <a:masterClrMapping/>
  </p:clrMapOvr>
  <p:timing>
    <p:tnLst>
      <p:par>
        <p:cTn xmlns:p14="http://schemas.microsoft.com/office/powerpoint/2010/mai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bwMode="auto">
          <a:xfrm>
            <a:off x="2120444" y="5485260"/>
            <a:ext cx="4495800" cy="425450"/>
          </a:xfrm>
          <a:prstGeom prst="rect">
            <a:avLst/>
          </a:prstGeom>
          <a:solidFill>
            <a:srgbClr val="F1C7C7"/>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36" name="Rectangle 35"/>
          <p:cNvSpPr/>
          <p:nvPr/>
        </p:nvSpPr>
        <p:spPr bwMode="auto">
          <a:xfrm>
            <a:off x="2120444" y="5059810"/>
            <a:ext cx="4495800" cy="425450"/>
          </a:xfrm>
          <a:prstGeom prst="rect">
            <a:avLst/>
          </a:prstGeom>
          <a:solidFill>
            <a:schemeClr val="bg1">
              <a:lumMod val="9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37" name="Rectangle 36"/>
          <p:cNvSpPr/>
          <p:nvPr/>
        </p:nvSpPr>
        <p:spPr bwMode="auto">
          <a:xfrm>
            <a:off x="2120444" y="5910710"/>
            <a:ext cx="4495800" cy="425450"/>
          </a:xfrm>
          <a:prstGeom prst="rect">
            <a:avLst/>
          </a:prstGeom>
          <a:solidFill>
            <a:schemeClr val="bg1">
              <a:lumMod val="9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34" name="Rectangle 33"/>
          <p:cNvSpPr/>
          <p:nvPr/>
        </p:nvSpPr>
        <p:spPr bwMode="auto">
          <a:xfrm>
            <a:off x="2120444" y="4628466"/>
            <a:ext cx="4495800" cy="425450"/>
          </a:xfrm>
          <a:prstGeom prst="rect">
            <a:avLst/>
          </a:prstGeom>
          <a:solidFill>
            <a:srgbClr val="F1C7C7"/>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33" name="Rectangle 32"/>
          <p:cNvSpPr/>
          <p:nvPr/>
        </p:nvSpPr>
        <p:spPr bwMode="auto">
          <a:xfrm>
            <a:off x="2120444" y="4203016"/>
            <a:ext cx="4495800" cy="425450"/>
          </a:xfrm>
          <a:prstGeom prst="rect">
            <a:avLst/>
          </a:prstGeom>
          <a:solidFill>
            <a:schemeClr val="bg1">
              <a:lumMod val="9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487426" name="Rectangle 2"/>
          <p:cNvSpPr>
            <a:spLocks noGrp="1" noChangeArrowheads="1"/>
          </p:cNvSpPr>
          <p:nvPr>
            <p:ph type="title"/>
          </p:nvPr>
        </p:nvSpPr>
        <p:spPr>
          <a:xfrm>
            <a:off x="380088" y="387578"/>
            <a:ext cx="5842000" cy="573088"/>
          </a:xfrm>
        </p:spPr>
        <p:txBody>
          <a:bodyPr/>
          <a:lstStyle/>
          <a:p>
            <a:r>
              <a:rPr lang="en-US"/>
              <a:t>Context Switching</a:t>
            </a:r>
          </a:p>
        </p:txBody>
      </p:sp>
      <p:sp>
        <p:nvSpPr>
          <p:cNvPr id="487427" name="Rectangle 3"/>
          <p:cNvSpPr>
            <a:spLocks noGrp="1" noChangeArrowheads="1"/>
          </p:cNvSpPr>
          <p:nvPr>
            <p:ph type="body" idx="1"/>
          </p:nvPr>
        </p:nvSpPr>
        <p:spPr>
          <a:xfrm>
            <a:off x="381000" y="1104900"/>
            <a:ext cx="8294687" cy="2552700"/>
          </a:xfrm>
        </p:spPr>
        <p:txBody>
          <a:bodyPr/>
          <a:lstStyle/>
          <a:p>
            <a:r>
              <a:rPr lang="en-US" dirty="0"/>
              <a:t>Processes are managed by a shared chunk of </a:t>
            </a:r>
            <a:r>
              <a:rPr lang="en-US" dirty="0" smtClean="0"/>
              <a:t>memory-resident OS </a:t>
            </a:r>
            <a:r>
              <a:rPr lang="en-US" dirty="0"/>
              <a:t>code </a:t>
            </a:r>
            <a:r>
              <a:rPr lang="en-US" dirty="0" smtClean="0"/>
              <a:t>called </a:t>
            </a:r>
            <a:r>
              <a:rPr lang="en-US" dirty="0"/>
              <a:t>the </a:t>
            </a:r>
            <a:r>
              <a:rPr lang="en-US" i="1" dirty="0">
                <a:solidFill>
                  <a:srgbClr val="C00000"/>
                </a:solidFill>
              </a:rPr>
              <a:t>kernel</a:t>
            </a:r>
          </a:p>
          <a:p>
            <a:pPr lvl="1"/>
            <a:r>
              <a:rPr lang="en-US" dirty="0"/>
              <a:t>Important: the kernel is not a separate process, but rather runs </a:t>
            </a:r>
            <a:r>
              <a:rPr lang="en-US" dirty="0" smtClean="0"/>
              <a:t>as part of some existing process.</a:t>
            </a:r>
            <a:endParaRPr lang="en-US" dirty="0"/>
          </a:p>
          <a:p>
            <a:r>
              <a:rPr lang="en-US" dirty="0"/>
              <a:t>Control flow passes from one process to another via a </a:t>
            </a:r>
            <a:r>
              <a:rPr lang="en-US" i="1" dirty="0">
                <a:solidFill>
                  <a:srgbClr val="C00000"/>
                </a:solidFill>
              </a:rPr>
              <a:t>context </a:t>
            </a:r>
            <a:r>
              <a:rPr lang="en-US" i="1" dirty="0" smtClean="0">
                <a:solidFill>
                  <a:srgbClr val="C00000"/>
                </a:solidFill>
              </a:rPr>
              <a:t>switch</a:t>
            </a:r>
            <a:endParaRPr lang="en-US" dirty="0">
              <a:solidFill>
                <a:srgbClr val="C00000"/>
              </a:solidFill>
            </a:endParaRPr>
          </a:p>
          <a:p>
            <a:pPr marL="457200" lvl="1" indent="0">
              <a:buNone/>
            </a:pPr>
            <a:endParaRPr lang="en-US" dirty="0"/>
          </a:p>
        </p:txBody>
      </p:sp>
      <p:sp>
        <p:nvSpPr>
          <p:cNvPr id="487428" name="Text Box 4"/>
          <p:cNvSpPr txBox="1">
            <a:spLocks noChangeArrowheads="1"/>
          </p:cNvSpPr>
          <p:nvPr/>
        </p:nvSpPr>
        <p:spPr bwMode="auto">
          <a:xfrm>
            <a:off x="2342466" y="3581400"/>
            <a:ext cx="1097160" cy="369332"/>
          </a:xfrm>
          <a:prstGeom prst="rect">
            <a:avLst/>
          </a:prstGeom>
          <a:noFill/>
          <a:ln w="25400">
            <a:noFill/>
            <a:miter lim="800000"/>
            <a:headEnd/>
            <a:tailEnd/>
          </a:ln>
          <a:effectLst/>
        </p:spPr>
        <p:txBody>
          <a:bodyPr wrap="none">
            <a:spAutoFit/>
          </a:bodyPr>
          <a:lstStyle/>
          <a:p>
            <a:pPr>
              <a:lnSpc>
                <a:spcPct val="100000"/>
              </a:lnSpc>
            </a:pPr>
            <a:r>
              <a:rPr lang="en-US" sz="1800" i="1" dirty="0">
                <a:solidFill>
                  <a:srgbClr val="C00000"/>
                </a:solidFill>
                <a:latin typeface="Calibri" pitchFamily="34" charset="0"/>
              </a:rPr>
              <a:t>Process </a:t>
            </a:r>
            <a:r>
              <a:rPr lang="en-US" sz="1800" i="1" dirty="0" smtClean="0">
                <a:solidFill>
                  <a:srgbClr val="C00000"/>
                </a:solidFill>
                <a:latin typeface="Calibri" pitchFamily="34" charset="0"/>
              </a:rPr>
              <a:t>A</a:t>
            </a:r>
            <a:endParaRPr lang="en-US" sz="1800" i="1" dirty="0">
              <a:solidFill>
                <a:srgbClr val="C00000"/>
              </a:solidFill>
              <a:latin typeface="Calibri" pitchFamily="34" charset="0"/>
            </a:endParaRPr>
          </a:p>
        </p:txBody>
      </p:sp>
      <p:sp>
        <p:nvSpPr>
          <p:cNvPr id="487429" name="Text Box 5"/>
          <p:cNvSpPr txBox="1">
            <a:spLocks noChangeArrowheads="1"/>
          </p:cNvSpPr>
          <p:nvPr/>
        </p:nvSpPr>
        <p:spPr bwMode="auto">
          <a:xfrm>
            <a:off x="3865458" y="3581400"/>
            <a:ext cx="1087542" cy="369332"/>
          </a:xfrm>
          <a:prstGeom prst="rect">
            <a:avLst/>
          </a:prstGeom>
          <a:noFill/>
          <a:ln w="25400">
            <a:noFill/>
            <a:miter lim="800000"/>
            <a:headEnd/>
            <a:tailEnd/>
          </a:ln>
          <a:effectLst/>
        </p:spPr>
        <p:txBody>
          <a:bodyPr wrap="none">
            <a:spAutoFit/>
          </a:bodyPr>
          <a:lstStyle/>
          <a:p>
            <a:pPr>
              <a:lnSpc>
                <a:spcPct val="100000"/>
              </a:lnSpc>
            </a:pPr>
            <a:r>
              <a:rPr lang="en-US" sz="1800" i="1" dirty="0">
                <a:solidFill>
                  <a:srgbClr val="C00000"/>
                </a:solidFill>
                <a:latin typeface="Calibri" pitchFamily="34" charset="0"/>
              </a:rPr>
              <a:t>Process </a:t>
            </a:r>
            <a:r>
              <a:rPr lang="en-US" sz="1800" i="1" dirty="0" smtClean="0">
                <a:solidFill>
                  <a:srgbClr val="C00000"/>
                </a:solidFill>
                <a:latin typeface="Calibri" pitchFamily="34" charset="0"/>
              </a:rPr>
              <a:t>B</a:t>
            </a:r>
            <a:endParaRPr lang="en-US" sz="1800" i="1" dirty="0">
              <a:solidFill>
                <a:srgbClr val="C00000"/>
              </a:solidFill>
              <a:latin typeface="Calibri" pitchFamily="34" charset="0"/>
            </a:endParaRPr>
          </a:p>
        </p:txBody>
      </p:sp>
      <p:sp>
        <p:nvSpPr>
          <p:cNvPr id="487430" name="Line 6"/>
          <p:cNvSpPr>
            <a:spLocks noChangeShapeType="1"/>
          </p:cNvSpPr>
          <p:nvPr/>
        </p:nvSpPr>
        <p:spPr bwMode="auto">
          <a:xfrm flipH="1">
            <a:off x="2895600" y="4206200"/>
            <a:ext cx="6350" cy="420624"/>
          </a:xfrm>
          <a:prstGeom prst="line">
            <a:avLst/>
          </a:prstGeom>
          <a:noFill/>
          <a:ln w="25400">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487435" name="Line 11"/>
          <p:cNvSpPr>
            <a:spLocks noChangeShapeType="1"/>
          </p:cNvSpPr>
          <p:nvPr/>
        </p:nvSpPr>
        <p:spPr bwMode="auto">
          <a:xfrm flipH="1">
            <a:off x="3721100" y="3581400"/>
            <a:ext cx="12700" cy="3124200"/>
          </a:xfrm>
          <a:prstGeom prst="line">
            <a:avLst/>
          </a:prstGeom>
          <a:noFill/>
          <a:ln w="25400">
            <a:solidFill>
              <a:schemeClr val="tx1"/>
            </a:solidFill>
            <a:prstDash val="dash"/>
            <a:round/>
            <a:headEnd/>
            <a:tailEnd/>
          </a:ln>
          <a:effectLst/>
        </p:spPr>
        <p:txBody>
          <a:bodyPr wrap="none" anchor="ctr"/>
          <a:lstStyle/>
          <a:p>
            <a:endParaRPr lang="en-US" dirty="0">
              <a:latin typeface="Calibri" pitchFamily="34" charset="0"/>
            </a:endParaRPr>
          </a:p>
        </p:txBody>
      </p:sp>
      <p:sp>
        <p:nvSpPr>
          <p:cNvPr id="487436" name="Text Box 12"/>
          <p:cNvSpPr txBox="1">
            <a:spLocks noChangeArrowheads="1"/>
          </p:cNvSpPr>
          <p:nvPr/>
        </p:nvSpPr>
        <p:spPr bwMode="auto">
          <a:xfrm>
            <a:off x="5422900" y="4267200"/>
            <a:ext cx="1009187"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user code</a:t>
            </a:r>
          </a:p>
        </p:txBody>
      </p:sp>
      <p:sp>
        <p:nvSpPr>
          <p:cNvPr id="487437" name="Text Box 13"/>
          <p:cNvSpPr txBox="1">
            <a:spLocks noChangeArrowheads="1"/>
          </p:cNvSpPr>
          <p:nvPr/>
        </p:nvSpPr>
        <p:spPr bwMode="auto">
          <a:xfrm>
            <a:off x="5422900" y="4681538"/>
            <a:ext cx="1171859"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kernel code</a:t>
            </a:r>
          </a:p>
        </p:txBody>
      </p:sp>
      <p:sp>
        <p:nvSpPr>
          <p:cNvPr id="487438" name="Text Box 14"/>
          <p:cNvSpPr txBox="1">
            <a:spLocks noChangeArrowheads="1"/>
          </p:cNvSpPr>
          <p:nvPr/>
        </p:nvSpPr>
        <p:spPr bwMode="auto">
          <a:xfrm>
            <a:off x="5422900" y="5094288"/>
            <a:ext cx="1009187"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user code</a:t>
            </a:r>
          </a:p>
        </p:txBody>
      </p:sp>
      <p:sp>
        <p:nvSpPr>
          <p:cNvPr id="487439" name="Text Box 15"/>
          <p:cNvSpPr txBox="1">
            <a:spLocks noChangeArrowheads="1"/>
          </p:cNvSpPr>
          <p:nvPr/>
        </p:nvSpPr>
        <p:spPr bwMode="auto">
          <a:xfrm>
            <a:off x="5405438" y="5530850"/>
            <a:ext cx="1171859"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kernel code</a:t>
            </a:r>
          </a:p>
        </p:txBody>
      </p:sp>
      <p:sp>
        <p:nvSpPr>
          <p:cNvPr id="487440" name="Text Box 16"/>
          <p:cNvSpPr txBox="1">
            <a:spLocks noChangeArrowheads="1"/>
          </p:cNvSpPr>
          <p:nvPr/>
        </p:nvSpPr>
        <p:spPr bwMode="auto">
          <a:xfrm>
            <a:off x="5422900" y="5988050"/>
            <a:ext cx="1009187" cy="338554"/>
          </a:xfrm>
          <a:prstGeom prst="rect">
            <a:avLst/>
          </a:prstGeom>
          <a:noFill/>
          <a:ln w="25400">
            <a:noFill/>
            <a:miter lim="800000"/>
            <a:headEnd/>
            <a:tailEnd/>
          </a:ln>
          <a:effectLst/>
        </p:spPr>
        <p:txBody>
          <a:bodyPr wrap="none">
            <a:spAutoFit/>
          </a:bodyPr>
          <a:lstStyle/>
          <a:p>
            <a:pPr algn="l">
              <a:lnSpc>
                <a:spcPct val="100000"/>
              </a:lnSpc>
            </a:pPr>
            <a:r>
              <a:rPr lang="en-US" sz="1600" dirty="0">
                <a:latin typeface="Calibri" pitchFamily="34" charset="0"/>
              </a:rPr>
              <a:t>user code</a:t>
            </a:r>
          </a:p>
        </p:txBody>
      </p:sp>
      <p:sp>
        <p:nvSpPr>
          <p:cNvPr id="487451" name="AutoShape 27"/>
          <p:cNvSpPr>
            <a:spLocks/>
          </p:cNvSpPr>
          <p:nvPr/>
        </p:nvSpPr>
        <p:spPr bwMode="auto">
          <a:xfrm>
            <a:off x="6858000" y="4627343"/>
            <a:ext cx="76200" cy="381000"/>
          </a:xfrm>
          <a:prstGeom prst="rightBrace">
            <a:avLst>
              <a:gd name="adj1" fmla="val 41667"/>
              <a:gd name="adj2" fmla="val 50000"/>
            </a:avLst>
          </a:prstGeom>
          <a:noFill/>
          <a:ln w="25400">
            <a:solidFill>
              <a:schemeClr val="tx1"/>
            </a:solidFill>
            <a:round/>
            <a:headEnd/>
            <a:tailEnd/>
          </a:ln>
          <a:effectLst/>
        </p:spPr>
        <p:txBody>
          <a:bodyPr wrap="none" anchor="ctr"/>
          <a:lstStyle/>
          <a:p>
            <a:pPr>
              <a:lnSpc>
                <a:spcPct val="100000"/>
              </a:lnSpc>
            </a:pPr>
            <a:endParaRPr lang="en-US" sz="1600" dirty="0">
              <a:latin typeface="Calibri" pitchFamily="34" charset="0"/>
            </a:endParaRPr>
          </a:p>
        </p:txBody>
      </p:sp>
      <p:sp>
        <p:nvSpPr>
          <p:cNvPr id="487452" name="Text Box 28"/>
          <p:cNvSpPr txBox="1">
            <a:spLocks noChangeArrowheads="1"/>
          </p:cNvSpPr>
          <p:nvPr/>
        </p:nvSpPr>
        <p:spPr bwMode="auto">
          <a:xfrm>
            <a:off x="6937375" y="4648566"/>
            <a:ext cx="1403654" cy="338554"/>
          </a:xfrm>
          <a:prstGeom prst="rect">
            <a:avLst/>
          </a:prstGeom>
          <a:noFill/>
          <a:ln w="25400">
            <a:noFill/>
            <a:miter lim="800000"/>
            <a:headEnd/>
            <a:tailEnd/>
          </a:ln>
          <a:effectLst/>
        </p:spPr>
        <p:txBody>
          <a:bodyPr wrap="none">
            <a:spAutoFit/>
          </a:bodyPr>
          <a:lstStyle/>
          <a:p>
            <a:pPr algn="l">
              <a:lnSpc>
                <a:spcPct val="100000"/>
              </a:lnSpc>
            </a:pPr>
            <a:r>
              <a:rPr lang="en-US" sz="1600" i="1" dirty="0">
                <a:latin typeface="Calibri" pitchFamily="34" charset="0"/>
              </a:rPr>
              <a:t>context switch</a:t>
            </a:r>
            <a:endParaRPr lang="en-US" sz="1600" dirty="0">
              <a:latin typeface="Calibri" pitchFamily="34" charset="0"/>
            </a:endParaRPr>
          </a:p>
        </p:txBody>
      </p:sp>
      <p:sp>
        <p:nvSpPr>
          <p:cNvPr id="487453" name="AutoShape 29"/>
          <p:cNvSpPr>
            <a:spLocks/>
          </p:cNvSpPr>
          <p:nvPr/>
        </p:nvSpPr>
        <p:spPr bwMode="auto">
          <a:xfrm>
            <a:off x="6858000" y="5496837"/>
            <a:ext cx="76200" cy="381000"/>
          </a:xfrm>
          <a:prstGeom prst="rightBrace">
            <a:avLst>
              <a:gd name="adj1" fmla="val 41667"/>
              <a:gd name="adj2" fmla="val 50000"/>
            </a:avLst>
          </a:prstGeom>
          <a:noFill/>
          <a:ln w="25400">
            <a:solidFill>
              <a:schemeClr val="tx1"/>
            </a:solidFill>
            <a:round/>
            <a:headEnd/>
            <a:tailEnd/>
          </a:ln>
          <a:effectLst/>
        </p:spPr>
        <p:txBody>
          <a:bodyPr wrap="none" anchor="ctr"/>
          <a:lstStyle/>
          <a:p>
            <a:pPr>
              <a:lnSpc>
                <a:spcPct val="100000"/>
              </a:lnSpc>
            </a:pPr>
            <a:endParaRPr lang="en-US" sz="1600" dirty="0">
              <a:latin typeface="Calibri" pitchFamily="34" charset="0"/>
            </a:endParaRPr>
          </a:p>
        </p:txBody>
      </p:sp>
      <p:sp>
        <p:nvSpPr>
          <p:cNvPr id="487454" name="Text Box 30"/>
          <p:cNvSpPr txBox="1">
            <a:spLocks noChangeArrowheads="1"/>
          </p:cNvSpPr>
          <p:nvPr/>
        </p:nvSpPr>
        <p:spPr bwMode="auto">
          <a:xfrm>
            <a:off x="6937375" y="5518060"/>
            <a:ext cx="1403654" cy="338554"/>
          </a:xfrm>
          <a:prstGeom prst="rect">
            <a:avLst/>
          </a:prstGeom>
          <a:noFill/>
          <a:ln w="25400">
            <a:noFill/>
            <a:miter lim="800000"/>
            <a:headEnd/>
            <a:tailEnd/>
          </a:ln>
          <a:effectLst/>
        </p:spPr>
        <p:txBody>
          <a:bodyPr wrap="none">
            <a:spAutoFit/>
          </a:bodyPr>
          <a:lstStyle/>
          <a:p>
            <a:pPr algn="l">
              <a:lnSpc>
                <a:spcPct val="100000"/>
              </a:lnSpc>
            </a:pPr>
            <a:r>
              <a:rPr lang="en-US" sz="1600" i="1" dirty="0">
                <a:latin typeface="Calibri" pitchFamily="34" charset="0"/>
              </a:rPr>
              <a:t>context switch</a:t>
            </a:r>
            <a:endParaRPr lang="en-US" sz="1600" dirty="0">
              <a:latin typeface="Calibri" pitchFamily="34" charset="0"/>
            </a:endParaRPr>
          </a:p>
        </p:txBody>
      </p:sp>
      <p:sp>
        <p:nvSpPr>
          <p:cNvPr id="31" name="Text Box 5"/>
          <p:cNvSpPr txBox="1">
            <a:spLocks noChangeArrowheads="1"/>
          </p:cNvSpPr>
          <p:nvPr/>
        </p:nvSpPr>
        <p:spPr bwMode="auto">
          <a:xfrm>
            <a:off x="533400" y="4953000"/>
            <a:ext cx="817853" cy="461665"/>
          </a:xfrm>
          <a:prstGeom prst="rect">
            <a:avLst/>
          </a:prstGeom>
          <a:noFill/>
          <a:ln w="25400">
            <a:noFill/>
            <a:miter lim="800000"/>
            <a:headEnd/>
            <a:tailEnd/>
          </a:ln>
          <a:effectLst/>
        </p:spPr>
        <p:txBody>
          <a:bodyPr wrap="none">
            <a:spAutoFit/>
          </a:bodyPr>
          <a:lstStyle/>
          <a:p>
            <a:pPr algn="l">
              <a:lnSpc>
                <a:spcPct val="100000"/>
              </a:lnSpc>
            </a:pPr>
            <a:r>
              <a:rPr lang="en-US" dirty="0">
                <a:latin typeface="Calibri" pitchFamily="34" charset="0"/>
              </a:rPr>
              <a:t>Time</a:t>
            </a:r>
          </a:p>
        </p:txBody>
      </p:sp>
      <p:sp>
        <p:nvSpPr>
          <p:cNvPr id="32" name="Down Arrow 31"/>
          <p:cNvSpPr/>
          <p:nvPr/>
        </p:nvSpPr>
        <p:spPr bwMode="auto">
          <a:xfrm>
            <a:off x="1295400" y="4152900"/>
            <a:ext cx="457200" cy="2400300"/>
          </a:xfrm>
          <a:prstGeom prst="downArrow">
            <a:avLst/>
          </a:prstGeom>
          <a:solidFill>
            <a:schemeClr val="bg1">
              <a:lumMod val="65000"/>
            </a:schemeClr>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38" name="Line 6"/>
          <p:cNvSpPr>
            <a:spLocks noChangeShapeType="1"/>
          </p:cNvSpPr>
          <p:nvPr/>
        </p:nvSpPr>
        <p:spPr bwMode="auto">
          <a:xfrm flipH="1">
            <a:off x="2889250" y="5903976"/>
            <a:ext cx="6350" cy="420624"/>
          </a:xfrm>
          <a:prstGeom prst="line">
            <a:avLst/>
          </a:prstGeom>
          <a:noFill/>
          <a:ln w="25400">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39" name="Line 6"/>
          <p:cNvSpPr>
            <a:spLocks noChangeShapeType="1"/>
          </p:cNvSpPr>
          <p:nvPr/>
        </p:nvSpPr>
        <p:spPr bwMode="auto">
          <a:xfrm flipH="1">
            <a:off x="4489450" y="5065776"/>
            <a:ext cx="6350" cy="420624"/>
          </a:xfrm>
          <a:prstGeom prst="line">
            <a:avLst/>
          </a:prstGeom>
          <a:noFill/>
          <a:ln w="25400">
            <a:solidFill>
              <a:schemeClr val="tx1"/>
            </a:solidFill>
            <a:round/>
            <a:headEnd/>
            <a:tailEnd type="triangle" w="med" len="med"/>
          </a:ln>
          <a:effectLst/>
        </p:spPr>
        <p:txBody>
          <a:bodyPr wrap="none" anchor="ctr"/>
          <a:lstStyle/>
          <a:p>
            <a:endParaRPr lang="en-US" dirty="0">
              <a:latin typeface="Calibri" pitchFamily="34" charset="0"/>
            </a:endParaRPr>
          </a:p>
        </p:txBody>
      </p:sp>
      <p:cxnSp>
        <p:nvCxnSpPr>
          <p:cNvPr id="41" name="Straight Arrow Connector 40"/>
          <p:cNvCxnSpPr>
            <a:stCxn id="487430" idx="1"/>
            <a:endCxn id="39" idx="0"/>
          </p:cNvCxnSpPr>
          <p:nvPr/>
        </p:nvCxnSpPr>
        <p:spPr bwMode="auto">
          <a:xfrm rot="16200000" flipH="1">
            <a:off x="3476224" y="4046200"/>
            <a:ext cx="438952" cy="1600200"/>
          </a:xfrm>
          <a:prstGeom prst="straightConnector1">
            <a:avLst/>
          </a:prstGeom>
          <a:noFill/>
          <a:ln w="25400">
            <a:solidFill>
              <a:schemeClr val="tx1"/>
            </a:solidFill>
            <a:round/>
            <a:headEnd/>
            <a:tailEnd type="triangle" w="med" len="med"/>
          </a:ln>
          <a:effectLst/>
        </p:spPr>
      </p:cxnSp>
      <p:cxnSp>
        <p:nvCxnSpPr>
          <p:cNvPr id="43" name="Straight Arrow Connector 42"/>
          <p:cNvCxnSpPr>
            <a:stCxn id="39" idx="1"/>
            <a:endCxn id="38" idx="0"/>
          </p:cNvCxnSpPr>
          <p:nvPr/>
        </p:nvCxnSpPr>
        <p:spPr bwMode="auto">
          <a:xfrm rot="16200000" flipH="1" flipV="1">
            <a:off x="3483737" y="4898263"/>
            <a:ext cx="417576" cy="1593850"/>
          </a:xfrm>
          <a:prstGeom prst="straightConnector1">
            <a:avLst/>
          </a:prstGeom>
          <a:noFill/>
          <a:ln w="25400">
            <a:solidFill>
              <a:schemeClr val="tx1"/>
            </a:solidFill>
            <a:round/>
            <a:headEnd/>
            <a:tailEnd type="triangle" w="med" len="med"/>
          </a:ln>
          <a:effectLst/>
        </p:spPr>
      </p:cxnSp>
    </p:spTree>
    <p:extLst>
      <p:ext uri="{BB962C8B-B14F-4D97-AF65-F5344CB8AC3E}">
        <p14:creationId xmlns:p14="http://schemas.microsoft.com/office/powerpoint/2010/main" val="139274237"/>
      </p:ext>
    </p:extLst>
  </p:cSld>
  <p:clrMapOvr>
    <a:masterClrMapping/>
  </p:clrMapOvr>
  <p:timing>
    <p:tnLst>
      <p:par>
        <p:cTn xmlns:p14="http://schemas.microsoft.com/office/powerpoint/2010/mai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pPr marL="0" indent="0">
              <a:lnSpc>
                <a:spcPct val="80000"/>
              </a:lnSpc>
              <a:buNone/>
            </a:pPr>
            <a:endParaRPr lang="en-US" sz="2800" dirty="0" smtClean="0"/>
          </a:p>
          <a:p>
            <a:r>
              <a:rPr lang="en-US" sz="2800" dirty="0" smtClean="0">
                <a:solidFill>
                  <a:schemeClr val="bg2">
                    <a:lumMod val="60000"/>
                    <a:lumOff val="40000"/>
                  </a:schemeClr>
                </a:solidFill>
              </a:rPr>
              <a:t>Linking</a:t>
            </a:r>
            <a:endParaRPr lang="en-US" dirty="0" smtClean="0">
              <a:solidFill>
                <a:schemeClr val="bg2">
                  <a:lumMod val="60000"/>
                  <a:lumOff val="40000"/>
                </a:schemeClr>
              </a:solidFill>
            </a:endParaRPr>
          </a:p>
          <a:p>
            <a:r>
              <a:rPr lang="en-US" sz="2800" dirty="0"/>
              <a:t>Exceptional Control Flow</a:t>
            </a:r>
            <a:endParaRPr lang="en-US" sz="2800" dirty="0" smtClean="0"/>
          </a:p>
          <a:p>
            <a:pPr lvl="1"/>
            <a:r>
              <a:rPr lang="en-US" dirty="0">
                <a:solidFill>
                  <a:schemeClr val="bg2">
                    <a:lumMod val="60000"/>
                    <a:lumOff val="40000"/>
                  </a:schemeClr>
                </a:solidFill>
              </a:rPr>
              <a:t>Exceptional Control Flow</a:t>
            </a:r>
          </a:p>
          <a:p>
            <a:pPr lvl="1"/>
            <a:r>
              <a:rPr lang="en-US" dirty="0">
                <a:solidFill>
                  <a:srgbClr val="B3B3B3"/>
                </a:solidFill>
              </a:rPr>
              <a:t>Exceptions</a:t>
            </a:r>
          </a:p>
          <a:p>
            <a:pPr lvl="1"/>
            <a:r>
              <a:rPr lang="en-US" dirty="0">
                <a:solidFill>
                  <a:schemeClr val="bg2">
                    <a:lumMod val="60000"/>
                    <a:lumOff val="40000"/>
                  </a:schemeClr>
                </a:solidFill>
              </a:rPr>
              <a:t>Processes</a:t>
            </a:r>
          </a:p>
          <a:p>
            <a:pPr lvl="1"/>
            <a:r>
              <a:rPr lang="en-US" dirty="0">
                <a:solidFill>
                  <a:srgbClr val="000000"/>
                </a:solidFill>
              </a:rPr>
              <a:t>Process </a:t>
            </a:r>
            <a:r>
              <a:rPr lang="en-US" dirty="0" smtClean="0">
                <a:solidFill>
                  <a:srgbClr val="000000"/>
                </a:solidFill>
              </a:rPr>
              <a:t>Control</a:t>
            </a:r>
          </a:p>
          <a:p>
            <a:r>
              <a:rPr lang="en-US" sz="2800" dirty="0">
                <a:solidFill>
                  <a:srgbClr val="B3B3B3"/>
                </a:solidFill>
              </a:rPr>
              <a:t>Cache Lab</a:t>
            </a:r>
          </a:p>
          <a:p>
            <a:pPr marL="0" indent="0">
              <a:buNone/>
            </a:pPr>
            <a:endParaRPr lang="en-US" sz="2800" dirty="0">
              <a:solidFill>
                <a:schemeClr val="bg2">
                  <a:lumMod val="60000"/>
                  <a:lumOff val="40000"/>
                </a:schemeClr>
              </a:solidFill>
            </a:endParaRPr>
          </a:p>
          <a:p>
            <a:endParaRPr lang="en-US" dirty="0" smtClean="0">
              <a:solidFill>
                <a:srgbClr val="B3B3B3"/>
              </a:solidFill>
            </a:endParaRPr>
          </a:p>
          <a:p>
            <a:pPr marL="0" indent="0">
              <a:lnSpc>
                <a:spcPct val="80000"/>
              </a:lnSpc>
              <a:buNone/>
            </a:pPr>
            <a:endParaRPr lang="en-US" sz="2800" dirty="0" smtClean="0">
              <a:solidFill>
                <a:schemeClr val="bg2">
                  <a:lumMod val="60000"/>
                  <a:lumOff val="40000"/>
                </a:schemeClr>
              </a:solidFill>
            </a:endParaRPr>
          </a:p>
          <a:p>
            <a:endParaRPr lang="en-US" dirty="0">
              <a:solidFill>
                <a:schemeClr val="bg2">
                  <a:lumMod val="60000"/>
                  <a:lumOff val="40000"/>
                </a:schemeClr>
              </a:solidFill>
            </a:endParaRPr>
          </a:p>
          <a:p>
            <a:endParaRPr lang="en-US" dirty="0">
              <a:solidFill>
                <a:schemeClr val="bg1">
                  <a:lumMod val="75000"/>
                </a:schemeClr>
              </a:solidFill>
            </a:endParaRPr>
          </a:p>
        </p:txBody>
      </p:sp>
      <p:sp>
        <p:nvSpPr>
          <p:cNvPr id="4" name="TextBox 3"/>
          <p:cNvSpPr txBox="1"/>
          <p:nvPr/>
        </p:nvSpPr>
        <p:spPr>
          <a:xfrm>
            <a:off x="2851727" y="5657273"/>
            <a:ext cx="184666" cy="369332"/>
          </a:xfrm>
          <a:prstGeom prst="rect">
            <a:avLst/>
          </a:prstGeom>
          <a:noFill/>
        </p:spPr>
        <p:txBody>
          <a:bodyPr wrap="none" rtlCol="0">
            <a:spAutoFit/>
          </a:bodyPr>
          <a:lstStyle/>
          <a:p>
            <a:endParaRPr lang="en-US" sz="1800" dirty="0">
              <a:latin typeface="Calibri" pitchFamily="34" charset="0"/>
            </a:endParaRPr>
          </a:p>
        </p:txBody>
      </p:sp>
    </p:spTree>
    <p:extLst>
      <p:ext uri="{BB962C8B-B14F-4D97-AF65-F5344CB8AC3E}">
        <p14:creationId xmlns:p14="http://schemas.microsoft.com/office/powerpoint/2010/main" val="1184551639"/>
      </p:ext>
    </p:extLst>
  </p:cSld>
  <p:clrMapOvr>
    <a:masterClrMapping/>
  </p:clrMapOvr>
  <p:timing>
    <p:tnLst>
      <p:par>
        <p:cTn xmlns:p14="http://schemas.microsoft.com/office/powerpoint/2010/mai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2"/>
          <p:cNvSpPr>
            <a:spLocks noGrp="1" noChangeArrowheads="1"/>
          </p:cNvSpPr>
          <p:nvPr>
            <p:ph type="title"/>
          </p:nvPr>
        </p:nvSpPr>
        <p:spPr>
          <a:xfrm>
            <a:off x="380088" y="387578"/>
            <a:ext cx="7620912" cy="573088"/>
          </a:xfrm>
        </p:spPr>
        <p:txBody>
          <a:bodyPr/>
          <a:lstStyle/>
          <a:p>
            <a:r>
              <a:rPr lang="en-US" dirty="0" smtClean="0"/>
              <a:t>System Call Error Handling</a:t>
            </a:r>
            <a:endParaRPr lang="en-US" dirty="0"/>
          </a:p>
        </p:txBody>
      </p:sp>
      <p:sp>
        <p:nvSpPr>
          <p:cNvPr id="487427" name="Rectangle 3"/>
          <p:cNvSpPr>
            <a:spLocks noGrp="1" noChangeArrowheads="1"/>
          </p:cNvSpPr>
          <p:nvPr>
            <p:ph type="body" idx="1"/>
          </p:nvPr>
        </p:nvSpPr>
        <p:spPr>
          <a:xfrm>
            <a:off x="381000" y="1104899"/>
            <a:ext cx="8294687" cy="2647771"/>
          </a:xfrm>
        </p:spPr>
        <p:txBody>
          <a:bodyPr/>
          <a:lstStyle/>
          <a:p>
            <a:r>
              <a:rPr lang="en-US" dirty="0" smtClean="0"/>
              <a:t>On error</a:t>
            </a:r>
            <a:r>
              <a:rPr lang="en-US" smtClean="0"/>
              <a:t>, Linux </a:t>
            </a:r>
            <a:r>
              <a:rPr lang="en-US" dirty="0" smtClean="0"/>
              <a:t>system-level functions typically return -1 and set global variable </a:t>
            </a:r>
            <a:r>
              <a:rPr lang="en-US" dirty="0" err="1" smtClean="0">
                <a:latin typeface="Courier New"/>
                <a:cs typeface="Courier New"/>
              </a:rPr>
              <a:t>errno</a:t>
            </a:r>
            <a:r>
              <a:rPr lang="en-US" dirty="0" smtClean="0"/>
              <a:t> to indicate cause. </a:t>
            </a:r>
          </a:p>
          <a:p>
            <a:r>
              <a:rPr lang="en-US" dirty="0" smtClean="0"/>
              <a:t>Hard and fast rule: </a:t>
            </a:r>
          </a:p>
          <a:p>
            <a:pPr lvl="1"/>
            <a:r>
              <a:rPr lang="en-US" dirty="0" smtClean="0"/>
              <a:t>You must check the return status of every system-level function</a:t>
            </a:r>
          </a:p>
          <a:p>
            <a:pPr lvl="1"/>
            <a:r>
              <a:rPr lang="en-US" dirty="0" smtClean="0"/>
              <a:t>Only exception is the handful of functions that return </a:t>
            </a:r>
            <a:r>
              <a:rPr lang="en-US" dirty="0" smtClean="0">
                <a:latin typeface="Courier New"/>
                <a:cs typeface="Courier New"/>
              </a:rPr>
              <a:t>void</a:t>
            </a:r>
          </a:p>
          <a:p>
            <a:r>
              <a:rPr lang="en-US" dirty="0" smtClean="0"/>
              <a:t>Example:</a:t>
            </a:r>
          </a:p>
          <a:p>
            <a:pPr marL="457200" lvl="1" indent="0">
              <a:buNone/>
            </a:pPr>
            <a:endParaRPr lang="en-US" dirty="0"/>
          </a:p>
        </p:txBody>
      </p:sp>
      <p:sp>
        <p:nvSpPr>
          <p:cNvPr id="28" name="Text Box 4"/>
          <p:cNvSpPr txBox="1">
            <a:spLocks noChangeArrowheads="1"/>
          </p:cNvSpPr>
          <p:nvPr/>
        </p:nvSpPr>
        <p:spPr bwMode="auto">
          <a:xfrm>
            <a:off x="228600" y="3810000"/>
            <a:ext cx="8634508" cy="1200329"/>
          </a:xfrm>
          <a:prstGeom prst="rect">
            <a:avLst/>
          </a:prstGeom>
          <a:solidFill>
            <a:srgbClr val="F6F5BD"/>
          </a:solidFill>
          <a:ln w="3175">
            <a:solidFill>
              <a:schemeClr val="tx1"/>
            </a:solidFill>
            <a:miter lim="800000"/>
            <a:headEnd/>
            <a:tailEnd/>
          </a:ln>
          <a:effectLst/>
        </p:spPr>
        <p:txBody>
          <a:bodyPr wrap="none">
            <a:spAutoFit/>
          </a:bodyPr>
          <a:lstStyle/>
          <a:p>
            <a:r>
              <a:rPr lang="nb-NO" sz="1800" dirty="0">
                <a:solidFill>
                  <a:srgbClr val="000000"/>
                </a:solidFill>
                <a:latin typeface="Courier New"/>
                <a:cs typeface="Courier New"/>
              </a:rPr>
              <a:t>  </a:t>
            </a:r>
            <a:r>
              <a:rPr lang="nb-NO" sz="1800" dirty="0" smtClean="0">
                <a:solidFill>
                  <a:srgbClr val="000000"/>
                </a:solidFill>
                <a:latin typeface="Courier New"/>
                <a:cs typeface="Courier New"/>
              </a:rPr>
              <a:t>  </a:t>
            </a:r>
            <a:r>
              <a:rPr lang="nb-NO" sz="1800" dirty="0" err="1" smtClean="0">
                <a:solidFill>
                  <a:srgbClr val="C200FF"/>
                </a:solidFill>
                <a:latin typeface="Courier New"/>
                <a:cs typeface="Courier New"/>
              </a:rPr>
              <a:t>if</a:t>
            </a:r>
            <a:r>
              <a:rPr lang="nb-NO" sz="1800" dirty="0" smtClean="0">
                <a:solidFill>
                  <a:srgbClr val="000000"/>
                </a:solidFill>
                <a:latin typeface="Courier New"/>
                <a:cs typeface="Courier New"/>
              </a:rPr>
              <a:t> </a:t>
            </a:r>
            <a:r>
              <a:rPr lang="nb-NO" sz="1800" dirty="0">
                <a:solidFill>
                  <a:srgbClr val="000000"/>
                </a:solidFill>
                <a:latin typeface="Courier New"/>
                <a:cs typeface="Courier New"/>
              </a:rPr>
              <a:t>((</a:t>
            </a:r>
            <a:r>
              <a:rPr lang="nb-NO" sz="1800" dirty="0" err="1">
                <a:solidFill>
                  <a:srgbClr val="000000"/>
                </a:solidFill>
                <a:latin typeface="Courier New"/>
                <a:cs typeface="Courier New"/>
              </a:rPr>
              <a:t>pid</a:t>
            </a:r>
            <a:r>
              <a:rPr lang="nb-NO" sz="1800" dirty="0">
                <a:solidFill>
                  <a:srgbClr val="000000"/>
                </a:solidFill>
                <a:latin typeface="Courier New"/>
                <a:cs typeface="Courier New"/>
              </a:rPr>
              <a:t> = fork()) &lt; 0) {</a:t>
            </a:r>
          </a:p>
          <a:p>
            <a:r>
              <a:rPr lang="nb-NO" sz="1800" dirty="0">
                <a:solidFill>
                  <a:srgbClr val="000000"/>
                </a:solidFill>
                <a:latin typeface="Courier New"/>
                <a:cs typeface="Courier New"/>
              </a:rPr>
              <a:t>        </a:t>
            </a:r>
            <a:r>
              <a:rPr lang="nb-NO" sz="1800" dirty="0" err="1">
                <a:solidFill>
                  <a:srgbClr val="000000"/>
                </a:solidFill>
                <a:latin typeface="Courier New"/>
                <a:cs typeface="Courier New"/>
              </a:rPr>
              <a:t>fprintf</a:t>
            </a:r>
            <a:r>
              <a:rPr lang="nb-NO" sz="1800" dirty="0">
                <a:solidFill>
                  <a:srgbClr val="000000"/>
                </a:solidFill>
                <a:latin typeface="Courier New"/>
                <a:cs typeface="Courier New"/>
              </a:rPr>
              <a:t>(</a:t>
            </a:r>
            <a:r>
              <a:rPr lang="nb-NO" sz="1800" dirty="0" err="1">
                <a:solidFill>
                  <a:srgbClr val="000000"/>
                </a:solidFill>
                <a:latin typeface="Courier New"/>
                <a:cs typeface="Courier New"/>
              </a:rPr>
              <a:t>stderr</a:t>
            </a:r>
            <a:r>
              <a:rPr lang="nb-NO" sz="1800" dirty="0">
                <a:solidFill>
                  <a:srgbClr val="000000"/>
                </a:solidFill>
                <a:latin typeface="Courier New"/>
                <a:cs typeface="Courier New"/>
              </a:rPr>
              <a:t>, </a:t>
            </a:r>
            <a:r>
              <a:rPr lang="nb-NO" sz="1800" dirty="0">
                <a:solidFill>
                  <a:srgbClr val="9D206F"/>
                </a:solidFill>
                <a:latin typeface="Courier New"/>
                <a:cs typeface="Courier New"/>
              </a:rPr>
              <a:t>"fork </a:t>
            </a:r>
            <a:r>
              <a:rPr lang="nb-NO" sz="1800" dirty="0" err="1">
                <a:solidFill>
                  <a:srgbClr val="9D206F"/>
                </a:solidFill>
                <a:latin typeface="Courier New"/>
                <a:cs typeface="Courier New"/>
              </a:rPr>
              <a:t>error</a:t>
            </a:r>
            <a:r>
              <a:rPr lang="nb-NO" sz="1800" dirty="0">
                <a:solidFill>
                  <a:srgbClr val="9D206F"/>
                </a:solidFill>
                <a:latin typeface="Courier New"/>
                <a:cs typeface="Courier New"/>
              </a:rPr>
              <a:t>: %s\n"</a:t>
            </a:r>
            <a:r>
              <a:rPr lang="nb-NO" sz="1800" dirty="0">
                <a:solidFill>
                  <a:srgbClr val="000000"/>
                </a:solidFill>
                <a:latin typeface="Courier New"/>
                <a:cs typeface="Courier New"/>
              </a:rPr>
              <a:t>, </a:t>
            </a:r>
            <a:r>
              <a:rPr lang="nb-NO" sz="1800" dirty="0" err="1">
                <a:solidFill>
                  <a:srgbClr val="000000"/>
                </a:solidFill>
                <a:latin typeface="Courier New"/>
                <a:cs typeface="Courier New"/>
              </a:rPr>
              <a:t>strerror</a:t>
            </a:r>
            <a:r>
              <a:rPr lang="nb-NO" sz="1800" dirty="0">
                <a:solidFill>
                  <a:srgbClr val="000000"/>
                </a:solidFill>
                <a:latin typeface="Courier New"/>
                <a:cs typeface="Courier New"/>
              </a:rPr>
              <a:t>(</a:t>
            </a:r>
            <a:r>
              <a:rPr lang="nb-NO" sz="1800" dirty="0" err="1">
                <a:solidFill>
                  <a:srgbClr val="000000"/>
                </a:solidFill>
                <a:latin typeface="Courier New"/>
                <a:cs typeface="Courier New"/>
              </a:rPr>
              <a:t>errno</a:t>
            </a:r>
            <a:r>
              <a:rPr lang="nb-NO" sz="1800" dirty="0">
                <a:solidFill>
                  <a:srgbClr val="000000"/>
                </a:solidFill>
                <a:latin typeface="Courier New"/>
                <a:cs typeface="Courier New"/>
              </a:rPr>
              <a:t>));</a:t>
            </a:r>
          </a:p>
          <a:p>
            <a:r>
              <a:rPr lang="nb-NO" sz="1800" dirty="0">
                <a:solidFill>
                  <a:srgbClr val="000000"/>
                </a:solidFill>
                <a:latin typeface="Courier New"/>
                <a:cs typeface="Courier New"/>
              </a:rPr>
              <a:t>        exit</a:t>
            </a:r>
            <a:r>
              <a:rPr lang="nb-NO" sz="1800" dirty="0" smtClean="0">
                <a:solidFill>
                  <a:srgbClr val="000000"/>
                </a:solidFill>
                <a:latin typeface="Courier New"/>
                <a:cs typeface="Courier New"/>
              </a:rPr>
              <a:t>(-1);</a:t>
            </a:r>
            <a:endParaRPr lang="nb-NO" sz="1800" dirty="0">
              <a:solidFill>
                <a:srgbClr val="000000"/>
              </a:solidFill>
              <a:latin typeface="Courier New"/>
              <a:cs typeface="Courier New"/>
            </a:endParaRPr>
          </a:p>
          <a:p>
            <a:r>
              <a:rPr lang="nb-NO" sz="1800" dirty="0">
                <a:solidFill>
                  <a:srgbClr val="000000"/>
                </a:solidFill>
                <a:latin typeface="Courier New"/>
                <a:cs typeface="Courier New"/>
              </a:rPr>
              <a:t>    }</a:t>
            </a:r>
            <a:endParaRPr lang="en-US" sz="1800" dirty="0">
              <a:latin typeface="Courier New"/>
              <a:cs typeface="Courier New"/>
            </a:endParaRPr>
          </a:p>
        </p:txBody>
      </p:sp>
    </p:spTree>
    <p:extLst>
      <p:ext uri="{BB962C8B-B14F-4D97-AF65-F5344CB8AC3E}">
        <p14:creationId xmlns:p14="http://schemas.microsoft.com/office/powerpoint/2010/main" val="214535447"/>
      </p:ext>
    </p:extLst>
  </p:cSld>
  <p:clrMapOvr>
    <a:masterClrMapping/>
  </p:clrMapOvr>
  <p:timing>
    <p:tnLst>
      <p:par>
        <p:cTn xmlns:p14="http://schemas.microsoft.com/office/powerpoint/2010/mai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Error-reporting functions	</a:t>
            </a:r>
            <a:endParaRPr lang="en-US" dirty="0"/>
          </a:p>
        </p:txBody>
      </p:sp>
      <p:sp>
        <p:nvSpPr>
          <p:cNvPr id="3" name="Content Placeholder 2"/>
          <p:cNvSpPr>
            <a:spLocks noGrp="1"/>
          </p:cNvSpPr>
          <p:nvPr>
            <p:ph idx="1"/>
          </p:nvPr>
        </p:nvSpPr>
        <p:spPr>
          <a:xfrm>
            <a:off x="396875" y="1362075"/>
            <a:ext cx="7896225" cy="466725"/>
          </a:xfrm>
        </p:spPr>
        <p:txBody>
          <a:bodyPr/>
          <a:lstStyle/>
          <a:p>
            <a:r>
              <a:rPr lang="en-US" dirty="0" smtClean="0"/>
              <a:t>Can simplify somewhat using an </a:t>
            </a:r>
            <a:r>
              <a:rPr lang="en-US" i="1" dirty="0" smtClean="0"/>
              <a:t>error-reporting function</a:t>
            </a:r>
            <a:r>
              <a:rPr lang="en-US" dirty="0" smtClean="0"/>
              <a:t>:</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dirty="0" smtClean="0"/>
              <a:t>But, must think about application.  Not </a:t>
            </a:r>
            <a:r>
              <a:rPr lang="en-US" dirty="0" err="1" smtClean="0"/>
              <a:t>alway</a:t>
            </a:r>
            <a:r>
              <a:rPr lang="en-US" dirty="0" smtClean="0"/>
              <a:t> appropriate to exit when something goes wrong.</a:t>
            </a:r>
            <a:endParaRPr lang="en-US" dirty="0"/>
          </a:p>
        </p:txBody>
      </p:sp>
      <p:sp>
        <p:nvSpPr>
          <p:cNvPr id="4" name="Text Box 4"/>
          <p:cNvSpPr txBox="1">
            <a:spLocks noChangeArrowheads="1"/>
          </p:cNvSpPr>
          <p:nvPr/>
        </p:nvSpPr>
        <p:spPr bwMode="auto">
          <a:xfrm>
            <a:off x="433209" y="1981200"/>
            <a:ext cx="7664854" cy="1477328"/>
          </a:xfrm>
          <a:prstGeom prst="rect">
            <a:avLst/>
          </a:prstGeom>
          <a:solidFill>
            <a:srgbClr val="F6F5BD"/>
          </a:solidFill>
          <a:ln w="3175">
            <a:solidFill>
              <a:schemeClr val="tx1"/>
            </a:solidFill>
            <a:miter lim="800000"/>
            <a:headEnd/>
            <a:tailEnd/>
          </a:ln>
          <a:effectLst/>
        </p:spPr>
        <p:txBody>
          <a:bodyPr wrap="none">
            <a:spAutoFit/>
          </a:bodyPr>
          <a:lstStyle/>
          <a:p>
            <a:r>
              <a:rPr lang="en-US" sz="1800" dirty="0">
                <a:solidFill>
                  <a:srgbClr val="2D961E"/>
                </a:solidFill>
                <a:latin typeface="Courier New"/>
                <a:cs typeface="Courier New"/>
              </a:rPr>
              <a:t>void</a:t>
            </a:r>
            <a:r>
              <a:rPr lang="en-US" sz="1800" dirty="0">
                <a:solidFill>
                  <a:srgbClr val="000000"/>
                </a:solidFill>
                <a:latin typeface="Courier New"/>
                <a:cs typeface="Courier New"/>
              </a:rPr>
              <a:t> </a:t>
            </a:r>
            <a:r>
              <a:rPr lang="en-US" sz="1800" dirty="0" err="1">
                <a:solidFill>
                  <a:srgbClr val="4A00FF"/>
                </a:solidFill>
                <a:latin typeface="Courier New"/>
                <a:cs typeface="Courier New"/>
              </a:rPr>
              <a:t>unix_error</a:t>
            </a:r>
            <a:r>
              <a:rPr lang="en-US" sz="1800" dirty="0">
                <a:solidFill>
                  <a:srgbClr val="000000"/>
                </a:solidFill>
                <a:latin typeface="Courier New"/>
                <a:cs typeface="Courier New"/>
              </a:rPr>
              <a:t>(</a:t>
            </a:r>
            <a:r>
              <a:rPr lang="en-US" sz="1800" dirty="0">
                <a:solidFill>
                  <a:srgbClr val="2D961E"/>
                </a:solidFill>
                <a:latin typeface="Courier New"/>
                <a:cs typeface="Courier New"/>
              </a:rPr>
              <a:t>char</a:t>
            </a:r>
            <a:r>
              <a:rPr lang="en-US" sz="1800" dirty="0">
                <a:solidFill>
                  <a:srgbClr val="000000"/>
                </a:solidFill>
                <a:latin typeface="Courier New"/>
                <a:cs typeface="Courier New"/>
              </a:rPr>
              <a:t> *</a:t>
            </a:r>
            <a:r>
              <a:rPr lang="en-US" sz="1800" dirty="0" err="1">
                <a:solidFill>
                  <a:srgbClr val="C1651C"/>
                </a:solidFill>
                <a:latin typeface="Courier New"/>
                <a:cs typeface="Courier New"/>
              </a:rPr>
              <a:t>msg</a:t>
            </a:r>
            <a:r>
              <a:rPr lang="en-US" sz="1800" dirty="0">
                <a:solidFill>
                  <a:srgbClr val="000000"/>
                </a:solidFill>
                <a:latin typeface="Courier New"/>
                <a:cs typeface="Courier New"/>
              </a:rPr>
              <a:t>) </a:t>
            </a:r>
            <a:r>
              <a:rPr lang="en-US" sz="1800" dirty="0">
                <a:solidFill>
                  <a:srgbClr val="CB2418"/>
                </a:solidFill>
                <a:latin typeface="Courier New"/>
                <a:cs typeface="Courier New"/>
              </a:rPr>
              <a:t>/* Unix-style error */</a:t>
            </a:r>
            <a:endParaRPr lang="en-US" sz="1800" dirty="0">
              <a:solidFill>
                <a:srgbClr val="000000"/>
              </a:solidFill>
              <a:latin typeface="Courier New"/>
              <a:cs typeface="Courier New"/>
            </a:endParaRPr>
          </a:p>
          <a:p>
            <a:r>
              <a:rPr lang="en-US"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fprintf</a:t>
            </a:r>
            <a:r>
              <a:rPr lang="en-US" sz="1800" dirty="0">
                <a:solidFill>
                  <a:srgbClr val="000000"/>
                </a:solidFill>
                <a:latin typeface="Courier New"/>
                <a:cs typeface="Courier New"/>
              </a:rPr>
              <a:t>(</a:t>
            </a:r>
            <a:r>
              <a:rPr lang="en-US" sz="1800" dirty="0" err="1">
                <a:solidFill>
                  <a:srgbClr val="000000"/>
                </a:solidFill>
                <a:latin typeface="Courier New"/>
                <a:cs typeface="Courier New"/>
              </a:rPr>
              <a:t>stderr</a:t>
            </a:r>
            <a:r>
              <a:rPr lang="en-US" sz="1800" dirty="0">
                <a:solidFill>
                  <a:srgbClr val="000000"/>
                </a:solidFill>
                <a:latin typeface="Courier New"/>
                <a:cs typeface="Courier New"/>
              </a:rPr>
              <a:t>, </a:t>
            </a:r>
            <a:r>
              <a:rPr lang="en-US" sz="1800" dirty="0">
                <a:solidFill>
                  <a:srgbClr val="9D206F"/>
                </a:solidFill>
                <a:latin typeface="Courier New"/>
                <a:cs typeface="Courier New"/>
              </a:rPr>
              <a:t>"%s: %s\n"</a:t>
            </a:r>
            <a:r>
              <a:rPr lang="en-US" sz="1800" dirty="0">
                <a:solidFill>
                  <a:srgbClr val="000000"/>
                </a:solidFill>
                <a:latin typeface="Courier New"/>
                <a:cs typeface="Courier New"/>
              </a:rPr>
              <a:t>, </a:t>
            </a:r>
            <a:r>
              <a:rPr lang="en-US" sz="1800" dirty="0" err="1">
                <a:solidFill>
                  <a:srgbClr val="000000"/>
                </a:solidFill>
                <a:latin typeface="Courier New"/>
                <a:cs typeface="Courier New"/>
              </a:rPr>
              <a:t>msg</a:t>
            </a:r>
            <a:r>
              <a:rPr lang="en-US" sz="1800" dirty="0">
                <a:solidFill>
                  <a:srgbClr val="000000"/>
                </a:solidFill>
                <a:latin typeface="Courier New"/>
                <a:cs typeface="Courier New"/>
              </a:rPr>
              <a:t>, </a:t>
            </a:r>
            <a:r>
              <a:rPr lang="en-US" sz="1800" dirty="0" err="1">
                <a:solidFill>
                  <a:srgbClr val="000000"/>
                </a:solidFill>
                <a:latin typeface="Courier New"/>
                <a:cs typeface="Courier New"/>
              </a:rPr>
              <a:t>strerror</a:t>
            </a:r>
            <a:r>
              <a:rPr lang="en-US" sz="1800" dirty="0">
                <a:solidFill>
                  <a:srgbClr val="000000"/>
                </a:solidFill>
                <a:latin typeface="Courier New"/>
                <a:cs typeface="Courier New"/>
              </a:rPr>
              <a:t>(</a:t>
            </a:r>
            <a:r>
              <a:rPr lang="en-US" sz="1800" dirty="0" err="1">
                <a:solidFill>
                  <a:srgbClr val="000000"/>
                </a:solidFill>
                <a:latin typeface="Courier New"/>
                <a:cs typeface="Courier New"/>
              </a:rPr>
              <a:t>errno</a:t>
            </a:r>
            <a:r>
              <a:rPr lang="en-US" sz="1800" dirty="0">
                <a:solidFill>
                  <a:srgbClr val="000000"/>
                </a:solidFill>
                <a:latin typeface="Courier New"/>
                <a:cs typeface="Courier New"/>
              </a:rPr>
              <a:t>));</a:t>
            </a:r>
          </a:p>
          <a:p>
            <a:r>
              <a:rPr lang="en-US" sz="1800" dirty="0">
                <a:solidFill>
                  <a:srgbClr val="000000"/>
                </a:solidFill>
                <a:latin typeface="Courier New"/>
                <a:cs typeface="Courier New"/>
              </a:rPr>
              <a:t>    exit</a:t>
            </a:r>
            <a:r>
              <a:rPr lang="en-US" sz="1800" dirty="0" smtClean="0">
                <a:solidFill>
                  <a:srgbClr val="000000"/>
                </a:solidFill>
                <a:latin typeface="Courier New"/>
                <a:cs typeface="Courier New"/>
              </a:rPr>
              <a:t>(-1);</a:t>
            </a:r>
            <a:endParaRPr lang="en-US" sz="1800" dirty="0">
              <a:solidFill>
                <a:srgbClr val="000000"/>
              </a:solidFill>
              <a:latin typeface="Courier New"/>
              <a:cs typeface="Courier New"/>
            </a:endParaRPr>
          </a:p>
          <a:p>
            <a:r>
              <a:rPr lang="en-US" sz="1800" dirty="0">
                <a:solidFill>
                  <a:srgbClr val="000000"/>
                </a:solidFill>
                <a:latin typeface="Courier New"/>
                <a:cs typeface="Courier New"/>
              </a:rPr>
              <a:t>}</a:t>
            </a:r>
            <a:endParaRPr lang="en-US" sz="1800" dirty="0">
              <a:latin typeface="Courier New"/>
              <a:cs typeface="Courier New"/>
            </a:endParaRPr>
          </a:p>
        </p:txBody>
      </p:sp>
      <p:sp>
        <p:nvSpPr>
          <p:cNvPr id="5" name="Text Box 4"/>
          <p:cNvSpPr txBox="1">
            <a:spLocks noChangeArrowheads="1"/>
          </p:cNvSpPr>
          <p:nvPr/>
        </p:nvSpPr>
        <p:spPr bwMode="auto">
          <a:xfrm>
            <a:off x="474116" y="4230469"/>
            <a:ext cx="4256209" cy="646331"/>
          </a:xfrm>
          <a:prstGeom prst="rect">
            <a:avLst/>
          </a:prstGeom>
          <a:solidFill>
            <a:srgbClr val="F6F5BD"/>
          </a:solidFill>
          <a:ln w="3175">
            <a:solidFill>
              <a:schemeClr val="tx1"/>
            </a:solidFill>
            <a:miter lim="800000"/>
            <a:headEnd/>
            <a:tailEnd/>
          </a:ln>
          <a:effectLst/>
        </p:spPr>
        <p:txBody>
          <a:bodyPr wrap="none">
            <a:spAutoFit/>
          </a:bodyPr>
          <a:lstStyle/>
          <a:p>
            <a:r>
              <a:rPr lang="nb-NO" sz="1800" dirty="0">
                <a:solidFill>
                  <a:srgbClr val="000000"/>
                </a:solidFill>
                <a:latin typeface="Courier New"/>
                <a:cs typeface="Courier New"/>
              </a:rPr>
              <a:t> </a:t>
            </a:r>
            <a:r>
              <a:rPr lang="nb-NO" sz="1800" dirty="0" err="1">
                <a:solidFill>
                  <a:srgbClr val="C200FF"/>
                </a:solidFill>
                <a:latin typeface="Courier New"/>
                <a:cs typeface="Courier New"/>
              </a:rPr>
              <a:t>if</a:t>
            </a:r>
            <a:r>
              <a:rPr lang="nb-NO" sz="1800" dirty="0">
                <a:solidFill>
                  <a:srgbClr val="000000"/>
                </a:solidFill>
                <a:latin typeface="Courier New"/>
                <a:cs typeface="Courier New"/>
              </a:rPr>
              <a:t> ((</a:t>
            </a:r>
            <a:r>
              <a:rPr lang="nb-NO" sz="1800" dirty="0" err="1">
                <a:solidFill>
                  <a:srgbClr val="000000"/>
                </a:solidFill>
                <a:latin typeface="Courier New"/>
                <a:cs typeface="Courier New"/>
              </a:rPr>
              <a:t>pid</a:t>
            </a:r>
            <a:r>
              <a:rPr lang="nb-NO" sz="1800" dirty="0">
                <a:solidFill>
                  <a:srgbClr val="000000"/>
                </a:solidFill>
                <a:latin typeface="Courier New"/>
                <a:cs typeface="Courier New"/>
              </a:rPr>
              <a:t> = fork()) &lt; 0)</a:t>
            </a:r>
          </a:p>
          <a:p>
            <a:r>
              <a:rPr lang="nb-NO" sz="1800" dirty="0">
                <a:solidFill>
                  <a:srgbClr val="000000"/>
                </a:solidFill>
                <a:latin typeface="Courier New"/>
                <a:cs typeface="Courier New"/>
              </a:rPr>
              <a:t>    </a:t>
            </a:r>
            <a:r>
              <a:rPr lang="nb-NO" sz="1800" dirty="0" err="1" smtClean="0">
                <a:solidFill>
                  <a:srgbClr val="000000"/>
                </a:solidFill>
                <a:latin typeface="Courier New"/>
                <a:cs typeface="Courier New"/>
              </a:rPr>
              <a:t>unix_error</a:t>
            </a:r>
            <a:r>
              <a:rPr lang="nb-NO" sz="1800" dirty="0">
                <a:solidFill>
                  <a:srgbClr val="000000"/>
                </a:solidFill>
                <a:latin typeface="Courier New"/>
                <a:cs typeface="Courier New"/>
              </a:rPr>
              <a:t>(</a:t>
            </a:r>
            <a:r>
              <a:rPr lang="nb-NO" sz="1800" dirty="0">
                <a:solidFill>
                  <a:srgbClr val="9D206F"/>
                </a:solidFill>
                <a:latin typeface="Courier New"/>
                <a:cs typeface="Courier New"/>
              </a:rPr>
              <a:t>"fork </a:t>
            </a:r>
            <a:r>
              <a:rPr lang="nb-NO" sz="1800" dirty="0" err="1">
                <a:solidFill>
                  <a:srgbClr val="9D206F"/>
                </a:solidFill>
                <a:latin typeface="Courier New"/>
                <a:cs typeface="Courier New"/>
              </a:rPr>
              <a:t>error</a:t>
            </a:r>
            <a:r>
              <a:rPr lang="nb-NO" sz="1800" dirty="0">
                <a:solidFill>
                  <a:srgbClr val="9D206F"/>
                </a:solidFill>
                <a:latin typeface="Courier New"/>
                <a:cs typeface="Courier New"/>
              </a:rPr>
              <a:t>"</a:t>
            </a:r>
            <a:r>
              <a:rPr lang="nb-NO" sz="1800" dirty="0">
                <a:solidFill>
                  <a:srgbClr val="000000"/>
                </a:solidFill>
                <a:latin typeface="Courier New"/>
                <a:cs typeface="Courier New"/>
              </a:rPr>
              <a:t>);</a:t>
            </a:r>
            <a:endParaRPr lang="en-US" sz="1800" dirty="0">
              <a:latin typeface="Courier New"/>
              <a:cs typeface="Courier New"/>
            </a:endParaRPr>
          </a:p>
        </p:txBody>
      </p:sp>
    </p:spTree>
    <p:extLst>
      <p:ext uri="{BB962C8B-B14F-4D97-AF65-F5344CB8AC3E}">
        <p14:creationId xmlns:p14="http://schemas.microsoft.com/office/powerpoint/2010/main" val="2113288120"/>
      </p:ext>
    </p:extLst>
  </p:cSld>
  <p:clrMapOvr>
    <a:masterClrMapping/>
  </p:clrMapOvr>
  <p:timing>
    <p:tnLst>
      <p:par>
        <p:cTn xmlns:p14="http://schemas.microsoft.com/office/powerpoint/2010/mai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Error-handling Wrappers	</a:t>
            </a:r>
            <a:endParaRPr lang="en-US" dirty="0"/>
          </a:p>
        </p:txBody>
      </p:sp>
      <p:sp>
        <p:nvSpPr>
          <p:cNvPr id="3" name="Content Placeholder 2"/>
          <p:cNvSpPr>
            <a:spLocks noGrp="1"/>
          </p:cNvSpPr>
          <p:nvPr>
            <p:ph idx="1"/>
          </p:nvPr>
        </p:nvSpPr>
        <p:spPr>
          <a:xfrm>
            <a:off x="396875" y="1362075"/>
            <a:ext cx="7896225" cy="847725"/>
          </a:xfrm>
        </p:spPr>
        <p:txBody>
          <a:bodyPr/>
          <a:lstStyle/>
          <a:p>
            <a:r>
              <a:rPr lang="en-US" dirty="0" smtClean="0"/>
              <a:t>We simplify the code we present to you even further by using Stevens-style error-handling wrappers:</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dirty="0" smtClean="0"/>
              <a:t>NOT what you generally want to do in a real application</a:t>
            </a:r>
            <a:endParaRPr lang="en-US" dirty="0"/>
          </a:p>
        </p:txBody>
      </p:sp>
      <p:sp>
        <p:nvSpPr>
          <p:cNvPr id="4" name="Text Box 4"/>
          <p:cNvSpPr txBox="1">
            <a:spLocks noChangeArrowheads="1"/>
          </p:cNvSpPr>
          <p:nvPr/>
        </p:nvSpPr>
        <p:spPr bwMode="auto">
          <a:xfrm>
            <a:off x="433209" y="2408872"/>
            <a:ext cx="4770769" cy="2308324"/>
          </a:xfrm>
          <a:prstGeom prst="rect">
            <a:avLst/>
          </a:prstGeom>
          <a:solidFill>
            <a:srgbClr val="F6F5BD"/>
          </a:solidFill>
          <a:ln w="3175">
            <a:solidFill>
              <a:schemeClr val="tx1"/>
            </a:solidFill>
            <a:miter lim="800000"/>
            <a:headEnd/>
            <a:tailEnd/>
          </a:ln>
          <a:effectLst/>
        </p:spPr>
        <p:txBody>
          <a:bodyPr wrap="none">
            <a:spAutoFit/>
          </a:bodyPr>
          <a:lstStyle/>
          <a:p>
            <a:r>
              <a:rPr lang="en-US" sz="1800" dirty="0" err="1">
                <a:solidFill>
                  <a:srgbClr val="2D961E"/>
                </a:solidFill>
                <a:latin typeface="Courier New"/>
                <a:cs typeface="Courier New"/>
              </a:rPr>
              <a:t>pid_t</a:t>
            </a:r>
            <a:r>
              <a:rPr lang="en-US" sz="1800" dirty="0">
                <a:solidFill>
                  <a:srgbClr val="000000"/>
                </a:solidFill>
                <a:latin typeface="Courier New"/>
                <a:cs typeface="Courier New"/>
              </a:rPr>
              <a:t> </a:t>
            </a:r>
            <a:r>
              <a:rPr lang="en-US" sz="1800" dirty="0">
                <a:solidFill>
                  <a:srgbClr val="4A00FF"/>
                </a:solidFill>
                <a:latin typeface="Courier New"/>
                <a:cs typeface="Courier New"/>
              </a:rPr>
              <a:t>Fork</a:t>
            </a:r>
            <a:r>
              <a:rPr lang="en-US" sz="1800" dirty="0">
                <a:solidFill>
                  <a:srgbClr val="000000"/>
                </a:solidFill>
                <a:latin typeface="Courier New"/>
                <a:cs typeface="Courier New"/>
              </a:rPr>
              <a:t>(</a:t>
            </a:r>
            <a:r>
              <a:rPr lang="en-US" sz="1800" dirty="0">
                <a:solidFill>
                  <a:srgbClr val="2D961E"/>
                </a:solidFill>
                <a:latin typeface="Courier New"/>
                <a:cs typeface="Courier New"/>
              </a:rPr>
              <a:t>void</a:t>
            </a:r>
            <a:r>
              <a:rPr lang="en-US" sz="1800" dirty="0">
                <a:solidFill>
                  <a:srgbClr val="000000"/>
                </a:solidFill>
                <a:latin typeface="Courier New"/>
                <a:cs typeface="Courier New"/>
              </a:rPr>
              <a:t>)</a:t>
            </a:r>
          </a:p>
          <a:p>
            <a:r>
              <a:rPr lang="en-US" sz="1800" dirty="0">
                <a:solidFill>
                  <a:srgbClr val="000000"/>
                </a:solidFill>
                <a:latin typeface="Courier New"/>
                <a:cs typeface="Courier New"/>
              </a:rPr>
              <a:t>{</a:t>
            </a:r>
          </a:p>
          <a:p>
            <a:r>
              <a:rPr lang="fi-FI" sz="1800" dirty="0">
                <a:solidFill>
                  <a:srgbClr val="000000"/>
                </a:solidFill>
                <a:latin typeface="Courier New"/>
                <a:cs typeface="Courier New"/>
              </a:rPr>
              <a:t>    </a:t>
            </a:r>
            <a:r>
              <a:rPr lang="fi-FI" sz="1800" dirty="0" err="1">
                <a:solidFill>
                  <a:srgbClr val="2D961E"/>
                </a:solidFill>
                <a:latin typeface="Courier New"/>
                <a:cs typeface="Courier New"/>
              </a:rPr>
              <a:t>pid_t</a:t>
            </a:r>
            <a:r>
              <a:rPr lang="fi-FI" sz="1800" dirty="0">
                <a:solidFill>
                  <a:srgbClr val="000000"/>
                </a:solidFill>
                <a:latin typeface="Courier New"/>
                <a:cs typeface="Courier New"/>
              </a:rPr>
              <a:t> </a:t>
            </a:r>
            <a:r>
              <a:rPr lang="fi-FI" sz="1800" dirty="0" err="1">
                <a:solidFill>
                  <a:srgbClr val="C1651C"/>
                </a:solidFill>
                <a:latin typeface="Courier New"/>
                <a:cs typeface="Courier New"/>
              </a:rPr>
              <a:t>pid</a:t>
            </a:r>
            <a:r>
              <a:rPr lang="fi-FI" sz="1800" dirty="0">
                <a:solidFill>
                  <a:srgbClr val="000000"/>
                </a:solidFill>
                <a:latin typeface="Courier New"/>
                <a:cs typeface="Courier New"/>
              </a:rPr>
              <a:t>;</a:t>
            </a:r>
          </a:p>
          <a:p>
            <a:endParaRPr lang="fi-FI" sz="1800" dirty="0">
              <a:solidFill>
                <a:srgbClr val="000000"/>
              </a:solidFill>
              <a:latin typeface="Courier New"/>
              <a:cs typeface="Courier New"/>
            </a:endParaRPr>
          </a:p>
          <a:p>
            <a:r>
              <a:rPr lang="nb-NO" sz="1800" dirty="0">
                <a:solidFill>
                  <a:srgbClr val="000000"/>
                </a:solidFill>
                <a:latin typeface="Courier New"/>
                <a:cs typeface="Courier New"/>
              </a:rPr>
              <a:t>    </a:t>
            </a:r>
            <a:r>
              <a:rPr lang="nb-NO" sz="1800" dirty="0" err="1">
                <a:solidFill>
                  <a:srgbClr val="C200FF"/>
                </a:solidFill>
                <a:latin typeface="Courier New"/>
                <a:cs typeface="Courier New"/>
              </a:rPr>
              <a:t>if</a:t>
            </a:r>
            <a:r>
              <a:rPr lang="nb-NO" sz="1800" dirty="0">
                <a:solidFill>
                  <a:srgbClr val="000000"/>
                </a:solidFill>
                <a:latin typeface="Courier New"/>
                <a:cs typeface="Courier New"/>
              </a:rPr>
              <a:t> ((</a:t>
            </a:r>
            <a:r>
              <a:rPr lang="nb-NO" sz="1800" dirty="0" err="1">
                <a:solidFill>
                  <a:srgbClr val="000000"/>
                </a:solidFill>
                <a:latin typeface="Courier New"/>
                <a:cs typeface="Courier New"/>
              </a:rPr>
              <a:t>pid</a:t>
            </a:r>
            <a:r>
              <a:rPr lang="nb-NO" sz="1800" dirty="0">
                <a:solidFill>
                  <a:srgbClr val="000000"/>
                </a:solidFill>
                <a:latin typeface="Courier New"/>
                <a:cs typeface="Courier New"/>
              </a:rPr>
              <a:t> = fork()) &lt; 0)</a:t>
            </a:r>
          </a:p>
          <a:p>
            <a:r>
              <a:rPr lang="nb-NO" sz="1800" dirty="0">
                <a:solidFill>
                  <a:srgbClr val="000000"/>
                </a:solidFill>
                <a:latin typeface="Courier New"/>
                <a:cs typeface="Courier New"/>
              </a:rPr>
              <a:t>        </a:t>
            </a:r>
            <a:r>
              <a:rPr lang="nb-NO" sz="1800" dirty="0" err="1">
                <a:solidFill>
                  <a:srgbClr val="000000"/>
                </a:solidFill>
                <a:latin typeface="Courier New"/>
                <a:cs typeface="Courier New"/>
              </a:rPr>
              <a:t>unix_error</a:t>
            </a:r>
            <a:r>
              <a:rPr lang="nb-NO" sz="1800" dirty="0">
                <a:solidFill>
                  <a:srgbClr val="000000"/>
                </a:solidFill>
                <a:latin typeface="Courier New"/>
                <a:cs typeface="Courier New"/>
              </a:rPr>
              <a:t>(</a:t>
            </a:r>
            <a:r>
              <a:rPr lang="nb-NO" sz="1800" dirty="0">
                <a:solidFill>
                  <a:srgbClr val="9D206F"/>
                </a:solidFill>
                <a:latin typeface="Courier New"/>
                <a:cs typeface="Courier New"/>
              </a:rPr>
              <a:t>"Fork </a:t>
            </a:r>
            <a:r>
              <a:rPr lang="nb-NO" sz="1800" dirty="0" err="1">
                <a:solidFill>
                  <a:srgbClr val="9D206F"/>
                </a:solidFill>
                <a:latin typeface="Courier New"/>
                <a:cs typeface="Courier New"/>
              </a:rPr>
              <a:t>error</a:t>
            </a:r>
            <a:r>
              <a:rPr lang="nb-NO" sz="1800" dirty="0">
                <a:solidFill>
                  <a:srgbClr val="9D206F"/>
                </a:solidFill>
                <a:latin typeface="Courier New"/>
                <a:cs typeface="Courier New"/>
              </a:rPr>
              <a:t>"</a:t>
            </a:r>
            <a:r>
              <a:rPr lang="nb-NO" sz="1800" dirty="0">
                <a:solidFill>
                  <a:srgbClr val="000000"/>
                </a:solidFill>
                <a:latin typeface="Courier New"/>
                <a:cs typeface="Courier New"/>
              </a:rPr>
              <a:t>);</a:t>
            </a:r>
          </a:p>
          <a:p>
            <a:r>
              <a:rPr lang="nb-NO" sz="1800" dirty="0">
                <a:solidFill>
                  <a:srgbClr val="000000"/>
                </a:solidFill>
                <a:latin typeface="Courier New"/>
                <a:cs typeface="Courier New"/>
              </a:rPr>
              <a:t>    </a:t>
            </a:r>
            <a:r>
              <a:rPr lang="nb-NO" sz="1800" dirty="0" err="1">
                <a:solidFill>
                  <a:srgbClr val="C200FF"/>
                </a:solidFill>
                <a:latin typeface="Courier New"/>
                <a:cs typeface="Courier New"/>
              </a:rPr>
              <a:t>return</a:t>
            </a:r>
            <a:r>
              <a:rPr lang="nb-NO" sz="1800" dirty="0">
                <a:solidFill>
                  <a:srgbClr val="000000"/>
                </a:solidFill>
                <a:latin typeface="Courier New"/>
                <a:cs typeface="Courier New"/>
              </a:rPr>
              <a:t> </a:t>
            </a:r>
            <a:r>
              <a:rPr lang="nb-NO" sz="1800" dirty="0" err="1">
                <a:solidFill>
                  <a:srgbClr val="000000"/>
                </a:solidFill>
                <a:latin typeface="Courier New"/>
                <a:cs typeface="Courier New"/>
              </a:rPr>
              <a:t>pid</a:t>
            </a:r>
            <a:r>
              <a:rPr lang="nb-NO" sz="1800" dirty="0">
                <a:solidFill>
                  <a:srgbClr val="000000"/>
                </a:solidFill>
                <a:latin typeface="Courier New"/>
                <a:cs typeface="Courier New"/>
              </a:rPr>
              <a:t>;</a:t>
            </a:r>
          </a:p>
          <a:p>
            <a:r>
              <a:rPr lang="nb-NO" sz="1800" dirty="0">
                <a:solidFill>
                  <a:srgbClr val="000000"/>
                </a:solidFill>
                <a:latin typeface="Courier New"/>
                <a:cs typeface="Courier New"/>
              </a:rPr>
              <a:t>}</a:t>
            </a:r>
            <a:endParaRPr lang="en-US" sz="1800" dirty="0">
              <a:latin typeface="Courier New"/>
              <a:cs typeface="Courier New"/>
            </a:endParaRPr>
          </a:p>
        </p:txBody>
      </p:sp>
      <p:sp>
        <p:nvSpPr>
          <p:cNvPr id="5" name="Text Box 4"/>
          <p:cNvSpPr txBox="1">
            <a:spLocks noChangeArrowheads="1"/>
          </p:cNvSpPr>
          <p:nvPr/>
        </p:nvSpPr>
        <p:spPr bwMode="auto">
          <a:xfrm>
            <a:off x="474116" y="5221069"/>
            <a:ext cx="2316900" cy="369332"/>
          </a:xfrm>
          <a:prstGeom prst="rect">
            <a:avLst/>
          </a:prstGeom>
          <a:solidFill>
            <a:srgbClr val="F6F5BD"/>
          </a:solidFill>
          <a:ln w="3175">
            <a:solidFill>
              <a:schemeClr val="tx1"/>
            </a:solidFill>
            <a:miter lim="800000"/>
            <a:headEnd/>
            <a:tailEnd/>
          </a:ln>
          <a:effectLst/>
        </p:spPr>
        <p:txBody>
          <a:bodyPr wrap="none">
            <a:spAutoFit/>
          </a:bodyPr>
          <a:lstStyle/>
          <a:p>
            <a:r>
              <a:rPr lang="nb-NO" sz="1800" dirty="0">
                <a:solidFill>
                  <a:srgbClr val="000000"/>
                </a:solidFill>
                <a:latin typeface="Courier New"/>
                <a:cs typeface="Courier New"/>
              </a:rPr>
              <a:t> </a:t>
            </a:r>
            <a:r>
              <a:rPr lang="fi-FI" sz="1800" dirty="0">
                <a:solidFill>
                  <a:srgbClr val="000000"/>
                </a:solidFill>
                <a:latin typeface="Courier New"/>
                <a:cs typeface="Courier New"/>
              </a:rPr>
              <a:t> </a:t>
            </a:r>
            <a:r>
              <a:rPr lang="fi-FI" sz="1800" dirty="0" err="1">
                <a:solidFill>
                  <a:srgbClr val="000000"/>
                </a:solidFill>
                <a:latin typeface="Courier New"/>
                <a:cs typeface="Courier New"/>
              </a:rPr>
              <a:t>pid</a:t>
            </a:r>
            <a:r>
              <a:rPr lang="fi-FI" sz="1800" dirty="0">
                <a:solidFill>
                  <a:srgbClr val="000000"/>
                </a:solidFill>
                <a:latin typeface="Courier New"/>
                <a:cs typeface="Courier New"/>
              </a:rPr>
              <a:t> = </a:t>
            </a:r>
            <a:r>
              <a:rPr lang="fi-FI" sz="1800" dirty="0" err="1">
                <a:solidFill>
                  <a:srgbClr val="000000"/>
                </a:solidFill>
                <a:latin typeface="Courier New"/>
                <a:cs typeface="Courier New"/>
              </a:rPr>
              <a:t>Fork</a:t>
            </a:r>
            <a:r>
              <a:rPr lang="fi-FI" sz="1800" dirty="0">
                <a:solidFill>
                  <a:srgbClr val="000000"/>
                </a:solidFill>
                <a:latin typeface="Courier New"/>
                <a:cs typeface="Courier New"/>
              </a:rPr>
              <a:t>();</a:t>
            </a:r>
            <a:endParaRPr lang="en-US" sz="1800" dirty="0">
              <a:latin typeface="Courier New"/>
              <a:cs typeface="Courier New"/>
            </a:endParaRPr>
          </a:p>
        </p:txBody>
      </p:sp>
    </p:spTree>
    <p:extLst>
      <p:ext uri="{BB962C8B-B14F-4D97-AF65-F5344CB8AC3E}">
        <p14:creationId xmlns:p14="http://schemas.microsoft.com/office/powerpoint/2010/main" val="2246586403"/>
      </p:ext>
    </p:extLst>
  </p:cSld>
  <p:clrMapOvr>
    <a:masterClrMapping/>
  </p:clrMapOvr>
  <p:timing>
    <p:tnLst>
      <p:par>
        <p:cTn xmlns:p14="http://schemas.microsoft.com/office/powerpoint/2010/mai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Obtaining Process IDs</a:t>
            </a:r>
            <a:endParaRPr lang="en-US" dirty="0"/>
          </a:p>
        </p:txBody>
      </p:sp>
      <p:sp>
        <p:nvSpPr>
          <p:cNvPr id="3" name="Content Placeholder 2"/>
          <p:cNvSpPr>
            <a:spLocks noGrp="1"/>
          </p:cNvSpPr>
          <p:nvPr>
            <p:ph idx="1"/>
          </p:nvPr>
        </p:nvSpPr>
        <p:spPr>
          <a:xfrm>
            <a:off x="396875" y="1362075"/>
            <a:ext cx="7896225" cy="2524125"/>
          </a:xfrm>
        </p:spPr>
        <p:txBody>
          <a:bodyPr/>
          <a:lstStyle/>
          <a:p>
            <a:r>
              <a:rPr lang="en-US" dirty="0" err="1" smtClean="0">
                <a:latin typeface="Courier New"/>
                <a:cs typeface="Courier New"/>
              </a:rPr>
              <a:t>pid_t</a:t>
            </a:r>
            <a:r>
              <a:rPr lang="en-US" dirty="0" smtClean="0">
                <a:latin typeface="Courier New"/>
                <a:cs typeface="Courier New"/>
              </a:rPr>
              <a:t> </a:t>
            </a:r>
            <a:r>
              <a:rPr lang="en-US" dirty="0" err="1" smtClean="0">
                <a:latin typeface="Courier New"/>
                <a:cs typeface="Courier New"/>
              </a:rPr>
              <a:t>getpid</a:t>
            </a:r>
            <a:r>
              <a:rPr lang="en-US" dirty="0" smtClean="0">
                <a:latin typeface="Courier New"/>
                <a:cs typeface="Courier New"/>
              </a:rPr>
              <a:t>(void)</a:t>
            </a:r>
          </a:p>
          <a:p>
            <a:pPr lvl="1"/>
            <a:r>
              <a:rPr lang="en-US" dirty="0">
                <a:latin typeface="Calibri"/>
                <a:cs typeface="Calibri"/>
              </a:rPr>
              <a:t>R</a:t>
            </a:r>
            <a:r>
              <a:rPr lang="en-US" dirty="0" smtClean="0">
                <a:latin typeface="Calibri"/>
                <a:cs typeface="Calibri"/>
              </a:rPr>
              <a:t>eturns PID of current process</a:t>
            </a:r>
          </a:p>
          <a:p>
            <a:pPr lvl="1"/>
            <a:endParaRPr lang="en-US" dirty="0">
              <a:latin typeface="Calibri"/>
              <a:cs typeface="Calibri"/>
            </a:endParaRPr>
          </a:p>
          <a:p>
            <a:r>
              <a:rPr lang="en-US" dirty="0" err="1" smtClean="0">
                <a:latin typeface="Courier New"/>
                <a:cs typeface="Courier New"/>
              </a:rPr>
              <a:t>pid_t</a:t>
            </a:r>
            <a:r>
              <a:rPr lang="en-US" dirty="0" smtClean="0">
                <a:latin typeface="Courier New"/>
                <a:cs typeface="Courier New"/>
              </a:rPr>
              <a:t> </a:t>
            </a:r>
            <a:r>
              <a:rPr lang="en-US" dirty="0" err="1" smtClean="0">
                <a:latin typeface="Courier New"/>
                <a:cs typeface="Courier New"/>
              </a:rPr>
              <a:t>getppid</a:t>
            </a:r>
            <a:r>
              <a:rPr lang="en-US" dirty="0" smtClean="0">
                <a:latin typeface="Courier New"/>
                <a:cs typeface="Courier New"/>
              </a:rPr>
              <a:t>(void)</a:t>
            </a:r>
          </a:p>
          <a:p>
            <a:pPr lvl="1"/>
            <a:r>
              <a:rPr lang="en-US" dirty="0" smtClean="0">
                <a:latin typeface="Calibri"/>
                <a:cs typeface="Calibri"/>
              </a:rPr>
              <a:t>Returns PID of parent process</a:t>
            </a:r>
          </a:p>
          <a:p>
            <a:pPr lvl="1"/>
            <a:endParaRPr lang="en-US" dirty="0" smtClean="0">
              <a:latin typeface="Calibri"/>
              <a:cs typeface="Calibri"/>
            </a:endParaRPr>
          </a:p>
          <a:p>
            <a:pPr lvl="1"/>
            <a:endParaRPr lang="en-US" dirty="0">
              <a:latin typeface="Calibri"/>
              <a:cs typeface="Calibri"/>
            </a:endParaRPr>
          </a:p>
        </p:txBody>
      </p:sp>
    </p:spTree>
    <p:extLst>
      <p:ext uri="{BB962C8B-B14F-4D97-AF65-F5344CB8AC3E}">
        <p14:creationId xmlns:p14="http://schemas.microsoft.com/office/powerpoint/2010/main" val="174947366"/>
      </p:ext>
    </p:extLst>
  </p:cSld>
  <p:clrMapOvr>
    <a:masterClrMapping/>
  </p:clrMapOvr>
  <p:timing>
    <p:tnLst>
      <p:par>
        <p:cTn xmlns:p14="http://schemas.microsoft.com/office/powerpoint/2010/mai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and Terminating Processes</a:t>
            </a:r>
            <a:endParaRPr lang="en-US" dirty="0"/>
          </a:p>
        </p:txBody>
      </p:sp>
      <p:sp>
        <p:nvSpPr>
          <p:cNvPr id="3" name="Content Placeholder 2"/>
          <p:cNvSpPr>
            <a:spLocks noGrp="1"/>
          </p:cNvSpPr>
          <p:nvPr>
            <p:ph idx="1"/>
          </p:nvPr>
        </p:nvSpPr>
        <p:spPr>
          <a:xfrm>
            <a:off x="396875" y="1362075"/>
            <a:ext cx="7896225" cy="5038725"/>
          </a:xfrm>
        </p:spPr>
        <p:txBody>
          <a:bodyPr/>
          <a:lstStyle/>
          <a:p>
            <a:pPr marL="0" indent="0">
              <a:buNone/>
            </a:pPr>
            <a:r>
              <a:rPr lang="en-US" dirty="0" smtClean="0">
                <a:latin typeface="Calibri"/>
                <a:cs typeface="Calibri"/>
              </a:rPr>
              <a:t>From a programmer’s perspective, we can think of a process as being in one of three states</a:t>
            </a:r>
          </a:p>
          <a:p>
            <a:pPr marL="0" indent="0">
              <a:buNone/>
            </a:pPr>
            <a:endParaRPr lang="en-US" dirty="0">
              <a:latin typeface="Calibri"/>
              <a:cs typeface="Calibri"/>
            </a:endParaRPr>
          </a:p>
          <a:p>
            <a:r>
              <a:rPr lang="en-US" dirty="0" smtClean="0">
                <a:latin typeface="Calibri"/>
                <a:cs typeface="Calibri"/>
              </a:rPr>
              <a:t>Running	</a:t>
            </a:r>
          </a:p>
          <a:p>
            <a:pPr lvl="1"/>
            <a:r>
              <a:rPr lang="en-US" dirty="0" smtClean="0">
                <a:latin typeface="Calibri"/>
                <a:cs typeface="Calibri"/>
              </a:rPr>
              <a:t>Process is either executing, or waiting to be executed and will eventually be </a:t>
            </a:r>
            <a:r>
              <a:rPr lang="en-US" i="1" dirty="0" smtClean="0">
                <a:latin typeface="Calibri"/>
                <a:cs typeface="Calibri"/>
              </a:rPr>
              <a:t>scheduled</a:t>
            </a:r>
            <a:r>
              <a:rPr lang="en-US" dirty="0" smtClean="0">
                <a:latin typeface="Calibri"/>
                <a:cs typeface="Calibri"/>
              </a:rPr>
              <a:t> (i.e., chosen to execute) by the kernel</a:t>
            </a:r>
          </a:p>
          <a:p>
            <a:pPr lvl="1"/>
            <a:endParaRPr lang="en-US" dirty="0">
              <a:latin typeface="Calibri"/>
              <a:cs typeface="Calibri"/>
            </a:endParaRPr>
          </a:p>
          <a:p>
            <a:r>
              <a:rPr lang="en-US" dirty="0" smtClean="0">
                <a:latin typeface="Calibri"/>
                <a:cs typeface="Calibri"/>
              </a:rPr>
              <a:t>Stopped</a:t>
            </a:r>
          </a:p>
          <a:p>
            <a:pPr lvl="1"/>
            <a:r>
              <a:rPr lang="en-US" dirty="0" smtClean="0">
                <a:latin typeface="Calibri"/>
                <a:cs typeface="Calibri"/>
              </a:rPr>
              <a:t>Process execution is </a:t>
            </a:r>
            <a:r>
              <a:rPr lang="en-US" i="1" dirty="0" smtClean="0">
                <a:latin typeface="Calibri"/>
                <a:cs typeface="Calibri"/>
              </a:rPr>
              <a:t>suspended</a:t>
            </a:r>
            <a:r>
              <a:rPr lang="en-US" dirty="0">
                <a:latin typeface="Calibri"/>
                <a:cs typeface="Calibri"/>
              </a:rPr>
              <a:t> </a:t>
            </a:r>
            <a:r>
              <a:rPr lang="en-US" dirty="0" smtClean="0">
                <a:latin typeface="Calibri"/>
                <a:cs typeface="Calibri"/>
              </a:rPr>
              <a:t>and will not be scheduled until further notice (next lecture when we study signals)	</a:t>
            </a:r>
          </a:p>
          <a:p>
            <a:pPr lvl="1"/>
            <a:endParaRPr lang="en-US" dirty="0">
              <a:latin typeface="Calibri"/>
              <a:cs typeface="Calibri"/>
            </a:endParaRPr>
          </a:p>
          <a:p>
            <a:r>
              <a:rPr lang="en-US" dirty="0" smtClean="0">
                <a:latin typeface="Calibri"/>
                <a:cs typeface="Calibri"/>
              </a:rPr>
              <a:t>Terminated</a:t>
            </a:r>
          </a:p>
          <a:p>
            <a:pPr lvl="1"/>
            <a:r>
              <a:rPr lang="en-US" dirty="0" smtClean="0">
                <a:latin typeface="Calibri"/>
                <a:cs typeface="Calibri"/>
              </a:rPr>
              <a:t>Process is stopped permanently</a:t>
            </a:r>
            <a:r>
              <a:rPr lang="en-US" dirty="0" smtClean="0">
                <a:latin typeface="Courier New"/>
                <a:cs typeface="Courier New"/>
              </a:rPr>
              <a:t> </a:t>
            </a:r>
            <a:endParaRPr lang="en-US" dirty="0" smtClean="0">
              <a:latin typeface="Calibri"/>
              <a:cs typeface="Calibri"/>
            </a:endParaRPr>
          </a:p>
          <a:p>
            <a:pPr lvl="1"/>
            <a:endParaRPr lang="en-US" dirty="0" smtClean="0">
              <a:latin typeface="Calibri"/>
              <a:cs typeface="Calibri"/>
            </a:endParaRPr>
          </a:p>
          <a:p>
            <a:pPr lvl="1"/>
            <a:endParaRPr lang="en-US" dirty="0">
              <a:latin typeface="Calibri"/>
              <a:cs typeface="Calibri"/>
            </a:endParaRPr>
          </a:p>
        </p:txBody>
      </p:sp>
    </p:spTree>
    <p:extLst>
      <p:ext uri="{BB962C8B-B14F-4D97-AF65-F5344CB8AC3E}">
        <p14:creationId xmlns:p14="http://schemas.microsoft.com/office/powerpoint/2010/main" val="623937799"/>
      </p:ext>
    </p:extLst>
  </p:cSld>
  <p:clrMapOvr>
    <a:masterClrMapping/>
  </p:clrMapOvr>
  <p:timing>
    <p:tnLst>
      <p:par>
        <p:cTn xmlns:p14="http://schemas.microsoft.com/office/powerpoint/2010/mai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Terminating Processes	</a:t>
            </a:r>
            <a:endParaRPr lang="en-US" dirty="0"/>
          </a:p>
        </p:txBody>
      </p:sp>
      <p:sp>
        <p:nvSpPr>
          <p:cNvPr id="3" name="Content Placeholder 2"/>
          <p:cNvSpPr>
            <a:spLocks noGrp="1"/>
          </p:cNvSpPr>
          <p:nvPr>
            <p:ph idx="1"/>
          </p:nvPr>
        </p:nvSpPr>
        <p:spPr>
          <a:xfrm>
            <a:off x="396875" y="1362075"/>
            <a:ext cx="8670925" cy="5089525"/>
          </a:xfrm>
        </p:spPr>
        <p:txBody>
          <a:bodyPr/>
          <a:lstStyle/>
          <a:p>
            <a:r>
              <a:rPr lang="en-US" dirty="0" smtClean="0"/>
              <a:t>Process becomes terminated for one of three reasons:</a:t>
            </a:r>
          </a:p>
          <a:p>
            <a:pPr lvl="1"/>
            <a:r>
              <a:rPr lang="en-US" dirty="0" smtClean="0"/>
              <a:t>Receiving a signal whose default action is to terminate (next lecture)</a:t>
            </a:r>
          </a:p>
          <a:p>
            <a:pPr lvl="1"/>
            <a:r>
              <a:rPr lang="en-US" dirty="0" smtClean="0"/>
              <a:t>Returning from the </a:t>
            </a:r>
            <a:r>
              <a:rPr lang="en-US" b="1" dirty="0" smtClean="0">
                <a:latin typeface="Courier New"/>
                <a:cs typeface="Courier New"/>
              </a:rPr>
              <a:t>main</a:t>
            </a:r>
            <a:r>
              <a:rPr lang="en-US" dirty="0" smtClean="0"/>
              <a:t> routine</a:t>
            </a:r>
          </a:p>
          <a:p>
            <a:pPr lvl="1"/>
            <a:r>
              <a:rPr lang="en-US" dirty="0" smtClean="0"/>
              <a:t>Calling the </a:t>
            </a:r>
            <a:r>
              <a:rPr lang="en-US" b="1" dirty="0" smtClean="0">
                <a:latin typeface="Courier New"/>
                <a:cs typeface="Courier New"/>
              </a:rPr>
              <a:t>exit</a:t>
            </a:r>
            <a:r>
              <a:rPr lang="en-US" dirty="0" smtClean="0"/>
              <a:t> function</a:t>
            </a:r>
          </a:p>
          <a:p>
            <a:pPr lvl="1"/>
            <a:endParaRPr lang="en-US" dirty="0"/>
          </a:p>
          <a:p>
            <a:r>
              <a:rPr lang="en-US" dirty="0" smtClean="0">
                <a:latin typeface="Courier New"/>
                <a:cs typeface="Courier New"/>
              </a:rPr>
              <a:t>void exit(</a:t>
            </a:r>
            <a:r>
              <a:rPr lang="en-US" dirty="0" err="1" smtClean="0">
                <a:latin typeface="Courier New"/>
                <a:cs typeface="Courier New"/>
              </a:rPr>
              <a:t>int</a:t>
            </a:r>
            <a:r>
              <a:rPr lang="en-US" dirty="0" smtClean="0">
                <a:latin typeface="Courier New"/>
                <a:cs typeface="Courier New"/>
              </a:rPr>
              <a:t> status)</a:t>
            </a:r>
          </a:p>
          <a:p>
            <a:pPr lvl="1"/>
            <a:r>
              <a:rPr lang="en-US" dirty="0" smtClean="0"/>
              <a:t>Terminates with an </a:t>
            </a:r>
            <a:r>
              <a:rPr lang="en-US" i="1" dirty="0" smtClean="0"/>
              <a:t>exit status </a:t>
            </a:r>
            <a:r>
              <a:rPr lang="en-US" dirty="0" smtClean="0"/>
              <a:t>of </a:t>
            </a:r>
            <a:r>
              <a:rPr lang="en-US" b="1" dirty="0" smtClean="0">
                <a:latin typeface="Courier New"/>
                <a:cs typeface="Courier New"/>
              </a:rPr>
              <a:t>status</a:t>
            </a:r>
          </a:p>
          <a:p>
            <a:pPr lvl="1"/>
            <a:r>
              <a:rPr lang="en-US" dirty="0" smtClean="0">
                <a:latin typeface="Calibri"/>
                <a:cs typeface="Calibri"/>
              </a:rPr>
              <a:t>Convention: normal return status is 0, nonzero on error</a:t>
            </a:r>
          </a:p>
          <a:p>
            <a:pPr lvl="1"/>
            <a:r>
              <a:rPr lang="en-US" dirty="0" smtClean="0">
                <a:latin typeface="Calibri"/>
                <a:cs typeface="Calibri"/>
              </a:rPr>
              <a:t>Another way to explicitly set the exit status is to return an integer value from the main routine</a:t>
            </a:r>
          </a:p>
          <a:p>
            <a:pPr lvl="1"/>
            <a:endParaRPr lang="en-US" dirty="0">
              <a:latin typeface="Calibri"/>
              <a:cs typeface="Calibri"/>
            </a:endParaRPr>
          </a:p>
          <a:p>
            <a:r>
              <a:rPr lang="en-US" dirty="0" smtClean="0">
                <a:latin typeface="Courier New"/>
                <a:cs typeface="Courier New"/>
              </a:rPr>
              <a:t>exit</a:t>
            </a:r>
            <a:r>
              <a:rPr lang="en-US" dirty="0" smtClean="0">
                <a:latin typeface="Calibri"/>
                <a:cs typeface="Calibri"/>
              </a:rPr>
              <a:t> is called </a:t>
            </a:r>
            <a:r>
              <a:rPr lang="en-US" dirty="0" smtClean="0">
                <a:solidFill>
                  <a:srgbClr val="FF0000"/>
                </a:solidFill>
                <a:latin typeface="Calibri"/>
                <a:cs typeface="Calibri"/>
              </a:rPr>
              <a:t>once</a:t>
            </a:r>
            <a:r>
              <a:rPr lang="en-US" dirty="0" smtClean="0">
                <a:latin typeface="Calibri"/>
                <a:cs typeface="Calibri"/>
              </a:rPr>
              <a:t> but </a:t>
            </a:r>
            <a:r>
              <a:rPr lang="en-US" dirty="0" smtClean="0">
                <a:solidFill>
                  <a:srgbClr val="FF0000"/>
                </a:solidFill>
                <a:latin typeface="Calibri"/>
                <a:cs typeface="Calibri"/>
              </a:rPr>
              <a:t>never </a:t>
            </a:r>
            <a:r>
              <a:rPr lang="en-US" dirty="0" smtClean="0">
                <a:latin typeface="Calibri"/>
                <a:cs typeface="Calibri"/>
              </a:rPr>
              <a:t>returns.</a:t>
            </a:r>
          </a:p>
          <a:p>
            <a:endParaRPr lang="en-US" dirty="0"/>
          </a:p>
          <a:p>
            <a:endParaRPr lang="en-US" dirty="0"/>
          </a:p>
        </p:txBody>
      </p:sp>
    </p:spTree>
    <p:extLst>
      <p:ext uri="{BB962C8B-B14F-4D97-AF65-F5344CB8AC3E}">
        <p14:creationId xmlns:p14="http://schemas.microsoft.com/office/powerpoint/2010/main" val="1617468533"/>
      </p:ext>
    </p:extLst>
  </p:cSld>
  <p:clrMapOvr>
    <a:masterClrMapping/>
  </p:clrMapOvr>
  <p:timing>
    <p:tnLst>
      <p:par>
        <p:cTn xmlns:p14="http://schemas.microsoft.com/office/powerpoint/2010/mai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title"/>
          </p:nvPr>
        </p:nvSpPr>
        <p:spPr>
          <a:xfrm>
            <a:off x="352426" y="493712"/>
            <a:ext cx="7159078" cy="573088"/>
          </a:xfrm>
        </p:spPr>
        <p:txBody>
          <a:bodyPr/>
          <a:lstStyle/>
          <a:p>
            <a:r>
              <a:rPr lang="en-US" dirty="0" smtClean="0">
                <a:latin typeface="Calibri"/>
                <a:cs typeface="Calibri"/>
              </a:rPr>
              <a:t>Creating Processes</a:t>
            </a:r>
            <a:endParaRPr lang="en-US" dirty="0"/>
          </a:p>
        </p:txBody>
      </p:sp>
      <p:sp>
        <p:nvSpPr>
          <p:cNvPr id="489475" name="Rectangle 3"/>
          <p:cNvSpPr>
            <a:spLocks noGrp="1" noChangeArrowheads="1"/>
          </p:cNvSpPr>
          <p:nvPr>
            <p:ph type="body" idx="1"/>
          </p:nvPr>
        </p:nvSpPr>
        <p:spPr>
          <a:xfrm>
            <a:off x="367844" y="1282244"/>
            <a:ext cx="8015287" cy="5270956"/>
          </a:xfrm>
        </p:spPr>
        <p:txBody>
          <a:bodyPr/>
          <a:lstStyle/>
          <a:p>
            <a:r>
              <a:rPr lang="en-US" i="1" dirty="0" smtClean="0">
                <a:latin typeface="Calibri"/>
                <a:cs typeface="Calibri"/>
              </a:rPr>
              <a:t>Parent process </a:t>
            </a:r>
            <a:r>
              <a:rPr lang="en-US" dirty="0" smtClean="0">
                <a:latin typeface="Calibri"/>
                <a:cs typeface="Calibri"/>
              </a:rPr>
              <a:t>creates a new running </a:t>
            </a:r>
            <a:r>
              <a:rPr lang="en-US" i="1" dirty="0" smtClean="0">
                <a:latin typeface="Calibri"/>
                <a:cs typeface="Calibri"/>
              </a:rPr>
              <a:t>child process </a:t>
            </a:r>
            <a:r>
              <a:rPr lang="en-US" dirty="0" smtClean="0">
                <a:latin typeface="Calibri"/>
                <a:cs typeface="Calibri"/>
              </a:rPr>
              <a:t>by calling </a:t>
            </a:r>
            <a:r>
              <a:rPr lang="en-US" dirty="0" smtClean="0">
                <a:latin typeface="Courier New"/>
                <a:cs typeface="Courier New"/>
              </a:rPr>
              <a:t>fork</a:t>
            </a:r>
          </a:p>
          <a:p>
            <a:pPr marL="0" indent="0">
              <a:buNone/>
            </a:pPr>
            <a:endParaRPr lang="en-US" dirty="0" smtClean="0">
              <a:latin typeface="Courier New"/>
              <a:cs typeface="Courier New"/>
            </a:endParaRPr>
          </a:p>
          <a:p>
            <a:r>
              <a:rPr lang="en-US" dirty="0" err="1" smtClean="0">
                <a:latin typeface="Courier New" pitchFamily="49" charset="0"/>
              </a:rPr>
              <a:t>int</a:t>
            </a:r>
            <a:r>
              <a:rPr lang="en-US" dirty="0" smtClean="0">
                <a:latin typeface="Courier New" pitchFamily="49" charset="0"/>
              </a:rPr>
              <a:t> </a:t>
            </a:r>
            <a:r>
              <a:rPr lang="en-US" dirty="0">
                <a:latin typeface="Courier New" pitchFamily="49" charset="0"/>
              </a:rPr>
              <a:t>fork(void</a:t>
            </a:r>
            <a:r>
              <a:rPr lang="en-US" dirty="0" smtClean="0">
                <a:latin typeface="Courier New" pitchFamily="49" charset="0"/>
              </a:rPr>
              <a:t>)</a:t>
            </a:r>
            <a:endParaRPr lang="en-US" dirty="0" smtClean="0"/>
          </a:p>
          <a:p>
            <a:pPr lvl="1"/>
            <a:r>
              <a:rPr lang="en-US" dirty="0" smtClean="0"/>
              <a:t>Returns </a:t>
            </a:r>
            <a:r>
              <a:rPr lang="en-US" dirty="0"/>
              <a:t>0 to the child process, child’s PID to parent </a:t>
            </a:r>
            <a:r>
              <a:rPr lang="en-US" dirty="0" smtClean="0"/>
              <a:t>process</a:t>
            </a:r>
            <a:endParaRPr lang="en-US" dirty="0" smtClean="0">
              <a:latin typeface="Calibri"/>
              <a:cs typeface="Calibri"/>
            </a:endParaRPr>
          </a:p>
          <a:p>
            <a:pPr lvl="1"/>
            <a:r>
              <a:rPr lang="en-US" dirty="0" smtClean="0">
                <a:latin typeface="Calibri"/>
                <a:cs typeface="Calibri"/>
              </a:rPr>
              <a:t>Child is </a:t>
            </a:r>
            <a:r>
              <a:rPr lang="en-US" i="1" dirty="0" smtClean="0">
                <a:latin typeface="Calibri"/>
                <a:cs typeface="Calibri"/>
              </a:rPr>
              <a:t>almost</a:t>
            </a:r>
            <a:r>
              <a:rPr lang="en-US" dirty="0" smtClean="0">
                <a:latin typeface="Calibri"/>
                <a:cs typeface="Calibri"/>
              </a:rPr>
              <a:t> identical to parent:</a:t>
            </a:r>
          </a:p>
          <a:p>
            <a:pPr lvl="2"/>
            <a:r>
              <a:rPr lang="en-US" dirty="0" smtClean="0">
                <a:latin typeface="Calibri"/>
                <a:cs typeface="Calibri"/>
              </a:rPr>
              <a:t>Child get an identical (but separate) copy of the parent’s virtual address space.</a:t>
            </a:r>
          </a:p>
          <a:p>
            <a:pPr lvl="2"/>
            <a:r>
              <a:rPr lang="en-US" dirty="0" smtClean="0">
                <a:latin typeface="Calibri"/>
                <a:cs typeface="Calibri"/>
              </a:rPr>
              <a:t>Child gets identical copies of the parent’s open file descriptors</a:t>
            </a:r>
          </a:p>
          <a:p>
            <a:pPr lvl="2"/>
            <a:r>
              <a:rPr lang="en-US" dirty="0" smtClean="0">
                <a:latin typeface="Calibri"/>
                <a:cs typeface="Calibri"/>
              </a:rPr>
              <a:t>Child has a different PID than the parent</a:t>
            </a:r>
          </a:p>
          <a:p>
            <a:pPr lvl="2"/>
            <a:endParaRPr lang="en-US" dirty="0">
              <a:latin typeface="Calibri"/>
              <a:cs typeface="Calibri"/>
            </a:endParaRPr>
          </a:p>
          <a:p>
            <a:r>
              <a:rPr lang="en-US" dirty="0" smtClean="0">
                <a:latin typeface="Courier New"/>
                <a:cs typeface="Courier New"/>
              </a:rPr>
              <a:t>fork</a:t>
            </a:r>
            <a:r>
              <a:rPr lang="en-US" dirty="0" smtClean="0"/>
              <a:t> </a:t>
            </a:r>
            <a:r>
              <a:rPr lang="en-US" dirty="0"/>
              <a:t>is interesting (and often confusing) because </a:t>
            </a:r>
            <a:br>
              <a:rPr lang="en-US" dirty="0"/>
            </a:br>
            <a:r>
              <a:rPr lang="en-US" dirty="0"/>
              <a:t>it is called </a:t>
            </a:r>
            <a:r>
              <a:rPr lang="en-US" i="1" dirty="0">
                <a:solidFill>
                  <a:srgbClr val="C00000"/>
                </a:solidFill>
              </a:rPr>
              <a:t>once</a:t>
            </a:r>
            <a:r>
              <a:rPr lang="en-US" i="1" dirty="0"/>
              <a:t> </a:t>
            </a:r>
            <a:r>
              <a:rPr lang="en-US" dirty="0"/>
              <a:t>but returns </a:t>
            </a:r>
            <a:r>
              <a:rPr lang="en-US" i="1" dirty="0" smtClean="0">
                <a:solidFill>
                  <a:srgbClr val="C00000"/>
                </a:solidFill>
              </a:rPr>
              <a:t>twice</a:t>
            </a:r>
            <a:endParaRPr lang="en-US" i="1" dirty="0">
              <a:solidFill>
                <a:srgbClr val="C00000"/>
              </a:solidFill>
            </a:endParaRPr>
          </a:p>
        </p:txBody>
      </p:sp>
    </p:spTree>
    <p:extLst>
      <p:ext uri="{BB962C8B-B14F-4D97-AF65-F5344CB8AC3E}">
        <p14:creationId xmlns:p14="http://schemas.microsoft.com/office/powerpoint/2010/main" val="761729116"/>
      </p:ext>
    </p:extLst>
  </p:cSld>
  <p:clrMapOvr>
    <a:masterClrMapping/>
  </p:clrMapOvr>
  <p:timing>
    <p:tnLst>
      <p:par>
        <p:cTn xmlns:p14="http://schemas.microsoft.com/office/powerpoint/2010/mai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Conceptual View of </a:t>
            </a:r>
            <a:r>
              <a:rPr lang="en-US" dirty="0" smtClean="0">
                <a:latin typeface="Courier New"/>
                <a:cs typeface="Courier New"/>
              </a:rPr>
              <a:t>fork</a:t>
            </a:r>
            <a:endParaRPr lang="en-US" dirty="0">
              <a:latin typeface="Courier New"/>
              <a:cs typeface="Courier New"/>
            </a:endParaRPr>
          </a:p>
        </p:txBody>
      </p:sp>
      <p:sp>
        <p:nvSpPr>
          <p:cNvPr id="4" name="Text Placeholder 3"/>
          <p:cNvSpPr>
            <a:spLocks noGrp="1"/>
          </p:cNvSpPr>
          <p:nvPr>
            <p:ph idx="1"/>
          </p:nvPr>
        </p:nvSpPr>
        <p:spPr>
          <a:xfrm>
            <a:off x="71744" y="5181599"/>
            <a:ext cx="7896225" cy="1323109"/>
          </a:xfrm>
        </p:spPr>
        <p:txBody>
          <a:bodyPr/>
          <a:lstStyle/>
          <a:p>
            <a:r>
              <a:rPr lang="en-US" dirty="0" smtClean="0"/>
              <a:t>Make complete copy of execution state</a:t>
            </a:r>
          </a:p>
          <a:p>
            <a:pPr lvl="1"/>
            <a:r>
              <a:rPr lang="en-US" dirty="0" smtClean="0"/>
              <a:t>Designate one as parent and one as child</a:t>
            </a:r>
          </a:p>
          <a:p>
            <a:pPr lvl="1"/>
            <a:r>
              <a:rPr lang="en-US" dirty="0" smtClean="0"/>
              <a:t>Resume execution of parent or child</a:t>
            </a:r>
          </a:p>
          <a:p>
            <a:pPr lvl="2"/>
            <a:endParaRPr lang="en-US" dirty="0"/>
          </a:p>
        </p:txBody>
      </p:sp>
      <p:sp>
        <p:nvSpPr>
          <p:cNvPr id="29" name="Rectangle 28"/>
          <p:cNvSpPr/>
          <p:nvPr/>
        </p:nvSpPr>
        <p:spPr bwMode="auto">
          <a:xfrm>
            <a:off x="2514600" y="1668696"/>
            <a:ext cx="1538084" cy="3436704"/>
          </a:xfrm>
          <a:prstGeom prst="rect">
            <a:avLst/>
          </a:prstGeom>
          <a:noFill/>
          <a:ln w="25400" cap="flat" cmpd="sng" algn="ctr">
            <a:solidFill>
              <a:schemeClr val="tx1"/>
            </a:solidFill>
            <a:prstDash val="dot"/>
            <a:round/>
            <a:headEnd type="none" w="med" len="med"/>
            <a:tailEnd type="arrow" w="med" len="med"/>
          </a:ln>
          <a:effectLst/>
        </p:spPr>
        <p:txBody>
          <a:bodyPr rtlCol="0" anchor="ctr"/>
          <a:lstStyle/>
          <a:p>
            <a:pPr algn="ctr"/>
            <a:endParaRPr lang="en-US">
              <a:ln>
                <a:solidFill>
                  <a:schemeClr val="tx1"/>
                </a:solidFill>
                <a:prstDash val="dash"/>
              </a:ln>
            </a:endParaRPr>
          </a:p>
        </p:txBody>
      </p:sp>
      <p:sp>
        <p:nvSpPr>
          <p:cNvPr id="30" name="Rectangle 29"/>
          <p:cNvSpPr/>
          <p:nvPr/>
        </p:nvSpPr>
        <p:spPr bwMode="auto">
          <a:xfrm>
            <a:off x="2590800" y="4038600"/>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latin typeface="Calibri"/>
                <a:cs typeface="Calibri"/>
              </a:rPr>
              <a:t>CPU</a:t>
            </a:r>
            <a:endParaRPr lang="en-US" dirty="0">
              <a:latin typeface="Calibri"/>
              <a:cs typeface="Calibri"/>
            </a:endParaRPr>
          </a:p>
        </p:txBody>
      </p:sp>
      <p:sp>
        <p:nvSpPr>
          <p:cNvPr id="31" name="Rectangle 30"/>
          <p:cNvSpPr/>
          <p:nvPr/>
        </p:nvSpPr>
        <p:spPr bwMode="auto">
          <a:xfrm>
            <a:off x="2729116" y="4495800"/>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latin typeface="Calibri"/>
                <a:cs typeface="Calibri"/>
              </a:rPr>
              <a:t>Registers</a:t>
            </a:r>
            <a:endParaRPr lang="en-US" sz="1800" dirty="0">
              <a:latin typeface="Calibri"/>
              <a:cs typeface="Calibri"/>
            </a:endParaRPr>
          </a:p>
        </p:txBody>
      </p:sp>
      <p:sp>
        <p:nvSpPr>
          <p:cNvPr id="32" name="Rectangle 31"/>
          <p:cNvSpPr/>
          <p:nvPr/>
        </p:nvSpPr>
        <p:spPr bwMode="auto">
          <a:xfrm>
            <a:off x="751396" y="1219200"/>
            <a:ext cx="3301288" cy="2743200"/>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latin typeface="Calibri"/>
                <a:cs typeface="Calibri"/>
              </a:rPr>
              <a:t>Memory</a:t>
            </a:r>
            <a:endParaRPr lang="en-US" dirty="0">
              <a:latin typeface="Calibri"/>
              <a:cs typeface="Calibri"/>
            </a:endParaRPr>
          </a:p>
        </p:txBody>
      </p:sp>
      <p:grpSp>
        <p:nvGrpSpPr>
          <p:cNvPr id="6" name="Group 5"/>
          <p:cNvGrpSpPr/>
          <p:nvPr/>
        </p:nvGrpSpPr>
        <p:grpSpPr>
          <a:xfrm>
            <a:off x="2730870" y="2025887"/>
            <a:ext cx="1066800" cy="1784110"/>
            <a:chOff x="2730870" y="1789589"/>
            <a:chExt cx="1066800" cy="1784110"/>
          </a:xfrm>
        </p:grpSpPr>
        <p:sp>
          <p:nvSpPr>
            <p:cNvPr id="53" name="Rectangle 52"/>
            <p:cNvSpPr/>
            <p:nvPr/>
          </p:nvSpPr>
          <p:spPr bwMode="auto">
            <a:xfrm>
              <a:off x="2730870" y="17895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latin typeface="Calibri"/>
                  <a:cs typeface="Calibri"/>
                </a:rPr>
                <a:t>Stac</a:t>
              </a:r>
              <a:r>
                <a:rPr lang="en-US" sz="1800" dirty="0">
                  <a:latin typeface="Calibri"/>
                  <a:cs typeface="Calibri"/>
                </a:rPr>
                <a:t>k</a:t>
              </a:r>
            </a:p>
          </p:txBody>
        </p:sp>
        <p:sp>
          <p:nvSpPr>
            <p:cNvPr id="54" name="Rectangle 53"/>
            <p:cNvSpPr/>
            <p:nvPr/>
          </p:nvSpPr>
          <p:spPr bwMode="auto">
            <a:xfrm>
              <a:off x="2730870" y="2094390"/>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latin typeface="Calibri"/>
                  <a:cs typeface="Calibri"/>
                </a:rPr>
                <a:t>Heap</a:t>
              </a:r>
              <a:endParaRPr lang="en-US" sz="1800" dirty="0">
                <a:latin typeface="Calibri"/>
                <a:cs typeface="Calibri"/>
              </a:endParaRPr>
            </a:p>
          </p:txBody>
        </p:sp>
        <p:sp>
          <p:nvSpPr>
            <p:cNvPr id="55" name="Rectangle 54"/>
            <p:cNvSpPr/>
            <p:nvPr/>
          </p:nvSpPr>
          <p:spPr bwMode="auto">
            <a:xfrm>
              <a:off x="2730870" y="2667175"/>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latin typeface="Calibri"/>
                  <a:cs typeface="Calibri"/>
                </a:rPr>
                <a:t>Code</a:t>
              </a:r>
              <a:endParaRPr lang="en-US" sz="1800" dirty="0">
                <a:latin typeface="Calibri"/>
                <a:cs typeface="Calibri"/>
              </a:endParaRPr>
            </a:p>
          </p:txBody>
        </p:sp>
        <p:sp>
          <p:nvSpPr>
            <p:cNvPr id="56" name="Rectangle 55"/>
            <p:cNvSpPr/>
            <p:nvPr/>
          </p:nvSpPr>
          <p:spPr bwMode="auto">
            <a:xfrm>
              <a:off x="2730870" y="238309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latin typeface="Calibri"/>
                  <a:cs typeface="Calibri"/>
                </a:rPr>
                <a:t>Data</a:t>
              </a:r>
              <a:endParaRPr lang="en-US" sz="1800" dirty="0">
                <a:latin typeface="Calibri"/>
                <a:cs typeface="Calibri"/>
              </a:endParaRPr>
            </a:p>
          </p:txBody>
        </p:sp>
        <p:sp>
          <p:nvSpPr>
            <p:cNvPr id="57" name="Rectangle 56"/>
            <p:cNvSpPr/>
            <p:nvPr/>
          </p:nvSpPr>
          <p:spPr bwMode="auto">
            <a:xfrm>
              <a:off x="2730870" y="3040299"/>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latin typeface="Calibri"/>
                  <a:cs typeface="Calibri"/>
                </a:rPr>
                <a:t>Saved registers</a:t>
              </a:r>
              <a:endParaRPr lang="en-US" sz="1800" dirty="0">
                <a:latin typeface="Calibri"/>
                <a:cs typeface="Calibri"/>
              </a:endParaRPr>
            </a:p>
          </p:txBody>
        </p:sp>
      </p:grpSp>
      <p:sp>
        <p:nvSpPr>
          <p:cNvPr id="64" name="Rectangle 63"/>
          <p:cNvSpPr/>
          <p:nvPr/>
        </p:nvSpPr>
        <p:spPr bwMode="auto">
          <a:xfrm>
            <a:off x="7325804" y="1668699"/>
            <a:ext cx="1538084" cy="3436704"/>
          </a:xfrm>
          <a:prstGeom prst="rect">
            <a:avLst/>
          </a:prstGeom>
          <a:noFill/>
          <a:ln w="25400" cap="flat" cmpd="sng" algn="ctr">
            <a:solidFill>
              <a:schemeClr val="tx1"/>
            </a:solidFill>
            <a:prstDash val="dot"/>
            <a:round/>
            <a:headEnd type="none" w="med" len="med"/>
            <a:tailEnd type="arrow" w="med" len="med"/>
          </a:ln>
          <a:effectLst/>
        </p:spPr>
        <p:txBody>
          <a:bodyPr rtlCol="0" anchor="ctr"/>
          <a:lstStyle/>
          <a:p>
            <a:pPr algn="ctr"/>
            <a:endParaRPr lang="en-US">
              <a:ln>
                <a:solidFill>
                  <a:schemeClr val="tx1"/>
                </a:solidFill>
                <a:prstDash val="dash"/>
              </a:ln>
            </a:endParaRPr>
          </a:p>
        </p:txBody>
      </p:sp>
      <p:sp>
        <p:nvSpPr>
          <p:cNvPr id="65" name="Rectangle 64"/>
          <p:cNvSpPr/>
          <p:nvPr/>
        </p:nvSpPr>
        <p:spPr bwMode="auto">
          <a:xfrm>
            <a:off x="7402004" y="4038603"/>
            <a:ext cx="1371600" cy="990600"/>
          </a:xfrm>
          <a:prstGeom prst="rect">
            <a:avLst/>
          </a:prstGeom>
          <a:solidFill>
            <a:srgbClr val="F6F5BD"/>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latin typeface="Calibri"/>
                <a:cs typeface="Calibri"/>
              </a:rPr>
              <a:t>CPU</a:t>
            </a:r>
            <a:endParaRPr lang="en-US" dirty="0">
              <a:latin typeface="Calibri"/>
              <a:cs typeface="Calibri"/>
            </a:endParaRPr>
          </a:p>
        </p:txBody>
      </p:sp>
      <p:sp>
        <p:nvSpPr>
          <p:cNvPr id="66" name="Rectangle 65"/>
          <p:cNvSpPr/>
          <p:nvPr/>
        </p:nvSpPr>
        <p:spPr bwMode="auto">
          <a:xfrm>
            <a:off x="7540320" y="4495803"/>
            <a:ext cx="1066800" cy="3048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latin typeface="Calibri"/>
                <a:cs typeface="Calibri"/>
              </a:rPr>
              <a:t>Registers</a:t>
            </a:r>
            <a:endParaRPr lang="en-US" sz="1800" dirty="0">
              <a:latin typeface="Calibri"/>
              <a:cs typeface="Calibri"/>
            </a:endParaRPr>
          </a:p>
        </p:txBody>
      </p:sp>
      <p:sp>
        <p:nvSpPr>
          <p:cNvPr id="67" name="Rectangle 66"/>
          <p:cNvSpPr/>
          <p:nvPr/>
        </p:nvSpPr>
        <p:spPr bwMode="auto">
          <a:xfrm>
            <a:off x="5562600" y="1219202"/>
            <a:ext cx="3301288" cy="2743197"/>
          </a:xfrm>
          <a:prstGeom prst="rect">
            <a:avLst/>
          </a:prstGeom>
          <a:solidFill>
            <a:srgbClr val="F1C7C7"/>
          </a:solidFill>
          <a:ln w="25400" cap="flat" cmpd="sng" algn="ctr">
            <a:solidFill>
              <a:schemeClr val="tx1"/>
            </a:solidFill>
            <a:prstDash val="solid"/>
            <a:round/>
            <a:headEnd type="none" w="med" len="med"/>
            <a:tailEnd type="arrow" w="med" len="med"/>
          </a:ln>
          <a:effectLst/>
        </p:spPr>
        <p:txBody>
          <a:bodyPr rtlCol="0" anchor="t" anchorCtr="1"/>
          <a:lstStyle/>
          <a:p>
            <a:pPr algn="ctr"/>
            <a:r>
              <a:rPr lang="en-US" dirty="0" smtClean="0">
                <a:latin typeface="Calibri"/>
                <a:cs typeface="Calibri"/>
              </a:rPr>
              <a:t>Memory</a:t>
            </a:r>
            <a:endParaRPr lang="en-US" dirty="0">
              <a:latin typeface="Calibri"/>
              <a:cs typeface="Calibri"/>
            </a:endParaRPr>
          </a:p>
        </p:txBody>
      </p:sp>
      <p:grpSp>
        <p:nvGrpSpPr>
          <p:cNvPr id="68" name="Group 67"/>
          <p:cNvGrpSpPr/>
          <p:nvPr/>
        </p:nvGrpSpPr>
        <p:grpSpPr>
          <a:xfrm>
            <a:off x="5851590" y="2025888"/>
            <a:ext cx="1066800" cy="1784110"/>
            <a:chOff x="1040386" y="1789587"/>
            <a:chExt cx="1066800" cy="1784110"/>
          </a:xfrm>
        </p:grpSpPr>
        <p:sp>
          <p:nvSpPr>
            <p:cNvPr id="69" name="Rectangle 68"/>
            <p:cNvSpPr/>
            <p:nvPr/>
          </p:nvSpPr>
          <p:spPr bwMode="auto">
            <a:xfrm>
              <a:off x="1040386" y="1789587"/>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latin typeface="Calibri"/>
                  <a:cs typeface="Calibri"/>
                </a:rPr>
                <a:t>Stac</a:t>
              </a:r>
              <a:r>
                <a:rPr lang="en-US" sz="1800" dirty="0">
                  <a:latin typeface="Calibri"/>
                  <a:cs typeface="Calibri"/>
                </a:rPr>
                <a:t>k</a:t>
              </a:r>
            </a:p>
          </p:txBody>
        </p:sp>
        <p:sp>
          <p:nvSpPr>
            <p:cNvPr id="70" name="Rectangle 69"/>
            <p:cNvSpPr/>
            <p:nvPr/>
          </p:nvSpPr>
          <p:spPr bwMode="auto">
            <a:xfrm>
              <a:off x="1040386" y="2094388"/>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latin typeface="Calibri"/>
                  <a:cs typeface="Calibri"/>
                </a:rPr>
                <a:t>Heap</a:t>
              </a:r>
              <a:endParaRPr lang="en-US" sz="1800" dirty="0">
                <a:latin typeface="Calibri"/>
                <a:cs typeface="Calibri"/>
              </a:endParaRPr>
            </a:p>
          </p:txBody>
        </p:sp>
        <p:sp>
          <p:nvSpPr>
            <p:cNvPr id="71" name="Rectangle 70"/>
            <p:cNvSpPr/>
            <p:nvPr/>
          </p:nvSpPr>
          <p:spPr bwMode="auto">
            <a:xfrm>
              <a:off x="1040386" y="2667173"/>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latin typeface="Calibri"/>
                  <a:cs typeface="Calibri"/>
                </a:rPr>
                <a:t>Code</a:t>
              </a:r>
              <a:endParaRPr lang="en-US" sz="1800" dirty="0">
                <a:latin typeface="Calibri"/>
                <a:cs typeface="Calibri"/>
              </a:endParaRPr>
            </a:p>
          </p:txBody>
        </p:sp>
        <p:sp>
          <p:nvSpPr>
            <p:cNvPr id="72" name="Rectangle 71"/>
            <p:cNvSpPr/>
            <p:nvPr/>
          </p:nvSpPr>
          <p:spPr bwMode="auto">
            <a:xfrm>
              <a:off x="1040386" y="2383092"/>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latin typeface="Calibri"/>
                  <a:cs typeface="Calibri"/>
                </a:rPr>
                <a:t>Data</a:t>
              </a:r>
              <a:endParaRPr lang="en-US" sz="1800" dirty="0">
                <a:latin typeface="Calibri"/>
                <a:cs typeface="Calibri"/>
              </a:endParaRPr>
            </a:p>
          </p:txBody>
        </p:sp>
        <p:sp>
          <p:nvSpPr>
            <p:cNvPr id="73" name="Rectangle 72"/>
            <p:cNvSpPr/>
            <p:nvPr/>
          </p:nvSpPr>
          <p:spPr bwMode="auto">
            <a:xfrm>
              <a:off x="1040386" y="3040297"/>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latin typeface="Calibri"/>
                  <a:cs typeface="Calibri"/>
                </a:rPr>
                <a:t>Saved registers</a:t>
              </a:r>
              <a:endParaRPr lang="en-US" sz="1800" dirty="0">
                <a:latin typeface="Calibri"/>
                <a:cs typeface="Calibri"/>
              </a:endParaRPr>
            </a:p>
          </p:txBody>
        </p:sp>
      </p:grpSp>
      <p:grpSp>
        <p:nvGrpSpPr>
          <p:cNvPr id="74" name="Group 73"/>
          <p:cNvGrpSpPr/>
          <p:nvPr/>
        </p:nvGrpSpPr>
        <p:grpSpPr>
          <a:xfrm>
            <a:off x="7542074" y="2025890"/>
            <a:ext cx="1066800" cy="1784110"/>
            <a:chOff x="2730870" y="1789589"/>
            <a:chExt cx="1066800" cy="1784110"/>
          </a:xfrm>
        </p:grpSpPr>
        <p:sp>
          <p:nvSpPr>
            <p:cNvPr id="75" name="Rectangle 74"/>
            <p:cNvSpPr/>
            <p:nvPr/>
          </p:nvSpPr>
          <p:spPr bwMode="auto">
            <a:xfrm>
              <a:off x="2730870" y="1789589"/>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latin typeface="Calibri"/>
                  <a:cs typeface="Calibri"/>
                </a:rPr>
                <a:t>Stac</a:t>
              </a:r>
              <a:r>
                <a:rPr lang="en-US" sz="1800" dirty="0">
                  <a:latin typeface="Calibri"/>
                  <a:cs typeface="Calibri"/>
                </a:rPr>
                <a:t>k</a:t>
              </a:r>
            </a:p>
          </p:txBody>
        </p:sp>
        <p:sp>
          <p:nvSpPr>
            <p:cNvPr id="76" name="Rectangle 75"/>
            <p:cNvSpPr/>
            <p:nvPr/>
          </p:nvSpPr>
          <p:spPr bwMode="auto">
            <a:xfrm>
              <a:off x="2730870" y="2094390"/>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latin typeface="Calibri"/>
                  <a:cs typeface="Calibri"/>
                </a:rPr>
                <a:t>Heap</a:t>
              </a:r>
              <a:endParaRPr lang="en-US" sz="1800" dirty="0">
                <a:latin typeface="Calibri"/>
                <a:cs typeface="Calibri"/>
              </a:endParaRPr>
            </a:p>
          </p:txBody>
        </p:sp>
        <p:sp>
          <p:nvSpPr>
            <p:cNvPr id="77" name="Rectangle 76"/>
            <p:cNvSpPr/>
            <p:nvPr/>
          </p:nvSpPr>
          <p:spPr bwMode="auto">
            <a:xfrm>
              <a:off x="2730870" y="2667175"/>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latin typeface="Calibri"/>
                  <a:cs typeface="Calibri"/>
                </a:rPr>
                <a:t>Code</a:t>
              </a:r>
              <a:endParaRPr lang="en-US" sz="1800" dirty="0">
                <a:latin typeface="Calibri"/>
                <a:cs typeface="Calibri"/>
              </a:endParaRPr>
            </a:p>
          </p:txBody>
        </p:sp>
        <p:sp>
          <p:nvSpPr>
            <p:cNvPr id="78" name="Rectangle 77"/>
            <p:cNvSpPr/>
            <p:nvPr/>
          </p:nvSpPr>
          <p:spPr bwMode="auto">
            <a:xfrm>
              <a:off x="2730870" y="2383094"/>
              <a:ext cx="1066800" cy="304801"/>
            </a:xfrm>
            <a:prstGeom prst="rect">
              <a:avLst/>
            </a:prstGeom>
            <a:solidFill>
              <a:srgbClr val="D9D9D9"/>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latin typeface="Calibri"/>
                  <a:cs typeface="Calibri"/>
                </a:rPr>
                <a:t>Data</a:t>
              </a:r>
              <a:endParaRPr lang="en-US" sz="1800" dirty="0">
                <a:latin typeface="Calibri"/>
                <a:cs typeface="Calibri"/>
              </a:endParaRPr>
            </a:p>
          </p:txBody>
        </p:sp>
        <p:sp>
          <p:nvSpPr>
            <p:cNvPr id="79" name="Rectangle 78"/>
            <p:cNvSpPr/>
            <p:nvPr/>
          </p:nvSpPr>
          <p:spPr bwMode="auto">
            <a:xfrm>
              <a:off x="2730870" y="3040299"/>
              <a:ext cx="1066800" cy="533400"/>
            </a:xfrm>
            <a:prstGeom prst="rect">
              <a:avLst/>
            </a:prstGeom>
            <a:solidFill>
              <a:schemeClr val="bg1">
                <a:lumMod val="85000"/>
              </a:schemeClr>
            </a:solidFill>
            <a:ln w="25400" cap="flat" cmpd="sng" algn="ctr">
              <a:solidFill>
                <a:schemeClr val="tx1"/>
              </a:solidFill>
              <a:prstDash val="solid"/>
              <a:round/>
              <a:headEnd type="none" w="med" len="med"/>
              <a:tailEnd type="arrow" w="med" len="med"/>
            </a:ln>
            <a:effectLst/>
          </p:spPr>
          <p:txBody>
            <a:bodyPr rtlCol="0" anchor="ctr"/>
            <a:lstStyle/>
            <a:p>
              <a:pPr algn="ctr"/>
              <a:r>
                <a:rPr lang="en-US" sz="1800" dirty="0" smtClean="0">
                  <a:latin typeface="Calibri"/>
                  <a:cs typeface="Calibri"/>
                </a:rPr>
                <a:t>Saved registers</a:t>
              </a:r>
              <a:endParaRPr lang="en-US" sz="1800" dirty="0">
                <a:latin typeface="Calibri"/>
                <a:cs typeface="Calibri"/>
              </a:endParaRPr>
            </a:p>
          </p:txBody>
        </p:sp>
      </p:grpSp>
      <p:sp>
        <p:nvSpPr>
          <p:cNvPr id="7" name="TextBox 6"/>
          <p:cNvSpPr txBox="1"/>
          <p:nvPr/>
        </p:nvSpPr>
        <p:spPr>
          <a:xfrm>
            <a:off x="5859287" y="1665022"/>
            <a:ext cx="1064491" cy="369332"/>
          </a:xfrm>
          <a:prstGeom prst="rect">
            <a:avLst/>
          </a:prstGeom>
          <a:noFill/>
        </p:spPr>
        <p:txBody>
          <a:bodyPr wrap="square" rtlCol="0">
            <a:spAutoFit/>
          </a:bodyPr>
          <a:lstStyle/>
          <a:p>
            <a:pPr algn="ctr"/>
            <a:r>
              <a:rPr lang="en-US" sz="1800" dirty="0" smtClean="0">
                <a:latin typeface="Calibri" pitchFamily="34" charset="0"/>
              </a:rPr>
              <a:t>parent</a:t>
            </a:r>
          </a:p>
        </p:txBody>
      </p:sp>
      <p:sp>
        <p:nvSpPr>
          <p:cNvPr id="80" name="TextBox 79"/>
          <p:cNvSpPr txBox="1"/>
          <p:nvPr/>
        </p:nvSpPr>
        <p:spPr>
          <a:xfrm>
            <a:off x="7544383" y="1665022"/>
            <a:ext cx="1064491" cy="369332"/>
          </a:xfrm>
          <a:prstGeom prst="rect">
            <a:avLst/>
          </a:prstGeom>
          <a:noFill/>
        </p:spPr>
        <p:txBody>
          <a:bodyPr wrap="square" rtlCol="0">
            <a:spAutoFit/>
          </a:bodyPr>
          <a:lstStyle/>
          <a:p>
            <a:pPr algn="ctr"/>
            <a:r>
              <a:rPr lang="en-US" sz="1800" dirty="0" smtClean="0">
                <a:latin typeface="Calibri" pitchFamily="34" charset="0"/>
              </a:rPr>
              <a:t>child</a:t>
            </a:r>
          </a:p>
        </p:txBody>
      </p:sp>
      <p:sp>
        <p:nvSpPr>
          <p:cNvPr id="8" name="TextBox 7"/>
          <p:cNvSpPr txBox="1"/>
          <p:nvPr/>
        </p:nvSpPr>
        <p:spPr>
          <a:xfrm>
            <a:off x="4495800" y="2131578"/>
            <a:ext cx="567934" cy="523220"/>
          </a:xfrm>
          <a:prstGeom prst="rect">
            <a:avLst/>
          </a:prstGeom>
          <a:noFill/>
        </p:spPr>
        <p:txBody>
          <a:bodyPr wrap="none" rtlCol="0">
            <a:spAutoFit/>
          </a:bodyPr>
          <a:lstStyle/>
          <a:p>
            <a:r>
              <a:rPr lang="en-US" sz="2800" dirty="0" smtClean="0">
                <a:latin typeface="Wingdings"/>
                <a:ea typeface="Wingdings"/>
                <a:cs typeface="Wingdings"/>
                <a:sym typeface="Wingdings"/>
              </a:rPr>
              <a:t></a:t>
            </a:r>
            <a:endParaRPr lang="en-US" sz="2800" dirty="0" smtClean="0">
              <a:latin typeface="Calibri" pitchFamily="34" charset="0"/>
            </a:endParaRPr>
          </a:p>
        </p:txBody>
      </p:sp>
    </p:spTree>
    <p:extLst>
      <p:ext uri="{BB962C8B-B14F-4D97-AF65-F5344CB8AC3E}">
        <p14:creationId xmlns:p14="http://schemas.microsoft.com/office/powerpoint/2010/main" val="1224065260"/>
      </p:ext>
    </p:extLst>
  </p:cSld>
  <p:clrMapOvr>
    <a:masterClrMapping/>
  </p:clrMapOvr>
  <p:timing>
    <p:tnLst>
      <p:par>
        <p:cTn xmlns:p14="http://schemas.microsoft.com/office/powerpoint/2010/mai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a:xfrm>
            <a:off x="381000" y="417512"/>
            <a:ext cx="5699125" cy="573088"/>
          </a:xfrm>
        </p:spPr>
        <p:txBody>
          <a:bodyPr/>
          <a:lstStyle/>
          <a:p>
            <a:r>
              <a:rPr lang="en-US" dirty="0">
                <a:latin typeface="Courier New"/>
                <a:cs typeface="Courier New"/>
              </a:rPr>
              <a:t>f</a:t>
            </a:r>
            <a:r>
              <a:rPr lang="en-US" dirty="0" smtClean="0">
                <a:latin typeface="Courier New"/>
                <a:cs typeface="Courier New"/>
              </a:rPr>
              <a:t>ork</a:t>
            </a:r>
            <a:r>
              <a:rPr lang="en-US" dirty="0" smtClean="0"/>
              <a:t> Example</a:t>
            </a:r>
            <a:endParaRPr lang="en-US" dirty="0"/>
          </a:p>
        </p:txBody>
      </p:sp>
      <p:sp>
        <p:nvSpPr>
          <p:cNvPr id="490499" name="Text Box 3"/>
          <p:cNvSpPr txBox="1">
            <a:spLocks noChangeArrowheads="1"/>
          </p:cNvSpPr>
          <p:nvPr/>
        </p:nvSpPr>
        <p:spPr bwMode="auto">
          <a:xfrm>
            <a:off x="226540" y="1524000"/>
            <a:ext cx="4955060" cy="3785652"/>
          </a:xfrm>
          <a:prstGeom prst="rect">
            <a:avLst/>
          </a:prstGeom>
          <a:solidFill>
            <a:srgbClr val="F6F5BD"/>
          </a:solidFill>
          <a:ln w="3175">
            <a:solidFill>
              <a:schemeClr val="tx1"/>
            </a:solidFill>
            <a:miter lim="800000"/>
            <a:headEnd/>
            <a:tailEnd/>
          </a:ln>
          <a:effectLst/>
        </p:spPr>
        <p:txBody>
          <a:bodyPr wrap="square">
            <a:spAutoFit/>
          </a:bodyPr>
          <a:lstStyle/>
          <a:p>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smtClean="0">
                <a:solidFill>
                  <a:srgbClr val="4A00FF"/>
                </a:solidFill>
                <a:latin typeface="Courier New"/>
                <a:cs typeface="Courier New"/>
              </a:rPr>
              <a:t>main</a:t>
            </a:r>
            <a:r>
              <a:rPr lang="en-US" sz="1600" dirty="0">
                <a:solidFill>
                  <a:srgbClr val="000000"/>
                </a:solidFill>
                <a:latin typeface="Courier New"/>
                <a:cs typeface="Courier New"/>
              </a:rPr>
              <a:t>(</a:t>
            </a:r>
            <a:r>
              <a:rPr lang="en-US" sz="1600" dirty="0" err="1">
                <a:solidFill>
                  <a:srgbClr val="000000"/>
                </a:solidFill>
                <a:latin typeface="Courier New"/>
                <a:cs typeface="Courier New"/>
              </a:rPr>
              <a:t>int</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argc</a:t>
            </a:r>
            <a:r>
              <a:rPr lang="en-US" sz="1600" dirty="0">
                <a:solidFill>
                  <a:srgbClr val="000000"/>
                </a:solidFill>
                <a:latin typeface="Courier New"/>
                <a:cs typeface="Courier New"/>
              </a:rPr>
              <a:t>, char**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a:solidFill>
                  <a:srgbClr val="C1651C"/>
                </a:solidFill>
                <a:latin typeface="Courier New"/>
                <a:cs typeface="Courier New"/>
              </a:rPr>
              <a:t>x</a:t>
            </a:r>
            <a:r>
              <a:rPr lang="fr-FR" sz="1600" dirty="0">
                <a:solidFill>
                  <a:srgbClr val="000000"/>
                </a:solidFill>
                <a:latin typeface="Courier New"/>
                <a:cs typeface="Courier New"/>
              </a:rPr>
              <a:t> = 1;</a:t>
            </a:r>
          </a:p>
          <a:p>
            <a:endParaRPr lang="fr-FR"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pid</a:t>
            </a:r>
            <a:r>
              <a:rPr lang="fi-FI" sz="1600" dirty="0">
                <a:solidFill>
                  <a:srgbClr val="000000"/>
                </a:solidFill>
                <a:latin typeface="Courier New"/>
                <a:cs typeface="Courier New"/>
              </a:rPr>
              <a:t> = </a:t>
            </a:r>
            <a:r>
              <a:rPr lang="fi-FI" sz="1600" dirty="0" err="1">
                <a:solidFill>
                  <a:srgbClr val="000000"/>
                </a:solidFill>
                <a:latin typeface="Courier New"/>
                <a:cs typeface="Courier New"/>
              </a:rPr>
              <a:t>Fork</a:t>
            </a:r>
            <a:r>
              <a:rPr lang="fi-FI"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0) {  </a:t>
            </a:r>
            <a:r>
              <a:rPr lang="en-US" sz="1600" dirty="0">
                <a:solidFill>
                  <a:srgbClr val="CB2418"/>
                </a:solidFill>
                <a:latin typeface="Courier New"/>
                <a:cs typeface="Courier New"/>
              </a:rPr>
              <a:t>/* Child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"child : x=%d\n"</a:t>
            </a:r>
            <a:r>
              <a:rPr lang="en-US" sz="1600" dirty="0">
                <a:solidFill>
                  <a:srgbClr val="000000"/>
                </a:solidFill>
                <a:latin typeface="Courier New"/>
                <a:cs typeface="Courier New"/>
              </a:rPr>
              <a:t>, ++x); </a:t>
            </a:r>
          </a:p>
          <a:p>
            <a:r>
              <a:rPr lang="en-US" sz="1600" dirty="0">
                <a:solidFill>
                  <a:srgbClr val="000000"/>
                </a:solidFill>
                <a:latin typeface="Courier New"/>
                <a:cs typeface="Courier New"/>
              </a:rPr>
              <a:t>	</a:t>
            </a:r>
            <a:r>
              <a:rPr lang="en-US" sz="1600" dirty="0" smtClean="0">
                <a:solidFill>
                  <a:srgbClr val="000000"/>
                </a:solidFill>
                <a:latin typeface="Courier New"/>
                <a:cs typeface="Courier New"/>
              </a:rPr>
              <a:t>return 0;</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p>
          <a:p>
            <a:endParaRPr lang="en-US" sz="1600" dirty="0">
              <a:solidFill>
                <a:srgbClr val="000000"/>
              </a:solidFill>
              <a:latin typeface="Courier New"/>
              <a:cs typeface="Courier New"/>
            </a:endParaRPr>
          </a:p>
          <a:p>
            <a:r>
              <a:rPr lang="fr-FR" sz="1600" dirty="0">
                <a:solidFill>
                  <a:srgbClr val="000000"/>
                </a:solidFill>
                <a:latin typeface="Courier New"/>
                <a:cs typeface="Courier New"/>
              </a:rPr>
              <a:t>    </a:t>
            </a:r>
            <a:r>
              <a:rPr lang="fr-FR" sz="1600" dirty="0">
                <a:solidFill>
                  <a:srgbClr val="CB2418"/>
                </a:solidFill>
                <a:latin typeface="Courier New"/>
                <a:cs typeface="Courier New"/>
              </a:rPr>
              <a:t>/* Parent */</a:t>
            </a:r>
            <a:endParaRPr lang="fr-FR"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"parent: x=%d\n"</a:t>
            </a:r>
            <a:r>
              <a:rPr lang="en-US" sz="1600" dirty="0">
                <a:solidFill>
                  <a:srgbClr val="000000"/>
                </a:solidFill>
                <a:latin typeface="Courier New"/>
                <a:cs typeface="Courier New"/>
              </a:rPr>
              <a:t>, --x); </a:t>
            </a:r>
          </a:p>
          <a:p>
            <a:r>
              <a:rPr lang="en-US" sz="1600" dirty="0">
                <a:solidFill>
                  <a:srgbClr val="000000"/>
                </a:solidFill>
                <a:latin typeface="Courier New"/>
                <a:cs typeface="Courier New"/>
              </a:rPr>
              <a:t>    </a:t>
            </a:r>
            <a:r>
              <a:rPr lang="en-US" sz="1600" dirty="0" smtClean="0">
                <a:solidFill>
                  <a:srgbClr val="000000"/>
                </a:solidFill>
                <a:latin typeface="Courier New"/>
                <a:cs typeface="Courier New"/>
              </a:rPr>
              <a:t>return 0;</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a:t>
            </a:r>
          </a:p>
        </p:txBody>
      </p:sp>
      <p:sp>
        <p:nvSpPr>
          <p:cNvPr id="6" name="Text Box 4"/>
          <p:cNvSpPr txBox="1">
            <a:spLocks noChangeArrowheads="1"/>
          </p:cNvSpPr>
          <p:nvPr/>
        </p:nvSpPr>
        <p:spPr bwMode="auto">
          <a:xfrm>
            <a:off x="1036944" y="5638800"/>
            <a:ext cx="1782456" cy="791320"/>
          </a:xfrm>
          <a:prstGeom prst="rect">
            <a:avLst/>
          </a:prstGeom>
          <a:solidFill>
            <a:srgbClr val="E6E6E6"/>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err="1" smtClean="0">
                <a:latin typeface="Courier New"/>
                <a:ea typeface="msgothic" charset="0"/>
                <a:cs typeface="Courier New"/>
              </a:rPr>
              <a:t>linux</a:t>
            </a:r>
            <a:r>
              <a:rPr lang="en-GB" sz="1600" dirty="0" smtClean="0">
                <a:latin typeface="Courier New"/>
                <a:ea typeface="msgothic" charset="0"/>
                <a:cs typeface="Courier New"/>
              </a:rPr>
              <a:t>&gt; ./fork</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smtClean="0">
                <a:latin typeface="Courier New"/>
                <a:ea typeface="msgothic" charset="0"/>
                <a:cs typeface="Courier New"/>
              </a:rPr>
              <a:t>parent: x=0</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smtClean="0">
                <a:latin typeface="Courier New"/>
                <a:ea typeface="msgothic" charset="0"/>
                <a:cs typeface="Courier New"/>
              </a:rPr>
              <a:t>child : x=2</a:t>
            </a:r>
            <a:endParaRPr lang="en-GB" sz="1600" b="1" dirty="0">
              <a:latin typeface="Courier New"/>
              <a:ea typeface="msgothic" charset="0"/>
              <a:cs typeface="Courier New"/>
            </a:endParaRPr>
          </a:p>
        </p:txBody>
      </p:sp>
      <p:sp>
        <p:nvSpPr>
          <p:cNvPr id="7" name="Rectangle 3"/>
          <p:cNvSpPr>
            <a:spLocks noChangeArrowheads="1"/>
          </p:cNvSpPr>
          <p:nvPr/>
        </p:nvSpPr>
        <p:spPr bwMode="auto">
          <a:xfrm>
            <a:off x="4114306" y="4976337"/>
            <a:ext cx="1067294"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fork.c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8" name="Rectangle 3"/>
          <p:cNvSpPr txBox="1">
            <a:spLocks noChangeArrowheads="1"/>
          </p:cNvSpPr>
          <p:nvPr/>
        </p:nvSpPr>
        <p:spPr bwMode="auto">
          <a:xfrm>
            <a:off x="5257800" y="1358444"/>
            <a:ext cx="3810000" cy="51947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a:lstStyle>
          <a:p>
            <a:r>
              <a:rPr lang="en-US" dirty="0">
                <a:latin typeface="Calibri"/>
                <a:cs typeface="Calibri"/>
              </a:rPr>
              <a:t>C</a:t>
            </a:r>
            <a:r>
              <a:rPr lang="en-US" dirty="0" smtClean="0">
                <a:latin typeface="Calibri"/>
                <a:cs typeface="Calibri"/>
              </a:rPr>
              <a:t>all once, return twice</a:t>
            </a:r>
          </a:p>
          <a:p>
            <a:r>
              <a:rPr lang="en-US" dirty="0" smtClean="0">
                <a:latin typeface="Calibri"/>
                <a:cs typeface="Calibri"/>
              </a:rPr>
              <a:t>Concurrent execution</a:t>
            </a:r>
          </a:p>
          <a:p>
            <a:pPr lvl="1"/>
            <a:r>
              <a:rPr lang="en-US" dirty="0" smtClean="0">
                <a:latin typeface="Calibri"/>
                <a:cs typeface="Calibri"/>
              </a:rPr>
              <a:t>Can’t predict execution order of parent and child</a:t>
            </a:r>
          </a:p>
        </p:txBody>
      </p:sp>
      <p:sp>
        <p:nvSpPr>
          <p:cNvPr id="11" name="Text Box 4"/>
          <p:cNvSpPr txBox="1">
            <a:spLocks noChangeArrowheads="1"/>
          </p:cNvSpPr>
          <p:nvPr/>
        </p:nvSpPr>
        <p:spPr bwMode="auto">
          <a:xfrm>
            <a:off x="3048000" y="5638800"/>
            <a:ext cx="1786364" cy="788935"/>
          </a:xfrm>
          <a:prstGeom prst="rect">
            <a:avLst/>
          </a:prstGeom>
          <a:solidFill>
            <a:srgbClr val="E6E6E6"/>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err="1" smtClean="0">
                <a:latin typeface="Courier New"/>
                <a:ea typeface="msgothic" charset="0"/>
                <a:cs typeface="Courier New"/>
              </a:rPr>
              <a:t>linux</a:t>
            </a:r>
            <a:r>
              <a:rPr lang="en-GB" sz="1600" dirty="0" smtClean="0">
                <a:latin typeface="Courier New"/>
                <a:ea typeface="msgothic" charset="0"/>
                <a:cs typeface="Courier New"/>
              </a:rPr>
              <a:t>&gt; ./fork</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smtClean="0">
                <a:latin typeface="Courier New"/>
                <a:ea typeface="msgothic" charset="0"/>
                <a:cs typeface="Courier New"/>
              </a:rPr>
              <a:t>child : x=2</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latin typeface="Courier New"/>
                <a:ea typeface="msgothic" charset="0"/>
                <a:cs typeface="Courier New"/>
              </a:rPr>
              <a:t>parent: x=0</a:t>
            </a:r>
            <a:endParaRPr lang="en-GB" sz="1600" b="1" dirty="0">
              <a:latin typeface="Courier New"/>
              <a:ea typeface="msgothic" charset="0"/>
              <a:cs typeface="Courier New"/>
            </a:endParaRPr>
          </a:p>
        </p:txBody>
      </p:sp>
      <p:sp>
        <p:nvSpPr>
          <p:cNvPr id="12" name="Text Box 4"/>
          <p:cNvSpPr txBox="1">
            <a:spLocks noChangeArrowheads="1"/>
          </p:cNvSpPr>
          <p:nvPr/>
        </p:nvSpPr>
        <p:spPr bwMode="auto">
          <a:xfrm>
            <a:off x="5029200" y="5638800"/>
            <a:ext cx="1782456" cy="791320"/>
          </a:xfrm>
          <a:prstGeom prst="rect">
            <a:avLst/>
          </a:prstGeom>
          <a:solidFill>
            <a:srgbClr val="E6E6E6"/>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err="1" smtClean="0">
                <a:latin typeface="Courier New"/>
                <a:ea typeface="msgothic" charset="0"/>
                <a:cs typeface="Courier New"/>
              </a:rPr>
              <a:t>linux</a:t>
            </a:r>
            <a:r>
              <a:rPr lang="en-GB" sz="1600" dirty="0" smtClean="0">
                <a:latin typeface="Courier New"/>
                <a:ea typeface="msgothic" charset="0"/>
                <a:cs typeface="Courier New"/>
              </a:rPr>
              <a:t>&gt; ./fork</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smtClean="0">
                <a:latin typeface="Courier New"/>
                <a:ea typeface="msgothic" charset="0"/>
                <a:cs typeface="Courier New"/>
              </a:rPr>
              <a:t>parent: x=0</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smtClean="0">
                <a:latin typeface="Courier New"/>
                <a:ea typeface="msgothic" charset="0"/>
                <a:cs typeface="Courier New"/>
              </a:rPr>
              <a:t>child : x=2</a:t>
            </a:r>
            <a:endParaRPr lang="en-GB" sz="1600" b="1" dirty="0">
              <a:latin typeface="Courier New"/>
              <a:ea typeface="msgothic" charset="0"/>
              <a:cs typeface="Courier New"/>
            </a:endParaRPr>
          </a:p>
        </p:txBody>
      </p:sp>
      <p:sp>
        <p:nvSpPr>
          <p:cNvPr id="15" name="Text Box 4"/>
          <p:cNvSpPr txBox="1">
            <a:spLocks noChangeArrowheads="1"/>
          </p:cNvSpPr>
          <p:nvPr/>
        </p:nvSpPr>
        <p:spPr bwMode="auto">
          <a:xfrm>
            <a:off x="7010400" y="5638800"/>
            <a:ext cx="1782456" cy="791320"/>
          </a:xfrm>
          <a:prstGeom prst="rect">
            <a:avLst/>
          </a:prstGeom>
          <a:solidFill>
            <a:srgbClr val="E6E6E6"/>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err="1" smtClean="0">
                <a:latin typeface="Courier New"/>
                <a:ea typeface="msgothic" charset="0"/>
                <a:cs typeface="Courier New"/>
              </a:rPr>
              <a:t>linux</a:t>
            </a:r>
            <a:r>
              <a:rPr lang="en-GB" sz="1600" dirty="0" smtClean="0">
                <a:latin typeface="Courier New"/>
                <a:ea typeface="msgothic" charset="0"/>
                <a:cs typeface="Courier New"/>
              </a:rPr>
              <a:t>&gt; ./fork</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smtClean="0">
                <a:latin typeface="Courier New"/>
                <a:ea typeface="msgothic" charset="0"/>
                <a:cs typeface="Courier New"/>
              </a:rPr>
              <a:t>parent: x=0</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smtClean="0">
                <a:latin typeface="Courier New"/>
                <a:ea typeface="msgothic" charset="0"/>
                <a:cs typeface="Courier New"/>
              </a:rPr>
              <a:t>child : x=2</a:t>
            </a:r>
            <a:endParaRPr lang="en-GB" sz="1600" b="1" dirty="0">
              <a:latin typeface="Courier New"/>
              <a:ea typeface="msgothic" charset="0"/>
              <a:cs typeface="Courier New"/>
            </a:endParaRPr>
          </a:p>
        </p:txBody>
      </p:sp>
    </p:spTree>
    <p:extLst>
      <p:ext uri="{BB962C8B-B14F-4D97-AF65-F5344CB8AC3E}">
        <p14:creationId xmlns:p14="http://schemas.microsoft.com/office/powerpoint/2010/main" val="40458458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5"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Modeling </a:t>
            </a:r>
            <a:r>
              <a:rPr lang="en-US" dirty="0" smtClean="0">
                <a:latin typeface="Courier New"/>
                <a:cs typeface="Courier New"/>
              </a:rPr>
              <a:t>fork</a:t>
            </a:r>
            <a:r>
              <a:rPr lang="en-US" dirty="0" smtClean="0"/>
              <a:t> with Process Graphs</a:t>
            </a:r>
            <a:endParaRPr lang="en-US" dirty="0"/>
          </a:p>
        </p:txBody>
      </p:sp>
      <p:sp>
        <p:nvSpPr>
          <p:cNvPr id="3" name="Content Placeholder 2"/>
          <p:cNvSpPr>
            <a:spLocks noGrp="1"/>
          </p:cNvSpPr>
          <p:nvPr>
            <p:ph idx="1"/>
          </p:nvPr>
        </p:nvSpPr>
        <p:spPr>
          <a:xfrm>
            <a:off x="357019" y="1362075"/>
            <a:ext cx="8558382" cy="4657725"/>
          </a:xfrm>
        </p:spPr>
        <p:txBody>
          <a:bodyPr/>
          <a:lstStyle/>
          <a:p>
            <a:r>
              <a:rPr lang="en-US" dirty="0" smtClean="0"/>
              <a:t>A </a:t>
            </a:r>
            <a:r>
              <a:rPr lang="en-US" i="1" dirty="0"/>
              <a:t>p</a:t>
            </a:r>
            <a:r>
              <a:rPr lang="en-US" i="1" dirty="0" smtClean="0"/>
              <a:t>rocess graph </a:t>
            </a:r>
            <a:r>
              <a:rPr lang="en-US" dirty="0" smtClean="0"/>
              <a:t>is a useful tool for capturing the partial ordering of statements in a concurrent program:</a:t>
            </a:r>
          </a:p>
          <a:p>
            <a:pPr lvl="1"/>
            <a:r>
              <a:rPr lang="en-US" dirty="0" smtClean="0"/>
              <a:t>Each vertex is the execution of a statement</a:t>
            </a:r>
          </a:p>
          <a:p>
            <a:pPr lvl="1"/>
            <a:r>
              <a:rPr lang="en-US" dirty="0" smtClean="0"/>
              <a:t>a -&gt; b means </a:t>
            </a:r>
            <a:r>
              <a:rPr lang="en-US" dirty="0">
                <a:latin typeface="Courier New"/>
                <a:cs typeface="Courier New"/>
              </a:rPr>
              <a:t>a</a:t>
            </a:r>
            <a:r>
              <a:rPr lang="en-US" dirty="0" smtClean="0"/>
              <a:t> happens before b</a:t>
            </a:r>
          </a:p>
          <a:p>
            <a:pPr lvl="1"/>
            <a:r>
              <a:rPr lang="en-US" dirty="0" smtClean="0"/>
              <a:t>Edges can be labeled with current value of variables</a:t>
            </a:r>
          </a:p>
          <a:p>
            <a:pPr lvl="1"/>
            <a:r>
              <a:rPr lang="en-US" dirty="0" err="1" smtClean="0">
                <a:latin typeface="Courier New"/>
                <a:cs typeface="Courier New"/>
              </a:rPr>
              <a:t>printf</a:t>
            </a:r>
            <a:r>
              <a:rPr lang="en-US" dirty="0" smtClean="0"/>
              <a:t> vertices can be labeled with output</a:t>
            </a:r>
          </a:p>
          <a:p>
            <a:pPr lvl="1"/>
            <a:r>
              <a:rPr lang="en-US" dirty="0" smtClean="0"/>
              <a:t>Each graph begins with a vertex with no </a:t>
            </a:r>
            <a:r>
              <a:rPr lang="en-US" dirty="0" err="1" smtClean="0"/>
              <a:t>inedges</a:t>
            </a:r>
            <a:r>
              <a:rPr lang="en-US" dirty="0" smtClean="0"/>
              <a:t> </a:t>
            </a:r>
            <a:endParaRPr lang="en-US" dirty="0" smtClean="0">
              <a:latin typeface="Courier New"/>
              <a:cs typeface="Courier New"/>
            </a:endParaRPr>
          </a:p>
          <a:p>
            <a:r>
              <a:rPr lang="en-US" dirty="0" smtClean="0"/>
              <a:t>Any </a:t>
            </a:r>
            <a:r>
              <a:rPr lang="en-US" i="1" dirty="0" smtClean="0"/>
              <a:t>topological sort </a:t>
            </a:r>
            <a:r>
              <a:rPr lang="en-US" dirty="0" smtClean="0"/>
              <a:t>of the graph corresponds to a feasible total ordering. </a:t>
            </a:r>
          </a:p>
          <a:p>
            <a:pPr lvl="1"/>
            <a:r>
              <a:rPr lang="en-US" dirty="0" smtClean="0"/>
              <a:t>Total ordering of vertices where all edges point from left to right</a:t>
            </a:r>
          </a:p>
          <a:p>
            <a:endParaRPr lang="en-US" dirty="0"/>
          </a:p>
        </p:txBody>
      </p:sp>
    </p:spTree>
    <p:extLst>
      <p:ext uri="{BB962C8B-B14F-4D97-AF65-F5344CB8AC3E}">
        <p14:creationId xmlns:p14="http://schemas.microsoft.com/office/powerpoint/2010/main" val="2638547140"/>
      </p:ext>
    </p:extLst>
  </p:cSld>
  <p:clrMapOvr>
    <a:masterClrMapping/>
  </p:clrMapOvr>
  <p:timing>
    <p:tnLst>
      <p:par>
        <p:cTn xmlns:p14="http://schemas.microsoft.com/office/powerpoint/2010/mai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 Graph Example</a:t>
            </a:r>
            <a:endParaRPr lang="en-US" dirty="0"/>
          </a:p>
        </p:txBody>
      </p:sp>
      <p:sp>
        <p:nvSpPr>
          <p:cNvPr id="26" name="Text Box 3"/>
          <p:cNvSpPr txBox="1">
            <a:spLocks noChangeArrowheads="1"/>
          </p:cNvSpPr>
          <p:nvPr/>
        </p:nvSpPr>
        <p:spPr bwMode="auto">
          <a:xfrm>
            <a:off x="76200" y="1472148"/>
            <a:ext cx="4912596" cy="3785652"/>
          </a:xfrm>
          <a:prstGeom prst="rect">
            <a:avLst/>
          </a:prstGeom>
          <a:solidFill>
            <a:srgbClr val="F6F5BD"/>
          </a:solidFill>
          <a:ln w="3175">
            <a:solidFill>
              <a:schemeClr val="tx1"/>
            </a:solidFill>
            <a:miter lim="800000"/>
            <a:headEnd/>
            <a:tailEnd/>
          </a:ln>
          <a:effectLst/>
        </p:spPr>
        <p:txBody>
          <a:bodyPr wrap="none">
            <a:spAutoFit/>
          </a:bodyPr>
          <a:lstStyle/>
          <a:p>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smtClean="0">
                <a:solidFill>
                  <a:srgbClr val="4A00FF"/>
                </a:solidFill>
                <a:latin typeface="Courier New"/>
                <a:cs typeface="Courier New"/>
              </a:rPr>
              <a:t>main</a:t>
            </a:r>
            <a:r>
              <a:rPr lang="en-US" sz="1600" dirty="0" smtClean="0">
                <a:solidFill>
                  <a:srgbClr val="000000"/>
                </a:solidFill>
                <a:latin typeface="Courier New"/>
                <a:cs typeface="Courier New"/>
              </a:rPr>
              <a:t>(</a:t>
            </a:r>
            <a:r>
              <a:rPr lang="en-US" sz="1600" dirty="0" err="1" smtClean="0">
                <a:solidFill>
                  <a:srgbClr val="000000"/>
                </a:solidFill>
                <a:latin typeface="Courier New"/>
                <a:cs typeface="Courier New"/>
              </a:rPr>
              <a:t>int</a:t>
            </a:r>
            <a:r>
              <a:rPr lang="en-US" sz="1600" dirty="0" smtClean="0">
                <a:solidFill>
                  <a:srgbClr val="000000"/>
                </a:solidFill>
                <a:latin typeface="Courier New"/>
                <a:cs typeface="Courier New"/>
              </a:rPr>
              <a:t> </a:t>
            </a:r>
            <a:r>
              <a:rPr lang="en-US" sz="1600" dirty="0" err="1" smtClean="0">
                <a:solidFill>
                  <a:srgbClr val="000000"/>
                </a:solidFill>
                <a:latin typeface="Courier New"/>
                <a:cs typeface="Courier New"/>
              </a:rPr>
              <a:t>argc</a:t>
            </a:r>
            <a:r>
              <a:rPr lang="en-US" sz="1600" dirty="0" smtClean="0">
                <a:solidFill>
                  <a:srgbClr val="000000"/>
                </a:solidFill>
                <a:latin typeface="Courier New"/>
                <a:cs typeface="Courier New"/>
              </a:rPr>
              <a:t>, char** </a:t>
            </a:r>
            <a:r>
              <a:rPr lang="en-US" sz="1600" dirty="0" err="1" smtClean="0">
                <a:solidFill>
                  <a:srgbClr val="000000"/>
                </a:solidFill>
                <a:latin typeface="Courier New"/>
                <a:cs typeface="Courier New"/>
              </a:rPr>
              <a:t>argv</a:t>
            </a:r>
            <a:r>
              <a:rPr lang="en-US" sz="1600" dirty="0" smtClean="0">
                <a:solidFill>
                  <a:srgbClr val="000000"/>
                </a:solidFill>
                <a:latin typeface="Courier New"/>
                <a:cs typeface="Courier New"/>
              </a:rPr>
              <a:t>)</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a:solidFill>
                  <a:srgbClr val="C1651C"/>
                </a:solidFill>
                <a:latin typeface="Courier New"/>
                <a:cs typeface="Courier New"/>
              </a:rPr>
              <a:t>x</a:t>
            </a:r>
            <a:r>
              <a:rPr lang="fr-FR" sz="1600" dirty="0">
                <a:solidFill>
                  <a:srgbClr val="000000"/>
                </a:solidFill>
                <a:latin typeface="Courier New"/>
                <a:cs typeface="Courier New"/>
              </a:rPr>
              <a:t> = 1;</a:t>
            </a:r>
          </a:p>
          <a:p>
            <a:endParaRPr lang="fr-FR"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pid</a:t>
            </a:r>
            <a:r>
              <a:rPr lang="fi-FI" sz="1600" dirty="0">
                <a:solidFill>
                  <a:srgbClr val="000000"/>
                </a:solidFill>
                <a:latin typeface="Courier New"/>
                <a:cs typeface="Courier New"/>
              </a:rPr>
              <a:t> = </a:t>
            </a:r>
            <a:r>
              <a:rPr lang="fi-FI" sz="1600" dirty="0" err="1">
                <a:solidFill>
                  <a:srgbClr val="000000"/>
                </a:solidFill>
                <a:latin typeface="Courier New"/>
                <a:cs typeface="Courier New"/>
              </a:rPr>
              <a:t>Fork</a:t>
            </a:r>
            <a:r>
              <a:rPr lang="fi-FI"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0) {  </a:t>
            </a:r>
            <a:r>
              <a:rPr lang="en-US" sz="1600" dirty="0">
                <a:solidFill>
                  <a:srgbClr val="CB2418"/>
                </a:solidFill>
                <a:latin typeface="Courier New"/>
                <a:cs typeface="Courier New"/>
              </a:rPr>
              <a:t>/* Child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"child : x=%d\n"</a:t>
            </a:r>
            <a:r>
              <a:rPr lang="en-US" sz="1600" dirty="0">
                <a:solidFill>
                  <a:srgbClr val="000000"/>
                </a:solidFill>
                <a:latin typeface="Courier New"/>
                <a:cs typeface="Courier New"/>
              </a:rPr>
              <a:t>, ++x); </a:t>
            </a:r>
          </a:p>
          <a:p>
            <a:r>
              <a:rPr lang="en-US" sz="1600" dirty="0">
                <a:solidFill>
                  <a:srgbClr val="000000"/>
                </a:solidFill>
                <a:latin typeface="Courier New"/>
                <a:cs typeface="Courier New"/>
              </a:rPr>
              <a:t>	</a:t>
            </a:r>
            <a:r>
              <a:rPr lang="en-US" sz="1600" dirty="0" smtClean="0">
                <a:solidFill>
                  <a:srgbClr val="000000"/>
                </a:solidFill>
                <a:latin typeface="Courier New"/>
                <a:cs typeface="Courier New"/>
              </a:rPr>
              <a:t>return 0;</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p>
          <a:p>
            <a:endParaRPr lang="en-US" sz="1600" dirty="0">
              <a:solidFill>
                <a:srgbClr val="000000"/>
              </a:solidFill>
              <a:latin typeface="Courier New"/>
              <a:cs typeface="Courier New"/>
            </a:endParaRPr>
          </a:p>
          <a:p>
            <a:r>
              <a:rPr lang="fr-FR" sz="1600" dirty="0">
                <a:solidFill>
                  <a:srgbClr val="000000"/>
                </a:solidFill>
                <a:latin typeface="Courier New"/>
                <a:cs typeface="Courier New"/>
              </a:rPr>
              <a:t>    </a:t>
            </a:r>
            <a:r>
              <a:rPr lang="fr-FR" sz="1600" dirty="0">
                <a:solidFill>
                  <a:srgbClr val="CB2418"/>
                </a:solidFill>
                <a:latin typeface="Courier New"/>
                <a:cs typeface="Courier New"/>
              </a:rPr>
              <a:t>/* Parent */</a:t>
            </a:r>
            <a:endParaRPr lang="fr-FR"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"parent: x=%d\n"</a:t>
            </a:r>
            <a:r>
              <a:rPr lang="en-US" sz="1600" dirty="0">
                <a:solidFill>
                  <a:srgbClr val="000000"/>
                </a:solidFill>
                <a:latin typeface="Courier New"/>
                <a:cs typeface="Courier New"/>
              </a:rPr>
              <a:t>, --x); </a:t>
            </a:r>
          </a:p>
          <a:p>
            <a:r>
              <a:rPr lang="en-US" sz="1600" dirty="0">
                <a:solidFill>
                  <a:srgbClr val="000000"/>
                </a:solidFill>
                <a:latin typeface="Courier New"/>
                <a:cs typeface="Courier New"/>
              </a:rPr>
              <a:t>    </a:t>
            </a:r>
            <a:r>
              <a:rPr lang="en-US" sz="1600" dirty="0" smtClean="0">
                <a:solidFill>
                  <a:srgbClr val="000000"/>
                </a:solidFill>
                <a:latin typeface="Courier New"/>
                <a:cs typeface="Courier New"/>
              </a:rPr>
              <a:t>return 0;</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a:t>
            </a:r>
          </a:p>
        </p:txBody>
      </p:sp>
      <p:sp>
        <p:nvSpPr>
          <p:cNvPr id="4" name="Text Box 407"/>
          <p:cNvSpPr txBox="1">
            <a:spLocks noChangeArrowheads="1"/>
          </p:cNvSpPr>
          <p:nvPr/>
        </p:nvSpPr>
        <p:spPr bwMode="auto">
          <a:xfrm>
            <a:off x="6068150" y="2514600"/>
            <a:ext cx="1834033" cy="338554"/>
          </a:xfrm>
          <a:prstGeom prst="rect">
            <a:avLst/>
          </a:prstGeom>
          <a:noFill/>
          <a:ln w="25400">
            <a:noFill/>
            <a:miter lim="800000"/>
            <a:headEnd/>
            <a:tailEnd/>
          </a:ln>
          <a:effectLst/>
        </p:spPr>
        <p:txBody>
          <a:bodyPr wrap="square">
            <a:prstTxWarp prst="textNoShape">
              <a:avLst/>
            </a:prstTxWarp>
            <a:spAutoFit/>
          </a:bodyPr>
          <a:lstStyle/>
          <a:p>
            <a:pPr algn="ctr"/>
            <a:r>
              <a:rPr lang="en-US" sz="1600" dirty="0" smtClean="0">
                <a:solidFill>
                  <a:srgbClr val="FF0000"/>
                </a:solidFill>
                <a:latin typeface="Courier New" charset="0"/>
              </a:rPr>
              <a:t>child: </a:t>
            </a:r>
            <a:r>
              <a:rPr lang="en-US" sz="1600" dirty="0" err="1" smtClean="0">
                <a:solidFill>
                  <a:srgbClr val="FF0000"/>
                </a:solidFill>
                <a:latin typeface="Courier New" charset="0"/>
              </a:rPr>
              <a:t>x</a:t>
            </a:r>
            <a:r>
              <a:rPr lang="en-US" sz="1600" dirty="0" smtClean="0">
                <a:solidFill>
                  <a:srgbClr val="FF0000"/>
                </a:solidFill>
                <a:latin typeface="Courier New" charset="0"/>
              </a:rPr>
              <a:t>=2</a:t>
            </a:r>
            <a:endParaRPr lang="en-US" sz="1600" dirty="0">
              <a:solidFill>
                <a:srgbClr val="FF0000"/>
              </a:solidFill>
              <a:latin typeface="Courier New" charset="0"/>
            </a:endParaRPr>
          </a:p>
        </p:txBody>
      </p:sp>
      <p:sp>
        <p:nvSpPr>
          <p:cNvPr id="5" name="Oval 4"/>
          <p:cNvSpPr>
            <a:spLocks noChangeAspect="1"/>
          </p:cNvSpPr>
          <p:nvPr/>
        </p:nvSpPr>
        <p:spPr>
          <a:xfrm>
            <a:off x="5192739" y="3428152"/>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6" name="TextBox 5"/>
          <p:cNvSpPr txBox="1"/>
          <p:nvPr/>
        </p:nvSpPr>
        <p:spPr>
          <a:xfrm>
            <a:off x="4931297" y="3468791"/>
            <a:ext cx="677189" cy="338554"/>
          </a:xfrm>
          <a:prstGeom prst="rect">
            <a:avLst/>
          </a:prstGeom>
          <a:noFill/>
        </p:spPr>
        <p:txBody>
          <a:bodyPr wrap="none" rtlCol="0">
            <a:spAutoFit/>
          </a:bodyPr>
          <a:lstStyle/>
          <a:p>
            <a:pPr algn="ctr"/>
            <a:r>
              <a:rPr lang="en-US" sz="1600" b="1" dirty="0" smtClean="0">
                <a:latin typeface="Courier New"/>
                <a:cs typeface="Courier New"/>
              </a:rPr>
              <a:t>main</a:t>
            </a:r>
            <a:endParaRPr lang="en-US" sz="1600" b="1" dirty="0">
              <a:latin typeface="Courier New"/>
              <a:cs typeface="Courier New"/>
            </a:endParaRPr>
          </a:p>
        </p:txBody>
      </p:sp>
      <p:sp>
        <p:nvSpPr>
          <p:cNvPr id="7" name="Oval 6"/>
          <p:cNvSpPr>
            <a:spLocks noChangeAspect="1"/>
          </p:cNvSpPr>
          <p:nvPr/>
        </p:nvSpPr>
        <p:spPr>
          <a:xfrm>
            <a:off x="6106851" y="3428152"/>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8" name="Oval 7"/>
          <p:cNvSpPr>
            <a:spLocks noChangeAspect="1"/>
          </p:cNvSpPr>
          <p:nvPr/>
        </p:nvSpPr>
        <p:spPr>
          <a:xfrm>
            <a:off x="7037185" y="3428152"/>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9" name="TextBox 8"/>
          <p:cNvSpPr txBox="1"/>
          <p:nvPr/>
        </p:nvSpPr>
        <p:spPr>
          <a:xfrm>
            <a:off x="5820629" y="3468791"/>
            <a:ext cx="667623" cy="338554"/>
          </a:xfrm>
          <a:prstGeom prst="rect">
            <a:avLst/>
          </a:prstGeom>
          <a:noFill/>
        </p:spPr>
        <p:txBody>
          <a:bodyPr wrap="square" rtlCol="0">
            <a:spAutoFit/>
          </a:bodyPr>
          <a:lstStyle/>
          <a:p>
            <a:pPr algn="ctr"/>
            <a:r>
              <a:rPr lang="en-US" sz="1600" b="1" dirty="0" smtClean="0">
                <a:latin typeface="Courier New"/>
                <a:cs typeface="Courier New"/>
              </a:rPr>
              <a:t>fork</a:t>
            </a:r>
            <a:endParaRPr lang="en-US" sz="1600" b="1" dirty="0">
              <a:latin typeface="Courier New"/>
              <a:cs typeface="Courier New"/>
            </a:endParaRPr>
          </a:p>
        </p:txBody>
      </p:sp>
      <p:cxnSp>
        <p:nvCxnSpPr>
          <p:cNvPr id="10" name="Elbow Connector 35"/>
          <p:cNvCxnSpPr>
            <a:stCxn id="9" idx="0"/>
          </p:cNvCxnSpPr>
          <p:nvPr/>
        </p:nvCxnSpPr>
        <p:spPr>
          <a:xfrm rot="5400000" flipH="1" flipV="1">
            <a:off x="6266290" y="2716546"/>
            <a:ext cx="640396" cy="864095"/>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1" name="Oval 10"/>
          <p:cNvSpPr>
            <a:spLocks noChangeAspect="1"/>
          </p:cNvSpPr>
          <p:nvPr/>
        </p:nvSpPr>
        <p:spPr>
          <a:xfrm>
            <a:off x="7021652" y="2783390"/>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cxnSp>
        <p:nvCxnSpPr>
          <p:cNvPr id="12" name="Straight Arrow Connector 11"/>
          <p:cNvCxnSpPr/>
          <p:nvPr/>
        </p:nvCxnSpPr>
        <p:spPr>
          <a:xfrm flipV="1">
            <a:off x="6198291" y="3472178"/>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V="1">
            <a:off x="5284179" y="3472178"/>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607830" y="3468791"/>
            <a:ext cx="947222" cy="338554"/>
          </a:xfrm>
          <a:prstGeom prst="rect">
            <a:avLst/>
          </a:prstGeom>
          <a:noFill/>
        </p:spPr>
        <p:txBody>
          <a:bodyPr wrap="square" rtlCol="0">
            <a:spAutoFit/>
          </a:bodyPr>
          <a:lstStyle/>
          <a:p>
            <a:pPr algn="ctr"/>
            <a:r>
              <a:rPr lang="en-US" sz="1600" b="1" dirty="0" err="1" smtClean="0">
                <a:latin typeface="Courier New"/>
                <a:cs typeface="Courier New"/>
              </a:rPr>
              <a:t>printf</a:t>
            </a:r>
            <a:endParaRPr lang="en-US" sz="1600" b="1" dirty="0">
              <a:latin typeface="Courier New"/>
              <a:cs typeface="Courier New"/>
            </a:endParaRPr>
          </a:p>
        </p:txBody>
      </p:sp>
      <p:sp>
        <p:nvSpPr>
          <p:cNvPr id="15" name="TextBox 14"/>
          <p:cNvSpPr txBox="1"/>
          <p:nvPr/>
        </p:nvSpPr>
        <p:spPr>
          <a:xfrm>
            <a:off x="6607731" y="2811249"/>
            <a:ext cx="947222" cy="338554"/>
          </a:xfrm>
          <a:prstGeom prst="rect">
            <a:avLst/>
          </a:prstGeom>
          <a:noFill/>
        </p:spPr>
        <p:txBody>
          <a:bodyPr wrap="square" rtlCol="0">
            <a:spAutoFit/>
          </a:bodyPr>
          <a:lstStyle/>
          <a:p>
            <a:pPr algn="ctr"/>
            <a:r>
              <a:rPr lang="en-US" sz="1600" b="1" dirty="0" err="1" smtClean="0">
                <a:latin typeface="Courier New"/>
                <a:cs typeface="Courier New"/>
              </a:rPr>
              <a:t>printf</a:t>
            </a:r>
            <a:endParaRPr lang="en-US" sz="1600" b="1" dirty="0">
              <a:latin typeface="Courier New"/>
              <a:cs typeface="Courier New"/>
            </a:endParaRPr>
          </a:p>
        </p:txBody>
      </p:sp>
      <p:sp>
        <p:nvSpPr>
          <p:cNvPr id="16" name="Text Box 407"/>
          <p:cNvSpPr txBox="1">
            <a:spLocks noChangeArrowheads="1"/>
          </p:cNvSpPr>
          <p:nvPr/>
        </p:nvSpPr>
        <p:spPr bwMode="auto">
          <a:xfrm>
            <a:off x="5298814" y="3156378"/>
            <a:ext cx="795337" cy="338554"/>
          </a:xfrm>
          <a:prstGeom prst="rect">
            <a:avLst/>
          </a:prstGeom>
          <a:noFill/>
          <a:ln w="25400">
            <a:noFill/>
            <a:miter lim="800000"/>
            <a:headEnd/>
            <a:tailEnd/>
          </a:ln>
          <a:effectLst/>
        </p:spPr>
        <p:txBody>
          <a:bodyPr wrap="square">
            <a:prstTxWarp prst="textNoShape">
              <a:avLst/>
            </a:prstTxWarp>
            <a:spAutoFit/>
          </a:bodyPr>
          <a:lstStyle/>
          <a:p>
            <a:pPr algn="ctr"/>
            <a:r>
              <a:rPr lang="en-US" sz="1600" dirty="0" err="1" smtClean="0">
                <a:latin typeface="Courier New" charset="0"/>
              </a:rPr>
              <a:t>x</a:t>
            </a:r>
            <a:r>
              <a:rPr lang="en-US" sz="1600" dirty="0" smtClean="0">
                <a:latin typeface="Courier New" charset="0"/>
              </a:rPr>
              <a:t>==1</a:t>
            </a:r>
            <a:endParaRPr lang="en-US" sz="1600" dirty="0">
              <a:latin typeface="Courier New" charset="0"/>
            </a:endParaRPr>
          </a:p>
        </p:txBody>
      </p:sp>
      <p:cxnSp>
        <p:nvCxnSpPr>
          <p:cNvPr id="17" name="Straight Arrow Connector 16"/>
          <p:cNvCxnSpPr/>
          <p:nvPr/>
        </p:nvCxnSpPr>
        <p:spPr>
          <a:xfrm flipV="1">
            <a:off x="7103855" y="2828395"/>
            <a:ext cx="874528" cy="915"/>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Oval 17"/>
          <p:cNvSpPr>
            <a:spLocks noChangeAspect="1"/>
          </p:cNvSpPr>
          <p:nvPr/>
        </p:nvSpPr>
        <p:spPr>
          <a:xfrm>
            <a:off x="7975351" y="2783390"/>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19" name="TextBox 18"/>
          <p:cNvSpPr txBox="1"/>
          <p:nvPr/>
        </p:nvSpPr>
        <p:spPr>
          <a:xfrm>
            <a:off x="7542234" y="2811249"/>
            <a:ext cx="947222" cy="338554"/>
          </a:xfrm>
          <a:prstGeom prst="rect">
            <a:avLst/>
          </a:prstGeom>
          <a:noFill/>
        </p:spPr>
        <p:txBody>
          <a:bodyPr wrap="square" rtlCol="0">
            <a:spAutoFit/>
          </a:bodyPr>
          <a:lstStyle/>
          <a:p>
            <a:pPr algn="ctr"/>
            <a:r>
              <a:rPr lang="en-US" sz="1600" b="1" dirty="0" smtClean="0">
                <a:latin typeface="Courier New"/>
                <a:cs typeface="Courier New"/>
              </a:rPr>
              <a:t>exit</a:t>
            </a:r>
            <a:endParaRPr lang="en-US" sz="1600" b="1" dirty="0">
              <a:latin typeface="Courier New"/>
              <a:cs typeface="Courier New"/>
            </a:endParaRPr>
          </a:p>
        </p:txBody>
      </p:sp>
      <p:sp>
        <p:nvSpPr>
          <p:cNvPr id="20" name="Text Box 407"/>
          <p:cNvSpPr txBox="1">
            <a:spLocks noChangeArrowheads="1"/>
          </p:cNvSpPr>
          <p:nvPr/>
        </p:nvSpPr>
        <p:spPr bwMode="auto">
          <a:xfrm>
            <a:off x="6144350" y="3137103"/>
            <a:ext cx="1834033" cy="338554"/>
          </a:xfrm>
          <a:prstGeom prst="rect">
            <a:avLst/>
          </a:prstGeom>
          <a:noFill/>
          <a:ln w="25400">
            <a:noFill/>
            <a:miter lim="800000"/>
            <a:headEnd/>
            <a:tailEnd/>
          </a:ln>
          <a:effectLst/>
        </p:spPr>
        <p:txBody>
          <a:bodyPr wrap="square">
            <a:prstTxWarp prst="textNoShape">
              <a:avLst/>
            </a:prstTxWarp>
            <a:spAutoFit/>
          </a:bodyPr>
          <a:lstStyle/>
          <a:p>
            <a:pPr algn="ctr"/>
            <a:r>
              <a:rPr lang="en-US" sz="1600" dirty="0" smtClean="0">
                <a:solidFill>
                  <a:srgbClr val="FF0000"/>
                </a:solidFill>
                <a:latin typeface="Courier New" charset="0"/>
              </a:rPr>
              <a:t>parent: </a:t>
            </a:r>
            <a:r>
              <a:rPr lang="en-US" sz="1600" dirty="0" err="1" smtClean="0">
                <a:solidFill>
                  <a:srgbClr val="FF0000"/>
                </a:solidFill>
                <a:latin typeface="Courier New" charset="0"/>
              </a:rPr>
              <a:t>x</a:t>
            </a:r>
            <a:r>
              <a:rPr lang="en-US" sz="1600" dirty="0" smtClean="0">
                <a:solidFill>
                  <a:srgbClr val="FF0000"/>
                </a:solidFill>
                <a:latin typeface="Courier New" charset="0"/>
              </a:rPr>
              <a:t>=0</a:t>
            </a:r>
            <a:endParaRPr lang="en-US" sz="1600" dirty="0">
              <a:solidFill>
                <a:srgbClr val="FF0000"/>
              </a:solidFill>
              <a:latin typeface="Courier New" charset="0"/>
            </a:endParaRPr>
          </a:p>
        </p:txBody>
      </p:sp>
      <p:cxnSp>
        <p:nvCxnSpPr>
          <p:cNvPr id="21" name="Straight Arrow Connector 20"/>
          <p:cNvCxnSpPr/>
          <p:nvPr/>
        </p:nvCxnSpPr>
        <p:spPr>
          <a:xfrm flipV="1">
            <a:off x="7103855" y="3464113"/>
            <a:ext cx="874528" cy="40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Oval 21"/>
          <p:cNvSpPr>
            <a:spLocks noChangeAspect="1"/>
          </p:cNvSpPr>
          <p:nvPr/>
        </p:nvSpPr>
        <p:spPr>
          <a:xfrm>
            <a:off x="7975351" y="3418593"/>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23" name="TextBox 22"/>
          <p:cNvSpPr txBox="1"/>
          <p:nvPr/>
        </p:nvSpPr>
        <p:spPr>
          <a:xfrm>
            <a:off x="7542234" y="3446452"/>
            <a:ext cx="947222" cy="338554"/>
          </a:xfrm>
          <a:prstGeom prst="rect">
            <a:avLst/>
          </a:prstGeom>
          <a:noFill/>
        </p:spPr>
        <p:txBody>
          <a:bodyPr wrap="square" rtlCol="0">
            <a:spAutoFit/>
          </a:bodyPr>
          <a:lstStyle/>
          <a:p>
            <a:pPr algn="ctr"/>
            <a:r>
              <a:rPr lang="en-US" sz="1600" b="1" dirty="0" smtClean="0">
                <a:latin typeface="Courier New"/>
                <a:cs typeface="Courier New"/>
              </a:rPr>
              <a:t>exit</a:t>
            </a:r>
            <a:endParaRPr lang="en-US" sz="1600" b="1" dirty="0">
              <a:latin typeface="Courier New"/>
              <a:cs typeface="Courier New"/>
            </a:endParaRPr>
          </a:p>
        </p:txBody>
      </p:sp>
      <p:sp>
        <p:nvSpPr>
          <p:cNvPr id="24" name="TextBox 23"/>
          <p:cNvSpPr txBox="1"/>
          <p:nvPr/>
        </p:nvSpPr>
        <p:spPr>
          <a:xfrm>
            <a:off x="8380434" y="3290992"/>
            <a:ext cx="838163" cy="338554"/>
          </a:xfrm>
          <a:prstGeom prst="rect">
            <a:avLst/>
          </a:prstGeom>
          <a:noFill/>
        </p:spPr>
        <p:txBody>
          <a:bodyPr wrap="none" rtlCol="0">
            <a:spAutoFit/>
          </a:bodyPr>
          <a:lstStyle/>
          <a:p>
            <a:r>
              <a:rPr lang="en-US" sz="1600" i="1" dirty="0" smtClean="0">
                <a:latin typeface="Arial"/>
                <a:cs typeface="Arial"/>
              </a:rPr>
              <a:t>Parent</a:t>
            </a:r>
            <a:endParaRPr lang="en-US" sz="1600" i="1" dirty="0">
              <a:latin typeface="Arial"/>
              <a:cs typeface="Arial"/>
            </a:endParaRPr>
          </a:p>
        </p:txBody>
      </p:sp>
      <p:sp>
        <p:nvSpPr>
          <p:cNvPr id="25" name="TextBox 24"/>
          <p:cNvSpPr txBox="1"/>
          <p:nvPr/>
        </p:nvSpPr>
        <p:spPr>
          <a:xfrm>
            <a:off x="8448912" y="2641972"/>
            <a:ext cx="701206" cy="338554"/>
          </a:xfrm>
          <a:prstGeom prst="rect">
            <a:avLst/>
          </a:prstGeom>
          <a:noFill/>
        </p:spPr>
        <p:txBody>
          <a:bodyPr wrap="none" rtlCol="0">
            <a:spAutoFit/>
          </a:bodyPr>
          <a:lstStyle/>
          <a:p>
            <a:r>
              <a:rPr lang="en-US" sz="1600" i="1" dirty="0" smtClean="0">
                <a:latin typeface="Arial"/>
                <a:cs typeface="Arial"/>
              </a:rPr>
              <a:t>Child</a:t>
            </a:r>
            <a:endParaRPr lang="en-US" sz="1600" i="1" dirty="0">
              <a:latin typeface="Arial"/>
              <a:cs typeface="Arial"/>
            </a:endParaRPr>
          </a:p>
        </p:txBody>
      </p:sp>
      <p:sp>
        <p:nvSpPr>
          <p:cNvPr id="29" name="Rectangle 3"/>
          <p:cNvSpPr>
            <a:spLocks noChangeArrowheads="1"/>
          </p:cNvSpPr>
          <p:nvPr/>
        </p:nvSpPr>
        <p:spPr bwMode="auto">
          <a:xfrm>
            <a:off x="3963966" y="4900137"/>
            <a:ext cx="1067294"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fork.c</a:t>
            </a:r>
            <a:endParaRPr lang="en-GB" sz="1800" b="1" i="1" dirty="0">
              <a:solidFill>
                <a:schemeClr val="tx1">
                  <a:lumMod val="50000"/>
                  <a:lumOff val="50000"/>
                </a:schemeClr>
              </a:solidFill>
              <a:latin typeface="Courier New" pitchFamily="49" charset="0"/>
              <a:ea typeface="msgothic" charset="0"/>
              <a:cs typeface="msgothic" charset="0"/>
            </a:endParaRPr>
          </a:p>
        </p:txBody>
      </p:sp>
    </p:spTree>
    <p:extLst>
      <p:ext uri="{BB962C8B-B14F-4D97-AF65-F5344CB8AC3E}">
        <p14:creationId xmlns:p14="http://schemas.microsoft.com/office/powerpoint/2010/main" val="1459353240"/>
      </p:ext>
    </p:extLst>
  </p:cSld>
  <p:clrMapOvr>
    <a:masterClrMapping/>
  </p:clrMapOvr>
  <p:timing>
    <p:tnLst>
      <p:par>
        <p:cTn xmlns:p14="http://schemas.microsoft.com/office/powerpoint/2010/mai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Interpreting Process Graphs</a:t>
            </a:r>
            <a:endParaRPr lang="en-US" dirty="0"/>
          </a:p>
        </p:txBody>
      </p:sp>
      <p:sp>
        <p:nvSpPr>
          <p:cNvPr id="3" name="Content Placeholder 2"/>
          <p:cNvSpPr>
            <a:spLocks noGrp="1"/>
          </p:cNvSpPr>
          <p:nvPr>
            <p:ph idx="1"/>
          </p:nvPr>
        </p:nvSpPr>
        <p:spPr>
          <a:xfrm>
            <a:off x="152400" y="1362075"/>
            <a:ext cx="4700023" cy="3895725"/>
          </a:xfrm>
        </p:spPr>
        <p:txBody>
          <a:bodyPr/>
          <a:lstStyle/>
          <a:p>
            <a:r>
              <a:rPr lang="en-US" dirty="0" smtClean="0"/>
              <a:t>Original graph:</a:t>
            </a:r>
          </a:p>
          <a:p>
            <a:endParaRPr lang="en-US" dirty="0"/>
          </a:p>
          <a:p>
            <a:endParaRPr lang="en-US" dirty="0" smtClean="0"/>
          </a:p>
          <a:p>
            <a:endParaRPr lang="en-US" dirty="0"/>
          </a:p>
          <a:p>
            <a:endParaRPr lang="en-US" dirty="0" smtClean="0"/>
          </a:p>
          <a:p>
            <a:r>
              <a:rPr lang="en-US" dirty="0" err="1" smtClean="0"/>
              <a:t>Relabled</a:t>
            </a:r>
            <a:r>
              <a:rPr lang="en-US" dirty="0" smtClean="0"/>
              <a:t> graph:</a:t>
            </a:r>
          </a:p>
          <a:p>
            <a:endParaRPr lang="en-US" dirty="0"/>
          </a:p>
          <a:p>
            <a:endParaRPr lang="en-US" dirty="0" smtClean="0"/>
          </a:p>
          <a:p>
            <a:pPr marL="0" indent="0">
              <a:buNone/>
            </a:pPr>
            <a:endParaRPr lang="en-US" dirty="0"/>
          </a:p>
        </p:txBody>
      </p:sp>
      <p:grpSp>
        <p:nvGrpSpPr>
          <p:cNvPr id="4" name="Group 3"/>
          <p:cNvGrpSpPr/>
          <p:nvPr/>
        </p:nvGrpSpPr>
        <p:grpSpPr>
          <a:xfrm>
            <a:off x="767182" y="1831455"/>
            <a:ext cx="4085241" cy="1292745"/>
            <a:chOff x="2748382" y="2974455"/>
            <a:chExt cx="4085241" cy="1292745"/>
          </a:xfrm>
        </p:grpSpPr>
        <p:sp>
          <p:nvSpPr>
            <p:cNvPr id="5" name="Text Box 407"/>
            <p:cNvSpPr txBox="1">
              <a:spLocks noChangeArrowheads="1"/>
            </p:cNvSpPr>
            <p:nvPr/>
          </p:nvSpPr>
          <p:spPr bwMode="auto">
            <a:xfrm>
              <a:off x="3885235" y="2974455"/>
              <a:ext cx="1834033" cy="338554"/>
            </a:xfrm>
            <a:prstGeom prst="rect">
              <a:avLst/>
            </a:prstGeom>
            <a:noFill/>
            <a:ln w="25400">
              <a:noFill/>
              <a:miter lim="800000"/>
              <a:headEnd/>
              <a:tailEnd/>
            </a:ln>
            <a:effectLst/>
          </p:spPr>
          <p:txBody>
            <a:bodyPr wrap="square">
              <a:prstTxWarp prst="textNoShape">
                <a:avLst/>
              </a:prstTxWarp>
              <a:spAutoFit/>
            </a:bodyPr>
            <a:lstStyle/>
            <a:p>
              <a:pPr algn="ctr"/>
              <a:r>
                <a:rPr lang="en-US" sz="1600" dirty="0" smtClean="0">
                  <a:solidFill>
                    <a:srgbClr val="FF0000"/>
                  </a:solidFill>
                  <a:latin typeface="Courier New" charset="0"/>
                </a:rPr>
                <a:t>child: </a:t>
              </a:r>
              <a:r>
                <a:rPr lang="en-US" sz="1600" dirty="0" err="1" smtClean="0">
                  <a:solidFill>
                    <a:srgbClr val="FF0000"/>
                  </a:solidFill>
                  <a:latin typeface="Courier New" charset="0"/>
                </a:rPr>
                <a:t>x</a:t>
              </a:r>
              <a:r>
                <a:rPr lang="en-US" sz="1600" dirty="0" smtClean="0">
                  <a:solidFill>
                    <a:srgbClr val="FF0000"/>
                  </a:solidFill>
                  <a:latin typeface="Courier New" charset="0"/>
                </a:rPr>
                <a:t>=2</a:t>
              </a:r>
              <a:endParaRPr lang="en-US" sz="1600" dirty="0">
                <a:solidFill>
                  <a:srgbClr val="FF0000"/>
                </a:solidFill>
                <a:latin typeface="Courier New" charset="0"/>
              </a:endParaRPr>
            </a:p>
          </p:txBody>
        </p:sp>
        <p:sp>
          <p:nvSpPr>
            <p:cNvPr id="6" name="Oval 5"/>
            <p:cNvSpPr>
              <a:spLocks noChangeAspect="1"/>
            </p:cNvSpPr>
            <p:nvPr/>
          </p:nvSpPr>
          <p:spPr>
            <a:xfrm>
              <a:off x="3009824" y="388800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7" name="TextBox 6"/>
            <p:cNvSpPr txBox="1"/>
            <p:nvPr/>
          </p:nvSpPr>
          <p:spPr>
            <a:xfrm>
              <a:off x="2748382" y="3928646"/>
              <a:ext cx="677189" cy="338554"/>
            </a:xfrm>
            <a:prstGeom prst="rect">
              <a:avLst/>
            </a:prstGeom>
            <a:noFill/>
          </p:spPr>
          <p:txBody>
            <a:bodyPr wrap="none" rtlCol="0">
              <a:spAutoFit/>
            </a:bodyPr>
            <a:lstStyle/>
            <a:p>
              <a:pPr algn="ctr"/>
              <a:r>
                <a:rPr lang="en-US" sz="1600" b="1" dirty="0" smtClean="0">
                  <a:latin typeface="Courier New"/>
                  <a:cs typeface="Courier New"/>
                </a:rPr>
                <a:t>main</a:t>
              </a:r>
              <a:endParaRPr lang="en-US" sz="1600" b="1" dirty="0">
                <a:latin typeface="Courier New"/>
                <a:cs typeface="Courier New"/>
              </a:endParaRPr>
            </a:p>
          </p:txBody>
        </p:sp>
        <p:sp>
          <p:nvSpPr>
            <p:cNvPr id="8" name="Oval 7"/>
            <p:cNvSpPr>
              <a:spLocks noChangeAspect="1"/>
            </p:cNvSpPr>
            <p:nvPr/>
          </p:nvSpPr>
          <p:spPr>
            <a:xfrm>
              <a:off x="3923936" y="388800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9" name="Oval 8"/>
            <p:cNvSpPr>
              <a:spLocks noChangeAspect="1"/>
            </p:cNvSpPr>
            <p:nvPr/>
          </p:nvSpPr>
          <p:spPr>
            <a:xfrm>
              <a:off x="4854270" y="388800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10" name="TextBox 9"/>
            <p:cNvSpPr txBox="1"/>
            <p:nvPr/>
          </p:nvSpPr>
          <p:spPr>
            <a:xfrm>
              <a:off x="3637714" y="3928646"/>
              <a:ext cx="667623" cy="338554"/>
            </a:xfrm>
            <a:prstGeom prst="rect">
              <a:avLst/>
            </a:prstGeom>
            <a:noFill/>
          </p:spPr>
          <p:txBody>
            <a:bodyPr wrap="square" rtlCol="0">
              <a:spAutoFit/>
            </a:bodyPr>
            <a:lstStyle/>
            <a:p>
              <a:pPr algn="ctr"/>
              <a:r>
                <a:rPr lang="en-US" sz="1600" b="1" dirty="0" smtClean="0">
                  <a:latin typeface="Courier New"/>
                  <a:cs typeface="Courier New"/>
                </a:rPr>
                <a:t>fork</a:t>
              </a:r>
              <a:endParaRPr lang="en-US" sz="1600" b="1" dirty="0">
                <a:latin typeface="Courier New"/>
                <a:cs typeface="Courier New"/>
              </a:endParaRPr>
            </a:p>
          </p:txBody>
        </p:sp>
        <p:cxnSp>
          <p:nvCxnSpPr>
            <p:cNvPr id="11" name="Elbow Connector 35"/>
            <p:cNvCxnSpPr>
              <a:stCxn id="10" idx="0"/>
            </p:cNvCxnSpPr>
            <p:nvPr/>
          </p:nvCxnSpPr>
          <p:spPr>
            <a:xfrm rot="5400000" flipH="1" flipV="1">
              <a:off x="4083375" y="3176401"/>
              <a:ext cx="640396" cy="864095"/>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Oval 11"/>
            <p:cNvSpPr>
              <a:spLocks noChangeAspect="1"/>
            </p:cNvSpPr>
            <p:nvPr/>
          </p:nvSpPr>
          <p:spPr>
            <a:xfrm>
              <a:off x="4838737" y="3243245"/>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cxnSp>
          <p:nvCxnSpPr>
            <p:cNvPr id="13" name="Straight Arrow Connector 12"/>
            <p:cNvCxnSpPr/>
            <p:nvPr/>
          </p:nvCxnSpPr>
          <p:spPr>
            <a:xfrm flipV="1">
              <a:off x="4015376" y="3932033"/>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V="1">
              <a:off x="3101264" y="3932033"/>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24915" y="3928646"/>
              <a:ext cx="947222" cy="338554"/>
            </a:xfrm>
            <a:prstGeom prst="rect">
              <a:avLst/>
            </a:prstGeom>
            <a:noFill/>
          </p:spPr>
          <p:txBody>
            <a:bodyPr wrap="square" rtlCol="0">
              <a:spAutoFit/>
            </a:bodyPr>
            <a:lstStyle/>
            <a:p>
              <a:pPr algn="ctr"/>
              <a:r>
                <a:rPr lang="en-US" sz="1600" b="1" dirty="0" err="1" smtClean="0">
                  <a:latin typeface="Courier New"/>
                  <a:cs typeface="Courier New"/>
                </a:rPr>
                <a:t>printf</a:t>
              </a:r>
              <a:endParaRPr lang="en-US" sz="1600" b="1" dirty="0">
                <a:latin typeface="Courier New"/>
                <a:cs typeface="Courier New"/>
              </a:endParaRPr>
            </a:p>
          </p:txBody>
        </p:sp>
        <p:sp>
          <p:nvSpPr>
            <p:cNvPr id="16" name="TextBox 15"/>
            <p:cNvSpPr txBox="1"/>
            <p:nvPr/>
          </p:nvSpPr>
          <p:spPr>
            <a:xfrm>
              <a:off x="4424816" y="3271104"/>
              <a:ext cx="947222" cy="338554"/>
            </a:xfrm>
            <a:prstGeom prst="rect">
              <a:avLst/>
            </a:prstGeom>
            <a:noFill/>
          </p:spPr>
          <p:txBody>
            <a:bodyPr wrap="square" rtlCol="0">
              <a:spAutoFit/>
            </a:bodyPr>
            <a:lstStyle/>
            <a:p>
              <a:pPr algn="ctr"/>
              <a:r>
                <a:rPr lang="en-US" sz="1600" b="1" dirty="0" err="1" smtClean="0">
                  <a:latin typeface="Courier New"/>
                  <a:cs typeface="Courier New"/>
                </a:rPr>
                <a:t>printf</a:t>
              </a:r>
              <a:endParaRPr lang="en-US" sz="1600" b="1" dirty="0">
                <a:latin typeface="Courier New"/>
                <a:cs typeface="Courier New"/>
              </a:endParaRPr>
            </a:p>
          </p:txBody>
        </p:sp>
        <p:sp>
          <p:nvSpPr>
            <p:cNvPr id="17" name="Text Box 407"/>
            <p:cNvSpPr txBox="1">
              <a:spLocks noChangeArrowheads="1"/>
            </p:cNvSpPr>
            <p:nvPr/>
          </p:nvSpPr>
          <p:spPr bwMode="auto">
            <a:xfrm>
              <a:off x="3115899" y="3616233"/>
              <a:ext cx="795337" cy="338554"/>
            </a:xfrm>
            <a:prstGeom prst="rect">
              <a:avLst/>
            </a:prstGeom>
            <a:noFill/>
            <a:ln w="25400">
              <a:noFill/>
              <a:miter lim="800000"/>
              <a:headEnd/>
              <a:tailEnd/>
            </a:ln>
            <a:effectLst/>
          </p:spPr>
          <p:txBody>
            <a:bodyPr wrap="square">
              <a:prstTxWarp prst="textNoShape">
                <a:avLst/>
              </a:prstTxWarp>
              <a:spAutoFit/>
            </a:bodyPr>
            <a:lstStyle/>
            <a:p>
              <a:pPr algn="ctr"/>
              <a:r>
                <a:rPr lang="en-US" sz="1600" dirty="0" err="1" smtClean="0">
                  <a:latin typeface="Courier New" charset="0"/>
                </a:rPr>
                <a:t>x</a:t>
              </a:r>
              <a:r>
                <a:rPr lang="en-US" sz="1600" dirty="0" smtClean="0">
                  <a:latin typeface="Courier New" charset="0"/>
                </a:rPr>
                <a:t>==1</a:t>
              </a:r>
              <a:endParaRPr lang="en-US" sz="1600" dirty="0">
                <a:latin typeface="Courier New" charset="0"/>
              </a:endParaRPr>
            </a:p>
          </p:txBody>
        </p:sp>
        <p:cxnSp>
          <p:nvCxnSpPr>
            <p:cNvPr id="18" name="Straight Arrow Connector 17"/>
            <p:cNvCxnSpPr/>
            <p:nvPr/>
          </p:nvCxnSpPr>
          <p:spPr>
            <a:xfrm flipV="1">
              <a:off x="4920940" y="3288765"/>
              <a:ext cx="1407322" cy="40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9" name="Oval 18"/>
            <p:cNvSpPr>
              <a:spLocks noChangeAspect="1"/>
            </p:cNvSpPr>
            <p:nvPr/>
          </p:nvSpPr>
          <p:spPr>
            <a:xfrm>
              <a:off x="6319518" y="3243245"/>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20" name="TextBox 19"/>
            <p:cNvSpPr txBox="1"/>
            <p:nvPr/>
          </p:nvSpPr>
          <p:spPr>
            <a:xfrm>
              <a:off x="5886401" y="3271104"/>
              <a:ext cx="947222" cy="338554"/>
            </a:xfrm>
            <a:prstGeom prst="rect">
              <a:avLst/>
            </a:prstGeom>
            <a:noFill/>
          </p:spPr>
          <p:txBody>
            <a:bodyPr wrap="square" rtlCol="0">
              <a:spAutoFit/>
            </a:bodyPr>
            <a:lstStyle/>
            <a:p>
              <a:pPr algn="ctr"/>
              <a:r>
                <a:rPr lang="en-US" sz="1600" b="1" dirty="0" smtClean="0">
                  <a:latin typeface="Courier New"/>
                  <a:cs typeface="Courier New"/>
                </a:rPr>
                <a:t>exit</a:t>
              </a:r>
              <a:endParaRPr lang="en-US" sz="1600" b="1" dirty="0">
                <a:latin typeface="Courier New"/>
                <a:cs typeface="Courier New"/>
              </a:endParaRPr>
            </a:p>
          </p:txBody>
        </p:sp>
        <p:sp>
          <p:nvSpPr>
            <p:cNvPr id="21" name="Text Box 407"/>
            <p:cNvSpPr txBox="1">
              <a:spLocks noChangeArrowheads="1"/>
            </p:cNvSpPr>
            <p:nvPr/>
          </p:nvSpPr>
          <p:spPr bwMode="auto">
            <a:xfrm>
              <a:off x="3961435" y="3596958"/>
              <a:ext cx="1834033" cy="338554"/>
            </a:xfrm>
            <a:prstGeom prst="rect">
              <a:avLst/>
            </a:prstGeom>
            <a:noFill/>
            <a:ln w="25400">
              <a:noFill/>
              <a:miter lim="800000"/>
              <a:headEnd/>
              <a:tailEnd/>
            </a:ln>
            <a:effectLst/>
          </p:spPr>
          <p:txBody>
            <a:bodyPr wrap="square">
              <a:prstTxWarp prst="textNoShape">
                <a:avLst/>
              </a:prstTxWarp>
              <a:spAutoFit/>
            </a:bodyPr>
            <a:lstStyle/>
            <a:p>
              <a:pPr algn="ctr"/>
              <a:r>
                <a:rPr lang="en-US" sz="1600" dirty="0" smtClean="0">
                  <a:solidFill>
                    <a:srgbClr val="FF0000"/>
                  </a:solidFill>
                  <a:latin typeface="Courier New" charset="0"/>
                </a:rPr>
                <a:t>parent: </a:t>
              </a:r>
              <a:r>
                <a:rPr lang="en-US" sz="1600" dirty="0" err="1" smtClean="0">
                  <a:solidFill>
                    <a:srgbClr val="FF0000"/>
                  </a:solidFill>
                  <a:latin typeface="Courier New" charset="0"/>
                </a:rPr>
                <a:t>x</a:t>
              </a:r>
              <a:r>
                <a:rPr lang="en-US" sz="1600" dirty="0" smtClean="0">
                  <a:solidFill>
                    <a:srgbClr val="FF0000"/>
                  </a:solidFill>
                  <a:latin typeface="Courier New" charset="0"/>
                </a:rPr>
                <a:t>=0</a:t>
              </a:r>
              <a:endParaRPr lang="en-US" sz="1600" dirty="0">
                <a:solidFill>
                  <a:srgbClr val="FF0000"/>
                </a:solidFill>
                <a:latin typeface="Courier New" charset="0"/>
              </a:endParaRPr>
            </a:p>
          </p:txBody>
        </p:sp>
        <p:cxnSp>
          <p:nvCxnSpPr>
            <p:cNvPr id="22" name="Straight Arrow Connector 21"/>
            <p:cNvCxnSpPr/>
            <p:nvPr/>
          </p:nvCxnSpPr>
          <p:spPr>
            <a:xfrm flipV="1">
              <a:off x="4920940" y="3923968"/>
              <a:ext cx="1407322" cy="40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Oval 22"/>
            <p:cNvSpPr>
              <a:spLocks noChangeAspect="1"/>
            </p:cNvSpPr>
            <p:nvPr/>
          </p:nvSpPr>
          <p:spPr>
            <a:xfrm>
              <a:off x="6319518" y="3878448"/>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24" name="TextBox 23"/>
            <p:cNvSpPr txBox="1"/>
            <p:nvPr/>
          </p:nvSpPr>
          <p:spPr>
            <a:xfrm>
              <a:off x="5886401" y="3906307"/>
              <a:ext cx="947222" cy="338554"/>
            </a:xfrm>
            <a:prstGeom prst="rect">
              <a:avLst/>
            </a:prstGeom>
            <a:noFill/>
          </p:spPr>
          <p:txBody>
            <a:bodyPr wrap="square" rtlCol="0">
              <a:spAutoFit/>
            </a:bodyPr>
            <a:lstStyle/>
            <a:p>
              <a:pPr algn="ctr"/>
              <a:r>
                <a:rPr lang="en-US" sz="1600" b="1" dirty="0" smtClean="0">
                  <a:latin typeface="Courier New"/>
                  <a:cs typeface="Courier New"/>
                </a:rPr>
                <a:t>exit</a:t>
              </a:r>
              <a:endParaRPr lang="en-US" sz="1600" b="1" dirty="0">
                <a:latin typeface="Courier New"/>
                <a:cs typeface="Courier New"/>
              </a:endParaRPr>
            </a:p>
          </p:txBody>
        </p:sp>
      </p:grpSp>
      <p:grpSp>
        <p:nvGrpSpPr>
          <p:cNvPr id="54" name="Group 53"/>
          <p:cNvGrpSpPr/>
          <p:nvPr/>
        </p:nvGrpSpPr>
        <p:grpSpPr>
          <a:xfrm>
            <a:off x="900055" y="4035852"/>
            <a:ext cx="3900545" cy="993348"/>
            <a:chOff x="410379" y="3386287"/>
            <a:chExt cx="3900545" cy="993348"/>
          </a:xfrm>
        </p:grpSpPr>
        <p:sp>
          <p:nvSpPr>
            <p:cNvPr id="29" name="Oval 28"/>
            <p:cNvSpPr>
              <a:spLocks noChangeAspect="1"/>
            </p:cNvSpPr>
            <p:nvPr/>
          </p:nvSpPr>
          <p:spPr>
            <a:xfrm>
              <a:off x="487125" y="4036678"/>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30" name="TextBox 29"/>
            <p:cNvSpPr txBox="1"/>
            <p:nvPr/>
          </p:nvSpPr>
          <p:spPr>
            <a:xfrm>
              <a:off x="410379" y="4041081"/>
              <a:ext cx="307797" cy="338554"/>
            </a:xfrm>
            <a:prstGeom prst="rect">
              <a:avLst/>
            </a:prstGeom>
            <a:noFill/>
          </p:spPr>
          <p:txBody>
            <a:bodyPr wrap="none" rtlCol="0">
              <a:spAutoFit/>
            </a:bodyPr>
            <a:lstStyle/>
            <a:p>
              <a:pPr algn="ctr"/>
              <a:r>
                <a:rPr lang="en-US" sz="1600" b="1" dirty="0" smtClean="0">
                  <a:latin typeface="Courier New"/>
                  <a:cs typeface="Courier New"/>
                </a:rPr>
                <a:t>a</a:t>
              </a:r>
              <a:endParaRPr lang="en-US" sz="1600" b="1" dirty="0">
                <a:latin typeface="Courier New"/>
                <a:cs typeface="Courier New"/>
              </a:endParaRPr>
            </a:p>
          </p:txBody>
        </p:sp>
        <p:sp>
          <p:nvSpPr>
            <p:cNvPr id="31" name="Oval 30"/>
            <p:cNvSpPr>
              <a:spLocks noChangeAspect="1"/>
            </p:cNvSpPr>
            <p:nvPr/>
          </p:nvSpPr>
          <p:spPr>
            <a:xfrm>
              <a:off x="1401237" y="4036678"/>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32" name="Oval 31"/>
            <p:cNvSpPr>
              <a:spLocks noChangeAspect="1"/>
            </p:cNvSpPr>
            <p:nvPr/>
          </p:nvSpPr>
          <p:spPr>
            <a:xfrm>
              <a:off x="2331571" y="4036678"/>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33" name="TextBox 32"/>
            <p:cNvSpPr txBox="1"/>
            <p:nvPr/>
          </p:nvSpPr>
          <p:spPr>
            <a:xfrm>
              <a:off x="1115015" y="4041081"/>
              <a:ext cx="667623" cy="338554"/>
            </a:xfrm>
            <a:prstGeom prst="rect">
              <a:avLst/>
            </a:prstGeom>
            <a:noFill/>
          </p:spPr>
          <p:txBody>
            <a:bodyPr wrap="square" rtlCol="0">
              <a:spAutoFit/>
            </a:bodyPr>
            <a:lstStyle/>
            <a:p>
              <a:pPr algn="ctr"/>
              <a:r>
                <a:rPr lang="en-US" sz="1600" b="1" dirty="0" smtClean="0">
                  <a:latin typeface="Courier New"/>
                  <a:cs typeface="Courier New"/>
                </a:rPr>
                <a:t>b</a:t>
              </a:r>
              <a:endParaRPr lang="en-US" sz="1600" b="1" dirty="0">
                <a:latin typeface="Courier New"/>
                <a:cs typeface="Courier New"/>
              </a:endParaRPr>
            </a:p>
          </p:txBody>
        </p:sp>
        <p:cxnSp>
          <p:nvCxnSpPr>
            <p:cNvPr id="34" name="Elbow Connector 35"/>
            <p:cNvCxnSpPr>
              <a:stCxn id="33" idx="0"/>
            </p:cNvCxnSpPr>
            <p:nvPr/>
          </p:nvCxnSpPr>
          <p:spPr>
            <a:xfrm rot="5400000" flipH="1" flipV="1">
              <a:off x="1578795" y="3306955"/>
              <a:ext cx="604159" cy="864094"/>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Oval 34"/>
            <p:cNvSpPr>
              <a:spLocks noChangeAspect="1"/>
            </p:cNvSpPr>
            <p:nvPr/>
          </p:nvSpPr>
          <p:spPr>
            <a:xfrm>
              <a:off x="2316038" y="3391916"/>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cxnSp>
          <p:nvCxnSpPr>
            <p:cNvPr id="36" name="Straight Arrow Connector 35"/>
            <p:cNvCxnSpPr/>
            <p:nvPr/>
          </p:nvCxnSpPr>
          <p:spPr>
            <a:xfrm flipV="1">
              <a:off x="1492677" y="4080704"/>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V="1">
              <a:off x="578565" y="4080704"/>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V="1">
              <a:off x="2398241" y="3437436"/>
              <a:ext cx="1407322" cy="40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2" name="Oval 41"/>
            <p:cNvSpPr>
              <a:spLocks noChangeAspect="1"/>
            </p:cNvSpPr>
            <p:nvPr/>
          </p:nvSpPr>
          <p:spPr>
            <a:xfrm>
              <a:off x="3796819" y="3391916"/>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43" name="TextBox 42"/>
            <p:cNvSpPr txBox="1"/>
            <p:nvPr/>
          </p:nvSpPr>
          <p:spPr>
            <a:xfrm>
              <a:off x="3363702" y="3386287"/>
              <a:ext cx="947222" cy="338554"/>
            </a:xfrm>
            <a:prstGeom prst="rect">
              <a:avLst/>
            </a:prstGeom>
            <a:noFill/>
          </p:spPr>
          <p:txBody>
            <a:bodyPr wrap="square" rtlCol="0">
              <a:spAutoFit/>
            </a:bodyPr>
            <a:lstStyle/>
            <a:p>
              <a:pPr algn="ctr"/>
              <a:r>
                <a:rPr lang="en-US" sz="1600" b="1" dirty="0" smtClean="0">
                  <a:latin typeface="Courier New"/>
                  <a:cs typeface="Courier New"/>
                </a:rPr>
                <a:t>f</a:t>
              </a:r>
              <a:endParaRPr lang="en-US" sz="1600" b="1" dirty="0">
                <a:latin typeface="Courier New"/>
                <a:cs typeface="Courier New"/>
              </a:endParaRPr>
            </a:p>
          </p:txBody>
        </p:sp>
        <p:cxnSp>
          <p:nvCxnSpPr>
            <p:cNvPr id="45" name="Straight Arrow Connector 44"/>
            <p:cNvCxnSpPr/>
            <p:nvPr/>
          </p:nvCxnSpPr>
          <p:spPr>
            <a:xfrm flipV="1">
              <a:off x="2398241" y="4072639"/>
              <a:ext cx="1407322" cy="40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6" name="Oval 45"/>
            <p:cNvSpPr>
              <a:spLocks noChangeAspect="1"/>
            </p:cNvSpPr>
            <p:nvPr/>
          </p:nvSpPr>
          <p:spPr>
            <a:xfrm>
              <a:off x="3796819" y="402711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47" name="TextBox 46"/>
            <p:cNvSpPr txBox="1"/>
            <p:nvPr/>
          </p:nvSpPr>
          <p:spPr>
            <a:xfrm>
              <a:off x="3363702" y="4041081"/>
              <a:ext cx="947222" cy="338554"/>
            </a:xfrm>
            <a:prstGeom prst="rect">
              <a:avLst/>
            </a:prstGeom>
            <a:noFill/>
          </p:spPr>
          <p:txBody>
            <a:bodyPr wrap="square" rtlCol="0">
              <a:spAutoFit/>
            </a:bodyPr>
            <a:lstStyle/>
            <a:p>
              <a:pPr algn="ctr"/>
              <a:r>
                <a:rPr lang="en-US" sz="1600" b="1" dirty="0" smtClean="0">
                  <a:latin typeface="Courier New"/>
                  <a:cs typeface="Courier New"/>
                </a:rPr>
                <a:t>d</a:t>
              </a:r>
              <a:endParaRPr lang="en-US" sz="1600" b="1" dirty="0">
                <a:latin typeface="Courier New"/>
                <a:cs typeface="Courier New"/>
              </a:endParaRPr>
            </a:p>
          </p:txBody>
        </p:sp>
        <p:sp>
          <p:nvSpPr>
            <p:cNvPr id="50" name="TextBox 49"/>
            <p:cNvSpPr txBox="1"/>
            <p:nvPr/>
          </p:nvSpPr>
          <p:spPr>
            <a:xfrm>
              <a:off x="2057400" y="4041081"/>
              <a:ext cx="667623" cy="338554"/>
            </a:xfrm>
            <a:prstGeom prst="rect">
              <a:avLst/>
            </a:prstGeom>
            <a:noFill/>
          </p:spPr>
          <p:txBody>
            <a:bodyPr wrap="square" rtlCol="0">
              <a:spAutoFit/>
            </a:bodyPr>
            <a:lstStyle/>
            <a:p>
              <a:pPr algn="ctr"/>
              <a:r>
                <a:rPr lang="en-US" sz="1600" dirty="0">
                  <a:latin typeface="Courier New"/>
                  <a:cs typeface="Courier New"/>
                </a:rPr>
                <a:t>c</a:t>
              </a:r>
              <a:endParaRPr lang="en-US" sz="1600" b="1" dirty="0">
                <a:latin typeface="Courier New"/>
                <a:cs typeface="Courier New"/>
              </a:endParaRPr>
            </a:p>
          </p:txBody>
        </p:sp>
        <p:sp>
          <p:nvSpPr>
            <p:cNvPr id="53" name="TextBox 52"/>
            <p:cNvSpPr txBox="1"/>
            <p:nvPr/>
          </p:nvSpPr>
          <p:spPr>
            <a:xfrm>
              <a:off x="1905000" y="3386287"/>
              <a:ext cx="947222" cy="338554"/>
            </a:xfrm>
            <a:prstGeom prst="rect">
              <a:avLst/>
            </a:prstGeom>
            <a:noFill/>
          </p:spPr>
          <p:txBody>
            <a:bodyPr wrap="square" rtlCol="0">
              <a:spAutoFit/>
            </a:bodyPr>
            <a:lstStyle/>
            <a:p>
              <a:pPr algn="ctr"/>
              <a:r>
                <a:rPr lang="en-US" sz="1600" dirty="0">
                  <a:latin typeface="Courier New"/>
                  <a:cs typeface="Courier New"/>
                </a:rPr>
                <a:t>e</a:t>
              </a:r>
              <a:endParaRPr lang="en-US" sz="1600" b="1" dirty="0">
                <a:latin typeface="Courier New"/>
                <a:cs typeface="Courier New"/>
              </a:endParaRPr>
            </a:p>
          </p:txBody>
        </p:sp>
      </p:grpSp>
      <p:grpSp>
        <p:nvGrpSpPr>
          <p:cNvPr id="100" name="Group 99"/>
          <p:cNvGrpSpPr/>
          <p:nvPr/>
        </p:nvGrpSpPr>
        <p:grpSpPr>
          <a:xfrm>
            <a:off x="5709045" y="3434318"/>
            <a:ext cx="3230523" cy="1442482"/>
            <a:chOff x="5709045" y="3581400"/>
            <a:chExt cx="3230523" cy="1442482"/>
          </a:xfrm>
        </p:grpSpPr>
        <p:sp>
          <p:nvSpPr>
            <p:cNvPr id="27" name="TextBox 26"/>
            <p:cNvSpPr txBox="1"/>
            <p:nvPr/>
          </p:nvSpPr>
          <p:spPr>
            <a:xfrm>
              <a:off x="5709045" y="4654550"/>
              <a:ext cx="298617" cy="369332"/>
            </a:xfrm>
            <a:prstGeom prst="rect">
              <a:avLst/>
            </a:prstGeom>
            <a:noFill/>
          </p:spPr>
          <p:txBody>
            <a:bodyPr wrap="none" rtlCol="0">
              <a:spAutoFit/>
            </a:bodyPr>
            <a:lstStyle/>
            <a:p>
              <a:r>
                <a:rPr lang="en-US" sz="1800" dirty="0" smtClean="0">
                  <a:latin typeface="Calibri" pitchFamily="34" charset="0"/>
                </a:rPr>
                <a:t>a</a:t>
              </a:r>
            </a:p>
          </p:txBody>
        </p:sp>
        <p:sp>
          <p:nvSpPr>
            <p:cNvPr id="48" name="TextBox 47"/>
            <p:cNvSpPr txBox="1"/>
            <p:nvPr/>
          </p:nvSpPr>
          <p:spPr>
            <a:xfrm>
              <a:off x="6265035" y="4654550"/>
              <a:ext cx="308535" cy="369332"/>
            </a:xfrm>
            <a:prstGeom prst="rect">
              <a:avLst/>
            </a:prstGeom>
            <a:noFill/>
          </p:spPr>
          <p:txBody>
            <a:bodyPr wrap="none" rtlCol="0">
              <a:spAutoFit/>
            </a:bodyPr>
            <a:lstStyle/>
            <a:p>
              <a:r>
                <a:rPr lang="en-US" sz="1800" dirty="0" smtClean="0">
                  <a:latin typeface="Calibri" pitchFamily="34" charset="0"/>
                </a:rPr>
                <a:t>b</a:t>
              </a:r>
            </a:p>
          </p:txBody>
        </p:sp>
        <p:sp>
          <p:nvSpPr>
            <p:cNvPr id="49" name="TextBox 48"/>
            <p:cNvSpPr txBox="1"/>
            <p:nvPr/>
          </p:nvSpPr>
          <p:spPr>
            <a:xfrm>
              <a:off x="6830943" y="4654550"/>
              <a:ext cx="308535" cy="369332"/>
            </a:xfrm>
            <a:prstGeom prst="rect">
              <a:avLst/>
            </a:prstGeom>
            <a:noFill/>
          </p:spPr>
          <p:txBody>
            <a:bodyPr wrap="none" rtlCol="0">
              <a:spAutoFit/>
            </a:bodyPr>
            <a:lstStyle/>
            <a:p>
              <a:r>
                <a:rPr lang="en-US" sz="1800" dirty="0" smtClean="0">
                  <a:latin typeface="Calibri" pitchFamily="34" charset="0"/>
                </a:rPr>
                <a:t>e</a:t>
              </a:r>
            </a:p>
          </p:txBody>
        </p:sp>
        <p:sp>
          <p:nvSpPr>
            <p:cNvPr id="51" name="TextBox 50"/>
            <p:cNvSpPr txBox="1"/>
            <p:nvPr/>
          </p:nvSpPr>
          <p:spPr>
            <a:xfrm>
              <a:off x="7396851" y="4654550"/>
              <a:ext cx="281259" cy="369332"/>
            </a:xfrm>
            <a:prstGeom prst="rect">
              <a:avLst/>
            </a:prstGeom>
            <a:noFill/>
          </p:spPr>
          <p:txBody>
            <a:bodyPr wrap="none" rtlCol="0">
              <a:spAutoFit/>
            </a:bodyPr>
            <a:lstStyle/>
            <a:p>
              <a:r>
                <a:rPr lang="en-US" sz="1800" dirty="0" smtClean="0">
                  <a:latin typeface="Calibri" pitchFamily="34" charset="0"/>
                </a:rPr>
                <a:t>c</a:t>
              </a:r>
            </a:p>
          </p:txBody>
        </p:sp>
        <p:sp>
          <p:nvSpPr>
            <p:cNvPr id="52" name="TextBox 51"/>
            <p:cNvSpPr txBox="1"/>
            <p:nvPr/>
          </p:nvSpPr>
          <p:spPr>
            <a:xfrm>
              <a:off x="7935483" y="4654550"/>
              <a:ext cx="261610" cy="369332"/>
            </a:xfrm>
            <a:prstGeom prst="rect">
              <a:avLst/>
            </a:prstGeom>
            <a:noFill/>
          </p:spPr>
          <p:txBody>
            <a:bodyPr wrap="none" rtlCol="0">
              <a:spAutoFit/>
            </a:bodyPr>
            <a:lstStyle/>
            <a:p>
              <a:r>
                <a:rPr lang="en-US" sz="1800" dirty="0" smtClean="0">
                  <a:latin typeface="Calibri" pitchFamily="34" charset="0"/>
                </a:rPr>
                <a:t>f</a:t>
              </a:r>
            </a:p>
          </p:txBody>
        </p:sp>
        <p:sp>
          <p:nvSpPr>
            <p:cNvPr id="55" name="TextBox 54"/>
            <p:cNvSpPr txBox="1"/>
            <p:nvPr/>
          </p:nvSpPr>
          <p:spPr>
            <a:xfrm>
              <a:off x="8454465" y="4654550"/>
              <a:ext cx="308535" cy="369332"/>
            </a:xfrm>
            <a:prstGeom prst="rect">
              <a:avLst/>
            </a:prstGeom>
            <a:noFill/>
          </p:spPr>
          <p:txBody>
            <a:bodyPr wrap="none" rtlCol="0">
              <a:spAutoFit/>
            </a:bodyPr>
            <a:lstStyle/>
            <a:p>
              <a:r>
                <a:rPr lang="en-US" sz="1800" dirty="0" smtClean="0">
                  <a:latin typeface="Calibri" pitchFamily="34" charset="0"/>
                </a:rPr>
                <a:t>d</a:t>
              </a:r>
            </a:p>
          </p:txBody>
        </p:sp>
        <p:cxnSp>
          <p:nvCxnSpPr>
            <p:cNvPr id="38" name="Curved Connector 37"/>
            <p:cNvCxnSpPr>
              <a:stCxn id="27" idx="0"/>
              <a:endCxn id="48" idx="0"/>
            </p:cNvCxnSpPr>
            <p:nvPr/>
          </p:nvCxnSpPr>
          <p:spPr bwMode="auto">
            <a:xfrm rot="5400000" flipH="1" flipV="1">
              <a:off x="6138828" y="4374076"/>
              <a:ext cx="12700" cy="560949"/>
            </a:xfrm>
            <a:prstGeom prst="curvedConnector3">
              <a:avLst>
                <a:gd name="adj1" fmla="val 3200000"/>
              </a:avLst>
            </a:prstGeom>
            <a:noFill/>
            <a:ln w="25400" cap="flat" cmpd="sng" algn="ctr">
              <a:solidFill>
                <a:schemeClr val="tx1"/>
              </a:solidFill>
              <a:prstDash val="solid"/>
              <a:round/>
              <a:headEnd type="none" w="med" len="med"/>
              <a:tailEnd type="triangle" w="lg" len="lg"/>
            </a:ln>
            <a:effectLst/>
          </p:spPr>
        </p:cxnSp>
        <p:cxnSp>
          <p:nvCxnSpPr>
            <p:cNvPr id="40" name="Curved Connector 39"/>
            <p:cNvCxnSpPr>
              <a:stCxn id="48" idx="0"/>
              <a:endCxn id="49" idx="0"/>
            </p:cNvCxnSpPr>
            <p:nvPr/>
          </p:nvCxnSpPr>
          <p:spPr bwMode="auto">
            <a:xfrm rot="5400000" flipH="1" flipV="1">
              <a:off x="6702257" y="4371596"/>
              <a:ext cx="12700" cy="565908"/>
            </a:xfrm>
            <a:prstGeom prst="curvedConnector3">
              <a:avLst>
                <a:gd name="adj1" fmla="val 4100000"/>
              </a:avLst>
            </a:prstGeom>
            <a:noFill/>
            <a:ln w="25400" cap="flat" cmpd="sng" algn="ctr">
              <a:solidFill>
                <a:schemeClr val="tx1"/>
              </a:solidFill>
              <a:prstDash val="solid"/>
              <a:round/>
              <a:headEnd type="none" w="med" len="med"/>
              <a:tailEnd type="triangle" w="lg" len="lg"/>
            </a:ln>
            <a:effectLst/>
          </p:spPr>
        </p:cxnSp>
        <p:cxnSp>
          <p:nvCxnSpPr>
            <p:cNvPr id="56" name="Curved Connector 55"/>
            <p:cNvCxnSpPr>
              <a:stCxn id="49" idx="0"/>
              <a:endCxn id="52" idx="0"/>
            </p:cNvCxnSpPr>
            <p:nvPr/>
          </p:nvCxnSpPr>
          <p:spPr bwMode="auto">
            <a:xfrm rot="5400000" flipH="1" flipV="1">
              <a:off x="7525749" y="4114012"/>
              <a:ext cx="12700" cy="1081077"/>
            </a:xfrm>
            <a:prstGeom prst="curvedConnector3">
              <a:avLst>
                <a:gd name="adj1" fmla="val 3600000"/>
              </a:avLst>
            </a:prstGeom>
            <a:noFill/>
            <a:ln w="25400" cap="flat" cmpd="sng" algn="ctr">
              <a:solidFill>
                <a:schemeClr val="tx1"/>
              </a:solidFill>
              <a:prstDash val="solid"/>
              <a:round/>
              <a:headEnd type="none" w="med" len="med"/>
              <a:tailEnd type="triangle" w="lg" len="lg"/>
            </a:ln>
            <a:effectLst/>
          </p:spPr>
        </p:cxnSp>
        <p:cxnSp>
          <p:nvCxnSpPr>
            <p:cNvPr id="58" name="Curved Connector 57"/>
            <p:cNvCxnSpPr>
              <a:stCxn id="48" idx="0"/>
              <a:endCxn id="51" idx="0"/>
            </p:cNvCxnSpPr>
            <p:nvPr/>
          </p:nvCxnSpPr>
          <p:spPr bwMode="auto">
            <a:xfrm rot="5400000" flipH="1" flipV="1">
              <a:off x="6978392" y="4095461"/>
              <a:ext cx="12700" cy="1118178"/>
            </a:xfrm>
            <a:prstGeom prst="curvedConnector3">
              <a:avLst>
                <a:gd name="adj1" fmla="val 3700000"/>
              </a:avLst>
            </a:prstGeom>
            <a:noFill/>
            <a:ln w="25400" cap="flat" cmpd="sng" algn="ctr">
              <a:solidFill>
                <a:schemeClr val="tx1"/>
              </a:solidFill>
              <a:prstDash val="solid"/>
              <a:round/>
              <a:headEnd type="none" w="med" len="med"/>
              <a:tailEnd type="triangle" w="lg" len="lg"/>
            </a:ln>
            <a:effectLst/>
          </p:spPr>
        </p:cxnSp>
        <p:cxnSp>
          <p:nvCxnSpPr>
            <p:cNvPr id="60" name="Curved Connector 59"/>
            <p:cNvCxnSpPr>
              <a:stCxn id="51" idx="0"/>
              <a:endCxn id="55" idx="0"/>
            </p:cNvCxnSpPr>
            <p:nvPr/>
          </p:nvCxnSpPr>
          <p:spPr bwMode="auto">
            <a:xfrm rot="5400000" flipH="1" flipV="1">
              <a:off x="8073107" y="4118924"/>
              <a:ext cx="12700" cy="1071252"/>
            </a:xfrm>
            <a:prstGeom prst="curvedConnector3">
              <a:avLst>
                <a:gd name="adj1" fmla="val 3900000"/>
              </a:avLst>
            </a:prstGeom>
            <a:noFill/>
            <a:ln w="25400" cap="flat" cmpd="sng" algn="ctr">
              <a:solidFill>
                <a:schemeClr val="tx1"/>
              </a:solidFill>
              <a:prstDash val="solid"/>
              <a:round/>
              <a:headEnd type="none" w="med" len="med"/>
              <a:tailEnd type="triangle" w="lg" len="lg"/>
            </a:ln>
            <a:effectLst/>
          </p:spPr>
        </p:cxnSp>
        <p:sp>
          <p:nvSpPr>
            <p:cNvPr id="98" name="TextBox 97"/>
            <p:cNvSpPr txBox="1"/>
            <p:nvPr/>
          </p:nvSpPr>
          <p:spPr>
            <a:xfrm>
              <a:off x="5791200" y="3581400"/>
              <a:ext cx="3148368" cy="461665"/>
            </a:xfrm>
            <a:prstGeom prst="rect">
              <a:avLst/>
            </a:prstGeom>
            <a:noFill/>
          </p:spPr>
          <p:txBody>
            <a:bodyPr wrap="none" rtlCol="0">
              <a:spAutoFit/>
            </a:bodyPr>
            <a:lstStyle/>
            <a:p>
              <a:r>
                <a:rPr lang="en-US" dirty="0" smtClean="0">
                  <a:latin typeface="Calibri" pitchFamily="34" charset="0"/>
                </a:rPr>
                <a:t>Feasible total ordering:</a:t>
              </a:r>
            </a:p>
          </p:txBody>
        </p:sp>
      </p:grpSp>
      <p:grpSp>
        <p:nvGrpSpPr>
          <p:cNvPr id="101" name="Group 100"/>
          <p:cNvGrpSpPr/>
          <p:nvPr/>
        </p:nvGrpSpPr>
        <p:grpSpPr>
          <a:xfrm>
            <a:off x="5709045" y="5181600"/>
            <a:ext cx="3402003" cy="1371600"/>
            <a:chOff x="5709045" y="5105400"/>
            <a:chExt cx="3402003" cy="1371600"/>
          </a:xfrm>
        </p:grpSpPr>
        <p:sp>
          <p:nvSpPr>
            <p:cNvPr id="74" name="TextBox 73"/>
            <p:cNvSpPr txBox="1"/>
            <p:nvPr/>
          </p:nvSpPr>
          <p:spPr>
            <a:xfrm>
              <a:off x="5709045" y="6107668"/>
              <a:ext cx="298617" cy="369332"/>
            </a:xfrm>
            <a:prstGeom prst="rect">
              <a:avLst/>
            </a:prstGeom>
            <a:noFill/>
          </p:spPr>
          <p:txBody>
            <a:bodyPr wrap="none" rtlCol="0">
              <a:spAutoFit/>
            </a:bodyPr>
            <a:lstStyle/>
            <a:p>
              <a:r>
                <a:rPr lang="en-US" sz="1800" dirty="0" smtClean="0">
                  <a:latin typeface="Calibri" pitchFamily="34" charset="0"/>
                </a:rPr>
                <a:t>a</a:t>
              </a:r>
            </a:p>
          </p:txBody>
        </p:sp>
        <p:sp>
          <p:nvSpPr>
            <p:cNvPr id="75" name="TextBox 74"/>
            <p:cNvSpPr txBox="1"/>
            <p:nvPr/>
          </p:nvSpPr>
          <p:spPr>
            <a:xfrm>
              <a:off x="6265035" y="6107668"/>
              <a:ext cx="308535" cy="369332"/>
            </a:xfrm>
            <a:prstGeom prst="rect">
              <a:avLst/>
            </a:prstGeom>
            <a:noFill/>
          </p:spPr>
          <p:txBody>
            <a:bodyPr wrap="none" rtlCol="0">
              <a:spAutoFit/>
            </a:bodyPr>
            <a:lstStyle/>
            <a:p>
              <a:r>
                <a:rPr lang="en-US" sz="1800" dirty="0" smtClean="0">
                  <a:latin typeface="Calibri" pitchFamily="34" charset="0"/>
                </a:rPr>
                <a:t>b</a:t>
              </a:r>
            </a:p>
          </p:txBody>
        </p:sp>
        <p:sp>
          <p:nvSpPr>
            <p:cNvPr id="76" name="TextBox 75"/>
            <p:cNvSpPr txBox="1"/>
            <p:nvPr/>
          </p:nvSpPr>
          <p:spPr>
            <a:xfrm>
              <a:off x="7991310" y="6107668"/>
              <a:ext cx="308535" cy="369332"/>
            </a:xfrm>
            <a:prstGeom prst="rect">
              <a:avLst/>
            </a:prstGeom>
            <a:noFill/>
          </p:spPr>
          <p:txBody>
            <a:bodyPr wrap="none" rtlCol="0">
              <a:spAutoFit/>
            </a:bodyPr>
            <a:lstStyle/>
            <a:p>
              <a:r>
                <a:rPr lang="en-US" sz="1800" dirty="0" smtClean="0">
                  <a:latin typeface="Calibri" pitchFamily="34" charset="0"/>
                </a:rPr>
                <a:t>e</a:t>
              </a:r>
            </a:p>
          </p:txBody>
        </p:sp>
        <p:sp>
          <p:nvSpPr>
            <p:cNvPr id="77" name="TextBox 76"/>
            <p:cNvSpPr txBox="1"/>
            <p:nvPr/>
          </p:nvSpPr>
          <p:spPr>
            <a:xfrm>
              <a:off x="7485186" y="6107668"/>
              <a:ext cx="281259" cy="369332"/>
            </a:xfrm>
            <a:prstGeom prst="rect">
              <a:avLst/>
            </a:prstGeom>
            <a:noFill/>
          </p:spPr>
          <p:txBody>
            <a:bodyPr wrap="none" rtlCol="0">
              <a:spAutoFit/>
            </a:bodyPr>
            <a:lstStyle/>
            <a:p>
              <a:r>
                <a:rPr lang="en-US" sz="1800" dirty="0" smtClean="0">
                  <a:latin typeface="Calibri" pitchFamily="34" charset="0"/>
                </a:rPr>
                <a:t>c</a:t>
              </a:r>
            </a:p>
          </p:txBody>
        </p:sp>
        <p:sp>
          <p:nvSpPr>
            <p:cNvPr id="78" name="TextBox 77"/>
            <p:cNvSpPr txBox="1"/>
            <p:nvPr/>
          </p:nvSpPr>
          <p:spPr>
            <a:xfrm>
              <a:off x="6928245" y="6107668"/>
              <a:ext cx="261610" cy="369332"/>
            </a:xfrm>
            <a:prstGeom prst="rect">
              <a:avLst/>
            </a:prstGeom>
            <a:noFill/>
          </p:spPr>
          <p:txBody>
            <a:bodyPr wrap="none" rtlCol="0">
              <a:spAutoFit/>
            </a:bodyPr>
            <a:lstStyle/>
            <a:p>
              <a:r>
                <a:rPr lang="en-US" sz="1800" dirty="0" smtClean="0">
                  <a:latin typeface="Calibri" pitchFamily="34" charset="0"/>
                </a:rPr>
                <a:t>f</a:t>
              </a:r>
            </a:p>
          </p:txBody>
        </p:sp>
        <p:sp>
          <p:nvSpPr>
            <p:cNvPr id="79" name="TextBox 78"/>
            <p:cNvSpPr txBox="1"/>
            <p:nvPr/>
          </p:nvSpPr>
          <p:spPr>
            <a:xfrm>
              <a:off x="8454465" y="6107668"/>
              <a:ext cx="308535" cy="369332"/>
            </a:xfrm>
            <a:prstGeom prst="rect">
              <a:avLst/>
            </a:prstGeom>
            <a:noFill/>
          </p:spPr>
          <p:txBody>
            <a:bodyPr wrap="none" rtlCol="0">
              <a:spAutoFit/>
            </a:bodyPr>
            <a:lstStyle/>
            <a:p>
              <a:r>
                <a:rPr lang="en-US" sz="1800" dirty="0" smtClean="0">
                  <a:latin typeface="Calibri" pitchFamily="34" charset="0"/>
                </a:rPr>
                <a:t>d</a:t>
              </a:r>
            </a:p>
          </p:txBody>
        </p:sp>
        <p:cxnSp>
          <p:nvCxnSpPr>
            <p:cNvPr id="80" name="Curved Connector 79"/>
            <p:cNvCxnSpPr>
              <a:stCxn id="74" idx="0"/>
              <a:endCxn id="75" idx="0"/>
            </p:cNvCxnSpPr>
            <p:nvPr/>
          </p:nvCxnSpPr>
          <p:spPr bwMode="auto">
            <a:xfrm rot="5400000" flipH="1" flipV="1">
              <a:off x="6138828" y="5827194"/>
              <a:ext cx="12700" cy="560949"/>
            </a:xfrm>
            <a:prstGeom prst="curvedConnector3">
              <a:avLst>
                <a:gd name="adj1" fmla="val 3300000"/>
              </a:avLst>
            </a:prstGeom>
            <a:noFill/>
            <a:ln w="25400" cap="flat" cmpd="sng" algn="ctr">
              <a:solidFill>
                <a:schemeClr val="tx1"/>
              </a:solidFill>
              <a:prstDash val="solid"/>
              <a:round/>
              <a:headEnd type="none" w="med" len="med"/>
              <a:tailEnd type="triangle" w="lg" len="lg"/>
            </a:ln>
            <a:effectLst/>
          </p:spPr>
        </p:cxnSp>
        <p:cxnSp>
          <p:nvCxnSpPr>
            <p:cNvPr id="81" name="Curved Connector 80"/>
            <p:cNvCxnSpPr>
              <a:stCxn id="75" idx="0"/>
              <a:endCxn id="76" idx="0"/>
            </p:cNvCxnSpPr>
            <p:nvPr/>
          </p:nvCxnSpPr>
          <p:spPr bwMode="auto">
            <a:xfrm rot="5400000" flipH="1" flipV="1">
              <a:off x="7282440" y="5244531"/>
              <a:ext cx="12700" cy="1726275"/>
            </a:xfrm>
            <a:prstGeom prst="curvedConnector3">
              <a:avLst>
                <a:gd name="adj1" fmla="val 3500000"/>
              </a:avLst>
            </a:prstGeom>
            <a:noFill/>
            <a:ln w="25400" cap="flat" cmpd="sng" algn="ctr">
              <a:solidFill>
                <a:schemeClr val="tx1"/>
              </a:solidFill>
              <a:prstDash val="solid"/>
              <a:round/>
              <a:headEnd type="none" w="med" len="med"/>
              <a:tailEnd type="triangle" w="lg" len="lg"/>
            </a:ln>
            <a:effectLst/>
          </p:spPr>
        </p:cxnSp>
        <p:cxnSp>
          <p:nvCxnSpPr>
            <p:cNvPr id="82" name="Curved Connector 81"/>
            <p:cNvCxnSpPr>
              <a:stCxn id="76" idx="0"/>
              <a:endCxn id="78" idx="0"/>
            </p:cNvCxnSpPr>
            <p:nvPr/>
          </p:nvCxnSpPr>
          <p:spPr bwMode="auto">
            <a:xfrm rot="16200000" flipV="1">
              <a:off x="7602314" y="5564404"/>
              <a:ext cx="12700" cy="1086528"/>
            </a:xfrm>
            <a:prstGeom prst="curvedConnector3">
              <a:avLst>
                <a:gd name="adj1" fmla="val 4200000"/>
              </a:avLst>
            </a:prstGeom>
            <a:noFill/>
            <a:ln w="25400" cap="flat" cmpd="sng" algn="ctr">
              <a:solidFill>
                <a:srgbClr val="FF0000"/>
              </a:solidFill>
              <a:prstDash val="solid"/>
              <a:round/>
              <a:headEnd type="none" w="med" len="med"/>
              <a:tailEnd type="triangle" w="lg" len="lg"/>
            </a:ln>
            <a:effectLst/>
          </p:spPr>
        </p:cxnSp>
        <p:cxnSp>
          <p:nvCxnSpPr>
            <p:cNvPr id="83" name="Curved Connector 82"/>
            <p:cNvCxnSpPr>
              <a:stCxn id="75" idx="0"/>
              <a:endCxn id="77" idx="0"/>
            </p:cNvCxnSpPr>
            <p:nvPr/>
          </p:nvCxnSpPr>
          <p:spPr bwMode="auto">
            <a:xfrm rot="5400000" flipH="1" flipV="1">
              <a:off x="7022559" y="5504412"/>
              <a:ext cx="12700" cy="1206513"/>
            </a:xfrm>
            <a:prstGeom prst="curvedConnector3">
              <a:avLst>
                <a:gd name="adj1" fmla="val 3600000"/>
              </a:avLst>
            </a:prstGeom>
            <a:noFill/>
            <a:ln w="25400" cap="flat" cmpd="sng" algn="ctr">
              <a:solidFill>
                <a:schemeClr val="tx1"/>
              </a:solidFill>
              <a:prstDash val="solid"/>
              <a:round/>
              <a:headEnd type="none" w="med" len="med"/>
              <a:tailEnd type="triangle" w="lg" len="lg"/>
            </a:ln>
            <a:effectLst/>
          </p:spPr>
        </p:cxnSp>
        <p:cxnSp>
          <p:nvCxnSpPr>
            <p:cNvPr id="84" name="Curved Connector 83"/>
            <p:cNvCxnSpPr>
              <a:stCxn id="77" idx="0"/>
              <a:endCxn id="79" idx="0"/>
            </p:cNvCxnSpPr>
            <p:nvPr/>
          </p:nvCxnSpPr>
          <p:spPr bwMode="auto">
            <a:xfrm rot="5400000" flipH="1" flipV="1">
              <a:off x="8117274" y="5616210"/>
              <a:ext cx="12700" cy="982917"/>
            </a:xfrm>
            <a:prstGeom prst="curvedConnector3">
              <a:avLst>
                <a:gd name="adj1" fmla="val 3900000"/>
              </a:avLst>
            </a:prstGeom>
            <a:noFill/>
            <a:ln w="25400" cap="flat" cmpd="sng" algn="ctr">
              <a:solidFill>
                <a:schemeClr val="tx1"/>
              </a:solidFill>
              <a:prstDash val="solid"/>
              <a:round/>
              <a:headEnd type="none" w="med" len="med"/>
              <a:tailEnd type="triangle" w="lg" len="lg"/>
            </a:ln>
            <a:effectLst/>
          </p:spPr>
        </p:cxnSp>
        <p:sp>
          <p:nvSpPr>
            <p:cNvPr id="99" name="TextBox 98"/>
            <p:cNvSpPr txBox="1"/>
            <p:nvPr/>
          </p:nvSpPr>
          <p:spPr>
            <a:xfrm>
              <a:off x="5759349" y="5105400"/>
              <a:ext cx="3351699" cy="461665"/>
            </a:xfrm>
            <a:prstGeom prst="rect">
              <a:avLst/>
            </a:prstGeom>
            <a:noFill/>
          </p:spPr>
          <p:txBody>
            <a:bodyPr wrap="none" rtlCol="0">
              <a:spAutoFit/>
            </a:bodyPr>
            <a:lstStyle/>
            <a:p>
              <a:r>
                <a:rPr lang="en-US" dirty="0" smtClean="0">
                  <a:latin typeface="Calibri" pitchFamily="34" charset="0"/>
                </a:rPr>
                <a:t>Infeasible total ordering:</a:t>
              </a:r>
            </a:p>
          </p:txBody>
        </p:sp>
      </p:grpSp>
    </p:spTree>
    <p:extLst>
      <p:ext uri="{BB962C8B-B14F-4D97-AF65-F5344CB8AC3E}">
        <p14:creationId xmlns:p14="http://schemas.microsoft.com/office/powerpoint/2010/main" val="397465371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p:cNvSpPr>
            <a:spLocks noGrp="1" noChangeArrowheads="1"/>
          </p:cNvSpPr>
          <p:nvPr>
            <p:ph type="title"/>
          </p:nvPr>
        </p:nvSpPr>
        <p:spPr>
          <a:xfrm>
            <a:off x="381000" y="457200"/>
            <a:ext cx="8534400" cy="573088"/>
          </a:xfrm>
        </p:spPr>
        <p:txBody>
          <a:bodyPr/>
          <a:lstStyle/>
          <a:p>
            <a:r>
              <a:rPr lang="en-US" dirty="0">
                <a:latin typeface="Courier New"/>
                <a:cs typeface="Courier New"/>
              </a:rPr>
              <a:t>f</a:t>
            </a:r>
            <a:r>
              <a:rPr lang="en-US" dirty="0" smtClean="0">
                <a:latin typeface="Courier New"/>
                <a:cs typeface="Courier New"/>
              </a:rPr>
              <a:t>ork</a:t>
            </a:r>
            <a:r>
              <a:rPr lang="en-US" dirty="0" smtClean="0"/>
              <a:t> Example: Two consecutive </a:t>
            </a:r>
            <a:r>
              <a:rPr lang="en-US" dirty="0" smtClean="0">
                <a:latin typeface="Courier New"/>
                <a:cs typeface="Courier New"/>
              </a:rPr>
              <a:t>fork</a:t>
            </a:r>
            <a:r>
              <a:rPr lang="en-US" dirty="0" smtClean="0"/>
              <a:t>s</a:t>
            </a:r>
            <a:endParaRPr lang="en-US" dirty="0"/>
          </a:p>
        </p:txBody>
      </p:sp>
      <p:sp>
        <p:nvSpPr>
          <p:cNvPr id="491523" name="Text Box 3"/>
          <p:cNvSpPr txBox="1">
            <a:spLocks noChangeArrowheads="1"/>
          </p:cNvSpPr>
          <p:nvPr/>
        </p:nvSpPr>
        <p:spPr bwMode="auto">
          <a:xfrm>
            <a:off x="228600" y="1676400"/>
            <a:ext cx="3009511" cy="2308324"/>
          </a:xfrm>
          <a:prstGeom prst="rect">
            <a:avLst/>
          </a:prstGeom>
          <a:solidFill>
            <a:srgbClr val="F6F5BD"/>
          </a:solidFill>
          <a:ln w="3175">
            <a:solidFill>
              <a:schemeClr val="tx1"/>
            </a:solidFill>
            <a:miter lim="800000"/>
            <a:headEnd/>
            <a:tailEnd/>
          </a:ln>
          <a:effectLst/>
        </p:spPr>
        <p:txBody>
          <a:bodyPr wrap="none">
            <a:spAutoFit/>
          </a:bodyPr>
          <a:lstStyle/>
          <a:p>
            <a:r>
              <a:rPr lang="en-US" sz="1800" dirty="0">
                <a:solidFill>
                  <a:srgbClr val="2D961E"/>
                </a:solidFill>
                <a:latin typeface="Courier New"/>
                <a:cs typeface="Courier New"/>
              </a:rPr>
              <a:t>void</a:t>
            </a:r>
            <a:r>
              <a:rPr lang="en-US" sz="1800" dirty="0">
                <a:solidFill>
                  <a:srgbClr val="000000"/>
                </a:solidFill>
                <a:latin typeface="Courier New"/>
                <a:cs typeface="Courier New"/>
              </a:rPr>
              <a:t> </a:t>
            </a:r>
            <a:r>
              <a:rPr lang="en-US" sz="1800" dirty="0">
                <a:solidFill>
                  <a:srgbClr val="4A00FF"/>
                </a:solidFill>
                <a:latin typeface="Courier New"/>
                <a:cs typeface="Courier New"/>
              </a:rPr>
              <a:t>fork2</a:t>
            </a:r>
            <a:r>
              <a:rPr lang="en-US" sz="1800" dirty="0">
                <a:solidFill>
                  <a:srgbClr val="000000"/>
                </a:solidFill>
                <a:latin typeface="Courier New"/>
                <a:cs typeface="Courier New"/>
              </a:rPr>
              <a:t>()</a:t>
            </a:r>
          </a:p>
          <a:p>
            <a:r>
              <a:rPr lang="en-US" sz="1800" dirty="0">
                <a:solidFill>
                  <a:srgbClr val="000000"/>
                </a:solidFill>
                <a:latin typeface="Courier New"/>
                <a:cs typeface="Courier New"/>
              </a:rPr>
              <a:t>{</a:t>
            </a:r>
          </a:p>
          <a:p>
            <a:r>
              <a:rPr lang="ro-RO" sz="1800" dirty="0">
                <a:solidFill>
                  <a:srgbClr val="000000"/>
                </a:solidFill>
                <a:latin typeface="Courier New"/>
                <a:cs typeface="Courier New"/>
              </a:rPr>
              <a:t>    printf(</a:t>
            </a:r>
            <a:r>
              <a:rPr lang="ro-RO" sz="1800" dirty="0">
                <a:solidFill>
                  <a:srgbClr val="9D206F"/>
                </a:solidFill>
                <a:latin typeface="Courier New"/>
                <a:cs typeface="Courier New"/>
              </a:rPr>
              <a:t>"L0\n"</a:t>
            </a:r>
            <a:r>
              <a:rPr lang="ro-RO" sz="1800" dirty="0">
                <a:solidFill>
                  <a:srgbClr val="000000"/>
                </a:solidFill>
                <a:latin typeface="Courier New"/>
                <a:cs typeface="Courier New"/>
              </a:rPr>
              <a:t>);</a:t>
            </a:r>
          </a:p>
          <a:p>
            <a:r>
              <a:rPr lang="da-DK" sz="1800" dirty="0">
                <a:solidFill>
                  <a:srgbClr val="000000"/>
                </a:solidFill>
                <a:latin typeface="Courier New"/>
                <a:cs typeface="Courier New"/>
              </a:rPr>
              <a:t>    fork();</a:t>
            </a:r>
          </a:p>
          <a:p>
            <a:r>
              <a:rPr lang="ro-RO" sz="1800" dirty="0">
                <a:solidFill>
                  <a:srgbClr val="000000"/>
                </a:solidFill>
                <a:latin typeface="Courier New"/>
                <a:cs typeface="Courier New"/>
              </a:rPr>
              <a:t>    printf(</a:t>
            </a:r>
            <a:r>
              <a:rPr lang="ro-RO" sz="1800" dirty="0">
                <a:solidFill>
                  <a:srgbClr val="9D206F"/>
                </a:solidFill>
                <a:latin typeface="Courier New"/>
                <a:cs typeface="Courier New"/>
              </a:rPr>
              <a:t>"L1\n"</a:t>
            </a:r>
            <a:r>
              <a:rPr lang="ro-RO" sz="1800" dirty="0">
                <a:solidFill>
                  <a:srgbClr val="000000"/>
                </a:solidFill>
                <a:latin typeface="Courier New"/>
                <a:cs typeface="Courier New"/>
              </a:rPr>
              <a:t>);</a:t>
            </a:r>
          </a:p>
          <a:p>
            <a:r>
              <a:rPr lang="da-DK" sz="1800" dirty="0">
                <a:solidFill>
                  <a:srgbClr val="000000"/>
                </a:solidFill>
                <a:latin typeface="Courier New"/>
                <a:cs typeface="Courier New"/>
              </a:rPr>
              <a:t>    fork();</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printf</a:t>
            </a:r>
            <a:r>
              <a:rPr lang="en-US" sz="1800" dirty="0">
                <a:solidFill>
                  <a:srgbClr val="000000"/>
                </a:solidFill>
                <a:latin typeface="Courier New"/>
                <a:cs typeface="Courier New"/>
              </a:rPr>
              <a:t>(</a:t>
            </a:r>
            <a:r>
              <a:rPr lang="en-US" sz="1800" dirty="0">
                <a:solidFill>
                  <a:srgbClr val="9D206F"/>
                </a:solidFill>
                <a:latin typeface="Courier New"/>
                <a:cs typeface="Courier New"/>
              </a:rPr>
              <a:t>"Bye\n"</a:t>
            </a:r>
            <a:r>
              <a:rPr lang="en-US" sz="1800" dirty="0">
                <a:solidFill>
                  <a:srgbClr val="000000"/>
                </a:solidFill>
                <a:latin typeface="Courier New"/>
                <a:cs typeface="Courier New"/>
              </a:rPr>
              <a:t>);</a:t>
            </a:r>
          </a:p>
          <a:p>
            <a:r>
              <a:rPr lang="en-US" sz="1800" dirty="0" smtClean="0">
                <a:solidFill>
                  <a:srgbClr val="000000"/>
                </a:solidFill>
                <a:latin typeface="Courier New"/>
                <a:cs typeface="Courier New"/>
              </a:rPr>
              <a:t>}</a:t>
            </a:r>
            <a:endParaRPr lang="en-US" sz="1800" dirty="0">
              <a:solidFill>
                <a:srgbClr val="000000"/>
              </a:solidFill>
              <a:latin typeface="Courier New"/>
              <a:cs typeface="Courier New"/>
            </a:endParaRPr>
          </a:p>
        </p:txBody>
      </p:sp>
      <p:grpSp>
        <p:nvGrpSpPr>
          <p:cNvPr id="16" name="Group 15"/>
          <p:cNvGrpSpPr/>
          <p:nvPr/>
        </p:nvGrpSpPr>
        <p:grpSpPr>
          <a:xfrm>
            <a:off x="3588921" y="1295400"/>
            <a:ext cx="4640679" cy="2667000"/>
            <a:chOff x="3124200" y="3505200"/>
            <a:chExt cx="4640679" cy="2667000"/>
          </a:xfrm>
        </p:grpSpPr>
        <p:sp>
          <p:nvSpPr>
            <p:cNvPr id="64" name="Oval 63"/>
            <p:cNvSpPr>
              <a:spLocks noChangeAspect="1"/>
            </p:cNvSpPr>
            <p:nvPr/>
          </p:nvSpPr>
          <p:spPr>
            <a:xfrm>
              <a:off x="3511276" y="57962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TextBox 64"/>
            <p:cNvSpPr txBox="1"/>
            <p:nvPr/>
          </p:nvSpPr>
          <p:spPr>
            <a:xfrm>
              <a:off x="3124200" y="5833646"/>
              <a:ext cx="928459" cy="338554"/>
            </a:xfrm>
            <a:prstGeom prst="rect">
              <a:avLst/>
            </a:prstGeom>
            <a:noFill/>
          </p:spPr>
          <p:txBody>
            <a:bodyPr wrap="none" rtlCol="0">
              <a:spAutoFit/>
            </a:bodyPr>
            <a:lstStyle/>
            <a:p>
              <a:pPr algn="ctr"/>
              <a:r>
                <a:rPr lang="en-US" sz="1600" b="1" dirty="0" err="1" smtClean="0">
                  <a:latin typeface="Courier New"/>
                  <a:cs typeface="Courier New"/>
                </a:rPr>
                <a:t>printf</a:t>
              </a:r>
              <a:endParaRPr lang="en-US" sz="1600" b="1" dirty="0">
                <a:latin typeface="Courier New"/>
                <a:cs typeface="Courier New"/>
              </a:endParaRPr>
            </a:p>
          </p:txBody>
        </p:sp>
        <p:sp>
          <p:nvSpPr>
            <p:cNvPr id="66" name="Oval 65"/>
            <p:cNvSpPr>
              <a:spLocks noChangeAspect="1"/>
            </p:cNvSpPr>
            <p:nvPr/>
          </p:nvSpPr>
          <p:spPr>
            <a:xfrm>
              <a:off x="5365188" y="57835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 name="Oval 67"/>
            <p:cNvSpPr>
              <a:spLocks noChangeAspect="1"/>
            </p:cNvSpPr>
            <p:nvPr/>
          </p:nvSpPr>
          <p:spPr>
            <a:xfrm>
              <a:off x="6295522" y="578697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TextBox 68"/>
            <p:cNvSpPr txBox="1"/>
            <p:nvPr/>
          </p:nvSpPr>
          <p:spPr>
            <a:xfrm>
              <a:off x="4915812" y="5820946"/>
              <a:ext cx="950256" cy="338554"/>
            </a:xfrm>
            <a:prstGeom prst="rect">
              <a:avLst/>
            </a:prstGeom>
            <a:noFill/>
          </p:spPr>
          <p:txBody>
            <a:bodyPr wrap="square" rtlCol="0">
              <a:spAutoFit/>
            </a:bodyPr>
            <a:lstStyle/>
            <a:p>
              <a:pPr algn="ctr"/>
              <a:r>
                <a:rPr lang="en-US" sz="1600" b="1" dirty="0" err="1" smtClean="0">
                  <a:latin typeface="Courier New"/>
                  <a:cs typeface="Courier New"/>
                </a:rPr>
                <a:t>printf</a:t>
              </a:r>
              <a:endParaRPr lang="en-US" sz="1600" b="1" dirty="0">
                <a:latin typeface="Courier New"/>
                <a:cs typeface="Courier New"/>
              </a:endParaRPr>
            </a:p>
          </p:txBody>
        </p:sp>
        <p:cxnSp>
          <p:nvCxnSpPr>
            <p:cNvPr id="70" name="Elbow Connector 35"/>
            <p:cNvCxnSpPr/>
            <p:nvPr/>
          </p:nvCxnSpPr>
          <p:spPr>
            <a:xfrm rot="5400000" flipH="1" flipV="1">
              <a:off x="6465299" y="5057784"/>
              <a:ext cx="640392" cy="885933"/>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1" name="Oval 70"/>
            <p:cNvSpPr>
              <a:spLocks noChangeAspect="1"/>
            </p:cNvSpPr>
            <p:nvPr/>
          </p:nvSpPr>
          <p:spPr>
            <a:xfrm>
              <a:off x="7244278" y="512212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2" name="Straight Arrow Connector 71"/>
            <p:cNvCxnSpPr/>
            <p:nvPr/>
          </p:nvCxnSpPr>
          <p:spPr>
            <a:xfrm flipV="1">
              <a:off x="5456628" y="5825921"/>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3" name="Straight Arrow Connector 72"/>
            <p:cNvCxnSpPr/>
            <p:nvPr/>
          </p:nvCxnSpPr>
          <p:spPr>
            <a:xfrm flipV="1">
              <a:off x="3602716" y="5835233"/>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866167" y="5820946"/>
              <a:ext cx="947222" cy="338554"/>
            </a:xfrm>
            <a:prstGeom prst="rect">
              <a:avLst/>
            </a:prstGeom>
            <a:noFill/>
          </p:spPr>
          <p:txBody>
            <a:bodyPr wrap="square" rtlCol="0">
              <a:spAutoFit/>
            </a:bodyPr>
            <a:lstStyle/>
            <a:p>
              <a:pPr algn="ctr"/>
              <a:r>
                <a:rPr lang="en-US" sz="1600" b="1" dirty="0" smtClean="0">
                  <a:latin typeface="Courier New"/>
                  <a:cs typeface="Courier New"/>
                </a:rPr>
                <a:t>fork</a:t>
              </a:r>
              <a:endParaRPr lang="en-US" sz="1600" b="1" dirty="0">
                <a:latin typeface="Courier New"/>
                <a:cs typeface="Courier New"/>
              </a:endParaRPr>
            </a:p>
          </p:txBody>
        </p:sp>
        <p:sp>
          <p:nvSpPr>
            <p:cNvPr id="75" name="TextBox 74"/>
            <p:cNvSpPr txBox="1"/>
            <p:nvPr/>
          </p:nvSpPr>
          <p:spPr>
            <a:xfrm>
              <a:off x="6817657" y="5105400"/>
              <a:ext cx="947222" cy="338554"/>
            </a:xfrm>
            <a:prstGeom prst="rect">
              <a:avLst/>
            </a:prstGeom>
            <a:noFill/>
          </p:spPr>
          <p:txBody>
            <a:bodyPr wrap="square" rtlCol="0">
              <a:spAutoFit/>
            </a:bodyPr>
            <a:lstStyle/>
            <a:p>
              <a:pPr algn="ctr"/>
              <a:r>
                <a:rPr lang="en-US" sz="1600" b="1" dirty="0" err="1" smtClean="0">
                  <a:latin typeface="Courier New"/>
                  <a:cs typeface="Courier New"/>
                </a:rPr>
                <a:t>printf</a:t>
              </a:r>
              <a:endParaRPr lang="en-US" sz="1600" b="1" dirty="0">
                <a:latin typeface="Courier New"/>
                <a:cs typeface="Courier New"/>
              </a:endParaRPr>
            </a:p>
          </p:txBody>
        </p:sp>
        <p:cxnSp>
          <p:nvCxnSpPr>
            <p:cNvPr id="76" name="Straight Arrow Connector 75"/>
            <p:cNvCxnSpPr/>
            <p:nvPr/>
          </p:nvCxnSpPr>
          <p:spPr>
            <a:xfrm flipV="1">
              <a:off x="6381242" y="5819145"/>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9" name="Oval 78"/>
            <p:cNvSpPr>
              <a:spLocks noChangeAspect="1"/>
            </p:cNvSpPr>
            <p:nvPr/>
          </p:nvSpPr>
          <p:spPr>
            <a:xfrm>
              <a:off x="7220136" y="5767075"/>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TextBox 79"/>
            <p:cNvSpPr txBox="1"/>
            <p:nvPr/>
          </p:nvSpPr>
          <p:spPr>
            <a:xfrm>
              <a:off x="6787989" y="5820946"/>
              <a:ext cx="947222" cy="338554"/>
            </a:xfrm>
            <a:prstGeom prst="rect">
              <a:avLst/>
            </a:prstGeom>
            <a:noFill/>
          </p:spPr>
          <p:txBody>
            <a:bodyPr wrap="square" rtlCol="0">
              <a:spAutoFit/>
            </a:bodyPr>
            <a:lstStyle/>
            <a:p>
              <a:pPr algn="ctr"/>
              <a:r>
                <a:rPr lang="en-US" sz="1600" b="1" dirty="0" err="1" smtClean="0">
                  <a:latin typeface="Courier New"/>
                  <a:cs typeface="Courier New"/>
                </a:rPr>
                <a:t>printf</a:t>
              </a:r>
              <a:endParaRPr lang="en-US" sz="1600" b="1" dirty="0">
                <a:latin typeface="Courier New"/>
                <a:cs typeface="Courier New"/>
              </a:endParaRPr>
            </a:p>
          </p:txBody>
        </p:sp>
        <p:sp>
          <p:nvSpPr>
            <p:cNvPr id="82" name="Oval 81"/>
            <p:cNvSpPr>
              <a:spLocks noChangeAspect="1"/>
            </p:cNvSpPr>
            <p:nvPr/>
          </p:nvSpPr>
          <p:spPr>
            <a:xfrm>
              <a:off x="4438088" y="57962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 name="TextBox 82"/>
            <p:cNvSpPr txBox="1"/>
            <p:nvPr/>
          </p:nvSpPr>
          <p:spPr>
            <a:xfrm>
              <a:off x="4151866" y="5833646"/>
              <a:ext cx="667623" cy="338554"/>
            </a:xfrm>
            <a:prstGeom prst="rect">
              <a:avLst/>
            </a:prstGeom>
            <a:noFill/>
          </p:spPr>
          <p:txBody>
            <a:bodyPr wrap="square" rtlCol="0">
              <a:spAutoFit/>
            </a:bodyPr>
            <a:lstStyle/>
            <a:p>
              <a:pPr algn="ctr"/>
              <a:r>
                <a:rPr lang="en-US" sz="1600" b="1" dirty="0" smtClean="0">
                  <a:latin typeface="Courier New"/>
                  <a:cs typeface="Courier New"/>
                </a:rPr>
                <a:t>fork</a:t>
              </a:r>
              <a:endParaRPr lang="en-US" sz="1600" b="1" dirty="0">
                <a:latin typeface="Courier New"/>
                <a:cs typeface="Courier New"/>
              </a:endParaRPr>
            </a:p>
          </p:txBody>
        </p:sp>
        <p:cxnSp>
          <p:nvCxnSpPr>
            <p:cNvPr id="84" name="Straight Arrow Connector 83"/>
            <p:cNvCxnSpPr/>
            <p:nvPr/>
          </p:nvCxnSpPr>
          <p:spPr>
            <a:xfrm flipV="1">
              <a:off x="4529528" y="5828457"/>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5" name="Elbow Connector 35"/>
            <p:cNvCxnSpPr>
              <a:endCxn id="86" idx="2"/>
            </p:cNvCxnSpPr>
            <p:nvPr/>
          </p:nvCxnSpPr>
          <p:spPr>
            <a:xfrm rot="5400000" flipH="1" flipV="1">
              <a:off x="4294242" y="4725345"/>
              <a:ext cx="1262381" cy="879511"/>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6" name="Oval 85"/>
            <p:cNvSpPr>
              <a:spLocks noChangeAspect="1"/>
            </p:cNvSpPr>
            <p:nvPr/>
          </p:nvSpPr>
          <p:spPr>
            <a:xfrm>
              <a:off x="5365188" y="44881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Oval 87"/>
            <p:cNvSpPr>
              <a:spLocks noChangeAspect="1"/>
            </p:cNvSpPr>
            <p:nvPr/>
          </p:nvSpPr>
          <p:spPr>
            <a:xfrm>
              <a:off x="6295522" y="449157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 name="TextBox 88"/>
            <p:cNvSpPr txBox="1"/>
            <p:nvPr/>
          </p:nvSpPr>
          <p:spPr>
            <a:xfrm>
              <a:off x="4878277" y="4495800"/>
              <a:ext cx="1017034" cy="338554"/>
            </a:xfrm>
            <a:prstGeom prst="rect">
              <a:avLst/>
            </a:prstGeom>
            <a:noFill/>
          </p:spPr>
          <p:txBody>
            <a:bodyPr wrap="square" rtlCol="0">
              <a:spAutoFit/>
            </a:bodyPr>
            <a:lstStyle/>
            <a:p>
              <a:pPr algn="ctr"/>
              <a:r>
                <a:rPr lang="en-US" sz="1600" b="1" dirty="0" err="1" smtClean="0">
                  <a:latin typeface="Courier New"/>
                  <a:cs typeface="Courier New"/>
                </a:rPr>
                <a:t>printf</a:t>
              </a:r>
              <a:endParaRPr lang="en-US" sz="1600" b="1" dirty="0">
                <a:latin typeface="Courier New"/>
                <a:cs typeface="Courier New"/>
              </a:endParaRPr>
            </a:p>
          </p:txBody>
        </p:sp>
        <p:cxnSp>
          <p:nvCxnSpPr>
            <p:cNvPr id="90" name="Elbow Connector 35"/>
            <p:cNvCxnSpPr/>
            <p:nvPr/>
          </p:nvCxnSpPr>
          <p:spPr>
            <a:xfrm rot="5400000" flipH="1" flipV="1">
              <a:off x="6476216" y="3743554"/>
              <a:ext cx="640396" cy="864095"/>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1" name="Oval 90"/>
            <p:cNvSpPr>
              <a:spLocks noChangeAspect="1"/>
            </p:cNvSpPr>
            <p:nvPr/>
          </p:nvSpPr>
          <p:spPr>
            <a:xfrm>
              <a:off x="7244278" y="3796982"/>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2" name="Straight Arrow Connector 91"/>
            <p:cNvCxnSpPr/>
            <p:nvPr/>
          </p:nvCxnSpPr>
          <p:spPr>
            <a:xfrm flipV="1">
              <a:off x="5456628" y="4530521"/>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866167" y="4525546"/>
              <a:ext cx="947222" cy="338554"/>
            </a:xfrm>
            <a:prstGeom prst="rect">
              <a:avLst/>
            </a:prstGeom>
            <a:noFill/>
          </p:spPr>
          <p:txBody>
            <a:bodyPr wrap="square" rtlCol="0">
              <a:spAutoFit/>
            </a:bodyPr>
            <a:lstStyle/>
            <a:p>
              <a:pPr algn="ctr"/>
              <a:r>
                <a:rPr lang="en-US" sz="1600" b="1" dirty="0" smtClean="0">
                  <a:latin typeface="Courier New"/>
                  <a:cs typeface="Courier New"/>
                </a:rPr>
                <a:t>fork</a:t>
              </a:r>
              <a:endParaRPr lang="en-US" sz="1600" b="1" dirty="0">
                <a:latin typeface="Courier New"/>
                <a:cs typeface="Courier New"/>
              </a:endParaRPr>
            </a:p>
          </p:txBody>
        </p:sp>
        <p:sp>
          <p:nvSpPr>
            <p:cNvPr id="94" name="TextBox 93"/>
            <p:cNvSpPr txBox="1"/>
            <p:nvPr/>
          </p:nvSpPr>
          <p:spPr>
            <a:xfrm>
              <a:off x="6817657" y="3846512"/>
              <a:ext cx="947222" cy="338554"/>
            </a:xfrm>
            <a:prstGeom prst="rect">
              <a:avLst/>
            </a:prstGeom>
            <a:noFill/>
          </p:spPr>
          <p:txBody>
            <a:bodyPr wrap="square" rtlCol="0">
              <a:spAutoFit/>
            </a:bodyPr>
            <a:lstStyle/>
            <a:p>
              <a:pPr algn="ctr"/>
              <a:r>
                <a:rPr lang="en-US" sz="1600" b="1" dirty="0" err="1" smtClean="0">
                  <a:latin typeface="Courier New"/>
                  <a:cs typeface="Courier New"/>
                </a:rPr>
                <a:t>printf</a:t>
              </a:r>
              <a:endParaRPr lang="en-US" sz="1600" b="1" dirty="0">
                <a:latin typeface="Courier New"/>
                <a:cs typeface="Courier New"/>
              </a:endParaRPr>
            </a:p>
          </p:txBody>
        </p:sp>
        <p:cxnSp>
          <p:nvCxnSpPr>
            <p:cNvPr id="95" name="Straight Arrow Connector 94"/>
            <p:cNvCxnSpPr/>
            <p:nvPr/>
          </p:nvCxnSpPr>
          <p:spPr>
            <a:xfrm flipV="1">
              <a:off x="6381242" y="4523745"/>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98" name="Oval 97"/>
            <p:cNvSpPr>
              <a:spLocks noChangeAspect="1"/>
            </p:cNvSpPr>
            <p:nvPr/>
          </p:nvSpPr>
          <p:spPr>
            <a:xfrm>
              <a:off x="7220136" y="4471675"/>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TextBox 98"/>
            <p:cNvSpPr txBox="1"/>
            <p:nvPr/>
          </p:nvSpPr>
          <p:spPr>
            <a:xfrm>
              <a:off x="6787989" y="4525546"/>
              <a:ext cx="947222" cy="338554"/>
            </a:xfrm>
            <a:prstGeom prst="rect">
              <a:avLst/>
            </a:prstGeom>
            <a:noFill/>
          </p:spPr>
          <p:txBody>
            <a:bodyPr wrap="square" rtlCol="0">
              <a:spAutoFit/>
            </a:bodyPr>
            <a:lstStyle/>
            <a:p>
              <a:pPr algn="ctr"/>
              <a:r>
                <a:rPr lang="en-US" sz="1600" b="1" dirty="0" err="1" smtClean="0">
                  <a:latin typeface="Courier New"/>
                  <a:cs typeface="Courier New"/>
                </a:rPr>
                <a:t>printf</a:t>
              </a:r>
              <a:endParaRPr lang="en-US" sz="1600" b="1" dirty="0">
                <a:latin typeface="Courier New"/>
                <a:cs typeface="Courier New"/>
              </a:endParaRPr>
            </a:p>
          </p:txBody>
        </p:sp>
        <p:sp>
          <p:nvSpPr>
            <p:cNvPr id="102" name="Text Box 407"/>
            <p:cNvSpPr txBox="1">
              <a:spLocks noChangeArrowheads="1"/>
            </p:cNvSpPr>
            <p:nvPr/>
          </p:nvSpPr>
          <p:spPr bwMode="auto">
            <a:xfrm>
              <a:off x="6913523" y="3505200"/>
              <a:ext cx="795337" cy="338554"/>
            </a:xfrm>
            <a:prstGeom prst="rect">
              <a:avLst/>
            </a:prstGeom>
            <a:noFill/>
            <a:ln w="25400">
              <a:noFill/>
              <a:miter lim="800000"/>
              <a:headEnd/>
              <a:tailEnd/>
            </a:ln>
            <a:effectLst/>
          </p:spPr>
          <p:txBody>
            <a:bodyPr wrap="square">
              <a:prstTxWarp prst="textNoShape">
                <a:avLst/>
              </a:prstTxWarp>
              <a:spAutoFit/>
            </a:bodyPr>
            <a:lstStyle/>
            <a:p>
              <a:pPr algn="ctr"/>
              <a:r>
                <a:rPr lang="en-US" sz="1600" dirty="0" smtClean="0">
                  <a:solidFill>
                    <a:srgbClr val="FF0000"/>
                  </a:solidFill>
                  <a:latin typeface="Courier New" charset="0"/>
                </a:rPr>
                <a:t>Bye</a:t>
              </a:r>
              <a:endParaRPr lang="en-US" sz="1600" dirty="0">
                <a:solidFill>
                  <a:srgbClr val="FF0000"/>
                </a:solidFill>
                <a:latin typeface="Courier New" charset="0"/>
              </a:endParaRPr>
            </a:p>
          </p:txBody>
        </p:sp>
        <p:sp>
          <p:nvSpPr>
            <p:cNvPr id="103" name="TextBox 102"/>
            <p:cNvSpPr txBox="1"/>
            <p:nvPr/>
          </p:nvSpPr>
          <p:spPr>
            <a:xfrm>
              <a:off x="3379073" y="5528846"/>
              <a:ext cx="430927" cy="338554"/>
            </a:xfrm>
            <a:prstGeom prst="rect">
              <a:avLst/>
            </a:prstGeom>
            <a:noFill/>
          </p:spPr>
          <p:txBody>
            <a:bodyPr wrap="none" rtlCol="0">
              <a:spAutoFit/>
            </a:bodyPr>
            <a:lstStyle/>
            <a:p>
              <a:pPr algn="ctr"/>
              <a:r>
                <a:rPr lang="en-US" sz="1600" b="1" dirty="0" smtClean="0">
                  <a:solidFill>
                    <a:srgbClr val="FF0000"/>
                  </a:solidFill>
                  <a:latin typeface="Courier New"/>
                  <a:cs typeface="Courier New"/>
                </a:rPr>
                <a:t>L0</a:t>
              </a:r>
              <a:endParaRPr lang="en-US" sz="1600" b="1" dirty="0">
                <a:solidFill>
                  <a:srgbClr val="FF0000"/>
                </a:solidFill>
                <a:latin typeface="Courier New"/>
                <a:cs typeface="Courier New"/>
              </a:endParaRPr>
            </a:p>
          </p:txBody>
        </p:sp>
        <p:sp>
          <p:nvSpPr>
            <p:cNvPr id="106" name="TextBox 105"/>
            <p:cNvSpPr txBox="1"/>
            <p:nvPr/>
          </p:nvSpPr>
          <p:spPr>
            <a:xfrm>
              <a:off x="7034547" y="4800600"/>
              <a:ext cx="554058" cy="338554"/>
            </a:xfrm>
            <a:prstGeom prst="rect">
              <a:avLst/>
            </a:prstGeom>
            <a:noFill/>
          </p:spPr>
          <p:txBody>
            <a:bodyPr wrap="none" rtlCol="0">
              <a:spAutoFit/>
            </a:bodyPr>
            <a:lstStyle/>
            <a:p>
              <a:pPr algn="ctr"/>
              <a:r>
                <a:rPr lang="en-US" sz="1600" b="1" dirty="0" smtClean="0">
                  <a:solidFill>
                    <a:srgbClr val="FF0000"/>
                  </a:solidFill>
                  <a:latin typeface="Courier New"/>
                  <a:cs typeface="Courier New"/>
                </a:rPr>
                <a:t>Bye</a:t>
              </a:r>
              <a:endParaRPr lang="en-US" sz="1600" b="1" dirty="0">
                <a:solidFill>
                  <a:srgbClr val="FF0000"/>
                </a:solidFill>
                <a:latin typeface="Courier New"/>
                <a:cs typeface="Courier New"/>
              </a:endParaRPr>
            </a:p>
          </p:txBody>
        </p:sp>
        <p:sp>
          <p:nvSpPr>
            <p:cNvPr id="107" name="TextBox 106"/>
            <p:cNvSpPr txBox="1"/>
            <p:nvPr/>
          </p:nvSpPr>
          <p:spPr>
            <a:xfrm>
              <a:off x="5207873" y="5496311"/>
              <a:ext cx="430927" cy="338554"/>
            </a:xfrm>
            <a:prstGeom prst="rect">
              <a:avLst/>
            </a:prstGeom>
            <a:noFill/>
          </p:spPr>
          <p:txBody>
            <a:bodyPr wrap="none" rtlCol="0">
              <a:spAutoFit/>
            </a:bodyPr>
            <a:lstStyle/>
            <a:p>
              <a:pPr algn="ctr"/>
              <a:r>
                <a:rPr lang="en-US" sz="1600" b="1" dirty="0" smtClean="0">
                  <a:solidFill>
                    <a:srgbClr val="FF0000"/>
                  </a:solidFill>
                  <a:latin typeface="Courier New"/>
                  <a:cs typeface="Courier New"/>
                </a:rPr>
                <a:t>L1</a:t>
              </a:r>
              <a:endParaRPr lang="en-US" sz="1600" b="1" dirty="0">
                <a:solidFill>
                  <a:srgbClr val="FF0000"/>
                </a:solidFill>
                <a:latin typeface="Courier New"/>
                <a:cs typeface="Courier New"/>
              </a:endParaRPr>
            </a:p>
          </p:txBody>
        </p:sp>
        <p:sp>
          <p:nvSpPr>
            <p:cNvPr id="116" name="TextBox 115"/>
            <p:cNvSpPr txBox="1"/>
            <p:nvPr/>
          </p:nvSpPr>
          <p:spPr>
            <a:xfrm>
              <a:off x="5207873" y="4191000"/>
              <a:ext cx="430927" cy="338554"/>
            </a:xfrm>
            <a:prstGeom prst="rect">
              <a:avLst/>
            </a:prstGeom>
            <a:noFill/>
          </p:spPr>
          <p:txBody>
            <a:bodyPr wrap="none" rtlCol="0">
              <a:spAutoFit/>
            </a:bodyPr>
            <a:lstStyle/>
            <a:p>
              <a:pPr algn="ctr"/>
              <a:r>
                <a:rPr lang="en-US" sz="1600" b="1" dirty="0" smtClean="0">
                  <a:solidFill>
                    <a:srgbClr val="FF0000"/>
                  </a:solidFill>
                  <a:latin typeface="Courier New"/>
                  <a:cs typeface="Courier New"/>
                </a:rPr>
                <a:t>L1</a:t>
              </a:r>
              <a:endParaRPr lang="en-US" sz="1600" b="1" dirty="0">
                <a:solidFill>
                  <a:srgbClr val="FF0000"/>
                </a:solidFill>
                <a:latin typeface="Courier New"/>
                <a:cs typeface="Courier New"/>
              </a:endParaRPr>
            </a:p>
          </p:txBody>
        </p:sp>
        <p:sp>
          <p:nvSpPr>
            <p:cNvPr id="117" name="TextBox 116"/>
            <p:cNvSpPr txBox="1"/>
            <p:nvPr/>
          </p:nvSpPr>
          <p:spPr>
            <a:xfrm>
              <a:off x="7010400" y="5452646"/>
              <a:ext cx="554058" cy="338554"/>
            </a:xfrm>
            <a:prstGeom prst="rect">
              <a:avLst/>
            </a:prstGeom>
            <a:noFill/>
          </p:spPr>
          <p:txBody>
            <a:bodyPr wrap="none" rtlCol="0">
              <a:spAutoFit/>
            </a:bodyPr>
            <a:lstStyle/>
            <a:p>
              <a:pPr algn="ctr"/>
              <a:r>
                <a:rPr lang="en-US" sz="1600" b="1" dirty="0" smtClean="0">
                  <a:solidFill>
                    <a:srgbClr val="FF0000"/>
                  </a:solidFill>
                  <a:latin typeface="Courier New"/>
                  <a:cs typeface="Courier New"/>
                </a:rPr>
                <a:t>Bye</a:t>
              </a:r>
              <a:endParaRPr lang="en-US" sz="1600" b="1" dirty="0">
                <a:solidFill>
                  <a:srgbClr val="FF0000"/>
                </a:solidFill>
                <a:latin typeface="Courier New"/>
                <a:cs typeface="Courier New"/>
              </a:endParaRPr>
            </a:p>
          </p:txBody>
        </p:sp>
        <p:sp>
          <p:nvSpPr>
            <p:cNvPr id="118" name="Text Box 407"/>
            <p:cNvSpPr txBox="1">
              <a:spLocks noChangeArrowheads="1"/>
            </p:cNvSpPr>
            <p:nvPr/>
          </p:nvSpPr>
          <p:spPr bwMode="auto">
            <a:xfrm>
              <a:off x="6858000" y="4157246"/>
              <a:ext cx="795337" cy="338554"/>
            </a:xfrm>
            <a:prstGeom prst="rect">
              <a:avLst/>
            </a:prstGeom>
            <a:noFill/>
            <a:ln w="25400">
              <a:noFill/>
              <a:miter lim="800000"/>
              <a:headEnd/>
              <a:tailEnd/>
            </a:ln>
            <a:effectLst/>
          </p:spPr>
          <p:txBody>
            <a:bodyPr wrap="square">
              <a:prstTxWarp prst="textNoShape">
                <a:avLst/>
              </a:prstTxWarp>
              <a:spAutoFit/>
            </a:bodyPr>
            <a:lstStyle/>
            <a:p>
              <a:pPr algn="ctr"/>
              <a:r>
                <a:rPr lang="en-US" sz="1600" dirty="0" smtClean="0">
                  <a:solidFill>
                    <a:srgbClr val="FF0000"/>
                  </a:solidFill>
                  <a:latin typeface="Courier New" charset="0"/>
                </a:rPr>
                <a:t>Bye</a:t>
              </a:r>
              <a:endParaRPr lang="en-US" sz="1600" dirty="0">
                <a:solidFill>
                  <a:srgbClr val="FF0000"/>
                </a:solidFill>
                <a:latin typeface="Courier New" charset="0"/>
              </a:endParaRPr>
            </a:p>
          </p:txBody>
        </p:sp>
      </p:grpSp>
      <p:sp>
        <p:nvSpPr>
          <p:cNvPr id="17" name="TextBox 16"/>
          <p:cNvSpPr txBox="1"/>
          <p:nvPr/>
        </p:nvSpPr>
        <p:spPr>
          <a:xfrm>
            <a:off x="3747618" y="4267200"/>
            <a:ext cx="1737938" cy="2308324"/>
          </a:xfrm>
          <a:prstGeom prst="rect">
            <a:avLst/>
          </a:prstGeom>
          <a:noFill/>
        </p:spPr>
        <p:txBody>
          <a:bodyPr wrap="none" rtlCol="0">
            <a:spAutoFit/>
          </a:bodyPr>
          <a:lstStyle/>
          <a:p>
            <a:r>
              <a:rPr lang="en-US" sz="1800" dirty="0" smtClean="0">
                <a:latin typeface="Calibri" pitchFamily="34" charset="0"/>
              </a:rPr>
              <a:t>Feasible output:</a:t>
            </a:r>
          </a:p>
          <a:p>
            <a:r>
              <a:rPr lang="en-US" sz="1800" dirty="0" smtClean="0">
                <a:solidFill>
                  <a:srgbClr val="FF0000"/>
                </a:solidFill>
                <a:latin typeface="Courier New"/>
                <a:cs typeface="Courier New"/>
              </a:rPr>
              <a:t>L0</a:t>
            </a:r>
          </a:p>
          <a:p>
            <a:r>
              <a:rPr lang="en-US" sz="1800" dirty="0" smtClean="0">
                <a:solidFill>
                  <a:srgbClr val="FF0000"/>
                </a:solidFill>
                <a:latin typeface="Courier New"/>
                <a:cs typeface="Courier New"/>
              </a:rPr>
              <a:t>L1</a:t>
            </a:r>
          </a:p>
          <a:p>
            <a:r>
              <a:rPr lang="en-US" sz="1800" dirty="0" smtClean="0">
                <a:solidFill>
                  <a:srgbClr val="FF0000"/>
                </a:solidFill>
                <a:latin typeface="Courier New"/>
                <a:cs typeface="Courier New"/>
              </a:rPr>
              <a:t>Bye</a:t>
            </a:r>
          </a:p>
          <a:p>
            <a:r>
              <a:rPr lang="en-US" sz="1800" dirty="0" smtClean="0">
                <a:solidFill>
                  <a:srgbClr val="FF0000"/>
                </a:solidFill>
                <a:latin typeface="Courier New"/>
                <a:cs typeface="Courier New"/>
              </a:rPr>
              <a:t>Bye</a:t>
            </a:r>
          </a:p>
          <a:p>
            <a:r>
              <a:rPr lang="en-US" sz="1800" dirty="0" smtClean="0">
                <a:solidFill>
                  <a:srgbClr val="FF0000"/>
                </a:solidFill>
                <a:latin typeface="Courier New"/>
                <a:cs typeface="Courier New"/>
              </a:rPr>
              <a:t>L1</a:t>
            </a:r>
          </a:p>
          <a:p>
            <a:r>
              <a:rPr lang="en-US" sz="1800" dirty="0" smtClean="0">
                <a:solidFill>
                  <a:srgbClr val="FF0000"/>
                </a:solidFill>
                <a:latin typeface="Courier New"/>
                <a:cs typeface="Courier New"/>
              </a:rPr>
              <a:t>Bye</a:t>
            </a:r>
          </a:p>
          <a:p>
            <a:r>
              <a:rPr lang="en-US" sz="1800" dirty="0" smtClean="0">
                <a:solidFill>
                  <a:srgbClr val="FF0000"/>
                </a:solidFill>
                <a:latin typeface="Courier New"/>
                <a:cs typeface="Courier New"/>
              </a:rPr>
              <a:t>Bye</a:t>
            </a:r>
          </a:p>
        </p:txBody>
      </p:sp>
      <p:sp>
        <p:nvSpPr>
          <p:cNvPr id="121" name="TextBox 120"/>
          <p:cNvSpPr txBox="1"/>
          <p:nvPr/>
        </p:nvSpPr>
        <p:spPr>
          <a:xfrm>
            <a:off x="6554050" y="4267200"/>
            <a:ext cx="1890436" cy="2308324"/>
          </a:xfrm>
          <a:prstGeom prst="rect">
            <a:avLst/>
          </a:prstGeom>
          <a:noFill/>
        </p:spPr>
        <p:txBody>
          <a:bodyPr wrap="none" rtlCol="0">
            <a:spAutoFit/>
          </a:bodyPr>
          <a:lstStyle/>
          <a:p>
            <a:r>
              <a:rPr lang="en-US" sz="1800" dirty="0" smtClean="0">
                <a:latin typeface="Calibri" pitchFamily="34" charset="0"/>
              </a:rPr>
              <a:t>Infeasible output:</a:t>
            </a:r>
          </a:p>
          <a:p>
            <a:r>
              <a:rPr lang="en-US" sz="1800" dirty="0" smtClean="0">
                <a:solidFill>
                  <a:srgbClr val="FF0000"/>
                </a:solidFill>
                <a:latin typeface="Courier New"/>
                <a:cs typeface="Courier New"/>
              </a:rPr>
              <a:t>L0</a:t>
            </a:r>
          </a:p>
          <a:p>
            <a:r>
              <a:rPr lang="en-US" sz="1800" dirty="0" smtClean="0">
                <a:solidFill>
                  <a:srgbClr val="FF0000"/>
                </a:solidFill>
                <a:latin typeface="Courier New"/>
                <a:cs typeface="Courier New"/>
              </a:rPr>
              <a:t>Bye</a:t>
            </a:r>
          </a:p>
          <a:p>
            <a:r>
              <a:rPr lang="en-US" sz="1800" dirty="0" smtClean="0">
                <a:solidFill>
                  <a:srgbClr val="FF0000"/>
                </a:solidFill>
                <a:latin typeface="Courier New"/>
                <a:cs typeface="Courier New"/>
              </a:rPr>
              <a:t>L1</a:t>
            </a:r>
          </a:p>
          <a:p>
            <a:r>
              <a:rPr lang="en-US" sz="1800" dirty="0" smtClean="0">
                <a:solidFill>
                  <a:srgbClr val="FF0000"/>
                </a:solidFill>
                <a:latin typeface="Courier New"/>
                <a:cs typeface="Courier New"/>
              </a:rPr>
              <a:t>Bye</a:t>
            </a:r>
          </a:p>
          <a:p>
            <a:r>
              <a:rPr lang="en-US" sz="1800" dirty="0" smtClean="0">
                <a:solidFill>
                  <a:srgbClr val="FF0000"/>
                </a:solidFill>
                <a:latin typeface="Courier New"/>
                <a:cs typeface="Courier New"/>
              </a:rPr>
              <a:t>L1</a:t>
            </a:r>
          </a:p>
          <a:p>
            <a:r>
              <a:rPr lang="en-US" sz="1800" dirty="0" smtClean="0">
                <a:solidFill>
                  <a:srgbClr val="FF0000"/>
                </a:solidFill>
                <a:latin typeface="Courier New"/>
                <a:cs typeface="Courier New"/>
              </a:rPr>
              <a:t>Bye</a:t>
            </a:r>
          </a:p>
          <a:p>
            <a:r>
              <a:rPr lang="en-US" sz="1800" dirty="0" smtClean="0">
                <a:solidFill>
                  <a:srgbClr val="FF0000"/>
                </a:solidFill>
                <a:latin typeface="Courier New"/>
                <a:cs typeface="Courier New"/>
              </a:rPr>
              <a:t>Bye</a:t>
            </a:r>
          </a:p>
        </p:txBody>
      </p:sp>
      <p:sp>
        <p:nvSpPr>
          <p:cNvPr id="122" name="Rectangle 3"/>
          <p:cNvSpPr>
            <a:spLocks noChangeArrowheads="1"/>
          </p:cNvSpPr>
          <p:nvPr/>
        </p:nvSpPr>
        <p:spPr bwMode="auto">
          <a:xfrm>
            <a:off x="2090478" y="3640774"/>
            <a:ext cx="1205816"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forks.c</a:t>
            </a:r>
            <a:endParaRPr lang="en-GB" sz="1800" b="1" i="1" dirty="0">
              <a:solidFill>
                <a:schemeClr val="tx1">
                  <a:lumMod val="50000"/>
                  <a:lumOff val="50000"/>
                </a:schemeClr>
              </a:solidFill>
              <a:latin typeface="Courier New" pitchFamily="49" charset="0"/>
              <a:ea typeface="msgothic" charset="0"/>
              <a:cs typeface="msgothic" charset="0"/>
            </a:endParaRPr>
          </a:p>
        </p:txBody>
      </p:sp>
    </p:spTree>
    <p:extLst>
      <p:ext uri="{BB962C8B-B14F-4D97-AF65-F5344CB8AC3E}">
        <p14:creationId xmlns:p14="http://schemas.microsoft.com/office/powerpoint/2010/main" val="201085077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21"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p:cNvSpPr>
            <a:spLocks noGrp="1" noChangeArrowheads="1"/>
          </p:cNvSpPr>
          <p:nvPr>
            <p:ph type="title"/>
          </p:nvPr>
        </p:nvSpPr>
        <p:spPr>
          <a:xfrm>
            <a:off x="457200" y="457200"/>
            <a:ext cx="8029551" cy="573088"/>
          </a:xfrm>
        </p:spPr>
        <p:txBody>
          <a:bodyPr/>
          <a:lstStyle/>
          <a:p>
            <a:r>
              <a:rPr lang="en-US" dirty="0">
                <a:latin typeface="Courier New"/>
                <a:cs typeface="Courier New"/>
              </a:rPr>
              <a:t>f</a:t>
            </a:r>
            <a:r>
              <a:rPr lang="en-US" dirty="0" smtClean="0">
                <a:latin typeface="Courier New"/>
                <a:cs typeface="Courier New"/>
              </a:rPr>
              <a:t>ork</a:t>
            </a:r>
            <a:r>
              <a:rPr lang="en-US" dirty="0" smtClean="0"/>
              <a:t> Example: Nested </a:t>
            </a:r>
            <a:r>
              <a:rPr lang="en-US" dirty="0" smtClean="0">
                <a:latin typeface="Courier New"/>
                <a:cs typeface="Courier New"/>
              </a:rPr>
              <a:t>fork</a:t>
            </a:r>
            <a:r>
              <a:rPr lang="en-US" dirty="0" smtClean="0"/>
              <a:t>s in parent</a:t>
            </a:r>
            <a:endParaRPr lang="en-US" dirty="0"/>
          </a:p>
        </p:txBody>
      </p:sp>
      <p:sp>
        <p:nvSpPr>
          <p:cNvPr id="58" name="Text Box 3"/>
          <p:cNvSpPr txBox="1">
            <a:spLocks noChangeArrowheads="1"/>
          </p:cNvSpPr>
          <p:nvPr/>
        </p:nvSpPr>
        <p:spPr bwMode="auto">
          <a:xfrm>
            <a:off x="152400" y="1447800"/>
            <a:ext cx="3979165" cy="3139321"/>
          </a:xfrm>
          <a:prstGeom prst="rect">
            <a:avLst/>
          </a:prstGeom>
          <a:solidFill>
            <a:srgbClr val="F6F5BD"/>
          </a:solidFill>
          <a:ln w="3175">
            <a:solidFill>
              <a:schemeClr val="tx1"/>
            </a:solidFill>
            <a:miter lim="800000"/>
            <a:headEnd/>
            <a:tailEnd/>
          </a:ln>
          <a:effectLst/>
        </p:spPr>
        <p:txBody>
          <a:bodyPr wrap="none">
            <a:spAutoFit/>
          </a:bodyPr>
          <a:lstStyle/>
          <a:p>
            <a:r>
              <a:rPr lang="en-US" sz="1800" dirty="0">
                <a:solidFill>
                  <a:srgbClr val="2D961E"/>
                </a:solidFill>
                <a:latin typeface="Courier New"/>
                <a:cs typeface="Courier New"/>
              </a:rPr>
              <a:t>void</a:t>
            </a:r>
            <a:r>
              <a:rPr lang="en-US" sz="1800" dirty="0">
                <a:solidFill>
                  <a:srgbClr val="000000"/>
                </a:solidFill>
                <a:latin typeface="Courier New"/>
                <a:cs typeface="Courier New"/>
              </a:rPr>
              <a:t> </a:t>
            </a:r>
            <a:r>
              <a:rPr lang="en-US" sz="1800" dirty="0">
                <a:solidFill>
                  <a:srgbClr val="4A00FF"/>
                </a:solidFill>
                <a:latin typeface="Courier New"/>
                <a:cs typeface="Courier New"/>
              </a:rPr>
              <a:t>fork4</a:t>
            </a:r>
            <a:r>
              <a:rPr lang="en-US" sz="1800" dirty="0">
                <a:solidFill>
                  <a:srgbClr val="000000"/>
                </a:solidFill>
                <a:latin typeface="Courier New"/>
                <a:cs typeface="Courier New"/>
              </a:rPr>
              <a:t>()</a:t>
            </a:r>
          </a:p>
          <a:p>
            <a:r>
              <a:rPr lang="en-US" sz="1800" dirty="0">
                <a:solidFill>
                  <a:srgbClr val="000000"/>
                </a:solidFill>
                <a:latin typeface="Courier New"/>
                <a:cs typeface="Courier New"/>
              </a:rPr>
              <a:t>{</a:t>
            </a:r>
          </a:p>
          <a:p>
            <a:r>
              <a:rPr lang="ro-RO" sz="1800" dirty="0">
                <a:solidFill>
                  <a:srgbClr val="000000"/>
                </a:solidFill>
                <a:latin typeface="Courier New"/>
                <a:cs typeface="Courier New"/>
              </a:rPr>
              <a:t>    printf(</a:t>
            </a:r>
            <a:r>
              <a:rPr lang="ro-RO" sz="1800" dirty="0">
                <a:solidFill>
                  <a:srgbClr val="9D206F"/>
                </a:solidFill>
                <a:latin typeface="Courier New"/>
                <a:cs typeface="Courier New"/>
              </a:rPr>
              <a:t>"L0\n"</a:t>
            </a:r>
            <a:r>
              <a:rPr lang="ro-RO"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a:solidFill>
                  <a:srgbClr val="C200FF"/>
                </a:solidFill>
                <a:latin typeface="Courier New"/>
                <a:cs typeface="Courier New"/>
              </a:rPr>
              <a:t>if</a:t>
            </a:r>
            <a:r>
              <a:rPr lang="en-US" sz="1800" dirty="0">
                <a:solidFill>
                  <a:srgbClr val="000000"/>
                </a:solidFill>
                <a:latin typeface="Courier New"/>
                <a:cs typeface="Courier New"/>
              </a:rPr>
              <a:t> (fork() != 0) {</a:t>
            </a:r>
          </a:p>
          <a:p>
            <a:r>
              <a:rPr lang="ro-RO" sz="1800" dirty="0">
                <a:solidFill>
                  <a:srgbClr val="000000"/>
                </a:solidFill>
                <a:latin typeface="Courier New"/>
                <a:cs typeface="Courier New"/>
              </a:rPr>
              <a:t>        printf(</a:t>
            </a:r>
            <a:r>
              <a:rPr lang="ro-RO" sz="1800" dirty="0">
                <a:solidFill>
                  <a:srgbClr val="9D206F"/>
                </a:solidFill>
                <a:latin typeface="Courier New"/>
                <a:cs typeface="Courier New"/>
              </a:rPr>
              <a:t>"L1\n"</a:t>
            </a:r>
            <a:r>
              <a:rPr lang="ro-RO"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a:solidFill>
                  <a:srgbClr val="C200FF"/>
                </a:solidFill>
                <a:latin typeface="Courier New"/>
                <a:cs typeface="Courier New"/>
              </a:rPr>
              <a:t>if</a:t>
            </a:r>
            <a:r>
              <a:rPr lang="en-US" sz="1800" dirty="0">
                <a:solidFill>
                  <a:srgbClr val="000000"/>
                </a:solidFill>
                <a:latin typeface="Courier New"/>
                <a:cs typeface="Courier New"/>
              </a:rPr>
              <a:t> (fork() != 0) {</a:t>
            </a:r>
          </a:p>
          <a:p>
            <a:r>
              <a:rPr lang="ro-RO" sz="1800" dirty="0">
                <a:solidFill>
                  <a:srgbClr val="000000"/>
                </a:solidFill>
                <a:latin typeface="Courier New"/>
                <a:cs typeface="Courier New"/>
              </a:rPr>
              <a:t>            printf(</a:t>
            </a:r>
            <a:r>
              <a:rPr lang="ro-RO" sz="1800" dirty="0">
                <a:solidFill>
                  <a:srgbClr val="9D206F"/>
                </a:solidFill>
                <a:latin typeface="Courier New"/>
                <a:cs typeface="Courier New"/>
              </a:rPr>
              <a:t>"L2\n"</a:t>
            </a:r>
            <a:r>
              <a:rPr lang="ro-RO" sz="1800" dirty="0">
                <a:solidFill>
                  <a:srgbClr val="000000"/>
                </a:solidFill>
                <a:latin typeface="Courier New"/>
                <a:cs typeface="Courier New"/>
              </a:rPr>
              <a:t>);</a:t>
            </a:r>
          </a:p>
          <a:p>
            <a:r>
              <a:rPr lang="ro-RO" sz="1800" dirty="0">
                <a:solidFill>
                  <a:srgbClr val="000000"/>
                </a:solidFill>
                <a:latin typeface="Courier New"/>
                <a:cs typeface="Courier New"/>
              </a:rPr>
              <a:t>	}</a:t>
            </a:r>
          </a:p>
          <a:p>
            <a:r>
              <a:rPr lang="ro-RO" sz="1800" dirty="0">
                <a:solidFill>
                  <a:srgbClr val="000000"/>
                </a:solidFill>
                <a:latin typeface="Courier New"/>
                <a:cs typeface="Courier New"/>
              </a:rPr>
              <a:t>    }</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printf</a:t>
            </a:r>
            <a:r>
              <a:rPr lang="en-US" sz="1800" dirty="0">
                <a:solidFill>
                  <a:srgbClr val="000000"/>
                </a:solidFill>
                <a:latin typeface="Courier New"/>
                <a:cs typeface="Courier New"/>
              </a:rPr>
              <a:t>(</a:t>
            </a:r>
            <a:r>
              <a:rPr lang="en-US" sz="1800" dirty="0">
                <a:solidFill>
                  <a:srgbClr val="9D206F"/>
                </a:solidFill>
                <a:latin typeface="Courier New"/>
                <a:cs typeface="Courier New"/>
              </a:rPr>
              <a:t>"Bye\n"</a:t>
            </a:r>
            <a:r>
              <a:rPr lang="en-US" sz="1800" dirty="0">
                <a:solidFill>
                  <a:srgbClr val="000000"/>
                </a:solidFill>
                <a:latin typeface="Courier New"/>
                <a:cs typeface="Courier New"/>
              </a:rPr>
              <a:t>);</a:t>
            </a:r>
          </a:p>
          <a:p>
            <a:r>
              <a:rPr lang="en-US" sz="1800" dirty="0" smtClean="0">
                <a:solidFill>
                  <a:srgbClr val="000000"/>
                </a:solidFill>
                <a:latin typeface="Courier New"/>
                <a:cs typeface="Courier New"/>
              </a:rPr>
              <a:t>}</a:t>
            </a:r>
            <a:endParaRPr lang="en-US" sz="1800" dirty="0">
              <a:solidFill>
                <a:srgbClr val="000000"/>
              </a:solidFill>
              <a:latin typeface="Courier New"/>
              <a:cs typeface="Courier New"/>
            </a:endParaRPr>
          </a:p>
        </p:txBody>
      </p:sp>
      <p:grpSp>
        <p:nvGrpSpPr>
          <p:cNvPr id="2" name="Group 1"/>
          <p:cNvGrpSpPr>
            <a:grpSpLocks noChangeAspect="1"/>
          </p:cNvGrpSpPr>
          <p:nvPr/>
        </p:nvGrpSpPr>
        <p:grpSpPr>
          <a:xfrm>
            <a:off x="4090164" y="2068202"/>
            <a:ext cx="4863336" cy="1213951"/>
            <a:chOff x="2767585" y="4328459"/>
            <a:chExt cx="5721572" cy="1428183"/>
          </a:xfrm>
        </p:grpSpPr>
        <p:sp>
          <p:nvSpPr>
            <p:cNvPr id="28" name="Oval 27"/>
            <p:cNvSpPr>
              <a:spLocks noChangeAspect="1"/>
            </p:cNvSpPr>
            <p:nvPr/>
          </p:nvSpPr>
          <p:spPr>
            <a:xfrm>
              <a:off x="3206476" y="53390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29" name="TextBox 28"/>
            <p:cNvSpPr txBox="1"/>
            <p:nvPr/>
          </p:nvSpPr>
          <p:spPr>
            <a:xfrm>
              <a:off x="2767585" y="5376446"/>
              <a:ext cx="1032089" cy="380195"/>
            </a:xfrm>
            <a:prstGeom prst="rect">
              <a:avLst/>
            </a:prstGeom>
            <a:noFill/>
          </p:spPr>
          <p:txBody>
            <a:bodyPr wrap="none" rtlCol="0">
              <a:spAutoFit/>
            </a:bodyPr>
            <a:lstStyle/>
            <a:p>
              <a:pPr algn="ctr"/>
              <a:r>
                <a:rPr lang="en-US" sz="1500" b="1" dirty="0" err="1" smtClean="0">
                  <a:latin typeface="Courier New"/>
                  <a:cs typeface="Courier New"/>
                </a:rPr>
                <a:t>printf</a:t>
              </a:r>
              <a:endParaRPr lang="en-US" sz="1500" b="1" dirty="0">
                <a:latin typeface="Courier New"/>
                <a:cs typeface="Courier New"/>
              </a:endParaRPr>
            </a:p>
          </p:txBody>
        </p:sp>
        <p:sp>
          <p:nvSpPr>
            <p:cNvPr id="30" name="Oval 29"/>
            <p:cNvSpPr>
              <a:spLocks noChangeAspect="1"/>
            </p:cNvSpPr>
            <p:nvPr/>
          </p:nvSpPr>
          <p:spPr>
            <a:xfrm>
              <a:off x="5060388" y="53263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31" name="Oval 30"/>
            <p:cNvSpPr>
              <a:spLocks noChangeAspect="1"/>
            </p:cNvSpPr>
            <p:nvPr/>
          </p:nvSpPr>
          <p:spPr>
            <a:xfrm>
              <a:off x="5990722" y="532977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32" name="TextBox 31"/>
            <p:cNvSpPr txBox="1"/>
            <p:nvPr/>
          </p:nvSpPr>
          <p:spPr>
            <a:xfrm>
              <a:off x="4611011" y="5363746"/>
              <a:ext cx="1084145" cy="380196"/>
            </a:xfrm>
            <a:prstGeom prst="rect">
              <a:avLst/>
            </a:prstGeom>
            <a:noFill/>
          </p:spPr>
          <p:txBody>
            <a:bodyPr wrap="square" rtlCol="0">
              <a:spAutoFit/>
            </a:bodyPr>
            <a:lstStyle/>
            <a:p>
              <a:pPr algn="ctr"/>
              <a:r>
                <a:rPr lang="en-US" sz="1500" b="1" dirty="0" err="1" smtClean="0">
                  <a:latin typeface="Courier New"/>
                  <a:cs typeface="Courier New"/>
                </a:rPr>
                <a:t>printf</a:t>
              </a:r>
              <a:endParaRPr lang="en-US" sz="1500" b="1" dirty="0">
                <a:latin typeface="Courier New"/>
                <a:cs typeface="Courier New"/>
              </a:endParaRPr>
            </a:p>
          </p:txBody>
        </p:sp>
        <p:cxnSp>
          <p:nvCxnSpPr>
            <p:cNvPr id="33" name="Elbow Connector 35"/>
            <p:cNvCxnSpPr/>
            <p:nvPr/>
          </p:nvCxnSpPr>
          <p:spPr>
            <a:xfrm rot="5400000" flipH="1" flipV="1">
              <a:off x="6160499" y="4600584"/>
              <a:ext cx="640392" cy="885933"/>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Oval 33"/>
            <p:cNvSpPr>
              <a:spLocks noChangeAspect="1"/>
            </p:cNvSpPr>
            <p:nvPr/>
          </p:nvSpPr>
          <p:spPr>
            <a:xfrm>
              <a:off x="6939478" y="466492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cxnSp>
          <p:nvCxnSpPr>
            <p:cNvPr id="35" name="Straight Arrow Connector 34"/>
            <p:cNvCxnSpPr/>
            <p:nvPr/>
          </p:nvCxnSpPr>
          <p:spPr>
            <a:xfrm flipV="1">
              <a:off x="5151828" y="5368721"/>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flipV="1">
              <a:off x="3297916" y="5378033"/>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561367" y="5363746"/>
              <a:ext cx="947222" cy="380196"/>
            </a:xfrm>
            <a:prstGeom prst="rect">
              <a:avLst/>
            </a:prstGeom>
            <a:noFill/>
          </p:spPr>
          <p:txBody>
            <a:bodyPr wrap="square" rtlCol="0">
              <a:spAutoFit/>
            </a:bodyPr>
            <a:lstStyle/>
            <a:p>
              <a:pPr algn="ctr"/>
              <a:r>
                <a:rPr lang="en-US" sz="1500" b="1" dirty="0" smtClean="0">
                  <a:latin typeface="Courier New"/>
                  <a:cs typeface="Courier New"/>
                </a:rPr>
                <a:t>fork</a:t>
              </a:r>
              <a:endParaRPr lang="en-US" sz="1500" b="1" dirty="0">
                <a:latin typeface="Courier New"/>
                <a:cs typeface="Courier New"/>
              </a:endParaRPr>
            </a:p>
          </p:txBody>
        </p:sp>
        <p:sp>
          <p:nvSpPr>
            <p:cNvPr id="38" name="TextBox 37"/>
            <p:cNvSpPr txBox="1"/>
            <p:nvPr/>
          </p:nvSpPr>
          <p:spPr>
            <a:xfrm>
              <a:off x="6512857" y="4648200"/>
              <a:ext cx="1128428" cy="380196"/>
            </a:xfrm>
            <a:prstGeom prst="rect">
              <a:avLst/>
            </a:prstGeom>
            <a:noFill/>
          </p:spPr>
          <p:txBody>
            <a:bodyPr wrap="square" rtlCol="0">
              <a:spAutoFit/>
            </a:bodyPr>
            <a:lstStyle/>
            <a:p>
              <a:pPr algn="ctr"/>
              <a:r>
                <a:rPr lang="en-US" sz="1500" b="1" dirty="0" err="1" smtClean="0">
                  <a:latin typeface="Courier New"/>
                  <a:cs typeface="Courier New"/>
                </a:rPr>
                <a:t>printf</a:t>
              </a:r>
              <a:endParaRPr lang="en-US" sz="1500" b="1" dirty="0">
                <a:latin typeface="Courier New"/>
                <a:cs typeface="Courier New"/>
              </a:endParaRPr>
            </a:p>
          </p:txBody>
        </p:sp>
        <p:cxnSp>
          <p:nvCxnSpPr>
            <p:cNvPr id="39" name="Straight Arrow Connector 38"/>
            <p:cNvCxnSpPr/>
            <p:nvPr/>
          </p:nvCxnSpPr>
          <p:spPr>
            <a:xfrm flipV="1">
              <a:off x="6076442" y="5361945"/>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0" name="Oval 39"/>
            <p:cNvSpPr>
              <a:spLocks noChangeAspect="1"/>
            </p:cNvSpPr>
            <p:nvPr/>
          </p:nvSpPr>
          <p:spPr>
            <a:xfrm>
              <a:off x="6915336" y="5309875"/>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41" name="TextBox 40"/>
            <p:cNvSpPr txBox="1"/>
            <p:nvPr/>
          </p:nvSpPr>
          <p:spPr>
            <a:xfrm>
              <a:off x="6435216" y="5363746"/>
              <a:ext cx="1192488" cy="380196"/>
            </a:xfrm>
            <a:prstGeom prst="rect">
              <a:avLst/>
            </a:prstGeom>
            <a:noFill/>
          </p:spPr>
          <p:txBody>
            <a:bodyPr wrap="square" rtlCol="0">
              <a:spAutoFit/>
            </a:bodyPr>
            <a:lstStyle/>
            <a:p>
              <a:pPr algn="ctr"/>
              <a:r>
                <a:rPr lang="en-US" sz="1500" b="1" dirty="0" err="1" smtClean="0">
                  <a:latin typeface="Courier New"/>
                  <a:cs typeface="Courier New"/>
                </a:rPr>
                <a:t>printf</a:t>
              </a:r>
              <a:endParaRPr lang="en-US" sz="1500" b="1" dirty="0">
                <a:latin typeface="Courier New"/>
                <a:cs typeface="Courier New"/>
              </a:endParaRPr>
            </a:p>
          </p:txBody>
        </p:sp>
        <p:sp>
          <p:nvSpPr>
            <p:cNvPr id="42" name="Oval 41"/>
            <p:cNvSpPr>
              <a:spLocks noChangeAspect="1"/>
            </p:cNvSpPr>
            <p:nvPr/>
          </p:nvSpPr>
          <p:spPr>
            <a:xfrm>
              <a:off x="4133288" y="53390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43" name="TextBox 42"/>
            <p:cNvSpPr txBox="1"/>
            <p:nvPr/>
          </p:nvSpPr>
          <p:spPr>
            <a:xfrm>
              <a:off x="3847065" y="5376446"/>
              <a:ext cx="763947" cy="380196"/>
            </a:xfrm>
            <a:prstGeom prst="rect">
              <a:avLst/>
            </a:prstGeom>
            <a:noFill/>
          </p:spPr>
          <p:txBody>
            <a:bodyPr wrap="square" rtlCol="0">
              <a:spAutoFit/>
            </a:bodyPr>
            <a:lstStyle/>
            <a:p>
              <a:pPr algn="ctr"/>
              <a:r>
                <a:rPr lang="en-US" sz="1500" b="1" dirty="0" smtClean="0">
                  <a:latin typeface="Courier New"/>
                  <a:cs typeface="Courier New"/>
                </a:rPr>
                <a:t>fork</a:t>
              </a:r>
              <a:endParaRPr lang="en-US" sz="1500" b="1" dirty="0">
                <a:latin typeface="Courier New"/>
                <a:cs typeface="Courier New"/>
              </a:endParaRPr>
            </a:p>
          </p:txBody>
        </p:sp>
        <p:cxnSp>
          <p:nvCxnSpPr>
            <p:cNvPr id="44" name="Straight Arrow Connector 43"/>
            <p:cNvCxnSpPr/>
            <p:nvPr/>
          </p:nvCxnSpPr>
          <p:spPr>
            <a:xfrm flipV="1">
              <a:off x="4224728" y="5371257"/>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5" name="Elbow Connector 35"/>
            <p:cNvCxnSpPr>
              <a:stCxn id="43" idx="0"/>
            </p:cNvCxnSpPr>
            <p:nvPr/>
          </p:nvCxnSpPr>
          <p:spPr>
            <a:xfrm rot="5400000" flipH="1" flipV="1">
              <a:off x="4307401" y="4620228"/>
              <a:ext cx="677858" cy="834582"/>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6" name="Oval 45"/>
            <p:cNvSpPr>
              <a:spLocks noChangeAspect="1"/>
            </p:cNvSpPr>
            <p:nvPr/>
          </p:nvSpPr>
          <p:spPr>
            <a:xfrm>
              <a:off x="5060388" y="46278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48" name="TextBox 47"/>
            <p:cNvSpPr txBox="1"/>
            <p:nvPr/>
          </p:nvSpPr>
          <p:spPr>
            <a:xfrm>
              <a:off x="4573477" y="4622800"/>
              <a:ext cx="1121679" cy="380196"/>
            </a:xfrm>
            <a:prstGeom prst="rect">
              <a:avLst/>
            </a:prstGeom>
            <a:noFill/>
          </p:spPr>
          <p:txBody>
            <a:bodyPr wrap="square" rtlCol="0">
              <a:spAutoFit/>
            </a:bodyPr>
            <a:lstStyle/>
            <a:p>
              <a:pPr algn="ctr"/>
              <a:r>
                <a:rPr lang="en-US" sz="1500" b="1" dirty="0" err="1" smtClean="0">
                  <a:latin typeface="Courier New"/>
                  <a:cs typeface="Courier New"/>
                </a:rPr>
                <a:t>printf</a:t>
              </a:r>
              <a:endParaRPr lang="en-US" sz="1500" b="1" dirty="0">
                <a:latin typeface="Courier New"/>
                <a:cs typeface="Courier New"/>
              </a:endParaRPr>
            </a:p>
          </p:txBody>
        </p:sp>
        <p:sp>
          <p:nvSpPr>
            <p:cNvPr id="80" name="TextBox 79"/>
            <p:cNvSpPr txBox="1"/>
            <p:nvPr/>
          </p:nvSpPr>
          <p:spPr>
            <a:xfrm>
              <a:off x="3045305" y="4994354"/>
              <a:ext cx="488866" cy="380195"/>
            </a:xfrm>
            <a:prstGeom prst="rect">
              <a:avLst/>
            </a:prstGeom>
            <a:noFill/>
          </p:spPr>
          <p:txBody>
            <a:bodyPr wrap="none" rtlCol="0">
              <a:spAutoFit/>
            </a:bodyPr>
            <a:lstStyle/>
            <a:p>
              <a:pPr algn="ctr"/>
              <a:r>
                <a:rPr lang="en-US" sz="1500" b="1" dirty="0" smtClean="0">
                  <a:solidFill>
                    <a:srgbClr val="FF0000"/>
                  </a:solidFill>
                  <a:latin typeface="Courier New"/>
                  <a:cs typeface="Courier New"/>
                </a:rPr>
                <a:t>L0</a:t>
              </a:r>
              <a:endParaRPr lang="en-US" sz="1500" b="1" dirty="0">
                <a:solidFill>
                  <a:srgbClr val="FF0000"/>
                </a:solidFill>
                <a:latin typeface="Courier New"/>
                <a:cs typeface="Courier New"/>
              </a:endParaRPr>
            </a:p>
          </p:txBody>
        </p:sp>
        <p:sp>
          <p:nvSpPr>
            <p:cNvPr id="81" name="TextBox 80"/>
            <p:cNvSpPr txBox="1"/>
            <p:nvPr/>
          </p:nvSpPr>
          <p:spPr>
            <a:xfrm>
              <a:off x="6694440" y="4328459"/>
              <a:ext cx="624672" cy="380195"/>
            </a:xfrm>
            <a:prstGeom prst="rect">
              <a:avLst/>
            </a:prstGeom>
            <a:noFill/>
          </p:spPr>
          <p:txBody>
            <a:bodyPr wrap="none" rtlCol="0">
              <a:spAutoFit/>
            </a:bodyPr>
            <a:lstStyle/>
            <a:p>
              <a:pPr algn="ctr"/>
              <a:r>
                <a:rPr lang="en-US" sz="1500" b="1" dirty="0" smtClean="0">
                  <a:solidFill>
                    <a:srgbClr val="FF0000"/>
                  </a:solidFill>
                  <a:latin typeface="Courier New"/>
                  <a:cs typeface="Courier New"/>
                </a:rPr>
                <a:t>Bye</a:t>
              </a:r>
              <a:endParaRPr lang="en-US" sz="1500" b="1" dirty="0">
                <a:solidFill>
                  <a:srgbClr val="FF0000"/>
                </a:solidFill>
                <a:latin typeface="Courier New"/>
                <a:cs typeface="Courier New"/>
              </a:endParaRPr>
            </a:p>
          </p:txBody>
        </p:sp>
        <p:sp>
          <p:nvSpPr>
            <p:cNvPr id="82" name="TextBox 81"/>
            <p:cNvSpPr txBox="1"/>
            <p:nvPr/>
          </p:nvSpPr>
          <p:spPr>
            <a:xfrm>
              <a:off x="4874105" y="4994354"/>
              <a:ext cx="488866" cy="380195"/>
            </a:xfrm>
            <a:prstGeom prst="rect">
              <a:avLst/>
            </a:prstGeom>
            <a:noFill/>
          </p:spPr>
          <p:txBody>
            <a:bodyPr wrap="none" rtlCol="0">
              <a:spAutoFit/>
            </a:bodyPr>
            <a:lstStyle/>
            <a:p>
              <a:pPr algn="ctr"/>
              <a:r>
                <a:rPr lang="en-US" sz="1500" b="1" dirty="0" smtClean="0">
                  <a:solidFill>
                    <a:srgbClr val="FF0000"/>
                  </a:solidFill>
                  <a:latin typeface="Courier New"/>
                  <a:cs typeface="Courier New"/>
                </a:rPr>
                <a:t>L1</a:t>
              </a:r>
              <a:endParaRPr lang="en-US" sz="1500" b="1" dirty="0">
                <a:solidFill>
                  <a:srgbClr val="FF0000"/>
                </a:solidFill>
                <a:latin typeface="Courier New"/>
                <a:cs typeface="Courier New"/>
              </a:endParaRPr>
            </a:p>
          </p:txBody>
        </p:sp>
        <p:sp>
          <p:nvSpPr>
            <p:cNvPr id="83" name="TextBox 82"/>
            <p:cNvSpPr txBox="1"/>
            <p:nvPr/>
          </p:nvSpPr>
          <p:spPr>
            <a:xfrm>
              <a:off x="4806202" y="4328459"/>
              <a:ext cx="624672" cy="380195"/>
            </a:xfrm>
            <a:prstGeom prst="rect">
              <a:avLst/>
            </a:prstGeom>
            <a:noFill/>
          </p:spPr>
          <p:txBody>
            <a:bodyPr wrap="none" rtlCol="0">
              <a:spAutoFit/>
            </a:bodyPr>
            <a:lstStyle/>
            <a:p>
              <a:pPr algn="ctr"/>
              <a:r>
                <a:rPr lang="en-US" sz="1500" b="1" dirty="0" smtClean="0">
                  <a:solidFill>
                    <a:srgbClr val="FF0000"/>
                  </a:solidFill>
                  <a:latin typeface="Courier New"/>
                  <a:cs typeface="Courier New"/>
                </a:rPr>
                <a:t>Bye</a:t>
              </a:r>
              <a:endParaRPr lang="en-US" sz="1500" b="1" dirty="0">
                <a:solidFill>
                  <a:srgbClr val="FF0000"/>
                </a:solidFill>
                <a:latin typeface="Courier New"/>
                <a:cs typeface="Courier New"/>
              </a:endParaRPr>
            </a:p>
          </p:txBody>
        </p:sp>
        <p:sp>
          <p:nvSpPr>
            <p:cNvPr id="84" name="TextBox 83"/>
            <p:cNvSpPr txBox="1"/>
            <p:nvPr/>
          </p:nvSpPr>
          <p:spPr>
            <a:xfrm>
              <a:off x="6738196" y="4994354"/>
              <a:ext cx="488866" cy="380195"/>
            </a:xfrm>
            <a:prstGeom prst="rect">
              <a:avLst/>
            </a:prstGeom>
            <a:noFill/>
          </p:spPr>
          <p:txBody>
            <a:bodyPr wrap="none" rtlCol="0">
              <a:spAutoFit/>
            </a:bodyPr>
            <a:lstStyle/>
            <a:p>
              <a:pPr algn="ctr"/>
              <a:r>
                <a:rPr lang="en-US" sz="1500" b="1" dirty="0" smtClean="0">
                  <a:solidFill>
                    <a:srgbClr val="FF0000"/>
                  </a:solidFill>
                  <a:latin typeface="Courier New"/>
                  <a:cs typeface="Courier New"/>
                </a:rPr>
                <a:t>L2</a:t>
              </a:r>
              <a:endParaRPr lang="en-US" sz="1500" b="1" dirty="0">
                <a:solidFill>
                  <a:srgbClr val="FF0000"/>
                </a:solidFill>
                <a:latin typeface="Courier New"/>
                <a:cs typeface="Courier New"/>
              </a:endParaRPr>
            </a:p>
          </p:txBody>
        </p:sp>
        <p:cxnSp>
          <p:nvCxnSpPr>
            <p:cNvPr id="86" name="Straight Arrow Connector 85"/>
            <p:cNvCxnSpPr/>
            <p:nvPr/>
          </p:nvCxnSpPr>
          <p:spPr>
            <a:xfrm flipV="1">
              <a:off x="7009706" y="5346700"/>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87" name="Oval 86"/>
            <p:cNvSpPr>
              <a:spLocks noChangeAspect="1"/>
            </p:cNvSpPr>
            <p:nvPr/>
          </p:nvSpPr>
          <p:spPr>
            <a:xfrm>
              <a:off x="7848600" y="5289981"/>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88" name="TextBox 87"/>
            <p:cNvSpPr txBox="1"/>
            <p:nvPr/>
          </p:nvSpPr>
          <p:spPr>
            <a:xfrm>
              <a:off x="7430411" y="5350088"/>
              <a:ext cx="1058746" cy="380196"/>
            </a:xfrm>
            <a:prstGeom prst="rect">
              <a:avLst/>
            </a:prstGeom>
            <a:noFill/>
          </p:spPr>
          <p:txBody>
            <a:bodyPr wrap="square" rtlCol="0">
              <a:spAutoFit/>
            </a:bodyPr>
            <a:lstStyle/>
            <a:p>
              <a:pPr algn="ctr"/>
              <a:r>
                <a:rPr lang="en-US" sz="1500" b="1" dirty="0" err="1" smtClean="0">
                  <a:latin typeface="Courier New"/>
                  <a:cs typeface="Courier New"/>
                </a:rPr>
                <a:t>printf</a:t>
              </a:r>
              <a:endParaRPr lang="en-US" sz="1500" b="1" dirty="0">
                <a:latin typeface="Courier New"/>
                <a:cs typeface="Courier New"/>
              </a:endParaRPr>
            </a:p>
          </p:txBody>
        </p:sp>
        <p:sp>
          <p:nvSpPr>
            <p:cNvPr id="89" name="TextBox 88"/>
            <p:cNvSpPr txBox="1"/>
            <p:nvPr/>
          </p:nvSpPr>
          <p:spPr>
            <a:xfrm>
              <a:off x="7627705" y="4994354"/>
              <a:ext cx="624672" cy="380195"/>
            </a:xfrm>
            <a:prstGeom prst="rect">
              <a:avLst/>
            </a:prstGeom>
            <a:noFill/>
          </p:spPr>
          <p:txBody>
            <a:bodyPr wrap="none" rtlCol="0">
              <a:spAutoFit/>
            </a:bodyPr>
            <a:lstStyle/>
            <a:p>
              <a:pPr algn="ctr"/>
              <a:r>
                <a:rPr lang="en-US" sz="1500" b="1" dirty="0" smtClean="0">
                  <a:solidFill>
                    <a:srgbClr val="FF0000"/>
                  </a:solidFill>
                  <a:latin typeface="Courier New"/>
                  <a:cs typeface="Courier New"/>
                </a:rPr>
                <a:t>Bye</a:t>
              </a:r>
              <a:endParaRPr lang="en-US" sz="1500" b="1" dirty="0">
                <a:solidFill>
                  <a:srgbClr val="FF0000"/>
                </a:solidFill>
                <a:latin typeface="Courier New"/>
                <a:cs typeface="Courier New"/>
              </a:endParaRPr>
            </a:p>
          </p:txBody>
        </p:sp>
      </p:grpSp>
      <p:sp>
        <p:nvSpPr>
          <p:cNvPr id="90" name="TextBox 89"/>
          <p:cNvSpPr txBox="1"/>
          <p:nvPr/>
        </p:nvSpPr>
        <p:spPr>
          <a:xfrm>
            <a:off x="4357218" y="4089400"/>
            <a:ext cx="1737938" cy="2031325"/>
          </a:xfrm>
          <a:prstGeom prst="rect">
            <a:avLst/>
          </a:prstGeom>
          <a:noFill/>
        </p:spPr>
        <p:txBody>
          <a:bodyPr wrap="none" rtlCol="0">
            <a:spAutoFit/>
          </a:bodyPr>
          <a:lstStyle/>
          <a:p>
            <a:r>
              <a:rPr lang="en-US" sz="1800" dirty="0" smtClean="0">
                <a:latin typeface="Calibri" pitchFamily="34" charset="0"/>
              </a:rPr>
              <a:t>Feasible output:</a:t>
            </a:r>
          </a:p>
          <a:p>
            <a:r>
              <a:rPr lang="en-US" sz="1800" dirty="0" smtClean="0">
                <a:solidFill>
                  <a:srgbClr val="FF0000"/>
                </a:solidFill>
                <a:latin typeface="Courier New"/>
                <a:cs typeface="Courier New"/>
              </a:rPr>
              <a:t>L0</a:t>
            </a:r>
          </a:p>
          <a:p>
            <a:r>
              <a:rPr lang="en-US" sz="1800" dirty="0" smtClean="0">
                <a:solidFill>
                  <a:srgbClr val="FF0000"/>
                </a:solidFill>
                <a:latin typeface="Courier New"/>
                <a:cs typeface="Courier New"/>
              </a:rPr>
              <a:t>L1</a:t>
            </a:r>
          </a:p>
          <a:p>
            <a:r>
              <a:rPr lang="en-US" sz="1800" dirty="0" smtClean="0">
                <a:solidFill>
                  <a:srgbClr val="FF0000"/>
                </a:solidFill>
                <a:latin typeface="Courier New"/>
                <a:cs typeface="Courier New"/>
              </a:rPr>
              <a:t>Bye</a:t>
            </a:r>
          </a:p>
          <a:p>
            <a:r>
              <a:rPr lang="en-US" sz="1800" dirty="0" smtClean="0">
                <a:solidFill>
                  <a:srgbClr val="FF0000"/>
                </a:solidFill>
                <a:latin typeface="Courier New"/>
                <a:cs typeface="Courier New"/>
              </a:rPr>
              <a:t>Bye</a:t>
            </a:r>
          </a:p>
          <a:p>
            <a:r>
              <a:rPr lang="en-US" sz="1800" dirty="0" smtClean="0">
                <a:solidFill>
                  <a:srgbClr val="FF0000"/>
                </a:solidFill>
                <a:latin typeface="Courier New"/>
                <a:cs typeface="Courier New"/>
              </a:rPr>
              <a:t>L2</a:t>
            </a:r>
          </a:p>
          <a:p>
            <a:r>
              <a:rPr lang="en-US" sz="1800" dirty="0" smtClean="0">
                <a:solidFill>
                  <a:srgbClr val="FF0000"/>
                </a:solidFill>
                <a:latin typeface="Courier New"/>
                <a:cs typeface="Courier New"/>
              </a:rPr>
              <a:t>Bye</a:t>
            </a:r>
          </a:p>
        </p:txBody>
      </p:sp>
      <p:sp>
        <p:nvSpPr>
          <p:cNvPr id="91" name="TextBox 90"/>
          <p:cNvSpPr txBox="1"/>
          <p:nvPr/>
        </p:nvSpPr>
        <p:spPr>
          <a:xfrm>
            <a:off x="6884250" y="4089400"/>
            <a:ext cx="1890436" cy="2031325"/>
          </a:xfrm>
          <a:prstGeom prst="rect">
            <a:avLst/>
          </a:prstGeom>
          <a:noFill/>
        </p:spPr>
        <p:txBody>
          <a:bodyPr wrap="none" rtlCol="0">
            <a:spAutoFit/>
          </a:bodyPr>
          <a:lstStyle/>
          <a:p>
            <a:r>
              <a:rPr lang="en-US" sz="1800" dirty="0" smtClean="0">
                <a:latin typeface="Calibri" pitchFamily="34" charset="0"/>
              </a:rPr>
              <a:t>Infeasible output:</a:t>
            </a:r>
          </a:p>
          <a:p>
            <a:r>
              <a:rPr lang="en-US" sz="1800" dirty="0" smtClean="0">
                <a:solidFill>
                  <a:srgbClr val="FF0000"/>
                </a:solidFill>
                <a:latin typeface="Courier New"/>
                <a:cs typeface="Courier New"/>
              </a:rPr>
              <a:t>L0</a:t>
            </a:r>
          </a:p>
          <a:p>
            <a:r>
              <a:rPr lang="en-US" sz="1800" dirty="0" smtClean="0">
                <a:solidFill>
                  <a:srgbClr val="FF0000"/>
                </a:solidFill>
                <a:latin typeface="Courier New"/>
                <a:cs typeface="Courier New"/>
              </a:rPr>
              <a:t>Bye</a:t>
            </a:r>
          </a:p>
          <a:p>
            <a:r>
              <a:rPr lang="en-US" sz="1800" dirty="0" smtClean="0">
                <a:solidFill>
                  <a:srgbClr val="FF0000"/>
                </a:solidFill>
                <a:latin typeface="Courier New"/>
                <a:cs typeface="Courier New"/>
              </a:rPr>
              <a:t>L1</a:t>
            </a:r>
          </a:p>
          <a:p>
            <a:r>
              <a:rPr lang="en-US" sz="1800" dirty="0" smtClean="0">
                <a:solidFill>
                  <a:srgbClr val="FF0000"/>
                </a:solidFill>
                <a:latin typeface="Courier New"/>
                <a:cs typeface="Courier New"/>
              </a:rPr>
              <a:t>Bye</a:t>
            </a:r>
          </a:p>
          <a:p>
            <a:r>
              <a:rPr lang="en-US" sz="1800" dirty="0" smtClean="0">
                <a:solidFill>
                  <a:srgbClr val="FF0000"/>
                </a:solidFill>
                <a:latin typeface="Courier New"/>
                <a:cs typeface="Courier New"/>
              </a:rPr>
              <a:t>Bye</a:t>
            </a:r>
          </a:p>
          <a:p>
            <a:r>
              <a:rPr lang="en-US" sz="1800" dirty="0" smtClean="0">
                <a:solidFill>
                  <a:srgbClr val="FF0000"/>
                </a:solidFill>
                <a:latin typeface="Courier New"/>
                <a:cs typeface="Courier New"/>
              </a:rPr>
              <a:t>L2</a:t>
            </a:r>
          </a:p>
        </p:txBody>
      </p:sp>
      <p:sp>
        <p:nvSpPr>
          <p:cNvPr id="92" name="Rectangle 3"/>
          <p:cNvSpPr>
            <a:spLocks noChangeArrowheads="1"/>
          </p:cNvSpPr>
          <p:nvPr/>
        </p:nvSpPr>
        <p:spPr bwMode="auto">
          <a:xfrm>
            <a:off x="2915978" y="4224974"/>
            <a:ext cx="1205816"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forks.c</a:t>
            </a:r>
            <a:endParaRPr lang="en-GB" sz="1800" b="1" i="1" dirty="0">
              <a:solidFill>
                <a:schemeClr val="tx1">
                  <a:lumMod val="50000"/>
                  <a:lumOff val="50000"/>
                </a:schemeClr>
              </a:solidFill>
              <a:latin typeface="Courier New" pitchFamily="49" charset="0"/>
              <a:ea typeface="msgothic" charset="0"/>
              <a:cs typeface="msgothic" charset="0"/>
            </a:endParaRPr>
          </a:p>
        </p:txBody>
      </p:sp>
    </p:spTree>
    <p:extLst>
      <p:ext uri="{BB962C8B-B14F-4D97-AF65-F5344CB8AC3E}">
        <p14:creationId xmlns:p14="http://schemas.microsoft.com/office/powerpoint/2010/main" val="154010585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P spid="91"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p:cNvSpPr>
            <a:spLocks noGrp="1" noChangeArrowheads="1"/>
          </p:cNvSpPr>
          <p:nvPr>
            <p:ph type="title"/>
          </p:nvPr>
        </p:nvSpPr>
        <p:spPr>
          <a:xfrm>
            <a:off x="380999" y="457200"/>
            <a:ext cx="8434737" cy="573088"/>
          </a:xfrm>
        </p:spPr>
        <p:txBody>
          <a:bodyPr/>
          <a:lstStyle/>
          <a:p>
            <a:r>
              <a:rPr lang="en-US" dirty="0">
                <a:latin typeface="Courier New"/>
                <a:cs typeface="Courier New"/>
              </a:rPr>
              <a:t>f</a:t>
            </a:r>
            <a:r>
              <a:rPr lang="en-US" dirty="0" smtClean="0">
                <a:latin typeface="Courier New"/>
                <a:cs typeface="Courier New"/>
              </a:rPr>
              <a:t>ork</a:t>
            </a:r>
            <a:r>
              <a:rPr lang="en-US" dirty="0" smtClean="0"/>
              <a:t> Example: Nested </a:t>
            </a:r>
            <a:r>
              <a:rPr lang="en-US" dirty="0" smtClean="0">
                <a:latin typeface="Courier New"/>
                <a:cs typeface="Courier New"/>
              </a:rPr>
              <a:t>fork</a:t>
            </a:r>
            <a:r>
              <a:rPr lang="en-US" dirty="0" smtClean="0"/>
              <a:t>s in children</a:t>
            </a:r>
            <a:endParaRPr lang="en-US" dirty="0"/>
          </a:p>
        </p:txBody>
      </p:sp>
      <p:sp>
        <p:nvSpPr>
          <p:cNvPr id="26" name="Text Box 3"/>
          <p:cNvSpPr txBox="1">
            <a:spLocks noChangeArrowheads="1"/>
          </p:cNvSpPr>
          <p:nvPr/>
        </p:nvSpPr>
        <p:spPr bwMode="auto">
          <a:xfrm>
            <a:off x="173493" y="1536690"/>
            <a:ext cx="3979165" cy="3139321"/>
          </a:xfrm>
          <a:prstGeom prst="rect">
            <a:avLst/>
          </a:prstGeom>
          <a:solidFill>
            <a:srgbClr val="F6F5BD"/>
          </a:solidFill>
          <a:ln w="3175">
            <a:solidFill>
              <a:schemeClr val="tx1"/>
            </a:solidFill>
            <a:miter lim="800000"/>
            <a:headEnd/>
            <a:tailEnd/>
          </a:ln>
          <a:effectLst/>
        </p:spPr>
        <p:txBody>
          <a:bodyPr wrap="none">
            <a:spAutoFit/>
          </a:bodyPr>
          <a:lstStyle/>
          <a:p>
            <a:r>
              <a:rPr lang="en-US" sz="1800" dirty="0">
                <a:solidFill>
                  <a:srgbClr val="2D961E"/>
                </a:solidFill>
                <a:latin typeface="Courier New"/>
                <a:cs typeface="Courier New"/>
              </a:rPr>
              <a:t>void</a:t>
            </a:r>
            <a:r>
              <a:rPr lang="en-US" sz="1800" dirty="0">
                <a:solidFill>
                  <a:srgbClr val="000000"/>
                </a:solidFill>
                <a:latin typeface="Courier New"/>
                <a:cs typeface="Courier New"/>
              </a:rPr>
              <a:t> </a:t>
            </a:r>
            <a:r>
              <a:rPr lang="en-US" sz="1800" dirty="0">
                <a:solidFill>
                  <a:srgbClr val="4A00FF"/>
                </a:solidFill>
                <a:latin typeface="Courier New"/>
                <a:cs typeface="Courier New"/>
              </a:rPr>
              <a:t>fork5</a:t>
            </a:r>
            <a:r>
              <a:rPr lang="en-US" sz="1800" dirty="0">
                <a:solidFill>
                  <a:srgbClr val="000000"/>
                </a:solidFill>
                <a:latin typeface="Courier New"/>
                <a:cs typeface="Courier New"/>
              </a:rPr>
              <a:t>()</a:t>
            </a:r>
          </a:p>
          <a:p>
            <a:r>
              <a:rPr lang="en-US" sz="1800" dirty="0">
                <a:solidFill>
                  <a:srgbClr val="000000"/>
                </a:solidFill>
                <a:latin typeface="Courier New"/>
                <a:cs typeface="Courier New"/>
              </a:rPr>
              <a:t>{</a:t>
            </a:r>
          </a:p>
          <a:p>
            <a:r>
              <a:rPr lang="ro-RO" sz="1800" dirty="0">
                <a:solidFill>
                  <a:srgbClr val="000000"/>
                </a:solidFill>
                <a:latin typeface="Courier New"/>
                <a:cs typeface="Courier New"/>
              </a:rPr>
              <a:t>    printf(</a:t>
            </a:r>
            <a:r>
              <a:rPr lang="ro-RO" sz="1800" dirty="0">
                <a:solidFill>
                  <a:srgbClr val="9D206F"/>
                </a:solidFill>
                <a:latin typeface="Courier New"/>
                <a:cs typeface="Courier New"/>
              </a:rPr>
              <a:t>"L0\n"</a:t>
            </a:r>
            <a:r>
              <a:rPr lang="ro-RO"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a:solidFill>
                  <a:srgbClr val="C200FF"/>
                </a:solidFill>
                <a:latin typeface="Courier New"/>
                <a:cs typeface="Courier New"/>
              </a:rPr>
              <a:t>if</a:t>
            </a:r>
            <a:r>
              <a:rPr lang="en-US" sz="1800" dirty="0">
                <a:solidFill>
                  <a:srgbClr val="000000"/>
                </a:solidFill>
                <a:latin typeface="Courier New"/>
                <a:cs typeface="Courier New"/>
              </a:rPr>
              <a:t> (fork() == 0) {</a:t>
            </a:r>
          </a:p>
          <a:p>
            <a:r>
              <a:rPr lang="ro-RO" sz="1800" dirty="0">
                <a:solidFill>
                  <a:srgbClr val="000000"/>
                </a:solidFill>
                <a:latin typeface="Courier New"/>
                <a:cs typeface="Courier New"/>
              </a:rPr>
              <a:t>        printf(</a:t>
            </a:r>
            <a:r>
              <a:rPr lang="ro-RO" sz="1800" dirty="0">
                <a:solidFill>
                  <a:srgbClr val="9D206F"/>
                </a:solidFill>
                <a:latin typeface="Courier New"/>
                <a:cs typeface="Courier New"/>
              </a:rPr>
              <a:t>"L1\n"</a:t>
            </a:r>
            <a:r>
              <a:rPr lang="ro-RO" sz="1800" dirty="0">
                <a:solidFill>
                  <a:srgbClr val="000000"/>
                </a:solidFill>
                <a:latin typeface="Courier New"/>
                <a:cs typeface="Courier New"/>
              </a:rPr>
              <a:t>);</a:t>
            </a:r>
          </a:p>
          <a:p>
            <a:r>
              <a:rPr lang="en-US" sz="1800" dirty="0">
                <a:solidFill>
                  <a:srgbClr val="000000"/>
                </a:solidFill>
                <a:latin typeface="Courier New"/>
                <a:cs typeface="Courier New"/>
              </a:rPr>
              <a:t>        </a:t>
            </a:r>
            <a:r>
              <a:rPr lang="en-US" sz="1800" dirty="0">
                <a:solidFill>
                  <a:srgbClr val="C200FF"/>
                </a:solidFill>
                <a:latin typeface="Courier New"/>
                <a:cs typeface="Courier New"/>
              </a:rPr>
              <a:t>if</a:t>
            </a:r>
            <a:r>
              <a:rPr lang="en-US" sz="1800" dirty="0">
                <a:solidFill>
                  <a:srgbClr val="000000"/>
                </a:solidFill>
                <a:latin typeface="Courier New"/>
                <a:cs typeface="Courier New"/>
              </a:rPr>
              <a:t> (fork() == 0) {</a:t>
            </a:r>
          </a:p>
          <a:p>
            <a:r>
              <a:rPr lang="ro-RO" sz="1800" dirty="0">
                <a:solidFill>
                  <a:srgbClr val="000000"/>
                </a:solidFill>
                <a:latin typeface="Courier New"/>
                <a:cs typeface="Courier New"/>
              </a:rPr>
              <a:t>            printf(</a:t>
            </a:r>
            <a:r>
              <a:rPr lang="ro-RO" sz="1800" dirty="0">
                <a:solidFill>
                  <a:srgbClr val="9D206F"/>
                </a:solidFill>
                <a:latin typeface="Courier New"/>
                <a:cs typeface="Courier New"/>
              </a:rPr>
              <a:t>"L2\n"</a:t>
            </a:r>
            <a:r>
              <a:rPr lang="ro-RO" sz="1800" dirty="0">
                <a:solidFill>
                  <a:srgbClr val="000000"/>
                </a:solidFill>
                <a:latin typeface="Courier New"/>
                <a:cs typeface="Courier New"/>
              </a:rPr>
              <a:t>);</a:t>
            </a:r>
          </a:p>
          <a:p>
            <a:r>
              <a:rPr lang="ro-RO" sz="1800" dirty="0">
                <a:solidFill>
                  <a:srgbClr val="000000"/>
                </a:solidFill>
                <a:latin typeface="Courier New"/>
                <a:cs typeface="Courier New"/>
              </a:rPr>
              <a:t>        }</a:t>
            </a:r>
          </a:p>
          <a:p>
            <a:r>
              <a:rPr lang="ro-RO" sz="1800" dirty="0">
                <a:solidFill>
                  <a:srgbClr val="000000"/>
                </a:solidFill>
                <a:latin typeface="Courier New"/>
                <a:cs typeface="Courier New"/>
              </a:rPr>
              <a:t>    }</a:t>
            </a:r>
          </a:p>
          <a:p>
            <a:r>
              <a:rPr lang="en-US" sz="1800" dirty="0">
                <a:solidFill>
                  <a:srgbClr val="000000"/>
                </a:solidFill>
                <a:latin typeface="Courier New"/>
                <a:cs typeface="Courier New"/>
              </a:rPr>
              <a:t>    </a:t>
            </a:r>
            <a:r>
              <a:rPr lang="en-US" sz="1800" dirty="0" err="1">
                <a:solidFill>
                  <a:srgbClr val="000000"/>
                </a:solidFill>
                <a:latin typeface="Courier New"/>
                <a:cs typeface="Courier New"/>
              </a:rPr>
              <a:t>printf</a:t>
            </a:r>
            <a:r>
              <a:rPr lang="en-US" sz="1800" dirty="0">
                <a:solidFill>
                  <a:srgbClr val="000000"/>
                </a:solidFill>
                <a:latin typeface="Courier New"/>
                <a:cs typeface="Courier New"/>
              </a:rPr>
              <a:t>(</a:t>
            </a:r>
            <a:r>
              <a:rPr lang="en-US" sz="1800" dirty="0">
                <a:solidFill>
                  <a:srgbClr val="9D206F"/>
                </a:solidFill>
                <a:latin typeface="Courier New"/>
                <a:cs typeface="Courier New"/>
              </a:rPr>
              <a:t>"Bye\n"</a:t>
            </a:r>
            <a:r>
              <a:rPr lang="en-US" sz="1800" dirty="0">
                <a:solidFill>
                  <a:srgbClr val="000000"/>
                </a:solidFill>
                <a:latin typeface="Courier New"/>
                <a:cs typeface="Courier New"/>
              </a:rPr>
              <a:t>);</a:t>
            </a:r>
          </a:p>
          <a:p>
            <a:r>
              <a:rPr lang="en-US" sz="1800" dirty="0" smtClean="0">
                <a:solidFill>
                  <a:srgbClr val="000000"/>
                </a:solidFill>
                <a:latin typeface="Courier New"/>
                <a:cs typeface="Courier New"/>
              </a:rPr>
              <a:t>}</a:t>
            </a:r>
            <a:endParaRPr lang="en-US" sz="1800" dirty="0">
              <a:solidFill>
                <a:srgbClr val="000000"/>
              </a:solidFill>
              <a:latin typeface="Courier New"/>
              <a:cs typeface="Courier New"/>
            </a:endParaRPr>
          </a:p>
        </p:txBody>
      </p:sp>
      <p:grpSp>
        <p:nvGrpSpPr>
          <p:cNvPr id="4" name="Group 3"/>
          <p:cNvGrpSpPr/>
          <p:nvPr/>
        </p:nvGrpSpPr>
        <p:grpSpPr>
          <a:xfrm>
            <a:off x="4153664" y="1799014"/>
            <a:ext cx="4863336" cy="1782386"/>
            <a:chOff x="4153664" y="1487067"/>
            <a:chExt cx="4863336" cy="1782386"/>
          </a:xfrm>
        </p:grpSpPr>
        <p:sp>
          <p:nvSpPr>
            <p:cNvPr id="49" name="Oval 48"/>
            <p:cNvSpPr>
              <a:spLocks noChangeAspect="1"/>
            </p:cNvSpPr>
            <p:nvPr/>
          </p:nvSpPr>
          <p:spPr>
            <a:xfrm>
              <a:off x="4526721" y="2914534"/>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50" name="TextBox 49"/>
            <p:cNvSpPr txBox="1"/>
            <p:nvPr/>
          </p:nvSpPr>
          <p:spPr>
            <a:xfrm>
              <a:off x="4153664" y="2946288"/>
              <a:ext cx="877276" cy="323165"/>
            </a:xfrm>
            <a:prstGeom prst="rect">
              <a:avLst/>
            </a:prstGeom>
            <a:noFill/>
          </p:spPr>
          <p:txBody>
            <a:bodyPr wrap="none" rtlCol="0">
              <a:spAutoFit/>
            </a:bodyPr>
            <a:lstStyle/>
            <a:p>
              <a:pPr algn="ctr"/>
              <a:r>
                <a:rPr lang="en-US" sz="1500" b="1" dirty="0" err="1" smtClean="0">
                  <a:latin typeface="Courier New"/>
                  <a:cs typeface="Courier New"/>
                </a:rPr>
                <a:t>printf</a:t>
              </a:r>
              <a:endParaRPr lang="en-US" sz="1500" b="1" dirty="0">
                <a:latin typeface="Courier New"/>
                <a:cs typeface="Courier New"/>
              </a:endParaRPr>
            </a:p>
          </p:txBody>
        </p:sp>
        <p:sp>
          <p:nvSpPr>
            <p:cNvPr id="51" name="Oval 50"/>
            <p:cNvSpPr>
              <a:spLocks noChangeAspect="1"/>
            </p:cNvSpPr>
            <p:nvPr/>
          </p:nvSpPr>
          <p:spPr>
            <a:xfrm>
              <a:off x="6102546" y="2903739"/>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52" name="Oval 51"/>
            <p:cNvSpPr>
              <a:spLocks noChangeAspect="1"/>
            </p:cNvSpPr>
            <p:nvPr/>
          </p:nvSpPr>
          <p:spPr>
            <a:xfrm>
              <a:off x="6893330" y="2335164"/>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53" name="TextBox 52"/>
            <p:cNvSpPr txBox="1"/>
            <p:nvPr/>
          </p:nvSpPr>
          <p:spPr>
            <a:xfrm>
              <a:off x="5720576" y="2935493"/>
              <a:ext cx="921523" cy="323165"/>
            </a:xfrm>
            <a:prstGeom prst="rect">
              <a:avLst/>
            </a:prstGeom>
            <a:noFill/>
          </p:spPr>
          <p:txBody>
            <a:bodyPr wrap="square" rtlCol="0">
              <a:spAutoFit/>
            </a:bodyPr>
            <a:lstStyle/>
            <a:p>
              <a:pPr algn="ctr"/>
              <a:r>
                <a:rPr lang="en-US" sz="1500" b="1" dirty="0" err="1" smtClean="0">
                  <a:latin typeface="Courier New"/>
                  <a:cs typeface="Courier New"/>
                </a:rPr>
                <a:t>printf</a:t>
              </a:r>
              <a:endParaRPr lang="en-US" sz="1500" b="1" dirty="0">
                <a:latin typeface="Courier New"/>
                <a:cs typeface="Courier New"/>
              </a:endParaRPr>
            </a:p>
          </p:txBody>
        </p:sp>
        <p:cxnSp>
          <p:nvCxnSpPr>
            <p:cNvPr id="54" name="Elbow Connector 35"/>
            <p:cNvCxnSpPr/>
            <p:nvPr/>
          </p:nvCxnSpPr>
          <p:spPr>
            <a:xfrm rot="5400000" flipH="1" flipV="1">
              <a:off x="7037642" y="1715351"/>
              <a:ext cx="544331" cy="753043"/>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Oval 54"/>
            <p:cNvSpPr>
              <a:spLocks noChangeAspect="1"/>
            </p:cNvSpPr>
            <p:nvPr/>
          </p:nvSpPr>
          <p:spPr>
            <a:xfrm>
              <a:off x="7699773" y="1770045"/>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cxnSp>
          <p:nvCxnSpPr>
            <p:cNvPr id="56" name="Straight Arrow Connector 55"/>
            <p:cNvCxnSpPr/>
            <p:nvPr/>
          </p:nvCxnSpPr>
          <p:spPr>
            <a:xfrm flipV="1">
              <a:off x="6180270" y="2368266"/>
              <a:ext cx="713060" cy="288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flipV="1">
              <a:off x="4604445" y="2947637"/>
              <a:ext cx="713060" cy="288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528379" y="2305691"/>
              <a:ext cx="805139" cy="323165"/>
            </a:xfrm>
            <a:prstGeom prst="rect">
              <a:avLst/>
            </a:prstGeom>
            <a:noFill/>
          </p:spPr>
          <p:txBody>
            <a:bodyPr wrap="square" rtlCol="0">
              <a:spAutoFit/>
            </a:bodyPr>
            <a:lstStyle/>
            <a:p>
              <a:pPr algn="ctr"/>
              <a:r>
                <a:rPr lang="en-US" sz="1500" b="1" dirty="0" smtClean="0">
                  <a:latin typeface="Courier New"/>
                  <a:cs typeface="Courier New"/>
                </a:rPr>
                <a:t>fork</a:t>
              </a:r>
              <a:endParaRPr lang="en-US" sz="1500" b="1" dirty="0">
                <a:latin typeface="Courier New"/>
                <a:cs typeface="Courier New"/>
              </a:endParaRPr>
            </a:p>
          </p:txBody>
        </p:sp>
        <p:sp>
          <p:nvSpPr>
            <p:cNvPr id="59" name="TextBox 58"/>
            <p:cNvSpPr txBox="1"/>
            <p:nvPr/>
          </p:nvSpPr>
          <p:spPr>
            <a:xfrm>
              <a:off x="7337145" y="1755826"/>
              <a:ext cx="959164" cy="323165"/>
            </a:xfrm>
            <a:prstGeom prst="rect">
              <a:avLst/>
            </a:prstGeom>
            <a:noFill/>
          </p:spPr>
          <p:txBody>
            <a:bodyPr wrap="square" rtlCol="0">
              <a:spAutoFit/>
            </a:bodyPr>
            <a:lstStyle/>
            <a:p>
              <a:pPr algn="ctr"/>
              <a:r>
                <a:rPr lang="en-US" sz="1500" b="1" dirty="0" err="1" smtClean="0">
                  <a:latin typeface="Courier New"/>
                  <a:cs typeface="Courier New"/>
                </a:rPr>
                <a:t>printf</a:t>
              </a:r>
              <a:endParaRPr lang="en-US" sz="1500" b="1" dirty="0">
                <a:latin typeface="Courier New"/>
                <a:cs typeface="Courier New"/>
              </a:endParaRPr>
            </a:p>
          </p:txBody>
        </p:sp>
        <p:cxnSp>
          <p:nvCxnSpPr>
            <p:cNvPr id="60" name="Straight Arrow Connector 59"/>
            <p:cNvCxnSpPr/>
            <p:nvPr/>
          </p:nvCxnSpPr>
          <p:spPr>
            <a:xfrm flipV="1">
              <a:off x="6966192" y="2362507"/>
              <a:ext cx="713060" cy="288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1" name="Oval 60"/>
            <p:cNvSpPr>
              <a:spLocks noChangeAspect="1"/>
            </p:cNvSpPr>
            <p:nvPr/>
          </p:nvSpPr>
          <p:spPr>
            <a:xfrm>
              <a:off x="7679252" y="2318247"/>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62" name="TextBox 61"/>
            <p:cNvSpPr txBox="1"/>
            <p:nvPr/>
          </p:nvSpPr>
          <p:spPr>
            <a:xfrm>
              <a:off x="7271150" y="2305691"/>
              <a:ext cx="1013615" cy="323165"/>
            </a:xfrm>
            <a:prstGeom prst="rect">
              <a:avLst/>
            </a:prstGeom>
            <a:noFill/>
          </p:spPr>
          <p:txBody>
            <a:bodyPr wrap="square" rtlCol="0">
              <a:spAutoFit/>
            </a:bodyPr>
            <a:lstStyle/>
            <a:p>
              <a:pPr algn="ctr"/>
              <a:r>
                <a:rPr lang="en-US" sz="1500" b="1" dirty="0" err="1" smtClean="0">
                  <a:latin typeface="Courier New"/>
                  <a:cs typeface="Courier New"/>
                </a:rPr>
                <a:t>printf</a:t>
              </a:r>
              <a:endParaRPr lang="en-US" sz="1500" b="1" dirty="0">
                <a:latin typeface="Courier New"/>
                <a:cs typeface="Courier New"/>
              </a:endParaRPr>
            </a:p>
          </p:txBody>
        </p:sp>
        <p:sp>
          <p:nvSpPr>
            <p:cNvPr id="63" name="Oval 62"/>
            <p:cNvSpPr>
              <a:spLocks noChangeAspect="1"/>
            </p:cNvSpPr>
            <p:nvPr/>
          </p:nvSpPr>
          <p:spPr>
            <a:xfrm>
              <a:off x="5314512" y="2914534"/>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64" name="TextBox 63"/>
            <p:cNvSpPr txBox="1"/>
            <p:nvPr/>
          </p:nvSpPr>
          <p:spPr>
            <a:xfrm>
              <a:off x="5071222" y="2946288"/>
              <a:ext cx="649355" cy="323165"/>
            </a:xfrm>
            <a:prstGeom prst="rect">
              <a:avLst/>
            </a:prstGeom>
            <a:noFill/>
          </p:spPr>
          <p:txBody>
            <a:bodyPr wrap="square" rtlCol="0">
              <a:spAutoFit/>
            </a:bodyPr>
            <a:lstStyle/>
            <a:p>
              <a:pPr algn="ctr"/>
              <a:r>
                <a:rPr lang="en-US" sz="1500" b="1" dirty="0" smtClean="0">
                  <a:latin typeface="Courier New"/>
                  <a:cs typeface="Courier New"/>
                </a:rPr>
                <a:t>fork</a:t>
              </a:r>
              <a:endParaRPr lang="en-US" sz="1500" b="1" dirty="0">
                <a:latin typeface="Courier New"/>
                <a:cs typeface="Courier New"/>
              </a:endParaRPr>
            </a:p>
          </p:txBody>
        </p:sp>
        <p:cxnSp>
          <p:nvCxnSpPr>
            <p:cNvPr id="65" name="Straight Arrow Connector 64"/>
            <p:cNvCxnSpPr/>
            <p:nvPr/>
          </p:nvCxnSpPr>
          <p:spPr>
            <a:xfrm flipV="1">
              <a:off x="5392235" y="2941877"/>
              <a:ext cx="713060" cy="288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6" name="Elbow Connector 35"/>
            <p:cNvCxnSpPr>
              <a:stCxn id="64" idx="0"/>
            </p:cNvCxnSpPr>
            <p:nvPr/>
          </p:nvCxnSpPr>
          <p:spPr>
            <a:xfrm rot="5400000" flipH="1" flipV="1">
              <a:off x="5462509" y="2303503"/>
              <a:ext cx="576177" cy="709395"/>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7" name="Oval 66"/>
            <p:cNvSpPr>
              <a:spLocks noChangeAspect="1"/>
            </p:cNvSpPr>
            <p:nvPr/>
          </p:nvSpPr>
          <p:spPr>
            <a:xfrm>
              <a:off x="6102546" y="2310017"/>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68" name="TextBox 67"/>
            <p:cNvSpPr txBox="1"/>
            <p:nvPr/>
          </p:nvSpPr>
          <p:spPr>
            <a:xfrm>
              <a:off x="5562600" y="2305691"/>
              <a:ext cx="990551" cy="323165"/>
            </a:xfrm>
            <a:prstGeom prst="rect">
              <a:avLst/>
            </a:prstGeom>
            <a:noFill/>
          </p:spPr>
          <p:txBody>
            <a:bodyPr wrap="square" rtlCol="0">
              <a:spAutoFit/>
            </a:bodyPr>
            <a:lstStyle/>
            <a:p>
              <a:pPr algn="ctr"/>
              <a:r>
                <a:rPr lang="en-US" sz="1500" b="1" dirty="0" err="1" smtClean="0">
                  <a:latin typeface="Courier New"/>
                  <a:cs typeface="Courier New"/>
                </a:rPr>
                <a:t>printf</a:t>
              </a:r>
              <a:endParaRPr lang="en-US" sz="1500" b="1" dirty="0">
                <a:latin typeface="Courier New"/>
                <a:cs typeface="Courier New"/>
              </a:endParaRPr>
            </a:p>
          </p:txBody>
        </p:sp>
        <p:sp>
          <p:nvSpPr>
            <p:cNvPr id="69" name="TextBox 68"/>
            <p:cNvSpPr txBox="1"/>
            <p:nvPr/>
          </p:nvSpPr>
          <p:spPr>
            <a:xfrm>
              <a:off x="4389726" y="2621511"/>
              <a:ext cx="415536" cy="323165"/>
            </a:xfrm>
            <a:prstGeom prst="rect">
              <a:avLst/>
            </a:prstGeom>
            <a:noFill/>
          </p:spPr>
          <p:txBody>
            <a:bodyPr wrap="none" rtlCol="0">
              <a:spAutoFit/>
            </a:bodyPr>
            <a:lstStyle/>
            <a:p>
              <a:pPr algn="ctr"/>
              <a:r>
                <a:rPr lang="en-US" sz="1500" b="1" dirty="0" smtClean="0">
                  <a:solidFill>
                    <a:srgbClr val="FF0000"/>
                  </a:solidFill>
                  <a:latin typeface="Courier New"/>
                  <a:cs typeface="Courier New"/>
                </a:rPr>
                <a:t>L0</a:t>
              </a:r>
              <a:endParaRPr lang="en-US" sz="1500" b="1" dirty="0">
                <a:solidFill>
                  <a:srgbClr val="FF0000"/>
                </a:solidFill>
                <a:latin typeface="Courier New"/>
                <a:cs typeface="Courier New"/>
              </a:endParaRPr>
            </a:p>
          </p:txBody>
        </p:sp>
        <p:sp>
          <p:nvSpPr>
            <p:cNvPr id="70" name="TextBox 69"/>
            <p:cNvSpPr txBox="1"/>
            <p:nvPr/>
          </p:nvSpPr>
          <p:spPr>
            <a:xfrm>
              <a:off x="7549209" y="1487067"/>
              <a:ext cx="415536" cy="323165"/>
            </a:xfrm>
            <a:prstGeom prst="rect">
              <a:avLst/>
            </a:prstGeom>
            <a:noFill/>
          </p:spPr>
          <p:txBody>
            <a:bodyPr wrap="none" rtlCol="0">
              <a:spAutoFit/>
            </a:bodyPr>
            <a:lstStyle/>
            <a:p>
              <a:pPr algn="ctr"/>
              <a:r>
                <a:rPr lang="en-US" sz="1500" b="1" dirty="0" smtClean="0">
                  <a:solidFill>
                    <a:srgbClr val="FF0000"/>
                  </a:solidFill>
                  <a:latin typeface="Courier New"/>
                  <a:cs typeface="Courier New"/>
                </a:rPr>
                <a:t>L2</a:t>
              </a:r>
              <a:endParaRPr lang="en-US" sz="1500" b="1" dirty="0">
                <a:solidFill>
                  <a:srgbClr val="FF0000"/>
                </a:solidFill>
                <a:latin typeface="Courier New"/>
                <a:cs typeface="Courier New"/>
              </a:endParaRPr>
            </a:p>
          </p:txBody>
        </p:sp>
        <p:sp>
          <p:nvSpPr>
            <p:cNvPr id="71" name="TextBox 70"/>
            <p:cNvSpPr txBox="1"/>
            <p:nvPr/>
          </p:nvSpPr>
          <p:spPr>
            <a:xfrm>
              <a:off x="5886489" y="2621511"/>
              <a:ext cx="530971" cy="323165"/>
            </a:xfrm>
            <a:prstGeom prst="rect">
              <a:avLst/>
            </a:prstGeom>
            <a:noFill/>
          </p:spPr>
          <p:txBody>
            <a:bodyPr wrap="none" rtlCol="0">
              <a:spAutoFit/>
            </a:bodyPr>
            <a:lstStyle/>
            <a:p>
              <a:pPr algn="ctr"/>
              <a:r>
                <a:rPr lang="en-US" sz="1500" b="1" dirty="0" smtClean="0">
                  <a:solidFill>
                    <a:srgbClr val="FF0000"/>
                  </a:solidFill>
                  <a:latin typeface="Courier New"/>
                  <a:cs typeface="Courier New"/>
                </a:rPr>
                <a:t>Bye</a:t>
              </a:r>
              <a:endParaRPr lang="en-US" sz="1500" b="1" dirty="0">
                <a:solidFill>
                  <a:srgbClr val="FF0000"/>
                </a:solidFill>
                <a:latin typeface="Courier New"/>
                <a:cs typeface="Courier New"/>
              </a:endParaRPr>
            </a:p>
          </p:txBody>
        </p:sp>
        <p:sp>
          <p:nvSpPr>
            <p:cNvPr id="72" name="TextBox 71"/>
            <p:cNvSpPr txBox="1"/>
            <p:nvPr/>
          </p:nvSpPr>
          <p:spPr>
            <a:xfrm>
              <a:off x="5944206" y="2055502"/>
              <a:ext cx="415536" cy="323165"/>
            </a:xfrm>
            <a:prstGeom prst="rect">
              <a:avLst/>
            </a:prstGeom>
            <a:noFill/>
          </p:spPr>
          <p:txBody>
            <a:bodyPr wrap="none" rtlCol="0">
              <a:spAutoFit/>
            </a:bodyPr>
            <a:lstStyle/>
            <a:p>
              <a:pPr algn="ctr"/>
              <a:r>
                <a:rPr lang="en-US" sz="1500" b="1" dirty="0" smtClean="0">
                  <a:solidFill>
                    <a:srgbClr val="FF0000"/>
                  </a:solidFill>
                  <a:latin typeface="Courier New"/>
                  <a:cs typeface="Courier New"/>
                </a:rPr>
                <a:t>L1</a:t>
              </a:r>
              <a:endParaRPr lang="en-US" sz="1500" b="1" dirty="0">
                <a:solidFill>
                  <a:srgbClr val="FF0000"/>
                </a:solidFill>
                <a:latin typeface="Courier New"/>
                <a:cs typeface="Courier New"/>
              </a:endParaRPr>
            </a:p>
          </p:txBody>
        </p:sp>
        <p:sp>
          <p:nvSpPr>
            <p:cNvPr id="73" name="TextBox 72"/>
            <p:cNvSpPr txBox="1"/>
            <p:nvPr/>
          </p:nvSpPr>
          <p:spPr>
            <a:xfrm>
              <a:off x="7470966" y="2050056"/>
              <a:ext cx="530971" cy="323165"/>
            </a:xfrm>
            <a:prstGeom prst="rect">
              <a:avLst/>
            </a:prstGeom>
            <a:noFill/>
          </p:spPr>
          <p:txBody>
            <a:bodyPr wrap="none" rtlCol="0">
              <a:spAutoFit/>
            </a:bodyPr>
            <a:lstStyle/>
            <a:p>
              <a:pPr algn="ctr"/>
              <a:r>
                <a:rPr lang="en-US" sz="1500" b="1" dirty="0" smtClean="0">
                  <a:solidFill>
                    <a:srgbClr val="FF0000"/>
                  </a:solidFill>
                  <a:latin typeface="Courier New"/>
                  <a:cs typeface="Courier New"/>
                </a:rPr>
                <a:t>Bye</a:t>
              </a:r>
              <a:endParaRPr lang="en-US" sz="1500" b="1" dirty="0">
                <a:solidFill>
                  <a:srgbClr val="FF0000"/>
                </a:solidFill>
                <a:latin typeface="Courier New"/>
                <a:cs typeface="Courier New"/>
              </a:endParaRPr>
            </a:p>
          </p:txBody>
        </p:sp>
        <p:cxnSp>
          <p:nvCxnSpPr>
            <p:cNvPr id="74" name="Straight Arrow Connector 73"/>
            <p:cNvCxnSpPr/>
            <p:nvPr/>
          </p:nvCxnSpPr>
          <p:spPr>
            <a:xfrm flipV="1">
              <a:off x="7759467" y="1816191"/>
              <a:ext cx="713060" cy="2880"/>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5" name="Oval 74"/>
            <p:cNvSpPr>
              <a:spLocks noChangeAspect="1"/>
            </p:cNvSpPr>
            <p:nvPr/>
          </p:nvSpPr>
          <p:spPr>
            <a:xfrm>
              <a:off x="8472527" y="1767980"/>
              <a:ext cx="77724" cy="77724"/>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76" name="TextBox 75"/>
            <p:cNvSpPr txBox="1"/>
            <p:nvPr/>
          </p:nvSpPr>
          <p:spPr>
            <a:xfrm>
              <a:off x="8117066" y="1755826"/>
              <a:ext cx="899934" cy="323165"/>
            </a:xfrm>
            <a:prstGeom prst="rect">
              <a:avLst/>
            </a:prstGeom>
            <a:noFill/>
          </p:spPr>
          <p:txBody>
            <a:bodyPr wrap="square" rtlCol="0">
              <a:spAutoFit/>
            </a:bodyPr>
            <a:lstStyle/>
            <a:p>
              <a:pPr algn="ctr"/>
              <a:r>
                <a:rPr lang="en-US" sz="1500" b="1" dirty="0" err="1" smtClean="0">
                  <a:latin typeface="Courier New"/>
                  <a:cs typeface="Courier New"/>
                </a:rPr>
                <a:t>printf</a:t>
              </a:r>
              <a:endParaRPr lang="en-US" sz="1500" b="1" dirty="0">
                <a:latin typeface="Courier New"/>
                <a:cs typeface="Courier New"/>
              </a:endParaRPr>
            </a:p>
          </p:txBody>
        </p:sp>
        <p:sp>
          <p:nvSpPr>
            <p:cNvPr id="77" name="TextBox 76"/>
            <p:cNvSpPr txBox="1"/>
            <p:nvPr/>
          </p:nvSpPr>
          <p:spPr>
            <a:xfrm>
              <a:off x="8284766" y="1487067"/>
              <a:ext cx="530971" cy="323165"/>
            </a:xfrm>
            <a:prstGeom prst="rect">
              <a:avLst/>
            </a:prstGeom>
            <a:noFill/>
          </p:spPr>
          <p:txBody>
            <a:bodyPr wrap="none" rtlCol="0">
              <a:spAutoFit/>
            </a:bodyPr>
            <a:lstStyle/>
            <a:p>
              <a:pPr algn="ctr"/>
              <a:r>
                <a:rPr lang="en-US" sz="1500" b="1" dirty="0" smtClean="0">
                  <a:solidFill>
                    <a:srgbClr val="FF0000"/>
                  </a:solidFill>
                  <a:latin typeface="Courier New"/>
                  <a:cs typeface="Courier New"/>
                </a:rPr>
                <a:t>Bye</a:t>
              </a:r>
              <a:endParaRPr lang="en-US" sz="1500" b="1" dirty="0">
                <a:solidFill>
                  <a:srgbClr val="FF0000"/>
                </a:solidFill>
                <a:latin typeface="Courier New"/>
                <a:cs typeface="Courier New"/>
              </a:endParaRPr>
            </a:p>
          </p:txBody>
        </p:sp>
      </p:grpSp>
      <p:sp>
        <p:nvSpPr>
          <p:cNvPr id="78" name="TextBox 77"/>
          <p:cNvSpPr txBox="1"/>
          <p:nvPr/>
        </p:nvSpPr>
        <p:spPr>
          <a:xfrm>
            <a:off x="4420718" y="4089400"/>
            <a:ext cx="1737938" cy="2031325"/>
          </a:xfrm>
          <a:prstGeom prst="rect">
            <a:avLst/>
          </a:prstGeom>
          <a:noFill/>
        </p:spPr>
        <p:txBody>
          <a:bodyPr wrap="none" rtlCol="0">
            <a:spAutoFit/>
          </a:bodyPr>
          <a:lstStyle/>
          <a:p>
            <a:r>
              <a:rPr lang="en-US" sz="1800" dirty="0" smtClean="0">
                <a:latin typeface="Calibri" pitchFamily="34" charset="0"/>
              </a:rPr>
              <a:t>Feasible output:</a:t>
            </a:r>
          </a:p>
          <a:p>
            <a:r>
              <a:rPr lang="en-US" sz="1800" dirty="0" smtClean="0">
                <a:solidFill>
                  <a:srgbClr val="FF0000"/>
                </a:solidFill>
                <a:latin typeface="Courier New"/>
                <a:cs typeface="Courier New"/>
              </a:rPr>
              <a:t>L0</a:t>
            </a:r>
          </a:p>
          <a:p>
            <a:r>
              <a:rPr lang="en-US" sz="1800" dirty="0" smtClean="0">
                <a:solidFill>
                  <a:srgbClr val="FF0000"/>
                </a:solidFill>
                <a:latin typeface="Courier New"/>
                <a:cs typeface="Courier New"/>
              </a:rPr>
              <a:t>Bye</a:t>
            </a:r>
          </a:p>
          <a:p>
            <a:r>
              <a:rPr lang="en-US" sz="1800" dirty="0" smtClean="0">
                <a:solidFill>
                  <a:srgbClr val="FF0000"/>
                </a:solidFill>
                <a:latin typeface="Courier New"/>
                <a:cs typeface="Courier New"/>
              </a:rPr>
              <a:t>L1</a:t>
            </a:r>
          </a:p>
          <a:p>
            <a:r>
              <a:rPr lang="en-US" sz="1800" dirty="0" smtClean="0">
                <a:solidFill>
                  <a:srgbClr val="FF0000"/>
                </a:solidFill>
                <a:latin typeface="Courier New"/>
                <a:cs typeface="Courier New"/>
              </a:rPr>
              <a:t>L2</a:t>
            </a:r>
          </a:p>
          <a:p>
            <a:r>
              <a:rPr lang="en-US" sz="1800" dirty="0" smtClean="0">
                <a:solidFill>
                  <a:srgbClr val="FF0000"/>
                </a:solidFill>
                <a:latin typeface="Courier New"/>
                <a:cs typeface="Courier New"/>
              </a:rPr>
              <a:t>Bye</a:t>
            </a:r>
          </a:p>
          <a:p>
            <a:r>
              <a:rPr lang="en-US" sz="1800" dirty="0" smtClean="0">
                <a:solidFill>
                  <a:srgbClr val="FF0000"/>
                </a:solidFill>
                <a:latin typeface="Courier New"/>
                <a:cs typeface="Courier New"/>
              </a:rPr>
              <a:t>Bye</a:t>
            </a:r>
          </a:p>
        </p:txBody>
      </p:sp>
      <p:sp>
        <p:nvSpPr>
          <p:cNvPr id="79" name="TextBox 78"/>
          <p:cNvSpPr txBox="1"/>
          <p:nvPr/>
        </p:nvSpPr>
        <p:spPr>
          <a:xfrm>
            <a:off x="6947750" y="4089400"/>
            <a:ext cx="1890436" cy="2031325"/>
          </a:xfrm>
          <a:prstGeom prst="rect">
            <a:avLst/>
          </a:prstGeom>
          <a:noFill/>
        </p:spPr>
        <p:txBody>
          <a:bodyPr wrap="none" rtlCol="0">
            <a:spAutoFit/>
          </a:bodyPr>
          <a:lstStyle/>
          <a:p>
            <a:r>
              <a:rPr lang="en-US" sz="1800" dirty="0" smtClean="0">
                <a:latin typeface="Calibri" pitchFamily="34" charset="0"/>
              </a:rPr>
              <a:t>Infeasible output:</a:t>
            </a:r>
          </a:p>
          <a:p>
            <a:r>
              <a:rPr lang="en-US" sz="1800" dirty="0" smtClean="0">
                <a:solidFill>
                  <a:srgbClr val="FF0000"/>
                </a:solidFill>
                <a:latin typeface="Courier New"/>
                <a:cs typeface="Courier New"/>
              </a:rPr>
              <a:t>L0</a:t>
            </a:r>
          </a:p>
          <a:p>
            <a:r>
              <a:rPr lang="en-US" sz="1800" dirty="0" smtClean="0">
                <a:solidFill>
                  <a:srgbClr val="FF0000"/>
                </a:solidFill>
                <a:latin typeface="Courier New"/>
                <a:cs typeface="Courier New"/>
              </a:rPr>
              <a:t>Bye</a:t>
            </a:r>
          </a:p>
          <a:p>
            <a:r>
              <a:rPr lang="en-US" sz="1800" dirty="0" smtClean="0">
                <a:solidFill>
                  <a:srgbClr val="FF0000"/>
                </a:solidFill>
                <a:latin typeface="Courier New"/>
                <a:cs typeface="Courier New"/>
              </a:rPr>
              <a:t>L1</a:t>
            </a:r>
          </a:p>
          <a:p>
            <a:r>
              <a:rPr lang="en-US" sz="1800" dirty="0" smtClean="0">
                <a:solidFill>
                  <a:srgbClr val="FF0000"/>
                </a:solidFill>
                <a:latin typeface="Courier New"/>
                <a:cs typeface="Courier New"/>
              </a:rPr>
              <a:t>Bye</a:t>
            </a:r>
          </a:p>
          <a:p>
            <a:r>
              <a:rPr lang="en-US" sz="1800" dirty="0" smtClean="0">
                <a:solidFill>
                  <a:srgbClr val="FF0000"/>
                </a:solidFill>
                <a:latin typeface="Courier New"/>
                <a:cs typeface="Courier New"/>
              </a:rPr>
              <a:t>Bye</a:t>
            </a:r>
          </a:p>
          <a:p>
            <a:r>
              <a:rPr lang="en-US" sz="1800" dirty="0" smtClean="0">
                <a:solidFill>
                  <a:srgbClr val="FF0000"/>
                </a:solidFill>
                <a:latin typeface="Courier New"/>
                <a:cs typeface="Courier New"/>
              </a:rPr>
              <a:t>L2</a:t>
            </a:r>
          </a:p>
        </p:txBody>
      </p:sp>
      <p:sp>
        <p:nvSpPr>
          <p:cNvPr id="80" name="Rectangle 3"/>
          <p:cNvSpPr>
            <a:spLocks noChangeArrowheads="1"/>
          </p:cNvSpPr>
          <p:nvPr/>
        </p:nvSpPr>
        <p:spPr bwMode="auto">
          <a:xfrm>
            <a:off x="2904610" y="4318348"/>
            <a:ext cx="1205816"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forks.c</a:t>
            </a:r>
            <a:endParaRPr lang="en-GB" sz="1800" b="1" i="1" dirty="0">
              <a:solidFill>
                <a:schemeClr val="tx1">
                  <a:lumMod val="50000"/>
                  <a:lumOff val="50000"/>
                </a:schemeClr>
              </a:solidFill>
              <a:latin typeface="Courier New" pitchFamily="49" charset="0"/>
              <a:ea typeface="msgothic" charset="0"/>
              <a:cs typeface="msgothic" charset="0"/>
            </a:endParaRPr>
          </a:p>
        </p:txBody>
      </p:sp>
    </p:spTree>
    <p:extLst>
      <p:ext uri="{BB962C8B-B14F-4D97-AF65-F5344CB8AC3E}">
        <p14:creationId xmlns:p14="http://schemas.microsoft.com/office/powerpoint/2010/main" val="279901388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79"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p:cNvSpPr>
            <a:spLocks noGrp="1" noChangeArrowheads="1"/>
          </p:cNvSpPr>
          <p:nvPr>
            <p:ph type="title"/>
          </p:nvPr>
        </p:nvSpPr>
        <p:spPr>
          <a:xfrm>
            <a:off x="381000" y="417512"/>
            <a:ext cx="6997700" cy="573088"/>
          </a:xfrm>
        </p:spPr>
        <p:txBody>
          <a:bodyPr/>
          <a:lstStyle/>
          <a:p>
            <a:r>
              <a:rPr lang="en-US" dirty="0" smtClean="0"/>
              <a:t>Reaping Child Processes</a:t>
            </a:r>
            <a:endParaRPr lang="en-US" dirty="0"/>
          </a:p>
        </p:txBody>
      </p:sp>
      <p:sp>
        <p:nvSpPr>
          <p:cNvPr id="496643" name="Rectangle 3"/>
          <p:cNvSpPr>
            <a:spLocks noGrp="1" noChangeArrowheads="1"/>
          </p:cNvSpPr>
          <p:nvPr>
            <p:ph type="body" idx="1"/>
          </p:nvPr>
        </p:nvSpPr>
        <p:spPr>
          <a:xfrm>
            <a:off x="359679" y="1098550"/>
            <a:ext cx="8307387" cy="5454650"/>
          </a:xfrm>
        </p:spPr>
        <p:txBody>
          <a:bodyPr/>
          <a:lstStyle/>
          <a:p>
            <a:r>
              <a:rPr lang="en-US" dirty="0"/>
              <a:t>Idea</a:t>
            </a:r>
          </a:p>
          <a:p>
            <a:pPr lvl="1"/>
            <a:r>
              <a:rPr lang="en-US" dirty="0"/>
              <a:t>When process terminates, </a:t>
            </a:r>
            <a:r>
              <a:rPr lang="en-US" dirty="0" smtClean="0"/>
              <a:t>it still </a:t>
            </a:r>
            <a:r>
              <a:rPr lang="en-US" dirty="0"/>
              <a:t>consumes system resources</a:t>
            </a:r>
          </a:p>
          <a:p>
            <a:pPr lvl="2"/>
            <a:r>
              <a:rPr lang="en-US" dirty="0" smtClean="0"/>
              <a:t>Examples: Exit status, various OS tables</a:t>
            </a:r>
            <a:endParaRPr lang="en-US" dirty="0"/>
          </a:p>
          <a:p>
            <a:pPr lvl="1"/>
            <a:r>
              <a:rPr lang="en-US" dirty="0"/>
              <a:t>Called a “zombie”</a:t>
            </a:r>
          </a:p>
          <a:p>
            <a:pPr lvl="2"/>
            <a:r>
              <a:rPr lang="en-US" dirty="0"/>
              <a:t>Living corpse, half alive and half dead</a:t>
            </a:r>
          </a:p>
          <a:p>
            <a:r>
              <a:rPr lang="en-US" dirty="0"/>
              <a:t>Reaping</a:t>
            </a:r>
          </a:p>
          <a:p>
            <a:pPr lvl="1"/>
            <a:r>
              <a:rPr lang="en-US" dirty="0"/>
              <a:t>Performed by parent on terminated </a:t>
            </a:r>
            <a:r>
              <a:rPr lang="en-US" dirty="0" smtClean="0"/>
              <a:t>child (using </a:t>
            </a:r>
            <a:r>
              <a:rPr lang="en-US" dirty="0" smtClean="0">
                <a:latin typeface="Courier New"/>
                <a:cs typeface="Courier New"/>
              </a:rPr>
              <a:t>wait</a:t>
            </a:r>
            <a:r>
              <a:rPr lang="en-US" dirty="0" smtClean="0"/>
              <a:t> or </a:t>
            </a:r>
            <a:r>
              <a:rPr lang="en-US" dirty="0" err="1" smtClean="0">
                <a:latin typeface="Courier New"/>
                <a:cs typeface="Courier New"/>
              </a:rPr>
              <a:t>waitpid</a:t>
            </a:r>
            <a:r>
              <a:rPr lang="en-US" dirty="0" smtClean="0"/>
              <a:t>)</a:t>
            </a:r>
          </a:p>
          <a:p>
            <a:pPr lvl="1"/>
            <a:r>
              <a:rPr lang="en-US" dirty="0"/>
              <a:t>Parent is given exit status information</a:t>
            </a:r>
          </a:p>
          <a:p>
            <a:pPr lvl="1"/>
            <a:r>
              <a:rPr lang="en-US" dirty="0"/>
              <a:t>Kernel </a:t>
            </a:r>
            <a:r>
              <a:rPr lang="en-US" dirty="0" smtClean="0"/>
              <a:t>then deletes zombie child process</a:t>
            </a:r>
            <a:endParaRPr lang="en-US" dirty="0"/>
          </a:p>
          <a:p>
            <a:r>
              <a:rPr lang="en-US" dirty="0"/>
              <a:t>What if </a:t>
            </a:r>
            <a:r>
              <a:rPr lang="en-US" dirty="0" smtClean="0"/>
              <a:t>parent doesn’t reap</a:t>
            </a:r>
            <a:r>
              <a:rPr lang="en-US" dirty="0"/>
              <a:t>?</a:t>
            </a:r>
          </a:p>
          <a:p>
            <a:pPr lvl="1"/>
            <a:r>
              <a:rPr lang="en-US" dirty="0"/>
              <a:t>I</a:t>
            </a:r>
            <a:r>
              <a:rPr lang="en-US" dirty="0" smtClean="0"/>
              <a:t>f </a:t>
            </a:r>
            <a:r>
              <a:rPr lang="en-US" dirty="0"/>
              <a:t>any parent terminates without reaping a child, </a:t>
            </a:r>
            <a:r>
              <a:rPr lang="en-US" dirty="0" smtClean="0"/>
              <a:t>then the orphaned child </a:t>
            </a:r>
            <a:r>
              <a:rPr lang="en-US" dirty="0"/>
              <a:t>will be reaped by </a:t>
            </a:r>
            <a:r>
              <a:rPr lang="en-US" b="1" dirty="0">
                <a:latin typeface="Courier New" pitchFamily="49" charset="0"/>
              </a:rPr>
              <a:t>init</a:t>
            </a:r>
            <a:r>
              <a:rPr lang="en-US" dirty="0"/>
              <a:t> </a:t>
            </a:r>
            <a:r>
              <a:rPr lang="en-US" dirty="0" smtClean="0"/>
              <a:t>process (</a:t>
            </a:r>
            <a:r>
              <a:rPr lang="en-US" dirty="0" err="1" smtClean="0"/>
              <a:t>pid</a:t>
            </a:r>
            <a:r>
              <a:rPr lang="en-US" dirty="0" smtClean="0"/>
              <a:t> == 1)</a:t>
            </a:r>
          </a:p>
          <a:p>
            <a:pPr lvl="1"/>
            <a:r>
              <a:rPr lang="en-US" dirty="0"/>
              <a:t>S</a:t>
            </a:r>
            <a:r>
              <a:rPr lang="en-US" dirty="0" smtClean="0"/>
              <a:t>o</a:t>
            </a:r>
            <a:r>
              <a:rPr lang="en-US" dirty="0"/>
              <a:t>, only need explicit reaping in long-running processes</a:t>
            </a:r>
          </a:p>
          <a:p>
            <a:pPr lvl="2"/>
            <a:r>
              <a:rPr lang="en-US" dirty="0"/>
              <a:t>e.g., shells and servers</a:t>
            </a:r>
          </a:p>
        </p:txBody>
      </p:sp>
    </p:spTree>
    <p:extLst>
      <p:ext uri="{BB962C8B-B14F-4D97-AF65-F5344CB8AC3E}">
        <p14:creationId xmlns:p14="http://schemas.microsoft.com/office/powerpoint/2010/main" val="422494110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664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664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9664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664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9664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9664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664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9664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Text Box 2"/>
          <p:cNvSpPr txBox="1">
            <a:spLocks noChangeArrowheads="1"/>
          </p:cNvSpPr>
          <p:nvPr/>
        </p:nvSpPr>
        <p:spPr bwMode="auto">
          <a:xfrm>
            <a:off x="152400" y="2438400"/>
            <a:ext cx="4998484" cy="2554545"/>
          </a:xfrm>
          <a:prstGeom prst="rect">
            <a:avLst/>
          </a:prstGeom>
          <a:solidFill>
            <a:srgbClr val="DDDDDD"/>
          </a:solidFill>
          <a:ln w="3175">
            <a:noFill/>
            <a:miter lim="800000"/>
            <a:headEnd/>
            <a:tailEnd/>
          </a:ln>
          <a:effectLst/>
        </p:spPr>
        <p:txBody>
          <a:bodyPr wrap="none">
            <a:spAutoFit/>
          </a:bodyPr>
          <a:lstStyle/>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a:latin typeface="Courier New" pitchFamily="49" charset="0"/>
              </a:rPr>
              <a:t>./forks 7 &amp;</a:t>
            </a:r>
          </a:p>
          <a:p>
            <a:pPr algn="l">
              <a:lnSpc>
                <a:spcPct val="100000"/>
              </a:lnSpc>
            </a:pPr>
            <a:r>
              <a:rPr lang="en-US" sz="1600" dirty="0">
                <a:latin typeface="Courier New" pitchFamily="49" charset="0"/>
              </a:rPr>
              <a:t>[1] 6639</a:t>
            </a:r>
          </a:p>
          <a:p>
            <a:pPr algn="l">
              <a:lnSpc>
                <a:spcPct val="100000"/>
              </a:lnSpc>
            </a:pPr>
            <a:r>
              <a:rPr lang="en-US" sz="1600" dirty="0">
                <a:latin typeface="Courier New" pitchFamily="49" charset="0"/>
              </a:rPr>
              <a:t>Running Parent, PID = 6639</a:t>
            </a:r>
          </a:p>
          <a:p>
            <a:pPr algn="l">
              <a:lnSpc>
                <a:spcPct val="100000"/>
              </a:lnSpc>
            </a:pPr>
            <a:r>
              <a:rPr lang="en-US" sz="1600" dirty="0">
                <a:latin typeface="Courier New" pitchFamily="49" charset="0"/>
              </a:rPr>
              <a:t>Terminating Child, PID = 6640</a:t>
            </a:r>
          </a:p>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err="1">
                <a:latin typeface="Courier New" pitchFamily="49" charset="0"/>
              </a:rPr>
              <a:t>ps</a:t>
            </a:r>
            <a:endParaRPr lang="en-US" sz="1600" i="1" dirty="0">
              <a:latin typeface="Courier New" pitchFamily="49" charset="0"/>
            </a:endParaRPr>
          </a:p>
          <a:p>
            <a:pPr algn="l">
              <a:lnSpc>
                <a:spcPct val="100000"/>
              </a:lnSpc>
            </a:pPr>
            <a:r>
              <a:rPr lang="en-US" sz="1600" dirty="0">
                <a:latin typeface="Courier New" pitchFamily="49" charset="0"/>
              </a:rPr>
              <a:t>  PID TTY          TIME CMD</a:t>
            </a:r>
          </a:p>
          <a:p>
            <a:pPr algn="l">
              <a:lnSpc>
                <a:spcPct val="100000"/>
              </a:lnSpc>
            </a:pPr>
            <a:r>
              <a:rPr lang="en-US" sz="1600" dirty="0">
                <a:latin typeface="Courier New" pitchFamily="49" charset="0"/>
              </a:rPr>
              <a:t> 6585 ttyp9    00:00:00 </a:t>
            </a:r>
            <a:r>
              <a:rPr lang="en-US" sz="1600" dirty="0" err="1">
                <a:latin typeface="Courier New" pitchFamily="49" charset="0"/>
              </a:rPr>
              <a:t>tcsh</a:t>
            </a:r>
            <a:endParaRPr lang="en-US" sz="1600" dirty="0">
              <a:latin typeface="Courier New" pitchFamily="49" charset="0"/>
            </a:endParaRPr>
          </a:p>
          <a:p>
            <a:pPr algn="l">
              <a:lnSpc>
                <a:spcPct val="100000"/>
              </a:lnSpc>
            </a:pPr>
            <a:r>
              <a:rPr lang="en-US" sz="1600" dirty="0">
                <a:latin typeface="Courier New" pitchFamily="49" charset="0"/>
              </a:rPr>
              <a:t> 6639 ttyp9    00:00:03 forks</a:t>
            </a:r>
          </a:p>
          <a:p>
            <a:pPr algn="l">
              <a:lnSpc>
                <a:spcPct val="100000"/>
              </a:lnSpc>
            </a:pPr>
            <a:r>
              <a:rPr lang="en-US" sz="1600" dirty="0">
                <a:latin typeface="Courier New" pitchFamily="49" charset="0"/>
              </a:rPr>
              <a:t> 6640 ttyp9    00:00:00 forks &lt;defunct&gt;</a:t>
            </a:r>
          </a:p>
          <a:p>
            <a:pPr algn="l">
              <a:lnSpc>
                <a:spcPct val="100000"/>
              </a:lnSpc>
            </a:pPr>
            <a:r>
              <a:rPr lang="en-US" sz="1600" dirty="0">
                <a:latin typeface="Courier New" pitchFamily="49" charset="0"/>
              </a:rPr>
              <a:t> 6641 ttyp9    00:00:00 </a:t>
            </a:r>
            <a:r>
              <a:rPr lang="en-US" sz="1600" dirty="0" err="1" smtClean="0">
                <a:latin typeface="Courier New" pitchFamily="49" charset="0"/>
              </a:rPr>
              <a:t>ps</a:t>
            </a:r>
            <a:endParaRPr lang="en-US" sz="1600" dirty="0">
              <a:latin typeface="Courier New" pitchFamily="49" charset="0"/>
            </a:endParaRPr>
          </a:p>
        </p:txBody>
      </p:sp>
      <p:sp>
        <p:nvSpPr>
          <p:cNvPr id="497667" name="Rectangle 3"/>
          <p:cNvSpPr>
            <a:spLocks noGrp="1" noChangeArrowheads="1"/>
          </p:cNvSpPr>
          <p:nvPr>
            <p:ph type="title"/>
          </p:nvPr>
        </p:nvSpPr>
        <p:spPr>
          <a:xfrm>
            <a:off x="381000" y="504825"/>
            <a:ext cx="2006600" cy="1095375"/>
          </a:xfrm>
        </p:spPr>
        <p:txBody>
          <a:bodyPr/>
          <a:lstStyle/>
          <a:p>
            <a:pPr marL="0" indent="0"/>
            <a:r>
              <a:rPr lang="en-US" dirty="0"/>
              <a:t>Zombie</a:t>
            </a:r>
            <a:br>
              <a:rPr lang="en-US" dirty="0"/>
            </a:br>
            <a:r>
              <a:rPr lang="en-US" dirty="0"/>
              <a:t>Example</a:t>
            </a:r>
          </a:p>
        </p:txBody>
      </p:sp>
      <p:sp>
        <p:nvSpPr>
          <p:cNvPr id="6" name="Rectangle 3"/>
          <p:cNvSpPr>
            <a:spLocks noChangeArrowheads="1"/>
          </p:cNvSpPr>
          <p:nvPr/>
        </p:nvSpPr>
        <p:spPr bwMode="auto">
          <a:xfrm>
            <a:off x="7796007" y="2586714"/>
            <a:ext cx="1205816"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forks.c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12" name="Text Box 2"/>
          <p:cNvSpPr txBox="1">
            <a:spLocks noChangeArrowheads="1"/>
          </p:cNvSpPr>
          <p:nvPr/>
        </p:nvSpPr>
        <p:spPr bwMode="auto">
          <a:xfrm>
            <a:off x="152400" y="2438400"/>
            <a:ext cx="3764172" cy="1077218"/>
          </a:xfrm>
          <a:prstGeom prst="rect">
            <a:avLst/>
          </a:prstGeom>
          <a:solidFill>
            <a:srgbClr val="DDDDDD"/>
          </a:solidFill>
          <a:ln w="3175">
            <a:noFill/>
            <a:miter lim="800000"/>
            <a:headEnd/>
            <a:tailEnd/>
          </a:ln>
          <a:effectLst/>
        </p:spPr>
        <p:txBody>
          <a:bodyPr wrap="none">
            <a:spAutoFit/>
          </a:bodyPr>
          <a:lstStyle/>
          <a:p>
            <a:pPr algn="l">
              <a:lnSpc>
                <a:spcPct val="100000"/>
              </a:lnSpc>
            </a:pPr>
            <a:r>
              <a:rPr lang="en-US" sz="1600" dirty="0" err="1" smtClean="0">
                <a:latin typeface="Courier New" pitchFamily="49" charset="0"/>
              </a:rPr>
              <a:t>linux</a:t>
            </a:r>
            <a:r>
              <a:rPr lang="en-US" sz="1600" dirty="0" smtClean="0">
                <a:latin typeface="Courier New" pitchFamily="49" charset="0"/>
              </a:rPr>
              <a:t>&gt; </a:t>
            </a:r>
            <a:r>
              <a:rPr lang="en-US" sz="1600" i="1" dirty="0" smtClean="0">
                <a:latin typeface="Courier New" pitchFamily="49" charset="0"/>
              </a:rPr>
              <a:t>./forks 7 &amp;</a:t>
            </a:r>
            <a:endParaRPr lang="en-US" sz="1600" i="1" dirty="0">
              <a:latin typeface="Courier New" pitchFamily="49" charset="0"/>
            </a:endParaRPr>
          </a:p>
          <a:p>
            <a:pPr algn="l">
              <a:lnSpc>
                <a:spcPct val="100000"/>
              </a:lnSpc>
            </a:pPr>
            <a:r>
              <a:rPr lang="en-US" sz="1600" dirty="0">
                <a:latin typeface="Courier New" pitchFamily="49" charset="0"/>
              </a:rPr>
              <a:t>[1] 6639</a:t>
            </a:r>
          </a:p>
          <a:p>
            <a:pPr algn="l">
              <a:lnSpc>
                <a:spcPct val="100000"/>
              </a:lnSpc>
            </a:pPr>
            <a:r>
              <a:rPr lang="en-US" sz="1600" dirty="0">
                <a:latin typeface="Courier New" pitchFamily="49" charset="0"/>
              </a:rPr>
              <a:t>Running Parent, PID = 6639</a:t>
            </a:r>
          </a:p>
          <a:p>
            <a:pPr algn="l">
              <a:lnSpc>
                <a:spcPct val="100000"/>
              </a:lnSpc>
            </a:pPr>
            <a:r>
              <a:rPr lang="en-US" sz="1600" dirty="0">
                <a:latin typeface="Courier New" pitchFamily="49" charset="0"/>
              </a:rPr>
              <a:t>Terminating Child, PID = </a:t>
            </a:r>
            <a:r>
              <a:rPr lang="en-US" sz="1600" dirty="0" smtClean="0">
                <a:latin typeface="Courier New" pitchFamily="49" charset="0"/>
              </a:rPr>
              <a:t>6640</a:t>
            </a:r>
            <a:endParaRPr lang="en-US" sz="1600" dirty="0">
              <a:latin typeface="Courier New" pitchFamily="49" charset="0"/>
            </a:endParaRPr>
          </a:p>
        </p:txBody>
      </p:sp>
      <p:sp>
        <p:nvSpPr>
          <p:cNvPr id="13" name="Text Box 2"/>
          <p:cNvSpPr txBox="1">
            <a:spLocks noChangeArrowheads="1"/>
          </p:cNvSpPr>
          <p:nvPr/>
        </p:nvSpPr>
        <p:spPr bwMode="auto">
          <a:xfrm>
            <a:off x="152400" y="2438400"/>
            <a:ext cx="4998484" cy="4003675"/>
          </a:xfrm>
          <a:prstGeom prst="rect">
            <a:avLst/>
          </a:prstGeom>
          <a:solidFill>
            <a:srgbClr val="DDDDDD"/>
          </a:solidFill>
          <a:ln w="3175">
            <a:noFill/>
            <a:miter lim="800000"/>
            <a:headEnd/>
            <a:tailEnd/>
          </a:ln>
          <a:effectLst/>
        </p:spPr>
        <p:txBody>
          <a:bodyPr wrap="square">
            <a:spAutoFit/>
          </a:bodyPr>
          <a:lstStyle/>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a:latin typeface="Courier New" pitchFamily="49" charset="0"/>
              </a:rPr>
              <a:t>./forks 7 &amp;</a:t>
            </a:r>
          </a:p>
          <a:p>
            <a:pPr algn="l">
              <a:lnSpc>
                <a:spcPct val="100000"/>
              </a:lnSpc>
            </a:pPr>
            <a:r>
              <a:rPr lang="en-US" sz="1600" dirty="0">
                <a:latin typeface="Courier New" pitchFamily="49" charset="0"/>
              </a:rPr>
              <a:t>[1] 6639</a:t>
            </a:r>
          </a:p>
          <a:p>
            <a:pPr algn="l">
              <a:lnSpc>
                <a:spcPct val="100000"/>
              </a:lnSpc>
            </a:pPr>
            <a:r>
              <a:rPr lang="en-US" sz="1600" dirty="0">
                <a:latin typeface="Courier New" pitchFamily="49" charset="0"/>
              </a:rPr>
              <a:t>Running Parent, PID = 6639</a:t>
            </a:r>
          </a:p>
          <a:p>
            <a:pPr algn="l">
              <a:lnSpc>
                <a:spcPct val="100000"/>
              </a:lnSpc>
            </a:pPr>
            <a:r>
              <a:rPr lang="en-US" sz="1600" dirty="0">
                <a:latin typeface="Courier New" pitchFamily="49" charset="0"/>
              </a:rPr>
              <a:t>Terminating Child, PID = 6640</a:t>
            </a:r>
          </a:p>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err="1">
                <a:latin typeface="Courier New" pitchFamily="49" charset="0"/>
              </a:rPr>
              <a:t>ps</a:t>
            </a:r>
            <a:endParaRPr lang="en-US" sz="1600" i="1" dirty="0">
              <a:latin typeface="Courier New" pitchFamily="49" charset="0"/>
            </a:endParaRPr>
          </a:p>
          <a:p>
            <a:pPr algn="l">
              <a:lnSpc>
                <a:spcPct val="100000"/>
              </a:lnSpc>
            </a:pPr>
            <a:r>
              <a:rPr lang="en-US" sz="1600" dirty="0">
                <a:latin typeface="Courier New" pitchFamily="49" charset="0"/>
              </a:rPr>
              <a:t>  PID TTY          TIME CMD</a:t>
            </a:r>
          </a:p>
          <a:p>
            <a:pPr algn="l">
              <a:lnSpc>
                <a:spcPct val="100000"/>
              </a:lnSpc>
            </a:pPr>
            <a:r>
              <a:rPr lang="en-US" sz="1600" dirty="0">
                <a:latin typeface="Courier New" pitchFamily="49" charset="0"/>
              </a:rPr>
              <a:t> 6585 ttyp9    00:00:00 </a:t>
            </a:r>
            <a:r>
              <a:rPr lang="en-US" sz="1600" dirty="0" err="1">
                <a:latin typeface="Courier New" pitchFamily="49" charset="0"/>
              </a:rPr>
              <a:t>tcsh</a:t>
            </a:r>
            <a:endParaRPr lang="en-US" sz="1600" dirty="0">
              <a:latin typeface="Courier New" pitchFamily="49" charset="0"/>
            </a:endParaRPr>
          </a:p>
          <a:p>
            <a:pPr algn="l">
              <a:lnSpc>
                <a:spcPct val="100000"/>
              </a:lnSpc>
            </a:pPr>
            <a:r>
              <a:rPr lang="en-US" sz="1600" dirty="0">
                <a:latin typeface="Courier New" pitchFamily="49" charset="0"/>
              </a:rPr>
              <a:t> 6639 ttyp9    00:00:03 forks</a:t>
            </a:r>
          </a:p>
          <a:p>
            <a:pPr algn="l">
              <a:lnSpc>
                <a:spcPct val="100000"/>
              </a:lnSpc>
            </a:pPr>
            <a:r>
              <a:rPr lang="en-US" sz="1600" dirty="0">
                <a:latin typeface="Courier New" pitchFamily="49" charset="0"/>
              </a:rPr>
              <a:t> 6640 ttyp9    00:00:00 forks &lt;defunct&gt;</a:t>
            </a:r>
          </a:p>
          <a:p>
            <a:pPr algn="l">
              <a:lnSpc>
                <a:spcPct val="100000"/>
              </a:lnSpc>
            </a:pPr>
            <a:r>
              <a:rPr lang="en-US" sz="1600" dirty="0">
                <a:latin typeface="Courier New" pitchFamily="49" charset="0"/>
              </a:rPr>
              <a:t> 6641 ttyp9    00:00:00 </a:t>
            </a:r>
            <a:r>
              <a:rPr lang="en-US" sz="1600" dirty="0" err="1">
                <a:latin typeface="Courier New" pitchFamily="49" charset="0"/>
              </a:rPr>
              <a:t>ps</a:t>
            </a:r>
            <a:endParaRPr lang="en-US" sz="1600" dirty="0">
              <a:latin typeface="Courier New" pitchFamily="49" charset="0"/>
            </a:endParaRPr>
          </a:p>
          <a:p>
            <a:pPr algn="l">
              <a:lnSpc>
                <a:spcPct val="100000"/>
              </a:lnSpc>
            </a:pPr>
            <a:r>
              <a:rPr lang="en-US" sz="1600" dirty="0" err="1">
                <a:latin typeface="Courier New" pitchFamily="49" charset="0"/>
              </a:rPr>
              <a:t>linux</a:t>
            </a:r>
            <a:r>
              <a:rPr lang="en-US" sz="1600" dirty="0">
                <a:latin typeface="Courier New" pitchFamily="49" charset="0"/>
              </a:rPr>
              <a:t>&gt;</a:t>
            </a:r>
            <a:r>
              <a:rPr lang="en-US" sz="1600" i="1" dirty="0">
                <a:latin typeface="Courier New" pitchFamily="49" charset="0"/>
              </a:rPr>
              <a:t> kill 6639</a:t>
            </a:r>
          </a:p>
          <a:p>
            <a:pPr algn="l">
              <a:lnSpc>
                <a:spcPct val="100000"/>
              </a:lnSpc>
            </a:pPr>
            <a:r>
              <a:rPr lang="en-US" sz="1600" dirty="0">
                <a:latin typeface="Courier New" pitchFamily="49" charset="0"/>
              </a:rPr>
              <a:t>[1]    Terminated</a:t>
            </a:r>
          </a:p>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err="1">
                <a:latin typeface="Courier New" pitchFamily="49" charset="0"/>
              </a:rPr>
              <a:t>ps</a:t>
            </a:r>
            <a:endParaRPr lang="en-US" sz="1600" i="1" dirty="0">
              <a:latin typeface="Courier New" pitchFamily="49" charset="0"/>
            </a:endParaRPr>
          </a:p>
          <a:p>
            <a:pPr algn="l">
              <a:lnSpc>
                <a:spcPct val="100000"/>
              </a:lnSpc>
            </a:pPr>
            <a:r>
              <a:rPr lang="en-US" sz="1600" dirty="0">
                <a:latin typeface="Courier New" pitchFamily="49" charset="0"/>
              </a:rPr>
              <a:t>  PID TTY          TIME CMD</a:t>
            </a:r>
          </a:p>
          <a:p>
            <a:pPr algn="l">
              <a:lnSpc>
                <a:spcPct val="100000"/>
              </a:lnSpc>
            </a:pPr>
            <a:r>
              <a:rPr lang="en-US" sz="1600" dirty="0">
                <a:latin typeface="Courier New" pitchFamily="49" charset="0"/>
              </a:rPr>
              <a:t> 6585 ttyp9    00:00:00 </a:t>
            </a:r>
            <a:r>
              <a:rPr lang="en-US" sz="1600" dirty="0" err="1">
                <a:latin typeface="Courier New" pitchFamily="49" charset="0"/>
              </a:rPr>
              <a:t>tcsh</a:t>
            </a:r>
            <a:endParaRPr lang="en-US" sz="1600" dirty="0">
              <a:latin typeface="Courier New" pitchFamily="49" charset="0"/>
            </a:endParaRPr>
          </a:p>
          <a:p>
            <a:pPr algn="l">
              <a:lnSpc>
                <a:spcPct val="100000"/>
              </a:lnSpc>
            </a:pPr>
            <a:r>
              <a:rPr lang="en-US" sz="1600" dirty="0">
                <a:latin typeface="Courier New" pitchFamily="49" charset="0"/>
              </a:rPr>
              <a:t> 6642 ttyp9    00:00:00 </a:t>
            </a:r>
            <a:r>
              <a:rPr lang="en-US" sz="1600" dirty="0" err="1">
                <a:latin typeface="Courier New" pitchFamily="49" charset="0"/>
              </a:rPr>
              <a:t>ps</a:t>
            </a:r>
            <a:endParaRPr lang="en-US" sz="1600" dirty="0">
              <a:latin typeface="Courier New" pitchFamily="49" charset="0"/>
            </a:endParaRPr>
          </a:p>
        </p:txBody>
      </p:sp>
      <p:sp>
        <p:nvSpPr>
          <p:cNvPr id="497668" name="Rectangle 4"/>
          <p:cNvSpPr>
            <a:spLocks noGrp="1" noChangeArrowheads="1"/>
          </p:cNvSpPr>
          <p:nvPr>
            <p:ph type="body" idx="1"/>
          </p:nvPr>
        </p:nvSpPr>
        <p:spPr>
          <a:xfrm>
            <a:off x="5638800" y="3994150"/>
            <a:ext cx="3505200" cy="2635250"/>
          </a:xfrm>
        </p:spPr>
        <p:txBody>
          <a:bodyPr/>
          <a:lstStyle/>
          <a:p>
            <a:r>
              <a:rPr lang="en-US" sz="2000" dirty="0" err="1">
                <a:latin typeface="Courier New" pitchFamily="49" charset="0"/>
              </a:rPr>
              <a:t>ps</a:t>
            </a:r>
            <a:r>
              <a:rPr lang="en-US" sz="2000" b="0" dirty="0"/>
              <a:t> shows child process as “defunct</a:t>
            </a:r>
            <a:r>
              <a:rPr lang="en-US" sz="2000" b="0" dirty="0" smtClean="0"/>
              <a:t>” (i.e., a zombie)</a:t>
            </a:r>
            <a:endParaRPr lang="en-US" sz="2000" b="0" dirty="0"/>
          </a:p>
          <a:p>
            <a:endParaRPr lang="en-US" sz="2000" b="0" dirty="0" smtClean="0"/>
          </a:p>
          <a:p>
            <a:r>
              <a:rPr lang="en-US" sz="2000" b="0" dirty="0" smtClean="0"/>
              <a:t>Killing </a:t>
            </a:r>
            <a:r>
              <a:rPr lang="en-US" sz="2000" b="0" dirty="0"/>
              <a:t>parent allows child to be reaped by </a:t>
            </a:r>
            <a:r>
              <a:rPr lang="en-US" sz="2000" dirty="0" smtClean="0">
                <a:latin typeface="Courier New" pitchFamily="49" charset="0"/>
              </a:rPr>
              <a:t>init</a:t>
            </a:r>
            <a:endParaRPr lang="en-US" sz="2000" dirty="0">
              <a:latin typeface="Courier New" pitchFamily="49" charset="0"/>
            </a:endParaRPr>
          </a:p>
        </p:txBody>
      </p:sp>
      <p:cxnSp>
        <p:nvCxnSpPr>
          <p:cNvPr id="3" name="Straight Arrow Connector 2"/>
          <p:cNvCxnSpPr/>
          <p:nvPr/>
        </p:nvCxnSpPr>
        <p:spPr bwMode="auto">
          <a:xfrm flipH="1">
            <a:off x="5067300" y="4419600"/>
            <a:ext cx="800101" cy="152400"/>
          </a:xfrm>
          <a:prstGeom prst="straightConnector1">
            <a:avLst/>
          </a:prstGeom>
          <a:noFill/>
          <a:ln w="38100" cap="flat" cmpd="sng" algn="ctr">
            <a:solidFill>
              <a:srgbClr val="FF0000"/>
            </a:solidFill>
            <a:prstDash val="solid"/>
            <a:round/>
            <a:headEnd type="none" w="med" len="med"/>
            <a:tailEnd type="arrow"/>
          </a:ln>
          <a:effectLst/>
        </p:spPr>
      </p:cxnSp>
      <p:grpSp>
        <p:nvGrpSpPr>
          <p:cNvPr id="11" name="Group 10"/>
          <p:cNvGrpSpPr/>
          <p:nvPr/>
        </p:nvGrpSpPr>
        <p:grpSpPr>
          <a:xfrm>
            <a:off x="3733800" y="5410200"/>
            <a:ext cx="2041080" cy="914400"/>
            <a:chOff x="3733800" y="5410200"/>
            <a:chExt cx="2041080" cy="914400"/>
          </a:xfrm>
        </p:grpSpPr>
        <p:cxnSp>
          <p:nvCxnSpPr>
            <p:cNvPr id="5" name="Straight Arrow Connector 4"/>
            <p:cNvCxnSpPr/>
            <p:nvPr/>
          </p:nvCxnSpPr>
          <p:spPr bwMode="auto">
            <a:xfrm flipH="1">
              <a:off x="4038600" y="5410200"/>
              <a:ext cx="1736280" cy="723900"/>
            </a:xfrm>
            <a:prstGeom prst="straightConnector1">
              <a:avLst/>
            </a:prstGeom>
            <a:noFill/>
            <a:ln w="38100" cap="flat" cmpd="sng" algn="ctr">
              <a:solidFill>
                <a:srgbClr val="FF0000"/>
              </a:solidFill>
              <a:prstDash val="solid"/>
              <a:round/>
              <a:headEnd type="none" w="med" len="med"/>
              <a:tailEnd type="arrow"/>
            </a:ln>
            <a:effectLst/>
          </p:spPr>
        </p:cxnSp>
        <p:sp>
          <p:nvSpPr>
            <p:cNvPr id="9" name="Right Brace 8"/>
            <p:cNvSpPr/>
            <p:nvPr/>
          </p:nvSpPr>
          <p:spPr bwMode="auto">
            <a:xfrm>
              <a:off x="3733800" y="5943600"/>
              <a:ext cx="228600" cy="381000"/>
            </a:xfrm>
            <a:prstGeom prst="rightBrace">
              <a:avLst/>
            </a:prstGeom>
            <a:noFill/>
            <a:ln w="25400" cap="flat" cmpd="sng" algn="ctr">
              <a:solidFill>
                <a:srgbClr val="FF0000"/>
              </a:solidFill>
              <a:prstDash val="solid"/>
              <a:round/>
              <a:headEnd type="none" w="med" len="med"/>
              <a:tailEnd type="none" w="med" len="med"/>
            </a:ln>
            <a:effectLst/>
          </p:spPr>
          <p:txBody>
            <a:bodyPr rtlCol="0" anchor="ctr"/>
            <a:lstStyle/>
            <a:p>
              <a:pPr algn="ctr"/>
              <a:endParaRPr lang="en-US"/>
            </a:p>
          </p:txBody>
        </p:sp>
      </p:grpSp>
      <p:sp>
        <p:nvSpPr>
          <p:cNvPr id="497669" name="Text Box 5"/>
          <p:cNvSpPr txBox="1">
            <a:spLocks noChangeArrowheads="1"/>
          </p:cNvSpPr>
          <p:nvPr/>
        </p:nvSpPr>
        <p:spPr bwMode="auto">
          <a:xfrm>
            <a:off x="2547938" y="482164"/>
            <a:ext cx="6453885" cy="2462213"/>
          </a:xfrm>
          <a:prstGeom prst="rect">
            <a:avLst/>
          </a:prstGeom>
          <a:solidFill>
            <a:srgbClr val="F6F5BD"/>
          </a:solidFill>
          <a:ln w="3175">
            <a:solidFill>
              <a:schemeClr val="tx1"/>
            </a:solidFill>
            <a:miter lim="800000"/>
            <a:headEnd/>
            <a:tailEnd/>
          </a:ln>
          <a:effectLst/>
        </p:spPr>
        <p:txBody>
          <a:bodyPr wrap="none">
            <a:spAutoFit/>
          </a:bodyPr>
          <a:lstStyle/>
          <a:p>
            <a:r>
              <a:rPr lang="en-US" sz="1400" dirty="0">
                <a:solidFill>
                  <a:srgbClr val="2D961E"/>
                </a:solidFill>
                <a:latin typeface="Courier New"/>
                <a:cs typeface="Courier New"/>
              </a:rPr>
              <a:t>void</a:t>
            </a:r>
            <a:r>
              <a:rPr lang="en-US" sz="1400" dirty="0">
                <a:solidFill>
                  <a:srgbClr val="000000"/>
                </a:solidFill>
                <a:latin typeface="Courier New"/>
                <a:cs typeface="Courier New"/>
              </a:rPr>
              <a:t> </a:t>
            </a:r>
            <a:r>
              <a:rPr lang="en-US" sz="1400" dirty="0">
                <a:solidFill>
                  <a:srgbClr val="4A00FF"/>
                </a:solidFill>
                <a:latin typeface="Courier New"/>
                <a:cs typeface="Courier New"/>
              </a:rPr>
              <a:t>fork7</a:t>
            </a:r>
            <a:r>
              <a:rPr lang="en-US" sz="1400" dirty="0">
                <a:solidFill>
                  <a:srgbClr val="000000"/>
                </a:solidFill>
                <a:latin typeface="Courier New"/>
                <a:cs typeface="Courier New"/>
              </a:rPr>
              <a:t>(</a:t>
            </a:r>
            <a:r>
              <a:rPr lang="en-US" sz="1400" dirty="0" smtClean="0">
                <a:solidFill>
                  <a:srgbClr val="000000"/>
                </a:solidFill>
                <a:latin typeface="Courier New"/>
                <a:cs typeface="Courier New"/>
              </a:rPr>
              <a:t>) {</a:t>
            </a:r>
            <a:endParaRPr lang="en-US" sz="1400" dirty="0">
              <a:solidFill>
                <a:srgbClr val="000000"/>
              </a:solidFill>
              <a:latin typeface="Courier New"/>
              <a:cs typeface="Courier New"/>
            </a:endParaRPr>
          </a:p>
          <a:p>
            <a:r>
              <a:rPr lang="en-US" sz="1400" dirty="0">
                <a:solidFill>
                  <a:srgbClr val="000000"/>
                </a:solidFill>
                <a:latin typeface="Courier New"/>
                <a:cs typeface="Courier New"/>
              </a:rPr>
              <a:t>    </a:t>
            </a:r>
            <a:r>
              <a:rPr lang="en-US" sz="1400" dirty="0">
                <a:solidFill>
                  <a:srgbClr val="C200FF"/>
                </a:solidFill>
                <a:latin typeface="Courier New"/>
                <a:cs typeface="Courier New"/>
              </a:rPr>
              <a:t>if</a:t>
            </a:r>
            <a:r>
              <a:rPr lang="en-US" sz="1400" dirty="0">
                <a:solidFill>
                  <a:srgbClr val="000000"/>
                </a:solidFill>
                <a:latin typeface="Courier New"/>
                <a:cs typeface="Courier New"/>
              </a:rPr>
              <a:t> (fork() == 0) {</a:t>
            </a:r>
          </a:p>
          <a:p>
            <a:r>
              <a:rPr lang="en-US" sz="1400" dirty="0">
                <a:solidFill>
                  <a:srgbClr val="000000"/>
                </a:solidFill>
                <a:latin typeface="Courier New"/>
                <a:cs typeface="Courier New"/>
              </a:rPr>
              <a:t>        </a:t>
            </a:r>
            <a:r>
              <a:rPr lang="en-US" sz="1400" dirty="0">
                <a:solidFill>
                  <a:srgbClr val="CB2418"/>
                </a:solidFill>
                <a:latin typeface="Courier New"/>
                <a:cs typeface="Courier New"/>
              </a:rPr>
              <a:t>/* Child */</a:t>
            </a:r>
            <a:endParaRPr lang="en-US" sz="1400" dirty="0">
              <a:solidFill>
                <a:srgbClr val="000000"/>
              </a:solidFill>
              <a:latin typeface="Courier New"/>
              <a:cs typeface="Courier New"/>
            </a:endParaRPr>
          </a:p>
          <a:p>
            <a:r>
              <a:rPr lang="en-US" sz="1400" dirty="0">
                <a:solidFill>
                  <a:srgbClr val="000000"/>
                </a:solidFill>
                <a:latin typeface="Courier New"/>
                <a:cs typeface="Courier New"/>
              </a:rPr>
              <a:t>        </a:t>
            </a:r>
            <a:r>
              <a:rPr lang="en-US" sz="1400" dirty="0" err="1">
                <a:solidFill>
                  <a:srgbClr val="000000"/>
                </a:solidFill>
                <a:latin typeface="Courier New"/>
                <a:cs typeface="Courier New"/>
              </a:rPr>
              <a:t>printf</a:t>
            </a:r>
            <a:r>
              <a:rPr lang="en-US" sz="1400" dirty="0">
                <a:solidFill>
                  <a:srgbClr val="000000"/>
                </a:solidFill>
                <a:latin typeface="Courier New"/>
                <a:cs typeface="Courier New"/>
              </a:rPr>
              <a:t>(</a:t>
            </a:r>
            <a:r>
              <a:rPr lang="en-US" sz="1400" dirty="0">
                <a:solidFill>
                  <a:srgbClr val="9D206F"/>
                </a:solidFill>
                <a:latin typeface="Courier New"/>
                <a:cs typeface="Courier New"/>
              </a:rPr>
              <a:t>"Terminating Child, PID = %d\n"</a:t>
            </a:r>
            <a:r>
              <a:rPr lang="en-US" sz="1400" dirty="0">
                <a:solidFill>
                  <a:srgbClr val="000000"/>
                </a:solidFill>
                <a:latin typeface="Courier New"/>
                <a:cs typeface="Courier New"/>
              </a:rPr>
              <a:t>, </a:t>
            </a:r>
            <a:r>
              <a:rPr lang="en-US" sz="1400" dirty="0" err="1">
                <a:solidFill>
                  <a:srgbClr val="000000"/>
                </a:solidFill>
                <a:latin typeface="Courier New"/>
                <a:cs typeface="Courier New"/>
              </a:rPr>
              <a:t>getpid</a:t>
            </a:r>
            <a:r>
              <a:rPr lang="en-US" sz="1400" dirty="0">
                <a:solidFill>
                  <a:srgbClr val="000000"/>
                </a:solidFill>
                <a:latin typeface="Courier New"/>
                <a:cs typeface="Courier New"/>
              </a:rPr>
              <a:t>());</a:t>
            </a:r>
          </a:p>
          <a:p>
            <a:r>
              <a:rPr lang="en-US" sz="1400" dirty="0">
                <a:solidFill>
                  <a:srgbClr val="000000"/>
                </a:solidFill>
                <a:latin typeface="Courier New"/>
                <a:cs typeface="Courier New"/>
              </a:rPr>
              <a:t>        exit(0);</a:t>
            </a:r>
          </a:p>
          <a:p>
            <a:r>
              <a:rPr lang="da-DK" sz="1400" dirty="0">
                <a:solidFill>
                  <a:srgbClr val="000000"/>
                </a:solidFill>
                <a:latin typeface="Courier New"/>
                <a:cs typeface="Courier New"/>
              </a:rPr>
              <a:t>    } </a:t>
            </a:r>
            <a:r>
              <a:rPr lang="da-DK" sz="1400" dirty="0" err="1">
                <a:solidFill>
                  <a:srgbClr val="C200FF"/>
                </a:solidFill>
                <a:latin typeface="Courier New"/>
                <a:cs typeface="Courier New"/>
              </a:rPr>
              <a:t>else</a:t>
            </a:r>
            <a:r>
              <a:rPr lang="da-DK" sz="1400" dirty="0">
                <a:solidFill>
                  <a:srgbClr val="000000"/>
                </a:solidFill>
                <a:latin typeface="Courier New"/>
                <a:cs typeface="Courier New"/>
              </a:rPr>
              <a:t> {</a:t>
            </a:r>
          </a:p>
          <a:p>
            <a:r>
              <a:rPr lang="da-DK" sz="1400" dirty="0">
                <a:solidFill>
                  <a:srgbClr val="000000"/>
                </a:solidFill>
                <a:latin typeface="Courier New"/>
                <a:cs typeface="Courier New"/>
              </a:rPr>
              <a:t>        </a:t>
            </a:r>
            <a:r>
              <a:rPr lang="da-DK" sz="1400" dirty="0" err="1">
                <a:solidFill>
                  <a:srgbClr val="000000"/>
                </a:solidFill>
                <a:latin typeface="Courier New"/>
                <a:cs typeface="Courier New"/>
              </a:rPr>
              <a:t>printf</a:t>
            </a:r>
            <a:r>
              <a:rPr lang="da-DK" sz="1400" dirty="0">
                <a:solidFill>
                  <a:srgbClr val="000000"/>
                </a:solidFill>
                <a:latin typeface="Courier New"/>
                <a:cs typeface="Courier New"/>
              </a:rPr>
              <a:t>(</a:t>
            </a:r>
            <a:r>
              <a:rPr lang="da-DK" sz="1400" dirty="0">
                <a:solidFill>
                  <a:srgbClr val="9D206F"/>
                </a:solidFill>
                <a:latin typeface="Courier New"/>
                <a:cs typeface="Courier New"/>
              </a:rPr>
              <a:t>"</a:t>
            </a:r>
            <a:r>
              <a:rPr lang="da-DK" sz="1400" dirty="0" err="1">
                <a:solidFill>
                  <a:srgbClr val="9D206F"/>
                </a:solidFill>
                <a:latin typeface="Courier New"/>
                <a:cs typeface="Courier New"/>
              </a:rPr>
              <a:t>Running</a:t>
            </a:r>
            <a:r>
              <a:rPr lang="da-DK" sz="1400" dirty="0">
                <a:solidFill>
                  <a:srgbClr val="9D206F"/>
                </a:solidFill>
                <a:latin typeface="Courier New"/>
                <a:cs typeface="Courier New"/>
              </a:rPr>
              <a:t> </a:t>
            </a:r>
            <a:r>
              <a:rPr lang="da-DK" sz="1400" dirty="0" err="1">
                <a:solidFill>
                  <a:srgbClr val="9D206F"/>
                </a:solidFill>
                <a:latin typeface="Courier New"/>
                <a:cs typeface="Courier New"/>
              </a:rPr>
              <a:t>Parent</a:t>
            </a:r>
            <a:r>
              <a:rPr lang="da-DK" sz="1400" dirty="0">
                <a:solidFill>
                  <a:srgbClr val="9D206F"/>
                </a:solidFill>
                <a:latin typeface="Courier New"/>
                <a:cs typeface="Courier New"/>
              </a:rPr>
              <a:t>, PID = %d\n"</a:t>
            </a:r>
            <a:r>
              <a:rPr lang="da-DK" sz="1400" dirty="0">
                <a:solidFill>
                  <a:srgbClr val="000000"/>
                </a:solidFill>
                <a:latin typeface="Courier New"/>
                <a:cs typeface="Courier New"/>
              </a:rPr>
              <a:t>, </a:t>
            </a:r>
            <a:r>
              <a:rPr lang="da-DK" sz="1400" dirty="0" err="1">
                <a:solidFill>
                  <a:srgbClr val="000000"/>
                </a:solidFill>
                <a:latin typeface="Courier New"/>
                <a:cs typeface="Courier New"/>
              </a:rPr>
              <a:t>getpid</a:t>
            </a:r>
            <a:r>
              <a:rPr lang="da-DK" sz="1400" dirty="0">
                <a:solidFill>
                  <a:srgbClr val="000000"/>
                </a:solidFill>
                <a:latin typeface="Courier New"/>
                <a:cs typeface="Courier New"/>
              </a:rPr>
              <a:t>());</a:t>
            </a:r>
          </a:p>
          <a:p>
            <a:r>
              <a:rPr lang="en-US" sz="1400" dirty="0">
                <a:solidFill>
                  <a:srgbClr val="000000"/>
                </a:solidFill>
                <a:latin typeface="Courier New"/>
                <a:cs typeface="Courier New"/>
              </a:rPr>
              <a:t>        </a:t>
            </a:r>
            <a:r>
              <a:rPr lang="en-US" sz="1400" dirty="0">
                <a:solidFill>
                  <a:srgbClr val="C200FF"/>
                </a:solidFill>
                <a:latin typeface="Courier New"/>
                <a:cs typeface="Courier New"/>
              </a:rPr>
              <a:t>while</a:t>
            </a:r>
            <a:r>
              <a:rPr lang="en-US" sz="1400" dirty="0">
                <a:solidFill>
                  <a:srgbClr val="000000"/>
                </a:solidFill>
                <a:latin typeface="Courier New"/>
                <a:cs typeface="Courier New"/>
              </a:rPr>
              <a:t> (1)</a:t>
            </a:r>
          </a:p>
          <a:p>
            <a:r>
              <a:rPr lang="en-US" sz="1400" dirty="0">
                <a:solidFill>
                  <a:srgbClr val="000000"/>
                </a:solidFill>
                <a:latin typeface="Courier New"/>
                <a:cs typeface="Courier New"/>
              </a:rPr>
              <a:t>            ; </a:t>
            </a:r>
            <a:r>
              <a:rPr lang="en-US" sz="1400" dirty="0">
                <a:solidFill>
                  <a:srgbClr val="CB2418"/>
                </a:solidFill>
                <a:latin typeface="Courier New"/>
                <a:cs typeface="Courier New"/>
              </a:rPr>
              <a:t>/* Infinite loop */</a:t>
            </a:r>
            <a:endParaRPr lang="en-US" sz="1400" dirty="0">
              <a:solidFill>
                <a:srgbClr val="000000"/>
              </a:solidFill>
              <a:latin typeface="Courier New"/>
              <a:cs typeface="Courier New"/>
            </a:endParaRPr>
          </a:p>
          <a:p>
            <a:r>
              <a:rPr lang="en-US" sz="1400" dirty="0">
                <a:solidFill>
                  <a:srgbClr val="000000"/>
                </a:solidFill>
                <a:latin typeface="Courier New"/>
                <a:cs typeface="Courier New"/>
              </a:rPr>
              <a:t>    }</a:t>
            </a:r>
          </a:p>
          <a:p>
            <a:r>
              <a:rPr lang="en-US" sz="1400" dirty="0" smtClean="0">
                <a:solidFill>
                  <a:srgbClr val="000000"/>
                </a:solidFill>
                <a:latin typeface="Courier New"/>
                <a:cs typeface="Courier New"/>
              </a:rPr>
              <a:t>}</a:t>
            </a:r>
            <a:endParaRPr lang="en-US" sz="1400" dirty="0">
              <a:solidFill>
                <a:srgbClr val="000000"/>
              </a:solidFill>
              <a:latin typeface="Courier New"/>
              <a:cs typeface="Courier New"/>
            </a:endParaRPr>
          </a:p>
        </p:txBody>
      </p:sp>
    </p:spTree>
    <p:extLst>
      <p:ext uri="{BB962C8B-B14F-4D97-AF65-F5344CB8AC3E}">
        <p14:creationId xmlns:p14="http://schemas.microsoft.com/office/powerpoint/2010/main" val="394130392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766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7668">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7668">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7666" grpId="0" animBg="1"/>
      <p:bldP spid="12" grpId="0" animBg="1"/>
      <p:bldP spid="13"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Text Box 2"/>
          <p:cNvSpPr txBox="1">
            <a:spLocks noChangeArrowheads="1"/>
          </p:cNvSpPr>
          <p:nvPr/>
        </p:nvSpPr>
        <p:spPr bwMode="auto">
          <a:xfrm>
            <a:off x="228600" y="3352800"/>
            <a:ext cx="3887603" cy="830997"/>
          </a:xfrm>
          <a:prstGeom prst="rect">
            <a:avLst/>
          </a:prstGeom>
          <a:solidFill>
            <a:srgbClr val="DDDDDD"/>
          </a:solidFill>
          <a:ln w="3175">
            <a:noFill/>
            <a:miter lim="800000"/>
            <a:headEnd/>
            <a:tailEnd/>
          </a:ln>
          <a:effectLst/>
        </p:spPr>
        <p:txBody>
          <a:bodyPr wrap="none">
            <a:spAutoFit/>
          </a:bodyPr>
          <a:lstStyle/>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a:latin typeface="Courier New" pitchFamily="49" charset="0"/>
              </a:rPr>
              <a:t>./forks 8</a:t>
            </a:r>
          </a:p>
          <a:p>
            <a:pPr algn="l">
              <a:lnSpc>
                <a:spcPct val="100000"/>
              </a:lnSpc>
            </a:pPr>
            <a:r>
              <a:rPr lang="en-US" sz="1600" dirty="0">
                <a:latin typeface="Courier New" pitchFamily="49" charset="0"/>
              </a:rPr>
              <a:t>Terminating Parent, PID = 6675</a:t>
            </a:r>
          </a:p>
          <a:p>
            <a:pPr algn="l">
              <a:lnSpc>
                <a:spcPct val="100000"/>
              </a:lnSpc>
            </a:pPr>
            <a:r>
              <a:rPr lang="en-US" sz="1600" dirty="0">
                <a:latin typeface="Courier New" pitchFamily="49" charset="0"/>
              </a:rPr>
              <a:t>Running Child, PID = </a:t>
            </a:r>
            <a:r>
              <a:rPr lang="en-US" sz="1600" dirty="0" smtClean="0">
                <a:latin typeface="Courier New" pitchFamily="49" charset="0"/>
              </a:rPr>
              <a:t>6676</a:t>
            </a:r>
            <a:endParaRPr lang="en-US" sz="1600" dirty="0">
              <a:latin typeface="Courier New" pitchFamily="49" charset="0"/>
            </a:endParaRPr>
          </a:p>
        </p:txBody>
      </p:sp>
      <p:sp>
        <p:nvSpPr>
          <p:cNvPr id="498691" name="Rectangle 3"/>
          <p:cNvSpPr>
            <a:spLocks noGrp="1" noChangeArrowheads="1"/>
          </p:cNvSpPr>
          <p:nvPr>
            <p:ph type="title"/>
          </p:nvPr>
        </p:nvSpPr>
        <p:spPr>
          <a:xfrm>
            <a:off x="152400" y="304800"/>
            <a:ext cx="3657600" cy="1617663"/>
          </a:xfrm>
        </p:spPr>
        <p:txBody>
          <a:bodyPr/>
          <a:lstStyle/>
          <a:p>
            <a:pPr marL="0" indent="0"/>
            <a:r>
              <a:rPr lang="en-US" dirty="0" smtClean="0"/>
              <a:t>Non-</a:t>
            </a:r>
            <a:br>
              <a:rPr lang="en-US" dirty="0" smtClean="0"/>
            </a:br>
            <a:r>
              <a:rPr lang="en-US" dirty="0" smtClean="0"/>
              <a:t>terminating</a:t>
            </a:r>
            <a:r>
              <a:rPr lang="en-US" dirty="0"/>
              <a:t/>
            </a:r>
            <a:br>
              <a:rPr lang="en-US" dirty="0"/>
            </a:br>
            <a:r>
              <a:rPr lang="en-US" dirty="0" smtClean="0"/>
              <a:t>Child Example</a:t>
            </a:r>
            <a:endParaRPr lang="en-US" dirty="0"/>
          </a:p>
        </p:txBody>
      </p:sp>
      <p:sp>
        <p:nvSpPr>
          <p:cNvPr id="498692" name="Rectangle 4"/>
          <p:cNvSpPr>
            <a:spLocks noGrp="1" noChangeArrowheads="1"/>
          </p:cNvSpPr>
          <p:nvPr>
            <p:ph type="body" idx="1"/>
          </p:nvPr>
        </p:nvSpPr>
        <p:spPr>
          <a:xfrm>
            <a:off x="4356100" y="3765550"/>
            <a:ext cx="4330700" cy="2711450"/>
          </a:xfrm>
        </p:spPr>
        <p:txBody>
          <a:bodyPr/>
          <a:lstStyle/>
          <a:p>
            <a:r>
              <a:rPr lang="en-US" sz="2000" b="0" dirty="0" smtClean="0"/>
              <a:t>Child </a:t>
            </a:r>
            <a:r>
              <a:rPr lang="en-US" sz="2000" b="0" dirty="0"/>
              <a:t>process still active even though parent has terminated</a:t>
            </a:r>
          </a:p>
          <a:p>
            <a:endParaRPr lang="en-US" sz="2000" b="0" dirty="0" smtClean="0"/>
          </a:p>
          <a:p>
            <a:r>
              <a:rPr lang="en-US" sz="2000" b="0" dirty="0" smtClean="0"/>
              <a:t>Must </a:t>
            </a:r>
            <a:r>
              <a:rPr lang="en-US" sz="2000" b="0" dirty="0"/>
              <a:t>kill </a:t>
            </a:r>
            <a:r>
              <a:rPr lang="en-US" sz="2000" b="0" dirty="0" smtClean="0"/>
              <a:t>child explicitly</a:t>
            </a:r>
            <a:r>
              <a:rPr lang="en-US" sz="2000" b="0" dirty="0"/>
              <a:t>, or else will keep running indefinitely</a:t>
            </a:r>
          </a:p>
        </p:txBody>
      </p:sp>
      <p:sp>
        <p:nvSpPr>
          <p:cNvPr id="6" name="Rectangle 3"/>
          <p:cNvSpPr>
            <a:spLocks noChangeArrowheads="1"/>
          </p:cNvSpPr>
          <p:nvPr/>
        </p:nvSpPr>
        <p:spPr bwMode="auto">
          <a:xfrm>
            <a:off x="7824769" y="3258881"/>
            <a:ext cx="1205816"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forks.c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9" name="Text Box 2"/>
          <p:cNvSpPr txBox="1">
            <a:spLocks noChangeArrowheads="1"/>
          </p:cNvSpPr>
          <p:nvPr/>
        </p:nvSpPr>
        <p:spPr bwMode="auto">
          <a:xfrm>
            <a:off x="228600" y="3352800"/>
            <a:ext cx="3887603" cy="2062103"/>
          </a:xfrm>
          <a:prstGeom prst="rect">
            <a:avLst/>
          </a:prstGeom>
          <a:solidFill>
            <a:srgbClr val="DDDDDD"/>
          </a:solidFill>
          <a:ln w="3175">
            <a:noFill/>
            <a:miter lim="800000"/>
            <a:headEnd/>
            <a:tailEnd/>
          </a:ln>
          <a:effectLst/>
        </p:spPr>
        <p:txBody>
          <a:bodyPr wrap="none">
            <a:spAutoFit/>
          </a:bodyPr>
          <a:lstStyle/>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a:latin typeface="Courier New" pitchFamily="49" charset="0"/>
              </a:rPr>
              <a:t>./forks 8</a:t>
            </a:r>
          </a:p>
          <a:p>
            <a:pPr algn="l">
              <a:lnSpc>
                <a:spcPct val="100000"/>
              </a:lnSpc>
            </a:pPr>
            <a:r>
              <a:rPr lang="en-US" sz="1600" dirty="0">
                <a:latin typeface="Courier New" pitchFamily="49" charset="0"/>
              </a:rPr>
              <a:t>Terminating Parent, PID = 6675</a:t>
            </a:r>
          </a:p>
          <a:p>
            <a:pPr algn="l">
              <a:lnSpc>
                <a:spcPct val="100000"/>
              </a:lnSpc>
            </a:pPr>
            <a:r>
              <a:rPr lang="en-US" sz="1600" dirty="0">
                <a:latin typeface="Courier New" pitchFamily="49" charset="0"/>
              </a:rPr>
              <a:t>Running Child, PID = 6676</a:t>
            </a:r>
          </a:p>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err="1">
                <a:latin typeface="Courier New" pitchFamily="49" charset="0"/>
              </a:rPr>
              <a:t>ps</a:t>
            </a:r>
            <a:endParaRPr lang="en-US" sz="1600" i="1" dirty="0">
              <a:latin typeface="Courier New" pitchFamily="49" charset="0"/>
            </a:endParaRPr>
          </a:p>
          <a:p>
            <a:pPr algn="l">
              <a:lnSpc>
                <a:spcPct val="100000"/>
              </a:lnSpc>
            </a:pPr>
            <a:r>
              <a:rPr lang="en-US" sz="1600" dirty="0">
                <a:latin typeface="Courier New" pitchFamily="49" charset="0"/>
              </a:rPr>
              <a:t>  PID TTY          TIME CMD</a:t>
            </a:r>
          </a:p>
          <a:p>
            <a:pPr algn="l">
              <a:lnSpc>
                <a:spcPct val="100000"/>
              </a:lnSpc>
            </a:pPr>
            <a:r>
              <a:rPr lang="en-US" sz="1600" dirty="0">
                <a:latin typeface="Courier New" pitchFamily="49" charset="0"/>
              </a:rPr>
              <a:t> 6585 ttyp9    00:00:00 </a:t>
            </a:r>
            <a:r>
              <a:rPr lang="en-US" sz="1600" dirty="0" err="1">
                <a:latin typeface="Courier New" pitchFamily="49" charset="0"/>
              </a:rPr>
              <a:t>tcsh</a:t>
            </a:r>
            <a:endParaRPr lang="en-US" sz="1600" dirty="0">
              <a:latin typeface="Courier New" pitchFamily="49" charset="0"/>
            </a:endParaRPr>
          </a:p>
          <a:p>
            <a:pPr algn="l">
              <a:lnSpc>
                <a:spcPct val="100000"/>
              </a:lnSpc>
            </a:pPr>
            <a:r>
              <a:rPr lang="en-US" sz="1600" dirty="0">
                <a:latin typeface="Courier New" pitchFamily="49" charset="0"/>
              </a:rPr>
              <a:t> 6676 ttyp9    00:00:06 forks</a:t>
            </a:r>
          </a:p>
          <a:p>
            <a:pPr algn="l">
              <a:lnSpc>
                <a:spcPct val="100000"/>
              </a:lnSpc>
            </a:pPr>
            <a:r>
              <a:rPr lang="en-US" sz="1600" dirty="0">
                <a:latin typeface="Courier New" pitchFamily="49" charset="0"/>
              </a:rPr>
              <a:t> 6677 ttyp9    00:00:00 </a:t>
            </a:r>
            <a:r>
              <a:rPr lang="en-US" sz="1600" dirty="0" err="1" smtClean="0">
                <a:latin typeface="Courier New" pitchFamily="49" charset="0"/>
              </a:rPr>
              <a:t>ps</a:t>
            </a:r>
            <a:endParaRPr lang="en-US" sz="1600" dirty="0">
              <a:latin typeface="Courier New" pitchFamily="49" charset="0"/>
            </a:endParaRPr>
          </a:p>
        </p:txBody>
      </p:sp>
      <p:sp>
        <p:nvSpPr>
          <p:cNvPr id="10" name="Text Box 2"/>
          <p:cNvSpPr txBox="1">
            <a:spLocks noChangeArrowheads="1"/>
          </p:cNvSpPr>
          <p:nvPr/>
        </p:nvSpPr>
        <p:spPr bwMode="auto">
          <a:xfrm>
            <a:off x="228600" y="3352800"/>
            <a:ext cx="3851275" cy="3270250"/>
          </a:xfrm>
          <a:prstGeom prst="rect">
            <a:avLst/>
          </a:prstGeom>
          <a:solidFill>
            <a:srgbClr val="DDDDDD"/>
          </a:solidFill>
          <a:ln w="3175">
            <a:noFill/>
            <a:miter lim="800000"/>
            <a:headEnd/>
            <a:tailEnd/>
          </a:ln>
          <a:effectLst/>
        </p:spPr>
        <p:txBody>
          <a:bodyPr wrap="none">
            <a:spAutoFit/>
          </a:bodyPr>
          <a:lstStyle/>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a:latin typeface="Courier New" pitchFamily="49" charset="0"/>
              </a:rPr>
              <a:t>./forks 8</a:t>
            </a:r>
          </a:p>
          <a:p>
            <a:pPr algn="l">
              <a:lnSpc>
                <a:spcPct val="100000"/>
              </a:lnSpc>
            </a:pPr>
            <a:r>
              <a:rPr lang="en-US" sz="1600" dirty="0">
                <a:latin typeface="Courier New" pitchFamily="49" charset="0"/>
              </a:rPr>
              <a:t>Terminating Parent, PID = 6675</a:t>
            </a:r>
          </a:p>
          <a:p>
            <a:pPr algn="l">
              <a:lnSpc>
                <a:spcPct val="100000"/>
              </a:lnSpc>
            </a:pPr>
            <a:r>
              <a:rPr lang="en-US" sz="1600" dirty="0">
                <a:latin typeface="Courier New" pitchFamily="49" charset="0"/>
              </a:rPr>
              <a:t>Running Child, PID = 6676</a:t>
            </a:r>
          </a:p>
          <a:p>
            <a:pPr algn="l">
              <a:lnSpc>
                <a:spcPct val="100000"/>
              </a:lnSpc>
            </a:pPr>
            <a:r>
              <a:rPr lang="en-US" sz="1600" dirty="0" err="1">
                <a:latin typeface="Courier New" pitchFamily="49" charset="0"/>
              </a:rPr>
              <a:t>linux</a:t>
            </a:r>
            <a:r>
              <a:rPr lang="en-US" sz="1600" dirty="0">
                <a:latin typeface="Courier New" pitchFamily="49" charset="0"/>
              </a:rPr>
              <a:t>&gt; </a:t>
            </a:r>
            <a:r>
              <a:rPr lang="en-US" sz="1600" i="1" dirty="0" err="1">
                <a:latin typeface="Courier New" pitchFamily="49" charset="0"/>
              </a:rPr>
              <a:t>ps</a:t>
            </a:r>
            <a:endParaRPr lang="en-US" sz="1600" i="1" dirty="0">
              <a:latin typeface="Courier New" pitchFamily="49" charset="0"/>
            </a:endParaRPr>
          </a:p>
          <a:p>
            <a:pPr algn="l">
              <a:lnSpc>
                <a:spcPct val="100000"/>
              </a:lnSpc>
            </a:pPr>
            <a:r>
              <a:rPr lang="en-US" sz="1600" dirty="0">
                <a:latin typeface="Courier New" pitchFamily="49" charset="0"/>
              </a:rPr>
              <a:t>  PID TTY          TIME CMD</a:t>
            </a:r>
          </a:p>
          <a:p>
            <a:pPr algn="l">
              <a:lnSpc>
                <a:spcPct val="100000"/>
              </a:lnSpc>
            </a:pPr>
            <a:r>
              <a:rPr lang="en-US" sz="1600" dirty="0">
                <a:latin typeface="Courier New" pitchFamily="49" charset="0"/>
              </a:rPr>
              <a:t> 6585 ttyp9    00:00:00 </a:t>
            </a:r>
            <a:r>
              <a:rPr lang="en-US" sz="1600" dirty="0" err="1">
                <a:latin typeface="Courier New" pitchFamily="49" charset="0"/>
              </a:rPr>
              <a:t>tcsh</a:t>
            </a:r>
            <a:endParaRPr lang="en-US" sz="1600" dirty="0">
              <a:latin typeface="Courier New" pitchFamily="49" charset="0"/>
            </a:endParaRPr>
          </a:p>
          <a:p>
            <a:pPr algn="l">
              <a:lnSpc>
                <a:spcPct val="100000"/>
              </a:lnSpc>
            </a:pPr>
            <a:r>
              <a:rPr lang="en-US" sz="1600" dirty="0">
                <a:latin typeface="Courier New" pitchFamily="49" charset="0"/>
              </a:rPr>
              <a:t> 6676 ttyp9    00:00:06 forks</a:t>
            </a:r>
          </a:p>
          <a:p>
            <a:pPr algn="l">
              <a:lnSpc>
                <a:spcPct val="100000"/>
              </a:lnSpc>
            </a:pPr>
            <a:r>
              <a:rPr lang="en-US" sz="1600" dirty="0">
                <a:latin typeface="Courier New" pitchFamily="49" charset="0"/>
              </a:rPr>
              <a:t> 6677 ttyp9    00:00:00 </a:t>
            </a:r>
            <a:r>
              <a:rPr lang="en-US" sz="1600" dirty="0" err="1">
                <a:latin typeface="Courier New" pitchFamily="49" charset="0"/>
              </a:rPr>
              <a:t>ps</a:t>
            </a:r>
            <a:endParaRPr lang="en-US" sz="1600" dirty="0">
              <a:latin typeface="Courier New" pitchFamily="49" charset="0"/>
            </a:endParaRPr>
          </a:p>
          <a:p>
            <a:pPr algn="l">
              <a:lnSpc>
                <a:spcPct val="100000"/>
              </a:lnSpc>
            </a:pPr>
            <a:r>
              <a:rPr lang="en-US" sz="1600" i="1" dirty="0" err="1">
                <a:latin typeface="Courier New" pitchFamily="49" charset="0"/>
              </a:rPr>
              <a:t>linux</a:t>
            </a:r>
            <a:r>
              <a:rPr lang="en-US" sz="1600" i="1" dirty="0">
                <a:latin typeface="Courier New" pitchFamily="49" charset="0"/>
              </a:rPr>
              <a:t>&gt;</a:t>
            </a:r>
            <a:r>
              <a:rPr lang="en-US" sz="1600" dirty="0">
                <a:latin typeface="Courier New" pitchFamily="49" charset="0"/>
              </a:rPr>
              <a:t> kill 6676</a:t>
            </a:r>
          </a:p>
          <a:p>
            <a:pPr algn="l">
              <a:lnSpc>
                <a:spcPct val="100000"/>
              </a:lnSpc>
            </a:pPr>
            <a:r>
              <a:rPr lang="en-US" sz="1600" i="1" dirty="0" err="1">
                <a:latin typeface="Courier New" pitchFamily="49" charset="0"/>
              </a:rPr>
              <a:t>linux</a:t>
            </a:r>
            <a:r>
              <a:rPr lang="en-US" sz="1600" i="1" dirty="0">
                <a:latin typeface="Courier New" pitchFamily="49" charset="0"/>
              </a:rPr>
              <a:t>&gt;</a:t>
            </a:r>
            <a:r>
              <a:rPr lang="en-US" sz="1600" dirty="0">
                <a:latin typeface="Courier New" pitchFamily="49" charset="0"/>
              </a:rPr>
              <a:t> </a:t>
            </a:r>
            <a:r>
              <a:rPr lang="en-US" sz="1600" dirty="0" err="1">
                <a:latin typeface="Courier New" pitchFamily="49" charset="0"/>
              </a:rPr>
              <a:t>ps</a:t>
            </a:r>
            <a:endParaRPr lang="en-US" sz="1600" dirty="0">
              <a:latin typeface="Courier New" pitchFamily="49" charset="0"/>
            </a:endParaRPr>
          </a:p>
          <a:p>
            <a:pPr algn="l">
              <a:lnSpc>
                <a:spcPct val="100000"/>
              </a:lnSpc>
            </a:pPr>
            <a:r>
              <a:rPr lang="en-US" sz="1600" dirty="0">
                <a:latin typeface="Courier New" pitchFamily="49" charset="0"/>
              </a:rPr>
              <a:t>  PID TTY          TIME CMD</a:t>
            </a:r>
          </a:p>
          <a:p>
            <a:pPr algn="l">
              <a:lnSpc>
                <a:spcPct val="100000"/>
              </a:lnSpc>
            </a:pPr>
            <a:r>
              <a:rPr lang="en-US" sz="1600" dirty="0">
                <a:latin typeface="Courier New" pitchFamily="49" charset="0"/>
              </a:rPr>
              <a:t> 6585 ttyp9    00:00:00 </a:t>
            </a:r>
            <a:r>
              <a:rPr lang="en-US" sz="1600" dirty="0" err="1">
                <a:latin typeface="Courier New" pitchFamily="49" charset="0"/>
              </a:rPr>
              <a:t>tcsh</a:t>
            </a:r>
            <a:endParaRPr lang="en-US" sz="1600" dirty="0">
              <a:latin typeface="Courier New" pitchFamily="49" charset="0"/>
            </a:endParaRPr>
          </a:p>
          <a:p>
            <a:pPr algn="l">
              <a:lnSpc>
                <a:spcPct val="100000"/>
              </a:lnSpc>
            </a:pPr>
            <a:r>
              <a:rPr lang="en-US" sz="1600" dirty="0">
                <a:latin typeface="Courier New" pitchFamily="49" charset="0"/>
              </a:rPr>
              <a:t> 6678 ttyp9    00:00:00 </a:t>
            </a:r>
            <a:r>
              <a:rPr lang="en-US" sz="1600" dirty="0" err="1">
                <a:latin typeface="Courier New" pitchFamily="49" charset="0"/>
              </a:rPr>
              <a:t>ps</a:t>
            </a:r>
            <a:endParaRPr lang="en-US" sz="1600" dirty="0">
              <a:latin typeface="Courier New" pitchFamily="49" charset="0"/>
            </a:endParaRPr>
          </a:p>
        </p:txBody>
      </p:sp>
      <p:sp>
        <p:nvSpPr>
          <p:cNvPr id="498693" name="Text Box 5"/>
          <p:cNvSpPr txBox="1">
            <a:spLocks noChangeArrowheads="1"/>
          </p:cNvSpPr>
          <p:nvPr/>
        </p:nvSpPr>
        <p:spPr bwMode="auto">
          <a:xfrm>
            <a:off x="3276600" y="279400"/>
            <a:ext cx="5743580" cy="3323987"/>
          </a:xfrm>
          <a:prstGeom prst="rect">
            <a:avLst/>
          </a:prstGeom>
          <a:solidFill>
            <a:srgbClr val="F6F5BD"/>
          </a:solidFill>
          <a:ln w="3175">
            <a:solidFill>
              <a:schemeClr val="tx1"/>
            </a:solidFill>
            <a:miter lim="800000"/>
            <a:headEnd/>
            <a:tailEnd/>
          </a:ln>
          <a:effectLst/>
        </p:spPr>
        <p:txBody>
          <a:bodyPr wrap="none">
            <a:spAutoFit/>
          </a:bodyPr>
          <a:lstStyle/>
          <a:p>
            <a:r>
              <a:rPr lang="en-US" sz="1500" dirty="0">
                <a:solidFill>
                  <a:srgbClr val="2D961E"/>
                </a:solidFill>
                <a:latin typeface="Courier New"/>
                <a:cs typeface="Courier New"/>
              </a:rPr>
              <a:t>void</a:t>
            </a:r>
            <a:r>
              <a:rPr lang="en-US" sz="1500" dirty="0">
                <a:solidFill>
                  <a:srgbClr val="000000"/>
                </a:solidFill>
                <a:latin typeface="Courier New"/>
                <a:cs typeface="Courier New"/>
              </a:rPr>
              <a:t> </a:t>
            </a:r>
            <a:r>
              <a:rPr lang="en-US" sz="1500" dirty="0">
                <a:solidFill>
                  <a:srgbClr val="4A00FF"/>
                </a:solidFill>
                <a:latin typeface="Courier New"/>
                <a:cs typeface="Courier New"/>
              </a:rPr>
              <a:t>fork8</a:t>
            </a:r>
            <a:r>
              <a:rPr lang="en-US" sz="1500" dirty="0">
                <a:solidFill>
                  <a:srgbClr val="000000"/>
                </a:solidFill>
                <a:latin typeface="Courier New"/>
                <a:cs typeface="Courier New"/>
              </a:rPr>
              <a:t>()</a:t>
            </a:r>
          </a:p>
          <a:p>
            <a:r>
              <a:rPr lang="en-US" sz="1500" dirty="0">
                <a:solidFill>
                  <a:srgbClr val="000000"/>
                </a:solidFill>
                <a:latin typeface="Courier New"/>
                <a:cs typeface="Courier New"/>
              </a:rPr>
              <a:t>{</a:t>
            </a:r>
          </a:p>
          <a:p>
            <a:r>
              <a:rPr lang="en-US" sz="1500" dirty="0">
                <a:solidFill>
                  <a:srgbClr val="000000"/>
                </a:solidFill>
                <a:latin typeface="Courier New"/>
                <a:cs typeface="Courier New"/>
              </a:rPr>
              <a:t>    </a:t>
            </a:r>
            <a:r>
              <a:rPr lang="en-US" sz="1500" dirty="0">
                <a:solidFill>
                  <a:srgbClr val="C200FF"/>
                </a:solidFill>
                <a:latin typeface="Courier New"/>
                <a:cs typeface="Courier New"/>
              </a:rPr>
              <a:t>if</a:t>
            </a:r>
            <a:r>
              <a:rPr lang="en-US" sz="1500" dirty="0">
                <a:solidFill>
                  <a:srgbClr val="000000"/>
                </a:solidFill>
                <a:latin typeface="Courier New"/>
                <a:cs typeface="Courier New"/>
              </a:rPr>
              <a:t> (fork() == 0) {</a:t>
            </a:r>
          </a:p>
          <a:p>
            <a:r>
              <a:rPr lang="en-US" sz="1500" dirty="0">
                <a:solidFill>
                  <a:srgbClr val="000000"/>
                </a:solidFill>
                <a:latin typeface="Courier New"/>
                <a:cs typeface="Courier New"/>
              </a:rPr>
              <a:t>        </a:t>
            </a:r>
            <a:r>
              <a:rPr lang="en-US" sz="1500" dirty="0">
                <a:solidFill>
                  <a:srgbClr val="CB2418"/>
                </a:solidFill>
                <a:latin typeface="Courier New"/>
                <a:cs typeface="Courier New"/>
              </a:rPr>
              <a:t>/* Child */</a:t>
            </a:r>
            <a:endParaRPr lang="en-US" sz="1500" dirty="0">
              <a:solidFill>
                <a:srgbClr val="000000"/>
              </a:solidFill>
              <a:latin typeface="Courier New"/>
              <a:cs typeface="Courier New"/>
            </a:endParaRPr>
          </a:p>
          <a:p>
            <a:r>
              <a:rPr lang="en-US" sz="1500" dirty="0">
                <a:solidFill>
                  <a:srgbClr val="000000"/>
                </a:solidFill>
                <a:latin typeface="Courier New"/>
                <a:cs typeface="Courier New"/>
              </a:rPr>
              <a:t>        </a:t>
            </a:r>
            <a:r>
              <a:rPr lang="en-US" sz="1500" dirty="0" err="1">
                <a:solidFill>
                  <a:srgbClr val="000000"/>
                </a:solidFill>
                <a:latin typeface="Courier New"/>
                <a:cs typeface="Courier New"/>
              </a:rPr>
              <a:t>printf</a:t>
            </a:r>
            <a:r>
              <a:rPr lang="en-US" sz="1500" dirty="0">
                <a:solidFill>
                  <a:srgbClr val="000000"/>
                </a:solidFill>
                <a:latin typeface="Courier New"/>
                <a:cs typeface="Courier New"/>
              </a:rPr>
              <a:t>(</a:t>
            </a:r>
            <a:r>
              <a:rPr lang="en-US" sz="1500" dirty="0">
                <a:solidFill>
                  <a:srgbClr val="9D206F"/>
                </a:solidFill>
                <a:latin typeface="Courier New"/>
                <a:cs typeface="Courier New"/>
              </a:rPr>
              <a:t>"Running Child, PID = %d\n"</a:t>
            </a:r>
            <a:r>
              <a:rPr lang="en-US" sz="1500" dirty="0">
                <a:solidFill>
                  <a:srgbClr val="000000"/>
                </a:solidFill>
                <a:latin typeface="Courier New"/>
                <a:cs typeface="Courier New"/>
              </a:rPr>
              <a:t>,</a:t>
            </a:r>
          </a:p>
          <a:p>
            <a:r>
              <a:rPr lang="is-IS" sz="1500" dirty="0">
                <a:solidFill>
                  <a:srgbClr val="000000"/>
                </a:solidFill>
                <a:latin typeface="Courier New"/>
                <a:cs typeface="Courier New"/>
              </a:rPr>
              <a:t>               getpid());</a:t>
            </a:r>
          </a:p>
          <a:p>
            <a:r>
              <a:rPr lang="en-US" sz="1500" dirty="0">
                <a:solidFill>
                  <a:srgbClr val="000000"/>
                </a:solidFill>
                <a:latin typeface="Courier New"/>
                <a:cs typeface="Courier New"/>
              </a:rPr>
              <a:t>        </a:t>
            </a:r>
            <a:r>
              <a:rPr lang="en-US" sz="1500" dirty="0">
                <a:solidFill>
                  <a:srgbClr val="C200FF"/>
                </a:solidFill>
                <a:latin typeface="Courier New"/>
                <a:cs typeface="Courier New"/>
              </a:rPr>
              <a:t>while</a:t>
            </a:r>
            <a:r>
              <a:rPr lang="en-US" sz="1500" dirty="0">
                <a:solidFill>
                  <a:srgbClr val="000000"/>
                </a:solidFill>
                <a:latin typeface="Courier New"/>
                <a:cs typeface="Courier New"/>
              </a:rPr>
              <a:t> (1)</a:t>
            </a:r>
          </a:p>
          <a:p>
            <a:r>
              <a:rPr lang="en-US" sz="1500" dirty="0">
                <a:solidFill>
                  <a:srgbClr val="000000"/>
                </a:solidFill>
                <a:latin typeface="Courier New"/>
                <a:cs typeface="Courier New"/>
              </a:rPr>
              <a:t>            ; </a:t>
            </a:r>
            <a:r>
              <a:rPr lang="en-US" sz="1500" dirty="0">
                <a:solidFill>
                  <a:srgbClr val="CB2418"/>
                </a:solidFill>
                <a:latin typeface="Courier New"/>
                <a:cs typeface="Courier New"/>
              </a:rPr>
              <a:t>/* Infinite loop */</a:t>
            </a:r>
            <a:endParaRPr lang="en-US" sz="1500" dirty="0">
              <a:solidFill>
                <a:srgbClr val="000000"/>
              </a:solidFill>
              <a:latin typeface="Courier New"/>
              <a:cs typeface="Courier New"/>
            </a:endParaRPr>
          </a:p>
          <a:p>
            <a:r>
              <a:rPr lang="da-DK" sz="1500" dirty="0">
                <a:solidFill>
                  <a:srgbClr val="000000"/>
                </a:solidFill>
                <a:latin typeface="Courier New"/>
                <a:cs typeface="Courier New"/>
              </a:rPr>
              <a:t>    } </a:t>
            </a:r>
            <a:r>
              <a:rPr lang="da-DK" sz="1500" dirty="0" err="1">
                <a:solidFill>
                  <a:srgbClr val="C200FF"/>
                </a:solidFill>
                <a:latin typeface="Courier New"/>
                <a:cs typeface="Courier New"/>
              </a:rPr>
              <a:t>else</a:t>
            </a:r>
            <a:r>
              <a:rPr lang="da-DK" sz="1500" dirty="0">
                <a:solidFill>
                  <a:srgbClr val="000000"/>
                </a:solidFill>
                <a:latin typeface="Courier New"/>
                <a:cs typeface="Courier New"/>
              </a:rPr>
              <a:t> {</a:t>
            </a:r>
          </a:p>
          <a:p>
            <a:r>
              <a:rPr lang="da-DK" sz="1500" dirty="0">
                <a:solidFill>
                  <a:srgbClr val="000000"/>
                </a:solidFill>
                <a:latin typeface="Courier New"/>
                <a:cs typeface="Courier New"/>
              </a:rPr>
              <a:t>        </a:t>
            </a:r>
            <a:r>
              <a:rPr lang="da-DK" sz="1500" dirty="0" err="1">
                <a:solidFill>
                  <a:srgbClr val="000000"/>
                </a:solidFill>
                <a:latin typeface="Courier New"/>
                <a:cs typeface="Courier New"/>
              </a:rPr>
              <a:t>printf</a:t>
            </a:r>
            <a:r>
              <a:rPr lang="da-DK" sz="1500" dirty="0">
                <a:solidFill>
                  <a:srgbClr val="000000"/>
                </a:solidFill>
                <a:latin typeface="Courier New"/>
                <a:cs typeface="Courier New"/>
              </a:rPr>
              <a:t>(</a:t>
            </a:r>
            <a:r>
              <a:rPr lang="da-DK" sz="1500" dirty="0">
                <a:solidFill>
                  <a:srgbClr val="9D206F"/>
                </a:solidFill>
                <a:latin typeface="Courier New"/>
                <a:cs typeface="Courier New"/>
              </a:rPr>
              <a:t>"</a:t>
            </a:r>
            <a:r>
              <a:rPr lang="da-DK" sz="1500" dirty="0" err="1">
                <a:solidFill>
                  <a:srgbClr val="9D206F"/>
                </a:solidFill>
                <a:latin typeface="Courier New"/>
                <a:cs typeface="Courier New"/>
              </a:rPr>
              <a:t>Terminating</a:t>
            </a:r>
            <a:r>
              <a:rPr lang="da-DK" sz="1500" dirty="0">
                <a:solidFill>
                  <a:srgbClr val="9D206F"/>
                </a:solidFill>
                <a:latin typeface="Courier New"/>
                <a:cs typeface="Courier New"/>
              </a:rPr>
              <a:t> </a:t>
            </a:r>
            <a:r>
              <a:rPr lang="da-DK" sz="1500" dirty="0" err="1">
                <a:solidFill>
                  <a:srgbClr val="9D206F"/>
                </a:solidFill>
                <a:latin typeface="Courier New"/>
                <a:cs typeface="Courier New"/>
              </a:rPr>
              <a:t>Parent</a:t>
            </a:r>
            <a:r>
              <a:rPr lang="da-DK" sz="1500" dirty="0">
                <a:solidFill>
                  <a:srgbClr val="9D206F"/>
                </a:solidFill>
                <a:latin typeface="Courier New"/>
                <a:cs typeface="Courier New"/>
              </a:rPr>
              <a:t>, PID = %d\n"</a:t>
            </a:r>
            <a:r>
              <a:rPr lang="da-DK" sz="1500" dirty="0">
                <a:solidFill>
                  <a:srgbClr val="000000"/>
                </a:solidFill>
                <a:latin typeface="Courier New"/>
                <a:cs typeface="Courier New"/>
              </a:rPr>
              <a:t>,</a:t>
            </a:r>
          </a:p>
          <a:p>
            <a:r>
              <a:rPr lang="is-IS" sz="1500" dirty="0">
                <a:solidFill>
                  <a:srgbClr val="000000"/>
                </a:solidFill>
                <a:latin typeface="Courier New"/>
                <a:cs typeface="Courier New"/>
              </a:rPr>
              <a:t>               getpid());</a:t>
            </a:r>
          </a:p>
          <a:p>
            <a:r>
              <a:rPr lang="is-IS" sz="1500" dirty="0">
                <a:solidFill>
                  <a:srgbClr val="000000"/>
                </a:solidFill>
                <a:latin typeface="Courier New"/>
                <a:cs typeface="Courier New"/>
              </a:rPr>
              <a:t>        exit(0);</a:t>
            </a:r>
          </a:p>
          <a:p>
            <a:r>
              <a:rPr lang="is-IS" sz="1500" dirty="0">
                <a:solidFill>
                  <a:srgbClr val="000000"/>
                </a:solidFill>
                <a:latin typeface="Courier New"/>
                <a:cs typeface="Courier New"/>
              </a:rPr>
              <a:t>    }</a:t>
            </a:r>
          </a:p>
          <a:p>
            <a:r>
              <a:rPr lang="is-IS" sz="1500" dirty="0">
                <a:solidFill>
                  <a:srgbClr val="000000"/>
                </a:solidFill>
                <a:latin typeface="Courier New"/>
                <a:cs typeface="Courier New"/>
              </a:rPr>
              <a:t>}</a:t>
            </a:r>
          </a:p>
        </p:txBody>
      </p:sp>
      <p:cxnSp>
        <p:nvCxnSpPr>
          <p:cNvPr id="5" name="Straight Arrow Connector 4"/>
          <p:cNvCxnSpPr/>
          <p:nvPr/>
        </p:nvCxnSpPr>
        <p:spPr bwMode="auto">
          <a:xfrm flipH="1">
            <a:off x="3810000" y="4038600"/>
            <a:ext cx="622300" cy="914400"/>
          </a:xfrm>
          <a:prstGeom prst="straightConnector1">
            <a:avLst/>
          </a:prstGeom>
          <a:noFill/>
          <a:ln w="38100" cap="flat" cmpd="sng" algn="ctr">
            <a:solidFill>
              <a:srgbClr val="FF0000"/>
            </a:solidFill>
            <a:prstDash val="solid"/>
            <a:round/>
            <a:headEnd type="none" w="med" len="med"/>
            <a:tailEnd type="arrow"/>
          </a:ln>
          <a:effectLst/>
        </p:spPr>
      </p:cxnSp>
      <p:cxnSp>
        <p:nvCxnSpPr>
          <p:cNvPr id="11" name="Straight Arrow Connector 10"/>
          <p:cNvCxnSpPr/>
          <p:nvPr/>
        </p:nvCxnSpPr>
        <p:spPr bwMode="auto">
          <a:xfrm flipH="1">
            <a:off x="2362200" y="5029200"/>
            <a:ext cx="2070100" cy="457200"/>
          </a:xfrm>
          <a:prstGeom prst="straightConnector1">
            <a:avLst/>
          </a:prstGeom>
          <a:noFill/>
          <a:ln w="38100" cap="flat" cmpd="sng" algn="ctr">
            <a:solidFill>
              <a:srgbClr val="FF0000"/>
            </a:solidFill>
            <a:prstDash val="solid"/>
            <a:round/>
            <a:headEnd type="none" w="med" len="med"/>
            <a:tailEnd type="arrow"/>
          </a:ln>
          <a:effectLst/>
        </p:spPr>
      </p:cxnSp>
    </p:spTree>
    <p:extLst>
      <p:ext uri="{BB962C8B-B14F-4D97-AF65-F5344CB8AC3E}">
        <p14:creationId xmlns:p14="http://schemas.microsoft.com/office/powerpoint/2010/main" val="318254230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86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869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869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690" grpId="0" animBg="1"/>
      <p:bldP spid="9" grpId="0" animBg="1"/>
      <p:bldP spid="10"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a:xfrm>
            <a:off x="304800" y="493712"/>
            <a:ext cx="8305800" cy="573088"/>
          </a:xfrm>
        </p:spPr>
        <p:txBody>
          <a:bodyPr/>
          <a:lstStyle/>
          <a:p>
            <a:r>
              <a:rPr lang="en-US" dirty="0">
                <a:latin typeface="Courier New" pitchFamily="49" charset="0"/>
              </a:rPr>
              <a:t>wait</a:t>
            </a:r>
            <a:r>
              <a:rPr lang="en-US" dirty="0"/>
              <a:t>: Synchronizing with Children</a:t>
            </a:r>
          </a:p>
        </p:txBody>
      </p:sp>
      <p:sp>
        <p:nvSpPr>
          <p:cNvPr id="499715" name="Rectangle 3"/>
          <p:cNvSpPr>
            <a:spLocks noGrp="1" noChangeArrowheads="1"/>
          </p:cNvSpPr>
          <p:nvPr>
            <p:ph type="body" idx="1"/>
          </p:nvPr>
        </p:nvSpPr>
        <p:spPr>
          <a:xfrm>
            <a:off x="304800" y="1295400"/>
            <a:ext cx="8255000" cy="2209800"/>
          </a:xfrm>
        </p:spPr>
        <p:txBody>
          <a:bodyPr/>
          <a:lstStyle/>
          <a:p>
            <a:r>
              <a:rPr lang="en-US" dirty="0" smtClean="0">
                <a:latin typeface="Calibri"/>
                <a:cs typeface="Calibri"/>
              </a:rPr>
              <a:t>Parent reaps a child by calling the </a:t>
            </a:r>
            <a:r>
              <a:rPr lang="en-US" dirty="0" smtClean="0">
                <a:latin typeface="Courier New"/>
                <a:cs typeface="Courier New"/>
              </a:rPr>
              <a:t>wait </a:t>
            </a:r>
            <a:r>
              <a:rPr lang="en-US" dirty="0" smtClean="0">
                <a:latin typeface="Calibri"/>
                <a:cs typeface="Calibri"/>
              </a:rPr>
              <a:t>function</a:t>
            </a:r>
          </a:p>
          <a:p>
            <a:pPr>
              <a:buNone/>
            </a:pPr>
            <a:endParaRPr lang="en-US" dirty="0" smtClean="0">
              <a:latin typeface="Courier New" pitchFamily="49" charset="0"/>
            </a:endParaRPr>
          </a:p>
          <a:p>
            <a:r>
              <a:rPr lang="en-US" dirty="0" err="1" smtClean="0">
                <a:latin typeface="Courier New" pitchFamily="49" charset="0"/>
              </a:rPr>
              <a:t>int</a:t>
            </a:r>
            <a:r>
              <a:rPr lang="en-US" dirty="0" smtClean="0">
                <a:latin typeface="Courier New" pitchFamily="49" charset="0"/>
              </a:rPr>
              <a:t> </a:t>
            </a:r>
            <a:r>
              <a:rPr lang="en-US" dirty="0" err="1">
                <a:latin typeface="Courier New" pitchFamily="49" charset="0"/>
              </a:rPr>
              <a:t>wait(int</a:t>
            </a:r>
            <a:r>
              <a:rPr lang="en-US" dirty="0">
                <a:latin typeface="Courier New" pitchFamily="49" charset="0"/>
              </a:rPr>
              <a:t> *</a:t>
            </a:r>
            <a:r>
              <a:rPr lang="en-US" dirty="0" err="1">
                <a:latin typeface="Courier New" pitchFamily="49" charset="0"/>
              </a:rPr>
              <a:t>child_status</a:t>
            </a:r>
            <a:r>
              <a:rPr lang="en-US" dirty="0" smtClean="0">
                <a:latin typeface="Courier New" pitchFamily="49" charset="0"/>
              </a:rPr>
              <a:t>)</a:t>
            </a:r>
            <a:endParaRPr lang="en-US" dirty="0" smtClean="0"/>
          </a:p>
          <a:p>
            <a:pPr lvl="1"/>
            <a:r>
              <a:rPr lang="en-US" dirty="0"/>
              <a:t>S</a:t>
            </a:r>
            <a:r>
              <a:rPr lang="en-US" dirty="0" smtClean="0"/>
              <a:t>uspends </a:t>
            </a:r>
            <a:r>
              <a:rPr lang="en-US" dirty="0"/>
              <a:t>current process until one of its children </a:t>
            </a:r>
            <a:r>
              <a:rPr lang="en-US" dirty="0" smtClean="0"/>
              <a:t>terminates</a:t>
            </a:r>
          </a:p>
          <a:p>
            <a:pPr lvl="1"/>
            <a:r>
              <a:rPr lang="en-US" dirty="0" smtClean="0"/>
              <a:t>Implemented as </a:t>
            </a:r>
            <a:r>
              <a:rPr lang="en-US" dirty="0" err="1" smtClean="0"/>
              <a:t>syscall</a:t>
            </a:r>
            <a:endParaRPr lang="en-US" dirty="0"/>
          </a:p>
        </p:txBody>
      </p:sp>
      <p:sp>
        <p:nvSpPr>
          <p:cNvPr id="5" name="Rectangle 4"/>
          <p:cNvSpPr/>
          <p:nvPr/>
        </p:nvSpPr>
        <p:spPr bwMode="auto">
          <a:xfrm>
            <a:off x="381000" y="4191000"/>
            <a:ext cx="4876800" cy="2286000"/>
          </a:xfrm>
          <a:prstGeom prst="rect">
            <a:avLst/>
          </a:prstGeom>
          <a:solidFill>
            <a:srgbClr val="E9E1C9"/>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6" name="Rectangle 4"/>
          <p:cNvSpPr>
            <a:spLocks noChangeArrowheads="1"/>
          </p:cNvSpPr>
          <p:nvPr/>
        </p:nvSpPr>
        <p:spPr bwMode="auto">
          <a:xfrm>
            <a:off x="482382" y="4191000"/>
            <a:ext cx="2052276" cy="459092"/>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i="1" dirty="0" smtClean="0">
                <a:solidFill>
                  <a:schemeClr val="tx1">
                    <a:lumMod val="50000"/>
                    <a:lumOff val="50000"/>
                  </a:schemeClr>
                </a:solidFill>
                <a:latin typeface="Calibri" pitchFamily="34" charset="0"/>
              </a:rPr>
              <a:t>Parent Process</a:t>
            </a:r>
            <a:endParaRPr lang="en-US" i="1" dirty="0">
              <a:solidFill>
                <a:schemeClr val="tx1">
                  <a:lumMod val="50000"/>
                  <a:lumOff val="50000"/>
                </a:schemeClr>
              </a:solidFill>
              <a:latin typeface="Calibri" pitchFamily="34" charset="0"/>
            </a:endParaRPr>
          </a:p>
        </p:txBody>
      </p:sp>
      <p:sp>
        <p:nvSpPr>
          <p:cNvPr id="7" name="Rectangle 5"/>
          <p:cNvSpPr>
            <a:spLocks noChangeArrowheads="1"/>
          </p:cNvSpPr>
          <p:nvPr/>
        </p:nvSpPr>
        <p:spPr bwMode="auto">
          <a:xfrm>
            <a:off x="3173772" y="4191000"/>
            <a:ext cx="1779228" cy="459092"/>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i="1" dirty="0" smtClean="0">
                <a:solidFill>
                  <a:schemeClr val="tx1">
                    <a:lumMod val="50000"/>
                    <a:lumOff val="50000"/>
                  </a:schemeClr>
                </a:solidFill>
                <a:latin typeface="Calibri" pitchFamily="34" charset="0"/>
              </a:rPr>
              <a:t>Kernel code</a:t>
            </a:r>
            <a:endParaRPr lang="en-US" i="1" dirty="0">
              <a:solidFill>
                <a:schemeClr val="tx1">
                  <a:lumMod val="50000"/>
                  <a:lumOff val="50000"/>
                </a:schemeClr>
              </a:solidFill>
              <a:latin typeface="Calibri" pitchFamily="34" charset="0"/>
            </a:endParaRPr>
          </a:p>
        </p:txBody>
      </p:sp>
      <p:sp>
        <p:nvSpPr>
          <p:cNvPr id="8" name="Line 6"/>
          <p:cNvSpPr>
            <a:spLocks noChangeShapeType="1"/>
          </p:cNvSpPr>
          <p:nvPr/>
        </p:nvSpPr>
        <p:spPr bwMode="auto">
          <a:xfrm>
            <a:off x="1296770" y="4713287"/>
            <a:ext cx="0" cy="598488"/>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9" name="Line 7"/>
          <p:cNvSpPr>
            <a:spLocks noChangeShapeType="1"/>
          </p:cNvSpPr>
          <p:nvPr/>
        </p:nvSpPr>
        <p:spPr bwMode="auto">
          <a:xfrm>
            <a:off x="1303120" y="5318125"/>
            <a:ext cx="2806700" cy="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11" name="Line 9"/>
          <p:cNvSpPr>
            <a:spLocks noChangeShapeType="1"/>
          </p:cNvSpPr>
          <p:nvPr/>
        </p:nvSpPr>
        <p:spPr bwMode="auto">
          <a:xfrm flipH="1" flipV="1">
            <a:off x="1290420" y="5387975"/>
            <a:ext cx="2832100" cy="546100"/>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12" name="Line 10"/>
          <p:cNvSpPr>
            <a:spLocks noChangeShapeType="1"/>
          </p:cNvSpPr>
          <p:nvPr/>
        </p:nvSpPr>
        <p:spPr bwMode="auto">
          <a:xfrm flipH="1">
            <a:off x="1290420" y="5414962"/>
            <a:ext cx="6350" cy="909638"/>
          </a:xfrm>
          <a:prstGeom prst="line">
            <a:avLst/>
          </a:prstGeom>
          <a:noFill/>
          <a:ln w="28575">
            <a:solidFill>
              <a:schemeClr val="tx1"/>
            </a:solidFill>
            <a:round/>
            <a:headEnd/>
            <a:tailEnd type="triangle" w="med" len="med"/>
          </a:ln>
          <a:effectLst/>
        </p:spPr>
        <p:txBody>
          <a:bodyPr wrap="none" anchor="ctr"/>
          <a:lstStyle/>
          <a:p>
            <a:endParaRPr lang="en-US" dirty="0">
              <a:latin typeface="Calibri" pitchFamily="34" charset="0"/>
            </a:endParaRPr>
          </a:p>
        </p:txBody>
      </p:sp>
      <p:sp>
        <p:nvSpPr>
          <p:cNvPr id="13" name="Rectangle 11"/>
          <p:cNvSpPr>
            <a:spLocks noChangeArrowheads="1"/>
          </p:cNvSpPr>
          <p:nvPr/>
        </p:nvSpPr>
        <p:spPr bwMode="auto">
          <a:xfrm>
            <a:off x="2165132" y="4953000"/>
            <a:ext cx="1142586" cy="366759"/>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sz="1800" b="0" i="1" dirty="0">
                <a:latin typeface="Calibri" pitchFamily="34" charset="0"/>
              </a:rPr>
              <a:t>E</a:t>
            </a:r>
            <a:r>
              <a:rPr lang="en-US" sz="1800" b="0" i="1" dirty="0" smtClean="0">
                <a:latin typeface="Calibri" pitchFamily="34" charset="0"/>
              </a:rPr>
              <a:t>xception</a:t>
            </a:r>
            <a:endParaRPr lang="en-US" sz="1800" b="0" i="1" dirty="0">
              <a:latin typeface="Calibri" pitchFamily="34" charset="0"/>
            </a:endParaRPr>
          </a:p>
        </p:txBody>
      </p:sp>
      <p:sp>
        <p:nvSpPr>
          <p:cNvPr id="15" name="Rectangle 13"/>
          <p:cNvSpPr>
            <a:spLocks noChangeArrowheads="1"/>
          </p:cNvSpPr>
          <p:nvPr/>
        </p:nvSpPr>
        <p:spPr bwMode="auto">
          <a:xfrm>
            <a:off x="2165132" y="5719762"/>
            <a:ext cx="914772" cy="366759"/>
          </a:xfrm>
          <a:prstGeom prst="rect">
            <a:avLst/>
          </a:prstGeom>
          <a:noFill/>
          <a:ln w="12700">
            <a:noFill/>
            <a:miter lim="800000"/>
            <a:headEnd/>
            <a:tailEnd/>
          </a:ln>
          <a:effectLst/>
        </p:spPr>
        <p:txBody>
          <a:bodyPr wrap="none" lIns="90479" tIns="44446" rIns="90479" bIns="44446">
            <a:spAutoFit/>
          </a:bodyPr>
          <a:lstStyle/>
          <a:p>
            <a:pPr algn="l">
              <a:lnSpc>
                <a:spcPct val="100000"/>
              </a:lnSpc>
            </a:pPr>
            <a:r>
              <a:rPr lang="en-US" sz="1800" b="0" i="1" dirty="0">
                <a:latin typeface="Calibri" pitchFamily="34" charset="0"/>
              </a:rPr>
              <a:t>R</a:t>
            </a:r>
            <a:r>
              <a:rPr lang="en-US" sz="1800" b="0" i="1" dirty="0" smtClean="0">
                <a:latin typeface="Calibri" pitchFamily="34" charset="0"/>
              </a:rPr>
              <a:t>eturns</a:t>
            </a:r>
            <a:endParaRPr lang="en-US" sz="1800" b="0" dirty="0">
              <a:latin typeface="Calibri" pitchFamily="34" charset="0"/>
            </a:endParaRPr>
          </a:p>
        </p:txBody>
      </p:sp>
      <p:sp>
        <p:nvSpPr>
          <p:cNvPr id="16" name="Text Box 15"/>
          <p:cNvSpPr txBox="1">
            <a:spLocks noChangeArrowheads="1"/>
          </p:cNvSpPr>
          <p:nvPr/>
        </p:nvSpPr>
        <p:spPr bwMode="auto">
          <a:xfrm>
            <a:off x="685800" y="5086513"/>
            <a:ext cx="650689" cy="307777"/>
          </a:xfrm>
          <a:prstGeom prst="rect">
            <a:avLst/>
          </a:prstGeom>
          <a:noFill/>
          <a:ln w="25400">
            <a:noFill/>
            <a:miter lim="800000"/>
            <a:headEnd/>
            <a:tailEnd/>
          </a:ln>
          <a:effectLst/>
        </p:spPr>
        <p:txBody>
          <a:bodyPr wrap="none">
            <a:spAutoFit/>
          </a:bodyPr>
          <a:lstStyle/>
          <a:p>
            <a:pPr algn="l">
              <a:lnSpc>
                <a:spcPct val="100000"/>
              </a:lnSpc>
            </a:pPr>
            <a:r>
              <a:rPr lang="en-US" sz="1400" b="0" dirty="0" err="1" smtClean="0">
                <a:latin typeface="Calibri" pitchFamily="34" charset="0"/>
              </a:rPr>
              <a:t>syscall</a:t>
            </a:r>
            <a:endParaRPr lang="en-US" sz="1400" b="0" dirty="0">
              <a:latin typeface="Calibri" pitchFamily="34" charset="0"/>
            </a:endParaRPr>
          </a:p>
        </p:txBody>
      </p:sp>
      <p:sp>
        <p:nvSpPr>
          <p:cNvPr id="17" name="Text Box 16"/>
          <p:cNvSpPr txBox="1">
            <a:spLocks noChangeArrowheads="1"/>
          </p:cNvSpPr>
          <p:nvPr/>
        </p:nvSpPr>
        <p:spPr bwMode="auto">
          <a:xfrm>
            <a:off x="782334" y="5291872"/>
            <a:ext cx="319318" cy="307777"/>
          </a:xfrm>
          <a:prstGeom prst="rect">
            <a:avLst/>
          </a:prstGeom>
          <a:noFill/>
          <a:ln w="25400">
            <a:noFill/>
            <a:miter lim="800000"/>
            <a:headEnd/>
            <a:tailEnd/>
          </a:ln>
          <a:effectLst/>
        </p:spPr>
        <p:txBody>
          <a:bodyPr wrap="none">
            <a:spAutoFit/>
          </a:bodyPr>
          <a:lstStyle/>
          <a:p>
            <a:pPr algn="l">
              <a:lnSpc>
                <a:spcPct val="100000"/>
              </a:lnSpc>
            </a:pPr>
            <a:r>
              <a:rPr lang="en-US" sz="1400" b="0" dirty="0" smtClean="0">
                <a:latin typeface="Calibri" pitchFamily="34" charset="0"/>
              </a:rPr>
              <a:t>…</a:t>
            </a:r>
            <a:endParaRPr lang="en-US" sz="1400" b="0" dirty="0">
              <a:latin typeface="Calibri" pitchFamily="34" charset="0"/>
            </a:endParaRPr>
          </a:p>
        </p:txBody>
      </p:sp>
      <p:sp>
        <p:nvSpPr>
          <p:cNvPr id="3" name="Freeform 2"/>
          <p:cNvSpPr/>
          <p:nvPr/>
        </p:nvSpPr>
        <p:spPr bwMode="auto">
          <a:xfrm>
            <a:off x="3885945" y="5322570"/>
            <a:ext cx="511006" cy="624840"/>
          </a:xfrm>
          <a:custGeom>
            <a:avLst/>
            <a:gdLst>
              <a:gd name="connsiteX0" fmla="*/ 247905 w 511006"/>
              <a:gd name="connsiteY0" fmla="*/ 0 h 624840"/>
              <a:gd name="connsiteX1" fmla="*/ 263145 w 511006"/>
              <a:gd name="connsiteY1" fmla="*/ 49530 h 624840"/>
              <a:gd name="connsiteX2" fmla="*/ 278385 w 511006"/>
              <a:gd name="connsiteY2" fmla="*/ 53340 h 624840"/>
              <a:gd name="connsiteX3" fmla="*/ 289815 w 511006"/>
              <a:gd name="connsiteY3" fmla="*/ 60960 h 624840"/>
              <a:gd name="connsiteX4" fmla="*/ 301245 w 511006"/>
              <a:gd name="connsiteY4" fmla="*/ 64770 h 624840"/>
              <a:gd name="connsiteX5" fmla="*/ 327915 w 511006"/>
              <a:gd name="connsiteY5" fmla="*/ 72390 h 624840"/>
              <a:gd name="connsiteX6" fmla="*/ 358395 w 511006"/>
              <a:gd name="connsiteY6" fmla="*/ 87630 h 624840"/>
              <a:gd name="connsiteX7" fmla="*/ 369825 w 511006"/>
              <a:gd name="connsiteY7" fmla="*/ 91440 h 624840"/>
              <a:gd name="connsiteX8" fmla="*/ 388875 w 511006"/>
              <a:gd name="connsiteY8" fmla="*/ 102870 h 624840"/>
              <a:gd name="connsiteX9" fmla="*/ 411735 w 511006"/>
              <a:gd name="connsiteY9" fmla="*/ 118110 h 624840"/>
              <a:gd name="connsiteX10" fmla="*/ 442215 w 511006"/>
              <a:gd name="connsiteY10" fmla="*/ 133350 h 624840"/>
              <a:gd name="connsiteX11" fmla="*/ 453645 w 511006"/>
              <a:gd name="connsiteY11" fmla="*/ 140970 h 624840"/>
              <a:gd name="connsiteX12" fmla="*/ 468885 w 511006"/>
              <a:gd name="connsiteY12" fmla="*/ 148590 h 624840"/>
              <a:gd name="connsiteX13" fmla="*/ 484125 w 511006"/>
              <a:gd name="connsiteY13" fmla="*/ 160020 h 624840"/>
              <a:gd name="connsiteX14" fmla="*/ 495555 w 511006"/>
              <a:gd name="connsiteY14" fmla="*/ 171450 h 624840"/>
              <a:gd name="connsiteX15" fmla="*/ 506985 w 511006"/>
              <a:gd name="connsiteY15" fmla="*/ 175260 h 624840"/>
              <a:gd name="connsiteX16" fmla="*/ 510795 w 511006"/>
              <a:gd name="connsiteY16" fmla="*/ 194310 h 624840"/>
              <a:gd name="connsiteX17" fmla="*/ 487935 w 511006"/>
              <a:gd name="connsiteY17" fmla="*/ 251460 h 624840"/>
              <a:gd name="connsiteX18" fmla="*/ 476505 w 511006"/>
              <a:gd name="connsiteY18" fmla="*/ 262890 h 624840"/>
              <a:gd name="connsiteX19" fmla="*/ 461265 w 511006"/>
              <a:gd name="connsiteY19" fmla="*/ 285750 h 624840"/>
              <a:gd name="connsiteX20" fmla="*/ 438405 w 511006"/>
              <a:gd name="connsiteY20" fmla="*/ 300990 h 624840"/>
              <a:gd name="connsiteX21" fmla="*/ 404115 w 511006"/>
              <a:gd name="connsiteY21" fmla="*/ 293370 h 624840"/>
              <a:gd name="connsiteX22" fmla="*/ 392685 w 511006"/>
              <a:gd name="connsiteY22" fmla="*/ 285750 h 624840"/>
              <a:gd name="connsiteX23" fmla="*/ 369825 w 511006"/>
              <a:gd name="connsiteY23" fmla="*/ 278130 h 624840"/>
              <a:gd name="connsiteX24" fmla="*/ 346965 w 511006"/>
              <a:gd name="connsiteY24" fmla="*/ 262890 h 624840"/>
              <a:gd name="connsiteX25" fmla="*/ 335535 w 511006"/>
              <a:gd name="connsiteY25" fmla="*/ 255270 h 624840"/>
              <a:gd name="connsiteX26" fmla="*/ 320295 w 511006"/>
              <a:gd name="connsiteY26" fmla="*/ 251460 h 624840"/>
              <a:gd name="connsiteX27" fmla="*/ 308865 w 511006"/>
              <a:gd name="connsiteY27" fmla="*/ 243840 h 624840"/>
              <a:gd name="connsiteX28" fmla="*/ 270765 w 511006"/>
              <a:gd name="connsiteY28" fmla="*/ 232410 h 624840"/>
              <a:gd name="connsiteX29" fmla="*/ 259335 w 511006"/>
              <a:gd name="connsiteY29" fmla="*/ 224790 h 624840"/>
              <a:gd name="connsiteX30" fmla="*/ 247905 w 511006"/>
              <a:gd name="connsiteY30" fmla="*/ 220980 h 624840"/>
              <a:gd name="connsiteX31" fmla="*/ 202185 w 511006"/>
              <a:gd name="connsiteY31" fmla="*/ 213360 h 624840"/>
              <a:gd name="connsiteX32" fmla="*/ 148845 w 511006"/>
              <a:gd name="connsiteY32" fmla="*/ 205740 h 624840"/>
              <a:gd name="connsiteX33" fmla="*/ 34545 w 511006"/>
              <a:gd name="connsiteY33" fmla="*/ 209550 h 624840"/>
              <a:gd name="connsiteX34" fmla="*/ 19305 w 511006"/>
              <a:gd name="connsiteY34" fmla="*/ 217170 h 624840"/>
              <a:gd name="connsiteX35" fmla="*/ 4065 w 511006"/>
              <a:gd name="connsiteY35" fmla="*/ 220980 h 624840"/>
              <a:gd name="connsiteX36" fmla="*/ 255 w 511006"/>
              <a:gd name="connsiteY36" fmla="*/ 232410 h 624840"/>
              <a:gd name="connsiteX37" fmla="*/ 26925 w 511006"/>
              <a:gd name="connsiteY37" fmla="*/ 259080 h 624840"/>
              <a:gd name="connsiteX38" fmla="*/ 45975 w 511006"/>
              <a:gd name="connsiteY38" fmla="*/ 281940 h 624840"/>
              <a:gd name="connsiteX39" fmla="*/ 57405 w 511006"/>
              <a:gd name="connsiteY39" fmla="*/ 289560 h 624840"/>
              <a:gd name="connsiteX40" fmla="*/ 76455 w 511006"/>
              <a:gd name="connsiteY40" fmla="*/ 308610 h 624840"/>
              <a:gd name="connsiteX41" fmla="*/ 118365 w 511006"/>
              <a:gd name="connsiteY41" fmla="*/ 335280 h 624840"/>
              <a:gd name="connsiteX42" fmla="*/ 148845 w 511006"/>
              <a:gd name="connsiteY42" fmla="*/ 354330 h 624840"/>
              <a:gd name="connsiteX43" fmla="*/ 167895 w 511006"/>
              <a:gd name="connsiteY43" fmla="*/ 361950 h 624840"/>
              <a:gd name="connsiteX44" fmla="*/ 202185 w 511006"/>
              <a:gd name="connsiteY44" fmla="*/ 377190 h 624840"/>
              <a:gd name="connsiteX45" fmla="*/ 228855 w 511006"/>
              <a:gd name="connsiteY45" fmla="*/ 396240 h 624840"/>
              <a:gd name="connsiteX46" fmla="*/ 244095 w 511006"/>
              <a:gd name="connsiteY46" fmla="*/ 400050 h 624840"/>
              <a:gd name="connsiteX47" fmla="*/ 255525 w 511006"/>
              <a:gd name="connsiteY47" fmla="*/ 411480 h 624840"/>
              <a:gd name="connsiteX48" fmla="*/ 259335 w 511006"/>
              <a:gd name="connsiteY48" fmla="*/ 495300 h 624840"/>
              <a:gd name="connsiteX49" fmla="*/ 251715 w 511006"/>
              <a:gd name="connsiteY49" fmla="*/ 518160 h 624840"/>
              <a:gd name="connsiteX50" fmla="*/ 247905 w 511006"/>
              <a:gd name="connsiteY50" fmla="*/ 567690 h 624840"/>
              <a:gd name="connsiteX51" fmla="*/ 240285 w 511006"/>
              <a:gd name="connsiteY51" fmla="*/ 594360 h 624840"/>
              <a:gd name="connsiteX52" fmla="*/ 251715 w 511006"/>
              <a:gd name="connsiteY52" fmla="*/ 624840 h 624840"/>
              <a:gd name="connsiteX0" fmla="*/ 247905 w 511006"/>
              <a:gd name="connsiteY0" fmla="*/ 0 h 624840"/>
              <a:gd name="connsiteX1" fmla="*/ 263145 w 511006"/>
              <a:gd name="connsiteY1" fmla="*/ 49530 h 624840"/>
              <a:gd name="connsiteX2" fmla="*/ 278385 w 511006"/>
              <a:gd name="connsiteY2" fmla="*/ 53340 h 624840"/>
              <a:gd name="connsiteX3" fmla="*/ 289815 w 511006"/>
              <a:gd name="connsiteY3" fmla="*/ 60960 h 624840"/>
              <a:gd name="connsiteX4" fmla="*/ 301245 w 511006"/>
              <a:gd name="connsiteY4" fmla="*/ 64770 h 624840"/>
              <a:gd name="connsiteX5" fmla="*/ 327915 w 511006"/>
              <a:gd name="connsiteY5" fmla="*/ 72390 h 624840"/>
              <a:gd name="connsiteX6" fmla="*/ 358395 w 511006"/>
              <a:gd name="connsiteY6" fmla="*/ 87630 h 624840"/>
              <a:gd name="connsiteX7" fmla="*/ 369825 w 511006"/>
              <a:gd name="connsiteY7" fmla="*/ 91440 h 624840"/>
              <a:gd name="connsiteX8" fmla="*/ 388875 w 511006"/>
              <a:gd name="connsiteY8" fmla="*/ 102870 h 624840"/>
              <a:gd name="connsiteX9" fmla="*/ 411735 w 511006"/>
              <a:gd name="connsiteY9" fmla="*/ 118110 h 624840"/>
              <a:gd name="connsiteX10" fmla="*/ 442215 w 511006"/>
              <a:gd name="connsiteY10" fmla="*/ 133350 h 624840"/>
              <a:gd name="connsiteX11" fmla="*/ 453645 w 511006"/>
              <a:gd name="connsiteY11" fmla="*/ 140970 h 624840"/>
              <a:gd name="connsiteX12" fmla="*/ 468885 w 511006"/>
              <a:gd name="connsiteY12" fmla="*/ 148590 h 624840"/>
              <a:gd name="connsiteX13" fmla="*/ 484125 w 511006"/>
              <a:gd name="connsiteY13" fmla="*/ 160020 h 624840"/>
              <a:gd name="connsiteX14" fmla="*/ 495555 w 511006"/>
              <a:gd name="connsiteY14" fmla="*/ 171450 h 624840"/>
              <a:gd name="connsiteX15" fmla="*/ 506985 w 511006"/>
              <a:gd name="connsiteY15" fmla="*/ 175260 h 624840"/>
              <a:gd name="connsiteX16" fmla="*/ 510795 w 511006"/>
              <a:gd name="connsiteY16" fmla="*/ 194310 h 624840"/>
              <a:gd name="connsiteX17" fmla="*/ 487935 w 511006"/>
              <a:gd name="connsiteY17" fmla="*/ 251460 h 624840"/>
              <a:gd name="connsiteX18" fmla="*/ 476505 w 511006"/>
              <a:gd name="connsiteY18" fmla="*/ 262890 h 624840"/>
              <a:gd name="connsiteX19" fmla="*/ 461265 w 511006"/>
              <a:gd name="connsiteY19" fmla="*/ 285750 h 624840"/>
              <a:gd name="connsiteX20" fmla="*/ 438405 w 511006"/>
              <a:gd name="connsiteY20" fmla="*/ 300990 h 624840"/>
              <a:gd name="connsiteX21" fmla="*/ 404115 w 511006"/>
              <a:gd name="connsiteY21" fmla="*/ 293370 h 624840"/>
              <a:gd name="connsiteX22" fmla="*/ 392685 w 511006"/>
              <a:gd name="connsiteY22" fmla="*/ 285750 h 624840"/>
              <a:gd name="connsiteX23" fmla="*/ 369825 w 511006"/>
              <a:gd name="connsiteY23" fmla="*/ 278130 h 624840"/>
              <a:gd name="connsiteX24" fmla="*/ 346965 w 511006"/>
              <a:gd name="connsiteY24" fmla="*/ 262890 h 624840"/>
              <a:gd name="connsiteX25" fmla="*/ 335535 w 511006"/>
              <a:gd name="connsiteY25" fmla="*/ 255270 h 624840"/>
              <a:gd name="connsiteX26" fmla="*/ 320295 w 511006"/>
              <a:gd name="connsiteY26" fmla="*/ 251460 h 624840"/>
              <a:gd name="connsiteX27" fmla="*/ 308865 w 511006"/>
              <a:gd name="connsiteY27" fmla="*/ 243840 h 624840"/>
              <a:gd name="connsiteX28" fmla="*/ 270765 w 511006"/>
              <a:gd name="connsiteY28" fmla="*/ 232410 h 624840"/>
              <a:gd name="connsiteX29" fmla="*/ 259335 w 511006"/>
              <a:gd name="connsiteY29" fmla="*/ 224790 h 624840"/>
              <a:gd name="connsiteX30" fmla="*/ 247905 w 511006"/>
              <a:gd name="connsiteY30" fmla="*/ 220980 h 624840"/>
              <a:gd name="connsiteX31" fmla="*/ 202185 w 511006"/>
              <a:gd name="connsiteY31" fmla="*/ 213360 h 624840"/>
              <a:gd name="connsiteX32" fmla="*/ 148845 w 511006"/>
              <a:gd name="connsiteY32" fmla="*/ 205740 h 624840"/>
              <a:gd name="connsiteX33" fmla="*/ 34545 w 511006"/>
              <a:gd name="connsiteY33" fmla="*/ 209550 h 624840"/>
              <a:gd name="connsiteX34" fmla="*/ 19305 w 511006"/>
              <a:gd name="connsiteY34" fmla="*/ 217170 h 624840"/>
              <a:gd name="connsiteX35" fmla="*/ 4065 w 511006"/>
              <a:gd name="connsiteY35" fmla="*/ 220980 h 624840"/>
              <a:gd name="connsiteX36" fmla="*/ 255 w 511006"/>
              <a:gd name="connsiteY36" fmla="*/ 232410 h 624840"/>
              <a:gd name="connsiteX37" fmla="*/ 26925 w 511006"/>
              <a:gd name="connsiteY37" fmla="*/ 259080 h 624840"/>
              <a:gd name="connsiteX38" fmla="*/ 45975 w 511006"/>
              <a:gd name="connsiteY38" fmla="*/ 281940 h 624840"/>
              <a:gd name="connsiteX39" fmla="*/ 57405 w 511006"/>
              <a:gd name="connsiteY39" fmla="*/ 289560 h 624840"/>
              <a:gd name="connsiteX40" fmla="*/ 76455 w 511006"/>
              <a:gd name="connsiteY40" fmla="*/ 308610 h 624840"/>
              <a:gd name="connsiteX41" fmla="*/ 118365 w 511006"/>
              <a:gd name="connsiteY41" fmla="*/ 335280 h 624840"/>
              <a:gd name="connsiteX42" fmla="*/ 148845 w 511006"/>
              <a:gd name="connsiteY42" fmla="*/ 354330 h 624840"/>
              <a:gd name="connsiteX43" fmla="*/ 167895 w 511006"/>
              <a:gd name="connsiteY43" fmla="*/ 361950 h 624840"/>
              <a:gd name="connsiteX44" fmla="*/ 202185 w 511006"/>
              <a:gd name="connsiteY44" fmla="*/ 377190 h 624840"/>
              <a:gd name="connsiteX45" fmla="*/ 228855 w 511006"/>
              <a:gd name="connsiteY45" fmla="*/ 396240 h 624840"/>
              <a:gd name="connsiteX46" fmla="*/ 244095 w 511006"/>
              <a:gd name="connsiteY46" fmla="*/ 400050 h 624840"/>
              <a:gd name="connsiteX47" fmla="*/ 255525 w 511006"/>
              <a:gd name="connsiteY47" fmla="*/ 411480 h 624840"/>
              <a:gd name="connsiteX48" fmla="*/ 259335 w 511006"/>
              <a:gd name="connsiteY48" fmla="*/ 495300 h 624840"/>
              <a:gd name="connsiteX49" fmla="*/ 251715 w 511006"/>
              <a:gd name="connsiteY49" fmla="*/ 518160 h 624840"/>
              <a:gd name="connsiteX50" fmla="*/ 247905 w 511006"/>
              <a:gd name="connsiteY50" fmla="*/ 567690 h 624840"/>
              <a:gd name="connsiteX51" fmla="*/ 251715 w 511006"/>
              <a:gd name="connsiteY51" fmla="*/ 624840 h 624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511006" h="624840">
                <a:moveTo>
                  <a:pt x="247905" y="0"/>
                </a:moveTo>
                <a:cubicBezTo>
                  <a:pt x="250049" y="21437"/>
                  <a:pt x="243620" y="38373"/>
                  <a:pt x="263145" y="49530"/>
                </a:cubicBezTo>
                <a:cubicBezTo>
                  <a:pt x="267691" y="52128"/>
                  <a:pt x="273305" y="52070"/>
                  <a:pt x="278385" y="53340"/>
                </a:cubicBezTo>
                <a:cubicBezTo>
                  <a:pt x="282195" y="55880"/>
                  <a:pt x="285719" y="58912"/>
                  <a:pt x="289815" y="60960"/>
                </a:cubicBezTo>
                <a:cubicBezTo>
                  <a:pt x="293407" y="62756"/>
                  <a:pt x="297383" y="63667"/>
                  <a:pt x="301245" y="64770"/>
                </a:cubicBezTo>
                <a:cubicBezTo>
                  <a:pt x="309080" y="67008"/>
                  <a:pt x="320185" y="68877"/>
                  <a:pt x="327915" y="72390"/>
                </a:cubicBezTo>
                <a:cubicBezTo>
                  <a:pt x="338256" y="77090"/>
                  <a:pt x="347619" y="84038"/>
                  <a:pt x="358395" y="87630"/>
                </a:cubicBezTo>
                <a:cubicBezTo>
                  <a:pt x="362205" y="88900"/>
                  <a:pt x="366233" y="89644"/>
                  <a:pt x="369825" y="91440"/>
                </a:cubicBezTo>
                <a:cubicBezTo>
                  <a:pt x="376449" y="94752"/>
                  <a:pt x="382627" y="98894"/>
                  <a:pt x="388875" y="102870"/>
                </a:cubicBezTo>
                <a:cubicBezTo>
                  <a:pt x="396601" y="107787"/>
                  <a:pt x="403544" y="114014"/>
                  <a:pt x="411735" y="118110"/>
                </a:cubicBezTo>
                <a:cubicBezTo>
                  <a:pt x="421895" y="123190"/>
                  <a:pt x="432764" y="127049"/>
                  <a:pt x="442215" y="133350"/>
                </a:cubicBezTo>
                <a:cubicBezTo>
                  <a:pt x="446025" y="135890"/>
                  <a:pt x="449669" y="138698"/>
                  <a:pt x="453645" y="140970"/>
                </a:cubicBezTo>
                <a:cubicBezTo>
                  <a:pt x="458576" y="143788"/>
                  <a:pt x="464069" y="145580"/>
                  <a:pt x="468885" y="148590"/>
                </a:cubicBezTo>
                <a:cubicBezTo>
                  <a:pt x="474270" y="151955"/>
                  <a:pt x="479304" y="155887"/>
                  <a:pt x="484125" y="160020"/>
                </a:cubicBezTo>
                <a:cubicBezTo>
                  <a:pt x="488216" y="163527"/>
                  <a:pt x="491072" y="168461"/>
                  <a:pt x="495555" y="171450"/>
                </a:cubicBezTo>
                <a:cubicBezTo>
                  <a:pt x="498897" y="173678"/>
                  <a:pt x="503175" y="173990"/>
                  <a:pt x="506985" y="175260"/>
                </a:cubicBezTo>
                <a:cubicBezTo>
                  <a:pt x="508255" y="181610"/>
                  <a:pt x="511920" y="187933"/>
                  <a:pt x="510795" y="194310"/>
                </a:cubicBezTo>
                <a:cubicBezTo>
                  <a:pt x="507965" y="210346"/>
                  <a:pt x="500516" y="236363"/>
                  <a:pt x="487935" y="251460"/>
                </a:cubicBezTo>
                <a:cubicBezTo>
                  <a:pt x="484486" y="255599"/>
                  <a:pt x="479813" y="258637"/>
                  <a:pt x="476505" y="262890"/>
                </a:cubicBezTo>
                <a:cubicBezTo>
                  <a:pt x="470882" y="270119"/>
                  <a:pt x="468885" y="280670"/>
                  <a:pt x="461265" y="285750"/>
                </a:cubicBezTo>
                <a:lnTo>
                  <a:pt x="438405" y="300990"/>
                </a:lnTo>
                <a:cubicBezTo>
                  <a:pt x="435015" y="300312"/>
                  <a:pt x="408823" y="295388"/>
                  <a:pt x="404115" y="293370"/>
                </a:cubicBezTo>
                <a:cubicBezTo>
                  <a:pt x="399906" y="291566"/>
                  <a:pt x="396869" y="287610"/>
                  <a:pt x="392685" y="285750"/>
                </a:cubicBezTo>
                <a:cubicBezTo>
                  <a:pt x="385345" y="282488"/>
                  <a:pt x="376508" y="282585"/>
                  <a:pt x="369825" y="278130"/>
                </a:cubicBezTo>
                <a:lnTo>
                  <a:pt x="346965" y="262890"/>
                </a:lnTo>
                <a:cubicBezTo>
                  <a:pt x="343155" y="260350"/>
                  <a:pt x="339977" y="256381"/>
                  <a:pt x="335535" y="255270"/>
                </a:cubicBezTo>
                <a:lnTo>
                  <a:pt x="320295" y="251460"/>
                </a:lnTo>
                <a:cubicBezTo>
                  <a:pt x="316485" y="248920"/>
                  <a:pt x="313049" y="245700"/>
                  <a:pt x="308865" y="243840"/>
                </a:cubicBezTo>
                <a:cubicBezTo>
                  <a:pt x="296939" y="238539"/>
                  <a:pt x="283431" y="235576"/>
                  <a:pt x="270765" y="232410"/>
                </a:cubicBezTo>
                <a:cubicBezTo>
                  <a:pt x="266955" y="229870"/>
                  <a:pt x="263431" y="226838"/>
                  <a:pt x="259335" y="224790"/>
                </a:cubicBezTo>
                <a:cubicBezTo>
                  <a:pt x="255743" y="222994"/>
                  <a:pt x="251843" y="221768"/>
                  <a:pt x="247905" y="220980"/>
                </a:cubicBezTo>
                <a:cubicBezTo>
                  <a:pt x="232755" y="217950"/>
                  <a:pt x="217516" y="215276"/>
                  <a:pt x="202185" y="213360"/>
                </a:cubicBezTo>
                <a:cubicBezTo>
                  <a:pt x="164040" y="208592"/>
                  <a:pt x="181805" y="211233"/>
                  <a:pt x="148845" y="205740"/>
                </a:cubicBezTo>
                <a:cubicBezTo>
                  <a:pt x="110745" y="207010"/>
                  <a:pt x="72519" y="206199"/>
                  <a:pt x="34545" y="209550"/>
                </a:cubicBezTo>
                <a:cubicBezTo>
                  <a:pt x="28887" y="210049"/>
                  <a:pt x="24623" y="215176"/>
                  <a:pt x="19305" y="217170"/>
                </a:cubicBezTo>
                <a:cubicBezTo>
                  <a:pt x="14402" y="219009"/>
                  <a:pt x="9145" y="219710"/>
                  <a:pt x="4065" y="220980"/>
                </a:cubicBezTo>
                <a:cubicBezTo>
                  <a:pt x="2795" y="224790"/>
                  <a:pt x="-1015" y="228600"/>
                  <a:pt x="255" y="232410"/>
                </a:cubicBezTo>
                <a:cubicBezTo>
                  <a:pt x="7897" y="255336"/>
                  <a:pt x="11116" y="253810"/>
                  <a:pt x="26925" y="259080"/>
                </a:cubicBezTo>
                <a:cubicBezTo>
                  <a:pt x="34417" y="270319"/>
                  <a:pt x="34974" y="272773"/>
                  <a:pt x="45975" y="281940"/>
                </a:cubicBezTo>
                <a:cubicBezTo>
                  <a:pt x="49493" y="284871"/>
                  <a:pt x="53959" y="286545"/>
                  <a:pt x="57405" y="289560"/>
                </a:cubicBezTo>
                <a:cubicBezTo>
                  <a:pt x="64163" y="295474"/>
                  <a:pt x="69505" y="302923"/>
                  <a:pt x="76455" y="308610"/>
                </a:cubicBezTo>
                <a:cubicBezTo>
                  <a:pt x="87020" y="317254"/>
                  <a:pt x="106386" y="327793"/>
                  <a:pt x="118365" y="335280"/>
                </a:cubicBezTo>
                <a:cubicBezTo>
                  <a:pt x="128525" y="341630"/>
                  <a:pt x="137721" y="349880"/>
                  <a:pt x="148845" y="354330"/>
                </a:cubicBezTo>
                <a:cubicBezTo>
                  <a:pt x="155195" y="356870"/>
                  <a:pt x="161778" y="358891"/>
                  <a:pt x="167895" y="361950"/>
                </a:cubicBezTo>
                <a:cubicBezTo>
                  <a:pt x="200851" y="378428"/>
                  <a:pt x="173103" y="369919"/>
                  <a:pt x="202185" y="377190"/>
                </a:cubicBezTo>
                <a:cubicBezTo>
                  <a:pt x="203920" y="378491"/>
                  <a:pt x="224522" y="394383"/>
                  <a:pt x="228855" y="396240"/>
                </a:cubicBezTo>
                <a:cubicBezTo>
                  <a:pt x="233668" y="398303"/>
                  <a:pt x="239015" y="398780"/>
                  <a:pt x="244095" y="400050"/>
                </a:cubicBezTo>
                <a:cubicBezTo>
                  <a:pt x="247905" y="403860"/>
                  <a:pt x="252076" y="407341"/>
                  <a:pt x="255525" y="411480"/>
                </a:cubicBezTo>
                <a:cubicBezTo>
                  <a:pt x="276351" y="436471"/>
                  <a:pt x="264427" y="452868"/>
                  <a:pt x="259335" y="495300"/>
                </a:cubicBezTo>
                <a:cubicBezTo>
                  <a:pt x="258378" y="503275"/>
                  <a:pt x="251715" y="518160"/>
                  <a:pt x="251715" y="518160"/>
                </a:cubicBezTo>
                <a:cubicBezTo>
                  <a:pt x="250445" y="534670"/>
                  <a:pt x="247905" y="549910"/>
                  <a:pt x="247905" y="567690"/>
                </a:cubicBezTo>
                <a:cubicBezTo>
                  <a:pt x="247905" y="585470"/>
                  <a:pt x="250921" y="612934"/>
                  <a:pt x="251715" y="624840"/>
                </a:cubicBezTo>
              </a:path>
            </a:pathLst>
          </a:custGeom>
          <a:noFill/>
          <a:ln w="25400" cap="flat" cmpd="sng" algn="ctr">
            <a:solidFill>
              <a:schemeClr val="tx1"/>
            </a:solidFill>
            <a:prstDash val="solid"/>
            <a:round/>
            <a:headEnd type="none" w="med" len="med"/>
            <a:tailEnd type="arrow" w="med" len="med"/>
          </a:ln>
          <a:effectLst/>
        </p:spPr>
        <p:txBody>
          <a:bodyPr rtlCol="0" anchor="ctr"/>
          <a:lstStyle/>
          <a:p>
            <a:pPr algn="ctr"/>
            <a:endParaRPr lang="en-US"/>
          </a:p>
        </p:txBody>
      </p:sp>
      <p:sp>
        <p:nvSpPr>
          <p:cNvPr id="18" name="TextBox 17"/>
          <p:cNvSpPr txBox="1"/>
          <p:nvPr/>
        </p:nvSpPr>
        <p:spPr>
          <a:xfrm>
            <a:off x="4572000" y="5034825"/>
            <a:ext cx="3657600" cy="1200329"/>
          </a:xfrm>
          <a:prstGeom prst="rect">
            <a:avLst/>
          </a:prstGeom>
          <a:solidFill>
            <a:srgbClr val="E9E1C9"/>
          </a:solidFill>
        </p:spPr>
        <p:txBody>
          <a:bodyPr wrap="square" rtlCol="0">
            <a:spAutoFit/>
          </a:bodyPr>
          <a:lstStyle/>
          <a:p>
            <a:r>
              <a:rPr lang="en-US" b="0" dirty="0" smtClean="0">
                <a:latin typeface="Calibri" pitchFamily="34" charset="0"/>
              </a:rPr>
              <a:t>And, potentially other user processes, including a child of parent</a:t>
            </a:r>
          </a:p>
        </p:txBody>
      </p:sp>
    </p:spTree>
    <p:extLst>
      <p:ext uri="{BB962C8B-B14F-4D97-AF65-F5344CB8AC3E}">
        <p14:creationId xmlns:p14="http://schemas.microsoft.com/office/powerpoint/2010/main" val="17962789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a:xfrm>
            <a:off x="304800" y="493712"/>
            <a:ext cx="8305800" cy="573088"/>
          </a:xfrm>
        </p:spPr>
        <p:txBody>
          <a:bodyPr/>
          <a:lstStyle/>
          <a:p>
            <a:r>
              <a:rPr lang="en-US" dirty="0">
                <a:latin typeface="Courier New" pitchFamily="49" charset="0"/>
              </a:rPr>
              <a:t>wait</a:t>
            </a:r>
            <a:r>
              <a:rPr lang="en-US" dirty="0"/>
              <a:t>: Synchronizing with Children</a:t>
            </a:r>
          </a:p>
        </p:txBody>
      </p:sp>
      <p:sp>
        <p:nvSpPr>
          <p:cNvPr id="499715" name="Rectangle 3"/>
          <p:cNvSpPr>
            <a:spLocks noGrp="1" noChangeArrowheads="1"/>
          </p:cNvSpPr>
          <p:nvPr>
            <p:ph type="body" idx="1"/>
          </p:nvPr>
        </p:nvSpPr>
        <p:spPr>
          <a:xfrm>
            <a:off x="304800" y="1295400"/>
            <a:ext cx="8255000" cy="5105400"/>
          </a:xfrm>
        </p:spPr>
        <p:txBody>
          <a:bodyPr/>
          <a:lstStyle/>
          <a:p>
            <a:r>
              <a:rPr lang="en-US" dirty="0" smtClean="0">
                <a:latin typeface="Calibri"/>
                <a:cs typeface="Calibri"/>
              </a:rPr>
              <a:t>Parent reaps a child by calling the </a:t>
            </a:r>
            <a:r>
              <a:rPr lang="en-US" dirty="0" smtClean="0">
                <a:latin typeface="Courier New"/>
                <a:cs typeface="Courier New"/>
              </a:rPr>
              <a:t>wait </a:t>
            </a:r>
            <a:r>
              <a:rPr lang="en-US" dirty="0" smtClean="0">
                <a:latin typeface="Calibri"/>
                <a:cs typeface="Calibri"/>
              </a:rPr>
              <a:t>function</a:t>
            </a:r>
          </a:p>
          <a:p>
            <a:pPr>
              <a:buNone/>
            </a:pPr>
            <a:endParaRPr lang="en-US" dirty="0" smtClean="0">
              <a:latin typeface="Courier New" pitchFamily="49" charset="0"/>
            </a:endParaRPr>
          </a:p>
          <a:p>
            <a:r>
              <a:rPr lang="en-US" dirty="0" err="1" smtClean="0">
                <a:latin typeface="Courier New" pitchFamily="49" charset="0"/>
              </a:rPr>
              <a:t>int</a:t>
            </a:r>
            <a:r>
              <a:rPr lang="en-US" dirty="0" smtClean="0">
                <a:latin typeface="Courier New" pitchFamily="49" charset="0"/>
              </a:rPr>
              <a:t> </a:t>
            </a:r>
            <a:r>
              <a:rPr lang="en-US" dirty="0" err="1">
                <a:latin typeface="Courier New" pitchFamily="49" charset="0"/>
              </a:rPr>
              <a:t>wait(int</a:t>
            </a:r>
            <a:r>
              <a:rPr lang="en-US" dirty="0">
                <a:latin typeface="Courier New" pitchFamily="49" charset="0"/>
              </a:rPr>
              <a:t> *</a:t>
            </a:r>
            <a:r>
              <a:rPr lang="en-US" dirty="0" err="1">
                <a:latin typeface="Courier New" pitchFamily="49" charset="0"/>
              </a:rPr>
              <a:t>child_status</a:t>
            </a:r>
            <a:r>
              <a:rPr lang="en-US" dirty="0" smtClean="0">
                <a:latin typeface="Courier New" pitchFamily="49" charset="0"/>
              </a:rPr>
              <a:t>)</a:t>
            </a:r>
            <a:endParaRPr lang="en-US" dirty="0" smtClean="0"/>
          </a:p>
          <a:p>
            <a:pPr lvl="1"/>
            <a:r>
              <a:rPr lang="en-US" dirty="0"/>
              <a:t>S</a:t>
            </a:r>
            <a:r>
              <a:rPr lang="en-US" dirty="0" smtClean="0"/>
              <a:t>uspends </a:t>
            </a:r>
            <a:r>
              <a:rPr lang="en-US" dirty="0"/>
              <a:t>current process until one of its children terminates</a:t>
            </a:r>
          </a:p>
          <a:p>
            <a:pPr lvl="1"/>
            <a:r>
              <a:rPr lang="en-US" dirty="0"/>
              <a:t>R</a:t>
            </a:r>
            <a:r>
              <a:rPr lang="en-US" dirty="0" smtClean="0"/>
              <a:t>eturn </a:t>
            </a:r>
            <a:r>
              <a:rPr lang="en-US" dirty="0"/>
              <a:t>value is the </a:t>
            </a:r>
            <a:r>
              <a:rPr lang="en-US" b="1" dirty="0" err="1">
                <a:latin typeface="Courier New" pitchFamily="49" charset="0"/>
              </a:rPr>
              <a:t>pid</a:t>
            </a:r>
            <a:r>
              <a:rPr lang="en-US" dirty="0"/>
              <a:t> of the child process that terminated</a:t>
            </a:r>
          </a:p>
          <a:p>
            <a:pPr lvl="1"/>
            <a:r>
              <a:rPr lang="en-US" dirty="0"/>
              <a:t>I</a:t>
            </a:r>
            <a:r>
              <a:rPr lang="en-US" dirty="0" smtClean="0"/>
              <a:t>f </a:t>
            </a:r>
            <a:r>
              <a:rPr lang="en-US" b="1" dirty="0" err="1">
                <a:latin typeface="Courier New" pitchFamily="49" charset="0"/>
              </a:rPr>
              <a:t>child_status</a:t>
            </a:r>
            <a:r>
              <a:rPr lang="en-US" b="1" dirty="0"/>
              <a:t> </a:t>
            </a:r>
            <a:r>
              <a:rPr lang="en-US" b="1" dirty="0">
                <a:latin typeface="Courier New" pitchFamily="49" charset="0"/>
              </a:rPr>
              <a:t>!= NULL</a:t>
            </a:r>
            <a:r>
              <a:rPr lang="en-US" dirty="0"/>
              <a:t>, then the </a:t>
            </a:r>
            <a:r>
              <a:rPr lang="en-US" dirty="0" smtClean="0"/>
              <a:t>integer it </a:t>
            </a:r>
            <a:r>
              <a:rPr lang="en-US" dirty="0"/>
              <a:t>points to will be set to  </a:t>
            </a:r>
            <a:r>
              <a:rPr lang="en-US" dirty="0" smtClean="0"/>
              <a:t>a value that indicates reason the child terminated and the exit status:</a:t>
            </a:r>
          </a:p>
          <a:p>
            <a:pPr lvl="2"/>
            <a:r>
              <a:rPr lang="en-US" dirty="0" smtClean="0"/>
              <a:t>Checked using macros defined in </a:t>
            </a:r>
            <a:r>
              <a:rPr lang="en-US" dirty="0" err="1" smtClean="0">
                <a:latin typeface="Courier New"/>
                <a:cs typeface="Courier New"/>
              </a:rPr>
              <a:t>wait.h</a:t>
            </a:r>
            <a:endParaRPr lang="en-US" dirty="0" smtClean="0">
              <a:latin typeface="Courier New"/>
              <a:cs typeface="Courier New"/>
            </a:endParaRPr>
          </a:p>
          <a:p>
            <a:pPr lvl="3"/>
            <a:r>
              <a:rPr lang="en-US" dirty="0" smtClean="0">
                <a:latin typeface="Courier New"/>
                <a:cs typeface="Courier New"/>
              </a:rPr>
              <a:t>WIFEXITED, WEXITSTATUS, WIFSIGNALED, WTERMSIG, WIFSTOPPED, WSTOPSIG, WIFCONTINUED</a:t>
            </a:r>
          </a:p>
          <a:p>
            <a:pPr lvl="3"/>
            <a:r>
              <a:rPr lang="en-US" dirty="0" smtClean="0">
                <a:latin typeface="Calibri"/>
                <a:cs typeface="Calibri"/>
              </a:rPr>
              <a:t>See textbook for details</a:t>
            </a:r>
            <a:endParaRPr lang="en-US" dirty="0">
              <a:latin typeface="Calibri"/>
              <a:cs typeface="Calibri"/>
            </a:endParaRPr>
          </a:p>
        </p:txBody>
      </p:sp>
    </p:spTree>
    <p:extLst>
      <p:ext uri="{BB962C8B-B14F-4D97-AF65-F5344CB8AC3E}">
        <p14:creationId xmlns:p14="http://schemas.microsoft.com/office/powerpoint/2010/main" val="3820650873"/>
      </p:ext>
    </p:extLst>
  </p:cSld>
  <p:clrMapOvr>
    <a:masterClrMapping/>
  </p:clrMapOvr>
  <p:timing>
    <p:tnLst>
      <p:par>
        <p:cTn xmlns:p14="http://schemas.microsoft.com/office/powerpoint/2010/mai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r>
              <a:rPr lang="en-US">
                <a:latin typeface="Courier New" pitchFamily="49" charset="0"/>
              </a:rPr>
              <a:t>wait</a:t>
            </a:r>
            <a:r>
              <a:rPr lang="en-US"/>
              <a:t>: Synchronizing with Children</a:t>
            </a:r>
          </a:p>
        </p:txBody>
      </p:sp>
      <p:sp>
        <p:nvSpPr>
          <p:cNvPr id="506884" name="Text Box 4"/>
          <p:cNvSpPr txBox="1">
            <a:spLocks noChangeArrowheads="1"/>
          </p:cNvSpPr>
          <p:nvPr/>
        </p:nvSpPr>
        <p:spPr bwMode="auto">
          <a:xfrm>
            <a:off x="152400" y="1507391"/>
            <a:ext cx="5743580" cy="3293209"/>
          </a:xfrm>
          <a:prstGeom prst="rect">
            <a:avLst/>
          </a:prstGeom>
          <a:solidFill>
            <a:srgbClr val="F6F5BD"/>
          </a:solidFill>
          <a:ln w="3175">
            <a:solidFill>
              <a:schemeClr val="tx1"/>
            </a:solidFill>
            <a:miter lim="800000"/>
            <a:headEnd/>
            <a:tailEnd/>
          </a:ln>
          <a:effectLst/>
        </p:spPr>
        <p:txBody>
          <a:bodyPr wrap="none">
            <a:spAutoFit/>
          </a:bodyPr>
          <a:lstStyle/>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a:solidFill>
                  <a:srgbClr val="4A00FF"/>
                </a:solidFill>
                <a:latin typeface="Courier New"/>
                <a:cs typeface="Courier New"/>
              </a:rPr>
              <a:t>fork9</a:t>
            </a:r>
            <a:r>
              <a:rPr lang="en-US" sz="1600" dirty="0">
                <a:solidFill>
                  <a:srgbClr val="000000"/>
                </a:solidFill>
                <a:latin typeface="Courier New"/>
                <a:cs typeface="Courier New"/>
              </a:rPr>
              <a:t>(</a:t>
            </a:r>
            <a:r>
              <a:rPr lang="en-US" sz="1600" dirty="0" smtClean="0">
                <a:solidFill>
                  <a:srgbClr val="000000"/>
                </a:solidFill>
                <a:latin typeface="Courier New"/>
                <a:cs typeface="Courier New"/>
              </a:rPr>
              <a: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err="1">
                <a:solidFill>
                  <a:srgbClr val="C1651C"/>
                </a:solidFill>
                <a:latin typeface="Courier New"/>
                <a:cs typeface="Courier New"/>
              </a:rPr>
              <a:t>child_status</a:t>
            </a:r>
            <a:r>
              <a:rPr lang="en-US" sz="1600" dirty="0">
                <a:solidFill>
                  <a:srgbClr val="000000"/>
                </a:solidFill>
                <a:latin typeface="Courier New"/>
                <a:cs typeface="Courier New"/>
              </a:rPr>
              <a:t>;</a:t>
            </a:r>
          </a:p>
          <a:p>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(fork() == 0) {</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"HC: hello from child\n"</a:t>
            </a:r>
            <a:r>
              <a:rPr lang="en-US" sz="1600" dirty="0">
                <a:solidFill>
                  <a:srgbClr val="000000"/>
                </a:solidFill>
                <a:latin typeface="Courier New"/>
                <a:cs typeface="Courier New"/>
              </a:rPr>
              <a:t>);</a:t>
            </a:r>
          </a:p>
          <a:p>
            <a:r>
              <a:rPr lang="en-US" sz="1600" dirty="0">
                <a:solidFill>
                  <a:srgbClr val="000000"/>
                </a:solidFill>
                <a:latin typeface="Courier New"/>
                <a:cs typeface="Courier New"/>
              </a:rPr>
              <a:t>	exit(0);</a:t>
            </a:r>
          </a:p>
          <a:p>
            <a:r>
              <a:rPr lang="da-DK" sz="1600" dirty="0">
                <a:solidFill>
                  <a:srgbClr val="000000"/>
                </a:solidFill>
                <a:latin typeface="Courier New"/>
                <a:cs typeface="Courier New"/>
              </a:rPr>
              <a:t>    } </a:t>
            </a:r>
            <a:r>
              <a:rPr lang="da-DK" sz="1600" dirty="0" err="1">
                <a:solidFill>
                  <a:srgbClr val="C200FF"/>
                </a:solidFill>
                <a:latin typeface="Courier New"/>
                <a:cs typeface="Courier New"/>
              </a:rPr>
              <a:t>else</a:t>
            </a:r>
            <a:r>
              <a:rPr lang="da-DK" sz="1600" dirty="0">
                <a:solidFill>
                  <a:srgbClr val="000000"/>
                </a:solidFill>
                <a:latin typeface="Courier New"/>
                <a:cs typeface="Courier New"/>
              </a:rPr>
              <a:t> {</a:t>
            </a:r>
          </a:p>
          <a:p>
            <a:r>
              <a:rPr lang="da-DK" sz="1600" dirty="0">
                <a:solidFill>
                  <a:srgbClr val="000000"/>
                </a:solidFill>
                <a:latin typeface="Courier New"/>
                <a:cs typeface="Courier New"/>
              </a:rPr>
              <a:t>        </a:t>
            </a:r>
            <a:r>
              <a:rPr lang="da-DK" sz="1600" dirty="0" err="1">
                <a:solidFill>
                  <a:srgbClr val="000000"/>
                </a:solidFill>
                <a:latin typeface="Courier New"/>
                <a:cs typeface="Courier New"/>
              </a:rPr>
              <a:t>printf</a:t>
            </a:r>
            <a:r>
              <a:rPr lang="da-DK" sz="1600" dirty="0">
                <a:solidFill>
                  <a:srgbClr val="000000"/>
                </a:solidFill>
                <a:latin typeface="Courier New"/>
                <a:cs typeface="Courier New"/>
              </a:rPr>
              <a:t>(</a:t>
            </a:r>
            <a:r>
              <a:rPr lang="da-DK" sz="1600" dirty="0">
                <a:solidFill>
                  <a:srgbClr val="9D206F"/>
                </a:solidFill>
                <a:latin typeface="Courier New"/>
                <a:cs typeface="Courier New"/>
              </a:rPr>
              <a:t>"HP: </a:t>
            </a:r>
            <a:r>
              <a:rPr lang="da-DK" sz="1600" dirty="0" err="1">
                <a:solidFill>
                  <a:srgbClr val="9D206F"/>
                </a:solidFill>
                <a:latin typeface="Courier New"/>
                <a:cs typeface="Courier New"/>
              </a:rPr>
              <a:t>hello</a:t>
            </a:r>
            <a:r>
              <a:rPr lang="da-DK" sz="1600" dirty="0">
                <a:solidFill>
                  <a:srgbClr val="9D206F"/>
                </a:solidFill>
                <a:latin typeface="Courier New"/>
                <a:cs typeface="Courier New"/>
              </a:rPr>
              <a:t> from </a:t>
            </a:r>
            <a:r>
              <a:rPr lang="da-DK" sz="1600" dirty="0" err="1">
                <a:solidFill>
                  <a:srgbClr val="9D206F"/>
                </a:solidFill>
                <a:latin typeface="Courier New"/>
                <a:cs typeface="Courier New"/>
              </a:rPr>
              <a:t>parent</a:t>
            </a:r>
            <a:r>
              <a:rPr lang="da-DK" sz="1600" dirty="0">
                <a:solidFill>
                  <a:srgbClr val="9D206F"/>
                </a:solidFill>
                <a:latin typeface="Courier New"/>
                <a:cs typeface="Courier New"/>
              </a:rPr>
              <a:t>\n"</a:t>
            </a:r>
            <a:r>
              <a:rPr lang="da-DK" sz="1600" dirty="0">
                <a:solidFill>
                  <a:srgbClr val="000000"/>
                </a:solidFill>
                <a:latin typeface="Courier New"/>
                <a:cs typeface="Courier New"/>
              </a:rPr>
              <a:t>);</a:t>
            </a:r>
          </a:p>
          <a:p>
            <a:r>
              <a:rPr lang="da-DK" sz="1600" dirty="0">
                <a:solidFill>
                  <a:srgbClr val="000000"/>
                </a:solidFill>
                <a:latin typeface="Courier New"/>
                <a:cs typeface="Courier New"/>
              </a:rPr>
              <a:t>        </a:t>
            </a:r>
            <a:r>
              <a:rPr lang="da-DK" sz="1600" dirty="0" err="1">
                <a:solidFill>
                  <a:srgbClr val="000000"/>
                </a:solidFill>
                <a:latin typeface="Courier New"/>
                <a:cs typeface="Courier New"/>
              </a:rPr>
              <a:t>wait</a:t>
            </a:r>
            <a:r>
              <a:rPr lang="da-DK" sz="1600" dirty="0">
                <a:solidFill>
                  <a:srgbClr val="000000"/>
                </a:solidFill>
                <a:latin typeface="Courier New"/>
                <a:cs typeface="Courier New"/>
              </a:rPr>
              <a:t>(&amp;</a:t>
            </a:r>
            <a:r>
              <a:rPr lang="da-DK" sz="1600" dirty="0" err="1">
                <a:solidFill>
                  <a:srgbClr val="000000"/>
                </a:solidFill>
                <a:latin typeface="Courier New"/>
                <a:cs typeface="Courier New"/>
              </a:rPr>
              <a:t>child_status</a:t>
            </a:r>
            <a:r>
              <a:rPr lang="da-DK" sz="1600" dirty="0">
                <a:solidFill>
                  <a:srgbClr val="000000"/>
                </a:solidFill>
                <a:latin typeface="Courier New"/>
                <a:cs typeface="Courier New"/>
              </a:rPr>
              <a:t>);</a:t>
            </a:r>
          </a:p>
          <a:p>
            <a:r>
              <a:rPr lang="da-DK" sz="1600" dirty="0">
                <a:solidFill>
                  <a:srgbClr val="000000"/>
                </a:solidFill>
                <a:latin typeface="Courier New"/>
                <a:cs typeface="Courier New"/>
              </a:rPr>
              <a:t>        </a:t>
            </a:r>
            <a:r>
              <a:rPr lang="da-DK" sz="1600" dirty="0" err="1">
                <a:solidFill>
                  <a:srgbClr val="000000"/>
                </a:solidFill>
                <a:latin typeface="Courier New"/>
                <a:cs typeface="Courier New"/>
              </a:rPr>
              <a:t>printf</a:t>
            </a:r>
            <a:r>
              <a:rPr lang="da-DK" sz="1600" dirty="0">
                <a:solidFill>
                  <a:srgbClr val="000000"/>
                </a:solidFill>
                <a:latin typeface="Courier New"/>
                <a:cs typeface="Courier New"/>
              </a:rPr>
              <a:t>(</a:t>
            </a:r>
            <a:r>
              <a:rPr lang="da-DK" sz="1600" dirty="0">
                <a:solidFill>
                  <a:srgbClr val="9D206F"/>
                </a:solidFill>
                <a:latin typeface="Courier New"/>
                <a:cs typeface="Courier New"/>
              </a:rPr>
              <a:t>"CT: </a:t>
            </a:r>
            <a:r>
              <a:rPr lang="da-DK" sz="1600" dirty="0" err="1">
                <a:solidFill>
                  <a:srgbClr val="9D206F"/>
                </a:solidFill>
                <a:latin typeface="Courier New"/>
                <a:cs typeface="Courier New"/>
              </a:rPr>
              <a:t>child</a:t>
            </a:r>
            <a:r>
              <a:rPr lang="da-DK" sz="1600" dirty="0">
                <a:solidFill>
                  <a:srgbClr val="9D206F"/>
                </a:solidFill>
                <a:latin typeface="Courier New"/>
                <a:cs typeface="Courier New"/>
              </a:rPr>
              <a:t> has </a:t>
            </a:r>
            <a:r>
              <a:rPr lang="da-DK" sz="1600" dirty="0" err="1">
                <a:solidFill>
                  <a:srgbClr val="9D206F"/>
                </a:solidFill>
                <a:latin typeface="Courier New"/>
                <a:cs typeface="Courier New"/>
              </a:rPr>
              <a:t>terminated</a:t>
            </a:r>
            <a:r>
              <a:rPr lang="da-DK" sz="1600" dirty="0">
                <a:solidFill>
                  <a:srgbClr val="9D206F"/>
                </a:solidFill>
                <a:latin typeface="Courier New"/>
                <a:cs typeface="Courier New"/>
              </a:rPr>
              <a:t>\n"</a:t>
            </a:r>
            <a:r>
              <a:rPr lang="da-DK" sz="1600" dirty="0">
                <a:solidFill>
                  <a:srgbClr val="000000"/>
                </a:solidFill>
                <a:latin typeface="Courier New"/>
                <a:cs typeface="Courier New"/>
              </a:rPr>
              <a:t>);</a:t>
            </a:r>
          </a:p>
          <a:p>
            <a:r>
              <a:rPr lang="da-DK"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"Bye\n"</a:t>
            </a:r>
            <a:r>
              <a:rPr lang="en-US" sz="1600" dirty="0">
                <a:solidFill>
                  <a:srgbClr val="000000"/>
                </a:solidFill>
                <a:latin typeface="Courier New"/>
                <a:cs typeface="Courier New"/>
              </a:rPr>
              <a:t>);</a:t>
            </a:r>
          </a:p>
          <a:p>
            <a:r>
              <a:rPr lang="en-US" sz="1600" dirty="0" smtClean="0">
                <a:solidFill>
                  <a:srgbClr val="000000"/>
                </a:solidFill>
                <a:latin typeface="Courier New"/>
                <a:cs typeface="Courier New"/>
              </a:rPr>
              <a:t>}</a:t>
            </a:r>
            <a:endParaRPr lang="en-US" sz="1600" dirty="0">
              <a:solidFill>
                <a:srgbClr val="000000"/>
              </a:solidFill>
              <a:latin typeface="Courier New"/>
              <a:cs typeface="Courier New"/>
            </a:endParaRPr>
          </a:p>
        </p:txBody>
      </p:sp>
      <p:grpSp>
        <p:nvGrpSpPr>
          <p:cNvPr id="8" name="Group 7"/>
          <p:cNvGrpSpPr>
            <a:grpSpLocks noChangeAspect="1"/>
          </p:cNvGrpSpPr>
          <p:nvPr/>
        </p:nvGrpSpPr>
        <p:grpSpPr>
          <a:xfrm>
            <a:off x="5936076" y="1959174"/>
            <a:ext cx="3131724" cy="1850826"/>
            <a:chOff x="4592180" y="4635500"/>
            <a:chExt cx="3367445" cy="1990135"/>
          </a:xfrm>
        </p:grpSpPr>
        <p:sp>
          <p:nvSpPr>
            <p:cNvPr id="28" name="Oval 27"/>
            <p:cNvSpPr>
              <a:spLocks noChangeAspect="1"/>
            </p:cNvSpPr>
            <p:nvPr/>
          </p:nvSpPr>
          <p:spPr>
            <a:xfrm>
              <a:off x="5709180" y="62280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29" name="Oval 28"/>
            <p:cNvSpPr>
              <a:spLocks noChangeAspect="1"/>
            </p:cNvSpPr>
            <p:nvPr/>
          </p:nvSpPr>
          <p:spPr>
            <a:xfrm>
              <a:off x="6639514" y="623147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30" name="TextBox 29"/>
            <p:cNvSpPr txBox="1"/>
            <p:nvPr/>
          </p:nvSpPr>
          <p:spPr>
            <a:xfrm>
              <a:off x="5259804" y="6265446"/>
              <a:ext cx="950256" cy="347489"/>
            </a:xfrm>
            <a:prstGeom prst="rect">
              <a:avLst/>
            </a:prstGeom>
            <a:noFill/>
          </p:spPr>
          <p:txBody>
            <a:bodyPr wrap="square" rtlCol="0">
              <a:spAutoFit/>
            </a:bodyPr>
            <a:lstStyle/>
            <a:p>
              <a:pPr algn="ctr"/>
              <a:r>
                <a:rPr lang="en-US" sz="1500" b="1" dirty="0" err="1" smtClean="0">
                  <a:latin typeface="Courier New"/>
                  <a:cs typeface="Courier New"/>
                </a:rPr>
                <a:t>printf</a:t>
              </a:r>
              <a:endParaRPr lang="en-US" sz="1500" b="1" dirty="0">
                <a:latin typeface="Courier New"/>
                <a:cs typeface="Courier New"/>
              </a:endParaRPr>
            </a:p>
          </p:txBody>
        </p:sp>
        <p:cxnSp>
          <p:nvCxnSpPr>
            <p:cNvPr id="33" name="Straight Arrow Connector 32"/>
            <p:cNvCxnSpPr/>
            <p:nvPr/>
          </p:nvCxnSpPr>
          <p:spPr>
            <a:xfrm flipV="1">
              <a:off x="5800620" y="6270421"/>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210159" y="6265446"/>
              <a:ext cx="947223" cy="347489"/>
            </a:xfrm>
            <a:prstGeom prst="rect">
              <a:avLst/>
            </a:prstGeom>
            <a:noFill/>
          </p:spPr>
          <p:txBody>
            <a:bodyPr wrap="square" rtlCol="0">
              <a:spAutoFit/>
            </a:bodyPr>
            <a:lstStyle/>
            <a:p>
              <a:pPr algn="ctr"/>
              <a:r>
                <a:rPr lang="en-US" sz="1500" b="1" dirty="0" smtClean="0">
                  <a:latin typeface="Courier New"/>
                  <a:cs typeface="Courier New"/>
                </a:rPr>
                <a:t>wait</a:t>
              </a:r>
              <a:endParaRPr lang="en-US" sz="1500" b="1" dirty="0">
                <a:latin typeface="Courier New"/>
                <a:cs typeface="Courier New"/>
              </a:endParaRPr>
            </a:p>
          </p:txBody>
        </p:sp>
        <p:cxnSp>
          <p:nvCxnSpPr>
            <p:cNvPr id="37" name="Straight Arrow Connector 36"/>
            <p:cNvCxnSpPr/>
            <p:nvPr/>
          </p:nvCxnSpPr>
          <p:spPr>
            <a:xfrm flipV="1">
              <a:off x="6725234" y="6263645"/>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Oval 37"/>
            <p:cNvSpPr>
              <a:spLocks noChangeAspect="1"/>
            </p:cNvSpPr>
            <p:nvPr/>
          </p:nvSpPr>
          <p:spPr>
            <a:xfrm>
              <a:off x="7564128" y="6211575"/>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39" name="TextBox 38"/>
            <p:cNvSpPr txBox="1"/>
            <p:nvPr/>
          </p:nvSpPr>
          <p:spPr>
            <a:xfrm>
              <a:off x="7012402" y="6265446"/>
              <a:ext cx="947223" cy="347489"/>
            </a:xfrm>
            <a:prstGeom prst="rect">
              <a:avLst/>
            </a:prstGeom>
            <a:noFill/>
          </p:spPr>
          <p:txBody>
            <a:bodyPr wrap="square" rtlCol="0">
              <a:spAutoFit/>
            </a:bodyPr>
            <a:lstStyle/>
            <a:p>
              <a:pPr algn="ctr"/>
              <a:r>
                <a:rPr lang="en-US" sz="1500" b="1" dirty="0" err="1" smtClean="0">
                  <a:latin typeface="Courier New"/>
                  <a:cs typeface="Courier New"/>
                </a:rPr>
                <a:t>printf</a:t>
              </a:r>
              <a:endParaRPr lang="en-US" sz="1500" b="1" dirty="0">
                <a:latin typeface="Courier New"/>
                <a:cs typeface="Courier New"/>
              </a:endParaRPr>
            </a:p>
          </p:txBody>
        </p:sp>
        <p:sp>
          <p:nvSpPr>
            <p:cNvPr id="40" name="Oval 39"/>
            <p:cNvSpPr>
              <a:spLocks noChangeAspect="1"/>
            </p:cNvSpPr>
            <p:nvPr/>
          </p:nvSpPr>
          <p:spPr>
            <a:xfrm>
              <a:off x="4782080" y="62407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41" name="TextBox 40"/>
            <p:cNvSpPr txBox="1"/>
            <p:nvPr/>
          </p:nvSpPr>
          <p:spPr>
            <a:xfrm>
              <a:off x="4592180" y="6278146"/>
              <a:ext cx="799809" cy="347489"/>
            </a:xfrm>
            <a:prstGeom prst="rect">
              <a:avLst/>
            </a:prstGeom>
            <a:noFill/>
          </p:spPr>
          <p:txBody>
            <a:bodyPr wrap="square" rtlCol="0">
              <a:spAutoFit/>
            </a:bodyPr>
            <a:lstStyle/>
            <a:p>
              <a:pPr algn="ctr"/>
              <a:r>
                <a:rPr lang="en-US" sz="1500" b="1" dirty="0" smtClean="0">
                  <a:latin typeface="Courier New"/>
                  <a:cs typeface="Courier New"/>
                </a:rPr>
                <a:t>fork</a:t>
              </a:r>
              <a:endParaRPr lang="en-US" sz="1500" b="1" dirty="0">
                <a:latin typeface="Courier New"/>
                <a:cs typeface="Courier New"/>
              </a:endParaRPr>
            </a:p>
          </p:txBody>
        </p:sp>
        <p:cxnSp>
          <p:nvCxnSpPr>
            <p:cNvPr id="42" name="Straight Arrow Connector 41"/>
            <p:cNvCxnSpPr/>
            <p:nvPr/>
          </p:nvCxnSpPr>
          <p:spPr>
            <a:xfrm flipV="1">
              <a:off x="4873520" y="6272957"/>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3" name="Elbow Connector 35"/>
            <p:cNvCxnSpPr>
              <a:endCxn id="44" idx="2"/>
            </p:cNvCxnSpPr>
            <p:nvPr/>
          </p:nvCxnSpPr>
          <p:spPr>
            <a:xfrm rot="5400000" flipH="1" flipV="1">
              <a:off x="4638234" y="5169845"/>
              <a:ext cx="1262381" cy="879511"/>
            </a:xfrm>
            <a:prstGeom prst="bentConnector2">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44" name="Oval 43"/>
            <p:cNvSpPr>
              <a:spLocks noChangeAspect="1"/>
            </p:cNvSpPr>
            <p:nvPr/>
          </p:nvSpPr>
          <p:spPr>
            <a:xfrm>
              <a:off x="5709180" y="4932689"/>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45" name="Oval 44"/>
            <p:cNvSpPr>
              <a:spLocks noChangeAspect="1"/>
            </p:cNvSpPr>
            <p:nvPr/>
          </p:nvSpPr>
          <p:spPr>
            <a:xfrm>
              <a:off x="6639514" y="4936077"/>
              <a:ext cx="91440" cy="9144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a:p>
          </p:txBody>
        </p:sp>
        <p:sp>
          <p:nvSpPr>
            <p:cNvPr id="46" name="TextBox 45"/>
            <p:cNvSpPr txBox="1"/>
            <p:nvPr/>
          </p:nvSpPr>
          <p:spPr>
            <a:xfrm>
              <a:off x="5222269" y="4940300"/>
              <a:ext cx="1017034" cy="347489"/>
            </a:xfrm>
            <a:prstGeom prst="rect">
              <a:avLst/>
            </a:prstGeom>
            <a:noFill/>
          </p:spPr>
          <p:txBody>
            <a:bodyPr wrap="square" rtlCol="0">
              <a:spAutoFit/>
            </a:bodyPr>
            <a:lstStyle/>
            <a:p>
              <a:pPr algn="ctr"/>
              <a:r>
                <a:rPr lang="en-US" sz="1500" b="1" dirty="0" err="1" smtClean="0">
                  <a:latin typeface="Courier New"/>
                  <a:cs typeface="Courier New"/>
                </a:rPr>
                <a:t>printf</a:t>
              </a:r>
              <a:endParaRPr lang="en-US" sz="1500" b="1" dirty="0">
                <a:latin typeface="Courier New"/>
                <a:cs typeface="Courier New"/>
              </a:endParaRPr>
            </a:p>
          </p:txBody>
        </p:sp>
        <p:cxnSp>
          <p:nvCxnSpPr>
            <p:cNvPr id="49" name="Straight Arrow Connector 48"/>
            <p:cNvCxnSpPr/>
            <p:nvPr/>
          </p:nvCxnSpPr>
          <p:spPr>
            <a:xfrm flipV="1">
              <a:off x="5800620" y="4975021"/>
              <a:ext cx="838894" cy="3388"/>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a:endCxn id="29" idx="7"/>
            </p:cNvCxnSpPr>
            <p:nvPr/>
          </p:nvCxnSpPr>
          <p:spPr>
            <a:xfrm flipH="1">
              <a:off x="6717563" y="4971633"/>
              <a:ext cx="7671" cy="1273235"/>
            </a:xfrm>
            <a:prstGeom prst="straightConnector1">
              <a:avLst/>
            </a:prstGeom>
            <a:ln w="12700" cmpd="sng">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242981" y="4639856"/>
              <a:ext cx="947223" cy="347489"/>
            </a:xfrm>
            <a:prstGeom prst="rect">
              <a:avLst/>
            </a:prstGeom>
            <a:noFill/>
          </p:spPr>
          <p:txBody>
            <a:bodyPr wrap="square" rtlCol="0">
              <a:spAutoFit/>
            </a:bodyPr>
            <a:lstStyle/>
            <a:p>
              <a:pPr algn="ctr"/>
              <a:r>
                <a:rPr lang="en-US" sz="1500" b="1" dirty="0" smtClean="0">
                  <a:latin typeface="Courier New"/>
                  <a:cs typeface="Courier New"/>
                </a:rPr>
                <a:t>exit</a:t>
              </a:r>
              <a:endParaRPr lang="en-US" sz="1500" b="1" dirty="0">
                <a:latin typeface="Courier New"/>
                <a:cs typeface="Courier New"/>
              </a:endParaRPr>
            </a:p>
          </p:txBody>
        </p:sp>
        <p:sp>
          <p:nvSpPr>
            <p:cNvPr id="58" name="TextBox 57"/>
            <p:cNvSpPr txBox="1"/>
            <p:nvPr/>
          </p:nvSpPr>
          <p:spPr>
            <a:xfrm>
              <a:off x="5543922" y="5940811"/>
              <a:ext cx="446813" cy="347489"/>
            </a:xfrm>
            <a:prstGeom prst="rect">
              <a:avLst/>
            </a:prstGeom>
            <a:noFill/>
          </p:spPr>
          <p:txBody>
            <a:bodyPr wrap="none" rtlCol="0">
              <a:spAutoFit/>
            </a:bodyPr>
            <a:lstStyle/>
            <a:p>
              <a:pPr algn="ctr"/>
              <a:r>
                <a:rPr lang="en-US" sz="1500" b="1" dirty="0" smtClean="0">
                  <a:solidFill>
                    <a:srgbClr val="FF0000"/>
                  </a:solidFill>
                  <a:latin typeface="Courier New"/>
                  <a:cs typeface="Courier New"/>
                </a:rPr>
                <a:t>HP</a:t>
              </a:r>
              <a:endParaRPr lang="en-US" sz="1500" b="1" dirty="0">
                <a:solidFill>
                  <a:srgbClr val="FF0000"/>
                </a:solidFill>
                <a:latin typeface="Courier New"/>
                <a:cs typeface="Courier New"/>
              </a:endParaRPr>
            </a:p>
          </p:txBody>
        </p:sp>
        <p:sp>
          <p:nvSpPr>
            <p:cNvPr id="59" name="TextBox 58"/>
            <p:cNvSpPr txBox="1"/>
            <p:nvPr/>
          </p:nvSpPr>
          <p:spPr>
            <a:xfrm>
              <a:off x="5543922" y="4635500"/>
              <a:ext cx="446813" cy="347489"/>
            </a:xfrm>
            <a:prstGeom prst="rect">
              <a:avLst/>
            </a:prstGeom>
            <a:noFill/>
          </p:spPr>
          <p:txBody>
            <a:bodyPr wrap="none" rtlCol="0">
              <a:spAutoFit/>
            </a:bodyPr>
            <a:lstStyle/>
            <a:p>
              <a:pPr algn="ctr"/>
              <a:r>
                <a:rPr lang="en-US" sz="1500" b="1" dirty="0" smtClean="0">
                  <a:solidFill>
                    <a:srgbClr val="FF0000"/>
                  </a:solidFill>
                  <a:latin typeface="Courier New"/>
                  <a:cs typeface="Courier New"/>
                </a:rPr>
                <a:t>HC</a:t>
              </a:r>
              <a:endParaRPr lang="en-US" sz="1500" b="1" dirty="0">
                <a:solidFill>
                  <a:srgbClr val="FF0000"/>
                </a:solidFill>
                <a:latin typeface="Courier New"/>
                <a:cs typeface="Courier New"/>
              </a:endParaRPr>
            </a:p>
          </p:txBody>
        </p:sp>
        <p:sp>
          <p:nvSpPr>
            <p:cNvPr id="60" name="TextBox 59"/>
            <p:cNvSpPr txBox="1"/>
            <p:nvPr/>
          </p:nvSpPr>
          <p:spPr>
            <a:xfrm>
              <a:off x="7308765" y="5626100"/>
              <a:ext cx="570937" cy="595697"/>
            </a:xfrm>
            <a:prstGeom prst="rect">
              <a:avLst/>
            </a:prstGeom>
            <a:noFill/>
          </p:spPr>
          <p:txBody>
            <a:bodyPr wrap="none" rtlCol="0">
              <a:spAutoFit/>
            </a:bodyPr>
            <a:lstStyle/>
            <a:p>
              <a:pPr algn="ctr"/>
              <a:r>
                <a:rPr lang="en-US" sz="1500" b="1" dirty="0" smtClean="0">
                  <a:solidFill>
                    <a:srgbClr val="FF0000"/>
                  </a:solidFill>
                  <a:latin typeface="Courier New"/>
                  <a:cs typeface="Courier New"/>
                </a:rPr>
                <a:t>CT</a:t>
              </a:r>
            </a:p>
            <a:p>
              <a:pPr algn="ctr"/>
              <a:r>
                <a:rPr lang="en-US" sz="1500" b="1" dirty="0" smtClean="0">
                  <a:solidFill>
                    <a:srgbClr val="FF0000"/>
                  </a:solidFill>
                  <a:latin typeface="Courier New"/>
                  <a:cs typeface="Courier New"/>
                </a:rPr>
                <a:t>Bye</a:t>
              </a:r>
              <a:endParaRPr lang="en-US" sz="1500" b="1" dirty="0">
                <a:solidFill>
                  <a:srgbClr val="FF0000"/>
                </a:solidFill>
                <a:latin typeface="Courier New"/>
                <a:cs typeface="Courier New"/>
              </a:endParaRPr>
            </a:p>
          </p:txBody>
        </p:sp>
      </p:grpSp>
      <p:sp>
        <p:nvSpPr>
          <p:cNvPr id="62" name="Rectangle 3"/>
          <p:cNvSpPr>
            <a:spLocks noChangeArrowheads="1"/>
          </p:cNvSpPr>
          <p:nvPr/>
        </p:nvSpPr>
        <p:spPr bwMode="auto">
          <a:xfrm>
            <a:off x="4800600" y="4495800"/>
            <a:ext cx="1205816"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forks.c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66" name="TextBox 65"/>
          <p:cNvSpPr txBox="1"/>
          <p:nvPr/>
        </p:nvSpPr>
        <p:spPr>
          <a:xfrm>
            <a:off x="3124200" y="4999672"/>
            <a:ext cx="1737938" cy="1477328"/>
          </a:xfrm>
          <a:prstGeom prst="rect">
            <a:avLst/>
          </a:prstGeom>
          <a:noFill/>
        </p:spPr>
        <p:txBody>
          <a:bodyPr wrap="none" rtlCol="0">
            <a:spAutoFit/>
          </a:bodyPr>
          <a:lstStyle/>
          <a:p>
            <a:r>
              <a:rPr lang="en-US" sz="1800" dirty="0" smtClean="0">
                <a:latin typeface="Calibri" pitchFamily="34" charset="0"/>
              </a:rPr>
              <a:t>Feasible output:</a:t>
            </a:r>
          </a:p>
          <a:p>
            <a:r>
              <a:rPr lang="en-US" sz="1800" dirty="0" smtClean="0">
                <a:solidFill>
                  <a:srgbClr val="FF0000"/>
                </a:solidFill>
                <a:latin typeface="Courier New"/>
                <a:cs typeface="Courier New"/>
              </a:rPr>
              <a:t>HC</a:t>
            </a:r>
          </a:p>
          <a:p>
            <a:r>
              <a:rPr lang="en-US" sz="1800" dirty="0" smtClean="0">
                <a:solidFill>
                  <a:srgbClr val="FF0000"/>
                </a:solidFill>
                <a:latin typeface="Courier New"/>
                <a:cs typeface="Courier New"/>
              </a:rPr>
              <a:t>HP</a:t>
            </a:r>
          </a:p>
          <a:p>
            <a:r>
              <a:rPr lang="en-US" sz="1800" dirty="0" smtClean="0">
                <a:solidFill>
                  <a:srgbClr val="FF0000"/>
                </a:solidFill>
                <a:latin typeface="Courier New"/>
                <a:cs typeface="Courier New"/>
              </a:rPr>
              <a:t>CT</a:t>
            </a:r>
          </a:p>
          <a:p>
            <a:r>
              <a:rPr lang="en-US" sz="1800" dirty="0" smtClean="0">
                <a:solidFill>
                  <a:srgbClr val="FF0000"/>
                </a:solidFill>
                <a:latin typeface="Courier New"/>
                <a:cs typeface="Courier New"/>
              </a:rPr>
              <a:t>Bye</a:t>
            </a:r>
          </a:p>
        </p:txBody>
      </p:sp>
      <p:sp>
        <p:nvSpPr>
          <p:cNvPr id="67" name="TextBox 66"/>
          <p:cNvSpPr txBox="1"/>
          <p:nvPr/>
        </p:nvSpPr>
        <p:spPr>
          <a:xfrm>
            <a:off x="7024964" y="4999672"/>
            <a:ext cx="1890436" cy="1477328"/>
          </a:xfrm>
          <a:prstGeom prst="rect">
            <a:avLst/>
          </a:prstGeom>
          <a:noFill/>
        </p:spPr>
        <p:txBody>
          <a:bodyPr wrap="none" rtlCol="0">
            <a:spAutoFit/>
          </a:bodyPr>
          <a:lstStyle/>
          <a:p>
            <a:r>
              <a:rPr lang="en-US" sz="1800" dirty="0" smtClean="0">
                <a:latin typeface="Calibri" pitchFamily="34" charset="0"/>
              </a:rPr>
              <a:t>Infeasible output:</a:t>
            </a:r>
          </a:p>
          <a:p>
            <a:r>
              <a:rPr lang="en-US" sz="1800" dirty="0" smtClean="0">
                <a:solidFill>
                  <a:srgbClr val="FF0000"/>
                </a:solidFill>
                <a:latin typeface="Courier New"/>
                <a:cs typeface="Courier New"/>
              </a:rPr>
              <a:t>HP</a:t>
            </a:r>
          </a:p>
          <a:p>
            <a:r>
              <a:rPr lang="en-US" sz="1800" dirty="0" smtClean="0">
                <a:solidFill>
                  <a:srgbClr val="FF0000"/>
                </a:solidFill>
                <a:latin typeface="Courier New"/>
                <a:cs typeface="Courier New"/>
              </a:rPr>
              <a:t>CT</a:t>
            </a:r>
          </a:p>
          <a:p>
            <a:r>
              <a:rPr lang="en-US" sz="1800" dirty="0" smtClean="0">
                <a:solidFill>
                  <a:srgbClr val="FF0000"/>
                </a:solidFill>
                <a:latin typeface="Courier New"/>
                <a:cs typeface="Courier New"/>
              </a:rPr>
              <a:t>Bye</a:t>
            </a:r>
          </a:p>
          <a:p>
            <a:r>
              <a:rPr lang="en-US" sz="1800" dirty="0" smtClean="0">
                <a:solidFill>
                  <a:srgbClr val="FF0000"/>
                </a:solidFill>
                <a:latin typeface="Courier New"/>
                <a:cs typeface="Courier New"/>
              </a:rPr>
              <a:t>HC</a:t>
            </a:r>
          </a:p>
        </p:txBody>
      </p:sp>
      <p:sp>
        <p:nvSpPr>
          <p:cNvPr id="31" name="TextBox 30"/>
          <p:cNvSpPr txBox="1"/>
          <p:nvPr/>
        </p:nvSpPr>
        <p:spPr>
          <a:xfrm>
            <a:off x="3124200" y="4999672"/>
            <a:ext cx="2743200" cy="1477328"/>
          </a:xfrm>
          <a:prstGeom prst="rect">
            <a:avLst/>
          </a:prstGeom>
          <a:noFill/>
        </p:spPr>
        <p:txBody>
          <a:bodyPr wrap="square" rtlCol="0">
            <a:spAutoFit/>
          </a:bodyPr>
          <a:lstStyle/>
          <a:p>
            <a:r>
              <a:rPr lang="en-US" sz="1800" dirty="0" smtClean="0">
                <a:latin typeface="Calibri" pitchFamily="34" charset="0"/>
              </a:rPr>
              <a:t>Feasible output(s):</a:t>
            </a:r>
          </a:p>
          <a:p>
            <a:r>
              <a:rPr lang="en-US" sz="1800" dirty="0" smtClean="0">
                <a:solidFill>
                  <a:srgbClr val="FF0000"/>
                </a:solidFill>
                <a:latin typeface="Courier New"/>
                <a:cs typeface="Courier New"/>
              </a:rPr>
              <a:t>HC	HP </a:t>
            </a:r>
          </a:p>
          <a:p>
            <a:r>
              <a:rPr lang="en-US" sz="1800" dirty="0" smtClean="0">
                <a:solidFill>
                  <a:srgbClr val="FF0000"/>
                </a:solidFill>
                <a:latin typeface="Courier New"/>
                <a:cs typeface="Courier New"/>
              </a:rPr>
              <a:t>HP	HC </a:t>
            </a:r>
          </a:p>
          <a:p>
            <a:r>
              <a:rPr lang="en-US" sz="1800" dirty="0" smtClean="0">
                <a:solidFill>
                  <a:srgbClr val="FF0000"/>
                </a:solidFill>
                <a:latin typeface="Courier New"/>
                <a:cs typeface="Courier New"/>
              </a:rPr>
              <a:t>CT	CT </a:t>
            </a:r>
          </a:p>
          <a:p>
            <a:r>
              <a:rPr lang="en-US" sz="1800" dirty="0" smtClean="0">
                <a:solidFill>
                  <a:srgbClr val="FF0000"/>
                </a:solidFill>
                <a:latin typeface="Courier New"/>
                <a:cs typeface="Courier New"/>
              </a:rPr>
              <a:t>Bye	Bye	</a:t>
            </a:r>
          </a:p>
        </p:txBody>
      </p:sp>
    </p:spTree>
    <p:extLst>
      <p:ext uri="{BB962C8B-B14F-4D97-AF65-F5344CB8AC3E}">
        <p14:creationId xmlns:p14="http://schemas.microsoft.com/office/powerpoint/2010/main" val="317074401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67" grpId="0"/>
      <p:bldP spid="31"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a:xfrm>
            <a:off x="381000" y="381000"/>
            <a:ext cx="6553200" cy="573088"/>
          </a:xfrm>
        </p:spPr>
        <p:txBody>
          <a:bodyPr/>
          <a:lstStyle/>
          <a:p>
            <a:r>
              <a:rPr lang="en-US" dirty="0" smtClean="0">
                <a:latin typeface="Courier New" pitchFamily="49" charset="0"/>
              </a:rPr>
              <a:t>Another wait </a:t>
            </a:r>
            <a:r>
              <a:rPr lang="en-US" dirty="0" smtClean="0"/>
              <a:t>Example</a:t>
            </a:r>
            <a:endParaRPr lang="en-US" dirty="0"/>
          </a:p>
        </p:txBody>
      </p:sp>
      <p:sp>
        <p:nvSpPr>
          <p:cNvPr id="500739" name="Rectangle 3"/>
          <p:cNvSpPr>
            <a:spLocks noGrp="1" noChangeArrowheads="1"/>
          </p:cNvSpPr>
          <p:nvPr>
            <p:ph type="body" idx="1"/>
          </p:nvPr>
        </p:nvSpPr>
        <p:spPr>
          <a:xfrm>
            <a:off x="387578" y="1052512"/>
            <a:ext cx="8307388" cy="1233488"/>
          </a:xfrm>
        </p:spPr>
        <p:txBody>
          <a:bodyPr/>
          <a:lstStyle/>
          <a:p>
            <a:r>
              <a:rPr lang="en-US" sz="2000" b="0" dirty="0"/>
              <a:t>If multiple children completed, will take in arbitrary order</a:t>
            </a:r>
          </a:p>
          <a:p>
            <a:r>
              <a:rPr lang="en-US" sz="2000" b="0" dirty="0"/>
              <a:t>Can use macros WIFEXITED and WEXITSTATUS to get information about exit status</a:t>
            </a:r>
          </a:p>
        </p:txBody>
      </p:sp>
      <p:sp>
        <p:nvSpPr>
          <p:cNvPr id="500740" name="Text Box 4"/>
          <p:cNvSpPr txBox="1">
            <a:spLocks noChangeArrowheads="1"/>
          </p:cNvSpPr>
          <p:nvPr/>
        </p:nvSpPr>
        <p:spPr bwMode="auto">
          <a:xfrm>
            <a:off x="497084" y="2275106"/>
            <a:ext cx="7967145" cy="4278094"/>
          </a:xfrm>
          <a:prstGeom prst="rect">
            <a:avLst/>
          </a:prstGeom>
          <a:solidFill>
            <a:srgbClr val="F6F5BD"/>
          </a:solidFill>
          <a:ln w="3175">
            <a:solidFill>
              <a:schemeClr val="tx1"/>
            </a:solidFill>
            <a:miter lim="800000"/>
            <a:headEnd/>
            <a:tailEnd/>
          </a:ln>
          <a:effectLst/>
        </p:spPr>
        <p:txBody>
          <a:bodyPr wrap="none">
            <a:spAutoFit/>
          </a:bodyPr>
          <a:lstStyle/>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a:solidFill>
                  <a:srgbClr val="4A00FF"/>
                </a:solidFill>
                <a:latin typeface="Courier New"/>
                <a:cs typeface="Courier New"/>
              </a:rPr>
              <a:t>fork10</a:t>
            </a:r>
            <a:r>
              <a:rPr lang="en-US" sz="1600" dirty="0">
                <a:solidFill>
                  <a:srgbClr val="000000"/>
                </a:solidFill>
                <a:latin typeface="Courier New"/>
                <a:cs typeface="Courier New"/>
              </a:rPr>
              <a:t>(</a:t>
            </a:r>
            <a:r>
              <a:rPr lang="en-US" sz="1600" dirty="0" smtClean="0">
                <a:solidFill>
                  <a:srgbClr val="000000"/>
                </a:solidFill>
                <a:latin typeface="Courier New"/>
                <a:cs typeface="Courier New"/>
              </a:rPr>
              <a:t>) {</a:t>
            </a:r>
            <a:endParaRPr lang="en-US"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err="1">
                <a:solidFill>
                  <a:srgbClr val="000000"/>
                </a:solidFill>
                <a:latin typeface="Courier New"/>
                <a:cs typeface="Courier New"/>
              </a:rPr>
              <a:t>[N</a:t>
            </a:r>
            <a:r>
              <a:rPr lang="fi-FI"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int</a:t>
            </a:r>
            <a:r>
              <a:rPr lang="fi-FI" sz="1600" dirty="0">
                <a:solidFill>
                  <a:srgbClr val="000000"/>
                </a:solidFill>
                <a:latin typeface="Courier New"/>
                <a:cs typeface="Courier New"/>
              </a:rPr>
              <a:t> </a:t>
            </a:r>
            <a:r>
              <a:rPr lang="fi-FI" sz="1600" dirty="0">
                <a:solidFill>
                  <a:srgbClr val="C1651C"/>
                </a:solidFill>
                <a:latin typeface="Courier New"/>
                <a:cs typeface="Courier New"/>
              </a:rPr>
              <a:t>i</a:t>
            </a:r>
            <a:r>
              <a:rPr lang="fi-FI" sz="1600" dirty="0">
                <a:solidFill>
                  <a:srgbClr val="000000"/>
                </a:solidFill>
                <a:latin typeface="Courier New"/>
                <a:cs typeface="Courier New"/>
              </a:rPr>
              <a:t>, </a:t>
            </a:r>
            <a:r>
              <a:rPr lang="fi-FI" sz="1600" dirty="0" err="1">
                <a:solidFill>
                  <a:srgbClr val="C1651C"/>
                </a:solidFill>
                <a:latin typeface="Courier New"/>
                <a:cs typeface="Courier New"/>
              </a:rPr>
              <a:t>child_status</a:t>
            </a:r>
            <a:r>
              <a:rPr lang="fi-FI" sz="1600" dirty="0">
                <a:solidFill>
                  <a:srgbClr val="000000"/>
                </a:solidFill>
                <a:latin typeface="Courier New"/>
                <a:cs typeface="Courier New"/>
              </a:rPr>
              <a:t>;</a:t>
            </a:r>
          </a:p>
          <a:p>
            <a:endParaRPr lang="fi-FI" sz="1600" dirty="0">
              <a:solidFill>
                <a:srgbClr val="000000"/>
              </a:solidFill>
              <a:latin typeface="Courier New"/>
              <a:cs typeface="Courier New"/>
            </a:endParaRPr>
          </a:p>
          <a:p>
            <a:r>
              <a:rPr lang="da-DK" sz="1600" dirty="0">
                <a:solidFill>
                  <a:srgbClr val="000000"/>
                </a:solidFill>
                <a:latin typeface="Courier New"/>
                <a:cs typeface="Courier New"/>
              </a:rPr>
              <a:t>    </a:t>
            </a:r>
            <a:r>
              <a:rPr lang="da-DK" sz="1600" dirty="0">
                <a:solidFill>
                  <a:srgbClr val="C200FF"/>
                </a:solidFill>
                <a:latin typeface="Courier New"/>
                <a:cs typeface="Courier New"/>
              </a:rPr>
              <a:t>for</a:t>
            </a:r>
            <a:r>
              <a:rPr lang="da-DK" sz="1600" dirty="0">
                <a:solidFill>
                  <a:srgbClr val="000000"/>
                </a:solidFill>
                <a:latin typeface="Courier New"/>
                <a:cs typeface="Courier New"/>
              </a:rPr>
              <a:t> (i = 0; i &lt; N; i++)</a:t>
            </a:r>
          </a:p>
          <a:p>
            <a:r>
              <a:rPr lang="nb-NO" sz="1600" dirty="0">
                <a:solidFill>
                  <a:srgbClr val="000000"/>
                </a:solidFill>
                <a:latin typeface="Courier New"/>
                <a:cs typeface="Courier New"/>
              </a:rPr>
              <a:t>        </a:t>
            </a:r>
            <a:r>
              <a:rPr lang="nb-NO" sz="1600" dirty="0" err="1">
                <a:solidFill>
                  <a:srgbClr val="C200FF"/>
                </a:solidFill>
                <a:latin typeface="Courier New"/>
                <a:cs typeface="Courier New"/>
              </a:rPr>
              <a:t>if</a:t>
            </a:r>
            <a:r>
              <a:rPr lang="nb-NO" sz="1600" dirty="0">
                <a:solidFill>
                  <a:srgbClr val="000000"/>
                </a:solidFill>
                <a:latin typeface="Courier New"/>
                <a:cs typeface="Courier New"/>
              </a:rPr>
              <a:t> ((</a:t>
            </a:r>
            <a:r>
              <a:rPr lang="nb-NO" sz="1600" dirty="0" err="1">
                <a:solidFill>
                  <a:srgbClr val="000000"/>
                </a:solidFill>
                <a:latin typeface="Courier New"/>
                <a:cs typeface="Courier New"/>
              </a:rPr>
              <a:t>pid</a:t>
            </a:r>
            <a:r>
              <a:rPr lang="nb-NO" sz="1600" dirty="0">
                <a:solidFill>
                  <a:srgbClr val="000000"/>
                </a:solidFill>
                <a:latin typeface="Courier New"/>
                <a:cs typeface="Courier New"/>
              </a:rPr>
              <a:t>[i] = fork()) == 0) {</a:t>
            </a:r>
          </a:p>
          <a:p>
            <a:r>
              <a:rPr lang="nb-NO" sz="1600" dirty="0">
                <a:solidFill>
                  <a:srgbClr val="000000"/>
                </a:solidFill>
                <a:latin typeface="Courier New"/>
                <a:cs typeface="Courier New"/>
              </a:rPr>
              <a:t>            exit(100+i); </a:t>
            </a:r>
            <a:r>
              <a:rPr lang="nb-NO" sz="1600" dirty="0">
                <a:solidFill>
                  <a:srgbClr val="CB2418"/>
                </a:solidFill>
                <a:latin typeface="Courier New"/>
                <a:cs typeface="Courier New"/>
              </a:rPr>
              <a:t>/* Child */</a:t>
            </a:r>
            <a:endParaRPr lang="nb-NO" sz="1600" dirty="0">
              <a:solidFill>
                <a:srgbClr val="000000"/>
              </a:solidFill>
              <a:latin typeface="Courier New"/>
              <a:cs typeface="Courier New"/>
            </a:endParaRPr>
          </a:p>
          <a:p>
            <a:r>
              <a:rPr lang="nb-NO"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for</a:t>
            </a:r>
            <a:r>
              <a:rPr lang="en-US" sz="1600" dirty="0">
                <a:solidFill>
                  <a:srgbClr val="000000"/>
                </a:solidFill>
                <a:latin typeface="Courier New"/>
                <a:cs typeface="Courier New"/>
              </a:rPr>
              <a:t> (</a:t>
            </a:r>
            <a:r>
              <a:rPr lang="en-US" sz="1600" dirty="0" err="1">
                <a:solidFill>
                  <a:srgbClr val="000000"/>
                </a:solidFill>
                <a:latin typeface="Courier New"/>
                <a:cs typeface="Courier New"/>
              </a:rPr>
              <a:t>i</a:t>
            </a:r>
            <a:r>
              <a:rPr lang="en-US" sz="1600" dirty="0">
                <a:solidFill>
                  <a:srgbClr val="000000"/>
                </a:solidFill>
                <a:latin typeface="Courier New"/>
                <a:cs typeface="Courier New"/>
              </a:rPr>
              <a:t> = 0; </a:t>
            </a:r>
            <a:r>
              <a:rPr lang="en-US" sz="1600" dirty="0" err="1">
                <a:solidFill>
                  <a:srgbClr val="000000"/>
                </a:solidFill>
                <a:latin typeface="Courier New"/>
                <a:cs typeface="Courier New"/>
              </a:rPr>
              <a:t>i</a:t>
            </a:r>
            <a:r>
              <a:rPr lang="en-US" sz="1600" dirty="0">
                <a:solidFill>
                  <a:srgbClr val="000000"/>
                </a:solidFill>
                <a:latin typeface="Courier New"/>
                <a:cs typeface="Courier New"/>
              </a:rPr>
              <a:t> &lt; N; </a:t>
            </a:r>
            <a:r>
              <a:rPr lang="en-US" sz="1600" dirty="0" err="1">
                <a:solidFill>
                  <a:srgbClr val="000000"/>
                </a:solidFill>
                <a:latin typeface="Courier New"/>
                <a:cs typeface="Courier New"/>
              </a:rPr>
              <a:t>i</a:t>
            </a:r>
            <a:r>
              <a:rPr lang="en-US" sz="1600" dirty="0">
                <a:solidFill>
                  <a:srgbClr val="000000"/>
                </a:solidFill>
                <a:latin typeface="Courier New"/>
                <a:cs typeface="Courier New"/>
              </a:rPr>
              <a:t>++) { </a:t>
            </a:r>
            <a:r>
              <a:rPr lang="en-US" sz="1600" dirty="0">
                <a:solidFill>
                  <a:srgbClr val="CB2418"/>
                </a:solidFill>
                <a:latin typeface="Courier New"/>
                <a:cs typeface="Courier New"/>
              </a:rPr>
              <a:t>/* Parent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2D961E"/>
                </a:solidFill>
                <a:latin typeface="Courier New"/>
                <a:cs typeface="Courier New"/>
              </a:rPr>
              <a:t>pid_t</a:t>
            </a:r>
            <a:r>
              <a:rPr lang="en-US" sz="1600" dirty="0">
                <a:solidFill>
                  <a:srgbClr val="000000"/>
                </a:solidFill>
                <a:latin typeface="Courier New"/>
                <a:cs typeface="Courier New"/>
              </a:rPr>
              <a:t> </a:t>
            </a:r>
            <a:r>
              <a:rPr lang="en-US" sz="1600" dirty="0" err="1">
                <a:solidFill>
                  <a:srgbClr val="C1651C"/>
                </a:solidFill>
                <a:latin typeface="Courier New"/>
                <a:cs typeface="Courier New"/>
              </a:rPr>
              <a:t>wpid</a:t>
            </a:r>
            <a:r>
              <a:rPr lang="en-US" sz="1600" dirty="0">
                <a:solidFill>
                  <a:srgbClr val="000000"/>
                </a:solidFill>
                <a:latin typeface="Courier New"/>
                <a:cs typeface="Courier New"/>
              </a:rPr>
              <a:t> = wait(&amp;</a:t>
            </a:r>
            <a:r>
              <a:rPr lang="en-US" sz="1600" dirty="0" err="1">
                <a:solidFill>
                  <a:srgbClr val="000000"/>
                </a:solidFill>
                <a:latin typeface="Courier New"/>
                <a:cs typeface="Courier New"/>
              </a:rPr>
              <a:t>child_status</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(WIFEXITED(</a:t>
            </a:r>
            <a:r>
              <a:rPr lang="en-US" sz="1600" dirty="0" err="1">
                <a:solidFill>
                  <a:srgbClr val="000000"/>
                </a:solidFill>
                <a:latin typeface="Courier New"/>
                <a:cs typeface="Courier New"/>
              </a:rPr>
              <a:t>child_status</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"Child %d terminated with exit status %d\n"</a:t>
            </a:r>
            <a:r>
              <a:rPr lang="en-US" sz="1600" dirty="0">
                <a:solidFill>
                  <a:srgbClr val="000000"/>
                </a:solidFill>
                <a:latin typeface="Courier New"/>
                <a:cs typeface="Courier New"/>
              </a:rPr>
              <a:t>,</a:t>
            </a:r>
          </a:p>
          <a:p>
            <a:r>
              <a:rPr lang="pl-PL" sz="1600" dirty="0">
                <a:solidFill>
                  <a:srgbClr val="000000"/>
                </a:solidFill>
                <a:latin typeface="Courier New"/>
                <a:cs typeface="Courier New"/>
              </a:rPr>
              <a:t>                   </a:t>
            </a:r>
            <a:r>
              <a:rPr lang="pl-PL" sz="1600" dirty="0" err="1">
                <a:solidFill>
                  <a:srgbClr val="000000"/>
                </a:solidFill>
                <a:latin typeface="Courier New"/>
                <a:cs typeface="Courier New"/>
              </a:rPr>
              <a:t>wpid</a:t>
            </a:r>
            <a:r>
              <a:rPr lang="pl-PL" sz="1600" dirty="0">
                <a:solidFill>
                  <a:srgbClr val="000000"/>
                </a:solidFill>
                <a:latin typeface="Courier New"/>
                <a:cs typeface="Courier New"/>
              </a:rPr>
              <a:t>, WEXITSTATUS(</a:t>
            </a:r>
            <a:r>
              <a:rPr lang="pl-PL" sz="1600" dirty="0" err="1">
                <a:solidFill>
                  <a:srgbClr val="000000"/>
                </a:solidFill>
                <a:latin typeface="Courier New"/>
                <a:cs typeface="Courier New"/>
              </a:rPr>
              <a:t>child_status</a:t>
            </a:r>
            <a:r>
              <a:rPr lang="pl-PL" sz="1600" dirty="0">
                <a:solidFill>
                  <a:srgbClr val="000000"/>
                </a:solidFill>
                <a:latin typeface="Courier New"/>
                <a:cs typeface="Courier New"/>
              </a:rPr>
              <a:t>));</a:t>
            </a:r>
          </a:p>
          <a:p>
            <a:r>
              <a:rPr lang="hu-HU" sz="1600" dirty="0">
                <a:solidFill>
                  <a:srgbClr val="000000"/>
                </a:solidFill>
                <a:latin typeface="Courier New"/>
                <a:cs typeface="Courier New"/>
              </a:rPr>
              <a:t>        </a:t>
            </a:r>
            <a:r>
              <a:rPr lang="hu-HU" sz="1600" dirty="0">
                <a:solidFill>
                  <a:srgbClr val="C200FF"/>
                </a:solidFill>
                <a:latin typeface="Courier New"/>
                <a:cs typeface="Courier New"/>
              </a:rPr>
              <a:t>else</a:t>
            </a:r>
            <a:endParaRPr lang="hu-HU"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"Child %d terminate abnormally\n"</a:t>
            </a:r>
            <a:r>
              <a:rPr lang="en-US" sz="1600" dirty="0">
                <a:solidFill>
                  <a:srgbClr val="000000"/>
                </a:solidFill>
                <a:latin typeface="Courier New"/>
                <a:cs typeface="Courier New"/>
              </a:rPr>
              <a:t>, </a:t>
            </a:r>
            <a:r>
              <a:rPr lang="en-US" sz="1600" dirty="0" err="1">
                <a:solidFill>
                  <a:srgbClr val="000000"/>
                </a:solidFill>
                <a:latin typeface="Courier New"/>
                <a:cs typeface="Courier New"/>
              </a:rPr>
              <a:t>wpid</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en-US" sz="1600" dirty="0" smtClean="0">
                <a:solidFill>
                  <a:srgbClr val="000000"/>
                </a:solidFill>
                <a:latin typeface="Courier New"/>
                <a:cs typeface="Courier New"/>
              </a:rPr>
              <a:t>}</a:t>
            </a:r>
            <a:endParaRPr lang="en-US" sz="1600" dirty="0">
              <a:solidFill>
                <a:srgbClr val="000000"/>
              </a:solidFill>
              <a:latin typeface="Courier New"/>
              <a:cs typeface="Courier New"/>
            </a:endParaRPr>
          </a:p>
        </p:txBody>
      </p:sp>
      <p:sp>
        <p:nvSpPr>
          <p:cNvPr id="5" name="Rectangle 3"/>
          <p:cNvSpPr>
            <a:spLocks noChangeArrowheads="1"/>
          </p:cNvSpPr>
          <p:nvPr/>
        </p:nvSpPr>
        <p:spPr bwMode="auto">
          <a:xfrm>
            <a:off x="7258413" y="6195537"/>
            <a:ext cx="1205816"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forks.c</a:t>
            </a:r>
            <a:endParaRPr lang="en-GB" sz="1800" b="1" i="1" dirty="0">
              <a:solidFill>
                <a:schemeClr val="tx1">
                  <a:lumMod val="50000"/>
                  <a:lumOff val="50000"/>
                </a:schemeClr>
              </a:solidFill>
              <a:latin typeface="Courier New" pitchFamily="49" charset="0"/>
              <a:ea typeface="msgothic" charset="0"/>
              <a:cs typeface="msgothic" charset="0"/>
            </a:endParaRPr>
          </a:p>
        </p:txBody>
      </p:sp>
    </p:spTree>
    <p:extLst>
      <p:ext uri="{BB962C8B-B14F-4D97-AF65-F5344CB8AC3E}">
        <p14:creationId xmlns:p14="http://schemas.microsoft.com/office/powerpoint/2010/main" val="825429564"/>
      </p:ext>
    </p:extLst>
  </p:cSld>
  <p:clrMapOvr>
    <a:masterClrMapping/>
  </p:clrMapOvr>
  <p:timing>
    <p:tnLst>
      <p:par>
        <p:cTn xmlns:p14="http://schemas.microsoft.com/office/powerpoint/2010/mai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a:xfrm>
            <a:off x="367844" y="493712"/>
            <a:ext cx="8839200" cy="573088"/>
          </a:xfrm>
        </p:spPr>
        <p:txBody>
          <a:bodyPr/>
          <a:lstStyle/>
          <a:p>
            <a:r>
              <a:rPr lang="en-US" sz="3400" dirty="0" err="1" smtClean="0">
                <a:latin typeface="Courier New" pitchFamily="49" charset="0"/>
              </a:rPr>
              <a:t>waitpid</a:t>
            </a:r>
            <a:r>
              <a:rPr lang="en-US" sz="3400" dirty="0" smtClean="0"/>
              <a:t>: </a:t>
            </a:r>
            <a:r>
              <a:rPr lang="en-US" sz="3400" dirty="0"/>
              <a:t>Waiting for a Specific Process</a:t>
            </a:r>
            <a:endParaRPr lang="en-US" sz="3400" dirty="0">
              <a:latin typeface="Courier New" pitchFamily="49" charset="0"/>
            </a:endParaRPr>
          </a:p>
        </p:txBody>
      </p:sp>
      <p:sp>
        <p:nvSpPr>
          <p:cNvPr id="501763" name="Rectangle 3"/>
          <p:cNvSpPr>
            <a:spLocks noGrp="1" noChangeArrowheads="1"/>
          </p:cNvSpPr>
          <p:nvPr>
            <p:ph type="body" idx="1"/>
          </p:nvPr>
        </p:nvSpPr>
        <p:spPr>
          <a:xfrm>
            <a:off x="381000" y="1262966"/>
            <a:ext cx="8610600" cy="1099234"/>
          </a:xfrm>
        </p:spPr>
        <p:txBody>
          <a:bodyPr/>
          <a:lstStyle/>
          <a:p>
            <a:r>
              <a:rPr lang="en-US" sz="2000" dirty="0" err="1" smtClean="0">
                <a:latin typeface="Courier New" pitchFamily="49" charset="0"/>
              </a:rPr>
              <a:t>pid_t</a:t>
            </a:r>
            <a:r>
              <a:rPr lang="en-US" sz="2000" dirty="0" smtClean="0">
                <a:latin typeface="Courier New" pitchFamily="49" charset="0"/>
              </a:rPr>
              <a:t> </a:t>
            </a:r>
            <a:r>
              <a:rPr lang="en-US" sz="2000" dirty="0" err="1" smtClean="0">
                <a:latin typeface="Courier New" pitchFamily="49" charset="0"/>
              </a:rPr>
              <a:t>waitpid</a:t>
            </a:r>
            <a:r>
              <a:rPr lang="en-US" sz="2000" dirty="0" smtClean="0">
                <a:latin typeface="Courier New" pitchFamily="49" charset="0"/>
              </a:rPr>
              <a:t>(</a:t>
            </a:r>
            <a:r>
              <a:rPr lang="en-US" sz="2000" dirty="0" err="1" smtClean="0">
                <a:latin typeface="Courier New" pitchFamily="49" charset="0"/>
              </a:rPr>
              <a:t>pid_t</a:t>
            </a:r>
            <a:r>
              <a:rPr lang="en-US" sz="2000" dirty="0" smtClean="0">
                <a:latin typeface="Courier New" pitchFamily="49" charset="0"/>
              </a:rPr>
              <a:t> </a:t>
            </a:r>
            <a:r>
              <a:rPr lang="en-US" sz="2000" dirty="0" err="1" smtClean="0">
                <a:latin typeface="Courier New" pitchFamily="49" charset="0"/>
              </a:rPr>
              <a:t>pid</a:t>
            </a:r>
            <a:r>
              <a:rPr lang="en-US" sz="2000" dirty="0">
                <a:latin typeface="Courier New" pitchFamily="49" charset="0"/>
              </a:rPr>
              <a:t>, </a:t>
            </a:r>
            <a:r>
              <a:rPr lang="en-US" sz="2000" dirty="0" err="1" smtClean="0">
                <a:latin typeface="Courier New" pitchFamily="49" charset="0"/>
              </a:rPr>
              <a:t>int</a:t>
            </a:r>
            <a:r>
              <a:rPr lang="en-US" sz="2000" smtClean="0">
                <a:latin typeface="Courier New" pitchFamily="49" charset="0"/>
              </a:rPr>
              <a:t> *status</a:t>
            </a:r>
            <a:r>
              <a:rPr lang="en-US" sz="2000" dirty="0">
                <a:latin typeface="Courier New" pitchFamily="49" charset="0"/>
              </a:rPr>
              <a:t>, </a:t>
            </a:r>
            <a:r>
              <a:rPr lang="en-US" sz="2000" dirty="0" err="1" smtClean="0">
                <a:latin typeface="Courier New" pitchFamily="49" charset="0"/>
              </a:rPr>
              <a:t>int</a:t>
            </a:r>
            <a:r>
              <a:rPr lang="en-US" sz="2000" dirty="0" smtClean="0">
                <a:latin typeface="Courier New" pitchFamily="49" charset="0"/>
              </a:rPr>
              <a:t> options</a:t>
            </a:r>
            <a:r>
              <a:rPr lang="en-US" sz="2000" dirty="0">
                <a:latin typeface="Courier New" pitchFamily="49" charset="0"/>
              </a:rPr>
              <a:t>)</a:t>
            </a:r>
          </a:p>
          <a:p>
            <a:pPr lvl="1"/>
            <a:r>
              <a:rPr lang="en-US" dirty="0"/>
              <a:t>S</a:t>
            </a:r>
            <a:r>
              <a:rPr lang="en-US" dirty="0" smtClean="0"/>
              <a:t>uspends </a:t>
            </a:r>
            <a:r>
              <a:rPr lang="en-US" dirty="0"/>
              <a:t>current process until specific process terminates</a:t>
            </a:r>
          </a:p>
          <a:p>
            <a:pPr lvl="1"/>
            <a:r>
              <a:rPr lang="en-US" dirty="0"/>
              <a:t>V</a:t>
            </a:r>
            <a:r>
              <a:rPr lang="en-US" dirty="0" smtClean="0"/>
              <a:t>arious </a:t>
            </a:r>
            <a:r>
              <a:rPr lang="en-US" dirty="0"/>
              <a:t>options </a:t>
            </a:r>
            <a:r>
              <a:rPr lang="en-US" dirty="0" smtClean="0"/>
              <a:t>(see textbook)</a:t>
            </a:r>
            <a:endParaRPr lang="en-US" dirty="0"/>
          </a:p>
        </p:txBody>
      </p:sp>
      <p:sp>
        <p:nvSpPr>
          <p:cNvPr id="501764" name="Text Box 4"/>
          <p:cNvSpPr txBox="1">
            <a:spLocks noChangeArrowheads="1"/>
          </p:cNvSpPr>
          <p:nvPr/>
        </p:nvSpPr>
        <p:spPr bwMode="auto">
          <a:xfrm>
            <a:off x="485286" y="2461716"/>
            <a:ext cx="7967145" cy="4278094"/>
          </a:xfrm>
          <a:prstGeom prst="rect">
            <a:avLst/>
          </a:prstGeom>
          <a:solidFill>
            <a:srgbClr val="F6F5BD"/>
          </a:solidFill>
          <a:ln w="3175">
            <a:solidFill>
              <a:schemeClr val="tx1"/>
            </a:solidFill>
            <a:miter lim="800000"/>
            <a:headEnd/>
            <a:tailEnd/>
          </a:ln>
          <a:effectLst/>
        </p:spPr>
        <p:txBody>
          <a:bodyPr wrap="none">
            <a:spAutoFit/>
          </a:bodyPr>
          <a:lstStyle/>
          <a:p>
            <a:r>
              <a:rPr lang="en-US" sz="1600" dirty="0">
                <a:solidFill>
                  <a:srgbClr val="2D961E"/>
                </a:solidFill>
                <a:latin typeface="Courier New"/>
                <a:cs typeface="Courier New"/>
              </a:rPr>
              <a:t>void</a:t>
            </a:r>
            <a:r>
              <a:rPr lang="en-US" sz="1600" dirty="0">
                <a:solidFill>
                  <a:srgbClr val="000000"/>
                </a:solidFill>
                <a:latin typeface="Courier New"/>
                <a:cs typeface="Courier New"/>
              </a:rPr>
              <a:t> </a:t>
            </a:r>
            <a:r>
              <a:rPr lang="en-US" sz="1600" dirty="0">
                <a:solidFill>
                  <a:srgbClr val="4A00FF"/>
                </a:solidFill>
                <a:latin typeface="Courier New"/>
                <a:cs typeface="Courier New"/>
              </a:rPr>
              <a:t>fork11</a:t>
            </a:r>
            <a:r>
              <a:rPr lang="en-US" sz="1600" dirty="0">
                <a:solidFill>
                  <a:srgbClr val="000000"/>
                </a:solidFill>
                <a:latin typeface="Courier New"/>
                <a:cs typeface="Courier New"/>
              </a:rPr>
              <a:t>(</a:t>
            </a:r>
            <a:r>
              <a:rPr lang="en-US" sz="1600" dirty="0" smtClean="0">
                <a:solidFill>
                  <a:srgbClr val="000000"/>
                </a:solidFill>
                <a:latin typeface="Courier New"/>
                <a:cs typeface="Courier New"/>
              </a:rPr>
              <a:t>) {</a:t>
            </a:r>
            <a:endParaRPr lang="en-US"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err="1">
                <a:solidFill>
                  <a:srgbClr val="000000"/>
                </a:solidFill>
                <a:latin typeface="Courier New"/>
                <a:cs typeface="Courier New"/>
              </a:rPr>
              <a:t>[N</a:t>
            </a:r>
            <a:r>
              <a:rPr lang="fi-FI" sz="1600" dirty="0">
                <a:solidFill>
                  <a:srgbClr val="000000"/>
                </a:solidFill>
                <a:latin typeface="Courier New"/>
                <a:cs typeface="Courier New"/>
              </a:rPr>
              <a:t>];</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a:solidFill>
                  <a:srgbClr val="C1651C"/>
                </a:solidFill>
                <a:latin typeface="Courier New"/>
                <a:cs typeface="Courier New"/>
              </a:rPr>
              <a:t>i</a:t>
            </a:r>
            <a:r>
              <a:rPr lang="fr-FR" sz="1600" dirty="0">
                <a:solidFill>
                  <a:srgbClr val="000000"/>
                </a:solidFill>
                <a:latin typeface="Courier New"/>
                <a:cs typeface="Courier New"/>
              </a:rPr>
              <a:t>;</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err="1">
                <a:solidFill>
                  <a:srgbClr val="C1651C"/>
                </a:solidFill>
                <a:latin typeface="Courier New"/>
                <a:cs typeface="Courier New"/>
              </a:rPr>
              <a:t>child_status</a:t>
            </a:r>
            <a:r>
              <a:rPr lang="fr-FR" sz="1600" dirty="0">
                <a:solidFill>
                  <a:srgbClr val="000000"/>
                </a:solidFill>
                <a:latin typeface="Courier New"/>
                <a:cs typeface="Courier New"/>
              </a:rPr>
              <a:t>;</a:t>
            </a:r>
          </a:p>
          <a:p>
            <a:endParaRPr lang="fr-FR" sz="1600" dirty="0">
              <a:solidFill>
                <a:srgbClr val="000000"/>
              </a:solidFill>
              <a:latin typeface="Courier New"/>
              <a:cs typeface="Courier New"/>
            </a:endParaRPr>
          </a:p>
          <a:p>
            <a:r>
              <a:rPr lang="da-DK" sz="1600" dirty="0">
                <a:solidFill>
                  <a:srgbClr val="000000"/>
                </a:solidFill>
                <a:latin typeface="Courier New"/>
                <a:cs typeface="Courier New"/>
              </a:rPr>
              <a:t>    </a:t>
            </a:r>
            <a:r>
              <a:rPr lang="da-DK" sz="1600" dirty="0">
                <a:solidFill>
                  <a:srgbClr val="C200FF"/>
                </a:solidFill>
                <a:latin typeface="Courier New"/>
                <a:cs typeface="Courier New"/>
              </a:rPr>
              <a:t>for</a:t>
            </a:r>
            <a:r>
              <a:rPr lang="da-DK" sz="1600" dirty="0">
                <a:solidFill>
                  <a:srgbClr val="000000"/>
                </a:solidFill>
                <a:latin typeface="Courier New"/>
                <a:cs typeface="Courier New"/>
              </a:rPr>
              <a:t> (i = 0; i &lt; N; i++)</a:t>
            </a:r>
          </a:p>
          <a:p>
            <a:r>
              <a:rPr lang="nb-NO" sz="1600" dirty="0">
                <a:solidFill>
                  <a:srgbClr val="000000"/>
                </a:solidFill>
                <a:latin typeface="Courier New"/>
                <a:cs typeface="Courier New"/>
              </a:rPr>
              <a:t>        </a:t>
            </a:r>
            <a:r>
              <a:rPr lang="nb-NO" sz="1600" dirty="0" err="1">
                <a:solidFill>
                  <a:srgbClr val="C200FF"/>
                </a:solidFill>
                <a:latin typeface="Courier New"/>
                <a:cs typeface="Courier New"/>
              </a:rPr>
              <a:t>if</a:t>
            </a:r>
            <a:r>
              <a:rPr lang="nb-NO" sz="1600" dirty="0">
                <a:solidFill>
                  <a:srgbClr val="000000"/>
                </a:solidFill>
                <a:latin typeface="Courier New"/>
                <a:cs typeface="Courier New"/>
              </a:rPr>
              <a:t> ((</a:t>
            </a:r>
            <a:r>
              <a:rPr lang="nb-NO" sz="1600" dirty="0" err="1">
                <a:solidFill>
                  <a:srgbClr val="000000"/>
                </a:solidFill>
                <a:latin typeface="Courier New"/>
                <a:cs typeface="Courier New"/>
              </a:rPr>
              <a:t>pid</a:t>
            </a:r>
            <a:r>
              <a:rPr lang="nb-NO" sz="1600" dirty="0">
                <a:solidFill>
                  <a:srgbClr val="000000"/>
                </a:solidFill>
                <a:latin typeface="Courier New"/>
                <a:cs typeface="Courier New"/>
              </a:rPr>
              <a:t>[i] = fork()) == 0)</a:t>
            </a:r>
          </a:p>
          <a:p>
            <a:r>
              <a:rPr lang="nb-NO" sz="1600" dirty="0">
                <a:solidFill>
                  <a:srgbClr val="000000"/>
                </a:solidFill>
                <a:latin typeface="Courier New"/>
                <a:cs typeface="Courier New"/>
              </a:rPr>
              <a:t>            exit(100+i); </a:t>
            </a:r>
            <a:r>
              <a:rPr lang="nb-NO" sz="1600" dirty="0">
                <a:solidFill>
                  <a:srgbClr val="CB2418"/>
                </a:solidFill>
                <a:latin typeface="Courier New"/>
                <a:cs typeface="Courier New"/>
              </a:rPr>
              <a:t>/* Child */</a:t>
            </a:r>
            <a:endParaRPr lang="nb-NO" sz="1600" dirty="0">
              <a:solidFill>
                <a:srgbClr val="000000"/>
              </a:solidFill>
              <a:latin typeface="Courier New"/>
              <a:cs typeface="Courier New"/>
            </a:endParaRPr>
          </a:p>
          <a:p>
            <a:r>
              <a:rPr lang="da-DK" sz="1600" dirty="0">
                <a:solidFill>
                  <a:srgbClr val="000000"/>
                </a:solidFill>
                <a:latin typeface="Courier New"/>
                <a:cs typeface="Courier New"/>
              </a:rPr>
              <a:t>    </a:t>
            </a:r>
            <a:r>
              <a:rPr lang="da-DK" sz="1600" dirty="0">
                <a:solidFill>
                  <a:srgbClr val="C200FF"/>
                </a:solidFill>
                <a:latin typeface="Courier New"/>
                <a:cs typeface="Courier New"/>
              </a:rPr>
              <a:t>for</a:t>
            </a:r>
            <a:r>
              <a:rPr lang="da-DK" sz="1600" dirty="0">
                <a:solidFill>
                  <a:srgbClr val="000000"/>
                </a:solidFill>
                <a:latin typeface="Courier New"/>
                <a:cs typeface="Courier New"/>
              </a:rPr>
              <a:t> (i = N-1; i &gt;= 0; i--) {</a:t>
            </a:r>
          </a:p>
          <a:p>
            <a:r>
              <a:rPr lang="da-DK" sz="1600" dirty="0">
                <a:solidFill>
                  <a:srgbClr val="000000"/>
                </a:solidFill>
                <a:latin typeface="Courier New"/>
                <a:cs typeface="Courier New"/>
              </a:rPr>
              <a:t>        </a:t>
            </a:r>
            <a:r>
              <a:rPr lang="da-DK" sz="1600" dirty="0" err="1">
                <a:solidFill>
                  <a:srgbClr val="2D961E"/>
                </a:solidFill>
                <a:latin typeface="Courier New"/>
                <a:cs typeface="Courier New"/>
              </a:rPr>
              <a:t>pid_t</a:t>
            </a:r>
            <a:r>
              <a:rPr lang="da-DK" sz="1600" dirty="0">
                <a:solidFill>
                  <a:srgbClr val="000000"/>
                </a:solidFill>
                <a:latin typeface="Courier New"/>
                <a:cs typeface="Courier New"/>
              </a:rPr>
              <a:t> </a:t>
            </a:r>
            <a:r>
              <a:rPr lang="da-DK" sz="1600" dirty="0" err="1">
                <a:solidFill>
                  <a:srgbClr val="C1651C"/>
                </a:solidFill>
                <a:latin typeface="Courier New"/>
                <a:cs typeface="Courier New"/>
              </a:rPr>
              <a:t>wpid</a:t>
            </a:r>
            <a:r>
              <a:rPr lang="da-DK" sz="1600" dirty="0">
                <a:solidFill>
                  <a:srgbClr val="000000"/>
                </a:solidFill>
                <a:latin typeface="Courier New"/>
                <a:cs typeface="Courier New"/>
              </a:rPr>
              <a:t> = </a:t>
            </a:r>
            <a:r>
              <a:rPr lang="da-DK" sz="1600" dirty="0" err="1">
                <a:solidFill>
                  <a:srgbClr val="000000"/>
                </a:solidFill>
                <a:latin typeface="Courier New"/>
                <a:cs typeface="Courier New"/>
              </a:rPr>
              <a:t>waitpid</a:t>
            </a:r>
            <a:r>
              <a:rPr lang="da-DK" sz="1600" dirty="0">
                <a:solidFill>
                  <a:srgbClr val="000000"/>
                </a:solidFill>
                <a:latin typeface="Courier New"/>
                <a:cs typeface="Courier New"/>
              </a:rPr>
              <a:t>(</a:t>
            </a:r>
            <a:r>
              <a:rPr lang="da-DK" sz="1600" dirty="0" err="1">
                <a:solidFill>
                  <a:srgbClr val="000000"/>
                </a:solidFill>
                <a:latin typeface="Courier New"/>
                <a:cs typeface="Courier New"/>
              </a:rPr>
              <a:t>pid</a:t>
            </a:r>
            <a:r>
              <a:rPr lang="da-DK" sz="1600" dirty="0">
                <a:solidFill>
                  <a:srgbClr val="000000"/>
                </a:solidFill>
                <a:latin typeface="Courier New"/>
                <a:cs typeface="Courier New"/>
              </a:rPr>
              <a:t>[i], &amp;</a:t>
            </a:r>
            <a:r>
              <a:rPr lang="da-DK" sz="1600" dirty="0" err="1">
                <a:solidFill>
                  <a:srgbClr val="000000"/>
                </a:solidFill>
                <a:latin typeface="Courier New"/>
                <a:cs typeface="Courier New"/>
              </a:rPr>
              <a:t>child_status</a:t>
            </a:r>
            <a:r>
              <a:rPr lang="da-DK" sz="1600" dirty="0">
                <a:solidFill>
                  <a:srgbClr val="000000"/>
                </a:solidFill>
                <a:latin typeface="Courier New"/>
                <a:cs typeface="Courier New"/>
              </a:rPr>
              <a:t>, 0);</a:t>
            </a:r>
          </a:p>
          <a:p>
            <a:r>
              <a:rPr lang="da-DK" sz="1600" dirty="0">
                <a:solidFill>
                  <a:srgbClr val="000000"/>
                </a:solidFill>
                <a:latin typeface="Courier New"/>
                <a:cs typeface="Courier New"/>
              </a:rPr>
              <a:t>        </a:t>
            </a:r>
            <a:r>
              <a:rPr lang="da-DK" sz="1600" dirty="0" err="1">
                <a:solidFill>
                  <a:srgbClr val="C200FF"/>
                </a:solidFill>
                <a:latin typeface="Courier New"/>
                <a:cs typeface="Courier New"/>
              </a:rPr>
              <a:t>if</a:t>
            </a:r>
            <a:r>
              <a:rPr lang="da-DK" sz="1600" dirty="0">
                <a:solidFill>
                  <a:srgbClr val="000000"/>
                </a:solidFill>
                <a:latin typeface="Courier New"/>
                <a:cs typeface="Courier New"/>
              </a:rPr>
              <a:t> (WIFEXITED(</a:t>
            </a:r>
            <a:r>
              <a:rPr lang="da-DK" sz="1600" dirty="0" err="1">
                <a:solidFill>
                  <a:srgbClr val="000000"/>
                </a:solidFill>
                <a:latin typeface="Courier New"/>
                <a:cs typeface="Courier New"/>
              </a:rPr>
              <a:t>child_status</a:t>
            </a:r>
            <a:r>
              <a:rPr lang="da-DK" sz="1600" dirty="0">
                <a:solidFill>
                  <a:srgbClr val="000000"/>
                </a:solidFill>
                <a:latin typeface="Courier New"/>
                <a:cs typeface="Courier New"/>
              </a:rPr>
              <a:t>))</a:t>
            </a:r>
          </a:p>
          <a:p>
            <a:r>
              <a:rPr lang="da-DK" sz="1600" dirty="0">
                <a:solidFill>
                  <a:srgbClr val="000000"/>
                </a:solidFill>
                <a:latin typeface="Courier New"/>
                <a:cs typeface="Courier New"/>
              </a:rPr>
              <a:t>            </a:t>
            </a:r>
            <a:r>
              <a:rPr lang="da-DK" sz="1600" dirty="0" err="1">
                <a:solidFill>
                  <a:srgbClr val="000000"/>
                </a:solidFill>
                <a:latin typeface="Courier New"/>
                <a:cs typeface="Courier New"/>
              </a:rPr>
              <a:t>printf</a:t>
            </a:r>
            <a:r>
              <a:rPr lang="da-DK" sz="1600" dirty="0">
                <a:solidFill>
                  <a:srgbClr val="000000"/>
                </a:solidFill>
                <a:latin typeface="Courier New"/>
                <a:cs typeface="Courier New"/>
              </a:rPr>
              <a:t>(</a:t>
            </a:r>
            <a:r>
              <a:rPr lang="da-DK" sz="1600" dirty="0">
                <a:solidFill>
                  <a:srgbClr val="9D206F"/>
                </a:solidFill>
                <a:latin typeface="Courier New"/>
                <a:cs typeface="Courier New"/>
              </a:rPr>
              <a:t>"Child %d </a:t>
            </a:r>
            <a:r>
              <a:rPr lang="da-DK" sz="1600" dirty="0" err="1">
                <a:solidFill>
                  <a:srgbClr val="9D206F"/>
                </a:solidFill>
                <a:latin typeface="Courier New"/>
                <a:cs typeface="Courier New"/>
              </a:rPr>
              <a:t>terminated</a:t>
            </a:r>
            <a:r>
              <a:rPr lang="da-DK" sz="1600" dirty="0">
                <a:solidFill>
                  <a:srgbClr val="9D206F"/>
                </a:solidFill>
                <a:latin typeface="Courier New"/>
                <a:cs typeface="Courier New"/>
              </a:rPr>
              <a:t> with exit status %d\n"</a:t>
            </a:r>
            <a:r>
              <a:rPr lang="da-DK" sz="1600" dirty="0">
                <a:solidFill>
                  <a:srgbClr val="000000"/>
                </a:solidFill>
                <a:latin typeface="Courier New"/>
                <a:cs typeface="Courier New"/>
              </a:rPr>
              <a:t>,</a:t>
            </a:r>
          </a:p>
          <a:p>
            <a:r>
              <a:rPr lang="pl-PL" sz="1600" dirty="0">
                <a:solidFill>
                  <a:srgbClr val="000000"/>
                </a:solidFill>
                <a:latin typeface="Courier New"/>
                <a:cs typeface="Courier New"/>
              </a:rPr>
              <a:t>                   </a:t>
            </a:r>
            <a:r>
              <a:rPr lang="pl-PL" sz="1600" dirty="0" err="1">
                <a:solidFill>
                  <a:srgbClr val="000000"/>
                </a:solidFill>
                <a:latin typeface="Courier New"/>
                <a:cs typeface="Courier New"/>
              </a:rPr>
              <a:t>wpid</a:t>
            </a:r>
            <a:r>
              <a:rPr lang="pl-PL" sz="1600" dirty="0">
                <a:solidFill>
                  <a:srgbClr val="000000"/>
                </a:solidFill>
                <a:latin typeface="Courier New"/>
                <a:cs typeface="Courier New"/>
              </a:rPr>
              <a:t>, WEXITSTATUS(</a:t>
            </a:r>
            <a:r>
              <a:rPr lang="pl-PL" sz="1600" dirty="0" err="1">
                <a:solidFill>
                  <a:srgbClr val="000000"/>
                </a:solidFill>
                <a:latin typeface="Courier New"/>
                <a:cs typeface="Courier New"/>
              </a:rPr>
              <a:t>child_status</a:t>
            </a:r>
            <a:r>
              <a:rPr lang="pl-PL" sz="1600" dirty="0">
                <a:solidFill>
                  <a:srgbClr val="000000"/>
                </a:solidFill>
                <a:latin typeface="Courier New"/>
                <a:cs typeface="Courier New"/>
              </a:rPr>
              <a:t>));</a:t>
            </a:r>
          </a:p>
          <a:p>
            <a:r>
              <a:rPr lang="hu-HU" sz="1600" dirty="0">
                <a:solidFill>
                  <a:srgbClr val="000000"/>
                </a:solidFill>
                <a:latin typeface="Courier New"/>
                <a:cs typeface="Courier New"/>
              </a:rPr>
              <a:t>        </a:t>
            </a:r>
            <a:r>
              <a:rPr lang="hu-HU" sz="1600" dirty="0">
                <a:solidFill>
                  <a:srgbClr val="C200FF"/>
                </a:solidFill>
                <a:latin typeface="Courier New"/>
                <a:cs typeface="Courier New"/>
              </a:rPr>
              <a:t>else</a:t>
            </a:r>
            <a:endParaRPr lang="hu-HU"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"Child %d terminate abnormally\n"</a:t>
            </a:r>
            <a:r>
              <a:rPr lang="en-US" sz="1600" dirty="0">
                <a:solidFill>
                  <a:srgbClr val="000000"/>
                </a:solidFill>
                <a:latin typeface="Courier New"/>
                <a:cs typeface="Courier New"/>
              </a:rPr>
              <a:t>, </a:t>
            </a:r>
            <a:r>
              <a:rPr lang="en-US" sz="1600" dirty="0" err="1">
                <a:solidFill>
                  <a:srgbClr val="000000"/>
                </a:solidFill>
                <a:latin typeface="Courier New"/>
                <a:cs typeface="Courier New"/>
              </a:rPr>
              <a:t>wpid</a:t>
            </a:r>
            <a:r>
              <a:rPr lang="en-US" sz="1600" dirty="0">
                <a:solidFill>
                  <a:srgbClr val="000000"/>
                </a:solidFill>
                <a:latin typeface="Courier New"/>
                <a:cs typeface="Courier New"/>
              </a:rPr>
              <a:t>);</a:t>
            </a:r>
          </a:p>
          <a:p>
            <a:r>
              <a:rPr lang="en-US" sz="1600" dirty="0">
                <a:solidFill>
                  <a:srgbClr val="000000"/>
                </a:solidFill>
                <a:latin typeface="Courier New"/>
                <a:cs typeface="Courier New"/>
              </a:rPr>
              <a:t>    }</a:t>
            </a:r>
          </a:p>
          <a:p>
            <a:r>
              <a:rPr lang="en-US" sz="1600" dirty="0" smtClean="0">
                <a:solidFill>
                  <a:srgbClr val="000000"/>
                </a:solidFill>
                <a:latin typeface="Courier New"/>
                <a:cs typeface="Courier New"/>
              </a:rPr>
              <a:t>}</a:t>
            </a:r>
            <a:endParaRPr lang="en-US" sz="1600" dirty="0">
              <a:solidFill>
                <a:srgbClr val="000000"/>
              </a:solidFill>
              <a:latin typeface="Courier New"/>
              <a:cs typeface="Courier New"/>
            </a:endParaRPr>
          </a:p>
        </p:txBody>
      </p:sp>
      <p:sp>
        <p:nvSpPr>
          <p:cNvPr id="5" name="Rectangle 3"/>
          <p:cNvSpPr>
            <a:spLocks noChangeArrowheads="1"/>
          </p:cNvSpPr>
          <p:nvPr/>
        </p:nvSpPr>
        <p:spPr bwMode="auto">
          <a:xfrm>
            <a:off x="7246615" y="6382147"/>
            <a:ext cx="1205816"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forks.c</a:t>
            </a:r>
            <a:endParaRPr lang="en-GB" sz="1800" b="1" i="1" dirty="0">
              <a:solidFill>
                <a:schemeClr val="tx1">
                  <a:lumMod val="50000"/>
                  <a:lumOff val="50000"/>
                </a:schemeClr>
              </a:solidFill>
              <a:latin typeface="Courier New" pitchFamily="49" charset="0"/>
              <a:ea typeface="msgothic" charset="0"/>
              <a:cs typeface="msgothic" charset="0"/>
            </a:endParaRPr>
          </a:p>
        </p:txBody>
      </p:sp>
    </p:spTree>
    <p:extLst>
      <p:ext uri="{BB962C8B-B14F-4D97-AF65-F5344CB8AC3E}">
        <p14:creationId xmlns:p14="http://schemas.microsoft.com/office/powerpoint/2010/main" val="4168453233"/>
      </p:ext>
    </p:extLst>
  </p:cSld>
  <p:clrMapOvr>
    <a:masterClrMapping/>
  </p:clrMapOvr>
  <p:timing>
    <p:tnLst>
      <p:par>
        <p:cTn xmlns:p14="http://schemas.microsoft.com/office/powerpoint/2010/mai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a:xfrm>
            <a:off x="228600" y="381000"/>
            <a:ext cx="8610600" cy="573088"/>
          </a:xfrm>
        </p:spPr>
        <p:txBody>
          <a:bodyPr/>
          <a:lstStyle/>
          <a:p>
            <a:r>
              <a:rPr lang="en-US" sz="3400" dirty="0" err="1" smtClean="0">
                <a:latin typeface="Courier New" pitchFamily="49" charset="0"/>
              </a:rPr>
              <a:t>execve</a:t>
            </a:r>
            <a:r>
              <a:rPr lang="en-US" sz="3400" dirty="0" smtClean="0">
                <a:latin typeface="Courier" pitchFamily="49" charset="0"/>
              </a:rPr>
              <a:t>:</a:t>
            </a:r>
            <a:r>
              <a:rPr lang="en-US" sz="3400" dirty="0" smtClean="0"/>
              <a:t> </a:t>
            </a:r>
            <a:r>
              <a:rPr lang="en-US" sz="3400" dirty="0"/>
              <a:t>Loading and </a:t>
            </a:r>
            <a:r>
              <a:rPr lang="en-US" sz="3400" dirty="0" smtClean="0"/>
              <a:t>Running </a:t>
            </a:r>
            <a:r>
              <a:rPr lang="en-US" sz="3400" dirty="0"/>
              <a:t>Programs</a:t>
            </a:r>
          </a:p>
        </p:txBody>
      </p:sp>
      <p:sp>
        <p:nvSpPr>
          <p:cNvPr id="503811" name="Rectangle 3"/>
          <p:cNvSpPr>
            <a:spLocks noGrp="1" noChangeArrowheads="1"/>
          </p:cNvSpPr>
          <p:nvPr>
            <p:ph type="body" idx="1"/>
          </p:nvPr>
        </p:nvSpPr>
        <p:spPr>
          <a:xfrm>
            <a:off x="228600" y="1371600"/>
            <a:ext cx="8763000" cy="5410200"/>
          </a:xfrm>
        </p:spPr>
        <p:txBody>
          <a:bodyPr/>
          <a:lstStyle/>
          <a:p>
            <a:r>
              <a:rPr lang="en-US" sz="2000" dirty="0" err="1">
                <a:latin typeface="Courier New"/>
                <a:cs typeface="Courier New"/>
              </a:rPr>
              <a:t>int</a:t>
            </a:r>
            <a:r>
              <a:rPr lang="en-US" sz="2000" dirty="0">
                <a:latin typeface="Courier New"/>
                <a:cs typeface="Courier New"/>
              </a:rPr>
              <a:t> </a:t>
            </a:r>
            <a:r>
              <a:rPr lang="en-US" sz="2000" dirty="0" err="1" smtClean="0">
                <a:latin typeface="Courier New"/>
                <a:cs typeface="Courier New"/>
              </a:rPr>
              <a:t>execve</a:t>
            </a:r>
            <a:r>
              <a:rPr lang="en-US" sz="2000" dirty="0" smtClean="0">
                <a:latin typeface="Courier New"/>
                <a:cs typeface="Courier New"/>
              </a:rPr>
              <a:t>(char *filename, char </a:t>
            </a:r>
            <a:r>
              <a:rPr lang="en-US" sz="2000" dirty="0">
                <a:latin typeface="Courier New"/>
                <a:cs typeface="Courier New"/>
              </a:rPr>
              <a:t>*</a:t>
            </a:r>
            <a:r>
              <a:rPr lang="en-US" sz="2000" dirty="0" err="1" smtClean="0">
                <a:latin typeface="Courier New"/>
                <a:cs typeface="Courier New"/>
              </a:rPr>
              <a:t>argv</a:t>
            </a:r>
            <a:r>
              <a:rPr lang="en-US" sz="2000" dirty="0" smtClean="0">
                <a:latin typeface="Courier New"/>
                <a:cs typeface="Courier New"/>
              </a:rPr>
              <a:t>[], char *</a:t>
            </a:r>
            <a:r>
              <a:rPr lang="en-US" sz="2000" dirty="0" err="1" smtClean="0">
                <a:latin typeface="Courier New"/>
                <a:cs typeface="Courier New"/>
              </a:rPr>
              <a:t>envp</a:t>
            </a:r>
            <a:r>
              <a:rPr lang="en-US" sz="2000" dirty="0" smtClean="0">
                <a:latin typeface="Courier New"/>
                <a:cs typeface="Courier New"/>
              </a:rPr>
              <a:t>[</a:t>
            </a:r>
            <a:r>
              <a:rPr lang="en-US" sz="2000" dirty="0">
                <a:latin typeface="Courier New"/>
                <a:cs typeface="Courier New"/>
              </a:rPr>
              <a:t>]</a:t>
            </a:r>
            <a:r>
              <a:rPr lang="en-US" sz="2000" dirty="0" smtClean="0">
                <a:latin typeface="Courier New"/>
                <a:cs typeface="Courier New"/>
              </a:rPr>
              <a:t>)</a:t>
            </a:r>
            <a:endParaRPr lang="en-US" dirty="0" smtClean="0"/>
          </a:p>
          <a:p>
            <a:r>
              <a:rPr lang="en-US" dirty="0" smtClean="0"/>
              <a:t>Loads </a:t>
            </a:r>
            <a:r>
              <a:rPr lang="en-US" dirty="0"/>
              <a:t>and </a:t>
            </a:r>
            <a:r>
              <a:rPr lang="en-US" dirty="0" smtClean="0"/>
              <a:t>runs in the current process:</a:t>
            </a:r>
          </a:p>
          <a:p>
            <a:pPr lvl="1"/>
            <a:r>
              <a:rPr lang="en-US" dirty="0"/>
              <a:t>E</a:t>
            </a:r>
            <a:r>
              <a:rPr lang="en-US" dirty="0" smtClean="0"/>
              <a:t>xecutable  file </a:t>
            </a:r>
            <a:r>
              <a:rPr lang="en-US" b="1" dirty="0" smtClean="0">
                <a:latin typeface="Courier New" pitchFamily="49" charset="0"/>
                <a:ea typeface="+mn-ea"/>
                <a:cs typeface="+mn-cs"/>
              </a:rPr>
              <a:t>filename</a:t>
            </a:r>
          </a:p>
          <a:p>
            <a:pPr lvl="2"/>
            <a:r>
              <a:rPr lang="en-US" dirty="0" smtClean="0">
                <a:latin typeface="Calibri"/>
                <a:ea typeface="+mn-ea"/>
                <a:cs typeface="Calibri"/>
              </a:rPr>
              <a:t>Can be object file or script file beginning with </a:t>
            </a:r>
            <a:r>
              <a:rPr lang="en-US" dirty="0" smtClean="0">
                <a:latin typeface="Courier New"/>
                <a:ea typeface="+mn-ea"/>
                <a:cs typeface="Courier New"/>
              </a:rPr>
              <a:t>#!interpreter          </a:t>
            </a:r>
            <a:r>
              <a:rPr lang="en-US" dirty="0" smtClean="0">
                <a:latin typeface="Calibri"/>
                <a:ea typeface="+mn-ea"/>
                <a:cs typeface="Calibri"/>
              </a:rPr>
              <a:t>(e.g., </a:t>
            </a:r>
            <a:r>
              <a:rPr lang="en-US" dirty="0" smtClean="0">
                <a:latin typeface="Courier New"/>
                <a:ea typeface="+mn-ea"/>
                <a:cs typeface="Courier New"/>
              </a:rPr>
              <a:t>#!/bin/bash</a:t>
            </a:r>
            <a:r>
              <a:rPr lang="en-US" dirty="0" smtClean="0">
                <a:latin typeface="Calibri"/>
                <a:ea typeface="+mn-ea"/>
                <a:cs typeface="Calibri"/>
              </a:rPr>
              <a:t>)</a:t>
            </a:r>
            <a:endParaRPr lang="en-US" dirty="0" smtClean="0">
              <a:latin typeface="Courier New"/>
              <a:ea typeface="+mn-ea"/>
              <a:cs typeface="Courier New"/>
            </a:endParaRPr>
          </a:p>
          <a:p>
            <a:pPr lvl="1"/>
            <a:r>
              <a:rPr lang="en-US" dirty="0" smtClean="0"/>
              <a:t>…with argument list </a:t>
            </a:r>
            <a:r>
              <a:rPr lang="en-US" b="1" dirty="0" err="1" smtClean="0">
                <a:latin typeface="Courier New" pitchFamily="49" charset="0"/>
                <a:ea typeface="+mn-ea"/>
                <a:cs typeface="+mn-cs"/>
              </a:rPr>
              <a:t>argv</a:t>
            </a:r>
            <a:endParaRPr lang="en-US" b="1" dirty="0" smtClean="0">
              <a:latin typeface="Courier New" pitchFamily="49" charset="0"/>
              <a:ea typeface="+mn-ea"/>
              <a:cs typeface="+mn-cs"/>
            </a:endParaRPr>
          </a:p>
          <a:p>
            <a:pPr lvl="2"/>
            <a:r>
              <a:rPr lang="en-US" dirty="0" smtClean="0">
                <a:latin typeface="Calibri"/>
                <a:ea typeface="+mn-ea"/>
                <a:cs typeface="Calibri"/>
              </a:rPr>
              <a:t>By convention </a:t>
            </a:r>
            <a:r>
              <a:rPr lang="en-US" b="1" dirty="0" err="1" smtClean="0">
                <a:latin typeface="Courier New" pitchFamily="49" charset="0"/>
                <a:ea typeface="+mn-ea"/>
                <a:cs typeface="+mn-cs"/>
              </a:rPr>
              <a:t>argv</a:t>
            </a:r>
            <a:r>
              <a:rPr lang="en-US" b="1" dirty="0" smtClean="0">
                <a:latin typeface="Courier New" pitchFamily="49" charset="0"/>
                <a:ea typeface="+mn-ea"/>
                <a:cs typeface="+mn-cs"/>
              </a:rPr>
              <a:t>[0]==filename</a:t>
            </a:r>
          </a:p>
          <a:p>
            <a:pPr lvl="1"/>
            <a:r>
              <a:rPr lang="en-US" dirty="0" smtClean="0"/>
              <a:t>…and  environment variable </a:t>
            </a:r>
            <a:r>
              <a:rPr lang="en-US" dirty="0" smtClean="0">
                <a:latin typeface="Calibri"/>
                <a:ea typeface="+mn-ea"/>
                <a:cs typeface="Calibri"/>
              </a:rPr>
              <a:t>list</a:t>
            </a:r>
            <a:r>
              <a:rPr lang="en-US" b="1" dirty="0" smtClean="0">
                <a:latin typeface="Courier New" pitchFamily="49" charset="0"/>
                <a:ea typeface="+mn-ea"/>
                <a:cs typeface="+mn-cs"/>
              </a:rPr>
              <a:t> </a:t>
            </a:r>
            <a:r>
              <a:rPr lang="en-US" b="1" dirty="0" err="1" smtClean="0">
                <a:latin typeface="Courier New" pitchFamily="49" charset="0"/>
                <a:ea typeface="+mn-ea"/>
                <a:cs typeface="+mn-cs"/>
              </a:rPr>
              <a:t>envp</a:t>
            </a:r>
            <a:endParaRPr lang="en-US" b="1" dirty="0" smtClean="0">
              <a:latin typeface="Courier New" pitchFamily="49" charset="0"/>
              <a:ea typeface="+mn-ea"/>
              <a:cs typeface="+mn-cs"/>
            </a:endParaRPr>
          </a:p>
          <a:p>
            <a:pPr lvl="2"/>
            <a:r>
              <a:rPr lang="en-US" dirty="0" smtClean="0"/>
              <a:t>“</a:t>
            </a:r>
            <a:r>
              <a:rPr lang="en-US" dirty="0"/>
              <a:t>name=value” </a:t>
            </a:r>
            <a:r>
              <a:rPr lang="en-US" dirty="0" smtClean="0"/>
              <a:t>strings (e.g., </a:t>
            </a:r>
            <a:r>
              <a:rPr lang="en-US" dirty="0" smtClean="0">
                <a:latin typeface="Courier New"/>
                <a:cs typeface="Courier New"/>
              </a:rPr>
              <a:t>USER=</a:t>
            </a:r>
            <a:r>
              <a:rPr lang="en-US" dirty="0" err="1" smtClean="0">
                <a:latin typeface="Courier New"/>
                <a:cs typeface="Courier New"/>
              </a:rPr>
              <a:t>droh</a:t>
            </a:r>
            <a:r>
              <a:rPr lang="en-US" dirty="0" smtClean="0"/>
              <a:t>)</a:t>
            </a:r>
            <a:endParaRPr lang="en-US" dirty="0"/>
          </a:p>
          <a:p>
            <a:pPr lvl="2"/>
            <a:r>
              <a:rPr lang="en-US" dirty="0" err="1" smtClean="0">
                <a:latin typeface="Courier New"/>
                <a:cs typeface="Courier New"/>
              </a:rPr>
              <a:t>getenv</a:t>
            </a:r>
            <a:r>
              <a:rPr lang="en-US" dirty="0" smtClean="0">
                <a:latin typeface="Courier New"/>
                <a:cs typeface="Courier New"/>
              </a:rPr>
              <a:t>, </a:t>
            </a:r>
            <a:r>
              <a:rPr lang="en-US" dirty="0" err="1" smtClean="0">
                <a:latin typeface="Courier New"/>
                <a:cs typeface="Courier New"/>
              </a:rPr>
              <a:t>putenv</a:t>
            </a:r>
            <a:r>
              <a:rPr lang="en-US" dirty="0" smtClean="0">
                <a:latin typeface="Courier New"/>
                <a:cs typeface="Courier New"/>
              </a:rPr>
              <a:t>, </a:t>
            </a:r>
            <a:r>
              <a:rPr lang="en-US" dirty="0" err="1" smtClean="0">
                <a:latin typeface="Courier New"/>
                <a:cs typeface="Courier New"/>
              </a:rPr>
              <a:t>printenv</a:t>
            </a:r>
            <a:endParaRPr lang="en-US" b="1" dirty="0" smtClean="0">
              <a:latin typeface="Courier New" pitchFamily="49" charset="0"/>
              <a:ea typeface="+mn-ea"/>
              <a:cs typeface="+mn-cs"/>
            </a:endParaRPr>
          </a:p>
          <a:p>
            <a:r>
              <a:rPr lang="en-US" dirty="0" smtClean="0"/>
              <a:t>Overwrites code, data, and stack</a:t>
            </a:r>
          </a:p>
          <a:p>
            <a:pPr lvl="1"/>
            <a:r>
              <a:rPr lang="en-US" dirty="0" smtClean="0"/>
              <a:t>Retains PID, open files and signal context</a:t>
            </a:r>
          </a:p>
          <a:p>
            <a:r>
              <a:rPr lang="en-US" dirty="0" smtClean="0"/>
              <a:t>Called </a:t>
            </a:r>
            <a:r>
              <a:rPr lang="en-US" dirty="0" smtClean="0">
                <a:solidFill>
                  <a:srgbClr val="FF0000"/>
                </a:solidFill>
              </a:rPr>
              <a:t>once</a:t>
            </a:r>
            <a:r>
              <a:rPr lang="en-US" dirty="0" smtClean="0"/>
              <a:t> and </a:t>
            </a:r>
            <a:r>
              <a:rPr lang="en-US" dirty="0" smtClean="0">
                <a:solidFill>
                  <a:srgbClr val="FF0000"/>
                </a:solidFill>
              </a:rPr>
              <a:t>never </a:t>
            </a:r>
            <a:r>
              <a:rPr lang="en-US" dirty="0" smtClean="0"/>
              <a:t>returns</a:t>
            </a:r>
          </a:p>
          <a:p>
            <a:pPr lvl="1"/>
            <a:r>
              <a:rPr lang="en-US" dirty="0" smtClean="0"/>
              <a:t>…except if there is an error</a:t>
            </a:r>
          </a:p>
        </p:txBody>
      </p:sp>
    </p:spTree>
    <p:extLst>
      <p:ext uri="{BB962C8B-B14F-4D97-AF65-F5344CB8AC3E}">
        <p14:creationId xmlns:p14="http://schemas.microsoft.com/office/powerpoint/2010/main" val="412352148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381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381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381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381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381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3811">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03811">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03811">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03811">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3811">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3811">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0381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0"/>
            <a:ext cx="3259926" cy="1905000"/>
          </a:xfrm>
        </p:spPr>
        <p:txBody>
          <a:bodyPr/>
          <a:lstStyle/>
          <a:p>
            <a:r>
              <a:rPr lang="en-US" dirty="0" smtClean="0"/>
              <a:t>Structure of </a:t>
            </a:r>
            <a:br>
              <a:rPr lang="en-US" dirty="0" smtClean="0"/>
            </a:br>
            <a:r>
              <a:rPr lang="en-US" dirty="0" smtClean="0"/>
              <a:t>the stack when a new program starts</a:t>
            </a:r>
            <a:endParaRPr lang="en-US" dirty="0"/>
          </a:p>
        </p:txBody>
      </p:sp>
      <p:sp>
        <p:nvSpPr>
          <p:cNvPr id="38" name="Rectangle 379"/>
          <p:cNvSpPr>
            <a:spLocks noChangeArrowheads="1"/>
          </p:cNvSpPr>
          <p:nvPr/>
        </p:nvSpPr>
        <p:spPr bwMode="auto">
          <a:xfrm>
            <a:off x="3997944" y="381000"/>
            <a:ext cx="2819400" cy="685800"/>
          </a:xfrm>
          <a:prstGeom prst="rect">
            <a:avLst/>
          </a:prstGeom>
          <a:solidFill>
            <a:srgbClr val="D5F1CF"/>
          </a:solidFill>
          <a:ln w="12700">
            <a:solidFill>
              <a:srgbClr val="000000"/>
            </a:solidFill>
            <a:miter lim="800000"/>
            <a:headEnd/>
            <a:tailEnd/>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Null-terminated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environment variable strings</a:t>
            </a:r>
          </a:p>
        </p:txBody>
      </p:sp>
      <p:sp>
        <p:nvSpPr>
          <p:cNvPr id="39" name="Rectangle 381"/>
          <p:cNvSpPr>
            <a:spLocks noChangeArrowheads="1"/>
          </p:cNvSpPr>
          <p:nvPr/>
        </p:nvSpPr>
        <p:spPr bwMode="auto">
          <a:xfrm>
            <a:off x="3997944" y="1066800"/>
            <a:ext cx="2819400" cy="685800"/>
          </a:xfrm>
          <a:prstGeom prst="rect">
            <a:avLst/>
          </a:prstGeom>
          <a:solidFill>
            <a:srgbClr val="ADADEB"/>
          </a:solidFill>
          <a:ln w="12700">
            <a:solidFill>
              <a:srgbClr val="000000"/>
            </a:solidFill>
            <a:miter lim="800000"/>
            <a:headEnd/>
            <a:tailEnd/>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alibri" charset="0"/>
                <a:ea typeface="Calibri" charset="0"/>
                <a:cs typeface="Calibri" charset="0"/>
              </a:rPr>
              <a:t>Null-terminated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alibri" charset="0"/>
                <a:ea typeface="Calibri" charset="0"/>
                <a:cs typeface="Calibri" charset="0"/>
              </a:rPr>
              <a:t>command-line arg strings</a:t>
            </a:r>
          </a:p>
        </p:txBody>
      </p:sp>
      <p:sp>
        <p:nvSpPr>
          <p:cNvPr id="40" name="Rectangle 382"/>
          <p:cNvSpPr>
            <a:spLocks noChangeArrowheads="1"/>
          </p:cNvSpPr>
          <p:nvPr/>
        </p:nvSpPr>
        <p:spPr bwMode="auto">
          <a:xfrm>
            <a:off x="3997944" y="1752600"/>
            <a:ext cx="2819400" cy="304800"/>
          </a:xfrm>
          <a:prstGeom prst="rect">
            <a:avLst/>
          </a:prstGeom>
          <a:solidFill>
            <a:srgbClr val="C0C0C0"/>
          </a:solidFill>
          <a:ln w="1270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Rectangle 383"/>
          <p:cNvSpPr>
            <a:spLocks noChangeArrowheads="1"/>
          </p:cNvSpPr>
          <p:nvPr/>
        </p:nvSpPr>
        <p:spPr bwMode="auto">
          <a:xfrm>
            <a:off x="3997944" y="2057400"/>
            <a:ext cx="2819400" cy="304800"/>
          </a:xfrm>
          <a:prstGeom prst="rect">
            <a:avLst/>
          </a:prstGeom>
          <a:solidFill>
            <a:srgbClr val="D5F1CF"/>
          </a:solidFill>
          <a:ln w="12700">
            <a:solidFill>
              <a:srgbClr val="000000"/>
            </a:solidFill>
            <a:miter lim="800000"/>
            <a:headEnd/>
            <a:tailEnd/>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a:ln>
                  <a:noFill/>
                </a:ln>
                <a:solidFill>
                  <a:sysClr val="windowText" lastClr="000000"/>
                </a:solidFill>
                <a:effectLst/>
                <a:uLnTx/>
                <a:uFillTx/>
                <a:latin typeface="Courier New" charset="0"/>
              </a:rPr>
              <a:t>envp</a:t>
            </a:r>
            <a:r>
              <a:rPr kumimoji="0" lang="en-US" sz="1800" b="0" i="0" u="none" strike="noStrike" kern="0" cap="none" spc="0" normalizeH="0" baseline="0" noProof="0" dirty="0">
                <a:ln>
                  <a:noFill/>
                </a:ln>
                <a:solidFill>
                  <a:sysClr val="windowText" lastClr="000000"/>
                </a:solidFill>
                <a:effectLst/>
                <a:uLnTx/>
                <a:uFillTx/>
                <a:latin typeface="Courier New" charset="0"/>
              </a:rPr>
              <a:t>[n] == NULL</a:t>
            </a:r>
          </a:p>
        </p:txBody>
      </p:sp>
      <p:sp>
        <p:nvSpPr>
          <p:cNvPr id="42" name="Rectangle 384"/>
          <p:cNvSpPr>
            <a:spLocks noChangeArrowheads="1"/>
          </p:cNvSpPr>
          <p:nvPr/>
        </p:nvSpPr>
        <p:spPr bwMode="auto">
          <a:xfrm>
            <a:off x="3997944" y="2362200"/>
            <a:ext cx="2819400" cy="304800"/>
          </a:xfrm>
          <a:prstGeom prst="rect">
            <a:avLst/>
          </a:prstGeom>
          <a:solidFill>
            <a:srgbClr val="D5F1CF"/>
          </a:solidFill>
          <a:ln w="12700">
            <a:solidFill>
              <a:srgbClr val="000000"/>
            </a:solidFill>
            <a:miter lim="800000"/>
            <a:headEnd/>
            <a:tailEnd/>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ourier New" charset="0"/>
              </a:rPr>
              <a:t>envp[n-1]</a:t>
            </a:r>
          </a:p>
        </p:txBody>
      </p:sp>
      <p:sp>
        <p:nvSpPr>
          <p:cNvPr id="43" name="Rectangle 385"/>
          <p:cNvSpPr>
            <a:spLocks noChangeArrowheads="1"/>
          </p:cNvSpPr>
          <p:nvPr/>
        </p:nvSpPr>
        <p:spPr bwMode="auto">
          <a:xfrm>
            <a:off x="3997944" y="2667000"/>
            <a:ext cx="2819400" cy="304800"/>
          </a:xfrm>
          <a:prstGeom prst="rect">
            <a:avLst/>
          </a:prstGeom>
          <a:solidFill>
            <a:srgbClr val="D5F1CF"/>
          </a:solidFill>
          <a:ln w="12700">
            <a:solidFill>
              <a:srgbClr val="000000"/>
            </a:solidFill>
            <a:miter lim="800000"/>
            <a:headEnd/>
            <a:tailEnd/>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sysClr val="windowText" lastClr="000000"/>
                </a:solidFill>
                <a:effectLst/>
                <a:uLnTx/>
                <a:uFillTx/>
              </a:rPr>
              <a:t>...</a:t>
            </a:r>
          </a:p>
        </p:txBody>
      </p:sp>
      <p:sp>
        <p:nvSpPr>
          <p:cNvPr id="44" name="Rectangle 386"/>
          <p:cNvSpPr>
            <a:spLocks noChangeArrowheads="1"/>
          </p:cNvSpPr>
          <p:nvPr/>
        </p:nvSpPr>
        <p:spPr bwMode="auto">
          <a:xfrm>
            <a:off x="3997944" y="2971800"/>
            <a:ext cx="2819400" cy="304800"/>
          </a:xfrm>
          <a:prstGeom prst="rect">
            <a:avLst/>
          </a:prstGeom>
          <a:solidFill>
            <a:srgbClr val="D5F1CF"/>
          </a:solidFill>
          <a:ln w="12700">
            <a:solidFill>
              <a:srgbClr val="000000"/>
            </a:solidFill>
            <a:miter lim="800000"/>
            <a:headEnd/>
            <a:tailEnd/>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ourier New" charset="0"/>
              </a:rPr>
              <a:t>envp[0]</a:t>
            </a:r>
          </a:p>
        </p:txBody>
      </p:sp>
      <p:sp>
        <p:nvSpPr>
          <p:cNvPr id="45" name="Rectangle 387"/>
          <p:cNvSpPr>
            <a:spLocks noChangeArrowheads="1"/>
          </p:cNvSpPr>
          <p:nvPr/>
        </p:nvSpPr>
        <p:spPr bwMode="auto">
          <a:xfrm>
            <a:off x="3997944" y="3276600"/>
            <a:ext cx="2819400" cy="304800"/>
          </a:xfrm>
          <a:prstGeom prst="rect">
            <a:avLst/>
          </a:prstGeom>
          <a:solidFill>
            <a:schemeClr val="accent2">
              <a:lumMod val="40000"/>
              <a:lumOff val="60000"/>
            </a:schemeClr>
          </a:solidFill>
          <a:ln w="12700">
            <a:solidFill>
              <a:srgbClr val="000000"/>
            </a:solidFill>
            <a:miter lim="800000"/>
            <a:headEnd/>
            <a:tailEnd/>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ourier New" charset="0"/>
              </a:rPr>
              <a:t>argv[argc] = NULL</a:t>
            </a:r>
          </a:p>
        </p:txBody>
      </p:sp>
      <p:sp>
        <p:nvSpPr>
          <p:cNvPr id="46" name="Rectangle 388"/>
          <p:cNvSpPr>
            <a:spLocks noChangeArrowheads="1"/>
          </p:cNvSpPr>
          <p:nvPr/>
        </p:nvSpPr>
        <p:spPr bwMode="auto">
          <a:xfrm>
            <a:off x="3997944" y="3581400"/>
            <a:ext cx="2819400" cy="304800"/>
          </a:xfrm>
          <a:prstGeom prst="rect">
            <a:avLst/>
          </a:prstGeom>
          <a:solidFill>
            <a:srgbClr val="ADADEB"/>
          </a:solidFill>
          <a:ln w="12700">
            <a:solidFill>
              <a:srgbClr val="000000"/>
            </a:solidFill>
            <a:miter lim="800000"/>
            <a:headEnd/>
            <a:tailEnd/>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ourier New" charset="0"/>
              </a:rPr>
              <a:t>argv[argc-1]</a:t>
            </a:r>
          </a:p>
        </p:txBody>
      </p:sp>
      <p:sp>
        <p:nvSpPr>
          <p:cNvPr id="47" name="Rectangle 389"/>
          <p:cNvSpPr>
            <a:spLocks noChangeArrowheads="1"/>
          </p:cNvSpPr>
          <p:nvPr/>
        </p:nvSpPr>
        <p:spPr bwMode="auto">
          <a:xfrm>
            <a:off x="3997944" y="3886200"/>
            <a:ext cx="2819400" cy="304800"/>
          </a:xfrm>
          <a:prstGeom prst="rect">
            <a:avLst/>
          </a:prstGeom>
          <a:solidFill>
            <a:srgbClr val="ADADEB"/>
          </a:solidFill>
          <a:ln w="12700">
            <a:solidFill>
              <a:srgbClr val="000000"/>
            </a:solidFill>
            <a:miter lim="800000"/>
            <a:headEnd/>
            <a:tailEnd/>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sysClr val="windowText" lastClr="000000"/>
                </a:solidFill>
                <a:effectLst/>
                <a:uLnTx/>
                <a:uFillTx/>
              </a:rPr>
              <a:t>...</a:t>
            </a:r>
          </a:p>
        </p:txBody>
      </p:sp>
      <p:sp>
        <p:nvSpPr>
          <p:cNvPr id="48" name="Rectangle 390"/>
          <p:cNvSpPr>
            <a:spLocks noChangeArrowheads="1"/>
          </p:cNvSpPr>
          <p:nvPr/>
        </p:nvSpPr>
        <p:spPr bwMode="auto">
          <a:xfrm>
            <a:off x="3997944" y="4191000"/>
            <a:ext cx="2819400" cy="304800"/>
          </a:xfrm>
          <a:prstGeom prst="rect">
            <a:avLst/>
          </a:prstGeom>
          <a:solidFill>
            <a:srgbClr val="ADADEB"/>
          </a:solidFill>
          <a:ln w="12700">
            <a:solidFill>
              <a:srgbClr val="000000"/>
            </a:solidFill>
            <a:miter lim="800000"/>
            <a:headEnd/>
            <a:tailEnd/>
          </a:ln>
          <a:effectLs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ysClr val="windowText" lastClr="000000"/>
                </a:solidFill>
                <a:effectLst/>
                <a:uLnTx/>
                <a:uFillTx/>
                <a:latin typeface="Courier New" charset="0"/>
              </a:rPr>
              <a:t>argv[0]</a:t>
            </a:r>
          </a:p>
        </p:txBody>
      </p:sp>
      <p:sp>
        <p:nvSpPr>
          <p:cNvPr id="49" name="Rectangle 399"/>
          <p:cNvSpPr>
            <a:spLocks noChangeArrowheads="1"/>
          </p:cNvSpPr>
          <p:nvPr/>
        </p:nvSpPr>
        <p:spPr bwMode="auto">
          <a:xfrm>
            <a:off x="4009385" y="5488077"/>
            <a:ext cx="2819400" cy="685800"/>
          </a:xfrm>
          <a:prstGeom prst="rect">
            <a:avLst/>
          </a:prstGeom>
          <a:noFill/>
          <a:ln w="12700">
            <a:solidFill>
              <a:srgbClr val="000000"/>
            </a:solidFill>
            <a:prstDash val="sysDash"/>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ysClr val="windowText" lastClr="000000"/>
                </a:solidFill>
                <a:effectLst/>
                <a:uLnTx/>
                <a:uFillTx/>
                <a:latin typeface="Calibri" charset="0"/>
                <a:ea typeface="Calibri" charset="0"/>
                <a:cs typeface="Calibri" charset="0"/>
              </a:rPr>
              <a:t>Future stack </a:t>
            </a: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frame for</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ourier New" charset="0"/>
              </a:rPr>
              <a:t>main</a:t>
            </a:r>
            <a:endParaRPr kumimoji="0" lang="en-US" sz="1800" b="0" i="0" u="none" strike="noStrike" kern="0" cap="none" spc="0" normalizeH="0" baseline="0" noProof="0" dirty="0">
              <a:ln>
                <a:noFill/>
              </a:ln>
              <a:solidFill>
                <a:sysClr val="windowText" lastClr="000000"/>
              </a:solidFill>
              <a:effectLst/>
              <a:uLnTx/>
              <a:uFillTx/>
            </a:endParaRPr>
          </a:p>
        </p:txBody>
      </p:sp>
      <p:sp>
        <p:nvSpPr>
          <p:cNvPr id="50" name="Text Box 401"/>
          <p:cNvSpPr txBox="1">
            <a:spLocks noChangeArrowheads="1"/>
          </p:cNvSpPr>
          <p:nvPr/>
        </p:nvSpPr>
        <p:spPr bwMode="auto">
          <a:xfrm>
            <a:off x="7757737" y="2416442"/>
            <a:ext cx="1242648" cy="646331"/>
          </a:xfrm>
          <a:prstGeom prst="rect">
            <a:avLst/>
          </a:prstGeom>
          <a:solidFill>
            <a:srgbClr val="D5F1CF"/>
          </a:solidFill>
          <a:ln w="12700">
            <a:solidFill>
              <a:srgbClr val="000000"/>
            </a:solidFill>
            <a:miter lim="800000"/>
            <a:headEnd/>
            <a:tailEnd/>
          </a:ln>
          <a:effectLst/>
          <a:ex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ysClr val="windowText" lastClr="000000"/>
                </a:solidFill>
                <a:effectLst/>
                <a:uLnTx/>
                <a:uFillTx/>
                <a:latin typeface="Courier New" charset="0"/>
              </a:rPr>
              <a:t>environ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ysClr val="windowText" lastClr="000000"/>
                </a:solidFill>
                <a:effectLst/>
                <a:uLnTx/>
                <a:uFillTx/>
                <a:latin typeface="Calibri" charset="0"/>
                <a:ea typeface="Calibri" charset="0"/>
                <a:cs typeface="Calibri" charset="0"/>
              </a:rPr>
              <a:t>(global </a:t>
            </a:r>
            <a:r>
              <a:rPr kumimoji="0" lang="en-US" sz="1800" b="0" i="0" u="none" strike="noStrike" kern="0" cap="none" spc="0" normalizeH="0" baseline="0" noProof="0" dirty="0" err="1" smtClean="0">
                <a:ln>
                  <a:noFill/>
                </a:ln>
                <a:solidFill>
                  <a:sysClr val="windowText" lastClr="000000"/>
                </a:solidFill>
                <a:effectLst/>
                <a:uLnTx/>
                <a:uFillTx/>
                <a:latin typeface="Calibri" charset="0"/>
                <a:ea typeface="Calibri" charset="0"/>
                <a:cs typeface="Calibri" charset="0"/>
              </a:rPr>
              <a:t>var</a:t>
            </a:r>
            <a:r>
              <a:rPr kumimoji="0" lang="en-US" sz="1800" b="0" i="0" u="none" strike="noStrike" kern="0" cap="none" spc="0" normalizeH="0" baseline="0" noProof="0" dirty="0" smtClean="0">
                <a:ln>
                  <a:noFill/>
                </a:ln>
                <a:solidFill>
                  <a:sysClr val="windowText" lastClr="000000"/>
                </a:solidFill>
                <a:effectLst/>
                <a:uLnTx/>
                <a:uFillTx/>
                <a:latin typeface="Calibri" charset="0"/>
                <a:ea typeface="Calibri" charset="0"/>
                <a:cs typeface="Calibri" charset="0"/>
              </a:rPr>
              <a:t>)</a:t>
            </a:r>
            <a:endPar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endParaRPr>
          </a:p>
        </p:txBody>
      </p:sp>
      <p:sp>
        <p:nvSpPr>
          <p:cNvPr id="51" name="Line 406"/>
          <p:cNvSpPr>
            <a:spLocks noChangeShapeType="1"/>
          </p:cNvSpPr>
          <p:nvPr/>
        </p:nvSpPr>
        <p:spPr bwMode="auto">
          <a:xfrm flipV="1">
            <a:off x="3045404" y="4435332"/>
            <a:ext cx="961021" cy="0"/>
          </a:xfrm>
          <a:prstGeom prst="line">
            <a:avLst/>
          </a:prstGeom>
          <a:noFill/>
          <a:ln w="12700">
            <a:solidFill>
              <a:srgbClr val="00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2" name="Line 407"/>
          <p:cNvSpPr>
            <a:spLocks noChangeShapeType="1"/>
          </p:cNvSpPr>
          <p:nvPr/>
        </p:nvSpPr>
        <p:spPr bwMode="auto">
          <a:xfrm flipH="1">
            <a:off x="3616944" y="4279900"/>
            <a:ext cx="495300" cy="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3" name="Line 408"/>
          <p:cNvSpPr>
            <a:spLocks noChangeShapeType="1"/>
          </p:cNvSpPr>
          <p:nvPr/>
        </p:nvSpPr>
        <p:spPr bwMode="auto">
          <a:xfrm flipV="1">
            <a:off x="3616944" y="1676400"/>
            <a:ext cx="0" cy="259080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4" name="Line 409"/>
          <p:cNvSpPr>
            <a:spLocks noChangeShapeType="1"/>
          </p:cNvSpPr>
          <p:nvPr/>
        </p:nvSpPr>
        <p:spPr bwMode="auto">
          <a:xfrm>
            <a:off x="3616944" y="1676400"/>
            <a:ext cx="381000" cy="0"/>
          </a:xfrm>
          <a:prstGeom prst="line">
            <a:avLst/>
          </a:prstGeom>
          <a:noFill/>
          <a:ln w="12700">
            <a:solidFill>
              <a:srgbClr val="00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5" name="Line 411"/>
          <p:cNvSpPr>
            <a:spLocks noChangeShapeType="1"/>
          </p:cNvSpPr>
          <p:nvPr/>
        </p:nvSpPr>
        <p:spPr bwMode="auto">
          <a:xfrm flipH="1">
            <a:off x="6703044" y="3060700"/>
            <a:ext cx="495300" cy="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6" name="Line 412"/>
          <p:cNvSpPr>
            <a:spLocks noChangeShapeType="1"/>
          </p:cNvSpPr>
          <p:nvPr/>
        </p:nvSpPr>
        <p:spPr bwMode="auto">
          <a:xfrm flipH="1" flipV="1">
            <a:off x="7236444" y="990600"/>
            <a:ext cx="0" cy="2057400"/>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7" name="Line 413"/>
          <p:cNvSpPr>
            <a:spLocks noChangeShapeType="1"/>
          </p:cNvSpPr>
          <p:nvPr/>
        </p:nvSpPr>
        <p:spPr bwMode="auto">
          <a:xfrm>
            <a:off x="6817344" y="990600"/>
            <a:ext cx="381000" cy="0"/>
          </a:xfrm>
          <a:prstGeom prst="line">
            <a:avLst/>
          </a:prstGeom>
          <a:noFill/>
          <a:ln w="12700">
            <a:solidFill>
              <a:srgbClr val="000000"/>
            </a:solidFill>
            <a:prstDash val="dash"/>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8" name="Oval 417"/>
          <p:cNvSpPr>
            <a:spLocks noChangeAspect="1" noChangeArrowheads="1"/>
          </p:cNvSpPr>
          <p:nvPr/>
        </p:nvSpPr>
        <p:spPr bwMode="auto">
          <a:xfrm>
            <a:off x="4112244" y="4238625"/>
            <a:ext cx="92075" cy="92075"/>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59" name="Oval 419"/>
          <p:cNvSpPr>
            <a:spLocks noChangeAspect="1" noChangeArrowheads="1"/>
          </p:cNvSpPr>
          <p:nvPr/>
        </p:nvSpPr>
        <p:spPr bwMode="auto">
          <a:xfrm>
            <a:off x="6626844" y="3019425"/>
            <a:ext cx="92075" cy="92075"/>
          </a:xfrm>
          <a:prstGeom prst="ellipse">
            <a:avLst/>
          </a:prstGeom>
          <a:solidFill>
            <a:srgbClr val="000000"/>
          </a:solidFill>
          <a:ln w="12700">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0" name="Text Box 421"/>
          <p:cNvSpPr txBox="1">
            <a:spLocks noChangeArrowheads="1"/>
          </p:cNvSpPr>
          <p:nvPr/>
        </p:nvSpPr>
        <p:spPr bwMode="auto">
          <a:xfrm>
            <a:off x="6952670" y="288409"/>
            <a:ext cx="1669047"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Bottom of stack</a:t>
            </a:r>
          </a:p>
        </p:txBody>
      </p:sp>
      <p:sp>
        <p:nvSpPr>
          <p:cNvPr id="61" name="Text Box 422"/>
          <p:cNvSpPr txBox="1">
            <a:spLocks noChangeArrowheads="1"/>
          </p:cNvSpPr>
          <p:nvPr/>
        </p:nvSpPr>
        <p:spPr bwMode="auto">
          <a:xfrm>
            <a:off x="6980560" y="5251303"/>
            <a:ext cx="1317990"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rPr>
              <a:t>Top of stack</a:t>
            </a:r>
          </a:p>
        </p:txBody>
      </p:sp>
      <p:sp>
        <p:nvSpPr>
          <p:cNvPr id="64" name="Line 431"/>
          <p:cNvSpPr>
            <a:spLocks noChangeShapeType="1"/>
          </p:cNvSpPr>
          <p:nvPr/>
        </p:nvSpPr>
        <p:spPr bwMode="auto">
          <a:xfrm>
            <a:off x="7406067" y="3154102"/>
            <a:ext cx="398673" cy="194247"/>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5" name="Line 433"/>
          <p:cNvSpPr>
            <a:spLocks noChangeShapeType="1"/>
          </p:cNvSpPr>
          <p:nvPr/>
        </p:nvSpPr>
        <p:spPr bwMode="auto">
          <a:xfrm flipH="1">
            <a:off x="6830040" y="3153838"/>
            <a:ext cx="585722" cy="16008"/>
          </a:xfrm>
          <a:prstGeom prst="line">
            <a:avLst/>
          </a:prstGeom>
          <a:noFill/>
          <a:ln w="12700">
            <a:solidFill>
              <a:srgbClr val="00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6" name="Text Box 401"/>
          <p:cNvSpPr txBox="1">
            <a:spLocks noChangeArrowheads="1"/>
          </p:cNvSpPr>
          <p:nvPr/>
        </p:nvSpPr>
        <p:spPr bwMode="auto">
          <a:xfrm>
            <a:off x="1912773" y="4132836"/>
            <a:ext cx="1113312" cy="584776"/>
          </a:xfrm>
          <a:prstGeom prst="rect">
            <a:avLst/>
          </a:prstGeom>
          <a:solidFill>
            <a:schemeClr val="accent2">
              <a:lumMod val="40000"/>
              <a:lumOff val="60000"/>
            </a:schemeClr>
          </a:solidFill>
          <a:ln w="12700">
            <a:solidFill>
              <a:srgbClr val="000000"/>
            </a:solidFill>
            <a:miter lim="800000"/>
            <a:headEnd/>
            <a:tailEnd/>
          </a:ln>
          <a:effectLst/>
          <a:extLst/>
        </p:spPr>
        <p:txBody>
          <a:bodyPr wrap="none"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smtClean="0">
                <a:ln>
                  <a:noFill/>
                </a:ln>
                <a:solidFill>
                  <a:sysClr val="windowText" lastClr="000000"/>
                </a:solidFill>
                <a:effectLst/>
                <a:uLnTx/>
                <a:uFillTx/>
                <a:latin typeface="Courier New" charset="0"/>
              </a:rPr>
              <a:t>argv</a:t>
            </a:r>
            <a:endParaRPr kumimoji="0" lang="en-US" sz="1800" b="0" i="0" u="none" strike="noStrike" kern="0" cap="none" spc="0" normalizeH="0" baseline="0" noProof="0" dirty="0" smtClean="0">
              <a:ln>
                <a:noFill/>
              </a:ln>
              <a:solidFill>
                <a:sysClr val="windowText" lastClr="000000"/>
              </a:solidFill>
              <a:effectLst/>
              <a:uLnTx/>
              <a:uFillTx/>
              <a:latin typeface="Courier New"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ysClr val="windowText" lastClr="000000"/>
                </a:solidFill>
                <a:effectLst/>
                <a:uLnTx/>
                <a:uFillTx/>
                <a:latin typeface="Calibri" charset="0"/>
                <a:ea typeface="Calibri" charset="0"/>
                <a:cs typeface="Calibri" charset="0"/>
              </a:rPr>
              <a:t>(in </a:t>
            </a:r>
            <a:r>
              <a:rPr kumimoji="0" lang="en-US" sz="1800" u="none" strike="noStrike" kern="0" cap="none" spc="0" normalizeH="0" baseline="0" noProof="0" dirty="0" smtClean="0">
                <a:ln>
                  <a:noFill/>
                </a:ln>
                <a:solidFill>
                  <a:sysClr val="windowText" lastClr="000000"/>
                </a:solidFill>
                <a:effectLst/>
                <a:uLnTx/>
                <a:uFillTx/>
                <a:latin typeface="Courier New" charset="0"/>
                <a:ea typeface="Courier New" charset="0"/>
                <a:cs typeface="Courier New" charset="0"/>
              </a:rPr>
              <a:t>%</a:t>
            </a:r>
            <a:r>
              <a:rPr kumimoji="0" lang="en-US" sz="1800" u="none" strike="noStrike" kern="0" cap="none" spc="0" normalizeH="0" baseline="0" noProof="0" dirty="0" err="1" smtClean="0">
                <a:ln>
                  <a:noFill/>
                </a:ln>
                <a:solidFill>
                  <a:sysClr val="windowText" lastClr="000000"/>
                </a:solidFill>
                <a:effectLst/>
                <a:uLnTx/>
                <a:uFillTx/>
                <a:latin typeface="Courier New" charset="0"/>
                <a:ea typeface="Courier New" charset="0"/>
                <a:cs typeface="Courier New" charset="0"/>
              </a:rPr>
              <a:t>rsi</a:t>
            </a:r>
            <a:r>
              <a:rPr kumimoji="0" lang="en-US" sz="1800" b="0" i="0" u="none" strike="noStrike" kern="0" cap="none" spc="0" normalizeH="0" baseline="0" noProof="0" dirty="0" smtClean="0">
                <a:ln>
                  <a:noFill/>
                </a:ln>
                <a:solidFill>
                  <a:sysClr val="windowText" lastClr="000000"/>
                </a:solidFill>
                <a:effectLst/>
                <a:uLnTx/>
                <a:uFillTx/>
                <a:latin typeface="Calibri" charset="0"/>
                <a:ea typeface="Calibri" charset="0"/>
                <a:cs typeface="Calibri" charset="0"/>
              </a:rPr>
              <a:t>)</a:t>
            </a:r>
          </a:p>
        </p:txBody>
      </p:sp>
      <p:sp>
        <p:nvSpPr>
          <p:cNvPr id="67" name="Text Box 401"/>
          <p:cNvSpPr txBox="1">
            <a:spLocks noChangeArrowheads="1"/>
          </p:cNvSpPr>
          <p:nvPr/>
        </p:nvSpPr>
        <p:spPr bwMode="auto">
          <a:xfrm>
            <a:off x="7781869" y="3243116"/>
            <a:ext cx="1189831" cy="620121"/>
          </a:xfrm>
          <a:prstGeom prst="rect">
            <a:avLst/>
          </a:prstGeom>
          <a:solidFill>
            <a:srgbClr val="D5F1CF"/>
          </a:solidFill>
          <a:ln w="12700">
            <a:solidFill>
              <a:srgbClr val="000000"/>
            </a:solidFill>
            <a:miter lim="800000"/>
            <a:headEnd/>
            <a:tailEnd/>
          </a:ln>
          <a:effectLst/>
          <a:extLst/>
        </p:spPr>
        <p:txBody>
          <a:bodyPr wrap="square"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smtClean="0">
                <a:ln>
                  <a:noFill/>
                </a:ln>
                <a:solidFill>
                  <a:sysClr val="windowText" lastClr="000000"/>
                </a:solidFill>
                <a:effectLst/>
                <a:uLnTx/>
                <a:uFillTx/>
                <a:latin typeface="Courier New" charset="0"/>
              </a:rPr>
              <a:t>envp</a:t>
            </a:r>
            <a:endParaRPr kumimoji="0" lang="en-US" sz="1800" b="0" i="0" u="none" strike="noStrike" kern="0" cap="none" spc="0" normalizeH="0" baseline="0" noProof="0" dirty="0" smtClean="0">
              <a:ln>
                <a:noFill/>
              </a:ln>
              <a:solidFill>
                <a:sysClr val="windowText" lastClr="000000"/>
              </a:solidFill>
              <a:effectLst/>
              <a:uLnTx/>
              <a:uFillTx/>
              <a:latin typeface="Courier New"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ysClr val="windowText" lastClr="000000"/>
                </a:solidFill>
                <a:effectLst/>
                <a:uLnTx/>
                <a:uFillTx/>
                <a:latin typeface="Calibri" charset="0"/>
                <a:ea typeface="Calibri" charset="0"/>
                <a:cs typeface="Calibri" charset="0"/>
              </a:rPr>
              <a:t>(in </a:t>
            </a:r>
            <a:r>
              <a:rPr kumimoji="0" lang="en-US" sz="1800" u="none" strike="noStrike" kern="0" cap="none" spc="0" normalizeH="0" baseline="0" noProof="0" dirty="0" smtClean="0">
                <a:ln>
                  <a:noFill/>
                </a:ln>
                <a:solidFill>
                  <a:sysClr val="windowText" lastClr="000000"/>
                </a:solidFill>
                <a:effectLst/>
                <a:uLnTx/>
                <a:uFillTx/>
                <a:latin typeface="Courier New" charset="0"/>
                <a:ea typeface="Courier New" charset="0"/>
                <a:cs typeface="Courier New" charset="0"/>
              </a:rPr>
              <a:t>%</a:t>
            </a:r>
            <a:r>
              <a:rPr kumimoji="0" lang="en-US" sz="1800" u="none" strike="noStrike" kern="0" cap="none" spc="0" normalizeH="0" baseline="0" noProof="0" dirty="0" err="1" smtClean="0">
                <a:ln>
                  <a:noFill/>
                </a:ln>
                <a:solidFill>
                  <a:sysClr val="windowText" lastClr="000000"/>
                </a:solidFill>
                <a:effectLst/>
                <a:uLnTx/>
                <a:uFillTx/>
                <a:latin typeface="Courier New" charset="0"/>
                <a:ea typeface="Courier New" charset="0"/>
                <a:cs typeface="Courier New" charset="0"/>
              </a:rPr>
              <a:t>rdx</a:t>
            </a:r>
            <a:r>
              <a:rPr kumimoji="0" lang="en-US" sz="1800" b="0" i="0" u="none" strike="noStrike" kern="0" cap="none" spc="0" normalizeH="0" baseline="0" noProof="0" dirty="0" smtClean="0">
                <a:ln>
                  <a:noFill/>
                </a:ln>
                <a:solidFill>
                  <a:sysClr val="windowText" lastClr="000000"/>
                </a:solidFill>
                <a:effectLst/>
                <a:uLnTx/>
                <a:uFillTx/>
                <a:latin typeface="Calibri" charset="0"/>
                <a:ea typeface="Calibri" charset="0"/>
                <a:cs typeface="Calibri" charset="0"/>
              </a:rPr>
              <a:t>)</a:t>
            </a:r>
            <a:endParaRPr kumimoji="0" lang="en-US" sz="1800" b="0" i="0" u="none" strike="noStrike" kern="0" cap="none" spc="0" normalizeH="0" baseline="0" noProof="0" dirty="0">
              <a:ln>
                <a:noFill/>
              </a:ln>
              <a:solidFill>
                <a:sysClr val="windowText" lastClr="000000"/>
              </a:solidFill>
              <a:effectLst/>
              <a:uLnTx/>
              <a:uFillTx/>
              <a:latin typeface="Calibri" charset="0"/>
              <a:ea typeface="Calibri" charset="0"/>
              <a:cs typeface="Calibri" charset="0"/>
            </a:endParaRPr>
          </a:p>
        </p:txBody>
      </p:sp>
      <p:sp>
        <p:nvSpPr>
          <p:cNvPr id="68" name="Line 431"/>
          <p:cNvSpPr>
            <a:spLocks noChangeShapeType="1"/>
          </p:cNvSpPr>
          <p:nvPr/>
        </p:nvSpPr>
        <p:spPr bwMode="auto">
          <a:xfrm flipV="1">
            <a:off x="7421182" y="2940361"/>
            <a:ext cx="398673" cy="194247"/>
          </a:xfrm>
          <a:prstGeom prst="line">
            <a:avLst/>
          </a:prstGeom>
          <a:noFill/>
          <a:ln w="12700">
            <a:solidFill>
              <a:srgbClr val="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sp>
        <p:nvSpPr>
          <p:cNvPr id="69" name="Rectangle 379"/>
          <p:cNvSpPr>
            <a:spLocks noChangeArrowheads="1"/>
          </p:cNvSpPr>
          <p:nvPr/>
        </p:nvSpPr>
        <p:spPr bwMode="auto">
          <a:xfrm>
            <a:off x="4001615" y="4801237"/>
            <a:ext cx="2819400" cy="685800"/>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ysClr val="windowText" lastClr="000000"/>
                </a:solidFill>
                <a:effectLst/>
                <a:uLnTx/>
                <a:uFillTx/>
                <a:latin typeface="Calibri" charset="0"/>
                <a:ea typeface="Calibri" charset="0"/>
                <a:cs typeface="Calibri" charset="0"/>
              </a:rPr>
              <a:t>Stack frame for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smtClean="0">
                <a:ln>
                  <a:noFill/>
                </a:ln>
                <a:solidFill>
                  <a:sysClr val="windowText" lastClr="000000"/>
                </a:solidFill>
                <a:effectLst/>
                <a:uLnTx/>
                <a:uFillTx/>
                <a:latin typeface="Courier New"/>
                <a:cs typeface="Courier New"/>
              </a:rPr>
              <a:t>libc_start_main</a:t>
            </a:r>
            <a:endParaRPr kumimoji="0" lang="en-US" sz="1800" b="0" i="0" u="none" strike="noStrike" kern="0" cap="none" spc="0" normalizeH="0" baseline="0" noProof="0" dirty="0">
              <a:ln>
                <a:noFill/>
              </a:ln>
              <a:solidFill>
                <a:sysClr val="windowText" lastClr="000000"/>
              </a:solidFill>
              <a:effectLst/>
              <a:uLnTx/>
              <a:uFillTx/>
              <a:latin typeface="Courier New"/>
              <a:cs typeface="Courier New"/>
            </a:endParaRPr>
          </a:p>
        </p:txBody>
      </p:sp>
      <p:sp>
        <p:nvSpPr>
          <p:cNvPr id="70" name="Rectangle 382"/>
          <p:cNvSpPr>
            <a:spLocks noChangeArrowheads="1"/>
          </p:cNvSpPr>
          <p:nvPr/>
        </p:nvSpPr>
        <p:spPr bwMode="auto">
          <a:xfrm>
            <a:off x="4001614" y="4502315"/>
            <a:ext cx="2819400" cy="304800"/>
          </a:xfrm>
          <a:prstGeom prst="rect">
            <a:avLst/>
          </a:prstGeom>
          <a:solidFill>
            <a:srgbClr val="C0C0C0"/>
          </a:solidFill>
          <a:ln w="12700">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71" name="Text Box 401"/>
          <p:cNvSpPr txBox="1">
            <a:spLocks noChangeArrowheads="1"/>
          </p:cNvSpPr>
          <p:nvPr/>
        </p:nvSpPr>
        <p:spPr bwMode="auto">
          <a:xfrm>
            <a:off x="1905000" y="4914535"/>
            <a:ext cx="1113312" cy="584776"/>
          </a:xfrm>
          <a:prstGeom prst="rect">
            <a:avLst/>
          </a:prstGeom>
          <a:solidFill>
            <a:schemeClr val="accent2">
              <a:lumMod val="40000"/>
              <a:lumOff val="60000"/>
            </a:schemeClr>
          </a:solidFill>
          <a:ln w="12700">
            <a:solidFill>
              <a:srgbClr val="000000"/>
            </a:solidFill>
            <a:miter lim="800000"/>
            <a:headEnd/>
            <a:tailEnd/>
          </a:ln>
          <a:effectLst/>
          <a:extLst/>
        </p:spPr>
        <p:txBody>
          <a:bodyPr wrap="none"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err="1" smtClean="0">
                <a:ln>
                  <a:noFill/>
                </a:ln>
                <a:solidFill>
                  <a:sysClr val="windowText" lastClr="000000"/>
                </a:solidFill>
                <a:effectLst/>
                <a:uLnTx/>
                <a:uFillTx/>
                <a:latin typeface="Courier New" charset="0"/>
              </a:rPr>
              <a:t>argc</a:t>
            </a:r>
            <a:endParaRPr kumimoji="0" lang="en-US" sz="1800" b="0" i="0" u="none" strike="noStrike" kern="0" cap="none" spc="0" normalizeH="0" baseline="0" noProof="0" dirty="0" smtClean="0">
              <a:ln>
                <a:noFill/>
              </a:ln>
              <a:solidFill>
                <a:sysClr val="windowText" lastClr="000000"/>
              </a:solidFill>
              <a:effectLst/>
              <a:uLnTx/>
              <a:uFillTx/>
              <a:latin typeface="Courier New"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sysClr val="windowText" lastClr="000000"/>
                </a:solidFill>
                <a:effectLst/>
                <a:uLnTx/>
                <a:uFillTx/>
                <a:latin typeface="Calibri" charset="0"/>
                <a:ea typeface="Calibri" charset="0"/>
                <a:cs typeface="Calibri" charset="0"/>
              </a:rPr>
              <a:t>(in </a:t>
            </a:r>
            <a:r>
              <a:rPr kumimoji="0" lang="en-US" sz="1800" u="none" strike="noStrike" kern="0" cap="none" spc="0" normalizeH="0" baseline="0" noProof="0" dirty="0" smtClean="0">
                <a:ln>
                  <a:noFill/>
                </a:ln>
                <a:solidFill>
                  <a:sysClr val="windowText" lastClr="000000"/>
                </a:solidFill>
                <a:effectLst/>
                <a:uLnTx/>
                <a:uFillTx/>
                <a:latin typeface="Courier New" charset="0"/>
                <a:ea typeface="Courier New" charset="0"/>
                <a:cs typeface="Courier New" charset="0"/>
              </a:rPr>
              <a:t>%</a:t>
            </a:r>
            <a:r>
              <a:rPr kumimoji="0" lang="en-US" sz="1800" u="none" strike="noStrike" kern="0" cap="none" spc="0" normalizeH="0" baseline="0" noProof="0" dirty="0" err="1" smtClean="0">
                <a:ln>
                  <a:noFill/>
                </a:ln>
                <a:solidFill>
                  <a:sysClr val="windowText" lastClr="000000"/>
                </a:solidFill>
                <a:effectLst/>
                <a:uLnTx/>
                <a:uFillTx/>
                <a:latin typeface="Courier New" charset="0"/>
                <a:ea typeface="Courier New" charset="0"/>
                <a:cs typeface="Courier New" charset="0"/>
              </a:rPr>
              <a:t>rdi</a:t>
            </a:r>
            <a:r>
              <a:rPr kumimoji="0" lang="en-US" sz="1800" b="0" i="0" u="none" strike="noStrike" kern="0" cap="none" spc="0" normalizeH="0" baseline="0" noProof="0" dirty="0" smtClean="0">
                <a:ln>
                  <a:noFill/>
                </a:ln>
                <a:solidFill>
                  <a:sysClr val="windowText" lastClr="000000"/>
                </a:solidFill>
                <a:effectLst/>
                <a:uLnTx/>
                <a:uFillTx/>
                <a:latin typeface="Calibri" charset="0"/>
                <a:ea typeface="Calibri" charset="0"/>
                <a:cs typeface="Calibri" charset="0"/>
              </a:rPr>
              <a:t>)</a:t>
            </a:r>
          </a:p>
        </p:txBody>
      </p:sp>
    </p:spTree>
    <p:extLst>
      <p:ext uri="{BB962C8B-B14F-4D97-AF65-F5344CB8AC3E}">
        <p14:creationId xmlns:p14="http://schemas.microsoft.com/office/powerpoint/2010/main" val="3878521912"/>
      </p:ext>
    </p:extLst>
  </p:cSld>
  <p:clrMapOvr>
    <a:masterClrMapping/>
  </p:clrMapOvr>
  <p:timing>
    <p:tnLst>
      <p:par>
        <p:cTn xmlns:p14="http://schemas.microsoft.com/office/powerpoint/2010/mai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p:txBody>
          <a:bodyPr/>
          <a:lstStyle/>
          <a:p>
            <a:r>
              <a:rPr lang="en-US" dirty="0" err="1" smtClean="0">
                <a:latin typeface="Courier New"/>
                <a:cs typeface="Courier New"/>
              </a:rPr>
              <a:t>execve</a:t>
            </a:r>
            <a:r>
              <a:rPr lang="en-US" dirty="0" smtClean="0"/>
              <a:t> Example</a:t>
            </a:r>
            <a:endParaRPr lang="en-US" dirty="0"/>
          </a:p>
        </p:txBody>
      </p:sp>
      <p:grpSp>
        <p:nvGrpSpPr>
          <p:cNvPr id="2" name="Group 1"/>
          <p:cNvGrpSpPr/>
          <p:nvPr/>
        </p:nvGrpSpPr>
        <p:grpSpPr>
          <a:xfrm>
            <a:off x="685800" y="2044580"/>
            <a:ext cx="7129340" cy="1393002"/>
            <a:chOff x="685800" y="3352800"/>
            <a:chExt cx="7129340" cy="1393002"/>
          </a:xfrm>
        </p:grpSpPr>
        <p:sp>
          <p:nvSpPr>
            <p:cNvPr id="13" name="Rectangle 23"/>
            <p:cNvSpPr>
              <a:spLocks noChangeArrowheads="1"/>
            </p:cNvSpPr>
            <p:nvPr/>
          </p:nvSpPr>
          <p:spPr bwMode="auto">
            <a:xfrm>
              <a:off x="2590800" y="3352800"/>
              <a:ext cx="2209800" cy="304800"/>
            </a:xfrm>
            <a:prstGeom prst="rect">
              <a:avLst/>
            </a:prstGeom>
            <a:solidFill>
              <a:srgbClr val="D5F1CF"/>
            </a:solidFill>
            <a:ln w="28575">
              <a:solidFill>
                <a:schemeClr val="tx1"/>
              </a:solidFill>
              <a:miter lim="800000"/>
              <a:headEnd/>
              <a:tailEnd/>
            </a:ln>
            <a:effectLst/>
          </p:spPr>
          <p:txBody>
            <a:bodyPr wrap="none" anchor="ctr"/>
            <a:lstStyle/>
            <a:p>
              <a:pPr eaLnBrk="1" hangingPunct="1">
                <a:lnSpc>
                  <a:spcPct val="100000"/>
                </a:lnSpc>
              </a:pPr>
              <a:r>
                <a:rPr lang="en-US" sz="1800" b="0" dirty="0" err="1" smtClean="0">
                  <a:latin typeface="Courier New"/>
                  <a:cs typeface="Courier New"/>
                </a:rPr>
                <a:t>envp</a:t>
              </a:r>
              <a:r>
                <a:rPr lang="en-US" sz="1800" b="0" dirty="0" smtClean="0">
                  <a:latin typeface="Courier New"/>
                  <a:cs typeface="Courier New"/>
                </a:rPr>
                <a:t>[n] = NULL</a:t>
              </a:r>
              <a:endParaRPr lang="en-US" sz="1800" dirty="0">
                <a:latin typeface="Courier New"/>
                <a:cs typeface="Courier New"/>
              </a:endParaRPr>
            </a:p>
          </p:txBody>
        </p:sp>
        <p:sp>
          <p:nvSpPr>
            <p:cNvPr id="15" name="Rectangle 23"/>
            <p:cNvSpPr>
              <a:spLocks noChangeArrowheads="1"/>
            </p:cNvSpPr>
            <p:nvPr/>
          </p:nvSpPr>
          <p:spPr bwMode="auto">
            <a:xfrm>
              <a:off x="2590800" y="3657600"/>
              <a:ext cx="2209800" cy="304800"/>
            </a:xfrm>
            <a:prstGeom prst="rect">
              <a:avLst/>
            </a:prstGeom>
            <a:solidFill>
              <a:srgbClr val="D5F1CF"/>
            </a:solidFill>
            <a:ln w="28575">
              <a:solidFill>
                <a:schemeClr val="tx1"/>
              </a:solidFill>
              <a:miter lim="800000"/>
              <a:headEnd/>
              <a:tailEnd/>
            </a:ln>
            <a:effectLst/>
          </p:spPr>
          <p:txBody>
            <a:bodyPr wrap="none" anchor="ctr"/>
            <a:lstStyle/>
            <a:p>
              <a:pPr eaLnBrk="1" hangingPunct="1">
                <a:lnSpc>
                  <a:spcPct val="100000"/>
                </a:lnSpc>
              </a:pPr>
              <a:r>
                <a:rPr lang="en-US" sz="1800" b="0" dirty="0" err="1" smtClean="0">
                  <a:latin typeface="Courier New"/>
                  <a:cs typeface="Courier New"/>
                </a:rPr>
                <a:t>envp</a:t>
              </a:r>
              <a:r>
                <a:rPr lang="en-US" sz="1800" b="0" dirty="0" smtClean="0">
                  <a:latin typeface="Courier New"/>
                  <a:cs typeface="Courier New"/>
                </a:rPr>
                <a:t>[n-1]</a:t>
              </a:r>
              <a:endParaRPr lang="en-US" sz="1800" dirty="0">
                <a:latin typeface="Courier New"/>
                <a:cs typeface="Courier New"/>
              </a:endParaRPr>
            </a:p>
          </p:txBody>
        </p:sp>
        <p:sp>
          <p:nvSpPr>
            <p:cNvPr id="16" name="Rectangle 23"/>
            <p:cNvSpPr>
              <a:spLocks noChangeArrowheads="1"/>
            </p:cNvSpPr>
            <p:nvPr/>
          </p:nvSpPr>
          <p:spPr bwMode="auto">
            <a:xfrm>
              <a:off x="2590800" y="4267200"/>
              <a:ext cx="2209800" cy="293132"/>
            </a:xfrm>
            <a:prstGeom prst="rect">
              <a:avLst/>
            </a:prstGeom>
            <a:solidFill>
              <a:srgbClr val="D5F1CF"/>
            </a:solidFill>
            <a:ln w="28575">
              <a:solidFill>
                <a:schemeClr val="tx1"/>
              </a:solidFill>
              <a:miter lim="800000"/>
              <a:headEnd/>
              <a:tailEnd/>
            </a:ln>
            <a:effectLst/>
          </p:spPr>
          <p:txBody>
            <a:bodyPr wrap="none" anchor="ctr"/>
            <a:lstStyle/>
            <a:p>
              <a:pPr eaLnBrk="1" hangingPunct="1">
                <a:lnSpc>
                  <a:spcPct val="100000"/>
                </a:lnSpc>
              </a:pPr>
              <a:r>
                <a:rPr lang="en-US" sz="1800" b="0" dirty="0" err="1" smtClean="0">
                  <a:latin typeface="Courier New"/>
                  <a:cs typeface="Courier New"/>
                </a:rPr>
                <a:t>envp</a:t>
              </a:r>
              <a:r>
                <a:rPr lang="en-US" sz="1800" b="0" dirty="0" smtClean="0">
                  <a:latin typeface="Courier New"/>
                  <a:cs typeface="Courier New"/>
                </a:rPr>
                <a:t>[0]</a:t>
              </a:r>
              <a:endParaRPr lang="en-US" sz="1800" dirty="0">
                <a:latin typeface="Courier New"/>
                <a:cs typeface="Courier New"/>
              </a:endParaRPr>
            </a:p>
          </p:txBody>
        </p:sp>
        <p:sp>
          <p:nvSpPr>
            <p:cNvPr id="17" name="Rectangle 23"/>
            <p:cNvSpPr>
              <a:spLocks noChangeArrowheads="1"/>
            </p:cNvSpPr>
            <p:nvPr/>
          </p:nvSpPr>
          <p:spPr bwMode="auto">
            <a:xfrm>
              <a:off x="2590800" y="3962400"/>
              <a:ext cx="2209800" cy="304800"/>
            </a:xfrm>
            <a:prstGeom prst="rect">
              <a:avLst/>
            </a:prstGeom>
            <a:solidFill>
              <a:srgbClr val="D5F1CF"/>
            </a:solidFill>
            <a:ln w="28575">
              <a:solidFill>
                <a:schemeClr val="tx1"/>
              </a:solidFill>
              <a:miter lim="800000"/>
              <a:headEnd/>
              <a:tailEnd/>
            </a:ln>
            <a:effectLst/>
          </p:spPr>
          <p:txBody>
            <a:bodyPr wrap="none" anchor="ctr"/>
            <a:lstStyle/>
            <a:p>
              <a:pPr eaLnBrk="1" hangingPunct="1">
                <a:lnSpc>
                  <a:spcPct val="100000"/>
                </a:lnSpc>
              </a:pPr>
              <a:r>
                <a:rPr lang="en-US" sz="1800" b="0" dirty="0" smtClean="0">
                  <a:latin typeface="Courier New"/>
                  <a:cs typeface="Courier New"/>
                </a:rPr>
                <a:t>…</a:t>
              </a:r>
              <a:endParaRPr lang="en-US" sz="1800" dirty="0">
                <a:latin typeface="Courier New"/>
                <a:cs typeface="Courier New"/>
              </a:endParaRPr>
            </a:p>
          </p:txBody>
        </p:sp>
        <p:sp>
          <p:nvSpPr>
            <p:cNvPr id="33" name="TextBox 32"/>
            <p:cNvSpPr txBox="1"/>
            <p:nvPr/>
          </p:nvSpPr>
          <p:spPr>
            <a:xfrm>
              <a:off x="5562600" y="4234130"/>
              <a:ext cx="1701107" cy="369332"/>
            </a:xfrm>
            <a:prstGeom prst="rect">
              <a:avLst/>
            </a:prstGeom>
            <a:noFill/>
          </p:spPr>
          <p:txBody>
            <a:bodyPr wrap="none" rtlCol="0">
              <a:spAutoFit/>
            </a:bodyPr>
            <a:lstStyle/>
            <a:p>
              <a:r>
                <a:rPr lang="en-US" sz="1800" dirty="0">
                  <a:solidFill>
                    <a:srgbClr val="000000"/>
                  </a:solidFill>
                  <a:latin typeface="Courier New"/>
                  <a:cs typeface="Courier New"/>
                </a:rPr>
                <a:t>"</a:t>
              </a:r>
              <a:r>
                <a:rPr lang="en-US" sz="1800" b="0" dirty="0" smtClean="0">
                  <a:latin typeface="Courier New"/>
                  <a:cs typeface="Courier New"/>
                </a:rPr>
                <a:t>USER=</a:t>
              </a:r>
              <a:r>
                <a:rPr lang="en-US" sz="1800" b="0" dirty="0" err="1" smtClean="0">
                  <a:latin typeface="Courier New"/>
                  <a:cs typeface="Courier New"/>
                </a:rPr>
                <a:t>droh</a:t>
              </a:r>
              <a:r>
                <a:rPr lang="en-US" sz="1800" dirty="0">
                  <a:solidFill>
                    <a:srgbClr val="000000"/>
                  </a:solidFill>
                  <a:latin typeface="Courier New"/>
                  <a:cs typeface="Courier New"/>
                </a:rPr>
                <a:t>"</a:t>
              </a:r>
              <a:endParaRPr lang="en-US" sz="1800" dirty="0" smtClean="0">
                <a:latin typeface="Courier New"/>
                <a:cs typeface="Courier New"/>
              </a:endParaRPr>
            </a:p>
          </p:txBody>
        </p:sp>
        <p:sp>
          <p:nvSpPr>
            <p:cNvPr id="35" name="TextBox 34"/>
            <p:cNvSpPr txBox="1"/>
            <p:nvPr/>
          </p:nvSpPr>
          <p:spPr>
            <a:xfrm>
              <a:off x="5562600" y="3624074"/>
              <a:ext cx="2252540" cy="369332"/>
            </a:xfrm>
            <a:prstGeom prst="rect">
              <a:avLst/>
            </a:prstGeom>
            <a:noFill/>
          </p:spPr>
          <p:txBody>
            <a:bodyPr wrap="none" rtlCol="0">
              <a:spAutoFit/>
            </a:bodyPr>
            <a:lstStyle/>
            <a:p>
              <a:r>
                <a:rPr lang="en-US" sz="1800" dirty="0">
                  <a:solidFill>
                    <a:srgbClr val="000000"/>
                  </a:solidFill>
                  <a:latin typeface="Courier New"/>
                  <a:cs typeface="Courier New"/>
                </a:rPr>
                <a:t>"</a:t>
              </a:r>
              <a:r>
                <a:rPr lang="en-US" sz="1800" b="0" dirty="0" smtClean="0">
                  <a:latin typeface="Courier New"/>
                  <a:cs typeface="Courier New"/>
                </a:rPr>
                <a:t>PWD=/</a:t>
              </a:r>
              <a:r>
                <a:rPr lang="en-US" sz="1800" b="0" dirty="0" err="1" smtClean="0">
                  <a:latin typeface="Courier New"/>
                  <a:cs typeface="Courier New"/>
                </a:rPr>
                <a:t>usr</a:t>
              </a:r>
              <a:r>
                <a:rPr lang="en-US" sz="1800" b="0" dirty="0" smtClean="0">
                  <a:latin typeface="Courier New"/>
                  <a:cs typeface="Courier New"/>
                </a:rPr>
                <a:t>/</a:t>
              </a:r>
              <a:r>
                <a:rPr lang="en-US" sz="1800" b="0" dirty="0" err="1" smtClean="0">
                  <a:latin typeface="Courier New"/>
                  <a:cs typeface="Courier New"/>
                </a:rPr>
                <a:t>droh</a:t>
              </a:r>
              <a:r>
                <a:rPr lang="en-US" sz="1800" dirty="0">
                  <a:solidFill>
                    <a:srgbClr val="000000"/>
                  </a:solidFill>
                  <a:latin typeface="Courier New"/>
                  <a:cs typeface="Courier New"/>
                </a:rPr>
                <a:t>"</a:t>
              </a:r>
              <a:endParaRPr lang="en-US" sz="1800" dirty="0" smtClean="0">
                <a:latin typeface="Courier New"/>
                <a:cs typeface="Courier New"/>
              </a:endParaRPr>
            </a:p>
          </p:txBody>
        </p:sp>
        <p:cxnSp>
          <p:nvCxnSpPr>
            <p:cNvPr id="47" name="Straight Arrow Connector 46"/>
            <p:cNvCxnSpPr>
              <a:stCxn id="16" idx="3"/>
              <a:endCxn id="33" idx="1"/>
            </p:cNvCxnSpPr>
            <p:nvPr/>
          </p:nvCxnSpPr>
          <p:spPr bwMode="auto">
            <a:xfrm>
              <a:off x="4800600" y="4413766"/>
              <a:ext cx="762000" cy="5030"/>
            </a:xfrm>
            <a:prstGeom prst="straightConnector1">
              <a:avLst/>
            </a:prstGeom>
            <a:noFill/>
            <a:ln w="25400" cap="flat" cmpd="sng" algn="ctr">
              <a:solidFill>
                <a:schemeClr val="tx1"/>
              </a:solidFill>
              <a:prstDash val="solid"/>
              <a:round/>
              <a:headEnd type="none" w="med" len="med"/>
              <a:tailEnd type="arrow"/>
            </a:ln>
            <a:effectLst/>
          </p:spPr>
        </p:cxnSp>
        <p:cxnSp>
          <p:nvCxnSpPr>
            <p:cNvPr id="53" name="Straight Arrow Connector 52"/>
            <p:cNvCxnSpPr>
              <a:stCxn id="15" idx="3"/>
              <a:endCxn id="35" idx="1"/>
            </p:cNvCxnSpPr>
            <p:nvPr/>
          </p:nvCxnSpPr>
          <p:spPr bwMode="auto">
            <a:xfrm flipV="1">
              <a:off x="4800600" y="3808740"/>
              <a:ext cx="762000" cy="1260"/>
            </a:xfrm>
            <a:prstGeom prst="straightConnector1">
              <a:avLst/>
            </a:prstGeom>
            <a:noFill/>
            <a:ln w="25400" cap="flat" cmpd="sng" algn="ctr">
              <a:solidFill>
                <a:schemeClr val="tx1"/>
              </a:solidFill>
              <a:prstDash val="solid"/>
              <a:round/>
              <a:headEnd type="none" w="med" len="med"/>
              <a:tailEnd type="arrow"/>
            </a:ln>
            <a:effectLst/>
          </p:spPr>
        </p:cxnSp>
        <p:sp>
          <p:nvSpPr>
            <p:cNvPr id="26" name="TextBox 25"/>
            <p:cNvSpPr txBox="1"/>
            <p:nvPr/>
          </p:nvSpPr>
          <p:spPr>
            <a:xfrm>
              <a:off x="685800" y="4376470"/>
              <a:ext cx="1154320" cy="369332"/>
            </a:xfrm>
            <a:prstGeom prst="rect">
              <a:avLst/>
            </a:prstGeom>
            <a:noFill/>
          </p:spPr>
          <p:txBody>
            <a:bodyPr wrap="none" rtlCol="0">
              <a:spAutoFit/>
            </a:bodyPr>
            <a:lstStyle/>
            <a:p>
              <a:r>
                <a:rPr lang="en-US" sz="1800" b="0" dirty="0" smtClean="0">
                  <a:latin typeface="Courier New"/>
                  <a:cs typeface="Courier New"/>
                </a:rPr>
                <a:t>environ</a:t>
              </a:r>
            </a:p>
          </p:txBody>
        </p:sp>
        <p:cxnSp>
          <p:nvCxnSpPr>
            <p:cNvPr id="30" name="Straight Arrow Connector 29"/>
            <p:cNvCxnSpPr/>
            <p:nvPr/>
          </p:nvCxnSpPr>
          <p:spPr bwMode="auto">
            <a:xfrm flipV="1">
              <a:off x="1828800" y="4560332"/>
              <a:ext cx="717550" cy="804"/>
            </a:xfrm>
            <a:prstGeom prst="straightConnector1">
              <a:avLst/>
            </a:prstGeom>
            <a:noFill/>
            <a:ln w="25400" cap="flat" cmpd="sng" algn="ctr">
              <a:solidFill>
                <a:schemeClr val="tx1"/>
              </a:solidFill>
              <a:prstDash val="solid"/>
              <a:round/>
              <a:headEnd type="none" w="med" len="med"/>
              <a:tailEnd type="arrow"/>
            </a:ln>
            <a:effectLst/>
          </p:spPr>
        </p:cxnSp>
      </p:grpSp>
      <p:sp>
        <p:nvSpPr>
          <p:cNvPr id="36" name="Text Box 4"/>
          <p:cNvSpPr txBox="1">
            <a:spLocks noChangeArrowheads="1"/>
          </p:cNvSpPr>
          <p:nvPr/>
        </p:nvSpPr>
        <p:spPr bwMode="auto">
          <a:xfrm>
            <a:off x="622643" y="5029200"/>
            <a:ext cx="7225957" cy="1569660"/>
          </a:xfrm>
          <a:prstGeom prst="rect">
            <a:avLst/>
          </a:prstGeom>
          <a:solidFill>
            <a:srgbClr val="F6F5BD"/>
          </a:solidFill>
          <a:ln w="3175">
            <a:solidFill>
              <a:schemeClr val="tx1"/>
            </a:solidFill>
            <a:miter lim="800000"/>
            <a:headEnd/>
            <a:tailEnd/>
          </a:ln>
          <a:effectLst/>
        </p:spPr>
        <p:txBody>
          <a:bodyPr wrap="none">
            <a:spAutoFit/>
          </a:bodyPr>
          <a:lstStyle/>
          <a:p>
            <a:r>
              <a:rPr lang="en-US" sz="1600" dirty="0">
                <a:solidFill>
                  <a:srgbClr val="000000"/>
                </a:solidFill>
                <a:latin typeface="Courier New"/>
                <a:cs typeface="Courier New"/>
              </a:rPr>
              <a:t>  </a:t>
            </a:r>
            <a:r>
              <a:rPr lang="en-US" sz="1600" dirty="0">
                <a:solidFill>
                  <a:srgbClr val="9D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Fork()) == 0) {   </a:t>
            </a:r>
            <a:r>
              <a:rPr lang="en-US" sz="1600" dirty="0">
                <a:solidFill>
                  <a:srgbClr val="9D0003"/>
                </a:solidFill>
                <a:latin typeface="Courier New"/>
                <a:cs typeface="Courier New"/>
              </a:rPr>
              <a:t>/* Child </a:t>
            </a:r>
            <a:r>
              <a:rPr lang="en-US" sz="1600" dirty="0" smtClean="0">
                <a:solidFill>
                  <a:srgbClr val="9D0003"/>
                </a:solidFill>
                <a:latin typeface="Courier New"/>
                <a:cs typeface="Courier New"/>
              </a:rPr>
              <a:t>runs program *</a:t>
            </a:r>
            <a:r>
              <a:rPr lang="en-US" sz="1600" dirty="0">
                <a:solidFill>
                  <a:srgbClr val="9D0003"/>
                </a:solidFill>
                <a:latin typeface="Courier New"/>
                <a:cs typeface="Courier New"/>
              </a:rPr>
              <a:t>/</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smtClean="0">
                <a:solidFill>
                  <a:srgbClr val="000000"/>
                </a:solidFill>
                <a:latin typeface="Courier New"/>
                <a:cs typeface="Courier New"/>
              </a:rPr>
              <a:t>    </a:t>
            </a:r>
            <a:r>
              <a:rPr lang="en-US" sz="1600" dirty="0" smtClean="0">
                <a:solidFill>
                  <a:srgbClr val="9D00FF"/>
                </a:solidFill>
                <a:latin typeface="Courier New"/>
                <a:cs typeface="Courier New"/>
              </a:rPr>
              <a:t>if</a:t>
            </a:r>
            <a:r>
              <a:rPr lang="en-US" sz="1600" dirty="0" smtClean="0">
                <a:solidFill>
                  <a:srgbClr val="000000"/>
                </a:solidFill>
                <a:latin typeface="Courier New"/>
                <a:cs typeface="Courier New"/>
              </a:rPr>
              <a:t> </a:t>
            </a:r>
            <a:r>
              <a:rPr lang="en-US" sz="1600" dirty="0">
                <a:solidFill>
                  <a:srgbClr val="000000"/>
                </a:solidFill>
                <a:latin typeface="Courier New"/>
                <a:cs typeface="Courier New"/>
              </a:rPr>
              <a:t>(</a:t>
            </a:r>
            <a:r>
              <a:rPr lang="en-US" sz="1600" dirty="0" err="1">
                <a:solidFill>
                  <a:srgbClr val="000000"/>
                </a:solidFill>
                <a:latin typeface="Courier New"/>
                <a:cs typeface="Courier New"/>
              </a:rPr>
              <a:t>execve</a:t>
            </a:r>
            <a:r>
              <a:rPr lang="en-US" sz="1600" dirty="0" smtClean="0">
                <a:solidFill>
                  <a:srgbClr val="000000"/>
                </a:solidFill>
                <a:latin typeface="Courier New"/>
                <a:cs typeface="Courier New"/>
              </a:rPr>
              <a:t>(</a:t>
            </a:r>
            <a:r>
              <a:rPr lang="en-US" sz="1600" dirty="0" err="1" smtClean="0">
                <a:solidFill>
                  <a:srgbClr val="000000"/>
                </a:solidFill>
                <a:latin typeface="Courier New"/>
                <a:cs typeface="Courier New"/>
              </a:rPr>
              <a:t>myargv</a:t>
            </a:r>
            <a:r>
              <a:rPr lang="en-US" sz="1600" dirty="0">
                <a:solidFill>
                  <a:srgbClr val="000000"/>
                </a:solidFill>
                <a:latin typeface="Courier New"/>
                <a:cs typeface="Courier New"/>
              </a:rPr>
              <a:t>[0], </a:t>
            </a:r>
            <a:r>
              <a:rPr lang="en-US" sz="1600" dirty="0" err="1" smtClean="0">
                <a:solidFill>
                  <a:srgbClr val="000000"/>
                </a:solidFill>
                <a:latin typeface="Courier New"/>
                <a:cs typeface="Courier New"/>
              </a:rPr>
              <a:t>myargv</a:t>
            </a:r>
            <a:r>
              <a:rPr lang="en-US" sz="1600" dirty="0">
                <a:solidFill>
                  <a:srgbClr val="000000"/>
                </a:solidFill>
                <a:latin typeface="Courier New"/>
                <a:cs typeface="Courier New"/>
              </a:rPr>
              <a:t>, environ) &lt; 0) {                                                        </a:t>
            </a:r>
          </a:p>
          <a:p>
            <a:r>
              <a:rPr lang="en-US" sz="1600" dirty="0">
                <a:solidFill>
                  <a:srgbClr val="000000"/>
                </a:solidFill>
                <a:latin typeface="Courier New"/>
                <a:cs typeface="Courier New"/>
              </a:rPr>
              <a:t>          </a:t>
            </a:r>
            <a:r>
              <a:rPr lang="en-US" sz="1600" dirty="0" err="1" smtClean="0">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72004C"/>
                </a:solidFill>
                <a:latin typeface="Courier New"/>
                <a:cs typeface="Courier New"/>
              </a:rPr>
              <a:t>"%s: Command not found.\n"</a:t>
            </a:r>
            <a:r>
              <a:rPr lang="en-US" sz="1600" dirty="0">
                <a:solidFill>
                  <a:srgbClr val="000000"/>
                </a:solidFill>
                <a:latin typeface="Courier New"/>
                <a:cs typeface="Courier New"/>
              </a:rPr>
              <a:t>, </a:t>
            </a:r>
            <a:r>
              <a:rPr lang="en-US" sz="1600" dirty="0" err="1" smtClean="0">
                <a:solidFill>
                  <a:srgbClr val="000000"/>
                </a:solidFill>
                <a:latin typeface="Courier New"/>
                <a:cs typeface="Courier New"/>
              </a:rPr>
              <a:t>myargv</a:t>
            </a:r>
            <a:r>
              <a:rPr lang="en-US" sz="1600" dirty="0">
                <a:solidFill>
                  <a:srgbClr val="000000"/>
                </a:solidFill>
                <a:latin typeface="Courier New"/>
                <a:cs typeface="Courier New"/>
              </a:rPr>
              <a:t>[0]);                                                 </a:t>
            </a:r>
          </a:p>
          <a:p>
            <a:r>
              <a:rPr lang="en-US" sz="1600" dirty="0">
                <a:solidFill>
                  <a:srgbClr val="000000"/>
                </a:solidFill>
                <a:latin typeface="Courier New"/>
                <a:cs typeface="Courier New"/>
              </a:rPr>
              <a:t>          </a:t>
            </a:r>
            <a:r>
              <a:rPr lang="en-US" sz="1600" dirty="0" smtClean="0">
                <a:solidFill>
                  <a:srgbClr val="000000"/>
                </a:solidFill>
                <a:latin typeface="Courier New"/>
                <a:cs typeface="Courier New"/>
              </a:rPr>
              <a:t>exit(1)</a:t>
            </a:r>
            <a:r>
              <a:rPr lang="en-US"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smtClean="0">
                <a:solidFill>
                  <a:srgbClr val="000000"/>
                </a:solidFill>
                <a:latin typeface="Courier New"/>
                <a:cs typeface="Courier New"/>
              </a:rPr>
              <a:t>}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smtClean="0">
                <a:solidFill>
                  <a:srgbClr val="000000"/>
                </a:solidFill>
                <a:latin typeface="Courier New"/>
                <a:cs typeface="Courier New"/>
              </a:rPr>
              <a:t>}                                                                                                    </a:t>
            </a:r>
            <a:endParaRPr lang="en-US" sz="1600" dirty="0">
              <a:solidFill>
                <a:srgbClr val="000000"/>
              </a:solidFill>
              <a:latin typeface="Courier New"/>
              <a:cs typeface="Courier New"/>
            </a:endParaRPr>
          </a:p>
        </p:txBody>
      </p:sp>
      <p:sp>
        <p:nvSpPr>
          <p:cNvPr id="42" name="Rectangle 3"/>
          <p:cNvSpPr txBox="1">
            <a:spLocks noChangeArrowheads="1"/>
          </p:cNvSpPr>
          <p:nvPr/>
        </p:nvSpPr>
        <p:spPr bwMode="auto">
          <a:xfrm>
            <a:off x="381000" y="1262966"/>
            <a:ext cx="7568111" cy="4565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a:lstStyle>
          <a:p>
            <a:r>
              <a:rPr lang="en-US" sz="2000" dirty="0" smtClean="0">
                <a:latin typeface="Calibri"/>
                <a:cs typeface="Calibri"/>
              </a:rPr>
              <a:t>Execute</a:t>
            </a:r>
            <a:r>
              <a:rPr lang="en-US" sz="2000" dirty="0" smtClean="0">
                <a:latin typeface="Courier New" pitchFamily="49" charset="0"/>
              </a:rPr>
              <a:t> </a:t>
            </a:r>
            <a:r>
              <a:rPr lang="en-US" sz="2000" dirty="0">
                <a:solidFill>
                  <a:srgbClr val="000000"/>
                </a:solidFill>
                <a:latin typeface="Courier New"/>
                <a:cs typeface="Courier New"/>
              </a:rPr>
              <a:t>"</a:t>
            </a:r>
            <a:r>
              <a:rPr lang="en-US" sz="2000" b="0" dirty="0" smtClean="0">
                <a:latin typeface="Courier New"/>
                <a:cs typeface="Courier New"/>
              </a:rPr>
              <a:t>/bin/</a:t>
            </a:r>
            <a:r>
              <a:rPr lang="en-US" sz="2000" b="0" dirty="0" err="1" smtClean="0">
                <a:latin typeface="Courier New"/>
                <a:cs typeface="Courier New"/>
              </a:rPr>
              <a:t>ls</a:t>
            </a:r>
            <a:r>
              <a:rPr lang="en-US" sz="2000" b="0" dirty="0" smtClean="0">
                <a:latin typeface="Courier New"/>
                <a:cs typeface="Courier New"/>
              </a:rPr>
              <a:t> –</a:t>
            </a:r>
            <a:r>
              <a:rPr lang="en-US" sz="2000" b="0" dirty="0" err="1" smtClean="0">
                <a:latin typeface="Courier New"/>
                <a:cs typeface="Courier New"/>
              </a:rPr>
              <a:t>lt</a:t>
            </a:r>
            <a:r>
              <a:rPr lang="en-US" sz="2000" b="0" dirty="0" smtClean="0">
                <a:latin typeface="Courier New"/>
                <a:cs typeface="Courier New"/>
              </a:rPr>
              <a:t> /</a:t>
            </a:r>
            <a:r>
              <a:rPr lang="en-US" sz="2000" b="0" dirty="0" err="1" smtClean="0">
                <a:latin typeface="Courier New"/>
                <a:cs typeface="Courier New"/>
              </a:rPr>
              <a:t>usr</a:t>
            </a:r>
            <a:r>
              <a:rPr lang="en-US" sz="2000" b="0" dirty="0" smtClean="0">
                <a:latin typeface="Courier New"/>
                <a:cs typeface="Courier New"/>
              </a:rPr>
              <a:t>/include</a:t>
            </a:r>
            <a:r>
              <a:rPr lang="en-US" sz="2000" dirty="0">
                <a:solidFill>
                  <a:srgbClr val="000000"/>
                </a:solidFill>
                <a:latin typeface="Courier New"/>
                <a:cs typeface="Courier New"/>
              </a:rPr>
              <a:t>"</a:t>
            </a:r>
            <a:r>
              <a:rPr lang="en-US" sz="2000" dirty="0" smtClean="0">
                <a:latin typeface="Courier New" pitchFamily="49" charset="0"/>
              </a:rPr>
              <a:t> </a:t>
            </a:r>
            <a:r>
              <a:rPr lang="en-US" sz="2000" dirty="0" smtClean="0">
                <a:latin typeface="Calibri"/>
                <a:cs typeface="Calibri"/>
              </a:rPr>
              <a:t>in child process using current environment:</a:t>
            </a:r>
            <a:endParaRPr lang="en-US" dirty="0">
              <a:latin typeface="Calibri"/>
              <a:cs typeface="Calibri"/>
            </a:endParaRPr>
          </a:p>
        </p:txBody>
      </p:sp>
      <p:grpSp>
        <p:nvGrpSpPr>
          <p:cNvPr id="3" name="Group 2"/>
          <p:cNvGrpSpPr/>
          <p:nvPr/>
        </p:nvGrpSpPr>
        <p:grpSpPr>
          <a:xfrm>
            <a:off x="457200" y="3538120"/>
            <a:ext cx="7746869" cy="1240602"/>
            <a:chOff x="457200" y="2035998"/>
            <a:chExt cx="7746869" cy="1240602"/>
          </a:xfrm>
        </p:grpSpPr>
        <p:sp>
          <p:nvSpPr>
            <p:cNvPr id="19" name="Rectangle 23"/>
            <p:cNvSpPr>
              <a:spLocks noChangeArrowheads="1"/>
            </p:cNvSpPr>
            <p:nvPr/>
          </p:nvSpPr>
          <p:spPr bwMode="auto">
            <a:xfrm>
              <a:off x="2590799" y="2035998"/>
              <a:ext cx="2743201" cy="273338"/>
            </a:xfrm>
            <a:prstGeom prst="rect">
              <a:avLst/>
            </a:prstGeom>
            <a:solidFill>
              <a:schemeClr val="accent2">
                <a:lumMod val="20000"/>
                <a:lumOff val="80000"/>
              </a:schemeClr>
            </a:solidFill>
            <a:ln w="28575">
              <a:solidFill>
                <a:schemeClr val="tx1"/>
              </a:solidFill>
              <a:miter lim="800000"/>
              <a:headEnd/>
              <a:tailEnd/>
            </a:ln>
            <a:effectLst/>
          </p:spPr>
          <p:txBody>
            <a:bodyPr wrap="none" anchor="ctr"/>
            <a:lstStyle/>
            <a:p>
              <a:pPr eaLnBrk="1" hangingPunct="1">
                <a:lnSpc>
                  <a:spcPct val="100000"/>
                </a:lnSpc>
              </a:pPr>
              <a:r>
                <a:rPr lang="en-US" sz="1800" b="0" dirty="0" err="1" smtClean="0">
                  <a:latin typeface="Courier New"/>
                  <a:cs typeface="Courier New"/>
                </a:rPr>
                <a:t>myargv</a:t>
              </a:r>
              <a:r>
                <a:rPr lang="en-US" sz="1800" b="0" dirty="0" smtClean="0">
                  <a:latin typeface="Courier New"/>
                  <a:cs typeface="Courier New"/>
                </a:rPr>
                <a:t>[</a:t>
              </a:r>
              <a:r>
                <a:rPr lang="en-US" sz="1800" b="0" dirty="0" err="1" smtClean="0">
                  <a:latin typeface="Courier New"/>
                  <a:cs typeface="Courier New"/>
                </a:rPr>
                <a:t>argc</a:t>
              </a:r>
              <a:r>
                <a:rPr lang="en-US" sz="1800" b="0" dirty="0" smtClean="0">
                  <a:latin typeface="Courier New"/>
                  <a:cs typeface="Courier New"/>
                </a:rPr>
                <a:t>] = NULL</a:t>
              </a:r>
              <a:endParaRPr lang="en-US" sz="1800" dirty="0">
                <a:latin typeface="Courier New"/>
                <a:cs typeface="Courier New"/>
              </a:endParaRPr>
            </a:p>
          </p:txBody>
        </p:sp>
        <p:sp>
          <p:nvSpPr>
            <p:cNvPr id="20" name="Rectangle 23"/>
            <p:cNvSpPr>
              <a:spLocks noChangeArrowheads="1"/>
            </p:cNvSpPr>
            <p:nvPr/>
          </p:nvSpPr>
          <p:spPr bwMode="auto">
            <a:xfrm>
              <a:off x="2590800" y="2297668"/>
              <a:ext cx="2743200" cy="304800"/>
            </a:xfrm>
            <a:prstGeom prst="rect">
              <a:avLst/>
            </a:prstGeom>
            <a:solidFill>
              <a:schemeClr val="accent2">
                <a:lumMod val="20000"/>
                <a:lumOff val="80000"/>
              </a:schemeClr>
            </a:solidFill>
            <a:ln w="28575">
              <a:solidFill>
                <a:schemeClr val="tx1"/>
              </a:solidFill>
              <a:miter lim="800000"/>
              <a:headEnd/>
              <a:tailEnd/>
            </a:ln>
            <a:effectLst/>
          </p:spPr>
          <p:txBody>
            <a:bodyPr wrap="none" anchor="ctr"/>
            <a:lstStyle/>
            <a:p>
              <a:pPr eaLnBrk="1" hangingPunct="1">
                <a:lnSpc>
                  <a:spcPct val="100000"/>
                </a:lnSpc>
              </a:pPr>
              <a:r>
                <a:rPr lang="en-US" sz="1800" b="0" dirty="0" err="1" smtClean="0">
                  <a:latin typeface="Courier New"/>
                  <a:cs typeface="Courier New"/>
                </a:rPr>
                <a:t>myargv</a:t>
              </a:r>
              <a:r>
                <a:rPr lang="en-US" sz="1800" b="0" dirty="0" smtClean="0">
                  <a:latin typeface="Courier New"/>
                  <a:cs typeface="Courier New"/>
                </a:rPr>
                <a:t>[2]</a:t>
              </a:r>
              <a:endParaRPr lang="en-US" sz="1800" dirty="0">
                <a:latin typeface="Courier New"/>
                <a:cs typeface="Courier New"/>
              </a:endParaRPr>
            </a:p>
          </p:txBody>
        </p:sp>
        <p:sp>
          <p:nvSpPr>
            <p:cNvPr id="21" name="Rectangle 23"/>
            <p:cNvSpPr>
              <a:spLocks noChangeArrowheads="1"/>
            </p:cNvSpPr>
            <p:nvPr/>
          </p:nvSpPr>
          <p:spPr bwMode="auto">
            <a:xfrm>
              <a:off x="2590800" y="2831068"/>
              <a:ext cx="2743200" cy="304800"/>
            </a:xfrm>
            <a:prstGeom prst="rect">
              <a:avLst/>
            </a:prstGeom>
            <a:solidFill>
              <a:schemeClr val="accent2">
                <a:lumMod val="20000"/>
                <a:lumOff val="80000"/>
              </a:schemeClr>
            </a:solidFill>
            <a:ln w="28575">
              <a:solidFill>
                <a:schemeClr val="tx1"/>
              </a:solidFill>
              <a:miter lim="800000"/>
              <a:headEnd/>
              <a:tailEnd/>
            </a:ln>
            <a:effectLst/>
          </p:spPr>
          <p:txBody>
            <a:bodyPr wrap="none" anchor="ctr"/>
            <a:lstStyle/>
            <a:p>
              <a:pPr eaLnBrk="1" hangingPunct="1">
                <a:lnSpc>
                  <a:spcPct val="100000"/>
                </a:lnSpc>
              </a:pPr>
              <a:r>
                <a:rPr lang="en-US" sz="1800" b="0" dirty="0" err="1" smtClean="0">
                  <a:latin typeface="Courier New"/>
                  <a:cs typeface="Courier New"/>
                </a:rPr>
                <a:t>myargv</a:t>
              </a:r>
              <a:r>
                <a:rPr lang="en-US" sz="1800" b="0" dirty="0" smtClean="0">
                  <a:latin typeface="Courier New"/>
                  <a:cs typeface="Courier New"/>
                </a:rPr>
                <a:t>[0]</a:t>
              </a:r>
              <a:endParaRPr lang="en-US" sz="1800" dirty="0">
                <a:latin typeface="Courier New"/>
                <a:cs typeface="Courier New"/>
              </a:endParaRPr>
            </a:p>
          </p:txBody>
        </p:sp>
        <p:sp>
          <p:nvSpPr>
            <p:cNvPr id="22" name="Rectangle 23"/>
            <p:cNvSpPr>
              <a:spLocks noChangeArrowheads="1"/>
            </p:cNvSpPr>
            <p:nvPr/>
          </p:nvSpPr>
          <p:spPr bwMode="auto">
            <a:xfrm>
              <a:off x="2590800" y="2602468"/>
              <a:ext cx="2743200" cy="273338"/>
            </a:xfrm>
            <a:prstGeom prst="rect">
              <a:avLst/>
            </a:prstGeom>
            <a:solidFill>
              <a:schemeClr val="accent2">
                <a:lumMod val="20000"/>
                <a:lumOff val="80000"/>
              </a:schemeClr>
            </a:solidFill>
            <a:ln w="28575">
              <a:solidFill>
                <a:schemeClr val="tx1"/>
              </a:solidFill>
              <a:miter lim="800000"/>
              <a:headEnd/>
              <a:tailEnd/>
            </a:ln>
            <a:effectLst/>
          </p:spPr>
          <p:txBody>
            <a:bodyPr wrap="none" anchor="ctr"/>
            <a:lstStyle/>
            <a:p>
              <a:pPr eaLnBrk="1" hangingPunct="1">
                <a:lnSpc>
                  <a:spcPct val="100000"/>
                </a:lnSpc>
              </a:pPr>
              <a:r>
                <a:rPr lang="en-US" sz="1800" b="0" dirty="0" err="1">
                  <a:latin typeface="Courier New"/>
                  <a:cs typeface="Courier New"/>
                </a:rPr>
                <a:t>myargv</a:t>
              </a:r>
              <a:r>
                <a:rPr lang="en-US" sz="1800" b="0" dirty="0" smtClean="0">
                  <a:latin typeface="Courier New"/>
                  <a:cs typeface="Courier New"/>
                </a:rPr>
                <a:t>[1]</a:t>
              </a:r>
              <a:endParaRPr lang="en-US" sz="1800" dirty="0">
                <a:latin typeface="Courier New"/>
                <a:cs typeface="Courier New"/>
              </a:endParaRPr>
            </a:p>
          </p:txBody>
        </p:sp>
        <p:sp>
          <p:nvSpPr>
            <p:cNvPr id="28" name="TextBox 27"/>
            <p:cNvSpPr txBox="1"/>
            <p:nvPr/>
          </p:nvSpPr>
          <p:spPr>
            <a:xfrm>
              <a:off x="6086905" y="2907268"/>
              <a:ext cx="1431364" cy="369332"/>
            </a:xfrm>
            <a:prstGeom prst="rect">
              <a:avLst/>
            </a:prstGeom>
            <a:noFill/>
          </p:spPr>
          <p:txBody>
            <a:bodyPr wrap="none" rtlCol="0">
              <a:spAutoFit/>
            </a:bodyPr>
            <a:lstStyle/>
            <a:p>
              <a:r>
                <a:rPr lang="en-US" sz="1800" dirty="0">
                  <a:solidFill>
                    <a:srgbClr val="000000"/>
                  </a:solidFill>
                  <a:latin typeface="Courier New"/>
                  <a:cs typeface="Courier New"/>
                </a:rPr>
                <a:t>"</a:t>
              </a:r>
              <a:r>
                <a:rPr lang="en-US" sz="1800" b="0" dirty="0" smtClean="0">
                  <a:latin typeface="Courier New"/>
                  <a:cs typeface="Courier New"/>
                </a:rPr>
                <a:t>/bin/</a:t>
              </a:r>
              <a:r>
                <a:rPr lang="en-US" sz="1800" b="0" dirty="0" err="1" smtClean="0">
                  <a:latin typeface="Courier New"/>
                  <a:cs typeface="Courier New"/>
                </a:rPr>
                <a:t>ls</a:t>
              </a:r>
              <a:r>
                <a:rPr lang="en-US" sz="1800" dirty="0">
                  <a:solidFill>
                    <a:srgbClr val="000000"/>
                  </a:solidFill>
                  <a:latin typeface="Courier New"/>
                  <a:cs typeface="Courier New"/>
                </a:rPr>
                <a:t>"</a:t>
              </a:r>
              <a:endParaRPr lang="en-US" sz="1800" dirty="0" smtClean="0">
                <a:latin typeface="Courier New"/>
                <a:cs typeface="Courier New"/>
              </a:endParaRPr>
            </a:p>
          </p:txBody>
        </p:sp>
        <p:sp>
          <p:nvSpPr>
            <p:cNvPr id="31" name="TextBox 30"/>
            <p:cNvSpPr txBox="1"/>
            <p:nvPr/>
          </p:nvSpPr>
          <p:spPr>
            <a:xfrm>
              <a:off x="6086905" y="2598155"/>
              <a:ext cx="873957" cy="369332"/>
            </a:xfrm>
            <a:prstGeom prst="rect">
              <a:avLst/>
            </a:prstGeom>
            <a:noFill/>
          </p:spPr>
          <p:txBody>
            <a:bodyPr wrap="none" rtlCol="0">
              <a:spAutoFit/>
            </a:bodyPr>
            <a:lstStyle/>
            <a:p>
              <a:r>
                <a:rPr lang="en-US" sz="1800" dirty="0">
                  <a:solidFill>
                    <a:srgbClr val="000000"/>
                  </a:solidFill>
                  <a:latin typeface="Courier New"/>
                  <a:cs typeface="Courier New"/>
                </a:rPr>
                <a:t>"</a:t>
              </a:r>
              <a:r>
                <a:rPr lang="en-US" sz="1800" b="0" dirty="0" smtClean="0">
                  <a:latin typeface="Courier New"/>
                  <a:cs typeface="Courier New"/>
                </a:rPr>
                <a:t>-</a:t>
              </a:r>
              <a:r>
                <a:rPr lang="en-US" sz="1800" b="0" dirty="0" err="1" smtClean="0">
                  <a:latin typeface="Courier New"/>
                  <a:cs typeface="Courier New"/>
                </a:rPr>
                <a:t>lt</a:t>
              </a:r>
              <a:r>
                <a:rPr lang="en-US" sz="1800" dirty="0">
                  <a:solidFill>
                    <a:srgbClr val="000000"/>
                  </a:solidFill>
                  <a:latin typeface="Courier New"/>
                  <a:cs typeface="Courier New"/>
                </a:rPr>
                <a:t>"</a:t>
              </a:r>
              <a:endParaRPr lang="en-US" sz="1800" dirty="0" smtClean="0">
                <a:latin typeface="Courier New"/>
                <a:cs typeface="Courier New"/>
              </a:endParaRPr>
            </a:p>
          </p:txBody>
        </p:sp>
        <p:sp>
          <p:nvSpPr>
            <p:cNvPr id="32" name="TextBox 31"/>
            <p:cNvSpPr txBox="1"/>
            <p:nvPr/>
          </p:nvSpPr>
          <p:spPr>
            <a:xfrm>
              <a:off x="6089388" y="2297668"/>
              <a:ext cx="2114681" cy="369332"/>
            </a:xfrm>
            <a:prstGeom prst="rect">
              <a:avLst/>
            </a:prstGeom>
            <a:noFill/>
          </p:spPr>
          <p:txBody>
            <a:bodyPr wrap="none" rtlCol="0">
              <a:spAutoFit/>
            </a:bodyPr>
            <a:lstStyle/>
            <a:p>
              <a:r>
                <a:rPr lang="en-US" sz="1800" dirty="0">
                  <a:solidFill>
                    <a:srgbClr val="000000"/>
                  </a:solidFill>
                  <a:latin typeface="Courier New"/>
                  <a:cs typeface="Courier New"/>
                </a:rPr>
                <a:t>"</a:t>
              </a:r>
              <a:r>
                <a:rPr lang="en-US" sz="1800" b="0" dirty="0" smtClean="0">
                  <a:latin typeface="Courier New"/>
                  <a:cs typeface="Courier New"/>
                </a:rPr>
                <a:t>/</a:t>
              </a:r>
              <a:r>
                <a:rPr lang="en-US" sz="1800" b="0" dirty="0" err="1" smtClean="0">
                  <a:latin typeface="Courier New"/>
                  <a:cs typeface="Courier New"/>
                </a:rPr>
                <a:t>usr</a:t>
              </a:r>
              <a:r>
                <a:rPr lang="en-US" sz="1800" b="0" dirty="0" smtClean="0">
                  <a:latin typeface="Courier New"/>
                  <a:cs typeface="Courier New"/>
                </a:rPr>
                <a:t>/include</a:t>
              </a:r>
              <a:r>
                <a:rPr lang="en-US" sz="1800" dirty="0">
                  <a:solidFill>
                    <a:srgbClr val="000000"/>
                  </a:solidFill>
                  <a:latin typeface="Courier New"/>
                  <a:cs typeface="Courier New"/>
                </a:rPr>
                <a:t>"</a:t>
              </a:r>
              <a:endParaRPr lang="en-US" sz="1800" dirty="0" smtClean="0">
                <a:latin typeface="Courier New"/>
                <a:cs typeface="Courier New"/>
              </a:endParaRPr>
            </a:p>
          </p:txBody>
        </p:sp>
        <p:cxnSp>
          <p:nvCxnSpPr>
            <p:cNvPr id="37" name="Straight Arrow Connector 36"/>
            <p:cNvCxnSpPr/>
            <p:nvPr/>
          </p:nvCxnSpPr>
          <p:spPr bwMode="auto">
            <a:xfrm>
              <a:off x="5334000" y="3091130"/>
              <a:ext cx="717550" cy="804"/>
            </a:xfrm>
            <a:prstGeom prst="straightConnector1">
              <a:avLst/>
            </a:prstGeom>
            <a:noFill/>
            <a:ln w="25400" cap="flat" cmpd="sng" algn="ctr">
              <a:solidFill>
                <a:schemeClr val="tx1"/>
              </a:solidFill>
              <a:prstDash val="solid"/>
              <a:round/>
              <a:headEnd type="none" w="med" len="med"/>
              <a:tailEnd type="arrow"/>
            </a:ln>
            <a:effectLst/>
          </p:spPr>
        </p:cxnSp>
        <p:cxnSp>
          <p:nvCxnSpPr>
            <p:cNvPr id="39" name="Straight Arrow Connector 38"/>
            <p:cNvCxnSpPr/>
            <p:nvPr/>
          </p:nvCxnSpPr>
          <p:spPr bwMode="auto">
            <a:xfrm flipV="1">
              <a:off x="5334000" y="2782821"/>
              <a:ext cx="717550" cy="3509"/>
            </a:xfrm>
            <a:prstGeom prst="straightConnector1">
              <a:avLst/>
            </a:prstGeom>
            <a:noFill/>
            <a:ln w="25400" cap="flat" cmpd="sng" algn="ctr">
              <a:solidFill>
                <a:schemeClr val="tx1"/>
              </a:solidFill>
              <a:prstDash val="solid"/>
              <a:round/>
              <a:headEnd type="none" w="med" len="med"/>
              <a:tailEnd type="arrow"/>
            </a:ln>
            <a:effectLst/>
          </p:spPr>
        </p:cxnSp>
        <p:cxnSp>
          <p:nvCxnSpPr>
            <p:cNvPr id="41" name="Straight Arrow Connector 40"/>
            <p:cNvCxnSpPr/>
            <p:nvPr/>
          </p:nvCxnSpPr>
          <p:spPr bwMode="auto">
            <a:xfrm>
              <a:off x="5334000" y="2481530"/>
              <a:ext cx="736469" cy="804"/>
            </a:xfrm>
            <a:prstGeom prst="straightConnector1">
              <a:avLst/>
            </a:prstGeom>
            <a:noFill/>
            <a:ln w="25400" cap="flat" cmpd="sng" algn="ctr">
              <a:solidFill>
                <a:schemeClr val="tx1"/>
              </a:solidFill>
              <a:prstDash val="solid"/>
              <a:round/>
              <a:headEnd type="none" w="med" len="med"/>
              <a:tailEnd type="arrow"/>
            </a:ln>
            <a:effectLst/>
          </p:spPr>
        </p:cxnSp>
        <p:sp>
          <p:nvSpPr>
            <p:cNvPr id="38" name="TextBox 37"/>
            <p:cNvSpPr txBox="1"/>
            <p:nvPr/>
          </p:nvSpPr>
          <p:spPr>
            <a:xfrm>
              <a:off x="838200" y="2907268"/>
              <a:ext cx="1015798" cy="369332"/>
            </a:xfrm>
            <a:prstGeom prst="rect">
              <a:avLst/>
            </a:prstGeom>
            <a:noFill/>
          </p:spPr>
          <p:txBody>
            <a:bodyPr wrap="none" rtlCol="0">
              <a:spAutoFit/>
            </a:bodyPr>
            <a:lstStyle/>
            <a:p>
              <a:r>
                <a:rPr lang="en-US" sz="1800" b="0" dirty="0" err="1" smtClean="0">
                  <a:latin typeface="Courier New"/>
                  <a:cs typeface="Courier New"/>
                </a:rPr>
                <a:t>myargv</a:t>
              </a:r>
              <a:endParaRPr lang="en-US" sz="1800" b="0" dirty="0" smtClean="0">
                <a:latin typeface="Courier New"/>
                <a:cs typeface="Courier New"/>
              </a:endParaRPr>
            </a:p>
          </p:txBody>
        </p:sp>
        <p:cxnSp>
          <p:nvCxnSpPr>
            <p:cNvPr id="40" name="Straight Arrow Connector 39"/>
            <p:cNvCxnSpPr/>
            <p:nvPr/>
          </p:nvCxnSpPr>
          <p:spPr bwMode="auto">
            <a:xfrm flipV="1">
              <a:off x="1828800" y="3091130"/>
              <a:ext cx="717550" cy="804"/>
            </a:xfrm>
            <a:prstGeom prst="straightConnector1">
              <a:avLst/>
            </a:prstGeom>
            <a:noFill/>
            <a:ln w="25400" cap="flat" cmpd="sng" algn="ctr">
              <a:solidFill>
                <a:schemeClr val="tx1"/>
              </a:solidFill>
              <a:prstDash val="solid"/>
              <a:round/>
              <a:headEnd type="none" w="med" len="med"/>
              <a:tailEnd type="arrow"/>
            </a:ln>
            <a:effectLst/>
          </p:spPr>
        </p:cxnSp>
        <p:sp>
          <p:nvSpPr>
            <p:cNvPr id="7" name="TextBox 6"/>
            <p:cNvSpPr txBox="1"/>
            <p:nvPr/>
          </p:nvSpPr>
          <p:spPr>
            <a:xfrm>
              <a:off x="457200" y="2362200"/>
              <a:ext cx="1708408" cy="369332"/>
            </a:xfrm>
            <a:prstGeom prst="rect">
              <a:avLst/>
            </a:prstGeom>
            <a:noFill/>
          </p:spPr>
          <p:txBody>
            <a:bodyPr wrap="none" rtlCol="0">
              <a:spAutoFit/>
            </a:bodyPr>
            <a:lstStyle/>
            <a:p>
              <a:r>
                <a:rPr lang="en-US" sz="1800" b="0" dirty="0" smtClean="0">
                  <a:latin typeface="Courier New"/>
                  <a:cs typeface="Courier New"/>
                </a:rPr>
                <a:t>(</a:t>
              </a:r>
              <a:r>
                <a:rPr lang="en-US" sz="1800" b="0" dirty="0" err="1" smtClean="0">
                  <a:latin typeface="Courier New"/>
                  <a:cs typeface="Courier New"/>
                </a:rPr>
                <a:t>argc</a:t>
              </a:r>
              <a:r>
                <a:rPr lang="en-US" sz="1800" b="0" dirty="0" smtClean="0">
                  <a:latin typeface="Courier New"/>
                  <a:cs typeface="Courier New"/>
                </a:rPr>
                <a:t> == 3)</a:t>
              </a:r>
            </a:p>
          </p:txBody>
        </p:sp>
      </p:grpSp>
    </p:spTree>
    <p:extLst>
      <p:ext uri="{BB962C8B-B14F-4D97-AF65-F5344CB8AC3E}">
        <p14:creationId xmlns:p14="http://schemas.microsoft.com/office/powerpoint/2010/main" val="1946713832"/>
      </p:ext>
    </p:extLst>
  </p:cSld>
  <p:clrMapOvr>
    <a:masterClrMapping/>
  </p:clrMapOvr>
  <p:timing>
    <p:tnLst>
      <p:par>
        <p:cTn xmlns:p14="http://schemas.microsoft.com/office/powerpoint/2010/mai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type="title"/>
          </p:nvPr>
        </p:nvSpPr>
        <p:spPr/>
        <p:txBody>
          <a:bodyPr/>
          <a:lstStyle/>
          <a:p>
            <a:r>
              <a:rPr lang="en-US" smtClean="0"/>
              <a:t>Summary</a:t>
            </a:r>
            <a:endParaRPr lang="en-US" dirty="0"/>
          </a:p>
        </p:txBody>
      </p:sp>
      <p:sp>
        <p:nvSpPr>
          <p:cNvPr id="504835" name="Rectangle 3"/>
          <p:cNvSpPr>
            <a:spLocks noGrp="1" noChangeArrowheads="1"/>
          </p:cNvSpPr>
          <p:nvPr>
            <p:ph type="body" idx="1"/>
          </p:nvPr>
        </p:nvSpPr>
        <p:spPr/>
        <p:txBody>
          <a:bodyPr/>
          <a:lstStyle/>
          <a:p>
            <a:r>
              <a:rPr lang="en-US" dirty="0" smtClean="0"/>
              <a:t>Exceptions</a:t>
            </a:r>
          </a:p>
          <a:p>
            <a:pPr lvl="1"/>
            <a:r>
              <a:rPr lang="en-US" dirty="0" smtClean="0"/>
              <a:t>Events that require nonstandard control flow</a:t>
            </a:r>
          </a:p>
          <a:p>
            <a:pPr lvl="1"/>
            <a:r>
              <a:rPr lang="en-US" dirty="0" smtClean="0"/>
              <a:t>Generated externally (interrupts) or internally (traps and faults)</a:t>
            </a:r>
          </a:p>
          <a:p>
            <a:endParaRPr lang="en-US" dirty="0" smtClean="0"/>
          </a:p>
          <a:p>
            <a:r>
              <a:rPr lang="en-US" dirty="0" smtClean="0"/>
              <a:t>Processes</a:t>
            </a:r>
          </a:p>
          <a:p>
            <a:pPr lvl="1"/>
            <a:r>
              <a:rPr lang="en-US" dirty="0" smtClean="0"/>
              <a:t>At any given time, system has multiple active processes</a:t>
            </a:r>
          </a:p>
          <a:p>
            <a:pPr lvl="1"/>
            <a:r>
              <a:rPr lang="en-US" dirty="0" smtClean="0"/>
              <a:t>Only one can execute at a time on any single core</a:t>
            </a:r>
          </a:p>
          <a:p>
            <a:pPr lvl="1"/>
            <a:r>
              <a:rPr lang="en-US" dirty="0" smtClean="0"/>
              <a:t>Each process appears to have total control of </a:t>
            </a:r>
            <a:br>
              <a:rPr lang="en-US" dirty="0" smtClean="0"/>
            </a:br>
            <a:r>
              <a:rPr lang="en-US" dirty="0" smtClean="0"/>
              <a:t>processor + private memory space</a:t>
            </a:r>
            <a:endParaRPr lang="en-US" dirty="0"/>
          </a:p>
        </p:txBody>
      </p:sp>
    </p:spTree>
    <p:extLst>
      <p:ext uri="{BB962C8B-B14F-4D97-AF65-F5344CB8AC3E}">
        <p14:creationId xmlns:p14="http://schemas.microsoft.com/office/powerpoint/2010/main" val="3025228286"/>
      </p:ext>
    </p:extLst>
  </p:cSld>
  <p:clrMapOvr>
    <a:masterClrMapping/>
  </p:clrMapOvr>
  <p:timing>
    <p:tnLst>
      <p:par>
        <p:cTn xmlns:p14="http://schemas.microsoft.com/office/powerpoint/2010/mai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ChangeArrowheads="1"/>
          </p:cNvSpPr>
          <p:nvPr>
            <p:ph type="title"/>
          </p:nvPr>
        </p:nvSpPr>
        <p:spPr/>
        <p:txBody>
          <a:bodyPr/>
          <a:lstStyle/>
          <a:p>
            <a:r>
              <a:rPr lang="en-US" dirty="0" smtClean="0"/>
              <a:t>Summary (cont.)</a:t>
            </a:r>
            <a:endParaRPr lang="en-US" dirty="0"/>
          </a:p>
        </p:txBody>
      </p:sp>
      <p:sp>
        <p:nvSpPr>
          <p:cNvPr id="508931" name="Rectangle 3"/>
          <p:cNvSpPr>
            <a:spLocks noGrp="1" noChangeArrowheads="1"/>
          </p:cNvSpPr>
          <p:nvPr>
            <p:ph type="body" idx="1"/>
          </p:nvPr>
        </p:nvSpPr>
        <p:spPr/>
        <p:txBody>
          <a:bodyPr/>
          <a:lstStyle/>
          <a:p>
            <a:r>
              <a:rPr lang="en-US" dirty="0" smtClean="0"/>
              <a:t>Spawning processes</a:t>
            </a:r>
          </a:p>
          <a:p>
            <a:pPr lvl="1"/>
            <a:r>
              <a:rPr lang="en-US" dirty="0" smtClean="0"/>
              <a:t>Call </a:t>
            </a:r>
            <a:r>
              <a:rPr lang="en-US" dirty="0" smtClean="0">
                <a:latin typeface="Courier New"/>
                <a:cs typeface="Courier New"/>
              </a:rPr>
              <a:t>fork</a:t>
            </a:r>
          </a:p>
          <a:p>
            <a:pPr lvl="1"/>
            <a:r>
              <a:rPr lang="en-US" dirty="0" smtClean="0"/>
              <a:t>One call, two returns</a:t>
            </a:r>
          </a:p>
          <a:p>
            <a:r>
              <a:rPr lang="en-US" dirty="0" smtClean="0"/>
              <a:t>Process completion</a:t>
            </a:r>
          </a:p>
          <a:p>
            <a:pPr lvl="1"/>
            <a:r>
              <a:rPr lang="en-US" dirty="0" smtClean="0"/>
              <a:t>Call </a:t>
            </a:r>
            <a:r>
              <a:rPr lang="en-US" dirty="0" smtClean="0">
                <a:latin typeface="Courier New"/>
                <a:cs typeface="Courier New"/>
              </a:rPr>
              <a:t>exit</a:t>
            </a:r>
          </a:p>
          <a:p>
            <a:pPr lvl="1"/>
            <a:r>
              <a:rPr lang="en-US" dirty="0" smtClean="0"/>
              <a:t>One call, no return</a:t>
            </a:r>
          </a:p>
          <a:p>
            <a:r>
              <a:rPr lang="en-US" dirty="0" smtClean="0"/>
              <a:t>Reaping and waiting for processes</a:t>
            </a:r>
          </a:p>
          <a:p>
            <a:pPr lvl="1"/>
            <a:r>
              <a:rPr lang="en-US" dirty="0" smtClean="0"/>
              <a:t>Call </a:t>
            </a:r>
            <a:r>
              <a:rPr lang="en-US" dirty="0" smtClean="0">
                <a:latin typeface="Courier New"/>
                <a:cs typeface="Courier New"/>
              </a:rPr>
              <a:t>wait</a:t>
            </a:r>
            <a:r>
              <a:rPr lang="en-US" dirty="0" smtClean="0"/>
              <a:t> or </a:t>
            </a:r>
            <a:r>
              <a:rPr lang="en-US" dirty="0" err="1" smtClean="0">
                <a:latin typeface="Courier New"/>
                <a:cs typeface="Courier New"/>
              </a:rPr>
              <a:t>waitpid</a:t>
            </a:r>
            <a:endParaRPr lang="en-US" dirty="0" smtClean="0">
              <a:latin typeface="Courier New"/>
              <a:cs typeface="Courier New"/>
            </a:endParaRPr>
          </a:p>
          <a:p>
            <a:r>
              <a:rPr lang="en-US" dirty="0" smtClean="0"/>
              <a:t>Loading and running programs</a:t>
            </a:r>
          </a:p>
          <a:p>
            <a:pPr lvl="1"/>
            <a:r>
              <a:rPr lang="en-US" dirty="0" smtClean="0"/>
              <a:t>Call </a:t>
            </a:r>
            <a:r>
              <a:rPr lang="en-US" dirty="0" err="1" smtClean="0">
                <a:latin typeface="Courier New"/>
                <a:cs typeface="Courier New"/>
              </a:rPr>
              <a:t>execve</a:t>
            </a:r>
            <a:r>
              <a:rPr lang="en-US" dirty="0" smtClean="0"/>
              <a:t> (or variant)</a:t>
            </a:r>
          </a:p>
          <a:p>
            <a:pPr lvl="1"/>
            <a:r>
              <a:rPr lang="en-US" dirty="0" smtClean="0"/>
              <a:t>One call, (normally) no return</a:t>
            </a:r>
            <a:endParaRPr lang="en-US" dirty="0"/>
          </a:p>
        </p:txBody>
      </p:sp>
    </p:spTree>
    <p:extLst>
      <p:ext uri="{BB962C8B-B14F-4D97-AF65-F5344CB8AC3E}">
        <p14:creationId xmlns:p14="http://schemas.microsoft.com/office/powerpoint/2010/main" val="4206313837"/>
      </p:ext>
    </p:extLst>
  </p:cSld>
  <p:clrMapOvr>
    <a:masterClrMapping/>
  </p:clrMapOvr>
  <p:timing>
    <p:tnLst>
      <p:par>
        <p:cTn xmlns:p14="http://schemas.microsoft.com/office/powerpoint/2010/mai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lstStyle/>
          <a:p>
            <a:pPr marL="0" indent="0">
              <a:lnSpc>
                <a:spcPct val="80000"/>
              </a:lnSpc>
              <a:buNone/>
            </a:pPr>
            <a:endParaRPr lang="en-US" sz="2800" dirty="0" smtClean="0"/>
          </a:p>
          <a:p>
            <a:r>
              <a:rPr lang="en-US" sz="2800" dirty="0" smtClean="0">
                <a:solidFill>
                  <a:schemeClr val="bg2">
                    <a:lumMod val="60000"/>
                    <a:lumOff val="40000"/>
                  </a:schemeClr>
                </a:solidFill>
              </a:rPr>
              <a:t>Linking</a:t>
            </a:r>
            <a:endParaRPr lang="en-US" dirty="0" smtClean="0">
              <a:solidFill>
                <a:schemeClr val="bg2">
                  <a:lumMod val="60000"/>
                  <a:lumOff val="40000"/>
                </a:schemeClr>
              </a:solidFill>
            </a:endParaRPr>
          </a:p>
          <a:p>
            <a:pPr lvl="1"/>
            <a:r>
              <a:rPr lang="en-US" dirty="0" smtClean="0">
                <a:solidFill>
                  <a:srgbClr val="B3B3B3"/>
                </a:solidFill>
              </a:rPr>
              <a:t>Case </a:t>
            </a:r>
            <a:r>
              <a:rPr lang="en-US" dirty="0">
                <a:solidFill>
                  <a:srgbClr val="B3B3B3"/>
                </a:solidFill>
              </a:rPr>
              <a:t>study: Library </a:t>
            </a:r>
            <a:r>
              <a:rPr lang="en-US" dirty="0" err="1" smtClean="0">
                <a:solidFill>
                  <a:srgbClr val="B3B3B3"/>
                </a:solidFill>
              </a:rPr>
              <a:t>interpositioning</a:t>
            </a:r>
            <a:endParaRPr lang="en-US" dirty="0" smtClean="0">
              <a:solidFill>
                <a:srgbClr val="B3B3B3"/>
              </a:solidFill>
            </a:endParaRPr>
          </a:p>
          <a:p>
            <a:r>
              <a:rPr lang="en-US" sz="2800" dirty="0">
                <a:solidFill>
                  <a:schemeClr val="bg2">
                    <a:lumMod val="60000"/>
                    <a:lumOff val="40000"/>
                  </a:schemeClr>
                </a:solidFill>
              </a:rPr>
              <a:t>Exceptions &amp; </a:t>
            </a:r>
            <a:r>
              <a:rPr lang="en-US" sz="2800" dirty="0" smtClean="0">
                <a:solidFill>
                  <a:schemeClr val="bg2">
                    <a:lumMod val="60000"/>
                    <a:lumOff val="40000"/>
                  </a:schemeClr>
                </a:solidFill>
              </a:rPr>
              <a:t>Processes</a:t>
            </a:r>
          </a:p>
          <a:p>
            <a:r>
              <a:rPr lang="en-US" sz="2800" dirty="0">
                <a:solidFill>
                  <a:srgbClr val="000000"/>
                </a:solidFill>
              </a:rPr>
              <a:t>Cache Lab</a:t>
            </a:r>
          </a:p>
          <a:p>
            <a:pPr marL="0" indent="0">
              <a:buNone/>
            </a:pPr>
            <a:endParaRPr lang="en-US" sz="2800" dirty="0">
              <a:solidFill>
                <a:schemeClr val="bg2">
                  <a:lumMod val="60000"/>
                  <a:lumOff val="40000"/>
                </a:schemeClr>
              </a:solidFill>
            </a:endParaRPr>
          </a:p>
          <a:p>
            <a:endParaRPr lang="en-US" dirty="0" smtClean="0">
              <a:solidFill>
                <a:srgbClr val="B3B3B3"/>
              </a:solidFill>
            </a:endParaRPr>
          </a:p>
          <a:p>
            <a:pPr marL="0" indent="0">
              <a:lnSpc>
                <a:spcPct val="80000"/>
              </a:lnSpc>
              <a:buNone/>
            </a:pPr>
            <a:endParaRPr lang="en-US" sz="2800" dirty="0" smtClean="0">
              <a:solidFill>
                <a:schemeClr val="bg2">
                  <a:lumMod val="60000"/>
                  <a:lumOff val="40000"/>
                </a:schemeClr>
              </a:solidFill>
            </a:endParaRPr>
          </a:p>
          <a:p>
            <a:endParaRPr lang="en-US" dirty="0">
              <a:solidFill>
                <a:schemeClr val="bg2">
                  <a:lumMod val="60000"/>
                  <a:lumOff val="40000"/>
                </a:schemeClr>
              </a:solidFill>
            </a:endParaRPr>
          </a:p>
          <a:p>
            <a:endParaRPr lang="en-US" dirty="0">
              <a:solidFill>
                <a:schemeClr val="bg1">
                  <a:lumMod val="75000"/>
                </a:schemeClr>
              </a:solidFill>
            </a:endParaRPr>
          </a:p>
        </p:txBody>
      </p:sp>
      <p:sp>
        <p:nvSpPr>
          <p:cNvPr id="4" name="TextBox 3"/>
          <p:cNvSpPr txBox="1"/>
          <p:nvPr/>
        </p:nvSpPr>
        <p:spPr>
          <a:xfrm>
            <a:off x="2851727" y="5657273"/>
            <a:ext cx="184666" cy="369332"/>
          </a:xfrm>
          <a:prstGeom prst="rect">
            <a:avLst/>
          </a:prstGeom>
          <a:noFill/>
        </p:spPr>
        <p:txBody>
          <a:bodyPr wrap="none" rtlCol="0">
            <a:spAutoFit/>
          </a:bodyPr>
          <a:lstStyle/>
          <a:p>
            <a:endParaRPr lang="en-US" sz="1800" dirty="0">
              <a:latin typeface="Calibri" pitchFamily="34" charset="0"/>
            </a:endParaRPr>
          </a:p>
        </p:txBody>
      </p:sp>
    </p:spTree>
    <p:extLst>
      <p:ext uri="{BB962C8B-B14F-4D97-AF65-F5344CB8AC3E}">
        <p14:creationId xmlns:p14="http://schemas.microsoft.com/office/powerpoint/2010/main" val="2317627090"/>
      </p:ext>
    </p:extLst>
  </p:cSld>
  <p:clrMapOvr>
    <a:masterClrMapping/>
  </p:clrMapOvr>
  <p:timing>
    <p:tnLst>
      <p:par>
        <p:cTn xmlns:p14="http://schemas.microsoft.com/office/powerpoint/2010/mai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357018" y="493512"/>
            <a:ext cx="7592093" cy="646331"/>
          </a:xfrm>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smtClean="0"/>
              <a:t>Cache Lab</a:t>
            </a:r>
            <a:endParaRPr lang="en-US" dirty="0"/>
          </a:p>
        </p:txBody>
      </p:sp>
      <p:sp>
        <p:nvSpPr>
          <p:cNvPr id="4" name="Content Placeholder 3"/>
          <p:cNvSpPr>
            <a:spLocks noGrp="1"/>
          </p:cNvSpPr>
          <p:nvPr>
            <p:ph idx="1"/>
          </p:nvPr>
        </p:nvSpPr>
        <p:spPr/>
        <p:txBody>
          <a:bodyPr/>
          <a:lstStyle/>
          <a:p>
            <a:r>
              <a:rPr lang="en-US" dirty="0"/>
              <a:t>Part (a) Building a cache simulator</a:t>
            </a:r>
          </a:p>
          <a:p>
            <a:endParaRPr lang="en-US" dirty="0"/>
          </a:p>
          <a:p>
            <a:r>
              <a:rPr lang="en-US" dirty="0"/>
              <a:t>Part (b) Optimizing matrix transpose</a:t>
            </a:r>
            <a:endParaRPr lang="en-US" dirty="0" smtClean="0"/>
          </a:p>
          <a:p>
            <a:pPr>
              <a:buNone/>
            </a:pPr>
            <a:endParaRPr lang="en-US" dirty="0"/>
          </a:p>
        </p:txBody>
      </p:sp>
    </p:spTree>
    <p:extLst>
      <p:ext uri="{BB962C8B-B14F-4D97-AF65-F5344CB8AC3E}">
        <p14:creationId xmlns:p14="http://schemas.microsoft.com/office/powerpoint/2010/main" val="1883953836"/>
      </p:ext>
    </p:extLst>
  </p:cSld>
  <p:clrMapOvr>
    <a:masterClrMapping/>
  </p:clrMapOvr>
  <mc:AlternateContent xmlns:mc="http://schemas.openxmlformats.org/markup-compatibility/2006" xmlns:p14="http://schemas.microsoft.com/office/powerpoint/2010/main">
    <mc:Choice Requires="p14">
      <p:transition spd="slow" p14:dur="2000"/>
    </mc:Choice>
    <mc:Fallback xmlns="" xmlns:mv="urn:schemas-microsoft-com:mac:vml">
      <p:transition spd="slow"/>
    </mc:Fallback>
  </mc:AlternateContent>
  <p:timing>
    <p:tnLst>
      <p:par>
        <p:cTn xmlns:p14="http://schemas.microsoft.com/office/powerpoint/2010/mai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357018" y="493512"/>
            <a:ext cx="7592093" cy="646331"/>
          </a:xfrm>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smtClean="0"/>
              <a:t>Part (a) : Cache simulator</a:t>
            </a:r>
            <a:endParaRPr lang="en-US" dirty="0"/>
          </a:p>
        </p:txBody>
      </p:sp>
      <p:sp>
        <p:nvSpPr>
          <p:cNvPr id="4" name="Content Placeholder 3"/>
          <p:cNvSpPr>
            <a:spLocks noGrp="1"/>
          </p:cNvSpPr>
          <p:nvPr>
            <p:ph idx="1"/>
          </p:nvPr>
        </p:nvSpPr>
        <p:spPr/>
        <p:txBody>
          <a:bodyPr/>
          <a:lstStyle/>
          <a:p>
            <a:r>
              <a:rPr lang="en-US" dirty="0"/>
              <a:t>A cache simulator is NOT a cache! </a:t>
            </a:r>
          </a:p>
          <a:p>
            <a:pPr lvl="1"/>
            <a:r>
              <a:rPr lang="en-US" dirty="0"/>
              <a:t>Memory contents NOT stored</a:t>
            </a:r>
          </a:p>
          <a:p>
            <a:pPr lvl="1"/>
            <a:r>
              <a:rPr lang="en-US" dirty="0"/>
              <a:t>Block offsets are NOT </a:t>
            </a:r>
            <a:r>
              <a:rPr lang="en-US" dirty="0" smtClean="0"/>
              <a:t>used – the </a:t>
            </a:r>
            <a:r>
              <a:rPr lang="en-US" dirty="0" err="1" smtClean="0"/>
              <a:t>b</a:t>
            </a:r>
            <a:r>
              <a:rPr lang="en-US" dirty="0" smtClean="0"/>
              <a:t> bits in your address don’t matter.</a:t>
            </a:r>
          </a:p>
          <a:p>
            <a:pPr lvl="1"/>
            <a:r>
              <a:rPr lang="en-US" dirty="0"/>
              <a:t>Simply </a:t>
            </a:r>
            <a:r>
              <a:rPr lang="en-US" b="1" dirty="0" smtClean="0"/>
              <a:t>count </a:t>
            </a:r>
            <a:r>
              <a:rPr lang="en-US" dirty="0"/>
              <a:t>hits, misses, and evictions</a:t>
            </a:r>
          </a:p>
          <a:p>
            <a:pPr lvl="1"/>
            <a:endParaRPr lang="en-US" dirty="0"/>
          </a:p>
          <a:p>
            <a:r>
              <a:rPr lang="en-US" dirty="0"/>
              <a:t>Your cache simulator </a:t>
            </a:r>
            <a:r>
              <a:rPr lang="en-US" dirty="0" smtClean="0"/>
              <a:t>needs </a:t>
            </a:r>
            <a:r>
              <a:rPr lang="en-US" dirty="0"/>
              <a:t>to work for different s, b, E, given at run time</a:t>
            </a:r>
            <a:r>
              <a:rPr lang="en-US" dirty="0" smtClean="0"/>
              <a:t>.</a:t>
            </a:r>
          </a:p>
          <a:p>
            <a:endParaRPr lang="en-US" dirty="0"/>
          </a:p>
          <a:p>
            <a:r>
              <a:rPr lang="en-US" dirty="0"/>
              <a:t>Use </a:t>
            </a:r>
            <a:r>
              <a:rPr lang="en-US" dirty="0" smtClean="0"/>
              <a:t>LRU – Least Recently Used </a:t>
            </a:r>
            <a:r>
              <a:rPr lang="en-US" dirty="0"/>
              <a:t>replacement </a:t>
            </a:r>
            <a:r>
              <a:rPr lang="en-US" dirty="0" smtClean="0"/>
              <a:t>policy</a:t>
            </a:r>
          </a:p>
          <a:p>
            <a:pPr lvl="1"/>
            <a:r>
              <a:rPr lang="en-US" dirty="0" smtClean="0"/>
              <a:t>Evict the least recently used block from the cache to make room for the next block.</a:t>
            </a:r>
          </a:p>
          <a:p>
            <a:pPr lvl="1"/>
            <a:r>
              <a:rPr lang="en-US" dirty="0" smtClean="0"/>
              <a:t>Queues ? Time Stamps ?</a:t>
            </a:r>
          </a:p>
          <a:p>
            <a:pPr lvl="1"/>
            <a:endParaRPr lang="en-US" dirty="0"/>
          </a:p>
        </p:txBody>
      </p:sp>
    </p:spTree>
    <p:extLst>
      <p:ext uri="{BB962C8B-B14F-4D97-AF65-F5344CB8AC3E}">
        <p14:creationId xmlns:p14="http://schemas.microsoft.com/office/powerpoint/2010/main" val="1908012366"/>
      </p:ext>
    </p:extLst>
  </p:cSld>
  <p:clrMapOvr>
    <a:masterClrMapping/>
  </p:clrMapOvr>
  <mc:AlternateContent xmlns:mc="http://schemas.openxmlformats.org/markup-compatibility/2006" xmlns:p14="http://schemas.microsoft.com/office/powerpoint/2010/main">
    <mc:Choice Requires="p14">
      <p:transition spd="slow" p14:dur="2000"/>
    </mc:Choice>
    <mc:Fallback xmlns="" xmlns:mv="urn:schemas-microsoft-com:mac:vml">
      <p:transition spd="slow"/>
    </mc:Fallback>
  </mc:AlternateContent>
  <p:timing>
    <p:tnLst>
      <p:par>
        <p:cTn xmlns:p14="http://schemas.microsoft.com/office/powerpoint/2010/mai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357018" y="493512"/>
            <a:ext cx="7592093" cy="646331"/>
          </a:xfrm>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a:t>Part (a) : </a:t>
            </a:r>
            <a:r>
              <a:rPr lang="en-US" dirty="0" smtClean="0"/>
              <a:t>Hints</a:t>
            </a:r>
            <a:endParaRPr lang="en-US" dirty="0"/>
          </a:p>
        </p:txBody>
      </p:sp>
      <p:sp>
        <p:nvSpPr>
          <p:cNvPr id="4" name="Content Placeholder 3"/>
          <p:cNvSpPr>
            <a:spLocks noGrp="1"/>
          </p:cNvSpPr>
          <p:nvPr>
            <p:ph idx="1"/>
          </p:nvPr>
        </p:nvSpPr>
        <p:spPr/>
        <p:txBody>
          <a:bodyPr/>
          <a:lstStyle/>
          <a:p>
            <a:r>
              <a:rPr lang="en-US" dirty="0"/>
              <a:t>A cache is just 2D array of </a:t>
            </a:r>
            <a:r>
              <a:rPr lang="en-US" i="1" dirty="0"/>
              <a:t>cache lines</a:t>
            </a:r>
            <a:r>
              <a:rPr lang="en-US" dirty="0"/>
              <a:t>:</a:t>
            </a:r>
          </a:p>
          <a:p>
            <a:pPr lvl="1"/>
            <a:r>
              <a:rPr lang="en-US" dirty="0" err="1"/>
              <a:t>struct</a:t>
            </a:r>
            <a:r>
              <a:rPr lang="en-US" dirty="0"/>
              <a:t> </a:t>
            </a:r>
            <a:r>
              <a:rPr lang="en-US" dirty="0" err="1"/>
              <a:t>cache_line</a:t>
            </a:r>
            <a:r>
              <a:rPr lang="en-US" dirty="0"/>
              <a:t> cache[S][E];</a:t>
            </a:r>
          </a:p>
          <a:p>
            <a:pPr lvl="1"/>
            <a:r>
              <a:rPr lang="en-US" dirty="0"/>
              <a:t>S = 2^s,  is the number of sets</a:t>
            </a:r>
          </a:p>
          <a:p>
            <a:pPr lvl="1"/>
            <a:r>
              <a:rPr lang="en-US" dirty="0"/>
              <a:t>E is associativity</a:t>
            </a:r>
          </a:p>
          <a:p>
            <a:endParaRPr lang="en-US" dirty="0" smtClean="0"/>
          </a:p>
          <a:p>
            <a:r>
              <a:rPr lang="en-US" dirty="0" smtClean="0"/>
              <a:t>Each </a:t>
            </a:r>
            <a:r>
              <a:rPr lang="en-US" dirty="0" err="1"/>
              <a:t>cache_line</a:t>
            </a:r>
            <a:r>
              <a:rPr lang="en-US" dirty="0"/>
              <a:t> has:</a:t>
            </a:r>
          </a:p>
          <a:p>
            <a:pPr lvl="1"/>
            <a:r>
              <a:rPr lang="en-US" dirty="0"/>
              <a:t>Valid bit</a:t>
            </a:r>
          </a:p>
          <a:p>
            <a:pPr lvl="1"/>
            <a:r>
              <a:rPr lang="en-US" dirty="0" smtClean="0"/>
              <a:t>Tag</a:t>
            </a:r>
          </a:p>
          <a:p>
            <a:pPr lvl="1"/>
            <a:r>
              <a:rPr lang="en-US" dirty="0" smtClean="0"/>
              <a:t>LRU counter ( only if you are not using a queue ) </a:t>
            </a:r>
          </a:p>
          <a:p>
            <a:endParaRPr lang="en-US" dirty="0"/>
          </a:p>
        </p:txBody>
      </p:sp>
    </p:spTree>
    <p:extLst>
      <p:ext uri="{BB962C8B-B14F-4D97-AF65-F5344CB8AC3E}">
        <p14:creationId xmlns:p14="http://schemas.microsoft.com/office/powerpoint/2010/main" val="1003774339"/>
      </p:ext>
    </p:extLst>
  </p:cSld>
  <p:clrMapOvr>
    <a:masterClrMapping/>
  </p:clrMapOvr>
  <mc:AlternateContent xmlns:mc="http://schemas.openxmlformats.org/markup-compatibility/2006" xmlns:p14="http://schemas.microsoft.com/office/powerpoint/2010/main">
    <mc:Choice Requires="p14">
      <p:transition spd="slow" p14:dur="2000"/>
    </mc:Choice>
    <mc:Fallback xmlns="" xmlns:mv="urn:schemas-microsoft-com:mac:vml">
      <p:transition spd="slow"/>
    </mc:Fallback>
  </mc:AlternateContent>
  <p:timing>
    <p:tnLst>
      <p:par>
        <p:cTn xmlns:p14="http://schemas.microsoft.com/office/powerpoint/2010/mai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able 15"/>
          <p:cNvGraphicFramePr>
            <a:graphicFrameLocks noGrp="1"/>
          </p:cNvGraphicFramePr>
          <p:nvPr>
            <p:extLst>
              <p:ext uri="{D42A27DB-BD31-4B8C-83A1-F6EECF244321}">
                <p14:modId xmlns:p14="http://schemas.microsoft.com/office/powerpoint/2010/main" val="1695838025"/>
              </p:ext>
            </p:extLst>
          </p:nvPr>
        </p:nvGraphicFramePr>
        <p:xfrm>
          <a:off x="5867400" y="2667000"/>
          <a:ext cx="2438400" cy="2108200"/>
        </p:xfrm>
        <a:graphic>
          <a:graphicData uri="http://schemas.openxmlformats.org/drawingml/2006/table">
            <a:tbl>
              <a:tblPr firstRow="1" bandRow="1">
                <a:tableStyleId>{2D5ABB26-0587-4C30-8999-92F81FD0307C}</a:tableStyleId>
              </a:tblPr>
              <a:tblGrid>
                <a:gridCol w="609600"/>
                <a:gridCol w="609600"/>
                <a:gridCol w="609600"/>
                <a:gridCol w="609600"/>
              </a:tblGrid>
              <a:tr h="527050">
                <a:tc>
                  <a:txBody>
                    <a:bodyPr/>
                    <a:lstStyle/>
                    <a:p>
                      <a:r>
                        <a:rPr lang="en-US" dirty="0" smtClean="0"/>
                        <a:t>1</a:t>
                      </a:r>
                      <a:endParaRPr lang="en-US" dirty="0"/>
                    </a:p>
                  </a:txBody>
                  <a:tcPr/>
                </a:tc>
                <a:tc>
                  <a:txBody>
                    <a:bodyPr/>
                    <a:lstStyle/>
                    <a:p>
                      <a:r>
                        <a:rPr lang="en-US" dirty="0" smtClean="0"/>
                        <a:t>5</a:t>
                      </a:r>
                      <a:endParaRPr lang="en-US" dirty="0"/>
                    </a:p>
                  </a:txBody>
                  <a:tcPr/>
                </a:tc>
                <a:tc>
                  <a:txBody>
                    <a:bodyPr/>
                    <a:lstStyle/>
                    <a:p>
                      <a:r>
                        <a:rPr lang="en-US" dirty="0" smtClean="0"/>
                        <a:t>9</a:t>
                      </a:r>
                      <a:endParaRPr lang="en-US" dirty="0"/>
                    </a:p>
                  </a:txBody>
                  <a:tcPr/>
                </a:tc>
                <a:tc>
                  <a:txBody>
                    <a:bodyPr/>
                    <a:lstStyle/>
                    <a:p>
                      <a:r>
                        <a:rPr lang="en-US" dirty="0" smtClean="0"/>
                        <a:t>13</a:t>
                      </a:r>
                      <a:endParaRPr lang="en-US" dirty="0"/>
                    </a:p>
                  </a:txBody>
                  <a:tcPr/>
                </a:tc>
              </a:tr>
              <a:tr h="527050">
                <a:tc>
                  <a:txBody>
                    <a:bodyPr/>
                    <a:lstStyle/>
                    <a:p>
                      <a:r>
                        <a:rPr lang="en-US" dirty="0" smtClean="0"/>
                        <a:t>2</a:t>
                      </a:r>
                      <a:endParaRPr lang="en-US" dirty="0"/>
                    </a:p>
                  </a:txBody>
                  <a:tcPr/>
                </a:tc>
                <a:tc>
                  <a:txBody>
                    <a:bodyPr/>
                    <a:lstStyle/>
                    <a:p>
                      <a:r>
                        <a:rPr lang="en-US" dirty="0" smtClean="0"/>
                        <a:t>6</a:t>
                      </a:r>
                      <a:endParaRPr lang="en-US" dirty="0"/>
                    </a:p>
                  </a:txBody>
                  <a:tcPr/>
                </a:tc>
                <a:tc>
                  <a:txBody>
                    <a:bodyPr/>
                    <a:lstStyle/>
                    <a:p>
                      <a:r>
                        <a:rPr lang="en-US" dirty="0" smtClean="0"/>
                        <a:t>10</a:t>
                      </a:r>
                      <a:endParaRPr lang="en-US" dirty="0"/>
                    </a:p>
                  </a:txBody>
                  <a:tcPr/>
                </a:tc>
                <a:tc>
                  <a:txBody>
                    <a:bodyPr/>
                    <a:lstStyle/>
                    <a:p>
                      <a:r>
                        <a:rPr lang="en-US" dirty="0" smtClean="0"/>
                        <a:t>14</a:t>
                      </a:r>
                      <a:endParaRPr lang="en-US" dirty="0"/>
                    </a:p>
                  </a:txBody>
                  <a:tcPr/>
                </a:tc>
              </a:tr>
              <a:tr h="527050">
                <a:tc>
                  <a:txBody>
                    <a:bodyPr/>
                    <a:lstStyle/>
                    <a:p>
                      <a:r>
                        <a:rPr lang="en-US" dirty="0" smtClean="0"/>
                        <a:t>3</a:t>
                      </a:r>
                      <a:endParaRPr lang="en-US" dirty="0"/>
                    </a:p>
                  </a:txBody>
                  <a:tcPr/>
                </a:tc>
                <a:tc>
                  <a:txBody>
                    <a:bodyPr/>
                    <a:lstStyle/>
                    <a:p>
                      <a:r>
                        <a:rPr lang="en-US" dirty="0" smtClean="0"/>
                        <a:t>7</a:t>
                      </a:r>
                      <a:endParaRPr lang="en-US" dirty="0"/>
                    </a:p>
                  </a:txBody>
                  <a:tcPr/>
                </a:tc>
                <a:tc>
                  <a:txBody>
                    <a:bodyPr/>
                    <a:lstStyle/>
                    <a:p>
                      <a:r>
                        <a:rPr lang="en-US" dirty="0" smtClean="0"/>
                        <a:t>11</a:t>
                      </a:r>
                      <a:endParaRPr lang="en-US" dirty="0"/>
                    </a:p>
                  </a:txBody>
                  <a:tcPr/>
                </a:tc>
                <a:tc>
                  <a:txBody>
                    <a:bodyPr/>
                    <a:lstStyle/>
                    <a:p>
                      <a:r>
                        <a:rPr lang="en-US" dirty="0" smtClean="0"/>
                        <a:t>15</a:t>
                      </a:r>
                      <a:endParaRPr lang="en-US" dirty="0"/>
                    </a:p>
                  </a:txBody>
                  <a:tcPr/>
                </a:tc>
              </a:tr>
              <a:tr h="527050">
                <a:tc>
                  <a:txBody>
                    <a:bodyPr/>
                    <a:lstStyle/>
                    <a:p>
                      <a:r>
                        <a:rPr lang="en-US" dirty="0" smtClean="0"/>
                        <a:t>4</a:t>
                      </a:r>
                      <a:endParaRPr lang="en-US" dirty="0"/>
                    </a:p>
                  </a:txBody>
                  <a:tcPr/>
                </a:tc>
                <a:tc>
                  <a:txBody>
                    <a:bodyPr/>
                    <a:lstStyle/>
                    <a:p>
                      <a:r>
                        <a:rPr lang="en-US" dirty="0" smtClean="0"/>
                        <a:t>8</a:t>
                      </a:r>
                      <a:endParaRPr lang="en-US" dirty="0"/>
                    </a:p>
                  </a:txBody>
                  <a:tcPr/>
                </a:tc>
                <a:tc>
                  <a:txBody>
                    <a:bodyPr/>
                    <a:lstStyle/>
                    <a:p>
                      <a:r>
                        <a:rPr lang="en-US" dirty="0" smtClean="0"/>
                        <a:t>12</a:t>
                      </a:r>
                      <a:endParaRPr lang="en-US" dirty="0"/>
                    </a:p>
                  </a:txBody>
                  <a:tcPr/>
                </a:tc>
                <a:tc>
                  <a:txBody>
                    <a:bodyPr/>
                    <a:lstStyle/>
                    <a:p>
                      <a:r>
                        <a:rPr lang="en-US" dirty="0" smtClean="0"/>
                        <a:t>16</a:t>
                      </a:r>
                      <a:endParaRPr lang="en-US" dirty="0"/>
                    </a:p>
                  </a:txBody>
                  <a:tcP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527924268"/>
              </p:ext>
            </p:extLst>
          </p:nvPr>
        </p:nvGraphicFramePr>
        <p:xfrm>
          <a:off x="1447800" y="2768600"/>
          <a:ext cx="2438400" cy="2108200"/>
        </p:xfrm>
        <a:graphic>
          <a:graphicData uri="http://schemas.openxmlformats.org/drawingml/2006/table">
            <a:tbl>
              <a:tblPr firstRow="1" bandRow="1">
                <a:tableStyleId>{2D5ABB26-0587-4C30-8999-92F81FD0307C}</a:tableStyleId>
              </a:tblPr>
              <a:tblGrid>
                <a:gridCol w="609600"/>
                <a:gridCol w="609600"/>
                <a:gridCol w="609600"/>
                <a:gridCol w="609600"/>
              </a:tblGrid>
              <a:tr h="527050">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3</a:t>
                      </a:r>
                      <a:endParaRPr lang="en-US" dirty="0"/>
                    </a:p>
                  </a:txBody>
                  <a:tcPr/>
                </a:tc>
                <a:tc>
                  <a:txBody>
                    <a:bodyPr/>
                    <a:lstStyle/>
                    <a:p>
                      <a:r>
                        <a:rPr lang="en-US" dirty="0" smtClean="0"/>
                        <a:t>4</a:t>
                      </a:r>
                      <a:endParaRPr lang="en-US" dirty="0"/>
                    </a:p>
                  </a:txBody>
                  <a:tcPr/>
                </a:tc>
              </a:tr>
              <a:tr h="527050">
                <a:tc>
                  <a:txBody>
                    <a:bodyPr/>
                    <a:lstStyle/>
                    <a:p>
                      <a:r>
                        <a:rPr lang="en-US" dirty="0" smtClean="0"/>
                        <a:t>5</a:t>
                      </a:r>
                      <a:endParaRPr lang="en-US" dirty="0"/>
                    </a:p>
                  </a:txBody>
                  <a:tcPr/>
                </a:tc>
                <a:tc>
                  <a:txBody>
                    <a:bodyPr/>
                    <a:lstStyle/>
                    <a:p>
                      <a:r>
                        <a:rPr lang="en-US" dirty="0" smtClean="0"/>
                        <a:t>6</a:t>
                      </a:r>
                      <a:endParaRPr lang="en-US" dirty="0"/>
                    </a:p>
                  </a:txBody>
                  <a:tcPr/>
                </a:tc>
                <a:tc>
                  <a:txBody>
                    <a:bodyPr/>
                    <a:lstStyle/>
                    <a:p>
                      <a:r>
                        <a:rPr lang="en-US" dirty="0" smtClean="0"/>
                        <a:t>7</a:t>
                      </a:r>
                      <a:endParaRPr lang="en-US" dirty="0"/>
                    </a:p>
                  </a:txBody>
                  <a:tcPr/>
                </a:tc>
                <a:tc>
                  <a:txBody>
                    <a:bodyPr/>
                    <a:lstStyle/>
                    <a:p>
                      <a:r>
                        <a:rPr lang="en-US" dirty="0" smtClean="0"/>
                        <a:t>8</a:t>
                      </a:r>
                      <a:endParaRPr lang="en-US" dirty="0"/>
                    </a:p>
                  </a:txBody>
                  <a:tcPr/>
                </a:tc>
              </a:tr>
              <a:tr h="527050">
                <a:tc>
                  <a:txBody>
                    <a:bodyPr/>
                    <a:lstStyle/>
                    <a:p>
                      <a:r>
                        <a:rPr lang="en-US" dirty="0" smtClean="0"/>
                        <a:t>9</a:t>
                      </a:r>
                      <a:endParaRPr lang="en-US" dirty="0"/>
                    </a:p>
                  </a:txBody>
                  <a:tcPr/>
                </a:tc>
                <a:tc>
                  <a:txBody>
                    <a:bodyPr/>
                    <a:lstStyle/>
                    <a:p>
                      <a:r>
                        <a:rPr lang="en-US" dirty="0" smtClean="0"/>
                        <a:t>10</a:t>
                      </a:r>
                      <a:endParaRPr lang="en-US" dirty="0"/>
                    </a:p>
                  </a:txBody>
                  <a:tcPr/>
                </a:tc>
                <a:tc>
                  <a:txBody>
                    <a:bodyPr/>
                    <a:lstStyle/>
                    <a:p>
                      <a:r>
                        <a:rPr lang="en-US" dirty="0" smtClean="0"/>
                        <a:t>11</a:t>
                      </a:r>
                      <a:endParaRPr lang="en-US" dirty="0"/>
                    </a:p>
                  </a:txBody>
                  <a:tcPr/>
                </a:tc>
                <a:tc>
                  <a:txBody>
                    <a:bodyPr/>
                    <a:lstStyle/>
                    <a:p>
                      <a:r>
                        <a:rPr lang="en-US" dirty="0" smtClean="0"/>
                        <a:t>12</a:t>
                      </a:r>
                      <a:endParaRPr lang="en-US" dirty="0"/>
                    </a:p>
                  </a:txBody>
                  <a:tcPr/>
                </a:tc>
              </a:tr>
              <a:tr h="527050">
                <a:tc>
                  <a:txBody>
                    <a:bodyPr/>
                    <a:lstStyle/>
                    <a:p>
                      <a:r>
                        <a:rPr lang="en-US" dirty="0" smtClean="0"/>
                        <a:t>13</a:t>
                      </a:r>
                      <a:endParaRPr lang="en-US" dirty="0"/>
                    </a:p>
                  </a:txBody>
                  <a:tcPr/>
                </a:tc>
                <a:tc>
                  <a:txBody>
                    <a:bodyPr/>
                    <a:lstStyle/>
                    <a:p>
                      <a:r>
                        <a:rPr lang="en-US" dirty="0" smtClean="0"/>
                        <a:t>14</a:t>
                      </a:r>
                      <a:endParaRPr lang="en-US" dirty="0"/>
                    </a:p>
                  </a:txBody>
                  <a:tcPr/>
                </a:tc>
                <a:tc>
                  <a:txBody>
                    <a:bodyPr/>
                    <a:lstStyle/>
                    <a:p>
                      <a:r>
                        <a:rPr lang="en-US" dirty="0" smtClean="0"/>
                        <a:t>15</a:t>
                      </a:r>
                      <a:endParaRPr lang="en-US" dirty="0"/>
                    </a:p>
                  </a:txBody>
                  <a:tcPr/>
                </a:tc>
                <a:tc>
                  <a:txBody>
                    <a:bodyPr/>
                    <a:lstStyle/>
                    <a:p>
                      <a:r>
                        <a:rPr lang="en-US" dirty="0" smtClean="0"/>
                        <a:t>16</a:t>
                      </a:r>
                      <a:endParaRPr lang="en-US" dirty="0"/>
                    </a:p>
                  </a:txBody>
                  <a:tcPr/>
                </a:tc>
              </a:tr>
            </a:tbl>
          </a:graphicData>
        </a:graphic>
      </p:graphicFrame>
      <p:sp>
        <p:nvSpPr>
          <p:cNvPr id="2" name="Title 1"/>
          <p:cNvSpPr txBox="1">
            <a:spLocks noGrp="1"/>
          </p:cNvSpPr>
          <p:nvPr>
            <p:ph type="title"/>
          </p:nvPr>
        </p:nvSpPr>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smtClean="0"/>
              <a:t>Part (b) Efficient Matrix Transpose</a:t>
            </a:r>
            <a:endParaRPr lang="en-US" dirty="0"/>
          </a:p>
        </p:txBody>
      </p:sp>
      <p:sp>
        <p:nvSpPr>
          <p:cNvPr id="4" name="Content Placeholder 3"/>
          <p:cNvSpPr>
            <a:spLocks noGrp="1"/>
          </p:cNvSpPr>
          <p:nvPr>
            <p:ph idx="1"/>
          </p:nvPr>
        </p:nvSpPr>
        <p:spPr/>
        <p:txBody>
          <a:bodyPr/>
          <a:lstStyle/>
          <a:p>
            <a:r>
              <a:rPr lang="en-US" dirty="0">
                <a:latin typeface="Helvetica" pitchFamily="34" charset="0"/>
                <a:cs typeface="Helvetica" pitchFamily="34" charset="0"/>
              </a:rPr>
              <a:t>Matrix Transpose  (A  -&gt;  B)</a:t>
            </a:r>
          </a:p>
          <a:p>
            <a:pPr marL="0" indent="0">
              <a:buNone/>
            </a:pPr>
            <a:r>
              <a:rPr lang="en-US" dirty="0">
                <a:latin typeface="Helvetica" pitchFamily="34" charset="0"/>
                <a:cs typeface="Helvetica" pitchFamily="34" charset="0"/>
              </a:rPr>
              <a:t>	</a:t>
            </a:r>
            <a:r>
              <a:rPr lang="en-US" dirty="0" smtClean="0">
                <a:latin typeface="Helvetica" pitchFamily="34" charset="0"/>
                <a:cs typeface="Helvetica" pitchFamily="34" charset="0"/>
              </a:rPr>
              <a:t>Matrix </a:t>
            </a:r>
            <a:r>
              <a:rPr lang="en-US" dirty="0">
                <a:latin typeface="Helvetica" pitchFamily="34" charset="0"/>
                <a:cs typeface="Helvetica" pitchFamily="34" charset="0"/>
              </a:rPr>
              <a:t>A 				</a:t>
            </a:r>
            <a:r>
              <a:rPr lang="en-US" dirty="0" smtClean="0">
                <a:latin typeface="Helvetica" pitchFamily="34" charset="0"/>
                <a:cs typeface="Helvetica" pitchFamily="34" charset="0"/>
              </a:rPr>
              <a:t>Matrix </a:t>
            </a:r>
            <a:r>
              <a:rPr lang="en-US" dirty="0">
                <a:latin typeface="Helvetica" pitchFamily="34" charset="0"/>
                <a:cs typeface="Helvetica" pitchFamily="34" charset="0"/>
              </a:rPr>
              <a:t>B</a:t>
            </a:r>
          </a:p>
          <a:p>
            <a:endParaRPr lang="en-US" dirty="0">
              <a:latin typeface="Helvetica" pitchFamily="34" charset="0"/>
              <a:cs typeface="Helvetica" pitchFamily="34" charset="0"/>
            </a:endParaRPr>
          </a:p>
          <a:p>
            <a:endParaRPr lang="en-US" dirty="0">
              <a:latin typeface="Helvetica" pitchFamily="34" charset="0"/>
              <a:cs typeface="Helvetica" pitchFamily="34" charset="0"/>
            </a:endParaRPr>
          </a:p>
          <a:p>
            <a:endParaRPr lang="en-US" dirty="0">
              <a:latin typeface="Helvetica" pitchFamily="34" charset="0"/>
              <a:cs typeface="Helvetica" pitchFamily="34" charset="0"/>
            </a:endParaRPr>
          </a:p>
          <a:p>
            <a:endParaRPr lang="en-US" dirty="0">
              <a:latin typeface="Helvetica" pitchFamily="34" charset="0"/>
              <a:cs typeface="Helvetica" pitchFamily="34" charset="0"/>
            </a:endParaRPr>
          </a:p>
          <a:p>
            <a:endParaRPr lang="en-US" dirty="0">
              <a:latin typeface="Helvetica" pitchFamily="34" charset="0"/>
              <a:cs typeface="Helvetica" pitchFamily="34" charset="0"/>
            </a:endParaRPr>
          </a:p>
          <a:p>
            <a:endParaRPr lang="en-US" dirty="0">
              <a:latin typeface="Helvetica" pitchFamily="34" charset="0"/>
              <a:cs typeface="Helvetica" pitchFamily="34" charset="0"/>
            </a:endParaRPr>
          </a:p>
          <a:p>
            <a:r>
              <a:rPr lang="en-US" dirty="0" smtClean="0">
                <a:latin typeface="Helvetica" pitchFamily="34" charset="0"/>
                <a:cs typeface="Helvetica" pitchFamily="34" charset="0"/>
              </a:rPr>
              <a:t>How </a:t>
            </a:r>
            <a:r>
              <a:rPr lang="en-US" dirty="0">
                <a:latin typeface="Helvetica" pitchFamily="34" charset="0"/>
                <a:cs typeface="Helvetica" pitchFamily="34" charset="0"/>
              </a:rPr>
              <a:t>do we optimize this operation using the cache?</a:t>
            </a:r>
          </a:p>
          <a:p>
            <a:endParaRPr lang="en-US" dirty="0"/>
          </a:p>
        </p:txBody>
      </p:sp>
      <p:sp>
        <p:nvSpPr>
          <p:cNvPr id="10" name="Rounded Rectangle 9"/>
          <p:cNvSpPr/>
          <p:nvPr/>
        </p:nvSpPr>
        <p:spPr>
          <a:xfrm>
            <a:off x="5797620" y="2667000"/>
            <a:ext cx="457200" cy="9906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a:off x="4191000" y="3429000"/>
            <a:ext cx="1524000" cy="762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rot="16200000">
            <a:off x="1666770" y="2499599"/>
            <a:ext cx="457200" cy="9906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8976986"/>
      </p:ext>
    </p:extLst>
  </p:cSld>
  <p:clrMapOvr>
    <a:masterClrMapping/>
  </p:clrMapOvr>
  <mc:AlternateContent xmlns:mc="http://schemas.openxmlformats.org/markup-compatibility/2006" xmlns:p14="http://schemas.microsoft.com/office/powerpoint/2010/main">
    <mc:Choice Requires="p14">
      <p:transition spd="slow" p14:dur="2000"/>
    </mc:Choice>
    <mc:Fallback xmlns="" xmlns:mv="urn:schemas-microsoft-com:mac:vml">
      <p:transitio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 (b) : Efficient Matrix Transpose</a:t>
            </a:r>
            <a:endParaRPr lang="en-US" dirty="0"/>
          </a:p>
        </p:txBody>
      </p:sp>
      <p:pic>
        <p:nvPicPr>
          <p:cNvPr id="4" name="Content Placeholder 3" descr="Screen Shot 2013-10-05 at 7.10.09 PM.png"/>
          <p:cNvPicPr>
            <a:picLocks noGrp="1" noChangeAspect="1"/>
          </p:cNvPicPr>
          <p:nvPr>
            <p:ph idx="1"/>
          </p:nvPr>
        </p:nvPicPr>
        <p:blipFill>
          <a:blip r:embed="rId2"/>
          <a:stretch>
            <a:fillRect/>
          </a:stretch>
        </p:blipFill>
        <p:spPr>
          <a:xfrm>
            <a:off x="1622524" y="1905065"/>
            <a:ext cx="5446159" cy="2005311"/>
          </a:xfrm>
        </p:spPr>
      </p:pic>
      <p:sp>
        <p:nvSpPr>
          <p:cNvPr id="5" name="Content Placeholder 2"/>
          <p:cNvSpPr txBox="1">
            <a:spLocks/>
          </p:cNvSpPr>
          <p:nvPr/>
        </p:nvSpPr>
        <p:spPr bwMode="auto">
          <a:xfrm>
            <a:off x="396875" y="1362075"/>
            <a:ext cx="7896225" cy="4972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
                <a:srgbClr val="990000"/>
              </a:buClr>
              <a:buSzPct val="60000"/>
              <a:buFont typeface="Wingdings 2" pitchFamily="18" charset="2"/>
              <a:buChar char="¢"/>
              <a:tabLst/>
              <a:defRPr/>
            </a:pPr>
            <a:r>
              <a:rPr kumimoji="0" lang="en-US" sz="2400" b="1" i="0" u="none" strike="noStrike" kern="0" cap="none" spc="0" normalizeH="0" baseline="0" noProof="0" dirty="0" smtClean="0">
                <a:ln>
                  <a:noFill/>
                </a:ln>
                <a:solidFill>
                  <a:schemeClr val="tx1"/>
                </a:solidFill>
                <a:effectLst/>
                <a:uLnTx/>
                <a:uFillTx/>
                <a:latin typeface="Calibri" pitchFamily="34" charset="0"/>
                <a:ea typeface="+mn-ea"/>
                <a:cs typeface="+mn-cs"/>
              </a:rPr>
              <a:t>Suppose</a:t>
            </a:r>
            <a:r>
              <a:rPr kumimoji="0" lang="en-US" sz="2400" b="1" i="0" u="none" strike="noStrike" kern="0" cap="none" spc="0" normalizeH="0" noProof="0" dirty="0" smtClean="0">
                <a:ln>
                  <a:noFill/>
                </a:ln>
                <a:solidFill>
                  <a:schemeClr val="tx1"/>
                </a:solidFill>
                <a:effectLst/>
                <a:uLnTx/>
                <a:uFillTx/>
                <a:latin typeface="Calibri" pitchFamily="34" charset="0"/>
                <a:ea typeface="+mn-ea"/>
                <a:cs typeface="+mn-cs"/>
              </a:rPr>
              <a:t> Block size is 8 bytes ?</a:t>
            </a:r>
            <a:endParaRPr lang="en-US" sz="2400" b="1" kern="0" dirty="0" smtClean="0">
              <a:latin typeface="Calibri" pitchFamily="34" charset="0"/>
            </a:endParaRPr>
          </a:p>
          <a:p>
            <a:pPr marL="342900" marR="0" lvl="0" indent="-342900" algn="l" defTabSz="914400" rtl="0" eaLnBrk="0" fontAlgn="base" latinLnBrk="0" hangingPunct="0">
              <a:lnSpc>
                <a:spcPct val="100000"/>
              </a:lnSpc>
              <a:spcBef>
                <a:spcPct val="20000"/>
              </a:spcBef>
              <a:spcAft>
                <a:spcPct val="0"/>
              </a:spcAft>
              <a:buClr>
                <a:srgbClr val="990000"/>
              </a:buClr>
              <a:buSzPct val="60000"/>
              <a:buFont typeface="Wingdings 2" pitchFamily="18" charset="2"/>
              <a:buChar char="¢"/>
              <a:tabLst/>
              <a:defRPr/>
            </a:pPr>
            <a:endParaRPr kumimoji="0" lang="en-US" sz="2400" b="1" i="0" u="none" strike="noStrike" kern="0" cap="none" spc="0" normalizeH="0" baseline="0" noProof="0" dirty="0" smtClean="0">
              <a:ln>
                <a:noFill/>
              </a:ln>
              <a:solidFill>
                <a:schemeClr val="tx1"/>
              </a:solidFill>
              <a:effectLst/>
              <a:uLnTx/>
              <a:uFillTx/>
              <a:latin typeface="Calibri" pitchFamily="34" charset="0"/>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990000"/>
              </a:buClr>
              <a:buSzPct val="60000"/>
              <a:buFont typeface="Wingdings 2" pitchFamily="18" charset="2"/>
              <a:buChar char="¢"/>
              <a:tabLst/>
              <a:defRPr/>
            </a:pPr>
            <a:endParaRPr lang="en-US" sz="2400" b="1" kern="0" dirty="0" smtClean="0">
              <a:latin typeface="Calibri" pitchFamily="34" charset="0"/>
            </a:endParaRPr>
          </a:p>
          <a:p>
            <a:pPr marL="342900" marR="0" lvl="0" indent="-342900" algn="l" defTabSz="914400" rtl="0" eaLnBrk="0" fontAlgn="base" latinLnBrk="0" hangingPunct="0">
              <a:lnSpc>
                <a:spcPct val="100000"/>
              </a:lnSpc>
              <a:spcBef>
                <a:spcPct val="20000"/>
              </a:spcBef>
              <a:spcAft>
                <a:spcPct val="0"/>
              </a:spcAft>
              <a:buClr>
                <a:srgbClr val="990000"/>
              </a:buClr>
              <a:buSzPct val="60000"/>
              <a:buFont typeface="Wingdings 2" pitchFamily="18" charset="2"/>
              <a:buChar char="¢"/>
              <a:tabLst/>
              <a:defRPr/>
            </a:pPr>
            <a:endParaRPr kumimoji="0" lang="en-US" sz="2400" b="1" i="0" u="none" strike="noStrike" kern="0" cap="none" spc="0" normalizeH="0" baseline="0" noProof="0" dirty="0" smtClean="0">
              <a:ln>
                <a:noFill/>
              </a:ln>
              <a:solidFill>
                <a:schemeClr val="tx1"/>
              </a:solidFill>
              <a:effectLst/>
              <a:uLnTx/>
              <a:uFillTx/>
              <a:latin typeface="Calibri" pitchFamily="34" charset="0"/>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990000"/>
              </a:buClr>
              <a:buSzPct val="60000"/>
              <a:buFont typeface="Wingdings 2" pitchFamily="18" charset="2"/>
              <a:buChar char="¢"/>
              <a:tabLst/>
              <a:defRPr/>
            </a:pPr>
            <a:endParaRPr lang="en-US" sz="2400" b="1" kern="0" dirty="0" smtClean="0">
              <a:latin typeface="Calibri" pitchFamily="34" charset="0"/>
            </a:endParaRPr>
          </a:p>
          <a:p>
            <a:pPr marL="342900" marR="0" lvl="0" indent="-342900" algn="l" defTabSz="914400" rtl="0" eaLnBrk="0" fontAlgn="base" latinLnBrk="0" hangingPunct="0">
              <a:lnSpc>
                <a:spcPct val="100000"/>
              </a:lnSpc>
              <a:spcBef>
                <a:spcPct val="20000"/>
              </a:spcBef>
              <a:spcAft>
                <a:spcPct val="0"/>
              </a:spcAft>
              <a:buClr>
                <a:srgbClr val="990000"/>
              </a:buClr>
              <a:buSzPct val="60000"/>
              <a:buFont typeface="Wingdings 2" pitchFamily="18" charset="2"/>
              <a:buChar char="¢"/>
              <a:tabLst/>
              <a:defRPr/>
            </a:pPr>
            <a:endParaRPr kumimoji="0" lang="en-US" sz="2400" b="1" i="0" u="none" strike="noStrike" kern="0" cap="none" spc="0" normalizeH="0" baseline="0" noProof="0" dirty="0" smtClean="0">
              <a:ln>
                <a:noFill/>
              </a:ln>
              <a:solidFill>
                <a:schemeClr val="tx1"/>
              </a:solidFill>
              <a:effectLst/>
              <a:uLnTx/>
              <a:uFillTx/>
              <a:latin typeface="Calibri" pitchFamily="34" charset="0"/>
              <a:ea typeface="+mn-ea"/>
              <a:cs typeface="+mn-cs"/>
            </a:endParaRPr>
          </a:p>
          <a:p>
            <a:pPr marL="342900" lvl="0" indent="-342900" defTabSz="914400" eaLnBrk="0" fontAlgn="base" hangingPunct="0">
              <a:spcBef>
                <a:spcPct val="20000"/>
              </a:spcBef>
              <a:spcAft>
                <a:spcPct val="0"/>
              </a:spcAft>
              <a:buClr>
                <a:srgbClr val="990000"/>
              </a:buClr>
              <a:buSzPct val="60000"/>
              <a:buFont typeface="Wingdings 2" pitchFamily="18" charset="2"/>
              <a:buChar char="¢"/>
            </a:pPr>
            <a:r>
              <a:rPr lang="en-US" sz="2400" b="1" kern="0" dirty="0" smtClean="0">
                <a:latin typeface="Calibri" pitchFamily="34" charset="0"/>
              </a:rPr>
              <a:t>Access A[0][0] cache miss		 Should we handle 3 &amp; 4  </a:t>
            </a:r>
          </a:p>
          <a:p>
            <a:pPr marL="342900" lvl="0" indent="-342900" defTabSz="914400" eaLnBrk="0" fontAlgn="base" hangingPunct="0">
              <a:spcBef>
                <a:spcPct val="20000"/>
              </a:spcBef>
              <a:spcAft>
                <a:spcPct val="0"/>
              </a:spcAft>
              <a:buClr>
                <a:srgbClr val="990000"/>
              </a:buClr>
              <a:buSzPct val="60000"/>
              <a:buFont typeface="Wingdings 2" pitchFamily="18" charset="2"/>
              <a:buChar char="¢"/>
            </a:pPr>
            <a:r>
              <a:rPr lang="en-US" sz="2400" b="1" kern="0" dirty="0" smtClean="0">
                <a:latin typeface="Calibri" pitchFamily="34" charset="0"/>
              </a:rPr>
              <a:t>Access B[0][0] cache miss		 next or 5 &amp; 6 ?</a:t>
            </a:r>
          </a:p>
          <a:p>
            <a:pPr marL="342900" lvl="0" indent="-342900" defTabSz="914400" eaLnBrk="0" fontAlgn="base" hangingPunct="0">
              <a:spcBef>
                <a:spcPct val="20000"/>
              </a:spcBef>
              <a:spcAft>
                <a:spcPct val="0"/>
              </a:spcAft>
              <a:buClr>
                <a:srgbClr val="990000"/>
              </a:buClr>
              <a:buSzPct val="60000"/>
              <a:buFont typeface="Wingdings 2" pitchFamily="18" charset="2"/>
              <a:buChar char="¢"/>
            </a:pPr>
            <a:r>
              <a:rPr lang="en-US" sz="2400" b="1" kern="0" dirty="0" smtClean="0">
                <a:latin typeface="Calibri" pitchFamily="34" charset="0"/>
              </a:rPr>
              <a:t>Access A[0][1] cache hit</a:t>
            </a:r>
          </a:p>
          <a:p>
            <a:pPr marL="342900" lvl="0" indent="-342900" defTabSz="914400" eaLnBrk="0" fontAlgn="base" hangingPunct="0">
              <a:spcBef>
                <a:spcPct val="20000"/>
              </a:spcBef>
              <a:spcAft>
                <a:spcPct val="0"/>
              </a:spcAft>
              <a:buClr>
                <a:srgbClr val="990000"/>
              </a:buClr>
              <a:buSzPct val="60000"/>
              <a:buFont typeface="Wingdings 2" pitchFamily="18" charset="2"/>
              <a:buChar char="¢"/>
            </a:pPr>
            <a:r>
              <a:rPr lang="en-US" sz="2400" b="1" kern="0" dirty="0" smtClean="0">
                <a:latin typeface="Calibri" pitchFamily="34" charset="0"/>
              </a:rPr>
              <a:t>Access B[1][0] cache miss</a:t>
            </a:r>
            <a:endParaRPr kumimoji="0" lang="en-US" sz="2400" b="1" i="0" u="none" strike="noStrike" kern="0" cap="none" spc="0" normalizeH="0" baseline="0" noProof="0" dirty="0" smtClean="0">
              <a:ln>
                <a:noFill/>
              </a:ln>
              <a:solidFill>
                <a:schemeClr val="tx1"/>
              </a:solidFill>
              <a:effectLst/>
              <a:uLnTx/>
              <a:uFillTx/>
              <a:latin typeface="Calibri" pitchFamily="34" charset="0"/>
              <a:ea typeface="+mn-ea"/>
              <a:cs typeface="+mn-cs"/>
            </a:endParaRPr>
          </a:p>
        </p:txBody>
      </p:sp>
    </p:spTree>
    <p:extLst>
      <p:ext uri="{BB962C8B-B14F-4D97-AF65-F5344CB8AC3E}">
        <p14:creationId xmlns:p14="http://schemas.microsoft.com/office/powerpoint/2010/main" val="639087963"/>
      </p:ext>
    </p:extLst>
  </p:cSld>
  <p:clrMapOvr>
    <a:masterClrMapping/>
  </p:clrMapOvr>
  <p:timing>
    <p:tnLst>
      <p:par>
        <p:cTn xmlns:p14="http://schemas.microsoft.com/office/powerpoint/2010/mai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 (b) : Blocking</a:t>
            </a:r>
            <a:r>
              <a:rPr lang="en-US" dirty="0" smtClean="0"/>
              <a:t>	</a:t>
            </a:r>
          </a:p>
        </p:txBody>
      </p:sp>
      <p:sp>
        <p:nvSpPr>
          <p:cNvPr id="3" name="Content Placeholder 2"/>
          <p:cNvSpPr>
            <a:spLocks noGrp="1"/>
          </p:cNvSpPr>
          <p:nvPr>
            <p:ph idx="1"/>
          </p:nvPr>
        </p:nvSpPr>
        <p:spPr/>
        <p:txBody>
          <a:bodyPr/>
          <a:lstStyle/>
          <a:p>
            <a:r>
              <a:rPr lang="en-US" sz="2700" dirty="0"/>
              <a:t>B</a:t>
            </a:r>
            <a:r>
              <a:rPr lang="en-US" sz="2700" dirty="0" smtClean="0"/>
              <a:t>locking: divide matrix into sub-matrices. </a:t>
            </a:r>
          </a:p>
          <a:p>
            <a:endParaRPr lang="en-US" sz="2700" dirty="0" smtClean="0"/>
          </a:p>
          <a:p>
            <a:r>
              <a:rPr lang="en-US" sz="2700" dirty="0" smtClean="0"/>
              <a:t> Size of sub-matrix depends on cache block size, cache size, input matrix size.	</a:t>
            </a:r>
          </a:p>
          <a:p>
            <a:endParaRPr lang="en-US" sz="2700" dirty="0" smtClean="0"/>
          </a:p>
          <a:p>
            <a:r>
              <a:rPr lang="en-US" sz="2700" dirty="0" smtClean="0"/>
              <a:t> Try	 diﬀerent sub-matrix sizes.</a:t>
            </a:r>
            <a:r>
              <a:rPr lang="en-US" sz="3200" dirty="0" smtClean="0"/>
              <a:t>	</a:t>
            </a:r>
          </a:p>
        </p:txBody>
      </p:sp>
    </p:spTree>
    <p:extLst>
      <p:ext uri="{BB962C8B-B14F-4D97-AF65-F5344CB8AC3E}">
        <p14:creationId xmlns:p14="http://schemas.microsoft.com/office/powerpoint/2010/main" val="2772409930"/>
      </p:ext>
    </p:extLst>
  </p:cSld>
  <p:clrMapOvr>
    <a:masterClrMapping/>
  </p:clrMapOvr>
  <p:timing>
    <p:tnLst>
      <p:par>
        <p:cTn xmlns:p14="http://schemas.microsoft.com/office/powerpoint/2010/mai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357018" y="493512"/>
            <a:ext cx="7592093" cy="646331"/>
          </a:xfrm>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smtClean="0"/>
              <a:t>Part (b) : Specs</a:t>
            </a:r>
            <a:endParaRPr lang="en-US" dirty="0"/>
          </a:p>
        </p:txBody>
      </p:sp>
      <p:sp>
        <p:nvSpPr>
          <p:cNvPr id="4" name="Content Placeholder 3"/>
          <p:cNvSpPr>
            <a:spLocks noGrp="1"/>
          </p:cNvSpPr>
          <p:nvPr>
            <p:ph idx="1"/>
          </p:nvPr>
        </p:nvSpPr>
        <p:spPr/>
        <p:txBody>
          <a:bodyPr/>
          <a:lstStyle/>
          <a:p>
            <a:r>
              <a:rPr lang="en-US" dirty="0">
                <a:latin typeface="Helvetica" pitchFamily="34" charset="0"/>
                <a:cs typeface="Helvetica" pitchFamily="34" charset="0"/>
              </a:rPr>
              <a:t>Cache:</a:t>
            </a:r>
          </a:p>
          <a:p>
            <a:pPr lvl="1"/>
            <a:r>
              <a:rPr lang="en-US" dirty="0">
                <a:latin typeface="Helvetica" pitchFamily="34" charset="0"/>
                <a:cs typeface="Helvetica" pitchFamily="34" charset="0"/>
              </a:rPr>
              <a:t>You get 1 kilobytes of cache</a:t>
            </a:r>
          </a:p>
          <a:p>
            <a:pPr lvl="1"/>
            <a:r>
              <a:rPr lang="en-US" dirty="0">
                <a:latin typeface="Helvetica" pitchFamily="34" charset="0"/>
                <a:cs typeface="Helvetica" pitchFamily="34" charset="0"/>
              </a:rPr>
              <a:t>Directly mapped (E=1)</a:t>
            </a:r>
          </a:p>
          <a:p>
            <a:pPr lvl="1"/>
            <a:r>
              <a:rPr lang="en-US" dirty="0">
                <a:latin typeface="Helvetica" pitchFamily="34" charset="0"/>
                <a:cs typeface="Helvetica" pitchFamily="34" charset="0"/>
              </a:rPr>
              <a:t>Block size is 32 bytes (b=5)</a:t>
            </a:r>
          </a:p>
          <a:p>
            <a:pPr lvl="1"/>
            <a:r>
              <a:rPr lang="en-US" dirty="0">
                <a:latin typeface="Helvetica" pitchFamily="34" charset="0"/>
                <a:cs typeface="Helvetica" pitchFamily="34" charset="0"/>
              </a:rPr>
              <a:t>There are 32 sets (s=5)</a:t>
            </a:r>
          </a:p>
          <a:p>
            <a:r>
              <a:rPr lang="en-US" dirty="0">
                <a:latin typeface="Helvetica" pitchFamily="34" charset="0"/>
                <a:cs typeface="Helvetica" pitchFamily="34" charset="0"/>
              </a:rPr>
              <a:t>Test Matrices:</a:t>
            </a:r>
          </a:p>
          <a:p>
            <a:pPr lvl="1"/>
            <a:r>
              <a:rPr lang="en-US" dirty="0">
                <a:latin typeface="Helvetica" pitchFamily="34" charset="0"/>
                <a:cs typeface="Helvetica" pitchFamily="34" charset="0"/>
              </a:rPr>
              <a:t>32 by </a:t>
            </a:r>
            <a:r>
              <a:rPr lang="en-US" dirty="0" smtClean="0">
                <a:latin typeface="Helvetica" pitchFamily="34" charset="0"/>
                <a:cs typeface="Helvetica" pitchFamily="34" charset="0"/>
              </a:rPr>
              <a:t>32</a:t>
            </a:r>
          </a:p>
          <a:p>
            <a:pPr lvl="1"/>
            <a:r>
              <a:rPr lang="en-US" dirty="0" smtClean="0">
                <a:latin typeface="Helvetica" pitchFamily="34" charset="0"/>
                <a:cs typeface="Helvetica" pitchFamily="34" charset="0"/>
              </a:rPr>
              <a:t>64 </a:t>
            </a:r>
            <a:r>
              <a:rPr lang="en-US" dirty="0">
                <a:latin typeface="Helvetica" pitchFamily="34" charset="0"/>
                <a:cs typeface="Helvetica" pitchFamily="34" charset="0"/>
              </a:rPr>
              <a:t>by </a:t>
            </a:r>
            <a:r>
              <a:rPr lang="en-US" dirty="0" smtClean="0">
                <a:latin typeface="Helvetica" pitchFamily="34" charset="0"/>
                <a:cs typeface="Helvetica" pitchFamily="34" charset="0"/>
              </a:rPr>
              <a:t>64</a:t>
            </a:r>
          </a:p>
          <a:p>
            <a:pPr lvl="1"/>
            <a:r>
              <a:rPr lang="en-US" dirty="0" smtClean="0">
                <a:latin typeface="Helvetica" pitchFamily="34" charset="0"/>
                <a:cs typeface="Helvetica" pitchFamily="34" charset="0"/>
              </a:rPr>
              <a:t>61 </a:t>
            </a:r>
            <a:r>
              <a:rPr lang="en-US" dirty="0">
                <a:latin typeface="Helvetica" pitchFamily="34" charset="0"/>
                <a:cs typeface="Helvetica" pitchFamily="34" charset="0"/>
              </a:rPr>
              <a:t>by 67</a:t>
            </a:r>
          </a:p>
          <a:p>
            <a:endParaRPr lang="en-US" dirty="0"/>
          </a:p>
        </p:txBody>
      </p:sp>
    </p:spTree>
    <p:extLst>
      <p:ext uri="{BB962C8B-B14F-4D97-AF65-F5344CB8AC3E}">
        <p14:creationId xmlns:p14="http://schemas.microsoft.com/office/powerpoint/2010/main" val="3061500179"/>
      </p:ext>
    </p:extLst>
  </p:cSld>
  <p:clrMapOvr>
    <a:masterClrMapping/>
  </p:clrMapOvr>
  <mc:AlternateContent xmlns:mc="http://schemas.openxmlformats.org/markup-compatibility/2006" xmlns:p14="http://schemas.microsoft.com/office/powerpoint/2010/main">
    <mc:Choice Requires="p14">
      <p:transition spd="slow" p14:dur="2000"/>
    </mc:Choice>
    <mc:Fallback xmlns="" xmlns:mv="urn:schemas-microsoft-com:mac:vml">
      <p:transition spd="slow"/>
    </mc:Fallback>
  </mc:AlternateContent>
  <p:timing>
    <p:tnLst>
      <p:par>
        <p:cTn xmlns:p14="http://schemas.microsoft.com/office/powerpoint/2010/mai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smtClean="0"/>
              <a:t>Part (b)</a:t>
            </a:r>
            <a:endParaRPr lang="en-US" dirty="0"/>
          </a:p>
        </p:txBody>
      </p:sp>
      <p:sp>
        <p:nvSpPr>
          <p:cNvPr id="4" name="Content Placeholder 3"/>
          <p:cNvSpPr>
            <a:spLocks noGrp="1"/>
          </p:cNvSpPr>
          <p:nvPr>
            <p:ph idx="1"/>
          </p:nvPr>
        </p:nvSpPr>
        <p:spPr/>
        <p:txBody>
          <a:bodyPr/>
          <a:lstStyle/>
          <a:p>
            <a:r>
              <a:rPr lang="en-US" dirty="0">
                <a:latin typeface="Helvetica" pitchFamily="34" charset="0"/>
                <a:cs typeface="Helvetica" pitchFamily="34" charset="0"/>
              </a:rPr>
              <a:t>Things you’ll need to know:</a:t>
            </a:r>
          </a:p>
          <a:p>
            <a:pPr lvl="1"/>
            <a:r>
              <a:rPr lang="en-US" dirty="0">
                <a:latin typeface="Helvetica" pitchFamily="34" charset="0"/>
                <a:cs typeface="Helvetica" pitchFamily="34" charset="0"/>
              </a:rPr>
              <a:t>Warnings are errors</a:t>
            </a:r>
          </a:p>
          <a:p>
            <a:pPr lvl="1"/>
            <a:r>
              <a:rPr lang="en-US" dirty="0">
                <a:latin typeface="Helvetica" pitchFamily="34" charset="0"/>
                <a:cs typeface="Helvetica" pitchFamily="34" charset="0"/>
              </a:rPr>
              <a:t>Header files</a:t>
            </a:r>
          </a:p>
          <a:p>
            <a:pPr lvl="1"/>
            <a:r>
              <a:rPr lang="en-US" dirty="0" smtClean="0">
                <a:latin typeface="Helvetica" pitchFamily="34" charset="0"/>
                <a:cs typeface="Helvetica" pitchFamily="34" charset="0"/>
              </a:rPr>
              <a:t>Eviction policies in the cache</a:t>
            </a:r>
            <a:endParaRPr lang="en-US" dirty="0">
              <a:latin typeface="Helvetica" pitchFamily="34" charset="0"/>
              <a:cs typeface="Helvetica" pitchFamily="34" charset="0"/>
            </a:endParaRPr>
          </a:p>
        </p:txBody>
      </p:sp>
    </p:spTree>
    <p:extLst>
      <p:ext uri="{BB962C8B-B14F-4D97-AF65-F5344CB8AC3E}">
        <p14:creationId xmlns:p14="http://schemas.microsoft.com/office/powerpoint/2010/main" val="2662158746"/>
      </p:ext>
    </p:extLst>
  </p:cSld>
  <p:clrMapOvr>
    <a:masterClrMapping/>
  </p:clrMapOvr>
  <mc:AlternateContent xmlns:mc="http://schemas.openxmlformats.org/markup-compatibility/2006" xmlns:p14="http://schemas.microsoft.com/office/powerpoint/2010/main">
    <mc:Choice Requires="p14">
      <p:transition spd="slow" p14:dur="2000"/>
    </mc:Choice>
    <mc:Fallback xmlns="" xmlns:mv="urn:schemas-microsoft-com:mac:vml">
      <p:transition spd="slow"/>
    </mc:Fallback>
  </mc:AlternateContent>
  <p:timing>
    <p:tnLst>
      <p:par>
        <p:cTn xmlns:p14="http://schemas.microsoft.com/office/powerpoint/2010/mai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smtClean="0"/>
              <a:t>Warnings are Errors</a:t>
            </a:r>
            <a:endParaRPr lang="en-US" dirty="0"/>
          </a:p>
        </p:txBody>
      </p:sp>
      <p:sp>
        <p:nvSpPr>
          <p:cNvPr id="4" name="Content Placeholder 3"/>
          <p:cNvSpPr>
            <a:spLocks noGrp="1"/>
          </p:cNvSpPr>
          <p:nvPr>
            <p:ph idx="1"/>
          </p:nvPr>
        </p:nvSpPr>
        <p:spPr/>
        <p:txBody>
          <a:bodyPr/>
          <a:lstStyle/>
          <a:p>
            <a:r>
              <a:rPr lang="en-US" dirty="0"/>
              <a:t>Strict compilation flags</a:t>
            </a:r>
          </a:p>
          <a:p>
            <a:endParaRPr lang="en-US" dirty="0"/>
          </a:p>
          <a:p>
            <a:r>
              <a:rPr lang="en-US" dirty="0"/>
              <a:t>Reasons:</a:t>
            </a:r>
          </a:p>
          <a:p>
            <a:pPr lvl="1"/>
            <a:r>
              <a:rPr lang="en-US" dirty="0"/>
              <a:t>Avoid potential errors that are hard to debug</a:t>
            </a:r>
          </a:p>
          <a:p>
            <a:pPr lvl="1"/>
            <a:r>
              <a:rPr lang="en-US" dirty="0"/>
              <a:t>Learn good habits from the beginning</a:t>
            </a:r>
          </a:p>
          <a:p>
            <a:pPr lvl="1"/>
            <a:endParaRPr lang="en-US" dirty="0"/>
          </a:p>
          <a:p>
            <a:r>
              <a:rPr lang="en-US" dirty="0"/>
              <a:t>Add “-</a:t>
            </a:r>
            <a:r>
              <a:rPr lang="en-US" dirty="0" err="1"/>
              <a:t>Werror</a:t>
            </a:r>
            <a:r>
              <a:rPr lang="en-US" dirty="0"/>
              <a:t>” to your compilation flags</a:t>
            </a:r>
          </a:p>
          <a:p>
            <a:endParaRPr lang="en-US" dirty="0"/>
          </a:p>
        </p:txBody>
      </p:sp>
    </p:spTree>
    <p:extLst>
      <p:ext uri="{BB962C8B-B14F-4D97-AF65-F5344CB8AC3E}">
        <p14:creationId xmlns:p14="http://schemas.microsoft.com/office/powerpoint/2010/main" val="1555095272"/>
      </p:ext>
    </p:extLst>
  </p:cSld>
  <p:clrMapOvr>
    <a:masterClrMapping/>
  </p:clrMapOvr>
  <mc:AlternateContent xmlns:mc="http://schemas.openxmlformats.org/markup-compatibility/2006" xmlns:p14="http://schemas.microsoft.com/office/powerpoint/2010/main">
    <mc:Choice Requires="p14">
      <p:transition spd="slow" p14:dur="2000"/>
    </mc:Choice>
    <mc:Fallback xmlns="" xmlns:mv="urn:schemas-microsoft-com:mac:vml">
      <p:transition spd="slow"/>
    </mc:Fallback>
  </mc:AlternateContent>
  <p:timing>
    <p:tnLst>
      <p:par>
        <p:cTn xmlns:p14="http://schemas.microsoft.com/office/powerpoint/2010/mai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wrap="square">
            <a:spAutoFit/>
          </a:bodyPr>
          <a:lstStyle>
            <a:defPPr lvl="0">
              <a:buNone/>
            </a:defPPr>
            <a:lvl1pPr lvl="0">
              <a:buNone/>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r>
              <a:rPr lang="en-US" dirty="0" smtClean="0"/>
              <a:t>Missing Header Files</a:t>
            </a:r>
            <a:endParaRPr lang="en-US" dirty="0"/>
          </a:p>
        </p:txBody>
      </p:sp>
      <p:sp>
        <p:nvSpPr>
          <p:cNvPr id="4" name="Content Placeholder 3"/>
          <p:cNvSpPr>
            <a:spLocks noGrp="1"/>
          </p:cNvSpPr>
          <p:nvPr>
            <p:ph idx="1"/>
          </p:nvPr>
        </p:nvSpPr>
        <p:spPr/>
        <p:txBody>
          <a:bodyPr/>
          <a:lstStyle/>
          <a:p>
            <a:pPr>
              <a:spcBef>
                <a:spcPts val="0"/>
              </a:spcBef>
            </a:pPr>
            <a:r>
              <a:rPr lang="en-US" dirty="0"/>
              <a:t>Remember to include files that we will be </a:t>
            </a:r>
            <a:r>
              <a:rPr lang="en-US" dirty="0" smtClean="0"/>
              <a:t>using </a:t>
            </a:r>
            <a:r>
              <a:rPr lang="en-US" dirty="0"/>
              <a:t>functions </a:t>
            </a:r>
            <a:r>
              <a:rPr lang="en-US" dirty="0" smtClean="0"/>
              <a:t>from</a:t>
            </a:r>
          </a:p>
          <a:p>
            <a:pPr>
              <a:spcBef>
                <a:spcPts val="0"/>
              </a:spcBef>
            </a:pPr>
            <a:endParaRPr lang="en-US" dirty="0"/>
          </a:p>
          <a:p>
            <a:r>
              <a:rPr lang="en-US" dirty="0"/>
              <a:t>If function declaration is missing</a:t>
            </a:r>
          </a:p>
          <a:p>
            <a:pPr lvl="1"/>
            <a:r>
              <a:rPr lang="en-US" dirty="0"/>
              <a:t>Find corresponding header files</a:t>
            </a:r>
          </a:p>
          <a:p>
            <a:pPr lvl="1"/>
            <a:r>
              <a:rPr lang="en-US" dirty="0"/>
              <a:t>Use: man &lt;function-name&gt; </a:t>
            </a:r>
          </a:p>
          <a:p>
            <a:pPr lvl="1"/>
            <a:endParaRPr lang="en-US" dirty="0"/>
          </a:p>
          <a:p>
            <a:r>
              <a:rPr lang="en-US" dirty="0"/>
              <a:t>Live example</a:t>
            </a:r>
          </a:p>
          <a:p>
            <a:pPr lvl="1"/>
            <a:r>
              <a:rPr lang="en-US" dirty="0"/>
              <a:t>man 3 </a:t>
            </a:r>
            <a:r>
              <a:rPr lang="en-US" dirty="0" err="1"/>
              <a:t>getopt</a:t>
            </a:r>
            <a:endParaRPr lang="en-US" dirty="0"/>
          </a:p>
          <a:p>
            <a:endParaRPr lang="en-US" dirty="0"/>
          </a:p>
        </p:txBody>
      </p:sp>
    </p:spTree>
    <p:extLst>
      <p:ext uri="{BB962C8B-B14F-4D97-AF65-F5344CB8AC3E}">
        <p14:creationId xmlns:p14="http://schemas.microsoft.com/office/powerpoint/2010/main" val="2408772474"/>
      </p:ext>
    </p:extLst>
  </p:cSld>
  <p:clrMapOvr>
    <a:masterClrMapping/>
  </p:clrMapOvr>
  <mc:AlternateContent xmlns:mc="http://schemas.openxmlformats.org/markup-compatibility/2006" xmlns:p14="http://schemas.microsoft.com/office/powerpoint/2010/main">
    <mc:Choice Requires="p14">
      <p:transition spd="slow" p14:dur="2000"/>
    </mc:Choice>
    <mc:Fallback xmlns="" xmlns:mv="urn:schemas-microsoft-com:mac:vml">
      <p:transition spd="slow"/>
    </mc:Fallback>
  </mc:AlternateContent>
  <p:timing>
    <p:tnLst>
      <p:par>
        <p:cTn xmlns:p14="http://schemas.microsoft.com/office/powerpoint/2010/mai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Eviction policies of Cache</a:t>
            </a:r>
            <a:endParaRPr lang="en-US" dirty="0"/>
          </a:p>
        </p:txBody>
      </p:sp>
      <p:sp>
        <p:nvSpPr>
          <p:cNvPr id="3" name="Content Placeholder 2"/>
          <p:cNvSpPr>
            <a:spLocks noGrp="1"/>
          </p:cNvSpPr>
          <p:nvPr>
            <p:ph idx="1"/>
          </p:nvPr>
        </p:nvSpPr>
        <p:spPr/>
        <p:txBody>
          <a:bodyPr/>
          <a:lstStyle/>
          <a:p>
            <a:r>
              <a:rPr lang="en-US" dirty="0" smtClean="0"/>
              <a:t>The first row of Matrix A evicts the first row of Matrix B</a:t>
            </a:r>
            <a:endParaRPr lang="en-US" dirty="0"/>
          </a:p>
          <a:p>
            <a:pPr lvl="1"/>
            <a:r>
              <a:rPr lang="en-US" dirty="0"/>
              <a:t>Caches are memory aligned.</a:t>
            </a:r>
          </a:p>
          <a:p>
            <a:pPr lvl="1"/>
            <a:r>
              <a:rPr lang="en-US" dirty="0"/>
              <a:t>Matrix A and B are stored in memory at addresses such that both the first elements align to the same place in cache!</a:t>
            </a:r>
          </a:p>
          <a:p>
            <a:pPr lvl="1"/>
            <a:r>
              <a:rPr lang="en-US" dirty="0"/>
              <a:t>Diagonal elements evict each other.</a:t>
            </a:r>
          </a:p>
          <a:p>
            <a:endParaRPr lang="en-US" dirty="0" smtClean="0"/>
          </a:p>
          <a:p>
            <a:r>
              <a:rPr lang="en-US" dirty="0" smtClean="0"/>
              <a:t>Matrices are stored in memory in a row major order.</a:t>
            </a:r>
            <a:endParaRPr lang="en-US" dirty="0"/>
          </a:p>
          <a:p>
            <a:pPr lvl="1"/>
            <a:r>
              <a:rPr lang="en-US" dirty="0" smtClean="0"/>
              <a:t>If the entire matrix can’t fit in the cache, then after the cache is full with all the elements it can load. The next elements will evict the existing elements of the cache.</a:t>
            </a:r>
          </a:p>
          <a:p>
            <a:pPr lvl="1"/>
            <a:r>
              <a:rPr lang="en-US" dirty="0" smtClean="0"/>
              <a:t>Example:- 4x4 Matrix of integers and a 32 byte cache.</a:t>
            </a:r>
          </a:p>
          <a:p>
            <a:pPr lvl="2"/>
            <a:r>
              <a:rPr lang="en-US" dirty="0" smtClean="0"/>
              <a:t>The third row will evict the first row!</a:t>
            </a:r>
          </a:p>
        </p:txBody>
      </p:sp>
    </p:spTree>
    <p:extLst>
      <p:ext uri="{BB962C8B-B14F-4D97-AF65-F5344CB8AC3E}">
        <p14:creationId xmlns:p14="http://schemas.microsoft.com/office/powerpoint/2010/main" val="3979647907"/>
      </p:ext>
    </p:extLst>
  </p:cSld>
  <p:clrMapOvr>
    <a:masterClrMapping/>
  </p:clrMapOvr>
  <p:timing>
    <p:tnLst>
      <p:par>
        <p:cTn xmlns:p14="http://schemas.microsoft.com/office/powerpoint/2010/mai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dirty="0" smtClean="0"/>
              <a:t>Homework 2 </a:t>
            </a:r>
            <a:r>
              <a:rPr lang="mr-IN" dirty="0" smtClean="0"/>
              <a:t>–</a:t>
            </a:r>
            <a:r>
              <a:rPr lang="en-US" dirty="0" smtClean="0"/>
              <a:t> Week </a:t>
            </a:r>
            <a:r>
              <a:rPr lang="en-US" dirty="0" smtClean="0"/>
              <a:t>3</a:t>
            </a:r>
            <a:r>
              <a:rPr lang="en-US" dirty="0" smtClean="0"/>
              <a:t/>
            </a:r>
            <a:br>
              <a:rPr lang="en-US" dirty="0" smtClean="0"/>
            </a:br>
            <a:r>
              <a:rPr lang="en-US" sz="2800" dirty="0" smtClean="0"/>
              <a:t>Due by 5:45pm on Tuesday, </a:t>
            </a:r>
            <a:r>
              <a:rPr lang="en-US" sz="2800" dirty="0" smtClean="0"/>
              <a:t>January 23</a:t>
            </a:r>
            <a:r>
              <a:rPr lang="en-US" sz="2800" baseline="30000" dirty="0" smtClean="0"/>
              <a:t>rd</a:t>
            </a:r>
            <a:r>
              <a:rPr lang="en-US" sz="2800" dirty="0" smtClean="0"/>
              <a:t>  </a:t>
            </a:r>
            <a:endParaRPr lang="en-US" sz="3200" dirty="0"/>
          </a:p>
        </p:txBody>
      </p:sp>
      <p:sp>
        <p:nvSpPr>
          <p:cNvPr id="3" name="Content Placeholder 2"/>
          <p:cNvSpPr>
            <a:spLocks noGrp="1"/>
          </p:cNvSpPr>
          <p:nvPr>
            <p:ph idx="1"/>
          </p:nvPr>
        </p:nvSpPr>
        <p:spPr>
          <a:xfrm>
            <a:off x="396875" y="1623659"/>
            <a:ext cx="7896225" cy="4710465"/>
          </a:xfrm>
        </p:spPr>
        <p:txBody>
          <a:bodyPr/>
          <a:lstStyle/>
          <a:p>
            <a:r>
              <a:rPr lang="en-US" dirty="0" smtClean="0"/>
              <a:t>Read: CS:APP </a:t>
            </a:r>
            <a:r>
              <a:rPr lang="en-US" dirty="0" err="1" smtClean="0"/>
              <a:t>Ch</a:t>
            </a:r>
            <a:r>
              <a:rPr lang="en-US" dirty="0" smtClean="0"/>
              <a:t> 7</a:t>
            </a:r>
            <a:r>
              <a:rPr lang="en-US" dirty="0"/>
              <a:t> </a:t>
            </a:r>
            <a:r>
              <a:rPr lang="en-US" dirty="0" smtClean="0"/>
              <a:t>and </a:t>
            </a:r>
            <a:r>
              <a:rPr lang="en-US" dirty="0" err="1" smtClean="0"/>
              <a:t>Ch</a:t>
            </a:r>
            <a:r>
              <a:rPr lang="en-US" dirty="0" smtClean="0"/>
              <a:t> 8</a:t>
            </a:r>
            <a:r>
              <a:rPr lang="en-US" dirty="0" smtClean="0"/>
              <a:t> Sections 8.1-8.4</a:t>
            </a:r>
          </a:p>
          <a:p>
            <a:r>
              <a:rPr lang="en-US" dirty="0" smtClean="0"/>
              <a:t>Review relevant source files from class</a:t>
            </a:r>
          </a:p>
          <a:p>
            <a:pPr lvl="1"/>
            <a:r>
              <a:rPr lang="en-US" dirty="0" smtClean="0"/>
              <a:t>/home/</a:t>
            </a:r>
            <a:r>
              <a:rPr lang="en-US" dirty="0" err="1" smtClean="0"/>
              <a:t>wmartens</a:t>
            </a:r>
            <a:r>
              <a:rPr lang="en-US" dirty="0" smtClean="0"/>
              <a:t>/public/lecture2/linking</a:t>
            </a:r>
          </a:p>
          <a:p>
            <a:pPr lvl="1"/>
            <a:r>
              <a:rPr lang="en-US" dirty="0"/>
              <a:t>/home/</a:t>
            </a:r>
            <a:r>
              <a:rPr lang="en-US" dirty="0" err="1"/>
              <a:t>wmartens</a:t>
            </a:r>
            <a:r>
              <a:rPr lang="en-US" dirty="0"/>
              <a:t>/public/lecture2</a:t>
            </a:r>
            <a:r>
              <a:rPr lang="en-US" dirty="0" smtClean="0"/>
              <a:t>/</a:t>
            </a:r>
            <a:r>
              <a:rPr lang="en-US" dirty="0" err="1" smtClean="0"/>
              <a:t>ecf</a:t>
            </a:r>
            <a:endParaRPr lang="en-US" dirty="0" smtClean="0"/>
          </a:p>
          <a:p>
            <a:pPr lvl="1"/>
            <a:endParaRPr lang="en-US" dirty="0" smtClean="0"/>
          </a:p>
          <a:p>
            <a:r>
              <a:rPr lang="en-US" dirty="0"/>
              <a:t>CS:APP HW Problems (submit on D2L):</a:t>
            </a:r>
          </a:p>
          <a:p>
            <a:pPr lvl="1"/>
            <a:r>
              <a:rPr lang="en-US" dirty="0" smtClean="0"/>
              <a:t>8.9, 8.11 </a:t>
            </a:r>
            <a:r>
              <a:rPr lang="mr-IN" dirty="0"/>
              <a:t>–</a:t>
            </a:r>
            <a:r>
              <a:rPr lang="en-US" dirty="0"/>
              <a:t> page </a:t>
            </a:r>
            <a:r>
              <a:rPr lang="en-US" dirty="0" smtClean="0"/>
              <a:t>788</a:t>
            </a:r>
            <a:endParaRPr lang="en-US" dirty="0"/>
          </a:p>
          <a:p>
            <a:pPr lvl="1"/>
            <a:r>
              <a:rPr lang="en-US" dirty="0" smtClean="0"/>
              <a:t>8.13, 8.14 </a:t>
            </a:r>
            <a:r>
              <a:rPr lang="mr-IN" dirty="0" smtClean="0"/>
              <a:t>–</a:t>
            </a:r>
            <a:r>
              <a:rPr lang="en-US" dirty="0" smtClean="0"/>
              <a:t> page 789</a:t>
            </a:r>
            <a:endParaRPr lang="en-US" dirty="0"/>
          </a:p>
          <a:p>
            <a:pPr lvl="1"/>
            <a:r>
              <a:rPr lang="en-US" dirty="0" smtClean="0"/>
              <a:t>8.15, 8.16 </a:t>
            </a:r>
            <a:r>
              <a:rPr lang="mr-IN" dirty="0"/>
              <a:t>–</a:t>
            </a:r>
            <a:r>
              <a:rPr lang="en-US" dirty="0"/>
              <a:t> </a:t>
            </a:r>
            <a:r>
              <a:rPr lang="en-US" smtClean="0"/>
              <a:t>page 790</a:t>
            </a:r>
          </a:p>
          <a:p>
            <a:pPr lvl="1"/>
            <a:endParaRPr lang="en-US" dirty="0" smtClean="0"/>
          </a:p>
          <a:p>
            <a:r>
              <a:rPr lang="en-US" dirty="0" smtClean="0"/>
              <a:t>Note: Cache Lab is Due Wednesday, Jan 24</a:t>
            </a:r>
            <a:r>
              <a:rPr lang="en-US" baseline="30000" dirty="0" smtClean="0"/>
              <a:t>th</a:t>
            </a:r>
            <a:r>
              <a:rPr lang="en-US" dirty="0" smtClean="0"/>
              <a:t>.</a:t>
            </a:r>
            <a:endParaRPr lang="en-US" dirty="0" smtClean="0"/>
          </a:p>
          <a:p>
            <a:pPr marL="0" indent="0">
              <a:buNone/>
            </a:pPr>
            <a:endParaRPr lang="en-US" dirty="0" smtClean="0"/>
          </a:p>
          <a:p>
            <a:endParaRPr lang="en-US" dirty="0"/>
          </a:p>
        </p:txBody>
      </p:sp>
    </p:spTree>
    <p:extLst>
      <p:ext uri="{BB962C8B-B14F-4D97-AF65-F5344CB8AC3E}">
        <p14:creationId xmlns:p14="http://schemas.microsoft.com/office/powerpoint/2010/main" val="13855809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type="title"/>
          </p:nvPr>
        </p:nvSpPr>
        <p:spPr>
          <a:xfrm>
            <a:off x="2971800" y="2057400"/>
            <a:ext cx="2743200" cy="1904999"/>
          </a:xfrm>
          <a:ln/>
        </p:spPr>
        <p:txBody>
          <a:bodyPr>
            <a:normAutofit fontScale="90000"/>
          </a:bodyPr>
          <a:lstStyle/>
          <a:p>
            <a:pPr marL="80963" indent="-80963">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800" dirty="0" smtClean="0">
                <a:solidFill>
                  <a:srgbClr val="606060"/>
                </a:solidFill>
                <a:latin typeface="Calibri Italic" charset="0"/>
                <a:ea typeface="Calibri Italic" charset="0"/>
                <a:cs typeface="Calibri Italic" charset="0"/>
                <a:sym typeface="Calibri Italic" charset="0"/>
              </a:rPr>
              <a:t/>
            </a:r>
            <a:br>
              <a:rPr lang="en-US" sz="4800" dirty="0" smtClean="0">
                <a:solidFill>
                  <a:srgbClr val="606060"/>
                </a:solidFill>
                <a:latin typeface="Calibri Italic" charset="0"/>
                <a:ea typeface="Calibri Italic" charset="0"/>
                <a:cs typeface="Calibri Italic" charset="0"/>
                <a:sym typeface="Calibri Italic" charset="0"/>
              </a:rPr>
            </a:br>
            <a:r>
              <a:rPr lang="en-US" sz="4800" dirty="0" smtClean="0">
                <a:solidFill>
                  <a:srgbClr val="606060"/>
                </a:solidFill>
                <a:latin typeface="Calibri Italic" charset="0"/>
                <a:ea typeface="Calibri Italic" charset="0"/>
                <a:cs typeface="Calibri Italic" charset="0"/>
                <a:sym typeface="Calibri Italic" charset="0"/>
              </a:rPr>
              <a:t>Question</a:t>
            </a:r>
            <a:br>
              <a:rPr lang="en-US" sz="4800" dirty="0" smtClean="0">
                <a:solidFill>
                  <a:srgbClr val="606060"/>
                </a:solidFill>
                <a:latin typeface="Calibri Italic" charset="0"/>
                <a:ea typeface="Calibri Italic" charset="0"/>
                <a:cs typeface="Calibri Italic" charset="0"/>
                <a:sym typeface="Calibri Italic" charset="0"/>
              </a:rPr>
            </a:br>
            <a:r>
              <a:rPr lang="en-US" sz="4800" dirty="0" smtClean="0">
                <a:solidFill>
                  <a:srgbClr val="606060"/>
                </a:solidFill>
                <a:latin typeface="Calibri Italic" charset="0"/>
                <a:ea typeface="Calibri Italic" charset="0"/>
                <a:cs typeface="Calibri Italic" charset="0"/>
                <a:sym typeface="Calibri Italic" charset="0"/>
              </a:rPr>
              <a:t>Comments</a:t>
            </a:r>
            <a:br>
              <a:rPr lang="en-US" sz="4800" dirty="0" smtClean="0">
                <a:solidFill>
                  <a:srgbClr val="606060"/>
                </a:solidFill>
                <a:latin typeface="Calibri Italic" charset="0"/>
                <a:ea typeface="Calibri Italic" charset="0"/>
                <a:cs typeface="Calibri Italic" charset="0"/>
                <a:sym typeface="Calibri Italic" charset="0"/>
              </a:rPr>
            </a:br>
            <a:r>
              <a:rPr lang="en-US" sz="4800" dirty="0" smtClean="0">
                <a:solidFill>
                  <a:srgbClr val="606060"/>
                </a:solidFill>
                <a:latin typeface="Calibri Italic" charset="0"/>
                <a:ea typeface="Calibri Italic" charset="0"/>
                <a:cs typeface="Calibri Italic" charset="0"/>
                <a:sym typeface="Calibri Italic" charset="0"/>
              </a:rPr>
              <a:t>Concerns</a:t>
            </a:r>
            <a:endParaRPr lang="en-US" sz="4800" dirty="0">
              <a:solidFill>
                <a:srgbClr val="606060"/>
              </a:solidFill>
              <a:latin typeface="Calibri Italic" charset="0"/>
              <a:ea typeface="ヒラギノ角ゴ ProN W3" charset="-128"/>
              <a:cs typeface="ヒラギノ角ゴ ProN W3" charset="-128"/>
              <a:sym typeface="Calibri Italic" charset="0"/>
            </a:endParaRPr>
          </a:p>
        </p:txBody>
      </p:sp>
    </p:spTree>
    <p:extLst>
      <p:ext uri="{BB962C8B-B14F-4D97-AF65-F5344CB8AC3E}">
        <p14:creationId xmlns:p14="http://schemas.microsoft.com/office/powerpoint/2010/main" val="14607940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Supplemental Slides - Blocking</a:t>
            </a: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191328460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439" y="445070"/>
            <a:ext cx="7591425" cy="762000"/>
          </a:xfrm>
        </p:spPr>
        <p:txBody>
          <a:bodyPr/>
          <a:lstStyle/>
          <a:p>
            <a:r>
              <a:rPr lang="en-US" dirty="0" smtClean="0"/>
              <a:t>Example: Matrix Multiplication</a:t>
            </a:r>
            <a:endParaRPr lang="en-US" dirty="0"/>
          </a:p>
        </p:txBody>
      </p:sp>
      <p:sp>
        <p:nvSpPr>
          <p:cNvPr id="3" name="Rectangle 2"/>
          <p:cNvSpPr/>
          <p:nvPr/>
        </p:nvSpPr>
        <p:spPr bwMode="auto">
          <a:xfrm>
            <a:off x="2284665" y="42672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lang="en-US" sz="2000" dirty="0" smtClean="0">
                <a:latin typeface="Courier New" pitchFamily="49" charset="0"/>
                <a:cs typeface="Courier New" pitchFamily="49" charset="0"/>
              </a:rPr>
              <a:t>a</a:t>
            </a:r>
          </a:p>
        </p:txBody>
      </p:sp>
      <p:sp>
        <p:nvSpPr>
          <p:cNvPr id="4" name="Rectangle 3"/>
          <p:cNvSpPr/>
          <p:nvPr/>
        </p:nvSpPr>
        <p:spPr bwMode="auto">
          <a:xfrm>
            <a:off x="3884865" y="42672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lang="en-US" sz="2000" dirty="0" smtClean="0">
                <a:latin typeface="Courier New" pitchFamily="49" charset="0"/>
                <a:cs typeface="Courier New" pitchFamily="49" charset="0"/>
              </a:rPr>
              <a:t>b</a:t>
            </a:r>
          </a:p>
        </p:txBody>
      </p:sp>
      <p:cxnSp>
        <p:nvCxnSpPr>
          <p:cNvPr id="5" name="Straight Connector 4"/>
          <p:cNvCxnSpPr/>
          <p:nvPr/>
        </p:nvCxnSpPr>
        <p:spPr bwMode="auto">
          <a:xfrm>
            <a:off x="2284665" y="5122863"/>
            <a:ext cx="1143000" cy="1588"/>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cxnSp>
        <p:nvCxnSpPr>
          <p:cNvPr id="6" name="Straight Connector 5"/>
          <p:cNvCxnSpPr/>
          <p:nvPr/>
        </p:nvCxnSpPr>
        <p:spPr bwMode="auto">
          <a:xfrm rot="5400000">
            <a:off x="3998371" y="4837906"/>
            <a:ext cx="1143000" cy="1588"/>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sp>
        <p:nvSpPr>
          <p:cNvPr id="7" name="TextBox 6"/>
          <p:cNvSpPr txBox="1"/>
          <p:nvPr/>
        </p:nvSpPr>
        <p:spPr>
          <a:xfrm>
            <a:off x="2087560" y="4937773"/>
            <a:ext cx="240772" cy="369332"/>
          </a:xfrm>
          <a:prstGeom prst="rect">
            <a:avLst/>
          </a:prstGeom>
          <a:noFill/>
        </p:spPr>
        <p:txBody>
          <a:bodyPr wrap="none" rtlCol="0">
            <a:spAutoFit/>
          </a:bodyPr>
          <a:lstStyle/>
          <a:p>
            <a:r>
              <a:rPr lang="en-US" sz="1800" dirty="0" err="1" smtClean="0">
                <a:latin typeface="Calibri" pitchFamily="34" charset="0"/>
              </a:rPr>
              <a:t>i</a:t>
            </a:r>
            <a:endParaRPr lang="en-US" sz="1800" dirty="0" smtClean="0">
              <a:latin typeface="Calibri" pitchFamily="34" charset="0"/>
            </a:endParaRPr>
          </a:p>
        </p:txBody>
      </p:sp>
      <p:sp>
        <p:nvSpPr>
          <p:cNvPr id="8" name="TextBox 7"/>
          <p:cNvSpPr txBox="1"/>
          <p:nvPr/>
        </p:nvSpPr>
        <p:spPr>
          <a:xfrm>
            <a:off x="4470399" y="3936999"/>
            <a:ext cx="243978" cy="369332"/>
          </a:xfrm>
          <a:prstGeom prst="rect">
            <a:avLst/>
          </a:prstGeom>
          <a:noFill/>
        </p:spPr>
        <p:txBody>
          <a:bodyPr wrap="none" rtlCol="0">
            <a:spAutoFit/>
          </a:bodyPr>
          <a:lstStyle/>
          <a:p>
            <a:r>
              <a:rPr lang="en-US" sz="1800" dirty="0" smtClean="0">
                <a:latin typeface="Calibri" pitchFamily="34" charset="0"/>
              </a:rPr>
              <a:t>j</a:t>
            </a:r>
          </a:p>
        </p:txBody>
      </p:sp>
      <p:sp>
        <p:nvSpPr>
          <p:cNvPr id="9" name="TextBox 8"/>
          <p:cNvSpPr txBox="1"/>
          <p:nvPr/>
        </p:nvSpPr>
        <p:spPr>
          <a:xfrm>
            <a:off x="3469997" y="4681492"/>
            <a:ext cx="389850" cy="584775"/>
          </a:xfrm>
          <a:prstGeom prst="rect">
            <a:avLst/>
          </a:prstGeom>
          <a:noFill/>
        </p:spPr>
        <p:txBody>
          <a:bodyPr wrap="none" rtlCol="0">
            <a:spAutoFit/>
          </a:bodyPr>
          <a:lstStyle/>
          <a:p>
            <a:r>
              <a:rPr lang="en-US" sz="3200" dirty="0" smtClean="0">
                <a:latin typeface="Calibri" pitchFamily="34" charset="0"/>
              </a:rPr>
              <a:t>*</a:t>
            </a:r>
          </a:p>
        </p:txBody>
      </p:sp>
      <p:sp>
        <p:nvSpPr>
          <p:cNvPr id="10" name="Rectangle 9"/>
          <p:cNvSpPr/>
          <p:nvPr/>
        </p:nvSpPr>
        <p:spPr bwMode="auto">
          <a:xfrm>
            <a:off x="499532" y="42672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lang="en-US" sz="2000" dirty="0" smtClean="0">
                <a:latin typeface="Courier New" pitchFamily="49" charset="0"/>
                <a:cs typeface="Courier New" pitchFamily="49" charset="0"/>
              </a:rPr>
              <a:t>c</a:t>
            </a:r>
          </a:p>
        </p:txBody>
      </p:sp>
      <p:sp>
        <p:nvSpPr>
          <p:cNvPr id="11" name="TextBox 10"/>
          <p:cNvSpPr txBox="1"/>
          <p:nvPr/>
        </p:nvSpPr>
        <p:spPr>
          <a:xfrm>
            <a:off x="1765782" y="4572000"/>
            <a:ext cx="389850" cy="584775"/>
          </a:xfrm>
          <a:prstGeom prst="rect">
            <a:avLst/>
          </a:prstGeom>
          <a:noFill/>
        </p:spPr>
        <p:txBody>
          <a:bodyPr wrap="none" rtlCol="0">
            <a:spAutoFit/>
          </a:bodyPr>
          <a:lstStyle/>
          <a:p>
            <a:r>
              <a:rPr lang="en-US" sz="3200" dirty="0" smtClean="0">
                <a:latin typeface="Calibri" pitchFamily="34" charset="0"/>
              </a:rPr>
              <a:t>=</a:t>
            </a:r>
          </a:p>
        </p:txBody>
      </p:sp>
      <p:sp>
        <p:nvSpPr>
          <p:cNvPr id="12" name="Rectangle 11"/>
          <p:cNvSpPr/>
          <p:nvPr/>
        </p:nvSpPr>
        <p:spPr bwMode="auto">
          <a:xfrm>
            <a:off x="1185332" y="5105400"/>
            <a:ext cx="76200" cy="762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15" name="Rectangle 7"/>
          <p:cNvSpPr>
            <a:spLocks noChangeArrowheads="1"/>
          </p:cNvSpPr>
          <p:nvPr/>
        </p:nvSpPr>
        <p:spPr bwMode="auto">
          <a:xfrm>
            <a:off x="499532" y="1413396"/>
            <a:ext cx="6169819" cy="2244204"/>
          </a:xfrm>
          <a:prstGeom prst="rect">
            <a:avLst/>
          </a:prstGeom>
          <a:solidFill>
            <a:srgbClr val="F6F5BD"/>
          </a:solidFill>
          <a:ln w="12700" cmpd="thickThin">
            <a:solidFill>
              <a:schemeClr val="tx1"/>
            </a:solidFill>
            <a:miter lim="800000"/>
            <a:headEnd/>
            <a:tailEnd/>
          </a:ln>
          <a:effectLst/>
        </p:spPr>
        <p:txBody>
          <a:bodyPr wrap="none" lIns="90487" tIns="44450" rIns="90487" bIns="44450">
            <a:spAutoFit/>
          </a:bodyPr>
          <a:lstStyle/>
          <a:p>
            <a:pPr algn="l">
              <a:lnSpc>
                <a:spcPct val="100000"/>
              </a:lnSpc>
            </a:pPr>
            <a:r>
              <a:rPr lang="en-US" sz="1400" dirty="0" smtClean="0">
                <a:latin typeface="Courier New" pitchFamily="49" charset="0"/>
              </a:rPr>
              <a:t>c = (double *) </a:t>
            </a:r>
            <a:r>
              <a:rPr lang="en-US" sz="1400" dirty="0" err="1" smtClean="0">
                <a:latin typeface="Courier New" pitchFamily="49" charset="0"/>
              </a:rPr>
              <a:t>calloc</a:t>
            </a:r>
            <a:r>
              <a:rPr lang="en-US" sz="1400" dirty="0" smtClean="0">
                <a:latin typeface="Courier New" pitchFamily="49" charset="0"/>
              </a:rPr>
              <a:t>(</a:t>
            </a:r>
            <a:r>
              <a:rPr lang="en-US" sz="1400" dirty="0" err="1" smtClean="0">
                <a:latin typeface="Courier New" pitchFamily="49" charset="0"/>
              </a:rPr>
              <a:t>sizeof</a:t>
            </a:r>
            <a:r>
              <a:rPr lang="en-US" sz="1400" dirty="0" smtClean="0">
                <a:latin typeface="Courier New" pitchFamily="49" charset="0"/>
              </a:rPr>
              <a:t>(double), n*n);</a:t>
            </a:r>
          </a:p>
          <a:p>
            <a:pPr algn="l">
              <a:lnSpc>
                <a:spcPct val="100000"/>
              </a:lnSpc>
            </a:pPr>
            <a:endParaRPr lang="en-US" sz="1400" dirty="0" smtClean="0">
              <a:latin typeface="Courier New" pitchFamily="49" charset="0"/>
            </a:endParaRPr>
          </a:p>
          <a:p>
            <a:pPr algn="l">
              <a:lnSpc>
                <a:spcPct val="100000"/>
              </a:lnSpc>
            </a:pPr>
            <a:r>
              <a:rPr lang="en-US" sz="1400" dirty="0" smtClean="0">
                <a:solidFill>
                  <a:srgbClr val="990000"/>
                </a:solidFill>
                <a:latin typeface="Courier New" pitchFamily="49" charset="0"/>
              </a:rPr>
              <a:t>/* Multiply n x </a:t>
            </a:r>
            <a:r>
              <a:rPr lang="en-US" sz="1400" dirty="0">
                <a:solidFill>
                  <a:srgbClr val="990000"/>
                </a:solidFill>
                <a:latin typeface="Courier New" pitchFamily="49" charset="0"/>
              </a:rPr>
              <a:t>n </a:t>
            </a:r>
            <a:r>
              <a:rPr lang="en-US" sz="1400" dirty="0" smtClean="0">
                <a:solidFill>
                  <a:srgbClr val="990000"/>
                </a:solidFill>
                <a:latin typeface="Courier New" pitchFamily="49" charset="0"/>
              </a:rPr>
              <a:t>matrices a and b  </a:t>
            </a:r>
            <a:r>
              <a:rPr lang="en-US" sz="1400" dirty="0">
                <a:solidFill>
                  <a:srgbClr val="990000"/>
                </a:solidFill>
                <a:latin typeface="Courier New" pitchFamily="49" charset="0"/>
              </a:rPr>
              <a:t>*/</a:t>
            </a:r>
          </a:p>
          <a:p>
            <a:pPr algn="l">
              <a:lnSpc>
                <a:spcPct val="100000"/>
              </a:lnSpc>
            </a:pPr>
            <a:r>
              <a:rPr lang="en-US" sz="1400" dirty="0" smtClean="0">
                <a:latin typeface="Courier New" pitchFamily="49" charset="0"/>
              </a:rPr>
              <a:t>void </a:t>
            </a:r>
            <a:r>
              <a:rPr lang="en-US" sz="1400" dirty="0" err="1" smtClean="0">
                <a:latin typeface="Courier New" pitchFamily="49" charset="0"/>
              </a:rPr>
              <a:t>mmm</a:t>
            </a:r>
            <a:r>
              <a:rPr lang="en-US" sz="1400" dirty="0" smtClean="0">
                <a:latin typeface="Courier New" pitchFamily="49" charset="0"/>
              </a:rPr>
              <a:t>(double </a:t>
            </a:r>
            <a:r>
              <a:rPr lang="en-US" sz="1400" dirty="0">
                <a:latin typeface="Courier New" pitchFamily="49" charset="0"/>
              </a:rPr>
              <a:t>*a, double *b, </a:t>
            </a:r>
            <a:r>
              <a:rPr lang="en-US" sz="1400" dirty="0" smtClean="0">
                <a:latin typeface="Courier New" pitchFamily="49" charset="0"/>
              </a:rPr>
              <a:t>double *c, </a:t>
            </a:r>
            <a:r>
              <a:rPr lang="en-US" sz="1400" dirty="0" err="1" smtClean="0">
                <a:latin typeface="Courier New" pitchFamily="49" charset="0"/>
              </a:rPr>
              <a:t>int</a:t>
            </a:r>
            <a:r>
              <a:rPr lang="en-US" sz="1400" dirty="0" smtClean="0">
                <a:latin typeface="Courier New" pitchFamily="49" charset="0"/>
              </a:rPr>
              <a:t> n</a:t>
            </a:r>
            <a:r>
              <a:rPr lang="en-US" sz="1400" dirty="0">
                <a:latin typeface="Courier New" pitchFamily="49" charset="0"/>
              </a:rPr>
              <a:t>) {</a:t>
            </a:r>
          </a:p>
          <a:p>
            <a:pPr algn="l">
              <a:lnSpc>
                <a:spcPct val="100000"/>
              </a:lnSpc>
            </a:pPr>
            <a:r>
              <a:rPr lang="en-US" sz="1400" dirty="0" smtClean="0">
                <a:latin typeface="Courier New" pitchFamily="49" charset="0"/>
              </a:rPr>
              <a:t>    </a:t>
            </a:r>
            <a:r>
              <a:rPr lang="en-US" sz="1400" dirty="0" err="1" smtClean="0">
                <a:latin typeface="Courier New" pitchFamily="49" charset="0"/>
              </a:rPr>
              <a:t>int</a:t>
            </a:r>
            <a:r>
              <a:rPr lang="en-US" sz="1400" dirty="0" smtClean="0">
                <a:latin typeface="Courier New" pitchFamily="49" charset="0"/>
              </a:rPr>
              <a:t> </a:t>
            </a:r>
            <a:r>
              <a:rPr lang="en-US" sz="1400" dirty="0" err="1" smtClean="0">
                <a:latin typeface="Courier New" pitchFamily="49" charset="0"/>
              </a:rPr>
              <a:t>i</a:t>
            </a:r>
            <a:r>
              <a:rPr lang="en-US" sz="1400" dirty="0">
                <a:latin typeface="Courier New" pitchFamily="49" charset="0"/>
              </a:rPr>
              <a:t>, </a:t>
            </a:r>
            <a:r>
              <a:rPr lang="en-US" sz="1400" dirty="0" smtClean="0">
                <a:latin typeface="Courier New" pitchFamily="49" charset="0"/>
              </a:rPr>
              <a:t>j, k;</a:t>
            </a:r>
            <a:endParaRPr lang="en-US" sz="1400" dirty="0">
              <a:latin typeface="Courier New" pitchFamily="49" charset="0"/>
            </a:endParaRPr>
          </a:p>
          <a:p>
            <a:pPr algn="l">
              <a:lnSpc>
                <a:spcPct val="100000"/>
              </a:lnSpc>
            </a:pPr>
            <a:r>
              <a:rPr lang="en-US" sz="1400" dirty="0">
                <a:latin typeface="Courier New" pitchFamily="49" charset="0"/>
              </a:rPr>
              <a:t>    for (</a:t>
            </a:r>
            <a:r>
              <a:rPr lang="en-US" sz="1400" dirty="0" err="1">
                <a:latin typeface="Courier New" pitchFamily="49" charset="0"/>
              </a:rPr>
              <a:t>i</a:t>
            </a:r>
            <a:r>
              <a:rPr lang="en-US" sz="1400" dirty="0">
                <a:latin typeface="Courier New" pitchFamily="49" charset="0"/>
              </a:rPr>
              <a:t> = 0; </a:t>
            </a:r>
            <a:r>
              <a:rPr lang="en-US" sz="1400" dirty="0" err="1">
                <a:latin typeface="Courier New" pitchFamily="49" charset="0"/>
              </a:rPr>
              <a:t>i</a:t>
            </a:r>
            <a:r>
              <a:rPr lang="en-US" sz="1400" dirty="0">
                <a:latin typeface="Courier New" pitchFamily="49" charset="0"/>
              </a:rPr>
              <a:t> &lt; n; </a:t>
            </a:r>
            <a:r>
              <a:rPr lang="en-US" sz="1400" dirty="0" err="1">
                <a:latin typeface="Courier New" pitchFamily="49" charset="0"/>
              </a:rPr>
              <a:t>i</a:t>
            </a:r>
            <a:r>
              <a:rPr lang="en-US" sz="1400" dirty="0" smtClean="0">
                <a:latin typeface="Courier New" pitchFamily="49" charset="0"/>
              </a:rPr>
              <a:t>++)</a:t>
            </a:r>
            <a:endParaRPr lang="en-US" sz="1400" dirty="0">
              <a:latin typeface="Courier New" pitchFamily="49" charset="0"/>
            </a:endParaRPr>
          </a:p>
          <a:p>
            <a:pPr algn="l">
              <a:lnSpc>
                <a:spcPct val="100000"/>
              </a:lnSpc>
            </a:pPr>
            <a:r>
              <a:rPr lang="en-US" sz="1400" dirty="0">
                <a:latin typeface="Courier New" pitchFamily="49" charset="0"/>
              </a:rPr>
              <a:t>	for (j = 0; j &lt; n; j</a:t>
            </a:r>
            <a:r>
              <a:rPr lang="en-US" sz="1400" dirty="0" smtClean="0">
                <a:latin typeface="Courier New" pitchFamily="49" charset="0"/>
              </a:rPr>
              <a:t>++)</a:t>
            </a:r>
          </a:p>
          <a:p>
            <a:pPr algn="l">
              <a:lnSpc>
                <a:spcPct val="100000"/>
              </a:lnSpc>
            </a:pPr>
            <a:r>
              <a:rPr lang="en-US" sz="1400" dirty="0" smtClean="0">
                <a:latin typeface="Courier New" pitchFamily="49" charset="0"/>
              </a:rPr>
              <a:t>             for (k = 0; k &lt; n; k++)</a:t>
            </a:r>
            <a:endParaRPr lang="en-US" sz="1400" dirty="0">
              <a:latin typeface="Courier New" pitchFamily="49" charset="0"/>
            </a:endParaRPr>
          </a:p>
          <a:p>
            <a:pPr algn="l">
              <a:lnSpc>
                <a:spcPct val="100000"/>
              </a:lnSpc>
            </a:pPr>
            <a:r>
              <a:rPr lang="en-US" sz="1400" dirty="0">
                <a:latin typeface="Courier New" pitchFamily="49" charset="0"/>
              </a:rPr>
              <a:t>	    </a:t>
            </a:r>
            <a:r>
              <a:rPr lang="en-US" sz="1400" dirty="0" smtClean="0">
                <a:latin typeface="Courier New" pitchFamily="49" charset="0"/>
              </a:rPr>
              <a:t>     c[</a:t>
            </a:r>
            <a:r>
              <a:rPr lang="en-US" sz="1400" dirty="0" err="1" smtClean="0">
                <a:latin typeface="Courier New" pitchFamily="49" charset="0"/>
              </a:rPr>
              <a:t>i</a:t>
            </a:r>
            <a:r>
              <a:rPr lang="en-US" sz="1400" dirty="0" smtClean="0">
                <a:latin typeface="Courier New" pitchFamily="49" charset="0"/>
              </a:rPr>
              <a:t>*n + j] </a:t>
            </a:r>
            <a:r>
              <a:rPr lang="en-US" sz="1400" dirty="0">
                <a:latin typeface="Courier New" pitchFamily="49" charset="0"/>
              </a:rPr>
              <a:t>+= a[</a:t>
            </a:r>
            <a:r>
              <a:rPr lang="en-US" sz="1400" dirty="0" err="1">
                <a:latin typeface="Courier New" pitchFamily="49" charset="0"/>
              </a:rPr>
              <a:t>i</a:t>
            </a:r>
            <a:r>
              <a:rPr lang="en-US" sz="1400" dirty="0">
                <a:latin typeface="Courier New" pitchFamily="49" charset="0"/>
              </a:rPr>
              <a:t>*n + </a:t>
            </a:r>
            <a:r>
              <a:rPr lang="en-US" sz="1400" dirty="0" smtClean="0">
                <a:latin typeface="Courier New" pitchFamily="49" charset="0"/>
              </a:rPr>
              <a:t>k] * b[k*n + j];</a:t>
            </a:r>
            <a:endParaRPr lang="en-US" sz="1400" dirty="0">
              <a:latin typeface="Courier New" pitchFamily="49" charset="0"/>
            </a:endParaRPr>
          </a:p>
          <a:p>
            <a:pPr algn="l">
              <a:lnSpc>
                <a:spcPct val="100000"/>
              </a:lnSpc>
            </a:pPr>
            <a:r>
              <a:rPr lang="en-US" sz="1400" dirty="0">
                <a:latin typeface="Courier New" pitchFamily="49" charset="0"/>
              </a:rPr>
              <a:t>}</a:t>
            </a:r>
          </a:p>
        </p:txBody>
      </p:sp>
      <p:sp>
        <p:nvSpPr>
          <p:cNvPr id="16" name="Content Placeholder 2"/>
          <p:cNvSpPr txBox="1">
            <a:spLocks/>
          </p:cNvSpPr>
          <p:nvPr/>
        </p:nvSpPr>
        <p:spPr>
          <a:xfrm>
            <a:off x="396875" y="5562599"/>
            <a:ext cx="7896225" cy="771525"/>
          </a:xfrm>
          <a:prstGeom prst="rect">
            <a:avLst/>
          </a:prstGeom>
        </p:spPr>
        <p:txBody>
          <a:bodyPr/>
          <a:lstStyle/>
          <a:p>
            <a:pPr marL="342900" marR="0" lvl="0" indent="-342900" algn="l" defTabSz="914400" rtl="0" eaLnBrk="1" fontAlgn="base" latinLnBrk="0" hangingPunct="1">
              <a:lnSpc>
                <a:spcPct val="100000"/>
              </a:lnSpc>
              <a:spcBef>
                <a:spcPct val="20000"/>
              </a:spcBef>
              <a:spcAft>
                <a:spcPct val="0"/>
              </a:spcAft>
              <a:buClr>
                <a:srgbClr val="990000"/>
              </a:buClr>
              <a:buSzPct val="60000"/>
              <a:buFont typeface="Wingdings 2" pitchFamily="18" charset="2"/>
              <a:buChar char="¢"/>
              <a:tabLst/>
              <a:defRPr/>
            </a:pPr>
            <a:endParaRPr kumimoji="0" lang="en-US" sz="2000" b="0" i="0" u="none" strike="noStrike" kern="0" cap="none" spc="0" normalizeH="0" baseline="0" noProof="0" dirty="0" smtClean="0">
              <a:ln>
                <a:noFill/>
              </a:ln>
              <a:solidFill>
                <a:schemeClr val="tx1"/>
              </a:solidFill>
              <a:effectLst/>
              <a:uLnTx/>
              <a:uFillTx/>
              <a:latin typeface="Calibri" pitchFamily="34" charset="0"/>
            </a:endParaRPr>
          </a:p>
        </p:txBody>
      </p:sp>
    </p:spTree>
    <p:extLst>
      <p:ext uri="{BB962C8B-B14F-4D97-AF65-F5344CB8AC3E}">
        <p14:creationId xmlns:p14="http://schemas.microsoft.com/office/powerpoint/2010/main" val="1891892106"/>
      </p:ext>
    </p:extLst>
  </p:cSld>
  <p:clrMapOvr>
    <a:masterClrMapping/>
  </p:clrMapOvr>
  <p:timing>
    <p:tnLst>
      <p:par>
        <p:cTn xmlns:p14="http://schemas.microsoft.com/office/powerpoint/2010/mai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Miss Analysis</a:t>
            </a:r>
            <a:endParaRPr lang="en-US" dirty="0"/>
          </a:p>
        </p:txBody>
      </p:sp>
      <p:sp>
        <p:nvSpPr>
          <p:cNvPr id="3" name="Content Placeholder 2"/>
          <p:cNvSpPr>
            <a:spLocks noGrp="1"/>
          </p:cNvSpPr>
          <p:nvPr>
            <p:ph idx="1"/>
          </p:nvPr>
        </p:nvSpPr>
        <p:spPr>
          <a:xfrm>
            <a:off x="396875" y="1209675"/>
            <a:ext cx="7896225" cy="3057525"/>
          </a:xfrm>
        </p:spPr>
        <p:txBody>
          <a:bodyPr/>
          <a:lstStyle/>
          <a:p>
            <a:r>
              <a:rPr lang="en-US" dirty="0" smtClean="0"/>
              <a:t>Assume: </a:t>
            </a:r>
          </a:p>
          <a:p>
            <a:pPr lvl="1"/>
            <a:r>
              <a:rPr lang="en-US" dirty="0" smtClean="0"/>
              <a:t>Matrix elements are doubles</a:t>
            </a:r>
          </a:p>
          <a:p>
            <a:pPr lvl="1"/>
            <a:r>
              <a:rPr lang="en-US" dirty="0" smtClean="0"/>
              <a:t>Cache block = 8 doubles</a:t>
            </a:r>
          </a:p>
          <a:p>
            <a:pPr lvl="1"/>
            <a:r>
              <a:rPr lang="en-US" dirty="0" smtClean="0"/>
              <a:t>Cache size C &lt;&lt; n (much smaller than n)</a:t>
            </a:r>
          </a:p>
          <a:p>
            <a:endParaRPr lang="en-US" dirty="0" smtClean="0"/>
          </a:p>
          <a:p>
            <a:r>
              <a:rPr lang="en-US" dirty="0" smtClean="0"/>
              <a:t>First iteration:</a:t>
            </a:r>
          </a:p>
          <a:p>
            <a:pPr lvl="1"/>
            <a:r>
              <a:rPr lang="en-US" dirty="0" smtClean="0"/>
              <a:t>n/8 + n = 9n/8 misses</a:t>
            </a:r>
          </a:p>
          <a:p>
            <a:pPr lvl="1"/>
            <a:endParaRPr lang="en-US" dirty="0" smtClean="0"/>
          </a:p>
          <a:p>
            <a:pPr lvl="1"/>
            <a:endParaRPr lang="en-US" dirty="0" smtClean="0"/>
          </a:p>
          <a:p>
            <a:pPr lvl="1"/>
            <a:r>
              <a:rPr lang="en-US" dirty="0" smtClean="0"/>
              <a:t>Afterwards </a:t>
            </a:r>
            <a:r>
              <a:rPr lang="en-US" dirty="0" smtClean="0">
                <a:solidFill>
                  <a:srgbClr val="C00000"/>
                </a:solidFill>
              </a:rPr>
              <a:t>in cache:</a:t>
            </a:r>
            <a:r>
              <a:rPr lang="en-US" dirty="0" smtClean="0"/>
              <a:t/>
            </a:r>
            <a:br>
              <a:rPr lang="en-US" dirty="0" smtClean="0"/>
            </a:br>
            <a:r>
              <a:rPr lang="en-US" dirty="0" smtClean="0"/>
              <a:t>(schematic)</a:t>
            </a:r>
            <a:endParaRPr lang="en-US" dirty="0"/>
          </a:p>
        </p:txBody>
      </p:sp>
      <p:sp>
        <p:nvSpPr>
          <p:cNvPr id="4" name="Rectangle 3"/>
          <p:cNvSpPr/>
          <p:nvPr/>
        </p:nvSpPr>
        <p:spPr bwMode="auto">
          <a:xfrm>
            <a:off x="5710367" y="36576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endParaRPr lang="en-US" sz="2000" dirty="0" smtClean="0">
              <a:latin typeface="Courier New" pitchFamily="49" charset="0"/>
              <a:cs typeface="Courier New" pitchFamily="49" charset="0"/>
            </a:endParaRPr>
          </a:p>
        </p:txBody>
      </p:sp>
      <p:sp>
        <p:nvSpPr>
          <p:cNvPr id="5" name="Rectangle 4"/>
          <p:cNvSpPr/>
          <p:nvPr/>
        </p:nvSpPr>
        <p:spPr bwMode="auto">
          <a:xfrm>
            <a:off x="7310567" y="36576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endParaRPr lang="en-US" sz="2000" dirty="0" smtClean="0">
              <a:latin typeface="Courier New" pitchFamily="49" charset="0"/>
              <a:cs typeface="Courier New" pitchFamily="49" charset="0"/>
            </a:endParaRPr>
          </a:p>
        </p:txBody>
      </p:sp>
      <p:cxnSp>
        <p:nvCxnSpPr>
          <p:cNvPr id="6" name="Straight Connector 5"/>
          <p:cNvCxnSpPr/>
          <p:nvPr/>
        </p:nvCxnSpPr>
        <p:spPr bwMode="auto">
          <a:xfrm>
            <a:off x="5710367" y="3657601"/>
            <a:ext cx="1143000" cy="1588"/>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cxnSp>
        <p:nvCxnSpPr>
          <p:cNvPr id="7" name="Straight Connector 6"/>
          <p:cNvCxnSpPr/>
          <p:nvPr/>
        </p:nvCxnSpPr>
        <p:spPr bwMode="auto">
          <a:xfrm rot="5400000">
            <a:off x="6741196" y="4228306"/>
            <a:ext cx="1143000" cy="1588"/>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sp>
        <p:nvSpPr>
          <p:cNvPr id="10" name="TextBox 9"/>
          <p:cNvSpPr txBox="1"/>
          <p:nvPr/>
        </p:nvSpPr>
        <p:spPr>
          <a:xfrm>
            <a:off x="6895699" y="4071892"/>
            <a:ext cx="389850" cy="584775"/>
          </a:xfrm>
          <a:prstGeom prst="rect">
            <a:avLst/>
          </a:prstGeom>
          <a:noFill/>
        </p:spPr>
        <p:txBody>
          <a:bodyPr wrap="none" rtlCol="0">
            <a:spAutoFit/>
          </a:bodyPr>
          <a:lstStyle/>
          <a:p>
            <a:r>
              <a:rPr lang="en-US" sz="3200" dirty="0" smtClean="0">
                <a:latin typeface="Calibri" pitchFamily="34" charset="0"/>
              </a:rPr>
              <a:t>*</a:t>
            </a:r>
          </a:p>
        </p:txBody>
      </p:sp>
      <p:sp>
        <p:nvSpPr>
          <p:cNvPr id="11" name="Rectangle 10"/>
          <p:cNvSpPr/>
          <p:nvPr/>
        </p:nvSpPr>
        <p:spPr bwMode="auto">
          <a:xfrm>
            <a:off x="3925234" y="36576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endParaRPr lang="en-US" sz="2000" dirty="0" smtClean="0">
              <a:latin typeface="Courier New" pitchFamily="49" charset="0"/>
              <a:cs typeface="Courier New" pitchFamily="49" charset="0"/>
            </a:endParaRPr>
          </a:p>
        </p:txBody>
      </p:sp>
      <p:sp>
        <p:nvSpPr>
          <p:cNvPr id="12" name="TextBox 11"/>
          <p:cNvSpPr txBox="1"/>
          <p:nvPr/>
        </p:nvSpPr>
        <p:spPr>
          <a:xfrm>
            <a:off x="5191484" y="3962400"/>
            <a:ext cx="389850" cy="584775"/>
          </a:xfrm>
          <a:prstGeom prst="rect">
            <a:avLst/>
          </a:prstGeom>
          <a:noFill/>
        </p:spPr>
        <p:txBody>
          <a:bodyPr wrap="none" rtlCol="0">
            <a:spAutoFit/>
          </a:bodyPr>
          <a:lstStyle/>
          <a:p>
            <a:r>
              <a:rPr lang="en-US" sz="3200" dirty="0" smtClean="0">
                <a:latin typeface="Calibri" pitchFamily="34" charset="0"/>
              </a:rPr>
              <a:t>=</a:t>
            </a:r>
          </a:p>
        </p:txBody>
      </p:sp>
      <p:sp>
        <p:nvSpPr>
          <p:cNvPr id="13" name="Rectangle 12"/>
          <p:cNvSpPr/>
          <p:nvPr/>
        </p:nvSpPr>
        <p:spPr bwMode="auto">
          <a:xfrm>
            <a:off x="3925234" y="3657601"/>
            <a:ext cx="76200" cy="762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14" name="AutoShape 16"/>
          <p:cNvSpPr>
            <a:spLocks/>
          </p:cNvSpPr>
          <p:nvPr/>
        </p:nvSpPr>
        <p:spPr bwMode="auto">
          <a:xfrm rot="5400000" flipV="1">
            <a:off x="7755466" y="2819400"/>
            <a:ext cx="228600" cy="1143000"/>
          </a:xfrm>
          <a:prstGeom prst="leftBrace">
            <a:avLst>
              <a:gd name="adj1" fmla="val 75000"/>
              <a:gd name="adj2" fmla="val 50000"/>
            </a:avLst>
          </a:prstGeom>
          <a:noFill/>
          <a:ln w="25400">
            <a:solidFill>
              <a:schemeClr val="tx1"/>
            </a:solidFill>
            <a:round/>
            <a:headEnd/>
            <a:tailEnd/>
          </a:ln>
          <a:effectLst/>
        </p:spPr>
        <p:txBody>
          <a:bodyPr wrap="none" anchor="ctr"/>
          <a:lstStyle/>
          <a:p>
            <a:endParaRPr lang="en-US" sz="1800" dirty="0">
              <a:latin typeface="Calibri" pitchFamily="34" charset="0"/>
            </a:endParaRPr>
          </a:p>
        </p:txBody>
      </p:sp>
      <p:sp>
        <p:nvSpPr>
          <p:cNvPr id="15" name="TextBox 14"/>
          <p:cNvSpPr txBox="1"/>
          <p:nvPr/>
        </p:nvSpPr>
        <p:spPr>
          <a:xfrm>
            <a:off x="7721601" y="2907268"/>
            <a:ext cx="308098" cy="369332"/>
          </a:xfrm>
          <a:prstGeom prst="rect">
            <a:avLst/>
          </a:prstGeom>
          <a:noFill/>
        </p:spPr>
        <p:txBody>
          <a:bodyPr wrap="none" rtlCol="0">
            <a:spAutoFit/>
          </a:bodyPr>
          <a:lstStyle/>
          <a:p>
            <a:r>
              <a:rPr lang="en-US" sz="1800" dirty="0" smtClean="0">
                <a:latin typeface="Calibri" pitchFamily="34" charset="0"/>
              </a:rPr>
              <a:t>n</a:t>
            </a:r>
          </a:p>
        </p:txBody>
      </p:sp>
      <p:sp>
        <p:nvSpPr>
          <p:cNvPr id="16" name="Rectangle 15"/>
          <p:cNvSpPr/>
          <p:nvPr/>
        </p:nvSpPr>
        <p:spPr bwMode="auto">
          <a:xfrm>
            <a:off x="5715000" y="52578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endParaRPr lang="en-US" sz="2000" dirty="0" smtClean="0">
              <a:latin typeface="Courier New" pitchFamily="49" charset="0"/>
              <a:cs typeface="Courier New" pitchFamily="49" charset="0"/>
            </a:endParaRPr>
          </a:p>
        </p:txBody>
      </p:sp>
      <p:sp>
        <p:nvSpPr>
          <p:cNvPr id="17" name="Rectangle 16"/>
          <p:cNvSpPr/>
          <p:nvPr/>
        </p:nvSpPr>
        <p:spPr bwMode="auto">
          <a:xfrm>
            <a:off x="7315200" y="52578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endParaRPr lang="en-US" sz="2000" dirty="0" smtClean="0">
              <a:latin typeface="Courier New" pitchFamily="49" charset="0"/>
              <a:cs typeface="Courier New" pitchFamily="49" charset="0"/>
            </a:endParaRPr>
          </a:p>
        </p:txBody>
      </p:sp>
      <p:cxnSp>
        <p:nvCxnSpPr>
          <p:cNvPr id="18" name="Straight Connector 17"/>
          <p:cNvCxnSpPr/>
          <p:nvPr/>
        </p:nvCxnSpPr>
        <p:spPr bwMode="auto">
          <a:xfrm>
            <a:off x="5715000" y="5257801"/>
            <a:ext cx="1143000" cy="1588"/>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cxnSp>
        <p:nvCxnSpPr>
          <p:cNvPr id="19" name="Straight Connector 18"/>
          <p:cNvCxnSpPr/>
          <p:nvPr/>
        </p:nvCxnSpPr>
        <p:spPr bwMode="auto">
          <a:xfrm rot="5400000">
            <a:off x="6745829" y="5828506"/>
            <a:ext cx="1143000" cy="1588"/>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sp>
        <p:nvSpPr>
          <p:cNvPr id="20" name="TextBox 19"/>
          <p:cNvSpPr txBox="1"/>
          <p:nvPr/>
        </p:nvSpPr>
        <p:spPr>
          <a:xfrm>
            <a:off x="6900332" y="5672092"/>
            <a:ext cx="389850" cy="584775"/>
          </a:xfrm>
          <a:prstGeom prst="rect">
            <a:avLst/>
          </a:prstGeom>
          <a:noFill/>
        </p:spPr>
        <p:txBody>
          <a:bodyPr wrap="none" rtlCol="0">
            <a:spAutoFit/>
          </a:bodyPr>
          <a:lstStyle/>
          <a:p>
            <a:r>
              <a:rPr lang="en-US" sz="3200" dirty="0" smtClean="0">
                <a:latin typeface="Calibri" pitchFamily="34" charset="0"/>
              </a:rPr>
              <a:t>*</a:t>
            </a:r>
          </a:p>
        </p:txBody>
      </p:sp>
      <p:sp>
        <p:nvSpPr>
          <p:cNvPr id="21" name="Rectangle 20"/>
          <p:cNvSpPr/>
          <p:nvPr/>
        </p:nvSpPr>
        <p:spPr bwMode="auto">
          <a:xfrm>
            <a:off x="3929867" y="52578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endParaRPr lang="en-US" sz="2000" dirty="0" smtClean="0">
              <a:latin typeface="Courier New" pitchFamily="49" charset="0"/>
              <a:cs typeface="Courier New" pitchFamily="49" charset="0"/>
            </a:endParaRPr>
          </a:p>
        </p:txBody>
      </p:sp>
      <p:sp>
        <p:nvSpPr>
          <p:cNvPr id="22" name="TextBox 21"/>
          <p:cNvSpPr txBox="1"/>
          <p:nvPr/>
        </p:nvSpPr>
        <p:spPr>
          <a:xfrm>
            <a:off x="5196117" y="5562600"/>
            <a:ext cx="389850" cy="584775"/>
          </a:xfrm>
          <a:prstGeom prst="rect">
            <a:avLst/>
          </a:prstGeom>
          <a:noFill/>
        </p:spPr>
        <p:txBody>
          <a:bodyPr wrap="none" rtlCol="0">
            <a:spAutoFit/>
          </a:bodyPr>
          <a:lstStyle/>
          <a:p>
            <a:r>
              <a:rPr lang="en-US" sz="3200" dirty="0" smtClean="0">
                <a:latin typeface="Calibri" pitchFamily="34" charset="0"/>
              </a:rPr>
              <a:t>=</a:t>
            </a:r>
          </a:p>
        </p:txBody>
      </p:sp>
      <p:sp>
        <p:nvSpPr>
          <p:cNvPr id="23" name="Rectangle 22"/>
          <p:cNvSpPr/>
          <p:nvPr/>
        </p:nvSpPr>
        <p:spPr bwMode="auto">
          <a:xfrm>
            <a:off x="3929867" y="5257801"/>
            <a:ext cx="76200" cy="762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cxnSp>
        <p:nvCxnSpPr>
          <p:cNvPr id="24" name="Straight Connector 23"/>
          <p:cNvCxnSpPr/>
          <p:nvPr/>
        </p:nvCxnSpPr>
        <p:spPr bwMode="auto">
          <a:xfrm>
            <a:off x="6477000" y="5257800"/>
            <a:ext cx="381000" cy="529"/>
          </a:xfrm>
          <a:prstGeom prst="line">
            <a:avLst/>
          </a:prstGeom>
          <a:noFill/>
          <a:ln w="57150" cap="flat" cmpd="sng" algn="ctr">
            <a:solidFill>
              <a:srgbClr val="C00000"/>
            </a:solidFill>
            <a:prstDash val="solid"/>
            <a:round/>
            <a:headEnd type="none" w="med" len="med"/>
            <a:tailEnd type="none" w="med" len="med"/>
          </a:ln>
          <a:effectLst/>
        </p:spPr>
      </p:cxnSp>
      <p:sp>
        <p:nvSpPr>
          <p:cNvPr id="26" name="Rectangle 25"/>
          <p:cNvSpPr/>
          <p:nvPr/>
        </p:nvSpPr>
        <p:spPr bwMode="auto">
          <a:xfrm>
            <a:off x="7298266" y="6155842"/>
            <a:ext cx="245534" cy="253425"/>
          </a:xfrm>
          <a:prstGeom prst="rect">
            <a:avLst/>
          </a:prstGeom>
          <a:solidFill>
            <a:srgbClr val="C00000"/>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27" name="TextBox 26"/>
          <p:cNvSpPr txBox="1"/>
          <p:nvPr/>
        </p:nvSpPr>
        <p:spPr>
          <a:xfrm>
            <a:off x="7095064" y="6400800"/>
            <a:ext cx="679994" cy="307777"/>
          </a:xfrm>
          <a:prstGeom prst="rect">
            <a:avLst/>
          </a:prstGeom>
          <a:noFill/>
        </p:spPr>
        <p:txBody>
          <a:bodyPr wrap="none" rtlCol="0">
            <a:spAutoFit/>
          </a:bodyPr>
          <a:lstStyle/>
          <a:p>
            <a:r>
              <a:rPr lang="en-US" sz="1400" dirty="0" smtClean="0">
                <a:solidFill>
                  <a:srgbClr val="C00000"/>
                </a:solidFill>
                <a:latin typeface="Calibri" pitchFamily="34" charset="0"/>
              </a:rPr>
              <a:t>8 wide</a:t>
            </a:r>
          </a:p>
        </p:txBody>
      </p:sp>
    </p:spTree>
    <p:extLst>
      <p:ext uri="{BB962C8B-B14F-4D97-AF65-F5344CB8AC3E}">
        <p14:creationId xmlns:p14="http://schemas.microsoft.com/office/powerpoint/2010/main" val="56995171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20" grpId="0"/>
      <p:bldP spid="21" grpId="0" animBg="1"/>
      <p:bldP spid="22" grpId="0"/>
      <p:bldP spid="23" grpId="0" animBg="1"/>
      <p:bldP spid="26" grpId="0" animBg="1"/>
      <p:bldP spid="27"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Miss Analysis</a:t>
            </a:r>
            <a:endParaRPr lang="en-US" dirty="0"/>
          </a:p>
        </p:txBody>
      </p:sp>
      <p:sp>
        <p:nvSpPr>
          <p:cNvPr id="3" name="Content Placeholder 2"/>
          <p:cNvSpPr>
            <a:spLocks noGrp="1"/>
          </p:cNvSpPr>
          <p:nvPr>
            <p:ph idx="1"/>
          </p:nvPr>
        </p:nvSpPr>
        <p:spPr>
          <a:xfrm>
            <a:off x="396875" y="1209675"/>
            <a:ext cx="7896225" cy="3057525"/>
          </a:xfrm>
        </p:spPr>
        <p:txBody>
          <a:bodyPr/>
          <a:lstStyle/>
          <a:p>
            <a:r>
              <a:rPr lang="en-US" dirty="0" smtClean="0"/>
              <a:t>Assume: </a:t>
            </a:r>
          </a:p>
          <a:p>
            <a:pPr lvl="1"/>
            <a:r>
              <a:rPr lang="en-US" dirty="0" smtClean="0"/>
              <a:t>Matrix elements are doubles</a:t>
            </a:r>
          </a:p>
          <a:p>
            <a:pPr lvl="1"/>
            <a:r>
              <a:rPr lang="en-US" dirty="0" smtClean="0"/>
              <a:t>Cache block = 8 doubles</a:t>
            </a:r>
          </a:p>
          <a:p>
            <a:pPr lvl="1"/>
            <a:r>
              <a:rPr lang="en-US" dirty="0" smtClean="0"/>
              <a:t>Cache size C &lt;&lt; n (much smaller than n)</a:t>
            </a:r>
          </a:p>
          <a:p>
            <a:endParaRPr lang="en-US" dirty="0" smtClean="0"/>
          </a:p>
          <a:p>
            <a:r>
              <a:rPr lang="en-US" dirty="0" smtClean="0"/>
              <a:t>Second iteration:</a:t>
            </a:r>
          </a:p>
          <a:p>
            <a:pPr lvl="1"/>
            <a:r>
              <a:rPr lang="en-US" dirty="0" smtClean="0"/>
              <a:t>Again:</a:t>
            </a:r>
            <a:br>
              <a:rPr lang="en-US" dirty="0" smtClean="0"/>
            </a:br>
            <a:r>
              <a:rPr lang="en-US" dirty="0" smtClean="0"/>
              <a:t>n/8 + n = 9n/8 misses</a:t>
            </a:r>
          </a:p>
          <a:p>
            <a:pPr lvl="1"/>
            <a:endParaRPr lang="en-US" dirty="0" smtClean="0"/>
          </a:p>
          <a:p>
            <a:pPr lvl="1"/>
            <a:endParaRPr lang="en-US" dirty="0" smtClean="0"/>
          </a:p>
          <a:p>
            <a:r>
              <a:rPr lang="en-US" dirty="0" smtClean="0"/>
              <a:t>Total misses:</a:t>
            </a:r>
          </a:p>
          <a:p>
            <a:pPr lvl="1"/>
            <a:r>
              <a:rPr lang="en-US" dirty="0" smtClean="0"/>
              <a:t>9n/8 * n</a:t>
            </a:r>
            <a:r>
              <a:rPr lang="en-US" baseline="30000" dirty="0" smtClean="0"/>
              <a:t>2</a:t>
            </a:r>
            <a:r>
              <a:rPr lang="en-US" dirty="0" smtClean="0"/>
              <a:t> = (9/8) * n</a:t>
            </a:r>
            <a:r>
              <a:rPr lang="en-US" baseline="30000" dirty="0" smtClean="0"/>
              <a:t>3</a:t>
            </a:r>
            <a:r>
              <a:rPr lang="en-US" dirty="0" smtClean="0"/>
              <a:t> </a:t>
            </a:r>
            <a:endParaRPr lang="en-US" dirty="0"/>
          </a:p>
        </p:txBody>
      </p:sp>
      <p:sp>
        <p:nvSpPr>
          <p:cNvPr id="14" name="AutoShape 16"/>
          <p:cNvSpPr>
            <a:spLocks/>
          </p:cNvSpPr>
          <p:nvPr/>
        </p:nvSpPr>
        <p:spPr bwMode="auto">
          <a:xfrm rot="5400000" flipV="1">
            <a:off x="7755466" y="2819400"/>
            <a:ext cx="228600" cy="1143000"/>
          </a:xfrm>
          <a:prstGeom prst="leftBrace">
            <a:avLst>
              <a:gd name="adj1" fmla="val 75000"/>
              <a:gd name="adj2" fmla="val 50000"/>
            </a:avLst>
          </a:prstGeom>
          <a:noFill/>
          <a:ln w="25400">
            <a:solidFill>
              <a:schemeClr val="tx1"/>
            </a:solidFill>
            <a:round/>
            <a:headEnd/>
            <a:tailEnd/>
          </a:ln>
          <a:effectLst/>
        </p:spPr>
        <p:txBody>
          <a:bodyPr wrap="none" anchor="ctr"/>
          <a:lstStyle/>
          <a:p>
            <a:endParaRPr lang="en-US" sz="1800" dirty="0">
              <a:latin typeface="Calibri" pitchFamily="34" charset="0"/>
            </a:endParaRPr>
          </a:p>
        </p:txBody>
      </p:sp>
      <p:sp>
        <p:nvSpPr>
          <p:cNvPr id="15" name="TextBox 14"/>
          <p:cNvSpPr txBox="1"/>
          <p:nvPr/>
        </p:nvSpPr>
        <p:spPr>
          <a:xfrm>
            <a:off x="7721601" y="2907268"/>
            <a:ext cx="308098" cy="369332"/>
          </a:xfrm>
          <a:prstGeom prst="rect">
            <a:avLst/>
          </a:prstGeom>
          <a:noFill/>
        </p:spPr>
        <p:txBody>
          <a:bodyPr wrap="none" rtlCol="0">
            <a:spAutoFit/>
          </a:bodyPr>
          <a:lstStyle/>
          <a:p>
            <a:r>
              <a:rPr lang="en-US" sz="1800" dirty="0" smtClean="0">
                <a:latin typeface="Calibri" pitchFamily="34" charset="0"/>
              </a:rPr>
              <a:t>n</a:t>
            </a:r>
          </a:p>
        </p:txBody>
      </p:sp>
      <p:sp>
        <p:nvSpPr>
          <p:cNvPr id="16" name="Rectangle 15"/>
          <p:cNvSpPr/>
          <p:nvPr/>
        </p:nvSpPr>
        <p:spPr bwMode="auto">
          <a:xfrm>
            <a:off x="5715000" y="3654623"/>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endParaRPr lang="en-US" sz="2000" dirty="0" smtClean="0">
              <a:latin typeface="Courier New" pitchFamily="49" charset="0"/>
              <a:cs typeface="Courier New" pitchFamily="49" charset="0"/>
            </a:endParaRPr>
          </a:p>
        </p:txBody>
      </p:sp>
      <p:sp>
        <p:nvSpPr>
          <p:cNvPr id="17" name="Rectangle 16"/>
          <p:cNvSpPr/>
          <p:nvPr/>
        </p:nvSpPr>
        <p:spPr bwMode="auto">
          <a:xfrm>
            <a:off x="7315200" y="3654623"/>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endParaRPr lang="en-US" sz="2000" dirty="0" smtClean="0">
              <a:latin typeface="Courier New" pitchFamily="49" charset="0"/>
              <a:cs typeface="Courier New" pitchFamily="49" charset="0"/>
            </a:endParaRPr>
          </a:p>
        </p:txBody>
      </p:sp>
      <p:cxnSp>
        <p:nvCxnSpPr>
          <p:cNvPr id="18" name="Straight Connector 17"/>
          <p:cNvCxnSpPr/>
          <p:nvPr/>
        </p:nvCxnSpPr>
        <p:spPr bwMode="auto">
          <a:xfrm>
            <a:off x="5715000" y="3654624"/>
            <a:ext cx="1143000" cy="1588"/>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cxnSp>
        <p:nvCxnSpPr>
          <p:cNvPr id="19" name="Straight Connector 18"/>
          <p:cNvCxnSpPr/>
          <p:nvPr/>
        </p:nvCxnSpPr>
        <p:spPr bwMode="auto">
          <a:xfrm rot="5400000">
            <a:off x="6836039" y="4225329"/>
            <a:ext cx="1143000" cy="1588"/>
          </a:xfrm>
          <a:prstGeom prst="line">
            <a:avLst/>
          </a:prstGeom>
          <a:noFill/>
          <a:ln w="57150" cap="flat" cmpd="sng" algn="ctr">
            <a:solidFill>
              <a:schemeClr val="tx1">
                <a:lumMod val="50000"/>
                <a:lumOff val="50000"/>
              </a:schemeClr>
            </a:solidFill>
            <a:prstDash val="solid"/>
            <a:round/>
            <a:headEnd type="none" w="med" len="med"/>
            <a:tailEnd type="none" w="med" len="med"/>
          </a:ln>
          <a:effectLst/>
        </p:spPr>
      </p:cxnSp>
      <p:sp>
        <p:nvSpPr>
          <p:cNvPr id="20" name="TextBox 19"/>
          <p:cNvSpPr txBox="1"/>
          <p:nvPr/>
        </p:nvSpPr>
        <p:spPr>
          <a:xfrm>
            <a:off x="6900332" y="4068915"/>
            <a:ext cx="389850" cy="584775"/>
          </a:xfrm>
          <a:prstGeom prst="rect">
            <a:avLst/>
          </a:prstGeom>
          <a:noFill/>
        </p:spPr>
        <p:txBody>
          <a:bodyPr wrap="none" rtlCol="0">
            <a:spAutoFit/>
          </a:bodyPr>
          <a:lstStyle/>
          <a:p>
            <a:r>
              <a:rPr lang="en-US" sz="3200" dirty="0" smtClean="0">
                <a:latin typeface="Calibri" pitchFamily="34" charset="0"/>
              </a:rPr>
              <a:t>*</a:t>
            </a:r>
          </a:p>
        </p:txBody>
      </p:sp>
      <p:sp>
        <p:nvSpPr>
          <p:cNvPr id="21" name="Rectangle 20"/>
          <p:cNvSpPr/>
          <p:nvPr/>
        </p:nvSpPr>
        <p:spPr bwMode="auto">
          <a:xfrm>
            <a:off x="3929867" y="3654623"/>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endParaRPr lang="en-US" sz="2000" dirty="0" smtClean="0">
              <a:latin typeface="Courier New" pitchFamily="49" charset="0"/>
              <a:cs typeface="Courier New" pitchFamily="49" charset="0"/>
            </a:endParaRPr>
          </a:p>
        </p:txBody>
      </p:sp>
      <p:sp>
        <p:nvSpPr>
          <p:cNvPr id="22" name="TextBox 21"/>
          <p:cNvSpPr txBox="1"/>
          <p:nvPr/>
        </p:nvSpPr>
        <p:spPr>
          <a:xfrm>
            <a:off x="5196117" y="3959423"/>
            <a:ext cx="389850" cy="584775"/>
          </a:xfrm>
          <a:prstGeom prst="rect">
            <a:avLst/>
          </a:prstGeom>
          <a:noFill/>
        </p:spPr>
        <p:txBody>
          <a:bodyPr wrap="none" rtlCol="0">
            <a:spAutoFit/>
          </a:bodyPr>
          <a:lstStyle/>
          <a:p>
            <a:r>
              <a:rPr lang="en-US" sz="3200" dirty="0" smtClean="0">
                <a:latin typeface="Calibri" pitchFamily="34" charset="0"/>
              </a:rPr>
              <a:t>=</a:t>
            </a:r>
          </a:p>
        </p:txBody>
      </p:sp>
      <p:sp>
        <p:nvSpPr>
          <p:cNvPr id="23" name="Rectangle 22"/>
          <p:cNvSpPr/>
          <p:nvPr/>
        </p:nvSpPr>
        <p:spPr bwMode="auto">
          <a:xfrm>
            <a:off x="4004732" y="3654624"/>
            <a:ext cx="76200" cy="762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cxnSp>
        <p:nvCxnSpPr>
          <p:cNvPr id="24" name="Straight Connector 23"/>
          <p:cNvCxnSpPr/>
          <p:nvPr/>
        </p:nvCxnSpPr>
        <p:spPr bwMode="auto">
          <a:xfrm>
            <a:off x="6477000" y="3654623"/>
            <a:ext cx="381000" cy="529"/>
          </a:xfrm>
          <a:prstGeom prst="line">
            <a:avLst/>
          </a:prstGeom>
          <a:noFill/>
          <a:ln w="57150" cap="flat" cmpd="sng" algn="ctr">
            <a:solidFill>
              <a:srgbClr val="C00000"/>
            </a:solidFill>
            <a:prstDash val="solid"/>
            <a:round/>
            <a:headEnd type="none" w="med" len="med"/>
            <a:tailEnd type="none" w="med" len="med"/>
          </a:ln>
          <a:effectLst/>
        </p:spPr>
      </p:cxnSp>
      <p:sp>
        <p:nvSpPr>
          <p:cNvPr id="26" name="Rectangle 25"/>
          <p:cNvSpPr/>
          <p:nvPr/>
        </p:nvSpPr>
        <p:spPr bwMode="auto">
          <a:xfrm>
            <a:off x="7298266" y="4552665"/>
            <a:ext cx="245534" cy="253425"/>
          </a:xfrm>
          <a:prstGeom prst="rect">
            <a:avLst/>
          </a:prstGeom>
          <a:solidFill>
            <a:srgbClr val="C00000"/>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27" name="TextBox 26"/>
          <p:cNvSpPr txBox="1"/>
          <p:nvPr/>
        </p:nvSpPr>
        <p:spPr>
          <a:xfrm>
            <a:off x="7095064" y="4797623"/>
            <a:ext cx="679994" cy="307777"/>
          </a:xfrm>
          <a:prstGeom prst="rect">
            <a:avLst/>
          </a:prstGeom>
          <a:noFill/>
        </p:spPr>
        <p:txBody>
          <a:bodyPr wrap="none" rtlCol="0">
            <a:spAutoFit/>
          </a:bodyPr>
          <a:lstStyle/>
          <a:p>
            <a:r>
              <a:rPr lang="en-US" sz="1400" dirty="0" smtClean="0">
                <a:solidFill>
                  <a:srgbClr val="C00000"/>
                </a:solidFill>
                <a:latin typeface="Calibri" pitchFamily="34" charset="0"/>
              </a:rPr>
              <a:t>8 wide</a:t>
            </a:r>
          </a:p>
        </p:txBody>
      </p:sp>
    </p:spTree>
    <p:extLst>
      <p:ext uri="{BB962C8B-B14F-4D97-AF65-F5344CB8AC3E}">
        <p14:creationId xmlns:p14="http://schemas.microsoft.com/office/powerpoint/2010/main" val="165526171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Blocked Matrix Multiplication</a:t>
            </a:r>
            <a:endParaRPr lang="en-US" dirty="0"/>
          </a:p>
        </p:txBody>
      </p:sp>
      <p:sp>
        <p:nvSpPr>
          <p:cNvPr id="4" name="Rectangle 7"/>
          <p:cNvSpPr>
            <a:spLocks noChangeArrowheads="1"/>
          </p:cNvSpPr>
          <p:nvPr/>
        </p:nvSpPr>
        <p:spPr bwMode="auto">
          <a:xfrm>
            <a:off x="499532" y="1332469"/>
            <a:ext cx="7958668" cy="3105978"/>
          </a:xfrm>
          <a:prstGeom prst="rect">
            <a:avLst/>
          </a:prstGeom>
          <a:solidFill>
            <a:srgbClr val="F6F5BD"/>
          </a:solidFill>
          <a:ln w="12700" cmpd="thickThin">
            <a:solidFill>
              <a:schemeClr val="tx1"/>
            </a:solidFill>
            <a:miter lim="800000"/>
            <a:headEnd/>
            <a:tailEnd/>
          </a:ln>
          <a:effectLst/>
        </p:spPr>
        <p:txBody>
          <a:bodyPr wrap="square" lIns="90487" tIns="44450" rIns="90487" bIns="44450">
            <a:spAutoFit/>
          </a:bodyPr>
          <a:lstStyle/>
          <a:p>
            <a:pPr algn="l">
              <a:lnSpc>
                <a:spcPct val="100000"/>
              </a:lnSpc>
            </a:pPr>
            <a:r>
              <a:rPr lang="en-US" sz="1400" dirty="0" smtClean="0">
                <a:latin typeface="Courier New" pitchFamily="49" charset="0"/>
              </a:rPr>
              <a:t>c = (double *) </a:t>
            </a:r>
            <a:r>
              <a:rPr lang="en-US" sz="1400" dirty="0" err="1" smtClean="0">
                <a:latin typeface="Courier New" pitchFamily="49" charset="0"/>
              </a:rPr>
              <a:t>calloc</a:t>
            </a:r>
            <a:r>
              <a:rPr lang="en-US" sz="1400" dirty="0" smtClean="0">
                <a:latin typeface="Courier New" pitchFamily="49" charset="0"/>
              </a:rPr>
              <a:t>(</a:t>
            </a:r>
            <a:r>
              <a:rPr lang="en-US" sz="1400" dirty="0" err="1" smtClean="0">
                <a:latin typeface="Courier New" pitchFamily="49" charset="0"/>
              </a:rPr>
              <a:t>sizeof</a:t>
            </a:r>
            <a:r>
              <a:rPr lang="en-US" sz="1400" dirty="0" smtClean="0">
                <a:latin typeface="Courier New" pitchFamily="49" charset="0"/>
              </a:rPr>
              <a:t>(double), n*n);</a:t>
            </a:r>
          </a:p>
          <a:p>
            <a:pPr algn="l">
              <a:lnSpc>
                <a:spcPct val="100000"/>
              </a:lnSpc>
            </a:pPr>
            <a:endParaRPr lang="en-US" sz="1400" dirty="0" smtClean="0">
              <a:latin typeface="Courier New" pitchFamily="49" charset="0"/>
            </a:endParaRPr>
          </a:p>
          <a:p>
            <a:pPr algn="l">
              <a:lnSpc>
                <a:spcPct val="100000"/>
              </a:lnSpc>
            </a:pPr>
            <a:r>
              <a:rPr lang="en-US" sz="1400" dirty="0" smtClean="0">
                <a:solidFill>
                  <a:srgbClr val="990000"/>
                </a:solidFill>
                <a:latin typeface="Courier New" pitchFamily="49" charset="0"/>
              </a:rPr>
              <a:t>/* Multiply n x </a:t>
            </a:r>
            <a:r>
              <a:rPr lang="en-US" sz="1400" dirty="0">
                <a:solidFill>
                  <a:srgbClr val="990000"/>
                </a:solidFill>
                <a:latin typeface="Courier New" pitchFamily="49" charset="0"/>
              </a:rPr>
              <a:t>n </a:t>
            </a:r>
            <a:r>
              <a:rPr lang="en-US" sz="1400" dirty="0" smtClean="0">
                <a:solidFill>
                  <a:srgbClr val="990000"/>
                </a:solidFill>
                <a:latin typeface="Courier New" pitchFamily="49" charset="0"/>
              </a:rPr>
              <a:t>matrices a and b  </a:t>
            </a:r>
            <a:r>
              <a:rPr lang="en-US" sz="1400" dirty="0">
                <a:solidFill>
                  <a:srgbClr val="990000"/>
                </a:solidFill>
                <a:latin typeface="Courier New" pitchFamily="49" charset="0"/>
              </a:rPr>
              <a:t>*/</a:t>
            </a:r>
          </a:p>
          <a:p>
            <a:pPr algn="l">
              <a:lnSpc>
                <a:spcPct val="100000"/>
              </a:lnSpc>
            </a:pPr>
            <a:r>
              <a:rPr lang="en-US" sz="1400" dirty="0" smtClean="0">
                <a:latin typeface="Courier New" pitchFamily="49" charset="0"/>
              </a:rPr>
              <a:t>void </a:t>
            </a:r>
            <a:r>
              <a:rPr lang="en-US" sz="1400" dirty="0" err="1" smtClean="0">
                <a:latin typeface="Courier New" pitchFamily="49" charset="0"/>
              </a:rPr>
              <a:t>mmm</a:t>
            </a:r>
            <a:r>
              <a:rPr lang="en-US" sz="1400" dirty="0" smtClean="0">
                <a:latin typeface="Courier New" pitchFamily="49" charset="0"/>
              </a:rPr>
              <a:t>(double </a:t>
            </a:r>
            <a:r>
              <a:rPr lang="en-US" sz="1400" dirty="0">
                <a:latin typeface="Courier New" pitchFamily="49" charset="0"/>
              </a:rPr>
              <a:t>*a, double *b, </a:t>
            </a:r>
            <a:r>
              <a:rPr lang="en-US" sz="1400" dirty="0" smtClean="0">
                <a:latin typeface="Courier New" pitchFamily="49" charset="0"/>
              </a:rPr>
              <a:t>double *c, </a:t>
            </a:r>
            <a:r>
              <a:rPr lang="en-US" sz="1400" dirty="0" err="1" smtClean="0">
                <a:latin typeface="Courier New" pitchFamily="49" charset="0"/>
              </a:rPr>
              <a:t>int</a:t>
            </a:r>
            <a:r>
              <a:rPr lang="en-US" sz="1400" dirty="0" smtClean="0">
                <a:latin typeface="Courier New" pitchFamily="49" charset="0"/>
              </a:rPr>
              <a:t> n</a:t>
            </a:r>
            <a:r>
              <a:rPr lang="en-US" sz="1400" dirty="0">
                <a:latin typeface="Courier New" pitchFamily="49" charset="0"/>
              </a:rPr>
              <a:t>) {</a:t>
            </a:r>
          </a:p>
          <a:p>
            <a:pPr algn="l">
              <a:lnSpc>
                <a:spcPct val="100000"/>
              </a:lnSpc>
            </a:pPr>
            <a:r>
              <a:rPr lang="en-US" sz="1400" dirty="0" smtClean="0">
                <a:latin typeface="Courier New" pitchFamily="49" charset="0"/>
              </a:rPr>
              <a:t>    </a:t>
            </a:r>
            <a:r>
              <a:rPr lang="en-US" sz="1400" dirty="0" err="1" smtClean="0">
                <a:latin typeface="Courier New" pitchFamily="49" charset="0"/>
              </a:rPr>
              <a:t>int</a:t>
            </a:r>
            <a:r>
              <a:rPr lang="en-US" sz="1400" dirty="0" smtClean="0">
                <a:latin typeface="Courier New" pitchFamily="49" charset="0"/>
              </a:rPr>
              <a:t> </a:t>
            </a:r>
            <a:r>
              <a:rPr lang="en-US" sz="1400" dirty="0" err="1" smtClean="0">
                <a:latin typeface="Courier New" pitchFamily="49" charset="0"/>
              </a:rPr>
              <a:t>i</a:t>
            </a:r>
            <a:r>
              <a:rPr lang="en-US" sz="1400" dirty="0">
                <a:latin typeface="Courier New" pitchFamily="49" charset="0"/>
              </a:rPr>
              <a:t>, </a:t>
            </a:r>
            <a:r>
              <a:rPr lang="en-US" sz="1400" dirty="0" smtClean="0">
                <a:latin typeface="Courier New" pitchFamily="49" charset="0"/>
              </a:rPr>
              <a:t>j, k;</a:t>
            </a:r>
            <a:endParaRPr lang="en-US" sz="1400" dirty="0">
              <a:latin typeface="Courier New" pitchFamily="49" charset="0"/>
            </a:endParaRPr>
          </a:p>
          <a:p>
            <a:pPr algn="l">
              <a:lnSpc>
                <a:spcPct val="100000"/>
              </a:lnSpc>
            </a:pPr>
            <a:r>
              <a:rPr lang="en-US" sz="1400" dirty="0">
                <a:latin typeface="Courier New" pitchFamily="49" charset="0"/>
              </a:rPr>
              <a:t>    for (</a:t>
            </a:r>
            <a:r>
              <a:rPr lang="en-US" sz="1400" dirty="0" err="1" smtClean="0">
                <a:latin typeface="Courier New" pitchFamily="49" charset="0"/>
              </a:rPr>
              <a:t>i</a:t>
            </a:r>
            <a:r>
              <a:rPr lang="en-US" sz="1400" dirty="0" smtClean="0">
                <a:latin typeface="Courier New" pitchFamily="49" charset="0"/>
              </a:rPr>
              <a:t> </a:t>
            </a:r>
            <a:r>
              <a:rPr lang="en-US" sz="1400" dirty="0">
                <a:latin typeface="Courier New" pitchFamily="49" charset="0"/>
              </a:rPr>
              <a:t>= 0; </a:t>
            </a:r>
            <a:r>
              <a:rPr lang="en-US" sz="1400" dirty="0" err="1" smtClean="0">
                <a:latin typeface="Courier New" pitchFamily="49" charset="0"/>
              </a:rPr>
              <a:t>i</a:t>
            </a:r>
            <a:r>
              <a:rPr lang="en-US" sz="1400" dirty="0" smtClean="0">
                <a:latin typeface="Courier New" pitchFamily="49" charset="0"/>
              </a:rPr>
              <a:t> </a:t>
            </a:r>
            <a:r>
              <a:rPr lang="en-US" sz="1400" dirty="0">
                <a:latin typeface="Courier New" pitchFamily="49" charset="0"/>
              </a:rPr>
              <a:t>&lt; n; </a:t>
            </a:r>
            <a:r>
              <a:rPr lang="en-US" sz="1400" dirty="0" err="1" smtClean="0">
                <a:latin typeface="Courier New" pitchFamily="49" charset="0"/>
              </a:rPr>
              <a:t>i</a:t>
            </a:r>
            <a:r>
              <a:rPr lang="en-US" sz="1400" dirty="0" smtClean="0">
                <a:latin typeface="Courier New" pitchFamily="49" charset="0"/>
              </a:rPr>
              <a:t>+=B)</a:t>
            </a:r>
            <a:endParaRPr lang="en-US" sz="1400" dirty="0">
              <a:latin typeface="Courier New" pitchFamily="49" charset="0"/>
            </a:endParaRPr>
          </a:p>
          <a:p>
            <a:pPr algn="l">
              <a:lnSpc>
                <a:spcPct val="100000"/>
              </a:lnSpc>
            </a:pPr>
            <a:r>
              <a:rPr lang="en-US" sz="1400" dirty="0">
                <a:latin typeface="Courier New" pitchFamily="49" charset="0"/>
              </a:rPr>
              <a:t>	for (</a:t>
            </a:r>
            <a:r>
              <a:rPr lang="en-US" sz="1400" dirty="0" smtClean="0">
                <a:latin typeface="Courier New" pitchFamily="49" charset="0"/>
              </a:rPr>
              <a:t>j </a:t>
            </a:r>
            <a:r>
              <a:rPr lang="en-US" sz="1400" dirty="0">
                <a:latin typeface="Courier New" pitchFamily="49" charset="0"/>
              </a:rPr>
              <a:t>= 0; </a:t>
            </a:r>
            <a:r>
              <a:rPr lang="en-US" sz="1400" dirty="0" smtClean="0">
                <a:latin typeface="Courier New" pitchFamily="49" charset="0"/>
              </a:rPr>
              <a:t>j </a:t>
            </a:r>
            <a:r>
              <a:rPr lang="en-US" sz="1400" dirty="0">
                <a:latin typeface="Courier New" pitchFamily="49" charset="0"/>
              </a:rPr>
              <a:t>&lt; n; </a:t>
            </a:r>
            <a:r>
              <a:rPr lang="en-US" sz="1400" dirty="0" smtClean="0">
                <a:latin typeface="Courier New" pitchFamily="49" charset="0"/>
              </a:rPr>
              <a:t>j+=B)</a:t>
            </a:r>
          </a:p>
          <a:p>
            <a:pPr algn="l">
              <a:lnSpc>
                <a:spcPct val="100000"/>
              </a:lnSpc>
            </a:pPr>
            <a:r>
              <a:rPr lang="en-US" sz="1400" dirty="0" smtClean="0">
                <a:latin typeface="Courier New" pitchFamily="49" charset="0"/>
              </a:rPr>
              <a:t>             for (k = 0; k &lt; n; k+=B)</a:t>
            </a:r>
          </a:p>
          <a:p>
            <a:pPr algn="l">
              <a:lnSpc>
                <a:spcPct val="100000"/>
              </a:lnSpc>
            </a:pPr>
            <a:r>
              <a:rPr lang="en-US" sz="1400" dirty="0" smtClean="0">
                <a:latin typeface="Courier New" pitchFamily="49" charset="0"/>
              </a:rPr>
              <a:t>		 </a:t>
            </a:r>
            <a:r>
              <a:rPr lang="en-US" sz="1400" dirty="0" smtClean="0">
                <a:solidFill>
                  <a:srgbClr val="990000"/>
                </a:solidFill>
                <a:latin typeface="Courier New" pitchFamily="49" charset="0"/>
              </a:rPr>
              <a:t>/* B x B mini matrix multiplications */</a:t>
            </a:r>
          </a:p>
          <a:p>
            <a:pPr algn="l">
              <a:lnSpc>
                <a:spcPct val="100000"/>
              </a:lnSpc>
            </a:pPr>
            <a:r>
              <a:rPr lang="en-US" sz="1400" dirty="0" smtClean="0">
                <a:latin typeface="Courier New" pitchFamily="49" charset="0"/>
              </a:rPr>
              <a:t>                  for (i1 = </a:t>
            </a:r>
            <a:r>
              <a:rPr lang="en-US" sz="1400" dirty="0" err="1" smtClean="0">
                <a:latin typeface="Courier New" pitchFamily="49" charset="0"/>
              </a:rPr>
              <a:t>i</a:t>
            </a:r>
            <a:r>
              <a:rPr lang="en-US" sz="1400" dirty="0" smtClean="0">
                <a:latin typeface="Courier New" pitchFamily="49" charset="0"/>
              </a:rPr>
              <a:t>; i1 &lt; </a:t>
            </a:r>
            <a:r>
              <a:rPr lang="en-US" sz="1400" dirty="0" err="1" smtClean="0">
                <a:latin typeface="Courier New" pitchFamily="49" charset="0"/>
              </a:rPr>
              <a:t>i+B</a:t>
            </a:r>
            <a:r>
              <a:rPr lang="en-US" sz="1400" dirty="0" smtClean="0">
                <a:latin typeface="Courier New" pitchFamily="49" charset="0"/>
              </a:rPr>
              <a:t>; </a:t>
            </a:r>
            <a:r>
              <a:rPr lang="en-US" sz="1400" dirty="0" err="1" smtClean="0">
                <a:latin typeface="Courier New" pitchFamily="49" charset="0"/>
              </a:rPr>
              <a:t>i</a:t>
            </a:r>
            <a:r>
              <a:rPr lang="en-US" sz="1400" dirty="0" smtClean="0">
                <a:latin typeface="Courier New" pitchFamily="49" charset="0"/>
              </a:rPr>
              <a:t>++)</a:t>
            </a:r>
          </a:p>
          <a:p>
            <a:r>
              <a:rPr lang="en-US" sz="1400" dirty="0" smtClean="0">
                <a:latin typeface="Courier New" pitchFamily="49" charset="0"/>
              </a:rPr>
              <a:t>                      for (j1 = j; j1 &lt; </a:t>
            </a:r>
            <a:r>
              <a:rPr lang="en-US" sz="1400" dirty="0" err="1" smtClean="0">
                <a:latin typeface="Courier New" pitchFamily="49" charset="0"/>
              </a:rPr>
              <a:t>j+B</a:t>
            </a:r>
            <a:r>
              <a:rPr lang="en-US" sz="1400" dirty="0" smtClean="0">
                <a:latin typeface="Courier New" pitchFamily="49" charset="0"/>
              </a:rPr>
              <a:t>; j++)</a:t>
            </a:r>
          </a:p>
          <a:p>
            <a:r>
              <a:rPr lang="en-US" sz="1400" dirty="0" smtClean="0">
                <a:latin typeface="Courier New" pitchFamily="49" charset="0"/>
              </a:rPr>
              <a:t>                          for (k1 = k; k1 &lt; </a:t>
            </a:r>
            <a:r>
              <a:rPr lang="en-US" sz="1400" dirty="0" err="1" smtClean="0">
                <a:latin typeface="Courier New" pitchFamily="49" charset="0"/>
              </a:rPr>
              <a:t>k+B</a:t>
            </a:r>
            <a:r>
              <a:rPr lang="en-US" sz="1400" dirty="0" smtClean="0">
                <a:latin typeface="Courier New" pitchFamily="49" charset="0"/>
              </a:rPr>
              <a:t>; k++)</a:t>
            </a:r>
            <a:endParaRPr lang="en-US" sz="1400" dirty="0">
              <a:latin typeface="Courier New" pitchFamily="49" charset="0"/>
            </a:endParaRPr>
          </a:p>
          <a:p>
            <a:pPr algn="l">
              <a:lnSpc>
                <a:spcPct val="100000"/>
              </a:lnSpc>
            </a:pPr>
            <a:r>
              <a:rPr lang="en-US" sz="1400" dirty="0">
                <a:latin typeface="Courier New" pitchFamily="49" charset="0"/>
              </a:rPr>
              <a:t>	    </a:t>
            </a:r>
            <a:r>
              <a:rPr lang="en-US" sz="1400" dirty="0" smtClean="0">
                <a:latin typeface="Courier New" pitchFamily="49" charset="0"/>
              </a:rPr>
              <a:t>                  c[i1*n+j1] </a:t>
            </a:r>
            <a:r>
              <a:rPr lang="en-US" sz="1400" dirty="0">
                <a:latin typeface="Courier New" pitchFamily="49" charset="0"/>
              </a:rPr>
              <a:t>+= </a:t>
            </a:r>
            <a:r>
              <a:rPr lang="en-US" sz="1400" dirty="0" smtClean="0">
                <a:latin typeface="Courier New" pitchFamily="49" charset="0"/>
              </a:rPr>
              <a:t>a[i1*n </a:t>
            </a:r>
            <a:r>
              <a:rPr lang="en-US" sz="1400" dirty="0">
                <a:latin typeface="Courier New" pitchFamily="49" charset="0"/>
              </a:rPr>
              <a:t>+ </a:t>
            </a:r>
            <a:r>
              <a:rPr lang="en-US" sz="1400" dirty="0" smtClean="0">
                <a:latin typeface="Courier New" pitchFamily="49" charset="0"/>
              </a:rPr>
              <a:t>k1]*b[k1*n + j1];</a:t>
            </a:r>
            <a:endParaRPr lang="en-US" sz="1400" dirty="0">
              <a:latin typeface="Courier New" pitchFamily="49" charset="0"/>
            </a:endParaRPr>
          </a:p>
          <a:p>
            <a:pPr algn="l">
              <a:lnSpc>
                <a:spcPct val="100000"/>
              </a:lnSpc>
            </a:pPr>
            <a:r>
              <a:rPr lang="en-US" sz="1400" dirty="0">
                <a:latin typeface="Courier New" pitchFamily="49" charset="0"/>
              </a:rPr>
              <a:t>}</a:t>
            </a:r>
          </a:p>
        </p:txBody>
      </p:sp>
      <p:sp>
        <p:nvSpPr>
          <p:cNvPr id="5" name="Rectangle 4"/>
          <p:cNvSpPr/>
          <p:nvPr/>
        </p:nvSpPr>
        <p:spPr bwMode="auto">
          <a:xfrm>
            <a:off x="2284665" y="48006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lang="en-US" sz="2000" dirty="0" smtClean="0">
                <a:latin typeface="Courier New" pitchFamily="49" charset="0"/>
                <a:cs typeface="Courier New" pitchFamily="49" charset="0"/>
              </a:rPr>
              <a:t>a</a:t>
            </a:r>
          </a:p>
        </p:txBody>
      </p:sp>
      <p:sp>
        <p:nvSpPr>
          <p:cNvPr id="6" name="Rectangle 5"/>
          <p:cNvSpPr/>
          <p:nvPr/>
        </p:nvSpPr>
        <p:spPr bwMode="auto">
          <a:xfrm>
            <a:off x="3884865" y="48006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lang="en-US" sz="2000" dirty="0" smtClean="0">
                <a:latin typeface="Courier New" pitchFamily="49" charset="0"/>
                <a:cs typeface="Courier New" pitchFamily="49" charset="0"/>
              </a:rPr>
              <a:t>b</a:t>
            </a:r>
          </a:p>
        </p:txBody>
      </p:sp>
      <p:sp>
        <p:nvSpPr>
          <p:cNvPr id="9" name="TextBox 8"/>
          <p:cNvSpPr txBox="1"/>
          <p:nvPr/>
        </p:nvSpPr>
        <p:spPr>
          <a:xfrm>
            <a:off x="1981200" y="5471173"/>
            <a:ext cx="357790" cy="369332"/>
          </a:xfrm>
          <a:prstGeom prst="rect">
            <a:avLst/>
          </a:prstGeom>
          <a:noFill/>
        </p:spPr>
        <p:txBody>
          <a:bodyPr wrap="none" rtlCol="0">
            <a:spAutoFit/>
          </a:bodyPr>
          <a:lstStyle/>
          <a:p>
            <a:r>
              <a:rPr lang="en-US" sz="1800" dirty="0" smtClean="0">
                <a:latin typeface="Calibri" pitchFamily="34" charset="0"/>
              </a:rPr>
              <a:t>i1</a:t>
            </a:r>
          </a:p>
        </p:txBody>
      </p:sp>
      <p:sp>
        <p:nvSpPr>
          <p:cNvPr id="10" name="TextBox 9"/>
          <p:cNvSpPr txBox="1"/>
          <p:nvPr/>
        </p:nvSpPr>
        <p:spPr>
          <a:xfrm>
            <a:off x="4394196" y="4419600"/>
            <a:ext cx="360996" cy="369332"/>
          </a:xfrm>
          <a:prstGeom prst="rect">
            <a:avLst/>
          </a:prstGeom>
          <a:noFill/>
        </p:spPr>
        <p:txBody>
          <a:bodyPr wrap="none" rtlCol="0">
            <a:spAutoFit/>
          </a:bodyPr>
          <a:lstStyle/>
          <a:p>
            <a:r>
              <a:rPr lang="en-US" sz="1800" dirty="0" smtClean="0">
                <a:latin typeface="Calibri" pitchFamily="34" charset="0"/>
              </a:rPr>
              <a:t>j1</a:t>
            </a:r>
          </a:p>
        </p:txBody>
      </p:sp>
      <p:sp>
        <p:nvSpPr>
          <p:cNvPr id="12" name="TextBox 11"/>
          <p:cNvSpPr txBox="1"/>
          <p:nvPr/>
        </p:nvSpPr>
        <p:spPr>
          <a:xfrm>
            <a:off x="3469997" y="5214892"/>
            <a:ext cx="389850" cy="584775"/>
          </a:xfrm>
          <a:prstGeom prst="rect">
            <a:avLst/>
          </a:prstGeom>
          <a:noFill/>
        </p:spPr>
        <p:txBody>
          <a:bodyPr wrap="none" rtlCol="0">
            <a:spAutoFit/>
          </a:bodyPr>
          <a:lstStyle/>
          <a:p>
            <a:r>
              <a:rPr lang="en-US" sz="3200" dirty="0" smtClean="0">
                <a:latin typeface="Calibri" pitchFamily="34" charset="0"/>
              </a:rPr>
              <a:t>*</a:t>
            </a:r>
          </a:p>
        </p:txBody>
      </p:sp>
      <p:sp>
        <p:nvSpPr>
          <p:cNvPr id="13" name="Rectangle 12"/>
          <p:cNvSpPr/>
          <p:nvPr/>
        </p:nvSpPr>
        <p:spPr bwMode="auto">
          <a:xfrm>
            <a:off x="499532" y="48006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lang="en-US" sz="2000" dirty="0" smtClean="0">
                <a:latin typeface="Courier New" pitchFamily="49" charset="0"/>
                <a:cs typeface="Courier New" pitchFamily="49" charset="0"/>
              </a:rPr>
              <a:t>c</a:t>
            </a:r>
          </a:p>
        </p:txBody>
      </p:sp>
      <p:sp>
        <p:nvSpPr>
          <p:cNvPr id="14" name="TextBox 13"/>
          <p:cNvSpPr txBox="1"/>
          <p:nvPr/>
        </p:nvSpPr>
        <p:spPr>
          <a:xfrm>
            <a:off x="1765782" y="5105400"/>
            <a:ext cx="389850" cy="584775"/>
          </a:xfrm>
          <a:prstGeom prst="rect">
            <a:avLst/>
          </a:prstGeom>
          <a:noFill/>
        </p:spPr>
        <p:txBody>
          <a:bodyPr wrap="none" rtlCol="0">
            <a:spAutoFit/>
          </a:bodyPr>
          <a:lstStyle/>
          <a:p>
            <a:r>
              <a:rPr lang="en-US" sz="3200" dirty="0" smtClean="0">
                <a:latin typeface="Calibri" pitchFamily="34" charset="0"/>
              </a:rPr>
              <a:t>=</a:t>
            </a:r>
          </a:p>
        </p:txBody>
      </p:sp>
      <p:sp>
        <p:nvSpPr>
          <p:cNvPr id="16" name="Rectangle 15"/>
          <p:cNvSpPr/>
          <p:nvPr/>
        </p:nvSpPr>
        <p:spPr bwMode="auto">
          <a:xfrm>
            <a:off x="1143000" y="5588001"/>
            <a:ext cx="186268" cy="186268"/>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17" name="Rectangle 16"/>
          <p:cNvSpPr/>
          <p:nvPr/>
        </p:nvSpPr>
        <p:spPr bwMode="auto">
          <a:xfrm>
            <a:off x="5528732" y="48006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lang="en-US" sz="2000" dirty="0" smtClean="0">
                <a:latin typeface="Courier New" pitchFamily="49" charset="0"/>
                <a:cs typeface="Courier New" pitchFamily="49" charset="0"/>
              </a:rPr>
              <a:t>c</a:t>
            </a:r>
          </a:p>
        </p:txBody>
      </p:sp>
      <p:sp>
        <p:nvSpPr>
          <p:cNvPr id="18" name="TextBox 17"/>
          <p:cNvSpPr txBox="1"/>
          <p:nvPr/>
        </p:nvSpPr>
        <p:spPr>
          <a:xfrm>
            <a:off x="5113864" y="5105400"/>
            <a:ext cx="389850" cy="584775"/>
          </a:xfrm>
          <a:prstGeom prst="rect">
            <a:avLst/>
          </a:prstGeom>
          <a:noFill/>
        </p:spPr>
        <p:txBody>
          <a:bodyPr wrap="none" rtlCol="0">
            <a:spAutoFit/>
          </a:bodyPr>
          <a:lstStyle/>
          <a:p>
            <a:r>
              <a:rPr lang="en-US" sz="3200" dirty="0" smtClean="0">
                <a:latin typeface="Calibri" pitchFamily="34" charset="0"/>
              </a:rPr>
              <a:t>+</a:t>
            </a:r>
            <a:endParaRPr lang="en-US" sz="3200" dirty="0" smtClean="0">
              <a:latin typeface="Calibri" pitchFamily="34" charset="0"/>
            </a:endParaRPr>
          </a:p>
        </p:txBody>
      </p:sp>
      <p:sp>
        <p:nvSpPr>
          <p:cNvPr id="19" name="Rectangle 18"/>
          <p:cNvSpPr/>
          <p:nvPr/>
        </p:nvSpPr>
        <p:spPr bwMode="auto">
          <a:xfrm>
            <a:off x="2284665" y="5562600"/>
            <a:ext cx="1143000" cy="2286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20" name="Rectangle 19"/>
          <p:cNvSpPr/>
          <p:nvPr/>
        </p:nvSpPr>
        <p:spPr bwMode="auto">
          <a:xfrm rot="5400000">
            <a:off x="3996268" y="5257800"/>
            <a:ext cx="1143000" cy="2286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cxnSp>
        <p:nvCxnSpPr>
          <p:cNvPr id="23" name="Straight Connector 22"/>
          <p:cNvCxnSpPr/>
          <p:nvPr/>
        </p:nvCxnSpPr>
        <p:spPr bwMode="auto">
          <a:xfrm rot="5400000">
            <a:off x="2848242" y="5667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24" name="Straight Connector 23"/>
          <p:cNvCxnSpPr/>
          <p:nvPr/>
        </p:nvCxnSpPr>
        <p:spPr bwMode="auto">
          <a:xfrm rot="5400000">
            <a:off x="3085309" y="5667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25" name="Straight Connector 24"/>
          <p:cNvCxnSpPr/>
          <p:nvPr/>
        </p:nvCxnSpPr>
        <p:spPr bwMode="auto">
          <a:xfrm rot="5400000">
            <a:off x="2384163" y="5667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26" name="Straight Connector 25"/>
          <p:cNvCxnSpPr/>
          <p:nvPr/>
        </p:nvCxnSpPr>
        <p:spPr bwMode="auto">
          <a:xfrm rot="5400000">
            <a:off x="2612763" y="5667639"/>
            <a:ext cx="228600" cy="1588"/>
          </a:xfrm>
          <a:prstGeom prst="line">
            <a:avLst/>
          </a:prstGeom>
          <a:noFill/>
          <a:ln w="25400" cap="flat" cmpd="sng" algn="ctr">
            <a:solidFill>
              <a:schemeClr val="bg1"/>
            </a:solidFill>
            <a:prstDash val="solid"/>
            <a:round/>
            <a:headEnd type="none" w="med" len="med"/>
            <a:tailEnd type="none" w="med" len="med"/>
          </a:ln>
          <a:effectLst/>
        </p:spPr>
      </p:cxnSp>
      <p:grpSp>
        <p:nvGrpSpPr>
          <p:cNvPr id="3" name="Group 30"/>
          <p:cNvGrpSpPr/>
          <p:nvPr/>
        </p:nvGrpSpPr>
        <p:grpSpPr>
          <a:xfrm rot="5400000">
            <a:off x="4207934" y="5266267"/>
            <a:ext cx="702734" cy="228600"/>
            <a:chOff x="2650069" y="6316133"/>
            <a:chExt cx="702734" cy="228600"/>
          </a:xfrm>
        </p:grpSpPr>
        <p:cxnSp>
          <p:nvCxnSpPr>
            <p:cNvPr id="27" name="Straight Connector 26"/>
            <p:cNvCxnSpPr/>
            <p:nvPr/>
          </p:nvCxnSpPr>
          <p:spPr bwMode="auto">
            <a:xfrm rot="5400000">
              <a:off x="3000642"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28" name="Straight Connector 27"/>
            <p:cNvCxnSpPr/>
            <p:nvPr/>
          </p:nvCxnSpPr>
          <p:spPr bwMode="auto">
            <a:xfrm rot="5400000">
              <a:off x="3237709"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29" name="Straight Connector 28"/>
            <p:cNvCxnSpPr/>
            <p:nvPr/>
          </p:nvCxnSpPr>
          <p:spPr bwMode="auto">
            <a:xfrm rot="5400000">
              <a:off x="2536563"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30" name="Straight Connector 29"/>
            <p:cNvCxnSpPr/>
            <p:nvPr/>
          </p:nvCxnSpPr>
          <p:spPr bwMode="auto">
            <a:xfrm rot="5400000">
              <a:off x="2765163" y="6429639"/>
              <a:ext cx="228600" cy="1588"/>
            </a:xfrm>
            <a:prstGeom prst="line">
              <a:avLst/>
            </a:prstGeom>
            <a:noFill/>
            <a:ln w="25400" cap="flat" cmpd="sng" algn="ctr">
              <a:solidFill>
                <a:schemeClr val="bg1"/>
              </a:solidFill>
              <a:prstDash val="solid"/>
              <a:round/>
              <a:headEnd type="none" w="med" len="med"/>
              <a:tailEnd type="none" w="med" len="med"/>
            </a:ln>
            <a:effectLst/>
          </p:spPr>
        </p:cxnSp>
      </p:grpSp>
      <p:sp>
        <p:nvSpPr>
          <p:cNvPr id="32" name="TextBox 31"/>
          <p:cNvSpPr txBox="1"/>
          <p:nvPr/>
        </p:nvSpPr>
        <p:spPr>
          <a:xfrm>
            <a:off x="3756917" y="6324600"/>
            <a:ext cx="1627882" cy="369332"/>
          </a:xfrm>
          <a:prstGeom prst="rect">
            <a:avLst/>
          </a:prstGeom>
          <a:noFill/>
        </p:spPr>
        <p:txBody>
          <a:bodyPr wrap="none" rtlCol="0">
            <a:spAutoFit/>
          </a:bodyPr>
          <a:lstStyle/>
          <a:p>
            <a:r>
              <a:rPr lang="en-US" sz="1800" dirty="0" smtClean="0">
                <a:solidFill>
                  <a:schemeClr val="tx1">
                    <a:lumMod val="65000"/>
                    <a:lumOff val="35000"/>
                  </a:schemeClr>
                </a:solidFill>
                <a:latin typeface="Calibri" pitchFamily="34" charset="0"/>
              </a:rPr>
              <a:t>Block size B x B</a:t>
            </a:r>
          </a:p>
        </p:txBody>
      </p:sp>
      <p:cxnSp>
        <p:nvCxnSpPr>
          <p:cNvPr id="34" name="Straight Arrow Connector 33"/>
          <p:cNvCxnSpPr>
            <a:stCxn id="32" idx="0"/>
            <a:endCxn id="20" idx="3"/>
          </p:cNvCxnSpPr>
          <p:nvPr/>
        </p:nvCxnSpPr>
        <p:spPr bwMode="auto">
          <a:xfrm rot="16200000" flipV="1">
            <a:off x="4378813" y="6132555"/>
            <a:ext cx="381000" cy="3090"/>
          </a:xfrm>
          <a:prstGeom prst="straightConnector1">
            <a:avLst/>
          </a:prstGeom>
          <a:noFill/>
          <a:ln w="25400" cap="flat" cmpd="sng" algn="ctr">
            <a:solidFill>
              <a:schemeClr val="tx1"/>
            </a:solidFill>
            <a:prstDash val="solid"/>
            <a:round/>
            <a:headEnd type="none" w="med" len="med"/>
            <a:tailEnd type="arrow"/>
          </a:ln>
          <a:effectLst/>
        </p:spPr>
      </p:cxnSp>
    </p:spTree>
    <p:extLst>
      <p:ext uri="{BB962C8B-B14F-4D97-AF65-F5344CB8AC3E}">
        <p14:creationId xmlns:p14="http://schemas.microsoft.com/office/powerpoint/2010/main" val="2852445169"/>
      </p:ext>
    </p:extLst>
  </p:cSld>
  <p:clrMapOvr>
    <a:masterClrMapping/>
  </p:clrMapOvr>
  <p:timing>
    <p:tnLst>
      <p:par>
        <p:cTn xmlns:p14="http://schemas.microsoft.com/office/powerpoint/2010/mai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Miss Analysis</a:t>
            </a:r>
            <a:endParaRPr lang="en-US" dirty="0"/>
          </a:p>
        </p:txBody>
      </p:sp>
      <p:sp>
        <p:nvSpPr>
          <p:cNvPr id="3" name="Content Placeholder 2"/>
          <p:cNvSpPr>
            <a:spLocks noGrp="1"/>
          </p:cNvSpPr>
          <p:nvPr>
            <p:ph idx="1"/>
          </p:nvPr>
        </p:nvSpPr>
        <p:spPr>
          <a:xfrm>
            <a:off x="396875" y="1209675"/>
            <a:ext cx="7896225" cy="3057525"/>
          </a:xfrm>
        </p:spPr>
        <p:txBody>
          <a:bodyPr/>
          <a:lstStyle/>
          <a:p>
            <a:r>
              <a:rPr lang="en-US" dirty="0" smtClean="0"/>
              <a:t>Assume: </a:t>
            </a:r>
          </a:p>
          <a:p>
            <a:pPr lvl="1"/>
            <a:r>
              <a:rPr lang="en-US" dirty="0" smtClean="0"/>
              <a:t>Cache block = 8 doubles</a:t>
            </a:r>
          </a:p>
          <a:p>
            <a:pPr lvl="1"/>
            <a:r>
              <a:rPr lang="en-US" dirty="0" smtClean="0"/>
              <a:t>Cache size C &lt;&lt; n (much smaller than n)</a:t>
            </a:r>
          </a:p>
          <a:p>
            <a:pPr lvl="1"/>
            <a:r>
              <a:rPr lang="en-US" dirty="0" smtClean="0"/>
              <a:t>Three blocks       fit into cache: 3B</a:t>
            </a:r>
            <a:r>
              <a:rPr lang="en-US" baseline="30000" dirty="0" smtClean="0"/>
              <a:t>2</a:t>
            </a:r>
            <a:r>
              <a:rPr lang="en-US" dirty="0" smtClean="0"/>
              <a:t> &lt; C</a:t>
            </a:r>
          </a:p>
          <a:p>
            <a:endParaRPr lang="en-US" dirty="0" smtClean="0"/>
          </a:p>
          <a:p>
            <a:r>
              <a:rPr lang="en-US" dirty="0" smtClean="0"/>
              <a:t>First (block) iteration:</a:t>
            </a:r>
          </a:p>
          <a:p>
            <a:pPr lvl="1"/>
            <a:r>
              <a:rPr lang="en-US" dirty="0" smtClean="0"/>
              <a:t>B</a:t>
            </a:r>
            <a:r>
              <a:rPr lang="en-US" baseline="30000" dirty="0" smtClean="0"/>
              <a:t>2</a:t>
            </a:r>
            <a:r>
              <a:rPr lang="en-US" dirty="0" smtClean="0"/>
              <a:t>/8 misses for each block</a:t>
            </a:r>
          </a:p>
          <a:p>
            <a:pPr lvl="1"/>
            <a:r>
              <a:rPr lang="en-US" dirty="0" smtClean="0"/>
              <a:t>2n/B * B</a:t>
            </a:r>
            <a:r>
              <a:rPr lang="en-US" baseline="30000" dirty="0" smtClean="0"/>
              <a:t>2</a:t>
            </a:r>
            <a:r>
              <a:rPr lang="en-US" dirty="0" smtClean="0"/>
              <a:t>/8 = </a:t>
            </a:r>
            <a:r>
              <a:rPr lang="en-US" dirty="0" err="1" smtClean="0"/>
              <a:t>nB</a:t>
            </a:r>
            <a:r>
              <a:rPr lang="en-US" dirty="0" smtClean="0"/>
              <a:t>/4</a:t>
            </a:r>
            <a:br>
              <a:rPr lang="en-US" dirty="0" smtClean="0"/>
            </a:br>
            <a:r>
              <a:rPr lang="en-US" dirty="0" smtClean="0"/>
              <a:t>(omitting matrix c)</a:t>
            </a:r>
          </a:p>
          <a:p>
            <a:pPr lvl="1"/>
            <a:endParaRPr lang="en-US" dirty="0" smtClean="0"/>
          </a:p>
          <a:p>
            <a:pPr lvl="1"/>
            <a:endParaRPr lang="en-US" dirty="0" smtClean="0"/>
          </a:p>
          <a:p>
            <a:pPr lvl="1"/>
            <a:r>
              <a:rPr lang="en-US" dirty="0" smtClean="0"/>
              <a:t>Afterwards in cache</a:t>
            </a:r>
            <a:br>
              <a:rPr lang="en-US" dirty="0" smtClean="0"/>
            </a:br>
            <a:r>
              <a:rPr lang="en-US" dirty="0" smtClean="0"/>
              <a:t>(schematic)</a:t>
            </a:r>
          </a:p>
        </p:txBody>
      </p:sp>
      <p:sp>
        <p:nvSpPr>
          <p:cNvPr id="25" name="Rectangle 24"/>
          <p:cNvSpPr/>
          <p:nvPr/>
        </p:nvSpPr>
        <p:spPr bwMode="auto">
          <a:xfrm>
            <a:off x="5899933" y="55626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endParaRPr lang="en-US" sz="2000" dirty="0" smtClean="0">
              <a:latin typeface="Courier New" pitchFamily="49" charset="0"/>
              <a:cs typeface="Courier New" pitchFamily="49" charset="0"/>
            </a:endParaRPr>
          </a:p>
        </p:txBody>
      </p:sp>
      <p:sp>
        <p:nvSpPr>
          <p:cNvPr id="28" name="Rectangle 27"/>
          <p:cNvSpPr/>
          <p:nvPr/>
        </p:nvSpPr>
        <p:spPr bwMode="auto">
          <a:xfrm>
            <a:off x="7500133" y="55626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endParaRPr lang="en-US" sz="2000" dirty="0" smtClean="0">
              <a:latin typeface="Courier New" pitchFamily="49" charset="0"/>
              <a:cs typeface="Courier New" pitchFamily="49" charset="0"/>
            </a:endParaRPr>
          </a:p>
        </p:txBody>
      </p:sp>
      <p:sp>
        <p:nvSpPr>
          <p:cNvPr id="31" name="TextBox 30"/>
          <p:cNvSpPr txBox="1"/>
          <p:nvPr/>
        </p:nvSpPr>
        <p:spPr>
          <a:xfrm>
            <a:off x="7085265" y="5976892"/>
            <a:ext cx="389850" cy="584775"/>
          </a:xfrm>
          <a:prstGeom prst="rect">
            <a:avLst/>
          </a:prstGeom>
          <a:noFill/>
        </p:spPr>
        <p:txBody>
          <a:bodyPr wrap="none" rtlCol="0">
            <a:spAutoFit/>
          </a:bodyPr>
          <a:lstStyle/>
          <a:p>
            <a:r>
              <a:rPr lang="en-US" sz="3200" dirty="0" smtClean="0">
                <a:latin typeface="Calibri" pitchFamily="34" charset="0"/>
              </a:rPr>
              <a:t>*</a:t>
            </a:r>
          </a:p>
        </p:txBody>
      </p:sp>
      <p:sp>
        <p:nvSpPr>
          <p:cNvPr id="32" name="Rectangle 31"/>
          <p:cNvSpPr/>
          <p:nvPr/>
        </p:nvSpPr>
        <p:spPr bwMode="auto">
          <a:xfrm>
            <a:off x="4114800" y="55626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endParaRPr lang="en-US" sz="2000" dirty="0" smtClean="0">
              <a:latin typeface="Courier New" pitchFamily="49" charset="0"/>
              <a:cs typeface="Courier New" pitchFamily="49" charset="0"/>
            </a:endParaRPr>
          </a:p>
        </p:txBody>
      </p:sp>
      <p:sp>
        <p:nvSpPr>
          <p:cNvPr id="33" name="TextBox 32"/>
          <p:cNvSpPr txBox="1"/>
          <p:nvPr/>
        </p:nvSpPr>
        <p:spPr>
          <a:xfrm>
            <a:off x="5381050" y="5867400"/>
            <a:ext cx="389850" cy="584775"/>
          </a:xfrm>
          <a:prstGeom prst="rect">
            <a:avLst/>
          </a:prstGeom>
          <a:noFill/>
        </p:spPr>
        <p:txBody>
          <a:bodyPr wrap="none" rtlCol="0">
            <a:spAutoFit/>
          </a:bodyPr>
          <a:lstStyle/>
          <a:p>
            <a:r>
              <a:rPr lang="en-US" sz="3200" dirty="0" smtClean="0">
                <a:latin typeface="Calibri" pitchFamily="34" charset="0"/>
              </a:rPr>
              <a:t>=</a:t>
            </a:r>
          </a:p>
        </p:txBody>
      </p:sp>
      <p:sp>
        <p:nvSpPr>
          <p:cNvPr id="34" name="Rectangle 33"/>
          <p:cNvSpPr/>
          <p:nvPr/>
        </p:nvSpPr>
        <p:spPr bwMode="auto">
          <a:xfrm>
            <a:off x="4114800" y="5562600"/>
            <a:ext cx="186268" cy="186268"/>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37" name="Rectangle 36"/>
          <p:cNvSpPr/>
          <p:nvPr/>
        </p:nvSpPr>
        <p:spPr bwMode="auto">
          <a:xfrm>
            <a:off x="5899933" y="5560734"/>
            <a:ext cx="1143000" cy="2286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38" name="Rectangle 37"/>
          <p:cNvSpPr/>
          <p:nvPr/>
        </p:nvSpPr>
        <p:spPr bwMode="auto">
          <a:xfrm rot="5400000">
            <a:off x="7029618" y="6019800"/>
            <a:ext cx="1143000" cy="2286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cxnSp>
        <p:nvCxnSpPr>
          <p:cNvPr id="39" name="Straight Connector 38"/>
          <p:cNvCxnSpPr/>
          <p:nvPr/>
        </p:nvCxnSpPr>
        <p:spPr bwMode="auto">
          <a:xfrm rot="5400000">
            <a:off x="6463510" y="5665773"/>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0" name="Straight Connector 39"/>
          <p:cNvCxnSpPr/>
          <p:nvPr/>
        </p:nvCxnSpPr>
        <p:spPr bwMode="auto">
          <a:xfrm rot="5400000">
            <a:off x="6700577" y="5665773"/>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1" name="Straight Connector 40"/>
          <p:cNvCxnSpPr/>
          <p:nvPr/>
        </p:nvCxnSpPr>
        <p:spPr bwMode="auto">
          <a:xfrm rot="5400000">
            <a:off x="5999431" y="5665773"/>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2" name="Straight Connector 41"/>
          <p:cNvCxnSpPr/>
          <p:nvPr/>
        </p:nvCxnSpPr>
        <p:spPr bwMode="auto">
          <a:xfrm rot="5400000">
            <a:off x="6228031" y="5665773"/>
            <a:ext cx="228600" cy="1588"/>
          </a:xfrm>
          <a:prstGeom prst="line">
            <a:avLst/>
          </a:prstGeom>
          <a:noFill/>
          <a:ln w="25400" cap="flat" cmpd="sng" algn="ctr">
            <a:solidFill>
              <a:schemeClr val="bg1"/>
            </a:solidFill>
            <a:prstDash val="solid"/>
            <a:round/>
            <a:headEnd type="none" w="med" len="med"/>
            <a:tailEnd type="none" w="med" len="med"/>
          </a:ln>
          <a:effectLst/>
        </p:spPr>
      </p:cxnSp>
      <p:grpSp>
        <p:nvGrpSpPr>
          <p:cNvPr id="4" name="Group 30"/>
          <p:cNvGrpSpPr/>
          <p:nvPr/>
        </p:nvGrpSpPr>
        <p:grpSpPr>
          <a:xfrm rot="5400000">
            <a:off x="7241284" y="6028267"/>
            <a:ext cx="702734" cy="228600"/>
            <a:chOff x="2650069" y="6316133"/>
            <a:chExt cx="702734" cy="228600"/>
          </a:xfrm>
        </p:grpSpPr>
        <p:cxnSp>
          <p:nvCxnSpPr>
            <p:cNvPr id="44" name="Straight Connector 43"/>
            <p:cNvCxnSpPr/>
            <p:nvPr/>
          </p:nvCxnSpPr>
          <p:spPr bwMode="auto">
            <a:xfrm rot="5400000">
              <a:off x="3000642"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5" name="Straight Connector 44"/>
            <p:cNvCxnSpPr/>
            <p:nvPr/>
          </p:nvCxnSpPr>
          <p:spPr bwMode="auto">
            <a:xfrm rot="5400000">
              <a:off x="3237709"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6" name="Straight Connector 45"/>
            <p:cNvCxnSpPr/>
            <p:nvPr/>
          </p:nvCxnSpPr>
          <p:spPr bwMode="auto">
            <a:xfrm rot="5400000">
              <a:off x="2536563"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7" name="Straight Connector 46"/>
            <p:cNvCxnSpPr/>
            <p:nvPr/>
          </p:nvCxnSpPr>
          <p:spPr bwMode="auto">
            <a:xfrm rot="5400000">
              <a:off x="2765163" y="6429639"/>
              <a:ext cx="228600" cy="1588"/>
            </a:xfrm>
            <a:prstGeom prst="line">
              <a:avLst/>
            </a:prstGeom>
            <a:noFill/>
            <a:ln w="25400" cap="flat" cmpd="sng" algn="ctr">
              <a:solidFill>
                <a:schemeClr val="bg1"/>
              </a:solidFill>
              <a:prstDash val="solid"/>
              <a:round/>
              <a:headEnd type="none" w="med" len="med"/>
              <a:tailEnd type="none" w="med" len="med"/>
            </a:ln>
            <a:effectLst/>
          </p:spPr>
        </p:cxnSp>
      </p:grpSp>
      <p:sp>
        <p:nvSpPr>
          <p:cNvPr id="50" name="Rectangle 49"/>
          <p:cNvSpPr/>
          <p:nvPr/>
        </p:nvSpPr>
        <p:spPr bwMode="auto">
          <a:xfrm>
            <a:off x="2650066" y="2480732"/>
            <a:ext cx="186268" cy="186268"/>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53" name="Rectangle 52"/>
          <p:cNvSpPr/>
          <p:nvPr/>
        </p:nvSpPr>
        <p:spPr bwMode="auto">
          <a:xfrm>
            <a:off x="6814083" y="5552267"/>
            <a:ext cx="227262" cy="226893"/>
          </a:xfrm>
          <a:prstGeom prst="rect">
            <a:avLst/>
          </a:prstGeom>
          <a:solidFill>
            <a:srgbClr val="C00000"/>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55" name="Rectangle 54"/>
          <p:cNvSpPr/>
          <p:nvPr/>
        </p:nvSpPr>
        <p:spPr bwMode="auto">
          <a:xfrm>
            <a:off x="5899933" y="37338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endParaRPr lang="en-US" sz="2000" dirty="0" smtClean="0">
              <a:latin typeface="Courier New" pitchFamily="49" charset="0"/>
              <a:cs typeface="Courier New" pitchFamily="49" charset="0"/>
            </a:endParaRPr>
          </a:p>
        </p:txBody>
      </p:sp>
      <p:sp>
        <p:nvSpPr>
          <p:cNvPr id="56" name="Rectangle 55"/>
          <p:cNvSpPr/>
          <p:nvPr/>
        </p:nvSpPr>
        <p:spPr bwMode="auto">
          <a:xfrm>
            <a:off x="7500133" y="37338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endParaRPr lang="en-US" sz="2000" dirty="0" smtClean="0">
              <a:latin typeface="Courier New" pitchFamily="49" charset="0"/>
              <a:cs typeface="Courier New" pitchFamily="49" charset="0"/>
            </a:endParaRPr>
          </a:p>
        </p:txBody>
      </p:sp>
      <p:sp>
        <p:nvSpPr>
          <p:cNvPr id="57" name="TextBox 56"/>
          <p:cNvSpPr txBox="1"/>
          <p:nvPr/>
        </p:nvSpPr>
        <p:spPr>
          <a:xfrm>
            <a:off x="7085265" y="4148092"/>
            <a:ext cx="389850" cy="584775"/>
          </a:xfrm>
          <a:prstGeom prst="rect">
            <a:avLst/>
          </a:prstGeom>
          <a:noFill/>
        </p:spPr>
        <p:txBody>
          <a:bodyPr wrap="none" rtlCol="0">
            <a:spAutoFit/>
          </a:bodyPr>
          <a:lstStyle/>
          <a:p>
            <a:r>
              <a:rPr lang="en-US" sz="3200" dirty="0" smtClean="0">
                <a:latin typeface="Calibri" pitchFamily="34" charset="0"/>
              </a:rPr>
              <a:t>*</a:t>
            </a:r>
          </a:p>
        </p:txBody>
      </p:sp>
      <p:sp>
        <p:nvSpPr>
          <p:cNvPr id="58" name="Rectangle 57"/>
          <p:cNvSpPr/>
          <p:nvPr/>
        </p:nvSpPr>
        <p:spPr bwMode="auto">
          <a:xfrm>
            <a:off x="4114800" y="37338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endParaRPr lang="en-US" sz="2000" dirty="0" smtClean="0">
              <a:latin typeface="Courier New" pitchFamily="49" charset="0"/>
              <a:cs typeface="Courier New" pitchFamily="49" charset="0"/>
            </a:endParaRPr>
          </a:p>
        </p:txBody>
      </p:sp>
      <p:sp>
        <p:nvSpPr>
          <p:cNvPr id="59" name="TextBox 58"/>
          <p:cNvSpPr txBox="1"/>
          <p:nvPr/>
        </p:nvSpPr>
        <p:spPr>
          <a:xfrm>
            <a:off x="5381050" y="4038600"/>
            <a:ext cx="389850" cy="584775"/>
          </a:xfrm>
          <a:prstGeom prst="rect">
            <a:avLst/>
          </a:prstGeom>
          <a:noFill/>
        </p:spPr>
        <p:txBody>
          <a:bodyPr wrap="none" rtlCol="0">
            <a:spAutoFit/>
          </a:bodyPr>
          <a:lstStyle/>
          <a:p>
            <a:r>
              <a:rPr lang="en-US" sz="3200" dirty="0" smtClean="0">
                <a:latin typeface="Calibri" pitchFamily="34" charset="0"/>
              </a:rPr>
              <a:t>=</a:t>
            </a:r>
          </a:p>
        </p:txBody>
      </p:sp>
      <p:sp>
        <p:nvSpPr>
          <p:cNvPr id="60" name="Rectangle 59"/>
          <p:cNvSpPr/>
          <p:nvPr/>
        </p:nvSpPr>
        <p:spPr bwMode="auto">
          <a:xfrm>
            <a:off x="4114800" y="3733800"/>
            <a:ext cx="186268" cy="186268"/>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61" name="Rectangle 60"/>
          <p:cNvSpPr/>
          <p:nvPr/>
        </p:nvSpPr>
        <p:spPr bwMode="auto">
          <a:xfrm>
            <a:off x="5899933" y="3731934"/>
            <a:ext cx="1143000" cy="2286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62" name="Rectangle 61"/>
          <p:cNvSpPr/>
          <p:nvPr/>
        </p:nvSpPr>
        <p:spPr bwMode="auto">
          <a:xfrm rot="5400000">
            <a:off x="7010400" y="4191000"/>
            <a:ext cx="1143000" cy="2286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cxnSp>
        <p:nvCxnSpPr>
          <p:cNvPr id="63" name="Straight Connector 62"/>
          <p:cNvCxnSpPr/>
          <p:nvPr/>
        </p:nvCxnSpPr>
        <p:spPr bwMode="auto">
          <a:xfrm rot="5400000">
            <a:off x="6463510" y="3836973"/>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64" name="Straight Connector 63"/>
          <p:cNvCxnSpPr/>
          <p:nvPr/>
        </p:nvCxnSpPr>
        <p:spPr bwMode="auto">
          <a:xfrm rot="5400000">
            <a:off x="6700577" y="3836973"/>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65" name="Straight Connector 64"/>
          <p:cNvCxnSpPr/>
          <p:nvPr/>
        </p:nvCxnSpPr>
        <p:spPr bwMode="auto">
          <a:xfrm rot="5400000">
            <a:off x="5999431" y="3836973"/>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66" name="Straight Connector 65"/>
          <p:cNvCxnSpPr/>
          <p:nvPr/>
        </p:nvCxnSpPr>
        <p:spPr bwMode="auto">
          <a:xfrm rot="5400000">
            <a:off x="6228031" y="3836973"/>
            <a:ext cx="228600" cy="1588"/>
          </a:xfrm>
          <a:prstGeom prst="line">
            <a:avLst/>
          </a:prstGeom>
          <a:noFill/>
          <a:ln w="25400" cap="flat" cmpd="sng" algn="ctr">
            <a:solidFill>
              <a:schemeClr val="bg1"/>
            </a:solidFill>
            <a:prstDash val="solid"/>
            <a:round/>
            <a:headEnd type="none" w="med" len="med"/>
            <a:tailEnd type="none" w="med" len="med"/>
          </a:ln>
          <a:effectLst/>
        </p:spPr>
      </p:cxnSp>
      <p:grpSp>
        <p:nvGrpSpPr>
          <p:cNvPr id="5" name="Group 30"/>
          <p:cNvGrpSpPr/>
          <p:nvPr/>
        </p:nvGrpSpPr>
        <p:grpSpPr>
          <a:xfrm rot="5400000">
            <a:off x="7230692" y="4199467"/>
            <a:ext cx="702734" cy="228600"/>
            <a:chOff x="2650069" y="6316133"/>
            <a:chExt cx="702734" cy="228600"/>
          </a:xfrm>
        </p:grpSpPr>
        <p:cxnSp>
          <p:nvCxnSpPr>
            <p:cNvPr id="68" name="Straight Connector 67"/>
            <p:cNvCxnSpPr/>
            <p:nvPr/>
          </p:nvCxnSpPr>
          <p:spPr bwMode="auto">
            <a:xfrm rot="5400000">
              <a:off x="3000642"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69" name="Straight Connector 68"/>
            <p:cNvCxnSpPr/>
            <p:nvPr/>
          </p:nvCxnSpPr>
          <p:spPr bwMode="auto">
            <a:xfrm rot="5400000">
              <a:off x="3237709"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70" name="Straight Connector 69"/>
            <p:cNvCxnSpPr/>
            <p:nvPr/>
          </p:nvCxnSpPr>
          <p:spPr bwMode="auto">
            <a:xfrm rot="5400000">
              <a:off x="2536563"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71" name="Straight Connector 70"/>
            <p:cNvCxnSpPr/>
            <p:nvPr/>
          </p:nvCxnSpPr>
          <p:spPr bwMode="auto">
            <a:xfrm rot="5400000">
              <a:off x="2765163" y="6429639"/>
              <a:ext cx="228600" cy="1588"/>
            </a:xfrm>
            <a:prstGeom prst="line">
              <a:avLst/>
            </a:prstGeom>
            <a:noFill/>
            <a:ln w="25400" cap="flat" cmpd="sng" algn="ctr">
              <a:solidFill>
                <a:schemeClr val="bg1"/>
              </a:solidFill>
              <a:prstDash val="solid"/>
              <a:round/>
              <a:headEnd type="none" w="med" len="med"/>
              <a:tailEnd type="none" w="med" len="med"/>
            </a:ln>
            <a:effectLst/>
          </p:spPr>
        </p:cxnSp>
      </p:grpSp>
      <p:sp>
        <p:nvSpPr>
          <p:cNvPr id="72" name="TextBox 71"/>
          <p:cNvSpPr txBox="1"/>
          <p:nvPr/>
        </p:nvSpPr>
        <p:spPr>
          <a:xfrm>
            <a:off x="7058918" y="5252534"/>
            <a:ext cx="1627882" cy="369332"/>
          </a:xfrm>
          <a:prstGeom prst="rect">
            <a:avLst/>
          </a:prstGeom>
          <a:noFill/>
        </p:spPr>
        <p:txBody>
          <a:bodyPr wrap="none" rtlCol="0">
            <a:spAutoFit/>
          </a:bodyPr>
          <a:lstStyle/>
          <a:p>
            <a:r>
              <a:rPr lang="en-US" sz="1800" dirty="0" smtClean="0">
                <a:solidFill>
                  <a:schemeClr val="tx1">
                    <a:lumMod val="65000"/>
                    <a:lumOff val="35000"/>
                  </a:schemeClr>
                </a:solidFill>
                <a:latin typeface="Calibri" pitchFamily="34" charset="0"/>
              </a:rPr>
              <a:t>Block size B x B</a:t>
            </a:r>
          </a:p>
        </p:txBody>
      </p:sp>
      <p:cxnSp>
        <p:nvCxnSpPr>
          <p:cNvPr id="73" name="Straight Arrow Connector 72"/>
          <p:cNvCxnSpPr/>
          <p:nvPr/>
        </p:nvCxnSpPr>
        <p:spPr bwMode="auto">
          <a:xfrm rot="16200000" flipV="1">
            <a:off x="7354845" y="5060489"/>
            <a:ext cx="381000" cy="3090"/>
          </a:xfrm>
          <a:prstGeom prst="straightConnector1">
            <a:avLst/>
          </a:prstGeom>
          <a:noFill/>
          <a:ln w="25400" cap="flat" cmpd="sng" algn="ctr">
            <a:solidFill>
              <a:schemeClr val="tx1"/>
            </a:solidFill>
            <a:prstDash val="solid"/>
            <a:round/>
            <a:headEnd type="none" w="med" len="med"/>
            <a:tailEnd type="arrow"/>
          </a:ln>
          <a:effectLst/>
        </p:spPr>
      </p:cxnSp>
      <p:sp>
        <p:nvSpPr>
          <p:cNvPr id="74" name="AutoShape 16"/>
          <p:cNvSpPr>
            <a:spLocks/>
          </p:cNvSpPr>
          <p:nvPr/>
        </p:nvSpPr>
        <p:spPr bwMode="auto">
          <a:xfrm rot="5400000" flipV="1">
            <a:off x="7941734" y="2960132"/>
            <a:ext cx="228600" cy="1143000"/>
          </a:xfrm>
          <a:prstGeom prst="leftBrace">
            <a:avLst>
              <a:gd name="adj1" fmla="val 75000"/>
              <a:gd name="adj2" fmla="val 50000"/>
            </a:avLst>
          </a:prstGeom>
          <a:noFill/>
          <a:ln w="25400">
            <a:solidFill>
              <a:schemeClr val="tx1"/>
            </a:solidFill>
            <a:round/>
            <a:headEnd/>
            <a:tailEnd/>
          </a:ln>
          <a:effectLst/>
        </p:spPr>
        <p:txBody>
          <a:bodyPr wrap="none" anchor="ctr"/>
          <a:lstStyle/>
          <a:p>
            <a:endParaRPr lang="en-US" sz="1800" dirty="0">
              <a:latin typeface="Calibri" pitchFamily="34" charset="0"/>
            </a:endParaRPr>
          </a:p>
        </p:txBody>
      </p:sp>
      <p:sp>
        <p:nvSpPr>
          <p:cNvPr id="75" name="TextBox 74"/>
          <p:cNvSpPr txBox="1"/>
          <p:nvPr/>
        </p:nvSpPr>
        <p:spPr>
          <a:xfrm>
            <a:off x="7823199" y="3048000"/>
            <a:ext cx="1189428" cy="369332"/>
          </a:xfrm>
          <a:prstGeom prst="rect">
            <a:avLst/>
          </a:prstGeom>
          <a:noFill/>
        </p:spPr>
        <p:txBody>
          <a:bodyPr wrap="none" rtlCol="0">
            <a:spAutoFit/>
          </a:bodyPr>
          <a:lstStyle/>
          <a:p>
            <a:r>
              <a:rPr lang="en-US" sz="1800" dirty="0" smtClean="0">
                <a:latin typeface="Calibri" pitchFamily="34" charset="0"/>
              </a:rPr>
              <a:t>n/B blocks</a:t>
            </a:r>
          </a:p>
        </p:txBody>
      </p:sp>
      <p:sp>
        <p:nvSpPr>
          <p:cNvPr id="48" name="Rectangle 47"/>
          <p:cNvSpPr/>
          <p:nvPr/>
        </p:nvSpPr>
        <p:spPr bwMode="auto">
          <a:xfrm>
            <a:off x="7488157" y="6493935"/>
            <a:ext cx="227262" cy="226893"/>
          </a:xfrm>
          <a:prstGeom prst="rect">
            <a:avLst/>
          </a:prstGeom>
          <a:solidFill>
            <a:srgbClr val="C00000"/>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49" name="Rectangle 48"/>
          <p:cNvSpPr/>
          <p:nvPr/>
        </p:nvSpPr>
        <p:spPr bwMode="auto">
          <a:xfrm>
            <a:off x="4116138" y="5560734"/>
            <a:ext cx="227262" cy="226893"/>
          </a:xfrm>
          <a:prstGeom prst="rect">
            <a:avLst/>
          </a:prstGeom>
          <a:solidFill>
            <a:srgbClr val="C00000"/>
          </a:solidFill>
          <a:ln w="28575"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Tree>
    <p:extLst>
      <p:ext uri="{BB962C8B-B14F-4D97-AF65-F5344CB8AC3E}">
        <p14:creationId xmlns:p14="http://schemas.microsoft.com/office/powerpoint/2010/main" val="101577204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31" grpId="0"/>
      <p:bldP spid="32" grpId="0" animBg="1"/>
      <p:bldP spid="33" grpId="0"/>
      <p:bldP spid="34" grpId="0" animBg="1"/>
      <p:bldP spid="37" grpId="0" animBg="1"/>
      <p:bldP spid="38" grpId="0" animBg="1"/>
      <p:bldP spid="53" grpId="0" animBg="1"/>
      <p:bldP spid="48" grpId="0" animBg="1"/>
      <p:bldP spid="49"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Miss Analysis</a:t>
            </a:r>
            <a:endParaRPr lang="en-US" dirty="0"/>
          </a:p>
        </p:txBody>
      </p:sp>
      <p:sp>
        <p:nvSpPr>
          <p:cNvPr id="3" name="Content Placeholder 2"/>
          <p:cNvSpPr>
            <a:spLocks noGrp="1"/>
          </p:cNvSpPr>
          <p:nvPr>
            <p:ph idx="1"/>
          </p:nvPr>
        </p:nvSpPr>
        <p:spPr>
          <a:xfrm>
            <a:off x="396875" y="1209675"/>
            <a:ext cx="7896225" cy="5343525"/>
          </a:xfrm>
        </p:spPr>
        <p:txBody>
          <a:bodyPr/>
          <a:lstStyle/>
          <a:p>
            <a:r>
              <a:rPr lang="en-US" dirty="0" smtClean="0"/>
              <a:t>Assume: </a:t>
            </a:r>
          </a:p>
          <a:p>
            <a:pPr lvl="1"/>
            <a:r>
              <a:rPr lang="en-US" dirty="0" smtClean="0"/>
              <a:t>Cache block = 8 doubles</a:t>
            </a:r>
          </a:p>
          <a:p>
            <a:pPr lvl="1"/>
            <a:r>
              <a:rPr lang="en-US" dirty="0" smtClean="0"/>
              <a:t>Cache size C &lt;&lt; n (much smaller than n)</a:t>
            </a:r>
          </a:p>
          <a:p>
            <a:pPr lvl="1"/>
            <a:r>
              <a:rPr lang="en-US" dirty="0" smtClean="0"/>
              <a:t>Three blocks       fit into cache: 3B</a:t>
            </a:r>
            <a:r>
              <a:rPr lang="en-US" baseline="30000" dirty="0" smtClean="0"/>
              <a:t>2</a:t>
            </a:r>
            <a:r>
              <a:rPr lang="en-US" dirty="0" smtClean="0"/>
              <a:t> &lt; C</a:t>
            </a:r>
          </a:p>
          <a:p>
            <a:endParaRPr lang="en-US" dirty="0" smtClean="0"/>
          </a:p>
          <a:p>
            <a:r>
              <a:rPr lang="en-US" dirty="0" smtClean="0"/>
              <a:t>Second (block) iteration:</a:t>
            </a:r>
          </a:p>
          <a:p>
            <a:pPr lvl="1"/>
            <a:r>
              <a:rPr lang="en-US" dirty="0" smtClean="0"/>
              <a:t>Same as first iteration</a:t>
            </a:r>
          </a:p>
          <a:p>
            <a:pPr lvl="1"/>
            <a:r>
              <a:rPr lang="en-US" dirty="0" smtClean="0"/>
              <a:t>2n/B * B</a:t>
            </a:r>
            <a:r>
              <a:rPr lang="en-US" baseline="30000" dirty="0" smtClean="0"/>
              <a:t>2</a:t>
            </a:r>
            <a:r>
              <a:rPr lang="en-US" dirty="0" smtClean="0"/>
              <a:t>/8 = </a:t>
            </a:r>
            <a:r>
              <a:rPr lang="en-US" dirty="0" err="1" smtClean="0"/>
              <a:t>nB</a:t>
            </a:r>
            <a:r>
              <a:rPr lang="en-US" dirty="0" smtClean="0"/>
              <a:t>/4</a:t>
            </a:r>
          </a:p>
          <a:p>
            <a:pPr lvl="1"/>
            <a:endParaRPr lang="en-US" dirty="0" smtClean="0"/>
          </a:p>
          <a:p>
            <a:pPr lvl="1">
              <a:buNone/>
            </a:pPr>
            <a:endParaRPr lang="en-US" dirty="0" smtClean="0"/>
          </a:p>
          <a:p>
            <a:r>
              <a:rPr lang="en-US" dirty="0" smtClean="0"/>
              <a:t>Total misses:</a:t>
            </a:r>
          </a:p>
          <a:p>
            <a:pPr lvl="1"/>
            <a:r>
              <a:rPr lang="en-US" dirty="0" err="1" smtClean="0"/>
              <a:t>nB</a:t>
            </a:r>
            <a:r>
              <a:rPr lang="en-US" dirty="0" smtClean="0"/>
              <a:t>/4 * (n/B)</a:t>
            </a:r>
            <a:r>
              <a:rPr lang="en-US" baseline="30000" dirty="0" smtClean="0"/>
              <a:t>2</a:t>
            </a:r>
            <a:r>
              <a:rPr lang="en-US" dirty="0" smtClean="0"/>
              <a:t> = n</a:t>
            </a:r>
            <a:r>
              <a:rPr lang="en-US" baseline="30000" dirty="0" smtClean="0"/>
              <a:t>3</a:t>
            </a:r>
            <a:r>
              <a:rPr lang="en-US" dirty="0" smtClean="0"/>
              <a:t>/(4B)</a:t>
            </a:r>
          </a:p>
        </p:txBody>
      </p:sp>
      <p:sp>
        <p:nvSpPr>
          <p:cNvPr id="25" name="Rectangle 24"/>
          <p:cNvSpPr/>
          <p:nvPr/>
        </p:nvSpPr>
        <p:spPr bwMode="auto">
          <a:xfrm>
            <a:off x="5899933" y="37338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endParaRPr lang="en-US" sz="2000" dirty="0" smtClean="0">
              <a:latin typeface="Courier New" pitchFamily="49" charset="0"/>
              <a:cs typeface="Courier New" pitchFamily="49" charset="0"/>
            </a:endParaRPr>
          </a:p>
        </p:txBody>
      </p:sp>
      <p:sp>
        <p:nvSpPr>
          <p:cNvPr id="28" name="Rectangle 27"/>
          <p:cNvSpPr/>
          <p:nvPr/>
        </p:nvSpPr>
        <p:spPr bwMode="auto">
          <a:xfrm>
            <a:off x="7500133" y="37338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endParaRPr lang="en-US" sz="2000" dirty="0" smtClean="0">
              <a:latin typeface="Courier New" pitchFamily="49" charset="0"/>
              <a:cs typeface="Courier New" pitchFamily="49" charset="0"/>
            </a:endParaRPr>
          </a:p>
        </p:txBody>
      </p:sp>
      <p:sp>
        <p:nvSpPr>
          <p:cNvPr id="31" name="TextBox 30"/>
          <p:cNvSpPr txBox="1"/>
          <p:nvPr/>
        </p:nvSpPr>
        <p:spPr>
          <a:xfrm>
            <a:off x="7085265" y="4148092"/>
            <a:ext cx="389850" cy="584775"/>
          </a:xfrm>
          <a:prstGeom prst="rect">
            <a:avLst/>
          </a:prstGeom>
          <a:noFill/>
        </p:spPr>
        <p:txBody>
          <a:bodyPr wrap="none" rtlCol="0">
            <a:spAutoFit/>
          </a:bodyPr>
          <a:lstStyle/>
          <a:p>
            <a:r>
              <a:rPr lang="en-US" sz="3200" dirty="0" smtClean="0">
                <a:latin typeface="Calibri" pitchFamily="34" charset="0"/>
              </a:rPr>
              <a:t>*</a:t>
            </a:r>
          </a:p>
        </p:txBody>
      </p:sp>
      <p:sp>
        <p:nvSpPr>
          <p:cNvPr id="32" name="Rectangle 31"/>
          <p:cNvSpPr/>
          <p:nvPr/>
        </p:nvSpPr>
        <p:spPr bwMode="auto">
          <a:xfrm>
            <a:off x="4114800" y="3733800"/>
            <a:ext cx="1143000" cy="11430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endParaRPr lang="en-US" sz="2000" dirty="0" smtClean="0">
              <a:latin typeface="Courier New" pitchFamily="49" charset="0"/>
              <a:cs typeface="Courier New" pitchFamily="49" charset="0"/>
            </a:endParaRPr>
          </a:p>
        </p:txBody>
      </p:sp>
      <p:sp>
        <p:nvSpPr>
          <p:cNvPr id="33" name="TextBox 32"/>
          <p:cNvSpPr txBox="1"/>
          <p:nvPr/>
        </p:nvSpPr>
        <p:spPr>
          <a:xfrm>
            <a:off x="5381050" y="4038600"/>
            <a:ext cx="389850" cy="584775"/>
          </a:xfrm>
          <a:prstGeom prst="rect">
            <a:avLst/>
          </a:prstGeom>
          <a:noFill/>
        </p:spPr>
        <p:txBody>
          <a:bodyPr wrap="none" rtlCol="0">
            <a:spAutoFit/>
          </a:bodyPr>
          <a:lstStyle/>
          <a:p>
            <a:r>
              <a:rPr lang="en-US" sz="3200" dirty="0" smtClean="0">
                <a:latin typeface="Calibri" pitchFamily="34" charset="0"/>
              </a:rPr>
              <a:t>=</a:t>
            </a:r>
          </a:p>
        </p:txBody>
      </p:sp>
      <p:sp>
        <p:nvSpPr>
          <p:cNvPr id="34" name="Rectangle 33"/>
          <p:cNvSpPr/>
          <p:nvPr/>
        </p:nvSpPr>
        <p:spPr bwMode="auto">
          <a:xfrm>
            <a:off x="4114800" y="3733800"/>
            <a:ext cx="186268" cy="186268"/>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37" name="Rectangle 36"/>
          <p:cNvSpPr/>
          <p:nvPr/>
        </p:nvSpPr>
        <p:spPr bwMode="auto">
          <a:xfrm>
            <a:off x="5899933" y="3740560"/>
            <a:ext cx="1143000" cy="2286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38" name="Rectangle 37"/>
          <p:cNvSpPr/>
          <p:nvPr/>
        </p:nvSpPr>
        <p:spPr bwMode="auto">
          <a:xfrm rot="5400000">
            <a:off x="7264401" y="4191000"/>
            <a:ext cx="1143000" cy="228600"/>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cxnSp>
        <p:nvCxnSpPr>
          <p:cNvPr id="39" name="Straight Connector 38"/>
          <p:cNvCxnSpPr/>
          <p:nvPr/>
        </p:nvCxnSpPr>
        <p:spPr bwMode="auto">
          <a:xfrm rot="5400000">
            <a:off x="6463510" y="384559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0" name="Straight Connector 39"/>
          <p:cNvCxnSpPr/>
          <p:nvPr/>
        </p:nvCxnSpPr>
        <p:spPr bwMode="auto">
          <a:xfrm rot="5400000">
            <a:off x="6700577" y="384559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1" name="Straight Connector 40"/>
          <p:cNvCxnSpPr/>
          <p:nvPr/>
        </p:nvCxnSpPr>
        <p:spPr bwMode="auto">
          <a:xfrm rot="5400000">
            <a:off x="5999431" y="384559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2" name="Straight Connector 41"/>
          <p:cNvCxnSpPr/>
          <p:nvPr/>
        </p:nvCxnSpPr>
        <p:spPr bwMode="auto">
          <a:xfrm rot="5400000">
            <a:off x="6228031" y="3845599"/>
            <a:ext cx="228600" cy="1588"/>
          </a:xfrm>
          <a:prstGeom prst="line">
            <a:avLst/>
          </a:prstGeom>
          <a:noFill/>
          <a:ln w="25400" cap="flat" cmpd="sng" algn="ctr">
            <a:solidFill>
              <a:schemeClr val="bg1"/>
            </a:solidFill>
            <a:prstDash val="solid"/>
            <a:round/>
            <a:headEnd type="none" w="med" len="med"/>
            <a:tailEnd type="none" w="med" len="med"/>
          </a:ln>
          <a:effectLst/>
        </p:spPr>
      </p:cxnSp>
      <p:grpSp>
        <p:nvGrpSpPr>
          <p:cNvPr id="4" name="Group 30"/>
          <p:cNvGrpSpPr/>
          <p:nvPr/>
        </p:nvGrpSpPr>
        <p:grpSpPr>
          <a:xfrm rot="5400000">
            <a:off x="7476067" y="4199467"/>
            <a:ext cx="702734" cy="228600"/>
            <a:chOff x="2650069" y="6316133"/>
            <a:chExt cx="702734" cy="228600"/>
          </a:xfrm>
        </p:grpSpPr>
        <p:cxnSp>
          <p:nvCxnSpPr>
            <p:cNvPr id="44" name="Straight Connector 43"/>
            <p:cNvCxnSpPr/>
            <p:nvPr/>
          </p:nvCxnSpPr>
          <p:spPr bwMode="auto">
            <a:xfrm rot="5400000">
              <a:off x="3000642"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5" name="Straight Connector 44"/>
            <p:cNvCxnSpPr/>
            <p:nvPr/>
          </p:nvCxnSpPr>
          <p:spPr bwMode="auto">
            <a:xfrm rot="5400000">
              <a:off x="3237709"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6" name="Straight Connector 45"/>
            <p:cNvCxnSpPr/>
            <p:nvPr/>
          </p:nvCxnSpPr>
          <p:spPr bwMode="auto">
            <a:xfrm rot="5400000">
              <a:off x="2536563" y="6429639"/>
              <a:ext cx="228600" cy="1588"/>
            </a:xfrm>
            <a:prstGeom prst="line">
              <a:avLst/>
            </a:prstGeom>
            <a:noFill/>
            <a:ln w="25400" cap="flat" cmpd="sng" algn="ctr">
              <a:solidFill>
                <a:schemeClr val="bg1"/>
              </a:solidFill>
              <a:prstDash val="solid"/>
              <a:round/>
              <a:headEnd type="none" w="med" len="med"/>
              <a:tailEnd type="none" w="med" len="med"/>
            </a:ln>
            <a:effectLst/>
          </p:spPr>
        </p:cxnSp>
        <p:cxnSp>
          <p:nvCxnSpPr>
            <p:cNvPr id="47" name="Straight Connector 46"/>
            <p:cNvCxnSpPr/>
            <p:nvPr/>
          </p:nvCxnSpPr>
          <p:spPr bwMode="auto">
            <a:xfrm rot="5400000">
              <a:off x="2765163" y="6429639"/>
              <a:ext cx="228600" cy="1588"/>
            </a:xfrm>
            <a:prstGeom prst="line">
              <a:avLst/>
            </a:prstGeom>
            <a:noFill/>
            <a:ln w="25400" cap="flat" cmpd="sng" algn="ctr">
              <a:solidFill>
                <a:schemeClr val="bg1"/>
              </a:solidFill>
              <a:prstDash val="solid"/>
              <a:round/>
              <a:headEnd type="none" w="med" len="med"/>
              <a:tailEnd type="none" w="med" len="med"/>
            </a:ln>
            <a:effectLst/>
          </p:spPr>
        </p:cxnSp>
      </p:grpSp>
      <p:sp>
        <p:nvSpPr>
          <p:cNvPr id="48" name="TextBox 47"/>
          <p:cNvSpPr txBox="1"/>
          <p:nvPr/>
        </p:nvSpPr>
        <p:spPr>
          <a:xfrm>
            <a:off x="7016583" y="5252534"/>
            <a:ext cx="1627882" cy="369332"/>
          </a:xfrm>
          <a:prstGeom prst="rect">
            <a:avLst/>
          </a:prstGeom>
          <a:noFill/>
        </p:spPr>
        <p:txBody>
          <a:bodyPr wrap="none" rtlCol="0">
            <a:spAutoFit/>
          </a:bodyPr>
          <a:lstStyle/>
          <a:p>
            <a:r>
              <a:rPr lang="en-US" sz="1800" dirty="0" smtClean="0">
                <a:solidFill>
                  <a:schemeClr val="tx1">
                    <a:lumMod val="65000"/>
                    <a:lumOff val="35000"/>
                  </a:schemeClr>
                </a:solidFill>
                <a:latin typeface="Calibri" pitchFamily="34" charset="0"/>
              </a:rPr>
              <a:t>Block size B x B</a:t>
            </a:r>
          </a:p>
        </p:txBody>
      </p:sp>
      <p:cxnSp>
        <p:nvCxnSpPr>
          <p:cNvPr id="49" name="Straight Arrow Connector 48"/>
          <p:cNvCxnSpPr>
            <a:stCxn id="48" idx="0"/>
          </p:cNvCxnSpPr>
          <p:nvPr/>
        </p:nvCxnSpPr>
        <p:spPr bwMode="auto">
          <a:xfrm rot="16200000" flipV="1">
            <a:off x="7638479" y="5060489"/>
            <a:ext cx="381000" cy="3090"/>
          </a:xfrm>
          <a:prstGeom prst="straightConnector1">
            <a:avLst/>
          </a:prstGeom>
          <a:noFill/>
          <a:ln w="25400" cap="flat" cmpd="sng" algn="ctr">
            <a:solidFill>
              <a:schemeClr val="tx1"/>
            </a:solidFill>
            <a:prstDash val="solid"/>
            <a:round/>
            <a:headEnd type="none" w="med" len="med"/>
            <a:tailEnd type="arrow"/>
          </a:ln>
          <a:effectLst/>
        </p:spPr>
      </p:cxnSp>
      <p:sp>
        <p:nvSpPr>
          <p:cNvPr id="50" name="Rectangle 49"/>
          <p:cNvSpPr/>
          <p:nvPr/>
        </p:nvSpPr>
        <p:spPr bwMode="auto">
          <a:xfrm>
            <a:off x="2650066" y="2480732"/>
            <a:ext cx="186268" cy="186268"/>
          </a:xfrm>
          <a:prstGeom prst="rect">
            <a:avLst/>
          </a:prstGeom>
          <a:solidFill>
            <a:schemeClr val="tx1">
              <a:lumMod val="50000"/>
              <a:lumOff val="50000"/>
            </a:schemeClr>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dirty="0" smtClean="0">
              <a:latin typeface="Calibri" pitchFamily="34" charset="0"/>
            </a:endParaRPr>
          </a:p>
        </p:txBody>
      </p:sp>
      <p:sp>
        <p:nvSpPr>
          <p:cNvPr id="51" name="AutoShape 16"/>
          <p:cNvSpPr>
            <a:spLocks/>
          </p:cNvSpPr>
          <p:nvPr/>
        </p:nvSpPr>
        <p:spPr bwMode="auto">
          <a:xfrm rot="5400000" flipV="1">
            <a:off x="7941734" y="2960132"/>
            <a:ext cx="228600" cy="1143000"/>
          </a:xfrm>
          <a:prstGeom prst="leftBrace">
            <a:avLst>
              <a:gd name="adj1" fmla="val 75000"/>
              <a:gd name="adj2" fmla="val 50000"/>
            </a:avLst>
          </a:prstGeom>
          <a:noFill/>
          <a:ln w="25400">
            <a:solidFill>
              <a:schemeClr val="tx1"/>
            </a:solidFill>
            <a:round/>
            <a:headEnd/>
            <a:tailEnd/>
          </a:ln>
          <a:effectLst/>
        </p:spPr>
        <p:txBody>
          <a:bodyPr wrap="none" anchor="ctr"/>
          <a:lstStyle/>
          <a:p>
            <a:endParaRPr lang="en-US" sz="1800" dirty="0">
              <a:latin typeface="Calibri" pitchFamily="34" charset="0"/>
            </a:endParaRPr>
          </a:p>
        </p:txBody>
      </p:sp>
      <p:sp>
        <p:nvSpPr>
          <p:cNvPr id="52" name="TextBox 51"/>
          <p:cNvSpPr txBox="1"/>
          <p:nvPr/>
        </p:nvSpPr>
        <p:spPr>
          <a:xfrm>
            <a:off x="7823199" y="3048000"/>
            <a:ext cx="1189428" cy="369332"/>
          </a:xfrm>
          <a:prstGeom prst="rect">
            <a:avLst/>
          </a:prstGeom>
          <a:noFill/>
        </p:spPr>
        <p:txBody>
          <a:bodyPr wrap="none" rtlCol="0">
            <a:spAutoFit/>
          </a:bodyPr>
          <a:lstStyle/>
          <a:p>
            <a:r>
              <a:rPr lang="en-US" sz="1800" dirty="0" smtClean="0">
                <a:latin typeface="Calibri" pitchFamily="34" charset="0"/>
              </a:rPr>
              <a:t>n/B blocks</a:t>
            </a:r>
          </a:p>
        </p:txBody>
      </p:sp>
    </p:spTree>
    <p:extLst>
      <p:ext uri="{BB962C8B-B14F-4D97-AF65-F5344CB8AC3E}">
        <p14:creationId xmlns:p14="http://schemas.microsoft.com/office/powerpoint/2010/main" val="200312531"/>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Part(b) : Blocking Summary</a:t>
            </a:r>
            <a:endParaRPr lang="en-US" dirty="0"/>
          </a:p>
        </p:txBody>
      </p:sp>
      <p:sp>
        <p:nvSpPr>
          <p:cNvPr id="3" name="Content Placeholder 2"/>
          <p:cNvSpPr>
            <a:spLocks noGrp="1"/>
          </p:cNvSpPr>
          <p:nvPr>
            <p:ph idx="1"/>
          </p:nvPr>
        </p:nvSpPr>
        <p:spPr/>
        <p:txBody>
          <a:bodyPr/>
          <a:lstStyle/>
          <a:p>
            <a:r>
              <a:rPr lang="en-US" dirty="0" smtClean="0"/>
              <a:t>No blocking: (9/8) * n</a:t>
            </a:r>
            <a:r>
              <a:rPr lang="en-US" baseline="30000" dirty="0" smtClean="0"/>
              <a:t>3</a:t>
            </a:r>
          </a:p>
          <a:p>
            <a:r>
              <a:rPr lang="en-US" dirty="0" smtClean="0"/>
              <a:t>Blocking: 1/(4B) * n</a:t>
            </a:r>
            <a:r>
              <a:rPr lang="en-US" baseline="30000" dirty="0" smtClean="0"/>
              <a:t>3</a:t>
            </a:r>
            <a:endParaRPr lang="en-US" dirty="0" smtClean="0"/>
          </a:p>
          <a:p>
            <a:endParaRPr lang="en-US" dirty="0" smtClean="0"/>
          </a:p>
          <a:p>
            <a:r>
              <a:rPr lang="en-US" dirty="0" smtClean="0"/>
              <a:t>Suggest largest possible block size B, but limit 3B</a:t>
            </a:r>
            <a:r>
              <a:rPr lang="en-US" baseline="30000" dirty="0" smtClean="0"/>
              <a:t>2</a:t>
            </a:r>
            <a:r>
              <a:rPr lang="en-US" dirty="0" smtClean="0"/>
              <a:t> &lt; C!</a:t>
            </a:r>
          </a:p>
          <a:p>
            <a:endParaRPr lang="en-US" dirty="0" smtClean="0"/>
          </a:p>
          <a:p>
            <a:r>
              <a:rPr lang="en-US" dirty="0" smtClean="0"/>
              <a:t>Reason for dramatic difference:</a:t>
            </a:r>
          </a:p>
          <a:p>
            <a:pPr lvl="1"/>
            <a:r>
              <a:rPr lang="en-US" dirty="0" smtClean="0"/>
              <a:t>Matrix multiplication has inherent temporal locality:</a:t>
            </a:r>
          </a:p>
          <a:p>
            <a:pPr lvl="2"/>
            <a:r>
              <a:rPr lang="en-US" dirty="0" smtClean="0"/>
              <a:t>Input data: 3n</a:t>
            </a:r>
            <a:r>
              <a:rPr lang="en-US" baseline="30000" dirty="0" smtClean="0"/>
              <a:t>2</a:t>
            </a:r>
            <a:r>
              <a:rPr lang="en-US" dirty="0" smtClean="0"/>
              <a:t>, computation 2n</a:t>
            </a:r>
            <a:r>
              <a:rPr lang="en-US" baseline="30000" dirty="0" smtClean="0"/>
              <a:t>3</a:t>
            </a:r>
          </a:p>
          <a:p>
            <a:pPr lvl="2"/>
            <a:r>
              <a:rPr lang="en-US" dirty="0" smtClean="0"/>
              <a:t>Every array elements used O(n) times!</a:t>
            </a:r>
          </a:p>
          <a:p>
            <a:pPr lvl="1"/>
            <a:r>
              <a:rPr lang="en-US" dirty="0" smtClean="0"/>
              <a:t>But program has to be written properly</a:t>
            </a:r>
          </a:p>
          <a:p>
            <a:pPr lvl="1"/>
            <a:endParaRPr lang="en-US" dirty="0" smtClean="0"/>
          </a:p>
          <a:p>
            <a:r>
              <a:rPr lang="en-US" dirty="0"/>
              <a:t>For a detailed discussion of blocking:</a:t>
            </a:r>
          </a:p>
          <a:p>
            <a:pPr lvl="1"/>
            <a:r>
              <a:rPr lang="en-US" dirty="0"/>
              <a:t>http://csapp.cs.cmu.edu/public/waside.html</a:t>
            </a:r>
          </a:p>
          <a:p>
            <a:pPr marL="457200" lvl="1" indent="0">
              <a:buNone/>
            </a:pPr>
            <a:endParaRPr lang="en-US" dirty="0" smtClean="0"/>
          </a:p>
        </p:txBody>
      </p:sp>
    </p:spTree>
    <p:extLst>
      <p:ext uri="{BB962C8B-B14F-4D97-AF65-F5344CB8AC3E}">
        <p14:creationId xmlns:p14="http://schemas.microsoft.com/office/powerpoint/2010/main" val="20494897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Supplemental Slides </a:t>
            </a:r>
            <a:r>
              <a:rPr lang="mr-IN" dirty="0" smtClean="0"/>
              <a:t>–</a:t>
            </a:r>
            <a:r>
              <a:rPr lang="en-US" dirty="0" smtClean="0"/>
              <a:t> Exceptional Control Flow</a:t>
            </a: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405386246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a:xfrm>
            <a:off x="381000" y="417512"/>
            <a:ext cx="8077200" cy="573088"/>
          </a:xfrm>
        </p:spPr>
        <p:txBody>
          <a:bodyPr/>
          <a:lstStyle/>
          <a:p>
            <a:r>
              <a:rPr lang="en-US" dirty="0" smtClean="0">
                <a:latin typeface="Calibri"/>
                <a:cs typeface="Calibri"/>
              </a:rPr>
              <a:t>Making </a:t>
            </a:r>
            <a:r>
              <a:rPr lang="en-US" dirty="0" smtClean="0">
                <a:latin typeface="Courier New"/>
                <a:cs typeface="Courier New"/>
              </a:rPr>
              <a:t>fork</a:t>
            </a:r>
            <a:r>
              <a:rPr lang="en-US" dirty="0" smtClean="0"/>
              <a:t> More Nondeterministic</a:t>
            </a:r>
            <a:endParaRPr lang="en-US" dirty="0"/>
          </a:p>
        </p:txBody>
      </p:sp>
      <p:sp>
        <p:nvSpPr>
          <p:cNvPr id="8" name="Rectangle 3"/>
          <p:cNvSpPr txBox="1">
            <a:spLocks noChangeArrowheads="1"/>
          </p:cNvSpPr>
          <p:nvPr/>
        </p:nvSpPr>
        <p:spPr bwMode="auto">
          <a:xfrm>
            <a:off x="381000" y="1358444"/>
            <a:ext cx="8686800" cy="519475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a:lstStyle>
          <a:p>
            <a:r>
              <a:rPr lang="en-US" dirty="0" smtClean="0">
                <a:latin typeface="Calibri"/>
                <a:cs typeface="Calibri"/>
              </a:rPr>
              <a:t>Problem</a:t>
            </a:r>
          </a:p>
          <a:p>
            <a:pPr lvl="1"/>
            <a:r>
              <a:rPr lang="en-US" dirty="0" smtClean="0">
                <a:latin typeface="Calibri"/>
                <a:cs typeface="Calibri"/>
              </a:rPr>
              <a:t>Linux scheduler does not create much run-to-run variance</a:t>
            </a:r>
          </a:p>
          <a:p>
            <a:pPr lvl="1"/>
            <a:r>
              <a:rPr lang="en-US" dirty="0" smtClean="0">
                <a:latin typeface="Calibri"/>
                <a:cs typeface="Calibri"/>
              </a:rPr>
              <a:t>Hides potential race conditions in nondeterministic programs</a:t>
            </a:r>
          </a:p>
          <a:p>
            <a:pPr lvl="2"/>
            <a:r>
              <a:rPr lang="en-US" dirty="0" smtClean="0">
                <a:latin typeface="Calibri"/>
                <a:cs typeface="Calibri"/>
              </a:rPr>
              <a:t>E.g., does </a:t>
            </a:r>
            <a:r>
              <a:rPr lang="en-US" dirty="0" smtClean="0">
                <a:latin typeface="Courier New"/>
                <a:cs typeface="Courier New"/>
              </a:rPr>
              <a:t>fork</a:t>
            </a:r>
            <a:r>
              <a:rPr lang="en-US" dirty="0" smtClean="0">
                <a:latin typeface="Calibri"/>
                <a:cs typeface="Calibri"/>
              </a:rPr>
              <a:t> return to child first, or to parent?</a:t>
            </a:r>
          </a:p>
          <a:p>
            <a:r>
              <a:rPr lang="en-US" dirty="0" smtClean="0">
                <a:latin typeface="Calibri"/>
                <a:cs typeface="Calibri"/>
              </a:rPr>
              <a:t>Solution</a:t>
            </a:r>
          </a:p>
          <a:p>
            <a:pPr lvl="1"/>
            <a:r>
              <a:rPr lang="en-US" dirty="0" smtClean="0">
                <a:latin typeface="Calibri"/>
                <a:cs typeface="Calibri"/>
              </a:rPr>
              <a:t>Create custom version of library routine that inserts random delays along different branches</a:t>
            </a:r>
          </a:p>
          <a:p>
            <a:pPr lvl="2"/>
            <a:r>
              <a:rPr lang="en-US" dirty="0" smtClean="0">
                <a:latin typeface="Calibri"/>
                <a:cs typeface="Calibri"/>
              </a:rPr>
              <a:t>E.g., for parent and child in </a:t>
            </a:r>
            <a:r>
              <a:rPr lang="en-US" dirty="0" smtClean="0">
                <a:latin typeface="Courier New"/>
                <a:cs typeface="Courier New"/>
              </a:rPr>
              <a:t>fork</a:t>
            </a:r>
          </a:p>
          <a:p>
            <a:pPr lvl="1"/>
            <a:r>
              <a:rPr lang="en-US" dirty="0" smtClean="0">
                <a:latin typeface="Calibri"/>
                <a:cs typeface="Calibri"/>
              </a:rPr>
              <a:t>Use runtime </a:t>
            </a:r>
            <a:r>
              <a:rPr lang="en-US" dirty="0" err="1" smtClean="0">
                <a:latin typeface="Calibri"/>
                <a:cs typeface="Calibri"/>
              </a:rPr>
              <a:t>interpositioning</a:t>
            </a:r>
            <a:r>
              <a:rPr lang="en-US" dirty="0" smtClean="0">
                <a:latin typeface="Calibri"/>
                <a:cs typeface="Calibri"/>
              </a:rPr>
              <a:t> to have program use special version of library code</a:t>
            </a:r>
          </a:p>
        </p:txBody>
      </p:sp>
    </p:spTree>
    <p:extLst>
      <p:ext uri="{BB962C8B-B14F-4D97-AF65-F5344CB8AC3E}">
        <p14:creationId xmlns:p14="http://schemas.microsoft.com/office/powerpoint/2010/main" val="4252260856"/>
      </p:ext>
    </p:extLst>
  </p:cSld>
  <p:clrMapOvr>
    <a:masterClrMapping/>
  </p:clrMapOvr>
  <p:timing>
    <p:tnLst>
      <p:par>
        <p:cTn xmlns:p14="http://schemas.microsoft.com/office/powerpoint/2010/mai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p:txBody>
          <a:bodyPr/>
          <a:lstStyle/>
          <a:p>
            <a:r>
              <a:rPr lang="en-US" dirty="0" smtClean="0">
                <a:latin typeface="Calibri"/>
                <a:cs typeface="Calibri"/>
              </a:rPr>
              <a:t>Variable delay </a:t>
            </a:r>
            <a:r>
              <a:rPr lang="en-US" dirty="0" smtClean="0">
                <a:latin typeface="Courier New"/>
                <a:cs typeface="Courier New"/>
              </a:rPr>
              <a:t>fork</a:t>
            </a:r>
            <a:endParaRPr lang="en-US" dirty="0"/>
          </a:p>
        </p:txBody>
      </p:sp>
      <p:sp>
        <p:nvSpPr>
          <p:cNvPr id="490499" name="Text Box 3"/>
          <p:cNvSpPr txBox="1">
            <a:spLocks noChangeArrowheads="1"/>
          </p:cNvSpPr>
          <p:nvPr/>
        </p:nvSpPr>
        <p:spPr bwMode="auto">
          <a:xfrm>
            <a:off x="0" y="1088657"/>
            <a:ext cx="8686800" cy="5755423"/>
          </a:xfrm>
          <a:prstGeom prst="rect">
            <a:avLst/>
          </a:prstGeom>
          <a:solidFill>
            <a:srgbClr val="F6F5BD"/>
          </a:solidFill>
          <a:ln w="3175">
            <a:solidFill>
              <a:schemeClr val="tx1"/>
            </a:solidFill>
            <a:miter lim="800000"/>
            <a:headEnd/>
            <a:tailEnd/>
          </a:ln>
          <a:effectLst/>
        </p:spPr>
        <p:txBody>
          <a:bodyPr wrap="square">
            <a:spAutoFit/>
          </a:bodyPr>
          <a:lstStyle/>
          <a:p>
            <a:r>
              <a:rPr lang="en-US" sz="1600" dirty="0" smtClean="0">
                <a:solidFill>
                  <a:srgbClr val="000000"/>
                </a:solidFill>
                <a:latin typeface="Courier New"/>
                <a:cs typeface="Courier New"/>
              </a:rPr>
              <a:t>/* fork wrapper function */</a:t>
            </a:r>
          </a:p>
          <a:p>
            <a:r>
              <a:rPr lang="en-US" sz="1600" dirty="0" err="1" smtClean="0">
                <a:solidFill>
                  <a:srgbClr val="000000"/>
                </a:solidFill>
                <a:latin typeface="Courier New"/>
                <a:cs typeface="Courier New"/>
              </a:rPr>
              <a:t>pid_t</a:t>
            </a:r>
            <a:r>
              <a:rPr lang="en-US" sz="1600" dirty="0" smtClean="0">
                <a:solidFill>
                  <a:srgbClr val="000000"/>
                </a:solidFill>
                <a:latin typeface="Courier New"/>
                <a:cs typeface="Courier New"/>
              </a:rPr>
              <a:t> fork(void) {</a:t>
            </a:r>
          </a:p>
          <a:p>
            <a:r>
              <a:rPr lang="en-US" sz="1600" dirty="0" smtClean="0">
                <a:solidFill>
                  <a:srgbClr val="000000"/>
                </a:solidFill>
                <a:latin typeface="Courier New"/>
                <a:cs typeface="Courier New"/>
              </a:rPr>
              <a:t>    initialize();</a:t>
            </a:r>
          </a:p>
          <a:p>
            <a:r>
              <a:rPr lang="en-US" sz="1600" dirty="0" smtClean="0">
                <a:solidFill>
                  <a:srgbClr val="000000"/>
                </a:solidFill>
                <a:latin typeface="Courier New"/>
                <a:cs typeface="Courier New"/>
              </a:rPr>
              <a:t>    </a:t>
            </a:r>
            <a:r>
              <a:rPr lang="en-US" sz="1600" dirty="0" err="1" smtClean="0">
                <a:solidFill>
                  <a:srgbClr val="000000"/>
                </a:solidFill>
                <a:latin typeface="Courier New"/>
                <a:cs typeface="Courier New"/>
              </a:rPr>
              <a:t>int</a:t>
            </a:r>
            <a:r>
              <a:rPr lang="en-US" sz="1600" dirty="0" smtClean="0">
                <a:solidFill>
                  <a:srgbClr val="000000"/>
                </a:solidFill>
                <a:latin typeface="Courier New"/>
                <a:cs typeface="Courier New"/>
              </a:rPr>
              <a:t> </a:t>
            </a:r>
            <a:r>
              <a:rPr lang="en-US" sz="1600" dirty="0" err="1" smtClean="0">
                <a:solidFill>
                  <a:srgbClr val="000000"/>
                </a:solidFill>
                <a:latin typeface="Courier New"/>
                <a:cs typeface="Courier New"/>
              </a:rPr>
              <a:t>parent_delay</a:t>
            </a:r>
            <a:r>
              <a:rPr lang="en-US" sz="1600" dirty="0" smtClean="0">
                <a:solidFill>
                  <a:srgbClr val="000000"/>
                </a:solidFill>
                <a:latin typeface="Courier New"/>
                <a:cs typeface="Courier New"/>
              </a:rPr>
              <a:t> = </a:t>
            </a:r>
            <a:r>
              <a:rPr lang="en-US" sz="1600" dirty="0" err="1" smtClean="0">
                <a:solidFill>
                  <a:srgbClr val="000000"/>
                </a:solidFill>
                <a:latin typeface="Courier New"/>
                <a:cs typeface="Courier New"/>
              </a:rPr>
              <a:t>choose_delay</a:t>
            </a:r>
            <a:r>
              <a:rPr lang="en-US" sz="1600" dirty="0" smtClean="0">
                <a:solidFill>
                  <a:srgbClr val="000000"/>
                </a:solidFill>
                <a:latin typeface="Courier New"/>
                <a:cs typeface="Courier New"/>
              </a:rPr>
              <a:t>();</a:t>
            </a:r>
          </a:p>
          <a:p>
            <a:r>
              <a:rPr lang="en-US" sz="1600" dirty="0" smtClean="0">
                <a:solidFill>
                  <a:srgbClr val="000000"/>
                </a:solidFill>
                <a:latin typeface="Courier New"/>
                <a:cs typeface="Courier New"/>
              </a:rPr>
              <a:t>    </a:t>
            </a:r>
            <a:r>
              <a:rPr lang="en-US" sz="1600" dirty="0" err="1" smtClean="0">
                <a:solidFill>
                  <a:srgbClr val="000000"/>
                </a:solidFill>
                <a:latin typeface="Courier New"/>
                <a:cs typeface="Courier New"/>
              </a:rPr>
              <a:t>int</a:t>
            </a:r>
            <a:r>
              <a:rPr lang="en-US" sz="1600" dirty="0" smtClean="0">
                <a:solidFill>
                  <a:srgbClr val="000000"/>
                </a:solidFill>
                <a:latin typeface="Courier New"/>
                <a:cs typeface="Courier New"/>
              </a:rPr>
              <a:t> </a:t>
            </a:r>
            <a:r>
              <a:rPr lang="en-US" sz="1600" dirty="0" err="1" smtClean="0">
                <a:solidFill>
                  <a:srgbClr val="000000"/>
                </a:solidFill>
                <a:latin typeface="Courier New"/>
                <a:cs typeface="Courier New"/>
              </a:rPr>
              <a:t>child_delay</a:t>
            </a:r>
            <a:r>
              <a:rPr lang="en-US" sz="1600" dirty="0" smtClean="0">
                <a:solidFill>
                  <a:srgbClr val="000000"/>
                </a:solidFill>
                <a:latin typeface="Courier New"/>
                <a:cs typeface="Courier New"/>
              </a:rPr>
              <a:t> = </a:t>
            </a:r>
            <a:r>
              <a:rPr lang="en-US" sz="1600" dirty="0" err="1" smtClean="0">
                <a:solidFill>
                  <a:srgbClr val="000000"/>
                </a:solidFill>
                <a:latin typeface="Courier New"/>
                <a:cs typeface="Courier New"/>
              </a:rPr>
              <a:t>choose_delay</a:t>
            </a:r>
            <a:r>
              <a:rPr lang="en-US" sz="1600" dirty="0" smtClean="0">
                <a:solidFill>
                  <a:srgbClr val="000000"/>
                </a:solidFill>
                <a:latin typeface="Courier New"/>
                <a:cs typeface="Courier New"/>
              </a:rPr>
              <a:t>();</a:t>
            </a:r>
          </a:p>
          <a:p>
            <a:r>
              <a:rPr lang="en-US" sz="1600" dirty="0" smtClean="0">
                <a:solidFill>
                  <a:srgbClr val="000000"/>
                </a:solidFill>
                <a:latin typeface="Courier New"/>
                <a:cs typeface="Courier New"/>
              </a:rPr>
              <a:t>    </a:t>
            </a:r>
            <a:r>
              <a:rPr lang="en-US" sz="1600" dirty="0" err="1" smtClean="0">
                <a:solidFill>
                  <a:srgbClr val="000000"/>
                </a:solidFill>
                <a:latin typeface="Courier New"/>
                <a:cs typeface="Courier New"/>
              </a:rPr>
              <a:t>pid_t</a:t>
            </a:r>
            <a:r>
              <a:rPr lang="en-US" sz="1600" dirty="0" smtClean="0">
                <a:solidFill>
                  <a:srgbClr val="000000"/>
                </a:solidFill>
                <a:latin typeface="Courier New"/>
                <a:cs typeface="Courier New"/>
              </a:rPr>
              <a:t> </a:t>
            </a:r>
            <a:r>
              <a:rPr lang="en-US" sz="1600" dirty="0" err="1" smtClean="0">
                <a:solidFill>
                  <a:srgbClr val="000000"/>
                </a:solidFill>
                <a:latin typeface="Courier New"/>
                <a:cs typeface="Courier New"/>
              </a:rPr>
              <a:t>parent_pid</a:t>
            </a:r>
            <a:r>
              <a:rPr lang="en-US" sz="1600" dirty="0" smtClean="0">
                <a:solidFill>
                  <a:srgbClr val="000000"/>
                </a:solidFill>
                <a:latin typeface="Courier New"/>
                <a:cs typeface="Courier New"/>
              </a:rPr>
              <a:t> = </a:t>
            </a:r>
            <a:r>
              <a:rPr lang="en-US" sz="1600" dirty="0" err="1" smtClean="0">
                <a:solidFill>
                  <a:srgbClr val="000000"/>
                </a:solidFill>
                <a:latin typeface="Courier New"/>
                <a:cs typeface="Courier New"/>
              </a:rPr>
              <a:t>getpid</a:t>
            </a:r>
            <a:r>
              <a:rPr lang="en-US" sz="1600" dirty="0" smtClean="0">
                <a:solidFill>
                  <a:srgbClr val="000000"/>
                </a:solidFill>
                <a:latin typeface="Courier New"/>
                <a:cs typeface="Courier New"/>
              </a:rPr>
              <a:t>();</a:t>
            </a:r>
          </a:p>
          <a:p>
            <a:r>
              <a:rPr lang="en-US" sz="1600" dirty="0" smtClean="0">
                <a:solidFill>
                  <a:srgbClr val="000000"/>
                </a:solidFill>
                <a:latin typeface="Courier New"/>
                <a:cs typeface="Courier New"/>
              </a:rPr>
              <a:t>    </a:t>
            </a:r>
            <a:r>
              <a:rPr lang="en-US" sz="1600" dirty="0" err="1" smtClean="0">
                <a:solidFill>
                  <a:srgbClr val="000000"/>
                </a:solidFill>
                <a:latin typeface="Courier New"/>
                <a:cs typeface="Courier New"/>
              </a:rPr>
              <a:t>pid_t</a:t>
            </a:r>
            <a:r>
              <a:rPr lang="en-US" sz="1600" dirty="0" smtClean="0">
                <a:solidFill>
                  <a:srgbClr val="000000"/>
                </a:solidFill>
                <a:latin typeface="Courier New"/>
                <a:cs typeface="Courier New"/>
              </a:rPr>
              <a:t> </a:t>
            </a:r>
            <a:r>
              <a:rPr lang="en-US" sz="1600" dirty="0" err="1" smtClean="0">
                <a:solidFill>
                  <a:srgbClr val="000000"/>
                </a:solidFill>
                <a:latin typeface="Courier New"/>
                <a:cs typeface="Courier New"/>
              </a:rPr>
              <a:t>child_pid_or_zero</a:t>
            </a:r>
            <a:r>
              <a:rPr lang="en-US" sz="1600" dirty="0" smtClean="0">
                <a:solidFill>
                  <a:srgbClr val="000000"/>
                </a:solidFill>
                <a:latin typeface="Courier New"/>
                <a:cs typeface="Courier New"/>
              </a:rPr>
              <a:t> = </a:t>
            </a:r>
            <a:r>
              <a:rPr lang="en-US" sz="1600" dirty="0" err="1" smtClean="0">
                <a:solidFill>
                  <a:srgbClr val="000000"/>
                </a:solidFill>
                <a:latin typeface="Courier New"/>
                <a:cs typeface="Courier New"/>
              </a:rPr>
              <a:t>real_fork</a:t>
            </a:r>
            <a:r>
              <a:rPr lang="en-US" sz="1600" dirty="0" smtClean="0">
                <a:solidFill>
                  <a:srgbClr val="000000"/>
                </a:solidFill>
                <a:latin typeface="Courier New"/>
                <a:cs typeface="Courier New"/>
              </a:rPr>
              <a:t>();</a:t>
            </a:r>
          </a:p>
          <a:p>
            <a:r>
              <a:rPr lang="en-US" sz="1600" dirty="0" smtClean="0">
                <a:solidFill>
                  <a:srgbClr val="000000"/>
                </a:solidFill>
                <a:latin typeface="Courier New"/>
                <a:cs typeface="Courier New"/>
              </a:rPr>
              <a:t>    if (</a:t>
            </a:r>
            <a:r>
              <a:rPr lang="en-US" sz="1600" dirty="0" err="1" smtClean="0">
                <a:solidFill>
                  <a:srgbClr val="000000"/>
                </a:solidFill>
                <a:latin typeface="Courier New"/>
                <a:cs typeface="Courier New"/>
              </a:rPr>
              <a:t>child_pid_or_zero</a:t>
            </a:r>
            <a:r>
              <a:rPr lang="en-US" sz="1600" dirty="0" smtClean="0">
                <a:solidFill>
                  <a:srgbClr val="000000"/>
                </a:solidFill>
                <a:latin typeface="Courier New"/>
                <a:cs typeface="Courier New"/>
              </a:rPr>
              <a:t> &gt; 0) {</a:t>
            </a:r>
          </a:p>
          <a:p>
            <a:r>
              <a:rPr lang="en-US" sz="1600" dirty="0" smtClean="0">
                <a:solidFill>
                  <a:srgbClr val="000000"/>
                </a:solidFill>
                <a:latin typeface="Courier New"/>
                <a:cs typeface="Courier New"/>
              </a:rPr>
              <a:t>        /* Parent */</a:t>
            </a:r>
          </a:p>
          <a:p>
            <a:r>
              <a:rPr lang="en-US" sz="1600" dirty="0" smtClean="0">
                <a:solidFill>
                  <a:srgbClr val="000000"/>
                </a:solidFill>
                <a:latin typeface="Courier New"/>
                <a:cs typeface="Courier New"/>
              </a:rPr>
              <a:t>        if (verbose) {</a:t>
            </a:r>
          </a:p>
          <a:p>
            <a:r>
              <a:rPr lang="en-US" sz="1600" dirty="0" smtClean="0">
                <a:solidFill>
                  <a:srgbClr val="000000"/>
                </a:solidFill>
                <a:latin typeface="Courier New"/>
                <a:cs typeface="Courier New"/>
              </a:rPr>
              <a:t>            </a:t>
            </a:r>
            <a:r>
              <a:rPr lang="en-US" sz="1600" dirty="0" err="1" smtClean="0">
                <a:solidFill>
                  <a:srgbClr val="000000"/>
                </a:solidFill>
                <a:latin typeface="Courier New"/>
                <a:cs typeface="Courier New"/>
              </a:rPr>
              <a:t>printf</a:t>
            </a:r>
            <a:r>
              <a:rPr lang="en-US" sz="1600" dirty="0" smtClean="0">
                <a:solidFill>
                  <a:srgbClr val="000000"/>
                </a:solidFill>
                <a:latin typeface="Courier New"/>
                <a:cs typeface="Courier New"/>
              </a:rPr>
              <a:t>(</a:t>
            </a:r>
          </a:p>
          <a:p>
            <a:r>
              <a:rPr lang="en-US" sz="1600" dirty="0" smtClean="0">
                <a:solidFill>
                  <a:srgbClr val="000000"/>
                </a:solidFill>
                <a:latin typeface="Courier New"/>
                <a:cs typeface="Courier New"/>
              </a:rPr>
              <a:t>"Fork.  Child </a:t>
            </a:r>
            <a:r>
              <a:rPr lang="en-US" sz="1600" dirty="0" err="1" smtClean="0">
                <a:solidFill>
                  <a:srgbClr val="000000"/>
                </a:solidFill>
                <a:latin typeface="Courier New"/>
                <a:cs typeface="Courier New"/>
              </a:rPr>
              <a:t>pid</a:t>
            </a:r>
            <a:r>
              <a:rPr lang="en-US" sz="1600" dirty="0" smtClean="0">
                <a:solidFill>
                  <a:srgbClr val="000000"/>
                </a:solidFill>
                <a:latin typeface="Courier New"/>
                <a:cs typeface="Courier New"/>
              </a:rPr>
              <a:t>=%d, delay = %</a:t>
            </a:r>
            <a:r>
              <a:rPr lang="en-US" sz="1600" dirty="0" err="1" smtClean="0">
                <a:solidFill>
                  <a:srgbClr val="000000"/>
                </a:solidFill>
                <a:latin typeface="Courier New"/>
                <a:cs typeface="Courier New"/>
              </a:rPr>
              <a:t>dms</a:t>
            </a:r>
            <a:r>
              <a:rPr lang="en-US" sz="1600" dirty="0" smtClean="0">
                <a:solidFill>
                  <a:srgbClr val="000000"/>
                </a:solidFill>
                <a:latin typeface="Courier New"/>
                <a:cs typeface="Courier New"/>
              </a:rPr>
              <a:t>.  Parent </a:t>
            </a:r>
            <a:r>
              <a:rPr lang="en-US" sz="1600" dirty="0" err="1" smtClean="0">
                <a:solidFill>
                  <a:srgbClr val="000000"/>
                </a:solidFill>
                <a:latin typeface="Courier New"/>
                <a:cs typeface="Courier New"/>
              </a:rPr>
              <a:t>pid</a:t>
            </a:r>
            <a:r>
              <a:rPr lang="en-US" sz="1600" dirty="0" smtClean="0">
                <a:solidFill>
                  <a:srgbClr val="000000"/>
                </a:solidFill>
                <a:latin typeface="Courier New"/>
                <a:cs typeface="Courier New"/>
              </a:rPr>
              <a:t>=%d, delay = %</a:t>
            </a:r>
            <a:r>
              <a:rPr lang="en-US" sz="1600" dirty="0" err="1" smtClean="0">
                <a:solidFill>
                  <a:srgbClr val="000000"/>
                </a:solidFill>
                <a:latin typeface="Courier New"/>
                <a:cs typeface="Courier New"/>
              </a:rPr>
              <a:t>dms</a:t>
            </a:r>
            <a:r>
              <a:rPr lang="en-US" sz="1600" dirty="0" smtClean="0">
                <a:solidFill>
                  <a:srgbClr val="000000"/>
                </a:solidFill>
                <a:latin typeface="Courier New"/>
                <a:cs typeface="Courier New"/>
              </a:rPr>
              <a:t>\n",</a:t>
            </a:r>
          </a:p>
          <a:p>
            <a:r>
              <a:rPr lang="en-US" sz="1600" dirty="0" smtClean="0">
                <a:solidFill>
                  <a:srgbClr val="000000"/>
                </a:solidFill>
                <a:latin typeface="Courier New"/>
                <a:cs typeface="Courier New"/>
              </a:rPr>
              <a:t>                   </a:t>
            </a:r>
            <a:r>
              <a:rPr lang="en-US" sz="1600" dirty="0" err="1" smtClean="0">
                <a:solidFill>
                  <a:srgbClr val="000000"/>
                </a:solidFill>
                <a:latin typeface="Courier New"/>
                <a:cs typeface="Courier New"/>
              </a:rPr>
              <a:t>child_pid_or_zero</a:t>
            </a:r>
            <a:r>
              <a:rPr lang="en-US" sz="1600" dirty="0" smtClean="0">
                <a:solidFill>
                  <a:srgbClr val="000000"/>
                </a:solidFill>
                <a:latin typeface="Courier New"/>
                <a:cs typeface="Courier New"/>
              </a:rPr>
              <a:t>, </a:t>
            </a:r>
            <a:r>
              <a:rPr lang="en-US" sz="1600" dirty="0" err="1" smtClean="0">
                <a:solidFill>
                  <a:srgbClr val="000000"/>
                </a:solidFill>
                <a:latin typeface="Courier New"/>
                <a:cs typeface="Courier New"/>
              </a:rPr>
              <a:t>child_delay</a:t>
            </a:r>
            <a:r>
              <a:rPr lang="en-US" sz="1600" dirty="0" smtClean="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smtClean="0">
                <a:solidFill>
                  <a:srgbClr val="000000"/>
                </a:solidFill>
                <a:latin typeface="Courier New"/>
                <a:cs typeface="Courier New"/>
              </a:rPr>
              <a:t>                  </a:t>
            </a:r>
            <a:r>
              <a:rPr lang="en-US" sz="1600" dirty="0" err="1" smtClean="0">
                <a:solidFill>
                  <a:srgbClr val="000000"/>
                </a:solidFill>
                <a:latin typeface="Courier New"/>
                <a:cs typeface="Courier New"/>
              </a:rPr>
              <a:t>parent_pid</a:t>
            </a:r>
            <a:r>
              <a:rPr lang="en-US" sz="1600" dirty="0" smtClean="0">
                <a:solidFill>
                  <a:srgbClr val="000000"/>
                </a:solidFill>
                <a:latin typeface="Courier New"/>
                <a:cs typeface="Courier New"/>
              </a:rPr>
              <a:t>, </a:t>
            </a:r>
            <a:r>
              <a:rPr lang="en-US" sz="1600" dirty="0" err="1" smtClean="0">
                <a:solidFill>
                  <a:srgbClr val="000000"/>
                </a:solidFill>
                <a:latin typeface="Courier New"/>
                <a:cs typeface="Courier New"/>
              </a:rPr>
              <a:t>parent_delay</a:t>
            </a:r>
            <a:r>
              <a:rPr lang="en-US" sz="1600" dirty="0" smtClean="0">
                <a:solidFill>
                  <a:srgbClr val="000000"/>
                </a:solidFill>
                <a:latin typeface="Courier New"/>
                <a:cs typeface="Courier New"/>
              </a:rPr>
              <a:t>);</a:t>
            </a:r>
          </a:p>
          <a:p>
            <a:r>
              <a:rPr lang="en-US" sz="1600" dirty="0" smtClean="0">
                <a:solidFill>
                  <a:srgbClr val="000000"/>
                </a:solidFill>
                <a:latin typeface="Courier New"/>
                <a:cs typeface="Courier New"/>
              </a:rPr>
              <a:t>            </a:t>
            </a:r>
            <a:r>
              <a:rPr lang="en-US" sz="1600" dirty="0" err="1" smtClean="0">
                <a:solidFill>
                  <a:srgbClr val="000000"/>
                </a:solidFill>
                <a:latin typeface="Courier New"/>
                <a:cs typeface="Courier New"/>
              </a:rPr>
              <a:t>fflush</a:t>
            </a:r>
            <a:r>
              <a:rPr lang="en-US" sz="1600" dirty="0" smtClean="0">
                <a:solidFill>
                  <a:srgbClr val="000000"/>
                </a:solidFill>
                <a:latin typeface="Courier New"/>
                <a:cs typeface="Courier New"/>
              </a:rPr>
              <a:t>(</a:t>
            </a:r>
            <a:r>
              <a:rPr lang="en-US" sz="1600" dirty="0" err="1" smtClean="0">
                <a:solidFill>
                  <a:srgbClr val="000000"/>
                </a:solidFill>
                <a:latin typeface="Courier New"/>
                <a:cs typeface="Courier New"/>
              </a:rPr>
              <a:t>stdout</a:t>
            </a:r>
            <a:r>
              <a:rPr lang="en-US" sz="1600" dirty="0" smtClean="0">
                <a:solidFill>
                  <a:srgbClr val="000000"/>
                </a:solidFill>
                <a:latin typeface="Courier New"/>
                <a:cs typeface="Courier New"/>
              </a:rPr>
              <a:t>);</a:t>
            </a:r>
          </a:p>
          <a:p>
            <a:r>
              <a:rPr lang="en-US" sz="1600" dirty="0" smtClean="0">
                <a:solidFill>
                  <a:srgbClr val="000000"/>
                </a:solidFill>
                <a:latin typeface="Courier New"/>
                <a:cs typeface="Courier New"/>
              </a:rPr>
              <a:t>        }</a:t>
            </a:r>
          </a:p>
          <a:p>
            <a:r>
              <a:rPr lang="en-US" sz="1600" dirty="0" smtClean="0">
                <a:solidFill>
                  <a:srgbClr val="000000"/>
                </a:solidFill>
                <a:latin typeface="Courier New"/>
                <a:cs typeface="Courier New"/>
              </a:rPr>
              <a:t>        </a:t>
            </a:r>
            <a:r>
              <a:rPr lang="en-US" sz="1600" dirty="0" err="1" smtClean="0">
                <a:solidFill>
                  <a:srgbClr val="FF0000"/>
                </a:solidFill>
                <a:latin typeface="Courier New"/>
                <a:cs typeface="Courier New"/>
              </a:rPr>
              <a:t>ms_sleep</a:t>
            </a:r>
            <a:r>
              <a:rPr lang="en-US" sz="1600" dirty="0" smtClean="0">
                <a:solidFill>
                  <a:srgbClr val="FF0000"/>
                </a:solidFill>
                <a:latin typeface="Courier New"/>
                <a:cs typeface="Courier New"/>
              </a:rPr>
              <a:t>(</a:t>
            </a:r>
            <a:r>
              <a:rPr lang="en-US" sz="1600" dirty="0" err="1" smtClean="0">
                <a:solidFill>
                  <a:srgbClr val="FF0000"/>
                </a:solidFill>
                <a:latin typeface="Courier New"/>
                <a:cs typeface="Courier New"/>
              </a:rPr>
              <a:t>parent_delay</a:t>
            </a:r>
            <a:r>
              <a:rPr lang="en-US" sz="1600" dirty="0" smtClean="0">
                <a:solidFill>
                  <a:srgbClr val="FF0000"/>
                </a:solidFill>
                <a:latin typeface="Courier New"/>
                <a:cs typeface="Courier New"/>
              </a:rPr>
              <a:t>)</a:t>
            </a:r>
            <a:r>
              <a:rPr lang="en-US" sz="1600" dirty="0" smtClean="0">
                <a:solidFill>
                  <a:srgbClr val="000000"/>
                </a:solidFill>
                <a:latin typeface="Courier New"/>
                <a:cs typeface="Courier New"/>
              </a:rPr>
              <a:t>;</a:t>
            </a:r>
          </a:p>
          <a:p>
            <a:r>
              <a:rPr lang="en-US" sz="1600" dirty="0" smtClean="0">
                <a:solidFill>
                  <a:srgbClr val="000000"/>
                </a:solidFill>
                <a:latin typeface="Courier New"/>
                <a:cs typeface="Courier New"/>
              </a:rPr>
              <a:t>    } else {</a:t>
            </a:r>
          </a:p>
          <a:p>
            <a:r>
              <a:rPr lang="en-US" sz="1600" dirty="0" smtClean="0">
                <a:solidFill>
                  <a:srgbClr val="000000"/>
                </a:solidFill>
                <a:latin typeface="Courier New"/>
                <a:cs typeface="Courier New"/>
              </a:rPr>
              <a:t>        /* Child */</a:t>
            </a:r>
          </a:p>
          <a:p>
            <a:r>
              <a:rPr lang="en-US" sz="1600" dirty="0" smtClean="0">
                <a:solidFill>
                  <a:srgbClr val="000000"/>
                </a:solidFill>
                <a:latin typeface="Courier New"/>
                <a:cs typeface="Courier New"/>
              </a:rPr>
              <a:t>        </a:t>
            </a:r>
            <a:r>
              <a:rPr lang="en-US" sz="1600" dirty="0" err="1" smtClean="0">
                <a:solidFill>
                  <a:srgbClr val="0000FF"/>
                </a:solidFill>
                <a:latin typeface="Courier New"/>
                <a:cs typeface="Courier New"/>
              </a:rPr>
              <a:t>ms_sleep</a:t>
            </a:r>
            <a:r>
              <a:rPr lang="en-US" sz="1600" dirty="0" smtClean="0">
                <a:solidFill>
                  <a:srgbClr val="0000FF"/>
                </a:solidFill>
                <a:latin typeface="Courier New"/>
                <a:cs typeface="Courier New"/>
              </a:rPr>
              <a:t>(</a:t>
            </a:r>
            <a:r>
              <a:rPr lang="en-US" sz="1600" dirty="0" err="1" smtClean="0">
                <a:solidFill>
                  <a:srgbClr val="0000FF"/>
                </a:solidFill>
                <a:latin typeface="Courier New"/>
                <a:cs typeface="Courier New"/>
              </a:rPr>
              <a:t>child_delay</a:t>
            </a:r>
            <a:r>
              <a:rPr lang="en-US" sz="1600" dirty="0" smtClean="0">
                <a:solidFill>
                  <a:srgbClr val="0000FF"/>
                </a:solidFill>
                <a:latin typeface="Courier New"/>
                <a:cs typeface="Courier New"/>
              </a:rPr>
              <a:t>)</a:t>
            </a:r>
            <a:r>
              <a:rPr lang="en-US" sz="1600" dirty="0" smtClean="0">
                <a:solidFill>
                  <a:srgbClr val="000000"/>
                </a:solidFill>
                <a:latin typeface="Courier New"/>
                <a:cs typeface="Courier New"/>
              </a:rPr>
              <a:t>;</a:t>
            </a:r>
          </a:p>
          <a:p>
            <a:r>
              <a:rPr lang="en-US" sz="1600" dirty="0" smtClean="0">
                <a:solidFill>
                  <a:srgbClr val="000000"/>
                </a:solidFill>
                <a:latin typeface="Courier New"/>
                <a:cs typeface="Courier New"/>
              </a:rPr>
              <a:t>    }</a:t>
            </a:r>
          </a:p>
          <a:p>
            <a:r>
              <a:rPr lang="en-US" sz="1600" dirty="0" smtClean="0">
                <a:solidFill>
                  <a:srgbClr val="000000"/>
                </a:solidFill>
                <a:latin typeface="Courier New"/>
                <a:cs typeface="Courier New"/>
              </a:rPr>
              <a:t>    return </a:t>
            </a:r>
            <a:r>
              <a:rPr lang="en-US" sz="1600" dirty="0" err="1" smtClean="0">
                <a:solidFill>
                  <a:srgbClr val="000000"/>
                </a:solidFill>
                <a:latin typeface="Courier New"/>
                <a:cs typeface="Courier New"/>
              </a:rPr>
              <a:t>child_pid_or_zero</a:t>
            </a:r>
            <a:r>
              <a:rPr lang="en-US" sz="1600" dirty="0" smtClean="0">
                <a:solidFill>
                  <a:srgbClr val="000000"/>
                </a:solidFill>
                <a:latin typeface="Courier New"/>
                <a:cs typeface="Courier New"/>
              </a:rPr>
              <a:t>;</a:t>
            </a:r>
          </a:p>
          <a:p>
            <a:r>
              <a:rPr lang="en-US" sz="1600" dirty="0" smtClean="0">
                <a:solidFill>
                  <a:srgbClr val="000000"/>
                </a:solidFill>
                <a:latin typeface="Courier New"/>
                <a:cs typeface="Courier New"/>
              </a:rPr>
              <a:t>}</a:t>
            </a:r>
            <a:endParaRPr lang="en-US" sz="1600" dirty="0">
              <a:solidFill>
                <a:srgbClr val="000000"/>
              </a:solidFill>
              <a:latin typeface="Courier New"/>
              <a:cs typeface="Courier New"/>
            </a:endParaRPr>
          </a:p>
        </p:txBody>
      </p:sp>
      <p:sp>
        <p:nvSpPr>
          <p:cNvPr id="7" name="Rectangle 3"/>
          <p:cNvSpPr>
            <a:spLocks noChangeArrowheads="1"/>
          </p:cNvSpPr>
          <p:nvPr/>
        </p:nvSpPr>
        <p:spPr bwMode="auto">
          <a:xfrm>
            <a:off x="7266262" y="6486417"/>
            <a:ext cx="1344338"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smtClean="0">
                <a:solidFill>
                  <a:schemeClr val="tx1">
                    <a:lumMod val="50000"/>
                    <a:lumOff val="50000"/>
                  </a:schemeClr>
                </a:solidFill>
                <a:latin typeface="Courier New" pitchFamily="49" charset="0"/>
                <a:ea typeface="msgothic" charset="0"/>
                <a:cs typeface="msgothic" charset="0"/>
              </a:rPr>
              <a:t>myfork.c</a:t>
            </a:r>
            <a:endParaRPr lang="en-GB" sz="1800" b="1" i="1" dirty="0">
              <a:solidFill>
                <a:schemeClr val="tx1">
                  <a:lumMod val="50000"/>
                  <a:lumOff val="50000"/>
                </a:schemeClr>
              </a:solidFill>
              <a:latin typeface="Courier New" pitchFamily="49" charset="0"/>
              <a:ea typeface="msgothic" charset="0"/>
              <a:cs typeface="msgothic" charset="0"/>
            </a:endParaRPr>
          </a:p>
        </p:txBody>
      </p:sp>
    </p:spTree>
    <p:extLst>
      <p:ext uri="{BB962C8B-B14F-4D97-AF65-F5344CB8AC3E}">
        <p14:creationId xmlns:p14="http://schemas.microsoft.com/office/powerpoint/2010/main" val="2762989577"/>
      </p:ext>
    </p:extLst>
  </p:cSld>
  <p:clrMapOvr>
    <a:masterClrMapping/>
  </p:clrMapOvr>
  <p:timing>
    <p:tnLst>
      <p:par>
        <p:cTn xmlns:p14="http://schemas.microsoft.com/office/powerpoint/2010/mai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a:xfrm>
            <a:off x="381000" y="417512"/>
            <a:ext cx="5699125" cy="573088"/>
          </a:xfrm>
        </p:spPr>
        <p:txBody>
          <a:bodyPr/>
          <a:lstStyle/>
          <a:p>
            <a:r>
              <a:rPr lang="en-US" dirty="0" smtClean="0">
                <a:latin typeface="Courier New"/>
                <a:cs typeface="Courier New"/>
              </a:rPr>
              <a:t>forkx2</a:t>
            </a:r>
            <a:r>
              <a:rPr lang="en-US" dirty="0" smtClean="0"/>
              <a:t> Example</a:t>
            </a:r>
            <a:endParaRPr lang="en-US" dirty="0"/>
          </a:p>
        </p:txBody>
      </p:sp>
      <p:sp>
        <p:nvSpPr>
          <p:cNvPr id="490499" name="Text Box 3"/>
          <p:cNvSpPr txBox="1">
            <a:spLocks noChangeArrowheads="1"/>
          </p:cNvSpPr>
          <p:nvPr/>
        </p:nvSpPr>
        <p:spPr bwMode="auto">
          <a:xfrm>
            <a:off x="236546" y="1066800"/>
            <a:ext cx="4955060" cy="4278094"/>
          </a:xfrm>
          <a:prstGeom prst="rect">
            <a:avLst/>
          </a:prstGeom>
          <a:solidFill>
            <a:srgbClr val="F6F5BD"/>
          </a:solidFill>
          <a:ln w="3175">
            <a:solidFill>
              <a:schemeClr val="tx1"/>
            </a:solidFill>
            <a:miter lim="800000"/>
            <a:headEnd/>
            <a:tailEnd/>
          </a:ln>
          <a:effectLst/>
        </p:spPr>
        <p:txBody>
          <a:bodyPr wrap="square">
            <a:spAutoFit/>
          </a:bodyPr>
          <a:lstStyle/>
          <a:p>
            <a:r>
              <a:rPr lang="en-US" sz="1600" dirty="0" err="1">
                <a:solidFill>
                  <a:srgbClr val="2D961E"/>
                </a:solidFill>
                <a:latin typeface="Courier New"/>
                <a:cs typeface="Courier New"/>
              </a:rPr>
              <a:t>int</a:t>
            </a:r>
            <a:r>
              <a:rPr lang="en-US" sz="1600" dirty="0">
                <a:solidFill>
                  <a:srgbClr val="000000"/>
                </a:solidFill>
                <a:latin typeface="Courier New"/>
                <a:cs typeface="Courier New"/>
              </a:rPr>
              <a:t> </a:t>
            </a:r>
            <a:r>
              <a:rPr lang="en-US" sz="1600" dirty="0" smtClean="0">
                <a:solidFill>
                  <a:srgbClr val="4A00FF"/>
                </a:solidFill>
                <a:latin typeface="Courier New"/>
                <a:cs typeface="Courier New"/>
              </a:rPr>
              <a:t>main</a:t>
            </a:r>
            <a:r>
              <a:rPr lang="en-US" sz="1600" dirty="0">
                <a:solidFill>
                  <a:srgbClr val="000000"/>
                </a:solidFill>
                <a:latin typeface="Courier New"/>
                <a:cs typeface="Courier New"/>
              </a:rPr>
              <a:t>(</a:t>
            </a:r>
            <a:r>
              <a:rPr lang="en-US" sz="1600" dirty="0" err="1">
                <a:solidFill>
                  <a:srgbClr val="000000"/>
                </a:solidFill>
                <a:latin typeface="Courier New"/>
                <a:cs typeface="Courier New"/>
              </a:rPr>
              <a:t>int</a:t>
            </a:r>
            <a:r>
              <a:rPr lang="en-US" sz="1600" dirty="0">
                <a:solidFill>
                  <a:srgbClr val="000000"/>
                </a:solidFill>
                <a:latin typeface="Courier New"/>
                <a:cs typeface="Courier New"/>
              </a:rPr>
              <a:t> </a:t>
            </a:r>
            <a:r>
              <a:rPr lang="en-US" sz="1600" dirty="0" err="1">
                <a:solidFill>
                  <a:srgbClr val="000000"/>
                </a:solidFill>
                <a:latin typeface="Courier New"/>
                <a:cs typeface="Courier New"/>
              </a:rPr>
              <a:t>argc</a:t>
            </a:r>
            <a:r>
              <a:rPr lang="en-US" sz="1600" dirty="0">
                <a:solidFill>
                  <a:srgbClr val="000000"/>
                </a:solidFill>
                <a:latin typeface="Courier New"/>
                <a:cs typeface="Courier New"/>
              </a:rPr>
              <a:t>, char** </a:t>
            </a:r>
            <a:r>
              <a:rPr lang="en-US" sz="1600" dirty="0" err="1">
                <a:solidFill>
                  <a:srgbClr val="000000"/>
                </a:solidFill>
                <a:latin typeface="Courier New"/>
                <a:cs typeface="Courier New"/>
              </a:rPr>
              <a:t>argv</a:t>
            </a:r>
            <a:r>
              <a:rPr lang="en-US" sz="1600" dirty="0">
                <a:solidFill>
                  <a:srgbClr val="000000"/>
                </a:solidFill>
                <a:latin typeface="Courier New"/>
                <a:cs typeface="Courier New"/>
              </a:rPr>
              <a:t>)</a:t>
            </a:r>
          </a:p>
          <a:p>
            <a:r>
              <a:rPr lang="en-US" sz="1600" dirty="0">
                <a:solidFill>
                  <a:srgbClr val="000000"/>
                </a:solidFill>
                <a:latin typeface="Courier New"/>
                <a:cs typeface="Courier New"/>
              </a:rPr>
              <a:t>{</a:t>
            </a:r>
          </a:p>
          <a:p>
            <a:r>
              <a:rPr lang="fi-FI" sz="1600" dirty="0">
                <a:solidFill>
                  <a:srgbClr val="000000"/>
                </a:solidFill>
                <a:latin typeface="Courier New"/>
                <a:cs typeface="Courier New"/>
              </a:rPr>
              <a:t>    </a:t>
            </a:r>
            <a:r>
              <a:rPr lang="fi-FI" sz="1600" dirty="0" err="1">
                <a:solidFill>
                  <a:srgbClr val="2D961E"/>
                </a:solidFill>
                <a:latin typeface="Courier New"/>
                <a:cs typeface="Courier New"/>
              </a:rPr>
              <a:t>pid_t</a:t>
            </a:r>
            <a:r>
              <a:rPr lang="fi-FI" sz="1600" dirty="0">
                <a:solidFill>
                  <a:srgbClr val="000000"/>
                </a:solidFill>
                <a:latin typeface="Courier New"/>
                <a:cs typeface="Courier New"/>
              </a:rPr>
              <a:t> </a:t>
            </a:r>
            <a:r>
              <a:rPr lang="fi-FI" sz="1600" dirty="0" err="1">
                <a:solidFill>
                  <a:srgbClr val="C1651C"/>
                </a:solidFill>
                <a:latin typeface="Courier New"/>
                <a:cs typeface="Courier New"/>
              </a:rPr>
              <a:t>pid</a:t>
            </a:r>
            <a:r>
              <a:rPr lang="fi-FI" sz="1600" dirty="0">
                <a:solidFill>
                  <a:srgbClr val="000000"/>
                </a:solidFill>
                <a:latin typeface="Courier New"/>
                <a:cs typeface="Courier New"/>
              </a:rPr>
              <a:t>;</a:t>
            </a:r>
          </a:p>
          <a:p>
            <a:r>
              <a:rPr lang="fr-FR" sz="1600" dirty="0">
                <a:solidFill>
                  <a:srgbClr val="000000"/>
                </a:solidFill>
                <a:latin typeface="Courier New"/>
                <a:cs typeface="Courier New"/>
              </a:rPr>
              <a:t>    </a:t>
            </a:r>
            <a:r>
              <a:rPr lang="fr-FR" sz="1600" dirty="0" err="1">
                <a:solidFill>
                  <a:srgbClr val="2D961E"/>
                </a:solidFill>
                <a:latin typeface="Courier New"/>
                <a:cs typeface="Courier New"/>
              </a:rPr>
              <a:t>int</a:t>
            </a:r>
            <a:r>
              <a:rPr lang="fr-FR" sz="1600" dirty="0">
                <a:solidFill>
                  <a:srgbClr val="000000"/>
                </a:solidFill>
                <a:latin typeface="Courier New"/>
                <a:cs typeface="Courier New"/>
              </a:rPr>
              <a:t> </a:t>
            </a:r>
            <a:r>
              <a:rPr lang="fr-FR" sz="1600" dirty="0">
                <a:solidFill>
                  <a:srgbClr val="C1651C"/>
                </a:solidFill>
                <a:latin typeface="Courier New"/>
                <a:cs typeface="Courier New"/>
              </a:rPr>
              <a:t>x</a:t>
            </a:r>
            <a:r>
              <a:rPr lang="fr-FR" sz="1600" dirty="0">
                <a:solidFill>
                  <a:srgbClr val="000000"/>
                </a:solidFill>
                <a:latin typeface="Courier New"/>
                <a:cs typeface="Courier New"/>
              </a:rPr>
              <a:t> = 1;</a:t>
            </a:r>
          </a:p>
          <a:p>
            <a:endParaRPr lang="fr-FR" sz="1600" dirty="0">
              <a:solidFill>
                <a:srgbClr val="000000"/>
              </a:solidFill>
              <a:latin typeface="Courier New"/>
              <a:cs typeface="Courier New"/>
            </a:endParaRPr>
          </a:p>
          <a:p>
            <a:r>
              <a:rPr lang="fi-FI" sz="1600" dirty="0">
                <a:solidFill>
                  <a:srgbClr val="000000"/>
                </a:solidFill>
                <a:latin typeface="Courier New"/>
                <a:cs typeface="Courier New"/>
              </a:rPr>
              <a:t>    </a:t>
            </a:r>
            <a:r>
              <a:rPr lang="fi-FI" sz="1600" dirty="0" err="1">
                <a:solidFill>
                  <a:srgbClr val="000000"/>
                </a:solidFill>
                <a:latin typeface="Courier New"/>
                <a:cs typeface="Courier New"/>
              </a:rPr>
              <a:t>pid</a:t>
            </a:r>
            <a:r>
              <a:rPr lang="fi-FI" sz="1600" dirty="0">
                <a:solidFill>
                  <a:srgbClr val="000000"/>
                </a:solidFill>
                <a:latin typeface="Courier New"/>
                <a:cs typeface="Courier New"/>
              </a:rPr>
              <a:t> = </a:t>
            </a:r>
            <a:r>
              <a:rPr lang="fi-FI" sz="1600" dirty="0" err="1">
                <a:solidFill>
                  <a:srgbClr val="000000"/>
                </a:solidFill>
                <a:latin typeface="Courier New"/>
                <a:cs typeface="Courier New"/>
              </a:rPr>
              <a:t>Fork</a:t>
            </a:r>
            <a:r>
              <a:rPr lang="fi-FI" sz="1600" dirty="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a:solidFill>
                  <a:srgbClr val="C200FF"/>
                </a:solidFill>
                <a:latin typeface="Courier New"/>
                <a:cs typeface="Courier New"/>
              </a:rPr>
              <a:t>if</a:t>
            </a:r>
            <a:r>
              <a:rPr lang="en-US" sz="1600" dirty="0">
                <a:solidFill>
                  <a:srgbClr val="000000"/>
                </a:solidFill>
                <a:latin typeface="Courier New"/>
                <a:cs typeface="Courier New"/>
              </a:rPr>
              <a:t> (</a:t>
            </a:r>
            <a:r>
              <a:rPr lang="en-US" sz="1600" dirty="0" err="1">
                <a:solidFill>
                  <a:srgbClr val="000000"/>
                </a:solidFill>
                <a:latin typeface="Courier New"/>
                <a:cs typeface="Courier New"/>
              </a:rPr>
              <a:t>pid</a:t>
            </a:r>
            <a:r>
              <a:rPr lang="en-US" sz="1600" dirty="0">
                <a:solidFill>
                  <a:srgbClr val="000000"/>
                </a:solidFill>
                <a:latin typeface="Courier New"/>
                <a:cs typeface="Courier New"/>
              </a:rPr>
              <a:t> == 0) {  </a:t>
            </a:r>
            <a:r>
              <a:rPr lang="en-US" sz="1600" dirty="0">
                <a:solidFill>
                  <a:srgbClr val="CB2418"/>
                </a:solidFill>
                <a:latin typeface="Courier New"/>
                <a:cs typeface="Courier New"/>
              </a:rPr>
              <a:t>/* Child */</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smtClean="0">
                <a:solidFill>
                  <a:srgbClr val="000000"/>
                </a:solidFill>
                <a:latin typeface="Courier New"/>
                <a:cs typeface="Courier New"/>
              </a:rPr>
              <a:t>(</a:t>
            </a:r>
            <a:r>
              <a:rPr lang="en-US" sz="1600" dirty="0">
                <a:solidFill>
                  <a:srgbClr val="9D206F"/>
                </a:solidFill>
                <a:latin typeface="Courier New"/>
                <a:cs typeface="Courier New"/>
              </a:rPr>
              <a:t>"child : x=%d\n"</a:t>
            </a:r>
            <a:r>
              <a:rPr lang="en-US" sz="1600" dirty="0" smtClean="0">
                <a:solidFill>
                  <a:srgbClr val="000000"/>
                </a:solidFill>
                <a:latin typeface="Courier New"/>
                <a:cs typeface="Courier New"/>
              </a:rPr>
              <a:t>, </a:t>
            </a:r>
            <a:r>
              <a:rPr lang="en-US" sz="1600" dirty="0">
                <a:solidFill>
                  <a:srgbClr val="000000"/>
                </a:solidFill>
                <a:latin typeface="Courier New"/>
                <a:cs typeface="Courier New"/>
              </a:rPr>
              <a:t>++x)</a:t>
            </a:r>
            <a:r>
              <a:rPr lang="en-US" sz="1600" dirty="0" smtClean="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smtClean="0">
                <a:solidFill>
                  <a:srgbClr val="000000"/>
                </a:solidFill>
                <a:latin typeface="Courier New"/>
                <a:cs typeface="Courier New"/>
              </a:rPr>
              <a:t>       </a:t>
            </a:r>
            <a:r>
              <a:rPr lang="en-US" sz="1600" dirty="0" err="1" smtClean="0">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"child : x=%d\n"</a:t>
            </a:r>
            <a:r>
              <a:rPr lang="en-US" sz="1600" dirty="0">
                <a:solidFill>
                  <a:srgbClr val="000000"/>
                </a:solidFill>
                <a:latin typeface="Courier New"/>
                <a:cs typeface="Courier New"/>
              </a:rPr>
              <a:t>, ++x); </a:t>
            </a:r>
            <a:r>
              <a:rPr lang="en-US" sz="1600" dirty="0" smtClean="0">
                <a:solidFill>
                  <a:srgbClr val="000000"/>
                </a:solidFill>
                <a:latin typeface="Courier New"/>
                <a:cs typeface="Courier New"/>
              </a:rPr>
              <a:t>       </a:t>
            </a:r>
          </a:p>
          <a:p>
            <a:r>
              <a:rPr lang="en-US" sz="1600" dirty="0">
                <a:solidFill>
                  <a:srgbClr val="000000"/>
                </a:solidFill>
                <a:latin typeface="Courier New"/>
                <a:cs typeface="Courier New"/>
              </a:rPr>
              <a:t> </a:t>
            </a:r>
            <a:r>
              <a:rPr lang="en-US" sz="1600" dirty="0" smtClean="0">
                <a:solidFill>
                  <a:srgbClr val="000000"/>
                </a:solidFill>
                <a:latin typeface="Courier New"/>
                <a:cs typeface="Courier New"/>
              </a:rPr>
              <a:t>       return 0;</a:t>
            </a:r>
            <a:endParaRPr lang="en-US" sz="1600" dirty="0">
              <a:solidFill>
                <a:srgbClr val="000000"/>
              </a:solidFill>
              <a:latin typeface="Courier New"/>
              <a:cs typeface="Courier New"/>
            </a:endParaRPr>
          </a:p>
          <a:p>
            <a:r>
              <a:rPr lang="en-US" sz="1600" dirty="0">
                <a:solidFill>
                  <a:srgbClr val="000000"/>
                </a:solidFill>
                <a:latin typeface="Courier New"/>
                <a:cs typeface="Courier New"/>
              </a:rPr>
              <a:t>    }</a:t>
            </a:r>
          </a:p>
          <a:p>
            <a:endParaRPr lang="en-US" sz="1600" dirty="0">
              <a:solidFill>
                <a:srgbClr val="000000"/>
              </a:solidFill>
              <a:latin typeface="Courier New"/>
              <a:cs typeface="Courier New"/>
            </a:endParaRPr>
          </a:p>
          <a:p>
            <a:r>
              <a:rPr lang="fr-FR" sz="1600" dirty="0">
                <a:solidFill>
                  <a:srgbClr val="000000"/>
                </a:solidFill>
                <a:latin typeface="Courier New"/>
                <a:cs typeface="Courier New"/>
              </a:rPr>
              <a:t>    </a:t>
            </a:r>
            <a:r>
              <a:rPr lang="fr-FR" sz="1600" dirty="0">
                <a:solidFill>
                  <a:srgbClr val="CB2418"/>
                </a:solidFill>
                <a:latin typeface="Courier New"/>
                <a:cs typeface="Courier New"/>
              </a:rPr>
              <a:t>/* Parent */</a:t>
            </a:r>
            <a:endParaRPr lang="fr-FR" sz="1600" dirty="0">
              <a:solidFill>
                <a:srgbClr val="000000"/>
              </a:solidFill>
              <a:latin typeface="Courier New"/>
              <a:cs typeface="Courier New"/>
            </a:endParaRPr>
          </a:p>
          <a:p>
            <a:r>
              <a:rPr lang="en-US" sz="1600" dirty="0">
                <a:solidFill>
                  <a:srgbClr val="000000"/>
                </a:solidFill>
                <a:latin typeface="Courier New"/>
                <a:cs typeface="Courier New"/>
              </a:rPr>
              <a:t>    </a:t>
            </a:r>
            <a:r>
              <a:rPr lang="en-US" sz="1600" dirty="0" err="1">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"parent: x=%d\n"</a:t>
            </a:r>
            <a:r>
              <a:rPr lang="en-US" sz="1600" dirty="0">
                <a:solidFill>
                  <a:srgbClr val="000000"/>
                </a:solidFill>
                <a:latin typeface="Courier New"/>
                <a:cs typeface="Courier New"/>
              </a:rPr>
              <a:t>, --x</a:t>
            </a:r>
            <a:r>
              <a:rPr lang="en-US" sz="1600" dirty="0" smtClean="0">
                <a:solidFill>
                  <a:srgbClr val="000000"/>
                </a:solidFill>
                <a:latin typeface="Courier New"/>
                <a:cs typeface="Courier New"/>
              </a:rPr>
              <a:t>);</a:t>
            </a:r>
          </a:p>
          <a:p>
            <a:r>
              <a:rPr lang="en-US" sz="1600" dirty="0">
                <a:solidFill>
                  <a:srgbClr val="000000"/>
                </a:solidFill>
                <a:latin typeface="Courier New"/>
                <a:cs typeface="Courier New"/>
              </a:rPr>
              <a:t> </a:t>
            </a:r>
            <a:r>
              <a:rPr lang="en-US" sz="1600" dirty="0" smtClean="0">
                <a:solidFill>
                  <a:srgbClr val="000000"/>
                </a:solidFill>
                <a:latin typeface="Courier New"/>
                <a:cs typeface="Courier New"/>
              </a:rPr>
              <a:t>   </a:t>
            </a:r>
            <a:r>
              <a:rPr lang="en-US" sz="1600" dirty="0" err="1" smtClean="0">
                <a:solidFill>
                  <a:srgbClr val="000000"/>
                </a:solidFill>
                <a:latin typeface="Courier New"/>
                <a:cs typeface="Courier New"/>
              </a:rPr>
              <a:t>printf</a:t>
            </a:r>
            <a:r>
              <a:rPr lang="en-US" sz="1600" dirty="0">
                <a:solidFill>
                  <a:srgbClr val="000000"/>
                </a:solidFill>
                <a:latin typeface="Courier New"/>
                <a:cs typeface="Courier New"/>
              </a:rPr>
              <a:t>(</a:t>
            </a:r>
            <a:r>
              <a:rPr lang="en-US" sz="1600" dirty="0">
                <a:solidFill>
                  <a:srgbClr val="9D206F"/>
                </a:solidFill>
                <a:latin typeface="Courier New"/>
                <a:cs typeface="Courier New"/>
              </a:rPr>
              <a:t>"parent: x=%d\n"</a:t>
            </a:r>
            <a:r>
              <a:rPr lang="en-US" sz="1600" dirty="0">
                <a:solidFill>
                  <a:srgbClr val="000000"/>
                </a:solidFill>
                <a:latin typeface="Courier New"/>
                <a:cs typeface="Courier New"/>
              </a:rPr>
              <a:t>, --x); </a:t>
            </a:r>
          </a:p>
          <a:p>
            <a:r>
              <a:rPr lang="en-US" sz="1600" dirty="0">
                <a:solidFill>
                  <a:srgbClr val="000000"/>
                </a:solidFill>
                <a:latin typeface="Courier New"/>
                <a:cs typeface="Courier New"/>
              </a:rPr>
              <a:t>    </a:t>
            </a:r>
            <a:r>
              <a:rPr lang="en-US" sz="1600" dirty="0" smtClean="0">
                <a:solidFill>
                  <a:srgbClr val="000000"/>
                </a:solidFill>
                <a:latin typeface="Courier New"/>
                <a:cs typeface="Courier New"/>
              </a:rPr>
              <a:t>return 0;</a:t>
            </a:r>
            <a:endParaRPr lang="en-US" sz="1600" dirty="0">
              <a:solidFill>
                <a:srgbClr val="000000"/>
              </a:solidFill>
              <a:latin typeface="Courier New"/>
              <a:cs typeface="Courier New"/>
            </a:endParaRPr>
          </a:p>
          <a:p>
            <a:r>
              <a:rPr lang="en-US" sz="1600" dirty="0" smtClean="0">
                <a:solidFill>
                  <a:srgbClr val="000000"/>
                </a:solidFill>
                <a:latin typeface="Courier New"/>
                <a:cs typeface="Courier New"/>
              </a:rPr>
              <a:t>}</a:t>
            </a:r>
            <a:endParaRPr lang="en-US" sz="1600" dirty="0">
              <a:solidFill>
                <a:srgbClr val="000000"/>
              </a:solidFill>
              <a:latin typeface="Courier New"/>
              <a:cs typeface="Courier New"/>
            </a:endParaRPr>
          </a:p>
        </p:txBody>
      </p:sp>
      <p:sp>
        <p:nvSpPr>
          <p:cNvPr id="6" name="Text Box 4"/>
          <p:cNvSpPr txBox="1">
            <a:spLocks noChangeArrowheads="1"/>
          </p:cNvSpPr>
          <p:nvPr/>
        </p:nvSpPr>
        <p:spPr bwMode="auto">
          <a:xfrm>
            <a:off x="2133600" y="5344894"/>
            <a:ext cx="1905587" cy="1254216"/>
          </a:xfrm>
          <a:prstGeom prst="rect">
            <a:avLst/>
          </a:prstGeom>
          <a:solidFill>
            <a:srgbClr val="E6E6E6"/>
          </a:solidFill>
          <a:ln w="3240">
            <a:solidFill>
              <a:schemeClr val="tx1"/>
            </a:solid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err="1" smtClean="0">
                <a:latin typeface="Courier New"/>
                <a:ea typeface="msgothic" charset="0"/>
                <a:cs typeface="Courier New"/>
              </a:rPr>
              <a:t>linux</a:t>
            </a:r>
            <a:r>
              <a:rPr lang="en-GB" sz="1600" dirty="0" smtClean="0">
                <a:latin typeface="Courier New"/>
                <a:ea typeface="msgothic" charset="0"/>
                <a:cs typeface="Courier New"/>
              </a:rPr>
              <a:t>&gt; ./fork2</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smtClean="0">
                <a:latin typeface="Courier New"/>
                <a:ea typeface="msgothic" charset="0"/>
                <a:cs typeface="Courier New"/>
              </a:rPr>
              <a:t>parent: x=0</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smtClean="0">
                <a:latin typeface="Courier New"/>
                <a:ea typeface="msgothic" charset="0"/>
                <a:cs typeface="Courier New"/>
              </a:rPr>
              <a:t>parent</a:t>
            </a:r>
            <a:r>
              <a:rPr lang="en-GB" sz="1600" dirty="0">
                <a:latin typeface="Courier New"/>
                <a:ea typeface="msgothic" charset="0"/>
                <a:cs typeface="Courier New"/>
              </a:rPr>
              <a:t>: x</a:t>
            </a:r>
            <a:r>
              <a:rPr lang="en-GB" sz="1600" dirty="0" smtClean="0">
                <a:latin typeface="Courier New"/>
                <a:ea typeface="msgothic" charset="0"/>
                <a:cs typeface="Courier New"/>
              </a:rPr>
              <a:t>=-1</a:t>
            </a:r>
            <a:endParaRPr lang="en-GB" sz="1600" dirty="0">
              <a:latin typeface="Courier New"/>
              <a:ea typeface="msgothic" charset="0"/>
              <a:cs typeface="Courier New"/>
            </a:endParaRP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latin typeface="Courier New"/>
                <a:ea typeface="msgothic" charset="0"/>
                <a:cs typeface="Courier New"/>
              </a:rPr>
              <a:t>child : x=2</a:t>
            </a: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smtClean="0">
                <a:latin typeface="Courier New"/>
                <a:ea typeface="msgothic" charset="0"/>
                <a:cs typeface="Courier New"/>
              </a:rPr>
              <a:t>child </a:t>
            </a:r>
            <a:r>
              <a:rPr lang="en-GB" sz="1600" dirty="0">
                <a:latin typeface="Courier New"/>
                <a:ea typeface="msgothic" charset="0"/>
                <a:cs typeface="Courier New"/>
              </a:rPr>
              <a:t>: </a:t>
            </a:r>
            <a:r>
              <a:rPr lang="en-GB" sz="1600" dirty="0" smtClean="0">
                <a:latin typeface="Courier New"/>
                <a:ea typeface="msgothic" charset="0"/>
                <a:cs typeface="Courier New"/>
              </a:rPr>
              <a:t>x=3</a:t>
            </a:r>
            <a:endParaRPr lang="en-GB" sz="1600" dirty="0">
              <a:latin typeface="Courier New"/>
              <a:ea typeface="msgothic" charset="0"/>
              <a:cs typeface="Courier New"/>
            </a:endParaRPr>
          </a:p>
        </p:txBody>
      </p:sp>
      <p:sp>
        <p:nvSpPr>
          <p:cNvPr id="8" name="Rectangle 3"/>
          <p:cNvSpPr txBox="1">
            <a:spLocks noChangeArrowheads="1"/>
          </p:cNvSpPr>
          <p:nvPr/>
        </p:nvSpPr>
        <p:spPr bwMode="auto">
          <a:xfrm>
            <a:off x="5244004" y="689040"/>
            <a:ext cx="3810000" cy="42639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990000"/>
              </a:buClr>
              <a:buSzPct val="60000"/>
              <a:buFont typeface="Wingdings 2" pitchFamily="18" charset="2"/>
              <a:buChar char="¢"/>
              <a:defRPr sz="2400" b="1">
                <a:solidFill>
                  <a:schemeClr val="tx1"/>
                </a:solidFill>
                <a:latin typeface="Calibri" pitchFamily="3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itchFamily="2" charset="2"/>
              <a:buChar char="§"/>
              <a:defRPr sz="2000">
                <a:solidFill>
                  <a:schemeClr val="tx1"/>
                </a:solidFill>
                <a:latin typeface="Calibri" pitchFamily="34" charset="0"/>
              </a:defRPr>
            </a:lvl2pPr>
            <a:lvl3pPr marL="1143000" indent="-228600" algn="l" rtl="0" eaLnBrk="1" fontAlgn="base" hangingPunct="1">
              <a:spcBef>
                <a:spcPct val="20000"/>
              </a:spcBef>
              <a:spcAft>
                <a:spcPct val="0"/>
              </a:spcAft>
              <a:buSzPct val="80000"/>
              <a:buFont typeface="Wingdings" pitchFamily="2" charset="2"/>
              <a:buChar char="§"/>
              <a:defRPr sz="2000">
                <a:solidFill>
                  <a:schemeClr val="tx1"/>
                </a:solidFill>
                <a:latin typeface="Calibri" pitchFamily="34" charset="0"/>
              </a:defRPr>
            </a:lvl3pPr>
            <a:lvl4pPr marL="1600200" indent="-228600" algn="l" rtl="0" eaLnBrk="1" fontAlgn="base" hangingPunct="1">
              <a:spcBef>
                <a:spcPct val="20000"/>
              </a:spcBef>
              <a:spcAft>
                <a:spcPct val="0"/>
              </a:spcAft>
              <a:buChar char="–"/>
              <a:defRPr sz="2000">
                <a:solidFill>
                  <a:schemeClr val="tx1"/>
                </a:solidFill>
                <a:latin typeface="Calibri" pitchFamily="34" charset="0"/>
              </a:defRPr>
            </a:lvl4pPr>
            <a:lvl5pPr marL="2057400" indent="-228600" algn="l" rtl="0" eaLnBrk="1" fontAlgn="base" hangingPunct="1">
              <a:spcBef>
                <a:spcPct val="20000"/>
              </a:spcBef>
              <a:spcAft>
                <a:spcPct val="0"/>
              </a:spcAft>
              <a:buChar char="»"/>
              <a:defRPr sz="2000">
                <a:solidFill>
                  <a:schemeClr val="tx1"/>
                </a:solidFill>
                <a:latin typeface="Calibri" pitchFamily="34"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a:lstStyle>
          <a:p>
            <a:r>
              <a:rPr lang="en-US" dirty="0">
                <a:latin typeface="Calibri"/>
                <a:cs typeface="Calibri"/>
              </a:rPr>
              <a:t>C</a:t>
            </a:r>
            <a:r>
              <a:rPr lang="en-US" dirty="0" smtClean="0">
                <a:latin typeface="Calibri"/>
                <a:cs typeface="Calibri"/>
              </a:rPr>
              <a:t>all once, return twice</a:t>
            </a:r>
          </a:p>
          <a:p>
            <a:r>
              <a:rPr lang="en-US" dirty="0" smtClean="0">
                <a:latin typeface="Calibri"/>
                <a:cs typeface="Calibri"/>
              </a:rPr>
              <a:t>Concurrent execution</a:t>
            </a:r>
          </a:p>
          <a:p>
            <a:pPr lvl="1"/>
            <a:r>
              <a:rPr lang="en-US" dirty="0" smtClean="0">
                <a:latin typeface="Calibri"/>
                <a:cs typeface="Calibri"/>
              </a:rPr>
              <a:t>Can’t predict execution order of parent and child</a:t>
            </a:r>
          </a:p>
          <a:p>
            <a:r>
              <a:rPr lang="en-US" dirty="0" smtClean="0">
                <a:latin typeface="Calibri"/>
                <a:cs typeface="Calibri"/>
              </a:rPr>
              <a:t>Duplicate but separate address space</a:t>
            </a:r>
          </a:p>
          <a:p>
            <a:pPr lvl="1"/>
            <a:r>
              <a:rPr lang="en-US" dirty="0" smtClean="0">
                <a:latin typeface="Courier New"/>
                <a:cs typeface="Courier New"/>
              </a:rPr>
              <a:t>x</a:t>
            </a:r>
            <a:r>
              <a:rPr lang="en-US" dirty="0" smtClean="0">
                <a:latin typeface="Calibri"/>
                <a:cs typeface="Calibri"/>
              </a:rPr>
              <a:t> has a value of 1 when fork returns in parent and child</a:t>
            </a:r>
          </a:p>
          <a:p>
            <a:pPr lvl="1"/>
            <a:r>
              <a:rPr lang="en-US" dirty="0" smtClean="0">
                <a:latin typeface="Calibri"/>
                <a:cs typeface="Calibri"/>
              </a:rPr>
              <a:t>Subsequent changes to </a:t>
            </a:r>
            <a:r>
              <a:rPr lang="en-US" dirty="0" smtClean="0">
                <a:latin typeface="Courier New"/>
                <a:cs typeface="Courier New"/>
              </a:rPr>
              <a:t>x</a:t>
            </a:r>
            <a:r>
              <a:rPr lang="en-US" dirty="0" smtClean="0">
                <a:latin typeface="Calibri"/>
                <a:cs typeface="Calibri"/>
              </a:rPr>
              <a:t> are independent</a:t>
            </a:r>
          </a:p>
          <a:p>
            <a:r>
              <a:rPr lang="en-US" dirty="0">
                <a:latin typeface="Calibri"/>
                <a:cs typeface="Calibri"/>
              </a:rPr>
              <a:t>Shared open files</a:t>
            </a:r>
          </a:p>
          <a:p>
            <a:pPr lvl="1"/>
            <a:r>
              <a:rPr lang="en-US" dirty="0" err="1">
                <a:latin typeface="Courier New"/>
                <a:cs typeface="Courier New"/>
              </a:rPr>
              <a:t>stdout</a:t>
            </a:r>
            <a:r>
              <a:rPr lang="en-US" dirty="0">
                <a:latin typeface="Calibri"/>
                <a:cs typeface="Calibri"/>
              </a:rPr>
              <a:t> is the same in both parent and </a:t>
            </a:r>
            <a:r>
              <a:rPr lang="en-US" dirty="0" smtClean="0">
                <a:latin typeface="Calibri"/>
                <a:cs typeface="Calibri"/>
              </a:rPr>
              <a:t>child</a:t>
            </a:r>
            <a:endParaRPr lang="en-US" dirty="0">
              <a:latin typeface="Calibri"/>
              <a:cs typeface="Calibri"/>
            </a:endParaRPr>
          </a:p>
        </p:txBody>
      </p:sp>
    </p:spTree>
    <p:extLst>
      <p:ext uri="{BB962C8B-B14F-4D97-AF65-F5344CB8AC3E}">
        <p14:creationId xmlns:p14="http://schemas.microsoft.com/office/powerpoint/2010/main" val="1803025383"/>
      </p:ext>
    </p:extLst>
  </p:cSld>
  <p:clrMapOvr>
    <a:masterClrMapping/>
  </p:clrMapOvr>
  <p:timing>
    <p:tnLst>
      <p:par>
        <p:cTn xmlns:p14="http://schemas.microsoft.com/office/powerpoint/2010/mai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EXPOINTINIT" val=""/>
  <p:tag name="USEAMSFONTS" val="True"/>
  <p:tag name="EMBEDFONTS" val="False"/>
  <p:tag name="USEBOLDAMS" val="False"/>
  <p:tag name="DEFAULTDISPLAYSOURCE" val="\documentclass{slides}\pagestyle{empty}&#10;\begin{document}&#10;&#10;\end{document}&#10;"/>
  <p:tag name="TEX2PS" val="latex $(base).tex; dvips -D $(res) -E -o $(base).ps $(base).dvi"/>
  <p:tag name="EXTERNALEDITCOMMAND" val="notepad %"/>
  <p:tag name="GHOSTSCRIPTCOMMAND" val="gswin32c"/>
  <p:tag name="DEFAULTBITMAP" val="pngmono"/>
  <p:tag name="DEFAULTBLEND" val="False"/>
  <p:tag name="DEFAULTTRANSPARENT" val="False"/>
  <p:tag name="DEFAULTWORKAROUNDTRANSPARENCYBUG" val="False"/>
  <p:tag name="DEFAULTRESOLUTION" val="1200"/>
  <p:tag name="DEFAULTMAGNIFICATION" val="0.8"/>
  <p:tag name="DEFAULTFONTSIZE" val="10"/>
  <p:tag name="DEFAULTWIDTH" val="418"/>
  <p:tag name="DEFAULTHEIGHT" val="316"/>
</p:tagLst>
</file>

<file path=ppt/theme/theme1.xml><?xml version="1.0" encoding="utf-8"?>
<a:theme xmlns:a="http://schemas.openxmlformats.org/drawingml/2006/main" name="template2007">
  <a:themeElements>
    <a:clrScheme name="Custom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00000"/>
      </a:hlink>
      <a:folHlink>
        <a:srgbClr val="C00000"/>
      </a:folHlink>
    </a:clrScheme>
    <a:fontScheme name="Custom 1">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lumMod val="20000"/>
            <a:lumOff val="80000"/>
          </a:schemeClr>
        </a:solidFill>
        <a:ln w="28575" cap="flat" cmpd="sng" algn="ctr">
          <a:solidFill>
            <a:schemeClr val="tx1"/>
          </a:solidFill>
          <a:prstDash val="solid"/>
          <a:round/>
          <a:headEnd type="none" w="med" len="med"/>
          <a:tailEnd type="triangle" w="med" len="med"/>
        </a:ln>
        <a:effectLst/>
      </a:spPr>
      <a:bodyPr vert="horz" wrap="square" lIns="91440" tIns="45720" rIns="91440" bIns="45720" numCol="1" rtlCol="0" anchor="ctr" anchorCtr="1"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dirty="0" smtClean="0">
            <a:latin typeface="Calibri" pitchFamily="34" charset="0"/>
          </a:defRPr>
        </a:defPPr>
      </a:lstStyle>
    </a:spDef>
    <a:lnDef>
      <a:spPr bwMode="auto">
        <a:noFill/>
        <a:ln w="25400" cap="flat" cmpd="sng" algn="ctr">
          <a:solidFill>
            <a:schemeClr val="tx1"/>
          </a:solidFill>
          <a:prstDash val="solid"/>
          <a:round/>
          <a:headEnd type="none" w="med" len="med"/>
          <a:tailEnd type="none" w="med" len="med"/>
        </a:ln>
        <a:effectLst/>
      </a:spPr>
      <a:bodyPr/>
      <a:lstStyle/>
    </a:lnDef>
    <a:txDef>
      <a:spPr>
        <a:noFill/>
      </a:spPr>
      <a:bodyPr wrap="none" rtlCol="0">
        <a:spAutoFit/>
      </a:bodyPr>
      <a:lstStyle>
        <a:defPPr>
          <a:defRPr sz="1800" dirty="0" smtClean="0">
            <a:latin typeface="Calibri" pitchFamily="34" charset="0"/>
          </a:defRPr>
        </a:defPPr>
      </a:lstStyle>
    </a:txDef>
  </a:objectDefaults>
  <a:extraClrSchemeLst>
    <a:extraClrScheme>
      <a:clrScheme name="class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ass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ass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ass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ass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ass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ass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93000"/>
          </a:lnSpc>
          <a:spcBef>
            <a:spcPct val="0"/>
          </a:spcBef>
          <a:spcAft>
            <a:spcPct val="0"/>
          </a:spcAft>
          <a:buClr>
            <a:srgbClr val="000066"/>
          </a:buClr>
          <a:buSzPct val="100000"/>
          <a:buFont typeface="Times New Roman" charset="0"/>
          <a:buNone/>
          <a:tabLst/>
          <a:defRPr kumimoji="0" lang="en-GB" sz="2400" b="0" i="0" u="none" strike="noStrike" cap="none" normalizeH="0" baseline="0">
            <a:ln>
              <a:noFill/>
            </a:ln>
            <a:solidFill>
              <a:schemeClr val="bg1"/>
            </a:solidFill>
            <a:effectLst/>
            <a:latin typeface="Times New Roman"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93000"/>
          </a:lnSpc>
          <a:spcBef>
            <a:spcPct val="0"/>
          </a:spcBef>
          <a:spcAft>
            <a:spcPct val="0"/>
          </a:spcAft>
          <a:buClr>
            <a:srgbClr val="000066"/>
          </a:buClr>
          <a:buSzPct val="100000"/>
          <a:buFont typeface="Times New Roman" charset="0"/>
          <a:buNone/>
          <a:tabLst/>
          <a:defRPr kumimoji="0" lang="en-GB" sz="2400" b="0" i="0" u="none" strike="noStrike" cap="none" normalizeH="0" baseline="0">
            <a:ln>
              <a:noFill/>
            </a:ln>
            <a:solidFill>
              <a:schemeClr val="bg1"/>
            </a:solidFill>
            <a:effectLst/>
            <a:latin typeface="Times New Roman"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template2007</Template>
  <TotalTime>19991</TotalTime>
  <Words>12250</Words>
  <Application>Microsoft Macintosh PowerPoint</Application>
  <PresentationFormat>On-screen Show (4:3)</PresentationFormat>
  <Paragraphs>2648</Paragraphs>
  <Slides>140</Slides>
  <Notes>100</Notes>
  <HiddenSlides>0</HiddenSlides>
  <MMClips>0</MMClips>
  <ScaleCrop>false</ScaleCrop>
  <HeadingPairs>
    <vt:vector size="4" baseType="variant">
      <vt:variant>
        <vt:lpstr>Theme</vt:lpstr>
      </vt:variant>
      <vt:variant>
        <vt:i4>2</vt:i4>
      </vt:variant>
      <vt:variant>
        <vt:lpstr>Slide Titles</vt:lpstr>
      </vt:variant>
      <vt:variant>
        <vt:i4>140</vt:i4>
      </vt:variant>
    </vt:vector>
  </HeadingPairs>
  <TitlesOfParts>
    <vt:vector size="142" baseType="lpstr">
      <vt:lpstr>template2007</vt:lpstr>
      <vt:lpstr>Default Design</vt:lpstr>
      <vt:lpstr>Cache Lab Linking Exceptional Control Flow:   Exceptions &amp; Processes  CSC 374: Computer Systems II 3rd Lecture, January 16, 2018</vt:lpstr>
      <vt:lpstr>Today</vt:lpstr>
      <vt:lpstr>Example C Program</vt:lpstr>
      <vt:lpstr>Linking</vt:lpstr>
      <vt:lpstr>Why Linkers?</vt:lpstr>
      <vt:lpstr>Why Linkers? (cont)</vt:lpstr>
      <vt:lpstr>What Do Linkers Do?</vt:lpstr>
      <vt:lpstr>Symbols in Example C Program</vt:lpstr>
      <vt:lpstr>What Do Linkers Do? (cont)</vt:lpstr>
      <vt:lpstr>Three Kinds of Object Files (Modules)</vt:lpstr>
      <vt:lpstr>Executable and Linkable Format (ELF)</vt:lpstr>
      <vt:lpstr>ELF Object File Format</vt:lpstr>
      <vt:lpstr>ELF Object File Format (cont.)</vt:lpstr>
      <vt:lpstr>Linker Symbols </vt:lpstr>
      <vt:lpstr>Step 1: Symbol Resolution</vt:lpstr>
      <vt:lpstr>Symbol Identification</vt:lpstr>
      <vt:lpstr>Local Symbols</vt:lpstr>
      <vt:lpstr>How Linker Resolves Duplicate Symbol Definitions</vt:lpstr>
      <vt:lpstr>Linker’s Symbol Rules</vt:lpstr>
      <vt:lpstr>Linker Puzzles</vt:lpstr>
      <vt:lpstr>Type Mismatch Example</vt:lpstr>
      <vt:lpstr>Global Variables</vt:lpstr>
      <vt:lpstr>Use of extern in .h Files (#1)</vt:lpstr>
      <vt:lpstr>Use of .h Files (#2)</vt:lpstr>
      <vt:lpstr>Step 2: Relocation</vt:lpstr>
      <vt:lpstr>Relocation Entries</vt:lpstr>
      <vt:lpstr>Relocated .text section</vt:lpstr>
      <vt:lpstr>Loading Executable Object Files</vt:lpstr>
      <vt:lpstr>Packaging Commonly Used Functions</vt:lpstr>
      <vt:lpstr>Old-fashioned Solution: Static Libraries</vt:lpstr>
      <vt:lpstr>Creating Static Libraries</vt:lpstr>
      <vt:lpstr>Commonly Used Libraries</vt:lpstr>
      <vt:lpstr>Linking with Static Libraries</vt:lpstr>
      <vt:lpstr>Linking with Static Libraries</vt:lpstr>
      <vt:lpstr>Using Static Libraries</vt:lpstr>
      <vt:lpstr>Modern Solution: Shared Libraries</vt:lpstr>
      <vt:lpstr>Shared Libraries (cont.)</vt:lpstr>
      <vt:lpstr>What dynamic libraries are required?</vt:lpstr>
      <vt:lpstr>Dynamic Library Example</vt:lpstr>
      <vt:lpstr>Dynamic Linking at Load-time</vt:lpstr>
      <vt:lpstr>Dynamic Linking at Run-time</vt:lpstr>
      <vt:lpstr>Dynamic Linking at Run-time (cont)</vt:lpstr>
      <vt:lpstr>Dynamic Linking at Run-time</vt:lpstr>
      <vt:lpstr>Linking Summary </vt:lpstr>
      <vt:lpstr>Today</vt:lpstr>
      <vt:lpstr>Case Study: Library Interpositioning</vt:lpstr>
      <vt:lpstr>Some Interpositioning Applications</vt:lpstr>
      <vt:lpstr>Some Interpositioning Applications</vt:lpstr>
      <vt:lpstr>Example program  </vt:lpstr>
      <vt:lpstr>Compile-time Interpositioning</vt:lpstr>
      <vt:lpstr>Compile-time Interpositioning</vt:lpstr>
      <vt:lpstr>Link-time Interpositioning</vt:lpstr>
      <vt:lpstr>Link-time Interpositioning</vt:lpstr>
      <vt:lpstr>Load/Run-time  Interpositioning</vt:lpstr>
      <vt:lpstr>Load/Run-time Interpositioning</vt:lpstr>
      <vt:lpstr>Load/Run-time Interpositioning</vt:lpstr>
      <vt:lpstr>Interpositioning Recap</vt:lpstr>
      <vt:lpstr>Linking Recap</vt:lpstr>
      <vt:lpstr>15 Minute Break</vt:lpstr>
      <vt:lpstr>Today</vt:lpstr>
      <vt:lpstr>Control Flow</vt:lpstr>
      <vt:lpstr>Altering the Control Flow</vt:lpstr>
      <vt:lpstr>Exceptional Control Flow</vt:lpstr>
      <vt:lpstr>Today</vt:lpstr>
      <vt:lpstr>Exceptions</vt:lpstr>
      <vt:lpstr>Exception Tables</vt:lpstr>
      <vt:lpstr> (partial) Taxonomy</vt:lpstr>
      <vt:lpstr>Asynchronous Exceptions (Interrupts)</vt:lpstr>
      <vt:lpstr>Synchronous Exceptions</vt:lpstr>
      <vt:lpstr>System Calls</vt:lpstr>
      <vt:lpstr>System Call Example: Opening File</vt:lpstr>
      <vt:lpstr>Fault Example: Page Fault</vt:lpstr>
      <vt:lpstr>Fault Example: Invalid Memory Reference</vt:lpstr>
      <vt:lpstr>Today</vt:lpstr>
      <vt:lpstr>Processes</vt:lpstr>
      <vt:lpstr>Multiprocessing: The Illusion</vt:lpstr>
      <vt:lpstr>Multiprocessing Example</vt:lpstr>
      <vt:lpstr>Multiprocessing: The (Traditional) Reality</vt:lpstr>
      <vt:lpstr>Multiprocessing: The (Traditional) Reality</vt:lpstr>
      <vt:lpstr>Multiprocessing: The (Traditional) Reality</vt:lpstr>
      <vt:lpstr>Multiprocessing: The (Traditional) Reality</vt:lpstr>
      <vt:lpstr>Multiprocessing: The (Modern) Reality</vt:lpstr>
      <vt:lpstr>Concurrent Processes</vt:lpstr>
      <vt:lpstr>User View of Concurrent Processes</vt:lpstr>
      <vt:lpstr>Context Switching</vt:lpstr>
      <vt:lpstr>Today</vt:lpstr>
      <vt:lpstr>System Call Error Handling</vt:lpstr>
      <vt:lpstr>Error-reporting functions </vt:lpstr>
      <vt:lpstr>Error-handling Wrappers </vt:lpstr>
      <vt:lpstr>Obtaining Process IDs</vt:lpstr>
      <vt:lpstr>Creating and Terminating Processes</vt:lpstr>
      <vt:lpstr>Terminating Processes </vt:lpstr>
      <vt:lpstr>Creating Processes</vt:lpstr>
      <vt:lpstr>Conceptual View of fork</vt:lpstr>
      <vt:lpstr>fork Example</vt:lpstr>
      <vt:lpstr>Modeling fork with Process Graphs</vt:lpstr>
      <vt:lpstr>Process Graph Example</vt:lpstr>
      <vt:lpstr>Interpreting Process Graphs</vt:lpstr>
      <vt:lpstr>fork Example: Two consecutive forks</vt:lpstr>
      <vt:lpstr>fork Example: Nested forks in parent</vt:lpstr>
      <vt:lpstr>fork Example: Nested forks in children</vt:lpstr>
      <vt:lpstr>Reaping Child Processes</vt:lpstr>
      <vt:lpstr>Zombie Example</vt:lpstr>
      <vt:lpstr>Non- terminating Child Example</vt:lpstr>
      <vt:lpstr>wait: Synchronizing with Children</vt:lpstr>
      <vt:lpstr>wait: Synchronizing with Children</vt:lpstr>
      <vt:lpstr>wait: Synchronizing with Children</vt:lpstr>
      <vt:lpstr>Another wait Example</vt:lpstr>
      <vt:lpstr>waitpid: Waiting for a Specific Process</vt:lpstr>
      <vt:lpstr>execve: Loading and Running Programs</vt:lpstr>
      <vt:lpstr>Structure of  the stack when a new program starts</vt:lpstr>
      <vt:lpstr>execve Example</vt:lpstr>
      <vt:lpstr>Summary</vt:lpstr>
      <vt:lpstr>Summary (cont.)</vt:lpstr>
      <vt:lpstr>Today</vt:lpstr>
      <vt:lpstr>Cache Lab</vt:lpstr>
      <vt:lpstr>Part (a) : Cache simulator</vt:lpstr>
      <vt:lpstr>Part (a) : Hints</vt:lpstr>
      <vt:lpstr>Part (b) Efficient Matrix Transpose</vt:lpstr>
      <vt:lpstr>Part (b) : Efficient Matrix Transpose</vt:lpstr>
      <vt:lpstr>Part (b) : Blocking </vt:lpstr>
      <vt:lpstr>Part (b) : Specs</vt:lpstr>
      <vt:lpstr>Part (b)</vt:lpstr>
      <vt:lpstr>Warnings are Errors</vt:lpstr>
      <vt:lpstr>Missing Header Files</vt:lpstr>
      <vt:lpstr>Eviction policies of Cache</vt:lpstr>
      <vt:lpstr> Homework 2 – Week 3 Due by 5:45pm on Tuesday, January 23rd  </vt:lpstr>
      <vt:lpstr> Question Comments Concerns</vt:lpstr>
      <vt:lpstr>Supplemental Slides - Blocking</vt:lpstr>
      <vt:lpstr>Example: Matrix Multiplication</vt:lpstr>
      <vt:lpstr>Cache Miss Analysis</vt:lpstr>
      <vt:lpstr>Cache Miss Analysis</vt:lpstr>
      <vt:lpstr>Blocked Matrix Multiplication</vt:lpstr>
      <vt:lpstr>Cache Miss Analysis</vt:lpstr>
      <vt:lpstr>Cache Miss Analysis</vt:lpstr>
      <vt:lpstr>Part(b) : Blocking Summary</vt:lpstr>
      <vt:lpstr>Supplemental Slides – Exceptional Control Flow</vt:lpstr>
      <vt:lpstr>Making fork More Nondeterministic</vt:lpstr>
      <vt:lpstr>Variable delay fork</vt:lpstr>
      <vt:lpstr>forkx2 Example</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 15-213/18-243, spring 2009</dc:title>
  <dc:creator>Markus Pueschel</dc:creator>
  <dc:description>Redesign of slides created by Randal E. Bryant and David R. O'Hallaron</dc:description>
  <cp:lastModifiedBy>Walter Martens</cp:lastModifiedBy>
  <cp:revision>618</cp:revision>
  <cp:lastPrinted>1999-09-20T15:19:18Z</cp:lastPrinted>
  <dcterms:created xsi:type="dcterms:W3CDTF">2011-09-29T14:59:56Z</dcterms:created>
  <dcterms:modified xsi:type="dcterms:W3CDTF">2018-01-16T05:57:10Z</dcterms:modified>
</cp:coreProperties>
</file>