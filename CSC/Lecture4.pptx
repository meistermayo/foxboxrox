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102"/>
  </p:notesMasterIdLst>
  <p:handoutMasterIdLst>
    <p:handoutMasterId r:id="rId103"/>
  </p:handoutMasterIdLst>
  <p:sldIdLst>
    <p:sldId id="542" r:id="rId3"/>
    <p:sldId id="1616" r:id="rId4"/>
    <p:sldId id="1085" r:id="rId5"/>
    <p:sldId id="1577" r:id="rId6"/>
    <p:sldId id="1578" r:id="rId7"/>
    <p:sldId id="1579" r:id="rId8"/>
    <p:sldId id="1605" r:id="rId9"/>
    <p:sldId id="1606" r:id="rId10"/>
    <p:sldId id="1607" r:id="rId11"/>
    <p:sldId id="1608" r:id="rId12"/>
    <p:sldId id="1609" r:id="rId13"/>
    <p:sldId id="1610" r:id="rId14"/>
    <p:sldId id="1611" r:id="rId15"/>
    <p:sldId id="1580" r:id="rId16"/>
    <p:sldId id="1581" r:id="rId17"/>
    <p:sldId id="1582" r:id="rId18"/>
    <p:sldId id="1583" r:id="rId19"/>
    <p:sldId id="1584" r:id="rId20"/>
    <p:sldId id="1585" r:id="rId21"/>
    <p:sldId id="1586" r:id="rId22"/>
    <p:sldId id="1587" r:id="rId23"/>
    <p:sldId id="1615" r:id="rId24"/>
    <p:sldId id="1602" r:id="rId25"/>
    <p:sldId id="1614" r:id="rId26"/>
    <p:sldId id="1490" r:id="rId27"/>
    <p:sldId id="1491" r:id="rId28"/>
    <p:sldId id="1492" r:id="rId29"/>
    <p:sldId id="1493" r:id="rId30"/>
    <p:sldId id="1494" r:id="rId31"/>
    <p:sldId id="1506" r:id="rId32"/>
    <p:sldId id="1617" r:id="rId33"/>
    <p:sldId id="1507" r:id="rId34"/>
    <p:sldId id="1509" r:id="rId35"/>
    <p:sldId id="1510" r:id="rId36"/>
    <p:sldId id="1511" r:id="rId37"/>
    <p:sldId id="1512" r:id="rId38"/>
    <p:sldId id="1513" r:id="rId39"/>
    <p:sldId id="1514" r:id="rId40"/>
    <p:sldId id="1515" r:id="rId41"/>
    <p:sldId id="1516" r:id="rId42"/>
    <p:sldId id="1517" r:id="rId43"/>
    <p:sldId id="1518" r:id="rId44"/>
    <p:sldId id="1519" r:id="rId45"/>
    <p:sldId id="1520" r:id="rId46"/>
    <p:sldId id="1521" r:id="rId47"/>
    <p:sldId id="1522" r:id="rId48"/>
    <p:sldId id="1618" r:id="rId49"/>
    <p:sldId id="1524" r:id="rId50"/>
    <p:sldId id="1525" r:id="rId51"/>
    <p:sldId id="1526" r:id="rId52"/>
    <p:sldId id="1527" r:id="rId53"/>
    <p:sldId id="1528" r:id="rId54"/>
    <p:sldId id="1529" r:id="rId55"/>
    <p:sldId id="1530" r:id="rId56"/>
    <p:sldId id="1531" r:id="rId57"/>
    <p:sldId id="1532" r:id="rId58"/>
    <p:sldId id="1533" r:id="rId59"/>
    <p:sldId id="1534" r:id="rId60"/>
    <p:sldId id="1535" r:id="rId61"/>
    <p:sldId id="1536" r:id="rId62"/>
    <p:sldId id="1537" r:id="rId63"/>
    <p:sldId id="1538" r:id="rId64"/>
    <p:sldId id="1539" r:id="rId65"/>
    <p:sldId id="1540" r:id="rId66"/>
    <p:sldId id="1541" r:id="rId67"/>
    <p:sldId id="1542" r:id="rId68"/>
    <p:sldId id="1543" r:id="rId69"/>
    <p:sldId id="1544" r:id="rId70"/>
    <p:sldId id="1545" r:id="rId71"/>
    <p:sldId id="1546" r:id="rId72"/>
    <p:sldId id="1547" r:id="rId73"/>
    <p:sldId id="1548" r:id="rId74"/>
    <p:sldId id="1549" r:id="rId75"/>
    <p:sldId id="1550" r:id="rId76"/>
    <p:sldId id="1551" r:id="rId77"/>
    <p:sldId id="1552" r:id="rId78"/>
    <p:sldId id="1553" r:id="rId79"/>
    <p:sldId id="1554" r:id="rId80"/>
    <p:sldId id="1555" r:id="rId81"/>
    <p:sldId id="1556" r:id="rId82"/>
    <p:sldId id="1557" r:id="rId83"/>
    <p:sldId id="1558" r:id="rId84"/>
    <p:sldId id="1560" r:id="rId85"/>
    <p:sldId id="1561" r:id="rId86"/>
    <p:sldId id="1562" r:id="rId87"/>
    <p:sldId id="1563" r:id="rId88"/>
    <p:sldId id="1564" r:id="rId89"/>
    <p:sldId id="1619" r:id="rId90"/>
    <p:sldId id="1620" r:id="rId91"/>
    <p:sldId id="1621" r:id="rId92"/>
    <p:sldId id="1622" r:id="rId93"/>
    <p:sldId id="1623" r:id="rId94"/>
    <p:sldId id="1624" r:id="rId95"/>
    <p:sldId id="1625" r:id="rId96"/>
    <p:sldId id="1626" r:id="rId97"/>
    <p:sldId id="1566" r:id="rId98"/>
    <p:sldId id="1627" r:id="rId99"/>
    <p:sldId id="1567" r:id="rId100"/>
    <p:sldId id="1568" r:id="rId101"/>
  </p:sldIdLst>
  <p:sldSz cx="9144000" cy="6858000" type="screen4x3"/>
  <p:notesSz cx="7302500" cy="9586913"/>
  <p:custDataLst>
    <p:tags r:id="rId105"/>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 xmlns:p15="http://schemas.microsoft.com/office/powerpoint/2012/main">
        <p15:guide id="1" orient="horz" pos="1728">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FF5"/>
    <a:srgbClr val="E0E0E0"/>
    <a:srgbClr val="FFFFFF"/>
    <a:srgbClr val="FCFCFC"/>
    <a:srgbClr val="DF9F98"/>
    <a:srgbClr val="D6CDEE"/>
    <a:srgbClr val="F7F5CD"/>
    <a:srgbClr val="FFABAA"/>
    <a:srgbClr val="000000"/>
    <a:srgbClr val="B2E6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1" autoAdjust="0"/>
    <p:restoredTop sz="94649" autoAdjust="0"/>
  </p:normalViewPr>
  <p:slideViewPr>
    <p:cSldViewPr snapToGrid="0" snapToObjects="1">
      <p:cViewPr varScale="1">
        <p:scale>
          <a:sx n="97" d="100"/>
          <a:sy n="97" d="100"/>
        </p:scale>
        <p:origin x="-1432" y="-96"/>
      </p:cViewPr>
      <p:guideLst>
        <p:guide orient="horz" pos="1728"/>
        <p:guide pos="2880"/>
      </p:guideLst>
    </p:cSldViewPr>
  </p:slideViewPr>
  <p:notesTextViewPr>
    <p:cViewPr>
      <p:scale>
        <a:sx n="100" d="100"/>
        <a:sy n="100" d="100"/>
      </p:scale>
      <p:origin x="0" y="0"/>
    </p:cViewPr>
  </p:notesTextViewPr>
  <p:sorterViewPr>
    <p:cViewPr>
      <p:scale>
        <a:sx n="110" d="100"/>
        <a:sy n="110" d="100"/>
      </p:scale>
      <p:origin x="0" y="-15585"/>
    </p:cViewPr>
  </p:sorterViewPr>
  <p:notesViewPr>
    <p:cSldViewPr snapToObjects="1">
      <p:cViewPr varScale="1">
        <p:scale>
          <a:sx n="64" d="100"/>
          <a:sy n="64" d="100"/>
        </p:scale>
        <p:origin x="-3384" y="-128"/>
      </p:cViewPr>
      <p:guideLst>
        <p:guide orient="horz" pos="3019"/>
        <p:guide pos="2300"/>
      </p:guideLst>
    </p:cSldViewPr>
  </p:notes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99.xml"/><Relationship Id="rId102" Type="http://schemas.openxmlformats.org/officeDocument/2006/relationships/notesMaster" Target="notesMasters/notesMaster1.xml"/><Relationship Id="rId103" Type="http://schemas.openxmlformats.org/officeDocument/2006/relationships/handoutMaster" Target="handoutMasters/handoutMaster1.xml"/><Relationship Id="rId104" Type="http://schemas.openxmlformats.org/officeDocument/2006/relationships/printerSettings" Target="printerSettings/printerSettings1.bin"/><Relationship Id="rId105" Type="http://schemas.openxmlformats.org/officeDocument/2006/relationships/tags" Target="tags/tag1.xml"/><Relationship Id="rId106" Type="http://schemas.openxmlformats.org/officeDocument/2006/relationships/presProps" Target="presProps.xml"/><Relationship Id="rId10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8" Type="http://schemas.openxmlformats.org/officeDocument/2006/relationships/theme" Target="theme/theme1.xml"/><Relationship Id="rId109"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51" Type="http://schemas.microsoft.com/office/2015/10/relationships/revisionInfo" Target="revisionInfo.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100" Type="http://schemas.openxmlformats.org/officeDocument/2006/relationships/slide" Target="slides/slide98.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3453333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0934828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61719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3767882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268058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65238" y="725488"/>
            <a:ext cx="4775200" cy="35814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3168335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65238" y="725488"/>
            <a:ext cx="4775200" cy="35814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3683763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3131700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65238" y="725488"/>
            <a:ext cx="4775200" cy="35814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196337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599366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599366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2071999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504601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47559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2216497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24</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spect="1" noChangeArrowheads="1" noTextEdit="1"/>
          </p:cNvSpPr>
          <p:nvPr>
            <p:ph type="sldImg"/>
          </p:nvPr>
        </p:nvSpPr>
        <p:spPr>
          <a:ln/>
        </p:spPr>
      </p:sp>
      <p:sp>
        <p:nvSpPr>
          <p:cNvPr id="5693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31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w="9525"/>
        </p:spPr>
        <p:txBody>
          <a:bodyPr/>
          <a:lstStyle/>
          <a:p>
            <a:r>
              <a:rPr lang="en-US" dirty="0" smtClean="0"/>
              <a:t>Run </a:t>
            </a:r>
            <a:r>
              <a:rPr lang="en-US" dirty="0" err="1" smtClean="0"/>
              <a:t>pstree</a:t>
            </a:r>
            <a:r>
              <a:rPr lang="en-US" dirty="0" smtClean="0"/>
              <a:t> command.</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smtClean="0"/>
              <a:t>Try:</a:t>
            </a:r>
          </a:p>
          <a:p>
            <a:endParaRPr lang="en-US" dirty="0" smtClean="0"/>
          </a:p>
          <a:p>
            <a:r>
              <a:rPr lang="en-US" dirty="0" smtClean="0"/>
              <a:t>./</a:t>
            </a:r>
            <a:r>
              <a:rPr lang="en-US" dirty="0" err="1" smtClean="0"/>
              <a:t>shellx</a:t>
            </a:r>
            <a:endParaRPr lang="en-US" dirty="0" smtClean="0"/>
          </a:p>
          <a:p>
            <a:r>
              <a:rPr lang="en-US" dirty="0" smtClean="0"/>
              <a:t>&gt;/bin/</a:t>
            </a:r>
            <a:r>
              <a:rPr lang="en-US" dirty="0" err="1" smtClean="0"/>
              <a:t>ls</a:t>
            </a:r>
            <a:r>
              <a:rPr lang="en-US" dirty="0" smtClean="0"/>
              <a:t> –l </a:t>
            </a:r>
            <a:r>
              <a:rPr lang="en-US" dirty="0" err="1" smtClean="0"/>
              <a:t>csapp.c</a:t>
            </a:r>
            <a:endParaRPr lang="en-US" dirty="0" smtClean="0"/>
          </a:p>
          <a:p>
            <a:r>
              <a:rPr lang="en-US" dirty="0" smtClean="0"/>
              <a:t>&gt;./delay</a:t>
            </a:r>
            <a:r>
              <a:rPr lang="en-US" baseline="0" dirty="0" smtClean="0"/>
              <a:t> 5</a:t>
            </a:r>
          </a:p>
          <a:p>
            <a:r>
              <a:rPr lang="en-US" baseline="0" dirty="0" smtClean="0"/>
              <a:t>&gt;./delay 5 &amp;</a:t>
            </a:r>
          </a:p>
          <a:p>
            <a:r>
              <a:rPr lang="en-US" baseline="0" dirty="0" smtClean="0"/>
              <a:t>&gt;/bin/</a:t>
            </a:r>
            <a:r>
              <a:rPr lang="en-US" baseline="0" dirty="0" err="1" smtClean="0"/>
              <a:t>ls</a:t>
            </a:r>
            <a:r>
              <a:rPr lang="en-US" baseline="0" dirty="0" smtClean="0"/>
              <a:t> </a:t>
            </a:r>
            <a:r>
              <a:rPr lang="en-US" baseline="0" dirty="0" err="1" smtClean="0"/>
              <a:t>csapp.c</a:t>
            </a:r>
            <a:endParaRPr lang="en-US" baseline="0" dirty="0" smtClean="0"/>
          </a:p>
          <a:p>
            <a:r>
              <a:rPr lang="en-US" baseline="0" dirty="0" smtClean="0"/>
              <a:t>&gt;quit</a:t>
            </a:r>
          </a:p>
          <a:p>
            <a:endParaRPr lang="en-US" dirty="0" smtClean="0"/>
          </a:p>
          <a:p>
            <a:endParaRPr lang="en-US" dirty="0" smtClean="0"/>
          </a:p>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smtClean="0"/>
              <a:t>Try:</a:t>
            </a:r>
          </a:p>
          <a:p>
            <a:endParaRPr lang="en-US" dirty="0" smtClean="0"/>
          </a:p>
          <a:p>
            <a:r>
              <a:rPr lang="en-US" dirty="0" smtClean="0"/>
              <a:t>./</a:t>
            </a:r>
            <a:r>
              <a:rPr lang="en-US" dirty="0" err="1" smtClean="0"/>
              <a:t>shellx</a:t>
            </a:r>
            <a:endParaRPr lang="en-US" dirty="0" smtClean="0"/>
          </a:p>
          <a:p>
            <a:r>
              <a:rPr lang="en-US" dirty="0" smtClean="0"/>
              <a:t>&gt;/bin/</a:t>
            </a:r>
            <a:r>
              <a:rPr lang="en-US" dirty="0" err="1" smtClean="0"/>
              <a:t>ls</a:t>
            </a:r>
            <a:r>
              <a:rPr lang="en-US" dirty="0" smtClean="0"/>
              <a:t> –l </a:t>
            </a:r>
            <a:r>
              <a:rPr lang="en-US" dirty="0" err="1" smtClean="0"/>
              <a:t>csapp.c</a:t>
            </a:r>
            <a:endParaRPr lang="en-US" dirty="0" smtClean="0"/>
          </a:p>
          <a:p>
            <a:r>
              <a:rPr lang="en-US" dirty="0" smtClean="0"/>
              <a:t>&gt;./delay</a:t>
            </a:r>
            <a:r>
              <a:rPr lang="en-US" baseline="0" dirty="0" smtClean="0"/>
              <a:t> 5</a:t>
            </a:r>
          </a:p>
          <a:p>
            <a:r>
              <a:rPr lang="en-US" baseline="0" dirty="0" smtClean="0"/>
              <a:t>&gt;./delay 5 &amp;</a:t>
            </a:r>
          </a:p>
          <a:p>
            <a:r>
              <a:rPr lang="en-US" baseline="0" dirty="0" smtClean="0"/>
              <a:t>&gt;/bin/</a:t>
            </a:r>
            <a:r>
              <a:rPr lang="en-US" baseline="0" dirty="0" err="1" smtClean="0"/>
              <a:t>ls</a:t>
            </a:r>
            <a:r>
              <a:rPr lang="en-US" baseline="0" dirty="0" smtClean="0"/>
              <a:t> </a:t>
            </a:r>
            <a:r>
              <a:rPr lang="en-US" baseline="0" dirty="0" err="1" smtClean="0"/>
              <a:t>csapp.c</a:t>
            </a:r>
            <a:endParaRPr lang="en-US" baseline="0" dirty="0" smtClean="0"/>
          </a:p>
          <a:p>
            <a:r>
              <a:rPr lang="en-US" baseline="0" dirty="0" smtClean="0"/>
              <a:t>&gt;quit</a:t>
            </a:r>
          </a:p>
          <a:p>
            <a:endParaRPr lang="en-US" dirty="0" smtClean="0"/>
          </a:p>
          <a:p>
            <a:endParaRPr lang="en-US" dirty="0" smtClean="0"/>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smtClean="0"/>
              <a:t>Try:</a:t>
            </a:r>
          </a:p>
          <a:p>
            <a:endParaRPr lang="en-US" dirty="0" smtClean="0"/>
          </a:p>
          <a:p>
            <a:r>
              <a:rPr lang="en-US" dirty="0" smtClean="0"/>
              <a:t>./</a:t>
            </a:r>
            <a:r>
              <a:rPr lang="en-US" dirty="0" err="1" smtClean="0"/>
              <a:t>shellx</a:t>
            </a:r>
            <a:endParaRPr lang="en-US" dirty="0" smtClean="0"/>
          </a:p>
          <a:p>
            <a:r>
              <a:rPr lang="en-US" dirty="0" smtClean="0"/>
              <a:t>&gt;/bin/</a:t>
            </a:r>
            <a:r>
              <a:rPr lang="en-US" dirty="0" err="1" smtClean="0"/>
              <a:t>ls</a:t>
            </a:r>
            <a:r>
              <a:rPr lang="en-US" dirty="0" smtClean="0"/>
              <a:t> –l </a:t>
            </a:r>
            <a:r>
              <a:rPr lang="en-US" dirty="0" err="1" smtClean="0"/>
              <a:t>csapp.c</a:t>
            </a:r>
            <a:endParaRPr lang="en-US" dirty="0" smtClean="0"/>
          </a:p>
          <a:p>
            <a:r>
              <a:rPr lang="en-US" dirty="0" smtClean="0"/>
              <a:t>&gt;./delay</a:t>
            </a:r>
            <a:r>
              <a:rPr lang="en-US" baseline="0" dirty="0" smtClean="0"/>
              <a:t> 5</a:t>
            </a:r>
          </a:p>
          <a:p>
            <a:r>
              <a:rPr lang="en-US" baseline="0" dirty="0" smtClean="0"/>
              <a:t>&gt;./delay 5 &amp;</a:t>
            </a:r>
          </a:p>
          <a:p>
            <a:r>
              <a:rPr lang="en-US" baseline="0" dirty="0" smtClean="0"/>
              <a:t>&gt;/bin/</a:t>
            </a:r>
            <a:r>
              <a:rPr lang="en-US" baseline="0" dirty="0" err="1" smtClean="0"/>
              <a:t>ls</a:t>
            </a:r>
            <a:r>
              <a:rPr lang="en-US" baseline="0" dirty="0" smtClean="0"/>
              <a:t> </a:t>
            </a:r>
            <a:r>
              <a:rPr lang="en-US" baseline="0" dirty="0" err="1" smtClean="0"/>
              <a:t>csapp.c</a:t>
            </a:r>
            <a:endParaRPr lang="en-US" baseline="0" dirty="0" smtClean="0"/>
          </a:p>
          <a:p>
            <a:r>
              <a:rPr lang="en-US" baseline="0" dirty="0" smtClean="0"/>
              <a:t>&gt;quit</a:t>
            </a:r>
          </a:p>
          <a:p>
            <a:endParaRPr lang="en-US" dirty="0" smtClean="0"/>
          </a:p>
          <a:p>
            <a:endParaRPr lang="en-US" dirty="0" smtClean="0"/>
          </a:p>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82" name="Text Box 2"/>
          <p:cNvSpPr txBox="1">
            <a:spLocks noChangeArrowheads="1"/>
          </p:cNvSpPr>
          <p:nvPr/>
        </p:nvSpPr>
        <p:spPr bwMode="auto">
          <a:xfrm>
            <a:off x="1266211" y="725994"/>
            <a:ext cx="4773249" cy="3580827"/>
          </a:xfrm>
          <a:prstGeom prst="rect">
            <a:avLst/>
          </a:prstGeom>
          <a:solidFill>
            <a:srgbClr val="FFFFFF"/>
          </a:solidFill>
          <a:ln w="9525">
            <a:solidFill>
              <a:srgbClr val="000000"/>
            </a:solidFill>
            <a:miter lim="800000"/>
            <a:headEnd/>
            <a:tailEnd/>
          </a:ln>
          <a:effectLst/>
        </p:spPr>
        <p:txBody>
          <a:bodyPr wrap="none" lIns="91284" tIns="45642" rIns="91284" bIns="45642" anchor="ctr"/>
          <a:lstStyle/>
          <a:p>
            <a:endParaRPr lang="en-US" dirty="0">
              <a:latin typeface="Calibri" pitchFamily="34" charset="0"/>
            </a:endParaRPr>
          </a:p>
        </p:txBody>
      </p:sp>
      <p:sp>
        <p:nvSpPr>
          <p:cNvPr id="686083" name="Rectangle 3"/>
          <p:cNvSpPr txBox="1">
            <a:spLocks noGrp="1" noChangeArrowheads="1"/>
          </p:cNvSpPr>
          <p:nvPr>
            <p:ph type="body"/>
          </p:nvPr>
        </p:nvSpPr>
        <p:spPr>
          <a:ln/>
        </p:spPr>
        <p:txBody>
          <a:bodyPr wrap="none" anchor="ctr"/>
          <a:lstStyle/>
          <a:p>
            <a:r>
              <a:rPr lang="en-US" dirty="0" smtClean="0"/>
              <a:t>./</a:t>
            </a:r>
            <a:r>
              <a:rPr lang="en-US" dirty="0" err="1" smtClean="0"/>
              <a:t>shellex</a:t>
            </a:r>
            <a:endParaRPr lang="en-US" dirty="0" smtClean="0"/>
          </a:p>
          <a:p>
            <a:r>
              <a:rPr lang="en-US" dirty="0" smtClean="0"/>
              <a:t>&gt;./delay</a:t>
            </a:r>
            <a:r>
              <a:rPr lang="en-US" baseline="0" dirty="0" smtClean="0"/>
              <a:t> 10 &amp;</a:t>
            </a:r>
          </a:p>
          <a:p>
            <a:r>
              <a:rPr lang="en-US" baseline="0" dirty="0" smtClean="0"/>
              <a:t>&gt;/bin/</a:t>
            </a:r>
            <a:r>
              <a:rPr lang="en-US" baseline="0" dirty="0" err="1" smtClean="0"/>
              <a:t>ps</a:t>
            </a:r>
            <a:endParaRPr lang="en-US" baseline="0" dirty="0" smtClean="0"/>
          </a:p>
          <a:p>
            <a:r>
              <a:rPr lang="en-US" baseline="0" dirty="0" smtClean="0"/>
              <a:t>...</a:t>
            </a:r>
          </a:p>
          <a:p>
            <a:r>
              <a:rPr lang="en-US" baseline="0" dirty="0" smtClean="0"/>
              <a:t>&gt;/bin/</a:t>
            </a:r>
            <a:r>
              <a:rPr lang="en-US" baseline="0" dirty="0" err="1" smtClean="0"/>
              <a:t>ps</a:t>
            </a:r>
            <a:endParaRPr lang="en-US" baseline="0" dirty="0" smtClean="0"/>
          </a:p>
          <a:p>
            <a:endParaRPr lang="en-US" baseline="0" dirty="0" smtClean="0"/>
          </a:p>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8130" name="Text Box 2"/>
          <p:cNvSpPr txBox="1">
            <a:spLocks noChangeArrowheads="1"/>
          </p:cNvSpPr>
          <p:nvPr/>
        </p:nvSpPr>
        <p:spPr bwMode="auto">
          <a:xfrm>
            <a:off x="1266211" y="725994"/>
            <a:ext cx="4773249" cy="3580827"/>
          </a:xfrm>
          <a:prstGeom prst="rect">
            <a:avLst/>
          </a:prstGeom>
          <a:solidFill>
            <a:srgbClr val="FFFFFF"/>
          </a:solidFill>
          <a:ln w="9525">
            <a:solidFill>
              <a:srgbClr val="000000"/>
            </a:solidFill>
            <a:miter lim="800000"/>
            <a:headEnd/>
            <a:tailEnd/>
          </a:ln>
          <a:effectLst/>
        </p:spPr>
        <p:txBody>
          <a:bodyPr wrap="none" lIns="91284" tIns="45642" rIns="91284" bIns="45642" anchor="ctr"/>
          <a:lstStyle/>
          <a:p>
            <a:endParaRPr lang="en-US" dirty="0">
              <a:latin typeface="Calibri" pitchFamily="34" charset="0"/>
            </a:endParaRPr>
          </a:p>
        </p:txBody>
      </p:sp>
      <p:sp>
        <p:nvSpPr>
          <p:cNvPr id="688131" name="Rectangle 3"/>
          <p:cNvSpPr txBox="1">
            <a:spLocks noGrp="1" noChangeArrowheads="1"/>
          </p:cNvSpPr>
          <p:nvPr>
            <p:ph type="body"/>
          </p:nvPr>
        </p:nvSpPr>
        <p:spPr>
          <a:ln/>
        </p:spPr>
        <p:txBody>
          <a:bodyPr wrap="none" anchor="ct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47</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Rot="1" noChangeAspect="1" noChangeArrowheads="1" noTextEdit="1"/>
          </p:cNvSpPr>
          <p:nvPr>
            <p:ph type="sldImg"/>
          </p:nvPr>
        </p:nvSpPr>
        <p:spPr>
          <a:ln/>
        </p:spPr>
      </p:sp>
      <p:sp>
        <p:nvSpPr>
          <p:cNvPr id="589827" name="Rectangle 3"/>
          <p:cNvSpPr>
            <a:spLocks noGrp="1" noChangeArrowheads="1"/>
          </p:cNvSpPr>
          <p:nvPr>
            <p:ph type="body" idx="1"/>
          </p:nvPr>
        </p:nvSpPr>
        <p:spPr/>
        <p:txBody>
          <a:bodyPr/>
          <a:lstStyle/>
          <a:p>
            <a:r>
              <a:rPr lang="en-US" dirty="0" smtClean="0"/>
              <a:t>./delay 100 &amp;</a:t>
            </a:r>
          </a:p>
          <a:p>
            <a:endParaRPr lang="en-US" dirty="0" smtClean="0"/>
          </a:p>
          <a:p>
            <a:r>
              <a:rPr lang="en-US" dirty="0" err="1" smtClean="0"/>
              <a:t>ps</a:t>
            </a:r>
            <a:endParaRPr lang="en-US" dirty="0" smtClean="0"/>
          </a:p>
          <a:p>
            <a:endParaRPr lang="en-US" dirty="0" smtClean="0"/>
          </a:p>
          <a:p>
            <a:r>
              <a:rPr lang="en-US" dirty="0" smtClean="0"/>
              <a:t>kill -9</a:t>
            </a:r>
            <a:r>
              <a:rPr lang="en-US" baseline="0" dirty="0" smtClean="0"/>
              <a:t> XXX</a:t>
            </a:r>
          </a:p>
          <a:p>
            <a:endParaRPr lang="en-US" baseline="0" dirty="0" smtClean="0"/>
          </a:p>
          <a:p>
            <a:r>
              <a:rPr lang="en-US" baseline="0" dirty="0" err="1" smtClean="0"/>
              <a:t>ps</a:t>
            </a:r>
            <a:endParaRPr lang="en-US" baseline="0" dirty="0" smtClean="0"/>
          </a:p>
          <a:p>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Rot="1" noChangeAspect="1" noChangeArrowheads="1" noTextEdit="1"/>
          </p:cNvSpPr>
          <p:nvPr>
            <p:ph type="sldImg"/>
          </p:nvPr>
        </p:nvSpPr>
        <p:spPr>
          <a:ln/>
        </p:spPr>
      </p:sp>
      <p:sp>
        <p:nvSpPr>
          <p:cNvPr id="590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r>
              <a:rPr lang="en-US" dirty="0" smtClean="0"/>
              <a:t>Can also use kill command:</a:t>
            </a:r>
          </a:p>
          <a:p>
            <a:endParaRPr lang="en-US" dirty="0" smtClean="0"/>
          </a:p>
          <a:p>
            <a:r>
              <a:rPr lang="en-US" dirty="0" smtClean="0"/>
              <a:t>./forks 17</a:t>
            </a:r>
            <a:r>
              <a:rPr lang="en-US" baseline="0" dirty="0"/>
              <a:t> </a:t>
            </a:r>
            <a:r>
              <a:rPr lang="en-US" baseline="0" dirty="0" smtClean="0"/>
              <a:t>&amp;</a:t>
            </a:r>
          </a:p>
          <a:p>
            <a:r>
              <a:rPr lang="en-US" baseline="0" dirty="0" smtClean="0"/>
              <a:t>kill  (parent)  (Only kills parent)</a:t>
            </a:r>
          </a:p>
          <a:p>
            <a:endParaRPr lang="en-US" baseline="0" dirty="0" smtClean="0"/>
          </a:p>
          <a:p>
            <a:r>
              <a:rPr lang="en-US" baseline="0" dirty="0" smtClean="0"/>
              <a:t>./forks 17 &amp;</a:t>
            </a:r>
          </a:p>
          <a:p>
            <a:r>
              <a:rPr lang="en-US" baseline="0" dirty="0" smtClean="0"/>
              <a:t>kill  (child) (Child becomes a zombie)</a:t>
            </a:r>
          </a:p>
          <a:p>
            <a:endParaRPr lang="en-US" baseline="0" dirty="0" smtClean="0"/>
          </a:p>
          <a:p>
            <a:endParaRPr lang="en-US" baseline="0"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Rot="1" noChangeAspect="1" noChangeArrowheads="1" noTextEdit="1"/>
          </p:cNvSpPr>
          <p:nvPr>
            <p:ph type="sldImg"/>
          </p:nvPr>
        </p:nvSpPr>
        <p:spPr>
          <a:ln/>
        </p:spPr>
      </p:sp>
      <p:sp>
        <p:nvSpPr>
          <p:cNvPr id="592899" name="Rectangle 3"/>
          <p:cNvSpPr>
            <a:spLocks noGrp="1" noChangeArrowheads="1"/>
          </p:cNvSpPr>
          <p:nvPr>
            <p:ph type="body" idx="1"/>
          </p:nvPr>
        </p:nvSpPr>
        <p:spPr/>
        <p:txBody>
          <a:bodyPr/>
          <a:lstStyle/>
          <a:p>
            <a:r>
              <a:rPr lang="en-US" dirty="0" smtClean="0"/>
              <a:t>Interesting to use </a:t>
            </a:r>
            <a:r>
              <a:rPr lang="en-US" dirty="0" err="1" smtClean="0"/>
              <a:t>interpositioning</a:t>
            </a:r>
            <a:r>
              <a:rPr lang="en-US" baseline="0" dirty="0" smtClean="0"/>
              <a:t>  code from previous lecture</a:t>
            </a:r>
          </a:p>
          <a:p>
            <a:endParaRPr lang="en-US" baseline="0" dirty="0" smtClean="0"/>
          </a:p>
          <a:p>
            <a:r>
              <a:rPr lang="en-US" baseline="0" dirty="0" err="1" smtClean="0"/>
              <a:t>setenv</a:t>
            </a:r>
            <a:r>
              <a:rPr lang="en-US" baseline="0" dirty="0" smtClean="0"/>
              <a:t> LD_PRELOAD ../13-ecf-procs/</a:t>
            </a:r>
            <a:r>
              <a:rPr lang="en-US" baseline="0" dirty="0" err="1" smtClean="0"/>
              <a:t>myfork.so</a:t>
            </a:r>
            <a:endParaRPr lang="en-US" baseline="0" dirty="0" smtClean="0"/>
          </a:p>
          <a:p>
            <a:endParaRPr lang="en-US" baseline="0" dirty="0" smtClean="0"/>
          </a:p>
          <a:p>
            <a:r>
              <a:rPr lang="en-US" baseline="0" dirty="0" err="1" smtClean="0"/>
              <a:t>setenv</a:t>
            </a:r>
            <a:r>
              <a:rPr lang="en-US" baseline="0" dirty="0" smtClean="0"/>
              <a:t> CHILD</a:t>
            </a:r>
          </a:p>
          <a:p>
            <a:endParaRPr lang="en-US" baseline="0" dirty="0" smtClean="0"/>
          </a:p>
          <a:p>
            <a:r>
              <a:rPr lang="en-US" baseline="0" dirty="0" smtClean="0"/>
              <a:t>./forks 12</a:t>
            </a:r>
          </a:p>
          <a:p>
            <a:endParaRPr lang="en-US" baseline="0" dirty="0" smtClean="0"/>
          </a:p>
          <a:p>
            <a:endParaRPr lang="en-US" baseline="0" dirty="0" smtClean="0"/>
          </a:p>
          <a:p>
            <a:endParaRPr lang="en-US" baseline="0" dirty="0"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p:txBody>
          <a:bodyPr/>
          <a:lstStyle/>
          <a:p>
            <a:r>
              <a:rPr lang="en-US" dirty="0" smtClean="0"/>
              <a:t>Try running:</a:t>
            </a:r>
          </a:p>
          <a:p>
            <a:endParaRPr lang="en-US" dirty="0" smtClean="0"/>
          </a:p>
          <a:p>
            <a:r>
              <a:rPr lang="en-US" dirty="0" smtClean="0"/>
              <a:t>./</a:t>
            </a:r>
            <a:r>
              <a:rPr lang="en-US" dirty="0" err="1" smtClean="0"/>
              <a:t>sigint</a:t>
            </a:r>
            <a:endParaRPr lang="en-US" dirty="0" smtClean="0"/>
          </a:p>
          <a:p>
            <a:r>
              <a:rPr lang="en-US" dirty="0" smtClean="0"/>
              <a:t>ctrl-C</a:t>
            </a:r>
          </a:p>
          <a:p>
            <a:endParaRPr lang="en-US" dirty="0" smtClean="0"/>
          </a:p>
          <a:p>
            <a:r>
              <a:rPr lang="en-US" dirty="0" smtClean="0"/>
              <a:t>Code not entirely reliable,</a:t>
            </a:r>
            <a:r>
              <a:rPr lang="en-US" baseline="0" dirty="0" smtClean="0"/>
              <a:t> if there’s a delay in pause</a:t>
            </a:r>
          </a:p>
          <a:p>
            <a:endParaRPr lang="en-US" dirty="0" smtClean="0"/>
          </a:p>
          <a:p>
            <a:endParaRPr lang="en-US" dirty="0" smtClean="0"/>
          </a:p>
          <a:p>
            <a:endParaRPr lang="en-US" dirty="0"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Rot="1" noChangeAspect="1" noChangeArrowheads="1" noTextEdit="1"/>
          </p:cNvSpPr>
          <p:nvPr>
            <p:ph type="sldImg"/>
          </p:nvPr>
        </p:nvSpPr>
        <p:spPr>
          <a:ln/>
        </p:spPr>
      </p:sp>
      <p:sp>
        <p:nvSpPr>
          <p:cNvPr id="659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Rot="1" noChangeAspect="1" noChangeArrowheads="1" noTextEdit="1"/>
          </p:cNvSpPr>
          <p:nvPr>
            <p:ph type="sldImg"/>
          </p:nvPr>
        </p:nvSpPr>
        <p:spPr>
          <a:ln/>
        </p:spPr>
      </p:sp>
      <p:sp>
        <p:nvSpPr>
          <p:cNvPr id="66048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r>
              <a:rPr lang="en-US" dirty="0" smtClean="0"/>
              <a:t>./forks 14</a:t>
            </a:r>
          </a:p>
          <a:p>
            <a:endParaRPr lang="en-US" dirty="0" smtClean="0"/>
          </a:p>
          <a:p>
            <a:r>
              <a:rPr lang="en-US" dirty="0" smtClean="0"/>
              <a:t>Hangs.</a:t>
            </a:r>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p:txBody>
          <a:bodyPr/>
          <a:lstStyle/>
          <a:p>
            <a:r>
              <a:rPr lang="en-US" dirty="0" smtClean="0"/>
              <a:t>Run with delays for both child &amp; parent</a:t>
            </a:r>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./procmask1</a:t>
            </a:r>
          </a:p>
          <a:p>
            <a:endParaRPr lang="en-US" dirty="0" smtClean="0"/>
          </a:p>
          <a:p>
            <a:r>
              <a:rPr lang="en-US" dirty="0" err="1" smtClean="0"/>
              <a:t>setenv</a:t>
            </a:r>
            <a:r>
              <a:rPr lang="en-US" baseline="0" dirty="0" smtClean="0"/>
              <a:t> CHILD</a:t>
            </a:r>
          </a:p>
          <a:p>
            <a:endParaRPr lang="en-US" baseline="0" dirty="0" smtClean="0"/>
          </a:p>
          <a:p>
            <a:r>
              <a:rPr lang="en-US" baseline="0" dirty="0" smtClean="0"/>
              <a:t>./procmask1</a:t>
            </a:r>
          </a:p>
          <a:p>
            <a:endParaRPr lang="en-US" baseline="0" dirty="0" smtClean="0"/>
          </a:p>
          <a:p>
            <a:r>
              <a:rPr lang="en-US" baseline="0" dirty="0" err="1" smtClean="0"/>
              <a:t>Cntl</a:t>
            </a:r>
            <a:r>
              <a:rPr lang="en-US" baseline="0" dirty="0" smtClean="0"/>
              <a:t>-C to stop infinite loop</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81</a:t>
            </a:fld>
            <a:endParaRPr lang="en-US"/>
          </a:p>
        </p:txBody>
      </p:sp>
    </p:spTree>
    <p:extLst>
      <p:ext uri="{BB962C8B-B14F-4D97-AF65-F5344CB8AC3E}">
        <p14:creationId xmlns:p14="http://schemas.microsoft.com/office/powerpoint/2010/main" val="6371187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./procmask2</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82</a:t>
            </a:fld>
            <a:endParaRPr lang="en-US"/>
          </a:p>
        </p:txBody>
      </p:sp>
    </p:spTree>
    <p:extLst>
      <p:ext uri="{BB962C8B-B14F-4D97-AF65-F5344CB8AC3E}">
        <p14:creationId xmlns:p14="http://schemas.microsoft.com/office/powerpoint/2010/main" val="40123268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84</a:t>
            </a:fld>
            <a:endParaRPr lang="en-US"/>
          </a:p>
        </p:txBody>
      </p:sp>
    </p:spTree>
    <p:extLst>
      <p:ext uri="{BB962C8B-B14F-4D97-AF65-F5344CB8AC3E}">
        <p14:creationId xmlns:p14="http://schemas.microsoft.com/office/powerpoint/2010/main" val="3301599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88</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Rot="1" noChangeAspect="1" noChangeArrowheads="1" noTextEdit="1"/>
          </p:cNvSpPr>
          <p:nvPr>
            <p:ph type="sldImg"/>
          </p:nvPr>
        </p:nvSpPr>
        <p:spPr>
          <a:ln/>
        </p:spPr>
      </p:sp>
      <p:sp>
        <p:nvSpPr>
          <p:cNvPr id="603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Rot="1" noChangeAspect="1"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Rot="1" noChangeAspect="1" noChangeArrowheads="1" noTextEdit="1"/>
          </p:cNvSpPr>
          <p:nvPr>
            <p:ph type="sldImg"/>
          </p:nvPr>
        </p:nvSpPr>
        <p:spPr>
          <a:ln/>
        </p:spPr>
      </p:sp>
      <p:sp>
        <p:nvSpPr>
          <p:cNvPr id="605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Rot="1" noChangeAspect="1" noChangeArrowheads="1" noTextEdit="1"/>
          </p:cNvSpPr>
          <p:nvPr>
            <p:ph type="sldImg"/>
          </p:nvPr>
        </p:nvSpPr>
        <p:spPr>
          <a:ln/>
        </p:spPr>
      </p:sp>
      <p:sp>
        <p:nvSpPr>
          <p:cNvPr id="607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Rot="1" noChangeAspect="1" noChangeArrowheads="1" noTextEdit="1"/>
          </p:cNvSpPr>
          <p:nvPr>
            <p:ph type="sldImg"/>
          </p:nvPr>
        </p:nvSpPr>
        <p:spPr>
          <a:ln/>
        </p:spPr>
      </p:sp>
      <p:sp>
        <p:nvSpPr>
          <p:cNvPr id="608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Rot="1" noChangeAspect="1" noChangeArrowheads="1" noTextEdit="1"/>
          </p:cNvSpPr>
          <p:nvPr>
            <p:ph type="sldImg"/>
          </p:nvPr>
        </p:nvSpPr>
        <p:spPr>
          <a:ln/>
        </p:spPr>
      </p:sp>
      <p:sp>
        <p:nvSpPr>
          <p:cNvPr id="606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Rot="1" noChangeAspect="1" noChangeArrowheads="1" noTextEdit="1"/>
          </p:cNvSpPr>
          <p:nvPr>
            <p:ph type="sldImg"/>
          </p:nvPr>
        </p:nvSpPr>
        <p:spPr>
          <a:ln/>
        </p:spPr>
      </p:sp>
      <p:sp>
        <p:nvSpPr>
          <p:cNvPr id="609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p:nvPr userDrawn="1"/>
        </p:nvSpPr>
        <p:spPr>
          <a:xfrm>
            <a:off x="8830843" y="6611779"/>
            <a:ext cx="338554"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itchFamily="-96" charset="-128"/>
                <a:cs typeface="ＭＳ Ｐゴシック" pitchFamily="-96" charset="-128"/>
              </a:rPr>
              <a:pPr/>
              <a:t>‹#›</a:t>
            </a:fld>
            <a:endParaRPr lang="en-US" sz="1000"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290513" y="1220788"/>
            <a:ext cx="8305800" cy="5222875"/>
          </a:xfrm>
          <a:prstGeom prst="rect">
            <a:avLst/>
          </a:prstGeom>
          <a:noFill/>
          <a:ln w="9525">
            <a:noFill/>
            <a:round/>
            <a:headEnd/>
            <a:tailEnd/>
          </a:ln>
          <a:effectLst/>
        </p:spPr>
        <p:txBody>
          <a:bodyPr vert="horz" wrap="square" lIns="90360" tIns="44280" rIns="90360" bIns="4428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7" name="Rectangle 2"/>
          <p:cNvSpPr>
            <a:spLocks noGrp="1" noChangeArrowheads="1"/>
          </p:cNvSpPr>
          <p:nvPr>
            <p:ph type="title"/>
          </p:nvPr>
        </p:nvSpPr>
        <p:spPr bwMode="auto">
          <a:xfrm>
            <a:off x="404813" y="247650"/>
            <a:ext cx="8715375" cy="78105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2" name="Text Box 3"/>
          <p:cNvSpPr txBox="1">
            <a:spLocks noChangeArrowheads="1"/>
          </p:cNvSpPr>
          <p:nvPr/>
        </p:nvSpPr>
        <p:spPr bwMode="auto">
          <a:xfrm>
            <a:off x="442913" y="6345238"/>
            <a:ext cx="447675" cy="395287"/>
          </a:xfrm>
          <a:prstGeom prst="rect">
            <a:avLst/>
          </a:prstGeom>
          <a:noFill/>
          <a:ln w="9525">
            <a:noFill/>
            <a:round/>
            <a:headEnd/>
            <a:tailEnd/>
          </a:ln>
          <a:effectLst/>
        </p:spPr>
        <p:txBody>
          <a:bodyPr wrap="none" lIns="45720" rIns="45720" anchor="ctr">
            <a:prstTxWarp prst="textNoShape">
              <a:avLst/>
            </a:prstTxWarp>
            <a:spAutoFit/>
          </a:bodyPr>
          <a:lstStyle/>
          <a:p>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BBC07E77-5360-6D43-8AEB-E24B08212AFE}" type="slidenum">
              <a:rPr lang="en-GB" b="0">
                <a:solidFill>
                  <a:srgbClr val="000066"/>
                </a:solidFill>
                <a:latin typeface="Times New Roman" charset="0"/>
              </a:rPr>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a:t>
            </a:fld>
            <a:endParaRPr lang="en-GB" b="0">
              <a:solidFill>
                <a:srgbClr val="000066"/>
              </a:solidFill>
              <a:latin typeface="Times New Roman" charset="0"/>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mj-lt"/>
          <a:ea typeface="ＭＳ Ｐゴシック" charset="-128"/>
          <a:cs typeface="ＭＳ Ｐゴシック" charset="-128"/>
        </a:defRPr>
      </a:lvl1pPr>
      <a:lvl2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2pPr>
      <a:lvl3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3pPr>
      <a:lvl4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4pPr>
      <a:lvl5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5pPr>
      <a:lvl6pPr marL="15367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6pPr>
      <a:lvl7pPr marL="19939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7pPr>
      <a:lvl8pPr marL="24511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8pPr>
      <a:lvl9pPr marL="29083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9pPr>
    </p:titleStyle>
    <p:bodyStyle>
      <a:lvl1pPr marL="384175" indent="-384175" algn="l" defTabSz="457200" rtl="0" eaLnBrk="0" fontAlgn="base" hangingPunct="0">
        <a:lnSpc>
          <a:spcPct val="93000"/>
        </a:lnSpc>
        <a:spcBef>
          <a:spcPts val="1500"/>
        </a:spcBef>
        <a:spcAft>
          <a:spcPct val="0"/>
        </a:spcAft>
        <a:buClr>
          <a:srgbClr val="660033"/>
        </a:buClr>
        <a:buSzPct val="45000"/>
        <a:buFont typeface="Wingdings" charset="2"/>
        <a:buChar char=""/>
        <a:defRPr sz="2400" b="1">
          <a:solidFill>
            <a:srgbClr val="003300"/>
          </a:solidFill>
          <a:effectLst>
            <a:outerShdw blurRad="38100" dist="38100" dir="2700000" algn="tl">
              <a:srgbClr val="DDDDDD"/>
            </a:outerShdw>
          </a:effectLst>
          <a:latin typeface="+mn-lt"/>
          <a:ea typeface="ＭＳ Ｐゴシック" charset="-128"/>
          <a:cs typeface="ＭＳ Ｐゴシック" charset="-128"/>
        </a:defRPr>
      </a:lvl1pPr>
      <a:lvl2pPr marL="742950" indent="-246063" algn="l" defTabSz="457200" rtl="0" eaLnBrk="0" fontAlgn="base" hangingPunct="0">
        <a:lnSpc>
          <a:spcPct val="98000"/>
        </a:lnSpc>
        <a:spcBef>
          <a:spcPts val="625"/>
        </a:spcBef>
        <a:spcAft>
          <a:spcPct val="0"/>
        </a:spcAft>
        <a:buClr>
          <a:srgbClr val="660033"/>
        </a:buClr>
        <a:buSzPct val="45000"/>
        <a:buFont typeface="Wingdings" charset="2"/>
        <a:buChar char=""/>
        <a:defRPr sz="2000" b="1">
          <a:solidFill>
            <a:srgbClr val="000066"/>
          </a:solidFill>
          <a:latin typeface="+mn-lt"/>
          <a:ea typeface="ＭＳ Ｐゴシック" charset="-128"/>
        </a:defRPr>
      </a:lvl2pPr>
      <a:lvl3pPr marL="1144588" indent="-236538" algn="l" defTabSz="457200" rtl="0" eaLnBrk="0" fontAlgn="base" hangingPunct="0">
        <a:lnSpc>
          <a:spcPct val="104000"/>
        </a:lnSpc>
        <a:spcBef>
          <a:spcPts val="225"/>
        </a:spcBef>
        <a:spcAft>
          <a:spcPct val="0"/>
        </a:spcAft>
        <a:buClr>
          <a:srgbClr val="005400"/>
        </a:buClr>
        <a:buSzPct val="45000"/>
        <a:buFont typeface="Wingdings" charset="2"/>
        <a:buChar char=""/>
        <a:defRPr b="1">
          <a:solidFill>
            <a:srgbClr val="000099"/>
          </a:solidFill>
          <a:latin typeface="+mn-lt"/>
          <a:ea typeface="ＭＳ Ｐゴシック" charset="-128"/>
        </a:defRPr>
      </a:lvl3pPr>
      <a:lvl4pPr marL="1600200" indent="-228600" algn="l" defTabSz="457200" rtl="0" eaLnBrk="0" fontAlgn="base" hangingPunct="0">
        <a:lnSpc>
          <a:spcPct val="98000"/>
        </a:lnSpc>
        <a:spcBef>
          <a:spcPts val="450"/>
        </a:spcBef>
        <a:spcAft>
          <a:spcPct val="0"/>
        </a:spcAft>
        <a:buClr>
          <a:srgbClr val="000066"/>
        </a:buClr>
        <a:buSzPct val="45000"/>
        <a:buFont typeface="Wingdings" charset="2"/>
        <a:buChar char=""/>
        <a:defRPr b="1">
          <a:solidFill>
            <a:srgbClr val="000066"/>
          </a:solidFill>
          <a:latin typeface="+mn-lt"/>
          <a:ea typeface="ＭＳ Ｐゴシック" charset="-128"/>
        </a:defRPr>
      </a:lvl4pPr>
      <a:lvl5pPr marL="2449513" indent="-228600" algn="l" defTabSz="457200" rtl="0" eaLnBrk="0" fontAlgn="base" hangingPunct="0">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5pPr>
      <a:lvl6pPr marL="29067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6pPr>
      <a:lvl7pPr marL="33639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7pPr>
      <a:lvl8pPr marL="38211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8pPr>
      <a:lvl9pPr marL="42783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gnu.org/software/libc/manual/html_node/Getopt.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tutorialspoint.com/c_standard_library/c_function_fscanf.ht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631950"/>
            <a:ext cx="7772400" cy="1644650"/>
          </a:xfrm>
        </p:spPr>
        <p:txBody>
          <a:bodyPr/>
          <a:lstStyle/>
          <a:p>
            <a:pPr marL="0" lvl="0" indent="0"/>
            <a:r>
              <a:rPr lang="en-US" dirty="0" smtClean="0"/>
              <a:t>Exceptional </a:t>
            </a:r>
            <a:r>
              <a:rPr lang="en-US" dirty="0" smtClean="0"/>
              <a:t>Control </a:t>
            </a:r>
            <a:r>
              <a:rPr lang="en-US" dirty="0" smtClean="0"/>
              <a:t>Flow (Part 2) </a:t>
            </a:r>
            <a:br>
              <a:rPr lang="en-US" dirty="0" smtClean="0"/>
            </a:br>
            <a:r>
              <a:rPr lang="en-US" dirty="0" smtClean="0"/>
              <a:t>System I/O</a:t>
            </a:r>
            <a:br>
              <a:rPr lang="en-US" dirty="0" smtClean="0"/>
            </a:br>
            <a:r>
              <a:rPr lang="en-US" dirty="0"/>
              <a:t/>
            </a:r>
            <a:br>
              <a:rPr lang="en-US" dirty="0"/>
            </a:br>
            <a:r>
              <a:rPr lang="en-US" sz="2000" b="0" dirty="0"/>
              <a:t>CSC 374: Computer Systems II</a:t>
            </a:r>
            <a:br>
              <a:rPr lang="en-US" sz="2000" b="0" dirty="0"/>
            </a:br>
            <a:r>
              <a:rPr lang="en-US" sz="2000" b="0" dirty="0" smtClean="0"/>
              <a:t>4</a:t>
            </a:r>
            <a:r>
              <a:rPr lang="en-US" sz="2000" b="0" baseline="30000" dirty="0" smtClean="0"/>
              <a:t>th</a:t>
            </a:r>
            <a:r>
              <a:rPr lang="en-US" sz="2000" b="0" dirty="0" smtClean="0"/>
              <a:t> </a:t>
            </a:r>
            <a:r>
              <a:rPr lang="en-US" sz="2000" b="0" dirty="0" smtClean="0"/>
              <a:t>Lecture</a:t>
            </a:r>
            <a:r>
              <a:rPr lang="en-US" sz="2000" b="0" dirty="0"/>
              <a:t>, January </a:t>
            </a:r>
            <a:r>
              <a:rPr lang="en-US" sz="2000" b="0" dirty="0" smtClean="0"/>
              <a:t>23</a:t>
            </a:r>
            <a:r>
              <a:rPr lang="en-US" sz="2000" b="0" dirty="0" smtClean="0"/>
              <a:t>, </a:t>
            </a:r>
            <a:r>
              <a:rPr lang="en-US" sz="2000" b="0" dirty="0"/>
              <a:t>2018</a:t>
            </a:r>
          </a:p>
        </p:txBody>
      </p:sp>
      <p:sp>
        <p:nvSpPr>
          <p:cNvPr id="9219" name="Subtitle 2"/>
          <p:cNvSpPr>
            <a:spLocks noGrp="1"/>
          </p:cNvSpPr>
          <p:nvPr>
            <p:ph type="subTitle" idx="1"/>
          </p:nvPr>
        </p:nvSpPr>
        <p:spPr>
          <a:xfrm>
            <a:off x="685800" y="4037364"/>
            <a:ext cx="7678738" cy="1752600"/>
          </a:xfrm>
        </p:spPr>
        <p:txBody>
          <a:bodyPr/>
          <a:lstStyle/>
          <a:p>
            <a:r>
              <a:rPr lang="en-US" b="1" dirty="0" smtClean="0"/>
              <a:t>Instructor</a:t>
            </a:r>
            <a:r>
              <a:rPr lang="en-US" b="1" dirty="0"/>
              <a:t>:</a:t>
            </a:r>
            <a:r>
              <a:rPr lang="en-US" dirty="0"/>
              <a:t> </a:t>
            </a:r>
          </a:p>
          <a:p>
            <a:r>
              <a:rPr lang="en-US" dirty="0" smtClean="0"/>
              <a:t>Walter Martens</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631950"/>
            <a:ext cx="7772400" cy="1644650"/>
          </a:xfrm>
        </p:spPr>
        <p:txBody>
          <a:bodyPr/>
          <a:lstStyle/>
          <a:p>
            <a:pPr marL="0" lvl="0" indent="0"/>
            <a:r>
              <a:rPr lang="en-US" dirty="0" smtClean="0"/>
              <a:t>Cache Lab</a:t>
            </a:r>
            <a:br>
              <a:rPr lang="en-US" dirty="0" smtClean="0"/>
            </a:br>
            <a:r>
              <a:rPr lang="en-US" dirty="0" smtClean="0"/>
              <a:t>Exceptional </a:t>
            </a:r>
            <a:r>
              <a:rPr lang="en-US" dirty="0" smtClean="0"/>
              <a:t>Control </a:t>
            </a:r>
            <a:r>
              <a:rPr lang="en-US" dirty="0" smtClean="0"/>
              <a:t>Flow (Part 2) </a:t>
            </a:r>
            <a:br>
              <a:rPr lang="en-US" dirty="0" smtClean="0"/>
            </a:br>
            <a:r>
              <a:rPr lang="en-US" strike="sngStrike" dirty="0" smtClean="0"/>
              <a:t>System I/O</a:t>
            </a:r>
            <a:r>
              <a:rPr lang="en-US" dirty="0" smtClean="0"/>
              <a:t> (postponed)</a:t>
            </a:r>
            <a:br>
              <a:rPr lang="en-US" dirty="0" smtClean="0"/>
            </a:br>
            <a:r>
              <a:rPr lang="en-US" dirty="0"/>
              <a:t/>
            </a:r>
            <a:br>
              <a:rPr lang="en-US" dirty="0"/>
            </a:br>
            <a:r>
              <a:rPr lang="en-US" sz="2000" b="0" dirty="0"/>
              <a:t>CSC 374: Computer Systems II</a:t>
            </a:r>
            <a:br>
              <a:rPr lang="en-US" sz="2000" b="0" dirty="0"/>
            </a:br>
            <a:r>
              <a:rPr lang="en-US" sz="2000" b="0" dirty="0" smtClean="0"/>
              <a:t>4</a:t>
            </a:r>
            <a:r>
              <a:rPr lang="en-US" sz="2000" b="0" baseline="30000" dirty="0" smtClean="0"/>
              <a:t>th</a:t>
            </a:r>
            <a:r>
              <a:rPr lang="en-US" sz="2000" b="0" dirty="0" smtClean="0"/>
              <a:t> </a:t>
            </a:r>
            <a:r>
              <a:rPr lang="en-US" sz="2000" b="0" dirty="0" smtClean="0"/>
              <a:t>Lecture</a:t>
            </a:r>
            <a:r>
              <a:rPr lang="en-US" sz="2000" b="0" dirty="0"/>
              <a:t>, January </a:t>
            </a:r>
            <a:r>
              <a:rPr lang="en-US" sz="2000" b="0" dirty="0" smtClean="0"/>
              <a:t>23</a:t>
            </a:r>
            <a:r>
              <a:rPr lang="en-US" sz="2000" b="0" dirty="0" smtClean="0"/>
              <a:t>, </a:t>
            </a:r>
            <a:r>
              <a:rPr lang="en-US" sz="2000" b="0" dirty="0"/>
              <a:t>2018</a:t>
            </a:r>
          </a:p>
        </p:txBody>
      </p:sp>
      <p:sp>
        <p:nvSpPr>
          <p:cNvPr id="9219" name="Subtitle 2"/>
          <p:cNvSpPr>
            <a:spLocks noGrp="1"/>
          </p:cNvSpPr>
          <p:nvPr>
            <p:ph type="subTitle" idx="1"/>
          </p:nvPr>
        </p:nvSpPr>
        <p:spPr>
          <a:xfrm>
            <a:off x="685800" y="4037364"/>
            <a:ext cx="7678738" cy="1752600"/>
          </a:xfrm>
        </p:spPr>
        <p:txBody>
          <a:bodyPr/>
          <a:lstStyle/>
          <a:p>
            <a:r>
              <a:rPr lang="en-US" b="1" dirty="0" smtClean="0"/>
              <a:t>Instructor</a:t>
            </a:r>
            <a:r>
              <a:rPr lang="en-US" b="1" dirty="0"/>
              <a:t>:</a:t>
            </a:r>
            <a:r>
              <a:rPr lang="en-US" dirty="0"/>
              <a:t> </a:t>
            </a:r>
          </a:p>
          <a:p>
            <a:r>
              <a:rPr lang="en-US" dirty="0" smtClean="0"/>
              <a:t>Walter Martens</a:t>
            </a:r>
            <a:endParaRPr lang="en-US" dirty="0"/>
          </a:p>
        </p:txBody>
      </p:sp>
    </p:spTree>
    <p:extLst>
      <p:ext uri="{BB962C8B-B14F-4D97-AF65-F5344CB8AC3E}">
        <p14:creationId xmlns:p14="http://schemas.microsoft.com/office/powerpoint/2010/main" val="101325927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a:t>Cache </a:t>
            </a:r>
            <a:r>
              <a:rPr lang="en-US" sz="2800" dirty="0" smtClean="0"/>
              <a:t>Lab</a:t>
            </a:r>
          </a:p>
          <a:p>
            <a:r>
              <a:rPr lang="en-US" sz="2800" dirty="0" smtClean="0">
                <a:solidFill>
                  <a:schemeClr val="bg2">
                    <a:lumMod val="60000"/>
                    <a:lumOff val="40000"/>
                  </a:schemeClr>
                </a:solidFill>
              </a:rPr>
              <a:t>Exceptional Control Flow</a:t>
            </a:r>
            <a:endParaRPr lang="en-US" dirty="0" smtClean="0">
              <a:solidFill>
                <a:schemeClr val="bg2">
                  <a:lumMod val="60000"/>
                  <a:lumOff val="40000"/>
                </a:schemeClr>
              </a:solidFill>
            </a:endParaRPr>
          </a:p>
          <a:p>
            <a:pPr lvl="1"/>
            <a:r>
              <a:rPr lang="en-US" dirty="0" err="1" smtClean="0">
                <a:solidFill>
                  <a:schemeClr val="bg2">
                    <a:lumMod val="60000"/>
                    <a:lumOff val="40000"/>
                  </a:schemeClr>
                </a:solidFill>
              </a:rPr>
              <a:t>execve</a:t>
            </a:r>
            <a:r>
              <a:rPr lang="en-US" dirty="0" smtClean="0">
                <a:solidFill>
                  <a:schemeClr val="bg2">
                    <a:lumMod val="60000"/>
                    <a:lumOff val="40000"/>
                  </a:schemeClr>
                </a:solidFill>
              </a:rPr>
              <a:t> (from Lecture 3)</a:t>
            </a:r>
          </a:p>
          <a:p>
            <a:pPr lvl="1"/>
            <a:r>
              <a:rPr lang="en-US" dirty="0" smtClean="0">
                <a:solidFill>
                  <a:schemeClr val="bg2">
                    <a:lumMod val="60000"/>
                    <a:lumOff val="40000"/>
                  </a:schemeClr>
                </a:solidFill>
              </a:rPr>
              <a:t>Shells</a:t>
            </a:r>
          </a:p>
          <a:p>
            <a:pPr lvl="1"/>
            <a:r>
              <a:rPr lang="en-US" dirty="0" smtClean="0">
                <a:solidFill>
                  <a:schemeClr val="bg2">
                    <a:lumMod val="60000"/>
                    <a:lumOff val="40000"/>
                  </a:schemeClr>
                </a:solidFill>
              </a:rPr>
              <a:t>Signals</a:t>
            </a:r>
          </a:p>
          <a:p>
            <a:pPr lvl="1"/>
            <a:r>
              <a:rPr lang="en-US" dirty="0" smtClean="0">
                <a:solidFill>
                  <a:schemeClr val="bg2">
                    <a:lumMod val="60000"/>
                    <a:lumOff val="40000"/>
                  </a:schemeClr>
                </a:solidFill>
              </a:rPr>
              <a:t>Non-local </a:t>
            </a:r>
            <a:r>
              <a:rPr lang="en-US" dirty="0" smtClean="0">
                <a:solidFill>
                  <a:schemeClr val="bg2">
                    <a:lumMod val="60000"/>
                    <a:lumOff val="40000"/>
                  </a:schemeClr>
                </a:solidFill>
              </a:rPr>
              <a:t>Jumps</a:t>
            </a:r>
            <a:endParaRPr lang="en-US" dirty="0" smtClean="0">
              <a:solidFill>
                <a:schemeClr val="bg2">
                  <a:lumMod val="60000"/>
                  <a:lumOff val="40000"/>
                </a:schemeClr>
              </a:solidFill>
            </a:endParaRP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Cache Lab</a:t>
            </a:r>
            <a:endParaRPr lang="en-US" dirty="0"/>
          </a:p>
        </p:txBody>
      </p:sp>
      <p:sp>
        <p:nvSpPr>
          <p:cNvPr id="4" name="Content Placeholder 3"/>
          <p:cNvSpPr>
            <a:spLocks noGrp="1"/>
          </p:cNvSpPr>
          <p:nvPr>
            <p:ph idx="1"/>
          </p:nvPr>
        </p:nvSpPr>
        <p:spPr/>
        <p:txBody>
          <a:bodyPr/>
          <a:lstStyle/>
          <a:p>
            <a:r>
              <a:rPr lang="en-US" dirty="0"/>
              <a:t>Part (a) Building a cache simulator</a:t>
            </a:r>
          </a:p>
          <a:p>
            <a:endParaRPr lang="en-US" dirty="0"/>
          </a:p>
          <a:p>
            <a:r>
              <a:rPr lang="en-US" dirty="0"/>
              <a:t>Part (b) Optimizing matrix transpose</a:t>
            </a:r>
            <a:endParaRPr lang="en-US" dirty="0" smtClean="0"/>
          </a:p>
          <a:p>
            <a:pPr>
              <a:buNone/>
            </a:pPr>
            <a:endParaRPr lang="en-US" dirty="0"/>
          </a:p>
        </p:txBody>
      </p:sp>
    </p:spTree>
    <p:extLst>
      <p:ext uri="{BB962C8B-B14F-4D97-AF65-F5344CB8AC3E}">
        <p14:creationId xmlns:p14="http://schemas.microsoft.com/office/powerpoint/2010/main" val="263940635"/>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(a) : Cache simulator</a:t>
            </a:r>
            <a:endParaRPr lang="en-US" dirty="0"/>
          </a:p>
        </p:txBody>
      </p:sp>
      <p:sp>
        <p:nvSpPr>
          <p:cNvPr id="4" name="Content Placeholder 3"/>
          <p:cNvSpPr>
            <a:spLocks noGrp="1"/>
          </p:cNvSpPr>
          <p:nvPr>
            <p:ph idx="1"/>
          </p:nvPr>
        </p:nvSpPr>
        <p:spPr/>
        <p:txBody>
          <a:bodyPr/>
          <a:lstStyle/>
          <a:p>
            <a:r>
              <a:rPr lang="en-US" dirty="0"/>
              <a:t>A cache simulator is NOT a cache! </a:t>
            </a:r>
          </a:p>
          <a:p>
            <a:pPr lvl="1"/>
            <a:r>
              <a:rPr lang="en-US" dirty="0"/>
              <a:t>Memory contents NOT stored</a:t>
            </a:r>
          </a:p>
          <a:p>
            <a:pPr lvl="1"/>
            <a:r>
              <a:rPr lang="en-US" dirty="0"/>
              <a:t>Block offsets are NOT </a:t>
            </a:r>
            <a:r>
              <a:rPr lang="en-US" dirty="0" smtClean="0"/>
              <a:t>used – the </a:t>
            </a:r>
            <a:r>
              <a:rPr lang="en-US" dirty="0" err="1" smtClean="0"/>
              <a:t>b</a:t>
            </a:r>
            <a:r>
              <a:rPr lang="en-US" dirty="0" smtClean="0"/>
              <a:t> bits in your address don’t matter.</a:t>
            </a:r>
          </a:p>
          <a:p>
            <a:pPr lvl="1"/>
            <a:r>
              <a:rPr lang="en-US" dirty="0"/>
              <a:t>Simply </a:t>
            </a:r>
            <a:r>
              <a:rPr lang="en-US" b="1" dirty="0" smtClean="0"/>
              <a:t>count </a:t>
            </a:r>
            <a:r>
              <a:rPr lang="en-US" dirty="0"/>
              <a:t>hits, misses, and evictions</a:t>
            </a:r>
          </a:p>
          <a:p>
            <a:pPr lvl="1"/>
            <a:endParaRPr lang="en-US" dirty="0"/>
          </a:p>
          <a:p>
            <a:r>
              <a:rPr lang="en-US" dirty="0"/>
              <a:t>Your cache simulator </a:t>
            </a:r>
            <a:r>
              <a:rPr lang="en-US" dirty="0" smtClean="0"/>
              <a:t>needs </a:t>
            </a:r>
            <a:r>
              <a:rPr lang="en-US" dirty="0"/>
              <a:t>to work for different s, b, E, given at run time</a:t>
            </a:r>
            <a:r>
              <a:rPr lang="en-US" dirty="0" smtClean="0"/>
              <a:t>.</a:t>
            </a:r>
          </a:p>
          <a:p>
            <a:endParaRPr lang="en-US" dirty="0"/>
          </a:p>
          <a:p>
            <a:r>
              <a:rPr lang="en-US" dirty="0"/>
              <a:t>Use </a:t>
            </a:r>
            <a:r>
              <a:rPr lang="en-US" dirty="0" smtClean="0"/>
              <a:t>LRU – Least Recently Used </a:t>
            </a:r>
            <a:r>
              <a:rPr lang="en-US" dirty="0"/>
              <a:t>replacement </a:t>
            </a:r>
            <a:r>
              <a:rPr lang="en-US" dirty="0" smtClean="0"/>
              <a:t>policy</a:t>
            </a:r>
          </a:p>
          <a:p>
            <a:pPr lvl="1"/>
            <a:r>
              <a:rPr lang="en-US" dirty="0" smtClean="0"/>
              <a:t>Evict the least recently used block from the cache to make room for the next block.</a:t>
            </a:r>
          </a:p>
          <a:p>
            <a:pPr lvl="1"/>
            <a:r>
              <a:rPr lang="en-US" dirty="0" smtClean="0"/>
              <a:t>Queues ? Time Stamps ?</a:t>
            </a:r>
          </a:p>
          <a:p>
            <a:pPr lvl="1"/>
            <a:endParaRPr lang="en-US" dirty="0"/>
          </a:p>
        </p:txBody>
      </p:sp>
    </p:spTree>
    <p:extLst>
      <p:ext uri="{BB962C8B-B14F-4D97-AF65-F5344CB8AC3E}">
        <p14:creationId xmlns:p14="http://schemas.microsoft.com/office/powerpoint/2010/main" val="1523217465"/>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 </a:t>
            </a:r>
            <a:r>
              <a:rPr lang="en-US" dirty="0" smtClean="0"/>
              <a:t>Hints</a:t>
            </a:r>
            <a:endParaRPr lang="en-US" dirty="0"/>
          </a:p>
        </p:txBody>
      </p:sp>
      <p:sp>
        <p:nvSpPr>
          <p:cNvPr id="4" name="Content Placeholder 3"/>
          <p:cNvSpPr>
            <a:spLocks noGrp="1"/>
          </p:cNvSpPr>
          <p:nvPr>
            <p:ph idx="1"/>
          </p:nvPr>
        </p:nvSpPr>
        <p:spPr/>
        <p:txBody>
          <a:bodyPr/>
          <a:lstStyle/>
          <a:p>
            <a:r>
              <a:rPr lang="en-US" dirty="0"/>
              <a:t>A cache is just 2D array of </a:t>
            </a:r>
            <a:r>
              <a:rPr lang="en-US" i="1" dirty="0"/>
              <a:t>cache lines</a:t>
            </a:r>
            <a:r>
              <a:rPr lang="en-US" dirty="0"/>
              <a:t>:</a:t>
            </a:r>
          </a:p>
          <a:p>
            <a:pPr lvl="1"/>
            <a:r>
              <a:rPr lang="en-US" dirty="0" err="1"/>
              <a:t>struct</a:t>
            </a:r>
            <a:r>
              <a:rPr lang="en-US" dirty="0"/>
              <a:t> </a:t>
            </a:r>
            <a:r>
              <a:rPr lang="en-US" dirty="0" err="1"/>
              <a:t>cache_line</a:t>
            </a:r>
            <a:r>
              <a:rPr lang="en-US" dirty="0"/>
              <a:t> cache[S][E];</a:t>
            </a:r>
          </a:p>
          <a:p>
            <a:pPr lvl="1"/>
            <a:r>
              <a:rPr lang="en-US" dirty="0"/>
              <a:t>S = 2^s,  is the number of sets</a:t>
            </a:r>
          </a:p>
          <a:p>
            <a:pPr lvl="1"/>
            <a:r>
              <a:rPr lang="en-US" dirty="0"/>
              <a:t>E is associativity</a:t>
            </a:r>
          </a:p>
          <a:p>
            <a:endParaRPr lang="en-US" dirty="0" smtClean="0"/>
          </a:p>
          <a:p>
            <a:r>
              <a:rPr lang="en-US" dirty="0" smtClean="0"/>
              <a:t>Each </a:t>
            </a:r>
            <a:r>
              <a:rPr lang="en-US" dirty="0" err="1"/>
              <a:t>cache_line</a:t>
            </a:r>
            <a:r>
              <a:rPr lang="en-US" dirty="0"/>
              <a:t> has:</a:t>
            </a:r>
          </a:p>
          <a:p>
            <a:pPr lvl="1"/>
            <a:r>
              <a:rPr lang="en-US" dirty="0"/>
              <a:t>Valid bit</a:t>
            </a:r>
          </a:p>
          <a:p>
            <a:pPr lvl="1"/>
            <a:r>
              <a:rPr lang="en-US" dirty="0" smtClean="0"/>
              <a:t>Tag</a:t>
            </a:r>
          </a:p>
          <a:p>
            <a:pPr lvl="1"/>
            <a:r>
              <a:rPr lang="en-US" dirty="0" smtClean="0"/>
              <a:t>LRU counter ( only if you are not using a queue ) </a:t>
            </a:r>
          </a:p>
          <a:p>
            <a:endParaRPr lang="en-US" dirty="0"/>
          </a:p>
        </p:txBody>
      </p:sp>
    </p:spTree>
    <p:extLst>
      <p:ext uri="{BB962C8B-B14F-4D97-AF65-F5344CB8AC3E}">
        <p14:creationId xmlns:p14="http://schemas.microsoft.com/office/powerpoint/2010/main" val="2958638618"/>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a:t>
            </a:r>
            <a:r>
              <a:rPr lang="en-US" dirty="0" smtClean="0"/>
              <a:t>: </a:t>
            </a:r>
            <a:r>
              <a:rPr lang="en-US" dirty="0" err="1" smtClean="0"/>
              <a:t>getopt</a:t>
            </a:r>
            <a:endParaRPr lang="en-US" dirty="0"/>
          </a:p>
        </p:txBody>
      </p:sp>
      <p:sp>
        <p:nvSpPr>
          <p:cNvPr id="4" name="Content Placeholder 3"/>
          <p:cNvSpPr>
            <a:spLocks noGrp="1"/>
          </p:cNvSpPr>
          <p:nvPr>
            <p:ph idx="1"/>
          </p:nvPr>
        </p:nvSpPr>
        <p:spPr/>
        <p:txBody>
          <a:bodyPr/>
          <a:lstStyle/>
          <a:p>
            <a:pPr marL="0" indent="0">
              <a:spcBef>
                <a:spcPts val="0"/>
              </a:spcBef>
            </a:pPr>
            <a:r>
              <a:rPr lang="en-US" dirty="0" smtClean="0"/>
              <a:t>  A </a:t>
            </a:r>
            <a:r>
              <a:rPr lang="en-US" dirty="0"/>
              <a:t>switch statement is used on the local variable holding the return value from </a:t>
            </a:r>
            <a:r>
              <a:rPr lang="en-US" dirty="0" err="1"/>
              <a:t>getopt</a:t>
            </a:r>
            <a:r>
              <a:rPr lang="en-US" dirty="0"/>
              <a:t>()</a:t>
            </a:r>
          </a:p>
          <a:p>
            <a:pPr lvl="1"/>
            <a:r>
              <a:rPr lang="en-US" dirty="0"/>
              <a:t>Each command line input case can be taken care of separately</a:t>
            </a:r>
          </a:p>
          <a:p>
            <a:pPr lvl="1"/>
            <a:r>
              <a:rPr lang="en-US" dirty="0"/>
              <a:t>“</a:t>
            </a:r>
            <a:r>
              <a:rPr lang="en-US" dirty="0" err="1"/>
              <a:t>optarg</a:t>
            </a:r>
            <a:r>
              <a:rPr lang="en-US" dirty="0"/>
              <a:t>” is an important variable – it will point to the value of the option </a:t>
            </a:r>
            <a:r>
              <a:rPr lang="en-US" dirty="0" smtClean="0"/>
              <a:t>argument</a:t>
            </a:r>
          </a:p>
          <a:p>
            <a:pPr lvl="1"/>
            <a:endParaRPr lang="en-US" dirty="0"/>
          </a:p>
          <a:p>
            <a:r>
              <a:rPr lang="en-US" dirty="0"/>
              <a:t>Think about </a:t>
            </a:r>
            <a:r>
              <a:rPr lang="en-US" dirty="0" smtClean="0"/>
              <a:t>how to </a:t>
            </a:r>
            <a:r>
              <a:rPr lang="en-US" dirty="0"/>
              <a:t>handle invalid </a:t>
            </a:r>
            <a:r>
              <a:rPr lang="en-US" dirty="0" smtClean="0"/>
              <a:t>inputs</a:t>
            </a:r>
          </a:p>
          <a:p>
            <a:endParaRPr lang="en-US" dirty="0" smtClean="0"/>
          </a:p>
          <a:p>
            <a:pPr marL="0" indent="0">
              <a:spcBef>
                <a:spcPts val="0"/>
              </a:spcBef>
            </a:pPr>
            <a:r>
              <a:rPr lang="en-US" dirty="0"/>
              <a:t> </a:t>
            </a:r>
            <a:r>
              <a:rPr lang="en-US" dirty="0" smtClean="0"/>
              <a:t> For more information,</a:t>
            </a:r>
            <a:endParaRPr lang="en-US" dirty="0"/>
          </a:p>
          <a:p>
            <a:pPr lvl="1"/>
            <a:r>
              <a:rPr lang="en-US" dirty="0"/>
              <a:t>look at man 3 </a:t>
            </a:r>
            <a:r>
              <a:rPr lang="en-US" dirty="0" err="1"/>
              <a:t>getopt</a:t>
            </a:r>
            <a:endParaRPr lang="en-US" dirty="0"/>
          </a:p>
          <a:p>
            <a:pPr lvl="1"/>
            <a:r>
              <a:rPr lang="en-US" dirty="0" smtClean="0">
                <a:hlinkClick r:id="rId3"/>
              </a:rPr>
              <a:t>http</a:t>
            </a:r>
            <a:r>
              <a:rPr lang="en-US" dirty="0">
                <a:hlinkClick r:id="rId3"/>
              </a:rPr>
              <a:t>://</a:t>
            </a:r>
            <a:r>
              <a:rPr lang="en-US" dirty="0" smtClean="0">
                <a:hlinkClick r:id="rId3"/>
              </a:rPr>
              <a:t>www.gnu.org/software/libc/manual/html_node/</a:t>
            </a:r>
            <a:r>
              <a:rPr lang="en-US" dirty="0" smtClean="0">
                <a:hlinkClick r:id="rId3"/>
              </a:rPr>
              <a:t>Getopt.html</a:t>
            </a:r>
            <a:r>
              <a:rPr lang="en-US" dirty="0" smtClean="0"/>
              <a:t> </a:t>
            </a:r>
            <a:r>
              <a:rPr lang="en-US" dirty="0" smtClean="0"/>
              <a:t/>
            </a:r>
            <a:br>
              <a:rPr lang="en-US" dirty="0" smtClean="0"/>
            </a:br>
            <a:endParaRPr lang="en-US" dirty="0" smtClean="0"/>
          </a:p>
        </p:txBody>
      </p:sp>
    </p:spTree>
    <p:extLst>
      <p:ext uri="{BB962C8B-B14F-4D97-AF65-F5344CB8AC3E}">
        <p14:creationId xmlns:p14="http://schemas.microsoft.com/office/powerpoint/2010/main" val="2593833588"/>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(a) </a:t>
            </a:r>
            <a:r>
              <a:rPr lang="en-US" dirty="0" smtClean="0"/>
              <a:t>: </a:t>
            </a:r>
            <a:r>
              <a:rPr lang="en-US" dirty="0" err="1" smtClean="0"/>
              <a:t>getopt</a:t>
            </a:r>
            <a:r>
              <a:rPr lang="en-US" dirty="0" smtClean="0"/>
              <a:t> Example</a:t>
            </a:r>
            <a:endParaRPr lang="en-US" dirty="0"/>
          </a:p>
        </p:txBody>
      </p:sp>
      <p:sp>
        <p:nvSpPr>
          <p:cNvPr id="3" name="Content Placeholder 2"/>
          <p:cNvSpPr>
            <a:spLocks noGrp="1"/>
          </p:cNvSpPr>
          <p:nvPr>
            <p:ph sz="quarter" idx="1"/>
          </p:nvPr>
        </p:nvSpPr>
        <p:spPr>
          <a:xfrm>
            <a:off x="396875" y="1064596"/>
            <a:ext cx="7896225" cy="5269530"/>
          </a:xfrm>
        </p:spPr>
        <p:txBody>
          <a:bodyPr>
            <a:noAutofit/>
          </a:bodyPr>
          <a:lstStyle/>
          <a:p>
            <a:pPr marL="0" indent="0">
              <a:spcBef>
                <a:spcPts val="0"/>
              </a:spcBef>
              <a:buNone/>
            </a:pPr>
            <a:r>
              <a:rPr lang="en-US" sz="1600" dirty="0" err="1">
                <a:latin typeface="Lucida Console" pitchFamily="49" charset="0"/>
                <a:cs typeface="Courier New" pitchFamily="49" charset="0"/>
              </a:rPr>
              <a:t>int</a:t>
            </a:r>
            <a:r>
              <a:rPr lang="en-US" sz="1600" dirty="0">
                <a:latin typeface="Lucida Console" pitchFamily="49" charset="0"/>
                <a:cs typeface="Courier New" pitchFamily="49" charset="0"/>
              </a:rPr>
              <a:t> main(</a:t>
            </a:r>
            <a:r>
              <a:rPr lang="en-US" sz="1600" dirty="0" err="1">
                <a:latin typeface="Lucida Console" pitchFamily="49" charset="0"/>
                <a:cs typeface="Courier New" pitchFamily="49" charset="0"/>
              </a:rPr>
              <a:t>int</a:t>
            </a:r>
            <a:r>
              <a:rPr lang="en-US" sz="1600" dirty="0">
                <a:latin typeface="Lucida Console" pitchFamily="49" charset="0"/>
                <a:cs typeface="Courier New" pitchFamily="49" charset="0"/>
              </a:rPr>
              <a:t> </a:t>
            </a:r>
            <a:r>
              <a:rPr lang="en-US" sz="1600" dirty="0" err="1">
                <a:latin typeface="Lucida Console" pitchFamily="49" charset="0"/>
                <a:cs typeface="Courier New" pitchFamily="49" charset="0"/>
              </a:rPr>
              <a:t>argc</a:t>
            </a:r>
            <a:r>
              <a:rPr lang="en-US" sz="1600" dirty="0">
                <a:latin typeface="Lucida Console" pitchFamily="49" charset="0"/>
                <a:cs typeface="Courier New" pitchFamily="49" charset="0"/>
              </a:rPr>
              <a:t>, char** </a:t>
            </a:r>
            <a:r>
              <a:rPr lang="en-US" sz="1600" dirty="0" err="1">
                <a:latin typeface="Lucida Console" pitchFamily="49" charset="0"/>
                <a:cs typeface="Courier New" pitchFamily="49" charset="0"/>
              </a:rPr>
              <a:t>argv</a:t>
            </a:r>
            <a:r>
              <a:rPr lang="en-US" sz="1600" dirty="0">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a:t>
            </a:r>
            <a:r>
              <a:rPr lang="en-US" sz="1600" dirty="0" err="1" smtClean="0">
                <a:latin typeface="Lucida Console" pitchFamily="49" charset="0"/>
                <a:cs typeface="Courier New" pitchFamily="49" charset="0"/>
              </a:rPr>
              <a:t>int</a:t>
            </a:r>
            <a:r>
              <a:rPr lang="en-US" sz="1600" dirty="0" smtClean="0">
                <a:latin typeface="Lucida Console" pitchFamily="49" charset="0"/>
                <a:cs typeface="Courier New" pitchFamily="49" charset="0"/>
              </a:rPr>
              <a:t> </a:t>
            </a:r>
            <a:r>
              <a:rPr lang="en-US" sz="1600" dirty="0" err="1" smtClean="0">
                <a:latin typeface="Lucida Console" pitchFamily="49" charset="0"/>
                <a:cs typeface="Courier New" pitchFamily="49" charset="0"/>
              </a:rPr>
              <a:t>opt,x,y</a:t>
            </a:r>
            <a:r>
              <a:rPr lang="en-US" sz="1600" dirty="0" smtClean="0">
                <a:latin typeface="Lucida Console" pitchFamily="49" charset="0"/>
                <a:cs typeface="Courier New" pitchFamily="49" charset="0"/>
              </a:rPr>
              <a:t>;</a:t>
            </a:r>
          </a:p>
          <a:p>
            <a:pPr marL="0" indent="0">
              <a:spcBef>
                <a:spcPts val="0"/>
              </a:spcBef>
              <a:buNone/>
            </a:pPr>
            <a:r>
              <a:rPr lang="en-US" sz="1600" dirty="0">
                <a:latin typeface="Lucida Console" pitchFamily="49" charset="0"/>
                <a:cs typeface="Courier New" pitchFamily="49" charset="0"/>
              </a:rPr>
              <a:t> </a:t>
            </a:r>
            <a:r>
              <a:rPr lang="en-US" sz="1600" dirty="0" smtClean="0">
                <a:latin typeface="Lucida Console" pitchFamily="49" charset="0"/>
                <a:cs typeface="Courier New" pitchFamily="49" charset="0"/>
              </a:rPr>
              <a:t>   /* looping </a:t>
            </a:r>
            <a:r>
              <a:rPr lang="en-US" sz="1600" dirty="0">
                <a:latin typeface="Lucida Console" pitchFamily="49" charset="0"/>
                <a:cs typeface="Courier New" pitchFamily="49" charset="0"/>
              </a:rPr>
              <a:t>over </a:t>
            </a:r>
            <a:r>
              <a:rPr lang="en-US" sz="1600" dirty="0" smtClean="0">
                <a:latin typeface="Lucida Console" pitchFamily="49" charset="0"/>
                <a:cs typeface="Courier New" pitchFamily="49" charset="0"/>
              </a:rPr>
              <a:t>arguments */</a:t>
            </a:r>
          </a:p>
          <a:p>
            <a:pPr marL="0" indent="0">
              <a:spcBef>
                <a:spcPts val="0"/>
              </a:spcBef>
              <a:buNone/>
            </a:pPr>
            <a:r>
              <a:rPr lang="en-US" sz="1600" dirty="0">
                <a:latin typeface="Lucida Console" pitchFamily="49" charset="0"/>
                <a:cs typeface="Courier New" pitchFamily="49" charset="0"/>
              </a:rPr>
              <a:t> </a:t>
            </a:r>
            <a:r>
              <a:rPr lang="en-US" sz="1600" dirty="0" smtClean="0">
                <a:latin typeface="Lucida Console" pitchFamily="49" charset="0"/>
                <a:cs typeface="Courier New" pitchFamily="49" charset="0"/>
              </a:rPr>
              <a:t>   </a:t>
            </a:r>
            <a:r>
              <a:rPr lang="en-US" sz="1600" dirty="0" smtClean="0">
                <a:solidFill>
                  <a:srgbClr val="FF0000"/>
                </a:solidFill>
                <a:latin typeface="Lucida Console" pitchFamily="49" charset="0"/>
                <a:cs typeface="Courier New" pitchFamily="49" charset="0"/>
              </a:rPr>
              <a:t>while</a:t>
            </a:r>
            <a:r>
              <a:rPr lang="en-US" sz="1600" dirty="0">
                <a:solidFill>
                  <a:srgbClr val="FF0000"/>
                </a:solidFill>
                <a:latin typeface="Lucida Console" pitchFamily="49" charset="0"/>
                <a:cs typeface="Courier New" pitchFamily="49" charset="0"/>
              </a:rPr>
              <a:t>(-1 != (opt = </a:t>
            </a:r>
            <a:r>
              <a:rPr lang="en-US" sz="1600" dirty="0" err="1">
                <a:solidFill>
                  <a:srgbClr val="FF0000"/>
                </a:solidFill>
                <a:latin typeface="Lucida Console" pitchFamily="49" charset="0"/>
                <a:cs typeface="Courier New" pitchFamily="49" charset="0"/>
              </a:rPr>
              <a:t>getopt(argc</a:t>
            </a:r>
            <a:r>
              <a:rPr lang="en-US" sz="1600" dirty="0" smtClean="0">
                <a:solidFill>
                  <a:srgbClr val="FF0000"/>
                </a:solidFill>
                <a:latin typeface="Lucida Console" pitchFamily="49" charset="0"/>
                <a:cs typeface="Courier New" pitchFamily="49" charset="0"/>
              </a:rPr>
              <a:t>, </a:t>
            </a:r>
            <a:r>
              <a:rPr lang="en-US" sz="1600" dirty="0" err="1" smtClean="0">
                <a:solidFill>
                  <a:srgbClr val="FF0000"/>
                </a:solidFill>
                <a:latin typeface="Lucida Console" pitchFamily="49" charset="0"/>
                <a:cs typeface="Courier New" pitchFamily="49" charset="0"/>
              </a:rPr>
              <a:t>argv</a:t>
            </a:r>
            <a:r>
              <a:rPr lang="en-US" sz="1600" dirty="0" smtClean="0">
                <a:solidFill>
                  <a:srgbClr val="FF0000"/>
                </a:solidFill>
                <a:latin typeface="Lucida Console" pitchFamily="49" charset="0"/>
                <a:cs typeface="Courier New" pitchFamily="49" charset="0"/>
              </a:rPr>
              <a:t>, “</a:t>
            </a:r>
            <a:r>
              <a:rPr lang="en-US" sz="1600" dirty="0" err="1" smtClean="0">
                <a:solidFill>
                  <a:srgbClr val="FF0000"/>
                </a:solidFill>
                <a:latin typeface="Lucida Console" pitchFamily="49" charset="0"/>
                <a:cs typeface="Courier New" pitchFamily="49" charset="0"/>
              </a:rPr>
              <a:t>x:y</a:t>
            </a:r>
            <a:r>
              <a:rPr lang="en-US" sz="1600" dirty="0" smtClean="0">
                <a:solidFill>
                  <a:srgbClr val="FF0000"/>
                </a:solidFill>
                <a:latin typeface="Lucida Console" pitchFamily="49" charset="0"/>
                <a:cs typeface="Courier New" pitchFamily="49" charset="0"/>
              </a:rPr>
              <a:t>:"))){</a:t>
            </a:r>
            <a:r>
              <a:rPr lang="en-US" sz="1600" dirty="0">
                <a:latin typeface="Lucida Console" pitchFamily="49" charset="0"/>
                <a:cs typeface="Courier New" pitchFamily="49" charset="0"/>
              </a:rPr>
              <a:t>	</a:t>
            </a:r>
          </a:p>
          <a:p>
            <a:pPr marL="0" indent="0">
              <a:spcBef>
                <a:spcPts val="0"/>
              </a:spcBef>
              <a:buNone/>
            </a:pPr>
            <a:r>
              <a:rPr lang="en-US" sz="1600" dirty="0" smtClean="0">
                <a:latin typeface="Lucida Console" pitchFamily="49" charset="0"/>
                <a:cs typeface="Courier New" pitchFamily="49" charset="0"/>
              </a:rPr>
              <a:t>        /* determine </a:t>
            </a:r>
            <a:r>
              <a:rPr lang="en-US" sz="1600" dirty="0">
                <a:latin typeface="Lucida Console" pitchFamily="49" charset="0"/>
                <a:cs typeface="Courier New" pitchFamily="49" charset="0"/>
              </a:rPr>
              <a:t>which argument it’s </a:t>
            </a:r>
            <a:r>
              <a:rPr lang="en-US" sz="1600" dirty="0" smtClean="0">
                <a:latin typeface="Lucida Console" pitchFamily="49" charset="0"/>
                <a:cs typeface="Courier New" pitchFamily="49" charset="0"/>
              </a:rPr>
              <a:t>processing */</a:t>
            </a:r>
          </a:p>
          <a:p>
            <a:pPr marL="0" indent="0">
              <a:spcBef>
                <a:spcPts val="0"/>
              </a:spcBef>
              <a:buNone/>
            </a:pPr>
            <a:r>
              <a:rPr lang="en-US" sz="1600" dirty="0" smtClean="0">
                <a:latin typeface="Lucida Console" pitchFamily="49" charset="0"/>
                <a:cs typeface="Courier New" pitchFamily="49" charset="0"/>
              </a:rPr>
              <a:t>        switch(opt</a:t>
            </a:r>
            <a:r>
              <a:rPr lang="en-US" sz="1600" dirty="0">
                <a:latin typeface="Lucida Console" pitchFamily="49" charset="0"/>
                <a:cs typeface="Courier New" pitchFamily="49" charset="0"/>
              </a:rPr>
              <a:t>) { </a:t>
            </a:r>
            <a:endParaRPr lang="en-US" sz="1600" dirty="0" smtClean="0">
              <a:latin typeface="Lucida Console" pitchFamily="49" charset="0"/>
              <a:cs typeface="Courier New" pitchFamily="49" charset="0"/>
            </a:endParaRPr>
          </a:p>
          <a:p>
            <a:pPr marL="0" indent="0">
              <a:spcBef>
                <a:spcPts val="0"/>
              </a:spcBef>
              <a:buNone/>
            </a:pPr>
            <a:r>
              <a:rPr lang="en-US" sz="1600" dirty="0">
                <a:latin typeface="Lucida Console" pitchFamily="49" charset="0"/>
                <a:cs typeface="Courier New" pitchFamily="49" charset="0"/>
              </a:rPr>
              <a:t> </a:t>
            </a:r>
            <a:r>
              <a:rPr lang="en-US" sz="1600" dirty="0" smtClean="0">
                <a:latin typeface="Lucida Console" pitchFamily="49" charset="0"/>
                <a:cs typeface="Courier New" pitchFamily="49" charset="0"/>
              </a:rPr>
              <a:t>           case </a:t>
            </a:r>
            <a:r>
              <a:rPr lang="en-US" sz="1600" dirty="0">
                <a:latin typeface="Lucida Console" pitchFamily="49" charset="0"/>
                <a:cs typeface="Courier New" pitchFamily="49" charset="0"/>
              </a:rPr>
              <a:t>'x':</a:t>
            </a:r>
          </a:p>
          <a:p>
            <a:pPr marL="0" indent="0">
              <a:spcBef>
                <a:spcPts val="0"/>
              </a:spcBef>
              <a:buNone/>
            </a:pPr>
            <a:r>
              <a:rPr lang="en-US" sz="1600" dirty="0" smtClean="0">
                <a:latin typeface="Lucida Console" pitchFamily="49" charset="0"/>
                <a:cs typeface="Courier New" pitchFamily="49" charset="0"/>
              </a:rPr>
              <a:t>                </a:t>
            </a:r>
            <a:r>
              <a:rPr lang="en-US" sz="1600" dirty="0" smtClean="0">
                <a:solidFill>
                  <a:srgbClr val="FF0000"/>
                </a:solidFill>
                <a:latin typeface="Lucida Console" pitchFamily="49" charset="0"/>
                <a:cs typeface="Courier New" pitchFamily="49" charset="0"/>
              </a:rPr>
              <a:t>x = </a:t>
            </a:r>
            <a:r>
              <a:rPr lang="en-US" sz="1600" dirty="0" err="1" smtClean="0">
                <a:solidFill>
                  <a:srgbClr val="FF0000"/>
                </a:solidFill>
                <a:latin typeface="Lucida Console" pitchFamily="49" charset="0"/>
                <a:cs typeface="Courier New" pitchFamily="49" charset="0"/>
              </a:rPr>
              <a:t>atoi</a:t>
            </a:r>
            <a:r>
              <a:rPr lang="en-US" sz="1600" dirty="0" smtClean="0">
                <a:solidFill>
                  <a:srgbClr val="FF0000"/>
                </a:solidFill>
                <a:latin typeface="Lucida Console" pitchFamily="49" charset="0"/>
                <a:cs typeface="Courier New" pitchFamily="49" charset="0"/>
              </a:rPr>
              <a:t>(</a:t>
            </a:r>
            <a:r>
              <a:rPr lang="en-US" sz="1600" dirty="0" err="1" smtClean="0">
                <a:solidFill>
                  <a:srgbClr val="FF0000"/>
                </a:solidFill>
                <a:latin typeface="Lucida Console" pitchFamily="49" charset="0"/>
                <a:cs typeface="Courier New" pitchFamily="49" charset="0"/>
              </a:rPr>
              <a:t>optarg</a:t>
            </a:r>
            <a:r>
              <a:rPr lang="en-US" sz="1600" dirty="0">
                <a:solidFill>
                  <a:srgbClr val="FF0000"/>
                </a:solidFill>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break;</a:t>
            </a:r>
          </a:p>
          <a:p>
            <a:pPr marL="0" indent="0">
              <a:spcBef>
                <a:spcPts val="0"/>
              </a:spcBef>
              <a:buNone/>
            </a:pPr>
            <a:r>
              <a:rPr lang="en-US" sz="1600" dirty="0" smtClean="0">
                <a:latin typeface="Lucida Console" pitchFamily="49" charset="0"/>
                <a:cs typeface="Courier New" pitchFamily="49" charset="0"/>
              </a:rPr>
              <a:t>            case ‘</a:t>
            </a:r>
            <a:r>
              <a:rPr lang="en-US" sz="1600" dirty="0" err="1" smtClean="0">
                <a:latin typeface="Lucida Console" pitchFamily="49" charset="0"/>
                <a:cs typeface="Courier New" pitchFamily="49" charset="0"/>
              </a:rPr>
              <a:t>y</a:t>
            </a:r>
            <a:r>
              <a:rPr lang="en-US" sz="1600" dirty="0" smtClean="0">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a:t>
            </a:r>
            <a:r>
              <a:rPr lang="en-US" sz="1600" dirty="0" err="1" smtClean="0">
                <a:solidFill>
                  <a:srgbClr val="FF0000"/>
                </a:solidFill>
                <a:latin typeface="Lucida Console" pitchFamily="49" charset="0"/>
                <a:cs typeface="Courier New" pitchFamily="49" charset="0"/>
              </a:rPr>
              <a:t>y</a:t>
            </a:r>
            <a:r>
              <a:rPr lang="en-US" sz="1600" dirty="0" smtClean="0">
                <a:solidFill>
                  <a:srgbClr val="FF0000"/>
                </a:solidFill>
                <a:latin typeface="Lucida Console" pitchFamily="49" charset="0"/>
                <a:cs typeface="Courier New" pitchFamily="49" charset="0"/>
              </a:rPr>
              <a:t> = </a:t>
            </a:r>
            <a:r>
              <a:rPr lang="en-US" sz="1600" dirty="0" err="1" smtClean="0">
                <a:solidFill>
                  <a:srgbClr val="FF0000"/>
                </a:solidFill>
                <a:latin typeface="Lucida Console" pitchFamily="49" charset="0"/>
                <a:cs typeface="Courier New" pitchFamily="49" charset="0"/>
              </a:rPr>
              <a:t>atoi(optarg</a:t>
            </a:r>
            <a:r>
              <a:rPr lang="en-US" sz="1600" dirty="0" smtClean="0">
                <a:solidFill>
                  <a:srgbClr val="FF0000"/>
                </a:solidFill>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break;</a:t>
            </a:r>
          </a:p>
          <a:p>
            <a:pPr marL="0" indent="0">
              <a:spcBef>
                <a:spcPts val="0"/>
              </a:spcBef>
              <a:buNone/>
            </a:pPr>
            <a:r>
              <a:rPr lang="en-US" sz="1600" dirty="0" smtClean="0">
                <a:latin typeface="Lucida Console" pitchFamily="49" charset="0"/>
                <a:cs typeface="Courier New" pitchFamily="49" charset="0"/>
              </a:rPr>
              <a:t>            default</a:t>
            </a:r>
            <a:r>
              <a:rPr lang="en-US" sz="1600" dirty="0">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a:t>
            </a:r>
            <a:r>
              <a:rPr lang="en-US" sz="1600" dirty="0" err="1" smtClean="0">
                <a:latin typeface="Lucida Console" pitchFamily="49" charset="0"/>
                <a:cs typeface="Courier New" pitchFamily="49" charset="0"/>
              </a:rPr>
              <a:t>printf</a:t>
            </a:r>
            <a:r>
              <a:rPr lang="en-US" sz="1600" dirty="0">
                <a:latin typeface="Lucida Console" pitchFamily="49" charset="0"/>
                <a:cs typeface="Courier New" pitchFamily="49" charset="0"/>
              </a:rPr>
              <a:t>(“wrong argument\n</a:t>
            </a:r>
            <a:r>
              <a:rPr lang="en-US" sz="1600" dirty="0" smtClean="0">
                <a:latin typeface="Lucida Console" pitchFamily="49" charset="0"/>
                <a:cs typeface="Courier New" pitchFamily="49" charset="0"/>
              </a:rPr>
              <a:t>");</a:t>
            </a:r>
          </a:p>
          <a:p>
            <a:pPr marL="0" indent="0">
              <a:spcBef>
                <a:spcPts val="0"/>
              </a:spcBef>
              <a:buNone/>
            </a:pPr>
            <a:r>
              <a:rPr lang="en-US" sz="1600" dirty="0" smtClean="0">
                <a:latin typeface="Lucida Console" pitchFamily="49" charset="0"/>
                <a:cs typeface="Courier New" pitchFamily="49" charset="0"/>
              </a:rPr>
              <a:t>                break;</a:t>
            </a:r>
            <a:endParaRPr lang="en-US" sz="1600" dirty="0">
              <a:latin typeface="Lucida Console" pitchFamily="49" charset="0"/>
              <a:cs typeface="Courier New" pitchFamily="49" charset="0"/>
            </a:endParaRPr>
          </a:p>
          <a:p>
            <a:pPr marL="0" indent="0">
              <a:spcBef>
                <a:spcPts val="0"/>
              </a:spcBef>
              <a:buNone/>
            </a:pPr>
            <a:r>
              <a:rPr lang="en-US" sz="1600" dirty="0" smtClean="0">
                <a:latin typeface="Lucida Console" pitchFamily="49" charset="0"/>
                <a:cs typeface="Courier New" pitchFamily="49" charset="0"/>
              </a:rPr>
              <a:t>        }</a:t>
            </a:r>
            <a:endParaRPr lang="en-US" sz="1600" dirty="0">
              <a:latin typeface="Lucida Console" pitchFamily="49" charset="0"/>
              <a:cs typeface="Courier New" pitchFamily="49" charset="0"/>
            </a:endParaRPr>
          </a:p>
          <a:p>
            <a:pPr marL="0" indent="0">
              <a:spcBef>
                <a:spcPts val="0"/>
              </a:spcBef>
              <a:buNone/>
            </a:pPr>
            <a:r>
              <a:rPr lang="en-US" sz="1600" dirty="0" smtClean="0">
                <a:latin typeface="Lucida Console" pitchFamily="49" charset="0"/>
                <a:cs typeface="Courier New" pitchFamily="49" charset="0"/>
              </a:rPr>
              <a:t>    }</a:t>
            </a:r>
            <a:endParaRPr lang="en-US" sz="1600" dirty="0">
              <a:latin typeface="Lucida Console" pitchFamily="49" charset="0"/>
              <a:cs typeface="Courier New" pitchFamily="49" charset="0"/>
            </a:endParaRPr>
          </a:p>
          <a:p>
            <a:pPr marL="0" indent="0">
              <a:spcBef>
                <a:spcPts val="0"/>
              </a:spcBef>
              <a:buNone/>
            </a:pPr>
            <a:r>
              <a:rPr lang="en-US" sz="1600" dirty="0" smtClean="0">
                <a:latin typeface="Lucida Console" pitchFamily="49" charset="0"/>
                <a:cs typeface="Courier New" pitchFamily="49" charset="0"/>
              </a:rPr>
              <a:t>}</a:t>
            </a:r>
          </a:p>
          <a:p>
            <a:pPr marL="0" indent="0">
              <a:spcBef>
                <a:spcPts val="0"/>
              </a:spcBef>
            </a:pPr>
            <a:r>
              <a:rPr lang="en-US" sz="2200" dirty="0" smtClean="0"/>
              <a:t> </a:t>
            </a:r>
            <a:r>
              <a:rPr lang="en-US" sz="2600" dirty="0" smtClean="0"/>
              <a:t>Suppose the program executable was called “</a:t>
            </a:r>
            <a:r>
              <a:rPr lang="en-US" sz="2600" dirty="0" err="1" smtClean="0"/>
              <a:t>foo</a:t>
            </a:r>
            <a:r>
              <a:rPr lang="en-US" sz="2600" dirty="0" smtClean="0"/>
              <a:t>”. Then we would call “./</a:t>
            </a:r>
            <a:r>
              <a:rPr lang="en-US" sz="2600" dirty="0" err="1" smtClean="0"/>
              <a:t>foo</a:t>
            </a:r>
            <a:r>
              <a:rPr lang="en-US" sz="2600" dirty="0" smtClean="0"/>
              <a:t> -</a:t>
            </a:r>
            <a:r>
              <a:rPr lang="en-US" sz="2600" dirty="0" err="1" smtClean="0"/>
              <a:t>x</a:t>
            </a:r>
            <a:r>
              <a:rPr lang="en-US" sz="2600" dirty="0" smtClean="0"/>
              <a:t> 1 –</a:t>
            </a:r>
            <a:r>
              <a:rPr lang="en-US" sz="2600" dirty="0" err="1" smtClean="0"/>
              <a:t>y</a:t>
            </a:r>
            <a:r>
              <a:rPr lang="en-US" sz="2600" dirty="0" smtClean="0"/>
              <a:t> 3“ to pass the value 1 to variable </a:t>
            </a:r>
            <a:r>
              <a:rPr lang="en-US" sz="2600" dirty="0" err="1" smtClean="0"/>
              <a:t>x</a:t>
            </a:r>
            <a:r>
              <a:rPr lang="en-US" sz="2600" dirty="0" smtClean="0"/>
              <a:t> and 3 to </a:t>
            </a:r>
            <a:r>
              <a:rPr lang="en-US" sz="2600" dirty="0" err="1" smtClean="0"/>
              <a:t>y</a:t>
            </a:r>
            <a:r>
              <a:rPr lang="en-US" sz="2600" dirty="0" smtClean="0"/>
              <a:t>.</a:t>
            </a:r>
            <a:endParaRPr lang="en-US" sz="2600" dirty="0">
              <a:latin typeface="Lucida Console" pitchFamily="49" charset="0"/>
              <a:cs typeface="Courier New" pitchFamily="49" charset="0"/>
            </a:endParaRPr>
          </a:p>
        </p:txBody>
      </p:sp>
    </p:spTree>
    <p:extLst>
      <p:ext uri="{BB962C8B-B14F-4D97-AF65-F5344CB8AC3E}">
        <p14:creationId xmlns:p14="http://schemas.microsoft.com/office/powerpoint/2010/main" val="22203700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a:t>
            </a:r>
            <a:r>
              <a:rPr lang="en-US" dirty="0" smtClean="0"/>
              <a:t>: </a:t>
            </a:r>
            <a:r>
              <a:rPr lang="en-US" dirty="0" err="1" smtClean="0"/>
              <a:t>fscanf</a:t>
            </a:r>
            <a:endParaRPr lang="en-US" dirty="0"/>
          </a:p>
        </p:txBody>
      </p:sp>
      <p:sp>
        <p:nvSpPr>
          <p:cNvPr id="4" name="Content Placeholder 3"/>
          <p:cNvSpPr>
            <a:spLocks noGrp="1"/>
          </p:cNvSpPr>
          <p:nvPr>
            <p:ph idx="1"/>
          </p:nvPr>
        </p:nvSpPr>
        <p:spPr/>
        <p:txBody>
          <a:bodyPr/>
          <a:lstStyle/>
          <a:p>
            <a:pPr marL="0" indent="0">
              <a:spcBef>
                <a:spcPts val="0"/>
              </a:spcBef>
            </a:pPr>
            <a:r>
              <a:rPr lang="en-US" dirty="0"/>
              <a:t>The </a:t>
            </a:r>
            <a:r>
              <a:rPr lang="en-US" dirty="0" err="1"/>
              <a:t>fscanf</a:t>
            </a:r>
            <a:r>
              <a:rPr lang="en-US" dirty="0"/>
              <a:t>() function is just like </a:t>
            </a:r>
            <a:r>
              <a:rPr lang="en-US" dirty="0" err="1"/>
              <a:t>scanf</a:t>
            </a:r>
            <a:r>
              <a:rPr lang="en-US" dirty="0"/>
              <a:t>() except </a:t>
            </a:r>
            <a:r>
              <a:rPr lang="en-US" dirty="0" smtClean="0"/>
              <a:t>it </a:t>
            </a:r>
            <a:r>
              <a:rPr lang="en-US" dirty="0"/>
              <a:t>can specify a stream to read from (</a:t>
            </a:r>
            <a:r>
              <a:rPr lang="en-US" dirty="0" err="1" smtClean="0"/>
              <a:t>scanf</a:t>
            </a:r>
            <a:r>
              <a:rPr lang="en-US" dirty="0" smtClean="0"/>
              <a:t> always </a:t>
            </a:r>
            <a:r>
              <a:rPr lang="en-US" dirty="0"/>
              <a:t>reads from </a:t>
            </a:r>
            <a:r>
              <a:rPr lang="en-US" dirty="0" err="1"/>
              <a:t>stdin</a:t>
            </a:r>
            <a:r>
              <a:rPr lang="en-US" dirty="0"/>
              <a:t>)</a:t>
            </a:r>
          </a:p>
          <a:p>
            <a:pPr lvl="1"/>
            <a:r>
              <a:rPr lang="en-US" dirty="0"/>
              <a:t>parameters: </a:t>
            </a:r>
          </a:p>
          <a:p>
            <a:pPr lvl="2"/>
            <a:r>
              <a:rPr lang="en-US" dirty="0" smtClean="0"/>
              <a:t>A stream pointer</a:t>
            </a:r>
            <a:endParaRPr lang="en-US" dirty="0"/>
          </a:p>
          <a:p>
            <a:pPr lvl="2"/>
            <a:r>
              <a:rPr lang="en-US" dirty="0"/>
              <a:t>format string with information on how to </a:t>
            </a:r>
            <a:r>
              <a:rPr lang="en-US" dirty="0" smtClean="0"/>
              <a:t>parse the file </a:t>
            </a:r>
            <a:endParaRPr lang="en-US" dirty="0"/>
          </a:p>
          <a:p>
            <a:pPr lvl="2"/>
            <a:r>
              <a:rPr lang="en-US" dirty="0"/>
              <a:t>the </a:t>
            </a:r>
            <a:r>
              <a:rPr lang="en-US" dirty="0" smtClean="0"/>
              <a:t>rest are pointers </a:t>
            </a:r>
            <a:r>
              <a:rPr lang="en-US" dirty="0"/>
              <a:t>to variables to </a:t>
            </a:r>
            <a:r>
              <a:rPr lang="en-US" dirty="0" smtClean="0"/>
              <a:t>store the parsed data </a:t>
            </a:r>
            <a:endParaRPr lang="en-US" dirty="0"/>
          </a:p>
          <a:p>
            <a:pPr lvl="1"/>
            <a:r>
              <a:rPr lang="en-US" dirty="0" smtClean="0"/>
              <a:t>You typically </a:t>
            </a:r>
            <a:r>
              <a:rPr lang="en-US" dirty="0"/>
              <a:t>want to use this function in a </a:t>
            </a:r>
            <a:r>
              <a:rPr lang="en-US" dirty="0" smtClean="0"/>
              <a:t>loop. It returns -1 when it hits EOF or if the data doesn’t match the format string</a:t>
            </a:r>
            <a:endParaRPr lang="en-US" dirty="0"/>
          </a:p>
          <a:p>
            <a:r>
              <a:rPr lang="en-US" dirty="0" smtClean="0"/>
              <a:t>For more information,</a:t>
            </a:r>
          </a:p>
          <a:p>
            <a:pPr lvl="1"/>
            <a:r>
              <a:rPr lang="en-US" dirty="0" smtClean="0"/>
              <a:t>man </a:t>
            </a:r>
            <a:r>
              <a:rPr lang="en-US" dirty="0" err="1" smtClean="0"/>
              <a:t>fscanf</a:t>
            </a:r>
            <a:endParaRPr lang="en-US" dirty="0" smtClean="0"/>
          </a:p>
          <a:p>
            <a:pPr lvl="1"/>
            <a:r>
              <a:rPr lang="en-US" dirty="0">
                <a:hlinkClick r:id="rId3"/>
              </a:rPr>
              <a:t>https://www.tutorialspoint.com/c_standard_library/</a:t>
            </a:r>
            <a:r>
              <a:rPr lang="en-US" dirty="0" smtClean="0">
                <a:hlinkClick r:id="rId3"/>
              </a:rPr>
              <a:t>c_function_fscanf.htm</a:t>
            </a:r>
            <a:r>
              <a:rPr lang="en-US" dirty="0" smtClean="0"/>
              <a:t> </a:t>
            </a:r>
          </a:p>
          <a:p>
            <a:pPr lvl="1"/>
            <a:r>
              <a:rPr lang="en-US" dirty="0" err="1" smtClean="0"/>
              <a:t>fscanf</a:t>
            </a:r>
            <a:r>
              <a:rPr lang="en-US" dirty="0" smtClean="0"/>
              <a:t> </a:t>
            </a:r>
            <a:r>
              <a:rPr lang="en-US" dirty="0"/>
              <a:t>will be useful in reading</a:t>
            </a:r>
            <a:r>
              <a:rPr lang="en-US" dirty="0" smtClean="0"/>
              <a:t> lines from </a:t>
            </a:r>
            <a:r>
              <a:rPr lang="en-US" dirty="0"/>
              <a:t>the trace </a:t>
            </a:r>
            <a:r>
              <a:rPr lang="en-US" dirty="0" smtClean="0"/>
              <a:t>files. </a:t>
            </a:r>
          </a:p>
          <a:p>
            <a:pPr lvl="1"/>
            <a:r>
              <a:rPr lang="en-US" dirty="0" smtClean="0"/>
              <a:t>L	10,1	</a:t>
            </a:r>
          </a:p>
          <a:p>
            <a:pPr lvl="1"/>
            <a:r>
              <a:rPr lang="en-US" dirty="0" smtClean="0"/>
              <a:t>M 20,1	</a:t>
            </a:r>
          </a:p>
          <a:p>
            <a:pPr marL="0" indent="0">
              <a:buNone/>
            </a:pPr>
            <a:endParaRPr lang="en-US" dirty="0"/>
          </a:p>
        </p:txBody>
      </p:sp>
    </p:spTree>
    <p:extLst>
      <p:ext uri="{BB962C8B-B14F-4D97-AF65-F5344CB8AC3E}">
        <p14:creationId xmlns:p14="http://schemas.microsoft.com/office/powerpoint/2010/main" val="2586225065"/>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27038" y="315010"/>
            <a:ext cx="8716962"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a:t>
            </a:r>
            <a:r>
              <a:rPr lang="en-US" dirty="0" smtClean="0"/>
              <a:t>: </a:t>
            </a:r>
            <a:r>
              <a:rPr lang="en-US" dirty="0" err="1" smtClean="0"/>
              <a:t>fscanf</a:t>
            </a:r>
            <a:r>
              <a:rPr lang="en-US" dirty="0" smtClean="0"/>
              <a:t> example</a:t>
            </a:r>
            <a:endParaRPr lang="en-US" dirty="0"/>
          </a:p>
        </p:txBody>
      </p:sp>
      <p:sp>
        <p:nvSpPr>
          <p:cNvPr id="3" name="Text Placeholder 2"/>
          <p:cNvSpPr txBox="1">
            <a:spLocks noGrp="1"/>
          </p:cNvSpPr>
          <p:nvPr>
            <p:ph type="body" idx="4294967295"/>
          </p:nvPr>
        </p:nvSpPr>
        <p:spPr>
          <a:xfrm>
            <a:off x="457200" y="1219200"/>
            <a:ext cx="8307388" cy="5224462"/>
          </a:xfrm>
          <a:prstGeom prst="rect">
            <a:avLst/>
          </a:prstGeom>
        </p:spPr>
        <p:txBody>
          <a:bodyPr wrap="square"/>
          <a:lstStyle>
            <a:defPPr marL="385560" marR="0" lvl="0" indent="-385560" algn="l" rtl="0" hangingPunct="1">
              <a:lnSpc>
                <a:spcPct val="95000"/>
              </a:lnSpc>
              <a:spcBef>
                <a:spcPts val="1500"/>
              </a:spcBef>
              <a:spcAft>
                <a:spcPts val="0"/>
              </a:spcAft>
              <a:buNone/>
              <a:tabLst>
                <a:tab pos="385560" algn="l"/>
                <a:tab pos="914040" algn="l"/>
                <a:tab pos="1828440" algn="l"/>
                <a:tab pos="2742840" algn="l"/>
                <a:tab pos="3657239" algn="l"/>
                <a:tab pos="4571639" algn="l"/>
                <a:tab pos="5486040" algn="l"/>
                <a:tab pos="6400439" algn="l"/>
                <a:tab pos="7314839" algn="l"/>
                <a:tab pos="8229239" algn="l"/>
                <a:tab pos="9143640" algn="l"/>
                <a:tab pos="10058040" algn="l"/>
              </a:tabLst>
              <a:defRPr lang="en-US" sz="2400" b="1" i="0" u="none" strike="noStrike" baseline="0">
                <a:ln>
                  <a:noFill/>
                </a:ln>
                <a:solidFill>
                  <a:srgbClr val="003300"/>
                </a:solidFill>
                <a:effectLst>
                  <a:outerShdw dist="17961" dir="2700000">
                    <a:scrgbClr r="0" g="0" b="0"/>
                  </a:outerShdw>
                </a:effectLst>
                <a:latin typeface="Helvetica" pitchFamily="34"/>
                <a:ea typeface="DejaVu Sans" pitchFamily="2"/>
                <a:cs typeface="DejaVu Sans" pitchFamily="2"/>
              </a:defRPr>
            </a:defPPr>
            <a:lvl1pPr marL="385560" marR="0" lvl="0" indent="-385560" algn="l" rtl="0" hangingPunct="1">
              <a:lnSpc>
                <a:spcPct val="95000"/>
              </a:lnSpc>
              <a:spcBef>
                <a:spcPts val="1500"/>
              </a:spcBef>
              <a:spcAft>
                <a:spcPts val="0"/>
              </a:spcAft>
              <a:buNone/>
              <a:tabLst>
                <a:tab pos="385560" algn="l"/>
                <a:tab pos="914040" algn="l"/>
                <a:tab pos="1828440" algn="l"/>
                <a:tab pos="2742840" algn="l"/>
                <a:tab pos="3657239" algn="l"/>
                <a:tab pos="4571639" algn="l"/>
                <a:tab pos="5486040" algn="l"/>
                <a:tab pos="6400439" algn="l"/>
                <a:tab pos="7314839" algn="l"/>
                <a:tab pos="8229239" algn="l"/>
                <a:tab pos="9143640" algn="l"/>
                <a:tab pos="10058040" algn="l"/>
              </a:tabLst>
              <a:defRPr lang="en-US" sz="2400" b="1" i="0" u="none" strike="noStrike" baseline="0">
                <a:ln>
                  <a:noFill/>
                </a:ln>
                <a:solidFill>
                  <a:srgbClr val="003300"/>
                </a:solidFill>
                <a:effectLst>
                  <a:outerShdw dist="17961" dir="2700000">
                    <a:scrgbClr r="0" g="0" b="0"/>
                  </a:outerShdw>
                </a:effectLst>
                <a:latin typeface="Helvetica" pitchFamily="34"/>
                <a:ea typeface="DejaVu Sans" pitchFamily="2"/>
                <a:cs typeface="DejaVu Sans" pitchFamily="2"/>
              </a:defRPr>
            </a:lvl1pPr>
            <a:lvl2pPr marL="744480" marR="0" lvl="1" indent="-246240" algn="l" rtl="0" hangingPunct="1">
              <a:lnSpc>
                <a:spcPct val="100000"/>
              </a:lnSpc>
              <a:spcBef>
                <a:spcPts val="624"/>
              </a:spcBef>
              <a:spcAft>
                <a:spcPts val="0"/>
              </a:spcAft>
              <a:buClr>
                <a:srgbClr val="660033"/>
              </a:buClr>
              <a:buSzPct val="75000"/>
              <a:buFont typeface="Wingdings" pitchFamily="2"/>
              <a:buChar char=""/>
              <a:tabLst>
                <a:tab pos="169560" algn="l"/>
                <a:tab pos="1083960" algn="l"/>
                <a:tab pos="1998360" algn="l"/>
                <a:tab pos="2912759" algn="l"/>
                <a:tab pos="3827159" algn="l"/>
                <a:tab pos="4741560" algn="l"/>
                <a:tab pos="5655959" algn="l"/>
                <a:tab pos="6570360" algn="l"/>
                <a:tab pos="7484760" algn="l"/>
                <a:tab pos="8399160" algn="l"/>
                <a:tab pos="9313560" algn="l"/>
              </a:tabLst>
              <a:defRPr lang="en-US" sz="2000" b="1" i="0" u="none" strike="noStrike" baseline="0">
                <a:ln>
                  <a:noFill/>
                </a:ln>
                <a:solidFill>
                  <a:srgbClr val="000066"/>
                </a:solidFill>
                <a:latin typeface="Helvetica" pitchFamily="34"/>
                <a:ea typeface="DejaVu Sans" pitchFamily="2"/>
                <a:cs typeface="DejaVu Sans" pitchFamily="2"/>
              </a:defRPr>
            </a:lvl2pPr>
            <a:lvl3pPr marL="1145879" marR="0" lvl="2" indent="-237960" algn="l" rtl="0" hangingPunct="1">
              <a:lnSpc>
                <a:spcPct val="107000"/>
              </a:lnSpc>
              <a:spcBef>
                <a:spcPts val="224"/>
              </a:spcBef>
              <a:spcAft>
                <a:spcPts val="0"/>
              </a:spcAft>
              <a:buClr>
                <a:srgbClr val="005400"/>
              </a:buClr>
              <a:buSzPct val="90000"/>
              <a:buFont typeface="Wingdings" pitchFamily="2"/>
              <a:buChar char=""/>
              <a:tabLst>
                <a:tab pos="682560" algn="l"/>
                <a:tab pos="1596960" algn="l"/>
                <a:tab pos="2511360" algn="l"/>
                <a:tab pos="3425760" algn="l"/>
                <a:tab pos="4340160" algn="l"/>
                <a:tab pos="5254560" algn="l"/>
                <a:tab pos="6168960" algn="l"/>
                <a:tab pos="7083360" algn="l"/>
                <a:tab pos="7997760" algn="l"/>
                <a:tab pos="8912160" algn="l"/>
              </a:tabLst>
              <a:defRPr lang="en-US" sz="1800" b="1" i="0" u="none" strike="noStrike" baseline="0">
                <a:ln>
                  <a:noFill/>
                </a:ln>
                <a:solidFill>
                  <a:srgbClr val="000099"/>
                </a:solidFill>
                <a:latin typeface="Helvetica" pitchFamily="34"/>
                <a:ea typeface="DejaVu Sans" pitchFamily="2"/>
                <a:cs typeface="DejaVu Sans" pitchFamily="2"/>
              </a:defRPr>
            </a:lvl3pPr>
            <a:lvl4pPr marL="1600199" marR="0" lvl="3" indent="-228600" algn="l" rtl="0" hangingPunct="1">
              <a:lnSpc>
                <a:spcPct val="100000"/>
              </a:lnSpc>
              <a:spcBef>
                <a:spcPts val="448"/>
              </a:spcBef>
              <a:spcAft>
                <a:spcPts val="0"/>
              </a:spcAft>
              <a:buClr>
                <a:srgbClr val="000066"/>
              </a:buClr>
              <a:buSzPct val="100000"/>
              <a:buFont typeface="Helvetica" pitchFamily="34"/>
              <a:buChar char="»"/>
              <a:tabLst>
                <a:tab pos="228600" algn="l"/>
                <a:tab pos="1143000" algn="l"/>
                <a:tab pos="2057400" algn="l"/>
                <a:tab pos="2971800" algn="l"/>
                <a:tab pos="3886200" algn="l"/>
                <a:tab pos="4800600" algn="l"/>
                <a:tab pos="5715000" algn="l"/>
                <a:tab pos="6629400" algn="l"/>
                <a:tab pos="7543799" algn="l"/>
                <a:tab pos="8458200" algn="l"/>
              </a:tabLst>
              <a:defRPr lang="en-US" sz="1800" b="0" i="0" u="none" strike="noStrike" baseline="0">
                <a:ln>
                  <a:noFill/>
                </a:ln>
                <a:solidFill>
                  <a:srgbClr val="000066"/>
                </a:solidFill>
                <a:latin typeface="Helvetica" pitchFamily="34"/>
                <a:ea typeface="DejaVu Sans" pitchFamily="2"/>
                <a:cs typeface="DejaVu Sans" pitchFamily="2"/>
              </a:defRPr>
            </a:lvl4pPr>
            <a:lvl5pPr marL="2450880" marR="0" lvl="4" indent="-228600" algn="l" rtl="0" hangingPunct="1">
              <a:lnSpc>
                <a:spcPct val="100000"/>
              </a:lnSpc>
              <a:spcBef>
                <a:spcPts val="499"/>
              </a:spcBef>
              <a:spcAft>
                <a:spcPts val="0"/>
              </a:spcAft>
              <a:buClr>
                <a:srgbClr val="000066"/>
              </a:buClr>
              <a:buSzPct val="100000"/>
              <a:buFont typeface="Times New Roman" pitchFamily="18"/>
              <a:buChar char="•"/>
              <a:tabLst>
                <a:tab pos="291960" algn="l"/>
                <a:tab pos="1206359" algn="l"/>
                <a:tab pos="2120760" algn="l"/>
                <a:tab pos="3035159" algn="l"/>
                <a:tab pos="3949560" algn="l"/>
                <a:tab pos="4863960" algn="l"/>
                <a:tab pos="5778360" algn="l"/>
                <a:tab pos="6692760" algn="l"/>
                <a:tab pos="7607160" algn="l"/>
              </a:tabLst>
              <a:defRPr lang="en-US" sz="2000" b="0" i="0" u="none" strike="noStrike" baseline="0">
                <a:ln>
                  <a:noFill/>
                </a:ln>
                <a:solidFill>
                  <a:srgbClr val="000066"/>
                </a:solidFill>
                <a:latin typeface="Times New Roman" pitchFamily="18"/>
                <a:ea typeface="DejaVu Sans" pitchFamily="2"/>
                <a:cs typeface="DejaVu Sans" pitchFamily="2"/>
              </a:defRPr>
            </a:lvl5pPr>
            <a:lvl6pPr marL="2450880" marR="0" lvl="5" indent="-228600" algn="l" rtl="0" hangingPunct="1">
              <a:lnSpc>
                <a:spcPct val="100000"/>
              </a:lnSpc>
              <a:spcBef>
                <a:spcPts val="499"/>
              </a:spcBef>
              <a:spcAft>
                <a:spcPts val="0"/>
              </a:spcAft>
              <a:buClr>
                <a:srgbClr val="000066"/>
              </a:buClr>
              <a:buSzPct val="100000"/>
              <a:buFont typeface="Times New Roman" pitchFamily="18"/>
              <a:buChar char="•"/>
              <a:tabLst>
                <a:tab pos="291960" algn="l"/>
                <a:tab pos="1206359" algn="l"/>
                <a:tab pos="2120760" algn="l"/>
                <a:tab pos="3035159" algn="l"/>
                <a:tab pos="3949560" algn="l"/>
                <a:tab pos="4863960" algn="l"/>
                <a:tab pos="5778360" algn="l"/>
                <a:tab pos="6692760" algn="l"/>
                <a:tab pos="7607160" algn="l"/>
              </a:tabLst>
              <a:defRPr lang="en-US" sz="2000" b="0" i="0" u="none" strike="noStrike" baseline="0">
                <a:ln>
                  <a:noFill/>
                </a:ln>
                <a:solidFill>
                  <a:srgbClr val="000066"/>
                </a:solidFill>
                <a:latin typeface="Times New Roman" pitchFamily="18"/>
                <a:ea typeface="DejaVu Sans" pitchFamily="2"/>
                <a:cs typeface="DejaVu Sans" pitchFamily="2"/>
              </a:defRPr>
            </a:lvl6pPr>
            <a:lvl7pPr marL="2450880" marR="0" lvl="6" indent="-228600" algn="l" rtl="0" hangingPunct="1">
              <a:lnSpc>
                <a:spcPct val="100000"/>
              </a:lnSpc>
              <a:spcBef>
                <a:spcPts val="499"/>
              </a:spcBef>
              <a:spcAft>
                <a:spcPts val="0"/>
              </a:spcAft>
              <a:buClr>
                <a:srgbClr val="000066"/>
              </a:buClr>
              <a:buSzPct val="100000"/>
              <a:buFont typeface="Times New Roman" pitchFamily="18"/>
              <a:buChar char="•"/>
              <a:tabLst>
                <a:tab pos="291960" algn="l"/>
                <a:tab pos="1206359" algn="l"/>
                <a:tab pos="2120760" algn="l"/>
                <a:tab pos="3035159" algn="l"/>
                <a:tab pos="3949560" algn="l"/>
                <a:tab pos="4863960" algn="l"/>
                <a:tab pos="5778360" algn="l"/>
                <a:tab pos="6692760" algn="l"/>
                <a:tab pos="7607160" algn="l"/>
              </a:tabLst>
              <a:defRPr lang="en-US" sz="2000" b="0" i="0" u="none" strike="noStrike" baseline="0">
                <a:ln>
                  <a:noFill/>
                </a:ln>
                <a:solidFill>
                  <a:srgbClr val="000066"/>
                </a:solidFill>
                <a:latin typeface="Times New Roman" pitchFamily="18"/>
                <a:ea typeface="DejaVu Sans" pitchFamily="2"/>
                <a:cs typeface="DejaVu Sans" pitchFamily="2"/>
              </a:defRPr>
            </a:lvl7pPr>
            <a:lvl8pPr marL="2450880" marR="0" lvl="7" indent="-228600" algn="l" rtl="0" hangingPunct="1">
              <a:lnSpc>
                <a:spcPct val="100000"/>
              </a:lnSpc>
              <a:spcBef>
                <a:spcPts val="499"/>
              </a:spcBef>
              <a:spcAft>
                <a:spcPts val="0"/>
              </a:spcAft>
              <a:buClr>
                <a:srgbClr val="000066"/>
              </a:buClr>
              <a:buSzPct val="100000"/>
              <a:buFont typeface="Times New Roman" pitchFamily="18"/>
              <a:buChar char="•"/>
              <a:tabLst>
                <a:tab pos="291960" algn="l"/>
                <a:tab pos="1206359" algn="l"/>
                <a:tab pos="2120760" algn="l"/>
                <a:tab pos="3035159" algn="l"/>
                <a:tab pos="3949560" algn="l"/>
                <a:tab pos="4863960" algn="l"/>
                <a:tab pos="5778360" algn="l"/>
                <a:tab pos="6692760" algn="l"/>
                <a:tab pos="7607160" algn="l"/>
              </a:tabLst>
              <a:defRPr lang="en-US" sz="2000" b="0" i="0" u="none" strike="noStrike" baseline="0">
                <a:ln>
                  <a:noFill/>
                </a:ln>
                <a:solidFill>
                  <a:srgbClr val="000066"/>
                </a:solidFill>
                <a:latin typeface="Times New Roman" pitchFamily="18"/>
                <a:ea typeface="DejaVu Sans" pitchFamily="2"/>
                <a:cs typeface="DejaVu Sans" pitchFamily="2"/>
              </a:defRPr>
            </a:lvl8pPr>
            <a:lvl9pPr marL="2450880" marR="0" lvl="8" indent="-228600" algn="l" rtl="0" hangingPunct="1">
              <a:lnSpc>
                <a:spcPct val="100000"/>
              </a:lnSpc>
              <a:spcBef>
                <a:spcPts val="499"/>
              </a:spcBef>
              <a:spcAft>
                <a:spcPts val="0"/>
              </a:spcAft>
              <a:buClr>
                <a:srgbClr val="000066"/>
              </a:buClr>
              <a:buSzPct val="100000"/>
              <a:buFont typeface="Times New Roman" pitchFamily="18"/>
              <a:buChar char="•"/>
              <a:tabLst>
                <a:tab pos="291960" algn="l"/>
                <a:tab pos="1206359" algn="l"/>
                <a:tab pos="2120760" algn="l"/>
                <a:tab pos="3035159" algn="l"/>
                <a:tab pos="3949560" algn="l"/>
                <a:tab pos="4863960" algn="l"/>
                <a:tab pos="5778360" algn="l"/>
                <a:tab pos="6692760" algn="l"/>
                <a:tab pos="7607160" algn="l"/>
              </a:tabLst>
              <a:defRPr lang="en-US" sz="2000" b="0" i="0" u="none" strike="noStrike" baseline="0">
                <a:ln>
                  <a:noFill/>
                </a:ln>
                <a:solidFill>
                  <a:srgbClr val="000066"/>
                </a:solidFill>
                <a:latin typeface="Times New Roman" pitchFamily="18"/>
                <a:ea typeface="DejaVu Sans" pitchFamily="2"/>
                <a:cs typeface="DejaVu Sans" pitchFamily="2"/>
              </a:defRPr>
            </a:lvl9pPr>
          </a:lstStyle>
          <a:p>
            <a:pPr marL="0" indent="0">
              <a:spcBef>
                <a:spcPts val="0"/>
              </a:spcBef>
            </a:pPr>
            <a:r>
              <a:rPr lang="en-US" sz="1800" b="0" dirty="0" smtClean="0">
                <a:effectLst/>
                <a:latin typeface="Consolas"/>
                <a:cs typeface="Consolas"/>
              </a:rPr>
              <a:t>FILE * </a:t>
            </a:r>
            <a:r>
              <a:rPr lang="en-US" sz="1800" b="0" dirty="0" err="1" smtClean="0">
                <a:effectLst/>
                <a:latin typeface="Consolas"/>
                <a:cs typeface="Consolas"/>
              </a:rPr>
              <a:t>pFile</a:t>
            </a:r>
            <a:r>
              <a:rPr lang="en-US" sz="1800" b="0" dirty="0" smtClean="0">
                <a:effectLst/>
                <a:latin typeface="Consolas"/>
                <a:cs typeface="Consolas"/>
              </a:rPr>
              <a:t>; //pointer to FILE object</a:t>
            </a:r>
          </a:p>
          <a:p>
            <a:pPr marL="0" indent="0">
              <a:spcBef>
                <a:spcPts val="0"/>
              </a:spcBef>
            </a:pPr>
            <a:endParaRPr lang="en-US" sz="1800" b="0" dirty="0" smtClean="0">
              <a:effectLst/>
              <a:latin typeface="Consolas"/>
              <a:cs typeface="Consolas"/>
            </a:endParaRPr>
          </a:p>
          <a:p>
            <a:pPr marL="0" indent="0">
              <a:spcBef>
                <a:spcPts val="0"/>
              </a:spcBef>
            </a:pPr>
            <a:r>
              <a:rPr lang="en-US" sz="1800" b="0" dirty="0" err="1" smtClean="0">
                <a:effectLst/>
                <a:latin typeface="Consolas"/>
                <a:cs typeface="Consolas"/>
              </a:rPr>
              <a:t>pFile</a:t>
            </a:r>
            <a:r>
              <a:rPr lang="en-US" sz="1800" b="0" dirty="0" smtClean="0">
                <a:effectLst/>
                <a:latin typeface="Consolas"/>
                <a:cs typeface="Consolas"/>
              </a:rPr>
              <a:t> = </a:t>
            </a:r>
            <a:r>
              <a:rPr lang="en-US" sz="1800" b="0" dirty="0" err="1" smtClean="0">
                <a:effectLst/>
                <a:latin typeface="Consolas"/>
                <a:cs typeface="Consolas"/>
              </a:rPr>
              <a:t>fopen</a:t>
            </a:r>
            <a:r>
              <a:rPr lang="en-US" sz="1800" b="0" dirty="0" smtClean="0">
                <a:effectLst/>
                <a:latin typeface="Consolas"/>
                <a:cs typeface="Consolas"/>
              </a:rPr>
              <a:t> (</a:t>
            </a:r>
            <a:r>
              <a:rPr sz="1800" b="0" dirty="0" smtClean="0">
                <a:effectLst/>
                <a:latin typeface="Consolas"/>
                <a:cs typeface="Consolas"/>
              </a:rPr>
              <a:t>"tracefile.txt"</a:t>
            </a:r>
            <a:r>
              <a:rPr lang="en-US" sz="1800" b="0" dirty="0" smtClean="0">
                <a:effectLst/>
                <a:latin typeface="Consolas"/>
                <a:cs typeface="Consolas"/>
              </a:rPr>
              <a:t>,“</a:t>
            </a:r>
            <a:r>
              <a:rPr lang="en-US" sz="1800" b="0" dirty="0" err="1" smtClean="0">
                <a:effectLst/>
                <a:latin typeface="Consolas"/>
                <a:cs typeface="Consolas"/>
              </a:rPr>
              <a:t>r</a:t>
            </a:r>
            <a:r>
              <a:rPr lang="en-US" sz="1800" b="0" dirty="0" smtClean="0">
                <a:effectLst/>
                <a:latin typeface="Consolas"/>
                <a:cs typeface="Consolas"/>
              </a:rPr>
              <a:t>"); //open file for reading</a:t>
            </a:r>
          </a:p>
          <a:p>
            <a:pPr marL="0" indent="0">
              <a:spcBef>
                <a:spcPts val="0"/>
              </a:spcBef>
            </a:pPr>
            <a:endParaRPr lang="en-US" sz="1800" b="0" dirty="0" smtClean="0">
              <a:effectLst/>
              <a:latin typeface="Consolas"/>
              <a:cs typeface="Consolas"/>
            </a:endParaRPr>
          </a:p>
          <a:p>
            <a:pPr marL="0" indent="0">
              <a:spcBef>
                <a:spcPts val="0"/>
              </a:spcBef>
            </a:pPr>
            <a:r>
              <a:rPr lang="en-US" sz="1800" b="0" dirty="0" smtClean="0">
                <a:effectLst/>
                <a:latin typeface="Consolas"/>
                <a:cs typeface="Consolas"/>
              </a:rPr>
              <a:t>char </a:t>
            </a:r>
            <a:r>
              <a:rPr sz="1800" b="0" dirty="0" smtClean="0">
                <a:effectLst/>
                <a:latin typeface="Consolas"/>
                <a:cs typeface="Consolas"/>
              </a:rPr>
              <a:t>identifier</a:t>
            </a:r>
            <a:r>
              <a:rPr lang="en-US" sz="1800" b="0" dirty="0" smtClean="0">
                <a:effectLst/>
                <a:latin typeface="Consolas"/>
                <a:cs typeface="Consolas"/>
              </a:rPr>
              <a:t>;</a:t>
            </a:r>
            <a:endParaRPr sz="1800" b="0" dirty="0" smtClean="0">
              <a:effectLst/>
              <a:latin typeface="Consolas"/>
              <a:cs typeface="Consolas"/>
            </a:endParaRPr>
          </a:p>
          <a:p>
            <a:pPr marL="0" indent="0">
              <a:spcBef>
                <a:spcPts val="0"/>
              </a:spcBef>
            </a:pPr>
            <a:r>
              <a:rPr lang="en-US" sz="1800" b="0" dirty="0" smtClean="0">
                <a:effectLst/>
                <a:latin typeface="Consolas"/>
                <a:cs typeface="Consolas"/>
              </a:rPr>
              <a:t>u</a:t>
            </a:r>
            <a:r>
              <a:rPr sz="1800" b="0" dirty="0" smtClean="0">
                <a:effectLst/>
                <a:latin typeface="Consolas"/>
                <a:cs typeface="Consolas"/>
              </a:rPr>
              <a:t>nsigned address;</a:t>
            </a:r>
          </a:p>
          <a:p>
            <a:pPr marL="0" indent="0">
              <a:spcBef>
                <a:spcPts val="0"/>
              </a:spcBef>
            </a:pPr>
            <a:r>
              <a:rPr sz="1800" b="0" dirty="0" smtClean="0">
                <a:effectLst/>
                <a:latin typeface="Consolas"/>
                <a:cs typeface="Consolas"/>
              </a:rPr>
              <a:t>int size;</a:t>
            </a:r>
            <a:endParaRPr lang="en-US" sz="1800" b="0" dirty="0" smtClean="0">
              <a:effectLst/>
              <a:latin typeface="Consolas"/>
              <a:cs typeface="Consolas"/>
            </a:endParaRPr>
          </a:p>
          <a:p>
            <a:pPr marL="0" indent="0">
              <a:spcBef>
                <a:spcPts val="0"/>
              </a:spcBef>
            </a:pPr>
            <a:r>
              <a:rPr lang="en-US" sz="1800" b="0" dirty="0" smtClean="0">
                <a:effectLst/>
                <a:latin typeface="Consolas"/>
                <a:cs typeface="Consolas"/>
              </a:rPr>
              <a:t>//</a:t>
            </a:r>
            <a:r>
              <a:rPr sz="1800" b="0" dirty="0" smtClean="0">
                <a:effectLst/>
                <a:latin typeface="Consolas"/>
                <a:cs typeface="Consolas"/>
              </a:rPr>
              <a:t> Reading lines like " M 20,1" or "L 19,3"</a:t>
            </a:r>
            <a:endParaRPr lang="en-US" sz="1800" b="0" dirty="0" smtClean="0">
              <a:effectLst/>
              <a:latin typeface="Consolas"/>
              <a:cs typeface="Consolas"/>
            </a:endParaRPr>
          </a:p>
          <a:p>
            <a:pPr marL="0" indent="0">
              <a:spcBef>
                <a:spcPts val="0"/>
              </a:spcBef>
            </a:pPr>
            <a:endParaRPr lang="en-US" sz="1800" b="0" dirty="0" smtClean="0">
              <a:effectLst/>
              <a:latin typeface="Consolas"/>
              <a:cs typeface="Consolas"/>
            </a:endParaRPr>
          </a:p>
          <a:p>
            <a:pPr marL="0" indent="0">
              <a:spcBef>
                <a:spcPts val="0"/>
              </a:spcBef>
            </a:pPr>
            <a:r>
              <a:rPr lang="en-US" sz="1800" b="0" dirty="0" smtClean="0">
                <a:effectLst/>
                <a:latin typeface="Consolas"/>
                <a:cs typeface="Consolas"/>
              </a:rPr>
              <a:t>while(</a:t>
            </a:r>
            <a:r>
              <a:rPr lang="en-US" sz="1800" b="0" dirty="0" err="1" smtClean="0">
                <a:effectLst/>
                <a:latin typeface="Consolas"/>
                <a:cs typeface="Consolas"/>
              </a:rPr>
              <a:t>fscanf</a:t>
            </a:r>
            <a:r>
              <a:rPr lang="en-US" sz="1800" b="0" dirty="0" smtClean="0">
                <a:effectLst/>
                <a:latin typeface="Consolas"/>
                <a:cs typeface="Consolas"/>
              </a:rPr>
              <a:t>(</a:t>
            </a:r>
            <a:r>
              <a:rPr lang="en-US" sz="1800" b="0" dirty="0" err="1" smtClean="0">
                <a:effectLst/>
                <a:latin typeface="Consolas"/>
                <a:cs typeface="Consolas"/>
              </a:rPr>
              <a:t>pFile</a:t>
            </a:r>
            <a:r>
              <a:rPr lang="en-US" sz="1800" b="0" dirty="0" smtClean="0">
                <a:effectLst/>
                <a:latin typeface="Consolas"/>
                <a:cs typeface="Consolas"/>
              </a:rPr>
              <a:t>,“</a:t>
            </a:r>
            <a:r>
              <a:rPr sz="1800" b="0" dirty="0" smtClean="0">
                <a:effectLst/>
                <a:latin typeface="Consolas"/>
                <a:cs typeface="Consolas"/>
              </a:rPr>
              <a:t> </a:t>
            </a:r>
            <a:r>
              <a:rPr lang="en-US" sz="1800" b="0" dirty="0" smtClean="0">
                <a:effectLst/>
                <a:latin typeface="Consolas"/>
                <a:cs typeface="Consolas"/>
              </a:rPr>
              <a:t>%</a:t>
            </a:r>
            <a:r>
              <a:rPr sz="1800" b="0" dirty="0" smtClean="0">
                <a:effectLst/>
                <a:latin typeface="Consolas"/>
                <a:cs typeface="Consolas"/>
              </a:rPr>
              <a:t>c </a:t>
            </a:r>
            <a:r>
              <a:rPr lang="en-US" sz="1800" b="0" dirty="0" smtClean="0">
                <a:effectLst/>
                <a:latin typeface="Consolas"/>
                <a:cs typeface="Consolas"/>
              </a:rPr>
              <a:t>%</a:t>
            </a:r>
            <a:r>
              <a:rPr sz="1800" b="0" dirty="0" smtClean="0">
                <a:effectLst/>
                <a:latin typeface="Consolas"/>
                <a:cs typeface="Consolas"/>
              </a:rPr>
              <a:t>x,%d</a:t>
            </a:r>
            <a:r>
              <a:rPr lang="en-US" sz="1800" b="0" dirty="0" smtClean="0">
                <a:effectLst/>
                <a:latin typeface="Consolas"/>
                <a:cs typeface="Consolas"/>
              </a:rPr>
              <a:t>”, &amp;</a:t>
            </a:r>
            <a:r>
              <a:rPr sz="1800" b="0" dirty="0" smtClean="0">
                <a:effectLst/>
                <a:latin typeface="Consolas"/>
                <a:cs typeface="Consolas"/>
              </a:rPr>
              <a:t>identifier</a:t>
            </a:r>
            <a:r>
              <a:rPr lang="en-US" sz="1800" b="0" dirty="0" smtClean="0">
                <a:effectLst/>
                <a:latin typeface="Consolas"/>
                <a:cs typeface="Consolas"/>
              </a:rPr>
              <a:t>, &amp;</a:t>
            </a:r>
            <a:r>
              <a:rPr sz="1800" b="0" dirty="0" smtClean="0">
                <a:effectLst/>
                <a:latin typeface="Consolas"/>
                <a:cs typeface="Consolas"/>
              </a:rPr>
              <a:t>address</a:t>
            </a:r>
            <a:r>
              <a:rPr lang="en-US" sz="1800" b="0" dirty="0" smtClean="0">
                <a:effectLst/>
                <a:latin typeface="Consolas"/>
                <a:cs typeface="Consolas"/>
              </a:rPr>
              <a:t>, &amp;</a:t>
            </a:r>
            <a:r>
              <a:rPr sz="1800" b="0" dirty="0" smtClean="0">
                <a:effectLst/>
                <a:latin typeface="Consolas"/>
                <a:cs typeface="Consolas"/>
              </a:rPr>
              <a:t>size</a:t>
            </a:r>
            <a:r>
              <a:rPr lang="en-US" sz="1800" b="0" dirty="0" smtClean="0">
                <a:effectLst/>
                <a:latin typeface="Consolas"/>
                <a:cs typeface="Consolas"/>
              </a:rPr>
              <a:t>)&gt;0)</a:t>
            </a:r>
          </a:p>
          <a:p>
            <a:pPr marL="0" indent="0">
              <a:spcBef>
                <a:spcPts val="0"/>
              </a:spcBef>
            </a:pPr>
            <a:r>
              <a:rPr lang="en-US" sz="1800" b="0" dirty="0" smtClean="0">
                <a:effectLst/>
                <a:latin typeface="Consolas"/>
                <a:cs typeface="Consolas"/>
              </a:rPr>
              <a:t>{</a:t>
            </a:r>
          </a:p>
          <a:p>
            <a:pPr marL="0" indent="0">
              <a:spcBef>
                <a:spcPts val="0"/>
              </a:spcBef>
            </a:pPr>
            <a:r>
              <a:rPr lang="en-US" sz="1800" b="0" dirty="0" smtClean="0">
                <a:effectLst/>
                <a:latin typeface="Consolas"/>
                <a:cs typeface="Consolas"/>
              </a:rPr>
              <a:t>	// Do stuff</a:t>
            </a:r>
          </a:p>
          <a:p>
            <a:pPr marL="0" indent="0">
              <a:spcBef>
                <a:spcPts val="0"/>
              </a:spcBef>
            </a:pPr>
            <a:r>
              <a:rPr lang="en-US" sz="1800" b="0" dirty="0" smtClean="0">
                <a:effectLst/>
                <a:latin typeface="Consolas"/>
                <a:cs typeface="Consolas"/>
              </a:rPr>
              <a:t>}</a:t>
            </a:r>
          </a:p>
          <a:p>
            <a:pPr marL="0" indent="0">
              <a:spcBef>
                <a:spcPts val="0"/>
              </a:spcBef>
            </a:pPr>
            <a:endParaRPr lang="en-US" sz="1800" b="0" dirty="0" smtClean="0">
              <a:effectLst/>
              <a:latin typeface="Consolas"/>
              <a:cs typeface="Consolas"/>
            </a:endParaRPr>
          </a:p>
          <a:p>
            <a:pPr marL="0" indent="0">
              <a:spcBef>
                <a:spcPts val="0"/>
              </a:spcBef>
            </a:pPr>
            <a:r>
              <a:rPr lang="en-US" sz="1800" b="0" dirty="0" err="1" smtClean="0">
                <a:effectLst/>
                <a:latin typeface="Consolas"/>
                <a:cs typeface="Consolas"/>
              </a:rPr>
              <a:t>fclose</a:t>
            </a:r>
            <a:r>
              <a:rPr lang="en-US" sz="1800" b="0" dirty="0" smtClean="0">
                <a:effectLst/>
                <a:latin typeface="Consolas"/>
                <a:cs typeface="Consolas"/>
              </a:rPr>
              <a:t>(</a:t>
            </a:r>
            <a:r>
              <a:rPr lang="en-US" sz="1800" b="0" dirty="0" err="1" smtClean="0">
                <a:effectLst/>
                <a:latin typeface="Consolas"/>
                <a:cs typeface="Consolas"/>
              </a:rPr>
              <a:t>pFile</a:t>
            </a:r>
            <a:r>
              <a:rPr lang="en-US" sz="1800" b="0" dirty="0" smtClean="0">
                <a:effectLst/>
                <a:latin typeface="Consolas"/>
                <a:cs typeface="Consolas"/>
              </a:rPr>
              <a:t>); //remember to close file when done</a:t>
            </a:r>
            <a:endParaRPr lang="en-US" sz="1800" b="0" dirty="0">
              <a:effectLst/>
              <a:latin typeface="Consolas"/>
              <a:cs typeface="Consolas"/>
            </a:endParaRPr>
          </a:p>
        </p:txBody>
      </p:sp>
    </p:spTree>
    <p:extLst>
      <p:ext uri="{BB962C8B-B14F-4D97-AF65-F5344CB8AC3E}">
        <p14:creationId xmlns:p14="http://schemas.microsoft.com/office/powerpoint/2010/main" val="1015075826"/>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a:t>
            </a:r>
            <a:r>
              <a:rPr lang="en-US" dirty="0" smtClean="0"/>
              <a:t>: </a:t>
            </a:r>
            <a:r>
              <a:rPr lang="en-US" dirty="0" err="1" smtClean="0"/>
              <a:t>Malloc</a:t>
            </a:r>
            <a:r>
              <a:rPr lang="en-US" dirty="0" smtClean="0"/>
              <a:t>/free</a:t>
            </a:r>
            <a:endParaRPr lang="en-US" dirty="0"/>
          </a:p>
        </p:txBody>
      </p:sp>
      <p:sp>
        <p:nvSpPr>
          <p:cNvPr id="4" name="Content Placeholder 3"/>
          <p:cNvSpPr>
            <a:spLocks noGrp="1"/>
          </p:cNvSpPr>
          <p:nvPr>
            <p:ph idx="1"/>
          </p:nvPr>
        </p:nvSpPr>
        <p:spPr/>
        <p:txBody>
          <a:bodyPr/>
          <a:lstStyle/>
          <a:p>
            <a:pPr marL="0" indent="0">
              <a:spcBef>
                <a:spcPts val="0"/>
              </a:spcBef>
            </a:pPr>
            <a:r>
              <a:rPr lang="en-US" dirty="0" smtClean="0"/>
              <a:t> Use </a:t>
            </a:r>
            <a:r>
              <a:rPr lang="en-US" dirty="0" err="1"/>
              <a:t>malloc</a:t>
            </a:r>
            <a:r>
              <a:rPr lang="en-US" dirty="0" smtClean="0"/>
              <a:t> to </a:t>
            </a:r>
            <a:r>
              <a:rPr lang="en-US" dirty="0"/>
              <a:t>allocate memory on the</a:t>
            </a:r>
            <a:r>
              <a:rPr lang="en-US" dirty="0" smtClean="0"/>
              <a:t> heap </a:t>
            </a:r>
            <a:endParaRPr lang="en-US" dirty="0"/>
          </a:p>
          <a:p>
            <a:pPr marL="0" indent="0">
              <a:spcBef>
                <a:spcPts val="0"/>
              </a:spcBef>
            </a:pPr>
            <a:endParaRPr lang="en-US" dirty="0"/>
          </a:p>
          <a:p>
            <a:pPr marL="0" indent="0">
              <a:spcBef>
                <a:spcPts val="0"/>
              </a:spcBef>
            </a:pPr>
            <a:r>
              <a:rPr lang="en-US" dirty="0"/>
              <a:t> </a:t>
            </a:r>
            <a:r>
              <a:rPr lang="en-US" dirty="0" smtClean="0"/>
              <a:t>Always </a:t>
            </a:r>
            <a:r>
              <a:rPr lang="en-US" dirty="0"/>
              <a:t>free what you </a:t>
            </a:r>
            <a:r>
              <a:rPr lang="en-US" dirty="0" err="1"/>
              <a:t>malloc</a:t>
            </a:r>
            <a:r>
              <a:rPr lang="en-US" dirty="0"/>
              <a:t>, otherwise may </a:t>
            </a:r>
            <a:endParaRPr lang="en-US" dirty="0" smtClean="0"/>
          </a:p>
          <a:p>
            <a:pPr marL="0" indent="0">
              <a:spcBef>
                <a:spcPts val="0"/>
              </a:spcBef>
              <a:buNone/>
            </a:pPr>
            <a:r>
              <a:rPr lang="en-US" dirty="0" smtClean="0"/>
              <a:t>   get </a:t>
            </a:r>
            <a:r>
              <a:rPr lang="en-US" dirty="0"/>
              <a:t>memory leak</a:t>
            </a:r>
          </a:p>
          <a:p>
            <a:pPr lvl="1"/>
            <a:r>
              <a:rPr lang="en-US" dirty="0" err="1"/>
              <a:t>s</a:t>
            </a:r>
            <a:r>
              <a:rPr lang="en-US" dirty="0" err="1" smtClean="0"/>
              <a:t>ome_pointer_you_malloced</a:t>
            </a:r>
            <a:r>
              <a:rPr lang="en-US" dirty="0" smtClean="0"/>
              <a:t> </a:t>
            </a:r>
            <a:r>
              <a:rPr lang="en-US" dirty="0"/>
              <a:t>= </a:t>
            </a:r>
            <a:r>
              <a:rPr lang="en-US" dirty="0" err="1"/>
              <a:t>malloc</a:t>
            </a:r>
            <a:r>
              <a:rPr lang="en-US" dirty="0"/>
              <a:t>(</a:t>
            </a:r>
            <a:r>
              <a:rPr lang="en-US" dirty="0" err="1"/>
              <a:t>sizeof</a:t>
            </a:r>
            <a:r>
              <a:rPr lang="en-US" dirty="0"/>
              <a:t>(</a:t>
            </a:r>
            <a:r>
              <a:rPr lang="en-US" dirty="0" err="1"/>
              <a:t>int</a:t>
            </a:r>
            <a:r>
              <a:rPr lang="en-US" dirty="0"/>
              <a:t>));</a:t>
            </a:r>
          </a:p>
          <a:p>
            <a:pPr lvl="1"/>
            <a:r>
              <a:rPr lang="en-US" dirty="0"/>
              <a:t>Free(</a:t>
            </a:r>
            <a:r>
              <a:rPr lang="en-US" dirty="0" err="1"/>
              <a:t>some_pointer_you_malloced</a:t>
            </a:r>
            <a:r>
              <a:rPr lang="en-US" dirty="0"/>
              <a:t>)</a:t>
            </a:r>
            <a:r>
              <a:rPr lang="en-US" dirty="0" smtClean="0"/>
              <a:t>;</a:t>
            </a:r>
          </a:p>
          <a:p>
            <a:pPr lvl="1"/>
            <a:endParaRPr lang="en-US" dirty="0"/>
          </a:p>
          <a:p>
            <a:r>
              <a:rPr lang="en-US" dirty="0" smtClean="0"/>
              <a:t>Don’t </a:t>
            </a:r>
            <a:r>
              <a:rPr lang="en-US" dirty="0"/>
              <a:t>free memory you didn’t </a:t>
            </a:r>
            <a:r>
              <a:rPr lang="en-US" dirty="0" smtClean="0"/>
              <a:t>allocate</a:t>
            </a:r>
          </a:p>
          <a:p>
            <a:pPr marL="0" indent="0">
              <a:spcBef>
                <a:spcPts val="0"/>
              </a:spcBef>
            </a:pPr>
            <a:endParaRPr lang="en-US" dirty="0"/>
          </a:p>
          <a:p>
            <a:r>
              <a:rPr lang="en-US" dirty="0" smtClean="0"/>
              <a:t>Allocate an array of cache sets, then loop through and allocate the cache lines. Free up the cache by looping through first, then freeing the array of cache sets.</a:t>
            </a:r>
            <a:endParaRPr lang="en-US" dirty="0"/>
          </a:p>
        </p:txBody>
      </p:sp>
    </p:spTree>
    <p:extLst>
      <p:ext uri="{BB962C8B-B14F-4D97-AF65-F5344CB8AC3E}">
        <p14:creationId xmlns:p14="http://schemas.microsoft.com/office/powerpoint/2010/main" val="1466055569"/>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p:cNvGraphicFramePr>
            <a:graphicFrameLocks noGrp="1"/>
          </p:cNvGraphicFramePr>
          <p:nvPr>
            <p:extLst>
              <p:ext uri="{D42A27DB-BD31-4B8C-83A1-F6EECF244321}">
                <p14:modId xmlns:p14="http://schemas.microsoft.com/office/powerpoint/2010/main" val="1792092637"/>
              </p:ext>
            </p:extLst>
          </p:nvPr>
        </p:nvGraphicFramePr>
        <p:xfrm>
          <a:off x="5867400" y="26670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tc>
                  <a:txBody>
                    <a:bodyPr/>
                    <a:lstStyle/>
                    <a:p>
                      <a:r>
                        <a:rPr lang="en-US" dirty="0" smtClean="0"/>
                        <a:t>13</a:t>
                      </a:r>
                      <a:endParaRPr lang="en-US" dirty="0"/>
                    </a:p>
                  </a:txBody>
                  <a:tcPr/>
                </a:tc>
              </a:tr>
              <a:tr h="527050">
                <a:tc>
                  <a:txBody>
                    <a:bodyPr/>
                    <a:lstStyle/>
                    <a:p>
                      <a:r>
                        <a:rPr lang="en-US" dirty="0" smtClean="0"/>
                        <a:t>2</a:t>
                      </a:r>
                      <a:endParaRPr lang="en-US" dirty="0"/>
                    </a:p>
                  </a:txBody>
                  <a:tcPr/>
                </a:tc>
                <a:tc>
                  <a:txBody>
                    <a:bodyPr/>
                    <a:lstStyle/>
                    <a:p>
                      <a:r>
                        <a:rPr lang="en-US" dirty="0" smtClean="0"/>
                        <a:t>6</a:t>
                      </a:r>
                      <a:endParaRPr lang="en-US" dirty="0"/>
                    </a:p>
                  </a:txBody>
                  <a:tcPr/>
                </a:tc>
                <a:tc>
                  <a:txBody>
                    <a:bodyPr/>
                    <a:lstStyle/>
                    <a:p>
                      <a:r>
                        <a:rPr lang="en-US" dirty="0" smtClean="0"/>
                        <a:t>10</a:t>
                      </a:r>
                      <a:endParaRPr lang="en-US" dirty="0"/>
                    </a:p>
                  </a:txBody>
                  <a:tcPr/>
                </a:tc>
                <a:tc>
                  <a:txBody>
                    <a:bodyPr/>
                    <a:lstStyle/>
                    <a:p>
                      <a:r>
                        <a:rPr lang="en-US" dirty="0" smtClean="0"/>
                        <a:t>14</a:t>
                      </a:r>
                      <a:endParaRPr lang="en-US" dirty="0"/>
                    </a:p>
                  </a:txBody>
                  <a:tcPr/>
                </a:tc>
              </a:tr>
              <a:tr h="527050">
                <a:tc>
                  <a:txBody>
                    <a:bodyPr/>
                    <a:lstStyle/>
                    <a:p>
                      <a:r>
                        <a:rPr lang="en-US" dirty="0" smtClean="0"/>
                        <a:t>3</a:t>
                      </a:r>
                      <a:endParaRPr lang="en-US" dirty="0"/>
                    </a:p>
                  </a:txBody>
                  <a:tcPr/>
                </a:tc>
                <a:tc>
                  <a:txBody>
                    <a:bodyPr/>
                    <a:lstStyle/>
                    <a:p>
                      <a:r>
                        <a:rPr lang="en-US" dirty="0" smtClean="0"/>
                        <a:t>7</a:t>
                      </a:r>
                      <a:endParaRPr lang="en-US" dirty="0"/>
                    </a:p>
                  </a:txBody>
                  <a:tcPr/>
                </a:tc>
                <a:tc>
                  <a:txBody>
                    <a:bodyPr/>
                    <a:lstStyle/>
                    <a:p>
                      <a:r>
                        <a:rPr lang="en-US" dirty="0" smtClean="0"/>
                        <a:t>11</a:t>
                      </a:r>
                      <a:endParaRPr lang="en-US" dirty="0"/>
                    </a:p>
                  </a:txBody>
                  <a:tcPr/>
                </a:tc>
                <a:tc>
                  <a:txBody>
                    <a:bodyPr/>
                    <a:lstStyle/>
                    <a:p>
                      <a:r>
                        <a:rPr lang="en-US" dirty="0" smtClean="0"/>
                        <a:t>15</a:t>
                      </a:r>
                      <a:endParaRPr lang="en-US" dirty="0"/>
                    </a:p>
                  </a:txBody>
                  <a:tcPr/>
                </a:tc>
              </a:tr>
              <a:tr h="527050">
                <a:tc>
                  <a:txBody>
                    <a:bodyPr/>
                    <a:lstStyle/>
                    <a:p>
                      <a:r>
                        <a:rPr lang="en-US" dirty="0" smtClean="0"/>
                        <a:t>4</a:t>
                      </a:r>
                      <a:endParaRPr lang="en-US" dirty="0"/>
                    </a:p>
                  </a:txBody>
                  <a:tcPr/>
                </a:tc>
                <a:tc>
                  <a:txBody>
                    <a:bodyPr/>
                    <a:lstStyle/>
                    <a:p>
                      <a:r>
                        <a:rPr lang="en-US" dirty="0" smtClean="0"/>
                        <a:t>8</a:t>
                      </a:r>
                      <a:endParaRPr lang="en-US" dirty="0"/>
                    </a:p>
                  </a:txBody>
                  <a:tcPr/>
                </a:tc>
                <a:tc>
                  <a:txBody>
                    <a:bodyPr/>
                    <a:lstStyle/>
                    <a:p>
                      <a:r>
                        <a:rPr lang="en-US" dirty="0" smtClean="0"/>
                        <a:t>12</a:t>
                      </a:r>
                      <a:endParaRPr lang="en-US" dirty="0"/>
                    </a:p>
                  </a:txBody>
                  <a:tcPr/>
                </a:tc>
                <a:tc>
                  <a:txBody>
                    <a:bodyPr/>
                    <a:lstStyle/>
                    <a:p>
                      <a:r>
                        <a:rPr lang="en-US" dirty="0" smtClean="0"/>
                        <a:t>16</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095733301"/>
              </p:ext>
            </p:extLst>
          </p:nvPr>
        </p:nvGraphicFramePr>
        <p:xfrm>
          <a:off x="1447800" y="27686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r>
              <a:tr h="527050">
                <a:tc>
                  <a:txBody>
                    <a:bodyPr/>
                    <a:lstStyle/>
                    <a:p>
                      <a:r>
                        <a:rPr lang="en-US" dirty="0" smtClean="0"/>
                        <a:t>5</a:t>
                      </a:r>
                      <a:endParaRPr lang="en-US" dirty="0"/>
                    </a:p>
                  </a:txBody>
                  <a:tcPr/>
                </a:tc>
                <a:tc>
                  <a:txBody>
                    <a:bodyPr/>
                    <a:lstStyle/>
                    <a:p>
                      <a:r>
                        <a:rPr lang="en-US" dirty="0" smtClean="0"/>
                        <a:t>6</a:t>
                      </a:r>
                      <a:endParaRPr lang="en-US" dirty="0"/>
                    </a:p>
                  </a:txBody>
                  <a:tcPr/>
                </a:tc>
                <a:tc>
                  <a:txBody>
                    <a:bodyPr/>
                    <a:lstStyle/>
                    <a:p>
                      <a:r>
                        <a:rPr lang="en-US" dirty="0" smtClean="0"/>
                        <a:t>7</a:t>
                      </a:r>
                      <a:endParaRPr lang="en-US" dirty="0"/>
                    </a:p>
                  </a:txBody>
                  <a:tcPr/>
                </a:tc>
                <a:tc>
                  <a:txBody>
                    <a:bodyPr/>
                    <a:lstStyle/>
                    <a:p>
                      <a:r>
                        <a:rPr lang="en-US" dirty="0" smtClean="0"/>
                        <a:t>8</a:t>
                      </a:r>
                      <a:endParaRPr lang="en-US" dirty="0"/>
                    </a:p>
                  </a:txBody>
                  <a:tcPr/>
                </a:tc>
              </a:tr>
              <a:tr h="527050">
                <a:tc>
                  <a:txBody>
                    <a:bodyPr/>
                    <a:lstStyle/>
                    <a:p>
                      <a:r>
                        <a:rPr lang="en-US" dirty="0" smtClean="0"/>
                        <a:t>9</a:t>
                      </a:r>
                      <a:endParaRPr lang="en-US" dirty="0"/>
                    </a:p>
                  </a:txBody>
                  <a:tcPr/>
                </a:tc>
                <a:tc>
                  <a:txBody>
                    <a:bodyPr/>
                    <a:lstStyle/>
                    <a:p>
                      <a:r>
                        <a:rPr lang="en-US" dirty="0" smtClean="0"/>
                        <a:t>10</a:t>
                      </a:r>
                      <a:endParaRPr lang="en-US" dirty="0"/>
                    </a:p>
                  </a:txBody>
                  <a:tcPr/>
                </a:tc>
                <a:tc>
                  <a:txBody>
                    <a:bodyPr/>
                    <a:lstStyle/>
                    <a:p>
                      <a:r>
                        <a:rPr lang="en-US" dirty="0" smtClean="0"/>
                        <a:t>11</a:t>
                      </a:r>
                      <a:endParaRPr lang="en-US" dirty="0"/>
                    </a:p>
                  </a:txBody>
                  <a:tcPr/>
                </a:tc>
                <a:tc>
                  <a:txBody>
                    <a:bodyPr/>
                    <a:lstStyle/>
                    <a:p>
                      <a:r>
                        <a:rPr lang="en-US" dirty="0" smtClean="0"/>
                        <a:t>12</a:t>
                      </a:r>
                      <a:endParaRPr lang="en-US" dirty="0"/>
                    </a:p>
                  </a:txBody>
                  <a:tcPr/>
                </a:tc>
              </a:tr>
              <a:tr h="527050">
                <a:tc>
                  <a:txBody>
                    <a:bodyPr/>
                    <a:lstStyle/>
                    <a:p>
                      <a:r>
                        <a:rPr lang="en-US" dirty="0" smtClean="0"/>
                        <a:t>13</a:t>
                      </a:r>
                      <a:endParaRPr lang="en-US" dirty="0"/>
                    </a:p>
                  </a:txBody>
                  <a:tcPr/>
                </a:tc>
                <a:tc>
                  <a:txBody>
                    <a:bodyPr/>
                    <a:lstStyle/>
                    <a:p>
                      <a:r>
                        <a:rPr lang="en-US" dirty="0" smtClean="0"/>
                        <a:t>14</a:t>
                      </a:r>
                      <a:endParaRPr lang="en-US" dirty="0"/>
                    </a:p>
                  </a:txBody>
                  <a:tcPr/>
                </a:tc>
                <a:tc>
                  <a:txBody>
                    <a:bodyPr/>
                    <a:lstStyle/>
                    <a:p>
                      <a:r>
                        <a:rPr lang="en-US" dirty="0" smtClean="0"/>
                        <a:t>15</a:t>
                      </a:r>
                      <a:endParaRPr lang="en-US" dirty="0"/>
                    </a:p>
                  </a:txBody>
                  <a:tcPr/>
                </a:tc>
                <a:tc>
                  <a:txBody>
                    <a:bodyPr/>
                    <a:lstStyle/>
                    <a:p>
                      <a:r>
                        <a:rPr lang="en-US" dirty="0" smtClean="0"/>
                        <a:t>16</a:t>
                      </a:r>
                      <a:endParaRPr lang="en-US" dirty="0"/>
                    </a:p>
                  </a:txBody>
                  <a:tcPr/>
                </a:tc>
              </a:tr>
            </a:tbl>
          </a:graphicData>
        </a:graphic>
      </p:graphicFrame>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 Efficient Matrix Transpose</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Matrix Transpose  (A  -&gt;  B)</a:t>
            </a:r>
          </a:p>
          <a:p>
            <a:pPr marL="0" indent="0">
              <a:buNone/>
            </a:pPr>
            <a:r>
              <a:rPr lang="en-US" dirty="0">
                <a:latin typeface="Helvetica" pitchFamily="34" charset="0"/>
                <a:cs typeface="Helvetica" pitchFamily="34" charset="0"/>
              </a:rPr>
              <a:t>	</a:t>
            </a:r>
            <a:r>
              <a:rPr lang="en-US" dirty="0" smtClean="0">
                <a:latin typeface="Helvetica" pitchFamily="34" charset="0"/>
                <a:cs typeface="Helvetica" pitchFamily="34" charset="0"/>
              </a:rPr>
              <a:t>Matrix </a:t>
            </a:r>
            <a:r>
              <a:rPr lang="en-US" dirty="0">
                <a:latin typeface="Helvetica" pitchFamily="34" charset="0"/>
                <a:cs typeface="Helvetica" pitchFamily="34" charset="0"/>
              </a:rPr>
              <a:t>A 				</a:t>
            </a:r>
            <a:r>
              <a:rPr lang="en-US" dirty="0" smtClean="0">
                <a:latin typeface="Helvetica" pitchFamily="34" charset="0"/>
                <a:cs typeface="Helvetica" pitchFamily="34" charset="0"/>
              </a:rPr>
              <a:t>Matrix </a:t>
            </a:r>
            <a:r>
              <a:rPr lang="en-US" dirty="0">
                <a:latin typeface="Helvetica" pitchFamily="34" charset="0"/>
                <a:cs typeface="Helvetica" pitchFamily="34" charset="0"/>
              </a:rPr>
              <a:t>B</a:t>
            </a: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r>
              <a:rPr lang="en-US" dirty="0" smtClean="0">
                <a:latin typeface="Helvetica" pitchFamily="34" charset="0"/>
                <a:cs typeface="Helvetica" pitchFamily="34" charset="0"/>
              </a:rPr>
              <a:t>How </a:t>
            </a:r>
            <a:r>
              <a:rPr lang="en-US" dirty="0">
                <a:latin typeface="Helvetica" pitchFamily="34" charset="0"/>
                <a:cs typeface="Helvetica" pitchFamily="34" charset="0"/>
              </a:rPr>
              <a:t>do we optimize this operation using the cache?</a:t>
            </a:r>
          </a:p>
          <a:p>
            <a:endParaRPr lang="en-US" dirty="0"/>
          </a:p>
        </p:txBody>
      </p:sp>
      <p:sp>
        <p:nvSpPr>
          <p:cNvPr id="10" name="Rounded Rectangle 9"/>
          <p:cNvSpPr/>
          <p:nvPr/>
        </p:nvSpPr>
        <p:spPr>
          <a:xfrm>
            <a:off x="5797620" y="2667000"/>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191000" y="3429000"/>
            <a:ext cx="15240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rot="16200000">
            <a:off x="1666770" y="2499599"/>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1122218"/>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(b) : Efficient Matrix Transpose</a:t>
            </a:r>
            <a:endParaRPr lang="en-US" dirty="0"/>
          </a:p>
        </p:txBody>
      </p:sp>
      <p:pic>
        <p:nvPicPr>
          <p:cNvPr id="4" name="Content Placeholder 3" descr="Screen Shot 2013-10-05 at 7.10.09 PM.png"/>
          <p:cNvPicPr>
            <a:picLocks noGrp="1" noChangeAspect="1"/>
          </p:cNvPicPr>
          <p:nvPr>
            <p:ph idx="1"/>
          </p:nvPr>
        </p:nvPicPr>
        <p:blipFill>
          <a:blip r:embed="rId2"/>
          <a:stretch>
            <a:fillRect/>
          </a:stretch>
        </p:blipFill>
        <p:spPr>
          <a:xfrm>
            <a:off x="1622524" y="1905065"/>
            <a:ext cx="5446159" cy="2005311"/>
          </a:xfrm>
        </p:spPr>
      </p:pic>
      <p:sp>
        <p:nvSpPr>
          <p:cNvPr id="5" name="Content Placeholder 2"/>
          <p:cNvSpPr txBox="1">
            <a:spLocks/>
          </p:cNvSpPr>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r>
              <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rPr>
              <a:t>Suppose</a:t>
            </a:r>
            <a:r>
              <a:rPr kumimoji="0" lang="en-US" sz="2400" b="1" i="0" u="none" strike="noStrike" kern="0" cap="none" spc="0" normalizeH="0" noProof="0" dirty="0" smtClean="0">
                <a:ln>
                  <a:noFill/>
                </a:ln>
                <a:solidFill>
                  <a:schemeClr val="tx1"/>
                </a:solidFill>
                <a:effectLst/>
                <a:uLnTx/>
                <a:uFillTx/>
                <a:latin typeface="Calibri" pitchFamily="34" charset="0"/>
                <a:ea typeface="+mn-ea"/>
                <a:cs typeface="+mn-cs"/>
              </a:rPr>
              <a:t> Block size is 8 bytes ?</a:t>
            </a: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A[0][0] cache miss		 Should we handle 3 &amp; 4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B[0][0] cache miss		 next or 5 &amp; 6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A[0][1] cache hit</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B[1][0] cache miss</a:t>
            </a: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58507740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p:cNvGraphicFramePr>
            <a:graphicFrameLocks noGrp="1"/>
          </p:cNvGraphicFramePr>
          <p:nvPr>
            <p:extLst>
              <p:ext uri="{D42A27DB-BD31-4B8C-83A1-F6EECF244321}">
                <p14:modId xmlns:p14="http://schemas.microsoft.com/office/powerpoint/2010/main" val="1972471918"/>
              </p:ext>
            </p:extLst>
          </p:nvPr>
        </p:nvGraphicFramePr>
        <p:xfrm>
          <a:off x="5867400" y="26670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tc>
                  <a:txBody>
                    <a:bodyPr/>
                    <a:lstStyle/>
                    <a:p>
                      <a:r>
                        <a:rPr lang="en-US" dirty="0" smtClean="0"/>
                        <a:t>13</a:t>
                      </a:r>
                      <a:endParaRPr lang="en-US" dirty="0"/>
                    </a:p>
                  </a:txBody>
                  <a:tcPr/>
                </a:tc>
              </a:tr>
              <a:tr h="527050">
                <a:tc>
                  <a:txBody>
                    <a:bodyPr/>
                    <a:lstStyle/>
                    <a:p>
                      <a:r>
                        <a:rPr lang="en-US" dirty="0" smtClean="0"/>
                        <a:t>2</a:t>
                      </a:r>
                      <a:endParaRPr lang="en-US" dirty="0"/>
                    </a:p>
                  </a:txBody>
                  <a:tcPr/>
                </a:tc>
                <a:tc>
                  <a:txBody>
                    <a:bodyPr/>
                    <a:lstStyle/>
                    <a:p>
                      <a:r>
                        <a:rPr lang="en-US" dirty="0" smtClean="0"/>
                        <a:t>6</a:t>
                      </a:r>
                      <a:endParaRPr lang="en-US" dirty="0"/>
                    </a:p>
                  </a:txBody>
                  <a:tcPr/>
                </a:tc>
                <a:tc>
                  <a:txBody>
                    <a:bodyPr/>
                    <a:lstStyle/>
                    <a:p>
                      <a:r>
                        <a:rPr lang="en-US" dirty="0" smtClean="0"/>
                        <a:t>10</a:t>
                      </a:r>
                      <a:endParaRPr lang="en-US" dirty="0"/>
                    </a:p>
                  </a:txBody>
                  <a:tcPr/>
                </a:tc>
                <a:tc>
                  <a:txBody>
                    <a:bodyPr/>
                    <a:lstStyle/>
                    <a:p>
                      <a:r>
                        <a:rPr lang="en-US" dirty="0" smtClean="0"/>
                        <a:t>14</a:t>
                      </a:r>
                      <a:endParaRPr lang="en-US" dirty="0"/>
                    </a:p>
                  </a:txBody>
                  <a:tcPr/>
                </a:tc>
              </a:tr>
              <a:tr h="527050">
                <a:tc>
                  <a:txBody>
                    <a:bodyPr/>
                    <a:lstStyle/>
                    <a:p>
                      <a:r>
                        <a:rPr lang="en-US" dirty="0" smtClean="0"/>
                        <a:t>3</a:t>
                      </a:r>
                      <a:endParaRPr lang="en-US" dirty="0"/>
                    </a:p>
                  </a:txBody>
                  <a:tcPr/>
                </a:tc>
                <a:tc>
                  <a:txBody>
                    <a:bodyPr/>
                    <a:lstStyle/>
                    <a:p>
                      <a:r>
                        <a:rPr lang="en-US" dirty="0" smtClean="0"/>
                        <a:t>7</a:t>
                      </a:r>
                      <a:endParaRPr lang="en-US" dirty="0"/>
                    </a:p>
                  </a:txBody>
                  <a:tcPr/>
                </a:tc>
                <a:tc>
                  <a:txBody>
                    <a:bodyPr/>
                    <a:lstStyle/>
                    <a:p>
                      <a:r>
                        <a:rPr lang="en-US" dirty="0" smtClean="0"/>
                        <a:t>11</a:t>
                      </a:r>
                      <a:endParaRPr lang="en-US" dirty="0"/>
                    </a:p>
                  </a:txBody>
                  <a:tcPr/>
                </a:tc>
                <a:tc>
                  <a:txBody>
                    <a:bodyPr/>
                    <a:lstStyle/>
                    <a:p>
                      <a:r>
                        <a:rPr lang="en-US" dirty="0" smtClean="0"/>
                        <a:t>15</a:t>
                      </a:r>
                      <a:endParaRPr lang="en-US" dirty="0"/>
                    </a:p>
                  </a:txBody>
                  <a:tcPr/>
                </a:tc>
              </a:tr>
              <a:tr h="527050">
                <a:tc>
                  <a:txBody>
                    <a:bodyPr/>
                    <a:lstStyle/>
                    <a:p>
                      <a:r>
                        <a:rPr lang="en-US" dirty="0" smtClean="0"/>
                        <a:t>4</a:t>
                      </a:r>
                      <a:endParaRPr lang="en-US" dirty="0"/>
                    </a:p>
                  </a:txBody>
                  <a:tcPr/>
                </a:tc>
                <a:tc>
                  <a:txBody>
                    <a:bodyPr/>
                    <a:lstStyle/>
                    <a:p>
                      <a:r>
                        <a:rPr lang="en-US" dirty="0" smtClean="0"/>
                        <a:t>8</a:t>
                      </a:r>
                      <a:endParaRPr lang="en-US" dirty="0"/>
                    </a:p>
                  </a:txBody>
                  <a:tcPr/>
                </a:tc>
                <a:tc>
                  <a:txBody>
                    <a:bodyPr/>
                    <a:lstStyle/>
                    <a:p>
                      <a:r>
                        <a:rPr lang="en-US" dirty="0" smtClean="0"/>
                        <a:t>12</a:t>
                      </a:r>
                      <a:endParaRPr lang="en-US" dirty="0"/>
                    </a:p>
                  </a:txBody>
                  <a:tcPr/>
                </a:tc>
                <a:tc>
                  <a:txBody>
                    <a:bodyPr/>
                    <a:lstStyle/>
                    <a:p>
                      <a:r>
                        <a:rPr lang="en-US" dirty="0" smtClean="0"/>
                        <a:t>16</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764095664"/>
              </p:ext>
            </p:extLst>
          </p:nvPr>
        </p:nvGraphicFramePr>
        <p:xfrm>
          <a:off x="1447800" y="27686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r>
              <a:tr h="527050">
                <a:tc>
                  <a:txBody>
                    <a:bodyPr/>
                    <a:lstStyle/>
                    <a:p>
                      <a:r>
                        <a:rPr lang="en-US" dirty="0" smtClean="0"/>
                        <a:t>5</a:t>
                      </a:r>
                      <a:endParaRPr lang="en-US" dirty="0"/>
                    </a:p>
                  </a:txBody>
                  <a:tcPr/>
                </a:tc>
                <a:tc>
                  <a:txBody>
                    <a:bodyPr/>
                    <a:lstStyle/>
                    <a:p>
                      <a:r>
                        <a:rPr lang="en-US" dirty="0" smtClean="0"/>
                        <a:t>6</a:t>
                      </a:r>
                      <a:endParaRPr lang="en-US" dirty="0"/>
                    </a:p>
                  </a:txBody>
                  <a:tcPr/>
                </a:tc>
                <a:tc>
                  <a:txBody>
                    <a:bodyPr/>
                    <a:lstStyle/>
                    <a:p>
                      <a:r>
                        <a:rPr lang="en-US" dirty="0" smtClean="0"/>
                        <a:t>7</a:t>
                      </a:r>
                      <a:endParaRPr lang="en-US" dirty="0"/>
                    </a:p>
                  </a:txBody>
                  <a:tcPr/>
                </a:tc>
                <a:tc>
                  <a:txBody>
                    <a:bodyPr/>
                    <a:lstStyle/>
                    <a:p>
                      <a:r>
                        <a:rPr lang="en-US" dirty="0" smtClean="0"/>
                        <a:t>8</a:t>
                      </a:r>
                      <a:endParaRPr lang="en-US" dirty="0"/>
                    </a:p>
                  </a:txBody>
                  <a:tcPr/>
                </a:tc>
              </a:tr>
              <a:tr h="527050">
                <a:tc>
                  <a:txBody>
                    <a:bodyPr/>
                    <a:lstStyle/>
                    <a:p>
                      <a:r>
                        <a:rPr lang="en-US" dirty="0" smtClean="0"/>
                        <a:t>9</a:t>
                      </a:r>
                      <a:endParaRPr lang="en-US" dirty="0"/>
                    </a:p>
                  </a:txBody>
                  <a:tcPr/>
                </a:tc>
                <a:tc>
                  <a:txBody>
                    <a:bodyPr/>
                    <a:lstStyle/>
                    <a:p>
                      <a:r>
                        <a:rPr lang="en-US" dirty="0" smtClean="0"/>
                        <a:t>10</a:t>
                      </a:r>
                      <a:endParaRPr lang="en-US" dirty="0"/>
                    </a:p>
                  </a:txBody>
                  <a:tcPr/>
                </a:tc>
                <a:tc>
                  <a:txBody>
                    <a:bodyPr/>
                    <a:lstStyle/>
                    <a:p>
                      <a:r>
                        <a:rPr lang="en-US" dirty="0" smtClean="0"/>
                        <a:t>11</a:t>
                      </a:r>
                      <a:endParaRPr lang="en-US" dirty="0"/>
                    </a:p>
                  </a:txBody>
                  <a:tcPr/>
                </a:tc>
                <a:tc>
                  <a:txBody>
                    <a:bodyPr/>
                    <a:lstStyle/>
                    <a:p>
                      <a:r>
                        <a:rPr lang="en-US" dirty="0" smtClean="0"/>
                        <a:t>12</a:t>
                      </a:r>
                      <a:endParaRPr lang="en-US" dirty="0"/>
                    </a:p>
                  </a:txBody>
                  <a:tcPr/>
                </a:tc>
              </a:tr>
              <a:tr h="527050">
                <a:tc>
                  <a:txBody>
                    <a:bodyPr/>
                    <a:lstStyle/>
                    <a:p>
                      <a:r>
                        <a:rPr lang="en-US" dirty="0" smtClean="0"/>
                        <a:t>13</a:t>
                      </a:r>
                      <a:endParaRPr lang="en-US" dirty="0"/>
                    </a:p>
                  </a:txBody>
                  <a:tcPr/>
                </a:tc>
                <a:tc>
                  <a:txBody>
                    <a:bodyPr/>
                    <a:lstStyle/>
                    <a:p>
                      <a:r>
                        <a:rPr lang="en-US" dirty="0" smtClean="0"/>
                        <a:t>14</a:t>
                      </a:r>
                      <a:endParaRPr lang="en-US" dirty="0"/>
                    </a:p>
                  </a:txBody>
                  <a:tcPr/>
                </a:tc>
                <a:tc>
                  <a:txBody>
                    <a:bodyPr/>
                    <a:lstStyle/>
                    <a:p>
                      <a:r>
                        <a:rPr lang="en-US" dirty="0" smtClean="0"/>
                        <a:t>15</a:t>
                      </a:r>
                      <a:endParaRPr lang="en-US" dirty="0"/>
                    </a:p>
                  </a:txBody>
                  <a:tcPr/>
                </a:tc>
                <a:tc>
                  <a:txBody>
                    <a:bodyPr/>
                    <a:lstStyle/>
                    <a:p>
                      <a:r>
                        <a:rPr lang="en-US" dirty="0" smtClean="0"/>
                        <a:t>16</a:t>
                      </a:r>
                      <a:endParaRPr lang="en-US" dirty="0"/>
                    </a:p>
                  </a:txBody>
                  <a:tcPr/>
                </a:tc>
              </a:tr>
            </a:tbl>
          </a:graphicData>
        </a:graphic>
      </p:graphicFrame>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 Efficient Matrix Transpose</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Matrix Transpose  (A  -&gt;  B)</a:t>
            </a:r>
          </a:p>
          <a:p>
            <a:pPr marL="0" indent="0">
              <a:buNone/>
            </a:pPr>
            <a:r>
              <a:rPr lang="en-US" dirty="0">
                <a:latin typeface="Helvetica" pitchFamily="34" charset="0"/>
                <a:cs typeface="Helvetica" pitchFamily="34" charset="0"/>
              </a:rPr>
              <a:t>	</a:t>
            </a:r>
            <a:r>
              <a:rPr lang="en-US" dirty="0" smtClean="0">
                <a:latin typeface="Helvetica" pitchFamily="34" charset="0"/>
                <a:cs typeface="Helvetica" pitchFamily="34" charset="0"/>
              </a:rPr>
              <a:t>Matrix </a:t>
            </a:r>
            <a:r>
              <a:rPr lang="en-US" dirty="0">
                <a:latin typeface="Helvetica" pitchFamily="34" charset="0"/>
                <a:cs typeface="Helvetica" pitchFamily="34" charset="0"/>
              </a:rPr>
              <a:t>A 				</a:t>
            </a:r>
            <a:r>
              <a:rPr lang="en-US" dirty="0" smtClean="0">
                <a:latin typeface="Helvetica" pitchFamily="34" charset="0"/>
                <a:cs typeface="Helvetica" pitchFamily="34" charset="0"/>
              </a:rPr>
              <a:t>Matrix </a:t>
            </a:r>
            <a:r>
              <a:rPr lang="en-US" dirty="0">
                <a:latin typeface="Helvetica" pitchFamily="34" charset="0"/>
                <a:cs typeface="Helvetica" pitchFamily="34" charset="0"/>
              </a:rPr>
              <a:t>B</a:t>
            </a: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r>
              <a:rPr lang="en-US" dirty="0" smtClean="0">
                <a:latin typeface="Helvetica" pitchFamily="34" charset="0"/>
                <a:cs typeface="Helvetica" pitchFamily="34" charset="0"/>
              </a:rPr>
              <a:t>How </a:t>
            </a:r>
            <a:r>
              <a:rPr lang="en-US" dirty="0">
                <a:latin typeface="Helvetica" pitchFamily="34" charset="0"/>
                <a:cs typeface="Helvetica" pitchFamily="34" charset="0"/>
              </a:rPr>
              <a:t>do we optimize this operation using the cache?</a:t>
            </a:r>
          </a:p>
          <a:p>
            <a:endParaRPr lang="en-US" dirty="0"/>
          </a:p>
        </p:txBody>
      </p:sp>
      <p:sp>
        <p:nvSpPr>
          <p:cNvPr id="10" name="Rounded Rectangle 9"/>
          <p:cNvSpPr/>
          <p:nvPr/>
        </p:nvSpPr>
        <p:spPr>
          <a:xfrm>
            <a:off x="5797620" y="2667000"/>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191000" y="3429000"/>
            <a:ext cx="15240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rot="16200000">
            <a:off x="1666770" y="2499599"/>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9254919"/>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(b) : Efficient Matrix Transpose</a:t>
            </a:r>
            <a:endParaRPr lang="en-US" dirty="0"/>
          </a:p>
        </p:txBody>
      </p:sp>
      <p:pic>
        <p:nvPicPr>
          <p:cNvPr id="4" name="Content Placeholder 3" descr="Screen Shot 2013-10-05 at 7.10.09 PM.png"/>
          <p:cNvPicPr>
            <a:picLocks noGrp="1" noChangeAspect="1"/>
          </p:cNvPicPr>
          <p:nvPr>
            <p:ph idx="1"/>
          </p:nvPr>
        </p:nvPicPr>
        <p:blipFill>
          <a:blip r:embed="rId2"/>
          <a:stretch>
            <a:fillRect/>
          </a:stretch>
        </p:blipFill>
        <p:spPr>
          <a:xfrm>
            <a:off x="1622524" y="1905065"/>
            <a:ext cx="5446159" cy="2005311"/>
          </a:xfrm>
        </p:spPr>
      </p:pic>
      <p:sp>
        <p:nvSpPr>
          <p:cNvPr id="5" name="Content Placeholder 2"/>
          <p:cNvSpPr txBox="1">
            <a:spLocks/>
          </p:cNvSpPr>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r>
              <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rPr>
              <a:t>Suppose</a:t>
            </a:r>
            <a:r>
              <a:rPr kumimoji="0" lang="en-US" sz="2400" b="1" i="0" u="none" strike="noStrike" kern="0" cap="none" spc="0" normalizeH="0" noProof="0" dirty="0" smtClean="0">
                <a:ln>
                  <a:noFill/>
                </a:ln>
                <a:solidFill>
                  <a:schemeClr val="tx1"/>
                </a:solidFill>
                <a:effectLst/>
                <a:uLnTx/>
                <a:uFillTx/>
                <a:latin typeface="Calibri" pitchFamily="34" charset="0"/>
                <a:ea typeface="+mn-ea"/>
                <a:cs typeface="+mn-cs"/>
              </a:rPr>
              <a:t> Block size is 8 bytes ?</a:t>
            </a: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A[0][0] cache miss		 Should we handle 3 &amp; 4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B[0][0] cache miss		 next or 5 &amp; 6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A[0][1] cache hit</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B[1][0] cache miss</a:t>
            </a: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7037727"/>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(b) : Blocking</a:t>
            </a:r>
            <a:r>
              <a:rPr lang="en-US" dirty="0" smtClean="0"/>
              <a:t>	</a:t>
            </a:r>
          </a:p>
        </p:txBody>
      </p:sp>
      <p:sp>
        <p:nvSpPr>
          <p:cNvPr id="3" name="Content Placeholder 2"/>
          <p:cNvSpPr>
            <a:spLocks noGrp="1"/>
          </p:cNvSpPr>
          <p:nvPr>
            <p:ph idx="1"/>
          </p:nvPr>
        </p:nvSpPr>
        <p:spPr/>
        <p:txBody>
          <a:bodyPr/>
          <a:lstStyle/>
          <a:p>
            <a:r>
              <a:rPr lang="en-US" sz="2700" dirty="0"/>
              <a:t>B</a:t>
            </a:r>
            <a:r>
              <a:rPr lang="en-US" sz="2700" dirty="0" smtClean="0"/>
              <a:t>locking: divide matrix into sub-matrices. </a:t>
            </a:r>
          </a:p>
          <a:p>
            <a:endParaRPr lang="en-US" sz="2700" dirty="0" smtClean="0"/>
          </a:p>
          <a:p>
            <a:r>
              <a:rPr lang="en-US" sz="2700" dirty="0" smtClean="0"/>
              <a:t> Size of sub-matrix depends on cache block size, cache size, input matrix size.	</a:t>
            </a:r>
          </a:p>
          <a:p>
            <a:endParaRPr lang="en-US" sz="2700" dirty="0" smtClean="0"/>
          </a:p>
          <a:p>
            <a:r>
              <a:rPr lang="en-US" sz="2700" dirty="0" smtClean="0"/>
              <a:t> Try	 diﬀerent sub-matrix sizes.</a:t>
            </a:r>
            <a:r>
              <a:rPr lang="en-US" sz="3200" dirty="0" smtClean="0"/>
              <a:t>	</a:t>
            </a:r>
          </a:p>
        </p:txBody>
      </p:sp>
    </p:spTree>
    <p:extLst>
      <p:ext uri="{BB962C8B-B14F-4D97-AF65-F5344CB8AC3E}">
        <p14:creationId xmlns:p14="http://schemas.microsoft.com/office/powerpoint/2010/main" val="1437066871"/>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 : Specs</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Cache:</a:t>
            </a:r>
          </a:p>
          <a:p>
            <a:pPr lvl="1"/>
            <a:r>
              <a:rPr lang="en-US" dirty="0">
                <a:latin typeface="Helvetica" pitchFamily="34" charset="0"/>
                <a:cs typeface="Helvetica" pitchFamily="34" charset="0"/>
              </a:rPr>
              <a:t>You get 1 kilobytes of cache</a:t>
            </a:r>
          </a:p>
          <a:p>
            <a:pPr lvl="1"/>
            <a:r>
              <a:rPr lang="en-US" dirty="0">
                <a:latin typeface="Helvetica" pitchFamily="34" charset="0"/>
                <a:cs typeface="Helvetica" pitchFamily="34" charset="0"/>
              </a:rPr>
              <a:t>Directly mapped (E=1)</a:t>
            </a:r>
          </a:p>
          <a:p>
            <a:pPr lvl="1"/>
            <a:r>
              <a:rPr lang="en-US" dirty="0">
                <a:latin typeface="Helvetica" pitchFamily="34" charset="0"/>
                <a:cs typeface="Helvetica" pitchFamily="34" charset="0"/>
              </a:rPr>
              <a:t>Block size is 32 bytes (b=5)</a:t>
            </a:r>
          </a:p>
          <a:p>
            <a:pPr lvl="1"/>
            <a:r>
              <a:rPr lang="en-US" dirty="0">
                <a:latin typeface="Helvetica" pitchFamily="34" charset="0"/>
                <a:cs typeface="Helvetica" pitchFamily="34" charset="0"/>
              </a:rPr>
              <a:t>There are 32 sets (s=5)</a:t>
            </a:r>
          </a:p>
          <a:p>
            <a:r>
              <a:rPr lang="en-US" dirty="0">
                <a:latin typeface="Helvetica" pitchFamily="34" charset="0"/>
                <a:cs typeface="Helvetica" pitchFamily="34" charset="0"/>
              </a:rPr>
              <a:t>Test Matrices:</a:t>
            </a:r>
          </a:p>
          <a:p>
            <a:pPr lvl="1"/>
            <a:r>
              <a:rPr lang="en-US" dirty="0">
                <a:latin typeface="Helvetica" pitchFamily="34" charset="0"/>
                <a:cs typeface="Helvetica" pitchFamily="34" charset="0"/>
              </a:rPr>
              <a:t>32 by </a:t>
            </a:r>
            <a:r>
              <a:rPr lang="en-US" dirty="0" smtClean="0">
                <a:latin typeface="Helvetica" pitchFamily="34" charset="0"/>
                <a:cs typeface="Helvetica" pitchFamily="34" charset="0"/>
              </a:rPr>
              <a:t>32</a:t>
            </a:r>
          </a:p>
          <a:p>
            <a:pPr lvl="1"/>
            <a:r>
              <a:rPr lang="en-US" dirty="0" smtClean="0">
                <a:latin typeface="Helvetica" pitchFamily="34" charset="0"/>
                <a:cs typeface="Helvetica" pitchFamily="34" charset="0"/>
              </a:rPr>
              <a:t>64 </a:t>
            </a:r>
            <a:r>
              <a:rPr lang="en-US" dirty="0">
                <a:latin typeface="Helvetica" pitchFamily="34" charset="0"/>
                <a:cs typeface="Helvetica" pitchFamily="34" charset="0"/>
              </a:rPr>
              <a:t>by </a:t>
            </a:r>
            <a:r>
              <a:rPr lang="en-US" dirty="0" smtClean="0">
                <a:latin typeface="Helvetica" pitchFamily="34" charset="0"/>
                <a:cs typeface="Helvetica" pitchFamily="34" charset="0"/>
              </a:rPr>
              <a:t>64</a:t>
            </a:r>
          </a:p>
          <a:p>
            <a:pPr lvl="1"/>
            <a:r>
              <a:rPr lang="en-US" dirty="0" smtClean="0">
                <a:latin typeface="Helvetica" pitchFamily="34" charset="0"/>
                <a:cs typeface="Helvetica" pitchFamily="34" charset="0"/>
              </a:rPr>
              <a:t>61 </a:t>
            </a:r>
            <a:r>
              <a:rPr lang="en-US" dirty="0">
                <a:latin typeface="Helvetica" pitchFamily="34" charset="0"/>
                <a:cs typeface="Helvetica" pitchFamily="34" charset="0"/>
              </a:rPr>
              <a:t>by 67</a:t>
            </a:r>
          </a:p>
          <a:p>
            <a:endParaRPr lang="en-US" dirty="0"/>
          </a:p>
        </p:txBody>
      </p:sp>
    </p:spTree>
    <p:extLst>
      <p:ext uri="{BB962C8B-B14F-4D97-AF65-F5344CB8AC3E}">
        <p14:creationId xmlns:p14="http://schemas.microsoft.com/office/powerpoint/2010/main" val="3268884773"/>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Things you’ll need to know:</a:t>
            </a:r>
          </a:p>
          <a:p>
            <a:pPr lvl="1"/>
            <a:r>
              <a:rPr lang="en-US" dirty="0">
                <a:latin typeface="Helvetica" pitchFamily="34" charset="0"/>
                <a:cs typeface="Helvetica" pitchFamily="34" charset="0"/>
              </a:rPr>
              <a:t>Warnings are errors</a:t>
            </a:r>
          </a:p>
          <a:p>
            <a:pPr lvl="1"/>
            <a:r>
              <a:rPr lang="en-US" dirty="0">
                <a:latin typeface="Helvetica" pitchFamily="34" charset="0"/>
                <a:cs typeface="Helvetica" pitchFamily="34" charset="0"/>
              </a:rPr>
              <a:t>Header files</a:t>
            </a:r>
          </a:p>
          <a:p>
            <a:pPr lvl="1"/>
            <a:r>
              <a:rPr lang="en-US" dirty="0" smtClean="0">
                <a:latin typeface="Helvetica" pitchFamily="34" charset="0"/>
                <a:cs typeface="Helvetica" pitchFamily="34" charset="0"/>
              </a:rPr>
              <a:t>Eviction policies in the cache</a:t>
            </a:r>
            <a:endParaRPr lang="en-US" dirty="0">
              <a:latin typeface="Helvetica" pitchFamily="34" charset="0"/>
              <a:cs typeface="Helvetica" pitchFamily="34" charset="0"/>
            </a:endParaRPr>
          </a:p>
        </p:txBody>
      </p:sp>
    </p:spTree>
    <p:extLst>
      <p:ext uri="{BB962C8B-B14F-4D97-AF65-F5344CB8AC3E}">
        <p14:creationId xmlns:p14="http://schemas.microsoft.com/office/powerpoint/2010/main" val="1239924296"/>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Warnings are Errors</a:t>
            </a:r>
            <a:endParaRPr lang="en-US" dirty="0"/>
          </a:p>
        </p:txBody>
      </p:sp>
      <p:sp>
        <p:nvSpPr>
          <p:cNvPr id="4" name="Content Placeholder 3"/>
          <p:cNvSpPr>
            <a:spLocks noGrp="1"/>
          </p:cNvSpPr>
          <p:nvPr>
            <p:ph idx="1"/>
          </p:nvPr>
        </p:nvSpPr>
        <p:spPr/>
        <p:txBody>
          <a:bodyPr/>
          <a:lstStyle/>
          <a:p>
            <a:r>
              <a:rPr lang="en-US" dirty="0"/>
              <a:t>Strict compilation flags</a:t>
            </a:r>
          </a:p>
          <a:p>
            <a:endParaRPr lang="en-US" dirty="0"/>
          </a:p>
          <a:p>
            <a:r>
              <a:rPr lang="en-US" dirty="0"/>
              <a:t>Reasons:</a:t>
            </a:r>
          </a:p>
          <a:p>
            <a:pPr lvl="1"/>
            <a:r>
              <a:rPr lang="en-US" dirty="0"/>
              <a:t>Avoid potential errors that are hard to debug</a:t>
            </a:r>
          </a:p>
          <a:p>
            <a:pPr lvl="1"/>
            <a:r>
              <a:rPr lang="en-US" dirty="0"/>
              <a:t>Learn good habits from the beginning</a:t>
            </a:r>
          </a:p>
          <a:p>
            <a:pPr lvl="1"/>
            <a:endParaRPr lang="en-US" dirty="0"/>
          </a:p>
          <a:p>
            <a:r>
              <a:rPr lang="en-US" dirty="0"/>
              <a:t>Add “-</a:t>
            </a:r>
            <a:r>
              <a:rPr lang="en-US" dirty="0" err="1"/>
              <a:t>Werror</a:t>
            </a:r>
            <a:r>
              <a:rPr lang="en-US" dirty="0"/>
              <a:t>” to your compilation flags</a:t>
            </a:r>
          </a:p>
          <a:p>
            <a:endParaRPr lang="en-US" dirty="0"/>
          </a:p>
        </p:txBody>
      </p:sp>
    </p:spTree>
    <p:extLst>
      <p:ext uri="{BB962C8B-B14F-4D97-AF65-F5344CB8AC3E}">
        <p14:creationId xmlns:p14="http://schemas.microsoft.com/office/powerpoint/2010/main" val="1030981900"/>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Missing Header Files</a:t>
            </a:r>
            <a:endParaRPr lang="en-US" dirty="0"/>
          </a:p>
        </p:txBody>
      </p:sp>
      <p:sp>
        <p:nvSpPr>
          <p:cNvPr id="4" name="Content Placeholder 3"/>
          <p:cNvSpPr>
            <a:spLocks noGrp="1"/>
          </p:cNvSpPr>
          <p:nvPr>
            <p:ph idx="1"/>
          </p:nvPr>
        </p:nvSpPr>
        <p:spPr/>
        <p:txBody>
          <a:bodyPr/>
          <a:lstStyle/>
          <a:p>
            <a:pPr>
              <a:spcBef>
                <a:spcPts val="0"/>
              </a:spcBef>
            </a:pPr>
            <a:r>
              <a:rPr lang="en-US" dirty="0"/>
              <a:t>Remember to include files that we will be </a:t>
            </a:r>
            <a:r>
              <a:rPr lang="en-US" dirty="0" smtClean="0"/>
              <a:t>using </a:t>
            </a:r>
            <a:r>
              <a:rPr lang="en-US" dirty="0"/>
              <a:t>functions </a:t>
            </a:r>
            <a:r>
              <a:rPr lang="en-US" dirty="0" smtClean="0"/>
              <a:t>from</a:t>
            </a:r>
          </a:p>
          <a:p>
            <a:pPr>
              <a:spcBef>
                <a:spcPts val="0"/>
              </a:spcBef>
            </a:pPr>
            <a:endParaRPr lang="en-US" dirty="0"/>
          </a:p>
          <a:p>
            <a:r>
              <a:rPr lang="en-US" dirty="0"/>
              <a:t>If function declaration is missing</a:t>
            </a:r>
          </a:p>
          <a:p>
            <a:pPr lvl="1"/>
            <a:r>
              <a:rPr lang="en-US" dirty="0"/>
              <a:t>Find corresponding header files</a:t>
            </a:r>
          </a:p>
          <a:p>
            <a:pPr lvl="1"/>
            <a:r>
              <a:rPr lang="en-US" dirty="0"/>
              <a:t>Use: man &lt;function-name&gt; </a:t>
            </a:r>
          </a:p>
          <a:p>
            <a:pPr lvl="1"/>
            <a:endParaRPr lang="en-US" dirty="0"/>
          </a:p>
          <a:p>
            <a:r>
              <a:rPr lang="en-US" dirty="0"/>
              <a:t>Live example</a:t>
            </a:r>
          </a:p>
          <a:p>
            <a:pPr lvl="1"/>
            <a:r>
              <a:rPr lang="en-US" dirty="0"/>
              <a:t>man 3 </a:t>
            </a:r>
            <a:r>
              <a:rPr lang="en-US" dirty="0" err="1"/>
              <a:t>getopt</a:t>
            </a:r>
            <a:endParaRPr lang="en-US" dirty="0"/>
          </a:p>
          <a:p>
            <a:endParaRPr lang="en-US" dirty="0"/>
          </a:p>
        </p:txBody>
      </p:sp>
    </p:spTree>
    <p:extLst>
      <p:ext uri="{BB962C8B-B14F-4D97-AF65-F5344CB8AC3E}">
        <p14:creationId xmlns:p14="http://schemas.microsoft.com/office/powerpoint/2010/main" val="3035090323"/>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Eviction policies of Cache</a:t>
            </a:r>
            <a:endParaRPr lang="en-US" dirty="0"/>
          </a:p>
        </p:txBody>
      </p:sp>
      <p:sp>
        <p:nvSpPr>
          <p:cNvPr id="3" name="Content Placeholder 2"/>
          <p:cNvSpPr>
            <a:spLocks noGrp="1"/>
          </p:cNvSpPr>
          <p:nvPr>
            <p:ph idx="1"/>
          </p:nvPr>
        </p:nvSpPr>
        <p:spPr/>
        <p:txBody>
          <a:bodyPr/>
          <a:lstStyle/>
          <a:p>
            <a:r>
              <a:rPr lang="en-US" dirty="0" smtClean="0"/>
              <a:t>The first row of Matrix A evicts the first row of Matrix B</a:t>
            </a:r>
            <a:endParaRPr lang="en-US" dirty="0"/>
          </a:p>
          <a:p>
            <a:pPr lvl="1"/>
            <a:r>
              <a:rPr lang="en-US" dirty="0"/>
              <a:t>Caches are memory aligned.</a:t>
            </a:r>
          </a:p>
          <a:p>
            <a:pPr lvl="1"/>
            <a:r>
              <a:rPr lang="en-US" dirty="0"/>
              <a:t>Matrix A and B are stored in memory at addresses such that both the first elements align to the same place in cache!</a:t>
            </a:r>
          </a:p>
          <a:p>
            <a:pPr lvl="1"/>
            <a:r>
              <a:rPr lang="en-US" dirty="0"/>
              <a:t>Diagonal elements evict each other.</a:t>
            </a:r>
          </a:p>
          <a:p>
            <a:endParaRPr lang="en-US" dirty="0" smtClean="0"/>
          </a:p>
          <a:p>
            <a:r>
              <a:rPr lang="en-US" dirty="0" smtClean="0"/>
              <a:t>Matrices are stored in memory in a row major order.</a:t>
            </a:r>
            <a:endParaRPr lang="en-US" dirty="0"/>
          </a:p>
          <a:p>
            <a:pPr lvl="1"/>
            <a:r>
              <a:rPr lang="en-US" dirty="0" smtClean="0"/>
              <a:t>If the entire matrix can’t fit in the cache, then after the cache is full with all the elements it can load. The next elements will evict the existing elements of the cache.</a:t>
            </a:r>
          </a:p>
          <a:p>
            <a:pPr lvl="1"/>
            <a:r>
              <a:rPr lang="en-US" dirty="0" smtClean="0"/>
              <a:t>Example:- 4x4 Matrix of integers and a 32 byte cache.</a:t>
            </a:r>
          </a:p>
          <a:p>
            <a:pPr lvl="2"/>
            <a:r>
              <a:rPr lang="en-US" dirty="0" smtClean="0"/>
              <a:t>The third row will evict the first row!</a:t>
            </a:r>
          </a:p>
        </p:txBody>
      </p:sp>
    </p:spTree>
    <p:extLst>
      <p:ext uri="{BB962C8B-B14F-4D97-AF65-F5344CB8AC3E}">
        <p14:creationId xmlns:p14="http://schemas.microsoft.com/office/powerpoint/2010/main" val="3443496434"/>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title"/>
          </p:nvPr>
        </p:nvSpPr>
        <p:spPr>
          <a:xfrm>
            <a:off x="1780827" y="2057400"/>
            <a:ext cx="5314875" cy="1904999"/>
          </a:xfrm>
          <a:ln/>
        </p:spPr>
        <p:txBody>
          <a:bodyPr>
            <a:normAutofit fontScale="90000"/>
          </a:bodyPr>
          <a:lstStyle/>
          <a:p>
            <a:pPr marL="80963" indent="-809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dirty="0" smtClean="0">
                <a:solidFill>
                  <a:srgbClr val="606060"/>
                </a:solidFill>
                <a:latin typeface="Calibri Italic" charset="0"/>
                <a:ea typeface="Calibri Italic" charset="0"/>
                <a:cs typeface="Calibri Italic" charset="0"/>
                <a:sym typeface="Calibri Italic" charset="0"/>
              </a:rPr>
              <a:t/>
            </a:r>
            <a:br>
              <a:rPr lang="en-US" sz="4800" dirty="0" smtClean="0">
                <a:solidFill>
                  <a:srgbClr val="606060"/>
                </a:solidFill>
                <a:latin typeface="Calibri Italic" charset="0"/>
                <a:ea typeface="Calibri Italic" charset="0"/>
                <a:cs typeface="Calibri Italic" charset="0"/>
                <a:sym typeface="Calibri Italic" charset="0"/>
              </a:rPr>
            </a:br>
            <a:r>
              <a:rPr lang="en-US" sz="4800" dirty="0" smtClean="0">
                <a:solidFill>
                  <a:srgbClr val="606060"/>
                </a:solidFill>
                <a:latin typeface="Calibri Italic" charset="0"/>
                <a:ea typeface="Calibri Italic" charset="0"/>
                <a:cs typeface="Calibri Italic" charset="0"/>
                <a:sym typeface="Calibri Italic" charset="0"/>
              </a:rPr>
              <a:t>Cache Lab Questions</a:t>
            </a:r>
            <a:r>
              <a:rPr lang="en-US" sz="4800" dirty="0" smtClean="0">
                <a:solidFill>
                  <a:srgbClr val="606060"/>
                </a:solidFill>
                <a:latin typeface="Calibri Italic" charset="0"/>
                <a:ea typeface="Calibri Italic" charset="0"/>
                <a:cs typeface="Calibri Italic" charset="0"/>
                <a:sym typeface="Calibri Italic" charset="0"/>
              </a:rPr>
              <a:t/>
            </a:r>
            <a:br>
              <a:rPr lang="en-US" sz="4800" dirty="0" smtClean="0">
                <a:solidFill>
                  <a:srgbClr val="606060"/>
                </a:solidFill>
                <a:latin typeface="Calibri Italic" charset="0"/>
                <a:ea typeface="Calibri Italic" charset="0"/>
                <a:cs typeface="Calibri Italic" charset="0"/>
                <a:sym typeface="Calibri Italic" charset="0"/>
              </a:rPr>
            </a:br>
            <a:r>
              <a:rPr lang="en-US" sz="4800" dirty="0" smtClean="0">
                <a:solidFill>
                  <a:srgbClr val="606060"/>
                </a:solidFill>
                <a:latin typeface="Calibri Italic" charset="0"/>
                <a:ea typeface="Calibri Italic" charset="0"/>
                <a:cs typeface="Calibri Italic" charset="0"/>
                <a:sym typeface="Calibri Italic" charset="0"/>
              </a:rPr>
              <a:t>Now is your chance!</a:t>
            </a:r>
            <a:endParaRPr lang="en-US" sz="4800" dirty="0">
              <a:solidFill>
                <a:srgbClr val="606060"/>
              </a:solidFill>
              <a:latin typeface="Calibri Italic" charset="0"/>
              <a:ea typeface="ヒラギノ角ゴ ProN W3" charset="-128"/>
              <a:cs typeface="ヒラギノ角ゴ ProN W3" charset="-128"/>
              <a:sym typeface="Calibri Italic" charset="0"/>
            </a:endParaRPr>
          </a:p>
        </p:txBody>
      </p:sp>
    </p:spTree>
    <p:extLst>
      <p:ext uri="{BB962C8B-B14F-4D97-AF65-F5344CB8AC3E}">
        <p14:creationId xmlns:p14="http://schemas.microsoft.com/office/powerpoint/2010/main" val="436831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15 Minute Break</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378895105"/>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a:solidFill>
                  <a:schemeClr val="bg2">
                    <a:lumMod val="60000"/>
                    <a:lumOff val="40000"/>
                  </a:schemeClr>
                </a:solidFill>
              </a:rPr>
              <a:t>Cache </a:t>
            </a:r>
            <a:r>
              <a:rPr lang="en-US" sz="2800" dirty="0" smtClean="0">
                <a:solidFill>
                  <a:schemeClr val="bg2">
                    <a:lumMod val="60000"/>
                    <a:lumOff val="40000"/>
                  </a:schemeClr>
                </a:solidFill>
              </a:rPr>
              <a:t>Lab</a:t>
            </a:r>
          </a:p>
          <a:p>
            <a:r>
              <a:rPr lang="en-US" sz="2800" dirty="0" smtClean="0">
                <a:solidFill>
                  <a:srgbClr val="000000"/>
                </a:solidFill>
              </a:rPr>
              <a:t>Exceptional Control Flow</a:t>
            </a:r>
            <a:endParaRPr lang="en-US" dirty="0" smtClean="0">
              <a:solidFill>
                <a:srgbClr val="000000"/>
              </a:solidFill>
            </a:endParaRPr>
          </a:p>
          <a:p>
            <a:pPr lvl="1"/>
            <a:r>
              <a:rPr lang="en-US" dirty="0" err="1" smtClean="0">
                <a:solidFill>
                  <a:srgbClr val="000000"/>
                </a:solidFill>
              </a:rPr>
              <a:t>execve</a:t>
            </a:r>
            <a:r>
              <a:rPr lang="en-US" dirty="0" smtClean="0">
                <a:solidFill>
                  <a:srgbClr val="000000"/>
                </a:solidFill>
              </a:rPr>
              <a:t> (from Lecture 3)</a:t>
            </a:r>
          </a:p>
          <a:p>
            <a:pPr lvl="1"/>
            <a:r>
              <a:rPr lang="en-US" dirty="0" smtClean="0">
                <a:solidFill>
                  <a:schemeClr val="bg2">
                    <a:lumMod val="60000"/>
                    <a:lumOff val="40000"/>
                  </a:schemeClr>
                </a:solidFill>
              </a:rPr>
              <a:t>Shells</a:t>
            </a:r>
          </a:p>
          <a:p>
            <a:pPr lvl="1"/>
            <a:r>
              <a:rPr lang="en-US" dirty="0" smtClean="0">
                <a:solidFill>
                  <a:schemeClr val="bg2">
                    <a:lumMod val="60000"/>
                    <a:lumOff val="40000"/>
                  </a:schemeClr>
                </a:solidFill>
              </a:rPr>
              <a:t>Signals</a:t>
            </a:r>
          </a:p>
          <a:p>
            <a:pPr lvl="1"/>
            <a:r>
              <a:rPr lang="en-US" dirty="0" smtClean="0">
                <a:solidFill>
                  <a:schemeClr val="bg2">
                    <a:lumMod val="60000"/>
                    <a:lumOff val="40000"/>
                  </a:schemeClr>
                </a:solidFill>
              </a:rPr>
              <a:t>Non-local </a:t>
            </a:r>
            <a:r>
              <a:rPr lang="en-US" dirty="0" smtClean="0">
                <a:solidFill>
                  <a:schemeClr val="bg2">
                    <a:lumMod val="60000"/>
                    <a:lumOff val="40000"/>
                  </a:schemeClr>
                </a:solidFill>
              </a:rPr>
              <a:t>Jumps</a:t>
            </a:r>
          </a:p>
          <a:p>
            <a:pPr lvl="1"/>
            <a:endParaRPr lang="en-US" dirty="0" smtClean="0">
              <a:solidFill>
                <a:schemeClr val="bg2">
                  <a:lumMod val="60000"/>
                  <a:lumOff val="40000"/>
                </a:schemeClr>
              </a:solidFill>
            </a:endParaRP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1984820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a:xfrm>
            <a:off x="228600" y="381000"/>
            <a:ext cx="8610600" cy="573088"/>
          </a:xfrm>
        </p:spPr>
        <p:txBody>
          <a:bodyPr/>
          <a:lstStyle/>
          <a:p>
            <a:r>
              <a:rPr lang="en-US" sz="3400" dirty="0" err="1" smtClean="0">
                <a:latin typeface="Courier New" pitchFamily="49" charset="0"/>
              </a:rPr>
              <a:t>execve</a:t>
            </a:r>
            <a:r>
              <a:rPr lang="en-US" sz="3400" dirty="0" smtClean="0">
                <a:latin typeface="Courier" pitchFamily="49" charset="0"/>
              </a:rPr>
              <a:t>:</a:t>
            </a:r>
            <a:r>
              <a:rPr lang="en-US" sz="3400" dirty="0" smtClean="0"/>
              <a:t> </a:t>
            </a:r>
            <a:r>
              <a:rPr lang="en-US" sz="3400" dirty="0"/>
              <a:t>Loading and </a:t>
            </a:r>
            <a:r>
              <a:rPr lang="en-US" sz="3400" dirty="0" smtClean="0"/>
              <a:t>Running </a:t>
            </a:r>
            <a:r>
              <a:rPr lang="en-US" sz="3400" dirty="0"/>
              <a:t>Programs</a:t>
            </a:r>
          </a:p>
        </p:txBody>
      </p:sp>
      <p:sp>
        <p:nvSpPr>
          <p:cNvPr id="503811" name="Rectangle 3"/>
          <p:cNvSpPr>
            <a:spLocks noGrp="1" noChangeArrowheads="1"/>
          </p:cNvSpPr>
          <p:nvPr>
            <p:ph type="body" idx="1"/>
          </p:nvPr>
        </p:nvSpPr>
        <p:spPr>
          <a:xfrm>
            <a:off x="228600" y="1371600"/>
            <a:ext cx="8763000" cy="5410200"/>
          </a:xfrm>
        </p:spPr>
        <p:txBody>
          <a:bodyPr/>
          <a:lstStyle/>
          <a:p>
            <a:r>
              <a:rPr lang="en-US" sz="2000" dirty="0" err="1">
                <a:latin typeface="Courier New"/>
                <a:cs typeface="Courier New"/>
              </a:rPr>
              <a:t>int</a:t>
            </a:r>
            <a:r>
              <a:rPr lang="en-US" sz="2000" dirty="0">
                <a:latin typeface="Courier New"/>
                <a:cs typeface="Courier New"/>
              </a:rPr>
              <a:t> </a:t>
            </a:r>
            <a:r>
              <a:rPr lang="en-US" sz="2000" dirty="0" err="1" smtClean="0">
                <a:latin typeface="Courier New"/>
                <a:cs typeface="Courier New"/>
              </a:rPr>
              <a:t>execve</a:t>
            </a:r>
            <a:r>
              <a:rPr lang="en-US" sz="2000" dirty="0" smtClean="0">
                <a:latin typeface="Courier New"/>
                <a:cs typeface="Courier New"/>
              </a:rPr>
              <a:t>(char *filename, char </a:t>
            </a:r>
            <a:r>
              <a:rPr lang="en-US" sz="2000" dirty="0">
                <a:latin typeface="Courier New"/>
                <a:cs typeface="Courier New"/>
              </a:rPr>
              <a:t>*</a:t>
            </a:r>
            <a:r>
              <a:rPr lang="en-US" sz="2000" dirty="0" err="1" smtClean="0">
                <a:latin typeface="Courier New"/>
                <a:cs typeface="Courier New"/>
              </a:rPr>
              <a:t>argv</a:t>
            </a:r>
            <a:r>
              <a:rPr lang="en-US" sz="2000" dirty="0" smtClean="0">
                <a:latin typeface="Courier New"/>
                <a:cs typeface="Courier New"/>
              </a:rPr>
              <a:t>[], char *</a:t>
            </a:r>
            <a:r>
              <a:rPr lang="en-US" sz="2000" dirty="0" err="1" smtClean="0">
                <a:latin typeface="Courier New"/>
                <a:cs typeface="Courier New"/>
              </a:rPr>
              <a:t>envp</a:t>
            </a:r>
            <a:r>
              <a:rPr lang="en-US" sz="2000" dirty="0" smtClean="0">
                <a:latin typeface="Courier New"/>
                <a:cs typeface="Courier New"/>
              </a:rPr>
              <a:t>[</a:t>
            </a:r>
            <a:r>
              <a:rPr lang="en-US" sz="2000" dirty="0">
                <a:latin typeface="Courier New"/>
                <a:cs typeface="Courier New"/>
              </a:rPr>
              <a:t>]</a:t>
            </a:r>
            <a:r>
              <a:rPr lang="en-US" sz="2000" dirty="0" smtClean="0">
                <a:latin typeface="Courier New"/>
                <a:cs typeface="Courier New"/>
              </a:rPr>
              <a:t>)</a:t>
            </a:r>
            <a:endParaRPr lang="en-US" dirty="0" smtClean="0"/>
          </a:p>
          <a:p>
            <a:r>
              <a:rPr lang="en-US" dirty="0" smtClean="0"/>
              <a:t>Loads </a:t>
            </a:r>
            <a:r>
              <a:rPr lang="en-US" dirty="0"/>
              <a:t>and </a:t>
            </a:r>
            <a:r>
              <a:rPr lang="en-US" dirty="0" smtClean="0"/>
              <a:t>runs in the current process:</a:t>
            </a:r>
          </a:p>
          <a:p>
            <a:pPr lvl="1"/>
            <a:r>
              <a:rPr lang="en-US" dirty="0"/>
              <a:t>E</a:t>
            </a:r>
            <a:r>
              <a:rPr lang="en-US" dirty="0" smtClean="0"/>
              <a:t>xecutable  file </a:t>
            </a:r>
            <a:r>
              <a:rPr lang="en-US" b="1" dirty="0" smtClean="0">
                <a:latin typeface="Courier New" pitchFamily="49" charset="0"/>
                <a:ea typeface="+mn-ea"/>
                <a:cs typeface="+mn-cs"/>
              </a:rPr>
              <a:t>filename</a:t>
            </a:r>
          </a:p>
          <a:p>
            <a:pPr lvl="2"/>
            <a:r>
              <a:rPr lang="en-US" dirty="0" smtClean="0">
                <a:latin typeface="Calibri"/>
                <a:ea typeface="+mn-ea"/>
                <a:cs typeface="Calibri"/>
              </a:rPr>
              <a:t>Can be object file or script file beginning with </a:t>
            </a:r>
            <a:r>
              <a:rPr lang="en-US" dirty="0" smtClean="0">
                <a:latin typeface="Courier New"/>
                <a:ea typeface="+mn-ea"/>
                <a:cs typeface="Courier New"/>
              </a:rPr>
              <a:t>#!interpreter          </a:t>
            </a:r>
            <a:r>
              <a:rPr lang="en-US" dirty="0" smtClean="0">
                <a:latin typeface="Calibri"/>
                <a:ea typeface="+mn-ea"/>
                <a:cs typeface="Calibri"/>
              </a:rPr>
              <a:t>(e.g., </a:t>
            </a:r>
            <a:r>
              <a:rPr lang="en-US" dirty="0" smtClean="0">
                <a:latin typeface="Courier New"/>
                <a:ea typeface="+mn-ea"/>
                <a:cs typeface="Courier New"/>
              </a:rPr>
              <a:t>#!/bin/bash</a:t>
            </a:r>
            <a:r>
              <a:rPr lang="en-US" dirty="0" smtClean="0">
                <a:latin typeface="Calibri"/>
                <a:ea typeface="+mn-ea"/>
                <a:cs typeface="Calibri"/>
              </a:rPr>
              <a:t>)</a:t>
            </a:r>
            <a:endParaRPr lang="en-US" dirty="0" smtClean="0">
              <a:latin typeface="Courier New"/>
              <a:ea typeface="+mn-ea"/>
              <a:cs typeface="Courier New"/>
            </a:endParaRPr>
          </a:p>
          <a:p>
            <a:pPr lvl="1"/>
            <a:r>
              <a:rPr lang="en-US" dirty="0" smtClean="0"/>
              <a:t>…with argument list </a:t>
            </a:r>
            <a:r>
              <a:rPr lang="en-US" b="1" dirty="0" err="1" smtClean="0">
                <a:latin typeface="Courier New" pitchFamily="49" charset="0"/>
                <a:ea typeface="+mn-ea"/>
                <a:cs typeface="+mn-cs"/>
              </a:rPr>
              <a:t>argv</a:t>
            </a:r>
            <a:endParaRPr lang="en-US" b="1" dirty="0" smtClean="0">
              <a:latin typeface="Courier New" pitchFamily="49" charset="0"/>
              <a:ea typeface="+mn-ea"/>
              <a:cs typeface="+mn-cs"/>
            </a:endParaRPr>
          </a:p>
          <a:p>
            <a:pPr lvl="2"/>
            <a:r>
              <a:rPr lang="en-US" dirty="0" smtClean="0">
                <a:latin typeface="Calibri"/>
                <a:ea typeface="+mn-ea"/>
                <a:cs typeface="Calibri"/>
              </a:rPr>
              <a:t>By convention </a:t>
            </a:r>
            <a:r>
              <a:rPr lang="en-US" b="1" dirty="0" err="1" smtClean="0">
                <a:latin typeface="Courier New" pitchFamily="49" charset="0"/>
                <a:ea typeface="+mn-ea"/>
                <a:cs typeface="+mn-cs"/>
              </a:rPr>
              <a:t>argv</a:t>
            </a:r>
            <a:r>
              <a:rPr lang="en-US" b="1" dirty="0" smtClean="0">
                <a:latin typeface="Courier New" pitchFamily="49" charset="0"/>
                <a:ea typeface="+mn-ea"/>
                <a:cs typeface="+mn-cs"/>
              </a:rPr>
              <a:t>[0]==filename</a:t>
            </a:r>
          </a:p>
          <a:p>
            <a:pPr lvl="1"/>
            <a:r>
              <a:rPr lang="en-US" dirty="0" smtClean="0"/>
              <a:t>…and  environment variable </a:t>
            </a:r>
            <a:r>
              <a:rPr lang="en-US" dirty="0" smtClean="0">
                <a:latin typeface="Calibri"/>
                <a:ea typeface="+mn-ea"/>
                <a:cs typeface="Calibri"/>
              </a:rPr>
              <a:t>list</a:t>
            </a:r>
            <a:r>
              <a:rPr lang="en-US" b="1" dirty="0" smtClean="0">
                <a:latin typeface="Courier New" pitchFamily="49" charset="0"/>
                <a:ea typeface="+mn-ea"/>
                <a:cs typeface="+mn-cs"/>
              </a:rPr>
              <a:t> </a:t>
            </a:r>
            <a:r>
              <a:rPr lang="en-US" b="1" dirty="0" err="1" smtClean="0">
                <a:latin typeface="Courier New" pitchFamily="49" charset="0"/>
                <a:ea typeface="+mn-ea"/>
                <a:cs typeface="+mn-cs"/>
              </a:rPr>
              <a:t>envp</a:t>
            </a:r>
            <a:endParaRPr lang="en-US" b="1" dirty="0" smtClean="0">
              <a:latin typeface="Courier New" pitchFamily="49" charset="0"/>
              <a:ea typeface="+mn-ea"/>
              <a:cs typeface="+mn-cs"/>
            </a:endParaRPr>
          </a:p>
          <a:p>
            <a:pPr lvl="2"/>
            <a:r>
              <a:rPr lang="en-US" dirty="0" smtClean="0"/>
              <a:t>“</a:t>
            </a:r>
            <a:r>
              <a:rPr lang="en-US" dirty="0"/>
              <a:t>name=value” </a:t>
            </a:r>
            <a:r>
              <a:rPr lang="en-US" dirty="0" smtClean="0"/>
              <a:t>strings (e.g., </a:t>
            </a:r>
            <a:r>
              <a:rPr lang="en-US" dirty="0" smtClean="0">
                <a:latin typeface="Courier New"/>
                <a:cs typeface="Courier New"/>
              </a:rPr>
              <a:t>USER=</a:t>
            </a:r>
            <a:r>
              <a:rPr lang="en-US" dirty="0" err="1" smtClean="0">
                <a:latin typeface="Courier New"/>
                <a:cs typeface="Courier New"/>
              </a:rPr>
              <a:t>droh</a:t>
            </a:r>
            <a:r>
              <a:rPr lang="en-US" dirty="0" smtClean="0"/>
              <a:t>)</a:t>
            </a:r>
            <a:endParaRPr lang="en-US" dirty="0"/>
          </a:p>
          <a:p>
            <a:pPr lvl="2"/>
            <a:r>
              <a:rPr lang="en-US" dirty="0" err="1" smtClean="0">
                <a:latin typeface="Courier New"/>
                <a:cs typeface="Courier New"/>
              </a:rPr>
              <a:t>getenv</a:t>
            </a:r>
            <a:r>
              <a:rPr lang="en-US" dirty="0" smtClean="0">
                <a:latin typeface="Courier New"/>
                <a:cs typeface="Courier New"/>
              </a:rPr>
              <a:t>, </a:t>
            </a:r>
            <a:r>
              <a:rPr lang="en-US" dirty="0" err="1" smtClean="0">
                <a:latin typeface="Courier New"/>
                <a:cs typeface="Courier New"/>
              </a:rPr>
              <a:t>putenv</a:t>
            </a:r>
            <a:r>
              <a:rPr lang="en-US" dirty="0" smtClean="0">
                <a:latin typeface="Courier New"/>
                <a:cs typeface="Courier New"/>
              </a:rPr>
              <a:t>, </a:t>
            </a:r>
            <a:r>
              <a:rPr lang="en-US" dirty="0" err="1" smtClean="0">
                <a:latin typeface="Courier New"/>
                <a:cs typeface="Courier New"/>
              </a:rPr>
              <a:t>printenv</a:t>
            </a:r>
            <a:endParaRPr lang="en-US" b="1" dirty="0" smtClean="0">
              <a:latin typeface="Courier New" pitchFamily="49" charset="0"/>
              <a:ea typeface="+mn-ea"/>
              <a:cs typeface="+mn-cs"/>
            </a:endParaRPr>
          </a:p>
          <a:p>
            <a:r>
              <a:rPr lang="en-US" dirty="0" smtClean="0"/>
              <a:t>Overwrites code, data, and stack</a:t>
            </a:r>
          </a:p>
          <a:p>
            <a:pPr lvl="1"/>
            <a:r>
              <a:rPr lang="en-US" dirty="0" smtClean="0"/>
              <a:t>Retains PID, open files and signal context</a:t>
            </a:r>
          </a:p>
          <a:p>
            <a:r>
              <a:rPr lang="en-US" dirty="0" smtClean="0"/>
              <a:t>Called </a:t>
            </a:r>
            <a:r>
              <a:rPr lang="en-US" dirty="0" smtClean="0">
                <a:solidFill>
                  <a:srgbClr val="FF0000"/>
                </a:solidFill>
              </a:rPr>
              <a:t>once</a:t>
            </a:r>
            <a:r>
              <a:rPr lang="en-US" dirty="0" smtClean="0"/>
              <a:t> and </a:t>
            </a:r>
            <a:r>
              <a:rPr lang="en-US" dirty="0" smtClean="0">
                <a:solidFill>
                  <a:srgbClr val="FF0000"/>
                </a:solidFill>
              </a:rPr>
              <a:t>never </a:t>
            </a:r>
            <a:r>
              <a:rPr lang="en-US" dirty="0" smtClean="0"/>
              <a:t>returns</a:t>
            </a:r>
          </a:p>
          <a:p>
            <a:pPr lvl="1"/>
            <a:r>
              <a:rPr lang="en-US" dirty="0" smtClean="0"/>
              <a:t>…except if there is an error</a:t>
            </a:r>
          </a:p>
        </p:txBody>
      </p:sp>
    </p:spTree>
    <p:extLst>
      <p:ext uri="{BB962C8B-B14F-4D97-AF65-F5344CB8AC3E}">
        <p14:creationId xmlns:p14="http://schemas.microsoft.com/office/powerpoint/2010/main" val="41235214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38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38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38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38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38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38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381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381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38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3811">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38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0"/>
            <a:ext cx="3259926" cy="1905000"/>
          </a:xfrm>
        </p:spPr>
        <p:txBody>
          <a:bodyPr/>
          <a:lstStyle/>
          <a:p>
            <a:r>
              <a:rPr lang="en-US" dirty="0" smtClean="0"/>
              <a:t>Structure of </a:t>
            </a:r>
            <a:br>
              <a:rPr lang="en-US" dirty="0" smtClean="0"/>
            </a:br>
            <a:r>
              <a:rPr lang="en-US" dirty="0" smtClean="0"/>
              <a:t>the stack when a new program starts</a:t>
            </a:r>
            <a:endParaRPr lang="en-US" dirty="0"/>
          </a:p>
        </p:txBody>
      </p:sp>
      <p:sp>
        <p:nvSpPr>
          <p:cNvPr id="38" name="Rectangle 379"/>
          <p:cNvSpPr>
            <a:spLocks noChangeArrowheads="1"/>
          </p:cNvSpPr>
          <p:nvPr/>
        </p:nvSpPr>
        <p:spPr bwMode="auto">
          <a:xfrm>
            <a:off x="3997944" y="381000"/>
            <a:ext cx="2819400" cy="685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environment variable strings</a:t>
            </a:r>
          </a:p>
        </p:txBody>
      </p:sp>
      <p:sp>
        <p:nvSpPr>
          <p:cNvPr id="39" name="Rectangle 381"/>
          <p:cNvSpPr>
            <a:spLocks noChangeArrowheads="1"/>
          </p:cNvSpPr>
          <p:nvPr/>
        </p:nvSpPr>
        <p:spPr bwMode="auto">
          <a:xfrm>
            <a:off x="3997944" y="1066800"/>
            <a:ext cx="2819400" cy="685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command-line arg strings</a:t>
            </a:r>
          </a:p>
        </p:txBody>
      </p:sp>
      <p:sp>
        <p:nvSpPr>
          <p:cNvPr id="40" name="Rectangle 382"/>
          <p:cNvSpPr>
            <a:spLocks noChangeArrowheads="1"/>
          </p:cNvSpPr>
          <p:nvPr/>
        </p:nvSpPr>
        <p:spPr bwMode="auto">
          <a:xfrm>
            <a:off x="3997944" y="1752600"/>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Rectangle 383"/>
          <p:cNvSpPr>
            <a:spLocks noChangeArrowheads="1"/>
          </p:cNvSpPr>
          <p:nvPr/>
        </p:nvSpPr>
        <p:spPr bwMode="auto">
          <a:xfrm>
            <a:off x="3997944" y="20574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envp</a:t>
            </a:r>
            <a:r>
              <a:rPr kumimoji="0" lang="en-US" sz="1800" b="0" i="0" u="none" strike="noStrike" kern="0" cap="none" spc="0" normalizeH="0" baseline="0" noProof="0" dirty="0">
                <a:ln>
                  <a:noFill/>
                </a:ln>
                <a:solidFill>
                  <a:sysClr val="windowText" lastClr="000000"/>
                </a:solidFill>
                <a:effectLst/>
                <a:uLnTx/>
                <a:uFillTx/>
                <a:latin typeface="Courier New" charset="0"/>
              </a:rPr>
              <a:t>[n] == NULL</a:t>
            </a:r>
          </a:p>
        </p:txBody>
      </p:sp>
      <p:sp>
        <p:nvSpPr>
          <p:cNvPr id="42" name="Rectangle 384"/>
          <p:cNvSpPr>
            <a:spLocks noChangeArrowheads="1"/>
          </p:cNvSpPr>
          <p:nvPr/>
        </p:nvSpPr>
        <p:spPr bwMode="auto">
          <a:xfrm>
            <a:off x="3997944" y="23622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envp[n-1]</a:t>
            </a:r>
          </a:p>
        </p:txBody>
      </p:sp>
      <p:sp>
        <p:nvSpPr>
          <p:cNvPr id="43" name="Rectangle 385"/>
          <p:cNvSpPr>
            <a:spLocks noChangeArrowheads="1"/>
          </p:cNvSpPr>
          <p:nvPr/>
        </p:nvSpPr>
        <p:spPr bwMode="auto">
          <a:xfrm>
            <a:off x="3997944" y="26670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4" name="Rectangle 386"/>
          <p:cNvSpPr>
            <a:spLocks noChangeArrowheads="1"/>
          </p:cNvSpPr>
          <p:nvPr/>
        </p:nvSpPr>
        <p:spPr bwMode="auto">
          <a:xfrm>
            <a:off x="3997944" y="29718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envp[0]</a:t>
            </a:r>
          </a:p>
        </p:txBody>
      </p:sp>
      <p:sp>
        <p:nvSpPr>
          <p:cNvPr id="45" name="Rectangle 387"/>
          <p:cNvSpPr>
            <a:spLocks noChangeArrowheads="1"/>
          </p:cNvSpPr>
          <p:nvPr/>
        </p:nvSpPr>
        <p:spPr bwMode="auto">
          <a:xfrm>
            <a:off x="3997944" y="3276600"/>
            <a:ext cx="2819400" cy="304800"/>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 = NULL</a:t>
            </a:r>
          </a:p>
        </p:txBody>
      </p:sp>
      <p:sp>
        <p:nvSpPr>
          <p:cNvPr id="46" name="Rectangle 388"/>
          <p:cNvSpPr>
            <a:spLocks noChangeArrowheads="1"/>
          </p:cNvSpPr>
          <p:nvPr/>
        </p:nvSpPr>
        <p:spPr bwMode="auto">
          <a:xfrm>
            <a:off x="3997944" y="35814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argv[argc-1]</a:t>
            </a:r>
          </a:p>
        </p:txBody>
      </p:sp>
      <p:sp>
        <p:nvSpPr>
          <p:cNvPr id="47" name="Rectangle 389"/>
          <p:cNvSpPr>
            <a:spLocks noChangeArrowheads="1"/>
          </p:cNvSpPr>
          <p:nvPr/>
        </p:nvSpPr>
        <p:spPr bwMode="auto">
          <a:xfrm>
            <a:off x="3997944" y="38862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8" name="Rectangle 390"/>
          <p:cNvSpPr>
            <a:spLocks noChangeArrowheads="1"/>
          </p:cNvSpPr>
          <p:nvPr/>
        </p:nvSpPr>
        <p:spPr bwMode="auto">
          <a:xfrm>
            <a:off x="3997944" y="41910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argv[0]</a:t>
            </a:r>
          </a:p>
        </p:txBody>
      </p:sp>
      <p:sp>
        <p:nvSpPr>
          <p:cNvPr id="49" name="Rectangle 399"/>
          <p:cNvSpPr>
            <a:spLocks noChangeArrowheads="1"/>
          </p:cNvSpPr>
          <p:nvPr/>
        </p:nvSpPr>
        <p:spPr bwMode="auto">
          <a:xfrm>
            <a:off x="4009385" y="5488077"/>
            <a:ext cx="2819400" cy="685800"/>
          </a:xfrm>
          <a:prstGeom prst="rect">
            <a:avLst/>
          </a:prstGeom>
          <a:noFill/>
          <a:ln w="12700">
            <a:solidFill>
              <a:srgbClr val="000000"/>
            </a:solidFill>
            <a:prstDash val="sys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Future stack </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frame for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ourier New" charset="0"/>
              </a:rPr>
              <a:t>main</a:t>
            </a:r>
            <a:endParaRPr kumimoji="0" lang="en-US" sz="1800" b="0" i="0" u="none" strike="noStrike" kern="0" cap="none" spc="0" normalizeH="0" baseline="0" noProof="0" dirty="0">
              <a:ln>
                <a:noFill/>
              </a:ln>
              <a:solidFill>
                <a:sysClr val="windowText" lastClr="000000"/>
              </a:solidFill>
              <a:effectLst/>
              <a:uLnTx/>
              <a:uFillTx/>
            </a:endParaRPr>
          </a:p>
        </p:txBody>
      </p:sp>
      <p:sp>
        <p:nvSpPr>
          <p:cNvPr id="50" name="Text Box 401"/>
          <p:cNvSpPr txBox="1">
            <a:spLocks noChangeArrowheads="1"/>
          </p:cNvSpPr>
          <p:nvPr/>
        </p:nvSpPr>
        <p:spPr bwMode="auto">
          <a:xfrm>
            <a:off x="7757737" y="2416442"/>
            <a:ext cx="1242648" cy="646331"/>
          </a:xfrm>
          <a:prstGeom prst="rect">
            <a:avLst/>
          </a:prstGeom>
          <a:solidFill>
            <a:srgbClr val="D5F1CF"/>
          </a:solidFill>
          <a:ln w="12700">
            <a:solidFill>
              <a:srgbClr val="000000"/>
            </a:solidFill>
            <a:miter lim="800000"/>
            <a:headEnd/>
            <a:tailEnd/>
          </a:ln>
          <a:effectLs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ourier New" charset="0"/>
              </a:rPr>
              <a:t>environ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(global </a:t>
            </a:r>
            <a:r>
              <a:rPr kumimoji="0" lang="en-US" sz="1800" b="0" i="0" u="none" strike="noStrike" kern="0" cap="none" spc="0" normalizeH="0" baseline="0" noProof="0" dirty="0" err="1" smtClean="0">
                <a:ln>
                  <a:noFill/>
                </a:ln>
                <a:solidFill>
                  <a:sysClr val="windowText" lastClr="000000"/>
                </a:solidFill>
                <a:effectLst/>
                <a:uLnTx/>
                <a:uFillTx/>
                <a:latin typeface="Calibri" charset="0"/>
                <a:ea typeface="Calibri" charset="0"/>
                <a:cs typeface="Calibri" charset="0"/>
              </a:rPr>
              <a:t>var</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endPar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endParaRPr>
          </a:p>
        </p:txBody>
      </p:sp>
      <p:sp>
        <p:nvSpPr>
          <p:cNvPr id="51" name="Line 406"/>
          <p:cNvSpPr>
            <a:spLocks noChangeShapeType="1"/>
          </p:cNvSpPr>
          <p:nvPr/>
        </p:nvSpPr>
        <p:spPr bwMode="auto">
          <a:xfrm flipV="1">
            <a:off x="3045404" y="4435332"/>
            <a:ext cx="961021" cy="0"/>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2" name="Line 407"/>
          <p:cNvSpPr>
            <a:spLocks noChangeShapeType="1"/>
          </p:cNvSpPr>
          <p:nvPr/>
        </p:nvSpPr>
        <p:spPr bwMode="auto">
          <a:xfrm flipH="1">
            <a:off x="3616944" y="4279900"/>
            <a:ext cx="495300"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3" name="Line 408"/>
          <p:cNvSpPr>
            <a:spLocks noChangeShapeType="1"/>
          </p:cNvSpPr>
          <p:nvPr/>
        </p:nvSpPr>
        <p:spPr bwMode="auto">
          <a:xfrm flipV="1">
            <a:off x="3616944" y="1676400"/>
            <a:ext cx="0" cy="259080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4" name="Line 409"/>
          <p:cNvSpPr>
            <a:spLocks noChangeShapeType="1"/>
          </p:cNvSpPr>
          <p:nvPr/>
        </p:nvSpPr>
        <p:spPr bwMode="auto">
          <a:xfrm>
            <a:off x="3616944" y="1676400"/>
            <a:ext cx="381000" cy="0"/>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5" name="Line 411"/>
          <p:cNvSpPr>
            <a:spLocks noChangeShapeType="1"/>
          </p:cNvSpPr>
          <p:nvPr/>
        </p:nvSpPr>
        <p:spPr bwMode="auto">
          <a:xfrm flipH="1">
            <a:off x="6703044" y="3060700"/>
            <a:ext cx="495300"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6" name="Line 412"/>
          <p:cNvSpPr>
            <a:spLocks noChangeShapeType="1"/>
          </p:cNvSpPr>
          <p:nvPr/>
        </p:nvSpPr>
        <p:spPr bwMode="auto">
          <a:xfrm flipH="1" flipV="1">
            <a:off x="7236444" y="990600"/>
            <a:ext cx="0" cy="205740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7" name="Line 413"/>
          <p:cNvSpPr>
            <a:spLocks noChangeShapeType="1"/>
          </p:cNvSpPr>
          <p:nvPr/>
        </p:nvSpPr>
        <p:spPr bwMode="auto">
          <a:xfrm>
            <a:off x="6817344" y="990600"/>
            <a:ext cx="381000" cy="0"/>
          </a:xfrm>
          <a:prstGeom prst="line">
            <a:avLst/>
          </a:prstGeom>
          <a:noFill/>
          <a:ln w="12700">
            <a:solidFill>
              <a:srgbClr val="0000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8" name="Oval 417"/>
          <p:cNvSpPr>
            <a:spLocks noChangeAspect="1" noChangeArrowheads="1"/>
          </p:cNvSpPr>
          <p:nvPr/>
        </p:nvSpPr>
        <p:spPr bwMode="auto">
          <a:xfrm>
            <a:off x="4112244" y="4238625"/>
            <a:ext cx="92075" cy="920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9" name="Oval 419"/>
          <p:cNvSpPr>
            <a:spLocks noChangeAspect="1" noChangeArrowheads="1"/>
          </p:cNvSpPr>
          <p:nvPr/>
        </p:nvSpPr>
        <p:spPr bwMode="auto">
          <a:xfrm>
            <a:off x="6626844" y="3019425"/>
            <a:ext cx="92075" cy="920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 Box 421"/>
          <p:cNvSpPr txBox="1">
            <a:spLocks noChangeArrowheads="1"/>
          </p:cNvSpPr>
          <p:nvPr/>
        </p:nvSpPr>
        <p:spPr bwMode="auto">
          <a:xfrm>
            <a:off x="6952670" y="288409"/>
            <a:ext cx="16690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Bottom of stack</a:t>
            </a:r>
          </a:p>
        </p:txBody>
      </p:sp>
      <p:sp>
        <p:nvSpPr>
          <p:cNvPr id="61" name="Text Box 422"/>
          <p:cNvSpPr txBox="1">
            <a:spLocks noChangeArrowheads="1"/>
          </p:cNvSpPr>
          <p:nvPr/>
        </p:nvSpPr>
        <p:spPr bwMode="auto">
          <a:xfrm>
            <a:off x="6980560" y="5251303"/>
            <a:ext cx="1317990"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Top of stack</a:t>
            </a:r>
          </a:p>
        </p:txBody>
      </p:sp>
      <p:sp>
        <p:nvSpPr>
          <p:cNvPr id="64" name="Line 431"/>
          <p:cNvSpPr>
            <a:spLocks noChangeShapeType="1"/>
          </p:cNvSpPr>
          <p:nvPr/>
        </p:nvSpPr>
        <p:spPr bwMode="auto">
          <a:xfrm>
            <a:off x="7406067" y="3154102"/>
            <a:ext cx="398673" cy="194247"/>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Line 433"/>
          <p:cNvSpPr>
            <a:spLocks noChangeShapeType="1"/>
          </p:cNvSpPr>
          <p:nvPr/>
        </p:nvSpPr>
        <p:spPr bwMode="auto">
          <a:xfrm flipH="1">
            <a:off x="6830040" y="3153838"/>
            <a:ext cx="585722" cy="16008"/>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6" name="Text Box 401"/>
          <p:cNvSpPr txBox="1">
            <a:spLocks noChangeArrowheads="1"/>
          </p:cNvSpPr>
          <p:nvPr/>
        </p:nvSpPr>
        <p:spPr bwMode="auto">
          <a:xfrm>
            <a:off x="1912773" y="4132836"/>
            <a:ext cx="1113312" cy="584776"/>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argv</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rsi</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p>
        </p:txBody>
      </p:sp>
      <p:sp>
        <p:nvSpPr>
          <p:cNvPr id="67" name="Text Box 401"/>
          <p:cNvSpPr txBox="1">
            <a:spLocks noChangeArrowheads="1"/>
          </p:cNvSpPr>
          <p:nvPr/>
        </p:nvSpPr>
        <p:spPr bwMode="auto">
          <a:xfrm>
            <a:off x="7781869" y="3243116"/>
            <a:ext cx="1189831" cy="620121"/>
          </a:xfrm>
          <a:prstGeom prst="rect">
            <a:avLst/>
          </a:prstGeom>
          <a:solidFill>
            <a:srgbClr val="D5F1CF"/>
          </a:solidFill>
          <a:ln w="12700">
            <a:solidFill>
              <a:srgbClr val="000000"/>
            </a:solidFill>
            <a:miter lim="800000"/>
            <a:headEnd/>
            <a:tailEnd/>
          </a:ln>
          <a:effectLst/>
          <a:extLst/>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envp</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rdx</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endPar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endParaRPr>
          </a:p>
        </p:txBody>
      </p:sp>
      <p:sp>
        <p:nvSpPr>
          <p:cNvPr id="68" name="Line 431"/>
          <p:cNvSpPr>
            <a:spLocks noChangeShapeType="1"/>
          </p:cNvSpPr>
          <p:nvPr/>
        </p:nvSpPr>
        <p:spPr bwMode="auto">
          <a:xfrm flipV="1">
            <a:off x="7421182" y="2940361"/>
            <a:ext cx="398673" cy="194247"/>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Rectangle 379"/>
          <p:cNvSpPr>
            <a:spLocks noChangeArrowheads="1"/>
          </p:cNvSpPr>
          <p:nvPr/>
        </p:nvSpPr>
        <p:spPr bwMode="auto">
          <a:xfrm>
            <a:off x="4001615" y="4801237"/>
            <a:ext cx="2819400" cy="685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Stack frame for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a:cs typeface="Courier New"/>
              </a:rPr>
              <a:t>libc_start_main</a:t>
            </a:r>
            <a:endParaRPr kumimoji="0" lang="en-US" sz="1800" b="0" i="0" u="none" strike="noStrike" kern="0" cap="none" spc="0" normalizeH="0" baseline="0" noProof="0" dirty="0">
              <a:ln>
                <a:noFill/>
              </a:ln>
              <a:solidFill>
                <a:sysClr val="windowText" lastClr="000000"/>
              </a:solidFill>
              <a:effectLst/>
              <a:uLnTx/>
              <a:uFillTx/>
              <a:latin typeface="Courier New"/>
              <a:cs typeface="Courier New"/>
            </a:endParaRPr>
          </a:p>
        </p:txBody>
      </p:sp>
      <p:sp>
        <p:nvSpPr>
          <p:cNvPr id="70" name="Rectangle 382"/>
          <p:cNvSpPr>
            <a:spLocks noChangeArrowheads="1"/>
          </p:cNvSpPr>
          <p:nvPr/>
        </p:nvSpPr>
        <p:spPr bwMode="auto">
          <a:xfrm>
            <a:off x="4001614" y="4502315"/>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71" name="Text Box 401"/>
          <p:cNvSpPr txBox="1">
            <a:spLocks noChangeArrowheads="1"/>
          </p:cNvSpPr>
          <p:nvPr/>
        </p:nvSpPr>
        <p:spPr bwMode="auto">
          <a:xfrm>
            <a:off x="1905000" y="4914535"/>
            <a:ext cx="1113312" cy="584776"/>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argc</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rdi</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p>
        </p:txBody>
      </p:sp>
    </p:spTree>
    <p:extLst>
      <p:ext uri="{BB962C8B-B14F-4D97-AF65-F5344CB8AC3E}">
        <p14:creationId xmlns:p14="http://schemas.microsoft.com/office/powerpoint/2010/main" val="3878521912"/>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dirty="0" err="1" smtClean="0">
                <a:latin typeface="Courier New"/>
                <a:cs typeface="Courier New"/>
              </a:rPr>
              <a:t>execve</a:t>
            </a:r>
            <a:r>
              <a:rPr lang="en-US" dirty="0" smtClean="0"/>
              <a:t> Example</a:t>
            </a:r>
            <a:endParaRPr lang="en-US" dirty="0"/>
          </a:p>
        </p:txBody>
      </p:sp>
      <p:grpSp>
        <p:nvGrpSpPr>
          <p:cNvPr id="2" name="Group 1"/>
          <p:cNvGrpSpPr/>
          <p:nvPr/>
        </p:nvGrpSpPr>
        <p:grpSpPr>
          <a:xfrm>
            <a:off x="685800" y="2044580"/>
            <a:ext cx="7129340" cy="1393002"/>
            <a:chOff x="685800" y="3352800"/>
            <a:chExt cx="7129340" cy="1393002"/>
          </a:xfrm>
        </p:grpSpPr>
        <p:sp>
          <p:nvSpPr>
            <p:cNvPr id="13" name="Rectangle 23"/>
            <p:cNvSpPr>
              <a:spLocks noChangeArrowheads="1"/>
            </p:cNvSpPr>
            <p:nvPr/>
          </p:nvSpPr>
          <p:spPr bwMode="auto">
            <a:xfrm>
              <a:off x="2590800" y="33528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[n] = NULL</a:t>
              </a:r>
              <a:endParaRPr lang="en-US" sz="1800" dirty="0">
                <a:latin typeface="Courier New"/>
                <a:cs typeface="Courier New"/>
              </a:endParaRPr>
            </a:p>
          </p:txBody>
        </p:sp>
        <p:sp>
          <p:nvSpPr>
            <p:cNvPr id="15" name="Rectangle 23"/>
            <p:cNvSpPr>
              <a:spLocks noChangeArrowheads="1"/>
            </p:cNvSpPr>
            <p:nvPr/>
          </p:nvSpPr>
          <p:spPr bwMode="auto">
            <a:xfrm>
              <a:off x="2590800" y="36576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[n-1]</a:t>
              </a:r>
              <a:endParaRPr lang="en-US" sz="1800" dirty="0">
                <a:latin typeface="Courier New"/>
                <a:cs typeface="Courier New"/>
              </a:endParaRPr>
            </a:p>
          </p:txBody>
        </p:sp>
        <p:sp>
          <p:nvSpPr>
            <p:cNvPr id="16" name="Rectangle 23"/>
            <p:cNvSpPr>
              <a:spLocks noChangeArrowheads="1"/>
            </p:cNvSpPr>
            <p:nvPr/>
          </p:nvSpPr>
          <p:spPr bwMode="auto">
            <a:xfrm>
              <a:off x="2590800" y="4267200"/>
              <a:ext cx="2209800" cy="293132"/>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[0]</a:t>
              </a:r>
              <a:endParaRPr lang="en-US" sz="1800" dirty="0">
                <a:latin typeface="Courier New"/>
                <a:cs typeface="Courier New"/>
              </a:endParaRPr>
            </a:p>
          </p:txBody>
        </p:sp>
        <p:sp>
          <p:nvSpPr>
            <p:cNvPr id="17" name="Rectangle 23"/>
            <p:cNvSpPr>
              <a:spLocks noChangeArrowheads="1"/>
            </p:cNvSpPr>
            <p:nvPr/>
          </p:nvSpPr>
          <p:spPr bwMode="auto">
            <a:xfrm>
              <a:off x="2590800" y="39624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smtClean="0">
                  <a:latin typeface="Courier New"/>
                  <a:cs typeface="Courier New"/>
                </a:rPr>
                <a:t>…</a:t>
              </a:r>
              <a:endParaRPr lang="en-US" sz="1800" dirty="0">
                <a:latin typeface="Courier New"/>
                <a:cs typeface="Courier New"/>
              </a:endParaRPr>
            </a:p>
          </p:txBody>
        </p:sp>
        <p:sp>
          <p:nvSpPr>
            <p:cNvPr id="33" name="TextBox 32"/>
            <p:cNvSpPr txBox="1"/>
            <p:nvPr/>
          </p:nvSpPr>
          <p:spPr>
            <a:xfrm>
              <a:off x="5562600" y="4234130"/>
              <a:ext cx="170110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USER=</a:t>
              </a:r>
              <a:r>
                <a:rPr lang="en-US" sz="1800" b="0" dirty="0" err="1" smtClean="0">
                  <a:latin typeface="Courier New"/>
                  <a:cs typeface="Courier New"/>
                </a:rPr>
                <a:t>droh</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5" name="TextBox 34"/>
            <p:cNvSpPr txBox="1"/>
            <p:nvPr/>
          </p:nvSpPr>
          <p:spPr>
            <a:xfrm>
              <a:off x="5562600" y="3624074"/>
              <a:ext cx="2252540"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PWD=/</a:t>
              </a:r>
              <a:r>
                <a:rPr lang="en-US" sz="1800" b="0" dirty="0" err="1" smtClean="0">
                  <a:latin typeface="Courier New"/>
                  <a:cs typeface="Courier New"/>
                </a:rPr>
                <a:t>usr</a:t>
              </a:r>
              <a:r>
                <a:rPr lang="en-US" sz="1800" b="0" dirty="0" smtClean="0">
                  <a:latin typeface="Courier New"/>
                  <a:cs typeface="Courier New"/>
                </a:rPr>
                <a:t>/</a:t>
              </a:r>
              <a:r>
                <a:rPr lang="en-US" sz="1800" b="0" dirty="0" err="1" smtClean="0">
                  <a:latin typeface="Courier New"/>
                  <a:cs typeface="Courier New"/>
                </a:rPr>
                <a:t>droh</a:t>
              </a:r>
              <a:r>
                <a:rPr lang="en-US" sz="1800" dirty="0">
                  <a:solidFill>
                    <a:srgbClr val="000000"/>
                  </a:solidFill>
                  <a:latin typeface="Courier New"/>
                  <a:cs typeface="Courier New"/>
                </a:rPr>
                <a:t>"</a:t>
              </a:r>
              <a:endParaRPr lang="en-US" sz="1800" dirty="0" smtClean="0">
                <a:latin typeface="Courier New"/>
                <a:cs typeface="Courier New"/>
              </a:endParaRPr>
            </a:p>
          </p:txBody>
        </p:sp>
        <p:cxnSp>
          <p:nvCxnSpPr>
            <p:cNvPr id="47" name="Straight Arrow Connector 46"/>
            <p:cNvCxnSpPr>
              <a:stCxn id="16" idx="3"/>
              <a:endCxn id="33" idx="1"/>
            </p:cNvCxnSpPr>
            <p:nvPr/>
          </p:nvCxnSpPr>
          <p:spPr bwMode="auto">
            <a:xfrm>
              <a:off x="4800600" y="4413766"/>
              <a:ext cx="762000" cy="5030"/>
            </a:xfrm>
            <a:prstGeom prst="straightConnector1">
              <a:avLst/>
            </a:prstGeom>
            <a:noFill/>
            <a:ln w="25400" cap="flat" cmpd="sng" algn="ctr">
              <a:solidFill>
                <a:schemeClr val="tx1"/>
              </a:solidFill>
              <a:prstDash val="solid"/>
              <a:round/>
              <a:headEnd type="none" w="med" len="med"/>
              <a:tailEnd type="arrow"/>
            </a:ln>
            <a:effectLst/>
          </p:spPr>
        </p:cxnSp>
        <p:cxnSp>
          <p:nvCxnSpPr>
            <p:cNvPr id="53" name="Straight Arrow Connector 52"/>
            <p:cNvCxnSpPr>
              <a:stCxn id="15" idx="3"/>
              <a:endCxn id="35" idx="1"/>
            </p:cNvCxnSpPr>
            <p:nvPr/>
          </p:nvCxnSpPr>
          <p:spPr bwMode="auto">
            <a:xfrm flipV="1">
              <a:off x="4800600" y="3808740"/>
              <a:ext cx="762000" cy="1260"/>
            </a:xfrm>
            <a:prstGeom prst="straightConnector1">
              <a:avLst/>
            </a:prstGeom>
            <a:noFill/>
            <a:ln w="25400" cap="flat" cmpd="sng" algn="ctr">
              <a:solidFill>
                <a:schemeClr val="tx1"/>
              </a:solidFill>
              <a:prstDash val="solid"/>
              <a:round/>
              <a:headEnd type="none" w="med" len="med"/>
              <a:tailEnd type="arrow"/>
            </a:ln>
            <a:effectLst/>
          </p:spPr>
        </p:cxnSp>
        <p:sp>
          <p:nvSpPr>
            <p:cNvPr id="26" name="TextBox 25"/>
            <p:cNvSpPr txBox="1"/>
            <p:nvPr/>
          </p:nvSpPr>
          <p:spPr>
            <a:xfrm>
              <a:off x="685800" y="4376470"/>
              <a:ext cx="1154320" cy="369332"/>
            </a:xfrm>
            <a:prstGeom prst="rect">
              <a:avLst/>
            </a:prstGeom>
            <a:noFill/>
          </p:spPr>
          <p:txBody>
            <a:bodyPr wrap="none" rtlCol="0">
              <a:spAutoFit/>
            </a:bodyPr>
            <a:lstStyle/>
            <a:p>
              <a:r>
                <a:rPr lang="en-US" sz="1800" b="0" dirty="0" smtClean="0">
                  <a:latin typeface="Courier New"/>
                  <a:cs typeface="Courier New"/>
                </a:rPr>
                <a:t>environ</a:t>
              </a:r>
            </a:p>
          </p:txBody>
        </p:sp>
        <p:cxnSp>
          <p:nvCxnSpPr>
            <p:cNvPr id="30" name="Straight Arrow Connector 29"/>
            <p:cNvCxnSpPr/>
            <p:nvPr/>
          </p:nvCxnSpPr>
          <p:spPr bwMode="auto">
            <a:xfrm flipV="1">
              <a:off x="1828800" y="4560332"/>
              <a:ext cx="717550" cy="804"/>
            </a:xfrm>
            <a:prstGeom prst="straightConnector1">
              <a:avLst/>
            </a:prstGeom>
            <a:noFill/>
            <a:ln w="25400" cap="flat" cmpd="sng" algn="ctr">
              <a:solidFill>
                <a:schemeClr val="tx1"/>
              </a:solidFill>
              <a:prstDash val="solid"/>
              <a:round/>
              <a:headEnd type="none" w="med" len="med"/>
              <a:tailEnd type="arrow"/>
            </a:ln>
            <a:effectLst/>
          </p:spPr>
        </p:cxnSp>
      </p:grpSp>
      <p:sp>
        <p:nvSpPr>
          <p:cNvPr id="36" name="Text Box 4"/>
          <p:cNvSpPr txBox="1">
            <a:spLocks noChangeArrowheads="1"/>
          </p:cNvSpPr>
          <p:nvPr/>
        </p:nvSpPr>
        <p:spPr bwMode="auto">
          <a:xfrm>
            <a:off x="622643" y="5029200"/>
            <a:ext cx="7225957" cy="1569660"/>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000000"/>
                </a:solidFill>
                <a:latin typeface="Courier New"/>
                <a:cs typeface="Courier New"/>
              </a:rPr>
              <a:t>  </a:t>
            </a:r>
            <a:r>
              <a:rPr lang="en-US" sz="1600" dirty="0">
                <a:solidFill>
                  <a:srgbClr val="9D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9D0003"/>
                </a:solidFill>
                <a:latin typeface="Courier New"/>
                <a:cs typeface="Courier New"/>
              </a:rPr>
              <a:t>/* Child </a:t>
            </a:r>
            <a:r>
              <a:rPr lang="en-US" sz="1600" dirty="0" smtClean="0">
                <a:solidFill>
                  <a:srgbClr val="9D0003"/>
                </a:solidFill>
                <a:latin typeface="Courier New"/>
                <a:cs typeface="Courier New"/>
              </a:rPr>
              <a:t>runs program *</a:t>
            </a:r>
            <a:r>
              <a:rPr lang="en-US" sz="1600" dirty="0">
                <a:solidFill>
                  <a:srgbClr val="9D0003"/>
                </a:solidFill>
                <a:latin typeface="Courier New"/>
                <a:cs typeface="Courier New"/>
              </a:rPr>
              <a:t>/</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smtClean="0">
                <a:solidFill>
                  <a:srgbClr val="9D00FF"/>
                </a:solidFill>
                <a:latin typeface="Courier New"/>
                <a:cs typeface="Courier New"/>
              </a:rPr>
              <a:t>if</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a:t>
            </a:r>
            <a:r>
              <a:rPr lang="en-US" sz="1600" dirty="0" err="1">
                <a:solidFill>
                  <a:srgbClr val="000000"/>
                </a:solidFill>
                <a:latin typeface="Courier New"/>
                <a:cs typeface="Courier New"/>
              </a:rPr>
              <a:t>execve</a:t>
            </a:r>
            <a:r>
              <a:rPr lang="en-US" sz="1600" dirty="0" smtClean="0">
                <a:solidFill>
                  <a:srgbClr val="000000"/>
                </a:solidFill>
                <a:latin typeface="Courier New"/>
                <a:cs typeface="Courier New"/>
              </a:rPr>
              <a:t>(</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[0], </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 environ) &lt; 0) {                                                        </a:t>
            </a:r>
          </a:p>
          <a:p>
            <a:r>
              <a:rPr lang="en-US" sz="1600" dirty="0">
                <a:solidFill>
                  <a:srgbClr val="000000"/>
                </a:solidFill>
                <a:latin typeface="Courier New"/>
                <a:cs typeface="Courier New"/>
              </a:rPr>
              <a:t>          </a:t>
            </a:r>
            <a:r>
              <a:rPr lang="en-US" sz="1600" dirty="0" err="1" smtClean="0">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72004C"/>
                </a:solidFill>
                <a:latin typeface="Courier New"/>
                <a:cs typeface="Courier New"/>
              </a:rPr>
              <a:t>"%s: Command not found.\n"</a:t>
            </a:r>
            <a:r>
              <a:rPr lang="en-US" sz="1600" dirty="0">
                <a:solidFill>
                  <a:srgbClr val="000000"/>
                </a:solidFill>
                <a:latin typeface="Courier New"/>
                <a:cs typeface="Courier New"/>
              </a:rPr>
              <a:t>, </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[0]);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exit(1)</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p:txBody>
      </p:sp>
      <p:sp>
        <p:nvSpPr>
          <p:cNvPr id="42" name="Rectangle 3"/>
          <p:cNvSpPr txBox="1">
            <a:spLocks noChangeArrowheads="1"/>
          </p:cNvSpPr>
          <p:nvPr/>
        </p:nvSpPr>
        <p:spPr bwMode="auto">
          <a:xfrm>
            <a:off x="381000" y="1262966"/>
            <a:ext cx="7568111" cy="4565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dirty="0" smtClean="0">
                <a:latin typeface="Calibri"/>
                <a:cs typeface="Calibri"/>
              </a:rPr>
              <a:t>Execute</a:t>
            </a:r>
            <a:r>
              <a:rPr lang="en-US" sz="2000" dirty="0" smtClean="0">
                <a:latin typeface="Courier New" pitchFamily="49" charset="0"/>
              </a:rPr>
              <a:t> </a:t>
            </a:r>
            <a:r>
              <a:rPr lang="en-US" sz="2000" dirty="0">
                <a:solidFill>
                  <a:srgbClr val="000000"/>
                </a:solidFill>
                <a:latin typeface="Courier New"/>
                <a:cs typeface="Courier New"/>
              </a:rPr>
              <a:t>"</a:t>
            </a:r>
            <a:r>
              <a:rPr lang="en-US" sz="2000" b="0" dirty="0" smtClean="0">
                <a:latin typeface="Courier New"/>
                <a:cs typeface="Courier New"/>
              </a:rPr>
              <a:t>/bin/</a:t>
            </a:r>
            <a:r>
              <a:rPr lang="en-US" sz="2000" b="0" dirty="0" err="1" smtClean="0">
                <a:latin typeface="Courier New"/>
                <a:cs typeface="Courier New"/>
              </a:rPr>
              <a:t>ls</a:t>
            </a:r>
            <a:r>
              <a:rPr lang="en-US" sz="2000" b="0" dirty="0" smtClean="0">
                <a:latin typeface="Courier New"/>
                <a:cs typeface="Courier New"/>
              </a:rPr>
              <a:t> –</a:t>
            </a:r>
            <a:r>
              <a:rPr lang="en-US" sz="2000" b="0" dirty="0" err="1" smtClean="0">
                <a:latin typeface="Courier New"/>
                <a:cs typeface="Courier New"/>
              </a:rPr>
              <a:t>lt</a:t>
            </a:r>
            <a:r>
              <a:rPr lang="en-US" sz="2000" b="0" dirty="0" smtClean="0">
                <a:latin typeface="Courier New"/>
                <a:cs typeface="Courier New"/>
              </a:rPr>
              <a:t> /</a:t>
            </a:r>
            <a:r>
              <a:rPr lang="en-US" sz="2000" b="0" dirty="0" err="1" smtClean="0">
                <a:latin typeface="Courier New"/>
                <a:cs typeface="Courier New"/>
              </a:rPr>
              <a:t>usr</a:t>
            </a:r>
            <a:r>
              <a:rPr lang="en-US" sz="2000" b="0" dirty="0" smtClean="0">
                <a:latin typeface="Courier New"/>
                <a:cs typeface="Courier New"/>
              </a:rPr>
              <a:t>/include</a:t>
            </a:r>
            <a:r>
              <a:rPr lang="en-US" sz="2000" dirty="0">
                <a:solidFill>
                  <a:srgbClr val="000000"/>
                </a:solidFill>
                <a:latin typeface="Courier New"/>
                <a:cs typeface="Courier New"/>
              </a:rPr>
              <a:t>"</a:t>
            </a:r>
            <a:r>
              <a:rPr lang="en-US" sz="2000" dirty="0" smtClean="0">
                <a:latin typeface="Courier New" pitchFamily="49" charset="0"/>
              </a:rPr>
              <a:t> </a:t>
            </a:r>
            <a:r>
              <a:rPr lang="en-US" sz="2000" dirty="0" smtClean="0">
                <a:latin typeface="Calibri"/>
                <a:cs typeface="Calibri"/>
              </a:rPr>
              <a:t>in child process using current environment:</a:t>
            </a:r>
            <a:endParaRPr lang="en-US" dirty="0">
              <a:latin typeface="Calibri"/>
              <a:cs typeface="Calibri"/>
            </a:endParaRPr>
          </a:p>
        </p:txBody>
      </p:sp>
      <p:grpSp>
        <p:nvGrpSpPr>
          <p:cNvPr id="3" name="Group 2"/>
          <p:cNvGrpSpPr/>
          <p:nvPr/>
        </p:nvGrpSpPr>
        <p:grpSpPr>
          <a:xfrm>
            <a:off x="457200" y="3538120"/>
            <a:ext cx="7746869" cy="1240602"/>
            <a:chOff x="457200" y="2035998"/>
            <a:chExt cx="7746869" cy="1240602"/>
          </a:xfrm>
        </p:grpSpPr>
        <p:sp>
          <p:nvSpPr>
            <p:cNvPr id="19" name="Rectangle 23"/>
            <p:cNvSpPr>
              <a:spLocks noChangeArrowheads="1"/>
            </p:cNvSpPr>
            <p:nvPr/>
          </p:nvSpPr>
          <p:spPr bwMode="auto">
            <a:xfrm>
              <a:off x="2590799" y="2035998"/>
              <a:ext cx="2743201"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a:t>
              </a:r>
              <a:r>
                <a:rPr lang="en-US" sz="1800" b="0" dirty="0" err="1" smtClean="0">
                  <a:latin typeface="Courier New"/>
                  <a:cs typeface="Courier New"/>
                </a:rPr>
                <a:t>argc</a:t>
              </a:r>
              <a:r>
                <a:rPr lang="en-US" sz="1800" b="0" dirty="0" smtClean="0">
                  <a:latin typeface="Courier New"/>
                  <a:cs typeface="Courier New"/>
                </a:rPr>
                <a:t>] = NULL</a:t>
              </a:r>
              <a:endParaRPr lang="en-US" sz="1800" dirty="0">
                <a:latin typeface="Courier New"/>
                <a:cs typeface="Courier New"/>
              </a:endParaRPr>
            </a:p>
          </p:txBody>
        </p:sp>
        <p:sp>
          <p:nvSpPr>
            <p:cNvPr id="20" name="Rectangle 23"/>
            <p:cNvSpPr>
              <a:spLocks noChangeArrowheads="1"/>
            </p:cNvSpPr>
            <p:nvPr/>
          </p:nvSpPr>
          <p:spPr bwMode="auto">
            <a:xfrm>
              <a:off x="2590800" y="22976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[2]</a:t>
              </a:r>
              <a:endParaRPr lang="en-US" sz="1800" dirty="0">
                <a:latin typeface="Courier New"/>
                <a:cs typeface="Courier New"/>
              </a:endParaRPr>
            </a:p>
          </p:txBody>
        </p:sp>
        <p:sp>
          <p:nvSpPr>
            <p:cNvPr id="21" name="Rectangle 23"/>
            <p:cNvSpPr>
              <a:spLocks noChangeArrowheads="1"/>
            </p:cNvSpPr>
            <p:nvPr/>
          </p:nvSpPr>
          <p:spPr bwMode="auto">
            <a:xfrm>
              <a:off x="2590800" y="28310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[0]</a:t>
              </a:r>
              <a:endParaRPr lang="en-US" sz="1800" dirty="0">
                <a:latin typeface="Courier New"/>
                <a:cs typeface="Courier New"/>
              </a:endParaRPr>
            </a:p>
          </p:txBody>
        </p:sp>
        <p:sp>
          <p:nvSpPr>
            <p:cNvPr id="22" name="Rectangle 23"/>
            <p:cNvSpPr>
              <a:spLocks noChangeArrowheads="1"/>
            </p:cNvSpPr>
            <p:nvPr/>
          </p:nvSpPr>
          <p:spPr bwMode="auto">
            <a:xfrm>
              <a:off x="2590800" y="2602468"/>
              <a:ext cx="2743200"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smtClean="0">
                  <a:latin typeface="Courier New"/>
                  <a:cs typeface="Courier New"/>
                </a:rPr>
                <a:t>[1]</a:t>
              </a:r>
              <a:endParaRPr lang="en-US" sz="1800" dirty="0">
                <a:latin typeface="Courier New"/>
                <a:cs typeface="Courier New"/>
              </a:endParaRPr>
            </a:p>
          </p:txBody>
        </p:sp>
        <p:sp>
          <p:nvSpPr>
            <p:cNvPr id="28" name="TextBox 27"/>
            <p:cNvSpPr txBox="1"/>
            <p:nvPr/>
          </p:nvSpPr>
          <p:spPr>
            <a:xfrm>
              <a:off x="6086905" y="2907268"/>
              <a:ext cx="1431364"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/bin/</a:t>
              </a:r>
              <a:r>
                <a:rPr lang="en-US" sz="1800" b="0" dirty="0" err="1" smtClean="0">
                  <a:latin typeface="Courier New"/>
                  <a:cs typeface="Courier New"/>
                </a:rPr>
                <a:t>ls</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1" name="TextBox 30"/>
            <p:cNvSpPr txBox="1"/>
            <p:nvPr/>
          </p:nvSpPr>
          <p:spPr>
            <a:xfrm>
              <a:off x="6086905" y="2598155"/>
              <a:ext cx="87395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a:t>
              </a:r>
              <a:r>
                <a:rPr lang="en-US" sz="1800" b="0" dirty="0" err="1" smtClean="0">
                  <a:latin typeface="Courier New"/>
                  <a:cs typeface="Courier New"/>
                </a:rPr>
                <a:t>lt</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2" name="TextBox 31"/>
            <p:cNvSpPr txBox="1"/>
            <p:nvPr/>
          </p:nvSpPr>
          <p:spPr>
            <a:xfrm>
              <a:off x="6089388" y="2297668"/>
              <a:ext cx="2114681"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a:t>
              </a:r>
              <a:r>
                <a:rPr lang="en-US" sz="1800" b="0" dirty="0" err="1" smtClean="0">
                  <a:latin typeface="Courier New"/>
                  <a:cs typeface="Courier New"/>
                </a:rPr>
                <a:t>usr</a:t>
              </a:r>
              <a:r>
                <a:rPr lang="en-US" sz="1800" b="0" dirty="0" smtClean="0">
                  <a:latin typeface="Courier New"/>
                  <a:cs typeface="Courier New"/>
                </a:rPr>
                <a:t>/include</a:t>
              </a:r>
              <a:r>
                <a:rPr lang="en-US" sz="1800" dirty="0">
                  <a:solidFill>
                    <a:srgbClr val="000000"/>
                  </a:solidFill>
                  <a:latin typeface="Courier New"/>
                  <a:cs typeface="Courier New"/>
                </a:rPr>
                <a:t>"</a:t>
              </a:r>
              <a:endParaRPr lang="en-US" sz="1800" dirty="0" smtClean="0">
                <a:latin typeface="Courier New"/>
                <a:cs typeface="Courier New"/>
              </a:endParaRPr>
            </a:p>
          </p:txBody>
        </p:sp>
        <p:cxnSp>
          <p:nvCxnSpPr>
            <p:cNvPr id="37" name="Straight Arrow Connector 36"/>
            <p:cNvCxnSpPr/>
            <p:nvPr/>
          </p:nvCxnSpPr>
          <p:spPr bwMode="auto">
            <a:xfrm>
              <a:off x="5334000" y="3091130"/>
              <a:ext cx="717550" cy="804"/>
            </a:xfrm>
            <a:prstGeom prst="straightConnector1">
              <a:avLst/>
            </a:prstGeom>
            <a:noFill/>
            <a:ln w="25400" cap="flat" cmpd="sng" algn="ctr">
              <a:solidFill>
                <a:schemeClr val="tx1"/>
              </a:solidFill>
              <a:prstDash val="solid"/>
              <a:round/>
              <a:headEnd type="none" w="med" len="med"/>
              <a:tailEnd type="arrow"/>
            </a:ln>
            <a:effectLst/>
          </p:spPr>
        </p:cxnSp>
        <p:cxnSp>
          <p:nvCxnSpPr>
            <p:cNvPr id="39" name="Straight Arrow Connector 38"/>
            <p:cNvCxnSpPr/>
            <p:nvPr/>
          </p:nvCxnSpPr>
          <p:spPr bwMode="auto">
            <a:xfrm flipV="1">
              <a:off x="5334000" y="2782821"/>
              <a:ext cx="717550" cy="3509"/>
            </a:xfrm>
            <a:prstGeom prst="straightConnector1">
              <a:avLst/>
            </a:prstGeom>
            <a:noFill/>
            <a:ln w="25400" cap="flat" cmpd="sng" algn="ctr">
              <a:solidFill>
                <a:schemeClr val="tx1"/>
              </a:solidFill>
              <a:prstDash val="solid"/>
              <a:round/>
              <a:headEnd type="none" w="med" len="med"/>
              <a:tailEnd type="arrow"/>
            </a:ln>
            <a:effectLst/>
          </p:spPr>
        </p:cxnSp>
        <p:cxnSp>
          <p:nvCxnSpPr>
            <p:cNvPr id="41" name="Straight Arrow Connector 40"/>
            <p:cNvCxnSpPr/>
            <p:nvPr/>
          </p:nvCxnSpPr>
          <p:spPr bwMode="auto">
            <a:xfrm>
              <a:off x="5334000" y="2481530"/>
              <a:ext cx="736469" cy="804"/>
            </a:xfrm>
            <a:prstGeom prst="straightConnector1">
              <a:avLst/>
            </a:prstGeom>
            <a:noFill/>
            <a:ln w="25400" cap="flat" cmpd="sng" algn="ctr">
              <a:solidFill>
                <a:schemeClr val="tx1"/>
              </a:solidFill>
              <a:prstDash val="solid"/>
              <a:round/>
              <a:headEnd type="none" w="med" len="med"/>
              <a:tailEnd type="arrow"/>
            </a:ln>
            <a:effectLst/>
          </p:spPr>
        </p:cxnSp>
        <p:sp>
          <p:nvSpPr>
            <p:cNvPr id="38" name="TextBox 37"/>
            <p:cNvSpPr txBox="1"/>
            <p:nvPr/>
          </p:nvSpPr>
          <p:spPr>
            <a:xfrm>
              <a:off x="838200" y="2907268"/>
              <a:ext cx="1015798" cy="369332"/>
            </a:xfrm>
            <a:prstGeom prst="rect">
              <a:avLst/>
            </a:prstGeom>
            <a:noFill/>
          </p:spPr>
          <p:txBody>
            <a:bodyPr wrap="none" rtlCol="0">
              <a:spAutoFit/>
            </a:bodyPr>
            <a:lstStyle/>
            <a:p>
              <a:r>
                <a:rPr lang="en-US" sz="1800" b="0" dirty="0" err="1" smtClean="0">
                  <a:latin typeface="Courier New"/>
                  <a:cs typeface="Courier New"/>
                </a:rPr>
                <a:t>myargv</a:t>
              </a:r>
              <a:endParaRPr lang="en-US" sz="1800" b="0" dirty="0" smtClean="0">
                <a:latin typeface="Courier New"/>
                <a:cs typeface="Courier New"/>
              </a:endParaRPr>
            </a:p>
          </p:txBody>
        </p:sp>
        <p:cxnSp>
          <p:nvCxnSpPr>
            <p:cNvPr id="40" name="Straight Arrow Connector 39"/>
            <p:cNvCxnSpPr/>
            <p:nvPr/>
          </p:nvCxnSpPr>
          <p:spPr bwMode="auto">
            <a:xfrm flipV="1">
              <a:off x="1828800" y="3091130"/>
              <a:ext cx="717550" cy="804"/>
            </a:xfrm>
            <a:prstGeom prst="straightConnector1">
              <a:avLst/>
            </a:prstGeom>
            <a:noFill/>
            <a:ln w="25400" cap="flat" cmpd="sng" algn="ctr">
              <a:solidFill>
                <a:schemeClr val="tx1"/>
              </a:solidFill>
              <a:prstDash val="solid"/>
              <a:round/>
              <a:headEnd type="none" w="med" len="med"/>
              <a:tailEnd type="arrow"/>
            </a:ln>
            <a:effectLst/>
          </p:spPr>
        </p:cxnSp>
        <p:sp>
          <p:nvSpPr>
            <p:cNvPr id="7" name="TextBox 6"/>
            <p:cNvSpPr txBox="1"/>
            <p:nvPr/>
          </p:nvSpPr>
          <p:spPr>
            <a:xfrm>
              <a:off x="457200" y="2362200"/>
              <a:ext cx="1708408" cy="369332"/>
            </a:xfrm>
            <a:prstGeom prst="rect">
              <a:avLst/>
            </a:prstGeom>
            <a:noFill/>
          </p:spPr>
          <p:txBody>
            <a:bodyPr wrap="none" rtlCol="0">
              <a:spAutoFit/>
            </a:bodyPr>
            <a:lstStyle/>
            <a:p>
              <a:r>
                <a:rPr lang="en-US" sz="1800" b="0" dirty="0" smtClean="0">
                  <a:latin typeface="Courier New"/>
                  <a:cs typeface="Courier New"/>
                </a:rPr>
                <a:t>(</a:t>
              </a:r>
              <a:r>
                <a:rPr lang="en-US" sz="1800" b="0" dirty="0" err="1" smtClean="0">
                  <a:latin typeface="Courier New"/>
                  <a:cs typeface="Courier New"/>
                </a:rPr>
                <a:t>argc</a:t>
              </a:r>
              <a:r>
                <a:rPr lang="en-US" sz="1800" b="0" dirty="0" smtClean="0">
                  <a:latin typeface="Courier New"/>
                  <a:cs typeface="Courier New"/>
                </a:rPr>
                <a:t> == 3)</a:t>
              </a:r>
            </a:p>
          </p:txBody>
        </p:sp>
      </p:grpSp>
    </p:spTree>
    <p:extLst>
      <p:ext uri="{BB962C8B-B14F-4D97-AF65-F5344CB8AC3E}">
        <p14:creationId xmlns:p14="http://schemas.microsoft.com/office/powerpoint/2010/main" val="1946713832"/>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US" smtClean="0"/>
              <a:t>Summary</a:t>
            </a:r>
            <a:endParaRPr lang="en-US" dirty="0"/>
          </a:p>
        </p:txBody>
      </p:sp>
      <p:sp>
        <p:nvSpPr>
          <p:cNvPr id="504835" name="Rectangle 3"/>
          <p:cNvSpPr>
            <a:spLocks noGrp="1" noChangeArrowheads="1"/>
          </p:cNvSpPr>
          <p:nvPr>
            <p:ph type="body" idx="1"/>
          </p:nvPr>
        </p:nvSpPr>
        <p:spPr/>
        <p:txBody>
          <a:bodyPr/>
          <a:lstStyle/>
          <a:p>
            <a:r>
              <a:rPr lang="en-US" dirty="0" smtClean="0"/>
              <a:t>Exceptions</a:t>
            </a:r>
          </a:p>
          <a:p>
            <a:pPr lvl="1"/>
            <a:r>
              <a:rPr lang="en-US" dirty="0" smtClean="0"/>
              <a:t>Events that require nonstandard control flow</a:t>
            </a:r>
          </a:p>
          <a:p>
            <a:pPr lvl="1"/>
            <a:r>
              <a:rPr lang="en-US" dirty="0" smtClean="0"/>
              <a:t>Generated externally (interrupts) or internally (traps and faults)</a:t>
            </a:r>
          </a:p>
          <a:p>
            <a:endParaRPr lang="en-US" dirty="0" smtClean="0"/>
          </a:p>
          <a:p>
            <a:r>
              <a:rPr lang="en-US" dirty="0" smtClean="0"/>
              <a:t>Processes</a:t>
            </a:r>
          </a:p>
          <a:p>
            <a:pPr lvl="1"/>
            <a:r>
              <a:rPr lang="en-US" dirty="0" smtClean="0"/>
              <a:t>At any given time, system has multiple active processes</a:t>
            </a:r>
          </a:p>
          <a:p>
            <a:pPr lvl="1"/>
            <a:r>
              <a:rPr lang="en-US" dirty="0" smtClean="0"/>
              <a:t>Only one can execute at a time on any single core</a:t>
            </a:r>
          </a:p>
          <a:p>
            <a:pPr lvl="1"/>
            <a:r>
              <a:rPr lang="en-US" dirty="0" smtClean="0"/>
              <a:t>Each process appears to have total control of </a:t>
            </a:r>
            <a:br>
              <a:rPr lang="en-US" dirty="0" smtClean="0"/>
            </a:br>
            <a:r>
              <a:rPr lang="en-US" dirty="0" smtClean="0"/>
              <a:t>processor + private memory space</a:t>
            </a:r>
            <a:endParaRPr lang="en-US" dirty="0"/>
          </a:p>
        </p:txBody>
      </p:sp>
    </p:spTree>
    <p:extLst>
      <p:ext uri="{BB962C8B-B14F-4D97-AF65-F5344CB8AC3E}">
        <p14:creationId xmlns:p14="http://schemas.microsoft.com/office/powerpoint/2010/main" val="302522828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smtClean="0"/>
              <a:t>Summary (cont.)</a:t>
            </a:r>
            <a:endParaRPr lang="en-US" dirty="0"/>
          </a:p>
        </p:txBody>
      </p:sp>
      <p:sp>
        <p:nvSpPr>
          <p:cNvPr id="508931" name="Rectangle 3"/>
          <p:cNvSpPr>
            <a:spLocks noGrp="1" noChangeArrowheads="1"/>
          </p:cNvSpPr>
          <p:nvPr>
            <p:ph type="body" idx="1"/>
          </p:nvPr>
        </p:nvSpPr>
        <p:spPr/>
        <p:txBody>
          <a:bodyPr/>
          <a:lstStyle/>
          <a:p>
            <a:r>
              <a:rPr lang="en-US" dirty="0" smtClean="0"/>
              <a:t>Spawning processes</a:t>
            </a:r>
          </a:p>
          <a:p>
            <a:pPr lvl="1"/>
            <a:r>
              <a:rPr lang="en-US" dirty="0" smtClean="0"/>
              <a:t>Call </a:t>
            </a:r>
            <a:r>
              <a:rPr lang="en-US" dirty="0" smtClean="0">
                <a:latin typeface="Courier New"/>
                <a:cs typeface="Courier New"/>
              </a:rPr>
              <a:t>fork</a:t>
            </a:r>
          </a:p>
          <a:p>
            <a:pPr lvl="1"/>
            <a:r>
              <a:rPr lang="en-US" dirty="0" smtClean="0"/>
              <a:t>One call, two returns</a:t>
            </a:r>
          </a:p>
          <a:p>
            <a:r>
              <a:rPr lang="en-US" dirty="0" smtClean="0"/>
              <a:t>Process completion</a:t>
            </a:r>
          </a:p>
          <a:p>
            <a:pPr lvl="1"/>
            <a:r>
              <a:rPr lang="en-US" dirty="0" smtClean="0"/>
              <a:t>Call </a:t>
            </a:r>
            <a:r>
              <a:rPr lang="en-US" dirty="0" smtClean="0">
                <a:latin typeface="Courier New"/>
                <a:cs typeface="Courier New"/>
              </a:rPr>
              <a:t>exit</a:t>
            </a:r>
          </a:p>
          <a:p>
            <a:pPr lvl="1"/>
            <a:r>
              <a:rPr lang="en-US" dirty="0" smtClean="0"/>
              <a:t>One call, no return</a:t>
            </a:r>
          </a:p>
          <a:p>
            <a:r>
              <a:rPr lang="en-US" dirty="0" smtClean="0"/>
              <a:t>Reaping and waiting for processes</a:t>
            </a:r>
          </a:p>
          <a:p>
            <a:pPr lvl="1"/>
            <a:r>
              <a:rPr lang="en-US" dirty="0" smtClean="0"/>
              <a:t>Call </a:t>
            </a:r>
            <a:r>
              <a:rPr lang="en-US" dirty="0" smtClean="0">
                <a:latin typeface="Courier New"/>
                <a:cs typeface="Courier New"/>
              </a:rPr>
              <a:t>wait</a:t>
            </a:r>
            <a:r>
              <a:rPr lang="en-US" dirty="0" smtClean="0"/>
              <a:t> or </a:t>
            </a:r>
            <a:r>
              <a:rPr lang="en-US" dirty="0" err="1" smtClean="0">
                <a:latin typeface="Courier New"/>
                <a:cs typeface="Courier New"/>
              </a:rPr>
              <a:t>waitpid</a:t>
            </a:r>
            <a:endParaRPr lang="en-US" dirty="0" smtClean="0">
              <a:latin typeface="Courier New"/>
              <a:cs typeface="Courier New"/>
            </a:endParaRPr>
          </a:p>
          <a:p>
            <a:r>
              <a:rPr lang="en-US" dirty="0" smtClean="0"/>
              <a:t>Loading and running programs</a:t>
            </a:r>
          </a:p>
          <a:p>
            <a:pPr lvl="1"/>
            <a:r>
              <a:rPr lang="en-US" dirty="0" smtClean="0"/>
              <a:t>Call </a:t>
            </a:r>
            <a:r>
              <a:rPr lang="en-US" dirty="0" err="1" smtClean="0">
                <a:latin typeface="Courier New"/>
                <a:cs typeface="Courier New"/>
              </a:rPr>
              <a:t>execve</a:t>
            </a:r>
            <a:r>
              <a:rPr lang="en-US" dirty="0" smtClean="0"/>
              <a:t> (or variant)</a:t>
            </a:r>
          </a:p>
          <a:p>
            <a:pPr lvl="1"/>
            <a:r>
              <a:rPr lang="en-US" dirty="0" smtClean="0"/>
              <a:t>One call, (normally) no return</a:t>
            </a:r>
            <a:endParaRPr lang="en-US" dirty="0"/>
          </a:p>
        </p:txBody>
      </p:sp>
    </p:spTree>
    <p:extLst>
      <p:ext uri="{BB962C8B-B14F-4D97-AF65-F5344CB8AC3E}">
        <p14:creationId xmlns:p14="http://schemas.microsoft.com/office/powerpoint/2010/main" val="4206313837"/>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1026"/>
          <p:cNvSpPr>
            <a:spLocks noGrp="1" noChangeArrowheads="1"/>
          </p:cNvSpPr>
          <p:nvPr>
            <p:ph type="title"/>
          </p:nvPr>
        </p:nvSpPr>
        <p:spPr/>
        <p:txBody>
          <a:bodyPr/>
          <a:lstStyle/>
          <a:p>
            <a:r>
              <a:rPr lang="en-US" smtClean="0"/>
              <a:t>ECF Exists at All Levels of a System</a:t>
            </a:r>
            <a:endParaRPr lang="en-US" dirty="0"/>
          </a:p>
        </p:txBody>
      </p:sp>
      <p:sp>
        <p:nvSpPr>
          <p:cNvPr id="545795" name="Rectangle 1027"/>
          <p:cNvSpPr>
            <a:spLocks noGrp="1" noChangeArrowheads="1"/>
          </p:cNvSpPr>
          <p:nvPr>
            <p:ph type="body" idx="1"/>
          </p:nvPr>
        </p:nvSpPr>
        <p:spPr>
          <a:xfrm>
            <a:off x="396875" y="1285875"/>
            <a:ext cx="7896225" cy="4972050"/>
          </a:xfrm>
        </p:spPr>
        <p:txBody>
          <a:bodyPr/>
          <a:lstStyle/>
          <a:p>
            <a:r>
              <a:rPr lang="en-US" dirty="0" smtClean="0"/>
              <a:t>Exceptions</a:t>
            </a:r>
          </a:p>
          <a:p>
            <a:pPr lvl="1"/>
            <a:r>
              <a:rPr lang="en-US" dirty="0" smtClean="0"/>
              <a:t>Hardware and operating system kernel software</a:t>
            </a:r>
          </a:p>
          <a:p>
            <a:r>
              <a:rPr lang="en-US" dirty="0" smtClean="0"/>
              <a:t>Process Context Switch</a:t>
            </a:r>
          </a:p>
          <a:p>
            <a:pPr lvl="1"/>
            <a:r>
              <a:rPr lang="en-US" dirty="0" smtClean="0"/>
              <a:t>Hardware timer and kernel software</a:t>
            </a:r>
          </a:p>
          <a:p>
            <a:r>
              <a:rPr lang="en-US" dirty="0" smtClean="0"/>
              <a:t>Signals</a:t>
            </a:r>
          </a:p>
          <a:p>
            <a:pPr lvl="1"/>
            <a:r>
              <a:rPr lang="en-US" dirty="0" smtClean="0"/>
              <a:t>Kernel software and application software</a:t>
            </a:r>
          </a:p>
          <a:p>
            <a:r>
              <a:rPr lang="en-US" dirty="0" smtClean="0"/>
              <a:t>Nonlocal jumps</a:t>
            </a:r>
          </a:p>
          <a:p>
            <a:pPr lvl="1"/>
            <a:r>
              <a:rPr lang="en-US" dirty="0" smtClean="0"/>
              <a:t>Application code</a:t>
            </a:r>
            <a:endParaRPr lang="en-US" dirty="0"/>
          </a:p>
        </p:txBody>
      </p:sp>
      <p:sp>
        <p:nvSpPr>
          <p:cNvPr id="545797" name="AutoShape 1029"/>
          <p:cNvSpPr>
            <a:spLocks/>
          </p:cNvSpPr>
          <p:nvPr/>
        </p:nvSpPr>
        <p:spPr bwMode="auto">
          <a:xfrm>
            <a:off x="6239933" y="1481435"/>
            <a:ext cx="228600" cy="1295400"/>
          </a:xfrm>
          <a:prstGeom prst="rightBrace">
            <a:avLst>
              <a:gd name="adj1" fmla="val 104167"/>
              <a:gd name="adj2" fmla="val 50000"/>
            </a:avLst>
          </a:prstGeom>
          <a:noFill/>
          <a:ln w="19050">
            <a:solidFill>
              <a:schemeClr val="tx2"/>
            </a:solidFill>
            <a:round/>
            <a:headEnd/>
            <a:tailEnd type="none" w="sm" len="sm"/>
          </a:ln>
          <a:effectLst/>
        </p:spPr>
        <p:txBody>
          <a:bodyPr wrap="square" lIns="45720" rIns="45720" anchor="ctr">
            <a:spAutoFit/>
          </a:bodyPr>
          <a:lstStyle/>
          <a:p>
            <a:endParaRPr lang="en-US" dirty="0">
              <a:latin typeface="Calibri" pitchFamily="34" charset="0"/>
            </a:endParaRPr>
          </a:p>
        </p:txBody>
      </p:sp>
      <p:sp>
        <p:nvSpPr>
          <p:cNvPr id="545798" name="Text Box 1030"/>
          <p:cNvSpPr txBox="1">
            <a:spLocks noChangeArrowheads="1"/>
          </p:cNvSpPr>
          <p:nvPr/>
        </p:nvSpPr>
        <p:spPr bwMode="auto">
          <a:xfrm>
            <a:off x="6480490" y="1900535"/>
            <a:ext cx="2206310" cy="461665"/>
          </a:xfrm>
          <a:prstGeom prst="rect">
            <a:avLst/>
          </a:prstGeom>
          <a:noFill/>
          <a:ln w="19050">
            <a:noFill/>
            <a:miter lim="800000"/>
            <a:headEnd/>
            <a:tailEnd type="none" w="sm" len="sm"/>
          </a:ln>
          <a:effectLst/>
        </p:spPr>
        <p:txBody>
          <a:bodyPr wrap="none" lIns="45720" rIns="45720">
            <a:spAutoFit/>
          </a:bodyPr>
          <a:lstStyle/>
          <a:p>
            <a:r>
              <a:rPr lang="en-US" b="1" dirty="0">
                <a:latin typeface="Calibri" pitchFamily="34" charset="0"/>
              </a:rPr>
              <a:t>Previous Lecture</a:t>
            </a:r>
          </a:p>
        </p:txBody>
      </p:sp>
      <p:sp>
        <p:nvSpPr>
          <p:cNvPr id="8" name="AutoShape 1029"/>
          <p:cNvSpPr>
            <a:spLocks/>
          </p:cNvSpPr>
          <p:nvPr/>
        </p:nvSpPr>
        <p:spPr bwMode="auto">
          <a:xfrm>
            <a:off x="6248399" y="3124200"/>
            <a:ext cx="220133" cy="533400"/>
          </a:xfrm>
          <a:prstGeom prst="rightBrace">
            <a:avLst>
              <a:gd name="adj1" fmla="val 104167"/>
              <a:gd name="adj2" fmla="val 50000"/>
            </a:avLst>
          </a:prstGeom>
          <a:noFill/>
          <a:ln w="19050">
            <a:solidFill>
              <a:schemeClr val="tx2"/>
            </a:solidFill>
            <a:round/>
            <a:headEnd/>
            <a:tailEnd type="none" w="sm" len="sm"/>
          </a:ln>
          <a:effectLst/>
        </p:spPr>
        <p:txBody>
          <a:bodyPr wrap="square" lIns="45720" rIns="45720" anchor="ctr">
            <a:spAutoFit/>
          </a:bodyPr>
          <a:lstStyle/>
          <a:p>
            <a:endParaRPr lang="en-US" dirty="0">
              <a:latin typeface="Calibri" pitchFamily="34" charset="0"/>
            </a:endParaRPr>
          </a:p>
        </p:txBody>
      </p:sp>
      <p:sp>
        <p:nvSpPr>
          <p:cNvPr id="9" name="Text Box 1030"/>
          <p:cNvSpPr txBox="1">
            <a:spLocks noChangeArrowheads="1"/>
          </p:cNvSpPr>
          <p:nvPr/>
        </p:nvSpPr>
        <p:spPr bwMode="auto">
          <a:xfrm>
            <a:off x="6477000" y="3119735"/>
            <a:ext cx="1624547" cy="461665"/>
          </a:xfrm>
          <a:prstGeom prst="rect">
            <a:avLst/>
          </a:prstGeom>
          <a:noFill/>
          <a:ln w="19050">
            <a:noFill/>
            <a:miter lim="800000"/>
            <a:headEnd/>
            <a:tailEnd type="none" w="sm" len="sm"/>
          </a:ln>
          <a:effectLst/>
        </p:spPr>
        <p:txBody>
          <a:bodyPr wrap="none" lIns="45720" rIns="45720">
            <a:spAutoFit/>
          </a:bodyPr>
          <a:lstStyle/>
          <a:p>
            <a:r>
              <a:rPr lang="en-US" b="1" dirty="0" smtClean="0">
                <a:latin typeface="Calibri" pitchFamily="34" charset="0"/>
              </a:rPr>
              <a:t>This Lecture</a:t>
            </a:r>
            <a:endParaRPr lang="en-US" b="1" dirty="0">
              <a:latin typeface="Calibri" pitchFamily="34" charset="0"/>
            </a:endParaRPr>
          </a:p>
        </p:txBody>
      </p:sp>
      <p:sp>
        <p:nvSpPr>
          <p:cNvPr id="11" name="Text Box 1030"/>
          <p:cNvSpPr txBox="1">
            <a:spLocks noChangeArrowheads="1"/>
          </p:cNvSpPr>
          <p:nvPr/>
        </p:nvSpPr>
        <p:spPr bwMode="auto">
          <a:xfrm>
            <a:off x="6477000" y="3664803"/>
            <a:ext cx="2632241" cy="830997"/>
          </a:xfrm>
          <a:prstGeom prst="rect">
            <a:avLst/>
          </a:prstGeom>
          <a:noFill/>
          <a:ln w="19050">
            <a:noFill/>
            <a:miter lim="800000"/>
            <a:headEnd/>
            <a:tailEnd type="none" w="sm" len="sm"/>
          </a:ln>
          <a:effectLst/>
        </p:spPr>
        <p:txBody>
          <a:bodyPr wrap="none" lIns="45720" rIns="45720">
            <a:spAutoFit/>
          </a:bodyPr>
          <a:lstStyle/>
          <a:p>
            <a:r>
              <a:rPr lang="en-US" b="1" dirty="0" smtClean="0">
                <a:latin typeface="Calibri" pitchFamily="34" charset="0"/>
              </a:rPr>
              <a:t>Textbook and </a:t>
            </a:r>
          </a:p>
          <a:p>
            <a:r>
              <a:rPr lang="en-US" dirty="0" smtClean="0">
                <a:latin typeface="Calibri" pitchFamily="34" charset="0"/>
              </a:rPr>
              <a:t>supplemental slides</a:t>
            </a:r>
            <a:endParaRPr lang="en-US" b="1" dirty="0">
              <a:latin typeface="Calibri" pitchFamily="34" charset="0"/>
            </a:endParaRPr>
          </a:p>
        </p:txBody>
      </p:sp>
      <p:sp>
        <p:nvSpPr>
          <p:cNvPr id="12" name="AutoShape 1029"/>
          <p:cNvSpPr>
            <a:spLocks/>
          </p:cNvSpPr>
          <p:nvPr/>
        </p:nvSpPr>
        <p:spPr bwMode="auto">
          <a:xfrm>
            <a:off x="6248399" y="3771900"/>
            <a:ext cx="220133" cy="533400"/>
          </a:xfrm>
          <a:prstGeom prst="rightBrace">
            <a:avLst>
              <a:gd name="adj1" fmla="val 104167"/>
              <a:gd name="adj2" fmla="val 50000"/>
            </a:avLst>
          </a:prstGeom>
          <a:noFill/>
          <a:ln w="19050">
            <a:solidFill>
              <a:schemeClr val="tx2"/>
            </a:solidFill>
            <a:round/>
            <a:headEnd/>
            <a:tailEnd type="none" w="sm" len="sm"/>
          </a:ln>
          <a:effectLst/>
        </p:spPr>
        <p:txBody>
          <a:bodyPr wrap="square" lIns="45720" rIns="45720" anchor="ctr">
            <a:spAutoFit/>
          </a:bodyPr>
          <a:lstStyle/>
          <a:p>
            <a:endParaRPr lang="en-US" dirty="0">
              <a:latin typeface="Calibri" pitchFamily="34" charset="0"/>
            </a:endParaRPr>
          </a:p>
        </p:txBody>
      </p:sp>
    </p:spTree>
    <p:extLst>
      <p:ext uri="{BB962C8B-B14F-4D97-AF65-F5344CB8AC3E}">
        <p14:creationId xmlns:p14="http://schemas.microsoft.com/office/powerpoint/2010/main" val="412461038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a:solidFill>
                  <a:schemeClr val="bg2">
                    <a:lumMod val="60000"/>
                    <a:lumOff val="40000"/>
                  </a:schemeClr>
                </a:solidFill>
              </a:rPr>
              <a:t>Cache </a:t>
            </a:r>
            <a:r>
              <a:rPr lang="en-US" sz="2800" dirty="0" smtClean="0">
                <a:solidFill>
                  <a:schemeClr val="bg2">
                    <a:lumMod val="60000"/>
                    <a:lumOff val="40000"/>
                  </a:schemeClr>
                </a:solidFill>
              </a:rPr>
              <a:t>Lab</a:t>
            </a:r>
          </a:p>
          <a:p>
            <a:r>
              <a:rPr lang="en-US" sz="2800" dirty="0" smtClean="0">
                <a:solidFill>
                  <a:srgbClr val="000000"/>
                </a:solidFill>
              </a:rPr>
              <a:t>Exceptional Control Flow</a:t>
            </a:r>
            <a:endParaRPr lang="en-US" dirty="0" smtClean="0">
              <a:solidFill>
                <a:srgbClr val="000000"/>
              </a:solidFill>
            </a:endParaRPr>
          </a:p>
          <a:p>
            <a:pPr lvl="1"/>
            <a:r>
              <a:rPr lang="en-US" dirty="0" err="1" smtClean="0">
                <a:solidFill>
                  <a:srgbClr val="B3B3B3"/>
                </a:solidFill>
              </a:rPr>
              <a:t>execve</a:t>
            </a:r>
            <a:r>
              <a:rPr lang="en-US" dirty="0" smtClean="0">
                <a:solidFill>
                  <a:srgbClr val="B3B3B3"/>
                </a:solidFill>
              </a:rPr>
              <a:t> (from Lecture 3)</a:t>
            </a:r>
          </a:p>
          <a:p>
            <a:pPr lvl="1"/>
            <a:r>
              <a:rPr lang="en-US" dirty="0" smtClean="0"/>
              <a:t>Shells</a:t>
            </a:r>
          </a:p>
          <a:p>
            <a:pPr lvl="1"/>
            <a:r>
              <a:rPr lang="en-US" dirty="0" smtClean="0">
                <a:solidFill>
                  <a:schemeClr val="bg2">
                    <a:lumMod val="60000"/>
                    <a:lumOff val="40000"/>
                  </a:schemeClr>
                </a:solidFill>
              </a:rPr>
              <a:t>Signals</a:t>
            </a:r>
          </a:p>
          <a:p>
            <a:pPr lvl="1"/>
            <a:r>
              <a:rPr lang="en-US" dirty="0" smtClean="0">
                <a:solidFill>
                  <a:schemeClr val="bg2">
                    <a:lumMod val="60000"/>
                    <a:lumOff val="40000"/>
                  </a:schemeClr>
                </a:solidFill>
              </a:rPr>
              <a:t>Non-local </a:t>
            </a:r>
            <a:r>
              <a:rPr lang="en-US" dirty="0" smtClean="0">
                <a:solidFill>
                  <a:schemeClr val="bg2">
                    <a:lumMod val="60000"/>
                    <a:lumOff val="40000"/>
                  </a:schemeClr>
                </a:solidFill>
              </a:rPr>
              <a:t>Jumps</a:t>
            </a:r>
          </a:p>
          <a:p>
            <a:pPr lvl="1"/>
            <a:endParaRPr lang="en-US" dirty="0" smtClean="0">
              <a:solidFill>
                <a:schemeClr val="bg2">
                  <a:lumMod val="60000"/>
                  <a:lumOff val="40000"/>
                </a:schemeClr>
              </a:solidFill>
            </a:endParaRP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3228168685"/>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(partial) Taxonomy</a:t>
            </a:r>
            <a:endParaRPr lang="en-US" dirty="0"/>
          </a:p>
        </p:txBody>
      </p:sp>
      <p:sp>
        <p:nvSpPr>
          <p:cNvPr id="4" name="TextBox 3"/>
          <p:cNvSpPr txBox="1"/>
          <p:nvPr/>
        </p:nvSpPr>
        <p:spPr>
          <a:xfrm>
            <a:off x="762000" y="2895600"/>
            <a:ext cx="2362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Asynchronous</a:t>
            </a:r>
          </a:p>
        </p:txBody>
      </p:sp>
      <p:sp>
        <p:nvSpPr>
          <p:cNvPr id="5" name="TextBox 4"/>
          <p:cNvSpPr txBox="1"/>
          <p:nvPr/>
        </p:nvSpPr>
        <p:spPr>
          <a:xfrm>
            <a:off x="4800600" y="3048000"/>
            <a:ext cx="22098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Synchronous</a:t>
            </a:r>
          </a:p>
        </p:txBody>
      </p:sp>
      <p:sp>
        <p:nvSpPr>
          <p:cNvPr id="6" name="TextBox 5"/>
          <p:cNvSpPr txBox="1"/>
          <p:nvPr/>
        </p:nvSpPr>
        <p:spPr>
          <a:xfrm>
            <a:off x="762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Interrupts</a:t>
            </a:r>
          </a:p>
        </p:txBody>
      </p:sp>
      <p:sp>
        <p:nvSpPr>
          <p:cNvPr id="7" name="TextBox 6"/>
          <p:cNvSpPr txBox="1"/>
          <p:nvPr/>
        </p:nvSpPr>
        <p:spPr>
          <a:xfrm>
            <a:off x="34290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Traps</a:t>
            </a:r>
          </a:p>
        </p:txBody>
      </p:sp>
      <p:sp>
        <p:nvSpPr>
          <p:cNvPr id="8" name="TextBox 7"/>
          <p:cNvSpPr txBox="1"/>
          <p:nvPr/>
        </p:nvSpPr>
        <p:spPr>
          <a:xfrm>
            <a:off x="52197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Faults</a:t>
            </a:r>
          </a:p>
        </p:txBody>
      </p:sp>
      <p:sp>
        <p:nvSpPr>
          <p:cNvPr id="9" name="TextBox 8"/>
          <p:cNvSpPr txBox="1"/>
          <p:nvPr/>
        </p:nvSpPr>
        <p:spPr>
          <a:xfrm>
            <a:off x="70104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Aborts</a:t>
            </a:r>
          </a:p>
        </p:txBody>
      </p:sp>
      <p:cxnSp>
        <p:nvCxnSpPr>
          <p:cNvPr id="11" name="Straight Connector 10"/>
          <p:cNvCxnSpPr>
            <a:stCxn id="4" idx="2"/>
            <a:endCxn id="6" idx="0"/>
          </p:cNvCxnSpPr>
          <p:nvPr/>
        </p:nvCxnSpPr>
        <p:spPr bwMode="auto">
          <a:xfrm flipH="1">
            <a:off x="876300" y="3357265"/>
            <a:ext cx="1066800" cy="1023119"/>
          </a:xfrm>
          <a:prstGeom prst="line">
            <a:avLst/>
          </a:prstGeom>
          <a:noFill/>
          <a:ln w="25400" cap="flat" cmpd="sng" algn="ctr">
            <a:solidFill>
              <a:schemeClr val="tx1"/>
            </a:solidFill>
            <a:prstDash val="solid"/>
            <a:round/>
            <a:headEnd type="none" w="med" len="med"/>
            <a:tailEnd type="none" w="med" len="med"/>
          </a:ln>
          <a:effectLst/>
        </p:spPr>
      </p:cxnSp>
      <p:cxnSp>
        <p:nvCxnSpPr>
          <p:cNvPr id="13" name="Straight Connector 12"/>
          <p:cNvCxnSpPr>
            <a:stCxn id="5" idx="2"/>
            <a:endCxn id="7" idx="0"/>
          </p:cNvCxnSpPr>
          <p:nvPr/>
        </p:nvCxnSpPr>
        <p:spPr bwMode="auto">
          <a:xfrm flipH="1">
            <a:off x="4229100" y="3509665"/>
            <a:ext cx="1676400" cy="870719"/>
          </a:xfrm>
          <a:prstGeom prst="line">
            <a:avLst/>
          </a:prstGeom>
          <a:noFill/>
          <a:ln w="25400" cap="flat" cmpd="sng" algn="ctr">
            <a:solidFill>
              <a:schemeClr val="tx1"/>
            </a:solidFill>
            <a:prstDash val="solid"/>
            <a:round/>
            <a:headEnd type="none" w="med" len="med"/>
            <a:tailEnd type="none" w="med" len="med"/>
          </a:ln>
          <a:effectLst/>
        </p:spPr>
      </p:cxnSp>
      <p:cxnSp>
        <p:nvCxnSpPr>
          <p:cNvPr id="15" name="Straight Connector 14"/>
          <p:cNvCxnSpPr>
            <a:stCxn id="5" idx="2"/>
            <a:endCxn id="8" idx="0"/>
          </p:cNvCxnSpPr>
          <p:nvPr/>
        </p:nvCxnSpPr>
        <p:spPr bwMode="auto">
          <a:xfrm>
            <a:off x="5905500" y="3509665"/>
            <a:ext cx="114300" cy="870719"/>
          </a:xfrm>
          <a:prstGeom prst="line">
            <a:avLst/>
          </a:prstGeom>
          <a:noFill/>
          <a:ln w="25400" cap="flat" cmpd="sng" algn="ctr">
            <a:solidFill>
              <a:schemeClr val="tx1"/>
            </a:solidFill>
            <a:prstDash val="solid"/>
            <a:round/>
            <a:headEnd type="none" w="med" len="med"/>
            <a:tailEnd type="none" w="med" len="med"/>
          </a:ln>
          <a:effectLst/>
        </p:spPr>
      </p:cxnSp>
      <p:cxnSp>
        <p:nvCxnSpPr>
          <p:cNvPr id="17" name="Straight Connector 16"/>
          <p:cNvCxnSpPr>
            <a:stCxn id="5" idx="2"/>
            <a:endCxn id="9" idx="0"/>
          </p:cNvCxnSpPr>
          <p:nvPr/>
        </p:nvCxnSpPr>
        <p:spPr bwMode="auto">
          <a:xfrm>
            <a:off x="5905500" y="3509665"/>
            <a:ext cx="1905000" cy="870719"/>
          </a:xfrm>
          <a:prstGeom prst="line">
            <a:avLst/>
          </a:prstGeom>
          <a:noFill/>
          <a:ln w="25400" cap="flat" cmpd="sng" algn="ctr">
            <a:solidFill>
              <a:schemeClr val="tx1"/>
            </a:solidFill>
            <a:prstDash val="solid"/>
            <a:round/>
            <a:headEnd type="none" w="med" len="med"/>
            <a:tailEnd type="none" w="med" len="med"/>
          </a:ln>
          <a:effectLst/>
        </p:spPr>
      </p:cxnSp>
      <p:sp>
        <p:nvSpPr>
          <p:cNvPr id="18" name="TextBox 17"/>
          <p:cNvSpPr txBox="1"/>
          <p:nvPr/>
        </p:nvSpPr>
        <p:spPr>
          <a:xfrm>
            <a:off x="3394435" y="1215560"/>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ECF</a:t>
            </a:r>
          </a:p>
        </p:txBody>
      </p:sp>
      <p:cxnSp>
        <p:nvCxnSpPr>
          <p:cNvPr id="20" name="Straight Connector 19"/>
          <p:cNvCxnSpPr>
            <a:stCxn id="18" idx="2"/>
            <a:endCxn id="4" idx="0"/>
          </p:cNvCxnSpPr>
          <p:nvPr/>
        </p:nvCxnSpPr>
        <p:spPr bwMode="auto">
          <a:xfrm flipH="1">
            <a:off x="1943100" y="1677225"/>
            <a:ext cx="2251435" cy="1218375"/>
          </a:xfrm>
          <a:prstGeom prst="line">
            <a:avLst/>
          </a:prstGeom>
          <a:noFill/>
          <a:ln w="25400" cap="flat" cmpd="sng" algn="ctr">
            <a:solidFill>
              <a:schemeClr val="tx1"/>
            </a:solidFill>
            <a:prstDash val="solid"/>
            <a:round/>
            <a:headEnd type="none" w="med" len="med"/>
            <a:tailEnd type="none" w="med" len="med"/>
          </a:ln>
          <a:effectLst/>
        </p:spPr>
      </p:cxnSp>
      <p:cxnSp>
        <p:nvCxnSpPr>
          <p:cNvPr id="22" name="Straight Connector 21"/>
          <p:cNvCxnSpPr>
            <a:stCxn id="18" idx="2"/>
            <a:endCxn id="5" idx="0"/>
          </p:cNvCxnSpPr>
          <p:nvPr/>
        </p:nvCxnSpPr>
        <p:spPr bwMode="auto">
          <a:xfrm>
            <a:off x="4194535" y="1677225"/>
            <a:ext cx="1710965" cy="1370775"/>
          </a:xfrm>
          <a:prstGeom prst="line">
            <a:avLst/>
          </a:prstGeom>
          <a:noFill/>
          <a:ln w="25400" cap="flat" cmpd="sng" algn="ctr">
            <a:solidFill>
              <a:schemeClr val="tx1"/>
            </a:solidFill>
            <a:prstDash val="solid"/>
            <a:round/>
            <a:headEnd type="none" w="med" len="med"/>
            <a:tailEnd type="none" w="med" len="med"/>
          </a:ln>
          <a:effectLst/>
        </p:spPr>
      </p:cxnSp>
      <p:sp>
        <p:nvSpPr>
          <p:cNvPr id="19" name="TextBox 18"/>
          <p:cNvSpPr txBox="1"/>
          <p:nvPr/>
        </p:nvSpPr>
        <p:spPr>
          <a:xfrm>
            <a:off x="1803760" y="5029200"/>
            <a:ext cx="1600200" cy="461665"/>
          </a:xfrm>
          <a:prstGeom prst="rect">
            <a:avLst/>
          </a:prstGeom>
          <a:solidFill>
            <a:srgbClr val="FFC000"/>
          </a:solidFill>
          <a:ln>
            <a:solidFill>
              <a:schemeClr val="tx1"/>
            </a:solidFill>
          </a:ln>
        </p:spPr>
        <p:txBody>
          <a:bodyPr wrap="square" rtlCol="0">
            <a:spAutoFit/>
          </a:bodyPr>
          <a:lstStyle/>
          <a:p>
            <a:pPr algn="ctr"/>
            <a:r>
              <a:rPr lang="en-US" dirty="0" smtClean="0">
                <a:latin typeface="Calibri" pitchFamily="34" charset="0"/>
              </a:rPr>
              <a:t>Signals</a:t>
            </a:r>
          </a:p>
        </p:txBody>
      </p:sp>
      <p:cxnSp>
        <p:nvCxnSpPr>
          <p:cNvPr id="21" name="Straight Connector 20"/>
          <p:cNvCxnSpPr>
            <a:stCxn id="4" idx="2"/>
            <a:endCxn id="19" idx="0"/>
          </p:cNvCxnSpPr>
          <p:nvPr/>
        </p:nvCxnSpPr>
        <p:spPr bwMode="auto">
          <a:xfrm>
            <a:off x="1943100" y="3357265"/>
            <a:ext cx="660760" cy="1671935"/>
          </a:xfrm>
          <a:prstGeom prst="line">
            <a:avLst/>
          </a:prstGeom>
          <a:noFill/>
          <a:ln w="25400" cap="flat" cmpd="sng" algn="ctr">
            <a:solidFill>
              <a:schemeClr val="tx1"/>
            </a:solidFill>
            <a:prstDash val="solid"/>
            <a:round/>
            <a:headEnd type="none" w="med" len="med"/>
            <a:tailEnd type="none" w="med" len="med"/>
          </a:ln>
          <a:effectLst/>
        </p:spPr>
      </p:cxnSp>
      <p:sp>
        <p:nvSpPr>
          <p:cNvPr id="16" name="TextBox 15"/>
          <p:cNvSpPr txBox="1"/>
          <p:nvPr/>
        </p:nvSpPr>
        <p:spPr>
          <a:xfrm>
            <a:off x="6574241" y="729139"/>
            <a:ext cx="2456506" cy="369332"/>
          </a:xfrm>
          <a:prstGeom prst="rect">
            <a:avLst/>
          </a:prstGeom>
          <a:solidFill>
            <a:srgbClr val="FFC000"/>
          </a:solidFill>
        </p:spPr>
        <p:txBody>
          <a:bodyPr wrap="none" rtlCol="0">
            <a:spAutoFit/>
          </a:bodyPr>
          <a:lstStyle/>
          <a:p>
            <a:r>
              <a:rPr lang="en-US" sz="1800" dirty="0" smtClean="0">
                <a:latin typeface="Calibri" pitchFamily="34" charset="0"/>
              </a:rPr>
              <a:t>Handled in user process</a:t>
            </a:r>
          </a:p>
        </p:txBody>
      </p:sp>
      <p:sp>
        <p:nvSpPr>
          <p:cNvPr id="23" name="TextBox 22"/>
          <p:cNvSpPr txBox="1"/>
          <p:nvPr/>
        </p:nvSpPr>
        <p:spPr>
          <a:xfrm>
            <a:off x="7162800" y="304800"/>
            <a:ext cx="1867947" cy="369332"/>
          </a:xfrm>
          <a:prstGeom prst="rect">
            <a:avLst/>
          </a:prstGeom>
          <a:solidFill>
            <a:srgbClr val="E7DDBB"/>
          </a:solidFill>
        </p:spPr>
        <p:txBody>
          <a:bodyPr wrap="none" rtlCol="0">
            <a:spAutoFit/>
          </a:bodyPr>
          <a:lstStyle/>
          <a:p>
            <a:r>
              <a:rPr lang="en-US" sz="1800" dirty="0" smtClean="0">
                <a:latin typeface="Calibri" pitchFamily="34" charset="0"/>
              </a:rPr>
              <a:t>Handled in kernel</a:t>
            </a:r>
          </a:p>
        </p:txBody>
      </p:sp>
    </p:spTree>
    <p:extLst>
      <p:ext uri="{BB962C8B-B14F-4D97-AF65-F5344CB8AC3E}">
        <p14:creationId xmlns:p14="http://schemas.microsoft.com/office/powerpoint/2010/main" val="3829710469"/>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96" name="Rectangle 20"/>
          <p:cNvSpPr>
            <a:spLocks noGrp="1" noChangeArrowheads="1"/>
          </p:cNvSpPr>
          <p:nvPr>
            <p:ph type="title"/>
          </p:nvPr>
        </p:nvSpPr>
        <p:spPr/>
        <p:txBody>
          <a:bodyPr/>
          <a:lstStyle/>
          <a:p>
            <a:r>
              <a:rPr lang="en-US" dirty="0" smtClean="0"/>
              <a:t>Linux Process Hierarchy</a:t>
            </a:r>
            <a:endParaRPr lang="en-US" dirty="0"/>
          </a:p>
        </p:txBody>
      </p:sp>
      <p:sp>
        <p:nvSpPr>
          <p:cNvPr id="23555" name="Oval 3"/>
          <p:cNvSpPr>
            <a:spLocks noChangeArrowheads="1"/>
          </p:cNvSpPr>
          <p:nvPr/>
        </p:nvSpPr>
        <p:spPr bwMode="auto">
          <a:xfrm>
            <a:off x="2895600" y="35814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Login shell</a:t>
            </a:r>
          </a:p>
        </p:txBody>
      </p:sp>
      <p:sp>
        <p:nvSpPr>
          <p:cNvPr id="23557" name="Oval 5"/>
          <p:cNvSpPr>
            <a:spLocks noChangeArrowheads="1"/>
          </p:cNvSpPr>
          <p:nvPr/>
        </p:nvSpPr>
        <p:spPr bwMode="auto">
          <a:xfrm>
            <a:off x="2895600" y="45720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Child</a:t>
            </a:r>
          </a:p>
        </p:txBody>
      </p:sp>
      <p:sp>
        <p:nvSpPr>
          <p:cNvPr id="23558" name="Oval 6"/>
          <p:cNvSpPr>
            <a:spLocks noChangeArrowheads="1"/>
          </p:cNvSpPr>
          <p:nvPr/>
        </p:nvSpPr>
        <p:spPr bwMode="auto">
          <a:xfrm>
            <a:off x="838200" y="45720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Child</a:t>
            </a:r>
          </a:p>
        </p:txBody>
      </p:sp>
      <p:sp>
        <p:nvSpPr>
          <p:cNvPr id="23559" name="Oval 7"/>
          <p:cNvSpPr>
            <a:spLocks noChangeArrowheads="1"/>
          </p:cNvSpPr>
          <p:nvPr/>
        </p:nvSpPr>
        <p:spPr bwMode="auto">
          <a:xfrm>
            <a:off x="3962400" y="57150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Grandchild</a:t>
            </a:r>
          </a:p>
        </p:txBody>
      </p:sp>
      <p:sp>
        <p:nvSpPr>
          <p:cNvPr id="23560" name="Oval 8"/>
          <p:cNvSpPr>
            <a:spLocks noChangeArrowheads="1"/>
          </p:cNvSpPr>
          <p:nvPr/>
        </p:nvSpPr>
        <p:spPr bwMode="auto">
          <a:xfrm>
            <a:off x="1752600" y="57150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Grandchild</a:t>
            </a:r>
          </a:p>
        </p:txBody>
      </p:sp>
      <p:sp>
        <p:nvSpPr>
          <p:cNvPr id="23561" name="Line 9"/>
          <p:cNvSpPr>
            <a:spLocks noChangeShapeType="1"/>
          </p:cNvSpPr>
          <p:nvPr/>
        </p:nvSpPr>
        <p:spPr bwMode="auto">
          <a:xfrm flipH="1">
            <a:off x="2209800" y="4038600"/>
            <a:ext cx="990600" cy="6096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63" name="Oval 12"/>
          <p:cNvSpPr>
            <a:spLocks noChangeArrowheads="1"/>
          </p:cNvSpPr>
          <p:nvPr/>
        </p:nvSpPr>
        <p:spPr bwMode="auto">
          <a:xfrm>
            <a:off x="3657600" y="1447800"/>
            <a:ext cx="1676400" cy="533400"/>
          </a:xfrm>
          <a:prstGeom prst="ellipse">
            <a:avLst/>
          </a:prstGeom>
          <a:solidFill>
            <a:schemeClr val="bg1"/>
          </a:solidFill>
          <a:ln w="25400">
            <a:solidFill>
              <a:schemeClr val="tx1"/>
            </a:solidFill>
            <a:prstDash val="sysDot"/>
            <a:round/>
            <a:headEnd/>
            <a:tailEnd/>
          </a:ln>
        </p:spPr>
        <p:txBody>
          <a:bodyPr wrap="none" anchor="ctr">
            <a:prstTxWarp prst="textNoShape">
              <a:avLst/>
            </a:prstTxWarp>
          </a:bodyPr>
          <a:lstStyle/>
          <a:p>
            <a:pPr algn="ctr">
              <a:lnSpc>
                <a:spcPct val="100000"/>
              </a:lnSpc>
            </a:pPr>
            <a:r>
              <a:rPr lang="en-US" sz="2000" b="1" dirty="0">
                <a:latin typeface="Courier New" charset="0"/>
              </a:rPr>
              <a:t>[0]</a:t>
            </a:r>
          </a:p>
        </p:txBody>
      </p:sp>
      <p:sp>
        <p:nvSpPr>
          <p:cNvPr id="23564" name="Line 13"/>
          <p:cNvSpPr>
            <a:spLocks noChangeShapeType="1"/>
          </p:cNvSpPr>
          <p:nvPr/>
        </p:nvSpPr>
        <p:spPr bwMode="auto">
          <a:xfrm flipH="1">
            <a:off x="4495800" y="1981200"/>
            <a:ext cx="0" cy="457200"/>
          </a:xfrm>
          <a:prstGeom prst="line">
            <a:avLst/>
          </a:prstGeom>
          <a:noFill/>
          <a:ln w="25400">
            <a:solidFill>
              <a:schemeClr val="tx1"/>
            </a:solidFill>
            <a:prstDash val="dot"/>
            <a:round/>
            <a:headEnd/>
            <a:tailEnd/>
          </a:ln>
        </p:spPr>
        <p:txBody>
          <a:bodyPr wrap="none" anchor="ctr">
            <a:prstTxWarp prst="textNoShape">
              <a:avLst/>
            </a:prstTxWarp>
          </a:bodyPr>
          <a:lstStyle/>
          <a:p>
            <a:pPr algn="ctr"/>
            <a:endParaRPr lang="en-US" sz="2000">
              <a:ln>
                <a:solidFill>
                  <a:schemeClr val="tx1"/>
                </a:solidFill>
                <a:prstDash val="dot"/>
              </a:ln>
            </a:endParaRPr>
          </a:p>
        </p:txBody>
      </p:sp>
      <p:sp>
        <p:nvSpPr>
          <p:cNvPr id="23565" name="Line 14"/>
          <p:cNvSpPr>
            <a:spLocks noChangeShapeType="1"/>
          </p:cNvSpPr>
          <p:nvPr/>
        </p:nvSpPr>
        <p:spPr bwMode="auto">
          <a:xfrm flipH="1">
            <a:off x="4038600" y="2971800"/>
            <a:ext cx="381000" cy="3048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66" name="Line 15"/>
          <p:cNvSpPr>
            <a:spLocks noChangeShapeType="1"/>
          </p:cNvSpPr>
          <p:nvPr/>
        </p:nvSpPr>
        <p:spPr bwMode="auto">
          <a:xfrm flipH="1">
            <a:off x="3733800" y="4114800"/>
            <a:ext cx="0" cy="4572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67" name="Line 16"/>
          <p:cNvSpPr>
            <a:spLocks noChangeShapeType="1"/>
          </p:cNvSpPr>
          <p:nvPr/>
        </p:nvSpPr>
        <p:spPr bwMode="auto">
          <a:xfrm>
            <a:off x="3886200" y="5105400"/>
            <a:ext cx="914400" cy="6096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68" name="Line 17"/>
          <p:cNvSpPr>
            <a:spLocks noChangeShapeType="1"/>
          </p:cNvSpPr>
          <p:nvPr/>
        </p:nvSpPr>
        <p:spPr bwMode="auto">
          <a:xfrm flipH="1">
            <a:off x="2667000" y="5105400"/>
            <a:ext cx="838200" cy="6096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69" name="Line 18"/>
          <p:cNvSpPr>
            <a:spLocks noChangeShapeType="1"/>
          </p:cNvSpPr>
          <p:nvPr/>
        </p:nvSpPr>
        <p:spPr bwMode="auto">
          <a:xfrm flipH="1">
            <a:off x="1981200" y="2819400"/>
            <a:ext cx="1752600" cy="6858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3570" name="Oval 19"/>
          <p:cNvSpPr>
            <a:spLocks noChangeArrowheads="1"/>
          </p:cNvSpPr>
          <p:nvPr/>
        </p:nvSpPr>
        <p:spPr bwMode="auto">
          <a:xfrm>
            <a:off x="76200" y="3352800"/>
            <a:ext cx="2133600" cy="762000"/>
          </a:xfrm>
          <a:prstGeom prst="ellipse">
            <a:avLst/>
          </a:prstGeom>
          <a:solidFill>
            <a:schemeClr val="accent6">
              <a:lumMod val="20000"/>
              <a:lumOff val="80000"/>
            </a:schemeClr>
          </a:solidFill>
          <a:ln w="25400">
            <a:solidFill>
              <a:schemeClr val="tx1"/>
            </a:solidFill>
            <a:prstDash val="sysDot"/>
            <a:round/>
            <a:headEnd/>
            <a:tailEnd/>
          </a:ln>
        </p:spPr>
        <p:txBody>
          <a:bodyPr wrap="none" anchor="ctr">
            <a:prstTxWarp prst="textNoShape">
              <a:avLst/>
            </a:prstTxWarp>
          </a:bodyPr>
          <a:lstStyle/>
          <a:p>
            <a:pPr algn="ctr">
              <a:lnSpc>
                <a:spcPct val="100000"/>
              </a:lnSpc>
            </a:pPr>
            <a:r>
              <a:rPr lang="en-US" sz="2000" b="1"/>
              <a:t>Daemon</a:t>
            </a:r>
          </a:p>
          <a:p>
            <a:pPr algn="ctr">
              <a:lnSpc>
                <a:spcPct val="100000"/>
              </a:lnSpc>
            </a:pPr>
            <a:r>
              <a:rPr lang="en-US" sz="2000" b="1"/>
              <a:t>e.g. </a:t>
            </a:r>
            <a:r>
              <a:rPr lang="en-US" sz="2000" b="1">
                <a:latin typeface="Courier New" charset="0"/>
              </a:rPr>
              <a:t>httpd</a:t>
            </a:r>
          </a:p>
        </p:txBody>
      </p:sp>
      <p:sp>
        <p:nvSpPr>
          <p:cNvPr id="23571" name="Oval 11"/>
          <p:cNvSpPr>
            <a:spLocks noChangeArrowheads="1"/>
          </p:cNvSpPr>
          <p:nvPr/>
        </p:nvSpPr>
        <p:spPr bwMode="auto">
          <a:xfrm>
            <a:off x="3657600" y="2438400"/>
            <a:ext cx="1676400" cy="533400"/>
          </a:xfrm>
          <a:prstGeom prst="ellipse">
            <a:avLst/>
          </a:prstGeom>
          <a:solidFill>
            <a:srgbClr val="CCFFCC"/>
          </a:solidFill>
          <a:ln w="25400">
            <a:solidFill>
              <a:schemeClr val="tx1"/>
            </a:solidFill>
            <a:round/>
            <a:headEnd/>
            <a:tailEnd/>
          </a:ln>
        </p:spPr>
        <p:txBody>
          <a:bodyPr wrap="none" anchor="ctr">
            <a:prstTxWarp prst="textNoShape">
              <a:avLst/>
            </a:prstTxWarp>
          </a:bodyPr>
          <a:lstStyle/>
          <a:p>
            <a:pPr algn="ctr">
              <a:lnSpc>
                <a:spcPct val="100000"/>
              </a:lnSpc>
            </a:pPr>
            <a:r>
              <a:rPr lang="en-US" sz="2000" b="1">
                <a:latin typeface="Courier New" charset="0"/>
              </a:rPr>
              <a:t>init [1]</a:t>
            </a:r>
          </a:p>
        </p:txBody>
      </p:sp>
      <p:sp>
        <p:nvSpPr>
          <p:cNvPr id="20" name="Oval 3"/>
          <p:cNvSpPr>
            <a:spLocks noChangeArrowheads="1"/>
          </p:cNvSpPr>
          <p:nvPr/>
        </p:nvSpPr>
        <p:spPr bwMode="auto">
          <a:xfrm>
            <a:off x="5638800" y="35814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Login shell</a:t>
            </a:r>
          </a:p>
        </p:txBody>
      </p:sp>
      <p:sp>
        <p:nvSpPr>
          <p:cNvPr id="21" name="Line 14"/>
          <p:cNvSpPr>
            <a:spLocks noChangeShapeType="1"/>
          </p:cNvSpPr>
          <p:nvPr/>
        </p:nvSpPr>
        <p:spPr bwMode="auto">
          <a:xfrm>
            <a:off x="4914900" y="2959100"/>
            <a:ext cx="402019" cy="3175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2" name="Oval 5"/>
          <p:cNvSpPr>
            <a:spLocks noChangeArrowheads="1"/>
          </p:cNvSpPr>
          <p:nvPr/>
        </p:nvSpPr>
        <p:spPr bwMode="auto">
          <a:xfrm>
            <a:off x="5664200" y="4572000"/>
            <a:ext cx="1676400" cy="533400"/>
          </a:xfrm>
          <a:prstGeom prst="ellipse">
            <a:avLst/>
          </a:prstGeom>
          <a:solidFill>
            <a:srgbClr val="F6F5BD"/>
          </a:solidFill>
          <a:ln w="25400">
            <a:solidFill>
              <a:schemeClr val="tx1"/>
            </a:solidFill>
            <a:round/>
            <a:headEnd/>
            <a:tailEnd/>
          </a:ln>
        </p:spPr>
        <p:txBody>
          <a:bodyPr wrap="none" anchor="ctr">
            <a:prstTxWarp prst="textNoShape">
              <a:avLst/>
            </a:prstTxWarp>
          </a:bodyPr>
          <a:lstStyle/>
          <a:p>
            <a:pPr algn="ctr">
              <a:lnSpc>
                <a:spcPct val="100000"/>
              </a:lnSpc>
            </a:pPr>
            <a:r>
              <a:rPr lang="en-US" sz="2000" b="1"/>
              <a:t>Child</a:t>
            </a:r>
          </a:p>
        </p:txBody>
      </p:sp>
      <p:sp>
        <p:nvSpPr>
          <p:cNvPr id="23" name="Line 15"/>
          <p:cNvSpPr>
            <a:spLocks noChangeShapeType="1"/>
          </p:cNvSpPr>
          <p:nvPr/>
        </p:nvSpPr>
        <p:spPr bwMode="auto">
          <a:xfrm flipH="1">
            <a:off x="6502400" y="4114800"/>
            <a:ext cx="0" cy="4572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 name="TextBox 1"/>
          <p:cNvSpPr txBox="1"/>
          <p:nvPr/>
        </p:nvSpPr>
        <p:spPr>
          <a:xfrm>
            <a:off x="4876800" y="3276600"/>
            <a:ext cx="440119" cy="523220"/>
          </a:xfrm>
          <a:prstGeom prst="rect">
            <a:avLst/>
          </a:prstGeom>
          <a:noFill/>
        </p:spPr>
        <p:txBody>
          <a:bodyPr wrap="none" rtlCol="0">
            <a:spAutoFit/>
          </a:bodyPr>
          <a:lstStyle/>
          <a:p>
            <a:r>
              <a:rPr lang="en-US" sz="2800" dirty="0" smtClean="0">
                <a:latin typeface="Calibri" pitchFamily="34" charset="0"/>
              </a:rPr>
              <a:t>…</a:t>
            </a:r>
          </a:p>
        </p:txBody>
      </p:sp>
      <p:sp>
        <p:nvSpPr>
          <p:cNvPr id="3" name="TextBox 2"/>
          <p:cNvSpPr txBox="1"/>
          <p:nvPr/>
        </p:nvSpPr>
        <p:spPr>
          <a:xfrm rot="13380000">
            <a:off x="5216566" y="3224857"/>
            <a:ext cx="348886" cy="365760"/>
          </a:xfrm>
          <a:prstGeom prst="rect">
            <a:avLst/>
          </a:prstGeom>
          <a:noFill/>
        </p:spPr>
        <p:txBody>
          <a:bodyPr wrap="none" rtlCol="0">
            <a:spAutoFit/>
          </a:bodyPr>
          <a:lstStyle/>
          <a:p>
            <a:r>
              <a:rPr lang="en-US" sz="1800" dirty="0" smtClean="0">
                <a:latin typeface="Calibri" pitchFamily="34" charset="0"/>
              </a:rPr>
              <a:t>…</a:t>
            </a:r>
          </a:p>
        </p:txBody>
      </p:sp>
      <p:sp>
        <p:nvSpPr>
          <p:cNvPr id="28" name="Line 14"/>
          <p:cNvSpPr>
            <a:spLocks noChangeShapeType="1"/>
          </p:cNvSpPr>
          <p:nvPr/>
        </p:nvSpPr>
        <p:spPr bwMode="auto">
          <a:xfrm flipH="1">
            <a:off x="3581400" y="3416300"/>
            <a:ext cx="228600" cy="165100"/>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29" name="TextBox 28"/>
          <p:cNvSpPr txBox="1"/>
          <p:nvPr/>
        </p:nvSpPr>
        <p:spPr>
          <a:xfrm rot="8700000" flipH="1">
            <a:off x="3807148" y="3224857"/>
            <a:ext cx="348886" cy="365760"/>
          </a:xfrm>
          <a:prstGeom prst="rect">
            <a:avLst/>
          </a:prstGeom>
          <a:noFill/>
        </p:spPr>
        <p:txBody>
          <a:bodyPr wrap="none" rtlCol="0">
            <a:spAutoFit/>
          </a:bodyPr>
          <a:lstStyle/>
          <a:p>
            <a:r>
              <a:rPr lang="en-US" sz="1800" dirty="0" smtClean="0">
                <a:latin typeface="Calibri" pitchFamily="34" charset="0"/>
              </a:rPr>
              <a:t>…</a:t>
            </a:r>
          </a:p>
        </p:txBody>
      </p:sp>
      <p:sp>
        <p:nvSpPr>
          <p:cNvPr id="30" name="Line 14"/>
          <p:cNvSpPr>
            <a:spLocks noChangeShapeType="1"/>
          </p:cNvSpPr>
          <p:nvPr/>
        </p:nvSpPr>
        <p:spPr bwMode="auto">
          <a:xfrm>
            <a:off x="5562600" y="3450570"/>
            <a:ext cx="304800" cy="209887"/>
          </a:xfrm>
          <a:prstGeom prst="line">
            <a:avLst/>
          </a:prstGeom>
          <a:noFill/>
          <a:ln w="25400">
            <a:solidFill>
              <a:schemeClr val="tx1"/>
            </a:solidFill>
            <a:round/>
            <a:headEnd/>
            <a:tailEnd/>
          </a:ln>
        </p:spPr>
        <p:txBody>
          <a:bodyPr wrap="none" anchor="ctr">
            <a:prstTxWarp prst="textNoShape">
              <a:avLst/>
            </a:prstTxWarp>
          </a:bodyPr>
          <a:lstStyle/>
          <a:p>
            <a:pPr algn="ctr"/>
            <a:endParaRPr lang="en-US" sz="2000"/>
          </a:p>
        </p:txBody>
      </p:sp>
      <p:sp>
        <p:nvSpPr>
          <p:cNvPr id="4" name="TextBox 3"/>
          <p:cNvSpPr txBox="1"/>
          <p:nvPr/>
        </p:nvSpPr>
        <p:spPr>
          <a:xfrm>
            <a:off x="6248400" y="5715000"/>
            <a:ext cx="2794000" cy="923330"/>
          </a:xfrm>
          <a:prstGeom prst="rect">
            <a:avLst/>
          </a:prstGeom>
          <a:noFill/>
        </p:spPr>
        <p:txBody>
          <a:bodyPr wrap="square" rtlCol="0">
            <a:spAutoFit/>
          </a:bodyPr>
          <a:lstStyle/>
          <a:p>
            <a:r>
              <a:rPr lang="en-US" sz="1800" dirty="0" smtClean="0">
                <a:latin typeface="Calibri" pitchFamily="34" charset="0"/>
              </a:rPr>
              <a:t>Note: you can view the hierarchy using the Linux </a:t>
            </a:r>
            <a:r>
              <a:rPr lang="en-US" sz="1800" b="0" dirty="0" err="1" smtClean="0">
                <a:latin typeface="Courier New"/>
                <a:cs typeface="Courier New"/>
              </a:rPr>
              <a:t>pstree</a:t>
            </a:r>
            <a:r>
              <a:rPr lang="en-US" sz="1800" dirty="0" smtClean="0">
                <a:latin typeface="Calibri" pitchFamily="34" charset="0"/>
              </a:rPr>
              <a:t> command</a:t>
            </a:r>
          </a:p>
        </p:txBody>
      </p:sp>
    </p:spTree>
    <p:extLst>
      <p:ext uri="{BB962C8B-B14F-4D97-AF65-F5344CB8AC3E}">
        <p14:creationId xmlns:p14="http://schemas.microsoft.com/office/powerpoint/2010/main" val="3380950098"/>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t>Shell Programs</a:t>
            </a:r>
          </a:p>
        </p:txBody>
      </p:sp>
      <p:sp>
        <p:nvSpPr>
          <p:cNvPr id="542723" name="Rectangle 3"/>
          <p:cNvSpPr>
            <a:spLocks noGrp="1" noChangeArrowheads="1"/>
          </p:cNvSpPr>
          <p:nvPr>
            <p:ph type="body" idx="1"/>
          </p:nvPr>
        </p:nvSpPr>
        <p:spPr>
          <a:xfrm>
            <a:off x="363302" y="1143000"/>
            <a:ext cx="8475897" cy="1828800"/>
          </a:xfrm>
        </p:spPr>
        <p:txBody>
          <a:bodyPr/>
          <a:lstStyle/>
          <a:p>
            <a:r>
              <a:rPr lang="en-US" dirty="0"/>
              <a:t>A </a:t>
            </a:r>
            <a:r>
              <a:rPr lang="en-US" i="1" dirty="0">
                <a:solidFill>
                  <a:srgbClr val="C00000"/>
                </a:solidFill>
              </a:rPr>
              <a:t>shell</a:t>
            </a:r>
            <a:r>
              <a:rPr lang="en-US" dirty="0"/>
              <a:t> is an application program that runs programs on behalf of the user.</a:t>
            </a:r>
          </a:p>
          <a:p>
            <a:pPr lvl="1">
              <a:tabLst>
                <a:tab pos="1485900" algn="l"/>
              </a:tabLst>
            </a:pPr>
            <a:r>
              <a:rPr lang="en-US" sz="1800" b="1" dirty="0" err="1" smtClean="0">
                <a:latin typeface="Courier New" pitchFamily="49" charset="0"/>
              </a:rPr>
              <a:t>sh</a:t>
            </a:r>
            <a:r>
              <a:rPr lang="en-US" sz="1800" dirty="0" smtClean="0"/>
              <a:t> 			Original </a:t>
            </a:r>
            <a:r>
              <a:rPr lang="en-US" sz="1800" dirty="0"/>
              <a:t>Unix shell (Stephen Bourne, AT&amp;T Bell Labs, 1977)</a:t>
            </a:r>
          </a:p>
          <a:p>
            <a:pPr lvl="1">
              <a:tabLst>
                <a:tab pos="1485900" algn="l"/>
              </a:tabLst>
            </a:pPr>
            <a:r>
              <a:rPr lang="en-US" sz="1800" b="1" dirty="0" err="1" smtClean="0">
                <a:latin typeface="Courier New" pitchFamily="49" charset="0"/>
              </a:rPr>
              <a:t>csh</a:t>
            </a:r>
            <a:r>
              <a:rPr lang="en-US" sz="1800" b="1" dirty="0" smtClean="0">
                <a:latin typeface="Courier New" pitchFamily="49" charset="0"/>
              </a:rPr>
              <a:t>/</a:t>
            </a:r>
            <a:r>
              <a:rPr lang="en-US" sz="1800" b="1" dirty="0" err="1" smtClean="0">
                <a:latin typeface="Courier New" pitchFamily="49" charset="0"/>
              </a:rPr>
              <a:t>tcsh</a:t>
            </a:r>
            <a:r>
              <a:rPr lang="en-US" sz="1800" dirty="0" smtClean="0">
                <a:latin typeface="Courier New" pitchFamily="49" charset="0"/>
              </a:rPr>
              <a:t> 	</a:t>
            </a:r>
            <a:r>
              <a:rPr lang="en-US" sz="1800" dirty="0" smtClean="0"/>
              <a:t>BSD </a:t>
            </a:r>
            <a:r>
              <a:rPr lang="en-US" sz="1800" dirty="0"/>
              <a:t>Unix C </a:t>
            </a:r>
            <a:r>
              <a:rPr lang="en-US" sz="1800" dirty="0" smtClean="0"/>
              <a:t>shell</a:t>
            </a:r>
          </a:p>
          <a:p>
            <a:pPr lvl="1">
              <a:tabLst>
                <a:tab pos="1485900" algn="l"/>
              </a:tabLst>
            </a:pPr>
            <a:r>
              <a:rPr lang="en-US" sz="1800" b="1" dirty="0" smtClean="0">
                <a:latin typeface="Courier New" pitchFamily="49" charset="0"/>
              </a:rPr>
              <a:t>bash</a:t>
            </a:r>
            <a:r>
              <a:rPr lang="en-US" sz="1800" dirty="0" smtClean="0">
                <a:latin typeface="Courier New" pitchFamily="49" charset="0"/>
              </a:rPr>
              <a:t> 			“</a:t>
            </a:r>
            <a:r>
              <a:rPr lang="en-US" sz="1800" dirty="0"/>
              <a:t>Bourne-Again” Shell</a:t>
            </a:r>
            <a:r>
              <a:rPr lang="en-US" sz="1800" dirty="0">
                <a:latin typeface="Courier New" pitchFamily="49" charset="0"/>
              </a:rPr>
              <a:t> </a:t>
            </a:r>
            <a:r>
              <a:rPr lang="en-US" sz="1800" dirty="0" smtClean="0">
                <a:latin typeface="+mn-lt"/>
              </a:rPr>
              <a:t>(default Linux shell)</a:t>
            </a:r>
          </a:p>
          <a:p>
            <a:pPr>
              <a:tabLst>
                <a:tab pos="1485900" algn="l"/>
              </a:tabLst>
            </a:pPr>
            <a:r>
              <a:rPr lang="en-US" sz="2200" dirty="0" smtClean="0">
                <a:latin typeface="+mn-lt"/>
              </a:rPr>
              <a:t>Simple shell</a:t>
            </a:r>
          </a:p>
          <a:p>
            <a:pPr lvl="1">
              <a:tabLst>
                <a:tab pos="1485900" algn="l"/>
              </a:tabLst>
            </a:pPr>
            <a:r>
              <a:rPr lang="en-US" sz="1800" dirty="0" smtClean="0">
                <a:latin typeface="+mn-lt"/>
              </a:rPr>
              <a:t>Described in the textbook, starting at p. </a:t>
            </a:r>
            <a:r>
              <a:rPr lang="en-US" sz="1800" dirty="0" smtClean="0">
                <a:latin typeface="+mn-lt"/>
              </a:rPr>
              <a:t>753 (</a:t>
            </a:r>
            <a:r>
              <a:rPr lang="en-US" sz="1800" dirty="0">
                <a:latin typeface="+mn-lt"/>
              </a:rPr>
              <a:t>i</a:t>
            </a:r>
            <a:r>
              <a:rPr lang="en-US" sz="1800" dirty="0" smtClean="0">
                <a:latin typeface="+mn-lt"/>
              </a:rPr>
              <a:t>n Section 8.4.6)</a:t>
            </a:r>
            <a:endParaRPr lang="en-US" sz="1800" dirty="0" smtClean="0">
              <a:latin typeface="+mn-lt"/>
            </a:endParaRPr>
          </a:p>
          <a:p>
            <a:pPr lvl="1">
              <a:tabLst>
                <a:tab pos="1485900" algn="l"/>
              </a:tabLst>
            </a:pPr>
            <a:r>
              <a:rPr lang="en-US" sz="1800" dirty="0" smtClean="0">
                <a:latin typeface="+mn-lt"/>
              </a:rPr>
              <a:t>Implementation of a very elementary shell</a:t>
            </a:r>
          </a:p>
          <a:p>
            <a:pPr lvl="1">
              <a:tabLst>
                <a:tab pos="1485900" algn="l"/>
              </a:tabLst>
            </a:pPr>
            <a:r>
              <a:rPr lang="en-US" sz="1800" dirty="0" smtClean="0">
                <a:latin typeface="+mn-lt"/>
              </a:rPr>
              <a:t>Purpose</a:t>
            </a:r>
          </a:p>
          <a:p>
            <a:pPr lvl="2">
              <a:tabLst>
                <a:tab pos="1485900" algn="l"/>
              </a:tabLst>
            </a:pPr>
            <a:r>
              <a:rPr lang="en-US" sz="1800" dirty="0" smtClean="0">
                <a:latin typeface="+mn-lt"/>
              </a:rPr>
              <a:t>Understand what happens when you type commands</a:t>
            </a:r>
          </a:p>
          <a:p>
            <a:pPr lvl="2">
              <a:tabLst>
                <a:tab pos="1485900" algn="l"/>
              </a:tabLst>
            </a:pPr>
            <a:r>
              <a:rPr lang="en-US" sz="1800" dirty="0" smtClean="0">
                <a:latin typeface="+mn-lt"/>
              </a:rPr>
              <a:t>Understand use and operation of process control operations</a:t>
            </a:r>
          </a:p>
          <a:p>
            <a:pPr lvl="2">
              <a:tabLst>
                <a:tab pos="1485900" algn="l"/>
              </a:tabLst>
            </a:pPr>
            <a:endParaRPr lang="en-US" sz="1800" dirty="0" smtClean="0">
              <a:latin typeface="+mn-lt"/>
            </a:endParaRPr>
          </a:p>
          <a:p>
            <a:pPr lvl="2">
              <a:tabLst>
                <a:tab pos="1485900" algn="l"/>
              </a:tabLst>
            </a:pPr>
            <a:endParaRPr lang="en-US" sz="1800" dirty="0"/>
          </a:p>
        </p:txBody>
      </p:sp>
    </p:spTree>
    <p:extLst>
      <p:ext uri="{BB962C8B-B14F-4D97-AF65-F5344CB8AC3E}">
        <p14:creationId xmlns:p14="http://schemas.microsoft.com/office/powerpoint/2010/main" val="381820096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dirty="0" smtClean="0"/>
              <a:t>Simple Shell Example</a:t>
            </a:r>
            <a:endParaRPr lang="en-US" dirty="0"/>
          </a:p>
        </p:txBody>
      </p:sp>
      <p:sp>
        <p:nvSpPr>
          <p:cNvPr id="4" name="Text Box 7"/>
          <p:cNvSpPr txBox="1">
            <a:spLocks noChangeArrowheads="1"/>
          </p:cNvSpPr>
          <p:nvPr/>
        </p:nvSpPr>
        <p:spPr bwMode="auto">
          <a:xfrm>
            <a:off x="357762" y="1207070"/>
            <a:ext cx="6587461" cy="4524316"/>
          </a:xfrm>
          <a:prstGeom prst="rect">
            <a:avLst/>
          </a:prstGeom>
          <a:solidFill>
            <a:schemeClr val="bg1">
              <a:lumMod val="85000"/>
            </a:schemeClr>
          </a:solidFill>
          <a:ln w="3175">
            <a:noFill/>
            <a:miter lim="800000"/>
            <a:headEnd/>
            <a:tailEnd/>
          </a:ln>
          <a:effectLst/>
        </p:spPr>
        <p:txBody>
          <a:bodyPr wrap="none">
            <a:spAutoFit/>
          </a:bodyPr>
          <a:lstStyle/>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dirty="0" smtClean="0">
                <a:solidFill>
                  <a:srgbClr val="3366FF"/>
                </a:solidFill>
                <a:latin typeface="Courier New" pitchFamily="49" charset="0"/>
              </a:rPr>
              <a:t>./</a:t>
            </a:r>
            <a:r>
              <a:rPr lang="en-US" sz="1600" dirty="0" err="1" smtClean="0">
                <a:solidFill>
                  <a:srgbClr val="3366FF"/>
                </a:solidFill>
                <a:latin typeface="Courier New" pitchFamily="49" charset="0"/>
              </a:rPr>
              <a:t>shellex</a:t>
            </a:r>
            <a:endParaRPr lang="en-US" sz="1600" dirty="0" smtClean="0">
              <a:solidFill>
                <a:srgbClr val="3366FF"/>
              </a:solidFill>
              <a:latin typeface="Courier New" pitchFamily="49" charset="0"/>
            </a:endParaRPr>
          </a:p>
          <a:p>
            <a:r>
              <a:rPr lang="hu-HU" sz="1600" dirty="0">
                <a:latin typeface="Courier New" pitchFamily="49" charset="0"/>
              </a:rPr>
              <a:t>&gt; /bin/ls -l csapp.c</a:t>
            </a:r>
          </a:p>
          <a:p>
            <a:r>
              <a:rPr lang="hu-HU" sz="1600" dirty="0">
                <a:latin typeface="Courier New" pitchFamily="49" charset="0"/>
              </a:rPr>
              <a:t>-rw-r--r-- 1 bryant users 23053 Jun 15  2015 csapp.c</a:t>
            </a:r>
          </a:p>
          <a:p>
            <a:r>
              <a:rPr lang="hu-HU" sz="1600" dirty="0">
                <a:latin typeface="Courier New" pitchFamily="49" charset="0"/>
              </a:rPr>
              <a:t>&gt; </a:t>
            </a:r>
            <a:r>
              <a:rPr lang="hu-HU" sz="1600" dirty="0">
                <a:solidFill>
                  <a:srgbClr val="3366FF"/>
                </a:solidFill>
                <a:latin typeface="Courier New" pitchFamily="49" charset="0"/>
              </a:rPr>
              <a:t>/bin/ps</a:t>
            </a:r>
          </a:p>
          <a:p>
            <a:r>
              <a:rPr lang="hu-HU" sz="1600" dirty="0">
                <a:latin typeface="Courier New" pitchFamily="49" charset="0"/>
              </a:rPr>
              <a:t>  PID TTY          TIME CMD</a:t>
            </a:r>
          </a:p>
          <a:p>
            <a:r>
              <a:rPr lang="hu-HU" sz="1600" dirty="0">
                <a:latin typeface="Courier New" pitchFamily="49" charset="0"/>
              </a:rPr>
              <a:t>31542 pts/2    00:00:01 tcsh</a:t>
            </a:r>
          </a:p>
          <a:p>
            <a:r>
              <a:rPr lang="hu-HU" sz="1600" dirty="0">
                <a:latin typeface="Courier New" pitchFamily="49" charset="0"/>
              </a:rPr>
              <a:t>32017 pts/2    00:00:00 shellex</a:t>
            </a:r>
          </a:p>
          <a:p>
            <a:r>
              <a:rPr lang="hu-HU" sz="1600" dirty="0">
                <a:latin typeface="Courier New" pitchFamily="49" charset="0"/>
              </a:rPr>
              <a:t>32019 pts/2    00:00:00 ps</a:t>
            </a:r>
          </a:p>
          <a:p>
            <a:r>
              <a:rPr lang="hu-HU" sz="1600" dirty="0" smtClean="0">
                <a:latin typeface="Courier New" pitchFamily="49" charset="0"/>
              </a:rPr>
              <a:t>&gt;</a:t>
            </a:r>
            <a:r>
              <a:rPr lang="en-US" sz="1600" dirty="0" smtClean="0">
                <a:latin typeface="Courier New" pitchFamily="49" charset="0"/>
              </a:rPr>
              <a:t> </a:t>
            </a:r>
            <a:r>
              <a:rPr lang="en-US" sz="1600" dirty="0">
                <a:solidFill>
                  <a:srgbClr val="3366FF"/>
                </a:solidFill>
                <a:latin typeface="Courier New" pitchFamily="49" charset="0"/>
              </a:rPr>
              <a:t>/bin/sleep 10 &amp;</a:t>
            </a:r>
          </a:p>
          <a:p>
            <a:r>
              <a:rPr lang="en-US" sz="1600" dirty="0">
                <a:latin typeface="Courier New" pitchFamily="49" charset="0"/>
              </a:rPr>
              <a:t>32031 /bin/sleep 10 &amp;</a:t>
            </a:r>
          </a:p>
          <a:p>
            <a:r>
              <a:rPr lang="en-US" sz="1600" dirty="0" smtClean="0">
                <a:latin typeface="Courier New" pitchFamily="49" charset="0"/>
              </a:rPr>
              <a:t>&gt; </a:t>
            </a:r>
            <a:r>
              <a:rPr lang="en-US" sz="1600" dirty="0" smtClean="0">
                <a:solidFill>
                  <a:srgbClr val="3366FF"/>
                </a:solidFill>
                <a:latin typeface="Courier New" pitchFamily="49" charset="0"/>
              </a:rPr>
              <a:t>/</a:t>
            </a:r>
            <a:r>
              <a:rPr lang="en-US" sz="1600" dirty="0">
                <a:solidFill>
                  <a:srgbClr val="3366FF"/>
                </a:solidFill>
                <a:latin typeface="Courier New" pitchFamily="49" charset="0"/>
              </a:rPr>
              <a:t>bin/</a:t>
            </a:r>
            <a:r>
              <a:rPr lang="en-US" sz="1600" dirty="0" err="1" smtClean="0">
                <a:solidFill>
                  <a:srgbClr val="3366FF"/>
                </a:solidFill>
                <a:latin typeface="Courier New" pitchFamily="49" charset="0"/>
              </a:rPr>
              <a:t>ps</a:t>
            </a:r>
            <a:endParaRPr lang="en-US" sz="1600" dirty="0" smtClean="0">
              <a:solidFill>
                <a:srgbClr val="3366FF"/>
              </a:solidFill>
              <a:latin typeface="Courier New" pitchFamily="49" charset="0"/>
            </a:endParaRPr>
          </a:p>
          <a:p>
            <a:r>
              <a:rPr lang="en-US" sz="1600" dirty="0" smtClean="0">
                <a:latin typeface="Courier New" pitchFamily="49" charset="0"/>
              </a:rPr>
              <a:t> </a:t>
            </a:r>
            <a:r>
              <a:rPr lang="en-US" sz="1600" dirty="0">
                <a:latin typeface="Courier New" pitchFamily="49" charset="0"/>
              </a:rPr>
              <a:t>PID TTY          TIME CMD</a:t>
            </a:r>
          </a:p>
          <a:p>
            <a:r>
              <a:rPr lang="en-US" sz="1600" dirty="0">
                <a:latin typeface="Courier New" pitchFamily="49" charset="0"/>
              </a:rPr>
              <a:t>31542 </a:t>
            </a:r>
            <a:r>
              <a:rPr lang="en-US" sz="1600" dirty="0" err="1">
                <a:latin typeface="Courier New" pitchFamily="49" charset="0"/>
              </a:rPr>
              <a:t>pts</a:t>
            </a:r>
            <a:r>
              <a:rPr lang="en-US" sz="1600" dirty="0">
                <a:latin typeface="Courier New" pitchFamily="49" charset="0"/>
              </a:rPr>
              <a:t>/2    00:00:01 </a:t>
            </a:r>
            <a:r>
              <a:rPr lang="en-US" sz="1600" dirty="0" err="1">
                <a:latin typeface="Courier New" pitchFamily="49" charset="0"/>
              </a:rPr>
              <a:t>tcsh</a:t>
            </a:r>
            <a:endParaRPr lang="en-US" sz="1600" dirty="0">
              <a:latin typeface="Courier New" pitchFamily="49" charset="0"/>
            </a:endParaRPr>
          </a:p>
          <a:p>
            <a:r>
              <a:rPr lang="en-US" sz="1600" dirty="0">
                <a:latin typeface="Courier New" pitchFamily="49" charset="0"/>
              </a:rPr>
              <a:t>32024 </a:t>
            </a:r>
            <a:r>
              <a:rPr lang="en-US" sz="1600" dirty="0" err="1">
                <a:latin typeface="Courier New" pitchFamily="49" charset="0"/>
              </a:rPr>
              <a:t>pts</a:t>
            </a:r>
            <a:r>
              <a:rPr lang="en-US" sz="1600" dirty="0">
                <a:latin typeface="Courier New" pitchFamily="49" charset="0"/>
              </a:rPr>
              <a:t>/2    00:00:00 </a:t>
            </a:r>
            <a:r>
              <a:rPr lang="en-US" sz="1600" dirty="0" err="1">
                <a:latin typeface="Courier New" pitchFamily="49" charset="0"/>
              </a:rPr>
              <a:t>emacs</a:t>
            </a:r>
            <a:endParaRPr lang="en-US" sz="1600" dirty="0">
              <a:latin typeface="Courier New" pitchFamily="49" charset="0"/>
            </a:endParaRPr>
          </a:p>
          <a:p>
            <a:r>
              <a:rPr lang="en-US" sz="1600" dirty="0">
                <a:latin typeface="Courier New" pitchFamily="49" charset="0"/>
              </a:rPr>
              <a:t>32030 </a:t>
            </a:r>
            <a:r>
              <a:rPr lang="en-US" sz="1600" dirty="0" err="1">
                <a:latin typeface="Courier New" pitchFamily="49" charset="0"/>
              </a:rPr>
              <a:t>pts</a:t>
            </a:r>
            <a:r>
              <a:rPr lang="en-US" sz="1600" dirty="0">
                <a:latin typeface="Courier New" pitchFamily="49" charset="0"/>
              </a:rPr>
              <a:t>/2    00:00:00 </a:t>
            </a:r>
            <a:r>
              <a:rPr lang="en-US" sz="1600" dirty="0" err="1">
                <a:latin typeface="Courier New" pitchFamily="49" charset="0"/>
              </a:rPr>
              <a:t>shellex</a:t>
            </a:r>
            <a:endParaRPr lang="en-US" sz="1600" dirty="0">
              <a:latin typeface="Courier New" pitchFamily="49" charset="0"/>
            </a:endParaRPr>
          </a:p>
          <a:p>
            <a:r>
              <a:rPr lang="en-US" sz="1600" dirty="0">
                <a:latin typeface="Courier New" pitchFamily="49" charset="0"/>
              </a:rPr>
              <a:t>32031 </a:t>
            </a:r>
            <a:r>
              <a:rPr lang="en-US" sz="1600" dirty="0" err="1">
                <a:latin typeface="Courier New" pitchFamily="49" charset="0"/>
              </a:rPr>
              <a:t>pts</a:t>
            </a:r>
            <a:r>
              <a:rPr lang="en-US" sz="1600" dirty="0">
                <a:latin typeface="Courier New" pitchFamily="49" charset="0"/>
              </a:rPr>
              <a:t>/2    00:00:00 sleep</a:t>
            </a:r>
          </a:p>
          <a:p>
            <a:r>
              <a:rPr lang="en-US" sz="1600" dirty="0">
                <a:latin typeface="Courier New" pitchFamily="49" charset="0"/>
              </a:rPr>
              <a:t>32033 </a:t>
            </a:r>
            <a:r>
              <a:rPr lang="en-US" sz="1600" dirty="0" err="1">
                <a:latin typeface="Courier New" pitchFamily="49" charset="0"/>
              </a:rPr>
              <a:t>pts</a:t>
            </a:r>
            <a:r>
              <a:rPr lang="en-US" sz="1600" dirty="0">
                <a:latin typeface="Courier New" pitchFamily="49" charset="0"/>
              </a:rPr>
              <a:t>/2    00:00:00 </a:t>
            </a:r>
            <a:r>
              <a:rPr lang="en-US" sz="1600" dirty="0" err="1" smtClean="0">
                <a:latin typeface="Courier New" pitchFamily="49" charset="0"/>
              </a:rPr>
              <a:t>ps</a:t>
            </a:r>
            <a:endParaRPr lang="en-US" sz="1600" dirty="0">
              <a:latin typeface="Courier New" pitchFamily="49" charset="0"/>
            </a:endParaRPr>
          </a:p>
          <a:p>
            <a:r>
              <a:rPr lang="hu-HU" sz="1600" dirty="0" smtClean="0">
                <a:latin typeface="Courier New" pitchFamily="49" charset="0"/>
              </a:rPr>
              <a:t>&gt; </a:t>
            </a:r>
            <a:r>
              <a:rPr lang="hu-HU" sz="1600" dirty="0">
                <a:solidFill>
                  <a:srgbClr val="3366FF"/>
                </a:solidFill>
                <a:latin typeface="Courier New" pitchFamily="49" charset="0"/>
              </a:rPr>
              <a:t>quit</a:t>
            </a:r>
          </a:p>
        </p:txBody>
      </p:sp>
      <p:sp>
        <p:nvSpPr>
          <p:cNvPr id="3" name="TextBox 2"/>
          <p:cNvSpPr txBox="1"/>
          <p:nvPr/>
        </p:nvSpPr>
        <p:spPr>
          <a:xfrm>
            <a:off x="3028766" y="1394575"/>
            <a:ext cx="3916457" cy="369332"/>
          </a:xfrm>
          <a:prstGeom prst="rect">
            <a:avLst/>
          </a:prstGeom>
          <a:noFill/>
        </p:spPr>
        <p:txBody>
          <a:bodyPr wrap="none" rtlCol="0">
            <a:spAutoFit/>
          </a:bodyPr>
          <a:lstStyle/>
          <a:p>
            <a:r>
              <a:rPr lang="en-US" sz="1800" dirty="0" smtClean="0">
                <a:solidFill>
                  <a:srgbClr val="990000"/>
                </a:solidFill>
                <a:latin typeface="Calibri" pitchFamily="34" charset="0"/>
              </a:rPr>
              <a:t>Must give full pathnames for programs</a:t>
            </a:r>
          </a:p>
        </p:txBody>
      </p:sp>
      <p:sp>
        <p:nvSpPr>
          <p:cNvPr id="7" name="TextBox 6"/>
          <p:cNvSpPr txBox="1"/>
          <p:nvPr/>
        </p:nvSpPr>
        <p:spPr>
          <a:xfrm>
            <a:off x="2863658" y="3167995"/>
            <a:ext cx="2855131" cy="369332"/>
          </a:xfrm>
          <a:prstGeom prst="rect">
            <a:avLst/>
          </a:prstGeom>
          <a:noFill/>
        </p:spPr>
        <p:txBody>
          <a:bodyPr wrap="none" rtlCol="0">
            <a:spAutoFit/>
          </a:bodyPr>
          <a:lstStyle/>
          <a:p>
            <a:r>
              <a:rPr lang="en-US" sz="1800" dirty="0" smtClean="0">
                <a:solidFill>
                  <a:srgbClr val="990000"/>
                </a:solidFill>
                <a:latin typeface="Calibri" pitchFamily="34" charset="0"/>
              </a:rPr>
              <a:t>Run program in background</a:t>
            </a:r>
          </a:p>
        </p:txBody>
      </p:sp>
      <p:sp>
        <p:nvSpPr>
          <p:cNvPr id="8" name="TextBox 7"/>
          <p:cNvSpPr txBox="1"/>
          <p:nvPr/>
        </p:nvSpPr>
        <p:spPr>
          <a:xfrm>
            <a:off x="4291223" y="4849502"/>
            <a:ext cx="1897443" cy="646331"/>
          </a:xfrm>
          <a:prstGeom prst="rect">
            <a:avLst/>
          </a:prstGeom>
          <a:noFill/>
        </p:spPr>
        <p:txBody>
          <a:bodyPr wrap="none" rtlCol="0">
            <a:spAutoFit/>
          </a:bodyPr>
          <a:lstStyle/>
          <a:p>
            <a:r>
              <a:rPr lang="en-US" sz="1800" dirty="0" smtClean="0">
                <a:solidFill>
                  <a:srgbClr val="990000"/>
                </a:solidFill>
                <a:latin typeface="Calibri" pitchFamily="34" charset="0"/>
              </a:rPr>
              <a:t>Sleep is running</a:t>
            </a:r>
          </a:p>
          <a:p>
            <a:pPr marL="63500" indent="287338"/>
            <a:r>
              <a:rPr lang="en-US" sz="1800" dirty="0" smtClean="0">
                <a:solidFill>
                  <a:srgbClr val="990000"/>
                </a:solidFill>
                <a:latin typeface="Calibri" pitchFamily="34" charset="0"/>
              </a:rPr>
              <a:t>in background</a:t>
            </a:r>
          </a:p>
        </p:txBody>
      </p:sp>
    </p:spTree>
    <p:extLst>
      <p:ext uri="{BB962C8B-B14F-4D97-AF65-F5344CB8AC3E}">
        <p14:creationId xmlns:p14="http://schemas.microsoft.com/office/powerpoint/2010/main" val="202999051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dirty="0" smtClean="0"/>
              <a:t>Simple Shell Implementation</a:t>
            </a:r>
            <a:endParaRPr lang="en-US" dirty="0"/>
          </a:p>
        </p:txBody>
      </p:sp>
      <p:sp>
        <p:nvSpPr>
          <p:cNvPr id="542723" name="Rectangle 3"/>
          <p:cNvSpPr>
            <a:spLocks noGrp="1" noChangeArrowheads="1"/>
          </p:cNvSpPr>
          <p:nvPr>
            <p:ph type="body" idx="1"/>
          </p:nvPr>
        </p:nvSpPr>
        <p:spPr>
          <a:xfrm>
            <a:off x="363302" y="1143000"/>
            <a:ext cx="8475897" cy="1828800"/>
          </a:xfrm>
        </p:spPr>
        <p:txBody>
          <a:bodyPr/>
          <a:lstStyle/>
          <a:p>
            <a:r>
              <a:rPr lang="en-US" dirty="0" smtClean="0"/>
              <a:t>Basic loop</a:t>
            </a:r>
          </a:p>
          <a:p>
            <a:pPr lvl="1"/>
            <a:r>
              <a:rPr lang="en-US" sz="1400" dirty="0" smtClean="0"/>
              <a:t>Read line from command line</a:t>
            </a:r>
          </a:p>
          <a:p>
            <a:pPr lvl="1"/>
            <a:r>
              <a:rPr lang="en-US" sz="1400" dirty="0" smtClean="0"/>
              <a:t>Execute the requested operation</a:t>
            </a:r>
          </a:p>
          <a:p>
            <a:pPr lvl="2"/>
            <a:r>
              <a:rPr lang="en-US" sz="1400" dirty="0" smtClean="0"/>
              <a:t>Built-in command (only one implemented is </a:t>
            </a:r>
            <a:r>
              <a:rPr lang="en-US" sz="1400" b="1" dirty="0" smtClean="0">
                <a:latin typeface="Courier New"/>
                <a:cs typeface="Courier New"/>
              </a:rPr>
              <a:t>quit</a:t>
            </a:r>
            <a:r>
              <a:rPr lang="en-US" sz="1400" dirty="0" smtClean="0"/>
              <a:t>)</a:t>
            </a:r>
          </a:p>
          <a:p>
            <a:pPr lvl="2"/>
            <a:r>
              <a:rPr lang="en-US" sz="1400" dirty="0" smtClean="0"/>
              <a:t>Load and execute program from file</a:t>
            </a:r>
            <a:endParaRPr lang="en-US" sz="1400" dirty="0"/>
          </a:p>
        </p:txBody>
      </p:sp>
      <p:sp>
        <p:nvSpPr>
          <p:cNvPr id="542724" name="Text Box 4"/>
          <p:cNvSpPr txBox="1">
            <a:spLocks noChangeArrowheads="1"/>
          </p:cNvSpPr>
          <p:nvPr/>
        </p:nvSpPr>
        <p:spPr bwMode="auto">
          <a:xfrm>
            <a:off x="363303" y="3048000"/>
            <a:ext cx="5726798" cy="3429000"/>
          </a:xfrm>
          <a:prstGeom prst="rect">
            <a:avLst/>
          </a:prstGeom>
          <a:solidFill>
            <a:srgbClr val="F6F5BD"/>
          </a:solidFill>
          <a:ln w="12700">
            <a:solidFill>
              <a:schemeClr val="tx1"/>
            </a:solidFill>
            <a:miter lim="800000"/>
            <a:headEnd/>
            <a:tailEnd type="none" w="sm" len="sm"/>
          </a:ln>
          <a:effectLst/>
        </p:spPr>
        <p:txBody>
          <a:bodyPr wrap="square" lIns="45720" rIns="45720">
            <a:normAutofit lnSpcReduction="10000"/>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smtClean="0">
                <a:solidFill>
                  <a:srgbClr val="4A00FF"/>
                </a:solidFill>
                <a:latin typeface="Courier New"/>
                <a:cs typeface="Courier New"/>
              </a:rPr>
              <a:t>main</a:t>
            </a:r>
            <a:r>
              <a:rPr lang="en-US" sz="1600" dirty="0" smtClean="0">
                <a:solidFill>
                  <a:srgbClr val="000000"/>
                </a:solidFill>
                <a:latin typeface="Courier New"/>
                <a:cs typeface="Courier New"/>
              </a:rPr>
              <a:t>(</a:t>
            </a:r>
            <a:r>
              <a:rPr lang="en-US" sz="1600" dirty="0" err="1" smtClean="0">
                <a:solidFill>
                  <a:srgbClr val="000000"/>
                </a:solidFill>
                <a:latin typeface="Courier New"/>
                <a:cs typeface="Courier New"/>
              </a:rPr>
              <a:t>int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argc</a:t>
            </a:r>
            <a:r>
              <a:rPr lang="en-US" sz="1600" dirty="0" smtClean="0">
                <a:solidFill>
                  <a:srgbClr val="000000"/>
                </a:solidFill>
                <a:latin typeface="Courier New"/>
                <a:cs typeface="Courier New"/>
              </a:rPr>
              <a:t>, char** </a:t>
            </a:r>
            <a:r>
              <a:rPr lang="en-US" sz="1600" dirty="0" err="1" smtClean="0">
                <a:solidFill>
                  <a:srgbClr val="000000"/>
                </a:solidFill>
                <a:latin typeface="Courier New"/>
                <a:cs typeface="Courier New"/>
              </a:rPr>
              <a:t>argv</a:t>
            </a:r>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command line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(1) {</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read */</a:t>
            </a:r>
            <a:endParaRPr lang="en-US" sz="1600" dirty="0">
              <a:solidFill>
                <a:srgbClr val="000000"/>
              </a:solidFill>
              <a:latin typeface="Courier New"/>
              <a:cs typeface="Courier New"/>
            </a:endParaRPr>
          </a:p>
          <a:p>
            <a:r>
              <a:rPr lang="ro-RO" sz="1600" dirty="0">
                <a:solidFill>
                  <a:srgbClr val="000000"/>
                </a:solidFill>
                <a:latin typeface="Courier New"/>
                <a:cs typeface="Courier New"/>
              </a:rPr>
              <a:t>        printf(</a:t>
            </a:r>
            <a:r>
              <a:rPr lang="ro-RO" sz="1600" dirty="0">
                <a:solidFill>
                  <a:srgbClr val="9D206F"/>
                </a:solidFill>
                <a:latin typeface="Courier New"/>
                <a:cs typeface="Courier New"/>
              </a:rPr>
              <a:t>"&gt; "</a:t>
            </a:r>
            <a:r>
              <a:rPr lang="ro-RO" sz="1600" dirty="0">
                <a:solidFill>
                  <a:srgbClr val="000000"/>
                </a:solidFill>
                <a:latin typeface="Courier New"/>
                <a:cs typeface="Courier New"/>
              </a:rPr>
              <a:t>);</a:t>
            </a:r>
          </a:p>
          <a:p>
            <a:r>
              <a:rPr lang="ro-RO" sz="1600" dirty="0">
                <a:solidFill>
                  <a:srgbClr val="000000"/>
                </a:solidFill>
                <a:latin typeface="Courier New"/>
                <a:cs typeface="Courier New"/>
              </a:rPr>
              <a:t>        Fgets(cmdline, MAXLINE, stdin);</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feof</a:t>
            </a:r>
            <a:r>
              <a:rPr lang="en-US" sz="1600" dirty="0">
                <a:solidFill>
                  <a:srgbClr val="000000"/>
                </a:solidFill>
                <a:latin typeface="Courier New"/>
                <a:cs typeface="Courier New"/>
              </a:rPr>
              <a:t>(</a:t>
            </a:r>
            <a:r>
              <a:rPr lang="en-US" sz="1600" dirty="0" err="1">
                <a:solidFill>
                  <a:srgbClr val="000000"/>
                </a:solidFill>
                <a:latin typeface="Courier New"/>
                <a:cs typeface="Courier New"/>
              </a:rPr>
              <a:t>stdin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exit(0);</a:t>
            </a:r>
          </a:p>
          <a:p>
            <a:endParaRPr lang="en-US"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B2418"/>
                </a:solidFill>
                <a:latin typeface="Courier New"/>
                <a:cs typeface="Courier New"/>
              </a:rPr>
              <a:t>/* evaluate */</a:t>
            </a:r>
            <a:endParaRPr lang="ro-RO" sz="1600" dirty="0">
              <a:solidFill>
                <a:srgbClr val="000000"/>
              </a:solidFill>
              <a:latin typeface="Courier New"/>
              <a:cs typeface="Courier New"/>
            </a:endParaRPr>
          </a:p>
          <a:p>
            <a:r>
              <a:rPr lang="sv-SE" sz="1600" dirty="0">
                <a:solidFill>
                  <a:srgbClr val="000000"/>
                </a:solidFill>
                <a:latin typeface="Courier New"/>
                <a:cs typeface="Courier New"/>
              </a:rPr>
              <a:t>        </a:t>
            </a:r>
            <a:r>
              <a:rPr lang="sv-SE" sz="1600" dirty="0" err="1">
                <a:solidFill>
                  <a:srgbClr val="000000"/>
                </a:solidFill>
                <a:latin typeface="Courier New"/>
                <a:cs typeface="Courier New"/>
              </a:rPr>
              <a:t>eval</a:t>
            </a:r>
            <a:r>
              <a:rPr lang="sv-SE" sz="1600" dirty="0">
                <a:solidFill>
                  <a:srgbClr val="000000"/>
                </a:solidFill>
                <a:latin typeface="Courier New"/>
                <a:cs typeface="Courier New"/>
              </a:rPr>
              <a:t>(</a:t>
            </a:r>
            <a:r>
              <a:rPr lang="sv-SE" sz="1600" dirty="0" err="1">
                <a:solidFill>
                  <a:srgbClr val="000000"/>
                </a:solidFill>
                <a:latin typeface="Courier New"/>
                <a:cs typeface="Courier New"/>
              </a:rPr>
              <a:t>cmdline</a:t>
            </a:r>
            <a:r>
              <a:rPr lang="sv-SE" sz="1600" dirty="0">
                <a:solidFill>
                  <a:srgbClr val="000000"/>
                </a:solidFill>
                <a:latin typeface="Courier New"/>
                <a:cs typeface="Courier New"/>
              </a:rPr>
              <a:t>);</a:t>
            </a:r>
          </a:p>
          <a:p>
            <a:r>
              <a:rPr lang="sv-SE" sz="1600" dirty="0">
                <a:solidFill>
                  <a:srgbClr val="000000"/>
                </a:solidFill>
                <a:latin typeface="Courier New"/>
                <a:cs typeface="Courier New"/>
              </a:rPr>
              <a:t>    }</a:t>
            </a:r>
          </a:p>
          <a:p>
            <a:r>
              <a:rPr lang="sv-SE" sz="1600" dirty="0">
                <a:solidFill>
                  <a:srgbClr val="000000"/>
                </a:solidFill>
                <a:latin typeface="Courier New"/>
                <a:cs typeface="Courier New"/>
              </a:rPr>
              <a:t> </a:t>
            </a:r>
            <a:r>
              <a:rPr lang="sv-SE" sz="1600" dirty="0" smtClean="0">
                <a:solidFill>
                  <a:srgbClr val="000000"/>
                </a:solidFill>
                <a:latin typeface="Courier New"/>
                <a:cs typeface="Courier New"/>
              </a:rPr>
              <a:t>  ...</a:t>
            </a:r>
            <a:endParaRPr lang="en-US" sz="1600" dirty="0">
              <a:latin typeface="Courier New"/>
              <a:cs typeface="Courier New"/>
            </a:endParaRPr>
          </a:p>
        </p:txBody>
      </p:sp>
      <p:sp>
        <p:nvSpPr>
          <p:cNvPr id="542727" name="Rectangle 7"/>
          <p:cNvSpPr>
            <a:spLocks noChangeArrowheads="1"/>
          </p:cNvSpPr>
          <p:nvPr/>
        </p:nvSpPr>
        <p:spPr bwMode="auto">
          <a:xfrm>
            <a:off x="6324600" y="3200400"/>
            <a:ext cx="2245194" cy="1066800"/>
          </a:xfrm>
          <a:prstGeom prst="rect">
            <a:avLst/>
          </a:prstGeom>
          <a:noFill/>
          <a:ln w="9525">
            <a:noFill/>
            <a:miter lim="800000"/>
            <a:headEnd/>
            <a:tailEnd/>
          </a:ln>
          <a:effectLst/>
        </p:spPr>
        <p:txBody>
          <a:bodyPr lIns="90479" tIns="44446" rIns="90479" bIns="44446"/>
          <a:lstStyle/>
          <a:p>
            <a:pPr algn="l" eaLnBrk="1" hangingPunct="1">
              <a:lnSpc>
                <a:spcPct val="95000"/>
              </a:lnSpc>
              <a:spcBef>
                <a:spcPct val="50000"/>
              </a:spcBef>
              <a:buClr>
                <a:schemeClr val="hlink"/>
              </a:buClr>
              <a:buFont typeface="Wingdings" pitchFamily="2" charset="2"/>
              <a:buNone/>
            </a:pPr>
            <a:r>
              <a:rPr lang="en-US" sz="2000" b="1" i="1" dirty="0">
                <a:solidFill>
                  <a:schemeClr val="tx1">
                    <a:lumMod val="50000"/>
                    <a:lumOff val="50000"/>
                  </a:schemeClr>
                </a:solidFill>
                <a:latin typeface="Calibri" pitchFamily="34" charset="0"/>
              </a:rPr>
              <a:t>Execution is a sequence </a:t>
            </a:r>
            <a:r>
              <a:rPr lang="en-US" sz="2000" b="1" i="1" dirty="0" smtClean="0">
                <a:solidFill>
                  <a:schemeClr val="tx1">
                    <a:lumMod val="50000"/>
                    <a:lumOff val="50000"/>
                  </a:schemeClr>
                </a:solidFill>
                <a:latin typeface="Calibri" pitchFamily="34" charset="0"/>
              </a:rPr>
              <a:t>of read/evaluate </a:t>
            </a:r>
            <a:r>
              <a:rPr lang="en-US" sz="2000" b="1" i="1" dirty="0">
                <a:solidFill>
                  <a:schemeClr val="tx1">
                    <a:lumMod val="50000"/>
                    <a:lumOff val="50000"/>
                  </a:schemeClr>
                </a:solidFill>
                <a:latin typeface="Calibri" pitchFamily="34" charset="0"/>
              </a:rPr>
              <a:t>steps</a:t>
            </a:r>
          </a:p>
        </p:txBody>
      </p:sp>
      <p:sp>
        <p:nvSpPr>
          <p:cNvPr id="6" name="Rectangle 3"/>
          <p:cNvSpPr>
            <a:spLocks noChangeArrowheads="1"/>
          </p:cNvSpPr>
          <p:nvPr/>
        </p:nvSpPr>
        <p:spPr bwMode="auto">
          <a:xfrm>
            <a:off x="4689340" y="61193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61142630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F6F5BD"/>
                </a:solidFill>
                <a:latin typeface="Courier New"/>
                <a:cs typeface="Courier New"/>
              </a:rPr>
              <a:t>       if ((</a:t>
            </a:r>
            <a:r>
              <a:rPr lang="en-US" sz="1600" dirty="0" err="1">
                <a:solidFill>
                  <a:srgbClr val="F6F5BD"/>
                </a:solidFill>
                <a:latin typeface="Courier New"/>
                <a:cs typeface="Courier New"/>
              </a:rPr>
              <a:t>pid</a:t>
            </a:r>
            <a:r>
              <a:rPr lang="en-US" sz="1600" dirty="0">
                <a:solidFill>
                  <a:srgbClr val="F6F5BD"/>
                </a:solidFill>
                <a:latin typeface="Courier New"/>
                <a:cs typeface="Courier New"/>
              </a:rPr>
              <a:t> = Fork()) == 0) {   /* Child runs user job */</a:t>
            </a:r>
          </a:p>
          <a:p>
            <a:r>
              <a:rPr lang="en-US" sz="1600" dirty="0">
                <a:solidFill>
                  <a:srgbClr val="F6F5BD"/>
                </a:solidFill>
                <a:latin typeface="Courier New"/>
                <a:cs typeface="Courier New"/>
              </a:rPr>
              <a:t>            if (</a:t>
            </a:r>
            <a:r>
              <a:rPr lang="en-US" sz="1600" dirty="0" err="1">
                <a:solidFill>
                  <a:srgbClr val="F6F5BD"/>
                </a:solidFill>
                <a:latin typeface="Courier New"/>
                <a:cs typeface="Courier New"/>
              </a:rPr>
              <a:t>execve</a:t>
            </a:r>
            <a:r>
              <a:rPr lang="en-US" sz="1600" dirty="0">
                <a:solidFill>
                  <a:srgbClr val="F6F5BD"/>
                </a:solidFill>
                <a:latin typeface="Courier New"/>
                <a:cs typeface="Courier New"/>
              </a:rPr>
              <a:t>(</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[0], </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 environ) &lt; 0) {</a:t>
            </a:r>
          </a:p>
          <a:p>
            <a:r>
              <a:rPr lang="en-US" sz="1600" dirty="0">
                <a:solidFill>
                  <a:srgbClr val="F6F5BD"/>
                </a:solidFill>
                <a:latin typeface="Courier New"/>
                <a:cs typeface="Courier New"/>
              </a:rPr>
              <a:t>                </a:t>
            </a:r>
            <a:r>
              <a:rPr lang="en-US" sz="1600" dirty="0" err="1">
                <a:solidFill>
                  <a:srgbClr val="F6F5BD"/>
                </a:solidFill>
                <a:latin typeface="Courier New"/>
                <a:cs typeface="Courier New"/>
              </a:rPr>
              <a:t>printf</a:t>
            </a:r>
            <a:r>
              <a:rPr lang="en-US" sz="1600" dirty="0">
                <a:solidFill>
                  <a:srgbClr val="F6F5BD"/>
                </a:solidFill>
                <a:latin typeface="Courier New"/>
                <a:cs typeface="Courier New"/>
              </a:rPr>
              <a:t>("%s: Command not found.\n", </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[0]);</a:t>
            </a:r>
          </a:p>
          <a:p>
            <a:r>
              <a:rPr lang="en-US" sz="1600" dirty="0">
                <a:solidFill>
                  <a:srgbClr val="F6F5BD"/>
                </a:solidFill>
                <a:latin typeface="Courier New"/>
                <a:cs typeface="Courier New"/>
              </a:rPr>
              <a:t>                exit(0);</a:t>
            </a:r>
          </a:p>
          <a:p>
            <a:r>
              <a:rPr lang="en-US" sz="1600" dirty="0">
                <a:solidFill>
                  <a:srgbClr val="F6F5BD"/>
                </a:solidFill>
                <a:latin typeface="Courier New"/>
                <a:cs typeface="Courier New"/>
              </a:rPr>
              <a:t>            }</a:t>
            </a:r>
          </a:p>
          <a:p>
            <a:r>
              <a:rPr lang="en-US" sz="1600" dirty="0">
                <a:solidFill>
                  <a:srgbClr val="F6F5BD"/>
                </a:solidFill>
                <a:latin typeface="Courier New"/>
                <a:cs typeface="Courier New"/>
              </a:rPr>
              <a:t>        }</a:t>
            </a:r>
          </a:p>
          <a:p>
            <a:endParaRPr lang="en-US" sz="1600" dirty="0">
              <a:solidFill>
                <a:srgbClr val="F6F5BD"/>
              </a:solidFill>
              <a:latin typeface="Courier New"/>
              <a:cs typeface="Courier New"/>
            </a:endParaRPr>
          </a:p>
          <a:p>
            <a:r>
              <a:rPr lang="en-US" sz="1600" dirty="0">
                <a:solidFill>
                  <a:srgbClr val="F6F5BD"/>
                </a:solidFill>
                <a:latin typeface="Courier New"/>
                <a:cs typeface="Courier New"/>
              </a:rPr>
              <a:t>        /* Parent waits for foreground job to terminate */</a:t>
            </a:r>
          </a:p>
          <a:p>
            <a:r>
              <a:rPr lang="de-DE" sz="1600" dirty="0">
                <a:solidFill>
                  <a:srgbClr val="F6F5BD"/>
                </a:solidFill>
                <a:latin typeface="Courier New"/>
                <a:cs typeface="Courier New"/>
              </a:rPr>
              <a:t>	</a:t>
            </a:r>
            <a:r>
              <a:rPr lang="de-DE" sz="1600" dirty="0" err="1">
                <a:solidFill>
                  <a:srgbClr val="F6F5BD"/>
                </a:solidFill>
                <a:latin typeface="Courier New"/>
                <a:cs typeface="Courier New"/>
              </a:rPr>
              <a:t>if</a:t>
            </a:r>
            <a:r>
              <a:rPr lang="de-DE" sz="1600" dirty="0">
                <a:solidFill>
                  <a:srgbClr val="F6F5BD"/>
                </a:solidFill>
                <a:latin typeface="Courier New"/>
                <a:cs typeface="Courier New"/>
              </a:rPr>
              <a:t> (!</a:t>
            </a:r>
            <a:r>
              <a:rPr lang="de-DE" sz="1600" dirty="0" err="1">
                <a:solidFill>
                  <a:srgbClr val="F6F5BD"/>
                </a:solidFill>
                <a:latin typeface="Courier New"/>
                <a:cs typeface="Courier New"/>
              </a:rPr>
              <a:t>bg</a:t>
            </a:r>
            <a:r>
              <a:rPr lang="de-DE" sz="1600" dirty="0">
                <a:solidFill>
                  <a:srgbClr val="F6F5BD"/>
                </a:solidFill>
                <a:latin typeface="Courier New"/>
                <a:cs typeface="Courier New"/>
              </a:rPr>
              <a:t>) {</a:t>
            </a:r>
          </a:p>
          <a:p>
            <a:r>
              <a:rPr lang="fr-FR" sz="1600" dirty="0">
                <a:solidFill>
                  <a:srgbClr val="F6F5BD"/>
                </a:solidFill>
                <a:latin typeface="Courier New"/>
                <a:cs typeface="Courier New"/>
              </a:rPr>
              <a:t>            </a:t>
            </a:r>
            <a:r>
              <a:rPr lang="fr-FR" sz="1600" dirty="0" err="1">
                <a:solidFill>
                  <a:srgbClr val="F6F5BD"/>
                </a:solidFill>
                <a:latin typeface="Courier New"/>
                <a:cs typeface="Courier New"/>
              </a:rPr>
              <a:t>int</a:t>
            </a:r>
            <a:r>
              <a:rPr lang="fr-FR" sz="1600" dirty="0">
                <a:solidFill>
                  <a:srgbClr val="F6F5BD"/>
                </a:solidFill>
                <a:latin typeface="Courier New"/>
                <a:cs typeface="Courier New"/>
              </a:rPr>
              <a:t> </a:t>
            </a:r>
            <a:r>
              <a:rPr lang="fr-FR" sz="1600" dirty="0" err="1">
                <a:solidFill>
                  <a:srgbClr val="F6F5BD"/>
                </a:solidFill>
                <a:latin typeface="Courier New"/>
                <a:cs typeface="Courier New"/>
              </a:rPr>
              <a:t>status</a:t>
            </a:r>
            <a:r>
              <a:rPr lang="fr-FR" sz="1600" dirty="0">
                <a:solidFill>
                  <a:srgbClr val="F6F5BD"/>
                </a:solidFill>
                <a:latin typeface="Courier New"/>
                <a:cs typeface="Courier New"/>
              </a:rPr>
              <a:t>;</a:t>
            </a:r>
          </a:p>
          <a:p>
            <a:r>
              <a:rPr lang="en-US" sz="1600" dirty="0">
                <a:solidFill>
                  <a:srgbClr val="F6F5BD"/>
                </a:solidFill>
                <a:latin typeface="Courier New"/>
                <a:cs typeface="Courier New"/>
              </a:rPr>
              <a:t>            if (</a:t>
            </a:r>
            <a:r>
              <a:rPr lang="en-US" sz="1600" dirty="0" err="1">
                <a:solidFill>
                  <a:srgbClr val="F6F5BD"/>
                </a:solidFill>
                <a:latin typeface="Courier New"/>
                <a:cs typeface="Courier New"/>
              </a:rPr>
              <a:t>waitpid</a:t>
            </a:r>
            <a:r>
              <a:rPr lang="en-US" sz="1600" dirty="0">
                <a:solidFill>
                  <a:srgbClr val="F6F5BD"/>
                </a:solidFill>
                <a:latin typeface="Courier New"/>
                <a:cs typeface="Courier New"/>
              </a:rPr>
              <a:t>(</a:t>
            </a:r>
            <a:r>
              <a:rPr lang="en-US" sz="1600" dirty="0" err="1">
                <a:solidFill>
                  <a:srgbClr val="F6F5BD"/>
                </a:solidFill>
                <a:latin typeface="Courier New"/>
                <a:cs typeface="Courier New"/>
              </a:rPr>
              <a:t>pid</a:t>
            </a:r>
            <a:r>
              <a:rPr lang="en-US" sz="1600" dirty="0">
                <a:solidFill>
                  <a:srgbClr val="F6F5BD"/>
                </a:solidFill>
                <a:latin typeface="Courier New"/>
                <a:cs typeface="Courier New"/>
              </a:rPr>
              <a:t>, &amp;status, 0) &lt; 0)</a:t>
            </a:r>
          </a:p>
          <a:p>
            <a:r>
              <a:rPr lang="en-US" sz="1600" dirty="0">
                <a:solidFill>
                  <a:srgbClr val="F6F5BD"/>
                </a:solidFill>
                <a:latin typeface="Courier New"/>
                <a:cs typeface="Courier New"/>
              </a:rPr>
              <a:t>                </a:t>
            </a:r>
            <a:r>
              <a:rPr lang="en-US" sz="1600" dirty="0" err="1">
                <a:solidFill>
                  <a:srgbClr val="F6F5BD"/>
                </a:solidFill>
                <a:latin typeface="Courier New"/>
                <a:cs typeface="Courier New"/>
              </a:rPr>
              <a:t>unix_error</a:t>
            </a:r>
            <a:r>
              <a:rPr lang="en-US" sz="1600" dirty="0">
                <a:solidFill>
                  <a:srgbClr val="F6F5BD"/>
                </a:solidFill>
                <a:latin typeface="Courier New"/>
                <a:cs typeface="Courier New"/>
              </a:rPr>
              <a:t>("</a:t>
            </a:r>
            <a:r>
              <a:rPr lang="en-US" sz="1600" dirty="0" err="1">
                <a:solidFill>
                  <a:srgbClr val="F6F5BD"/>
                </a:solidFill>
                <a:latin typeface="Courier New"/>
                <a:cs typeface="Courier New"/>
              </a:rPr>
              <a:t>waitfg</a:t>
            </a:r>
            <a:r>
              <a:rPr lang="en-US" sz="1600" dirty="0">
                <a:solidFill>
                  <a:srgbClr val="F6F5BD"/>
                </a:solidFill>
                <a:latin typeface="Courier New"/>
                <a:cs typeface="Courier New"/>
              </a:rPr>
              <a:t>: </a:t>
            </a:r>
            <a:r>
              <a:rPr lang="en-US" sz="1600" dirty="0" err="1">
                <a:solidFill>
                  <a:srgbClr val="F6F5BD"/>
                </a:solidFill>
                <a:latin typeface="Courier New"/>
                <a:cs typeface="Courier New"/>
              </a:rPr>
              <a:t>waitpid</a:t>
            </a:r>
            <a:r>
              <a:rPr lang="en-US" sz="1600" dirty="0">
                <a:solidFill>
                  <a:srgbClr val="F6F5BD"/>
                </a:solidFill>
                <a:latin typeface="Courier New"/>
                <a:cs typeface="Courier New"/>
              </a:rPr>
              <a:t> error");</a:t>
            </a:r>
          </a:p>
          <a:p>
            <a:r>
              <a:rPr lang="en-US" sz="1600" dirty="0">
                <a:solidFill>
                  <a:srgbClr val="F6F5BD"/>
                </a:solidFill>
                <a:latin typeface="Courier New"/>
                <a:cs typeface="Courier New"/>
              </a:rPr>
              <a:t>        }</a:t>
            </a:r>
          </a:p>
          <a:p>
            <a:r>
              <a:rPr lang="hu-HU" sz="1600" dirty="0">
                <a:solidFill>
                  <a:srgbClr val="F6F5BD"/>
                </a:solidFill>
                <a:latin typeface="Courier New"/>
                <a:cs typeface="Courier New"/>
              </a:rPr>
              <a:t>        else</a:t>
            </a:r>
          </a:p>
          <a:p>
            <a:r>
              <a:rPr lang="fi-FI" sz="1600" dirty="0">
                <a:solidFill>
                  <a:srgbClr val="F6F5BD"/>
                </a:solidFill>
                <a:latin typeface="Courier New"/>
                <a:cs typeface="Courier New"/>
              </a:rPr>
              <a:t>            </a:t>
            </a:r>
            <a:r>
              <a:rPr lang="fi-FI" sz="1600" dirty="0" err="1">
                <a:solidFill>
                  <a:srgbClr val="F6F5BD"/>
                </a:solidFill>
                <a:latin typeface="Courier New"/>
                <a:cs typeface="Courier New"/>
              </a:rPr>
              <a:t>printf("%d</a:t>
            </a:r>
            <a:r>
              <a:rPr lang="fi-FI" sz="1600" dirty="0">
                <a:solidFill>
                  <a:srgbClr val="F6F5BD"/>
                </a:solidFill>
                <a:latin typeface="Courier New"/>
                <a:cs typeface="Courier New"/>
              </a:rPr>
              <a:t> %s", </a:t>
            </a:r>
            <a:r>
              <a:rPr lang="fi-FI" sz="1600" dirty="0" err="1">
                <a:solidFill>
                  <a:srgbClr val="F6F5BD"/>
                </a:solidFill>
                <a:latin typeface="Courier New"/>
                <a:cs typeface="Courier New"/>
              </a:rPr>
              <a:t>pid</a:t>
            </a:r>
            <a:r>
              <a:rPr lang="fi-FI" sz="1600" dirty="0">
                <a:solidFill>
                  <a:srgbClr val="F6F5BD"/>
                </a:solidFill>
                <a:latin typeface="Courier New"/>
                <a:cs typeface="Courier New"/>
              </a:rPr>
              <a:t>, </a:t>
            </a:r>
            <a:r>
              <a:rPr lang="fi-FI" sz="1600" dirty="0" err="1">
                <a:solidFill>
                  <a:srgbClr val="F6F5BD"/>
                </a:solidFill>
                <a:latin typeface="Courier New"/>
                <a:cs typeface="Courier New"/>
              </a:rPr>
              <a:t>cmdline</a:t>
            </a:r>
            <a:r>
              <a:rPr lang="fi-FI" sz="1600" dirty="0">
                <a:solidFill>
                  <a:srgbClr val="F6F5BD"/>
                </a:solidFill>
                <a:latin typeface="Courier New"/>
                <a:cs typeface="Courier New"/>
              </a:rPr>
              <a:t>);</a:t>
            </a:r>
          </a:p>
          <a:p>
            <a:r>
              <a:rPr lang="fi-FI" sz="1600" dirty="0">
                <a:solidFill>
                  <a:srgbClr val="F6F5BD"/>
                </a:solidFill>
                <a:latin typeface="Courier New"/>
                <a:cs typeface="Courier New"/>
              </a:rPr>
              <a:t>    }</a:t>
            </a:r>
          </a:p>
          <a:p>
            <a:r>
              <a:rPr lang="is-IS" sz="1600" dirty="0">
                <a:solidFill>
                  <a:srgbClr val="F6F5BD"/>
                </a:solidFill>
                <a:latin typeface="Courier New"/>
                <a:cs typeface="Courier New"/>
              </a:rPr>
              <a:t>    return;</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2598645"/>
            <a:ext cx="8340725" cy="4183155"/>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2392013" y="2810493"/>
            <a:ext cx="4800600" cy="1200329"/>
          </a:xfrm>
          <a:prstGeom prst="rect">
            <a:avLst/>
          </a:prstGeom>
          <a:solidFill>
            <a:srgbClr val="DEDFF5"/>
          </a:solidFill>
        </p:spPr>
        <p:txBody>
          <a:bodyPr wrap="square" rtlCol="0">
            <a:spAutoFit/>
          </a:bodyPr>
          <a:lstStyle/>
          <a:p>
            <a:r>
              <a:rPr lang="en-US" dirty="0" err="1" smtClean="0">
                <a:latin typeface="Courier New" panose="02070309020205020404" pitchFamily="49" charset="0"/>
                <a:cs typeface="Courier New" panose="02070309020205020404" pitchFamily="49" charset="0"/>
              </a:rPr>
              <a:t>parseline</a:t>
            </a:r>
            <a:r>
              <a:rPr lang="en-US" dirty="0" smtClean="0">
                <a:latin typeface="Calibri" pitchFamily="34" charset="0"/>
              </a:rPr>
              <a:t> </a:t>
            </a:r>
            <a:r>
              <a:rPr lang="en-US" b="0" dirty="0" smtClean="0">
                <a:latin typeface="Calibri" pitchFamily="34" charset="0"/>
              </a:rPr>
              <a:t>will parse ‘</a:t>
            </a:r>
            <a:r>
              <a:rPr lang="en-US" b="0" dirty="0" err="1" smtClean="0">
                <a:latin typeface="Calibri" pitchFamily="34" charset="0"/>
              </a:rPr>
              <a:t>buf</a:t>
            </a:r>
            <a:r>
              <a:rPr lang="en-US" b="0" dirty="0" smtClean="0">
                <a:latin typeface="Calibri" pitchFamily="34" charset="0"/>
              </a:rPr>
              <a:t>’ into ‘</a:t>
            </a:r>
            <a:r>
              <a:rPr lang="en-US" b="0" dirty="0" err="1" smtClean="0">
                <a:latin typeface="Calibri" pitchFamily="34" charset="0"/>
              </a:rPr>
              <a:t>argv</a:t>
            </a:r>
            <a:r>
              <a:rPr lang="en-US" b="0" dirty="0" smtClean="0">
                <a:latin typeface="Calibri" pitchFamily="34" charset="0"/>
              </a:rPr>
              <a:t>’ and return whether or not input line ended in ‘&amp;’</a:t>
            </a:r>
          </a:p>
        </p:txBody>
      </p:sp>
    </p:spTree>
    <p:extLst>
      <p:ext uri="{BB962C8B-B14F-4D97-AF65-F5344CB8AC3E}">
        <p14:creationId xmlns:p14="http://schemas.microsoft.com/office/powerpoint/2010/main" val="231186708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048000"/>
            <a:ext cx="8340725" cy="3733800"/>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5365791" y="2586335"/>
            <a:ext cx="2736309" cy="461665"/>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Ignore empty lines.</a:t>
            </a:r>
            <a:endParaRPr lang="en-US" b="0" dirty="0" smtClean="0">
              <a:latin typeface="+mn-lt"/>
            </a:endParaRPr>
          </a:p>
        </p:txBody>
      </p:sp>
    </p:spTree>
    <p:extLst>
      <p:ext uri="{BB962C8B-B14F-4D97-AF65-F5344CB8AC3E}">
        <p14:creationId xmlns:p14="http://schemas.microsoft.com/office/powerpoint/2010/main" val="51693234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345180"/>
            <a:ext cx="8340725" cy="3436619"/>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581400" y="4086135"/>
            <a:ext cx="4800600" cy="1569660"/>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If it is a ‘built in’ command, then handle it here in this program.  Otherwise fork/exec the program specified in </a:t>
            </a:r>
            <a:r>
              <a:rPr lang="en-US" b="0" dirty="0" err="1" smtClean="0">
                <a:latin typeface="+mn-lt"/>
                <a:cs typeface="Courier New" panose="02070309020205020404" pitchFamily="49" charset="0"/>
              </a:rPr>
              <a:t>argv</a:t>
            </a:r>
            <a:r>
              <a:rPr lang="en-US" b="0" dirty="0" smtClean="0">
                <a:latin typeface="+mn-lt"/>
                <a:cs typeface="Courier New" panose="02070309020205020404" pitchFamily="49" charset="0"/>
              </a:rPr>
              <a:t>[0]</a:t>
            </a:r>
            <a:endParaRPr lang="en-US" b="0" dirty="0" smtClean="0">
              <a:latin typeface="+mn-lt"/>
            </a:endParaRPr>
          </a:p>
        </p:txBody>
      </p:sp>
    </p:spTree>
    <p:extLst>
      <p:ext uri="{BB962C8B-B14F-4D97-AF65-F5344CB8AC3E}">
        <p14:creationId xmlns:p14="http://schemas.microsoft.com/office/powerpoint/2010/main" val="18813484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505200"/>
            <a:ext cx="8340725" cy="3276599"/>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581400" y="4086135"/>
            <a:ext cx="4800600" cy="461665"/>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Create child</a:t>
            </a:r>
            <a:endParaRPr lang="en-US" b="0" dirty="0" smtClean="0">
              <a:latin typeface="+mn-lt"/>
            </a:endParaRPr>
          </a:p>
        </p:txBody>
      </p:sp>
    </p:spTree>
    <p:extLst>
      <p:ext uri="{BB962C8B-B14F-4D97-AF65-F5344CB8AC3E}">
        <p14:creationId xmlns:p14="http://schemas.microsoft.com/office/powerpoint/2010/main" val="429226601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4547801"/>
            <a:ext cx="8340725" cy="2233998"/>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316287" y="5203134"/>
            <a:ext cx="4800600" cy="1200329"/>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Start </a:t>
            </a:r>
            <a:r>
              <a:rPr lang="en-US" dirty="0" err="1" smtClean="0">
                <a:latin typeface="Courier New" panose="02070309020205020404" pitchFamily="49" charset="0"/>
                <a:cs typeface="Courier New" panose="02070309020205020404" pitchFamily="49" charset="0"/>
              </a:rPr>
              <a:t>argv</a:t>
            </a:r>
            <a:r>
              <a:rPr lang="en-US" dirty="0" smtClean="0">
                <a:latin typeface="Courier New" panose="02070309020205020404" pitchFamily="49" charset="0"/>
                <a:cs typeface="Courier New" panose="02070309020205020404" pitchFamily="49" charset="0"/>
              </a:rPr>
              <a:t>[0]</a:t>
            </a:r>
            <a:r>
              <a:rPr lang="en-US" b="0" dirty="0" smtClean="0">
                <a:latin typeface="+mn-lt"/>
                <a:cs typeface="Courier New" panose="02070309020205020404" pitchFamily="49" charset="0"/>
              </a:rPr>
              <a:t>.</a:t>
            </a:r>
          </a:p>
          <a:p>
            <a:r>
              <a:rPr lang="en-US" b="0" dirty="0" smtClean="0">
                <a:latin typeface="+mn-lt"/>
                <a:cs typeface="Courier New" panose="02070309020205020404" pitchFamily="49" charset="0"/>
              </a:rPr>
              <a:t>Remember </a:t>
            </a:r>
            <a:r>
              <a:rPr lang="en-US" dirty="0" err="1" smtClean="0">
                <a:latin typeface="Courier New" panose="02070309020205020404" pitchFamily="49" charset="0"/>
                <a:cs typeface="Courier New" panose="02070309020205020404" pitchFamily="49" charset="0"/>
              </a:rPr>
              <a:t>execve</a:t>
            </a:r>
            <a:r>
              <a:rPr lang="en-US" b="0" dirty="0" smtClean="0">
                <a:latin typeface="+mn-lt"/>
                <a:cs typeface="Courier New" panose="02070309020205020404" pitchFamily="49" charset="0"/>
              </a:rPr>
              <a:t> only returns on error.</a:t>
            </a:r>
            <a:endParaRPr lang="en-US" b="0" dirty="0" smtClean="0">
              <a:latin typeface="+mn-lt"/>
            </a:endParaRPr>
          </a:p>
        </p:txBody>
      </p:sp>
    </p:spTree>
    <p:extLst>
      <p:ext uri="{BB962C8B-B14F-4D97-AF65-F5344CB8AC3E}">
        <p14:creationId xmlns:p14="http://schemas.microsoft.com/office/powerpoint/2010/main" val="384948828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smtClean="0">
                <a:solidFill>
                  <a:srgbClr val="000000"/>
                </a:solidFill>
                <a:latin typeface="Courier New"/>
                <a:cs typeface="Courier New"/>
              </a:rPr>
              <a:t>      </a:t>
            </a:r>
            <a:r>
              <a:rPr lang="de-DE" sz="1600" dirty="0" smtClean="0">
                <a:solidFill>
                  <a:srgbClr val="C200FF"/>
                </a:solidFill>
                <a:latin typeface="Courier New"/>
                <a:cs typeface="Courier New"/>
              </a:rPr>
              <a:t>if</a:t>
            </a:r>
            <a:r>
              <a:rPr lang="de-DE" sz="1600" dirty="0" smtClean="0">
                <a:solidFill>
                  <a:srgbClr val="000000"/>
                </a:solidFill>
                <a:latin typeface="Courier New"/>
                <a:cs typeface="Courier New"/>
              </a:rPr>
              <a:t> </a:t>
            </a:r>
            <a:r>
              <a:rPr lang="de-DE" sz="1600" dirty="0">
                <a:solidFill>
                  <a:srgbClr val="000000"/>
                </a:solidFill>
                <a:latin typeface="Courier New"/>
                <a:cs typeface="Courier New"/>
              </a:rPr>
              <a:t>(!bg)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5734050"/>
            <a:ext cx="8340725" cy="1047748"/>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622584" y="5581471"/>
            <a:ext cx="2979391" cy="1200329"/>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If running child in foreground, wait until it is done.</a:t>
            </a:r>
            <a:endParaRPr lang="en-US" b="0" dirty="0" smtClean="0">
              <a:latin typeface="+mn-lt"/>
            </a:endParaRPr>
          </a:p>
        </p:txBody>
      </p:sp>
    </p:spTree>
    <p:extLst>
      <p:ext uri="{BB962C8B-B14F-4D97-AF65-F5344CB8AC3E}">
        <p14:creationId xmlns:p14="http://schemas.microsoft.com/office/powerpoint/2010/main" val="191372255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smtClean="0">
                <a:solidFill>
                  <a:srgbClr val="000000"/>
                </a:solidFill>
                <a:latin typeface="Courier New"/>
                <a:cs typeface="Courier New"/>
              </a:rPr>
              <a:t>      </a:t>
            </a:r>
            <a:r>
              <a:rPr lang="de-DE" sz="1600" dirty="0" smtClean="0">
                <a:solidFill>
                  <a:srgbClr val="C200FF"/>
                </a:solidFill>
                <a:latin typeface="Courier New"/>
                <a:cs typeface="Courier New"/>
              </a:rPr>
              <a:t>if</a:t>
            </a:r>
            <a:r>
              <a:rPr lang="de-DE" sz="1600" dirty="0" smtClean="0">
                <a:solidFill>
                  <a:srgbClr val="000000"/>
                </a:solidFill>
                <a:latin typeface="Courier New"/>
                <a:cs typeface="Courier New"/>
              </a:rPr>
              <a:t> </a:t>
            </a:r>
            <a:r>
              <a:rPr lang="de-DE" sz="1600" dirty="0">
                <a:solidFill>
                  <a:srgbClr val="000000"/>
                </a:solidFill>
                <a:latin typeface="Courier New"/>
                <a:cs typeface="Courier New"/>
              </a:rPr>
              <a:t>(!bg)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6164609" y="4925815"/>
            <a:ext cx="2979391" cy="1569660"/>
          </a:xfrm>
          <a:prstGeom prst="rect">
            <a:avLst/>
          </a:prstGeom>
          <a:solidFill>
            <a:srgbClr val="DEDFF5"/>
          </a:solidFill>
        </p:spPr>
        <p:txBody>
          <a:bodyPr wrap="square" rtlCol="0">
            <a:spAutoFit/>
          </a:bodyPr>
          <a:lstStyle/>
          <a:p>
            <a:r>
              <a:rPr lang="en-US" b="0" dirty="0" smtClean="0">
                <a:latin typeface="+mn-lt"/>
                <a:cs typeface="Courier New" panose="02070309020205020404" pitchFamily="49" charset="0"/>
              </a:rPr>
              <a:t>If running child in background, print </a:t>
            </a:r>
            <a:r>
              <a:rPr lang="en-US" b="0" dirty="0" err="1" smtClean="0">
                <a:latin typeface="+mn-lt"/>
                <a:cs typeface="Courier New" panose="02070309020205020404" pitchFamily="49" charset="0"/>
              </a:rPr>
              <a:t>pid</a:t>
            </a:r>
            <a:r>
              <a:rPr lang="en-US" b="0" dirty="0" smtClean="0">
                <a:latin typeface="+mn-lt"/>
                <a:cs typeface="Courier New" panose="02070309020205020404" pitchFamily="49" charset="0"/>
              </a:rPr>
              <a:t> and continue doing other stuff.</a:t>
            </a:r>
            <a:endParaRPr lang="en-US" b="0" dirty="0" smtClean="0">
              <a:latin typeface="+mn-lt"/>
            </a:endParaRPr>
          </a:p>
        </p:txBody>
      </p:sp>
    </p:spTree>
    <p:extLst>
      <p:ext uri="{BB962C8B-B14F-4D97-AF65-F5344CB8AC3E}">
        <p14:creationId xmlns:p14="http://schemas.microsoft.com/office/powerpoint/2010/main" val="67773524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smtClean="0">
                <a:solidFill>
                  <a:srgbClr val="000000"/>
                </a:solidFill>
                <a:latin typeface="Courier New"/>
                <a:cs typeface="Courier New"/>
              </a:rPr>
              <a:t>      </a:t>
            </a:r>
            <a:r>
              <a:rPr lang="de-DE" sz="1600" dirty="0" smtClean="0">
                <a:solidFill>
                  <a:srgbClr val="C200FF"/>
                </a:solidFill>
                <a:latin typeface="Courier New"/>
                <a:cs typeface="Courier New"/>
              </a:rPr>
              <a:t>if</a:t>
            </a:r>
            <a:r>
              <a:rPr lang="de-DE" sz="1600" dirty="0" smtClean="0">
                <a:solidFill>
                  <a:srgbClr val="000000"/>
                </a:solidFill>
                <a:latin typeface="Courier New"/>
                <a:cs typeface="Courier New"/>
              </a:rPr>
              <a:t> </a:t>
            </a:r>
            <a:r>
              <a:rPr lang="de-DE" sz="1600" dirty="0">
                <a:solidFill>
                  <a:srgbClr val="000000"/>
                </a:solidFill>
                <a:latin typeface="Courier New"/>
                <a:cs typeface="Courier New"/>
              </a:rPr>
              <a:t>(!bg)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3" name="TextBox 2"/>
          <p:cNvSpPr txBox="1"/>
          <p:nvPr/>
        </p:nvSpPr>
        <p:spPr>
          <a:xfrm>
            <a:off x="6337099" y="5088078"/>
            <a:ext cx="2615951" cy="1384995"/>
          </a:xfrm>
          <a:prstGeom prst="rect">
            <a:avLst/>
          </a:prstGeom>
          <a:solidFill>
            <a:srgbClr val="DEDFF5"/>
          </a:solidFill>
        </p:spPr>
        <p:txBody>
          <a:bodyPr wrap="square" rtlCol="0">
            <a:spAutoFit/>
          </a:bodyPr>
          <a:lstStyle/>
          <a:p>
            <a:r>
              <a:rPr lang="en-US" sz="2800" b="0" dirty="0" smtClean="0">
                <a:latin typeface="Calibri" pitchFamily="34" charset="0"/>
              </a:rPr>
              <a:t>Oops.  </a:t>
            </a:r>
            <a:r>
              <a:rPr lang="en-US" sz="2800" b="0" i="1" dirty="0" smtClean="0">
                <a:latin typeface="Calibri" pitchFamily="34" charset="0"/>
              </a:rPr>
              <a:t>There is a problem with this code.</a:t>
            </a:r>
          </a:p>
        </p:txBody>
      </p:sp>
    </p:spTree>
    <p:extLst>
      <p:ext uri="{BB962C8B-B14F-4D97-AF65-F5344CB8AC3E}">
        <p14:creationId xmlns:p14="http://schemas.microsoft.com/office/powerpoint/2010/main" val="238668082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425450" y="360362"/>
            <a:ext cx="8718550"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Problem with Simple Shell Example</a:t>
            </a:r>
          </a:p>
        </p:txBody>
      </p:sp>
      <p:sp>
        <p:nvSpPr>
          <p:cNvPr id="685059" name="Rectangle 3"/>
          <p:cNvSpPr>
            <a:spLocks noGrp="1" noChangeArrowheads="1"/>
          </p:cNvSpPr>
          <p:nvPr>
            <p:ph type="body" idx="1"/>
          </p:nvPr>
        </p:nvSpPr>
        <p:spPr>
          <a:xfrm>
            <a:off x="425216" y="1220788"/>
            <a:ext cx="8548687" cy="3503612"/>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Our example shell correctly waits for and reaps foreground jobs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dirty="0" smtClean="0"/>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But what about background jobs?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become zombies when they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never be reaped because shell (typically) will not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create a memory leak that could</a:t>
            </a:r>
            <a:r>
              <a:rPr lang="en-GB" dirty="0" smtClean="0"/>
              <a:t> run </a:t>
            </a:r>
            <a:r>
              <a:rPr lang="en-GB" dirty="0"/>
              <a:t>the kernel out of </a:t>
            </a:r>
            <a:r>
              <a:rPr lang="en-GB" dirty="0" smtClean="0"/>
              <a:t>memory</a:t>
            </a:r>
            <a:endParaRPr lang="en-GB" dirty="0"/>
          </a:p>
        </p:txBody>
      </p:sp>
    </p:spTree>
    <p:extLst>
      <p:ext uri="{BB962C8B-B14F-4D97-AF65-F5344CB8AC3E}">
        <p14:creationId xmlns:p14="http://schemas.microsoft.com/office/powerpoint/2010/main" val="3747018276"/>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350838" y="334295"/>
            <a:ext cx="8716962"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ECF to the Rescue!</a:t>
            </a:r>
          </a:p>
        </p:txBody>
      </p:sp>
      <p:sp>
        <p:nvSpPr>
          <p:cNvPr id="687107" name="Rectangle 3"/>
          <p:cNvSpPr>
            <a:spLocks noGrp="1" noChangeArrowheads="1"/>
          </p:cNvSpPr>
          <p:nvPr>
            <p:ph type="body" idx="1"/>
          </p:nvPr>
        </p:nvSpPr>
        <p:spPr>
          <a:xfrm>
            <a:off x="368300" y="1225550"/>
            <a:ext cx="8470900" cy="5224463"/>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Solution: Exceptional control flow</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The kernel will interrupt regular processing to alert us when a background process completes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In Unix, the alert mechanism is called a </a:t>
            </a:r>
            <a:r>
              <a:rPr lang="en-GB" b="1" i="1" dirty="0">
                <a:solidFill>
                  <a:srgbClr val="C00000"/>
                </a:solidFill>
              </a:rPr>
              <a:t>signal</a:t>
            </a:r>
          </a:p>
        </p:txBody>
      </p:sp>
    </p:spTree>
    <p:extLst>
      <p:ext uri="{BB962C8B-B14F-4D97-AF65-F5344CB8AC3E}">
        <p14:creationId xmlns:p14="http://schemas.microsoft.com/office/powerpoint/2010/main" val="3596153846"/>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a:solidFill>
                  <a:schemeClr val="bg2">
                    <a:lumMod val="60000"/>
                    <a:lumOff val="40000"/>
                  </a:schemeClr>
                </a:solidFill>
              </a:rPr>
              <a:t>Cache </a:t>
            </a:r>
            <a:r>
              <a:rPr lang="en-US" sz="2800" dirty="0" smtClean="0">
                <a:solidFill>
                  <a:schemeClr val="bg2">
                    <a:lumMod val="60000"/>
                    <a:lumOff val="40000"/>
                  </a:schemeClr>
                </a:solidFill>
              </a:rPr>
              <a:t>Lab</a:t>
            </a:r>
          </a:p>
          <a:p>
            <a:r>
              <a:rPr lang="en-US" sz="2800" dirty="0" smtClean="0">
                <a:solidFill>
                  <a:srgbClr val="000000"/>
                </a:solidFill>
              </a:rPr>
              <a:t>Exceptional Control Flow</a:t>
            </a:r>
            <a:endParaRPr lang="en-US" dirty="0" smtClean="0">
              <a:solidFill>
                <a:srgbClr val="000000"/>
              </a:solidFill>
            </a:endParaRPr>
          </a:p>
          <a:p>
            <a:pPr lvl="1"/>
            <a:r>
              <a:rPr lang="en-US" dirty="0" err="1" smtClean="0">
                <a:solidFill>
                  <a:schemeClr val="bg2">
                    <a:lumMod val="60000"/>
                    <a:lumOff val="40000"/>
                  </a:schemeClr>
                </a:solidFill>
              </a:rPr>
              <a:t>execve</a:t>
            </a:r>
            <a:r>
              <a:rPr lang="en-US" dirty="0" smtClean="0">
                <a:solidFill>
                  <a:schemeClr val="bg2">
                    <a:lumMod val="60000"/>
                    <a:lumOff val="40000"/>
                  </a:schemeClr>
                </a:solidFill>
              </a:rPr>
              <a:t> (from Lecture 3)</a:t>
            </a:r>
          </a:p>
          <a:p>
            <a:pPr lvl="1"/>
            <a:r>
              <a:rPr lang="en-US" dirty="0" smtClean="0">
                <a:solidFill>
                  <a:schemeClr val="bg2">
                    <a:lumMod val="60000"/>
                    <a:lumOff val="40000"/>
                  </a:schemeClr>
                </a:solidFill>
              </a:rPr>
              <a:t>Shells</a:t>
            </a:r>
          </a:p>
          <a:p>
            <a:pPr lvl="1"/>
            <a:r>
              <a:rPr lang="en-US" dirty="0" smtClean="0">
                <a:solidFill>
                  <a:srgbClr val="000000"/>
                </a:solidFill>
              </a:rPr>
              <a:t>Signals</a:t>
            </a:r>
          </a:p>
          <a:p>
            <a:pPr lvl="1"/>
            <a:r>
              <a:rPr lang="en-US" dirty="0" smtClean="0">
                <a:solidFill>
                  <a:schemeClr val="bg2">
                    <a:lumMod val="60000"/>
                    <a:lumOff val="40000"/>
                  </a:schemeClr>
                </a:solidFill>
              </a:rPr>
              <a:t>Non-local </a:t>
            </a:r>
            <a:r>
              <a:rPr lang="en-US" dirty="0" smtClean="0">
                <a:solidFill>
                  <a:schemeClr val="bg2">
                    <a:lumMod val="60000"/>
                    <a:lumOff val="40000"/>
                  </a:schemeClr>
                </a:solidFill>
              </a:rPr>
              <a:t>Jumps</a:t>
            </a:r>
          </a:p>
          <a:p>
            <a:pPr lvl="1"/>
            <a:endParaRPr lang="en-US" dirty="0" smtClean="0">
              <a:solidFill>
                <a:schemeClr val="bg2">
                  <a:lumMod val="60000"/>
                  <a:lumOff val="40000"/>
                </a:schemeClr>
              </a:solidFill>
            </a:endParaRP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4615866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58" name="Rectangle 42"/>
          <p:cNvSpPr>
            <a:spLocks noGrp="1" noChangeArrowheads="1"/>
          </p:cNvSpPr>
          <p:nvPr>
            <p:ph type="title"/>
          </p:nvPr>
        </p:nvSpPr>
        <p:spPr/>
        <p:txBody>
          <a:bodyPr/>
          <a:lstStyle/>
          <a:p>
            <a:r>
              <a:rPr lang="en-US" dirty="0"/>
              <a:t>Signals</a:t>
            </a:r>
          </a:p>
        </p:txBody>
      </p:sp>
      <p:sp>
        <p:nvSpPr>
          <p:cNvPr id="521259" name="Rectangle 43"/>
          <p:cNvSpPr>
            <a:spLocks noGrp="1" noChangeArrowheads="1"/>
          </p:cNvSpPr>
          <p:nvPr>
            <p:ph type="body" idx="1"/>
          </p:nvPr>
        </p:nvSpPr>
        <p:spPr>
          <a:xfrm>
            <a:off x="366713" y="1220788"/>
            <a:ext cx="8396287" cy="2741612"/>
          </a:xfrm>
        </p:spPr>
        <p:txBody>
          <a:bodyPr/>
          <a:lstStyle/>
          <a:p>
            <a:r>
              <a:rPr lang="en-US" dirty="0"/>
              <a:t>A </a:t>
            </a:r>
            <a:r>
              <a:rPr lang="en-US" i="1" dirty="0">
                <a:solidFill>
                  <a:srgbClr val="C00000"/>
                </a:solidFill>
              </a:rPr>
              <a:t>signal</a:t>
            </a:r>
            <a:r>
              <a:rPr lang="en-US" dirty="0"/>
              <a:t> is a small message that notifies a process that an event of some type has occurred in the system</a:t>
            </a:r>
          </a:p>
          <a:p>
            <a:pPr lvl="1"/>
            <a:r>
              <a:rPr lang="en-US" dirty="0"/>
              <a:t>A</a:t>
            </a:r>
            <a:r>
              <a:rPr lang="en-US" dirty="0" smtClean="0"/>
              <a:t>kin </a:t>
            </a:r>
            <a:r>
              <a:rPr lang="en-US" dirty="0"/>
              <a:t>to exceptions and interrupts</a:t>
            </a:r>
          </a:p>
          <a:p>
            <a:pPr lvl="1"/>
            <a:r>
              <a:rPr lang="en-US" dirty="0"/>
              <a:t>S</a:t>
            </a:r>
            <a:r>
              <a:rPr lang="en-US" dirty="0" smtClean="0"/>
              <a:t>ent </a:t>
            </a:r>
            <a:r>
              <a:rPr lang="en-US" dirty="0"/>
              <a:t>from the kernel (sometimes at the request of another process) to a process</a:t>
            </a:r>
          </a:p>
          <a:p>
            <a:pPr lvl="1"/>
            <a:r>
              <a:rPr lang="en-US" dirty="0"/>
              <a:t>S</a:t>
            </a:r>
            <a:r>
              <a:rPr lang="en-US" dirty="0" smtClean="0"/>
              <a:t>ignal </a:t>
            </a:r>
            <a:r>
              <a:rPr lang="en-US" dirty="0"/>
              <a:t>type is identified by small integer ID’s (1-30)</a:t>
            </a:r>
          </a:p>
          <a:p>
            <a:pPr lvl="1"/>
            <a:r>
              <a:rPr lang="en-US" dirty="0"/>
              <a:t>O</a:t>
            </a:r>
            <a:r>
              <a:rPr lang="en-US" dirty="0" smtClean="0"/>
              <a:t>nly </a:t>
            </a:r>
            <a:r>
              <a:rPr lang="en-US" dirty="0"/>
              <a:t>information in a signal is its ID and the fact that it arrived</a:t>
            </a:r>
          </a:p>
        </p:txBody>
      </p:sp>
      <p:graphicFrame>
        <p:nvGraphicFramePr>
          <p:cNvPr id="521257" name="Group 41"/>
          <p:cNvGraphicFramePr>
            <a:graphicFrameLocks noGrp="1"/>
          </p:cNvGraphicFramePr>
          <p:nvPr>
            <p:extLst>
              <p:ext uri="{D42A27DB-BD31-4B8C-83A1-F6EECF244321}">
                <p14:modId xmlns:p14="http://schemas.microsoft.com/office/powerpoint/2010/main" val="1510077583"/>
              </p:ext>
            </p:extLst>
          </p:nvPr>
        </p:nvGraphicFramePr>
        <p:xfrm>
          <a:off x="609601" y="4038600"/>
          <a:ext cx="8001000" cy="2112264"/>
        </p:xfrm>
        <a:graphic>
          <a:graphicData uri="http://schemas.openxmlformats.org/drawingml/2006/table">
            <a:tbl>
              <a:tblPr bandRow="1">
                <a:tableStyleId>{6E25E649-3F16-4E02-A733-19D2CDBF48F0}</a:tableStyleId>
              </a:tblPr>
              <a:tblGrid>
                <a:gridCol w="679331">
                  <a:extLst>
                    <a:ext uri="{9D8B030D-6E8A-4147-A177-3AD203B41FA5}">
                      <a16:colId xmlns="" xmlns:a16="http://schemas.microsoft.com/office/drawing/2014/main" val="20000"/>
                    </a:ext>
                  </a:extLst>
                </a:gridCol>
                <a:gridCol w="1149468">
                  <a:extLst>
                    <a:ext uri="{9D8B030D-6E8A-4147-A177-3AD203B41FA5}">
                      <a16:colId xmlns="" xmlns:a16="http://schemas.microsoft.com/office/drawing/2014/main" val="20001"/>
                    </a:ext>
                  </a:extLst>
                </a:gridCol>
                <a:gridCol w="2052167">
                  <a:extLst>
                    <a:ext uri="{9D8B030D-6E8A-4147-A177-3AD203B41FA5}">
                      <a16:colId xmlns="" xmlns:a16="http://schemas.microsoft.com/office/drawing/2014/main" val="20002"/>
                    </a:ext>
                  </a:extLst>
                </a:gridCol>
                <a:gridCol w="4120034">
                  <a:extLst>
                    <a:ext uri="{9D8B030D-6E8A-4147-A177-3AD203B41FA5}">
                      <a16:colId xmlns="" xmlns:a16="http://schemas.microsoft.com/office/drawing/2014/main" val="20003"/>
                    </a:ext>
                  </a:extLst>
                </a:gridCol>
              </a:tblGrid>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smtClean="0">
                          <a:ln>
                            <a:noFill/>
                          </a:ln>
                          <a:solidFill>
                            <a:srgbClr val="990000"/>
                          </a:solidFill>
                          <a:effectLst/>
                        </a:rPr>
                        <a:t>ID</a:t>
                      </a:r>
                      <a:endParaRPr kumimoji="0" lang="en-US" sz="1800" b="1" i="1" u="none" strike="noStrike" cap="none" normalizeH="0" baseline="0" dirty="0" smtClean="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smtClean="0">
                          <a:ln>
                            <a:noFill/>
                          </a:ln>
                          <a:solidFill>
                            <a:srgbClr val="990000"/>
                          </a:solidFill>
                          <a:effectLst/>
                        </a:rPr>
                        <a:t>Name</a:t>
                      </a:r>
                      <a:endParaRPr kumimoji="0" lang="en-US" sz="1800" b="1" i="1" u="none" strike="noStrike" cap="none" normalizeH="0" baseline="0" dirty="0" smtClean="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smtClean="0">
                          <a:ln>
                            <a:noFill/>
                          </a:ln>
                          <a:solidFill>
                            <a:srgbClr val="990000"/>
                          </a:solidFill>
                          <a:effectLst/>
                        </a:rPr>
                        <a:t>Default Action</a:t>
                      </a:r>
                      <a:endParaRPr kumimoji="0" lang="en-US" sz="1800" b="1" i="1" u="none" strike="noStrike" cap="none" normalizeH="0" baseline="0" dirty="0" smtClean="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smtClean="0">
                          <a:ln>
                            <a:noFill/>
                          </a:ln>
                          <a:solidFill>
                            <a:srgbClr val="990000"/>
                          </a:solidFill>
                          <a:effectLst/>
                        </a:rPr>
                        <a:t>Corresponding Event</a:t>
                      </a:r>
                      <a:endParaRPr kumimoji="0" lang="en-US" sz="1800" b="1" i="1" u="none" strike="noStrike" cap="none" normalizeH="0" baseline="0" dirty="0" smtClean="0">
                        <a:ln>
                          <a:noFill/>
                        </a:ln>
                        <a:solidFill>
                          <a:srgbClr val="990000"/>
                        </a:solidFill>
                        <a:effectLst/>
                        <a:latin typeface="Calibri" pitchFamily="34" charset="0"/>
                      </a:endParaRPr>
                    </a:p>
                  </a:txBody>
                  <a:tcPr horzOverflow="overflow"/>
                </a:tc>
                <a:extLst>
                  <a:ext uri="{0D108BD9-81ED-4DB2-BD59-A6C34878D82A}">
                    <a16:rowId xmlns="" xmlns:a16="http://schemas.microsoft.com/office/drawing/2014/main" val="10000"/>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2</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SIGINT</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Terminate</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User typed ctrl-c </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extLst>
                  <a:ext uri="{0D108BD9-81ED-4DB2-BD59-A6C34878D82A}">
                    <a16:rowId xmlns="" xmlns:a16="http://schemas.microsoft.com/office/drawing/2014/main" val="10001"/>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9</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SIGKILL</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Terminate</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Kill program (cannot override or ignore)</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extLst>
                  <a:ext uri="{0D108BD9-81ED-4DB2-BD59-A6C34878D82A}">
                    <a16:rowId xmlns="" xmlns:a16="http://schemas.microsoft.com/office/drawing/2014/main" val="10002"/>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11</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SIGSEGV</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Terminate </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Segmentation violation</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extLst>
                  <a:ext uri="{0D108BD9-81ED-4DB2-BD59-A6C34878D82A}">
                    <a16:rowId xmlns="" xmlns:a16="http://schemas.microsoft.com/office/drawing/2014/main" val="10003"/>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14</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SIGALRM</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Terminate</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Timer signal</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extLst>
                  <a:ext uri="{0D108BD9-81ED-4DB2-BD59-A6C34878D82A}">
                    <a16:rowId xmlns="" xmlns:a16="http://schemas.microsoft.com/office/drawing/2014/main" val="10004"/>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17</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SIGCHLD</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smtClean="0">
                          <a:ln>
                            <a:noFill/>
                          </a:ln>
                          <a:effectLst/>
                        </a:rPr>
                        <a:t>Ignore</a:t>
                      </a:r>
                      <a:endParaRPr kumimoji="0" lang="en-US" sz="1800" b="1" i="0" u="none" strike="noStrike" cap="none" normalizeH="0" baseline="0" smtClean="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smtClean="0">
                          <a:ln>
                            <a:noFill/>
                          </a:ln>
                          <a:effectLst/>
                        </a:rPr>
                        <a:t>Child stopped or terminated</a:t>
                      </a:r>
                      <a:endParaRPr kumimoji="0" lang="en-US" sz="1800" b="1" i="0" u="none" strike="noStrike" cap="none" normalizeH="0" baseline="0" dirty="0" smtClean="0">
                        <a:ln>
                          <a:noFill/>
                        </a:ln>
                        <a:solidFill>
                          <a:schemeClr val="tx2"/>
                        </a:solidFill>
                        <a:effectLst/>
                        <a:latin typeface="Calibri" pitchFamily="34" charset="0"/>
                      </a:endParaRPr>
                    </a:p>
                  </a:txBody>
                  <a:tcPr horzOverflow="overflow"/>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3864201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547843" name="Rectangle 3"/>
          <p:cNvSpPr>
            <a:spLocks noGrp="1" noChangeArrowheads="1"/>
          </p:cNvSpPr>
          <p:nvPr>
            <p:ph type="body" idx="1"/>
          </p:nvPr>
        </p:nvSpPr>
        <p:spPr>
          <a:xfrm>
            <a:off x="366713" y="1328738"/>
            <a:ext cx="8548687" cy="4691062"/>
          </a:xfrm>
        </p:spPr>
        <p:txBody>
          <a:bodyPr/>
          <a:lstStyle/>
          <a:p>
            <a:r>
              <a:rPr lang="en-US" dirty="0" smtClean="0"/>
              <a:t>Kernel </a:t>
            </a:r>
            <a:r>
              <a:rPr lang="en-US" i="1" dirty="0" smtClean="0">
                <a:solidFill>
                  <a:srgbClr val="C00000"/>
                </a:solidFill>
              </a:rPr>
              <a:t>sends</a:t>
            </a:r>
            <a:r>
              <a:rPr lang="en-US" dirty="0" smtClean="0"/>
              <a:t> (delivers) a signal to a </a:t>
            </a:r>
            <a:r>
              <a:rPr lang="en-US" i="1" dirty="0" smtClean="0">
                <a:solidFill>
                  <a:srgbClr val="C00000"/>
                </a:solidFill>
              </a:rPr>
              <a:t>destination process</a:t>
            </a:r>
            <a:r>
              <a:rPr lang="en-US" dirty="0" smtClean="0">
                <a:solidFill>
                  <a:srgbClr val="C00000"/>
                </a:solidFill>
              </a:rPr>
              <a:t> </a:t>
            </a:r>
            <a:r>
              <a:rPr lang="en-US" dirty="0" smtClean="0"/>
              <a:t>by updating some state in the context of the destination process</a:t>
            </a:r>
          </a:p>
          <a:p>
            <a:endParaRPr lang="en-US" dirty="0" smtClean="0"/>
          </a:p>
          <a:p>
            <a:r>
              <a:rPr lang="en-US" dirty="0" smtClean="0"/>
              <a:t>Kernel sends a signal for one of the following reasons:</a:t>
            </a:r>
          </a:p>
          <a:p>
            <a:pPr lvl="1"/>
            <a:r>
              <a:rPr lang="en-US" dirty="0" smtClean="0"/>
              <a:t>Kernel has detected a system event such as divide-by-zero (SIGFPE) or the termination of a child process (SIGCHLD)</a:t>
            </a:r>
          </a:p>
          <a:p>
            <a:pPr lvl="1"/>
            <a:r>
              <a:rPr lang="en-US" dirty="0" smtClean="0"/>
              <a:t>Another process has invoked the </a:t>
            </a:r>
            <a:r>
              <a:rPr lang="en-US" b="1" dirty="0" smtClean="0">
                <a:latin typeface="Courier New" pitchFamily="49" charset="0"/>
              </a:rPr>
              <a:t>kill</a:t>
            </a:r>
            <a:r>
              <a:rPr lang="en-US" dirty="0" smtClean="0"/>
              <a:t> system call to explicitly request the kernel to send a signal to the destination process</a:t>
            </a:r>
          </a:p>
          <a:p>
            <a:pPr lvl="3"/>
            <a:endParaRPr lang="en-US" dirty="0"/>
          </a:p>
        </p:txBody>
      </p:sp>
    </p:spTree>
    <p:extLst>
      <p:ext uri="{BB962C8B-B14F-4D97-AF65-F5344CB8AC3E}">
        <p14:creationId xmlns:p14="http://schemas.microsoft.com/office/powerpoint/2010/main" val="1650584892"/>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78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78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7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9" y="4817576"/>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8018436" y="1257300"/>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60516537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9" y="4856462"/>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8018436" y="1272590"/>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9" name="Right Arrow 8"/>
          <p:cNvSpPr/>
          <p:nvPr/>
        </p:nvSpPr>
        <p:spPr bwMode="auto">
          <a:xfrm rot="5233810">
            <a:off x="703166" y="4570333"/>
            <a:ext cx="2847712"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Sends to C</a:t>
            </a:r>
            <a:endParaRPr lang="en-US" dirty="0"/>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04749155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1197678"/>
            <a:ext cx="9144001"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53424" y="4821793"/>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8018436" y="1276350"/>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smtClean="0">
                <a:latin typeface="Calibri" pitchFamily="34" charset="0"/>
              </a:rPr>
              <a:t>1</a:t>
            </a:r>
          </a:p>
        </p:txBody>
      </p:sp>
    </p:spTree>
    <p:extLst>
      <p:ext uri="{BB962C8B-B14F-4D97-AF65-F5344CB8AC3E}">
        <p14:creationId xmlns:p14="http://schemas.microsoft.com/office/powerpoint/2010/main" val="425296690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43571" y="4749284"/>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7999117" y="1290473"/>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smtClean="0">
                <a:latin typeface="Calibri" pitchFamily="34" charset="0"/>
              </a:rPr>
              <a:t>1</a:t>
            </a:r>
          </a:p>
        </p:txBody>
      </p:sp>
      <p:sp>
        <p:nvSpPr>
          <p:cNvPr id="28" name="Right Arrow 27"/>
          <p:cNvSpPr/>
          <p:nvPr/>
        </p:nvSpPr>
        <p:spPr bwMode="auto">
          <a:xfrm rot="20015907">
            <a:off x="1987298" y="4960167"/>
            <a:ext cx="4593911"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Received by C</a:t>
            </a:r>
            <a:endParaRPr lang="en-US" dirty="0"/>
          </a:p>
        </p:txBody>
      </p:sp>
    </p:spTree>
    <p:extLst>
      <p:ext uri="{BB962C8B-B14F-4D97-AF65-F5344CB8AC3E}">
        <p14:creationId xmlns:p14="http://schemas.microsoft.com/office/powerpoint/2010/main" val="367789936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1197678"/>
            <a:ext cx="9144001"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53424" y="4860222"/>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8008970" y="1290473"/>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smtClean="0">
                <a:latin typeface="Calibri" pitchFamily="34" charset="0"/>
              </a:rPr>
              <a:t>0</a:t>
            </a:r>
          </a:p>
        </p:txBody>
      </p:sp>
    </p:spTree>
    <p:extLst>
      <p:ext uri="{BB962C8B-B14F-4D97-AF65-F5344CB8AC3E}">
        <p14:creationId xmlns:p14="http://schemas.microsoft.com/office/powerpoint/2010/main" val="403680395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r>
              <a:rPr lang="en-US" dirty="0" smtClean="0"/>
              <a:t>Signal Concepts: Receiving a Signal</a:t>
            </a:r>
            <a:endParaRPr lang="en-US" dirty="0"/>
          </a:p>
        </p:txBody>
      </p:sp>
      <p:sp>
        <p:nvSpPr>
          <p:cNvPr id="548867" name="Rectangle 3"/>
          <p:cNvSpPr>
            <a:spLocks noGrp="1" noChangeArrowheads="1"/>
          </p:cNvSpPr>
          <p:nvPr>
            <p:ph type="body" idx="1"/>
          </p:nvPr>
        </p:nvSpPr>
        <p:spPr>
          <a:xfrm>
            <a:off x="396875" y="1143000"/>
            <a:ext cx="8366125" cy="4972050"/>
          </a:xfrm>
        </p:spPr>
        <p:txBody>
          <a:bodyPr/>
          <a:lstStyle/>
          <a:p>
            <a:r>
              <a:rPr lang="en-US" dirty="0" smtClean="0"/>
              <a:t>A </a:t>
            </a:r>
            <a:r>
              <a:rPr lang="en-US" dirty="0"/>
              <a:t>destination process </a:t>
            </a:r>
            <a:r>
              <a:rPr lang="en-US" i="1" dirty="0">
                <a:solidFill>
                  <a:srgbClr val="C00000"/>
                </a:solidFill>
              </a:rPr>
              <a:t>receives</a:t>
            </a:r>
            <a:r>
              <a:rPr lang="en-US" dirty="0"/>
              <a:t> a signal when it is forced by the kernel to react in some way to the delivery of the signal</a:t>
            </a:r>
          </a:p>
          <a:p>
            <a:endParaRPr lang="en-US" dirty="0" smtClean="0"/>
          </a:p>
          <a:p>
            <a:r>
              <a:rPr lang="en-US" dirty="0" smtClean="0"/>
              <a:t>Some possible </a:t>
            </a:r>
            <a:r>
              <a:rPr lang="en-US" dirty="0"/>
              <a:t>ways to react:</a:t>
            </a:r>
          </a:p>
          <a:p>
            <a:pPr lvl="1"/>
            <a:r>
              <a:rPr lang="en-US" b="1" i="1" dirty="0">
                <a:solidFill>
                  <a:srgbClr val="C00000"/>
                </a:solidFill>
              </a:rPr>
              <a:t>Ignore</a:t>
            </a:r>
            <a:r>
              <a:rPr lang="en-US" dirty="0"/>
              <a:t> the signal (do nothing)</a:t>
            </a:r>
          </a:p>
          <a:p>
            <a:pPr lvl="1"/>
            <a:r>
              <a:rPr lang="en-US" b="1" i="1" dirty="0">
                <a:solidFill>
                  <a:srgbClr val="C00000"/>
                </a:solidFill>
              </a:rPr>
              <a:t>Terminate</a:t>
            </a:r>
            <a:r>
              <a:rPr lang="en-US" dirty="0"/>
              <a:t> the process (with optional core dump</a:t>
            </a:r>
            <a:r>
              <a:rPr lang="en-US" dirty="0" smtClean="0"/>
              <a:t>)</a:t>
            </a:r>
            <a:endParaRPr lang="en-US" dirty="0"/>
          </a:p>
          <a:p>
            <a:pPr lvl="1"/>
            <a:r>
              <a:rPr lang="en-US" b="1" i="1" dirty="0">
                <a:solidFill>
                  <a:srgbClr val="C00000"/>
                </a:solidFill>
              </a:rPr>
              <a:t>Catch</a:t>
            </a:r>
            <a:r>
              <a:rPr lang="en-US" i="1" dirty="0">
                <a:solidFill>
                  <a:srgbClr val="FF3300"/>
                </a:solidFill>
              </a:rPr>
              <a:t> </a:t>
            </a:r>
            <a:r>
              <a:rPr lang="en-US" dirty="0"/>
              <a:t>the signal by executing a user-level function </a:t>
            </a:r>
            <a:r>
              <a:rPr lang="en-US" dirty="0" smtClean="0"/>
              <a:t>called </a:t>
            </a:r>
            <a:r>
              <a:rPr lang="en-US" b="1" i="1" dirty="0" smtClean="0">
                <a:solidFill>
                  <a:srgbClr val="C00000"/>
                </a:solidFill>
              </a:rPr>
              <a:t>signal </a:t>
            </a:r>
            <a:r>
              <a:rPr lang="en-US" b="1" i="1" dirty="0">
                <a:solidFill>
                  <a:srgbClr val="C00000"/>
                </a:solidFill>
              </a:rPr>
              <a:t>handler</a:t>
            </a:r>
          </a:p>
          <a:p>
            <a:pPr lvl="2"/>
            <a:r>
              <a:rPr lang="en-US" dirty="0"/>
              <a:t>Akin to a hardware exception handler being called in response to an asynchronous </a:t>
            </a:r>
            <a:r>
              <a:rPr lang="en-US" dirty="0" smtClean="0"/>
              <a:t>interrupt:</a:t>
            </a:r>
          </a:p>
          <a:p>
            <a:pPr marL="914400" lvl="2" indent="0">
              <a:buNone/>
            </a:pPr>
            <a:endParaRPr lang="en-US" dirty="0" smtClean="0"/>
          </a:p>
        </p:txBody>
      </p:sp>
      <p:sp>
        <p:nvSpPr>
          <p:cNvPr id="4" name="Line 93"/>
          <p:cNvSpPr>
            <a:spLocks noChangeShapeType="1"/>
          </p:cNvSpPr>
          <p:nvPr/>
        </p:nvSpPr>
        <p:spPr bwMode="auto">
          <a:xfrm>
            <a:off x="3424238" y="4810118"/>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5" name="Line 94"/>
          <p:cNvSpPr>
            <a:spLocks noChangeShapeType="1"/>
          </p:cNvSpPr>
          <p:nvPr/>
        </p:nvSpPr>
        <p:spPr bwMode="auto">
          <a:xfrm>
            <a:off x="3430588" y="5414956"/>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5"/>
          <p:cNvSpPr>
            <a:spLocks noChangeShapeType="1"/>
          </p:cNvSpPr>
          <p:nvPr/>
        </p:nvSpPr>
        <p:spPr bwMode="auto">
          <a:xfrm flipH="1">
            <a:off x="5829300" y="5421306"/>
            <a:ext cx="0" cy="533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6"/>
          <p:cNvSpPr>
            <a:spLocks noChangeShapeType="1"/>
          </p:cNvSpPr>
          <p:nvPr/>
        </p:nvSpPr>
        <p:spPr bwMode="auto">
          <a:xfrm flipH="1" flipV="1">
            <a:off x="3427413" y="5541956"/>
            <a:ext cx="2352675" cy="38735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Line 97"/>
          <p:cNvSpPr>
            <a:spLocks noChangeShapeType="1"/>
          </p:cNvSpPr>
          <p:nvPr/>
        </p:nvSpPr>
        <p:spPr bwMode="auto">
          <a:xfrm>
            <a:off x="3425825" y="5549893"/>
            <a:ext cx="3175" cy="876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9" name="Rectangle 98"/>
          <p:cNvSpPr>
            <a:spLocks noChangeArrowheads="1"/>
          </p:cNvSpPr>
          <p:nvPr/>
        </p:nvSpPr>
        <p:spPr bwMode="auto">
          <a:xfrm>
            <a:off x="3613150" y="4813293"/>
            <a:ext cx="2016360"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79" tIns="44446" rIns="90479" bIns="44446">
            <a:spAutoFit/>
          </a:bodyPr>
          <a:lstStyle/>
          <a:p>
            <a:r>
              <a:rPr lang="en-US" sz="1600" i="1">
                <a:latin typeface="Helvetica" charset="0"/>
              </a:rPr>
              <a:t>(2) Control passes </a:t>
            </a:r>
          </a:p>
          <a:p>
            <a:r>
              <a:rPr lang="en-US" sz="1600" i="1">
                <a:latin typeface="Helvetica" charset="0"/>
              </a:rPr>
              <a:t>to signal handler </a:t>
            </a:r>
          </a:p>
        </p:txBody>
      </p:sp>
      <p:sp>
        <p:nvSpPr>
          <p:cNvPr id="10" name="Rectangle 99"/>
          <p:cNvSpPr>
            <a:spLocks noChangeArrowheads="1"/>
          </p:cNvSpPr>
          <p:nvPr/>
        </p:nvSpPr>
        <p:spPr bwMode="auto">
          <a:xfrm>
            <a:off x="5899150" y="5397493"/>
            <a:ext cx="1492250"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79" tIns="44446" rIns="90479" bIns="44446">
            <a:spAutoFit/>
          </a:bodyPr>
          <a:lstStyle/>
          <a:p>
            <a:pPr algn="l"/>
            <a:r>
              <a:rPr lang="en-US" sz="1600" i="1">
                <a:latin typeface="Helvetica" charset="0"/>
              </a:rPr>
              <a:t>(3) Signal  handler runs</a:t>
            </a:r>
          </a:p>
        </p:txBody>
      </p:sp>
      <p:sp>
        <p:nvSpPr>
          <p:cNvPr id="11" name="Rectangle 100"/>
          <p:cNvSpPr>
            <a:spLocks noChangeArrowheads="1"/>
          </p:cNvSpPr>
          <p:nvPr/>
        </p:nvSpPr>
        <p:spPr bwMode="auto">
          <a:xfrm>
            <a:off x="3671888" y="5861043"/>
            <a:ext cx="1947832" cy="82842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79" tIns="44446" rIns="90479" bIns="44446">
            <a:spAutoFit/>
          </a:bodyPr>
          <a:lstStyle/>
          <a:p>
            <a:r>
              <a:rPr lang="en-US" sz="1600" i="1">
                <a:latin typeface="Helvetica" charset="0"/>
              </a:rPr>
              <a:t>(4) Signal handler</a:t>
            </a:r>
          </a:p>
          <a:p>
            <a:r>
              <a:rPr lang="en-US" sz="1600" i="1">
                <a:latin typeface="Helvetica" charset="0"/>
              </a:rPr>
              <a:t>returns to </a:t>
            </a:r>
          </a:p>
          <a:p>
            <a:r>
              <a:rPr lang="en-US" sz="1600" i="1">
                <a:latin typeface="Helvetica" charset="0"/>
              </a:rPr>
              <a:t>next instruction</a:t>
            </a:r>
          </a:p>
        </p:txBody>
      </p:sp>
      <p:sp>
        <p:nvSpPr>
          <p:cNvPr id="12" name="Text Box 101"/>
          <p:cNvSpPr txBox="1">
            <a:spLocks noChangeArrowheads="1"/>
          </p:cNvSpPr>
          <p:nvPr/>
        </p:nvSpPr>
        <p:spPr bwMode="auto">
          <a:xfrm>
            <a:off x="2921000" y="5132381"/>
            <a:ext cx="547258"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3" name="Text Box 102"/>
          <p:cNvSpPr txBox="1">
            <a:spLocks noChangeArrowheads="1"/>
          </p:cNvSpPr>
          <p:nvPr/>
        </p:nvSpPr>
        <p:spPr bwMode="auto">
          <a:xfrm>
            <a:off x="2921000" y="5329231"/>
            <a:ext cx="561066"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next</a:t>
            </a:r>
            <a:endParaRPr lang="en-US" sz="1600" i="1">
              <a:latin typeface="Helvetica" charset="0"/>
            </a:endParaRPr>
          </a:p>
        </p:txBody>
      </p:sp>
      <p:sp>
        <p:nvSpPr>
          <p:cNvPr id="14" name="Rectangle 105"/>
          <p:cNvSpPr>
            <a:spLocks noChangeArrowheads="1"/>
          </p:cNvSpPr>
          <p:nvPr/>
        </p:nvSpPr>
        <p:spPr bwMode="auto">
          <a:xfrm>
            <a:off x="965200" y="4787893"/>
            <a:ext cx="1979613"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79" tIns="44446" rIns="90479" bIns="44446">
            <a:spAutoFit/>
          </a:bodyPr>
          <a:lstStyle/>
          <a:p>
            <a:pPr algn="r"/>
            <a:r>
              <a:rPr lang="en-US" sz="1600" i="1" dirty="0">
                <a:latin typeface="Helvetica" charset="0"/>
              </a:rPr>
              <a:t>(1) Signal received by process </a:t>
            </a:r>
          </a:p>
        </p:txBody>
      </p:sp>
    </p:spTree>
    <p:extLst>
      <p:ext uri="{BB962C8B-B14F-4D97-AF65-F5344CB8AC3E}">
        <p14:creationId xmlns:p14="http://schemas.microsoft.com/office/powerpoint/2010/main" val="4052136474"/>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8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8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886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886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p:bldP spid="12" grpId="0"/>
      <p:bldP spid="13" grpId="0"/>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a:xfrm>
            <a:off x="76200" y="435678"/>
            <a:ext cx="8915400" cy="762000"/>
          </a:xfrm>
        </p:spPr>
        <p:txBody>
          <a:bodyPr/>
          <a:lstStyle/>
          <a:p>
            <a:r>
              <a:rPr lang="en-US" dirty="0" smtClean="0"/>
              <a:t>Signal Concepts: Pending and Blocked Signals</a:t>
            </a:r>
            <a:endParaRPr lang="en-US" dirty="0"/>
          </a:p>
        </p:txBody>
      </p:sp>
      <p:sp>
        <p:nvSpPr>
          <p:cNvPr id="549891" name="Rectangle 3"/>
          <p:cNvSpPr>
            <a:spLocks noGrp="1" noChangeArrowheads="1"/>
          </p:cNvSpPr>
          <p:nvPr>
            <p:ph type="body" idx="1"/>
          </p:nvPr>
        </p:nvSpPr>
        <p:spPr>
          <a:xfrm>
            <a:off x="290513" y="1633538"/>
            <a:ext cx="8548687" cy="4614862"/>
          </a:xfrm>
        </p:spPr>
        <p:txBody>
          <a:bodyPr/>
          <a:lstStyle/>
          <a:p>
            <a:r>
              <a:rPr lang="en-US" dirty="0"/>
              <a:t>A signal is </a:t>
            </a:r>
            <a:r>
              <a:rPr lang="en-US" i="1" dirty="0">
                <a:solidFill>
                  <a:srgbClr val="C00000"/>
                </a:solidFill>
              </a:rPr>
              <a:t>pending</a:t>
            </a:r>
            <a:r>
              <a:rPr lang="en-US" dirty="0"/>
              <a:t> if sent but not yet received</a:t>
            </a:r>
          </a:p>
          <a:p>
            <a:pPr lvl="1"/>
            <a:r>
              <a:rPr lang="en-US" dirty="0"/>
              <a:t>There can be at most one pending signal of any particular type</a:t>
            </a:r>
          </a:p>
          <a:p>
            <a:pPr lvl="1"/>
            <a:r>
              <a:rPr lang="en-US" dirty="0"/>
              <a:t>Important: Signals are not queued</a:t>
            </a:r>
          </a:p>
          <a:p>
            <a:pPr lvl="2"/>
            <a:r>
              <a:rPr lang="en-US" dirty="0"/>
              <a:t>If a process has a pending signal of type k, then subsequent signals of type k that are sent to that process are discarded</a:t>
            </a:r>
          </a:p>
          <a:p>
            <a:endParaRPr lang="en-US" dirty="0" smtClean="0"/>
          </a:p>
          <a:p>
            <a:r>
              <a:rPr lang="en-US" dirty="0" smtClean="0"/>
              <a:t>A </a:t>
            </a:r>
            <a:r>
              <a:rPr lang="en-US" dirty="0"/>
              <a:t>process can </a:t>
            </a:r>
            <a:r>
              <a:rPr lang="en-US" i="1" dirty="0">
                <a:solidFill>
                  <a:srgbClr val="C00000"/>
                </a:solidFill>
              </a:rPr>
              <a:t>block</a:t>
            </a:r>
            <a:r>
              <a:rPr lang="en-US" dirty="0"/>
              <a:t> the receipt of certain signals</a:t>
            </a:r>
          </a:p>
          <a:p>
            <a:pPr lvl="1"/>
            <a:r>
              <a:rPr lang="en-US" dirty="0"/>
              <a:t>Blocked signals can be delivered, but will not be received until the signal is unblocked</a:t>
            </a:r>
          </a:p>
          <a:p>
            <a:endParaRPr lang="en-US" dirty="0" smtClean="0"/>
          </a:p>
          <a:p>
            <a:r>
              <a:rPr lang="en-US" dirty="0" smtClean="0"/>
              <a:t>A </a:t>
            </a:r>
            <a:r>
              <a:rPr lang="en-US" dirty="0"/>
              <a:t>pending signal is received at most once</a:t>
            </a:r>
          </a:p>
          <a:p>
            <a:endParaRPr lang="en-US" dirty="0"/>
          </a:p>
        </p:txBody>
      </p:sp>
    </p:spTree>
    <p:extLst>
      <p:ext uri="{BB962C8B-B14F-4D97-AF65-F5344CB8AC3E}">
        <p14:creationId xmlns:p14="http://schemas.microsoft.com/office/powerpoint/2010/main" val="2808698574"/>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989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9891">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9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en-US" dirty="0" smtClean="0"/>
              <a:t>Signal Concepts: Pending/Blocked Bits	</a:t>
            </a:r>
            <a:endParaRPr lang="en-US" dirty="0"/>
          </a:p>
        </p:txBody>
      </p:sp>
      <p:sp>
        <p:nvSpPr>
          <p:cNvPr id="550915" name="Rectangle 3"/>
          <p:cNvSpPr>
            <a:spLocks noGrp="1" noChangeArrowheads="1"/>
          </p:cNvSpPr>
          <p:nvPr>
            <p:ph type="body" idx="1"/>
          </p:nvPr>
        </p:nvSpPr>
        <p:spPr>
          <a:xfrm>
            <a:off x="343117" y="1676400"/>
            <a:ext cx="8419883" cy="3700462"/>
          </a:xfrm>
        </p:spPr>
        <p:txBody>
          <a:bodyPr/>
          <a:lstStyle/>
          <a:p>
            <a:r>
              <a:rPr lang="en-US" dirty="0" smtClean="0"/>
              <a:t>Kernel maintains </a:t>
            </a:r>
            <a:r>
              <a:rPr lang="en-US" dirty="0" smtClean="0">
                <a:latin typeface="Courier New" pitchFamily="49" charset="0"/>
              </a:rPr>
              <a:t>pending</a:t>
            </a:r>
            <a:r>
              <a:rPr lang="en-US" dirty="0" smtClean="0"/>
              <a:t> and </a:t>
            </a:r>
            <a:r>
              <a:rPr lang="en-US" dirty="0" smtClean="0">
                <a:latin typeface="Courier New" pitchFamily="49" charset="0"/>
              </a:rPr>
              <a:t>blocked</a:t>
            </a:r>
            <a:r>
              <a:rPr lang="en-US" dirty="0" smtClean="0"/>
              <a:t> bit vectors in the context of each process</a:t>
            </a:r>
          </a:p>
          <a:p>
            <a:pPr lvl="1"/>
            <a:r>
              <a:rPr lang="en-US" b="1" dirty="0" smtClean="0">
                <a:latin typeface="Courier New" pitchFamily="49" charset="0"/>
              </a:rPr>
              <a:t>pending</a:t>
            </a:r>
            <a:r>
              <a:rPr lang="en-US" dirty="0" smtClean="0"/>
              <a:t>: represents the set of pending signals</a:t>
            </a:r>
          </a:p>
          <a:p>
            <a:pPr lvl="2"/>
            <a:r>
              <a:rPr lang="en-US" dirty="0" smtClean="0"/>
              <a:t>Kernel sets bit </a:t>
            </a:r>
            <a:r>
              <a:rPr lang="en-US" dirty="0" err="1" smtClean="0"/>
              <a:t>k</a:t>
            </a:r>
            <a:r>
              <a:rPr lang="en-US" dirty="0" smtClean="0"/>
              <a:t> in </a:t>
            </a:r>
            <a:r>
              <a:rPr lang="en-US" b="1" dirty="0" smtClean="0">
                <a:latin typeface="Courier New" pitchFamily="49" charset="0"/>
              </a:rPr>
              <a:t>pending</a:t>
            </a:r>
            <a:r>
              <a:rPr lang="en-US" dirty="0" smtClean="0"/>
              <a:t> when a signal of type </a:t>
            </a:r>
            <a:r>
              <a:rPr lang="en-US" dirty="0" err="1" smtClean="0"/>
              <a:t>k</a:t>
            </a:r>
            <a:r>
              <a:rPr lang="en-US" dirty="0" smtClean="0"/>
              <a:t> is delivered</a:t>
            </a:r>
          </a:p>
          <a:p>
            <a:pPr lvl="2"/>
            <a:r>
              <a:rPr lang="en-US" dirty="0" smtClean="0"/>
              <a:t>Kernel clears bit </a:t>
            </a:r>
            <a:r>
              <a:rPr lang="en-US" dirty="0" err="1" smtClean="0"/>
              <a:t>k</a:t>
            </a:r>
            <a:r>
              <a:rPr lang="en-US" dirty="0" smtClean="0"/>
              <a:t> in </a:t>
            </a:r>
            <a:r>
              <a:rPr lang="en-US" b="1" dirty="0" smtClean="0">
                <a:latin typeface="Courier New" pitchFamily="49" charset="0"/>
              </a:rPr>
              <a:t>pending</a:t>
            </a:r>
            <a:r>
              <a:rPr lang="en-US" dirty="0" smtClean="0"/>
              <a:t> when a signal of type </a:t>
            </a:r>
            <a:r>
              <a:rPr lang="en-US" dirty="0" err="1" smtClean="0"/>
              <a:t>k</a:t>
            </a:r>
            <a:r>
              <a:rPr lang="en-US" dirty="0" smtClean="0"/>
              <a:t> is received </a:t>
            </a:r>
          </a:p>
          <a:p>
            <a:pPr lvl="1"/>
            <a:endParaRPr lang="en-US" b="1" dirty="0" smtClean="0">
              <a:latin typeface="Courier New" pitchFamily="49" charset="0"/>
            </a:endParaRPr>
          </a:p>
          <a:p>
            <a:pPr lvl="1"/>
            <a:r>
              <a:rPr lang="en-US" b="1" dirty="0" smtClean="0">
                <a:latin typeface="Courier New" pitchFamily="49" charset="0"/>
              </a:rPr>
              <a:t>blocked</a:t>
            </a:r>
            <a:r>
              <a:rPr lang="en-US" dirty="0" smtClean="0"/>
              <a:t>: represents the set of blocked signals</a:t>
            </a:r>
          </a:p>
          <a:p>
            <a:pPr lvl="2"/>
            <a:r>
              <a:rPr lang="en-US" dirty="0" smtClean="0"/>
              <a:t>Can be set and cleared by using the </a:t>
            </a:r>
            <a:r>
              <a:rPr lang="en-US" b="1" dirty="0" err="1" smtClean="0">
                <a:latin typeface="Courier New" pitchFamily="49" charset="0"/>
              </a:rPr>
              <a:t>sigprocmask</a:t>
            </a:r>
            <a:r>
              <a:rPr lang="en-US" dirty="0" smtClean="0"/>
              <a:t> function</a:t>
            </a:r>
          </a:p>
          <a:p>
            <a:pPr lvl="2"/>
            <a:r>
              <a:rPr lang="en-US" dirty="0" smtClean="0"/>
              <a:t>Also referred to as the </a:t>
            </a:r>
            <a:r>
              <a:rPr lang="en-US" i="1" dirty="0" smtClean="0"/>
              <a:t>signal mask</a:t>
            </a:r>
            <a:r>
              <a:rPr lang="en-US" dirty="0" smtClean="0"/>
              <a:t>.</a:t>
            </a:r>
            <a:endParaRPr lang="en-US" dirty="0"/>
          </a:p>
        </p:txBody>
      </p:sp>
    </p:spTree>
    <p:extLst>
      <p:ext uri="{BB962C8B-B14F-4D97-AF65-F5344CB8AC3E}">
        <p14:creationId xmlns:p14="http://schemas.microsoft.com/office/powerpoint/2010/main" val="253841522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smtClean="0"/>
              <a:t>Signal Concepts: Sending a Signal</a:t>
            </a:r>
            <a:endParaRPr lang="en-US" dirty="0"/>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A</a:t>
            </a:r>
            <a:endParaRPr lang="en-US" dirty="0"/>
          </a:p>
        </p:txBody>
      </p:sp>
      <p:sp>
        <p:nvSpPr>
          <p:cNvPr id="5" name="Rectangle 4"/>
          <p:cNvSpPr/>
          <p:nvPr/>
        </p:nvSpPr>
        <p:spPr bwMode="auto">
          <a:xfrm>
            <a:off x="3095625" y="12763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B</a:t>
            </a:r>
            <a:endParaRPr lang="en-US" dirty="0"/>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Process C</a:t>
            </a:r>
            <a:endParaRPr lang="en-US" dirty="0"/>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8" y="4860222"/>
            <a:ext cx="781111" cy="369332"/>
          </a:xfrm>
          <a:prstGeom prst="rect">
            <a:avLst/>
          </a:prstGeom>
          <a:noFill/>
        </p:spPr>
        <p:txBody>
          <a:bodyPr wrap="none" rtlCol="0">
            <a:spAutoFit/>
          </a:bodyPr>
          <a:lstStyle/>
          <a:p>
            <a:r>
              <a:rPr lang="en-US" sz="1800" dirty="0" smtClean="0">
                <a:latin typeface="Calibri" pitchFamily="34" charset="0"/>
              </a:rPr>
              <a:t>kernel</a:t>
            </a:r>
          </a:p>
        </p:txBody>
      </p:sp>
      <p:sp>
        <p:nvSpPr>
          <p:cNvPr id="11" name="TextBox 10"/>
          <p:cNvSpPr txBox="1"/>
          <p:nvPr/>
        </p:nvSpPr>
        <p:spPr>
          <a:xfrm>
            <a:off x="8018434" y="1276350"/>
            <a:ext cx="1125565" cy="369332"/>
          </a:xfrm>
          <a:prstGeom prst="rect">
            <a:avLst/>
          </a:prstGeom>
          <a:noFill/>
        </p:spPr>
        <p:txBody>
          <a:bodyPr wrap="none" rtlCol="0">
            <a:spAutoFit/>
          </a:bodyPr>
          <a:lstStyle/>
          <a:p>
            <a:r>
              <a:rPr lang="en-US" sz="1800" dirty="0" smtClean="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A</a:t>
            </a:r>
            <a:endParaRPr lang="en-US" dirty="0"/>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A</a:t>
            </a:r>
            <a:endParaRPr lang="en-US" dirty="0"/>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B</a:t>
            </a:r>
            <a:endParaRPr lang="en-US" dirty="0"/>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B</a:t>
            </a:r>
            <a:endParaRPr lang="en-US" dirty="0"/>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Pending for C</a:t>
            </a:r>
            <a:endParaRPr lang="en-US" dirty="0"/>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Blocked for C</a:t>
            </a:r>
            <a:endParaRPr lang="en-US" dirty="0"/>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smtClean="0">
                <a:latin typeface="Calibri" pitchFamily="34" charset="0"/>
              </a:rPr>
              <a:t>1</a:t>
            </a:r>
          </a:p>
        </p:txBody>
      </p:sp>
      <p:sp>
        <p:nvSpPr>
          <p:cNvPr id="28" name="Right Arrow 27"/>
          <p:cNvSpPr/>
          <p:nvPr/>
        </p:nvSpPr>
        <p:spPr bwMode="auto">
          <a:xfrm rot="6894845" flipV="1">
            <a:off x="901998" y="3871557"/>
            <a:ext cx="4422714"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smtClean="0"/>
              <a:t>Sends to C</a:t>
            </a:r>
            <a:endParaRPr lang="en-US" dirty="0"/>
          </a:p>
        </p:txBody>
      </p:sp>
    </p:spTree>
    <p:extLst>
      <p:ext uri="{BB962C8B-B14F-4D97-AF65-F5344CB8AC3E}">
        <p14:creationId xmlns:p14="http://schemas.microsoft.com/office/powerpoint/2010/main" val="216318601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bwMode="auto">
          <a:xfrm>
            <a:off x="6096000" y="315638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9" name="Rectangle 28"/>
          <p:cNvSpPr/>
          <p:nvPr/>
        </p:nvSpPr>
        <p:spPr bwMode="auto">
          <a:xfrm>
            <a:off x="3810000" y="3147796"/>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8" name="Rectangle 27"/>
          <p:cNvSpPr/>
          <p:nvPr/>
        </p:nvSpPr>
        <p:spPr bwMode="auto">
          <a:xfrm>
            <a:off x="1084497" y="3147796"/>
            <a:ext cx="2514600" cy="3099375"/>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551938" name="Rectangle 2"/>
          <p:cNvSpPr>
            <a:spLocks noGrp="1" noChangeArrowheads="1"/>
          </p:cNvSpPr>
          <p:nvPr>
            <p:ph type="title"/>
          </p:nvPr>
        </p:nvSpPr>
        <p:spPr>
          <a:xfrm>
            <a:off x="380614" y="381000"/>
            <a:ext cx="7592093" cy="762000"/>
          </a:xfrm>
        </p:spPr>
        <p:txBody>
          <a:bodyPr/>
          <a:lstStyle/>
          <a:p>
            <a:r>
              <a:rPr lang="en-US" dirty="0" smtClean="0"/>
              <a:t>Sending Signals: Process </a:t>
            </a:r>
            <a:r>
              <a:rPr lang="en-US" dirty="0"/>
              <a:t>Groups</a:t>
            </a:r>
          </a:p>
        </p:txBody>
      </p:sp>
      <p:sp>
        <p:nvSpPr>
          <p:cNvPr id="551939" name="Rectangle 3"/>
          <p:cNvSpPr>
            <a:spLocks noGrp="1" noChangeArrowheads="1"/>
          </p:cNvSpPr>
          <p:nvPr>
            <p:ph type="body" idx="1"/>
          </p:nvPr>
        </p:nvSpPr>
        <p:spPr>
          <a:xfrm>
            <a:off x="380999" y="1219200"/>
            <a:ext cx="7720013" cy="609600"/>
          </a:xfrm>
        </p:spPr>
        <p:txBody>
          <a:bodyPr/>
          <a:lstStyle/>
          <a:p>
            <a:r>
              <a:rPr lang="en-US"/>
              <a:t>Every process belongs to exactly one process group</a:t>
            </a:r>
          </a:p>
        </p:txBody>
      </p:sp>
      <p:sp>
        <p:nvSpPr>
          <p:cNvPr id="551940" name="Oval 4"/>
          <p:cNvSpPr>
            <a:spLocks noChangeAspect="1" noChangeArrowheads="1"/>
          </p:cNvSpPr>
          <p:nvPr/>
        </p:nvSpPr>
        <p:spPr bwMode="auto">
          <a:xfrm>
            <a:off x="1898650" y="3228975"/>
            <a:ext cx="982663"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Fore-</a:t>
            </a:r>
          </a:p>
          <a:p>
            <a:pPr algn="ctr"/>
            <a:r>
              <a:rPr lang="en-US" sz="1600" dirty="0">
                <a:latin typeface="Calibri" pitchFamily="34" charset="0"/>
              </a:rPr>
              <a:t>ground</a:t>
            </a:r>
          </a:p>
          <a:p>
            <a:pPr algn="ctr"/>
            <a:r>
              <a:rPr lang="en-US" sz="1600" dirty="0">
                <a:latin typeface="Calibri" pitchFamily="34" charset="0"/>
              </a:rPr>
              <a:t>job</a:t>
            </a:r>
          </a:p>
        </p:txBody>
      </p:sp>
      <p:sp>
        <p:nvSpPr>
          <p:cNvPr id="551941" name="Oval 5"/>
          <p:cNvSpPr>
            <a:spLocks noChangeAspect="1" noChangeArrowheads="1"/>
          </p:cNvSpPr>
          <p:nvPr/>
        </p:nvSpPr>
        <p:spPr bwMode="auto">
          <a:xfrm>
            <a:off x="4094163" y="3228975"/>
            <a:ext cx="982662" cy="863600"/>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Back-</a:t>
            </a:r>
          </a:p>
          <a:p>
            <a:pPr algn="ctr">
              <a:lnSpc>
                <a:spcPct val="100000"/>
              </a:lnSpc>
            </a:pPr>
            <a:r>
              <a:rPr lang="en-US" sz="1600" dirty="0">
                <a:latin typeface="Calibri" pitchFamily="34" charset="0"/>
              </a:rPr>
              <a:t>ground</a:t>
            </a:r>
          </a:p>
          <a:p>
            <a:pPr algn="ctr">
              <a:lnSpc>
                <a:spcPct val="100000"/>
              </a:lnSpc>
            </a:pPr>
            <a:r>
              <a:rPr lang="en-US" sz="1600" dirty="0">
                <a:latin typeface="Calibri" pitchFamily="34" charset="0"/>
              </a:rPr>
              <a:t>job #1</a:t>
            </a:r>
          </a:p>
        </p:txBody>
      </p:sp>
      <p:sp>
        <p:nvSpPr>
          <p:cNvPr id="551942" name="Oval 6"/>
          <p:cNvSpPr>
            <a:spLocks noChangeAspect="1" noChangeArrowheads="1"/>
          </p:cNvSpPr>
          <p:nvPr/>
        </p:nvSpPr>
        <p:spPr bwMode="auto">
          <a:xfrm>
            <a:off x="6248400" y="3228975"/>
            <a:ext cx="984250"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Back-</a:t>
            </a:r>
          </a:p>
          <a:p>
            <a:pPr algn="ctr"/>
            <a:r>
              <a:rPr lang="en-US" sz="1600" dirty="0">
                <a:latin typeface="Calibri" pitchFamily="34" charset="0"/>
              </a:rPr>
              <a:t>ground</a:t>
            </a:r>
          </a:p>
          <a:p>
            <a:pPr algn="ctr"/>
            <a:r>
              <a:rPr lang="en-US" sz="1600" dirty="0">
                <a:latin typeface="Calibri" pitchFamily="34" charset="0"/>
              </a:rPr>
              <a:t>job #2</a:t>
            </a:r>
          </a:p>
        </p:txBody>
      </p:sp>
      <p:sp>
        <p:nvSpPr>
          <p:cNvPr id="551943" name="Oval 7"/>
          <p:cNvSpPr>
            <a:spLocks noChangeAspect="1" noChangeArrowheads="1"/>
          </p:cNvSpPr>
          <p:nvPr/>
        </p:nvSpPr>
        <p:spPr bwMode="auto">
          <a:xfrm>
            <a:off x="4098925" y="1905000"/>
            <a:ext cx="984250" cy="776288"/>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b="1" dirty="0">
                <a:latin typeface="Calibri" pitchFamily="34" charset="0"/>
              </a:rPr>
              <a:t>Shell</a:t>
            </a:r>
          </a:p>
        </p:txBody>
      </p:sp>
      <p:sp>
        <p:nvSpPr>
          <p:cNvPr id="551944" name="Oval 8"/>
          <p:cNvSpPr>
            <a:spLocks noChangeAspect="1" noChangeArrowheads="1"/>
          </p:cNvSpPr>
          <p:nvPr/>
        </p:nvSpPr>
        <p:spPr bwMode="auto">
          <a:xfrm>
            <a:off x="1339850" y="44148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Child</a:t>
            </a:r>
          </a:p>
        </p:txBody>
      </p:sp>
      <p:sp>
        <p:nvSpPr>
          <p:cNvPr id="551945" name="Oval 9"/>
          <p:cNvSpPr>
            <a:spLocks noChangeAspect="1" noChangeArrowheads="1"/>
          </p:cNvSpPr>
          <p:nvPr/>
        </p:nvSpPr>
        <p:spPr bwMode="auto">
          <a:xfrm>
            <a:off x="2465388" y="44148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Child</a:t>
            </a:r>
          </a:p>
        </p:txBody>
      </p:sp>
      <p:sp>
        <p:nvSpPr>
          <p:cNvPr id="551946" name="Line 10"/>
          <p:cNvSpPr>
            <a:spLocks noChangeAspect="1" noChangeShapeType="1"/>
          </p:cNvSpPr>
          <p:nvPr/>
        </p:nvSpPr>
        <p:spPr bwMode="auto">
          <a:xfrm flipH="1">
            <a:off x="1906588" y="4051300"/>
            <a:ext cx="182562" cy="3698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47" name="Line 11"/>
          <p:cNvSpPr>
            <a:spLocks noChangeAspect="1" noChangeShapeType="1"/>
          </p:cNvSpPr>
          <p:nvPr/>
        </p:nvSpPr>
        <p:spPr bwMode="auto">
          <a:xfrm>
            <a:off x="2686050" y="4048125"/>
            <a:ext cx="163513" cy="361950"/>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48" name="Line 12"/>
          <p:cNvSpPr>
            <a:spLocks noChangeAspect="1" noChangeShapeType="1"/>
          </p:cNvSpPr>
          <p:nvPr/>
        </p:nvSpPr>
        <p:spPr bwMode="auto">
          <a:xfrm>
            <a:off x="4594225" y="2667000"/>
            <a:ext cx="0" cy="557213"/>
          </a:xfrm>
          <a:prstGeom prst="line">
            <a:avLst/>
          </a:prstGeom>
          <a:noFill/>
          <a:ln w="12700">
            <a:solidFill>
              <a:schemeClr val="tx1"/>
            </a:solidFill>
            <a:round/>
            <a:headEnd/>
            <a:tailEnd/>
          </a:ln>
          <a:effectLst/>
        </p:spPr>
        <p:txBody>
          <a:bodyPr wrap="none" anchor="ctr">
            <a:spAutoFit/>
          </a:bodyPr>
          <a:lstStyle/>
          <a:p>
            <a:endParaRPr lang="en-US" dirty="0">
              <a:latin typeface="Calibri" pitchFamily="34" charset="0"/>
            </a:endParaRPr>
          </a:p>
        </p:txBody>
      </p:sp>
      <p:sp>
        <p:nvSpPr>
          <p:cNvPr id="551949" name="Line 13"/>
          <p:cNvSpPr>
            <a:spLocks noChangeAspect="1" noChangeShapeType="1"/>
          </p:cNvSpPr>
          <p:nvPr/>
        </p:nvSpPr>
        <p:spPr bwMode="auto">
          <a:xfrm flipH="1">
            <a:off x="2768600" y="2574925"/>
            <a:ext cx="1481138" cy="8016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50" name="Line 14"/>
          <p:cNvSpPr>
            <a:spLocks noChangeAspect="1" noChangeShapeType="1"/>
          </p:cNvSpPr>
          <p:nvPr/>
        </p:nvSpPr>
        <p:spPr bwMode="auto">
          <a:xfrm>
            <a:off x="4968875" y="2535238"/>
            <a:ext cx="1412875" cy="833437"/>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51" name="Text Box 15"/>
          <p:cNvSpPr txBox="1">
            <a:spLocks noChangeAspect="1" noChangeArrowheads="1"/>
          </p:cNvSpPr>
          <p:nvPr/>
        </p:nvSpPr>
        <p:spPr bwMode="auto">
          <a:xfrm>
            <a:off x="3297238" y="20701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pid=10</a:t>
            </a:r>
          </a:p>
          <a:p>
            <a:pPr algn="r">
              <a:lnSpc>
                <a:spcPct val="100000"/>
              </a:lnSpc>
            </a:pPr>
            <a:r>
              <a:rPr lang="en-US" sz="1200" b="1">
                <a:latin typeface="Courier New" pitchFamily="49" charset="0"/>
              </a:rPr>
              <a:t>pgid=10</a:t>
            </a:r>
          </a:p>
        </p:txBody>
      </p:sp>
      <p:sp>
        <p:nvSpPr>
          <p:cNvPr id="551953" name="Text Box 17"/>
          <p:cNvSpPr txBox="1">
            <a:spLocks noChangeAspect="1" noChangeArrowheads="1"/>
          </p:cNvSpPr>
          <p:nvPr/>
        </p:nvSpPr>
        <p:spPr bwMode="auto">
          <a:xfrm>
            <a:off x="1084498" y="5663625"/>
            <a:ext cx="1765066" cy="584775"/>
          </a:xfrm>
          <a:prstGeom prst="rect">
            <a:avLst/>
          </a:prstGeom>
          <a:noFill/>
          <a:ln w="12700">
            <a:noFill/>
            <a:miter lim="800000"/>
            <a:headEnd/>
            <a:tailEnd/>
          </a:ln>
          <a:effectLst/>
        </p:spPr>
        <p:txBody>
          <a:bodyPr wrap="square" anchor="ctr">
            <a:spAutoFit/>
          </a:bodyPr>
          <a:lstStyle/>
          <a:p>
            <a:pPr>
              <a:lnSpc>
                <a:spcPct val="100000"/>
              </a:lnSpc>
            </a:pPr>
            <a:r>
              <a:rPr lang="en-US" sz="1600" b="1" i="1" dirty="0" smtClean="0">
                <a:solidFill>
                  <a:schemeClr val="tx1">
                    <a:lumMod val="50000"/>
                    <a:lumOff val="50000"/>
                  </a:schemeClr>
                </a:solidFill>
                <a:latin typeface="Calibri" pitchFamily="34" charset="0"/>
              </a:rPr>
              <a:t>Foreground </a:t>
            </a:r>
          </a:p>
          <a:p>
            <a:pPr>
              <a:lnSpc>
                <a:spcPct val="100000"/>
              </a:lnSpc>
            </a:pPr>
            <a:r>
              <a:rPr lang="en-US" sz="1600" b="1" i="1" dirty="0" smtClean="0">
                <a:solidFill>
                  <a:schemeClr val="tx1">
                    <a:lumMod val="50000"/>
                    <a:lumOff val="50000"/>
                  </a:schemeClr>
                </a:solidFill>
                <a:latin typeface="Calibri" pitchFamily="34" charset="0"/>
              </a:rPr>
              <a:t>process </a:t>
            </a:r>
            <a:r>
              <a:rPr lang="en-US" sz="1600" b="1" i="1" dirty="0">
                <a:solidFill>
                  <a:schemeClr val="tx1">
                    <a:lumMod val="50000"/>
                    <a:lumOff val="50000"/>
                  </a:schemeClr>
                </a:solidFill>
                <a:latin typeface="Calibri" pitchFamily="34" charset="0"/>
              </a:rPr>
              <a:t>group 20</a:t>
            </a:r>
          </a:p>
        </p:txBody>
      </p:sp>
      <p:sp>
        <p:nvSpPr>
          <p:cNvPr id="551955" name="Text Box 19"/>
          <p:cNvSpPr txBox="1">
            <a:spLocks noChangeAspect="1" noChangeArrowheads="1"/>
          </p:cNvSpPr>
          <p:nvPr/>
        </p:nvSpPr>
        <p:spPr bwMode="auto">
          <a:xfrm>
            <a:off x="3810000" y="4191000"/>
            <a:ext cx="1629100" cy="584775"/>
          </a:xfrm>
          <a:prstGeom prst="rect">
            <a:avLst/>
          </a:prstGeom>
          <a:noFill/>
          <a:ln w="12700">
            <a:noFill/>
            <a:miter lim="800000"/>
            <a:headEnd/>
            <a:tailEnd/>
          </a:ln>
          <a:effectLst/>
        </p:spPr>
        <p:txBody>
          <a:bodyPr wrap="none" anchor="ctr">
            <a:spAutoFit/>
          </a:bodyPr>
          <a:lstStyle/>
          <a:p>
            <a:r>
              <a:rPr lang="en-US" sz="1600" i="1" dirty="0" smtClean="0">
                <a:solidFill>
                  <a:schemeClr val="tx1">
                    <a:lumMod val="50000"/>
                    <a:lumOff val="50000"/>
                  </a:schemeClr>
                </a:solidFill>
                <a:latin typeface="Calibri" pitchFamily="34" charset="0"/>
              </a:rPr>
              <a:t>Background</a:t>
            </a:r>
          </a:p>
          <a:p>
            <a:r>
              <a:rPr lang="en-US" sz="1600" i="1" dirty="0" smtClean="0">
                <a:solidFill>
                  <a:schemeClr val="tx1">
                    <a:lumMod val="50000"/>
                    <a:lumOff val="50000"/>
                  </a:schemeClr>
                </a:solidFill>
                <a:latin typeface="Calibri" pitchFamily="34" charset="0"/>
              </a:rPr>
              <a:t>process group 32</a:t>
            </a:r>
          </a:p>
        </p:txBody>
      </p:sp>
      <p:sp>
        <p:nvSpPr>
          <p:cNvPr id="551956" name="Text Box 20"/>
          <p:cNvSpPr txBox="1">
            <a:spLocks noChangeAspect="1" noChangeArrowheads="1"/>
          </p:cNvSpPr>
          <p:nvPr/>
        </p:nvSpPr>
        <p:spPr bwMode="auto">
          <a:xfrm>
            <a:off x="6096000" y="4215825"/>
            <a:ext cx="1629100" cy="584775"/>
          </a:xfrm>
          <a:prstGeom prst="rect">
            <a:avLst/>
          </a:prstGeom>
          <a:noFill/>
          <a:ln w="12700">
            <a:noFill/>
            <a:miter lim="800000"/>
            <a:headEnd/>
            <a:tailEnd/>
          </a:ln>
          <a:effectLst/>
        </p:spPr>
        <p:txBody>
          <a:bodyPr wrap="none" anchor="ctr">
            <a:spAutoFit/>
          </a:bodyPr>
          <a:lstStyle/>
          <a:p>
            <a:pPr>
              <a:lnSpc>
                <a:spcPct val="100000"/>
              </a:lnSpc>
            </a:pPr>
            <a:r>
              <a:rPr lang="en-US" sz="1600" b="1" i="1" dirty="0">
                <a:solidFill>
                  <a:schemeClr val="tx1">
                    <a:lumMod val="50000"/>
                    <a:lumOff val="50000"/>
                  </a:schemeClr>
                </a:solidFill>
                <a:latin typeface="Calibri" pitchFamily="34" charset="0"/>
              </a:rPr>
              <a:t>Background</a:t>
            </a:r>
          </a:p>
          <a:p>
            <a:pPr>
              <a:lnSpc>
                <a:spcPct val="100000"/>
              </a:lnSpc>
            </a:pPr>
            <a:r>
              <a:rPr lang="en-US" sz="1600" b="1" i="1" dirty="0">
                <a:solidFill>
                  <a:schemeClr val="tx1">
                    <a:lumMod val="50000"/>
                    <a:lumOff val="50000"/>
                  </a:schemeClr>
                </a:solidFill>
                <a:latin typeface="Calibri" pitchFamily="34" charset="0"/>
              </a:rPr>
              <a:t>process group 40</a:t>
            </a:r>
          </a:p>
        </p:txBody>
      </p:sp>
      <p:sp>
        <p:nvSpPr>
          <p:cNvPr id="551958" name="Text Box 22"/>
          <p:cNvSpPr txBox="1">
            <a:spLocks noChangeAspect="1" noChangeArrowheads="1"/>
          </p:cNvSpPr>
          <p:nvPr/>
        </p:nvSpPr>
        <p:spPr bwMode="auto">
          <a:xfrm>
            <a:off x="1098550" y="33655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pid=20</a:t>
            </a:r>
          </a:p>
          <a:p>
            <a:pPr algn="r">
              <a:lnSpc>
                <a:spcPct val="100000"/>
              </a:lnSpc>
            </a:pPr>
            <a:r>
              <a:rPr lang="en-US" sz="1200" b="1">
                <a:latin typeface="Courier New" pitchFamily="49" charset="0"/>
              </a:rPr>
              <a:t>pgid=20</a:t>
            </a:r>
          </a:p>
        </p:txBody>
      </p:sp>
      <p:sp>
        <p:nvSpPr>
          <p:cNvPr id="551959" name="Text Box 23"/>
          <p:cNvSpPr txBox="1">
            <a:spLocks noChangeAspect="1" noChangeArrowheads="1"/>
          </p:cNvSpPr>
          <p:nvPr/>
        </p:nvSpPr>
        <p:spPr bwMode="auto">
          <a:xfrm>
            <a:off x="5038725" y="3416300"/>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pid=32</a:t>
            </a:r>
          </a:p>
          <a:p>
            <a:pPr algn="l">
              <a:lnSpc>
                <a:spcPct val="100000"/>
              </a:lnSpc>
            </a:pPr>
            <a:r>
              <a:rPr lang="en-US" sz="1200" b="1">
                <a:latin typeface="Courier New" pitchFamily="49" charset="0"/>
              </a:rPr>
              <a:t>pgid=32</a:t>
            </a:r>
          </a:p>
        </p:txBody>
      </p:sp>
      <p:sp>
        <p:nvSpPr>
          <p:cNvPr id="551960" name="Text Box 24"/>
          <p:cNvSpPr txBox="1">
            <a:spLocks noChangeAspect="1" noChangeArrowheads="1"/>
          </p:cNvSpPr>
          <p:nvPr/>
        </p:nvSpPr>
        <p:spPr bwMode="auto">
          <a:xfrm>
            <a:off x="7224929" y="3443288"/>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pid=40</a:t>
            </a:r>
          </a:p>
          <a:p>
            <a:pPr algn="l">
              <a:lnSpc>
                <a:spcPct val="100000"/>
              </a:lnSpc>
            </a:pPr>
            <a:r>
              <a:rPr lang="en-US" sz="1200" b="1">
                <a:latin typeface="Courier New" pitchFamily="49" charset="0"/>
              </a:rPr>
              <a:t>pgid=40</a:t>
            </a:r>
          </a:p>
        </p:txBody>
      </p:sp>
      <p:sp>
        <p:nvSpPr>
          <p:cNvPr id="551961" name="Text Box 25"/>
          <p:cNvSpPr txBox="1">
            <a:spLocks noChangeAspect="1" noChangeArrowheads="1"/>
          </p:cNvSpPr>
          <p:nvPr/>
        </p:nvSpPr>
        <p:spPr bwMode="auto">
          <a:xfrm>
            <a:off x="1398588" y="51816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pid=21</a:t>
            </a:r>
          </a:p>
          <a:p>
            <a:pPr algn="r">
              <a:lnSpc>
                <a:spcPct val="100000"/>
              </a:lnSpc>
            </a:pPr>
            <a:r>
              <a:rPr lang="en-US" sz="1200" b="1">
                <a:latin typeface="Courier New" pitchFamily="49" charset="0"/>
              </a:rPr>
              <a:t>pgid=20</a:t>
            </a:r>
          </a:p>
        </p:txBody>
      </p:sp>
      <p:sp>
        <p:nvSpPr>
          <p:cNvPr id="551962" name="Text Box 26"/>
          <p:cNvSpPr txBox="1">
            <a:spLocks noChangeAspect="1" noChangeArrowheads="1"/>
          </p:cNvSpPr>
          <p:nvPr/>
        </p:nvSpPr>
        <p:spPr bwMode="auto">
          <a:xfrm>
            <a:off x="2541588" y="51816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pid=22</a:t>
            </a:r>
          </a:p>
          <a:p>
            <a:pPr algn="r">
              <a:lnSpc>
                <a:spcPct val="100000"/>
              </a:lnSpc>
            </a:pPr>
            <a:r>
              <a:rPr lang="en-US" sz="1200" b="1">
                <a:latin typeface="Courier New" pitchFamily="49" charset="0"/>
              </a:rPr>
              <a:t>pgid=20</a:t>
            </a:r>
          </a:p>
        </p:txBody>
      </p:sp>
      <p:sp>
        <p:nvSpPr>
          <p:cNvPr id="551963" name="Rectangle 27"/>
          <p:cNvSpPr>
            <a:spLocks noChangeArrowheads="1"/>
          </p:cNvSpPr>
          <p:nvPr/>
        </p:nvSpPr>
        <p:spPr bwMode="auto">
          <a:xfrm>
            <a:off x="3733800" y="5070493"/>
            <a:ext cx="4114800" cy="1558907"/>
          </a:xfrm>
          <a:prstGeom prst="rect">
            <a:avLst/>
          </a:prstGeom>
          <a:noFill/>
          <a:ln w="9525">
            <a:noFill/>
            <a:miter lim="800000"/>
            <a:headEnd/>
            <a:tailEnd/>
          </a:ln>
          <a:effectLst/>
        </p:spPr>
        <p:txBody>
          <a:bodyPr lIns="90479" tIns="44446" rIns="90479" bIns="44446"/>
          <a:lstStyle/>
          <a:p>
            <a:pPr algn="l" eaLnBrk="1" hangingPunct="1">
              <a:lnSpc>
                <a:spcPct val="95000"/>
              </a:lnSpc>
              <a:spcBef>
                <a:spcPct val="50000"/>
              </a:spcBef>
              <a:buClr>
                <a:schemeClr val="hlink"/>
              </a:buClr>
              <a:buFont typeface="Wingdings" pitchFamily="2" charset="2"/>
              <a:buNone/>
            </a:pPr>
            <a:r>
              <a:rPr lang="en-US" sz="1800" b="1" dirty="0" err="1">
                <a:solidFill>
                  <a:schemeClr val="tx2"/>
                </a:solidFill>
                <a:latin typeface="Courier New"/>
                <a:cs typeface="Courier New"/>
              </a:rPr>
              <a:t>getpgrp</a:t>
            </a:r>
            <a:r>
              <a:rPr lang="en-US" sz="1800" b="1" dirty="0" smtClean="0">
                <a:solidFill>
                  <a:schemeClr val="tx2"/>
                </a:solidFill>
                <a:latin typeface="Courier New"/>
                <a:cs typeface="Courier New"/>
              </a:rPr>
              <a:t>()</a:t>
            </a:r>
            <a:br>
              <a:rPr lang="en-US" sz="1800" b="1" dirty="0" smtClean="0">
                <a:solidFill>
                  <a:schemeClr val="tx2"/>
                </a:solidFill>
                <a:latin typeface="Courier New"/>
                <a:cs typeface="Courier New"/>
              </a:rPr>
            </a:br>
            <a:r>
              <a:rPr lang="en-US" sz="1800" b="1" dirty="0" smtClean="0">
                <a:solidFill>
                  <a:schemeClr val="tx2"/>
                </a:solidFill>
                <a:latin typeface="Calibri" pitchFamily="34" charset="0"/>
              </a:rPr>
              <a:t>Return </a:t>
            </a:r>
            <a:r>
              <a:rPr lang="en-US" sz="1800" b="1" dirty="0">
                <a:solidFill>
                  <a:schemeClr val="tx2"/>
                </a:solidFill>
                <a:latin typeface="Calibri" pitchFamily="34" charset="0"/>
              </a:rPr>
              <a:t>process group of current process</a:t>
            </a:r>
          </a:p>
          <a:p>
            <a:pPr algn="l" eaLnBrk="1" hangingPunct="1">
              <a:lnSpc>
                <a:spcPct val="95000"/>
              </a:lnSpc>
              <a:spcBef>
                <a:spcPct val="50000"/>
              </a:spcBef>
              <a:buClr>
                <a:schemeClr val="hlink"/>
              </a:buClr>
              <a:buFont typeface="Wingdings" pitchFamily="2" charset="2"/>
              <a:buNone/>
            </a:pPr>
            <a:r>
              <a:rPr lang="en-US" sz="1800" b="1" dirty="0" err="1">
                <a:solidFill>
                  <a:schemeClr val="tx2"/>
                </a:solidFill>
                <a:latin typeface="Courier New" pitchFamily="49" charset="0"/>
              </a:rPr>
              <a:t>setpgid</a:t>
            </a:r>
            <a:r>
              <a:rPr lang="en-US" sz="1800" b="1" dirty="0" smtClean="0">
                <a:solidFill>
                  <a:schemeClr val="tx2"/>
                </a:solidFill>
                <a:latin typeface="Courier New" pitchFamily="49" charset="0"/>
              </a:rPr>
              <a:t>()</a:t>
            </a:r>
            <a:br>
              <a:rPr lang="en-US" sz="1800" b="1" dirty="0" smtClean="0">
                <a:solidFill>
                  <a:schemeClr val="tx2"/>
                </a:solidFill>
                <a:latin typeface="Courier New" pitchFamily="49" charset="0"/>
              </a:rPr>
            </a:br>
            <a:r>
              <a:rPr lang="en-US" sz="1800" b="1" dirty="0" smtClean="0">
                <a:solidFill>
                  <a:schemeClr val="tx2"/>
                </a:solidFill>
                <a:latin typeface="Calibri" pitchFamily="34" charset="0"/>
              </a:rPr>
              <a:t>Change </a:t>
            </a:r>
            <a:r>
              <a:rPr lang="en-US" sz="1800" b="1" dirty="0">
                <a:solidFill>
                  <a:schemeClr val="tx2"/>
                </a:solidFill>
                <a:latin typeface="Calibri" pitchFamily="34" charset="0"/>
              </a:rPr>
              <a:t>process group of a </a:t>
            </a:r>
            <a:r>
              <a:rPr lang="en-US" sz="1800" b="1" dirty="0" smtClean="0">
                <a:solidFill>
                  <a:schemeClr val="tx2"/>
                </a:solidFill>
                <a:latin typeface="Calibri" pitchFamily="34" charset="0"/>
              </a:rPr>
              <a:t>process (see text for details)</a:t>
            </a:r>
            <a:endParaRPr lang="en-US" sz="1800" b="1" dirty="0">
              <a:solidFill>
                <a:schemeClr val="tx2"/>
              </a:solidFill>
              <a:latin typeface="Courier New" pitchFamily="49" charset="0"/>
            </a:endParaRPr>
          </a:p>
        </p:txBody>
      </p:sp>
    </p:spTree>
    <p:extLst>
      <p:ext uri="{BB962C8B-B14F-4D97-AF65-F5344CB8AC3E}">
        <p14:creationId xmlns:p14="http://schemas.microsoft.com/office/powerpoint/2010/main" val="2246907005"/>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1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6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a:xfrm>
            <a:off x="357018" y="435678"/>
            <a:ext cx="8786982" cy="762000"/>
          </a:xfrm>
        </p:spPr>
        <p:txBody>
          <a:bodyPr/>
          <a:lstStyle/>
          <a:p>
            <a:r>
              <a:rPr lang="en-US" dirty="0"/>
              <a:t>Sending Signals with</a:t>
            </a:r>
            <a:r>
              <a:rPr lang="en-US" dirty="0" smtClean="0"/>
              <a:t> </a:t>
            </a:r>
            <a:r>
              <a:rPr lang="en-US" dirty="0" smtClean="0">
                <a:latin typeface="Courier New"/>
                <a:cs typeface="Courier New"/>
              </a:rPr>
              <a:t>/bin/kill </a:t>
            </a:r>
            <a:r>
              <a:rPr lang="en-US" dirty="0"/>
              <a:t>Program</a:t>
            </a:r>
          </a:p>
        </p:txBody>
      </p:sp>
      <p:sp>
        <p:nvSpPr>
          <p:cNvPr id="553987" name="Rectangle 3"/>
          <p:cNvSpPr>
            <a:spLocks noGrp="1" noChangeArrowheads="1"/>
          </p:cNvSpPr>
          <p:nvPr>
            <p:ph type="body" idx="1"/>
          </p:nvPr>
        </p:nvSpPr>
        <p:spPr>
          <a:xfrm>
            <a:off x="290513" y="1220788"/>
            <a:ext cx="3900487" cy="5224462"/>
          </a:xfrm>
        </p:spPr>
        <p:txBody>
          <a:bodyPr/>
          <a:lstStyle/>
          <a:p>
            <a:pPr marL="282575" indent="-282575"/>
            <a:r>
              <a:rPr lang="en-US" dirty="0" smtClean="0">
                <a:latin typeface="Courier New" pitchFamily="49" charset="0"/>
              </a:rPr>
              <a:t>/bin/kill </a:t>
            </a:r>
            <a:r>
              <a:rPr lang="en-US" dirty="0"/>
              <a:t>program sends arbitrary signal to a process or process group</a:t>
            </a:r>
          </a:p>
          <a:p>
            <a:pPr marL="282575" lvl="1" indent="-282575"/>
            <a:endParaRPr lang="en-US" dirty="0">
              <a:latin typeface="Courier New" pitchFamily="49" charset="0"/>
            </a:endParaRPr>
          </a:p>
          <a:p>
            <a:pPr marL="282575" indent="-282575"/>
            <a:r>
              <a:rPr lang="en-US" dirty="0"/>
              <a:t>Examples</a:t>
            </a:r>
            <a:endParaRPr lang="en-US" dirty="0" smtClean="0"/>
          </a:p>
          <a:p>
            <a:pPr lvl="1"/>
            <a:r>
              <a:rPr lang="en-US" b="1" dirty="0" smtClean="0">
                <a:latin typeface="Courier New" pitchFamily="49" charset="0"/>
              </a:rPr>
              <a:t>/bin/kill </a:t>
            </a:r>
            <a:r>
              <a:rPr lang="en-US" b="1" dirty="0">
                <a:latin typeface="Courier New" pitchFamily="49" charset="0"/>
              </a:rPr>
              <a:t>–9 </a:t>
            </a:r>
            <a:r>
              <a:rPr lang="en-US" b="1" dirty="0" smtClean="0">
                <a:latin typeface="Courier New" pitchFamily="49" charset="0"/>
              </a:rPr>
              <a:t>24818</a:t>
            </a:r>
            <a:br>
              <a:rPr lang="en-US" b="1" dirty="0" smtClean="0">
                <a:latin typeface="Courier New" pitchFamily="49" charset="0"/>
              </a:rPr>
            </a:br>
            <a:r>
              <a:rPr lang="en-US" sz="1800" dirty="0" smtClean="0">
                <a:ea typeface="+mn-ea"/>
                <a:cs typeface="+mn-cs"/>
              </a:rPr>
              <a:t>Send </a:t>
            </a:r>
            <a:r>
              <a:rPr lang="en-US" sz="1800" dirty="0">
                <a:ea typeface="+mn-ea"/>
                <a:cs typeface="+mn-cs"/>
              </a:rPr>
              <a:t>SIGKILL to process 24818</a:t>
            </a:r>
          </a:p>
          <a:p>
            <a:pPr lvl="1"/>
            <a:endParaRPr lang="en-US" b="1" dirty="0" smtClean="0">
              <a:latin typeface="Courier New" pitchFamily="49" charset="0"/>
            </a:endParaRPr>
          </a:p>
          <a:p>
            <a:pPr lvl="1"/>
            <a:r>
              <a:rPr lang="en-US" b="1" dirty="0" smtClean="0">
                <a:latin typeface="Courier New" pitchFamily="49" charset="0"/>
              </a:rPr>
              <a:t>/bin/kill </a:t>
            </a:r>
            <a:r>
              <a:rPr lang="en-US" b="1" dirty="0">
                <a:latin typeface="Courier New" pitchFamily="49" charset="0"/>
              </a:rPr>
              <a:t>–9 –</a:t>
            </a:r>
            <a:r>
              <a:rPr lang="en-US" b="1" dirty="0" smtClean="0">
                <a:latin typeface="Courier New" pitchFamily="49" charset="0"/>
              </a:rPr>
              <a:t>24817</a:t>
            </a:r>
            <a:br>
              <a:rPr lang="en-US" b="1" dirty="0" smtClean="0">
                <a:latin typeface="Courier New" pitchFamily="49" charset="0"/>
              </a:rPr>
            </a:br>
            <a:r>
              <a:rPr lang="en-US" sz="1800" dirty="0" smtClean="0">
                <a:ea typeface="+mn-ea"/>
                <a:cs typeface="+mn-cs"/>
              </a:rPr>
              <a:t>Send </a:t>
            </a:r>
            <a:r>
              <a:rPr lang="en-US" sz="1800" dirty="0">
                <a:ea typeface="+mn-ea"/>
                <a:cs typeface="+mn-cs"/>
              </a:rPr>
              <a:t>SIGKILL to every process in process group </a:t>
            </a:r>
            <a:r>
              <a:rPr lang="en-US" sz="1800" dirty="0" smtClean="0">
                <a:ea typeface="+mn-ea"/>
                <a:cs typeface="+mn-cs"/>
              </a:rPr>
              <a:t>24817</a:t>
            </a:r>
            <a:endParaRPr lang="en-US" sz="1800" dirty="0">
              <a:ea typeface="+mn-ea"/>
              <a:cs typeface="+mn-cs"/>
            </a:endParaRPr>
          </a:p>
        </p:txBody>
      </p:sp>
      <p:sp>
        <p:nvSpPr>
          <p:cNvPr id="553991" name="Text Box 7"/>
          <p:cNvSpPr txBox="1">
            <a:spLocks noChangeArrowheads="1"/>
          </p:cNvSpPr>
          <p:nvPr/>
        </p:nvSpPr>
        <p:spPr bwMode="auto">
          <a:xfrm>
            <a:off x="4191000" y="1682750"/>
            <a:ext cx="3878586" cy="4031873"/>
          </a:xfrm>
          <a:prstGeom prst="rect">
            <a:avLst/>
          </a:prstGeom>
          <a:solidFill>
            <a:schemeClr val="bg1">
              <a:lumMod val="85000"/>
            </a:schemeClr>
          </a:solidFill>
          <a:ln w="3175">
            <a:noFill/>
            <a:miter lim="800000"/>
            <a:headEnd/>
            <a:tailEnd/>
          </a:ln>
          <a:effectLst/>
        </p:spPr>
        <p:txBody>
          <a:bodyPr wrap="none">
            <a:spAutoFit/>
          </a:bodyPr>
          <a:lstStyle/>
          <a:p>
            <a:pPr algn="l">
              <a:lnSpc>
                <a:spcPct val="100000"/>
              </a:lnSpc>
            </a:pPr>
            <a:r>
              <a:rPr lang="en-US" sz="1600" b="1" dirty="0" err="1">
                <a:latin typeface="Courier New" pitchFamily="49" charset="0"/>
              </a:rPr>
              <a:t>linux</a:t>
            </a:r>
            <a:r>
              <a:rPr lang="en-US" sz="1600" b="1" dirty="0">
                <a:latin typeface="Courier New" pitchFamily="49" charset="0"/>
              </a:rPr>
              <a:t>&gt; ./forks 16 </a:t>
            </a:r>
            <a:endParaRPr lang="en-US" sz="1600" b="1" dirty="0" smtClean="0">
              <a:latin typeface="Courier New" pitchFamily="49" charset="0"/>
            </a:endParaRPr>
          </a:p>
          <a:p>
            <a:pPr algn="l">
              <a:lnSpc>
                <a:spcPct val="100000"/>
              </a:lnSpc>
            </a:pPr>
            <a:r>
              <a:rPr lang="en-US" sz="1600" b="1" dirty="0" smtClean="0">
                <a:latin typeface="Courier New" pitchFamily="49" charset="0"/>
              </a:rPr>
              <a:t>Child1</a:t>
            </a:r>
            <a:r>
              <a:rPr lang="en-US" sz="1600" b="1" dirty="0">
                <a:latin typeface="Courier New" pitchFamily="49" charset="0"/>
              </a:rPr>
              <a:t>: </a:t>
            </a:r>
            <a:r>
              <a:rPr lang="en-US" sz="1600" b="1" dirty="0" err="1">
                <a:latin typeface="Courier New" pitchFamily="49" charset="0"/>
              </a:rPr>
              <a:t>pid</a:t>
            </a:r>
            <a:r>
              <a:rPr lang="en-US" sz="1600" b="1" dirty="0">
                <a:latin typeface="Courier New" pitchFamily="49" charset="0"/>
              </a:rPr>
              <a:t>=24818 </a:t>
            </a:r>
            <a:r>
              <a:rPr lang="en-US" sz="1600" b="1" dirty="0" err="1">
                <a:latin typeface="Courier New" pitchFamily="49" charset="0"/>
              </a:rPr>
              <a:t>pgrp</a:t>
            </a:r>
            <a:r>
              <a:rPr lang="en-US" sz="1600" b="1" dirty="0">
                <a:latin typeface="Courier New" pitchFamily="49" charset="0"/>
              </a:rPr>
              <a:t>=24817 </a:t>
            </a:r>
          </a:p>
          <a:p>
            <a:pPr algn="l">
              <a:lnSpc>
                <a:spcPct val="100000"/>
              </a:lnSpc>
            </a:pPr>
            <a:r>
              <a:rPr lang="en-US" sz="1600" b="1" dirty="0">
                <a:latin typeface="Courier New" pitchFamily="49" charset="0"/>
              </a:rPr>
              <a:t>Child2: </a:t>
            </a:r>
            <a:r>
              <a:rPr lang="en-US" sz="1600" b="1" dirty="0" err="1">
                <a:latin typeface="Courier New" pitchFamily="49" charset="0"/>
              </a:rPr>
              <a:t>pid</a:t>
            </a:r>
            <a:r>
              <a:rPr lang="en-US" sz="1600" b="1" dirty="0">
                <a:latin typeface="Courier New" pitchFamily="49" charset="0"/>
              </a:rPr>
              <a:t>=24819 </a:t>
            </a:r>
            <a:r>
              <a:rPr lang="en-US" sz="1600" b="1" dirty="0" err="1">
                <a:latin typeface="Courier New" pitchFamily="49" charset="0"/>
              </a:rPr>
              <a:t>pgrp</a:t>
            </a:r>
            <a:r>
              <a:rPr lang="en-US" sz="1600" b="1" dirty="0">
                <a:latin typeface="Courier New" pitchFamily="49" charset="0"/>
              </a:rPr>
              <a:t>=24817 </a:t>
            </a:r>
          </a:p>
          <a:p>
            <a:pPr algn="l">
              <a:lnSpc>
                <a:spcPct val="100000"/>
              </a:lnSpc>
            </a:pP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a:latin typeface="Courier New" pitchFamily="49" charset="0"/>
              </a:rPr>
              <a:t>  PID TTY          TIME CMD </a:t>
            </a:r>
          </a:p>
          <a:p>
            <a:pPr algn="l">
              <a:lnSpc>
                <a:spcPct val="100000"/>
              </a:lnSpc>
            </a:pPr>
            <a:r>
              <a:rPr lang="en-US" sz="1600" b="1" dirty="0">
                <a:latin typeface="Courier New" pitchFamily="49" charset="0"/>
              </a:rPr>
              <a:t>24788 pts/2    00:00:00 </a:t>
            </a:r>
            <a:r>
              <a:rPr lang="en-US" sz="1600" b="1" dirty="0" err="1">
                <a:latin typeface="Courier New" pitchFamily="49" charset="0"/>
              </a:rPr>
              <a:t>tcsh</a:t>
            </a:r>
            <a:r>
              <a:rPr lang="en-US" sz="1600" b="1" dirty="0">
                <a:latin typeface="Courier New" pitchFamily="49" charset="0"/>
              </a:rPr>
              <a:t> </a:t>
            </a:r>
          </a:p>
          <a:p>
            <a:pPr algn="l">
              <a:lnSpc>
                <a:spcPct val="100000"/>
              </a:lnSpc>
            </a:pPr>
            <a:r>
              <a:rPr lang="en-US" sz="1600" b="1" dirty="0">
                <a:latin typeface="Courier New" pitchFamily="49" charset="0"/>
              </a:rPr>
              <a:t>24818 pts/2    00:00:02 forks </a:t>
            </a:r>
          </a:p>
          <a:p>
            <a:pPr algn="l">
              <a:lnSpc>
                <a:spcPct val="100000"/>
              </a:lnSpc>
            </a:pPr>
            <a:r>
              <a:rPr lang="en-US" sz="1600" b="1" dirty="0">
                <a:latin typeface="Courier New" pitchFamily="49" charset="0"/>
              </a:rPr>
              <a:t>24819 pts/2    00:00:02 forks </a:t>
            </a:r>
          </a:p>
          <a:p>
            <a:pPr algn="l">
              <a:lnSpc>
                <a:spcPct val="100000"/>
              </a:lnSpc>
            </a:pPr>
            <a:r>
              <a:rPr lang="en-US" sz="1600" b="1" dirty="0">
                <a:latin typeface="Courier New" pitchFamily="49" charset="0"/>
              </a:rPr>
              <a:t>24820 pts/2    00:00:00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a:t>
            </a:r>
            <a:r>
              <a:rPr lang="en-US" sz="1600" b="1" dirty="0" smtClean="0">
                <a:latin typeface="Courier New" pitchFamily="49" charset="0"/>
              </a:rPr>
              <a:t> /bin/kill </a:t>
            </a:r>
            <a:r>
              <a:rPr lang="en-US" sz="1600" b="1" dirty="0">
                <a:latin typeface="Courier New" pitchFamily="49" charset="0"/>
              </a:rPr>
              <a:t>-9 -24817 </a:t>
            </a:r>
          </a:p>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a:latin typeface="Courier New" pitchFamily="49" charset="0"/>
              </a:rPr>
              <a:t>  PID TTY          TIME CMD </a:t>
            </a:r>
          </a:p>
          <a:p>
            <a:pPr algn="l">
              <a:lnSpc>
                <a:spcPct val="100000"/>
              </a:lnSpc>
            </a:pPr>
            <a:r>
              <a:rPr lang="en-US" sz="1600" b="1" dirty="0">
                <a:latin typeface="Courier New" pitchFamily="49" charset="0"/>
              </a:rPr>
              <a:t>24788 pts/2    00:00:00 </a:t>
            </a:r>
            <a:r>
              <a:rPr lang="en-US" sz="1600" b="1" dirty="0" err="1">
                <a:latin typeface="Courier New" pitchFamily="49" charset="0"/>
              </a:rPr>
              <a:t>tcsh</a:t>
            </a:r>
            <a:r>
              <a:rPr lang="en-US" sz="1600" b="1" dirty="0">
                <a:latin typeface="Courier New" pitchFamily="49" charset="0"/>
              </a:rPr>
              <a:t> </a:t>
            </a:r>
          </a:p>
          <a:p>
            <a:pPr algn="l">
              <a:lnSpc>
                <a:spcPct val="100000"/>
              </a:lnSpc>
            </a:pPr>
            <a:r>
              <a:rPr lang="en-US" sz="1600" b="1" dirty="0">
                <a:latin typeface="Courier New" pitchFamily="49" charset="0"/>
              </a:rPr>
              <a:t>24823 pts/2    00:00:00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 </a:t>
            </a:r>
          </a:p>
        </p:txBody>
      </p:sp>
      <p:sp>
        <p:nvSpPr>
          <p:cNvPr id="553992" name="Rectangle 8"/>
          <p:cNvSpPr>
            <a:spLocks noChangeArrowheads="1"/>
          </p:cNvSpPr>
          <p:nvPr/>
        </p:nvSpPr>
        <p:spPr bwMode="auto">
          <a:xfrm>
            <a:off x="4191000" y="3429000"/>
            <a:ext cx="3733800" cy="266700"/>
          </a:xfrm>
          <a:prstGeom prst="rect">
            <a:avLst/>
          </a:prstGeom>
          <a:noFill/>
          <a:ln w="28575">
            <a:solidFill>
              <a:srgbClr val="C00000"/>
            </a:solidFill>
            <a:miter lim="800000"/>
            <a:headEnd/>
            <a:tailEnd/>
          </a:ln>
          <a:effectLst/>
        </p:spPr>
        <p:txBody>
          <a:bodyPr wrap="none" lIns="45720" rIns="45720" anchor="ctr"/>
          <a:lstStyle/>
          <a:p>
            <a:endParaRPr lang="en-US" dirty="0">
              <a:latin typeface="Calibri" pitchFamily="34" charset="0"/>
            </a:endParaRPr>
          </a:p>
        </p:txBody>
      </p:sp>
      <p:sp>
        <p:nvSpPr>
          <p:cNvPr id="553995" name="Rectangle 11"/>
          <p:cNvSpPr>
            <a:spLocks noChangeArrowheads="1"/>
          </p:cNvSpPr>
          <p:nvPr/>
        </p:nvSpPr>
        <p:spPr bwMode="auto">
          <a:xfrm>
            <a:off x="4191000" y="3429000"/>
            <a:ext cx="3733800" cy="504825"/>
          </a:xfrm>
          <a:prstGeom prst="rect">
            <a:avLst/>
          </a:prstGeom>
          <a:noFill/>
          <a:ln w="28575">
            <a:solidFill>
              <a:srgbClr val="C00000"/>
            </a:solidFill>
            <a:miter lim="800000"/>
            <a:headEnd/>
            <a:tailEnd/>
          </a:ln>
          <a:effectLst/>
        </p:spPr>
        <p:txBody>
          <a:bodyPr wrap="none" lIns="45720" rIns="45720" anchor="ctr"/>
          <a:lstStyle/>
          <a:p>
            <a:endParaRPr lang="en-US" dirty="0">
              <a:latin typeface="Calibri" pitchFamily="34" charset="0"/>
            </a:endParaRPr>
          </a:p>
        </p:txBody>
      </p:sp>
    </p:spTree>
    <p:extLst>
      <p:ext uri="{BB962C8B-B14F-4D97-AF65-F5344CB8AC3E}">
        <p14:creationId xmlns:p14="http://schemas.microsoft.com/office/powerpoint/2010/main" val="4062003220"/>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98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399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553992"/>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53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2" grpId="0" animBg="1"/>
      <p:bldP spid="553992" grpId="1" animBg="1"/>
      <p:bldP spid="55399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en-US"/>
              <a:t>Sending Signals from the Keyboard</a:t>
            </a:r>
          </a:p>
        </p:txBody>
      </p:sp>
      <p:sp>
        <p:nvSpPr>
          <p:cNvPr id="555011" name="Rectangle 3"/>
          <p:cNvSpPr>
            <a:spLocks noGrp="1" noChangeArrowheads="1"/>
          </p:cNvSpPr>
          <p:nvPr>
            <p:ph type="body" idx="1"/>
          </p:nvPr>
        </p:nvSpPr>
        <p:spPr>
          <a:xfrm>
            <a:off x="290513" y="1220788"/>
            <a:ext cx="8307387" cy="1293812"/>
          </a:xfrm>
        </p:spPr>
        <p:txBody>
          <a:bodyPr/>
          <a:lstStyle/>
          <a:p>
            <a:pPr>
              <a:lnSpc>
                <a:spcPct val="85000"/>
              </a:lnSpc>
            </a:pPr>
            <a:r>
              <a:rPr lang="en-US" sz="2000" dirty="0"/>
              <a:t>Typing ctrl-c (ctrl-z) </a:t>
            </a:r>
            <a:r>
              <a:rPr lang="en-US" sz="2000" dirty="0" smtClean="0"/>
              <a:t>causes the kernel to send </a:t>
            </a:r>
            <a:r>
              <a:rPr lang="en-US" sz="2000" dirty="0"/>
              <a:t>a SIGINT (SIGTSTP) to every job in the foreground process group.</a:t>
            </a:r>
          </a:p>
          <a:p>
            <a:pPr lvl="1">
              <a:lnSpc>
                <a:spcPct val="90000"/>
              </a:lnSpc>
            </a:pPr>
            <a:r>
              <a:rPr lang="en-US" sz="1800" dirty="0"/>
              <a:t>SIGINT – default action is to terminate each process </a:t>
            </a:r>
          </a:p>
          <a:p>
            <a:pPr lvl="1">
              <a:lnSpc>
                <a:spcPct val="90000"/>
              </a:lnSpc>
            </a:pPr>
            <a:r>
              <a:rPr lang="en-US" sz="1800" dirty="0"/>
              <a:t>SIGTSTP – default action is to stop (suspend) each process</a:t>
            </a:r>
          </a:p>
        </p:txBody>
      </p:sp>
      <p:sp>
        <p:nvSpPr>
          <p:cNvPr id="27" name="Rectangle 26"/>
          <p:cNvSpPr/>
          <p:nvPr/>
        </p:nvSpPr>
        <p:spPr bwMode="auto">
          <a:xfrm>
            <a:off x="6096000" y="368978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8" name="Rectangle 27"/>
          <p:cNvSpPr/>
          <p:nvPr/>
        </p:nvSpPr>
        <p:spPr bwMode="auto">
          <a:xfrm>
            <a:off x="3810000" y="3681196"/>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9" name="Rectangle 28"/>
          <p:cNvSpPr/>
          <p:nvPr/>
        </p:nvSpPr>
        <p:spPr bwMode="auto">
          <a:xfrm>
            <a:off x="1084497" y="3681196"/>
            <a:ext cx="2514600" cy="3099375"/>
          </a:xfrm>
          <a:prstGeom prst="rect">
            <a:avLst/>
          </a:prstGeom>
          <a:solidFill>
            <a:srgbClr val="F1C7C7"/>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30" name="Oval 4"/>
          <p:cNvSpPr>
            <a:spLocks noChangeAspect="1" noChangeArrowheads="1"/>
          </p:cNvSpPr>
          <p:nvPr/>
        </p:nvSpPr>
        <p:spPr bwMode="auto">
          <a:xfrm>
            <a:off x="1898650" y="3762375"/>
            <a:ext cx="982663"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Fore-</a:t>
            </a:r>
          </a:p>
          <a:p>
            <a:pPr algn="ctr"/>
            <a:r>
              <a:rPr lang="en-US" sz="1600" dirty="0">
                <a:latin typeface="Calibri" pitchFamily="34" charset="0"/>
              </a:rPr>
              <a:t>ground</a:t>
            </a:r>
          </a:p>
          <a:p>
            <a:pPr algn="ctr"/>
            <a:r>
              <a:rPr lang="en-US" sz="1600" dirty="0">
                <a:latin typeface="Calibri" pitchFamily="34" charset="0"/>
              </a:rPr>
              <a:t>job</a:t>
            </a:r>
          </a:p>
        </p:txBody>
      </p:sp>
      <p:sp>
        <p:nvSpPr>
          <p:cNvPr id="31" name="Oval 5"/>
          <p:cNvSpPr>
            <a:spLocks noChangeAspect="1" noChangeArrowheads="1"/>
          </p:cNvSpPr>
          <p:nvPr/>
        </p:nvSpPr>
        <p:spPr bwMode="auto">
          <a:xfrm>
            <a:off x="4094163" y="3762375"/>
            <a:ext cx="982662" cy="863600"/>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Back-</a:t>
            </a:r>
          </a:p>
          <a:p>
            <a:pPr algn="ctr">
              <a:lnSpc>
                <a:spcPct val="100000"/>
              </a:lnSpc>
            </a:pPr>
            <a:r>
              <a:rPr lang="en-US" sz="1600" dirty="0">
                <a:latin typeface="Calibri" pitchFamily="34" charset="0"/>
              </a:rPr>
              <a:t>ground</a:t>
            </a:r>
          </a:p>
          <a:p>
            <a:pPr algn="ctr">
              <a:lnSpc>
                <a:spcPct val="100000"/>
              </a:lnSpc>
            </a:pPr>
            <a:r>
              <a:rPr lang="en-US" sz="1600" dirty="0">
                <a:latin typeface="Calibri" pitchFamily="34" charset="0"/>
              </a:rPr>
              <a:t>job #1</a:t>
            </a:r>
          </a:p>
        </p:txBody>
      </p:sp>
      <p:sp>
        <p:nvSpPr>
          <p:cNvPr id="32" name="Oval 6"/>
          <p:cNvSpPr>
            <a:spLocks noChangeAspect="1" noChangeArrowheads="1"/>
          </p:cNvSpPr>
          <p:nvPr/>
        </p:nvSpPr>
        <p:spPr bwMode="auto">
          <a:xfrm>
            <a:off x="6248400" y="3762375"/>
            <a:ext cx="984250"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Back-</a:t>
            </a:r>
          </a:p>
          <a:p>
            <a:pPr algn="ctr"/>
            <a:r>
              <a:rPr lang="en-US" sz="1600" dirty="0">
                <a:latin typeface="Calibri" pitchFamily="34" charset="0"/>
              </a:rPr>
              <a:t>ground</a:t>
            </a:r>
          </a:p>
          <a:p>
            <a:pPr algn="ctr"/>
            <a:r>
              <a:rPr lang="en-US" sz="1600" dirty="0">
                <a:latin typeface="Calibri" pitchFamily="34" charset="0"/>
              </a:rPr>
              <a:t>job #2</a:t>
            </a:r>
          </a:p>
        </p:txBody>
      </p:sp>
      <p:sp>
        <p:nvSpPr>
          <p:cNvPr id="33" name="Oval 7"/>
          <p:cNvSpPr>
            <a:spLocks noChangeAspect="1" noChangeArrowheads="1"/>
          </p:cNvSpPr>
          <p:nvPr/>
        </p:nvSpPr>
        <p:spPr bwMode="auto">
          <a:xfrm>
            <a:off x="4098925" y="2438400"/>
            <a:ext cx="984250" cy="776288"/>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b="1" dirty="0">
                <a:latin typeface="Calibri" pitchFamily="34" charset="0"/>
              </a:rPr>
              <a:t>Shell</a:t>
            </a:r>
          </a:p>
        </p:txBody>
      </p:sp>
      <p:sp>
        <p:nvSpPr>
          <p:cNvPr id="34" name="Oval 8"/>
          <p:cNvSpPr>
            <a:spLocks noChangeAspect="1" noChangeArrowheads="1"/>
          </p:cNvSpPr>
          <p:nvPr/>
        </p:nvSpPr>
        <p:spPr bwMode="auto">
          <a:xfrm>
            <a:off x="1339850" y="49482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Child</a:t>
            </a:r>
          </a:p>
        </p:txBody>
      </p:sp>
      <p:sp>
        <p:nvSpPr>
          <p:cNvPr id="35" name="Oval 9"/>
          <p:cNvSpPr>
            <a:spLocks noChangeAspect="1" noChangeArrowheads="1"/>
          </p:cNvSpPr>
          <p:nvPr/>
        </p:nvSpPr>
        <p:spPr bwMode="auto">
          <a:xfrm>
            <a:off x="2465388" y="49482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Child</a:t>
            </a:r>
          </a:p>
        </p:txBody>
      </p:sp>
      <p:sp>
        <p:nvSpPr>
          <p:cNvPr id="36" name="Line 10"/>
          <p:cNvSpPr>
            <a:spLocks noChangeAspect="1" noChangeShapeType="1"/>
          </p:cNvSpPr>
          <p:nvPr/>
        </p:nvSpPr>
        <p:spPr bwMode="auto">
          <a:xfrm flipH="1">
            <a:off x="1906588" y="4584700"/>
            <a:ext cx="182562" cy="3698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37" name="Line 11"/>
          <p:cNvSpPr>
            <a:spLocks noChangeAspect="1" noChangeShapeType="1"/>
          </p:cNvSpPr>
          <p:nvPr/>
        </p:nvSpPr>
        <p:spPr bwMode="auto">
          <a:xfrm>
            <a:off x="2686050" y="4581525"/>
            <a:ext cx="163513" cy="361950"/>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38" name="Line 12"/>
          <p:cNvSpPr>
            <a:spLocks noChangeAspect="1" noChangeShapeType="1"/>
          </p:cNvSpPr>
          <p:nvPr/>
        </p:nvSpPr>
        <p:spPr bwMode="auto">
          <a:xfrm>
            <a:off x="4594225" y="3200400"/>
            <a:ext cx="0" cy="557213"/>
          </a:xfrm>
          <a:prstGeom prst="line">
            <a:avLst/>
          </a:prstGeom>
          <a:noFill/>
          <a:ln w="12700">
            <a:solidFill>
              <a:schemeClr val="tx1"/>
            </a:solidFill>
            <a:round/>
            <a:headEnd/>
            <a:tailEnd/>
          </a:ln>
          <a:effectLst/>
        </p:spPr>
        <p:txBody>
          <a:bodyPr wrap="none" anchor="ctr">
            <a:spAutoFit/>
          </a:bodyPr>
          <a:lstStyle/>
          <a:p>
            <a:endParaRPr lang="en-US" dirty="0">
              <a:latin typeface="Calibri" pitchFamily="34" charset="0"/>
            </a:endParaRPr>
          </a:p>
        </p:txBody>
      </p:sp>
      <p:sp>
        <p:nvSpPr>
          <p:cNvPr id="39" name="Line 13"/>
          <p:cNvSpPr>
            <a:spLocks noChangeAspect="1" noChangeShapeType="1"/>
          </p:cNvSpPr>
          <p:nvPr/>
        </p:nvSpPr>
        <p:spPr bwMode="auto">
          <a:xfrm flipH="1">
            <a:off x="2768600" y="3108325"/>
            <a:ext cx="1481138" cy="8016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40" name="Line 14"/>
          <p:cNvSpPr>
            <a:spLocks noChangeAspect="1" noChangeShapeType="1"/>
          </p:cNvSpPr>
          <p:nvPr/>
        </p:nvSpPr>
        <p:spPr bwMode="auto">
          <a:xfrm>
            <a:off x="4968875" y="3068638"/>
            <a:ext cx="1412875" cy="833437"/>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41" name="Text Box 15"/>
          <p:cNvSpPr txBox="1">
            <a:spLocks noChangeAspect="1" noChangeArrowheads="1"/>
          </p:cNvSpPr>
          <p:nvPr/>
        </p:nvSpPr>
        <p:spPr bwMode="auto">
          <a:xfrm>
            <a:off x="3297238" y="26035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pid=10</a:t>
            </a:r>
          </a:p>
          <a:p>
            <a:pPr algn="r">
              <a:lnSpc>
                <a:spcPct val="100000"/>
              </a:lnSpc>
            </a:pPr>
            <a:r>
              <a:rPr lang="en-US" sz="1200" b="1">
                <a:latin typeface="Courier New" pitchFamily="49" charset="0"/>
              </a:rPr>
              <a:t>pgid=10</a:t>
            </a:r>
          </a:p>
        </p:txBody>
      </p:sp>
      <p:sp>
        <p:nvSpPr>
          <p:cNvPr id="42" name="Text Box 17"/>
          <p:cNvSpPr txBox="1">
            <a:spLocks noChangeAspect="1" noChangeArrowheads="1"/>
          </p:cNvSpPr>
          <p:nvPr/>
        </p:nvSpPr>
        <p:spPr bwMode="auto">
          <a:xfrm>
            <a:off x="1084498" y="6197025"/>
            <a:ext cx="1765066" cy="584775"/>
          </a:xfrm>
          <a:prstGeom prst="rect">
            <a:avLst/>
          </a:prstGeom>
          <a:noFill/>
          <a:ln w="12700">
            <a:noFill/>
            <a:miter lim="800000"/>
            <a:headEnd/>
            <a:tailEnd/>
          </a:ln>
          <a:effectLst/>
        </p:spPr>
        <p:txBody>
          <a:bodyPr wrap="square" anchor="ctr">
            <a:spAutoFit/>
          </a:bodyPr>
          <a:lstStyle/>
          <a:p>
            <a:pPr>
              <a:lnSpc>
                <a:spcPct val="100000"/>
              </a:lnSpc>
            </a:pPr>
            <a:r>
              <a:rPr lang="en-US" sz="1600" b="1" i="1" dirty="0" smtClean="0">
                <a:solidFill>
                  <a:srgbClr val="C00000"/>
                </a:solidFill>
                <a:latin typeface="Calibri" pitchFamily="34" charset="0"/>
              </a:rPr>
              <a:t>Foreground </a:t>
            </a:r>
          </a:p>
          <a:p>
            <a:pPr>
              <a:lnSpc>
                <a:spcPct val="100000"/>
              </a:lnSpc>
            </a:pPr>
            <a:r>
              <a:rPr lang="en-US" sz="1600" b="1" i="1" dirty="0" smtClean="0">
                <a:solidFill>
                  <a:srgbClr val="C00000"/>
                </a:solidFill>
                <a:latin typeface="Calibri" pitchFamily="34" charset="0"/>
              </a:rPr>
              <a:t>process </a:t>
            </a:r>
            <a:r>
              <a:rPr lang="en-US" sz="1600" b="1" i="1" dirty="0">
                <a:solidFill>
                  <a:srgbClr val="C00000"/>
                </a:solidFill>
                <a:latin typeface="Calibri" pitchFamily="34" charset="0"/>
              </a:rPr>
              <a:t>group 20</a:t>
            </a:r>
          </a:p>
        </p:txBody>
      </p:sp>
      <p:sp>
        <p:nvSpPr>
          <p:cNvPr id="43" name="Text Box 19"/>
          <p:cNvSpPr txBox="1">
            <a:spLocks noChangeAspect="1" noChangeArrowheads="1"/>
          </p:cNvSpPr>
          <p:nvPr/>
        </p:nvSpPr>
        <p:spPr bwMode="auto">
          <a:xfrm>
            <a:off x="3810000" y="4724400"/>
            <a:ext cx="1629100" cy="584775"/>
          </a:xfrm>
          <a:prstGeom prst="rect">
            <a:avLst/>
          </a:prstGeom>
          <a:noFill/>
          <a:ln w="12700">
            <a:noFill/>
            <a:miter lim="800000"/>
            <a:headEnd/>
            <a:tailEnd/>
          </a:ln>
          <a:effectLst/>
        </p:spPr>
        <p:txBody>
          <a:bodyPr wrap="none" anchor="ctr">
            <a:spAutoFit/>
          </a:bodyPr>
          <a:lstStyle/>
          <a:p>
            <a:r>
              <a:rPr lang="en-US" sz="1600" i="1" dirty="0" smtClean="0">
                <a:solidFill>
                  <a:schemeClr val="tx1">
                    <a:lumMod val="50000"/>
                    <a:lumOff val="50000"/>
                  </a:schemeClr>
                </a:solidFill>
                <a:latin typeface="Calibri" pitchFamily="34" charset="0"/>
              </a:rPr>
              <a:t>Background</a:t>
            </a:r>
          </a:p>
          <a:p>
            <a:r>
              <a:rPr lang="en-US" sz="1600" i="1" dirty="0" smtClean="0">
                <a:solidFill>
                  <a:schemeClr val="tx1">
                    <a:lumMod val="50000"/>
                    <a:lumOff val="50000"/>
                  </a:schemeClr>
                </a:solidFill>
                <a:latin typeface="Calibri" pitchFamily="34" charset="0"/>
              </a:rPr>
              <a:t>process group 32</a:t>
            </a:r>
          </a:p>
        </p:txBody>
      </p:sp>
      <p:sp>
        <p:nvSpPr>
          <p:cNvPr id="44" name="Text Box 20"/>
          <p:cNvSpPr txBox="1">
            <a:spLocks noChangeAspect="1" noChangeArrowheads="1"/>
          </p:cNvSpPr>
          <p:nvPr/>
        </p:nvSpPr>
        <p:spPr bwMode="auto">
          <a:xfrm>
            <a:off x="6096000" y="4749225"/>
            <a:ext cx="1629100" cy="584775"/>
          </a:xfrm>
          <a:prstGeom prst="rect">
            <a:avLst/>
          </a:prstGeom>
          <a:noFill/>
          <a:ln w="12700">
            <a:noFill/>
            <a:miter lim="800000"/>
            <a:headEnd/>
            <a:tailEnd/>
          </a:ln>
          <a:effectLst/>
        </p:spPr>
        <p:txBody>
          <a:bodyPr wrap="none" anchor="ctr">
            <a:spAutoFit/>
          </a:bodyPr>
          <a:lstStyle/>
          <a:p>
            <a:pPr>
              <a:lnSpc>
                <a:spcPct val="100000"/>
              </a:lnSpc>
            </a:pPr>
            <a:r>
              <a:rPr lang="en-US" sz="1600" b="1" i="1" dirty="0">
                <a:solidFill>
                  <a:schemeClr val="tx1">
                    <a:lumMod val="50000"/>
                    <a:lumOff val="50000"/>
                  </a:schemeClr>
                </a:solidFill>
                <a:latin typeface="Calibri" pitchFamily="34" charset="0"/>
              </a:rPr>
              <a:t>Background</a:t>
            </a:r>
          </a:p>
          <a:p>
            <a:pPr>
              <a:lnSpc>
                <a:spcPct val="100000"/>
              </a:lnSpc>
            </a:pPr>
            <a:r>
              <a:rPr lang="en-US" sz="1600" b="1" i="1" dirty="0">
                <a:solidFill>
                  <a:schemeClr val="tx1">
                    <a:lumMod val="50000"/>
                    <a:lumOff val="50000"/>
                  </a:schemeClr>
                </a:solidFill>
                <a:latin typeface="Calibri" pitchFamily="34" charset="0"/>
              </a:rPr>
              <a:t>process group 40</a:t>
            </a:r>
          </a:p>
        </p:txBody>
      </p:sp>
      <p:sp>
        <p:nvSpPr>
          <p:cNvPr id="45" name="Text Box 22"/>
          <p:cNvSpPr txBox="1">
            <a:spLocks noChangeAspect="1" noChangeArrowheads="1"/>
          </p:cNvSpPr>
          <p:nvPr/>
        </p:nvSpPr>
        <p:spPr bwMode="auto">
          <a:xfrm>
            <a:off x="1098550" y="38989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pid=20</a:t>
            </a:r>
          </a:p>
          <a:p>
            <a:pPr algn="r">
              <a:lnSpc>
                <a:spcPct val="100000"/>
              </a:lnSpc>
            </a:pPr>
            <a:r>
              <a:rPr lang="en-US" sz="1200" b="1">
                <a:latin typeface="Courier New" pitchFamily="49" charset="0"/>
              </a:rPr>
              <a:t>pgid=20</a:t>
            </a:r>
          </a:p>
        </p:txBody>
      </p:sp>
      <p:sp>
        <p:nvSpPr>
          <p:cNvPr id="46" name="Text Box 23"/>
          <p:cNvSpPr txBox="1">
            <a:spLocks noChangeAspect="1" noChangeArrowheads="1"/>
          </p:cNvSpPr>
          <p:nvPr/>
        </p:nvSpPr>
        <p:spPr bwMode="auto">
          <a:xfrm>
            <a:off x="5038725" y="3949700"/>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pid=32</a:t>
            </a:r>
          </a:p>
          <a:p>
            <a:pPr algn="l">
              <a:lnSpc>
                <a:spcPct val="100000"/>
              </a:lnSpc>
            </a:pPr>
            <a:r>
              <a:rPr lang="en-US" sz="1200" b="1">
                <a:latin typeface="Courier New" pitchFamily="49" charset="0"/>
              </a:rPr>
              <a:t>pgid=32</a:t>
            </a:r>
          </a:p>
        </p:txBody>
      </p:sp>
      <p:sp>
        <p:nvSpPr>
          <p:cNvPr id="47" name="Text Box 24"/>
          <p:cNvSpPr txBox="1">
            <a:spLocks noChangeAspect="1" noChangeArrowheads="1"/>
          </p:cNvSpPr>
          <p:nvPr/>
        </p:nvSpPr>
        <p:spPr bwMode="auto">
          <a:xfrm>
            <a:off x="7224929" y="3976688"/>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pid=40</a:t>
            </a:r>
          </a:p>
          <a:p>
            <a:pPr algn="l">
              <a:lnSpc>
                <a:spcPct val="100000"/>
              </a:lnSpc>
            </a:pPr>
            <a:r>
              <a:rPr lang="en-US" sz="1200" b="1">
                <a:latin typeface="Courier New" pitchFamily="49" charset="0"/>
              </a:rPr>
              <a:t>pgid=40</a:t>
            </a:r>
          </a:p>
        </p:txBody>
      </p:sp>
      <p:sp>
        <p:nvSpPr>
          <p:cNvPr id="48" name="Text Box 25"/>
          <p:cNvSpPr txBox="1">
            <a:spLocks noChangeAspect="1" noChangeArrowheads="1"/>
          </p:cNvSpPr>
          <p:nvPr/>
        </p:nvSpPr>
        <p:spPr bwMode="auto">
          <a:xfrm>
            <a:off x="1398588" y="57150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pid=21</a:t>
            </a:r>
          </a:p>
          <a:p>
            <a:pPr algn="r">
              <a:lnSpc>
                <a:spcPct val="100000"/>
              </a:lnSpc>
            </a:pPr>
            <a:r>
              <a:rPr lang="en-US" sz="1200" b="1">
                <a:latin typeface="Courier New" pitchFamily="49" charset="0"/>
              </a:rPr>
              <a:t>pgid=20</a:t>
            </a:r>
          </a:p>
        </p:txBody>
      </p:sp>
      <p:sp>
        <p:nvSpPr>
          <p:cNvPr id="49" name="Text Box 26"/>
          <p:cNvSpPr txBox="1">
            <a:spLocks noChangeAspect="1" noChangeArrowheads="1"/>
          </p:cNvSpPr>
          <p:nvPr/>
        </p:nvSpPr>
        <p:spPr bwMode="auto">
          <a:xfrm>
            <a:off x="2541588" y="57150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pid=22</a:t>
            </a:r>
          </a:p>
          <a:p>
            <a:pPr algn="r">
              <a:lnSpc>
                <a:spcPct val="100000"/>
              </a:lnSpc>
            </a:pPr>
            <a:r>
              <a:rPr lang="en-US" sz="1200" b="1">
                <a:latin typeface="Courier New" pitchFamily="49" charset="0"/>
              </a:rPr>
              <a:t>pgid=20</a:t>
            </a:r>
          </a:p>
        </p:txBody>
      </p:sp>
    </p:spTree>
    <p:extLst>
      <p:ext uri="{BB962C8B-B14F-4D97-AF65-F5344CB8AC3E}">
        <p14:creationId xmlns:p14="http://schemas.microsoft.com/office/powerpoint/2010/main" val="40702665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en-US"/>
              <a:t>Example of </a:t>
            </a:r>
            <a:r>
              <a:rPr lang="en-US">
                <a:latin typeface="Courier New" pitchFamily="49" charset="0"/>
              </a:rPr>
              <a:t>ctrl-c</a:t>
            </a:r>
            <a:r>
              <a:rPr lang="en-US"/>
              <a:t> and </a:t>
            </a:r>
            <a:r>
              <a:rPr lang="en-US">
                <a:latin typeface="Courier New" pitchFamily="49" charset="0"/>
              </a:rPr>
              <a:t>ctrl-z</a:t>
            </a:r>
          </a:p>
        </p:txBody>
      </p:sp>
      <p:sp>
        <p:nvSpPr>
          <p:cNvPr id="556039" name="Text Box 7"/>
          <p:cNvSpPr txBox="1">
            <a:spLocks noChangeArrowheads="1"/>
          </p:cNvSpPr>
          <p:nvPr/>
        </p:nvSpPr>
        <p:spPr bwMode="auto">
          <a:xfrm>
            <a:off x="152400" y="1295401"/>
            <a:ext cx="5334000" cy="4770537"/>
          </a:xfrm>
          <a:prstGeom prst="rect">
            <a:avLst/>
          </a:prstGeom>
          <a:solidFill>
            <a:schemeClr val="bg1">
              <a:lumMod val="85000"/>
            </a:schemeClr>
          </a:solidFill>
          <a:ln w="3175">
            <a:noFill/>
            <a:miter lim="800000"/>
            <a:headEnd/>
            <a:tailEnd/>
          </a:ln>
          <a:effectLst/>
        </p:spPr>
        <p:txBody>
          <a:bodyPr wrap="square">
            <a:spAutoFit/>
          </a:bodyPr>
          <a:lstStyle/>
          <a:p>
            <a:pPr algn="l"/>
            <a:r>
              <a:rPr lang="en-US" sz="1600" b="1" dirty="0">
                <a:latin typeface="Courier New" pitchFamily="49" charset="0"/>
              </a:rPr>
              <a:t>bluefish&gt; ./forks 17</a:t>
            </a:r>
          </a:p>
          <a:p>
            <a:pPr algn="l"/>
            <a:r>
              <a:rPr lang="en-US" sz="1600" b="1" dirty="0">
                <a:latin typeface="Courier New" pitchFamily="49" charset="0"/>
              </a:rPr>
              <a:t>Child: </a:t>
            </a:r>
            <a:r>
              <a:rPr lang="en-US" sz="1600" b="1" dirty="0" err="1">
                <a:latin typeface="Courier New" pitchFamily="49" charset="0"/>
              </a:rPr>
              <a:t>pid</a:t>
            </a:r>
            <a:r>
              <a:rPr lang="en-US" sz="1600" b="1" dirty="0">
                <a:latin typeface="Courier New" pitchFamily="49" charset="0"/>
              </a:rPr>
              <a:t>=28108 </a:t>
            </a:r>
            <a:r>
              <a:rPr lang="en-US" sz="1600" b="1" dirty="0" err="1">
                <a:latin typeface="Courier New" pitchFamily="49" charset="0"/>
              </a:rPr>
              <a:t>pgrp</a:t>
            </a:r>
            <a:r>
              <a:rPr lang="en-US" sz="1600" b="1" dirty="0">
                <a:latin typeface="Courier New" pitchFamily="49" charset="0"/>
              </a:rPr>
              <a:t>=28107</a:t>
            </a:r>
          </a:p>
          <a:p>
            <a:pPr algn="l"/>
            <a:r>
              <a:rPr lang="en-US" sz="1600" b="1" dirty="0">
                <a:latin typeface="Courier New" pitchFamily="49" charset="0"/>
              </a:rPr>
              <a:t>Parent: </a:t>
            </a:r>
            <a:r>
              <a:rPr lang="en-US" sz="1600" b="1" dirty="0" err="1">
                <a:latin typeface="Courier New" pitchFamily="49" charset="0"/>
              </a:rPr>
              <a:t>pid</a:t>
            </a:r>
            <a:r>
              <a:rPr lang="en-US" sz="1600" b="1" dirty="0">
                <a:latin typeface="Courier New" pitchFamily="49" charset="0"/>
              </a:rPr>
              <a:t>=28107 </a:t>
            </a:r>
            <a:r>
              <a:rPr lang="en-US" sz="1600" b="1" dirty="0" err="1">
                <a:latin typeface="Courier New" pitchFamily="49" charset="0"/>
              </a:rPr>
              <a:t>pgrp</a:t>
            </a:r>
            <a:r>
              <a:rPr lang="en-US" sz="1600" b="1" dirty="0">
                <a:latin typeface="Courier New" pitchFamily="49" charset="0"/>
              </a:rPr>
              <a:t>=28107</a:t>
            </a:r>
          </a:p>
          <a:p>
            <a:pPr algn="l"/>
            <a:r>
              <a:rPr lang="en-US" sz="1600" b="1" dirty="0">
                <a:latin typeface="Courier New" pitchFamily="49" charset="0"/>
              </a:rPr>
              <a:t>&lt;types ctrl-</a:t>
            </a:r>
            <a:r>
              <a:rPr lang="en-US" sz="1600" b="1" dirty="0" err="1">
                <a:latin typeface="Courier New" pitchFamily="49" charset="0"/>
              </a:rPr>
              <a:t>z</a:t>
            </a:r>
            <a:r>
              <a:rPr lang="en-US" sz="1600" b="1" dirty="0">
                <a:latin typeface="Courier New" pitchFamily="49" charset="0"/>
              </a:rPr>
              <a:t>&gt;</a:t>
            </a:r>
          </a:p>
          <a:p>
            <a:pPr algn="l"/>
            <a:r>
              <a:rPr lang="en-US" sz="1600" b="1" dirty="0">
                <a:latin typeface="Courier New" pitchFamily="49" charset="0"/>
              </a:rPr>
              <a:t>Suspended</a:t>
            </a:r>
          </a:p>
          <a:p>
            <a:pPr algn="l"/>
            <a:r>
              <a:rPr lang="en-US" sz="1600" b="1" dirty="0">
                <a:latin typeface="Courier New" pitchFamily="49" charset="0"/>
              </a:rPr>
              <a:t>bluefish&gt;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  PID TTY      STAT   TIME COMMAND</a:t>
            </a:r>
          </a:p>
          <a:p>
            <a:pPr algn="l"/>
            <a:r>
              <a:rPr lang="en-US" sz="1600" b="1" dirty="0">
                <a:latin typeface="Courier New" pitchFamily="49" charset="0"/>
              </a:rPr>
              <a:t>27699 pts/8    Ss     0:00 -</a:t>
            </a:r>
            <a:r>
              <a:rPr lang="en-US" sz="1600" b="1" dirty="0" err="1">
                <a:latin typeface="Courier New" pitchFamily="49" charset="0"/>
              </a:rPr>
              <a:t>tcsh</a:t>
            </a:r>
            <a:endParaRPr lang="en-US" sz="1600" b="1" dirty="0">
              <a:latin typeface="Courier New" pitchFamily="49" charset="0"/>
            </a:endParaRPr>
          </a:p>
          <a:p>
            <a:pPr algn="l"/>
            <a:r>
              <a:rPr lang="en-US" sz="1600" b="1" dirty="0">
                <a:latin typeface="Courier New" pitchFamily="49" charset="0"/>
              </a:rPr>
              <a:t>28107 pts/8    T      0:01 ./forks 17</a:t>
            </a:r>
          </a:p>
          <a:p>
            <a:pPr algn="l"/>
            <a:r>
              <a:rPr lang="en-US" sz="1600" b="1" dirty="0">
                <a:latin typeface="Courier New" pitchFamily="49" charset="0"/>
              </a:rPr>
              <a:t>28108 pts/8    T      0:01 ./forks 17</a:t>
            </a:r>
          </a:p>
          <a:p>
            <a:pPr algn="l"/>
            <a:r>
              <a:rPr lang="en-US" sz="1600" b="1" dirty="0">
                <a:latin typeface="Courier New" pitchFamily="49" charset="0"/>
              </a:rPr>
              <a:t>28109 pts/8    R+     0:00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bluefish&gt; </a:t>
            </a:r>
            <a:r>
              <a:rPr lang="en-US" sz="1600" b="1" dirty="0" err="1">
                <a:latin typeface="Courier New" pitchFamily="49" charset="0"/>
              </a:rPr>
              <a:t>fg</a:t>
            </a:r>
            <a:endParaRPr lang="en-US" sz="1600" b="1" dirty="0">
              <a:latin typeface="Courier New" pitchFamily="49" charset="0"/>
            </a:endParaRPr>
          </a:p>
          <a:p>
            <a:pPr algn="l"/>
            <a:r>
              <a:rPr lang="en-US" sz="1600" b="1" dirty="0">
                <a:latin typeface="Courier New" pitchFamily="49" charset="0"/>
              </a:rPr>
              <a:t>./forks 17</a:t>
            </a:r>
          </a:p>
          <a:p>
            <a:pPr algn="l"/>
            <a:r>
              <a:rPr lang="en-US" sz="1600" b="1" dirty="0">
                <a:latin typeface="Courier New" pitchFamily="49" charset="0"/>
              </a:rPr>
              <a:t>&lt;types ctrl-</a:t>
            </a:r>
            <a:r>
              <a:rPr lang="en-US" sz="1600" b="1" dirty="0" err="1">
                <a:latin typeface="Courier New" pitchFamily="49" charset="0"/>
              </a:rPr>
              <a:t>c</a:t>
            </a:r>
            <a:r>
              <a:rPr lang="en-US" sz="1600" b="1" dirty="0">
                <a:latin typeface="Courier New" pitchFamily="49" charset="0"/>
              </a:rPr>
              <a:t>&gt;</a:t>
            </a:r>
          </a:p>
          <a:p>
            <a:pPr algn="l"/>
            <a:r>
              <a:rPr lang="en-US" sz="1600" b="1" dirty="0">
                <a:latin typeface="Courier New" pitchFamily="49" charset="0"/>
              </a:rPr>
              <a:t>bluefish&gt;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  PID TTY      STAT   TIME COMMAND</a:t>
            </a:r>
          </a:p>
          <a:p>
            <a:pPr algn="l"/>
            <a:r>
              <a:rPr lang="en-US" sz="1600" b="1" dirty="0">
                <a:latin typeface="Courier New" pitchFamily="49" charset="0"/>
              </a:rPr>
              <a:t>27699 pts/8    Ss     0:00 -</a:t>
            </a:r>
            <a:r>
              <a:rPr lang="en-US" sz="1600" b="1" dirty="0" err="1">
                <a:latin typeface="Courier New" pitchFamily="49" charset="0"/>
              </a:rPr>
              <a:t>tcsh</a:t>
            </a:r>
            <a:endParaRPr lang="en-US" sz="1600" b="1" dirty="0">
              <a:latin typeface="Courier New" pitchFamily="49" charset="0"/>
            </a:endParaRPr>
          </a:p>
          <a:p>
            <a:pPr algn="l"/>
            <a:r>
              <a:rPr lang="en-US" sz="1600" b="1" dirty="0">
                <a:latin typeface="Courier New" pitchFamily="49" charset="0"/>
              </a:rPr>
              <a:t>28110 pts/8    R+     0:00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lnSpc>
                <a:spcPct val="100000"/>
              </a:lnSpc>
            </a:pPr>
            <a:endParaRPr lang="en-US" sz="1600" b="1" dirty="0">
              <a:latin typeface="Courier New" pitchFamily="49" charset="0"/>
            </a:endParaRPr>
          </a:p>
        </p:txBody>
      </p:sp>
      <p:sp>
        <p:nvSpPr>
          <p:cNvPr id="556041" name="Text Box 9"/>
          <p:cNvSpPr txBox="1">
            <a:spLocks noChangeArrowheads="1"/>
          </p:cNvSpPr>
          <p:nvPr/>
        </p:nvSpPr>
        <p:spPr bwMode="auto">
          <a:xfrm>
            <a:off x="5638800" y="1207402"/>
            <a:ext cx="3124200" cy="3693319"/>
          </a:xfrm>
          <a:prstGeom prst="rect">
            <a:avLst/>
          </a:prstGeom>
          <a:solidFill>
            <a:schemeClr val="bg1"/>
          </a:solidFill>
          <a:ln w="3175">
            <a:noFill/>
            <a:miter lim="800000"/>
            <a:headEnd/>
            <a:tailEnd/>
          </a:ln>
          <a:effectLst/>
        </p:spPr>
        <p:txBody>
          <a:bodyPr lIns="45720" rIns="45720">
            <a:spAutoFit/>
          </a:bodyPr>
          <a:lstStyle/>
          <a:p>
            <a:pPr algn="l"/>
            <a:r>
              <a:rPr lang="en-US" sz="1800" dirty="0">
                <a:latin typeface="Calibri" pitchFamily="34" charset="0"/>
              </a:rPr>
              <a:t>STAT (process state) Legend:</a:t>
            </a:r>
          </a:p>
          <a:p>
            <a:pPr algn="l"/>
            <a:endParaRPr lang="en-US" sz="1800" dirty="0">
              <a:latin typeface="Calibri" pitchFamily="34" charset="0"/>
            </a:endParaRPr>
          </a:p>
          <a:p>
            <a:pPr algn="l"/>
            <a:r>
              <a:rPr lang="en-US" sz="1800" i="1" dirty="0">
                <a:solidFill>
                  <a:srgbClr val="C00000"/>
                </a:solidFill>
                <a:latin typeface="Calibri" pitchFamily="34" charset="0"/>
              </a:rPr>
              <a:t>First letter:</a:t>
            </a:r>
          </a:p>
          <a:p>
            <a:pPr algn="l"/>
            <a:r>
              <a:rPr lang="en-US" sz="1800" dirty="0">
                <a:latin typeface="Calibri" pitchFamily="34" charset="0"/>
              </a:rPr>
              <a:t>S: sleeping</a:t>
            </a:r>
          </a:p>
          <a:p>
            <a:pPr algn="l"/>
            <a:r>
              <a:rPr lang="en-US" sz="1800" dirty="0">
                <a:latin typeface="Calibri" pitchFamily="34" charset="0"/>
              </a:rPr>
              <a:t>T: stopped</a:t>
            </a:r>
          </a:p>
          <a:p>
            <a:pPr algn="l"/>
            <a:r>
              <a:rPr lang="en-US" sz="1800" dirty="0">
                <a:latin typeface="Calibri" pitchFamily="34" charset="0"/>
              </a:rPr>
              <a:t>R: running</a:t>
            </a:r>
          </a:p>
          <a:p>
            <a:pPr algn="l"/>
            <a:endParaRPr lang="en-US" sz="1800" dirty="0">
              <a:latin typeface="Calibri" pitchFamily="34" charset="0"/>
            </a:endParaRPr>
          </a:p>
          <a:p>
            <a:r>
              <a:rPr lang="en-US" sz="1800" i="1" dirty="0">
                <a:solidFill>
                  <a:srgbClr val="C00000"/>
                </a:solidFill>
                <a:latin typeface="Calibri" pitchFamily="34" charset="0"/>
              </a:rPr>
              <a:t>Second letter:</a:t>
            </a:r>
          </a:p>
          <a:p>
            <a:pPr algn="l"/>
            <a:r>
              <a:rPr lang="en-US" sz="1800" dirty="0">
                <a:latin typeface="Calibri" pitchFamily="34" charset="0"/>
              </a:rPr>
              <a:t>s: session leader</a:t>
            </a:r>
          </a:p>
          <a:p>
            <a:pPr algn="l"/>
            <a:r>
              <a:rPr lang="en-US" sz="1800" dirty="0">
                <a:latin typeface="Calibri" pitchFamily="34" charset="0"/>
              </a:rPr>
              <a:t>+: foreground proc group</a:t>
            </a:r>
          </a:p>
          <a:p>
            <a:pPr algn="l"/>
            <a:endParaRPr lang="en-US" sz="1800" dirty="0">
              <a:latin typeface="Calibri" pitchFamily="34" charset="0"/>
            </a:endParaRPr>
          </a:p>
          <a:p>
            <a:pPr algn="l"/>
            <a:r>
              <a:rPr lang="en-US" sz="1800" dirty="0">
                <a:latin typeface="Calibri" pitchFamily="34" charset="0"/>
              </a:rPr>
              <a:t>See “man </a:t>
            </a:r>
            <a:r>
              <a:rPr lang="en-US" sz="1800" dirty="0" err="1">
                <a:latin typeface="Calibri" pitchFamily="34" charset="0"/>
              </a:rPr>
              <a:t>ps</a:t>
            </a:r>
            <a:r>
              <a:rPr lang="en-US" sz="1800" dirty="0">
                <a:latin typeface="Calibri" pitchFamily="34" charset="0"/>
              </a:rPr>
              <a:t>” for more </a:t>
            </a:r>
          </a:p>
          <a:p>
            <a:pPr algn="l"/>
            <a:r>
              <a:rPr lang="en-US" sz="1800" dirty="0">
                <a:latin typeface="Calibri" pitchFamily="34" charset="0"/>
              </a:rPr>
              <a:t>details</a:t>
            </a:r>
          </a:p>
        </p:txBody>
      </p:sp>
    </p:spTree>
    <p:extLst>
      <p:ext uri="{BB962C8B-B14F-4D97-AF65-F5344CB8AC3E}">
        <p14:creationId xmlns:p14="http://schemas.microsoft.com/office/powerpoint/2010/main" val="205843725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en-US"/>
              <a:t>Sending Signals with </a:t>
            </a:r>
            <a:r>
              <a:rPr lang="en-US">
                <a:latin typeface="Courier New" pitchFamily="49" charset="0"/>
              </a:rPr>
              <a:t>kill</a:t>
            </a:r>
            <a:r>
              <a:rPr lang="en-US"/>
              <a:t> Function</a:t>
            </a:r>
          </a:p>
        </p:txBody>
      </p:sp>
      <p:sp>
        <p:nvSpPr>
          <p:cNvPr id="557060" name="Text Box 4"/>
          <p:cNvSpPr txBox="1">
            <a:spLocks noChangeArrowheads="1"/>
          </p:cNvSpPr>
          <p:nvPr/>
        </p:nvSpPr>
        <p:spPr bwMode="auto">
          <a:xfrm>
            <a:off x="457200" y="1197678"/>
            <a:ext cx="7696200" cy="5312865"/>
          </a:xfrm>
          <a:prstGeom prst="rect">
            <a:avLst/>
          </a:prstGeom>
          <a:solidFill>
            <a:srgbClr val="F6F5BD"/>
          </a:solidFill>
          <a:ln w="12700">
            <a:solidFill>
              <a:schemeClr val="tx1"/>
            </a:solidFill>
            <a:miter lim="800000"/>
            <a:headEnd/>
            <a:tailEnd/>
          </a:ln>
          <a:effectLst/>
        </p:spPr>
        <p:txBody>
          <a:bodyPr>
            <a:normAutofit lnSpcReduction="10000"/>
          </a:bodyPr>
          <a:lstStyle/>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fork12</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err="1">
                <a:solidFill>
                  <a:srgbClr val="000000"/>
                </a:solidFill>
                <a:latin typeface="Courier New"/>
                <a:cs typeface="Courier New"/>
              </a:rPr>
              <a:t>[N</a:t>
            </a:r>
            <a:r>
              <a:rPr lang="fi-FI"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a:solidFill>
                  <a:srgbClr val="C1651C"/>
                </a:solidFill>
                <a:latin typeface="Courier New"/>
                <a:cs typeface="Courier New"/>
              </a:rPr>
              <a:t>i</a:t>
            </a:r>
            <a:r>
              <a:rPr lang="fr-FR"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err="1">
                <a:solidFill>
                  <a:srgbClr val="C1651C"/>
                </a:solidFill>
                <a:latin typeface="Courier New"/>
                <a:cs typeface="Courier New"/>
              </a:rPr>
              <a:t>child_status</a:t>
            </a:r>
            <a:r>
              <a:rPr lang="fr-FR" sz="1400" dirty="0">
                <a:solidFill>
                  <a:srgbClr val="000000"/>
                </a:solidFill>
                <a:latin typeface="Courier New"/>
                <a:cs typeface="Courier New"/>
              </a:rPr>
              <a:t>;</a:t>
            </a:r>
          </a:p>
          <a:p>
            <a:endParaRPr lang="fr-FR"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a:t>
            </a:r>
          </a:p>
          <a:p>
            <a:r>
              <a:rPr lang="nb-NO" sz="1400" dirty="0">
                <a:solidFill>
                  <a:srgbClr val="000000"/>
                </a:solidFill>
                <a:latin typeface="Courier New"/>
                <a:cs typeface="Courier New"/>
              </a:rPr>
              <a:t>        </a:t>
            </a:r>
            <a:r>
              <a:rPr lang="nb-NO" sz="1400" dirty="0" err="1">
                <a:solidFill>
                  <a:srgbClr val="C200FF"/>
                </a:solidFill>
                <a:latin typeface="Courier New"/>
                <a:cs typeface="Courier New"/>
              </a:rPr>
              <a:t>if</a:t>
            </a:r>
            <a:r>
              <a:rPr lang="nb-NO" sz="1400" dirty="0">
                <a:solidFill>
                  <a:srgbClr val="000000"/>
                </a:solidFill>
                <a:latin typeface="Courier New"/>
                <a:cs typeface="Courier New"/>
              </a:rPr>
              <a:t> ((</a:t>
            </a:r>
            <a:r>
              <a:rPr lang="nb-NO" sz="1400" dirty="0" err="1">
                <a:solidFill>
                  <a:srgbClr val="000000"/>
                </a:solidFill>
                <a:latin typeface="Courier New"/>
                <a:cs typeface="Courier New"/>
              </a:rPr>
              <a:t>pid</a:t>
            </a:r>
            <a:r>
              <a:rPr lang="nb-NO" sz="1400" dirty="0">
                <a:solidFill>
                  <a:srgbClr val="000000"/>
                </a:solidFill>
                <a:latin typeface="Courier New"/>
                <a:cs typeface="Courier New"/>
              </a:rPr>
              <a:t>[i] = fork()) == 0) {</a:t>
            </a:r>
          </a:p>
          <a:p>
            <a:r>
              <a:rPr lang="en-US" sz="1400" dirty="0">
                <a:solidFill>
                  <a:srgbClr val="000000"/>
                </a:solidFill>
                <a:latin typeface="Courier New"/>
                <a:cs typeface="Courier New"/>
              </a:rPr>
              <a:t>            </a:t>
            </a:r>
            <a:r>
              <a:rPr lang="en-US" sz="1400" dirty="0">
                <a:solidFill>
                  <a:srgbClr val="CB2418"/>
                </a:solidFill>
                <a:latin typeface="Courier New"/>
                <a:cs typeface="Courier New"/>
              </a:rPr>
              <a:t>/* Child: Infinite Loop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(1)</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p>
          <a:p>
            <a:r>
              <a:rPr lang="da-DK" sz="1400" dirty="0">
                <a:solidFill>
                  <a:srgbClr val="000000"/>
                </a:solidFill>
                <a:latin typeface="Courier New"/>
                <a:cs typeface="Courier New"/>
              </a:rPr>
              <a:t>    </a:t>
            </a:r>
            <a:endParaRPr lang="da-DK" sz="1400" dirty="0" smtClean="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smtClean="0">
                <a:solidFill>
                  <a:srgbClr val="000000"/>
                </a:solidFill>
                <a:latin typeface="Courier New"/>
                <a:cs typeface="Courier New"/>
              </a:rPr>
              <a:t>   </a:t>
            </a:r>
            <a:r>
              <a:rPr lang="da-DK" sz="1400" dirty="0" smtClean="0">
                <a:solidFill>
                  <a:srgbClr val="C200FF"/>
                </a:solidFill>
                <a:latin typeface="Courier New"/>
                <a:cs typeface="Courier New"/>
              </a:rPr>
              <a:t>for</a:t>
            </a:r>
            <a:r>
              <a:rPr lang="da-DK" sz="1400" dirty="0" smtClean="0">
                <a:solidFill>
                  <a:srgbClr val="000000"/>
                </a:solidFill>
                <a:latin typeface="Courier New"/>
                <a:cs typeface="Courier New"/>
              </a:rPr>
              <a:t> </a:t>
            </a:r>
            <a:r>
              <a:rPr lang="da-DK" sz="1400" dirty="0">
                <a:solidFill>
                  <a:srgbClr val="000000"/>
                </a:solidFill>
                <a:latin typeface="Courier New"/>
                <a:cs typeface="Courier New"/>
              </a:rPr>
              <a:t>(i = 0; i &lt; N; i++) {</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"Killing </a:t>
            </a:r>
            <a:r>
              <a:rPr lang="da-DK" sz="1400" dirty="0" err="1">
                <a:solidFill>
                  <a:srgbClr val="9D206F"/>
                </a:solidFill>
                <a:latin typeface="Courier New"/>
                <a:cs typeface="Courier New"/>
              </a:rPr>
              <a:t>process</a:t>
            </a:r>
            <a:r>
              <a:rPr lang="da-DK" sz="1400" dirty="0">
                <a:solidFill>
                  <a:srgbClr val="9D206F"/>
                </a:solidFill>
                <a:latin typeface="Courier New"/>
                <a:cs typeface="Courier New"/>
              </a:rPr>
              <a:t> %d\n"</a:t>
            </a:r>
            <a:r>
              <a:rPr lang="da-DK" sz="1400" dirty="0">
                <a:solidFill>
                  <a:srgbClr val="000000"/>
                </a:solidFill>
                <a:latin typeface="Courier New"/>
                <a:cs typeface="Courier New"/>
              </a:rPr>
              <a:t>, </a:t>
            </a:r>
            <a:r>
              <a:rPr lang="da-DK" sz="1400" dirty="0" err="1">
                <a:solidFill>
                  <a:srgbClr val="000000"/>
                </a:solidFill>
                <a:latin typeface="Courier New"/>
                <a:cs typeface="Courier New"/>
              </a:rPr>
              <a:t>pid</a:t>
            </a:r>
            <a:r>
              <a:rPr lang="da-DK" sz="1400" dirty="0">
                <a:solidFill>
                  <a:srgbClr val="000000"/>
                </a:solidFill>
                <a:latin typeface="Courier New"/>
                <a:cs typeface="Courier New"/>
              </a:rPr>
              <a:t>[i]);</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kill</a:t>
            </a:r>
            <a:r>
              <a:rPr lang="da-DK" sz="1400" dirty="0">
                <a:solidFill>
                  <a:srgbClr val="000000"/>
                </a:solidFill>
                <a:latin typeface="Courier New"/>
                <a:cs typeface="Courier New"/>
              </a:rPr>
              <a:t>(</a:t>
            </a:r>
            <a:r>
              <a:rPr lang="da-DK" sz="1400" dirty="0" err="1">
                <a:solidFill>
                  <a:srgbClr val="000000"/>
                </a:solidFill>
                <a:latin typeface="Courier New"/>
                <a:cs typeface="Courier New"/>
              </a:rPr>
              <a:t>pid</a:t>
            </a:r>
            <a:r>
              <a:rPr lang="da-DK" sz="1400" dirty="0">
                <a:solidFill>
                  <a:srgbClr val="000000"/>
                </a:solidFill>
                <a:latin typeface="Courier New"/>
                <a:cs typeface="Courier New"/>
              </a:rPr>
              <a:t>[i], SIGINT);</a:t>
            </a:r>
          </a:p>
          <a:p>
            <a:r>
              <a:rPr lang="da-DK" sz="1400" dirty="0">
                <a:solidFill>
                  <a:srgbClr val="000000"/>
                </a:solidFill>
                <a:latin typeface="Courier New"/>
                <a:cs typeface="Courier New"/>
              </a:rPr>
              <a:t>    }</a:t>
            </a:r>
          </a:p>
          <a:p>
            <a:endParaRPr lang="da-DK"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 {</a:t>
            </a:r>
          </a:p>
          <a:p>
            <a:r>
              <a:rPr lang="da-DK" sz="1400" dirty="0">
                <a:solidFill>
                  <a:srgbClr val="000000"/>
                </a:solidFill>
                <a:latin typeface="Courier New"/>
                <a:cs typeface="Courier New"/>
              </a:rPr>
              <a:t>        </a:t>
            </a:r>
            <a:r>
              <a:rPr lang="da-DK" sz="1400" dirty="0" err="1">
                <a:solidFill>
                  <a:srgbClr val="2D961E"/>
                </a:solidFill>
                <a:latin typeface="Courier New"/>
                <a:cs typeface="Courier New"/>
              </a:rPr>
              <a:t>pid_t</a:t>
            </a:r>
            <a:r>
              <a:rPr lang="da-DK" sz="1400" dirty="0">
                <a:solidFill>
                  <a:srgbClr val="000000"/>
                </a:solidFill>
                <a:latin typeface="Courier New"/>
                <a:cs typeface="Courier New"/>
              </a:rPr>
              <a:t> </a:t>
            </a:r>
            <a:r>
              <a:rPr lang="da-DK" sz="1400" dirty="0" err="1">
                <a:solidFill>
                  <a:srgbClr val="C1651C"/>
                </a:solidFill>
                <a:latin typeface="Courier New"/>
                <a:cs typeface="Courier New"/>
              </a:rPr>
              <a:t>wpid</a:t>
            </a:r>
            <a:r>
              <a:rPr lang="da-DK" sz="1400" dirty="0">
                <a:solidFill>
                  <a:srgbClr val="000000"/>
                </a:solidFill>
                <a:latin typeface="Courier New"/>
                <a:cs typeface="Courier New"/>
              </a:rPr>
              <a:t> = </a:t>
            </a:r>
            <a:r>
              <a:rPr lang="da-DK" sz="1400" dirty="0" err="1">
                <a:solidFill>
                  <a:srgbClr val="000000"/>
                </a:solidFill>
                <a:latin typeface="Courier New"/>
                <a:cs typeface="Courier New"/>
              </a:rPr>
              <a:t>wait</a:t>
            </a:r>
            <a:r>
              <a:rPr lang="da-DK" sz="1400" dirty="0">
                <a:solidFill>
                  <a:srgbClr val="000000"/>
                </a:solidFill>
                <a:latin typeface="Courier New"/>
                <a:cs typeface="Courier New"/>
              </a:rPr>
              <a:t>(&amp;</a:t>
            </a:r>
            <a:r>
              <a:rPr lang="da-DK" sz="1400" dirty="0" err="1">
                <a:solidFill>
                  <a:srgbClr val="000000"/>
                </a:solidFill>
                <a:latin typeface="Courier New"/>
                <a:cs typeface="Courier New"/>
              </a:rPr>
              <a:t>child_status</a:t>
            </a:r>
            <a:r>
              <a:rPr lang="da-DK" sz="1400" dirty="0">
                <a:solidFill>
                  <a:srgbClr val="000000"/>
                </a:solidFill>
                <a:latin typeface="Courier New"/>
                <a:cs typeface="Courier New"/>
              </a:rPr>
              <a:t>);</a:t>
            </a:r>
          </a:p>
          <a:p>
            <a:r>
              <a:rPr lang="da-DK" sz="1400" dirty="0">
                <a:solidFill>
                  <a:srgbClr val="000000"/>
                </a:solidFill>
                <a:latin typeface="Courier New"/>
                <a:cs typeface="Courier New"/>
              </a:rPr>
              <a:t>        </a:t>
            </a:r>
            <a:r>
              <a:rPr lang="da-DK" sz="1400" dirty="0" err="1">
                <a:solidFill>
                  <a:srgbClr val="C200FF"/>
                </a:solidFill>
                <a:latin typeface="Courier New"/>
                <a:cs typeface="Courier New"/>
              </a:rPr>
              <a:t>if</a:t>
            </a:r>
            <a:r>
              <a:rPr lang="da-DK" sz="1400" dirty="0">
                <a:solidFill>
                  <a:srgbClr val="000000"/>
                </a:solidFill>
                <a:latin typeface="Courier New"/>
                <a:cs typeface="Courier New"/>
              </a:rPr>
              <a:t> (WIFEXITED(</a:t>
            </a:r>
            <a:r>
              <a:rPr lang="da-DK" sz="1400" dirty="0" err="1">
                <a:solidFill>
                  <a:srgbClr val="000000"/>
                </a:solidFill>
                <a:latin typeface="Courier New"/>
                <a:cs typeface="Courier New"/>
              </a:rPr>
              <a:t>child_status</a:t>
            </a:r>
            <a:r>
              <a:rPr lang="da-DK" sz="1400" dirty="0">
                <a:solidFill>
                  <a:srgbClr val="000000"/>
                </a:solidFill>
                <a:latin typeface="Courier New"/>
                <a:cs typeface="Courier New"/>
              </a:rPr>
              <a:t>))</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"Child %d </a:t>
            </a:r>
            <a:r>
              <a:rPr lang="da-DK" sz="1400" dirty="0" err="1">
                <a:solidFill>
                  <a:srgbClr val="9D206F"/>
                </a:solidFill>
                <a:latin typeface="Courier New"/>
                <a:cs typeface="Courier New"/>
              </a:rPr>
              <a:t>terminated</a:t>
            </a:r>
            <a:r>
              <a:rPr lang="da-DK" sz="1400" dirty="0">
                <a:solidFill>
                  <a:srgbClr val="9D206F"/>
                </a:solidFill>
                <a:latin typeface="Courier New"/>
                <a:cs typeface="Courier New"/>
              </a:rPr>
              <a:t> with exit status %d\n"</a:t>
            </a:r>
            <a:r>
              <a:rPr lang="da-DK" sz="1400" dirty="0">
                <a:solidFill>
                  <a:srgbClr val="000000"/>
                </a:solidFill>
                <a:latin typeface="Courier New"/>
                <a:cs typeface="Courier New"/>
              </a:rPr>
              <a:t>,</a:t>
            </a:r>
          </a:p>
          <a:p>
            <a:r>
              <a:rPr lang="pl-PL" sz="1400" dirty="0">
                <a:solidFill>
                  <a:srgbClr val="000000"/>
                </a:solidFill>
                <a:latin typeface="Courier New"/>
                <a:cs typeface="Courier New"/>
              </a:rPr>
              <a:t>                   </a:t>
            </a:r>
            <a:r>
              <a:rPr lang="pl-PL" sz="1400" dirty="0" err="1">
                <a:solidFill>
                  <a:srgbClr val="000000"/>
                </a:solidFill>
                <a:latin typeface="Courier New"/>
                <a:cs typeface="Courier New"/>
              </a:rPr>
              <a:t>wpid</a:t>
            </a:r>
            <a:r>
              <a:rPr lang="pl-PL" sz="1400" dirty="0">
                <a:solidFill>
                  <a:srgbClr val="000000"/>
                </a:solidFill>
                <a:latin typeface="Courier New"/>
                <a:cs typeface="Courier New"/>
              </a:rPr>
              <a:t>, WEXITSTATUS(</a:t>
            </a:r>
            <a:r>
              <a:rPr lang="pl-PL" sz="1400" dirty="0" err="1">
                <a:solidFill>
                  <a:srgbClr val="000000"/>
                </a:solidFill>
                <a:latin typeface="Courier New"/>
                <a:cs typeface="Courier New"/>
              </a:rPr>
              <a:t>child_status</a:t>
            </a:r>
            <a:r>
              <a:rPr lang="pl-PL" sz="1400" dirty="0">
                <a:solidFill>
                  <a:srgbClr val="000000"/>
                </a:solidFill>
                <a:latin typeface="Courier New"/>
                <a:cs typeface="Courier New"/>
              </a:rPr>
              <a:t>));</a:t>
            </a:r>
          </a:p>
          <a:p>
            <a:r>
              <a:rPr lang="hu-HU" sz="1400" dirty="0">
                <a:solidFill>
                  <a:srgbClr val="000000"/>
                </a:solidFill>
                <a:latin typeface="Courier New"/>
                <a:cs typeface="Courier New"/>
              </a:rPr>
              <a:t>        </a:t>
            </a:r>
            <a:r>
              <a:rPr lang="hu-HU" sz="1400" dirty="0">
                <a:solidFill>
                  <a:srgbClr val="C200FF"/>
                </a:solidFill>
                <a:latin typeface="Courier New"/>
                <a:cs typeface="Courier New"/>
              </a:rPr>
              <a:t>else</a:t>
            </a:r>
            <a:endParaRPr lang="hu-HU"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printf</a:t>
            </a:r>
            <a:r>
              <a:rPr lang="en-US" sz="1400" dirty="0">
                <a:solidFill>
                  <a:srgbClr val="000000"/>
                </a:solidFill>
                <a:latin typeface="Courier New"/>
                <a:cs typeface="Courier New"/>
              </a:rPr>
              <a:t>(</a:t>
            </a:r>
            <a:r>
              <a:rPr lang="en-US" sz="1400" dirty="0">
                <a:solidFill>
                  <a:srgbClr val="9D206F"/>
                </a:solidFill>
                <a:latin typeface="Courier New"/>
                <a:cs typeface="Courier New"/>
              </a:rPr>
              <a:t>"Child %d terminated abnormally\n"</a:t>
            </a:r>
            <a:r>
              <a:rPr lang="en-US" sz="1400" dirty="0">
                <a:solidFill>
                  <a:srgbClr val="000000"/>
                </a:solidFill>
                <a:latin typeface="Courier New"/>
                <a:cs typeface="Courier New"/>
              </a:rPr>
              <a:t>, </a:t>
            </a:r>
            <a:r>
              <a:rPr lang="en-US" sz="1400" dirty="0" err="1">
                <a:solidFill>
                  <a:srgbClr val="000000"/>
                </a:solidFill>
                <a:latin typeface="Courier New"/>
                <a:cs typeface="Courier New"/>
              </a:rPr>
              <a:t>wpid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a:t>
            </a:r>
          </a:p>
        </p:txBody>
      </p:sp>
      <p:sp>
        <p:nvSpPr>
          <p:cNvPr id="4" name="Rectangle 3"/>
          <p:cNvSpPr>
            <a:spLocks noChangeArrowheads="1"/>
          </p:cNvSpPr>
          <p:nvPr/>
        </p:nvSpPr>
        <p:spPr bwMode="auto">
          <a:xfrm>
            <a:off x="6947584" y="6172200"/>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32260897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en-US" dirty="0"/>
              <a:t>Receiving Signals</a:t>
            </a:r>
          </a:p>
        </p:txBody>
      </p:sp>
      <p:sp>
        <p:nvSpPr>
          <p:cNvPr id="558083" name="Rectangle 3"/>
          <p:cNvSpPr>
            <a:spLocks noGrp="1" noChangeArrowheads="1"/>
          </p:cNvSpPr>
          <p:nvPr>
            <p:ph type="body" idx="1"/>
          </p:nvPr>
        </p:nvSpPr>
        <p:spPr>
          <a:xfrm>
            <a:off x="396875" y="1200150"/>
            <a:ext cx="7896225" cy="1085850"/>
          </a:xfrm>
        </p:spPr>
        <p:txBody>
          <a:bodyPr/>
          <a:lstStyle/>
          <a:p>
            <a:r>
              <a:rPr lang="en-US" dirty="0"/>
              <a:t>Suppose</a:t>
            </a:r>
            <a:r>
              <a:rPr lang="en-US" dirty="0" smtClean="0"/>
              <a:t> kernel </a:t>
            </a:r>
            <a:r>
              <a:rPr lang="en-US" dirty="0"/>
              <a:t>is returning from an exception handler and is ready to pass control to process </a:t>
            </a:r>
            <a:r>
              <a:rPr lang="en-US" i="1" dirty="0" err="1"/>
              <a:t>p</a:t>
            </a:r>
            <a:endParaRPr lang="en-US" dirty="0" smtClean="0"/>
          </a:p>
          <a:p>
            <a:endParaRPr lang="en-US" dirty="0" smtClean="0"/>
          </a:p>
        </p:txBody>
      </p:sp>
      <p:sp>
        <p:nvSpPr>
          <p:cNvPr id="4" name="Rectangle 3"/>
          <p:cNvSpPr/>
          <p:nvPr/>
        </p:nvSpPr>
        <p:spPr bwMode="auto">
          <a:xfrm>
            <a:off x="1815644" y="44946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5" name="Rectangle 4"/>
          <p:cNvSpPr/>
          <p:nvPr/>
        </p:nvSpPr>
        <p:spPr bwMode="auto">
          <a:xfrm>
            <a:off x="1815644" y="40692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6" name="Rectangle 5"/>
          <p:cNvSpPr/>
          <p:nvPr/>
        </p:nvSpPr>
        <p:spPr bwMode="auto">
          <a:xfrm>
            <a:off x="1815644" y="49201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7" name="Rectangle 6"/>
          <p:cNvSpPr/>
          <p:nvPr/>
        </p:nvSpPr>
        <p:spPr bwMode="auto">
          <a:xfrm>
            <a:off x="1815644" y="36378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8" name="Rectangle 7"/>
          <p:cNvSpPr/>
          <p:nvPr/>
        </p:nvSpPr>
        <p:spPr bwMode="auto">
          <a:xfrm>
            <a:off x="1815644" y="3212416"/>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9" name="Text Box 4"/>
          <p:cNvSpPr txBox="1">
            <a:spLocks noChangeArrowheads="1"/>
          </p:cNvSpPr>
          <p:nvPr/>
        </p:nvSpPr>
        <p:spPr bwMode="auto">
          <a:xfrm>
            <a:off x="2037666" y="2590800"/>
            <a:ext cx="1075936"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q</a:t>
            </a:r>
          </a:p>
        </p:txBody>
      </p:sp>
      <p:sp>
        <p:nvSpPr>
          <p:cNvPr id="10" name="Text Box 5"/>
          <p:cNvSpPr txBox="1">
            <a:spLocks noChangeArrowheads="1"/>
          </p:cNvSpPr>
          <p:nvPr/>
        </p:nvSpPr>
        <p:spPr bwMode="auto">
          <a:xfrm>
            <a:off x="3560658" y="25908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a:t>
            </a:r>
            <a:r>
              <a:rPr lang="en-US" sz="1800" i="1" dirty="0" smtClean="0">
                <a:solidFill>
                  <a:srgbClr val="C00000"/>
                </a:solidFill>
                <a:latin typeface="Calibri" pitchFamily="34" charset="0"/>
              </a:rPr>
              <a:t>p</a:t>
            </a:r>
            <a:endParaRPr lang="en-US" sz="1800" i="1" dirty="0">
              <a:solidFill>
                <a:srgbClr val="C00000"/>
              </a:solidFill>
              <a:latin typeface="Calibri" pitchFamily="34" charset="0"/>
            </a:endParaRPr>
          </a:p>
        </p:txBody>
      </p:sp>
      <p:sp>
        <p:nvSpPr>
          <p:cNvPr id="11" name="Line 6"/>
          <p:cNvSpPr>
            <a:spLocks noChangeShapeType="1"/>
          </p:cNvSpPr>
          <p:nvPr/>
        </p:nvSpPr>
        <p:spPr bwMode="auto">
          <a:xfrm flipH="1">
            <a:off x="2590800" y="3215600"/>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12" name="Line 11"/>
          <p:cNvSpPr>
            <a:spLocks noChangeShapeType="1"/>
          </p:cNvSpPr>
          <p:nvPr/>
        </p:nvSpPr>
        <p:spPr bwMode="auto">
          <a:xfrm flipH="1">
            <a:off x="3416300" y="2590800"/>
            <a:ext cx="12700" cy="312420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13" name="Text Box 12"/>
          <p:cNvSpPr txBox="1">
            <a:spLocks noChangeArrowheads="1"/>
          </p:cNvSpPr>
          <p:nvPr/>
        </p:nvSpPr>
        <p:spPr bwMode="auto">
          <a:xfrm>
            <a:off x="5118100" y="327660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4" name="Text Box 13"/>
          <p:cNvSpPr txBox="1">
            <a:spLocks noChangeArrowheads="1"/>
          </p:cNvSpPr>
          <p:nvPr/>
        </p:nvSpPr>
        <p:spPr bwMode="auto">
          <a:xfrm>
            <a:off x="5118100" y="36909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15" name="Text Box 14"/>
          <p:cNvSpPr txBox="1">
            <a:spLocks noChangeArrowheads="1"/>
          </p:cNvSpPr>
          <p:nvPr/>
        </p:nvSpPr>
        <p:spPr bwMode="auto">
          <a:xfrm>
            <a:off x="5118100" y="4103688"/>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6" name="Text Box 15"/>
          <p:cNvSpPr txBox="1">
            <a:spLocks noChangeArrowheads="1"/>
          </p:cNvSpPr>
          <p:nvPr/>
        </p:nvSpPr>
        <p:spPr bwMode="auto">
          <a:xfrm>
            <a:off x="5100638" y="45402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17" name="Text Box 16"/>
          <p:cNvSpPr txBox="1">
            <a:spLocks noChangeArrowheads="1"/>
          </p:cNvSpPr>
          <p:nvPr/>
        </p:nvSpPr>
        <p:spPr bwMode="auto">
          <a:xfrm>
            <a:off x="5118100" y="499745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8" name="AutoShape 27"/>
          <p:cNvSpPr>
            <a:spLocks/>
          </p:cNvSpPr>
          <p:nvPr/>
        </p:nvSpPr>
        <p:spPr bwMode="auto">
          <a:xfrm>
            <a:off x="6553200" y="36367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19" name="Text Box 28"/>
          <p:cNvSpPr txBox="1">
            <a:spLocks noChangeArrowheads="1"/>
          </p:cNvSpPr>
          <p:nvPr/>
        </p:nvSpPr>
        <p:spPr bwMode="auto">
          <a:xfrm>
            <a:off x="6632575" y="36579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20" name="AutoShape 29"/>
          <p:cNvSpPr>
            <a:spLocks/>
          </p:cNvSpPr>
          <p:nvPr/>
        </p:nvSpPr>
        <p:spPr bwMode="auto">
          <a:xfrm>
            <a:off x="6553200" y="45062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21" name="Text Box 30"/>
          <p:cNvSpPr txBox="1">
            <a:spLocks noChangeArrowheads="1"/>
          </p:cNvSpPr>
          <p:nvPr/>
        </p:nvSpPr>
        <p:spPr bwMode="auto">
          <a:xfrm>
            <a:off x="6632575" y="45274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22" name="Text Box 5"/>
          <p:cNvSpPr txBox="1">
            <a:spLocks noChangeArrowheads="1"/>
          </p:cNvSpPr>
          <p:nvPr/>
        </p:nvSpPr>
        <p:spPr bwMode="auto">
          <a:xfrm>
            <a:off x="228600" y="396240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23" name="Down Arrow 22"/>
          <p:cNvSpPr/>
          <p:nvPr/>
        </p:nvSpPr>
        <p:spPr bwMode="auto">
          <a:xfrm>
            <a:off x="990600" y="3162300"/>
            <a:ext cx="457200" cy="2400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24" name="Line 6"/>
          <p:cNvSpPr>
            <a:spLocks noChangeShapeType="1"/>
          </p:cNvSpPr>
          <p:nvPr/>
        </p:nvSpPr>
        <p:spPr bwMode="auto">
          <a:xfrm flipH="1">
            <a:off x="2584450" y="49133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5" name="Line 6"/>
          <p:cNvSpPr>
            <a:spLocks noChangeShapeType="1"/>
          </p:cNvSpPr>
          <p:nvPr/>
        </p:nvSpPr>
        <p:spPr bwMode="auto">
          <a:xfrm flipH="1">
            <a:off x="4184650" y="40751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26" name="Straight Arrow Connector 25"/>
          <p:cNvCxnSpPr>
            <a:stCxn id="11" idx="1"/>
            <a:endCxn id="25" idx="0"/>
          </p:cNvCxnSpPr>
          <p:nvPr/>
        </p:nvCxnSpPr>
        <p:spPr bwMode="auto">
          <a:xfrm rot="16200000" flipH="1">
            <a:off x="3171424" y="3055600"/>
            <a:ext cx="438952" cy="1600200"/>
          </a:xfrm>
          <a:prstGeom prst="straightConnector1">
            <a:avLst/>
          </a:prstGeom>
          <a:noFill/>
          <a:ln w="25400">
            <a:solidFill>
              <a:schemeClr val="tx1"/>
            </a:solidFill>
            <a:round/>
            <a:headEnd/>
            <a:tailEnd type="triangle" w="med" len="med"/>
          </a:ln>
          <a:effectLst/>
        </p:spPr>
      </p:cxnSp>
      <p:cxnSp>
        <p:nvCxnSpPr>
          <p:cNvPr id="27" name="Straight Arrow Connector 26"/>
          <p:cNvCxnSpPr>
            <a:stCxn id="25" idx="1"/>
            <a:endCxn id="24" idx="0"/>
          </p:cNvCxnSpPr>
          <p:nvPr/>
        </p:nvCxnSpPr>
        <p:spPr bwMode="auto">
          <a:xfrm rot="16200000" flipH="1" flipV="1">
            <a:off x="3178937" y="3907663"/>
            <a:ext cx="417576" cy="1593850"/>
          </a:xfrm>
          <a:prstGeom prst="straightConnector1">
            <a:avLst/>
          </a:prstGeom>
          <a:noFill/>
          <a:ln w="25400">
            <a:solidFill>
              <a:schemeClr val="tx1"/>
            </a:solidFill>
            <a:round/>
            <a:headEnd/>
            <a:tailEnd type="triangle" w="med" len="med"/>
          </a:ln>
          <a:effectLst/>
        </p:spPr>
      </p:cxnSp>
      <p:sp>
        <p:nvSpPr>
          <p:cNvPr id="30" name="Down Arrow 29"/>
          <p:cNvSpPr/>
          <p:nvPr/>
        </p:nvSpPr>
        <p:spPr bwMode="auto">
          <a:xfrm>
            <a:off x="4191000" y="2133600"/>
            <a:ext cx="985838" cy="2057400"/>
          </a:xfrm>
          <a:prstGeom prst="downArrow">
            <a:avLst>
              <a:gd name="adj1" fmla="val 51947"/>
              <a:gd name="adj2" fmla="val 50000"/>
            </a:avLst>
          </a:prstGeom>
          <a:solidFill>
            <a:schemeClr val="bg1"/>
          </a:solidFill>
          <a:ln w="25400" cap="flat" cmpd="sng" algn="ctr">
            <a:solidFill>
              <a:schemeClr val="tx1"/>
            </a:solidFill>
            <a:prstDash val="solid"/>
            <a:round/>
            <a:headEnd type="none" w="med" len="med"/>
            <a:tailEnd type="arrow" w="med" len="med"/>
          </a:ln>
          <a:effectLst/>
          <a:scene3d>
            <a:camera prst="orthographicFront">
              <a:rot lat="0" lon="0" rev="19799999"/>
            </a:camera>
            <a:lightRig rig="threePt" dir="t"/>
          </a:scene3d>
        </p:spPr>
        <p:txBody>
          <a:bodyPr rtlCol="0" anchor="ctr"/>
          <a:lstStyle/>
          <a:p>
            <a:pPr algn="ctr"/>
            <a:endParaRPr lang="en-US"/>
          </a:p>
        </p:txBody>
      </p:sp>
    </p:spTree>
    <p:extLst>
      <p:ext uri="{BB962C8B-B14F-4D97-AF65-F5344CB8AC3E}">
        <p14:creationId xmlns:p14="http://schemas.microsoft.com/office/powerpoint/2010/main" val="352709492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en-US" dirty="0"/>
              <a:t>Receiving Signals</a:t>
            </a:r>
          </a:p>
        </p:txBody>
      </p:sp>
      <p:sp>
        <p:nvSpPr>
          <p:cNvPr id="558083" name="Rectangle 3"/>
          <p:cNvSpPr>
            <a:spLocks noGrp="1" noChangeArrowheads="1"/>
          </p:cNvSpPr>
          <p:nvPr>
            <p:ph type="body" idx="1"/>
          </p:nvPr>
        </p:nvSpPr>
        <p:spPr>
          <a:xfrm>
            <a:off x="396875" y="1200150"/>
            <a:ext cx="7896225" cy="4972050"/>
          </a:xfrm>
        </p:spPr>
        <p:txBody>
          <a:bodyPr/>
          <a:lstStyle/>
          <a:p>
            <a:r>
              <a:rPr lang="en-US" dirty="0"/>
              <a:t>Suppose</a:t>
            </a:r>
            <a:r>
              <a:rPr lang="en-US" dirty="0" smtClean="0"/>
              <a:t> kernel </a:t>
            </a:r>
            <a:r>
              <a:rPr lang="en-US" dirty="0"/>
              <a:t>is returning from an exception handler and is ready to pass control to process </a:t>
            </a:r>
            <a:r>
              <a:rPr lang="en-US" i="1" dirty="0"/>
              <a:t>p</a:t>
            </a:r>
            <a:endParaRPr lang="en-US" dirty="0"/>
          </a:p>
          <a:p>
            <a:endParaRPr lang="en-US" dirty="0" smtClean="0"/>
          </a:p>
          <a:p>
            <a:r>
              <a:rPr lang="en-US" dirty="0" smtClean="0"/>
              <a:t>Kernel </a:t>
            </a:r>
            <a:r>
              <a:rPr lang="en-US" dirty="0"/>
              <a:t>computes</a:t>
            </a:r>
            <a:r>
              <a:rPr lang="en-US" dirty="0">
                <a:latin typeface="Courier New" pitchFamily="49" charset="0"/>
              </a:rPr>
              <a:t> </a:t>
            </a:r>
            <a:r>
              <a:rPr lang="en-US" dirty="0" err="1">
                <a:latin typeface="Courier New" pitchFamily="49" charset="0"/>
              </a:rPr>
              <a:t>pnb</a:t>
            </a:r>
            <a:r>
              <a:rPr lang="en-US" dirty="0">
                <a:latin typeface="Courier New" pitchFamily="49" charset="0"/>
              </a:rPr>
              <a:t> = pending &amp; ~blocked</a:t>
            </a:r>
          </a:p>
          <a:p>
            <a:pPr lvl="1"/>
            <a:r>
              <a:rPr lang="en-US" dirty="0"/>
              <a:t>The set of pending </a:t>
            </a:r>
            <a:r>
              <a:rPr lang="en-US" dirty="0" err="1"/>
              <a:t>nonblocked</a:t>
            </a:r>
            <a:r>
              <a:rPr lang="en-US" dirty="0"/>
              <a:t> signals for process </a:t>
            </a:r>
            <a:r>
              <a:rPr lang="en-US" i="1" dirty="0"/>
              <a:t>p</a:t>
            </a:r>
            <a:r>
              <a:rPr lang="en-US" dirty="0">
                <a:latin typeface="Courier New" pitchFamily="49" charset="0"/>
              </a:rPr>
              <a:t> </a:t>
            </a:r>
          </a:p>
          <a:p>
            <a:endParaRPr lang="en-US" dirty="0" smtClean="0"/>
          </a:p>
          <a:p>
            <a:r>
              <a:rPr lang="en-US" dirty="0" smtClean="0"/>
              <a:t>If  </a:t>
            </a:r>
            <a:r>
              <a:rPr lang="en-US" dirty="0"/>
              <a:t>(</a:t>
            </a:r>
            <a:r>
              <a:rPr lang="en-US" dirty="0" err="1">
                <a:latin typeface="Courier New" pitchFamily="49" charset="0"/>
              </a:rPr>
              <a:t>pnb</a:t>
            </a:r>
            <a:r>
              <a:rPr lang="en-US" dirty="0">
                <a:latin typeface="Courier New" pitchFamily="49" charset="0"/>
              </a:rPr>
              <a:t> == 0</a:t>
            </a:r>
            <a:r>
              <a:rPr lang="en-US" dirty="0"/>
              <a:t>) </a:t>
            </a:r>
          </a:p>
          <a:p>
            <a:pPr lvl="1"/>
            <a:r>
              <a:rPr lang="en-US" dirty="0"/>
              <a:t>Pass control to next instruction in the logical flow for </a:t>
            </a:r>
            <a:r>
              <a:rPr lang="en-US" i="1" dirty="0"/>
              <a:t>p</a:t>
            </a:r>
            <a:endParaRPr lang="en-US" dirty="0"/>
          </a:p>
          <a:p>
            <a:r>
              <a:rPr lang="en-US" dirty="0"/>
              <a:t>Else</a:t>
            </a:r>
          </a:p>
          <a:p>
            <a:pPr lvl="1"/>
            <a:r>
              <a:rPr lang="en-US" dirty="0"/>
              <a:t>Choose least nonzero bit </a:t>
            </a:r>
            <a:r>
              <a:rPr lang="en-US" i="1" dirty="0"/>
              <a:t>k</a:t>
            </a:r>
            <a:r>
              <a:rPr lang="en-US" dirty="0"/>
              <a:t> in </a:t>
            </a:r>
            <a:r>
              <a:rPr lang="en-US" b="1" dirty="0" err="1">
                <a:latin typeface="Courier New" pitchFamily="49" charset="0"/>
              </a:rPr>
              <a:t>pnb</a:t>
            </a:r>
            <a:r>
              <a:rPr lang="en-US" dirty="0">
                <a:latin typeface="Courier New" pitchFamily="49" charset="0"/>
              </a:rPr>
              <a:t> </a:t>
            </a:r>
            <a:r>
              <a:rPr lang="en-US" dirty="0"/>
              <a:t>and force process </a:t>
            </a:r>
            <a:r>
              <a:rPr lang="en-US" i="1" dirty="0"/>
              <a:t>p</a:t>
            </a:r>
            <a:r>
              <a:rPr lang="en-US" dirty="0"/>
              <a:t> to </a:t>
            </a:r>
            <a:r>
              <a:rPr lang="en-US" b="1" i="1" dirty="0">
                <a:solidFill>
                  <a:srgbClr val="C00000"/>
                </a:solidFill>
              </a:rPr>
              <a:t>receive</a:t>
            </a:r>
            <a:r>
              <a:rPr lang="en-US" dirty="0"/>
              <a:t> signal </a:t>
            </a:r>
            <a:r>
              <a:rPr lang="en-US" i="1" dirty="0"/>
              <a:t>k</a:t>
            </a:r>
          </a:p>
          <a:p>
            <a:pPr lvl="1"/>
            <a:r>
              <a:rPr lang="en-US" dirty="0"/>
              <a:t>The receipt of the signal triggers some </a:t>
            </a:r>
            <a:r>
              <a:rPr lang="en-US" b="1" i="1" dirty="0">
                <a:solidFill>
                  <a:srgbClr val="C00000"/>
                </a:solidFill>
              </a:rPr>
              <a:t>action</a:t>
            </a:r>
            <a:r>
              <a:rPr lang="en-US" dirty="0"/>
              <a:t> by </a:t>
            </a:r>
            <a:r>
              <a:rPr lang="en-US" i="1" dirty="0"/>
              <a:t>p</a:t>
            </a:r>
          </a:p>
          <a:p>
            <a:pPr lvl="1"/>
            <a:r>
              <a:rPr lang="en-US" dirty="0"/>
              <a:t>Repeat for all nonzero </a:t>
            </a:r>
            <a:r>
              <a:rPr lang="en-US" i="1" dirty="0"/>
              <a:t>k</a:t>
            </a:r>
            <a:r>
              <a:rPr lang="en-US" dirty="0"/>
              <a:t> in </a:t>
            </a:r>
            <a:r>
              <a:rPr lang="en-US" b="1" dirty="0" err="1">
                <a:latin typeface="Courier New" pitchFamily="49" charset="0"/>
              </a:rPr>
              <a:t>pnb</a:t>
            </a:r>
            <a:endParaRPr lang="en-US" b="1" dirty="0">
              <a:latin typeface="Courier New" pitchFamily="49" charset="0"/>
            </a:endParaRPr>
          </a:p>
          <a:p>
            <a:pPr lvl="1"/>
            <a:r>
              <a:rPr lang="en-US" dirty="0"/>
              <a:t>Pass control to next instruction in logical flow for </a:t>
            </a:r>
            <a:r>
              <a:rPr lang="en-US" i="1" dirty="0"/>
              <a:t>p</a:t>
            </a:r>
            <a:endParaRPr lang="en-US" dirty="0">
              <a:latin typeface="Courier New" pitchFamily="49" charset="0"/>
            </a:endParaRPr>
          </a:p>
        </p:txBody>
      </p:sp>
    </p:spTree>
    <p:extLst>
      <p:ext uri="{BB962C8B-B14F-4D97-AF65-F5344CB8AC3E}">
        <p14:creationId xmlns:p14="http://schemas.microsoft.com/office/powerpoint/2010/main" val="4188618502"/>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08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808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5808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808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808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808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80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a:xfrm>
            <a:off x="381000" y="435678"/>
            <a:ext cx="7592093" cy="762000"/>
          </a:xfrm>
        </p:spPr>
        <p:txBody>
          <a:bodyPr/>
          <a:lstStyle/>
          <a:p>
            <a:r>
              <a:rPr lang="en-US"/>
              <a:t>Default Actions</a:t>
            </a:r>
          </a:p>
        </p:txBody>
      </p:sp>
      <p:sp>
        <p:nvSpPr>
          <p:cNvPr id="559107" name="Rectangle 3"/>
          <p:cNvSpPr>
            <a:spLocks noGrp="1" noChangeArrowheads="1"/>
          </p:cNvSpPr>
          <p:nvPr>
            <p:ph type="body" idx="1"/>
          </p:nvPr>
        </p:nvSpPr>
        <p:spPr/>
        <p:txBody>
          <a:bodyPr/>
          <a:lstStyle/>
          <a:p>
            <a:r>
              <a:rPr lang="en-US" dirty="0"/>
              <a:t>Each signal type has a predefined </a:t>
            </a:r>
            <a:r>
              <a:rPr lang="en-US" i="1" dirty="0">
                <a:solidFill>
                  <a:srgbClr val="C00000"/>
                </a:solidFill>
              </a:rPr>
              <a:t>default action</a:t>
            </a:r>
            <a:r>
              <a:rPr lang="en-US" dirty="0"/>
              <a:t>, which is one of:</a:t>
            </a:r>
          </a:p>
          <a:p>
            <a:pPr lvl="1"/>
            <a:r>
              <a:rPr lang="en-US" dirty="0"/>
              <a:t>The process terminates</a:t>
            </a:r>
          </a:p>
          <a:p>
            <a:pPr lvl="1"/>
            <a:r>
              <a:rPr lang="en-US" smtClean="0"/>
              <a:t>The </a:t>
            </a:r>
            <a:r>
              <a:rPr lang="en-US" dirty="0"/>
              <a:t>process stops until restarted by a SIGCONT signal</a:t>
            </a:r>
          </a:p>
          <a:p>
            <a:pPr lvl="1"/>
            <a:r>
              <a:rPr lang="en-US" dirty="0"/>
              <a:t>The process ignores the signal</a:t>
            </a:r>
          </a:p>
          <a:p>
            <a:endParaRPr lang="en-US" dirty="0"/>
          </a:p>
          <a:p>
            <a:endParaRPr lang="en-US" dirty="0"/>
          </a:p>
        </p:txBody>
      </p:sp>
    </p:spTree>
    <p:extLst>
      <p:ext uri="{BB962C8B-B14F-4D97-AF65-F5344CB8AC3E}">
        <p14:creationId xmlns:p14="http://schemas.microsoft.com/office/powerpoint/2010/main" val="9335715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1026"/>
          <p:cNvSpPr>
            <a:spLocks noGrp="1" noChangeArrowheads="1"/>
          </p:cNvSpPr>
          <p:nvPr>
            <p:ph type="title"/>
          </p:nvPr>
        </p:nvSpPr>
        <p:spPr>
          <a:xfrm>
            <a:off x="278922" y="435678"/>
            <a:ext cx="7592093" cy="762000"/>
          </a:xfrm>
        </p:spPr>
        <p:txBody>
          <a:bodyPr/>
          <a:lstStyle/>
          <a:p>
            <a:r>
              <a:rPr lang="en-US"/>
              <a:t>Installing Signal Handlers</a:t>
            </a:r>
          </a:p>
        </p:txBody>
      </p:sp>
      <p:sp>
        <p:nvSpPr>
          <p:cNvPr id="560131" name="Rectangle 1027"/>
          <p:cNvSpPr>
            <a:spLocks noGrp="1" noChangeArrowheads="1"/>
          </p:cNvSpPr>
          <p:nvPr>
            <p:ph type="body" idx="1"/>
          </p:nvPr>
        </p:nvSpPr>
        <p:spPr>
          <a:xfrm>
            <a:off x="290513" y="1220788"/>
            <a:ext cx="8701087" cy="5224462"/>
          </a:xfrm>
        </p:spPr>
        <p:txBody>
          <a:bodyPr/>
          <a:lstStyle/>
          <a:p>
            <a:r>
              <a:rPr lang="en-US" dirty="0"/>
              <a:t>The </a:t>
            </a:r>
            <a:r>
              <a:rPr lang="en-US" dirty="0">
                <a:latin typeface="Courier New" pitchFamily="49" charset="0"/>
              </a:rPr>
              <a:t>signal</a:t>
            </a:r>
            <a:r>
              <a:rPr lang="en-US" dirty="0"/>
              <a:t> function modifies the default action associated with the receipt of signal </a:t>
            </a:r>
            <a:r>
              <a:rPr lang="en-US" dirty="0" err="1">
                <a:latin typeface="Courier New" pitchFamily="49" charset="0"/>
              </a:rPr>
              <a:t>signum</a:t>
            </a:r>
            <a:r>
              <a:rPr lang="en-US" dirty="0"/>
              <a:t>:</a:t>
            </a:r>
          </a:p>
          <a:p>
            <a:pPr lvl="1"/>
            <a:r>
              <a:rPr lang="en-US" b="1" dirty="0" err="1">
                <a:latin typeface="Courier New" pitchFamily="49" charset="0"/>
              </a:rPr>
              <a:t>handler_t</a:t>
            </a:r>
            <a:r>
              <a:rPr lang="en-US" b="1" dirty="0">
                <a:latin typeface="Courier New" pitchFamily="49" charset="0"/>
              </a:rPr>
              <a:t> *signal(</a:t>
            </a:r>
            <a:r>
              <a:rPr lang="en-US" b="1" dirty="0" err="1">
                <a:latin typeface="Courier New" pitchFamily="49" charset="0"/>
              </a:rPr>
              <a:t>int</a:t>
            </a:r>
            <a:r>
              <a:rPr lang="en-US" b="1" dirty="0">
                <a:latin typeface="Courier New" pitchFamily="49" charset="0"/>
              </a:rPr>
              <a:t> </a:t>
            </a:r>
            <a:r>
              <a:rPr lang="en-US" b="1" dirty="0" err="1">
                <a:latin typeface="Courier New" pitchFamily="49" charset="0"/>
              </a:rPr>
              <a:t>signum</a:t>
            </a:r>
            <a:r>
              <a:rPr lang="en-US" b="1" dirty="0">
                <a:latin typeface="Courier New" pitchFamily="49" charset="0"/>
              </a:rPr>
              <a:t>, </a:t>
            </a:r>
            <a:r>
              <a:rPr lang="en-US" b="1" dirty="0" err="1">
                <a:latin typeface="Courier New" pitchFamily="49" charset="0"/>
              </a:rPr>
              <a:t>handler_t</a:t>
            </a:r>
            <a:r>
              <a:rPr lang="en-US" b="1" dirty="0">
                <a:latin typeface="Courier New" pitchFamily="49" charset="0"/>
              </a:rPr>
              <a:t> *handler)</a:t>
            </a:r>
          </a:p>
          <a:p>
            <a:endParaRPr lang="en-US" dirty="0" smtClean="0"/>
          </a:p>
          <a:p>
            <a:r>
              <a:rPr lang="en-US" dirty="0" smtClean="0"/>
              <a:t>Different </a:t>
            </a:r>
            <a:r>
              <a:rPr lang="en-US" dirty="0"/>
              <a:t>values for </a:t>
            </a:r>
            <a:r>
              <a:rPr lang="en-US" dirty="0">
                <a:latin typeface="Courier New" pitchFamily="49" charset="0"/>
              </a:rPr>
              <a:t>handler</a:t>
            </a:r>
            <a:r>
              <a:rPr lang="en-US" dirty="0"/>
              <a:t>:</a:t>
            </a:r>
          </a:p>
          <a:p>
            <a:pPr lvl="1"/>
            <a:r>
              <a:rPr lang="en-US" dirty="0"/>
              <a:t>SIG_IGN: ignore signals of type </a:t>
            </a:r>
            <a:r>
              <a:rPr lang="en-US" b="1" dirty="0" err="1">
                <a:latin typeface="Courier New" pitchFamily="49" charset="0"/>
              </a:rPr>
              <a:t>signum</a:t>
            </a:r>
            <a:endParaRPr lang="en-US" b="1" dirty="0">
              <a:latin typeface="Courier New" pitchFamily="49" charset="0"/>
            </a:endParaRPr>
          </a:p>
          <a:p>
            <a:pPr lvl="1"/>
            <a:r>
              <a:rPr lang="en-US" dirty="0"/>
              <a:t>SIG_DFL: revert to the default action on receipt of signals of type </a:t>
            </a:r>
            <a:r>
              <a:rPr lang="en-US" b="1" dirty="0" err="1">
                <a:latin typeface="Courier New" pitchFamily="49" charset="0"/>
              </a:rPr>
              <a:t>signum</a:t>
            </a:r>
            <a:endParaRPr lang="en-US" b="1" dirty="0"/>
          </a:p>
          <a:p>
            <a:pPr lvl="1"/>
            <a:r>
              <a:rPr lang="en-US" dirty="0"/>
              <a:t>Otherwise, </a:t>
            </a:r>
            <a:r>
              <a:rPr lang="en-US" b="1" dirty="0">
                <a:latin typeface="Courier New" pitchFamily="49" charset="0"/>
              </a:rPr>
              <a:t>handler</a:t>
            </a:r>
            <a:r>
              <a:rPr lang="en-US" dirty="0"/>
              <a:t> is the address of </a:t>
            </a:r>
            <a:r>
              <a:rPr lang="en-US" dirty="0" smtClean="0"/>
              <a:t>a user-level </a:t>
            </a:r>
            <a:r>
              <a:rPr lang="en-US" b="1" i="1" dirty="0">
                <a:solidFill>
                  <a:srgbClr val="C00000"/>
                </a:solidFill>
              </a:rPr>
              <a:t>signal handler</a:t>
            </a:r>
          </a:p>
          <a:p>
            <a:pPr lvl="2"/>
            <a:r>
              <a:rPr lang="en-US" dirty="0">
                <a:solidFill>
                  <a:schemeClr val="tx1"/>
                </a:solidFill>
              </a:rPr>
              <a:t>Called when process receives signal of type </a:t>
            </a:r>
            <a:r>
              <a:rPr lang="en-US" b="1" dirty="0" err="1">
                <a:solidFill>
                  <a:schemeClr val="tx1"/>
                </a:solidFill>
                <a:latin typeface="Courier New" pitchFamily="49" charset="0"/>
              </a:rPr>
              <a:t>signum</a:t>
            </a:r>
            <a:endParaRPr lang="en-US" b="1" dirty="0">
              <a:solidFill>
                <a:schemeClr val="tx1"/>
              </a:solidFill>
              <a:latin typeface="Courier New" pitchFamily="49" charset="0"/>
            </a:endParaRPr>
          </a:p>
          <a:p>
            <a:pPr lvl="2"/>
            <a:r>
              <a:rPr lang="en-US" dirty="0">
                <a:solidFill>
                  <a:schemeClr val="tx1"/>
                </a:solidFill>
              </a:rPr>
              <a:t>Referred to as </a:t>
            </a:r>
            <a:r>
              <a:rPr lang="en-US" b="1" i="1" dirty="0">
                <a:solidFill>
                  <a:srgbClr val="C00000"/>
                </a:solidFill>
              </a:rPr>
              <a:t>“installing” </a:t>
            </a:r>
            <a:r>
              <a:rPr lang="en-US" dirty="0">
                <a:solidFill>
                  <a:schemeClr val="tx1"/>
                </a:solidFill>
              </a:rPr>
              <a:t>the handler</a:t>
            </a:r>
          </a:p>
          <a:p>
            <a:pPr lvl="2"/>
            <a:r>
              <a:rPr lang="en-US" dirty="0">
                <a:solidFill>
                  <a:schemeClr val="tx1"/>
                </a:solidFill>
              </a:rPr>
              <a:t>Executing handler is called </a:t>
            </a:r>
            <a:r>
              <a:rPr lang="en-US" b="1" i="1" dirty="0">
                <a:solidFill>
                  <a:srgbClr val="C00000"/>
                </a:solidFill>
              </a:rPr>
              <a:t>“catching” </a:t>
            </a:r>
            <a:r>
              <a:rPr lang="en-US" dirty="0">
                <a:solidFill>
                  <a:schemeClr val="tx1"/>
                </a:solidFill>
              </a:rPr>
              <a:t>or </a:t>
            </a:r>
            <a:r>
              <a:rPr lang="en-US" b="1" i="1" dirty="0">
                <a:solidFill>
                  <a:srgbClr val="C00000"/>
                </a:solidFill>
              </a:rPr>
              <a:t>“handling” </a:t>
            </a:r>
            <a:r>
              <a:rPr lang="en-US" dirty="0">
                <a:solidFill>
                  <a:schemeClr val="tx1"/>
                </a:solidFill>
              </a:rPr>
              <a:t>the signal</a:t>
            </a:r>
          </a:p>
          <a:p>
            <a:pPr lvl="2"/>
            <a:r>
              <a:rPr lang="en-US" dirty="0">
                <a:solidFill>
                  <a:schemeClr val="tx1"/>
                </a:solidFill>
              </a:rPr>
              <a:t>When the handler executes its return statement, control passes back to instruction in the control flow of the process that was interrupted by receipt of the signal</a:t>
            </a:r>
          </a:p>
        </p:txBody>
      </p:sp>
    </p:spTree>
    <p:extLst>
      <p:ext uri="{BB962C8B-B14F-4D97-AF65-F5344CB8AC3E}">
        <p14:creationId xmlns:p14="http://schemas.microsoft.com/office/powerpoint/2010/main" val="2871271297"/>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1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01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01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013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013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013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013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013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a:xfrm>
            <a:off x="228600" y="304800"/>
            <a:ext cx="5181600" cy="573087"/>
          </a:xfrm>
        </p:spPr>
        <p:txBody>
          <a:bodyPr/>
          <a:lstStyle/>
          <a:p>
            <a:r>
              <a:rPr lang="en-US" dirty="0"/>
              <a:t>Signal Handling Example</a:t>
            </a:r>
          </a:p>
        </p:txBody>
      </p:sp>
      <p:sp>
        <p:nvSpPr>
          <p:cNvPr id="524292" name="Text Box 4"/>
          <p:cNvSpPr txBox="1">
            <a:spLocks noChangeArrowheads="1"/>
          </p:cNvSpPr>
          <p:nvPr/>
        </p:nvSpPr>
        <p:spPr bwMode="auto">
          <a:xfrm>
            <a:off x="76200" y="967799"/>
            <a:ext cx="8991600" cy="5509201"/>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smtClean="0">
                <a:solidFill>
                  <a:srgbClr val="2D961E"/>
                </a:solidFill>
                <a:latin typeface="Courier New"/>
                <a:cs typeface="Courier New"/>
              </a:rPr>
              <a:t>void</a:t>
            </a:r>
            <a:r>
              <a:rPr lang="en-US" sz="1600" dirty="0" smtClean="0">
                <a:solidFill>
                  <a:srgbClr val="000000"/>
                </a:solidFill>
                <a:latin typeface="Courier New"/>
                <a:cs typeface="Courier New"/>
              </a:rPr>
              <a:t> </a:t>
            </a:r>
            <a:r>
              <a:rPr lang="en-US" sz="1600" dirty="0" err="1">
                <a:solidFill>
                  <a:srgbClr val="4A00FF"/>
                </a:solidFill>
                <a:latin typeface="Courier New"/>
                <a:cs typeface="Courier New"/>
              </a:rPr>
              <a:t>sigint_handler</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BA8C1C"/>
                </a:solidFill>
                <a:latin typeface="Courier New"/>
                <a:cs typeface="Courier New"/>
              </a:rPr>
              <a:t>sig</a:t>
            </a:r>
            <a:r>
              <a:rPr lang="en-US" sz="1600" dirty="0">
                <a:solidFill>
                  <a:srgbClr val="000000"/>
                </a:solidFill>
                <a:latin typeface="Courier New"/>
                <a:cs typeface="Courier New"/>
              </a:rPr>
              <a:t>) </a:t>
            </a:r>
            <a:r>
              <a:rPr lang="en-US" sz="1600" dirty="0">
                <a:solidFill>
                  <a:srgbClr val="CB2418"/>
                </a:solidFill>
                <a:latin typeface="Courier New"/>
                <a:cs typeface="Courier New"/>
              </a:rPr>
              <a:t>/* SIGINT handler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B7898A"/>
                </a:solidFill>
                <a:latin typeface="Courier New"/>
                <a:cs typeface="Courier New"/>
              </a:rPr>
              <a:t>"So you think you can stop the bomb with ctrl-c, do you?\n"</a:t>
            </a:r>
            <a:r>
              <a:rPr lang="en-US" sz="1600" dirty="0">
                <a:solidFill>
                  <a:srgbClr val="000000"/>
                </a:solidFill>
                <a:latin typeface="Courier New"/>
                <a:cs typeface="Courier New"/>
              </a:rPr>
              <a:t>);</a:t>
            </a:r>
          </a:p>
          <a:p>
            <a:r>
              <a:rPr lang="nl-NL" sz="1600" dirty="0">
                <a:solidFill>
                  <a:srgbClr val="000000"/>
                </a:solidFill>
                <a:latin typeface="Courier New"/>
                <a:cs typeface="Courier New"/>
              </a:rPr>
              <a:t>    sleep(2);</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B7898A"/>
                </a:solidFill>
                <a:latin typeface="Courier New"/>
                <a:cs typeface="Courier New"/>
              </a:rPr>
              <a:t>"Well..."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fflush</a:t>
            </a:r>
            <a:r>
              <a:rPr lang="en-US" sz="1600" dirty="0">
                <a:solidFill>
                  <a:srgbClr val="000000"/>
                </a:solidFill>
                <a:latin typeface="Courier New"/>
                <a:cs typeface="Courier New"/>
              </a:rPr>
              <a:t>(</a:t>
            </a:r>
            <a:r>
              <a:rPr lang="en-US" sz="1600" dirty="0" err="1">
                <a:solidFill>
                  <a:srgbClr val="000000"/>
                </a:solidFill>
                <a:latin typeface="Courier New"/>
                <a:cs typeface="Courier New"/>
              </a:rPr>
              <a:t>stdout</a:t>
            </a:r>
            <a:r>
              <a:rPr lang="en-US" sz="1600" dirty="0">
                <a:solidFill>
                  <a:srgbClr val="000000"/>
                </a:solidFill>
                <a:latin typeface="Courier New"/>
                <a:cs typeface="Courier New"/>
              </a:rPr>
              <a:t>);</a:t>
            </a:r>
          </a:p>
          <a:p>
            <a:r>
              <a:rPr lang="nl-NL" sz="1600" dirty="0">
                <a:solidFill>
                  <a:srgbClr val="000000"/>
                </a:solidFill>
                <a:latin typeface="Courier New"/>
                <a:cs typeface="Courier New"/>
              </a:rPr>
              <a:t>    sleep(1);</a:t>
            </a:r>
          </a:p>
          <a:p>
            <a:r>
              <a:rPr lang="ro-RO" sz="1600" dirty="0">
                <a:solidFill>
                  <a:srgbClr val="000000"/>
                </a:solidFill>
                <a:latin typeface="Courier New"/>
                <a:cs typeface="Courier New"/>
              </a:rPr>
              <a:t>    printf(</a:t>
            </a:r>
            <a:r>
              <a:rPr lang="ro-RO" sz="1600" dirty="0">
                <a:solidFill>
                  <a:srgbClr val="B7898A"/>
                </a:solidFill>
                <a:latin typeface="Courier New"/>
                <a:cs typeface="Courier New"/>
              </a:rPr>
              <a:t>"OK. :-)\n"</a:t>
            </a:r>
            <a:r>
              <a:rPr lang="ro-RO" sz="1600" dirty="0">
                <a:solidFill>
                  <a:srgbClr val="000000"/>
                </a:solidFill>
                <a:latin typeface="Courier New"/>
                <a:cs typeface="Courier New"/>
              </a:rPr>
              <a:t>);</a:t>
            </a:r>
          </a:p>
          <a:p>
            <a:r>
              <a:rPr lang="ro-RO" sz="1600" dirty="0">
                <a:solidFill>
                  <a:srgbClr val="000000"/>
                </a:solidFill>
                <a:latin typeface="Courier New"/>
                <a:cs typeface="Courier New"/>
              </a:rPr>
              <a:t>    exit(0);</a:t>
            </a:r>
          </a:p>
          <a:p>
            <a:r>
              <a:rPr lang="ro-RO" sz="1600" dirty="0">
                <a:solidFill>
                  <a:srgbClr val="000000"/>
                </a:solidFill>
                <a:latin typeface="Courier New"/>
                <a:cs typeface="Courier New"/>
              </a:rPr>
              <a:t>}</a:t>
            </a:r>
          </a:p>
          <a:p>
            <a:endParaRPr lang="ro-RO" sz="1600" dirty="0">
              <a:solidFill>
                <a:srgbClr val="000000"/>
              </a:solidFill>
              <a:latin typeface="Courier New"/>
              <a:cs typeface="Courier New"/>
            </a:endParaRPr>
          </a:p>
          <a:p>
            <a:r>
              <a:rPr lang="ro-RO" sz="1600" dirty="0">
                <a:solidFill>
                  <a:srgbClr val="2D961E"/>
                </a:solidFill>
                <a:latin typeface="Courier New"/>
                <a:cs typeface="Courier New"/>
              </a:rPr>
              <a:t>int</a:t>
            </a:r>
            <a:r>
              <a:rPr lang="ro-RO" sz="1600" dirty="0">
                <a:solidFill>
                  <a:srgbClr val="000000"/>
                </a:solidFill>
                <a:latin typeface="Courier New"/>
                <a:cs typeface="Courier New"/>
              </a:rPr>
              <a:t> </a:t>
            </a:r>
            <a:r>
              <a:rPr lang="ro-RO" sz="1600" dirty="0" smtClean="0">
                <a:solidFill>
                  <a:srgbClr val="4A00FF"/>
                </a:solidFill>
                <a:latin typeface="Courier New"/>
                <a:cs typeface="Courier New"/>
              </a:rPr>
              <a:t>main</a:t>
            </a:r>
            <a:r>
              <a:rPr lang="ro-RO" sz="1600" dirty="0" smtClean="0">
                <a:solidFill>
                  <a:srgbClr val="000000"/>
                </a:solidFill>
                <a:latin typeface="Courier New"/>
                <a:cs typeface="Courier New"/>
              </a:rPr>
              <a:t>(</a:t>
            </a:r>
            <a:r>
              <a:rPr lang="en-US" sz="1600" dirty="0" err="1" smtClean="0">
                <a:solidFill>
                  <a:srgbClr val="000000"/>
                </a:solidFill>
                <a:latin typeface="Courier New"/>
                <a:cs typeface="Courier New"/>
              </a:rPr>
              <a:t>int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argc</a:t>
            </a:r>
            <a:r>
              <a:rPr lang="en-US" sz="1600" dirty="0" smtClean="0">
                <a:solidFill>
                  <a:srgbClr val="000000"/>
                </a:solidFill>
                <a:latin typeface="Courier New"/>
                <a:cs typeface="Courier New"/>
              </a:rPr>
              <a:t>, char** </a:t>
            </a:r>
            <a:r>
              <a:rPr lang="en-US" sz="1600" dirty="0" err="1" smtClean="0">
                <a:solidFill>
                  <a:srgbClr val="000000"/>
                </a:solidFill>
                <a:latin typeface="Courier New"/>
                <a:cs typeface="Courier New"/>
              </a:rPr>
              <a:t>argv</a:t>
            </a:r>
            <a:r>
              <a:rPr lang="ro-RO" sz="1600" dirty="0" smtClean="0">
                <a:solidFill>
                  <a:srgbClr val="000000"/>
                </a:solidFill>
                <a:latin typeface="Courier New"/>
                <a:cs typeface="Courier New"/>
              </a:rPr>
              <a:t>)</a:t>
            </a:r>
            <a:endParaRPr lang="ro-RO" sz="1600" dirty="0">
              <a:solidFill>
                <a:srgbClr val="000000"/>
              </a:solidFill>
              <a:latin typeface="Courier New"/>
              <a:cs typeface="Courier New"/>
            </a:endParaRPr>
          </a:p>
          <a:p>
            <a:r>
              <a:rPr lang="ro-RO" sz="1600" dirty="0">
                <a:solidFill>
                  <a:srgbClr val="000000"/>
                </a:solidFill>
                <a:latin typeface="Courier New"/>
                <a:cs typeface="Courier New"/>
              </a:rPr>
              <a:t>{</a:t>
            </a:r>
          </a:p>
          <a:p>
            <a:r>
              <a:rPr lang="ro-RO" sz="1600" dirty="0">
                <a:solidFill>
                  <a:srgbClr val="000000"/>
                </a:solidFill>
                <a:latin typeface="Courier New"/>
                <a:cs typeface="Courier New"/>
              </a:rPr>
              <a:t>    </a:t>
            </a:r>
            <a:r>
              <a:rPr lang="ro-RO" sz="1600" dirty="0">
                <a:solidFill>
                  <a:srgbClr val="CB2418"/>
                </a:solidFill>
                <a:latin typeface="Courier New"/>
                <a:cs typeface="Courier New"/>
              </a:rPr>
              <a:t>/* Install the SIGINT handler */</a:t>
            </a:r>
            <a:endParaRPr lang="ro-RO"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200FF"/>
                </a:solidFill>
                <a:latin typeface="Courier New"/>
                <a:cs typeface="Courier New"/>
              </a:rPr>
              <a:t>if</a:t>
            </a:r>
            <a:r>
              <a:rPr lang="ro-RO" sz="1600" dirty="0">
                <a:solidFill>
                  <a:srgbClr val="000000"/>
                </a:solidFill>
                <a:latin typeface="Courier New"/>
                <a:cs typeface="Courier New"/>
              </a:rPr>
              <a:t> (signal(SIGINT, sigint_handler) == SIG_ERR)</a:t>
            </a:r>
          </a:p>
          <a:p>
            <a:r>
              <a:rPr lang="ro-RO" sz="1600" dirty="0">
                <a:solidFill>
                  <a:srgbClr val="000000"/>
                </a:solidFill>
                <a:latin typeface="Courier New"/>
                <a:cs typeface="Courier New"/>
              </a:rPr>
              <a:t>        unix_error(</a:t>
            </a:r>
            <a:r>
              <a:rPr lang="ro-RO" sz="1600" dirty="0">
                <a:solidFill>
                  <a:srgbClr val="B7898A"/>
                </a:solidFill>
                <a:latin typeface="Courier New"/>
                <a:cs typeface="Courier New"/>
              </a:rPr>
              <a:t>"signal error"</a:t>
            </a:r>
            <a:r>
              <a:rPr lang="ro-RO" sz="1600" dirty="0">
                <a:solidFill>
                  <a:srgbClr val="000000"/>
                </a:solidFill>
                <a:latin typeface="Courier New"/>
                <a:cs typeface="Courier New"/>
              </a:rPr>
              <a:t>);</a:t>
            </a:r>
          </a:p>
          <a:p>
            <a:endParaRPr lang="ro-RO"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B2418"/>
                </a:solidFill>
                <a:latin typeface="Courier New"/>
                <a:cs typeface="Courier New"/>
              </a:rPr>
              <a:t>/* Wait for the receipt of a signal */</a:t>
            </a:r>
            <a:endParaRPr lang="ro-RO" sz="1600" dirty="0">
              <a:solidFill>
                <a:srgbClr val="000000"/>
              </a:solidFill>
              <a:latin typeface="Courier New"/>
              <a:cs typeface="Courier New"/>
            </a:endParaRPr>
          </a:p>
          <a:p>
            <a:r>
              <a:rPr lang="ro-RO" sz="1600" dirty="0">
                <a:solidFill>
                  <a:srgbClr val="000000"/>
                </a:solidFill>
                <a:latin typeface="Courier New"/>
                <a:cs typeface="Courier New"/>
              </a:rPr>
              <a:t>    pause();</a:t>
            </a:r>
          </a:p>
          <a:p>
            <a:endParaRPr lang="ro-RO" sz="1600" dirty="0">
              <a:solidFill>
                <a:srgbClr val="000000"/>
              </a:solidFill>
              <a:latin typeface="Courier New"/>
              <a:cs typeface="Courier New"/>
            </a:endParaRP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 0;</a:t>
            </a:r>
          </a:p>
          <a:p>
            <a:r>
              <a:rPr lang="is-IS" sz="1600" dirty="0" smtClean="0">
                <a:solidFill>
                  <a:srgbClr val="000000"/>
                </a:solidFill>
                <a:latin typeface="Courier New"/>
                <a:cs typeface="Courier New"/>
              </a:rPr>
              <a:t>}</a:t>
            </a:r>
            <a:endParaRPr lang="is-IS" sz="1600" dirty="0">
              <a:solidFill>
                <a:srgbClr val="000000"/>
              </a:solidFill>
              <a:latin typeface="Courier New"/>
              <a:cs typeface="Courier New"/>
            </a:endParaRPr>
          </a:p>
        </p:txBody>
      </p:sp>
      <p:sp>
        <p:nvSpPr>
          <p:cNvPr id="4" name="TextBox 3"/>
          <p:cNvSpPr txBox="1"/>
          <p:nvPr/>
        </p:nvSpPr>
        <p:spPr>
          <a:xfrm>
            <a:off x="8206078" y="6096000"/>
            <a:ext cx="861722" cy="369332"/>
          </a:xfrm>
          <a:prstGeom prst="rect">
            <a:avLst/>
          </a:prstGeom>
          <a:noFill/>
        </p:spPr>
        <p:txBody>
          <a:bodyPr wrap="none" rtlCol="0">
            <a:spAutoFit/>
          </a:bodyPr>
          <a:lstStyle/>
          <a:p>
            <a:r>
              <a:rPr lang="en-US" sz="1800" dirty="0" err="1" smtClean="0">
                <a:solidFill>
                  <a:srgbClr val="7F7F7F"/>
                </a:solidFill>
                <a:latin typeface="Calibri" pitchFamily="34" charset="0"/>
              </a:rPr>
              <a:t>sigint.c</a:t>
            </a:r>
            <a:endParaRPr lang="en-US" sz="1800" dirty="0" smtClean="0">
              <a:solidFill>
                <a:srgbClr val="7F7F7F"/>
              </a:solidFill>
              <a:latin typeface="Calibri" pitchFamily="34" charset="0"/>
            </a:endParaRPr>
          </a:p>
        </p:txBody>
      </p:sp>
    </p:spTree>
    <p:extLst>
      <p:ext uri="{BB962C8B-B14F-4D97-AF65-F5344CB8AC3E}">
        <p14:creationId xmlns:p14="http://schemas.microsoft.com/office/powerpoint/2010/main" val="2121846411"/>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xfrm>
            <a:off x="381000" y="435678"/>
            <a:ext cx="7592093" cy="762000"/>
          </a:xfrm>
        </p:spPr>
        <p:txBody>
          <a:bodyPr/>
          <a:lstStyle/>
          <a:p>
            <a:r>
              <a:rPr lang="en-US" sz="3400"/>
              <a:t>Signals Handlers as Concurrent Flows</a:t>
            </a:r>
          </a:p>
        </p:txBody>
      </p:sp>
      <p:sp>
        <p:nvSpPr>
          <p:cNvPr id="657411" name="Rectangle 3"/>
          <p:cNvSpPr>
            <a:spLocks noGrp="1" noChangeArrowheads="1"/>
          </p:cNvSpPr>
          <p:nvPr>
            <p:ph type="body" idx="1"/>
          </p:nvPr>
        </p:nvSpPr>
        <p:spPr>
          <a:xfrm>
            <a:off x="381000" y="1371600"/>
            <a:ext cx="8307388" cy="1295400"/>
          </a:xfrm>
        </p:spPr>
        <p:txBody>
          <a:bodyPr/>
          <a:lstStyle/>
          <a:p>
            <a:r>
              <a:rPr lang="en-US" dirty="0"/>
              <a:t>A signal handler is a separate logical flow </a:t>
            </a:r>
            <a:r>
              <a:rPr lang="en-US" dirty="0" smtClean="0"/>
              <a:t>(not process) that </a:t>
            </a:r>
            <a:r>
              <a:rPr lang="en-US" dirty="0"/>
              <a:t>runs concurrently with the main </a:t>
            </a:r>
            <a:r>
              <a:rPr lang="en-US" dirty="0" smtClean="0"/>
              <a:t>program</a:t>
            </a:r>
          </a:p>
          <a:p>
            <a:r>
              <a:rPr lang="en-US" dirty="0" smtClean="0"/>
              <a:t>But, this flow exists only until returns to main program</a:t>
            </a:r>
            <a:endParaRPr lang="en-US" dirty="0"/>
          </a:p>
        </p:txBody>
      </p:sp>
      <p:sp>
        <p:nvSpPr>
          <p:cNvPr id="657415" name="Line 7"/>
          <p:cNvSpPr>
            <a:spLocks noChangeShapeType="1"/>
          </p:cNvSpPr>
          <p:nvPr/>
        </p:nvSpPr>
        <p:spPr bwMode="auto">
          <a:xfrm>
            <a:off x="2987675" y="43434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16" name="Text Box 8"/>
          <p:cNvSpPr txBox="1">
            <a:spLocks noChangeArrowheads="1"/>
          </p:cNvSpPr>
          <p:nvPr/>
        </p:nvSpPr>
        <p:spPr bwMode="auto">
          <a:xfrm>
            <a:off x="2420938" y="3124200"/>
            <a:ext cx="1284287" cy="1069975"/>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A </a:t>
            </a:r>
          </a:p>
          <a:p>
            <a:pPr algn="l">
              <a:lnSpc>
                <a:spcPct val="100000"/>
              </a:lnSpc>
            </a:pPr>
            <a:endParaRPr lang="en-US" sz="1600" b="1" dirty="0">
              <a:latin typeface="Calibri" pitchFamily="34" charset="0"/>
            </a:endParaRPr>
          </a:p>
          <a:p>
            <a:pPr algn="l">
              <a:lnSpc>
                <a:spcPct val="100000"/>
              </a:lnSpc>
            </a:pPr>
            <a:r>
              <a:rPr lang="en-US" sz="1600" b="1" dirty="0">
                <a:latin typeface="Courier New" pitchFamily="49" charset="0"/>
              </a:rPr>
              <a:t>while (1)</a:t>
            </a:r>
          </a:p>
          <a:p>
            <a:pPr algn="l">
              <a:lnSpc>
                <a:spcPct val="100000"/>
              </a:lnSpc>
            </a:pPr>
            <a:r>
              <a:rPr lang="en-US" sz="1600" b="1" dirty="0">
                <a:latin typeface="Courier New" pitchFamily="49" charset="0"/>
              </a:rPr>
              <a:t>    ;</a:t>
            </a:r>
          </a:p>
        </p:txBody>
      </p:sp>
      <p:sp>
        <p:nvSpPr>
          <p:cNvPr id="657417" name="Text Box 9"/>
          <p:cNvSpPr txBox="1">
            <a:spLocks noChangeArrowheads="1"/>
          </p:cNvSpPr>
          <p:nvPr/>
        </p:nvSpPr>
        <p:spPr bwMode="auto">
          <a:xfrm>
            <a:off x="3944938" y="3124200"/>
            <a:ext cx="1406525" cy="1314450"/>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A</a:t>
            </a:r>
          </a:p>
          <a:p>
            <a:pPr algn="l">
              <a:lnSpc>
                <a:spcPct val="100000"/>
              </a:lnSpc>
            </a:pPr>
            <a:endParaRPr lang="en-US" sz="1600" b="1" dirty="0">
              <a:latin typeface="Calibri" pitchFamily="34" charset="0"/>
            </a:endParaRPr>
          </a:p>
          <a:p>
            <a:pPr algn="l">
              <a:lnSpc>
                <a:spcPct val="100000"/>
              </a:lnSpc>
            </a:pPr>
            <a:r>
              <a:rPr lang="en-US" sz="1600" b="1" dirty="0">
                <a:latin typeface="Courier New" pitchFamily="49" charset="0"/>
              </a:rPr>
              <a:t>handler(){</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p:txBody>
      </p:sp>
      <p:sp>
        <p:nvSpPr>
          <p:cNvPr id="657418" name="Text Box 10"/>
          <p:cNvSpPr txBox="1">
            <a:spLocks noChangeArrowheads="1"/>
          </p:cNvSpPr>
          <p:nvPr/>
        </p:nvSpPr>
        <p:spPr bwMode="auto">
          <a:xfrm>
            <a:off x="5468938" y="3124200"/>
            <a:ext cx="990079" cy="338554"/>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B</a:t>
            </a:r>
          </a:p>
        </p:txBody>
      </p:sp>
      <p:sp>
        <p:nvSpPr>
          <p:cNvPr id="657419" name="Line 11"/>
          <p:cNvSpPr>
            <a:spLocks noChangeShapeType="1"/>
          </p:cNvSpPr>
          <p:nvPr/>
        </p:nvSpPr>
        <p:spPr bwMode="auto">
          <a:xfrm>
            <a:off x="4511675" y="4953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0" name="Line 12"/>
          <p:cNvSpPr>
            <a:spLocks noChangeShapeType="1"/>
          </p:cNvSpPr>
          <p:nvPr/>
        </p:nvSpPr>
        <p:spPr bwMode="auto">
          <a:xfrm>
            <a:off x="6035675" y="46482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1" name="Line 13"/>
          <p:cNvSpPr>
            <a:spLocks noChangeShapeType="1"/>
          </p:cNvSpPr>
          <p:nvPr/>
        </p:nvSpPr>
        <p:spPr bwMode="auto">
          <a:xfrm>
            <a:off x="2987675" y="52578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2" name="Line 14"/>
          <p:cNvSpPr>
            <a:spLocks noChangeShapeType="1"/>
          </p:cNvSpPr>
          <p:nvPr/>
        </p:nvSpPr>
        <p:spPr bwMode="auto">
          <a:xfrm>
            <a:off x="6035675" y="55626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3" name="Line 15"/>
          <p:cNvSpPr>
            <a:spLocks noChangeShapeType="1"/>
          </p:cNvSpPr>
          <p:nvPr/>
        </p:nvSpPr>
        <p:spPr bwMode="auto">
          <a:xfrm>
            <a:off x="2530475" y="46482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4" name="Line 16"/>
          <p:cNvSpPr>
            <a:spLocks noChangeShapeType="1"/>
          </p:cNvSpPr>
          <p:nvPr/>
        </p:nvSpPr>
        <p:spPr bwMode="auto">
          <a:xfrm>
            <a:off x="2530475" y="49530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5" name="Line 17"/>
          <p:cNvSpPr>
            <a:spLocks noChangeShapeType="1"/>
          </p:cNvSpPr>
          <p:nvPr/>
        </p:nvSpPr>
        <p:spPr bwMode="auto">
          <a:xfrm>
            <a:off x="2530475" y="52578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6" name="Line 18"/>
          <p:cNvSpPr>
            <a:spLocks noChangeShapeType="1"/>
          </p:cNvSpPr>
          <p:nvPr/>
        </p:nvSpPr>
        <p:spPr bwMode="auto">
          <a:xfrm>
            <a:off x="2530475" y="55626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7" name="Line 19"/>
          <p:cNvSpPr>
            <a:spLocks noChangeShapeType="1"/>
          </p:cNvSpPr>
          <p:nvPr/>
        </p:nvSpPr>
        <p:spPr bwMode="auto">
          <a:xfrm>
            <a:off x="2530475" y="58674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19" name="Text Box 1031"/>
          <p:cNvSpPr txBox="1">
            <a:spLocks noChangeArrowheads="1"/>
          </p:cNvSpPr>
          <p:nvPr/>
        </p:nvSpPr>
        <p:spPr bwMode="auto">
          <a:xfrm>
            <a:off x="990600" y="4796135"/>
            <a:ext cx="817853" cy="461665"/>
          </a:xfrm>
          <a:prstGeom prst="rect">
            <a:avLst/>
          </a:prstGeom>
          <a:noFill/>
          <a:ln w="25400">
            <a:noFill/>
            <a:miter lim="800000"/>
            <a:headEnd/>
            <a:tailEnd/>
          </a:ln>
          <a:effectLst/>
        </p:spPr>
        <p:txBody>
          <a:bodyPr wrap="square">
            <a:spAutoFit/>
          </a:bodyPr>
          <a:lstStyle/>
          <a:p>
            <a:pPr algn="l">
              <a:lnSpc>
                <a:spcPct val="100000"/>
              </a:lnSpc>
            </a:pPr>
            <a:r>
              <a:rPr lang="en-US" dirty="0">
                <a:latin typeface="Calibri" pitchFamily="34" charset="0"/>
              </a:rPr>
              <a:t>Time</a:t>
            </a:r>
          </a:p>
        </p:txBody>
      </p:sp>
      <p:sp>
        <p:nvSpPr>
          <p:cNvPr id="20" name="Down Arrow 19"/>
          <p:cNvSpPr/>
          <p:nvPr/>
        </p:nvSpPr>
        <p:spPr bwMode="auto">
          <a:xfrm>
            <a:off x="1732253" y="4419600"/>
            <a:ext cx="457200" cy="1600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Tree>
    <p:extLst>
      <p:ext uri="{BB962C8B-B14F-4D97-AF65-F5344CB8AC3E}">
        <p14:creationId xmlns:p14="http://schemas.microsoft.com/office/powerpoint/2010/main" val="267317485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2771015" y="472440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0" name="Rectangle 29"/>
          <p:cNvSpPr/>
          <p:nvPr/>
        </p:nvSpPr>
        <p:spPr bwMode="auto">
          <a:xfrm>
            <a:off x="2771015" y="5149850"/>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658434" name="Rectangle 2"/>
          <p:cNvSpPr>
            <a:spLocks noGrp="1" noChangeArrowheads="1"/>
          </p:cNvSpPr>
          <p:nvPr>
            <p:ph type="title"/>
          </p:nvPr>
        </p:nvSpPr>
        <p:spPr>
          <a:xfrm>
            <a:off x="357018" y="609600"/>
            <a:ext cx="7592093" cy="762000"/>
          </a:xfrm>
        </p:spPr>
        <p:txBody>
          <a:bodyPr/>
          <a:lstStyle/>
          <a:p>
            <a:pPr marL="0" indent="0"/>
            <a:r>
              <a:rPr lang="en-US" sz="3400" dirty="0"/>
              <a:t>Another View of Signal Handlers as Concurrent Flows</a:t>
            </a:r>
          </a:p>
        </p:txBody>
      </p:sp>
      <p:sp>
        <p:nvSpPr>
          <p:cNvPr id="658472" name="Text Box 40"/>
          <p:cNvSpPr txBox="1">
            <a:spLocks noChangeArrowheads="1"/>
          </p:cNvSpPr>
          <p:nvPr/>
        </p:nvSpPr>
        <p:spPr bwMode="auto">
          <a:xfrm>
            <a:off x="697782" y="2667000"/>
            <a:ext cx="1615286" cy="646331"/>
          </a:xfrm>
          <a:prstGeom prst="rect">
            <a:avLst/>
          </a:prstGeom>
          <a:noFill/>
          <a:ln w="19050">
            <a:noFill/>
            <a:miter lim="800000"/>
            <a:headEnd/>
            <a:tailEnd/>
          </a:ln>
          <a:effectLst/>
        </p:spPr>
        <p:txBody>
          <a:bodyPr wrap="none" lIns="45720" rIns="45720">
            <a:spAutoFit/>
          </a:bodyPr>
          <a:lstStyle/>
          <a:p>
            <a:r>
              <a:rPr lang="en-US" sz="1800" b="1" dirty="0">
                <a:latin typeface="Calibri" pitchFamily="34" charset="0"/>
              </a:rPr>
              <a:t>Signal </a:t>
            </a:r>
            <a:r>
              <a:rPr lang="en-US" sz="1800" b="1" dirty="0" smtClean="0">
                <a:latin typeface="Calibri" pitchFamily="34" charset="0"/>
              </a:rPr>
              <a:t>delivered</a:t>
            </a:r>
          </a:p>
          <a:p>
            <a:r>
              <a:rPr lang="en-US" sz="1800" dirty="0" smtClean="0">
                <a:latin typeface="Calibri" pitchFamily="34" charset="0"/>
              </a:rPr>
              <a:t>to process A</a:t>
            </a:r>
            <a:endParaRPr lang="en-US" sz="1800" b="1" dirty="0">
              <a:latin typeface="Calibri" pitchFamily="34" charset="0"/>
            </a:endParaRPr>
          </a:p>
        </p:txBody>
      </p:sp>
      <p:sp>
        <p:nvSpPr>
          <p:cNvPr id="658473" name="Line 41"/>
          <p:cNvSpPr>
            <a:spLocks noChangeShapeType="1"/>
          </p:cNvSpPr>
          <p:nvPr/>
        </p:nvSpPr>
        <p:spPr bwMode="auto">
          <a:xfrm>
            <a:off x="2362200" y="2851666"/>
            <a:ext cx="381000" cy="0"/>
          </a:xfrm>
          <a:prstGeom prst="line">
            <a:avLst/>
          </a:prstGeom>
          <a:noFill/>
          <a:ln w="38100">
            <a:solidFill>
              <a:schemeClr val="tx2"/>
            </a:solidFill>
            <a:round/>
            <a:headEnd/>
            <a:tailEnd type="triangle" w="med" len="med"/>
          </a:ln>
          <a:effectLst/>
        </p:spPr>
        <p:txBody>
          <a:bodyPr wrap="none" lIns="45720" rIns="45720"/>
          <a:lstStyle/>
          <a:p>
            <a:endParaRPr lang="en-US" dirty="0">
              <a:latin typeface="Calibri" pitchFamily="34" charset="0"/>
            </a:endParaRPr>
          </a:p>
        </p:txBody>
      </p:sp>
      <p:sp>
        <p:nvSpPr>
          <p:cNvPr id="658474" name="Text Box 42"/>
          <p:cNvSpPr txBox="1">
            <a:spLocks noChangeArrowheads="1"/>
          </p:cNvSpPr>
          <p:nvPr/>
        </p:nvSpPr>
        <p:spPr bwMode="auto">
          <a:xfrm>
            <a:off x="781138" y="4132052"/>
            <a:ext cx="1531316" cy="646331"/>
          </a:xfrm>
          <a:prstGeom prst="rect">
            <a:avLst/>
          </a:prstGeom>
          <a:noFill/>
          <a:ln w="19050">
            <a:noFill/>
            <a:miter lim="800000"/>
            <a:headEnd/>
            <a:tailEnd/>
          </a:ln>
          <a:effectLst/>
        </p:spPr>
        <p:txBody>
          <a:bodyPr wrap="none" lIns="45720" rIns="45720">
            <a:spAutoFit/>
          </a:bodyPr>
          <a:lstStyle/>
          <a:p>
            <a:r>
              <a:rPr lang="en-US" sz="1800" b="1" dirty="0">
                <a:latin typeface="Calibri" pitchFamily="34" charset="0"/>
              </a:rPr>
              <a:t>Signal </a:t>
            </a:r>
            <a:r>
              <a:rPr lang="en-US" sz="1800" b="1" dirty="0" smtClean="0">
                <a:latin typeface="Calibri" pitchFamily="34" charset="0"/>
              </a:rPr>
              <a:t>received</a:t>
            </a:r>
          </a:p>
          <a:p>
            <a:r>
              <a:rPr lang="en-US" sz="1800" dirty="0" smtClean="0">
                <a:latin typeface="Calibri" pitchFamily="34" charset="0"/>
              </a:rPr>
              <a:t>by process A</a:t>
            </a:r>
            <a:endParaRPr lang="en-US" sz="1800" b="1" dirty="0">
              <a:latin typeface="Calibri" pitchFamily="34" charset="0"/>
            </a:endParaRPr>
          </a:p>
        </p:txBody>
      </p:sp>
      <p:sp>
        <p:nvSpPr>
          <p:cNvPr id="658475" name="Line 43"/>
          <p:cNvSpPr>
            <a:spLocks noChangeShapeType="1"/>
          </p:cNvSpPr>
          <p:nvPr/>
        </p:nvSpPr>
        <p:spPr bwMode="auto">
          <a:xfrm>
            <a:off x="2362200" y="4316718"/>
            <a:ext cx="381000" cy="0"/>
          </a:xfrm>
          <a:prstGeom prst="line">
            <a:avLst/>
          </a:prstGeom>
          <a:noFill/>
          <a:ln w="38100">
            <a:solidFill>
              <a:schemeClr val="tx2"/>
            </a:solidFill>
            <a:round/>
            <a:headEnd/>
            <a:tailEnd type="triangle" w="med" len="med"/>
          </a:ln>
          <a:effectLst/>
        </p:spPr>
        <p:txBody>
          <a:bodyPr wrap="none" lIns="45720" rIns="45720"/>
          <a:lstStyle/>
          <a:p>
            <a:endParaRPr lang="en-US" dirty="0">
              <a:latin typeface="Calibri" pitchFamily="34" charset="0"/>
            </a:endParaRPr>
          </a:p>
        </p:txBody>
      </p:sp>
      <p:sp>
        <p:nvSpPr>
          <p:cNvPr id="41" name="Rectangle 40"/>
          <p:cNvSpPr/>
          <p:nvPr/>
        </p:nvSpPr>
        <p:spPr bwMode="auto">
          <a:xfrm>
            <a:off x="2771015" y="38850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2" name="Rectangle 41"/>
          <p:cNvSpPr/>
          <p:nvPr/>
        </p:nvSpPr>
        <p:spPr bwMode="auto">
          <a:xfrm>
            <a:off x="2771015" y="34596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3" name="Rectangle 42"/>
          <p:cNvSpPr/>
          <p:nvPr/>
        </p:nvSpPr>
        <p:spPr bwMode="auto">
          <a:xfrm>
            <a:off x="2771015" y="4310510"/>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4" name="Rectangle 43"/>
          <p:cNvSpPr/>
          <p:nvPr/>
        </p:nvSpPr>
        <p:spPr bwMode="auto">
          <a:xfrm>
            <a:off x="2771015" y="30282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5" name="Rectangle 44"/>
          <p:cNvSpPr/>
          <p:nvPr/>
        </p:nvSpPr>
        <p:spPr bwMode="auto">
          <a:xfrm>
            <a:off x="2771015" y="2602816"/>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6" name="Text Box 4"/>
          <p:cNvSpPr txBox="1">
            <a:spLocks noChangeArrowheads="1"/>
          </p:cNvSpPr>
          <p:nvPr/>
        </p:nvSpPr>
        <p:spPr bwMode="auto">
          <a:xfrm>
            <a:off x="2993037" y="1981200"/>
            <a:ext cx="1097160"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chemeClr val="accent6">
                    <a:lumMod val="60000"/>
                    <a:lumOff val="40000"/>
                  </a:schemeClr>
                </a:solidFill>
                <a:latin typeface="Calibri" pitchFamily="34" charset="0"/>
              </a:rPr>
              <a:t>Process </a:t>
            </a:r>
            <a:r>
              <a:rPr lang="en-US" sz="1800" i="1" dirty="0" smtClean="0">
                <a:solidFill>
                  <a:schemeClr val="accent6">
                    <a:lumMod val="60000"/>
                    <a:lumOff val="40000"/>
                  </a:schemeClr>
                </a:solidFill>
                <a:latin typeface="Calibri" pitchFamily="34" charset="0"/>
              </a:rPr>
              <a:t>A</a:t>
            </a:r>
            <a:endParaRPr lang="en-US" sz="1800" i="1" dirty="0">
              <a:solidFill>
                <a:schemeClr val="accent6">
                  <a:lumMod val="60000"/>
                  <a:lumOff val="40000"/>
                </a:schemeClr>
              </a:solidFill>
              <a:latin typeface="Calibri" pitchFamily="34" charset="0"/>
            </a:endParaRPr>
          </a:p>
        </p:txBody>
      </p:sp>
      <p:sp>
        <p:nvSpPr>
          <p:cNvPr id="47" name="Text Box 5"/>
          <p:cNvSpPr txBox="1">
            <a:spLocks noChangeArrowheads="1"/>
          </p:cNvSpPr>
          <p:nvPr/>
        </p:nvSpPr>
        <p:spPr bwMode="auto">
          <a:xfrm>
            <a:off x="4516029" y="19812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chemeClr val="bg2">
                    <a:lumMod val="75000"/>
                  </a:schemeClr>
                </a:solidFill>
                <a:latin typeface="Calibri" pitchFamily="34" charset="0"/>
              </a:rPr>
              <a:t>Process </a:t>
            </a:r>
            <a:r>
              <a:rPr lang="en-US" sz="1800" i="1" dirty="0" smtClean="0">
                <a:solidFill>
                  <a:schemeClr val="bg2">
                    <a:lumMod val="75000"/>
                  </a:schemeClr>
                </a:solidFill>
                <a:latin typeface="Calibri" pitchFamily="34" charset="0"/>
              </a:rPr>
              <a:t>B</a:t>
            </a:r>
            <a:endParaRPr lang="en-US" sz="1800" i="1" dirty="0">
              <a:solidFill>
                <a:schemeClr val="bg2">
                  <a:lumMod val="75000"/>
                </a:schemeClr>
              </a:solidFill>
              <a:latin typeface="Calibri" pitchFamily="34" charset="0"/>
            </a:endParaRPr>
          </a:p>
        </p:txBody>
      </p:sp>
      <p:sp>
        <p:nvSpPr>
          <p:cNvPr id="48" name="Line 6"/>
          <p:cNvSpPr>
            <a:spLocks noChangeShapeType="1"/>
          </p:cNvSpPr>
          <p:nvPr/>
        </p:nvSpPr>
        <p:spPr bwMode="auto">
          <a:xfrm flipH="1">
            <a:off x="3546171" y="2606000"/>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9" name="Line 11"/>
          <p:cNvSpPr>
            <a:spLocks noChangeShapeType="1"/>
          </p:cNvSpPr>
          <p:nvPr/>
        </p:nvSpPr>
        <p:spPr bwMode="auto">
          <a:xfrm flipH="1">
            <a:off x="4371671" y="1981200"/>
            <a:ext cx="12700" cy="393192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50" name="Text Box 12"/>
          <p:cNvSpPr txBox="1">
            <a:spLocks noChangeArrowheads="1"/>
          </p:cNvSpPr>
          <p:nvPr/>
        </p:nvSpPr>
        <p:spPr bwMode="auto">
          <a:xfrm>
            <a:off x="5472451" y="2667000"/>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a:t>
            </a:r>
            <a:r>
              <a:rPr lang="en-US" sz="1600" dirty="0" smtClean="0">
                <a:latin typeface="Calibri" pitchFamily="34" charset="0"/>
              </a:rPr>
              <a:t>code (main)</a:t>
            </a:r>
            <a:endParaRPr lang="en-US" sz="1600" dirty="0">
              <a:latin typeface="Calibri" pitchFamily="34" charset="0"/>
            </a:endParaRPr>
          </a:p>
        </p:txBody>
      </p:sp>
      <p:sp>
        <p:nvSpPr>
          <p:cNvPr id="51" name="Text Box 13"/>
          <p:cNvSpPr txBox="1">
            <a:spLocks noChangeArrowheads="1"/>
          </p:cNvSpPr>
          <p:nvPr/>
        </p:nvSpPr>
        <p:spPr bwMode="auto">
          <a:xfrm>
            <a:off x="5472451" y="30813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52" name="Text Box 14"/>
          <p:cNvSpPr txBox="1">
            <a:spLocks noChangeArrowheads="1"/>
          </p:cNvSpPr>
          <p:nvPr/>
        </p:nvSpPr>
        <p:spPr bwMode="auto">
          <a:xfrm>
            <a:off x="5472451" y="3494088"/>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a:t>
            </a:r>
            <a:r>
              <a:rPr lang="en-US" sz="1600" dirty="0" smtClean="0">
                <a:latin typeface="Calibri" pitchFamily="34" charset="0"/>
              </a:rPr>
              <a:t>code (main)</a:t>
            </a:r>
            <a:endParaRPr lang="en-US" sz="1600" dirty="0">
              <a:latin typeface="Calibri" pitchFamily="34" charset="0"/>
            </a:endParaRPr>
          </a:p>
        </p:txBody>
      </p:sp>
      <p:sp>
        <p:nvSpPr>
          <p:cNvPr id="53" name="Text Box 15"/>
          <p:cNvSpPr txBox="1">
            <a:spLocks noChangeArrowheads="1"/>
          </p:cNvSpPr>
          <p:nvPr/>
        </p:nvSpPr>
        <p:spPr bwMode="auto">
          <a:xfrm>
            <a:off x="5454989" y="39306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54" name="Text Box 16"/>
          <p:cNvSpPr txBox="1">
            <a:spLocks noChangeArrowheads="1"/>
          </p:cNvSpPr>
          <p:nvPr/>
        </p:nvSpPr>
        <p:spPr bwMode="auto">
          <a:xfrm>
            <a:off x="5472451" y="4343400"/>
            <a:ext cx="184274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a:t>
            </a:r>
            <a:r>
              <a:rPr lang="en-US" sz="1600" dirty="0" smtClean="0">
                <a:latin typeface="Calibri" pitchFamily="34" charset="0"/>
              </a:rPr>
              <a:t>code (handler)</a:t>
            </a:r>
            <a:endParaRPr lang="en-US" sz="1600" dirty="0">
              <a:latin typeface="Calibri" pitchFamily="34" charset="0"/>
            </a:endParaRPr>
          </a:p>
        </p:txBody>
      </p:sp>
      <p:sp>
        <p:nvSpPr>
          <p:cNvPr id="55" name="AutoShape 27"/>
          <p:cNvSpPr>
            <a:spLocks/>
          </p:cNvSpPr>
          <p:nvPr/>
        </p:nvSpPr>
        <p:spPr bwMode="auto">
          <a:xfrm>
            <a:off x="7508571" y="30271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56" name="Text Box 28"/>
          <p:cNvSpPr txBox="1">
            <a:spLocks noChangeArrowheads="1"/>
          </p:cNvSpPr>
          <p:nvPr/>
        </p:nvSpPr>
        <p:spPr bwMode="auto">
          <a:xfrm>
            <a:off x="7587946" y="30483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57" name="AutoShape 29"/>
          <p:cNvSpPr>
            <a:spLocks/>
          </p:cNvSpPr>
          <p:nvPr/>
        </p:nvSpPr>
        <p:spPr bwMode="auto">
          <a:xfrm>
            <a:off x="7508571" y="38966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58" name="Text Box 30"/>
          <p:cNvSpPr txBox="1">
            <a:spLocks noChangeArrowheads="1"/>
          </p:cNvSpPr>
          <p:nvPr/>
        </p:nvSpPr>
        <p:spPr bwMode="auto">
          <a:xfrm>
            <a:off x="7587946" y="39178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59" name="Line 6"/>
          <p:cNvSpPr>
            <a:spLocks noChangeShapeType="1"/>
          </p:cNvSpPr>
          <p:nvPr/>
        </p:nvSpPr>
        <p:spPr bwMode="auto">
          <a:xfrm flipH="1">
            <a:off x="3539821" y="4303776"/>
            <a:ext cx="0" cy="420624"/>
          </a:xfrm>
          <a:prstGeom prst="line">
            <a:avLst/>
          </a:prstGeom>
          <a:noFill/>
          <a:ln w="254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60" name="Line 6"/>
          <p:cNvSpPr>
            <a:spLocks noChangeShapeType="1"/>
          </p:cNvSpPr>
          <p:nvPr/>
        </p:nvSpPr>
        <p:spPr bwMode="auto">
          <a:xfrm flipH="1">
            <a:off x="5140021" y="3465576"/>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61" name="Straight Arrow Connector 60"/>
          <p:cNvCxnSpPr>
            <a:stCxn id="48" idx="1"/>
            <a:endCxn id="60" idx="0"/>
          </p:cNvCxnSpPr>
          <p:nvPr/>
        </p:nvCxnSpPr>
        <p:spPr bwMode="auto">
          <a:xfrm rot="16200000" flipH="1">
            <a:off x="4123620" y="2449175"/>
            <a:ext cx="438952" cy="1593850"/>
          </a:xfrm>
          <a:prstGeom prst="straightConnector1">
            <a:avLst/>
          </a:prstGeom>
          <a:noFill/>
          <a:ln w="25400">
            <a:solidFill>
              <a:schemeClr val="tx1"/>
            </a:solidFill>
            <a:round/>
            <a:headEnd/>
            <a:tailEnd type="triangle" w="med" len="med"/>
          </a:ln>
          <a:effectLst/>
        </p:spPr>
      </p:cxnSp>
      <p:cxnSp>
        <p:nvCxnSpPr>
          <p:cNvPr id="62" name="Straight Arrow Connector 61"/>
          <p:cNvCxnSpPr>
            <a:stCxn id="60" idx="1"/>
            <a:endCxn id="59" idx="0"/>
          </p:cNvCxnSpPr>
          <p:nvPr/>
        </p:nvCxnSpPr>
        <p:spPr bwMode="auto">
          <a:xfrm rot="16200000" flipH="1" flipV="1">
            <a:off x="4131133" y="3294888"/>
            <a:ext cx="417576" cy="1600200"/>
          </a:xfrm>
          <a:prstGeom prst="straightConnector1">
            <a:avLst/>
          </a:prstGeom>
          <a:noFill/>
          <a:ln w="25400">
            <a:solidFill>
              <a:schemeClr val="tx1"/>
            </a:solidFill>
            <a:round/>
            <a:headEnd/>
            <a:tailEnd type="triangle" w="med" len="med"/>
          </a:ln>
          <a:effectLst/>
        </p:spPr>
      </p:cxnSp>
      <p:sp>
        <p:nvSpPr>
          <p:cNvPr id="31" name="Line 6"/>
          <p:cNvSpPr>
            <a:spLocks noChangeShapeType="1"/>
          </p:cNvSpPr>
          <p:nvPr/>
        </p:nvSpPr>
        <p:spPr bwMode="auto">
          <a:xfrm flipH="1">
            <a:off x="3538270" y="4724400"/>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2" name="Line 6"/>
          <p:cNvSpPr>
            <a:spLocks noChangeShapeType="1"/>
          </p:cNvSpPr>
          <p:nvPr/>
        </p:nvSpPr>
        <p:spPr bwMode="auto">
          <a:xfrm flipH="1">
            <a:off x="3538270" y="5141976"/>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3" name="Text Box 15"/>
          <p:cNvSpPr txBox="1">
            <a:spLocks noChangeArrowheads="1"/>
          </p:cNvSpPr>
          <p:nvPr/>
        </p:nvSpPr>
        <p:spPr bwMode="auto">
          <a:xfrm>
            <a:off x="5457541" y="4766846"/>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34" name="Text Box 14"/>
          <p:cNvSpPr txBox="1">
            <a:spLocks noChangeArrowheads="1"/>
          </p:cNvSpPr>
          <p:nvPr/>
        </p:nvSpPr>
        <p:spPr bwMode="auto">
          <a:xfrm>
            <a:off x="5474684" y="5181600"/>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a:t>
            </a:r>
            <a:r>
              <a:rPr lang="en-US" sz="1600" dirty="0" smtClean="0">
                <a:latin typeface="Calibri" pitchFamily="34" charset="0"/>
              </a:rPr>
              <a:t>code (main)</a:t>
            </a:r>
            <a:endParaRPr lang="en-US" sz="1600" dirty="0">
              <a:latin typeface="Calibri" pitchFamily="34" charset="0"/>
            </a:endParaRPr>
          </a:p>
        </p:txBody>
      </p:sp>
      <p:sp>
        <p:nvSpPr>
          <p:cNvPr id="37" name="Text Box 36"/>
          <p:cNvSpPr txBox="1">
            <a:spLocks noChangeArrowheads="1"/>
          </p:cNvSpPr>
          <p:nvPr/>
        </p:nvSpPr>
        <p:spPr bwMode="auto">
          <a:xfrm>
            <a:off x="3130739" y="2709446"/>
            <a:ext cx="374461" cy="338554"/>
          </a:xfrm>
          <a:prstGeom prst="rect">
            <a:avLst/>
          </a:prstGeom>
          <a:noFill/>
          <a:ln w="19050">
            <a:noFill/>
            <a:miter lim="800000"/>
            <a:headEnd/>
            <a:tailEnd/>
          </a:ln>
          <a:effectLst/>
        </p:spPr>
        <p:txBody>
          <a:bodyPr wrap="none" lIns="45720" rIns="45720">
            <a:spAutoFit/>
          </a:bodyPr>
          <a:lstStyle/>
          <a:p>
            <a:r>
              <a:rPr lang="en-US" sz="1600" dirty="0" err="1">
                <a:latin typeface="Calibri" pitchFamily="34" charset="0"/>
              </a:rPr>
              <a:t>I</a:t>
            </a:r>
            <a:r>
              <a:rPr lang="en-US" sz="1600" baseline="-25000" dirty="0" err="1">
                <a:latin typeface="Calibri" pitchFamily="34" charset="0"/>
              </a:rPr>
              <a:t>curr</a:t>
            </a:r>
            <a:endParaRPr lang="en-US" sz="1600" baseline="-25000" dirty="0">
              <a:latin typeface="Calibri" pitchFamily="34" charset="0"/>
            </a:endParaRPr>
          </a:p>
        </p:txBody>
      </p:sp>
      <p:sp>
        <p:nvSpPr>
          <p:cNvPr id="38" name="Text Box 37"/>
          <p:cNvSpPr txBox="1">
            <a:spLocks noChangeArrowheads="1"/>
          </p:cNvSpPr>
          <p:nvPr/>
        </p:nvSpPr>
        <p:spPr bwMode="auto">
          <a:xfrm>
            <a:off x="3124200" y="5071646"/>
            <a:ext cx="397994" cy="338554"/>
          </a:xfrm>
          <a:prstGeom prst="rect">
            <a:avLst/>
          </a:prstGeom>
          <a:noFill/>
          <a:ln w="19050">
            <a:noFill/>
            <a:miter lim="800000"/>
            <a:headEnd/>
            <a:tailEnd/>
          </a:ln>
          <a:effectLst/>
        </p:spPr>
        <p:txBody>
          <a:bodyPr wrap="none" lIns="45720" rIns="45720">
            <a:spAutoFit/>
          </a:bodyPr>
          <a:lstStyle/>
          <a:p>
            <a:r>
              <a:rPr lang="en-US" sz="1600" dirty="0" err="1">
                <a:latin typeface="Calibri" pitchFamily="34" charset="0"/>
              </a:rPr>
              <a:t>I</a:t>
            </a:r>
            <a:r>
              <a:rPr lang="en-US" sz="1600" baseline="-25000" dirty="0" err="1">
                <a:latin typeface="Calibri" pitchFamily="34" charset="0"/>
              </a:rPr>
              <a:t>next</a:t>
            </a:r>
            <a:endParaRPr lang="en-US" sz="1600" baseline="-25000" dirty="0">
              <a:latin typeface="Calibri" pitchFamily="34" charset="0"/>
            </a:endParaRPr>
          </a:p>
        </p:txBody>
      </p:sp>
      <p:sp>
        <p:nvSpPr>
          <p:cNvPr id="39" name="Oval 38"/>
          <p:cNvSpPr/>
          <p:nvPr/>
        </p:nvSpPr>
        <p:spPr bwMode="auto">
          <a:xfrm>
            <a:off x="3505200" y="2977086"/>
            <a:ext cx="91440" cy="91440"/>
          </a:xfrm>
          <a:prstGeom prst="ellipse">
            <a:avLst/>
          </a:prstGeom>
          <a:solidFill>
            <a:schemeClr val="tx1"/>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40" name="Oval 39"/>
          <p:cNvSpPr/>
          <p:nvPr/>
        </p:nvSpPr>
        <p:spPr bwMode="auto">
          <a:xfrm>
            <a:off x="3489960" y="5122652"/>
            <a:ext cx="91440" cy="91440"/>
          </a:xfrm>
          <a:prstGeom prst="ellipse">
            <a:avLst/>
          </a:prstGeom>
          <a:solidFill>
            <a:schemeClr val="tx1"/>
          </a:solidFill>
          <a:ln w="25400" cap="flat" cmpd="sng" algn="ctr">
            <a:noFill/>
            <a:prstDash val="solid"/>
            <a:round/>
            <a:headEnd type="none" w="med" len="med"/>
            <a:tailEnd type="arrow" w="med" len="med"/>
          </a:ln>
          <a:effectLst/>
        </p:spPr>
        <p:txBody>
          <a:bodyPr rtlCol="0" anchor="ctr"/>
          <a:lstStyle/>
          <a:p>
            <a:pPr algn="ctr"/>
            <a:endParaRPr lang="en-US"/>
          </a:p>
        </p:txBody>
      </p:sp>
    </p:spTree>
    <p:extLst>
      <p:ext uri="{BB962C8B-B14F-4D97-AF65-F5344CB8AC3E}">
        <p14:creationId xmlns:p14="http://schemas.microsoft.com/office/powerpoint/2010/main" val="136345846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Signal Handlers	</a:t>
            </a:r>
            <a:endParaRPr lang="en-US" dirty="0"/>
          </a:p>
        </p:txBody>
      </p:sp>
      <p:sp>
        <p:nvSpPr>
          <p:cNvPr id="3" name="Content Placeholder 2"/>
          <p:cNvSpPr>
            <a:spLocks noGrp="1"/>
          </p:cNvSpPr>
          <p:nvPr>
            <p:ph idx="1"/>
          </p:nvPr>
        </p:nvSpPr>
        <p:spPr>
          <a:xfrm>
            <a:off x="396875" y="1362075"/>
            <a:ext cx="7896225" cy="619125"/>
          </a:xfrm>
        </p:spPr>
        <p:txBody>
          <a:bodyPr/>
          <a:lstStyle/>
          <a:p>
            <a:r>
              <a:rPr lang="en-US" dirty="0" smtClean="0"/>
              <a:t>Handlers can be interrupted by other handlers</a:t>
            </a:r>
          </a:p>
        </p:txBody>
      </p:sp>
      <p:sp>
        <p:nvSpPr>
          <p:cNvPr id="4" name="Line 93"/>
          <p:cNvSpPr>
            <a:spLocks noChangeShapeType="1"/>
          </p:cNvSpPr>
          <p:nvPr/>
        </p:nvSpPr>
        <p:spPr bwMode="auto">
          <a:xfrm>
            <a:off x="2844290" y="28225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5" name="Line 94"/>
          <p:cNvSpPr>
            <a:spLocks noChangeShapeType="1"/>
          </p:cNvSpPr>
          <p:nvPr/>
        </p:nvSpPr>
        <p:spPr bwMode="auto">
          <a:xfrm>
            <a:off x="2850640" y="3427403"/>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6"/>
          <p:cNvSpPr>
            <a:spLocks noChangeShapeType="1"/>
          </p:cNvSpPr>
          <p:nvPr/>
        </p:nvSpPr>
        <p:spPr bwMode="auto">
          <a:xfrm flipH="1" flipV="1">
            <a:off x="5198533" y="4116924"/>
            <a:ext cx="2355340" cy="53179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7"/>
          <p:cNvSpPr>
            <a:spLocks noChangeShapeType="1"/>
          </p:cNvSpPr>
          <p:nvPr/>
        </p:nvSpPr>
        <p:spPr bwMode="auto">
          <a:xfrm>
            <a:off x="2845877" y="4108440"/>
            <a:ext cx="3175" cy="876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Rectangle 98"/>
          <p:cNvSpPr>
            <a:spLocks noChangeArrowheads="1"/>
          </p:cNvSpPr>
          <p:nvPr/>
        </p:nvSpPr>
        <p:spPr bwMode="auto">
          <a:xfrm>
            <a:off x="3033202" y="2825740"/>
            <a:ext cx="2051032"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(2) Control </a:t>
            </a:r>
            <a:r>
              <a:rPr lang="en-US" sz="1600" i="1" dirty="0">
                <a:latin typeface="Helvetica" charset="0"/>
              </a:rPr>
              <a:t>passes </a:t>
            </a:r>
            <a:r>
              <a:rPr lang="en-US" sz="1600" i="1" dirty="0" smtClean="0">
                <a:latin typeface="Helvetica" charset="0"/>
              </a:rPr>
              <a:t>to handler S</a:t>
            </a:r>
            <a:endParaRPr lang="en-US" sz="1600" i="1" dirty="0">
              <a:latin typeface="Helvetica" charset="0"/>
            </a:endParaRPr>
          </a:p>
        </p:txBody>
      </p:sp>
      <p:sp>
        <p:nvSpPr>
          <p:cNvPr id="9" name="Rectangle 99"/>
          <p:cNvSpPr>
            <a:spLocks noChangeArrowheads="1"/>
          </p:cNvSpPr>
          <p:nvPr/>
        </p:nvSpPr>
        <p:spPr bwMode="auto">
          <a:xfrm>
            <a:off x="2017189" y="2286000"/>
            <a:ext cx="1644643" cy="3359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 Main program</a:t>
            </a:r>
          </a:p>
        </p:txBody>
      </p:sp>
      <p:sp>
        <p:nvSpPr>
          <p:cNvPr id="10" name="Rectangle 100"/>
          <p:cNvSpPr>
            <a:spLocks noChangeArrowheads="1"/>
          </p:cNvSpPr>
          <p:nvPr/>
        </p:nvSpPr>
        <p:spPr bwMode="auto">
          <a:xfrm>
            <a:off x="5612346" y="4571994"/>
            <a:ext cx="1478488" cy="82842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(5) Handler T</a:t>
            </a:r>
            <a:endParaRPr lang="en-US" sz="1600" i="1" dirty="0">
              <a:latin typeface="Helvetica" charset="0"/>
            </a:endParaRPr>
          </a:p>
          <a:p>
            <a:r>
              <a:rPr lang="en-US" sz="1600" i="1" dirty="0">
                <a:latin typeface="Helvetica" charset="0"/>
              </a:rPr>
              <a:t>returns to </a:t>
            </a:r>
            <a:r>
              <a:rPr lang="en-US" sz="1600" i="1" dirty="0" smtClean="0">
                <a:latin typeface="Helvetica" charset="0"/>
              </a:rPr>
              <a:t>handler S</a:t>
            </a:r>
            <a:endParaRPr lang="en-US" sz="1600" i="1" dirty="0">
              <a:latin typeface="Helvetica" charset="0"/>
            </a:endParaRPr>
          </a:p>
        </p:txBody>
      </p:sp>
      <p:sp>
        <p:nvSpPr>
          <p:cNvPr id="11" name="Text Box 101"/>
          <p:cNvSpPr txBox="1">
            <a:spLocks noChangeArrowheads="1"/>
          </p:cNvSpPr>
          <p:nvPr/>
        </p:nvSpPr>
        <p:spPr bwMode="auto">
          <a:xfrm>
            <a:off x="2341052" y="3144828"/>
            <a:ext cx="547258"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2" name="Text Box 102"/>
          <p:cNvSpPr txBox="1">
            <a:spLocks noChangeArrowheads="1"/>
          </p:cNvSpPr>
          <p:nvPr/>
        </p:nvSpPr>
        <p:spPr bwMode="auto">
          <a:xfrm>
            <a:off x="2341052" y="3849678"/>
            <a:ext cx="561066"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1600" i="1" dirty="0" err="1">
                <a:latin typeface="Helvetica" charset="0"/>
              </a:rPr>
              <a:t>I</a:t>
            </a:r>
            <a:r>
              <a:rPr lang="en-US" sz="1600" i="1" baseline="-25000" dirty="0" err="1">
                <a:latin typeface="Helvetica" charset="0"/>
              </a:rPr>
              <a:t>next</a:t>
            </a:r>
            <a:endParaRPr lang="en-US" sz="1600" i="1" dirty="0">
              <a:latin typeface="Helvetica" charset="0"/>
            </a:endParaRPr>
          </a:p>
        </p:txBody>
      </p:sp>
      <p:sp>
        <p:nvSpPr>
          <p:cNvPr id="13" name="Rectangle 105"/>
          <p:cNvSpPr>
            <a:spLocks noChangeArrowheads="1"/>
          </p:cNvSpPr>
          <p:nvPr/>
        </p:nvSpPr>
        <p:spPr bwMode="auto">
          <a:xfrm>
            <a:off x="436033" y="3105157"/>
            <a:ext cx="1917701"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(1) Program catches signal s</a:t>
            </a:r>
            <a:endParaRPr lang="en-US" sz="1600" i="1" dirty="0">
              <a:latin typeface="Helvetica" charset="0"/>
            </a:endParaRPr>
          </a:p>
        </p:txBody>
      </p:sp>
      <p:sp>
        <p:nvSpPr>
          <p:cNvPr id="14" name="Rectangle 99"/>
          <p:cNvSpPr>
            <a:spLocks noChangeArrowheads="1"/>
          </p:cNvSpPr>
          <p:nvPr/>
        </p:nvSpPr>
        <p:spPr bwMode="auto">
          <a:xfrm>
            <a:off x="4595290" y="2286000"/>
            <a:ext cx="1280576" cy="3359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 Handler S</a:t>
            </a:r>
          </a:p>
        </p:txBody>
      </p:sp>
      <p:sp>
        <p:nvSpPr>
          <p:cNvPr id="15" name="Rectangle 99"/>
          <p:cNvSpPr>
            <a:spLocks noChangeArrowheads="1"/>
          </p:cNvSpPr>
          <p:nvPr/>
        </p:nvSpPr>
        <p:spPr bwMode="auto">
          <a:xfrm>
            <a:off x="6949024" y="2286000"/>
            <a:ext cx="1280576" cy="3359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 Handler T</a:t>
            </a:r>
          </a:p>
        </p:txBody>
      </p:sp>
      <p:sp>
        <p:nvSpPr>
          <p:cNvPr id="16" name="Rectangle 105"/>
          <p:cNvSpPr>
            <a:spLocks noChangeArrowheads="1"/>
          </p:cNvSpPr>
          <p:nvPr/>
        </p:nvSpPr>
        <p:spPr bwMode="auto">
          <a:xfrm>
            <a:off x="3369734" y="3600457"/>
            <a:ext cx="1854200"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(3) Program catches signal t</a:t>
            </a:r>
            <a:endParaRPr lang="en-US" sz="1600" i="1" dirty="0">
              <a:latin typeface="Helvetica" charset="0"/>
            </a:endParaRPr>
          </a:p>
        </p:txBody>
      </p:sp>
      <p:sp>
        <p:nvSpPr>
          <p:cNvPr id="17" name="Line 93"/>
          <p:cNvSpPr>
            <a:spLocks noChangeShapeType="1"/>
          </p:cNvSpPr>
          <p:nvPr/>
        </p:nvSpPr>
        <p:spPr bwMode="auto">
          <a:xfrm>
            <a:off x="5231890" y="34321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8" name="Line 94"/>
          <p:cNvSpPr>
            <a:spLocks noChangeShapeType="1"/>
          </p:cNvSpPr>
          <p:nvPr/>
        </p:nvSpPr>
        <p:spPr bwMode="auto">
          <a:xfrm>
            <a:off x="5225540" y="4024303"/>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9" name="Rectangle 98"/>
          <p:cNvSpPr>
            <a:spLocks noChangeArrowheads="1"/>
          </p:cNvSpPr>
          <p:nvPr/>
        </p:nvSpPr>
        <p:spPr bwMode="auto">
          <a:xfrm>
            <a:off x="5357301" y="3409940"/>
            <a:ext cx="2114531"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(4)  </a:t>
            </a:r>
            <a:r>
              <a:rPr lang="en-US" sz="1600" i="1" dirty="0">
                <a:latin typeface="Helvetica" charset="0"/>
              </a:rPr>
              <a:t>Control passes </a:t>
            </a:r>
            <a:r>
              <a:rPr lang="en-US" sz="1600" i="1" dirty="0" smtClean="0">
                <a:latin typeface="Helvetica" charset="0"/>
              </a:rPr>
              <a:t>to handler T</a:t>
            </a:r>
            <a:endParaRPr lang="en-US" sz="1600" i="1" dirty="0">
              <a:latin typeface="Helvetica" charset="0"/>
            </a:endParaRPr>
          </a:p>
        </p:txBody>
      </p:sp>
      <p:sp>
        <p:nvSpPr>
          <p:cNvPr id="20" name="Line 93"/>
          <p:cNvSpPr>
            <a:spLocks noChangeShapeType="1"/>
          </p:cNvSpPr>
          <p:nvPr/>
        </p:nvSpPr>
        <p:spPr bwMode="auto">
          <a:xfrm>
            <a:off x="7606790" y="40798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1" name="Line 93"/>
          <p:cNvSpPr>
            <a:spLocks noChangeShapeType="1"/>
          </p:cNvSpPr>
          <p:nvPr/>
        </p:nvSpPr>
        <p:spPr bwMode="auto">
          <a:xfrm>
            <a:off x="5231890" y="42068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2" name="Line 96"/>
          <p:cNvSpPr>
            <a:spLocks noChangeShapeType="1"/>
          </p:cNvSpPr>
          <p:nvPr/>
        </p:nvSpPr>
        <p:spPr bwMode="auto">
          <a:xfrm flipH="1" flipV="1">
            <a:off x="2836333" y="4040723"/>
            <a:ext cx="2342640" cy="70959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3" name="Rectangle 100"/>
          <p:cNvSpPr>
            <a:spLocks noChangeArrowheads="1"/>
          </p:cNvSpPr>
          <p:nvPr/>
        </p:nvSpPr>
        <p:spPr bwMode="auto">
          <a:xfrm>
            <a:off x="3529546" y="4698994"/>
            <a:ext cx="1478488" cy="10746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(6) Handler S</a:t>
            </a:r>
            <a:endParaRPr lang="en-US" sz="1600" i="1" dirty="0">
              <a:latin typeface="Helvetica" charset="0"/>
            </a:endParaRPr>
          </a:p>
          <a:p>
            <a:r>
              <a:rPr lang="en-US" sz="1600" i="1" dirty="0">
                <a:latin typeface="Helvetica" charset="0"/>
              </a:rPr>
              <a:t>returns to </a:t>
            </a:r>
            <a:r>
              <a:rPr lang="en-US" sz="1600" i="1" dirty="0" smtClean="0">
                <a:latin typeface="Helvetica" charset="0"/>
              </a:rPr>
              <a:t>main program</a:t>
            </a:r>
            <a:endParaRPr lang="en-US" sz="1600" i="1" dirty="0">
              <a:latin typeface="Helvetica" charset="0"/>
            </a:endParaRPr>
          </a:p>
        </p:txBody>
      </p:sp>
      <p:sp>
        <p:nvSpPr>
          <p:cNvPr id="24" name="Rectangle 105"/>
          <p:cNvSpPr>
            <a:spLocks noChangeArrowheads="1"/>
          </p:cNvSpPr>
          <p:nvPr/>
        </p:nvSpPr>
        <p:spPr bwMode="auto">
          <a:xfrm>
            <a:off x="436033" y="3930657"/>
            <a:ext cx="1917701" cy="5822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smtClean="0">
                <a:latin typeface="Helvetica" charset="0"/>
              </a:rPr>
              <a:t>(7) Main program resumes </a:t>
            </a:r>
            <a:endParaRPr lang="en-US" sz="1600" i="1" dirty="0">
              <a:latin typeface="Helvetica" charset="0"/>
            </a:endParaRPr>
          </a:p>
        </p:txBody>
      </p:sp>
    </p:spTree>
    <p:extLst>
      <p:ext uri="{BB962C8B-B14F-4D97-AF65-F5344CB8AC3E}">
        <p14:creationId xmlns:p14="http://schemas.microsoft.com/office/powerpoint/2010/main" val="1090848768"/>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Blocking and Unblocking Signals	</a:t>
            </a:r>
            <a:endParaRPr lang="en-US" dirty="0"/>
          </a:p>
        </p:txBody>
      </p:sp>
      <p:sp>
        <p:nvSpPr>
          <p:cNvPr id="3" name="Content Placeholder 2"/>
          <p:cNvSpPr>
            <a:spLocks noGrp="1"/>
          </p:cNvSpPr>
          <p:nvPr>
            <p:ph idx="1"/>
          </p:nvPr>
        </p:nvSpPr>
        <p:spPr/>
        <p:txBody>
          <a:bodyPr/>
          <a:lstStyle/>
          <a:p>
            <a:r>
              <a:rPr lang="en-US" dirty="0" smtClean="0"/>
              <a:t>Implicit blocking mechanism	</a:t>
            </a:r>
          </a:p>
          <a:p>
            <a:pPr lvl="1"/>
            <a:r>
              <a:rPr lang="en-US" dirty="0" smtClean="0"/>
              <a:t>Kernel blocks any pending signals of type currently being handled. </a:t>
            </a:r>
          </a:p>
          <a:p>
            <a:pPr lvl="1"/>
            <a:r>
              <a:rPr lang="en-US" dirty="0" smtClean="0"/>
              <a:t>E.g., A SIGINT handler can’t be interrupted by another SIGINT</a:t>
            </a:r>
          </a:p>
          <a:p>
            <a:pPr marL="0" indent="0">
              <a:buNone/>
            </a:pPr>
            <a:endParaRPr lang="en-US" dirty="0" smtClean="0"/>
          </a:p>
          <a:p>
            <a:r>
              <a:rPr lang="en-US" dirty="0" smtClean="0"/>
              <a:t>Explicit blocking and unblocking mechanism</a:t>
            </a:r>
          </a:p>
          <a:p>
            <a:pPr lvl="1"/>
            <a:r>
              <a:rPr lang="en-US" dirty="0" err="1" smtClean="0">
                <a:latin typeface="Courier New"/>
                <a:cs typeface="Courier New"/>
              </a:rPr>
              <a:t>sigprocmask</a:t>
            </a:r>
            <a:r>
              <a:rPr lang="en-US" dirty="0" smtClean="0">
                <a:latin typeface="Courier New"/>
                <a:cs typeface="Courier New"/>
              </a:rPr>
              <a:t> </a:t>
            </a:r>
            <a:r>
              <a:rPr lang="en-US" dirty="0" smtClean="0"/>
              <a:t>function</a:t>
            </a:r>
          </a:p>
          <a:p>
            <a:pPr lvl="1"/>
            <a:endParaRPr lang="en-US" dirty="0"/>
          </a:p>
          <a:p>
            <a:r>
              <a:rPr lang="en-US" dirty="0" smtClean="0"/>
              <a:t>Supporting functions</a:t>
            </a:r>
          </a:p>
          <a:p>
            <a:pPr lvl="1"/>
            <a:r>
              <a:rPr lang="en-US" dirty="0" err="1" smtClean="0">
                <a:latin typeface="Courier New"/>
                <a:cs typeface="Courier New"/>
              </a:rPr>
              <a:t>sigemptyset</a:t>
            </a:r>
            <a:r>
              <a:rPr lang="en-US" dirty="0" smtClean="0"/>
              <a:t> – Create empty set</a:t>
            </a:r>
          </a:p>
          <a:p>
            <a:pPr lvl="1"/>
            <a:r>
              <a:rPr lang="en-US" dirty="0" err="1" smtClean="0">
                <a:latin typeface="Courier New"/>
                <a:cs typeface="Courier New"/>
              </a:rPr>
              <a:t>sigfillset</a:t>
            </a:r>
            <a:r>
              <a:rPr lang="en-US" dirty="0" smtClean="0">
                <a:latin typeface="Courier New"/>
                <a:cs typeface="Courier New"/>
              </a:rPr>
              <a:t> </a:t>
            </a:r>
            <a:r>
              <a:rPr lang="en-US" dirty="0" smtClean="0"/>
              <a:t>– Add every signal number to set</a:t>
            </a:r>
          </a:p>
          <a:p>
            <a:pPr lvl="1"/>
            <a:r>
              <a:rPr lang="en-US" dirty="0" err="1" smtClean="0">
                <a:latin typeface="Courier New"/>
                <a:cs typeface="Courier New"/>
              </a:rPr>
              <a:t>sigaddset</a:t>
            </a:r>
            <a:r>
              <a:rPr lang="en-US" dirty="0" smtClean="0"/>
              <a:t> – Add signal number to set</a:t>
            </a:r>
          </a:p>
          <a:p>
            <a:pPr lvl="1"/>
            <a:r>
              <a:rPr lang="en-US" dirty="0" err="1" smtClean="0">
                <a:latin typeface="Courier New"/>
                <a:cs typeface="Courier New"/>
              </a:rPr>
              <a:t>sigdelset</a:t>
            </a:r>
            <a:r>
              <a:rPr lang="en-US" dirty="0" smtClean="0"/>
              <a:t> – Delete signal number from set</a:t>
            </a:r>
          </a:p>
          <a:p>
            <a:pPr lvl="1"/>
            <a:endParaRPr lang="en-US" dirty="0"/>
          </a:p>
        </p:txBody>
      </p:sp>
    </p:spTree>
    <p:extLst>
      <p:ext uri="{BB962C8B-B14F-4D97-AF65-F5344CB8AC3E}">
        <p14:creationId xmlns:p14="http://schemas.microsoft.com/office/powerpoint/2010/main" val="3043664146"/>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9" y="435678"/>
            <a:ext cx="6119982" cy="762000"/>
          </a:xfrm>
        </p:spPr>
        <p:txBody>
          <a:bodyPr/>
          <a:lstStyle/>
          <a:p>
            <a:r>
              <a:rPr lang="en-US" dirty="0" smtClean="0"/>
              <a:t>Temporarily Blocking Signals</a:t>
            </a:r>
            <a:endParaRPr lang="en-US" dirty="0"/>
          </a:p>
        </p:txBody>
      </p:sp>
      <p:sp>
        <p:nvSpPr>
          <p:cNvPr id="4" name="Text Box 4"/>
          <p:cNvSpPr txBox="1">
            <a:spLocks noChangeArrowheads="1"/>
          </p:cNvSpPr>
          <p:nvPr/>
        </p:nvSpPr>
        <p:spPr bwMode="auto">
          <a:xfrm>
            <a:off x="457200" y="1828800"/>
            <a:ext cx="8153400" cy="3293209"/>
          </a:xfrm>
          <a:prstGeom prst="rect">
            <a:avLst/>
          </a:prstGeom>
          <a:solidFill>
            <a:srgbClr val="F6F5BD"/>
          </a:solidFill>
          <a:ln w="3175">
            <a:solidFill>
              <a:schemeClr val="tx1"/>
            </a:solidFill>
            <a:miter lim="800000"/>
            <a:headEnd/>
            <a:tailEnd/>
          </a:ln>
          <a:effectLst/>
        </p:spPr>
        <p:txBody>
          <a:bodyPr wrap="square">
            <a:spAutoFit/>
          </a:bodyPr>
          <a:lstStyle/>
          <a:p>
            <a:r>
              <a:rPr lang="en-US" sz="1400" dirty="0">
                <a:solidFill>
                  <a:srgbClr val="000000"/>
                </a:solidFill>
                <a:latin typeface="Courier New"/>
                <a:cs typeface="Courier New"/>
              </a:rPr>
              <a:t> </a:t>
            </a:r>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err="1" smtClean="0">
                <a:solidFill>
                  <a:srgbClr val="2D961E"/>
                </a:solidFill>
                <a:latin typeface="Courier New"/>
                <a:cs typeface="Courier New"/>
              </a:rPr>
              <a:t>sigset_t</a:t>
            </a:r>
            <a:r>
              <a:rPr lang="en-US" sz="1600" dirty="0" smtClean="0">
                <a:solidFill>
                  <a:srgbClr val="000000"/>
                </a:solidFill>
                <a:latin typeface="Courier New"/>
                <a:cs typeface="Courier New"/>
              </a:rPr>
              <a:t> </a:t>
            </a:r>
            <a:r>
              <a:rPr lang="en-US" sz="1600" dirty="0">
                <a:solidFill>
                  <a:srgbClr val="C1651C"/>
                </a:solidFill>
                <a:latin typeface="Courier New"/>
                <a:cs typeface="Courier New"/>
              </a:rPr>
              <a:t>mask</a:t>
            </a:r>
            <a:r>
              <a:rPr lang="en-US" sz="1600" dirty="0">
                <a:solidFill>
                  <a:srgbClr val="000000"/>
                </a:solidFill>
                <a:latin typeface="Courier New"/>
                <a:cs typeface="Courier New"/>
              </a:rPr>
              <a:t>, </a:t>
            </a:r>
            <a:r>
              <a:rPr lang="en-US" sz="1600" dirty="0" err="1">
                <a:solidFill>
                  <a:srgbClr val="C1651C"/>
                </a:solidFill>
                <a:latin typeface="Courier New"/>
                <a:cs typeface="Courier New"/>
              </a:rPr>
              <a:t>prev_mask</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Sigemptyset</a:t>
            </a:r>
            <a:r>
              <a:rPr lang="en-US" sz="1600" dirty="0">
                <a:solidFill>
                  <a:srgbClr val="000000"/>
                </a:solidFill>
                <a:latin typeface="Courier New"/>
                <a:cs typeface="Courier New"/>
              </a:rPr>
              <a:t>(&amp;mask);</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Sigaddset</a:t>
            </a:r>
            <a:r>
              <a:rPr lang="en-US" sz="1600" dirty="0">
                <a:solidFill>
                  <a:srgbClr val="000000"/>
                </a:solidFill>
                <a:latin typeface="Courier New"/>
                <a:cs typeface="Courier New"/>
              </a:rPr>
              <a:t>(&amp;mask, SIGINT);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Block SIGINT and save previous blocked set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&amp;mask, &amp;</a:t>
            </a:r>
            <a:r>
              <a:rPr lang="en-US" sz="1600" dirty="0" err="1">
                <a:solidFill>
                  <a:srgbClr val="000000"/>
                </a:solidFill>
                <a:latin typeface="Courier New"/>
                <a:cs typeface="Courier New"/>
              </a:rPr>
              <a:t>prev_mask</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smtClean="0">
                <a:solidFill>
                  <a:schemeClr val="accent6">
                    <a:lumMod val="60000"/>
                    <a:lumOff val="40000"/>
                  </a:schemeClr>
                </a:solidFill>
                <a:latin typeface="Courier New"/>
                <a:cs typeface="Courier New"/>
              </a:rPr>
              <a:t>/</a:t>
            </a:r>
            <a:r>
              <a:rPr lang="en-US" sz="1600" dirty="0">
                <a:solidFill>
                  <a:schemeClr val="accent6">
                    <a:lumMod val="60000"/>
                    <a:lumOff val="40000"/>
                  </a:schemeClr>
                </a:solidFill>
                <a:latin typeface="Courier New"/>
                <a:cs typeface="Courier New"/>
              </a:rPr>
              <a:t>* C</a:t>
            </a:r>
            <a:r>
              <a:rPr lang="en-US" sz="1600" dirty="0" smtClean="0">
                <a:solidFill>
                  <a:schemeClr val="accent6">
                    <a:lumMod val="60000"/>
                    <a:lumOff val="40000"/>
                  </a:schemeClr>
                </a:solidFill>
                <a:latin typeface="Courier New"/>
                <a:cs typeface="Courier New"/>
              </a:rPr>
              <a:t>ode </a:t>
            </a:r>
            <a:r>
              <a:rPr lang="en-US" sz="1600" dirty="0">
                <a:solidFill>
                  <a:schemeClr val="accent6">
                    <a:lumMod val="60000"/>
                    <a:lumOff val="40000"/>
                  </a:schemeClr>
                </a:solidFill>
                <a:latin typeface="Courier New"/>
                <a:cs typeface="Courier New"/>
              </a:rPr>
              <a:t>region that will not be interrupted by SIGINT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Restore previous blocked set, unblocking SIGINT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prev_mask</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p:txBody>
      </p:sp>
      <p:sp>
        <p:nvSpPr>
          <p:cNvPr id="3" name="TextBox 2"/>
          <p:cNvSpPr txBox="1"/>
          <p:nvPr/>
        </p:nvSpPr>
        <p:spPr>
          <a:xfrm rot="16200000">
            <a:off x="513666" y="3448735"/>
            <a:ext cx="838200" cy="646331"/>
          </a:xfrm>
          <a:prstGeom prst="rect">
            <a:avLst/>
          </a:prstGeom>
          <a:noFill/>
        </p:spPr>
        <p:txBody>
          <a:bodyPr wrap="square" rtlCol="0">
            <a:spAutoFit/>
          </a:bodyPr>
          <a:lstStyle/>
          <a:p>
            <a:r>
              <a:rPr lang="en-US" sz="3600" dirty="0" smtClean="0">
                <a:latin typeface="Calibri" pitchFamily="34" charset="0"/>
              </a:rPr>
              <a:t>…</a:t>
            </a:r>
          </a:p>
        </p:txBody>
      </p:sp>
    </p:spTree>
    <p:extLst>
      <p:ext uri="{BB962C8B-B14F-4D97-AF65-F5344CB8AC3E}">
        <p14:creationId xmlns:p14="http://schemas.microsoft.com/office/powerpoint/2010/main" val="2611222486"/>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Safe Signal Handling</a:t>
            </a:r>
            <a:endParaRPr lang="en-US" dirty="0"/>
          </a:p>
        </p:txBody>
      </p:sp>
      <p:sp>
        <p:nvSpPr>
          <p:cNvPr id="3" name="Content Placeholder 2"/>
          <p:cNvSpPr>
            <a:spLocks noGrp="1"/>
          </p:cNvSpPr>
          <p:nvPr>
            <p:ph idx="1"/>
          </p:nvPr>
        </p:nvSpPr>
        <p:spPr>
          <a:xfrm>
            <a:off x="381000" y="1362075"/>
            <a:ext cx="7896225" cy="4972050"/>
          </a:xfrm>
        </p:spPr>
        <p:txBody>
          <a:bodyPr/>
          <a:lstStyle/>
          <a:p>
            <a:r>
              <a:rPr lang="en-US" dirty="0" smtClean="0"/>
              <a:t>Handlers are tricky because they are concurrent with main program and share the same global data structures.</a:t>
            </a:r>
          </a:p>
          <a:p>
            <a:pPr lvl="1"/>
            <a:r>
              <a:rPr lang="en-US" dirty="0" smtClean="0"/>
              <a:t>Shared data structures can become corrupted.</a:t>
            </a:r>
          </a:p>
          <a:p>
            <a:pPr lvl="1"/>
            <a:endParaRPr lang="en-US" dirty="0" smtClean="0"/>
          </a:p>
          <a:p>
            <a:r>
              <a:rPr lang="en-US" dirty="0" smtClean="0"/>
              <a:t>We’ll explore concurrency issues later in the term.</a:t>
            </a:r>
          </a:p>
          <a:p>
            <a:pPr marL="457200" lvl="1" indent="0">
              <a:buNone/>
            </a:pPr>
            <a:endParaRPr lang="en-US" dirty="0" smtClean="0"/>
          </a:p>
          <a:p>
            <a:r>
              <a:rPr lang="en-US" dirty="0" smtClean="0"/>
              <a:t>For now here are some guidelines to help you avoid trouble. </a:t>
            </a:r>
            <a:endParaRPr lang="en-US" dirty="0"/>
          </a:p>
        </p:txBody>
      </p:sp>
    </p:spTree>
    <p:extLst>
      <p:ext uri="{BB962C8B-B14F-4D97-AF65-F5344CB8AC3E}">
        <p14:creationId xmlns:p14="http://schemas.microsoft.com/office/powerpoint/2010/main" val="712787910"/>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304800"/>
            <a:ext cx="7592093" cy="762000"/>
          </a:xfrm>
        </p:spPr>
        <p:txBody>
          <a:bodyPr/>
          <a:lstStyle/>
          <a:p>
            <a:r>
              <a:rPr lang="en-US" dirty="0" smtClean="0"/>
              <a:t>Guidelines for Writing Safe Handlers	</a:t>
            </a:r>
            <a:endParaRPr lang="en-US" dirty="0"/>
          </a:p>
        </p:txBody>
      </p:sp>
      <p:sp>
        <p:nvSpPr>
          <p:cNvPr id="3" name="Content Placeholder 2"/>
          <p:cNvSpPr>
            <a:spLocks noGrp="1"/>
          </p:cNvSpPr>
          <p:nvPr>
            <p:ph idx="1"/>
          </p:nvPr>
        </p:nvSpPr>
        <p:spPr>
          <a:xfrm>
            <a:off x="396875" y="1219200"/>
            <a:ext cx="8442325" cy="5267325"/>
          </a:xfrm>
        </p:spPr>
        <p:txBody>
          <a:bodyPr>
            <a:normAutofit lnSpcReduction="10000"/>
          </a:bodyPr>
          <a:lstStyle/>
          <a:p>
            <a:r>
              <a:rPr lang="en-US" dirty="0" smtClean="0"/>
              <a:t>G0: Keep your handlers as simple as possible</a:t>
            </a:r>
          </a:p>
          <a:p>
            <a:pPr lvl="1"/>
            <a:r>
              <a:rPr lang="en-US" dirty="0" smtClean="0"/>
              <a:t>e.g., Set a global flag and return</a:t>
            </a:r>
          </a:p>
          <a:p>
            <a:r>
              <a:rPr lang="en-US" dirty="0" smtClean="0"/>
              <a:t>G1: Call only </a:t>
            </a:r>
            <a:r>
              <a:rPr lang="en-US" dirty="0" err="1" smtClean="0"/>
              <a:t>async</a:t>
            </a:r>
            <a:r>
              <a:rPr lang="en-US" dirty="0" smtClean="0"/>
              <a:t>-signal-safe functions in your handlers</a:t>
            </a:r>
            <a:endParaRPr lang="en-US" dirty="0"/>
          </a:p>
          <a:p>
            <a:pPr lvl="1"/>
            <a:r>
              <a:rPr lang="en-US" dirty="0" err="1" smtClean="0">
                <a:latin typeface="Courier New"/>
                <a:cs typeface="Courier New"/>
              </a:rPr>
              <a:t>printf</a:t>
            </a:r>
            <a:r>
              <a:rPr lang="en-US" dirty="0" smtClean="0">
                <a:latin typeface="Courier New"/>
                <a:cs typeface="Courier New"/>
              </a:rPr>
              <a:t>, </a:t>
            </a:r>
            <a:r>
              <a:rPr lang="en-US" dirty="0" err="1" smtClean="0">
                <a:latin typeface="Courier New"/>
                <a:cs typeface="Courier New"/>
              </a:rPr>
              <a:t>sprintf</a:t>
            </a:r>
            <a:r>
              <a:rPr lang="en-US" dirty="0" smtClean="0"/>
              <a:t>,  </a:t>
            </a:r>
            <a:r>
              <a:rPr lang="en-US" dirty="0" err="1" smtClean="0">
                <a:latin typeface="Courier New"/>
                <a:cs typeface="Courier New"/>
              </a:rPr>
              <a:t>malloc</a:t>
            </a:r>
            <a:r>
              <a:rPr lang="en-US" dirty="0" smtClean="0"/>
              <a:t>, and </a:t>
            </a:r>
            <a:r>
              <a:rPr lang="en-US" dirty="0" smtClean="0">
                <a:latin typeface="Courier New"/>
                <a:cs typeface="Courier New"/>
              </a:rPr>
              <a:t>exit</a:t>
            </a:r>
            <a:r>
              <a:rPr lang="en-US" dirty="0" smtClean="0"/>
              <a:t> are not safe!</a:t>
            </a:r>
          </a:p>
          <a:p>
            <a:r>
              <a:rPr lang="en-US" dirty="0" smtClean="0"/>
              <a:t>G2: Save and restore </a:t>
            </a:r>
            <a:r>
              <a:rPr lang="en-US" dirty="0" err="1" smtClean="0">
                <a:latin typeface="Courier New"/>
                <a:cs typeface="Courier New"/>
              </a:rPr>
              <a:t>errno</a:t>
            </a:r>
            <a:r>
              <a:rPr lang="en-US" dirty="0" smtClean="0"/>
              <a:t> on entry and exit</a:t>
            </a:r>
          </a:p>
          <a:p>
            <a:pPr lvl="1"/>
            <a:r>
              <a:rPr lang="en-US" dirty="0" smtClean="0"/>
              <a:t>So that other handlers don’t overwrite your value of </a:t>
            </a:r>
            <a:r>
              <a:rPr lang="en-US" dirty="0" err="1" smtClean="0">
                <a:latin typeface="Courier New"/>
                <a:cs typeface="Courier New"/>
              </a:rPr>
              <a:t>errno</a:t>
            </a:r>
            <a:r>
              <a:rPr lang="en-US" dirty="0" smtClean="0"/>
              <a:t>	</a:t>
            </a:r>
          </a:p>
          <a:p>
            <a:r>
              <a:rPr lang="en-US" dirty="0" smtClean="0"/>
              <a:t>G3: Protect accesses to shared data structures by temporarily blocking all signals. </a:t>
            </a:r>
          </a:p>
          <a:p>
            <a:pPr lvl="1"/>
            <a:r>
              <a:rPr lang="en-US" dirty="0" smtClean="0"/>
              <a:t>To prevent possible corruption</a:t>
            </a:r>
          </a:p>
          <a:p>
            <a:r>
              <a:rPr lang="en-US" dirty="0" smtClean="0"/>
              <a:t>G4: Declare global variables as </a:t>
            </a:r>
            <a:r>
              <a:rPr lang="en-US" dirty="0" smtClean="0">
                <a:latin typeface="Courier New"/>
                <a:cs typeface="Courier New"/>
              </a:rPr>
              <a:t>volatile</a:t>
            </a:r>
          </a:p>
          <a:p>
            <a:pPr lvl="1"/>
            <a:r>
              <a:rPr lang="en-US" dirty="0" smtClean="0">
                <a:latin typeface="+mn-lt"/>
                <a:cs typeface="Courier New"/>
              </a:rPr>
              <a:t>To prevent compiler from storing them in a register</a:t>
            </a:r>
          </a:p>
          <a:p>
            <a:r>
              <a:rPr lang="en-US" dirty="0" smtClean="0">
                <a:latin typeface="+mn-lt"/>
                <a:cs typeface="Courier New"/>
              </a:rPr>
              <a:t>G5: Declare global flags as </a:t>
            </a:r>
            <a:r>
              <a:rPr lang="en-US" dirty="0" smtClean="0">
                <a:latin typeface="Courier New"/>
                <a:cs typeface="Courier New"/>
              </a:rPr>
              <a:t>volatile </a:t>
            </a:r>
            <a:r>
              <a:rPr lang="en-US" dirty="0" err="1" smtClean="0">
                <a:latin typeface="Courier New"/>
                <a:cs typeface="Courier New"/>
              </a:rPr>
              <a:t>sig_atomic_t</a:t>
            </a:r>
            <a:endParaRPr lang="en-US" dirty="0" smtClean="0">
              <a:latin typeface="Courier New"/>
              <a:cs typeface="Courier New"/>
            </a:endParaRPr>
          </a:p>
          <a:p>
            <a:pPr lvl="1"/>
            <a:r>
              <a:rPr lang="en-US" i="1" dirty="0" smtClean="0">
                <a:latin typeface="+mn-lt"/>
                <a:cs typeface="Courier New"/>
              </a:rPr>
              <a:t>flag</a:t>
            </a:r>
            <a:r>
              <a:rPr lang="en-US" dirty="0" smtClean="0">
                <a:latin typeface="+mn-lt"/>
                <a:cs typeface="Courier New"/>
              </a:rPr>
              <a:t>: variable that is only read or written (e.g. flag = 1, not flag++)</a:t>
            </a:r>
          </a:p>
          <a:p>
            <a:pPr lvl="1"/>
            <a:r>
              <a:rPr lang="en-US" dirty="0">
                <a:latin typeface="+mn-lt"/>
                <a:cs typeface="Courier New"/>
              </a:rPr>
              <a:t>F</a:t>
            </a:r>
            <a:r>
              <a:rPr lang="en-US" dirty="0" smtClean="0">
                <a:latin typeface="+mn-lt"/>
                <a:cs typeface="Courier New"/>
              </a:rPr>
              <a:t>lag declared this way does not need to be protected  like other </a:t>
            </a:r>
            <a:r>
              <a:rPr lang="en-US" dirty="0" err="1" smtClean="0">
                <a:latin typeface="+mn-lt"/>
                <a:cs typeface="Courier New"/>
              </a:rPr>
              <a:t>globals</a:t>
            </a:r>
            <a:endParaRPr lang="en-US" dirty="0" smtClean="0">
              <a:latin typeface="+mn-lt"/>
              <a:cs typeface="Courier New"/>
            </a:endParaRPr>
          </a:p>
        </p:txBody>
      </p:sp>
    </p:spTree>
    <p:extLst>
      <p:ext uri="{BB962C8B-B14F-4D97-AF65-F5344CB8AC3E}">
        <p14:creationId xmlns:p14="http://schemas.microsoft.com/office/powerpoint/2010/main" val="20974209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Async</a:t>
            </a:r>
            <a:r>
              <a:rPr lang="en-US" dirty="0" smtClean="0"/>
              <a:t>-Signal-Safety	</a:t>
            </a:r>
            <a:endParaRPr lang="en-US" dirty="0"/>
          </a:p>
        </p:txBody>
      </p:sp>
      <p:sp>
        <p:nvSpPr>
          <p:cNvPr id="3" name="Content Placeholder 2"/>
          <p:cNvSpPr>
            <a:spLocks noGrp="1"/>
          </p:cNvSpPr>
          <p:nvPr>
            <p:ph idx="1"/>
          </p:nvPr>
        </p:nvSpPr>
        <p:spPr>
          <a:xfrm>
            <a:off x="396875" y="1362075"/>
            <a:ext cx="8670925" cy="3743325"/>
          </a:xfrm>
        </p:spPr>
        <p:txBody>
          <a:bodyPr/>
          <a:lstStyle/>
          <a:p>
            <a:r>
              <a:rPr lang="en-US" dirty="0" smtClean="0">
                <a:latin typeface="Calibri"/>
                <a:cs typeface="Calibri"/>
              </a:rPr>
              <a:t>Function is </a:t>
            </a:r>
            <a:r>
              <a:rPr lang="en-US" i="1" dirty="0" err="1" smtClean="0">
                <a:solidFill>
                  <a:srgbClr val="990000"/>
                </a:solidFill>
                <a:latin typeface="Calibri"/>
                <a:cs typeface="Calibri"/>
              </a:rPr>
              <a:t>async</a:t>
            </a:r>
            <a:r>
              <a:rPr lang="en-US" i="1" dirty="0" smtClean="0">
                <a:solidFill>
                  <a:srgbClr val="990000"/>
                </a:solidFill>
                <a:latin typeface="Calibri"/>
                <a:cs typeface="Calibri"/>
              </a:rPr>
              <a:t>-signal-safe </a:t>
            </a:r>
            <a:r>
              <a:rPr lang="en-US" dirty="0" smtClean="0">
                <a:latin typeface="Calibri"/>
                <a:cs typeface="Calibri"/>
              </a:rPr>
              <a:t>if either reentrant (e.g., all variables stored on stack frame, CS:APP3e 12.7.2) or non-interruptible by signals.</a:t>
            </a:r>
          </a:p>
          <a:p>
            <a:r>
              <a:rPr lang="en-US" dirty="0" err="1" smtClean="0">
                <a:latin typeface="Calibri"/>
                <a:cs typeface="Calibri"/>
              </a:rPr>
              <a:t>Posix</a:t>
            </a:r>
            <a:r>
              <a:rPr lang="en-US" dirty="0" smtClean="0">
                <a:latin typeface="Calibri"/>
                <a:cs typeface="Calibri"/>
              </a:rPr>
              <a:t> guarantees 117 functions to be </a:t>
            </a:r>
            <a:r>
              <a:rPr lang="en-US" dirty="0" err="1" smtClean="0">
                <a:latin typeface="Calibri"/>
                <a:cs typeface="Calibri"/>
              </a:rPr>
              <a:t>async</a:t>
            </a:r>
            <a:r>
              <a:rPr lang="en-US" dirty="0" smtClean="0">
                <a:latin typeface="Calibri"/>
                <a:cs typeface="Calibri"/>
              </a:rPr>
              <a:t>-signal-safe </a:t>
            </a:r>
          </a:p>
          <a:p>
            <a:pPr lvl="1"/>
            <a:r>
              <a:rPr lang="en-US" dirty="0" smtClean="0">
                <a:latin typeface="Calibri"/>
                <a:cs typeface="Calibri"/>
              </a:rPr>
              <a:t>Source: “</a:t>
            </a:r>
            <a:r>
              <a:rPr lang="en-US" dirty="0" smtClean="0">
                <a:latin typeface="Courier New"/>
                <a:cs typeface="Courier New"/>
              </a:rPr>
              <a:t>man 7 signal</a:t>
            </a:r>
            <a:r>
              <a:rPr lang="en-US" dirty="0" smtClean="0">
                <a:latin typeface="Calibri"/>
                <a:cs typeface="Calibri"/>
              </a:rPr>
              <a:t>”</a:t>
            </a:r>
          </a:p>
          <a:p>
            <a:pPr lvl="1"/>
            <a:r>
              <a:rPr lang="en-US" dirty="0" smtClean="0">
                <a:latin typeface="+mn-lt"/>
                <a:cs typeface="Courier New"/>
              </a:rPr>
              <a:t>Popular functions on the list:</a:t>
            </a:r>
          </a:p>
          <a:p>
            <a:pPr lvl="2"/>
            <a:r>
              <a:rPr lang="en-US" dirty="0" smtClean="0">
                <a:latin typeface="Courier New"/>
                <a:cs typeface="Courier New"/>
              </a:rPr>
              <a:t>_exit, write, wait, </a:t>
            </a:r>
            <a:r>
              <a:rPr lang="en-US" dirty="0" err="1" smtClean="0">
                <a:latin typeface="Courier New"/>
                <a:cs typeface="Courier New"/>
              </a:rPr>
              <a:t>waitpid</a:t>
            </a:r>
            <a:r>
              <a:rPr lang="en-US" dirty="0" smtClean="0">
                <a:latin typeface="Courier New"/>
                <a:cs typeface="Courier New"/>
              </a:rPr>
              <a:t>, sleep, kill</a:t>
            </a:r>
          </a:p>
          <a:p>
            <a:pPr lvl="1"/>
            <a:r>
              <a:rPr lang="en-US" dirty="0" smtClean="0">
                <a:latin typeface="+mn-lt"/>
                <a:cs typeface="Courier New"/>
              </a:rPr>
              <a:t>Popular functions that are </a:t>
            </a:r>
            <a:r>
              <a:rPr lang="en-US" b="1" dirty="0" smtClean="0">
                <a:solidFill>
                  <a:srgbClr val="FF0000"/>
                </a:solidFill>
                <a:latin typeface="+mn-lt"/>
                <a:cs typeface="Courier New"/>
              </a:rPr>
              <a:t>not</a:t>
            </a:r>
            <a:r>
              <a:rPr lang="en-US" dirty="0" smtClean="0">
                <a:latin typeface="+mn-lt"/>
                <a:cs typeface="Courier New"/>
              </a:rPr>
              <a:t> on the list:</a:t>
            </a:r>
          </a:p>
          <a:p>
            <a:pPr lvl="2"/>
            <a:r>
              <a:rPr lang="en-US" dirty="0" err="1" smtClean="0">
                <a:latin typeface="Courier New"/>
                <a:cs typeface="Courier New"/>
              </a:rPr>
              <a:t>printf</a:t>
            </a:r>
            <a:r>
              <a:rPr lang="en-US" dirty="0" smtClean="0">
                <a:latin typeface="+mn-lt"/>
                <a:cs typeface="Courier New"/>
              </a:rPr>
              <a:t>,  </a:t>
            </a:r>
            <a:r>
              <a:rPr lang="en-US" dirty="0" err="1" smtClean="0">
                <a:latin typeface="Courier New"/>
                <a:cs typeface="Courier New"/>
              </a:rPr>
              <a:t>sprintf</a:t>
            </a:r>
            <a:r>
              <a:rPr lang="en-US" dirty="0" smtClean="0">
                <a:latin typeface="+mn-lt"/>
                <a:cs typeface="Courier New"/>
              </a:rPr>
              <a:t>,</a:t>
            </a:r>
            <a:r>
              <a:rPr lang="en-US" dirty="0" smtClean="0">
                <a:latin typeface="Courier New"/>
                <a:cs typeface="Courier New"/>
              </a:rPr>
              <a:t> </a:t>
            </a:r>
            <a:r>
              <a:rPr lang="en-US" dirty="0" err="1" smtClean="0">
                <a:latin typeface="Courier New"/>
                <a:cs typeface="Courier New"/>
              </a:rPr>
              <a:t>malloc</a:t>
            </a:r>
            <a:r>
              <a:rPr lang="en-US" dirty="0" smtClean="0">
                <a:latin typeface="Courier New"/>
                <a:cs typeface="Courier New"/>
              </a:rPr>
              <a:t>, exit </a:t>
            </a:r>
          </a:p>
          <a:p>
            <a:pPr lvl="2"/>
            <a:r>
              <a:rPr lang="en-US" dirty="0" smtClean="0">
                <a:latin typeface="Calibri"/>
                <a:cs typeface="Calibri"/>
              </a:rPr>
              <a:t>Unfortunate fact: </a:t>
            </a:r>
            <a:r>
              <a:rPr lang="en-US" dirty="0" smtClean="0">
                <a:latin typeface="Courier New"/>
                <a:cs typeface="Courier New"/>
              </a:rPr>
              <a:t>write</a:t>
            </a:r>
            <a:r>
              <a:rPr lang="en-US" dirty="0" smtClean="0">
                <a:latin typeface="Calibri"/>
                <a:cs typeface="Calibri"/>
              </a:rPr>
              <a:t> is the only </a:t>
            </a:r>
            <a:r>
              <a:rPr lang="en-US" dirty="0" err="1" smtClean="0">
                <a:latin typeface="Calibri"/>
                <a:cs typeface="Calibri"/>
              </a:rPr>
              <a:t>async</a:t>
            </a:r>
            <a:r>
              <a:rPr lang="en-US" dirty="0" smtClean="0">
                <a:latin typeface="Calibri"/>
                <a:cs typeface="Calibri"/>
              </a:rPr>
              <a:t>-signal-safe output function</a:t>
            </a:r>
          </a:p>
        </p:txBody>
      </p:sp>
    </p:spTree>
    <p:extLst>
      <p:ext uri="{BB962C8B-B14F-4D97-AF65-F5344CB8AC3E}">
        <p14:creationId xmlns:p14="http://schemas.microsoft.com/office/powerpoint/2010/main" val="264925319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177382" cy="762000"/>
          </a:xfrm>
        </p:spPr>
        <p:txBody>
          <a:bodyPr/>
          <a:lstStyle/>
          <a:p>
            <a:r>
              <a:rPr lang="en-US" dirty="0" smtClean="0"/>
              <a:t>Safely Generating Formatted Output</a:t>
            </a:r>
            <a:endParaRPr lang="en-US" dirty="0"/>
          </a:p>
        </p:txBody>
      </p:sp>
      <p:sp>
        <p:nvSpPr>
          <p:cNvPr id="3" name="Content Placeholder 2"/>
          <p:cNvSpPr>
            <a:spLocks noGrp="1"/>
          </p:cNvSpPr>
          <p:nvPr>
            <p:ph idx="1"/>
          </p:nvPr>
        </p:nvSpPr>
        <p:spPr>
          <a:xfrm>
            <a:off x="396875" y="1143000"/>
            <a:ext cx="8345006" cy="2057400"/>
          </a:xfrm>
        </p:spPr>
        <p:txBody>
          <a:bodyPr/>
          <a:lstStyle/>
          <a:p>
            <a:r>
              <a:rPr lang="en-US" dirty="0" smtClean="0"/>
              <a:t>Use the reentrant SIO (Safe I/O library) from </a:t>
            </a:r>
            <a:r>
              <a:rPr lang="en-US" dirty="0" err="1" smtClean="0">
                <a:latin typeface="Courier New"/>
                <a:cs typeface="Courier New"/>
              </a:rPr>
              <a:t>csapp.c</a:t>
            </a:r>
            <a:r>
              <a:rPr lang="en-US" dirty="0" smtClean="0"/>
              <a:t> in your handlers.</a:t>
            </a:r>
          </a:p>
          <a:p>
            <a:pPr lvl="1"/>
            <a:r>
              <a:rPr lang="en-US" dirty="0" err="1" smtClean="0">
                <a:latin typeface="Courier New"/>
                <a:cs typeface="Courier New"/>
              </a:rPr>
              <a:t>ssize_t</a:t>
            </a:r>
            <a:r>
              <a:rPr lang="en-US" dirty="0" smtClean="0">
                <a:latin typeface="Courier New"/>
                <a:cs typeface="Courier New"/>
              </a:rPr>
              <a:t> </a:t>
            </a:r>
            <a:r>
              <a:rPr lang="en-US" dirty="0" err="1" smtClean="0">
                <a:latin typeface="Courier New"/>
                <a:cs typeface="Courier New"/>
              </a:rPr>
              <a:t>sio_puts</a:t>
            </a:r>
            <a:r>
              <a:rPr lang="en-US" dirty="0" smtClean="0">
                <a:latin typeface="Courier New"/>
                <a:cs typeface="Courier New"/>
              </a:rPr>
              <a:t>(char s[]) /* Put string */</a:t>
            </a:r>
          </a:p>
          <a:p>
            <a:pPr lvl="1"/>
            <a:r>
              <a:rPr lang="en-US" dirty="0" err="1" smtClean="0">
                <a:latin typeface="Courier New"/>
                <a:cs typeface="Courier New"/>
              </a:rPr>
              <a:t>ssize_t</a:t>
            </a:r>
            <a:r>
              <a:rPr lang="en-US" dirty="0" smtClean="0">
                <a:latin typeface="Courier New"/>
                <a:cs typeface="Courier New"/>
              </a:rPr>
              <a:t> </a:t>
            </a:r>
            <a:r>
              <a:rPr lang="en-US" dirty="0" err="1" smtClean="0">
                <a:latin typeface="Courier New"/>
                <a:cs typeface="Courier New"/>
              </a:rPr>
              <a:t>sio_putl</a:t>
            </a:r>
            <a:r>
              <a:rPr lang="en-US" dirty="0" smtClean="0">
                <a:latin typeface="Courier New"/>
                <a:cs typeface="Courier New"/>
              </a:rPr>
              <a:t>(long v)   /* Put long */</a:t>
            </a:r>
          </a:p>
          <a:p>
            <a:pPr lvl="1"/>
            <a:r>
              <a:rPr lang="en-US" dirty="0" smtClean="0">
                <a:latin typeface="Courier New"/>
                <a:cs typeface="Courier New"/>
              </a:rPr>
              <a:t>void </a:t>
            </a:r>
            <a:r>
              <a:rPr lang="en-US" dirty="0" err="1" smtClean="0">
                <a:latin typeface="Courier New"/>
                <a:cs typeface="Courier New"/>
              </a:rPr>
              <a:t>sio_error</a:t>
            </a:r>
            <a:r>
              <a:rPr lang="en-US" dirty="0" smtClean="0">
                <a:latin typeface="Courier New"/>
                <a:cs typeface="Courier New"/>
              </a:rPr>
              <a:t>(char s[])   /* Put </a:t>
            </a:r>
            <a:r>
              <a:rPr lang="en-US" dirty="0" err="1" smtClean="0">
                <a:latin typeface="Courier New"/>
                <a:cs typeface="Courier New"/>
              </a:rPr>
              <a:t>msg</a:t>
            </a:r>
            <a:r>
              <a:rPr lang="en-US" dirty="0" smtClean="0">
                <a:latin typeface="Courier New"/>
                <a:cs typeface="Courier New"/>
              </a:rPr>
              <a:t> &amp; exit */</a:t>
            </a:r>
            <a:endParaRPr lang="en-US" dirty="0">
              <a:latin typeface="Courier New"/>
              <a:cs typeface="Courier New"/>
            </a:endParaRPr>
          </a:p>
        </p:txBody>
      </p:sp>
      <p:sp>
        <p:nvSpPr>
          <p:cNvPr id="7" name="Text Box 4"/>
          <p:cNvSpPr txBox="1">
            <a:spLocks noChangeArrowheads="1"/>
          </p:cNvSpPr>
          <p:nvPr/>
        </p:nvSpPr>
        <p:spPr bwMode="auto">
          <a:xfrm>
            <a:off x="275119" y="3581400"/>
            <a:ext cx="8466761" cy="2819400"/>
          </a:xfrm>
          <a:prstGeom prst="rect">
            <a:avLst/>
          </a:prstGeom>
          <a:solidFill>
            <a:srgbClr val="F6F5BD"/>
          </a:solidFill>
          <a:ln w="3175">
            <a:solidFill>
              <a:schemeClr val="tx1"/>
            </a:solidFill>
            <a:miter lim="800000"/>
            <a:headEnd/>
            <a:tailEnd/>
          </a:ln>
          <a:effectLst/>
        </p:spPr>
        <p:txBody>
          <a:bodyPr wrap="square">
            <a:no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4A00FF"/>
                </a:solidFill>
                <a:latin typeface="Courier New"/>
                <a:cs typeface="Courier New"/>
              </a:rPr>
              <a:t>sigint_handler</a:t>
            </a:r>
            <a:r>
              <a:rPr lang="en-US" sz="1800" dirty="0">
                <a:solidFill>
                  <a:srgbClr val="000000"/>
                </a:solidFill>
                <a:latin typeface="Courier New"/>
                <a:cs typeface="Courier New"/>
              </a:rPr>
              <a:t>(</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sig</a:t>
            </a:r>
            <a:r>
              <a:rPr lang="en-US" sz="1800" dirty="0">
                <a:solidFill>
                  <a:srgbClr val="000000"/>
                </a:solidFill>
                <a:latin typeface="Courier New"/>
                <a:cs typeface="Courier New"/>
              </a:rPr>
              <a:t>) </a:t>
            </a:r>
            <a:r>
              <a:rPr lang="en-US" sz="1800" dirty="0">
                <a:solidFill>
                  <a:srgbClr val="CB2418"/>
                </a:solidFill>
                <a:latin typeface="Courier New"/>
                <a:cs typeface="Courier New"/>
              </a:rPr>
              <a:t>/* Safe SIGINT handler */</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"So you think you can stop the bomb with ctrl-c, do you?\n"</a:t>
            </a:r>
            <a:r>
              <a:rPr lang="en-US" sz="1800" dirty="0">
                <a:solidFill>
                  <a:srgbClr val="000000"/>
                </a:solidFill>
                <a:latin typeface="Courier New"/>
                <a:cs typeface="Courier New"/>
              </a:rPr>
              <a:t>);</a:t>
            </a:r>
          </a:p>
          <a:p>
            <a:r>
              <a:rPr lang="nl-NL" sz="1800" dirty="0">
                <a:solidFill>
                  <a:srgbClr val="000000"/>
                </a:solidFill>
                <a:latin typeface="Courier New"/>
                <a:cs typeface="Courier New"/>
              </a:rPr>
              <a:t>    </a:t>
            </a:r>
            <a:r>
              <a:rPr lang="nl-NL" sz="1800" dirty="0" smtClean="0">
                <a:solidFill>
                  <a:srgbClr val="000000"/>
                </a:solidFill>
                <a:latin typeface="Courier New"/>
                <a:cs typeface="Courier New"/>
              </a:rPr>
              <a:t>sleep</a:t>
            </a:r>
            <a:r>
              <a:rPr lang="nl-NL" sz="1800" dirty="0">
                <a:solidFill>
                  <a:srgbClr val="000000"/>
                </a:solidFill>
                <a:latin typeface="Courier New"/>
                <a:cs typeface="Courier New"/>
              </a:rPr>
              <a:t>(2);</a:t>
            </a:r>
          </a:p>
          <a:p>
            <a:r>
              <a:rPr lang="de-DE" sz="1800" dirty="0">
                <a:solidFill>
                  <a:srgbClr val="000000"/>
                </a:solidFill>
                <a:latin typeface="Courier New"/>
                <a:cs typeface="Courier New"/>
              </a:rPr>
              <a:t>    </a:t>
            </a:r>
            <a:r>
              <a:rPr lang="de-DE" sz="1800" dirty="0" err="1">
                <a:solidFill>
                  <a:srgbClr val="000000"/>
                </a:solidFill>
                <a:latin typeface="Courier New"/>
                <a:cs typeface="Courier New"/>
              </a:rPr>
              <a:t>Sio_puts</a:t>
            </a:r>
            <a:r>
              <a:rPr lang="de-DE" sz="1800" dirty="0">
                <a:solidFill>
                  <a:srgbClr val="000000"/>
                </a:solidFill>
                <a:latin typeface="Courier New"/>
                <a:cs typeface="Courier New"/>
              </a:rPr>
              <a:t>(</a:t>
            </a:r>
            <a:r>
              <a:rPr lang="de-DE" sz="1800" dirty="0">
                <a:solidFill>
                  <a:srgbClr val="9D206F"/>
                </a:solidFill>
                <a:latin typeface="Courier New"/>
                <a:cs typeface="Courier New"/>
              </a:rPr>
              <a:t>"</a:t>
            </a:r>
            <a:r>
              <a:rPr lang="de-DE" sz="1800" dirty="0" err="1">
                <a:solidFill>
                  <a:srgbClr val="9D206F"/>
                </a:solidFill>
                <a:latin typeface="Courier New"/>
                <a:cs typeface="Courier New"/>
              </a:rPr>
              <a:t>Well</a:t>
            </a:r>
            <a:r>
              <a:rPr lang="de-DE" sz="1800" dirty="0">
                <a:solidFill>
                  <a:srgbClr val="9D206F"/>
                </a:solidFill>
                <a:latin typeface="Courier New"/>
                <a:cs typeface="Courier New"/>
              </a:rPr>
              <a:t>..."</a:t>
            </a:r>
            <a:r>
              <a:rPr lang="de-DE" sz="1800" dirty="0">
                <a:solidFill>
                  <a:srgbClr val="000000"/>
                </a:solidFill>
                <a:latin typeface="Courier New"/>
                <a:cs typeface="Courier New"/>
              </a:rPr>
              <a:t>);</a:t>
            </a:r>
          </a:p>
          <a:p>
            <a:r>
              <a:rPr lang="nl-NL" sz="1800" dirty="0">
                <a:solidFill>
                  <a:srgbClr val="000000"/>
                </a:solidFill>
                <a:latin typeface="Courier New"/>
                <a:cs typeface="Courier New"/>
              </a:rPr>
              <a:t>    </a:t>
            </a:r>
            <a:r>
              <a:rPr lang="nl-NL" sz="1800" dirty="0" smtClean="0">
                <a:solidFill>
                  <a:srgbClr val="000000"/>
                </a:solidFill>
                <a:latin typeface="Courier New"/>
                <a:cs typeface="Courier New"/>
              </a:rPr>
              <a:t>sleep</a:t>
            </a:r>
            <a:r>
              <a:rPr lang="nl-NL" sz="1800" dirty="0">
                <a:solidFill>
                  <a:srgbClr val="000000"/>
                </a:solidFill>
                <a:latin typeface="Courier New"/>
                <a:cs typeface="Courier New"/>
              </a:rPr>
              <a:t>(1);</a:t>
            </a:r>
          </a:p>
          <a:p>
            <a:r>
              <a:rPr lang="nl-NL" sz="1800" dirty="0">
                <a:solidFill>
                  <a:srgbClr val="000000"/>
                </a:solidFill>
                <a:latin typeface="Courier New"/>
                <a:cs typeface="Courier New"/>
              </a:rPr>
              <a:t>    </a:t>
            </a:r>
            <a:r>
              <a:rPr lang="nl-NL" sz="1800" dirty="0" err="1">
                <a:solidFill>
                  <a:srgbClr val="000000"/>
                </a:solidFill>
                <a:latin typeface="Courier New"/>
                <a:cs typeface="Courier New"/>
              </a:rPr>
              <a:t>Sio_puts</a:t>
            </a:r>
            <a:r>
              <a:rPr lang="nl-NL" sz="1800" dirty="0">
                <a:solidFill>
                  <a:srgbClr val="000000"/>
                </a:solidFill>
                <a:latin typeface="Courier New"/>
                <a:cs typeface="Courier New"/>
              </a:rPr>
              <a:t>(</a:t>
            </a:r>
            <a:r>
              <a:rPr lang="nl-NL" sz="1800" dirty="0">
                <a:solidFill>
                  <a:srgbClr val="9D206F"/>
                </a:solidFill>
                <a:latin typeface="Courier New"/>
                <a:cs typeface="Courier New"/>
              </a:rPr>
              <a:t>"OK. :-)\n"</a:t>
            </a:r>
            <a:r>
              <a:rPr lang="nl-NL" sz="1800" dirty="0">
                <a:solidFill>
                  <a:srgbClr val="000000"/>
                </a:solidFill>
                <a:latin typeface="Courier New"/>
                <a:cs typeface="Courier New"/>
              </a:rPr>
              <a:t>);</a:t>
            </a:r>
          </a:p>
          <a:p>
            <a:r>
              <a:rPr lang="nl-NL" sz="1800" dirty="0">
                <a:solidFill>
                  <a:srgbClr val="000000"/>
                </a:solidFill>
                <a:latin typeface="Courier New"/>
                <a:cs typeface="Courier New"/>
              </a:rPr>
              <a:t>    _exit(0);</a:t>
            </a:r>
          </a:p>
          <a:p>
            <a:r>
              <a:rPr lang="nl-NL" sz="1800" dirty="0">
                <a:solidFill>
                  <a:srgbClr val="000000"/>
                </a:solidFill>
                <a:latin typeface="Courier New"/>
                <a:cs typeface="Courier New"/>
              </a:rPr>
              <a:t>}</a:t>
            </a:r>
          </a:p>
          <a:p>
            <a:endParaRPr lang="en-US" sz="1800" dirty="0">
              <a:solidFill>
                <a:srgbClr val="000000"/>
              </a:solidFill>
              <a:latin typeface="Courier New"/>
              <a:cs typeface="Courier New"/>
            </a:endParaRPr>
          </a:p>
        </p:txBody>
      </p:sp>
      <p:sp>
        <p:nvSpPr>
          <p:cNvPr id="6" name="TextBox 5"/>
          <p:cNvSpPr txBox="1"/>
          <p:nvPr/>
        </p:nvSpPr>
        <p:spPr>
          <a:xfrm>
            <a:off x="7506000" y="6031468"/>
            <a:ext cx="1257000" cy="369332"/>
          </a:xfrm>
          <a:prstGeom prst="rect">
            <a:avLst/>
          </a:prstGeom>
          <a:noFill/>
        </p:spPr>
        <p:txBody>
          <a:bodyPr wrap="none" rtlCol="0">
            <a:spAutoFit/>
          </a:bodyPr>
          <a:lstStyle/>
          <a:p>
            <a:r>
              <a:rPr lang="en-US" sz="1800" dirty="0" err="1" smtClean="0">
                <a:solidFill>
                  <a:srgbClr val="7F7F7F"/>
                </a:solidFill>
                <a:latin typeface="Calibri" pitchFamily="34" charset="0"/>
              </a:rPr>
              <a:t>sigintsafe.c</a:t>
            </a:r>
            <a:endParaRPr lang="en-US" sz="1800" dirty="0" smtClean="0">
              <a:solidFill>
                <a:srgbClr val="7F7F7F"/>
              </a:solidFill>
              <a:latin typeface="Calibri" pitchFamily="34" charset="0"/>
            </a:endParaRPr>
          </a:p>
        </p:txBody>
      </p:sp>
    </p:spTree>
    <p:extLst>
      <p:ext uri="{BB962C8B-B14F-4D97-AF65-F5344CB8AC3E}">
        <p14:creationId xmlns:p14="http://schemas.microsoft.com/office/powerpoint/2010/main" val="33965276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5" name="Rectangle 3"/>
          <p:cNvSpPr>
            <a:spLocks noGrp="1" noChangeArrowheads="1"/>
          </p:cNvSpPr>
          <p:nvPr>
            <p:ph type="body" idx="1"/>
          </p:nvPr>
        </p:nvSpPr>
        <p:spPr>
          <a:xfrm>
            <a:off x="6172200" y="1113504"/>
            <a:ext cx="2971800" cy="3763296"/>
          </a:xfrm>
        </p:spPr>
        <p:txBody>
          <a:bodyPr/>
          <a:lstStyle/>
          <a:p>
            <a:pPr marL="230188" indent="-230188"/>
            <a:r>
              <a:rPr lang="en-US" sz="2200" dirty="0" smtClean="0"/>
              <a:t>Pending </a:t>
            </a:r>
            <a:r>
              <a:rPr lang="en-US" sz="2200" dirty="0"/>
              <a:t>signals are not queued</a:t>
            </a:r>
          </a:p>
          <a:p>
            <a:pPr marL="401638" lvl="1" indent="-171450"/>
            <a:r>
              <a:rPr lang="en-US" sz="1800" dirty="0" smtClean="0"/>
              <a:t>For </a:t>
            </a:r>
            <a:r>
              <a:rPr lang="en-US" sz="1800" dirty="0"/>
              <a:t>each signal type, </a:t>
            </a:r>
            <a:r>
              <a:rPr lang="en-US" sz="1800" dirty="0" smtClean="0"/>
              <a:t>one bit indicates </a:t>
            </a:r>
            <a:r>
              <a:rPr lang="en-US" sz="1800" dirty="0"/>
              <a:t>whether or not signal is </a:t>
            </a:r>
            <a:r>
              <a:rPr lang="en-US" sz="1800" dirty="0" smtClean="0"/>
              <a:t>pending…</a:t>
            </a:r>
          </a:p>
          <a:p>
            <a:pPr marL="401638" lvl="1" indent="-171450"/>
            <a:r>
              <a:rPr lang="en-US" sz="1800" dirty="0" smtClean="0"/>
              <a:t>…thus at most one pending signal of any particular type. </a:t>
            </a:r>
            <a:endParaRPr lang="en-US" sz="1800" dirty="0"/>
          </a:p>
          <a:p>
            <a:pPr marL="1588" indent="-171450"/>
            <a:r>
              <a:rPr lang="en-US" sz="2200" dirty="0" smtClean="0"/>
              <a:t> You can’t use signals to count events, such as children terminating.</a:t>
            </a:r>
            <a:endParaRPr lang="en-US" sz="2200" dirty="0"/>
          </a:p>
        </p:txBody>
      </p:sp>
      <p:sp>
        <p:nvSpPr>
          <p:cNvPr id="525316" name="Text Box 4"/>
          <p:cNvSpPr txBox="1">
            <a:spLocks noChangeArrowheads="1"/>
          </p:cNvSpPr>
          <p:nvPr/>
        </p:nvSpPr>
        <p:spPr bwMode="auto">
          <a:xfrm>
            <a:off x="63500" y="522513"/>
            <a:ext cx="5867400" cy="6259287"/>
          </a:xfrm>
          <a:prstGeom prst="rect">
            <a:avLst/>
          </a:prstGeom>
          <a:solidFill>
            <a:srgbClr val="F6F5BD"/>
          </a:solidFill>
          <a:ln w="3175">
            <a:solidFill>
              <a:schemeClr val="tx1"/>
            </a:solidFill>
            <a:miter lim="800000"/>
            <a:headEnd/>
            <a:tailEnd/>
          </a:ln>
          <a:effectLst/>
        </p:spPr>
        <p:txBody>
          <a:bodyPr wrap="square">
            <a:noAutofit/>
          </a:bodyPr>
          <a:lstStyle/>
          <a:p>
            <a:r>
              <a:rPr lang="en-US" sz="1400" dirty="0" smtClean="0">
                <a:solidFill>
                  <a:srgbClr val="2D961E"/>
                </a:solidFill>
                <a:latin typeface="Courier New"/>
                <a:cs typeface="Courier New"/>
              </a:rPr>
              <a:t>volatile </a:t>
            </a:r>
            <a:r>
              <a:rPr lang="en-US" sz="1400" dirty="0" err="1" smtClean="0">
                <a:solidFill>
                  <a:srgbClr val="2D961E"/>
                </a:solidFill>
                <a:latin typeface="Courier New"/>
                <a:cs typeface="Courier New"/>
              </a:rPr>
              <a:t>int</a:t>
            </a:r>
            <a:r>
              <a:rPr lang="en-US" sz="1400" dirty="0" smtClean="0">
                <a:solidFill>
                  <a:srgbClr val="000000"/>
                </a:solidFill>
                <a:latin typeface="Courier New"/>
                <a:cs typeface="Courier New"/>
              </a:rPr>
              <a:t> </a:t>
            </a:r>
            <a:r>
              <a:rPr lang="en-US" sz="1400" dirty="0" err="1">
                <a:solidFill>
                  <a:srgbClr val="C1651C"/>
                </a:solidFill>
                <a:latin typeface="Courier New"/>
                <a:cs typeface="Courier New"/>
              </a:rPr>
              <a:t>ccount</a:t>
            </a:r>
            <a:r>
              <a:rPr lang="en-US" sz="1400" dirty="0">
                <a:solidFill>
                  <a:srgbClr val="000000"/>
                </a:solidFill>
                <a:latin typeface="Courier New"/>
                <a:cs typeface="Courier New"/>
              </a:rPr>
              <a:t> = 0;</a:t>
            </a:r>
          </a:p>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err="1">
                <a:solidFill>
                  <a:srgbClr val="4A00FF"/>
                </a:solidFill>
                <a:latin typeface="Courier New"/>
                <a:cs typeface="Courier New"/>
              </a:rPr>
              <a:t>child_handler</a:t>
            </a:r>
            <a:r>
              <a:rPr lang="en-US" sz="1400" dirty="0">
                <a:solidFill>
                  <a:srgbClr val="000000"/>
                </a:solidFill>
                <a:latin typeface="Courier New"/>
                <a:cs typeface="Courier New"/>
              </a:rPr>
              <a:t>(</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C1651C"/>
                </a:solidFill>
                <a:latin typeface="Courier New"/>
                <a:cs typeface="Courier New"/>
              </a:rPr>
              <a:t>sig</a:t>
            </a:r>
            <a:r>
              <a:rPr lang="en-US" sz="1400" dirty="0" smtClean="0">
                <a:solidFill>
                  <a:srgbClr val="000000"/>
                </a:solidFill>
                <a:latin typeface="Courier New"/>
                <a:cs typeface="Courier New"/>
              </a:rPr>
              <a:t>)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err="1">
                <a:solidFill>
                  <a:srgbClr val="C1651C"/>
                </a:solidFill>
                <a:latin typeface="Courier New"/>
                <a:cs typeface="Courier New"/>
              </a:rPr>
              <a:t>olderrno</a:t>
            </a:r>
            <a:r>
              <a:rPr lang="en-US" sz="1400" dirty="0">
                <a:solidFill>
                  <a:srgbClr val="000000"/>
                </a:solidFill>
                <a:latin typeface="Courier New"/>
                <a:cs typeface="Courier New"/>
              </a:rPr>
              <a:t> = </a:t>
            </a:r>
            <a:r>
              <a:rPr lang="en-US" sz="1400" dirty="0" err="1">
                <a:solidFill>
                  <a:srgbClr val="000000"/>
                </a:solidFill>
                <a:latin typeface="Courier New"/>
                <a:cs typeface="Courier New"/>
              </a:rPr>
              <a:t>errno</a:t>
            </a:r>
            <a:r>
              <a:rPr lang="en-US" sz="1400" dirty="0">
                <a:solidFill>
                  <a:srgbClr val="000000"/>
                </a:solidFill>
                <a:latin typeface="Courier New"/>
                <a:cs typeface="Courier New"/>
              </a:rPr>
              <a:t>;</a:t>
            </a: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 = wait(</a:t>
            </a:r>
            <a:r>
              <a:rPr lang="en-US" sz="1400" dirty="0">
                <a:solidFill>
                  <a:srgbClr val="2C9290"/>
                </a:solidFill>
                <a:latin typeface="Courier New"/>
                <a:cs typeface="Courier New"/>
              </a:rPr>
              <a:t>NULL</a:t>
            </a:r>
            <a:r>
              <a:rPr lang="en-US" sz="1400" dirty="0">
                <a:solidFill>
                  <a:srgbClr val="000000"/>
                </a:solidFill>
                <a:latin typeface="Courier New"/>
                <a:cs typeface="Courier New"/>
              </a:rPr>
              <a:t>)) &lt; 0)</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Sio_error</a:t>
            </a:r>
            <a:r>
              <a:rPr lang="en-US" sz="1400" dirty="0">
                <a:solidFill>
                  <a:srgbClr val="000000"/>
                </a:solidFill>
                <a:latin typeface="Courier New"/>
                <a:cs typeface="Courier New"/>
              </a:rPr>
              <a:t>(</a:t>
            </a:r>
            <a:r>
              <a:rPr lang="en-US" sz="1400" dirty="0">
                <a:solidFill>
                  <a:srgbClr val="9D206F"/>
                </a:solidFill>
                <a:latin typeface="Courier New"/>
                <a:cs typeface="Courier New"/>
              </a:rPr>
              <a:t>"wait error"</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"Handler reaped child "</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Sio_putl</a:t>
            </a:r>
            <a:r>
              <a:rPr lang="en-US" sz="1400" dirty="0">
                <a:solidFill>
                  <a:srgbClr val="000000"/>
                </a:solidFill>
                <a:latin typeface="Courier New"/>
                <a:cs typeface="Courier New"/>
              </a:rPr>
              <a:t>((</a:t>
            </a:r>
            <a:r>
              <a:rPr lang="en-US" sz="1400" dirty="0">
                <a:solidFill>
                  <a:srgbClr val="2D961E"/>
                </a:solidFill>
                <a:latin typeface="Courier New"/>
                <a:cs typeface="Courier New"/>
              </a:rPr>
              <a:t>long</a:t>
            </a:r>
            <a:r>
              <a:rPr lang="en-US" sz="1400" dirty="0">
                <a:solidFill>
                  <a:srgbClr val="000000"/>
                </a:solidFill>
                <a:latin typeface="Courier New"/>
                <a:cs typeface="Courier New"/>
              </a:rPr>
              <a:t>)</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 \n"</a:t>
            </a:r>
            <a:r>
              <a:rPr lang="en-US" sz="1400" dirty="0">
                <a:solidFill>
                  <a:srgbClr val="000000"/>
                </a:solidFill>
                <a:latin typeface="Courier New"/>
                <a:cs typeface="Courier New"/>
              </a:rPr>
              <a:t>);</a:t>
            </a:r>
          </a:p>
          <a:p>
            <a:r>
              <a:rPr lang="nl-NL" sz="1400" dirty="0">
                <a:solidFill>
                  <a:srgbClr val="000000"/>
                </a:solidFill>
                <a:latin typeface="Courier New"/>
                <a:cs typeface="Courier New"/>
              </a:rPr>
              <a:t>    sleep(1);</a:t>
            </a:r>
          </a:p>
          <a:p>
            <a:r>
              <a:rPr lang="nl-NL" sz="1400" dirty="0">
                <a:solidFill>
                  <a:srgbClr val="000000"/>
                </a:solidFill>
                <a:latin typeface="Courier New"/>
                <a:cs typeface="Courier New"/>
              </a:rPr>
              <a:t>    </a:t>
            </a:r>
            <a:r>
              <a:rPr lang="nl-NL" sz="1400" dirty="0" err="1">
                <a:solidFill>
                  <a:srgbClr val="000000"/>
                </a:solidFill>
                <a:latin typeface="Courier New"/>
                <a:cs typeface="Courier New"/>
              </a:rPr>
              <a:t>errno</a:t>
            </a:r>
            <a:r>
              <a:rPr lang="nl-NL" sz="1400" dirty="0">
                <a:solidFill>
                  <a:srgbClr val="000000"/>
                </a:solidFill>
                <a:latin typeface="Courier New"/>
                <a:cs typeface="Courier New"/>
              </a:rPr>
              <a:t> = </a:t>
            </a:r>
            <a:r>
              <a:rPr lang="nl-NL" sz="1400" dirty="0" err="1">
                <a:solidFill>
                  <a:srgbClr val="000000"/>
                </a:solidFill>
                <a:latin typeface="Courier New"/>
                <a:cs typeface="Courier New"/>
              </a:rPr>
              <a:t>olderrno</a:t>
            </a:r>
            <a:r>
              <a:rPr lang="nl-NL" sz="1400" dirty="0">
                <a:solidFill>
                  <a:srgbClr val="000000"/>
                </a:solidFill>
                <a:latin typeface="Courier New"/>
                <a:cs typeface="Courier New"/>
              </a:rPr>
              <a:t>;</a:t>
            </a:r>
          </a:p>
          <a:p>
            <a:r>
              <a:rPr lang="nl-NL" sz="1400" dirty="0">
                <a:solidFill>
                  <a:srgbClr val="000000"/>
                </a:solidFill>
                <a:latin typeface="Courier New"/>
                <a:cs typeface="Courier New"/>
              </a:rPr>
              <a:t>}</a:t>
            </a:r>
          </a:p>
          <a:p>
            <a:endParaRPr lang="nl-NL" sz="1400" dirty="0">
              <a:solidFill>
                <a:srgbClr val="000000"/>
              </a:solidFill>
              <a:latin typeface="Courier New"/>
              <a:cs typeface="Courier New"/>
            </a:endParaRPr>
          </a:p>
          <a:p>
            <a:r>
              <a:rPr lang="en-US" sz="1400" dirty="0" smtClean="0">
                <a:solidFill>
                  <a:srgbClr val="2D961E"/>
                </a:solidFill>
                <a:latin typeface="Courier New"/>
                <a:cs typeface="Courier New"/>
              </a:rPr>
              <a:t>void</a:t>
            </a:r>
            <a:r>
              <a:rPr lang="en-US" sz="1400" dirty="0" smtClean="0">
                <a:solidFill>
                  <a:srgbClr val="000000"/>
                </a:solidFill>
                <a:latin typeface="Courier New"/>
                <a:cs typeface="Courier New"/>
              </a:rPr>
              <a:t> </a:t>
            </a:r>
            <a:r>
              <a:rPr lang="en-US" sz="1400" dirty="0">
                <a:solidFill>
                  <a:srgbClr val="4A00FF"/>
                </a:solidFill>
                <a:latin typeface="Courier New"/>
                <a:cs typeface="Courier New"/>
              </a:rPr>
              <a:t>fork14</a:t>
            </a:r>
            <a:r>
              <a:rPr lang="en-US" sz="1400" dirty="0">
                <a:solidFill>
                  <a:srgbClr val="000000"/>
                </a:solidFill>
                <a:latin typeface="Courier New"/>
                <a:cs typeface="Courier New"/>
              </a:rPr>
              <a:t>(</a:t>
            </a:r>
            <a:r>
              <a:rPr lang="en-US" sz="1400" dirty="0" smtClean="0">
                <a:solidFill>
                  <a:srgbClr val="000000"/>
                </a:solidFill>
                <a:latin typeface="Courier New"/>
                <a:cs typeface="Courier New"/>
              </a:rPr>
              <a:t>) {</a:t>
            </a:r>
            <a:endParaRPr lang="en-US" sz="1400" dirty="0">
              <a:solidFill>
                <a:srgbClr val="000000"/>
              </a:solidFill>
              <a:latin typeface="Courier New"/>
              <a:cs typeface="Courier New"/>
            </a:endParaRP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err="1">
                <a:solidFill>
                  <a:srgbClr val="000000"/>
                </a:solidFill>
                <a:latin typeface="Courier New"/>
                <a:cs typeface="Courier New"/>
              </a:rPr>
              <a:t>[N</a:t>
            </a:r>
            <a:r>
              <a:rPr lang="fi-FI"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a:solidFill>
                  <a:srgbClr val="C1651C"/>
                </a:solidFill>
                <a:latin typeface="Courier New"/>
                <a:cs typeface="Courier New"/>
              </a:rPr>
              <a:t>i</a:t>
            </a:r>
            <a:r>
              <a:rPr lang="fr-FR"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 = N;</a:t>
            </a:r>
          </a:p>
          <a:p>
            <a:r>
              <a:rPr lang="en-US" sz="1400" dirty="0">
                <a:solidFill>
                  <a:srgbClr val="000000"/>
                </a:solidFill>
                <a:latin typeface="Courier New"/>
                <a:cs typeface="Courier New"/>
              </a:rPr>
              <a:t>    Signal(SIGCHLD, </a:t>
            </a:r>
            <a:r>
              <a:rPr lang="en-US" sz="1400" dirty="0" err="1">
                <a:solidFill>
                  <a:srgbClr val="000000"/>
                </a:solidFill>
                <a:latin typeface="Courier New"/>
                <a:cs typeface="Courier New"/>
              </a:rPr>
              <a:t>child_handler</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 {</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a:t>
            </a:r>
            <a:r>
              <a:rPr lang="en-US" sz="1400" dirty="0" err="1">
                <a:solidFill>
                  <a:srgbClr val="000000"/>
                </a:solidFill>
                <a:latin typeface="Courier New"/>
                <a:cs typeface="Courier New"/>
              </a:rPr>
              <a:t>i</a:t>
            </a:r>
            <a:r>
              <a:rPr lang="en-US" sz="1400" dirty="0">
                <a:solidFill>
                  <a:srgbClr val="000000"/>
                </a:solidFill>
                <a:latin typeface="Courier New"/>
                <a:cs typeface="Courier New"/>
              </a:rPr>
              <a:t>] = Fork()) == 0) {</a:t>
            </a:r>
          </a:p>
          <a:p>
            <a:r>
              <a:rPr lang="nl-NL" sz="1400" dirty="0">
                <a:solidFill>
                  <a:srgbClr val="000000"/>
                </a:solidFill>
                <a:latin typeface="Courier New"/>
                <a:cs typeface="Courier New"/>
              </a:rPr>
              <a:t>            Sleep(1);</a:t>
            </a:r>
          </a:p>
          <a:p>
            <a:r>
              <a:rPr lang="en-US" sz="1400" dirty="0">
                <a:solidFill>
                  <a:srgbClr val="000000"/>
                </a:solidFill>
                <a:latin typeface="Courier New"/>
                <a:cs typeface="Courier New"/>
              </a:rPr>
              <a:t>            exit(0);  </a:t>
            </a:r>
            <a:r>
              <a:rPr lang="en-US" sz="1400" dirty="0">
                <a:solidFill>
                  <a:srgbClr val="CB2418"/>
                </a:solidFill>
                <a:latin typeface="Courier New"/>
                <a:cs typeface="Courier New"/>
              </a:rPr>
              <a:t>/* Child exits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 &gt; 0) </a:t>
            </a:r>
            <a:r>
              <a:rPr lang="en-US" sz="1400" dirty="0">
                <a:solidFill>
                  <a:srgbClr val="CB2418"/>
                </a:solidFill>
                <a:latin typeface="Courier New"/>
                <a:cs typeface="Courier New"/>
              </a:rPr>
              <a:t>/* Parent spins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a:t>
            </a:r>
          </a:p>
        </p:txBody>
      </p:sp>
      <p:sp>
        <p:nvSpPr>
          <p:cNvPr id="6" name="TextBox 5"/>
          <p:cNvSpPr txBox="1"/>
          <p:nvPr/>
        </p:nvSpPr>
        <p:spPr>
          <a:xfrm>
            <a:off x="5118622" y="6412468"/>
            <a:ext cx="824978" cy="369332"/>
          </a:xfrm>
          <a:prstGeom prst="rect">
            <a:avLst/>
          </a:prstGeom>
          <a:noFill/>
        </p:spPr>
        <p:txBody>
          <a:bodyPr wrap="none" rtlCol="0">
            <a:spAutoFit/>
          </a:bodyPr>
          <a:lstStyle/>
          <a:p>
            <a:r>
              <a:rPr lang="en-US" sz="1800" dirty="0" err="1" smtClean="0">
                <a:solidFill>
                  <a:srgbClr val="7F7F7F"/>
                </a:solidFill>
                <a:latin typeface="Calibri" pitchFamily="34" charset="0"/>
              </a:rPr>
              <a:t>forks.c</a:t>
            </a:r>
            <a:endParaRPr lang="en-US" sz="1800" dirty="0" smtClean="0">
              <a:solidFill>
                <a:srgbClr val="7F7F7F"/>
              </a:solidFill>
              <a:latin typeface="Calibri" pitchFamily="34" charset="0"/>
            </a:endParaRPr>
          </a:p>
        </p:txBody>
      </p:sp>
      <p:sp>
        <p:nvSpPr>
          <p:cNvPr id="7" name="TextBox 6"/>
          <p:cNvSpPr txBox="1"/>
          <p:nvPr/>
        </p:nvSpPr>
        <p:spPr>
          <a:xfrm>
            <a:off x="4876800" y="5257800"/>
            <a:ext cx="3581400" cy="1077218"/>
          </a:xfrm>
          <a:prstGeom prst="rect">
            <a:avLst/>
          </a:prstGeom>
          <a:solidFill>
            <a:srgbClr val="E0E0E0"/>
          </a:solidFill>
        </p:spPr>
        <p:txBody>
          <a:bodyPr wrap="square" rtlCol="0">
            <a:spAutoFit/>
          </a:bodyPr>
          <a:lstStyle/>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 </a:t>
            </a:r>
            <a:r>
              <a:rPr lang="en-US" sz="1600" dirty="0">
                <a:solidFill>
                  <a:srgbClr val="000000"/>
                </a:solidFill>
                <a:latin typeface="Courier New"/>
                <a:cs typeface="Courier New"/>
              </a:rPr>
              <a:t>./forks 14</a:t>
            </a:r>
          </a:p>
          <a:p>
            <a:r>
              <a:rPr lang="en-US" sz="1600" dirty="0">
                <a:solidFill>
                  <a:srgbClr val="000000"/>
                </a:solidFill>
                <a:latin typeface="Courier New"/>
                <a:cs typeface="Courier New"/>
              </a:rPr>
              <a:t>Handler reaped child 23240</a:t>
            </a:r>
          </a:p>
          <a:p>
            <a:r>
              <a:rPr lang="en-US" sz="1600" dirty="0">
                <a:solidFill>
                  <a:srgbClr val="000000"/>
                </a:solidFill>
                <a:latin typeface="Courier New"/>
                <a:cs typeface="Courier New"/>
              </a:rPr>
              <a:t>Handler reaped child </a:t>
            </a:r>
            <a:r>
              <a:rPr lang="en-US" sz="1600" dirty="0" smtClean="0">
                <a:solidFill>
                  <a:srgbClr val="000000"/>
                </a:solidFill>
                <a:latin typeface="Courier New"/>
                <a:cs typeface="Courier New"/>
              </a:rPr>
              <a:t>23241</a:t>
            </a:r>
            <a:endParaRPr lang="en-US" sz="1600" dirty="0">
              <a:latin typeface="Courier New"/>
              <a:cs typeface="Courier New"/>
            </a:endParaRPr>
          </a:p>
          <a:p>
            <a:r>
              <a:rPr lang="en-US" sz="1600" dirty="0" smtClean="0">
                <a:solidFill>
                  <a:srgbClr val="990000"/>
                </a:solidFill>
                <a:latin typeface="+mn-lt"/>
                <a:cs typeface="Courier New"/>
              </a:rPr>
              <a:t>. . .(hangs)</a:t>
            </a:r>
          </a:p>
        </p:txBody>
      </p:sp>
      <p:sp>
        <p:nvSpPr>
          <p:cNvPr id="525314" name="Rectangle 2"/>
          <p:cNvSpPr>
            <a:spLocks noGrp="1" noChangeArrowheads="1"/>
          </p:cNvSpPr>
          <p:nvPr>
            <p:ph type="title"/>
          </p:nvPr>
        </p:nvSpPr>
        <p:spPr>
          <a:xfrm>
            <a:off x="4419600" y="417512"/>
            <a:ext cx="4648200" cy="573088"/>
          </a:xfrm>
          <a:solidFill>
            <a:schemeClr val="bg1"/>
          </a:solidFill>
        </p:spPr>
        <p:txBody>
          <a:bodyPr/>
          <a:lstStyle/>
          <a:p>
            <a:r>
              <a:rPr lang="en-US" dirty="0" smtClean="0"/>
              <a:t>Correct Signal Handling</a:t>
            </a:r>
            <a:endParaRPr lang="en-US" dirty="0"/>
          </a:p>
        </p:txBody>
      </p:sp>
      <p:sp>
        <p:nvSpPr>
          <p:cNvPr id="8" name="TextBox 7"/>
          <p:cNvSpPr txBox="1"/>
          <p:nvPr/>
        </p:nvSpPr>
        <p:spPr>
          <a:xfrm>
            <a:off x="2505331" y="4027750"/>
            <a:ext cx="1023262" cy="338554"/>
          </a:xfrm>
          <a:prstGeom prst="rect">
            <a:avLst/>
          </a:prstGeom>
          <a:solidFill>
            <a:srgbClr val="E0E0E0"/>
          </a:solidFill>
        </p:spPr>
        <p:txBody>
          <a:bodyPr wrap="square" rtlCol="0">
            <a:spAutoFit/>
          </a:bodyPr>
          <a:lstStyle/>
          <a:p>
            <a:pPr algn="ctr"/>
            <a:r>
              <a:rPr lang="en-US" sz="1600" dirty="0" smtClean="0">
                <a:solidFill>
                  <a:srgbClr val="3913A8"/>
                </a:solidFill>
                <a:latin typeface="Courier New"/>
                <a:cs typeface="Courier New"/>
              </a:rPr>
              <a:t>N == 5</a:t>
            </a:r>
            <a:endParaRPr lang="en-US" sz="1600" dirty="0" smtClean="0">
              <a:latin typeface="Courier New"/>
              <a:cs typeface="Courier New"/>
            </a:endParaRPr>
          </a:p>
        </p:txBody>
      </p:sp>
      <p:sp>
        <p:nvSpPr>
          <p:cNvPr id="2" name="TextBox 1"/>
          <p:cNvSpPr txBox="1"/>
          <p:nvPr/>
        </p:nvSpPr>
        <p:spPr>
          <a:xfrm>
            <a:off x="2847560" y="3165650"/>
            <a:ext cx="2966527" cy="461665"/>
          </a:xfrm>
          <a:prstGeom prst="rect">
            <a:avLst/>
          </a:prstGeom>
          <a:solidFill>
            <a:srgbClr val="CCFFCC"/>
          </a:solidFill>
        </p:spPr>
        <p:txBody>
          <a:bodyPr wrap="none" rtlCol="0">
            <a:spAutoFit/>
          </a:bodyPr>
          <a:lstStyle/>
          <a:p>
            <a:r>
              <a:rPr lang="en-US" dirty="0" smtClean="0">
                <a:solidFill>
                  <a:srgbClr val="FF0000"/>
                </a:solidFill>
                <a:latin typeface="Calibri" pitchFamily="34" charset="0"/>
              </a:rPr>
              <a:t>This code is incorrect!</a:t>
            </a:r>
          </a:p>
        </p:txBody>
      </p:sp>
    </p:spTree>
    <p:extLst>
      <p:ext uri="{BB962C8B-B14F-4D97-AF65-F5344CB8AC3E}">
        <p14:creationId xmlns:p14="http://schemas.microsoft.com/office/powerpoint/2010/main" val="192676008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531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53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531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531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a:xfrm>
            <a:off x="457200" y="457200"/>
            <a:ext cx="8407400" cy="573088"/>
          </a:xfrm>
        </p:spPr>
        <p:txBody>
          <a:bodyPr/>
          <a:lstStyle/>
          <a:p>
            <a:r>
              <a:rPr lang="en-US" dirty="0" smtClean="0"/>
              <a:t>Correct Signal Handling</a:t>
            </a:r>
            <a:endParaRPr lang="en-US" dirty="0"/>
          </a:p>
        </p:txBody>
      </p:sp>
      <p:sp>
        <p:nvSpPr>
          <p:cNvPr id="526339" name="Rectangle 3"/>
          <p:cNvSpPr>
            <a:spLocks noGrp="1" noChangeArrowheads="1"/>
          </p:cNvSpPr>
          <p:nvPr>
            <p:ph type="body" idx="1"/>
          </p:nvPr>
        </p:nvSpPr>
        <p:spPr>
          <a:xfrm>
            <a:off x="480796" y="1295400"/>
            <a:ext cx="8382000" cy="1219200"/>
          </a:xfrm>
        </p:spPr>
        <p:txBody>
          <a:bodyPr/>
          <a:lstStyle/>
          <a:p>
            <a:r>
              <a:rPr lang="en-US" dirty="0"/>
              <a:t>Must </a:t>
            </a:r>
            <a:r>
              <a:rPr lang="en-US" dirty="0" smtClean="0"/>
              <a:t>wait for all </a:t>
            </a:r>
            <a:r>
              <a:rPr lang="en-US" dirty="0"/>
              <a:t>terminated </a:t>
            </a:r>
            <a:r>
              <a:rPr lang="en-US" dirty="0" smtClean="0"/>
              <a:t>child processes</a:t>
            </a:r>
            <a:endParaRPr lang="en-US" dirty="0"/>
          </a:p>
          <a:p>
            <a:pPr lvl="1"/>
            <a:r>
              <a:rPr lang="en-US" dirty="0" smtClean="0"/>
              <a:t>Put  </a:t>
            </a:r>
            <a:r>
              <a:rPr lang="en-US" dirty="0" smtClean="0">
                <a:latin typeface="Courier New" pitchFamily="49" charset="0"/>
              </a:rPr>
              <a:t>wait</a:t>
            </a:r>
            <a:r>
              <a:rPr lang="en-US" b="1" dirty="0" smtClean="0">
                <a:latin typeface="Courier New" pitchFamily="49" charset="0"/>
              </a:rPr>
              <a:t> </a:t>
            </a:r>
            <a:r>
              <a:rPr lang="en-US" dirty="0" smtClean="0">
                <a:latin typeface="+mn-lt"/>
              </a:rPr>
              <a:t>in a loop to reap all terminated children</a:t>
            </a:r>
            <a:endParaRPr lang="en-US" dirty="0">
              <a:latin typeface="+mn-lt"/>
            </a:endParaRPr>
          </a:p>
        </p:txBody>
      </p:sp>
      <p:sp>
        <p:nvSpPr>
          <p:cNvPr id="526340" name="Text Box 4"/>
          <p:cNvSpPr txBox="1">
            <a:spLocks noChangeArrowheads="1"/>
          </p:cNvSpPr>
          <p:nvPr/>
        </p:nvSpPr>
        <p:spPr bwMode="auto">
          <a:xfrm>
            <a:off x="457200" y="2260600"/>
            <a:ext cx="8263467" cy="3124200"/>
          </a:xfrm>
          <a:prstGeom prst="rect">
            <a:avLst/>
          </a:prstGeom>
          <a:solidFill>
            <a:srgbClr val="F6F5BD"/>
          </a:solidFill>
          <a:ln w="3175">
            <a:solidFill>
              <a:schemeClr val="tx1"/>
            </a:solidFill>
            <a:miter lim="800000"/>
            <a:headEnd/>
            <a:tailEnd/>
          </a:ln>
          <a:effectLst/>
        </p:spPr>
        <p:txBody>
          <a:bodyPr wrap="square">
            <a:normAutofit fontScale="92500" lnSpcReduction="20000"/>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child_handler2</a:t>
            </a:r>
            <a:r>
              <a:rPr lang="en-US" sz="1800" dirty="0">
                <a:solidFill>
                  <a:srgbClr val="000000"/>
                </a:solidFill>
                <a:latin typeface="Courier New"/>
                <a:cs typeface="Courier New"/>
              </a:rPr>
              <a:t>(</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sig</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err="1">
                <a:solidFill>
                  <a:srgbClr val="C1651C"/>
                </a:solidFill>
                <a:latin typeface="Courier New"/>
                <a:cs typeface="Courier New"/>
              </a:rPr>
              <a:t>olderrno</a:t>
            </a:r>
            <a:r>
              <a:rPr lang="en-US" sz="1800" dirty="0">
                <a:solidFill>
                  <a:srgbClr val="000000"/>
                </a:solidFill>
                <a:latin typeface="Courier New"/>
                <a:cs typeface="Courier New"/>
              </a:rPr>
              <a:t> =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a:t>
            </a:r>
          </a:p>
          <a:p>
            <a:r>
              <a:rPr lang="fi-FI" sz="1800" dirty="0">
                <a:solidFill>
                  <a:srgbClr val="000000"/>
                </a:solidFill>
                <a:latin typeface="Courier New"/>
                <a:cs typeface="Courier New"/>
              </a:rPr>
              <a:t>    </a:t>
            </a:r>
            <a:r>
              <a:rPr lang="fi-FI" sz="1800" dirty="0" err="1">
                <a:solidFill>
                  <a:srgbClr val="2D961E"/>
                </a:solidFill>
                <a:latin typeface="Courier New"/>
                <a:cs typeface="Courier New"/>
              </a:rPr>
              <a:t>pid_t</a:t>
            </a:r>
            <a:r>
              <a:rPr lang="fi-FI" sz="1800" dirty="0">
                <a:solidFill>
                  <a:srgbClr val="000000"/>
                </a:solidFill>
                <a:latin typeface="Courier New"/>
                <a:cs typeface="Courier New"/>
              </a:rPr>
              <a:t> </a:t>
            </a:r>
            <a:r>
              <a:rPr lang="fi-FI" sz="1800" dirty="0" err="1">
                <a:solidFill>
                  <a:srgbClr val="C1651C"/>
                </a:solidFill>
                <a:latin typeface="Courier New"/>
                <a:cs typeface="Courier New"/>
              </a:rPr>
              <a:t>pid</a:t>
            </a:r>
            <a:r>
              <a:rPr lang="fi-FI"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while</a:t>
            </a:r>
            <a:r>
              <a:rPr lang="en-US" sz="1800" dirty="0">
                <a:solidFill>
                  <a:srgbClr val="000000"/>
                </a:solidFill>
                <a:latin typeface="Courier New"/>
                <a:cs typeface="Courier New"/>
              </a:rPr>
              <a:t> ((</a:t>
            </a:r>
            <a:r>
              <a:rPr lang="en-US" sz="1800" dirty="0" err="1">
                <a:solidFill>
                  <a:srgbClr val="000000"/>
                </a:solidFill>
                <a:latin typeface="Courier New"/>
                <a:cs typeface="Courier New"/>
              </a:rPr>
              <a:t>pid</a:t>
            </a:r>
            <a:r>
              <a:rPr lang="en-US" sz="1800" dirty="0">
                <a:solidFill>
                  <a:srgbClr val="000000"/>
                </a:solidFill>
                <a:latin typeface="Courier New"/>
                <a:cs typeface="Courier New"/>
              </a:rPr>
              <a:t> = wait(</a:t>
            </a:r>
            <a:r>
              <a:rPr lang="en-US" sz="1800" dirty="0">
                <a:solidFill>
                  <a:srgbClr val="2C9290"/>
                </a:solidFill>
                <a:latin typeface="Courier New"/>
                <a:cs typeface="Courier New"/>
              </a:rPr>
              <a:t>NULL</a:t>
            </a:r>
            <a:r>
              <a:rPr lang="en-US" sz="1800" dirty="0">
                <a:solidFill>
                  <a:srgbClr val="000000"/>
                </a:solidFill>
                <a:latin typeface="Courier New"/>
                <a:cs typeface="Courier New"/>
              </a:rPr>
              <a:t>)) &gt; 0)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ccount</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"Handler reaped child "</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Sio_putl</a:t>
            </a:r>
            <a:r>
              <a:rPr lang="en-US" sz="1800" dirty="0">
                <a:solidFill>
                  <a:srgbClr val="000000"/>
                </a:solidFill>
                <a:latin typeface="Courier New"/>
                <a:cs typeface="Courier New"/>
              </a:rPr>
              <a:t>((</a:t>
            </a:r>
            <a:r>
              <a:rPr lang="en-US" sz="1800" dirty="0">
                <a:solidFill>
                  <a:srgbClr val="2D961E"/>
                </a:solidFill>
                <a:latin typeface="Courier New"/>
                <a:cs typeface="Courier New"/>
              </a:rPr>
              <a:t>long</a:t>
            </a:r>
            <a:r>
              <a:rPr lang="en-US" sz="1800" dirty="0">
                <a:solidFill>
                  <a:srgbClr val="000000"/>
                </a:solidFill>
                <a:latin typeface="Courier New"/>
                <a:cs typeface="Courier New"/>
              </a:rPr>
              <a:t>)</a:t>
            </a:r>
            <a:r>
              <a:rPr lang="en-US" sz="1800" dirty="0" err="1">
                <a:solidFill>
                  <a:srgbClr val="000000"/>
                </a:solidFill>
                <a:latin typeface="Courier New"/>
                <a:cs typeface="Courier New"/>
              </a:rPr>
              <a:t>pid</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 \n"</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 != ECHILD)</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Sio_error</a:t>
            </a:r>
            <a:r>
              <a:rPr lang="en-US" sz="1800" dirty="0">
                <a:solidFill>
                  <a:srgbClr val="000000"/>
                </a:solidFill>
                <a:latin typeface="Courier New"/>
                <a:cs typeface="Courier New"/>
              </a:rPr>
              <a:t>(</a:t>
            </a:r>
            <a:r>
              <a:rPr lang="en-US" sz="1800" dirty="0">
                <a:solidFill>
                  <a:srgbClr val="9D206F"/>
                </a:solidFill>
                <a:latin typeface="Courier New"/>
                <a:cs typeface="Courier New"/>
              </a:rPr>
              <a:t>"wait error"</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 = </a:t>
            </a:r>
            <a:r>
              <a:rPr lang="en-US" sz="1800" dirty="0" err="1">
                <a:solidFill>
                  <a:srgbClr val="000000"/>
                </a:solidFill>
                <a:latin typeface="Courier New"/>
                <a:cs typeface="Courier New"/>
              </a:rPr>
              <a:t>olderrno</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endParaRPr lang="en-US" sz="1800" dirty="0">
              <a:solidFill>
                <a:srgbClr val="000000"/>
              </a:solidFill>
              <a:latin typeface="Courier New"/>
              <a:cs typeface="Courier New"/>
            </a:endParaRPr>
          </a:p>
        </p:txBody>
      </p:sp>
      <p:sp>
        <p:nvSpPr>
          <p:cNvPr id="5" name="Rectangle 4"/>
          <p:cNvSpPr/>
          <p:nvPr/>
        </p:nvSpPr>
        <p:spPr>
          <a:xfrm>
            <a:off x="4419600" y="4800600"/>
            <a:ext cx="4495800" cy="1815882"/>
          </a:xfrm>
          <a:prstGeom prst="rect">
            <a:avLst/>
          </a:prstGeom>
          <a:solidFill>
            <a:srgbClr val="E0E0E0"/>
          </a:solidFill>
        </p:spPr>
        <p:txBody>
          <a:bodyPr wrap="square">
            <a:spAutoFit/>
          </a:bodyPr>
          <a:lstStyle/>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 </a:t>
            </a:r>
            <a:r>
              <a:rPr lang="en-US" sz="1600" dirty="0">
                <a:solidFill>
                  <a:srgbClr val="000000"/>
                </a:solidFill>
                <a:latin typeface="Courier New"/>
                <a:cs typeface="Courier New"/>
              </a:rPr>
              <a:t>./forks 15</a:t>
            </a:r>
          </a:p>
          <a:p>
            <a:r>
              <a:rPr lang="en-US" sz="1600" dirty="0">
                <a:solidFill>
                  <a:srgbClr val="000000"/>
                </a:solidFill>
                <a:latin typeface="Courier New"/>
                <a:cs typeface="Courier New"/>
              </a:rPr>
              <a:t>Handler reaped child 23246</a:t>
            </a:r>
          </a:p>
          <a:p>
            <a:r>
              <a:rPr lang="en-US" sz="1600" dirty="0">
                <a:solidFill>
                  <a:srgbClr val="000000"/>
                </a:solidFill>
                <a:latin typeface="Courier New"/>
                <a:cs typeface="Courier New"/>
              </a:rPr>
              <a:t>Handler reaped child 23247</a:t>
            </a:r>
          </a:p>
          <a:p>
            <a:r>
              <a:rPr lang="en-US" sz="1600" dirty="0">
                <a:solidFill>
                  <a:srgbClr val="000000"/>
                </a:solidFill>
                <a:latin typeface="Courier New"/>
                <a:cs typeface="Courier New"/>
              </a:rPr>
              <a:t>Handler reaped child 23248</a:t>
            </a:r>
          </a:p>
          <a:p>
            <a:r>
              <a:rPr lang="en-US" sz="1600" dirty="0">
                <a:solidFill>
                  <a:srgbClr val="000000"/>
                </a:solidFill>
                <a:latin typeface="Courier New"/>
                <a:cs typeface="Courier New"/>
              </a:rPr>
              <a:t>Handler reaped child 23249</a:t>
            </a:r>
          </a:p>
          <a:p>
            <a:r>
              <a:rPr lang="en-US" sz="1600" dirty="0">
                <a:solidFill>
                  <a:srgbClr val="000000"/>
                </a:solidFill>
                <a:latin typeface="Courier New"/>
                <a:cs typeface="Courier New"/>
              </a:rPr>
              <a:t>Handler reaped child 23250</a:t>
            </a:r>
          </a:p>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a:t>
            </a:r>
            <a:endParaRPr lang="en-US" sz="1600" dirty="0">
              <a:latin typeface="Courier New"/>
              <a:cs typeface="Courier New"/>
            </a:endParaRPr>
          </a:p>
        </p:txBody>
      </p:sp>
    </p:spTree>
    <p:extLst>
      <p:ext uri="{BB962C8B-B14F-4D97-AF65-F5344CB8AC3E}">
        <p14:creationId xmlns:p14="http://schemas.microsoft.com/office/powerpoint/2010/main" val="31706277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Synchronizing Flows to Avoid Races</a:t>
            </a:r>
            <a:endParaRPr lang="en-US" dirty="0"/>
          </a:p>
        </p:txBody>
      </p:sp>
      <p:sp>
        <p:nvSpPr>
          <p:cNvPr id="4" name="Rectangle 4"/>
          <p:cNvSpPr>
            <a:spLocks noChangeArrowheads="1"/>
          </p:cNvSpPr>
          <p:nvPr/>
        </p:nvSpPr>
        <p:spPr bwMode="auto">
          <a:xfrm>
            <a:off x="215124" y="2133600"/>
            <a:ext cx="8090676" cy="4031873"/>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handler</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C1651C"/>
                </a:solidFill>
                <a:latin typeface="Courier New"/>
                <a:cs typeface="Courier New"/>
              </a:rPr>
              <a:t>sig</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olderrno</a:t>
            </a:r>
            <a:r>
              <a:rPr lang="en-US" sz="1600" dirty="0">
                <a:solidFill>
                  <a:srgbClr val="000000"/>
                </a:solidFill>
                <a:latin typeface="Courier New"/>
                <a:cs typeface="Courier New"/>
              </a:rPr>
              <a:t> =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sigset_t</a:t>
            </a:r>
            <a:r>
              <a:rPr lang="en-US" sz="1600" dirty="0">
                <a:solidFill>
                  <a:srgbClr val="000000"/>
                </a:solidFill>
                <a:latin typeface="Courier New"/>
                <a:cs typeface="Courier New"/>
              </a:rPr>
              <a:t> </a:t>
            </a:r>
            <a:r>
              <a:rPr lang="en-US" sz="1600" dirty="0" err="1">
                <a:solidFill>
                  <a:srgbClr val="C1651C"/>
                </a:solidFill>
                <a:latin typeface="Courier New"/>
                <a:cs typeface="Courier New"/>
              </a:rPr>
              <a:t>mask_all</a:t>
            </a:r>
            <a:r>
              <a:rPr lang="en-US" sz="1600" dirty="0">
                <a:solidFill>
                  <a:srgbClr val="000000"/>
                </a:solidFill>
                <a:latin typeface="Courier New"/>
                <a:cs typeface="Courier New"/>
              </a:rPr>
              <a:t>, </a:t>
            </a:r>
            <a:r>
              <a:rPr lang="en-US" sz="1600" dirty="0" err="1">
                <a:solidFill>
                  <a:srgbClr val="C1651C"/>
                </a:solidFill>
                <a:latin typeface="Courier New"/>
                <a:cs typeface="Courier New"/>
              </a:rPr>
              <a:t>prev_all</a:t>
            </a:r>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Sigfillset(&amp;mask_all</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(-1, </a:t>
            </a:r>
            <a:r>
              <a:rPr lang="en-US" sz="1600" dirty="0">
                <a:solidFill>
                  <a:srgbClr val="2C9290"/>
                </a:solidFill>
                <a:latin typeface="Courier New"/>
                <a:cs typeface="Courier New"/>
              </a:rPr>
              <a:t>NULL</a:t>
            </a:r>
            <a:r>
              <a:rPr lang="en-US" sz="1600" dirty="0">
                <a:solidFill>
                  <a:srgbClr val="000000"/>
                </a:solidFill>
                <a:latin typeface="Courier New"/>
                <a:cs typeface="Courier New"/>
              </a:rPr>
              <a:t>, 0)) &gt; 0) { </a:t>
            </a:r>
            <a:r>
              <a:rPr lang="en-US" sz="1600" dirty="0">
                <a:solidFill>
                  <a:srgbClr val="CB2418"/>
                </a:solidFill>
                <a:latin typeface="Courier New"/>
                <a:cs typeface="Courier New"/>
              </a:rPr>
              <a:t>/* Reap </a:t>
            </a:r>
            <a:r>
              <a:rPr lang="en-US" sz="1600" dirty="0" smtClean="0">
                <a:solidFill>
                  <a:srgbClr val="CB2418"/>
                </a:solidFill>
                <a:latin typeface="Courier New"/>
                <a:cs typeface="Courier New"/>
              </a:rPr>
              <a:t>child *</a:t>
            </a:r>
            <a:r>
              <a:rPr lang="en-US" sz="1600" dirty="0">
                <a:solidFill>
                  <a:srgbClr val="CB2418"/>
                </a:solidFill>
                <a:latin typeface="Courier New"/>
                <a:cs typeface="Courier New"/>
              </a:rPr>
              <a:t>/</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a:t>
            </a:r>
            <a:r>
              <a:rPr lang="en-US" sz="1600" dirty="0" err="1">
                <a:solidFill>
                  <a:srgbClr val="000000"/>
                </a:solidFill>
                <a:latin typeface="Courier New"/>
                <a:cs typeface="Courier New"/>
              </a:rPr>
              <a:t>mask_all</a:t>
            </a:r>
            <a:r>
              <a:rPr lang="en-US" sz="1600" dirty="0">
                <a:solidFill>
                  <a:srgbClr val="000000"/>
                </a:solidFill>
                <a:latin typeface="Courier New"/>
                <a:cs typeface="Courier New"/>
              </a:rPr>
              <a:t>,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deletejob</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Delete the child from the job list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 != ECHILD)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Sio_error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 = </a:t>
            </a:r>
            <a:r>
              <a:rPr lang="en-US" sz="1600" dirty="0" err="1">
                <a:solidFill>
                  <a:srgbClr val="000000"/>
                </a:solidFill>
                <a:latin typeface="Courier New"/>
                <a:cs typeface="Courier New"/>
              </a:rPr>
              <a:t>olderrno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p:txBody>
      </p:sp>
      <p:sp>
        <p:nvSpPr>
          <p:cNvPr id="5" name="Content Placeholder 2"/>
          <p:cNvSpPr>
            <a:spLocks noGrp="1"/>
          </p:cNvSpPr>
          <p:nvPr>
            <p:ph idx="1"/>
          </p:nvPr>
        </p:nvSpPr>
        <p:spPr>
          <a:xfrm>
            <a:off x="396875" y="1362075"/>
            <a:ext cx="7896225" cy="466725"/>
          </a:xfrm>
        </p:spPr>
        <p:txBody>
          <a:bodyPr/>
          <a:lstStyle/>
          <a:p>
            <a:r>
              <a:rPr lang="en-US" dirty="0" smtClean="0"/>
              <a:t>SIGCHLD handler for a simple shell</a:t>
            </a:r>
          </a:p>
          <a:p>
            <a:pPr lvl="1"/>
            <a:r>
              <a:rPr lang="en-US" dirty="0" smtClean="0"/>
              <a:t>Blocks all signals while running critical code</a:t>
            </a:r>
          </a:p>
        </p:txBody>
      </p:sp>
      <p:sp>
        <p:nvSpPr>
          <p:cNvPr id="6" name="TextBox 5"/>
          <p:cNvSpPr txBox="1"/>
          <p:nvPr/>
        </p:nvSpPr>
        <p:spPr>
          <a:xfrm>
            <a:off x="6934200" y="5791200"/>
            <a:ext cx="1391126" cy="369332"/>
          </a:xfrm>
          <a:prstGeom prst="rect">
            <a:avLst/>
          </a:prstGeom>
          <a:noFill/>
        </p:spPr>
        <p:txBody>
          <a:bodyPr wrap="none" rtlCol="0">
            <a:spAutoFit/>
          </a:bodyPr>
          <a:lstStyle/>
          <a:p>
            <a:r>
              <a:rPr lang="en-US" sz="1800" dirty="0" smtClean="0">
                <a:solidFill>
                  <a:srgbClr val="7F7F7F"/>
                </a:solidFill>
                <a:latin typeface="Calibri" pitchFamily="34" charset="0"/>
              </a:rPr>
              <a:t>procmask1.c</a:t>
            </a:r>
          </a:p>
        </p:txBody>
      </p:sp>
    </p:spTree>
    <p:extLst>
      <p:ext uri="{BB962C8B-B14F-4D97-AF65-F5344CB8AC3E}">
        <p14:creationId xmlns:p14="http://schemas.microsoft.com/office/powerpoint/2010/main" val="935029235"/>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Synchronizing Flows to Avoid Races</a:t>
            </a:r>
            <a:endParaRPr lang="en-US" dirty="0"/>
          </a:p>
        </p:txBody>
      </p:sp>
      <p:sp>
        <p:nvSpPr>
          <p:cNvPr id="4" name="Rectangle 4"/>
          <p:cNvSpPr>
            <a:spLocks noChangeArrowheads="1"/>
          </p:cNvSpPr>
          <p:nvPr/>
        </p:nvSpPr>
        <p:spPr bwMode="auto">
          <a:xfrm>
            <a:off x="196661" y="2011263"/>
            <a:ext cx="8337739" cy="4770537"/>
          </a:xfrm>
          <a:prstGeom prst="rect">
            <a:avLst/>
          </a:prstGeom>
          <a:solidFill>
            <a:srgbClr val="F6F5BD"/>
          </a:solidFill>
          <a:ln w="3175">
            <a:solidFill>
              <a:schemeClr val="tx1"/>
            </a:solidFill>
            <a:miter lim="800000"/>
            <a:headEnd/>
            <a:tailEnd/>
          </a:ln>
          <a:effectLst/>
        </p:spPr>
        <p:txBody>
          <a:bodyPr wrap="non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argc</a:t>
            </a:r>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int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sigset_t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mask_all</a:t>
            </a:r>
            <a:r>
              <a:rPr lang="fi-FI" sz="1600" dirty="0">
                <a:solidFill>
                  <a:srgbClr val="000000"/>
                </a:solidFill>
                <a:latin typeface="Courier New"/>
                <a:cs typeface="Courier New"/>
              </a:rPr>
              <a:t>, </a:t>
            </a:r>
            <a:r>
              <a:rPr lang="fi-FI" sz="1600" dirty="0" err="1">
                <a:solidFill>
                  <a:srgbClr val="C1651C"/>
                </a:solidFill>
                <a:latin typeface="Courier New"/>
                <a:cs typeface="Courier New"/>
              </a:rPr>
              <a:t>prev_all</a:t>
            </a:r>
            <a:r>
              <a:rPr lang="fi-FI" sz="1600" dirty="0">
                <a:solidFill>
                  <a:srgbClr val="000000"/>
                </a:solidFill>
                <a:latin typeface="Courier New"/>
                <a:cs typeface="Courier New"/>
              </a:rPr>
              <a:t>;</a:t>
            </a:r>
          </a:p>
          <a:p>
            <a:r>
              <a:rPr lang="fi-FI" sz="1600" dirty="0" smtClean="0">
                <a:solidFill>
                  <a:srgbClr val="000000"/>
                </a:solidFill>
                <a:latin typeface="Courier New"/>
                <a:cs typeface="Courier New"/>
              </a:rPr>
              <a:t>    </a:t>
            </a:r>
            <a:r>
              <a:rPr lang="fi-FI" sz="1600" dirty="0" err="1" smtClean="0">
                <a:solidFill>
                  <a:srgbClr val="000000"/>
                </a:solidFill>
                <a:latin typeface="Courier New"/>
                <a:cs typeface="Courier New"/>
              </a:rPr>
              <a:t>int</a:t>
            </a:r>
            <a:r>
              <a:rPr lang="fi-FI" sz="1600" dirty="0" smtClean="0">
                <a:solidFill>
                  <a:srgbClr val="000000"/>
                </a:solidFill>
                <a:latin typeface="Courier New"/>
                <a:cs typeface="Courier New"/>
              </a:rPr>
              <a:t> n = N;  /* N = 5 */</a:t>
            </a:r>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Sigfillset(&amp;mask_all</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Signal(SIGCHLD</a:t>
            </a:r>
            <a:r>
              <a:rPr lang="fi-FI" sz="1600" dirty="0">
                <a:solidFill>
                  <a:srgbClr val="000000"/>
                </a:solidFill>
                <a:latin typeface="Courier New"/>
                <a:cs typeface="Courier New"/>
              </a:rPr>
              <a:t>, </a:t>
            </a:r>
            <a:r>
              <a:rPr lang="fi-FI" sz="1600" dirty="0" err="1">
                <a:solidFill>
                  <a:srgbClr val="000000"/>
                </a:solidFill>
                <a:latin typeface="Courier New"/>
                <a:cs typeface="Courier New"/>
              </a:rPr>
              <a:t>handler</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initjobs</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Initialize</a:t>
            </a:r>
            <a:r>
              <a:rPr lang="fi-FI" sz="1600" dirty="0">
                <a:solidFill>
                  <a:srgbClr val="CB2418"/>
                </a:solidFill>
                <a:latin typeface="Courier New"/>
                <a:cs typeface="Courier New"/>
              </a:rPr>
              <a:t> the </a:t>
            </a:r>
            <a:r>
              <a:rPr lang="fi-FI" sz="1600" dirty="0" err="1">
                <a:solidFill>
                  <a:srgbClr val="CB2418"/>
                </a:solidFill>
                <a:latin typeface="Courier New"/>
                <a:cs typeface="Courier New"/>
              </a:rPr>
              <a:t>job</a:t>
            </a:r>
            <a:r>
              <a:rPr lang="fi-FI" sz="1600" dirty="0">
                <a:solidFill>
                  <a:srgbClr val="CB2418"/>
                </a:solidFill>
                <a:latin typeface="Courier New"/>
                <a:cs typeface="Courier New"/>
              </a:rPr>
              <a:t> </a:t>
            </a:r>
            <a:r>
              <a:rPr lang="fi-FI" sz="1600" dirty="0" err="1">
                <a:solidFill>
                  <a:srgbClr val="CB2418"/>
                </a:solidFill>
                <a:latin typeface="Courier New"/>
                <a:cs typeface="Courier New"/>
              </a:rPr>
              <a:t>list</a:t>
            </a:r>
            <a:r>
              <a:rPr lang="fi-FI" sz="1600" dirty="0">
                <a:solidFill>
                  <a:srgbClr val="CB2418"/>
                </a:solidFill>
                <a:latin typeface="Courier New"/>
                <a:cs typeface="Courier New"/>
              </a:rPr>
              <a:t>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smtClean="0">
                <a:solidFill>
                  <a:srgbClr val="000000"/>
                </a:solidFill>
                <a:latin typeface="Courier New"/>
                <a:cs typeface="Courier New"/>
              </a:rPr>
              <a:t>(n--) </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a:t>
            </a:r>
            <a:r>
              <a:rPr lang="en-US" sz="1600" dirty="0" smtClean="0">
                <a:solidFill>
                  <a:srgbClr val="CB2418"/>
                </a:solidFill>
                <a:latin typeface="Courier New"/>
                <a:cs typeface="Courier New"/>
              </a:rPr>
              <a:t>Child </a:t>
            </a:r>
            <a:r>
              <a:rPr lang="en-US" sz="1600" dirty="0">
                <a:solidFill>
                  <a:srgbClr val="CB2418"/>
                </a:solidFill>
                <a:latin typeface="Courier New"/>
                <a:cs typeface="Courier New"/>
              </a:rPr>
              <a:t>*/</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a:solidFill>
                  <a:srgbClr val="9D206F"/>
                </a:solidFill>
                <a:latin typeface="Courier New"/>
                <a:cs typeface="Courier New"/>
              </a:rPr>
              <a:t>"/bin/date"</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a:t>
            </a:r>
            <a:r>
              <a:rPr lang="en-US" sz="1600" dirty="0" err="1">
                <a:solidFill>
                  <a:srgbClr val="000000"/>
                </a:solidFill>
                <a:latin typeface="Courier New"/>
                <a:cs typeface="Courier New"/>
              </a:rPr>
              <a:t>mask_all</a:t>
            </a:r>
            <a:r>
              <a:rPr lang="en-US" sz="1600" dirty="0">
                <a:solidFill>
                  <a:srgbClr val="000000"/>
                </a:solidFill>
                <a:latin typeface="Courier New"/>
                <a:cs typeface="Courier New"/>
              </a:rPr>
              <a:t>,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CB2418"/>
                </a:solidFill>
                <a:latin typeface="Courier New"/>
                <a:cs typeface="Courier New"/>
              </a:rPr>
              <a:t>/* </a:t>
            </a:r>
            <a:r>
              <a:rPr lang="en-US" sz="1600" dirty="0" smtClean="0">
                <a:solidFill>
                  <a:srgbClr val="CB2418"/>
                </a:solidFill>
                <a:latin typeface="Courier New"/>
                <a:cs typeface="Courier New"/>
              </a:rPr>
              <a:t>Parent *</a:t>
            </a:r>
            <a:r>
              <a:rPr lang="en-US" sz="1600" dirty="0">
                <a:solidFill>
                  <a:srgbClr val="CB2418"/>
                </a:solidFill>
                <a:latin typeface="Courier New"/>
                <a:cs typeface="Courier New"/>
              </a:rPr>
              <a:t>/</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addjob</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Add the child to the job list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exit(0);</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5" name="Content Placeholder 2"/>
          <p:cNvSpPr>
            <a:spLocks noGrp="1"/>
          </p:cNvSpPr>
          <p:nvPr>
            <p:ph idx="1"/>
          </p:nvPr>
        </p:nvSpPr>
        <p:spPr>
          <a:xfrm>
            <a:off x="396875" y="1209675"/>
            <a:ext cx="7896225" cy="801588"/>
          </a:xfrm>
        </p:spPr>
        <p:txBody>
          <a:bodyPr/>
          <a:lstStyle/>
          <a:p>
            <a:r>
              <a:rPr lang="en-US" dirty="0" smtClean="0"/>
              <a:t>Simple shell with a subtle synchronization error because it assumes parent runs before child.</a:t>
            </a:r>
          </a:p>
        </p:txBody>
      </p:sp>
      <p:sp>
        <p:nvSpPr>
          <p:cNvPr id="6" name="TextBox 5"/>
          <p:cNvSpPr txBox="1"/>
          <p:nvPr/>
        </p:nvSpPr>
        <p:spPr>
          <a:xfrm>
            <a:off x="7143274" y="6400800"/>
            <a:ext cx="1391126" cy="369332"/>
          </a:xfrm>
          <a:prstGeom prst="rect">
            <a:avLst/>
          </a:prstGeom>
          <a:noFill/>
        </p:spPr>
        <p:txBody>
          <a:bodyPr wrap="none" rtlCol="0">
            <a:spAutoFit/>
          </a:bodyPr>
          <a:lstStyle/>
          <a:p>
            <a:r>
              <a:rPr lang="en-US" sz="1800" dirty="0" smtClean="0">
                <a:solidFill>
                  <a:srgbClr val="7F7F7F"/>
                </a:solidFill>
                <a:latin typeface="Calibri" pitchFamily="34" charset="0"/>
              </a:rPr>
              <a:t>procmask1.c</a:t>
            </a:r>
          </a:p>
        </p:txBody>
      </p:sp>
    </p:spTree>
    <p:extLst>
      <p:ext uri="{BB962C8B-B14F-4D97-AF65-F5344CB8AC3E}">
        <p14:creationId xmlns:p14="http://schemas.microsoft.com/office/powerpoint/2010/main" val="2585374488"/>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872582" cy="762000"/>
          </a:xfrm>
        </p:spPr>
        <p:txBody>
          <a:bodyPr/>
          <a:lstStyle/>
          <a:p>
            <a:r>
              <a:rPr lang="en-US" dirty="0" smtClean="0"/>
              <a:t>Corrected Shell Program without Race</a:t>
            </a:r>
            <a:endParaRPr lang="en-US" dirty="0"/>
          </a:p>
        </p:txBody>
      </p:sp>
      <p:sp>
        <p:nvSpPr>
          <p:cNvPr id="5" name="Rectangle 4"/>
          <p:cNvSpPr>
            <a:spLocks noChangeArrowheads="1"/>
          </p:cNvSpPr>
          <p:nvPr/>
        </p:nvSpPr>
        <p:spPr bwMode="auto">
          <a:xfrm>
            <a:off x="76200" y="1380321"/>
            <a:ext cx="8986279" cy="5401479"/>
          </a:xfrm>
          <a:prstGeom prst="rect">
            <a:avLst/>
          </a:prstGeom>
          <a:solidFill>
            <a:srgbClr val="F6F5BD"/>
          </a:solidFill>
          <a:ln w="3175">
            <a:solidFill>
              <a:schemeClr val="tx1"/>
            </a:solidFill>
            <a:miter lim="800000"/>
            <a:headEnd/>
            <a:tailEnd/>
          </a:ln>
          <a:effectLst/>
        </p:spPr>
        <p:txBody>
          <a:bodyPr wrap="none">
            <a:spAutoFit/>
          </a:bodyPr>
          <a:lstStyle/>
          <a:p>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2D961E"/>
                </a:solidFill>
                <a:latin typeface="Courier New"/>
                <a:cs typeface="Courier New"/>
              </a:rPr>
              <a:t>int</a:t>
            </a:r>
            <a:r>
              <a:rPr lang="fi-FI" sz="1500" dirty="0">
                <a:solidFill>
                  <a:srgbClr val="000000"/>
                </a:solidFill>
                <a:latin typeface="Courier New"/>
                <a:cs typeface="Courier New"/>
              </a:rPr>
              <a:t> </a:t>
            </a:r>
            <a:r>
              <a:rPr lang="fi-FI" sz="1500" dirty="0" err="1">
                <a:solidFill>
                  <a:srgbClr val="C1651C"/>
                </a:solidFill>
                <a:latin typeface="Courier New"/>
                <a:cs typeface="Courier New"/>
              </a:rPr>
              <a:t>pid</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2D961E"/>
                </a:solidFill>
                <a:latin typeface="Courier New"/>
                <a:cs typeface="Courier New"/>
              </a:rPr>
              <a:t>sigset_t</a:t>
            </a:r>
            <a:r>
              <a:rPr lang="fi-FI" sz="1500" dirty="0">
                <a:solidFill>
                  <a:srgbClr val="000000"/>
                </a:solidFill>
                <a:latin typeface="Courier New"/>
                <a:cs typeface="Courier New"/>
              </a:rPr>
              <a:t> </a:t>
            </a:r>
            <a:r>
              <a:rPr lang="fi-FI" sz="1500" dirty="0" err="1">
                <a:solidFill>
                  <a:srgbClr val="C1651C"/>
                </a:solidFill>
                <a:latin typeface="Courier New"/>
                <a:cs typeface="Courier New"/>
              </a:rPr>
              <a:t>mask_all</a:t>
            </a:r>
            <a:r>
              <a:rPr lang="fi-FI" sz="1500" dirty="0">
                <a:solidFill>
                  <a:srgbClr val="000000"/>
                </a:solidFill>
                <a:latin typeface="Courier New"/>
                <a:cs typeface="Courier New"/>
              </a:rPr>
              <a:t>, </a:t>
            </a:r>
            <a:r>
              <a:rPr lang="fi-FI" sz="1500" dirty="0" err="1">
                <a:solidFill>
                  <a:srgbClr val="C1651C"/>
                </a:solidFill>
                <a:latin typeface="Courier New"/>
                <a:cs typeface="Courier New"/>
              </a:rPr>
              <a:t>mask_one</a:t>
            </a:r>
            <a:r>
              <a:rPr lang="fi-FI" sz="1500" dirty="0">
                <a:solidFill>
                  <a:srgbClr val="000000"/>
                </a:solidFill>
                <a:latin typeface="Courier New"/>
                <a:cs typeface="Courier New"/>
              </a:rPr>
              <a:t>, </a:t>
            </a:r>
            <a:r>
              <a:rPr lang="fi-FI" sz="1500" dirty="0" err="1">
                <a:solidFill>
                  <a:srgbClr val="C1651C"/>
                </a:solidFill>
                <a:latin typeface="Courier New"/>
                <a:cs typeface="Courier New"/>
              </a:rPr>
              <a:t>prev_one</a:t>
            </a:r>
            <a:r>
              <a:rPr lang="fi-FI" sz="1500" dirty="0">
                <a:solidFill>
                  <a:srgbClr val="000000"/>
                </a:solidFill>
                <a:latin typeface="Courier New"/>
                <a:cs typeface="Courier New"/>
              </a:rPr>
              <a:t>;</a:t>
            </a:r>
          </a:p>
          <a:p>
            <a:r>
              <a:rPr lang="fi-FI" sz="1500" dirty="0" smtClean="0">
                <a:solidFill>
                  <a:srgbClr val="000000"/>
                </a:solidFill>
                <a:latin typeface="Courier New"/>
                <a:cs typeface="Courier New"/>
              </a:rPr>
              <a:t>    </a:t>
            </a:r>
            <a:r>
              <a:rPr lang="fi-FI" sz="1500" dirty="0" err="1" smtClean="0">
                <a:solidFill>
                  <a:srgbClr val="000000"/>
                </a:solidFill>
                <a:latin typeface="Courier New"/>
                <a:cs typeface="Courier New"/>
              </a:rPr>
              <a:t>int</a:t>
            </a:r>
            <a:r>
              <a:rPr lang="fi-FI" sz="1500" dirty="0" smtClean="0">
                <a:solidFill>
                  <a:srgbClr val="000000"/>
                </a:solidFill>
                <a:latin typeface="Courier New"/>
                <a:cs typeface="Courier New"/>
              </a:rPr>
              <a:t> n = N; /* N = 5 */</a:t>
            </a:r>
            <a:endParaRPr lang="fi-FI" sz="1500" dirty="0">
              <a:solidFill>
                <a:srgbClr val="000000"/>
              </a:solidFill>
              <a:latin typeface="Courier New"/>
              <a:cs typeface="Courier New"/>
            </a:endParaRP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Sigfillset(&amp;mask_all</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Sigemptyset(&amp;mask_one</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Sigaddset(&amp;mask_one</a:t>
            </a:r>
            <a:r>
              <a:rPr lang="fi-FI" sz="1500" dirty="0">
                <a:solidFill>
                  <a:srgbClr val="000000"/>
                </a:solidFill>
                <a:latin typeface="Courier New"/>
                <a:cs typeface="Courier New"/>
              </a:rPr>
              <a:t>, SIGCHLD);</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Signal(SIGCHLD</a:t>
            </a:r>
            <a:r>
              <a:rPr lang="fi-FI" sz="1500" dirty="0">
                <a:solidFill>
                  <a:srgbClr val="000000"/>
                </a:solidFill>
                <a:latin typeface="Courier New"/>
                <a:cs typeface="Courier New"/>
              </a:rPr>
              <a:t>, </a:t>
            </a:r>
            <a:r>
              <a:rPr lang="fi-FI" sz="1500" dirty="0" err="1">
                <a:solidFill>
                  <a:srgbClr val="000000"/>
                </a:solidFill>
                <a:latin typeface="Courier New"/>
                <a:cs typeface="Courier New"/>
              </a:rPr>
              <a:t>handler</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initjobs</a:t>
            </a:r>
            <a:r>
              <a:rPr lang="fi-FI" sz="1500" dirty="0">
                <a:solidFill>
                  <a:srgbClr val="000000"/>
                </a:solidFill>
                <a:latin typeface="Courier New"/>
                <a:cs typeface="Courier New"/>
              </a:rPr>
              <a:t>(); </a:t>
            </a:r>
            <a:r>
              <a:rPr lang="fi-FI" sz="1500" dirty="0">
                <a:solidFill>
                  <a:srgbClr val="CB2418"/>
                </a:solidFill>
                <a:latin typeface="Courier New"/>
                <a:cs typeface="Courier New"/>
              </a:rPr>
              <a:t>/* </a:t>
            </a:r>
            <a:r>
              <a:rPr lang="fi-FI" sz="1500" dirty="0" err="1">
                <a:solidFill>
                  <a:srgbClr val="CB2418"/>
                </a:solidFill>
                <a:latin typeface="Courier New"/>
                <a:cs typeface="Courier New"/>
              </a:rPr>
              <a:t>Initialize</a:t>
            </a:r>
            <a:r>
              <a:rPr lang="fi-FI" sz="1500" dirty="0">
                <a:solidFill>
                  <a:srgbClr val="CB2418"/>
                </a:solidFill>
                <a:latin typeface="Courier New"/>
                <a:cs typeface="Courier New"/>
              </a:rPr>
              <a:t> the </a:t>
            </a:r>
            <a:r>
              <a:rPr lang="fi-FI" sz="1500" dirty="0" err="1">
                <a:solidFill>
                  <a:srgbClr val="CB2418"/>
                </a:solidFill>
                <a:latin typeface="Courier New"/>
                <a:cs typeface="Courier New"/>
              </a:rPr>
              <a:t>job</a:t>
            </a:r>
            <a:r>
              <a:rPr lang="fi-FI" sz="1500" dirty="0">
                <a:solidFill>
                  <a:srgbClr val="CB2418"/>
                </a:solidFill>
                <a:latin typeface="Courier New"/>
                <a:cs typeface="Courier New"/>
              </a:rPr>
              <a:t> </a:t>
            </a:r>
            <a:r>
              <a:rPr lang="fi-FI" sz="1500" dirty="0" err="1">
                <a:solidFill>
                  <a:srgbClr val="CB2418"/>
                </a:solidFill>
                <a:latin typeface="Courier New"/>
                <a:cs typeface="Courier New"/>
              </a:rPr>
              <a:t>list</a:t>
            </a:r>
            <a:r>
              <a:rPr lang="fi-FI" sz="1500" dirty="0">
                <a:solidFill>
                  <a:srgbClr val="CB2418"/>
                </a:solidFill>
                <a:latin typeface="Courier New"/>
                <a:cs typeface="Courier New"/>
              </a:rPr>
              <a:t> */</a:t>
            </a:r>
            <a:endParaRPr lang="fi-FI" sz="1500" dirty="0">
              <a:solidFill>
                <a:srgbClr val="000000"/>
              </a:solidFill>
              <a:latin typeface="Courier New"/>
              <a:cs typeface="Courier New"/>
            </a:endParaRPr>
          </a:p>
          <a:p>
            <a:endParaRPr lang="fi-FI"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a:t>
            </a:r>
            <a:r>
              <a:rPr lang="en-US" sz="1500" dirty="0" smtClean="0">
                <a:solidFill>
                  <a:srgbClr val="000000"/>
                </a:solidFill>
                <a:latin typeface="Courier New"/>
                <a:cs typeface="Courier New"/>
              </a:rPr>
              <a:t>(n--) </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a:t>
            </a:r>
            <a:r>
              <a:rPr lang="en-US" sz="1500" dirty="0" err="1">
                <a:solidFill>
                  <a:srgbClr val="000000"/>
                </a:solidFill>
                <a:latin typeface="Courier New"/>
                <a:cs typeface="Courier New"/>
              </a:rPr>
              <a:t>mask_one</a:t>
            </a:r>
            <a:r>
              <a:rPr lang="en-US" sz="1500" dirty="0">
                <a:solidFill>
                  <a:srgbClr val="000000"/>
                </a:solidFill>
                <a:latin typeface="Courier New"/>
                <a:cs typeface="Courier New"/>
              </a:rPr>
              <a:t>,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 = Fork()) == 0) { </a:t>
            </a:r>
            <a:r>
              <a:rPr lang="en-US" sz="1500" dirty="0">
                <a:solidFill>
                  <a:srgbClr val="CB2418"/>
                </a:solidFill>
                <a:latin typeface="Courier New"/>
                <a:cs typeface="Courier New"/>
              </a:rPr>
              <a:t>/* Child process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(SIG_SETMASK,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Unblock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Execve</a:t>
            </a:r>
            <a:r>
              <a:rPr lang="en-US" sz="1500" dirty="0">
                <a:solidFill>
                  <a:srgbClr val="000000"/>
                </a:solidFill>
                <a:latin typeface="Courier New"/>
                <a:cs typeface="Courier New"/>
              </a:rPr>
              <a:t>(</a:t>
            </a:r>
            <a:r>
              <a:rPr lang="en-US" sz="1500" dirty="0">
                <a:solidFill>
                  <a:srgbClr val="9D206F"/>
                </a:solidFill>
                <a:latin typeface="Courier New"/>
                <a:cs typeface="Courier New"/>
              </a:rPr>
              <a:t>"/bin/date"</a:t>
            </a:r>
            <a:r>
              <a:rPr lang="en-US" sz="1500" dirty="0">
                <a:solidFill>
                  <a:srgbClr val="000000"/>
                </a:solidFill>
                <a:latin typeface="Courier New"/>
                <a:cs typeface="Courier New"/>
              </a:rPr>
              <a:t>, </a:t>
            </a:r>
            <a:r>
              <a:rPr lang="en-US" sz="1500" dirty="0" err="1">
                <a:solidFill>
                  <a:srgbClr val="000000"/>
                </a:solidFill>
                <a:latin typeface="Courier New"/>
                <a:cs typeface="Courier New"/>
              </a:rPr>
              <a:t>argv</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a:t>
            </a:r>
            <a:r>
              <a:rPr lang="en-US" sz="1500" dirty="0" err="1">
                <a:solidFill>
                  <a:srgbClr val="000000"/>
                </a:solidFill>
                <a:latin typeface="Courier New"/>
                <a:cs typeface="Courier New"/>
              </a:rPr>
              <a:t>mask_all</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Parent process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addjob</a:t>
            </a:r>
            <a:r>
              <a:rPr lang="en-US" sz="1500" dirty="0">
                <a:solidFill>
                  <a:srgbClr val="000000"/>
                </a:solidFill>
                <a:latin typeface="Courier New"/>
                <a:cs typeface="Courier New"/>
              </a:rPr>
              <a:t>(</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  </a:t>
            </a:r>
            <a:r>
              <a:rPr lang="en-US" sz="1500" dirty="0">
                <a:solidFill>
                  <a:srgbClr val="CB2418"/>
                </a:solidFill>
                <a:latin typeface="Courier New"/>
                <a:cs typeface="Courier New"/>
              </a:rPr>
              <a:t>/* Add the child to the job list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(SIG_SETMASK,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Unblock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p>
          <a:p>
            <a:r>
              <a:rPr lang="en-US" sz="1500" dirty="0">
                <a:solidFill>
                  <a:srgbClr val="000000"/>
                </a:solidFill>
                <a:latin typeface="Courier New"/>
                <a:cs typeface="Courier New"/>
              </a:rPr>
              <a:t>    exit(0);</a:t>
            </a:r>
          </a:p>
          <a:p>
            <a:r>
              <a:rPr lang="en-US" sz="1500" dirty="0">
                <a:solidFill>
                  <a:srgbClr val="000000"/>
                </a:solidFill>
                <a:latin typeface="Courier New"/>
                <a:cs typeface="Courier New"/>
              </a:rPr>
              <a:t>}</a:t>
            </a:r>
          </a:p>
        </p:txBody>
      </p:sp>
      <p:sp>
        <p:nvSpPr>
          <p:cNvPr id="4" name="TextBox 3"/>
          <p:cNvSpPr txBox="1"/>
          <p:nvPr/>
        </p:nvSpPr>
        <p:spPr>
          <a:xfrm>
            <a:off x="7633253" y="6400800"/>
            <a:ext cx="1391126" cy="369332"/>
          </a:xfrm>
          <a:prstGeom prst="rect">
            <a:avLst/>
          </a:prstGeom>
          <a:noFill/>
        </p:spPr>
        <p:txBody>
          <a:bodyPr wrap="none" rtlCol="0">
            <a:spAutoFit/>
          </a:bodyPr>
          <a:lstStyle/>
          <a:p>
            <a:r>
              <a:rPr lang="en-US" sz="1800" dirty="0" smtClean="0">
                <a:solidFill>
                  <a:srgbClr val="7F7F7F"/>
                </a:solidFill>
                <a:latin typeface="Calibri" pitchFamily="34" charset="0"/>
              </a:rPr>
              <a:t>procmask2.c</a:t>
            </a:r>
          </a:p>
        </p:txBody>
      </p:sp>
    </p:spTree>
    <p:extLst>
      <p:ext uri="{BB962C8B-B14F-4D97-AF65-F5344CB8AC3E}">
        <p14:creationId xmlns:p14="http://schemas.microsoft.com/office/powerpoint/2010/main" val="2824855157"/>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Explicitly Waiting for Signals</a:t>
            </a:r>
            <a:endParaRPr lang="en-US" dirty="0"/>
          </a:p>
        </p:txBody>
      </p:sp>
      <p:sp>
        <p:nvSpPr>
          <p:cNvPr id="5" name="Rectangle 4"/>
          <p:cNvSpPr>
            <a:spLocks noChangeArrowheads="1"/>
          </p:cNvSpPr>
          <p:nvPr/>
        </p:nvSpPr>
        <p:spPr bwMode="auto">
          <a:xfrm>
            <a:off x="571500" y="2514600"/>
            <a:ext cx="8267700" cy="3323987"/>
          </a:xfrm>
          <a:prstGeom prst="rect">
            <a:avLst/>
          </a:prstGeom>
          <a:solidFill>
            <a:srgbClr val="F6F5BD"/>
          </a:solidFill>
          <a:ln w="3175">
            <a:solidFill>
              <a:schemeClr val="tx1"/>
            </a:solidFill>
            <a:miter lim="800000"/>
            <a:headEnd/>
            <a:tailEnd/>
          </a:ln>
          <a:effectLst/>
        </p:spPr>
        <p:txBody>
          <a:bodyPr wrap="square">
            <a:spAutoFit/>
          </a:bodyPr>
          <a:lstStyle/>
          <a:p>
            <a:r>
              <a:rPr lang="en-US" sz="1500" dirty="0">
                <a:solidFill>
                  <a:srgbClr val="C200FF"/>
                </a:solidFill>
                <a:latin typeface="Courier New"/>
                <a:cs typeface="Courier New"/>
              </a:rPr>
              <a:t>volatile</a:t>
            </a:r>
            <a:r>
              <a:rPr lang="en-US" sz="1500" dirty="0">
                <a:solidFill>
                  <a:srgbClr val="000000"/>
                </a:solidFill>
                <a:latin typeface="Courier New"/>
                <a:cs typeface="Courier New"/>
              </a:rPr>
              <a:t> </a:t>
            </a:r>
            <a:r>
              <a:rPr lang="en-US" sz="1500" dirty="0" err="1">
                <a:solidFill>
                  <a:srgbClr val="2D961E"/>
                </a:solidFill>
                <a:latin typeface="Courier New"/>
                <a:cs typeface="Courier New"/>
              </a:rPr>
              <a:t>sig_atomic_t</a:t>
            </a:r>
            <a:r>
              <a:rPr lang="en-US" sz="1500" dirty="0">
                <a:solidFill>
                  <a:srgbClr val="000000"/>
                </a:solidFill>
                <a:latin typeface="Courier New"/>
                <a:cs typeface="Courier New"/>
              </a:rPr>
              <a:t> </a:t>
            </a:r>
            <a:r>
              <a:rPr lang="en-US" sz="1500" dirty="0" err="1">
                <a:solidFill>
                  <a:srgbClr val="C1651C"/>
                </a:solidFill>
                <a:latin typeface="Courier New"/>
                <a:cs typeface="Courier New"/>
              </a:rPr>
              <a:t>pid</a:t>
            </a:r>
            <a:r>
              <a:rPr lang="en-US" sz="1500" dirty="0">
                <a:solidFill>
                  <a:srgbClr val="000000"/>
                </a:solidFill>
                <a:latin typeface="Courier New"/>
                <a:cs typeface="Courier New"/>
              </a:rPr>
              <a:t>;</a:t>
            </a:r>
          </a:p>
          <a:p>
            <a:endParaRPr lang="en-US" sz="1500" dirty="0">
              <a:solidFill>
                <a:srgbClr val="000000"/>
              </a:solidFill>
              <a:latin typeface="Courier New"/>
              <a:cs typeface="Courier New"/>
            </a:endParaRPr>
          </a:p>
          <a:p>
            <a:r>
              <a:rPr lang="en-US" sz="1500" dirty="0">
                <a:solidFill>
                  <a:srgbClr val="2D961E"/>
                </a:solidFill>
                <a:latin typeface="Courier New"/>
                <a:cs typeface="Courier New"/>
              </a:rPr>
              <a:t>void</a:t>
            </a:r>
            <a:r>
              <a:rPr lang="en-US" sz="1500" dirty="0">
                <a:solidFill>
                  <a:srgbClr val="000000"/>
                </a:solidFill>
                <a:latin typeface="Courier New"/>
                <a:cs typeface="Courier New"/>
              </a:rPr>
              <a:t> </a:t>
            </a:r>
            <a:r>
              <a:rPr lang="en-US" sz="1500" dirty="0" err="1">
                <a:solidFill>
                  <a:srgbClr val="4A00FF"/>
                </a:solidFill>
                <a:latin typeface="Courier New"/>
                <a:cs typeface="Courier New"/>
              </a:rPr>
              <a:t>sigchld_handler</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C1651C"/>
                </a:solidFill>
                <a:latin typeface="Courier New"/>
                <a:cs typeface="Courier New"/>
              </a:rPr>
              <a:t>s</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olderrno</a:t>
            </a:r>
            <a:r>
              <a:rPr lang="en-US" sz="1500" dirty="0">
                <a:solidFill>
                  <a:srgbClr val="000000"/>
                </a:solidFill>
                <a:latin typeface="Courier New"/>
                <a:cs typeface="Courier New"/>
              </a:rPr>
              <a:t> = </a:t>
            </a:r>
            <a:r>
              <a:rPr lang="en-US" sz="1500" dirty="0" err="1">
                <a:solidFill>
                  <a:srgbClr val="000000"/>
                </a:solidFill>
                <a:latin typeface="Courier New"/>
                <a:cs typeface="Courier New"/>
              </a:rPr>
              <a:t>errno</a:t>
            </a:r>
            <a:r>
              <a:rPr lang="en-US"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pid</a:t>
            </a:r>
            <a:r>
              <a:rPr lang="fi-FI" sz="1500" dirty="0">
                <a:solidFill>
                  <a:srgbClr val="000000"/>
                </a:solidFill>
                <a:latin typeface="Courier New"/>
                <a:cs typeface="Courier New"/>
              </a:rPr>
              <a:t> = </a:t>
            </a:r>
            <a:r>
              <a:rPr lang="fi-FI" sz="1500" dirty="0" smtClean="0">
                <a:solidFill>
                  <a:srgbClr val="000000"/>
                </a:solidFill>
                <a:latin typeface="Courier New"/>
                <a:cs typeface="Courier New"/>
              </a:rPr>
              <a:t>Waitpid</a:t>
            </a:r>
            <a:r>
              <a:rPr lang="fi-FI" sz="1500" dirty="0">
                <a:solidFill>
                  <a:srgbClr val="000000"/>
                </a:solidFill>
                <a:latin typeface="Courier New"/>
                <a:cs typeface="Courier New"/>
              </a:rPr>
              <a:t>(-1, </a:t>
            </a:r>
            <a:r>
              <a:rPr lang="fi-FI" sz="1500" dirty="0">
                <a:solidFill>
                  <a:srgbClr val="2C9290"/>
                </a:solidFill>
                <a:latin typeface="Courier New"/>
                <a:cs typeface="Courier New"/>
              </a:rPr>
              <a:t>NULL</a:t>
            </a:r>
            <a:r>
              <a:rPr lang="fi-FI" sz="1500" dirty="0">
                <a:solidFill>
                  <a:srgbClr val="000000"/>
                </a:solidFill>
                <a:latin typeface="Courier New"/>
                <a:cs typeface="Courier New"/>
              </a:rPr>
              <a:t>, 0)</a:t>
            </a:r>
            <a:r>
              <a:rPr lang="fi-FI" sz="1500" dirty="0" smtClean="0">
                <a:solidFill>
                  <a:srgbClr val="000000"/>
                </a:solidFill>
                <a:latin typeface="Courier New"/>
                <a:cs typeface="Courier New"/>
              </a:rPr>
              <a:t>; </a:t>
            </a:r>
            <a:r>
              <a:rPr lang="fi-FI" sz="1500" dirty="0" smtClean="0">
                <a:solidFill>
                  <a:srgbClr val="FF0000"/>
                </a:solidFill>
                <a:latin typeface="Courier New"/>
                <a:cs typeface="Courier New"/>
              </a:rPr>
              <a:t>/* Main is </a:t>
            </a:r>
            <a:r>
              <a:rPr lang="fi-FI" sz="1500" dirty="0" err="1" smtClean="0">
                <a:solidFill>
                  <a:srgbClr val="FF0000"/>
                </a:solidFill>
                <a:latin typeface="Courier New"/>
                <a:cs typeface="Courier New"/>
              </a:rPr>
              <a:t>waiting</a:t>
            </a:r>
            <a:r>
              <a:rPr lang="fi-FI" sz="1500" dirty="0" smtClean="0">
                <a:solidFill>
                  <a:srgbClr val="FF0000"/>
                </a:solidFill>
                <a:latin typeface="Courier New"/>
                <a:cs typeface="Courier New"/>
              </a:rPr>
              <a:t> for </a:t>
            </a:r>
            <a:r>
              <a:rPr lang="fi-FI" sz="1500" dirty="0" err="1" smtClean="0">
                <a:solidFill>
                  <a:srgbClr val="FF0000"/>
                </a:solidFill>
                <a:latin typeface="Courier New"/>
                <a:cs typeface="Courier New"/>
              </a:rPr>
              <a:t>nonzero</a:t>
            </a:r>
            <a:r>
              <a:rPr lang="fi-FI" sz="1500" dirty="0" smtClean="0">
                <a:solidFill>
                  <a:srgbClr val="FF0000"/>
                </a:solidFill>
                <a:latin typeface="Courier New"/>
                <a:cs typeface="Courier New"/>
              </a:rPr>
              <a:t> </a:t>
            </a:r>
            <a:r>
              <a:rPr lang="fi-FI" sz="1500" dirty="0" err="1" smtClean="0">
                <a:solidFill>
                  <a:srgbClr val="FF0000"/>
                </a:solidFill>
                <a:latin typeface="Courier New"/>
                <a:cs typeface="Courier New"/>
              </a:rPr>
              <a:t>pid</a:t>
            </a:r>
            <a:r>
              <a:rPr lang="fi-FI" sz="1500" dirty="0" smtClean="0">
                <a:solidFill>
                  <a:srgbClr val="FF0000"/>
                </a:solidFill>
                <a:latin typeface="Courier New"/>
                <a:cs typeface="Courier New"/>
              </a:rPr>
              <a:t> */</a:t>
            </a:r>
            <a:endParaRPr lang="fi-FI" sz="1500" dirty="0">
              <a:solidFill>
                <a:srgbClr val="FF0000"/>
              </a:solidFill>
              <a:latin typeface="Courier New"/>
              <a:cs typeface="Courier New"/>
            </a:endParaRP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errno</a:t>
            </a:r>
            <a:r>
              <a:rPr lang="fi-FI" sz="1500" dirty="0">
                <a:solidFill>
                  <a:srgbClr val="000000"/>
                </a:solidFill>
                <a:latin typeface="Courier New"/>
                <a:cs typeface="Courier New"/>
              </a:rPr>
              <a:t> = </a:t>
            </a:r>
            <a:r>
              <a:rPr lang="fi-FI" sz="1500" dirty="0" err="1">
                <a:solidFill>
                  <a:srgbClr val="000000"/>
                </a:solidFill>
                <a:latin typeface="Courier New"/>
                <a:cs typeface="Courier New"/>
              </a:rPr>
              <a:t>olderrno</a:t>
            </a:r>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endParaRPr lang="fi-FI" sz="1500" dirty="0">
              <a:solidFill>
                <a:srgbClr val="000000"/>
              </a:solidFill>
              <a:latin typeface="Courier New"/>
              <a:cs typeface="Courier New"/>
            </a:endParaRPr>
          </a:p>
          <a:p>
            <a:r>
              <a:rPr lang="fi-FI" sz="1500" dirty="0" err="1">
                <a:solidFill>
                  <a:srgbClr val="2D961E"/>
                </a:solidFill>
                <a:latin typeface="Courier New"/>
                <a:cs typeface="Courier New"/>
              </a:rPr>
              <a:t>void</a:t>
            </a:r>
            <a:r>
              <a:rPr lang="fi-FI" sz="1500" dirty="0">
                <a:solidFill>
                  <a:srgbClr val="000000"/>
                </a:solidFill>
                <a:latin typeface="Courier New"/>
                <a:cs typeface="Courier New"/>
              </a:rPr>
              <a:t> </a:t>
            </a:r>
            <a:r>
              <a:rPr lang="fi-FI" sz="1500" dirty="0" err="1">
                <a:solidFill>
                  <a:srgbClr val="4A00FF"/>
                </a:solidFill>
                <a:latin typeface="Courier New"/>
                <a:cs typeface="Courier New"/>
              </a:rPr>
              <a:t>sigint_handler</a:t>
            </a:r>
            <a:r>
              <a:rPr lang="fi-FI" sz="1500" dirty="0" err="1">
                <a:solidFill>
                  <a:srgbClr val="000000"/>
                </a:solidFill>
                <a:latin typeface="Courier New"/>
                <a:cs typeface="Courier New"/>
              </a:rPr>
              <a:t>(</a:t>
            </a:r>
            <a:r>
              <a:rPr lang="fi-FI" sz="1500" dirty="0" err="1">
                <a:solidFill>
                  <a:srgbClr val="2D961E"/>
                </a:solidFill>
                <a:latin typeface="Courier New"/>
                <a:cs typeface="Courier New"/>
              </a:rPr>
              <a:t>int</a:t>
            </a:r>
            <a:r>
              <a:rPr lang="fi-FI" sz="1500" dirty="0">
                <a:solidFill>
                  <a:srgbClr val="000000"/>
                </a:solidFill>
                <a:latin typeface="Courier New"/>
                <a:cs typeface="Courier New"/>
              </a:rPr>
              <a:t> </a:t>
            </a:r>
            <a:r>
              <a:rPr lang="fi-FI" sz="1500" dirty="0">
                <a:solidFill>
                  <a:srgbClr val="C1651C"/>
                </a:solidFill>
                <a:latin typeface="Courier New"/>
                <a:cs typeface="Courier New"/>
              </a:rPr>
              <a:t>s</a:t>
            </a:r>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endParaRPr lang="fi-FI" sz="1500" dirty="0">
              <a:solidFill>
                <a:srgbClr val="000000"/>
              </a:solidFill>
              <a:latin typeface="Courier New"/>
              <a:cs typeface="Courier New"/>
            </a:endParaRPr>
          </a:p>
          <a:p>
            <a:endParaRPr lang="ro-RO" sz="1500" dirty="0">
              <a:solidFill>
                <a:srgbClr val="000000"/>
              </a:solidFill>
              <a:latin typeface="Courier New"/>
              <a:cs typeface="Courier New"/>
            </a:endParaRPr>
          </a:p>
        </p:txBody>
      </p:sp>
      <p:sp>
        <p:nvSpPr>
          <p:cNvPr id="4" name="Content Placeholder 2"/>
          <p:cNvSpPr>
            <a:spLocks noGrp="1"/>
          </p:cNvSpPr>
          <p:nvPr>
            <p:ph idx="1"/>
          </p:nvPr>
        </p:nvSpPr>
        <p:spPr>
          <a:xfrm>
            <a:off x="396875" y="1408212"/>
            <a:ext cx="8442325" cy="801588"/>
          </a:xfrm>
        </p:spPr>
        <p:txBody>
          <a:bodyPr/>
          <a:lstStyle/>
          <a:p>
            <a:r>
              <a:rPr lang="en-US" dirty="0" smtClean="0"/>
              <a:t>Handlers for program explicitly waiting for SIGCHLD to arrive.</a:t>
            </a:r>
          </a:p>
        </p:txBody>
      </p:sp>
      <p:sp>
        <p:nvSpPr>
          <p:cNvPr id="6" name="TextBox 5"/>
          <p:cNvSpPr txBox="1"/>
          <p:nvPr/>
        </p:nvSpPr>
        <p:spPr>
          <a:xfrm>
            <a:off x="7248688" y="5486400"/>
            <a:ext cx="1590512" cy="369332"/>
          </a:xfrm>
          <a:prstGeom prst="rect">
            <a:avLst/>
          </a:prstGeom>
          <a:noFill/>
        </p:spPr>
        <p:txBody>
          <a:bodyPr wrap="none" rtlCol="0">
            <a:spAutoFit/>
          </a:bodyPr>
          <a:lstStyle/>
          <a:p>
            <a:r>
              <a:rPr lang="en-US" sz="1800" dirty="0" err="1" smtClean="0">
                <a:solidFill>
                  <a:srgbClr val="7F7F7F"/>
                </a:solidFill>
                <a:latin typeface="Calibri" pitchFamily="34" charset="0"/>
              </a:rPr>
              <a:t>waitforsignal.c</a:t>
            </a:r>
            <a:endParaRPr lang="en-US" sz="1800" dirty="0" smtClean="0">
              <a:solidFill>
                <a:srgbClr val="7F7F7F"/>
              </a:solidFill>
              <a:latin typeface="Calibri" pitchFamily="34" charset="0"/>
            </a:endParaRPr>
          </a:p>
        </p:txBody>
      </p:sp>
    </p:spTree>
    <p:extLst>
      <p:ext uri="{BB962C8B-B14F-4D97-AF65-F5344CB8AC3E}">
        <p14:creationId xmlns:p14="http://schemas.microsoft.com/office/powerpoint/2010/main" val="2386167073"/>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372540"/>
            <a:ext cx="8482182" cy="762000"/>
          </a:xfrm>
        </p:spPr>
        <p:txBody>
          <a:bodyPr/>
          <a:lstStyle/>
          <a:p>
            <a:r>
              <a:rPr lang="en-US" dirty="0" smtClean="0"/>
              <a:t>Explicitly Waiting for Signals</a:t>
            </a:r>
            <a:endParaRPr lang="en-US" dirty="0"/>
          </a:p>
        </p:txBody>
      </p:sp>
      <p:sp>
        <p:nvSpPr>
          <p:cNvPr id="5" name="Rectangle 4"/>
          <p:cNvSpPr>
            <a:spLocks noChangeArrowheads="1"/>
          </p:cNvSpPr>
          <p:nvPr/>
        </p:nvSpPr>
        <p:spPr bwMode="auto">
          <a:xfrm>
            <a:off x="475784" y="994856"/>
            <a:ext cx="8034095" cy="5863144"/>
          </a:xfrm>
          <a:prstGeom prst="rect">
            <a:avLst/>
          </a:prstGeom>
          <a:solidFill>
            <a:srgbClr val="F6F5BD"/>
          </a:solidFill>
          <a:ln w="3175">
            <a:solidFill>
              <a:schemeClr val="tx1"/>
            </a:solidFill>
            <a:miter lim="800000"/>
            <a:headEnd/>
            <a:tailEnd/>
          </a:ln>
          <a:effectLst/>
        </p:spPr>
        <p:txBody>
          <a:bodyPr wrap="none">
            <a:spAutoFit/>
          </a:bodyPr>
          <a:lstStyle/>
          <a:p>
            <a:r>
              <a:rPr lang="en-US" sz="1500" dirty="0" err="1" smtClean="0">
                <a:solidFill>
                  <a:srgbClr val="2D961E"/>
                </a:solidFill>
                <a:latin typeface="Courier New"/>
                <a:cs typeface="Courier New"/>
              </a:rPr>
              <a:t>int</a:t>
            </a:r>
            <a:r>
              <a:rPr lang="en-US" sz="1500" dirty="0" smtClean="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smtClean="0">
                <a:solidFill>
                  <a:srgbClr val="000000"/>
                </a:solidFill>
                <a:latin typeface="Courier New"/>
                <a:cs typeface="Courier New"/>
              </a:rPr>
              <a:t>)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sigset_t</a:t>
            </a:r>
            <a:r>
              <a:rPr lang="en-US" sz="1500" dirty="0">
                <a:solidFill>
                  <a:srgbClr val="000000"/>
                </a:solidFill>
                <a:latin typeface="Courier New"/>
                <a:cs typeface="Courier New"/>
              </a:rPr>
              <a:t> </a:t>
            </a:r>
            <a:r>
              <a:rPr lang="en-US" sz="1500" dirty="0">
                <a:solidFill>
                  <a:srgbClr val="C1651C"/>
                </a:solidFill>
                <a:latin typeface="Courier New"/>
                <a:cs typeface="Courier New"/>
              </a:rPr>
              <a:t>mask</a:t>
            </a:r>
            <a:r>
              <a:rPr lang="en-US" sz="1500" dirty="0">
                <a:solidFill>
                  <a:srgbClr val="000000"/>
                </a:solidFill>
                <a:latin typeface="Courier New"/>
                <a:cs typeface="Courier New"/>
              </a:rPr>
              <a:t>, </a:t>
            </a:r>
            <a:r>
              <a:rPr lang="en-US" sz="1500" dirty="0" err="1">
                <a:solidFill>
                  <a:srgbClr val="C1651C"/>
                </a:solidFill>
                <a:latin typeface="Courier New"/>
                <a:cs typeface="Courier New"/>
              </a:rPr>
              <a:t>prev</a:t>
            </a:r>
            <a:r>
              <a:rPr lang="en-US" sz="1500" dirty="0" smtClean="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smtClean="0">
                <a:solidFill>
                  <a:srgbClr val="000000"/>
                </a:solidFill>
                <a:latin typeface="Courier New"/>
                <a:cs typeface="Courier New"/>
              </a:rPr>
              <a:t>   </a:t>
            </a:r>
            <a:r>
              <a:rPr lang="en-US" sz="1500" dirty="0" err="1" smtClean="0">
                <a:solidFill>
                  <a:srgbClr val="000000"/>
                </a:solidFill>
                <a:latin typeface="Courier New"/>
                <a:cs typeface="Courier New"/>
              </a:rPr>
              <a:t>int</a:t>
            </a:r>
            <a:r>
              <a:rPr lang="en-US" sz="1500" dirty="0" smtClean="0">
                <a:solidFill>
                  <a:srgbClr val="000000"/>
                </a:solidFill>
                <a:latin typeface="Courier New"/>
                <a:cs typeface="Courier New"/>
              </a:rPr>
              <a:t> n = N; /* N = 10 */</a:t>
            </a:r>
            <a:endParaRPr lang="en-US" sz="1500" dirty="0">
              <a:solidFill>
                <a:srgbClr val="000000"/>
              </a:solidFill>
              <a:latin typeface="Courier New"/>
              <a:cs typeface="Courier New"/>
            </a:endParaRPr>
          </a:p>
          <a:p>
            <a:r>
              <a:rPr lang="en-US" sz="1500" dirty="0" smtClean="0">
                <a:solidFill>
                  <a:srgbClr val="000000"/>
                </a:solidFill>
                <a:latin typeface="Courier New"/>
                <a:cs typeface="Courier New"/>
              </a:rPr>
              <a:t>    Signal</a:t>
            </a:r>
            <a:r>
              <a:rPr lang="en-US" sz="1500" dirty="0">
                <a:solidFill>
                  <a:srgbClr val="000000"/>
                </a:solidFill>
                <a:latin typeface="Courier New"/>
                <a:cs typeface="Courier New"/>
              </a:rPr>
              <a:t>(SIGCHLD, </a:t>
            </a:r>
            <a:r>
              <a:rPr lang="en-US" sz="1500" dirty="0" err="1">
                <a:solidFill>
                  <a:srgbClr val="000000"/>
                </a:solidFill>
                <a:latin typeface="Courier New"/>
                <a:cs typeface="Courier New"/>
              </a:rPr>
              <a:t>sigchld_handler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Signal(SIGINT, </a:t>
            </a:r>
            <a:r>
              <a:rPr lang="en-US" sz="1500" dirty="0" err="1">
                <a:solidFill>
                  <a:srgbClr val="000000"/>
                </a:solidFill>
                <a:latin typeface="Courier New"/>
                <a:cs typeface="Courier New"/>
              </a:rPr>
              <a:t>sigint_handler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Sigemptyset</a:t>
            </a:r>
            <a:r>
              <a:rPr lang="en-US" sz="1500" dirty="0">
                <a:solidFill>
                  <a:srgbClr val="000000"/>
                </a:solidFill>
                <a:latin typeface="Courier New"/>
                <a:cs typeface="Courier New"/>
              </a:rPr>
              <a:t>(&amp;mask);</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Sigaddset</a:t>
            </a:r>
            <a:r>
              <a:rPr lang="en-US" sz="1500" dirty="0">
                <a:solidFill>
                  <a:srgbClr val="000000"/>
                </a:solidFill>
                <a:latin typeface="Courier New"/>
                <a:cs typeface="Courier New"/>
              </a:rPr>
              <a:t>(&amp;mask, SIGCHLD);</a:t>
            </a:r>
          </a:p>
          <a:p>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a:t>
            </a:r>
            <a:r>
              <a:rPr lang="en-US" sz="1500" dirty="0" smtClean="0">
                <a:solidFill>
                  <a:srgbClr val="000000"/>
                </a:solidFill>
                <a:latin typeface="Courier New"/>
                <a:cs typeface="Courier New"/>
              </a:rPr>
              <a:t>(n--) </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&amp;mask, &amp;</a:t>
            </a:r>
            <a:r>
              <a:rPr lang="en-US" sz="1500" dirty="0" err="1">
                <a:solidFill>
                  <a:srgbClr val="000000"/>
                </a:solidFill>
                <a:latin typeface="Courier New"/>
                <a:cs typeface="Courier New"/>
              </a:rPr>
              <a:t>prev</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exit(0);</a:t>
            </a:r>
          </a:p>
          <a:p>
            <a:r>
              <a:rPr lang="fr-FR" sz="1500" dirty="0">
                <a:solidFill>
                  <a:srgbClr val="000000"/>
                </a:solidFill>
                <a:latin typeface="Courier New"/>
                <a:cs typeface="Courier New"/>
              </a:rPr>
              <a:t>	</a:t>
            </a:r>
            <a:r>
              <a:rPr lang="fr-FR" sz="1500" dirty="0">
                <a:solidFill>
                  <a:srgbClr val="CB2418"/>
                </a:solidFill>
                <a:latin typeface="Courier New"/>
                <a:cs typeface="Courier New"/>
              </a:rPr>
              <a:t>/* Parent */</a:t>
            </a:r>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err="1">
                <a:solidFill>
                  <a:srgbClr val="000000"/>
                </a:solidFill>
                <a:latin typeface="Courier New"/>
                <a:cs typeface="Courier New"/>
              </a:rPr>
              <a:t>pid</a:t>
            </a:r>
            <a:r>
              <a:rPr lang="fr-FR" sz="1500" dirty="0">
                <a:solidFill>
                  <a:srgbClr val="000000"/>
                </a:solidFill>
                <a:latin typeface="Courier New"/>
                <a:cs typeface="Courier New"/>
              </a:rPr>
              <a:t> = 0;</a:t>
            </a:r>
          </a:p>
          <a:p>
            <a:r>
              <a:rPr lang="fr-FR" sz="1500" dirty="0">
                <a:solidFill>
                  <a:srgbClr val="000000"/>
                </a:solidFill>
                <a:latin typeface="Courier New"/>
                <a:cs typeface="Courier New"/>
              </a:rPr>
              <a:t>	</a:t>
            </a:r>
            <a:r>
              <a:rPr lang="fr-FR" sz="1500" dirty="0" err="1">
                <a:solidFill>
                  <a:srgbClr val="000000"/>
                </a:solidFill>
                <a:latin typeface="Courier New"/>
                <a:cs typeface="Courier New"/>
              </a:rPr>
              <a:t>Sigprocmask</a:t>
            </a:r>
            <a:r>
              <a:rPr lang="fr-FR" sz="1500" dirty="0">
                <a:solidFill>
                  <a:srgbClr val="000000"/>
                </a:solidFill>
                <a:latin typeface="Courier New"/>
                <a:cs typeface="Courier New"/>
              </a:rPr>
              <a:t>(SIG_SETMASK, &amp;</a:t>
            </a:r>
            <a:r>
              <a:rPr lang="fr-FR" sz="1500" dirty="0" err="1">
                <a:solidFill>
                  <a:srgbClr val="000000"/>
                </a:solidFill>
                <a:latin typeface="Courier New"/>
                <a:cs typeface="Courier New"/>
              </a:rPr>
              <a:t>prev</a:t>
            </a:r>
            <a:r>
              <a:rPr lang="fr-FR" sz="1500" dirty="0">
                <a:solidFill>
                  <a:srgbClr val="000000"/>
                </a:solidFill>
                <a:latin typeface="Courier New"/>
                <a:cs typeface="Courier New"/>
              </a:rPr>
              <a:t>, </a:t>
            </a:r>
            <a:r>
              <a:rPr lang="fr-FR" sz="1500" dirty="0">
                <a:solidFill>
                  <a:srgbClr val="2C9290"/>
                </a:solidFill>
                <a:latin typeface="Courier New"/>
                <a:cs typeface="Courier New"/>
              </a:rPr>
              <a:t>NULL</a:t>
            </a:r>
            <a:r>
              <a:rPr lang="fr-FR" sz="1500" dirty="0">
                <a:solidFill>
                  <a:srgbClr val="000000"/>
                </a:solidFill>
                <a:latin typeface="Courier New"/>
                <a:cs typeface="Courier New"/>
              </a:rPr>
              <a:t>); </a:t>
            </a:r>
            <a:r>
              <a:rPr lang="fr-FR" sz="1500" dirty="0">
                <a:solidFill>
                  <a:srgbClr val="CB2418"/>
                </a:solidFill>
                <a:latin typeface="Courier New"/>
                <a:cs typeface="Courier New"/>
              </a:rPr>
              <a:t>/* </a:t>
            </a:r>
            <a:r>
              <a:rPr lang="fr-FR" sz="1500" dirty="0" err="1">
                <a:solidFill>
                  <a:srgbClr val="CB2418"/>
                </a:solidFill>
                <a:latin typeface="Courier New"/>
                <a:cs typeface="Courier New"/>
              </a:rPr>
              <a:t>Unblock</a:t>
            </a:r>
            <a:r>
              <a:rPr lang="fr-FR" sz="1500" dirty="0">
                <a:solidFill>
                  <a:srgbClr val="CB2418"/>
                </a:solidFill>
                <a:latin typeface="Courier New"/>
                <a:cs typeface="Courier New"/>
              </a:rPr>
              <a:t> SIGCHLD */</a:t>
            </a:r>
            <a:endParaRPr lang="fr-FR" sz="1500" dirty="0">
              <a:solidFill>
                <a:srgbClr val="000000"/>
              </a:solidFill>
              <a:latin typeface="Courier New"/>
              <a:cs typeface="Courier New"/>
            </a:endParaRPr>
          </a:p>
          <a:p>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a:solidFill>
                  <a:srgbClr val="CB2418"/>
                </a:solidFill>
                <a:latin typeface="Courier New"/>
                <a:cs typeface="Courier New"/>
              </a:rPr>
              <a:t>/* </a:t>
            </a:r>
            <a:r>
              <a:rPr lang="fr-FR" sz="1500" dirty="0" err="1">
                <a:solidFill>
                  <a:srgbClr val="CB2418"/>
                </a:solidFill>
                <a:latin typeface="Courier New"/>
                <a:cs typeface="Courier New"/>
              </a:rPr>
              <a:t>Wait</a:t>
            </a:r>
            <a:r>
              <a:rPr lang="fr-FR" sz="1500" dirty="0">
                <a:solidFill>
                  <a:srgbClr val="CB2418"/>
                </a:solidFill>
                <a:latin typeface="Courier New"/>
                <a:cs typeface="Courier New"/>
              </a:rPr>
              <a:t> for SIGCHLD to </a:t>
            </a:r>
            <a:r>
              <a:rPr lang="fr-FR" sz="1500" dirty="0" err="1">
                <a:solidFill>
                  <a:srgbClr val="CB2418"/>
                </a:solidFill>
                <a:latin typeface="Courier New"/>
                <a:cs typeface="Courier New"/>
              </a:rPr>
              <a:t>be</a:t>
            </a:r>
            <a:r>
              <a:rPr lang="fr-FR" sz="1500" dirty="0">
                <a:solidFill>
                  <a:srgbClr val="CB2418"/>
                </a:solidFill>
                <a:latin typeface="Courier New"/>
                <a:cs typeface="Courier New"/>
              </a:rPr>
              <a:t> </a:t>
            </a:r>
            <a:r>
              <a:rPr lang="fr-FR" sz="1500" dirty="0" err="1">
                <a:solidFill>
                  <a:srgbClr val="CB2418"/>
                </a:solidFill>
                <a:latin typeface="Courier New"/>
                <a:cs typeface="Courier New"/>
              </a:rPr>
              <a:t>received</a:t>
            </a:r>
            <a:r>
              <a:rPr lang="fr-FR" sz="1500" dirty="0">
                <a:solidFill>
                  <a:srgbClr val="CB2418"/>
                </a:solidFill>
                <a:latin typeface="Courier New"/>
                <a:cs typeface="Courier New"/>
              </a:rPr>
              <a:t> (</a:t>
            </a:r>
            <a:r>
              <a:rPr lang="fr-FR" sz="1500" dirty="0" err="1" smtClean="0">
                <a:solidFill>
                  <a:srgbClr val="CB2418"/>
                </a:solidFill>
                <a:latin typeface="Courier New"/>
                <a:cs typeface="Courier New"/>
              </a:rPr>
              <a:t>wasteful</a:t>
            </a:r>
            <a:r>
              <a:rPr lang="fr-FR" sz="1500" dirty="0" smtClean="0">
                <a:solidFill>
                  <a:srgbClr val="CB2418"/>
                </a:solidFill>
                <a:latin typeface="Courier New"/>
                <a:cs typeface="Courier New"/>
              </a:rPr>
              <a:t>!) </a:t>
            </a:r>
            <a:r>
              <a:rPr lang="fr-FR" sz="1500" dirty="0">
                <a:solidFill>
                  <a:srgbClr val="CB2418"/>
                </a:solidFill>
                <a:latin typeface="Courier New"/>
                <a:cs typeface="Courier New"/>
              </a:rPr>
              <a:t>*/</a:t>
            </a:r>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err="1">
                <a:solidFill>
                  <a:srgbClr val="C200FF"/>
                </a:solidFill>
                <a:latin typeface="Courier New"/>
                <a:cs typeface="Courier New"/>
              </a:rPr>
              <a:t>while</a:t>
            </a:r>
            <a:r>
              <a:rPr lang="fr-FR" sz="1500" dirty="0">
                <a:solidFill>
                  <a:srgbClr val="000000"/>
                </a:solidFill>
                <a:latin typeface="Courier New"/>
                <a:cs typeface="Courier New"/>
              </a:rPr>
              <a:t> (!</a:t>
            </a:r>
            <a:r>
              <a:rPr lang="fr-FR" sz="1500" dirty="0" err="1">
                <a:solidFill>
                  <a:srgbClr val="000000"/>
                </a:solidFill>
                <a:latin typeface="Courier New"/>
                <a:cs typeface="Courier New"/>
              </a:rPr>
              <a:t>pid</a:t>
            </a:r>
            <a:r>
              <a:rPr lang="fr-FR" sz="1500" dirty="0">
                <a:solidFill>
                  <a:srgbClr val="000000"/>
                </a:solidFill>
                <a:latin typeface="Courier New"/>
                <a:cs typeface="Courier New"/>
              </a:rPr>
              <a:t>)</a:t>
            </a:r>
          </a:p>
          <a:p>
            <a:r>
              <a:rPr lang="fr-FR" sz="1500" dirty="0">
                <a:solidFill>
                  <a:srgbClr val="000000"/>
                </a:solidFill>
                <a:latin typeface="Courier New"/>
                <a:cs typeface="Courier New"/>
              </a:rPr>
              <a:t>            ;</a:t>
            </a:r>
          </a:p>
          <a:p>
            <a:r>
              <a:rPr lang="fr-FR" sz="1500" dirty="0">
                <a:solidFill>
                  <a:srgbClr val="000000"/>
                </a:solidFill>
                <a:latin typeface="Courier New"/>
                <a:cs typeface="Courier New"/>
              </a:rPr>
              <a:t>	</a:t>
            </a:r>
            <a:r>
              <a:rPr lang="fr-FR" sz="1500" dirty="0">
                <a:solidFill>
                  <a:srgbClr val="CB2418"/>
                </a:solidFill>
                <a:latin typeface="Courier New"/>
                <a:cs typeface="Courier New"/>
              </a:rPr>
              <a:t>/* Do </a:t>
            </a:r>
            <a:r>
              <a:rPr lang="fr-FR" sz="1500" dirty="0" err="1">
                <a:solidFill>
                  <a:srgbClr val="CB2418"/>
                </a:solidFill>
                <a:latin typeface="Courier New"/>
                <a:cs typeface="Courier New"/>
              </a:rPr>
              <a:t>some</a:t>
            </a:r>
            <a:r>
              <a:rPr lang="fr-FR" sz="1500" dirty="0">
                <a:solidFill>
                  <a:srgbClr val="CB2418"/>
                </a:solidFill>
                <a:latin typeface="Courier New"/>
                <a:cs typeface="Courier New"/>
              </a:rPr>
              <a:t> </a:t>
            </a:r>
            <a:r>
              <a:rPr lang="fr-FR" sz="1500" dirty="0" err="1">
                <a:solidFill>
                  <a:srgbClr val="CB2418"/>
                </a:solidFill>
                <a:latin typeface="Courier New"/>
                <a:cs typeface="Courier New"/>
              </a:rPr>
              <a:t>work</a:t>
            </a:r>
            <a:r>
              <a:rPr lang="fr-FR" sz="1500" dirty="0">
                <a:solidFill>
                  <a:srgbClr val="CB2418"/>
                </a:solidFill>
                <a:latin typeface="Courier New"/>
                <a:cs typeface="Courier New"/>
              </a:rPr>
              <a:t> </a:t>
            </a:r>
            <a:r>
              <a:rPr lang="fr-FR" sz="1500" dirty="0" err="1">
                <a:solidFill>
                  <a:srgbClr val="CB2418"/>
                </a:solidFill>
                <a:latin typeface="Courier New"/>
                <a:cs typeface="Courier New"/>
              </a:rPr>
              <a:t>after</a:t>
            </a:r>
            <a:r>
              <a:rPr lang="fr-FR" sz="1500" dirty="0">
                <a:solidFill>
                  <a:srgbClr val="CB2418"/>
                </a:solidFill>
                <a:latin typeface="Courier New"/>
                <a:cs typeface="Courier New"/>
              </a:rPr>
              <a:t> </a:t>
            </a:r>
            <a:r>
              <a:rPr lang="fr-FR" sz="1500" dirty="0" err="1">
                <a:solidFill>
                  <a:srgbClr val="CB2418"/>
                </a:solidFill>
                <a:latin typeface="Courier New"/>
                <a:cs typeface="Courier New"/>
              </a:rPr>
              <a:t>receiving</a:t>
            </a:r>
            <a:r>
              <a:rPr lang="fr-FR" sz="1500" dirty="0">
                <a:solidFill>
                  <a:srgbClr val="CB2418"/>
                </a:solidFill>
                <a:latin typeface="Courier New"/>
                <a:cs typeface="Courier New"/>
              </a:rPr>
              <a:t> SIGCHLD */</a:t>
            </a:r>
            <a:endParaRPr lang="fr-FR" sz="1500" dirty="0">
              <a:solidFill>
                <a:srgbClr val="000000"/>
              </a:solidFill>
              <a:latin typeface="Courier New"/>
              <a:cs typeface="Courier New"/>
            </a:endParaRP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a:t>
            </a:r>
            <a:r>
              <a:rPr lang="ro-RO" sz="1500" dirty="0">
                <a:solidFill>
                  <a:srgbClr val="000000"/>
                </a:solidFill>
                <a:latin typeface="Courier New"/>
                <a:cs typeface="Courier New"/>
              </a:rPr>
              <a:t>);</a:t>
            </a:r>
          </a:p>
          <a:p>
            <a:r>
              <a:rPr lang="ro-RO" sz="1500" dirty="0">
                <a:solidFill>
                  <a:srgbClr val="000000"/>
                </a:solidFill>
                <a:latin typeface="Courier New"/>
                <a:cs typeface="Courier New"/>
              </a:rPr>
              <a:t>    </a:t>
            </a:r>
            <a:r>
              <a:rPr lang="ro-RO" sz="1500" dirty="0" smtClean="0">
                <a:solidFill>
                  <a:srgbClr val="000000"/>
                </a:solidFill>
                <a:latin typeface="Courier New"/>
                <a:cs typeface="Courier New"/>
              </a:rPr>
              <a:t>}</a:t>
            </a:r>
          </a:p>
          <a:p>
            <a:r>
              <a:rPr lang="ro-RO" sz="1500" dirty="0">
                <a:solidFill>
                  <a:srgbClr val="000000"/>
                </a:solidFill>
                <a:latin typeface="Courier New"/>
                <a:cs typeface="Courier New"/>
              </a:rPr>
              <a:t> </a:t>
            </a:r>
            <a:r>
              <a:rPr lang="ro-RO" sz="1500" dirty="0" smtClean="0">
                <a:solidFill>
                  <a:srgbClr val="000000"/>
                </a:solidFill>
                <a:latin typeface="Courier New"/>
                <a:cs typeface="Courier New"/>
              </a:rPr>
              <a:t>   printf(</a:t>
            </a:r>
            <a:r>
              <a:rPr lang="ro-RO" sz="1500" dirty="0">
                <a:solidFill>
                  <a:srgbClr val="9D206F"/>
                </a:solidFill>
                <a:latin typeface="Courier New"/>
                <a:cs typeface="Courier New"/>
              </a:rPr>
              <a:t>"</a:t>
            </a:r>
            <a:r>
              <a:rPr lang="ro-RO" sz="1500" dirty="0" smtClean="0">
                <a:solidFill>
                  <a:srgbClr val="9D206F"/>
                </a:solidFill>
                <a:latin typeface="Courier New"/>
                <a:cs typeface="Courier New"/>
              </a:rPr>
              <a:t>\n"</a:t>
            </a:r>
            <a:r>
              <a:rPr lang="ro-RO" sz="1500" dirty="0">
                <a:solidFill>
                  <a:srgbClr val="000000"/>
                </a:solidFill>
                <a:latin typeface="Courier New"/>
                <a:cs typeface="Courier New"/>
              </a:rPr>
              <a:t>);</a:t>
            </a:r>
          </a:p>
          <a:p>
            <a:r>
              <a:rPr lang="ro-RO" sz="1500" dirty="0">
                <a:solidFill>
                  <a:srgbClr val="000000"/>
                </a:solidFill>
                <a:latin typeface="Courier New"/>
                <a:cs typeface="Courier New"/>
              </a:rPr>
              <a:t>    exit(0)</a:t>
            </a:r>
            <a:r>
              <a:rPr lang="ro-RO" sz="1500" dirty="0" smtClean="0">
                <a:solidFill>
                  <a:srgbClr val="000000"/>
                </a:solidFill>
                <a:latin typeface="Courier New"/>
                <a:cs typeface="Courier New"/>
              </a:rPr>
              <a:t>;</a:t>
            </a:r>
          </a:p>
          <a:p>
            <a:r>
              <a:rPr lang="ro-RO" sz="1500" dirty="0">
                <a:solidFill>
                  <a:srgbClr val="000000"/>
                </a:solidFill>
                <a:latin typeface="Courier New"/>
                <a:cs typeface="Courier New"/>
              </a:rPr>
              <a:t>}</a:t>
            </a:r>
          </a:p>
        </p:txBody>
      </p:sp>
      <p:sp>
        <p:nvSpPr>
          <p:cNvPr id="4" name="TextBox 3"/>
          <p:cNvSpPr txBox="1"/>
          <p:nvPr/>
        </p:nvSpPr>
        <p:spPr>
          <a:xfrm>
            <a:off x="6934200" y="6336268"/>
            <a:ext cx="1590512" cy="369332"/>
          </a:xfrm>
          <a:prstGeom prst="rect">
            <a:avLst/>
          </a:prstGeom>
          <a:noFill/>
        </p:spPr>
        <p:txBody>
          <a:bodyPr wrap="none" rtlCol="0">
            <a:spAutoFit/>
          </a:bodyPr>
          <a:lstStyle/>
          <a:p>
            <a:r>
              <a:rPr lang="en-US" sz="1800" dirty="0" err="1" smtClean="0">
                <a:solidFill>
                  <a:srgbClr val="7F7F7F"/>
                </a:solidFill>
                <a:latin typeface="Calibri" pitchFamily="34" charset="0"/>
              </a:rPr>
              <a:t>waitforsignal.c</a:t>
            </a:r>
            <a:endParaRPr lang="en-US" sz="1800" dirty="0" smtClean="0">
              <a:solidFill>
                <a:srgbClr val="7F7F7F"/>
              </a:solidFill>
              <a:latin typeface="Calibri" pitchFamily="34" charset="0"/>
            </a:endParaRPr>
          </a:p>
        </p:txBody>
      </p:sp>
      <p:sp>
        <p:nvSpPr>
          <p:cNvPr id="3" name="TextBox 2"/>
          <p:cNvSpPr txBox="1"/>
          <p:nvPr/>
        </p:nvSpPr>
        <p:spPr>
          <a:xfrm>
            <a:off x="6079138" y="1143000"/>
            <a:ext cx="2531462" cy="990600"/>
          </a:xfrm>
          <a:prstGeom prst="rect">
            <a:avLst/>
          </a:prstGeom>
          <a:solidFill>
            <a:schemeClr val="bg1"/>
          </a:solidFill>
          <a:ln>
            <a:solidFill>
              <a:schemeClr val="tx1"/>
            </a:solidFill>
          </a:ln>
        </p:spPr>
        <p:txBody>
          <a:bodyPr wrap="none" rtlCol="0">
            <a:noAutofit/>
          </a:bodyPr>
          <a:lstStyle/>
          <a:p>
            <a:r>
              <a:rPr lang="en-US" sz="1800" dirty="0" smtClean="0">
                <a:latin typeface="Calibri" pitchFamily="34" charset="0"/>
              </a:rPr>
              <a:t>Similar to a shell waiting</a:t>
            </a:r>
          </a:p>
          <a:p>
            <a:r>
              <a:rPr lang="en-US" sz="1800" dirty="0" smtClean="0">
                <a:latin typeface="Calibri" pitchFamily="34" charset="0"/>
              </a:rPr>
              <a:t>for a foreground job to </a:t>
            </a:r>
          </a:p>
          <a:p>
            <a:r>
              <a:rPr lang="en-US" sz="1800" dirty="0" smtClean="0">
                <a:latin typeface="Calibri" pitchFamily="34" charset="0"/>
              </a:rPr>
              <a:t>terminate. </a:t>
            </a:r>
          </a:p>
        </p:txBody>
      </p:sp>
    </p:spTree>
    <p:extLst>
      <p:ext uri="{BB962C8B-B14F-4D97-AF65-F5344CB8AC3E}">
        <p14:creationId xmlns:p14="http://schemas.microsoft.com/office/powerpoint/2010/main" val="1044751064"/>
      </p:ext>
    </p:extLst>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Explicitly Waiting for Signals</a:t>
            </a:r>
            <a:endParaRPr lang="en-US" dirty="0"/>
          </a:p>
        </p:txBody>
      </p:sp>
      <p:sp>
        <p:nvSpPr>
          <p:cNvPr id="5" name="Rectangle 4"/>
          <p:cNvSpPr>
            <a:spLocks noChangeArrowheads="1"/>
          </p:cNvSpPr>
          <p:nvPr/>
        </p:nvSpPr>
        <p:spPr bwMode="auto">
          <a:xfrm>
            <a:off x="571500" y="2570202"/>
            <a:ext cx="3314700" cy="584776"/>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smtClean="0">
                <a:solidFill>
                  <a:srgbClr val="C200FF"/>
                </a:solidFill>
                <a:latin typeface="Courier New"/>
                <a:cs typeface="Courier New"/>
              </a:rPr>
              <a:t>while</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Race! */</a:t>
            </a:r>
            <a:endParaRPr lang="en-US" sz="1600" dirty="0">
              <a:solidFill>
                <a:srgbClr val="000000"/>
              </a:solidFill>
              <a:latin typeface="Courier New"/>
              <a:cs typeface="Courier New"/>
            </a:endParaRPr>
          </a:p>
          <a:p>
            <a:r>
              <a:rPr lang="en-US" sz="1600" dirty="0" smtClean="0">
                <a:solidFill>
                  <a:srgbClr val="000000"/>
                </a:solidFill>
                <a:latin typeface="Courier New"/>
                <a:cs typeface="Courier New"/>
              </a:rPr>
              <a:t>    pause</a:t>
            </a:r>
            <a:r>
              <a:rPr lang="en-US" sz="1600" dirty="0">
                <a:solidFill>
                  <a:srgbClr val="000000"/>
                </a:solidFill>
                <a:latin typeface="Courier New"/>
                <a:cs typeface="Courier New"/>
              </a:rPr>
              <a:t>();</a:t>
            </a:r>
            <a:endParaRPr lang="ro-RO" sz="1600" dirty="0">
              <a:solidFill>
                <a:srgbClr val="000000"/>
              </a:solidFill>
              <a:latin typeface="Courier New"/>
              <a:cs typeface="Courier New"/>
            </a:endParaRPr>
          </a:p>
        </p:txBody>
      </p:sp>
      <p:sp>
        <p:nvSpPr>
          <p:cNvPr id="4" name="Content Placeholder 2"/>
          <p:cNvSpPr>
            <a:spLocks noGrp="1"/>
          </p:cNvSpPr>
          <p:nvPr>
            <p:ph idx="1"/>
          </p:nvPr>
        </p:nvSpPr>
        <p:spPr>
          <a:xfrm>
            <a:off x="396875" y="1408212"/>
            <a:ext cx="7896225" cy="496788"/>
          </a:xfrm>
        </p:spPr>
        <p:txBody>
          <a:bodyPr/>
          <a:lstStyle/>
          <a:p>
            <a:r>
              <a:rPr lang="en-US" dirty="0" smtClean="0"/>
              <a:t>Program is correct, but very wasteful</a:t>
            </a:r>
          </a:p>
          <a:p>
            <a:r>
              <a:rPr lang="en-US" dirty="0" smtClean="0"/>
              <a:t>Other options:</a:t>
            </a:r>
          </a:p>
          <a:p>
            <a:endParaRPr lang="en-US" dirty="0"/>
          </a:p>
          <a:p>
            <a:endParaRPr lang="en-US" dirty="0" smtClean="0"/>
          </a:p>
          <a:p>
            <a:endParaRPr lang="en-US" dirty="0" smtClean="0"/>
          </a:p>
          <a:p>
            <a:r>
              <a:rPr lang="en-US" dirty="0" smtClean="0"/>
              <a:t>Solution: </a:t>
            </a:r>
            <a:r>
              <a:rPr lang="en-US" dirty="0" err="1" smtClean="0">
                <a:latin typeface="Courier New"/>
                <a:cs typeface="Courier New"/>
              </a:rPr>
              <a:t>sigsuspend</a:t>
            </a:r>
            <a:endParaRPr lang="en-US" dirty="0" smtClean="0">
              <a:latin typeface="Courier New"/>
              <a:cs typeface="Courier New"/>
            </a:endParaRPr>
          </a:p>
        </p:txBody>
      </p:sp>
      <p:sp>
        <p:nvSpPr>
          <p:cNvPr id="6" name="Rectangle 5"/>
          <p:cNvSpPr>
            <a:spLocks noChangeArrowheads="1"/>
          </p:cNvSpPr>
          <p:nvPr/>
        </p:nvSpPr>
        <p:spPr bwMode="auto">
          <a:xfrm>
            <a:off x="4267200" y="2570202"/>
            <a:ext cx="3810000" cy="584776"/>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smtClean="0">
                <a:solidFill>
                  <a:srgbClr val="C200FF"/>
                </a:solidFill>
                <a:latin typeface="Courier New"/>
                <a:cs typeface="Courier New"/>
              </a:rPr>
              <a:t>while</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Too slow! */</a:t>
            </a:r>
            <a:endParaRPr lang="en-US" sz="1600" dirty="0">
              <a:solidFill>
                <a:srgbClr val="000000"/>
              </a:solidFill>
              <a:latin typeface="Courier New"/>
              <a:cs typeface="Courier New"/>
            </a:endParaRPr>
          </a:p>
          <a:p>
            <a:r>
              <a:rPr lang="nl-NL" sz="1600" dirty="0" smtClean="0">
                <a:solidFill>
                  <a:srgbClr val="000000"/>
                </a:solidFill>
                <a:latin typeface="Courier New"/>
                <a:cs typeface="Courier New"/>
              </a:rPr>
              <a:t>    sleep</a:t>
            </a:r>
            <a:r>
              <a:rPr lang="nl-NL" sz="1600" dirty="0">
                <a:solidFill>
                  <a:srgbClr val="000000"/>
                </a:solidFill>
                <a:latin typeface="Courier New"/>
                <a:cs typeface="Courier New"/>
              </a:rPr>
              <a:t>(1);</a:t>
            </a:r>
            <a:endParaRPr lang="ro-RO" sz="1600" dirty="0">
              <a:solidFill>
                <a:srgbClr val="000000"/>
              </a:solidFill>
              <a:latin typeface="Courier New"/>
              <a:cs typeface="Courier New"/>
            </a:endParaRPr>
          </a:p>
        </p:txBody>
      </p:sp>
    </p:spTree>
    <p:extLst>
      <p:ext uri="{BB962C8B-B14F-4D97-AF65-F5344CB8AC3E}">
        <p14:creationId xmlns:p14="http://schemas.microsoft.com/office/powerpoint/2010/main" val="1384810255"/>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Waiting for Signals with </a:t>
            </a:r>
            <a:r>
              <a:rPr lang="en-US" dirty="0" err="1" smtClean="0">
                <a:latin typeface="Courier New"/>
                <a:cs typeface="Courier New"/>
              </a:rPr>
              <a:t>sigsuspend</a:t>
            </a:r>
            <a:endParaRPr lang="en-US" dirty="0">
              <a:latin typeface="Courier New"/>
              <a:cs typeface="Courier New"/>
            </a:endParaRPr>
          </a:p>
        </p:txBody>
      </p:sp>
      <p:sp>
        <p:nvSpPr>
          <p:cNvPr id="5" name="Rectangle 4"/>
          <p:cNvSpPr>
            <a:spLocks noChangeArrowheads="1"/>
          </p:cNvSpPr>
          <p:nvPr/>
        </p:nvSpPr>
        <p:spPr bwMode="auto">
          <a:xfrm>
            <a:off x="762000" y="3055203"/>
            <a:ext cx="5410200" cy="830997"/>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smtClean="0">
                <a:solidFill>
                  <a:srgbClr val="000000"/>
                </a:solidFill>
                <a:latin typeface="Courier New"/>
                <a:cs typeface="Courier New"/>
              </a:rPr>
              <a:t>sigprocmask</a:t>
            </a:r>
            <a:r>
              <a:rPr lang="en-US" sz="1600" dirty="0">
                <a:solidFill>
                  <a:srgbClr val="000000"/>
                </a:solidFill>
                <a:latin typeface="Courier New"/>
                <a:cs typeface="Courier New"/>
              </a:rPr>
              <a:t>(SIG_BLOCK, &amp;mask, &amp;</a:t>
            </a:r>
            <a:r>
              <a:rPr lang="en-US" sz="1600" dirty="0" err="1">
                <a:solidFill>
                  <a:srgbClr val="000000"/>
                </a:solidFill>
                <a:latin typeface="Courier New"/>
                <a:cs typeface="Courier New"/>
              </a:rPr>
              <a:t>prev</a:t>
            </a:r>
            <a:r>
              <a:rPr lang="en-US" sz="1600" dirty="0">
                <a:solidFill>
                  <a:srgbClr val="000000"/>
                </a:solidFill>
                <a:latin typeface="Courier New"/>
                <a:cs typeface="Courier New"/>
              </a:rPr>
              <a:t>);</a:t>
            </a:r>
          </a:p>
          <a:p>
            <a:r>
              <a:rPr lang="en-US" sz="1600" dirty="0" smtClean="0">
                <a:solidFill>
                  <a:srgbClr val="000000"/>
                </a:solidFill>
                <a:latin typeface="Courier New"/>
                <a:cs typeface="Courier New"/>
              </a:rPr>
              <a:t>pause</a:t>
            </a:r>
            <a:r>
              <a:rPr lang="en-US" sz="1600" dirty="0">
                <a:solidFill>
                  <a:srgbClr val="000000"/>
                </a:solidFill>
                <a:latin typeface="Courier New"/>
                <a:cs typeface="Courier New"/>
              </a:rPr>
              <a:t>();</a:t>
            </a:r>
          </a:p>
          <a:p>
            <a:r>
              <a:rPr lang="en-US" sz="1600" dirty="0" err="1" smtClean="0">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endParaRPr lang="ro-RO" sz="1600" dirty="0">
              <a:solidFill>
                <a:srgbClr val="000000"/>
              </a:solidFill>
              <a:latin typeface="Courier New"/>
              <a:cs typeface="Courier New"/>
            </a:endParaRPr>
          </a:p>
        </p:txBody>
      </p:sp>
      <p:sp>
        <p:nvSpPr>
          <p:cNvPr id="4" name="Content Placeholder 2"/>
          <p:cNvSpPr>
            <a:spLocks noGrp="1"/>
          </p:cNvSpPr>
          <p:nvPr>
            <p:ph idx="1"/>
          </p:nvPr>
        </p:nvSpPr>
        <p:spPr>
          <a:xfrm>
            <a:off x="396875" y="1408212"/>
            <a:ext cx="7896225" cy="496788"/>
          </a:xfrm>
        </p:spPr>
        <p:txBody>
          <a:bodyPr/>
          <a:lstStyle/>
          <a:p>
            <a:r>
              <a:rPr lang="en-US" dirty="0" err="1" smtClean="0">
                <a:latin typeface="Courier New"/>
                <a:cs typeface="Courier New"/>
              </a:rPr>
              <a:t>int</a:t>
            </a:r>
            <a:r>
              <a:rPr lang="en-US" dirty="0" smtClean="0">
                <a:latin typeface="Courier New"/>
                <a:cs typeface="Courier New"/>
              </a:rPr>
              <a:t> </a:t>
            </a:r>
            <a:r>
              <a:rPr lang="en-US" dirty="0" err="1" smtClean="0">
                <a:latin typeface="Courier New"/>
                <a:cs typeface="Courier New"/>
              </a:rPr>
              <a:t>sigsuspend</a:t>
            </a:r>
            <a:r>
              <a:rPr lang="en-US" dirty="0" smtClean="0">
                <a:latin typeface="Courier New"/>
                <a:cs typeface="Courier New"/>
              </a:rPr>
              <a:t>(</a:t>
            </a:r>
            <a:r>
              <a:rPr lang="en-US" dirty="0" err="1" smtClean="0">
                <a:latin typeface="Courier New"/>
                <a:cs typeface="Courier New"/>
              </a:rPr>
              <a:t>const</a:t>
            </a:r>
            <a:r>
              <a:rPr lang="en-US" dirty="0" smtClean="0">
                <a:latin typeface="Courier New"/>
                <a:cs typeface="Courier New"/>
              </a:rPr>
              <a:t> </a:t>
            </a:r>
            <a:r>
              <a:rPr lang="en-US" dirty="0" err="1" smtClean="0">
                <a:latin typeface="Courier New"/>
                <a:cs typeface="Courier New"/>
              </a:rPr>
              <a:t>sigset_t</a:t>
            </a:r>
            <a:r>
              <a:rPr lang="en-US" dirty="0" smtClean="0">
                <a:latin typeface="Courier New"/>
                <a:cs typeface="Courier New"/>
              </a:rPr>
              <a:t> *mask)</a:t>
            </a:r>
          </a:p>
          <a:p>
            <a:endParaRPr lang="en-US" dirty="0" smtClean="0"/>
          </a:p>
          <a:p>
            <a:r>
              <a:rPr lang="en-US" dirty="0" smtClean="0"/>
              <a:t>Equivalent to atomic (uninterruptable) version of:</a:t>
            </a:r>
          </a:p>
        </p:txBody>
      </p:sp>
    </p:spTree>
    <p:extLst>
      <p:ext uri="{BB962C8B-B14F-4D97-AF65-F5344CB8AC3E}">
        <p14:creationId xmlns:p14="http://schemas.microsoft.com/office/powerpoint/2010/main" val="1870038060"/>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Waiting for Signals with </a:t>
            </a:r>
            <a:r>
              <a:rPr lang="en-US" dirty="0" err="1" smtClean="0">
                <a:latin typeface="Courier New"/>
                <a:cs typeface="Courier New"/>
              </a:rPr>
              <a:t>sigsuspend</a:t>
            </a:r>
            <a:endParaRPr lang="en-US" dirty="0">
              <a:latin typeface="Courier New"/>
              <a:cs typeface="Courier New"/>
            </a:endParaRPr>
          </a:p>
        </p:txBody>
      </p:sp>
      <p:sp>
        <p:nvSpPr>
          <p:cNvPr id="5" name="Rectangle 4"/>
          <p:cNvSpPr>
            <a:spLocks noChangeArrowheads="1"/>
          </p:cNvSpPr>
          <p:nvPr/>
        </p:nvSpPr>
        <p:spPr bwMode="auto">
          <a:xfrm>
            <a:off x="228600" y="1149489"/>
            <a:ext cx="8534400" cy="5632311"/>
          </a:xfrm>
          <a:prstGeom prst="rect">
            <a:avLst/>
          </a:prstGeom>
          <a:solidFill>
            <a:srgbClr val="F6F5BD"/>
          </a:solidFill>
          <a:ln w="3175">
            <a:solidFill>
              <a:schemeClr val="tx1"/>
            </a:solidFill>
            <a:miter lim="800000"/>
            <a:headEnd/>
            <a:tailEnd/>
          </a:ln>
          <a:effectLst/>
        </p:spPr>
        <p:txBody>
          <a:bodyPr wrap="square">
            <a:spAutoFit/>
          </a:bodyPr>
          <a:lstStyle/>
          <a:p>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smtClean="0">
                <a:solidFill>
                  <a:srgbClr val="000000"/>
                </a:solidFill>
                <a:latin typeface="Courier New"/>
                <a:cs typeface="Courier New"/>
              </a:rPr>
              <a:t>)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sigset_t</a:t>
            </a:r>
            <a:r>
              <a:rPr lang="en-US" sz="1500" dirty="0">
                <a:solidFill>
                  <a:srgbClr val="000000"/>
                </a:solidFill>
                <a:latin typeface="Courier New"/>
                <a:cs typeface="Courier New"/>
              </a:rPr>
              <a:t> </a:t>
            </a:r>
            <a:r>
              <a:rPr lang="en-US" sz="1500" dirty="0">
                <a:solidFill>
                  <a:srgbClr val="C1651C"/>
                </a:solidFill>
                <a:latin typeface="Courier New"/>
                <a:cs typeface="Courier New"/>
              </a:rPr>
              <a:t>mask</a:t>
            </a:r>
            <a:r>
              <a:rPr lang="en-US" sz="1500" dirty="0">
                <a:solidFill>
                  <a:srgbClr val="000000"/>
                </a:solidFill>
                <a:latin typeface="Courier New"/>
                <a:cs typeface="Courier New"/>
              </a:rPr>
              <a:t>, </a:t>
            </a:r>
            <a:r>
              <a:rPr lang="en-US" sz="1500" dirty="0" err="1">
                <a:solidFill>
                  <a:srgbClr val="C1651C"/>
                </a:solidFill>
                <a:latin typeface="Courier New"/>
                <a:cs typeface="Courier New"/>
              </a:rPr>
              <a:t>prev</a:t>
            </a:r>
            <a:r>
              <a:rPr lang="en-US" sz="1500" dirty="0" smtClean="0">
                <a:solidFill>
                  <a:srgbClr val="000000"/>
                </a:solidFill>
                <a:latin typeface="Courier New"/>
                <a:cs typeface="Courier New"/>
              </a:rPr>
              <a:t>;</a:t>
            </a:r>
          </a:p>
          <a:p>
            <a:r>
              <a:rPr lang="en-US" sz="1500" dirty="0" smtClean="0">
                <a:solidFill>
                  <a:srgbClr val="000000"/>
                </a:solidFill>
                <a:latin typeface="Courier New"/>
                <a:cs typeface="Courier New"/>
              </a:rPr>
              <a:t>    </a:t>
            </a:r>
            <a:r>
              <a:rPr lang="en-US" sz="1500" dirty="0" err="1" smtClean="0">
                <a:solidFill>
                  <a:srgbClr val="000000"/>
                </a:solidFill>
                <a:latin typeface="Courier New"/>
                <a:cs typeface="Courier New"/>
              </a:rPr>
              <a:t>int</a:t>
            </a:r>
            <a:r>
              <a:rPr lang="en-US" sz="1500" dirty="0" smtClean="0">
                <a:solidFill>
                  <a:srgbClr val="000000"/>
                </a:solidFill>
                <a:latin typeface="Courier New"/>
                <a:cs typeface="Courier New"/>
              </a:rPr>
              <a:t> </a:t>
            </a:r>
            <a:r>
              <a:rPr lang="en-US" sz="1500" dirty="0">
                <a:solidFill>
                  <a:srgbClr val="000000"/>
                </a:solidFill>
                <a:latin typeface="Courier New"/>
                <a:cs typeface="Courier New"/>
              </a:rPr>
              <a:t>n = N; /* N = 10 *</a:t>
            </a:r>
            <a:r>
              <a:rPr lang="en-US" sz="1500" dirty="0" smtClean="0">
                <a:solidFill>
                  <a:srgbClr val="000000"/>
                </a:solidFill>
                <a:latin typeface="Courier New"/>
                <a:cs typeface="Courier New"/>
              </a:rPr>
              <a:t>/</a:t>
            </a:r>
            <a:endParaRPr lang="en-US" sz="1500" dirty="0">
              <a:solidFill>
                <a:srgbClr val="000000"/>
              </a:solidFill>
              <a:latin typeface="Courier New"/>
              <a:cs typeface="Courier New"/>
            </a:endParaRPr>
          </a:p>
          <a:p>
            <a:r>
              <a:rPr lang="en-US" sz="1500" dirty="0" smtClean="0">
                <a:solidFill>
                  <a:srgbClr val="000000"/>
                </a:solidFill>
                <a:latin typeface="Courier New"/>
                <a:cs typeface="Courier New"/>
              </a:rPr>
              <a:t>    Signal</a:t>
            </a:r>
            <a:r>
              <a:rPr lang="en-US" sz="1500" dirty="0">
                <a:solidFill>
                  <a:srgbClr val="000000"/>
                </a:solidFill>
                <a:latin typeface="Courier New"/>
                <a:cs typeface="Courier New"/>
              </a:rPr>
              <a:t>(SIGCHLD, </a:t>
            </a:r>
            <a:r>
              <a:rPr lang="en-US" sz="1500" dirty="0" err="1">
                <a:solidFill>
                  <a:srgbClr val="000000"/>
                </a:solidFill>
                <a:latin typeface="Courier New"/>
                <a:cs typeface="Courier New"/>
              </a:rPr>
              <a:t>sigchld_handler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Signal(SIGINT, </a:t>
            </a:r>
            <a:r>
              <a:rPr lang="en-US" sz="1500" dirty="0" err="1">
                <a:solidFill>
                  <a:srgbClr val="000000"/>
                </a:solidFill>
                <a:latin typeface="Courier New"/>
                <a:cs typeface="Courier New"/>
              </a:rPr>
              <a:t>sigint_handler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Sigemptyset</a:t>
            </a:r>
            <a:r>
              <a:rPr lang="en-US" sz="1500" dirty="0">
                <a:solidFill>
                  <a:srgbClr val="000000"/>
                </a:solidFill>
                <a:latin typeface="Courier New"/>
                <a:cs typeface="Courier New"/>
              </a:rPr>
              <a:t>(&amp;mask);</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Sigaddset</a:t>
            </a:r>
            <a:r>
              <a:rPr lang="en-US" sz="1500" dirty="0">
                <a:solidFill>
                  <a:srgbClr val="000000"/>
                </a:solidFill>
                <a:latin typeface="Courier New"/>
                <a:cs typeface="Courier New"/>
              </a:rPr>
              <a:t>(&amp;mask, SIGCHLD)</a:t>
            </a:r>
            <a:r>
              <a:rPr lang="en-US" sz="1500" dirty="0" smtClean="0">
                <a:solidFill>
                  <a:srgbClr val="000000"/>
                </a:solidFill>
                <a:latin typeface="Courier New"/>
                <a:cs typeface="Courier New"/>
              </a:rPr>
              <a:t>;</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a:t>
            </a:r>
            <a:r>
              <a:rPr lang="en-US" sz="1500" dirty="0" smtClean="0">
                <a:solidFill>
                  <a:srgbClr val="000000"/>
                </a:solidFill>
                <a:latin typeface="Courier New"/>
                <a:cs typeface="Courier New"/>
              </a:rPr>
              <a:t>(n--) </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&amp;mask, &amp;</a:t>
            </a:r>
            <a:r>
              <a:rPr lang="en-US" sz="1500" dirty="0" err="1">
                <a:solidFill>
                  <a:srgbClr val="000000"/>
                </a:solidFill>
                <a:latin typeface="Courier New"/>
                <a:cs typeface="Courier New"/>
              </a:rPr>
              <a:t>prev</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exit(0)</a:t>
            </a:r>
            <a:r>
              <a:rPr lang="en-US" sz="1500" dirty="0" smtClean="0">
                <a:solidFill>
                  <a:srgbClr val="000000"/>
                </a:solidFill>
                <a:latin typeface="Courier New"/>
                <a:cs typeface="Courier New"/>
              </a:rPr>
              <a:t>;</a:t>
            </a:r>
            <a:endParaRPr lang="en-US" sz="1500" dirty="0">
              <a:solidFill>
                <a:srgbClr val="000000"/>
              </a:solidFill>
              <a:latin typeface="Courier New"/>
              <a:cs typeface="Courier New"/>
            </a:endParaRPr>
          </a:p>
          <a:p>
            <a:r>
              <a:rPr lang="en-US" sz="1500" dirty="0" smtClean="0">
                <a:solidFill>
                  <a:srgbClr val="000000"/>
                </a:solidFill>
                <a:latin typeface="Courier New"/>
                <a:cs typeface="Courier New"/>
              </a:rPr>
              <a:t> </a:t>
            </a:r>
          </a:p>
          <a:p>
            <a:r>
              <a:rPr lang="en-US" sz="1500" dirty="0" smtClean="0">
                <a:solidFill>
                  <a:srgbClr val="000000"/>
                </a:solidFill>
                <a:latin typeface="Courier New"/>
                <a:cs typeface="Courier New"/>
              </a:rPr>
              <a:t>       </a:t>
            </a:r>
            <a:r>
              <a:rPr lang="en-US" sz="1500" dirty="0">
                <a:solidFill>
                  <a:srgbClr val="CB2418"/>
                </a:solidFill>
                <a:latin typeface="Courier New"/>
                <a:cs typeface="Courier New"/>
              </a:rPr>
              <a:t>/* Wait for SIGCHLD to be received */</a:t>
            </a:r>
            <a:endParaRPr lang="en-US" sz="1500" dirty="0">
              <a:solidFill>
                <a:srgbClr val="000000"/>
              </a:solidFill>
              <a:latin typeface="Courier New"/>
              <a:cs typeface="Courier New"/>
            </a:endParaRP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pid</a:t>
            </a:r>
            <a:r>
              <a:rPr lang="fi-FI" sz="1500" dirty="0">
                <a:solidFill>
                  <a:srgbClr val="000000"/>
                </a:solidFill>
                <a:latin typeface="Courier New"/>
                <a:cs typeface="Courier New"/>
              </a:rPr>
              <a:t> = 0;</a:t>
            </a: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a:t>
            </a:r>
          </a:p>
          <a:p>
            <a:r>
              <a:rPr lang="de-DE" sz="1500" dirty="0">
                <a:solidFill>
                  <a:srgbClr val="000000"/>
                </a:solidFill>
                <a:latin typeface="Courier New"/>
                <a:cs typeface="Courier New"/>
              </a:rPr>
              <a:t>            </a:t>
            </a:r>
            <a:r>
              <a:rPr lang="de-DE" sz="1500" dirty="0" err="1">
                <a:solidFill>
                  <a:srgbClr val="000000"/>
                </a:solidFill>
                <a:latin typeface="Courier New"/>
                <a:cs typeface="Courier New"/>
              </a:rPr>
              <a:t>S</a:t>
            </a:r>
            <a:r>
              <a:rPr lang="de-DE" sz="1500" dirty="0" err="1" smtClean="0">
                <a:solidFill>
                  <a:srgbClr val="000000"/>
                </a:solidFill>
                <a:latin typeface="Courier New"/>
                <a:cs typeface="Courier New"/>
              </a:rPr>
              <a:t>igsuspend</a:t>
            </a:r>
            <a:r>
              <a:rPr lang="de-DE" sz="1500" dirty="0">
                <a:solidFill>
                  <a:srgbClr val="000000"/>
                </a:solidFill>
                <a:latin typeface="Courier New"/>
                <a:cs typeface="Courier New"/>
              </a:rPr>
              <a:t>(&amp;</a:t>
            </a:r>
            <a:r>
              <a:rPr lang="de-DE" sz="1500" dirty="0" err="1">
                <a:solidFill>
                  <a:srgbClr val="000000"/>
                </a:solidFill>
                <a:latin typeface="Courier New"/>
                <a:cs typeface="Courier New"/>
              </a:rPr>
              <a:t>prev</a:t>
            </a:r>
            <a:r>
              <a:rPr lang="de-DE" sz="1500" dirty="0">
                <a:solidFill>
                  <a:srgbClr val="000000"/>
                </a:solidFill>
                <a:latin typeface="Courier New"/>
                <a:cs typeface="Courier New"/>
              </a:rPr>
              <a:t>)</a:t>
            </a:r>
            <a:r>
              <a:rPr lang="de-DE" sz="1500" dirty="0" smtClean="0">
                <a:solidFill>
                  <a:srgbClr val="000000"/>
                </a:solidFill>
                <a:latin typeface="Courier New"/>
                <a:cs typeface="Courier New"/>
              </a:rPr>
              <a:t>;</a:t>
            </a:r>
          </a:p>
          <a:p>
            <a:r>
              <a:rPr lang="de-DE" sz="1500" dirty="0" smtClean="0">
                <a:solidFill>
                  <a:srgbClr val="000000"/>
                </a:solidFill>
                <a:latin typeface="Courier New"/>
                <a:cs typeface="Courier New"/>
              </a:rPr>
              <a:t>       </a:t>
            </a:r>
            <a:r>
              <a:rPr lang="de-DE" sz="1500" dirty="0">
                <a:solidFill>
                  <a:srgbClr val="CB2418"/>
                </a:solidFill>
                <a:latin typeface="Courier New"/>
                <a:cs typeface="Courier New"/>
              </a:rPr>
              <a:t>/* </a:t>
            </a:r>
            <a:r>
              <a:rPr lang="de-DE" sz="1500" dirty="0" err="1">
                <a:solidFill>
                  <a:srgbClr val="CB2418"/>
                </a:solidFill>
                <a:latin typeface="Courier New"/>
                <a:cs typeface="Courier New"/>
              </a:rPr>
              <a:t>Optionally</a:t>
            </a:r>
            <a:r>
              <a:rPr lang="de-DE" sz="1500" dirty="0">
                <a:solidFill>
                  <a:srgbClr val="CB2418"/>
                </a:solidFill>
                <a:latin typeface="Courier New"/>
                <a:cs typeface="Courier New"/>
              </a:rPr>
              <a:t> </a:t>
            </a:r>
            <a:r>
              <a:rPr lang="de-DE" sz="1500" dirty="0" err="1">
                <a:solidFill>
                  <a:srgbClr val="CB2418"/>
                </a:solidFill>
                <a:latin typeface="Courier New"/>
                <a:cs typeface="Courier New"/>
              </a:rPr>
              <a:t>unblock</a:t>
            </a:r>
            <a:r>
              <a:rPr lang="de-DE" sz="1500" dirty="0">
                <a:solidFill>
                  <a:srgbClr val="CB2418"/>
                </a:solidFill>
                <a:latin typeface="Courier New"/>
                <a:cs typeface="Courier New"/>
              </a:rPr>
              <a:t> SIGCHLD */</a:t>
            </a:r>
            <a:endParaRPr lang="de-DE" sz="1500" dirty="0">
              <a:solidFill>
                <a:srgbClr val="000000"/>
              </a:solidFill>
              <a:latin typeface="Courier New"/>
              <a:cs typeface="Courier New"/>
            </a:endParaRPr>
          </a:p>
          <a:p>
            <a:r>
              <a:rPr lang="de-DE" sz="1500" dirty="0">
                <a:solidFill>
                  <a:srgbClr val="000000"/>
                </a:solidFill>
                <a:latin typeface="Courier New"/>
                <a:cs typeface="Courier New"/>
              </a:rPr>
              <a:t>        </a:t>
            </a:r>
            <a:r>
              <a:rPr lang="de-DE" sz="1500" dirty="0" err="1">
                <a:solidFill>
                  <a:srgbClr val="000000"/>
                </a:solidFill>
                <a:latin typeface="Courier New"/>
                <a:cs typeface="Courier New"/>
              </a:rPr>
              <a:t>Sigprocmask</a:t>
            </a:r>
            <a:r>
              <a:rPr lang="de-DE" sz="1500" dirty="0">
                <a:solidFill>
                  <a:srgbClr val="000000"/>
                </a:solidFill>
                <a:latin typeface="Courier New"/>
                <a:cs typeface="Courier New"/>
              </a:rPr>
              <a:t>(SIG_SETMASK, &amp;</a:t>
            </a:r>
            <a:r>
              <a:rPr lang="de-DE" sz="1500" dirty="0" err="1">
                <a:solidFill>
                  <a:srgbClr val="000000"/>
                </a:solidFill>
                <a:latin typeface="Courier New"/>
                <a:cs typeface="Courier New"/>
              </a:rPr>
              <a:t>prev</a:t>
            </a:r>
            <a:r>
              <a:rPr lang="de-DE" sz="1500" dirty="0">
                <a:solidFill>
                  <a:srgbClr val="000000"/>
                </a:solidFill>
                <a:latin typeface="Courier New"/>
                <a:cs typeface="Courier New"/>
              </a:rPr>
              <a:t>, </a:t>
            </a:r>
            <a:r>
              <a:rPr lang="de-DE" sz="1500" dirty="0">
                <a:solidFill>
                  <a:srgbClr val="2C9290"/>
                </a:solidFill>
                <a:latin typeface="Courier New"/>
                <a:cs typeface="Courier New"/>
              </a:rPr>
              <a:t>NULL</a:t>
            </a:r>
            <a:r>
              <a:rPr lang="de-DE" sz="1500" dirty="0">
                <a:solidFill>
                  <a:srgbClr val="000000"/>
                </a:solidFill>
                <a:latin typeface="Courier New"/>
                <a:cs typeface="Courier New"/>
              </a:rPr>
              <a:t>);</a:t>
            </a:r>
          </a:p>
          <a:p>
            <a:r>
              <a:rPr lang="de-DE" sz="1500" dirty="0">
                <a:solidFill>
                  <a:srgbClr val="000000"/>
                </a:solidFill>
                <a:latin typeface="Courier New"/>
                <a:cs typeface="Courier New"/>
              </a:rPr>
              <a:t>	</a:t>
            </a:r>
            <a:r>
              <a:rPr lang="de-DE" sz="1500" dirty="0">
                <a:solidFill>
                  <a:srgbClr val="CB2418"/>
                </a:solidFill>
                <a:latin typeface="Courier New"/>
                <a:cs typeface="Courier New"/>
              </a:rPr>
              <a:t>/* Do </a:t>
            </a:r>
            <a:r>
              <a:rPr lang="de-DE" sz="1500" dirty="0" err="1">
                <a:solidFill>
                  <a:srgbClr val="CB2418"/>
                </a:solidFill>
                <a:latin typeface="Courier New"/>
                <a:cs typeface="Courier New"/>
              </a:rPr>
              <a:t>some</a:t>
            </a:r>
            <a:r>
              <a:rPr lang="de-DE" sz="1500" dirty="0">
                <a:solidFill>
                  <a:srgbClr val="CB2418"/>
                </a:solidFill>
                <a:latin typeface="Courier New"/>
                <a:cs typeface="Courier New"/>
              </a:rPr>
              <a:t> </a:t>
            </a:r>
            <a:r>
              <a:rPr lang="de-DE" sz="1500" dirty="0" err="1">
                <a:solidFill>
                  <a:srgbClr val="CB2418"/>
                </a:solidFill>
                <a:latin typeface="Courier New"/>
                <a:cs typeface="Courier New"/>
              </a:rPr>
              <a:t>work</a:t>
            </a:r>
            <a:r>
              <a:rPr lang="de-DE" sz="1500" dirty="0">
                <a:solidFill>
                  <a:srgbClr val="CB2418"/>
                </a:solidFill>
                <a:latin typeface="Courier New"/>
                <a:cs typeface="Courier New"/>
              </a:rPr>
              <a:t> after </a:t>
            </a:r>
            <a:r>
              <a:rPr lang="de-DE" sz="1500" dirty="0" err="1">
                <a:solidFill>
                  <a:srgbClr val="CB2418"/>
                </a:solidFill>
                <a:latin typeface="Courier New"/>
                <a:cs typeface="Courier New"/>
              </a:rPr>
              <a:t>receiving</a:t>
            </a:r>
            <a:r>
              <a:rPr lang="de-DE" sz="1500" dirty="0">
                <a:solidFill>
                  <a:srgbClr val="CB2418"/>
                </a:solidFill>
                <a:latin typeface="Courier New"/>
                <a:cs typeface="Courier New"/>
              </a:rPr>
              <a:t> SIGCHLD */</a:t>
            </a:r>
            <a:endParaRPr lang="de-DE" sz="1500" dirty="0">
              <a:solidFill>
                <a:srgbClr val="000000"/>
              </a:solidFill>
              <a:latin typeface="Courier New"/>
              <a:cs typeface="Courier New"/>
            </a:endParaRP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a:t>
            </a:r>
            <a:r>
              <a:rPr lang="ro-RO" sz="1500" dirty="0">
                <a:solidFill>
                  <a:srgbClr val="000000"/>
                </a:solidFill>
                <a:latin typeface="Courier New"/>
                <a:cs typeface="Courier New"/>
              </a:rPr>
              <a:t>);</a:t>
            </a:r>
          </a:p>
          <a:p>
            <a:r>
              <a:rPr lang="ro-RO" sz="1500" dirty="0">
                <a:solidFill>
                  <a:srgbClr val="000000"/>
                </a:solidFill>
                <a:latin typeface="Courier New"/>
                <a:cs typeface="Courier New"/>
              </a:rPr>
              <a:t>    </a:t>
            </a:r>
            <a:r>
              <a:rPr lang="ro-RO" sz="1500" dirty="0" smtClean="0">
                <a:solidFill>
                  <a:srgbClr val="000000"/>
                </a:solidFill>
                <a:latin typeface="Courier New"/>
                <a:cs typeface="Courier New"/>
              </a:rPr>
              <a:t>}</a:t>
            </a:r>
          </a:p>
          <a:p>
            <a:r>
              <a:rPr lang="ro-RO" sz="1500" dirty="0">
                <a:solidFill>
                  <a:srgbClr val="000000"/>
                </a:solidFill>
                <a:latin typeface="Courier New"/>
                <a:cs typeface="Courier New"/>
              </a:rPr>
              <a:t> </a:t>
            </a:r>
            <a:r>
              <a:rPr lang="ro-RO" sz="1500" dirty="0" smtClean="0">
                <a:solidFill>
                  <a:srgbClr val="000000"/>
                </a:solidFill>
                <a:latin typeface="Courier New"/>
                <a:cs typeface="Courier New"/>
              </a:rPr>
              <a:t>   </a:t>
            </a:r>
            <a:r>
              <a:rPr lang="ro-RO" sz="1500" dirty="0">
                <a:solidFill>
                  <a:srgbClr val="000000"/>
                </a:solidFill>
                <a:latin typeface="Courier New"/>
                <a:cs typeface="Courier New"/>
              </a:rPr>
              <a:t>printf(</a:t>
            </a:r>
            <a:r>
              <a:rPr lang="ro-RO" sz="1500" dirty="0">
                <a:solidFill>
                  <a:srgbClr val="9D206F"/>
                </a:solidFill>
                <a:latin typeface="Courier New"/>
                <a:cs typeface="Courier New"/>
              </a:rPr>
              <a:t>"\n"</a:t>
            </a:r>
            <a:r>
              <a:rPr lang="ro-RO" sz="1500" dirty="0">
                <a:solidFill>
                  <a:srgbClr val="000000"/>
                </a:solidFill>
                <a:latin typeface="Courier New"/>
                <a:cs typeface="Courier New"/>
              </a:rPr>
              <a:t>);</a:t>
            </a:r>
          </a:p>
          <a:p>
            <a:r>
              <a:rPr lang="ro-RO" sz="1500" dirty="0">
                <a:solidFill>
                  <a:srgbClr val="000000"/>
                </a:solidFill>
                <a:latin typeface="Courier New"/>
                <a:cs typeface="Courier New"/>
              </a:rPr>
              <a:t>    exit(0);</a:t>
            </a:r>
          </a:p>
          <a:p>
            <a:r>
              <a:rPr lang="ro-RO" sz="1500" dirty="0">
                <a:solidFill>
                  <a:srgbClr val="000000"/>
                </a:solidFill>
                <a:latin typeface="Courier New"/>
                <a:cs typeface="Courier New"/>
              </a:rPr>
              <a:t>}</a:t>
            </a:r>
          </a:p>
        </p:txBody>
      </p:sp>
      <p:sp>
        <p:nvSpPr>
          <p:cNvPr id="4" name="TextBox 3"/>
          <p:cNvSpPr txBox="1"/>
          <p:nvPr/>
        </p:nvSpPr>
        <p:spPr>
          <a:xfrm>
            <a:off x="7366013" y="6400800"/>
            <a:ext cx="1396987" cy="369332"/>
          </a:xfrm>
          <a:prstGeom prst="rect">
            <a:avLst/>
          </a:prstGeom>
          <a:noFill/>
        </p:spPr>
        <p:txBody>
          <a:bodyPr wrap="none" rtlCol="0">
            <a:spAutoFit/>
          </a:bodyPr>
          <a:lstStyle/>
          <a:p>
            <a:r>
              <a:rPr lang="en-US" sz="1800" dirty="0" err="1" smtClean="0">
                <a:solidFill>
                  <a:srgbClr val="7F7F7F"/>
                </a:solidFill>
                <a:latin typeface="Calibri" pitchFamily="34" charset="0"/>
              </a:rPr>
              <a:t>sigsuspend.c</a:t>
            </a:r>
            <a:endParaRPr lang="en-US" sz="1800" dirty="0" smtClean="0">
              <a:solidFill>
                <a:srgbClr val="7F7F7F"/>
              </a:solidFill>
              <a:latin typeface="Calibri" pitchFamily="34" charset="0"/>
            </a:endParaRPr>
          </a:p>
        </p:txBody>
      </p:sp>
    </p:spTree>
    <p:extLst>
      <p:ext uri="{BB962C8B-B14F-4D97-AF65-F5344CB8AC3E}">
        <p14:creationId xmlns:p14="http://schemas.microsoft.com/office/powerpoint/2010/main" val="3809120562"/>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a:solidFill>
                  <a:schemeClr val="bg2">
                    <a:lumMod val="60000"/>
                    <a:lumOff val="40000"/>
                  </a:schemeClr>
                </a:solidFill>
              </a:rPr>
              <a:t>Cache </a:t>
            </a:r>
            <a:r>
              <a:rPr lang="en-US" sz="2800" dirty="0" smtClean="0">
                <a:solidFill>
                  <a:schemeClr val="bg2">
                    <a:lumMod val="60000"/>
                    <a:lumOff val="40000"/>
                  </a:schemeClr>
                </a:solidFill>
              </a:rPr>
              <a:t>Lab</a:t>
            </a:r>
          </a:p>
          <a:p>
            <a:r>
              <a:rPr lang="en-US" sz="2800" dirty="0" smtClean="0">
                <a:solidFill>
                  <a:srgbClr val="000000"/>
                </a:solidFill>
              </a:rPr>
              <a:t>Exceptional Control Flow</a:t>
            </a:r>
            <a:endParaRPr lang="en-US" dirty="0" smtClean="0">
              <a:solidFill>
                <a:srgbClr val="000000"/>
              </a:solidFill>
            </a:endParaRPr>
          </a:p>
          <a:p>
            <a:pPr lvl="1"/>
            <a:r>
              <a:rPr lang="en-US" dirty="0" err="1" smtClean="0">
                <a:solidFill>
                  <a:srgbClr val="B3B3B3"/>
                </a:solidFill>
              </a:rPr>
              <a:t>execve</a:t>
            </a:r>
            <a:r>
              <a:rPr lang="en-US" dirty="0" smtClean="0">
                <a:solidFill>
                  <a:srgbClr val="B3B3B3"/>
                </a:solidFill>
              </a:rPr>
              <a:t> (from Lecture 3)</a:t>
            </a:r>
          </a:p>
          <a:p>
            <a:pPr lvl="1"/>
            <a:r>
              <a:rPr lang="en-US" dirty="0" smtClean="0">
                <a:solidFill>
                  <a:schemeClr val="bg2">
                    <a:lumMod val="60000"/>
                    <a:lumOff val="40000"/>
                  </a:schemeClr>
                </a:solidFill>
              </a:rPr>
              <a:t>Shells</a:t>
            </a:r>
          </a:p>
          <a:p>
            <a:pPr lvl="1"/>
            <a:r>
              <a:rPr lang="en-US" dirty="0" smtClean="0">
                <a:solidFill>
                  <a:schemeClr val="bg2">
                    <a:lumMod val="60000"/>
                    <a:lumOff val="40000"/>
                  </a:schemeClr>
                </a:solidFill>
              </a:rPr>
              <a:t>Signals</a:t>
            </a:r>
          </a:p>
          <a:p>
            <a:pPr lvl="1"/>
            <a:r>
              <a:rPr lang="en-US" dirty="0" smtClean="0"/>
              <a:t>Non-local </a:t>
            </a:r>
            <a:r>
              <a:rPr lang="en-US" dirty="0" smtClean="0"/>
              <a:t>Jumps</a:t>
            </a:r>
          </a:p>
          <a:p>
            <a:pPr lvl="1"/>
            <a:endParaRPr lang="en-US" dirty="0" smtClean="0">
              <a:solidFill>
                <a:schemeClr val="bg2">
                  <a:lumMod val="60000"/>
                  <a:lumOff val="40000"/>
                </a:schemeClr>
              </a:solidFill>
            </a:endParaRP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4615866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a:xfrm>
            <a:off x="457200" y="381000"/>
            <a:ext cx="8534400" cy="914400"/>
          </a:xfrm>
        </p:spPr>
        <p:txBody>
          <a:bodyPr/>
          <a:lstStyle/>
          <a:p>
            <a:r>
              <a:rPr lang="en-US"/>
              <a:t>Nonlocal Jumps: </a:t>
            </a:r>
            <a:r>
              <a:rPr lang="en-US">
                <a:latin typeface="Courier New" pitchFamily="49" charset="0"/>
              </a:rPr>
              <a:t>setjmp/longjmp</a:t>
            </a:r>
          </a:p>
        </p:txBody>
      </p:sp>
      <p:sp>
        <p:nvSpPr>
          <p:cNvPr id="529411" name="Rectangle 3"/>
          <p:cNvSpPr>
            <a:spLocks noGrp="1" noChangeArrowheads="1"/>
          </p:cNvSpPr>
          <p:nvPr>
            <p:ph type="body" idx="1"/>
          </p:nvPr>
        </p:nvSpPr>
        <p:spPr>
          <a:xfrm>
            <a:off x="455613" y="1444625"/>
            <a:ext cx="8307387" cy="4498975"/>
          </a:xfrm>
        </p:spPr>
        <p:txBody>
          <a:bodyPr/>
          <a:lstStyle/>
          <a:p>
            <a:pPr>
              <a:lnSpc>
                <a:spcPct val="85000"/>
              </a:lnSpc>
            </a:pPr>
            <a:r>
              <a:rPr lang="en-US" dirty="0"/>
              <a:t>Powerful (but dangerous) user-level mechanism for transferring control to an arbitrary location</a:t>
            </a:r>
          </a:p>
          <a:p>
            <a:pPr lvl="1">
              <a:lnSpc>
                <a:spcPct val="90000"/>
              </a:lnSpc>
            </a:pPr>
            <a:r>
              <a:rPr lang="en-US" dirty="0" smtClean="0"/>
              <a:t>Controlled </a:t>
            </a:r>
            <a:r>
              <a:rPr lang="en-US" dirty="0"/>
              <a:t>way to break the procedure call / return discipline</a:t>
            </a:r>
          </a:p>
          <a:p>
            <a:pPr lvl="1">
              <a:lnSpc>
                <a:spcPct val="90000"/>
              </a:lnSpc>
            </a:pPr>
            <a:r>
              <a:rPr lang="en-US" dirty="0"/>
              <a:t>Useful for error recovery and signal handling</a:t>
            </a:r>
          </a:p>
          <a:p>
            <a:pPr>
              <a:lnSpc>
                <a:spcPct val="85000"/>
              </a:lnSpc>
            </a:pPr>
            <a:endParaRPr lang="en-US" sz="2000" dirty="0"/>
          </a:p>
          <a:p>
            <a:pPr>
              <a:lnSpc>
                <a:spcPct val="85000"/>
              </a:lnSpc>
            </a:pPr>
            <a:r>
              <a:rPr lang="en-US" dirty="0" err="1">
                <a:latin typeface="Courier New" pitchFamily="49" charset="0"/>
              </a:rPr>
              <a:t>int</a:t>
            </a:r>
            <a:r>
              <a:rPr lang="en-US" dirty="0">
                <a:latin typeface="Courier New" pitchFamily="49" charset="0"/>
              </a:rPr>
              <a:t> </a:t>
            </a:r>
            <a:r>
              <a:rPr lang="en-US" dirty="0" err="1">
                <a:latin typeface="Courier New" pitchFamily="49" charset="0"/>
              </a:rPr>
              <a:t>setjmp</a:t>
            </a:r>
            <a:r>
              <a:rPr lang="en-US" dirty="0">
                <a:latin typeface="Courier New" pitchFamily="49" charset="0"/>
              </a:rPr>
              <a:t>(</a:t>
            </a:r>
            <a:r>
              <a:rPr lang="en-US" dirty="0" err="1">
                <a:latin typeface="Courier New" pitchFamily="49" charset="0"/>
              </a:rPr>
              <a:t>jmp_buf</a:t>
            </a:r>
            <a:r>
              <a:rPr lang="en-US" dirty="0">
                <a:latin typeface="Courier New" pitchFamily="49" charset="0"/>
              </a:rPr>
              <a:t> j)</a:t>
            </a:r>
          </a:p>
          <a:p>
            <a:pPr lvl="1">
              <a:lnSpc>
                <a:spcPct val="90000"/>
              </a:lnSpc>
            </a:pPr>
            <a:r>
              <a:rPr lang="en-US" dirty="0"/>
              <a:t>Must be called before </a:t>
            </a:r>
            <a:r>
              <a:rPr lang="en-US" dirty="0" err="1"/>
              <a:t>longjmp</a:t>
            </a:r>
            <a:endParaRPr lang="en-US" dirty="0"/>
          </a:p>
          <a:p>
            <a:pPr lvl="1">
              <a:lnSpc>
                <a:spcPct val="90000"/>
              </a:lnSpc>
            </a:pPr>
            <a:r>
              <a:rPr lang="en-US" dirty="0"/>
              <a:t>Identifies a return site for a subsequent </a:t>
            </a:r>
            <a:r>
              <a:rPr lang="en-US" dirty="0" err="1"/>
              <a:t>longjmp</a:t>
            </a:r>
            <a:endParaRPr lang="en-US" dirty="0"/>
          </a:p>
          <a:p>
            <a:pPr lvl="1">
              <a:lnSpc>
                <a:spcPct val="90000"/>
              </a:lnSpc>
            </a:pPr>
            <a:r>
              <a:rPr lang="en-US" dirty="0"/>
              <a:t>Called </a:t>
            </a:r>
            <a:r>
              <a:rPr lang="en-US" b="1" dirty="0">
                <a:solidFill>
                  <a:srgbClr val="FF0000"/>
                </a:solidFill>
              </a:rPr>
              <a:t>once</a:t>
            </a:r>
            <a:r>
              <a:rPr lang="en-US" dirty="0"/>
              <a:t>, returns </a:t>
            </a:r>
            <a:r>
              <a:rPr lang="en-US" b="1" dirty="0">
                <a:solidFill>
                  <a:srgbClr val="FF0000"/>
                </a:solidFill>
              </a:rPr>
              <a:t>one or more </a:t>
            </a:r>
            <a:r>
              <a:rPr lang="en-US" dirty="0"/>
              <a:t>times</a:t>
            </a:r>
          </a:p>
          <a:p>
            <a:pPr>
              <a:lnSpc>
                <a:spcPct val="85000"/>
              </a:lnSpc>
            </a:pPr>
            <a:endParaRPr lang="en-US" dirty="0" smtClean="0"/>
          </a:p>
          <a:p>
            <a:pPr>
              <a:lnSpc>
                <a:spcPct val="85000"/>
              </a:lnSpc>
            </a:pPr>
            <a:r>
              <a:rPr lang="en-US" dirty="0" smtClean="0"/>
              <a:t>Implementation</a:t>
            </a:r>
            <a:r>
              <a:rPr lang="en-US" dirty="0"/>
              <a:t>:</a:t>
            </a:r>
          </a:p>
          <a:p>
            <a:pPr lvl="1">
              <a:lnSpc>
                <a:spcPct val="90000"/>
              </a:lnSpc>
            </a:pPr>
            <a:r>
              <a:rPr lang="en-US" dirty="0"/>
              <a:t>Remember where you are by storing  the current </a:t>
            </a:r>
            <a:r>
              <a:rPr lang="en-US" b="1" i="1" dirty="0">
                <a:solidFill>
                  <a:srgbClr val="990000"/>
                </a:solidFill>
              </a:rPr>
              <a:t>register context</a:t>
            </a:r>
            <a:r>
              <a:rPr lang="en-US" dirty="0"/>
              <a:t>, </a:t>
            </a:r>
            <a:r>
              <a:rPr lang="en-US" b="1" i="1" dirty="0">
                <a:solidFill>
                  <a:srgbClr val="990000"/>
                </a:solidFill>
              </a:rPr>
              <a:t>stack pointer</a:t>
            </a:r>
            <a:r>
              <a:rPr lang="en-US" dirty="0"/>
              <a:t>,  and</a:t>
            </a:r>
            <a:r>
              <a:rPr lang="en-US" b="1" i="1" dirty="0">
                <a:solidFill>
                  <a:srgbClr val="990000"/>
                </a:solidFill>
              </a:rPr>
              <a:t> PC value </a:t>
            </a:r>
            <a:r>
              <a:rPr lang="en-US" dirty="0"/>
              <a:t>in </a:t>
            </a:r>
            <a:r>
              <a:rPr lang="en-US" b="1" dirty="0" err="1">
                <a:latin typeface="Courier New" pitchFamily="49" charset="0"/>
                <a:cs typeface="Courier New" pitchFamily="49" charset="0"/>
              </a:rPr>
              <a:t>jmp_buf</a:t>
            </a:r>
            <a:endParaRPr lang="en-US" b="1" dirty="0">
              <a:latin typeface="Courier New" pitchFamily="49" charset="0"/>
              <a:cs typeface="Courier New" pitchFamily="49" charset="0"/>
            </a:endParaRPr>
          </a:p>
          <a:p>
            <a:pPr lvl="1">
              <a:lnSpc>
                <a:spcPct val="90000"/>
              </a:lnSpc>
            </a:pPr>
            <a:r>
              <a:rPr lang="en-US" dirty="0"/>
              <a:t>Return 0</a:t>
            </a:r>
          </a:p>
        </p:txBody>
      </p:sp>
    </p:spTree>
    <p:extLst>
      <p:ext uri="{BB962C8B-B14F-4D97-AF65-F5344CB8AC3E}">
        <p14:creationId xmlns:p14="http://schemas.microsoft.com/office/powerpoint/2010/main" val="1985837313"/>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a:xfrm>
            <a:off x="381000" y="533400"/>
            <a:ext cx="6642100" cy="573087"/>
          </a:xfrm>
        </p:spPr>
        <p:txBody>
          <a:bodyPr/>
          <a:lstStyle/>
          <a:p>
            <a:r>
              <a:rPr lang="en-US">
                <a:latin typeface="Courier New" pitchFamily="49" charset="0"/>
              </a:rPr>
              <a:t>setjmp/longjmp</a:t>
            </a:r>
            <a:r>
              <a:rPr lang="en-US"/>
              <a:t> (cont)</a:t>
            </a:r>
          </a:p>
        </p:txBody>
      </p:sp>
      <p:sp>
        <p:nvSpPr>
          <p:cNvPr id="530435" name="Rectangle 3"/>
          <p:cNvSpPr>
            <a:spLocks noGrp="1" noChangeArrowheads="1"/>
          </p:cNvSpPr>
          <p:nvPr>
            <p:ph type="body" idx="1"/>
          </p:nvPr>
        </p:nvSpPr>
        <p:spPr>
          <a:xfrm>
            <a:off x="381000" y="1371600"/>
            <a:ext cx="8534400" cy="4425950"/>
          </a:xfrm>
        </p:spPr>
        <p:txBody>
          <a:bodyPr/>
          <a:lstStyle/>
          <a:p>
            <a:r>
              <a:rPr lang="en-US" dirty="0">
                <a:latin typeface="Courier New" pitchFamily="49" charset="0"/>
              </a:rPr>
              <a:t>void </a:t>
            </a:r>
            <a:r>
              <a:rPr lang="en-US" dirty="0" err="1">
                <a:latin typeface="Courier New" pitchFamily="49" charset="0"/>
              </a:rPr>
              <a:t>longjmp</a:t>
            </a:r>
            <a:r>
              <a:rPr lang="en-US" dirty="0">
                <a:latin typeface="Courier New" pitchFamily="49" charset="0"/>
              </a:rPr>
              <a:t>(</a:t>
            </a:r>
            <a:r>
              <a:rPr lang="en-US" dirty="0" err="1">
                <a:latin typeface="Courier New" pitchFamily="49" charset="0"/>
              </a:rPr>
              <a:t>jmp_buf</a:t>
            </a:r>
            <a:r>
              <a:rPr lang="en-US" dirty="0">
                <a:latin typeface="Courier New" pitchFamily="49" charset="0"/>
              </a:rPr>
              <a:t> j, </a:t>
            </a:r>
            <a:r>
              <a:rPr lang="en-US" dirty="0" err="1">
                <a:latin typeface="Courier New" pitchFamily="49" charset="0"/>
              </a:rPr>
              <a:t>int</a:t>
            </a:r>
            <a:r>
              <a:rPr lang="en-US" dirty="0">
                <a:latin typeface="Courier New" pitchFamily="49" charset="0"/>
              </a:rPr>
              <a:t> </a:t>
            </a:r>
            <a:r>
              <a:rPr lang="en-US" dirty="0" err="1">
                <a:latin typeface="Courier New" pitchFamily="49" charset="0"/>
              </a:rPr>
              <a:t>i</a:t>
            </a:r>
            <a:r>
              <a:rPr lang="en-US" dirty="0">
                <a:latin typeface="Courier New" pitchFamily="49" charset="0"/>
              </a:rPr>
              <a:t>)</a:t>
            </a:r>
            <a:endParaRPr lang="en-US" dirty="0"/>
          </a:p>
          <a:p>
            <a:pPr lvl="1"/>
            <a:r>
              <a:rPr lang="en-US" dirty="0"/>
              <a:t>Meaning:</a:t>
            </a:r>
          </a:p>
          <a:p>
            <a:pPr lvl="2"/>
            <a:r>
              <a:rPr lang="en-US" dirty="0"/>
              <a:t>return from the </a:t>
            </a:r>
            <a:r>
              <a:rPr lang="en-US" b="1" dirty="0" err="1">
                <a:latin typeface="Courier New" pitchFamily="49" charset="0"/>
              </a:rPr>
              <a:t>setjmp</a:t>
            </a:r>
            <a:r>
              <a:rPr lang="en-US" dirty="0"/>
              <a:t> remembered by jump buffer </a:t>
            </a:r>
            <a:r>
              <a:rPr lang="en-US" b="1" dirty="0">
                <a:latin typeface="Courier New" pitchFamily="49" charset="0"/>
              </a:rPr>
              <a:t>j</a:t>
            </a:r>
            <a:r>
              <a:rPr lang="en-US" dirty="0"/>
              <a:t> </a:t>
            </a:r>
            <a:r>
              <a:rPr lang="en-US" dirty="0" smtClean="0"/>
              <a:t>again ... </a:t>
            </a:r>
            <a:endParaRPr lang="en-US" dirty="0"/>
          </a:p>
          <a:p>
            <a:pPr lvl="2"/>
            <a:r>
              <a:rPr lang="en-US" dirty="0" smtClean="0"/>
              <a:t>… this </a:t>
            </a:r>
            <a:r>
              <a:rPr lang="en-US" dirty="0"/>
              <a:t>time returning</a:t>
            </a:r>
            <a:r>
              <a:rPr lang="en-US" dirty="0">
                <a:latin typeface="Courier New" pitchFamily="49" charset="0"/>
              </a:rPr>
              <a:t> </a:t>
            </a:r>
            <a:r>
              <a:rPr lang="en-US" b="1" dirty="0" err="1">
                <a:latin typeface="Courier New" pitchFamily="49" charset="0"/>
              </a:rPr>
              <a:t>i</a:t>
            </a:r>
            <a:r>
              <a:rPr lang="en-US" dirty="0"/>
              <a:t> instead of 0</a:t>
            </a:r>
          </a:p>
          <a:p>
            <a:pPr lvl="1"/>
            <a:r>
              <a:rPr lang="en-US" dirty="0"/>
              <a:t>Called after </a:t>
            </a:r>
            <a:r>
              <a:rPr lang="en-US" b="1" dirty="0" err="1">
                <a:latin typeface="Courier New" pitchFamily="49" charset="0"/>
              </a:rPr>
              <a:t>setjmp</a:t>
            </a:r>
            <a:endParaRPr lang="en-US" b="1" dirty="0">
              <a:latin typeface="Courier New" pitchFamily="49" charset="0"/>
            </a:endParaRPr>
          </a:p>
          <a:p>
            <a:pPr lvl="1"/>
            <a:r>
              <a:rPr lang="en-US" dirty="0"/>
              <a:t>Called </a:t>
            </a:r>
            <a:r>
              <a:rPr lang="en-US" b="1" dirty="0">
                <a:solidFill>
                  <a:srgbClr val="FF0000"/>
                </a:solidFill>
              </a:rPr>
              <a:t>once</a:t>
            </a:r>
            <a:r>
              <a:rPr lang="en-US" dirty="0"/>
              <a:t>, but </a:t>
            </a:r>
            <a:r>
              <a:rPr lang="en-US" b="1" dirty="0">
                <a:solidFill>
                  <a:srgbClr val="FF0000"/>
                </a:solidFill>
              </a:rPr>
              <a:t>never</a:t>
            </a:r>
            <a:r>
              <a:rPr lang="en-US" dirty="0"/>
              <a:t> returns</a:t>
            </a:r>
          </a:p>
          <a:p>
            <a:endParaRPr lang="en-US" dirty="0"/>
          </a:p>
          <a:p>
            <a:r>
              <a:rPr lang="en-US" dirty="0" err="1">
                <a:latin typeface="Courier New" pitchFamily="49" charset="0"/>
              </a:rPr>
              <a:t>longjmp</a:t>
            </a:r>
            <a:r>
              <a:rPr lang="en-US" dirty="0"/>
              <a:t> Implementation:</a:t>
            </a:r>
          </a:p>
          <a:p>
            <a:pPr lvl="1"/>
            <a:r>
              <a:rPr lang="en-US" dirty="0"/>
              <a:t>Restore register context </a:t>
            </a:r>
            <a:r>
              <a:rPr lang="en-US" dirty="0" smtClean="0"/>
              <a:t>(stack pointer, base pointer, PC value) from </a:t>
            </a:r>
            <a:r>
              <a:rPr lang="en-US" dirty="0"/>
              <a:t>jump buffer </a:t>
            </a:r>
            <a:r>
              <a:rPr lang="en-US" b="1" dirty="0">
                <a:latin typeface="Courier New" pitchFamily="49" charset="0"/>
              </a:rPr>
              <a:t>j</a:t>
            </a:r>
          </a:p>
          <a:p>
            <a:pPr lvl="1"/>
            <a:r>
              <a:rPr lang="en-US" dirty="0"/>
              <a:t>Set </a:t>
            </a:r>
            <a:r>
              <a:rPr lang="en-US" b="1" dirty="0">
                <a:latin typeface="Courier New" pitchFamily="49" charset="0"/>
              </a:rPr>
              <a:t>%</a:t>
            </a:r>
            <a:r>
              <a:rPr lang="en-US" b="1" dirty="0" err="1">
                <a:latin typeface="Courier New" pitchFamily="49" charset="0"/>
              </a:rPr>
              <a:t>eax</a:t>
            </a:r>
            <a:r>
              <a:rPr lang="en-US" b="1" dirty="0"/>
              <a:t> </a:t>
            </a:r>
            <a:r>
              <a:rPr lang="en-US" dirty="0"/>
              <a:t>(the return value) to </a:t>
            </a:r>
            <a:r>
              <a:rPr lang="en-US" b="1" dirty="0" err="1">
                <a:latin typeface="Courier New" pitchFamily="49" charset="0"/>
              </a:rPr>
              <a:t>i</a:t>
            </a:r>
            <a:endParaRPr lang="en-US" b="1" dirty="0">
              <a:latin typeface="Courier New" pitchFamily="49" charset="0"/>
            </a:endParaRPr>
          </a:p>
          <a:p>
            <a:pPr lvl="1"/>
            <a:r>
              <a:rPr lang="en-US" dirty="0"/>
              <a:t>Jump to the location indicated by the PC stored in jump </a:t>
            </a:r>
            <a:r>
              <a:rPr lang="en-US" dirty="0" err="1"/>
              <a:t>buf</a:t>
            </a:r>
            <a:r>
              <a:rPr lang="en-US" dirty="0"/>
              <a:t> </a:t>
            </a:r>
            <a:r>
              <a:rPr lang="en-US" b="1" dirty="0">
                <a:latin typeface="Courier New" pitchFamily="49" charset="0"/>
              </a:rPr>
              <a:t>j</a:t>
            </a:r>
            <a:endParaRPr lang="en-US" b="1" dirty="0"/>
          </a:p>
        </p:txBody>
      </p:sp>
    </p:spTree>
    <p:extLst>
      <p:ext uri="{BB962C8B-B14F-4D97-AF65-F5344CB8AC3E}">
        <p14:creationId xmlns:p14="http://schemas.microsoft.com/office/powerpoint/2010/main" val="312909953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043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043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043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0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urier New"/>
                <a:cs typeface="Courier New"/>
              </a:rPr>
              <a:t>setjmp</a:t>
            </a:r>
            <a:r>
              <a:rPr lang="en-US" dirty="0" smtClean="0"/>
              <a:t>/</a:t>
            </a:r>
            <a:r>
              <a:rPr lang="en-US" dirty="0" err="1" smtClean="0">
                <a:latin typeface="Courier New"/>
                <a:cs typeface="Courier New"/>
              </a:rPr>
              <a:t>longjmp</a:t>
            </a:r>
            <a:r>
              <a:rPr lang="en-US" dirty="0" smtClean="0"/>
              <a:t> Example</a:t>
            </a:r>
            <a:endParaRPr lang="en-US" dirty="0"/>
          </a:p>
        </p:txBody>
      </p:sp>
      <p:sp>
        <p:nvSpPr>
          <p:cNvPr id="3" name="Content Placeholder 2"/>
          <p:cNvSpPr>
            <a:spLocks noGrp="1"/>
          </p:cNvSpPr>
          <p:nvPr>
            <p:ph idx="1"/>
          </p:nvPr>
        </p:nvSpPr>
        <p:spPr>
          <a:xfrm>
            <a:off x="357018" y="1362075"/>
            <a:ext cx="7936082" cy="923925"/>
          </a:xfrm>
        </p:spPr>
        <p:txBody>
          <a:bodyPr/>
          <a:lstStyle/>
          <a:p>
            <a:r>
              <a:rPr lang="en-US" dirty="0" smtClean="0"/>
              <a:t>Goal: return directly to original caller from a deeply-nested function</a:t>
            </a:r>
            <a:endParaRPr lang="en-US" dirty="0"/>
          </a:p>
        </p:txBody>
      </p:sp>
      <p:sp>
        <p:nvSpPr>
          <p:cNvPr id="4" name="Rectangle 1028"/>
          <p:cNvSpPr>
            <a:spLocks noChangeArrowheads="1"/>
          </p:cNvSpPr>
          <p:nvPr/>
        </p:nvSpPr>
        <p:spPr bwMode="auto">
          <a:xfrm>
            <a:off x="558800" y="2438400"/>
            <a:ext cx="4114800" cy="3293209"/>
          </a:xfrm>
          <a:prstGeom prst="rect">
            <a:avLst/>
          </a:prstGeom>
          <a:solidFill>
            <a:srgbClr val="F6F5BD"/>
          </a:solidFill>
          <a:ln w="3175">
            <a:solidFill>
              <a:schemeClr val="tx1"/>
            </a:solidFill>
            <a:miter lim="800000"/>
            <a:headEnd/>
            <a:tailEnd/>
          </a:ln>
          <a:effectLst/>
        </p:spPr>
        <p:txBody>
          <a:bodyPr>
            <a:spAutoFit/>
          </a:bodyPr>
          <a:lstStyle/>
          <a:p>
            <a:r>
              <a:rPr lang="en-US" sz="1600" dirty="0">
                <a:solidFill>
                  <a:srgbClr val="CB2418"/>
                </a:solidFill>
                <a:latin typeface="Courier New"/>
                <a:cs typeface="Courier New"/>
              </a:rPr>
              <a:t>/* Deeply nested function foo */</a:t>
            </a:r>
            <a:endParaRPr lang="en-US" sz="1600" dirty="0">
              <a:solidFill>
                <a:srgbClr val="000000"/>
              </a:solidFill>
              <a:latin typeface="Courier New"/>
              <a:cs typeface="Courier New"/>
            </a:endParaRPr>
          </a:p>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foo</a:t>
            </a:r>
            <a:r>
              <a:rPr lang="en-US" sz="1600" dirty="0">
                <a:solidFill>
                  <a:srgbClr val="000000"/>
                </a:solidFill>
                <a:latin typeface="Courier New"/>
                <a:cs typeface="Courier New"/>
              </a:rPr>
              <a:t>(</a:t>
            </a:r>
            <a:r>
              <a:rPr lang="en-US" sz="1600" dirty="0">
                <a:solidFill>
                  <a:srgbClr val="2D961E"/>
                </a:solidFill>
                <a:latin typeface="Courier New"/>
                <a:cs typeface="Courier New"/>
              </a:rPr>
              <a:t>void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(error1)</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longjmp</a:t>
            </a:r>
            <a:r>
              <a:rPr lang="en-US" sz="1600" dirty="0">
                <a:solidFill>
                  <a:srgbClr val="000000"/>
                </a:solidFill>
                <a:latin typeface="Courier New"/>
                <a:cs typeface="Courier New"/>
              </a:rPr>
              <a:t>(</a:t>
            </a:r>
            <a:r>
              <a:rPr lang="en-US" sz="1600" dirty="0" err="1">
                <a:solidFill>
                  <a:srgbClr val="000000"/>
                </a:solidFill>
                <a:latin typeface="Courier New"/>
                <a:cs typeface="Courier New"/>
              </a:rPr>
              <a:t>buf</a:t>
            </a:r>
            <a:r>
              <a:rPr lang="en-US" sz="1600" dirty="0">
                <a:solidFill>
                  <a:srgbClr val="000000"/>
                </a:solidFill>
                <a:latin typeface="Courier New"/>
                <a:cs typeface="Courier New"/>
              </a:rPr>
              <a:t>, 1);</a:t>
            </a:r>
          </a:p>
          <a:p>
            <a:r>
              <a:rPr lang="en-US" sz="1600" dirty="0">
                <a:solidFill>
                  <a:srgbClr val="000000"/>
                </a:solidFill>
                <a:latin typeface="Courier New"/>
                <a:cs typeface="Courier New"/>
              </a:rPr>
              <a:t>    bar();</a:t>
            </a:r>
          </a:p>
          <a:p>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bar</a:t>
            </a:r>
            <a:r>
              <a:rPr lang="en-US" sz="1600" dirty="0">
                <a:solidFill>
                  <a:srgbClr val="000000"/>
                </a:solidFill>
                <a:latin typeface="Courier New"/>
                <a:cs typeface="Courier New"/>
              </a:rPr>
              <a:t>(</a:t>
            </a:r>
            <a:r>
              <a:rPr lang="en-US" sz="1600" dirty="0">
                <a:solidFill>
                  <a:srgbClr val="2D961E"/>
                </a:solidFill>
                <a:latin typeface="Courier New"/>
                <a:cs typeface="Courier New"/>
              </a:rPr>
              <a:t>void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(error2)</a:t>
            </a:r>
          </a:p>
          <a:p>
            <a:r>
              <a:rPr lang="hu-HU" sz="1600" dirty="0">
                <a:solidFill>
                  <a:srgbClr val="000000"/>
                </a:solidFill>
                <a:latin typeface="Courier New"/>
                <a:cs typeface="Courier New"/>
              </a:rPr>
              <a:t>        longjmp(buf, 2);</a:t>
            </a:r>
          </a:p>
          <a:p>
            <a:r>
              <a:rPr lang="hu-HU" sz="1600" dirty="0">
                <a:solidFill>
                  <a:srgbClr val="000000"/>
                </a:solidFill>
                <a:latin typeface="Courier New"/>
                <a:cs typeface="Courier New"/>
              </a:rPr>
              <a:t>}</a:t>
            </a:r>
          </a:p>
        </p:txBody>
      </p:sp>
    </p:spTree>
    <p:extLst>
      <p:ext uri="{BB962C8B-B14F-4D97-AF65-F5344CB8AC3E}">
        <p14:creationId xmlns:p14="http://schemas.microsoft.com/office/powerpoint/2010/main" val="3370302627"/>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9" name="Text Box 3"/>
          <p:cNvSpPr txBox="1">
            <a:spLocks noChangeArrowheads="1"/>
          </p:cNvSpPr>
          <p:nvPr/>
        </p:nvSpPr>
        <p:spPr bwMode="auto">
          <a:xfrm>
            <a:off x="1660525" y="2432050"/>
            <a:ext cx="184150" cy="336550"/>
          </a:xfrm>
          <a:prstGeom prst="rect">
            <a:avLst/>
          </a:prstGeom>
          <a:noFill/>
          <a:ln w="25400">
            <a:noFill/>
            <a:miter lim="800000"/>
            <a:headEnd/>
            <a:tailEnd/>
          </a:ln>
          <a:effectLst/>
        </p:spPr>
        <p:txBody>
          <a:bodyPr wrap="none">
            <a:spAutoFit/>
          </a:bodyPr>
          <a:lstStyle/>
          <a:p>
            <a:pPr algn="l">
              <a:lnSpc>
                <a:spcPct val="100000"/>
              </a:lnSpc>
            </a:pPr>
            <a:endParaRPr lang="en-US" sz="1600" b="1" dirty="0">
              <a:latin typeface="Calibri" pitchFamily="34" charset="0"/>
            </a:endParaRPr>
          </a:p>
        </p:txBody>
      </p:sp>
      <p:sp>
        <p:nvSpPr>
          <p:cNvPr id="531460" name="Text Box 4"/>
          <p:cNvSpPr txBox="1">
            <a:spLocks noChangeArrowheads="1"/>
          </p:cNvSpPr>
          <p:nvPr/>
        </p:nvSpPr>
        <p:spPr bwMode="auto">
          <a:xfrm>
            <a:off x="228600" y="304800"/>
            <a:ext cx="7086600" cy="6112877"/>
          </a:xfrm>
          <a:prstGeom prst="rect">
            <a:avLst/>
          </a:prstGeom>
          <a:solidFill>
            <a:srgbClr val="F6F5BD"/>
          </a:solidFill>
          <a:ln w="3175">
            <a:solidFill>
              <a:schemeClr val="tx1"/>
            </a:solidFill>
            <a:miter lim="800000"/>
            <a:headEnd/>
            <a:tailEnd/>
          </a:ln>
          <a:effectLst/>
        </p:spPr>
        <p:txBody>
          <a:bodyPr>
            <a:normAutofit/>
          </a:bodyPr>
          <a:lstStyle/>
          <a:p>
            <a:r>
              <a:rPr lang="en-US" sz="1600" dirty="0" err="1" smtClean="0">
                <a:solidFill>
                  <a:srgbClr val="2D961E"/>
                </a:solidFill>
                <a:latin typeface="Courier New"/>
                <a:cs typeface="Courier New"/>
              </a:rPr>
              <a:t>jmp_buf</a:t>
            </a:r>
            <a:r>
              <a:rPr lang="en-US" sz="1600" dirty="0" smtClean="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error1</a:t>
            </a:r>
            <a:r>
              <a:rPr lang="fr-FR" sz="1600" dirty="0">
                <a:solidFill>
                  <a:srgbClr val="000000"/>
                </a:solidFill>
                <a:latin typeface="Courier New"/>
                <a:cs typeface="Courier New"/>
              </a:rPr>
              <a:t> = 0;</a:t>
            </a: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error2</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r-FR" sz="1600" dirty="0" err="1">
                <a:solidFill>
                  <a:srgbClr val="2D961E"/>
                </a:solidFill>
                <a:latin typeface="Courier New"/>
                <a:cs typeface="Courier New"/>
              </a:rPr>
              <a:t>void</a:t>
            </a:r>
            <a:r>
              <a:rPr lang="fr-FR" sz="1600" dirty="0">
                <a:solidFill>
                  <a:srgbClr val="000000"/>
                </a:solidFill>
                <a:latin typeface="Courier New"/>
                <a:cs typeface="Courier New"/>
              </a:rPr>
              <a:t> </a:t>
            </a:r>
            <a:r>
              <a:rPr lang="fr-FR" sz="1600" dirty="0" err="1">
                <a:solidFill>
                  <a:srgbClr val="4A00FF"/>
                </a:solidFill>
                <a:latin typeface="Courier New"/>
                <a:cs typeface="Courier New"/>
              </a:rPr>
              <a:t>foo</a:t>
            </a:r>
            <a:r>
              <a:rPr lang="fr-FR" sz="1600" dirty="0">
                <a:solidFill>
                  <a:srgbClr val="000000"/>
                </a:solidFill>
                <a:latin typeface="Courier New"/>
                <a:cs typeface="Courier New"/>
              </a:rPr>
              <a:t>(</a:t>
            </a:r>
            <a:r>
              <a:rPr lang="fr-FR" sz="1600" dirty="0" err="1">
                <a:solidFill>
                  <a:srgbClr val="2D961E"/>
                </a:solidFill>
                <a:latin typeface="Courier New"/>
                <a:cs typeface="Courier New"/>
              </a:rPr>
              <a:t>void</a:t>
            </a:r>
            <a:r>
              <a:rPr lang="fr-FR" sz="1600" dirty="0">
                <a:solidFill>
                  <a:srgbClr val="000000"/>
                </a:solidFill>
                <a:latin typeface="Courier New"/>
                <a:cs typeface="Courier New"/>
              </a:rPr>
              <a:t>), </a:t>
            </a:r>
            <a:r>
              <a:rPr lang="fr-FR" sz="1600" dirty="0">
                <a:solidFill>
                  <a:srgbClr val="4A00FF"/>
                </a:solidFill>
                <a:latin typeface="Courier New"/>
                <a:cs typeface="Courier New"/>
              </a:rPr>
              <a:t>bar</a:t>
            </a:r>
            <a:r>
              <a:rPr lang="fr-FR" sz="1600" dirty="0">
                <a:solidFill>
                  <a:srgbClr val="000000"/>
                </a:solidFill>
                <a:latin typeface="Courier New"/>
                <a:cs typeface="Courier New"/>
              </a:rPr>
              <a:t>(</a:t>
            </a:r>
            <a:r>
              <a:rPr lang="fr-FR" sz="1600" dirty="0" err="1">
                <a:solidFill>
                  <a:srgbClr val="2D961E"/>
                </a:solidFill>
                <a:latin typeface="Courier New"/>
                <a:cs typeface="Courier New"/>
              </a:rPr>
              <a:t>void</a:t>
            </a:r>
            <a:r>
              <a:rPr lang="fr-FR" sz="1600" dirty="0">
                <a:solidFill>
                  <a:srgbClr val="000000"/>
                </a:solidFill>
                <a:latin typeface="Courier New"/>
                <a:cs typeface="Courier New"/>
              </a:rPr>
              <a:t>);</a:t>
            </a:r>
          </a:p>
          <a:p>
            <a:endParaRPr lang="fr-FR" sz="1600" dirty="0">
              <a:solidFill>
                <a:srgbClr val="000000"/>
              </a:solidFill>
              <a:latin typeface="Courier New"/>
              <a:cs typeface="Courier New"/>
            </a:endParaRP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4A00FF"/>
                </a:solidFill>
                <a:latin typeface="Courier New"/>
                <a:cs typeface="Courier New"/>
              </a:rPr>
              <a:t>main</a:t>
            </a:r>
            <a:r>
              <a:rPr lang="fr-FR" sz="1600" dirty="0">
                <a:solidFill>
                  <a:srgbClr val="000000"/>
                </a:solidFill>
                <a:latin typeface="Courier New"/>
                <a:cs typeface="Courier New"/>
              </a:rPr>
              <a:t>()</a:t>
            </a:r>
          </a:p>
          <a:p>
            <a:r>
              <a:rPr lang="fr-FR"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C200FF"/>
                </a:solidFill>
                <a:latin typeface="Courier New"/>
                <a:cs typeface="Courier New"/>
              </a:rPr>
              <a:t>switch</a:t>
            </a:r>
            <a:r>
              <a:rPr lang="fr-FR" sz="1600" dirty="0">
                <a:solidFill>
                  <a:srgbClr val="000000"/>
                </a:solidFill>
                <a:latin typeface="Courier New"/>
                <a:cs typeface="Courier New"/>
              </a:rPr>
              <a:t>(</a:t>
            </a:r>
            <a:r>
              <a:rPr lang="fr-FR" sz="1600" dirty="0" err="1">
                <a:solidFill>
                  <a:srgbClr val="000000"/>
                </a:solidFill>
                <a:latin typeface="Courier New"/>
                <a:cs typeface="Courier New"/>
              </a:rPr>
              <a:t>setjmp</a:t>
            </a:r>
            <a:r>
              <a:rPr lang="fr-FR" sz="1600" dirty="0">
                <a:solidFill>
                  <a:srgbClr val="000000"/>
                </a:solidFill>
                <a:latin typeface="Courier New"/>
                <a:cs typeface="Courier New"/>
              </a:rPr>
              <a:t>(</a:t>
            </a:r>
            <a:r>
              <a:rPr lang="fr-FR" sz="1600" dirty="0" err="1">
                <a:solidFill>
                  <a:srgbClr val="000000"/>
                </a:solidFill>
                <a:latin typeface="Courier New"/>
                <a:cs typeface="Courier New"/>
              </a:rPr>
              <a:t>buf</a:t>
            </a:r>
            <a:r>
              <a:rPr lang="fr-FR"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0:</a:t>
            </a:r>
          </a:p>
          <a:p>
            <a:r>
              <a:rPr lang="nl-NL" sz="1600" dirty="0">
                <a:solidFill>
                  <a:srgbClr val="000000"/>
                </a:solidFill>
                <a:latin typeface="Courier New"/>
                <a:cs typeface="Courier New"/>
              </a:rPr>
              <a:t>        </a:t>
            </a:r>
            <a:r>
              <a:rPr lang="nl-NL" sz="1600" dirty="0" err="1">
                <a:solidFill>
                  <a:srgbClr val="000000"/>
                </a:solidFill>
                <a:latin typeface="Courier New"/>
                <a:cs typeface="Courier New"/>
              </a:rPr>
              <a:t>foo</a:t>
            </a:r>
            <a:r>
              <a:rPr lang="nl-NL" sz="1600" dirty="0">
                <a:solidFill>
                  <a:srgbClr val="000000"/>
                </a:solidFill>
                <a:latin typeface="Courier New"/>
                <a:cs typeface="Courier New"/>
              </a:rPr>
              <a:t>();</a:t>
            </a:r>
          </a:p>
          <a:p>
            <a:r>
              <a:rPr lang="nl-NL" sz="1600" dirty="0">
                <a:solidFill>
                  <a:srgbClr val="000000"/>
                </a:solidFill>
                <a:latin typeface="Courier New"/>
                <a:cs typeface="Courier New"/>
              </a:rPr>
              <a:t>        </a:t>
            </a:r>
            <a:r>
              <a:rPr lang="nl-NL" sz="1600" dirty="0">
                <a:solidFill>
                  <a:srgbClr val="C200FF"/>
                </a:solidFill>
                <a:latin typeface="Courier New"/>
                <a:cs typeface="Courier New"/>
              </a:rPr>
              <a:t>break</a:t>
            </a:r>
            <a:r>
              <a:rPr lang="nl-NL"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1:</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"Detected an error1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break</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2:</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"Detected an error2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break</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default</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"Unknown error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exit(0);</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531458" name="Rectangle 2"/>
          <p:cNvSpPr>
            <a:spLocks noGrp="1" noChangeArrowheads="1"/>
          </p:cNvSpPr>
          <p:nvPr>
            <p:ph type="title"/>
          </p:nvPr>
        </p:nvSpPr>
        <p:spPr>
          <a:xfrm>
            <a:off x="4724400" y="457200"/>
            <a:ext cx="4191000" cy="1219200"/>
          </a:xfrm>
          <a:solidFill>
            <a:schemeClr val="bg1"/>
          </a:solidFill>
          <a:ln>
            <a:solidFill>
              <a:schemeClr val="tx1"/>
            </a:solidFill>
          </a:ln>
        </p:spPr>
        <p:txBody>
          <a:bodyPr/>
          <a:lstStyle/>
          <a:p>
            <a:r>
              <a:rPr lang="en-US" dirty="0" err="1">
                <a:latin typeface="Courier New" pitchFamily="49" charset="0"/>
              </a:rPr>
              <a:t>setjmp</a:t>
            </a:r>
            <a:r>
              <a:rPr lang="en-US" dirty="0"/>
              <a:t>/</a:t>
            </a:r>
            <a:r>
              <a:rPr lang="en-US" dirty="0" err="1">
                <a:latin typeface="Courier New" pitchFamily="49" charset="0"/>
              </a:rPr>
              <a:t>longjmp</a:t>
            </a:r>
            <a:r>
              <a:rPr lang="en-US" dirty="0"/>
              <a:t> </a:t>
            </a:r>
            <a:r>
              <a:rPr lang="en-US" dirty="0" smtClean="0"/>
              <a:t>Example (</a:t>
            </a:r>
            <a:r>
              <a:rPr lang="en-US" dirty="0" err="1" smtClean="0"/>
              <a:t>cont</a:t>
            </a:r>
            <a:r>
              <a:rPr lang="en-US" dirty="0" smtClean="0"/>
              <a:t>)</a:t>
            </a:r>
            <a:endParaRPr lang="en-US" dirty="0">
              <a:latin typeface="Courier New"/>
              <a:cs typeface="Courier New"/>
            </a:endParaRPr>
          </a:p>
        </p:txBody>
      </p:sp>
    </p:spTree>
    <p:extLst>
      <p:ext uri="{BB962C8B-B14F-4D97-AF65-F5344CB8AC3E}">
        <p14:creationId xmlns:p14="http://schemas.microsoft.com/office/powerpoint/2010/main" val="1717447697"/>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1026"/>
          <p:cNvSpPr>
            <a:spLocks noGrp="1" noChangeArrowheads="1"/>
          </p:cNvSpPr>
          <p:nvPr>
            <p:ph type="title"/>
          </p:nvPr>
        </p:nvSpPr>
        <p:spPr>
          <a:xfrm>
            <a:off x="304800" y="417512"/>
            <a:ext cx="7175500" cy="573088"/>
          </a:xfrm>
        </p:spPr>
        <p:txBody>
          <a:bodyPr/>
          <a:lstStyle/>
          <a:p>
            <a:r>
              <a:rPr lang="en-US"/>
              <a:t>Limitations of Nonlocal Jumps</a:t>
            </a:r>
          </a:p>
        </p:txBody>
      </p:sp>
      <p:sp>
        <p:nvSpPr>
          <p:cNvPr id="533507" name="Rectangle 1027"/>
          <p:cNvSpPr>
            <a:spLocks noGrp="1" noChangeArrowheads="1"/>
          </p:cNvSpPr>
          <p:nvPr>
            <p:ph type="body" idx="1"/>
          </p:nvPr>
        </p:nvSpPr>
        <p:spPr>
          <a:xfrm>
            <a:off x="308210" y="1066800"/>
            <a:ext cx="8307387" cy="1160463"/>
          </a:xfrm>
        </p:spPr>
        <p:txBody>
          <a:bodyPr/>
          <a:lstStyle/>
          <a:p>
            <a:r>
              <a:rPr lang="en-US" dirty="0"/>
              <a:t>Works within stack discipline</a:t>
            </a:r>
          </a:p>
          <a:p>
            <a:pPr lvl="1"/>
            <a:r>
              <a:rPr lang="en-US" dirty="0"/>
              <a:t>Can only long jump to environment of function that has been called but not yet completed</a:t>
            </a:r>
          </a:p>
        </p:txBody>
      </p:sp>
      <p:sp>
        <p:nvSpPr>
          <p:cNvPr id="533508" name="Rectangle 1028"/>
          <p:cNvSpPr>
            <a:spLocks noChangeArrowheads="1"/>
          </p:cNvSpPr>
          <p:nvPr/>
        </p:nvSpPr>
        <p:spPr bwMode="auto">
          <a:xfrm>
            <a:off x="873107" y="2245194"/>
            <a:ext cx="4114800" cy="4495800"/>
          </a:xfrm>
          <a:prstGeom prst="rect">
            <a:avLst/>
          </a:prstGeom>
          <a:solidFill>
            <a:srgbClr val="F6F5BD"/>
          </a:solidFill>
          <a:ln w="3175">
            <a:solidFill>
              <a:schemeClr val="tx1"/>
            </a:solidFill>
            <a:miter lim="800000"/>
            <a:headEnd/>
            <a:tailEnd/>
          </a:ln>
          <a:effectLst/>
        </p:spPr>
        <p:txBody>
          <a:bodyPr>
            <a:spAutoFit/>
          </a:bodyPr>
          <a:lstStyle/>
          <a:p>
            <a:pPr algn="l">
              <a:lnSpc>
                <a:spcPct val="100000"/>
              </a:lnSpc>
            </a:pPr>
            <a:r>
              <a:rPr lang="en-US" sz="1600" b="1" dirty="0" err="1">
                <a:latin typeface="Courier New" pitchFamily="49" charset="0"/>
              </a:rPr>
              <a:t>jmp_buf</a:t>
            </a:r>
            <a:r>
              <a:rPr lang="en-US" sz="1600" b="1" dirty="0">
                <a:latin typeface="Courier New" pitchFamily="49" charset="0"/>
              </a:rPr>
              <a:t> </a:t>
            </a:r>
            <a:r>
              <a:rPr lang="en-US" sz="1600" b="1" dirty="0" err="1">
                <a:latin typeface="Courier New" pitchFamily="49" charset="0"/>
              </a:rPr>
              <a:t>env</a:t>
            </a: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P1()</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if (</a:t>
            </a:r>
            <a:r>
              <a:rPr lang="en-US" sz="1600" b="1" dirty="0" err="1">
                <a:latin typeface="Courier New" pitchFamily="49" charset="0"/>
              </a:rPr>
              <a:t>setjmp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a:t>
            </a:r>
          </a:p>
          <a:p>
            <a:pPr algn="l">
              <a:lnSpc>
                <a:spcPct val="100000"/>
              </a:lnSpc>
            </a:pPr>
            <a:r>
              <a:rPr lang="en-US" sz="1600" b="1" dirty="0">
                <a:latin typeface="Courier New" pitchFamily="49" charset="0"/>
              </a:rPr>
              <a:t>    </a:t>
            </a:r>
            <a:r>
              <a:rPr lang="en-US" sz="1600" b="1" dirty="0">
                <a:solidFill>
                  <a:srgbClr val="990000"/>
                </a:solidFill>
                <a:latin typeface="Courier New" pitchFamily="49" charset="0"/>
              </a:rPr>
              <a:t>/* Long Jump to here */</a:t>
            </a:r>
          </a:p>
          <a:p>
            <a:pPr algn="l">
              <a:lnSpc>
                <a:spcPct val="100000"/>
              </a:lnSpc>
            </a:pPr>
            <a:r>
              <a:rPr lang="en-US" sz="1600" b="1" dirty="0">
                <a:latin typeface="Courier New" pitchFamily="49" charset="0"/>
              </a:rPr>
              <a:t>  } else {</a:t>
            </a:r>
          </a:p>
          <a:p>
            <a:pPr algn="l">
              <a:lnSpc>
                <a:spcPct val="100000"/>
              </a:lnSpc>
            </a:pPr>
            <a:r>
              <a:rPr lang="en-US" sz="1600" b="1" dirty="0">
                <a:latin typeface="Courier New" pitchFamily="49" charset="0"/>
              </a:rPr>
              <a:t>    P2();</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P2()</a:t>
            </a:r>
          </a:p>
          <a:p>
            <a:pPr algn="l">
              <a:lnSpc>
                <a:spcPct val="100000"/>
              </a:lnSpc>
            </a:pPr>
            <a:r>
              <a:rPr lang="en-US" sz="1600" b="1" dirty="0">
                <a:latin typeface="Courier New" pitchFamily="49" charset="0"/>
              </a:rPr>
              <a:t>{  . . . P2(); . . . P3(); }</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P3()</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a:t>
            </a:r>
            <a:r>
              <a:rPr lang="en-US" sz="1600" b="1" dirty="0" err="1">
                <a:latin typeface="Courier New" pitchFamily="49" charset="0"/>
              </a:rPr>
              <a:t>longjmp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1);</a:t>
            </a:r>
          </a:p>
          <a:p>
            <a:pPr algn="l">
              <a:lnSpc>
                <a:spcPct val="100000"/>
              </a:lnSpc>
            </a:pPr>
            <a:r>
              <a:rPr lang="en-US" sz="1600" b="1" dirty="0">
                <a:latin typeface="Courier New" pitchFamily="49" charset="0"/>
              </a:rPr>
              <a:t>}</a:t>
            </a:r>
          </a:p>
        </p:txBody>
      </p:sp>
      <p:sp>
        <p:nvSpPr>
          <p:cNvPr id="533509" name="Rectangle 1029"/>
          <p:cNvSpPr>
            <a:spLocks noChangeArrowheads="1"/>
          </p:cNvSpPr>
          <p:nvPr/>
        </p:nvSpPr>
        <p:spPr bwMode="auto">
          <a:xfrm>
            <a:off x="6092893" y="22860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3510" name="Rectangle 1030"/>
          <p:cNvSpPr>
            <a:spLocks noChangeArrowheads="1"/>
          </p:cNvSpPr>
          <p:nvPr/>
        </p:nvSpPr>
        <p:spPr bwMode="auto">
          <a:xfrm>
            <a:off x="6092893" y="29718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1" name="Rectangle 1031"/>
          <p:cNvSpPr>
            <a:spLocks noChangeArrowheads="1"/>
          </p:cNvSpPr>
          <p:nvPr/>
        </p:nvSpPr>
        <p:spPr bwMode="auto">
          <a:xfrm>
            <a:off x="6092893" y="36576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2" name="Rectangle 1032"/>
          <p:cNvSpPr>
            <a:spLocks noChangeArrowheads="1"/>
          </p:cNvSpPr>
          <p:nvPr/>
        </p:nvSpPr>
        <p:spPr bwMode="auto">
          <a:xfrm>
            <a:off x="6092893" y="43434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3" name="Rectangle 1033"/>
          <p:cNvSpPr>
            <a:spLocks noChangeArrowheads="1"/>
          </p:cNvSpPr>
          <p:nvPr/>
        </p:nvSpPr>
        <p:spPr bwMode="auto">
          <a:xfrm>
            <a:off x="6092893" y="50292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P3</a:t>
            </a:r>
          </a:p>
        </p:txBody>
      </p:sp>
      <p:sp>
        <p:nvSpPr>
          <p:cNvPr id="533514" name="Line 1034"/>
          <p:cNvSpPr>
            <a:spLocks noChangeShapeType="1"/>
          </p:cNvSpPr>
          <p:nvPr/>
        </p:nvSpPr>
        <p:spPr bwMode="auto">
          <a:xfrm>
            <a:off x="5559493" y="2590800"/>
            <a:ext cx="533400"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3515" name="Rectangle 1035"/>
          <p:cNvSpPr>
            <a:spLocks noChangeArrowheads="1"/>
          </p:cNvSpPr>
          <p:nvPr/>
        </p:nvSpPr>
        <p:spPr bwMode="auto">
          <a:xfrm>
            <a:off x="5254693" y="2209800"/>
            <a:ext cx="550863" cy="336550"/>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3516" name="Rectangle 1036"/>
          <p:cNvSpPr>
            <a:spLocks noChangeArrowheads="1"/>
          </p:cNvSpPr>
          <p:nvPr/>
        </p:nvSpPr>
        <p:spPr bwMode="auto">
          <a:xfrm>
            <a:off x="7693093" y="22860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3517" name="Text Box 1037"/>
          <p:cNvSpPr txBox="1">
            <a:spLocks noChangeArrowheads="1"/>
          </p:cNvSpPr>
          <p:nvPr/>
        </p:nvSpPr>
        <p:spPr bwMode="auto">
          <a:xfrm>
            <a:off x="5984406" y="1981200"/>
            <a:ext cx="1493870" cy="338554"/>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Before </a:t>
            </a:r>
            <a:r>
              <a:rPr lang="en-US" sz="1600" b="1" dirty="0" err="1">
                <a:latin typeface="Calibri" pitchFamily="34" charset="0"/>
              </a:rPr>
              <a:t>longjmp</a:t>
            </a:r>
            <a:endParaRPr lang="en-US" sz="1600" b="1" dirty="0">
              <a:latin typeface="Calibri" pitchFamily="34" charset="0"/>
            </a:endParaRPr>
          </a:p>
        </p:txBody>
      </p:sp>
      <p:sp>
        <p:nvSpPr>
          <p:cNvPr id="533518" name="Text Box 1038"/>
          <p:cNvSpPr txBox="1">
            <a:spLocks noChangeArrowheads="1"/>
          </p:cNvSpPr>
          <p:nvPr/>
        </p:nvSpPr>
        <p:spPr bwMode="auto">
          <a:xfrm>
            <a:off x="7585125" y="1981200"/>
            <a:ext cx="1365182" cy="338554"/>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After </a:t>
            </a:r>
            <a:r>
              <a:rPr lang="en-US" sz="1600" b="1" dirty="0" err="1">
                <a:latin typeface="Calibri" pitchFamily="34" charset="0"/>
              </a:rPr>
              <a:t>longjmp</a:t>
            </a:r>
            <a:endParaRPr lang="en-US" sz="1600" b="1" dirty="0">
              <a:latin typeface="Calibri" pitchFamily="34" charset="0"/>
            </a:endParaRPr>
          </a:p>
        </p:txBody>
      </p:sp>
    </p:spTree>
    <p:extLst>
      <p:ext uri="{BB962C8B-B14F-4D97-AF65-F5344CB8AC3E}">
        <p14:creationId xmlns:p14="http://schemas.microsoft.com/office/powerpoint/2010/main" val="1147033463"/>
      </p:ext>
    </p:extLst>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a:xfrm>
            <a:off x="304800" y="417512"/>
            <a:ext cx="7937500" cy="573088"/>
          </a:xfrm>
        </p:spPr>
        <p:txBody>
          <a:bodyPr/>
          <a:lstStyle/>
          <a:p>
            <a:r>
              <a:rPr lang="en-US"/>
              <a:t>Limitations of Long Jumps (cont.)</a:t>
            </a:r>
          </a:p>
        </p:txBody>
      </p:sp>
      <p:sp>
        <p:nvSpPr>
          <p:cNvPr id="534531" name="Rectangle 3"/>
          <p:cNvSpPr>
            <a:spLocks noGrp="1" noChangeArrowheads="1"/>
          </p:cNvSpPr>
          <p:nvPr>
            <p:ph type="body" idx="1"/>
          </p:nvPr>
        </p:nvSpPr>
        <p:spPr>
          <a:xfrm>
            <a:off x="326809" y="1049337"/>
            <a:ext cx="8307387" cy="1160463"/>
          </a:xfrm>
        </p:spPr>
        <p:txBody>
          <a:bodyPr/>
          <a:lstStyle/>
          <a:p>
            <a:r>
              <a:rPr lang="en-US"/>
              <a:t>Works within stack discipline</a:t>
            </a:r>
          </a:p>
          <a:p>
            <a:pPr lvl="1"/>
            <a:r>
              <a:rPr lang="en-US"/>
              <a:t>Can only long jump to environment of function that has been called but not yet completed</a:t>
            </a:r>
          </a:p>
        </p:txBody>
      </p:sp>
      <p:sp>
        <p:nvSpPr>
          <p:cNvPr id="534532" name="Rectangle 4"/>
          <p:cNvSpPr>
            <a:spLocks noChangeArrowheads="1"/>
          </p:cNvSpPr>
          <p:nvPr/>
        </p:nvSpPr>
        <p:spPr bwMode="auto">
          <a:xfrm>
            <a:off x="896703" y="2286000"/>
            <a:ext cx="4114800" cy="4495800"/>
          </a:xfrm>
          <a:prstGeom prst="rect">
            <a:avLst/>
          </a:prstGeom>
          <a:solidFill>
            <a:srgbClr val="F6F5BD"/>
          </a:solidFill>
          <a:ln w="3175">
            <a:solidFill>
              <a:schemeClr val="tx1"/>
            </a:solidFill>
            <a:miter lim="800000"/>
            <a:headEnd/>
            <a:tailEnd/>
          </a:ln>
          <a:effectLst/>
        </p:spPr>
        <p:txBody>
          <a:bodyPr>
            <a:spAutoFit/>
          </a:bodyPr>
          <a:lstStyle/>
          <a:p>
            <a:pPr algn="l">
              <a:lnSpc>
                <a:spcPct val="100000"/>
              </a:lnSpc>
            </a:pPr>
            <a:r>
              <a:rPr lang="en-US" sz="1600" b="1" dirty="0" err="1">
                <a:latin typeface="Courier New" pitchFamily="49" charset="0"/>
              </a:rPr>
              <a:t>jmp_buf</a:t>
            </a:r>
            <a:r>
              <a:rPr lang="en-US" sz="1600" b="1" dirty="0">
                <a:latin typeface="Courier New" pitchFamily="49" charset="0"/>
              </a:rPr>
              <a:t> </a:t>
            </a:r>
            <a:r>
              <a:rPr lang="en-US" sz="1600" b="1" dirty="0" err="1">
                <a:latin typeface="Courier New" pitchFamily="49" charset="0"/>
              </a:rPr>
              <a:t>env</a:t>
            </a: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P1()</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P2(); P3();</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P2()</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if (</a:t>
            </a:r>
            <a:r>
              <a:rPr lang="en-US" sz="1600" b="1" dirty="0" err="1">
                <a:latin typeface="Courier New" pitchFamily="49" charset="0"/>
              </a:rPr>
              <a:t>setjmp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a:t>
            </a:r>
          </a:p>
          <a:p>
            <a:pPr algn="l">
              <a:lnSpc>
                <a:spcPct val="100000"/>
              </a:lnSpc>
            </a:pPr>
            <a:r>
              <a:rPr lang="en-US" sz="1600" b="1" dirty="0">
                <a:latin typeface="Courier New" pitchFamily="49" charset="0"/>
              </a:rPr>
              <a:t>    </a:t>
            </a:r>
            <a:r>
              <a:rPr lang="en-US" sz="1600" b="1" dirty="0">
                <a:solidFill>
                  <a:srgbClr val="990000"/>
                </a:solidFill>
                <a:latin typeface="Courier New" pitchFamily="49" charset="0"/>
              </a:rPr>
              <a:t>/* Long Jump to here */</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P3()</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a:t>
            </a:r>
            <a:r>
              <a:rPr lang="en-US" sz="1600" b="1" dirty="0" err="1">
                <a:latin typeface="Courier New" pitchFamily="49" charset="0"/>
              </a:rPr>
              <a:t>longjmp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1);</a:t>
            </a:r>
          </a:p>
          <a:p>
            <a:pPr algn="l">
              <a:lnSpc>
                <a:spcPct val="100000"/>
              </a:lnSpc>
            </a:pPr>
            <a:r>
              <a:rPr lang="en-US" sz="1600" b="1" dirty="0">
                <a:latin typeface="Courier New" pitchFamily="49" charset="0"/>
              </a:rPr>
              <a:t>}</a:t>
            </a:r>
          </a:p>
        </p:txBody>
      </p:sp>
      <p:grpSp>
        <p:nvGrpSpPr>
          <p:cNvPr id="2" name="Group 5"/>
          <p:cNvGrpSpPr>
            <a:grpSpLocks/>
          </p:cNvGrpSpPr>
          <p:nvPr/>
        </p:nvGrpSpPr>
        <p:grpSpPr bwMode="auto">
          <a:xfrm>
            <a:off x="5181600" y="1990725"/>
            <a:ext cx="1981200" cy="1666875"/>
            <a:chOff x="3264" y="1056"/>
            <a:chExt cx="1248" cy="1050"/>
          </a:xfrm>
        </p:grpSpPr>
        <p:sp>
          <p:nvSpPr>
            <p:cNvPr id="534534" name="Rectangle 6"/>
            <p:cNvSpPr>
              <a:spLocks noChangeArrowheads="1"/>
            </p:cNvSpPr>
            <p:nvPr/>
          </p:nvSpPr>
          <p:spPr bwMode="auto">
            <a:xfrm>
              <a:off x="3264" y="1728"/>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grpSp>
          <p:nvGrpSpPr>
            <p:cNvPr id="3" name="Group 7"/>
            <p:cNvGrpSpPr>
              <a:grpSpLocks/>
            </p:cNvGrpSpPr>
            <p:nvPr/>
          </p:nvGrpSpPr>
          <p:grpSpPr bwMode="auto">
            <a:xfrm>
              <a:off x="3456" y="1056"/>
              <a:ext cx="1056" cy="1050"/>
              <a:chOff x="3408" y="1056"/>
              <a:chExt cx="1056" cy="1050"/>
            </a:xfrm>
          </p:grpSpPr>
          <p:sp>
            <p:nvSpPr>
              <p:cNvPr id="534536" name="Rectangle 8"/>
              <p:cNvSpPr>
                <a:spLocks noChangeArrowheads="1"/>
              </p:cNvSpPr>
              <p:nvPr/>
            </p:nvSpPr>
            <p:spPr bwMode="auto">
              <a:xfrm>
                <a:off x="3744" y="1056"/>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37" name="Rectangle 9"/>
              <p:cNvSpPr>
                <a:spLocks noChangeArrowheads="1"/>
              </p:cNvSpPr>
              <p:nvPr/>
            </p:nvSpPr>
            <p:spPr bwMode="auto">
              <a:xfrm>
                <a:off x="3744" y="1488"/>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4538" name="Line 10"/>
              <p:cNvSpPr>
                <a:spLocks noChangeShapeType="1"/>
              </p:cNvSpPr>
              <p:nvPr/>
            </p:nvSpPr>
            <p:spPr bwMode="auto">
              <a:xfrm>
                <a:off x="3408" y="1728"/>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39" name="Text Box 11"/>
              <p:cNvSpPr txBox="1">
                <a:spLocks noChangeArrowheads="1"/>
              </p:cNvSpPr>
              <p:nvPr/>
            </p:nvSpPr>
            <p:spPr bwMode="auto">
              <a:xfrm>
                <a:off x="3685" y="1893"/>
                <a:ext cx="633"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At </a:t>
                </a:r>
                <a:r>
                  <a:rPr lang="en-US" sz="1600" b="1" dirty="0" err="1">
                    <a:latin typeface="Calibri" pitchFamily="34" charset="0"/>
                  </a:rPr>
                  <a:t>setjmp</a:t>
                </a:r>
                <a:endParaRPr lang="en-US" sz="1600" b="1" dirty="0">
                  <a:latin typeface="Calibri" pitchFamily="34" charset="0"/>
                </a:endParaRPr>
              </a:p>
            </p:txBody>
          </p:sp>
        </p:grpSp>
      </p:grpSp>
      <p:grpSp>
        <p:nvGrpSpPr>
          <p:cNvPr id="4" name="Group 12"/>
          <p:cNvGrpSpPr>
            <a:grpSpLocks/>
          </p:cNvGrpSpPr>
          <p:nvPr/>
        </p:nvGrpSpPr>
        <p:grpSpPr bwMode="auto">
          <a:xfrm>
            <a:off x="6858000" y="5038725"/>
            <a:ext cx="1981200" cy="1666875"/>
            <a:chOff x="3264" y="2976"/>
            <a:chExt cx="1248" cy="1050"/>
          </a:xfrm>
        </p:grpSpPr>
        <p:sp>
          <p:nvSpPr>
            <p:cNvPr id="534541" name="Rectangle 13"/>
            <p:cNvSpPr>
              <a:spLocks noChangeArrowheads="1"/>
            </p:cNvSpPr>
            <p:nvPr/>
          </p:nvSpPr>
          <p:spPr bwMode="auto">
            <a:xfrm>
              <a:off x="3792" y="2976"/>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42" name="Rectangle 14"/>
            <p:cNvSpPr>
              <a:spLocks noChangeArrowheads="1"/>
            </p:cNvSpPr>
            <p:nvPr/>
          </p:nvSpPr>
          <p:spPr bwMode="auto">
            <a:xfrm>
              <a:off x="3792" y="3408"/>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P3</a:t>
              </a:r>
            </a:p>
          </p:txBody>
        </p:sp>
        <p:sp>
          <p:nvSpPr>
            <p:cNvPr id="534543" name="Line 15"/>
            <p:cNvSpPr>
              <a:spLocks noChangeShapeType="1"/>
            </p:cNvSpPr>
            <p:nvPr/>
          </p:nvSpPr>
          <p:spPr bwMode="auto">
            <a:xfrm>
              <a:off x="3456" y="3648"/>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44" name="Rectangle 16"/>
            <p:cNvSpPr>
              <a:spLocks noChangeArrowheads="1"/>
            </p:cNvSpPr>
            <p:nvPr/>
          </p:nvSpPr>
          <p:spPr bwMode="auto">
            <a:xfrm>
              <a:off x="3264" y="3408"/>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4545" name="Text Box 17"/>
            <p:cNvSpPr txBox="1">
              <a:spLocks noChangeArrowheads="1"/>
            </p:cNvSpPr>
            <p:nvPr/>
          </p:nvSpPr>
          <p:spPr bwMode="auto">
            <a:xfrm>
              <a:off x="3733" y="3813"/>
              <a:ext cx="705"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At </a:t>
              </a:r>
              <a:r>
                <a:rPr lang="en-US" sz="1600" b="1" dirty="0" err="1">
                  <a:latin typeface="Calibri" pitchFamily="34" charset="0"/>
                </a:rPr>
                <a:t>longjmp</a:t>
              </a:r>
              <a:endParaRPr lang="en-US" sz="1600" b="1" dirty="0">
                <a:latin typeface="Calibri" pitchFamily="34" charset="0"/>
              </a:endParaRPr>
            </a:p>
          </p:txBody>
        </p:sp>
        <p:sp>
          <p:nvSpPr>
            <p:cNvPr id="534546" name="Text Box 18"/>
            <p:cNvSpPr txBox="1">
              <a:spLocks noChangeArrowheads="1"/>
            </p:cNvSpPr>
            <p:nvPr/>
          </p:nvSpPr>
          <p:spPr bwMode="auto">
            <a:xfrm>
              <a:off x="3504" y="3545"/>
              <a:ext cx="188" cy="213"/>
            </a:xfrm>
            <a:prstGeom prst="rect">
              <a:avLst/>
            </a:prstGeom>
            <a:noFill/>
            <a:ln w="25400">
              <a:noFill/>
              <a:miter lim="800000"/>
              <a:headEnd/>
              <a:tailEnd/>
            </a:ln>
            <a:effectLst/>
          </p:spPr>
          <p:txBody>
            <a:bodyPr wrap="none">
              <a:spAutoFit/>
            </a:bodyPr>
            <a:lstStyle/>
            <a:p>
              <a:pPr algn="l">
                <a:lnSpc>
                  <a:spcPct val="100000"/>
                </a:lnSpc>
              </a:pPr>
              <a:r>
                <a:rPr lang="en-US" sz="1600" b="1" dirty="0">
                  <a:latin typeface="Calibri" pitchFamily="34" charset="0"/>
                </a:rPr>
                <a:t>X</a:t>
              </a:r>
            </a:p>
          </p:txBody>
        </p:sp>
      </p:grpSp>
      <p:grpSp>
        <p:nvGrpSpPr>
          <p:cNvPr id="5" name="Group 19"/>
          <p:cNvGrpSpPr>
            <a:grpSpLocks/>
          </p:cNvGrpSpPr>
          <p:nvPr/>
        </p:nvGrpSpPr>
        <p:grpSpPr bwMode="auto">
          <a:xfrm>
            <a:off x="5334000" y="3819525"/>
            <a:ext cx="1828800" cy="1666875"/>
            <a:chOff x="4608" y="1440"/>
            <a:chExt cx="1152" cy="1050"/>
          </a:xfrm>
        </p:grpSpPr>
        <p:sp>
          <p:nvSpPr>
            <p:cNvPr id="534548" name="Rectangle 20"/>
            <p:cNvSpPr>
              <a:spLocks noChangeArrowheads="1"/>
            </p:cNvSpPr>
            <p:nvPr/>
          </p:nvSpPr>
          <p:spPr bwMode="auto">
            <a:xfrm>
              <a:off x="5040" y="1440"/>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49" name="Rectangle 21"/>
            <p:cNvSpPr>
              <a:spLocks noChangeArrowheads="1"/>
            </p:cNvSpPr>
            <p:nvPr/>
          </p:nvSpPr>
          <p:spPr bwMode="auto">
            <a:xfrm>
              <a:off x="5040" y="1872"/>
              <a:ext cx="720" cy="432"/>
            </a:xfrm>
            <a:prstGeom prst="rect">
              <a:avLst/>
            </a:prstGeom>
            <a:solidFill>
              <a:schemeClr val="bg1">
                <a:lumMod val="95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4550" name="Line 22"/>
            <p:cNvSpPr>
              <a:spLocks noChangeShapeType="1"/>
            </p:cNvSpPr>
            <p:nvPr/>
          </p:nvSpPr>
          <p:spPr bwMode="auto">
            <a:xfrm>
              <a:off x="4704" y="2112"/>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51" name="Text Box 23"/>
            <p:cNvSpPr txBox="1">
              <a:spLocks noChangeArrowheads="1"/>
            </p:cNvSpPr>
            <p:nvPr/>
          </p:nvSpPr>
          <p:spPr bwMode="auto">
            <a:xfrm>
              <a:off x="4968" y="2277"/>
              <a:ext cx="670"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P2 returns</a:t>
              </a:r>
            </a:p>
          </p:txBody>
        </p:sp>
        <p:sp>
          <p:nvSpPr>
            <p:cNvPr id="534552" name="Rectangle 24"/>
            <p:cNvSpPr>
              <a:spLocks noChangeArrowheads="1"/>
            </p:cNvSpPr>
            <p:nvPr/>
          </p:nvSpPr>
          <p:spPr bwMode="auto">
            <a:xfrm>
              <a:off x="4608" y="1872"/>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4553" name="Text Box 25"/>
            <p:cNvSpPr txBox="1">
              <a:spLocks noChangeArrowheads="1"/>
            </p:cNvSpPr>
            <p:nvPr/>
          </p:nvSpPr>
          <p:spPr bwMode="auto">
            <a:xfrm>
              <a:off x="4752" y="2009"/>
              <a:ext cx="188" cy="213"/>
            </a:xfrm>
            <a:prstGeom prst="rect">
              <a:avLst/>
            </a:prstGeom>
            <a:noFill/>
            <a:ln w="25400">
              <a:noFill/>
              <a:miter lim="800000"/>
              <a:headEnd/>
              <a:tailEnd/>
            </a:ln>
            <a:effectLst/>
          </p:spPr>
          <p:txBody>
            <a:bodyPr wrap="none">
              <a:spAutoFit/>
            </a:bodyPr>
            <a:lstStyle/>
            <a:p>
              <a:pPr algn="l">
                <a:lnSpc>
                  <a:spcPct val="100000"/>
                </a:lnSpc>
              </a:pPr>
              <a:r>
                <a:rPr lang="en-US" sz="1600" b="1" dirty="0">
                  <a:latin typeface="Calibri" pitchFamily="34" charset="0"/>
                </a:rPr>
                <a:t>X</a:t>
              </a:r>
            </a:p>
          </p:txBody>
        </p:sp>
      </p:grpSp>
    </p:spTree>
    <p:extLst>
      <p:ext uri="{BB962C8B-B14F-4D97-AF65-F5344CB8AC3E}">
        <p14:creationId xmlns:p14="http://schemas.microsoft.com/office/powerpoint/2010/main" val="152967390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a:xfrm>
            <a:off x="381000" y="428625"/>
            <a:ext cx="8458200" cy="1095375"/>
          </a:xfrm>
        </p:spPr>
        <p:txBody>
          <a:bodyPr/>
          <a:lstStyle/>
          <a:p>
            <a:pPr marL="0" indent="0"/>
            <a:r>
              <a:rPr lang="en-US" dirty="0"/>
              <a:t>Putting It All Together: A Program </a:t>
            </a:r>
            <a:br>
              <a:rPr lang="en-US" dirty="0"/>
            </a:br>
            <a:r>
              <a:rPr lang="en-US" dirty="0"/>
              <a:t>That Restarts Itself When </a:t>
            </a:r>
            <a:r>
              <a:rPr lang="en-US" dirty="0">
                <a:latin typeface="Courier New" pitchFamily="49" charset="0"/>
              </a:rPr>
              <a:t>ctrl-</a:t>
            </a:r>
            <a:r>
              <a:rPr lang="en-US" dirty="0" err="1">
                <a:latin typeface="Courier New" pitchFamily="49" charset="0"/>
              </a:rPr>
              <a:t>c</a:t>
            </a:r>
            <a:r>
              <a:rPr lang="en-US" dirty="0" err="1"/>
              <a:t>’d</a:t>
            </a:r>
            <a:endParaRPr lang="en-US" dirty="0"/>
          </a:p>
        </p:txBody>
      </p:sp>
      <p:sp>
        <p:nvSpPr>
          <p:cNvPr id="566275" name="Rectangle 3"/>
          <p:cNvSpPr>
            <a:spLocks noChangeArrowheads="1"/>
          </p:cNvSpPr>
          <p:nvPr/>
        </p:nvSpPr>
        <p:spPr bwMode="auto">
          <a:xfrm>
            <a:off x="457200" y="1524000"/>
            <a:ext cx="5048716" cy="5262978"/>
          </a:xfrm>
          <a:prstGeom prst="rect">
            <a:avLst/>
          </a:prstGeom>
          <a:solidFill>
            <a:srgbClr val="F6F5BD"/>
          </a:solidFill>
          <a:ln w="3175">
            <a:solidFill>
              <a:schemeClr val="tx1"/>
            </a:solidFill>
            <a:miter lim="800000"/>
            <a:headEnd/>
            <a:tailEnd/>
          </a:ln>
          <a:effectLst/>
        </p:spPr>
        <p:txBody>
          <a:bodyPr wrap="none">
            <a:spAutoFit/>
          </a:bodyPr>
          <a:lstStyle/>
          <a:p>
            <a:r>
              <a:rPr lang="en-US" sz="1400" dirty="0">
                <a:solidFill>
                  <a:srgbClr val="926492"/>
                </a:solidFill>
                <a:latin typeface="Courier New"/>
                <a:cs typeface="Courier New"/>
              </a:rPr>
              <a:t>#include</a:t>
            </a:r>
            <a:r>
              <a:rPr lang="en-US" sz="1400" dirty="0">
                <a:solidFill>
                  <a:srgbClr val="000000"/>
                </a:solidFill>
                <a:latin typeface="Courier New"/>
                <a:cs typeface="Courier New"/>
              </a:rPr>
              <a:t> </a:t>
            </a:r>
            <a:r>
              <a:rPr lang="en-US" sz="1400" dirty="0">
                <a:solidFill>
                  <a:srgbClr val="9D206F"/>
                </a:solidFill>
                <a:latin typeface="Courier New"/>
                <a:cs typeface="Courier New"/>
              </a:rPr>
              <a:t>"</a:t>
            </a:r>
            <a:r>
              <a:rPr lang="en-US" sz="1400" dirty="0" err="1">
                <a:solidFill>
                  <a:srgbClr val="9D206F"/>
                </a:solidFill>
                <a:latin typeface="Courier New"/>
                <a:cs typeface="Courier New"/>
              </a:rPr>
              <a:t>csapp.h</a:t>
            </a:r>
            <a:r>
              <a:rPr lang="en-US" sz="1400" dirty="0">
                <a:solidFill>
                  <a:srgbClr val="9D206F"/>
                </a:solidFill>
                <a:latin typeface="Courier New"/>
                <a:cs typeface="Courier New"/>
              </a:rPr>
              <a:t>"</a:t>
            </a:r>
            <a:endParaRPr lang="en-US" sz="1400" dirty="0">
              <a:solidFill>
                <a:srgbClr val="000000"/>
              </a:solidFill>
              <a:latin typeface="Courier New"/>
              <a:cs typeface="Courier New"/>
            </a:endParaRPr>
          </a:p>
          <a:p>
            <a:endParaRPr lang="en-US" sz="1400" dirty="0">
              <a:solidFill>
                <a:srgbClr val="000000"/>
              </a:solidFill>
              <a:latin typeface="Courier New"/>
              <a:cs typeface="Courier New"/>
            </a:endParaRPr>
          </a:p>
          <a:p>
            <a:r>
              <a:rPr lang="en-US" sz="1400" dirty="0" err="1">
                <a:solidFill>
                  <a:srgbClr val="2D961E"/>
                </a:solidFill>
                <a:latin typeface="Courier New"/>
                <a:cs typeface="Courier New"/>
              </a:rPr>
              <a:t>sigjmp_buf</a:t>
            </a:r>
            <a:r>
              <a:rPr lang="en-US" sz="1400" dirty="0">
                <a:solidFill>
                  <a:srgbClr val="000000"/>
                </a:solidFill>
                <a:latin typeface="Courier New"/>
                <a:cs typeface="Courier New"/>
              </a:rPr>
              <a:t> </a:t>
            </a:r>
            <a:r>
              <a:rPr lang="en-US" sz="1400" dirty="0" err="1">
                <a:solidFill>
                  <a:srgbClr val="C1651C"/>
                </a:solidFill>
                <a:latin typeface="Courier New"/>
                <a:cs typeface="Courier New"/>
              </a:rPr>
              <a:t>buf</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handler</a:t>
            </a:r>
            <a:r>
              <a:rPr lang="en-US" sz="1400" dirty="0">
                <a:solidFill>
                  <a:srgbClr val="000000"/>
                </a:solidFill>
                <a:latin typeface="Courier New"/>
                <a:cs typeface="Courier New"/>
              </a:rPr>
              <a:t>(</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C1651C"/>
                </a:solidFill>
                <a:latin typeface="Courier New"/>
                <a:cs typeface="Courier New"/>
              </a:rPr>
              <a:t>sig</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siglongjmp</a:t>
            </a:r>
            <a:r>
              <a:rPr lang="en-US" sz="1400" dirty="0">
                <a:solidFill>
                  <a:srgbClr val="000000"/>
                </a:solidFill>
                <a:latin typeface="Courier New"/>
                <a:cs typeface="Courier New"/>
              </a:rPr>
              <a:t>(</a:t>
            </a:r>
            <a:r>
              <a:rPr lang="en-US" sz="1400" dirty="0" err="1">
                <a:solidFill>
                  <a:srgbClr val="000000"/>
                </a:solidFill>
                <a:latin typeface="Courier New"/>
                <a:cs typeface="Courier New"/>
              </a:rPr>
              <a:t>buf</a:t>
            </a:r>
            <a:r>
              <a:rPr lang="en-US" sz="1400" dirty="0">
                <a:solidFill>
                  <a:srgbClr val="000000"/>
                </a:solidFill>
                <a:latin typeface="Courier New"/>
                <a:cs typeface="Courier New"/>
              </a:rPr>
              <a:t>, 1);</a:t>
            </a:r>
          </a:p>
          <a:p>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4A00FF"/>
                </a:solidFill>
                <a:latin typeface="Courier New"/>
                <a:cs typeface="Courier New"/>
              </a:rPr>
              <a:t>main</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sigsetjmp</a:t>
            </a:r>
            <a:r>
              <a:rPr lang="en-US" sz="1400" dirty="0">
                <a:solidFill>
                  <a:srgbClr val="000000"/>
                </a:solidFill>
                <a:latin typeface="Courier New"/>
                <a:cs typeface="Courier New"/>
              </a:rPr>
              <a:t>(</a:t>
            </a:r>
            <a:r>
              <a:rPr lang="en-US" sz="1400" dirty="0" err="1">
                <a:solidFill>
                  <a:srgbClr val="000000"/>
                </a:solidFill>
                <a:latin typeface="Courier New"/>
                <a:cs typeface="Courier New"/>
              </a:rPr>
              <a:t>buf</a:t>
            </a:r>
            <a:r>
              <a:rPr lang="en-US" sz="1400" dirty="0">
                <a:solidFill>
                  <a:srgbClr val="000000"/>
                </a:solidFill>
                <a:latin typeface="Courier New"/>
                <a:cs typeface="Courier New"/>
              </a:rPr>
              <a:t>, 1)) {</a:t>
            </a:r>
          </a:p>
          <a:p>
            <a:r>
              <a:rPr lang="en-US" sz="1400" dirty="0">
                <a:solidFill>
                  <a:srgbClr val="000000"/>
                </a:solidFill>
                <a:latin typeface="Courier New"/>
                <a:cs typeface="Courier New"/>
              </a:rPr>
              <a:t>        Signal(SIGINT, handler);</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"starting\n"</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p>
          <a:p>
            <a:r>
              <a:rPr lang="hu-HU" sz="1400" dirty="0">
                <a:solidFill>
                  <a:srgbClr val="000000"/>
                </a:solidFill>
                <a:latin typeface="Courier New"/>
                <a:cs typeface="Courier New"/>
              </a:rPr>
              <a:t>    </a:t>
            </a:r>
            <a:r>
              <a:rPr lang="hu-HU" sz="1400" dirty="0">
                <a:solidFill>
                  <a:srgbClr val="C200FF"/>
                </a:solidFill>
                <a:latin typeface="Courier New"/>
                <a:cs typeface="Courier New"/>
              </a:rPr>
              <a:t>else</a:t>
            </a:r>
            <a:endParaRPr lang="hu-HU"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"restarting\n"</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(1) {</a:t>
            </a:r>
          </a:p>
          <a:p>
            <a:r>
              <a:rPr lang="nl-NL" sz="1400" dirty="0">
                <a:solidFill>
                  <a:srgbClr val="000000"/>
                </a:solidFill>
                <a:latin typeface="Courier New"/>
                <a:cs typeface="Courier New"/>
              </a:rPr>
              <a:t>	Sleep(1);</a:t>
            </a:r>
          </a:p>
          <a:p>
            <a:r>
              <a:rPr lang="nl-NL" sz="1400" dirty="0">
                <a:solidFill>
                  <a:srgbClr val="000000"/>
                </a:solidFill>
                <a:latin typeface="Courier New"/>
                <a:cs typeface="Courier New"/>
              </a:rPr>
              <a:t>	</a:t>
            </a:r>
            <a:r>
              <a:rPr lang="nl-NL" sz="1400" dirty="0" err="1">
                <a:solidFill>
                  <a:srgbClr val="000000"/>
                </a:solidFill>
                <a:latin typeface="Courier New"/>
                <a:cs typeface="Courier New"/>
              </a:rPr>
              <a:t>Sio_puts</a:t>
            </a:r>
            <a:r>
              <a:rPr lang="nl-NL" sz="1400" dirty="0">
                <a:solidFill>
                  <a:srgbClr val="000000"/>
                </a:solidFill>
                <a:latin typeface="Courier New"/>
                <a:cs typeface="Courier New"/>
              </a:rPr>
              <a:t>(</a:t>
            </a:r>
            <a:r>
              <a:rPr lang="nl-NL" sz="1400" dirty="0">
                <a:solidFill>
                  <a:srgbClr val="9D206F"/>
                </a:solidFill>
                <a:latin typeface="Courier New"/>
                <a:cs typeface="Courier New"/>
              </a:rPr>
              <a:t>"processing...\n"</a:t>
            </a:r>
            <a:r>
              <a:rPr lang="nl-NL" sz="1400" dirty="0">
                <a:solidFill>
                  <a:srgbClr val="000000"/>
                </a:solidFill>
                <a:latin typeface="Courier New"/>
                <a:cs typeface="Courier New"/>
              </a:rPr>
              <a:t>);</a:t>
            </a:r>
          </a:p>
          <a:p>
            <a:r>
              <a:rPr lang="nl-NL" sz="1400" dirty="0">
                <a:solidFill>
                  <a:srgbClr val="000000"/>
                </a:solidFill>
                <a:latin typeface="Courier New"/>
                <a:cs typeface="Courier New"/>
              </a:rPr>
              <a:t>    }</a:t>
            </a:r>
          </a:p>
          <a:p>
            <a:r>
              <a:rPr lang="nl-NL" sz="1400" dirty="0">
                <a:solidFill>
                  <a:srgbClr val="000000"/>
                </a:solidFill>
                <a:latin typeface="Courier New"/>
                <a:cs typeface="Courier New"/>
              </a:rPr>
              <a:t>    exit(0); </a:t>
            </a:r>
            <a:r>
              <a:rPr lang="nl-NL" sz="1400" dirty="0">
                <a:solidFill>
                  <a:srgbClr val="CB2418"/>
                </a:solidFill>
                <a:latin typeface="Courier New"/>
                <a:cs typeface="Courier New"/>
              </a:rPr>
              <a:t>/* Control never </a:t>
            </a:r>
            <a:r>
              <a:rPr lang="nl-NL" sz="1400" dirty="0" err="1">
                <a:solidFill>
                  <a:srgbClr val="CB2418"/>
                </a:solidFill>
                <a:latin typeface="Courier New"/>
                <a:cs typeface="Courier New"/>
              </a:rPr>
              <a:t>reaches</a:t>
            </a:r>
            <a:r>
              <a:rPr lang="nl-NL" sz="1400" dirty="0">
                <a:solidFill>
                  <a:srgbClr val="CB2418"/>
                </a:solidFill>
                <a:latin typeface="Courier New"/>
                <a:cs typeface="Courier New"/>
              </a:rPr>
              <a:t> </a:t>
            </a:r>
            <a:r>
              <a:rPr lang="nl-NL" sz="1400" dirty="0" err="1">
                <a:solidFill>
                  <a:srgbClr val="CB2418"/>
                </a:solidFill>
                <a:latin typeface="Courier New"/>
                <a:cs typeface="Courier New"/>
              </a:rPr>
              <a:t>here</a:t>
            </a:r>
            <a:r>
              <a:rPr lang="nl-NL" sz="1400" dirty="0">
                <a:solidFill>
                  <a:srgbClr val="CB2418"/>
                </a:solidFill>
                <a:latin typeface="Courier New"/>
                <a:cs typeface="Courier New"/>
              </a:rPr>
              <a:t> */</a:t>
            </a:r>
            <a:endParaRPr lang="nl-NL" sz="1400" dirty="0">
              <a:solidFill>
                <a:srgbClr val="000000"/>
              </a:solidFill>
              <a:latin typeface="Courier New"/>
              <a:cs typeface="Courier New"/>
            </a:endParaRPr>
          </a:p>
          <a:p>
            <a:r>
              <a:rPr lang="nl-NL" sz="1400" dirty="0" smtClean="0">
                <a:solidFill>
                  <a:srgbClr val="000000"/>
                </a:solidFill>
                <a:latin typeface="Courier New"/>
                <a:cs typeface="Courier New"/>
              </a:rPr>
              <a:t>}</a:t>
            </a:r>
            <a:endParaRPr lang="nl-NL" sz="1400" dirty="0">
              <a:solidFill>
                <a:srgbClr val="000000"/>
              </a:solidFill>
              <a:latin typeface="Courier New"/>
              <a:cs typeface="Courier New"/>
            </a:endParaRPr>
          </a:p>
        </p:txBody>
      </p:sp>
      <p:sp>
        <p:nvSpPr>
          <p:cNvPr id="21" name="TextBox 20"/>
          <p:cNvSpPr txBox="1"/>
          <p:nvPr/>
        </p:nvSpPr>
        <p:spPr>
          <a:xfrm>
            <a:off x="4572000" y="6412468"/>
            <a:ext cx="981872" cy="369332"/>
          </a:xfrm>
          <a:prstGeom prst="rect">
            <a:avLst/>
          </a:prstGeom>
          <a:noFill/>
        </p:spPr>
        <p:txBody>
          <a:bodyPr wrap="none" rtlCol="0">
            <a:spAutoFit/>
          </a:bodyPr>
          <a:lstStyle/>
          <a:p>
            <a:r>
              <a:rPr lang="en-US" sz="1800" dirty="0" err="1" smtClean="0">
                <a:solidFill>
                  <a:srgbClr val="7F7F7F"/>
                </a:solidFill>
                <a:latin typeface="Calibri" pitchFamily="34" charset="0"/>
              </a:rPr>
              <a:t>restart.c</a:t>
            </a:r>
            <a:endParaRPr lang="en-US" sz="1800" dirty="0" smtClean="0">
              <a:solidFill>
                <a:srgbClr val="7F7F7F"/>
              </a:solidFill>
              <a:latin typeface="Calibri" pitchFamily="34" charset="0"/>
            </a:endParaRPr>
          </a:p>
        </p:txBody>
      </p:sp>
      <p:grpSp>
        <p:nvGrpSpPr>
          <p:cNvPr id="23" name="Group 22"/>
          <p:cNvGrpSpPr/>
          <p:nvPr/>
        </p:nvGrpSpPr>
        <p:grpSpPr>
          <a:xfrm>
            <a:off x="4691063" y="2101840"/>
            <a:ext cx="3351431" cy="3046988"/>
            <a:chOff x="2563812" y="2101840"/>
            <a:chExt cx="3351431" cy="3046988"/>
          </a:xfrm>
        </p:grpSpPr>
        <p:sp>
          <p:nvSpPr>
            <p:cNvPr id="22" name="Rectangle 21"/>
            <p:cNvSpPr/>
            <p:nvPr/>
          </p:nvSpPr>
          <p:spPr>
            <a:xfrm>
              <a:off x="2563812" y="2101840"/>
              <a:ext cx="3303588" cy="3046988"/>
            </a:xfrm>
            <a:prstGeom prst="rect">
              <a:avLst/>
            </a:prstGeom>
            <a:solidFill>
              <a:srgbClr val="E0E0E0"/>
            </a:solidFill>
          </p:spPr>
          <p:txBody>
            <a:bodyPr wrap="square">
              <a:spAutoFit/>
            </a:bodyPr>
            <a:lstStyle/>
            <a:p>
              <a:r>
                <a:rPr lang="en-US" sz="1600" dirty="0" err="1" smtClean="0">
                  <a:latin typeface="Courier New"/>
                  <a:cs typeface="Courier New"/>
                </a:rPr>
                <a:t>greatwhite</a:t>
              </a:r>
              <a:r>
                <a:rPr lang="en-US" sz="1600" dirty="0" smtClean="0">
                  <a:latin typeface="Courier New"/>
                  <a:cs typeface="Courier New"/>
                </a:rPr>
                <a:t>&gt; ./restart</a:t>
              </a:r>
            </a:p>
            <a:p>
              <a:r>
                <a:rPr lang="en-US" sz="1600" dirty="0" smtClean="0">
                  <a:latin typeface="Courier New"/>
                  <a:cs typeface="Courier New"/>
                </a:rPr>
                <a:t>starting</a:t>
              </a:r>
            </a:p>
            <a:p>
              <a:r>
                <a:rPr lang="en-US" sz="1600" dirty="0" smtClean="0">
                  <a:latin typeface="Courier New"/>
                  <a:cs typeface="Courier New"/>
                </a:rPr>
                <a:t>processing...</a:t>
              </a:r>
            </a:p>
            <a:p>
              <a:r>
                <a:rPr lang="en-US" sz="1600" dirty="0" smtClean="0">
                  <a:latin typeface="Courier New"/>
                  <a:cs typeface="Courier New"/>
                </a:rPr>
                <a:t>processing...</a:t>
              </a:r>
            </a:p>
            <a:p>
              <a:r>
                <a:rPr lang="en-US" sz="1600" dirty="0" smtClean="0">
                  <a:latin typeface="Courier New"/>
                  <a:cs typeface="Courier New"/>
                </a:rPr>
                <a:t>processing...</a:t>
              </a:r>
            </a:p>
            <a:p>
              <a:r>
                <a:rPr lang="en-US" sz="1600" dirty="0" smtClean="0">
                  <a:latin typeface="Courier New"/>
                  <a:cs typeface="Courier New"/>
                </a:rPr>
                <a:t>restarting</a:t>
              </a:r>
            </a:p>
            <a:p>
              <a:r>
                <a:rPr lang="en-US" sz="1600" dirty="0" smtClean="0">
                  <a:latin typeface="Courier New"/>
                  <a:cs typeface="Courier New"/>
                </a:rPr>
                <a:t>processing...</a:t>
              </a:r>
            </a:p>
            <a:p>
              <a:r>
                <a:rPr lang="en-US" sz="1600" dirty="0" smtClean="0">
                  <a:latin typeface="Courier New"/>
                  <a:cs typeface="Courier New"/>
                </a:rPr>
                <a:t>processing...</a:t>
              </a:r>
            </a:p>
            <a:p>
              <a:r>
                <a:rPr lang="en-US" sz="1600" dirty="0" smtClean="0">
                  <a:latin typeface="Courier New"/>
                  <a:cs typeface="Courier New"/>
                </a:rPr>
                <a:t>restarting</a:t>
              </a:r>
            </a:p>
            <a:p>
              <a:r>
                <a:rPr lang="en-US" sz="1600" dirty="0" smtClean="0">
                  <a:latin typeface="Courier New"/>
                  <a:cs typeface="Courier New"/>
                </a:rPr>
                <a:t>processing...</a:t>
              </a:r>
            </a:p>
            <a:p>
              <a:r>
                <a:rPr lang="en-US" sz="1600" dirty="0" smtClean="0">
                  <a:latin typeface="Courier New"/>
                  <a:cs typeface="Courier New"/>
                </a:rPr>
                <a:t>processing...</a:t>
              </a:r>
            </a:p>
            <a:p>
              <a:r>
                <a:rPr lang="en-US" sz="1600" dirty="0" smtClean="0">
                  <a:latin typeface="Courier New"/>
                  <a:cs typeface="Courier New"/>
                </a:rPr>
                <a:t>processing...</a:t>
              </a:r>
              <a:endParaRPr lang="en-US" sz="1600" dirty="0">
                <a:latin typeface="Courier New"/>
                <a:cs typeface="Courier New"/>
              </a:endParaRPr>
            </a:p>
          </p:txBody>
        </p:sp>
        <p:grpSp>
          <p:nvGrpSpPr>
            <p:cNvPr id="3" name="Group 12"/>
            <p:cNvGrpSpPr>
              <a:grpSpLocks/>
            </p:cNvGrpSpPr>
            <p:nvPr/>
          </p:nvGrpSpPr>
          <p:grpSpPr bwMode="auto">
            <a:xfrm>
              <a:off x="4025897" y="3440113"/>
              <a:ext cx="1878013" cy="338138"/>
              <a:chOff x="3592" y="2524"/>
              <a:chExt cx="1183" cy="213"/>
            </a:xfrm>
          </p:grpSpPr>
          <p:sp>
            <p:nvSpPr>
              <p:cNvPr id="566278" name="Text Box 6"/>
              <p:cNvSpPr txBox="1">
                <a:spLocks noChangeArrowheads="1"/>
              </p:cNvSpPr>
              <p:nvPr/>
            </p:nvSpPr>
            <p:spPr bwMode="auto">
              <a:xfrm>
                <a:off x="4368" y="2524"/>
                <a:ext cx="407" cy="213"/>
              </a:xfrm>
              <a:prstGeom prst="rect">
                <a:avLst/>
              </a:prstGeom>
              <a:noFill/>
              <a:ln w="25400">
                <a:noFill/>
                <a:miter lim="800000"/>
                <a:headEnd/>
                <a:tailEnd/>
              </a:ln>
              <a:effectLst/>
            </p:spPr>
            <p:txBody>
              <a:bodyPr wrap="none">
                <a:spAutoFit/>
              </a:bodyPr>
              <a:lstStyle/>
              <a:p>
                <a:pPr algn="l">
                  <a:lnSpc>
                    <a:spcPct val="100000"/>
                  </a:lnSpc>
                </a:pPr>
                <a:r>
                  <a:rPr lang="en-US" sz="1600" b="1" dirty="0">
                    <a:solidFill>
                      <a:srgbClr val="C00000"/>
                    </a:solidFill>
                    <a:latin typeface="Calibri" pitchFamily="34" charset="0"/>
                  </a:rPr>
                  <a:t>Ctrl-c</a:t>
                </a:r>
              </a:p>
            </p:txBody>
          </p:sp>
          <p:sp>
            <p:nvSpPr>
              <p:cNvPr id="566279" name="Line 7"/>
              <p:cNvSpPr>
                <a:spLocks noChangeShapeType="1"/>
              </p:cNvSpPr>
              <p:nvPr/>
            </p:nvSpPr>
            <p:spPr bwMode="auto">
              <a:xfrm>
                <a:off x="3592" y="2668"/>
                <a:ext cx="824" cy="0"/>
              </a:xfrm>
              <a:prstGeom prst="line">
                <a:avLst/>
              </a:prstGeom>
              <a:noFill/>
              <a:ln w="25400">
                <a:solidFill>
                  <a:srgbClr val="C00000"/>
                </a:solidFill>
                <a:round/>
                <a:headEnd type="triangle" w="med" len="med"/>
                <a:tailEnd/>
              </a:ln>
              <a:effectLst/>
            </p:spPr>
            <p:txBody>
              <a:bodyPr wrap="none" anchor="ctr"/>
              <a:lstStyle/>
              <a:p>
                <a:endParaRPr lang="en-US" sz="1600" dirty="0">
                  <a:solidFill>
                    <a:srgbClr val="C00000"/>
                  </a:solidFill>
                  <a:latin typeface="Calibri" pitchFamily="34" charset="0"/>
                </a:endParaRPr>
              </a:p>
            </p:txBody>
          </p:sp>
        </p:grpSp>
        <p:sp>
          <p:nvSpPr>
            <p:cNvPr id="566297" name="Line 25"/>
            <p:cNvSpPr>
              <a:spLocks noChangeShapeType="1"/>
            </p:cNvSpPr>
            <p:nvPr/>
          </p:nvSpPr>
          <p:spPr bwMode="auto">
            <a:xfrm>
              <a:off x="4026344" y="4511675"/>
              <a:ext cx="1242568" cy="0"/>
            </a:xfrm>
            <a:prstGeom prst="line">
              <a:avLst/>
            </a:prstGeom>
            <a:noFill/>
            <a:ln w="25400">
              <a:solidFill>
                <a:srgbClr val="C00000"/>
              </a:solidFill>
              <a:round/>
              <a:headEnd type="triangle" w="med" len="med"/>
              <a:tailEnd/>
            </a:ln>
            <a:effectLst/>
          </p:spPr>
          <p:txBody>
            <a:bodyPr wrap="none" anchor="ctr"/>
            <a:lstStyle/>
            <a:p>
              <a:endParaRPr lang="en-US" sz="1600" dirty="0">
                <a:solidFill>
                  <a:srgbClr val="C00000"/>
                </a:solidFill>
                <a:latin typeface="Calibri" pitchFamily="34" charset="0"/>
              </a:endParaRPr>
            </a:p>
          </p:txBody>
        </p:sp>
        <p:sp>
          <p:nvSpPr>
            <p:cNvPr id="566296" name="Text Box 24"/>
            <p:cNvSpPr txBox="1">
              <a:spLocks noChangeArrowheads="1"/>
            </p:cNvSpPr>
            <p:nvPr/>
          </p:nvSpPr>
          <p:spPr bwMode="auto">
            <a:xfrm>
              <a:off x="5268912" y="4354512"/>
              <a:ext cx="646331" cy="338554"/>
            </a:xfrm>
            <a:prstGeom prst="rect">
              <a:avLst/>
            </a:prstGeom>
            <a:noFill/>
            <a:ln w="25400">
              <a:noFill/>
              <a:miter lim="800000"/>
              <a:headEnd/>
              <a:tailEnd/>
            </a:ln>
            <a:effectLst/>
          </p:spPr>
          <p:txBody>
            <a:bodyPr wrap="none">
              <a:spAutoFit/>
            </a:bodyPr>
            <a:lstStyle/>
            <a:p>
              <a:pPr algn="l">
                <a:lnSpc>
                  <a:spcPct val="100000"/>
                </a:lnSpc>
              </a:pPr>
              <a:r>
                <a:rPr lang="en-US" sz="1600" b="1" dirty="0">
                  <a:solidFill>
                    <a:srgbClr val="C00000"/>
                  </a:solidFill>
                  <a:latin typeface="Calibri" pitchFamily="34" charset="0"/>
                </a:rPr>
                <a:t>Ctrl-c</a:t>
              </a:r>
            </a:p>
          </p:txBody>
        </p:sp>
      </p:grpSp>
    </p:spTree>
    <p:extLst>
      <p:ext uri="{BB962C8B-B14F-4D97-AF65-F5344CB8AC3E}">
        <p14:creationId xmlns:p14="http://schemas.microsoft.com/office/powerpoint/2010/main" val="6493292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a:xfrm>
            <a:off x="457200" y="493713"/>
            <a:ext cx="2209800" cy="573087"/>
          </a:xfrm>
        </p:spPr>
        <p:txBody>
          <a:bodyPr/>
          <a:lstStyle/>
          <a:p>
            <a:r>
              <a:rPr lang="en-US"/>
              <a:t>Summary</a:t>
            </a:r>
          </a:p>
        </p:txBody>
      </p:sp>
      <p:sp>
        <p:nvSpPr>
          <p:cNvPr id="535555" name="Rectangle 3"/>
          <p:cNvSpPr>
            <a:spLocks noGrp="1" noChangeArrowheads="1"/>
          </p:cNvSpPr>
          <p:nvPr>
            <p:ph type="body" idx="1"/>
          </p:nvPr>
        </p:nvSpPr>
        <p:spPr>
          <a:xfrm>
            <a:off x="457200" y="1200150"/>
            <a:ext cx="7896225" cy="4972050"/>
          </a:xfrm>
        </p:spPr>
        <p:txBody>
          <a:bodyPr/>
          <a:lstStyle/>
          <a:p>
            <a:r>
              <a:rPr lang="en-US" dirty="0"/>
              <a:t>Signals provide process-level exception handling</a:t>
            </a:r>
          </a:p>
          <a:p>
            <a:pPr lvl="1"/>
            <a:r>
              <a:rPr lang="en-US" dirty="0"/>
              <a:t>Can generate from user programs</a:t>
            </a:r>
            <a:endParaRPr lang="en-US" dirty="0">
              <a:latin typeface="Courier New" pitchFamily="49" charset="0"/>
            </a:endParaRPr>
          </a:p>
          <a:p>
            <a:pPr lvl="1"/>
            <a:r>
              <a:rPr lang="en-US" dirty="0"/>
              <a:t>Can define effect by declaring signal </a:t>
            </a:r>
            <a:r>
              <a:rPr lang="en-US" dirty="0" smtClean="0"/>
              <a:t>handler</a:t>
            </a:r>
          </a:p>
          <a:p>
            <a:pPr lvl="1"/>
            <a:r>
              <a:rPr lang="en-US" dirty="0" smtClean="0"/>
              <a:t>Be very careful when writing signal handlers</a:t>
            </a:r>
            <a:endParaRPr lang="en-US" dirty="0"/>
          </a:p>
          <a:p>
            <a:endParaRPr lang="en-US" dirty="0" smtClean="0"/>
          </a:p>
          <a:p>
            <a:r>
              <a:rPr lang="en-US" dirty="0" smtClean="0"/>
              <a:t>Nonlocal </a:t>
            </a:r>
            <a:r>
              <a:rPr lang="en-US" dirty="0"/>
              <a:t>jumps provide exceptional control flow within process</a:t>
            </a:r>
          </a:p>
          <a:p>
            <a:pPr lvl="1"/>
            <a:r>
              <a:rPr lang="en-US" dirty="0"/>
              <a:t>Within constraints of stack discipline </a:t>
            </a:r>
          </a:p>
        </p:txBody>
      </p:sp>
    </p:spTree>
    <p:extLst>
      <p:ext uri="{BB962C8B-B14F-4D97-AF65-F5344CB8AC3E}">
        <p14:creationId xmlns:p14="http://schemas.microsoft.com/office/powerpoint/2010/main" val="235990730"/>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t>Homework </a:t>
            </a:r>
            <a:r>
              <a:rPr lang="mr-IN" dirty="0" smtClean="0"/>
              <a:t>–</a:t>
            </a:r>
            <a:r>
              <a:rPr lang="en-US" dirty="0" smtClean="0"/>
              <a:t> Week </a:t>
            </a:r>
            <a:r>
              <a:rPr lang="en-US" dirty="0" smtClean="0"/>
              <a:t>4</a:t>
            </a:r>
            <a:r>
              <a:rPr lang="en-US" dirty="0" smtClean="0"/>
              <a:t/>
            </a:r>
            <a:br>
              <a:rPr lang="en-US" dirty="0" smtClean="0"/>
            </a:br>
            <a:r>
              <a:rPr lang="en-US" sz="2800" dirty="0" smtClean="0"/>
              <a:t> </a:t>
            </a:r>
            <a:endParaRPr lang="en-US" sz="3200" dirty="0"/>
          </a:p>
        </p:txBody>
      </p:sp>
      <p:sp>
        <p:nvSpPr>
          <p:cNvPr id="3" name="Content Placeholder 2"/>
          <p:cNvSpPr>
            <a:spLocks noGrp="1"/>
          </p:cNvSpPr>
          <p:nvPr>
            <p:ph idx="1"/>
          </p:nvPr>
        </p:nvSpPr>
        <p:spPr>
          <a:xfrm>
            <a:off x="396875" y="1623659"/>
            <a:ext cx="7896225" cy="4710465"/>
          </a:xfrm>
        </p:spPr>
        <p:txBody>
          <a:bodyPr/>
          <a:lstStyle/>
          <a:p>
            <a:r>
              <a:rPr lang="en-US" dirty="0" smtClean="0"/>
              <a:t>Read: CS:APP </a:t>
            </a:r>
            <a:endParaRPr lang="en-US" dirty="0" smtClean="0"/>
          </a:p>
          <a:p>
            <a:pPr lvl="1"/>
            <a:r>
              <a:rPr lang="en-US" dirty="0" err="1" smtClean="0"/>
              <a:t>Ch</a:t>
            </a:r>
            <a:r>
              <a:rPr lang="en-US" dirty="0" smtClean="0"/>
              <a:t> </a:t>
            </a:r>
            <a:r>
              <a:rPr lang="en-US" dirty="0" smtClean="0"/>
              <a:t>8 Sections </a:t>
            </a:r>
            <a:r>
              <a:rPr lang="en-US" dirty="0" smtClean="0"/>
              <a:t>8.5-8.8</a:t>
            </a:r>
          </a:p>
          <a:p>
            <a:pPr lvl="1"/>
            <a:r>
              <a:rPr lang="en-US" dirty="0" err="1" smtClean="0"/>
              <a:t>Ch</a:t>
            </a:r>
            <a:r>
              <a:rPr lang="en-US" dirty="0" smtClean="0"/>
              <a:t> 10</a:t>
            </a:r>
            <a:endParaRPr lang="en-US" dirty="0" smtClean="0"/>
          </a:p>
          <a:p>
            <a:pPr lvl="1"/>
            <a:endParaRPr lang="en-US" dirty="0" smtClean="0"/>
          </a:p>
          <a:p>
            <a:r>
              <a:rPr lang="en-US" dirty="0" smtClean="0"/>
              <a:t>Review sample code:</a:t>
            </a:r>
          </a:p>
          <a:p>
            <a:pPr lvl="1"/>
            <a:r>
              <a:rPr lang="en-US" dirty="0" err="1" smtClean="0"/>
              <a:t>cp</a:t>
            </a:r>
            <a:r>
              <a:rPr lang="en-US" dirty="0" smtClean="0"/>
              <a:t> </a:t>
            </a:r>
            <a:r>
              <a:rPr lang="mr-IN" dirty="0" smtClean="0"/>
              <a:t>–</a:t>
            </a:r>
            <a:r>
              <a:rPr lang="en-US" dirty="0" smtClean="0"/>
              <a:t>r /home/</a:t>
            </a:r>
            <a:r>
              <a:rPr lang="en-US" dirty="0" err="1" smtClean="0"/>
              <a:t>wmartens</a:t>
            </a:r>
            <a:r>
              <a:rPr lang="en-US" dirty="0" smtClean="0"/>
              <a:t>/public/lecture4 .</a:t>
            </a:r>
          </a:p>
          <a:p>
            <a:pPr lvl="1"/>
            <a:r>
              <a:rPr lang="en-US" dirty="0" smtClean="0"/>
              <a:t>Don’t forget the ‘ . ‘ to copy into your</a:t>
            </a:r>
            <a:r>
              <a:rPr lang="mr-IN" dirty="0" smtClean="0"/>
              <a:t>…</a:t>
            </a:r>
            <a:r>
              <a:rPr lang="en-US" dirty="0" smtClean="0"/>
              <a:t>  ^ </a:t>
            </a:r>
            <a:r>
              <a:rPr lang="mr-IN" dirty="0" smtClean="0"/>
              <a:t>…</a:t>
            </a:r>
            <a:r>
              <a:rPr lang="en-US" dirty="0" smtClean="0"/>
              <a:t> current directory</a:t>
            </a:r>
            <a:endParaRPr lang="en-US" dirty="0" smtClean="0"/>
          </a:p>
          <a:p>
            <a:endParaRPr lang="en-US" dirty="0" smtClean="0"/>
          </a:p>
          <a:p>
            <a:r>
              <a:rPr lang="en-US" dirty="0" smtClean="0"/>
              <a:t>Review Slides from Lecture 4</a:t>
            </a: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342172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Supplemental </a:t>
            </a:r>
            <a:r>
              <a:rPr lang="en-US" dirty="0" smtClean="0"/>
              <a:t>slides</a:t>
            </a:r>
            <a:endParaRPr lang="en-US" dirty="0"/>
          </a:p>
        </p:txBody>
      </p:sp>
      <p:sp>
        <p:nvSpPr>
          <p:cNvPr id="3" name="Content Placeholder 2"/>
          <p:cNvSpPr>
            <a:spLocks noGrp="1"/>
          </p:cNvSpPr>
          <p:nvPr>
            <p:ph idx="1"/>
          </p:nvPr>
        </p:nvSpPr>
        <p:spPr/>
        <p:txBody>
          <a:bodyPr/>
          <a:lstStyle/>
          <a:p>
            <a:r>
              <a:rPr lang="en-US" dirty="0" smtClean="0"/>
              <a:t>Portable Signal Handling</a:t>
            </a:r>
            <a:endParaRPr lang="en-US" dirty="0"/>
          </a:p>
        </p:txBody>
      </p:sp>
    </p:spTree>
    <p:extLst>
      <p:ext uri="{BB962C8B-B14F-4D97-AF65-F5344CB8AC3E}">
        <p14:creationId xmlns:p14="http://schemas.microsoft.com/office/powerpoint/2010/main" val="4200996316"/>
      </p:ext>
    </p:extLst>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a:xfrm>
            <a:off x="381000" y="493712"/>
            <a:ext cx="8305800" cy="573088"/>
          </a:xfrm>
        </p:spPr>
        <p:txBody>
          <a:bodyPr/>
          <a:lstStyle/>
          <a:p>
            <a:r>
              <a:rPr lang="en-US" dirty="0" smtClean="0"/>
              <a:t>Portable Signal Handling</a:t>
            </a:r>
            <a:endParaRPr lang="en-US" dirty="0"/>
          </a:p>
        </p:txBody>
      </p:sp>
      <p:sp>
        <p:nvSpPr>
          <p:cNvPr id="565251" name="Rectangle 3"/>
          <p:cNvSpPr>
            <a:spLocks noGrp="1" noChangeArrowheads="1"/>
          </p:cNvSpPr>
          <p:nvPr>
            <p:ph type="body" idx="1"/>
          </p:nvPr>
        </p:nvSpPr>
        <p:spPr>
          <a:xfrm>
            <a:off x="381000" y="1143000"/>
            <a:ext cx="8305800" cy="2133600"/>
          </a:xfrm>
        </p:spPr>
        <p:txBody>
          <a:bodyPr/>
          <a:lstStyle/>
          <a:p>
            <a:r>
              <a:rPr lang="en-US" dirty="0" smtClean="0"/>
              <a:t>Ugh! Different versions of Unix can have different signal handling semantics</a:t>
            </a:r>
          </a:p>
          <a:p>
            <a:pPr lvl="1"/>
            <a:r>
              <a:rPr lang="en-US" dirty="0" smtClean="0"/>
              <a:t>Some older systems restore action to default after catching signal</a:t>
            </a:r>
          </a:p>
          <a:p>
            <a:pPr lvl="1"/>
            <a:r>
              <a:rPr lang="en-US" dirty="0" smtClean="0"/>
              <a:t>Some interrupted system calls can return with </a:t>
            </a:r>
            <a:r>
              <a:rPr lang="en-US" dirty="0" err="1" smtClean="0"/>
              <a:t>errno</a:t>
            </a:r>
            <a:r>
              <a:rPr lang="en-US" dirty="0" smtClean="0"/>
              <a:t> == EINTR</a:t>
            </a:r>
          </a:p>
          <a:p>
            <a:pPr lvl="1"/>
            <a:r>
              <a:rPr lang="en-US" dirty="0" smtClean="0"/>
              <a:t>Some systems don’t block signals of the type being handled </a:t>
            </a:r>
          </a:p>
          <a:p>
            <a:r>
              <a:rPr lang="en-US" dirty="0" smtClean="0"/>
              <a:t>Solution: </a:t>
            </a:r>
            <a:r>
              <a:rPr lang="en-US" dirty="0" err="1" smtClean="0">
                <a:latin typeface="Courier New"/>
                <a:cs typeface="Courier New"/>
              </a:rPr>
              <a:t>sigaction</a:t>
            </a:r>
            <a:endParaRPr lang="en-US" dirty="0" smtClean="0">
              <a:latin typeface="Courier New"/>
              <a:cs typeface="Courier New"/>
            </a:endParaRPr>
          </a:p>
        </p:txBody>
      </p:sp>
      <p:sp>
        <p:nvSpPr>
          <p:cNvPr id="4" name="Rectangle 4"/>
          <p:cNvSpPr>
            <a:spLocks noChangeArrowheads="1"/>
          </p:cNvSpPr>
          <p:nvPr/>
        </p:nvSpPr>
        <p:spPr bwMode="auto">
          <a:xfrm>
            <a:off x="239964" y="3734812"/>
            <a:ext cx="8523036" cy="2862322"/>
          </a:xfrm>
          <a:prstGeom prst="rect">
            <a:avLst/>
          </a:prstGeom>
          <a:solidFill>
            <a:srgbClr val="F6F5BD"/>
          </a:solidFill>
          <a:ln w="3175">
            <a:solidFill>
              <a:schemeClr val="tx1"/>
            </a:solidFill>
            <a:miter lim="800000"/>
            <a:headEnd/>
            <a:tailEnd/>
          </a:ln>
          <a:effectLst/>
        </p:spPr>
        <p:txBody>
          <a:bodyPr wrap="none">
            <a:spAutoFit/>
          </a:bodyPr>
          <a:lstStyle/>
          <a:p>
            <a:r>
              <a:rPr lang="en-US" sz="1500" dirty="0" err="1">
                <a:solidFill>
                  <a:srgbClr val="2D961E"/>
                </a:solidFill>
                <a:latin typeface="Courier New"/>
                <a:cs typeface="Courier New"/>
              </a:rPr>
              <a:t>handler_t</a:t>
            </a:r>
            <a:r>
              <a:rPr lang="en-US" sz="1500" dirty="0">
                <a:solidFill>
                  <a:srgbClr val="000000"/>
                </a:solidFill>
                <a:latin typeface="Courier New"/>
                <a:cs typeface="Courier New"/>
              </a:rPr>
              <a:t> *</a:t>
            </a:r>
            <a:r>
              <a:rPr lang="en-US" sz="1500" dirty="0">
                <a:solidFill>
                  <a:srgbClr val="4A00FF"/>
                </a:solidFill>
                <a:latin typeface="Courier New"/>
                <a:cs typeface="Courier New"/>
              </a:rPr>
              <a:t>Signal</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signum</a:t>
            </a:r>
            <a:r>
              <a:rPr lang="en-US" sz="1500" dirty="0">
                <a:solidFill>
                  <a:srgbClr val="000000"/>
                </a:solidFill>
                <a:latin typeface="Courier New"/>
                <a:cs typeface="Courier New"/>
              </a:rPr>
              <a:t>, </a:t>
            </a:r>
            <a:r>
              <a:rPr lang="en-US" sz="1500" dirty="0" err="1">
                <a:solidFill>
                  <a:srgbClr val="2D961E"/>
                </a:solidFill>
                <a:latin typeface="Courier New"/>
                <a:cs typeface="Courier New"/>
              </a:rPr>
              <a:t>handler_t</a:t>
            </a:r>
            <a:r>
              <a:rPr lang="en-US" sz="1500" dirty="0">
                <a:solidFill>
                  <a:srgbClr val="000000"/>
                </a:solidFill>
                <a:latin typeface="Courier New"/>
                <a:cs typeface="Courier New"/>
              </a:rPr>
              <a:t> *</a:t>
            </a:r>
            <a:r>
              <a:rPr lang="en-US" sz="1500" dirty="0">
                <a:solidFill>
                  <a:srgbClr val="C1651C"/>
                </a:solidFill>
                <a:latin typeface="Courier New"/>
                <a:cs typeface="Courier New"/>
              </a:rPr>
              <a:t>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C200FF"/>
                </a:solidFill>
                <a:latin typeface="Courier New"/>
                <a:cs typeface="Courier New"/>
              </a:rPr>
              <a:t>struct</a:t>
            </a:r>
            <a:r>
              <a:rPr lang="en-US" sz="1500" dirty="0">
                <a:solidFill>
                  <a:srgbClr val="000000"/>
                </a:solidFill>
                <a:latin typeface="Courier New"/>
                <a:cs typeface="Courier New"/>
              </a:rPr>
              <a:t> </a:t>
            </a:r>
            <a:r>
              <a:rPr lang="en-US" sz="1500" dirty="0" err="1">
                <a:solidFill>
                  <a:srgbClr val="2D961E"/>
                </a:solidFill>
                <a:latin typeface="Courier New"/>
                <a:cs typeface="Courier New"/>
              </a:rPr>
              <a:t>sigaction</a:t>
            </a:r>
            <a:r>
              <a:rPr lang="en-US" sz="1500" dirty="0">
                <a:solidFill>
                  <a:srgbClr val="000000"/>
                </a:solidFill>
                <a:latin typeface="Courier New"/>
                <a:cs typeface="Courier New"/>
              </a:rPr>
              <a:t> </a:t>
            </a:r>
            <a:r>
              <a:rPr lang="en-US" sz="1500" dirty="0">
                <a:solidFill>
                  <a:srgbClr val="C1651C"/>
                </a:solidFill>
                <a:latin typeface="Courier New"/>
                <a:cs typeface="Courier New"/>
              </a:rPr>
              <a:t>action</a:t>
            </a:r>
            <a:r>
              <a:rPr lang="en-US" sz="1500" dirty="0">
                <a:solidFill>
                  <a:srgbClr val="000000"/>
                </a:solidFill>
                <a:latin typeface="Courier New"/>
                <a:cs typeface="Courier New"/>
              </a:rPr>
              <a:t>, </a:t>
            </a:r>
            <a:r>
              <a:rPr lang="en-US" sz="1500" dirty="0" err="1">
                <a:solidFill>
                  <a:srgbClr val="C1651C"/>
                </a:solidFill>
                <a:latin typeface="Courier New"/>
                <a:cs typeface="Courier New"/>
              </a:rPr>
              <a:t>old_action</a:t>
            </a:r>
            <a:r>
              <a:rPr lang="en-US" sz="1500" dirty="0">
                <a:solidFill>
                  <a:srgbClr val="000000"/>
                </a:solidFill>
                <a:latin typeface="Courier New"/>
                <a:cs typeface="Courier New"/>
              </a:rPr>
              <a:t>;</a:t>
            </a:r>
          </a:p>
          <a:p>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action.sa_handler</a:t>
            </a:r>
            <a:r>
              <a:rPr lang="en-US" sz="1500" dirty="0">
                <a:solidFill>
                  <a:srgbClr val="000000"/>
                </a:solidFill>
                <a:latin typeface="Courier New"/>
                <a:cs typeface="Courier New"/>
              </a:rPr>
              <a:t> = handler;</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sigemptyset</a:t>
            </a:r>
            <a:r>
              <a:rPr lang="en-US" sz="1500" dirty="0">
                <a:solidFill>
                  <a:srgbClr val="000000"/>
                </a:solidFill>
                <a:latin typeface="Courier New"/>
                <a:cs typeface="Courier New"/>
              </a:rPr>
              <a:t>(&amp;</a:t>
            </a:r>
            <a:r>
              <a:rPr lang="en-US" sz="1500" dirty="0" err="1">
                <a:solidFill>
                  <a:srgbClr val="000000"/>
                </a:solidFill>
                <a:latin typeface="Courier New"/>
                <a:cs typeface="Courier New"/>
              </a:rPr>
              <a:t>action.sa_mask</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sigs of type being handled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action.sa_flags</a:t>
            </a:r>
            <a:r>
              <a:rPr lang="en-US" sz="1500" dirty="0">
                <a:solidFill>
                  <a:srgbClr val="000000"/>
                </a:solidFill>
                <a:latin typeface="Courier New"/>
                <a:cs typeface="Courier New"/>
              </a:rPr>
              <a:t> = SA_RESTART; </a:t>
            </a:r>
            <a:r>
              <a:rPr lang="en-US" sz="1500" dirty="0">
                <a:solidFill>
                  <a:srgbClr val="CB2418"/>
                </a:solidFill>
                <a:latin typeface="Courier New"/>
                <a:cs typeface="Courier New"/>
              </a:rPr>
              <a:t>/* Restart </a:t>
            </a:r>
            <a:r>
              <a:rPr lang="en-US" sz="1500" dirty="0" err="1">
                <a:solidFill>
                  <a:srgbClr val="CB2418"/>
                </a:solidFill>
                <a:latin typeface="Courier New"/>
                <a:cs typeface="Courier New"/>
              </a:rPr>
              <a:t>syscalls</a:t>
            </a:r>
            <a:r>
              <a:rPr lang="en-US" sz="1500" dirty="0">
                <a:solidFill>
                  <a:srgbClr val="CB2418"/>
                </a:solidFill>
                <a:latin typeface="Courier New"/>
                <a:cs typeface="Courier New"/>
              </a:rPr>
              <a:t> if possible */</a:t>
            </a:r>
            <a:endParaRPr lang="en-US" sz="1500" dirty="0">
              <a:solidFill>
                <a:srgbClr val="000000"/>
              </a:solidFill>
              <a:latin typeface="Courier New"/>
              <a:cs typeface="Courier New"/>
            </a:endParaRPr>
          </a:p>
          <a:p>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a:t>
            </a:r>
            <a:r>
              <a:rPr lang="en-US" sz="1500" dirty="0" err="1">
                <a:solidFill>
                  <a:srgbClr val="000000"/>
                </a:solidFill>
                <a:latin typeface="Courier New"/>
                <a:cs typeface="Courier New"/>
              </a:rPr>
              <a:t>sigaction</a:t>
            </a:r>
            <a:r>
              <a:rPr lang="en-US" sz="1500" dirty="0">
                <a:solidFill>
                  <a:srgbClr val="000000"/>
                </a:solidFill>
                <a:latin typeface="Courier New"/>
                <a:cs typeface="Courier New"/>
              </a:rPr>
              <a:t>(</a:t>
            </a:r>
            <a:r>
              <a:rPr lang="en-US" sz="1500" dirty="0" err="1">
                <a:solidFill>
                  <a:srgbClr val="000000"/>
                </a:solidFill>
                <a:latin typeface="Courier New"/>
                <a:cs typeface="Courier New"/>
              </a:rPr>
              <a:t>signum</a:t>
            </a:r>
            <a:r>
              <a:rPr lang="en-US" sz="1500" dirty="0">
                <a:solidFill>
                  <a:srgbClr val="000000"/>
                </a:solidFill>
                <a:latin typeface="Courier New"/>
                <a:cs typeface="Courier New"/>
              </a:rPr>
              <a:t>, &amp;action, &amp;</a:t>
            </a:r>
            <a:r>
              <a:rPr lang="en-US" sz="1500" dirty="0" err="1">
                <a:solidFill>
                  <a:srgbClr val="000000"/>
                </a:solidFill>
                <a:latin typeface="Courier New"/>
                <a:cs typeface="Courier New"/>
              </a:rPr>
              <a:t>old_action</a:t>
            </a:r>
            <a:r>
              <a:rPr lang="en-US" sz="1500" dirty="0">
                <a:solidFill>
                  <a:srgbClr val="000000"/>
                </a:solidFill>
                <a:latin typeface="Courier New"/>
                <a:cs typeface="Courier New"/>
              </a:rPr>
              <a:t>) &lt; 0)</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unix_error</a:t>
            </a:r>
            <a:r>
              <a:rPr lang="en-US" sz="1500" dirty="0">
                <a:solidFill>
                  <a:srgbClr val="000000"/>
                </a:solidFill>
                <a:latin typeface="Courier New"/>
                <a:cs typeface="Courier New"/>
              </a:rPr>
              <a:t>(</a:t>
            </a:r>
            <a:r>
              <a:rPr lang="en-US" sz="1500" dirty="0">
                <a:solidFill>
                  <a:srgbClr val="9D206F"/>
                </a:solidFill>
                <a:latin typeface="Courier New"/>
                <a:cs typeface="Courier New"/>
              </a:rPr>
              <a:t>"Signal error"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a:solidFill>
                  <a:srgbClr val="C200FF"/>
                </a:solidFill>
                <a:latin typeface="Courier New"/>
                <a:cs typeface="Courier New"/>
              </a:rPr>
              <a:t>return</a:t>
            </a:r>
            <a:r>
              <a:rPr lang="en-US" sz="1500" dirty="0">
                <a:solidFill>
                  <a:srgbClr val="000000"/>
                </a:solidFill>
                <a:latin typeface="Courier New"/>
                <a:cs typeface="Courier New"/>
              </a:rPr>
              <a:t> (</a:t>
            </a:r>
            <a:r>
              <a:rPr lang="en-US" sz="1500" dirty="0" err="1">
                <a:solidFill>
                  <a:srgbClr val="000000"/>
                </a:solidFill>
                <a:latin typeface="Courier New"/>
                <a:cs typeface="Courier New"/>
              </a:rPr>
              <a:t>old_action.sa_handler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p:txBody>
      </p:sp>
      <p:sp>
        <p:nvSpPr>
          <p:cNvPr id="5" name="TextBox 4"/>
          <p:cNvSpPr txBox="1"/>
          <p:nvPr/>
        </p:nvSpPr>
        <p:spPr>
          <a:xfrm>
            <a:off x="7869719" y="6240502"/>
            <a:ext cx="893281" cy="369332"/>
          </a:xfrm>
          <a:prstGeom prst="rect">
            <a:avLst/>
          </a:prstGeom>
          <a:noFill/>
        </p:spPr>
        <p:txBody>
          <a:bodyPr wrap="none" rtlCol="0">
            <a:spAutoFit/>
          </a:bodyPr>
          <a:lstStyle/>
          <a:p>
            <a:r>
              <a:rPr lang="en-US" sz="1800" dirty="0" err="1" smtClean="0">
                <a:solidFill>
                  <a:srgbClr val="7F7F7F"/>
                </a:solidFill>
                <a:latin typeface="Calibri" pitchFamily="34" charset="0"/>
              </a:rPr>
              <a:t>csapp.c</a:t>
            </a:r>
            <a:endParaRPr lang="en-US" sz="1800" dirty="0" smtClean="0">
              <a:solidFill>
                <a:srgbClr val="7F7F7F"/>
              </a:solidFill>
              <a:latin typeface="Calibri" pitchFamily="34" charset="0"/>
            </a:endParaRPr>
          </a:p>
        </p:txBody>
      </p:sp>
    </p:spTree>
    <p:extLst>
      <p:ext uri="{BB962C8B-B14F-4D97-AF65-F5344CB8AC3E}">
        <p14:creationId xmlns:p14="http://schemas.microsoft.com/office/powerpoint/2010/main" val="3284990587"/>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20000"/>
            <a:lumOff val="80000"/>
          </a:schemeClr>
        </a:solidFill>
        <a:ln w="28575" cap="flat" cmpd="sng" algn="ctr">
          <a:solidFill>
            <a:schemeClr val="tx1"/>
          </a:solidFill>
          <a:prstDash val="solid"/>
          <a:round/>
          <a:headEnd type="none" w="med" len="med"/>
          <a:tailEnd type="triangle" w="med" len="med"/>
        </a:ln>
        <a:effectLst/>
      </a:spPr>
      <a:bodyPr vert="horz" wrap="square" lIns="91440" tIns="45720" rIns="91440" bIns="45720" numCol="1" rtlCol="0"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dirty="0" smtClean="0">
            <a:latin typeface="Calibri" pitchFamily="34" charset="0"/>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21313</TotalTime>
  <Words>9067</Words>
  <Application>Microsoft Macintosh PowerPoint</Application>
  <PresentationFormat>On-screen Show (4:3)</PresentationFormat>
  <Paragraphs>1794</Paragraphs>
  <Slides>99</Slides>
  <Notes>75</Notes>
  <HiddenSlides>0</HiddenSlides>
  <MMClips>0</MMClips>
  <ScaleCrop>false</ScaleCrop>
  <HeadingPairs>
    <vt:vector size="4" baseType="variant">
      <vt:variant>
        <vt:lpstr>Theme</vt:lpstr>
      </vt:variant>
      <vt:variant>
        <vt:i4>2</vt:i4>
      </vt:variant>
      <vt:variant>
        <vt:lpstr>Slide Titles</vt:lpstr>
      </vt:variant>
      <vt:variant>
        <vt:i4>99</vt:i4>
      </vt:variant>
    </vt:vector>
  </HeadingPairs>
  <TitlesOfParts>
    <vt:vector size="101" baseType="lpstr">
      <vt:lpstr>template2007</vt:lpstr>
      <vt:lpstr>Default Design</vt:lpstr>
      <vt:lpstr>Exceptional Control Flow (Part 2)  System I/O  CSC 374: Computer Systems II 4th Lecture, January 23, 2018</vt:lpstr>
      <vt:lpstr>Cache Lab Exceptional Control Flow (Part 2)  System I/O (postponed)  CSC 374: Computer Systems II 4th Lecture, January 23, 2018</vt:lpstr>
      <vt:lpstr>Today</vt:lpstr>
      <vt:lpstr>Cache Lab</vt:lpstr>
      <vt:lpstr>Part (a) : Cache simulator</vt:lpstr>
      <vt:lpstr>Part (a) : Hints</vt:lpstr>
      <vt:lpstr>Part (a) : getopt</vt:lpstr>
      <vt:lpstr>Part (a) : getopt Example</vt:lpstr>
      <vt:lpstr>Part (a) : fscanf</vt:lpstr>
      <vt:lpstr>Part (a) : fscanf example</vt:lpstr>
      <vt:lpstr>Part (a) : Malloc/free</vt:lpstr>
      <vt:lpstr>Part (b) Efficient Matrix Transpose</vt:lpstr>
      <vt:lpstr>Part (b) : Efficient Matrix Transpose</vt:lpstr>
      <vt:lpstr>Part (b) Efficient Matrix Transpose</vt:lpstr>
      <vt:lpstr>Part (b) : Efficient Matrix Transpose</vt:lpstr>
      <vt:lpstr>Part (b) : Blocking </vt:lpstr>
      <vt:lpstr>Part (b) : Specs</vt:lpstr>
      <vt:lpstr>Part (b)</vt:lpstr>
      <vt:lpstr>Warnings are Errors</vt:lpstr>
      <vt:lpstr>Missing Header Files</vt:lpstr>
      <vt:lpstr>Eviction policies of Cache</vt:lpstr>
      <vt:lpstr> Cache Lab Questions Now is your chance!</vt:lpstr>
      <vt:lpstr>15 Minute Break</vt:lpstr>
      <vt:lpstr>Today</vt:lpstr>
      <vt:lpstr>execve: Loading and Running Programs</vt:lpstr>
      <vt:lpstr>Structure of  the stack when a new program starts</vt:lpstr>
      <vt:lpstr>execve Example</vt:lpstr>
      <vt:lpstr>Summary</vt:lpstr>
      <vt:lpstr>Summary (cont.)</vt:lpstr>
      <vt:lpstr>ECF Exists at All Levels of a System</vt:lpstr>
      <vt:lpstr>Today</vt:lpstr>
      <vt:lpstr> (partial) Taxonomy</vt:lpstr>
      <vt:lpstr>Linux Process Hierarchy</vt:lpstr>
      <vt:lpstr>Shell Programs</vt:lpstr>
      <vt:lpstr>Simple Shell Example</vt:lpstr>
      <vt:lpstr>Simple Shell Implementation</vt:lpstr>
      <vt:lpstr>Simple Shell eval Function</vt:lpstr>
      <vt:lpstr>Simple Shell eval Function</vt:lpstr>
      <vt:lpstr>Simple Shell eval Function</vt:lpstr>
      <vt:lpstr>Simple Shell eval Function</vt:lpstr>
      <vt:lpstr>Simple Shell eval Function</vt:lpstr>
      <vt:lpstr>Simple Shell eval Function</vt:lpstr>
      <vt:lpstr>Simple Shell eval Function</vt:lpstr>
      <vt:lpstr>Simple Shell eval Function</vt:lpstr>
      <vt:lpstr>Problem with Simple Shell Example</vt:lpstr>
      <vt:lpstr>ECF to the Rescue!</vt:lpstr>
      <vt:lpstr>Today</vt:lpstr>
      <vt:lpstr>Signals</vt:lpstr>
      <vt:lpstr>Signal Concepts: Sending a Signal</vt:lpstr>
      <vt:lpstr>Signal Concepts: Sending a Signal</vt:lpstr>
      <vt:lpstr>Signal Concepts: Sending a Signal</vt:lpstr>
      <vt:lpstr>Signal Concepts: Sending a Signal</vt:lpstr>
      <vt:lpstr>Signal Concepts: Sending a Signal</vt:lpstr>
      <vt:lpstr>Signal Concepts: Sending a Signal</vt:lpstr>
      <vt:lpstr>Signal Concepts: Receiving a Signal</vt:lpstr>
      <vt:lpstr>Signal Concepts: Pending and Blocked Signals</vt:lpstr>
      <vt:lpstr>Signal Concepts: Pending/Blocked Bits </vt:lpstr>
      <vt:lpstr>Signal Concepts: Sending a Signal</vt:lpstr>
      <vt:lpstr>Sending Signals: Process Groups</vt:lpstr>
      <vt:lpstr>Sending Signals with /bin/kill Program</vt:lpstr>
      <vt:lpstr>Sending Signals from the Keyboard</vt:lpstr>
      <vt:lpstr>Example of ctrl-c and ctrl-z</vt:lpstr>
      <vt:lpstr>Sending Signals with kill Function</vt:lpstr>
      <vt:lpstr>Receiving Signals</vt:lpstr>
      <vt:lpstr>Receiving Signals</vt:lpstr>
      <vt:lpstr>Default Actions</vt:lpstr>
      <vt:lpstr>Installing Signal Handlers</vt:lpstr>
      <vt:lpstr>Signal Handling Example</vt:lpstr>
      <vt:lpstr>Signals Handlers as Concurrent Flows</vt:lpstr>
      <vt:lpstr>Another View of Signal Handlers as Concurrent Flows</vt:lpstr>
      <vt:lpstr>Nested Signal Handlers </vt:lpstr>
      <vt:lpstr>Blocking and Unblocking Signals </vt:lpstr>
      <vt:lpstr>Temporarily Blocking Signals</vt:lpstr>
      <vt:lpstr>Safe Signal Handling</vt:lpstr>
      <vt:lpstr>Guidelines for Writing Safe Handlers </vt:lpstr>
      <vt:lpstr>Async-Signal-Safety </vt:lpstr>
      <vt:lpstr>Safely Generating Formatted Output</vt:lpstr>
      <vt:lpstr>Correct Signal Handling</vt:lpstr>
      <vt:lpstr>Correct Signal Handling</vt:lpstr>
      <vt:lpstr>Synchronizing Flows to Avoid Races</vt:lpstr>
      <vt:lpstr>Synchronizing Flows to Avoid Races</vt:lpstr>
      <vt:lpstr>Corrected Shell Program without Race</vt:lpstr>
      <vt:lpstr>Explicitly Waiting for Signals</vt:lpstr>
      <vt:lpstr>Explicitly Waiting for Signals</vt:lpstr>
      <vt:lpstr>Explicitly Waiting for Signals</vt:lpstr>
      <vt:lpstr>Waiting for Signals with sigsuspend</vt:lpstr>
      <vt:lpstr>Waiting for Signals with sigsuspend</vt:lpstr>
      <vt:lpstr>Today</vt:lpstr>
      <vt:lpstr>Nonlocal Jumps: setjmp/longjmp</vt:lpstr>
      <vt:lpstr>setjmp/longjmp (cont)</vt:lpstr>
      <vt:lpstr>setjmp/longjmp Example</vt:lpstr>
      <vt:lpstr>setjmp/longjmp Example (cont)</vt:lpstr>
      <vt:lpstr>Limitations of Nonlocal Jumps</vt:lpstr>
      <vt:lpstr>Limitations of Long Jumps (cont.)</vt:lpstr>
      <vt:lpstr>Putting It All Together: A Program  That Restarts Itself When ctrl-c’d</vt:lpstr>
      <vt:lpstr>Summary</vt:lpstr>
      <vt:lpstr> Homework – Week 4  </vt:lpstr>
      <vt:lpstr>Supplemental slides</vt:lpstr>
      <vt:lpstr>Portable Signal Handling</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Walter Martens</cp:lastModifiedBy>
  <cp:revision>638</cp:revision>
  <cp:lastPrinted>1999-09-20T15:19:18Z</cp:lastPrinted>
  <dcterms:created xsi:type="dcterms:W3CDTF">2011-09-29T14:59:56Z</dcterms:created>
  <dcterms:modified xsi:type="dcterms:W3CDTF">2018-01-23T05:52:04Z</dcterms:modified>
</cp:coreProperties>
</file>