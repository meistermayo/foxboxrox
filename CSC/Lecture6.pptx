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</p:sldMasterIdLst>
  <p:notesMasterIdLst>
    <p:notesMasterId r:id="rId62"/>
  </p:notesMasterIdLst>
  <p:handoutMasterIdLst>
    <p:handoutMasterId r:id="rId63"/>
  </p:handoutMasterIdLst>
  <p:sldIdLst>
    <p:sldId id="542" r:id="rId3"/>
    <p:sldId id="1085" r:id="rId4"/>
    <p:sldId id="1737" r:id="rId5"/>
    <p:sldId id="1738" r:id="rId6"/>
    <p:sldId id="1739" r:id="rId7"/>
    <p:sldId id="1716" r:id="rId8"/>
    <p:sldId id="1717" r:id="rId9"/>
    <p:sldId id="1741" r:id="rId10"/>
    <p:sldId id="1742" r:id="rId11"/>
    <p:sldId id="1745" r:id="rId12"/>
    <p:sldId id="1746" r:id="rId13"/>
    <p:sldId id="1747" r:id="rId14"/>
    <p:sldId id="1748" r:id="rId15"/>
    <p:sldId id="1749" r:id="rId16"/>
    <p:sldId id="1750" r:id="rId17"/>
    <p:sldId id="1752" r:id="rId18"/>
    <p:sldId id="1751" r:id="rId19"/>
    <p:sldId id="1743" r:id="rId20"/>
    <p:sldId id="1753" r:id="rId21"/>
    <p:sldId id="1754" r:id="rId22"/>
    <p:sldId id="1755" r:id="rId23"/>
    <p:sldId id="1756" r:id="rId24"/>
    <p:sldId id="1757" r:id="rId25"/>
    <p:sldId id="1758" r:id="rId26"/>
    <p:sldId id="1759" r:id="rId27"/>
    <p:sldId id="1760" r:id="rId28"/>
    <p:sldId id="1761" r:id="rId29"/>
    <p:sldId id="1744" r:id="rId30"/>
    <p:sldId id="1762" r:id="rId31"/>
    <p:sldId id="1763" r:id="rId32"/>
    <p:sldId id="1764" r:id="rId33"/>
    <p:sldId id="1765" r:id="rId34"/>
    <p:sldId id="1766" r:id="rId35"/>
    <p:sldId id="1767" r:id="rId36"/>
    <p:sldId id="1768" r:id="rId37"/>
    <p:sldId id="1769" r:id="rId38"/>
    <p:sldId id="1770" r:id="rId39"/>
    <p:sldId id="1771" r:id="rId40"/>
    <p:sldId id="1772" r:id="rId41"/>
    <p:sldId id="1773" r:id="rId42"/>
    <p:sldId id="1774" r:id="rId43"/>
    <p:sldId id="1775" r:id="rId44"/>
    <p:sldId id="1776" r:id="rId45"/>
    <p:sldId id="1777" r:id="rId46"/>
    <p:sldId id="1778" r:id="rId47"/>
    <p:sldId id="1779" r:id="rId48"/>
    <p:sldId id="1780" r:id="rId49"/>
    <p:sldId id="1781" r:id="rId50"/>
    <p:sldId id="1782" r:id="rId51"/>
    <p:sldId id="1783" r:id="rId52"/>
    <p:sldId id="1784" r:id="rId53"/>
    <p:sldId id="1785" r:id="rId54"/>
    <p:sldId id="1786" r:id="rId55"/>
    <p:sldId id="1787" r:id="rId56"/>
    <p:sldId id="1788" r:id="rId57"/>
    <p:sldId id="1789" r:id="rId58"/>
    <p:sldId id="1790" r:id="rId59"/>
    <p:sldId id="1791" r:id="rId60"/>
    <p:sldId id="1627" r:id="rId61"/>
  </p:sldIdLst>
  <p:sldSz cx="9144000" cy="6858000" type="screen4x3"/>
  <p:notesSz cx="7302500" cy="9586913"/>
  <p:custDataLst>
    <p:tags r:id="rId6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72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FF5"/>
    <a:srgbClr val="E0E0E0"/>
    <a:srgbClr val="FFFFFF"/>
    <a:srgbClr val="FCFCFC"/>
    <a:srgbClr val="DF9F98"/>
    <a:srgbClr val="D6CDEE"/>
    <a:srgbClr val="F7F5CD"/>
    <a:srgbClr val="FFABAA"/>
    <a:srgbClr val="000000"/>
    <a:srgbClr val="B2E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1" autoAdjust="0"/>
    <p:restoredTop sz="94649" autoAdjust="0"/>
  </p:normalViewPr>
  <p:slideViewPr>
    <p:cSldViewPr snapToGrid="0" snapToObjects="1">
      <p:cViewPr varScale="1">
        <p:scale>
          <a:sx n="97" d="100"/>
          <a:sy n="97" d="100"/>
        </p:scale>
        <p:origin x="-1432" y="-96"/>
      </p:cViewPr>
      <p:guideLst>
        <p:guide orient="horz" pos="172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5585"/>
    </p:cViewPr>
  </p:sorterViewPr>
  <p:notesViewPr>
    <p:cSldViewPr snapToObjects="1">
      <p:cViewPr varScale="1">
        <p:scale>
          <a:sx n="64" d="100"/>
          <a:sy n="64" d="100"/>
        </p:scale>
        <p:origin x="-3544" y="-120"/>
      </p:cViewPr>
      <p:guideLst>
        <p:guide orient="horz" pos="3019"/>
        <p:guide pos="23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handoutMaster" Target="handoutMasters/handoutMaster1.xml"/><Relationship Id="rId64" Type="http://schemas.openxmlformats.org/officeDocument/2006/relationships/printerSettings" Target="printerSettings/printerSettings1.bin"/><Relationship Id="rId65" Type="http://schemas.openxmlformats.org/officeDocument/2006/relationships/tags" Target="tags/tag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151" Type="http://schemas.microsoft.com/office/2015/10/relationships/revisionInfo" Target="revisionInfo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33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828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ext Box 1"/>
          <p:cNvSpPr txBox="1">
            <a:spLocks noChangeArrowheads="1"/>
          </p:cNvSpPr>
          <p:nvPr/>
        </p:nvSpPr>
        <p:spPr bwMode="auto">
          <a:xfrm>
            <a:off x="1264660" y="726233"/>
            <a:ext cx="4774840" cy="358197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924" tIns="47462" rIns="94924" bIns="47462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0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2560" y="4554112"/>
            <a:ext cx="5357380" cy="4316406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91288" tIns="45644" rIns="91288" bIns="45644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32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47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68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57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78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88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88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88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55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706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96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86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789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1"/>
          <p:cNvSpPr txBox="1">
            <a:spLocks noChangeArrowheads="1"/>
          </p:cNvSpPr>
          <p:nvPr/>
        </p:nvSpPr>
        <p:spPr bwMode="auto">
          <a:xfrm>
            <a:off x="1261456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89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99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09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19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30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40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60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1220788"/>
            <a:ext cx="8305800" cy="5222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4813" y="247650"/>
            <a:ext cx="8715375" cy="781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42913" y="6345238"/>
            <a:ext cx="447675" cy="395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rIns="45720" anchor="ctr">
            <a:prstTxWarp prst="textNoShape">
              <a:avLst/>
            </a:prstTxWarp>
            <a:spAutoFit/>
          </a:bodyPr>
          <a:lstStyle/>
          <a:p>
            <a:pPr algn="ctr" defTabSz="457200">
              <a:lnSpc>
                <a:spcPct val="83000"/>
              </a:lnSpc>
              <a:buClr>
                <a:srgbClr val="000066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BC07E77-5360-6D43-8AEB-E24B08212AFE}" type="slidenum">
              <a:rPr lang="en-GB" b="0">
                <a:solidFill>
                  <a:srgbClr val="000066"/>
                </a:solidFill>
                <a:latin typeface="Times New Roman" charset="0"/>
              </a:rPr>
              <a:pPr algn="ctr" defTabSz="457200">
                <a:lnSpc>
                  <a:spcPct val="83000"/>
                </a:lnSpc>
                <a:buClr>
                  <a:srgbClr val="000066"/>
                </a:buClr>
                <a:buSzPct val="100000"/>
                <a:buFont typeface="Times New Roman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‹#›</a:t>
            </a:fld>
            <a:endParaRPr lang="en-GB" b="0">
              <a:solidFill>
                <a:srgbClr val="000066"/>
              </a:solidFill>
              <a:latin typeface="Times New Roman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+mj-lt"/>
          <a:ea typeface="ＭＳ Ｐゴシック" charset="-128"/>
          <a:cs typeface="ＭＳ Ｐゴシック" charset="-128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5pPr>
      <a:lvl6pPr marL="15367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6pPr>
      <a:lvl7pPr marL="19939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7pPr>
      <a:lvl8pPr marL="24511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8pPr>
      <a:lvl9pPr marL="29083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9pPr>
    </p:titleStyle>
    <p:bodyStyle>
      <a:lvl1pPr marL="384175" indent="-384175" algn="l" defTabSz="457200" rtl="0" eaLnBrk="0" fontAlgn="base" hangingPunct="0">
        <a:lnSpc>
          <a:spcPct val="93000"/>
        </a:lnSpc>
        <a:spcBef>
          <a:spcPts val="1500"/>
        </a:spcBef>
        <a:spcAft>
          <a:spcPct val="0"/>
        </a:spcAft>
        <a:buClr>
          <a:srgbClr val="660033"/>
        </a:buClr>
        <a:buSzPct val="45000"/>
        <a:buFont typeface="Wingdings" charset="2"/>
        <a:buChar char=""/>
        <a:defRPr sz="2400" b="1">
          <a:solidFill>
            <a:srgbClr val="0033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ＭＳ Ｐゴシック" charset="-128"/>
          <a:cs typeface="ＭＳ Ｐゴシック" charset="-128"/>
        </a:defRPr>
      </a:lvl1pPr>
      <a:lvl2pPr marL="742950" indent="-246063" algn="l" defTabSz="457200" rtl="0" eaLnBrk="0" fontAlgn="base" hangingPunct="0">
        <a:lnSpc>
          <a:spcPct val="98000"/>
        </a:lnSpc>
        <a:spcBef>
          <a:spcPts val="625"/>
        </a:spcBef>
        <a:spcAft>
          <a:spcPct val="0"/>
        </a:spcAft>
        <a:buClr>
          <a:srgbClr val="660033"/>
        </a:buClr>
        <a:buSzPct val="45000"/>
        <a:buFont typeface="Wingdings" charset="2"/>
        <a:buChar char=""/>
        <a:defRPr sz="2000" b="1">
          <a:solidFill>
            <a:srgbClr val="000066"/>
          </a:solidFill>
          <a:latin typeface="+mn-lt"/>
          <a:ea typeface="ＭＳ Ｐゴシック" charset="-128"/>
        </a:defRPr>
      </a:lvl2pPr>
      <a:lvl3pPr marL="1144588" indent="-236538" algn="l" defTabSz="457200" rtl="0" eaLnBrk="0" fontAlgn="base" hangingPunct="0">
        <a:lnSpc>
          <a:spcPct val="104000"/>
        </a:lnSpc>
        <a:spcBef>
          <a:spcPts val="225"/>
        </a:spcBef>
        <a:spcAft>
          <a:spcPct val="0"/>
        </a:spcAft>
        <a:buClr>
          <a:srgbClr val="005400"/>
        </a:buClr>
        <a:buSzPct val="45000"/>
        <a:buFont typeface="Wingdings" charset="2"/>
        <a:buChar char=""/>
        <a:defRPr b="1">
          <a:solidFill>
            <a:srgbClr val="000099"/>
          </a:solidFill>
          <a:latin typeface="+mn-lt"/>
          <a:ea typeface="ＭＳ Ｐゴシック" charset="-128"/>
        </a:defRPr>
      </a:lvl3pPr>
      <a:lvl4pPr marL="1600200" indent="-228600" algn="l" defTabSz="457200" rtl="0" eaLnBrk="0" fontAlgn="base" hangingPunct="0">
        <a:lnSpc>
          <a:spcPct val="98000"/>
        </a:lnSpc>
        <a:spcBef>
          <a:spcPts val="45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b="1">
          <a:solidFill>
            <a:srgbClr val="000066"/>
          </a:solidFill>
          <a:latin typeface="+mn-lt"/>
          <a:ea typeface="ＭＳ Ｐゴシック" charset="-128"/>
        </a:defRPr>
      </a:lvl4pPr>
      <a:lvl5pPr marL="2449513" indent="-2286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5pPr>
      <a:lvl6pPr marL="29067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6pPr>
      <a:lvl7pPr marL="33639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7pPr>
      <a:lvl8pPr marL="38211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8pPr>
      <a:lvl9pPr marL="42783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hyperlink" Target="https://www.google.com/url?sa=i&amp;rct=j&amp;q=&amp;esrc=s&amp;source=images&amp;cd=&amp;cad=rja&amp;uact=8&amp;ved=0ahUKEwinqIG7rtPLAhXEPT4KHZA-AYUQjRwIBw&amp;url=https://en.wikipedia.org/wiki/Boating&amp;psig=AFQjCNEY0iJj5kje-URi9KrYUPw-INP-9A&amp;ust=1458704114480983" TargetMode="External"/><Relationship Id="rId5" Type="http://schemas.openxmlformats.org/officeDocument/2006/relationships/image" Target="../media/image8.jpeg"/><Relationship Id="rId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631950"/>
            <a:ext cx="7772400" cy="1644650"/>
          </a:xfrm>
        </p:spPr>
        <p:txBody>
          <a:bodyPr/>
          <a:lstStyle/>
          <a:p>
            <a:pPr marL="0" lvl="0" indent="0"/>
            <a:r>
              <a:rPr lang="en-US" dirty="0" smtClean="0"/>
              <a:t>Midterm Exam</a:t>
            </a:r>
            <a:br>
              <a:rPr lang="en-US" dirty="0" smtClean="0"/>
            </a:br>
            <a:r>
              <a:rPr lang="en-US" dirty="0" smtClean="0"/>
              <a:t>Virtual </a:t>
            </a:r>
            <a:r>
              <a:rPr lang="en-US" dirty="0" smtClean="0"/>
              <a:t>Memory Part </a:t>
            </a:r>
            <a:r>
              <a:rPr lang="en-US" dirty="0" smtClean="0"/>
              <a:t>II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2000" b="0" dirty="0"/>
              <a:t>CSC 374: Computer Systems II</a:t>
            </a:r>
            <a:br>
              <a:rPr lang="en-US" sz="2000" b="0" dirty="0"/>
            </a:br>
            <a:r>
              <a:rPr lang="en-US" sz="2000" b="0" dirty="0" smtClean="0"/>
              <a:t>6</a:t>
            </a:r>
            <a:r>
              <a:rPr lang="en-US" sz="2000" b="0" baseline="30000" dirty="0" smtClean="0"/>
              <a:t>th</a:t>
            </a:r>
            <a:r>
              <a:rPr lang="en-US" sz="2000" b="0" dirty="0" smtClean="0"/>
              <a:t> </a:t>
            </a:r>
            <a:r>
              <a:rPr lang="en-US" sz="2000" b="0" dirty="0" smtClean="0"/>
              <a:t>Lecture</a:t>
            </a:r>
            <a:r>
              <a:rPr lang="en-US" sz="2000" b="0" dirty="0"/>
              <a:t>, </a:t>
            </a:r>
            <a:r>
              <a:rPr lang="en-US" sz="2000" b="0" dirty="0" smtClean="0"/>
              <a:t>February 6, </a:t>
            </a:r>
            <a:r>
              <a:rPr lang="en-US" sz="2000" b="0" dirty="0"/>
              <a:t>2018</a:t>
            </a:r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685800" y="4037364"/>
            <a:ext cx="7678738" cy="1752600"/>
          </a:xfrm>
        </p:spPr>
        <p:txBody>
          <a:bodyPr/>
          <a:lstStyle/>
          <a:p>
            <a:r>
              <a:rPr lang="en-US" b="1" dirty="0" smtClean="0"/>
              <a:t>Instructor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r>
              <a:rPr lang="en-US" dirty="0" smtClean="0"/>
              <a:t>Walter Martens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Virtual Memory</a:t>
            </a:r>
            <a:endParaRPr lang="en-US" sz="2800" dirty="0" smtClean="0"/>
          </a:p>
          <a:p>
            <a:pPr lvl="1"/>
            <a:r>
              <a:rPr lang="en-US" dirty="0" smtClean="0"/>
              <a:t>Review of Key Concepts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Simple memory system example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Case study: Core i7/Linux memory system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Memory </a:t>
            </a: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mapping</a:t>
            </a:r>
          </a:p>
          <a:p>
            <a:pPr lvl="1"/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Dynamic Memory Mapping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/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693239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Review: Virtual Memory &amp; Physical Memory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46852" y="35337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46852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46852" y="33051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46852" y="21621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46852" y="2390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46852" y="2619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46852" y="2847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46852" y="30765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199583" y="40321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FF0000"/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74240" y="12192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591715" y="22576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591715" y="24669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72352" y="36544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72352" y="22844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097752" y="20558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46952" y="18272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26627" y="32162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42052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42052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42052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42052" y="2162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42052" y="2390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42052" y="2619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42052" y="2847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42052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13452" y="18573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50079" y="21320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50872" y="23649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50079" y="28307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50872" y="30378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50079" y="32772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50872" y="37366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50079" y="35037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50872" y="25978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13527" y="13684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35449" y="20969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32274" y="37098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56965" y="17668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591715" y="20320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591715" y="1803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21552" y="38608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21552" y="3632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21552" y="27241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21552" y="2489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69665" y="2427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599652" y="38449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599652" y="41554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599652" y="47764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599652" y="50869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599652" y="53975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21552" y="29333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34252" y="29780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21552" y="31432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66002" y="25003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599652" y="44659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42913" y="15240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1" name="Shape 60"/>
          <p:cNvCxnSpPr>
            <a:stCxn id="59" idx="2"/>
            <a:endCxn id="14372" idx="1"/>
          </p:cNvCxnSpPr>
          <p:nvPr/>
        </p:nvCxnSpPr>
        <p:spPr bwMode="auto">
          <a:xfrm rot="16200000" flipH="1">
            <a:off x="1605271" y="1404629"/>
            <a:ext cx="983343" cy="170785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Rectangle 2"/>
          <p:cNvSpPr txBox="1">
            <a:spLocks noChangeArrowheads="1"/>
          </p:cNvSpPr>
          <p:nvPr/>
        </p:nvSpPr>
        <p:spPr bwMode="auto">
          <a:xfrm>
            <a:off x="200026" y="5791200"/>
            <a:ext cx="8307387" cy="874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kern="0" dirty="0"/>
              <a:t>A </a:t>
            </a:r>
            <a:r>
              <a:rPr lang="en-GB" i="1" kern="0" dirty="0">
                <a:solidFill>
                  <a:srgbClr val="C00000"/>
                </a:solidFill>
              </a:rPr>
              <a:t>page table </a:t>
            </a:r>
            <a:r>
              <a:rPr lang="en-GB" kern="0" dirty="0"/>
              <a:t>contains page table entries (PTEs) that map virtual pages to physical pages.</a:t>
            </a:r>
          </a:p>
        </p:txBody>
      </p:sp>
    </p:spTree>
    <p:extLst>
      <p:ext uri="{BB962C8B-B14F-4D97-AF65-F5344CB8AC3E}">
        <p14:creationId xmlns:p14="http://schemas.microsoft.com/office/powerpoint/2010/main" val="302677517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Translating with a k-level Page Table</a:t>
            </a:r>
          </a:p>
        </p:txBody>
      </p:sp>
      <p:sp>
        <p:nvSpPr>
          <p:cNvPr id="51" name="Rectangle 50"/>
          <p:cNvSpPr/>
          <p:nvPr/>
        </p:nvSpPr>
        <p:spPr bwMode="auto">
          <a:xfrm>
            <a:off x="163087" y="1833361"/>
            <a:ext cx="2656313" cy="719063"/>
          </a:xfrm>
          <a:prstGeom prst="rect">
            <a:avLst/>
          </a:prstGeom>
          <a:solidFill>
            <a:srgbClr val="F1C7C7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Page table base register</a:t>
            </a:r>
          </a:p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(part of the process’ context)</a:t>
            </a:r>
          </a:p>
        </p:txBody>
      </p:sp>
      <p:cxnSp>
        <p:nvCxnSpPr>
          <p:cNvPr id="5" name="Straight Connector 4"/>
          <p:cNvCxnSpPr>
            <a:stCxn id="51" idx="2"/>
          </p:cNvCxnSpPr>
          <p:nvPr/>
        </p:nvCxnSpPr>
        <p:spPr bwMode="auto">
          <a:xfrm flipH="1">
            <a:off x="1404158" y="2552424"/>
            <a:ext cx="87086" cy="149570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1404158" y="4048125"/>
            <a:ext cx="729442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4" name="Rectangle 379"/>
          <p:cNvSpPr>
            <a:spLocks noChangeArrowheads="1"/>
          </p:cNvSpPr>
          <p:nvPr/>
        </p:nvSpPr>
        <p:spPr bwMode="auto">
          <a:xfrm>
            <a:off x="1630362" y="2981325"/>
            <a:ext cx="123983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+mn-lt"/>
              </a:rPr>
              <a:t>VPN 1</a:t>
            </a:r>
          </a:p>
        </p:txBody>
      </p:sp>
      <p:sp>
        <p:nvSpPr>
          <p:cNvPr id="105" name="Text Box 381"/>
          <p:cNvSpPr txBox="1">
            <a:spLocks noChangeArrowheads="1"/>
          </p:cNvSpPr>
          <p:nvPr/>
        </p:nvSpPr>
        <p:spPr bwMode="auto">
          <a:xfrm>
            <a:off x="7382915" y="2692986"/>
            <a:ext cx="2888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0</a:t>
            </a:r>
          </a:p>
        </p:txBody>
      </p:sp>
      <p:sp>
        <p:nvSpPr>
          <p:cNvPr id="106" name="Text Box 382"/>
          <p:cNvSpPr txBox="1">
            <a:spLocks noChangeArrowheads="1"/>
          </p:cNvSpPr>
          <p:nvPr/>
        </p:nvSpPr>
        <p:spPr bwMode="auto">
          <a:xfrm>
            <a:off x="6547077" y="2692986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p-1</a:t>
            </a:r>
          </a:p>
        </p:txBody>
      </p:sp>
      <p:sp>
        <p:nvSpPr>
          <p:cNvPr id="107" name="Text Box 384"/>
          <p:cNvSpPr txBox="1">
            <a:spLocks noChangeArrowheads="1"/>
          </p:cNvSpPr>
          <p:nvPr/>
        </p:nvSpPr>
        <p:spPr bwMode="auto">
          <a:xfrm>
            <a:off x="1511527" y="2654886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n-1</a:t>
            </a:r>
          </a:p>
        </p:txBody>
      </p:sp>
      <p:sp>
        <p:nvSpPr>
          <p:cNvPr id="108" name="Rectangle 385"/>
          <p:cNvSpPr>
            <a:spLocks noChangeArrowheads="1"/>
          </p:cNvSpPr>
          <p:nvPr/>
        </p:nvSpPr>
        <p:spPr bwMode="auto">
          <a:xfrm>
            <a:off x="6610350" y="2981325"/>
            <a:ext cx="919162" cy="304800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VPO</a:t>
            </a:r>
          </a:p>
        </p:txBody>
      </p:sp>
      <p:sp>
        <p:nvSpPr>
          <p:cNvPr id="109" name="Rectangle 390"/>
          <p:cNvSpPr>
            <a:spLocks noChangeArrowheads="1"/>
          </p:cNvSpPr>
          <p:nvPr/>
        </p:nvSpPr>
        <p:spPr bwMode="auto">
          <a:xfrm>
            <a:off x="2879725" y="2981325"/>
            <a:ext cx="1239837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VPN 2</a:t>
            </a:r>
          </a:p>
        </p:txBody>
      </p:sp>
      <p:sp>
        <p:nvSpPr>
          <p:cNvPr id="110" name="Rectangle 391"/>
          <p:cNvSpPr>
            <a:spLocks noChangeArrowheads="1"/>
          </p:cNvSpPr>
          <p:nvPr/>
        </p:nvSpPr>
        <p:spPr bwMode="auto">
          <a:xfrm>
            <a:off x="4124325" y="2981325"/>
            <a:ext cx="1239837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...</a:t>
            </a:r>
          </a:p>
        </p:txBody>
      </p:sp>
      <p:sp>
        <p:nvSpPr>
          <p:cNvPr id="111" name="Rectangle 392"/>
          <p:cNvSpPr>
            <a:spLocks noChangeArrowheads="1"/>
          </p:cNvSpPr>
          <p:nvPr/>
        </p:nvSpPr>
        <p:spPr bwMode="auto">
          <a:xfrm>
            <a:off x="5364162" y="2981325"/>
            <a:ext cx="123983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VPN k</a:t>
            </a:r>
          </a:p>
        </p:txBody>
      </p:sp>
      <p:sp>
        <p:nvSpPr>
          <p:cNvPr id="112" name="Line 393"/>
          <p:cNvSpPr>
            <a:spLocks noChangeShapeType="1"/>
          </p:cNvSpPr>
          <p:nvPr/>
        </p:nvSpPr>
        <p:spPr bwMode="auto">
          <a:xfrm>
            <a:off x="1820862" y="3143250"/>
            <a:ext cx="0" cy="13451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3" name="Rectangle 395"/>
          <p:cNvSpPr>
            <a:spLocks noChangeArrowheads="1"/>
          </p:cNvSpPr>
          <p:nvPr/>
        </p:nvSpPr>
        <p:spPr bwMode="auto">
          <a:xfrm>
            <a:off x="21637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4" name="Line 396"/>
          <p:cNvSpPr>
            <a:spLocks noChangeShapeType="1"/>
          </p:cNvSpPr>
          <p:nvPr/>
        </p:nvSpPr>
        <p:spPr bwMode="auto">
          <a:xfrm>
            <a:off x="1820862" y="44884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5" name="Rectangle 397"/>
          <p:cNvSpPr>
            <a:spLocks noChangeArrowheads="1"/>
          </p:cNvSpPr>
          <p:nvPr/>
        </p:nvSpPr>
        <p:spPr bwMode="auto">
          <a:xfrm>
            <a:off x="2163762" y="4424948"/>
            <a:ext cx="520700" cy="1143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6" name="Line 398"/>
          <p:cNvSpPr>
            <a:spLocks noChangeShapeType="1"/>
          </p:cNvSpPr>
          <p:nvPr/>
        </p:nvSpPr>
        <p:spPr bwMode="auto">
          <a:xfrm>
            <a:off x="3027362" y="3143250"/>
            <a:ext cx="0" cy="1103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7" name="Rectangle 399"/>
          <p:cNvSpPr>
            <a:spLocks noChangeArrowheads="1"/>
          </p:cNvSpPr>
          <p:nvPr/>
        </p:nvSpPr>
        <p:spPr bwMode="auto">
          <a:xfrm>
            <a:off x="33702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8" name="Line 400"/>
          <p:cNvSpPr>
            <a:spLocks noChangeShapeType="1"/>
          </p:cNvSpPr>
          <p:nvPr/>
        </p:nvSpPr>
        <p:spPr bwMode="auto">
          <a:xfrm>
            <a:off x="3027362" y="42471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9" name="Rectangle 401"/>
          <p:cNvSpPr>
            <a:spLocks noChangeArrowheads="1"/>
          </p:cNvSpPr>
          <p:nvPr/>
        </p:nvSpPr>
        <p:spPr bwMode="auto">
          <a:xfrm>
            <a:off x="3370262" y="4196348"/>
            <a:ext cx="520700" cy="1143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0" name="Line 402"/>
          <p:cNvSpPr>
            <a:spLocks noChangeShapeType="1"/>
          </p:cNvSpPr>
          <p:nvPr/>
        </p:nvSpPr>
        <p:spPr bwMode="auto">
          <a:xfrm>
            <a:off x="5541962" y="3143250"/>
            <a:ext cx="0" cy="1484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1" name="Rectangle 403"/>
          <p:cNvSpPr>
            <a:spLocks noChangeArrowheads="1"/>
          </p:cNvSpPr>
          <p:nvPr/>
        </p:nvSpPr>
        <p:spPr bwMode="auto">
          <a:xfrm>
            <a:off x="58848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2" name="Line 404"/>
          <p:cNvSpPr>
            <a:spLocks noChangeShapeType="1"/>
          </p:cNvSpPr>
          <p:nvPr/>
        </p:nvSpPr>
        <p:spPr bwMode="auto">
          <a:xfrm>
            <a:off x="5541962" y="46281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3" name="Rectangle 405"/>
          <p:cNvSpPr>
            <a:spLocks noChangeArrowheads="1"/>
          </p:cNvSpPr>
          <p:nvPr/>
        </p:nvSpPr>
        <p:spPr bwMode="auto">
          <a:xfrm>
            <a:off x="5884862" y="4539248"/>
            <a:ext cx="520700" cy="152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1600" dirty="0">
                <a:latin typeface="+mn-lt"/>
              </a:rPr>
              <a:t>PPN</a:t>
            </a:r>
          </a:p>
        </p:txBody>
      </p:sp>
      <p:sp>
        <p:nvSpPr>
          <p:cNvPr id="124" name="Text Box 407"/>
          <p:cNvSpPr txBox="1">
            <a:spLocks noChangeArrowheads="1"/>
          </p:cNvSpPr>
          <p:nvPr/>
        </p:nvSpPr>
        <p:spPr bwMode="auto">
          <a:xfrm>
            <a:off x="7382915" y="5101809"/>
            <a:ext cx="2888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0</a:t>
            </a:r>
          </a:p>
        </p:txBody>
      </p:sp>
      <p:sp>
        <p:nvSpPr>
          <p:cNvPr id="125" name="Text Box 408"/>
          <p:cNvSpPr txBox="1">
            <a:spLocks noChangeArrowheads="1"/>
          </p:cNvSpPr>
          <p:nvPr/>
        </p:nvSpPr>
        <p:spPr bwMode="auto">
          <a:xfrm>
            <a:off x="6547077" y="5101809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p-1</a:t>
            </a:r>
          </a:p>
        </p:txBody>
      </p:sp>
      <p:sp>
        <p:nvSpPr>
          <p:cNvPr id="126" name="Text Box 409"/>
          <p:cNvSpPr txBox="1">
            <a:spLocks noChangeArrowheads="1"/>
          </p:cNvSpPr>
          <p:nvPr/>
        </p:nvSpPr>
        <p:spPr bwMode="auto">
          <a:xfrm>
            <a:off x="2734004" y="5098634"/>
            <a:ext cx="5180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m-1</a:t>
            </a:r>
          </a:p>
        </p:txBody>
      </p:sp>
      <p:sp>
        <p:nvSpPr>
          <p:cNvPr id="127" name="Rectangle 410"/>
          <p:cNvSpPr>
            <a:spLocks noChangeArrowheads="1"/>
          </p:cNvSpPr>
          <p:nvPr/>
        </p:nvSpPr>
        <p:spPr bwMode="auto">
          <a:xfrm>
            <a:off x="6610350" y="5390148"/>
            <a:ext cx="919162" cy="304800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PPO</a:t>
            </a:r>
          </a:p>
        </p:txBody>
      </p:sp>
      <p:sp>
        <p:nvSpPr>
          <p:cNvPr id="128" name="Rectangle 411"/>
          <p:cNvSpPr>
            <a:spLocks noChangeArrowheads="1"/>
          </p:cNvSpPr>
          <p:nvPr/>
        </p:nvSpPr>
        <p:spPr bwMode="auto">
          <a:xfrm>
            <a:off x="2879725" y="5390148"/>
            <a:ext cx="372427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PPN</a:t>
            </a:r>
          </a:p>
        </p:txBody>
      </p:sp>
      <p:sp>
        <p:nvSpPr>
          <p:cNvPr id="129" name="Line 414"/>
          <p:cNvSpPr>
            <a:spLocks noChangeShapeType="1"/>
          </p:cNvSpPr>
          <p:nvPr/>
        </p:nvSpPr>
        <p:spPr bwMode="auto">
          <a:xfrm>
            <a:off x="2570162" y="4488448"/>
            <a:ext cx="309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0" name="Line 415"/>
          <p:cNvSpPr>
            <a:spLocks noChangeShapeType="1"/>
          </p:cNvSpPr>
          <p:nvPr/>
        </p:nvSpPr>
        <p:spPr bwMode="auto">
          <a:xfrm flipH="1" flipV="1">
            <a:off x="2874962" y="403442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1" name="Line 416"/>
          <p:cNvSpPr>
            <a:spLocks noChangeShapeType="1"/>
          </p:cNvSpPr>
          <p:nvPr/>
        </p:nvSpPr>
        <p:spPr bwMode="auto">
          <a:xfrm>
            <a:off x="2879725" y="4031248"/>
            <a:ext cx="4905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2" name="Line 417"/>
          <p:cNvSpPr>
            <a:spLocks noChangeShapeType="1"/>
          </p:cNvSpPr>
          <p:nvPr/>
        </p:nvSpPr>
        <p:spPr bwMode="auto">
          <a:xfrm>
            <a:off x="3789362" y="4247148"/>
            <a:ext cx="309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3" name="Line 418"/>
          <p:cNvSpPr>
            <a:spLocks noChangeShapeType="1"/>
          </p:cNvSpPr>
          <p:nvPr/>
        </p:nvSpPr>
        <p:spPr bwMode="auto">
          <a:xfrm flipV="1">
            <a:off x="4090987" y="4031248"/>
            <a:ext cx="4763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4" name="Line 419"/>
          <p:cNvSpPr>
            <a:spLocks noChangeShapeType="1"/>
          </p:cNvSpPr>
          <p:nvPr/>
        </p:nvSpPr>
        <p:spPr bwMode="auto">
          <a:xfrm>
            <a:off x="4098925" y="4031248"/>
            <a:ext cx="4905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5" name="Text Box 420"/>
          <p:cNvSpPr txBox="1">
            <a:spLocks noChangeArrowheads="1"/>
          </p:cNvSpPr>
          <p:nvPr/>
        </p:nvSpPr>
        <p:spPr bwMode="auto">
          <a:xfrm>
            <a:off x="3695700" y="2548523"/>
            <a:ext cx="17748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VIRTUAL ADDRESS</a:t>
            </a:r>
          </a:p>
        </p:txBody>
      </p:sp>
      <p:sp>
        <p:nvSpPr>
          <p:cNvPr id="136" name="Text Box 421"/>
          <p:cNvSpPr txBox="1">
            <a:spLocks noChangeArrowheads="1"/>
          </p:cNvSpPr>
          <p:nvPr/>
        </p:nvSpPr>
        <p:spPr bwMode="auto">
          <a:xfrm>
            <a:off x="4200525" y="5757446"/>
            <a:ext cx="190308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PHYSICAL ADDRESS</a:t>
            </a:r>
          </a:p>
        </p:txBody>
      </p:sp>
      <p:sp>
        <p:nvSpPr>
          <p:cNvPr id="137" name="Line 422"/>
          <p:cNvSpPr>
            <a:spLocks noChangeShapeType="1"/>
          </p:cNvSpPr>
          <p:nvPr/>
        </p:nvSpPr>
        <p:spPr bwMode="auto">
          <a:xfrm flipH="1">
            <a:off x="7062787" y="3419475"/>
            <a:ext cx="0" cy="19706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8" name="Line 423"/>
          <p:cNvSpPr>
            <a:spLocks noChangeShapeType="1"/>
          </p:cNvSpPr>
          <p:nvPr/>
        </p:nvSpPr>
        <p:spPr bwMode="auto">
          <a:xfrm>
            <a:off x="6557962" y="4609098"/>
            <a:ext cx="2206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9" name="Line 424"/>
          <p:cNvSpPr>
            <a:spLocks noChangeShapeType="1"/>
          </p:cNvSpPr>
          <p:nvPr/>
        </p:nvSpPr>
        <p:spPr bwMode="auto">
          <a:xfrm>
            <a:off x="6773862" y="4613861"/>
            <a:ext cx="0" cy="534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0" name="Line 425"/>
          <p:cNvSpPr>
            <a:spLocks noChangeShapeType="1"/>
          </p:cNvSpPr>
          <p:nvPr/>
        </p:nvSpPr>
        <p:spPr bwMode="auto">
          <a:xfrm flipH="1">
            <a:off x="4779962" y="5145673"/>
            <a:ext cx="1993900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1" name="Line 426"/>
          <p:cNvSpPr>
            <a:spLocks noChangeShapeType="1"/>
          </p:cNvSpPr>
          <p:nvPr/>
        </p:nvSpPr>
        <p:spPr bwMode="auto">
          <a:xfrm>
            <a:off x="4779962" y="5148848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2" name="Line 427"/>
          <p:cNvSpPr>
            <a:spLocks noChangeShapeType="1"/>
          </p:cNvSpPr>
          <p:nvPr/>
        </p:nvSpPr>
        <p:spPr bwMode="auto">
          <a:xfrm>
            <a:off x="5186362" y="4031248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3" name="Text Box 428"/>
          <p:cNvSpPr txBox="1">
            <a:spLocks noChangeArrowheads="1"/>
          </p:cNvSpPr>
          <p:nvPr/>
        </p:nvSpPr>
        <p:spPr bwMode="auto">
          <a:xfrm>
            <a:off x="4514391" y="3801646"/>
            <a:ext cx="34817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...</a:t>
            </a:r>
          </a:p>
        </p:txBody>
      </p:sp>
      <p:sp>
        <p:nvSpPr>
          <p:cNvPr id="144" name="Text Box 429"/>
          <p:cNvSpPr txBox="1">
            <a:spLocks noChangeArrowheads="1"/>
          </p:cNvSpPr>
          <p:nvPr/>
        </p:nvSpPr>
        <p:spPr bwMode="auto">
          <a:xfrm>
            <a:off x="4882691" y="3801646"/>
            <a:ext cx="34817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...</a:t>
            </a:r>
          </a:p>
        </p:txBody>
      </p:sp>
      <p:sp>
        <p:nvSpPr>
          <p:cNvPr id="145" name="Text Box 430"/>
          <p:cNvSpPr txBox="1">
            <a:spLocks noChangeArrowheads="1"/>
          </p:cNvSpPr>
          <p:nvPr/>
        </p:nvSpPr>
        <p:spPr bwMode="auto">
          <a:xfrm>
            <a:off x="1914800" y="3371562"/>
            <a:ext cx="11020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the Level 1</a:t>
            </a:r>
          </a:p>
          <a:p>
            <a:pPr algn="ctr"/>
            <a:r>
              <a:rPr lang="en-US" sz="1600" dirty="0">
                <a:latin typeface="+mn-lt"/>
              </a:rPr>
              <a:t>page table</a:t>
            </a:r>
          </a:p>
        </p:txBody>
      </p:sp>
      <p:sp>
        <p:nvSpPr>
          <p:cNvPr id="146" name="Text Box 431"/>
          <p:cNvSpPr txBox="1">
            <a:spLocks noChangeArrowheads="1"/>
          </p:cNvSpPr>
          <p:nvPr/>
        </p:nvSpPr>
        <p:spPr bwMode="auto">
          <a:xfrm>
            <a:off x="3148236" y="3362037"/>
            <a:ext cx="10736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a Level 2</a:t>
            </a:r>
          </a:p>
          <a:p>
            <a:pPr algn="ctr"/>
            <a:r>
              <a:rPr lang="en-US" sz="1600" dirty="0">
                <a:latin typeface="+mn-lt"/>
              </a:rPr>
              <a:t>page table</a:t>
            </a:r>
          </a:p>
        </p:txBody>
      </p:sp>
      <p:sp>
        <p:nvSpPr>
          <p:cNvPr id="147" name="Text Box 432"/>
          <p:cNvSpPr txBox="1">
            <a:spLocks noChangeArrowheads="1"/>
          </p:cNvSpPr>
          <p:nvPr/>
        </p:nvSpPr>
        <p:spPr bwMode="auto">
          <a:xfrm>
            <a:off x="5653311" y="3352512"/>
            <a:ext cx="10736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a Level k</a:t>
            </a:r>
          </a:p>
          <a:p>
            <a:pPr algn="ctr"/>
            <a:r>
              <a:rPr lang="en-US" sz="1600" dirty="0">
                <a:latin typeface="+mn-lt"/>
              </a:rPr>
              <a:t>page table</a:t>
            </a:r>
          </a:p>
        </p:txBody>
      </p:sp>
      <p:sp>
        <p:nvSpPr>
          <p:cNvPr id="148" name="AutoShape 433"/>
          <p:cNvSpPr>
            <a:spLocks/>
          </p:cNvSpPr>
          <p:nvPr/>
        </p:nvSpPr>
        <p:spPr bwMode="auto">
          <a:xfrm rot="5400000">
            <a:off x="7014369" y="2905919"/>
            <a:ext cx="112712" cy="914400"/>
          </a:xfrm>
          <a:prstGeom prst="rightBrace">
            <a:avLst>
              <a:gd name="adj1" fmla="val 6760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9" name="AutoShape 434"/>
          <p:cNvSpPr>
            <a:spLocks/>
          </p:cNvSpPr>
          <p:nvPr/>
        </p:nvSpPr>
        <p:spPr bwMode="auto">
          <a:xfrm>
            <a:off x="6446837" y="4539248"/>
            <a:ext cx="74613" cy="142875"/>
          </a:xfrm>
          <a:prstGeom prst="rightBrace">
            <a:avLst>
              <a:gd name="adj1" fmla="val 1595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52" name="Rectangle 2"/>
          <p:cNvSpPr txBox="1">
            <a:spLocks noChangeArrowheads="1"/>
          </p:cNvSpPr>
          <p:nvPr/>
        </p:nvSpPr>
        <p:spPr bwMode="auto">
          <a:xfrm>
            <a:off x="201527" y="1077721"/>
            <a:ext cx="8763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kern="0" dirty="0"/>
              <a:t>Having multiple levels greatly reduces page table size</a:t>
            </a:r>
          </a:p>
        </p:txBody>
      </p:sp>
    </p:spTree>
    <p:extLst>
      <p:ext uri="{BB962C8B-B14F-4D97-AF65-F5344CB8AC3E}">
        <p14:creationId xmlns:p14="http://schemas.microsoft.com/office/powerpoint/2010/main" val="405660385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Translation Lookaside Buffer (TLB)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3159659"/>
            <a:ext cx="1066800" cy="1237384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2874633"/>
            <a:ext cx="914400" cy="2284410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3512138"/>
            <a:ext cx="1066800" cy="5334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592387" y="3779758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049587" y="3504338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3119780" y="3838604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030787" y="3505200"/>
            <a:ext cx="1522413" cy="594390"/>
            <a:chOff x="5030787" y="3352800"/>
            <a:chExt cx="1522413" cy="594390"/>
          </a:xfrm>
        </p:grpSpPr>
        <p:sp>
          <p:nvSpPr>
            <p:cNvPr id="9225" name="Text Box 9"/>
            <p:cNvSpPr txBox="1">
              <a:spLocks noChangeArrowheads="1"/>
            </p:cNvSpPr>
            <p:nvPr/>
          </p:nvSpPr>
          <p:spPr bwMode="auto">
            <a:xfrm>
              <a:off x="5606298" y="3352800"/>
              <a:ext cx="374759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PA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 bwMode="auto">
            <a:xfrm flipV="1">
              <a:off x="5030787" y="3605659"/>
              <a:ext cx="1522413" cy="1376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4" name="Oval 20"/>
            <p:cNvSpPr>
              <a:spLocks noChangeArrowheads="1"/>
            </p:cNvSpPr>
            <p:nvPr/>
          </p:nvSpPr>
          <p:spPr bwMode="auto">
            <a:xfrm>
              <a:off x="5656358" y="3672552"/>
              <a:ext cx="274638" cy="2746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chemeClr val="bg1"/>
                  </a:solidFill>
                  <a:latin typeface="Calibri" pitchFamily="34" charset="0"/>
                </a:rPr>
                <a:t>4</a:t>
              </a:r>
            </a:p>
          </p:txBody>
        </p:sp>
      </p:grp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77996" y="4648200"/>
            <a:ext cx="53102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</a:t>
            </a:r>
          </a:p>
        </p:txBody>
      </p:sp>
      <p:cxnSp>
        <p:nvCxnSpPr>
          <p:cNvPr id="50" name="Shape 49"/>
          <p:cNvCxnSpPr>
            <a:endCxn id="37" idx="2"/>
          </p:cNvCxnSpPr>
          <p:nvPr/>
        </p:nvCxnSpPr>
        <p:spPr bwMode="auto">
          <a:xfrm rot="10800000">
            <a:off x="2049197" y="4069764"/>
            <a:ext cx="4494213" cy="884905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4011875" y="4990649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277811" y="5750538"/>
            <a:ext cx="8180389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Typically, a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TLB hit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eliminates the k memory accesses required to </a:t>
            </a:r>
            <a:r>
              <a:rPr lang="en-GB" kern="0" dirty="0">
                <a:latin typeface="Calibri" pitchFamily="34" charset="0"/>
              </a:rPr>
              <a:t>do a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page table lookup.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962400" y="20574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TLB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28532" y="2438400"/>
            <a:ext cx="502358" cy="721259"/>
            <a:chOff x="3928532" y="2286000"/>
            <a:chExt cx="502358" cy="721259"/>
          </a:xfrm>
        </p:grpSpPr>
        <p:sp>
          <p:nvSpPr>
            <p:cNvPr id="52" name="Oval 18"/>
            <p:cNvSpPr>
              <a:spLocks noChangeArrowheads="1"/>
            </p:cNvSpPr>
            <p:nvPr/>
          </p:nvSpPr>
          <p:spPr bwMode="auto">
            <a:xfrm>
              <a:off x="4038600" y="2362200"/>
              <a:ext cx="274638" cy="2746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chemeClr val="bg1"/>
                  </a:solidFill>
                  <a:latin typeface="Calibri" pitchFamily="34" charset="0"/>
                </a:rPr>
                <a:t>2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 bwMode="auto">
            <a:xfrm rot="16200000" flipV="1">
              <a:off x="4058177" y="2645836"/>
              <a:ext cx="721259" cy="158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3928532" y="2667000"/>
              <a:ext cx="502358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VPN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646613" y="2438400"/>
            <a:ext cx="455342" cy="721259"/>
            <a:chOff x="4646613" y="2286000"/>
            <a:chExt cx="455342" cy="721259"/>
          </a:xfrm>
        </p:grpSpPr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4648200" y="2311401"/>
              <a:ext cx="453755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PTE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 bwMode="auto">
            <a:xfrm rot="5400000">
              <a:off x="4286777" y="2645836"/>
              <a:ext cx="721259" cy="158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3" name="Oval 19"/>
            <p:cNvSpPr>
              <a:spLocks noChangeArrowheads="1"/>
            </p:cNvSpPr>
            <p:nvPr/>
          </p:nvSpPr>
          <p:spPr bwMode="auto">
            <a:xfrm>
              <a:off x="4737628" y="2633132"/>
              <a:ext cx="274638" cy="2746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chemeClr val="bg1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1" name="Rectangle 2"/>
          <p:cNvSpPr txBox="1">
            <a:spLocks noChangeArrowheads="1"/>
          </p:cNvSpPr>
          <p:nvPr/>
        </p:nvSpPr>
        <p:spPr bwMode="auto">
          <a:xfrm>
            <a:off x="201527" y="1286806"/>
            <a:ext cx="8763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kern="0" dirty="0"/>
              <a:t>A small cache of page table entries with fast access by MMU </a:t>
            </a:r>
          </a:p>
        </p:txBody>
      </p:sp>
    </p:spTree>
    <p:extLst>
      <p:ext uri="{BB962C8B-B14F-4D97-AF65-F5344CB8AC3E}">
        <p14:creationId xmlns:p14="http://schemas.microsoft.com/office/powerpoint/2010/main" val="253187372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572895"/>
            <a:ext cx="3749615" cy="16774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Translation: Page Hit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419600"/>
            <a:ext cx="6781800" cy="2057400"/>
          </a:xfrm>
          <a:ln/>
        </p:spPr>
        <p:txBody>
          <a:bodyPr/>
          <a:lstStyle/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1) Processor sends virtual address to MMU 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2-3) MMU fetches PTE from page table in memory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4) MMU sends physical address to cache/memory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5) Cache/memory sends data word to processor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1809754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1524728"/>
            <a:ext cx="914400" cy="22844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606298" y="2631411"/>
            <a:ext cx="37475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87787" y="3580538"/>
            <a:ext cx="53102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5030787" y="28842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2162233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592387" y="2424364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049587" y="2157277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577141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5513388" y="1717011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46" name="Straight Arrow Connector 45"/>
          <p:cNvCxnSpPr/>
          <p:nvPr/>
        </p:nvCxnSpPr>
        <p:spPr bwMode="auto">
          <a:xfrm flipV="1">
            <a:off x="5030787" y="19698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5566800" y="2021811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 flipV="1">
            <a:off x="5030787" y="22746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" name="Shape 49"/>
          <p:cNvCxnSpPr>
            <a:endCxn id="37" idx="2"/>
          </p:cNvCxnSpPr>
          <p:nvPr/>
        </p:nvCxnSpPr>
        <p:spPr bwMode="auto">
          <a:xfrm rot="10800000">
            <a:off x="2058988" y="2695634"/>
            <a:ext cx="4494213" cy="884905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3107266" y="1921934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5656358" y="1469495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5656358" y="2324630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5656358" y="2951163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4021666" y="3865564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7272567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48" grpId="0"/>
      <p:bldP spid="43" grpId="0"/>
      <p:bldP spid="47" grpId="0"/>
      <p:bldP spid="52" grpId="0" animBg="1"/>
      <p:bldP spid="53" grpId="0" animBg="1"/>
      <p:bldP spid="54" grpId="0" animBg="1"/>
      <p:bldP spid="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609600" y="2237000"/>
            <a:ext cx="3749615" cy="16774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Translation: Page Fault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495800"/>
            <a:ext cx="8001000" cy="2057400"/>
          </a:xfrm>
          <a:ln/>
        </p:spPr>
        <p:txBody>
          <a:bodyPr/>
          <a:lstStyle/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1) Processor sends virtual address to MMU 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2-3) MMU fetches PTE from page table in memory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4) Valid bit is zero, so MMU triggers page fault exception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5) Handler identifies victim (and, if dirty, pages it out to disk)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6) Handler pages in new page and updates PTE in memory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7) Handler returns to original process, restarting faulting instruction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188602" y="2473859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5777815" y="2188833"/>
            <a:ext cx="914400" cy="192596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750202" y="282633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1817002" y="3088469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2274202" y="2829849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766" y="2241246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4738003" y="2394344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46" name="Straight Arrow Connector 45"/>
          <p:cNvCxnSpPr/>
          <p:nvPr/>
        </p:nvCxnSpPr>
        <p:spPr bwMode="auto">
          <a:xfrm flipV="1">
            <a:off x="4255402" y="2647203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4791415" y="2835472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 flipV="1">
            <a:off x="4255402" y="3104403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2330387" y="2594506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4880973" y="2146828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4880973" y="3154363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4563533" y="1554162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192962" y="2700868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7924800" y="2192866"/>
            <a:ext cx="914400" cy="192596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Disk</a:t>
            </a: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5760880" y="1219200"/>
            <a:ext cx="2527985" cy="533400"/>
          </a:xfrm>
          <a:prstGeom prst="rect">
            <a:avLst/>
          </a:prstGeom>
          <a:solidFill>
            <a:srgbClr val="F6F5BD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Page fault handler</a:t>
            </a:r>
          </a:p>
        </p:txBody>
      </p:sp>
      <p:cxnSp>
        <p:nvCxnSpPr>
          <p:cNvPr id="27" name="Shape 26"/>
          <p:cNvCxnSpPr>
            <a:stCxn id="9226" idx="0"/>
            <a:endCxn id="25" idx="1"/>
          </p:cNvCxnSpPr>
          <p:nvPr/>
        </p:nvCxnSpPr>
        <p:spPr bwMode="auto">
          <a:xfrm rot="5400000" flipH="1" flipV="1">
            <a:off x="4247462" y="960441"/>
            <a:ext cx="987959" cy="2038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6707187" y="2633132"/>
            <a:ext cx="1217613" cy="22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10800000">
            <a:off x="6707188" y="3580024"/>
            <a:ext cx="12176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Down Arrow 33"/>
          <p:cNvSpPr/>
          <p:nvPr/>
        </p:nvSpPr>
        <p:spPr bwMode="auto">
          <a:xfrm>
            <a:off x="7086600" y="1752600"/>
            <a:ext cx="457200" cy="628516"/>
          </a:xfrm>
          <a:prstGeom prst="downArrow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6773333" y="2353733"/>
            <a:ext cx="105828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Victim page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6858000" y="3302001"/>
            <a:ext cx="91952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New page</a:t>
            </a: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4267200" y="1180238"/>
            <a:ext cx="90791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Exception</a:t>
            </a:r>
          </a:p>
        </p:txBody>
      </p:sp>
      <p:sp>
        <p:nvSpPr>
          <p:cNvPr id="42" name="Oval 21"/>
          <p:cNvSpPr>
            <a:spLocks noChangeArrowheads="1"/>
          </p:cNvSpPr>
          <p:nvPr/>
        </p:nvSpPr>
        <p:spPr bwMode="auto">
          <a:xfrm>
            <a:off x="7205132" y="3662362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>
            <a:off x="2330386" y="3173149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9944956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25" grpId="0" animBg="1"/>
      <p:bldP spid="34" grpId="0" animBg="1"/>
      <p:bldP spid="35" grpId="0"/>
      <p:bldP spid="36" grpId="0"/>
      <p:bldP spid="39" grpId="0"/>
      <p:bldP spid="42" grpId="0" animBg="1"/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Symbols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7896225" cy="5334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Basic Parameters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N = 2</a:t>
            </a:r>
            <a:r>
              <a:rPr lang="en-US" b="1" baseline="30000" dirty="0"/>
              <a:t>n </a:t>
            </a:r>
            <a:r>
              <a:rPr lang="en-US" dirty="0"/>
              <a:t>: Number of addresses in </a:t>
            </a:r>
            <a:br>
              <a:rPr lang="en-US" dirty="0"/>
            </a:br>
            <a:r>
              <a:rPr lang="en-US" dirty="0"/>
              <a:t>virtual address space</a:t>
            </a:r>
            <a:endParaRPr lang="en-US" baseline="30000" dirty="0"/>
          </a:p>
          <a:p>
            <a:pPr lvl="1">
              <a:spcBef>
                <a:spcPts val="600"/>
              </a:spcBef>
            </a:pPr>
            <a:r>
              <a:rPr lang="en-US" b="1" dirty="0"/>
              <a:t>M = 2</a:t>
            </a:r>
            <a:r>
              <a:rPr lang="en-US" b="1" baseline="30000" dirty="0"/>
              <a:t>m </a:t>
            </a:r>
            <a:r>
              <a:rPr lang="en-US" dirty="0"/>
              <a:t>: Number of addresses in </a:t>
            </a:r>
            <a:br>
              <a:rPr lang="en-US" dirty="0"/>
            </a:br>
            <a:r>
              <a:rPr lang="en-US" dirty="0"/>
              <a:t>physical address space</a:t>
            </a:r>
            <a:endParaRPr lang="en-US" baseline="30000" dirty="0"/>
          </a:p>
          <a:p>
            <a:pPr lvl="1">
              <a:spcBef>
                <a:spcPts val="600"/>
              </a:spcBef>
            </a:pPr>
            <a:r>
              <a:rPr lang="en-US" b="1" dirty="0"/>
              <a:t>P = 2</a:t>
            </a:r>
            <a:r>
              <a:rPr lang="en-US" b="1" baseline="30000" dirty="0"/>
              <a:t>p </a:t>
            </a:r>
            <a:r>
              <a:rPr lang="en-US" b="1" dirty="0"/>
              <a:t> </a:t>
            </a:r>
            <a:r>
              <a:rPr lang="en-US" dirty="0"/>
              <a:t>: Page size (bytes)</a:t>
            </a:r>
          </a:p>
          <a:p>
            <a:pPr lvl="1">
              <a:spcBef>
                <a:spcPts val="600"/>
              </a:spcBef>
            </a:pPr>
            <a:endParaRPr lang="en-US" baseline="30000" dirty="0"/>
          </a:p>
          <a:p>
            <a:r>
              <a:rPr lang="en-US" dirty="0"/>
              <a:t>Components of the </a:t>
            </a:r>
            <a:r>
              <a:rPr lang="en-US" i="1" dirty="0">
                <a:solidFill>
                  <a:srgbClr val="C00000"/>
                </a:solidFill>
              </a:rPr>
              <a:t>virtual address </a:t>
            </a:r>
            <a:r>
              <a:rPr lang="en-US" dirty="0"/>
              <a:t>(VA)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TLBI</a:t>
            </a:r>
            <a:r>
              <a:rPr lang="en-US" dirty="0"/>
              <a:t>: TLB index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TLBT</a:t>
            </a:r>
            <a:r>
              <a:rPr lang="en-US" dirty="0"/>
              <a:t>: TLB tag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VPO</a:t>
            </a:r>
            <a:r>
              <a:rPr lang="en-US" dirty="0"/>
              <a:t>: Virtual page offset 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VPN</a:t>
            </a:r>
            <a:r>
              <a:rPr lang="en-US" dirty="0"/>
              <a:t>: Virtual page number 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r>
              <a:rPr lang="en-US" dirty="0"/>
              <a:t>Components of the </a:t>
            </a:r>
            <a:r>
              <a:rPr lang="en-US" i="1" dirty="0">
                <a:solidFill>
                  <a:srgbClr val="C00000"/>
                </a:solidFill>
              </a:rPr>
              <a:t>physical address </a:t>
            </a:r>
            <a:r>
              <a:rPr lang="en-US" dirty="0"/>
              <a:t>(PA)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PPO</a:t>
            </a:r>
            <a:r>
              <a:rPr lang="en-US" dirty="0"/>
              <a:t>: Physical page offset (same as VPO)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PPN:</a:t>
            </a:r>
            <a:r>
              <a:rPr lang="en-US" dirty="0"/>
              <a:t> Physical page number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CO</a:t>
            </a:r>
            <a:r>
              <a:rPr lang="en-US" dirty="0"/>
              <a:t>: Byte offset within cache line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CI:</a:t>
            </a:r>
            <a:r>
              <a:rPr lang="en-US" dirty="0"/>
              <a:t> Cache index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CT</a:t>
            </a:r>
            <a:r>
              <a:rPr lang="en-US" dirty="0"/>
              <a:t>: Cache tag</a:t>
            </a:r>
          </a:p>
          <a:p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795969" y="3505199"/>
            <a:ext cx="4195631" cy="1143001"/>
            <a:chOff x="4676817" y="4419600"/>
            <a:chExt cx="4195631" cy="1143001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6817" y="4419600"/>
              <a:ext cx="4195631" cy="9035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486" y="5262652"/>
              <a:ext cx="3423811" cy="2999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0" name="Group 39"/>
          <p:cNvGrpSpPr/>
          <p:nvPr/>
        </p:nvGrpSpPr>
        <p:grpSpPr>
          <a:xfrm>
            <a:off x="5340168" y="5431402"/>
            <a:ext cx="3614022" cy="1152781"/>
            <a:chOff x="5258426" y="5638800"/>
            <a:chExt cx="3614022" cy="1152781"/>
          </a:xfrm>
        </p:grpSpPr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426" y="5638800"/>
              <a:ext cx="3614022" cy="866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2600" y="6477000"/>
              <a:ext cx="3131177" cy="314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83" name="Rectangle 2"/>
          <p:cNvSpPr txBox="1">
            <a:spLocks noChangeArrowheads="1"/>
          </p:cNvSpPr>
          <p:nvPr/>
        </p:nvSpPr>
        <p:spPr bwMode="auto">
          <a:xfrm>
            <a:off x="5601390" y="4838922"/>
            <a:ext cx="3352800" cy="346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lnSpc>
                <a:spcPct val="83000"/>
              </a:lnSpc>
              <a:spcBef>
                <a:spcPts val="120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600" b="0" kern="0" dirty="0"/>
              <a:t>(bits per field for our simple example)</a:t>
            </a:r>
          </a:p>
        </p:txBody>
      </p:sp>
    </p:spTree>
    <p:extLst>
      <p:ext uri="{BB962C8B-B14F-4D97-AF65-F5344CB8AC3E}">
        <p14:creationId xmlns:p14="http://schemas.microsoft.com/office/powerpoint/2010/main" val="33175848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Virtual Memory</a:t>
            </a:r>
            <a:endParaRPr lang="en-US" sz="2800" dirty="0" smtClean="0"/>
          </a:p>
          <a:p>
            <a:pPr lvl="1"/>
            <a:r>
              <a:rPr lang="en-US" dirty="0" smtClean="0">
                <a:solidFill>
                  <a:srgbClr val="B3B3B3"/>
                </a:solidFill>
              </a:rPr>
              <a:t>Review of Key Concepts</a:t>
            </a:r>
          </a:p>
          <a:p>
            <a:pPr lvl="1"/>
            <a:r>
              <a:rPr lang="en-US" dirty="0"/>
              <a:t>Simple memory system example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Case study: Core i7/Linux memory system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Memory </a:t>
            </a: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mapping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Dynamic Memory Mapping</a:t>
            </a:r>
          </a:p>
          <a:p>
            <a:pPr lvl="1"/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/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225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510647"/>
            <a:ext cx="730885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Simple Memory System Example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220788"/>
            <a:ext cx="8307387" cy="15827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Addressing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14-bit virtual addresses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12-bit physical address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Page size = 64 bytes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960438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960438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13</a:t>
            </a: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1447800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1447800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12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1935163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1935163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11</a:t>
            </a:r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2422525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Rectangle 15"/>
          <p:cNvSpPr>
            <a:spLocks noChangeArrowheads="1"/>
          </p:cNvSpPr>
          <p:nvPr/>
        </p:nvSpPr>
        <p:spPr bwMode="auto">
          <a:xfrm>
            <a:off x="2422525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10</a:t>
            </a:r>
          </a:p>
        </p:txBody>
      </p:sp>
      <p:sp>
        <p:nvSpPr>
          <p:cNvPr id="33809" name="Rectangle 17"/>
          <p:cNvSpPr>
            <a:spLocks noChangeArrowheads="1"/>
          </p:cNvSpPr>
          <p:nvPr/>
        </p:nvSpPr>
        <p:spPr bwMode="auto">
          <a:xfrm>
            <a:off x="2909888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Rectangle 18"/>
          <p:cNvSpPr>
            <a:spLocks noChangeArrowheads="1"/>
          </p:cNvSpPr>
          <p:nvPr/>
        </p:nvSpPr>
        <p:spPr bwMode="auto">
          <a:xfrm>
            <a:off x="2909888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9</a:t>
            </a:r>
          </a:p>
        </p:txBody>
      </p:sp>
      <p:sp>
        <p:nvSpPr>
          <p:cNvPr id="33812" name="Rectangle 20"/>
          <p:cNvSpPr>
            <a:spLocks noChangeArrowheads="1"/>
          </p:cNvSpPr>
          <p:nvPr/>
        </p:nvSpPr>
        <p:spPr bwMode="auto">
          <a:xfrm>
            <a:off x="3397250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3" name="Rectangle 21"/>
          <p:cNvSpPr>
            <a:spLocks noChangeArrowheads="1"/>
          </p:cNvSpPr>
          <p:nvPr/>
        </p:nvSpPr>
        <p:spPr bwMode="auto">
          <a:xfrm>
            <a:off x="3397250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8</a:t>
            </a:r>
          </a:p>
        </p:txBody>
      </p:sp>
      <p:sp>
        <p:nvSpPr>
          <p:cNvPr id="33815" name="Rectangle 23"/>
          <p:cNvSpPr>
            <a:spLocks noChangeArrowheads="1"/>
          </p:cNvSpPr>
          <p:nvPr/>
        </p:nvSpPr>
        <p:spPr bwMode="auto">
          <a:xfrm>
            <a:off x="3884613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Rectangle 24"/>
          <p:cNvSpPr>
            <a:spLocks noChangeArrowheads="1"/>
          </p:cNvSpPr>
          <p:nvPr/>
        </p:nvSpPr>
        <p:spPr bwMode="auto">
          <a:xfrm>
            <a:off x="3884613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7</a:t>
            </a:r>
          </a:p>
        </p:txBody>
      </p:sp>
      <p:sp>
        <p:nvSpPr>
          <p:cNvPr id="33818" name="Rectangle 26"/>
          <p:cNvSpPr>
            <a:spLocks noChangeArrowheads="1"/>
          </p:cNvSpPr>
          <p:nvPr/>
        </p:nvSpPr>
        <p:spPr bwMode="auto">
          <a:xfrm>
            <a:off x="4371975" y="3395662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9" name="Rectangle 27"/>
          <p:cNvSpPr>
            <a:spLocks noChangeArrowheads="1"/>
          </p:cNvSpPr>
          <p:nvPr/>
        </p:nvSpPr>
        <p:spPr bwMode="auto">
          <a:xfrm>
            <a:off x="4371975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6</a:t>
            </a:r>
          </a:p>
        </p:txBody>
      </p:sp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4859338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2" name="Rectangle 30"/>
          <p:cNvSpPr>
            <a:spLocks noChangeArrowheads="1"/>
          </p:cNvSpPr>
          <p:nvPr/>
        </p:nvSpPr>
        <p:spPr bwMode="auto">
          <a:xfrm>
            <a:off x="4859338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5</a:t>
            </a:r>
          </a:p>
        </p:txBody>
      </p:sp>
      <p:sp>
        <p:nvSpPr>
          <p:cNvPr id="33824" name="Rectangle 32"/>
          <p:cNvSpPr>
            <a:spLocks noChangeArrowheads="1"/>
          </p:cNvSpPr>
          <p:nvPr/>
        </p:nvSpPr>
        <p:spPr bwMode="auto">
          <a:xfrm>
            <a:off x="5346700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5" name="Rectangle 33"/>
          <p:cNvSpPr>
            <a:spLocks noChangeArrowheads="1"/>
          </p:cNvSpPr>
          <p:nvPr/>
        </p:nvSpPr>
        <p:spPr bwMode="auto">
          <a:xfrm>
            <a:off x="5346700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4</a:t>
            </a:r>
          </a:p>
        </p:txBody>
      </p:sp>
      <p:sp>
        <p:nvSpPr>
          <p:cNvPr id="33827" name="Rectangle 35"/>
          <p:cNvSpPr>
            <a:spLocks noChangeArrowheads="1"/>
          </p:cNvSpPr>
          <p:nvPr/>
        </p:nvSpPr>
        <p:spPr bwMode="auto">
          <a:xfrm>
            <a:off x="5834063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8" name="Rectangle 36"/>
          <p:cNvSpPr>
            <a:spLocks noChangeArrowheads="1"/>
          </p:cNvSpPr>
          <p:nvPr/>
        </p:nvSpPr>
        <p:spPr bwMode="auto">
          <a:xfrm>
            <a:off x="5834063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3</a:t>
            </a:r>
          </a:p>
        </p:txBody>
      </p:sp>
      <p:sp>
        <p:nvSpPr>
          <p:cNvPr id="33830" name="Rectangle 38"/>
          <p:cNvSpPr>
            <a:spLocks noChangeArrowheads="1"/>
          </p:cNvSpPr>
          <p:nvPr/>
        </p:nvSpPr>
        <p:spPr bwMode="auto">
          <a:xfrm>
            <a:off x="6321425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1" name="Rectangle 39"/>
          <p:cNvSpPr>
            <a:spLocks noChangeArrowheads="1"/>
          </p:cNvSpPr>
          <p:nvPr/>
        </p:nvSpPr>
        <p:spPr bwMode="auto">
          <a:xfrm>
            <a:off x="6321425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2</a:t>
            </a:r>
          </a:p>
        </p:txBody>
      </p:sp>
      <p:sp>
        <p:nvSpPr>
          <p:cNvPr id="33833" name="Rectangle 41"/>
          <p:cNvSpPr>
            <a:spLocks noChangeArrowheads="1"/>
          </p:cNvSpPr>
          <p:nvPr/>
        </p:nvSpPr>
        <p:spPr bwMode="auto">
          <a:xfrm>
            <a:off x="6808788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4" name="Rectangle 42"/>
          <p:cNvSpPr>
            <a:spLocks noChangeArrowheads="1"/>
          </p:cNvSpPr>
          <p:nvPr/>
        </p:nvSpPr>
        <p:spPr bwMode="auto">
          <a:xfrm>
            <a:off x="6808788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</a:t>
            </a:r>
          </a:p>
        </p:txBody>
      </p:sp>
      <p:sp>
        <p:nvSpPr>
          <p:cNvPr id="33836" name="Rectangle 44"/>
          <p:cNvSpPr>
            <a:spLocks noChangeArrowheads="1"/>
          </p:cNvSpPr>
          <p:nvPr/>
        </p:nvSpPr>
        <p:spPr bwMode="auto">
          <a:xfrm>
            <a:off x="7296150" y="3395662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" name="Rectangle 45"/>
          <p:cNvSpPr>
            <a:spLocks noChangeArrowheads="1"/>
          </p:cNvSpPr>
          <p:nvPr/>
        </p:nvSpPr>
        <p:spPr bwMode="auto">
          <a:xfrm>
            <a:off x="7296150" y="3090862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33840" name="Rectangle 48"/>
          <p:cNvSpPr>
            <a:spLocks noChangeArrowheads="1"/>
          </p:cNvSpPr>
          <p:nvPr/>
        </p:nvSpPr>
        <p:spPr bwMode="auto">
          <a:xfrm>
            <a:off x="1935163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1" name="Rectangle 49"/>
          <p:cNvSpPr>
            <a:spLocks noChangeArrowheads="1"/>
          </p:cNvSpPr>
          <p:nvPr/>
        </p:nvSpPr>
        <p:spPr bwMode="auto">
          <a:xfrm>
            <a:off x="1935163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11</a:t>
            </a:r>
          </a:p>
        </p:txBody>
      </p:sp>
      <p:sp>
        <p:nvSpPr>
          <p:cNvPr id="33843" name="Rectangle 51"/>
          <p:cNvSpPr>
            <a:spLocks noChangeArrowheads="1"/>
          </p:cNvSpPr>
          <p:nvPr/>
        </p:nvSpPr>
        <p:spPr bwMode="auto">
          <a:xfrm>
            <a:off x="2422525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4" name="Rectangle 52"/>
          <p:cNvSpPr>
            <a:spLocks noChangeArrowheads="1"/>
          </p:cNvSpPr>
          <p:nvPr/>
        </p:nvSpPr>
        <p:spPr bwMode="auto">
          <a:xfrm>
            <a:off x="2422525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10</a:t>
            </a:r>
          </a:p>
        </p:txBody>
      </p:sp>
      <p:sp>
        <p:nvSpPr>
          <p:cNvPr id="33846" name="Rectangle 54"/>
          <p:cNvSpPr>
            <a:spLocks noChangeArrowheads="1"/>
          </p:cNvSpPr>
          <p:nvPr/>
        </p:nvSpPr>
        <p:spPr bwMode="auto">
          <a:xfrm>
            <a:off x="2909888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7" name="Rectangle 55"/>
          <p:cNvSpPr>
            <a:spLocks noChangeArrowheads="1"/>
          </p:cNvSpPr>
          <p:nvPr/>
        </p:nvSpPr>
        <p:spPr bwMode="auto">
          <a:xfrm>
            <a:off x="2909888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9</a:t>
            </a:r>
          </a:p>
        </p:txBody>
      </p:sp>
      <p:sp>
        <p:nvSpPr>
          <p:cNvPr id="33849" name="Rectangle 57"/>
          <p:cNvSpPr>
            <a:spLocks noChangeArrowheads="1"/>
          </p:cNvSpPr>
          <p:nvPr/>
        </p:nvSpPr>
        <p:spPr bwMode="auto">
          <a:xfrm>
            <a:off x="3397250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0" name="Rectangle 58"/>
          <p:cNvSpPr>
            <a:spLocks noChangeArrowheads="1"/>
          </p:cNvSpPr>
          <p:nvPr/>
        </p:nvSpPr>
        <p:spPr bwMode="auto">
          <a:xfrm>
            <a:off x="3397250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8</a:t>
            </a:r>
          </a:p>
        </p:txBody>
      </p:sp>
      <p:sp>
        <p:nvSpPr>
          <p:cNvPr id="33852" name="Rectangle 60"/>
          <p:cNvSpPr>
            <a:spLocks noChangeArrowheads="1"/>
          </p:cNvSpPr>
          <p:nvPr/>
        </p:nvSpPr>
        <p:spPr bwMode="auto">
          <a:xfrm>
            <a:off x="3884613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3" name="Rectangle 61"/>
          <p:cNvSpPr>
            <a:spLocks noChangeArrowheads="1"/>
          </p:cNvSpPr>
          <p:nvPr/>
        </p:nvSpPr>
        <p:spPr bwMode="auto">
          <a:xfrm>
            <a:off x="3884613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7</a:t>
            </a:r>
          </a:p>
        </p:txBody>
      </p:sp>
      <p:sp>
        <p:nvSpPr>
          <p:cNvPr id="33855" name="Rectangle 63"/>
          <p:cNvSpPr>
            <a:spLocks noChangeArrowheads="1"/>
          </p:cNvSpPr>
          <p:nvPr/>
        </p:nvSpPr>
        <p:spPr bwMode="auto">
          <a:xfrm>
            <a:off x="4371975" y="5432425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6" name="Rectangle 64"/>
          <p:cNvSpPr>
            <a:spLocks noChangeArrowheads="1"/>
          </p:cNvSpPr>
          <p:nvPr/>
        </p:nvSpPr>
        <p:spPr bwMode="auto">
          <a:xfrm>
            <a:off x="4371975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6</a:t>
            </a:r>
          </a:p>
        </p:txBody>
      </p:sp>
      <p:sp>
        <p:nvSpPr>
          <p:cNvPr id="33858" name="Rectangle 66"/>
          <p:cNvSpPr>
            <a:spLocks noChangeArrowheads="1"/>
          </p:cNvSpPr>
          <p:nvPr/>
        </p:nvSpPr>
        <p:spPr bwMode="auto">
          <a:xfrm>
            <a:off x="4859338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59" name="Rectangle 67"/>
          <p:cNvSpPr>
            <a:spLocks noChangeArrowheads="1"/>
          </p:cNvSpPr>
          <p:nvPr/>
        </p:nvSpPr>
        <p:spPr bwMode="auto">
          <a:xfrm>
            <a:off x="4859338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5</a:t>
            </a:r>
          </a:p>
        </p:txBody>
      </p:sp>
      <p:sp>
        <p:nvSpPr>
          <p:cNvPr id="33861" name="Rectangle 69"/>
          <p:cNvSpPr>
            <a:spLocks noChangeArrowheads="1"/>
          </p:cNvSpPr>
          <p:nvPr/>
        </p:nvSpPr>
        <p:spPr bwMode="auto">
          <a:xfrm>
            <a:off x="5346700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62" name="Rectangle 70"/>
          <p:cNvSpPr>
            <a:spLocks noChangeArrowheads="1"/>
          </p:cNvSpPr>
          <p:nvPr/>
        </p:nvSpPr>
        <p:spPr bwMode="auto">
          <a:xfrm>
            <a:off x="5346700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4</a:t>
            </a:r>
          </a:p>
        </p:txBody>
      </p:sp>
      <p:sp>
        <p:nvSpPr>
          <p:cNvPr id="33864" name="Rectangle 72"/>
          <p:cNvSpPr>
            <a:spLocks noChangeArrowheads="1"/>
          </p:cNvSpPr>
          <p:nvPr/>
        </p:nvSpPr>
        <p:spPr bwMode="auto">
          <a:xfrm>
            <a:off x="5834063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65" name="Rectangle 73"/>
          <p:cNvSpPr>
            <a:spLocks noChangeArrowheads="1"/>
          </p:cNvSpPr>
          <p:nvPr/>
        </p:nvSpPr>
        <p:spPr bwMode="auto">
          <a:xfrm>
            <a:off x="5834063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3</a:t>
            </a:r>
          </a:p>
        </p:txBody>
      </p:sp>
      <p:sp>
        <p:nvSpPr>
          <p:cNvPr id="33867" name="Rectangle 75"/>
          <p:cNvSpPr>
            <a:spLocks noChangeArrowheads="1"/>
          </p:cNvSpPr>
          <p:nvPr/>
        </p:nvSpPr>
        <p:spPr bwMode="auto">
          <a:xfrm>
            <a:off x="6321425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68" name="Rectangle 76"/>
          <p:cNvSpPr>
            <a:spLocks noChangeArrowheads="1"/>
          </p:cNvSpPr>
          <p:nvPr/>
        </p:nvSpPr>
        <p:spPr bwMode="auto">
          <a:xfrm>
            <a:off x="6321425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2</a:t>
            </a:r>
          </a:p>
        </p:txBody>
      </p:sp>
      <p:sp>
        <p:nvSpPr>
          <p:cNvPr id="33870" name="Rectangle 78"/>
          <p:cNvSpPr>
            <a:spLocks noChangeArrowheads="1"/>
          </p:cNvSpPr>
          <p:nvPr/>
        </p:nvSpPr>
        <p:spPr bwMode="auto">
          <a:xfrm>
            <a:off x="6808788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71" name="Rectangle 79"/>
          <p:cNvSpPr>
            <a:spLocks noChangeArrowheads="1"/>
          </p:cNvSpPr>
          <p:nvPr/>
        </p:nvSpPr>
        <p:spPr bwMode="auto">
          <a:xfrm>
            <a:off x="6808788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</a:t>
            </a:r>
          </a:p>
        </p:txBody>
      </p:sp>
      <p:sp>
        <p:nvSpPr>
          <p:cNvPr id="33873" name="Rectangle 81"/>
          <p:cNvSpPr>
            <a:spLocks noChangeArrowheads="1"/>
          </p:cNvSpPr>
          <p:nvPr/>
        </p:nvSpPr>
        <p:spPr bwMode="auto">
          <a:xfrm>
            <a:off x="7296150" y="54324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74" name="Rectangle 82"/>
          <p:cNvSpPr>
            <a:spLocks noChangeArrowheads="1"/>
          </p:cNvSpPr>
          <p:nvPr/>
        </p:nvSpPr>
        <p:spPr bwMode="auto">
          <a:xfrm>
            <a:off x="7296150" y="51276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4859337" y="3860800"/>
            <a:ext cx="2924174" cy="333375"/>
            <a:chOff x="3061" y="2261"/>
            <a:chExt cx="1842" cy="210"/>
          </a:xfrm>
        </p:grpSpPr>
        <p:sp>
          <p:nvSpPr>
            <p:cNvPr id="33876" name="Line 84"/>
            <p:cNvSpPr>
              <a:spLocks noChangeShapeType="1"/>
            </p:cNvSpPr>
            <p:nvPr/>
          </p:nvSpPr>
          <p:spPr bwMode="auto">
            <a:xfrm>
              <a:off x="3061" y="2352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877" name="Text Box 85"/>
            <p:cNvSpPr txBox="1">
              <a:spLocks noChangeArrowheads="1"/>
            </p:cNvSpPr>
            <p:nvPr/>
          </p:nvSpPr>
          <p:spPr bwMode="auto">
            <a:xfrm>
              <a:off x="3768" y="2261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4876801" y="5813425"/>
            <a:ext cx="2924176" cy="333375"/>
            <a:chOff x="3072" y="3312"/>
            <a:chExt cx="1842" cy="210"/>
          </a:xfrm>
        </p:grpSpPr>
        <p:sp>
          <p:nvSpPr>
            <p:cNvPr id="33879" name="Line 87"/>
            <p:cNvSpPr>
              <a:spLocks noChangeShapeType="1"/>
            </p:cNvSpPr>
            <p:nvPr/>
          </p:nvSpPr>
          <p:spPr bwMode="auto">
            <a:xfrm>
              <a:off x="3072" y="340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880" name="Text Box 88"/>
            <p:cNvSpPr txBox="1">
              <a:spLocks noChangeArrowheads="1"/>
            </p:cNvSpPr>
            <p:nvPr/>
          </p:nvSpPr>
          <p:spPr bwMode="auto">
            <a:xfrm>
              <a:off x="3779" y="3312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4" name="Group 89"/>
          <p:cNvGrpSpPr>
            <a:grpSpLocks/>
          </p:cNvGrpSpPr>
          <p:nvPr/>
        </p:nvGrpSpPr>
        <p:grpSpPr bwMode="auto">
          <a:xfrm>
            <a:off x="1981200" y="5813425"/>
            <a:ext cx="2924176" cy="333375"/>
            <a:chOff x="1248" y="3312"/>
            <a:chExt cx="1842" cy="210"/>
          </a:xfrm>
        </p:grpSpPr>
        <p:sp>
          <p:nvSpPr>
            <p:cNvPr id="33882" name="Line 90"/>
            <p:cNvSpPr>
              <a:spLocks noChangeShapeType="1"/>
            </p:cNvSpPr>
            <p:nvPr/>
          </p:nvSpPr>
          <p:spPr bwMode="auto">
            <a:xfrm>
              <a:off x="1248" y="340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883" name="Text Box 91"/>
            <p:cNvSpPr txBox="1">
              <a:spLocks noChangeArrowheads="1"/>
            </p:cNvSpPr>
            <p:nvPr/>
          </p:nvSpPr>
          <p:spPr bwMode="auto">
            <a:xfrm>
              <a:off x="1955" y="3312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5" name="Group 92"/>
          <p:cNvGrpSpPr>
            <a:grpSpLocks/>
          </p:cNvGrpSpPr>
          <p:nvPr/>
        </p:nvGrpSpPr>
        <p:grpSpPr bwMode="auto">
          <a:xfrm>
            <a:off x="960438" y="3852862"/>
            <a:ext cx="3916363" cy="333375"/>
            <a:chOff x="605" y="2256"/>
            <a:chExt cx="2467" cy="210"/>
          </a:xfrm>
        </p:grpSpPr>
        <p:sp>
          <p:nvSpPr>
            <p:cNvPr id="33885" name="Line 93"/>
            <p:cNvSpPr>
              <a:spLocks noChangeShapeType="1"/>
            </p:cNvSpPr>
            <p:nvPr/>
          </p:nvSpPr>
          <p:spPr bwMode="auto">
            <a:xfrm>
              <a:off x="605" y="2347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886" name="Text Box 94"/>
            <p:cNvSpPr txBox="1">
              <a:spLocks noChangeArrowheads="1"/>
            </p:cNvSpPr>
            <p:nvPr/>
          </p:nvSpPr>
          <p:spPr bwMode="auto">
            <a:xfrm>
              <a:off x="1553" y="2256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VPN</a:t>
              </a:r>
            </a:p>
          </p:txBody>
        </p:sp>
      </p:grpSp>
      <p:sp>
        <p:nvSpPr>
          <p:cNvPr id="33887" name="Text Box 95"/>
          <p:cNvSpPr txBox="1">
            <a:spLocks noChangeArrowheads="1"/>
          </p:cNvSpPr>
          <p:nvPr/>
        </p:nvSpPr>
        <p:spPr bwMode="auto">
          <a:xfrm>
            <a:off x="1657352" y="4289425"/>
            <a:ext cx="2174440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Page Number</a:t>
            </a:r>
          </a:p>
        </p:txBody>
      </p:sp>
      <p:sp>
        <p:nvSpPr>
          <p:cNvPr id="33888" name="Text Box 96"/>
          <p:cNvSpPr txBox="1">
            <a:spLocks noChangeArrowheads="1"/>
          </p:cNvSpPr>
          <p:nvPr/>
        </p:nvSpPr>
        <p:spPr bwMode="auto">
          <a:xfrm>
            <a:off x="5291668" y="4278312"/>
            <a:ext cx="1976630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Page Offset</a:t>
            </a:r>
          </a:p>
        </p:txBody>
      </p:sp>
      <p:sp>
        <p:nvSpPr>
          <p:cNvPr id="33889" name="Text Box 97"/>
          <p:cNvSpPr txBox="1">
            <a:spLocks noChangeArrowheads="1"/>
          </p:cNvSpPr>
          <p:nvPr/>
        </p:nvSpPr>
        <p:spPr bwMode="auto">
          <a:xfrm>
            <a:off x="2203983" y="6162675"/>
            <a:ext cx="2289280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Page Number</a:t>
            </a:r>
          </a:p>
        </p:txBody>
      </p:sp>
      <p:sp>
        <p:nvSpPr>
          <p:cNvPr id="33890" name="Text Box 98"/>
          <p:cNvSpPr txBox="1">
            <a:spLocks noChangeArrowheads="1"/>
          </p:cNvSpPr>
          <p:nvPr/>
        </p:nvSpPr>
        <p:spPr bwMode="auto">
          <a:xfrm>
            <a:off x="5232399" y="6194425"/>
            <a:ext cx="2091469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Page Offset</a:t>
            </a:r>
          </a:p>
        </p:txBody>
      </p:sp>
    </p:spTree>
    <p:extLst>
      <p:ext uri="{BB962C8B-B14F-4D97-AF65-F5344CB8AC3E}">
        <p14:creationId xmlns:p14="http://schemas.microsoft.com/office/powerpoint/2010/main" val="361477207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69277" y="4763559"/>
            <a:ext cx="8154989" cy="1627189"/>
            <a:chOff x="2211252" y="149729"/>
            <a:chExt cx="8154989" cy="1627189"/>
          </a:xfrm>
        </p:grpSpPr>
        <p:sp>
          <p:nvSpPr>
            <p:cNvPr id="145" name="Rectangle 60"/>
            <p:cNvSpPr>
              <a:spLocks noChangeArrowheads="1"/>
            </p:cNvSpPr>
            <p:nvPr/>
          </p:nvSpPr>
          <p:spPr bwMode="auto">
            <a:xfrm>
              <a:off x="9739177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46" name="Rectangle 61"/>
            <p:cNvSpPr>
              <a:spLocks noChangeArrowheads="1"/>
            </p:cNvSpPr>
            <p:nvPr/>
          </p:nvSpPr>
          <p:spPr bwMode="auto">
            <a:xfrm>
              <a:off x="9108940" y="1449892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47" name="Rectangle 62"/>
            <p:cNvSpPr>
              <a:spLocks noChangeArrowheads="1"/>
            </p:cNvSpPr>
            <p:nvPr/>
          </p:nvSpPr>
          <p:spPr bwMode="auto">
            <a:xfrm>
              <a:off x="8483465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148" name="Rectangle 63"/>
            <p:cNvSpPr>
              <a:spLocks noChangeArrowheads="1"/>
            </p:cNvSpPr>
            <p:nvPr/>
          </p:nvSpPr>
          <p:spPr bwMode="auto">
            <a:xfrm>
              <a:off x="7854815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49" name="Rectangle 64"/>
            <p:cNvSpPr>
              <a:spLocks noChangeArrowheads="1"/>
            </p:cNvSpPr>
            <p:nvPr/>
          </p:nvSpPr>
          <p:spPr bwMode="auto">
            <a:xfrm>
              <a:off x="7229340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34</a:t>
              </a:r>
            </a:p>
          </p:txBody>
        </p:sp>
        <p:sp>
          <p:nvSpPr>
            <p:cNvPr id="150" name="Rectangle 65"/>
            <p:cNvSpPr>
              <a:spLocks noChangeArrowheads="1"/>
            </p:cNvSpPr>
            <p:nvPr/>
          </p:nvSpPr>
          <p:spPr bwMode="auto">
            <a:xfrm>
              <a:off x="6602277" y="1449892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0A</a:t>
              </a:r>
            </a:p>
          </p:txBody>
        </p:sp>
        <p:sp>
          <p:nvSpPr>
            <p:cNvPr id="151" name="Rectangle 66"/>
            <p:cNvSpPr>
              <a:spLocks noChangeArrowheads="1"/>
            </p:cNvSpPr>
            <p:nvPr/>
          </p:nvSpPr>
          <p:spPr bwMode="auto">
            <a:xfrm>
              <a:off x="5973627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52" name="Rectangle 67"/>
            <p:cNvSpPr>
              <a:spLocks noChangeArrowheads="1"/>
            </p:cNvSpPr>
            <p:nvPr/>
          </p:nvSpPr>
          <p:spPr bwMode="auto">
            <a:xfrm>
              <a:off x="5346565" y="1449892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153" name="Rectangle 68"/>
            <p:cNvSpPr>
              <a:spLocks noChangeArrowheads="1"/>
            </p:cNvSpPr>
            <p:nvPr/>
          </p:nvSpPr>
          <p:spPr bwMode="auto">
            <a:xfrm>
              <a:off x="4721090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154" name="Rectangle 69"/>
            <p:cNvSpPr>
              <a:spLocks noChangeArrowheads="1"/>
            </p:cNvSpPr>
            <p:nvPr/>
          </p:nvSpPr>
          <p:spPr bwMode="auto">
            <a:xfrm>
              <a:off x="4092440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55" name="Rectangle 70"/>
            <p:cNvSpPr>
              <a:spLocks noChangeArrowheads="1"/>
            </p:cNvSpPr>
            <p:nvPr/>
          </p:nvSpPr>
          <p:spPr bwMode="auto">
            <a:xfrm>
              <a:off x="3466965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56" name="Rectangle 71"/>
            <p:cNvSpPr>
              <a:spLocks noChangeArrowheads="1"/>
            </p:cNvSpPr>
            <p:nvPr/>
          </p:nvSpPr>
          <p:spPr bwMode="auto">
            <a:xfrm>
              <a:off x="2836727" y="1449892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07</a:t>
              </a:r>
            </a:p>
          </p:txBody>
        </p:sp>
        <p:sp>
          <p:nvSpPr>
            <p:cNvPr id="157" name="Rectangle 72"/>
            <p:cNvSpPr>
              <a:spLocks noChangeArrowheads="1"/>
            </p:cNvSpPr>
            <p:nvPr/>
          </p:nvSpPr>
          <p:spPr bwMode="auto">
            <a:xfrm>
              <a:off x="2211252" y="1449892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158" name="Rectangle 73"/>
            <p:cNvSpPr>
              <a:spLocks noChangeArrowheads="1"/>
            </p:cNvSpPr>
            <p:nvPr/>
          </p:nvSpPr>
          <p:spPr bwMode="auto">
            <a:xfrm>
              <a:off x="9739177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59" name="Rectangle 74"/>
            <p:cNvSpPr>
              <a:spLocks noChangeArrowheads="1"/>
            </p:cNvSpPr>
            <p:nvPr/>
          </p:nvSpPr>
          <p:spPr bwMode="auto">
            <a:xfrm>
              <a:off x="9108940" y="1124454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60" name="Rectangle 75"/>
            <p:cNvSpPr>
              <a:spLocks noChangeArrowheads="1"/>
            </p:cNvSpPr>
            <p:nvPr/>
          </p:nvSpPr>
          <p:spPr bwMode="auto">
            <a:xfrm>
              <a:off x="8483465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161" name="Rectangle 76"/>
            <p:cNvSpPr>
              <a:spLocks noChangeArrowheads="1"/>
            </p:cNvSpPr>
            <p:nvPr/>
          </p:nvSpPr>
          <p:spPr bwMode="auto">
            <a:xfrm>
              <a:off x="7854815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62" name="Rectangle 77"/>
            <p:cNvSpPr>
              <a:spLocks noChangeArrowheads="1"/>
            </p:cNvSpPr>
            <p:nvPr/>
          </p:nvSpPr>
          <p:spPr bwMode="auto">
            <a:xfrm>
              <a:off x="7229340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63" name="Rectangle 78"/>
            <p:cNvSpPr>
              <a:spLocks noChangeArrowheads="1"/>
            </p:cNvSpPr>
            <p:nvPr/>
          </p:nvSpPr>
          <p:spPr bwMode="auto">
            <a:xfrm>
              <a:off x="6602277" y="1124454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06</a:t>
              </a:r>
            </a:p>
          </p:txBody>
        </p:sp>
        <p:sp>
          <p:nvSpPr>
            <p:cNvPr id="164" name="Rectangle 79"/>
            <p:cNvSpPr>
              <a:spLocks noChangeArrowheads="1"/>
            </p:cNvSpPr>
            <p:nvPr/>
          </p:nvSpPr>
          <p:spPr bwMode="auto">
            <a:xfrm>
              <a:off x="5973627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65" name="Rectangle 80"/>
            <p:cNvSpPr>
              <a:spLocks noChangeArrowheads="1"/>
            </p:cNvSpPr>
            <p:nvPr/>
          </p:nvSpPr>
          <p:spPr bwMode="auto">
            <a:xfrm>
              <a:off x="5346565" y="1124454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66" name="Rectangle 81"/>
            <p:cNvSpPr>
              <a:spLocks noChangeArrowheads="1"/>
            </p:cNvSpPr>
            <p:nvPr/>
          </p:nvSpPr>
          <p:spPr bwMode="auto">
            <a:xfrm>
              <a:off x="4721090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08</a:t>
              </a:r>
            </a:p>
          </p:txBody>
        </p:sp>
        <p:sp>
          <p:nvSpPr>
            <p:cNvPr id="167" name="Rectangle 82"/>
            <p:cNvSpPr>
              <a:spLocks noChangeArrowheads="1"/>
            </p:cNvSpPr>
            <p:nvPr/>
          </p:nvSpPr>
          <p:spPr bwMode="auto">
            <a:xfrm>
              <a:off x="4092440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68" name="Rectangle 83"/>
            <p:cNvSpPr>
              <a:spLocks noChangeArrowheads="1"/>
            </p:cNvSpPr>
            <p:nvPr/>
          </p:nvSpPr>
          <p:spPr bwMode="auto">
            <a:xfrm>
              <a:off x="3466965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69" name="Rectangle 84"/>
            <p:cNvSpPr>
              <a:spLocks noChangeArrowheads="1"/>
            </p:cNvSpPr>
            <p:nvPr/>
          </p:nvSpPr>
          <p:spPr bwMode="auto">
            <a:xfrm>
              <a:off x="2836727" y="1124454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170" name="Rectangle 85"/>
            <p:cNvSpPr>
              <a:spLocks noChangeArrowheads="1"/>
            </p:cNvSpPr>
            <p:nvPr/>
          </p:nvSpPr>
          <p:spPr bwMode="auto">
            <a:xfrm>
              <a:off x="2211252" y="1124454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171" name="Rectangle 86"/>
            <p:cNvSpPr>
              <a:spLocks noChangeArrowheads="1"/>
            </p:cNvSpPr>
            <p:nvPr/>
          </p:nvSpPr>
          <p:spPr bwMode="auto">
            <a:xfrm>
              <a:off x="9739177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72" name="Rectangle 87"/>
            <p:cNvSpPr>
              <a:spLocks noChangeArrowheads="1"/>
            </p:cNvSpPr>
            <p:nvPr/>
          </p:nvSpPr>
          <p:spPr bwMode="auto">
            <a:xfrm>
              <a:off x="9108940" y="800604"/>
              <a:ext cx="630238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73" name="Rectangle 88"/>
            <p:cNvSpPr>
              <a:spLocks noChangeArrowheads="1"/>
            </p:cNvSpPr>
            <p:nvPr/>
          </p:nvSpPr>
          <p:spPr bwMode="auto">
            <a:xfrm>
              <a:off x="8483465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0A</a:t>
              </a:r>
            </a:p>
          </p:txBody>
        </p:sp>
        <p:sp>
          <p:nvSpPr>
            <p:cNvPr id="174" name="Rectangle 89"/>
            <p:cNvSpPr>
              <a:spLocks noChangeArrowheads="1"/>
            </p:cNvSpPr>
            <p:nvPr/>
          </p:nvSpPr>
          <p:spPr bwMode="auto">
            <a:xfrm>
              <a:off x="7854815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75" name="Rectangle 90"/>
            <p:cNvSpPr>
              <a:spLocks noChangeArrowheads="1"/>
            </p:cNvSpPr>
            <p:nvPr/>
          </p:nvSpPr>
          <p:spPr bwMode="auto">
            <a:xfrm>
              <a:off x="7229340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76" name="Rectangle 91"/>
            <p:cNvSpPr>
              <a:spLocks noChangeArrowheads="1"/>
            </p:cNvSpPr>
            <p:nvPr/>
          </p:nvSpPr>
          <p:spPr bwMode="auto">
            <a:xfrm>
              <a:off x="6602277" y="800604"/>
              <a:ext cx="627063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177" name="Rectangle 92"/>
            <p:cNvSpPr>
              <a:spLocks noChangeArrowheads="1"/>
            </p:cNvSpPr>
            <p:nvPr/>
          </p:nvSpPr>
          <p:spPr bwMode="auto">
            <a:xfrm>
              <a:off x="5973627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78" name="Rectangle 93"/>
            <p:cNvSpPr>
              <a:spLocks noChangeArrowheads="1"/>
            </p:cNvSpPr>
            <p:nvPr/>
          </p:nvSpPr>
          <p:spPr bwMode="auto">
            <a:xfrm>
              <a:off x="5346565" y="800604"/>
              <a:ext cx="627063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79" name="Rectangle 94"/>
            <p:cNvSpPr>
              <a:spLocks noChangeArrowheads="1"/>
            </p:cNvSpPr>
            <p:nvPr/>
          </p:nvSpPr>
          <p:spPr bwMode="auto">
            <a:xfrm>
              <a:off x="4721090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180" name="Rectangle 95"/>
            <p:cNvSpPr>
              <a:spLocks noChangeArrowheads="1"/>
            </p:cNvSpPr>
            <p:nvPr/>
          </p:nvSpPr>
          <p:spPr bwMode="auto">
            <a:xfrm>
              <a:off x="4092440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81" name="Rectangle 96"/>
            <p:cNvSpPr>
              <a:spLocks noChangeArrowheads="1"/>
            </p:cNvSpPr>
            <p:nvPr/>
          </p:nvSpPr>
          <p:spPr bwMode="auto">
            <a:xfrm>
              <a:off x="3466965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182" name="Rectangle 97"/>
            <p:cNvSpPr>
              <a:spLocks noChangeArrowheads="1"/>
            </p:cNvSpPr>
            <p:nvPr/>
          </p:nvSpPr>
          <p:spPr bwMode="auto">
            <a:xfrm>
              <a:off x="2836727" y="800604"/>
              <a:ext cx="630238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183" name="Rectangle 98"/>
            <p:cNvSpPr>
              <a:spLocks noChangeArrowheads="1"/>
            </p:cNvSpPr>
            <p:nvPr/>
          </p:nvSpPr>
          <p:spPr bwMode="auto">
            <a:xfrm>
              <a:off x="2211252" y="800604"/>
              <a:ext cx="625475" cy="3238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184" name="Rectangle 99"/>
            <p:cNvSpPr>
              <a:spLocks noChangeArrowheads="1"/>
            </p:cNvSpPr>
            <p:nvPr/>
          </p:nvSpPr>
          <p:spPr bwMode="auto">
            <a:xfrm>
              <a:off x="9739177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85" name="Rectangle 100"/>
            <p:cNvSpPr>
              <a:spLocks noChangeArrowheads="1"/>
            </p:cNvSpPr>
            <p:nvPr/>
          </p:nvSpPr>
          <p:spPr bwMode="auto">
            <a:xfrm>
              <a:off x="9108940" y="475167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186" name="Rectangle 101"/>
            <p:cNvSpPr>
              <a:spLocks noChangeArrowheads="1"/>
            </p:cNvSpPr>
            <p:nvPr/>
          </p:nvSpPr>
          <p:spPr bwMode="auto">
            <a:xfrm>
              <a:off x="8483465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07</a:t>
              </a:r>
            </a:p>
          </p:txBody>
        </p:sp>
        <p:sp>
          <p:nvSpPr>
            <p:cNvPr id="187" name="Rectangle 102"/>
            <p:cNvSpPr>
              <a:spLocks noChangeArrowheads="1"/>
            </p:cNvSpPr>
            <p:nvPr/>
          </p:nvSpPr>
          <p:spPr bwMode="auto">
            <a:xfrm>
              <a:off x="7854815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88" name="Rectangle 103"/>
            <p:cNvSpPr>
              <a:spLocks noChangeArrowheads="1"/>
            </p:cNvSpPr>
            <p:nvPr/>
          </p:nvSpPr>
          <p:spPr bwMode="auto">
            <a:xfrm>
              <a:off x="7229340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89" name="Rectangle 104"/>
            <p:cNvSpPr>
              <a:spLocks noChangeArrowheads="1"/>
            </p:cNvSpPr>
            <p:nvPr/>
          </p:nvSpPr>
          <p:spPr bwMode="auto">
            <a:xfrm>
              <a:off x="6602277" y="475167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190" name="Rectangle 105"/>
            <p:cNvSpPr>
              <a:spLocks noChangeArrowheads="1"/>
            </p:cNvSpPr>
            <p:nvPr/>
          </p:nvSpPr>
          <p:spPr bwMode="auto">
            <a:xfrm>
              <a:off x="5973627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91" name="Rectangle 106"/>
            <p:cNvSpPr>
              <a:spLocks noChangeArrowheads="1"/>
            </p:cNvSpPr>
            <p:nvPr/>
          </p:nvSpPr>
          <p:spPr bwMode="auto">
            <a:xfrm>
              <a:off x="5346565" y="475167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192" name="Rectangle 107"/>
            <p:cNvSpPr>
              <a:spLocks noChangeArrowheads="1"/>
            </p:cNvSpPr>
            <p:nvPr/>
          </p:nvSpPr>
          <p:spPr bwMode="auto">
            <a:xfrm>
              <a:off x="4721090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09</a:t>
              </a:r>
            </a:p>
          </p:txBody>
        </p:sp>
        <p:sp>
          <p:nvSpPr>
            <p:cNvPr id="193" name="Rectangle 108"/>
            <p:cNvSpPr>
              <a:spLocks noChangeArrowheads="1"/>
            </p:cNvSpPr>
            <p:nvPr/>
          </p:nvSpPr>
          <p:spPr bwMode="auto">
            <a:xfrm>
              <a:off x="4092440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94" name="Rectangle 109"/>
            <p:cNvSpPr>
              <a:spLocks noChangeArrowheads="1"/>
            </p:cNvSpPr>
            <p:nvPr/>
          </p:nvSpPr>
          <p:spPr bwMode="auto">
            <a:xfrm>
              <a:off x="3466965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95" name="Rectangle 110"/>
            <p:cNvSpPr>
              <a:spLocks noChangeArrowheads="1"/>
            </p:cNvSpPr>
            <p:nvPr/>
          </p:nvSpPr>
          <p:spPr bwMode="auto">
            <a:xfrm>
              <a:off x="2836727" y="475167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196" name="Rectangle 111"/>
            <p:cNvSpPr>
              <a:spLocks noChangeArrowheads="1"/>
            </p:cNvSpPr>
            <p:nvPr/>
          </p:nvSpPr>
          <p:spPr bwMode="auto">
            <a:xfrm>
              <a:off x="2211252" y="475167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197" name="Rectangle 112"/>
            <p:cNvSpPr>
              <a:spLocks noChangeArrowheads="1"/>
            </p:cNvSpPr>
            <p:nvPr/>
          </p:nvSpPr>
          <p:spPr bwMode="auto">
            <a:xfrm>
              <a:off x="9739177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198" name="Rectangle 113"/>
            <p:cNvSpPr>
              <a:spLocks noChangeArrowheads="1"/>
            </p:cNvSpPr>
            <p:nvPr/>
          </p:nvSpPr>
          <p:spPr bwMode="auto">
            <a:xfrm>
              <a:off x="9108940" y="14972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199" name="Rectangle 114"/>
            <p:cNvSpPr>
              <a:spLocks noChangeArrowheads="1"/>
            </p:cNvSpPr>
            <p:nvPr/>
          </p:nvSpPr>
          <p:spPr bwMode="auto">
            <a:xfrm>
              <a:off x="8483465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200" name="Rectangle 115"/>
            <p:cNvSpPr>
              <a:spLocks noChangeArrowheads="1"/>
            </p:cNvSpPr>
            <p:nvPr/>
          </p:nvSpPr>
          <p:spPr bwMode="auto">
            <a:xfrm>
              <a:off x="7854815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201" name="Rectangle 116"/>
            <p:cNvSpPr>
              <a:spLocks noChangeArrowheads="1"/>
            </p:cNvSpPr>
            <p:nvPr/>
          </p:nvSpPr>
          <p:spPr bwMode="auto">
            <a:xfrm>
              <a:off x="7229340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202" name="Rectangle 117"/>
            <p:cNvSpPr>
              <a:spLocks noChangeArrowheads="1"/>
            </p:cNvSpPr>
            <p:nvPr/>
          </p:nvSpPr>
          <p:spPr bwMode="auto">
            <a:xfrm>
              <a:off x="6602277" y="14972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203" name="Rectangle 118"/>
            <p:cNvSpPr>
              <a:spLocks noChangeArrowheads="1"/>
            </p:cNvSpPr>
            <p:nvPr/>
          </p:nvSpPr>
          <p:spPr bwMode="auto">
            <a:xfrm>
              <a:off x="5973627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204" name="Rectangle 119"/>
            <p:cNvSpPr>
              <a:spLocks noChangeArrowheads="1"/>
            </p:cNvSpPr>
            <p:nvPr/>
          </p:nvSpPr>
          <p:spPr bwMode="auto">
            <a:xfrm>
              <a:off x="5346565" y="14972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205" name="Rectangle 120"/>
            <p:cNvSpPr>
              <a:spLocks noChangeArrowheads="1"/>
            </p:cNvSpPr>
            <p:nvPr/>
          </p:nvSpPr>
          <p:spPr bwMode="auto">
            <a:xfrm>
              <a:off x="4721090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206" name="Rectangle 121"/>
            <p:cNvSpPr>
              <a:spLocks noChangeArrowheads="1"/>
            </p:cNvSpPr>
            <p:nvPr/>
          </p:nvSpPr>
          <p:spPr bwMode="auto">
            <a:xfrm>
              <a:off x="4092440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207" name="Rectangle 122"/>
            <p:cNvSpPr>
              <a:spLocks noChangeArrowheads="1"/>
            </p:cNvSpPr>
            <p:nvPr/>
          </p:nvSpPr>
          <p:spPr bwMode="auto">
            <a:xfrm>
              <a:off x="3466965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208" name="Rectangle 123"/>
            <p:cNvSpPr>
              <a:spLocks noChangeArrowheads="1"/>
            </p:cNvSpPr>
            <p:nvPr/>
          </p:nvSpPr>
          <p:spPr bwMode="auto">
            <a:xfrm>
              <a:off x="2836727" y="14972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209" name="Rectangle 124"/>
            <p:cNvSpPr>
              <a:spLocks noChangeArrowheads="1"/>
            </p:cNvSpPr>
            <p:nvPr/>
          </p:nvSpPr>
          <p:spPr bwMode="auto">
            <a:xfrm>
              <a:off x="2211252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Set</a:t>
              </a:r>
            </a:p>
          </p:txBody>
        </p:sp>
        <p:sp>
          <p:nvSpPr>
            <p:cNvPr id="210" name="Line 125"/>
            <p:cNvSpPr>
              <a:spLocks noChangeShapeType="1"/>
            </p:cNvSpPr>
            <p:nvPr/>
          </p:nvSpPr>
          <p:spPr bwMode="auto">
            <a:xfrm>
              <a:off x="2211252" y="475167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211" name="Line 126"/>
            <p:cNvSpPr>
              <a:spLocks noChangeShapeType="1"/>
            </p:cNvSpPr>
            <p:nvPr/>
          </p:nvSpPr>
          <p:spPr bwMode="auto">
            <a:xfrm>
              <a:off x="2211252" y="80060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Line 127"/>
            <p:cNvSpPr>
              <a:spLocks noChangeShapeType="1"/>
            </p:cNvSpPr>
            <p:nvPr/>
          </p:nvSpPr>
          <p:spPr bwMode="auto">
            <a:xfrm>
              <a:off x="2211252" y="112445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ine 128"/>
            <p:cNvSpPr>
              <a:spLocks noChangeShapeType="1"/>
            </p:cNvSpPr>
            <p:nvPr/>
          </p:nvSpPr>
          <p:spPr bwMode="auto">
            <a:xfrm>
              <a:off x="2211252" y="1449892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Line 129"/>
            <p:cNvSpPr>
              <a:spLocks noChangeShapeType="1"/>
            </p:cNvSpPr>
            <p:nvPr/>
          </p:nvSpPr>
          <p:spPr bwMode="auto">
            <a:xfrm>
              <a:off x="346696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Line 130"/>
            <p:cNvSpPr>
              <a:spLocks noChangeShapeType="1"/>
            </p:cNvSpPr>
            <p:nvPr/>
          </p:nvSpPr>
          <p:spPr bwMode="auto">
            <a:xfrm>
              <a:off x="40924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Line 131"/>
            <p:cNvSpPr>
              <a:spLocks noChangeShapeType="1"/>
            </p:cNvSpPr>
            <p:nvPr/>
          </p:nvSpPr>
          <p:spPr bwMode="auto">
            <a:xfrm>
              <a:off x="534656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Line 132"/>
            <p:cNvSpPr>
              <a:spLocks noChangeShapeType="1"/>
            </p:cNvSpPr>
            <p:nvPr/>
          </p:nvSpPr>
          <p:spPr bwMode="auto">
            <a:xfrm>
              <a:off x="5973627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Line 133"/>
            <p:cNvSpPr>
              <a:spLocks noChangeShapeType="1"/>
            </p:cNvSpPr>
            <p:nvPr/>
          </p:nvSpPr>
          <p:spPr bwMode="auto">
            <a:xfrm>
              <a:off x="72293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Line 134"/>
            <p:cNvSpPr>
              <a:spLocks noChangeShapeType="1"/>
            </p:cNvSpPr>
            <p:nvPr/>
          </p:nvSpPr>
          <p:spPr bwMode="auto">
            <a:xfrm>
              <a:off x="785481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Line 135"/>
            <p:cNvSpPr>
              <a:spLocks noChangeShapeType="1"/>
            </p:cNvSpPr>
            <p:nvPr/>
          </p:nvSpPr>
          <p:spPr bwMode="auto">
            <a:xfrm>
              <a:off x="91089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Line 136"/>
            <p:cNvSpPr>
              <a:spLocks noChangeShapeType="1"/>
            </p:cNvSpPr>
            <p:nvPr/>
          </p:nvSpPr>
          <p:spPr bwMode="auto">
            <a:xfrm>
              <a:off x="9739177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Line 137"/>
            <p:cNvSpPr>
              <a:spLocks noChangeShapeType="1"/>
            </p:cNvSpPr>
            <p:nvPr/>
          </p:nvSpPr>
          <p:spPr bwMode="auto">
            <a:xfrm>
              <a:off x="2836727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Line 138"/>
            <p:cNvSpPr>
              <a:spLocks noChangeShapeType="1"/>
            </p:cNvSpPr>
            <p:nvPr/>
          </p:nvSpPr>
          <p:spPr bwMode="auto">
            <a:xfrm>
              <a:off x="4721090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Line 139"/>
            <p:cNvSpPr>
              <a:spLocks noChangeShapeType="1"/>
            </p:cNvSpPr>
            <p:nvPr/>
          </p:nvSpPr>
          <p:spPr bwMode="auto">
            <a:xfrm>
              <a:off x="2211252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Line 140"/>
            <p:cNvSpPr>
              <a:spLocks noChangeShapeType="1"/>
            </p:cNvSpPr>
            <p:nvPr/>
          </p:nvSpPr>
          <p:spPr bwMode="auto">
            <a:xfrm>
              <a:off x="6602277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Line 141"/>
            <p:cNvSpPr>
              <a:spLocks noChangeShapeType="1"/>
            </p:cNvSpPr>
            <p:nvPr/>
          </p:nvSpPr>
          <p:spPr bwMode="auto">
            <a:xfrm>
              <a:off x="8483465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Line 142"/>
            <p:cNvSpPr>
              <a:spLocks noChangeShapeType="1"/>
            </p:cNvSpPr>
            <p:nvPr/>
          </p:nvSpPr>
          <p:spPr bwMode="auto">
            <a:xfrm>
              <a:off x="2211252" y="149729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228" name="Line 143"/>
            <p:cNvSpPr>
              <a:spLocks noChangeShapeType="1"/>
            </p:cNvSpPr>
            <p:nvPr/>
          </p:nvSpPr>
          <p:spPr bwMode="auto">
            <a:xfrm>
              <a:off x="10364653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Line 144"/>
            <p:cNvSpPr>
              <a:spLocks noChangeShapeType="1"/>
            </p:cNvSpPr>
            <p:nvPr/>
          </p:nvSpPr>
          <p:spPr bwMode="auto">
            <a:xfrm>
              <a:off x="2211252" y="1775330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669448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Simple Memory System TLB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3" y="1179512"/>
            <a:ext cx="8307387" cy="877888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16 entries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4-way associative</a:t>
            </a:r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 lvl="2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1125538" y="2714625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1125538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13</a:t>
            </a: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1612900" y="2714625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1612900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12</a:t>
            </a: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2100263" y="2714625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2100263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11</a:t>
            </a:r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2587625" y="2714625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2587625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10</a:t>
            </a:r>
          </a:p>
        </p:txBody>
      </p: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3074988" y="2714625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3074988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9</a:t>
            </a:r>
          </a:p>
        </p:txBody>
      </p:sp>
      <p:sp>
        <p:nvSpPr>
          <p:cNvPr id="35861" name="Rectangle 21"/>
          <p:cNvSpPr>
            <a:spLocks noChangeArrowheads="1"/>
          </p:cNvSpPr>
          <p:nvPr/>
        </p:nvSpPr>
        <p:spPr bwMode="auto">
          <a:xfrm>
            <a:off x="3562350" y="2714625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2" name="Rectangle 22"/>
          <p:cNvSpPr>
            <a:spLocks noChangeArrowheads="1"/>
          </p:cNvSpPr>
          <p:nvPr/>
        </p:nvSpPr>
        <p:spPr bwMode="auto">
          <a:xfrm>
            <a:off x="3562350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8</a:t>
            </a:r>
          </a:p>
        </p:txBody>
      </p:sp>
      <p:sp>
        <p:nvSpPr>
          <p:cNvPr id="35864" name="Rectangle 24"/>
          <p:cNvSpPr>
            <a:spLocks noChangeArrowheads="1"/>
          </p:cNvSpPr>
          <p:nvPr/>
        </p:nvSpPr>
        <p:spPr bwMode="auto">
          <a:xfrm>
            <a:off x="4049713" y="2714625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5" name="Rectangle 25"/>
          <p:cNvSpPr>
            <a:spLocks noChangeArrowheads="1"/>
          </p:cNvSpPr>
          <p:nvPr/>
        </p:nvSpPr>
        <p:spPr bwMode="auto">
          <a:xfrm>
            <a:off x="4049713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7</a:t>
            </a:r>
          </a:p>
        </p:txBody>
      </p:sp>
      <p:sp>
        <p:nvSpPr>
          <p:cNvPr id="35867" name="Rectangle 27"/>
          <p:cNvSpPr>
            <a:spLocks noChangeArrowheads="1"/>
          </p:cNvSpPr>
          <p:nvPr/>
        </p:nvSpPr>
        <p:spPr bwMode="auto">
          <a:xfrm>
            <a:off x="4537075" y="2714625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8" name="Rectangle 28"/>
          <p:cNvSpPr>
            <a:spLocks noChangeArrowheads="1"/>
          </p:cNvSpPr>
          <p:nvPr/>
        </p:nvSpPr>
        <p:spPr bwMode="auto">
          <a:xfrm>
            <a:off x="4537075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6</a:t>
            </a:r>
          </a:p>
        </p:txBody>
      </p:sp>
      <p:sp>
        <p:nvSpPr>
          <p:cNvPr id="35870" name="Rectangle 30"/>
          <p:cNvSpPr>
            <a:spLocks noChangeArrowheads="1"/>
          </p:cNvSpPr>
          <p:nvPr/>
        </p:nvSpPr>
        <p:spPr bwMode="auto">
          <a:xfrm>
            <a:off x="5024438" y="27146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Rectangle 31"/>
          <p:cNvSpPr>
            <a:spLocks noChangeArrowheads="1"/>
          </p:cNvSpPr>
          <p:nvPr/>
        </p:nvSpPr>
        <p:spPr bwMode="auto">
          <a:xfrm>
            <a:off x="5024438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5</a:t>
            </a:r>
          </a:p>
        </p:txBody>
      </p:sp>
      <p:sp>
        <p:nvSpPr>
          <p:cNvPr id="35873" name="Rectangle 33"/>
          <p:cNvSpPr>
            <a:spLocks noChangeArrowheads="1"/>
          </p:cNvSpPr>
          <p:nvPr/>
        </p:nvSpPr>
        <p:spPr bwMode="auto">
          <a:xfrm>
            <a:off x="5511800" y="27146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Rectangle 34"/>
          <p:cNvSpPr>
            <a:spLocks noChangeArrowheads="1"/>
          </p:cNvSpPr>
          <p:nvPr/>
        </p:nvSpPr>
        <p:spPr bwMode="auto">
          <a:xfrm>
            <a:off x="5511800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4</a:t>
            </a:r>
          </a:p>
        </p:txBody>
      </p:sp>
      <p:sp>
        <p:nvSpPr>
          <p:cNvPr id="35876" name="Rectangle 36"/>
          <p:cNvSpPr>
            <a:spLocks noChangeArrowheads="1"/>
          </p:cNvSpPr>
          <p:nvPr/>
        </p:nvSpPr>
        <p:spPr bwMode="auto">
          <a:xfrm>
            <a:off x="5999163" y="27146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7" name="Rectangle 37"/>
          <p:cNvSpPr>
            <a:spLocks noChangeArrowheads="1"/>
          </p:cNvSpPr>
          <p:nvPr/>
        </p:nvSpPr>
        <p:spPr bwMode="auto">
          <a:xfrm>
            <a:off x="5999163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3</a:t>
            </a:r>
          </a:p>
        </p:txBody>
      </p:sp>
      <p:sp>
        <p:nvSpPr>
          <p:cNvPr id="35879" name="Rectangle 39"/>
          <p:cNvSpPr>
            <a:spLocks noChangeArrowheads="1"/>
          </p:cNvSpPr>
          <p:nvPr/>
        </p:nvSpPr>
        <p:spPr bwMode="auto">
          <a:xfrm>
            <a:off x="6486525" y="27146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0" name="Rectangle 40"/>
          <p:cNvSpPr>
            <a:spLocks noChangeArrowheads="1"/>
          </p:cNvSpPr>
          <p:nvPr/>
        </p:nvSpPr>
        <p:spPr bwMode="auto">
          <a:xfrm>
            <a:off x="6486525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2</a:t>
            </a:r>
          </a:p>
        </p:txBody>
      </p:sp>
      <p:sp>
        <p:nvSpPr>
          <p:cNvPr id="35882" name="Rectangle 42"/>
          <p:cNvSpPr>
            <a:spLocks noChangeArrowheads="1"/>
          </p:cNvSpPr>
          <p:nvPr/>
        </p:nvSpPr>
        <p:spPr bwMode="auto">
          <a:xfrm>
            <a:off x="6973888" y="27146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3" name="Rectangle 43"/>
          <p:cNvSpPr>
            <a:spLocks noChangeArrowheads="1"/>
          </p:cNvSpPr>
          <p:nvPr/>
        </p:nvSpPr>
        <p:spPr bwMode="auto">
          <a:xfrm>
            <a:off x="6973888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</a:t>
            </a:r>
          </a:p>
        </p:txBody>
      </p:sp>
      <p:sp>
        <p:nvSpPr>
          <p:cNvPr id="35885" name="Rectangle 45"/>
          <p:cNvSpPr>
            <a:spLocks noChangeArrowheads="1"/>
          </p:cNvSpPr>
          <p:nvPr/>
        </p:nvSpPr>
        <p:spPr bwMode="auto">
          <a:xfrm>
            <a:off x="7461250" y="2714625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6" name="Rectangle 46"/>
          <p:cNvSpPr>
            <a:spLocks noChangeArrowheads="1"/>
          </p:cNvSpPr>
          <p:nvPr/>
        </p:nvSpPr>
        <p:spPr bwMode="auto">
          <a:xfrm>
            <a:off x="7461250" y="2409825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5024437" y="3171296"/>
            <a:ext cx="2924175" cy="333375"/>
            <a:chOff x="3061" y="2140"/>
            <a:chExt cx="1842" cy="210"/>
          </a:xfrm>
        </p:grpSpPr>
        <p:sp>
          <p:nvSpPr>
            <p:cNvPr id="35888" name="Line 48"/>
            <p:cNvSpPr>
              <a:spLocks noChangeShapeType="1"/>
            </p:cNvSpPr>
            <p:nvPr/>
          </p:nvSpPr>
          <p:spPr bwMode="auto">
            <a:xfrm>
              <a:off x="3061" y="2231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889" name="Text Box 49"/>
            <p:cNvSpPr txBox="1">
              <a:spLocks noChangeArrowheads="1"/>
            </p:cNvSpPr>
            <p:nvPr/>
          </p:nvSpPr>
          <p:spPr bwMode="auto">
            <a:xfrm>
              <a:off x="3768" y="2140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1117071" y="3171825"/>
            <a:ext cx="3916362" cy="333375"/>
            <a:chOff x="605" y="2135"/>
            <a:chExt cx="2467" cy="210"/>
          </a:xfrm>
        </p:grpSpPr>
        <p:sp>
          <p:nvSpPr>
            <p:cNvPr id="35891" name="Line 51"/>
            <p:cNvSpPr>
              <a:spLocks noChangeShapeType="1"/>
            </p:cNvSpPr>
            <p:nvPr/>
          </p:nvSpPr>
          <p:spPr bwMode="auto">
            <a:xfrm>
              <a:off x="605" y="2226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892" name="Text Box 52"/>
            <p:cNvSpPr txBox="1">
              <a:spLocks noChangeArrowheads="1"/>
            </p:cNvSpPr>
            <p:nvPr/>
          </p:nvSpPr>
          <p:spPr bwMode="auto">
            <a:xfrm>
              <a:off x="1553" y="2135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VPN</a:t>
              </a:r>
            </a:p>
          </p:txBody>
        </p:sp>
      </p:grp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4046538" y="2148416"/>
            <a:ext cx="992187" cy="306388"/>
            <a:chOff x="2445" y="1501"/>
            <a:chExt cx="625" cy="193"/>
          </a:xfrm>
        </p:grpSpPr>
        <p:sp>
          <p:nvSpPr>
            <p:cNvPr id="35894" name="Line 54"/>
            <p:cNvSpPr>
              <a:spLocks noChangeShapeType="1"/>
            </p:cNvSpPr>
            <p:nvPr/>
          </p:nvSpPr>
          <p:spPr bwMode="auto">
            <a:xfrm>
              <a:off x="2445" y="1579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895" name="Text Box 55"/>
            <p:cNvSpPr txBox="1">
              <a:spLocks noChangeArrowheads="1"/>
            </p:cNvSpPr>
            <p:nvPr/>
          </p:nvSpPr>
          <p:spPr bwMode="auto">
            <a:xfrm>
              <a:off x="2586" y="1501"/>
              <a:ext cx="340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TLBI</a:t>
              </a:r>
            </a:p>
          </p:txBody>
        </p:sp>
      </p:grp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1125538" y="2144712"/>
            <a:ext cx="2925762" cy="306388"/>
            <a:chOff x="605" y="1488"/>
            <a:chExt cx="1843" cy="193"/>
          </a:xfrm>
        </p:grpSpPr>
        <p:sp>
          <p:nvSpPr>
            <p:cNvPr id="35897" name="Line 57"/>
            <p:cNvSpPr>
              <a:spLocks noChangeShapeType="1"/>
            </p:cNvSpPr>
            <p:nvPr/>
          </p:nvSpPr>
          <p:spPr bwMode="auto">
            <a:xfrm>
              <a:off x="605" y="1566"/>
              <a:ext cx="184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898" name="Text Box 58"/>
            <p:cNvSpPr txBox="1">
              <a:spLocks noChangeArrowheads="1"/>
            </p:cNvSpPr>
            <p:nvPr/>
          </p:nvSpPr>
          <p:spPr bwMode="auto">
            <a:xfrm>
              <a:off x="1387" y="1488"/>
              <a:ext cx="367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TLBT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129453" y="2714625"/>
            <a:ext cx="3898900" cy="304800"/>
            <a:chOff x="1277938" y="2932113"/>
            <a:chExt cx="3898900" cy="304800"/>
          </a:xfrm>
        </p:grpSpPr>
        <p:sp>
          <p:nvSpPr>
            <p:cNvPr id="129" name="Rectangle 6"/>
            <p:cNvSpPr>
              <a:spLocks noChangeArrowheads="1"/>
            </p:cNvSpPr>
            <p:nvPr/>
          </p:nvSpPr>
          <p:spPr bwMode="auto">
            <a:xfrm>
              <a:off x="1277938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2000" dirty="0">
                  <a:solidFill>
                    <a:srgbClr val="0070C0"/>
                  </a:solidFill>
                  <a:latin typeface="Calibri"/>
                </a:rPr>
                <a:t>0</a:t>
              </a:r>
            </a:p>
          </p:txBody>
        </p:sp>
        <p:sp>
          <p:nvSpPr>
            <p:cNvPr id="130" name="Rectangle 9"/>
            <p:cNvSpPr>
              <a:spLocks noChangeArrowheads="1"/>
            </p:cNvSpPr>
            <p:nvPr/>
          </p:nvSpPr>
          <p:spPr bwMode="auto">
            <a:xfrm>
              <a:off x="1765300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2000" dirty="0">
                  <a:solidFill>
                    <a:srgbClr val="0070C0"/>
                  </a:solidFill>
                  <a:latin typeface="Calibri"/>
                </a:rPr>
                <a:t>0</a:t>
              </a:r>
            </a:p>
          </p:txBody>
        </p:sp>
        <p:sp>
          <p:nvSpPr>
            <p:cNvPr id="131" name="Rectangle 12"/>
            <p:cNvSpPr>
              <a:spLocks noChangeArrowheads="1"/>
            </p:cNvSpPr>
            <p:nvPr/>
          </p:nvSpPr>
          <p:spPr bwMode="auto">
            <a:xfrm>
              <a:off x="2252663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2000" dirty="0">
                  <a:solidFill>
                    <a:srgbClr val="0070C0"/>
                  </a:solidFill>
                  <a:latin typeface="Calibri"/>
                </a:rPr>
                <a:t>0</a:t>
              </a:r>
            </a:p>
          </p:txBody>
        </p:sp>
        <p:sp>
          <p:nvSpPr>
            <p:cNvPr id="132" name="Rectangle 15"/>
            <p:cNvSpPr>
              <a:spLocks noChangeArrowheads="1"/>
            </p:cNvSpPr>
            <p:nvPr/>
          </p:nvSpPr>
          <p:spPr bwMode="auto">
            <a:xfrm>
              <a:off x="2740025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2000" dirty="0">
                  <a:solidFill>
                    <a:srgbClr val="0070C0"/>
                  </a:solidFill>
                  <a:latin typeface="Calibri"/>
                </a:rPr>
                <a:t>0</a:t>
              </a:r>
            </a:p>
          </p:txBody>
        </p:sp>
        <p:sp>
          <p:nvSpPr>
            <p:cNvPr id="133" name="Rectangle 18"/>
            <p:cNvSpPr>
              <a:spLocks noChangeArrowheads="1"/>
            </p:cNvSpPr>
            <p:nvPr/>
          </p:nvSpPr>
          <p:spPr bwMode="auto">
            <a:xfrm>
              <a:off x="3227388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2000" dirty="0">
                  <a:solidFill>
                    <a:srgbClr val="0070C0"/>
                  </a:solidFill>
                  <a:latin typeface="Calibri"/>
                </a:rPr>
                <a:t>1</a:t>
              </a:r>
            </a:p>
          </p:txBody>
        </p:sp>
        <p:sp>
          <p:nvSpPr>
            <p:cNvPr id="134" name="Rectangle 21"/>
            <p:cNvSpPr>
              <a:spLocks noChangeArrowheads="1"/>
            </p:cNvSpPr>
            <p:nvPr/>
          </p:nvSpPr>
          <p:spPr bwMode="auto">
            <a:xfrm>
              <a:off x="3714750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2000" dirty="0">
                  <a:solidFill>
                    <a:srgbClr val="0070C0"/>
                  </a:solidFill>
                  <a:latin typeface="Calibri"/>
                </a:rPr>
                <a:t>1</a:t>
              </a:r>
            </a:p>
          </p:txBody>
        </p:sp>
        <p:sp>
          <p:nvSpPr>
            <p:cNvPr id="135" name="Rectangle 24"/>
            <p:cNvSpPr>
              <a:spLocks noChangeArrowheads="1"/>
            </p:cNvSpPr>
            <p:nvPr/>
          </p:nvSpPr>
          <p:spPr bwMode="auto">
            <a:xfrm>
              <a:off x="4202113" y="2932113"/>
              <a:ext cx="4873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2000" dirty="0">
                  <a:solidFill>
                    <a:srgbClr val="00B050"/>
                  </a:solidFill>
                  <a:latin typeface="Calibri"/>
                </a:rPr>
                <a:t>0</a:t>
              </a:r>
            </a:p>
          </p:txBody>
        </p:sp>
        <p:sp>
          <p:nvSpPr>
            <p:cNvPr id="136" name="Rectangle 27"/>
            <p:cNvSpPr>
              <a:spLocks noChangeArrowheads="1"/>
            </p:cNvSpPr>
            <p:nvPr/>
          </p:nvSpPr>
          <p:spPr bwMode="auto">
            <a:xfrm>
              <a:off x="4689475" y="2932113"/>
              <a:ext cx="4873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rgbClr val="00B050"/>
                  </a:solidFill>
                  <a:latin typeface="+mj-lt"/>
                </a:rPr>
                <a:t>1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70865" y="4761971"/>
            <a:ext cx="8154989" cy="1627189"/>
            <a:chOff x="512550" y="4728659"/>
            <a:chExt cx="8154989" cy="1627189"/>
          </a:xfrm>
        </p:grpSpPr>
        <p:sp>
          <p:nvSpPr>
            <p:cNvPr id="35900" name="Rectangle 60"/>
            <p:cNvSpPr>
              <a:spLocks noChangeArrowheads="1"/>
            </p:cNvSpPr>
            <p:nvPr/>
          </p:nvSpPr>
          <p:spPr bwMode="auto">
            <a:xfrm>
              <a:off x="8040475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01" name="Rectangle 61"/>
            <p:cNvSpPr>
              <a:spLocks noChangeArrowheads="1"/>
            </p:cNvSpPr>
            <p:nvPr/>
          </p:nvSpPr>
          <p:spPr bwMode="auto">
            <a:xfrm>
              <a:off x="7410238" y="6028822"/>
              <a:ext cx="630238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02" name="Rectangle 62"/>
            <p:cNvSpPr>
              <a:spLocks noChangeArrowheads="1"/>
            </p:cNvSpPr>
            <p:nvPr/>
          </p:nvSpPr>
          <p:spPr bwMode="auto">
            <a:xfrm>
              <a:off x="6784763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35903" name="Rectangle 63"/>
            <p:cNvSpPr>
              <a:spLocks noChangeArrowheads="1"/>
            </p:cNvSpPr>
            <p:nvPr/>
          </p:nvSpPr>
          <p:spPr bwMode="auto">
            <a:xfrm>
              <a:off x="6156113" y="6028822"/>
              <a:ext cx="628650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35904" name="Rectangle 64"/>
            <p:cNvSpPr>
              <a:spLocks noChangeArrowheads="1"/>
            </p:cNvSpPr>
            <p:nvPr/>
          </p:nvSpPr>
          <p:spPr bwMode="auto">
            <a:xfrm>
              <a:off x="5530638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34</a:t>
              </a:r>
            </a:p>
          </p:txBody>
        </p:sp>
        <p:sp>
          <p:nvSpPr>
            <p:cNvPr id="35905" name="Rectangle 65"/>
            <p:cNvSpPr>
              <a:spLocks noChangeArrowheads="1"/>
            </p:cNvSpPr>
            <p:nvPr/>
          </p:nvSpPr>
          <p:spPr bwMode="auto">
            <a:xfrm>
              <a:off x="4903575" y="6028822"/>
              <a:ext cx="627063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0A</a:t>
              </a:r>
            </a:p>
          </p:txBody>
        </p:sp>
        <p:sp>
          <p:nvSpPr>
            <p:cNvPr id="35906" name="Rectangle 66"/>
            <p:cNvSpPr>
              <a:spLocks noChangeArrowheads="1"/>
            </p:cNvSpPr>
            <p:nvPr/>
          </p:nvSpPr>
          <p:spPr bwMode="auto">
            <a:xfrm>
              <a:off x="4274925" y="6028822"/>
              <a:ext cx="628650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35907" name="Rectangle 67"/>
            <p:cNvSpPr>
              <a:spLocks noChangeArrowheads="1"/>
            </p:cNvSpPr>
            <p:nvPr/>
          </p:nvSpPr>
          <p:spPr bwMode="auto">
            <a:xfrm>
              <a:off x="3647863" y="6028822"/>
              <a:ext cx="627063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35908" name="Rectangle 68"/>
            <p:cNvSpPr>
              <a:spLocks noChangeArrowheads="1"/>
            </p:cNvSpPr>
            <p:nvPr/>
          </p:nvSpPr>
          <p:spPr bwMode="auto">
            <a:xfrm>
              <a:off x="3022388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35909" name="Rectangle 69"/>
            <p:cNvSpPr>
              <a:spLocks noChangeArrowheads="1"/>
            </p:cNvSpPr>
            <p:nvPr/>
          </p:nvSpPr>
          <p:spPr bwMode="auto">
            <a:xfrm>
              <a:off x="2393738" y="6028822"/>
              <a:ext cx="628650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10" name="Rectangle 70"/>
            <p:cNvSpPr>
              <a:spLocks noChangeArrowheads="1"/>
            </p:cNvSpPr>
            <p:nvPr/>
          </p:nvSpPr>
          <p:spPr bwMode="auto">
            <a:xfrm>
              <a:off x="1768263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11" name="Rectangle 71"/>
            <p:cNvSpPr>
              <a:spLocks noChangeArrowheads="1"/>
            </p:cNvSpPr>
            <p:nvPr/>
          </p:nvSpPr>
          <p:spPr bwMode="auto">
            <a:xfrm>
              <a:off x="1138025" y="6028822"/>
              <a:ext cx="630238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07</a:t>
              </a:r>
            </a:p>
          </p:txBody>
        </p:sp>
        <p:sp>
          <p:nvSpPr>
            <p:cNvPr id="35912" name="Rectangle 72"/>
            <p:cNvSpPr>
              <a:spLocks noChangeArrowheads="1"/>
            </p:cNvSpPr>
            <p:nvPr/>
          </p:nvSpPr>
          <p:spPr bwMode="auto">
            <a:xfrm>
              <a:off x="512550" y="6028822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35913" name="Rectangle 73"/>
            <p:cNvSpPr>
              <a:spLocks noChangeArrowheads="1"/>
            </p:cNvSpPr>
            <p:nvPr/>
          </p:nvSpPr>
          <p:spPr bwMode="auto">
            <a:xfrm>
              <a:off x="8040475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14" name="Rectangle 74"/>
            <p:cNvSpPr>
              <a:spLocks noChangeArrowheads="1"/>
            </p:cNvSpPr>
            <p:nvPr/>
          </p:nvSpPr>
          <p:spPr bwMode="auto">
            <a:xfrm>
              <a:off x="7410238" y="5703384"/>
              <a:ext cx="630238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15" name="Rectangle 75"/>
            <p:cNvSpPr>
              <a:spLocks noChangeArrowheads="1"/>
            </p:cNvSpPr>
            <p:nvPr/>
          </p:nvSpPr>
          <p:spPr bwMode="auto">
            <a:xfrm>
              <a:off x="6784763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35916" name="Rectangle 76"/>
            <p:cNvSpPr>
              <a:spLocks noChangeArrowheads="1"/>
            </p:cNvSpPr>
            <p:nvPr/>
          </p:nvSpPr>
          <p:spPr bwMode="auto">
            <a:xfrm>
              <a:off x="6156113" y="5703384"/>
              <a:ext cx="628650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17" name="Rectangle 77"/>
            <p:cNvSpPr>
              <a:spLocks noChangeArrowheads="1"/>
            </p:cNvSpPr>
            <p:nvPr/>
          </p:nvSpPr>
          <p:spPr bwMode="auto">
            <a:xfrm>
              <a:off x="5530638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18" name="Rectangle 78"/>
            <p:cNvSpPr>
              <a:spLocks noChangeArrowheads="1"/>
            </p:cNvSpPr>
            <p:nvPr/>
          </p:nvSpPr>
          <p:spPr bwMode="auto">
            <a:xfrm>
              <a:off x="4903575" y="5703384"/>
              <a:ext cx="627063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06</a:t>
              </a:r>
            </a:p>
          </p:txBody>
        </p:sp>
        <p:sp>
          <p:nvSpPr>
            <p:cNvPr id="35919" name="Rectangle 79"/>
            <p:cNvSpPr>
              <a:spLocks noChangeArrowheads="1"/>
            </p:cNvSpPr>
            <p:nvPr/>
          </p:nvSpPr>
          <p:spPr bwMode="auto">
            <a:xfrm>
              <a:off x="4274925" y="5703384"/>
              <a:ext cx="628650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20" name="Rectangle 80"/>
            <p:cNvSpPr>
              <a:spLocks noChangeArrowheads="1"/>
            </p:cNvSpPr>
            <p:nvPr/>
          </p:nvSpPr>
          <p:spPr bwMode="auto">
            <a:xfrm>
              <a:off x="3647863" y="5703384"/>
              <a:ext cx="627063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21" name="Rectangle 81"/>
            <p:cNvSpPr>
              <a:spLocks noChangeArrowheads="1"/>
            </p:cNvSpPr>
            <p:nvPr/>
          </p:nvSpPr>
          <p:spPr bwMode="auto">
            <a:xfrm>
              <a:off x="3022388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08</a:t>
              </a:r>
            </a:p>
          </p:txBody>
        </p:sp>
        <p:sp>
          <p:nvSpPr>
            <p:cNvPr id="35922" name="Rectangle 82"/>
            <p:cNvSpPr>
              <a:spLocks noChangeArrowheads="1"/>
            </p:cNvSpPr>
            <p:nvPr/>
          </p:nvSpPr>
          <p:spPr bwMode="auto">
            <a:xfrm>
              <a:off x="2393738" y="5703384"/>
              <a:ext cx="628650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23" name="Rectangle 83"/>
            <p:cNvSpPr>
              <a:spLocks noChangeArrowheads="1"/>
            </p:cNvSpPr>
            <p:nvPr/>
          </p:nvSpPr>
          <p:spPr bwMode="auto">
            <a:xfrm>
              <a:off x="1768263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24" name="Rectangle 84"/>
            <p:cNvSpPr>
              <a:spLocks noChangeArrowheads="1"/>
            </p:cNvSpPr>
            <p:nvPr/>
          </p:nvSpPr>
          <p:spPr bwMode="auto">
            <a:xfrm>
              <a:off x="1138025" y="5703384"/>
              <a:ext cx="630238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35925" name="Rectangle 85"/>
            <p:cNvSpPr>
              <a:spLocks noChangeArrowheads="1"/>
            </p:cNvSpPr>
            <p:nvPr/>
          </p:nvSpPr>
          <p:spPr bwMode="auto">
            <a:xfrm>
              <a:off x="512550" y="5703384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35926" name="Rectangle 86"/>
            <p:cNvSpPr>
              <a:spLocks noChangeArrowheads="1"/>
            </p:cNvSpPr>
            <p:nvPr/>
          </p:nvSpPr>
          <p:spPr bwMode="auto">
            <a:xfrm>
              <a:off x="8040475" y="5379534"/>
              <a:ext cx="625475" cy="3238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27" name="Rectangle 87"/>
            <p:cNvSpPr>
              <a:spLocks noChangeArrowheads="1"/>
            </p:cNvSpPr>
            <p:nvPr/>
          </p:nvSpPr>
          <p:spPr bwMode="auto">
            <a:xfrm>
              <a:off x="7410238" y="5379534"/>
              <a:ext cx="630238" cy="3238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28" name="Rectangle 88"/>
            <p:cNvSpPr>
              <a:spLocks noChangeArrowheads="1"/>
            </p:cNvSpPr>
            <p:nvPr/>
          </p:nvSpPr>
          <p:spPr bwMode="auto">
            <a:xfrm>
              <a:off x="6784763" y="5379534"/>
              <a:ext cx="625475" cy="3238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0A</a:t>
              </a:r>
            </a:p>
          </p:txBody>
        </p:sp>
        <p:sp>
          <p:nvSpPr>
            <p:cNvPr id="35929" name="Rectangle 89"/>
            <p:cNvSpPr>
              <a:spLocks noChangeArrowheads="1"/>
            </p:cNvSpPr>
            <p:nvPr/>
          </p:nvSpPr>
          <p:spPr bwMode="auto">
            <a:xfrm>
              <a:off x="6156113" y="5379534"/>
              <a:ext cx="628650" cy="3238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30" name="Rectangle 90"/>
            <p:cNvSpPr>
              <a:spLocks noChangeArrowheads="1"/>
            </p:cNvSpPr>
            <p:nvPr/>
          </p:nvSpPr>
          <p:spPr bwMode="auto">
            <a:xfrm>
              <a:off x="5530638" y="5379534"/>
              <a:ext cx="625475" cy="3238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31" name="Rectangle 91"/>
            <p:cNvSpPr>
              <a:spLocks noChangeArrowheads="1"/>
            </p:cNvSpPr>
            <p:nvPr/>
          </p:nvSpPr>
          <p:spPr bwMode="auto">
            <a:xfrm>
              <a:off x="4903575" y="5379534"/>
              <a:ext cx="627063" cy="3238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35932" name="Rectangle 92"/>
            <p:cNvSpPr>
              <a:spLocks noChangeArrowheads="1"/>
            </p:cNvSpPr>
            <p:nvPr/>
          </p:nvSpPr>
          <p:spPr bwMode="auto">
            <a:xfrm>
              <a:off x="4274925" y="5379534"/>
              <a:ext cx="628650" cy="3238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33" name="Rectangle 93"/>
            <p:cNvSpPr>
              <a:spLocks noChangeArrowheads="1"/>
            </p:cNvSpPr>
            <p:nvPr/>
          </p:nvSpPr>
          <p:spPr bwMode="auto">
            <a:xfrm>
              <a:off x="3647863" y="5379534"/>
              <a:ext cx="627063" cy="3238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34" name="Rectangle 94"/>
            <p:cNvSpPr>
              <a:spLocks noChangeArrowheads="1"/>
            </p:cNvSpPr>
            <p:nvPr/>
          </p:nvSpPr>
          <p:spPr bwMode="auto">
            <a:xfrm>
              <a:off x="3022388" y="5379534"/>
              <a:ext cx="625475" cy="3238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35935" name="Rectangle 95"/>
            <p:cNvSpPr>
              <a:spLocks noChangeArrowheads="1"/>
            </p:cNvSpPr>
            <p:nvPr/>
          </p:nvSpPr>
          <p:spPr bwMode="auto">
            <a:xfrm>
              <a:off x="2393738" y="5379534"/>
              <a:ext cx="628650" cy="323850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35936" name="Rectangle 96"/>
            <p:cNvSpPr>
              <a:spLocks noChangeArrowheads="1"/>
            </p:cNvSpPr>
            <p:nvPr/>
          </p:nvSpPr>
          <p:spPr bwMode="auto">
            <a:xfrm>
              <a:off x="1768263" y="5379534"/>
              <a:ext cx="625475" cy="323850"/>
            </a:xfrm>
            <a:prstGeom prst="rect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35937" name="Rectangle 97"/>
            <p:cNvSpPr>
              <a:spLocks noChangeArrowheads="1"/>
            </p:cNvSpPr>
            <p:nvPr/>
          </p:nvSpPr>
          <p:spPr bwMode="auto">
            <a:xfrm>
              <a:off x="1138025" y="5379534"/>
              <a:ext cx="630238" cy="323850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0070C0"/>
                  </a:solidFill>
                  <a:latin typeface="Calibri" pitchFamily="34" charset="0"/>
                </a:rPr>
                <a:t>03</a:t>
              </a:r>
            </a:p>
          </p:txBody>
        </p:sp>
        <p:sp>
          <p:nvSpPr>
            <p:cNvPr id="35938" name="Rectangle 98"/>
            <p:cNvSpPr>
              <a:spLocks noChangeArrowheads="1"/>
            </p:cNvSpPr>
            <p:nvPr/>
          </p:nvSpPr>
          <p:spPr bwMode="auto">
            <a:xfrm>
              <a:off x="512550" y="5379534"/>
              <a:ext cx="625475" cy="323850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00B05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5939" name="Rectangle 99"/>
            <p:cNvSpPr>
              <a:spLocks noChangeArrowheads="1"/>
            </p:cNvSpPr>
            <p:nvPr/>
          </p:nvSpPr>
          <p:spPr bwMode="auto">
            <a:xfrm>
              <a:off x="8040475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35940" name="Rectangle 100"/>
            <p:cNvSpPr>
              <a:spLocks noChangeArrowheads="1"/>
            </p:cNvSpPr>
            <p:nvPr/>
          </p:nvSpPr>
          <p:spPr bwMode="auto">
            <a:xfrm>
              <a:off x="7410238" y="5054097"/>
              <a:ext cx="630238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35941" name="Rectangle 101"/>
            <p:cNvSpPr>
              <a:spLocks noChangeArrowheads="1"/>
            </p:cNvSpPr>
            <p:nvPr/>
          </p:nvSpPr>
          <p:spPr bwMode="auto">
            <a:xfrm>
              <a:off x="6784763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07</a:t>
              </a:r>
            </a:p>
          </p:txBody>
        </p:sp>
        <p:sp>
          <p:nvSpPr>
            <p:cNvPr id="35942" name="Rectangle 102"/>
            <p:cNvSpPr>
              <a:spLocks noChangeArrowheads="1"/>
            </p:cNvSpPr>
            <p:nvPr/>
          </p:nvSpPr>
          <p:spPr bwMode="auto">
            <a:xfrm>
              <a:off x="6156113" y="5054097"/>
              <a:ext cx="628650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43" name="Rectangle 103"/>
            <p:cNvSpPr>
              <a:spLocks noChangeArrowheads="1"/>
            </p:cNvSpPr>
            <p:nvPr/>
          </p:nvSpPr>
          <p:spPr bwMode="auto">
            <a:xfrm>
              <a:off x="5530638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44" name="Rectangle 104"/>
            <p:cNvSpPr>
              <a:spLocks noChangeArrowheads="1"/>
            </p:cNvSpPr>
            <p:nvPr/>
          </p:nvSpPr>
          <p:spPr bwMode="auto">
            <a:xfrm>
              <a:off x="4903575" y="5054097"/>
              <a:ext cx="627063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35945" name="Rectangle 105"/>
            <p:cNvSpPr>
              <a:spLocks noChangeArrowheads="1"/>
            </p:cNvSpPr>
            <p:nvPr/>
          </p:nvSpPr>
          <p:spPr bwMode="auto">
            <a:xfrm>
              <a:off x="4274925" y="5054097"/>
              <a:ext cx="628650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35946" name="Rectangle 106"/>
            <p:cNvSpPr>
              <a:spLocks noChangeArrowheads="1"/>
            </p:cNvSpPr>
            <p:nvPr/>
          </p:nvSpPr>
          <p:spPr bwMode="auto">
            <a:xfrm>
              <a:off x="3647863" y="5054097"/>
              <a:ext cx="627063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35947" name="Rectangle 107"/>
            <p:cNvSpPr>
              <a:spLocks noChangeArrowheads="1"/>
            </p:cNvSpPr>
            <p:nvPr/>
          </p:nvSpPr>
          <p:spPr bwMode="auto">
            <a:xfrm>
              <a:off x="3022388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09</a:t>
              </a:r>
            </a:p>
          </p:txBody>
        </p:sp>
        <p:sp>
          <p:nvSpPr>
            <p:cNvPr id="35948" name="Rectangle 108"/>
            <p:cNvSpPr>
              <a:spLocks noChangeArrowheads="1"/>
            </p:cNvSpPr>
            <p:nvPr/>
          </p:nvSpPr>
          <p:spPr bwMode="auto">
            <a:xfrm>
              <a:off x="2393738" y="5054097"/>
              <a:ext cx="628650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5949" name="Rectangle 109"/>
            <p:cNvSpPr>
              <a:spLocks noChangeArrowheads="1"/>
            </p:cNvSpPr>
            <p:nvPr/>
          </p:nvSpPr>
          <p:spPr bwMode="auto">
            <a:xfrm>
              <a:off x="1768263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35950" name="Rectangle 110"/>
            <p:cNvSpPr>
              <a:spLocks noChangeArrowheads="1"/>
            </p:cNvSpPr>
            <p:nvPr/>
          </p:nvSpPr>
          <p:spPr bwMode="auto">
            <a:xfrm>
              <a:off x="1138025" y="5054097"/>
              <a:ext cx="630238" cy="3254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35951" name="Rectangle 111"/>
            <p:cNvSpPr>
              <a:spLocks noChangeArrowheads="1"/>
            </p:cNvSpPr>
            <p:nvPr/>
          </p:nvSpPr>
          <p:spPr bwMode="auto">
            <a:xfrm>
              <a:off x="512550" y="5054097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5952" name="Rectangle 112"/>
            <p:cNvSpPr>
              <a:spLocks noChangeArrowheads="1"/>
            </p:cNvSpPr>
            <p:nvPr/>
          </p:nvSpPr>
          <p:spPr bwMode="auto">
            <a:xfrm>
              <a:off x="8040475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35953" name="Rectangle 113"/>
            <p:cNvSpPr>
              <a:spLocks noChangeArrowheads="1"/>
            </p:cNvSpPr>
            <p:nvPr/>
          </p:nvSpPr>
          <p:spPr bwMode="auto">
            <a:xfrm>
              <a:off x="7410238" y="472865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35954" name="Rectangle 114"/>
            <p:cNvSpPr>
              <a:spLocks noChangeArrowheads="1"/>
            </p:cNvSpPr>
            <p:nvPr/>
          </p:nvSpPr>
          <p:spPr bwMode="auto">
            <a:xfrm>
              <a:off x="6784763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35955" name="Rectangle 115"/>
            <p:cNvSpPr>
              <a:spLocks noChangeArrowheads="1"/>
            </p:cNvSpPr>
            <p:nvPr/>
          </p:nvSpPr>
          <p:spPr bwMode="auto">
            <a:xfrm>
              <a:off x="6156113" y="472865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35956" name="Rectangle 116"/>
            <p:cNvSpPr>
              <a:spLocks noChangeArrowheads="1"/>
            </p:cNvSpPr>
            <p:nvPr/>
          </p:nvSpPr>
          <p:spPr bwMode="auto">
            <a:xfrm>
              <a:off x="5530638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35957" name="Rectangle 117"/>
            <p:cNvSpPr>
              <a:spLocks noChangeArrowheads="1"/>
            </p:cNvSpPr>
            <p:nvPr/>
          </p:nvSpPr>
          <p:spPr bwMode="auto">
            <a:xfrm>
              <a:off x="4903575" y="472865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35958" name="Rectangle 118"/>
            <p:cNvSpPr>
              <a:spLocks noChangeArrowheads="1"/>
            </p:cNvSpPr>
            <p:nvPr/>
          </p:nvSpPr>
          <p:spPr bwMode="auto">
            <a:xfrm>
              <a:off x="4274925" y="472865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35959" name="Rectangle 119"/>
            <p:cNvSpPr>
              <a:spLocks noChangeArrowheads="1"/>
            </p:cNvSpPr>
            <p:nvPr/>
          </p:nvSpPr>
          <p:spPr bwMode="auto">
            <a:xfrm>
              <a:off x="3647863" y="472865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35960" name="Rectangle 120"/>
            <p:cNvSpPr>
              <a:spLocks noChangeArrowheads="1"/>
            </p:cNvSpPr>
            <p:nvPr/>
          </p:nvSpPr>
          <p:spPr bwMode="auto">
            <a:xfrm>
              <a:off x="3022388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35961" name="Rectangle 121"/>
            <p:cNvSpPr>
              <a:spLocks noChangeArrowheads="1"/>
            </p:cNvSpPr>
            <p:nvPr/>
          </p:nvSpPr>
          <p:spPr bwMode="auto">
            <a:xfrm>
              <a:off x="2393738" y="472865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35962" name="Rectangle 122"/>
            <p:cNvSpPr>
              <a:spLocks noChangeArrowheads="1"/>
            </p:cNvSpPr>
            <p:nvPr/>
          </p:nvSpPr>
          <p:spPr bwMode="auto">
            <a:xfrm>
              <a:off x="1768263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35963" name="Rectangle 123"/>
            <p:cNvSpPr>
              <a:spLocks noChangeArrowheads="1"/>
            </p:cNvSpPr>
            <p:nvPr/>
          </p:nvSpPr>
          <p:spPr bwMode="auto">
            <a:xfrm>
              <a:off x="1138025" y="472865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35964" name="Rectangle 124"/>
            <p:cNvSpPr>
              <a:spLocks noChangeArrowheads="1"/>
            </p:cNvSpPr>
            <p:nvPr/>
          </p:nvSpPr>
          <p:spPr bwMode="auto">
            <a:xfrm>
              <a:off x="512550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Set</a:t>
              </a:r>
            </a:p>
          </p:txBody>
        </p:sp>
        <p:sp>
          <p:nvSpPr>
            <p:cNvPr id="35965" name="Line 125"/>
            <p:cNvSpPr>
              <a:spLocks noChangeShapeType="1"/>
            </p:cNvSpPr>
            <p:nvPr/>
          </p:nvSpPr>
          <p:spPr bwMode="auto">
            <a:xfrm>
              <a:off x="512550" y="5054097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35966" name="Line 126"/>
            <p:cNvSpPr>
              <a:spLocks noChangeShapeType="1"/>
            </p:cNvSpPr>
            <p:nvPr/>
          </p:nvSpPr>
          <p:spPr bwMode="auto">
            <a:xfrm>
              <a:off x="512550" y="537953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67" name="Line 127"/>
            <p:cNvSpPr>
              <a:spLocks noChangeShapeType="1"/>
            </p:cNvSpPr>
            <p:nvPr/>
          </p:nvSpPr>
          <p:spPr bwMode="auto">
            <a:xfrm>
              <a:off x="512550" y="570338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68" name="Line 128"/>
            <p:cNvSpPr>
              <a:spLocks noChangeShapeType="1"/>
            </p:cNvSpPr>
            <p:nvPr/>
          </p:nvSpPr>
          <p:spPr bwMode="auto">
            <a:xfrm>
              <a:off x="512550" y="6028822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69" name="Line 129"/>
            <p:cNvSpPr>
              <a:spLocks noChangeShapeType="1"/>
            </p:cNvSpPr>
            <p:nvPr/>
          </p:nvSpPr>
          <p:spPr bwMode="auto">
            <a:xfrm>
              <a:off x="1768263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0" name="Line 130"/>
            <p:cNvSpPr>
              <a:spLocks noChangeShapeType="1"/>
            </p:cNvSpPr>
            <p:nvPr/>
          </p:nvSpPr>
          <p:spPr bwMode="auto">
            <a:xfrm>
              <a:off x="2393738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1" name="Line 131"/>
            <p:cNvSpPr>
              <a:spLocks noChangeShapeType="1"/>
            </p:cNvSpPr>
            <p:nvPr/>
          </p:nvSpPr>
          <p:spPr bwMode="auto">
            <a:xfrm>
              <a:off x="3647863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2" name="Line 132"/>
            <p:cNvSpPr>
              <a:spLocks noChangeShapeType="1"/>
            </p:cNvSpPr>
            <p:nvPr/>
          </p:nvSpPr>
          <p:spPr bwMode="auto">
            <a:xfrm>
              <a:off x="4274925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3" name="Line 133"/>
            <p:cNvSpPr>
              <a:spLocks noChangeShapeType="1"/>
            </p:cNvSpPr>
            <p:nvPr/>
          </p:nvSpPr>
          <p:spPr bwMode="auto">
            <a:xfrm>
              <a:off x="5530638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4" name="Line 134"/>
            <p:cNvSpPr>
              <a:spLocks noChangeShapeType="1"/>
            </p:cNvSpPr>
            <p:nvPr/>
          </p:nvSpPr>
          <p:spPr bwMode="auto">
            <a:xfrm>
              <a:off x="6156113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5" name="Line 135"/>
            <p:cNvSpPr>
              <a:spLocks noChangeShapeType="1"/>
            </p:cNvSpPr>
            <p:nvPr/>
          </p:nvSpPr>
          <p:spPr bwMode="auto">
            <a:xfrm>
              <a:off x="7410238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6" name="Line 136"/>
            <p:cNvSpPr>
              <a:spLocks noChangeShapeType="1"/>
            </p:cNvSpPr>
            <p:nvPr/>
          </p:nvSpPr>
          <p:spPr bwMode="auto">
            <a:xfrm>
              <a:off x="8040475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7" name="Line 137"/>
            <p:cNvSpPr>
              <a:spLocks noChangeShapeType="1"/>
            </p:cNvSpPr>
            <p:nvPr/>
          </p:nvSpPr>
          <p:spPr bwMode="auto">
            <a:xfrm>
              <a:off x="1138025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8" name="Line 138"/>
            <p:cNvSpPr>
              <a:spLocks noChangeShapeType="1"/>
            </p:cNvSpPr>
            <p:nvPr/>
          </p:nvSpPr>
          <p:spPr bwMode="auto">
            <a:xfrm>
              <a:off x="3022388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79" name="Line 139"/>
            <p:cNvSpPr>
              <a:spLocks noChangeShapeType="1"/>
            </p:cNvSpPr>
            <p:nvPr/>
          </p:nvSpPr>
          <p:spPr bwMode="auto">
            <a:xfrm>
              <a:off x="512550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80" name="Line 140"/>
            <p:cNvSpPr>
              <a:spLocks noChangeShapeType="1"/>
            </p:cNvSpPr>
            <p:nvPr/>
          </p:nvSpPr>
          <p:spPr bwMode="auto">
            <a:xfrm>
              <a:off x="4903575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81" name="Line 141"/>
            <p:cNvSpPr>
              <a:spLocks noChangeShapeType="1"/>
            </p:cNvSpPr>
            <p:nvPr/>
          </p:nvSpPr>
          <p:spPr bwMode="auto">
            <a:xfrm>
              <a:off x="6784763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82" name="Line 142"/>
            <p:cNvSpPr>
              <a:spLocks noChangeShapeType="1"/>
            </p:cNvSpPr>
            <p:nvPr/>
          </p:nvSpPr>
          <p:spPr bwMode="auto">
            <a:xfrm>
              <a:off x="512550" y="4728659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 dirty="0">
                <a:solidFill>
                  <a:srgbClr val="990000"/>
                </a:solidFill>
              </a:endParaRPr>
            </a:p>
          </p:txBody>
        </p:sp>
        <p:sp>
          <p:nvSpPr>
            <p:cNvPr id="35983" name="Line 143"/>
            <p:cNvSpPr>
              <a:spLocks noChangeShapeType="1"/>
            </p:cNvSpPr>
            <p:nvPr/>
          </p:nvSpPr>
          <p:spPr bwMode="auto">
            <a:xfrm>
              <a:off x="8665951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84" name="Line 144"/>
            <p:cNvSpPr>
              <a:spLocks noChangeShapeType="1"/>
            </p:cNvSpPr>
            <p:nvPr/>
          </p:nvSpPr>
          <p:spPr bwMode="auto">
            <a:xfrm>
              <a:off x="512550" y="6354260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5083" y="4347659"/>
            <a:ext cx="3433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Translation Lookaside Buffer (TLB)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1946" y="3706826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VPN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= 0b</a:t>
            </a:r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11</a:t>
            </a:r>
            <a:r>
              <a:rPr lang="en-US" sz="1800" dirty="0">
                <a:solidFill>
                  <a:srgbClr val="00B050"/>
                </a:solidFill>
                <a:latin typeface="Calibri" pitchFamily="34" charset="0"/>
              </a:rPr>
              <a:t>01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= 0x0D</a:t>
            </a:r>
          </a:p>
        </p:txBody>
      </p:sp>
    </p:spTree>
    <p:extLst>
      <p:ext uri="{BB962C8B-B14F-4D97-AF65-F5344CB8AC3E}">
        <p14:creationId xmlns:p14="http://schemas.microsoft.com/office/powerpoint/2010/main" val="192321289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>
          <a:xfrm>
            <a:off x="431799" y="241300"/>
            <a:ext cx="8110538" cy="1054100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Simple Memory System Page Table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1745" y="1298575"/>
            <a:ext cx="8307387" cy="454025"/>
          </a:xfrm>
          <a:ln/>
        </p:spPr>
        <p:txBody>
          <a:bodyPr/>
          <a:lstStyle/>
          <a:p>
            <a:pPr>
              <a:buNone/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2000" b="0" dirty="0"/>
              <a:t>Only showing the first 16 entries (out of 256)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6110288" y="437007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5418138" y="437007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0D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724400" y="437007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0F</a:t>
            </a: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6110288" y="4063683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5418138" y="4063683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11</a:t>
            </a:r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4724400" y="4063683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0E</a:t>
            </a:r>
          </a:p>
        </p:txBody>
      </p: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6110288" y="3757296"/>
            <a:ext cx="692150" cy="307975"/>
          </a:xfrm>
          <a:prstGeom prst="rect">
            <a:avLst/>
          </a:prstGeom>
          <a:solidFill>
            <a:srgbClr val="F6D2D2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5418138" y="3757296"/>
            <a:ext cx="692150" cy="307975"/>
          </a:xfrm>
          <a:prstGeom prst="rect">
            <a:avLst/>
          </a:prstGeom>
          <a:solidFill>
            <a:srgbClr val="F6D2D2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2D</a:t>
            </a:r>
          </a:p>
        </p:txBody>
      </p:sp>
      <p:sp>
        <p:nvSpPr>
          <p:cNvPr id="34834" name="Rectangle 18"/>
          <p:cNvSpPr>
            <a:spLocks noChangeArrowheads="1"/>
          </p:cNvSpPr>
          <p:nvPr/>
        </p:nvSpPr>
        <p:spPr bwMode="auto">
          <a:xfrm>
            <a:off x="4724400" y="3757296"/>
            <a:ext cx="693738" cy="307975"/>
          </a:xfrm>
          <a:prstGeom prst="rect">
            <a:avLst/>
          </a:prstGeom>
          <a:solidFill>
            <a:srgbClr val="F6D2D2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0D</a:t>
            </a:r>
          </a:p>
        </p:txBody>
      </p:sp>
      <p:sp>
        <p:nvSpPr>
          <p:cNvPr id="34838" name="Rectangle 22"/>
          <p:cNvSpPr>
            <a:spLocks noChangeArrowheads="1"/>
          </p:cNvSpPr>
          <p:nvPr/>
        </p:nvSpPr>
        <p:spPr bwMode="auto">
          <a:xfrm>
            <a:off x="6110288" y="344932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34839" name="Rectangle 23"/>
          <p:cNvSpPr>
            <a:spLocks noChangeArrowheads="1"/>
          </p:cNvSpPr>
          <p:nvPr/>
        </p:nvSpPr>
        <p:spPr bwMode="auto">
          <a:xfrm>
            <a:off x="5418138" y="344932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34840" name="Rectangle 24"/>
          <p:cNvSpPr>
            <a:spLocks noChangeArrowheads="1"/>
          </p:cNvSpPr>
          <p:nvPr/>
        </p:nvSpPr>
        <p:spPr bwMode="auto">
          <a:xfrm>
            <a:off x="4724400" y="344932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0C</a:t>
            </a:r>
          </a:p>
        </p:txBody>
      </p:sp>
      <p:sp>
        <p:nvSpPr>
          <p:cNvPr id="34844" name="Rectangle 28"/>
          <p:cNvSpPr>
            <a:spLocks noChangeArrowheads="1"/>
          </p:cNvSpPr>
          <p:nvPr/>
        </p:nvSpPr>
        <p:spPr bwMode="auto">
          <a:xfrm>
            <a:off x="6110288" y="314134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34845" name="Rectangle 29"/>
          <p:cNvSpPr>
            <a:spLocks noChangeArrowheads="1"/>
          </p:cNvSpPr>
          <p:nvPr/>
        </p:nvSpPr>
        <p:spPr bwMode="auto">
          <a:xfrm>
            <a:off x="5418138" y="314134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34846" name="Rectangle 30"/>
          <p:cNvSpPr>
            <a:spLocks noChangeArrowheads="1"/>
          </p:cNvSpPr>
          <p:nvPr/>
        </p:nvSpPr>
        <p:spPr bwMode="auto">
          <a:xfrm>
            <a:off x="4724400" y="314134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0B</a:t>
            </a:r>
          </a:p>
        </p:txBody>
      </p:sp>
      <p:sp>
        <p:nvSpPr>
          <p:cNvPr id="34850" name="Rectangle 34"/>
          <p:cNvSpPr>
            <a:spLocks noChangeArrowheads="1"/>
          </p:cNvSpPr>
          <p:nvPr/>
        </p:nvSpPr>
        <p:spPr bwMode="auto">
          <a:xfrm>
            <a:off x="6110288" y="2834958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51" name="Rectangle 35"/>
          <p:cNvSpPr>
            <a:spLocks noChangeArrowheads="1"/>
          </p:cNvSpPr>
          <p:nvPr/>
        </p:nvSpPr>
        <p:spPr bwMode="auto">
          <a:xfrm>
            <a:off x="5418138" y="2834958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09</a:t>
            </a:r>
          </a:p>
        </p:txBody>
      </p:sp>
      <p:sp>
        <p:nvSpPr>
          <p:cNvPr id="34852" name="Rectangle 36"/>
          <p:cNvSpPr>
            <a:spLocks noChangeArrowheads="1"/>
          </p:cNvSpPr>
          <p:nvPr/>
        </p:nvSpPr>
        <p:spPr bwMode="auto">
          <a:xfrm>
            <a:off x="4724400" y="2834958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0A</a:t>
            </a:r>
          </a:p>
        </p:txBody>
      </p:sp>
      <p:sp>
        <p:nvSpPr>
          <p:cNvPr id="34856" name="Rectangle 40"/>
          <p:cNvSpPr>
            <a:spLocks noChangeArrowheads="1"/>
          </p:cNvSpPr>
          <p:nvPr/>
        </p:nvSpPr>
        <p:spPr bwMode="auto">
          <a:xfrm>
            <a:off x="6110288" y="252857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57" name="Rectangle 41"/>
          <p:cNvSpPr>
            <a:spLocks noChangeArrowheads="1"/>
          </p:cNvSpPr>
          <p:nvPr/>
        </p:nvSpPr>
        <p:spPr bwMode="auto">
          <a:xfrm>
            <a:off x="5418138" y="252857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17</a:t>
            </a:r>
          </a:p>
        </p:txBody>
      </p:sp>
      <p:sp>
        <p:nvSpPr>
          <p:cNvPr id="34858" name="Rectangle 42"/>
          <p:cNvSpPr>
            <a:spLocks noChangeArrowheads="1"/>
          </p:cNvSpPr>
          <p:nvPr/>
        </p:nvSpPr>
        <p:spPr bwMode="auto">
          <a:xfrm>
            <a:off x="4724400" y="252857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09</a:t>
            </a:r>
          </a:p>
        </p:txBody>
      </p:sp>
      <p:sp>
        <p:nvSpPr>
          <p:cNvPr id="34862" name="Rectangle 46"/>
          <p:cNvSpPr>
            <a:spLocks noChangeArrowheads="1"/>
          </p:cNvSpPr>
          <p:nvPr/>
        </p:nvSpPr>
        <p:spPr bwMode="auto">
          <a:xfrm>
            <a:off x="6110288" y="222059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34863" name="Rectangle 47"/>
          <p:cNvSpPr>
            <a:spLocks noChangeArrowheads="1"/>
          </p:cNvSpPr>
          <p:nvPr/>
        </p:nvSpPr>
        <p:spPr bwMode="auto">
          <a:xfrm>
            <a:off x="5418138" y="222059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13</a:t>
            </a:r>
          </a:p>
        </p:txBody>
      </p:sp>
      <p:sp>
        <p:nvSpPr>
          <p:cNvPr id="34864" name="Rectangle 48"/>
          <p:cNvSpPr>
            <a:spLocks noChangeArrowheads="1"/>
          </p:cNvSpPr>
          <p:nvPr/>
        </p:nvSpPr>
        <p:spPr bwMode="auto">
          <a:xfrm>
            <a:off x="4724400" y="222059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08</a:t>
            </a:r>
          </a:p>
        </p:txBody>
      </p:sp>
      <p:sp>
        <p:nvSpPr>
          <p:cNvPr id="34868" name="Rectangle 52"/>
          <p:cNvSpPr>
            <a:spLocks noChangeArrowheads="1"/>
          </p:cNvSpPr>
          <p:nvPr/>
        </p:nvSpPr>
        <p:spPr bwMode="auto">
          <a:xfrm>
            <a:off x="6110288" y="1914208"/>
            <a:ext cx="692150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4869" name="Rectangle 53"/>
          <p:cNvSpPr>
            <a:spLocks noChangeArrowheads="1"/>
          </p:cNvSpPr>
          <p:nvPr/>
        </p:nvSpPr>
        <p:spPr bwMode="auto">
          <a:xfrm>
            <a:off x="5418138" y="1914208"/>
            <a:ext cx="692150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</a:p>
        </p:txBody>
      </p:sp>
      <p:sp>
        <p:nvSpPr>
          <p:cNvPr id="34870" name="Rectangle 54"/>
          <p:cNvSpPr>
            <a:spLocks noChangeArrowheads="1"/>
          </p:cNvSpPr>
          <p:nvPr/>
        </p:nvSpPr>
        <p:spPr bwMode="auto">
          <a:xfrm>
            <a:off x="4724400" y="1914208"/>
            <a:ext cx="693738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VPN</a:t>
            </a:r>
          </a:p>
        </p:txBody>
      </p:sp>
      <p:sp>
        <p:nvSpPr>
          <p:cNvPr id="34874" name="Line 58"/>
          <p:cNvSpPr>
            <a:spLocks noChangeShapeType="1"/>
          </p:cNvSpPr>
          <p:nvPr/>
        </p:nvSpPr>
        <p:spPr bwMode="auto">
          <a:xfrm>
            <a:off x="4724400" y="2220596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5" name="Line 59"/>
          <p:cNvSpPr>
            <a:spLocks noChangeShapeType="1"/>
          </p:cNvSpPr>
          <p:nvPr/>
        </p:nvSpPr>
        <p:spPr bwMode="auto">
          <a:xfrm>
            <a:off x="4724400" y="2528571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6" name="Line 60"/>
          <p:cNvSpPr>
            <a:spLocks noChangeShapeType="1"/>
          </p:cNvSpPr>
          <p:nvPr/>
        </p:nvSpPr>
        <p:spPr bwMode="auto">
          <a:xfrm>
            <a:off x="4724400" y="2838131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7" name="Line 61"/>
          <p:cNvSpPr>
            <a:spLocks noChangeShapeType="1"/>
          </p:cNvSpPr>
          <p:nvPr/>
        </p:nvSpPr>
        <p:spPr bwMode="auto">
          <a:xfrm>
            <a:off x="4724400" y="3141346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8" name="Line 62"/>
          <p:cNvSpPr>
            <a:spLocks noChangeShapeType="1"/>
          </p:cNvSpPr>
          <p:nvPr/>
        </p:nvSpPr>
        <p:spPr bwMode="auto">
          <a:xfrm>
            <a:off x="4724400" y="3449321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79" name="Line 63"/>
          <p:cNvSpPr>
            <a:spLocks noChangeShapeType="1"/>
          </p:cNvSpPr>
          <p:nvPr/>
        </p:nvSpPr>
        <p:spPr bwMode="auto">
          <a:xfrm>
            <a:off x="4724400" y="3745655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0" name="Line 64"/>
          <p:cNvSpPr>
            <a:spLocks noChangeShapeType="1"/>
          </p:cNvSpPr>
          <p:nvPr/>
        </p:nvSpPr>
        <p:spPr bwMode="auto">
          <a:xfrm>
            <a:off x="4724400" y="4063683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1" name="Line 65"/>
          <p:cNvSpPr>
            <a:spLocks noChangeShapeType="1"/>
          </p:cNvSpPr>
          <p:nvPr/>
        </p:nvSpPr>
        <p:spPr bwMode="auto">
          <a:xfrm>
            <a:off x="4724400" y="4370071"/>
            <a:ext cx="210312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4" name="Line 68"/>
          <p:cNvSpPr>
            <a:spLocks noChangeShapeType="1"/>
          </p:cNvSpPr>
          <p:nvPr/>
        </p:nvSpPr>
        <p:spPr bwMode="auto">
          <a:xfrm>
            <a:off x="5418138" y="1914208"/>
            <a:ext cx="1588" cy="276383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5" name="Line 69"/>
          <p:cNvSpPr>
            <a:spLocks noChangeShapeType="1"/>
          </p:cNvSpPr>
          <p:nvPr/>
        </p:nvSpPr>
        <p:spPr bwMode="auto">
          <a:xfrm>
            <a:off x="6110288" y="1914208"/>
            <a:ext cx="1588" cy="276383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8" name="Line 72"/>
          <p:cNvSpPr>
            <a:spLocks noChangeShapeType="1"/>
          </p:cNvSpPr>
          <p:nvPr/>
        </p:nvSpPr>
        <p:spPr bwMode="auto">
          <a:xfrm>
            <a:off x="4724400" y="1914208"/>
            <a:ext cx="2103120" cy="158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89" name="Line 73"/>
          <p:cNvSpPr>
            <a:spLocks noChangeShapeType="1"/>
          </p:cNvSpPr>
          <p:nvPr/>
        </p:nvSpPr>
        <p:spPr bwMode="auto">
          <a:xfrm>
            <a:off x="6810905" y="1914208"/>
            <a:ext cx="1588" cy="276383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90" name="Line 74"/>
          <p:cNvSpPr>
            <a:spLocks noChangeShapeType="1"/>
          </p:cNvSpPr>
          <p:nvPr/>
        </p:nvSpPr>
        <p:spPr bwMode="auto">
          <a:xfrm>
            <a:off x="4724400" y="4678046"/>
            <a:ext cx="2103120" cy="158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7" name="Line 73"/>
          <p:cNvSpPr>
            <a:spLocks noChangeShapeType="1"/>
          </p:cNvSpPr>
          <p:nvPr/>
        </p:nvSpPr>
        <p:spPr bwMode="auto">
          <a:xfrm>
            <a:off x="4724400" y="1921615"/>
            <a:ext cx="1588" cy="276383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8" name="Rectangle 7"/>
          <p:cNvSpPr>
            <a:spLocks noChangeArrowheads="1"/>
          </p:cNvSpPr>
          <p:nvPr/>
        </p:nvSpPr>
        <p:spPr bwMode="auto">
          <a:xfrm>
            <a:off x="3290888" y="437007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149" name="Rectangle 8"/>
          <p:cNvSpPr>
            <a:spLocks noChangeArrowheads="1"/>
          </p:cNvSpPr>
          <p:nvPr/>
        </p:nvSpPr>
        <p:spPr bwMode="auto">
          <a:xfrm>
            <a:off x="2598738" y="437007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150" name="Rectangle 9"/>
          <p:cNvSpPr>
            <a:spLocks noChangeArrowheads="1"/>
          </p:cNvSpPr>
          <p:nvPr/>
        </p:nvSpPr>
        <p:spPr bwMode="auto">
          <a:xfrm>
            <a:off x="1905000" y="437007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07</a:t>
            </a:r>
          </a:p>
        </p:txBody>
      </p:sp>
      <p:sp>
        <p:nvSpPr>
          <p:cNvPr id="151" name="Rectangle 13"/>
          <p:cNvSpPr>
            <a:spLocks noChangeArrowheads="1"/>
          </p:cNvSpPr>
          <p:nvPr/>
        </p:nvSpPr>
        <p:spPr bwMode="auto">
          <a:xfrm>
            <a:off x="3290888" y="4063683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152" name="Rectangle 14"/>
          <p:cNvSpPr>
            <a:spLocks noChangeArrowheads="1"/>
          </p:cNvSpPr>
          <p:nvPr/>
        </p:nvSpPr>
        <p:spPr bwMode="auto">
          <a:xfrm>
            <a:off x="2598738" y="4063683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153" name="Rectangle 15"/>
          <p:cNvSpPr>
            <a:spLocks noChangeArrowheads="1"/>
          </p:cNvSpPr>
          <p:nvPr/>
        </p:nvSpPr>
        <p:spPr bwMode="auto">
          <a:xfrm>
            <a:off x="1905000" y="4063683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154" name="Rectangle 19"/>
          <p:cNvSpPr>
            <a:spLocks noChangeArrowheads="1"/>
          </p:cNvSpPr>
          <p:nvPr/>
        </p:nvSpPr>
        <p:spPr bwMode="auto">
          <a:xfrm>
            <a:off x="3290888" y="375729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155" name="Rectangle 20"/>
          <p:cNvSpPr>
            <a:spLocks noChangeArrowheads="1"/>
          </p:cNvSpPr>
          <p:nvPr/>
        </p:nvSpPr>
        <p:spPr bwMode="auto">
          <a:xfrm>
            <a:off x="2598738" y="375729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16</a:t>
            </a:r>
          </a:p>
        </p:txBody>
      </p:sp>
      <p:sp>
        <p:nvSpPr>
          <p:cNvPr id="156" name="Rectangle 21"/>
          <p:cNvSpPr>
            <a:spLocks noChangeArrowheads="1"/>
          </p:cNvSpPr>
          <p:nvPr/>
        </p:nvSpPr>
        <p:spPr bwMode="auto">
          <a:xfrm>
            <a:off x="1905000" y="375729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157" name="Rectangle 25"/>
          <p:cNvSpPr>
            <a:spLocks noChangeArrowheads="1"/>
          </p:cNvSpPr>
          <p:nvPr/>
        </p:nvSpPr>
        <p:spPr bwMode="auto">
          <a:xfrm>
            <a:off x="3290888" y="344932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158" name="Rectangle 26"/>
          <p:cNvSpPr>
            <a:spLocks noChangeArrowheads="1"/>
          </p:cNvSpPr>
          <p:nvPr/>
        </p:nvSpPr>
        <p:spPr bwMode="auto">
          <a:xfrm>
            <a:off x="2598738" y="344932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159" name="Rectangle 27"/>
          <p:cNvSpPr>
            <a:spLocks noChangeArrowheads="1"/>
          </p:cNvSpPr>
          <p:nvPr/>
        </p:nvSpPr>
        <p:spPr bwMode="auto">
          <a:xfrm>
            <a:off x="1905000" y="344932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160" name="Rectangle 31"/>
          <p:cNvSpPr>
            <a:spLocks noChangeArrowheads="1"/>
          </p:cNvSpPr>
          <p:nvPr/>
        </p:nvSpPr>
        <p:spPr bwMode="auto">
          <a:xfrm>
            <a:off x="3290888" y="314134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2598738" y="314134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02</a:t>
            </a:r>
          </a:p>
        </p:txBody>
      </p:sp>
      <p:sp>
        <p:nvSpPr>
          <p:cNvPr id="162" name="Rectangle 33"/>
          <p:cNvSpPr>
            <a:spLocks noChangeArrowheads="1"/>
          </p:cNvSpPr>
          <p:nvPr/>
        </p:nvSpPr>
        <p:spPr bwMode="auto">
          <a:xfrm>
            <a:off x="1905000" y="314134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163" name="Rectangle 37"/>
          <p:cNvSpPr>
            <a:spLocks noChangeArrowheads="1"/>
          </p:cNvSpPr>
          <p:nvPr/>
        </p:nvSpPr>
        <p:spPr bwMode="auto">
          <a:xfrm>
            <a:off x="3290888" y="2834958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164" name="Rectangle 38"/>
          <p:cNvSpPr>
            <a:spLocks noChangeArrowheads="1"/>
          </p:cNvSpPr>
          <p:nvPr/>
        </p:nvSpPr>
        <p:spPr bwMode="auto">
          <a:xfrm>
            <a:off x="2598738" y="2834958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33</a:t>
            </a:r>
          </a:p>
        </p:txBody>
      </p:sp>
      <p:sp>
        <p:nvSpPr>
          <p:cNvPr id="165" name="Rectangle 39"/>
          <p:cNvSpPr>
            <a:spLocks noChangeArrowheads="1"/>
          </p:cNvSpPr>
          <p:nvPr/>
        </p:nvSpPr>
        <p:spPr bwMode="auto">
          <a:xfrm>
            <a:off x="1905000" y="2834958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166" name="Rectangle 43"/>
          <p:cNvSpPr>
            <a:spLocks noChangeArrowheads="1"/>
          </p:cNvSpPr>
          <p:nvPr/>
        </p:nvSpPr>
        <p:spPr bwMode="auto">
          <a:xfrm>
            <a:off x="3290888" y="252857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</a:p>
        </p:txBody>
      </p:sp>
      <p:sp>
        <p:nvSpPr>
          <p:cNvPr id="167" name="Rectangle 44"/>
          <p:cNvSpPr>
            <a:spLocks noChangeArrowheads="1"/>
          </p:cNvSpPr>
          <p:nvPr/>
        </p:nvSpPr>
        <p:spPr bwMode="auto">
          <a:xfrm>
            <a:off x="2598738" y="2528571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–</a:t>
            </a:r>
          </a:p>
        </p:txBody>
      </p:sp>
      <p:sp>
        <p:nvSpPr>
          <p:cNvPr id="168" name="Rectangle 45"/>
          <p:cNvSpPr>
            <a:spLocks noChangeArrowheads="1"/>
          </p:cNvSpPr>
          <p:nvPr/>
        </p:nvSpPr>
        <p:spPr bwMode="auto">
          <a:xfrm>
            <a:off x="1905000" y="2528571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169" name="Rectangle 49"/>
          <p:cNvSpPr>
            <a:spLocks noChangeArrowheads="1"/>
          </p:cNvSpPr>
          <p:nvPr/>
        </p:nvSpPr>
        <p:spPr bwMode="auto">
          <a:xfrm>
            <a:off x="3290888" y="222059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</a:p>
        </p:txBody>
      </p:sp>
      <p:sp>
        <p:nvSpPr>
          <p:cNvPr id="170" name="Rectangle 50"/>
          <p:cNvSpPr>
            <a:spLocks noChangeArrowheads="1"/>
          </p:cNvSpPr>
          <p:nvPr/>
        </p:nvSpPr>
        <p:spPr bwMode="auto">
          <a:xfrm>
            <a:off x="2598738" y="2220596"/>
            <a:ext cx="692150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28</a:t>
            </a:r>
          </a:p>
        </p:txBody>
      </p:sp>
      <p:sp>
        <p:nvSpPr>
          <p:cNvPr id="171" name="Rectangle 51"/>
          <p:cNvSpPr>
            <a:spLocks noChangeArrowheads="1"/>
          </p:cNvSpPr>
          <p:nvPr/>
        </p:nvSpPr>
        <p:spPr bwMode="auto">
          <a:xfrm>
            <a:off x="1905000" y="2220596"/>
            <a:ext cx="693738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990000"/>
                </a:solidFill>
                <a:latin typeface="Calibri" pitchFamily="34" charset="0"/>
              </a:rPr>
              <a:t>00</a:t>
            </a:r>
          </a:p>
        </p:txBody>
      </p:sp>
      <p:sp>
        <p:nvSpPr>
          <p:cNvPr id="172" name="Rectangle 55"/>
          <p:cNvSpPr>
            <a:spLocks noChangeArrowheads="1"/>
          </p:cNvSpPr>
          <p:nvPr/>
        </p:nvSpPr>
        <p:spPr bwMode="auto">
          <a:xfrm>
            <a:off x="3290888" y="1914208"/>
            <a:ext cx="692150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73" name="Rectangle 56"/>
          <p:cNvSpPr>
            <a:spLocks noChangeArrowheads="1"/>
          </p:cNvSpPr>
          <p:nvPr/>
        </p:nvSpPr>
        <p:spPr bwMode="auto">
          <a:xfrm>
            <a:off x="2598738" y="1914208"/>
            <a:ext cx="692150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</a:p>
        </p:txBody>
      </p:sp>
      <p:sp>
        <p:nvSpPr>
          <p:cNvPr id="174" name="Rectangle 57"/>
          <p:cNvSpPr>
            <a:spLocks noChangeArrowheads="1"/>
          </p:cNvSpPr>
          <p:nvPr/>
        </p:nvSpPr>
        <p:spPr bwMode="auto">
          <a:xfrm>
            <a:off x="1905000" y="1914208"/>
            <a:ext cx="693738" cy="306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rgbClr val="990000"/>
                </a:solidFill>
                <a:latin typeface="Calibri" pitchFamily="34" charset="0"/>
              </a:rPr>
              <a:t>VPN</a:t>
            </a:r>
          </a:p>
        </p:txBody>
      </p:sp>
      <p:sp>
        <p:nvSpPr>
          <p:cNvPr id="175" name="Line 58"/>
          <p:cNvSpPr>
            <a:spLocks noChangeShapeType="1"/>
          </p:cNvSpPr>
          <p:nvPr/>
        </p:nvSpPr>
        <p:spPr bwMode="auto">
          <a:xfrm>
            <a:off x="1905000" y="2220596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6" name="Line 59"/>
          <p:cNvSpPr>
            <a:spLocks noChangeShapeType="1"/>
          </p:cNvSpPr>
          <p:nvPr/>
        </p:nvSpPr>
        <p:spPr bwMode="auto">
          <a:xfrm>
            <a:off x="1905000" y="2528571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7" name="Line 60"/>
          <p:cNvSpPr>
            <a:spLocks noChangeShapeType="1"/>
          </p:cNvSpPr>
          <p:nvPr/>
        </p:nvSpPr>
        <p:spPr bwMode="auto">
          <a:xfrm>
            <a:off x="1905000" y="2838131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8" name="Line 61"/>
          <p:cNvSpPr>
            <a:spLocks noChangeShapeType="1"/>
          </p:cNvSpPr>
          <p:nvPr/>
        </p:nvSpPr>
        <p:spPr bwMode="auto">
          <a:xfrm>
            <a:off x="1905000" y="3141346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9" name="Line 62"/>
          <p:cNvSpPr>
            <a:spLocks noChangeShapeType="1"/>
          </p:cNvSpPr>
          <p:nvPr/>
        </p:nvSpPr>
        <p:spPr bwMode="auto">
          <a:xfrm>
            <a:off x="1905000" y="3449321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0" name="Line 63"/>
          <p:cNvSpPr>
            <a:spLocks noChangeShapeType="1"/>
          </p:cNvSpPr>
          <p:nvPr/>
        </p:nvSpPr>
        <p:spPr bwMode="auto">
          <a:xfrm>
            <a:off x="1905000" y="3760998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1" name="Line 64"/>
          <p:cNvSpPr>
            <a:spLocks noChangeShapeType="1"/>
          </p:cNvSpPr>
          <p:nvPr/>
        </p:nvSpPr>
        <p:spPr bwMode="auto">
          <a:xfrm>
            <a:off x="1905000" y="4063683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" name="Line 65"/>
          <p:cNvSpPr>
            <a:spLocks noChangeShapeType="1"/>
          </p:cNvSpPr>
          <p:nvPr/>
        </p:nvSpPr>
        <p:spPr bwMode="auto">
          <a:xfrm>
            <a:off x="1905000" y="4370071"/>
            <a:ext cx="2075688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3" name="Line 66"/>
          <p:cNvSpPr>
            <a:spLocks noChangeShapeType="1"/>
          </p:cNvSpPr>
          <p:nvPr/>
        </p:nvSpPr>
        <p:spPr bwMode="auto">
          <a:xfrm>
            <a:off x="2589212" y="1914208"/>
            <a:ext cx="1588" cy="276383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4" name="Line 67"/>
          <p:cNvSpPr>
            <a:spLocks noChangeShapeType="1"/>
          </p:cNvSpPr>
          <p:nvPr/>
        </p:nvSpPr>
        <p:spPr bwMode="auto">
          <a:xfrm>
            <a:off x="3290888" y="1914208"/>
            <a:ext cx="1588" cy="276383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5" name="Line 70"/>
          <p:cNvSpPr>
            <a:spLocks noChangeShapeType="1"/>
          </p:cNvSpPr>
          <p:nvPr/>
        </p:nvSpPr>
        <p:spPr bwMode="auto">
          <a:xfrm>
            <a:off x="1905000" y="1914208"/>
            <a:ext cx="1588" cy="276383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6" name="Line 72"/>
          <p:cNvSpPr>
            <a:spLocks noChangeShapeType="1"/>
          </p:cNvSpPr>
          <p:nvPr/>
        </p:nvSpPr>
        <p:spPr bwMode="auto">
          <a:xfrm>
            <a:off x="1905000" y="1914208"/>
            <a:ext cx="2075688" cy="158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7" name="Line 74"/>
          <p:cNvSpPr>
            <a:spLocks noChangeShapeType="1"/>
          </p:cNvSpPr>
          <p:nvPr/>
        </p:nvSpPr>
        <p:spPr bwMode="auto">
          <a:xfrm>
            <a:off x="1905000" y="4678046"/>
            <a:ext cx="2075688" cy="1588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8" name="Line 70"/>
          <p:cNvSpPr>
            <a:spLocks noChangeShapeType="1"/>
          </p:cNvSpPr>
          <p:nvPr/>
        </p:nvSpPr>
        <p:spPr bwMode="auto">
          <a:xfrm>
            <a:off x="3989386" y="1905000"/>
            <a:ext cx="1588" cy="2788920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029200"/>
            <a:ext cx="4195631" cy="903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6" name="TextBox 135"/>
          <p:cNvSpPr txBox="1"/>
          <p:nvPr/>
        </p:nvSpPr>
        <p:spPr>
          <a:xfrm>
            <a:off x="7246576" y="3741429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0x0D </a:t>
            </a:r>
            <a:r>
              <a:rPr lang="en-US" sz="1800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 0x2D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602" y="5203674"/>
            <a:ext cx="3588416" cy="68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ight Arrow 2"/>
          <p:cNvSpPr/>
          <p:nvPr/>
        </p:nvSpPr>
        <p:spPr bwMode="auto">
          <a:xfrm>
            <a:off x="4648200" y="5389652"/>
            <a:ext cx="608012" cy="188170"/>
          </a:xfrm>
          <a:prstGeom prst="rightArrow">
            <a:avLst>
              <a:gd name="adj1" fmla="val 50000"/>
              <a:gd name="adj2" fmla="val 105958"/>
            </a:avLst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16012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/>
          </p:nvPr>
        </p:nvSpPr>
        <p:spPr>
          <a:xfrm>
            <a:off x="385284" y="417512"/>
            <a:ext cx="7285038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Simple Memory System Cache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068387"/>
            <a:ext cx="8307387" cy="1446213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16 lines, 4-byte block size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Physically addressed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Direct mapped</a:t>
            </a:r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1711325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+mj-lt"/>
              </a:rPr>
              <a:t>1</a:t>
            </a:r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1711325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11</a:t>
            </a:r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2198688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+mj-lt"/>
              </a:rPr>
              <a:t>0</a:t>
            </a:r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2198688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10</a:t>
            </a:r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2686051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+mj-lt"/>
              </a:rPr>
              <a:t>1</a:t>
            </a:r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2686051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9</a:t>
            </a:r>
          </a:p>
        </p:txBody>
      </p:sp>
      <p:sp>
        <p:nvSpPr>
          <p:cNvPr id="36879" name="Rectangle 15"/>
          <p:cNvSpPr>
            <a:spLocks noChangeArrowheads="1"/>
          </p:cNvSpPr>
          <p:nvPr/>
        </p:nvSpPr>
        <p:spPr bwMode="auto">
          <a:xfrm>
            <a:off x="3173414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+mj-lt"/>
              </a:rPr>
              <a:t>1</a:t>
            </a:r>
          </a:p>
        </p:txBody>
      </p:sp>
      <p:sp>
        <p:nvSpPr>
          <p:cNvPr id="36880" name="Rectangle 16"/>
          <p:cNvSpPr>
            <a:spLocks noChangeArrowheads="1"/>
          </p:cNvSpPr>
          <p:nvPr/>
        </p:nvSpPr>
        <p:spPr bwMode="auto">
          <a:xfrm>
            <a:off x="3173414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8</a:t>
            </a:r>
          </a:p>
        </p:txBody>
      </p:sp>
      <p:sp>
        <p:nvSpPr>
          <p:cNvPr id="36882" name="Rectangle 18"/>
          <p:cNvSpPr>
            <a:spLocks noChangeArrowheads="1"/>
          </p:cNvSpPr>
          <p:nvPr/>
        </p:nvSpPr>
        <p:spPr bwMode="auto">
          <a:xfrm>
            <a:off x="3660777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+mj-lt"/>
              </a:rPr>
              <a:t>0</a:t>
            </a:r>
          </a:p>
        </p:txBody>
      </p:sp>
      <p:sp>
        <p:nvSpPr>
          <p:cNvPr id="36883" name="Rectangle 19"/>
          <p:cNvSpPr>
            <a:spLocks noChangeArrowheads="1"/>
          </p:cNvSpPr>
          <p:nvPr/>
        </p:nvSpPr>
        <p:spPr bwMode="auto">
          <a:xfrm>
            <a:off x="3660777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7</a:t>
            </a:r>
          </a:p>
        </p:txBody>
      </p:sp>
      <p:sp>
        <p:nvSpPr>
          <p:cNvPr id="36885" name="Rectangle 21"/>
          <p:cNvSpPr>
            <a:spLocks noChangeArrowheads="1"/>
          </p:cNvSpPr>
          <p:nvPr/>
        </p:nvSpPr>
        <p:spPr bwMode="auto">
          <a:xfrm>
            <a:off x="4148140" y="3125787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+mj-lt"/>
              </a:rPr>
              <a:t>1</a:t>
            </a:r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4148140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6</a:t>
            </a:r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4635503" y="3125787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9" name="Rectangle 25"/>
          <p:cNvSpPr>
            <a:spLocks noChangeArrowheads="1"/>
          </p:cNvSpPr>
          <p:nvPr/>
        </p:nvSpPr>
        <p:spPr bwMode="auto">
          <a:xfrm>
            <a:off x="4635503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5</a:t>
            </a:r>
          </a:p>
        </p:txBody>
      </p:sp>
      <p:sp>
        <p:nvSpPr>
          <p:cNvPr id="36891" name="Rectangle 27"/>
          <p:cNvSpPr>
            <a:spLocks noChangeArrowheads="1"/>
          </p:cNvSpPr>
          <p:nvPr/>
        </p:nvSpPr>
        <p:spPr bwMode="auto">
          <a:xfrm>
            <a:off x="5122866" y="3125787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2" name="Rectangle 28"/>
          <p:cNvSpPr>
            <a:spLocks noChangeArrowheads="1"/>
          </p:cNvSpPr>
          <p:nvPr/>
        </p:nvSpPr>
        <p:spPr bwMode="auto">
          <a:xfrm>
            <a:off x="5122866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4</a:t>
            </a:r>
          </a:p>
        </p:txBody>
      </p:sp>
      <p:sp>
        <p:nvSpPr>
          <p:cNvPr id="36894" name="Rectangle 30"/>
          <p:cNvSpPr>
            <a:spLocks noChangeArrowheads="1"/>
          </p:cNvSpPr>
          <p:nvPr/>
        </p:nvSpPr>
        <p:spPr bwMode="auto">
          <a:xfrm>
            <a:off x="5610229" y="3125787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5" name="Rectangle 31"/>
          <p:cNvSpPr>
            <a:spLocks noChangeArrowheads="1"/>
          </p:cNvSpPr>
          <p:nvPr/>
        </p:nvSpPr>
        <p:spPr bwMode="auto">
          <a:xfrm>
            <a:off x="5610229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3</a:t>
            </a:r>
          </a:p>
        </p:txBody>
      </p:sp>
      <p:sp>
        <p:nvSpPr>
          <p:cNvPr id="36897" name="Rectangle 33"/>
          <p:cNvSpPr>
            <a:spLocks noChangeArrowheads="1"/>
          </p:cNvSpPr>
          <p:nvPr/>
        </p:nvSpPr>
        <p:spPr bwMode="auto">
          <a:xfrm>
            <a:off x="6097591" y="3125787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8" name="Rectangle 34"/>
          <p:cNvSpPr>
            <a:spLocks noChangeArrowheads="1"/>
          </p:cNvSpPr>
          <p:nvPr/>
        </p:nvSpPr>
        <p:spPr bwMode="auto">
          <a:xfrm>
            <a:off x="6097591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2</a:t>
            </a:r>
          </a:p>
        </p:txBody>
      </p:sp>
      <p:sp>
        <p:nvSpPr>
          <p:cNvPr id="36900" name="Rectangle 36"/>
          <p:cNvSpPr>
            <a:spLocks noChangeArrowheads="1"/>
          </p:cNvSpPr>
          <p:nvPr/>
        </p:nvSpPr>
        <p:spPr bwMode="auto">
          <a:xfrm>
            <a:off x="6584953" y="3125787"/>
            <a:ext cx="4873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1" name="Rectangle 37"/>
          <p:cNvSpPr>
            <a:spLocks noChangeArrowheads="1"/>
          </p:cNvSpPr>
          <p:nvPr/>
        </p:nvSpPr>
        <p:spPr bwMode="auto">
          <a:xfrm>
            <a:off x="6584953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1</a:t>
            </a:r>
          </a:p>
        </p:txBody>
      </p:sp>
      <p:sp>
        <p:nvSpPr>
          <p:cNvPr id="36903" name="Rectangle 39"/>
          <p:cNvSpPr>
            <a:spLocks noChangeArrowheads="1"/>
          </p:cNvSpPr>
          <p:nvPr/>
        </p:nvSpPr>
        <p:spPr bwMode="auto">
          <a:xfrm>
            <a:off x="7072312" y="3125787"/>
            <a:ext cx="4873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4" name="Rectangle 40"/>
          <p:cNvSpPr>
            <a:spLocks noChangeArrowheads="1"/>
          </p:cNvSpPr>
          <p:nvPr/>
        </p:nvSpPr>
        <p:spPr bwMode="auto">
          <a:xfrm>
            <a:off x="7072312" y="2820987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4652964" y="3478212"/>
            <a:ext cx="2924175" cy="333375"/>
            <a:chOff x="2931" y="2156"/>
            <a:chExt cx="1842" cy="210"/>
          </a:xfrm>
        </p:grpSpPr>
        <p:sp>
          <p:nvSpPr>
            <p:cNvPr id="36906" name="Line 42"/>
            <p:cNvSpPr>
              <a:spLocks noChangeShapeType="1"/>
            </p:cNvSpPr>
            <p:nvPr/>
          </p:nvSpPr>
          <p:spPr bwMode="auto">
            <a:xfrm>
              <a:off x="2931" y="2247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Text Box 43"/>
            <p:cNvSpPr txBox="1">
              <a:spLocks noChangeArrowheads="1"/>
            </p:cNvSpPr>
            <p:nvPr/>
          </p:nvSpPr>
          <p:spPr bwMode="auto">
            <a:xfrm>
              <a:off x="3638" y="2156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1757364" y="3478212"/>
            <a:ext cx="2924175" cy="333375"/>
            <a:chOff x="1107" y="2156"/>
            <a:chExt cx="1842" cy="210"/>
          </a:xfrm>
        </p:grpSpPr>
        <p:sp>
          <p:nvSpPr>
            <p:cNvPr id="36909" name="Line 45"/>
            <p:cNvSpPr>
              <a:spLocks noChangeShapeType="1"/>
            </p:cNvSpPr>
            <p:nvPr/>
          </p:nvSpPr>
          <p:spPr bwMode="auto">
            <a:xfrm>
              <a:off x="1107" y="2247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Text Box 46"/>
            <p:cNvSpPr txBox="1">
              <a:spLocks noChangeArrowheads="1"/>
            </p:cNvSpPr>
            <p:nvPr/>
          </p:nvSpPr>
          <p:spPr bwMode="auto">
            <a:xfrm>
              <a:off x="1814" y="2156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6556382" y="2523067"/>
            <a:ext cx="992189" cy="306388"/>
            <a:chOff x="4130" y="1501"/>
            <a:chExt cx="625" cy="193"/>
          </a:xfrm>
        </p:grpSpPr>
        <p:sp>
          <p:nvSpPr>
            <p:cNvPr id="36912" name="Line 48"/>
            <p:cNvSpPr>
              <a:spLocks noChangeShapeType="1"/>
            </p:cNvSpPr>
            <p:nvPr/>
          </p:nvSpPr>
          <p:spPr bwMode="auto">
            <a:xfrm>
              <a:off x="4130" y="1579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13" name="Text Box 49"/>
            <p:cNvSpPr txBox="1">
              <a:spLocks noChangeArrowheads="1"/>
            </p:cNvSpPr>
            <p:nvPr/>
          </p:nvSpPr>
          <p:spPr bwMode="auto">
            <a:xfrm>
              <a:off x="4316" y="1501"/>
              <a:ext cx="271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CO</a:t>
              </a:r>
            </a:p>
          </p:txBody>
        </p:sp>
      </p:grp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4627033" y="2519363"/>
            <a:ext cx="1927225" cy="306388"/>
            <a:chOff x="2920" y="1488"/>
            <a:chExt cx="1214" cy="193"/>
          </a:xfrm>
        </p:grpSpPr>
        <p:sp>
          <p:nvSpPr>
            <p:cNvPr id="36915" name="Line 51"/>
            <p:cNvSpPr>
              <a:spLocks noChangeShapeType="1"/>
            </p:cNvSpPr>
            <p:nvPr/>
          </p:nvSpPr>
          <p:spPr bwMode="auto">
            <a:xfrm>
              <a:off x="2920" y="1566"/>
              <a:ext cx="1214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16" name="Text Box 52"/>
            <p:cNvSpPr txBox="1">
              <a:spLocks noChangeArrowheads="1"/>
            </p:cNvSpPr>
            <p:nvPr/>
          </p:nvSpPr>
          <p:spPr bwMode="auto">
            <a:xfrm>
              <a:off x="3460" y="1488"/>
              <a:ext cx="21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CI</a:t>
              </a:r>
            </a:p>
          </p:txBody>
        </p:sp>
      </p:grpSp>
      <p:grpSp>
        <p:nvGrpSpPr>
          <p:cNvPr id="6" name="Group 53"/>
          <p:cNvGrpSpPr>
            <a:grpSpLocks/>
          </p:cNvGrpSpPr>
          <p:nvPr/>
        </p:nvGrpSpPr>
        <p:grpSpPr bwMode="auto">
          <a:xfrm>
            <a:off x="1711325" y="2514600"/>
            <a:ext cx="2894013" cy="306388"/>
            <a:chOff x="1078" y="1501"/>
            <a:chExt cx="1823" cy="193"/>
          </a:xfrm>
        </p:grpSpPr>
        <p:sp>
          <p:nvSpPr>
            <p:cNvPr id="36918" name="Line 54"/>
            <p:cNvSpPr>
              <a:spLocks noChangeShapeType="1"/>
            </p:cNvSpPr>
            <p:nvPr/>
          </p:nvSpPr>
          <p:spPr bwMode="auto">
            <a:xfrm>
              <a:off x="1078" y="1579"/>
              <a:ext cx="182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919" name="Text Box 55"/>
            <p:cNvSpPr txBox="1">
              <a:spLocks noChangeArrowheads="1"/>
            </p:cNvSpPr>
            <p:nvPr/>
          </p:nvSpPr>
          <p:spPr bwMode="auto">
            <a:xfrm>
              <a:off x="1928" y="1501"/>
              <a:ext cx="24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CT</a:t>
              </a:r>
            </a:p>
          </p:txBody>
        </p:sp>
      </p:grpSp>
      <p:sp>
        <p:nvSpPr>
          <p:cNvPr id="36928" name="Rectangle 64"/>
          <p:cNvSpPr>
            <a:spLocks noChangeArrowheads="1"/>
          </p:cNvSpPr>
          <p:nvPr/>
        </p:nvSpPr>
        <p:spPr bwMode="auto">
          <a:xfrm>
            <a:off x="3875088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03</a:t>
            </a:r>
          </a:p>
        </p:txBody>
      </p:sp>
      <p:sp>
        <p:nvSpPr>
          <p:cNvPr id="36929" name="Rectangle 65"/>
          <p:cNvSpPr>
            <a:spLocks noChangeArrowheads="1"/>
          </p:cNvSpPr>
          <p:nvPr/>
        </p:nvSpPr>
        <p:spPr bwMode="auto">
          <a:xfrm>
            <a:off x="3255963" y="635000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DF</a:t>
            </a:r>
          </a:p>
        </p:txBody>
      </p:sp>
      <p:sp>
        <p:nvSpPr>
          <p:cNvPr id="36930" name="Rectangle 66"/>
          <p:cNvSpPr>
            <a:spLocks noChangeArrowheads="1"/>
          </p:cNvSpPr>
          <p:nvPr/>
        </p:nvSpPr>
        <p:spPr bwMode="auto">
          <a:xfrm>
            <a:off x="2635250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C2</a:t>
            </a:r>
          </a:p>
        </p:txBody>
      </p:sp>
      <p:sp>
        <p:nvSpPr>
          <p:cNvPr id="36931" name="Rectangle 67"/>
          <p:cNvSpPr>
            <a:spLocks noChangeArrowheads="1"/>
          </p:cNvSpPr>
          <p:nvPr/>
        </p:nvSpPr>
        <p:spPr bwMode="auto">
          <a:xfrm>
            <a:off x="2012950" y="6350000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11</a:t>
            </a:r>
          </a:p>
        </p:txBody>
      </p:sp>
      <p:sp>
        <p:nvSpPr>
          <p:cNvPr id="36932" name="Rectangle 68"/>
          <p:cNvSpPr>
            <a:spLocks noChangeArrowheads="1"/>
          </p:cNvSpPr>
          <p:nvPr/>
        </p:nvSpPr>
        <p:spPr bwMode="auto">
          <a:xfrm>
            <a:off x="1392238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6933" name="Rectangle 69"/>
          <p:cNvSpPr>
            <a:spLocks noChangeArrowheads="1"/>
          </p:cNvSpPr>
          <p:nvPr/>
        </p:nvSpPr>
        <p:spPr bwMode="auto">
          <a:xfrm>
            <a:off x="773113" y="635000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16</a:t>
            </a:r>
          </a:p>
        </p:txBody>
      </p:sp>
      <p:sp>
        <p:nvSpPr>
          <p:cNvPr id="36934" name="Rectangle 70"/>
          <p:cNvSpPr>
            <a:spLocks noChangeArrowheads="1"/>
          </p:cNvSpPr>
          <p:nvPr/>
        </p:nvSpPr>
        <p:spPr bwMode="auto">
          <a:xfrm>
            <a:off x="152400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6942" name="Rectangle 78"/>
          <p:cNvSpPr>
            <a:spLocks noChangeArrowheads="1"/>
          </p:cNvSpPr>
          <p:nvPr/>
        </p:nvSpPr>
        <p:spPr bwMode="auto">
          <a:xfrm>
            <a:off x="3875088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43" name="Rectangle 79"/>
          <p:cNvSpPr>
            <a:spLocks noChangeArrowheads="1"/>
          </p:cNvSpPr>
          <p:nvPr/>
        </p:nvSpPr>
        <p:spPr bwMode="auto">
          <a:xfrm>
            <a:off x="3255963" y="606901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44" name="Rectangle 80"/>
          <p:cNvSpPr>
            <a:spLocks noChangeArrowheads="1"/>
          </p:cNvSpPr>
          <p:nvPr/>
        </p:nvSpPr>
        <p:spPr bwMode="auto">
          <a:xfrm>
            <a:off x="2635250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45" name="Rectangle 81"/>
          <p:cNvSpPr>
            <a:spLocks noChangeArrowheads="1"/>
          </p:cNvSpPr>
          <p:nvPr/>
        </p:nvSpPr>
        <p:spPr bwMode="auto">
          <a:xfrm>
            <a:off x="2012950" y="6069013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46" name="Rectangle 82"/>
          <p:cNvSpPr>
            <a:spLocks noChangeArrowheads="1"/>
          </p:cNvSpPr>
          <p:nvPr/>
        </p:nvSpPr>
        <p:spPr bwMode="auto">
          <a:xfrm>
            <a:off x="1392238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6947" name="Rectangle 83"/>
          <p:cNvSpPr>
            <a:spLocks noChangeArrowheads="1"/>
          </p:cNvSpPr>
          <p:nvPr/>
        </p:nvSpPr>
        <p:spPr bwMode="auto">
          <a:xfrm>
            <a:off x="773113" y="606901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31</a:t>
            </a:r>
          </a:p>
        </p:txBody>
      </p:sp>
      <p:sp>
        <p:nvSpPr>
          <p:cNvPr id="36948" name="Rectangle 84"/>
          <p:cNvSpPr>
            <a:spLocks noChangeArrowheads="1"/>
          </p:cNvSpPr>
          <p:nvPr/>
        </p:nvSpPr>
        <p:spPr bwMode="auto">
          <a:xfrm>
            <a:off x="152400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6956" name="Rectangle 92"/>
          <p:cNvSpPr>
            <a:spLocks noChangeArrowheads="1"/>
          </p:cNvSpPr>
          <p:nvPr/>
        </p:nvSpPr>
        <p:spPr bwMode="auto">
          <a:xfrm>
            <a:off x="3875088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1D</a:t>
            </a:r>
          </a:p>
        </p:txBody>
      </p:sp>
      <p:sp>
        <p:nvSpPr>
          <p:cNvPr id="36957" name="Rectangle 93"/>
          <p:cNvSpPr>
            <a:spLocks noChangeArrowheads="1"/>
          </p:cNvSpPr>
          <p:nvPr/>
        </p:nvSpPr>
        <p:spPr bwMode="auto">
          <a:xfrm>
            <a:off x="3255963" y="578802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F0</a:t>
            </a:r>
          </a:p>
        </p:txBody>
      </p:sp>
      <p:sp>
        <p:nvSpPr>
          <p:cNvPr id="36958" name="Rectangle 94"/>
          <p:cNvSpPr>
            <a:spLocks noChangeArrowheads="1"/>
          </p:cNvSpPr>
          <p:nvPr/>
        </p:nvSpPr>
        <p:spPr bwMode="auto">
          <a:xfrm>
            <a:off x="2635250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72</a:t>
            </a:r>
          </a:p>
        </p:txBody>
      </p:sp>
      <p:sp>
        <p:nvSpPr>
          <p:cNvPr id="36959" name="Rectangle 95"/>
          <p:cNvSpPr>
            <a:spLocks noChangeArrowheads="1"/>
          </p:cNvSpPr>
          <p:nvPr/>
        </p:nvSpPr>
        <p:spPr bwMode="auto">
          <a:xfrm>
            <a:off x="2012950" y="5788025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36</a:t>
            </a:r>
          </a:p>
        </p:txBody>
      </p:sp>
      <p:sp>
        <p:nvSpPr>
          <p:cNvPr id="36960" name="Rectangle 96"/>
          <p:cNvSpPr>
            <a:spLocks noChangeArrowheads="1"/>
          </p:cNvSpPr>
          <p:nvPr/>
        </p:nvSpPr>
        <p:spPr bwMode="auto">
          <a:xfrm>
            <a:off x="1392238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6961" name="Rectangle 97"/>
          <p:cNvSpPr>
            <a:spLocks noChangeArrowheads="1"/>
          </p:cNvSpPr>
          <p:nvPr/>
        </p:nvSpPr>
        <p:spPr bwMode="auto">
          <a:xfrm>
            <a:off x="773113" y="578802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0D</a:t>
            </a:r>
          </a:p>
        </p:txBody>
      </p:sp>
      <p:sp>
        <p:nvSpPr>
          <p:cNvPr id="36962" name="Rectangle 98"/>
          <p:cNvSpPr>
            <a:spLocks noChangeArrowheads="1"/>
          </p:cNvSpPr>
          <p:nvPr/>
        </p:nvSpPr>
        <p:spPr bwMode="auto">
          <a:xfrm>
            <a:off x="152400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6970" name="Rectangle 106"/>
          <p:cNvSpPr>
            <a:spLocks noChangeArrowheads="1"/>
          </p:cNvSpPr>
          <p:nvPr/>
        </p:nvSpPr>
        <p:spPr bwMode="auto">
          <a:xfrm>
            <a:off x="3875088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09</a:t>
            </a:r>
          </a:p>
        </p:txBody>
      </p:sp>
      <p:sp>
        <p:nvSpPr>
          <p:cNvPr id="36971" name="Rectangle 107"/>
          <p:cNvSpPr>
            <a:spLocks noChangeArrowheads="1"/>
          </p:cNvSpPr>
          <p:nvPr/>
        </p:nvSpPr>
        <p:spPr bwMode="auto">
          <a:xfrm>
            <a:off x="3255963" y="5481638"/>
            <a:ext cx="619125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8F</a:t>
            </a:r>
          </a:p>
        </p:txBody>
      </p:sp>
      <p:sp>
        <p:nvSpPr>
          <p:cNvPr id="36972" name="Rectangle 108"/>
          <p:cNvSpPr>
            <a:spLocks noChangeArrowheads="1"/>
          </p:cNvSpPr>
          <p:nvPr/>
        </p:nvSpPr>
        <p:spPr bwMode="auto">
          <a:xfrm>
            <a:off x="2635250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6D</a:t>
            </a:r>
          </a:p>
        </p:txBody>
      </p:sp>
      <p:sp>
        <p:nvSpPr>
          <p:cNvPr id="36973" name="Rectangle 109"/>
          <p:cNvSpPr>
            <a:spLocks noChangeArrowheads="1"/>
          </p:cNvSpPr>
          <p:nvPr/>
        </p:nvSpPr>
        <p:spPr bwMode="auto">
          <a:xfrm>
            <a:off x="2012950" y="5481638"/>
            <a:ext cx="622300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43</a:t>
            </a:r>
          </a:p>
        </p:txBody>
      </p:sp>
      <p:sp>
        <p:nvSpPr>
          <p:cNvPr id="36974" name="Rectangle 110"/>
          <p:cNvSpPr>
            <a:spLocks noChangeArrowheads="1"/>
          </p:cNvSpPr>
          <p:nvPr/>
        </p:nvSpPr>
        <p:spPr bwMode="auto">
          <a:xfrm>
            <a:off x="1392238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6975" name="Rectangle 111"/>
          <p:cNvSpPr>
            <a:spLocks noChangeArrowheads="1"/>
          </p:cNvSpPr>
          <p:nvPr/>
        </p:nvSpPr>
        <p:spPr bwMode="auto">
          <a:xfrm>
            <a:off x="773113" y="5481638"/>
            <a:ext cx="619125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32</a:t>
            </a:r>
          </a:p>
        </p:txBody>
      </p:sp>
      <p:sp>
        <p:nvSpPr>
          <p:cNvPr id="36976" name="Rectangle 112"/>
          <p:cNvSpPr>
            <a:spLocks noChangeArrowheads="1"/>
          </p:cNvSpPr>
          <p:nvPr/>
        </p:nvSpPr>
        <p:spPr bwMode="auto">
          <a:xfrm>
            <a:off x="152400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6984" name="Rectangle 120"/>
          <p:cNvSpPr>
            <a:spLocks noChangeArrowheads="1"/>
          </p:cNvSpPr>
          <p:nvPr/>
        </p:nvSpPr>
        <p:spPr bwMode="auto">
          <a:xfrm>
            <a:off x="3875088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85" name="Rectangle 121"/>
          <p:cNvSpPr>
            <a:spLocks noChangeArrowheads="1"/>
          </p:cNvSpPr>
          <p:nvPr/>
        </p:nvSpPr>
        <p:spPr bwMode="auto">
          <a:xfrm>
            <a:off x="3255963" y="520065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86" name="Rectangle 122"/>
          <p:cNvSpPr>
            <a:spLocks noChangeArrowheads="1"/>
          </p:cNvSpPr>
          <p:nvPr/>
        </p:nvSpPr>
        <p:spPr bwMode="auto">
          <a:xfrm>
            <a:off x="2635250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87" name="Rectangle 123"/>
          <p:cNvSpPr>
            <a:spLocks noChangeArrowheads="1"/>
          </p:cNvSpPr>
          <p:nvPr/>
        </p:nvSpPr>
        <p:spPr bwMode="auto">
          <a:xfrm>
            <a:off x="2012950" y="5200650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6988" name="Rectangle 124"/>
          <p:cNvSpPr>
            <a:spLocks noChangeArrowheads="1"/>
          </p:cNvSpPr>
          <p:nvPr/>
        </p:nvSpPr>
        <p:spPr bwMode="auto">
          <a:xfrm>
            <a:off x="1392238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6989" name="Rectangle 125"/>
          <p:cNvSpPr>
            <a:spLocks noChangeArrowheads="1"/>
          </p:cNvSpPr>
          <p:nvPr/>
        </p:nvSpPr>
        <p:spPr bwMode="auto">
          <a:xfrm>
            <a:off x="773113" y="520065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36</a:t>
            </a:r>
          </a:p>
        </p:txBody>
      </p:sp>
      <p:sp>
        <p:nvSpPr>
          <p:cNvPr id="36990" name="Rectangle 126"/>
          <p:cNvSpPr>
            <a:spLocks noChangeArrowheads="1"/>
          </p:cNvSpPr>
          <p:nvPr/>
        </p:nvSpPr>
        <p:spPr bwMode="auto">
          <a:xfrm>
            <a:off x="152400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6998" name="Rectangle 134"/>
          <p:cNvSpPr>
            <a:spLocks noChangeArrowheads="1"/>
          </p:cNvSpPr>
          <p:nvPr/>
        </p:nvSpPr>
        <p:spPr bwMode="auto">
          <a:xfrm>
            <a:off x="3875088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08</a:t>
            </a:r>
          </a:p>
        </p:txBody>
      </p:sp>
      <p:sp>
        <p:nvSpPr>
          <p:cNvPr id="36999" name="Rectangle 135"/>
          <p:cNvSpPr>
            <a:spLocks noChangeArrowheads="1"/>
          </p:cNvSpPr>
          <p:nvPr/>
        </p:nvSpPr>
        <p:spPr bwMode="auto">
          <a:xfrm>
            <a:off x="3255963" y="491966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04</a:t>
            </a:r>
          </a:p>
        </p:txBody>
      </p:sp>
      <p:sp>
        <p:nvSpPr>
          <p:cNvPr id="37000" name="Rectangle 136"/>
          <p:cNvSpPr>
            <a:spLocks noChangeArrowheads="1"/>
          </p:cNvSpPr>
          <p:nvPr/>
        </p:nvSpPr>
        <p:spPr bwMode="auto">
          <a:xfrm>
            <a:off x="2635250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02</a:t>
            </a:r>
          </a:p>
        </p:txBody>
      </p:sp>
      <p:sp>
        <p:nvSpPr>
          <p:cNvPr id="37001" name="Rectangle 137"/>
          <p:cNvSpPr>
            <a:spLocks noChangeArrowheads="1"/>
          </p:cNvSpPr>
          <p:nvPr/>
        </p:nvSpPr>
        <p:spPr bwMode="auto">
          <a:xfrm>
            <a:off x="2012950" y="4919663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00</a:t>
            </a:r>
          </a:p>
        </p:txBody>
      </p:sp>
      <p:sp>
        <p:nvSpPr>
          <p:cNvPr id="37002" name="Rectangle 138"/>
          <p:cNvSpPr>
            <a:spLocks noChangeArrowheads="1"/>
          </p:cNvSpPr>
          <p:nvPr/>
        </p:nvSpPr>
        <p:spPr bwMode="auto">
          <a:xfrm>
            <a:off x="1392238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7003" name="Rectangle 139"/>
          <p:cNvSpPr>
            <a:spLocks noChangeArrowheads="1"/>
          </p:cNvSpPr>
          <p:nvPr/>
        </p:nvSpPr>
        <p:spPr bwMode="auto">
          <a:xfrm>
            <a:off x="773113" y="491966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1B</a:t>
            </a:r>
          </a:p>
        </p:txBody>
      </p:sp>
      <p:sp>
        <p:nvSpPr>
          <p:cNvPr id="37004" name="Rectangle 140"/>
          <p:cNvSpPr>
            <a:spLocks noChangeArrowheads="1"/>
          </p:cNvSpPr>
          <p:nvPr/>
        </p:nvSpPr>
        <p:spPr bwMode="auto">
          <a:xfrm>
            <a:off x="152400" y="491966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012" name="Rectangle 148"/>
          <p:cNvSpPr>
            <a:spLocks noChangeArrowheads="1"/>
          </p:cNvSpPr>
          <p:nvPr/>
        </p:nvSpPr>
        <p:spPr bwMode="auto">
          <a:xfrm>
            <a:off x="3875088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7013" name="Rectangle 149"/>
          <p:cNvSpPr>
            <a:spLocks noChangeArrowheads="1"/>
          </p:cNvSpPr>
          <p:nvPr/>
        </p:nvSpPr>
        <p:spPr bwMode="auto">
          <a:xfrm>
            <a:off x="3255963" y="463867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7014" name="Rectangle 150"/>
          <p:cNvSpPr>
            <a:spLocks noChangeArrowheads="1"/>
          </p:cNvSpPr>
          <p:nvPr/>
        </p:nvSpPr>
        <p:spPr bwMode="auto">
          <a:xfrm>
            <a:off x="2635250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7015" name="Rectangle 151"/>
          <p:cNvSpPr>
            <a:spLocks noChangeArrowheads="1"/>
          </p:cNvSpPr>
          <p:nvPr/>
        </p:nvSpPr>
        <p:spPr bwMode="auto">
          <a:xfrm>
            <a:off x="2012950" y="4638675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37016" name="Rectangle 152"/>
          <p:cNvSpPr>
            <a:spLocks noChangeArrowheads="1"/>
          </p:cNvSpPr>
          <p:nvPr/>
        </p:nvSpPr>
        <p:spPr bwMode="auto">
          <a:xfrm>
            <a:off x="1392238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37017" name="Rectangle 153"/>
          <p:cNvSpPr>
            <a:spLocks noChangeArrowheads="1"/>
          </p:cNvSpPr>
          <p:nvPr/>
        </p:nvSpPr>
        <p:spPr bwMode="auto">
          <a:xfrm>
            <a:off x="773113" y="463867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15</a:t>
            </a:r>
          </a:p>
        </p:txBody>
      </p:sp>
      <p:sp>
        <p:nvSpPr>
          <p:cNvPr id="37018" name="Rectangle 154"/>
          <p:cNvSpPr>
            <a:spLocks noChangeArrowheads="1"/>
          </p:cNvSpPr>
          <p:nvPr/>
        </p:nvSpPr>
        <p:spPr bwMode="auto">
          <a:xfrm>
            <a:off x="152400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026" name="Rectangle 162"/>
          <p:cNvSpPr>
            <a:spLocks noChangeArrowheads="1"/>
          </p:cNvSpPr>
          <p:nvPr/>
        </p:nvSpPr>
        <p:spPr bwMode="auto">
          <a:xfrm>
            <a:off x="3875088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11</a:t>
            </a:r>
          </a:p>
        </p:txBody>
      </p:sp>
      <p:sp>
        <p:nvSpPr>
          <p:cNvPr id="37027" name="Rectangle 163"/>
          <p:cNvSpPr>
            <a:spLocks noChangeArrowheads="1"/>
          </p:cNvSpPr>
          <p:nvPr/>
        </p:nvSpPr>
        <p:spPr bwMode="auto">
          <a:xfrm>
            <a:off x="3255963" y="4357688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23</a:t>
            </a:r>
          </a:p>
        </p:txBody>
      </p:sp>
      <p:sp>
        <p:nvSpPr>
          <p:cNvPr id="37028" name="Rectangle 164"/>
          <p:cNvSpPr>
            <a:spLocks noChangeArrowheads="1"/>
          </p:cNvSpPr>
          <p:nvPr/>
        </p:nvSpPr>
        <p:spPr bwMode="auto">
          <a:xfrm>
            <a:off x="2635250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11</a:t>
            </a:r>
          </a:p>
        </p:txBody>
      </p:sp>
      <p:sp>
        <p:nvSpPr>
          <p:cNvPr id="37029" name="Rectangle 165"/>
          <p:cNvSpPr>
            <a:spLocks noChangeArrowheads="1"/>
          </p:cNvSpPr>
          <p:nvPr/>
        </p:nvSpPr>
        <p:spPr bwMode="auto">
          <a:xfrm>
            <a:off x="2012950" y="4357688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99</a:t>
            </a:r>
          </a:p>
        </p:txBody>
      </p:sp>
      <p:sp>
        <p:nvSpPr>
          <p:cNvPr id="37030" name="Rectangle 166"/>
          <p:cNvSpPr>
            <a:spLocks noChangeArrowheads="1"/>
          </p:cNvSpPr>
          <p:nvPr/>
        </p:nvSpPr>
        <p:spPr bwMode="auto">
          <a:xfrm>
            <a:off x="1392238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37031" name="Rectangle 167"/>
          <p:cNvSpPr>
            <a:spLocks noChangeArrowheads="1"/>
          </p:cNvSpPr>
          <p:nvPr/>
        </p:nvSpPr>
        <p:spPr bwMode="auto">
          <a:xfrm>
            <a:off x="773113" y="4357688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19</a:t>
            </a:r>
          </a:p>
        </p:txBody>
      </p:sp>
      <p:sp>
        <p:nvSpPr>
          <p:cNvPr id="37032" name="Rectangle 168"/>
          <p:cNvSpPr>
            <a:spLocks noChangeArrowheads="1"/>
          </p:cNvSpPr>
          <p:nvPr/>
        </p:nvSpPr>
        <p:spPr bwMode="auto">
          <a:xfrm>
            <a:off x="152400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7040" name="Rectangle 176"/>
          <p:cNvSpPr>
            <a:spLocks noChangeArrowheads="1"/>
          </p:cNvSpPr>
          <p:nvPr/>
        </p:nvSpPr>
        <p:spPr bwMode="auto">
          <a:xfrm>
            <a:off x="3875088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B3</a:t>
            </a:r>
          </a:p>
        </p:txBody>
      </p:sp>
      <p:sp>
        <p:nvSpPr>
          <p:cNvPr id="37041" name="Rectangle 177"/>
          <p:cNvSpPr>
            <a:spLocks noChangeArrowheads="1"/>
          </p:cNvSpPr>
          <p:nvPr/>
        </p:nvSpPr>
        <p:spPr bwMode="auto">
          <a:xfrm>
            <a:off x="3255963" y="4076700"/>
            <a:ext cx="619125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B2</a:t>
            </a:r>
          </a:p>
        </p:txBody>
      </p:sp>
      <p:sp>
        <p:nvSpPr>
          <p:cNvPr id="37042" name="Rectangle 178"/>
          <p:cNvSpPr>
            <a:spLocks noChangeArrowheads="1"/>
          </p:cNvSpPr>
          <p:nvPr/>
        </p:nvSpPr>
        <p:spPr bwMode="auto">
          <a:xfrm>
            <a:off x="2635250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B1</a:t>
            </a:r>
          </a:p>
        </p:txBody>
      </p:sp>
      <p:sp>
        <p:nvSpPr>
          <p:cNvPr id="37043" name="Rectangle 179"/>
          <p:cNvSpPr>
            <a:spLocks noChangeArrowheads="1"/>
          </p:cNvSpPr>
          <p:nvPr/>
        </p:nvSpPr>
        <p:spPr bwMode="auto">
          <a:xfrm>
            <a:off x="2012950" y="4076700"/>
            <a:ext cx="622300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B0</a:t>
            </a:r>
          </a:p>
        </p:txBody>
      </p:sp>
      <p:sp>
        <p:nvSpPr>
          <p:cNvPr id="37044" name="Rectangle 180"/>
          <p:cNvSpPr>
            <a:spLocks noChangeArrowheads="1"/>
          </p:cNvSpPr>
          <p:nvPr/>
        </p:nvSpPr>
        <p:spPr bwMode="auto">
          <a:xfrm>
            <a:off x="1392238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7045" name="Rectangle 181"/>
          <p:cNvSpPr>
            <a:spLocks noChangeArrowheads="1"/>
          </p:cNvSpPr>
          <p:nvPr/>
        </p:nvSpPr>
        <p:spPr bwMode="auto">
          <a:xfrm>
            <a:off x="773113" y="4076700"/>
            <a:ext cx="619125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</a:p>
        </p:txBody>
      </p:sp>
      <p:sp>
        <p:nvSpPr>
          <p:cNvPr id="37046" name="Rectangle 182"/>
          <p:cNvSpPr>
            <a:spLocks noChangeArrowheads="1"/>
          </p:cNvSpPr>
          <p:nvPr/>
        </p:nvSpPr>
        <p:spPr bwMode="auto">
          <a:xfrm>
            <a:off x="152400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 err="1">
                <a:solidFill>
                  <a:srgbClr val="990000"/>
                </a:solidFill>
                <a:latin typeface="Calibri" pitchFamily="34" charset="0"/>
              </a:rPr>
              <a:t>Idx</a:t>
            </a:r>
            <a:endParaRPr lang="en-GB" sz="14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7" name="Line 183"/>
          <p:cNvSpPr>
            <a:spLocks noChangeShapeType="1"/>
          </p:cNvSpPr>
          <p:nvPr/>
        </p:nvSpPr>
        <p:spPr bwMode="auto">
          <a:xfrm>
            <a:off x="152400" y="4357688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37048" name="Line 184"/>
          <p:cNvSpPr>
            <a:spLocks noChangeShapeType="1"/>
          </p:cNvSpPr>
          <p:nvPr/>
        </p:nvSpPr>
        <p:spPr bwMode="auto">
          <a:xfrm>
            <a:off x="152400" y="4638675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49" name="Line 185"/>
          <p:cNvSpPr>
            <a:spLocks noChangeShapeType="1"/>
          </p:cNvSpPr>
          <p:nvPr/>
        </p:nvSpPr>
        <p:spPr bwMode="auto">
          <a:xfrm>
            <a:off x="152400" y="4919663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0" name="Line 186"/>
          <p:cNvSpPr>
            <a:spLocks noChangeShapeType="1"/>
          </p:cNvSpPr>
          <p:nvPr/>
        </p:nvSpPr>
        <p:spPr bwMode="auto">
          <a:xfrm>
            <a:off x="152400" y="5200650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1" name="Line 187"/>
          <p:cNvSpPr>
            <a:spLocks noChangeShapeType="1"/>
          </p:cNvSpPr>
          <p:nvPr/>
        </p:nvSpPr>
        <p:spPr bwMode="auto">
          <a:xfrm>
            <a:off x="152400" y="5484812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2" name="Line 188"/>
          <p:cNvSpPr>
            <a:spLocks noChangeShapeType="1"/>
          </p:cNvSpPr>
          <p:nvPr/>
        </p:nvSpPr>
        <p:spPr bwMode="auto">
          <a:xfrm>
            <a:off x="152400" y="5788025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3" name="Line 189"/>
          <p:cNvSpPr>
            <a:spLocks noChangeShapeType="1"/>
          </p:cNvSpPr>
          <p:nvPr/>
        </p:nvSpPr>
        <p:spPr bwMode="auto">
          <a:xfrm>
            <a:off x="152400" y="6069013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4" name="Line 190"/>
          <p:cNvSpPr>
            <a:spLocks noChangeShapeType="1"/>
          </p:cNvSpPr>
          <p:nvPr/>
        </p:nvSpPr>
        <p:spPr bwMode="auto">
          <a:xfrm>
            <a:off x="152400" y="6350000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5" name="Line 191"/>
          <p:cNvSpPr>
            <a:spLocks noChangeShapeType="1"/>
          </p:cNvSpPr>
          <p:nvPr/>
        </p:nvSpPr>
        <p:spPr bwMode="auto">
          <a:xfrm>
            <a:off x="773113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6" name="Line 192"/>
          <p:cNvSpPr>
            <a:spLocks noChangeShapeType="1"/>
          </p:cNvSpPr>
          <p:nvPr/>
        </p:nvSpPr>
        <p:spPr bwMode="auto">
          <a:xfrm>
            <a:off x="1392238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7" name="Line 193"/>
          <p:cNvSpPr>
            <a:spLocks noChangeShapeType="1"/>
          </p:cNvSpPr>
          <p:nvPr/>
        </p:nvSpPr>
        <p:spPr bwMode="auto">
          <a:xfrm>
            <a:off x="2012950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8" name="Line 194"/>
          <p:cNvSpPr>
            <a:spLocks noChangeShapeType="1"/>
          </p:cNvSpPr>
          <p:nvPr/>
        </p:nvSpPr>
        <p:spPr bwMode="auto">
          <a:xfrm>
            <a:off x="2635250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59" name="Line 195"/>
          <p:cNvSpPr>
            <a:spLocks noChangeShapeType="1"/>
          </p:cNvSpPr>
          <p:nvPr/>
        </p:nvSpPr>
        <p:spPr bwMode="auto">
          <a:xfrm>
            <a:off x="3255963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60" name="Line 196"/>
          <p:cNvSpPr>
            <a:spLocks noChangeShapeType="1"/>
          </p:cNvSpPr>
          <p:nvPr/>
        </p:nvSpPr>
        <p:spPr bwMode="auto">
          <a:xfrm>
            <a:off x="3875088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67" name="Line 203"/>
          <p:cNvSpPr>
            <a:spLocks noChangeShapeType="1"/>
          </p:cNvSpPr>
          <p:nvPr/>
        </p:nvSpPr>
        <p:spPr bwMode="auto">
          <a:xfrm>
            <a:off x="152400" y="4076700"/>
            <a:ext cx="1588" cy="25542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069" name="Line 205"/>
          <p:cNvSpPr>
            <a:spLocks noChangeShapeType="1"/>
          </p:cNvSpPr>
          <p:nvPr/>
        </p:nvSpPr>
        <p:spPr bwMode="auto">
          <a:xfrm>
            <a:off x="152400" y="4076700"/>
            <a:ext cx="4325112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37071" name="Line 207"/>
          <p:cNvSpPr>
            <a:spLocks noChangeShapeType="1"/>
          </p:cNvSpPr>
          <p:nvPr/>
        </p:nvSpPr>
        <p:spPr bwMode="auto">
          <a:xfrm>
            <a:off x="152400" y="6630988"/>
            <a:ext cx="4325112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9" name="Line 203"/>
          <p:cNvSpPr>
            <a:spLocks noChangeShapeType="1"/>
          </p:cNvSpPr>
          <p:nvPr/>
        </p:nvSpPr>
        <p:spPr bwMode="auto">
          <a:xfrm>
            <a:off x="4487333" y="4083579"/>
            <a:ext cx="1588" cy="25542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" name="Rectangle 57"/>
          <p:cNvSpPr>
            <a:spLocks noChangeArrowheads="1"/>
          </p:cNvSpPr>
          <p:nvPr/>
        </p:nvSpPr>
        <p:spPr bwMode="auto">
          <a:xfrm>
            <a:off x="8370888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11" name="Rectangle 58"/>
          <p:cNvSpPr>
            <a:spLocks noChangeArrowheads="1"/>
          </p:cNvSpPr>
          <p:nvPr/>
        </p:nvSpPr>
        <p:spPr bwMode="auto">
          <a:xfrm>
            <a:off x="7751763" y="635000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12" name="Rectangle 59"/>
          <p:cNvSpPr>
            <a:spLocks noChangeArrowheads="1"/>
          </p:cNvSpPr>
          <p:nvPr/>
        </p:nvSpPr>
        <p:spPr bwMode="auto">
          <a:xfrm>
            <a:off x="7131050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13" name="Rectangle 60"/>
          <p:cNvSpPr>
            <a:spLocks noChangeArrowheads="1"/>
          </p:cNvSpPr>
          <p:nvPr/>
        </p:nvSpPr>
        <p:spPr bwMode="auto">
          <a:xfrm>
            <a:off x="6508750" y="6350000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14" name="Rectangle 61"/>
          <p:cNvSpPr>
            <a:spLocks noChangeArrowheads="1"/>
          </p:cNvSpPr>
          <p:nvPr/>
        </p:nvSpPr>
        <p:spPr bwMode="auto">
          <a:xfrm>
            <a:off x="5888038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215" name="Rectangle 62"/>
          <p:cNvSpPr>
            <a:spLocks noChangeArrowheads="1"/>
          </p:cNvSpPr>
          <p:nvPr/>
        </p:nvSpPr>
        <p:spPr bwMode="auto">
          <a:xfrm>
            <a:off x="5268913" y="635000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14</a:t>
            </a:r>
          </a:p>
        </p:txBody>
      </p:sp>
      <p:sp>
        <p:nvSpPr>
          <p:cNvPr id="216" name="Rectangle 63"/>
          <p:cNvSpPr>
            <a:spLocks noChangeArrowheads="1"/>
          </p:cNvSpPr>
          <p:nvPr/>
        </p:nvSpPr>
        <p:spPr bwMode="auto">
          <a:xfrm>
            <a:off x="4648200" y="635000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F</a:t>
            </a:r>
          </a:p>
        </p:txBody>
      </p:sp>
      <p:sp>
        <p:nvSpPr>
          <p:cNvPr id="217" name="Rectangle 71"/>
          <p:cNvSpPr>
            <a:spLocks noChangeArrowheads="1"/>
          </p:cNvSpPr>
          <p:nvPr/>
        </p:nvSpPr>
        <p:spPr bwMode="auto">
          <a:xfrm>
            <a:off x="8370888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D3</a:t>
            </a:r>
          </a:p>
        </p:txBody>
      </p:sp>
      <p:sp>
        <p:nvSpPr>
          <p:cNvPr id="218" name="Rectangle 72"/>
          <p:cNvSpPr>
            <a:spLocks noChangeArrowheads="1"/>
          </p:cNvSpPr>
          <p:nvPr/>
        </p:nvSpPr>
        <p:spPr bwMode="auto">
          <a:xfrm>
            <a:off x="7751763" y="606901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1B</a:t>
            </a:r>
          </a:p>
        </p:txBody>
      </p:sp>
      <p:sp>
        <p:nvSpPr>
          <p:cNvPr id="219" name="Rectangle 73"/>
          <p:cNvSpPr>
            <a:spLocks noChangeArrowheads="1"/>
          </p:cNvSpPr>
          <p:nvPr/>
        </p:nvSpPr>
        <p:spPr bwMode="auto">
          <a:xfrm>
            <a:off x="7131050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77</a:t>
            </a:r>
          </a:p>
        </p:txBody>
      </p:sp>
      <p:sp>
        <p:nvSpPr>
          <p:cNvPr id="220" name="Rectangle 74"/>
          <p:cNvSpPr>
            <a:spLocks noChangeArrowheads="1"/>
          </p:cNvSpPr>
          <p:nvPr/>
        </p:nvSpPr>
        <p:spPr bwMode="auto">
          <a:xfrm>
            <a:off x="6508750" y="6069013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83</a:t>
            </a:r>
          </a:p>
        </p:txBody>
      </p:sp>
      <p:sp>
        <p:nvSpPr>
          <p:cNvPr id="221" name="Rectangle 75"/>
          <p:cNvSpPr>
            <a:spLocks noChangeArrowheads="1"/>
          </p:cNvSpPr>
          <p:nvPr/>
        </p:nvSpPr>
        <p:spPr bwMode="auto">
          <a:xfrm>
            <a:off x="5888038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222" name="Rectangle 76"/>
          <p:cNvSpPr>
            <a:spLocks noChangeArrowheads="1"/>
          </p:cNvSpPr>
          <p:nvPr/>
        </p:nvSpPr>
        <p:spPr bwMode="auto">
          <a:xfrm>
            <a:off x="5268913" y="6069013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13</a:t>
            </a:r>
          </a:p>
        </p:txBody>
      </p:sp>
      <p:sp>
        <p:nvSpPr>
          <p:cNvPr id="223" name="Rectangle 77"/>
          <p:cNvSpPr>
            <a:spLocks noChangeArrowheads="1"/>
          </p:cNvSpPr>
          <p:nvPr/>
        </p:nvSpPr>
        <p:spPr bwMode="auto">
          <a:xfrm>
            <a:off x="4648200" y="6069013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E</a:t>
            </a:r>
          </a:p>
        </p:txBody>
      </p:sp>
      <p:sp>
        <p:nvSpPr>
          <p:cNvPr id="224" name="Rectangle 85"/>
          <p:cNvSpPr>
            <a:spLocks noChangeArrowheads="1"/>
          </p:cNvSpPr>
          <p:nvPr/>
        </p:nvSpPr>
        <p:spPr bwMode="auto">
          <a:xfrm>
            <a:off x="8370888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15</a:t>
            </a:r>
          </a:p>
        </p:txBody>
      </p:sp>
      <p:sp>
        <p:nvSpPr>
          <p:cNvPr id="225" name="Rectangle 86"/>
          <p:cNvSpPr>
            <a:spLocks noChangeArrowheads="1"/>
          </p:cNvSpPr>
          <p:nvPr/>
        </p:nvSpPr>
        <p:spPr bwMode="auto">
          <a:xfrm>
            <a:off x="7751763" y="578802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34</a:t>
            </a:r>
          </a:p>
        </p:txBody>
      </p:sp>
      <p:sp>
        <p:nvSpPr>
          <p:cNvPr id="226" name="Rectangle 87"/>
          <p:cNvSpPr>
            <a:spLocks noChangeArrowheads="1"/>
          </p:cNvSpPr>
          <p:nvPr/>
        </p:nvSpPr>
        <p:spPr bwMode="auto">
          <a:xfrm>
            <a:off x="7131050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96</a:t>
            </a:r>
          </a:p>
        </p:txBody>
      </p:sp>
      <p:sp>
        <p:nvSpPr>
          <p:cNvPr id="227" name="Rectangle 88"/>
          <p:cNvSpPr>
            <a:spLocks noChangeArrowheads="1"/>
          </p:cNvSpPr>
          <p:nvPr/>
        </p:nvSpPr>
        <p:spPr bwMode="auto">
          <a:xfrm>
            <a:off x="6508750" y="5788025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04</a:t>
            </a:r>
          </a:p>
        </p:txBody>
      </p:sp>
      <p:sp>
        <p:nvSpPr>
          <p:cNvPr id="228" name="Rectangle 89"/>
          <p:cNvSpPr>
            <a:spLocks noChangeArrowheads="1"/>
          </p:cNvSpPr>
          <p:nvPr/>
        </p:nvSpPr>
        <p:spPr bwMode="auto">
          <a:xfrm>
            <a:off x="5888038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229" name="Rectangle 90"/>
          <p:cNvSpPr>
            <a:spLocks noChangeArrowheads="1"/>
          </p:cNvSpPr>
          <p:nvPr/>
        </p:nvSpPr>
        <p:spPr bwMode="auto">
          <a:xfrm>
            <a:off x="5268913" y="578802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16</a:t>
            </a:r>
          </a:p>
        </p:txBody>
      </p:sp>
      <p:sp>
        <p:nvSpPr>
          <p:cNvPr id="230" name="Rectangle 91"/>
          <p:cNvSpPr>
            <a:spLocks noChangeArrowheads="1"/>
          </p:cNvSpPr>
          <p:nvPr/>
        </p:nvSpPr>
        <p:spPr bwMode="auto">
          <a:xfrm>
            <a:off x="4648200" y="578802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D</a:t>
            </a:r>
          </a:p>
        </p:txBody>
      </p:sp>
      <p:sp>
        <p:nvSpPr>
          <p:cNvPr id="231" name="Rectangle 99"/>
          <p:cNvSpPr>
            <a:spLocks noChangeArrowheads="1"/>
          </p:cNvSpPr>
          <p:nvPr/>
        </p:nvSpPr>
        <p:spPr bwMode="auto">
          <a:xfrm>
            <a:off x="8370888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2" name="Rectangle 100"/>
          <p:cNvSpPr>
            <a:spLocks noChangeArrowheads="1"/>
          </p:cNvSpPr>
          <p:nvPr/>
        </p:nvSpPr>
        <p:spPr bwMode="auto">
          <a:xfrm>
            <a:off x="7751763" y="5481638"/>
            <a:ext cx="619125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3" name="Rectangle 101"/>
          <p:cNvSpPr>
            <a:spLocks noChangeArrowheads="1"/>
          </p:cNvSpPr>
          <p:nvPr/>
        </p:nvSpPr>
        <p:spPr bwMode="auto">
          <a:xfrm>
            <a:off x="7131050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4" name="Rectangle 102"/>
          <p:cNvSpPr>
            <a:spLocks noChangeArrowheads="1"/>
          </p:cNvSpPr>
          <p:nvPr/>
        </p:nvSpPr>
        <p:spPr bwMode="auto">
          <a:xfrm>
            <a:off x="6508750" y="5481638"/>
            <a:ext cx="622300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5" name="Rectangle 103"/>
          <p:cNvSpPr>
            <a:spLocks noChangeArrowheads="1"/>
          </p:cNvSpPr>
          <p:nvPr/>
        </p:nvSpPr>
        <p:spPr bwMode="auto">
          <a:xfrm>
            <a:off x="5888038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236" name="Rectangle 104"/>
          <p:cNvSpPr>
            <a:spLocks noChangeArrowheads="1"/>
          </p:cNvSpPr>
          <p:nvPr/>
        </p:nvSpPr>
        <p:spPr bwMode="auto">
          <a:xfrm>
            <a:off x="5268913" y="5481638"/>
            <a:ext cx="619125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12</a:t>
            </a:r>
          </a:p>
        </p:txBody>
      </p:sp>
      <p:sp>
        <p:nvSpPr>
          <p:cNvPr id="237" name="Rectangle 105"/>
          <p:cNvSpPr>
            <a:spLocks noChangeArrowheads="1"/>
          </p:cNvSpPr>
          <p:nvPr/>
        </p:nvSpPr>
        <p:spPr bwMode="auto">
          <a:xfrm>
            <a:off x="4648200" y="5481638"/>
            <a:ext cx="620713" cy="3063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C</a:t>
            </a:r>
          </a:p>
        </p:txBody>
      </p:sp>
      <p:sp>
        <p:nvSpPr>
          <p:cNvPr id="238" name="Rectangle 113"/>
          <p:cNvSpPr>
            <a:spLocks noChangeArrowheads="1"/>
          </p:cNvSpPr>
          <p:nvPr/>
        </p:nvSpPr>
        <p:spPr bwMode="auto">
          <a:xfrm>
            <a:off x="8370888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39" name="Rectangle 114"/>
          <p:cNvSpPr>
            <a:spLocks noChangeArrowheads="1"/>
          </p:cNvSpPr>
          <p:nvPr/>
        </p:nvSpPr>
        <p:spPr bwMode="auto">
          <a:xfrm>
            <a:off x="7751763" y="520065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40" name="Rectangle 115"/>
          <p:cNvSpPr>
            <a:spLocks noChangeArrowheads="1"/>
          </p:cNvSpPr>
          <p:nvPr/>
        </p:nvSpPr>
        <p:spPr bwMode="auto">
          <a:xfrm>
            <a:off x="7131050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41" name="Rectangle 116"/>
          <p:cNvSpPr>
            <a:spLocks noChangeArrowheads="1"/>
          </p:cNvSpPr>
          <p:nvPr/>
        </p:nvSpPr>
        <p:spPr bwMode="auto">
          <a:xfrm>
            <a:off x="6508750" y="5200650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42" name="Rectangle 117"/>
          <p:cNvSpPr>
            <a:spLocks noChangeArrowheads="1"/>
          </p:cNvSpPr>
          <p:nvPr/>
        </p:nvSpPr>
        <p:spPr bwMode="auto">
          <a:xfrm>
            <a:off x="5888038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243" name="Rectangle 118"/>
          <p:cNvSpPr>
            <a:spLocks noChangeArrowheads="1"/>
          </p:cNvSpPr>
          <p:nvPr/>
        </p:nvSpPr>
        <p:spPr bwMode="auto">
          <a:xfrm>
            <a:off x="5268913" y="5200650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0B</a:t>
            </a:r>
          </a:p>
        </p:txBody>
      </p:sp>
      <p:sp>
        <p:nvSpPr>
          <p:cNvPr id="244" name="Rectangle 119"/>
          <p:cNvSpPr>
            <a:spLocks noChangeArrowheads="1"/>
          </p:cNvSpPr>
          <p:nvPr/>
        </p:nvSpPr>
        <p:spPr bwMode="auto">
          <a:xfrm>
            <a:off x="4648200" y="5200650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B</a:t>
            </a:r>
          </a:p>
        </p:txBody>
      </p:sp>
      <p:sp>
        <p:nvSpPr>
          <p:cNvPr id="245" name="Rectangle 127"/>
          <p:cNvSpPr>
            <a:spLocks noChangeArrowheads="1"/>
          </p:cNvSpPr>
          <p:nvPr/>
        </p:nvSpPr>
        <p:spPr bwMode="auto">
          <a:xfrm>
            <a:off x="8370888" y="4919663"/>
            <a:ext cx="620713" cy="280988"/>
          </a:xfrm>
          <a:prstGeom prst="rect">
            <a:avLst/>
          </a:prstGeom>
          <a:solidFill>
            <a:srgbClr val="F6D2D2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3B</a:t>
            </a:r>
          </a:p>
        </p:txBody>
      </p:sp>
      <p:sp>
        <p:nvSpPr>
          <p:cNvPr id="246" name="Rectangle 128"/>
          <p:cNvSpPr>
            <a:spLocks noChangeArrowheads="1"/>
          </p:cNvSpPr>
          <p:nvPr/>
        </p:nvSpPr>
        <p:spPr bwMode="auto">
          <a:xfrm>
            <a:off x="7751763" y="4919663"/>
            <a:ext cx="619125" cy="280988"/>
          </a:xfrm>
          <a:prstGeom prst="rect">
            <a:avLst/>
          </a:prstGeom>
          <a:solidFill>
            <a:srgbClr val="F6D2D2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</a:t>
            </a:r>
          </a:p>
        </p:txBody>
      </p:sp>
      <p:sp>
        <p:nvSpPr>
          <p:cNvPr id="247" name="Rectangle 129"/>
          <p:cNvSpPr>
            <a:spLocks noChangeArrowheads="1"/>
          </p:cNvSpPr>
          <p:nvPr/>
        </p:nvSpPr>
        <p:spPr bwMode="auto">
          <a:xfrm>
            <a:off x="7131050" y="4919663"/>
            <a:ext cx="620713" cy="280988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15</a:t>
            </a:r>
          </a:p>
        </p:txBody>
      </p:sp>
      <p:sp>
        <p:nvSpPr>
          <p:cNvPr id="248" name="Rectangle 130"/>
          <p:cNvSpPr>
            <a:spLocks noChangeArrowheads="1"/>
          </p:cNvSpPr>
          <p:nvPr/>
        </p:nvSpPr>
        <p:spPr bwMode="auto">
          <a:xfrm>
            <a:off x="6508750" y="4919663"/>
            <a:ext cx="622300" cy="280988"/>
          </a:xfrm>
          <a:prstGeom prst="rect">
            <a:avLst/>
          </a:prstGeom>
          <a:solidFill>
            <a:srgbClr val="F6D2D2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93</a:t>
            </a:r>
          </a:p>
        </p:txBody>
      </p:sp>
      <p:sp>
        <p:nvSpPr>
          <p:cNvPr id="249" name="Rectangle 131"/>
          <p:cNvSpPr>
            <a:spLocks noChangeArrowheads="1"/>
          </p:cNvSpPr>
          <p:nvPr/>
        </p:nvSpPr>
        <p:spPr bwMode="auto">
          <a:xfrm>
            <a:off x="5888038" y="4919663"/>
            <a:ext cx="620713" cy="280988"/>
          </a:xfrm>
          <a:prstGeom prst="rect">
            <a:avLst/>
          </a:prstGeom>
          <a:solidFill>
            <a:srgbClr val="F6D2D2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250" name="Rectangle 132"/>
          <p:cNvSpPr>
            <a:spLocks noChangeArrowheads="1"/>
          </p:cNvSpPr>
          <p:nvPr/>
        </p:nvSpPr>
        <p:spPr bwMode="auto">
          <a:xfrm>
            <a:off x="5268913" y="4919663"/>
            <a:ext cx="619125" cy="280988"/>
          </a:xfrm>
          <a:prstGeom prst="rect">
            <a:avLst/>
          </a:prstGeom>
          <a:solidFill>
            <a:srgbClr val="F6D2D2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70C0"/>
                </a:solidFill>
                <a:latin typeface="Calibri" pitchFamily="34" charset="0"/>
              </a:rPr>
              <a:t>2D</a:t>
            </a:r>
          </a:p>
        </p:txBody>
      </p:sp>
      <p:sp>
        <p:nvSpPr>
          <p:cNvPr id="251" name="Rectangle 133"/>
          <p:cNvSpPr>
            <a:spLocks noChangeArrowheads="1"/>
          </p:cNvSpPr>
          <p:nvPr/>
        </p:nvSpPr>
        <p:spPr bwMode="auto">
          <a:xfrm>
            <a:off x="4648200" y="4919663"/>
            <a:ext cx="620713" cy="280988"/>
          </a:xfrm>
          <a:prstGeom prst="rect">
            <a:avLst/>
          </a:prstGeom>
          <a:solidFill>
            <a:srgbClr val="F6D2D2"/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B050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252" name="Rectangle 141"/>
          <p:cNvSpPr>
            <a:spLocks noChangeArrowheads="1"/>
          </p:cNvSpPr>
          <p:nvPr/>
        </p:nvSpPr>
        <p:spPr bwMode="auto">
          <a:xfrm>
            <a:off x="8370888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53" name="Rectangle 142"/>
          <p:cNvSpPr>
            <a:spLocks noChangeArrowheads="1"/>
          </p:cNvSpPr>
          <p:nvPr/>
        </p:nvSpPr>
        <p:spPr bwMode="auto">
          <a:xfrm>
            <a:off x="7751763" y="463867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54" name="Rectangle 143"/>
          <p:cNvSpPr>
            <a:spLocks noChangeArrowheads="1"/>
          </p:cNvSpPr>
          <p:nvPr/>
        </p:nvSpPr>
        <p:spPr bwMode="auto">
          <a:xfrm>
            <a:off x="7131050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55" name="Rectangle 144"/>
          <p:cNvSpPr>
            <a:spLocks noChangeArrowheads="1"/>
          </p:cNvSpPr>
          <p:nvPr/>
        </p:nvSpPr>
        <p:spPr bwMode="auto">
          <a:xfrm>
            <a:off x="6508750" y="4638675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–</a:t>
            </a:r>
          </a:p>
        </p:txBody>
      </p:sp>
      <p:sp>
        <p:nvSpPr>
          <p:cNvPr id="256" name="Rectangle 145"/>
          <p:cNvSpPr>
            <a:spLocks noChangeArrowheads="1"/>
          </p:cNvSpPr>
          <p:nvPr/>
        </p:nvSpPr>
        <p:spPr bwMode="auto">
          <a:xfrm>
            <a:off x="5888038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</a:t>
            </a:r>
          </a:p>
        </p:txBody>
      </p:sp>
      <p:sp>
        <p:nvSpPr>
          <p:cNvPr id="257" name="Rectangle 146"/>
          <p:cNvSpPr>
            <a:spLocks noChangeArrowheads="1"/>
          </p:cNvSpPr>
          <p:nvPr/>
        </p:nvSpPr>
        <p:spPr bwMode="auto">
          <a:xfrm>
            <a:off x="5268913" y="4638675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2D</a:t>
            </a:r>
          </a:p>
        </p:txBody>
      </p:sp>
      <p:sp>
        <p:nvSpPr>
          <p:cNvPr id="258" name="Rectangle 147"/>
          <p:cNvSpPr>
            <a:spLocks noChangeArrowheads="1"/>
          </p:cNvSpPr>
          <p:nvPr/>
        </p:nvSpPr>
        <p:spPr bwMode="auto">
          <a:xfrm>
            <a:off x="4648200" y="4638675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259" name="Rectangle 155"/>
          <p:cNvSpPr>
            <a:spLocks noChangeArrowheads="1"/>
          </p:cNvSpPr>
          <p:nvPr/>
        </p:nvSpPr>
        <p:spPr bwMode="auto">
          <a:xfrm>
            <a:off x="8370888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89</a:t>
            </a:r>
          </a:p>
        </p:txBody>
      </p:sp>
      <p:sp>
        <p:nvSpPr>
          <p:cNvPr id="260" name="Rectangle 156"/>
          <p:cNvSpPr>
            <a:spLocks noChangeArrowheads="1"/>
          </p:cNvSpPr>
          <p:nvPr/>
        </p:nvSpPr>
        <p:spPr bwMode="auto">
          <a:xfrm>
            <a:off x="7751763" y="4357688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51</a:t>
            </a:r>
          </a:p>
        </p:txBody>
      </p:sp>
      <p:sp>
        <p:nvSpPr>
          <p:cNvPr id="261" name="Rectangle 157"/>
          <p:cNvSpPr>
            <a:spLocks noChangeArrowheads="1"/>
          </p:cNvSpPr>
          <p:nvPr/>
        </p:nvSpPr>
        <p:spPr bwMode="auto">
          <a:xfrm>
            <a:off x="7131050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00</a:t>
            </a:r>
          </a:p>
        </p:txBody>
      </p:sp>
      <p:sp>
        <p:nvSpPr>
          <p:cNvPr id="262" name="Rectangle 158"/>
          <p:cNvSpPr>
            <a:spLocks noChangeArrowheads="1"/>
          </p:cNvSpPr>
          <p:nvPr/>
        </p:nvSpPr>
        <p:spPr bwMode="auto">
          <a:xfrm>
            <a:off x="6508750" y="4357688"/>
            <a:ext cx="622300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3A</a:t>
            </a:r>
          </a:p>
        </p:txBody>
      </p:sp>
      <p:sp>
        <p:nvSpPr>
          <p:cNvPr id="263" name="Rectangle 159"/>
          <p:cNvSpPr>
            <a:spLocks noChangeArrowheads="1"/>
          </p:cNvSpPr>
          <p:nvPr/>
        </p:nvSpPr>
        <p:spPr bwMode="auto">
          <a:xfrm>
            <a:off x="5888038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</a:t>
            </a:r>
          </a:p>
        </p:txBody>
      </p:sp>
      <p:sp>
        <p:nvSpPr>
          <p:cNvPr id="264" name="Rectangle 160"/>
          <p:cNvSpPr>
            <a:spLocks noChangeArrowheads="1"/>
          </p:cNvSpPr>
          <p:nvPr/>
        </p:nvSpPr>
        <p:spPr bwMode="auto">
          <a:xfrm>
            <a:off x="5268913" y="4357688"/>
            <a:ext cx="619125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24</a:t>
            </a:r>
          </a:p>
        </p:txBody>
      </p:sp>
      <p:sp>
        <p:nvSpPr>
          <p:cNvPr id="265" name="Rectangle 161"/>
          <p:cNvSpPr>
            <a:spLocks noChangeArrowheads="1"/>
          </p:cNvSpPr>
          <p:nvPr/>
        </p:nvSpPr>
        <p:spPr bwMode="auto">
          <a:xfrm>
            <a:off x="4648200" y="4357688"/>
            <a:ext cx="620713" cy="280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9900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266" name="Rectangle 169"/>
          <p:cNvSpPr>
            <a:spLocks noChangeArrowheads="1"/>
          </p:cNvSpPr>
          <p:nvPr/>
        </p:nvSpPr>
        <p:spPr bwMode="auto">
          <a:xfrm>
            <a:off x="8370888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B3</a:t>
            </a:r>
          </a:p>
        </p:txBody>
      </p:sp>
      <p:sp>
        <p:nvSpPr>
          <p:cNvPr id="267" name="Rectangle 170"/>
          <p:cNvSpPr>
            <a:spLocks noChangeArrowheads="1"/>
          </p:cNvSpPr>
          <p:nvPr/>
        </p:nvSpPr>
        <p:spPr bwMode="auto">
          <a:xfrm>
            <a:off x="7751763" y="4076700"/>
            <a:ext cx="619125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B2</a:t>
            </a:r>
          </a:p>
        </p:txBody>
      </p:sp>
      <p:sp>
        <p:nvSpPr>
          <p:cNvPr id="268" name="Rectangle 171"/>
          <p:cNvSpPr>
            <a:spLocks noChangeArrowheads="1"/>
          </p:cNvSpPr>
          <p:nvPr/>
        </p:nvSpPr>
        <p:spPr bwMode="auto">
          <a:xfrm>
            <a:off x="7131050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00B0F0"/>
                </a:solidFill>
                <a:latin typeface="Calibri" pitchFamily="34" charset="0"/>
              </a:rPr>
              <a:t>B1</a:t>
            </a:r>
          </a:p>
        </p:txBody>
      </p:sp>
      <p:sp>
        <p:nvSpPr>
          <p:cNvPr id="269" name="Rectangle 172"/>
          <p:cNvSpPr>
            <a:spLocks noChangeArrowheads="1"/>
          </p:cNvSpPr>
          <p:nvPr/>
        </p:nvSpPr>
        <p:spPr bwMode="auto">
          <a:xfrm>
            <a:off x="6508750" y="4076700"/>
            <a:ext cx="622300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B0</a:t>
            </a:r>
          </a:p>
        </p:txBody>
      </p:sp>
      <p:sp>
        <p:nvSpPr>
          <p:cNvPr id="270" name="Rectangle 173"/>
          <p:cNvSpPr>
            <a:spLocks noChangeArrowheads="1"/>
          </p:cNvSpPr>
          <p:nvPr/>
        </p:nvSpPr>
        <p:spPr bwMode="auto">
          <a:xfrm>
            <a:off x="5888038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271" name="Rectangle 174"/>
          <p:cNvSpPr>
            <a:spLocks noChangeArrowheads="1"/>
          </p:cNvSpPr>
          <p:nvPr/>
        </p:nvSpPr>
        <p:spPr bwMode="auto">
          <a:xfrm>
            <a:off x="5268913" y="4076700"/>
            <a:ext cx="619125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</a:p>
        </p:txBody>
      </p:sp>
      <p:sp>
        <p:nvSpPr>
          <p:cNvPr id="272" name="Rectangle 175"/>
          <p:cNvSpPr>
            <a:spLocks noChangeArrowheads="1"/>
          </p:cNvSpPr>
          <p:nvPr/>
        </p:nvSpPr>
        <p:spPr bwMode="auto">
          <a:xfrm>
            <a:off x="4648200" y="4076700"/>
            <a:ext cx="620713" cy="280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algn="ctr" eaLnBrk="1" hangingPunct="1">
              <a:spcBef>
                <a:spcPts val="8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 err="1">
                <a:solidFill>
                  <a:srgbClr val="990000"/>
                </a:solidFill>
                <a:latin typeface="Calibri" pitchFamily="34" charset="0"/>
              </a:rPr>
              <a:t>Idx</a:t>
            </a:r>
            <a:endParaRPr lang="en-GB" sz="14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73" name="Line 183"/>
          <p:cNvSpPr>
            <a:spLocks noChangeShapeType="1"/>
          </p:cNvSpPr>
          <p:nvPr/>
        </p:nvSpPr>
        <p:spPr bwMode="auto">
          <a:xfrm>
            <a:off x="4666488" y="4357688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274" name="Line 184"/>
          <p:cNvSpPr>
            <a:spLocks noChangeShapeType="1"/>
          </p:cNvSpPr>
          <p:nvPr/>
        </p:nvSpPr>
        <p:spPr bwMode="auto">
          <a:xfrm>
            <a:off x="4666488" y="4638675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5" name="Line 185"/>
          <p:cNvSpPr>
            <a:spLocks noChangeShapeType="1"/>
          </p:cNvSpPr>
          <p:nvPr/>
        </p:nvSpPr>
        <p:spPr bwMode="auto">
          <a:xfrm>
            <a:off x="4666488" y="4919663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" name="Line 186"/>
          <p:cNvSpPr>
            <a:spLocks noChangeShapeType="1"/>
          </p:cNvSpPr>
          <p:nvPr/>
        </p:nvSpPr>
        <p:spPr bwMode="auto">
          <a:xfrm>
            <a:off x="4666488" y="5200650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7" name="Line 187"/>
          <p:cNvSpPr>
            <a:spLocks noChangeShapeType="1"/>
          </p:cNvSpPr>
          <p:nvPr/>
        </p:nvSpPr>
        <p:spPr bwMode="auto">
          <a:xfrm>
            <a:off x="4666488" y="5484812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8" name="Line 188"/>
          <p:cNvSpPr>
            <a:spLocks noChangeShapeType="1"/>
          </p:cNvSpPr>
          <p:nvPr/>
        </p:nvSpPr>
        <p:spPr bwMode="auto">
          <a:xfrm>
            <a:off x="4666488" y="5788025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9" name="Line 189"/>
          <p:cNvSpPr>
            <a:spLocks noChangeShapeType="1"/>
          </p:cNvSpPr>
          <p:nvPr/>
        </p:nvSpPr>
        <p:spPr bwMode="auto">
          <a:xfrm>
            <a:off x="4666488" y="6069013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0" name="Line 190"/>
          <p:cNvSpPr>
            <a:spLocks noChangeShapeType="1"/>
          </p:cNvSpPr>
          <p:nvPr/>
        </p:nvSpPr>
        <p:spPr bwMode="auto">
          <a:xfrm>
            <a:off x="4666488" y="6350000"/>
            <a:ext cx="4325112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1" name="Line 197"/>
          <p:cNvSpPr>
            <a:spLocks noChangeShapeType="1"/>
          </p:cNvSpPr>
          <p:nvPr/>
        </p:nvSpPr>
        <p:spPr bwMode="auto">
          <a:xfrm>
            <a:off x="5268913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2" name="Line 198"/>
          <p:cNvSpPr>
            <a:spLocks noChangeShapeType="1"/>
          </p:cNvSpPr>
          <p:nvPr/>
        </p:nvSpPr>
        <p:spPr bwMode="auto">
          <a:xfrm>
            <a:off x="5888038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3" name="Line 199"/>
          <p:cNvSpPr>
            <a:spLocks noChangeShapeType="1"/>
          </p:cNvSpPr>
          <p:nvPr/>
        </p:nvSpPr>
        <p:spPr bwMode="auto">
          <a:xfrm>
            <a:off x="6508750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4" name="Line 200"/>
          <p:cNvSpPr>
            <a:spLocks noChangeShapeType="1"/>
          </p:cNvSpPr>
          <p:nvPr/>
        </p:nvSpPr>
        <p:spPr bwMode="auto">
          <a:xfrm>
            <a:off x="7131050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5" name="Line 201"/>
          <p:cNvSpPr>
            <a:spLocks noChangeShapeType="1"/>
          </p:cNvSpPr>
          <p:nvPr/>
        </p:nvSpPr>
        <p:spPr bwMode="auto">
          <a:xfrm>
            <a:off x="7751763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" name="Line 202"/>
          <p:cNvSpPr>
            <a:spLocks noChangeShapeType="1"/>
          </p:cNvSpPr>
          <p:nvPr/>
        </p:nvSpPr>
        <p:spPr bwMode="auto">
          <a:xfrm>
            <a:off x="8370888" y="4076700"/>
            <a:ext cx="1588" cy="25542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7" name="Line 205"/>
          <p:cNvSpPr>
            <a:spLocks noChangeShapeType="1"/>
          </p:cNvSpPr>
          <p:nvPr/>
        </p:nvSpPr>
        <p:spPr bwMode="auto">
          <a:xfrm>
            <a:off x="4666488" y="4076700"/>
            <a:ext cx="4325112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i="1">
              <a:solidFill>
                <a:srgbClr val="990000"/>
              </a:solidFill>
            </a:endParaRPr>
          </a:p>
        </p:txBody>
      </p:sp>
      <p:sp>
        <p:nvSpPr>
          <p:cNvPr id="288" name="Line 206"/>
          <p:cNvSpPr>
            <a:spLocks noChangeShapeType="1"/>
          </p:cNvSpPr>
          <p:nvPr/>
        </p:nvSpPr>
        <p:spPr bwMode="auto">
          <a:xfrm>
            <a:off x="8991601" y="4076700"/>
            <a:ext cx="1588" cy="25542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9" name="Line 207"/>
          <p:cNvSpPr>
            <a:spLocks noChangeShapeType="1"/>
          </p:cNvSpPr>
          <p:nvPr/>
        </p:nvSpPr>
        <p:spPr bwMode="auto">
          <a:xfrm>
            <a:off x="4666488" y="6630988"/>
            <a:ext cx="4325112" cy="15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0" name="Line 206"/>
          <p:cNvSpPr>
            <a:spLocks noChangeShapeType="1"/>
          </p:cNvSpPr>
          <p:nvPr/>
        </p:nvSpPr>
        <p:spPr bwMode="auto">
          <a:xfrm>
            <a:off x="4648200" y="4083579"/>
            <a:ext cx="1588" cy="2554288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635503" y="3125787"/>
            <a:ext cx="2924172" cy="304800"/>
            <a:chOff x="4787903" y="3278187"/>
            <a:chExt cx="2924172" cy="304800"/>
          </a:xfrm>
        </p:grpSpPr>
        <p:sp>
          <p:nvSpPr>
            <p:cNvPr id="205" name="Rectangle 24"/>
            <p:cNvSpPr>
              <a:spLocks noChangeArrowheads="1"/>
            </p:cNvSpPr>
            <p:nvPr/>
          </p:nvSpPr>
          <p:spPr bwMode="auto">
            <a:xfrm>
              <a:off x="4787903" y="3278187"/>
              <a:ext cx="487363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206" name="Rectangle 27"/>
            <p:cNvSpPr>
              <a:spLocks noChangeArrowheads="1"/>
            </p:cNvSpPr>
            <p:nvPr/>
          </p:nvSpPr>
          <p:spPr bwMode="auto">
            <a:xfrm>
              <a:off x="5275266" y="3278187"/>
              <a:ext cx="487363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207" name="Rectangle 30"/>
            <p:cNvSpPr>
              <a:spLocks noChangeArrowheads="1"/>
            </p:cNvSpPr>
            <p:nvPr/>
          </p:nvSpPr>
          <p:spPr bwMode="auto">
            <a:xfrm>
              <a:off x="5762629" y="3278187"/>
              <a:ext cx="487363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208" name="Rectangle 33"/>
            <p:cNvSpPr>
              <a:spLocks noChangeArrowheads="1"/>
            </p:cNvSpPr>
            <p:nvPr/>
          </p:nvSpPr>
          <p:spPr bwMode="auto">
            <a:xfrm>
              <a:off x="6249991" y="3278187"/>
              <a:ext cx="487363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291" name="Rectangle 36"/>
            <p:cNvSpPr>
              <a:spLocks noChangeArrowheads="1"/>
            </p:cNvSpPr>
            <p:nvPr/>
          </p:nvSpPr>
          <p:spPr bwMode="auto">
            <a:xfrm>
              <a:off x="6737353" y="3278187"/>
              <a:ext cx="4873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292" name="Rectangle 39"/>
            <p:cNvSpPr>
              <a:spLocks noChangeArrowheads="1"/>
            </p:cNvSpPr>
            <p:nvPr/>
          </p:nvSpPr>
          <p:spPr bwMode="auto">
            <a:xfrm>
              <a:off x="7224712" y="3278187"/>
              <a:ext cx="4873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36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B0F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711325" y="1629578"/>
            <a:ext cx="6343233" cy="1496210"/>
            <a:chOff x="1711325" y="1629578"/>
            <a:chExt cx="6343233" cy="1496210"/>
          </a:xfrm>
        </p:grpSpPr>
        <p:sp>
          <p:nvSpPr>
            <p:cNvPr id="34" name="Rectangle 33"/>
            <p:cNvSpPr/>
            <p:nvPr/>
          </p:nvSpPr>
          <p:spPr bwMode="auto">
            <a:xfrm>
              <a:off x="7441170" y="1906799"/>
              <a:ext cx="542925" cy="369332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91000" y="1629578"/>
              <a:ext cx="38635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V[0b</a:t>
              </a:r>
              <a:r>
                <a:rPr lang="en-US" sz="1800" dirty="0">
                  <a:solidFill>
                    <a:srgbClr val="7030A0"/>
                  </a:solidFill>
                  <a:latin typeface="Calibri" pitchFamily="34" charset="0"/>
                </a:rPr>
                <a:t>00001101</a:t>
              </a:r>
              <a:r>
                <a:rPr lang="en-US" sz="1800" dirty="0">
                  <a:solidFill>
                    <a:srgbClr val="FFC000"/>
                  </a:solidFill>
                  <a:latin typeface="Calibri" pitchFamily="34" charset="0"/>
                </a:rPr>
                <a:t>101001</a:t>
              </a:r>
              <a:r>
                <a:rPr lang="en-US" sz="1800" dirty="0">
                  <a:latin typeface="Calibri" pitchFamily="34" charset="0"/>
                </a:rPr>
                <a:t>] = V[0x369]</a:t>
              </a:r>
            </a:p>
            <a:p>
              <a:r>
                <a:rPr lang="en-US" sz="1800" dirty="0">
                  <a:latin typeface="Calibri" pitchFamily="34" charset="0"/>
                </a:rPr>
                <a:t>P[0b</a:t>
              </a:r>
              <a:r>
                <a:rPr lang="en-US" sz="1800" dirty="0">
                  <a:solidFill>
                    <a:srgbClr val="0070C0"/>
                  </a:solidFill>
                  <a:latin typeface="Calibri" pitchFamily="34" charset="0"/>
                </a:rPr>
                <a:t>1011</a:t>
              </a:r>
              <a:r>
                <a:rPr lang="en-US" sz="1800" dirty="0">
                  <a:solidFill>
                    <a:srgbClr val="00B050"/>
                  </a:solidFill>
                  <a:latin typeface="Calibri" pitchFamily="34" charset="0"/>
                </a:rPr>
                <a:t>0110</a:t>
              </a:r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</a:rPr>
                <a:t>1001</a:t>
              </a:r>
              <a:r>
                <a:rPr lang="en-US" sz="1800" dirty="0">
                  <a:latin typeface="Calibri" pitchFamily="34" charset="0"/>
                </a:rPr>
                <a:t>] = P[0x</a:t>
              </a:r>
              <a:r>
                <a:rPr lang="en-US" sz="1800" dirty="0">
                  <a:solidFill>
                    <a:srgbClr val="0070C0"/>
                  </a:solidFill>
                  <a:latin typeface="Calibri" pitchFamily="34" charset="0"/>
                </a:rPr>
                <a:t>B</a:t>
              </a:r>
              <a:r>
                <a:rPr lang="en-US" sz="1800" dirty="0">
                  <a:solidFill>
                    <a:srgbClr val="00B050"/>
                  </a:solidFill>
                  <a:latin typeface="Calibri" pitchFamily="34" charset="0"/>
                </a:rPr>
                <a:t>6</a:t>
              </a:r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</a:rPr>
                <a:t>9</a:t>
              </a:r>
              <a:r>
                <a:rPr lang="en-US" sz="1800" dirty="0">
                  <a:latin typeface="Calibri" pitchFamily="34" charset="0"/>
                </a:rPr>
                <a:t>] = 0x15</a:t>
              </a: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 flipV="1">
              <a:off x="1711325" y="2209800"/>
              <a:ext cx="3013075" cy="915988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Straight Connector 292"/>
            <p:cNvCxnSpPr/>
            <p:nvPr/>
          </p:nvCxnSpPr>
          <p:spPr bwMode="auto">
            <a:xfrm flipV="1">
              <a:off x="3660777" y="2209800"/>
              <a:ext cx="1506537" cy="915988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4" name="Straight Connector 293"/>
            <p:cNvCxnSpPr/>
            <p:nvPr/>
          </p:nvCxnSpPr>
          <p:spPr bwMode="auto">
            <a:xfrm flipV="1">
              <a:off x="5610229" y="2209801"/>
              <a:ext cx="44447" cy="915987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5" name="Straight Connector 294"/>
            <p:cNvCxnSpPr/>
            <p:nvPr/>
          </p:nvCxnSpPr>
          <p:spPr bwMode="auto">
            <a:xfrm flipH="1" flipV="1">
              <a:off x="6097591" y="2209801"/>
              <a:ext cx="1479548" cy="915987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4724400" y="2209800"/>
              <a:ext cx="442914" cy="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6" name="Straight Connector 295"/>
            <p:cNvCxnSpPr/>
            <p:nvPr/>
          </p:nvCxnSpPr>
          <p:spPr bwMode="auto">
            <a:xfrm>
              <a:off x="5654676" y="2209800"/>
              <a:ext cx="442915" cy="0"/>
            </a:xfrm>
            <a:prstGeom prst="line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7" name="Straight Connector 296"/>
            <p:cNvCxnSpPr/>
            <p:nvPr/>
          </p:nvCxnSpPr>
          <p:spPr bwMode="auto">
            <a:xfrm>
              <a:off x="5167314" y="2209800"/>
              <a:ext cx="487362" cy="0"/>
            </a:xfrm>
            <a:prstGeom prst="line">
              <a:avLst/>
            </a:prstGeom>
            <a:noFill/>
            <a:ln w="254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61" name="Group 460"/>
          <p:cNvGrpSpPr/>
          <p:nvPr/>
        </p:nvGrpSpPr>
        <p:grpSpPr>
          <a:xfrm>
            <a:off x="152400" y="4076700"/>
            <a:ext cx="8840789" cy="2561167"/>
            <a:chOff x="152400" y="4076700"/>
            <a:chExt cx="8840789" cy="2561167"/>
          </a:xfrm>
          <a:solidFill>
            <a:schemeClr val="bg1"/>
          </a:solidFill>
        </p:grpSpPr>
        <p:sp>
          <p:nvSpPr>
            <p:cNvPr id="462" name="Rectangle 64"/>
            <p:cNvSpPr>
              <a:spLocks noChangeArrowheads="1"/>
            </p:cNvSpPr>
            <p:nvPr/>
          </p:nvSpPr>
          <p:spPr bwMode="auto">
            <a:xfrm>
              <a:off x="38750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463" name="Rectangle 65"/>
            <p:cNvSpPr>
              <a:spLocks noChangeArrowheads="1"/>
            </p:cNvSpPr>
            <p:nvPr/>
          </p:nvSpPr>
          <p:spPr bwMode="auto">
            <a:xfrm>
              <a:off x="32559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DF</a:t>
              </a:r>
            </a:p>
          </p:txBody>
        </p:sp>
        <p:sp>
          <p:nvSpPr>
            <p:cNvPr id="464" name="Rectangle 66"/>
            <p:cNvSpPr>
              <a:spLocks noChangeArrowheads="1"/>
            </p:cNvSpPr>
            <p:nvPr/>
          </p:nvSpPr>
          <p:spPr bwMode="auto">
            <a:xfrm>
              <a:off x="26352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C2</a:t>
              </a:r>
            </a:p>
          </p:txBody>
        </p:sp>
        <p:sp>
          <p:nvSpPr>
            <p:cNvPr id="465" name="Rectangle 67"/>
            <p:cNvSpPr>
              <a:spLocks noChangeArrowheads="1"/>
            </p:cNvSpPr>
            <p:nvPr/>
          </p:nvSpPr>
          <p:spPr bwMode="auto">
            <a:xfrm>
              <a:off x="20129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466" name="Rectangle 68"/>
            <p:cNvSpPr>
              <a:spLocks noChangeArrowheads="1"/>
            </p:cNvSpPr>
            <p:nvPr/>
          </p:nvSpPr>
          <p:spPr bwMode="auto">
            <a:xfrm>
              <a:off x="13922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467" name="Rectangle 69"/>
            <p:cNvSpPr>
              <a:spLocks noChangeArrowheads="1"/>
            </p:cNvSpPr>
            <p:nvPr/>
          </p:nvSpPr>
          <p:spPr bwMode="auto">
            <a:xfrm>
              <a:off x="7731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16</a:t>
              </a:r>
            </a:p>
          </p:txBody>
        </p:sp>
        <p:sp>
          <p:nvSpPr>
            <p:cNvPr id="468" name="Rectangle 70"/>
            <p:cNvSpPr>
              <a:spLocks noChangeArrowheads="1"/>
            </p:cNvSpPr>
            <p:nvPr/>
          </p:nvSpPr>
          <p:spPr bwMode="auto">
            <a:xfrm>
              <a:off x="15240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7</a:t>
              </a:r>
            </a:p>
          </p:txBody>
        </p:sp>
        <p:sp>
          <p:nvSpPr>
            <p:cNvPr id="469" name="Rectangle 78"/>
            <p:cNvSpPr>
              <a:spLocks noChangeArrowheads="1"/>
            </p:cNvSpPr>
            <p:nvPr/>
          </p:nvSpPr>
          <p:spPr bwMode="auto">
            <a:xfrm>
              <a:off x="38750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70" name="Rectangle 79"/>
            <p:cNvSpPr>
              <a:spLocks noChangeArrowheads="1"/>
            </p:cNvSpPr>
            <p:nvPr/>
          </p:nvSpPr>
          <p:spPr bwMode="auto">
            <a:xfrm>
              <a:off x="32559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71" name="Rectangle 80"/>
            <p:cNvSpPr>
              <a:spLocks noChangeArrowheads="1"/>
            </p:cNvSpPr>
            <p:nvPr/>
          </p:nvSpPr>
          <p:spPr bwMode="auto">
            <a:xfrm>
              <a:off x="26352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72" name="Rectangle 81"/>
            <p:cNvSpPr>
              <a:spLocks noChangeArrowheads="1"/>
            </p:cNvSpPr>
            <p:nvPr/>
          </p:nvSpPr>
          <p:spPr bwMode="auto">
            <a:xfrm>
              <a:off x="20129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73" name="Rectangle 82"/>
            <p:cNvSpPr>
              <a:spLocks noChangeArrowheads="1"/>
            </p:cNvSpPr>
            <p:nvPr/>
          </p:nvSpPr>
          <p:spPr bwMode="auto">
            <a:xfrm>
              <a:off x="13922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474" name="Rectangle 83"/>
            <p:cNvSpPr>
              <a:spLocks noChangeArrowheads="1"/>
            </p:cNvSpPr>
            <p:nvPr/>
          </p:nvSpPr>
          <p:spPr bwMode="auto">
            <a:xfrm>
              <a:off x="7731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31</a:t>
              </a:r>
            </a:p>
          </p:txBody>
        </p:sp>
        <p:sp>
          <p:nvSpPr>
            <p:cNvPr id="475" name="Rectangle 84"/>
            <p:cNvSpPr>
              <a:spLocks noChangeArrowheads="1"/>
            </p:cNvSpPr>
            <p:nvPr/>
          </p:nvSpPr>
          <p:spPr bwMode="auto">
            <a:xfrm>
              <a:off x="15240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6</a:t>
              </a:r>
            </a:p>
          </p:txBody>
        </p:sp>
        <p:sp>
          <p:nvSpPr>
            <p:cNvPr id="476" name="Rectangle 92"/>
            <p:cNvSpPr>
              <a:spLocks noChangeArrowheads="1"/>
            </p:cNvSpPr>
            <p:nvPr/>
          </p:nvSpPr>
          <p:spPr bwMode="auto">
            <a:xfrm>
              <a:off x="38750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1D</a:t>
              </a:r>
            </a:p>
          </p:txBody>
        </p:sp>
        <p:sp>
          <p:nvSpPr>
            <p:cNvPr id="477" name="Rectangle 93"/>
            <p:cNvSpPr>
              <a:spLocks noChangeArrowheads="1"/>
            </p:cNvSpPr>
            <p:nvPr/>
          </p:nvSpPr>
          <p:spPr bwMode="auto">
            <a:xfrm>
              <a:off x="32559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F0</a:t>
              </a:r>
            </a:p>
          </p:txBody>
        </p:sp>
        <p:sp>
          <p:nvSpPr>
            <p:cNvPr id="478" name="Rectangle 94"/>
            <p:cNvSpPr>
              <a:spLocks noChangeArrowheads="1"/>
            </p:cNvSpPr>
            <p:nvPr/>
          </p:nvSpPr>
          <p:spPr bwMode="auto">
            <a:xfrm>
              <a:off x="26352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72</a:t>
              </a:r>
            </a:p>
          </p:txBody>
        </p:sp>
        <p:sp>
          <p:nvSpPr>
            <p:cNvPr id="479" name="Rectangle 95"/>
            <p:cNvSpPr>
              <a:spLocks noChangeArrowheads="1"/>
            </p:cNvSpPr>
            <p:nvPr/>
          </p:nvSpPr>
          <p:spPr bwMode="auto">
            <a:xfrm>
              <a:off x="2012950" y="578802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36</a:t>
              </a:r>
            </a:p>
          </p:txBody>
        </p:sp>
        <p:sp>
          <p:nvSpPr>
            <p:cNvPr id="480" name="Rectangle 96"/>
            <p:cNvSpPr>
              <a:spLocks noChangeArrowheads="1"/>
            </p:cNvSpPr>
            <p:nvPr/>
          </p:nvSpPr>
          <p:spPr bwMode="auto">
            <a:xfrm>
              <a:off x="13922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481" name="Rectangle 97"/>
            <p:cNvSpPr>
              <a:spLocks noChangeArrowheads="1"/>
            </p:cNvSpPr>
            <p:nvPr/>
          </p:nvSpPr>
          <p:spPr bwMode="auto">
            <a:xfrm>
              <a:off x="77311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482" name="Rectangle 98"/>
            <p:cNvSpPr>
              <a:spLocks noChangeArrowheads="1"/>
            </p:cNvSpPr>
            <p:nvPr/>
          </p:nvSpPr>
          <p:spPr bwMode="auto">
            <a:xfrm>
              <a:off x="15240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5</a:t>
              </a:r>
            </a:p>
          </p:txBody>
        </p:sp>
        <p:sp>
          <p:nvSpPr>
            <p:cNvPr id="483" name="Rectangle 106"/>
            <p:cNvSpPr>
              <a:spLocks noChangeArrowheads="1"/>
            </p:cNvSpPr>
            <p:nvPr/>
          </p:nvSpPr>
          <p:spPr bwMode="auto">
            <a:xfrm>
              <a:off x="38750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09</a:t>
              </a:r>
            </a:p>
          </p:txBody>
        </p:sp>
        <p:sp>
          <p:nvSpPr>
            <p:cNvPr id="484" name="Rectangle 107"/>
            <p:cNvSpPr>
              <a:spLocks noChangeArrowheads="1"/>
            </p:cNvSpPr>
            <p:nvPr/>
          </p:nvSpPr>
          <p:spPr bwMode="auto">
            <a:xfrm>
              <a:off x="32559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8F</a:t>
              </a:r>
            </a:p>
          </p:txBody>
        </p:sp>
        <p:sp>
          <p:nvSpPr>
            <p:cNvPr id="485" name="Rectangle 108"/>
            <p:cNvSpPr>
              <a:spLocks noChangeArrowheads="1"/>
            </p:cNvSpPr>
            <p:nvPr/>
          </p:nvSpPr>
          <p:spPr bwMode="auto">
            <a:xfrm>
              <a:off x="26352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6D</a:t>
              </a:r>
            </a:p>
          </p:txBody>
        </p:sp>
        <p:sp>
          <p:nvSpPr>
            <p:cNvPr id="486" name="Rectangle 109"/>
            <p:cNvSpPr>
              <a:spLocks noChangeArrowheads="1"/>
            </p:cNvSpPr>
            <p:nvPr/>
          </p:nvSpPr>
          <p:spPr bwMode="auto">
            <a:xfrm>
              <a:off x="20129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43</a:t>
              </a:r>
            </a:p>
          </p:txBody>
        </p:sp>
        <p:sp>
          <p:nvSpPr>
            <p:cNvPr id="487" name="Rectangle 110"/>
            <p:cNvSpPr>
              <a:spLocks noChangeArrowheads="1"/>
            </p:cNvSpPr>
            <p:nvPr/>
          </p:nvSpPr>
          <p:spPr bwMode="auto">
            <a:xfrm>
              <a:off x="13922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488" name="Rectangle 111"/>
            <p:cNvSpPr>
              <a:spLocks noChangeArrowheads="1"/>
            </p:cNvSpPr>
            <p:nvPr/>
          </p:nvSpPr>
          <p:spPr bwMode="auto">
            <a:xfrm>
              <a:off x="7731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32</a:t>
              </a:r>
            </a:p>
          </p:txBody>
        </p:sp>
        <p:sp>
          <p:nvSpPr>
            <p:cNvPr id="489" name="Rectangle 112"/>
            <p:cNvSpPr>
              <a:spLocks noChangeArrowheads="1"/>
            </p:cNvSpPr>
            <p:nvPr/>
          </p:nvSpPr>
          <p:spPr bwMode="auto">
            <a:xfrm>
              <a:off x="15240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4</a:t>
              </a:r>
            </a:p>
          </p:txBody>
        </p:sp>
        <p:sp>
          <p:nvSpPr>
            <p:cNvPr id="490" name="Rectangle 120"/>
            <p:cNvSpPr>
              <a:spLocks noChangeArrowheads="1"/>
            </p:cNvSpPr>
            <p:nvPr/>
          </p:nvSpPr>
          <p:spPr bwMode="auto">
            <a:xfrm>
              <a:off x="38750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91" name="Rectangle 121"/>
            <p:cNvSpPr>
              <a:spLocks noChangeArrowheads="1"/>
            </p:cNvSpPr>
            <p:nvPr/>
          </p:nvSpPr>
          <p:spPr bwMode="auto">
            <a:xfrm>
              <a:off x="32559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92" name="Rectangle 122"/>
            <p:cNvSpPr>
              <a:spLocks noChangeArrowheads="1"/>
            </p:cNvSpPr>
            <p:nvPr/>
          </p:nvSpPr>
          <p:spPr bwMode="auto">
            <a:xfrm>
              <a:off x="26352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93" name="Rectangle 123"/>
            <p:cNvSpPr>
              <a:spLocks noChangeArrowheads="1"/>
            </p:cNvSpPr>
            <p:nvPr/>
          </p:nvSpPr>
          <p:spPr bwMode="auto">
            <a:xfrm>
              <a:off x="20129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94" name="Rectangle 124"/>
            <p:cNvSpPr>
              <a:spLocks noChangeArrowheads="1"/>
            </p:cNvSpPr>
            <p:nvPr/>
          </p:nvSpPr>
          <p:spPr bwMode="auto">
            <a:xfrm>
              <a:off x="13922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495" name="Rectangle 125"/>
            <p:cNvSpPr>
              <a:spLocks noChangeArrowheads="1"/>
            </p:cNvSpPr>
            <p:nvPr/>
          </p:nvSpPr>
          <p:spPr bwMode="auto">
            <a:xfrm>
              <a:off x="7731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36</a:t>
              </a:r>
            </a:p>
          </p:txBody>
        </p:sp>
        <p:sp>
          <p:nvSpPr>
            <p:cNvPr id="496" name="Rectangle 126"/>
            <p:cNvSpPr>
              <a:spLocks noChangeArrowheads="1"/>
            </p:cNvSpPr>
            <p:nvPr/>
          </p:nvSpPr>
          <p:spPr bwMode="auto">
            <a:xfrm>
              <a:off x="15240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497" name="Rectangle 134"/>
            <p:cNvSpPr>
              <a:spLocks noChangeArrowheads="1"/>
            </p:cNvSpPr>
            <p:nvPr/>
          </p:nvSpPr>
          <p:spPr bwMode="auto">
            <a:xfrm>
              <a:off x="38750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08</a:t>
              </a:r>
            </a:p>
          </p:txBody>
        </p:sp>
        <p:sp>
          <p:nvSpPr>
            <p:cNvPr id="498" name="Rectangle 135"/>
            <p:cNvSpPr>
              <a:spLocks noChangeArrowheads="1"/>
            </p:cNvSpPr>
            <p:nvPr/>
          </p:nvSpPr>
          <p:spPr bwMode="auto">
            <a:xfrm>
              <a:off x="32559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499" name="Rectangle 136"/>
            <p:cNvSpPr>
              <a:spLocks noChangeArrowheads="1"/>
            </p:cNvSpPr>
            <p:nvPr/>
          </p:nvSpPr>
          <p:spPr bwMode="auto">
            <a:xfrm>
              <a:off x="263525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500" name="Rectangle 137"/>
            <p:cNvSpPr>
              <a:spLocks noChangeArrowheads="1"/>
            </p:cNvSpPr>
            <p:nvPr/>
          </p:nvSpPr>
          <p:spPr bwMode="auto">
            <a:xfrm>
              <a:off x="20129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501" name="Rectangle 138"/>
            <p:cNvSpPr>
              <a:spLocks noChangeArrowheads="1"/>
            </p:cNvSpPr>
            <p:nvPr/>
          </p:nvSpPr>
          <p:spPr bwMode="auto">
            <a:xfrm>
              <a:off x="13922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02" name="Rectangle 139"/>
            <p:cNvSpPr>
              <a:spLocks noChangeArrowheads="1"/>
            </p:cNvSpPr>
            <p:nvPr/>
          </p:nvSpPr>
          <p:spPr bwMode="auto">
            <a:xfrm>
              <a:off x="77311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1B</a:t>
              </a:r>
            </a:p>
          </p:txBody>
        </p:sp>
        <p:sp>
          <p:nvSpPr>
            <p:cNvPr id="503" name="Rectangle 140"/>
            <p:cNvSpPr>
              <a:spLocks noChangeArrowheads="1"/>
            </p:cNvSpPr>
            <p:nvPr/>
          </p:nvSpPr>
          <p:spPr bwMode="auto">
            <a:xfrm>
              <a:off x="15240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504" name="Rectangle 148"/>
            <p:cNvSpPr>
              <a:spLocks noChangeArrowheads="1"/>
            </p:cNvSpPr>
            <p:nvPr/>
          </p:nvSpPr>
          <p:spPr bwMode="auto">
            <a:xfrm>
              <a:off x="38750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05" name="Rectangle 149"/>
            <p:cNvSpPr>
              <a:spLocks noChangeArrowheads="1"/>
            </p:cNvSpPr>
            <p:nvPr/>
          </p:nvSpPr>
          <p:spPr bwMode="auto">
            <a:xfrm>
              <a:off x="32559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06" name="Rectangle 150"/>
            <p:cNvSpPr>
              <a:spLocks noChangeArrowheads="1"/>
            </p:cNvSpPr>
            <p:nvPr/>
          </p:nvSpPr>
          <p:spPr bwMode="auto">
            <a:xfrm>
              <a:off x="26352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07" name="Rectangle 151"/>
            <p:cNvSpPr>
              <a:spLocks noChangeArrowheads="1"/>
            </p:cNvSpPr>
            <p:nvPr/>
          </p:nvSpPr>
          <p:spPr bwMode="auto">
            <a:xfrm>
              <a:off x="20129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08" name="Rectangle 152"/>
            <p:cNvSpPr>
              <a:spLocks noChangeArrowheads="1"/>
            </p:cNvSpPr>
            <p:nvPr/>
          </p:nvSpPr>
          <p:spPr bwMode="auto">
            <a:xfrm>
              <a:off x="13922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09" name="Rectangle 153"/>
            <p:cNvSpPr>
              <a:spLocks noChangeArrowheads="1"/>
            </p:cNvSpPr>
            <p:nvPr/>
          </p:nvSpPr>
          <p:spPr bwMode="auto">
            <a:xfrm>
              <a:off x="7731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510" name="Rectangle 154"/>
            <p:cNvSpPr>
              <a:spLocks noChangeArrowheads="1"/>
            </p:cNvSpPr>
            <p:nvPr/>
          </p:nvSpPr>
          <p:spPr bwMode="auto">
            <a:xfrm>
              <a:off x="15240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511" name="Rectangle 162"/>
            <p:cNvSpPr>
              <a:spLocks noChangeArrowheads="1"/>
            </p:cNvSpPr>
            <p:nvPr/>
          </p:nvSpPr>
          <p:spPr bwMode="auto">
            <a:xfrm>
              <a:off x="38750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512" name="Rectangle 163"/>
            <p:cNvSpPr>
              <a:spLocks noChangeArrowheads="1"/>
            </p:cNvSpPr>
            <p:nvPr/>
          </p:nvSpPr>
          <p:spPr bwMode="auto">
            <a:xfrm>
              <a:off x="32559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23</a:t>
              </a:r>
            </a:p>
          </p:txBody>
        </p:sp>
        <p:sp>
          <p:nvSpPr>
            <p:cNvPr id="513" name="Rectangle 164"/>
            <p:cNvSpPr>
              <a:spLocks noChangeArrowheads="1"/>
            </p:cNvSpPr>
            <p:nvPr/>
          </p:nvSpPr>
          <p:spPr bwMode="auto">
            <a:xfrm>
              <a:off x="26352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514" name="Rectangle 165"/>
            <p:cNvSpPr>
              <a:spLocks noChangeArrowheads="1"/>
            </p:cNvSpPr>
            <p:nvPr/>
          </p:nvSpPr>
          <p:spPr bwMode="auto">
            <a:xfrm>
              <a:off x="20129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99</a:t>
              </a:r>
            </a:p>
          </p:txBody>
        </p:sp>
        <p:sp>
          <p:nvSpPr>
            <p:cNvPr id="515" name="Rectangle 166"/>
            <p:cNvSpPr>
              <a:spLocks noChangeArrowheads="1"/>
            </p:cNvSpPr>
            <p:nvPr/>
          </p:nvSpPr>
          <p:spPr bwMode="auto">
            <a:xfrm>
              <a:off x="13922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16" name="Rectangle 167"/>
            <p:cNvSpPr>
              <a:spLocks noChangeArrowheads="1"/>
            </p:cNvSpPr>
            <p:nvPr/>
          </p:nvSpPr>
          <p:spPr bwMode="auto">
            <a:xfrm>
              <a:off x="7731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19</a:t>
              </a:r>
            </a:p>
          </p:txBody>
        </p:sp>
        <p:sp>
          <p:nvSpPr>
            <p:cNvPr id="517" name="Rectangle 168"/>
            <p:cNvSpPr>
              <a:spLocks noChangeArrowheads="1"/>
            </p:cNvSpPr>
            <p:nvPr/>
          </p:nvSpPr>
          <p:spPr bwMode="auto">
            <a:xfrm>
              <a:off x="15240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518" name="Rectangle 176"/>
            <p:cNvSpPr>
              <a:spLocks noChangeArrowheads="1"/>
            </p:cNvSpPr>
            <p:nvPr/>
          </p:nvSpPr>
          <p:spPr bwMode="auto">
            <a:xfrm>
              <a:off x="387508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</a:p>
          </p:txBody>
        </p:sp>
        <p:sp>
          <p:nvSpPr>
            <p:cNvPr id="519" name="Rectangle 177"/>
            <p:cNvSpPr>
              <a:spLocks noChangeArrowheads="1"/>
            </p:cNvSpPr>
            <p:nvPr/>
          </p:nvSpPr>
          <p:spPr bwMode="auto">
            <a:xfrm>
              <a:off x="325596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</a:p>
          </p:txBody>
        </p:sp>
        <p:sp>
          <p:nvSpPr>
            <p:cNvPr id="520" name="Rectangle 178"/>
            <p:cNvSpPr>
              <a:spLocks noChangeArrowheads="1"/>
            </p:cNvSpPr>
            <p:nvPr/>
          </p:nvSpPr>
          <p:spPr bwMode="auto">
            <a:xfrm>
              <a:off x="263525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</a:p>
          </p:txBody>
        </p:sp>
        <p:sp>
          <p:nvSpPr>
            <p:cNvPr id="521" name="Rectangle 179"/>
            <p:cNvSpPr>
              <a:spLocks noChangeArrowheads="1"/>
            </p:cNvSpPr>
            <p:nvPr/>
          </p:nvSpPr>
          <p:spPr bwMode="auto">
            <a:xfrm>
              <a:off x="2012950" y="40767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</a:p>
          </p:txBody>
        </p:sp>
        <p:sp>
          <p:nvSpPr>
            <p:cNvPr id="522" name="Rectangle 180"/>
            <p:cNvSpPr>
              <a:spLocks noChangeArrowheads="1"/>
            </p:cNvSpPr>
            <p:nvPr/>
          </p:nvSpPr>
          <p:spPr bwMode="auto">
            <a:xfrm>
              <a:off x="139223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523" name="Rectangle 181"/>
            <p:cNvSpPr>
              <a:spLocks noChangeArrowheads="1"/>
            </p:cNvSpPr>
            <p:nvPr/>
          </p:nvSpPr>
          <p:spPr bwMode="auto">
            <a:xfrm>
              <a:off x="77311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524" name="Rectangle 182"/>
            <p:cNvSpPr>
              <a:spLocks noChangeArrowheads="1"/>
            </p:cNvSpPr>
            <p:nvPr/>
          </p:nvSpPr>
          <p:spPr bwMode="auto">
            <a:xfrm>
              <a:off x="15240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40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25" name="Line 183"/>
            <p:cNvSpPr>
              <a:spLocks noChangeShapeType="1"/>
            </p:cNvSpPr>
            <p:nvPr/>
          </p:nvSpPr>
          <p:spPr bwMode="auto">
            <a:xfrm>
              <a:off x="152400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526" name="Line 184"/>
            <p:cNvSpPr>
              <a:spLocks noChangeShapeType="1"/>
            </p:cNvSpPr>
            <p:nvPr/>
          </p:nvSpPr>
          <p:spPr bwMode="auto">
            <a:xfrm>
              <a:off x="152400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27" name="Line 185"/>
            <p:cNvSpPr>
              <a:spLocks noChangeShapeType="1"/>
            </p:cNvSpPr>
            <p:nvPr/>
          </p:nvSpPr>
          <p:spPr bwMode="auto">
            <a:xfrm>
              <a:off x="152400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28" name="Line 186"/>
            <p:cNvSpPr>
              <a:spLocks noChangeShapeType="1"/>
            </p:cNvSpPr>
            <p:nvPr/>
          </p:nvSpPr>
          <p:spPr bwMode="auto">
            <a:xfrm>
              <a:off x="152400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29" name="Line 187"/>
            <p:cNvSpPr>
              <a:spLocks noChangeShapeType="1"/>
            </p:cNvSpPr>
            <p:nvPr/>
          </p:nvSpPr>
          <p:spPr bwMode="auto">
            <a:xfrm>
              <a:off x="152400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0" name="Line 188"/>
            <p:cNvSpPr>
              <a:spLocks noChangeShapeType="1"/>
            </p:cNvSpPr>
            <p:nvPr/>
          </p:nvSpPr>
          <p:spPr bwMode="auto">
            <a:xfrm>
              <a:off x="152400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1" name="Line 189"/>
            <p:cNvSpPr>
              <a:spLocks noChangeShapeType="1"/>
            </p:cNvSpPr>
            <p:nvPr/>
          </p:nvSpPr>
          <p:spPr bwMode="auto">
            <a:xfrm>
              <a:off x="152400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2" name="Line 190"/>
            <p:cNvSpPr>
              <a:spLocks noChangeShapeType="1"/>
            </p:cNvSpPr>
            <p:nvPr/>
          </p:nvSpPr>
          <p:spPr bwMode="auto">
            <a:xfrm>
              <a:off x="152400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3" name="Line 191"/>
            <p:cNvSpPr>
              <a:spLocks noChangeShapeType="1"/>
            </p:cNvSpPr>
            <p:nvPr/>
          </p:nvSpPr>
          <p:spPr bwMode="auto">
            <a:xfrm>
              <a:off x="7731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4" name="Line 192"/>
            <p:cNvSpPr>
              <a:spLocks noChangeShapeType="1"/>
            </p:cNvSpPr>
            <p:nvPr/>
          </p:nvSpPr>
          <p:spPr bwMode="auto">
            <a:xfrm>
              <a:off x="13922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5" name="Line 193"/>
            <p:cNvSpPr>
              <a:spLocks noChangeShapeType="1"/>
            </p:cNvSpPr>
            <p:nvPr/>
          </p:nvSpPr>
          <p:spPr bwMode="auto">
            <a:xfrm>
              <a:off x="20129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6" name="Line 194"/>
            <p:cNvSpPr>
              <a:spLocks noChangeShapeType="1"/>
            </p:cNvSpPr>
            <p:nvPr/>
          </p:nvSpPr>
          <p:spPr bwMode="auto">
            <a:xfrm>
              <a:off x="26352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Line 195"/>
            <p:cNvSpPr>
              <a:spLocks noChangeShapeType="1"/>
            </p:cNvSpPr>
            <p:nvPr/>
          </p:nvSpPr>
          <p:spPr bwMode="auto">
            <a:xfrm>
              <a:off x="32559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8" name="Line 196"/>
            <p:cNvSpPr>
              <a:spLocks noChangeShapeType="1"/>
            </p:cNvSpPr>
            <p:nvPr/>
          </p:nvSpPr>
          <p:spPr bwMode="auto">
            <a:xfrm>
              <a:off x="38750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9" name="Line 203"/>
            <p:cNvSpPr>
              <a:spLocks noChangeShapeType="1"/>
            </p:cNvSpPr>
            <p:nvPr/>
          </p:nvSpPr>
          <p:spPr bwMode="auto">
            <a:xfrm>
              <a:off x="152400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0" name="Line 205"/>
            <p:cNvSpPr>
              <a:spLocks noChangeShapeType="1"/>
            </p:cNvSpPr>
            <p:nvPr/>
          </p:nvSpPr>
          <p:spPr bwMode="auto">
            <a:xfrm>
              <a:off x="152400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541" name="Line 207"/>
            <p:cNvSpPr>
              <a:spLocks noChangeShapeType="1"/>
            </p:cNvSpPr>
            <p:nvPr/>
          </p:nvSpPr>
          <p:spPr bwMode="auto">
            <a:xfrm>
              <a:off x="152400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2" name="Line 203"/>
            <p:cNvSpPr>
              <a:spLocks noChangeShapeType="1"/>
            </p:cNvSpPr>
            <p:nvPr/>
          </p:nvSpPr>
          <p:spPr bwMode="auto">
            <a:xfrm>
              <a:off x="4487333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3" name="Rectangle 57"/>
            <p:cNvSpPr>
              <a:spLocks noChangeArrowheads="1"/>
            </p:cNvSpPr>
            <p:nvPr/>
          </p:nvSpPr>
          <p:spPr bwMode="auto">
            <a:xfrm>
              <a:off x="83708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44" name="Rectangle 58"/>
            <p:cNvSpPr>
              <a:spLocks noChangeArrowheads="1"/>
            </p:cNvSpPr>
            <p:nvPr/>
          </p:nvSpPr>
          <p:spPr bwMode="auto">
            <a:xfrm>
              <a:off x="77517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45" name="Rectangle 59"/>
            <p:cNvSpPr>
              <a:spLocks noChangeArrowheads="1"/>
            </p:cNvSpPr>
            <p:nvPr/>
          </p:nvSpPr>
          <p:spPr bwMode="auto">
            <a:xfrm>
              <a:off x="71310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46" name="Rectangle 60"/>
            <p:cNvSpPr>
              <a:spLocks noChangeArrowheads="1"/>
            </p:cNvSpPr>
            <p:nvPr/>
          </p:nvSpPr>
          <p:spPr bwMode="auto">
            <a:xfrm>
              <a:off x="65087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47" name="Rectangle 61"/>
            <p:cNvSpPr>
              <a:spLocks noChangeArrowheads="1"/>
            </p:cNvSpPr>
            <p:nvPr/>
          </p:nvSpPr>
          <p:spPr bwMode="auto">
            <a:xfrm>
              <a:off x="58880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48" name="Rectangle 62"/>
            <p:cNvSpPr>
              <a:spLocks noChangeArrowheads="1"/>
            </p:cNvSpPr>
            <p:nvPr/>
          </p:nvSpPr>
          <p:spPr bwMode="auto">
            <a:xfrm>
              <a:off x="52689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14</a:t>
              </a:r>
            </a:p>
          </p:txBody>
        </p:sp>
        <p:sp>
          <p:nvSpPr>
            <p:cNvPr id="549" name="Rectangle 63"/>
            <p:cNvSpPr>
              <a:spLocks noChangeArrowheads="1"/>
            </p:cNvSpPr>
            <p:nvPr/>
          </p:nvSpPr>
          <p:spPr bwMode="auto">
            <a:xfrm>
              <a:off x="464820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F</a:t>
              </a:r>
            </a:p>
          </p:txBody>
        </p:sp>
        <p:sp>
          <p:nvSpPr>
            <p:cNvPr id="550" name="Rectangle 71"/>
            <p:cNvSpPr>
              <a:spLocks noChangeArrowheads="1"/>
            </p:cNvSpPr>
            <p:nvPr/>
          </p:nvSpPr>
          <p:spPr bwMode="auto">
            <a:xfrm>
              <a:off x="83708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D3</a:t>
              </a:r>
            </a:p>
          </p:txBody>
        </p:sp>
        <p:sp>
          <p:nvSpPr>
            <p:cNvPr id="551" name="Rectangle 72"/>
            <p:cNvSpPr>
              <a:spLocks noChangeArrowheads="1"/>
            </p:cNvSpPr>
            <p:nvPr/>
          </p:nvSpPr>
          <p:spPr bwMode="auto">
            <a:xfrm>
              <a:off x="77517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1B</a:t>
              </a:r>
            </a:p>
          </p:txBody>
        </p:sp>
        <p:sp>
          <p:nvSpPr>
            <p:cNvPr id="552" name="Rectangle 73"/>
            <p:cNvSpPr>
              <a:spLocks noChangeArrowheads="1"/>
            </p:cNvSpPr>
            <p:nvPr/>
          </p:nvSpPr>
          <p:spPr bwMode="auto">
            <a:xfrm>
              <a:off x="71310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77</a:t>
              </a:r>
            </a:p>
          </p:txBody>
        </p:sp>
        <p:sp>
          <p:nvSpPr>
            <p:cNvPr id="553" name="Rectangle 74"/>
            <p:cNvSpPr>
              <a:spLocks noChangeArrowheads="1"/>
            </p:cNvSpPr>
            <p:nvPr/>
          </p:nvSpPr>
          <p:spPr bwMode="auto">
            <a:xfrm>
              <a:off x="65087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83</a:t>
              </a:r>
            </a:p>
          </p:txBody>
        </p:sp>
        <p:sp>
          <p:nvSpPr>
            <p:cNvPr id="554" name="Rectangle 75"/>
            <p:cNvSpPr>
              <a:spLocks noChangeArrowheads="1"/>
            </p:cNvSpPr>
            <p:nvPr/>
          </p:nvSpPr>
          <p:spPr bwMode="auto">
            <a:xfrm>
              <a:off x="58880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55" name="Rectangle 76"/>
            <p:cNvSpPr>
              <a:spLocks noChangeArrowheads="1"/>
            </p:cNvSpPr>
            <p:nvPr/>
          </p:nvSpPr>
          <p:spPr bwMode="auto">
            <a:xfrm>
              <a:off x="52689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13</a:t>
              </a:r>
            </a:p>
          </p:txBody>
        </p:sp>
        <p:sp>
          <p:nvSpPr>
            <p:cNvPr id="556" name="Rectangle 77"/>
            <p:cNvSpPr>
              <a:spLocks noChangeArrowheads="1"/>
            </p:cNvSpPr>
            <p:nvPr/>
          </p:nvSpPr>
          <p:spPr bwMode="auto">
            <a:xfrm>
              <a:off x="464820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E</a:t>
              </a:r>
            </a:p>
          </p:txBody>
        </p:sp>
        <p:sp>
          <p:nvSpPr>
            <p:cNvPr id="557" name="Rectangle 85"/>
            <p:cNvSpPr>
              <a:spLocks noChangeArrowheads="1"/>
            </p:cNvSpPr>
            <p:nvPr/>
          </p:nvSpPr>
          <p:spPr bwMode="auto">
            <a:xfrm>
              <a:off x="83708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558" name="Rectangle 86"/>
            <p:cNvSpPr>
              <a:spLocks noChangeArrowheads="1"/>
            </p:cNvSpPr>
            <p:nvPr/>
          </p:nvSpPr>
          <p:spPr bwMode="auto">
            <a:xfrm>
              <a:off x="77517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34</a:t>
              </a:r>
            </a:p>
          </p:txBody>
        </p:sp>
        <p:sp>
          <p:nvSpPr>
            <p:cNvPr id="559" name="Rectangle 87"/>
            <p:cNvSpPr>
              <a:spLocks noChangeArrowheads="1"/>
            </p:cNvSpPr>
            <p:nvPr/>
          </p:nvSpPr>
          <p:spPr bwMode="auto">
            <a:xfrm>
              <a:off x="71310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96</a:t>
              </a:r>
            </a:p>
          </p:txBody>
        </p:sp>
        <p:sp>
          <p:nvSpPr>
            <p:cNvPr id="560" name="Rectangle 88"/>
            <p:cNvSpPr>
              <a:spLocks noChangeArrowheads="1"/>
            </p:cNvSpPr>
            <p:nvPr/>
          </p:nvSpPr>
          <p:spPr bwMode="auto">
            <a:xfrm>
              <a:off x="6508750" y="578802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561" name="Rectangle 89"/>
            <p:cNvSpPr>
              <a:spLocks noChangeArrowheads="1"/>
            </p:cNvSpPr>
            <p:nvPr/>
          </p:nvSpPr>
          <p:spPr bwMode="auto">
            <a:xfrm>
              <a:off x="58880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62" name="Rectangle 90"/>
            <p:cNvSpPr>
              <a:spLocks noChangeArrowheads="1"/>
            </p:cNvSpPr>
            <p:nvPr/>
          </p:nvSpPr>
          <p:spPr bwMode="auto">
            <a:xfrm>
              <a:off x="526891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16</a:t>
              </a:r>
            </a:p>
          </p:txBody>
        </p:sp>
        <p:sp>
          <p:nvSpPr>
            <p:cNvPr id="563" name="Rectangle 91"/>
            <p:cNvSpPr>
              <a:spLocks noChangeArrowheads="1"/>
            </p:cNvSpPr>
            <p:nvPr/>
          </p:nvSpPr>
          <p:spPr bwMode="auto">
            <a:xfrm>
              <a:off x="464820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D</a:t>
              </a:r>
            </a:p>
          </p:txBody>
        </p:sp>
        <p:sp>
          <p:nvSpPr>
            <p:cNvPr id="564" name="Rectangle 99"/>
            <p:cNvSpPr>
              <a:spLocks noChangeArrowheads="1"/>
            </p:cNvSpPr>
            <p:nvPr/>
          </p:nvSpPr>
          <p:spPr bwMode="auto">
            <a:xfrm>
              <a:off x="83708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65" name="Rectangle 100"/>
            <p:cNvSpPr>
              <a:spLocks noChangeArrowheads="1"/>
            </p:cNvSpPr>
            <p:nvPr/>
          </p:nvSpPr>
          <p:spPr bwMode="auto">
            <a:xfrm>
              <a:off x="77517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66" name="Rectangle 101"/>
            <p:cNvSpPr>
              <a:spLocks noChangeArrowheads="1"/>
            </p:cNvSpPr>
            <p:nvPr/>
          </p:nvSpPr>
          <p:spPr bwMode="auto">
            <a:xfrm>
              <a:off x="71310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67" name="Rectangle 102"/>
            <p:cNvSpPr>
              <a:spLocks noChangeArrowheads="1"/>
            </p:cNvSpPr>
            <p:nvPr/>
          </p:nvSpPr>
          <p:spPr bwMode="auto">
            <a:xfrm>
              <a:off x="65087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68" name="Rectangle 103"/>
            <p:cNvSpPr>
              <a:spLocks noChangeArrowheads="1"/>
            </p:cNvSpPr>
            <p:nvPr/>
          </p:nvSpPr>
          <p:spPr bwMode="auto">
            <a:xfrm>
              <a:off x="58880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69" name="Rectangle 104"/>
            <p:cNvSpPr>
              <a:spLocks noChangeArrowheads="1"/>
            </p:cNvSpPr>
            <p:nvPr/>
          </p:nvSpPr>
          <p:spPr bwMode="auto">
            <a:xfrm>
              <a:off x="52689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12</a:t>
              </a:r>
            </a:p>
          </p:txBody>
        </p:sp>
        <p:sp>
          <p:nvSpPr>
            <p:cNvPr id="570" name="Rectangle 105"/>
            <p:cNvSpPr>
              <a:spLocks noChangeArrowheads="1"/>
            </p:cNvSpPr>
            <p:nvPr/>
          </p:nvSpPr>
          <p:spPr bwMode="auto">
            <a:xfrm>
              <a:off x="464820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C</a:t>
              </a:r>
            </a:p>
          </p:txBody>
        </p:sp>
        <p:sp>
          <p:nvSpPr>
            <p:cNvPr id="571" name="Rectangle 113"/>
            <p:cNvSpPr>
              <a:spLocks noChangeArrowheads="1"/>
            </p:cNvSpPr>
            <p:nvPr/>
          </p:nvSpPr>
          <p:spPr bwMode="auto">
            <a:xfrm>
              <a:off x="83708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72" name="Rectangle 114"/>
            <p:cNvSpPr>
              <a:spLocks noChangeArrowheads="1"/>
            </p:cNvSpPr>
            <p:nvPr/>
          </p:nvSpPr>
          <p:spPr bwMode="auto">
            <a:xfrm>
              <a:off x="77517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73" name="Rectangle 115"/>
            <p:cNvSpPr>
              <a:spLocks noChangeArrowheads="1"/>
            </p:cNvSpPr>
            <p:nvPr/>
          </p:nvSpPr>
          <p:spPr bwMode="auto">
            <a:xfrm>
              <a:off x="71310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74" name="Rectangle 116"/>
            <p:cNvSpPr>
              <a:spLocks noChangeArrowheads="1"/>
            </p:cNvSpPr>
            <p:nvPr/>
          </p:nvSpPr>
          <p:spPr bwMode="auto">
            <a:xfrm>
              <a:off x="65087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75" name="Rectangle 117"/>
            <p:cNvSpPr>
              <a:spLocks noChangeArrowheads="1"/>
            </p:cNvSpPr>
            <p:nvPr/>
          </p:nvSpPr>
          <p:spPr bwMode="auto">
            <a:xfrm>
              <a:off x="58880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76" name="Rectangle 118"/>
            <p:cNvSpPr>
              <a:spLocks noChangeArrowheads="1"/>
            </p:cNvSpPr>
            <p:nvPr/>
          </p:nvSpPr>
          <p:spPr bwMode="auto">
            <a:xfrm>
              <a:off x="52689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0B</a:t>
              </a:r>
            </a:p>
          </p:txBody>
        </p:sp>
        <p:sp>
          <p:nvSpPr>
            <p:cNvPr id="577" name="Rectangle 119"/>
            <p:cNvSpPr>
              <a:spLocks noChangeArrowheads="1"/>
            </p:cNvSpPr>
            <p:nvPr/>
          </p:nvSpPr>
          <p:spPr bwMode="auto">
            <a:xfrm>
              <a:off x="464820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B</a:t>
              </a:r>
            </a:p>
          </p:txBody>
        </p:sp>
        <p:sp>
          <p:nvSpPr>
            <p:cNvPr id="578" name="Rectangle 127"/>
            <p:cNvSpPr>
              <a:spLocks noChangeArrowheads="1"/>
            </p:cNvSpPr>
            <p:nvPr/>
          </p:nvSpPr>
          <p:spPr bwMode="auto">
            <a:xfrm>
              <a:off x="83708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3B</a:t>
              </a:r>
            </a:p>
          </p:txBody>
        </p:sp>
        <p:sp>
          <p:nvSpPr>
            <p:cNvPr id="579" name="Rectangle 128"/>
            <p:cNvSpPr>
              <a:spLocks noChangeArrowheads="1"/>
            </p:cNvSpPr>
            <p:nvPr/>
          </p:nvSpPr>
          <p:spPr bwMode="auto">
            <a:xfrm>
              <a:off x="77517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DA</a:t>
              </a:r>
            </a:p>
          </p:txBody>
        </p:sp>
        <p:sp>
          <p:nvSpPr>
            <p:cNvPr id="580" name="Rectangle 129"/>
            <p:cNvSpPr>
              <a:spLocks noChangeArrowheads="1"/>
            </p:cNvSpPr>
            <p:nvPr/>
          </p:nvSpPr>
          <p:spPr bwMode="auto">
            <a:xfrm>
              <a:off x="7131050" y="4919663"/>
              <a:ext cx="620713" cy="28098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581" name="Rectangle 130"/>
            <p:cNvSpPr>
              <a:spLocks noChangeArrowheads="1"/>
            </p:cNvSpPr>
            <p:nvPr/>
          </p:nvSpPr>
          <p:spPr bwMode="auto">
            <a:xfrm>
              <a:off x="65087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93</a:t>
              </a:r>
            </a:p>
          </p:txBody>
        </p:sp>
        <p:sp>
          <p:nvSpPr>
            <p:cNvPr id="582" name="Rectangle 131"/>
            <p:cNvSpPr>
              <a:spLocks noChangeArrowheads="1"/>
            </p:cNvSpPr>
            <p:nvPr/>
          </p:nvSpPr>
          <p:spPr bwMode="auto">
            <a:xfrm>
              <a:off x="58880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83" name="Rectangle 132"/>
            <p:cNvSpPr>
              <a:spLocks noChangeArrowheads="1"/>
            </p:cNvSpPr>
            <p:nvPr/>
          </p:nvSpPr>
          <p:spPr bwMode="auto">
            <a:xfrm>
              <a:off x="526891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584" name="Rectangle 133"/>
            <p:cNvSpPr>
              <a:spLocks noChangeArrowheads="1"/>
            </p:cNvSpPr>
            <p:nvPr/>
          </p:nvSpPr>
          <p:spPr bwMode="auto">
            <a:xfrm>
              <a:off x="464820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A</a:t>
              </a:r>
            </a:p>
          </p:txBody>
        </p:sp>
        <p:sp>
          <p:nvSpPr>
            <p:cNvPr id="585" name="Rectangle 141"/>
            <p:cNvSpPr>
              <a:spLocks noChangeArrowheads="1"/>
            </p:cNvSpPr>
            <p:nvPr/>
          </p:nvSpPr>
          <p:spPr bwMode="auto">
            <a:xfrm>
              <a:off x="83708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86" name="Rectangle 142"/>
            <p:cNvSpPr>
              <a:spLocks noChangeArrowheads="1"/>
            </p:cNvSpPr>
            <p:nvPr/>
          </p:nvSpPr>
          <p:spPr bwMode="auto">
            <a:xfrm>
              <a:off x="77517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87" name="Rectangle 143"/>
            <p:cNvSpPr>
              <a:spLocks noChangeArrowheads="1"/>
            </p:cNvSpPr>
            <p:nvPr/>
          </p:nvSpPr>
          <p:spPr bwMode="auto">
            <a:xfrm>
              <a:off x="71310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88" name="Rectangle 144"/>
            <p:cNvSpPr>
              <a:spLocks noChangeArrowheads="1"/>
            </p:cNvSpPr>
            <p:nvPr/>
          </p:nvSpPr>
          <p:spPr bwMode="auto">
            <a:xfrm>
              <a:off x="65087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89" name="Rectangle 145"/>
            <p:cNvSpPr>
              <a:spLocks noChangeArrowheads="1"/>
            </p:cNvSpPr>
            <p:nvPr/>
          </p:nvSpPr>
          <p:spPr bwMode="auto">
            <a:xfrm>
              <a:off x="58880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90" name="Rectangle 146"/>
            <p:cNvSpPr>
              <a:spLocks noChangeArrowheads="1"/>
            </p:cNvSpPr>
            <p:nvPr/>
          </p:nvSpPr>
          <p:spPr bwMode="auto">
            <a:xfrm>
              <a:off x="52689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591" name="Rectangle 147"/>
            <p:cNvSpPr>
              <a:spLocks noChangeArrowheads="1"/>
            </p:cNvSpPr>
            <p:nvPr/>
          </p:nvSpPr>
          <p:spPr bwMode="auto">
            <a:xfrm>
              <a:off x="464820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9</a:t>
              </a:r>
            </a:p>
          </p:txBody>
        </p:sp>
        <p:sp>
          <p:nvSpPr>
            <p:cNvPr id="592" name="Rectangle 155"/>
            <p:cNvSpPr>
              <a:spLocks noChangeArrowheads="1"/>
            </p:cNvSpPr>
            <p:nvPr/>
          </p:nvSpPr>
          <p:spPr bwMode="auto">
            <a:xfrm>
              <a:off x="83708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89</a:t>
              </a:r>
            </a:p>
          </p:txBody>
        </p:sp>
        <p:sp>
          <p:nvSpPr>
            <p:cNvPr id="593" name="Rectangle 156"/>
            <p:cNvSpPr>
              <a:spLocks noChangeArrowheads="1"/>
            </p:cNvSpPr>
            <p:nvPr/>
          </p:nvSpPr>
          <p:spPr bwMode="auto">
            <a:xfrm>
              <a:off x="77517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51</a:t>
              </a:r>
            </a:p>
          </p:txBody>
        </p:sp>
        <p:sp>
          <p:nvSpPr>
            <p:cNvPr id="594" name="Rectangle 157"/>
            <p:cNvSpPr>
              <a:spLocks noChangeArrowheads="1"/>
            </p:cNvSpPr>
            <p:nvPr/>
          </p:nvSpPr>
          <p:spPr bwMode="auto">
            <a:xfrm>
              <a:off x="71310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595" name="Rectangle 158"/>
            <p:cNvSpPr>
              <a:spLocks noChangeArrowheads="1"/>
            </p:cNvSpPr>
            <p:nvPr/>
          </p:nvSpPr>
          <p:spPr bwMode="auto">
            <a:xfrm>
              <a:off x="65087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3A</a:t>
              </a:r>
            </a:p>
          </p:txBody>
        </p:sp>
        <p:sp>
          <p:nvSpPr>
            <p:cNvPr id="596" name="Rectangle 159"/>
            <p:cNvSpPr>
              <a:spLocks noChangeArrowheads="1"/>
            </p:cNvSpPr>
            <p:nvPr/>
          </p:nvSpPr>
          <p:spPr bwMode="auto">
            <a:xfrm>
              <a:off x="58880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97" name="Rectangle 160"/>
            <p:cNvSpPr>
              <a:spLocks noChangeArrowheads="1"/>
            </p:cNvSpPr>
            <p:nvPr/>
          </p:nvSpPr>
          <p:spPr bwMode="auto">
            <a:xfrm>
              <a:off x="52689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24</a:t>
              </a:r>
            </a:p>
          </p:txBody>
        </p:sp>
        <p:sp>
          <p:nvSpPr>
            <p:cNvPr id="598" name="Rectangle 161"/>
            <p:cNvSpPr>
              <a:spLocks noChangeArrowheads="1"/>
            </p:cNvSpPr>
            <p:nvPr/>
          </p:nvSpPr>
          <p:spPr bwMode="auto">
            <a:xfrm>
              <a:off x="464820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8</a:t>
              </a:r>
            </a:p>
          </p:txBody>
        </p:sp>
        <p:sp>
          <p:nvSpPr>
            <p:cNvPr id="599" name="Rectangle 169"/>
            <p:cNvSpPr>
              <a:spLocks noChangeArrowheads="1"/>
            </p:cNvSpPr>
            <p:nvPr/>
          </p:nvSpPr>
          <p:spPr bwMode="auto">
            <a:xfrm>
              <a:off x="837088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</a:p>
          </p:txBody>
        </p:sp>
        <p:sp>
          <p:nvSpPr>
            <p:cNvPr id="600" name="Rectangle 170"/>
            <p:cNvSpPr>
              <a:spLocks noChangeArrowheads="1"/>
            </p:cNvSpPr>
            <p:nvPr/>
          </p:nvSpPr>
          <p:spPr bwMode="auto">
            <a:xfrm>
              <a:off x="775176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</a:p>
          </p:txBody>
        </p:sp>
        <p:sp>
          <p:nvSpPr>
            <p:cNvPr id="601" name="Rectangle 171"/>
            <p:cNvSpPr>
              <a:spLocks noChangeArrowheads="1"/>
            </p:cNvSpPr>
            <p:nvPr/>
          </p:nvSpPr>
          <p:spPr bwMode="auto">
            <a:xfrm>
              <a:off x="713105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</a:p>
          </p:txBody>
        </p:sp>
        <p:sp>
          <p:nvSpPr>
            <p:cNvPr id="602" name="Rectangle 172"/>
            <p:cNvSpPr>
              <a:spLocks noChangeArrowheads="1"/>
            </p:cNvSpPr>
            <p:nvPr/>
          </p:nvSpPr>
          <p:spPr bwMode="auto">
            <a:xfrm>
              <a:off x="6508750" y="40767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</a:p>
          </p:txBody>
        </p:sp>
        <p:sp>
          <p:nvSpPr>
            <p:cNvPr id="603" name="Rectangle 173"/>
            <p:cNvSpPr>
              <a:spLocks noChangeArrowheads="1"/>
            </p:cNvSpPr>
            <p:nvPr/>
          </p:nvSpPr>
          <p:spPr bwMode="auto">
            <a:xfrm>
              <a:off x="588803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604" name="Rectangle 174"/>
            <p:cNvSpPr>
              <a:spLocks noChangeArrowheads="1"/>
            </p:cNvSpPr>
            <p:nvPr/>
          </p:nvSpPr>
          <p:spPr bwMode="auto">
            <a:xfrm>
              <a:off x="526891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605" name="Rectangle 175"/>
            <p:cNvSpPr>
              <a:spLocks noChangeArrowheads="1"/>
            </p:cNvSpPr>
            <p:nvPr/>
          </p:nvSpPr>
          <p:spPr bwMode="auto">
            <a:xfrm>
              <a:off x="464820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40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606" name="Line 183"/>
            <p:cNvSpPr>
              <a:spLocks noChangeShapeType="1"/>
            </p:cNvSpPr>
            <p:nvPr/>
          </p:nvSpPr>
          <p:spPr bwMode="auto">
            <a:xfrm>
              <a:off x="4666488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607" name="Line 184"/>
            <p:cNvSpPr>
              <a:spLocks noChangeShapeType="1"/>
            </p:cNvSpPr>
            <p:nvPr/>
          </p:nvSpPr>
          <p:spPr bwMode="auto">
            <a:xfrm>
              <a:off x="4666488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08" name="Line 185"/>
            <p:cNvSpPr>
              <a:spLocks noChangeShapeType="1"/>
            </p:cNvSpPr>
            <p:nvPr/>
          </p:nvSpPr>
          <p:spPr bwMode="auto">
            <a:xfrm>
              <a:off x="4666488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09" name="Line 186"/>
            <p:cNvSpPr>
              <a:spLocks noChangeShapeType="1"/>
            </p:cNvSpPr>
            <p:nvPr/>
          </p:nvSpPr>
          <p:spPr bwMode="auto">
            <a:xfrm>
              <a:off x="4666488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0" name="Line 187"/>
            <p:cNvSpPr>
              <a:spLocks noChangeShapeType="1"/>
            </p:cNvSpPr>
            <p:nvPr/>
          </p:nvSpPr>
          <p:spPr bwMode="auto">
            <a:xfrm>
              <a:off x="4666488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1" name="Line 188"/>
            <p:cNvSpPr>
              <a:spLocks noChangeShapeType="1"/>
            </p:cNvSpPr>
            <p:nvPr/>
          </p:nvSpPr>
          <p:spPr bwMode="auto">
            <a:xfrm>
              <a:off x="4666488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2" name="Line 189"/>
            <p:cNvSpPr>
              <a:spLocks noChangeShapeType="1"/>
            </p:cNvSpPr>
            <p:nvPr/>
          </p:nvSpPr>
          <p:spPr bwMode="auto">
            <a:xfrm>
              <a:off x="4666488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3" name="Line 190"/>
            <p:cNvSpPr>
              <a:spLocks noChangeShapeType="1"/>
            </p:cNvSpPr>
            <p:nvPr/>
          </p:nvSpPr>
          <p:spPr bwMode="auto">
            <a:xfrm>
              <a:off x="4666488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4" name="Line 197"/>
            <p:cNvSpPr>
              <a:spLocks noChangeShapeType="1"/>
            </p:cNvSpPr>
            <p:nvPr/>
          </p:nvSpPr>
          <p:spPr bwMode="auto">
            <a:xfrm>
              <a:off x="52689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5" name="Line 198"/>
            <p:cNvSpPr>
              <a:spLocks noChangeShapeType="1"/>
            </p:cNvSpPr>
            <p:nvPr/>
          </p:nvSpPr>
          <p:spPr bwMode="auto">
            <a:xfrm>
              <a:off x="58880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" name="Line 199"/>
            <p:cNvSpPr>
              <a:spLocks noChangeShapeType="1"/>
            </p:cNvSpPr>
            <p:nvPr/>
          </p:nvSpPr>
          <p:spPr bwMode="auto">
            <a:xfrm>
              <a:off x="65087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7" name="Line 200"/>
            <p:cNvSpPr>
              <a:spLocks noChangeShapeType="1"/>
            </p:cNvSpPr>
            <p:nvPr/>
          </p:nvSpPr>
          <p:spPr bwMode="auto">
            <a:xfrm>
              <a:off x="71310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8" name="Line 201"/>
            <p:cNvSpPr>
              <a:spLocks noChangeShapeType="1"/>
            </p:cNvSpPr>
            <p:nvPr/>
          </p:nvSpPr>
          <p:spPr bwMode="auto">
            <a:xfrm>
              <a:off x="77517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9" name="Line 202"/>
            <p:cNvSpPr>
              <a:spLocks noChangeShapeType="1"/>
            </p:cNvSpPr>
            <p:nvPr/>
          </p:nvSpPr>
          <p:spPr bwMode="auto">
            <a:xfrm>
              <a:off x="83708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0" name="Line 205"/>
            <p:cNvSpPr>
              <a:spLocks noChangeShapeType="1"/>
            </p:cNvSpPr>
            <p:nvPr/>
          </p:nvSpPr>
          <p:spPr bwMode="auto">
            <a:xfrm>
              <a:off x="4666488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621" name="Line 206"/>
            <p:cNvSpPr>
              <a:spLocks noChangeShapeType="1"/>
            </p:cNvSpPr>
            <p:nvPr/>
          </p:nvSpPr>
          <p:spPr bwMode="auto">
            <a:xfrm>
              <a:off x="8991601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2" name="Line 207"/>
            <p:cNvSpPr>
              <a:spLocks noChangeShapeType="1"/>
            </p:cNvSpPr>
            <p:nvPr/>
          </p:nvSpPr>
          <p:spPr bwMode="auto">
            <a:xfrm>
              <a:off x="4666488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3" name="Line 206"/>
            <p:cNvSpPr>
              <a:spLocks noChangeShapeType="1"/>
            </p:cNvSpPr>
            <p:nvPr/>
          </p:nvSpPr>
          <p:spPr bwMode="auto">
            <a:xfrm>
              <a:off x="4648200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369707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TextBox 834"/>
          <p:cNvSpPr txBox="1"/>
          <p:nvPr/>
        </p:nvSpPr>
        <p:spPr>
          <a:xfrm>
            <a:off x="437090" y="4106244"/>
            <a:ext cx="343369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Translation Lookaside Buffer (TLB)</a:t>
            </a:r>
          </a:p>
        </p:txBody>
      </p:sp>
      <p:grpSp>
        <p:nvGrpSpPr>
          <p:cNvPr id="749" name="Group 748"/>
          <p:cNvGrpSpPr/>
          <p:nvPr/>
        </p:nvGrpSpPr>
        <p:grpSpPr>
          <a:xfrm>
            <a:off x="646904" y="4609436"/>
            <a:ext cx="8154989" cy="1627189"/>
            <a:chOff x="2211252" y="149729"/>
            <a:chExt cx="8154989" cy="1627189"/>
          </a:xfrm>
        </p:grpSpPr>
        <p:sp>
          <p:nvSpPr>
            <p:cNvPr id="750" name="Rectangle 60"/>
            <p:cNvSpPr>
              <a:spLocks noChangeArrowheads="1"/>
            </p:cNvSpPr>
            <p:nvPr/>
          </p:nvSpPr>
          <p:spPr bwMode="auto">
            <a:xfrm>
              <a:off x="9739177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51" name="Rectangle 61"/>
            <p:cNvSpPr>
              <a:spLocks noChangeArrowheads="1"/>
            </p:cNvSpPr>
            <p:nvPr/>
          </p:nvSpPr>
          <p:spPr bwMode="auto">
            <a:xfrm>
              <a:off x="9108940" y="1449892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52" name="Rectangle 62"/>
            <p:cNvSpPr>
              <a:spLocks noChangeArrowheads="1"/>
            </p:cNvSpPr>
            <p:nvPr/>
          </p:nvSpPr>
          <p:spPr bwMode="auto">
            <a:xfrm>
              <a:off x="8483465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753" name="Rectangle 63"/>
            <p:cNvSpPr>
              <a:spLocks noChangeArrowheads="1"/>
            </p:cNvSpPr>
            <p:nvPr/>
          </p:nvSpPr>
          <p:spPr bwMode="auto">
            <a:xfrm>
              <a:off x="7854815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754" name="Rectangle 64"/>
            <p:cNvSpPr>
              <a:spLocks noChangeArrowheads="1"/>
            </p:cNvSpPr>
            <p:nvPr/>
          </p:nvSpPr>
          <p:spPr bwMode="auto">
            <a:xfrm>
              <a:off x="7229340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34</a:t>
              </a:r>
            </a:p>
          </p:txBody>
        </p:sp>
        <p:sp>
          <p:nvSpPr>
            <p:cNvPr id="755" name="Rectangle 65"/>
            <p:cNvSpPr>
              <a:spLocks noChangeArrowheads="1"/>
            </p:cNvSpPr>
            <p:nvPr/>
          </p:nvSpPr>
          <p:spPr bwMode="auto">
            <a:xfrm>
              <a:off x="6602277" y="1449892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0A</a:t>
              </a:r>
            </a:p>
          </p:txBody>
        </p:sp>
        <p:sp>
          <p:nvSpPr>
            <p:cNvPr id="756" name="Rectangle 66"/>
            <p:cNvSpPr>
              <a:spLocks noChangeArrowheads="1"/>
            </p:cNvSpPr>
            <p:nvPr/>
          </p:nvSpPr>
          <p:spPr bwMode="auto">
            <a:xfrm>
              <a:off x="5973627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757" name="Rectangle 67"/>
            <p:cNvSpPr>
              <a:spLocks noChangeArrowheads="1"/>
            </p:cNvSpPr>
            <p:nvPr/>
          </p:nvSpPr>
          <p:spPr bwMode="auto">
            <a:xfrm>
              <a:off x="5346565" y="1449892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758" name="Rectangle 68"/>
            <p:cNvSpPr>
              <a:spLocks noChangeArrowheads="1"/>
            </p:cNvSpPr>
            <p:nvPr/>
          </p:nvSpPr>
          <p:spPr bwMode="auto">
            <a:xfrm>
              <a:off x="4721090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759" name="Rectangle 69"/>
            <p:cNvSpPr>
              <a:spLocks noChangeArrowheads="1"/>
            </p:cNvSpPr>
            <p:nvPr/>
          </p:nvSpPr>
          <p:spPr bwMode="auto">
            <a:xfrm>
              <a:off x="4092440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60" name="Rectangle 70"/>
            <p:cNvSpPr>
              <a:spLocks noChangeArrowheads="1"/>
            </p:cNvSpPr>
            <p:nvPr/>
          </p:nvSpPr>
          <p:spPr bwMode="auto">
            <a:xfrm>
              <a:off x="3466965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61" name="Rectangle 71"/>
            <p:cNvSpPr>
              <a:spLocks noChangeArrowheads="1"/>
            </p:cNvSpPr>
            <p:nvPr/>
          </p:nvSpPr>
          <p:spPr bwMode="auto">
            <a:xfrm>
              <a:off x="2836727" y="1449892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07</a:t>
              </a:r>
            </a:p>
          </p:txBody>
        </p:sp>
        <p:sp>
          <p:nvSpPr>
            <p:cNvPr id="762" name="Rectangle 72"/>
            <p:cNvSpPr>
              <a:spLocks noChangeArrowheads="1"/>
            </p:cNvSpPr>
            <p:nvPr/>
          </p:nvSpPr>
          <p:spPr bwMode="auto">
            <a:xfrm>
              <a:off x="2211252" y="1449892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763" name="Rectangle 73"/>
            <p:cNvSpPr>
              <a:spLocks noChangeArrowheads="1"/>
            </p:cNvSpPr>
            <p:nvPr/>
          </p:nvSpPr>
          <p:spPr bwMode="auto">
            <a:xfrm>
              <a:off x="9739177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64" name="Rectangle 74"/>
            <p:cNvSpPr>
              <a:spLocks noChangeArrowheads="1"/>
            </p:cNvSpPr>
            <p:nvPr/>
          </p:nvSpPr>
          <p:spPr bwMode="auto">
            <a:xfrm>
              <a:off x="9108940" y="1124454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65" name="Rectangle 75"/>
            <p:cNvSpPr>
              <a:spLocks noChangeArrowheads="1"/>
            </p:cNvSpPr>
            <p:nvPr/>
          </p:nvSpPr>
          <p:spPr bwMode="auto">
            <a:xfrm>
              <a:off x="8483465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766" name="Rectangle 76"/>
            <p:cNvSpPr>
              <a:spLocks noChangeArrowheads="1"/>
            </p:cNvSpPr>
            <p:nvPr/>
          </p:nvSpPr>
          <p:spPr bwMode="auto">
            <a:xfrm>
              <a:off x="7854815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67" name="Rectangle 77"/>
            <p:cNvSpPr>
              <a:spLocks noChangeArrowheads="1"/>
            </p:cNvSpPr>
            <p:nvPr/>
          </p:nvSpPr>
          <p:spPr bwMode="auto">
            <a:xfrm>
              <a:off x="7229340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68" name="Rectangle 78"/>
            <p:cNvSpPr>
              <a:spLocks noChangeArrowheads="1"/>
            </p:cNvSpPr>
            <p:nvPr/>
          </p:nvSpPr>
          <p:spPr bwMode="auto">
            <a:xfrm>
              <a:off x="6602277" y="1124454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06</a:t>
              </a:r>
            </a:p>
          </p:txBody>
        </p:sp>
        <p:sp>
          <p:nvSpPr>
            <p:cNvPr id="769" name="Rectangle 79"/>
            <p:cNvSpPr>
              <a:spLocks noChangeArrowheads="1"/>
            </p:cNvSpPr>
            <p:nvPr/>
          </p:nvSpPr>
          <p:spPr bwMode="auto">
            <a:xfrm>
              <a:off x="5973627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70" name="Rectangle 80"/>
            <p:cNvSpPr>
              <a:spLocks noChangeArrowheads="1"/>
            </p:cNvSpPr>
            <p:nvPr/>
          </p:nvSpPr>
          <p:spPr bwMode="auto">
            <a:xfrm>
              <a:off x="5346565" y="1124454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71" name="Rectangle 81"/>
            <p:cNvSpPr>
              <a:spLocks noChangeArrowheads="1"/>
            </p:cNvSpPr>
            <p:nvPr/>
          </p:nvSpPr>
          <p:spPr bwMode="auto">
            <a:xfrm>
              <a:off x="4721090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08</a:t>
              </a:r>
            </a:p>
          </p:txBody>
        </p:sp>
        <p:sp>
          <p:nvSpPr>
            <p:cNvPr id="772" name="Rectangle 82"/>
            <p:cNvSpPr>
              <a:spLocks noChangeArrowheads="1"/>
            </p:cNvSpPr>
            <p:nvPr/>
          </p:nvSpPr>
          <p:spPr bwMode="auto">
            <a:xfrm>
              <a:off x="4092440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73" name="Rectangle 83"/>
            <p:cNvSpPr>
              <a:spLocks noChangeArrowheads="1"/>
            </p:cNvSpPr>
            <p:nvPr/>
          </p:nvSpPr>
          <p:spPr bwMode="auto">
            <a:xfrm>
              <a:off x="3466965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74" name="Rectangle 84"/>
            <p:cNvSpPr>
              <a:spLocks noChangeArrowheads="1"/>
            </p:cNvSpPr>
            <p:nvPr/>
          </p:nvSpPr>
          <p:spPr bwMode="auto">
            <a:xfrm>
              <a:off x="2836727" y="1124454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775" name="Rectangle 85"/>
            <p:cNvSpPr>
              <a:spLocks noChangeArrowheads="1"/>
            </p:cNvSpPr>
            <p:nvPr/>
          </p:nvSpPr>
          <p:spPr bwMode="auto">
            <a:xfrm>
              <a:off x="2211252" y="1124454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776" name="Rectangle 86"/>
            <p:cNvSpPr>
              <a:spLocks noChangeArrowheads="1"/>
            </p:cNvSpPr>
            <p:nvPr/>
          </p:nvSpPr>
          <p:spPr bwMode="auto">
            <a:xfrm>
              <a:off x="9739177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77" name="Rectangle 87"/>
            <p:cNvSpPr>
              <a:spLocks noChangeArrowheads="1"/>
            </p:cNvSpPr>
            <p:nvPr/>
          </p:nvSpPr>
          <p:spPr bwMode="auto">
            <a:xfrm>
              <a:off x="9108940" y="800604"/>
              <a:ext cx="630238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78" name="Rectangle 88"/>
            <p:cNvSpPr>
              <a:spLocks noChangeArrowheads="1"/>
            </p:cNvSpPr>
            <p:nvPr/>
          </p:nvSpPr>
          <p:spPr bwMode="auto">
            <a:xfrm>
              <a:off x="8483465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0A</a:t>
              </a:r>
            </a:p>
          </p:txBody>
        </p:sp>
        <p:sp>
          <p:nvSpPr>
            <p:cNvPr id="779" name="Rectangle 89"/>
            <p:cNvSpPr>
              <a:spLocks noChangeArrowheads="1"/>
            </p:cNvSpPr>
            <p:nvPr/>
          </p:nvSpPr>
          <p:spPr bwMode="auto">
            <a:xfrm>
              <a:off x="7854815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80" name="Rectangle 90"/>
            <p:cNvSpPr>
              <a:spLocks noChangeArrowheads="1"/>
            </p:cNvSpPr>
            <p:nvPr/>
          </p:nvSpPr>
          <p:spPr bwMode="auto">
            <a:xfrm>
              <a:off x="7229340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81" name="Rectangle 91"/>
            <p:cNvSpPr>
              <a:spLocks noChangeArrowheads="1"/>
            </p:cNvSpPr>
            <p:nvPr/>
          </p:nvSpPr>
          <p:spPr bwMode="auto">
            <a:xfrm>
              <a:off x="6602277" y="800604"/>
              <a:ext cx="627063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782" name="Rectangle 92"/>
            <p:cNvSpPr>
              <a:spLocks noChangeArrowheads="1"/>
            </p:cNvSpPr>
            <p:nvPr/>
          </p:nvSpPr>
          <p:spPr bwMode="auto">
            <a:xfrm>
              <a:off x="5973627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83" name="Rectangle 93"/>
            <p:cNvSpPr>
              <a:spLocks noChangeArrowheads="1"/>
            </p:cNvSpPr>
            <p:nvPr/>
          </p:nvSpPr>
          <p:spPr bwMode="auto">
            <a:xfrm>
              <a:off x="5346565" y="800604"/>
              <a:ext cx="627063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84" name="Rectangle 94"/>
            <p:cNvSpPr>
              <a:spLocks noChangeArrowheads="1"/>
            </p:cNvSpPr>
            <p:nvPr/>
          </p:nvSpPr>
          <p:spPr bwMode="auto">
            <a:xfrm>
              <a:off x="4721090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785" name="Rectangle 95"/>
            <p:cNvSpPr>
              <a:spLocks noChangeArrowheads="1"/>
            </p:cNvSpPr>
            <p:nvPr/>
          </p:nvSpPr>
          <p:spPr bwMode="auto">
            <a:xfrm>
              <a:off x="4092440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786" name="Rectangle 96"/>
            <p:cNvSpPr>
              <a:spLocks noChangeArrowheads="1"/>
            </p:cNvSpPr>
            <p:nvPr/>
          </p:nvSpPr>
          <p:spPr bwMode="auto">
            <a:xfrm>
              <a:off x="3466965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787" name="Rectangle 97"/>
            <p:cNvSpPr>
              <a:spLocks noChangeArrowheads="1"/>
            </p:cNvSpPr>
            <p:nvPr/>
          </p:nvSpPr>
          <p:spPr bwMode="auto">
            <a:xfrm>
              <a:off x="2836727" y="800604"/>
              <a:ext cx="630238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788" name="Rectangle 98"/>
            <p:cNvSpPr>
              <a:spLocks noChangeArrowheads="1"/>
            </p:cNvSpPr>
            <p:nvPr/>
          </p:nvSpPr>
          <p:spPr bwMode="auto">
            <a:xfrm>
              <a:off x="2211252" y="800604"/>
              <a:ext cx="625475" cy="3238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789" name="Rectangle 99"/>
            <p:cNvSpPr>
              <a:spLocks noChangeArrowheads="1"/>
            </p:cNvSpPr>
            <p:nvPr/>
          </p:nvSpPr>
          <p:spPr bwMode="auto">
            <a:xfrm>
              <a:off x="9739177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790" name="Rectangle 100"/>
            <p:cNvSpPr>
              <a:spLocks noChangeArrowheads="1"/>
            </p:cNvSpPr>
            <p:nvPr/>
          </p:nvSpPr>
          <p:spPr bwMode="auto">
            <a:xfrm>
              <a:off x="9108940" y="475167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791" name="Rectangle 101"/>
            <p:cNvSpPr>
              <a:spLocks noChangeArrowheads="1"/>
            </p:cNvSpPr>
            <p:nvPr/>
          </p:nvSpPr>
          <p:spPr bwMode="auto">
            <a:xfrm>
              <a:off x="8483465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07</a:t>
              </a:r>
            </a:p>
          </p:txBody>
        </p:sp>
        <p:sp>
          <p:nvSpPr>
            <p:cNvPr id="792" name="Rectangle 102"/>
            <p:cNvSpPr>
              <a:spLocks noChangeArrowheads="1"/>
            </p:cNvSpPr>
            <p:nvPr/>
          </p:nvSpPr>
          <p:spPr bwMode="auto">
            <a:xfrm>
              <a:off x="7854815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93" name="Rectangle 103"/>
            <p:cNvSpPr>
              <a:spLocks noChangeArrowheads="1"/>
            </p:cNvSpPr>
            <p:nvPr/>
          </p:nvSpPr>
          <p:spPr bwMode="auto">
            <a:xfrm>
              <a:off x="7229340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94" name="Rectangle 104"/>
            <p:cNvSpPr>
              <a:spLocks noChangeArrowheads="1"/>
            </p:cNvSpPr>
            <p:nvPr/>
          </p:nvSpPr>
          <p:spPr bwMode="auto">
            <a:xfrm>
              <a:off x="6602277" y="475167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795" name="Rectangle 105"/>
            <p:cNvSpPr>
              <a:spLocks noChangeArrowheads="1"/>
            </p:cNvSpPr>
            <p:nvPr/>
          </p:nvSpPr>
          <p:spPr bwMode="auto">
            <a:xfrm>
              <a:off x="5973627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796" name="Rectangle 106"/>
            <p:cNvSpPr>
              <a:spLocks noChangeArrowheads="1"/>
            </p:cNvSpPr>
            <p:nvPr/>
          </p:nvSpPr>
          <p:spPr bwMode="auto">
            <a:xfrm>
              <a:off x="5346565" y="475167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797" name="Rectangle 107"/>
            <p:cNvSpPr>
              <a:spLocks noChangeArrowheads="1"/>
            </p:cNvSpPr>
            <p:nvPr/>
          </p:nvSpPr>
          <p:spPr bwMode="auto">
            <a:xfrm>
              <a:off x="4721090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09</a:t>
              </a:r>
            </a:p>
          </p:txBody>
        </p:sp>
        <p:sp>
          <p:nvSpPr>
            <p:cNvPr id="798" name="Rectangle 108"/>
            <p:cNvSpPr>
              <a:spLocks noChangeArrowheads="1"/>
            </p:cNvSpPr>
            <p:nvPr/>
          </p:nvSpPr>
          <p:spPr bwMode="auto">
            <a:xfrm>
              <a:off x="4092440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99" name="Rectangle 109"/>
            <p:cNvSpPr>
              <a:spLocks noChangeArrowheads="1"/>
            </p:cNvSpPr>
            <p:nvPr/>
          </p:nvSpPr>
          <p:spPr bwMode="auto">
            <a:xfrm>
              <a:off x="3466965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00" name="Rectangle 110"/>
            <p:cNvSpPr>
              <a:spLocks noChangeArrowheads="1"/>
            </p:cNvSpPr>
            <p:nvPr/>
          </p:nvSpPr>
          <p:spPr bwMode="auto">
            <a:xfrm>
              <a:off x="2836727" y="475167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801" name="Rectangle 111"/>
            <p:cNvSpPr>
              <a:spLocks noChangeArrowheads="1"/>
            </p:cNvSpPr>
            <p:nvPr/>
          </p:nvSpPr>
          <p:spPr bwMode="auto">
            <a:xfrm>
              <a:off x="2211252" y="475167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802" name="Rectangle 112"/>
            <p:cNvSpPr>
              <a:spLocks noChangeArrowheads="1"/>
            </p:cNvSpPr>
            <p:nvPr/>
          </p:nvSpPr>
          <p:spPr bwMode="auto">
            <a:xfrm>
              <a:off x="9739177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803" name="Rectangle 113"/>
            <p:cNvSpPr>
              <a:spLocks noChangeArrowheads="1"/>
            </p:cNvSpPr>
            <p:nvPr/>
          </p:nvSpPr>
          <p:spPr bwMode="auto">
            <a:xfrm>
              <a:off x="9108940" y="14972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804" name="Rectangle 114"/>
            <p:cNvSpPr>
              <a:spLocks noChangeArrowheads="1"/>
            </p:cNvSpPr>
            <p:nvPr/>
          </p:nvSpPr>
          <p:spPr bwMode="auto">
            <a:xfrm>
              <a:off x="8483465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805" name="Rectangle 115"/>
            <p:cNvSpPr>
              <a:spLocks noChangeArrowheads="1"/>
            </p:cNvSpPr>
            <p:nvPr/>
          </p:nvSpPr>
          <p:spPr bwMode="auto">
            <a:xfrm>
              <a:off x="7854815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806" name="Rectangle 116"/>
            <p:cNvSpPr>
              <a:spLocks noChangeArrowheads="1"/>
            </p:cNvSpPr>
            <p:nvPr/>
          </p:nvSpPr>
          <p:spPr bwMode="auto">
            <a:xfrm>
              <a:off x="7229340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807" name="Rectangle 117"/>
            <p:cNvSpPr>
              <a:spLocks noChangeArrowheads="1"/>
            </p:cNvSpPr>
            <p:nvPr/>
          </p:nvSpPr>
          <p:spPr bwMode="auto">
            <a:xfrm>
              <a:off x="6602277" y="14972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808" name="Rectangle 118"/>
            <p:cNvSpPr>
              <a:spLocks noChangeArrowheads="1"/>
            </p:cNvSpPr>
            <p:nvPr/>
          </p:nvSpPr>
          <p:spPr bwMode="auto">
            <a:xfrm>
              <a:off x="5973627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809" name="Rectangle 119"/>
            <p:cNvSpPr>
              <a:spLocks noChangeArrowheads="1"/>
            </p:cNvSpPr>
            <p:nvPr/>
          </p:nvSpPr>
          <p:spPr bwMode="auto">
            <a:xfrm>
              <a:off x="5346565" y="14972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810" name="Rectangle 120"/>
            <p:cNvSpPr>
              <a:spLocks noChangeArrowheads="1"/>
            </p:cNvSpPr>
            <p:nvPr/>
          </p:nvSpPr>
          <p:spPr bwMode="auto">
            <a:xfrm>
              <a:off x="4721090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811" name="Rectangle 121"/>
            <p:cNvSpPr>
              <a:spLocks noChangeArrowheads="1"/>
            </p:cNvSpPr>
            <p:nvPr/>
          </p:nvSpPr>
          <p:spPr bwMode="auto">
            <a:xfrm>
              <a:off x="4092440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812" name="Rectangle 122"/>
            <p:cNvSpPr>
              <a:spLocks noChangeArrowheads="1"/>
            </p:cNvSpPr>
            <p:nvPr/>
          </p:nvSpPr>
          <p:spPr bwMode="auto">
            <a:xfrm>
              <a:off x="3466965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813" name="Rectangle 123"/>
            <p:cNvSpPr>
              <a:spLocks noChangeArrowheads="1"/>
            </p:cNvSpPr>
            <p:nvPr/>
          </p:nvSpPr>
          <p:spPr bwMode="auto">
            <a:xfrm>
              <a:off x="2836727" y="14972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814" name="Rectangle 124"/>
            <p:cNvSpPr>
              <a:spLocks noChangeArrowheads="1"/>
            </p:cNvSpPr>
            <p:nvPr/>
          </p:nvSpPr>
          <p:spPr bwMode="auto">
            <a:xfrm>
              <a:off x="2211252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Set</a:t>
              </a:r>
            </a:p>
          </p:txBody>
        </p:sp>
        <p:sp>
          <p:nvSpPr>
            <p:cNvPr id="815" name="Line 125"/>
            <p:cNvSpPr>
              <a:spLocks noChangeShapeType="1"/>
            </p:cNvSpPr>
            <p:nvPr/>
          </p:nvSpPr>
          <p:spPr bwMode="auto">
            <a:xfrm>
              <a:off x="2211252" y="475167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816" name="Line 126"/>
            <p:cNvSpPr>
              <a:spLocks noChangeShapeType="1"/>
            </p:cNvSpPr>
            <p:nvPr/>
          </p:nvSpPr>
          <p:spPr bwMode="auto">
            <a:xfrm>
              <a:off x="2211252" y="80060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7" name="Line 127"/>
            <p:cNvSpPr>
              <a:spLocks noChangeShapeType="1"/>
            </p:cNvSpPr>
            <p:nvPr/>
          </p:nvSpPr>
          <p:spPr bwMode="auto">
            <a:xfrm>
              <a:off x="2211252" y="112445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8" name="Line 128"/>
            <p:cNvSpPr>
              <a:spLocks noChangeShapeType="1"/>
            </p:cNvSpPr>
            <p:nvPr/>
          </p:nvSpPr>
          <p:spPr bwMode="auto">
            <a:xfrm>
              <a:off x="2211252" y="1449892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9" name="Line 129"/>
            <p:cNvSpPr>
              <a:spLocks noChangeShapeType="1"/>
            </p:cNvSpPr>
            <p:nvPr/>
          </p:nvSpPr>
          <p:spPr bwMode="auto">
            <a:xfrm>
              <a:off x="346696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0" name="Line 130"/>
            <p:cNvSpPr>
              <a:spLocks noChangeShapeType="1"/>
            </p:cNvSpPr>
            <p:nvPr/>
          </p:nvSpPr>
          <p:spPr bwMode="auto">
            <a:xfrm>
              <a:off x="40924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1" name="Line 131"/>
            <p:cNvSpPr>
              <a:spLocks noChangeShapeType="1"/>
            </p:cNvSpPr>
            <p:nvPr/>
          </p:nvSpPr>
          <p:spPr bwMode="auto">
            <a:xfrm>
              <a:off x="534656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2" name="Line 132"/>
            <p:cNvSpPr>
              <a:spLocks noChangeShapeType="1"/>
            </p:cNvSpPr>
            <p:nvPr/>
          </p:nvSpPr>
          <p:spPr bwMode="auto">
            <a:xfrm>
              <a:off x="5973627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3" name="Line 133"/>
            <p:cNvSpPr>
              <a:spLocks noChangeShapeType="1"/>
            </p:cNvSpPr>
            <p:nvPr/>
          </p:nvSpPr>
          <p:spPr bwMode="auto">
            <a:xfrm>
              <a:off x="72293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4" name="Line 134"/>
            <p:cNvSpPr>
              <a:spLocks noChangeShapeType="1"/>
            </p:cNvSpPr>
            <p:nvPr/>
          </p:nvSpPr>
          <p:spPr bwMode="auto">
            <a:xfrm>
              <a:off x="785481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5" name="Line 135"/>
            <p:cNvSpPr>
              <a:spLocks noChangeShapeType="1"/>
            </p:cNvSpPr>
            <p:nvPr/>
          </p:nvSpPr>
          <p:spPr bwMode="auto">
            <a:xfrm>
              <a:off x="91089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6" name="Line 136"/>
            <p:cNvSpPr>
              <a:spLocks noChangeShapeType="1"/>
            </p:cNvSpPr>
            <p:nvPr/>
          </p:nvSpPr>
          <p:spPr bwMode="auto">
            <a:xfrm>
              <a:off x="9739177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7" name="Line 137"/>
            <p:cNvSpPr>
              <a:spLocks noChangeShapeType="1"/>
            </p:cNvSpPr>
            <p:nvPr/>
          </p:nvSpPr>
          <p:spPr bwMode="auto">
            <a:xfrm>
              <a:off x="2836727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8" name="Line 138"/>
            <p:cNvSpPr>
              <a:spLocks noChangeShapeType="1"/>
            </p:cNvSpPr>
            <p:nvPr/>
          </p:nvSpPr>
          <p:spPr bwMode="auto">
            <a:xfrm>
              <a:off x="4721090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9" name="Line 139"/>
            <p:cNvSpPr>
              <a:spLocks noChangeShapeType="1"/>
            </p:cNvSpPr>
            <p:nvPr/>
          </p:nvSpPr>
          <p:spPr bwMode="auto">
            <a:xfrm>
              <a:off x="2211252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30" name="Line 140"/>
            <p:cNvSpPr>
              <a:spLocks noChangeShapeType="1"/>
            </p:cNvSpPr>
            <p:nvPr/>
          </p:nvSpPr>
          <p:spPr bwMode="auto">
            <a:xfrm>
              <a:off x="6602277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31" name="Line 141"/>
            <p:cNvSpPr>
              <a:spLocks noChangeShapeType="1"/>
            </p:cNvSpPr>
            <p:nvPr/>
          </p:nvSpPr>
          <p:spPr bwMode="auto">
            <a:xfrm>
              <a:off x="8483465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32" name="Line 142"/>
            <p:cNvSpPr>
              <a:spLocks noChangeShapeType="1"/>
            </p:cNvSpPr>
            <p:nvPr/>
          </p:nvSpPr>
          <p:spPr bwMode="auto">
            <a:xfrm>
              <a:off x="2211252" y="149729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833" name="Line 143"/>
            <p:cNvSpPr>
              <a:spLocks noChangeShapeType="1"/>
            </p:cNvSpPr>
            <p:nvPr/>
          </p:nvSpPr>
          <p:spPr bwMode="auto">
            <a:xfrm>
              <a:off x="10364653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34" name="Line 144"/>
            <p:cNvSpPr>
              <a:spLocks noChangeShapeType="1"/>
            </p:cNvSpPr>
            <p:nvPr/>
          </p:nvSpPr>
          <p:spPr bwMode="auto">
            <a:xfrm>
              <a:off x="2211252" y="1775330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/>
        </p:nvSpPr>
        <p:spPr bwMode="auto">
          <a:xfrm>
            <a:off x="437090" y="4106244"/>
            <a:ext cx="8478310" cy="229455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31" name="Rectangle 6"/>
          <p:cNvSpPr>
            <a:spLocks noChangeArrowheads="1"/>
          </p:cNvSpPr>
          <p:nvPr/>
        </p:nvSpPr>
        <p:spPr bwMode="auto">
          <a:xfrm>
            <a:off x="108902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2" name="Rectangle 7"/>
          <p:cNvSpPr>
            <a:spLocks noChangeArrowheads="1"/>
          </p:cNvSpPr>
          <p:nvPr/>
        </p:nvSpPr>
        <p:spPr bwMode="auto">
          <a:xfrm>
            <a:off x="10890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133" name="Rectangle 9"/>
          <p:cNvSpPr>
            <a:spLocks noChangeArrowheads="1"/>
          </p:cNvSpPr>
          <p:nvPr/>
        </p:nvSpPr>
        <p:spPr bwMode="auto">
          <a:xfrm>
            <a:off x="157638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" name="Rectangle 10"/>
          <p:cNvSpPr>
            <a:spLocks noChangeArrowheads="1"/>
          </p:cNvSpPr>
          <p:nvPr/>
        </p:nvSpPr>
        <p:spPr bwMode="auto">
          <a:xfrm>
            <a:off x="15763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135" name="Rectangle 12"/>
          <p:cNvSpPr>
            <a:spLocks noChangeArrowheads="1"/>
          </p:cNvSpPr>
          <p:nvPr/>
        </p:nvSpPr>
        <p:spPr bwMode="auto">
          <a:xfrm>
            <a:off x="2063750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" name="Rectangle 13"/>
          <p:cNvSpPr>
            <a:spLocks noChangeArrowheads="1"/>
          </p:cNvSpPr>
          <p:nvPr/>
        </p:nvSpPr>
        <p:spPr bwMode="auto">
          <a:xfrm>
            <a:off x="20637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137" name="Rectangle 15"/>
          <p:cNvSpPr>
            <a:spLocks noChangeArrowheads="1"/>
          </p:cNvSpPr>
          <p:nvPr/>
        </p:nvSpPr>
        <p:spPr bwMode="auto">
          <a:xfrm>
            <a:off x="2551112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" name="Rectangle 16"/>
          <p:cNvSpPr>
            <a:spLocks noChangeArrowheads="1"/>
          </p:cNvSpPr>
          <p:nvPr/>
        </p:nvSpPr>
        <p:spPr bwMode="auto">
          <a:xfrm>
            <a:off x="25511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139" name="Rectangle 18"/>
          <p:cNvSpPr>
            <a:spLocks noChangeArrowheads="1"/>
          </p:cNvSpPr>
          <p:nvPr/>
        </p:nvSpPr>
        <p:spPr bwMode="auto">
          <a:xfrm>
            <a:off x="303847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" name="Rectangle 19"/>
          <p:cNvSpPr>
            <a:spLocks noChangeArrowheads="1"/>
          </p:cNvSpPr>
          <p:nvPr/>
        </p:nvSpPr>
        <p:spPr bwMode="auto">
          <a:xfrm>
            <a:off x="30384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141" name="Rectangle 21"/>
          <p:cNvSpPr>
            <a:spLocks noChangeArrowheads="1"/>
          </p:cNvSpPr>
          <p:nvPr/>
        </p:nvSpPr>
        <p:spPr bwMode="auto">
          <a:xfrm>
            <a:off x="352583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" name="Rectangle 22"/>
          <p:cNvSpPr>
            <a:spLocks noChangeArrowheads="1"/>
          </p:cNvSpPr>
          <p:nvPr/>
        </p:nvSpPr>
        <p:spPr bwMode="auto">
          <a:xfrm>
            <a:off x="35258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143" name="Rectangle 24"/>
          <p:cNvSpPr>
            <a:spLocks noChangeArrowheads="1"/>
          </p:cNvSpPr>
          <p:nvPr/>
        </p:nvSpPr>
        <p:spPr bwMode="auto">
          <a:xfrm>
            <a:off x="4013200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" name="Rectangle 25"/>
          <p:cNvSpPr>
            <a:spLocks noChangeArrowheads="1"/>
          </p:cNvSpPr>
          <p:nvPr/>
        </p:nvSpPr>
        <p:spPr bwMode="auto">
          <a:xfrm>
            <a:off x="401320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145" name="Rectangle 27"/>
          <p:cNvSpPr>
            <a:spLocks noChangeArrowheads="1"/>
          </p:cNvSpPr>
          <p:nvPr/>
        </p:nvSpPr>
        <p:spPr bwMode="auto">
          <a:xfrm>
            <a:off x="4500562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" name="Rectangle 28"/>
          <p:cNvSpPr>
            <a:spLocks noChangeArrowheads="1"/>
          </p:cNvSpPr>
          <p:nvPr/>
        </p:nvSpPr>
        <p:spPr bwMode="auto">
          <a:xfrm>
            <a:off x="450056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498792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8" name="Rectangle 31"/>
          <p:cNvSpPr>
            <a:spLocks noChangeArrowheads="1"/>
          </p:cNvSpPr>
          <p:nvPr/>
        </p:nvSpPr>
        <p:spPr bwMode="auto">
          <a:xfrm>
            <a:off x="49879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149" name="Rectangle 33"/>
          <p:cNvSpPr>
            <a:spLocks noChangeArrowheads="1"/>
          </p:cNvSpPr>
          <p:nvPr/>
        </p:nvSpPr>
        <p:spPr bwMode="auto">
          <a:xfrm>
            <a:off x="547528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0" name="Rectangle 34"/>
          <p:cNvSpPr>
            <a:spLocks noChangeArrowheads="1"/>
          </p:cNvSpPr>
          <p:nvPr/>
        </p:nvSpPr>
        <p:spPr bwMode="auto">
          <a:xfrm>
            <a:off x="54752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151" name="Rectangle 36"/>
          <p:cNvSpPr>
            <a:spLocks noChangeArrowheads="1"/>
          </p:cNvSpPr>
          <p:nvPr/>
        </p:nvSpPr>
        <p:spPr bwMode="auto">
          <a:xfrm>
            <a:off x="5962650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2" name="Rectangle 37"/>
          <p:cNvSpPr>
            <a:spLocks noChangeArrowheads="1"/>
          </p:cNvSpPr>
          <p:nvPr/>
        </p:nvSpPr>
        <p:spPr bwMode="auto">
          <a:xfrm>
            <a:off x="59626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53" name="Rectangle 39"/>
          <p:cNvSpPr>
            <a:spLocks noChangeArrowheads="1"/>
          </p:cNvSpPr>
          <p:nvPr/>
        </p:nvSpPr>
        <p:spPr bwMode="auto">
          <a:xfrm>
            <a:off x="6450012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" name="Rectangle 40"/>
          <p:cNvSpPr>
            <a:spLocks noChangeArrowheads="1"/>
          </p:cNvSpPr>
          <p:nvPr/>
        </p:nvSpPr>
        <p:spPr bwMode="auto">
          <a:xfrm>
            <a:off x="64500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55" name="Rectangle 42"/>
          <p:cNvSpPr>
            <a:spLocks noChangeArrowheads="1"/>
          </p:cNvSpPr>
          <p:nvPr/>
        </p:nvSpPr>
        <p:spPr bwMode="auto">
          <a:xfrm>
            <a:off x="693737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" name="Rectangle 43"/>
          <p:cNvSpPr>
            <a:spLocks noChangeArrowheads="1"/>
          </p:cNvSpPr>
          <p:nvPr/>
        </p:nvSpPr>
        <p:spPr bwMode="auto">
          <a:xfrm>
            <a:off x="69373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57" name="Rectangle 45"/>
          <p:cNvSpPr>
            <a:spLocks noChangeArrowheads="1"/>
          </p:cNvSpPr>
          <p:nvPr/>
        </p:nvSpPr>
        <p:spPr bwMode="auto">
          <a:xfrm>
            <a:off x="742473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" name="Rectangle 46"/>
          <p:cNvSpPr>
            <a:spLocks noChangeArrowheads="1"/>
          </p:cNvSpPr>
          <p:nvPr/>
        </p:nvSpPr>
        <p:spPr bwMode="auto">
          <a:xfrm>
            <a:off x="74247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159" name="Group 47"/>
          <p:cNvGrpSpPr>
            <a:grpSpLocks/>
          </p:cNvGrpSpPr>
          <p:nvPr/>
        </p:nvGrpSpPr>
        <p:grpSpPr bwMode="auto">
          <a:xfrm>
            <a:off x="4987924" y="2924149"/>
            <a:ext cx="2924175" cy="333375"/>
            <a:chOff x="3085" y="1661"/>
            <a:chExt cx="1842" cy="210"/>
          </a:xfrm>
        </p:grpSpPr>
        <p:sp>
          <p:nvSpPr>
            <p:cNvPr id="160" name="Line 48"/>
            <p:cNvSpPr>
              <a:spLocks noChangeShapeType="1"/>
            </p:cNvSpPr>
            <p:nvPr/>
          </p:nvSpPr>
          <p:spPr bwMode="auto">
            <a:xfrm>
              <a:off x="3085" y="1752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Text Box 49"/>
            <p:cNvSpPr txBox="1">
              <a:spLocks noChangeArrowheads="1"/>
            </p:cNvSpPr>
            <p:nvPr/>
          </p:nvSpPr>
          <p:spPr bwMode="auto">
            <a:xfrm>
              <a:off x="3792" y="1661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162" name="Group 50"/>
          <p:cNvGrpSpPr>
            <a:grpSpLocks/>
          </p:cNvGrpSpPr>
          <p:nvPr/>
        </p:nvGrpSpPr>
        <p:grpSpPr bwMode="auto">
          <a:xfrm>
            <a:off x="1089025" y="2916211"/>
            <a:ext cx="3916362" cy="333375"/>
            <a:chOff x="629" y="1656"/>
            <a:chExt cx="2467" cy="210"/>
          </a:xfrm>
        </p:grpSpPr>
        <p:sp>
          <p:nvSpPr>
            <p:cNvPr id="163" name="Line 51"/>
            <p:cNvSpPr>
              <a:spLocks noChangeShapeType="1"/>
            </p:cNvSpPr>
            <p:nvPr/>
          </p:nvSpPr>
          <p:spPr bwMode="auto">
            <a:xfrm>
              <a:off x="629" y="1747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Text Box 52"/>
            <p:cNvSpPr txBox="1">
              <a:spLocks noChangeArrowheads="1"/>
            </p:cNvSpPr>
            <p:nvPr/>
          </p:nvSpPr>
          <p:spPr bwMode="auto">
            <a:xfrm>
              <a:off x="1577" y="1656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VPN</a:t>
              </a:r>
            </a:p>
          </p:txBody>
        </p:sp>
      </p:grpSp>
      <p:sp>
        <p:nvSpPr>
          <p:cNvPr id="165" name="Line 54"/>
          <p:cNvSpPr>
            <a:spLocks noChangeShapeType="1"/>
          </p:cNvSpPr>
          <p:nvPr/>
        </p:nvSpPr>
        <p:spPr bwMode="auto">
          <a:xfrm>
            <a:off x="4010025" y="2015040"/>
            <a:ext cx="992187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6" name="Text Box 55"/>
          <p:cNvSpPr txBox="1">
            <a:spLocks noChangeArrowheads="1"/>
          </p:cNvSpPr>
          <p:nvPr/>
        </p:nvSpPr>
        <p:spPr bwMode="auto">
          <a:xfrm>
            <a:off x="4233862" y="1891215"/>
            <a:ext cx="539750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TLBI</a:t>
            </a:r>
          </a:p>
        </p:txBody>
      </p:sp>
      <p:sp>
        <p:nvSpPr>
          <p:cNvPr id="167" name="Line 57"/>
          <p:cNvSpPr>
            <a:spLocks noChangeShapeType="1"/>
          </p:cNvSpPr>
          <p:nvPr/>
        </p:nvSpPr>
        <p:spPr bwMode="auto">
          <a:xfrm>
            <a:off x="1089025" y="2011336"/>
            <a:ext cx="2927350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8" name="Text Box 58"/>
          <p:cNvSpPr txBox="1">
            <a:spLocks noChangeArrowheads="1"/>
          </p:cNvSpPr>
          <p:nvPr/>
        </p:nvSpPr>
        <p:spPr bwMode="auto">
          <a:xfrm>
            <a:off x="2332038" y="1887511"/>
            <a:ext cx="582613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TLBT</a:t>
            </a:r>
          </a:p>
        </p:txBody>
      </p:sp>
      <p:sp>
        <p:nvSpPr>
          <p:cNvPr id="208" name="Text Box 113"/>
          <p:cNvSpPr txBox="1">
            <a:spLocks noChangeArrowheads="1"/>
          </p:cNvSpPr>
          <p:nvPr/>
        </p:nvSpPr>
        <p:spPr bwMode="auto">
          <a:xfrm>
            <a:off x="755808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09" name="Text Box 114"/>
          <p:cNvSpPr txBox="1">
            <a:spLocks noChangeArrowheads="1"/>
          </p:cNvSpPr>
          <p:nvPr/>
        </p:nvSpPr>
        <p:spPr bwMode="auto">
          <a:xfrm>
            <a:off x="7070725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10" name="Text Box 115"/>
          <p:cNvSpPr txBox="1">
            <a:spLocks noChangeArrowheads="1"/>
          </p:cNvSpPr>
          <p:nvPr/>
        </p:nvSpPr>
        <p:spPr bwMode="auto">
          <a:xfrm>
            <a:off x="6584950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11" name="Text Box 116"/>
          <p:cNvSpPr txBox="1">
            <a:spLocks noChangeArrowheads="1"/>
          </p:cNvSpPr>
          <p:nvPr/>
        </p:nvSpPr>
        <p:spPr bwMode="auto">
          <a:xfrm>
            <a:off x="6097587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12" name="Text Box 117"/>
          <p:cNvSpPr txBox="1">
            <a:spLocks noChangeArrowheads="1"/>
          </p:cNvSpPr>
          <p:nvPr/>
        </p:nvSpPr>
        <p:spPr bwMode="auto">
          <a:xfrm>
            <a:off x="5611812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13" name="Text Box 118"/>
          <p:cNvSpPr txBox="1">
            <a:spLocks noChangeArrowheads="1"/>
          </p:cNvSpPr>
          <p:nvPr/>
        </p:nvSpPr>
        <p:spPr bwMode="auto">
          <a:xfrm>
            <a:off x="5124450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14" name="Text Box 119"/>
          <p:cNvSpPr txBox="1">
            <a:spLocks noChangeArrowheads="1"/>
          </p:cNvSpPr>
          <p:nvPr/>
        </p:nvSpPr>
        <p:spPr bwMode="auto">
          <a:xfrm>
            <a:off x="4638675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15" name="Text Box 120"/>
          <p:cNvSpPr txBox="1">
            <a:spLocks noChangeArrowheads="1"/>
          </p:cNvSpPr>
          <p:nvPr/>
        </p:nvSpPr>
        <p:spPr bwMode="auto">
          <a:xfrm>
            <a:off x="415131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16" name="Text Box 121"/>
          <p:cNvSpPr txBox="1">
            <a:spLocks noChangeArrowheads="1"/>
          </p:cNvSpPr>
          <p:nvPr/>
        </p:nvSpPr>
        <p:spPr bwMode="auto">
          <a:xfrm>
            <a:off x="366553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17" name="Text Box 122"/>
          <p:cNvSpPr txBox="1">
            <a:spLocks noChangeArrowheads="1"/>
          </p:cNvSpPr>
          <p:nvPr/>
        </p:nvSpPr>
        <p:spPr bwMode="auto">
          <a:xfrm>
            <a:off x="3178175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18" name="Text Box 123"/>
          <p:cNvSpPr txBox="1">
            <a:spLocks noChangeArrowheads="1"/>
          </p:cNvSpPr>
          <p:nvPr/>
        </p:nvSpPr>
        <p:spPr bwMode="auto">
          <a:xfrm>
            <a:off x="2692400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19" name="Text Box 124"/>
          <p:cNvSpPr txBox="1">
            <a:spLocks noChangeArrowheads="1"/>
          </p:cNvSpPr>
          <p:nvPr/>
        </p:nvSpPr>
        <p:spPr bwMode="auto">
          <a:xfrm>
            <a:off x="220503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20" name="Text Box 125"/>
          <p:cNvSpPr txBox="1">
            <a:spLocks noChangeArrowheads="1"/>
          </p:cNvSpPr>
          <p:nvPr/>
        </p:nvSpPr>
        <p:spPr bwMode="auto">
          <a:xfrm>
            <a:off x="171926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21" name="Text Box 126"/>
          <p:cNvSpPr txBox="1">
            <a:spLocks noChangeArrowheads="1"/>
          </p:cNvSpPr>
          <p:nvPr/>
        </p:nvSpPr>
        <p:spPr bwMode="auto">
          <a:xfrm>
            <a:off x="123348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22" name="Text Box 128"/>
          <p:cNvSpPr txBox="1">
            <a:spLocks noChangeArrowheads="1"/>
          </p:cNvSpPr>
          <p:nvPr/>
        </p:nvSpPr>
        <p:spPr bwMode="auto">
          <a:xfrm>
            <a:off x="1143000" y="3437965"/>
            <a:ext cx="490538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0x0F</a:t>
            </a:r>
          </a:p>
        </p:txBody>
      </p:sp>
      <p:sp>
        <p:nvSpPr>
          <p:cNvPr id="223" name="Text Box 129"/>
          <p:cNvSpPr txBox="1">
            <a:spLocks noChangeArrowheads="1"/>
          </p:cNvSpPr>
          <p:nvPr/>
        </p:nvSpPr>
        <p:spPr bwMode="auto">
          <a:xfrm>
            <a:off x="2489808" y="3437965"/>
            <a:ext cx="394599" cy="316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0x3</a:t>
            </a:r>
          </a:p>
        </p:txBody>
      </p:sp>
      <p:sp>
        <p:nvSpPr>
          <p:cNvPr id="224" name="Text Box 130"/>
          <p:cNvSpPr txBox="1">
            <a:spLocks noChangeArrowheads="1"/>
          </p:cNvSpPr>
          <p:nvPr/>
        </p:nvSpPr>
        <p:spPr bwMode="auto">
          <a:xfrm>
            <a:off x="3454401" y="3437965"/>
            <a:ext cx="500063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0x03</a:t>
            </a:r>
          </a:p>
        </p:txBody>
      </p:sp>
      <p:sp>
        <p:nvSpPr>
          <p:cNvPr id="225" name="Text Box 131"/>
          <p:cNvSpPr txBox="1">
            <a:spLocks noChangeArrowheads="1"/>
          </p:cNvSpPr>
          <p:nvPr/>
        </p:nvSpPr>
        <p:spPr bwMode="auto">
          <a:xfrm>
            <a:off x="5142732" y="3437939"/>
            <a:ext cx="19973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Y</a:t>
            </a:r>
          </a:p>
        </p:txBody>
      </p:sp>
      <p:sp>
        <p:nvSpPr>
          <p:cNvPr id="226" name="Text Box 133"/>
          <p:cNvSpPr txBox="1">
            <a:spLocks noChangeArrowheads="1"/>
          </p:cNvSpPr>
          <p:nvPr/>
        </p:nvSpPr>
        <p:spPr bwMode="auto">
          <a:xfrm>
            <a:off x="6781800" y="3437965"/>
            <a:ext cx="227012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227" name="Text Box 134"/>
          <p:cNvSpPr txBox="1">
            <a:spLocks noChangeArrowheads="1"/>
          </p:cNvSpPr>
          <p:nvPr/>
        </p:nvSpPr>
        <p:spPr bwMode="auto">
          <a:xfrm>
            <a:off x="7746470" y="3437965"/>
            <a:ext cx="525462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0x0D</a:t>
            </a:r>
          </a:p>
        </p:txBody>
      </p:sp>
      <p:sp>
        <p:nvSpPr>
          <p:cNvPr id="37889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7345363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 Example</a:t>
            </a:r>
          </a:p>
        </p:txBody>
      </p:sp>
      <p:sp>
        <p:nvSpPr>
          <p:cNvPr id="130" name="Rectangle 2"/>
          <p:cNvSpPr txBox="1">
            <a:spLocks noChangeArrowheads="1"/>
          </p:cNvSpPr>
          <p:nvPr/>
        </p:nvSpPr>
        <p:spPr bwMode="auto">
          <a:xfrm>
            <a:off x="376640" y="1367323"/>
            <a:ext cx="8307387" cy="533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22250" indent="-222250">
              <a:lnSpc>
                <a:spcPct val="73000"/>
              </a:lnSpc>
              <a:buSzPct val="100000"/>
              <a:buFont typeface="Wingdings 2" pitchFamily="18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kern="0" dirty="0"/>
              <a:t>Virtual Address: </a:t>
            </a:r>
            <a:r>
              <a:rPr lang="en-GB" kern="0" dirty="0">
                <a:latin typeface="Courier New" pitchFamily="49" charset="0"/>
              </a:rPr>
              <a:t>0x03D4</a:t>
            </a: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kern="0" dirty="0"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kern="0" dirty="0">
              <a:latin typeface="Courier New" pitchFamily="49" charset="0"/>
            </a:endParaRPr>
          </a:p>
          <a:p>
            <a:pPr marL="558800" lvl="1" indent="-220663">
              <a:lnSpc>
                <a:spcPct val="85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b="0" kern="0" dirty="0">
              <a:latin typeface="Courier New" pitchFamily="49" charset="0"/>
            </a:endParaRP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b="0" kern="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400" b="0" kern="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b="0" kern="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b="0" kern="0" dirty="0"/>
              <a:t>VPN ___	TLBI ___	TLBT ____	          TLB Hit? __	Page Fault? __        PPN: ____</a:t>
            </a:r>
            <a:endParaRPr lang="en-GB" b="0" kern="0" dirty="0"/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kern="0" dirty="0"/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kern="0" dirty="0"/>
              <a:t>Physical Address</a:t>
            </a:r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b="0" kern="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b="0" kern="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b="0" kern="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b="0" kern="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b="0" kern="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b="0" kern="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b="0" kern="0" dirty="0"/>
              <a:t>	CO ___	CI___	CT ____	     Hit? __              Byte: ____</a:t>
            </a: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b="0" kern="0" dirty="0"/>
          </a:p>
        </p:txBody>
      </p:sp>
      <p:sp>
        <p:nvSpPr>
          <p:cNvPr id="23" name="Rectangle 22"/>
          <p:cNvSpPr/>
          <p:nvPr/>
        </p:nvSpPr>
        <p:spPr bwMode="auto">
          <a:xfrm>
            <a:off x="0" y="1143000"/>
            <a:ext cx="9144000" cy="2819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69" name="Rectangle 62"/>
          <p:cNvSpPr>
            <a:spLocks noChangeArrowheads="1"/>
          </p:cNvSpPr>
          <p:nvPr/>
        </p:nvSpPr>
        <p:spPr bwMode="auto">
          <a:xfrm>
            <a:off x="207168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0" name="Rectangle 63"/>
          <p:cNvSpPr>
            <a:spLocks noChangeArrowheads="1"/>
          </p:cNvSpPr>
          <p:nvPr/>
        </p:nvSpPr>
        <p:spPr bwMode="auto">
          <a:xfrm>
            <a:off x="20716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171" name="Rectangle 65"/>
          <p:cNvSpPr>
            <a:spLocks noChangeArrowheads="1"/>
          </p:cNvSpPr>
          <p:nvPr/>
        </p:nvSpPr>
        <p:spPr bwMode="auto">
          <a:xfrm>
            <a:off x="255905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2" name="Rectangle 66"/>
          <p:cNvSpPr>
            <a:spLocks noChangeArrowheads="1"/>
          </p:cNvSpPr>
          <p:nvPr/>
        </p:nvSpPr>
        <p:spPr bwMode="auto">
          <a:xfrm>
            <a:off x="25590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173" name="Rectangle 68"/>
          <p:cNvSpPr>
            <a:spLocks noChangeArrowheads="1"/>
          </p:cNvSpPr>
          <p:nvPr/>
        </p:nvSpPr>
        <p:spPr bwMode="auto">
          <a:xfrm>
            <a:off x="3046412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" name="Rectangle 69"/>
          <p:cNvSpPr>
            <a:spLocks noChangeArrowheads="1"/>
          </p:cNvSpPr>
          <p:nvPr/>
        </p:nvSpPr>
        <p:spPr bwMode="auto">
          <a:xfrm>
            <a:off x="30464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175" name="Rectangle 71"/>
          <p:cNvSpPr>
            <a:spLocks noChangeArrowheads="1"/>
          </p:cNvSpPr>
          <p:nvPr/>
        </p:nvSpPr>
        <p:spPr bwMode="auto">
          <a:xfrm>
            <a:off x="3533775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6" name="Rectangle 72"/>
          <p:cNvSpPr>
            <a:spLocks noChangeArrowheads="1"/>
          </p:cNvSpPr>
          <p:nvPr/>
        </p:nvSpPr>
        <p:spPr bwMode="auto">
          <a:xfrm>
            <a:off x="35337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177" name="Rectangle 74"/>
          <p:cNvSpPr>
            <a:spLocks noChangeArrowheads="1"/>
          </p:cNvSpPr>
          <p:nvPr/>
        </p:nvSpPr>
        <p:spPr bwMode="auto">
          <a:xfrm>
            <a:off x="402113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8" name="Rectangle 75"/>
          <p:cNvSpPr>
            <a:spLocks noChangeArrowheads="1"/>
          </p:cNvSpPr>
          <p:nvPr/>
        </p:nvSpPr>
        <p:spPr bwMode="auto">
          <a:xfrm>
            <a:off x="402113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179" name="Rectangle 77"/>
          <p:cNvSpPr>
            <a:spLocks noChangeArrowheads="1"/>
          </p:cNvSpPr>
          <p:nvPr/>
        </p:nvSpPr>
        <p:spPr bwMode="auto">
          <a:xfrm>
            <a:off x="450850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" name="Rectangle 78"/>
          <p:cNvSpPr>
            <a:spLocks noChangeArrowheads="1"/>
          </p:cNvSpPr>
          <p:nvPr/>
        </p:nvSpPr>
        <p:spPr bwMode="auto">
          <a:xfrm>
            <a:off x="450850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181" name="Rectangle 80"/>
          <p:cNvSpPr>
            <a:spLocks noChangeArrowheads="1"/>
          </p:cNvSpPr>
          <p:nvPr/>
        </p:nvSpPr>
        <p:spPr bwMode="auto">
          <a:xfrm>
            <a:off x="499586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" name="Rectangle 81"/>
          <p:cNvSpPr>
            <a:spLocks noChangeArrowheads="1"/>
          </p:cNvSpPr>
          <p:nvPr/>
        </p:nvSpPr>
        <p:spPr bwMode="auto">
          <a:xfrm>
            <a:off x="499586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183" name="Rectangle 83"/>
          <p:cNvSpPr>
            <a:spLocks noChangeArrowheads="1"/>
          </p:cNvSpPr>
          <p:nvPr/>
        </p:nvSpPr>
        <p:spPr bwMode="auto">
          <a:xfrm>
            <a:off x="548322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" name="Rectangle 84"/>
          <p:cNvSpPr>
            <a:spLocks noChangeArrowheads="1"/>
          </p:cNvSpPr>
          <p:nvPr/>
        </p:nvSpPr>
        <p:spPr bwMode="auto">
          <a:xfrm>
            <a:off x="548322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185" name="Rectangle 86"/>
          <p:cNvSpPr>
            <a:spLocks noChangeArrowheads="1"/>
          </p:cNvSpPr>
          <p:nvPr/>
        </p:nvSpPr>
        <p:spPr bwMode="auto">
          <a:xfrm>
            <a:off x="5970587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6" name="Rectangle 87"/>
          <p:cNvSpPr>
            <a:spLocks noChangeArrowheads="1"/>
          </p:cNvSpPr>
          <p:nvPr/>
        </p:nvSpPr>
        <p:spPr bwMode="auto">
          <a:xfrm>
            <a:off x="59705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87" name="Rectangle 89"/>
          <p:cNvSpPr>
            <a:spLocks noChangeArrowheads="1"/>
          </p:cNvSpPr>
          <p:nvPr/>
        </p:nvSpPr>
        <p:spPr bwMode="auto">
          <a:xfrm>
            <a:off x="6457950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" name="Rectangle 90"/>
          <p:cNvSpPr>
            <a:spLocks noChangeArrowheads="1"/>
          </p:cNvSpPr>
          <p:nvPr/>
        </p:nvSpPr>
        <p:spPr bwMode="auto">
          <a:xfrm>
            <a:off x="64579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694531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69453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91" name="Rectangle 95"/>
          <p:cNvSpPr>
            <a:spLocks noChangeArrowheads="1"/>
          </p:cNvSpPr>
          <p:nvPr/>
        </p:nvSpPr>
        <p:spPr bwMode="auto">
          <a:xfrm>
            <a:off x="743267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Rectangle 96"/>
          <p:cNvSpPr>
            <a:spLocks noChangeArrowheads="1"/>
          </p:cNvSpPr>
          <p:nvPr/>
        </p:nvSpPr>
        <p:spPr bwMode="auto">
          <a:xfrm>
            <a:off x="74326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193" name="Group 97"/>
          <p:cNvGrpSpPr>
            <a:grpSpLocks/>
          </p:cNvGrpSpPr>
          <p:nvPr/>
        </p:nvGrpSpPr>
        <p:grpSpPr bwMode="auto">
          <a:xfrm>
            <a:off x="5004858" y="5564717"/>
            <a:ext cx="2924175" cy="333375"/>
            <a:chOff x="3101" y="3292"/>
            <a:chExt cx="1842" cy="210"/>
          </a:xfrm>
        </p:grpSpPr>
        <p:sp>
          <p:nvSpPr>
            <p:cNvPr id="194" name="Line 98"/>
            <p:cNvSpPr>
              <a:spLocks noChangeShapeType="1"/>
            </p:cNvSpPr>
            <p:nvPr/>
          </p:nvSpPr>
          <p:spPr bwMode="auto">
            <a:xfrm>
              <a:off x="3101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Text Box 99"/>
            <p:cNvSpPr txBox="1">
              <a:spLocks noChangeArrowheads="1"/>
            </p:cNvSpPr>
            <p:nvPr/>
          </p:nvSpPr>
          <p:spPr bwMode="auto">
            <a:xfrm>
              <a:off x="3808" y="3292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196" name="Group 100"/>
          <p:cNvGrpSpPr>
            <a:grpSpLocks/>
          </p:cNvGrpSpPr>
          <p:nvPr/>
        </p:nvGrpSpPr>
        <p:grpSpPr bwMode="auto">
          <a:xfrm>
            <a:off x="2092324" y="5556250"/>
            <a:ext cx="2924175" cy="333375"/>
            <a:chOff x="1277" y="3292"/>
            <a:chExt cx="1842" cy="210"/>
          </a:xfrm>
        </p:grpSpPr>
        <p:sp>
          <p:nvSpPr>
            <p:cNvPr id="197" name="Line 101"/>
            <p:cNvSpPr>
              <a:spLocks noChangeShapeType="1"/>
            </p:cNvSpPr>
            <p:nvPr/>
          </p:nvSpPr>
          <p:spPr bwMode="auto">
            <a:xfrm>
              <a:off x="1277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Text Box 102"/>
            <p:cNvSpPr txBox="1">
              <a:spLocks noChangeArrowheads="1"/>
            </p:cNvSpPr>
            <p:nvPr/>
          </p:nvSpPr>
          <p:spPr bwMode="auto">
            <a:xfrm>
              <a:off x="1984" y="3292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199" name="Group 103"/>
          <p:cNvGrpSpPr>
            <a:grpSpLocks/>
          </p:cNvGrpSpPr>
          <p:nvPr/>
        </p:nvGrpSpPr>
        <p:grpSpPr bwMode="auto">
          <a:xfrm>
            <a:off x="6925204" y="4516438"/>
            <a:ext cx="992188" cy="306388"/>
            <a:chOff x="4300" y="2637"/>
            <a:chExt cx="625" cy="193"/>
          </a:xfrm>
        </p:grpSpPr>
        <p:sp>
          <p:nvSpPr>
            <p:cNvPr id="200" name="Line 104"/>
            <p:cNvSpPr>
              <a:spLocks noChangeShapeType="1"/>
            </p:cNvSpPr>
            <p:nvPr/>
          </p:nvSpPr>
          <p:spPr bwMode="auto">
            <a:xfrm>
              <a:off x="4300" y="2715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Text Box 105"/>
            <p:cNvSpPr txBox="1">
              <a:spLocks noChangeArrowheads="1"/>
            </p:cNvSpPr>
            <p:nvPr/>
          </p:nvSpPr>
          <p:spPr bwMode="auto">
            <a:xfrm>
              <a:off x="4486" y="2637"/>
              <a:ext cx="271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CO</a:t>
              </a:r>
            </a:p>
          </p:txBody>
        </p:sp>
      </p:grpSp>
      <p:grpSp>
        <p:nvGrpSpPr>
          <p:cNvPr id="202" name="Group 106"/>
          <p:cNvGrpSpPr>
            <a:grpSpLocks/>
          </p:cNvGrpSpPr>
          <p:nvPr/>
        </p:nvGrpSpPr>
        <p:grpSpPr bwMode="auto">
          <a:xfrm>
            <a:off x="4987395" y="4512734"/>
            <a:ext cx="1927225" cy="306388"/>
            <a:chOff x="3090" y="2624"/>
            <a:chExt cx="1214" cy="193"/>
          </a:xfrm>
        </p:grpSpPr>
        <p:sp>
          <p:nvSpPr>
            <p:cNvPr id="203" name="Line 107"/>
            <p:cNvSpPr>
              <a:spLocks noChangeShapeType="1"/>
            </p:cNvSpPr>
            <p:nvPr/>
          </p:nvSpPr>
          <p:spPr bwMode="auto">
            <a:xfrm>
              <a:off x="3090" y="2702"/>
              <a:ext cx="1214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Text Box 108"/>
            <p:cNvSpPr txBox="1">
              <a:spLocks noChangeArrowheads="1"/>
            </p:cNvSpPr>
            <p:nvPr/>
          </p:nvSpPr>
          <p:spPr bwMode="auto">
            <a:xfrm>
              <a:off x="3629" y="2624"/>
              <a:ext cx="21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CI</a:t>
              </a:r>
            </a:p>
          </p:txBody>
        </p:sp>
      </p:grpSp>
      <p:grpSp>
        <p:nvGrpSpPr>
          <p:cNvPr id="205" name="Group 109"/>
          <p:cNvGrpSpPr>
            <a:grpSpLocks/>
          </p:cNvGrpSpPr>
          <p:nvPr/>
        </p:nvGrpSpPr>
        <p:grpSpPr bwMode="auto">
          <a:xfrm>
            <a:off x="2071687" y="4516438"/>
            <a:ext cx="2894013" cy="306388"/>
            <a:chOff x="1248" y="2637"/>
            <a:chExt cx="1823" cy="193"/>
          </a:xfrm>
        </p:grpSpPr>
        <p:sp>
          <p:nvSpPr>
            <p:cNvPr id="206" name="Line 110"/>
            <p:cNvSpPr>
              <a:spLocks noChangeShapeType="1"/>
            </p:cNvSpPr>
            <p:nvPr/>
          </p:nvSpPr>
          <p:spPr bwMode="auto">
            <a:xfrm>
              <a:off x="1248" y="2715"/>
              <a:ext cx="182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Text Box 111"/>
            <p:cNvSpPr txBox="1">
              <a:spLocks noChangeArrowheads="1"/>
            </p:cNvSpPr>
            <p:nvPr/>
          </p:nvSpPr>
          <p:spPr bwMode="auto">
            <a:xfrm>
              <a:off x="2098" y="2637"/>
              <a:ext cx="24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CT</a:t>
              </a:r>
            </a:p>
          </p:txBody>
        </p:sp>
      </p:grpSp>
      <p:grpSp>
        <p:nvGrpSpPr>
          <p:cNvPr id="228" name="Group 135"/>
          <p:cNvGrpSpPr>
            <a:grpSpLocks/>
          </p:cNvGrpSpPr>
          <p:nvPr/>
        </p:nvGrpSpPr>
        <p:grpSpPr bwMode="auto">
          <a:xfrm>
            <a:off x="2215620" y="5173133"/>
            <a:ext cx="5576888" cy="339725"/>
            <a:chOff x="1344" y="3030"/>
            <a:chExt cx="3513" cy="214"/>
          </a:xfrm>
        </p:grpSpPr>
        <p:sp>
          <p:nvSpPr>
            <p:cNvPr id="229" name="Text Box 136"/>
            <p:cNvSpPr txBox="1">
              <a:spLocks noChangeArrowheads="1"/>
            </p:cNvSpPr>
            <p:nvPr/>
          </p:nvSpPr>
          <p:spPr bwMode="auto">
            <a:xfrm>
              <a:off x="4725" y="3031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30" name="Text Box 137"/>
            <p:cNvSpPr txBox="1">
              <a:spLocks noChangeArrowheads="1"/>
            </p:cNvSpPr>
            <p:nvPr/>
          </p:nvSpPr>
          <p:spPr bwMode="auto">
            <a:xfrm>
              <a:off x="441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31" name="Text Box 138"/>
            <p:cNvSpPr txBox="1">
              <a:spLocks noChangeArrowheads="1"/>
            </p:cNvSpPr>
            <p:nvPr/>
          </p:nvSpPr>
          <p:spPr bwMode="auto">
            <a:xfrm>
              <a:off x="3802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32" name="Text Box 139"/>
            <p:cNvSpPr txBox="1">
              <a:spLocks noChangeArrowheads="1"/>
            </p:cNvSpPr>
            <p:nvPr/>
          </p:nvSpPr>
          <p:spPr bwMode="auto">
            <a:xfrm>
              <a:off x="288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33" name="Text Box 140"/>
            <p:cNvSpPr txBox="1">
              <a:spLocks noChangeArrowheads="1"/>
            </p:cNvSpPr>
            <p:nvPr/>
          </p:nvSpPr>
          <p:spPr bwMode="auto">
            <a:xfrm>
              <a:off x="2573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34" name="Text Box 141"/>
            <p:cNvSpPr txBox="1">
              <a:spLocks noChangeArrowheads="1"/>
            </p:cNvSpPr>
            <p:nvPr/>
          </p:nvSpPr>
          <p:spPr bwMode="auto">
            <a:xfrm>
              <a:off x="226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35" name="Text Box 142"/>
            <p:cNvSpPr txBox="1">
              <a:spLocks noChangeArrowheads="1"/>
            </p:cNvSpPr>
            <p:nvPr/>
          </p:nvSpPr>
          <p:spPr bwMode="auto">
            <a:xfrm>
              <a:off x="1651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36" name="Text Box 143"/>
            <p:cNvSpPr txBox="1">
              <a:spLocks noChangeArrowheads="1"/>
            </p:cNvSpPr>
            <p:nvPr/>
          </p:nvSpPr>
          <p:spPr bwMode="auto">
            <a:xfrm>
              <a:off x="411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37" name="Text Box 144"/>
            <p:cNvSpPr txBox="1">
              <a:spLocks noChangeArrowheads="1"/>
            </p:cNvSpPr>
            <p:nvPr/>
          </p:nvSpPr>
          <p:spPr bwMode="auto">
            <a:xfrm>
              <a:off x="349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38" name="Text Box 145"/>
            <p:cNvSpPr txBox="1">
              <a:spLocks noChangeArrowheads="1"/>
            </p:cNvSpPr>
            <p:nvPr/>
          </p:nvSpPr>
          <p:spPr bwMode="auto">
            <a:xfrm>
              <a:off x="3188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39" name="Text Box 146"/>
            <p:cNvSpPr txBox="1">
              <a:spLocks noChangeArrowheads="1"/>
            </p:cNvSpPr>
            <p:nvPr/>
          </p:nvSpPr>
          <p:spPr bwMode="auto">
            <a:xfrm>
              <a:off x="195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40" name="Text Box 147"/>
            <p:cNvSpPr txBox="1">
              <a:spLocks noChangeArrowheads="1"/>
            </p:cNvSpPr>
            <p:nvPr/>
          </p:nvSpPr>
          <p:spPr bwMode="auto">
            <a:xfrm>
              <a:off x="1344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241" name="Text Box 149"/>
          <p:cNvSpPr txBox="1">
            <a:spLocks noChangeArrowheads="1"/>
          </p:cNvSpPr>
          <p:nvPr/>
        </p:nvSpPr>
        <p:spPr bwMode="auto">
          <a:xfrm>
            <a:off x="1374773" y="5992801"/>
            <a:ext cx="196850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42" name="Text Box 150"/>
          <p:cNvSpPr txBox="1">
            <a:spLocks noChangeArrowheads="1"/>
          </p:cNvSpPr>
          <p:nvPr/>
        </p:nvSpPr>
        <p:spPr bwMode="auto">
          <a:xfrm>
            <a:off x="2271712" y="5992801"/>
            <a:ext cx="395288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0x5</a:t>
            </a:r>
          </a:p>
        </p:txBody>
      </p:sp>
      <p:sp>
        <p:nvSpPr>
          <p:cNvPr id="243" name="Text Box 151"/>
          <p:cNvSpPr txBox="1">
            <a:spLocks noChangeArrowheads="1"/>
          </p:cNvSpPr>
          <p:nvPr/>
        </p:nvSpPr>
        <p:spPr bwMode="auto">
          <a:xfrm>
            <a:off x="3259139" y="5992801"/>
            <a:ext cx="525463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0x0D</a:t>
            </a:r>
          </a:p>
        </p:txBody>
      </p:sp>
      <p:sp>
        <p:nvSpPr>
          <p:cNvPr id="244" name="Text Box 153"/>
          <p:cNvSpPr txBox="1">
            <a:spLocks noChangeArrowheads="1"/>
          </p:cNvSpPr>
          <p:nvPr/>
        </p:nvSpPr>
        <p:spPr bwMode="auto">
          <a:xfrm>
            <a:off x="4580467" y="5992801"/>
            <a:ext cx="200025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Y</a:t>
            </a:r>
          </a:p>
        </p:txBody>
      </p:sp>
      <p:sp>
        <p:nvSpPr>
          <p:cNvPr id="245" name="Text Box 154"/>
          <p:cNvSpPr txBox="1">
            <a:spLocks noChangeArrowheads="1"/>
          </p:cNvSpPr>
          <p:nvPr/>
        </p:nvSpPr>
        <p:spPr bwMode="auto">
          <a:xfrm>
            <a:off x="5850466" y="5992801"/>
            <a:ext cx="500063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0x36</a:t>
            </a:r>
          </a:p>
        </p:txBody>
      </p:sp>
      <p:grpSp>
        <p:nvGrpSpPr>
          <p:cNvPr id="424" name="Group 423"/>
          <p:cNvGrpSpPr/>
          <p:nvPr/>
        </p:nvGrpSpPr>
        <p:grpSpPr>
          <a:xfrm>
            <a:off x="76200" y="1192911"/>
            <a:ext cx="8840789" cy="2561167"/>
            <a:chOff x="152400" y="4076700"/>
            <a:chExt cx="8840789" cy="2561167"/>
          </a:xfrm>
          <a:solidFill>
            <a:schemeClr val="bg1"/>
          </a:solidFill>
        </p:grpSpPr>
        <p:sp>
          <p:nvSpPr>
            <p:cNvPr id="425" name="Rectangle 64"/>
            <p:cNvSpPr>
              <a:spLocks noChangeArrowheads="1"/>
            </p:cNvSpPr>
            <p:nvPr/>
          </p:nvSpPr>
          <p:spPr bwMode="auto">
            <a:xfrm>
              <a:off x="38750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426" name="Rectangle 65"/>
            <p:cNvSpPr>
              <a:spLocks noChangeArrowheads="1"/>
            </p:cNvSpPr>
            <p:nvPr/>
          </p:nvSpPr>
          <p:spPr bwMode="auto">
            <a:xfrm>
              <a:off x="32559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DF</a:t>
              </a:r>
            </a:p>
          </p:txBody>
        </p:sp>
        <p:sp>
          <p:nvSpPr>
            <p:cNvPr id="427" name="Rectangle 66"/>
            <p:cNvSpPr>
              <a:spLocks noChangeArrowheads="1"/>
            </p:cNvSpPr>
            <p:nvPr/>
          </p:nvSpPr>
          <p:spPr bwMode="auto">
            <a:xfrm>
              <a:off x="26352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C2</a:t>
              </a:r>
            </a:p>
          </p:txBody>
        </p:sp>
        <p:sp>
          <p:nvSpPr>
            <p:cNvPr id="428" name="Rectangle 67"/>
            <p:cNvSpPr>
              <a:spLocks noChangeArrowheads="1"/>
            </p:cNvSpPr>
            <p:nvPr/>
          </p:nvSpPr>
          <p:spPr bwMode="auto">
            <a:xfrm>
              <a:off x="20129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429" name="Rectangle 68"/>
            <p:cNvSpPr>
              <a:spLocks noChangeArrowheads="1"/>
            </p:cNvSpPr>
            <p:nvPr/>
          </p:nvSpPr>
          <p:spPr bwMode="auto">
            <a:xfrm>
              <a:off x="13922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430" name="Rectangle 69"/>
            <p:cNvSpPr>
              <a:spLocks noChangeArrowheads="1"/>
            </p:cNvSpPr>
            <p:nvPr/>
          </p:nvSpPr>
          <p:spPr bwMode="auto">
            <a:xfrm>
              <a:off x="7731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16</a:t>
              </a:r>
            </a:p>
          </p:txBody>
        </p:sp>
        <p:sp>
          <p:nvSpPr>
            <p:cNvPr id="431" name="Rectangle 70"/>
            <p:cNvSpPr>
              <a:spLocks noChangeArrowheads="1"/>
            </p:cNvSpPr>
            <p:nvPr/>
          </p:nvSpPr>
          <p:spPr bwMode="auto">
            <a:xfrm>
              <a:off x="15240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7</a:t>
              </a:r>
            </a:p>
          </p:txBody>
        </p:sp>
        <p:sp>
          <p:nvSpPr>
            <p:cNvPr id="432" name="Rectangle 78"/>
            <p:cNvSpPr>
              <a:spLocks noChangeArrowheads="1"/>
            </p:cNvSpPr>
            <p:nvPr/>
          </p:nvSpPr>
          <p:spPr bwMode="auto">
            <a:xfrm>
              <a:off x="38750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33" name="Rectangle 79"/>
            <p:cNvSpPr>
              <a:spLocks noChangeArrowheads="1"/>
            </p:cNvSpPr>
            <p:nvPr/>
          </p:nvSpPr>
          <p:spPr bwMode="auto">
            <a:xfrm>
              <a:off x="32559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34" name="Rectangle 80"/>
            <p:cNvSpPr>
              <a:spLocks noChangeArrowheads="1"/>
            </p:cNvSpPr>
            <p:nvPr/>
          </p:nvSpPr>
          <p:spPr bwMode="auto">
            <a:xfrm>
              <a:off x="26352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35" name="Rectangle 81"/>
            <p:cNvSpPr>
              <a:spLocks noChangeArrowheads="1"/>
            </p:cNvSpPr>
            <p:nvPr/>
          </p:nvSpPr>
          <p:spPr bwMode="auto">
            <a:xfrm>
              <a:off x="20129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36" name="Rectangle 82"/>
            <p:cNvSpPr>
              <a:spLocks noChangeArrowheads="1"/>
            </p:cNvSpPr>
            <p:nvPr/>
          </p:nvSpPr>
          <p:spPr bwMode="auto">
            <a:xfrm>
              <a:off x="13922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437" name="Rectangle 83"/>
            <p:cNvSpPr>
              <a:spLocks noChangeArrowheads="1"/>
            </p:cNvSpPr>
            <p:nvPr/>
          </p:nvSpPr>
          <p:spPr bwMode="auto">
            <a:xfrm>
              <a:off x="7731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31</a:t>
              </a:r>
            </a:p>
          </p:txBody>
        </p:sp>
        <p:sp>
          <p:nvSpPr>
            <p:cNvPr id="438" name="Rectangle 84"/>
            <p:cNvSpPr>
              <a:spLocks noChangeArrowheads="1"/>
            </p:cNvSpPr>
            <p:nvPr/>
          </p:nvSpPr>
          <p:spPr bwMode="auto">
            <a:xfrm>
              <a:off x="15240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6</a:t>
              </a:r>
            </a:p>
          </p:txBody>
        </p:sp>
        <p:sp>
          <p:nvSpPr>
            <p:cNvPr id="439" name="Rectangle 92"/>
            <p:cNvSpPr>
              <a:spLocks noChangeArrowheads="1"/>
            </p:cNvSpPr>
            <p:nvPr/>
          </p:nvSpPr>
          <p:spPr bwMode="auto">
            <a:xfrm>
              <a:off x="38750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1D</a:t>
              </a:r>
            </a:p>
          </p:txBody>
        </p:sp>
        <p:sp>
          <p:nvSpPr>
            <p:cNvPr id="440" name="Rectangle 93"/>
            <p:cNvSpPr>
              <a:spLocks noChangeArrowheads="1"/>
            </p:cNvSpPr>
            <p:nvPr/>
          </p:nvSpPr>
          <p:spPr bwMode="auto">
            <a:xfrm>
              <a:off x="32559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F0</a:t>
              </a:r>
            </a:p>
          </p:txBody>
        </p:sp>
        <p:sp>
          <p:nvSpPr>
            <p:cNvPr id="441" name="Rectangle 94"/>
            <p:cNvSpPr>
              <a:spLocks noChangeArrowheads="1"/>
            </p:cNvSpPr>
            <p:nvPr/>
          </p:nvSpPr>
          <p:spPr bwMode="auto">
            <a:xfrm>
              <a:off x="26352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72</a:t>
              </a:r>
            </a:p>
          </p:txBody>
        </p:sp>
        <p:sp>
          <p:nvSpPr>
            <p:cNvPr id="442" name="Rectangle 95"/>
            <p:cNvSpPr>
              <a:spLocks noChangeArrowheads="1"/>
            </p:cNvSpPr>
            <p:nvPr/>
          </p:nvSpPr>
          <p:spPr bwMode="auto">
            <a:xfrm>
              <a:off x="2012950" y="5788025"/>
              <a:ext cx="622300" cy="280988"/>
            </a:xfrm>
            <a:prstGeom prst="rect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36</a:t>
              </a:r>
            </a:p>
          </p:txBody>
        </p:sp>
        <p:sp>
          <p:nvSpPr>
            <p:cNvPr id="443" name="Rectangle 96"/>
            <p:cNvSpPr>
              <a:spLocks noChangeArrowheads="1"/>
            </p:cNvSpPr>
            <p:nvPr/>
          </p:nvSpPr>
          <p:spPr bwMode="auto">
            <a:xfrm>
              <a:off x="13922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444" name="Rectangle 97"/>
            <p:cNvSpPr>
              <a:spLocks noChangeArrowheads="1"/>
            </p:cNvSpPr>
            <p:nvPr/>
          </p:nvSpPr>
          <p:spPr bwMode="auto">
            <a:xfrm>
              <a:off x="773113" y="5788025"/>
              <a:ext cx="619125" cy="280988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445" name="Rectangle 98"/>
            <p:cNvSpPr>
              <a:spLocks noChangeArrowheads="1"/>
            </p:cNvSpPr>
            <p:nvPr/>
          </p:nvSpPr>
          <p:spPr bwMode="auto">
            <a:xfrm>
              <a:off x="152400" y="5788025"/>
              <a:ext cx="620713" cy="280988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5</a:t>
              </a:r>
            </a:p>
          </p:txBody>
        </p:sp>
        <p:sp>
          <p:nvSpPr>
            <p:cNvPr id="446" name="Rectangle 106"/>
            <p:cNvSpPr>
              <a:spLocks noChangeArrowheads="1"/>
            </p:cNvSpPr>
            <p:nvPr/>
          </p:nvSpPr>
          <p:spPr bwMode="auto">
            <a:xfrm>
              <a:off x="38750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09</a:t>
              </a:r>
            </a:p>
          </p:txBody>
        </p:sp>
        <p:sp>
          <p:nvSpPr>
            <p:cNvPr id="447" name="Rectangle 107"/>
            <p:cNvSpPr>
              <a:spLocks noChangeArrowheads="1"/>
            </p:cNvSpPr>
            <p:nvPr/>
          </p:nvSpPr>
          <p:spPr bwMode="auto">
            <a:xfrm>
              <a:off x="32559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8F</a:t>
              </a:r>
            </a:p>
          </p:txBody>
        </p:sp>
        <p:sp>
          <p:nvSpPr>
            <p:cNvPr id="448" name="Rectangle 108"/>
            <p:cNvSpPr>
              <a:spLocks noChangeArrowheads="1"/>
            </p:cNvSpPr>
            <p:nvPr/>
          </p:nvSpPr>
          <p:spPr bwMode="auto">
            <a:xfrm>
              <a:off x="26352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6D</a:t>
              </a:r>
            </a:p>
          </p:txBody>
        </p:sp>
        <p:sp>
          <p:nvSpPr>
            <p:cNvPr id="449" name="Rectangle 109"/>
            <p:cNvSpPr>
              <a:spLocks noChangeArrowheads="1"/>
            </p:cNvSpPr>
            <p:nvPr/>
          </p:nvSpPr>
          <p:spPr bwMode="auto">
            <a:xfrm>
              <a:off x="20129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43</a:t>
              </a:r>
            </a:p>
          </p:txBody>
        </p:sp>
        <p:sp>
          <p:nvSpPr>
            <p:cNvPr id="450" name="Rectangle 110"/>
            <p:cNvSpPr>
              <a:spLocks noChangeArrowheads="1"/>
            </p:cNvSpPr>
            <p:nvPr/>
          </p:nvSpPr>
          <p:spPr bwMode="auto">
            <a:xfrm>
              <a:off x="13922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451" name="Rectangle 111"/>
            <p:cNvSpPr>
              <a:spLocks noChangeArrowheads="1"/>
            </p:cNvSpPr>
            <p:nvPr/>
          </p:nvSpPr>
          <p:spPr bwMode="auto">
            <a:xfrm>
              <a:off x="7731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32</a:t>
              </a:r>
            </a:p>
          </p:txBody>
        </p:sp>
        <p:sp>
          <p:nvSpPr>
            <p:cNvPr id="452" name="Rectangle 112"/>
            <p:cNvSpPr>
              <a:spLocks noChangeArrowheads="1"/>
            </p:cNvSpPr>
            <p:nvPr/>
          </p:nvSpPr>
          <p:spPr bwMode="auto">
            <a:xfrm>
              <a:off x="15240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4</a:t>
              </a:r>
            </a:p>
          </p:txBody>
        </p:sp>
        <p:sp>
          <p:nvSpPr>
            <p:cNvPr id="453" name="Rectangle 120"/>
            <p:cNvSpPr>
              <a:spLocks noChangeArrowheads="1"/>
            </p:cNvSpPr>
            <p:nvPr/>
          </p:nvSpPr>
          <p:spPr bwMode="auto">
            <a:xfrm>
              <a:off x="38750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54" name="Rectangle 121"/>
            <p:cNvSpPr>
              <a:spLocks noChangeArrowheads="1"/>
            </p:cNvSpPr>
            <p:nvPr/>
          </p:nvSpPr>
          <p:spPr bwMode="auto">
            <a:xfrm>
              <a:off x="32559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55" name="Rectangle 122"/>
            <p:cNvSpPr>
              <a:spLocks noChangeArrowheads="1"/>
            </p:cNvSpPr>
            <p:nvPr/>
          </p:nvSpPr>
          <p:spPr bwMode="auto">
            <a:xfrm>
              <a:off x="26352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56" name="Rectangle 123"/>
            <p:cNvSpPr>
              <a:spLocks noChangeArrowheads="1"/>
            </p:cNvSpPr>
            <p:nvPr/>
          </p:nvSpPr>
          <p:spPr bwMode="auto">
            <a:xfrm>
              <a:off x="20129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57" name="Rectangle 124"/>
            <p:cNvSpPr>
              <a:spLocks noChangeArrowheads="1"/>
            </p:cNvSpPr>
            <p:nvPr/>
          </p:nvSpPr>
          <p:spPr bwMode="auto">
            <a:xfrm>
              <a:off x="13922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458" name="Rectangle 125"/>
            <p:cNvSpPr>
              <a:spLocks noChangeArrowheads="1"/>
            </p:cNvSpPr>
            <p:nvPr/>
          </p:nvSpPr>
          <p:spPr bwMode="auto">
            <a:xfrm>
              <a:off x="7731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36</a:t>
              </a:r>
            </a:p>
          </p:txBody>
        </p:sp>
        <p:sp>
          <p:nvSpPr>
            <p:cNvPr id="459" name="Rectangle 126"/>
            <p:cNvSpPr>
              <a:spLocks noChangeArrowheads="1"/>
            </p:cNvSpPr>
            <p:nvPr/>
          </p:nvSpPr>
          <p:spPr bwMode="auto">
            <a:xfrm>
              <a:off x="15240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460" name="Rectangle 134"/>
            <p:cNvSpPr>
              <a:spLocks noChangeArrowheads="1"/>
            </p:cNvSpPr>
            <p:nvPr/>
          </p:nvSpPr>
          <p:spPr bwMode="auto">
            <a:xfrm>
              <a:off x="38750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08</a:t>
              </a:r>
            </a:p>
          </p:txBody>
        </p:sp>
        <p:sp>
          <p:nvSpPr>
            <p:cNvPr id="461" name="Rectangle 135"/>
            <p:cNvSpPr>
              <a:spLocks noChangeArrowheads="1"/>
            </p:cNvSpPr>
            <p:nvPr/>
          </p:nvSpPr>
          <p:spPr bwMode="auto">
            <a:xfrm>
              <a:off x="32559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462" name="Rectangle 136"/>
            <p:cNvSpPr>
              <a:spLocks noChangeArrowheads="1"/>
            </p:cNvSpPr>
            <p:nvPr/>
          </p:nvSpPr>
          <p:spPr bwMode="auto">
            <a:xfrm>
              <a:off x="263525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463" name="Rectangle 137"/>
            <p:cNvSpPr>
              <a:spLocks noChangeArrowheads="1"/>
            </p:cNvSpPr>
            <p:nvPr/>
          </p:nvSpPr>
          <p:spPr bwMode="auto">
            <a:xfrm>
              <a:off x="20129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464" name="Rectangle 138"/>
            <p:cNvSpPr>
              <a:spLocks noChangeArrowheads="1"/>
            </p:cNvSpPr>
            <p:nvPr/>
          </p:nvSpPr>
          <p:spPr bwMode="auto">
            <a:xfrm>
              <a:off x="13922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465" name="Rectangle 139"/>
            <p:cNvSpPr>
              <a:spLocks noChangeArrowheads="1"/>
            </p:cNvSpPr>
            <p:nvPr/>
          </p:nvSpPr>
          <p:spPr bwMode="auto">
            <a:xfrm>
              <a:off x="77311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1B</a:t>
              </a:r>
            </a:p>
          </p:txBody>
        </p:sp>
        <p:sp>
          <p:nvSpPr>
            <p:cNvPr id="466" name="Rectangle 140"/>
            <p:cNvSpPr>
              <a:spLocks noChangeArrowheads="1"/>
            </p:cNvSpPr>
            <p:nvPr/>
          </p:nvSpPr>
          <p:spPr bwMode="auto">
            <a:xfrm>
              <a:off x="15240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467" name="Rectangle 148"/>
            <p:cNvSpPr>
              <a:spLocks noChangeArrowheads="1"/>
            </p:cNvSpPr>
            <p:nvPr/>
          </p:nvSpPr>
          <p:spPr bwMode="auto">
            <a:xfrm>
              <a:off x="38750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68" name="Rectangle 149"/>
            <p:cNvSpPr>
              <a:spLocks noChangeArrowheads="1"/>
            </p:cNvSpPr>
            <p:nvPr/>
          </p:nvSpPr>
          <p:spPr bwMode="auto">
            <a:xfrm>
              <a:off x="32559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69" name="Rectangle 150"/>
            <p:cNvSpPr>
              <a:spLocks noChangeArrowheads="1"/>
            </p:cNvSpPr>
            <p:nvPr/>
          </p:nvSpPr>
          <p:spPr bwMode="auto">
            <a:xfrm>
              <a:off x="26352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70" name="Rectangle 151"/>
            <p:cNvSpPr>
              <a:spLocks noChangeArrowheads="1"/>
            </p:cNvSpPr>
            <p:nvPr/>
          </p:nvSpPr>
          <p:spPr bwMode="auto">
            <a:xfrm>
              <a:off x="20129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471" name="Rectangle 152"/>
            <p:cNvSpPr>
              <a:spLocks noChangeArrowheads="1"/>
            </p:cNvSpPr>
            <p:nvPr/>
          </p:nvSpPr>
          <p:spPr bwMode="auto">
            <a:xfrm>
              <a:off x="13922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472" name="Rectangle 153"/>
            <p:cNvSpPr>
              <a:spLocks noChangeArrowheads="1"/>
            </p:cNvSpPr>
            <p:nvPr/>
          </p:nvSpPr>
          <p:spPr bwMode="auto">
            <a:xfrm>
              <a:off x="7731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473" name="Rectangle 154"/>
            <p:cNvSpPr>
              <a:spLocks noChangeArrowheads="1"/>
            </p:cNvSpPr>
            <p:nvPr/>
          </p:nvSpPr>
          <p:spPr bwMode="auto">
            <a:xfrm>
              <a:off x="15240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474" name="Rectangle 162"/>
            <p:cNvSpPr>
              <a:spLocks noChangeArrowheads="1"/>
            </p:cNvSpPr>
            <p:nvPr/>
          </p:nvSpPr>
          <p:spPr bwMode="auto">
            <a:xfrm>
              <a:off x="38750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475" name="Rectangle 163"/>
            <p:cNvSpPr>
              <a:spLocks noChangeArrowheads="1"/>
            </p:cNvSpPr>
            <p:nvPr/>
          </p:nvSpPr>
          <p:spPr bwMode="auto">
            <a:xfrm>
              <a:off x="32559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23</a:t>
              </a:r>
            </a:p>
          </p:txBody>
        </p:sp>
        <p:sp>
          <p:nvSpPr>
            <p:cNvPr id="476" name="Rectangle 164"/>
            <p:cNvSpPr>
              <a:spLocks noChangeArrowheads="1"/>
            </p:cNvSpPr>
            <p:nvPr/>
          </p:nvSpPr>
          <p:spPr bwMode="auto">
            <a:xfrm>
              <a:off x="26352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477" name="Rectangle 165"/>
            <p:cNvSpPr>
              <a:spLocks noChangeArrowheads="1"/>
            </p:cNvSpPr>
            <p:nvPr/>
          </p:nvSpPr>
          <p:spPr bwMode="auto">
            <a:xfrm>
              <a:off x="20129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99</a:t>
              </a:r>
            </a:p>
          </p:txBody>
        </p:sp>
        <p:sp>
          <p:nvSpPr>
            <p:cNvPr id="478" name="Rectangle 166"/>
            <p:cNvSpPr>
              <a:spLocks noChangeArrowheads="1"/>
            </p:cNvSpPr>
            <p:nvPr/>
          </p:nvSpPr>
          <p:spPr bwMode="auto">
            <a:xfrm>
              <a:off x="13922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479" name="Rectangle 167"/>
            <p:cNvSpPr>
              <a:spLocks noChangeArrowheads="1"/>
            </p:cNvSpPr>
            <p:nvPr/>
          </p:nvSpPr>
          <p:spPr bwMode="auto">
            <a:xfrm>
              <a:off x="7731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19</a:t>
              </a:r>
            </a:p>
          </p:txBody>
        </p:sp>
        <p:sp>
          <p:nvSpPr>
            <p:cNvPr id="480" name="Rectangle 168"/>
            <p:cNvSpPr>
              <a:spLocks noChangeArrowheads="1"/>
            </p:cNvSpPr>
            <p:nvPr/>
          </p:nvSpPr>
          <p:spPr bwMode="auto">
            <a:xfrm>
              <a:off x="15240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481" name="Rectangle 176"/>
            <p:cNvSpPr>
              <a:spLocks noChangeArrowheads="1"/>
            </p:cNvSpPr>
            <p:nvPr/>
          </p:nvSpPr>
          <p:spPr bwMode="auto">
            <a:xfrm>
              <a:off x="387508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</a:p>
          </p:txBody>
        </p:sp>
        <p:sp>
          <p:nvSpPr>
            <p:cNvPr id="482" name="Rectangle 177"/>
            <p:cNvSpPr>
              <a:spLocks noChangeArrowheads="1"/>
            </p:cNvSpPr>
            <p:nvPr/>
          </p:nvSpPr>
          <p:spPr bwMode="auto">
            <a:xfrm>
              <a:off x="325596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</a:p>
          </p:txBody>
        </p:sp>
        <p:sp>
          <p:nvSpPr>
            <p:cNvPr id="483" name="Rectangle 178"/>
            <p:cNvSpPr>
              <a:spLocks noChangeArrowheads="1"/>
            </p:cNvSpPr>
            <p:nvPr/>
          </p:nvSpPr>
          <p:spPr bwMode="auto">
            <a:xfrm>
              <a:off x="263525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</a:p>
          </p:txBody>
        </p:sp>
        <p:sp>
          <p:nvSpPr>
            <p:cNvPr id="484" name="Rectangle 179"/>
            <p:cNvSpPr>
              <a:spLocks noChangeArrowheads="1"/>
            </p:cNvSpPr>
            <p:nvPr/>
          </p:nvSpPr>
          <p:spPr bwMode="auto">
            <a:xfrm>
              <a:off x="2012950" y="4076700"/>
              <a:ext cx="622300" cy="280988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</a:p>
          </p:txBody>
        </p:sp>
        <p:sp>
          <p:nvSpPr>
            <p:cNvPr id="485" name="Rectangle 180"/>
            <p:cNvSpPr>
              <a:spLocks noChangeArrowheads="1"/>
            </p:cNvSpPr>
            <p:nvPr/>
          </p:nvSpPr>
          <p:spPr bwMode="auto">
            <a:xfrm>
              <a:off x="139223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486" name="Rectangle 181"/>
            <p:cNvSpPr>
              <a:spLocks noChangeArrowheads="1"/>
            </p:cNvSpPr>
            <p:nvPr/>
          </p:nvSpPr>
          <p:spPr bwMode="auto">
            <a:xfrm>
              <a:off x="77311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487" name="Rectangle 182"/>
            <p:cNvSpPr>
              <a:spLocks noChangeArrowheads="1"/>
            </p:cNvSpPr>
            <p:nvPr/>
          </p:nvSpPr>
          <p:spPr bwMode="auto">
            <a:xfrm>
              <a:off x="15240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40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488" name="Line 183"/>
            <p:cNvSpPr>
              <a:spLocks noChangeShapeType="1"/>
            </p:cNvSpPr>
            <p:nvPr/>
          </p:nvSpPr>
          <p:spPr bwMode="auto">
            <a:xfrm>
              <a:off x="152400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489" name="Line 184"/>
            <p:cNvSpPr>
              <a:spLocks noChangeShapeType="1"/>
            </p:cNvSpPr>
            <p:nvPr/>
          </p:nvSpPr>
          <p:spPr bwMode="auto">
            <a:xfrm>
              <a:off x="152400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0" name="Line 185"/>
            <p:cNvSpPr>
              <a:spLocks noChangeShapeType="1"/>
            </p:cNvSpPr>
            <p:nvPr/>
          </p:nvSpPr>
          <p:spPr bwMode="auto">
            <a:xfrm>
              <a:off x="152400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1" name="Line 186"/>
            <p:cNvSpPr>
              <a:spLocks noChangeShapeType="1"/>
            </p:cNvSpPr>
            <p:nvPr/>
          </p:nvSpPr>
          <p:spPr bwMode="auto">
            <a:xfrm>
              <a:off x="152400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2" name="Line 187"/>
            <p:cNvSpPr>
              <a:spLocks noChangeShapeType="1"/>
            </p:cNvSpPr>
            <p:nvPr/>
          </p:nvSpPr>
          <p:spPr bwMode="auto">
            <a:xfrm>
              <a:off x="152400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3" name="Line 188"/>
            <p:cNvSpPr>
              <a:spLocks noChangeShapeType="1"/>
            </p:cNvSpPr>
            <p:nvPr/>
          </p:nvSpPr>
          <p:spPr bwMode="auto">
            <a:xfrm>
              <a:off x="152400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4" name="Line 189"/>
            <p:cNvSpPr>
              <a:spLocks noChangeShapeType="1"/>
            </p:cNvSpPr>
            <p:nvPr/>
          </p:nvSpPr>
          <p:spPr bwMode="auto">
            <a:xfrm>
              <a:off x="152400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5" name="Line 190"/>
            <p:cNvSpPr>
              <a:spLocks noChangeShapeType="1"/>
            </p:cNvSpPr>
            <p:nvPr/>
          </p:nvSpPr>
          <p:spPr bwMode="auto">
            <a:xfrm>
              <a:off x="152400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6" name="Line 191"/>
            <p:cNvSpPr>
              <a:spLocks noChangeShapeType="1"/>
            </p:cNvSpPr>
            <p:nvPr/>
          </p:nvSpPr>
          <p:spPr bwMode="auto">
            <a:xfrm>
              <a:off x="7731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7" name="Line 192"/>
            <p:cNvSpPr>
              <a:spLocks noChangeShapeType="1"/>
            </p:cNvSpPr>
            <p:nvPr/>
          </p:nvSpPr>
          <p:spPr bwMode="auto">
            <a:xfrm>
              <a:off x="13922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8" name="Line 193"/>
            <p:cNvSpPr>
              <a:spLocks noChangeShapeType="1"/>
            </p:cNvSpPr>
            <p:nvPr/>
          </p:nvSpPr>
          <p:spPr bwMode="auto">
            <a:xfrm>
              <a:off x="20129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9" name="Line 194"/>
            <p:cNvSpPr>
              <a:spLocks noChangeShapeType="1"/>
            </p:cNvSpPr>
            <p:nvPr/>
          </p:nvSpPr>
          <p:spPr bwMode="auto">
            <a:xfrm>
              <a:off x="26352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0" name="Line 195"/>
            <p:cNvSpPr>
              <a:spLocks noChangeShapeType="1"/>
            </p:cNvSpPr>
            <p:nvPr/>
          </p:nvSpPr>
          <p:spPr bwMode="auto">
            <a:xfrm>
              <a:off x="32559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1" name="Line 196"/>
            <p:cNvSpPr>
              <a:spLocks noChangeShapeType="1"/>
            </p:cNvSpPr>
            <p:nvPr/>
          </p:nvSpPr>
          <p:spPr bwMode="auto">
            <a:xfrm>
              <a:off x="38750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2" name="Line 203"/>
            <p:cNvSpPr>
              <a:spLocks noChangeShapeType="1"/>
            </p:cNvSpPr>
            <p:nvPr/>
          </p:nvSpPr>
          <p:spPr bwMode="auto">
            <a:xfrm>
              <a:off x="152400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3" name="Line 205"/>
            <p:cNvSpPr>
              <a:spLocks noChangeShapeType="1"/>
            </p:cNvSpPr>
            <p:nvPr/>
          </p:nvSpPr>
          <p:spPr bwMode="auto">
            <a:xfrm>
              <a:off x="152400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504" name="Line 207"/>
            <p:cNvSpPr>
              <a:spLocks noChangeShapeType="1"/>
            </p:cNvSpPr>
            <p:nvPr/>
          </p:nvSpPr>
          <p:spPr bwMode="auto">
            <a:xfrm>
              <a:off x="152400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5" name="Line 203"/>
            <p:cNvSpPr>
              <a:spLocks noChangeShapeType="1"/>
            </p:cNvSpPr>
            <p:nvPr/>
          </p:nvSpPr>
          <p:spPr bwMode="auto">
            <a:xfrm>
              <a:off x="4487333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6" name="Rectangle 57"/>
            <p:cNvSpPr>
              <a:spLocks noChangeArrowheads="1"/>
            </p:cNvSpPr>
            <p:nvPr/>
          </p:nvSpPr>
          <p:spPr bwMode="auto">
            <a:xfrm>
              <a:off x="83708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07" name="Rectangle 58"/>
            <p:cNvSpPr>
              <a:spLocks noChangeArrowheads="1"/>
            </p:cNvSpPr>
            <p:nvPr/>
          </p:nvSpPr>
          <p:spPr bwMode="auto">
            <a:xfrm>
              <a:off x="77517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08" name="Rectangle 59"/>
            <p:cNvSpPr>
              <a:spLocks noChangeArrowheads="1"/>
            </p:cNvSpPr>
            <p:nvPr/>
          </p:nvSpPr>
          <p:spPr bwMode="auto">
            <a:xfrm>
              <a:off x="71310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09" name="Rectangle 60"/>
            <p:cNvSpPr>
              <a:spLocks noChangeArrowheads="1"/>
            </p:cNvSpPr>
            <p:nvPr/>
          </p:nvSpPr>
          <p:spPr bwMode="auto">
            <a:xfrm>
              <a:off x="65087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10" name="Rectangle 61"/>
            <p:cNvSpPr>
              <a:spLocks noChangeArrowheads="1"/>
            </p:cNvSpPr>
            <p:nvPr/>
          </p:nvSpPr>
          <p:spPr bwMode="auto">
            <a:xfrm>
              <a:off x="58880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11" name="Rectangle 62"/>
            <p:cNvSpPr>
              <a:spLocks noChangeArrowheads="1"/>
            </p:cNvSpPr>
            <p:nvPr/>
          </p:nvSpPr>
          <p:spPr bwMode="auto">
            <a:xfrm>
              <a:off x="52689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14</a:t>
              </a:r>
            </a:p>
          </p:txBody>
        </p:sp>
        <p:sp>
          <p:nvSpPr>
            <p:cNvPr id="512" name="Rectangle 63"/>
            <p:cNvSpPr>
              <a:spLocks noChangeArrowheads="1"/>
            </p:cNvSpPr>
            <p:nvPr/>
          </p:nvSpPr>
          <p:spPr bwMode="auto">
            <a:xfrm>
              <a:off x="464820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F</a:t>
              </a:r>
            </a:p>
          </p:txBody>
        </p:sp>
        <p:sp>
          <p:nvSpPr>
            <p:cNvPr id="513" name="Rectangle 71"/>
            <p:cNvSpPr>
              <a:spLocks noChangeArrowheads="1"/>
            </p:cNvSpPr>
            <p:nvPr/>
          </p:nvSpPr>
          <p:spPr bwMode="auto">
            <a:xfrm>
              <a:off x="83708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D3</a:t>
              </a:r>
            </a:p>
          </p:txBody>
        </p:sp>
        <p:sp>
          <p:nvSpPr>
            <p:cNvPr id="514" name="Rectangle 72"/>
            <p:cNvSpPr>
              <a:spLocks noChangeArrowheads="1"/>
            </p:cNvSpPr>
            <p:nvPr/>
          </p:nvSpPr>
          <p:spPr bwMode="auto">
            <a:xfrm>
              <a:off x="77517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1B</a:t>
              </a:r>
            </a:p>
          </p:txBody>
        </p:sp>
        <p:sp>
          <p:nvSpPr>
            <p:cNvPr id="515" name="Rectangle 73"/>
            <p:cNvSpPr>
              <a:spLocks noChangeArrowheads="1"/>
            </p:cNvSpPr>
            <p:nvPr/>
          </p:nvSpPr>
          <p:spPr bwMode="auto">
            <a:xfrm>
              <a:off x="71310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77</a:t>
              </a:r>
            </a:p>
          </p:txBody>
        </p:sp>
        <p:sp>
          <p:nvSpPr>
            <p:cNvPr id="516" name="Rectangle 74"/>
            <p:cNvSpPr>
              <a:spLocks noChangeArrowheads="1"/>
            </p:cNvSpPr>
            <p:nvPr/>
          </p:nvSpPr>
          <p:spPr bwMode="auto">
            <a:xfrm>
              <a:off x="65087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83</a:t>
              </a:r>
            </a:p>
          </p:txBody>
        </p:sp>
        <p:sp>
          <p:nvSpPr>
            <p:cNvPr id="517" name="Rectangle 75"/>
            <p:cNvSpPr>
              <a:spLocks noChangeArrowheads="1"/>
            </p:cNvSpPr>
            <p:nvPr/>
          </p:nvSpPr>
          <p:spPr bwMode="auto">
            <a:xfrm>
              <a:off x="58880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18" name="Rectangle 76"/>
            <p:cNvSpPr>
              <a:spLocks noChangeArrowheads="1"/>
            </p:cNvSpPr>
            <p:nvPr/>
          </p:nvSpPr>
          <p:spPr bwMode="auto">
            <a:xfrm>
              <a:off x="52689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13</a:t>
              </a:r>
            </a:p>
          </p:txBody>
        </p:sp>
        <p:sp>
          <p:nvSpPr>
            <p:cNvPr id="519" name="Rectangle 77"/>
            <p:cNvSpPr>
              <a:spLocks noChangeArrowheads="1"/>
            </p:cNvSpPr>
            <p:nvPr/>
          </p:nvSpPr>
          <p:spPr bwMode="auto">
            <a:xfrm>
              <a:off x="464820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E</a:t>
              </a:r>
            </a:p>
          </p:txBody>
        </p:sp>
        <p:sp>
          <p:nvSpPr>
            <p:cNvPr id="520" name="Rectangle 85"/>
            <p:cNvSpPr>
              <a:spLocks noChangeArrowheads="1"/>
            </p:cNvSpPr>
            <p:nvPr/>
          </p:nvSpPr>
          <p:spPr bwMode="auto">
            <a:xfrm>
              <a:off x="83708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521" name="Rectangle 86"/>
            <p:cNvSpPr>
              <a:spLocks noChangeArrowheads="1"/>
            </p:cNvSpPr>
            <p:nvPr/>
          </p:nvSpPr>
          <p:spPr bwMode="auto">
            <a:xfrm>
              <a:off x="77517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34</a:t>
              </a:r>
            </a:p>
          </p:txBody>
        </p:sp>
        <p:sp>
          <p:nvSpPr>
            <p:cNvPr id="522" name="Rectangle 87"/>
            <p:cNvSpPr>
              <a:spLocks noChangeArrowheads="1"/>
            </p:cNvSpPr>
            <p:nvPr/>
          </p:nvSpPr>
          <p:spPr bwMode="auto">
            <a:xfrm>
              <a:off x="71310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96</a:t>
              </a:r>
            </a:p>
          </p:txBody>
        </p:sp>
        <p:sp>
          <p:nvSpPr>
            <p:cNvPr id="523" name="Rectangle 88"/>
            <p:cNvSpPr>
              <a:spLocks noChangeArrowheads="1"/>
            </p:cNvSpPr>
            <p:nvPr/>
          </p:nvSpPr>
          <p:spPr bwMode="auto">
            <a:xfrm>
              <a:off x="6508750" y="578802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524" name="Rectangle 89"/>
            <p:cNvSpPr>
              <a:spLocks noChangeArrowheads="1"/>
            </p:cNvSpPr>
            <p:nvPr/>
          </p:nvSpPr>
          <p:spPr bwMode="auto">
            <a:xfrm>
              <a:off x="58880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25" name="Rectangle 90"/>
            <p:cNvSpPr>
              <a:spLocks noChangeArrowheads="1"/>
            </p:cNvSpPr>
            <p:nvPr/>
          </p:nvSpPr>
          <p:spPr bwMode="auto">
            <a:xfrm>
              <a:off x="526891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16</a:t>
              </a:r>
            </a:p>
          </p:txBody>
        </p:sp>
        <p:sp>
          <p:nvSpPr>
            <p:cNvPr id="526" name="Rectangle 91"/>
            <p:cNvSpPr>
              <a:spLocks noChangeArrowheads="1"/>
            </p:cNvSpPr>
            <p:nvPr/>
          </p:nvSpPr>
          <p:spPr bwMode="auto">
            <a:xfrm>
              <a:off x="464820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D</a:t>
              </a:r>
            </a:p>
          </p:txBody>
        </p:sp>
        <p:sp>
          <p:nvSpPr>
            <p:cNvPr id="527" name="Rectangle 99"/>
            <p:cNvSpPr>
              <a:spLocks noChangeArrowheads="1"/>
            </p:cNvSpPr>
            <p:nvPr/>
          </p:nvSpPr>
          <p:spPr bwMode="auto">
            <a:xfrm>
              <a:off x="83708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28" name="Rectangle 100"/>
            <p:cNvSpPr>
              <a:spLocks noChangeArrowheads="1"/>
            </p:cNvSpPr>
            <p:nvPr/>
          </p:nvSpPr>
          <p:spPr bwMode="auto">
            <a:xfrm>
              <a:off x="77517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29" name="Rectangle 101"/>
            <p:cNvSpPr>
              <a:spLocks noChangeArrowheads="1"/>
            </p:cNvSpPr>
            <p:nvPr/>
          </p:nvSpPr>
          <p:spPr bwMode="auto">
            <a:xfrm>
              <a:off x="71310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30" name="Rectangle 102"/>
            <p:cNvSpPr>
              <a:spLocks noChangeArrowheads="1"/>
            </p:cNvSpPr>
            <p:nvPr/>
          </p:nvSpPr>
          <p:spPr bwMode="auto">
            <a:xfrm>
              <a:off x="65087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31" name="Rectangle 103"/>
            <p:cNvSpPr>
              <a:spLocks noChangeArrowheads="1"/>
            </p:cNvSpPr>
            <p:nvPr/>
          </p:nvSpPr>
          <p:spPr bwMode="auto">
            <a:xfrm>
              <a:off x="58880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32" name="Rectangle 104"/>
            <p:cNvSpPr>
              <a:spLocks noChangeArrowheads="1"/>
            </p:cNvSpPr>
            <p:nvPr/>
          </p:nvSpPr>
          <p:spPr bwMode="auto">
            <a:xfrm>
              <a:off x="52689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12</a:t>
              </a:r>
            </a:p>
          </p:txBody>
        </p:sp>
        <p:sp>
          <p:nvSpPr>
            <p:cNvPr id="533" name="Rectangle 105"/>
            <p:cNvSpPr>
              <a:spLocks noChangeArrowheads="1"/>
            </p:cNvSpPr>
            <p:nvPr/>
          </p:nvSpPr>
          <p:spPr bwMode="auto">
            <a:xfrm>
              <a:off x="464820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C</a:t>
              </a:r>
            </a:p>
          </p:txBody>
        </p:sp>
        <p:sp>
          <p:nvSpPr>
            <p:cNvPr id="534" name="Rectangle 113"/>
            <p:cNvSpPr>
              <a:spLocks noChangeArrowheads="1"/>
            </p:cNvSpPr>
            <p:nvPr/>
          </p:nvSpPr>
          <p:spPr bwMode="auto">
            <a:xfrm>
              <a:off x="83708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35" name="Rectangle 114"/>
            <p:cNvSpPr>
              <a:spLocks noChangeArrowheads="1"/>
            </p:cNvSpPr>
            <p:nvPr/>
          </p:nvSpPr>
          <p:spPr bwMode="auto">
            <a:xfrm>
              <a:off x="77517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36" name="Rectangle 115"/>
            <p:cNvSpPr>
              <a:spLocks noChangeArrowheads="1"/>
            </p:cNvSpPr>
            <p:nvPr/>
          </p:nvSpPr>
          <p:spPr bwMode="auto">
            <a:xfrm>
              <a:off x="71310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37" name="Rectangle 116"/>
            <p:cNvSpPr>
              <a:spLocks noChangeArrowheads="1"/>
            </p:cNvSpPr>
            <p:nvPr/>
          </p:nvSpPr>
          <p:spPr bwMode="auto">
            <a:xfrm>
              <a:off x="65087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38" name="Rectangle 117"/>
            <p:cNvSpPr>
              <a:spLocks noChangeArrowheads="1"/>
            </p:cNvSpPr>
            <p:nvPr/>
          </p:nvSpPr>
          <p:spPr bwMode="auto">
            <a:xfrm>
              <a:off x="58880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39" name="Rectangle 118"/>
            <p:cNvSpPr>
              <a:spLocks noChangeArrowheads="1"/>
            </p:cNvSpPr>
            <p:nvPr/>
          </p:nvSpPr>
          <p:spPr bwMode="auto">
            <a:xfrm>
              <a:off x="52689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0B</a:t>
              </a:r>
            </a:p>
          </p:txBody>
        </p:sp>
        <p:sp>
          <p:nvSpPr>
            <p:cNvPr id="540" name="Rectangle 119"/>
            <p:cNvSpPr>
              <a:spLocks noChangeArrowheads="1"/>
            </p:cNvSpPr>
            <p:nvPr/>
          </p:nvSpPr>
          <p:spPr bwMode="auto">
            <a:xfrm>
              <a:off x="464820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B</a:t>
              </a:r>
            </a:p>
          </p:txBody>
        </p:sp>
        <p:sp>
          <p:nvSpPr>
            <p:cNvPr id="541" name="Rectangle 127"/>
            <p:cNvSpPr>
              <a:spLocks noChangeArrowheads="1"/>
            </p:cNvSpPr>
            <p:nvPr/>
          </p:nvSpPr>
          <p:spPr bwMode="auto">
            <a:xfrm>
              <a:off x="83708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3B</a:t>
              </a:r>
            </a:p>
          </p:txBody>
        </p:sp>
        <p:sp>
          <p:nvSpPr>
            <p:cNvPr id="542" name="Rectangle 128"/>
            <p:cNvSpPr>
              <a:spLocks noChangeArrowheads="1"/>
            </p:cNvSpPr>
            <p:nvPr/>
          </p:nvSpPr>
          <p:spPr bwMode="auto">
            <a:xfrm>
              <a:off x="77517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DA</a:t>
              </a:r>
            </a:p>
          </p:txBody>
        </p:sp>
        <p:sp>
          <p:nvSpPr>
            <p:cNvPr id="543" name="Rectangle 129"/>
            <p:cNvSpPr>
              <a:spLocks noChangeArrowheads="1"/>
            </p:cNvSpPr>
            <p:nvPr/>
          </p:nvSpPr>
          <p:spPr bwMode="auto">
            <a:xfrm>
              <a:off x="713105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544" name="Rectangle 130"/>
            <p:cNvSpPr>
              <a:spLocks noChangeArrowheads="1"/>
            </p:cNvSpPr>
            <p:nvPr/>
          </p:nvSpPr>
          <p:spPr bwMode="auto">
            <a:xfrm>
              <a:off x="65087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93</a:t>
              </a:r>
            </a:p>
          </p:txBody>
        </p:sp>
        <p:sp>
          <p:nvSpPr>
            <p:cNvPr id="545" name="Rectangle 131"/>
            <p:cNvSpPr>
              <a:spLocks noChangeArrowheads="1"/>
            </p:cNvSpPr>
            <p:nvPr/>
          </p:nvSpPr>
          <p:spPr bwMode="auto">
            <a:xfrm>
              <a:off x="58880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46" name="Rectangle 132"/>
            <p:cNvSpPr>
              <a:spLocks noChangeArrowheads="1"/>
            </p:cNvSpPr>
            <p:nvPr/>
          </p:nvSpPr>
          <p:spPr bwMode="auto">
            <a:xfrm>
              <a:off x="526891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547" name="Rectangle 133"/>
            <p:cNvSpPr>
              <a:spLocks noChangeArrowheads="1"/>
            </p:cNvSpPr>
            <p:nvPr/>
          </p:nvSpPr>
          <p:spPr bwMode="auto">
            <a:xfrm>
              <a:off x="464820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A</a:t>
              </a:r>
            </a:p>
          </p:txBody>
        </p:sp>
        <p:sp>
          <p:nvSpPr>
            <p:cNvPr id="548" name="Rectangle 141"/>
            <p:cNvSpPr>
              <a:spLocks noChangeArrowheads="1"/>
            </p:cNvSpPr>
            <p:nvPr/>
          </p:nvSpPr>
          <p:spPr bwMode="auto">
            <a:xfrm>
              <a:off x="83708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49" name="Rectangle 142"/>
            <p:cNvSpPr>
              <a:spLocks noChangeArrowheads="1"/>
            </p:cNvSpPr>
            <p:nvPr/>
          </p:nvSpPr>
          <p:spPr bwMode="auto">
            <a:xfrm>
              <a:off x="77517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50" name="Rectangle 143"/>
            <p:cNvSpPr>
              <a:spLocks noChangeArrowheads="1"/>
            </p:cNvSpPr>
            <p:nvPr/>
          </p:nvSpPr>
          <p:spPr bwMode="auto">
            <a:xfrm>
              <a:off x="71310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51" name="Rectangle 144"/>
            <p:cNvSpPr>
              <a:spLocks noChangeArrowheads="1"/>
            </p:cNvSpPr>
            <p:nvPr/>
          </p:nvSpPr>
          <p:spPr bwMode="auto">
            <a:xfrm>
              <a:off x="65087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52" name="Rectangle 145"/>
            <p:cNvSpPr>
              <a:spLocks noChangeArrowheads="1"/>
            </p:cNvSpPr>
            <p:nvPr/>
          </p:nvSpPr>
          <p:spPr bwMode="auto">
            <a:xfrm>
              <a:off x="58880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53" name="Rectangle 146"/>
            <p:cNvSpPr>
              <a:spLocks noChangeArrowheads="1"/>
            </p:cNvSpPr>
            <p:nvPr/>
          </p:nvSpPr>
          <p:spPr bwMode="auto">
            <a:xfrm>
              <a:off x="52689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554" name="Rectangle 147"/>
            <p:cNvSpPr>
              <a:spLocks noChangeArrowheads="1"/>
            </p:cNvSpPr>
            <p:nvPr/>
          </p:nvSpPr>
          <p:spPr bwMode="auto">
            <a:xfrm>
              <a:off x="464820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9</a:t>
              </a:r>
            </a:p>
          </p:txBody>
        </p:sp>
        <p:sp>
          <p:nvSpPr>
            <p:cNvPr id="555" name="Rectangle 155"/>
            <p:cNvSpPr>
              <a:spLocks noChangeArrowheads="1"/>
            </p:cNvSpPr>
            <p:nvPr/>
          </p:nvSpPr>
          <p:spPr bwMode="auto">
            <a:xfrm>
              <a:off x="83708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89</a:t>
              </a:r>
            </a:p>
          </p:txBody>
        </p:sp>
        <p:sp>
          <p:nvSpPr>
            <p:cNvPr id="556" name="Rectangle 156"/>
            <p:cNvSpPr>
              <a:spLocks noChangeArrowheads="1"/>
            </p:cNvSpPr>
            <p:nvPr/>
          </p:nvSpPr>
          <p:spPr bwMode="auto">
            <a:xfrm>
              <a:off x="77517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51</a:t>
              </a:r>
            </a:p>
          </p:txBody>
        </p:sp>
        <p:sp>
          <p:nvSpPr>
            <p:cNvPr id="557" name="Rectangle 157"/>
            <p:cNvSpPr>
              <a:spLocks noChangeArrowheads="1"/>
            </p:cNvSpPr>
            <p:nvPr/>
          </p:nvSpPr>
          <p:spPr bwMode="auto">
            <a:xfrm>
              <a:off x="71310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558" name="Rectangle 158"/>
            <p:cNvSpPr>
              <a:spLocks noChangeArrowheads="1"/>
            </p:cNvSpPr>
            <p:nvPr/>
          </p:nvSpPr>
          <p:spPr bwMode="auto">
            <a:xfrm>
              <a:off x="65087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3A</a:t>
              </a:r>
            </a:p>
          </p:txBody>
        </p:sp>
        <p:sp>
          <p:nvSpPr>
            <p:cNvPr id="559" name="Rectangle 159"/>
            <p:cNvSpPr>
              <a:spLocks noChangeArrowheads="1"/>
            </p:cNvSpPr>
            <p:nvPr/>
          </p:nvSpPr>
          <p:spPr bwMode="auto">
            <a:xfrm>
              <a:off x="58880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60" name="Rectangle 160"/>
            <p:cNvSpPr>
              <a:spLocks noChangeArrowheads="1"/>
            </p:cNvSpPr>
            <p:nvPr/>
          </p:nvSpPr>
          <p:spPr bwMode="auto">
            <a:xfrm>
              <a:off x="52689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24</a:t>
              </a:r>
            </a:p>
          </p:txBody>
        </p:sp>
        <p:sp>
          <p:nvSpPr>
            <p:cNvPr id="561" name="Rectangle 161"/>
            <p:cNvSpPr>
              <a:spLocks noChangeArrowheads="1"/>
            </p:cNvSpPr>
            <p:nvPr/>
          </p:nvSpPr>
          <p:spPr bwMode="auto">
            <a:xfrm>
              <a:off x="464820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8</a:t>
              </a:r>
            </a:p>
          </p:txBody>
        </p:sp>
        <p:sp>
          <p:nvSpPr>
            <p:cNvPr id="562" name="Rectangle 169"/>
            <p:cNvSpPr>
              <a:spLocks noChangeArrowheads="1"/>
            </p:cNvSpPr>
            <p:nvPr/>
          </p:nvSpPr>
          <p:spPr bwMode="auto">
            <a:xfrm>
              <a:off x="837088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</a:p>
          </p:txBody>
        </p:sp>
        <p:sp>
          <p:nvSpPr>
            <p:cNvPr id="563" name="Rectangle 170"/>
            <p:cNvSpPr>
              <a:spLocks noChangeArrowheads="1"/>
            </p:cNvSpPr>
            <p:nvPr/>
          </p:nvSpPr>
          <p:spPr bwMode="auto">
            <a:xfrm>
              <a:off x="775176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</a:p>
          </p:txBody>
        </p:sp>
        <p:sp>
          <p:nvSpPr>
            <p:cNvPr id="564" name="Rectangle 171"/>
            <p:cNvSpPr>
              <a:spLocks noChangeArrowheads="1"/>
            </p:cNvSpPr>
            <p:nvPr/>
          </p:nvSpPr>
          <p:spPr bwMode="auto">
            <a:xfrm>
              <a:off x="713105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</a:p>
          </p:txBody>
        </p:sp>
        <p:sp>
          <p:nvSpPr>
            <p:cNvPr id="565" name="Rectangle 172"/>
            <p:cNvSpPr>
              <a:spLocks noChangeArrowheads="1"/>
            </p:cNvSpPr>
            <p:nvPr/>
          </p:nvSpPr>
          <p:spPr bwMode="auto">
            <a:xfrm>
              <a:off x="6508750" y="40767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</a:p>
          </p:txBody>
        </p:sp>
        <p:sp>
          <p:nvSpPr>
            <p:cNvPr id="566" name="Rectangle 173"/>
            <p:cNvSpPr>
              <a:spLocks noChangeArrowheads="1"/>
            </p:cNvSpPr>
            <p:nvPr/>
          </p:nvSpPr>
          <p:spPr bwMode="auto">
            <a:xfrm>
              <a:off x="588803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567" name="Rectangle 174"/>
            <p:cNvSpPr>
              <a:spLocks noChangeArrowheads="1"/>
            </p:cNvSpPr>
            <p:nvPr/>
          </p:nvSpPr>
          <p:spPr bwMode="auto">
            <a:xfrm>
              <a:off x="526891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568" name="Rectangle 175"/>
            <p:cNvSpPr>
              <a:spLocks noChangeArrowheads="1"/>
            </p:cNvSpPr>
            <p:nvPr/>
          </p:nvSpPr>
          <p:spPr bwMode="auto">
            <a:xfrm>
              <a:off x="464820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40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69" name="Line 183"/>
            <p:cNvSpPr>
              <a:spLocks noChangeShapeType="1"/>
            </p:cNvSpPr>
            <p:nvPr/>
          </p:nvSpPr>
          <p:spPr bwMode="auto">
            <a:xfrm>
              <a:off x="4666488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570" name="Line 184"/>
            <p:cNvSpPr>
              <a:spLocks noChangeShapeType="1"/>
            </p:cNvSpPr>
            <p:nvPr/>
          </p:nvSpPr>
          <p:spPr bwMode="auto">
            <a:xfrm>
              <a:off x="4666488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1" name="Line 185"/>
            <p:cNvSpPr>
              <a:spLocks noChangeShapeType="1"/>
            </p:cNvSpPr>
            <p:nvPr/>
          </p:nvSpPr>
          <p:spPr bwMode="auto">
            <a:xfrm>
              <a:off x="4666488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2" name="Line 186"/>
            <p:cNvSpPr>
              <a:spLocks noChangeShapeType="1"/>
            </p:cNvSpPr>
            <p:nvPr/>
          </p:nvSpPr>
          <p:spPr bwMode="auto">
            <a:xfrm>
              <a:off x="4666488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3" name="Line 187"/>
            <p:cNvSpPr>
              <a:spLocks noChangeShapeType="1"/>
            </p:cNvSpPr>
            <p:nvPr/>
          </p:nvSpPr>
          <p:spPr bwMode="auto">
            <a:xfrm>
              <a:off x="4666488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4" name="Line 188"/>
            <p:cNvSpPr>
              <a:spLocks noChangeShapeType="1"/>
            </p:cNvSpPr>
            <p:nvPr/>
          </p:nvSpPr>
          <p:spPr bwMode="auto">
            <a:xfrm>
              <a:off x="4666488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5" name="Line 189"/>
            <p:cNvSpPr>
              <a:spLocks noChangeShapeType="1"/>
            </p:cNvSpPr>
            <p:nvPr/>
          </p:nvSpPr>
          <p:spPr bwMode="auto">
            <a:xfrm>
              <a:off x="4666488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6" name="Line 190"/>
            <p:cNvSpPr>
              <a:spLocks noChangeShapeType="1"/>
            </p:cNvSpPr>
            <p:nvPr/>
          </p:nvSpPr>
          <p:spPr bwMode="auto">
            <a:xfrm>
              <a:off x="4666488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7" name="Line 197"/>
            <p:cNvSpPr>
              <a:spLocks noChangeShapeType="1"/>
            </p:cNvSpPr>
            <p:nvPr/>
          </p:nvSpPr>
          <p:spPr bwMode="auto">
            <a:xfrm>
              <a:off x="52689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8" name="Line 198"/>
            <p:cNvSpPr>
              <a:spLocks noChangeShapeType="1"/>
            </p:cNvSpPr>
            <p:nvPr/>
          </p:nvSpPr>
          <p:spPr bwMode="auto">
            <a:xfrm>
              <a:off x="58880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9" name="Line 199"/>
            <p:cNvSpPr>
              <a:spLocks noChangeShapeType="1"/>
            </p:cNvSpPr>
            <p:nvPr/>
          </p:nvSpPr>
          <p:spPr bwMode="auto">
            <a:xfrm>
              <a:off x="65087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0" name="Line 200"/>
            <p:cNvSpPr>
              <a:spLocks noChangeShapeType="1"/>
            </p:cNvSpPr>
            <p:nvPr/>
          </p:nvSpPr>
          <p:spPr bwMode="auto">
            <a:xfrm>
              <a:off x="71310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1" name="Line 201"/>
            <p:cNvSpPr>
              <a:spLocks noChangeShapeType="1"/>
            </p:cNvSpPr>
            <p:nvPr/>
          </p:nvSpPr>
          <p:spPr bwMode="auto">
            <a:xfrm>
              <a:off x="77517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2" name="Line 202"/>
            <p:cNvSpPr>
              <a:spLocks noChangeShapeType="1"/>
            </p:cNvSpPr>
            <p:nvPr/>
          </p:nvSpPr>
          <p:spPr bwMode="auto">
            <a:xfrm>
              <a:off x="83708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3" name="Line 205"/>
            <p:cNvSpPr>
              <a:spLocks noChangeShapeType="1"/>
            </p:cNvSpPr>
            <p:nvPr/>
          </p:nvSpPr>
          <p:spPr bwMode="auto">
            <a:xfrm>
              <a:off x="4666488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584" name="Line 206"/>
            <p:cNvSpPr>
              <a:spLocks noChangeShapeType="1"/>
            </p:cNvSpPr>
            <p:nvPr/>
          </p:nvSpPr>
          <p:spPr bwMode="auto">
            <a:xfrm>
              <a:off x="8991601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5" name="Line 207"/>
            <p:cNvSpPr>
              <a:spLocks noChangeShapeType="1"/>
            </p:cNvSpPr>
            <p:nvPr/>
          </p:nvSpPr>
          <p:spPr bwMode="auto">
            <a:xfrm>
              <a:off x="4666488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6" name="Line 206"/>
            <p:cNvSpPr>
              <a:spLocks noChangeShapeType="1"/>
            </p:cNvSpPr>
            <p:nvPr/>
          </p:nvSpPr>
          <p:spPr bwMode="auto">
            <a:xfrm>
              <a:off x="4648200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3" name="Group 422"/>
          <p:cNvGrpSpPr/>
          <p:nvPr/>
        </p:nvGrpSpPr>
        <p:grpSpPr>
          <a:xfrm>
            <a:off x="88105" y="1196350"/>
            <a:ext cx="8840789" cy="2561167"/>
            <a:chOff x="152400" y="4076700"/>
            <a:chExt cx="8840789" cy="2561167"/>
          </a:xfrm>
          <a:solidFill>
            <a:schemeClr val="bg1"/>
          </a:solidFill>
        </p:grpSpPr>
        <p:sp>
          <p:nvSpPr>
            <p:cNvPr id="587" name="Rectangle 64"/>
            <p:cNvSpPr>
              <a:spLocks noChangeArrowheads="1"/>
            </p:cNvSpPr>
            <p:nvPr/>
          </p:nvSpPr>
          <p:spPr bwMode="auto">
            <a:xfrm>
              <a:off x="38750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588" name="Rectangle 65"/>
            <p:cNvSpPr>
              <a:spLocks noChangeArrowheads="1"/>
            </p:cNvSpPr>
            <p:nvPr/>
          </p:nvSpPr>
          <p:spPr bwMode="auto">
            <a:xfrm>
              <a:off x="32559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DF</a:t>
              </a:r>
            </a:p>
          </p:txBody>
        </p:sp>
        <p:sp>
          <p:nvSpPr>
            <p:cNvPr id="589" name="Rectangle 66"/>
            <p:cNvSpPr>
              <a:spLocks noChangeArrowheads="1"/>
            </p:cNvSpPr>
            <p:nvPr/>
          </p:nvSpPr>
          <p:spPr bwMode="auto">
            <a:xfrm>
              <a:off x="26352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C2</a:t>
              </a:r>
            </a:p>
          </p:txBody>
        </p:sp>
        <p:sp>
          <p:nvSpPr>
            <p:cNvPr id="590" name="Rectangle 67"/>
            <p:cNvSpPr>
              <a:spLocks noChangeArrowheads="1"/>
            </p:cNvSpPr>
            <p:nvPr/>
          </p:nvSpPr>
          <p:spPr bwMode="auto">
            <a:xfrm>
              <a:off x="20129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591" name="Rectangle 68"/>
            <p:cNvSpPr>
              <a:spLocks noChangeArrowheads="1"/>
            </p:cNvSpPr>
            <p:nvPr/>
          </p:nvSpPr>
          <p:spPr bwMode="auto">
            <a:xfrm>
              <a:off x="13922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592" name="Rectangle 69"/>
            <p:cNvSpPr>
              <a:spLocks noChangeArrowheads="1"/>
            </p:cNvSpPr>
            <p:nvPr/>
          </p:nvSpPr>
          <p:spPr bwMode="auto">
            <a:xfrm>
              <a:off x="7731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16</a:t>
              </a:r>
            </a:p>
          </p:txBody>
        </p:sp>
        <p:sp>
          <p:nvSpPr>
            <p:cNvPr id="593" name="Rectangle 70"/>
            <p:cNvSpPr>
              <a:spLocks noChangeArrowheads="1"/>
            </p:cNvSpPr>
            <p:nvPr/>
          </p:nvSpPr>
          <p:spPr bwMode="auto">
            <a:xfrm>
              <a:off x="15240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7</a:t>
              </a:r>
            </a:p>
          </p:txBody>
        </p:sp>
        <p:sp>
          <p:nvSpPr>
            <p:cNvPr id="594" name="Rectangle 78"/>
            <p:cNvSpPr>
              <a:spLocks noChangeArrowheads="1"/>
            </p:cNvSpPr>
            <p:nvPr/>
          </p:nvSpPr>
          <p:spPr bwMode="auto">
            <a:xfrm>
              <a:off x="38750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95" name="Rectangle 79"/>
            <p:cNvSpPr>
              <a:spLocks noChangeArrowheads="1"/>
            </p:cNvSpPr>
            <p:nvPr/>
          </p:nvSpPr>
          <p:spPr bwMode="auto">
            <a:xfrm>
              <a:off x="32559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96" name="Rectangle 80"/>
            <p:cNvSpPr>
              <a:spLocks noChangeArrowheads="1"/>
            </p:cNvSpPr>
            <p:nvPr/>
          </p:nvSpPr>
          <p:spPr bwMode="auto">
            <a:xfrm>
              <a:off x="26352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97" name="Rectangle 81"/>
            <p:cNvSpPr>
              <a:spLocks noChangeArrowheads="1"/>
            </p:cNvSpPr>
            <p:nvPr/>
          </p:nvSpPr>
          <p:spPr bwMode="auto">
            <a:xfrm>
              <a:off x="20129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598" name="Rectangle 82"/>
            <p:cNvSpPr>
              <a:spLocks noChangeArrowheads="1"/>
            </p:cNvSpPr>
            <p:nvPr/>
          </p:nvSpPr>
          <p:spPr bwMode="auto">
            <a:xfrm>
              <a:off x="13922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599" name="Rectangle 83"/>
            <p:cNvSpPr>
              <a:spLocks noChangeArrowheads="1"/>
            </p:cNvSpPr>
            <p:nvPr/>
          </p:nvSpPr>
          <p:spPr bwMode="auto">
            <a:xfrm>
              <a:off x="7731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31</a:t>
              </a:r>
            </a:p>
          </p:txBody>
        </p:sp>
        <p:sp>
          <p:nvSpPr>
            <p:cNvPr id="600" name="Rectangle 84"/>
            <p:cNvSpPr>
              <a:spLocks noChangeArrowheads="1"/>
            </p:cNvSpPr>
            <p:nvPr/>
          </p:nvSpPr>
          <p:spPr bwMode="auto">
            <a:xfrm>
              <a:off x="15240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6</a:t>
              </a:r>
            </a:p>
          </p:txBody>
        </p:sp>
        <p:sp>
          <p:nvSpPr>
            <p:cNvPr id="601" name="Rectangle 92"/>
            <p:cNvSpPr>
              <a:spLocks noChangeArrowheads="1"/>
            </p:cNvSpPr>
            <p:nvPr/>
          </p:nvSpPr>
          <p:spPr bwMode="auto">
            <a:xfrm>
              <a:off x="38750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1D</a:t>
              </a:r>
            </a:p>
          </p:txBody>
        </p:sp>
        <p:sp>
          <p:nvSpPr>
            <p:cNvPr id="602" name="Rectangle 93"/>
            <p:cNvSpPr>
              <a:spLocks noChangeArrowheads="1"/>
            </p:cNvSpPr>
            <p:nvPr/>
          </p:nvSpPr>
          <p:spPr bwMode="auto">
            <a:xfrm>
              <a:off x="32559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F0</a:t>
              </a:r>
            </a:p>
          </p:txBody>
        </p:sp>
        <p:sp>
          <p:nvSpPr>
            <p:cNvPr id="603" name="Rectangle 94"/>
            <p:cNvSpPr>
              <a:spLocks noChangeArrowheads="1"/>
            </p:cNvSpPr>
            <p:nvPr/>
          </p:nvSpPr>
          <p:spPr bwMode="auto">
            <a:xfrm>
              <a:off x="26352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72</a:t>
              </a:r>
            </a:p>
          </p:txBody>
        </p:sp>
        <p:sp>
          <p:nvSpPr>
            <p:cNvPr id="604" name="Rectangle 95"/>
            <p:cNvSpPr>
              <a:spLocks noChangeArrowheads="1"/>
            </p:cNvSpPr>
            <p:nvPr/>
          </p:nvSpPr>
          <p:spPr bwMode="auto">
            <a:xfrm>
              <a:off x="2012950" y="578802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36</a:t>
              </a:r>
            </a:p>
          </p:txBody>
        </p:sp>
        <p:sp>
          <p:nvSpPr>
            <p:cNvPr id="605" name="Rectangle 96"/>
            <p:cNvSpPr>
              <a:spLocks noChangeArrowheads="1"/>
            </p:cNvSpPr>
            <p:nvPr/>
          </p:nvSpPr>
          <p:spPr bwMode="auto">
            <a:xfrm>
              <a:off x="13922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606" name="Rectangle 97"/>
            <p:cNvSpPr>
              <a:spLocks noChangeArrowheads="1"/>
            </p:cNvSpPr>
            <p:nvPr/>
          </p:nvSpPr>
          <p:spPr bwMode="auto">
            <a:xfrm>
              <a:off x="77311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607" name="Rectangle 98"/>
            <p:cNvSpPr>
              <a:spLocks noChangeArrowheads="1"/>
            </p:cNvSpPr>
            <p:nvPr/>
          </p:nvSpPr>
          <p:spPr bwMode="auto">
            <a:xfrm>
              <a:off x="15240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5</a:t>
              </a:r>
            </a:p>
          </p:txBody>
        </p:sp>
        <p:sp>
          <p:nvSpPr>
            <p:cNvPr id="608" name="Rectangle 106"/>
            <p:cNvSpPr>
              <a:spLocks noChangeArrowheads="1"/>
            </p:cNvSpPr>
            <p:nvPr/>
          </p:nvSpPr>
          <p:spPr bwMode="auto">
            <a:xfrm>
              <a:off x="38750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09</a:t>
              </a:r>
            </a:p>
          </p:txBody>
        </p:sp>
        <p:sp>
          <p:nvSpPr>
            <p:cNvPr id="609" name="Rectangle 107"/>
            <p:cNvSpPr>
              <a:spLocks noChangeArrowheads="1"/>
            </p:cNvSpPr>
            <p:nvPr/>
          </p:nvSpPr>
          <p:spPr bwMode="auto">
            <a:xfrm>
              <a:off x="32559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8F</a:t>
              </a:r>
            </a:p>
          </p:txBody>
        </p:sp>
        <p:sp>
          <p:nvSpPr>
            <p:cNvPr id="610" name="Rectangle 108"/>
            <p:cNvSpPr>
              <a:spLocks noChangeArrowheads="1"/>
            </p:cNvSpPr>
            <p:nvPr/>
          </p:nvSpPr>
          <p:spPr bwMode="auto">
            <a:xfrm>
              <a:off x="26352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6D</a:t>
              </a:r>
            </a:p>
          </p:txBody>
        </p:sp>
        <p:sp>
          <p:nvSpPr>
            <p:cNvPr id="611" name="Rectangle 109"/>
            <p:cNvSpPr>
              <a:spLocks noChangeArrowheads="1"/>
            </p:cNvSpPr>
            <p:nvPr/>
          </p:nvSpPr>
          <p:spPr bwMode="auto">
            <a:xfrm>
              <a:off x="20129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43</a:t>
              </a:r>
            </a:p>
          </p:txBody>
        </p:sp>
        <p:sp>
          <p:nvSpPr>
            <p:cNvPr id="612" name="Rectangle 110"/>
            <p:cNvSpPr>
              <a:spLocks noChangeArrowheads="1"/>
            </p:cNvSpPr>
            <p:nvPr/>
          </p:nvSpPr>
          <p:spPr bwMode="auto">
            <a:xfrm>
              <a:off x="13922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613" name="Rectangle 111"/>
            <p:cNvSpPr>
              <a:spLocks noChangeArrowheads="1"/>
            </p:cNvSpPr>
            <p:nvPr/>
          </p:nvSpPr>
          <p:spPr bwMode="auto">
            <a:xfrm>
              <a:off x="7731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32</a:t>
              </a:r>
            </a:p>
          </p:txBody>
        </p:sp>
        <p:sp>
          <p:nvSpPr>
            <p:cNvPr id="614" name="Rectangle 112"/>
            <p:cNvSpPr>
              <a:spLocks noChangeArrowheads="1"/>
            </p:cNvSpPr>
            <p:nvPr/>
          </p:nvSpPr>
          <p:spPr bwMode="auto">
            <a:xfrm>
              <a:off x="15240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4</a:t>
              </a:r>
            </a:p>
          </p:txBody>
        </p:sp>
        <p:sp>
          <p:nvSpPr>
            <p:cNvPr id="615" name="Rectangle 120"/>
            <p:cNvSpPr>
              <a:spLocks noChangeArrowheads="1"/>
            </p:cNvSpPr>
            <p:nvPr/>
          </p:nvSpPr>
          <p:spPr bwMode="auto">
            <a:xfrm>
              <a:off x="38750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16" name="Rectangle 121"/>
            <p:cNvSpPr>
              <a:spLocks noChangeArrowheads="1"/>
            </p:cNvSpPr>
            <p:nvPr/>
          </p:nvSpPr>
          <p:spPr bwMode="auto">
            <a:xfrm>
              <a:off x="32559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17" name="Rectangle 122"/>
            <p:cNvSpPr>
              <a:spLocks noChangeArrowheads="1"/>
            </p:cNvSpPr>
            <p:nvPr/>
          </p:nvSpPr>
          <p:spPr bwMode="auto">
            <a:xfrm>
              <a:off x="26352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18" name="Rectangle 123"/>
            <p:cNvSpPr>
              <a:spLocks noChangeArrowheads="1"/>
            </p:cNvSpPr>
            <p:nvPr/>
          </p:nvSpPr>
          <p:spPr bwMode="auto">
            <a:xfrm>
              <a:off x="20129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19" name="Rectangle 124"/>
            <p:cNvSpPr>
              <a:spLocks noChangeArrowheads="1"/>
            </p:cNvSpPr>
            <p:nvPr/>
          </p:nvSpPr>
          <p:spPr bwMode="auto">
            <a:xfrm>
              <a:off x="13922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620" name="Rectangle 125"/>
            <p:cNvSpPr>
              <a:spLocks noChangeArrowheads="1"/>
            </p:cNvSpPr>
            <p:nvPr/>
          </p:nvSpPr>
          <p:spPr bwMode="auto">
            <a:xfrm>
              <a:off x="7731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36</a:t>
              </a:r>
            </a:p>
          </p:txBody>
        </p:sp>
        <p:sp>
          <p:nvSpPr>
            <p:cNvPr id="621" name="Rectangle 126"/>
            <p:cNvSpPr>
              <a:spLocks noChangeArrowheads="1"/>
            </p:cNvSpPr>
            <p:nvPr/>
          </p:nvSpPr>
          <p:spPr bwMode="auto">
            <a:xfrm>
              <a:off x="15240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622" name="Rectangle 134"/>
            <p:cNvSpPr>
              <a:spLocks noChangeArrowheads="1"/>
            </p:cNvSpPr>
            <p:nvPr/>
          </p:nvSpPr>
          <p:spPr bwMode="auto">
            <a:xfrm>
              <a:off x="38750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08</a:t>
              </a:r>
            </a:p>
          </p:txBody>
        </p:sp>
        <p:sp>
          <p:nvSpPr>
            <p:cNvPr id="623" name="Rectangle 135"/>
            <p:cNvSpPr>
              <a:spLocks noChangeArrowheads="1"/>
            </p:cNvSpPr>
            <p:nvPr/>
          </p:nvSpPr>
          <p:spPr bwMode="auto">
            <a:xfrm>
              <a:off x="32559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624" name="Rectangle 136"/>
            <p:cNvSpPr>
              <a:spLocks noChangeArrowheads="1"/>
            </p:cNvSpPr>
            <p:nvPr/>
          </p:nvSpPr>
          <p:spPr bwMode="auto">
            <a:xfrm>
              <a:off x="263525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625" name="Rectangle 137"/>
            <p:cNvSpPr>
              <a:spLocks noChangeArrowheads="1"/>
            </p:cNvSpPr>
            <p:nvPr/>
          </p:nvSpPr>
          <p:spPr bwMode="auto">
            <a:xfrm>
              <a:off x="20129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626" name="Rectangle 138"/>
            <p:cNvSpPr>
              <a:spLocks noChangeArrowheads="1"/>
            </p:cNvSpPr>
            <p:nvPr/>
          </p:nvSpPr>
          <p:spPr bwMode="auto">
            <a:xfrm>
              <a:off x="13922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627" name="Rectangle 139"/>
            <p:cNvSpPr>
              <a:spLocks noChangeArrowheads="1"/>
            </p:cNvSpPr>
            <p:nvPr/>
          </p:nvSpPr>
          <p:spPr bwMode="auto">
            <a:xfrm>
              <a:off x="77311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1B</a:t>
              </a:r>
            </a:p>
          </p:txBody>
        </p:sp>
        <p:sp>
          <p:nvSpPr>
            <p:cNvPr id="628" name="Rectangle 140"/>
            <p:cNvSpPr>
              <a:spLocks noChangeArrowheads="1"/>
            </p:cNvSpPr>
            <p:nvPr/>
          </p:nvSpPr>
          <p:spPr bwMode="auto">
            <a:xfrm>
              <a:off x="15240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629" name="Rectangle 148"/>
            <p:cNvSpPr>
              <a:spLocks noChangeArrowheads="1"/>
            </p:cNvSpPr>
            <p:nvPr/>
          </p:nvSpPr>
          <p:spPr bwMode="auto">
            <a:xfrm>
              <a:off x="38750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30" name="Rectangle 149"/>
            <p:cNvSpPr>
              <a:spLocks noChangeArrowheads="1"/>
            </p:cNvSpPr>
            <p:nvPr/>
          </p:nvSpPr>
          <p:spPr bwMode="auto">
            <a:xfrm>
              <a:off x="32559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31" name="Rectangle 150"/>
            <p:cNvSpPr>
              <a:spLocks noChangeArrowheads="1"/>
            </p:cNvSpPr>
            <p:nvPr/>
          </p:nvSpPr>
          <p:spPr bwMode="auto">
            <a:xfrm>
              <a:off x="26352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32" name="Rectangle 151"/>
            <p:cNvSpPr>
              <a:spLocks noChangeArrowheads="1"/>
            </p:cNvSpPr>
            <p:nvPr/>
          </p:nvSpPr>
          <p:spPr bwMode="auto">
            <a:xfrm>
              <a:off x="20129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33" name="Rectangle 152"/>
            <p:cNvSpPr>
              <a:spLocks noChangeArrowheads="1"/>
            </p:cNvSpPr>
            <p:nvPr/>
          </p:nvSpPr>
          <p:spPr bwMode="auto">
            <a:xfrm>
              <a:off x="13922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634" name="Rectangle 153"/>
            <p:cNvSpPr>
              <a:spLocks noChangeArrowheads="1"/>
            </p:cNvSpPr>
            <p:nvPr/>
          </p:nvSpPr>
          <p:spPr bwMode="auto">
            <a:xfrm>
              <a:off x="7731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635" name="Rectangle 154"/>
            <p:cNvSpPr>
              <a:spLocks noChangeArrowheads="1"/>
            </p:cNvSpPr>
            <p:nvPr/>
          </p:nvSpPr>
          <p:spPr bwMode="auto">
            <a:xfrm>
              <a:off x="15240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636" name="Rectangle 162"/>
            <p:cNvSpPr>
              <a:spLocks noChangeArrowheads="1"/>
            </p:cNvSpPr>
            <p:nvPr/>
          </p:nvSpPr>
          <p:spPr bwMode="auto">
            <a:xfrm>
              <a:off x="38750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637" name="Rectangle 163"/>
            <p:cNvSpPr>
              <a:spLocks noChangeArrowheads="1"/>
            </p:cNvSpPr>
            <p:nvPr/>
          </p:nvSpPr>
          <p:spPr bwMode="auto">
            <a:xfrm>
              <a:off x="32559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23</a:t>
              </a:r>
            </a:p>
          </p:txBody>
        </p:sp>
        <p:sp>
          <p:nvSpPr>
            <p:cNvPr id="638" name="Rectangle 164"/>
            <p:cNvSpPr>
              <a:spLocks noChangeArrowheads="1"/>
            </p:cNvSpPr>
            <p:nvPr/>
          </p:nvSpPr>
          <p:spPr bwMode="auto">
            <a:xfrm>
              <a:off x="26352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639" name="Rectangle 165"/>
            <p:cNvSpPr>
              <a:spLocks noChangeArrowheads="1"/>
            </p:cNvSpPr>
            <p:nvPr/>
          </p:nvSpPr>
          <p:spPr bwMode="auto">
            <a:xfrm>
              <a:off x="20129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99</a:t>
              </a:r>
            </a:p>
          </p:txBody>
        </p:sp>
        <p:sp>
          <p:nvSpPr>
            <p:cNvPr id="640" name="Rectangle 166"/>
            <p:cNvSpPr>
              <a:spLocks noChangeArrowheads="1"/>
            </p:cNvSpPr>
            <p:nvPr/>
          </p:nvSpPr>
          <p:spPr bwMode="auto">
            <a:xfrm>
              <a:off x="13922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641" name="Rectangle 167"/>
            <p:cNvSpPr>
              <a:spLocks noChangeArrowheads="1"/>
            </p:cNvSpPr>
            <p:nvPr/>
          </p:nvSpPr>
          <p:spPr bwMode="auto">
            <a:xfrm>
              <a:off x="7731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19</a:t>
              </a:r>
            </a:p>
          </p:txBody>
        </p:sp>
        <p:sp>
          <p:nvSpPr>
            <p:cNvPr id="642" name="Rectangle 168"/>
            <p:cNvSpPr>
              <a:spLocks noChangeArrowheads="1"/>
            </p:cNvSpPr>
            <p:nvPr/>
          </p:nvSpPr>
          <p:spPr bwMode="auto">
            <a:xfrm>
              <a:off x="15240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643" name="Rectangle 176"/>
            <p:cNvSpPr>
              <a:spLocks noChangeArrowheads="1"/>
            </p:cNvSpPr>
            <p:nvPr/>
          </p:nvSpPr>
          <p:spPr bwMode="auto">
            <a:xfrm>
              <a:off x="387508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</a:p>
          </p:txBody>
        </p:sp>
        <p:sp>
          <p:nvSpPr>
            <p:cNvPr id="644" name="Rectangle 177"/>
            <p:cNvSpPr>
              <a:spLocks noChangeArrowheads="1"/>
            </p:cNvSpPr>
            <p:nvPr/>
          </p:nvSpPr>
          <p:spPr bwMode="auto">
            <a:xfrm>
              <a:off x="325596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</a:p>
          </p:txBody>
        </p:sp>
        <p:sp>
          <p:nvSpPr>
            <p:cNvPr id="645" name="Rectangle 178"/>
            <p:cNvSpPr>
              <a:spLocks noChangeArrowheads="1"/>
            </p:cNvSpPr>
            <p:nvPr/>
          </p:nvSpPr>
          <p:spPr bwMode="auto">
            <a:xfrm>
              <a:off x="263525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</a:p>
          </p:txBody>
        </p:sp>
        <p:sp>
          <p:nvSpPr>
            <p:cNvPr id="646" name="Rectangle 179"/>
            <p:cNvSpPr>
              <a:spLocks noChangeArrowheads="1"/>
            </p:cNvSpPr>
            <p:nvPr/>
          </p:nvSpPr>
          <p:spPr bwMode="auto">
            <a:xfrm>
              <a:off x="2012950" y="40767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</a:p>
          </p:txBody>
        </p:sp>
        <p:sp>
          <p:nvSpPr>
            <p:cNvPr id="647" name="Rectangle 180"/>
            <p:cNvSpPr>
              <a:spLocks noChangeArrowheads="1"/>
            </p:cNvSpPr>
            <p:nvPr/>
          </p:nvSpPr>
          <p:spPr bwMode="auto">
            <a:xfrm>
              <a:off x="139223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648" name="Rectangle 181"/>
            <p:cNvSpPr>
              <a:spLocks noChangeArrowheads="1"/>
            </p:cNvSpPr>
            <p:nvPr/>
          </p:nvSpPr>
          <p:spPr bwMode="auto">
            <a:xfrm>
              <a:off x="77311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649" name="Rectangle 182"/>
            <p:cNvSpPr>
              <a:spLocks noChangeArrowheads="1"/>
            </p:cNvSpPr>
            <p:nvPr/>
          </p:nvSpPr>
          <p:spPr bwMode="auto">
            <a:xfrm>
              <a:off x="15240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40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650" name="Line 183"/>
            <p:cNvSpPr>
              <a:spLocks noChangeShapeType="1"/>
            </p:cNvSpPr>
            <p:nvPr/>
          </p:nvSpPr>
          <p:spPr bwMode="auto">
            <a:xfrm>
              <a:off x="152400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651" name="Line 184"/>
            <p:cNvSpPr>
              <a:spLocks noChangeShapeType="1"/>
            </p:cNvSpPr>
            <p:nvPr/>
          </p:nvSpPr>
          <p:spPr bwMode="auto">
            <a:xfrm>
              <a:off x="152400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2" name="Line 185"/>
            <p:cNvSpPr>
              <a:spLocks noChangeShapeType="1"/>
            </p:cNvSpPr>
            <p:nvPr/>
          </p:nvSpPr>
          <p:spPr bwMode="auto">
            <a:xfrm>
              <a:off x="152400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3" name="Line 186"/>
            <p:cNvSpPr>
              <a:spLocks noChangeShapeType="1"/>
            </p:cNvSpPr>
            <p:nvPr/>
          </p:nvSpPr>
          <p:spPr bwMode="auto">
            <a:xfrm>
              <a:off x="152400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4" name="Line 187"/>
            <p:cNvSpPr>
              <a:spLocks noChangeShapeType="1"/>
            </p:cNvSpPr>
            <p:nvPr/>
          </p:nvSpPr>
          <p:spPr bwMode="auto">
            <a:xfrm>
              <a:off x="152400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5" name="Line 188"/>
            <p:cNvSpPr>
              <a:spLocks noChangeShapeType="1"/>
            </p:cNvSpPr>
            <p:nvPr/>
          </p:nvSpPr>
          <p:spPr bwMode="auto">
            <a:xfrm>
              <a:off x="152400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6" name="Line 189"/>
            <p:cNvSpPr>
              <a:spLocks noChangeShapeType="1"/>
            </p:cNvSpPr>
            <p:nvPr/>
          </p:nvSpPr>
          <p:spPr bwMode="auto">
            <a:xfrm>
              <a:off x="152400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7" name="Line 190"/>
            <p:cNvSpPr>
              <a:spLocks noChangeShapeType="1"/>
            </p:cNvSpPr>
            <p:nvPr/>
          </p:nvSpPr>
          <p:spPr bwMode="auto">
            <a:xfrm>
              <a:off x="152400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8" name="Line 191"/>
            <p:cNvSpPr>
              <a:spLocks noChangeShapeType="1"/>
            </p:cNvSpPr>
            <p:nvPr/>
          </p:nvSpPr>
          <p:spPr bwMode="auto">
            <a:xfrm>
              <a:off x="7731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9" name="Line 192"/>
            <p:cNvSpPr>
              <a:spLocks noChangeShapeType="1"/>
            </p:cNvSpPr>
            <p:nvPr/>
          </p:nvSpPr>
          <p:spPr bwMode="auto">
            <a:xfrm>
              <a:off x="13922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0" name="Line 193"/>
            <p:cNvSpPr>
              <a:spLocks noChangeShapeType="1"/>
            </p:cNvSpPr>
            <p:nvPr/>
          </p:nvSpPr>
          <p:spPr bwMode="auto">
            <a:xfrm>
              <a:off x="20129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1" name="Line 194"/>
            <p:cNvSpPr>
              <a:spLocks noChangeShapeType="1"/>
            </p:cNvSpPr>
            <p:nvPr/>
          </p:nvSpPr>
          <p:spPr bwMode="auto">
            <a:xfrm>
              <a:off x="26352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2" name="Line 195"/>
            <p:cNvSpPr>
              <a:spLocks noChangeShapeType="1"/>
            </p:cNvSpPr>
            <p:nvPr/>
          </p:nvSpPr>
          <p:spPr bwMode="auto">
            <a:xfrm>
              <a:off x="32559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3" name="Line 196"/>
            <p:cNvSpPr>
              <a:spLocks noChangeShapeType="1"/>
            </p:cNvSpPr>
            <p:nvPr/>
          </p:nvSpPr>
          <p:spPr bwMode="auto">
            <a:xfrm>
              <a:off x="38750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4" name="Line 203"/>
            <p:cNvSpPr>
              <a:spLocks noChangeShapeType="1"/>
            </p:cNvSpPr>
            <p:nvPr/>
          </p:nvSpPr>
          <p:spPr bwMode="auto">
            <a:xfrm>
              <a:off x="152400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5" name="Line 205"/>
            <p:cNvSpPr>
              <a:spLocks noChangeShapeType="1"/>
            </p:cNvSpPr>
            <p:nvPr/>
          </p:nvSpPr>
          <p:spPr bwMode="auto">
            <a:xfrm>
              <a:off x="152400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666" name="Line 207"/>
            <p:cNvSpPr>
              <a:spLocks noChangeShapeType="1"/>
            </p:cNvSpPr>
            <p:nvPr/>
          </p:nvSpPr>
          <p:spPr bwMode="auto">
            <a:xfrm>
              <a:off x="152400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7" name="Line 203"/>
            <p:cNvSpPr>
              <a:spLocks noChangeShapeType="1"/>
            </p:cNvSpPr>
            <p:nvPr/>
          </p:nvSpPr>
          <p:spPr bwMode="auto">
            <a:xfrm>
              <a:off x="4487333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8" name="Rectangle 57"/>
            <p:cNvSpPr>
              <a:spLocks noChangeArrowheads="1"/>
            </p:cNvSpPr>
            <p:nvPr/>
          </p:nvSpPr>
          <p:spPr bwMode="auto">
            <a:xfrm>
              <a:off x="83708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69" name="Rectangle 58"/>
            <p:cNvSpPr>
              <a:spLocks noChangeArrowheads="1"/>
            </p:cNvSpPr>
            <p:nvPr/>
          </p:nvSpPr>
          <p:spPr bwMode="auto">
            <a:xfrm>
              <a:off x="77517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70" name="Rectangle 59"/>
            <p:cNvSpPr>
              <a:spLocks noChangeArrowheads="1"/>
            </p:cNvSpPr>
            <p:nvPr/>
          </p:nvSpPr>
          <p:spPr bwMode="auto">
            <a:xfrm>
              <a:off x="71310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71" name="Rectangle 60"/>
            <p:cNvSpPr>
              <a:spLocks noChangeArrowheads="1"/>
            </p:cNvSpPr>
            <p:nvPr/>
          </p:nvSpPr>
          <p:spPr bwMode="auto">
            <a:xfrm>
              <a:off x="65087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72" name="Rectangle 61"/>
            <p:cNvSpPr>
              <a:spLocks noChangeArrowheads="1"/>
            </p:cNvSpPr>
            <p:nvPr/>
          </p:nvSpPr>
          <p:spPr bwMode="auto">
            <a:xfrm>
              <a:off x="58880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673" name="Rectangle 62"/>
            <p:cNvSpPr>
              <a:spLocks noChangeArrowheads="1"/>
            </p:cNvSpPr>
            <p:nvPr/>
          </p:nvSpPr>
          <p:spPr bwMode="auto">
            <a:xfrm>
              <a:off x="52689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14</a:t>
              </a:r>
            </a:p>
          </p:txBody>
        </p:sp>
        <p:sp>
          <p:nvSpPr>
            <p:cNvPr id="674" name="Rectangle 63"/>
            <p:cNvSpPr>
              <a:spLocks noChangeArrowheads="1"/>
            </p:cNvSpPr>
            <p:nvPr/>
          </p:nvSpPr>
          <p:spPr bwMode="auto">
            <a:xfrm>
              <a:off x="464820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F</a:t>
              </a:r>
            </a:p>
          </p:txBody>
        </p:sp>
        <p:sp>
          <p:nvSpPr>
            <p:cNvPr id="675" name="Rectangle 71"/>
            <p:cNvSpPr>
              <a:spLocks noChangeArrowheads="1"/>
            </p:cNvSpPr>
            <p:nvPr/>
          </p:nvSpPr>
          <p:spPr bwMode="auto">
            <a:xfrm>
              <a:off x="83708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D3</a:t>
              </a:r>
            </a:p>
          </p:txBody>
        </p:sp>
        <p:sp>
          <p:nvSpPr>
            <p:cNvPr id="676" name="Rectangle 72"/>
            <p:cNvSpPr>
              <a:spLocks noChangeArrowheads="1"/>
            </p:cNvSpPr>
            <p:nvPr/>
          </p:nvSpPr>
          <p:spPr bwMode="auto">
            <a:xfrm>
              <a:off x="77517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1B</a:t>
              </a:r>
            </a:p>
          </p:txBody>
        </p:sp>
        <p:sp>
          <p:nvSpPr>
            <p:cNvPr id="677" name="Rectangle 73"/>
            <p:cNvSpPr>
              <a:spLocks noChangeArrowheads="1"/>
            </p:cNvSpPr>
            <p:nvPr/>
          </p:nvSpPr>
          <p:spPr bwMode="auto">
            <a:xfrm>
              <a:off x="71310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77</a:t>
              </a:r>
            </a:p>
          </p:txBody>
        </p:sp>
        <p:sp>
          <p:nvSpPr>
            <p:cNvPr id="678" name="Rectangle 74"/>
            <p:cNvSpPr>
              <a:spLocks noChangeArrowheads="1"/>
            </p:cNvSpPr>
            <p:nvPr/>
          </p:nvSpPr>
          <p:spPr bwMode="auto">
            <a:xfrm>
              <a:off x="65087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83</a:t>
              </a:r>
            </a:p>
          </p:txBody>
        </p:sp>
        <p:sp>
          <p:nvSpPr>
            <p:cNvPr id="679" name="Rectangle 75"/>
            <p:cNvSpPr>
              <a:spLocks noChangeArrowheads="1"/>
            </p:cNvSpPr>
            <p:nvPr/>
          </p:nvSpPr>
          <p:spPr bwMode="auto">
            <a:xfrm>
              <a:off x="58880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680" name="Rectangle 76"/>
            <p:cNvSpPr>
              <a:spLocks noChangeArrowheads="1"/>
            </p:cNvSpPr>
            <p:nvPr/>
          </p:nvSpPr>
          <p:spPr bwMode="auto">
            <a:xfrm>
              <a:off x="52689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13</a:t>
              </a:r>
            </a:p>
          </p:txBody>
        </p:sp>
        <p:sp>
          <p:nvSpPr>
            <p:cNvPr id="681" name="Rectangle 77"/>
            <p:cNvSpPr>
              <a:spLocks noChangeArrowheads="1"/>
            </p:cNvSpPr>
            <p:nvPr/>
          </p:nvSpPr>
          <p:spPr bwMode="auto">
            <a:xfrm>
              <a:off x="464820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E</a:t>
              </a:r>
            </a:p>
          </p:txBody>
        </p:sp>
        <p:sp>
          <p:nvSpPr>
            <p:cNvPr id="682" name="Rectangle 85"/>
            <p:cNvSpPr>
              <a:spLocks noChangeArrowheads="1"/>
            </p:cNvSpPr>
            <p:nvPr/>
          </p:nvSpPr>
          <p:spPr bwMode="auto">
            <a:xfrm>
              <a:off x="83708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683" name="Rectangle 86"/>
            <p:cNvSpPr>
              <a:spLocks noChangeArrowheads="1"/>
            </p:cNvSpPr>
            <p:nvPr/>
          </p:nvSpPr>
          <p:spPr bwMode="auto">
            <a:xfrm>
              <a:off x="77517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34</a:t>
              </a:r>
            </a:p>
          </p:txBody>
        </p:sp>
        <p:sp>
          <p:nvSpPr>
            <p:cNvPr id="684" name="Rectangle 87"/>
            <p:cNvSpPr>
              <a:spLocks noChangeArrowheads="1"/>
            </p:cNvSpPr>
            <p:nvPr/>
          </p:nvSpPr>
          <p:spPr bwMode="auto">
            <a:xfrm>
              <a:off x="71310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96</a:t>
              </a:r>
            </a:p>
          </p:txBody>
        </p:sp>
        <p:sp>
          <p:nvSpPr>
            <p:cNvPr id="685" name="Rectangle 88"/>
            <p:cNvSpPr>
              <a:spLocks noChangeArrowheads="1"/>
            </p:cNvSpPr>
            <p:nvPr/>
          </p:nvSpPr>
          <p:spPr bwMode="auto">
            <a:xfrm>
              <a:off x="6508750" y="578802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686" name="Rectangle 89"/>
            <p:cNvSpPr>
              <a:spLocks noChangeArrowheads="1"/>
            </p:cNvSpPr>
            <p:nvPr/>
          </p:nvSpPr>
          <p:spPr bwMode="auto">
            <a:xfrm>
              <a:off x="58880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687" name="Rectangle 90"/>
            <p:cNvSpPr>
              <a:spLocks noChangeArrowheads="1"/>
            </p:cNvSpPr>
            <p:nvPr/>
          </p:nvSpPr>
          <p:spPr bwMode="auto">
            <a:xfrm>
              <a:off x="526891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16</a:t>
              </a:r>
            </a:p>
          </p:txBody>
        </p:sp>
        <p:sp>
          <p:nvSpPr>
            <p:cNvPr id="688" name="Rectangle 91"/>
            <p:cNvSpPr>
              <a:spLocks noChangeArrowheads="1"/>
            </p:cNvSpPr>
            <p:nvPr/>
          </p:nvSpPr>
          <p:spPr bwMode="auto">
            <a:xfrm>
              <a:off x="464820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D</a:t>
              </a:r>
            </a:p>
          </p:txBody>
        </p:sp>
        <p:sp>
          <p:nvSpPr>
            <p:cNvPr id="689" name="Rectangle 99"/>
            <p:cNvSpPr>
              <a:spLocks noChangeArrowheads="1"/>
            </p:cNvSpPr>
            <p:nvPr/>
          </p:nvSpPr>
          <p:spPr bwMode="auto">
            <a:xfrm>
              <a:off x="83708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90" name="Rectangle 100"/>
            <p:cNvSpPr>
              <a:spLocks noChangeArrowheads="1"/>
            </p:cNvSpPr>
            <p:nvPr/>
          </p:nvSpPr>
          <p:spPr bwMode="auto">
            <a:xfrm>
              <a:off x="77517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91" name="Rectangle 101"/>
            <p:cNvSpPr>
              <a:spLocks noChangeArrowheads="1"/>
            </p:cNvSpPr>
            <p:nvPr/>
          </p:nvSpPr>
          <p:spPr bwMode="auto">
            <a:xfrm>
              <a:off x="71310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92" name="Rectangle 102"/>
            <p:cNvSpPr>
              <a:spLocks noChangeArrowheads="1"/>
            </p:cNvSpPr>
            <p:nvPr/>
          </p:nvSpPr>
          <p:spPr bwMode="auto">
            <a:xfrm>
              <a:off x="65087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93" name="Rectangle 103"/>
            <p:cNvSpPr>
              <a:spLocks noChangeArrowheads="1"/>
            </p:cNvSpPr>
            <p:nvPr/>
          </p:nvSpPr>
          <p:spPr bwMode="auto">
            <a:xfrm>
              <a:off x="58880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694" name="Rectangle 104"/>
            <p:cNvSpPr>
              <a:spLocks noChangeArrowheads="1"/>
            </p:cNvSpPr>
            <p:nvPr/>
          </p:nvSpPr>
          <p:spPr bwMode="auto">
            <a:xfrm>
              <a:off x="52689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12</a:t>
              </a:r>
            </a:p>
          </p:txBody>
        </p:sp>
        <p:sp>
          <p:nvSpPr>
            <p:cNvPr id="695" name="Rectangle 105"/>
            <p:cNvSpPr>
              <a:spLocks noChangeArrowheads="1"/>
            </p:cNvSpPr>
            <p:nvPr/>
          </p:nvSpPr>
          <p:spPr bwMode="auto">
            <a:xfrm>
              <a:off x="464820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C</a:t>
              </a:r>
            </a:p>
          </p:txBody>
        </p:sp>
        <p:sp>
          <p:nvSpPr>
            <p:cNvPr id="696" name="Rectangle 113"/>
            <p:cNvSpPr>
              <a:spLocks noChangeArrowheads="1"/>
            </p:cNvSpPr>
            <p:nvPr/>
          </p:nvSpPr>
          <p:spPr bwMode="auto">
            <a:xfrm>
              <a:off x="83708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97" name="Rectangle 114"/>
            <p:cNvSpPr>
              <a:spLocks noChangeArrowheads="1"/>
            </p:cNvSpPr>
            <p:nvPr/>
          </p:nvSpPr>
          <p:spPr bwMode="auto">
            <a:xfrm>
              <a:off x="77517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98" name="Rectangle 115"/>
            <p:cNvSpPr>
              <a:spLocks noChangeArrowheads="1"/>
            </p:cNvSpPr>
            <p:nvPr/>
          </p:nvSpPr>
          <p:spPr bwMode="auto">
            <a:xfrm>
              <a:off x="71310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699" name="Rectangle 116"/>
            <p:cNvSpPr>
              <a:spLocks noChangeArrowheads="1"/>
            </p:cNvSpPr>
            <p:nvPr/>
          </p:nvSpPr>
          <p:spPr bwMode="auto">
            <a:xfrm>
              <a:off x="65087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00" name="Rectangle 117"/>
            <p:cNvSpPr>
              <a:spLocks noChangeArrowheads="1"/>
            </p:cNvSpPr>
            <p:nvPr/>
          </p:nvSpPr>
          <p:spPr bwMode="auto">
            <a:xfrm>
              <a:off x="58880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01" name="Rectangle 118"/>
            <p:cNvSpPr>
              <a:spLocks noChangeArrowheads="1"/>
            </p:cNvSpPr>
            <p:nvPr/>
          </p:nvSpPr>
          <p:spPr bwMode="auto">
            <a:xfrm>
              <a:off x="52689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0B</a:t>
              </a:r>
            </a:p>
          </p:txBody>
        </p:sp>
        <p:sp>
          <p:nvSpPr>
            <p:cNvPr id="702" name="Rectangle 119"/>
            <p:cNvSpPr>
              <a:spLocks noChangeArrowheads="1"/>
            </p:cNvSpPr>
            <p:nvPr/>
          </p:nvSpPr>
          <p:spPr bwMode="auto">
            <a:xfrm>
              <a:off x="464820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B</a:t>
              </a:r>
            </a:p>
          </p:txBody>
        </p:sp>
        <p:sp>
          <p:nvSpPr>
            <p:cNvPr id="703" name="Rectangle 127"/>
            <p:cNvSpPr>
              <a:spLocks noChangeArrowheads="1"/>
            </p:cNvSpPr>
            <p:nvPr/>
          </p:nvSpPr>
          <p:spPr bwMode="auto">
            <a:xfrm>
              <a:off x="83708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3B</a:t>
              </a:r>
            </a:p>
          </p:txBody>
        </p:sp>
        <p:sp>
          <p:nvSpPr>
            <p:cNvPr id="704" name="Rectangle 128"/>
            <p:cNvSpPr>
              <a:spLocks noChangeArrowheads="1"/>
            </p:cNvSpPr>
            <p:nvPr/>
          </p:nvSpPr>
          <p:spPr bwMode="auto">
            <a:xfrm>
              <a:off x="77517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DA</a:t>
              </a:r>
            </a:p>
          </p:txBody>
        </p:sp>
        <p:sp>
          <p:nvSpPr>
            <p:cNvPr id="705" name="Rectangle 129"/>
            <p:cNvSpPr>
              <a:spLocks noChangeArrowheads="1"/>
            </p:cNvSpPr>
            <p:nvPr/>
          </p:nvSpPr>
          <p:spPr bwMode="auto">
            <a:xfrm>
              <a:off x="713105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706" name="Rectangle 130"/>
            <p:cNvSpPr>
              <a:spLocks noChangeArrowheads="1"/>
            </p:cNvSpPr>
            <p:nvPr/>
          </p:nvSpPr>
          <p:spPr bwMode="auto">
            <a:xfrm>
              <a:off x="65087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93</a:t>
              </a:r>
            </a:p>
          </p:txBody>
        </p:sp>
        <p:sp>
          <p:nvSpPr>
            <p:cNvPr id="707" name="Rectangle 131"/>
            <p:cNvSpPr>
              <a:spLocks noChangeArrowheads="1"/>
            </p:cNvSpPr>
            <p:nvPr/>
          </p:nvSpPr>
          <p:spPr bwMode="auto">
            <a:xfrm>
              <a:off x="58880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708" name="Rectangle 132"/>
            <p:cNvSpPr>
              <a:spLocks noChangeArrowheads="1"/>
            </p:cNvSpPr>
            <p:nvPr/>
          </p:nvSpPr>
          <p:spPr bwMode="auto">
            <a:xfrm>
              <a:off x="526891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709" name="Rectangle 133"/>
            <p:cNvSpPr>
              <a:spLocks noChangeArrowheads="1"/>
            </p:cNvSpPr>
            <p:nvPr/>
          </p:nvSpPr>
          <p:spPr bwMode="auto">
            <a:xfrm>
              <a:off x="464820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A</a:t>
              </a:r>
            </a:p>
          </p:txBody>
        </p:sp>
        <p:sp>
          <p:nvSpPr>
            <p:cNvPr id="710" name="Rectangle 141"/>
            <p:cNvSpPr>
              <a:spLocks noChangeArrowheads="1"/>
            </p:cNvSpPr>
            <p:nvPr/>
          </p:nvSpPr>
          <p:spPr bwMode="auto">
            <a:xfrm>
              <a:off x="83708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11" name="Rectangle 142"/>
            <p:cNvSpPr>
              <a:spLocks noChangeArrowheads="1"/>
            </p:cNvSpPr>
            <p:nvPr/>
          </p:nvSpPr>
          <p:spPr bwMode="auto">
            <a:xfrm>
              <a:off x="77517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12" name="Rectangle 143"/>
            <p:cNvSpPr>
              <a:spLocks noChangeArrowheads="1"/>
            </p:cNvSpPr>
            <p:nvPr/>
          </p:nvSpPr>
          <p:spPr bwMode="auto">
            <a:xfrm>
              <a:off x="71310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13" name="Rectangle 144"/>
            <p:cNvSpPr>
              <a:spLocks noChangeArrowheads="1"/>
            </p:cNvSpPr>
            <p:nvPr/>
          </p:nvSpPr>
          <p:spPr bwMode="auto">
            <a:xfrm>
              <a:off x="65087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714" name="Rectangle 145"/>
            <p:cNvSpPr>
              <a:spLocks noChangeArrowheads="1"/>
            </p:cNvSpPr>
            <p:nvPr/>
          </p:nvSpPr>
          <p:spPr bwMode="auto">
            <a:xfrm>
              <a:off x="58880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15" name="Rectangle 146"/>
            <p:cNvSpPr>
              <a:spLocks noChangeArrowheads="1"/>
            </p:cNvSpPr>
            <p:nvPr/>
          </p:nvSpPr>
          <p:spPr bwMode="auto">
            <a:xfrm>
              <a:off x="52689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716" name="Rectangle 147"/>
            <p:cNvSpPr>
              <a:spLocks noChangeArrowheads="1"/>
            </p:cNvSpPr>
            <p:nvPr/>
          </p:nvSpPr>
          <p:spPr bwMode="auto">
            <a:xfrm>
              <a:off x="464820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9</a:t>
              </a:r>
            </a:p>
          </p:txBody>
        </p:sp>
        <p:sp>
          <p:nvSpPr>
            <p:cNvPr id="717" name="Rectangle 155"/>
            <p:cNvSpPr>
              <a:spLocks noChangeArrowheads="1"/>
            </p:cNvSpPr>
            <p:nvPr/>
          </p:nvSpPr>
          <p:spPr bwMode="auto">
            <a:xfrm>
              <a:off x="83708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89</a:t>
              </a:r>
            </a:p>
          </p:txBody>
        </p:sp>
        <p:sp>
          <p:nvSpPr>
            <p:cNvPr id="718" name="Rectangle 156"/>
            <p:cNvSpPr>
              <a:spLocks noChangeArrowheads="1"/>
            </p:cNvSpPr>
            <p:nvPr/>
          </p:nvSpPr>
          <p:spPr bwMode="auto">
            <a:xfrm>
              <a:off x="77517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51</a:t>
              </a:r>
            </a:p>
          </p:txBody>
        </p:sp>
        <p:sp>
          <p:nvSpPr>
            <p:cNvPr id="719" name="Rectangle 157"/>
            <p:cNvSpPr>
              <a:spLocks noChangeArrowheads="1"/>
            </p:cNvSpPr>
            <p:nvPr/>
          </p:nvSpPr>
          <p:spPr bwMode="auto">
            <a:xfrm>
              <a:off x="71310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720" name="Rectangle 158"/>
            <p:cNvSpPr>
              <a:spLocks noChangeArrowheads="1"/>
            </p:cNvSpPr>
            <p:nvPr/>
          </p:nvSpPr>
          <p:spPr bwMode="auto">
            <a:xfrm>
              <a:off x="65087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3A</a:t>
              </a:r>
            </a:p>
          </p:txBody>
        </p:sp>
        <p:sp>
          <p:nvSpPr>
            <p:cNvPr id="721" name="Rectangle 159"/>
            <p:cNvSpPr>
              <a:spLocks noChangeArrowheads="1"/>
            </p:cNvSpPr>
            <p:nvPr/>
          </p:nvSpPr>
          <p:spPr bwMode="auto">
            <a:xfrm>
              <a:off x="58880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722" name="Rectangle 160"/>
            <p:cNvSpPr>
              <a:spLocks noChangeArrowheads="1"/>
            </p:cNvSpPr>
            <p:nvPr/>
          </p:nvSpPr>
          <p:spPr bwMode="auto">
            <a:xfrm>
              <a:off x="52689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24</a:t>
              </a:r>
            </a:p>
          </p:txBody>
        </p:sp>
        <p:sp>
          <p:nvSpPr>
            <p:cNvPr id="723" name="Rectangle 161"/>
            <p:cNvSpPr>
              <a:spLocks noChangeArrowheads="1"/>
            </p:cNvSpPr>
            <p:nvPr/>
          </p:nvSpPr>
          <p:spPr bwMode="auto">
            <a:xfrm>
              <a:off x="464820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8</a:t>
              </a:r>
            </a:p>
          </p:txBody>
        </p:sp>
        <p:sp>
          <p:nvSpPr>
            <p:cNvPr id="724" name="Rectangle 169"/>
            <p:cNvSpPr>
              <a:spLocks noChangeArrowheads="1"/>
            </p:cNvSpPr>
            <p:nvPr/>
          </p:nvSpPr>
          <p:spPr bwMode="auto">
            <a:xfrm>
              <a:off x="837088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</a:p>
          </p:txBody>
        </p:sp>
        <p:sp>
          <p:nvSpPr>
            <p:cNvPr id="725" name="Rectangle 170"/>
            <p:cNvSpPr>
              <a:spLocks noChangeArrowheads="1"/>
            </p:cNvSpPr>
            <p:nvPr/>
          </p:nvSpPr>
          <p:spPr bwMode="auto">
            <a:xfrm>
              <a:off x="775176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</a:p>
          </p:txBody>
        </p:sp>
        <p:sp>
          <p:nvSpPr>
            <p:cNvPr id="726" name="Rectangle 171"/>
            <p:cNvSpPr>
              <a:spLocks noChangeArrowheads="1"/>
            </p:cNvSpPr>
            <p:nvPr/>
          </p:nvSpPr>
          <p:spPr bwMode="auto">
            <a:xfrm>
              <a:off x="713105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</a:p>
          </p:txBody>
        </p:sp>
        <p:sp>
          <p:nvSpPr>
            <p:cNvPr id="727" name="Rectangle 172"/>
            <p:cNvSpPr>
              <a:spLocks noChangeArrowheads="1"/>
            </p:cNvSpPr>
            <p:nvPr/>
          </p:nvSpPr>
          <p:spPr bwMode="auto">
            <a:xfrm>
              <a:off x="6508750" y="40767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</a:p>
          </p:txBody>
        </p:sp>
        <p:sp>
          <p:nvSpPr>
            <p:cNvPr id="728" name="Rectangle 173"/>
            <p:cNvSpPr>
              <a:spLocks noChangeArrowheads="1"/>
            </p:cNvSpPr>
            <p:nvPr/>
          </p:nvSpPr>
          <p:spPr bwMode="auto">
            <a:xfrm>
              <a:off x="588803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729" name="Rectangle 174"/>
            <p:cNvSpPr>
              <a:spLocks noChangeArrowheads="1"/>
            </p:cNvSpPr>
            <p:nvPr/>
          </p:nvSpPr>
          <p:spPr bwMode="auto">
            <a:xfrm>
              <a:off x="526891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730" name="Rectangle 175"/>
            <p:cNvSpPr>
              <a:spLocks noChangeArrowheads="1"/>
            </p:cNvSpPr>
            <p:nvPr/>
          </p:nvSpPr>
          <p:spPr bwMode="auto">
            <a:xfrm>
              <a:off x="464820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40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731" name="Line 183"/>
            <p:cNvSpPr>
              <a:spLocks noChangeShapeType="1"/>
            </p:cNvSpPr>
            <p:nvPr/>
          </p:nvSpPr>
          <p:spPr bwMode="auto">
            <a:xfrm>
              <a:off x="4666488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732" name="Line 184"/>
            <p:cNvSpPr>
              <a:spLocks noChangeShapeType="1"/>
            </p:cNvSpPr>
            <p:nvPr/>
          </p:nvSpPr>
          <p:spPr bwMode="auto">
            <a:xfrm>
              <a:off x="4666488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3" name="Line 185"/>
            <p:cNvSpPr>
              <a:spLocks noChangeShapeType="1"/>
            </p:cNvSpPr>
            <p:nvPr/>
          </p:nvSpPr>
          <p:spPr bwMode="auto">
            <a:xfrm>
              <a:off x="4666488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4" name="Line 186"/>
            <p:cNvSpPr>
              <a:spLocks noChangeShapeType="1"/>
            </p:cNvSpPr>
            <p:nvPr/>
          </p:nvSpPr>
          <p:spPr bwMode="auto">
            <a:xfrm>
              <a:off x="4666488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5" name="Line 187"/>
            <p:cNvSpPr>
              <a:spLocks noChangeShapeType="1"/>
            </p:cNvSpPr>
            <p:nvPr/>
          </p:nvSpPr>
          <p:spPr bwMode="auto">
            <a:xfrm>
              <a:off x="4666488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6" name="Line 188"/>
            <p:cNvSpPr>
              <a:spLocks noChangeShapeType="1"/>
            </p:cNvSpPr>
            <p:nvPr/>
          </p:nvSpPr>
          <p:spPr bwMode="auto">
            <a:xfrm>
              <a:off x="4666488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7" name="Line 189"/>
            <p:cNvSpPr>
              <a:spLocks noChangeShapeType="1"/>
            </p:cNvSpPr>
            <p:nvPr/>
          </p:nvSpPr>
          <p:spPr bwMode="auto">
            <a:xfrm>
              <a:off x="4666488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8" name="Line 190"/>
            <p:cNvSpPr>
              <a:spLocks noChangeShapeType="1"/>
            </p:cNvSpPr>
            <p:nvPr/>
          </p:nvSpPr>
          <p:spPr bwMode="auto">
            <a:xfrm>
              <a:off x="4666488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9" name="Line 197"/>
            <p:cNvSpPr>
              <a:spLocks noChangeShapeType="1"/>
            </p:cNvSpPr>
            <p:nvPr/>
          </p:nvSpPr>
          <p:spPr bwMode="auto">
            <a:xfrm>
              <a:off x="52689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0" name="Line 198"/>
            <p:cNvSpPr>
              <a:spLocks noChangeShapeType="1"/>
            </p:cNvSpPr>
            <p:nvPr/>
          </p:nvSpPr>
          <p:spPr bwMode="auto">
            <a:xfrm>
              <a:off x="58880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1" name="Line 199"/>
            <p:cNvSpPr>
              <a:spLocks noChangeShapeType="1"/>
            </p:cNvSpPr>
            <p:nvPr/>
          </p:nvSpPr>
          <p:spPr bwMode="auto">
            <a:xfrm>
              <a:off x="65087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2" name="Line 200"/>
            <p:cNvSpPr>
              <a:spLocks noChangeShapeType="1"/>
            </p:cNvSpPr>
            <p:nvPr/>
          </p:nvSpPr>
          <p:spPr bwMode="auto">
            <a:xfrm>
              <a:off x="71310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3" name="Line 201"/>
            <p:cNvSpPr>
              <a:spLocks noChangeShapeType="1"/>
            </p:cNvSpPr>
            <p:nvPr/>
          </p:nvSpPr>
          <p:spPr bwMode="auto">
            <a:xfrm>
              <a:off x="77517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4" name="Line 202"/>
            <p:cNvSpPr>
              <a:spLocks noChangeShapeType="1"/>
            </p:cNvSpPr>
            <p:nvPr/>
          </p:nvSpPr>
          <p:spPr bwMode="auto">
            <a:xfrm>
              <a:off x="83708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5" name="Line 205"/>
            <p:cNvSpPr>
              <a:spLocks noChangeShapeType="1"/>
            </p:cNvSpPr>
            <p:nvPr/>
          </p:nvSpPr>
          <p:spPr bwMode="auto">
            <a:xfrm>
              <a:off x="4666488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746" name="Line 206"/>
            <p:cNvSpPr>
              <a:spLocks noChangeShapeType="1"/>
            </p:cNvSpPr>
            <p:nvPr/>
          </p:nvSpPr>
          <p:spPr bwMode="auto">
            <a:xfrm>
              <a:off x="8991601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7" name="Line 207"/>
            <p:cNvSpPr>
              <a:spLocks noChangeShapeType="1"/>
            </p:cNvSpPr>
            <p:nvPr/>
          </p:nvSpPr>
          <p:spPr bwMode="auto">
            <a:xfrm>
              <a:off x="4666488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8" name="Line 206"/>
            <p:cNvSpPr>
              <a:spLocks noChangeShapeType="1"/>
            </p:cNvSpPr>
            <p:nvPr/>
          </p:nvSpPr>
          <p:spPr bwMode="auto">
            <a:xfrm>
              <a:off x="4648200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36" name="Group 835"/>
          <p:cNvGrpSpPr/>
          <p:nvPr/>
        </p:nvGrpSpPr>
        <p:grpSpPr>
          <a:xfrm>
            <a:off x="469277" y="4763559"/>
            <a:ext cx="8154989" cy="1627189"/>
            <a:chOff x="2211252" y="149729"/>
            <a:chExt cx="8154989" cy="1627189"/>
          </a:xfrm>
        </p:grpSpPr>
        <p:sp>
          <p:nvSpPr>
            <p:cNvPr id="837" name="Rectangle 60"/>
            <p:cNvSpPr>
              <a:spLocks noChangeArrowheads="1"/>
            </p:cNvSpPr>
            <p:nvPr/>
          </p:nvSpPr>
          <p:spPr bwMode="auto">
            <a:xfrm>
              <a:off x="9739177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38" name="Rectangle 61"/>
            <p:cNvSpPr>
              <a:spLocks noChangeArrowheads="1"/>
            </p:cNvSpPr>
            <p:nvPr/>
          </p:nvSpPr>
          <p:spPr bwMode="auto">
            <a:xfrm>
              <a:off x="9108940" y="1449892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39" name="Rectangle 62"/>
            <p:cNvSpPr>
              <a:spLocks noChangeArrowheads="1"/>
            </p:cNvSpPr>
            <p:nvPr/>
          </p:nvSpPr>
          <p:spPr bwMode="auto">
            <a:xfrm>
              <a:off x="8483465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840" name="Rectangle 63"/>
            <p:cNvSpPr>
              <a:spLocks noChangeArrowheads="1"/>
            </p:cNvSpPr>
            <p:nvPr/>
          </p:nvSpPr>
          <p:spPr bwMode="auto">
            <a:xfrm>
              <a:off x="7854815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841" name="Rectangle 64"/>
            <p:cNvSpPr>
              <a:spLocks noChangeArrowheads="1"/>
            </p:cNvSpPr>
            <p:nvPr/>
          </p:nvSpPr>
          <p:spPr bwMode="auto">
            <a:xfrm>
              <a:off x="7229340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34</a:t>
              </a:r>
            </a:p>
          </p:txBody>
        </p:sp>
        <p:sp>
          <p:nvSpPr>
            <p:cNvPr id="842" name="Rectangle 65"/>
            <p:cNvSpPr>
              <a:spLocks noChangeArrowheads="1"/>
            </p:cNvSpPr>
            <p:nvPr/>
          </p:nvSpPr>
          <p:spPr bwMode="auto">
            <a:xfrm>
              <a:off x="6602277" y="1449892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0A</a:t>
              </a:r>
            </a:p>
          </p:txBody>
        </p:sp>
        <p:sp>
          <p:nvSpPr>
            <p:cNvPr id="843" name="Rectangle 66"/>
            <p:cNvSpPr>
              <a:spLocks noChangeArrowheads="1"/>
            </p:cNvSpPr>
            <p:nvPr/>
          </p:nvSpPr>
          <p:spPr bwMode="auto">
            <a:xfrm>
              <a:off x="5973627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844" name="Rectangle 67"/>
            <p:cNvSpPr>
              <a:spLocks noChangeArrowheads="1"/>
            </p:cNvSpPr>
            <p:nvPr/>
          </p:nvSpPr>
          <p:spPr bwMode="auto">
            <a:xfrm>
              <a:off x="5346565" y="1449892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845" name="Rectangle 68"/>
            <p:cNvSpPr>
              <a:spLocks noChangeArrowheads="1"/>
            </p:cNvSpPr>
            <p:nvPr/>
          </p:nvSpPr>
          <p:spPr bwMode="auto">
            <a:xfrm>
              <a:off x="4721090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846" name="Rectangle 69"/>
            <p:cNvSpPr>
              <a:spLocks noChangeArrowheads="1"/>
            </p:cNvSpPr>
            <p:nvPr/>
          </p:nvSpPr>
          <p:spPr bwMode="auto">
            <a:xfrm>
              <a:off x="4092440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47" name="Rectangle 70"/>
            <p:cNvSpPr>
              <a:spLocks noChangeArrowheads="1"/>
            </p:cNvSpPr>
            <p:nvPr/>
          </p:nvSpPr>
          <p:spPr bwMode="auto">
            <a:xfrm>
              <a:off x="3466965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48" name="Rectangle 71"/>
            <p:cNvSpPr>
              <a:spLocks noChangeArrowheads="1"/>
            </p:cNvSpPr>
            <p:nvPr/>
          </p:nvSpPr>
          <p:spPr bwMode="auto">
            <a:xfrm>
              <a:off x="2836727" y="1449892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07</a:t>
              </a:r>
            </a:p>
          </p:txBody>
        </p:sp>
        <p:sp>
          <p:nvSpPr>
            <p:cNvPr id="849" name="Rectangle 72"/>
            <p:cNvSpPr>
              <a:spLocks noChangeArrowheads="1"/>
            </p:cNvSpPr>
            <p:nvPr/>
          </p:nvSpPr>
          <p:spPr bwMode="auto">
            <a:xfrm>
              <a:off x="2211252" y="1449892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850" name="Rectangle 73"/>
            <p:cNvSpPr>
              <a:spLocks noChangeArrowheads="1"/>
            </p:cNvSpPr>
            <p:nvPr/>
          </p:nvSpPr>
          <p:spPr bwMode="auto">
            <a:xfrm>
              <a:off x="9739177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51" name="Rectangle 74"/>
            <p:cNvSpPr>
              <a:spLocks noChangeArrowheads="1"/>
            </p:cNvSpPr>
            <p:nvPr/>
          </p:nvSpPr>
          <p:spPr bwMode="auto">
            <a:xfrm>
              <a:off x="9108940" y="1124454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52" name="Rectangle 75"/>
            <p:cNvSpPr>
              <a:spLocks noChangeArrowheads="1"/>
            </p:cNvSpPr>
            <p:nvPr/>
          </p:nvSpPr>
          <p:spPr bwMode="auto">
            <a:xfrm>
              <a:off x="8483465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853" name="Rectangle 76"/>
            <p:cNvSpPr>
              <a:spLocks noChangeArrowheads="1"/>
            </p:cNvSpPr>
            <p:nvPr/>
          </p:nvSpPr>
          <p:spPr bwMode="auto">
            <a:xfrm>
              <a:off x="7854815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54" name="Rectangle 77"/>
            <p:cNvSpPr>
              <a:spLocks noChangeArrowheads="1"/>
            </p:cNvSpPr>
            <p:nvPr/>
          </p:nvSpPr>
          <p:spPr bwMode="auto">
            <a:xfrm>
              <a:off x="7229340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55" name="Rectangle 78"/>
            <p:cNvSpPr>
              <a:spLocks noChangeArrowheads="1"/>
            </p:cNvSpPr>
            <p:nvPr/>
          </p:nvSpPr>
          <p:spPr bwMode="auto">
            <a:xfrm>
              <a:off x="6602277" y="1124454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06</a:t>
              </a:r>
            </a:p>
          </p:txBody>
        </p:sp>
        <p:sp>
          <p:nvSpPr>
            <p:cNvPr id="856" name="Rectangle 79"/>
            <p:cNvSpPr>
              <a:spLocks noChangeArrowheads="1"/>
            </p:cNvSpPr>
            <p:nvPr/>
          </p:nvSpPr>
          <p:spPr bwMode="auto">
            <a:xfrm>
              <a:off x="5973627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57" name="Rectangle 80"/>
            <p:cNvSpPr>
              <a:spLocks noChangeArrowheads="1"/>
            </p:cNvSpPr>
            <p:nvPr/>
          </p:nvSpPr>
          <p:spPr bwMode="auto">
            <a:xfrm>
              <a:off x="5346565" y="1124454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58" name="Rectangle 81"/>
            <p:cNvSpPr>
              <a:spLocks noChangeArrowheads="1"/>
            </p:cNvSpPr>
            <p:nvPr/>
          </p:nvSpPr>
          <p:spPr bwMode="auto">
            <a:xfrm>
              <a:off x="4721090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08</a:t>
              </a:r>
            </a:p>
          </p:txBody>
        </p:sp>
        <p:sp>
          <p:nvSpPr>
            <p:cNvPr id="859" name="Rectangle 82"/>
            <p:cNvSpPr>
              <a:spLocks noChangeArrowheads="1"/>
            </p:cNvSpPr>
            <p:nvPr/>
          </p:nvSpPr>
          <p:spPr bwMode="auto">
            <a:xfrm>
              <a:off x="4092440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60" name="Rectangle 83"/>
            <p:cNvSpPr>
              <a:spLocks noChangeArrowheads="1"/>
            </p:cNvSpPr>
            <p:nvPr/>
          </p:nvSpPr>
          <p:spPr bwMode="auto">
            <a:xfrm>
              <a:off x="3466965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61" name="Rectangle 84"/>
            <p:cNvSpPr>
              <a:spLocks noChangeArrowheads="1"/>
            </p:cNvSpPr>
            <p:nvPr/>
          </p:nvSpPr>
          <p:spPr bwMode="auto">
            <a:xfrm>
              <a:off x="2836727" y="1124454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862" name="Rectangle 85"/>
            <p:cNvSpPr>
              <a:spLocks noChangeArrowheads="1"/>
            </p:cNvSpPr>
            <p:nvPr/>
          </p:nvSpPr>
          <p:spPr bwMode="auto">
            <a:xfrm>
              <a:off x="2211252" y="1124454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863" name="Rectangle 86"/>
            <p:cNvSpPr>
              <a:spLocks noChangeArrowheads="1"/>
            </p:cNvSpPr>
            <p:nvPr/>
          </p:nvSpPr>
          <p:spPr bwMode="auto">
            <a:xfrm>
              <a:off x="9739177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64" name="Rectangle 87"/>
            <p:cNvSpPr>
              <a:spLocks noChangeArrowheads="1"/>
            </p:cNvSpPr>
            <p:nvPr/>
          </p:nvSpPr>
          <p:spPr bwMode="auto">
            <a:xfrm>
              <a:off x="9108940" y="800604"/>
              <a:ext cx="630238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65" name="Rectangle 88"/>
            <p:cNvSpPr>
              <a:spLocks noChangeArrowheads="1"/>
            </p:cNvSpPr>
            <p:nvPr/>
          </p:nvSpPr>
          <p:spPr bwMode="auto">
            <a:xfrm>
              <a:off x="8483465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0A</a:t>
              </a:r>
            </a:p>
          </p:txBody>
        </p:sp>
        <p:sp>
          <p:nvSpPr>
            <p:cNvPr id="866" name="Rectangle 89"/>
            <p:cNvSpPr>
              <a:spLocks noChangeArrowheads="1"/>
            </p:cNvSpPr>
            <p:nvPr/>
          </p:nvSpPr>
          <p:spPr bwMode="auto">
            <a:xfrm>
              <a:off x="7854815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67" name="Rectangle 90"/>
            <p:cNvSpPr>
              <a:spLocks noChangeArrowheads="1"/>
            </p:cNvSpPr>
            <p:nvPr/>
          </p:nvSpPr>
          <p:spPr bwMode="auto">
            <a:xfrm>
              <a:off x="7229340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68" name="Rectangle 91"/>
            <p:cNvSpPr>
              <a:spLocks noChangeArrowheads="1"/>
            </p:cNvSpPr>
            <p:nvPr/>
          </p:nvSpPr>
          <p:spPr bwMode="auto">
            <a:xfrm>
              <a:off x="6602277" y="800604"/>
              <a:ext cx="627063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869" name="Rectangle 92"/>
            <p:cNvSpPr>
              <a:spLocks noChangeArrowheads="1"/>
            </p:cNvSpPr>
            <p:nvPr/>
          </p:nvSpPr>
          <p:spPr bwMode="auto">
            <a:xfrm>
              <a:off x="5973627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70" name="Rectangle 93"/>
            <p:cNvSpPr>
              <a:spLocks noChangeArrowheads="1"/>
            </p:cNvSpPr>
            <p:nvPr/>
          </p:nvSpPr>
          <p:spPr bwMode="auto">
            <a:xfrm>
              <a:off x="5346565" y="800604"/>
              <a:ext cx="627063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71" name="Rectangle 94"/>
            <p:cNvSpPr>
              <a:spLocks noChangeArrowheads="1"/>
            </p:cNvSpPr>
            <p:nvPr/>
          </p:nvSpPr>
          <p:spPr bwMode="auto">
            <a:xfrm>
              <a:off x="4721090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872" name="Rectangle 95"/>
            <p:cNvSpPr>
              <a:spLocks noChangeArrowheads="1"/>
            </p:cNvSpPr>
            <p:nvPr/>
          </p:nvSpPr>
          <p:spPr bwMode="auto">
            <a:xfrm>
              <a:off x="4092440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873" name="Rectangle 96"/>
            <p:cNvSpPr>
              <a:spLocks noChangeArrowheads="1"/>
            </p:cNvSpPr>
            <p:nvPr/>
          </p:nvSpPr>
          <p:spPr bwMode="auto">
            <a:xfrm>
              <a:off x="3466965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874" name="Rectangle 97"/>
            <p:cNvSpPr>
              <a:spLocks noChangeArrowheads="1"/>
            </p:cNvSpPr>
            <p:nvPr/>
          </p:nvSpPr>
          <p:spPr bwMode="auto">
            <a:xfrm>
              <a:off x="2836727" y="800604"/>
              <a:ext cx="630238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875" name="Rectangle 98"/>
            <p:cNvSpPr>
              <a:spLocks noChangeArrowheads="1"/>
            </p:cNvSpPr>
            <p:nvPr/>
          </p:nvSpPr>
          <p:spPr bwMode="auto">
            <a:xfrm>
              <a:off x="2211252" y="800604"/>
              <a:ext cx="625475" cy="3238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876" name="Rectangle 99"/>
            <p:cNvSpPr>
              <a:spLocks noChangeArrowheads="1"/>
            </p:cNvSpPr>
            <p:nvPr/>
          </p:nvSpPr>
          <p:spPr bwMode="auto">
            <a:xfrm>
              <a:off x="9739177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877" name="Rectangle 100"/>
            <p:cNvSpPr>
              <a:spLocks noChangeArrowheads="1"/>
            </p:cNvSpPr>
            <p:nvPr/>
          </p:nvSpPr>
          <p:spPr bwMode="auto">
            <a:xfrm>
              <a:off x="9108940" y="475167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878" name="Rectangle 101"/>
            <p:cNvSpPr>
              <a:spLocks noChangeArrowheads="1"/>
            </p:cNvSpPr>
            <p:nvPr/>
          </p:nvSpPr>
          <p:spPr bwMode="auto">
            <a:xfrm>
              <a:off x="8483465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07</a:t>
              </a:r>
            </a:p>
          </p:txBody>
        </p:sp>
        <p:sp>
          <p:nvSpPr>
            <p:cNvPr id="879" name="Rectangle 102"/>
            <p:cNvSpPr>
              <a:spLocks noChangeArrowheads="1"/>
            </p:cNvSpPr>
            <p:nvPr/>
          </p:nvSpPr>
          <p:spPr bwMode="auto">
            <a:xfrm>
              <a:off x="7854815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80" name="Rectangle 103"/>
            <p:cNvSpPr>
              <a:spLocks noChangeArrowheads="1"/>
            </p:cNvSpPr>
            <p:nvPr/>
          </p:nvSpPr>
          <p:spPr bwMode="auto">
            <a:xfrm>
              <a:off x="7229340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81" name="Rectangle 104"/>
            <p:cNvSpPr>
              <a:spLocks noChangeArrowheads="1"/>
            </p:cNvSpPr>
            <p:nvPr/>
          </p:nvSpPr>
          <p:spPr bwMode="auto">
            <a:xfrm>
              <a:off x="6602277" y="475167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882" name="Rectangle 105"/>
            <p:cNvSpPr>
              <a:spLocks noChangeArrowheads="1"/>
            </p:cNvSpPr>
            <p:nvPr/>
          </p:nvSpPr>
          <p:spPr bwMode="auto">
            <a:xfrm>
              <a:off x="5973627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883" name="Rectangle 106"/>
            <p:cNvSpPr>
              <a:spLocks noChangeArrowheads="1"/>
            </p:cNvSpPr>
            <p:nvPr/>
          </p:nvSpPr>
          <p:spPr bwMode="auto">
            <a:xfrm>
              <a:off x="5346565" y="475167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884" name="Rectangle 107"/>
            <p:cNvSpPr>
              <a:spLocks noChangeArrowheads="1"/>
            </p:cNvSpPr>
            <p:nvPr/>
          </p:nvSpPr>
          <p:spPr bwMode="auto">
            <a:xfrm>
              <a:off x="4721090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09</a:t>
              </a:r>
            </a:p>
          </p:txBody>
        </p:sp>
        <p:sp>
          <p:nvSpPr>
            <p:cNvPr id="885" name="Rectangle 108"/>
            <p:cNvSpPr>
              <a:spLocks noChangeArrowheads="1"/>
            </p:cNvSpPr>
            <p:nvPr/>
          </p:nvSpPr>
          <p:spPr bwMode="auto">
            <a:xfrm>
              <a:off x="4092440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886" name="Rectangle 109"/>
            <p:cNvSpPr>
              <a:spLocks noChangeArrowheads="1"/>
            </p:cNvSpPr>
            <p:nvPr/>
          </p:nvSpPr>
          <p:spPr bwMode="auto">
            <a:xfrm>
              <a:off x="3466965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887" name="Rectangle 110"/>
            <p:cNvSpPr>
              <a:spLocks noChangeArrowheads="1"/>
            </p:cNvSpPr>
            <p:nvPr/>
          </p:nvSpPr>
          <p:spPr bwMode="auto">
            <a:xfrm>
              <a:off x="2836727" y="475167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888" name="Rectangle 111"/>
            <p:cNvSpPr>
              <a:spLocks noChangeArrowheads="1"/>
            </p:cNvSpPr>
            <p:nvPr/>
          </p:nvSpPr>
          <p:spPr bwMode="auto">
            <a:xfrm>
              <a:off x="2211252" y="475167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889" name="Rectangle 112"/>
            <p:cNvSpPr>
              <a:spLocks noChangeArrowheads="1"/>
            </p:cNvSpPr>
            <p:nvPr/>
          </p:nvSpPr>
          <p:spPr bwMode="auto">
            <a:xfrm>
              <a:off x="9739177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890" name="Rectangle 113"/>
            <p:cNvSpPr>
              <a:spLocks noChangeArrowheads="1"/>
            </p:cNvSpPr>
            <p:nvPr/>
          </p:nvSpPr>
          <p:spPr bwMode="auto">
            <a:xfrm>
              <a:off x="9108940" y="14972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891" name="Rectangle 114"/>
            <p:cNvSpPr>
              <a:spLocks noChangeArrowheads="1"/>
            </p:cNvSpPr>
            <p:nvPr/>
          </p:nvSpPr>
          <p:spPr bwMode="auto">
            <a:xfrm>
              <a:off x="8483465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892" name="Rectangle 115"/>
            <p:cNvSpPr>
              <a:spLocks noChangeArrowheads="1"/>
            </p:cNvSpPr>
            <p:nvPr/>
          </p:nvSpPr>
          <p:spPr bwMode="auto">
            <a:xfrm>
              <a:off x="7854815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893" name="Rectangle 116"/>
            <p:cNvSpPr>
              <a:spLocks noChangeArrowheads="1"/>
            </p:cNvSpPr>
            <p:nvPr/>
          </p:nvSpPr>
          <p:spPr bwMode="auto">
            <a:xfrm>
              <a:off x="7229340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894" name="Rectangle 117"/>
            <p:cNvSpPr>
              <a:spLocks noChangeArrowheads="1"/>
            </p:cNvSpPr>
            <p:nvPr/>
          </p:nvSpPr>
          <p:spPr bwMode="auto">
            <a:xfrm>
              <a:off x="6602277" y="14972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895" name="Rectangle 118"/>
            <p:cNvSpPr>
              <a:spLocks noChangeArrowheads="1"/>
            </p:cNvSpPr>
            <p:nvPr/>
          </p:nvSpPr>
          <p:spPr bwMode="auto">
            <a:xfrm>
              <a:off x="5973627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896" name="Rectangle 119"/>
            <p:cNvSpPr>
              <a:spLocks noChangeArrowheads="1"/>
            </p:cNvSpPr>
            <p:nvPr/>
          </p:nvSpPr>
          <p:spPr bwMode="auto">
            <a:xfrm>
              <a:off x="5346565" y="14972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897" name="Rectangle 120"/>
            <p:cNvSpPr>
              <a:spLocks noChangeArrowheads="1"/>
            </p:cNvSpPr>
            <p:nvPr/>
          </p:nvSpPr>
          <p:spPr bwMode="auto">
            <a:xfrm>
              <a:off x="4721090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898" name="Rectangle 121"/>
            <p:cNvSpPr>
              <a:spLocks noChangeArrowheads="1"/>
            </p:cNvSpPr>
            <p:nvPr/>
          </p:nvSpPr>
          <p:spPr bwMode="auto">
            <a:xfrm>
              <a:off x="4092440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899" name="Rectangle 122"/>
            <p:cNvSpPr>
              <a:spLocks noChangeArrowheads="1"/>
            </p:cNvSpPr>
            <p:nvPr/>
          </p:nvSpPr>
          <p:spPr bwMode="auto">
            <a:xfrm>
              <a:off x="3466965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900" name="Rectangle 123"/>
            <p:cNvSpPr>
              <a:spLocks noChangeArrowheads="1"/>
            </p:cNvSpPr>
            <p:nvPr/>
          </p:nvSpPr>
          <p:spPr bwMode="auto">
            <a:xfrm>
              <a:off x="2836727" y="14972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901" name="Rectangle 124"/>
            <p:cNvSpPr>
              <a:spLocks noChangeArrowheads="1"/>
            </p:cNvSpPr>
            <p:nvPr/>
          </p:nvSpPr>
          <p:spPr bwMode="auto">
            <a:xfrm>
              <a:off x="2211252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Set</a:t>
              </a:r>
            </a:p>
          </p:txBody>
        </p:sp>
        <p:sp>
          <p:nvSpPr>
            <p:cNvPr id="902" name="Line 125"/>
            <p:cNvSpPr>
              <a:spLocks noChangeShapeType="1"/>
            </p:cNvSpPr>
            <p:nvPr/>
          </p:nvSpPr>
          <p:spPr bwMode="auto">
            <a:xfrm>
              <a:off x="2211252" y="475167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903" name="Line 126"/>
            <p:cNvSpPr>
              <a:spLocks noChangeShapeType="1"/>
            </p:cNvSpPr>
            <p:nvPr/>
          </p:nvSpPr>
          <p:spPr bwMode="auto">
            <a:xfrm>
              <a:off x="2211252" y="80060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4" name="Line 127"/>
            <p:cNvSpPr>
              <a:spLocks noChangeShapeType="1"/>
            </p:cNvSpPr>
            <p:nvPr/>
          </p:nvSpPr>
          <p:spPr bwMode="auto">
            <a:xfrm>
              <a:off x="2211252" y="112445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5" name="Line 128"/>
            <p:cNvSpPr>
              <a:spLocks noChangeShapeType="1"/>
            </p:cNvSpPr>
            <p:nvPr/>
          </p:nvSpPr>
          <p:spPr bwMode="auto">
            <a:xfrm>
              <a:off x="2211252" y="1449892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6" name="Line 129"/>
            <p:cNvSpPr>
              <a:spLocks noChangeShapeType="1"/>
            </p:cNvSpPr>
            <p:nvPr/>
          </p:nvSpPr>
          <p:spPr bwMode="auto">
            <a:xfrm>
              <a:off x="346696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7" name="Line 130"/>
            <p:cNvSpPr>
              <a:spLocks noChangeShapeType="1"/>
            </p:cNvSpPr>
            <p:nvPr/>
          </p:nvSpPr>
          <p:spPr bwMode="auto">
            <a:xfrm>
              <a:off x="40924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8" name="Line 131"/>
            <p:cNvSpPr>
              <a:spLocks noChangeShapeType="1"/>
            </p:cNvSpPr>
            <p:nvPr/>
          </p:nvSpPr>
          <p:spPr bwMode="auto">
            <a:xfrm>
              <a:off x="534656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9" name="Line 132"/>
            <p:cNvSpPr>
              <a:spLocks noChangeShapeType="1"/>
            </p:cNvSpPr>
            <p:nvPr/>
          </p:nvSpPr>
          <p:spPr bwMode="auto">
            <a:xfrm>
              <a:off x="5973627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0" name="Line 133"/>
            <p:cNvSpPr>
              <a:spLocks noChangeShapeType="1"/>
            </p:cNvSpPr>
            <p:nvPr/>
          </p:nvSpPr>
          <p:spPr bwMode="auto">
            <a:xfrm>
              <a:off x="72293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1" name="Line 134"/>
            <p:cNvSpPr>
              <a:spLocks noChangeShapeType="1"/>
            </p:cNvSpPr>
            <p:nvPr/>
          </p:nvSpPr>
          <p:spPr bwMode="auto">
            <a:xfrm>
              <a:off x="785481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2" name="Line 135"/>
            <p:cNvSpPr>
              <a:spLocks noChangeShapeType="1"/>
            </p:cNvSpPr>
            <p:nvPr/>
          </p:nvSpPr>
          <p:spPr bwMode="auto">
            <a:xfrm>
              <a:off x="91089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3" name="Line 136"/>
            <p:cNvSpPr>
              <a:spLocks noChangeShapeType="1"/>
            </p:cNvSpPr>
            <p:nvPr/>
          </p:nvSpPr>
          <p:spPr bwMode="auto">
            <a:xfrm>
              <a:off x="9739177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4" name="Line 137"/>
            <p:cNvSpPr>
              <a:spLocks noChangeShapeType="1"/>
            </p:cNvSpPr>
            <p:nvPr/>
          </p:nvSpPr>
          <p:spPr bwMode="auto">
            <a:xfrm>
              <a:off x="2836727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5" name="Line 138"/>
            <p:cNvSpPr>
              <a:spLocks noChangeShapeType="1"/>
            </p:cNvSpPr>
            <p:nvPr/>
          </p:nvSpPr>
          <p:spPr bwMode="auto">
            <a:xfrm>
              <a:off x="4721090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6" name="Line 139"/>
            <p:cNvSpPr>
              <a:spLocks noChangeShapeType="1"/>
            </p:cNvSpPr>
            <p:nvPr/>
          </p:nvSpPr>
          <p:spPr bwMode="auto">
            <a:xfrm>
              <a:off x="2211252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7" name="Line 140"/>
            <p:cNvSpPr>
              <a:spLocks noChangeShapeType="1"/>
            </p:cNvSpPr>
            <p:nvPr/>
          </p:nvSpPr>
          <p:spPr bwMode="auto">
            <a:xfrm>
              <a:off x="6602277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8" name="Line 141"/>
            <p:cNvSpPr>
              <a:spLocks noChangeShapeType="1"/>
            </p:cNvSpPr>
            <p:nvPr/>
          </p:nvSpPr>
          <p:spPr bwMode="auto">
            <a:xfrm>
              <a:off x="8483465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9" name="Line 142"/>
            <p:cNvSpPr>
              <a:spLocks noChangeShapeType="1"/>
            </p:cNvSpPr>
            <p:nvPr/>
          </p:nvSpPr>
          <p:spPr bwMode="auto">
            <a:xfrm>
              <a:off x="2211252" y="149729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920" name="Line 143"/>
            <p:cNvSpPr>
              <a:spLocks noChangeShapeType="1"/>
            </p:cNvSpPr>
            <p:nvPr/>
          </p:nvSpPr>
          <p:spPr bwMode="auto">
            <a:xfrm>
              <a:off x="10364653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1" name="Line 144"/>
            <p:cNvSpPr>
              <a:spLocks noChangeShapeType="1"/>
            </p:cNvSpPr>
            <p:nvPr/>
          </p:nvSpPr>
          <p:spPr bwMode="auto">
            <a:xfrm>
              <a:off x="2211252" y="1775330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006177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6" grpId="0" animBg="1"/>
      <p:bldP spid="167" grpId="0" animBg="1"/>
      <p:bldP spid="168" grpId="0" animBg="1"/>
      <p:bldP spid="222" grpId="0"/>
      <p:bldP spid="223" grpId="0"/>
      <p:bldP spid="224" grpId="0"/>
      <p:bldP spid="225" grpId="0"/>
      <p:bldP spid="226" grpId="0"/>
      <p:bldP spid="227" grpId="0"/>
      <p:bldP spid="23" grpId="0" animBg="1"/>
      <p:bldP spid="169" grpId="0" animBg="1"/>
      <p:bldP spid="170" grpId="0"/>
      <p:bldP spid="171" grpId="0" animBg="1"/>
      <p:bldP spid="172" grpId="0"/>
      <p:bldP spid="173" grpId="0" animBg="1"/>
      <p:bldP spid="174" grpId="0"/>
      <p:bldP spid="175" grpId="0" animBg="1"/>
      <p:bldP spid="176" grpId="0"/>
      <p:bldP spid="177" grpId="0" animBg="1"/>
      <p:bldP spid="178" grpId="0"/>
      <p:bldP spid="179" grpId="0" animBg="1"/>
      <p:bldP spid="180" grpId="0"/>
      <p:bldP spid="181" grpId="0" animBg="1"/>
      <p:bldP spid="182" grpId="0"/>
      <p:bldP spid="183" grpId="0" animBg="1"/>
      <p:bldP spid="184" grpId="0"/>
      <p:bldP spid="185" grpId="0" animBg="1"/>
      <p:bldP spid="186" grpId="0"/>
      <p:bldP spid="187" grpId="0" animBg="1"/>
      <p:bldP spid="188" grpId="0"/>
      <p:bldP spid="189" grpId="0" animBg="1"/>
      <p:bldP spid="190" grpId="0"/>
      <p:bldP spid="191" grpId="0" animBg="1"/>
      <p:bldP spid="192" grpId="0"/>
      <p:bldP spid="241" grpId="0"/>
      <p:bldP spid="242" grpId="0"/>
      <p:bldP spid="243" grpId="0"/>
      <p:bldP spid="244" grpId="0"/>
      <p:bldP spid="2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/>
              <a:t>Address Translation Example: </a:t>
            </a:r>
            <a:r>
              <a:rPr lang="en-GB" sz="3200" dirty="0">
                <a:solidFill>
                  <a:srgbClr val="0070C0"/>
                </a:solidFill>
              </a:rPr>
              <a:t>TLB/Cache Miss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7387" cy="5333999"/>
          </a:xfrm>
          <a:ln/>
        </p:spPr>
        <p:txBody>
          <a:bodyPr/>
          <a:lstStyle/>
          <a:p>
            <a:pPr marL="222250" indent="-222250">
              <a:lnSpc>
                <a:spcPct val="73000"/>
              </a:lnSpc>
              <a:buSzPct val="100000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>
                <a:effectLst/>
              </a:rPr>
              <a:t>Virtual Address: </a:t>
            </a:r>
            <a:r>
              <a:rPr lang="en-GB" dirty="0">
                <a:latin typeface="Courier New" pitchFamily="49" charset="0"/>
              </a:rPr>
              <a:t>0x0020</a:t>
            </a:r>
            <a:endParaRPr lang="en-GB" dirty="0">
              <a:effectLst/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558800" lvl="1" indent="-220663">
              <a:lnSpc>
                <a:spcPct val="85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latin typeface="Courier New" pitchFamily="49" charset="0"/>
            </a:endParaRP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4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/>
              <a:t>VPN ___	TLBI ___	TLBT ____	          TLB Hit? __	Page Fault? __        PPN: ____</a:t>
            </a:r>
            <a:endParaRPr lang="en-GB" dirty="0">
              <a:effectLst/>
            </a:endParaRPr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>
                <a:effectLst/>
              </a:rPr>
              <a:t>Physical Address</a:t>
            </a:r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/>
              <a:t>	CO___	CI___	CT ____	     Hit? __              Byte: ____</a:t>
            </a: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838200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83820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325562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132556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181292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18129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230028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23002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2787650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7" name="Rectangle 19"/>
          <p:cNvSpPr>
            <a:spLocks noChangeArrowheads="1"/>
          </p:cNvSpPr>
          <p:nvPr/>
        </p:nvSpPr>
        <p:spPr bwMode="auto">
          <a:xfrm>
            <a:off x="27876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09" name="Rectangle 21"/>
          <p:cNvSpPr>
            <a:spLocks noChangeArrowheads="1"/>
          </p:cNvSpPr>
          <p:nvPr/>
        </p:nvSpPr>
        <p:spPr bwMode="auto">
          <a:xfrm>
            <a:off x="3275012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0" name="Rectangle 22"/>
          <p:cNvSpPr>
            <a:spLocks noChangeArrowheads="1"/>
          </p:cNvSpPr>
          <p:nvPr/>
        </p:nvSpPr>
        <p:spPr bwMode="auto">
          <a:xfrm>
            <a:off x="32750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12" name="Rectangle 24"/>
          <p:cNvSpPr>
            <a:spLocks noChangeArrowheads="1"/>
          </p:cNvSpPr>
          <p:nvPr/>
        </p:nvSpPr>
        <p:spPr bwMode="auto">
          <a:xfrm>
            <a:off x="3762375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3" name="Rectangle 25"/>
          <p:cNvSpPr>
            <a:spLocks noChangeArrowheads="1"/>
          </p:cNvSpPr>
          <p:nvPr/>
        </p:nvSpPr>
        <p:spPr bwMode="auto">
          <a:xfrm>
            <a:off x="37623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15" name="Rectangle 27"/>
          <p:cNvSpPr>
            <a:spLocks noChangeArrowheads="1"/>
          </p:cNvSpPr>
          <p:nvPr/>
        </p:nvSpPr>
        <p:spPr bwMode="auto">
          <a:xfrm>
            <a:off x="4249737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6" name="Rectangle 28"/>
          <p:cNvSpPr>
            <a:spLocks noChangeArrowheads="1"/>
          </p:cNvSpPr>
          <p:nvPr/>
        </p:nvSpPr>
        <p:spPr bwMode="auto">
          <a:xfrm>
            <a:off x="42497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18" name="Rectangle 30"/>
          <p:cNvSpPr>
            <a:spLocks noChangeArrowheads="1"/>
          </p:cNvSpPr>
          <p:nvPr/>
        </p:nvSpPr>
        <p:spPr bwMode="auto">
          <a:xfrm>
            <a:off x="4737100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9" name="Rectangle 31"/>
          <p:cNvSpPr>
            <a:spLocks noChangeArrowheads="1"/>
          </p:cNvSpPr>
          <p:nvPr/>
        </p:nvSpPr>
        <p:spPr bwMode="auto">
          <a:xfrm>
            <a:off x="473710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21" name="Rectangle 33"/>
          <p:cNvSpPr>
            <a:spLocks noChangeArrowheads="1"/>
          </p:cNvSpPr>
          <p:nvPr/>
        </p:nvSpPr>
        <p:spPr bwMode="auto">
          <a:xfrm>
            <a:off x="5224462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2" name="Rectangle 34"/>
          <p:cNvSpPr>
            <a:spLocks noChangeArrowheads="1"/>
          </p:cNvSpPr>
          <p:nvPr/>
        </p:nvSpPr>
        <p:spPr bwMode="auto">
          <a:xfrm>
            <a:off x="522446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24" name="Rectangle 36"/>
          <p:cNvSpPr>
            <a:spLocks noChangeArrowheads="1"/>
          </p:cNvSpPr>
          <p:nvPr/>
        </p:nvSpPr>
        <p:spPr bwMode="auto">
          <a:xfrm>
            <a:off x="571182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5" name="Rectangle 37"/>
          <p:cNvSpPr>
            <a:spLocks noChangeArrowheads="1"/>
          </p:cNvSpPr>
          <p:nvPr/>
        </p:nvSpPr>
        <p:spPr bwMode="auto">
          <a:xfrm>
            <a:off x="57118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27" name="Rectangle 39"/>
          <p:cNvSpPr>
            <a:spLocks noChangeArrowheads="1"/>
          </p:cNvSpPr>
          <p:nvPr/>
        </p:nvSpPr>
        <p:spPr bwMode="auto">
          <a:xfrm>
            <a:off x="619918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8" name="Rectangle 40"/>
          <p:cNvSpPr>
            <a:spLocks noChangeArrowheads="1"/>
          </p:cNvSpPr>
          <p:nvPr/>
        </p:nvSpPr>
        <p:spPr bwMode="auto">
          <a:xfrm>
            <a:off x="61991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30" name="Rectangle 42"/>
          <p:cNvSpPr>
            <a:spLocks noChangeArrowheads="1"/>
          </p:cNvSpPr>
          <p:nvPr/>
        </p:nvSpPr>
        <p:spPr bwMode="auto">
          <a:xfrm>
            <a:off x="6686550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1" name="Rectangle 43"/>
          <p:cNvSpPr>
            <a:spLocks noChangeArrowheads="1"/>
          </p:cNvSpPr>
          <p:nvPr/>
        </p:nvSpPr>
        <p:spPr bwMode="auto">
          <a:xfrm>
            <a:off x="66865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33" name="Rectangle 45"/>
          <p:cNvSpPr>
            <a:spLocks noChangeArrowheads="1"/>
          </p:cNvSpPr>
          <p:nvPr/>
        </p:nvSpPr>
        <p:spPr bwMode="auto">
          <a:xfrm>
            <a:off x="7173912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4" name="Rectangle 46"/>
          <p:cNvSpPr>
            <a:spLocks noChangeArrowheads="1"/>
          </p:cNvSpPr>
          <p:nvPr/>
        </p:nvSpPr>
        <p:spPr bwMode="auto">
          <a:xfrm>
            <a:off x="71739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737099" y="2924149"/>
            <a:ext cx="2924175" cy="333375"/>
            <a:chOff x="3085" y="1661"/>
            <a:chExt cx="1842" cy="210"/>
          </a:xfrm>
        </p:grpSpPr>
        <p:sp>
          <p:nvSpPr>
            <p:cNvPr id="37936" name="Line 48"/>
            <p:cNvSpPr>
              <a:spLocks noChangeShapeType="1"/>
            </p:cNvSpPr>
            <p:nvPr/>
          </p:nvSpPr>
          <p:spPr bwMode="auto">
            <a:xfrm>
              <a:off x="3085" y="1752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37" name="Text Box 49"/>
            <p:cNvSpPr txBox="1">
              <a:spLocks noChangeArrowheads="1"/>
            </p:cNvSpPr>
            <p:nvPr/>
          </p:nvSpPr>
          <p:spPr bwMode="auto">
            <a:xfrm>
              <a:off x="3792" y="1661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838200" y="2916211"/>
            <a:ext cx="3916362" cy="333375"/>
            <a:chOff x="629" y="1656"/>
            <a:chExt cx="2467" cy="210"/>
          </a:xfrm>
        </p:grpSpPr>
        <p:sp>
          <p:nvSpPr>
            <p:cNvPr id="37939" name="Line 51"/>
            <p:cNvSpPr>
              <a:spLocks noChangeShapeType="1"/>
            </p:cNvSpPr>
            <p:nvPr/>
          </p:nvSpPr>
          <p:spPr bwMode="auto">
            <a:xfrm>
              <a:off x="629" y="1747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40" name="Text Box 52"/>
            <p:cNvSpPr txBox="1">
              <a:spLocks noChangeArrowheads="1"/>
            </p:cNvSpPr>
            <p:nvPr/>
          </p:nvSpPr>
          <p:spPr bwMode="auto">
            <a:xfrm>
              <a:off x="1577" y="1656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VPN</a:t>
              </a:r>
            </a:p>
          </p:txBody>
        </p:sp>
      </p:grpSp>
      <p:sp>
        <p:nvSpPr>
          <p:cNvPr id="37942" name="Line 54"/>
          <p:cNvSpPr>
            <a:spLocks noChangeShapeType="1"/>
          </p:cNvSpPr>
          <p:nvPr/>
        </p:nvSpPr>
        <p:spPr bwMode="auto">
          <a:xfrm>
            <a:off x="3759200" y="2015040"/>
            <a:ext cx="992187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3" name="Text Box 55"/>
          <p:cNvSpPr txBox="1">
            <a:spLocks noChangeArrowheads="1"/>
          </p:cNvSpPr>
          <p:nvPr/>
        </p:nvSpPr>
        <p:spPr bwMode="auto">
          <a:xfrm>
            <a:off x="3983037" y="1891215"/>
            <a:ext cx="539750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TLBI</a:t>
            </a:r>
          </a:p>
        </p:txBody>
      </p:sp>
      <p:sp>
        <p:nvSpPr>
          <p:cNvPr id="37945" name="Line 57"/>
          <p:cNvSpPr>
            <a:spLocks noChangeShapeType="1"/>
          </p:cNvSpPr>
          <p:nvPr/>
        </p:nvSpPr>
        <p:spPr bwMode="auto">
          <a:xfrm>
            <a:off x="838200" y="2011336"/>
            <a:ext cx="2927350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6" name="Text Box 58"/>
          <p:cNvSpPr txBox="1">
            <a:spLocks noChangeArrowheads="1"/>
          </p:cNvSpPr>
          <p:nvPr/>
        </p:nvSpPr>
        <p:spPr bwMode="auto">
          <a:xfrm>
            <a:off x="2081213" y="1887511"/>
            <a:ext cx="582613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TLBT</a:t>
            </a:r>
          </a:p>
        </p:txBody>
      </p:sp>
      <p:sp>
        <p:nvSpPr>
          <p:cNvPr id="37950" name="Rectangle 62"/>
          <p:cNvSpPr>
            <a:spLocks noChangeArrowheads="1"/>
          </p:cNvSpPr>
          <p:nvPr/>
        </p:nvSpPr>
        <p:spPr bwMode="auto">
          <a:xfrm>
            <a:off x="91440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1" name="Rectangle 63"/>
          <p:cNvSpPr>
            <a:spLocks noChangeArrowheads="1"/>
          </p:cNvSpPr>
          <p:nvPr/>
        </p:nvSpPr>
        <p:spPr bwMode="auto">
          <a:xfrm>
            <a:off x="91440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53" name="Rectangle 65"/>
          <p:cNvSpPr>
            <a:spLocks noChangeArrowheads="1"/>
          </p:cNvSpPr>
          <p:nvPr/>
        </p:nvSpPr>
        <p:spPr bwMode="auto">
          <a:xfrm>
            <a:off x="1401763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4" name="Rectangle 66"/>
          <p:cNvSpPr>
            <a:spLocks noChangeArrowheads="1"/>
          </p:cNvSpPr>
          <p:nvPr/>
        </p:nvSpPr>
        <p:spPr bwMode="auto">
          <a:xfrm>
            <a:off x="1401763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56" name="Rectangle 68"/>
          <p:cNvSpPr>
            <a:spLocks noChangeArrowheads="1"/>
          </p:cNvSpPr>
          <p:nvPr/>
        </p:nvSpPr>
        <p:spPr bwMode="auto">
          <a:xfrm>
            <a:off x="1889125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7" name="Rectangle 69"/>
          <p:cNvSpPr>
            <a:spLocks noChangeArrowheads="1"/>
          </p:cNvSpPr>
          <p:nvPr/>
        </p:nvSpPr>
        <p:spPr bwMode="auto">
          <a:xfrm>
            <a:off x="188912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59" name="Rectangle 71"/>
          <p:cNvSpPr>
            <a:spLocks noChangeArrowheads="1"/>
          </p:cNvSpPr>
          <p:nvPr/>
        </p:nvSpPr>
        <p:spPr bwMode="auto">
          <a:xfrm>
            <a:off x="2376488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0" name="Rectangle 72"/>
          <p:cNvSpPr>
            <a:spLocks noChangeArrowheads="1"/>
          </p:cNvSpPr>
          <p:nvPr/>
        </p:nvSpPr>
        <p:spPr bwMode="auto">
          <a:xfrm>
            <a:off x="2376488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62" name="Rectangle 74"/>
          <p:cNvSpPr>
            <a:spLocks noChangeArrowheads="1"/>
          </p:cNvSpPr>
          <p:nvPr/>
        </p:nvSpPr>
        <p:spPr bwMode="auto">
          <a:xfrm>
            <a:off x="286385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3" name="Rectangle 75"/>
          <p:cNvSpPr>
            <a:spLocks noChangeArrowheads="1"/>
          </p:cNvSpPr>
          <p:nvPr/>
        </p:nvSpPr>
        <p:spPr bwMode="auto">
          <a:xfrm>
            <a:off x="28638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65" name="Rectangle 77"/>
          <p:cNvSpPr>
            <a:spLocks noChangeArrowheads="1"/>
          </p:cNvSpPr>
          <p:nvPr/>
        </p:nvSpPr>
        <p:spPr bwMode="auto">
          <a:xfrm>
            <a:off x="3351213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6" name="Rectangle 78"/>
          <p:cNvSpPr>
            <a:spLocks noChangeArrowheads="1"/>
          </p:cNvSpPr>
          <p:nvPr/>
        </p:nvSpPr>
        <p:spPr bwMode="auto">
          <a:xfrm>
            <a:off x="3351213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68" name="Rectangle 80"/>
          <p:cNvSpPr>
            <a:spLocks noChangeArrowheads="1"/>
          </p:cNvSpPr>
          <p:nvPr/>
        </p:nvSpPr>
        <p:spPr bwMode="auto">
          <a:xfrm>
            <a:off x="383857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9" name="Rectangle 81"/>
          <p:cNvSpPr>
            <a:spLocks noChangeArrowheads="1"/>
          </p:cNvSpPr>
          <p:nvPr/>
        </p:nvSpPr>
        <p:spPr bwMode="auto">
          <a:xfrm>
            <a:off x="38385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71" name="Rectangle 83"/>
          <p:cNvSpPr>
            <a:spLocks noChangeArrowheads="1"/>
          </p:cNvSpPr>
          <p:nvPr/>
        </p:nvSpPr>
        <p:spPr bwMode="auto">
          <a:xfrm>
            <a:off x="4325938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2" name="Rectangle 84"/>
          <p:cNvSpPr>
            <a:spLocks noChangeArrowheads="1"/>
          </p:cNvSpPr>
          <p:nvPr/>
        </p:nvSpPr>
        <p:spPr bwMode="auto">
          <a:xfrm>
            <a:off x="4325938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74" name="Rectangle 86"/>
          <p:cNvSpPr>
            <a:spLocks noChangeArrowheads="1"/>
          </p:cNvSpPr>
          <p:nvPr/>
        </p:nvSpPr>
        <p:spPr bwMode="auto">
          <a:xfrm>
            <a:off x="4813300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5" name="Rectangle 87"/>
          <p:cNvSpPr>
            <a:spLocks noChangeArrowheads="1"/>
          </p:cNvSpPr>
          <p:nvPr/>
        </p:nvSpPr>
        <p:spPr bwMode="auto">
          <a:xfrm>
            <a:off x="481330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77" name="Rectangle 89"/>
          <p:cNvSpPr>
            <a:spLocks noChangeArrowheads="1"/>
          </p:cNvSpPr>
          <p:nvPr/>
        </p:nvSpPr>
        <p:spPr bwMode="auto">
          <a:xfrm>
            <a:off x="5300663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8" name="Rectangle 90"/>
          <p:cNvSpPr>
            <a:spLocks noChangeArrowheads="1"/>
          </p:cNvSpPr>
          <p:nvPr/>
        </p:nvSpPr>
        <p:spPr bwMode="auto">
          <a:xfrm>
            <a:off x="5300663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80" name="Rectangle 92"/>
          <p:cNvSpPr>
            <a:spLocks noChangeArrowheads="1"/>
          </p:cNvSpPr>
          <p:nvPr/>
        </p:nvSpPr>
        <p:spPr bwMode="auto">
          <a:xfrm>
            <a:off x="578802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1" name="Rectangle 93"/>
          <p:cNvSpPr>
            <a:spLocks noChangeArrowheads="1"/>
          </p:cNvSpPr>
          <p:nvPr/>
        </p:nvSpPr>
        <p:spPr bwMode="auto">
          <a:xfrm>
            <a:off x="578802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83" name="Rectangle 95"/>
          <p:cNvSpPr>
            <a:spLocks noChangeArrowheads="1"/>
          </p:cNvSpPr>
          <p:nvPr/>
        </p:nvSpPr>
        <p:spPr bwMode="auto">
          <a:xfrm>
            <a:off x="6275388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4" name="Rectangle 96"/>
          <p:cNvSpPr>
            <a:spLocks noChangeArrowheads="1"/>
          </p:cNvSpPr>
          <p:nvPr/>
        </p:nvSpPr>
        <p:spPr bwMode="auto">
          <a:xfrm>
            <a:off x="6275388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4" name="Group 97"/>
          <p:cNvGrpSpPr>
            <a:grpSpLocks/>
          </p:cNvGrpSpPr>
          <p:nvPr/>
        </p:nvGrpSpPr>
        <p:grpSpPr bwMode="auto">
          <a:xfrm>
            <a:off x="3847571" y="5564717"/>
            <a:ext cx="2924175" cy="333375"/>
            <a:chOff x="3101" y="3292"/>
            <a:chExt cx="1842" cy="210"/>
          </a:xfrm>
        </p:grpSpPr>
        <p:sp>
          <p:nvSpPr>
            <p:cNvPr id="37986" name="Line 98"/>
            <p:cNvSpPr>
              <a:spLocks noChangeShapeType="1"/>
            </p:cNvSpPr>
            <p:nvPr/>
          </p:nvSpPr>
          <p:spPr bwMode="auto">
            <a:xfrm>
              <a:off x="3101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87" name="Text Box 99"/>
            <p:cNvSpPr txBox="1">
              <a:spLocks noChangeArrowheads="1"/>
            </p:cNvSpPr>
            <p:nvPr/>
          </p:nvSpPr>
          <p:spPr bwMode="auto">
            <a:xfrm>
              <a:off x="3808" y="3292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5" name="Group 100"/>
          <p:cNvGrpSpPr>
            <a:grpSpLocks/>
          </p:cNvGrpSpPr>
          <p:nvPr/>
        </p:nvGrpSpPr>
        <p:grpSpPr bwMode="auto">
          <a:xfrm>
            <a:off x="935037" y="5556250"/>
            <a:ext cx="2924175" cy="333375"/>
            <a:chOff x="1277" y="3292"/>
            <a:chExt cx="1842" cy="210"/>
          </a:xfrm>
        </p:grpSpPr>
        <p:sp>
          <p:nvSpPr>
            <p:cNvPr id="37989" name="Line 101"/>
            <p:cNvSpPr>
              <a:spLocks noChangeShapeType="1"/>
            </p:cNvSpPr>
            <p:nvPr/>
          </p:nvSpPr>
          <p:spPr bwMode="auto">
            <a:xfrm>
              <a:off x="1277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0" name="Text Box 102"/>
            <p:cNvSpPr txBox="1">
              <a:spLocks noChangeArrowheads="1"/>
            </p:cNvSpPr>
            <p:nvPr/>
          </p:nvSpPr>
          <p:spPr bwMode="auto">
            <a:xfrm>
              <a:off x="1984" y="3292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6" name="Group 103"/>
          <p:cNvGrpSpPr>
            <a:grpSpLocks/>
          </p:cNvGrpSpPr>
          <p:nvPr/>
        </p:nvGrpSpPr>
        <p:grpSpPr bwMode="auto">
          <a:xfrm>
            <a:off x="5767917" y="4516438"/>
            <a:ext cx="992188" cy="306388"/>
            <a:chOff x="4300" y="2637"/>
            <a:chExt cx="625" cy="193"/>
          </a:xfrm>
        </p:grpSpPr>
        <p:sp>
          <p:nvSpPr>
            <p:cNvPr id="37992" name="Line 104"/>
            <p:cNvSpPr>
              <a:spLocks noChangeShapeType="1"/>
            </p:cNvSpPr>
            <p:nvPr/>
          </p:nvSpPr>
          <p:spPr bwMode="auto">
            <a:xfrm>
              <a:off x="4300" y="2715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3" name="Text Box 105"/>
            <p:cNvSpPr txBox="1">
              <a:spLocks noChangeArrowheads="1"/>
            </p:cNvSpPr>
            <p:nvPr/>
          </p:nvSpPr>
          <p:spPr bwMode="auto">
            <a:xfrm>
              <a:off x="4486" y="2637"/>
              <a:ext cx="271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CO</a:t>
              </a:r>
            </a:p>
          </p:txBody>
        </p:sp>
      </p:grpSp>
      <p:grpSp>
        <p:nvGrpSpPr>
          <p:cNvPr id="7" name="Group 106"/>
          <p:cNvGrpSpPr>
            <a:grpSpLocks/>
          </p:cNvGrpSpPr>
          <p:nvPr/>
        </p:nvGrpSpPr>
        <p:grpSpPr bwMode="auto">
          <a:xfrm>
            <a:off x="3830108" y="4512734"/>
            <a:ext cx="1927225" cy="306388"/>
            <a:chOff x="3090" y="2624"/>
            <a:chExt cx="1214" cy="193"/>
          </a:xfrm>
        </p:grpSpPr>
        <p:sp>
          <p:nvSpPr>
            <p:cNvPr id="37995" name="Line 107"/>
            <p:cNvSpPr>
              <a:spLocks noChangeShapeType="1"/>
            </p:cNvSpPr>
            <p:nvPr/>
          </p:nvSpPr>
          <p:spPr bwMode="auto">
            <a:xfrm>
              <a:off x="3090" y="2702"/>
              <a:ext cx="1214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6" name="Text Box 108"/>
            <p:cNvSpPr txBox="1">
              <a:spLocks noChangeArrowheads="1"/>
            </p:cNvSpPr>
            <p:nvPr/>
          </p:nvSpPr>
          <p:spPr bwMode="auto">
            <a:xfrm>
              <a:off x="3629" y="2624"/>
              <a:ext cx="21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CI</a:t>
              </a:r>
            </a:p>
          </p:txBody>
        </p:sp>
      </p:grpSp>
      <p:grpSp>
        <p:nvGrpSpPr>
          <p:cNvPr id="8" name="Group 109"/>
          <p:cNvGrpSpPr>
            <a:grpSpLocks/>
          </p:cNvGrpSpPr>
          <p:nvPr/>
        </p:nvGrpSpPr>
        <p:grpSpPr bwMode="auto">
          <a:xfrm>
            <a:off x="914400" y="4516438"/>
            <a:ext cx="2894013" cy="306388"/>
            <a:chOff x="1248" y="2637"/>
            <a:chExt cx="1823" cy="193"/>
          </a:xfrm>
        </p:grpSpPr>
        <p:sp>
          <p:nvSpPr>
            <p:cNvPr id="37998" name="Line 110"/>
            <p:cNvSpPr>
              <a:spLocks noChangeShapeType="1"/>
            </p:cNvSpPr>
            <p:nvPr/>
          </p:nvSpPr>
          <p:spPr bwMode="auto">
            <a:xfrm>
              <a:off x="1248" y="2715"/>
              <a:ext cx="182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9" name="Text Box 111"/>
            <p:cNvSpPr txBox="1">
              <a:spLocks noChangeArrowheads="1"/>
            </p:cNvSpPr>
            <p:nvPr/>
          </p:nvSpPr>
          <p:spPr bwMode="auto">
            <a:xfrm>
              <a:off x="2098" y="2637"/>
              <a:ext cx="24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CT</a:t>
              </a:r>
            </a:p>
          </p:txBody>
        </p:sp>
      </p:grpSp>
      <p:sp>
        <p:nvSpPr>
          <p:cNvPr id="38001" name="Text Box 113"/>
          <p:cNvSpPr txBox="1">
            <a:spLocks noChangeArrowheads="1"/>
          </p:cNvSpPr>
          <p:nvPr/>
        </p:nvSpPr>
        <p:spPr bwMode="auto">
          <a:xfrm>
            <a:off x="730726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2" name="Text Box 114"/>
          <p:cNvSpPr txBox="1">
            <a:spLocks noChangeArrowheads="1"/>
          </p:cNvSpPr>
          <p:nvPr/>
        </p:nvSpPr>
        <p:spPr bwMode="auto">
          <a:xfrm>
            <a:off x="6819900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3" name="Text Box 115"/>
          <p:cNvSpPr txBox="1">
            <a:spLocks noChangeArrowheads="1"/>
          </p:cNvSpPr>
          <p:nvPr/>
        </p:nvSpPr>
        <p:spPr bwMode="auto">
          <a:xfrm>
            <a:off x="6334125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4" name="Text Box 116"/>
          <p:cNvSpPr txBox="1">
            <a:spLocks noChangeArrowheads="1"/>
          </p:cNvSpPr>
          <p:nvPr/>
        </p:nvSpPr>
        <p:spPr bwMode="auto">
          <a:xfrm>
            <a:off x="5846762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5" name="Text Box 117"/>
          <p:cNvSpPr txBox="1">
            <a:spLocks noChangeArrowheads="1"/>
          </p:cNvSpPr>
          <p:nvPr/>
        </p:nvSpPr>
        <p:spPr bwMode="auto">
          <a:xfrm>
            <a:off x="5360987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6" name="Text Box 118"/>
          <p:cNvSpPr txBox="1">
            <a:spLocks noChangeArrowheads="1"/>
          </p:cNvSpPr>
          <p:nvPr/>
        </p:nvSpPr>
        <p:spPr bwMode="auto">
          <a:xfrm>
            <a:off x="4873625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1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7" name="Text Box 119"/>
          <p:cNvSpPr txBox="1">
            <a:spLocks noChangeArrowheads="1"/>
          </p:cNvSpPr>
          <p:nvPr/>
        </p:nvSpPr>
        <p:spPr bwMode="auto">
          <a:xfrm>
            <a:off x="4387850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8" name="Text Box 120"/>
          <p:cNvSpPr txBox="1">
            <a:spLocks noChangeArrowheads="1"/>
          </p:cNvSpPr>
          <p:nvPr/>
        </p:nvSpPr>
        <p:spPr bwMode="auto">
          <a:xfrm>
            <a:off x="3900487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9" name="Text Box 121"/>
          <p:cNvSpPr txBox="1">
            <a:spLocks noChangeArrowheads="1"/>
          </p:cNvSpPr>
          <p:nvPr/>
        </p:nvSpPr>
        <p:spPr bwMode="auto">
          <a:xfrm>
            <a:off x="3414712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0" name="Text Box 122"/>
          <p:cNvSpPr txBox="1">
            <a:spLocks noChangeArrowheads="1"/>
          </p:cNvSpPr>
          <p:nvPr/>
        </p:nvSpPr>
        <p:spPr bwMode="auto">
          <a:xfrm>
            <a:off x="2927350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1" name="Text Box 123"/>
          <p:cNvSpPr txBox="1">
            <a:spLocks noChangeArrowheads="1"/>
          </p:cNvSpPr>
          <p:nvPr/>
        </p:nvSpPr>
        <p:spPr bwMode="auto">
          <a:xfrm>
            <a:off x="2441575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2" name="Text Box 124"/>
          <p:cNvSpPr txBox="1">
            <a:spLocks noChangeArrowheads="1"/>
          </p:cNvSpPr>
          <p:nvPr/>
        </p:nvSpPr>
        <p:spPr bwMode="auto">
          <a:xfrm>
            <a:off x="195421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3" name="Text Box 125"/>
          <p:cNvSpPr txBox="1">
            <a:spLocks noChangeArrowheads="1"/>
          </p:cNvSpPr>
          <p:nvPr/>
        </p:nvSpPr>
        <p:spPr bwMode="auto">
          <a:xfrm>
            <a:off x="146843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4" name="Text Box 126"/>
          <p:cNvSpPr txBox="1">
            <a:spLocks noChangeArrowheads="1"/>
          </p:cNvSpPr>
          <p:nvPr/>
        </p:nvSpPr>
        <p:spPr bwMode="auto">
          <a:xfrm>
            <a:off x="98266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6" name="Text Box 128"/>
          <p:cNvSpPr txBox="1">
            <a:spLocks noChangeArrowheads="1"/>
          </p:cNvSpPr>
          <p:nvPr/>
        </p:nvSpPr>
        <p:spPr bwMode="auto">
          <a:xfrm>
            <a:off x="1143000" y="3437965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0x00</a:t>
            </a:r>
          </a:p>
        </p:txBody>
      </p:sp>
      <p:sp>
        <p:nvSpPr>
          <p:cNvPr id="38017" name="Text Box 129"/>
          <p:cNvSpPr txBox="1">
            <a:spLocks noChangeArrowheads="1"/>
          </p:cNvSpPr>
          <p:nvPr/>
        </p:nvSpPr>
        <p:spPr bwMode="auto">
          <a:xfrm>
            <a:off x="2588682" y="3437965"/>
            <a:ext cx="196529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8" name="Text Box 130"/>
          <p:cNvSpPr txBox="1">
            <a:spLocks noChangeArrowheads="1"/>
          </p:cNvSpPr>
          <p:nvPr/>
        </p:nvSpPr>
        <p:spPr bwMode="auto">
          <a:xfrm>
            <a:off x="3454401" y="3437965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0x00</a:t>
            </a:r>
          </a:p>
        </p:txBody>
      </p:sp>
      <p:sp>
        <p:nvSpPr>
          <p:cNvPr id="38019" name="Text Box 131"/>
          <p:cNvSpPr txBox="1">
            <a:spLocks noChangeArrowheads="1"/>
          </p:cNvSpPr>
          <p:nvPr/>
        </p:nvSpPr>
        <p:spPr bwMode="auto">
          <a:xfrm>
            <a:off x="5142732" y="3437939"/>
            <a:ext cx="22698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8021" name="Text Box 133"/>
          <p:cNvSpPr txBox="1">
            <a:spLocks noChangeArrowheads="1"/>
          </p:cNvSpPr>
          <p:nvPr/>
        </p:nvSpPr>
        <p:spPr bwMode="auto">
          <a:xfrm>
            <a:off x="6781800" y="3437965"/>
            <a:ext cx="227012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22" name="Text Box 134"/>
          <p:cNvSpPr txBox="1">
            <a:spLocks noChangeArrowheads="1"/>
          </p:cNvSpPr>
          <p:nvPr/>
        </p:nvSpPr>
        <p:spPr bwMode="auto">
          <a:xfrm>
            <a:off x="7746470" y="3437965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FFC000"/>
                </a:solidFill>
                <a:latin typeface="Calibri" pitchFamily="34" charset="0"/>
              </a:rPr>
              <a:t>0x28</a:t>
            </a:r>
          </a:p>
        </p:txBody>
      </p:sp>
      <p:grpSp>
        <p:nvGrpSpPr>
          <p:cNvPr id="9" name="Group 135"/>
          <p:cNvGrpSpPr>
            <a:grpSpLocks/>
          </p:cNvGrpSpPr>
          <p:nvPr/>
        </p:nvGrpSpPr>
        <p:grpSpPr bwMode="auto">
          <a:xfrm>
            <a:off x="1058333" y="5173133"/>
            <a:ext cx="5576888" cy="339725"/>
            <a:chOff x="1344" y="3030"/>
            <a:chExt cx="3513" cy="214"/>
          </a:xfrm>
        </p:grpSpPr>
        <p:sp>
          <p:nvSpPr>
            <p:cNvPr id="38024" name="Text Box 136"/>
            <p:cNvSpPr txBox="1">
              <a:spLocks noChangeArrowheads="1"/>
            </p:cNvSpPr>
            <p:nvPr/>
          </p:nvSpPr>
          <p:spPr bwMode="auto">
            <a:xfrm>
              <a:off x="4725" y="3031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5" name="Text Box 137"/>
            <p:cNvSpPr txBox="1">
              <a:spLocks noChangeArrowheads="1"/>
            </p:cNvSpPr>
            <p:nvPr/>
          </p:nvSpPr>
          <p:spPr bwMode="auto">
            <a:xfrm>
              <a:off x="441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6" name="Text Box 138"/>
            <p:cNvSpPr txBox="1">
              <a:spLocks noChangeArrowheads="1"/>
            </p:cNvSpPr>
            <p:nvPr/>
          </p:nvSpPr>
          <p:spPr bwMode="auto">
            <a:xfrm>
              <a:off x="3802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7" name="Text Box 139"/>
            <p:cNvSpPr txBox="1">
              <a:spLocks noChangeArrowheads="1"/>
            </p:cNvSpPr>
            <p:nvPr/>
          </p:nvSpPr>
          <p:spPr bwMode="auto">
            <a:xfrm>
              <a:off x="288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28" name="Text Box 140"/>
            <p:cNvSpPr txBox="1">
              <a:spLocks noChangeArrowheads="1"/>
            </p:cNvSpPr>
            <p:nvPr/>
          </p:nvSpPr>
          <p:spPr bwMode="auto">
            <a:xfrm>
              <a:off x="2573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29" name="Text Box 141"/>
            <p:cNvSpPr txBox="1">
              <a:spLocks noChangeArrowheads="1"/>
            </p:cNvSpPr>
            <p:nvPr/>
          </p:nvSpPr>
          <p:spPr bwMode="auto">
            <a:xfrm>
              <a:off x="226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0" name="Text Box 142"/>
            <p:cNvSpPr txBox="1">
              <a:spLocks noChangeArrowheads="1"/>
            </p:cNvSpPr>
            <p:nvPr/>
          </p:nvSpPr>
          <p:spPr bwMode="auto">
            <a:xfrm>
              <a:off x="1651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38031" name="Text Box 143"/>
            <p:cNvSpPr txBox="1">
              <a:spLocks noChangeArrowheads="1"/>
            </p:cNvSpPr>
            <p:nvPr/>
          </p:nvSpPr>
          <p:spPr bwMode="auto">
            <a:xfrm>
              <a:off x="4110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2" name="Text Box 144"/>
            <p:cNvSpPr txBox="1">
              <a:spLocks noChangeArrowheads="1"/>
            </p:cNvSpPr>
            <p:nvPr/>
          </p:nvSpPr>
          <p:spPr bwMode="auto">
            <a:xfrm>
              <a:off x="3495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3" name="Text Box 145"/>
            <p:cNvSpPr txBox="1">
              <a:spLocks noChangeArrowheads="1"/>
            </p:cNvSpPr>
            <p:nvPr/>
          </p:nvSpPr>
          <p:spPr bwMode="auto">
            <a:xfrm>
              <a:off x="3188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38034" name="Text Box 146"/>
            <p:cNvSpPr txBox="1">
              <a:spLocks noChangeArrowheads="1"/>
            </p:cNvSpPr>
            <p:nvPr/>
          </p:nvSpPr>
          <p:spPr bwMode="auto">
            <a:xfrm>
              <a:off x="1957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8035" name="Text Box 147"/>
            <p:cNvSpPr txBox="1">
              <a:spLocks noChangeArrowheads="1"/>
            </p:cNvSpPr>
            <p:nvPr/>
          </p:nvSpPr>
          <p:spPr bwMode="auto">
            <a:xfrm>
              <a:off x="1344" y="3030"/>
              <a:ext cx="132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endParaRPr lang="en-GB" sz="1800" b="1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</p:grpSp>
      <p:sp>
        <p:nvSpPr>
          <p:cNvPr id="38037" name="Text Box 149"/>
          <p:cNvSpPr txBox="1">
            <a:spLocks noChangeArrowheads="1"/>
          </p:cNvSpPr>
          <p:nvPr/>
        </p:nvSpPr>
        <p:spPr bwMode="auto">
          <a:xfrm>
            <a:off x="1352551" y="5992801"/>
            <a:ext cx="196850" cy="311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38" name="Text Box 150"/>
          <p:cNvSpPr txBox="1">
            <a:spLocks noChangeArrowheads="1"/>
          </p:cNvSpPr>
          <p:nvPr/>
        </p:nvSpPr>
        <p:spPr bwMode="auto">
          <a:xfrm>
            <a:off x="2271712" y="5992801"/>
            <a:ext cx="395301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0x8</a:t>
            </a:r>
          </a:p>
        </p:txBody>
      </p:sp>
      <p:sp>
        <p:nvSpPr>
          <p:cNvPr id="38039" name="Text Box 151"/>
          <p:cNvSpPr txBox="1">
            <a:spLocks noChangeArrowheads="1"/>
          </p:cNvSpPr>
          <p:nvPr/>
        </p:nvSpPr>
        <p:spPr bwMode="auto">
          <a:xfrm>
            <a:off x="3259139" y="5992801"/>
            <a:ext cx="49949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0x28</a:t>
            </a:r>
          </a:p>
        </p:txBody>
      </p:sp>
      <p:sp>
        <p:nvSpPr>
          <p:cNvPr id="38041" name="Text Box 153"/>
          <p:cNvSpPr txBox="1">
            <a:spLocks noChangeArrowheads="1"/>
          </p:cNvSpPr>
          <p:nvPr/>
        </p:nvSpPr>
        <p:spPr bwMode="auto">
          <a:xfrm>
            <a:off x="4580467" y="5992801"/>
            <a:ext cx="22698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8042" name="Text Box 154"/>
          <p:cNvSpPr txBox="1">
            <a:spLocks noChangeArrowheads="1"/>
          </p:cNvSpPr>
          <p:nvPr/>
        </p:nvSpPr>
        <p:spPr bwMode="auto">
          <a:xfrm>
            <a:off x="5850466" y="5992801"/>
            <a:ext cx="54117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solidFill>
                  <a:srgbClr val="0070C0"/>
                </a:solidFill>
                <a:latin typeface="Calibri" pitchFamily="34" charset="0"/>
              </a:rPr>
              <a:t>Mem</a:t>
            </a:r>
            <a:endParaRPr lang="en-GB" sz="16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956440" y="4196749"/>
            <a:ext cx="2135188" cy="2454111"/>
            <a:chOff x="-2376488" y="2585718"/>
            <a:chExt cx="2085974" cy="2788920"/>
          </a:xfrm>
        </p:grpSpPr>
        <p:sp>
          <p:nvSpPr>
            <p:cNvPr id="119" name="Rectangle 7"/>
            <p:cNvSpPr>
              <a:spLocks noChangeArrowheads="1"/>
            </p:cNvSpPr>
            <p:nvPr/>
          </p:nvSpPr>
          <p:spPr bwMode="auto">
            <a:xfrm>
              <a:off x="-990600" y="5050789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20" name="Rectangle 8"/>
            <p:cNvSpPr>
              <a:spLocks noChangeArrowheads="1"/>
            </p:cNvSpPr>
            <p:nvPr/>
          </p:nvSpPr>
          <p:spPr bwMode="auto">
            <a:xfrm>
              <a:off x="-1682750" y="5050789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21" name="Rectangle 9"/>
            <p:cNvSpPr>
              <a:spLocks noChangeArrowheads="1"/>
            </p:cNvSpPr>
            <p:nvPr/>
          </p:nvSpPr>
          <p:spPr bwMode="auto">
            <a:xfrm>
              <a:off x="-2376488" y="5050789"/>
              <a:ext cx="693738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990000"/>
                  </a:solidFill>
                  <a:latin typeface="Calibri" pitchFamily="34" charset="0"/>
                </a:rPr>
                <a:t>07</a:t>
              </a:r>
            </a:p>
          </p:txBody>
        </p:sp>
        <p:sp>
          <p:nvSpPr>
            <p:cNvPr id="122" name="Rectangle 13"/>
            <p:cNvSpPr>
              <a:spLocks noChangeArrowheads="1"/>
            </p:cNvSpPr>
            <p:nvPr/>
          </p:nvSpPr>
          <p:spPr bwMode="auto">
            <a:xfrm>
              <a:off x="-990600" y="4744401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23" name="Rectangle 14"/>
            <p:cNvSpPr>
              <a:spLocks noChangeArrowheads="1"/>
            </p:cNvSpPr>
            <p:nvPr/>
          </p:nvSpPr>
          <p:spPr bwMode="auto">
            <a:xfrm>
              <a:off x="-1682750" y="4744401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24" name="Rectangle 15"/>
            <p:cNvSpPr>
              <a:spLocks noChangeArrowheads="1"/>
            </p:cNvSpPr>
            <p:nvPr/>
          </p:nvSpPr>
          <p:spPr bwMode="auto">
            <a:xfrm>
              <a:off x="-2376488" y="4744401"/>
              <a:ext cx="693738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990000"/>
                  </a:solidFill>
                  <a:latin typeface="Calibri" pitchFamily="34" charset="0"/>
                </a:rPr>
                <a:t>06</a:t>
              </a:r>
            </a:p>
          </p:txBody>
        </p:sp>
        <p:sp>
          <p:nvSpPr>
            <p:cNvPr id="125" name="Rectangle 19"/>
            <p:cNvSpPr>
              <a:spLocks noChangeArrowheads="1"/>
            </p:cNvSpPr>
            <p:nvPr/>
          </p:nvSpPr>
          <p:spPr bwMode="auto">
            <a:xfrm>
              <a:off x="-990600" y="4438014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26" name="Rectangle 20"/>
            <p:cNvSpPr>
              <a:spLocks noChangeArrowheads="1"/>
            </p:cNvSpPr>
            <p:nvPr/>
          </p:nvSpPr>
          <p:spPr bwMode="auto">
            <a:xfrm>
              <a:off x="-1682750" y="4438014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16</a:t>
              </a:r>
            </a:p>
          </p:txBody>
        </p:sp>
        <p:sp>
          <p:nvSpPr>
            <p:cNvPr id="127" name="Rectangle 21"/>
            <p:cNvSpPr>
              <a:spLocks noChangeArrowheads="1"/>
            </p:cNvSpPr>
            <p:nvPr/>
          </p:nvSpPr>
          <p:spPr bwMode="auto">
            <a:xfrm>
              <a:off x="-2376488" y="4438014"/>
              <a:ext cx="693738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990000"/>
                  </a:solidFill>
                  <a:latin typeface="Calibri" pitchFamily="34" charset="0"/>
                </a:rPr>
                <a:t>05</a:t>
              </a:r>
            </a:p>
          </p:txBody>
        </p:sp>
        <p:sp>
          <p:nvSpPr>
            <p:cNvPr id="128" name="Rectangle 25"/>
            <p:cNvSpPr>
              <a:spLocks noChangeArrowheads="1"/>
            </p:cNvSpPr>
            <p:nvPr/>
          </p:nvSpPr>
          <p:spPr bwMode="auto">
            <a:xfrm>
              <a:off x="-990600" y="4130039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29" name="Rectangle 26"/>
            <p:cNvSpPr>
              <a:spLocks noChangeArrowheads="1"/>
            </p:cNvSpPr>
            <p:nvPr/>
          </p:nvSpPr>
          <p:spPr bwMode="auto">
            <a:xfrm>
              <a:off x="-1682750" y="4130039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30" name="Rectangle 27"/>
            <p:cNvSpPr>
              <a:spLocks noChangeArrowheads="1"/>
            </p:cNvSpPr>
            <p:nvPr/>
          </p:nvSpPr>
          <p:spPr bwMode="auto">
            <a:xfrm>
              <a:off x="-2376488" y="4130039"/>
              <a:ext cx="693738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990000"/>
                  </a:solidFill>
                  <a:latin typeface="Calibri" pitchFamily="34" charset="0"/>
                </a:rPr>
                <a:t>04</a:t>
              </a:r>
            </a:p>
          </p:txBody>
        </p:sp>
        <p:sp>
          <p:nvSpPr>
            <p:cNvPr id="131" name="Rectangle 31"/>
            <p:cNvSpPr>
              <a:spLocks noChangeArrowheads="1"/>
            </p:cNvSpPr>
            <p:nvPr/>
          </p:nvSpPr>
          <p:spPr bwMode="auto">
            <a:xfrm>
              <a:off x="-990600" y="3822064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32" name="Rectangle 32"/>
            <p:cNvSpPr>
              <a:spLocks noChangeArrowheads="1"/>
            </p:cNvSpPr>
            <p:nvPr/>
          </p:nvSpPr>
          <p:spPr bwMode="auto">
            <a:xfrm>
              <a:off x="-1682750" y="3822064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133" name="Rectangle 33"/>
            <p:cNvSpPr>
              <a:spLocks noChangeArrowheads="1"/>
            </p:cNvSpPr>
            <p:nvPr/>
          </p:nvSpPr>
          <p:spPr bwMode="auto">
            <a:xfrm>
              <a:off x="-2376488" y="3822064"/>
              <a:ext cx="693738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990000"/>
                  </a:solidFill>
                  <a:latin typeface="Calibri" pitchFamily="34" charset="0"/>
                </a:rPr>
                <a:t>03</a:t>
              </a:r>
            </a:p>
          </p:txBody>
        </p:sp>
        <p:sp>
          <p:nvSpPr>
            <p:cNvPr id="134" name="Rectangle 37"/>
            <p:cNvSpPr>
              <a:spLocks noChangeArrowheads="1"/>
            </p:cNvSpPr>
            <p:nvPr/>
          </p:nvSpPr>
          <p:spPr bwMode="auto">
            <a:xfrm>
              <a:off x="-990600" y="3515676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35" name="Rectangle 38"/>
            <p:cNvSpPr>
              <a:spLocks noChangeArrowheads="1"/>
            </p:cNvSpPr>
            <p:nvPr/>
          </p:nvSpPr>
          <p:spPr bwMode="auto">
            <a:xfrm>
              <a:off x="-1682750" y="3515676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33</a:t>
              </a:r>
            </a:p>
          </p:txBody>
        </p:sp>
        <p:sp>
          <p:nvSpPr>
            <p:cNvPr id="136" name="Rectangle 39"/>
            <p:cNvSpPr>
              <a:spLocks noChangeArrowheads="1"/>
            </p:cNvSpPr>
            <p:nvPr/>
          </p:nvSpPr>
          <p:spPr bwMode="auto">
            <a:xfrm>
              <a:off x="-2376488" y="3515676"/>
              <a:ext cx="693738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990000"/>
                  </a:solidFill>
                  <a:latin typeface="Calibri" pitchFamily="34" charset="0"/>
                </a:rPr>
                <a:t>02</a:t>
              </a:r>
            </a:p>
          </p:txBody>
        </p:sp>
        <p:sp>
          <p:nvSpPr>
            <p:cNvPr id="137" name="Rectangle 43"/>
            <p:cNvSpPr>
              <a:spLocks noChangeArrowheads="1"/>
            </p:cNvSpPr>
            <p:nvPr/>
          </p:nvSpPr>
          <p:spPr bwMode="auto">
            <a:xfrm>
              <a:off x="-990600" y="3209289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38" name="Rectangle 44"/>
            <p:cNvSpPr>
              <a:spLocks noChangeArrowheads="1"/>
            </p:cNvSpPr>
            <p:nvPr/>
          </p:nvSpPr>
          <p:spPr bwMode="auto">
            <a:xfrm>
              <a:off x="-1682750" y="3209289"/>
              <a:ext cx="692150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39" name="Rectangle 45"/>
            <p:cNvSpPr>
              <a:spLocks noChangeArrowheads="1"/>
            </p:cNvSpPr>
            <p:nvPr/>
          </p:nvSpPr>
          <p:spPr bwMode="auto">
            <a:xfrm>
              <a:off x="-2376488" y="3209289"/>
              <a:ext cx="693738" cy="307975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990000"/>
                  </a:solidFill>
                  <a:latin typeface="Calibri" pitchFamily="34" charset="0"/>
                </a:rPr>
                <a:t>01</a:t>
              </a:r>
            </a:p>
          </p:txBody>
        </p:sp>
        <p:sp>
          <p:nvSpPr>
            <p:cNvPr id="140" name="Rectangle 49"/>
            <p:cNvSpPr>
              <a:spLocks noChangeArrowheads="1"/>
            </p:cNvSpPr>
            <p:nvPr/>
          </p:nvSpPr>
          <p:spPr bwMode="auto">
            <a:xfrm>
              <a:off x="-990600" y="2901314"/>
              <a:ext cx="692150" cy="307975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41" name="Rectangle 50"/>
            <p:cNvSpPr>
              <a:spLocks noChangeArrowheads="1"/>
            </p:cNvSpPr>
            <p:nvPr/>
          </p:nvSpPr>
          <p:spPr bwMode="auto">
            <a:xfrm>
              <a:off x="-1682750" y="2901314"/>
              <a:ext cx="692150" cy="30797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FFC000"/>
              </a:solidFill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28</a:t>
              </a:r>
            </a:p>
          </p:txBody>
        </p:sp>
        <p:sp>
          <p:nvSpPr>
            <p:cNvPr id="142" name="Rectangle 51"/>
            <p:cNvSpPr>
              <a:spLocks noChangeArrowheads="1"/>
            </p:cNvSpPr>
            <p:nvPr/>
          </p:nvSpPr>
          <p:spPr bwMode="auto">
            <a:xfrm>
              <a:off x="-2376488" y="2901314"/>
              <a:ext cx="693738" cy="307975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990000"/>
                  </a:solidFill>
                  <a:latin typeface="Calibri" pitchFamily="34" charset="0"/>
                </a:rPr>
                <a:t>00</a:t>
              </a:r>
            </a:p>
          </p:txBody>
        </p:sp>
        <p:sp>
          <p:nvSpPr>
            <p:cNvPr id="143" name="Rectangle 55"/>
            <p:cNvSpPr>
              <a:spLocks noChangeArrowheads="1"/>
            </p:cNvSpPr>
            <p:nvPr/>
          </p:nvSpPr>
          <p:spPr bwMode="auto">
            <a:xfrm>
              <a:off x="-990600" y="2594926"/>
              <a:ext cx="692150" cy="3063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144" name="Rectangle 56"/>
            <p:cNvSpPr>
              <a:spLocks noChangeArrowheads="1"/>
            </p:cNvSpPr>
            <p:nvPr/>
          </p:nvSpPr>
          <p:spPr bwMode="auto">
            <a:xfrm>
              <a:off x="-1682750" y="2594926"/>
              <a:ext cx="692150" cy="3063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</a:p>
          </p:txBody>
        </p:sp>
        <p:sp>
          <p:nvSpPr>
            <p:cNvPr id="145" name="Rectangle 57"/>
            <p:cNvSpPr>
              <a:spLocks noChangeArrowheads="1"/>
            </p:cNvSpPr>
            <p:nvPr/>
          </p:nvSpPr>
          <p:spPr bwMode="auto">
            <a:xfrm>
              <a:off x="-2376488" y="2594926"/>
              <a:ext cx="693738" cy="3063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1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i="1" dirty="0">
                  <a:solidFill>
                    <a:srgbClr val="990000"/>
                  </a:solidFill>
                  <a:latin typeface="Calibri" pitchFamily="34" charset="0"/>
                </a:rPr>
                <a:t>VPN</a:t>
              </a:r>
            </a:p>
          </p:txBody>
        </p:sp>
        <p:sp>
          <p:nvSpPr>
            <p:cNvPr id="146" name="Line 58"/>
            <p:cNvSpPr>
              <a:spLocks noChangeShapeType="1"/>
            </p:cNvSpPr>
            <p:nvPr/>
          </p:nvSpPr>
          <p:spPr bwMode="auto">
            <a:xfrm>
              <a:off x="-2376488" y="2901314"/>
              <a:ext cx="2075688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Line 59"/>
            <p:cNvSpPr>
              <a:spLocks noChangeShapeType="1"/>
            </p:cNvSpPr>
            <p:nvPr/>
          </p:nvSpPr>
          <p:spPr bwMode="auto">
            <a:xfrm>
              <a:off x="-2376488" y="3209289"/>
              <a:ext cx="2075688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Line 60"/>
            <p:cNvSpPr>
              <a:spLocks noChangeShapeType="1"/>
            </p:cNvSpPr>
            <p:nvPr/>
          </p:nvSpPr>
          <p:spPr bwMode="auto">
            <a:xfrm>
              <a:off x="-2376488" y="3518849"/>
              <a:ext cx="2075688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Line 61"/>
            <p:cNvSpPr>
              <a:spLocks noChangeShapeType="1"/>
            </p:cNvSpPr>
            <p:nvPr/>
          </p:nvSpPr>
          <p:spPr bwMode="auto">
            <a:xfrm>
              <a:off x="-2376488" y="3822064"/>
              <a:ext cx="2075688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Line 62"/>
            <p:cNvSpPr>
              <a:spLocks noChangeShapeType="1"/>
            </p:cNvSpPr>
            <p:nvPr/>
          </p:nvSpPr>
          <p:spPr bwMode="auto">
            <a:xfrm>
              <a:off x="-2376488" y="4130039"/>
              <a:ext cx="2075688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Line 63"/>
            <p:cNvSpPr>
              <a:spLocks noChangeShapeType="1"/>
            </p:cNvSpPr>
            <p:nvPr/>
          </p:nvSpPr>
          <p:spPr bwMode="auto">
            <a:xfrm>
              <a:off x="-2376488" y="4441716"/>
              <a:ext cx="2075688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Line 64"/>
            <p:cNvSpPr>
              <a:spLocks noChangeShapeType="1"/>
            </p:cNvSpPr>
            <p:nvPr/>
          </p:nvSpPr>
          <p:spPr bwMode="auto">
            <a:xfrm>
              <a:off x="-2376488" y="4744401"/>
              <a:ext cx="2075688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Line 65"/>
            <p:cNvSpPr>
              <a:spLocks noChangeShapeType="1"/>
            </p:cNvSpPr>
            <p:nvPr/>
          </p:nvSpPr>
          <p:spPr bwMode="auto">
            <a:xfrm>
              <a:off x="-2376488" y="5050789"/>
              <a:ext cx="2075688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Line 66"/>
            <p:cNvSpPr>
              <a:spLocks noChangeShapeType="1"/>
            </p:cNvSpPr>
            <p:nvPr/>
          </p:nvSpPr>
          <p:spPr bwMode="auto">
            <a:xfrm>
              <a:off x="-1692276" y="2594926"/>
              <a:ext cx="1588" cy="276383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Line 67"/>
            <p:cNvSpPr>
              <a:spLocks noChangeShapeType="1"/>
            </p:cNvSpPr>
            <p:nvPr/>
          </p:nvSpPr>
          <p:spPr bwMode="auto">
            <a:xfrm>
              <a:off x="-990600" y="2594926"/>
              <a:ext cx="1588" cy="276383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Line 70"/>
            <p:cNvSpPr>
              <a:spLocks noChangeShapeType="1"/>
            </p:cNvSpPr>
            <p:nvPr/>
          </p:nvSpPr>
          <p:spPr bwMode="auto">
            <a:xfrm>
              <a:off x="-2376488" y="2594926"/>
              <a:ext cx="1588" cy="276383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Line 72"/>
            <p:cNvSpPr>
              <a:spLocks noChangeShapeType="1"/>
            </p:cNvSpPr>
            <p:nvPr/>
          </p:nvSpPr>
          <p:spPr bwMode="auto">
            <a:xfrm>
              <a:off x="-2376488" y="2594926"/>
              <a:ext cx="2075688" cy="158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Line 74"/>
            <p:cNvSpPr>
              <a:spLocks noChangeShapeType="1"/>
            </p:cNvSpPr>
            <p:nvPr/>
          </p:nvSpPr>
          <p:spPr bwMode="auto">
            <a:xfrm>
              <a:off x="-2376488" y="5358764"/>
              <a:ext cx="2075688" cy="158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Line 70"/>
            <p:cNvSpPr>
              <a:spLocks noChangeShapeType="1"/>
            </p:cNvSpPr>
            <p:nvPr/>
          </p:nvSpPr>
          <p:spPr bwMode="auto">
            <a:xfrm>
              <a:off x="-292102" y="2585718"/>
              <a:ext cx="1588" cy="278892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285645" y="3821593"/>
            <a:ext cx="117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Page table</a:t>
            </a:r>
          </a:p>
        </p:txBody>
      </p:sp>
      <p:grpSp>
        <p:nvGrpSpPr>
          <p:cNvPr id="163" name="Group 162"/>
          <p:cNvGrpSpPr/>
          <p:nvPr/>
        </p:nvGrpSpPr>
        <p:grpSpPr>
          <a:xfrm>
            <a:off x="88105" y="1196350"/>
            <a:ext cx="8840789" cy="2561167"/>
            <a:chOff x="152400" y="4076700"/>
            <a:chExt cx="8840789" cy="2561167"/>
          </a:xfrm>
          <a:solidFill>
            <a:schemeClr val="bg1"/>
          </a:solidFill>
        </p:grpSpPr>
        <p:sp>
          <p:nvSpPr>
            <p:cNvPr id="164" name="Rectangle 64"/>
            <p:cNvSpPr>
              <a:spLocks noChangeArrowheads="1"/>
            </p:cNvSpPr>
            <p:nvPr/>
          </p:nvSpPr>
          <p:spPr bwMode="auto">
            <a:xfrm>
              <a:off x="38750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03</a:t>
              </a:r>
            </a:p>
          </p:txBody>
        </p:sp>
        <p:sp>
          <p:nvSpPr>
            <p:cNvPr id="165" name="Rectangle 65"/>
            <p:cNvSpPr>
              <a:spLocks noChangeArrowheads="1"/>
            </p:cNvSpPr>
            <p:nvPr/>
          </p:nvSpPr>
          <p:spPr bwMode="auto">
            <a:xfrm>
              <a:off x="32559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DF</a:t>
              </a:r>
            </a:p>
          </p:txBody>
        </p:sp>
        <p:sp>
          <p:nvSpPr>
            <p:cNvPr id="166" name="Rectangle 66"/>
            <p:cNvSpPr>
              <a:spLocks noChangeArrowheads="1"/>
            </p:cNvSpPr>
            <p:nvPr/>
          </p:nvSpPr>
          <p:spPr bwMode="auto">
            <a:xfrm>
              <a:off x="26352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C2</a:t>
              </a:r>
            </a:p>
          </p:txBody>
        </p:sp>
        <p:sp>
          <p:nvSpPr>
            <p:cNvPr id="167" name="Rectangle 67"/>
            <p:cNvSpPr>
              <a:spLocks noChangeArrowheads="1"/>
            </p:cNvSpPr>
            <p:nvPr/>
          </p:nvSpPr>
          <p:spPr bwMode="auto">
            <a:xfrm>
              <a:off x="20129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168" name="Rectangle 68"/>
            <p:cNvSpPr>
              <a:spLocks noChangeArrowheads="1"/>
            </p:cNvSpPr>
            <p:nvPr/>
          </p:nvSpPr>
          <p:spPr bwMode="auto">
            <a:xfrm>
              <a:off x="13922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69" name="Rectangle 69"/>
            <p:cNvSpPr>
              <a:spLocks noChangeArrowheads="1"/>
            </p:cNvSpPr>
            <p:nvPr/>
          </p:nvSpPr>
          <p:spPr bwMode="auto">
            <a:xfrm>
              <a:off x="7731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16</a:t>
              </a:r>
            </a:p>
          </p:txBody>
        </p:sp>
        <p:sp>
          <p:nvSpPr>
            <p:cNvPr id="170" name="Rectangle 70"/>
            <p:cNvSpPr>
              <a:spLocks noChangeArrowheads="1"/>
            </p:cNvSpPr>
            <p:nvPr/>
          </p:nvSpPr>
          <p:spPr bwMode="auto">
            <a:xfrm>
              <a:off x="15240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7</a:t>
              </a:r>
            </a:p>
          </p:txBody>
        </p:sp>
        <p:sp>
          <p:nvSpPr>
            <p:cNvPr id="171" name="Rectangle 78"/>
            <p:cNvSpPr>
              <a:spLocks noChangeArrowheads="1"/>
            </p:cNvSpPr>
            <p:nvPr/>
          </p:nvSpPr>
          <p:spPr bwMode="auto">
            <a:xfrm>
              <a:off x="38750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72" name="Rectangle 79"/>
            <p:cNvSpPr>
              <a:spLocks noChangeArrowheads="1"/>
            </p:cNvSpPr>
            <p:nvPr/>
          </p:nvSpPr>
          <p:spPr bwMode="auto">
            <a:xfrm>
              <a:off x="32559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73" name="Rectangle 80"/>
            <p:cNvSpPr>
              <a:spLocks noChangeArrowheads="1"/>
            </p:cNvSpPr>
            <p:nvPr/>
          </p:nvSpPr>
          <p:spPr bwMode="auto">
            <a:xfrm>
              <a:off x="26352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74" name="Rectangle 81"/>
            <p:cNvSpPr>
              <a:spLocks noChangeArrowheads="1"/>
            </p:cNvSpPr>
            <p:nvPr/>
          </p:nvSpPr>
          <p:spPr bwMode="auto">
            <a:xfrm>
              <a:off x="20129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75" name="Rectangle 82"/>
            <p:cNvSpPr>
              <a:spLocks noChangeArrowheads="1"/>
            </p:cNvSpPr>
            <p:nvPr/>
          </p:nvSpPr>
          <p:spPr bwMode="auto">
            <a:xfrm>
              <a:off x="13922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76" name="Rectangle 83"/>
            <p:cNvSpPr>
              <a:spLocks noChangeArrowheads="1"/>
            </p:cNvSpPr>
            <p:nvPr/>
          </p:nvSpPr>
          <p:spPr bwMode="auto">
            <a:xfrm>
              <a:off x="7731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31</a:t>
              </a:r>
            </a:p>
          </p:txBody>
        </p:sp>
        <p:sp>
          <p:nvSpPr>
            <p:cNvPr id="177" name="Rectangle 84"/>
            <p:cNvSpPr>
              <a:spLocks noChangeArrowheads="1"/>
            </p:cNvSpPr>
            <p:nvPr/>
          </p:nvSpPr>
          <p:spPr bwMode="auto">
            <a:xfrm>
              <a:off x="15240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6</a:t>
              </a:r>
            </a:p>
          </p:txBody>
        </p:sp>
        <p:sp>
          <p:nvSpPr>
            <p:cNvPr id="178" name="Rectangle 92"/>
            <p:cNvSpPr>
              <a:spLocks noChangeArrowheads="1"/>
            </p:cNvSpPr>
            <p:nvPr/>
          </p:nvSpPr>
          <p:spPr bwMode="auto">
            <a:xfrm>
              <a:off x="38750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1D</a:t>
              </a:r>
            </a:p>
          </p:txBody>
        </p:sp>
        <p:sp>
          <p:nvSpPr>
            <p:cNvPr id="179" name="Rectangle 93"/>
            <p:cNvSpPr>
              <a:spLocks noChangeArrowheads="1"/>
            </p:cNvSpPr>
            <p:nvPr/>
          </p:nvSpPr>
          <p:spPr bwMode="auto">
            <a:xfrm>
              <a:off x="32559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F0</a:t>
              </a:r>
            </a:p>
          </p:txBody>
        </p:sp>
        <p:sp>
          <p:nvSpPr>
            <p:cNvPr id="180" name="Rectangle 94"/>
            <p:cNvSpPr>
              <a:spLocks noChangeArrowheads="1"/>
            </p:cNvSpPr>
            <p:nvPr/>
          </p:nvSpPr>
          <p:spPr bwMode="auto">
            <a:xfrm>
              <a:off x="26352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72</a:t>
              </a:r>
            </a:p>
          </p:txBody>
        </p:sp>
        <p:sp>
          <p:nvSpPr>
            <p:cNvPr id="181" name="Rectangle 95"/>
            <p:cNvSpPr>
              <a:spLocks noChangeArrowheads="1"/>
            </p:cNvSpPr>
            <p:nvPr/>
          </p:nvSpPr>
          <p:spPr bwMode="auto">
            <a:xfrm>
              <a:off x="2012950" y="578802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36</a:t>
              </a:r>
            </a:p>
          </p:txBody>
        </p:sp>
        <p:sp>
          <p:nvSpPr>
            <p:cNvPr id="182" name="Rectangle 96"/>
            <p:cNvSpPr>
              <a:spLocks noChangeArrowheads="1"/>
            </p:cNvSpPr>
            <p:nvPr/>
          </p:nvSpPr>
          <p:spPr bwMode="auto">
            <a:xfrm>
              <a:off x="13922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83" name="Rectangle 97"/>
            <p:cNvSpPr>
              <a:spLocks noChangeArrowheads="1"/>
            </p:cNvSpPr>
            <p:nvPr/>
          </p:nvSpPr>
          <p:spPr bwMode="auto">
            <a:xfrm>
              <a:off x="77311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0D</a:t>
              </a:r>
            </a:p>
          </p:txBody>
        </p:sp>
        <p:sp>
          <p:nvSpPr>
            <p:cNvPr id="184" name="Rectangle 98"/>
            <p:cNvSpPr>
              <a:spLocks noChangeArrowheads="1"/>
            </p:cNvSpPr>
            <p:nvPr/>
          </p:nvSpPr>
          <p:spPr bwMode="auto">
            <a:xfrm>
              <a:off x="15240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5</a:t>
              </a:r>
            </a:p>
          </p:txBody>
        </p:sp>
        <p:sp>
          <p:nvSpPr>
            <p:cNvPr id="185" name="Rectangle 106"/>
            <p:cNvSpPr>
              <a:spLocks noChangeArrowheads="1"/>
            </p:cNvSpPr>
            <p:nvPr/>
          </p:nvSpPr>
          <p:spPr bwMode="auto">
            <a:xfrm>
              <a:off x="38750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09</a:t>
              </a:r>
            </a:p>
          </p:txBody>
        </p:sp>
        <p:sp>
          <p:nvSpPr>
            <p:cNvPr id="186" name="Rectangle 107"/>
            <p:cNvSpPr>
              <a:spLocks noChangeArrowheads="1"/>
            </p:cNvSpPr>
            <p:nvPr/>
          </p:nvSpPr>
          <p:spPr bwMode="auto">
            <a:xfrm>
              <a:off x="32559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8F</a:t>
              </a:r>
            </a:p>
          </p:txBody>
        </p:sp>
        <p:sp>
          <p:nvSpPr>
            <p:cNvPr id="187" name="Rectangle 108"/>
            <p:cNvSpPr>
              <a:spLocks noChangeArrowheads="1"/>
            </p:cNvSpPr>
            <p:nvPr/>
          </p:nvSpPr>
          <p:spPr bwMode="auto">
            <a:xfrm>
              <a:off x="26352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6D</a:t>
              </a:r>
            </a:p>
          </p:txBody>
        </p:sp>
        <p:sp>
          <p:nvSpPr>
            <p:cNvPr id="188" name="Rectangle 109"/>
            <p:cNvSpPr>
              <a:spLocks noChangeArrowheads="1"/>
            </p:cNvSpPr>
            <p:nvPr/>
          </p:nvSpPr>
          <p:spPr bwMode="auto">
            <a:xfrm>
              <a:off x="20129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43</a:t>
              </a:r>
            </a:p>
          </p:txBody>
        </p:sp>
        <p:sp>
          <p:nvSpPr>
            <p:cNvPr id="189" name="Rectangle 110"/>
            <p:cNvSpPr>
              <a:spLocks noChangeArrowheads="1"/>
            </p:cNvSpPr>
            <p:nvPr/>
          </p:nvSpPr>
          <p:spPr bwMode="auto">
            <a:xfrm>
              <a:off x="13922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90" name="Rectangle 111"/>
            <p:cNvSpPr>
              <a:spLocks noChangeArrowheads="1"/>
            </p:cNvSpPr>
            <p:nvPr/>
          </p:nvSpPr>
          <p:spPr bwMode="auto">
            <a:xfrm>
              <a:off x="7731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32</a:t>
              </a:r>
            </a:p>
          </p:txBody>
        </p:sp>
        <p:sp>
          <p:nvSpPr>
            <p:cNvPr id="191" name="Rectangle 112"/>
            <p:cNvSpPr>
              <a:spLocks noChangeArrowheads="1"/>
            </p:cNvSpPr>
            <p:nvPr/>
          </p:nvSpPr>
          <p:spPr bwMode="auto">
            <a:xfrm>
              <a:off x="15240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4</a:t>
              </a:r>
            </a:p>
          </p:txBody>
        </p:sp>
        <p:sp>
          <p:nvSpPr>
            <p:cNvPr id="192" name="Rectangle 120"/>
            <p:cNvSpPr>
              <a:spLocks noChangeArrowheads="1"/>
            </p:cNvSpPr>
            <p:nvPr/>
          </p:nvSpPr>
          <p:spPr bwMode="auto">
            <a:xfrm>
              <a:off x="38750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93" name="Rectangle 121"/>
            <p:cNvSpPr>
              <a:spLocks noChangeArrowheads="1"/>
            </p:cNvSpPr>
            <p:nvPr/>
          </p:nvSpPr>
          <p:spPr bwMode="auto">
            <a:xfrm>
              <a:off x="32559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94" name="Rectangle 122"/>
            <p:cNvSpPr>
              <a:spLocks noChangeArrowheads="1"/>
            </p:cNvSpPr>
            <p:nvPr/>
          </p:nvSpPr>
          <p:spPr bwMode="auto">
            <a:xfrm>
              <a:off x="26352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95" name="Rectangle 123"/>
            <p:cNvSpPr>
              <a:spLocks noChangeArrowheads="1"/>
            </p:cNvSpPr>
            <p:nvPr/>
          </p:nvSpPr>
          <p:spPr bwMode="auto">
            <a:xfrm>
              <a:off x="20129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196" name="Rectangle 124"/>
            <p:cNvSpPr>
              <a:spLocks noChangeArrowheads="1"/>
            </p:cNvSpPr>
            <p:nvPr/>
          </p:nvSpPr>
          <p:spPr bwMode="auto">
            <a:xfrm>
              <a:off x="13922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97" name="Rectangle 125"/>
            <p:cNvSpPr>
              <a:spLocks noChangeArrowheads="1"/>
            </p:cNvSpPr>
            <p:nvPr/>
          </p:nvSpPr>
          <p:spPr bwMode="auto">
            <a:xfrm>
              <a:off x="7731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36</a:t>
              </a:r>
            </a:p>
          </p:txBody>
        </p:sp>
        <p:sp>
          <p:nvSpPr>
            <p:cNvPr id="198" name="Rectangle 126"/>
            <p:cNvSpPr>
              <a:spLocks noChangeArrowheads="1"/>
            </p:cNvSpPr>
            <p:nvPr/>
          </p:nvSpPr>
          <p:spPr bwMode="auto">
            <a:xfrm>
              <a:off x="15240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199" name="Rectangle 134"/>
            <p:cNvSpPr>
              <a:spLocks noChangeArrowheads="1"/>
            </p:cNvSpPr>
            <p:nvPr/>
          </p:nvSpPr>
          <p:spPr bwMode="auto">
            <a:xfrm>
              <a:off x="38750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08</a:t>
              </a:r>
            </a:p>
          </p:txBody>
        </p:sp>
        <p:sp>
          <p:nvSpPr>
            <p:cNvPr id="200" name="Rectangle 135"/>
            <p:cNvSpPr>
              <a:spLocks noChangeArrowheads="1"/>
            </p:cNvSpPr>
            <p:nvPr/>
          </p:nvSpPr>
          <p:spPr bwMode="auto">
            <a:xfrm>
              <a:off x="32559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201" name="Rectangle 136"/>
            <p:cNvSpPr>
              <a:spLocks noChangeArrowheads="1"/>
            </p:cNvSpPr>
            <p:nvPr/>
          </p:nvSpPr>
          <p:spPr bwMode="auto">
            <a:xfrm>
              <a:off x="263525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02</a:t>
              </a:r>
            </a:p>
          </p:txBody>
        </p:sp>
        <p:sp>
          <p:nvSpPr>
            <p:cNvPr id="202" name="Rectangle 137"/>
            <p:cNvSpPr>
              <a:spLocks noChangeArrowheads="1"/>
            </p:cNvSpPr>
            <p:nvPr/>
          </p:nvSpPr>
          <p:spPr bwMode="auto">
            <a:xfrm>
              <a:off x="20129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203" name="Rectangle 138"/>
            <p:cNvSpPr>
              <a:spLocks noChangeArrowheads="1"/>
            </p:cNvSpPr>
            <p:nvPr/>
          </p:nvSpPr>
          <p:spPr bwMode="auto">
            <a:xfrm>
              <a:off x="13922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04" name="Rectangle 139"/>
            <p:cNvSpPr>
              <a:spLocks noChangeArrowheads="1"/>
            </p:cNvSpPr>
            <p:nvPr/>
          </p:nvSpPr>
          <p:spPr bwMode="auto">
            <a:xfrm>
              <a:off x="77311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1B</a:t>
              </a:r>
            </a:p>
          </p:txBody>
        </p:sp>
        <p:sp>
          <p:nvSpPr>
            <p:cNvPr id="205" name="Rectangle 140"/>
            <p:cNvSpPr>
              <a:spLocks noChangeArrowheads="1"/>
            </p:cNvSpPr>
            <p:nvPr/>
          </p:nvSpPr>
          <p:spPr bwMode="auto">
            <a:xfrm>
              <a:off x="15240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6" name="Rectangle 148"/>
            <p:cNvSpPr>
              <a:spLocks noChangeArrowheads="1"/>
            </p:cNvSpPr>
            <p:nvPr/>
          </p:nvSpPr>
          <p:spPr bwMode="auto">
            <a:xfrm>
              <a:off x="38750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07" name="Rectangle 149"/>
            <p:cNvSpPr>
              <a:spLocks noChangeArrowheads="1"/>
            </p:cNvSpPr>
            <p:nvPr/>
          </p:nvSpPr>
          <p:spPr bwMode="auto">
            <a:xfrm>
              <a:off x="32559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08" name="Rectangle 150"/>
            <p:cNvSpPr>
              <a:spLocks noChangeArrowheads="1"/>
            </p:cNvSpPr>
            <p:nvPr/>
          </p:nvSpPr>
          <p:spPr bwMode="auto">
            <a:xfrm>
              <a:off x="26352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09" name="Rectangle 151"/>
            <p:cNvSpPr>
              <a:spLocks noChangeArrowheads="1"/>
            </p:cNvSpPr>
            <p:nvPr/>
          </p:nvSpPr>
          <p:spPr bwMode="auto">
            <a:xfrm>
              <a:off x="20129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10" name="Rectangle 152"/>
            <p:cNvSpPr>
              <a:spLocks noChangeArrowheads="1"/>
            </p:cNvSpPr>
            <p:nvPr/>
          </p:nvSpPr>
          <p:spPr bwMode="auto">
            <a:xfrm>
              <a:off x="13922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211" name="Rectangle 153"/>
            <p:cNvSpPr>
              <a:spLocks noChangeArrowheads="1"/>
            </p:cNvSpPr>
            <p:nvPr/>
          </p:nvSpPr>
          <p:spPr bwMode="auto">
            <a:xfrm>
              <a:off x="7731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212" name="Rectangle 154"/>
            <p:cNvSpPr>
              <a:spLocks noChangeArrowheads="1"/>
            </p:cNvSpPr>
            <p:nvPr/>
          </p:nvSpPr>
          <p:spPr bwMode="auto">
            <a:xfrm>
              <a:off x="15240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13" name="Rectangle 162"/>
            <p:cNvSpPr>
              <a:spLocks noChangeArrowheads="1"/>
            </p:cNvSpPr>
            <p:nvPr/>
          </p:nvSpPr>
          <p:spPr bwMode="auto">
            <a:xfrm>
              <a:off x="38750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214" name="Rectangle 163"/>
            <p:cNvSpPr>
              <a:spLocks noChangeArrowheads="1"/>
            </p:cNvSpPr>
            <p:nvPr/>
          </p:nvSpPr>
          <p:spPr bwMode="auto">
            <a:xfrm>
              <a:off x="32559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23</a:t>
              </a:r>
            </a:p>
          </p:txBody>
        </p:sp>
        <p:sp>
          <p:nvSpPr>
            <p:cNvPr id="215" name="Rectangle 164"/>
            <p:cNvSpPr>
              <a:spLocks noChangeArrowheads="1"/>
            </p:cNvSpPr>
            <p:nvPr/>
          </p:nvSpPr>
          <p:spPr bwMode="auto">
            <a:xfrm>
              <a:off x="26352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216" name="Rectangle 165"/>
            <p:cNvSpPr>
              <a:spLocks noChangeArrowheads="1"/>
            </p:cNvSpPr>
            <p:nvPr/>
          </p:nvSpPr>
          <p:spPr bwMode="auto">
            <a:xfrm>
              <a:off x="20129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99</a:t>
              </a:r>
            </a:p>
          </p:txBody>
        </p:sp>
        <p:sp>
          <p:nvSpPr>
            <p:cNvPr id="217" name="Rectangle 166"/>
            <p:cNvSpPr>
              <a:spLocks noChangeArrowheads="1"/>
            </p:cNvSpPr>
            <p:nvPr/>
          </p:nvSpPr>
          <p:spPr bwMode="auto">
            <a:xfrm>
              <a:off x="13922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18" name="Rectangle 167"/>
            <p:cNvSpPr>
              <a:spLocks noChangeArrowheads="1"/>
            </p:cNvSpPr>
            <p:nvPr/>
          </p:nvSpPr>
          <p:spPr bwMode="auto">
            <a:xfrm>
              <a:off x="7731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19</a:t>
              </a:r>
            </a:p>
          </p:txBody>
        </p:sp>
        <p:sp>
          <p:nvSpPr>
            <p:cNvPr id="219" name="Rectangle 168"/>
            <p:cNvSpPr>
              <a:spLocks noChangeArrowheads="1"/>
            </p:cNvSpPr>
            <p:nvPr/>
          </p:nvSpPr>
          <p:spPr bwMode="auto">
            <a:xfrm>
              <a:off x="15240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20" name="Rectangle 176"/>
            <p:cNvSpPr>
              <a:spLocks noChangeArrowheads="1"/>
            </p:cNvSpPr>
            <p:nvPr/>
          </p:nvSpPr>
          <p:spPr bwMode="auto">
            <a:xfrm>
              <a:off x="387508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</a:p>
          </p:txBody>
        </p:sp>
        <p:sp>
          <p:nvSpPr>
            <p:cNvPr id="221" name="Rectangle 177"/>
            <p:cNvSpPr>
              <a:spLocks noChangeArrowheads="1"/>
            </p:cNvSpPr>
            <p:nvPr/>
          </p:nvSpPr>
          <p:spPr bwMode="auto">
            <a:xfrm>
              <a:off x="325596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</a:p>
          </p:txBody>
        </p:sp>
        <p:sp>
          <p:nvSpPr>
            <p:cNvPr id="222" name="Rectangle 178"/>
            <p:cNvSpPr>
              <a:spLocks noChangeArrowheads="1"/>
            </p:cNvSpPr>
            <p:nvPr/>
          </p:nvSpPr>
          <p:spPr bwMode="auto">
            <a:xfrm>
              <a:off x="263525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</a:p>
          </p:txBody>
        </p:sp>
        <p:sp>
          <p:nvSpPr>
            <p:cNvPr id="223" name="Rectangle 179"/>
            <p:cNvSpPr>
              <a:spLocks noChangeArrowheads="1"/>
            </p:cNvSpPr>
            <p:nvPr/>
          </p:nvSpPr>
          <p:spPr bwMode="auto">
            <a:xfrm>
              <a:off x="2012950" y="40767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</a:p>
          </p:txBody>
        </p:sp>
        <p:sp>
          <p:nvSpPr>
            <p:cNvPr id="224" name="Rectangle 180"/>
            <p:cNvSpPr>
              <a:spLocks noChangeArrowheads="1"/>
            </p:cNvSpPr>
            <p:nvPr/>
          </p:nvSpPr>
          <p:spPr bwMode="auto">
            <a:xfrm>
              <a:off x="139223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225" name="Rectangle 181"/>
            <p:cNvSpPr>
              <a:spLocks noChangeArrowheads="1"/>
            </p:cNvSpPr>
            <p:nvPr/>
          </p:nvSpPr>
          <p:spPr bwMode="auto">
            <a:xfrm>
              <a:off x="77311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226" name="Rectangle 182"/>
            <p:cNvSpPr>
              <a:spLocks noChangeArrowheads="1"/>
            </p:cNvSpPr>
            <p:nvPr/>
          </p:nvSpPr>
          <p:spPr bwMode="auto">
            <a:xfrm>
              <a:off x="15240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40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27" name="Line 183"/>
            <p:cNvSpPr>
              <a:spLocks noChangeShapeType="1"/>
            </p:cNvSpPr>
            <p:nvPr/>
          </p:nvSpPr>
          <p:spPr bwMode="auto">
            <a:xfrm>
              <a:off x="152400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228" name="Line 184"/>
            <p:cNvSpPr>
              <a:spLocks noChangeShapeType="1"/>
            </p:cNvSpPr>
            <p:nvPr/>
          </p:nvSpPr>
          <p:spPr bwMode="auto">
            <a:xfrm>
              <a:off x="152400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Line 185"/>
            <p:cNvSpPr>
              <a:spLocks noChangeShapeType="1"/>
            </p:cNvSpPr>
            <p:nvPr/>
          </p:nvSpPr>
          <p:spPr bwMode="auto">
            <a:xfrm>
              <a:off x="152400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Line 186"/>
            <p:cNvSpPr>
              <a:spLocks noChangeShapeType="1"/>
            </p:cNvSpPr>
            <p:nvPr/>
          </p:nvSpPr>
          <p:spPr bwMode="auto">
            <a:xfrm>
              <a:off x="152400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Line 187"/>
            <p:cNvSpPr>
              <a:spLocks noChangeShapeType="1"/>
            </p:cNvSpPr>
            <p:nvPr/>
          </p:nvSpPr>
          <p:spPr bwMode="auto">
            <a:xfrm>
              <a:off x="152400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Line 188"/>
            <p:cNvSpPr>
              <a:spLocks noChangeShapeType="1"/>
            </p:cNvSpPr>
            <p:nvPr/>
          </p:nvSpPr>
          <p:spPr bwMode="auto">
            <a:xfrm>
              <a:off x="152400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Line 189"/>
            <p:cNvSpPr>
              <a:spLocks noChangeShapeType="1"/>
            </p:cNvSpPr>
            <p:nvPr/>
          </p:nvSpPr>
          <p:spPr bwMode="auto">
            <a:xfrm>
              <a:off x="152400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Line 190"/>
            <p:cNvSpPr>
              <a:spLocks noChangeShapeType="1"/>
            </p:cNvSpPr>
            <p:nvPr/>
          </p:nvSpPr>
          <p:spPr bwMode="auto">
            <a:xfrm>
              <a:off x="152400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Line 191"/>
            <p:cNvSpPr>
              <a:spLocks noChangeShapeType="1"/>
            </p:cNvSpPr>
            <p:nvPr/>
          </p:nvSpPr>
          <p:spPr bwMode="auto">
            <a:xfrm>
              <a:off x="7731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Line 192"/>
            <p:cNvSpPr>
              <a:spLocks noChangeShapeType="1"/>
            </p:cNvSpPr>
            <p:nvPr/>
          </p:nvSpPr>
          <p:spPr bwMode="auto">
            <a:xfrm>
              <a:off x="13922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Line 193"/>
            <p:cNvSpPr>
              <a:spLocks noChangeShapeType="1"/>
            </p:cNvSpPr>
            <p:nvPr/>
          </p:nvSpPr>
          <p:spPr bwMode="auto">
            <a:xfrm>
              <a:off x="20129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Line 194"/>
            <p:cNvSpPr>
              <a:spLocks noChangeShapeType="1"/>
            </p:cNvSpPr>
            <p:nvPr/>
          </p:nvSpPr>
          <p:spPr bwMode="auto">
            <a:xfrm>
              <a:off x="26352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Line 195"/>
            <p:cNvSpPr>
              <a:spLocks noChangeShapeType="1"/>
            </p:cNvSpPr>
            <p:nvPr/>
          </p:nvSpPr>
          <p:spPr bwMode="auto">
            <a:xfrm>
              <a:off x="32559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Line 196"/>
            <p:cNvSpPr>
              <a:spLocks noChangeShapeType="1"/>
            </p:cNvSpPr>
            <p:nvPr/>
          </p:nvSpPr>
          <p:spPr bwMode="auto">
            <a:xfrm>
              <a:off x="38750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Line 203"/>
            <p:cNvSpPr>
              <a:spLocks noChangeShapeType="1"/>
            </p:cNvSpPr>
            <p:nvPr/>
          </p:nvSpPr>
          <p:spPr bwMode="auto">
            <a:xfrm>
              <a:off x="152400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Line 205"/>
            <p:cNvSpPr>
              <a:spLocks noChangeShapeType="1"/>
            </p:cNvSpPr>
            <p:nvPr/>
          </p:nvSpPr>
          <p:spPr bwMode="auto">
            <a:xfrm>
              <a:off x="152400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243" name="Line 207"/>
            <p:cNvSpPr>
              <a:spLocks noChangeShapeType="1"/>
            </p:cNvSpPr>
            <p:nvPr/>
          </p:nvSpPr>
          <p:spPr bwMode="auto">
            <a:xfrm>
              <a:off x="152400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Line 203"/>
            <p:cNvSpPr>
              <a:spLocks noChangeShapeType="1"/>
            </p:cNvSpPr>
            <p:nvPr/>
          </p:nvSpPr>
          <p:spPr bwMode="auto">
            <a:xfrm>
              <a:off x="4487333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Rectangle 57"/>
            <p:cNvSpPr>
              <a:spLocks noChangeArrowheads="1"/>
            </p:cNvSpPr>
            <p:nvPr/>
          </p:nvSpPr>
          <p:spPr bwMode="auto">
            <a:xfrm>
              <a:off x="83708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46" name="Rectangle 58"/>
            <p:cNvSpPr>
              <a:spLocks noChangeArrowheads="1"/>
            </p:cNvSpPr>
            <p:nvPr/>
          </p:nvSpPr>
          <p:spPr bwMode="auto">
            <a:xfrm>
              <a:off x="77517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47" name="Rectangle 59"/>
            <p:cNvSpPr>
              <a:spLocks noChangeArrowheads="1"/>
            </p:cNvSpPr>
            <p:nvPr/>
          </p:nvSpPr>
          <p:spPr bwMode="auto">
            <a:xfrm>
              <a:off x="71310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48" name="Rectangle 60"/>
            <p:cNvSpPr>
              <a:spLocks noChangeArrowheads="1"/>
            </p:cNvSpPr>
            <p:nvPr/>
          </p:nvSpPr>
          <p:spPr bwMode="auto">
            <a:xfrm>
              <a:off x="65087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49" name="Rectangle 61"/>
            <p:cNvSpPr>
              <a:spLocks noChangeArrowheads="1"/>
            </p:cNvSpPr>
            <p:nvPr/>
          </p:nvSpPr>
          <p:spPr bwMode="auto">
            <a:xfrm>
              <a:off x="58880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250" name="Rectangle 62"/>
            <p:cNvSpPr>
              <a:spLocks noChangeArrowheads="1"/>
            </p:cNvSpPr>
            <p:nvPr/>
          </p:nvSpPr>
          <p:spPr bwMode="auto">
            <a:xfrm>
              <a:off x="52689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14</a:t>
              </a:r>
            </a:p>
          </p:txBody>
        </p:sp>
        <p:sp>
          <p:nvSpPr>
            <p:cNvPr id="251" name="Rectangle 63"/>
            <p:cNvSpPr>
              <a:spLocks noChangeArrowheads="1"/>
            </p:cNvSpPr>
            <p:nvPr/>
          </p:nvSpPr>
          <p:spPr bwMode="auto">
            <a:xfrm>
              <a:off x="464820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F</a:t>
              </a:r>
            </a:p>
          </p:txBody>
        </p:sp>
        <p:sp>
          <p:nvSpPr>
            <p:cNvPr id="252" name="Rectangle 71"/>
            <p:cNvSpPr>
              <a:spLocks noChangeArrowheads="1"/>
            </p:cNvSpPr>
            <p:nvPr/>
          </p:nvSpPr>
          <p:spPr bwMode="auto">
            <a:xfrm>
              <a:off x="83708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D3</a:t>
              </a:r>
            </a:p>
          </p:txBody>
        </p:sp>
        <p:sp>
          <p:nvSpPr>
            <p:cNvPr id="253" name="Rectangle 72"/>
            <p:cNvSpPr>
              <a:spLocks noChangeArrowheads="1"/>
            </p:cNvSpPr>
            <p:nvPr/>
          </p:nvSpPr>
          <p:spPr bwMode="auto">
            <a:xfrm>
              <a:off x="77517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1B</a:t>
              </a:r>
            </a:p>
          </p:txBody>
        </p:sp>
        <p:sp>
          <p:nvSpPr>
            <p:cNvPr id="254" name="Rectangle 73"/>
            <p:cNvSpPr>
              <a:spLocks noChangeArrowheads="1"/>
            </p:cNvSpPr>
            <p:nvPr/>
          </p:nvSpPr>
          <p:spPr bwMode="auto">
            <a:xfrm>
              <a:off x="71310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77</a:t>
              </a:r>
            </a:p>
          </p:txBody>
        </p:sp>
        <p:sp>
          <p:nvSpPr>
            <p:cNvPr id="255" name="Rectangle 74"/>
            <p:cNvSpPr>
              <a:spLocks noChangeArrowheads="1"/>
            </p:cNvSpPr>
            <p:nvPr/>
          </p:nvSpPr>
          <p:spPr bwMode="auto">
            <a:xfrm>
              <a:off x="65087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83</a:t>
              </a:r>
            </a:p>
          </p:txBody>
        </p:sp>
        <p:sp>
          <p:nvSpPr>
            <p:cNvPr id="256" name="Rectangle 75"/>
            <p:cNvSpPr>
              <a:spLocks noChangeArrowheads="1"/>
            </p:cNvSpPr>
            <p:nvPr/>
          </p:nvSpPr>
          <p:spPr bwMode="auto">
            <a:xfrm>
              <a:off x="58880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57" name="Rectangle 76"/>
            <p:cNvSpPr>
              <a:spLocks noChangeArrowheads="1"/>
            </p:cNvSpPr>
            <p:nvPr/>
          </p:nvSpPr>
          <p:spPr bwMode="auto">
            <a:xfrm>
              <a:off x="52689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13</a:t>
              </a:r>
            </a:p>
          </p:txBody>
        </p:sp>
        <p:sp>
          <p:nvSpPr>
            <p:cNvPr id="258" name="Rectangle 77"/>
            <p:cNvSpPr>
              <a:spLocks noChangeArrowheads="1"/>
            </p:cNvSpPr>
            <p:nvPr/>
          </p:nvSpPr>
          <p:spPr bwMode="auto">
            <a:xfrm>
              <a:off x="464820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E</a:t>
              </a:r>
            </a:p>
          </p:txBody>
        </p:sp>
        <p:sp>
          <p:nvSpPr>
            <p:cNvPr id="259" name="Rectangle 85"/>
            <p:cNvSpPr>
              <a:spLocks noChangeArrowheads="1"/>
            </p:cNvSpPr>
            <p:nvPr/>
          </p:nvSpPr>
          <p:spPr bwMode="auto">
            <a:xfrm>
              <a:off x="83708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260" name="Rectangle 86"/>
            <p:cNvSpPr>
              <a:spLocks noChangeArrowheads="1"/>
            </p:cNvSpPr>
            <p:nvPr/>
          </p:nvSpPr>
          <p:spPr bwMode="auto">
            <a:xfrm>
              <a:off x="77517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34</a:t>
              </a:r>
            </a:p>
          </p:txBody>
        </p:sp>
        <p:sp>
          <p:nvSpPr>
            <p:cNvPr id="261" name="Rectangle 87"/>
            <p:cNvSpPr>
              <a:spLocks noChangeArrowheads="1"/>
            </p:cNvSpPr>
            <p:nvPr/>
          </p:nvSpPr>
          <p:spPr bwMode="auto">
            <a:xfrm>
              <a:off x="71310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96</a:t>
              </a:r>
            </a:p>
          </p:txBody>
        </p:sp>
        <p:sp>
          <p:nvSpPr>
            <p:cNvPr id="262" name="Rectangle 88"/>
            <p:cNvSpPr>
              <a:spLocks noChangeArrowheads="1"/>
            </p:cNvSpPr>
            <p:nvPr/>
          </p:nvSpPr>
          <p:spPr bwMode="auto">
            <a:xfrm>
              <a:off x="6508750" y="578802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04</a:t>
              </a:r>
            </a:p>
          </p:txBody>
        </p:sp>
        <p:sp>
          <p:nvSpPr>
            <p:cNvPr id="263" name="Rectangle 89"/>
            <p:cNvSpPr>
              <a:spLocks noChangeArrowheads="1"/>
            </p:cNvSpPr>
            <p:nvPr/>
          </p:nvSpPr>
          <p:spPr bwMode="auto">
            <a:xfrm>
              <a:off x="58880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64" name="Rectangle 90"/>
            <p:cNvSpPr>
              <a:spLocks noChangeArrowheads="1"/>
            </p:cNvSpPr>
            <p:nvPr/>
          </p:nvSpPr>
          <p:spPr bwMode="auto">
            <a:xfrm>
              <a:off x="526891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16</a:t>
              </a:r>
            </a:p>
          </p:txBody>
        </p:sp>
        <p:sp>
          <p:nvSpPr>
            <p:cNvPr id="265" name="Rectangle 91"/>
            <p:cNvSpPr>
              <a:spLocks noChangeArrowheads="1"/>
            </p:cNvSpPr>
            <p:nvPr/>
          </p:nvSpPr>
          <p:spPr bwMode="auto">
            <a:xfrm>
              <a:off x="464820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D</a:t>
              </a:r>
            </a:p>
          </p:txBody>
        </p:sp>
        <p:sp>
          <p:nvSpPr>
            <p:cNvPr id="266" name="Rectangle 99"/>
            <p:cNvSpPr>
              <a:spLocks noChangeArrowheads="1"/>
            </p:cNvSpPr>
            <p:nvPr/>
          </p:nvSpPr>
          <p:spPr bwMode="auto">
            <a:xfrm>
              <a:off x="83708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67" name="Rectangle 100"/>
            <p:cNvSpPr>
              <a:spLocks noChangeArrowheads="1"/>
            </p:cNvSpPr>
            <p:nvPr/>
          </p:nvSpPr>
          <p:spPr bwMode="auto">
            <a:xfrm>
              <a:off x="77517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68" name="Rectangle 101"/>
            <p:cNvSpPr>
              <a:spLocks noChangeArrowheads="1"/>
            </p:cNvSpPr>
            <p:nvPr/>
          </p:nvSpPr>
          <p:spPr bwMode="auto">
            <a:xfrm>
              <a:off x="71310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69" name="Rectangle 102"/>
            <p:cNvSpPr>
              <a:spLocks noChangeArrowheads="1"/>
            </p:cNvSpPr>
            <p:nvPr/>
          </p:nvSpPr>
          <p:spPr bwMode="auto">
            <a:xfrm>
              <a:off x="65087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70" name="Rectangle 103"/>
            <p:cNvSpPr>
              <a:spLocks noChangeArrowheads="1"/>
            </p:cNvSpPr>
            <p:nvPr/>
          </p:nvSpPr>
          <p:spPr bwMode="auto">
            <a:xfrm>
              <a:off x="58880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271" name="Rectangle 104"/>
            <p:cNvSpPr>
              <a:spLocks noChangeArrowheads="1"/>
            </p:cNvSpPr>
            <p:nvPr/>
          </p:nvSpPr>
          <p:spPr bwMode="auto">
            <a:xfrm>
              <a:off x="52689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12</a:t>
              </a:r>
            </a:p>
          </p:txBody>
        </p:sp>
        <p:sp>
          <p:nvSpPr>
            <p:cNvPr id="272" name="Rectangle 105"/>
            <p:cNvSpPr>
              <a:spLocks noChangeArrowheads="1"/>
            </p:cNvSpPr>
            <p:nvPr/>
          </p:nvSpPr>
          <p:spPr bwMode="auto">
            <a:xfrm>
              <a:off x="464820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C</a:t>
              </a:r>
            </a:p>
          </p:txBody>
        </p:sp>
        <p:sp>
          <p:nvSpPr>
            <p:cNvPr id="273" name="Rectangle 113"/>
            <p:cNvSpPr>
              <a:spLocks noChangeArrowheads="1"/>
            </p:cNvSpPr>
            <p:nvPr/>
          </p:nvSpPr>
          <p:spPr bwMode="auto">
            <a:xfrm>
              <a:off x="83708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74" name="Rectangle 114"/>
            <p:cNvSpPr>
              <a:spLocks noChangeArrowheads="1"/>
            </p:cNvSpPr>
            <p:nvPr/>
          </p:nvSpPr>
          <p:spPr bwMode="auto">
            <a:xfrm>
              <a:off x="77517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75" name="Rectangle 115"/>
            <p:cNvSpPr>
              <a:spLocks noChangeArrowheads="1"/>
            </p:cNvSpPr>
            <p:nvPr/>
          </p:nvSpPr>
          <p:spPr bwMode="auto">
            <a:xfrm>
              <a:off x="71310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76" name="Rectangle 116"/>
            <p:cNvSpPr>
              <a:spLocks noChangeArrowheads="1"/>
            </p:cNvSpPr>
            <p:nvPr/>
          </p:nvSpPr>
          <p:spPr bwMode="auto">
            <a:xfrm>
              <a:off x="65087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77" name="Rectangle 117"/>
            <p:cNvSpPr>
              <a:spLocks noChangeArrowheads="1"/>
            </p:cNvSpPr>
            <p:nvPr/>
          </p:nvSpPr>
          <p:spPr bwMode="auto">
            <a:xfrm>
              <a:off x="58880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278" name="Rectangle 118"/>
            <p:cNvSpPr>
              <a:spLocks noChangeArrowheads="1"/>
            </p:cNvSpPr>
            <p:nvPr/>
          </p:nvSpPr>
          <p:spPr bwMode="auto">
            <a:xfrm>
              <a:off x="52689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0B</a:t>
              </a:r>
            </a:p>
          </p:txBody>
        </p:sp>
        <p:sp>
          <p:nvSpPr>
            <p:cNvPr id="279" name="Rectangle 119"/>
            <p:cNvSpPr>
              <a:spLocks noChangeArrowheads="1"/>
            </p:cNvSpPr>
            <p:nvPr/>
          </p:nvSpPr>
          <p:spPr bwMode="auto">
            <a:xfrm>
              <a:off x="464820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B</a:t>
              </a:r>
            </a:p>
          </p:txBody>
        </p:sp>
        <p:sp>
          <p:nvSpPr>
            <p:cNvPr id="280" name="Rectangle 127"/>
            <p:cNvSpPr>
              <a:spLocks noChangeArrowheads="1"/>
            </p:cNvSpPr>
            <p:nvPr/>
          </p:nvSpPr>
          <p:spPr bwMode="auto">
            <a:xfrm>
              <a:off x="83708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3B</a:t>
              </a:r>
            </a:p>
          </p:txBody>
        </p:sp>
        <p:sp>
          <p:nvSpPr>
            <p:cNvPr id="281" name="Rectangle 128"/>
            <p:cNvSpPr>
              <a:spLocks noChangeArrowheads="1"/>
            </p:cNvSpPr>
            <p:nvPr/>
          </p:nvSpPr>
          <p:spPr bwMode="auto">
            <a:xfrm>
              <a:off x="77517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DA</a:t>
              </a:r>
            </a:p>
          </p:txBody>
        </p:sp>
        <p:sp>
          <p:nvSpPr>
            <p:cNvPr id="282" name="Rectangle 129"/>
            <p:cNvSpPr>
              <a:spLocks noChangeArrowheads="1"/>
            </p:cNvSpPr>
            <p:nvPr/>
          </p:nvSpPr>
          <p:spPr bwMode="auto">
            <a:xfrm>
              <a:off x="713105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283" name="Rectangle 130"/>
            <p:cNvSpPr>
              <a:spLocks noChangeArrowheads="1"/>
            </p:cNvSpPr>
            <p:nvPr/>
          </p:nvSpPr>
          <p:spPr bwMode="auto">
            <a:xfrm>
              <a:off x="65087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93</a:t>
              </a:r>
            </a:p>
          </p:txBody>
        </p:sp>
        <p:sp>
          <p:nvSpPr>
            <p:cNvPr id="284" name="Rectangle 131"/>
            <p:cNvSpPr>
              <a:spLocks noChangeArrowheads="1"/>
            </p:cNvSpPr>
            <p:nvPr/>
          </p:nvSpPr>
          <p:spPr bwMode="auto">
            <a:xfrm>
              <a:off x="58880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85" name="Rectangle 132"/>
            <p:cNvSpPr>
              <a:spLocks noChangeArrowheads="1"/>
            </p:cNvSpPr>
            <p:nvPr/>
          </p:nvSpPr>
          <p:spPr bwMode="auto">
            <a:xfrm>
              <a:off x="526891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286" name="Rectangle 133"/>
            <p:cNvSpPr>
              <a:spLocks noChangeArrowheads="1"/>
            </p:cNvSpPr>
            <p:nvPr/>
          </p:nvSpPr>
          <p:spPr bwMode="auto">
            <a:xfrm>
              <a:off x="464820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A</a:t>
              </a:r>
            </a:p>
          </p:txBody>
        </p:sp>
        <p:sp>
          <p:nvSpPr>
            <p:cNvPr id="287" name="Rectangle 141"/>
            <p:cNvSpPr>
              <a:spLocks noChangeArrowheads="1"/>
            </p:cNvSpPr>
            <p:nvPr/>
          </p:nvSpPr>
          <p:spPr bwMode="auto">
            <a:xfrm>
              <a:off x="83708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88" name="Rectangle 142"/>
            <p:cNvSpPr>
              <a:spLocks noChangeArrowheads="1"/>
            </p:cNvSpPr>
            <p:nvPr/>
          </p:nvSpPr>
          <p:spPr bwMode="auto">
            <a:xfrm>
              <a:off x="77517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89" name="Rectangle 143"/>
            <p:cNvSpPr>
              <a:spLocks noChangeArrowheads="1"/>
            </p:cNvSpPr>
            <p:nvPr/>
          </p:nvSpPr>
          <p:spPr bwMode="auto">
            <a:xfrm>
              <a:off x="71310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90" name="Rectangle 144"/>
            <p:cNvSpPr>
              <a:spLocks noChangeArrowheads="1"/>
            </p:cNvSpPr>
            <p:nvPr/>
          </p:nvSpPr>
          <p:spPr bwMode="auto">
            <a:xfrm>
              <a:off x="65087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–</a:t>
              </a:r>
            </a:p>
          </p:txBody>
        </p:sp>
        <p:sp>
          <p:nvSpPr>
            <p:cNvPr id="291" name="Rectangle 145"/>
            <p:cNvSpPr>
              <a:spLocks noChangeArrowheads="1"/>
            </p:cNvSpPr>
            <p:nvPr/>
          </p:nvSpPr>
          <p:spPr bwMode="auto">
            <a:xfrm>
              <a:off x="58880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292" name="Rectangle 146"/>
            <p:cNvSpPr>
              <a:spLocks noChangeArrowheads="1"/>
            </p:cNvSpPr>
            <p:nvPr/>
          </p:nvSpPr>
          <p:spPr bwMode="auto">
            <a:xfrm>
              <a:off x="52689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2D</a:t>
              </a:r>
            </a:p>
          </p:txBody>
        </p:sp>
        <p:sp>
          <p:nvSpPr>
            <p:cNvPr id="293" name="Rectangle 147"/>
            <p:cNvSpPr>
              <a:spLocks noChangeArrowheads="1"/>
            </p:cNvSpPr>
            <p:nvPr/>
          </p:nvSpPr>
          <p:spPr bwMode="auto">
            <a:xfrm>
              <a:off x="464820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9</a:t>
              </a:r>
            </a:p>
          </p:txBody>
        </p:sp>
        <p:sp>
          <p:nvSpPr>
            <p:cNvPr id="294" name="Rectangle 155"/>
            <p:cNvSpPr>
              <a:spLocks noChangeArrowheads="1"/>
            </p:cNvSpPr>
            <p:nvPr/>
          </p:nvSpPr>
          <p:spPr bwMode="auto">
            <a:xfrm>
              <a:off x="83708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89</a:t>
              </a:r>
            </a:p>
          </p:txBody>
        </p:sp>
        <p:sp>
          <p:nvSpPr>
            <p:cNvPr id="295" name="Rectangle 156"/>
            <p:cNvSpPr>
              <a:spLocks noChangeArrowheads="1"/>
            </p:cNvSpPr>
            <p:nvPr/>
          </p:nvSpPr>
          <p:spPr bwMode="auto">
            <a:xfrm>
              <a:off x="77517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51</a:t>
              </a:r>
            </a:p>
          </p:txBody>
        </p:sp>
        <p:sp>
          <p:nvSpPr>
            <p:cNvPr id="296" name="Rectangle 157"/>
            <p:cNvSpPr>
              <a:spLocks noChangeArrowheads="1"/>
            </p:cNvSpPr>
            <p:nvPr/>
          </p:nvSpPr>
          <p:spPr bwMode="auto">
            <a:xfrm>
              <a:off x="71310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00</a:t>
              </a:r>
            </a:p>
          </p:txBody>
        </p:sp>
        <p:sp>
          <p:nvSpPr>
            <p:cNvPr id="297" name="Rectangle 158"/>
            <p:cNvSpPr>
              <a:spLocks noChangeArrowheads="1"/>
            </p:cNvSpPr>
            <p:nvPr/>
          </p:nvSpPr>
          <p:spPr bwMode="auto">
            <a:xfrm>
              <a:off x="65087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3A</a:t>
              </a:r>
            </a:p>
          </p:txBody>
        </p:sp>
        <p:sp>
          <p:nvSpPr>
            <p:cNvPr id="298" name="Rectangle 159"/>
            <p:cNvSpPr>
              <a:spLocks noChangeArrowheads="1"/>
            </p:cNvSpPr>
            <p:nvPr/>
          </p:nvSpPr>
          <p:spPr bwMode="auto">
            <a:xfrm>
              <a:off x="58880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99" name="Rectangle 160"/>
            <p:cNvSpPr>
              <a:spLocks noChangeArrowheads="1"/>
            </p:cNvSpPr>
            <p:nvPr/>
          </p:nvSpPr>
          <p:spPr bwMode="auto">
            <a:xfrm>
              <a:off x="52689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24</a:t>
              </a:r>
            </a:p>
          </p:txBody>
        </p:sp>
        <p:sp>
          <p:nvSpPr>
            <p:cNvPr id="300" name="Rectangle 161"/>
            <p:cNvSpPr>
              <a:spLocks noChangeArrowheads="1"/>
            </p:cNvSpPr>
            <p:nvPr/>
          </p:nvSpPr>
          <p:spPr bwMode="auto">
            <a:xfrm>
              <a:off x="464820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rgbClr val="990000"/>
                  </a:solidFill>
                  <a:latin typeface="Calibri" pitchFamily="34" charset="0"/>
                </a:rPr>
                <a:t>8</a:t>
              </a:r>
            </a:p>
          </p:txBody>
        </p:sp>
        <p:sp>
          <p:nvSpPr>
            <p:cNvPr id="301" name="Rectangle 169"/>
            <p:cNvSpPr>
              <a:spLocks noChangeArrowheads="1"/>
            </p:cNvSpPr>
            <p:nvPr/>
          </p:nvSpPr>
          <p:spPr bwMode="auto">
            <a:xfrm>
              <a:off x="837088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</a:p>
          </p:txBody>
        </p:sp>
        <p:sp>
          <p:nvSpPr>
            <p:cNvPr id="302" name="Rectangle 170"/>
            <p:cNvSpPr>
              <a:spLocks noChangeArrowheads="1"/>
            </p:cNvSpPr>
            <p:nvPr/>
          </p:nvSpPr>
          <p:spPr bwMode="auto">
            <a:xfrm>
              <a:off x="775176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</a:p>
          </p:txBody>
        </p:sp>
        <p:sp>
          <p:nvSpPr>
            <p:cNvPr id="303" name="Rectangle 171"/>
            <p:cNvSpPr>
              <a:spLocks noChangeArrowheads="1"/>
            </p:cNvSpPr>
            <p:nvPr/>
          </p:nvSpPr>
          <p:spPr bwMode="auto">
            <a:xfrm>
              <a:off x="713105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</a:p>
          </p:txBody>
        </p:sp>
        <p:sp>
          <p:nvSpPr>
            <p:cNvPr id="304" name="Rectangle 172"/>
            <p:cNvSpPr>
              <a:spLocks noChangeArrowheads="1"/>
            </p:cNvSpPr>
            <p:nvPr/>
          </p:nvSpPr>
          <p:spPr bwMode="auto">
            <a:xfrm>
              <a:off x="6508750" y="4076700"/>
              <a:ext cx="622300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</a:p>
          </p:txBody>
        </p:sp>
        <p:sp>
          <p:nvSpPr>
            <p:cNvPr id="305" name="Rectangle 173"/>
            <p:cNvSpPr>
              <a:spLocks noChangeArrowheads="1"/>
            </p:cNvSpPr>
            <p:nvPr/>
          </p:nvSpPr>
          <p:spPr bwMode="auto">
            <a:xfrm>
              <a:off x="5888038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</a:p>
          </p:txBody>
        </p:sp>
        <p:sp>
          <p:nvSpPr>
            <p:cNvPr id="306" name="Rectangle 174"/>
            <p:cNvSpPr>
              <a:spLocks noChangeArrowheads="1"/>
            </p:cNvSpPr>
            <p:nvPr/>
          </p:nvSpPr>
          <p:spPr bwMode="auto">
            <a:xfrm>
              <a:off x="5268913" y="4076700"/>
              <a:ext cx="619125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</a:p>
          </p:txBody>
        </p:sp>
        <p:sp>
          <p:nvSpPr>
            <p:cNvPr id="307" name="Rectangle 175"/>
            <p:cNvSpPr>
              <a:spLocks noChangeArrowheads="1"/>
            </p:cNvSpPr>
            <p:nvPr/>
          </p:nvSpPr>
          <p:spPr bwMode="auto">
            <a:xfrm>
              <a:off x="4648200" y="4076700"/>
              <a:ext cx="620713" cy="28098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lIns="90360" tIns="44280" rIns="90360" bIns="44280"/>
            <a:lstStyle/>
            <a:p>
              <a:pPr algn="ctr" eaLnBrk="1" hangingPunct="1">
                <a:spcBef>
                  <a:spcPts val="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40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08" name="Line 183"/>
            <p:cNvSpPr>
              <a:spLocks noChangeShapeType="1"/>
            </p:cNvSpPr>
            <p:nvPr/>
          </p:nvSpPr>
          <p:spPr bwMode="auto">
            <a:xfrm>
              <a:off x="4666488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309" name="Line 184"/>
            <p:cNvSpPr>
              <a:spLocks noChangeShapeType="1"/>
            </p:cNvSpPr>
            <p:nvPr/>
          </p:nvSpPr>
          <p:spPr bwMode="auto">
            <a:xfrm>
              <a:off x="4666488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Line 185"/>
            <p:cNvSpPr>
              <a:spLocks noChangeShapeType="1"/>
            </p:cNvSpPr>
            <p:nvPr/>
          </p:nvSpPr>
          <p:spPr bwMode="auto">
            <a:xfrm>
              <a:off x="4666488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Line 186"/>
            <p:cNvSpPr>
              <a:spLocks noChangeShapeType="1"/>
            </p:cNvSpPr>
            <p:nvPr/>
          </p:nvSpPr>
          <p:spPr bwMode="auto">
            <a:xfrm>
              <a:off x="4666488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Line 187"/>
            <p:cNvSpPr>
              <a:spLocks noChangeShapeType="1"/>
            </p:cNvSpPr>
            <p:nvPr/>
          </p:nvSpPr>
          <p:spPr bwMode="auto">
            <a:xfrm>
              <a:off x="4666488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Line 188"/>
            <p:cNvSpPr>
              <a:spLocks noChangeShapeType="1"/>
            </p:cNvSpPr>
            <p:nvPr/>
          </p:nvSpPr>
          <p:spPr bwMode="auto">
            <a:xfrm>
              <a:off x="4666488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Line 189"/>
            <p:cNvSpPr>
              <a:spLocks noChangeShapeType="1"/>
            </p:cNvSpPr>
            <p:nvPr/>
          </p:nvSpPr>
          <p:spPr bwMode="auto">
            <a:xfrm>
              <a:off x="4666488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Line 190"/>
            <p:cNvSpPr>
              <a:spLocks noChangeShapeType="1"/>
            </p:cNvSpPr>
            <p:nvPr/>
          </p:nvSpPr>
          <p:spPr bwMode="auto">
            <a:xfrm>
              <a:off x="4666488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Line 197"/>
            <p:cNvSpPr>
              <a:spLocks noChangeShapeType="1"/>
            </p:cNvSpPr>
            <p:nvPr/>
          </p:nvSpPr>
          <p:spPr bwMode="auto">
            <a:xfrm>
              <a:off x="52689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Line 198"/>
            <p:cNvSpPr>
              <a:spLocks noChangeShapeType="1"/>
            </p:cNvSpPr>
            <p:nvPr/>
          </p:nvSpPr>
          <p:spPr bwMode="auto">
            <a:xfrm>
              <a:off x="58880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Line 199"/>
            <p:cNvSpPr>
              <a:spLocks noChangeShapeType="1"/>
            </p:cNvSpPr>
            <p:nvPr/>
          </p:nvSpPr>
          <p:spPr bwMode="auto">
            <a:xfrm>
              <a:off x="65087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Line 200"/>
            <p:cNvSpPr>
              <a:spLocks noChangeShapeType="1"/>
            </p:cNvSpPr>
            <p:nvPr/>
          </p:nvSpPr>
          <p:spPr bwMode="auto">
            <a:xfrm>
              <a:off x="71310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Line 201"/>
            <p:cNvSpPr>
              <a:spLocks noChangeShapeType="1"/>
            </p:cNvSpPr>
            <p:nvPr/>
          </p:nvSpPr>
          <p:spPr bwMode="auto">
            <a:xfrm>
              <a:off x="77517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Line 202"/>
            <p:cNvSpPr>
              <a:spLocks noChangeShapeType="1"/>
            </p:cNvSpPr>
            <p:nvPr/>
          </p:nvSpPr>
          <p:spPr bwMode="auto">
            <a:xfrm>
              <a:off x="83708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Line 205"/>
            <p:cNvSpPr>
              <a:spLocks noChangeShapeType="1"/>
            </p:cNvSpPr>
            <p:nvPr/>
          </p:nvSpPr>
          <p:spPr bwMode="auto">
            <a:xfrm>
              <a:off x="4666488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 i="1">
                <a:solidFill>
                  <a:srgbClr val="990000"/>
                </a:solidFill>
              </a:endParaRPr>
            </a:p>
          </p:txBody>
        </p:sp>
        <p:sp>
          <p:nvSpPr>
            <p:cNvPr id="323" name="Line 206"/>
            <p:cNvSpPr>
              <a:spLocks noChangeShapeType="1"/>
            </p:cNvSpPr>
            <p:nvPr/>
          </p:nvSpPr>
          <p:spPr bwMode="auto">
            <a:xfrm>
              <a:off x="8991601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Line 207"/>
            <p:cNvSpPr>
              <a:spLocks noChangeShapeType="1"/>
            </p:cNvSpPr>
            <p:nvPr/>
          </p:nvSpPr>
          <p:spPr bwMode="auto">
            <a:xfrm>
              <a:off x="4666488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Line 206"/>
            <p:cNvSpPr>
              <a:spLocks noChangeShapeType="1"/>
            </p:cNvSpPr>
            <p:nvPr/>
          </p:nvSpPr>
          <p:spPr bwMode="auto">
            <a:xfrm>
              <a:off x="4648200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699733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50" grpId="0" animBg="1"/>
      <p:bldP spid="37951" grpId="0"/>
      <p:bldP spid="37953" grpId="0" animBg="1"/>
      <p:bldP spid="37954" grpId="0"/>
      <p:bldP spid="37956" grpId="0" animBg="1"/>
      <p:bldP spid="37957" grpId="0"/>
      <p:bldP spid="37959" grpId="0" animBg="1"/>
      <p:bldP spid="37960" grpId="0"/>
      <p:bldP spid="37962" grpId="0" animBg="1"/>
      <p:bldP spid="37963" grpId="0"/>
      <p:bldP spid="37965" grpId="0" animBg="1"/>
      <p:bldP spid="37966" grpId="0"/>
      <p:bldP spid="37968" grpId="0" animBg="1"/>
      <p:bldP spid="37969" grpId="0"/>
      <p:bldP spid="37971" grpId="0" animBg="1"/>
      <p:bldP spid="37972" grpId="0"/>
      <p:bldP spid="37974" grpId="0" animBg="1"/>
      <p:bldP spid="37975" grpId="0"/>
      <p:bldP spid="37977" grpId="0" animBg="1"/>
      <p:bldP spid="37978" grpId="0"/>
      <p:bldP spid="37980" grpId="0" animBg="1"/>
      <p:bldP spid="37981" grpId="0"/>
      <p:bldP spid="37983" grpId="0" animBg="1"/>
      <p:bldP spid="37984" grpId="0"/>
      <p:bldP spid="38016" grpId="0"/>
      <p:bldP spid="38017" grpId="0"/>
      <p:bldP spid="38018" grpId="0"/>
      <p:bldP spid="38019" grpId="0"/>
      <p:bldP spid="38021" grpId="0"/>
      <p:bldP spid="38022" grpId="0"/>
      <p:bldP spid="38037" grpId="0"/>
      <p:bldP spid="38038" grpId="0"/>
      <p:bldP spid="38039" grpId="0"/>
      <p:bldP spid="38041" grpId="0"/>
      <p:bldP spid="38042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7345363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</a:t>
            </a:r>
            <a:r>
              <a:rPr lang="en-GB" dirty="0" smtClean="0"/>
              <a:t>Translation Example</a:t>
            </a:r>
            <a:endParaRPr lang="en-GB" dirty="0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7387" cy="5333999"/>
          </a:xfrm>
          <a:ln/>
        </p:spPr>
        <p:txBody>
          <a:bodyPr/>
          <a:lstStyle/>
          <a:p>
            <a:pPr marL="222250" indent="-222250">
              <a:lnSpc>
                <a:spcPct val="73000"/>
              </a:lnSpc>
              <a:buSzPct val="100000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>
                <a:effectLst/>
              </a:rPr>
              <a:t>Virtual </a:t>
            </a:r>
            <a:r>
              <a:rPr lang="en-GB" dirty="0" smtClean="0">
                <a:effectLst/>
              </a:rPr>
              <a:t>Address: </a:t>
            </a:r>
            <a:r>
              <a:rPr lang="en-GB" dirty="0" smtClean="0">
                <a:latin typeface="Courier New" pitchFamily="49" charset="0"/>
              </a:rPr>
              <a:t>0x0B8F</a:t>
            </a:r>
            <a:endParaRPr lang="en-GB" dirty="0">
              <a:effectLst/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222250" indent="-222250">
              <a:lnSpc>
                <a:spcPct val="80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effectLst/>
              <a:latin typeface="Courier New" pitchFamily="49" charset="0"/>
            </a:endParaRPr>
          </a:p>
          <a:p>
            <a:pPr marL="558800" lvl="1" indent="-220663">
              <a:lnSpc>
                <a:spcPct val="85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>
              <a:latin typeface="Courier New" pitchFamily="49" charset="0"/>
            </a:endParaRP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400" dirty="0" smtClean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 smtClean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 smtClean="0"/>
              <a:t>VPN </a:t>
            </a:r>
            <a:r>
              <a:rPr lang="en-GB" sz="1600" dirty="0"/>
              <a:t>___	TLBI ___	TLBT ____	          TLB Hit? __	Page Fault? __        PPN: </a:t>
            </a:r>
            <a:r>
              <a:rPr lang="en-GB" sz="1600" dirty="0" smtClean="0"/>
              <a:t>____</a:t>
            </a:r>
            <a:endParaRPr lang="en-GB" dirty="0" smtClean="0">
              <a:effectLst/>
            </a:endParaRPr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 smtClean="0"/>
          </a:p>
          <a:p>
            <a:pPr marL="222250" indent="-222250">
              <a:lnSpc>
                <a:spcPct val="73000"/>
              </a:lnSpc>
              <a:buSzPct val="100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 smtClean="0">
                <a:effectLst/>
              </a:rPr>
              <a:t>Physical </a:t>
            </a:r>
            <a:r>
              <a:rPr lang="en-GB" dirty="0">
                <a:effectLst/>
              </a:rPr>
              <a:t>Address</a:t>
            </a:r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sz="1600" dirty="0" smtClean="0"/>
              <a:t>	CO </a:t>
            </a:r>
            <a:r>
              <a:rPr lang="en-GB" sz="1600" dirty="0"/>
              <a:t>___	CI___	CT ____	     Hit? __              Byte: ____</a:t>
            </a:r>
          </a:p>
          <a:p>
            <a:pPr marL="558800" lvl="1" indent="-220663">
              <a:lnSpc>
                <a:spcPct val="78000"/>
              </a:lnSpc>
              <a:spcBef>
                <a:spcPts val="500"/>
              </a:spcBef>
              <a:buSzPct val="75000"/>
              <a:buFont typeface="Wingdings" pitchFamily="2" charset="2"/>
              <a:buNone/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sz="1600" dirty="0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108902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10890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57638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15763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2063750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20637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2551112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25511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3038475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7" name="Rectangle 19"/>
          <p:cNvSpPr>
            <a:spLocks noChangeArrowheads="1"/>
          </p:cNvSpPr>
          <p:nvPr/>
        </p:nvSpPr>
        <p:spPr bwMode="auto">
          <a:xfrm>
            <a:off x="30384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09" name="Rectangle 21"/>
          <p:cNvSpPr>
            <a:spLocks noChangeArrowheads="1"/>
          </p:cNvSpPr>
          <p:nvPr/>
        </p:nvSpPr>
        <p:spPr bwMode="auto">
          <a:xfrm>
            <a:off x="3525837" y="2459011"/>
            <a:ext cx="487363" cy="30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0" name="Rectangle 22"/>
          <p:cNvSpPr>
            <a:spLocks noChangeArrowheads="1"/>
          </p:cNvSpPr>
          <p:nvPr/>
        </p:nvSpPr>
        <p:spPr bwMode="auto">
          <a:xfrm>
            <a:off x="35258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12" name="Rectangle 24"/>
          <p:cNvSpPr>
            <a:spLocks noChangeArrowheads="1"/>
          </p:cNvSpPr>
          <p:nvPr/>
        </p:nvSpPr>
        <p:spPr bwMode="auto">
          <a:xfrm>
            <a:off x="4013200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3" name="Rectangle 25"/>
          <p:cNvSpPr>
            <a:spLocks noChangeArrowheads="1"/>
          </p:cNvSpPr>
          <p:nvPr/>
        </p:nvSpPr>
        <p:spPr bwMode="auto">
          <a:xfrm>
            <a:off x="401320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15" name="Rectangle 27"/>
          <p:cNvSpPr>
            <a:spLocks noChangeArrowheads="1"/>
          </p:cNvSpPr>
          <p:nvPr/>
        </p:nvSpPr>
        <p:spPr bwMode="auto">
          <a:xfrm>
            <a:off x="4500562" y="2459011"/>
            <a:ext cx="487363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6" name="Rectangle 28"/>
          <p:cNvSpPr>
            <a:spLocks noChangeArrowheads="1"/>
          </p:cNvSpPr>
          <p:nvPr/>
        </p:nvSpPr>
        <p:spPr bwMode="auto">
          <a:xfrm>
            <a:off x="450056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18" name="Rectangle 30"/>
          <p:cNvSpPr>
            <a:spLocks noChangeArrowheads="1"/>
          </p:cNvSpPr>
          <p:nvPr/>
        </p:nvSpPr>
        <p:spPr bwMode="auto">
          <a:xfrm>
            <a:off x="498792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9" name="Rectangle 31"/>
          <p:cNvSpPr>
            <a:spLocks noChangeArrowheads="1"/>
          </p:cNvSpPr>
          <p:nvPr/>
        </p:nvSpPr>
        <p:spPr bwMode="auto">
          <a:xfrm>
            <a:off x="498792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21" name="Rectangle 33"/>
          <p:cNvSpPr>
            <a:spLocks noChangeArrowheads="1"/>
          </p:cNvSpPr>
          <p:nvPr/>
        </p:nvSpPr>
        <p:spPr bwMode="auto">
          <a:xfrm>
            <a:off x="547528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2" name="Rectangle 34"/>
          <p:cNvSpPr>
            <a:spLocks noChangeArrowheads="1"/>
          </p:cNvSpPr>
          <p:nvPr/>
        </p:nvSpPr>
        <p:spPr bwMode="auto">
          <a:xfrm>
            <a:off x="547528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24" name="Rectangle 36"/>
          <p:cNvSpPr>
            <a:spLocks noChangeArrowheads="1"/>
          </p:cNvSpPr>
          <p:nvPr/>
        </p:nvSpPr>
        <p:spPr bwMode="auto">
          <a:xfrm>
            <a:off x="5962650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5" name="Rectangle 37"/>
          <p:cNvSpPr>
            <a:spLocks noChangeArrowheads="1"/>
          </p:cNvSpPr>
          <p:nvPr/>
        </p:nvSpPr>
        <p:spPr bwMode="auto">
          <a:xfrm>
            <a:off x="5962650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27" name="Rectangle 39"/>
          <p:cNvSpPr>
            <a:spLocks noChangeArrowheads="1"/>
          </p:cNvSpPr>
          <p:nvPr/>
        </p:nvSpPr>
        <p:spPr bwMode="auto">
          <a:xfrm>
            <a:off x="6450012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8" name="Rectangle 40"/>
          <p:cNvSpPr>
            <a:spLocks noChangeArrowheads="1"/>
          </p:cNvSpPr>
          <p:nvPr/>
        </p:nvSpPr>
        <p:spPr bwMode="auto">
          <a:xfrm>
            <a:off x="6450012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30" name="Rectangle 42"/>
          <p:cNvSpPr>
            <a:spLocks noChangeArrowheads="1"/>
          </p:cNvSpPr>
          <p:nvPr/>
        </p:nvSpPr>
        <p:spPr bwMode="auto">
          <a:xfrm>
            <a:off x="6937375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1" name="Rectangle 43"/>
          <p:cNvSpPr>
            <a:spLocks noChangeArrowheads="1"/>
          </p:cNvSpPr>
          <p:nvPr/>
        </p:nvSpPr>
        <p:spPr bwMode="auto">
          <a:xfrm>
            <a:off x="6937375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33" name="Rectangle 45"/>
          <p:cNvSpPr>
            <a:spLocks noChangeArrowheads="1"/>
          </p:cNvSpPr>
          <p:nvPr/>
        </p:nvSpPr>
        <p:spPr bwMode="auto">
          <a:xfrm>
            <a:off x="7424737" y="2459011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34" name="Rectangle 46"/>
          <p:cNvSpPr>
            <a:spLocks noChangeArrowheads="1"/>
          </p:cNvSpPr>
          <p:nvPr/>
        </p:nvSpPr>
        <p:spPr bwMode="auto">
          <a:xfrm>
            <a:off x="7424737" y="2154211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987924" y="2924149"/>
            <a:ext cx="2924175" cy="333375"/>
            <a:chOff x="3085" y="1661"/>
            <a:chExt cx="1842" cy="210"/>
          </a:xfrm>
        </p:grpSpPr>
        <p:sp>
          <p:nvSpPr>
            <p:cNvPr id="37936" name="Line 48"/>
            <p:cNvSpPr>
              <a:spLocks noChangeShapeType="1"/>
            </p:cNvSpPr>
            <p:nvPr/>
          </p:nvSpPr>
          <p:spPr bwMode="auto">
            <a:xfrm>
              <a:off x="3085" y="1752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37" name="Text Box 49"/>
            <p:cNvSpPr txBox="1">
              <a:spLocks noChangeArrowheads="1"/>
            </p:cNvSpPr>
            <p:nvPr/>
          </p:nvSpPr>
          <p:spPr bwMode="auto">
            <a:xfrm>
              <a:off x="3792" y="1661"/>
              <a:ext cx="37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VPO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1089025" y="2916211"/>
            <a:ext cx="3916362" cy="333375"/>
            <a:chOff x="629" y="1656"/>
            <a:chExt cx="2467" cy="210"/>
          </a:xfrm>
        </p:grpSpPr>
        <p:sp>
          <p:nvSpPr>
            <p:cNvPr id="37939" name="Line 51"/>
            <p:cNvSpPr>
              <a:spLocks noChangeShapeType="1"/>
            </p:cNvSpPr>
            <p:nvPr/>
          </p:nvSpPr>
          <p:spPr bwMode="auto">
            <a:xfrm>
              <a:off x="629" y="1747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40" name="Text Box 52"/>
            <p:cNvSpPr txBox="1">
              <a:spLocks noChangeArrowheads="1"/>
            </p:cNvSpPr>
            <p:nvPr/>
          </p:nvSpPr>
          <p:spPr bwMode="auto">
            <a:xfrm>
              <a:off x="1577" y="1656"/>
              <a:ext cx="374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VPN</a:t>
              </a:r>
            </a:p>
          </p:txBody>
        </p:sp>
      </p:grpSp>
      <p:sp>
        <p:nvSpPr>
          <p:cNvPr id="37942" name="Line 54"/>
          <p:cNvSpPr>
            <a:spLocks noChangeShapeType="1"/>
          </p:cNvSpPr>
          <p:nvPr/>
        </p:nvSpPr>
        <p:spPr bwMode="auto">
          <a:xfrm>
            <a:off x="4010025" y="2015040"/>
            <a:ext cx="992187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3" name="Text Box 55"/>
          <p:cNvSpPr txBox="1">
            <a:spLocks noChangeArrowheads="1"/>
          </p:cNvSpPr>
          <p:nvPr/>
        </p:nvSpPr>
        <p:spPr bwMode="auto">
          <a:xfrm>
            <a:off x="4233862" y="1891215"/>
            <a:ext cx="539750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TLBI</a:t>
            </a:r>
          </a:p>
        </p:txBody>
      </p:sp>
      <p:sp>
        <p:nvSpPr>
          <p:cNvPr id="37945" name="Line 57"/>
          <p:cNvSpPr>
            <a:spLocks noChangeShapeType="1"/>
          </p:cNvSpPr>
          <p:nvPr/>
        </p:nvSpPr>
        <p:spPr bwMode="auto">
          <a:xfrm>
            <a:off x="1089025" y="2011336"/>
            <a:ext cx="2927350" cy="1588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946" name="Text Box 58"/>
          <p:cNvSpPr txBox="1">
            <a:spLocks noChangeArrowheads="1"/>
          </p:cNvSpPr>
          <p:nvPr/>
        </p:nvSpPr>
        <p:spPr bwMode="auto">
          <a:xfrm>
            <a:off x="2332038" y="1887511"/>
            <a:ext cx="582613" cy="306388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</a:rPr>
              <a:t>TLBT</a:t>
            </a:r>
          </a:p>
        </p:txBody>
      </p:sp>
      <p:sp>
        <p:nvSpPr>
          <p:cNvPr id="37950" name="Rectangle 62"/>
          <p:cNvSpPr>
            <a:spLocks noChangeArrowheads="1"/>
          </p:cNvSpPr>
          <p:nvPr/>
        </p:nvSpPr>
        <p:spPr bwMode="auto">
          <a:xfrm>
            <a:off x="207168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1" name="Rectangle 63"/>
          <p:cNvSpPr>
            <a:spLocks noChangeArrowheads="1"/>
          </p:cNvSpPr>
          <p:nvPr/>
        </p:nvSpPr>
        <p:spPr bwMode="auto">
          <a:xfrm>
            <a:off x="20716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953" name="Rectangle 65"/>
          <p:cNvSpPr>
            <a:spLocks noChangeArrowheads="1"/>
          </p:cNvSpPr>
          <p:nvPr/>
        </p:nvSpPr>
        <p:spPr bwMode="auto">
          <a:xfrm>
            <a:off x="255905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4" name="Rectangle 66"/>
          <p:cNvSpPr>
            <a:spLocks noChangeArrowheads="1"/>
          </p:cNvSpPr>
          <p:nvPr/>
        </p:nvSpPr>
        <p:spPr bwMode="auto">
          <a:xfrm>
            <a:off x="25590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7956" name="Rectangle 68"/>
          <p:cNvSpPr>
            <a:spLocks noChangeArrowheads="1"/>
          </p:cNvSpPr>
          <p:nvPr/>
        </p:nvSpPr>
        <p:spPr bwMode="auto">
          <a:xfrm>
            <a:off x="3046412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57" name="Rectangle 69"/>
          <p:cNvSpPr>
            <a:spLocks noChangeArrowheads="1"/>
          </p:cNvSpPr>
          <p:nvPr/>
        </p:nvSpPr>
        <p:spPr bwMode="auto">
          <a:xfrm>
            <a:off x="30464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37959" name="Rectangle 71"/>
          <p:cNvSpPr>
            <a:spLocks noChangeArrowheads="1"/>
          </p:cNvSpPr>
          <p:nvPr/>
        </p:nvSpPr>
        <p:spPr bwMode="auto">
          <a:xfrm>
            <a:off x="3533775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0" name="Rectangle 72"/>
          <p:cNvSpPr>
            <a:spLocks noChangeArrowheads="1"/>
          </p:cNvSpPr>
          <p:nvPr/>
        </p:nvSpPr>
        <p:spPr bwMode="auto">
          <a:xfrm>
            <a:off x="35337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37962" name="Rectangle 74"/>
          <p:cNvSpPr>
            <a:spLocks noChangeArrowheads="1"/>
          </p:cNvSpPr>
          <p:nvPr/>
        </p:nvSpPr>
        <p:spPr bwMode="auto">
          <a:xfrm>
            <a:off x="4021137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3" name="Rectangle 75"/>
          <p:cNvSpPr>
            <a:spLocks noChangeArrowheads="1"/>
          </p:cNvSpPr>
          <p:nvPr/>
        </p:nvSpPr>
        <p:spPr bwMode="auto">
          <a:xfrm>
            <a:off x="402113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37965" name="Rectangle 77"/>
          <p:cNvSpPr>
            <a:spLocks noChangeArrowheads="1"/>
          </p:cNvSpPr>
          <p:nvPr/>
        </p:nvSpPr>
        <p:spPr bwMode="auto">
          <a:xfrm>
            <a:off x="4508500" y="5175250"/>
            <a:ext cx="487363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6" name="Rectangle 78"/>
          <p:cNvSpPr>
            <a:spLocks noChangeArrowheads="1"/>
          </p:cNvSpPr>
          <p:nvPr/>
        </p:nvSpPr>
        <p:spPr bwMode="auto">
          <a:xfrm>
            <a:off x="450850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37968" name="Rectangle 80"/>
          <p:cNvSpPr>
            <a:spLocks noChangeArrowheads="1"/>
          </p:cNvSpPr>
          <p:nvPr/>
        </p:nvSpPr>
        <p:spPr bwMode="auto">
          <a:xfrm>
            <a:off x="499586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69" name="Rectangle 81"/>
          <p:cNvSpPr>
            <a:spLocks noChangeArrowheads="1"/>
          </p:cNvSpPr>
          <p:nvPr/>
        </p:nvSpPr>
        <p:spPr bwMode="auto">
          <a:xfrm>
            <a:off x="499586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7971" name="Rectangle 83"/>
          <p:cNvSpPr>
            <a:spLocks noChangeArrowheads="1"/>
          </p:cNvSpPr>
          <p:nvPr/>
        </p:nvSpPr>
        <p:spPr bwMode="auto">
          <a:xfrm>
            <a:off x="548322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2" name="Rectangle 84"/>
          <p:cNvSpPr>
            <a:spLocks noChangeArrowheads="1"/>
          </p:cNvSpPr>
          <p:nvPr/>
        </p:nvSpPr>
        <p:spPr bwMode="auto">
          <a:xfrm>
            <a:off x="548322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7974" name="Rectangle 86"/>
          <p:cNvSpPr>
            <a:spLocks noChangeArrowheads="1"/>
          </p:cNvSpPr>
          <p:nvPr/>
        </p:nvSpPr>
        <p:spPr bwMode="auto">
          <a:xfrm>
            <a:off x="5970587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5" name="Rectangle 87"/>
          <p:cNvSpPr>
            <a:spLocks noChangeArrowheads="1"/>
          </p:cNvSpPr>
          <p:nvPr/>
        </p:nvSpPr>
        <p:spPr bwMode="auto">
          <a:xfrm>
            <a:off x="5970587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7977" name="Rectangle 89"/>
          <p:cNvSpPr>
            <a:spLocks noChangeArrowheads="1"/>
          </p:cNvSpPr>
          <p:nvPr/>
        </p:nvSpPr>
        <p:spPr bwMode="auto">
          <a:xfrm>
            <a:off x="6457950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78" name="Rectangle 90"/>
          <p:cNvSpPr>
            <a:spLocks noChangeArrowheads="1"/>
          </p:cNvSpPr>
          <p:nvPr/>
        </p:nvSpPr>
        <p:spPr bwMode="auto">
          <a:xfrm>
            <a:off x="6457950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7980" name="Rectangle 92"/>
          <p:cNvSpPr>
            <a:spLocks noChangeArrowheads="1"/>
          </p:cNvSpPr>
          <p:nvPr/>
        </p:nvSpPr>
        <p:spPr bwMode="auto">
          <a:xfrm>
            <a:off x="6945312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1" name="Rectangle 93"/>
          <p:cNvSpPr>
            <a:spLocks noChangeArrowheads="1"/>
          </p:cNvSpPr>
          <p:nvPr/>
        </p:nvSpPr>
        <p:spPr bwMode="auto">
          <a:xfrm>
            <a:off x="6945312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7983" name="Rectangle 95"/>
          <p:cNvSpPr>
            <a:spLocks noChangeArrowheads="1"/>
          </p:cNvSpPr>
          <p:nvPr/>
        </p:nvSpPr>
        <p:spPr bwMode="auto">
          <a:xfrm>
            <a:off x="7432675" y="5175250"/>
            <a:ext cx="487363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84" name="Rectangle 96"/>
          <p:cNvSpPr>
            <a:spLocks noChangeArrowheads="1"/>
          </p:cNvSpPr>
          <p:nvPr/>
        </p:nvSpPr>
        <p:spPr bwMode="auto">
          <a:xfrm>
            <a:off x="7432675" y="4870450"/>
            <a:ext cx="4873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</a:rPr>
              <a:t>0</a:t>
            </a:r>
          </a:p>
        </p:txBody>
      </p:sp>
      <p:grpSp>
        <p:nvGrpSpPr>
          <p:cNvPr id="4" name="Group 97"/>
          <p:cNvGrpSpPr>
            <a:grpSpLocks/>
          </p:cNvGrpSpPr>
          <p:nvPr/>
        </p:nvGrpSpPr>
        <p:grpSpPr bwMode="auto">
          <a:xfrm>
            <a:off x="5004858" y="5564717"/>
            <a:ext cx="2924175" cy="333375"/>
            <a:chOff x="3101" y="3292"/>
            <a:chExt cx="1842" cy="210"/>
          </a:xfrm>
        </p:grpSpPr>
        <p:sp>
          <p:nvSpPr>
            <p:cNvPr id="37986" name="Line 98"/>
            <p:cNvSpPr>
              <a:spLocks noChangeShapeType="1"/>
            </p:cNvSpPr>
            <p:nvPr/>
          </p:nvSpPr>
          <p:spPr bwMode="auto">
            <a:xfrm>
              <a:off x="3101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87" name="Text Box 99"/>
            <p:cNvSpPr txBox="1">
              <a:spLocks noChangeArrowheads="1"/>
            </p:cNvSpPr>
            <p:nvPr/>
          </p:nvSpPr>
          <p:spPr bwMode="auto">
            <a:xfrm>
              <a:off x="3808" y="3292"/>
              <a:ext cx="368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PPO</a:t>
              </a:r>
            </a:p>
          </p:txBody>
        </p:sp>
      </p:grpSp>
      <p:grpSp>
        <p:nvGrpSpPr>
          <p:cNvPr id="5" name="Group 100"/>
          <p:cNvGrpSpPr>
            <a:grpSpLocks/>
          </p:cNvGrpSpPr>
          <p:nvPr/>
        </p:nvGrpSpPr>
        <p:grpSpPr bwMode="auto">
          <a:xfrm>
            <a:off x="2092324" y="5556250"/>
            <a:ext cx="2924175" cy="333375"/>
            <a:chOff x="1277" y="3292"/>
            <a:chExt cx="1842" cy="210"/>
          </a:xfrm>
        </p:grpSpPr>
        <p:sp>
          <p:nvSpPr>
            <p:cNvPr id="37989" name="Line 101"/>
            <p:cNvSpPr>
              <a:spLocks noChangeShapeType="1"/>
            </p:cNvSpPr>
            <p:nvPr/>
          </p:nvSpPr>
          <p:spPr bwMode="auto">
            <a:xfrm>
              <a:off x="1277" y="338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0" name="Text Box 102"/>
            <p:cNvSpPr txBox="1">
              <a:spLocks noChangeArrowheads="1"/>
            </p:cNvSpPr>
            <p:nvPr/>
          </p:nvSpPr>
          <p:spPr bwMode="auto">
            <a:xfrm>
              <a:off x="1984" y="3292"/>
              <a:ext cx="366" cy="210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PPN</a:t>
              </a:r>
            </a:p>
          </p:txBody>
        </p:sp>
      </p:grpSp>
      <p:grpSp>
        <p:nvGrpSpPr>
          <p:cNvPr id="6" name="Group 103"/>
          <p:cNvGrpSpPr>
            <a:grpSpLocks/>
          </p:cNvGrpSpPr>
          <p:nvPr/>
        </p:nvGrpSpPr>
        <p:grpSpPr bwMode="auto">
          <a:xfrm>
            <a:off x="6925204" y="4516438"/>
            <a:ext cx="992188" cy="306388"/>
            <a:chOff x="4300" y="2637"/>
            <a:chExt cx="625" cy="193"/>
          </a:xfrm>
        </p:grpSpPr>
        <p:sp>
          <p:nvSpPr>
            <p:cNvPr id="37992" name="Line 104"/>
            <p:cNvSpPr>
              <a:spLocks noChangeShapeType="1"/>
            </p:cNvSpPr>
            <p:nvPr/>
          </p:nvSpPr>
          <p:spPr bwMode="auto">
            <a:xfrm>
              <a:off x="4300" y="2715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3" name="Text Box 105"/>
            <p:cNvSpPr txBox="1">
              <a:spLocks noChangeArrowheads="1"/>
            </p:cNvSpPr>
            <p:nvPr/>
          </p:nvSpPr>
          <p:spPr bwMode="auto">
            <a:xfrm>
              <a:off x="4486" y="2637"/>
              <a:ext cx="271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CO</a:t>
              </a:r>
            </a:p>
          </p:txBody>
        </p:sp>
      </p:grpSp>
      <p:grpSp>
        <p:nvGrpSpPr>
          <p:cNvPr id="7" name="Group 106"/>
          <p:cNvGrpSpPr>
            <a:grpSpLocks/>
          </p:cNvGrpSpPr>
          <p:nvPr/>
        </p:nvGrpSpPr>
        <p:grpSpPr bwMode="auto">
          <a:xfrm>
            <a:off x="4987395" y="4512734"/>
            <a:ext cx="1927225" cy="306388"/>
            <a:chOff x="3090" y="2624"/>
            <a:chExt cx="1214" cy="193"/>
          </a:xfrm>
        </p:grpSpPr>
        <p:sp>
          <p:nvSpPr>
            <p:cNvPr id="37995" name="Line 107"/>
            <p:cNvSpPr>
              <a:spLocks noChangeShapeType="1"/>
            </p:cNvSpPr>
            <p:nvPr/>
          </p:nvSpPr>
          <p:spPr bwMode="auto">
            <a:xfrm>
              <a:off x="3090" y="2702"/>
              <a:ext cx="1214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6" name="Text Box 108"/>
            <p:cNvSpPr txBox="1">
              <a:spLocks noChangeArrowheads="1"/>
            </p:cNvSpPr>
            <p:nvPr/>
          </p:nvSpPr>
          <p:spPr bwMode="auto">
            <a:xfrm>
              <a:off x="3629" y="2624"/>
              <a:ext cx="21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CI</a:t>
              </a:r>
            </a:p>
          </p:txBody>
        </p:sp>
      </p:grpSp>
      <p:grpSp>
        <p:nvGrpSpPr>
          <p:cNvPr id="8" name="Group 109"/>
          <p:cNvGrpSpPr>
            <a:grpSpLocks/>
          </p:cNvGrpSpPr>
          <p:nvPr/>
        </p:nvGrpSpPr>
        <p:grpSpPr bwMode="auto">
          <a:xfrm>
            <a:off x="2071687" y="4516438"/>
            <a:ext cx="2894013" cy="306388"/>
            <a:chOff x="1248" y="2637"/>
            <a:chExt cx="1823" cy="193"/>
          </a:xfrm>
        </p:grpSpPr>
        <p:sp>
          <p:nvSpPr>
            <p:cNvPr id="37998" name="Line 110"/>
            <p:cNvSpPr>
              <a:spLocks noChangeShapeType="1"/>
            </p:cNvSpPr>
            <p:nvPr/>
          </p:nvSpPr>
          <p:spPr bwMode="auto">
            <a:xfrm>
              <a:off x="1248" y="2715"/>
              <a:ext cx="182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99" name="Text Box 111"/>
            <p:cNvSpPr txBox="1">
              <a:spLocks noChangeArrowheads="1"/>
            </p:cNvSpPr>
            <p:nvPr/>
          </p:nvSpPr>
          <p:spPr bwMode="auto">
            <a:xfrm>
              <a:off x="2098" y="2637"/>
              <a:ext cx="248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CT</a:t>
              </a:r>
            </a:p>
          </p:txBody>
        </p:sp>
      </p:grpSp>
      <p:sp>
        <p:nvSpPr>
          <p:cNvPr id="38001" name="Text Box 113"/>
          <p:cNvSpPr txBox="1">
            <a:spLocks noChangeArrowheads="1"/>
          </p:cNvSpPr>
          <p:nvPr/>
        </p:nvSpPr>
        <p:spPr bwMode="auto">
          <a:xfrm>
            <a:off x="7558087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solidFill>
                  <a:srgbClr val="C00000"/>
                </a:solidFill>
                <a:latin typeface="Calibri" pitchFamily="34" charset="0"/>
              </a:rPr>
              <a:t>1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2" name="Text Box 114"/>
          <p:cNvSpPr txBox="1">
            <a:spLocks noChangeArrowheads="1"/>
          </p:cNvSpPr>
          <p:nvPr/>
        </p:nvSpPr>
        <p:spPr bwMode="auto">
          <a:xfrm>
            <a:off x="7070725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solidFill>
                  <a:srgbClr val="C00000"/>
                </a:solidFill>
                <a:latin typeface="Calibri" pitchFamily="34" charset="0"/>
              </a:rPr>
              <a:t>1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3" name="Text Box 115"/>
          <p:cNvSpPr txBox="1">
            <a:spLocks noChangeArrowheads="1"/>
          </p:cNvSpPr>
          <p:nvPr/>
        </p:nvSpPr>
        <p:spPr bwMode="auto">
          <a:xfrm>
            <a:off x="6584950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04" name="Text Box 116"/>
          <p:cNvSpPr txBox="1">
            <a:spLocks noChangeArrowheads="1"/>
          </p:cNvSpPr>
          <p:nvPr/>
        </p:nvSpPr>
        <p:spPr bwMode="auto">
          <a:xfrm>
            <a:off x="6097587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solidFill>
                  <a:srgbClr val="C00000"/>
                </a:solidFill>
                <a:latin typeface="Calibri" pitchFamily="34" charset="0"/>
              </a:rPr>
              <a:t>1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5" name="Text Box 117"/>
          <p:cNvSpPr txBox="1">
            <a:spLocks noChangeArrowheads="1"/>
          </p:cNvSpPr>
          <p:nvPr/>
        </p:nvSpPr>
        <p:spPr bwMode="auto">
          <a:xfrm>
            <a:off x="5611812" y="2447899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6" name="Text Box 118"/>
          <p:cNvSpPr txBox="1">
            <a:spLocks noChangeArrowheads="1"/>
          </p:cNvSpPr>
          <p:nvPr/>
        </p:nvSpPr>
        <p:spPr bwMode="auto">
          <a:xfrm>
            <a:off x="5124450" y="2447899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07" name="Text Box 119"/>
          <p:cNvSpPr txBox="1">
            <a:spLocks noChangeArrowheads="1"/>
          </p:cNvSpPr>
          <p:nvPr/>
        </p:nvSpPr>
        <p:spPr bwMode="auto">
          <a:xfrm>
            <a:off x="4638675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solidFill>
                  <a:srgbClr val="C00000"/>
                </a:solidFill>
                <a:latin typeface="Calibri" pitchFamily="34" charset="0"/>
              </a:rPr>
              <a:t>0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08" name="Text Box 120"/>
          <p:cNvSpPr txBox="1">
            <a:spLocks noChangeArrowheads="1"/>
          </p:cNvSpPr>
          <p:nvPr/>
        </p:nvSpPr>
        <p:spPr bwMode="auto">
          <a:xfrm>
            <a:off x="415131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09" name="Text Box 121"/>
          <p:cNvSpPr txBox="1">
            <a:spLocks noChangeArrowheads="1"/>
          </p:cNvSpPr>
          <p:nvPr/>
        </p:nvSpPr>
        <p:spPr bwMode="auto">
          <a:xfrm>
            <a:off x="366553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10" name="Text Box 122"/>
          <p:cNvSpPr txBox="1">
            <a:spLocks noChangeArrowheads="1"/>
          </p:cNvSpPr>
          <p:nvPr/>
        </p:nvSpPr>
        <p:spPr bwMode="auto">
          <a:xfrm>
            <a:off x="3178175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011" name="Text Box 123"/>
          <p:cNvSpPr txBox="1">
            <a:spLocks noChangeArrowheads="1"/>
          </p:cNvSpPr>
          <p:nvPr/>
        </p:nvSpPr>
        <p:spPr bwMode="auto">
          <a:xfrm>
            <a:off x="2692400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2" name="Text Box 124"/>
          <p:cNvSpPr txBox="1">
            <a:spLocks noChangeArrowheads="1"/>
          </p:cNvSpPr>
          <p:nvPr/>
        </p:nvSpPr>
        <p:spPr bwMode="auto">
          <a:xfrm>
            <a:off x="2205037" y="2449487"/>
            <a:ext cx="209353" cy="3382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 smtClean="0">
                <a:solidFill>
                  <a:srgbClr val="C00000"/>
                </a:solidFill>
                <a:latin typeface="Calibri" pitchFamily="34" charset="0"/>
              </a:rPr>
              <a:t>1</a:t>
            </a:r>
            <a:endParaRPr lang="en-GB" sz="18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3" name="Text Box 125"/>
          <p:cNvSpPr txBox="1">
            <a:spLocks noChangeArrowheads="1"/>
          </p:cNvSpPr>
          <p:nvPr/>
        </p:nvSpPr>
        <p:spPr bwMode="auto">
          <a:xfrm>
            <a:off x="1719262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4" name="Text Box 126"/>
          <p:cNvSpPr txBox="1">
            <a:spLocks noChangeArrowheads="1"/>
          </p:cNvSpPr>
          <p:nvPr/>
        </p:nvSpPr>
        <p:spPr bwMode="auto">
          <a:xfrm>
            <a:off x="1233487" y="2449487"/>
            <a:ext cx="209550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8016" name="Text Box 128"/>
          <p:cNvSpPr txBox="1">
            <a:spLocks noChangeArrowheads="1"/>
          </p:cNvSpPr>
          <p:nvPr/>
        </p:nvSpPr>
        <p:spPr bwMode="auto">
          <a:xfrm>
            <a:off x="1143000" y="3437965"/>
            <a:ext cx="49468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smtClean="0">
                <a:solidFill>
                  <a:srgbClr val="C00000"/>
                </a:solidFill>
                <a:latin typeface="Calibri" pitchFamily="34" charset="0"/>
              </a:rPr>
              <a:t>0x2E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7" name="Text Box 129"/>
          <p:cNvSpPr txBox="1">
            <a:spLocks noChangeArrowheads="1"/>
          </p:cNvSpPr>
          <p:nvPr/>
        </p:nvSpPr>
        <p:spPr bwMode="auto">
          <a:xfrm>
            <a:off x="2588682" y="3437965"/>
            <a:ext cx="196529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solidFill>
                  <a:srgbClr val="C00000"/>
                </a:solidFill>
                <a:latin typeface="Calibri" pitchFamily="34" charset="0"/>
              </a:rPr>
              <a:t>2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8" name="Text Box 130"/>
          <p:cNvSpPr txBox="1">
            <a:spLocks noChangeArrowheads="1"/>
          </p:cNvSpPr>
          <p:nvPr/>
        </p:nvSpPr>
        <p:spPr bwMode="auto">
          <a:xfrm>
            <a:off x="3454401" y="3437965"/>
            <a:ext cx="510717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smtClean="0">
                <a:solidFill>
                  <a:srgbClr val="C00000"/>
                </a:solidFill>
                <a:latin typeface="Calibri" pitchFamily="34" charset="0"/>
              </a:rPr>
              <a:t>0x0B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19" name="Text Box 131"/>
          <p:cNvSpPr txBox="1">
            <a:spLocks noChangeArrowheads="1"/>
          </p:cNvSpPr>
          <p:nvPr/>
        </p:nvSpPr>
        <p:spPr bwMode="auto">
          <a:xfrm>
            <a:off x="5142732" y="3437939"/>
            <a:ext cx="22698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solidFill>
                  <a:srgbClr val="C00000"/>
                </a:solidFill>
                <a:latin typeface="Calibri" pitchFamily="34" charset="0"/>
              </a:rPr>
              <a:t>N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21" name="Text Box 133"/>
          <p:cNvSpPr txBox="1">
            <a:spLocks noChangeArrowheads="1"/>
          </p:cNvSpPr>
          <p:nvPr/>
        </p:nvSpPr>
        <p:spPr bwMode="auto">
          <a:xfrm>
            <a:off x="6781800" y="3437965"/>
            <a:ext cx="199735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solidFill>
                  <a:srgbClr val="C00000"/>
                </a:solidFill>
                <a:latin typeface="Calibri" pitchFamily="34" charset="0"/>
              </a:rPr>
              <a:t>Y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8022" name="Text Box 134"/>
          <p:cNvSpPr txBox="1">
            <a:spLocks noChangeArrowheads="1"/>
          </p:cNvSpPr>
          <p:nvPr/>
        </p:nvSpPr>
        <p:spPr bwMode="auto">
          <a:xfrm>
            <a:off x="7780338" y="3437965"/>
            <a:ext cx="438582" cy="3111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smtClean="0">
                <a:solidFill>
                  <a:srgbClr val="C00000"/>
                </a:solidFill>
                <a:latin typeface="Calibri" pitchFamily="34" charset="0"/>
              </a:rPr>
              <a:t>TBD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39827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16" grpId="0"/>
      <p:bldP spid="38017" grpId="0"/>
      <p:bldP spid="38018" grpId="0"/>
      <p:bldP spid="38019" grpId="0"/>
      <p:bldP spid="38021" grpId="0"/>
      <p:bldP spid="380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0" t="20144" r="7570" b="17831"/>
          <a:stretch/>
        </p:blipFill>
        <p:spPr bwMode="auto">
          <a:xfrm>
            <a:off x="357018" y="1197678"/>
            <a:ext cx="5738982" cy="5405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Exam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5628640"/>
            <a:ext cx="66556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------</a:t>
            </a:r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81200" y="5928276"/>
            <a:ext cx="66556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------</a:t>
            </a:r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5786078"/>
            <a:ext cx="66556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0x4C20</a:t>
            </a:r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76960" y="6085714"/>
            <a:ext cx="66556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------</a:t>
            </a:r>
            <a:endParaRPr lang="en-US" sz="1050" dirty="0">
              <a:solidFill>
                <a:srgbClr val="C00000"/>
              </a:solidFill>
            </a:endParaRPr>
          </a:p>
        </p:txBody>
      </p:sp>
      <p:pic>
        <p:nvPicPr>
          <p:cNvPr id="2050" name="Picture 2" descr="https://upload.wikimedia.org/wikipedia/commons/5/57/Boating_-_Hythe_-_July_2004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325561"/>
            <a:ext cx="3088568" cy="2319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 bwMode="auto">
          <a:xfrm>
            <a:off x="685800" y="2895600"/>
            <a:ext cx="1295400" cy="228600"/>
          </a:xfrm>
          <a:prstGeom prst="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grpSp>
        <p:nvGrpSpPr>
          <p:cNvPr id="85" name="Group 84"/>
          <p:cNvGrpSpPr/>
          <p:nvPr/>
        </p:nvGrpSpPr>
        <p:grpSpPr>
          <a:xfrm>
            <a:off x="3100405" y="4114800"/>
            <a:ext cx="5866602" cy="658751"/>
            <a:chOff x="3100405" y="4114800"/>
            <a:chExt cx="5866602" cy="658751"/>
          </a:xfrm>
        </p:grpSpPr>
        <p:grpSp>
          <p:nvGrpSpPr>
            <p:cNvPr id="82" name="Group 81"/>
            <p:cNvGrpSpPr/>
            <p:nvPr/>
          </p:nvGrpSpPr>
          <p:grpSpPr>
            <a:xfrm>
              <a:off x="3100405" y="4544420"/>
              <a:ext cx="5866602" cy="229131"/>
              <a:chOff x="3100405" y="4544420"/>
              <a:chExt cx="5866602" cy="229131"/>
            </a:xfrm>
          </p:grpSpPr>
          <p:sp>
            <p:nvSpPr>
              <p:cNvPr id="13" name="Rectangle 6"/>
              <p:cNvSpPr>
                <a:spLocks noChangeArrowheads="1"/>
              </p:cNvSpPr>
              <p:nvPr/>
            </p:nvSpPr>
            <p:spPr bwMode="auto">
              <a:xfrm>
                <a:off x="3100405" y="4544420"/>
                <a:ext cx="366371" cy="229131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5" name="Rectangle 9"/>
              <p:cNvSpPr>
                <a:spLocks noChangeArrowheads="1"/>
              </p:cNvSpPr>
              <p:nvPr/>
            </p:nvSpPr>
            <p:spPr bwMode="auto">
              <a:xfrm>
                <a:off x="3466776" y="4544420"/>
                <a:ext cx="366371" cy="229131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3833147" y="4544420"/>
                <a:ext cx="366371" cy="229131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199518" y="4544420"/>
                <a:ext cx="366371" cy="229131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Rectangle 18"/>
              <p:cNvSpPr>
                <a:spLocks noChangeArrowheads="1"/>
              </p:cNvSpPr>
              <p:nvPr/>
            </p:nvSpPr>
            <p:spPr bwMode="auto">
              <a:xfrm>
                <a:off x="4565889" y="4544420"/>
                <a:ext cx="366371" cy="229131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Rectangle 21"/>
              <p:cNvSpPr>
                <a:spLocks noChangeArrowheads="1"/>
              </p:cNvSpPr>
              <p:nvPr/>
            </p:nvSpPr>
            <p:spPr bwMode="auto">
              <a:xfrm>
                <a:off x="4932260" y="4544420"/>
                <a:ext cx="366371" cy="229131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5" name="Rectangle 24"/>
              <p:cNvSpPr>
                <a:spLocks noChangeArrowheads="1"/>
              </p:cNvSpPr>
              <p:nvPr/>
            </p:nvSpPr>
            <p:spPr bwMode="auto">
              <a:xfrm>
                <a:off x="5298631" y="4544420"/>
                <a:ext cx="366371" cy="229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7" name="Rectangle 27"/>
              <p:cNvSpPr>
                <a:spLocks noChangeArrowheads="1"/>
              </p:cNvSpPr>
              <p:nvPr/>
            </p:nvSpPr>
            <p:spPr bwMode="auto">
              <a:xfrm>
                <a:off x="5665002" y="4544420"/>
                <a:ext cx="366371" cy="229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9" name="Rectangle 30"/>
              <p:cNvSpPr>
                <a:spLocks noChangeArrowheads="1"/>
              </p:cNvSpPr>
              <p:nvPr/>
            </p:nvSpPr>
            <p:spPr bwMode="auto">
              <a:xfrm>
                <a:off x="6031374" y="4544420"/>
                <a:ext cx="366371" cy="2291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1" name="Rectangle 33"/>
              <p:cNvSpPr>
                <a:spLocks noChangeArrowheads="1"/>
              </p:cNvSpPr>
              <p:nvPr/>
            </p:nvSpPr>
            <p:spPr bwMode="auto">
              <a:xfrm>
                <a:off x="6397744" y="4544420"/>
                <a:ext cx="366371" cy="2291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3" name="Rectangle 36"/>
              <p:cNvSpPr>
                <a:spLocks noChangeArrowheads="1"/>
              </p:cNvSpPr>
              <p:nvPr/>
            </p:nvSpPr>
            <p:spPr bwMode="auto">
              <a:xfrm>
                <a:off x="6764116" y="4544420"/>
                <a:ext cx="366371" cy="2291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5" name="Rectangle 39"/>
              <p:cNvSpPr>
                <a:spLocks noChangeArrowheads="1"/>
              </p:cNvSpPr>
              <p:nvPr/>
            </p:nvSpPr>
            <p:spPr bwMode="auto">
              <a:xfrm>
                <a:off x="7130486" y="4544420"/>
                <a:ext cx="366371" cy="2291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7" name="Rectangle 42"/>
              <p:cNvSpPr>
                <a:spLocks noChangeArrowheads="1"/>
              </p:cNvSpPr>
              <p:nvPr/>
            </p:nvSpPr>
            <p:spPr bwMode="auto">
              <a:xfrm>
                <a:off x="7496858" y="4544420"/>
                <a:ext cx="366371" cy="22913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9" name="Rectangle 45"/>
              <p:cNvSpPr>
                <a:spLocks noChangeArrowheads="1"/>
              </p:cNvSpPr>
              <p:nvPr/>
            </p:nvSpPr>
            <p:spPr bwMode="auto">
              <a:xfrm>
                <a:off x="7863229" y="4544420"/>
                <a:ext cx="366371" cy="22913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0" name="Rectangle 42"/>
              <p:cNvSpPr>
                <a:spLocks noChangeArrowheads="1"/>
              </p:cNvSpPr>
              <p:nvPr/>
            </p:nvSpPr>
            <p:spPr bwMode="auto">
              <a:xfrm>
                <a:off x="8234265" y="4544420"/>
                <a:ext cx="366371" cy="22913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1" name="Rectangle 45"/>
              <p:cNvSpPr>
                <a:spLocks noChangeArrowheads="1"/>
              </p:cNvSpPr>
              <p:nvPr/>
            </p:nvSpPr>
            <p:spPr bwMode="auto">
              <a:xfrm>
                <a:off x="8600636" y="4544420"/>
                <a:ext cx="366371" cy="22913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36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3100405" y="4114800"/>
              <a:ext cx="5862424" cy="429620"/>
              <a:chOff x="3100405" y="4114800"/>
              <a:chExt cx="5862424" cy="429620"/>
            </a:xfrm>
            <a:noFill/>
          </p:grpSpPr>
          <p:sp>
            <p:nvSpPr>
              <p:cNvPr id="14" name="Rectangle 7"/>
              <p:cNvSpPr>
                <a:spLocks noChangeArrowheads="1"/>
              </p:cNvSpPr>
              <p:nvPr/>
            </p:nvSpPr>
            <p:spPr bwMode="auto">
              <a:xfrm>
                <a:off x="3833634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13</a:t>
                </a:r>
              </a:p>
            </p:txBody>
          </p:sp>
          <p:sp>
            <p:nvSpPr>
              <p:cNvPr id="16" name="Rectangle 10"/>
              <p:cNvSpPr>
                <a:spLocks noChangeArrowheads="1"/>
              </p:cNvSpPr>
              <p:nvPr/>
            </p:nvSpPr>
            <p:spPr bwMode="auto">
              <a:xfrm>
                <a:off x="4200005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12</a:t>
                </a:r>
              </a:p>
            </p:txBody>
          </p:sp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4566376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11</a:t>
                </a: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932747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10</a:t>
                </a:r>
              </a:p>
            </p:txBody>
          </p:sp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5299118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9</a:t>
                </a:r>
              </a:p>
            </p:txBody>
          </p:sp>
          <p:sp>
            <p:nvSpPr>
              <p:cNvPr id="24" name="Rectangle 22"/>
              <p:cNvSpPr>
                <a:spLocks noChangeArrowheads="1"/>
              </p:cNvSpPr>
              <p:nvPr/>
            </p:nvSpPr>
            <p:spPr bwMode="auto">
              <a:xfrm>
                <a:off x="5665489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8</a:t>
                </a:r>
              </a:p>
            </p:txBody>
          </p:sp>
          <p:sp>
            <p:nvSpPr>
              <p:cNvPr id="26" name="Rectangle 25"/>
              <p:cNvSpPr>
                <a:spLocks noChangeArrowheads="1"/>
              </p:cNvSpPr>
              <p:nvPr/>
            </p:nvSpPr>
            <p:spPr bwMode="auto">
              <a:xfrm>
                <a:off x="6031860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7</a:t>
                </a:r>
              </a:p>
            </p:txBody>
          </p:sp>
          <p:sp>
            <p:nvSpPr>
              <p:cNvPr id="28" name="Rectangle 28"/>
              <p:cNvSpPr>
                <a:spLocks noChangeArrowheads="1"/>
              </p:cNvSpPr>
              <p:nvPr/>
            </p:nvSpPr>
            <p:spPr bwMode="auto">
              <a:xfrm>
                <a:off x="6398231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6</a:t>
                </a:r>
              </a:p>
            </p:txBody>
          </p:sp>
          <p:sp>
            <p:nvSpPr>
              <p:cNvPr id="30" name="Rectangle 31"/>
              <p:cNvSpPr>
                <a:spLocks noChangeArrowheads="1"/>
              </p:cNvSpPr>
              <p:nvPr/>
            </p:nvSpPr>
            <p:spPr bwMode="auto">
              <a:xfrm>
                <a:off x="6764603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5</a:t>
                </a:r>
              </a:p>
            </p:txBody>
          </p:sp>
          <p:sp>
            <p:nvSpPr>
              <p:cNvPr id="32" name="Rectangle 34"/>
              <p:cNvSpPr>
                <a:spLocks noChangeArrowheads="1"/>
              </p:cNvSpPr>
              <p:nvPr/>
            </p:nvSpPr>
            <p:spPr bwMode="auto">
              <a:xfrm>
                <a:off x="7130973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4</a:t>
                </a:r>
              </a:p>
            </p:txBody>
          </p:sp>
          <p:sp>
            <p:nvSpPr>
              <p:cNvPr id="34" name="Rectangle 37"/>
              <p:cNvSpPr>
                <a:spLocks noChangeArrowheads="1"/>
              </p:cNvSpPr>
              <p:nvPr/>
            </p:nvSpPr>
            <p:spPr bwMode="auto">
              <a:xfrm>
                <a:off x="7497345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3</a:t>
                </a:r>
              </a:p>
            </p:txBody>
          </p:sp>
          <p:sp>
            <p:nvSpPr>
              <p:cNvPr id="36" name="Rectangle 40"/>
              <p:cNvSpPr>
                <a:spLocks noChangeArrowheads="1"/>
              </p:cNvSpPr>
              <p:nvPr/>
            </p:nvSpPr>
            <p:spPr bwMode="auto">
              <a:xfrm>
                <a:off x="7863715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2</a:t>
                </a:r>
              </a:p>
            </p:txBody>
          </p:sp>
          <p:sp>
            <p:nvSpPr>
              <p:cNvPr id="38" name="Rectangle 43"/>
              <p:cNvSpPr>
                <a:spLocks noChangeArrowheads="1"/>
              </p:cNvSpPr>
              <p:nvPr/>
            </p:nvSpPr>
            <p:spPr bwMode="auto">
              <a:xfrm>
                <a:off x="8230087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1</a:t>
                </a:r>
              </a:p>
            </p:txBody>
          </p:sp>
          <p:sp>
            <p:nvSpPr>
              <p:cNvPr id="40" name="Rectangle 46"/>
              <p:cNvSpPr>
                <a:spLocks noChangeArrowheads="1"/>
              </p:cNvSpPr>
              <p:nvPr/>
            </p:nvSpPr>
            <p:spPr bwMode="auto">
              <a:xfrm>
                <a:off x="8596458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0</a:t>
                </a:r>
              </a:p>
            </p:txBody>
          </p:sp>
          <p:sp>
            <p:nvSpPr>
              <p:cNvPr id="41" name="Line 54"/>
              <p:cNvSpPr>
                <a:spLocks noChangeShapeType="1"/>
              </p:cNvSpPr>
              <p:nvPr/>
            </p:nvSpPr>
            <p:spPr bwMode="auto">
              <a:xfrm>
                <a:off x="5296245" y="4210669"/>
                <a:ext cx="745869" cy="1194"/>
              </a:xfrm>
              <a:prstGeom prst="line">
                <a:avLst/>
              </a:prstGeom>
              <a:grpFill/>
              <a:ln w="9360">
                <a:solidFill>
                  <a:srgbClr val="000066"/>
                </a:solidFill>
                <a:miter lim="800000"/>
                <a:headEnd type="triangl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Text Box 55"/>
              <p:cNvSpPr txBox="1">
                <a:spLocks noChangeArrowheads="1"/>
              </p:cNvSpPr>
              <p:nvPr/>
            </p:nvSpPr>
            <p:spPr bwMode="auto">
              <a:xfrm>
                <a:off x="5459633" y="4117584"/>
                <a:ext cx="415511" cy="23085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200" b="1" dirty="0">
                    <a:solidFill>
                      <a:srgbClr val="003300"/>
                    </a:solidFill>
                    <a:latin typeface="Calibri" pitchFamily="34" charset="0"/>
                  </a:rPr>
                  <a:t>TLBI</a:t>
                </a:r>
              </a:p>
            </p:txBody>
          </p:sp>
          <p:sp>
            <p:nvSpPr>
              <p:cNvPr id="43" name="Line 57"/>
              <p:cNvSpPr>
                <a:spLocks noChangeShapeType="1"/>
              </p:cNvSpPr>
              <p:nvPr/>
            </p:nvSpPr>
            <p:spPr bwMode="auto">
              <a:xfrm>
                <a:off x="3100405" y="4207884"/>
                <a:ext cx="2200613" cy="1194"/>
              </a:xfrm>
              <a:prstGeom prst="line">
                <a:avLst/>
              </a:prstGeom>
              <a:grpFill/>
              <a:ln w="9360">
                <a:solidFill>
                  <a:srgbClr val="000066"/>
                </a:solidFill>
                <a:miter lim="800000"/>
                <a:headEnd type="triangl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Text Box 58"/>
              <p:cNvSpPr txBox="1">
                <a:spLocks noChangeArrowheads="1"/>
              </p:cNvSpPr>
              <p:nvPr/>
            </p:nvSpPr>
            <p:spPr bwMode="auto">
              <a:xfrm>
                <a:off x="4031460" y="4114800"/>
                <a:ext cx="444716" cy="23085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200" b="1" dirty="0">
                    <a:solidFill>
                      <a:srgbClr val="003300"/>
                    </a:solidFill>
                    <a:latin typeface="Calibri" pitchFamily="34" charset="0"/>
                  </a:rPr>
                  <a:t>TLBT</a:t>
                </a:r>
              </a:p>
            </p:txBody>
          </p:sp>
          <p:sp>
            <p:nvSpPr>
              <p:cNvPr id="78" name="Rectangle 7"/>
              <p:cNvSpPr>
                <a:spLocks noChangeArrowheads="1"/>
              </p:cNvSpPr>
              <p:nvPr/>
            </p:nvSpPr>
            <p:spPr bwMode="auto">
              <a:xfrm>
                <a:off x="3108649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15</a:t>
                </a:r>
              </a:p>
            </p:txBody>
          </p:sp>
          <p:sp>
            <p:nvSpPr>
              <p:cNvPr id="79" name="Rectangle 10"/>
              <p:cNvSpPr>
                <a:spLocks noChangeArrowheads="1"/>
              </p:cNvSpPr>
              <p:nvPr/>
            </p:nvSpPr>
            <p:spPr bwMode="auto">
              <a:xfrm>
                <a:off x="3475020" y="4315289"/>
                <a:ext cx="366371" cy="229131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360" tIns="44280" rIns="90360" bIns="44280" anchor="ctr"/>
              <a:lstStyle/>
              <a:p>
                <a:pPr algn="ctr">
                  <a:lnSpc>
                    <a:spcPct val="88000"/>
                  </a:lnSpc>
                  <a:spcBef>
                    <a:spcPts val="525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100" b="1" dirty="0">
                    <a:solidFill>
                      <a:srgbClr val="003300"/>
                    </a:solidFill>
                    <a:latin typeface="Calibri" pitchFamily="34" charset="0"/>
                  </a:rPr>
                  <a:t>14</a:t>
                </a: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3318000" y="5606145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0x7E85</a:t>
            </a:r>
            <a:endParaRPr lang="en-US" sz="18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1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605" y="723987"/>
            <a:ext cx="1291515" cy="3066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 bwMode="auto">
          <a:xfrm>
            <a:off x="923730" y="5514390"/>
            <a:ext cx="914400" cy="152400"/>
          </a:xfrm>
          <a:prstGeom prst="rect">
            <a:avLst/>
          </a:prstGeom>
          <a:solidFill>
            <a:srgbClr val="F6D2D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05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0x7E85</a:t>
            </a:r>
          </a:p>
        </p:txBody>
      </p:sp>
      <p:grpSp>
        <p:nvGrpSpPr>
          <p:cNvPr id="2078" name="Group 2077"/>
          <p:cNvGrpSpPr/>
          <p:nvPr/>
        </p:nvGrpSpPr>
        <p:grpSpPr>
          <a:xfrm>
            <a:off x="3100405" y="4773551"/>
            <a:ext cx="5853112" cy="865249"/>
            <a:chOff x="3100405" y="4773551"/>
            <a:chExt cx="5853112" cy="865249"/>
          </a:xfrm>
        </p:grpSpPr>
        <p:cxnSp>
          <p:nvCxnSpPr>
            <p:cNvPr id="2049" name="Straight Connector 2048"/>
            <p:cNvCxnSpPr/>
            <p:nvPr/>
          </p:nvCxnSpPr>
          <p:spPr bwMode="auto">
            <a:xfrm>
              <a:off x="3100405" y="4773551"/>
              <a:ext cx="1832342" cy="865249"/>
            </a:xfrm>
            <a:prstGeom prst="line">
              <a:avLst/>
            </a:prstGeom>
            <a:noFill/>
            <a:ln w="254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52" name="Straight Connector 2051"/>
            <p:cNvCxnSpPr/>
            <p:nvPr/>
          </p:nvCxnSpPr>
          <p:spPr bwMode="auto">
            <a:xfrm>
              <a:off x="4561711" y="4773551"/>
              <a:ext cx="893257" cy="855089"/>
            </a:xfrm>
            <a:prstGeom prst="line">
              <a:avLst/>
            </a:prstGeom>
            <a:noFill/>
            <a:ln w="254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Straight Connector 88"/>
            <p:cNvCxnSpPr/>
            <p:nvPr/>
          </p:nvCxnSpPr>
          <p:spPr bwMode="auto">
            <a:xfrm flipH="1">
              <a:off x="5963822" y="4797640"/>
              <a:ext cx="67552" cy="841160"/>
            </a:xfrm>
            <a:prstGeom prst="line">
              <a:avLst/>
            </a:prstGeom>
            <a:noFill/>
            <a:ln w="254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Straight Connector 96"/>
            <p:cNvCxnSpPr/>
            <p:nvPr/>
          </p:nvCxnSpPr>
          <p:spPr bwMode="auto">
            <a:xfrm>
              <a:off x="5459633" y="5638800"/>
              <a:ext cx="504189" cy="0"/>
            </a:xfrm>
            <a:prstGeom prst="line">
              <a:avLst/>
            </a:prstGeom>
            <a:noFill/>
            <a:ln w="254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Straight Connector 99"/>
            <p:cNvCxnSpPr/>
            <p:nvPr/>
          </p:nvCxnSpPr>
          <p:spPr bwMode="auto">
            <a:xfrm>
              <a:off x="4932260" y="5638800"/>
              <a:ext cx="504189" cy="0"/>
            </a:xfrm>
            <a:prstGeom prst="line">
              <a:avLst/>
            </a:prstGeom>
            <a:noFill/>
            <a:ln w="254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Straight Connector 126"/>
            <p:cNvCxnSpPr/>
            <p:nvPr/>
          </p:nvCxnSpPr>
          <p:spPr bwMode="auto">
            <a:xfrm flipH="1">
              <a:off x="7086600" y="4780515"/>
              <a:ext cx="1866917" cy="858285"/>
            </a:xfrm>
            <a:prstGeom prst="line">
              <a:avLst/>
            </a:prstGeom>
            <a:noFill/>
            <a:ln w="254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Straight Connector 128"/>
            <p:cNvCxnSpPr/>
            <p:nvPr/>
          </p:nvCxnSpPr>
          <p:spPr bwMode="auto">
            <a:xfrm>
              <a:off x="5983098" y="5638800"/>
              <a:ext cx="1103502" cy="0"/>
            </a:xfrm>
            <a:prstGeom prst="line">
              <a:avLst/>
            </a:prstGeom>
            <a:noFill/>
            <a:ln w="254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67" name="Oval 2066"/>
          <p:cNvSpPr/>
          <p:nvPr/>
        </p:nvSpPr>
        <p:spPr bwMode="auto">
          <a:xfrm>
            <a:off x="752670" y="4291964"/>
            <a:ext cx="180511" cy="180511"/>
          </a:xfrm>
          <a:prstGeom prst="ellips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068" name="Rectangle 2067"/>
          <p:cNvSpPr/>
          <p:nvPr/>
        </p:nvSpPr>
        <p:spPr bwMode="auto">
          <a:xfrm>
            <a:off x="1124340" y="4230229"/>
            <a:ext cx="304800" cy="151990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grpSp>
        <p:nvGrpSpPr>
          <p:cNvPr id="2079" name="Group 2078"/>
          <p:cNvGrpSpPr/>
          <p:nvPr/>
        </p:nvGrpSpPr>
        <p:grpSpPr>
          <a:xfrm>
            <a:off x="7086600" y="5391555"/>
            <a:ext cx="1944868" cy="768698"/>
            <a:chOff x="6215045" y="5391555"/>
            <a:chExt cx="1944868" cy="768698"/>
          </a:xfrm>
        </p:grpSpPr>
        <p:sp>
          <p:nvSpPr>
            <p:cNvPr id="83" name="TextBox 82"/>
            <p:cNvSpPr txBox="1"/>
            <p:nvPr/>
          </p:nvSpPr>
          <p:spPr>
            <a:xfrm>
              <a:off x="6752220" y="5391555"/>
              <a:ext cx="1221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smtClean="0">
                  <a:latin typeface="+mj-lt"/>
                  <a:cs typeface="Courier New" panose="02070309020205020404" pitchFamily="49" charset="0"/>
                </a:rPr>
                <a:t>TLBI </a:t>
              </a:r>
              <a:r>
                <a:rPr lang="en-US" sz="1800" dirty="0">
                  <a:latin typeface="+mj-lt"/>
                  <a:cs typeface="Courier New" panose="02070309020205020404" pitchFamily="49" charset="0"/>
                </a:rPr>
                <a:t>= </a:t>
              </a:r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0x2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752220" y="5790921"/>
              <a:ext cx="1407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smtClean="0">
                  <a:latin typeface="+mj-lt"/>
                  <a:cs typeface="Courier New" panose="02070309020205020404" pitchFamily="49" charset="0"/>
                </a:rPr>
                <a:t>TLBT </a:t>
              </a:r>
              <a:r>
                <a:rPr lang="en-US" sz="1800" dirty="0">
                  <a:latin typeface="+mj-lt"/>
                  <a:cs typeface="Courier New" panose="02070309020205020404" pitchFamily="49" charset="0"/>
                </a:rPr>
                <a:t>= </a:t>
              </a:r>
              <a:r>
                <a:rPr lang="en-US" sz="18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0x1F</a:t>
              </a:r>
            </a:p>
          </p:txBody>
        </p:sp>
        <p:sp>
          <p:nvSpPr>
            <p:cNvPr id="2069" name="Right Arrow 2068"/>
            <p:cNvSpPr/>
            <p:nvPr/>
          </p:nvSpPr>
          <p:spPr bwMode="auto">
            <a:xfrm>
              <a:off x="6215045" y="5680785"/>
              <a:ext cx="414355" cy="205241"/>
            </a:xfrm>
            <a:prstGeom prst="rightArrow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5597955" y="6252209"/>
            <a:ext cx="234230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</a:t>
            </a:r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7E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85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/>
              </a:rPr>
              <a:t>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  <a:sym typeface="Symbol"/>
              </a:rPr>
              <a:t>0x</a:t>
            </a:r>
            <a:r>
              <a:rPr 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/>
              </a:rPr>
              <a:t>95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/>
              </a:rPr>
              <a:t>85</a:t>
            </a:r>
            <a:endParaRPr lang="en-US" sz="1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1742527" y="4230229"/>
            <a:ext cx="314873" cy="151990"/>
          </a:xfrm>
          <a:prstGeom prst="rect">
            <a:avLst/>
          </a:prstGeom>
          <a:noFill/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1838130" y="5517328"/>
            <a:ext cx="981271" cy="152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r>
              <a:rPr lang="en-US" sz="105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0x9585</a:t>
            </a:r>
            <a:endParaRPr lang="en-US" sz="1050" dirty="0">
              <a:solidFill>
                <a:srgbClr val="C00000"/>
              </a:solidFill>
            </a:endParaRPr>
          </a:p>
        </p:txBody>
      </p:sp>
      <p:grpSp>
        <p:nvGrpSpPr>
          <p:cNvPr id="2076" name="Group 2075"/>
          <p:cNvGrpSpPr/>
          <p:nvPr/>
        </p:nvGrpSpPr>
        <p:grpSpPr>
          <a:xfrm>
            <a:off x="5389368" y="4537261"/>
            <a:ext cx="550076" cy="284118"/>
            <a:chOff x="5389368" y="4537261"/>
            <a:chExt cx="550076" cy="284118"/>
          </a:xfrm>
          <a:noFill/>
        </p:grpSpPr>
        <p:sp>
          <p:nvSpPr>
            <p:cNvPr id="51" name="Text Box 119"/>
            <p:cNvSpPr txBox="1">
              <a:spLocks noChangeArrowheads="1"/>
            </p:cNvSpPr>
            <p:nvPr/>
          </p:nvSpPr>
          <p:spPr bwMode="auto">
            <a:xfrm>
              <a:off x="5755739" y="4537261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52" name="Text Box 120"/>
            <p:cNvSpPr txBox="1">
              <a:spLocks noChangeArrowheads="1"/>
            </p:cNvSpPr>
            <p:nvPr/>
          </p:nvSpPr>
          <p:spPr bwMode="auto">
            <a:xfrm>
              <a:off x="5389368" y="4537261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70C0"/>
                  </a:solidFill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2077" name="Group 2076"/>
          <p:cNvGrpSpPr/>
          <p:nvPr/>
        </p:nvGrpSpPr>
        <p:grpSpPr>
          <a:xfrm>
            <a:off x="3203589" y="4537261"/>
            <a:ext cx="1996631" cy="284118"/>
            <a:chOff x="3203589" y="4537261"/>
            <a:chExt cx="1996631" cy="284118"/>
          </a:xfrm>
          <a:noFill/>
        </p:grpSpPr>
        <p:sp>
          <p:nvSpPr>
            <p:cNvPr id="53" name="Text Box 121"/>
            <p:cNvSpPr txBox="1">
              <a:spLocks noChangeArrowheads="1"/>
            </p:cNvSpPr>
            <p:nvPr/>
          </p:nvSpPr>
          <p:spPr bwMode="auto">
            <a:xfrm>
              <a:off x="5031864" y="4537261"/>
              <a:ext cx="168356" cy="260379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54" name="Text Box 122"/>
            <p:cNvSpPr txBox="1">
              <a:spLocks noChangeArrowheads="1"/>
            </p:cNvSpPr>
            <p:nvPr/>
          </p:nvSpPr>
          <p:spPr bwMode="auto">
            <a:xfrm>
              <a:off x="4665494" y="4537261"/>
              <a:ext cx="168356" cy="260379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55" name="Text Box 123"/>
            <p:cNvSpPr txBox="1">
              <a:spLocks noChangeArrowheads="1"/>
            </p:cNvSpPr>
            <p:nvPr/>
          </p:nvSpPr>
          <p:spPr bwMode="auto">
            <a:xfrm>
              <a:off x="4292641" y="4537261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56" name="Text Box 124"/>
            <p:cNvSpPr txBox="1">
              <a:spLocks noChangeArrowheads="1"/>
            </p:cNvSpPr>
            <p:nvPr/>
          </p:nvSpPr>
          <p:spPr bwMode="auto">
            <a:xfrm>
              <a:off x="3926271" y="4537261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57" name="Text Box 125"/>
            <p:cNvSpPr txBox="1">
              <a:spLocks noChangeArrowheads="1"/>
            </p:cNvSpPr>
            <p:nvPr/>
          </p:nvSpPr>
          <p:spPr bwMode="auto">
            <a:xfrm>
              <a:off x="3561093" y="4537261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58" name="Text Box 126"/>
            <p:cNvSpPr txBox="1">
              <a:spLocks noChangeArrowheads="1"/>
            </p:cNvSpPr>
            <p:nvPr/>
          </p:nvSpPr>
          <p:spPr bwMode="auto">
            <a:xfrm>
              <a:off x="3203589" y="4537261"/>
              <a:ext cx="168356" cy="260379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2075" name="Group 2074"/>
          <p:cNvGrpSpPr/>
          <p:nvPr/>
        </p:nvGrpSpPr>
        <p:grpSpPr>
          <a:xfrm>
            <a:off x="6120916" y="4536067"/>
            <a:ext cx="2750581" cy="285312"/>
            <a:chOff x="6120916" y="4536067"/>
            <a:chExt cx="2750581" cy="285312"/>
          </a:xfrm>
          <a:noFill/>
        </p:grpSpPr>
        <p:sp>
          <p:nvSpPr>
            <p:cNvPr id="45" name="Text Box 113"/>
            <p:cNvSpPr txBox="1">
              <a:spLocks noChangeArrowheads="1"/>
            </p:cNvSpPr>
            <p:nvPr/>
          </p:nvSpPr>
          <p:spPr bwMode="auto">
            <a:xfrm>
              <a:off x="7950385" y="4537261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B05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46" name="Text Box 114"/>
            <p:cNvSpPr txBox="1">
              <a:spLocks noChangeArrowheads="1"/>
            </p:cNvSpPr>
            <p:nvPr/>
          </p:nvSpPr>
          <p:spPr bwMode="auto">
            <a:xfrm>
              <a:off x="7584015" y="4536067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B05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47" name="Text Box 115"/>
            <p:cNvSpPr txBox="1">
              <a:spLocks noChangeArrowheads="1"/>
            </p:cNvSpPr>
            <p:nvPr/>
          </p:nvSpPr>
          <p:spPr bwMode="auto">
            <a:xfrm>
              <a:off x="7218836" y="4536067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B05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48" name="Text Box 116"/>
            <p:cNvSpPr txBox="1">
              <a:spLocks noChangeArrowheads="1"/>
            </p:cNvSpPr>
            <p:nvPr/>
          </p:nvSpPr>
          <p:spPr bwMode="auto">
            <a:xfrm>
              <a:off x="6852466" y="4536067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B05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49" name="Text Box 117"/>
            <p:cNvSpPr txBox="1">
              <a:spLocks noChangeArrowheads="1"/>
            </p:cNvSpPr>
            <p:nvPr/>
          </p:nvSpPr>
          <p:spPr bwMode="auto">
            <a:xfrm>
              <a:off x="6487287" y="4536067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B05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50" name="Text Box 118"/>
            <p:cNvSpPr txBox="1">
              <a:spLocks noChangeArrowheads="1"/>
            </p:cNvSpPr>
            <p:nvPr/>
          </p:nvSpPr>
          <p:spPr bwMode="auto">
            <a:xfrm>
              <a:off x="6120916" y="4536067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B05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62" name="Text Box 113"/>
            <p:cNvSpPr txBox="1">
              <a:spLocks noChangeArrowheads="1"/>
            </p:cNvSpPr>
            <p:nvPr/>
          </p:nvSpPr>
          <p:spPr bwMode="auto">
            <a:xfrm>
              <a:off x="8687792" y="4537261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B05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63" name="Text Box 114"/>
            <p:cNvSpPr txBox="1">
              <a:spLocks noChangeArrowheads="1"/>
            </p:cNvSpPr>
            <p:nvPr/>
          </p:nvSpPr>
          <p:spPr bwMode="auto">
            <a:xfrm>
              <a:off x="8321422" y="4536067"/>
              <a:ext cx="183705" cy="284118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8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rgbClr val="00B050"/>
                  </a:solidFill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4264150" y="5598739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0x</a:t>
            </a:r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011111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10000101</a:t>
            </a:r>
          </a:p>
        </p:txBody>
      </p:sp>
    </p:spTree>
    <p:extLst>
      <p:ext uri="{BB962C8B-B14F-4D97-AF65-F5344CB8AC3E}">
        <p14:creationId xmlns:p14="http://schemas.microsoft.com/office/powerpoint/2010/main" val="22673554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5" grpId="0" animBg="1"/>
      <p:bldP spid="11" grpId="0"/>
      <p:bldP spid="12" grpId="0" animBg="1"/>
      <p:bldP spid="2067" grpId="0" animBg="1"/>
      <p:bldP spid="2068" grpId="0" animBg="1"/>
      <p:bldP spid="109" grpId="0" animBg="1"/>
      <p:bldP spid="110" grpId="0" animBg="1"/>
      <p:bldP spid="111" grpId="0" animBg="1"/>
      <p:bldP spid="1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Virtual Memory</a:t>
            </a:r>
            <a:endParaRPr lang="en-US" sz="2800" dirty="0" smtClean="0"/>
          </a:p>
          <a:p>
            <a:pPr lvl="1"/>
            <a:r>
              <a:rPr lang="en-US" dirty="0" smtClean="0">
                <a:solidFill>
                  <a:srgbClr val="B3B3B3"/>
                </a:solidFill>
              </a:rPr>
              <a:t>Review of Key Concepts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Simple memory system example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Case study: Core i7/Linux memory system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Memory </a:t>
            </a: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mapping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Dynamic Memory Mapping</a:t>
            </a:r>
          </a:p>
          <a:p>
            <a:pPr lvl="1"/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/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72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Core i7 Memory System</a:t>
            </a:r>
          </a:p>
        </p:txBody>
      </p:sp>
      <p:sp>
        <p:nvSpPr>
          <p:cNvPr id="43" name="Rectangle 406"/>
          <p:cNvSpPr>
            <a:spLocks noChangeArrowheads="1"/>
          </p:cNvSpPr>
          <p:nvPr/>
        </p:nvSpPr>
        <p:spPr bwMode="auto">
          <a:xfrm>
            <a:off x="512763" y="2600289"/>
            <a:ext cx="1481137" cy="470587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L1 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d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-cache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32 KB, 8-way</a:t>
            </a:r>
          </a:p>
        </p:txBody>
      </p:sp>
      <p:sp>
        <p:nvSpPr>
          <p:cNvPr id="44" name="Rectangle 408"/>
          <p:cNvSpPr>
            <a:spLocks noChangeArrowheads="1"/>
          </p:cNvSpPr>
          <p:nvPr/>
        </p:nvSpPr>
        <p:spPr bwMode="auto">
          <a:xfrm>
            <a:off x="838200" y="3353229"/>
            <a:ext cx="2578100" cy="470587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L2 unified cache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256 KB, 8-way</a:t>
            </a:r>
          </a:p>
        </p:txBody>
      </p:sp>
      <p:sp>
        <p:nvSpPr>
          <p:cNvPr id="45" name="Line 409"/>
          <p:cNvSpPr>
            <a:spLocks noChangeShapeType="1"/>
          </p:cNvSpPr>
          <p:nvPr/>
        </p:nvSpPr>
        <p:spPr bwMode="auto">
          <a:xfrm>
            <a:off x="1257300" y="2302251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6" name="Line 410"/>
          <p:cNvSpPr>
            <a:spLocks noChangeShapeType="1"/>
          </p:cNvSpPr>
          <p:nvPr/>
        </p:nvSpPr>
        <p:spPr bwMode="auto">
          <a:xfrm>
            <a:off x="1244600" y="3070877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7" name="Line 411"/>
          <p:cNvSpPr>
            <a:spLocks noChangeShapeType="1"/>
          </p:cNvSpPr>
          <p:nvPr/>
        </p:nvSpPr>
        <p:spPr bwMode="auto">
          <a:xfrm>
            <a:off x="2938463" y="3070877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8" name="Rectangle 426"/>
          <p:cNvSpPr>
            <a:spLocks noChangeArrowheads="1"/>
          </p:cNvSpPr>
          <p:nvPr/>
        </p:nvSpPr>
        <p:spPr bwMode="auto">
          <a:xfrm>
            <a:off x="1008063" y="5059108"/>
            <a:ext cx="2166937" cy="755306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L3 unified cache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8 MB, 16-way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(shared by all cores)</a:t>
            </a:r>
          </a:p>
        </p:txBody>
      </p:sp>
      <p:sp>
        <p:nvSpPr>
          <p:cNvPr id="49" name="Rectangle 427"/>
          <p:cNvSpPr>
            <a:spLocks noChangeArrowheads="1"/>
          </p:cNvSpPr>
          <p:nvPr/>
        </p:nvSpPr>
        <p:spPr bwMode="auto">
          <a:xfrm>
            <a:off x="4533900" y="6227553"/>
            <a:ext cx="2781300" cy="554247"/>
          </a:xfrm>
          <a:prstGeom prst="rect">
            <a:avLst/>
          </a:prstGeom>
          <a:solidFill>
            <a:srgbClr val="E5E6F6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Main memory</a:t>
            </a:r>
          </a:p>
        </p:txBody>
      </p:sp>
      <p:sp>
        <p:nvSpPr>
          <p:cNvPr id="50" name="Line 432"/>
          <p:cNvSpPr>
            <a:spLocks noChangeShapeType="1"/>
          </p:cNvSpPr>
          <p:nvPr/>
        </p:nvSpPr>
        <p:spPr bwMode="auto">
          <a:xfrm>
            <a:off x="2938463" y="2317937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1" name="Rectangle 434"/>
          <p:cNvSpPr>
            <a:spLocks noChangeArrowheads="1"/>
          </p:cNvSpPr>
          <p:nvPr/>
        </p:nvSpPr>
        <p:spPr bwMode="auto">
          <a:xfrm>
            <a:off x="754063" y="1836892"/>
            <a:ext cx="1054100" cy="470587"/>
          </a:xfrm>
          <a:prstGeom prst="rect">
            <a:avLst/>
          </a:prstGeom>
          <a:solidFill>
            <a:srgbClr val="DBF2DA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Registers</a:t>
            </a:r>
          </a:p>
        </p:txBody>
      </p:sp>
      <p:sp>
        <p:nvSpPr>
          <p:cNvPr id="52" name="Rectangle 435"/>
          <p:cNvSpPr>
            <a:spLocks noChangeArrowheads="1"/>
          </p:cNvSpPr>
          <p:nvPr/>
        </p:nvSpPr>
        <p:spPr bwMode="auto">
          <a:xfrm>
            <a:off x="4064000" y="2600289"/>
            <a:ext cx="1824038" cy="470587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L1 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d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-TLB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64 entries, 4-way</a:t>
            </a:r>
          </a:p>
        </p:txBody>
      </p:sp>
      <p:sp>
        <p:nvSpPr>
          <p:cNvPr id="53" name="Rectangle 436"/>
          <p:cNvSpPr>
            <a:spLocks noChangeArrowheads="1"/>
          </p:cNvSpPr>
          <p:nvPr/>
        </p:nvSpPr>
        <p:spPr bwMode="auto">
          <a:xfrm>
            <a:off x="6045200" y="2600289"/>
            <a:ext cx="1824038" cy="470587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L1 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i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-TLB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128 entries, 4-way</a:t>
            </a:r>
          </a:p>
        </p:txBody>
      </p:sp>
      <p:sp>
        <p:nvSpPr>
          <p:cNvPr id="54" name="Rectangle 438"/>
          <p:cNvSpPr>
            <a:spLocks noChangeArrowheads="1"/>
          </p:cNvSpPr>
          <p:nvPr/>
        </p:nvSpPr>
        <p:spPr bwMode="auto">
          <a:xfrm>
            <a:off x="4394200" y="3363686"/>
            <a:ext cx="3157538" cy="470587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L2  unified TLB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512 entries, 4-way</a:t>
            </a:r>
          </a:p>
        </p:txBody>
      </p:sp>
      <p:sp>
        <p:nvSpPr>
          <p:cNvPr id="55" name="Line 439"/>
          <p:cNvSpPr>
            <a:spLocks noChangeShapeType="1"/>
          </p:cNvSpPr>
          <p:nvPr/>
        </p:nvSpPr>
        <p:spPr bwMode="auto">
          <a:xfrm>
            <a:off x="4983163" y="3076105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6" name="Line 440"/>
          <p:cNvSpPr>
            <a:spLocks noChangeShapeType="1"/>
          </p:cNvSpPr>
          <p:nvPr/>
        </p:nvSpPr>
        <p:spPr bwMode="auto">
          <a:xfrm>
            <a:off x="6964363" y="3081334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7" name="Rectangle 441"/>
          <p:cNvSpPr>
            <a:spLocks noChangeArrowheads="1"/>
          </p:cNvSpPr>
          <p:nvPr/>
        </p:nvSpPr>
        <p:spPr bwMode="auto">
          <a:xfrm>
            <a:off x="2201863" y="2610747"/>
            <a:ext cx="1481137" cy="470587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L1 i-cache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32 KB, 8-way</a:t>
            </a:r>
          </a:p>
        </p:txBody>
      </p:sp>
      <p:sp>
        <p:nvSpPr>
          <p:cNvPr id="58" name="Line 442"/>
          <p:cNvSpPr>
            <a:spLocks noChangeShapeType="1"/>
          </p:cNvSpPr>
          <p:nvPr/>
        </p:nvSpPr>
        <p:spPr bwMode="auto">
          <a:xfrm>
            <a:off x="4995863" y="2302251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9" name="Line 444"/>
          <p:cNvSpPr>
            <a:spLocks noChangeShapeType="1"/>
          </p:cNvSpPr>
          <p:nvPr/>
        </p:nvSpPr>
        <p:spPr bwMode="auto">
          <a:xfrm>
            <a:off x="6964363" y="2317937"/>
            <a:ext cx="0" cy="2823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0" name="Rectangle 445"/>
          <p:cNvSpPr>
            <a:spLocks noChangeArrowheads="1"/>
          </p:cNvSpPr>
          <p:nvPr/>
        </p:nvSpPr>
        <p:spPr bwMode="auto">
          <a:xfrm>
            <a:off x="4813300" y="1847350"/>
            <a:ext cx="2336800" cy="470587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MMU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(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addr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translation)</a:t>
            </a:r>
          </a:p>
        </p:txBody>
      </p:sp>
      <p:sp>
        <p:nvSpPr>
          <p:cNvPr id="61" name="Rectangle 450"/>
          <p:cNvSpPr>
            <a:spLocks noChangeArrowheads="1"/>
          </p:cNvSpPr>
          <p:nvPr/>
        </p:nvSpPr>
        <p:spPr bwMode="auto">
          <a:xfrm>
            <a:off x="2405063" y="1836892"/>
            <a:ext cx="1054100" cy="470587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Instruction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fetch</a:t>
            </a:r>
          </a:p>
        </p:txBody>
      </p:sp>
      <p:sp>
        <p:nvSpPr>
          <p:cNvPr id="62" name="Rectangle 452"/>
          <p:cNvSpPr>
            <a:spLocks noChangeArrowheads="1"/>
          </p:cNvSpPr>
          <p:nvPr/>
        </p:nvSpPr>
        <p:spPr bwMode="auto">
          <a:xfrm>
            <a:off x="368300" y="1763690"/>
            <a:ext cx="7607300" cy="311633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3" name="Text Box 458"/>
          <p:cNvSpPr txBox="1">
            <a:spLocks noChangeArrowheads="1"/>
          </p:cNvSpPr>
          <p:nvPr/>
        </p:nvSpPr>
        <p:spPr bwMode="auto">
          <a:xfrm>
            <a:off x="251289" y="1447800"/>
            <a:ext cx="119651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Core x4</a:t>
            </a:r>
          </a:p>
        </p:txBody>
      </p:sp>
      <p:sp>
        <p:nvSpPr>
          <p:cNvPr id="64" name="Rectangle 459"/>
          <p:cNvSpPr>
            <a:spLocks noChangeArrowheads="1"/>
          </p:cNvSpPr>
          <p:nvPr/>
        </p:nvSpPr>
        <p:spPr bwMode="auto">
          <a:xfrm>
            <a:off x="4216400" y="5059108"/>
            <a:ext cx="3441700" cy="755306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DDR3 Memory controller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3 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x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64 bit @ 10.66 GB/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s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32 GB/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s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total (shared by all cores)</a:t>
            </a:r>
          </a:p>
        </p:txBody>
      </p:sp>
      <p:sp>
        <p:nvSpPr>
          <p:cNvPr id="65" name="Rectangle 460"/>
          <p:cNvSpPr>
            <a:spLocks noChangeArrowheads="1"/>
          </p:cNvSpPr>
          <p:nvPr/>
        </p:nvSpPr>
        <p:spPr bwMode="auto">
          <a:xfrm>
            <a:off x="139700" y="1470880"/>
            <a:ext cx="8064500" cy="454892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6" name="Text Box 461"/>
          <p:cNvSpPr txBox="1">
            <a:spLocks noChangeArrowheads="1"/>
          </p:cNvSpPr>
          <p:nvPr/>
        </p:nvSpPr>
        <p:spPr bwMode="auto">
          <a:xfrm>
            <a:off x="0" y="1143000"/>
            <a:ext cx="293740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Processor package</a:t>
            </a:r>
          </a:p>
        </p:txBody>
      </p:sp>
      <p:sp>
        <p:nvSpPr>
          <p:cNvPr id="67" name="Rectangle 462"/>
          <p:cNvSpPr>
            <a:spLocks noChangeArrowheads="1"/>
          </p:cNvSpPr>
          <p:nvPr/>
        </p:nvSpPr>
        <p:spPr bwMode="auto">
          <a:xfrm>
            <a:off x="5422900" y="4053881"/>
            <a:ext cx="2328863" cy="648365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QuickPath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interconnect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4 links @ 25.6 GB/</a:t>
            </a:r>
            <a:r>
              <a:rPr kumimoji="0" lang="en-US" sz="160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s</a:t>
            </a:r>
            <a:r>
              <a:rPr kumimoji="0" lang="en-US" sz="16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each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8" name="Line 464"/>
          <p:cNvSpPr>
            <a:spLocks noChangeShapeType="1"/>
          </p:cNvSpPr>
          <p:nvPr/>
        </p:nvSpPr>
        <p:spPr bwMode="auto">
          <a:xfrm>
            <a:off x="2074863" y="3813359"/>
            <a:ext cx="0" cy="123398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9" name="Line 474"/>
          <p:cNvSpPr>
            <a:spLocks noChangeShapeType="1"/>
          </p:cNvSpPr>
          <p:nvPr/>
        </p:nvSpPr>
        <p:spPr bwMode="auto">
          <a:xfrm flipH="1">
            <a:off x="5805488" y="5814414"/>
            <a:ext cx="7937" cy="433986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0" name="Line 475"/>
          <p:cNvSpPr>
            <a:spLocks noChangeShapeType="1"/>
          </p:cNvSpPr>
          <p:nvPr/>
        </p:nvSpPr>
        <p:spPr bwMode="auto">
          <a:xfrm>
            <a:off x="5965825" y="5814414"/>
            <a:ext cx="0" cy="433986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1" name="Line 476"/>
          <p:cNvSpPr>
            <a:spLocks noChangeShapeType="1"/>
          </p:cNvSpPr>
          <p:nvPr/>
        </p:nvSpPr>
        <p:spPr bwMode="auto">
          <a:xfrm>
            <a:off x="6118225" y="5806571"/>
            <a:ext cx="0" cy="44182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2" name="Line 479"/>
          <p:cNvSpPr>
            <a:spLocks noChangeShapeType="1"/>
          </p:cNvSpPr>
          <p:nvPr/>
        </p:nvSpPr>
        <p:spPr bwMode="auto">
          <a:xfrm>
            <a:off x="4957763" y="3834274"/>
            <a:ext cx="0" cy="122352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3" name="Text Box 497"/>
          <p:cNvSpPr txBox="1">
            <a:spLocks noChangeArrowheads="1"/>
          </p:cNvSpPr>
          <p:nvPr/>
        </p:nvSpPr>
        <p:spPr bwMode="auto">
          <a:xfrm>
            <a:off x="8331200" y="3886200"/>
            <a:ext cx="965200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To other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cores</a:t>
            </a:r>
          </a:p>
        </p:txBody>
      </p:sp>
      <p:grpSp>
        <p:nvGrpSpPr>
          <p:cNvPr id="74" name="Group 501"/>
          <p:cNvGrpSpPr>
            <a:grpSpLocks/>
          </p:cNvGrpSpPr>
          <p:nvPr/>
        </p:nvGrpSpPr>
        <p:grpSpPr bwMode="auto">
          <a:xfrm>
            <a:off x="7735888" y="4111397"/>
            <a:ext cx="595312" cy="501960"/>
            <a:chOff x="4785" y="2300"/>
            <a:chExt cx="343" cy="384"/>
          </a:xfrm>
        </p:grpSpPr>
        <p:sp>
          <p:nvSpPr>
            <p:cNvPr id="75" name="Line 480"/>
            <p:cNvSpPr>
              <a:spLocks noChangeShapeType="1"/>
            </p:cNvSpPr>
            <p:nvPr/>
          </p:nvSpPr>
          <p:spPr bwMode="auto">
            <a:xfrm rot="5400000">
              <a:off x="4953" y="2132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6" name="Line 495"/>
            <p:cNvSpPr>
              <a:spLocks noChangeShapeType="1"/>
            </p:cNvSpPr>
            <p:nvPr/>
          </p:nvSpPr>
          <p:spPr bwMode="auto">
            <a:xfrm rot="5400000">
              <a:off x="4953" y="2208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7" name="Line 496"/>
            <p:cNvSpPr>
              <a:spLocks noChangeShapeType="1"/>
            </p:cNvSpPr>
            <p:nvPr/>
          </p:nvSpPr>
          <p:spPr bwMode="auto">
            <a:xfrm rot="5400000">
              <a:off x="4953" y="2284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8" name="Line 498"/>
            <p:cNvSpPr>
              <a:spLocks noChangeShapeType="1"/>
            </p:cNvSpPr>
            <p:nvPr/>
          </p:nvSpPr>
          <p:spPr bwMode="auto">
            <a:xfrm rot="5400000">
              <a:off x="4961" y="2516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79" name="Text Box 499"/>
          <p:cNvSpPr txBox="1">
            <a:spLocks noChangeArrowheads="1"/>
          </p:cNvSpPr>
          <p:nvPr/>
        </p:nvSpPr>
        <p:spPr bwMode="auto">
          <a:xfrm>
            <a:off x="8361422" y="4418587"/>
            <a:ext cx="934977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To I/O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bridge</a:t>
            </a:r>
          </a:p>
        </p:txBody>
      </p:sp>
      <p:sp>
        <p:nvSpPr>
          <p:cNvPr id="80" name="Line 500"/>
          <p:cNvSpPr>
            <a:spLocks noChangeShapeType="1"/>
          </p:cNvSpPr>
          <p:nvPr/>
        </p:nvSpPr>
        <p:spPr bwMode="auto">
          <a:xfrm>
            <a:off x="6565900" y="4691788"/>
            <a:ext cx="0" cy="35555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1" name="Line 502"/>
          <p:cNvSpPr>
            <a:spLocks noChangeShapeType="1"/>
          </p:cNvSpPr>
          <p:nvPr/>
        </p:nvSpPr>
        <p:spPr bwMode="auto">
          <a:xfrm flipV="1">
            <a:off x="3175000" y="5381983"/>
            <a:ext cx="1041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4727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228600"/>
            <a:ext cx="7936082" cy="762000"/>
          </a:xfrm>
        </p:spPr>
        <p:txBody>
          <a:bodyPr/>
          <a:lstStyle/>
          <a:p>
            <a:r>
              <a:rPr lang="en-US" dirty="0"/>
              <a:t>End-to-end Core i7 Address Translation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1177925" y="1066800"/>
            <a:ext cx="609600" cy="4572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>
                <a:solidFill>
                  <a:schemeClr val="tx2"/>
                </a:solidFill>
                <a:latin typeface="+mn-lt"/>
              </a:rPr>
              <a:t>CPU</a:t>
            </a:r>
          </a:p>
        </p:txBody>
      </p:sp>
      <p:sp>
        <p:nvSpPr>
          <p:cNvPr id="5" name="Rectangle 380"/>
          <p:cNvSpPr>
            <a:spLocks noChangeArrowheads="1"/>
          </p:cNvSpPr>
          <p:nvPr/>
        </p:nvSpPr>
        <p:spPr bwMode="auto">
          <a:xfrm>
            <a:off x="568325" y="19812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VPN</a:t>
            </a:r>
          </a:p>
        </p:txBody>
      </p:sp>
      <p:sp>
        <p:nvSpPr>
          <p:cNvPr id="6" name="Rectangle 381"/>
          <p:cNvSpPr>
            <a:spLocks noChangeArrowheads="1"/>
          </p:cNvSpPr>
          <p:nvPr/>
        </p:nvSpPr>
        <p:spPr bwMode="auto">
          <a:xfrm>
            <a:off x="1635125" y="19812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VPO</a:t>
            </a:r>
          </a:p>
        </p:txBody>
      </p:sp>
      <p:sp>
        <p:nvSpPr>
          <p:cNvPr id="7" name="Text Box 382"/>
          <p:cNvSpPr txBox="1">
            <a:spLocks noChangeArrowheads="1"/>
          </p:cNvSpPr>
          <p:nvPr/>
        </p:nvSpPr>
        <p:spPr bwMode="auto">
          <a:xfrm>
            <a:off x="876300" y="1752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36</a:t>
            </a:r>
          </a:p>
        </p:txBody>
      </p:sp>
      <p:sp>
        <p:nvSpPr>
          <p:cNvPr id="8" name="Text Box 383"/>
          <p:cNvSpPr txBox="1">
            <a:spLocks noChangeArrowheads="1"/>
          </p:cNvSpPr>
          <p:nvPr/>
        </p:nvSpPr>
        <p:spPr bwMode="auto">
          <a:xfrm>
            <a:off x="1714500" y="1752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9" name="Line 384"/>
          <p:cNvSpPr>
            <a:spLocks noChangeShapeType="1"/>
          </p:cNvSpPr>
          <p:nvPr/>
        </p:nvSpPr>
        <p:spPr bwMode="auto">
          <a:xfrm>
            <a:off x="1406525" y="22860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" name="Rectangle 385"/>
          <p:cNvSpPr>
            <a:spLocks noChangeArrowheads="1"/>
          </p:cNvSpPr>
          <p:nvPr/>
        </p:nvSpPr>
        <p:spPr bwMode="auto">
          <a:xfrm>
            <a:off x="949325" y="26670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dirty="0">
                <a:solidFill>
                  <a:schemeClr val="tx2"/>
                </a:solidFill>
                <a:latin typeface="+mn-lt"/>
              </a:rPr>
              <a:t>TLBT</a:t>
            </a:r>
          </a:p>
        </p:txBody>
      </p:sp>
      <p:sp>
        <p:nvSpPr>
          <p:cNvPr id="11" name="Rectangle 386"/>
          <p:cNvSpPr>
            <a:spLocks noChangeArrowheads="1"/>
          </p:cNvSpPr>
          <p:nvPr/>
        </p:nvSpPr>
        <p:spPr bwMode="auto">
          <a:xfrm>
            <a:off x="1482725" y="26670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TLBI</a:t>
            </a:r>
          </a:p>
        </p:txBody>
      </p:sp>
      <p:sp>
        <p:nvSpPr>
          <p:cNvPr id="12" name="Text Box 387"/>
          <p:cNvSpPr txBox="1">
            <a:spLocks noChangeArrowheads="1"/>
          </p:cNvSpPr>
          <p:nvPr/>
        </p:nvSpPr>
        <p:spPr bwMode="auto">
          <a:xfrm>
            <a:off x="1635125" y="2438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4</a:t>
            </a:r>
          </a:p>
        </p:txBody>
      </p:sp>
      <p:sp>
        <p:nvSpPr>
          <p:cNvPr id="13" name="Text Box 388"/>
          <p:cNvSpPr txBox="1">
            <a:spLocks noChangeArrowheads="1"/>
          </p:cNvSpPr>
          <p:nvPr/>
        </p:nvSpPr>
        <p:spPr bwMode="auto">
          <a:xfrm>
            <a:off x="1025525" y="24384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32</a:t>
            </a:r>
          </a:p>
        </p:txBody>
      </p:sp>
      <p:sp>
        <p:nvSpPr>
          <p:cNvPr id="14" name="Rectangle 390"/>
          <p:cNvSpPr>
            <a:spLocks noChangeArrowheads="1"/>
          </p:cNvSpPr>
          <p:nvPr/>
        </p:nvSpPr>
        <p:spPr bwMode="auto">
          <a:xfrm>
            <a:off x="22447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5" name="Rectangle 391"/>
          <p:cNvSpPr>
            <a:spLocks noChangeArrowheads="1"/>
          </p:cNvSpPr>
          <p:nvPr/>
        </p:nvSpPr>
        <p:spPr bwMode="auto">
          <a:xfrm>
            <a:off x="27781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6" name="Rectangle 392"/>
          <p:cNvSpPr>
            <a:spLocks noChangeArrowheads="1"/>
          </p:cNvSpPr>
          <p:nvPr/>
        </p:nvSpPr>
        <p:spPr bwMode="auto">
          <a:xfrm>
            <a:off x="33115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7" name="Rectangle 393"/>
          <p:cNvSpPr>
            <a:spLocks noChangeArrowheads="1"/>
          </p:cNvSpPr>
          <p:nvPr/>
        </p:nvSpPr>
        <p:spPr bwMode="auto">
          <a:xfrm>
            <a:off x="38449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8" name="Rectangle 394"/>
          <p:cNvSpPr>
            <a:spLocks noChangeArrowheads="1"/>
          </p:cNvSpPr>
          <p:nvPr/>
        </p:nvSpPr>
        <p:spPr bwMode="auto">
          <a:xfrm>
            <a:off x="22447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9" name="Rectangle 395"/>
          <p:cNvSpPr>
            <a:spLocks noChangeArrowheads="1"/>
          </p:cNvSpPr>
          <p:nvPr/>
        </p:nvSpPr>
        <p:spPr bwMode="auto">
          <a:xfrm>
            <a:off x="27781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0" name="Rectangle 396"/>
          <p:cNvSpPr>
            <a:spLocks noChangeArrowheads="1"/>
          </p:cNvSpPr>
          <p:nvPr/>
        </p:nvSpPr>
        <p:spPr bwMode="auto">
          <a:xfrm>
            <a:off x="33115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1" name="Rectangle 397"/>
          <p:cNvSpPr>
            <a:spLocks noChangeArrowheads="1"/>
          </p:cNvSpPr>
          <p:nvPr/>
        </p:nvSpPr>
        <p:spPr bwMode="auto">
          <a:xfrm>
            <a:off x="38449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2" name="Rectangle 398"/>
          <p:cNvSpPr>
            <a:spLocks noChangeArrowheads="1"/>
          </p:cNvSpPr>
          <p:nvPr/>
        </p:nvSpPr>
        <p:spPr bwMode="auto">
          <a:xfrm>
            <a:off x="22447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3" name="Rectangle 399"/>
          <p:cNvSpPr>
            <a:spLocks noChangeArrowheads="1"/>
          </p:cNvSpPr>
          <p:nvPr/>
        </p:nvSpPr>
        <p:spPr bwMode="auto">
          <a:xfrm>
            <a:off x="27781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4" name="Rectangle 400"/>
          <p:cNvSpPr>
            <a:spLocks noChangeArrowheads="1"/>
          </p:cNvSpPr>
          <p:nvPr/>
        </p:nvSpPr>
        <p:spPr bwMode="auto">
          <a:xfrm>
            <a:off x="33115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5" name="Rectangle 401"/>
          <p:cNvSpPr>
            <a:spLocks noChangeArrowheads="1"/>
          </p:cNvSpPr>
          <p:nvPr/>
        </p:nvSpPr>
        <p:spPr bwMode="auto">
          <a:xfrm>
            <a:off x="38449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6" name="Rectangle 402"/>
          <p:cNvSpPr>
            <a:spLocks noChangeArrowheads="1"/>
          </p:cNvSpPr>
          <p:nvPr/>
        </p:nvSpPr>
        <p:spPr bwMode="auto">
          <a:xfrm>
            <a:off x="22447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7" name="Rectangle 403"/>
          <p:cNvSpPr>
            <a:spLocks noChangeArrowheads="1"/>
          </p:cNvSpPr>
          <p:nvPr/>
        </p:nvSpPr>
        <p:spPr bwMode="auto">
          <a:xfrm>
            <a:off x="27781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8" name="Rectangle 404"/>
          <p:cNvSpPr>
            <a:spLocks noChangeArrowheads="1"/>
          </p:cNvSpPr>
          <p:nvPr/>
        </p:nvSpPr>
        <p:spPr bwMode="auto">
          <a:xfrm>
            <a:off x="33115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9" name="Rectangle 405"/>
          <p:cNvSpPr>
            <a:spLocks noChangeArrowheads="1"/>
          </p:cNvSpPr>
          <p:nvPr/>
        </p:nvSpPr>
        <p:spPr bwMode="auto">
          <a:xfrm>
            <a:off x="38449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0" name="Text Box 406"/>
          <p:cNvSpPr txBox="1">
            <a:spLocks noChangeArrowheads="1"/>
          </p:cNvSpPr>
          <p:nvPr/>
        </p:nvSpPr>
        <p:spPr bwMode="auto">
          <a:xfrm>
            <a:off x="3214231" y="3863975"/>
            <a:ext cx="408444" cy="25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1" name="Line 407"/>
          <p:cNvSpPr>
            <a:spLocks noChangeShapeType="1"/>
          </p:cNvSpPr>
          <p:nvPr/>
        </p:nvSpPr>
        <p:spPr bwMode="auto">
          <a:xfrm>
            <a:off x="1787525" y="29718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2" name="Line 408"/>
          <p:cNvSpPr>
            <a:spLocks noChangeShapeType="1"/>
          </p:cNvSpPr>
          <p:nvPr/>
        </p:nvSpPr>
        <p:spPr bwMode="auto">
          <a:xfrm>
            <a:off x="1787525" y="35052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3" name="Line 409"/>
          <p:cNvSpPr>
            <a:spLocks noChangeShapeType="1"/>
          </p:cNvSpPr>
          <p:nvPr/>
        </p:nvSpPr>
        <p:spPr bwMode="auto">
          <a:xfrm>
            <a:off x="1787525" y="4191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4" name="Line 410"/>
          <p:cNvSpPr>
            <a:spLocks noChangeShapeType="1"/>
          </p:cNvSpPr>
          <p:nvPr/>
        </p:nvSpPr>
        <p:spPr bwMode="auto">
          <a:xfrm>
            <a:off x="1787525" y="36576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5" name="Line 411"/>
          <p:cNvSpPr>
            <a:spLocks noChangeShapeType="1"/>
          </p:cNvSpPr>
          <p:nvPr/>
        </p:nvSpPr>
        <p:spPr bwMode="auto">
          <a:xfrm>
            <a:off x="1787525" y="3810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6" name="Line 412"/>
          <p:cNvSpPr>
            <a:spLocks noChangeShapeType="1"/>
          </p:cNvSpPr>
          <p:nvPr/>
        </p:nvSpPr>
        <p:spPr bwMode="auto">
          <a:xfrm>
            <a:off x="1254125" y="29718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7" name="Line 413"/>
          <p:cNvSpPr>
            <a:spLocks noChangeShapeType="1"/>
          </p:cNvSpPr>
          <p:nvPr/>
        </p:nvSpPr>
        <p:spPr bwMode="auto">
          <a:xfrm>
            <a:off x="1254125" y="3124200"/>
            <a:ext cx="2895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8" name="Line 414"/>
          <p:cNvSpPr>
            <a:spLocks noChangeShapeType="1"/>
          </p:cNvSpPr>
          <p:nvPr/>
        </p:nvSpPr>
        <p:spPr bwMode="auto">
          <a:xfrm>
            <a:off x="25495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39" name="Line 415"/>
          <p:cNvSpPr>
            <a:spLocks noChangeShapeType="1"/>
          </p:cNvSpPr>
          <p:nvPr/>
        </p:nvSpPr>
        <p:spPr bwMode="auto">
          <a:xfrm>
            <a:off x="30829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0" name="Line 416"/>
          <p:cNvSpPr>
            <a:spLocks noChangeShapeType="1"/>
          </p:cNvSpPr>
          <p:nvPr/>
        </p:nvSpPr>
        <p:spPr bwMode="auto">
          <a:xfrm>
            <a:off x="36163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1" name="Line 417"/>
          <p:cNvSpPr>
            <a:spLocks noChangeShapeType="1"/>
          </p:cNvSpPr>
          <p:nvPr/>
        </p:nvSpPr>
        <p:spPr bwMode="auto">
          <a:xfrm>
            <a:off x="41497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2" name="Line 418"/>
          <p:cNvSpPr>
            <a:spLocks noChangeShapeType="1"/>
          </p:cNvSpPr>
          <p:nvPr/>
        </p:nvSpPr>
        <p:spPr bwMode="auto">
          <a:xfrm>
            <a:off x="720725" y="2286000"/>
            <a:ext cx="0" cy="2654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3" name="Line 419"/>
          <p:cNvSpPr>
            <a:spLocks noChangeShapeType="1"/>
          </p:cNvSpPr>
          <p:nvPr/>
        </p:nvSpPr>
        <p:spPr bwMode="auto">
          <a:xfrm>
            <a:off x="1482725" y="1524000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44" name="Text Box 420"/>
          <p:cNvSpPr txBox="1">
            <a:spLocks noChangeArrowheads="1"/>
          </p:cNvSpPr>
          <p:nvPr/>
        </p:nvSpPr>
        <p:spPr bwMode="auto">
          <a:xfrm>
            <a:off x="1712913" y="4311650"/>
            <a:ext cx="3078162" cy="315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L1 TLB (16 sets, 4 entries/set)</a:t>
            </a:r>
          </a:p>
        </p:txBody>
      </p:sp>
      <p:sp>
        <p:nvSpPr>
          <p:cNvPr id="45" name="Rectangle 421"/>
          <p:cNvSpPr>
            <a:spLocks noChangeArrowheads="1"/>
          </p:cNvSpPr>
          <p:nvPr/>
        </p:nvSpPr>
        <p:spPr bwMode="auto">
          <a:xfrm>
            <a:off x="5683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VPN1</a:t>
            </a:r>
          </a:p>
        </p:txBody>
      </p:sp>
      <p:sp>
        <p:nvSpPr>
          <p:cNvPr id="46" name="Rectangle 422"/>
          <p:cNvSpPr>
            <a:spLocks noChangeArrowheads="1"/>
          </p:cNvSpPr>
          <p:nvPr/>
        </p:nvSpPr>
        <p:spPr bwMode="auto">
          <a:xfrm>
            <a:off x="11017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VPN2</a:t>
            </a:r>
          </a:p>
        </p:txBody>
      </p:sp>
      <p:sp>
        <p:nvSpPr>
          <p:cNvPr id="47" name="Text Box 423"/>
          <p:cNvSpPr txBox="1">
            <a:spLocks noChangeArrowheads="1"/>
          </p:cNvSpPr>
          <p:nvPr/>
        </p:nvSpPr>
        <p:spPr bwMode="auto">
          <a:xfrm>
            <a:off x="1181100" y="4724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48" name="Text Box 424"/>
          <p:cNvSpPr txBox="1">
            <a:spLocks noChangeArrowheads="1"/>
          </p:cNvSpPr>
          <p:nvPr/>
        </p:nvSpPr>
        <p:spPr bwMode="auto">
          <a:xfrm>
            <a:off x="720725" y="4724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50" name="Rectangle 425"/>
          <p:cNvSpPr>
            <a:spLocks noChangeArrowheads="1"/>
          </p:cNvSpPr>
          <p:nvPr/>
        </p:nvSpPr>
        <p:spPr bwMode="auto">
          <a:xfrm>
            <a:off x="792163" y="5626100"/>
            <a:ext cx="315912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51" name="Rectangle 426"/>
          <p:cNvSpPr>
            <a:spLocks noChangeArrowheads="1"/>
          </p:cNvSpPr>
          <p:nvPr/>
        </p:nvSpPr>
        <p:spPr bwMode="auto">
          <a:xfrm>
            <a:off x="792163" y="5905500"/>
            <a:ext cx="315912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PTE</a:t>
            </a:r>
          </a:p>
        </p:txBody>
      </p:sp>
      <p:sp>
        <p:nvSpPr>
          <p:cNvPr id="52" name="Text Box 431"/>
          <p:cNvSpPr txBox="1">
            <a:spLocks noChangeArrowheads="1"/>
          </p:cNvSpPr>
          <p:nvPr/>
        </p:nvSpPr>
        <p:spPr bwMode="auto">
          <a:xfrm>
            <a:off x="0" y="5497513"/>
            <a:ext cx="536575" cy="315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dirty="0">
                <a:solidFill>
                  <a:schemeClr val="tx2"/>
                </a:solidFill>
                <a:latin typeface="+mn-lt"/>
              </a:rPr>
              <a:t>CR3</a:t>
            </a:r>
          </a:p>
        </p:txBody>
      </p:sp>
      <p:sp>
        <p:nvSpPr>
          <p:cNvPr id="53" name="Rectangle 436"/>
          <p:cNvSpPr>
            <a:spLocks noChangeArrowheads="1"/>
          </p:cNvSpPr>
          <p:nvPr/>
        </p:nvSpPr>
        <p:spPr bwMode="auto">
          <a:xfrm>
            <a:off x="4302125" y="5040313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PPN</a:t>
            </a:r>
          </a:p>
        </p:txBody>
      </p:sp>
      <p:sp>
        <p:nvSpPr>
          <p:cNvPr id="54" name="Rectangle 437"/>
          <p:cNvSpPr>
            <a:spLocks noChangeArrowheads="1"/>
          </p:cNvSpPr>
          <p:nvPr/>
        </p:nvSpPr>
        <p:spPr bwMode="auto">
          <a:xfrm>
            <a:off x="5368925" y="5040313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PPO</a:t>
            </a:r>
          </a:p>
        </p:txBody>
      </p:sp>
      <p:sp>
        <p:nvSpPr>
          <p:cNvPr id="55" name="Text Box 438"/>
          <p:cNvSpPr txBox="1">
            <a:spLocks noChangeArrowheads="1"/>
          </p:cNvSpPr>
          <p:nvPr/>
        </p:nvSpPr>
        <p:spPr bwMode="auto">
          <a:xfrm>
            <a:off x="4610100" y="4800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56" name="Text Box 439"/>
          <p:cNvSpPr txBox="1">
            <a:spLocks noChangeArrowheads="1"/>
          </p:cNvSpPr>
          <p:nvPr/>
        </p:nvSpPr>
        <p:spPr bwMode="auto">
          <a:xfrm>
            <a:off x="5486400" y="4800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57" name="Line 440"/>
          <p:cNvSpPr>
            <a:spLocks noChangeShapeType="1"/>
          </p:cNvSpPr>
          <p:nvPr/>
        </p:nvSpPr>
        <p:spPr bwMode="auto">
          <a:xfrm>
            <a:off x="4378325" y="3762375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58" name="Line 441"/>
          <p:cNvSpPr>
            <a:spLocks noChangeShapeType="1"/>
          </p:cNvSpPr>
          <p:nvPr/>
        </p:nvSpPr>
        <p:spPr bwMode="auto">
          <a:xfrm>
            <a:off x="4987925" y="3759200"/>
            <a:ext cx="0" cy="1270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59" name="Line 442"/>
          <p:cNvSpPr>
            <a:spLocks noChangeShapeType="1"/>
          </p:cNvSpPr>
          <p:nvPr/>
        </p:nvSpPr>
        <p:spPr bwMode="auto">
          <a:xfrm>
            <a:off x="3035300" y="6083300"/>
            <a:ext cx="1952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60" name="Line 443"/>
          <p:cNvSpPr>
            <a:spLocks noChangeShapeType="1"/>
          </p:cNvSpPr>
          <p:nvPr/>
        </p:nvSpPr>
        <p:spPr bwMode="auto">
          <a:xfrm flipH="1" flipV="1">
            <a:off x="4978400" y="5349875"/>
            <a:ext cx="952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61" name="Text Box 448"/>
          <p:cNvSpPr txBox="1">
            <a:spLocks noChangeArrowheads="1"/>
          </p:cNvSpPr>
          <p:nvPr/>
        </p:nvSpPr>
        <p:spPr bwMode="auto">
          <a:xfrm>
            <a:off x="1244600" y="6477000"/>
            <a:ext cx="1150053" cy="315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Page tables</a:t>
            </a:r>
          </a:p>
        </p:txBody>
      </p:sp>
      <p:sp>
        <p:nvSpPr>
          <p:cNvPr id="62" name="Text Box 449"/>
          <p:cNvSpPr txBox="1">
            <a:spLocks noChangeArrowheads="1"/>
          </p:cNvSpPr>
          <p:nvPr/>
        </p:nvSpPr>
        <p:spPr bwMode="auto">
          <a:xfrm>
            <a:off x="685800" y="3613150"/>
            <a:ext cx="605718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TLB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miss</a:t>
            </a:r>
          </a:p>
        </p:txBody>
      </p:sp>
      <p:sp>
        <p:nvSpPr>
          <p:cNvPr id="63" name="Text Box 450"/>
          <p:cNvSpPr txBox="1">
            <a:spLocks noChangeArrowheads="1"/>
          </p:cNvSpPr>
          <p:nvPr/>
        </p:nvSpPr>
        <p:spPr bwMode="auto">
          <a:xfrm>
            <a:off x="4514850" y="3175000"/>
            <a:ext cx="549212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TLB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hit</a:t>
            </a:r>
          </a:p>
        </p:txBody>
      </p:sp>
      <p:sp>
        <p:nvSpPr>
          <p:cNvPr id="64" name="Line 451"/>
          <p:cNvSpPr>
            <a:spLocks noChangeShapeType="1"/>
          </p:cNvSpPr>
          <p:nvPr/>
        </p:nvSpPr>
        <p:spPr bwMode="auto">
          <a:xfrm>
            <a:off x="2168525" y="2209800"/>
            <a:ext cx="3276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65" name="Line 452"/>
          <p:cNvSpPr>
            <a:spLocks noChangeShapeType="1"/>
          </p:cNvSpPr>
          <p:nvPr/>
        </p:nvSpPr>
        <p:spPr bwMode="auto">
          <a:xfrm>
            <a:off x="5445125" y="2209800"/>
            <a:ext cx="0" cy="281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66" name="Text Box 453"/>
          <p:cNvSpPr txBox="1">
            <a:spLocks noChangeArrowheads="1"/>
          </p:cNvSpPr>
          <p:nvPr/>
        </p:nvSpPr>
        <p:spPr bwMode="auto">
          <a:xfrm>
            <a:off x="5915025" y="5283200"/>
            <a:ext cx="865621" cy="906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Physical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address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(PA)</a:t>
            </a:r>
          </a:p>
        </p:txBody>
      </p:sp>
      <p:sp>
        <p:nvSpPr>
          <p:cNvPr id="67" name="Rectangle 454"/>
          <p:cNvSpPr>
            <a:spLocks noChangeArrowheads="1"/>
          </p:cNvSpPr>
          <p:nvPr/>
        </p:nvSpPr>
        <p:spPr bwMode="auto">
          <a:xfrm>
            <a:off x="5445125" y="12954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Result</a:t>
            </a:r>
          </a:p>
        </p:txBody>
      </p:sp>
      <p:sp>
        <p:nvSpPr>
          <p:cNvPr id="68" name="Text Box 455"/>
          <p:cNvSpPr txBox="1">
            <a:spLocks noChangeArrowheads="1"/>
          </p:cNvSpPr>
          <p:nvPr/>
        </p:nvSpPr>
        <p:spPr bwMode="auto">
          <a:xfrm>
            <a:off x="5810250" y="1066800"/>
            <a:ext cx="560850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32/64</a:t>
            </a:r>
          </a:p>
        </p:txBody>
      </p:sp>
      <p:sp>
        <p:nvSpPr>
          <p:cNvPr id="69" name="Rectangle 456"/>
          <p:cNvSpPr>
            <a:spLocks noChangeArrowheads="1"/>
          </p:cNvSpPr>
          <p:nvPr/>
        </p:nvSpPr>
        <p:spPr bwMode="auto">
          <a:xfrm>
            <a:off x="57499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0" name="Rectangle 457"/>
          <p:cNvSpPr>
            <a:spLocks noChangeArrowheads="1"/>
          </p:cNvSpPr>
          <p:nvPr/>
        </p:nvSpPr>
        <p:spPr bwMode="auto">
          <a:xfrm>
            <a:off x="62833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1" name="Rectangle 458"/>
          <p:cNvSpPr>
            <a:spLocks noChangeArrowheads="1"/>
          </p:cNvSpPr>
          <p:nvPr/>
        </p:nvSpPr>
        <p:spPr bwMode="auto">
          <a:xfrm>
            <a:off x="68167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2" name="Rectangle 459"/>
          <p:cNvSpPr>
            <a:spLocks noChangeArrowheads="1"/>
          </p:cNvSpPr>
          <p:nvPr/>
        </p:nvSpPr>
        <p:spPr bwMode="auto">
          <a:xfrm>
            <a:off x="73501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3" name="Rectangle 460"/>
          <p:cNvSpPr>
            <a:spLocks noChangeArrowheads="1"/>
          </p:cNvSpPr>
          <p:nvPr/>
        </p:nvSpPr>
        <p:spPr bwMode="auto">
          <a:xfrm>
            <a:off x="57499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4" name="Rectangle 461"/>
          <p:cNvSpPr>
            <a:spLocks noChangeArrowheads="1"/>
          </p:cNvSpPr>
          <p:nvPr/>
        </p:nvSpPr>
        <p:spPr bwMode="auto">
          <a:xfrm>
            <a:off x="62833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5" name="Rectangle 462"/>
          <p:cNvSpPr>
            <a:spLocks noChangeArrowheads="1"/>
          </p:cNvSpPr>
          <p:nvPr/>
        </p:nvSpPr>
        <p:spPr bwMode="auto">
          <a:xfrm>
            <a:off x="68167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6" name="Rectangle 463"/>
          <p:cNvSpPr>
            <a:spLocks noChangeArrowheads="1"/>
          </p:cNvSpPr>
          <p:nvPr/>
        </p:nvSpPr>
        <p:spPr bwMode="auto">
          <a:xfrm>
            <a:off x="73501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7" name="Rectangle 464"/>
          <p:cNvSpPr>
            <a:spLocks noChangeArrowheads="1"/>
          </p:cNvSpPr>
          <p:nvPr/>
        </p:nvSpPr>
        <p:spPr bwMode="auto">
          <a:xfrm>
            <a:off x="57499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8" name="Rectangle 465"/>
          <p:cNvSpPr>
            <a:spLocks noChangeArrowheads="1"/>
          </p:cNvSpPr>
          <p:nvPr/>
        </p:nvSpPr>
        <p:spPr bwMode="auto">
          <a:xfrm>
            <a:off x="62833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9" name="Rectangle 466"/>
          <p:cNvSpPr>
            <a:spLocks noChangeArrowheads="1"/>
          </p:cNvSpPr>
          <p:nvPr/>
        </p:nvSpPr>
        <p:spPr bwMode="auto">
          <a:xfrm>
            <a:off x="68167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0" name="Rectangle 467"/>
          <p:cNvSpPr>
            <a:spLocks noChangeArrowheads="1"/>
          </p:cNvSpPr>
          <p:nvPr/>
        </p:nvSpPr>
        <p:spPr bwMode="auto">
          <a:xfrm>
            <a:off x="73501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1" name="Rectangle 468"/>
          <p:cNvSpPr>
            <a:spLocks noChangeArrowheads="1"/>
          </p:cNvSpPr>
          <p:nvPr/>
        </p:nvSpPr>
        <p:spPr bwMode="auto">
          <a:xfrm>
            <a:off x="57499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2" name="Rectangle 469"/>
          <p:cNvSpPr>
            <a:spLocks noChangeArrowheads="1"/>
          </p:cNvSpPr>
          <p:nvPr/>
        </p:nvSpPr>
        <p:spPr bwMode="auto">
          <a:xfrm>
            <a:off x="62833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3" name="Rectangle 470"/>
          <p:cNvSpPr>
            <a:spLocks noChangeArrowheads="1"/>
          </p:cNvSpPr>
          <p:nvPr/>
        </p:nvSpPr>
        <p:spPr bwMode="auto">
          <a:xfrm>
            <a:off x="68167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4" name="Rectangle 471"/>
          <p:cNvSpPr>
            <a:spLocks noChangeArrowheads="1"/>
          </p:cNvSpPr>
          <p:nvPr/>
        </p:nvSpPr>
        <p:spPr bwMode="auto">
          <a:xfrm>
            <a:off x="73501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6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5" name="Text Box 472"/>
          <p:cNvSpPr txBox="1">
            <a:spLocks noChangeArrowheads="1"/>
          </p:cNvSpPr>
          <p:nvPr/>
        </p:nvSpPr>
        <p:spPr bwMode="auto">
          <a:xfrm>
            <a:off x="6719431" y="3863975"/>
            <a:ext cx="408444" cy="25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86" name="Line 473"/>
          <p:cNvSpPr>
            <a:spLocks noChangeShapeType="1"/>
          </p:cNvSpPr>
          <p:nvPr/>
        </p:nvSpPr>
        <p:spPr bwMode="auto">
          <a:xfrm>
            <a:off x="6130925" y="5181600"/>
            <a:ext cx="4572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87" name="Line 474"/>
          <p:cNvSpPr>
            <a:spLocks noChangeShapeType="1"/>
          </p:cNvSpPr>
          <p:nvPr/>
        </p:nvSpPr>
        <p:spPr bwMode="auto">
          <a:xfrm flipV="1">
            <a:off x="7121525" y="4648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88" name="Line 475"/>
          <p:cNvSpPr>
            <a:spLocks noChangeShapeType="1"/>
          </p:cNvSpPr>
          <p:nvPr/>
        </p:nvSpPr>
        <p:spPr bwMode="auto">
          <a:xfrm flipV="1">
            <a:off x="8493125" y="4648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89" name="Line 476"/>
          <p:cNvSpPr>
            <a:spLocks noChangeShapeType="1"/>
          </p:cNvSpPr>
          <p:nvPr/>
        </p:nvSpPr>
        <p:spPr bwMode="auto">
          <a:xfrm>
            <a:off x="5888038" y="4643438"/>
            <a:ext cx="2605087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0" name="Line 477"/>
          <p:cNvSpPr>
            <a:spLocks noChangeShapeType="1"/>
          </p:cNvSpPr>
          <p:nvPr/>
        </p:nvSpPr>
        <p:spPr bwMode="auto">
          <a:xfrm flipV="1">
            <a:off x="5889625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1" name="Line 478"/>
          <p:cNvSpPr>
            <a:spLocks noChangeShapeType="1"/>
          </p:cNvSpPr>
          <p:nvPr/>
        </p:nvSpPr>
        <p:spPr bwMode="auto">
          <a:xfrm flipV="1">
            <a:off x="6435725" y="4267200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2" name="Line 479"/>
          <p:cNvSpPr>
            <a:spLocks noChangeShapeType="1"/>
          </p:cNvSpPr>
          <p:nvPr/>
        </p:nvSpPr>
        <p:spPr bwMode="auto">
          <a:xfrm flipV="1">
            <a:off x="6959600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3" name="Line 480"/>
          <p:cNvSpPr>
            <a:spLocks noChangeShapeType="1"/>
          </p:cNvSpPr>
          <p:nvPr/>
        </p:nvSpPr>
        <p:spPr bwMode="auto">
          <a:xfrm flipV="1">
            <a:off x="7493000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4" name="Line 481"/>
          <p:cNvSpPr>
            <a:spLocks noChangeShapeType="1"/>
          </p:cNvSpPr>
          <p:nvPr/>
        </p:nvSpPr>
        <p:spPr bwMode="auto">
          <a:xfrm flipV="1">
            <a:off x="8188325" y="3505200"/>
            <a:ext cx="0" cy="1524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5" name="Line 482"/>
          <p:cNvSpPr>
            <a:spLocks noChangeShapeType="1"/>
          </p:cNvSpPr>
          <p:nvPr/>
        </p:nvSpPr>
        <p:spPr bwMode="auto">
          <a:xfrm flipH="1">
            <a:off x="7883525" y="35052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6" name="Line 483"/>
          <p:cNvSpPr>
            <a:spLocks noChangeShapeType="1"/>
          </p:cNvSpPr>
          <p:nvPr/>
        </p:nvSpPr>
        <p:spPr bwMode="auto">
          <a:xfrm flipH="1">
            <a:off x="7883525" y="36576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7" name="Line 484"/>
          <p:cNvSpPr>
            <a:spLocks noChangeShapeType="1"/>
          </p:cNvSpPr>
          <p:nvPr/>
        </p:nvSpPr>
        <p:spPr bwMode="auto">
          <a:xfrm flipH="1">
            <a:off x="7883525" y="38100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8" name="Line 485"/>
          <p:cNvSpPr>
            <a:spLocks noChangeShapeType="1"/>
          </p:cNvSpPr>
          <p:nvPr/>
        </p:nvSpPr>
        <p:spPr bwMode="auto">
          <a:xfrm flipH="1">
            <a:off x="7883525" y="41910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99" name="Line 429"/>
          <p:cNvSpPr>
            <a:spLocks noChangeShapeType="1"/>
          </p:cNvSpPr>
          <p:nvPr/>
        </p:nvSpPr>
        <p:spPr bwMode="auto">
          <a:xfrm>
            <a:off x="658813" y="5245100"/>
            <a:ext cx="0" cy="776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0" name="Line 430"/>
          <p:cNvSpPr>
            <a:spLocks noChangeShapeType="1"/>
          </p:cNvSpPr>
          <p:nvPr/>
        </p:nvSpPr>
        <p:spPr bwMode="auto">
          <a:xfrm flipV="1">
            <a:off x="658813" y="6021388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101" name="Oval 486"/>
          <p:cNvSpPr>
            <a:spLocks noChangeArrowheads="1"/>
          </p:cNvSpPr>
          <p:nvPr/>
        </p:nvSpPr>
        <p:spPr bwMode="auto">
          <a:xfrm>
            <a:off x="623888" y="52070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2" name="Oval 487"/>
          <p:cNvSpPr>
            <a:spLocks noChangeArrowheads="1"/>
          </p:cNvSpPr>
          <p:nvPr/>
        </p:nvSpPr>
        <p:spPr bwMode="auto">
          <a:xfrm>
            <a:off x="695325" y="22606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3" name="Oval 488"/>
          <p:cNvSpPr>
            <a:spLocks noChangeArrowheads="1"/>
          </p:cNvSpPr>
          <p:nvPr/>
        </p:nvSpPr>
        <p:spPr bwMode="auto">
          <a:xfrm>
            <a:off x="2130425" y="21590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4" name="Oval 489"/>
          <p:cNvSpPr>
            <a:spLocks noChangeArrowheads="1"/>
          </p:cNvSpPr>
          <p:nvPr/>
        </p:nvSpPr>
        <p:spPr bwMode="auto">
          <a:xfrm>
            <a:off x="1368425" y="22606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5" name="Line 491"/>
          <p:cNvSpPr>
            <a:spLocks noChangeShapeType="1"/>
          </p:cNvSpPr>
          <p:nvPr/>
        </p:nvSpPr>
        <p:spPr bwMode="auto">
          <a:xfrm flipH="1" flipV="1">
            <a:off x="6054725" y="1600200"/>
            <a:ext cx="0" cy="1828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06" name="Rectangle 492"/>
          <p:cNvSpPr>
            <a:spLocks noChangeArrowheads="1"/>
          </p:cNvSpPr>
          <p:nvPr/>
        </p:nvSpPr>
        <p:spPr bwMode="auto">
          <a:xfrm>
            <a:off x="6892925" y="50292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CT</a:t>
            </a:r>
          </a:p>
        </p:txBody>
      </p:sp>
      <p:sp>
        <p:nvSpPr>
          <p:cNvPr id="107" name="Rectangle 493"/>
          <p:cNvSpPr>
            <a:spLocks noChangeArrowheads="1"/>
          </p:cNvSpPr>
          <p:nvPr/>
        </p:nvSpPr>
        <p:spPr bwMode="auto">
          <a:xfrm>
            <a:off x="8264525" y="50292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CO</a:t>
            </a:r>
          </a:p>
        </p:txBody>
      </p:sp>
      <p:sp>
        <p:nvSpPr>
          <p:cNvPr id="108" name="Text Box 494"/>
          <p:cNvSpPr txBox="1">
            <a:spLocks noChangeArrowheads="1"/>
          </p:cNvSpPr>
          <p:nvPr/>
        </p:nvSpPr>
        <p:spPr bwMode="auto">
          <a:xfrm>
            <a:off x="7251700" y="4800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109" name="Text Box 495"/>
          <p:cNvSpPr txBox="1">
            <a:spLocks noChangeArrowheads="1"/>
          </p:cNvSpPr>
          <p:nvPr/>
        </p:nvSpPr>
        <p:spPr bwMode="auto">
          <a:xfrm>
            <a:off x="8289925" y="48006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6</a:t>
            </a:r>
          </a:p>
        </p:txBody>
      </p:sp>
      <p:sp>
        <p:nvSpPr>
          <p:cNvPr id="110" name="Rectangle 496"/>
          <p:cNvSpPr>
            <a:spLocks noChangeArrowheads="1"/>
          </p:cNvSpPr>
          <p:nvPr/>
        </p:nvSpPr>
        <p:spPr bwMode="auto">
          <a:xfrm>
            <a:off x="7959725" y="50292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tx2"/>
                </a:solidFill>
                <a:latin typeface="+mn-lt"/>
              </a:rPr>
              <a:t>CI</a:t>
            </a:r>
          </a:p>
        </p:txBody>
      </p:sp>
      <p:sp>
        <p:nvSpPr>
          <p:cNvPr id="111" name="Text Box 497"/>
          <p:cNvSpPr txBox="1">
            <a:spLocks noChangeArrowheads="1"/>
          </p:cNvSpPr>
          <p:nvPr/>
        </p:nvSpPr>
        <p:spPr bwMode="auto">
          <a:xfrm>
            <a:off x="7959725" y="48006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6</a:t>
            </a:r>
          </a:p>
        </p:txBody>
      </p:sp>
      <p:sp>
        <p:nvSpPr>
          <p:cNvPr id="112" name="Oval 498"/>
          <p:cNvSpPr>
            <a:spLocks noChangeArrowheads="1"/>
          </p:cNvSpPr>
          <p:nvPr/>
        </p:nvSpPr>
        <p:spPr bwMode="auto">
          <a:xfrm>
            <a:off x="70834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3" name="Oval 499"/>
          <p:cNvSpPr>
            <a:spLocks noChangeArrowheads="1"/>
          </p:cNvSpPr>
          <p:nvPr/>
        </p:nvSpPr>
        <p:spPr bwMode="auto">
          <a:xfrm>
            <a:off x="81375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4" name="Oval 500"/>
          <p:cNvSpPr>
            <a:spLocks noChangeArrowheads="1"/>
          </p:cNvSpPr>
          <p:nvPr/>
        </p:nvSpPr>
        <p:spPr bwMode="auto">
          <a:xfrm>
            <a:off x="84550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5" name="Line 501"/>
          <p:cNvSpPr>
            <a:spLocks noChangeShapeType="1"/>
          </p:cNvSpPr>
          <p:nvPr/>
        </p:nvSpPr>
        <p:spPr bwMode="auto">
          <a:xfrm>
            <a:off x="7883525" y="5715000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6" name="Line 502"/>
          <p:cNvSpPr>
            <a:spLocks noChangeShapeType="1"/>
          </p:cNvSpPr>
          <p:nvPr/>
        </p:nvSpPr>
        <p:spPr bwMode="auto">
          <a:xfrm flipV="1">
            <a:off x="8874125" y="2590800"/>
            <a:ext cx="0" cy="3124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17" name="Rectangle 503"/>
          <p:cNvSpPr>
            <a:spLocks noChangeArrowheads="1"/>
          </p:cNvSpPr>
          <p:nvPr/>
        </p:nvSpPr>
        <p:spPr bwMode="auto">
          <a:xfrm>
            <a:off x="7426325" y="1066800"/>
            <a:ext cx="1524000" cy="8382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L2, L3, and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main memory</a:t>
            </a:r>
            <a:endParaRPr lang="en-US" sz="16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18" name="Text Box 504"/>
          <p:cNvSpPr txBox="1">
            <a:spLocks noChangeArrowheads="1"/>
          </p:cNvSpPr>
          <p:nvPr/>
        </p:nvSpPr>
        <p:spPr bwMode="auto">
          <a:xfrm>
            <a:off x="5724525" y="2806700"/>
            <a:ext cx="2773363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L1 </a:t>
            </a:r>
            <a:r>
              <a:rPr lang="en-US" sz="1600" b="1" dirty="0" err="1">
                <a:solidFill>
                  <a:schemeClr val="tx2"/>
                </a:solidFill>
                <a:latin typeface="+mn-lt"/>
              </a:rPr>
              <a:t>d</a:t>
            </a:r>
            <a:r>
              <a:rPr lang="en-US" sz="1600" b="1" dirty="0">
                <a:solidFill>
                  <a:schemeClr val="tx2"/>
                </a:solidFill>
                <a:latin typeface="+mn-lt"/>
              </a:rPr>
              <a:t>-cache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b="1" dirty="0">
                <a:solidFill>
                  <a:schemeClr val="tx2"/>
                </a:solidFill>
                <a:latin typeface="+mn-lt"/>
              </a:rPr>
              <a:t>(64 sets, 8 lines/set)</a:t>
            </a:r>
          </a:p>
        </p:txBody>
      </p:sp>
      <p:sp>
        <p:nvSpPr>
          <p:cNvPr id="119" name="Line 505"/>
          <p:cNvSpPr>
            <a:spLocks noChangeShapeType="1"/>
          </p:cNvSpPr>
          <p:nvPr/>
        </p:nvSpPr>
        <p:spPr bwMode="auto">
          <a:xfrm flipH="1">
            <a:off x="8264525" y="259080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0" name="Line 506"/>
          <p:cNvSpPr>
            <a:spLocks noChangeShapeType="1"/>
          </p:cNvSpPr>
          <p:nvPr/>
        </p:nvSpPr>
        <p:spPr bwMode="auto">
          <a:xfrm flipV="1">
            <a:off x="8264525" y="1905000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1" name="Line 507"/>
          <p:cNvSpPr>
            <a:spLocks noChangeShapeType="1"/>
          </p:cNvSpPr>
          <p:nvPr/>
        </p:nvSpPr>
        <p:spPr bwMode="auto">
          <a:xfrm flipH="1">
            <a:off x="6511925" y="1447800"/>
            <a:ext cx="914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2" name="Text Box 508"/>
          <p:cNvSpPr txBox="1">
            <a:spLocks noChangeArrowheads="1"/>
          </p:cNvSpPr>
          <p:nvPr/>
        </p:nvSpPr>
        <p:spPr bwMode="auto">
          <a:xfrm>
            <a:off x="6013450" y="2057400"/>
            <a:ext cx="461251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L1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hit</a:t>
            </a:r>
          </a:p>
        </p:txBody>
      </p:sp>
      <p:sp>
        <p:nvSpPr>
          <p:cNvPr id="123" name="Text Box 509"/>
          <p:cNvSpPr txBox="1">
            <a:spLocks noChangeArrowheads="1"/>
          </p:cNvSpPr>
          <p:nvPr/>
        </p:nvSpPr>
        <p:spPr bwMode="auto">
          <a:xfrm>
            <a:off x="8229600" y="1981200"/>
            <a:ext cx="605718" cy="61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L1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600" i="1" dirty="0">
                <a:solidFill>
                  <a:schemeClr val="tx2"/>
                </a:solidFill>
                <a:latin typeface="+mn-lt"/>
              </a:rPr>
              <a:t>miss</a:t>
            </a:r>
          </a:p>
        </p:txBody>
      </p:sp>
      <p:sp>
        <p:nvSpPr>
          <p:cNvPr id="124" name="Line 510"/>
          <p:cNvSpPr>
            <a:spLocks noChangeShapeType="1"/>
          </p:cNvSpPr>
          <p:nvPr/>
        </p:nvSpPr>
        <p:spPr bwMode="auto">
          <a:xfrm flipH="1">
            <a:off x="1787525" y="1447800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5" name="Line 511"/>
          <p:cNvSpPr>
            <a:spLocks noChangeShapeType="1"/>
          </p:cNvSpPr>
          <p:nvPr/>
        </p:nvSpPr>
        <p:spPr bwMode="auto">
          <a:xfrm flipV="1">
            <a:off x="7731125" y="54864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6" name="Line 512"/>
          <p:cNvSpPr>
            <a:spLocks noChangeShapeType="1"/>
          </p:cNvSpPr>
          <p:nvPr/>
        </p:nvSpPr>
        <p:spPr bwMode="auto">
          <a:xfrm>
            <a:off x="7883525" y="54864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27" name="Text Box 513"/>
          <p:cNvSpPr txBox="1">
            <a:spLocks noChangeArrowheads="1"/>
          </p:cNvSpPr>
          <p:nvPr/>
        </p:nvSpPr>
        <p:spPr bwMode="auto">
          <a:xfrm>
            <a:off x="1411288" y="1529348"/>
            <a:ext cx="188956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+mn-lt"/>
              </a:rPr>
              <a:t>Virtual address (VA)</a:t>
            </a:r>
          </a:p>
        </p:txBody>
      </p:sp>
      <p:sp>
        <p:nvSpPr>
          <p:cNvPr id="128" name="Rectangle 514"/>
          <p:cNvSpPr>
            <a:spLocks noChangeArrowheads="1"/>
          </p:cNvSpPr>
          <p:nvPr/>
        </p:nvSpPr>
        <p:spPr bwMode="auto">
          <a:xfrm>
            <a:off x="16351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VPN3</a:t>
            </a:r>
          </a:p>
        </p:txBody>
      </p:sp>
      <p:sp>
        <p:nvSpPr>
          <p:cNvPr id="129" name="Rectangle 515"/>
          <p:cNvSpPr>
            <a:spLocks noChangeArrowheads="1"/>
          </p:cNvSpPr>
          <p:nvPr/>
        </p:nvSpPr>
        <p:spPr bwMode="auto">
          <a:xfrm>
            <a:off x="21685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VPN4</a:t>
            </a:r>
          </a:p>
        </p:txBody>
      </p:sp>
      <p:sp>
        <p:nvSpPr>
          <p:cNvPr id="130" name="Text Box 516"/>
          <p:cNvSpPr txBox="1">
            <a:spLocks noChangeArrowheads="1"/>
          </p:cNvSpPr>
          <p:nvPr/>
        </p:nvSpPr>
        <p:spPr bwMode="auto">
          <a:xfrm>
            <a:off x="2247900" y="4724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131" name="Text Box 517"/>
          <p:cNvSpPr txBox="1">
            <a:spLocks noChangeArrowheads="1"/>
          </p:cNvSpPr>
          <p:nvPr/>
        </p:nvSpPr>
        <p:spPr bwMode="auto">
          <a:xfrm>
            <a:off x="1787525" y="4724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grpSp>
        <p:nvGrpSpPr>
          <p:cNvPr id="132" name="Group 641"/>
          <p:cNvGrpSpPr>
            <a:grpSpLocks/>
          </p:cNvGrpSpPr>
          <p:nvPr/>
        </p:nvGrpSpPr>
        <p:grpSpPr bwMode="auto">
          <a:xfrm>
            <a:off x="1106488" y="5632450"/>
            <a:ext cx="276225" cy="450850"/>
            <a:chOff x="739" y="2900"/>
            <a:chExt cx="174" cy="284"/>
          </a:xfrm>
        </p:grpSpPr>
        <p:sp>
          <p:nvSpPr>
            <p:cNvPr id="133" name="Line 433"/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34" name="Line 434"/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35" name="Line 523"/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</p:grpSp>
      <p:sp>
        <p:nvSpPr>
          <p:cNvPr id="136" name="Rectangle 525"/>
          <p:cNvSpPr>
            <a:spLocks noChangeArrowheads="1"/>
          </p:cNvSpPr>
          <p:nvPr/>
        </p:nvSpPr>
        <p:spPr bwMode="auto">
          <a:xfrm>
            <a:off x="1387475" y="5626100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37" name="Rectangle 526"/>
          <p:cNvSpPr>
            <a:spLocks noChangeArrowheads="1"/>
          </p:cNvSpPr>
          <p:nvPr/>
        </p:nvSpPr>
        <p:spPr bwMode="auto">
          <a:xfrm>
            <a:off x="1387475" y="5905500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PTE</a:t>
            </a:r>
          </a:p>
        </p:txBody>
      </p:sp>
      <p:sp>
        <p:nvSpPr>
          <p:cNvPr id="138" name="Line 542"/>
          <p:cNvSpPr>
            <a:spLocks noChangeShapeType="1"/>
          </p:cNvSpPr>
          <p:nvPr/>
        </p:nvSpPr>
        <p:spPr bwMode="auto">
          <a:xfrm>
            <a:off x="1249363" y="5254625"/>
            <a:ext cx="0" cy="784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39" name="Line 543"/>
          <p:cNvSpPr>
            <a:spLocks noChangeShapeType="1"/>
          </p:cNvSpPr>
          <p:nvPr/>
        </p:nvSpPr>
        <p:spPr bwMode="auto">
          <a:xfrm flipV="1">
            <a:off x="1249363" y="6030913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140" name="Oval 544"/>
          <p:cNvSpPr>
            <a:spLocks noChangeArrowheads="1"/>
          </p:cNvSpPr>
          <p:nvPr/>
        </p:nvSpPr>
        <p:spPr bwMode="auto">
          <a:xfrm>
            <a:off x="1214438" y="521652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1" name="Rectangle 610"/>
          <p:cNvSpPr>
            <a:spLocks noChangeArrowheads="1"/>
          </p:cNvSpPr>
          <p:nvPr/>
        </p:nvSpPr>
        <p:spPr bwMode="auto">
          <a:xfrm>
            <a:off x="2025650" y="5626100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2" name="Rectangle 611"/>
          <p:cNvSpPr>
            <a:spLocks noChangeArrowheads="1"/>
          </p:cNvSpPr>
          <p:nvPr/>
        </p:nvSpPr>
        <p:spPr bwMode="auto">
          <a:xfrm>
            <a:off x="2025650" y="5905500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PTE</a:t>
            </a:r>
          </a:p>
        </p:txBody>
      </p:sp>
      <p:sp>
        <p:nvSpPr>
          <p:cNvPr id="143" name="Line 612"/>
          <p:cNvSpPr>
            <a:spLocks noChangeShapeType="1"/>
          </p:cNvSpPr>
          <p:nvPr/>
        </p:nvSpPr>
        <p:spPr bwMode="auto">
          <a:xfrm flipH="1">
            <a:off x="1885950" y="5254625"/>
            <a:ext cx="1588" cy="790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4" name="Line 613"/>
          <p:cNvSpPr>
            <a:spLocks noChangeShapeType="1"/>
          </p:cNvSpPr>
          <p:nvPr/>
        </p:nvSpPr>
        <p:spPr bwMode="auto">
          <a:xfrm flipV="1">
            <a:off x="1887538" y="6035675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145" name="Oval 614"/>
          <p:cNvSpPr>
            <a:spLocks noChangeArrowheads="1"/>
          </p:cNvSpPr>
          <p:nvPr/>
        </p:nvSpPr>
        <p:spPr bwMode="auto">
          <a:xfrm>
            <a:off x="1852613" y="521652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6" name="Rectangle 619"/>
          <p:cNvSpPr>
            <a:spLocks noChangeArrowheads="1"/>
          </p:cNvSpPr>
          <p:nvPr/>
        </p:nvSpPr>
        <p:spPr bwMode="auto">
          <a:xfrm>
            <a:off x="2663825" y="5621338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7" name="Rectangle 620"/>
          <p:cNvSpPr>
            <a:spLocks noChangeArrowheads="1"/>
          </p:cNvSpPr>
          <p:nvPr/>
        </p:nvSpPr>
        <p:spPr bwMode="auto">
          <a:xfrm>
            <a:off x="2663825" y="5900738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PTE</a:t>
            </a:r>
          </a:p>
        </p:txBody>
      </p:sp>
      <p:sp>
        <p:nvSpPr>
          <p:cNvPr id="148" name="Line 621"/>
          <p:cNvSpPr>
            <a:spLocks noChangeShapeType="1"/>
          </p:cNvSpPr>
          <p:nvPr/>
        </p:nvSpPr>
        <p:spPr bwMode="auto">
          <a:xfrm>
            <a:off x="2525713" y="5249863"/>
            <a:ext cx="0" cy="788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49" name="Line 622"/>
          <p:cNvSpPr>
            <a:spLocks noChangeShapeType="1"/>
          </p:cNvSpPr>
          <p:nvPr/>
        </p:nvSpPr>
        <p:spPr bwMode="auto">
          <a:xfrm flipV="1">
            <a:off x="2525713" y="6035675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150" name="Oval 623"/>
          <p:cNvSpPr>
            <a:spLocks noChangeArrowheads="1"/>
          </p:cNvSpPr>
          <p:nvPr/>
        </p:nvSpPr>
        <p:spPr bwMode="auto">
          <a:xfrm>
            <a:off x="2490788" y="5211763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1" name="Line 626"/>
          <p:cNvSpPr>
            <a:spLocks noChangeShapeType="1"/>
          </p:cNvSpPr>
          <p:nvPr/>
        </p:nvSpPr>
        <p:spPr bwMode="auto">
          <a:xfrm>
            <a:off x="6016625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2" name="Line 627"/>
          <p:cNvSpPr>
            <a:spLocks noChangeShapeType="1"/>
          </p:cNvSpPr>
          <p:nvPr/>
        </p:nvSpPr>
        <p:spPr bwMode="auto">
          <a:xfrm>
            <a:off x="6540500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3" name="Line 628"/>
          <p:cNvSpPr>
            <a:spLocks noChangeShapeType="1"/>
          </p:cNvSpPr>
          <p:nvPr/>
        </p:nvSpPr>
        <p:spPr bwMode="auto">
          <a:xfrm>
            <a:off x="7064375" y="3429000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4" name="Line 629"/>
          <p:cNvSpPr>
            <a:spLocks noChangeShapeType="1"/>
          </p:cNvSpPr>
          <p:nvPr/>
        </p:nvSpPr>
        <p:spPr bwMode="auto">
          <a:xfrm>
            <a:off x="7616825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5" name="Line 631"/>
          <p:cNvSpPr>
            <a:spLocks noChangeShapeType="1"/>
          </p:cNvSpPr>
          <p:nvPr/>
        </p:nvSpPr>
        <p:spPr bwMode="auto">
          <a:xfrm>
            <a:off x="6019800" y="4114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6" name="Line 632"/>
          <p:cNvSpPr>
            <a:spLocks noChangeShapeType="1"/>
          </p:cNvSpPr>
          <p:nvPr/>
        </p:nvSpPr>
        <p:spPr bwMode="auto">
          <a:xfrm>
            <a:off x="6550025" y="4119563"/>
            <a:ext cx="0" cy="147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7" name="Line 633"/>
          <p:cNvSpPr>
            <a:spLocks noChangeShapeType="1"/>
          </p:cNvSpPr>
          <p:nvPr/>
        </p:nvSpPr>
        <p:spPr bwMode="auto">
          <a:xfrm>
            <a:off x="7086600" y="4117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8" name="Line 634"/>
          <p:cNvSpPr>
            <a:spLocks noChangeShapeType="1"/>
          </p:cNvSpPr>
          <p:nvPr/>
        </p:nvSpPr>
        <p:spPr bwMode="auto">
          <a:xfrm>
            <a:off x="7616825" y="4117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59" name="Line 635"/>
          <p:cNvSpPr>
            <a:spLocks noChangeShapeType="1"/>
          </p:cNvSpPr>
          <p:nvPr/>
        </p:nvSpPr>
        <p:spPr bwMode="auto">
          <a:xfrm flipV="1">
            <a:off x="6162675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60" name="Line 636"/>
          <p:cNvSpPr>
            <a:spLocks noChangeShapeType="1"/>
          </p:cNvSpPr>
          <p:nvPr/>
        </p:nvSpPr>
        <p:spPr bwMode="auto">
          <a:xfrm flipV="1">
            <a:off x="6683375" y="4268788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61" name="Line 637"/>
          <p:cNvSpPr>
            <a:spLocks noChangeShapeType="1"/>
          </p:cNvSpPr>
          <p:nvPr/>
        </p:nvSpPr>
        <p:spPr bwMode="auto">
          <a:xfrm flipV="1">
            <a:off x="7223125" y="426085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62" name="Line 638"/>
          <p:cNvSpPr>
            <a:spLocks noChangeShapeType="1"/>
          </p:cNvSpPr>
          <p:nvPr/>
        </p:nvSpPr>
        <p:spPr bwMode="auto">
          <a:xfrm flipV="1">
            <a:off x="7759700" y="4270375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sp>
        <p:nvSpPr>
          <p:cNvPr id="163" name="Line 639"/>
          <p:cNvSpPr>
            <a:spLocks noChangeShapeType="1"/>
          </p:cNvSpPr>
          <p:nvPr/>
        </p:nvSpPr>
        <p:spPr bwMode="auto">
          <a:xfrm>
            <a:off x="536575" y="5626100"/>
            <a:ext cx="234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  <p:grpSp>
        <p:nvGrpSpPr>
          <p:cNvPr id="164" name="Group 642"/>
          <p:cNvGrpSpPr>
            <a:grpSpLocks/>
          </p:cNvGrpSpPr>
          <p:nvPr/>
        </p:nvGrpSpPr>
        <p:grpSpPr bwMode="auto">
          <a:xfrm>
            <a:off x="1754188" y="5627688"/>
            <a:ext cx="276225" cy="450850"/>
            <a:chOff x="739" y="2900"/>
            <a:chExt cx="174" cy="284"/>
          </a:xfrm>
        </p:grpSpPr>
        <p:sp>
          <p:nvSpPr>
            <p:cNvPr id="165" name="Line 643"/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66" name="Line 644"/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67" name="Line 645"/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</p:grpSp>
      <p:grpSp>
        <p:nvGrpSpPr>
          <p:cNvPr id="168" name="Group 646"/>
          <p:cNvGrpSpPr>
            <a:grpSpLocks/>
          </p:cNvGrpSpPr>
          <p:nvPr/>
        </p:nvGrpSpPr>
        <p:grpSpPr bwMode="auto">
          <a:xfrm>
            <a:off x="2392363" y="5627688"/>
            <a:ext cx="276225" cy="450850"/>
            <a:chOff x="739" y="2900"/>
            <a:chExt cx="174" cy="284"/>
          </a:xfrm>
        </p:grpSpPr>
        <p:sp>
          <p:nvSpPr>
            <p:cNvPr id="169" name="Line 647"/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70" name="Line 648"/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71" name="Line 649"/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endParaRPr lang="en-US" sz="16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59094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93713"/>
            <a:ext cx="73485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Core i7 Level 1-3 Page Table Entries</a:t>
            </a: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828800" y="1524000"/>
            <a:ext cx="2667000" cy="3810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Page table physical base address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4495800" y="1524000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5486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G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5867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PS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6248400" y="1524000"/>
            <a:ext cx="3810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6629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A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7010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CD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7391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WT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7772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U/S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8153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R/W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8534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P=1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457200" y="2712466"/>
            <a:ext cx="6934200" cy="354637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Each entry references a 4K child page table. </a:t>
            </a:r>
            <a:r>
              <a:rPr lang="en-GB" sz="2000" dirty="0">
                <a:latin typeface="Calibri" pitchFamily="34" charset="0"/>
                <a:ea typeface="msgothic" charset="0"/>
                <a:cs typeface="msgothic" charset="0"/>
              </a:rPr>
              <a:t>Significant fields:</a:t>
            </a:r>
            <a:endParaRPr lang="en-GB" sz="2000" b="1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P: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Child page table present in physical memory (1) or not (0).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R/W: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Read-only or read-write access access permission for all reachable pages.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U/S: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user or supervisor (kernel) mode access permission for all reachable pages.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WT: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Write-through or write-back cache policy for the child page table. 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A: 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Reference bit (set by MMU on reads and writes, cleared by software).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PS: 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Page size either 4 KB or 4 MB (defined for Level 1 </a:t>
            </a:r>
            <a:r>
              <a:rPr lang="en-GB" sz="1600" b="0" dirty="0" err="1">
                <a:latin typeface="Calibri" pitchFamily="34" charset="0"/>
                <a:ea typeface="msgothic" charset="0"/>
                <a:cs typeface="msgothic" charset="0"/>
              </a:rPr>
              <a:t>PTEs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 only).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Page table physical base address: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40 most significant bits of physical page table address (forces page tables to be 4KB aligned)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XD: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 Disable or enable instruction fetches from all pages reachable from this PTE.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769124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51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4189413" y="1299695"/>
            <a:ext cx="36522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12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4422775" y="1299695"/>
            <a:ext cx="36522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11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5256213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9</a:t>
            </a: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5562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8</a:t>
            </a:r>
          </a:p>
        </p:txBody>
      </p:sp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5943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7</a:t>
            </a: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62738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6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66929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5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7086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4</a:t>
            </a: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7467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3</a:t>
            </a: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7847013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2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8229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8610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838200" y="1524000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572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XD</a:t>
            </a: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457200" y="2133600"/>
            <a:ext cx="8093075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Available for OS (page table location on disk)</a:t>
            </a: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8550275" y="21336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P=0</a:t>
            </a:r>
          </a:p>
        </p:txBody>
      </p:sp>
      <p:sp>
        <p:nvSpPr>
          <p:cNvPr id="37" name="Text Box 29"/>
          <p:cNvSpPr txBox="1">
            <a:spLocks noChangeArrowheads="1"/>
          </p:cNvSpPr>
          <p:nvPr/>
        </p:nvSpPr>
        <p:spPr bwMode="auto">
          <a:xfrm>
            <a:off x="15240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52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7620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62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1" name="Text Box 29"/>
          <p:cNvSpPr txBox="1">
            <a:spLocks noChangeArrowheads="1"/>
          </p:cNvSpPr>
          <p:nvPr/>
        </p:nvSpPr>
        <p:spPr bwMode="auto">
          <a:xfrm>
            <a:off x="4572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63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63689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93713"/>
            <a:ext cx="73485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Core i7 Level 4 Page Table Entries</a:t>
            </a: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828800" y="1524000"/>
            <a:ext cx="2667000" cy="3810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Page physical base address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4495800" y="1524000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5486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G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5867400" y="1524000"/>
            <a:ext cx="3810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6248400" y="1524000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/>
              <a:t>D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6629400" y="1524000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A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7010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CD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7391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WT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7772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U/S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8153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R/W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85344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P=1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457200" y="2712466"/>
            <a:ext cx="6934200" cy="354637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Each entry references a 4K child page. Significant fields: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P: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Child page is present in memory (1) or not (0)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R/W: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Read-only or read-write access permission for child page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U/S: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User or supervisor mode access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WT: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Write-through or write-back cache policy for this page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A: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Reference bit (set by MMU on reads and writes, cleared by software) 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D: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Dirty bit (set by MMU on writes, cleared by software)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Page physical base address: 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40 most significant bits of physical page address (forces pages to be 4KB aligned)</a:t>
            </a:r>
          </a:p>
          <a:p>
            <a:pPr marL="341313" indent="-341313">
              <a:lnSpc>
                <a:spcPct val="88000"/>
              </a:lnSpc>
              <a:spcBef>
                <a:spcPts val="1200"/>
              </a:spcBef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XD:</a:t>
            </a:r>
            <a:r>
              <a:rPr lang="en-GB" sz="1600" b="0" dirty="0">
                <a:latin typeface="Calibri" pitchFamily="34" charset="0"/>
                <a:ea typeface="msgothic" charset="0"/>
                <a:cs typeface="msgothic" charset="0"/>
              </a:rPr>
              <a:t> Disable or enable instruction fetches from this page.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769124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51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4189413" y="1299695"/>
            <a:ext cx="36522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12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4422775" y="1299695"/>
            <a:ext cx="36522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11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5256213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9</a:t>
            </a: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5562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8</a:t>
            </a:r>
          </a:p>
        </p:txBody>
      </p:sp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5943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7</a:t>
            </a: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62738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6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66929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5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7086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4</a:t>
            </a: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7467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3</a:t>
            </a: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7847013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2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8229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1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8610600" y="1299695"/>
            <a:ext cx="273857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838200" y="1524000"/>
            <a:ext cx="990600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57200" y="15240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XD</a:t>
            </a: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457200" y="2133600"/>
            <a:ext cx="8093075" cy="381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Available for OS (page </a:t>
            </a: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l</a:t>
            </a: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ocation on disk)</a:t>
            </a: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8550275" y="21336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P=0</a:t>
            </a:r>
          </a:p>
        </p:txBody>
      </p:sp>
      <p:sp>
        <p:nvSpPr>
          <p:cNvPr id="37" name="Text Box 29"/>
          <p:cNvSpPr txBox="1">
            <a:spLocks noChangeArrowheads="1"/>
          </p:cNvSpPr>
          <p:nvPr/>
        </p:nvSpPr>
        <p:spPr bwMode="auto">
          <a:xfrm>
            <a:off x="15240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52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7620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62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1" name="Text Box 29"/>
          <p:cNvSpPr txBox="1">
            <a:spLocks noChangeArrowheads="1"/>
          </p:cNvSpPr>
          <p:nvPr/>
        </p:nvSpPr>
        <p:spPr bwMode="auto">
          <a:xfrm>
            <a:off x="457200" y="1295400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63</a:t>
            </a:r>
            <a:endParaRPr lang="en-GB" sz="14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64370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i7 Page Table Translation</a:t>
            </a:r>
          </a:p>
        </p:txBody>
      </p:sp>
      <p:sp>
        <p:nvSpPr>
          <p:cNvPr id="4" name="Text Box 381"/>
          <p:cNvSpPr txBox="1">
            <a:spLocks noChangeArrowheads="1"/>
          </p:cNvSpPr>
          <p:nvPr/>
        </p:nvSpPr>
        <p:spPr bwMode="auto">
          <a:xfrm>
            <a:off x="158750" y="2967038"/>
            <a:ext cx="469842" cy="287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CR3</a:t>
            </a:r>
          </a:p>
        </p:txBody>
      </p:sp>
      <p:sp>
        <p:nvSpPr>
          <p:cNvPr id="5" name="Text Box 387"/>
          <p:cNvSpPr txBox="1">
            <a:spLocks noChangeArrowheads="1"/>
          </p:cNvSpPr>
          <p:nvPr/>
        </p:nvSpPr>
        <p:spPr bwMode="auto">
          <a:xfrm>
            <a:off x="6407150" y="4224338"/>
            <a:ext cx="824431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Physical 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address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of page</a:t>
            </a:r>
          </a:p>
        </p:txBody>
      </p:sp>
      <p:sp>
        <p:nvSpPr>
          <p:cNvPr id="6" name="Text Box 388"/>
          <p:cNvSpPr txBox="1">
            <a:spLocks noChangeArrowheads="1"/>
          </p:cNvSpPr>
          <p:nvPr/>
        </p:nvSpPr>
        <p:spPr bwMode="auto">
          <a:xfrm>
            <a:off x="53975" y="3181350"/>
            <a:ext cx="824431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Physical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address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of L1 PT</a:t>
            </a:r>
          </a:p>
        </p:txBody>
      </p:sp>
      <p:sp>
        <p:nvSpPr>
          <p:cNvPr id="7" name="Text Box 394"/>
          <p:cNvSpPr txBox="1">
            <a:spLocks noChangeAspect="1" noChangeArrowheads="1"/>
          </p:cNvSpPr>
          <p:nvPr/>
        </p:nvSpPr>
        <p:spPr bwMode="auto">
          <a:xfrm>
            <a:off x="2901801" y="1295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8" name="Rectangle 395"/>
          <p:cNvSpPr>
            <a:spLocks noChangeAspect="1" noChangeArrowheads="1"/>
          </p:cNvSpPr>
          <p:nvPr/>
        </p:nvSpPr>
        <p:spPr bwMode="auto">
          <a:xfrm>
            <a:off x="6142038" y="1525588"/>
            <a:ext cx="1843087" cy="27305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VPO</a:t>
            </a:r>
          </a:p>
        </p:txBody>
      </p:sp>
      <p:sp>
        <p:nvSpPr>
          <p:cNvPr id="9" name="Text Box 396"/>
          <p:cNvSpPr txBox="1">
            <a:spLocks noChangeAspect="1" noChangeArrowheads="1"/>
          </p:cNvSpPr>
          <p:nvPr/>
        </p:nvSpPr>
        <p:spPr bwMode="auto">
          <a:xfrm>
            <a:off x="5454501" y="1304925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10" name="Text Box 397"/>
          <p:cNvSpPr txBox="1">
            <a:spLocks noChangeAspect="1" noChangeArrowheads="1"/>
          </p:cNvSpPr>
          <p:nvPr/>
        </p:nvSpPr>
        <p:spPr bwMode="auto">
          <a:xfrm>
            <a:off x="6878339" y="1304925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11" name="Text Box 399"/>
          <p:cNvSpPr txBox="1">
            <a:spLocks noChangeAspect="1" noChangeArrowheads="1"/>
          </p:cNvSpPr>
          <p:nvPr/>
        </p:nvSpPr>
        <p:spPr bwMode="auto">
          <a:xfrm>
            <a:off x="8053388" y="1306513"/>
            <a:ext cx="926535" cy="67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tx2"/>
                </a:solidFill>
                <a:latin typeface="+mn-lt"/>
              </a:rPr>
              <a:t>Virtual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tx2"/>
                </a:solidFill>
                <a:latin typeface="+mn-lt"/>
              </a:rPr>
              <a:t>address</a:t>
            </a:r>
          </a:p>
        </p:txBody>
      </p:sp>
      <p:sp>
        <p:nvSpPr>
          <p:cNvPr id="12" name="Line 403"/>
          <p:cNvSpPr>
            <a:spLocks noChangeShapeType="1"/>
          </p:cNvSpPr>
          <p:nvPr/>
        </p:nvSpPr>
        <p:spPr bwMode="auto">
          <a:xfrm>
            <a:off x="6102350" y="3944938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3" name="Line 404"/>
          <p:cNvSpPr>
            <a:spLocks noChangeShapeType="1"/>
          </p:cNvSpPr>
          <p:nvPr/>
        </p:nvSpPr>
        <p:spPr bwMode="auto">
          <a:xfrm>
            <a:off x="6407150" y="3944938"/>
            <a:ext cx="0" cy="1839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4" name="Line 406"/>
          <p:cNvSpPr>
            <a:spLocks noChangeShapeType="1"/>
          </p:cNvSpPr>
          <p:nvPr/>
        </p:nvSpPr>
        <p:spPr bwMode="auto">
          <a:xfrm>
            <a:off x="5113338" y="3970338"/>
            <a:ext cx="2651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5" name="Rectangle 382"/>
          <p:cNvSpPr>
            <a:spLocks noChangeArrowheads="1"/>
          </p:cNvSpPr>
          <p:nvPr/>
        </p:nvSpPr>
        <p:spPr bwMode="auto">
          <a:xfrm>
            <a:off x="5378450" y="3081338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6" name="Text Box 392"/>
          <p:cNvSpPr txBox="1">
            <a:spLocks noChangeArrowheads="1"/>
          </p:cNvSpPr>
          <p:nvPr/>
        </p:nvSpPr>
        <p:spPr bwMode="auto">
          <a:xfrm>
            <a:off x="5446713" y="2295525"/>
            <a:ext cx="608339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L4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Page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table</a:t>
            </a:r>
          </a:p>
        </p:txBody>
      </p:sp>
      <p:sp>
        <p:nvSpPr>
          <p:cNvPr id="17" name="Rectangle 405"/>
          <p:cNvSpPr>
            <a:spLocks noChangeArrowheads="1"/>
          </p:cNvSpPr>
          <p:nvPr/>
        </p:nvSpPr>
        <p:spPr bwMode="auto">
          <a:xfrm>
            <a:off x="5381625" y="3843338"/>
            <a:ext cx="758825" cy="2286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L4 PTE</a:t>
            </a:r>
          </a:p>
        </p:txBody>
      </p:sp>
      <p:sp>
        <p:nvSpPr>
          <p:cNvPr id="18" name="Line 407"/>
          <p:cNvSpPr>
            <a:spLocks noChangeShapeType="1"/>
          </p:cNvSpPr>
          <p:nvPr/>
        </p:nvSpPr>
        <p:spPr bwMode="auto">
          <a:xfrm>
            <a:off x="5113338" y="1798638"/>
            <a:ext cx="7937" cy="2168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9" name="Line 408"/>
          <p:cNvSpPr>
            <a:spLocks noChangeShapeType="1"/>
          </p:cNvSpPr>
          <p:nvPr/>
        </p:nvSpPr>
        <p:spPr bwMode="auto">
          <a:xfrm>
            <a:off x="7639050" y="1798638"/>
            <a:ext cx="0" cy="4437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0" name="Rectangle 409"/>
          <p:cNvSpPr>
            <a:spLocks noChangeAspect="1" noChangeArrowheads="1"/>
          </p:cNvSpPr>
          <p:nvPr/>
        </p:nvSpPr>
        <p:spPr bwMode="auto">
          <a:xfrm>
            <a:off x="1589088" y="6235700"/>
            <a:ext cx="4495800" cy="287338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PPN</a:t>
            </a:r>
          </a:p>
        </p:txBody>
      </p:sp>
      <p:sp>
        <p:nvSpPr>
          <p:cNvPr id="21" name="Rectangle 410"/>
          <p:cNvSpPr>
            <a:spLocks noChangeAspect="1" noChangeArrowheads="1"/>
          </p:cNvSpPr>
          <p:nvPr/>
        </p:nvSpPr>
        <p:spPr bwMode="auto">
          <a:xfrm>
            <a:off x="6084888" y="6235700"/>
            <a:ext cx="1874837" cy="287338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PPO</a:t>
            </a:r>
          </a:p>
        </p:txBody>
      </p:sp>
      <p:sp>
        <p:nvSpPr>
          <p:cNvPr id="22" name="Text Box 411"/>
          <p:cNvSpPr txBox="1">
            <a:spLocks noChangeAspect="1" noChangeArrowheads="1"/>
          </p:cNvSpPr>
          <p:nvPr/>
        </p:nvSpPr>
        <p:spPr bwMode="auto">
          <a:xfrm>
            <a:off x="3665239" y="602615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23" name="Text Box 412"/>
          <p:cNvSpPr txBox="1">
            <a:spLocks noChangeAspect="1" noChangeArrowheads="1"/>
          </p:cNvSpPr>
          <p:nvPr/>
        </p:nvSpPr>
        <p:spPr bwMode="auto">
          <a:xfrm>
            <a:off x="6852939" y="602615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24" name="Text Box 413"/>
          <p:cNvSpPr txBox="1">
            <a:spLocks noChangeAspect="1" noChangeArrowheads="1"/>
          </p:cNvSpPr>
          <p:nvPr/>
        </p:nvSpPr>
        <p:spPr bwMode="auto">
          <a:xfrm>
            <a:off x="8053388" y="6038850"/>
            <a:ext cx="947825" cy="67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tx2"/>
                </a:solidFill>
                <a:latin typeface="+mn-lt"/>
              </a:rPr>
              <a:t>Physical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tx2"/>
                </a:solidFill>
                <a:latin typeface="+mn-lt"/>
              </a:rPr>
              <a:t>address</a:t>
            </a:r>
          </a:p>
        </p:txBody>
      </p:sp>
      <p:sp>
        <p:nvSpPr>
          <p:cNvPr id="25" name="Line 414"/>
          <p:cNvSpPr>
            <a:spLocks noChangeShapeType="1"/>
          </p:cNvSpPr>
          <p:nvPr/>
        </p:nvSpPr>
        <p:spPr bwMode="auto">
          <a:xfrm flipH="1">
            <a:off x="4578350" y="5786438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6" name="Line 415"/>
          <p:cNvSpPr>
            <a:spLocks noChangeShapeType="1"/>
          </p:cNvSpPr>
          <p:nvPr/>
        </p:nvSpPr>
        <p:spPr bwMode="auto">
          <a:xfrm>
            <a:off x="4578350" y="5784850"/>
            <a:ext cx="0" cy="4333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7" name="Text Box 416"/>
          <p:cNvSpPr txBox="1">
            <a:spLocks noChangeArrowheads="1"/>
          </p:cNvSpPr>
          <p:nvPr/>
        </p:nvSpPr>
        <p:spPr bwMode="auto">
          <a:xfrm>
            <a:off x="7842250" y="3373438"/>
            <a:ext cx="1148438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Offset into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physical and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virtual page</a:t>
            </a:r>
          </a:p>
        </p:txBody>
      </p:sp>
      <p:sp>
        <p:nvSpPr>
          <p:cNvPr id="28" name="Rectangle 417"/>
          <p:cNvSpPr>
            <a:spLocks noChangeAspect="1" noChangeArrowheads="1"/>
          </p:cNvSpPr>
          <p:nvPr/>
        </p:nvSpPr>
        <p:spPr bwMode="auto">
          <a:xfrm>
            <a:off x="3586163" y="1519238"/>
            <a:ext cx="1277937" cy="280987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 3</a:t>
            </a:r>
          </a:p>
        </p:txBody>
      </p:sp>
      <p:sp>
        <p:nvSpPr>
          <p:cNvPr id="29" name="Rectangle 418"/>
          <p:cNvSpPr>
            <a:spLocks noChangeAspect="1" noChangeArrowheads="1"/>
          </p:cNvSpPr>
          <p:nvPr/>
        </p:nvSpPr>
        <p:spPr bwMode="auto">
          <a:xfrm>
            <a:off x="4864100" y="1525588"/>
            <a:ext cx="1277938" cy="27305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 4</a:t>
            </a:r>
          </a:p>
        </p:txBody>
      </p:sp>
      <p:sp>
        <p:nvSpPr>
          <p:cNvPr id="30" name="Rectangle 419"/>
          <p:cNvSpPr>
            <a:spLocks noChangeAspect="1" noChangeArrowheads="1"/>
          </p:cNvSpPr>
          <p:nvPr/>
        </p:nvSpPr>
        <p:spPr bwMode="auto">
          <a:xfrm>
            <a:off x="2314575" y="1519238"/>
            <a:ext cx="1277938" cy="280987"/>
          </a:xfrm>
          <a:prstGeom prst="rect">
            <a:avLst/>
          </a:prstGeom>
          <a:solidFill>
            <a:srgbClr val="DBF2DA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 2</a:t>
            </a:r>
          </a:p>
        </p:txBody>
      </p:sp>
      <p:sp>
        <p:nvSpPr>
          <p:cNvPr id="31" name="Rectangle 420"/>
          <p:cNvSpPr>
            <a:spLocks noChangeAspect="1" noChangeArrowheads="1"/>
          </p:cNvSpPr>
          <p:nvPr/>
        </p:nvSpPr>
        <p:spPr bwMode="auto">
          <a:xfrm>
            <a:off x="1036638" y="1517650"/>
            <a:ext cx="1277937" cy="280988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VPN 1</a:t>
            </a:r>
          </a:p>
        </p:txBody>
      </p:sp>
      <p:sp>
        <p:nvSpPr>
          <p:cNvPr id="32" name="Line 430"/>
          <p:cNvSpPr>
            <a:spLocks noChangeShapeType="1"/>
          </p:cNvSpPr>
          <p:nvPr/>
        </p:nvSpPr>
        <p:spPr bwMode="auto">
          <a:xfrm>
            <a:off x="4841875" y="3967163"/>
            <a:ext cx="179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3" name="Line 431"/>
          <p:cNvSpPr>
            <a:spLocks noChangeShapeType="1"/>
          </p:cNvSpPr>
          <p:nvPr/>
        </p:nvSpPr>
        <p:spPr bwMode="auto">
          <a:xfrm>
            <a:off x="5021263" y="3086100"/>
            <a:ext cx="9525" cy="881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4" name="Line 432"/>
          <p:cNvSpPr>
            <a:spLocks noChangeShapeType="1"/>
          </p:cNvSpPr>
          <p:nvPr/>
        </p:nvSpPr>
        <p:spPr bwMode="auto">
          <a:xfrm>
            <a:off x="5030788" y="3086100"/>
            <a:ext cx="344487" cy="4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5" name="Rectangle 435"/>
          <p:cNvSpPr>
            <a:spLocks noChangeArrowheads="1"/>
          </p:cNvSpPr>
          <p:nvPr/>
        </p:nvSpPr>
        <p:spPr bwMode="auto">
          <a:xfrm>
            <a:off x="4102100" y="3090863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6" name="Text Box 437"/>
          <p:cNvSpPr txBox="1">
            <a:spLocks noChangeArrowheads="1"/>
          </p:cNvSpPr>
          <p:nvPr/>
        </p:nvSpPr>
        <p:spPr bwMode="auto">
          <a:xfrm>
            <a:off x="3916363" y="2295525"/>
            <a:ext cx="1148087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L3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Page middle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directory</a:t>
            </a:r>
          </a:p>
        </p:txBody>
      </p:sp>
      <p:sp>
        <p:nvSpPr>
          <p:cNvPr id="37" name="Rectangle 438"/>
          <p:cNvSpPr>
            <a:spLocks noChangeArrowheads="1"/>
          </p:cNvSpPr>
          <p:nvPr/>
        </p:nvSpPr>
        <p:spPr bwMode="auto">
          <a:xfrm>
            <a:off x="4105275" y="3852863"/>
            <a:ext cx="758825" cy="228600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L3 PTE</a:t>
            </a:r>
          </a:p>
        </p:txBody>
      </p:sp>
      <p:sp>
        <p:nvSpPr>
          <p:cNvPr id="38" name="Line 439"/>
          <p:cNvSpPr>
            <a:spLocks noChangeShapeType="1"/>
          </p:cNvSpPr>
          <p:nvPr/>
        </p:nvSpPr>
        <p:spPr bwMode="auto">
          <a:xfrm flipH="1">
            <a:off x="3833813" y="1808163"/>
            <a:ext cx="11112" cy="2159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9" name="Line 440"/>
          <p:cNvSpPr>
            <a:spLocks noChangeShapeType="1"/>
          </p:cNvSpPr>
          <p:nvPr/>
        </p:nvSpPr>
        <p:spPr bwMode="auto">
          <a:xfrm>
            <a:off x="3844925" y="3973513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0" name="Line 444"/>
          <p:cNvSpPr>
            <a:spLocks noChangeShapeType="1"/>
          </p:cNvSpPr>
          <p:nvPr/>
        </p:nvSpPr>
        <p:spPr bwMode="auto">
          <a:xfrm>
            <a:off x="3546475" y="3971925"/>
            <a:ext cx="179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1" name="Line 445"/>
          <p:cNvSpPr>
            <a:spLocks noChangeShapeType="1"/>
          </p:cNvSpPr>
          <p:nvPr/>
        </p:nvSpPr>
        <p:spPr bwMode="auto">
          <a:xfrm>
            <a:off x="3727450" y="3089275"/>
            <a:ext cx="0" cy="881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2" name="Rectangle 447"/>
          <p:cNvSpPr>
            <a:spLocks noChangeArrowheads="1"/>
          </p:cNvSpPr>
          <p:nvPr/>
        </p:nvSpPr>
        <p:spPr bwMode="auto">
          <a:xfrm>
            <a:off x="2806700" y="3090863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3" name="Text Box 449"/>
          <p:cNvSpPr txBox="1">
            <a:spLocks noChangeArrowheads="1"/>
          </p:cNvSpPr>
          <p:nvPr/>
        </p:nvSpPr>
        <p:spPr bwMode="auto">
          <a:xfrm>
            <a:off x="2654300" y="2295525"/>
            <a:ext cx="1073485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L2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Page upper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directory</a:t>
            </a:r>
          </a:p>
        </p:txBody>
      </p:sp>
      <p:sp>
        <p:nvSpPr>
          <p:cNvPr id="44" name="Rectangle 450"/>
          <p:cNvSpPr>
            <a:spLocks noChangeArrowheads="1"/>
          </p:cNvSpPr>
          <p:nvPr/>
        </p:nvSpPr>
        <p:spPr bwMode="auto">
          <a:xfrm>
            <a:off x="2809875" y="3852863"/>
            <a:ext cx="758825" cy="228600"/>
          </a:xfrm>
          <a:prstGeom prst="rect">
            <a:avLst/>
          </a:prstGeom>
          <a:solidFill>
            <a:srgbClr val="DBF2DA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L2 PTE</a:t>
            </a:r>
          </a:p>
        </p:txBody>
      </p:sp>
      <p:sp>
        <p:nvSpPr>
          <p:cNvPr id="45" name="Line 451"/>
          <p:cNvSpPr>
            <a:spLocks noChangeShapeType="1"/>
          </p:cNvSpPr>
          <p:nvPr/>
        </p:nvSpPr>
        <p:spPr bwMode="auto">
          <a:xfrm>
            <a:off x="2549525" y="1808163"/>
            <a:ext cx="0" cy="2147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6" name="Line 452"/>
          <p:cNvSpPr>
            <a:spLocks noChangeShapeType="1"/>
          </p:cNvSpPr>
          <p:nvPr/>
        </p:nvSpPr>
        <p:spPr bwMode="auto">
          <a:xfrm>
            <a:off x="2549525" y="3967163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7" name="Line 456"/>
          <p:cNvSpPr>
            <a:spLocks noChangeShapeType="1"/>
          </p:cNvSpPr>
          <p:nvPr/>
        </p:nvSpPr>
        <p:spPr bwMode="auto">
          <a:xfrm>
            <a:off x="2270125" y="3967163"/>
            <a:ext cx="179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8" name="Rectangle 459"/>
          <p:cNvSpPr>
            <a:spLocks noChangeArrowheads="1"/>
          </p:cNvSpPr>
          <p:nvPr/>
        </p:nvSpPr>
        <p:spPr bwMode="auto">
          <a:xfrm>
            <a:off x="1530350" y="3090863"/>
            <a:ext cx="762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49" name="Text Box 461"/>
          <p:cNvSpPr txBox="1">
            <a:spLocks noChangeArrowheads="1"/>
          </p:cNvSpPr>
          <p:nvPr/>
        </p:nvSpPr>
        <p:spPr bwMode="auto">
          <a:xfrm>
            <a:off x="1357313" y="2295525"/>
            <a:ext cx="1105044" cy="804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L1 PT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Page global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>
                <a:solidFill>
                  <a:schemeClr val="tx2"/>
                </a:solidFill>
                <a:latin typeface="+mn-lt"/>
              </a:rPr>
              <a:t>directory</a:t>
            </a:r>
            <a:endParaRPr lang="en-US" sz="14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0" name="Rectangle 462"/>
          <p:cNvSpPr>
            <a:spLocks noChangeArrowheads="1"/>
          </p:cNvSpPr>
          <p:nvPr/>
        </p:nvSpPr>
        <p:spPr bwMode="auto">
          <a:xfrm>
            <a:off x="1533525" y="3852863"/>
            <a:ext cx="758825" cy="2286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L1 PTE</a:t>
            </a:r>
          </a:p>
        </p:txBody>
      </p:sp>
      <p:sp>
        <p:nvSpPr>
          <p:cNvPr id="51" name="Line 463"/>
          <p:cNvSpPr>
            <a:spLocks noChangeShapeType="1"/>
          </p:cNvSpPr>
          <p:nvPr/>
        </p:nvSpPr>
        <p:spPr bwMode="auto">
          <a:xfrm flipH="1">
            <a:off x="1260475" y="1808163"/>
            <a:ext cx="12700" cy="2147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2" name="Line 464"/>
          <p:cNvSpPr>
            <a:spLocks noChangeShapeType="1"/>
          </p:cNvSpPr>
          <p:nvPr/>
        </p:nvSpPr>
        <p:spPr bwMode="auto">
          <a:xfrm>
            <a:off x="1273175" y="3960813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3" name="Text Box 465"/>
          <p:cNvSpPr txBox="1">
            <a:spLocks noChangeAspect="1" noChangeArrowheads="1"/>
          </p:cNvSpPr>
          <p:nvPr/>
        </p:nvSpPr>
        <p:spPr bwMode="auto">
          <a:xfrm>
            <a:off x="4159101" y="1295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54" name="Text Box 466"/>
          <p:cNvSpPr txBox="1">
            <a:spLocks noChangeAspect="1" noChangeArrowheads="1"/>
          </p:cNvSpPr>
          <p:nvPr/>
        </p:nvSpPr>
        <p:spPr bwMode="auto">
          <a:xfrm>
            <a:off x="1568301" y="1295400"/>
            <a:ext cx="260737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9</a:t>
            </a:r>
          </a:p>
        </p:txBody>
      </p:sp>
      <p:sp>
        <p:nvSpPr>
          <p:cNvPr id="55" name="Line 467"/>
          <p:cNvSpPr>
            <a:spLocks noChangeShapeType="1"/>
          </p:cNvSpPr>
          <p:nvPr/>
        </p:nvSpPr>
        <p:spPr bwMode="auto">
          <a:xfrm flipV="1">
            <a:off x="695325" y="3106738"/>
            <a:ext cx="822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6" name="Text Box 471"/>
          <p:cNvSpPr txBox="1">
            <a:spLocks noChangeAspect="1" noChangeArrowheads="1"/>
          </p:cNvSpPr>
          <p:nvPr/>
        </p:nvSpPr>
        <p:spPr bwMode="auto">
          <a:xfrm>
            <a:off x="936326" y="2895600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57" name="Text Box 473"/>
          <p:cNvSpPr txBox="1">
            <a:spLocks noChangeArrowheads="1"/>
          </p:cNvSpPr>
          <p:nvPr/>
        </p:nvSpPr>
        <p:spPr bwMode="auto">
          <a:xfrm>
            <a:off x="987425" y="2997200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58" name="Line 457"/>
          <p:cNvSpPr>
            <a:spLocks noChangeShapeType="1"/>
          </p:cNvSpPr>
          <p:nvPr/>
        </p:nvSpPr>
        <p:spPr bwMode="auto">
          <a:xfrm>
            <a:off x="2449513" y="3089275"/>
            <a:ext cx="0" cy="877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9" name="Line 458"/>
          <p:cNvSpPr>
            <a:spLocks noChangeShapeType="1"/>
          </p:cNvSpPr>
          <p:nvPr/>
        </p:nvSpPr>
        <p:spPr bwMode="auto">
          <a:xfrm>
            <a:off x="2459038" y="3090863"/>
            <a:ext cx="344487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0" name="Text Box 476"/>
          <p:cNvSpPr txBox="1">
            <a:spLocks noChangeAspect="1" noChangeArrowheads="1"/>
          </p:cNvSpPr>
          <p:nvPr/>
        </p:nvSpPr>
        <p:spPr bwMode="auto">
          <a:xfrm>
            <a:off x="2466676" y="2859088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61" name="Text Box 477"/>
          <p:cNvSpPr txBox="1">
            <a:spLocks noChangeArrowheads="1"/>
          </p:cNvSpPr>
          <p:nvPr/>
        </p:nvSpPr>
        <p:spPr bwMode="auto">
          <a:xfrm>
            <a:off x="2525713" y="2960688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62" name="Line 446"/>
          <p:cNvSpPr>
            <a:spLocks noChangeShapeType="1"/>
          </p:cNvSpPr>
          <p:nvPr/>
        </p:nvSpPr>
        <p:spPr bwMode="auto">
          <a:xfrm>
            <a:off x="3725863" y="3089275"/>
            <a:ext cx="392112" cy="12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3" name="Text Box 479"/>
          <p:cNvSpPr txBox="1">
            <a:spLocks noChangeAspect="1" noChangeArrowheads="1"/>
          </p:cNvSpPr>
          <p:nvPr/>
        </p:nvSpPr>
        <p:spPr bwMode="auto">
          <a:xfrm>
            <a:off x="3787476" y="2878138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64" name="Text Box 480"/>
          <p:cNvSpPr txBox="1">
            <a:spLocks noChangeArrowheads="1"/>
          </p:cNvSpPr>
          <p:nvPr/>
        </p:nvSpPr>
        <p:spPr bwMode="auto">
          <a:xfrm>
            <a:off x="3833813" y="2979738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65" name="Text Box 482"/>
          <p:cNvSpPr txBox="1">
            <a:spLocks noChangeAspect="1" noChangeArrowheads="1"/>
          </p:cNvSpPr>
          <p:nvPr/>
        </p:nvSpPr>
        <p:spPr bwMode="auto">
          <a:xfrm>
            <a:off x="5062239" y="2854325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66" name="Text Box 483"/>
          <p:cNvSpPr txBox="1">
            <a:spLocks noChangeArrowheads="1"/>
          </p:cNvSpPr>
          <p:nvPr/>
        </p:nvSpPr>
        <p:spPr bwMode="auto">
          <a:xfrm>
            <a:off x="5121275" y="2955925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67" name="Text Box 485"/>
          <p:cNvSpPr txBox="1">
            <a:spLocks noChangeAspect="1" noChangeArrowheads="1"/>
          </p:cNvSpPr>
          <p:nvPr/>
        </p:nvSpPr>
        <p:spPr bwMode="auto">
          <a:xfrm>
            <a:off x="5208289" y="5559425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68" name="Text Box 486"/>
          <p:cNvSpPr txBox="1">
            <a:spLocks noChangeArrowheads="1"/>
          </p:cNvSpPr>
          <p:nvPr/>
        </p:nvSpPr>
        <p:spPr bwMode="auto">
          <a:xfrm>
            <a:off x="5267325" y="5648325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69" name="Text Box 488"/>
          <p:cNvSpPr txBox="1">
            <a:spLocks noChangeAspect="1" noChangeArrowheads="1"/>
          </p:cNvSpPr>
          <p:nvPr/>
        </p:nvSpPr>
        <p:spPr bwMode="auto">
          <a:xfrm>
            <a:off x="7587951" y="3667125"/>
            <a:ext cx="338734" cy="25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  <a:latin typeface="+mn-lt"/>
              </a:rPr>
              <a:t>12</a:t>
            </a:r>
          </a:p>
        </p:txBody>
      </p:sp>
      <p:sp>
        <p:nvSpPr>
          <p:cNvPr id="70" name="Text Box 489"/>
          <p:cNvSpPr txBox="1">
            <a:spLocks noChangeArrowheads="1"/>
          </p:cNvSpPr>
          <p:nvPr/>
        </p:nvSpPr>
        <p:spPr bwMode="auto">
          <a:xfrm>
            <a:off x="7527925" y="3656013"/>
            <a:ext cx="261610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+mn-lt"/>
              </a:rPr>
              <a:t>/</a:t>
            </a:r>
          </a:p>
        </p:txBody>
      </p:sp>
      <p:sp>
        <p:nvSpPr>
          <p:cNvPr id="79" name="Text Box 505"/>
          <p:cNvSpPr txBox="1">
            <a:spLocks noChangeArrowheads="1"/>
          </p:cNvSpPr>
          <p:nvPr/>
        </p:nvSpPr>
        <p:spPr bwMode="auto">
          <a:xfrm>
            <a:off x="1419225" y="4689475"/>
            <a:ext cx="1019175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 algn="ctr"/>
            <a:r>
              <a:rPr lang="en-US" sz="1400" i="1">
                <a:latin typeface="+mn-lt"/>
              </a:rPr>
              <a:t>512 GB </a:t>
            </a:r>
          </a:p>
          <a:p>
            <a:pPr marL="457200" indent="-457200" algn="ctr"/>
            <a:r>
              <a:rPr lang="en-US" sz="1400" i="1">
                <a:latin typeface="+mn-lt"/>
              </a:rPr>
              <a:t>region </a:t>
            </a:r>
          </a:p>
          <a:p>
            <a:pPr marL="457200" indent="-457200" algn="ctr"/>
            <a:r>
              <a:rPr lang="en-US" sz="1400" i="1">
                <a:latin typeface="+mn-lt"/>
              </a:rPr>
              <a:t>per entry</a:t>
            </a:r>
          </a:p>
        </p:txBody>
      </p:sp>
      <p:sp>
        <p:nvSpPr>
          <p:cNvPr id="80" name="Text Box 507"/>
          <p:cNvSpPr txBox="1">
            <a:spLocks noChangeArrowheads="1"/>
          </p:cNvSpPr>
          <p:nvPr/>
        </p:nvSpPr>
        <p:spPr bwMode="auto">
          <a:xfrm>
            <a:off x="2649538" y="4689475"/>
            <a:ext cx="1019175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 algn="ctr"/>
            <a:r>
              <a:rPr lang="en-US" sz="1400" i="1">
                <a:latin typeface="+mn-lt"/>
              </a:rPr>
              <a:t>1 GB </a:t>
            </a:r>
          </a:p>
          <a:p>
            <a:pPr marL="457200" indent="-457200" algn="ctr"/>
            <a:r>
              <a:rPr lang="en-US" sz="1400" i="1">
                <a:latin typeface="+mn-lt"/>
              </a:rPr>
              <a:t>region </a:t>
            </a:r>
          </a:p>
          <a:p>
            <a:pPr marL="457200" indent="-457200" algn="ctr"/>
            <a:r>
              <a:rPr lang="en-US" sz="1400" i="1">
                <a:latin typeface="+mn-lt"/>
              </a:rPr>
              <a:t>per entry</a:t>
            </a:r>
          </a:p>
        </p:txBody>
      </p:sp>
      <p:sp>
        <p:nvSpPr>
          <p:cNvPr id="81" name="Text Box 508"/>
          <p:cNvSpPr txBox="1">
            <a:spLocks noChangeArrowheads="1"/>
          </p:cNvSpPr>
          <p:nvPr/>
        </p:nvSpPr>
        <p:spPr bwMode="auto">
          <a:xfrm>
            <a:off x="3998913" y="4689475"/>
            <a:ext cx="1019175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 algn="ctr"/>
            <a:r>
              <a:rPr lang="en-US" sz="1400" i="1">
                <a:latin typeface="+mn-lt"/>
              </a:rPr>
              <a:t>2 MB </a:t>
            </a:r>
          </a:p>
          <a:p>
            <a:pPr marL="457200" indent="-457200" algn="ctr"/>
            <a:r>
              <a:rPr lang="en-US" sz="1400" i="1">
                <a:latin typeface="+mn-lt"/>
              </a:rPr>
              <a:t>region </a:t>
            </a:r>
          </a:p>
          <a:p>
            <a:pPr marL="457200" indent="-457200" algn="ctr"/>
            <a:r>
              <a:rPr lang="en-US" sz="1400" i="1">
                <a:latin typeface="+mn-lt"/>
              </a:rPr>
              <a:t>per entry</a:t>
            </a:r>
          </a:p>
        </p:txBody>
      </p:sp>
      <p:sp>
        <p:nvSpPr>
          <p:cNvPr id="82" name="Text Box 509"/>
          <p:cNvSpPr txBox="1">
            <a:spLocks noChangeArrowheads="1"/>
          </p:cNvSpPr>
          <p:nvPr/>
        </p:nvSpPr>
        <p:spPr bwMode="auto">
          <a:xfrm>
            <a:off x="5221288" y="4689475"/>
            <a:ext cx="1019175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 algn="ctr"/>
            <a:r>
              <a:rPr lang="en-US" sz="1400" i="1">
                <a:latin typeface="+mn-lt"/>
              </a:rPr>
              <a:t>4 KB</a:t>
            </a:r>
          </a:p>
          <a:p>
            <a:pPr marL="457200" indent="-457200" algn="ctr"/>
            <a:r>
              <a:rPr lang="en-US" sz="1400" i="1">
                <a:latin typeface="+mn-lt"/>
              </a:rPr>
              <a:t>region </a:t>
            </a:r>
          </a:p>
          <a:p>
            <a:pPr marL="457200" indent="-457200" algn="ctr"/>
            <a:r>
              <a:rPr lang="en-US" sz="1400" i="1">
                <a:latin typeface="+mn-lt"/>
              </a:rPr>
              <a:t>per entry</a:t>
            </a:r>
          </a:p>
        </p:txBody>
      </p:sp>
    </p:spTree>
    <p:extLst>
      <p:ext uri="{BB962C8B-B14F-4D97-AF65-F5344CB8AC3E}">
        <p14:creationId xmlns:p14="http://schemas.microsoft.com/office/powerpoint/2010/main" val="3200253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57200"/>
            <a:ext cx="79248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Cute Trick for Speeding Up L1 Access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4289425"/>
            <a:ext cx="8548687" cy="2339975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Observation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Bits that determine CI identical in virtual and physical address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index into cache while address translation taking place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Generally we hit in TLB, so PPN bits (CT bits) available next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“Virtually indexed, physically tagged”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Cache carefully sized to make this possible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76200" y="1958930"/>
            <a:ext cx="2500313" cy="898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Physical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address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(PA)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874735" y="1980406"/>
            <a:ext cx="1066800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CT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4246335" y="1980406"/>
            <a:ext cx="304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CO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3181123" y="1751806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40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4271735" y="1751806"/>
            <a:ext cx="273480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6</a:t>
            </a: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941535" y="1980406"/>
            <a:ext cx="304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CI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3941535" y="1751806"/>
            <a:ext cx="273480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6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1503135" y="3422868"/>
            <a:ext cx="1073378" cy="898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Virtual</a:t>
            </a:r>
            <a:r>
              <a:rPr lang="en-GB" sz="160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address </a:t>
            </a:r>
          </a:p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(VA)</a:t>
            </a: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2874735" y="3885406"/>
            <a:ext cx="1066800" cy="3048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VPN</a:t>
            </a:r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3941535" y="3885406"/>
            <a:ext cx="609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VPO</a:t>
            </a:r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3177948" y="4266406"/>
            <a:ext cx="364476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36</a:t>
            </a:r>
          </a:p>
        </p:txBody>
      </p:sp>
      <p:sp>
        <p:nvSpPr>
          <p:cNvPr id="26638" name="Text Box 14"/>
          <p:cNvSpPr txBox="1">
            <a:spLocks noChangeArrowheads="1"/>
          </p:cNvSpPr>
          <p:nvPr/>
        </p:nvSpPr>
        <p:spPr bwMode="auto">
          <a:xfrm>
            <a:off x="3938360" y="4266406"/>
            <a:ext cx="609600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12</a:t>
            </a:r>
          </a:p>
        </p:txBody>
      </p:sp>
      <p:sp>
        <p:nvSpPr>
          <p:cNvPr id="26639" name="Rectangle 15"/>
          <p:cNvSpPr>
            <a:spLocks noChangeArrowheads="1"/>
          </p:cNvSpPr>
          <p:nvPr/>
        </p:nvSpPr>
        <p:spPr bwMode="auto">
          <a:xfrm>
            <a:off x="3941535" y="2590006"/>
            <a:ext cx="609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PPO</a:t>
            </a:r>
          </a:p>
        </p:txBody>
      </p:sp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2874735" y="2590006"/>
            <a:ext cx="1066800" cy="3048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PPN</a:t>
            </a:r>
          </a:p>
        </p:txBody>
      </p:sp>
      <p:sp>
        <p:nvSpPr>
          <p:cNvPr id="26641" name="AutoShape 17"/>
          <p:cNvSpPr>
            <a:spLocks/>
          </p:cNvSpPr>
          <p:nvPr/>
        </p:nvSpPr>
        <p:spPr bwMode="auto">
          <a:xfrm>
            <a:off x="2569935" y="1980406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93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 flipV="1">
            <a:off x="3484335" y="3655218"/>
            <a:ext cx="1588" cy="231775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3" name="AutoShape 19"/>
          <p:cNvSpPr>
            <a:spLocks noChangeArrowheads="1"/>
          </p:cNvSpPr>
          <p:nvPr/>
        </p:nvSpPr>
        <p:spPr bwMode="auto">
          <a:xfrm>
            <a:off x="2798535" y="3123406"/>
            <a:ext cx="1143000" cy="609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19080">
            <a:noFill/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Addr</a:t>
            </a:r>
            <a:r>
              <a:rPr lang="en-GB" sz="160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ess</a:t>
            </a:r>
            <a:endParaRPr lang="en-GB" sz="1600" b="1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Translation</a:t>
            </a:r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 flipV="1">
            <a:off x="3484335" y="2893218"/>
            <a:ext cx="1588" cy="274320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5" name="Line 21"/>
          <p:cNvSpPr>
            <a:spLocks noChangeShapeType="1"/>
          </p:cNvSpPr>
          <p:nvPr/>
        </p:nvSpPr>
        <p:spPr bwMode="auto">
          <a:xfrm flipV="1">
            <a:off x="4246335" y="2893219"/>
            <a:ext cx="1588" cy="993775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4243160" y="3093244"/>
            <a:ext cx="733918" cy="5370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No</a:t>
            </a:r>
          </a:p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Change</a:t>
            </a:r>
          </a:p>
        </p:txBody>
      </p:sp>
      <p:sp>
        <p:nvSpPr>
          <p:cNvPr id="26647" name="Rectangle 23"/>
          <p:cNvSpPr>
            <a:spLocks noChangeArrowheads="1"/>
          </p:cNvSpPr>
          <p:nvPr/>
        </p:nvSpPr>
        <p:spPr bwMode="auto">
          <a:xfrm>
            <a:off x="5236935" y="2590006"/>
            <a:ext cx="2667000" cy="1143000"/>
          </a:xfrm>
          <a:prstGeom prst="rect">
            <a:avLst/>
          </a:prstGeom>
          <a:solidFill>
            <a:srgbClr val="F6F5BD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52" name="Line 28"/>
          <p:cNvSpPr>
            <a:spLocks noChangeShapeType="1"/>
          </p:cNvSpPr>
          <p:nvPr/>
        </p:nvSpPr>
        <p:spPr bwMode="auto">
          <a:xfrm flipV="1">
            <a:off x="4551135" y="3047205"/>
            <a:ext cx="934753" cy="992187"/>
          </a:xfrm>
          <a:prstGeom prst="line">
            <a:avLst/>
          </a:prstGeom>
          <a:noFill/>
          <a:ln w="19080">
            <a:solidFill>
              <a:srgbClr val="000066"/>
            </a:solidFill>
            <a:prstDash val="sysDot"/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3" name="Rectangle 29"/>
          <p:cNvSpPr>
            <a:spLocks noChangeArrowheads="1"/>
          </p:cNvSpPr>
          <p:nvPr/>
        </p:nvSpPr>
        <p:spPr bwMode="auto">
          <a:xfrm>
            <a:off x="4835582" y="3606377"/>
            <a:ext cx="325153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CI</a:t>
            </a:r>
          </a:p>
        </p:txBody>
      </p:sp>
      <p:sp>
        <p:nvSpPr>
          <p:cNvPr id="26658" name="Freeform 34"/>
          <p:cNvSpPr>
            <a:spLocks/>
          </p:cNvSpPr>
          <p:nvPr/>
        </p:nvSpPr>
        <p:spPr bwMode="auto">
          <a:xfrm>
            <a:off x="3636734" y="1523206"/>
            <a:ext cx="1600201" cy="6096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192" y="0"/>
              </a:cxn>
              <a:cxn ang="0">
                <a:pos x="1200" y="0"/>
              </a:cxn>
            </a:cxnLst>
            <a:rect l="0" t="0" r="r" b="b"/>
            <a:pathLst>
              <a:path w="1200" h="240">
                <a:moveTo>
                  <a:pt x="0" y="240"/>
                </a:moveTo>
                <a:lnTo>
                  <a:pt x="192" y="0"/>
                </a:lnTo>
                <a:lnTo>
                  <a:pt x="1200" y="0"/>
                </a:lnTo>
              </a:path>
            </a:pathLst>
          </a:custGeom>
          <a:noFill/>
          <a:ln w="19080">
            <a:solidFill>
              <a:srgbClr val="000066"/>
            </a:solidFill>
            <a:prstDash val="sysDot"/>
            <a:round/>
            <a:headEnd type="oval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075135" y="382087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L1 Cache</a:t>
            </a:r>
          </a:p>
        </p:txBody>
      </p:sp>
      <p:sp>
        <p:nvSpPr>
          <p:cNvPr id="39" name="Rectangle 29"/>
          <p:cNvSpPr>
            <a:spLocks noChangeArrowheads="1"/>
          </p:cNvSpPr>
          <p:nvPr/>
        </p:nvSpPr>
        <p:spPr bwMode="auto">
          <a:xfrm>
            <a:off x="4388558" y="1244177"/>
            <a:ext cx="367281" cy="283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CT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5485888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5770335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6019288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6303735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6573041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6857488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7106441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7390888" y="2924968"/>
            <a:ext cx="284447" cy="198438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6654" name="Line 30"/>
          <p:cNvSpPr>
            <a:spLocks noChangeShapeType="1"/>
          </p:cNvSpPr>
          <p:nvPr/>
        </p:nvSpPr>
        <p:spPr bwMode="auto">
          <a:xfrm flipV="1">
            <a:off x="5921147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 flipV="1">
            <a:off x="6149747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30"/>
          <p:cNvSpPr>
            <a:spLocks noChangeShapeType="1"/>
          </p:cNvSpPr>
          <p:nvPr/>
        </p:nvSpPr>
        <p:spPr bwMode="auto">
          <a:xfrm flipV="1">
            <a:off x="6454547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Line 30"/>
          <p:cNvSpPr>
            <a:spLocks noChangeShapeType="1"/>
          </p:cNvSpPr>
          <p:nvPr/>
        </p:nvSpPr>
        <p:spPr bwMode="auto">
          <a:xfrm flipV="1">
            <a:off x="5616347" y="1677194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30"/>
          <p:cNvSpPr>
            <a:spLocks noChangeShapeType="1"/>
          </p:cNvSpPr>
          <p:nvPr/>
        </p:nvSpPr>
        <p:spPr bwMode="auto">
          <a:xfrm flipV="1">
            <a:off x="7522935" y="1677194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30"/>
          <p:cNvSpPr>
            <a:spLocks noChangeShapeType="1"/>
          </p:cNvSpPr>
          <p:nvPr/>
        </p:nvSpPr>
        <p:spPr bwMode="auto">
          <a:xfrm flipV="1">
            <a:off x="6684735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 flipV="1">
            <a:off x="6989535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30"/>
          <p:cNvSpPr>
            <a:spLocks noChangeShapeType="1"/>
          </p:cNvSpPr>
          <p:nvPr/>
        </p:nvSpPr>
        <p:spPr bwMode="auto">
          <a:xfrm flipV="1">
            <a:off x="7218135" y="1676400"/>
            <a:ext cx="1588" cy="1370012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" name="AutoShape 19"/>
          <p:cNvSpPr>
            <a:spLocks noChangeArrowheads="1"/>
          </p:cNvSpPr>
          <p:nvPr/>
        </p:nvSpPr>
        <p:spPr bwMode="auto">
          <a:xfrm>
            <a:off x="5236935" y="1244178"/>
            <a:ext cx="2667000" cy="432222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19080">
            <a:noFill/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Tag Check</a:t>
            </a:r>
          </a:p>
        </p:txBody>
      </p:sp>
    </p:spTree>
    <p:extLst>
      <p:ext uri="{BB962C8B-B14F-4D97-AF65-F5344CB8AC3E}">
        <p14:creationId xmlns:p14="http://schemas.microsoft.com/office/powerpoint/2010/main" val="312847562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024982" cy="762000"/>
          </a:xfrm>
        </p:spPr>
        <p:txBody>
          <a:bodyPr/>
          <a:lstStyle/>
          <a:p>
            <a:r>
              <a:rPr lang="en-US" dirty="0"/>
              <a:t>Virtual Address Space of a Linux Process</a:t>
            </a:r>
          </a:p>
        </p:txBody>
      </p:sp>
      <p:sp>
        <p:nvSpPr>
          <p:cNvPr id="4" name="Rectangle 379"/>
          <p:cNvSpPr>
            <a:spLocks noChangeAspect="1" noChangeArrowheads="1"/>
          </p:cNvSpPr>
          <p:nvPr/>
        </p:nvSpPr>
        <p:spPr bwMode="auto">
          <a:xfrm>
            <a:off x="3482975" y="2976563"/>
            <a:ext cx="2174875" cy="523875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Kernel code and data</a:t>
            </a:r>
          </a:p>
        </p:txBody>
      </p:sp>
      <p:sp>
        <p:nvSpPr>
          <p:cNvPr id="5" name="Rectangle 380"/>
          <p:cNvSpPr>
            <a:spLocks noChangeAspect="1" noChangeArrowheads="1"/>
          </p:cNvSpPr>
          <p:nvPr/>
        </p:nvSpPr>
        <p:spPr bwMode="auto">
          <a:xfrm>
            <a:off x="3482975" y="4325938"/>
            <a:ext cx="2174875" cy="455612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Memory mapped region </a:t>
            </a:r>
          </a:p>
          <a:p>
            <a:r>
              <a:rPr lang="en-US" sz="1600" dirty="0">
                <a:latin typeface="+mn-lt"/>
              </a:rPr>
              <a:t>for shared libraries</a:t>
            </a:r>
          </a:p>
        </p:txBody>
      </p:sp>
      <p:sp>
        <p:nvSpPr>
          <p:cNvPr id="6" name="Rectangle 381"/>
          <p:cNvSpPr>
            <a:spLocks noChangeAspect="1" noChangeArrowheads="1"/>
          </p:cNvSpPr>
          <p:nvPr/>
        </p:nvSpPr>
        <p:spPr bwMode="auto">
          <a:xfrm>
            <a:off x="3482975" y="4778375"/>
            <a:ext cx="2174875" cy="4921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400">
              <a:latin typeface="+mn-lt"/>
            </a:endParaRPr>
          </a:p>
        </p:txBody>
      </p:sp>
      <p:sp>
        <p:nvSpPr>
          <p:cNvPr id="7" name="Rectangle 382"/>
          <p:cNvSpPr>
            <a:spLocks noChangeAspect="1" noChangeArrowheads="1"/>
          </p:cNvSpPr>
          <p:nvPr/>
        </p:nvSpPr>
        <p:spPr bwMode="auto">
          <a:xfrm>
            <a:off x="3482975" y="5273675"/>
            <a:ext cx="2174875" cy="454025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Runtime heap (</a:t>
            </a:r>
            <a:r>
              <a:rPr lang="en-US" sz="1600" dirty="0" err="1">
                <a:latin typeface="+mn-lt"/>
              </a:rPr>
              <a:t>malloc</a:t>
            </a:r>
            <a:r>
              <a:rPr lang="en-US" sz="1600" dirty="0">
                <a:latin typeface="+mn-lt"/>
              </a:rPr>
              <a:t>)</a:t>
            </a:r>
          </a:p>
        </p:txBody>
      </p:sp>
      <p:sp>
        <p:nvSpPr>
          <p:cNvPr id="8" name="Rectangle 383"/>
          <p:cNvSpPr>
            <a:spLocks noChangeAspect="1" noChangeArrowheads="1"/>
          </p:cNvSpPr>
          <p:nvPr/>
        </p:nvSpPr>
        <p:spPr bwMode="auto">
          <a:xfrm>
            <a:off x="3482975" y="3708400"/>
            <a:ext cx="2174875" cy="6159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400">
              <a:latin typeface="+mn-lt"/>
            </a:endParaRPr>
          </a:p>
        </p:txBody>
      </p:sp>
      <p:sp>
        <p:nvSpPr>
          <p:cNvPr id="9" name="Rectangle 384"/>
          <p:cNvSpPr>
            <a:spLocks noChangeAspect="1" noChangeArrowheads="1"/>
          </p:cNvSpPr>
          <p:nvPr/>
        </p:nvSpPr>
        <p:spPr bwMode="auto">
          <a:xfrm>
            <a:off x="3482975" y="6235700"/>
            <a:ext cx="2174875" cy="2698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Program text (.text)</a:t>
            </a:r>
          </a:p>
        </p:txBody>
      </p:sp>
      <p:sp>
        <p:nvSpPr>
          <p:cNvPr id="10" name="Rectangle 385"/>
          <p:cNvSpPr>
            <a:spLocks noChangeAspect="1" noChangeArrowheads="1"/>
          </p:cNvSpPr>
          <p:nvPr/>
        </p:nvSpPr>
        <p:spPr bwMode="auto">
          <a:xfrm>
            <a:off x="3482975" y="5976938"/>
            <a:ext cx="2174875" cy="269875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Initialized data (.data)</a:t>
            </a:r>
          </a:p>
        </p:txBody>
      </p:sp>
      <p:sp>
        <p:nvSpPr>
          <p:cNvPr id="11" name="Rectangle 386"/>
          <p:cNvSpPr>
            <a:spLocks noChangeAspect="1" noChangeArrowheads="1"/>
          </p:cNvSpPr>
          <p:nvPr/>
        </p:nvSpPr>
        <p:spPr bwMode="auto">
          <a:xfrm>
            <a:off x="3482975" y="5718175"/>
            <a:ext cx="2174875" cy="268288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Uninitialized data (.</a:t>
            </a:r>
            <a:r>
              <a:rPr lang="en-US" sz="1600" dirty="0" err="1">
                <a:latin typeface="+mn-lt"/>
              </a:rPr>
              <a:t>bss</a:t>
            </a:r>
            <a:r>
              <a:rPr lang="en-US" sz="1600" dirty="0">
                <a:latin typeface="+mn-lt"/>
              </a:rPr>
              <a:t>)</a:t>
            </a:r>
          </a:p>
        </p:txBody>
      </p:sp>
      <p:sp>
        <p:nvSpPr>
          <p:cNvPr id="12" name="Line 387"/>
          <p:cNvSpPr>
            <a:spLocks noChangeAspect="1" noChangeShapeType="1"/>
          </p:cNvSpPr>
          <p:nvPr/>
        </p:nvSpPr>
        <p:spPr bwMode="auto">
          <a:xfrm flipV="1">
            <a:off x="4508500" y="5026025"/>
            <a:ext cx="0" cy="239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3" name="Rectangle 388"/>
          <p:cNvSpPr>
            <a:spLocks noChangeAspect="1" noChangeArrowheads="1"/>
          </p:cNvSpPr>
          <p:nvPr/>
        </p:nvSpPr>
        <p:spPr bwMode="auto">
          <a:xfrm>
            <a:off x="3482975" y="3479800"/>
            <a:ext cx="2174875" cy="324882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User stack</a:t>
            </a:r>
          </a:p>
        </p:txBody>
      </p:sp>
      <p:sp>
        <p:nvSpPr>
          <p:cNvPr id="15" name="Line 390"/>
          <p:cNvSpPr>
            <a:spLocks noChangeAspect="1" noChangeShapeType="1"/>
          </p:cNvSpPr>
          <p:nvPr/>
        </p:nvSpPr>
        <p:spPr bwMode="auto">
          <a:xfrm>
            <a:off x="4529137" y="3805237"/>
            <a:ext cx="0" cy="239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6" name="Rectangle 391"/>
          <p:cNvSpPr>
            <a:spLocks noChangeAspect="1" noChangeArrowheads="1"/>
          </p:cNvSpPr>
          <p:nvPr/>
        </p:nvSpPr>
        <p:spPr bwMode="auto">
          <a:xfrm>
            <a:off x="3482975" y="6494463"/>
            <a:ext cx="2174875" cy="26987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400">
              <a:latin typeface="+mn-lt"/>
            </a:endParaRPr>
          </a:p>
        </p:txBody>
      </p:sp>
      <p:sp>
        <p:nvSpPr>
          <p:cNvPr id="17" name="Text Box 392"/>
          <p:cNvSpPr txBox="1">
            <a:spLocks noChangeAspect="1" noChangeArrowheads="1"/>
          </p:cNvSpPr>
          <p:nvPr/>
        </p:nvSpPr>
        <p:spPr bwMode="auto">
          <a:xfrm>
            <a:off x="3276600" y="6659563"/>
            <a:ext cx="268287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latin typeface="+mn-lt"/>
              </a:rPr>
              <a:t>0</a:t>
            </a:r>
          </a:p>
        </p:txBody>
      </p:sp>
      <p:sp>
        <p:nvSpPr>
          <p:cNvPr id="18" name="Text Box 393"/>
          <p:cNvSpPr txBox="1">
            <a:spLocks noChangeAspect="1" noChangeArrowheads="1"/>
          </p:cNvSpPr>
          <p:nvPr/>
        </p:nvSpPr>
        <p:spPr bwMode="auto">
          <a:xfrm>
            <a:off x="2514600" y="3593068"/>
            <a:ext cx="73111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latin typeface="+mn-lt"/>
              </a:rPr>
              <a:t>%</a:t>
            </a:r>
            <a:r>
              <a:rPr lang="en-US" sz="1800" dirty="0" err="1">
                <a:latin typeface="Courier New"/>
                <a:cs typeface="Courier New"/>
              </a:rPr>
              <a:t>rsp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19" name="Line 394"/>
          <p:cNvSpPr>
            <a:spLocks noChangeAspect="1" noChangeShapeType="1"/>
          </p:cNvSpPr>
          <p:nvPr/>
        </p:nvSpPr>
        <p:spPr bwMode="auto">
          <a:xfrm>
            <a:off x="3224212" y="3808412"/>
            <a:ext cx="258763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0" name="Text Box 395"/>
          <p:cNvSpPr txBox="1">
            <a:spLocks noChangeAspect="1" noChangeArrowheads="1"/>
          </p:cNvSpPr>
          <p:nvPr/>
        </p:nvSpPr>
        <p:spPr bwMode="auto">
          <a:xfrm>
            <a:off x="5995987" y="4732814"/>
            <a:ext cx="1038578" cy="92333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i="1" dirty="0">
                <a:latin typeface="+mn-lt"/>
              </a:rPr>
              <a:t>Process</a:t>
            </a:r>
          </a:p>
          <a:p>
            <a:pPr algn="l"/>
            <a:r>
              <a:rPr lang="en-US" sz="1800" i="1" dirty="0">
                <a:latin typeface="+mn-lt"/>
              </a:rPr>
              <a:t>virtual</a:t>
            </a:r>
          </a:p>
          <a:p>
            <a:pPr algn="l"/>
            <a:r>
              <a:rPr lang="en-US" sz="1800" i="1" dirty="0">
                <a:latin typeface="+mn-lt"/>
              </a:rPr>
              <a:t>memory</a:t>
            </a:r>
          </a:p>
        </p:txBody>
      </p:sp>
      <p:sp>
        <p:nvSpPr>
          <p:cNvPr id="21" name="Text Box 397"/>
          <p:cNvSpPr txBox="1">
            <a:spLocks noChangeAspect="1" noChangeArrowheads="1"/>
          </p:cNvSpPr>
          <p:nvPr/>
        </p:nvSpPr>
        <p:spPr bwMode="auto">
          <a:xfrm>
            <a:off x="2667000" y="5035550"/>
            <a:ext cx="60023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brk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2" name="Line 398"/>
          <p:cNvSpPr>
            <a:spLocks noChangeAspect="1" noChangeShapeType="1"/>
          </p:cNvSpPr>
          <p:nvPr/>
        </p:nvSpPr>
        <p:spPr bwMode="auto">
          <a:xfrm>
            <a:off x="3209925" y="5262563"/>
            <a:ext cx="2587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3" name="Rectangle 400"/>
          <p:cNvSpPr>
            <a:spLocks noChangeAspect="1" noChangeArrowheads="1"/>
          </p:cNvSpPr>
          <p:nvPr/>
        </p:nvSpPr>
        <p:spPr bwMode="auto">
          <a:xfrm>
            <a:off x="3482975" y="2580214"/>
            <a:ext cx="2174875" cy="399524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+mn-lt"/>
              </a:rPr>
              <a:t>Physical memory</a:t>
            </a:r>
          </a:p>
        </p:txBody>
      </p:sp>
      <p:sp>
        <p:nvSpPr>
          <p:cNvPr id="24" name="AutoShape 401"/>
          <p:cNvSpPr>
            <a:spLocks/>
          </p:cNvSpPr>
          <p:nvPr/>
        </p:nvSpPr>
        <p:spPr bwMode="auto">
          <a:xfrm flipH="1">
            <a:off x="3240086" y="2580213"/>
            <a:ext cx="150813" cy="878949"/>
          </a:xfrm>
          <a:prstGeom prst="rightBrace">
            <a:avLst>
              <a:gd name="adj1" fmla="val 5543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5" name="Text Box 402"/>
          <p:cNvSpPr txBox="1">
            <a:spLocks noChangeArrowheads="1"/>
          </p:cNvSpPr>
          <p:nvPr/>
        </p:nvSpPr>
        <p:spPr bwMode="auto">
          <a:xfrm>
            <a:off x="1676400" y="2705100"/>
            <a:ext cx="1589087" cy="59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r">
              <a:lnSpc>
                <a:spcPct val="90000"/>
              </a:lnSpc>
              <a:spcBef>
                <a:spcPct val="30000"/>
              </a:spcBef>
            </a:pPr>
            <a:r>
              <a:rPr lang="en-US" sz="1800" i="1" dirty="0">
                <a:solidFill>
                  <a:schemeClr val="tx2"/>
                </a:solidFill>
                <a:latin typeface="+mn-lt"/>
              </a:rPr>
              <a:t>Identical  for each process</a:t>
            </a:r>
          </a:p>
        </p:txBody>
      </p:sp>
      <p:sp>
        <p:nvSpPr>
          <p:cNvPr id="26" name="Rectangle 403"/>
          <p:cNvSpPr>
            <a:spLocks noChangeAspect="1" noChangeArrowheads="1"/>
          </p:cNvSpPr>
          <p:nvPr/>
        </p:nvSpPr>
        <p:spPr bwMode="auto">
          <a:xfrm>
            <a:off x="3481387" y="1256775"/>
            <a:ext cx="2171700" cy="1323439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latin typeface="+mn-lt"/>
              </a:rPr>
              <a:t>Process-specific data</a:t>
            </a:r>
          </a:p>
          <a:p>
            <a:pPr algn="ctr"/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structs</a:t>
            </a:r>
            <a:r>
              <a:rPr lang="en-US" sz="1600" dirty="0">
                <a:latin typeface="+mn-lt"/>
              </a:rPr>
              <a:t>  (</a:t>
            </a:r>
            <a:r>
              <a:rPr lang="en-US" sz="1600" dirty="0" err="1">
                <a:latin typeface="+mn-lt"/>
              </a:rPr>
              <a:t>ptables</a:t>
            </a:r>
            <a:r>
              <a:rPr lang="en-US" sz="1600" dirty="0">
                <a:latin typeface="+mn-lt"/>
              </a:rPr>
              <a:t>,</a:t>
            </a:r>
          </a:p>
          <a:p>
            <a:pPr algn="ctr"/>
            <a:r>
              <a:rPr lang="en-US" sz="1600" dirty="0">
                <a:latin typeface="+mn-lt"/>
              </a:rPr>
              <a:t>task and mm </a:t>
            </a:r>
            <a:r>
              <a:rPr lang="en-US" sz="1600" dirty="0" err="1">
                <a:latin typeface="+mn-lt"/>
              </a:rPr>
              <a:t>structs</a:t>
            </a:r>
            <a:r>
              <a:rPr lang="en-US" sz="1600" dirty="0">
                <a:latin typeface="+mn-lt"/>
              </a:rPr>
              <a:t>, kernel stack)</a:t>
            </a:r>
          </a:p>
        </p:txBody>
      </p:sp>
      <p:sp>
        <p:nvSpPr>
          <p:cNvPr id="27" name="Text Box 405"/>
          <p:cNvSpPr txBox="1">
            <a:spLocks noChangeAspect="1" noChangeArrowheads="1"/>
          </p:cNvSpPr>
          <p:nvPr/>
        </p:nvSpPr>
        <p:spPr bwMode="auto">
          <a:xfrm>
            <a:off x="6034087" y="1987550"/>
            <a:ext cx="1038578" cy="92333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i="1" dirty="0">
                <a:latin typeface="+mn-lt"/>
              </a:rPr>
              <a:t>Kernel</a:t>
            </a:r>
          </a:p>
          <a:p>
            <a:pPr algn="l"/>
            <a:r>
              <a:rPr lang="en-US" sz="1800" i="1" dirty="0">
                <a:latin typeface="+mn-lt"/>
              </a:rPr>
              <a:t>virtual </a:t>
            </a:r>
          </a:p>
          <a:p>
            <a:pPr algn="l"/>
            <a:r>
              <a:rPr lang="en-US" sz="1800" i="1" dirty="0">
                <a:latin typeface="+mn-lt"/>
              </a:rPr>
              <a:t>memory</a:t>
            </a:r>
          </a:p>
        </p:txBody>
      </p:sp>
      <p:sp>
        <p:nvSpPr>
          <p:cNvPr id="28" name="AutoShape 421"/>
          <p:cNvSpPr>
            <a:spLocks/>
          </p:cNvSpPr>
          <p:nvPr/>
        </p:nvSpPr>
        <p:spPr bwMode="auto">
          <a:xfrm>
            <a:off x="5754687" y="3484563"/>
            <a:ext cx="190500" cy="3289300"/>
          </a:xfrm>
          <a:prstGeom prst="rightBrace">
            <a:avLst>
              <a:gd name="adj1" fmla="val 14388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9" name="AutoShape 422"/>
          <p:cNvSpPr>
            <a:spLocks/>
          </p:cNvSpPr>
          <p:nvPr/>
        </p:nvSpPr>
        <p:spPr bwMode="auto">
          <a:xfrm>
            <a:off x="5741987" y="1389063"/>
            <a:ext cx="215900" cy="2032000"/>
          </a:xfrm>
          <a:prstGeom prst="rightBrace">
            <a:avLst>
              <a:gd name="adj1" fmla="val 7843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0" name="Text Box 424"/>
          <p:cNvSpPr txBox="1">
            <a:spLocks noChangeArrowheads="1"/>
          </p:cNvSpPr>
          <p:nvPr/>
        </p:nvSpPr>
        <p:spPr bwMode="auto">
          <a:xfrm>
            <a:off x="2016465" y="6324600"/>
            <a:ext cx="1260135" cy="287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Courier New"/>
                <a:cs typeface="Courier New"/>
              </a:rPr>
              <a:t>0x00400000</a:t>
            </a:r>
          </a:p>
        </p:txBody>
      </p:sp>
      <p:sp>
        <p:nvSpPr>
          <p:cNvPr id="31" name="AutoShape 425"/>
          <p:cNvSpPr>
            <a:spLocks/>
          </p:cNvSpPr>
          <p:nvPr/>
        </p:nvSpPr>
        <p:spPr bwMode="auto">
          <a:xfrm flipH="1">
            <a:off x="3214687" y="1280228"/>
            <a:ext cx="176212" cy="1162935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2" name="Text Box 426"/>
          <p:cNvSpPr txBox="1">
            <a:spLocks noChangeArrowheads="1"/>
          </p:cNvSpPr>
          <p:nvPr/>
        </p:nvSpPr>
        <p:spPr bwMode="auto">
          <a:xfrm>
            <a:off x="1676400" y="1757363"/>
            <a:ext cx="1576387" cy="59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r">
              <a:lnSpc>
                <a:spcPct val="90000"/>
              </a:lnSpc>
              <a:spcBef>
                <a:spcPct val="30000"/>
              </a:spcBef>
            </a:pPr>
            <a:r>
              <a:rPr lang="en-US" sz="1800" i="1" dirty="0">
                <a:solidFill>
                  <a:schemeClr val="tx2"/>
                </a:solidFill>
                <a:latin typeface="+mn-lt"/>
              </a:rPr>
              <a:t>Different for each process</a:t>
            </a:r>
          </a:p>
        </p:txBody>
      </p:sp>
      <p:sp>
        <p:nvSpPr>
          <p:cNvPr id="33" name="Line 427"/>
          <p:cNvSpPr>
            <a:spLocks noChangeShapeType="1"/>
          </p:cNvSpPr>
          <p:nvPr/>
        </p:nvSpPr>
        <p:spPr bwMode="auto">
          <a:xfrm>
            <a:off x="3468687" y="3473450"/>
            <a:ext cx="218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34" name="Line 428"/>
          <p:cNvSpPr>
            <a:spLocks noChangeAspect="1" noChangeShapeType="1"/>
          </p:cNvSpPr>
          <p:nvPr/>
        </p:nvSpPr>
        <p:spPr bwMode="auto">
          <a:xfrm>
            <a:off x="3222625" y="6481763"/>
            <a:ext cx="2587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02284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4015647" y="4648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4015647" y="2819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610600" cy="1096963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Linux Organizes VM as Collection of “Areas” 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77703" y="1443038"/>
            <a:ext cx="1540229" cy="31346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/>
                <a:cs typeface="Courier New"/>
              </a:rPr>
              <a:t>task_struct</a:t>
            </a:r>
            <a:endParaRPr lang="en-GB" sz="1600" b="1" dirty="0">
              <a:latin typeface="Courier New"/>
              <a:cs typeface="Courier New"/>
            </a:endParaRP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2105885" y="1600200"/>
            <a:ext cx="1290661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/>
                <a:cs typeface="Courier New"/>
              </a:rPr>
              <a:t>mm_struct</a:t>
            </a:r>
            <a:endParaRPr lang="en-GB" sz="1600" b="1" dirty="0">
              <a:latin typeface="Courier New"/>
              <a:cs typeface="Courier New"/>
            </a:endParaRP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2186847" y="2006600"/>
            <a:ext cx="1066800" cy="157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2186847" y="1981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pgd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662847" y="1778000"/>
            <a:ext cx="762000" cy="18034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662847" y="1981200"/>
            <a:ext cx="7620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mm</a:t>
            </a: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2186847" y="2438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mmap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3707672" y="1295400"/>
            <a:ext cx="1906314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/>
                <a:cs typeface="Courier New"/>
              </a:rPr>
              <a:t>vm_area_struct</a:t>
            </a:r>
            <a:endParaRPr lang="en-GB" sz="1600" b="1" dirty="0">
              <a:latin typeface="Courier New"/>
              <a:cs typeface="Courier New"/>
            </a:endParaRPr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4015647" y="1701800"/>
            <a:ext cx="1066800" cy="134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4015647" y="1676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4015647" y="21336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4015647" y="1905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4015647" y="3530600"/>
            <a:ext cx="1066800" cy="134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Rectangle 21"/>
          <p:cNvSpPr>
            <a:spLocks noChangeArrowheads="1"/>
          </p:cNvSpPr>
          <p:nvPr/>
        </p:nvSpPr>
        <p:spPr bwMode="auto">
          <a:xfrm>
            <a:off x="4015647" y="3505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8" name="Rectangle 22"/>
          <p:cNvSpPr>
            <a:spLocks noChangeArrowheads="1"/>
          </p:cNvSpPr>
          <p:nvPr/>
        </p:nvSpPr>
        <p:spPr bwMode="auto">
          <a:xfrm>
            <a:off x="4015647" y="3962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19" name="Rectangle 23"/>
          <p:cNvSpPr>
            <a:spLocks noChangeArrowheads="1"/>
          </p:cNvSpPr>
          <p:nvPr/>
        </p:nvSpPr>
        <p:spPr bwMode="auto">
          <a:xfrm>
            <a:off x="4015647" y="37338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4015647" y="5359400"/>
            <a:ext cx="1066800" cy="1117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Rectangle 25"/>
          <p:cNvSpPr>
            <a:spLocks noChangeArrowheads="1"/>
          </p:cNvSpPr>
          <p:nvPr/>
        </p:nvSpPr>
        <p:spPr bwMode="auto">
          <a:xfrm>
            <a:off x="4015647" y="5334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4015647" y="5791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4015647" y="6248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4015647" y="55626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5920647" y="1524000"/>
            <a:ext cx="1981200" cy="48006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6" name="Text Box 30"/>
          <p:cNvSpPr txBox="1">
            <a:spLocks noChangeArrowheads="1"/>
          </p:cNvSpPr>
          <p:nvPr/>
        </p:nvSpPr>
        <p:spPr bwMode="auto">
          <a:xfrm>
            <a:off x="5791200" y="1143000"/>
            <a:ext cx="2191448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rocess virtual memory</a:t>
            </a:r>
          </a:p>
        </p:txBody>
      </p:sp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5920647" y="4572000"/>
            <a:ext cx="19812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T</a:t>
            </a:r>
            <a:r>
              <a:rPr lang="en-GB" sz="1600" b="1" dirty="0">
                <a:latin typeface="Calibri" pitchFamily="34" charset="0"/>
              </a:rPr>
              <a:t>ext</a:t>
            </a:r>
          </a:p>
        </p:txBody>
      </p:sp>
      <p:sp>
        <p:nvSpPr>
          <p:cNvPr id="29728" name="Rectangle 32"/>
          <p:cNvSpPr>
            <a:spLocks noChangeArrowheads="1"/>
          </p:cNvSpPr>
          <p:nvPr/>
        </p:nvSpPr>
        <p:spPr bwMode="auto">
          <a:xfrm>
            <a:off x="5920647" y="3810000"/>
            <a:ext cx="1981200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D</a:t>
            </a:r>
            <a:r>
              <a:rPr lang="en-GB" sz="1600" b="1" dirty="0">
                <a:latin typeface="Calibri" pitchFamily="34" charset="0"/>
              </a:rPr>
              <a:t>ata</a:t>
            </a:r>
          </a:p>
        </p:txBody>
      </p:sp>
      <p:sp>
        <p:nvSpPr>
          <p:cNvPr id="29729" name="Rectangle 33"/>
          <p:cNvSpPr>
            <a:spLocks noChangeArrowheads="1"/>
          </p:cNvSpPr>
          <p:nvPr/>
        </p:nvSpPr>
        <p:spPr bwMode="auto">
          <a:xfrm>
            <a:off x="5920647" y="2514600"/>
            <a:ext cx="1981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hared libraries</a:t>
            </a:r>
          </a:p>
        </p:txBody>
      </p:sp>
      <p:sp>
        <p:nvSpPr>
          <p:cNvPr id="29730" name="Line 34"/>
          <p:cNvSpPr>
            <a:spLocks noChangeShapeType="1"/>
          </p:cNvSpPr>
          <p:nvPr/>
        </p:nvSpPr>
        <p:spPr bwMode="auto">
          <a:xfrm>
            <a:off x="5082447" y="1828800"/>
            <a:ext cx="838200" cy="685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1" name="Line 35"/>
          <p:cNvSpPr>
            <a:spLocks noChangeShapeType="1"/>
          </p:cNvSpPr>
          <p:nvPr/>
        </p:nvSpPr>
        <p:spPr bwMode="auto">
          <a:xfrm>
            <a:off x="5082447" y="2057400"/>
            <a:ext cx="838200" cy="990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2" name="Line 36"/>
          <p:cNvSpPr>
            <a:spLocks noChangeShapeType="1"/>
          </p:cNvSpPr>
          <p:nvPr/>
        </p:nvSpPr>
        <p:spPr bwMode="auto">
          <a:xfrm>
            <a:off x="5082447" y="3657600"/>
            <a:ext cx="838200" cy="152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3" name="Line 37"/>
          <p:cNvSpPr>
            <a:spLocks noChangeShapeType="1"/>
          </p:cNvSpPr>
          <p:nvPr/>
        </p:nvSpPr>
        <p:spPr bwMode="auto">
          <a:xfrm>
            <a:off x="5082447" y="3810000"/>
            <a:ext cx="838200" cy="762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4" name="Line 38"/>
          <p:cNvSpPr>
            <a:spLocks noChangeShapeType="1"/>
          </p:cNvSpPr>
          <p:nvPr/>
        </p:nvSpPr>
        <p:spPr bwMode="auto">
          <a:xfrm flipV="1">
            <a:off x="5082447" y="4572000"/>
            <a:ext cx="838200" cy="914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5" name="Line 39"/>
          <p:cNvSpPr>
            <a:spLocks noChangeShapeType="1"/>
          </p:cNvSpPr>
          <p:nvPr/>
        </p:nvSpPr>
        <p:spPr bwMode="auto">
          <a:xfrm>
            <a:off x="5082447" y="5715000"/>
            <a:ext cx="838200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6" name="Line 40"/>
          <p:cNvSpPr>
            <a:spLocks noChangeShapeType="1"/>
          </p:cNvSpPr>
          <p:nvPr/>
        </p:nvSpPr>
        <p:spPr bwMode="auto">
          <a:xfrm flipH="1">
            <a:off x="3785460" y="2971800"/>
            <a:ext cx="23177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7" name="Line 41"/>
          <p:cNvSpPr>
            <a:spLocks noChangeShapeType="1"/>
          </p:cNvSpPr>
          <p:nvPr/>
        </p:nvSpPr>
        <p:spPr bwMode="auto">
          <a:xfrm>
            <a:off x="3787047" y="2971800"/>
            <a:ext cx="1588" cy="533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8" name="Line 42"/>
          <p:cNvSpPr>
            <a:spLocks noChangeShapeType="1"/>
          </p:cNvSpPr>
          <p:nvPr/>
        </p:nvSpPr>
        <p:spPr bwMode="auto">
          <a:xfrm>
            <a:off x="3787047" y="3505200"/>
            <a:ext cx="228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39" name="Line 43"/>
          <p:cNvSpPr>
            <a:spLocks noChangeShapeType="1"/>
          </p:cNvSpPr>
          <p:nvPr/>
        </p:nvSpPr>
        <p:spPr bwMode="auto">
          <a:xfrm flipH="1">
            <a:off x="3785460" y="4724400"/>
            <a:ext cx="23177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40" name="Line 44"/>
          <p:cNvSpPr>
            <a:spLocks noChangeShapeType="1"/>
          </p:cNvSpPr>
          <p:nvPr/>
        </p:nvSpPr>
        <p:spPr bwMode="auto">
          <a:xfrm>
            <a:off x="3787047" y="4724400"/>
            <a:ext cx="1588" cy="609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41" name="Line 45"/>
          <p:cNvSpPr>
            <a:spLocks noChangeShapeType="1"/>
          </p:cNvSpPr>
          <p:nvPr/>
        </p:nvSpPr>
        <p:spPr bwMode="auto">
          <a:xfrm>
            <a:off x="3787047" y="5334000"/>
            <a:ext cx="228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42" name="Text Box 46"/>
          <p:cNvSpPr txBox="1">
            <a:spLocks noChangeArrowheads="1"/>
          </p:cNvSpPr>
          <p:nvPr/>
        </p:nvSpPr>
        <p:spPr bwMode="auto">
          <a:xfrm>
            <a:off x="7932010" y="6170613"/>
            <a:ext cx="281871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5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29746" name="Rectangle 50"/>
          <p:cNvSpPr>
            <a:spLocks noGrp="1" noChangeArrowheads="1"/>
          </p:cNvSpPr>
          <p:nvPr>
            <p:ph type="body" idx="1"/>
          </p:nvPr>
        </p:nvSpPr>
        <p:spPr>
          <a:xfrm>
            <a:off x="358774" y="3657600"/>
            <a:ext cx="3197225" cy="2894013"/>
          </a:xfrm>
          <a:ln/>
        </p:spPr>
        <p:txBody>
          <a:bodyPr/>
          <a:lstStyle/>
          <a:p>
            <a:pPr>
              <a:spcBef>
                <a:spcPts val="563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2200" dirty="0" err="1"/>
              <a:t>pgd</a:t>
            </a:r>
            <a:r>
              <a:rPr lang="en-GB" sz="2200" dirty="0"/>
              <a:t>: </a:t>
            </a:r>
          </a:p>
          <a:p>
            <a:pPr marL="576263" lvl="1" indent="-228600">
              <a:spcBef>
                <a:spcPts val="200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1600" dirty="0"/>
              <a:t>Page global directory address</a:t>
            </a:r>
          </a:p>
          <a:p>
            <a:pPr marL="576263" lvl="1" indent="-228600">
              <a:spcBef>
                <a:spcPts val="200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1600" dirty="0"/>
              <a:t>Points to L1 page table</a:t>
            </a:r>
          </a:p>
          <a:p>
            <a:pPr>
              <a:spcBef>
                <a:spcPts val="563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2200" dirty="0" err="1"/>
              <a:t>vm_prot</a:t>
            </a:r>
            <a:r>
              <a:rPr lang="en-GB" sz="2200" dirty="0"/>
              <a:t>:</a:t>
            </a:r>
          </a:p>
          <a:p>
            <a:pPr marL="576263" lvl="1" indent="-228600">
              <a:spcBef>
                <a:spcPts val="200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1600" dirty="0"/>
              <a:t>Read/write permissions for </a:t>
            </a:r>
            <a:br>
              <a:rPr lang="en-GB" sz="1600" dirty="0"/>
            </a:br>
            <a:r>
              <a:rPr lang="en-GB" sz="1600" dirty="0"/>
              <a:t>this area</a:t>
            </a:r>
          </a:p>
          <a:p>
            <a:pPr>
              <a:spcBef>
                <a:spcPts val="563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2200" dirty="0" err="1"/>
              <a:t>vm_flags</a:t>
            </a:r>
            <a:endParaRPr lang="en-GB" sz="2200" dirty="0"/>
          </a:p>
          <a:p>
            <a:pPr marL="576263" lvl="1" indent="-228600">
              <a:spcBef>
                <a:spcPts val="200"/>
              </a:spcBef>
              <a:tabLst>
                <a:tab pos="669925" algn="l"/>
                <a:tab pos="1584325" algn="l"/>
                <a:tab pos="2498725" algn="l"/>
                <a:tab pos="3413125" algn="l"/>
                <a:tab pos="4327525" algn="l"/>
                <a:tab pos="5241925" algn="l"/>
                <a:tab pos="6156325" algn="l"/>
                <a:tab pos="7070725" algn="l"/>
                <a:tab pos="7985125" algn="l"/>
                <a:tab pos="8899525" algn="l"/>
                <a:tab pos="9813925" algn="l"/>
              </a:tabLst>
            </a:pPr>
            <a:r>
              <a:rPr lang="en-GB" sz="1600" dirty="0"/>
              <a:t>Pages </a:t>
            </a:r>
            <a:r>
              <a:rPr lang="en-GB" sz="1600" b="1" dirty="0"/>
              <a:t>shared</a:t>
            </a:r>
            <a:r>
              <a:rPr lang="en-GB" sz="1600" dirty="0"/>
              <a:t> with other processes or </a:t>
            </a:r>
            <a:r>
              <a:rPr lang="en-GB" sz="1600" b="1" dirty="0"/>
              <a:t>private</a:t>
            </a:r>
            <a:r>
              <a:rPr lang="en-GB" sz="1600" dirty="0"/>
              <a:t> to this process</a:t>
            </a:r>
          </a:p>
        </p:txBody>
      </p:sp>
      <p:sp>
        <p:nvSpPr>
          <p:cNvPr id="29747" name="Rectangle 51"/>
          <p:cNvSpPr>
            <a:spLocks noChangeArrowheads="1"/>
          </p:cNvSpPr>
          <p:nvPr/>
        </p:nvSpPr>
        <p:spPr bwMode="auto">
          <a:xfrm>
            <a:off x="4015647" y="2362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48" name="Rectangle 52"/>
          <p:cNvSpPr>
            <a:spLocks noChangeArrowheads="1"/>
          </p:cNvSpPr>
          <p:nvPr/>
        </p:nvSpPr>
        <p:spPr bwMode="auto">
          <a:xfrm>
            <a:off x="4015647" y="4191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29749" name="Rectangle 53"/>
          <p:cNvSpPr>
            <a:spLocks noChangeArrowheads="1"/>
          </p:cNvSpPr>
          <p:nvPr/>
        </p:nvSpPr>
        <p:spPr bwMode="auto">
          <a:xfrm>
            <a:off x="4015647" y="60198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cxnSp>
        <p:nvCxnSpPr>
          <p:cNvPr id="63" name="Elbow Connector 62"/>
          <p:cNvCxnSpPr>
            <a:stCxn id="29707" idx="3"/>
          </p:cNvCxnSpPr>
          <p:nvPr/>
        </p:nvCxnSpPr>
        <p:spPr bwMode="auto">
          <a:xfrm flipV="1">
            <a:off x="3253647" y="1676400"/>
            <a:ext cx="758952" cy="876300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66" name="Straight Arrow Connector 65"/>
          <p:cNvCxnSpPr>
            <a:stCxn id="29706" idx="3"/>
          </p:cNvCxnSpPr>
          <p:nvPr/>
        </p:nvCxnSpPr>
        <p:spPr bwMode="auto">
          <a:xfrm flipV="1">
            <a:off x="1424847" y="1981200"/>
            <a:ext cx="762000" cy="1143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5257800" y="6436969"/>
            <a:ext cx="3750834" cy="31346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</a:rPr>
              <a:t>Each process has own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r>
              <a:rPr lang="en-GB" sz="1600" b="0" dirty="0">
                <a:latin typeface="Calibri" pitchFamily="34" charset="0"/>
              </a:rPr>
              <a:t>, </a:t>
            </a:r>
            <a:r>
              <a:rPr lang="en-GB" sz="1600" b="0" dirty="0" err="1">
                <a:latin typeface="Calibri" pitchFamily="34" charset="0"/>
              </a:rPr>
              <a:t>etc</a:t>
            </a:r>
            <a:endParaRPr lang="en-GB" sz="1600" b="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24944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12763" y="457200"/>
            <a:ext cx="70310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Linux Page Fault Handling 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4343400" y="2895600"/>
            <a:ext cx="838200" cy="534687"/>
            <a:chOff x="4343400" y="2895600"/>
            <a:chExt cx="838200" cy="534687"/>
          </a:xfrm>
        </p:grpSpPr>
        <p:sp>
          <p:nvSpPr>
            <p:cNvPr id="30764" name="Line 44"/>
            <p:cNvSpPr>
              <a:spLocks noChangeShapeType="1"/>
            </p:cNvSpPr>
            <p:nvPr/>
          </p:nvSpPr>
          <p:spPr bwMode="auto">
            <a:xfrm>
              <a:off x="4343400" y="3362325"/>
              <a:ext cx="838200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65" name="Text Box 45"/>
            <p:cNvSpPr txBox="1">
              <a:spLocks noChangeArrowheads="1"/>
            </p:cNvSpPr>
            <p:nvPr/>
          </p:nvSpPr>
          <p:spPr bwMode="auto">
            <a:xfrm>
              <a:off x="4479925" y="3124200"/>
              <a:ext cx="568103" cy="30608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read</a:t>
              </a:r>
            </a:p>
          </p:txBody>
        </p:sp>
        <p:sp>
          <p:nvSpPr>
            <p:cNvPr id="30766" name="Oval 46"/>
            <p:cNvSpPr>
              <a:spLocks noChangeArrowheads="1"/>
            </p:cNvSpPr>
            <p:nvPr/>
          </p:nvSpPr>
          <p:spPr bwMode="auto">
            <a:xfrm>
              <a:off x="4648200" y="2895600"/>
              <a:ext cx="304800" cy="3048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360">
              <a:noFill/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lnSpc>
                  <a:spcPct val="88000"/>
                </a:lnSpc>
                <a:spcBef>
                  <a:spcPts val="9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solidFill>
                    <a:schemeClr val="bg1"/>
                  </a:solidFill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343400" y="4880275"/>
            <a:ext cx="838200" cy="606125"/>
            <a:chOff x="4343400" y="4880275"/>
            <a:chExt cx="838200" cy="606125"/>
          </a:xfrm>
        </p:grpSpPr>
        <p:sp>
          <p:nvSpPr>
            <p:cNvPr id="30760" name="Line 40"/>
            <p:cNvSpPr>
              <a:spLocks noChangeShapeType="1"/>
            </p:cNvSpPr>
            <p:nvPr/>
          </p:nvSpPr>
          <p:spPr bwMode="auto">
            <a:xfrm>
              <a:off x="4343400" y="5413675"/>
              <a:ext cx="838200" cy="15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61" name="Text Box 41"/>
            <p:cNvSpPr txBox="1">
              <a:spLocks noChangeArrowheads="1"/>
            </p:cNvSpPr>
            <p:nvPr/>
          </p:nvSpPr>
          <p:spPr bwMode="auto">
            <a:xfrm>
              <a:off x="4483100" y="5180313"/>
              <a:ext cx="628825" cy="30608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write</a:t>
              </a:r>
            </a:p>
          </p:txBody>
        </p:sp>
        <p:sp>
          <p:nvSpPr>
            <p:cNvPr id="30767" name="Oval 47"/>
            <p:cNvSpPr>
              <a:spLocks noChangeArrowheads="1"/>
            </p:cNvSpPr>
            <p:nvPr/>
          </p:nvSpPr>
          <p:spPr bwMode="auto">
            <a:xfrm>
              <a:off x="4648200" y="4880275"/>
              <a:ext cx="304800" cy="3048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360">
              <a:noFill/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lnSpc>
                  <a:spcPct val="88000"/>
                </a:lnSpc>
                <a:spcBef>
                  <a:spcPts val="9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chemeClr val="bg1"/>
                  </a:solidFill>
                  <a:latin typeface="Calibri" pitchFamily="34" charset="0"/>
                </a:rPr>
                <a:t>2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4343400" y="3737275"/>
            <a:ext cx="838200" cy="606125"/>
            <a:chOff x="4343400" y="3737275"/>
            <a:chExt cx="838200" cy="606125"/>
          </a:xfrm>
        </p:grpSpPr>
        <p:sp>
          <p:nvSpPr>
            <p:cNvPr id="30762" name="Line 42"/>
            <p:cNvSpPr>
              <a:spLocks noChangeShapeType="1"/>
            </p:cNvSpPr>
            <p:nvPr/>
          </p:nvSpPr>
          <p:spPr bwMode="auto">
            <a:xfrm>
              <a:off x="4343400" y="4275438"/>
              <a:ext cx="838200" cy="158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63" name="Text Box 43"/>
            <p:cNvSpPr txBox="1">
              <a:spLocks noChangeArrowheads="1"/>
            </p:cNvSpPr>
            <p:nvPr/>
          </p:nvSpPr>
          <p:spPr bwMode="auto">
            <a:xfrm>
              <a:off x="4479925" y="4037313"/>
              <a:ext cx="568103" cy="30608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read</a:t>
              </a:r>
            </a:p>
          </p:txBody>
        </p:sp>
        <p:sp>
          <p:nvSpPr>
            <p:cNvPr id="30768" name="Oval 48"/>
            <p:cNvSpPr>
              <a:spLocks noChangeArrowheads="1"/>
            </p:cNvSpPr>
            <p:nvPr/>
          </p:nvSpPr>
          <p:spPr bwMode="auto">
            <a:xfrm>
              <a:off x="4648200" y="3737275"/>
              <a:ext cx="304800" cy="3048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360">
              <a:noFill/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lnSpc>
                  <a:spcPct val="88000"/>
                </a:lnSpc>
                <a:spcBef>
                  <a:spcPts val="9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chemeClr val="bg1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50" name="Rectangle 1"/>
          <p:cNvSpPr>
            <a:spLocks noChangeArrowheads="1"/>
          </p:cNvSpPr>
          <p:nvPr/>
        </p:nvSpPr>
        <p:spPr bwMode="auto">
          <a:xfrm>
            <a:off x="460375" y="4648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1" name="Rectangle 2"/>
          <p:cNvSpPr>
            <a:spLocks noChangeArrowheads="1"/>
          </p:cNvSpPr>
          <p:nvPr/>
        </p:nvSpPr>
        <p:spPr bwMode="auto">
          <a:xfrm>
            <a:off x="460375" y="2819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2" name="Text Box 12"/>
          <p:cNvSpPr txBox="1">
            <a:spLocks noChangeArrowheads="1"/>
          </p:cNvSpPr>
          <p:nvPr/>
        </p:nvSpPr>
        <p:spPr bwMode="auto">
          <a:xfrm>
            <a:off x="152400" y="1295400"/>
            <a:ext cx="1519582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vm_area_struct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3" name="Rectangle 13"/>
          <p:cNvSpPr>
            <a:spLocks noChangeArrowheads="1"/>
          </p:cNvSpPr>
          <p:nvPr/>
        </p:nvSpPr>
        <p:spPr bwMode="auto">
          <a:xfrm>
            <a:off x="460375" y="1701800"/>
            <a:ext cx="1066800" cy="134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460375" y="1676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5" name="Rectangle 15"/>
          <p:cNvSpPr>
            <a:spLocks noChangeArrowheads="1"/>
          </p:cNvSpPr>
          <p:nvPr/>
        </p:nvSpPr>
        <p:spPr bwMode="auto">
          <a:xfrm>
            <a:off x="460375" y="21336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6" name="Rectangle 16"/>
          <p:cNvSpPr>
            <a:spLocks noChangeArrowheads="1"/>
          </p:cNvSpPr>
          <p:nvPr/>
        </p:nvSpPr>
        <p:spPr bwMode="auto">
          <a:xfrm>
            <a:off x="460375" y="1905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7" name="Rectangle 20"/>
          <p:cNvSpPr>
            <a:spLocks noChangeArrowheads="1"/>
          </p:cNvSpPr>
          <p:nvPr/>
        </p:nvSpPr>
        <p:spPr bwMode="auto">
          <a:xfrm>
            <a:off x="460375" y="3530600"/>
            <a:ext cx="1066800" cy="1346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Rectangle 21"/>
          <p:cNvSpPr>
            <a:spLocks noChangeArrowheads="1"/>
          </p:cNvSpPr>
          <p:nvPr/>
        </p:nvSpPr>
        <p:spPr bwMode="auto">
          <a:xfrm>
            <a:off x="460375" y="3505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60375" y="3962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0" name="Rectangle 23"/>
          <p:cNvSpPr>
            <a:spLocks noChangeArrowheads="1"/>
          </p:cNvSpPr>
          <p:nvPr/>
        </p:nvSpPr>
        <p:spPr bwMode="auto">
          <a:xfrm>
            <a:off x="460375" y="37338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460375" y="5359400"/>
            <a:ext cx="1066800" cy="1117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Rectangle 25"/>
          <p:cNvSpPr>
            <a:spLocks noChangeArrowheads="1"/>
          </p:cNvSpPr>
          <p:nvPr/>
        </p:nvSpPr>
        <p:spPr bwMode="auto">
          <a:xfrm>
            <a:off x="460375" y="5334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vm_end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3" name="Rectangle 26"/>
          <p:cNvSpPr>
            <a:spLocks noChangeArrowheads="1"/>
          </p:cNvSpPr>
          <p:nvPr/>
        </p:nvSpPr>
        <p:spPr bwMode="auto">
          <a:xfrm>
            <a:off x="460375" y="5791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vm_prot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4" name="Rectangle 27"/>
          <p:cNvSpPr>
            <a:spLocks noChangeArrowheads="1"/>
          </p:cNvSpPr>
          <p:nvPr/>
        </p:nvSpPr>
        <p:spPr bwMode="auto">
          <a:xfrm>
            <a:off x="460375" y="62484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vm_next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5" name="Rectangle 28"/>
          <p:cNvSpPr>
            <a:spLocks noChangeArrowheads="1"/>
          </p:cNvSpPr>
          <p:nvPr/>
        </p:nvSpPr>
        <p:spPr bwMode="auto">
          <a:xfrm>
            <a:off x="460375" y="55626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vm_start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6" name="Rectangle 29"/>
          <p:cNvSpPr>
            <a:spLocks noChangeArrowheads="1"/>
          </p:cNvSpPr>
          <p:nvPr/>
        </p:nvSpPr>
        <p:spPr bwMode="auto">
          <a:xfrm>
            <a:off x="2365375" y="1524000"/>
            <a:ext cx="1981200" cy="48006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2253077" y="1219200"/>
            <a:ext cx="2189845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rocess virtual memory</a:t>
            </a:r>
          </a:p>
        </p:txBody>
      </p:sp>
      <p:sp>
        <p:nvSpPr>
          <p:cNvPr id="68" name="Rectangle 31"/>
          <p:cNvSpPr>
            <a:spLocks noChangeArrowheads="1"/>
          </p:cNvSpPr>
          <p:nvPr/>
        </p:nvSpPr>
        <p:spPr bwMode="auto">
          <a:xfrm>
            <a:off x="2365375" y="4572000"/>
            <a:ext cx="19812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text</a:t>
            </a:r>
          </a:p>
        </p:txBody>
      </p:sp>
      <p:sp>
        <p:nvSpPr>
          <p:cNvPr id="69" name="Rectangle 32"/>
          <p:cNvSpPr>
            <a:spLocks noChangeArrowheads="1"/>
          </p:cNvSpPr>
          <p:nvPr/>
        </p:nvSpPr>
        <p:spPr bwMode="auto">
          <a:xfrm>
            <a:off x="2365375" y="3810000"/>
            <a:ext cx="1981200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data</a:t>
            </a:r>
          </a:p>
        </p:txBody>
      </p:sp>
      <p:sp>
        <p:nvSpPr>
          <p:cNvPr id="70" name="Rectangle 33"/>
          <p:cNvSpPr>
            <a:spLocks noChangeArrowheads="1"/>
          </p:cNvSpPr>
          <p:nvPr/>
        </p:nvSpPr>
        <p:spPr bwMode="auto">
          <a:xfrm>
            <a:off x="2365375" y="2514600"/>
            <a:ext cx="1981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shared libraries</a:t>
            </a:r>
          </a:p>
        </p:txBody>
      </p:sp>
      <p:sp>
        <p:nvSpPr>
          <p:cNvPr id="71" name="Line 34"/>
          <p:cNvSpPr>
            <a:spLocks noChangeShapeType="1"/>
          </p:cNvSpPr>
          <p:nvPr/>
        </p:nvSpPr>
        <p:spPr bwMode="auto">
          <a:xfrm>
            <a:off x="1527175" y="1828800"/>
            <a:ext cx="838200" cy="685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" name="Line 35"/>
          <p:cNvSpPr>
            <a:spLocks noChangeShapeType="1"/>
          </p:cNvSpPr>
          <p:nvPr/>
        </p:nvSpPr>
        <p:spPr bwMode="auto">
          <a:xfrm>
            <a:off x="1527175" y="2057400"/>
            <a:ext cx="838200" cy="990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" name="Line 36"/>
          <p:cNvSpPr>
            <a:spLocks noChangeShapeType="1"/>
          </p:cNvSpPr>
          <p:nvPr/>
        </p:nvSpPr>
        <p:spPr bwMode="auto">
          <a:xfrm>
            <a:off x="1527175" y="3657600"/>
            <a:ext cx="838200" cy="152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4" name="Line 37"/>
          <p:cNvSpPr>
            <a:spLocks noChangeShapeType="1"/>
          </p:cNvSpPr>
          <p:nvPr/>
        </p:nvSpPr>
        <p:spPr bwMode="auto">
          <a:xfrm>
            <a:off x="1527175" y="3810000"/>
            <a:ext cx="838200" cy="762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5" name="Line 38"/>
          <p:cNvSpPr>
            <a:spLocks noChangeShapeType="1"/>
          </p:cNvSpPr>
          <p:nvPr/>
        </p:nvSpPr>
        <p:spPr bwMode="auto">
          <a:xfrm flipV="1">
            <a:off x="1527175" y="4572000"/>
            <a:ext cx="838200" cy="914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6" name="Line 39"/>
          <p:cNvSpPr>
            <a:spLocks noChangeShapeType="1"/>
          </p:cNvSpPr>
          <p:nvPr/>
        </p:nvSpPr>
        <p:spPr bwMode="auto">
          <a:xfrm>
            <a:off x="1527175" y="5638800"/>
            <a:ext cx="838200" cy="76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" name="Line 40"/>
          <p:cNvSpPr>
            <a:spLocks noChangeShapeType="1"/>
          </p:cNvSpPr>
          <p:nvPr/>
        </p:nvSpPr>
        <p:spPr bwMode="auto">
          <a:xfrm flipH="1">
            <a:off x="230188" y="2971800"/>
            <a:ext cx="23177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" name="Line 41"/>
          <p:cNvSpPr>
            <a:spLocks noChangeShapeType="1"/>
          </p:cNvSpPr>
          <p:nvPr/>
        </p:nvSpPr>
        <p:spPr bwMode="auto">
          <a:xfrm>
            <a:off x="231775" y="2971800"/>
            <a:ext cx="1588" cy="533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" name="Line 42"/>
          <p:cNvSpPr>
            <a:spLocks noChangeShapeType="1"/>
          </p:cNvSpPr>
          <p:nvPr/>
        </p:nvSpPr>
        <p:spPr bwMode="auto">
          <a:xfrm>
            <a:off x="231775" y="3505200"/>
            <a:ext cx="228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0" name="Line 43"/>
          <p:cNvSpPr>
            <a:spLocks noChangeShapeType="1"/>
          </p:cNvSpPr>
          <p:nvPr/>
        </p:nvSpPr>
        <p:spPr bwMode="auto">
          <a:xfrm flipH="1">
            <a:off x="230188" y="4724400"/>
            <a:ext cx="23177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" name="Line 44"/>
          <p:cNvSpPr>
            <a:spLocks noChangeShapeType="1"/>
          </p:cNvSpPr>
          <p:nvPr/>
        </p:nvSpPr>
        <p:spPr bwMode="auto">
          <a:xfrm>
            <a:off x="231775" y="4724400"/>
            <a:ext cx="1588" cy="609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" name="Line 45"/>
          <p:cNvSpPr>
            <a:spLocks noChangeShapeType="1"/>
          </p:cNvSpPr>
          <p:nvPr/>
        </p:nvSpPr>
        <p:spPr bwMode="auto">
          <a:xfrm>
            <a:off x="231775" y="5334000"/>
            <a:ext cx="228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3" name="Rectangle 51"/>
          <p:cNvSpPr>
            <a:spLocks noChangeArrowheads="1"/>
          </p:cNvSpPr>
          <p:nvPr/>
        </p:nvSpPr>
        <p:spPr bwMode="auto">
          <a:xfrm>
            <a:off x="460375" y="23622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84" name="Rectangle 52"/>
          <p:cNvSpPr>
            <a:spLocks noChangeArrowheads="1"/>
          </p:cNvSpPr>
          <p:nvPr/>
        </p:nvSpPr>
        <p:spPr bwMode="auto">
          <a:xfrm>
            <a:off x="460375" y="41910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85" name="Rectangle 53"/>
          <p:cNvSpPr>
            <a:spLocks noChangeArrowheads="1"/>
          </p:cNvSpPr>
          <p:nvPr/>
        </p:nvSpPr>
        <p:spPr bwMode="auto">
          <a:xfrm>
            <a:off x="460375" y="6019800"/>
            <a:ext cx="10668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</a:rPr>
              <a:t>vm_flags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528573" y="2971800"/>
            <a:ext cx="2993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990000"/>
                </a:solidFill>
                <a:latin typeface="+mj-lt"/>
              </a:rPr>
              <a:t>Segmentation fault:</a:t>
            </a:r>
          </a:p>
          <a:p>
            <a:r>
              <a:rPr lang="en-US" sz="1800" dirty="0">
                <a:latin typeface="+mj-lt"/>
              </a:rPr>
              <a:t>accessing a non-existing page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28573" y="4050268"/>
            <a:ext cx="1910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990000"/>
                </a:solidFill>
                <a:latin typeface="Calibri" pitchFamily="34" charset="0"/>
              </a:rPr>
              <a:t>Normal page fault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28573" y="4876800"/>
            <a:ext cx="3386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990000"/>
                </a:solidFill>
                <a:latin typeface="Calibri" pitchFamily="34" charset="0"/>
              </a:rPr>
              <a:t>Protection exception:</a:t>
            </a:r>
          </a:p>
          <a:p>
            <a:r>
              <a:rPr lang="en-US" sz="1800" dirty="0">
                <a:latin typeface="Calibri" pitchFamily="34" charset="0"/>
              </a:rPr>
              <a:t>e.g., violating permission by writing to a read-only page (Linux reports as Segmentation fault)</a:t>
            </a:r>
          </a:p>
        </p:txBody>
      </p:sp>
    </p:spTree>
    <p:extLst>
      <p:ext uri="{BB962C8B-B14F-4D97-AF65-F5344CB8AC3E}">
        <p14:creationId xmlns:p14="http://schemas.microsoft.com/office/powerpoint/2010/main" val="383761580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8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Virtual Memory</a:t>
            </a:r>
            <a:endParaRPr lang="en-US" sz="2800" dirty="0" smtClean="0"/>
          </a:p>
          <a:p>
            <a:pPr lvl="1"/>
            <a:r>
              <a:rPr lang="en-US" dirty="0" smtClean="0">
                <a:solidFill>
                  <a:srgbClr val="B3B3B3"/>
                </a:solidFill>
              </a:rPr>
              <a:t>Review of Key Concepts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Simple memory system example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Case study: Core i7/Linux memory system</a:t>
            </a:r>
          </a:p>
          <a:p>
            <a:pPr lvl="1"/>
            <a:r>
              <a:rPr lang="en-US" dirty="0"/>
              <a:t>Memory </a:t>
            </a:r>
            <a:r>
              <a:rPr lang="en-US" dirty="0" smtClean="0"/>
              <a:t>mapping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Dynamic Memory Mapping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72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5763" y="493713"/>
            <a:ext cx="55578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Memory Mapping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7880" y="1220788"/>
            <a:ext cx="8527520" cy="522446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VM areas initialized by associating them with disk objects.</a:t>
            </a:r>
            <a:endParaRPr lang="en-GB" dirty="0">
              <a:effectLst/>
            </a:endParaRP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Called </a:t>
            </a:r>
            <a:r>
              <a:rPr lang="en-GB" b="1" i="1" dirty="0">
                <a:solidFill>
                  <a:srgbClr val="990000"/>
                </a:solidFill>
              </a:rPr>
              <a:t>memory mapping</a:t>
            </a:r>
            <a:endParaRPr lang="en-GB" i="1" dirty="0">
              <a:solidFill>
                <a:srgbClr val="990000"/>
              </a:solidFill>
            </a:endParaRP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Area can be </a:t>
            </a:r>
            <a:r>
              <a:rPr lang="en-GB" i="1" dirty="0"/>
              <a:t>backed by </a:t>
            </a:r>
            <a:r>
              <a:rPr lang="en-GB" dirty="0"/>
              <a:t>(i.e., get its initial values from) :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990000"/>
                </a:solidFill>
              </a:rPr>
              <a:t>Regular file</a:t>
            </a:r>
            <a:r>
              <a:rPr lang="en-GB" b="1" dirty="0"/>
              <a:t> </a:t>
            </a:r>
            <a:r>
              <a:rPr lang="en-GB" dirty="0"/>
              <a:t>on disk (e.g., an executable object file)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Initial page bytes come from a section of a file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990000"/>
                </a:solidFill>
              </a:rPr>
              <a:t>Anonymous file </a:t>
            </a:r>
            <a:r>
              <a:rPr lang="en-GB" dirty="0"/>
              <a:t>(e.g., nothing)</a:t>
            </a:r>
            <a:endParaRPr lang="en-GB" i="1" dirty="0"/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First fault will allocate a physical page full of 0's (</a:t>
            </a:r>
            <a:r>
              <a:rPr lang="en-GB" b="1" i="1" dirty="0">
                <a:solidFill>
                  <a:srgbClr val="990000"/>
                </a:solidFill>
              </a:rPr>
              <a:t>demand-zero page</a:t>
            </a:r>
            <a:r>
              <a:rPr lang="en-GB" dirty="0"/>
              <a:t>)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Once the page is written to (</a:t>
            </a:r>
            <a:r>
              <a:rPr lang="en-GB" b="1" i="1" dirty="0">
                <a:solidFill>
                  <a:srgbClr val="990000"/>
                </a:solidFill>
              </a:rPr>
              <a:t>dirtied</a:t>
            </a:r>
            <a:r>
              <a:rPr lang="en-GB" dirty="0"/>
              <a:t>), it is like any other page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Dirty pages are copied back and forth between memory and a special </a:t>
            </a:r>
            <a:r>
              <a:rPr lang="en-GB" i="1" dirty="0">
                <a:solidFill>
                  <a:srgbClr val="990000"/>
                </a:solidFill>
              </a:rPr>
              <a:t>swap file</a:t>
            </a:r>
            <a:r>
              <a:rPr lang="en-GB" dirty="0"/>
              <a:t>.</a:t>
            </a:r>
            <a:endParaRPr lang="en-GB" i="1" dirty="0">
              <a:solidFill>
                <a:srgbClr val="990000"/>
              </a:solidFill>
            </a:endParaRP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67171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54000" y="418065"/>
            <a:ext cx="8813799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Review: Memory Management &amp; Protection 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838200"/>
          </a:xfrm>
          <a:ln/>
        </p:spPr>
        <p:txBody>
          <a:bodyPr/>
          <a:lstStyle/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/>
              <a:t>Code and data can be isolated or shared among processes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993775" y="24604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1: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731356" y="2434562"/>
            <a:ext cx="1066800" cy="1175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Space (DRAM)</a:t>
            </a: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2359919" y="2384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2192338" y="36839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6629400" y="3948241"/>
            <a:ext cx="1449388" cy="512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(e.g., read-only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library code)</a:t>
            </a:r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993775" y="44416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2: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2616556" y="2539595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616556" y="2795182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616556" y="304723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2616556" y="355718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2838717" y="3176158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0" name="Rectangle 24"/>
          <p:cNvSpPr>
            <a:spLocks noChangeArrowheads="1"/>
          </p:cNvSpPr>
          <p:nvPr/>
        </p:nvSpPr>
        <p:spPr bwMode="auto">
          <a:xfrm>
            <a:off x="2359919" y="43654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51" name="Rectangle 26"/>
          <p:cNvSpPr>
            <a:spLocks noChangeArrowheads="1"/>
          </p:cNvSpPr>
          <p:nvPr/>
        </p:nvSpPr>
        <p:spPr bwMode="auto">
          <a:xfrm>
            <a:off x="2192338" y="56651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616556" y="451699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2616556" y="477258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2616556" y="502464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2616556" y="553458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2838717" y="5153559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5715000" y="25366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715000" y="279068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5715000" y="305076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5715000" y="330389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5715000" y="355948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5715000" y="381797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5715000" y="407356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5715000" y="433312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5715000" y="458871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5715000" y="484721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5715000" y="55084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8" name="Text Box 38"/>
          <p:cNvSpPr txBox="1">
            <a:spLocks noChangeArrowheads="1"/>
          </p:cNvSpPr>
          <p:nvPr/>
        </p:nvSpPr>
        <p:spPr bwMode="auto">
          <a:xfrm>
            <a:off x="5960177" y="5056470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5474234" y="2384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72" name="Rectangle 26"/>
          <p:cNvSpPr>
            <a:spLocks noChangeArrowheads="1"/>
          </p:cNvSpPr>
          <p:nvPr/>
        </p:nvSpPr>
        <p:spPr bwMode="auto">
          <a:xfrm>
            <a:off x="5261580" y="5658674"/>
            <a:ext cx="485453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M</a:t>
            </a:r>
            <a:r>
              <a:rPr lang="en-GB" sz="1400" b="1" dirty="0">
                <a:latin typeface="Calibri" pitchFamily="34" charset="0"/>
              </a:rPr>
              <a:t>-1</a:t>
            </a:r>
          </a:p>
        </p:txBody>
      </p:sp>
      <p:cxnSp>
        <p:nvCxnSpPr>
          <p:cNvPr id="74" name="Straight Arrow Connector 73"/>
          <p:cNvCxnSpPr>
            <a:stCxn id="46" idx="3"/>
            <a:endCxn id="59" idx="1"/>
          </p:cNvCxnSpPr>
          <p:nvPr/>
        </p:nvCxnSpPr>
        <p:spPr bwMode="auto">
          <a:xfrm>
            <a:off x="3530956" y="2922976"/>
            <a:ext cx="2184044" cy="255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Straight Arrow Connector 75"/>
          <p:cNvCxnSpPr>
            <a:stCxn id="47" idx="3"/>
            <a:endCxn id="63" idx="1"/>
          </p:cNvCxnSpPr>
          <p:nvPr/>
        </p:nvCxnSpPr>
        <p:spPr bwMode="auto">
          <a:xfrm>
            <a:off x="3530956" y="3175033"/>
            <a:ext cx="2184044" cy="10263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Straight Arrow Connector 77"/>
          <p:cNvCxnSpPr>
            <a:stCxn id="54" idx="3"/>
            <a:endCxn id="63" idx="1"/>
          </p:cNvCxnSpPr>
          <p:nvPr/>
        </p:nvCxnSpPr>
        <p:spPr bwMode="auto">
          <a:xfrm flipV="1">
            <a:off x="3530956" y="4201358"/>
            <a:ext cx="2184044" cy="9510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Straight Arrow Connector 79"/>
          <p:cNvCxnSpPr>
            <a:stCxn id="53" idx="3"/>
            <a:endCxn id="65" idx="1"/>
          </p:cNvCxnSpPr>
          <p:nvPr/>
        </p:nvCxnSpPr>
        <p:spPr bwMode="auto">
          <a:xfrm flipV="1">
            <a:off x="3530956" y="4716509"/>
            <a:ext cx="2184044" cy="18386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Rectangle 80"/>
          <p:cNvSpPr/>
          <p:nvPr/>
        </p:nvSpPr>
        <p:spPr>
          <a:xfrm>
            <a:off x="3911530" y="2286000"/>
            <a:ext cx="13500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translation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5544670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Revisited: Shared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0" y="2097772"/>
            <a:ext cx="2651125" cy="4607828"/>
          </a:xfrm>
        </p:spPr>
        <p:txBody>
          <a:bodyPr/>
          <a:lstStyle/>
          <a:p>
            <a:r>
              <a:rPr lang="en-US" dirty="0"/>
              <a:t>Process 1 maps the shared object (on disk). 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55850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2163565" y="6059269"/>
            <a:ext cx="848951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Shared</a:t>
            </a:r>
          </a:p>
          <a:p>
            <a:pPr algn="ctr"/>
            <a:r>
              <a:rPr lang="en-US" sz="1800" dirty="0">
                <a:latin typeface="+mn-lt"/>
              </a:rPr>
              <a:t>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55850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084755" y="2065119"/>
            <a:ext cx="99027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Physical</a:t>
            </a:r>
          </a:p>
          <a:p>
            <a:pPr algn="ctr"/>
            <a:r>
              <a:rPr lang="en-US" sz="1800">
                <a:latin typeface="+mn-lt"/>
              </a:rPr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794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322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55850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79450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2" name="Line 391"/>
          <p:cNvSpPr>
            <a:spLocks noChangeShapeType="1"/>
          </p:cNvSpPr>
          <p:nvPr/>
        </p:nvSpPr>
        <p:spPr bwMode="auto">
          <a:xfrm flipH="1" flipV="1">
            <a:off x="1060450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3" name="Line 392"/>
          <p:cNvSpPr>
            <a:spLocks noChangeShapeType="1"/>
          </p:cNvSpPr>
          <p:nvPr/>
        </p:nvSpPr>
        <p:spPr bwMode="auto">
          <a:xfrm flipH="1" flipV="1">
            <a:off x="1060450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4" name="Line 396"/>
          <p:cNvSpPr>
            <a:spLocks noChangeShapeType="1"/>
          </p:cNvSpPr>
          <p:nvPr/>
        </p:nvSpPr>
        <p:spPr bwMode="auto">
          <a:xfrm flipV="1">
            <a:off x="1060450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5" name="Line 397"/>
          <p:cNvSpPr>
            <a:spLocks noChangeShapeType="1"/>
          </p:cNvSpPr>
          <p:nvPr/>
        </p:nvSpPr>
        <p:spPr bwMode="auto">
          <a:xfrm flipV="1">
            <a:off x="1060450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6" name="Text Box 400"/>
          <p:cNvSpPr txBox="1">
            <a:spLocks noChangeArrowheads="1"/>
          </p:cNvSpPr>
          <p:nvPr/>
        </p:nvSpPr>
        <p:spPr bwMode="auto">
          <a:xfrm>
            <a:off x="92640" y="2079407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Process 1</a:t>
            </a:r>
          </a:p>
          <a:p>
            <a:pPr algn="ctr"/>
            <a:r>
              <a:rPr lang="en-US" sz="1800" dirty="0">
                <a:latin typeface="+mn-lt"/>
              </a:rPr>
              <a:t>virtual memory</a:t>
            </a:r>
          </a:p>
        </p:txBody>
      </p:sp>
      <p:sp>
        <p:nvSpPr>
          <p:cNvPr id="17" name="Text Box 401"/>
          <p:cNvSpPr txBox="1">
            <a:spLocks noChangeArrowheads="1"/>
          </p:cNvSpPr>
          <p:nvPr/>
        </p:nvSpPr>
        <p:spPr bwMode="auto">
          <a:xfrm>
            <a:off x="3445440" y="2065119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Process 2</a:t>
            </a:r>
          </a:p>
          <a:p>
            <a:pPr algn="ctr"/>
            <a:r>
              <a:rPr lang="en-US" sz="1800">
                <a:latin typeface="+mn-lt"/>
              </a:rPr>
              <a:t>virtual memory</a:t>
            </a:r>
          </a:p>
        </p:txBody>
      </p:sp>
    </p:spTree>
    <p:extLst>
      <p:ext uri="{BB962C8B-B14F-4D97-AF65-F5344CB8AC3E}">
        <p14:creationId xmlns:p14="http://schemas.microsoft.com/office/powerpoint/2010/main" val="1485351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Revisited: Shared Objects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55850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2212768" y="6059269"/>
            <a:ext cx="848951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Shared</a:t>
            </a:r>
          </a:p>
          <a:p>
            <a:pPr algn="ctr"/>
            <a:r>
              <a:rPr lang="en-US" sz="1800" dirty="0">
                <a:latin typeface="+mn-lt"/>
              </a:rPr>
              <a:t>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55850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084755" y="2065119"/>
            <a:ext cx="99027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Physical</a:t>
            </a:r>
          </a:p>
          <a:p>
            <a:pPr algn="ctr"/>
            <a:r>
              <a:rPr lang="en-US" sz="1800">
                <a:latin typeface="+mn-lt"/>
              </a:rPr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794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322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55850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79450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4032250" y="37741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1060450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1060450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2736850" y="37741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2736850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1060450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1060450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2736850" y="28597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2736850" y="33931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92640" y="2079407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Process 1</a:t>
            </a:r>
          </a:p>
          <a:p>
            <a:pPr algn="ctr"/>
            <a:r>
              <a:rPr lang="en-US" sz="1800" dirty="0">
                <a:latin typeface="+mn-lt"/>
              </a:rPr>
              <a:t>virtual memory</a:t>
            </a:r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3445440" y="2065119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Process 2</a:t>
            </a:r>
          </a:p>
          <a:p>
            <a:pPr algn="ctr"/>
            <a:r>
              <a:rPr lang="en-US" sz="1800">
                <a:latin typeface="+mn-lt"/>
              </a:rPr>
              <a:t>virtual memory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 bwMode="auto">
          <a:xfrm>
            <a:off x="6248400" y="2097772"/>
            <a:ext cx="2651125" cy="4607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Process 2 maps the same shared object.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lang="en-US" kern="0" dirty="0">
                <a:latin typeface="Calibri" pitchFamily="34" charset="0"/>
              </a:rPr>
              <a:t>Notice how the virtual addresses can be different</a:t>
            </a:r>
            <a:r>
              <a:rPr lang="en-US" kern="0" dirty="0" smtClean="0">
                <a:latin typeface="Calibri" pitchFamily="34" charset="0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But,</a:t>
            </a:r>
            <a:r>
              <a:rPr kumimoji="0" lang="en-US" sz="2400" b="1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difference must be multiple of page size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168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1088322"/>
          </a:xfrm>
        </p:spPr>
        <p:txBody>
          <a:bodyPr/>
          <a:lstStyle/>
          <a:p>
            <a:pPr marL="0" indent="0"/>
            <a:r>
              <a:rPr lang="en-US" sz="3200" dirty="0"/>
              <a:t>Sharing Revisited: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Private Copy-on-write (COW)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0" y="2097772"/>
            <a:ext cx="2895600" cy="4191000"/>
          </a:xfrm>
        </p:spPr>
        <p:txBody>
          <a:bodyPr/>
          <a:lstStyle/>
          <a:p>
            <a:r>
              <a:rPr lang="en-US" dirty="0"/>
              <a:t>Two processes mapping a </a:t>
            </a:r>
            <a:r>
              <a:rPr lang="en-US" i="1" dirty="0">
                <a:solidFill>
                  <a:srgbClr val="990000"/>
                </a:solidFill>
              </a:rPr>
              <a:t>private copy-on-write (COW)  </a:t>
            </a:r>
            <a:r>
              <a:rPr lang="en-US" dirty="0"/>
              <a:t>object</a:t>
            </a:r>
          </a:p>
          <a:p>
            <a:r>
              <a:rPr lang="en-US" dirty="0"/>
              <a:t>Area flagged as private copy-on-write</a:t>
            </a:r>
          </a:p>
          <a:p>
            <a:r>
              <a:rPr lang="en-US" dirty="0" err="1"/>
              <a:t>PTEs</a:t>
            </a:r>
            <a:r>
              <a:rPr lang="en-US" dirty="0"/>
              <a:t> in private areas are flagged as read-only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69031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1507820" y="6059269"/>
            <a:ext cx="21716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Private </a:t>
            </a:r>
          </a:p>
          <a:p>
            <a:pPr algn="ctr"/>
            <a:r>
              <a:rPr lang="en-US" sz="1800">
                <a:latin typeface="+mn-lt"/>
              </a:rPr>
              <a:t>copy-on-write 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69031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090590" y="2065119"/>
            <a:ext cx="99027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Physical</a:t>
            </a:r>
          </a:p>
          <a:p>
            <a:pPr algn="ctr"/>
            <a:r>
              <a:rPr lang="en-US" sz="1800">
                <a:latin typeface="+mn-lt"/>
              </a:rPr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926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454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69031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92631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4045431" y="37741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1073631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1073631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2750031" y="37741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2750031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1073631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1073631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2750031" y="28597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2750031" y="33931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92640" y="2079407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Process 1</a:t>
            </a:r>
          </a:p>
          <a:p>
            <a:pPr algn="ctr"/>
            <a:r>
              <a:rPr lang="en-US" sz="1800" dirty="0">
                <a:latin typeface="+mn-lt"/>
              </a:rPr>
              <a:t>virtual memory</a:t>
            </a:r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3445440" y="2065119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Process 2</a:t>
            </a:r>
          </a:p>
          <a:p>
            <a:pPr algn="ctr"/>
            <a:r>
              <a:rPr lang="en-US" sz="1800">
                <a:latin typeface="+mn-lt"/>
              </a:rPr>
              <a:t>virtual memory</a:t>
            </a:r>
          </a:p>
        </p:txBody>
      </p:sp>
      <p:sp>
        <p:nvSpPr>
          <p:cNvPr id="23" name="Text Box 410"/>
          <p:cNvSpPr txBox="1">
            <a:spLocks noChangeArrowheads="1"/>
          </p:cNvSpPr>
          <p:nvPr/>
        </p:nvSpPr>
        <p:spPr bwMode="auto">
          <a:xfrm>
            <a:off x="4724400" y="3581400"/>
            <a:ext cx="1520866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+mn-lt"/>
              </a:rPr>
              <a:t> Private</a:t>
            </a:r>
          </a:p>
          <a:p>
            <a:r>
              <a:rPr lang="en-US" sz="1800" dirty="0">
                <a:latin typeface="+mn-lt"/>
              </a:rPr>
              <a:t>copy-on-write</a:t>
            </a:r>
          </a:p>
          <a:p>
            <a:r>
              <a:rPr lang="en-US" sz="1800" dirty="0">
                <a:latin typeface="+mn-lt"/>
              </a:rPr>
              <a:t>area</a:t>
            </a:r>
          </a:p>
        </p:txBody>
      </p:sp>
      <p:sp>
        <p:nvSpPr>
          <p:cNvPr id="24" name="Right Brace 23"/>
          <p:cNvSpPr/>
          <p:nvPr/>
        </p:nvSpPr>
        <p:spPr bwMode="auto">
          <a:xfrm>
            <a:off x="4502631" y="3774172"/>
            <a:ext cx="145569" cy="533400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2407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1164522"/>
          </a:xfrm>
        </p:spPr>
        <p:txBody>
          <a:bodyPr/>
          <a:lstStyle/>
          <a:p>
            <a:r>
              <a:rPr lang="en-US" dirty="0"/>
              <a:t>Sharing Revisited: </a:t>
            </a:r>
            <a:br>
              <a:rPr lang="en-US" dirty="0"/>
            </a:br>
            <a:r>
              <a:rPr lang="en-US" dirty="0"/>
              <a:t>Private Copy-on-write (COW)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1232" y="2057400"/>
            <a:ext cx="2872768" cy="4505325"/>
          </a:xfrm>
        </p:spPr>
        <p:txBody>
          <a:bodyPr/>
          <a:lstStyle/>
          <a:p>
            <a:r>
              <a:rPr lang="en-US" dirty="0"/>
              <a:t>Instruction writing to private page triggers protection fault. </a:t>
            </a:r>
          </a:p>
          <a:p>
            <a:r>
              <a:rPr lang="en-US" dirty="0"/>
              <a:t>Handler creates new R/W page. </a:t>
            </a:r>
          </a:p>
          <a:p>
            <a:r>
              <a:rPr lang="en-US" dirty="0"/>
              <a:t>Instruction restarts upon handler return. </a:t>
            </a:r>
          </a:p>
          <a:p>
            <a:r>
              <a:rPr lang="en-US" dirty="0"/>
              <a:t>Copying deferred as long as possible!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69031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1526870" y="6059269"/>
            <a:ext cx="21716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Private  </a:t>
            </a:r>
          </a:p>
          <a:p>
            <a:pPr algn="ctr"/>
            <a:r>
              <a:rPr lang="en-US" sz="1800">
                <a:latin typeface="+mn-lt"/>
              </a:rPr>
              <a:t>copy-on-write 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69031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090590" y="2065119"/>
            <a:ext cx="99027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Physical</a:t>
            </a:r>
          </a:p>
          <a:p>
            <a:pPr algn="ctr"/>
            <a:r>
              <a:rPr lang="en-US" sz="1800">
                <a:latin typeface="+mn-lt"/>
              </a:rPr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926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454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69031" y="289152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92631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4045431" y="380592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1073631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1073631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2750031" y="3805922"/>
            <a:ext cx="1301750" cy="1720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2750031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1073631" y="2891522"/>
            <a:ext cx="1301750" cy="425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1073631" y="3424922"/>
            <a:ext cx="1301750" cy="425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2756381" y="2891522"/>
            <a:ext cx="1289050" cy="8826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2766725" y="32788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92640" y="2079407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Process 1</a:t>
            </a:r>
          </a:p>
          <a:p>
            <a:pPr algn="ctr"/>
            <a:r>
              <a:rPr lang="en-US" sz="1800" dirty="0">
                <a:latin typeface="+mn-lt"/>
              </a:rPr>
              <a:t>virtual memory</a:t>
            </a:r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3445440" y="2065119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Process 2</a:t>
            </a:r>
          </a:p>
          <a:p>
            <a:pPr algn="ctr"/>
            <a:r>
              <a:rPr lang="en-US" sz="1800">
                <a:latin typeface="+mn-lt"/>
              </a:rPr>
              <a:t>virtual memory</a:t>
            </a:r>
          </a:p>
        </p:txBody>
      </p:sp>
      <p:sp>
        <p:nvSpPr>
          <p:cNvPr id="23" name="AutoShape 403"/>
          <p:cNvSpPr>
            <a:spLocks noChangeArrowheads="1"/>
          </p:cNvSpPr>
          <p:nvPr/>
        </p:nvSpPr>
        <p:spPr bwMode="auto">
          <a:xfrm>
            <a:off x="2826231" y="3272522"/>
            <a:ext cx="304800" cy="914400"/>
          </a:xfrm>
          <a:prstGeom prst="curvedLeftArrow">
            <a:avLst>
              <a:gd name="adj1" fmla="val 60000"/>
              <a:gd name="adj2" fmla="val 120000"/>
              <a:gd name="adj3" fmla="val 33333"/>
            </a:avLst>
          </a:prstGeom>
          <a:solidFill>
            <a:srgbClr val="990000"/>
          </a:solidFill>
          <a:ln w="12700">
            <a:solidFill>
              <a:srgbClr val="D5F1CF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4" name="Text Box 404"/>
          <p:cNvSpPr txBox="1">
            <a:spLocks noChangeArrowheads="1"/>
          </p:cNvSpPr>
          <p:nvPr/>
        </p:nvSpPr>
        <p:spPr bwMode="auto">
          <a:xfrm>
            <a:off x="2799283" y="3103553"/>
            <a:ext cx="1246111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Copy-on-write</a:t>
            </a:r>
          </a:p>
        </p:txBody>
      </p:sp>
      <p:sp>
        <p:nvSpPr>
          <p:cNvPr id="25" name="Rectangle 405" descr="Wide upward diagonal"/>
          <p:cNvSpPr>
            <a:spLocks noChangeArrowheads="1"/>
          </p:cNvSpPr>
          <p:nvPr/>
        </p:nvSpPr>
        <p:spPr bwMode="auto">
          <a:xfrm>
            <a:off x="2375381" y="3272522"/>
            <a:ext cx="381000" cy="152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6" name="Rectangle 406" descr="Wide upward diagonal"/>
          <p:cNvSpPr>
            <a:spLocks noChangeArrowheads="1"/>
          </p:cNvSpPr>
          <p:nvPr/>
        </p:nvSpPr>
        <p:spPr bwMode="auto">
          <a:xfrm>
            <a:off x="4051781" y="4186922"/>
            <a:ext cx="381000" cy="152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7" name="Rectangle 407" descr="Wide upward diagonal"/>
          <p:cNvSpPr>
            <a:spLocks noChangeArrowheads="1"/>
          </p:cNvSpPr>
          <p:nvPr/>
        </p:nvSpPr>
        <p:spPr bwMode="auto">
          <a:xfrm>
            <a:off x="2375381" y="3964220"/>
            <a:ext cx="381000" cy="152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8" name="Line 408"/>
          <p:cNvSpPr>
            <a:spLocks noChangeShapeType="1"/>
          </p:cNvSpPr>
          <p:nvPr/>
        </p:nvSpPr>
        <p:spPr bwMode="auto">
          <a:xfrm flipH="1" flipV="1">
            <a:off x="2756381" y="3958322"/>
            <a:ext cx="12954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9" name="Line 409"/>
          <p:cNvSpPr>
            <a:spLocks noChangeShapeType="1"/>
          </p:cNvSpPr>
          <p:nvPr/>
        </p:nvSpPr>
        <p:spPr bwMode="auto">
          <a:xfrm flipH="1" flipV="1">
            <a:off x="2756381" y="4110722"/>
            <a:ext cx="12954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30" name="Text Box 410"/>
          <p:cNvSpPr txBox="1">
            <a:spLocks noChangeArrowheads="1"/>
          </p:cNvSpPr>
          <p:nvPr/>
        </p:nvSpPr>
        <p:spPr bwMode="auto">
          <a:xfrm>
            <a:off x="4642596" y="3833207"/>
            <a:ext cx="1698094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Write to private</a:t>
            </a:r>
          </a:p>
          <a:p>
            <a:pPr algn="ctr"/>
            <a:r>
              <a:rPr lang="en-US" sz="1800" dirty="0">
                <a:latin typeface="+mn-lt"/>
              </a:rPr>
              <a:t>copy-on-write</a:t>
            </a:r>
          </a:p>
          <a:p>
            <a:pPr algn="ctr"/>
            <a:r>
              <a:rPr lang="en-US" sz="1800" dirty="0">
                <a:latin typeface="+mn-lt"/>
              </a:rPr>
              <a:t>page</a:t>
            </a:r>
          </a:p>
        </p:txBody>
      </p:sp>
      <p:sp>
        <p:nvSpPr>
          <p:cNvPr id="31" name="Line 411"/>
          <p:cNvSpPr>
            <a:spLocks noChangeShapeType="1"/>
          </p:cNvSpPr>
          <p:nvPr/>
        </p:nvSpPr>
        <p:spPr bwMode="auto">
          <a:xfrm flipH="1">
            <a:off x="4432781" y="4263122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32" name="Line 399"/>
          <p:cNvSpPr>
            <a:spLocks noChangeShapeType="1"/>
          </p:cNvSpPr>
          <p:nvPr/>
        </p:nvSpPr>
        <p:spPr bwMode="auto">
          <a:xfrm flipH="1" flipV="1">
            <a:off x="2766725" y="342492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5324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/>
      <p:bldP spid="27" grpId="0" animBg="1"/>
      <p:bldP spid="28" grpId="0" animBg="1"/>
      <p:bldP spid="29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latin typeface="Courier New"/>
                <a:cs typeface="Courier New"/>
              </a:rPr>
              <a:t>fork</a:t>
            </a:r>
            <a:r>
              <a:rPr lang="en-GB" dirty="0"/>
              <a:t> Function Revisited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518525" cy="4972050"/>
          </a:xfrm>
        </p:spPr>
        <p:txBody>
          <a:bodyPr/>
          <a:lstStyle/>
          <a:p>
            <a:r>
              <a:rPr lang="en-GB" dirty="0"/>
              <a:t>VM and memory mapping explain how </a:t>
            </a:r>
            <a:r>
              <a:rPr lang="en-GB" dirty="0">
                <a:latin typeface="Courier New"/>
                <a:cs typeface="Courier New"/>
              </a:rPr>
              <a:t>fork</a:t>
            </a:r>
            <a:r>
              <a:rPr lang="en-GB" dirty="0"/>
              <a:t> provides private address space for each process. 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To create virtual address for new process:</a:t>
            </a:r>
          </a:p>
          <a:p>
            <a:pPr lvl="1"/>
            <a:r>
              <a:rPr lang="en-GB" dirty="0"/>
              <a:t>Create exact copies of current </a:t>
            </a:r>
            <a:r>
              <a:rPr lang="en-GB" b="1" dirty="0" err="1">
                <a:latin typeface="Courier New"/>
                <a:cs typeface="Courier New"/>
              </a:rPr>
              <a:t>mm_struct</a:t>
            </a:r>
            <a:r>
              <a:rPr lang="en-GB" dirty="0"/>
              <a:t>, </a:t>
            </a:r>
            <a:r>
              <a:rPr lang="en-GB" b="1" dirty="0" err="1">
                <a:latin typeface="Courier New"/>
                <a:cs typeface="Courier New"/>
              </a:rPr>
              <a:t>vm_area_struct</a:t>
            </a:r>
            <a:r>
              <a:rPr lang="en-GB" dirty="0"/>
              <a:t>, and page tables. </a:t>
            </a:r>
          </a:p>
          <a:p>
            <a:pPr lvl="1"/>
            <a:r>
              <a:rPr lang="en-GB" dirty="0"/>
              <a:t>Flag each page in both processes as read-only</a:t>
            </a:r>
          </a:p>
          <a:p>
            <a:pPr lvl="1"/>
            <a:r>
              <a:rPr lang="en-GB" dirty="0"/>
              <a:t>Flag each </a:t>
            </a:r>
            <a:r>
              <a:rPr lang="en-GB" b="1" dirty="0" err="1">
                <a:latin typeface="Courier New"/>
                <a:cs typeface="Courier New"/>
              </a:rPr>
              <a:t>vm_area_struct</a:t>
            </a:r>
            <a:r>
              <a:rPr lang="en-GB" dirty="0">
                <a:latin typeface="+mn-lt"/>
                <a:cs typeface="Courier New"/>
              </a:rPr>
              <a:t> i</a:t>
            </a:r>
            <a:r>
              <a:rPr lang="en-GB" dirty="0">
                <a:latin typeface="+mn-lt"/>
              </a:rPr>
              <a:t>n</a:t>
            </a:r>
            <a:r>
              <a:rPr lang="en-GB" dirty="0"/>
              <a:t> both processes as private COW</a:t>
            </a:r>
          </a:p>
          <a:p>
            <a:pPr lvl="1"/>
            <a:endParaRPr lang="en-GB" dirty="0"/>
          </a:p>
          <a:p>
            <a:r>
              <a:rPr lang="en-GB" dirty="0"/>
              <a:t>On return, each process has exact copy of virtual memory.</a:t>
            </a:r>
          </a:p>
          <a:p>
            <a:endParaRPr lang="en-GB" dirty="0"/>
          </a:p>
          <a:p>
            <a:r>
              <a:rPr lang="en-GB" dirty="0"/>
              <a:t>Subsequent writes create new pages using COW mechanism.</a:t>
            </a:r>
          </a:p>
        </p:txBody>
      </p:sp>
    </p:spTree>
    <p:extLst>
      <p:ext uri="{BB962C8B-B14F-4D97-AF65-F5344CB8AC3E}">
        <p14:creationId xmlns:p14="http://schemas.microsoft.com/office/powerpoint/2010/main" val="231045179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>
                <a:latin typeface="Courier New"/>
                <a:cs typeface="Courier New"/>
              </a:rPr>
              <a:t>execve</a:t>
            </a:r>
            <a:r>
              <a:rPr lang="en-GB" dirty="0"/>
              <a:t> Function Revisited</a:t>
            </a:r>
          </a:p>
        </p:txBody>
      </p:sp>
      <p:sp>
        <p:nvSpPr>
          <p:cNvPr id="34845" name="Rectangle 29"/>
          <p:cNvSpPr>
            <a:spLocks noGrp="1" noChangeArrowheads="1"/>
          </p:cNvSpPr>
          <p:nvPr>
            <p:ph type="body" idx="1"/>
          </p:nvPr>
        </p:nvSpPr>
        <p:spPr>
          <a:xfrm>
            <a:off x="5534024" y="1362074"/>
            <a:ext cx="3609975" cy="5495926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To load and run a new program </a:t>
            </a:r>
            <a:r>
              <a:rPr lang="en-GB" dirty="0" err="1">
                <a:latin typeface="Courier New"/>
                <a:cs typeface="Courier New"/>
              </a:rPr>
              <a:t>a.out</a:t>
            </a:r>
            <a:r>
              <a:rPr lang="en-GB" dirty="0"/>
              <a:t> in the current process using </a:t>
            </a:r>
            <a:r>
              <a:rPr lang="en-GB" dirty="0" err="1">
                <a:latin typeface="Courier New"/>
                <a:cs typeface="Courier New"/>
              </a:rPr>
              <a:t>execve</a:t>
            </a:r>
            <a:r>
              <a:rPr lang="en-GB" dirty="0"/>
              <a:t>:</a:t>
            </a:r>
          </a:p>
          <a:p>
            <a:endParaRPr lang="en-GB" dirty="0"/>
          </a:p>
          <a:p>
            <a:r>
              <a:rPr lang="en-GB" dirty="0">
                <a:latin typeface="+mn-lt"/>
                <a:cs typeface="Courier New"/>
              </a:rPr>
              <a:t>Free</a:t>
            </a:r>
            <a:r>
              <a:rPr lang="en-GB" dirty="0">
                <a:latin typeface="+mj-lt"/>
                <a:cs typeface="Courier New"/>
              </a:rPr>
              <a:t> </a:t>
            </a:r>
            <a:r>
              <a:rPr lang="en-GB" dirty="0" err="1">
                <a:latin typeface="Courier New"/>
                <a:cs typeface="Courier New"/>
              </a:rPr>
              <a:t>vm_area_struct</a:t>
            </a:r>
            <a:r>
              <a:rPr lang="en-GB" dirty="0" err="1"/>
              <a:t>’s</a:t>
            </a:r>
            <a:r>
              <a:rPr lang="en-GB" dirty="0"/>
              <a:t> and page tables for old areas</a:t>
            </a:r>
          </a:p>
          <a:p>
            <a:endParaRPr lang="en-GB" dirty="0"/>
          </a:p>
          <a:p>
            <a:r>
              <a:rPr lang="en-GB" dirty="0"/>
              <a:t>Create </a:t>
            </a:r>
            <a:r>
              <a:rPr lang="en-GB" dirty="0" err="1">
                <a:latin typeface="Courier New"/>
                <a:cs typeface="Courier New"/>
              </a:rPr>
              <a:t>vm_area_struct</a:t>
            </a:r>
            <a:r>
              <a:rPr lang="en-GB" dirty="0" err="1"/>
              <a:t>’s</a:t>
            </a:r>
            <a:r>
              <a:rPr lang="en-GB" dirty="0"/>
              <a:t> and page tables for new areas</a:t>
            </a:r>
          </a:p>
          <a:p>
            <a:pPr lvl="1"/>
            <a:r>
              <a:rPr lang="en-GB" dirty="0"/>
              <a:t>Programs and initialized data backed by object files.</a:t>
            </a:r>
          </a:p>
          <a:p>
            <a:pPr lvl="1"/>
            <a:r>
              <a:rPr lang="en-GB" b="1" dirty="0">
                <a:latin typeface="Courier New"/>
                <a:cs typeface="Courier New"/>
              </a:rPr>
              <a:t>.</a:t>
            </a:r>
            <a:r>
              <a:rPr lang="en-GB" b="1" dirty="0" err="1">
                <a:latin typeface="Courier New"/>
                <a:cs typeface="Courier New"/>
              </a:rPr>
              <a:t>bss</a:t>
            </a:r>
            <a:r>
              <a:rPr lang="en-GB" dirty="0">
                <a:latin typeface="+mj-lt"/>
                <a:cs typeface="Courier New"/>
              </a:rPr>
              <a:t> </a:t>
            </a:r>
            <a:r>
              <a:rPr lang="en-GB" dirty="0"/>
              <a:t>and stack backed by anonymous files. </a:t>
            </a:r>
          </a:p>
          <a:p>
            <a:endParaRPr lang="en-GB" dirty="0"/>
          </a:p>
          <a:p>
            <a:r>
              <a:rPr lang="en-GB" dirty="0"/>
              <a:t>Set PC to entry point in </a:t>
            </a:r>
            <a:r>
              <a:rPr lang="en-GB" dirty="0">
                <a:latin typeface="Courier New"/>
                <a:cs typeface="Courier New"/>
              </a:rPr>
              <a:t>.text</a:t>
            </a:r>
          </a:p>
          <a:p>
            <a:pPr lvl="1"/>
            <a:r>
              <a:rPr lang="en-GB" dirty="0"/>
              <a:t>Linux will fault in code and data pages as needed.</a:t>
            </a:r>
          </a:p>
        </p:txBody>
      </p:sp>
      <p:sp>
        <p:nvSpPr>
          <p:cNvPr id="48" name="Rectangle 380"/>
          <p:cNvSpPr>
            <a:spLocks noChangeAspect="1" noChangeArrowheads="1"/>
          </p:cNvSpPr>
          <p:nvPr/>
        </p:nvSpPr>
        <p:spPr bwMode="auto">
          <a:xfrm>
            <a:off x="1514475" y="2627312"/>
            <a:ext cx="2174875" cy="6381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Memory mapped region </a:t>
            </a:r>
          </a:p>
          <a:p>
            <a:pPr algn="ctr"/>
            <a:r>
              <a:rPr lang="en-US" sz="1400" dirty="0">
                <a:latin typeface="+mn-lt"/>
              </a:rPr>
              <a:t>for shared libraries</a:t>
            </a:r>
          </a:p>
        </p:txBody>
      </p:sp>
      <p:sp>
        <p:nvSpPr>
          <p:cNvPr id="49" name="Rectangle 381"/>
          <p:cNvSpPr>
            <a:spLocks noChangeAspect="1" noChangeArrowheads="1"/>
          </p:cNvSpPr>
          <p:nvPr/>
        </p:nvSpPr>
        <p:spPr bwMode="auto">
          <a:xfrm>
            <a:off x="1514475" y="3262312"/>
            <a:ext cx="2174875" cy="68897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50" name="Rectangle 382"/>
          <p:cNvSpPr>
            <a:spLocks noChangeAspect="1" noChangeArrowheads="1"/>
          </p:cNvSpPr>
          <p:nvPr/>
        </p:nvSpPr>
        <p:spPr bwMode="auto">
          <a:xfrm>
            <a:off x="1514475" y="3956050"/>
            <a:ext cx="2174875" cy="636587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Runtime heap (via </a:t>
            </a:r>
            <a:r>
              <a:rPr lang="en-US" sz="1400" dirty="0" err="1">
                <a:latin typeface="+mn-lt"/>
              </a:rPr>
              <a:t>malloc</a:t>
            </a:r>
            <a:r>
              <a:rPr lang="en-US" sz="1400" dirty="0">
                <a:latin typeface="+mn-lt"/>
              </a:rPr>
              <a:t>)</a:t>
            </a:r>
          </a:p>
        </p:txBody>
      </p:sp>
      <p:sp>
        <p:nvSpPr>
          <p:cNvPr id="51" name="Rectangle 383"/>
          <p:cNvSpPr>
            <a:spLocks noChangeAspect="1" noChangeArrowheads="1"/>
          </p:cNvSpPr>
          <p:nvPr/>
        </p:nvSpPr>
        <p:spPr bwMode="auto">
          <a:xfrm>
            <a:off x="1514475" y="1770062"/>
            <a:ext cx="2174875" cy="8636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52" name="Rectangle 384"/>
          <p:cNvSpPr>
            <a:spLocks noChangeAspect="1" noChangeArrowheads="1"/>
          </p:cNvSpPr>
          <p:nvPr/>
        </p:nvSpPr>
        <p:spPr bwMode="auto">
          <a:xfrm>
            <a:off x="1514475" y="5305425"/>
            <a:ext cx="2174875" cy="379412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Program text (.text)</a:t>
            </a:r>
          </a:p>
        </p:txBody>
      </p:sp>
      <p:sp>
        <p:nvSpPr>
          <p:cNvPr id="53" name="Rectangle 385"/>
          <p:cNvSpPr>
            <a:spLocks noChangeAspect="1" noChangeArrowheads="1"/>
          </p:cNvSpPr>
          <p:nvPr/>
        </p:nvSpPr>
        <p:spPr bwMode="auto">
          <a:xfrm>
            <a:off x="1514475" y="4943475"/>
            <a:ext cx="2174875" cy="3778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Initialized data (.data)</a:t>
            </a:r>
          </a:p>
        </p:txBody>
      </p:sp>
      <p:sp>
        <p:nvSpPr>
          <p:cNvPr id="54" name="Rectangle 386"/>
          <p:cNvSpPr>
            <a:spLocks noChangeAspect="1" noChangeArrowheads="1"/>
          </p:cNvSpPr>
          <p:nvPr/>
        </p:nvSpPr>
        <p:spPr bwMode="auto">
          <a:xfrm>
            <a:off x="1514475" y="4579937"/>
            <a:ext cx="2174875" cy="376238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Uninitialized data (.bss)</a:t>
            </a:r>
          </a:p>
        </p:txBody>
      </p:sp>
      <p:sp>
        <p:nvSpPr>
          <p:cNvPr id="55" name="Line 387"/>
          <p:cNvSpPr>
            <a:spLocks noChangeAspect="1" noChangeShapeType="1"/>
          </p:cNvSpPr>
          <p:nvPr/>
        </p:nvSpPr>
        <p:spPr bwMode="auto">
          <a:xfrm flipV="1">
            <a:off x="2540000" y="3633787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6" name="Rectangle 388"/>
          <p:cNvSpPr>
            <a:spLocks noChangeAspect="1" noChangeArrowheads="1"/>
          </p:cNvSpPr>
          <p:nvPr/>
        </p:nvSpPr>
        <p:spPr bwMode="auto">
          <a:xfrm>
            <a:off x="1514475" y="1452562"/>
            <a:ext cx="2174875" cy="320675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User stack</a:t>
            </a:r>
          </a:p>
        </p:txBody>
      </p:sp>
      <p:sp>
        <p:nvSpPr>
          <p:cNvPr id="57" name="Line 389"/>
          <p:cNvSpPr>
            <a:spLocks noChangeAspect="1" noChangeShapeType="1"/>
          </p:cNvSpPr>
          <p:nvPr/>
        </p:nvSpPr>
        <p:spPr bwMode="auto">
          <a:xfrm flipV="1">
            <a:off x="2551113" y="2297112"/>
            <a:ext cx="0" cy="334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8" name="Line 390"/>
          <p:cNvSpPr>
            <a:spLocks noChangeAspect="1" noChangeShapeType="1"/>
          </p:cNvSpPr>
          <p:nvPr/>
        </p:nvSpPr>
        <p:spPr bwMode="auto">
          <a:xfrm>
            <a:off x="2560638" y="1773237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9" name="Rectangle 391"/>
          <p:cNvSpPr>
            <a:spLocks noChangeAspect="1" noChangeArrowheads="1"/>
          </p:cNvSpPr>
          <p:nvPr/>
        </p:nvSpPr>
        <p:spPr bwMode="auto">
          <a:xfrm>
            <a:off x="1514475" y="5668962"/>
            <a:ext cx="2174875" cy="3778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60" name="Text Box 392"/>
          <p:cNvSpPr txBox="1">
            <a:spLocks noChangeAspect="1" noChangeArrowheads="1"/>
          </p:cNvSpPr>
          <p:nvPr/>
        </p:nvSpPr>
        <p:spPr bwMode="auto">
          <a:xfrm>
            <a:off x="1311368" y="5867400"/>
            <a:ext cx="276038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61" name="AutoShape 411"/>
          <p:cNvSpPr>
            <a:spLocks/>
          </p:cNvSpPr>
          <p:nvPr/>
        </p:nvSpPr>
        <p:spPr bwMode="auto">
          <a:xfrm>
            <a:off x="3746500" y="1439862"/>
            <a:ext cx="76200" cy="304800"/>
          </a:xfrm>
          <a:prstGeom prst="rightBrace">
            <a:avLst>
              <a:gd name="adj1" fmla="val 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2" name="AutoShape 412"/>
          <p:cNvSpPr>
            <a:spLocks/>
          </p:cNvSpPr>
          <p:nvPr/>
        </p:nvSpPr>
        <p:spPr bwMode="auto">
          <a:xfrm>
            <a:off x="3746500" y="2659062"/>
            <a:ext cx="76200" cy="609600"/>
          </a:xfrm>
          <a:prstGeom prst="rightBrace">
            <a:avLst>
              <a:gd name="adj1" fmla="val 66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3" name="AutoShape 415"/>
          <p:cNvSpPr>
            <a:spLocks/>
          </p:cNvSpPr>
          <p:nvPr/>
        </p:nvSpPr>
        <p:spPr bwMode="auto">
          <a:xfrm>
            <a:off x="3746500" y="3967162"/>
            <a:ext cx="74613" cy="584200"/>
          </a:xfrm>
          <a:prstGeom prst="rightBrace">
            <a:avLst>
              <a:gd name="adj1" fmla="val 65248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4" name="AutoShape 416"/>
          <p:cNvSpPr>
            <a:spLocks/>
          </p:cNvSpPr>
          <p:nvPr/>
        </p:nvSpPr>
        <p:spPr bwMode="auto">
          <a:xfrm>
            <a:off x="3746500" y="4576762"/>
            <a:ext cx="76200" cy="355600"/>
          </a:xfrm>
          <a:prstGeom prst="rightBrace">
            <a:avLst>
              <a:gd name="adj1" fmla="val 3888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5" name="AutoShape 417"/>
          <p:cNvSpPr>
            <a:spLocks/>
          </p:cNvSpPr>
          <p:nvPr/>
        </p:nvSpPr>
        <p:spPr bwMode="auto">
          <a:xfrm>
            <a:off x="3746500" y="4983162"/>
            <a:ext cx="76200" cy="647700"/>
          </a:xfrm>
          <a:prstGeom prst="rightBrace">
            <a:avLst>
              <a:gd name="adj1" fmla="val 70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6" name="Text Box 420"/>
          <p:cNvSpPr txBox="1">
            <a:spLocks noChangeArrowheads="1"/>
          </p:cNvSpPr>
          <p:nvPr/>
        </p:nvSpPr>
        <p:spPr bwMode="auto">
          <a:xfrm>
            <a:off x="3822700" y="1438374"/>
            <a:ext cx="178446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Private, demand-zero</a:t>
            </a:r>
          </a:p>
        </p:txBody>
      </p:sp>
      <p:sp>
        <p:nvSpPr>
          <p:cNvPr id="67" name="Text Box 423"/>
          <p:cNvSpPr txBox="1">
            <a:spLocks noChangeArrowheads="1"/>
          </p:cNvSpPr>
          <p:nvPr/>
        </p:nvSpPr>
        <p:spPr bwMode="auto">
          <a:xfrm>
            <a:off x="205564" y="2430462"/>
            <a:ext cx="660436" cy="28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b="1">
                <a:solidFill>
                  <a:schemeClr val="tx2"/>
                </a:solidFill>
                <a:latin typeface="+mn-lt"/>
              </a:rPr>
              <a:t>libc.so</a:t>
            </a:r>
          </a:p>
        </p:txBody>
      </p:sp>
      <p:sp>
        <p:nvSpPr>
          <p:cNvPr id="68" name="Rectangle 424"/>
          <p:cNvSpPr>
            <a:spLocks noChangeArrowheads="1"/>
          </p:cNvSpPr>
          <p:nvPr/>
        </p:nvSpPr>
        <p:spPr bwMode="auto">
          <a:xfrm>
            <a:off x="88900" y="2735262"/>
            <a:ext cx="914400" cy="228600"/>
          </a:xfrm>
          <a:prstGeom prst="rect">
            <a:avLst/>
          </a:prstGeom>
          <a:solidFill>
            <a:srgbClr val="D5F1C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.data</a:t>
            </a:r>
          </a:p>
        </p:txBody>
      </p:sp>
      <p:sp>
        <p:nvSpPr>
          <p:cNvPr id="69" name="Rectangle 425"/>
          <p:cNvSpPr>
            <a:spLocks noChangeArrowheads="1"/>
          </p:cNvSpPr>
          <p:nvPr/>
        </p:nvSpPr>
        <p:spPr bwMode="auto">
          <a:xfrm>
            <a:off x="88900" y="2963862"/>
            <a:ext cx="914400" cy="228600"/>
          </a:xfrm>
          <a:prstGeom prst="rect">
            <a:avLst/>
          </a:prstGeom>
          <a:solidFill>
            <a:srgbClr val="D5F1C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.text</a:t>
            </a:r>
          </a:p>
        </p:txBody>
      </p:sp>
      <p:sp>
        <p:nvSpPr>
          <p:cNvPr id="70" name="Line 428"/>
          <p:cNvSpPr>
            <a:spLocks noChangeShapeType="1"/>
          </p:cNvSpPr>
          <p:nvPr/>
        </p:nvSpPr>
        <p:spPr bwMode="auto">
          <a:xfrm>
            <a:off x="1003300" y="28114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71" name="Line 429"/>
          <p:cNvSpPr>
            <a:spLocks noChangeShapeType="1"/>
          </p:cNvSpPr>
          <p:nvPr/>
        </p:nvSpPr>
        <p:spPr bwMode="auto">
          <a:xfrm>
            <a:off x="1003300" y="31162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72" name="Text Box 430"/>
          <p:cNvSpPr txBox="1">
            <a:spLocks noChangeArrowheads="1"/>
          </p:cNvSpPr>
          <p:nvPr/>
        </p:nvSpPr>
        <p:spPr bwMode="auto">
          <a:xfrm>
            <a:off x="3822700" y="2809974"/>
            <a:ext cx="1604735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Shared, file-backed</a:t>
            </a:r>
          </a:p>
        </p:txBody>
      </p:sp>
      <p:sp>
        <p:nvSpPr>
          <p:cNvPr id="73" name="Text Box 431"/>
          <p:cNvSpPr txBox="1">
            <a:spLocks noChangeArrowheads="1"/>
          </p:cNvSpPr>
          <p:nvPr/>
        </p:nvSpPr>
        <p:spPr bwMode="auto">
          <a:xfrm>
            <a:off x="3822700" y="4105374"/>
            <a:ext cx="178446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Private, demand-zero</a:t>
            </a:r>
          </a:p>
        </p:txBody>
      </p:sp>
      <p:sp>
        <p:nvSpPr>
          <p:cNvPr id="74" name="Text Box 432"/>
          <p:cNvSpPr txBox="1">
            <a:spLocks noChangeArrowheads="1"/>
          </p:cNvSpPr>
          <p:nvPr/>
        </p:nvSpPr>
        <p:spPr bwMode="auto">
          <a:xfrm>
            <a:off x="3822700" y="4562574"/>
            <a:ext cx="178446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Private, demand-zero</a:t>
            </a:r>
          </a:p>
        </p:txBody>
      </p:sp>
      <p:sp>
        <p:nvSpPr>
          <p:cNvPr id="75" name="Text Box 434"/>
          <p:cNvSpPr txBox="1">
            <a:spLocks noChangeArrowheads="1"/>
          </p:cNvSpPr>
          <p:nvPr/>
        </p:nvSpPr>
        <p:spPr bwMode="auto">
          <a:xfrm>
            <a:off x="3822700" y="5172174"/>
            <a:ext cx="1619354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Private, file-backed</a:t>
            </a:r>
          </a:p>
        </p:txBody>
      </p:sp>
      <p:sp>
        <p:nvSpPr>
          <p:cNvPr id="76" name="Text Box 435"/>
          <p:cNvSpPr txBox="1">
            <a:spLocks noChangeArrowheads="1"/>
          </p:cNvSpPr>
          <p:nvPr/>
        </p:nvSpPr>
        <p:spPr bwMode="auto">
          <a:xfrm>
            <a:off x="255988" y="4792662"/>
            <a:ext cx="573875" cy="28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b="1">
                <a:solidFill>
                  <a:schemeClr val="tx2"/>
                </a:solidFill>
                <a:latin typeface="+mn-lt"/>
              </a:rPr>
              <a:t>a.out</a:t>
            </a:r>
          </a:p>
        </p:txBody>
      </p:sp>
      <p:sp>
        <p:nvSpPr>
          <p:cNvPr id="77" name="Rectangle 436"/>
          <p:cNvSpPr>
            <a:spLocks noChangeArrowheads="1"/>
          </p:cNvSpPr>
          <p:nvPr/>
        </p:nvSpPr>
        <p:spPr bwMode="auto">
          <a:xfrm>
            <a:off x="88900" y="5097462"/>
            <a:ext cx="914400" cy="2286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.data</a:t>
            </a:r>
          </a:p>
        </p:txBody>
      </p:sp>
      <p:sp>
        <p:nvSpPr>
          <p:cNvPr id="78" name="Rectangle 437"/>
          <p:cNvSpPr>
            <a:spLocks noChangeArrowheads="1"/>
          </p:cNvSpPr>
          <p:nvPr/>
        </p:nvSpPr>
        <p:spPr bwMode="auto">
          <a:xfrm>
            <a:off x="88900" y="5326062"/>
            <a:ext cx="914400" cy="228600"/>
          </a:xfrm>
          <a:prstGeom prst="rect">
            <a:avLst/>
          </a:prstGeom>
          <a:solidFill>
            <a:srgbClr val="F1C7C7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.text</a:t>
            </a:r>
          </a:p>
        </p:txBody>
      </p:sp>
      <p:sp>
        <p:nvSpPr>
          <p:cNvPr id="79" name="Line 438"/>
          <p:cNvSpPr>
            <a:spLocks noChangeShapeType="1"/>
          </p:cNvSpPr>
          <p:nvPr/>
        </p:nvSpPr>
        <p:spPr bwMode="auto">
          <a:xfrm>
            <a:off x="1003300" y="51736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0" name="Line 439"/>
          <p:cNvSpPr>
            <a:spLocks noChangeShapeType="1"/>
          </p:cNvSpPr>
          <p:nvPr/>
        </p:nvSpPr>
        <p:spPr bwMode="auto">
          <a:xfrm>
            <a:off x="1003300" y="54784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160379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More Shareable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Easy places to identify shareable pages</a:t>
            </a:r>
          </a:p>
          <a:p>
            <a:pPr lvl="1"/>
            <a:r>
              <a:rPr lang="en-US" dirty="0" smtClean="0"/>
              <a:t>Child create via </a:t>
            </a:r>
            <a:r>
              <a:rPr lang="en-US" b="1" dirty="0" smtClean="0">
                <a:latin typeface="Courier New" charset="0"/>
                <a:ea typeface="Courier New" charset="0"/>
                <a:cs typeface="Courier New" charset="0"/>
              </a:rPr>
              <a:t>fork</a:t>
            </a:r>
          </a:p>
          <a:p>
            <a:pPr lvl="1"/>
            <a:r>
              <a:rPr lang="en-US" dirty="0" smtClean="0"/>
              <a:t>Processes loading the same binary file</a:t>
            </a:r>
          </a:p>
          <a:p>
            <a:pPr lvl="2"/>
            <a:r>
              <a:rPr lang="en-US" dirty="0" smtClean="0"/>
              <a:t>E.g., bash or python interpreters, web browsers, ...</a:t>
            </a:r>
          </a:p>
          <a:p>
            <a:pPr lvl="1"/>
            <a:r>
              <a:rPr lang="en-US" dirty="0" smtClean="0"/>
              <a:t>Processes loading the same library file</a:t>
            </a:r>
          </a:p>
          <a:p>
            <a:r>
              <a:rPr lang="en-US" dirty="0" smtClean="0"/>
              <a:t>What about others?</a:t>
            </a:r>
          </a:p>
          <a:p>
            <a:pPr lvl="1"/>
            <a:r>
              <a:rPr lang="en-US" dirty="0" smtClean="0"/>
              <a:t>Kernel Same-Page Merging</a:t>
            </a:r>
          </a:p>
          <a:p>
            <a:pPr lvl="1"/>
            <a:r>
              <a:rPr lang="en-US" dirty="0" smtClean="0"/>
              <a:t>OS scans through all of physical memory, looking for duplicate pages</a:t>
            </a:r>
          </a:p>
          <a:p>
            <a:pPr lvl="1"/>
            <a:r>
              <a:rPr lang="en-US" dirty="0" smtClean="0"/>
              <a:t>When found, merge into single copy, marked as copy-on-write</a:t>
            </a:r>
          </a:p>
          <a:p>
            <a:pPr lvl="1"/>
            <a:r>
              <a:rPr lang="en-US" dirty="0" smtClean="0"/>
              <a:t>Implemented in Linux kernel in 2009</a:t>
            </a:r>
          </a:p>
          <a:p>
            <a:pPr lvl="1"/>
            <a:r>
              <a:rPr lang="en-US" dirty="0" smtClean="0"/>
              <a:t>Limited to pages marked as likely candidates</a:t>
            </a:r>
          </a:p>
          <a:p>
            <a:pPr lvl="1"/>
            <a:r>
              <a:rPr lang="en-US" dirty="0" smtClean="0"/>
              <a:t>Especially useful when processor running many virtual machines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8990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3497" y="434447"/>
            <a:ext cx="72596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User-Level Memory Mapping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3" y="1220788"/>
            <a:ext cx="8459787" cy="5637212"/>
          </a:xfrm>
          <a:ln/>
        </p:spPr>
        <p:txBody>
          <a:bodyPr/>
          <a:lstStyle/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void *</a:t>
            </a:r>
            <a:r>
              <a:rPr lang="en-GB" sz="1800" dirty="0" err="1">
                <a:effectLst/>
                <a:latin typeface="Courier New" pitchFamily="49" charset="0"/>
              </a:rPr>
              <a:t>mmap</a:t>
            </a:r>
            <a:r>
              <a:rPr lang="en-GB" sz="1800" dirty="0">
                <a:effectLst/>
                <a:latin typeface="Courier New" pitchFamily="49" charset="0"/>
              </a:rPr>
              <a:t>(void *start,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len</a:t>
            </a:r>
            <a:r>
              <a:rPr lang="en-GB" sz="1800" dirty="0">
                <a:effectLst/>
                <a:latin typeface="Courier New" pitchFamily="49" charset="0"/>
              </a:rPr>
              <a:t>,</a:t>
            </a:r>
          </a:p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          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prot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flags,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fd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offset</a:t>
            </a:r>
            <a:r>
              <a:rPr lang="en-GB" sz="2000" dirty="0">
                <a:effectLst/>
              </a:rPr>
              <a:t>)</a:t>
            </a:r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 </a:t>
            </a:r>
            <a:r>
              <a:rPr lang="en-GB" b="1" dirty="0" err="1">
                <a:latin typeface="Courier New" pitchFamily="49" charset="0"/>
              </a:rPr>
              <a:t>len</a:t>
            </a:r>
            <a:r>
              <a:rPr lang="en-GB" dirty="0"/>
              <a:t> bytes starting at offset </a:t>
            </a:r>
            <a:r>
              <a:rPr lang="en-GB" b="1" dirty="0" err="1">
                <a:latin typeface="Courier New" pitchFamily="49" charset="0"/>
              </a:rPr>
              <a:t>offset</a:t>
            </a:r>
            <a:r>
              <a:rPr lang="en-GB" dirty="0">
                <a:latin typeface="+mj-lt"/>
              </a:rPr>
              <a:t> </a:t>
            </a:r>
            <a:r>
              <a:rPr lang="en-GB" dirty="0"/>
              <a:t>of the file specified by file description </a:t>
            </a:r>
            <a:r>
              <a:rPr lang="en-GB" b="1" dirty="0" err="1">
                <a:latin typeface="Courier New" pitchFamily="49" charset="0"/>
              </a:rPr>
              <a:t>fd</a:t>
            </a:r>
            <a:r>
              <a:rPr lang="en-GB" dirty="0"/>
              <a:t>, preferably at address </a:t>
            </a:r>
            <a:r>
              <a:rPr lang="en-GB" b="1" dirty="0">
                <a:latin typeface="Courier New" pitchFamily="49" charset="0"/>
              </a:rPr>
              <a:t>start</a:t>
            </a:r>
            <a:r>
              <a:rPr lang="en-GB" dirty="0"/>
              <a:t> </a:t>
            </a:r>
          </a:p>
          <a:p>
            <a:pPr lvl="1">
              <a:lnSpc>
                <a:spcPct val="101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>
                <a:latin typeface="Courier New" pitchFamily="49" charset="0"/>
              </a:rPr>
              <a:t>start</a:t>
            </a:r>
            <a:r>
              <a:rPr lang="en-GB" dirty="0">
                <a:latin typeface="Courier New" pitchFamily="49" charset="0"/>
              </a:rPr>
              <a:t>:</a:t>
            </a:r>
            <a:r>
              <a:rPr lang="en-GB" dirty="0"/>
              <a:t> may be 0 for “pick an address”</a:t>
            </a:r>
          </a:p>
          <a:p>
            <a:pPr lvl="1">
              <a:lnSpc>
                <a:spcPct val="101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 err="1">
                <a:latin typeface="Courier New" pitchFamily="49" charset="0"/>
              </a:rPr>
              <a:t>prot</a:t>
            </a:r>
            <a:r>
              <a:rPr lang="en-GB" dirty="0"/>
              <a:t>: PROT_READ, PROT_WRITE, PROT_EXEC, ...</a:t>
            </a:r>
          </a:p>
          <a:p>
            <a:pPr lvl="1">
              <a:lnSpc>
                <a:spcPct val="101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>
                <a:latin typeface="Courier New" pitchFamily="49" charset="0"/>
              </a:rPr>
              <a:t>flags</a:t>
            </a:r>
            <a:r>
              <a:rPr lang="en-GB" dirty="0"/>
              <a:t>: MAP_ANON, MAP_PRIVATE, MAP_SHARED, ...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Return a pointer to start of mapped area (may not be </a:t>
            </a:r>
            <a:r>
              <a:rPr lang="en-GB" b="1" dirty="0">
                <a:latin typeface="Courier New" pitchFamily="49" charset="0"/>
              </a:rPr>
              <a:t>start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366317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93713"/>
            <a:ext cx="72596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User-Level Memory Mapping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0201" y="1220789"/>
            <a:ext cx="8307387" cy="836612"/>
          </a:xfrm>
          <a:ln/>
        </p:spPr>
        <p:txBody>
          <a:bodyPr/>
          <a:lstStyle/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void *</a:t>
            </a:r>
            <a:r>
              <a:rPr lang="en-GB" sz="1800" dirty="0" err="1">
                <a:effectLst/>
                <a:latin typeface="Courier New" pitchFamily="49" charset="0"/>
              </a:rPr>
              <a:t>mmap</a:t>
            </a:r>
            <a:r>
              <a:rPr lang="en-GB" sz="1800" dirty="0">
                <a:effectLst/>
                <a:latin typeface="Courier New" pitchFamily="49" charset="0"/>
              </a:rPr>
              <a:t>(void *start,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len</a:t>
            </a:r>
            <a:r>
              <a:rPr lang="en-GB" sz="1800" dirty="0">
                <a:effectLst/>
                <a:latin typeface="Courier New" pitchFamily="49" charset="0"/>
              </a:rPr>
              <a:t>,</a:t>
            </a:r>
          </a:p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          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prot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flags,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fd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offset</a:t>
            </a:r>
            <a:r>
              <a:rPr lang="en-GB" sz="2000" dirty="0">
                <a:effectLst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057400" y="2362200"/>
            <a:ext cx="9906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3733800"/>
            <a:ext cx="990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638800" y="1981200"/>
            <a:ext cx="990600" cy="403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638800" y="2590800"/>
            <a:ext cx="990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 flipV="1">
            <a:off x="3048000" y="2590800"/>
            <a:ext cx="2590800" cy="1143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3048000" y="3733800"/>
            <a:ext cx="2590800" cy="1143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AutoShape 51"/>
          <p:cNvSpPr>
            <a:spLocks/>
          </p:cNvSpPr>
          <p:nvPr/>
        </p:nvSpPr>
        <p:spPr bwMode="auto">
          <a:xfrm>
            <a:off x="6705600" y="2590800"/>
            <a:ext cx="228600" cy="11430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934200" y="2963336"/>
            <a:ext cx="13773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err="1">
                <a:latin typeface="Courier New" pitchFamily="49" charset="0"/>
              </a:rPr>
              <a:t>len</a:t>
            </a:r>
            <a:r>
              <a:rPr lang="en-GB" sz="2000" dirty="0">
                <a:latin typeface="Courier New" pitchFamily="49" charset="0"/>
              </a:rPr>
              <a:t> </a:t>
            </a:r>
            <a:r>
              <a:rPr lang="en-GB" sz="2000" dirty="0">
                <a:latin typeface="+mn-lt"/>
              </a:rPr>
              <a:t>bytes</a:t>
            </a:r>
            <a:endParaRPr lang="en-US" sz="2000" dirty="0">
              <a:latin typeface="+mn-lt"/>
            </a:endParaRPr>
          </a:p>
        </p:txBody>
      </p:sp>
      <p:cxnSp>
        <p:nvCxnSpPr>
          <p:cNvPr id="15" name="Straight Arrow Connector 14"/>
          <p:cNvCxnSpPr/>
          <p:nvPr/>
        </p:nvCxnSpPr>
        <p:spPr bwMode="auto">
          <a:xfrm rot="10800000">
            <a:off x="6629400" y="3733800"/>
            <a:ext cx="609600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7239000" y="3536889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urier New" pitchFamily="49" charset="0"/>
              </a:rPr>
              <a:t>start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6781800" y="3857936"/>
            <a:ext cx="1863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(or address 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chosen by kernel)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4468" y="6031468"/>
            <a:ext cx="2672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virtual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753" y="6019800"/>
            <a:ext cx="2387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Disk file specified by </a:t>
            </a:r>
          </a:p>
          <a:p>
            <a:pPr algn="ctr"/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file descriptor </a:t>
            </a:r>
            <a:r>
              <a:rPr lang="en-US" sz="2000" dirty="0" err="1">
                <a:latin typeface="Courier New" pitchFamily="49" charset="0"/>
              </a:rPr>
              <a:t>fd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20" name="AutoShape 51"/>
          <p:cNvSpPr>
            <a:spLocks/>
          </p:cNvSpPr>
          <p:nvPr/>
        </p:nvSpPr>
        <p:spPr bwMode="auto">
          <a:xfrm flipH="1">
            <a:off x="1752600" y="3733800"/>
            <a:ext cx="228600" cy="11430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58366" y="4104157"/>
            <a:ext cx="13773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err="1">
                <a:latin typeface="Courier New" pitchFamily="49" charset="0"/>
              </a:rPr>
              <a:t>len</a:t>
            </a:r>
            <a:r>
              <a:rPr lang="en-GB" sz="2000" dirty="0">
                <a:latin typeface="Courier New" pitchFamily="49" charset="0"/>
              </a:rPr>
              <a:t> </a:t>
            </a:r>
            <a:r>
              <a:rPr lang="en-GB" sz="2000" dirty="0">
                <a:latin typeface="+mn-lt"/>
              </a:rPr>
              <a:t>bytes</a:t>
            </a:r>
            <a:endParaRPr lang="en-US" sz="2000" dirty="0">
              <a:latin typeface="+mn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52400" y="4676745"/>
            <a:ext cx="11079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urier New" pitchFamily="49" charset="0"/>
              </a:rPr>
              <a:t>offset</a:t>
            </a:r>
            <a:endParaRPr lang="en-US" sz="2000" dirty="0"/>
          </a:p>
        </p:txBody>
      </p:sp>
      <p:cxnSp>
        <p:nvCxnSpPr>
          <p:cNvPr id="24" name="Straight Arrow Connector 23"/>
          <p:cNvCxnSpPr>
            <a:stCxn id="22" idx="3"/>
          </p:cNvCxnSpPr>
          <p:nvPr/>
        </p:nvCxnSpPr>
        <p:spPr bwMode="auto">
          <a:xfrm>
            <a:off x="1260396" y="4876800"/>
            <a:ext cx="797004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262468" y="5003799"/>
            <a:ext cx="84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(bytes)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0004" y="5819001"/>
            <a:ext cx="292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>
                <a:latin typeface="Courier New"/>
                <a:cs typeface="Courier New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1542" y="5791200"/>
            <a:ext cx="292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>
                <a:latin typeface="Courier New"/>
                <a:cs typeface="Courier New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42680222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1963"/>
            <a:ext cx="9144000" cy="604837"/>
          </a:xfrm>
          <a:ln/>
        </p:spPr>
        <p:txBody>
          <a:bodyPr/>
          <a:lstStyle/>
          <a:p>
            <a:pPr>
              <a:lnSpc>
                <a:spcPct val="82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+mn-lt"/>
              </a:rPr>
              <a:t>Example: Using </a:t>
            </a:r>
            <a:r>
              <a:rPr lang="en-GB" dirty="0" err="1">
                <a:latin typeface="Courier New"/>
                <a:cs typeface="Courier New"/>
              </a:rPr>
              <a:t>mmap</a:t>
            </a:r>
            <a:r>
              <a:rPr lang="en-GB" dirty="0">
                <a:latin typeface="+mn-lt"/>
              </a:rPr>
              <a:t> to Copy Files</a:t>
            </a:r>
            <a:endParaRPr lang="en-GB" dirty="0">
              <a:latin typeface="Courier New"/>
              <a:cs typeface="Courier New"/>
            </a:endParaRP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4419600" y="2436812"/>
            <a:ext cx="4572000" cy="4116388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/>
          <a:lstStyle/>
          <a:p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/* </a:t>
            </a:r>
            <a:r>
              <a:rPr lang="en-US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mmapcopy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driver */</a:t>
            </a:r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4A00FF"/>
                </a:solidFill>
                <a:latin typeface="Courier New" charset="0"/>
                <a:ea typeface="Courier New" charset="0"/>
                <a:cs typeface="Courier New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argc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1400" dirty="0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**</a:t>
            </a:r>
            <a:r>
              <a:rPr lang="en-US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argv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400" dirty="0" err="1">
                <a:solidFill>
                  <a:srgbClr val="C200FF"/>
                </a:solidFill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stat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stat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nl-NL" sz="1400" dirty="0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nl-NL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nl-NL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/* Check </a:t>
            </a:r>
            <a:r>
              <a:rPr lang="nl-NL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for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nl-NL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required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nl-NL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cmd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line </a:t>
            </a:r>
            <a:r>
              <a:rPr lang="nl-NL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arg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*/</a:t>
            </a:r>
            <a:endParaRPr lang="nl-NL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argc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!= 2) 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Courier New" charset="0"/>
                <a:ea typeface="Courier New" charset="0"/>
                <a:cs typeface="Courier New" charset="0"/>
              </a:rPr>
              <a:t>"usage: %s &lt;filename&gt;\n"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      </a:t>
            </a:r>
            <a:r>
              <a:rPr lang="en-US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argv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[0]);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exit(0);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}</a:t>
            </a:r>
          </a:p>
          <a:p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/* Copy input file to </a:t>
            </a:r>
            <a:r>
              <a:rPr lang="en-US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stdout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*/</a:t>
            </a:r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= Open(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argv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[1], O_RDONLY, 0);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fstat(fd, &amp;stat);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mmapcopy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stat.st_size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);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exit(0);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  <a:endParaRPr lang="en-GB" sz="14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96875" y="1362075"/>
            <a:ext cx="78962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28600" y="1362075"/>
            <a:ext cx="87630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lang="en-GB" kern="0" dirty="0">
                <a:latin typeface="Calibri" pitchFamily="34" charset="0"/>
              </a:rPr>
              <a:t>Copying a file to </a:t>
            </a:r>
            <a:r>
              <a:rPr lang="en-GB" kern="0" dirty="0" err="1">
                <a:latin typeface="Courier New"/>
                <a:cs typeface="Courier New"/>
              </a:rPr>
              <a:t>stdout</a:t>
            </a:r>
            <a:r>
              <a:rPr lang="en-GB" kern="0" dirty="0">
                <a:latin typeface="Calibri" pitchFamily="34" charset="0"/>
              </a:rPr>
              <a:t> without transferring data to user </a:t>
            </a:r>
            <a:r>
              <a:rPr lang="en-GB" kern="0" dirty="0" smtClean="0">
                <a:latin typeface="Calibri" pitchFamily="34" charset="0"/>
              </a:rPr>
              <a:t>space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 2" pitchFamily="18" charset="2"/>
              <a:buChar char="¢"/>
              <a:defRPr/>
            </a:pPr>
            <a:r>
              <a:rPr lang="en-GB" kern="0" dirty="0" smtClean="0">
                <a:latin typeface="Calibri" pitchFamily="34" charset="0"/>
              </a:rPr>
              <a:t>This </a:t>
            </a:r>
            <a:r>
              <a:rPr lang="en-GB" kern="0" dirty="0">
                <a:latin typeface="Calibri" pitchFamily="34" charset="0"/>
              </a:rPr>
              <a:t>c</a:t>
            </a:r>
            <a:r>
              <a:rPr kumimoji="0" lang="en-GB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ode does</a:t>
            </a:r>
            <a:r>
              <a:rPr kumimoji="0" lang="en-GB" b="1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not meet our coding standards.</a:t>
            </a:r>
            <a:endParaRPr kumimoji="0" lang="en-GB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23318" y="2436812"/>
            <a:ext cx="3991482" cy="4116388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/>
          <a:lstStyle/>
          <a:p>
            <a:r>
              <a:rPr lang="en-US" sz="1400" dirty="0">
                <a:solidFill>
                  <a:srgbClr val="926492"/>
                </a:solidFill>
                <a:latin typeface="Courier New" charset="0"/>
                <a:ea typeface="Courier New" charset="0"/>
                <a:cs typeface="Courier New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9D206F"/>
                </a:solidFill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sz="1400" dirty="0" err="1">
                <a:solidFill>
                  <a:srgbClr val="9D206F"/>
                </a:solidFill>
                <a:latin typeface="Courier New" charset="0"/>
                <a:ea typeface="Courier New" charset="0"/>
                <a:cs typeface="Courier New" charset="0"/>
              </a:rPr>
              <a:t>csapp.h</a:t>
            </a:r>
            <a:r>
              <a:rPr lang="en-US" sz="1400" dirty="0">
                <a:solidFill>
                  <a:srgbClr val="9D206F"/>
                </a:solidFill>
                <a:latin typeface="Courier New" charset="0"/>
                <a:ea typeface="Courier New" charset="0"/>
                <a:cs typeface="Courier New" charset="0"/>
              </a:rPr>
              <a:t>"</a:t>
            </a:r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solidFill>
                  <a:srgbClr val="4A00FF"/>
                </a:solidFill>
                <a:latin typeface="Courier New" charset="0"/>
                <a:ea typeface="Courier New" charset="0"/>
                <a:cs typeface="Courier New" charset="0"/>
              </a:rPr>
              <a:t>mmapcopy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/* </a:t>
            </a:r>
            <a:r>
              <a:rPr lang="en-US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Ptr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to memory mapped area */</a:t>
            </a:r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da-DK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char</a:t>
            </a:r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*</a:t>
            </a:r>
            <a:r>
              <a:rPr lang="da-DK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bufp</a:t>
            </a:r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da-DK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bufp = mmap(</a:t>
            </a:r>
            <a:r>
              <a:rPr lang="da-DK" sz="1400" dirty="0">
                <a:solidFill>
                  <a:srgbClr val="2C9290"/>
                </a:solidFill>
                <a:latin typeface="Courier New" charset="0"/>
                <a:ea typeface="Courier New" charset="0"/>
                <a:cs typeface="Courier New" charset="0"/>
              </a:rPr>
              <a:t>NULL</a:t>
            </a:r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size, </a:t>
            </a:r>
          </a:p>
          <a:p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       PROT_READ,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       MAP_PRIVATE, 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0);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de-DE" sz="1400" dirty="0" err="1" smtClean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write</a:t>
            </a:r>
            <a:r>
              <a:rPr lang="de-DE" sz="1400" dirty="0" smtClean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(STDOUT_FILENO, 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de-DE" sz="1400" dirty="0" smtClean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</a:t>
            </a:r>
            <a:r>
              <a:rPr lang="de-DE" sz="1400" dirty="0" err="1" smtClean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bufp</a:t>
            </a:r>
            <a:r>
              <a:rPr lang="de-DE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size);</a:t>
            </a:r>
          </a:p>
          <a:p>
            <a:r>
              <a:rPr lang="is-I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is-IS" sz="1400" dirty="0">
                <a:solidFill>
                  <a:srgbClr val="C200FF"/>
                </a:solidFill>
                <a:latin typeface="Courier New" charset="0"/>
                <a:ea typeface="Courier New" charset="0"/>
                <a:cs typeface="Courier New" charset="0"/>
              </a:rPr>
              <a:t>return</a:t>
            </a:r>
            <a:r>
              <a:rPr lang="is-I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is-I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67000" y="6172200"/>
            <a:ext cx="1410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mmapcopy.c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1426" y="6183868"/>
            <a:ext cx="1410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mmapcopy.c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54294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Uses of </a:t>
            </a:r>
            <a:r>
              <a:rPr lang="en-US" dirty="0" err="1" smtClean="0"/>
              <a:t>mmap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Reading big files</a:t>
            </a:r>
          </a:p>
          <a:p>
            <a:pPr lvl="1"/>
            <a:r>
              <a:rPr lang="en-US" dirty="0" smtClean="0"/>
              <a:t>Uses paging mechanism to bring files into memory</a:t>
            </a:r>
          </a:p>
          <a:p>
            <a:r>
              <a:rPr lang="en-US" dirty="0" smtClean="0"/>
              <a:t>Shared data structures</a:t>
            </a:r>
          </a:p>
          <a:p>
            <a:pPr lvl="1"/>
            <a:r>
              <a:rPr lang="en-US" dirty="0" smtClean="0"/>
              <a:t>When call with </a:t>
            </a:r>
            <a:r>
              <a:rPr lang="en-US" b="1" dirty="0" smtClean="0">
                <a:latin typeface="Courier New" charset="0"/>
                <a:ea typeface="Courier New" charset="0"/>
                <a:cs typeface="Courier New" charset="0"/>
              </a:rPr>
              <a:t>MAP_SHARED</a:t>
            </a:r>
            <a:r>
              <a:rPr lang="en-US" dirty="0" smtClean="0"/>
              <a:t> flag</a:t>
            </a:r>
          </a:p>
          <a:p>
            <a:pPr lvl="2"/>
            <a:r>
              <a:rPr lang="en-US" dirty="0" smtClean="0"/>
              <a:t>Multiple processes have access to same region of memory</a:t>
            </a:r>
          </a:p>
          <a:p>
            <a:pPr lvl="2"/>
            <a:r>
              <a:rPr lang="en-US" dirty="0" smtClean="0"/>
              <a:t>Risky!</a:t>
            </a:r>
          </a:p>
          <a:p>
            <a:r>
              <a:rPr lang="en-US" dirty="0" smtClean="0"/>
              <a:t>File-based data structures</a:t>
            </a:r>
          </a:p>
          <a:p>
            <a:pPr lvl="1"/>
            <a:r>
              <a:rPr lang="en-US" dirty="0" smtClean="0"/>
              <a:t>E.g., database</a:t>
            </a:r>
          </a:p>
          <a:p>
            <a:pPr lvl="1"/>
            <a:r>
              <a:rPr lang="en-US" dirty="0" smtClean="0"/>
              <a:t>Give </a:t>
            </a:r>
            <a:r>
              <a:rPr lang="en-US" b="1" dirty="0" err="1" smtClean="0">
                <a:latin typeface="Courier New" charset="0"/>
                <a:ea typeface="Courier New" charset="0"/>
                <a:cs typeface="Courier New" charset="0"/>
              </a:rPr>
              <a:t>prot</a:t>
            </a:r>
            <a:r>
              <a:rPr lang="en-US" dirty="0" smtClean="0"/>
              <a:t> argument </a:t>
            </a:r>
            <a:r>
              <a:rPr lang="en-US" b="1" dirty="0" smtClean="0">
                <a:latin typeface="Courier New" charset="0"/>
                <a:ea typeface="Courier New" charset="0"/>
                <a:cs typeface="Courier New" charset="0"/>
              </a:rPr>
              <a:t>PROT_READ | PROT_WRITE</a:t>
            </a:r>
          </a:p>
          <a:p>
            <a:pPr lvl="1"/>
            <a:r>
              <a:rPr lang="en-US" dirty="0" smtClean="0"/>
              <a:t>When </a:t>
            </a:r>
            <a:r>
              <a:rPr lang="en-US" dirty="0" err="1" smtClean="0"/>
              <a:t>unmap</a:t>
            </a:r>
            <a:r>
              <a:rPr lang="en-US" dirty="0" smtClean="0"/>
              <a:t> region, file will be updated via write-back</a:t>
            </a:r>
          </a:p>
          <a:p>
            <a:pPr lvl="1"/>
            <a:r>
              <a:rPr lang="en-US" dirty="0" smtClean="0"/>
              <a:t>Can implement load from file / update / write back to file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25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VM requires hardware support</a:t>
            </a:r>
          </a:p>
          <a:p>
            <a:pPr lvl="1"/>
            <a:r>
              <a:rPr lang="en-US" dirty="0" smtClean="0"/>
              <a:t>Exception handling mechanism</a:t>
            </a:r>
          </a:p>
          <a:p>
            <a:pPr lvl="1"/>
            <a:r>
              <a:rPr lang="en-US" dirty="0" smtClean="0"/>
              <a:t>TLB</a:t>
            </a:r>
          </a:p>
          <a:p>
            <a:pPr lvl="1"/>
            <a:r>
              <a:rPr lang="en-US" dirty="0" smtClean="0"/>
              <a:t>Various control registers</a:t>
            </a:r>
          </a:p>
          <a:p>
            <a:r>
              <a:rPr lang="en-US" dirty="0" smtClean="0"/>
              <a:t>VM requires OS support</a:t>
            </a:r>
          </a:p>
          <a:p>
            <a:pPr lvl="1"/>
            <a:r>
              <a:rPr lang="en-US" dirty="0" smtClean="0"/>
              <a:t>Managing page tables</a:t>
            </a:r>
          </a:p>
          <a:p>
            <a:pPr lvl="1"/>
            <a:r>
              <a:rPr lang="en-US" dirty="0" smtClean="0"/>
              <a:t>Implementing page replacement policies</a:t>
            </a:r>
          </a:p>
          <a:p>
            <a:pPr lvl="1"/>
            <a:r>
              <a:rPr lang="en-US" dirty="0" smtClean="0"/>
              <a:t>Managing file system</a:t>
            </a:r>
          </a:p>
          <a:p>
            <a:r>
              <a:rPr lang="en-US" dirty="0" smtClean="0"/>
              <a:t>VM enables many capabilities</a:t>
            </a:r>
          </a:p>
          <a:p>
            <a:pPr lvl="1"/>
            <a:r>
              <a:rPr lang="en-US" dirty="0" smtClean="0"/>
              <a:t>Loading programs from memory</a:t>
            </a:r>
          </a:p>
          <a:p>
            <a:pPr lvl="1"/>
            <a:r>
              <a:rPr lang="en-US" dirty="0" smtClean="0"/>
              <a:t>Forking processes</a:t>
            </a:r>
          </a:p>
          <a:p>
            <a:pPr lvl="1"/>
            <a:r>
              <a:rPr lang="en-US" dirty="0" smtClean="0"/>
              <a:t>Providing memory protection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4386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Virtual Memory</a:t>
            </a:r>
            <a:endParaRPr lang="en-US" sz="2800" dirty="0" smtClean="0"/>
          </a:p>
          <a:p>
            <a:pPr lvl="1"/>
            <a:r>
              <a:rPr lang="en-US" dirty="0" smtClean="0">
                <a:solidFill>
                  <a:srgbClr val="B3B3B3"/>
                </a:solidFill>
              </a:rPr>
              <a:t>Review of Key Concepts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Simple memory system example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Case study: Core i7/Linux memory system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Memory </a:t>
            </a: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mapping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Dynamic Memory Mapping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739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Memory Allocation	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280875" y="2940909"/>
            <a:ext cx="4093996" cy="3815473"/>
          </a:xfrm>
        </p:spPr>
        <p:txBody>
          <a:bodyPr/>
          <a:lstStyle/>
          <a:p>
            <a:r>
              <a:rPr lang="en-US" dirty="0"/>
              <a:t>Programmers use </a:t>
            </a:r>
            <a:r>
              <a:rPr lang="en-US" i="1" dirty="0">
                <a:solidFill>
                  <a:srgbClr val="990000"/>
                </a:solidFill>
              </a:rPr>
              <a:t>dynamic memory allocators </a:t>
            </a:r>
            <a:r>
              <a:rPr lang="en-US" dirty="0"/>
              <a:t>(such as </a:t>
            </a:r>
            <a:r>
              <a:rPr lang="en-US" dirty="0">
                <a:latin typeface="Courier New"/>
                <a:cs typeface="Courier New"/>
              </a:rPr>
              <a:t>malloc</a:t>
            </a:r>
            <a:r>
              <a:rPr lang="en-US" dirty="0"/>
              <a:t>) to acquire virtual memory (VM) at run time. </a:t>
            </a:r>
          </a:p>
          <a:p>
            <a:pPr lvl="1"/>
            <a:r>
              <a:rPr lang="en-US" dirty="0"/>
              <a:t>for data structures whose size is only known at runtime</a:t>
            </a:r>
          </a:p>
          <a:p>
            <a:r>
              <a:rPr lang="en-US" dirty="0"/>
              <a:t>Dynamic memory allocators manage an area of process VM known as the </a:t>
            </a:r>
            <a:r>
              <a:rPr lang="en-US" i="1" dirty="0">
                <a:solidFill>
                  <a:srgbClr val="990000"/>
                </a:solidFill>
              </a:rPr>
              <a:t>heap</a:t>
            </a:r>
            <a:r>
              <a:rPr lang="en-US" dirty="0"/>
              <a:t>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3959F402-DA8D-4BA1-8DCC-12F3B2AF8AE4}"/>
              </a:ext>
            </a:extLst>
          </p:cNvPr>
          <p:cNvGrpSpPr/>
          <p:nvPr/>
        </p:nvGrpSpPr>
        <p:grpSpPr>
          <a:xfrm>
            <a:off x="701418" y="1362074"/>
            <a:ext cx="3505200" cy="1371600"/>
            <a:chOff x="4189412" y="1362075"/>
            <a:chExt cx="3505200" cy="1371600"/>
          </a:xfrm>
        </p:grpSpPr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4189412" y="1362075"/>
              <a:ext cx="3505200" cy="457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>
                  <a:latin typeface="+mn-lt"/>
                </a:rPr>
                <a:t>Application</a:t>
              </a:r>
            </a:p>
          </p:txBody>
        </p:sp>
        <p:sp>
          <p:nvSpPr>
            <p:cNvPr id="30" name="Rectangle 5"/>
            <p:cNvSpPr>
              <a:spLocks noChangeArrowheads="1"/>
            </p:cNvSpPr>
            <p:nvPr/>
          </p:nvSpPr>
          <p:spPr bwMode="auto">
            <a:xfrm>
              <a:off x="4189412" y="1819275"/>
              <a:ext cx="3505200" cy="4572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>
                  <a:latin typeface="+mn-lt"/>
                </a:rPr>
                <a:t>Dynamic Memory Allocator</a:t>
              </a:r>
            </a:p>
          </p:txBody>
        </p:sp>
        <p:sp>
          <p:nvSpPr>
            <p:cNvPr id="31" name="Rectangle 6"/>
            <p:cNvSpPr>
              <a:spLocks noChangeArrowheads="1"/>
            </p:cNvSpPr>
            <p:nvPr/>
          </p:nvSpPr>
          <p:spPr bwMode="auto">
            <a:xfrm>
              <a:off x="4189412" y="2276475"/>
              <a:ext cx="3505200" cy="457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latin typeface="+mn-lt"/>
                </a:rPr>
                <a:t>Heap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6547B32-6206-4367-B7C8-5DDEB992958D}"/>
              </a:ext>
            </a:extLst>
          </p:cNvPr>
          <p:cNvGrpSpPr/>
          <p:nvPr/>
        </p:nvGrpSpPr>
        <p:grpSpPr>
          <a:xfrm>
            <a:off x="3985528" y="1057491"/>
            <a:ext cx="5172476" cy="5876709"/>
            <a:chOff x="3985528" y="1057491"/>
            <a:chExt cx="5172476" cy="5876709"/>
          </a:xfrm>
        </p:grpSpPr>
        <p:sp>
          <p:nvSpPr>
            <p:cNvPr id="48" name="Rectangle 14">
              <a:extLst>
                <a:ext uri="{FF2B5EF4-FFF2-40B4-BE49-F238E27FC236}">
                  <a16:creationId xmlns:a16="http://schemas.microsoft.com/office/drawing/2014/main" xmlns="" id="{3C6BC731-BCC7-4ECB-9878-B084C0C64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1328954"/>
              <a:ext cx="2789237" cy="487362"/>
            </a:xfrm>
            <a:prstGeom prst="rect">
              <a:avLst/>
            </a:prstGeom>
            <a:solidFill>
              <a:srgbClr val="F1C7C7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Kernel virtual memory</a:t>
              </a:r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xmlns="" id="{71DF70EE-8BA3-40E2-AC0D-4E5BC103D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3030754"/>
              <a:ext cx="2789237" cy="669925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Memory-mapped region for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shared libraries</a:t>
              </a:r>
            </a:p>
          </p:txBody>
        </p:sp>
        <p:sp>
          <p:nvSpPr>
            <p:cNvPr id="50" name="Rectangle 16">
              <a:extLst>
                <a:ext uri="{FF2B5EF4-FFF2-40B4-BE49-F238E27FC236}">
                  <a16:creationId xmlns:a16="http://schemas.microsoft.com/office/drawing/2014/main" xmlns="" id="{4467A38E-A137-4ED9-A1C9-28C0DC7D7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3695916"/>
              <a:ext cx="2789237" cy="723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18">
              <a:extLst>
                <a:ext uri="{FF2B5EF4-FFF2-40B4-BE49-F238E27FC236}">
                  <a16:creationId xmlns:a16="http://schemas.microsoft.com/office/drawing/2014/main" xmlns="" id="{68B8D680-7A45-47D5-B75E-C44C19F68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2121116"/>
              <a:ext cx="2789237" cy="9064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19">
              <a:extLst>
                <a:ext uri="{FF2B5EF4-FFF2-40B4-BE49-F238E27FC236}">
                  <a16:creationId xmlns:a16="http://schemas.microsoft.com/office/drawing/2014/main" xmlns="" id="{DEE5B908-3B29-4F80-8A43-61B4052051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8782" y="4024529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20">
              <a:extLst>
                <a:ext uri="{FF2B5EF4-FFF2-40B4-BE49-F238E27FC236}">
                  <a16:creationId xmlns:a16="http://schemas.microsoft.com/office/drawing/2014/main" xmlns="" id="{DC92565D-8865-4ED7-ABD4-8546053FB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1786154"/>
              <a:ext cx="2789237" cy="563562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User stack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(created at runtime)</a:t>
              </a:r>
            </a:p>
          </p:txBody>
        </p:sp>
        <p:sp>
          <p:nvSpPr>
            <p:cNvPr id="55" name="Line 21">
              <a:extLst>
                <a:ext uri="{FF2B5EF4-FFF2-40B4-BE49-F238E27FC236}">
                  <a16:creationId xmlns:a16="http://schemas.microsoft.com/office/drawing/2014/main" xmlns="" id="{489F7873-687C-4A92-B1E0-FFF5AB5646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8782" y="2805329"/>
              <a:ext cx="1588" cy="2317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22">
              <a:extLst>
                <a:ext uri="{FF2B5EF4-FFF2-40B4-BE49-F238E27FC236}">
                  <a16:creationId xmlns:a16="http://schemas.microsoft.com/office/drawing/2014/main" xmlns="" id="{7F85D09C-7BA7-4CEC-A02C-8D764B099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8782" y="2349716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23">
              <a:extLst>
                <a:ext uri="{FF2B5EF4-FFF2-40B4-BE49-F238E27FC236}">
                  <a16:creationId xmlns:a16="http://schemas.microsoft.com/office/drawing/2014/main" xmlns="" id="{D93691E9-1304-4426-A712-535E2AAED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6379849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Unused</a:t>
              </a:r>
            </a:p>
          </p:txBody>
        </p:sp>
        <p:sp>
          <p:nvSpPr>
            <p:cNvPr id="58" name="Text Box 24">
              <a:extLst>
                <a:ext uri="{FF2B5EF4-FFF2-40B4-BE49-F238E27FC236}">
                  <a16:creationId xmlns:a16="http://schemas.microsoft.com/office/drawing/2014/main" xmlns="" id="{69070789-7074-4E29-9825-CA4717045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3026" y="6598401"/>
              <a:ext cx="285954" cy="33579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0</a:t>
              </a:r>
            </a:p>
          </p:txBody>
        </p:sp>
        <p:sp>
          <p:nvSpPr>
            <p:cNvPr id="59" name="Text Box 25">
              <a:extLst>
                <a:ext uri="{FF2B5EF4-FFF2-40B4-BE49-F238E27FC236}">
                  <a16:creationId xmlns:a16="http://schemas.microsoft.com/office/drawing/2014/main" xmlns="" id="{3A65B827-6A3C-4488-88A6-40D81BD39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6053" y="2175091"/>
              <a:ext cx="869831" cy="80855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%</a:t>
              </a:r>
              <a:r>
                <a:rPr lang="en-GB" sz="1600" b="1" dirty="0" err="1">
                  <a:latin typeface="Courier New" pitchFamily="49" charset="0"/>
                  <a:ea typeface="msgothic" charset="0"/>
                  <a:cs typeface="msgothic" charset="0"/>
                </a:rPr>
                <a:t>rsp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(stack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pointer)</a:t>
              </a:r>
            </a:p>
          </p:txBody>
        </p:sp>
        <p:sp>
          <p:nvSpPr>
            <p:cNvPr id="60" name="Line 26">
              <a:extLst>
                <a:ext uri="{FF2B5EF4-FFF2-40B4-BE49-F238E27FC236}">
                  <a16:creationId xmlns:a16="http://schemas.microsoft.com/office/drawing/2014/main" xmlns="" id="{0DE4F69E-885B-4E2B-A696-A98D610F5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39666" y="2346541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Box 27">
              <a:extLst>
                <a:ext uri="{FF2B5EF4-FFF2-40B4-BE49-F238E27FC236}">
                  <a16:creationId xmlns:a16="http://schemas.microsoft.com/office/drawing/2014/main" xmlns="" id="{3095C856-5C32-4095-A5F8-54ECCE767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8032" y="1057491"/>
              <a:ext cx="1149972" cy="81836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Memory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invisible to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user code</a:t>
              </a:r>
            </a:p>
          </p:txBody>
        </p:sp>
        <p:sp>
          <p:nvSpPr>
            <p:cNvPr id="62" name="Line 28">
              <a:extLst>
                <a:ext uri="{FF2B5EF4-FFF2-40B4-BE49-F238E27FC236}">
                  <a16:creationId xmlns:a16="http://schemas.microsoft.com/office/drawing/2014/main" xmlns="" id="{9974C533-5AC4-4A28-AA60-8A8181E18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55632" y="1324459"/>
              <a:ext cx="1588" cy="4603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29">
              <a:extLst>
                <a:ext uri="{FF2B5EF4-FFF2-40B4-BE49-F238E27FC236}">
                  <a16:creationId xmlns:a16="http://schemas.microsoft.com/office/drawing/2014/main" xmlns="" id="{F5216458-C0DC-4DA7-9E11-D6122C2BE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0120" y="4240429"/>
              <a:ext cx="552052" cy="32598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itchFamily="49" charset="0"/>
                  <a:ea typeface="msgothic" charset="0"/>
                  <a:cs typeface="msgothic" charset="0"/>
                </a:rPr>
                <a:t>brk</a:t>
              </a:r>
            </a:p>
          </p:txBody>
        </p:sp>
        <p:sp>
          <p:nvSpPr>
            <p:cNvPr id="64" name="Line 30">
              <a:extLst>
                <a:ext uri="{FF2B5EF4-FFF2-40B4-BE49-F238E27FC236}">
                  <a16:creationId xmlns:a16="http://schemas.microsoft.com/office/drawing/2014/main" xmlns="" id="{0D03DCEE-4D5D-474D-B273-F51B91F9B2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15945" y="4407116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Box 32">
              <a:extLst>
                <a:ext uri="{FF2B5EF4-FFF2-40B4-BE49-F238E27FC236}">
                  <a16:creationId xmlns:a16="http://schemas.microsoft.com/office/drawing/2014/main" xmlns="" id="{A9EA6A47-1273-4984-91DA-0AD78F8EC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528" y="6256343"/>
              <a:ext cx="1043672" cy="29918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latin typeface="Courier New" pitchFamily="49" charset="0"/>
                  <a:ea typeface="msgothic" charset="0"/>
                  <a:cs typeface="msgothic" charset="0"/>
                </a:rPr>
                <a:t>0x400000</a:t>
              </a:r>
            </a:p>
          </p:txBody>
        </p:sp>
        <p:sp>
          <p:nvSpPr>
            <p:cNvPr id="66" name="Rectangle 34">
              <a:extLst>
                <a:ext uri="{FF2B5EF4-FFF2-40B4-BE49-F238E27FC236}">
                  <a16:creationId xmlns:a16="http://schemas.microsoft.com/office/drawing/2014/main" xmlns="" id="{A34C9A30-356D-41C0-A8B6-38A25A8CB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5084449"/>
              <a:ext cx="2789238" cy="669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Read/write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(.</a:t>
              </a: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data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, .</a:t>
              </a:r>
              <a:r>
                <a:rPr lang="en-GB" sz="1600" b="1" dirty="0" err="1">
                  <a:latin typeface="Courier New" pitchFamily="49" charset="0"/>
                  <a:ea typeface="msgothic" charset="0"/>
                  <a:cs typeface="msgothic" charset="0"/>
                </a:rPr>
                <a:t>bss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)</a:t>
              </a:r>
            </a:p>
          </p:txBody>
        </p:sp>
        <p:sp>
          <p:nvSpPr>
            <p:cNvPr id="67" name="Rectangle 35">
              <a:extLst>
                <a:ext uri="{FF2B5EF4-FFF2-40B4-BE49-F238E27FC236}">
                  <a16:creationId xmlns:a16="http://schemas.microsoft.com/office/drawing/2014/main" xmlns="" id="{F6E1B079-3169-48E3-B21E-9B83D7C1D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5709924"/>
              <a:ext cx="2789238" cy="669925"/>
            </a:xfrm>
            <a:prstGeom prst="rect">
              <a:avLst/>
            </a:prstGeom>
            <a:solidFill>
              <a:srgbClr val="F6F5BD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Read-only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</a:t>
              </a: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.init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, .</a:t>
              </a: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text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, </a:t>
              </a: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.</a:t>
              </a:r>
              <a:r>
                <a:rPr lang="en-GB" sz="1600" b="1" dirty="0" err="1">
                  <a:latin typeface="Courier New" pitchFamily="49" charset="0"/>
                  <a:ea typeface="msgothic" charset="0"/>
                  <a:cs typeface="msgothic" charset="0"/>
                </a:rPr>
                <a:t>rodata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)</a:t>
              </a:r>
            </a:p>
          </p:txBody>
        </p:sp>
        <p:sp>
          <p:nvSpPr>
            <p:cNvPr id="68" name="AutoShape 36">
              <a:extLst>
                <a:ext uri="{FF2B5EF4-FFF2-40B4-BE49-F238E27FC236}">
                  <a16:creationId xmlns:a16="http://schemas.microsoft.com/office/drawing/2014/main" xmlns="" id="{A5118769-711D-4D83-971A-3B3ED1712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6582" y="5092916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Text Box 37">
              <a:extLst>
                <a:ext uri="{FF2B5EF4-FFF2-40B4-BE49-F238E27FC236}">
                  <a16:creationId xmlns:a16="http://schemas.microsoft.com/office/drawing/2014/main" xmlns="" id="{BDD0E81B-FCD2-476D-9F94-60248BFF3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8982" y="5077041"/>
              <a:ext cx="1149459" cy="130093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Loaded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from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the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executable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file</a:t>
              </a:r>
            </a:p>
          </p:txBody>
        </p:sp>
        <p:sp>
          <p:nvSpPr>
            <p:cNvPr id="51" name="Rectangle 17">
              <a:extLst>
                <a:ext uri="{FF2B5EF4-FFF2-40B4-BE49-F238E27FC236}">
                  <a16:creationId xmlns:a16="http://schemas.microsoft.com/office/drawing/2014/main" xmlns="" id="{8D2750E6-4CB4-4B36-B725-F6B8B2E9C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2" y="4417699"/>
              <a:ext cx="2789237" cy="669925"/>
            </a:xfrm>
            <a:prstGeom prst="rect">
              <a:avLst/>
            </a:prstGeom>
            <a:solidFill>
              <a:srgbClr val="D5F1CF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Run-time heap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(created by </a:t>
              </a:r>
              <a:r>
                <a:rPr lang="en-GB" sz="1600" b="1" dirty="0" err="1">
                  <a:latin typeface="Courier New" pitchFamily="49" charset="0"/>
                  <a:ea typeface="msgothic" charset="0"/>
                  <a:cs typeface="msgothic" charset="0"/>
                </a:rPr>
                <a:t>malloc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116058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Memory Allocation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671637"/>
            <a:ext cx="7896225" cy="4348163"/>
          </a:xfrm>
        </p:spPr>
        <p:txBody>
          <a:bodyPr/>
          <a:lstStyle/>
          <a:p>
            <a:r>
              <a:rPr lang="en-US" dirty="0"/>
              <a:t>Allocator maintains heap as collection of variable sized </a:t>
            </a:r>
            <a:r>
              <a:rPr lang="en-US" i="1" dirty="0">
                <a:solidFill>
                  <a:srgbClr val="990000"/>
                </a:solidFill>
              </a:rPr>
              <a:t>blocks</a:t>
            </a:r>
            <a:r>
              <a:rPr lang="en-US" dirty="0">
                <a:solidFill>
                  <a:srgbClr val="000000"/>
                </a:solidFill>
              </a:rPr>
              <a:t>, which are either </a:t>
            </a:r>
            <a:r>
              <a:rPr lang="en-US" i="1" dirty="0">
                <a:solidFill>
                  <a:srgbClr val="990000"/>
                </a:solidFill>
              </a:rPr>
              <a:t>allocated</a:t>
            </a:r>
            <a:r>
              <a:rPr lang="en-US" dirty="0">
                <a:solidFill>
                  <a:srgbClr val="000000"/>
                </a:solidFill>
              </a:rPr>
              <a:t> or </a:t>
            </a:r>
            <a:r>
              <a:rPr lang="en-US" i="1" dirty="0">
                <a:solidFill>
                  <a:srgbClr val="990000"/>
                </a:solidFill>
              </a:rPr>
              <a:t>free</a:t>
            </a:r>
          </a:p>
          <a:p>
            <a:r>
              <a:rPr lang="en-US" dirty="0"/>
              <a:t>Types of allocators</a:t>
            </a:r>
          </a:p>
          <a:p>
            <a:pPr lvl="1"/>
            <a:r>
              <a:rPr lang="en-US" b="1" i="1" dirty="0">
                <a:solidFill>
                  <a:srgbClr val="990000"/>
                </a:solidFill>
              </a:rPr>
              <a:t>Explicit allocator</a:t>
            </a:r>
            <a:r>
              <a:rPr lang="en-US" b="1" dirty="0"/>
              <a:t>:  </a:t>
            </a:r>
            <a:r>
              <a:rPr lang="en-US" dirty="0"/>
              <a:t>application allocates and frees space </a:t>
            </a:r>
          </a:p>
          <a:p>
            <a:pPr lvl="2"/>
            <a:r>
              <a:rPr lang="en-US" dirty="0"/>
              <a:t>E.g.,  </a:t>
            </a:r>
            <a:r>
              <a:rPr lang="en-US" b="1" dirty="0" err="1">
                <a:latin typeface="Courier New"/>
                <a:cs typeface="Courier New"/>
              </a:rPr>
              <a:t>malloc</a:t>
            </a:r>
            <a:r>
              <a:rPr lang="en-US" dirty="0"/>
              <a:t> and </a:t>
            </a:r>
            <a:r>
              <a:rPr lang="en-US" b="1" dirty="0">
                <a:latin typeface="Courier New"/>
                <a:cs typeface="Courier New"/>
              </a:rPr>
              <a:t>free</a:t>
            </a:r>
            <a:r>
              <a:rPr lang="en-US" dirty="0"/>
              <a:t> in C</a:t>
            </a:r>
          </a:p>
          <a:p>
            <a:pPr lvl="1"/>
            <a:r>
              <a:rPr lang="en-US" b="1" i="1" dirty="0">
                <a:solidFill>
                  <a:srgbClr val="990000"/>
                </a:solidFill>
              </a:rPr>
              <a:t>Implicit allocator:</a:t>
            </a:r>
            <a:r>
              <a:rPr lang="en-US" dirty="0"/>
              <a:t> application allocates, but does not free space</a:t>
            </a:r>
          </a:p>
          <a:p>
            <a:pPr lvl="2"/>
            <a:r>
              <a:rPr lang="en-US" dirty="0"/>
              <a:t>E.g.,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 and garbage collection in Java</a:t>
            </a:r>
          </a:p>
          <a:p>
            <a:endParaRPr lang="en-US" dirty="0"/>
          </a:p>
          <a:p>
            <a:r>
              <a:rPr lang="en-US" dirty="0"/>
              <a:t>Will discuss simple explicit memory allocation today</a:t>
            </a:r>
          </a:p>
        </p:txBody>
      </p:sp>
    </p:spTree>
    <p:extLst>
      <p:ext uri="{BB962C8B-B14F-4D97-AF65-F5344CB8AC3E}">
        <p14:creationId xmlns:p14="http://schemas.microsoft.com/office/powerpoint/2010/main" val="36517847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xfrm>
            <a:off x="424248" y="417513"/>
            <a:ext cx="5943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The </a:t>
            </a:r>
            <a:r>
              <a:rPr lang="en-GB" dirty="0" err="1">
                <a:latin typeface="Courier New"/>
                <a:cs typeface="Courier New"/>
              </a:rPr>
              <a:t>malloc</a:t>
            </a:r>
            <a:r>
              <a:rPr lang="en-GB" dirty="0"/>
              <a:t> Package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2913" y="1126524"/>
            <a:ext cx="8624887" cy="5486400"/>
          </a:xfrm>
          <a:ln/>
        </p:spPr>
        <p:txBody>
          <a:bodyPr/>
          <a:lstStyle/>
          <a:p>
            <a:pPr marL="346075" indent="-346075">
              <a:lnSpc>
                <a:spcPct val="94000"/>
              </a:lnSpc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dirty="0">
                <a:latin typeface="Courier New" pitchFamily="49" charset="0"/>
              </a:rPr>
              <a:t>#include &lt;</a:t>
            </a:r>
            <a:r>
              <a:rPr lang="en-GB" sz="2000" dirty="0" err="1">
                <a:latin typeface="Courier New" pitchFamily="49" charset="0"/>
              </a:rPr>
              <a:t>stdlib.h</a:t>
            </a:r>
            <a:r>
              <a:rPr lang="en-GB" sz="2000" dirty="0">
                <a:latin typeface="Courier New" pitchFamily="49" charset="0"/>
              </a:rPr>
              <a:t>&gt;</a:t>
            </a:r>
          </a:p>
          <a:p>
            <a:pPr marL="346075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dirty="0">
                <a:latin typeface="Courier New" pitchFamily="49" charset="0"/>
              </a:rPr>
              <a:t>void *</a:t>
            </a:r>
            <a:r>
              <a:rPr lang="en-GB" sz="2000" dirty="0" err="1">
                <a:latin typeface="Courier New" pitchFamily="49" charset="0"/>
              </a:rPr>
              <a:t>malloc</a:t>
            </a:r>
            <a:r>
              <a:rPr lang="en-GB" sz="2000" dirty="0">
                <a:latin typeface="Courier New" pitchFamily="49" charset="0"/>
              </a:rPr>
              <a:t>(</a:t>
            </a:r>
            <a:r>
              <a:rPr lang="en-GB" sz="2000" dirty="0" err="1">
                <a:latin typeface="Courier New" pitchFamily="49" charset="0"/>
              </a:rPr>
              <a:t>size_t</a:t>
            </a:r>
            <a:r>
              <a:rPr lang="en-GB" sz="2000" dirty="0">
                <a:latin typeface="Courier New" pitchFamily="49" charset="0"/>
              </a:rPr>
              <a:t> size)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Successful:</a:t>
            </a:r>
          </a:p>
          <a:p>
            <a:pPr lvl="2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Returns a pointer to a memory block of at least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size</a:t>
            </a:r>
            <a:r>
              <a:rPr lang="en-GB" dirty="0"/>
              <a:t> bytes</a:t>
            </a:r>
            <a:br>
              <a:rPr lang="en-GB" dirty="0"/>
            </a:br>
            <a:r>
              <a:rPr lang="en-GB" dirty="0"/>
              <a:t>aligned to a 16-byte boundary (on x86-64)</a:t>
            </a:r>
          </a:p>
          <a:p>
            <a:pPr lvl="2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If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size == 0</a:t>
            </a:r>
            <a:r>
              <a:rPr lang="en-GB" dirty="0"/>
              <a:t>, returns NULL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Unsuccessful: returns NULL (0) and sets </a:t>
            </a:r>
            <a:r>
              <a:rPr lang="en-GB" b="1" dirty="0" err="1">
                <a:latin typeface="Courier New"/>
                <a:cs typeface="Courier New"/>
              </a:rPr>
              <a:t>errno</a:t>
            </a:r>
            <a:r>
              <a:rPr lang="en-GB" b="1" dirty="0">
                <a:latin typeface="Courier New"/>
                <a:cs typeface="Courier New"/>
              </a:rPr>
              <a:t> </a:t>
            </a:r>
            <a:r>
              <a:rPr lang="en-GB" dirty="0">
                <a:latin typeface="+mn-lt"/>
                <a:cs typeface="Courier New"/>
              </a:rPr>
              <a:t>to</a:t>
            </a:r>
            <a:r>
              <a:rPr lang="en-GB" b="1" dirty="0">
                <a:latin typeface="Courier New"/>
                <a:cs typeface="Courier New"/>
              </a:rPr>
              <a:t> </a:t>
            </a:r>
            <a:r>
              <a:rPr lang="en-GB" dirty="0">
                <a:latin typeface="+mn-lt"/>
                <a:cs typeface="Courier New"/>
              </a:rPr>
              <a:t>ENOMEM</a:t>
            </a:r>
          </a:p>
          <a:p>
            <a:pPr marL="346075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dirty="0">
                <a:latin typeface="Courier New" pitchFamily="49" charset="0"/>
              </a:rPr>
              <a:t>void free(void *p)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Returns the block pointed at by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GB" dirty="0"/>
              <a:t> to pool of available memory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GB" dirty="0"/>
              <a:t> must come from a previous call to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/>
              <a:t>or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realloc</a:t>
            </a:r>
            <a:endParaRPr lang="en-GB" b="1" dirty="0">
              <a:latin typeface="Courier New" pitchFamily="49" charset="0"/>
              <a:cs typeface="Courier New" pitchFamily="49" charset="0"/>
            </a:endParaRPr>
          </a:p>
          <a:p>
            <a:pPr marL="346075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dirty="0">
                <a:latin typeface="+mn-lt"/>
              </a:rPr>
              <a:t>Other functions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 err="1">
                <a:latin typeface="Courier New"/>
                <a:cs typeface="Courier New"/>
              </a:rPr>
              <a:t>calloc</a:t>
            </a:r>
            <a:r>
              <a:rPr lang="en-GB" b="1" dirty="0"/>
              <a:t>:</a:t>
            </a:r>
            <a:r>
              <a:rPr lang="en-GB" dirty="0"/>
              <a:t> Version of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dirty="0"/>
              <a:t> that initializes allocated block to zero. 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 err="1">
                <a:latin typeface="Courier New"/>
                <a:cs typeface="Courier New"/>
              </a:rPr>
              <a:t>realloc</a:t>
            </a:r>
            <a:r>
              <a:rPr lang="en-GB" b="1" dirty="0">
                <a:latin typeface="Courier New"/>
                <a:cs typeface="Courier New"/>
              </a:rPr>
              <a:t>:</a:t>
            </a:r>
            <a:r>
              <a:rPr lang="en-GB" dirty="0"/>
              <a:t> Changes the size of a previously allocated block.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 err="1">
                <a:latin typeface="Courier New"/>
                <a:cs typeface="Courier New"/>
              </a:rPr>
              <a:t>sbrk</a:t>
            </a:r>
            <a:r>
              <a:rPr lang="en-GB" b="1" dirty="0"/>
              <a:t>:</a:t>
            </a:r>
            <a:r>
              <a:rPr lang="en-GB" dirty="0"/>
              <a:t> Used internally by allocators to grow or shrink the heap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056534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07772" y="398978"/>
            <a:ext cx="5943600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>
                <a:latin typeface="Courier New"/>
                <a:cs typeface="Courier New"/>
              </a:rPr>
              <a:t>malloc</a:t>
            </a:r>
            <a:r>
              <a:rPr lang="en-GB" dirty="0"/>
              <a:t> Example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533400" y="1143000"/>
            <a:ext cx="8077200" cy="5265161"/>
          </a:xfrm>
          <a:prstGeom prst="rect">
            <a:avLst/>
          </a:prstGeom>
          <a:solidFill>
            <a:srgbClr val="F6F5BD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9264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9264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1651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fr-FR" sz="1600" dirty="0">
                <a:solidFill>
                  <a:srgbClr val="C1651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fr-FR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Allocate</a:t>
            </a:r>
            <a:r>
              <a:rPr lang="fr-FR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block of n </a:t>
            </a:r>
            <a:r>
              <a:rPr lang="fr-FR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</a:t>
            </a:r>
            <a:r>
              <a:rPr lang="fr-FR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 = (</a:t>
            </a:r>
            <a:r>
              <a:rPr lang="en-US" sz="1600" dirty="0" err="1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*)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 * </a:t>
            </a:r>
            <a:r>
              <a:rPr lang="en-US" sz="1600" dirty="0" err="1">
                <a:solidFill>
                  <a:srgbClr val="C2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== </a:t>
            </a:r>
            <a:r>
              <a:rPr lang="en-US" sz="1600" dirty="0">
                <a:solidFill>
                  <a:srgbClr val="2C929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i-FI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perror(</a:t>
            </a:r>
            <a:r>
              <a:rPr lang="fi-FI" sz="1600" dirty="0" err="1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"malloc</a:t>
            </a:r>
            <a:r>
              <a:rPr lang="fi-FI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exit(0);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fi-FI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i-FI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fi-FI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Initialize</a:t>
            </a:r>
            <a:r>
              <a:rPr lang="fi-FI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allocated</a:t>
            </a:r>
            <a:r>
              <a:rPr lang="fi-FI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fi-FI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endParaRPr lang="fi-FI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(i=0; i&lt;n; i++)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p[i] = i;</a:t>
            </a:r>
          </a:p>
          <a:p>
            <a:endParaRPr lang="da-DK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a-DK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a-DK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Return </a:t>
            </a:r>
            <a:r>
              <a:rPr lang="da-DK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allocated</a:t>
            </a:r>
            <a:r>
              <a:rPr lang="da-DK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da-DK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the </a:t>
            </a:r>
            <a:r>
              <a:rPr lang="da-DK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</a:t>
            </a:r>
            <a:r>
              <a:rPr lang="da-DK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endParaRPr lang="da-DK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free(p);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452783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" y="435678"/>
            <a:ext cx="8991600" cy="762000"/>
          </a:xfrm>
        </p:spPr>
        <p:txBody>
          <a:bodyPr/>
          <a:lstStyle/>
          <a:p>
            <a:r>
              <a:rPr lang="en-GB" dirty="0"/>
              <a:t>Simplifying Assumptions Made in This Lecture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Memory is word addressed.</a:t>
            </a:r>
          </a:p>
          <a:p>
            <a:r>
              <a:rPr lang="en-GB" dirty="0"/>
              <a:t>Words are </a:t>
            </a:r>
            <a:r>
              <a:rPr lang="en-GB" dirty="0" err="1"/>
              <a:t>int</a:t>
            </a:r>
            <a:r>
              <a:rPr lang="en-GB" dirty="0"/>
              <a:t>-sized.</a:t>
            </a:r>
          </a:p>
          <a:p>
            <a:r>
              <a:rPr lang="en-GB" dirty="0"/>
              <a:t>Allocations are double-word aligned.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13001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16049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19097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22145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25193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28241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128962" y="3918718"/>
            <a:ext cx="3048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3433762" y="3918718"/>
            <a:ext cx="3048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37385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40433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43481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46529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49577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52625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55673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58721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61769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64817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67865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70913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1186248" y="4572000"/>
            <a:ext cx="1484166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Allocated block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(4 words)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4130307" y="4572000"/>
            <a:ext cx="1095469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Free block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(2 words)</a:t>
            </a:r>
          </a:p>
        </p:txBody>
      </p: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6532256" y="484580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6532256" y="522680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6913256" y="4845801"/>
            <a:ext cx="10424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Free word</a:t>
            </a:r>
          </a:p>
        </p:txBody>
      </p:sp>
      <p:sp>
        <p:nvSpPr>
          <p:cNvPr id="10270" name="Text Box 30"/>
          <p:cNvSpPr txBox="1">
            <a:spLocks noChangeArrowheads="1"/>
          </p:cNvSpPr>
          <p:nvPr/>
        </p:nvSpPr>
        <p:spPr bwMode="auto">
          <a:xfrm>
            <a:off x="6910081" y="5226801"/>
            <a:ext cx="1471919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Allocated word</a:t>
            </a:r>
          </a:p>
        </p:txBody>
      </p:sp>
      <p:sp>
        <p:nvSpPr>
          <p:cNvPr id="32" name="AutoShape 17"/>
          <p:cNvSpPr>
            <a:spLocks/>
          </p:cNvSpPr>
          <p:nvPr/>
        </p:nvSpPr>
        <p:spPr bwMode="auto">
          <a:xfrm rot="16200000">
            <a:off x="1827796" y="3766318"/>
            <a:ext cx="182880" cy="1188720"/>
          </a:xfrm>
          <a:prstGeom prst="leftBrace">
            <a:avLst>
              <a:gd name="adj1" fmla="val 33333"/>
              <a:gd name="adj2" fmla="val 50901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AutoShape 17"/>
          <p:cNvSpPr>
            <a:spLocks/>
          </p:cNvSpPr>
          <p:nvPr/>
        </p:nvSpPr>
        <p:spPr bwMode="auto">
          <a:xfrm rot="16200000">
            <a:off x="4575400" y="4067718"/>
            <a:ext cx="180842" cy="583882"/>
          </a:xfrm>
          <a:prstGeom prst="leftBrace">
            <a:avLst>
              <a:gd name="adj1" fmla="val 33333"/>
              <a:gd name="adj2" fmla="val 50901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2480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93713"/>
            <a:ext cx="64643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Allocation Example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176831" y="1582738"/>
            <a:ext cx="2663206" cy="354906"/>
          </a:xfrm>
          <a:prstGeom prst="rect">
            <a:avLst/>
          </a:prstGeom>
          <a:solidFill>
            <a:srgbClr val="F6F5BD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p1 = malloc(4*SIZ)</a:t>
            </a:r>
          </a:p>
        </p:txBody>
      </p:sp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176831" y="2464826"/>
            <a:ext cx="2663206" cy="354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p2 = malloc(5*SIZ)</a:t>
            </a:r>
          </a:p>
        </p:txBody>
      </p:sp>
      <p:sp>
        <p:nvSpPr>
          <p:cNvPr id="11319" name="Text Box 55"/>
          <p:cNvSpPr txBox="1">
            <a:spLocks noChangeArrowheads="1"/>
          </p:cNvSpPr>
          <p:nvPr/>
        </p:nvSpPr>
        <p:spPr bwMode="auto">
          <a:xfrm>
            <a:off x="176831" y="3365128"/>
            <a:ext cx="2663206" cy="354906"/>
          </a:xfrm>
          <a:prstGeom prst="rect">
            <a:avLst/>
          </a:prstGeom>
          <a:solidFill>
            <a:srgbClr val="F1C7C7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p3 = malloc(6*SIZ)</a:t>
            </a:r>
          </a:p>
        </p:txBody>
      </p:sp>
      <p:sp>
        <p:nvSpPr>
          <p:cNvPr id="11337" name="Text Box 73"/>
          <p:cNvSpPr txBox="1">
            <a:spLocks noChangeArrowheads="1"/>
          </p:cNvSpPr>
          <p:nvPr/>
        </p:nvSpPr>
        <p:spPr bwMode="auto">
          <a:xfrm>
            <a:off x="533400" y="4244975"/>
            <a:ext cx="1284624" cy="359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</a:rPr>
              <a:t>free(p2)</a:t>
            </a:r>
          </a:p>
        </p:txBody>
      </p:sp>
      <p:sp>
        <p:nvSpPr>
          <p:cNvPr id="11355" name="Text Box 91"/>
          <p:cNvSpPr txBox="1">
            <a:spLocks noChangeArrowheads="1"/>
          </p:cNvSpPr>
          <p:nvPr/>
        </p:nvSpPr>
        <p:spPr bwMode="auto">
          <a:xfrm>
            <a:off x="176831" y="5128926"/>
            <a:ext cx="2663206" cy="354906"/>
          </a:xfrm>
          <a:prstGeom prst="rect">
            <a:avLst/>
          </a:prstGeom>
          <a:solidFill>
            <a:srgbClr val="D5F1CF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p4 = malloc(2*SIZ)</a:t>
            </a:r>
          </a:p>
        </p:txBody>
      </p:sp>
      <p:sp>
        <p:nvSpPr>
          <p:cNvPr id="99" name="Text Box 19"/>
          <p:cNvSpPr txBox="1">
            <a:spLocks noChangeArrowheads="1"/>
          </p:cNvSpPr>
          <p:nvPr/>
        </p:nvSpPr>
        <p:spPr bwMode="auto">
          <a:xfrm>
            <a:off x="5278437" y="500547"/>
            <a:ext cx="3352498" cy="354906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#define SIZ </a:t>
            </a:r>
            <a:r>
              <a:rPr lang="en-GB" sz="1800" b="1" dirty="0" err="1">
                <a:latin typeface="Courier New" pitchFamily="49" charset="0"/>
              </a:rPr>
              <a:t>sizeof</a:t>
            </a:r>
            <a:r>
              <a:rPr lang="en-GB" sz="1800" b="1" dirty="0">
                <a:latin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</a:rPr>
              <a:t>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992437" y="1614488"/>
            <a:ext cx="5486400" cy="304800"/>
            <a:chOff x="2992437" y="1614488"/>
            <a:chExt cx="5486400" cy="304800"/>
          </a:xfrm>
        </p:grpSpPr>
        <p:grpSp>
          <p:nvGrpSpPr>
            <p:cNvPr id="98" name="Group 97"/>
            <p:cNvGrpSpPr/>
            <p:nvPr/>
          </p:nvGrpSpPr>
          <p:grpSpPr>
            <a:xfrm>
              <a:off x="2992437" y="1614488"/>
              <a:ext cx="5181600" cy="304800"/>
              <a:chOff x="3006724" y="1614488"/>
              <a:chExt cx="5181600" cy="304800"/>
            </a:xfrm>
          </p:grpSpPr>
          <p:sp>
            <p:nvSpPr>
              <p:cNvPr id="11266" name="Rectangle 2"/>
              <p:cNvSpPr>
                <a:spLocks noChangeArrowheads="1"/>
              </p:cNvSpPr>
              <p:nvPr/>
            </p:nvSpPr>
            <p:spPr bwMode="auto">
              <a:xfrm>
                <a:off x="30067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7" name="Rectangle 3"/>
              <p:cNvSpPr>
                <a:spLocks noChangeArrowheads="1"/>
              </p:cNvSpPr>
              <p:nvPr/>
            </p:nvSpPr>
            <p:spPr bwMode="auto">
              <a:xfrm>
                <a:off x="33115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8" name="Rectangle 4"/>
              <p:cNvSpPr>
                <a:spLocks noChangeArrowheads="1"/>
              </p:cNvSpPr>
              <p:nvPr/>
            </p:nvSpPr>
            <p:spPr bwMode="auto">
              <a:xfrm>
                <a:off x="36163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9" name="Rectangle 5"/>
              <p:cNvSpPr>
                <a:spLocks noChangeArrowheads="1"/>
              </p:cNvSpPr>
              <p:nvPr/>
            </p:nvSpPr>
            <p:spPr bwMode="auto">
              <a:xfrm>
                <a:off x="39211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0" name="Rectangle 6"/>
              <p:cNvSpPr>
                <a:spLocks noChangeArrowheads="1"/>
              </p:cNvSpPr>
              <p:nvPr/>
            </p:nvSpPr>
            <p:spPr bwMode="auto">
              <a:xfrm>
                <a:off x="4225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1" name="Rectangle 7"/>
              <p:cNvSpPr>
                <a:spLocks noChangeArrowheads="1"/>
              </p:cNvSpPr>
              <p:nvPr/>
            </p:nvSpPr>
            <p:spPr bwMode="auto">
              <a:xfrm>
                <a:off x="4530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2" name="Rectangle 8"/>
              <p:cNvSpPr>
                <a:spLocks noChangeArrowheads="1"/>
              </p:cNvSpPr>
              <p:nvPr/>
            </p:nvSpPr>
            <p:spPr bwMode="auto">
              <a:xfrm>
                <a:off x="4835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3" name="Rectangle 9"/>
              <p:cNvSpPr>
                <a:spLocks noChangeArrowheads="1"/>
              </p:cNvSpPr>
              <p:nvPr/>
            </p:nvSpPr>
            <p:spPr bwMode="auto">
              <a:xfrm>
                <a:off x="5140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4" name="Rectangle 10"/>
              <p:cNvSpPr>
                <a:spLocks noChangeArrowheads="1"/>
              </p:cNvSpPr>
              <p:nvPr/>
            </p:nvSpPr>
            <p:spPr bwMode="auto">
              <a:xfrm>
                <a:off x="5445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5" name="Rectangle 11"/>
              <p:cNvSpPr>
                <a:spLocks noChangeArrowheads="1"/>
              </p:cNvSpPr>
              <p:nvPr/>
            </p:nvSpPr>
            <p:spPr bwMode="auto">
              <a:xfrm>
                <a:off x="5749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6" name="Rectangle 12"/>
              <p:cNvSpPr>
                <a:spLocks noChangeArrowheads="1"/>
              </p:cNvSpPr>
              <p:nvPr/>
            </p:nvSpPr>
            <p:spPr bwMode="auto">
              <a:xfrm>
                <a:off x="6054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7" name="Rectangle 13"/>
              <p:cNvSpPr>
                <a:spLocks noChangeArrowheads="1"/>
              </p:cNvSpPr>
              <p:nvPr/>
            </p:nvSpPr>
            <p:spPr bwMode="auto">
              <a:xfrm>
                <a:off x="6359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8" name="Rectangle 14"/>
              <p:cNvSpPr>
                <a:spLocks noChangeArrowheads="1"/>
              </p:cNvSpPr>
              <p:nvPr/>
            </p:nvSpPr>
            <p:spPr bwMode="auto">
              <a:xfrm>
                <a:off x="6664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9" name="Rectangle 15"/>
              <p:cNvSpPr>
                <a:spLocks noChangeArrowheads="1"/>
              </p:cNvSpPr>
              <p:nvPr/>
            </p:nvSpPr>
            <p:spPr bwMode="auto">
              <a:xfrm>
                <a:off x="6969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0" name="Rectangle 16"/>
              <p:cNvSpPr>
                <a:spLocks noChangeArrowheads="1"/>
              </p:cNvSpPr>
              <p:nvPr/>
            </p:nvSpPr>
            <p:spPr bwMode="auto">
              <a:xfrm>
                <a:off x="7273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1" name="Rectangle 17"/>
              <p:cNvSpPr>
                <a:spLocks noChangeArrowheads="1"/>
              </p:cNvSpPr>
              <p:nvPr/>
            </p:nvSpPr>
            <p:spPr bwMode="auto">
              <a:xfrm>
                <a:off x="7578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2" name="Rectangle 18"/>
              <p:cNvSpPr>
                <a:spLocks noChangeArrowheads="1"/>
              </p:cNvSpPr>
              <p:nvPr/>
            </p:nvSpPr>
            <p:spPr bwMode="auto">
              <a:xfrm>
                <a:off x="7883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01" name="Rectangle 9"/>
            <p:cNvSpPr>
              <a:spLocks noChangeArrowheads="1"/>
            </p:cNvSpPr>
            <p:nvPr/>
          </p:nvSpPr>
          <p:spPr bwMode="auto">
            <a:xfrm>
              <a:off x="8174037" y="161448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992437" y="2501901"/>
            <a:ext cx="5486400" cy="304800"/>
            <a:chOff x="2992437" y="2501901"/>
            <a:chExt cx="5486400" cy="304800"/>
          </a:xfrm>
        </p:grpSpPr>
        <p:sp>
          <p:nvSpPr>
            <p:cNvPr id="11284" name="Rectangle 20"/>
            <p:cNvSpPr>
              <a:spLocks noChangeArrowheads="1"/>
            </p:cNvSpPr>
            <p:nvPr/>
          </p:nvSpPr>
          <p:spPr bwMode="auto">
            <a:xfrm>
              <a:off x="29924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5" name="Rectangle 21"/>
            <p:cNvSpPr>
              <a:spLocks noChangeArrowheads="1"/>
            </p:cNvSpPr>
            <p:nvPr/>
          </p:nvSpPr>
          <p:spPr bwMode="auto">
            <a:xfrm>
              <a:off x="32972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6" name="Rectangle 22"/>
            <p:cNvSpPr>
              <a:spLocks noChangeArrowheads="1"/>
            </p:cNvSpPr>
            <p:nvPr/>
          </p:nvSpPr>
          <p:spPr bwMode="auto">
            <a:xfrm>
              <a:off x="36020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7" name="Rectangle 23"/>
            <p:cNvSpPr>
              <a:spLocks noChangeArrowheads="1"/>
            </p:cNvSpPr>
            <p:nvPr/>
          </p:nvSpPr>
          <p:spPr bwMode="auto">
            <a:xfrm>
              <a:off x="39068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8" name="Rectangle 24"/>
            <p:cNvSpPr>
              <a:spLocks noChangeArrowheads="1"/>
            </p:cNvSpPr>
            <p:nvPr/>
          </p:nvSpPr>
          <p:spPr bwMode="auto">
            <a:xfrm>
              <a:off x="42116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Rectangle 25"/>
            <p:cNvSpPr>
              <a:spLocks noChangeArrowheads="1"/>
            </p:cNvSpPr>
            <p:nvPr/>
          </p:nvSpPr>
          <p:spPr bwMode="auto">
            <a:xfrm>
              <a:off x="45164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Rectangle 26"/>
            <p:cNvSpPr>
              <a:spLocks noChangeArrowheads="1"/>
            </p:cNvSpPr>
            <p:nvPr/>
          </p:nvSpPr>
          <p:spPr bwMode="auto">
            <a:xfrm>
              <a:off x="48212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Rectangle 27"/>
            <p:cNvSpPr>
              <a:spLocks noChangeArrowheads="1"/>
            </p:cNvSpPr>
            <p:nvPr/>
          </p:nvSpPr>
          <p:spPr bwMode="auto">
            <a:xfrm>
              <a:off x="51260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2" name="Rectangle 28"/>
            <p:cNvSpPr>
              <a:spLocks noChangeArrowheads="1"/>
            </p:cNvSpPr>
            <p:nvPr/>
          </p:nvSpPr>
          <p:spPr bwMode="auto">
            <a:xfrm>
              <a:off x="54308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3" name="Rectangle 29"/>
            <p:cNvSpPr>
              <a:spLocks noChangeArrowheads="1"/>
            </p:cNvSpPr>
            <p:nvPr/>
          </p:nvSpPr>
          <p:spPr bwMode="auto">
            <a:xfrm>
              <a:off x="5735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" name="Rectangle 30"/>
            <p:cNvSpPr>
              <a:spLocks noChangeArrowheads="1"/>
            </p:cNvSpPr>
            <p:nvPr/>
          </p:nvSpPr>
          <p:spPr bwMode="auto">
            <a:xfrm>
              <a:off x="6040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" name="Rectangle 31"/>
            <p:cNvSpPr>
              <a:spLocks noChangeArrowheads="1"/>
            </p:cNvSpPr>
            <p:nvPr/>
          </p:nvSpPr>
          <p:spPr bwMode="auto">
            <a:xfrm>
              <a:off x="6345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6" name="Rectangle 32"/>
            <p:cNvSpPr>
              <a:spLocks noChangeArrowheads="1"/>
            </p:cNvSpPr>
            <p:nvPr/>
          </p:nvSpPr>
          <p:spPr bwMode="auto">
            <a:xfrm>
              <a:off x="6650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7" name="Rectangle 33"/>
            <p:cNvSpPr>
              <a:spLocks noChangeArrowheads="1"/>
            </p:cNvSpPr>
            <p:nvPr/>
          </p:nvSpPr>
          <p:spPr bwMode="auto">
            <a:xfrm>
              <a:off x="69548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98" name="Rectangle 34"/>
            <p:cNvSpPr>
              <a:spLocks noChangeArrowheads="1"/>
            </p:cNvSpPr>
            <p:nvPr/>
          </p:nvSpPr>
          <p:spPr bwMode="auto">
            <a:xfrm>
              <a:off x="7259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9" name="Rectangle 35"/>
            <p:cNvSpPr>
              <a:spLocks noChangeArrowheads="1"/>
            </p:cNvSpPr>
            <p:nvPr/>
          </p:nvSpPr>
          <p:spPr bwMode="auto">
            <a:xfrm>
              <a:off x="7564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0" name="Rectangle 36"/>
            <p:cNvSpPr>
              <a:spLocks noChangeArrowheads="1"/>
            </p:cNvSpPr>
            <p:nvPr/>
          </p:nvSpPr>
          <p:spPr bwMode="auto">
            <a:xfrm>
              <a:off x="7869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Rectangle 9"/>
            <p:cNvSpPr>
              <a:spLocks noChangeArrowheads="1"/>
            </p:cNvSpPr>
            <p:nvPr/>
          </p:nvSpPr>
          <p:spPr bwMode="auto">
            <a:xfrm>
              <a:off x="8174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992437" y="3389313"/>
            <a:ext cx="5486400" cy="304800"/>
            <a:chOff x="2992437" y="3389313"/>
            <a:chExt cx="5486400" cy="304800"/>
          </a:xfrm>
        </p:grpSpPr>
        <p:sp>
          <p:nvSpPr>
            <p:cNvPr id="11302" name="Rectangle 38"/>
            <p:cNvSpPr>
              <a:spLocks noChangeArrowheads="1"/>
            </p:cNvSpPr>
            <p:nvPr/>
          </p:nvSpPr>
          <p:spPr bwMode="auto">
            <a:xfrm>
              <a:off x="29924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3" name="Rectangle 39"/>
            <p:cNvSpPr>
              <a:spLocks noChangeArrowheads="1"/>
            </p:cNvSpPr>
            <p:nvPr/>
          </p:nvSpPr>
          <p:spPr bwMode="auto">
            <a:xfrm>
              <a:off x="32972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4" name="Rectangle 40"/>
            <p:cNvSpPr>
              <a:spLocks noChangeArrowheads="1"/>
            </p:cNvSpPr>
            <p:nvPr/>
          </p:nvSpPr>
          <p:spPr bwMode="auto">
            <a:xfrm>
              <a:off x="36020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5" name="Rectangle 41"/>
            <p:cNvSpPr>
              <a:spLocks noChangeArrowheads="1"/>
            </p:cNvSpPr>
            <p:nvPr/>
          </p:nvSpPr>
          <p:spPr bwMode="auto">
            <a:xfrm>
              <a:off x="39068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6" name="Rectangle 42"/>
            <p:cNvSpPr>
              <a:spLocks noChangeArrowheads="1"/>
            </p:cNvSpPr>
            <p:nvPr/>
          </p:nvSpPr>
          <p:spPr bwMode="auto">
            <a:xfrm>
              <a:off x="42116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7" name="Rectangle 43"/>
            <p:cNvSpPr>
              <a:spLocks noChangeArrowheads="1"/>
            </p:cNvSpPr>
            <p:nvPr/>
          </p:nvSpPr>
          <p:spPr bwMode="auto">
            <a:xfrm>
              <a:off x="45164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8" name="Rectangle 44"/>
            <p:cNvSpPr>
              <a:spLocks noChangeArrowheads="1"/>
            </p:cNvSpPr>
            <p:nvPr/>
          </p:nvSpPr>
          <p:spPr bwMode="auto">
            <a:xfrm>
              <a:off x="48212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9" name="Rectangle 45"/>
            <p:cNvSpPr>
              <a:spLocks noChangeArrowheads="1"/>
            </p:cNvSpPr>
            <p:nvPr/>
          </p:nvSpPr>
          <p:spPr bwMode="auto">
            <a:xfrm>
              <a:off x="51260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0" name="Rectangle 46"/>
            <p:cNvSpPr>
              <a:spLocks noChangeArrowheads="1"/>
            </p:cNvSpPr>
            <p:nvPr/>
          </p:nvSpPr>
          <p:spPr bwMode="auto">
            <a:xfrm>
              <a:off x="54308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1" name="Rectangle 47"/>
            <p:cNvSpPr>
              <a:spLocks noChangeArrowheads="1"/>
            </p:cNvSpPr>
            <p:nvPr/>
          </p:nvSpPr>
          <p:spPr bwMode="auto">
            <a:xfrm>
              <a:off x="5735637" y="3389313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2" name="Rectangle 48"/>
            <p:cNvSpPr>
              <a:spLocks noChangeArrowheads="1"/>
            </p:cNvSpPr>
            <p:nvPr/>
          </p:nvSpPr>
          <p:spPr bwMode="auto">
            <a:xfrm>
              <a:off x="6040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3" name="Rectangle 49"/>
            <p:cNvSpPr>
              <a:spLocks noChangeArrowheads="1"/>
            </p:cNvSpPr>
            <p:nvPr/>
          </p:nvSpPr>
          <p:spPr bwMode="auto">
            <a:xfrm>
              <a:off x="63452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4" name="Rectangle 50"/>
            <p:cNvSpPr>
              <a:spLocks noChangeArrowheads="1"/>
            </p:cNvSpPr>
            <p:nvPr/>
          </p:nvSpPr>
          <p:spPr bwMode="auto">
            <a:xfrm>
              <a:off x="66500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5" name="Rectangle 51"/>
            <p:cNvSpPr>
              <a:spLocks noChangeArrowheads="1"/>
            </p:cNvSpPr>
            <p:nvPr/>
          </p:nvSpPr>
          <p:spPr bwMode="auto">
            <a:xfrm>
              <a:off x="69548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6" name="Rectangle 52"/>
            <p:cNvSpPr>
              <a:spLocks noChangeArrowheads="1"/>
            </p:cNvSpPr>
            <p:nvPr/>
          </p:nvSpPr>
          <p:spPr bwMode="auto">
            <a:xfrm>
              <a:off x="72596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7" name="Rectangle 53"/>
            <p:cNvSpPr>
              <a:spLocks noChangeArrowheads="1"/>
            </p:cNvSpPr>
            <p:nvPr/>
          </p:nvSpPr>
          <p:spPr bwMode="auto">
            <a:xfrm>
              <a:off x="7564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8" name="Rectangle 54"/>
            <p:cNvSpPr>
              <a:spLocks noChangeArrowheads="1"/>
            </p:cNvSpPr>
            <p:nvPr/>
          </p:nvSpPr>
          <p:spPr bwMode="auto">
            <a:xfrm>
              <a:off x="78692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Rectangle 9"/>
            <p:cNvSpPr>
              <a:spLocks noChangeArrowheads="1"/>
            </p:cNvSpPr>
            <p:nvPr/>
          </p:nvSpPr>
          <p:spPr bwMode="auto">
            <a:xfrm>
              <a:off x="81740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992437" y="4272080"/>
            <a:ext cx="5486400" cy="309446"/>
            <a:chOff x="2992437" y="4272080"/>
            <a:chExt cx="5486400" cy="309446"/>
          </a:xfrm>
        </p:grpSpPr>
        <p:sp>
          <p:nvSpPr>
            <p:cNvPr id="11320" name="Rectangle 56"/>
            <p:cNvSpPr>
              <a:spLocks noChangeArrowheads="1"/>
            </p:cNvSpPr>
            <p:nvPr/>
          </p:nvSpPr>
          <p:spPr bwMode="auto">
            <a:xfrm>
              <a:off x="29924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1" name="Rectangle 57"/>
            <p:cNvSpPr>
              <a:spLocks noChangeArrowheads="1"/>
            </p:cNvSpPr>
            <p:nvPr/>
          </p:nvSpPr>
          <p:spPr bwMode="auto">
            <a:xfrm>
              <a:off x="32972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2" name="Rectangle 58"/>
            <p:cNvSpPr>
              <a:spLocks noChangeArrowheads="1"/>
            </p:cNvSpPr>
            <p:nvPr/>
          </p:nvSpPr>
          <p:spPr bwMode="auto">
            <a:xfrm>
              <a:off x="36020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3" name="Rectangle 59"/>
            <p:cNvSpPr>
              <a:spLocks noChangeArrowheads="1"/>
            </p:cNvSpPr>
            <p:nvPr/>
          </p:nvSpPr>
          <p:spPr bwMode="auto">
            <a:xfrm>
              <a:off x="39068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4" name="Rectangle 60"/>
            <p:cNvSpPr>
              <a:spLocks noChangeArrowheads="1"/>
            </p:cNvSpPr>
            <p:nvPr/>
          </p:nvSpPr>
          <p:spPr bwMode="auto">
            <a:xfrm>
              <a:off x="42116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" name="Rectangle 61"/>
            <p:cNvSpPr>
              <a:spLocks noChangeArrowheads="1"/>
            </p:cNvSpPr>
            <p:nvPr/>
          </p:nvSpPr>
          <p:spPr bwMode="auto">
            <a:xfrm>
              <a:off x="45164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" name="Rectangle 62"/>
            <p:cNvSpPr>
              <a:spLocks noChangeArrowheads="1"/>
            </p:cNvSpPr>
            <p:nvPr/>
          </p:nvSpPr>
          <p:spPr bwMode="auto">
            <a:xfrm>
              <a:off x="4821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7" name="Rectangle 63"/>
            <p:cNvSpPr>
              <a:spLocks noChangeArrowheads="1"/>
            </p:cNvSpPr>
            <p:nvPr/>
          </p:nvSpPr>
          <p:spPr bwMode="auto">
            <a:xfrm>
              <a:off x="51260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8" name="Rectangle 64"/>
            <p:cNvSpPr>
              <a:spLocks noChangeArrowheads="1"/>
            </p:cNvSpPr>
            <p:nvPr/>
          </p:nvSpPr>
          <p:spPr bwMode="auto">
            <a:xfrm>
              <a:off x="54308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9" name="Rectangle 65"/>
            <p:cNvSpPr>
              <a:spLocks noChangeArrowheads="1"/>
            </p:cNvSpPr>
            <p:nvPr/>
          </p:nvSpPr>
          <p:spPr bwMode="auto">
            <a:xfrm>
              <a:off x="5735637" y="4276726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0" name="Rectangle 66"/>
            <p:cNvSpPr>
              <a:spLocks noChangeArrowheads="1"/>
            </p:cNvSpPr>
            <p:nvPr/>
          </p:nvSpPr>
          <p:spPr bwMode="auto">
            <a:xfrm>
              <a:off x="6040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1" name="Rectangle 67"/>
            <p:cNvSpPr>
              <a:spLocks noChangeArrowheads="1"/>
            </p:cNvSpPr>
            <p:nvPr/>
          </p:nvSpPr>
          <p:spPr bwMode="auto">
            <a:xfrm>
              <a:off x="63452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2" name="Rectangle 68"/>
            <p:cNvSpPr>
              <a:spLocks noChangeArrowheads="1"/>
            </p:cNvSpPr>
            <p:nvPr/>
          </p:nvSpPr>
          <p:spPr bwMode="auto">
            <a:xfrm>
              <a:off x="66500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3" name="Rectangle 69"/>
            <p:cNvSpPr>
              <a:spLocks noChangeArrowheads="1"/>
            </p:cNvSpPr>
            <p:nvPr/>
          </p:nvSpPr>
          <p:spPr bwMode="auto">
            <a:xfrm>
              <a:off x="69548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4" name="Rectangle 70"/>
            <p:cNvSpPr>
              <a:spLocks noChangeArrowheads="1"/>
            </p:cNvSpPr>
            <p:nvPr/>
          </p:nvSpPr>
          <p:spPr bwMode="auto">
            <a:xfrm>
              <a:off x="72596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5" name="Rectangle 71"/>
            <p:cNvSpPr>
              <a:spLocks noChangeArrowheads="1"/>
            </p:cNvSpPr>
            <p:nvPr/>
          </p:nvSpPr>
          <p:spPr bwMode="auto">
            <a:xfrm>
              <a:off x="7564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6" name="Rectangle 72"/>
            <p:cNvSpPr>
              <a:spLocks noChangeArrowheads="1"/>
            </p:cNvSpPr>
            <p:nvPr/>
          </p:nvSpPr>
          <p:spPr bwMode="auto">
            <a:xfrm>
              <a:off x="7869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Rectangle 9"/>
            <p:cNvSpPr>
              <a:spLocks noChangeArrowheads="1"/>
            </p:cNvSpPr>
            <p:nvPr/>
          </p:nvSpPr>
          <p:spPr bwMode="auto">
            <a:xfrm>
              <a:off x="8174037" y="427208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992437" y="5164138"/>
            <a:ext cx="5486400" cy="304800"/>
            <a:chOff x="2992437" y="5164138"/>
            <a:chExt cx="5486400" cy="304800"/>
          </a:xfrm>
        </p:grpSpPr>
        <p:sp>
          <p:nvSpPr>
            <p:cNvPr id="11338" name="Rectangle 74"/>
            <p:cNvSpPr>
              <a:spLocks noChangeArrowheads="1"/>
            </p:cNvSpPr>
            <p:nvPr/>
          </p:nvSpPr>
          <p:spPr bwMode="auto">
            <a:xfrm>
              <a:off x="29924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9" name="Rectangle 75"/>
            <p:cNvSpPr>
              <a:spLocks noChangeArrowheads="1"/>
            </p:cNvSpPr>
            <p:nvPr/>
          </p:nvSpPr>
          <p:spPr bwMode="auto">
            <a:xfrm>
              <a:off x="32972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0" name="Rectangle 76"/>
            <p:cNvSpPr>
              <a:spLocks noChangeArrowheads="1"/>
            </p:cNvSpPr>
            <p:nvPr/>
          </p:nvSpPr>
          <p:spPr bwMode="auto">
            <a:xfrm>
              <a:off x="36020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1" name="Rectangle 77"/>
            <p:cNvSpPr>
              <a:spLocks noChangeArrowheads="1"/>
            </p:cNvSpPr>
            <p:nvPr/>
          </p:nvSpPr>
          <p:spPr bwMode="auto">
            <a:xfrm>
              <a:off x="39068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2" name="Rectangle 78"/>
            <p:cNvSpPr>
              <a:spLocks noChangeArrowheads="1"/>
            </p:cNvSpPr>
            <p:nvPr/>
          </p:nvSpPr>
          <p:spPr bwMode="auto">
            <a:xfrm>
              <a:off x="4211637" y="5164138"/>
              <a:ext cx="3048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3" name="Rectangle 79"/>
            <p:cNvSpPr>
              <a:spLocks noChangeArrowheads="1"/>
            </p:cNvSpPr>
            <p:nvPr/>
          </p:nvSpPr>
          <p:spPr bwMode="auto">
            <a:xfrm>
              <a:off x="4516437" y="5164138"/>
              <a:ext cx="3048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4" name="Rectangle 80"/>
            <p:cNvSpPr>
              <a:spLocks noChangeArrowheads="1"/>
            </p:cNvSpPr>
            <p:nvPr/>
          </p:nvSpPr>
          <p:spPr bwMode="auto">
            <a:xfrm>
              <a:off x="48212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5" name="Rectangle 81"/>
            <p:cNvSpPr>
              <a:spLocks noChangeArrowheads="1"/>
            </p:cNvSpPr>
            <p:nvPr/>
          </p:nvSpPr>
          <p:spPr bwMode="auto">
            <a:xfrm>
              <a:off x="51260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6" name="Rectangle 82"/>
            <p:cNvSpPr>
              <a:spLocks noChangeArrowheads="1"/>
            </p:cNvSpPr>
            <p:nvPr/>
          </p:nvSpPr>
          <p:spPr bwMode="auto">
            <a:xfrm>
              <a:off x="54308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7" name="Rectangle 83"/>
            <p:cNvSpPr>
              <a:spLocks noChangeArrowheads="1"/>
            </p:cNvSpPr>
            <p:nvPr/>
          </p:nvSpPr>
          <p:spPr bwMode="auto">
            <a:xfrm>
              <a:off x="5735637" y="5164138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8" name="Rectangle 84"/>
            <p:cNvSpPr>
              <a:spLocks noChangeArrowheads="1"/>
            </p:cNvSpPr>
            <p:nvPr/>
          </p:nvSpPr>
          <p:spPr bwMode="auto">
            <a:xfrm>
              <a:off x="60404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9" name="Rectangle 85"/>
            <p:cNvSpPr>
              <a:spLocks noChangeArrowheads="1"/>
            </p:cNvSpPr>
            <p:nvPr/>
          </p:nvSpPr>
          <p:spPr bwMode="auto">
            <a:xfrm>
              <a:off x="63452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0" name="Rectangle 86"/>
            <p:cNvSpPr>
              <a:spLocks noChangeArrowheads="1"/>
            </p:cNvSpPr>
            <p:nvPr/>
          </p:nvSpPr>
          <p:spPr bwMode="auto">
            <a:xfrm>
              <a:off x="66500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1" name="Rectangle 87"/>
            <p:cNvSpPr>
              <a:spLocks noChangeArrowheads="1"/>
            </p:cNvSpPr>
            <p:nvPr/>
          </p:nvSpPr>
          <p:spPr bwMode="auto">
            <a:xfrm>
              <a:off x="69548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2" name="Rectangle 88"/>
            <p:cNvSpPr>
              <a:spLocks noChangeArrowheads="1"/>
            </p:cNvSpPr>
            <p:nvPr/>
          </p:nvSpPr>
          <p:spPr bwMode="auto">
            <a:xfrm>
              <a:off x="72596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3" name="Rectangle 89"/>
            <p:cNvSpPr>
              <a:spLocks noChangeArrowheads="1"/>
            </p:cNvSpPr>
            <p:nvPr/>
          </p:nvSpPr>
          <p:spPr bwMode="auto">
            <a:xfrm>
              <a:off x="75644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4" name="Rectangle 90"/>
            <p:cNvSpPr>
              <a:spLocks noChangeArrowheads="1"/>
            </p:cNvSpPr>
            <p:nvPr/>
          </p:nvSpPr>
          <p:spPr bwMode="auto">
            <a:xfrm>
              <a:off x="78692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Rectangle 9"/>
            <p:cNvSpPr>
              <a:spLocks noChangeArrowheads="1"/>
            </p:cNvSpPr>
            <p:nvPr/>
          </p:nvSpPr>
          <p:spPr bwMode="auto">
            <a:xfrm>
              <a:off x="81740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775467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5524500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Constraints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2893" y="1143000"/>
            <a:ext cx="8542507" cy="5562600"/>
          </a:xfrm>
          <a:ln/>
        </p:spPr>
        <p:txBody>
          <a:bodyPr/>
          <a:lstStyle/>
          <a:p>
            <a:pPr marL="346075" indent="-346075">
              <a:lnSpc>
                <a:spcPct val="83000"/>
              </a:lnSpc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Applications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Can issue arbitrary sequence of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dirty="0"/>
              <a:t> and </a:t>
            </a:r>
            <a:r>
              <a:rPr lang="en-GB" b="1" dirty="0">
                <a:latin typeface="Courier New"/>
                <a:cs typeface="Courier New"/>
              </a:rPr>
              <a:t>free</a:t>
            </a:r>
            <a:r>
              <a:rPr lang="en-GB" dirty="0"/>
              <a:t> requests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b="1" dirty="0">
                <a:latin typeface="Courier New"/>
                <a:cs typeface="Courier New"/>
              </a:rPr>
              <a:t>free</a:t>
            </a:r>
            <a:r>
              <a:rPr lang="en-GB" dirty="0">
                <a:cs typeface="Courier New"/>
              </a:rPr>
              <a:t> </a:t>
            </a:r>
            <a:r>
              <a:rPr lang="en-GB" dirty="0"/>
              <a:t>request must be to a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dirty="0" err="1">
                <a:cs typeface="Courier New"/>
              </a:rPr>
              <a:t>’d</a:t>
            </a:r>
            <a:r>
              <a:rPr lang="en-GB" dirty="0">
                <a:cs typeface="Courier New"/>
              </a:rPr>
              <a:t> </a:t>
            </a:r>
            <a:r>
              <a:rPr lang="en-GB" dirty="0"/>
              <a:t> block</a:t>
            </a:r>
          </a:p>
          <a:p>
            <a:pPr marL="346075" indent="-346075">
              <a:lnSpc>
                <a:spcPct val="83000"/>
              </a:lnSpc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346075" indent="-346075">
              <a:lnSpc>
                <a:spcPct val="83000"/>
              </a:lnSpc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Explicit Allocators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Can’t control number or size of allocated blocks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Must respond immediately to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b="1" dirty="0">
                <a:cs typeface="Courier New"/>
              </a:rPr>
              <a:t> </a:t>
            </a:r>
            <a:r>
              <a:rPr lang="en-GB" dirty="0"/>
              <a:t>requests</a:t>
            </a:r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i="1" dirty="0"/>
              <a:t>i.e</a:t>
            </a:r>
            <a:r>
              <a:rPr lang="en-GB" dirty="0"/>
              <a:t>., can’t reorder or buffer requests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Must allocate blocks from free memory</a:t>
            </a:r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i="1" dirty="0"/>
              <a:t>i.e</a:t>
            </a:r>
            <a:r>
              <a:rPr lang="en-GB" dirty="0"/>
              <a:t>., can only place allocated blocks in free memory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Must align blocks so they satisfy all alignment requirements</a:t>
            </a:r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16-byte (x86-64) alignment on Linux boxes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Can manipulate and modify only free memory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Can’t move the allocated blocks once they are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dirty="0" err="1"/>
              <a:t>’d</a:t>
            </a:r>
            <a:endParaRPr lang="en-GB" dirty="0"/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i="1" dirty="0"/>
              <a:t>i.e</a:t>
            </a:r>
            <a:r>
              <a:rPr lang="en-GB" dirty="0"/>
              <a:t>., compaction is not allowed.  </a:t>
            </a:r>
            <a:r>
              <a:rPr lang="en-GB" i="1" dirty="0"/>
              <a:t>Why not?</a:t>
            </a:r>
          </a:p>
        </p:txBody>
      </p:sp>
    </p:spTree>
    <p:extLst>
      <p:ext uri="{BB962C8B-B14F-4D97-AF65-F5344CB8AC3E}">
        <p14:creationId xmlns:p14="http://schemas.microsoft.com/office/powerpoint/2010/main" val="1947126771"/>
      </p:ext>
    </p:extLst>
  </p:cSld>
  <p:clrMapOvr>
    <a:masterClrMapping/>
  </p:clrMapOvr>
  <p:transition xmlns:p14="http://schemas.microsoft.com/office/powerpoint/2010/main"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364524" y="569913"/>
            <a:ext cx="76708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Performance Goal: Throughput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04938"/>
            <a:ext cx="8701087" cy="522446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Given some sequence of </a:t>
            </a:r>
            <a:r>
              <a:rPr lang="en-GB" dirty="0" err="1">
                <a:latin typeface="Courier New" pitchFamily="49" charset="0"/>
              </a:rPr>
              <a:t>malloc</a:t>
            </a:r>
            <a:r>
              <a:rPr lang="en-GB" dirty="0"/>
              <a:t> and </a:t>
            </a:r>
            <a:r>
              <a:rPr lang="en-GB" dirty="0">
                <a:latin typeface="Courier New" pitchFamily="49" charset="0"/>
              </a:rPr>
              <a:t>free</a:t>
            </a:r>
            <a:r>
              <a:rPr lang="en-GB" dirty="0"/>
              <a:t> requests: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i="1" baseline="-25000" dirty="0"/>
              <a:t>0</a:t>
            </a:r>
            <a:r>
              <a:rPr lang="en-GB" i="1" dirty="0"/>
              <a:t>, R</a:t>
            </a:r>
            <a:r>
              <a:rPr lang="en-GB" i="1" baseline="-25000" dirty="0"/>
              <a:t>1</a:t>
            </a:r>
            <a:r>
              <a:rPr lang="en-GB" i="1" dirty="0"/>
              <a:t>, ..., </a:t>
            </a:r>
            <a:r>
              <a:rPr lang="en-GB" i="1" dirty="0" err="1"/>
              <a:t>R</a:t>
            </a:r>
            <a:r>
              <a:rPr lang="en-GB" i="1" baseline="-25000" dirty="0" err="1"/>
              <a:t>k</a:t>
            </a:r>
            <a:r>
              <a:rPr lang="en-GB" i="1" dirty="0"/>
              <a:t>, ... , R</a:t>
            </a:r>
            <a:r>
              <a:rPr lang="en-GB" i="1" baseline="-25000" dirty="0"/>
              <a:t>n-1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i="1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Goals: maximize throughput and peak memory utilization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These goals are often conflicting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Throughput: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Number of completed requests per unit time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Example: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5,000  </a:t>
            </a:r>
            <a:r>
              <a:rPr lang="en-GB" b="1" dirty="0" err="1">
                <a:latin typeface="Courier New" pitchFamily="49" charset="0"/>
              </a:rPr>
              <a:t>malloc</a:t>
            </a:r>
            <a:r>
              <a:rPr lang="en-GB" dirty="0"/>
              <a:t> calls and 5,000 </a:t>
            </a:r>
            <a:r>
              <a:rPr lang="en-GB" b="1" dirty="0">
                <a:latin typeface="Courier New" pitchFamily="49" charset="0"/>
              </a:rPr>
              <a:t>free</a:t>
            </a:r>
            <a:r>
              <a:rPr lang="en-GB" b="1" dirty="0"/>
              <a:t> </a:t>
            </a:r>
            <a:r>
              <a:rPr lang="en-GB" dirty="0"/>
              <a:t>calls in 10 seconds 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Throughput is 1,000 operations/second</a:t>
            </a:r>
          </a:p>
        </p:txBody>
      </p:sp>
    </p:spTree>
    <p:extLst>
      <p:ext uri="{BB962C8B-B14F-4D97-AF65-F5344CB8AC3E}">
        <p14:creationId xmlns:p14="http://schemas.microsoft.com/office/powerpoint/2010/main" val="1177887201"/>
      </p:ext>
    </p:extLst>
  </p:cSld>
  <p:clrMapOvr>
    <a:masterClrMapping/>
  </p:clrMapOvr>
  <p:transition xmlns:p14="http://schemas.microsoft.com/office/powerpoint/2010/main"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699500" cy="1096963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Performance Goal: Peak Memory Utilization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8300" y="1295400"/>
            <a:ext cx="8470900" cy="5216525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Given some sequence of </a:t>
            </a:r>
            <a:r>
              <a:rPr lang="en-GB" dirty="0" err="1">
                <a:latin typeface="Courier New" pitchFamily="49" charset="0"/>
              </a:rPr>
              <a:t>malloc</a:t>
            </a:r>
            <a:r>
              <a:rPr lang="en-GB" dirty="0"/>
              <a:t> and </a:t>
            </a:r>
            <a:r>
              <a:rPr lang="en-GB" dirty="0">
                <a:latin typeface="Courier New" pitchFamily="49" charset="0"/>
              </a:rPr>
              <a:t>free</a:t>
            </a:r>
            <a:r>
              <a:rPr lang="en-GB" dirty="0"/>
              <a:t> requests: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i="1" baseline="-25000" dirty="0"/>
              <a:t>0</a:t>
            </a:r>
            <a:r>
              <a:rPr lang="en-GB" i="1" dirty="0"/>
              <a:t>, R</a:t>
            </a:r>
            <a:r>
              <a:rPr lang="en-GB" i="1" baseline="-25000" dirty="0"/>
              <a:t>1</a:t>
            </a:r>
            <a:r>
              <a:rPr lang="en-GB" i="1" dirty="0"/>
              <a:t>, ..., </a:t>
            </a:r>
            <a:r>
              <a:rPr lang="en-GB" i="1" dirty="0" err="1"/>
              <a:t>R</a:t>
            </a:r>
            <a:r>
              <a:rPr lang="en-GB" i="1" baseline="-25000" dirty="0" err="1"/>
              <a:t>k</a:t>
            </a:r>
            <a:r>
              <a:rPr lang="en-GB" i="1" dirty="0"/>
              <a:t>, ... , R</a:t>
            </a:r>
            <a:r>
              <a:rPr lang="en-GB" i="1" baseline="-25000" dirty="0"/>
              <a:t>n-1</a:t>
            </a:r>
            <a:endParaRPr lang="en-GB" sz="1200" i="1" dirty="0"/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Def:</a:t>
            </a:r>
            <a:r>
              <a:rPr lang="en-GB" i="1" dirty="0"/>
              <a:t> Aggregate payload </a:t>
            </a:r>
            <a:r>
              <a:rPr lang="en-GB" i="1" dirty="0" err="1"/>
              <a:t>P</a:t>
            </a:r>
            <a:r>
              <a:rPr lang="en-GB" i="1" baseline="-25000" dirty="0" err="1"/>
              <a:t>k</a:t>
            </a:r>
            <a:r>
              <a:rPr lang="en-GB" dirty="0"/>
              <a:t>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 </a:t>
            </a:r>
            <a:r>
              <a:rPr lang="en-GB" b="1" dirty="0" err="1">
                <a:latin typeface="Courier New" pitchFamily="49" charset="0"/>
              </a:rPr>
              <a:t>malloc</a:t>
            </a:r>
            <a:r>
              <a:rPr lang="en-GB" b="1" dirty="0">
                <a:latin typeface="Courier New" pitchFamily="49" charset="0"/>
              </a:rPr>
              <a:t>(p)</a:t>
            </a:r>
            <a:r>
              <a:rPr lang="en-GB" dirty="0"/>
              <a:t> results in a block with a </a:t>
            </a:r>
            <a:r>
              <a:rPr lang="en-GB" b="1" i="1" dirty="0">
                <a:solidFill>
                  <a:srgbClr val="C00000"/>
                </a:solidFill>
              </a:rPr>
              <a:t>payload</a:t>
            </a:r>
            <a:r>
              <a:rPr lang="en-GB" dirty="0"/>
              <a:t> of </a:t>
            </a:r>
            <a:r>
              <a:rPr lang="en-GB" b="1" dirty="0">
                <a:latin typeface="Courier New" pitchFamily="49" charset="0"/>
              </a:rPr>
              <a:t>p</a:t>
            </a:r>
            <a:r>
              <a:rPr lang="en-GB" dirty="0"/>
              <a:t> bytes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After request </a:t>
            </a:r>
            <a:r>
              <a:rPr lang="en-GB" i="1" dirty="0" err="1"/>
              <a:t>R</a:t>
            </a:r>
            <a:r>
              <a:rPr lang="en-GB" i="1" baseline="-25000" dirty="0" err="1"/>
              <a:t>k</a:t>
            </a:r>
            <a:r>
              <a:rPr lang="en-GB" i="1" baseline="-25000" dirty="0"/>
              <a:t> </a:t>
            </a:r>
            <a:r>
              <a:rPr lang="en-GB" dirty="0"/>
              <a:t>has completed, the </a:t>
            </a:r>
            <a:r>
              <a:rPr lang="en-GB" b="1" i="1" dirty="0">
                <a:solidFill>
                  <a:srgbClr val="C00000"/>
                </a:solidFill>
              </a:rPr>
              <a:t>aggregate payload </a:t>
            </a:r>
            <a:r>
              <a:rPr lang="en-GB" i="1" dirty="0" err="1"/>
              <a:t>P</a:t>
            </a:r>
            <a:r>
              <a:rPr lang="en-GB" i="1" baseline="-25000" dirty="0" err="1"/>
              <a:t>k</a:t>
            </a:r>
            <a:r>
              <a:rPr lang="en-GB" i="1" baseline="-25000" dirty="0"/>
              <a:t>  </a:t>
            </a:r>
            <a:r>
              <a:rPr lang="en-GB" dirty="0"/>
              <a:t>is the sum of currently allocated payloads</a:t>
            </a:r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Def:</a:t>
            </a:r>
            <a:r>
              <a:rPr lang="en-GB" i="1" dirty="0"/>
              <a:t> Current heap size </a:t>
            </a:r>
            <a:r>
              <a:rPr lang="en-GB" i="1" dirty="0" err="1"/>
              <a:t>H</a:t>
            </a:r>
            <a:r>
              <a:rPr lang="en-GB" i="1" baseline="-25000" dirty="0" err="1"/>
              <a:t>k</a:t>
            </a:r>
            <a:endParaRPr lang="en-GB" i="1" baseline="-25000" dirty="0"/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Assume </a:t>
            </a:r>
            <a:r>
              <a:rPr lang="en-GB" i="1" dirty="0" err="1"/>
              <a:t>H</a:t>
            </a:r>
            <a:r>
              <a:rPr lang="en-GB" i="1" baseline="-25000" dirty="0" err="1"/>
              <a:t>k</a:t>
            </a:r>
            <a:r>
              <a:rPr lang="en-GB" dirty="0"/>
              <a:t> is monotonically </a:t>
            </a:r>
            <a:r>
              <a:rPr lang="en-GB" dirty="0" err="1"/>
              <a:t>nondecreasing</a:t>
            </a:r>
            <a:endParaRPr lang="en-GB" dirty="0"/>
          </a:p>
          <a:p>
            <a:pPr lvl="2">
              <a:lnSpc>
                <a:spcPct val="94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i.e., heap only grows when allocator uses </a:t>
            </a:r>
            <a:r>
              <a:rPr lang="en-GB" b="1" dirty="0" err="1">
                <a:latin typeface="Courier New" pitchFamily="49" charset="0"/>
              </a:rPr>
              <a:t>sbrk</a:t>
            </a:r>
            <a:endParaRPr lang="en-GB" b="1" dirty="0">
              <a:latin typeface="Courier New" pitchFamily="49" charset="0"/>
            </a:endParaRPr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Def:</a:t>
            </a:r>
            <a:r>
              <a:rPr lang="en-GB" i="1" dirty="0"/>
              <a:t> Peak memory utilization after k+1 requests </a:t>
            </a:r>
          </a:p>
          <a:p>
            <a:pPr lvl="1"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 err="1"/>
              <a:t>U</a:t>
            </a:r>
            <a:r>
              <a:rPr lang="en-GB" i="1" baseline="-25000" dirty="0" err="1"/>
              <a:t>k</a:t>
            </a:r>
            <a:r>
              <a:rPr lang="en-GB" i="1" dirty="0"/>
              <a:t> = ( </a:t>
            </a:r>
            <a:r>
              <a:rPr lang="en-GB" i="1" dirty="0" err="1"/>
              <a:t>max</a:t>
            </a:r>
            <a:r>
              <a:rPr lang="en-GB" i="1" baseline="-25000" dirty="0" err="1"/>
              <a:t>i≤k</a:t>
            </a:r>
            <a:r>
              <a:rPr lang="en-GB" i="1" dirty="0"/>
              <a:t> P</a:t>
            </a:r>
            <a:r>
              <a:rPr lang="en-GB" i="1" baseline="-25000" dirty="0"/>
              <a:t>i </a:t>
            </a:r>
            <a:r>
              <a:rPr lang="en-GB" i="1" dirty="0"/>
              <a:t>)  /  </a:t>
            </a:r>
            <a:r>
              <a:rPr lang="en-GB" i="1" dirty="0" err="1"/>
              <a:t>H</a:t>
            </a:r>
            <a:r>
              <a:rPr lang="en-GB" i="1" baseline="-25000" dirty="0" err="1"/>
              <a:t>k</a:t>
            </a:r>
            <a:endParaRPr lang="en-GB" i="1" baseline="-25000" dirty="0"/>
          </a:p>
        </p:txBody>
      </p:sp>
    </p:spTree>
    <p:extLst>
      <p:ext uri="{BB962C8B-B14F-4D97-AF65-F5344CB8AC3E}">
        <p14:creationId xmlns:p14="http://schemas.microsoft.com/office/powerpoint/2010/main" val="387072642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Poor memory utilization caused by </a:t>
            </a:r>
            <a:r>
              <a:rPr lang="en-GB" i="1">
                <a:solidFill>
                  <a:srgbClr val="C00000"/>
                </a:solidFill>
              </a:rPr>
              <a:t>fragmentation</a:t>
            </a:r>
            <a:endParaRPr lang="en-GB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>
                <a:solidFill>
                  <a:srgbClr val="C00000"/>
                </a:solidFill>
                <a:ea typeface="+mn-ea"/>
                <a:cs typeface="+mn-cs"/>
              </a:rPr>
              <a:t>internal</a:t>
            </a:r>
            <a:r>
              <a:rPr lang="en-GB"/>
              <a:t> fragmentation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>
                <a:solidFill>
                  <a:srgbClr val="C00000"/>
                </a:solidFill>
                <a:ea typeface="+mn-ea"/>
                <a:cs typeface="+mn-cs"/>
              </a:rPr>
              <a:t>external</a:t>
            </a:r>
            <a:r>
              <a:rPr lang="en-GB"/>
              <a:t> fragmentation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472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67310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Internal Fragmentation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220788"/>
            <a:ext cx="8307387" cy="5408612"/>
          </a:xfrm>
          <a:ln/>
        </p:spPr>
        <p:txBody>
          <a:bodyPr/>
          <a:lstStyle/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200" dirty="0"/>
              <a:t>For a given block, </a:t>
            </a:r>
            <a:r>
              <a:rPr lang="en-GB" sz="2200" i="1" dirty="0">
                <a:solidFill>
                  <a:srgbClr val="C00000"/>
                </a:solidFill>
              </a:rPr>
              <a:t>internal fragmentation </a:t>
            </a:r>
            <a:r>
              <a:rPr lang="en-GB" sz="2200" dirty="0"/>
              <a:t>occurs if payload is smaller than block size</a:t>
            </a:r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200" dirty="0"/>
              <a:t>Caused by 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+mn-ea"/>
                <a:cs typeface="+mn-cs"/>
              </a:rPr>
              <a:t>Overhead of maintaining heap data structures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+mn-ea"/>
                <a:cs typeface="+mn-cs"/>
              </a:rPr>
              <a:t>Padding for alignment purposes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+mn-ea"/>
                <a:cs typeface="+mn-cs"/>
              </a:rPr>
              <a:t>Explicit policy decisions </a:t>
            </a:r>
            <a:br>
              <a:rPr lang="en-GB" dirty="0">
                <a:ea typeface="+mn-ea"/>
                <a:cs typeface="+mn-cs"/>
              </a:rPr>
            </a:br>
            <a:r>
              <a:rPr lang="en-GB" dirty="0">
                <a:ea typeface="+mn-ea"/>
                <a:cs typeface="+mn-cs"/>
              </a:rPr>
              <a:t>(e.g., to return a big block to satisfy a small request)</a:t>
            </a:r>
            <a:endParaRPr lang="en-GB" sz="2200" dirty="0"/>
          </a:p>
          <a:p>
            <a:pPr>
              <a:lnSpc>
                <a:spcPct val="88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200" dirty="0"/>
              <a:t>Depends only on the pattern of </a:t>
            </a:r>
            <a:r>
              <a:rPr lang="en-GB" sz="2200" i="1" dirty="0">
                <a:solidFill>
                  <a:srgbClr val="C00000"/>
                </a:solidFill>
              </a:rPr>
              <a:t>previous</a:t>
            </a:r>
            <a:r>
              <a:rPr lang="en-GB" sz="2200" dirty="0"/>
              <a:t> requests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Thus, easy to measure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094846" y="2895600"/>
            <a:ext cx="2819400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ayload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5914246" y="2895600"/>
            <a:ext cx="7620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2332846" y="2895600"/>
            <a:ext cx="7620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7148335" y="2911642"/>
            <a:ext cx="1402541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Internal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fragmentation</a:t>
            </a:r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flipH="1">
            <a:off x="6321425" y="3200400"/>
            <a:ext cx="765175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68" name="AutoShape 8"/>
          <p:cNvSpPr>
            <a:spLocks/>
          </p:cNvSpPr>
          <p:nvPr/>
        </p:nvSpPr>
        <p:spPr bwMode="auto">
          <a:xfrm rot="16200000">
            <a:off x="4350559" y="495300"/>
            <a:ext cx="304800" cy="4343400"/>
          </a:xfrm>
          <a:prstGeom prst="rightBrace">
            <a:avLst>
              <a:gd name="adj1" fmla="val 118750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4184773" y="2133600"/>
            <a:ext cx="641820" cy="3366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B</a:t>
            </a:r>
            <a:r>
              <a:rPr lang="en-GB" sz="1600" b="1" dirty="0">
                <a:latin typeface="Calibri" pitchFamily="34" charset="0"/>
              </a:rPr>
              <a:t>lock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84814" y="2911642"/>
            <a:ext cx="1402541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Internal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fragmentation</a:t>
            </a:r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2057400" y="3200400"/>
            <a:ext cx="685800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0285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Occurs when there is enough aggregate heap memory, but no single free block is large enough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Amount of external fragmentation</a:t>
            </a:r>
            <a:br>
              <a:rPr lang="en-GB" dirty="0"/>
            </a:br>
            <a:r>
              <a:rPr lang="en-GB" dirty="0"/>
              <a:t>depends on the pattern of future requests</a:t>
            </a:r>
          </a:p>
          <a:p>
            <a:pPr lvl="1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Thus, difficult to measure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80" name="Text Box 91"/>
          <p:cNvSpPr txBox="1">
            <a:spLocks noChangeArrowheads="1"/>
          </p:cNvSpPr>
          <p:nvPr/>
        </p:nvSpPr>
        <p:spPr bwMode="auto">
          <a:xfrm>
            <a:off x="323656" y="4876800"/>
            <a:ext cx="2663206" cy="354906"/>
          </a:xfrm>
          <a:prstGeom prst="rect">
            <a:avLst/>
          </a:prstGeom>
          <a:solidFill>
            <a:srgbClr val="D5F1CF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p4 = malloc(7*SIZ)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0" y="4782744"/>
            <a:ext cx="4501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Yikes! (what would happen now?)</a:t>
            </a:r>
          </a:p>
        </p:txBody>
      </p:sp>
      <p:sp>
        <p:nvSpPr>
          <p:cNvPr id="82" name="Text Box 19"/>
          <p:cNvSpPr txBox="1">
            <a:spLocks noChangeArrowheads="1"/>
          </p:cNvSpPr>
          <p:nvPr/>
        </p:nvSpPr>
        <p:spPr bwMode="auto">
          <a:xfrm>
            <a:off x="5278437" y="500547"/>
            <a:ext cx="3352498" cy="354906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#define SIZ </a:t>
            </a:r>
            <a:r>
              <a:rPr lang="en-GB" sz="1800" b="1" dirty="0" err="1">
                <a:latin typeface="Courier New" pitchFamily="49" charset="0"/>
              </a:rPr>
              <a:t>sizeof</a:t>
            </a:r>
            <a:r>
              <a:rPr lang="en-GB" sz="1800" b="1" dirty="0">
                <a:latin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</a:rPr>
              <a:t>)</a:t>
            </a:r>
          </a:p>
        </p:txBody>
      </p:sp>
      <p:sp>
        <p:nvSpPr>
          <p:cNvPr id="83" name="Text Box 19"/>
          <p:cNvSpPr txBox="1">
            <a:spLocks noChangeArrowheads="1"/>
          </p:cNvSpPr>
          <p:nvPr/>
        </p:nvSpPr>
        <p:spPr bwMode="auto">
          <a:xfrm>
            <a:off x="176831" y="2362200"/>
            <a:ext cx="2663206" cy="354906"/>
          </a:xfrm>
          <a:prstGeom prst="rect">
            <a:avLst/>
          </a:prstGeom>
          <a:solidFill>
            <a:srgbClr val="F6F5BD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p1 = malloc(4*SIZ)</a:t>
            </a:r>
          </a:p>
        </p:txBody>
      </p:sp>
      <p:sp>
        <p:nvSpPr>
          <p:cNvPr id="84" name="Text Box 37"/>
          <p:cNvSpPr txBox="1">
            <a:spLocks noChangeArrowheads="1"/>
          </p:cNvSpPr>
          <p:nvPr/>
        </p:nvSpPr>
        <p:spPr bwMode="auto">
          <a:xfrm>
            <a:off x="176831" y="2971800"/>
            <a:ext cx="2663206" cy="354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p2 = malloc(5*SIZ)</a:t>
            </a:r>
          </a:p>
        </p:txBody>
      </p:sp>
      <p:sp>
        <p:nvSpPr>
          <p:cNvPr id="85" name="Text Box 55"/>
          <p:cNvSpPr txBox="1">
            <a:spLocks noChangeArrowheads="1"/>
          </p:cNvSpPr>
          <p:nvPr/>
        </p:nvSpPr>
        <p:spPr bwMode="auto">
          <a:xfrm>
            <a:off x="176831" y="3657600"/>
            <a:ext cx="2663206" cy="354906"/>
          </a:xfrm>
          <a:prstGeom prst="rect">
            <a:avLst/>
          </a:prstGeom>
          <a:solidFill>
            <a:srgbClr val="F1C7C7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p3 = malloc(6*SIZ)</a:t>
            </a:r>
          </a:p>
        </p:txBody>
      </p:sp>
      <p:sp>
        <p:nvSpPr>
          <p:cNvPr id="86" name="Text Box 73"/>
          <p:cNvSpPr txBox="1">
            <a:spLocks noChangeArrowheads="1"/>
          </p:cNvSpPr>
          <p:nvPr/>
        </p:nvSpPr>
        <p:spPr bwMode="auto">
          <a:xfrm>
            <a:off x="533400" y="4263096"/>
            <a:ext cx="1284624" cy="359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</a:rPr>
              <a:t>free(p2)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2992437" y="2393950"/>
            <a:ext cx="5486400" cy="304800"/>
            <a:chOff x="2992437" y="1614488"/>
            <a:chExt cx="5486400" cy="304800"/>
          </a:xfrm>
        </p:grpSpPr>
        <p:grpSp>
          <p:nvGrpSpPr>
            <p:cNvPr id="88" name="Group 87"/>
            <p:cNvGrpSpPr/>
            <p:nvPr/>
          </p:nvGrpSpPr>
          <p:grpSpPr>
            <a:xfrm>
              <a:off x="2992437" y="1614488"/>
              <a:ext cx="5181600" cy="304800"/>
              <a:chOff x="3006724" y="1614488"/>
              <a:chExt cx="5181600" cy="304800"/>
            </a:xfrm>
          </p:grpSpPr>
          <p:sp>
            <p:nvSpPr>
              <p:cNvPr id="90" name="Rectangle 2"/>
              <p:cNvSpPr>
                <a:spLocks noChangeArrowheads="1"/>
              </p:cNvSpPr>
              <p:nvPr/>
            </p:nvSpPr>
            <p:spPr bwMode="auto">
              <a:xfrm>
                <a:off x="30067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3"/>
              <p:cNvSpPr>
                <a:spLocks noChangeArrowheads="1"/>
              </p:cNvSpPr>
              <p:nvPr/>
            </p:nvSpPr>
            <p:spPr bwMode="auto">
              <a:xfrm>
                <a:off x="33115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4"/>
              <p:cNvSpPr>
                <a:spLocks noChangeArrowheads="1"/>
              </p:cNvSpPr>
              <p:nvPr/>
            </p:nvSpPr>
            <p:spPr bwMode="auto">
              <a:xfrm>
                <a:off x="36163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5"/>
              <p:cNvSpPr>
                <a:spLocks noChangeArrowheads="1"/>
              </p:cNvSpPr>
              <p:nvPr/>
            </p:nvSpPr>
            <p:spPr bwMode="auto">
              <a:xfrm>
                <a:off x="39211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6"/>
              <p:cNvSpPr>
                <a:spLocks noChangeArrowheads="1"/>
              </p:cNvSpPr>
              <p:nvPr/>
            </p:nvSpPr>
            <p:spPr bwMode="auto">
              <a:xfrm>
                <a:off x="4225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Rectangle 7"/>
              <p:cNvSpPr>
                <a:spLocks noChangeArrowheads="1"/>
              </p:cNvSpPr>
              <p:nvPr/>
            </p:nvSpPr>
            <p:spPr bwMode="auto">
              <a:xfrm>
                <a:off x="4530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Rectangle 8"/>
              <p:cNvSpPr>
                <a:spLocks noChangeArrowheads="1"/>
              </p:cNvSpPr>
              <p:nvPr/>
            </p:nvSpPr>
            <p:spPr bwMode="auto">
              <a:xfrm>
                <a:off x="4835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Rectangle 9"/>
              <p:cNvSpPr>
                <a:spLocks noChangeArrowheads="1"/>
              </p:cNvSpPr>
              <p:nvPr/>
            </p:nvSpPr>
            <p:spPr bwMode="auto">
              <a:xfrm>
                <a:off x="5140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Rectangle 10"/>
              <p:cNvSpPr>
                <a:spLocks noChangeArrowheads="1"/>
              </p:cNvSpPr>
              <p:nvPr/>
            </p:nvSpPr>
            <p:spPr bwMode="auto">
              <a:xfrm>
                <a:off x="5445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Rectangle 11"/>
              <p:cNvSpPr>
                <a:spLocks noChangeArrowheads="1"/>
              </p:cNvSpPr>
              <p:nvPr/>
            </p:nvSpPr>
            <p:spPr bwMode="auto">
              <a:xfrm>
                <a:off x="5749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Rectangle 12"/>
              <p:cNvSpPr>
                <a:spLocks noChangeArrowheads="1"/>
              </p:cNvSpPr>
              <p:nvPr/>
            </p:nvSpPr>
            <p:spPr bwMode="auto">
              <a:xfrm>
                <a:off x="6054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Rectangle 13"/>
              <p:cNvSpPr>
                <a:spLocks noChangeArrowheads="1"/>
              </p:cNvSpPr>
              <p:nvPr/>
            </p:nvSpPr>
            <p:spPr bwMode="auto">
              <a:xfrm>
                <a:off x="6359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Rectangle 14"/>
              <p:cNvSpPr>
                <a:spLocks noChangeArrowheads="1"/>
              </p:cNvSpPr>
              <p:nvPr/>
            </p:nvSpPr>
            <p:spPr bwMode="auto">
              <a:xfrm>
                <a:off x="6664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Rectangle 15"/>
              <p:cNvSpPr>
                <a:spLocks noChangeArrowheads="1"/>
              </p:cNvSpPr>
              <p:nvPr/>
            </p:nvSpPr>
            <p:spPr bwMode="auto">
              <a:xfrm>
                <a:off x="6969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16"/>
              <p:cNvSpPr>
                <a:spLocks noChangeArrowheads="1"/>
              </p:cNvSpPr>
              <p:nvPr/>
            </p:nvSpPr>
            <p:spPr bwMode="auto">
              <a:xfrm>
                <a:off x="7273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17"/>
              <p:cNvSpPr>
                <a:spLocks noChangeArrowheads="1"/>
              </p:cNvSpPr>
              <p:nvPr/>
            </p:nvSpPr>
            <p:spPr bwMode="auto">
              <a:xfrm>
                <a:off x="7578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18"/>
              <p:cNvSpPr>
                <a:spLocks noChangeArrowheads="1"/>
              </p:cNvSpPr>
              <p:nvPr/>
            </p:nvSpPr>
            <p:spPr bwMode="auto">
              <a:xfrm>
                <a:off x="7883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89" name="Rectangle 9"/>
            <p:cNvSpPr>
              <a:spLocks noChangeArrowheads="1"/>
            </p:cNvSpPr>
            <p:nvPr/>
          </p:nvSpPr>
          <p:spPr bwMode="auto">
            <a:xfrm>
              <a:off x="8174037" y="161448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2992437" y="3008875"/>
            <a:ext cx="5486400" cy="304800"/>
            <a:chOff x="2992437" y="2501901"/>
            <a:chExt cx="5486400" cy="304800"/>
          </a:xfrm>
        </p:grpSpPr>
        <p:sp>
          <p:nvSpPr>
            <p:cNvPr id="108" name="Rectangle 20"/>
            <p:cNvSpPr>
              <a:spLocks noChangeArrowheads="1"/>
            </p:cNvSpPr>
            <p:nvPr/>
          </p:nvSpPr>
          <p:spPr bwMode="auto">
            <a:xfrm>
              <a:off x="29924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Rectangle 21"/>
            <p:cNvSpPr>
              <a:spLocks noChangeArrowheads="1"/>
            </p:cNvSpPr>
            <p:nvPr/>
          </p:nvSpPr>
          <p:spPr bwMode="auto">
            <a:xfrm>
              <a:off x="32972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Rectangle 22"/>
            <p:cNvSpPr>
              <a:spLocks noChangeArrowheads="1"/>
            </p:cNvSpPr>
            <p:nvPr/>
          </p:nvSpPr>
          <p:spPr bwMode="auto">
            <a:xfrm>
              <a:off x="36020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Rectangle 23"/>
            <p:cNvSpPr>
              <a:spLocks noChangeArrowheads="1"/>
            </p:cNvSpPr>
            <p:nvPr/>
          </p:nvSpPr>
          <p:spPr bwMode="auto">
            <a:xfrm>
              <a:off x="39068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Rectangle 24"/>
            <p:cNvSpPr>
              <a:spLocks noChangeArrowheads="1"/>
            </p:cNvSpPr>
            <p:nvPr/>
          </p:nvSpPr>
          <p:spPr bwMode="auto">
            <a:xfrm>
              <a:off x="42116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Rectangle 25"/>
            <p:cNvSpPr>
              <a:spLocks noChangeArrowheads="1"/>
            </p:cNvSpPr>
            <p:nvPr/>
          </p:nvSpPr>
          <p:spPr bwMode="auto">
            <a:xfrm>
              <a:off x="45164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Rectangle 26"/>
            <p:cNvSpPr>
              <a:spLocks noChangeArrowheads="1"/>
            </p:cNvSpPr>
            <p:nvPr/>
          </p:nvSpPr>
          <p:spPr bwMode="auto">
            <a:xfrm>
              <a:off x="48212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Rectangle 27"/>
            <p:cNvSpPr>
              <a:spLocks noChangeArrowheads="1"/>
            </p:cNvSpPr>
            <p:nvPr/>
          </p:nvSpPr>
          <p:spPr bwMode="auto">
            <a:xfrm>
              <a:off x="51260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Rectangle 28"/>
            <p:cNvSpPr>
              <a:spLocks noChangeArrowheads="1"/>
            </p:cNvSpPr>
            <p:nvPr/>
          </p:nvSpPr>
          <p:spPr bwMode="auto">
            <a:xfrm>
              <a:off x="54308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Rectangle 29"/>
            <p:cNvSpPr>
              <a:spLocks noChangeArrowheads="1"/>
            </p:cNvSpPr>
            <p:nvPr/>
          </p:nvSpPr>
          <p:spPr bwMode="auto">
            <a:xfrm>
              <a:off x="5735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Rectangle 30"/>
            <p:cNvSpPr>
              <a:spLocks noChangeArrowheads="1"/>
            </p:cNvSpPr>
            <p:nvPr/>
          </p:nvSpPr>
          <p:spPr bwMode="auto">
            <a:xfrm>
              <a:off x="6040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Rectangle 31"/>
            <p:cNvSpPr>
              <a:spLocks noChangeArrowheads="1"/>
            </p:cNvSpPr>
            <p:nvPr/>
          </p:nvSpPr>
          <p:spPr bwMode="auto">
            <a:xfrm>
              <a:off x="6345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Rectangle 32"/>
            <p:cNvSpPr>
              <a:spLocks noChangeArrowheads="1"/>
            </p:cNvSpPr>
            <p:nvPr/>
          </p:nvSpPr>
          <p:spPr bwMode="auto">
            <a:xfrm>
              <a:off x="6650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Rectangle 33"/>
            <p:cNvSpPr>
              <a:spLocks noChangeArrowheads="1"/>
            </p:cNvSpPr>
            <p:nvPr/>
          </p:nvSpPr>
          <p:spPr bwMode="auto">
            <a:xfrm>
              <a:off x="69548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2" name="Rectangle 34"/>
            <p:cNvSpPr>
              <a:spLocks noChangeArrowheads="1"/>
            </p:cNvSpPr>
            <p:nvPr/>
          </p:nvSpPr>
          <p:spPr bwMode="auto">
            <a:xfrm>
              <a:off x="7259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Rectangle 35"/>
            <p:cNvSpPr>
              <a:spLocks noChangeArrowheads="1"/>
            </p:cNvSpPr>
            <p:nvPr/>
          </p:nvSpPr>
          <p:spPr bwMode="auto">
            <a:xfrm>
              <a:off x="7564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Rectangle 36"/>
            <p:cNvSpPr>
              <a:spLocks noChangeArrowheads="1"/>
            </p:cNvSpPr>
            <p:nvPr/>
          </p:nvSpPr>
          <p:spPr bwMode="auto">
            <a:xfrm>
              <a:off x="7869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Rectangle 9"/>
            <p:cNvSpPr>
              <a:spLocks noChangeArrowheads="1"/>
            </p:cNvSpPr>
            <p:nvPr/>
          </p:nvSpPr>
          <p:spPr bwMode="auto">
            <a:xfrm>
              <a:off x="8174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2992437" y="3681785"/>
            <a:ext cx="5486400" cy="304800"/>
            <a:chOff x="2992437" y="3389313"/>
            <a:chExt cx="5486400" cy="304800"/>
          </a:xfrm>
        </p:grpSpPr>
        <p:sp>
          <p:nvSpPr>
            <p:cNvPr id="127" name="Rectangle 38"/>
            <p:cNvSpPr>
              <a:spLocks noChangeArrowheads="1"/>
            </p:cNvSpPr>
            <p:nvPr/>
          </p:nvSpPr>
          <p:spPr bwMode="auto">
            <a:xfrm>
              <a:off x="29924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Rectangle 39"/>
            <p:cNvSpPr>
              <a:spLocks noChangeArrowheads="1"/>
            </p:cNvSpPr>
            <p:nvPr/>
          </p:nvSpPr>
          <p:spPr bwMode="auto">
            <a:xfrm>
              <a:off x="32972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Rectangle 40"/>
            <p:cNvSpPr>
              <a:spLocks noChangeArrowheads="1"/>
            </p:cNvSpPr>
            <p:nvPr/>
          </p:nvSpPr>
          <p:spPr bwMode="auto">
            <a:xfrm>
              <a:off x="36020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Rectangle 41"/>
            <p:cNvSpPr>
              <a:spLocks noChangeArrowheads="1"/>
            </p:cNvSpPr>
            <p:nvPr/>
          </p:nvSpPr>
          <p:spPr bwMode="auto">
            <a:xfrm>
              <a:off x="39068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tangle 42"/>
            <p:cNvSpPr>
              <a:spLocks noChangeArrowheads="1"/>
            </p:cNvSpPr>
            <p:nvPr/>
          </p:nvSpPr>
          <p:spPr bwMode="auto">
            <a:xfrm>
              <a:off x="42116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Rectangle 43"/>
            <p:cNvSpPr>
              <a:spLocks noChangeArrowheads="1"/>
            </p:cNvSpPr>
            <p:nvPr/>
          </p:nvSpPr>
          <p:spPr bwMode="auto">
            <a:xfrm>
              <a:off x="45164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Rectangle 44"/>
            <p:cNvSpPr>
              <a:spLocks noChangeArrowheads="1"/>
            </p:cNvSpPr>
            <p:nvPr/>
          </p:nvSpPr>
          <p:spPr bwMode="auto">
            <a:xfrm>
              <a:off x="48212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45"/>
            <p:cNvSpPr>
              <a:spLocks noChangeArrowheads="1"/>
            </p:cNvSpPr>
            <p:nvPr/>
          </p:nvSpPr>
          <p:spPr bwMode="auto">
            <a:xfrm>
              <a:off x="51260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46"/>
            <p:cNvSpPr>
              <a:spLocks noChangeArrowheads="1"/>
            </p:cNvSpPr>
            <p:nvPr/>
          </p:nvSpPr>
          <p:spPr bwMode="auto">
            <a:xfrm>
              <a:off x="54308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47"/>
            <p:cNvSpPr>
              <a:spLocks noChangeArrowheads="1"/>
            </p:cNvSpPr>
            <p:nvPr/>
          </p:nvSpPr>
          <p:spPr bwMode="auto">
            <a:xfrm>
              <a:off x="5735637" y="3389313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Rectangle 48"/>
            <p:cNvSpPr>
              <a:spLocks noChangeArrowheads="1"/>
            </p:cNvSpPr>
            <p:nvPr/>
          </p:nvSpPr>
          <p:spPr bwMode="auto">
            <a:xfrm>
              <a:off x="6040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Rectangle 49"/>
            <p:cNvSpPr>
              <a:spLocks noChangeArrowheads="1"/>
            </p:cNvSpPr>
            <p:nvPr/>
          </p:nvSpPr>
          <p:spPr bwMode="auto">
            <a:xfrm>
              <a:off x="63452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Rectangle 50"/>
            <p:cNvSpPr>
              <a:spLocks noChangeArrowheads="1"/>
            </p:cNvSpPr>
            <p:nvPr/>
          </p:nvSpPr>
          <p:spPr bwMode="auto">
            <a:xfrm>
              <a:off x="66500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Rectangle 51"/>
            <p:cNvSpPr>
              <a:spLocks noChangeArrowheads="1"/>
            </p:cNvSpPr>
            <p:nvPr/>
          </p:nvSpPr>
          <p:spPr bwMode="auto">
            <a:xfrm>
              <a:off x="69548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Rectangle 52"/>
            <p:cNvSpPr>
              <a:spLocks noChangeArrowheads="1"/>
            </p:cNvSpPr>
            <p:nvPr/>
          </p:nvSpPr>
          <p:spPr bwMode="auto">
            <a:xfrm>
              <a:off x="72596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Rectangle 53"/>
            <p:cNvSpPr>
              <a:spLocks noChangeArrowheads="1"/>
            </p:cNvSpPr>
            <p:nvPr/>
          </p:nvSpPr>
          <p:spPr bwMode="auto">
            <a:xfrm>
              <a:off x="7564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Rectangle 54"/>
            <p:cNvSpPr>
              <a:spLocks noChangeArrowheads="1"/>
            </p:cNvSpPr>
            <p:nvPr/>
          </p:nvSpPr>
          <p:spPr bwMode="auto">
            <a:xfrm>
              <a:off x="78692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Rectangle 9"/>
            <p:cNvSpPr>
              <a:spLocks noChangeArrowheads="1"/>
            </p:cNvSpPr>
            <p:nvPr/>
          </p:nvSpPr>
          <p:spPr bwMode="auto">
            <a:xfrm>
              <a:off x="81740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2992437" y="4290201"/>
            <a:ext cx="5486400" cy="309446"/>
            <a:chOff x="2992437" y="4272080"/>
            <a:chExt cx="5486400" cy="309446"/>
          </a:xfrm>
        </p:grpSpPr>
        <p:sp>
          <p:nvSpPr>
            <p:cNvPr id="146" name="Rectangle 56"/>
            <p:cNvSpPr>
              <a:spLocks noChangeArrowheads="1"/>
            </p:cNvSpPr>
            <p:nvPr/>
          </p:nvSpPr>
          <p:spPr bwMode="auto">
            <a:xfrm>
              <a:off x="29924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" name="Rectangle 57"/>
            <p:cNvSpPr>
              <a:spLocks noChangeArrowheads="1"/>
            </p:cNvSpPr>
            <p:nvPr/>
          </p:nvSpPr>
          <p:spPr bwMode="auto">
            <a:xfrm>
              <a:off x="32972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" name="Rectangle 58"/>
            <p:cNvSpPr>
              <a:spLocks noChangeArrowheads="1"/>
            </p:cNvSpPr>
            <p:nvPr/>
          </p:nvSpPr>
          <p:spPr bwMode="auto">
            <a:xfrm>
              <a:off x="36020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" name="Rectangle 59"/>
            <p:cNvSpPr>
              <a:spLocks noChangeArrowheads="1"/>
            </p:cNvSpPr>
            <p:nvPr/>
          </p:nvSpPr>
          <p:spPr bwMode="auto">
            <a:xfrm>
              <a:off x="39068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Rectangle 60"/>
            <p:cNvSpPr>
              <a:spLocks noChangeArrowheads="1"/>
            </p:cNvSpPr>
            <p:nvPr/>
          </p:nvSpPr>
          <p:spPr bwMode="auto">
            <a:xfrm>
              <a:off x="42116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Rectangle 61"/>
            <p:cNvSpPr>
              <a:spLocks noChangeArrowheads="1"/>
            </p:cNvSpPr>
            <p:nvPr/>
          </p:nvSpPr>
          <p:spPr bwMode="auto">
            <a:xfrm>
              <a:off x="45164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Rectangle 62"/>
            <p:cNvSpPr>
              <a:spLocks noChangeArrowheads="1"/>
            </p:cNvSpPr>
            <p:nvPr/>
          </p:nvSpPr>
          <p:spPr bwMode="auto">
            <a:xfrm>
              <a:off x="4821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Rectangle 63"/>
            <p:cNvSpPr>
              <a:spLocks noChangeArrowheads="1"/>
            </p:cNvSpPr>
            <p:nvPr/>
          </p:nvSpPr>
          <p:spPr bwMode="auto">
            <a:xfrm>
              <a:off x="51260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" name="Rectangle 64"/>
            <p:cNvSpPr>
              <a:spLocks noChangeArrowheads="1"/>
            </p:cNvSpPr>
            <p:nvPr/>
          </p:nvSpPr>
          <p:spPr bwMode="auto">
            <a:xfrm>
              <a:off x="54308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" name="Rectangle 65"/>
            <p:cNvSpPr>
              <a:spLocks noChangeArrowheads="1"/>
            </p:cNvSpPr>
            <p:nvPr/>
          </p:nvSpPr>
          <p:spPr bwMode="auto">
            <a:xfrm>
              <a:off x="5735637" y="4276726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" name="Rectangle 66"/>
            <p:cNvSpPr>
              <a:spLocks noChangeArrowheads="1"/>
            </p:cNvSpPr>
            <p:nvPr/>
          </p:nvSpPr>
          <p:spPr bwMode="auto">
            <a:xfrm>
              <a:off x="6040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7" name="Rectangle 67"/>
            <p:cNvSpPr>
              <a:spLocks noChangeArrowheads="1"/>
            </p:cNvSpPr>
            <p:nvPr/>
          </p:nvSpPr>
          <p:spPr bwMode="auto">
            <a:xfrm>
              <a:off x="63452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8" name="Rectangle 68"/>
            <p:cNvSpPr>
              <a:spLocks noChangeArrowheads="1"/>
            </p:cNvSpPr>
            <p:nvPr/>
          </p:nvSpPr>
          <p:spPr bwMode="auto">
            <a:xfrm>
              <a:off x="66500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9" name="Rectangle 69"/>
            <p:cNvSpPr>
              <a:spLocks noChangeArrowheads="1"/>
            </p:cNvSpPr>
            <p:nvPr/>
          </p:nvSpPr>
          <p:spPr bwMode="auto">
            <a:xfrm>
              <a:off x="69548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" name="Rectangle 70"/>
            <p:cNvSpPr>
              <a:spLocks noChangeArrowheads="1"/>
            </p:cNvSpPr>
            <p:nvPr/>
          </p:nvSpPr>
          <p:spPr bwMode="auto">
            <a:xfrm>
              <a:off x="72596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Rectangle 71"/>
            <p:cNvSpPr>
              <a:spLocks noChangeArrowheads="1"/>
            </p:cNvSpPr>
            <p:nvPr/>
          </p:nvSpPr>
          <p:spPr bwMode="auto">
            <a:xfrm>
              <a:off x="7564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Rectangle 72"/>
            <p:cNvSpPr>
              <a:spLocks noChangeArrowheads="1"/>
            </p:cNvSpPr>
            <p:nvPr/>
          </p:nvSpPr>
          <p:spPr bwMode="auto">
            <a:xfrm>
              <a:off x="7869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Rectangle 9"/>
            <p:cNvSpPr>
              <a:spLocks noChangeArrowheads="1"/>
            </p:cNvSpPr>
            <p:nvPr/>
          </p:nvSpPr>
          <p:spPr bwMode="auto">
            <a:xfrm>
              <a:off x="8174037" y="427208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994756A-E94D-46F0-8DB3-CE34F529E4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637" y="5231705"/>
            <a:ext cx="1595903" cy="159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42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Issues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know how much memory to free given just a pointer?</a:t>
            </a:r>
          </a:p>
          <a:p>
            <a:endParaRPr lang="en-US" dirty="0"/>
          </a:p>
          <a:p>
            <a:r>
              <a:rPr lang="en-US" dirty="0"/>
              <a:t>How do we keep track of the free blocks?</a:t>
            </a:r>
          </a:p>
          <a:p>
            <a:endParaRPr lang="en-US" dirty="0"/>
          </a:p>
          <a:p>
            <a:r>
              <a:rPr lang="en-US" dirty="0"/>
              <a:t>What do we do with the extra space when allocating a structure that is smaller than the free block it is placed in?</a:t>
            </a:r>
          </a:p>
          <a:p>
            <a:endParaRPr lang="en-US" dirty="0"/>
          </a:p>
          <a:p>
            <a:r>
              <a:rPr lang="en-US" dirty="0"/>
              <a:t>How do we pick a block to use for allocation -- many might fit?</a:t>
            </a:r>
          </a:p>
          <a:p>
            <a:endParaRPr lang="en-US" dirty="0"/>
          </a:p>
          <a:p>
            <a:r>
              <a:rPr lang="en-US" dirty="0"/>
              <a:t>How do we reinsert freed block?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6536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Knowing How Much to Free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method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Keep the length of a block in the word </a:t>
            </a:r>
            <a:r>
              <a:rPr lang="en-GB" i="1" dirty="0"/>
              <a:t>preceding</a:t>
            </a:r>
            <a:r>
              <a:rPr lang="en-GB" dirty="0"/>
              <a:t> the block.</a:t>
            </a:r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This word is often called the </a:t>
            </a:r>
            <a:r>
              <a:rPr lang="en-GB" b="1" i="1" dirty="0">
                <a:solidFill>
                  <a:srgbClr val="C00000"/>
                </a:solidFill>
              </a:rPr>
              <a:t>header field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dirty="0"/>
              <a:t>or</a:t>
            </a:r>
            <a:r>
              <a:rPr lang="en-GB" i="1" dirty="0"/>
              <a:t> </a:t>
            </a:r>
            <a:r>
              <a:rPr lang="en-GB" b="1" i="1" dirty="0">
                <a:solidFill>
                  <a:srgbClr val="C00000"/>
                </a:solidFill>
              </a:rPr>
              <a:t>header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Requires an extra word for every allocated block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41305" y="4014429"/>
            <a:ext cx="2403520" cy="3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p0 = malloc(4*SIZ)</a:t>
            </a: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5410200" y="3733800"/>
            <a:ext cx="425450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</a:rPr>
              <a:t>p0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25114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28162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31210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34258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37306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40354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43402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46450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49498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55594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58642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1690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4738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67786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7083425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55"/>
          <p:cNvSpPr>
            <a:spLocks noChangeShapeType="1"/>
          </p:cNvSpPr>
          <p:nvPr/>
        </p:nvSpPr>
        <p:spPr bwMode="auto">
          <a:xfrm>
            <a:off x="6778625" y="4166286"/>
            <a:ext cx="1588" cy="6858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85228" y="5665237"/>
            <a:ext cx="1169208" cy="3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free(p0)</a:t>
            </a:r>
          </a:p>
        </p:txBody>
      </p:sp>
      <p:sp>
        <p:nvSpPr>
          <p:cNvPr id="58" name="Text Box 57"/>
          <p:cNvSpPr txBox="1">
            <a:spLocks noChangeArrowheads="1"/>
          </p:cNvSpPr>
          <p:nvPr/>
        </p:nvSpPr>
        <p:spPr bwMode="auto">
          <a:xfrm>
            <a:off x="4914985" y="5129816"/>
            <a:ext cx="995507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b</a:t>
            </a:r>
            <a:r>
              <a:rPr lang="en-GB" sz="1600" b="1" dirty="0">
                <a:latin typeface="Calibri" pitchFamily="34" charset="0"/>
              </a:rPr>
              <a:t>lock size</a:t>
            </a:r>
          </a:p>
        </p:txBody>
      </p:sp>
      <p:sp>
        <p:nvSpPr>
          <p:cNvPr id="60" name="Text Box 59"/>
          <p:cNvSpPr txBox="1">
            <a:spLocks noChangeArrowheads="1"/>
          </p:cNvSpPr>
          <p:nvPr/>
        </p:nvSpPr>
        <p:spPr bwMode="auto">
          <a:xfrm>
            <a:off x="6071611" y="5129816"/>
            <a:ext cx="93196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Payload</a:t>
            </a:r>
            <a:br>
              <a:rPr lang="en-GB" sz="1600" dirty="0">
                <a:latin typeface="Calibri" pitchFamily="34" charset="0"/>
              </a:rPr>
            </a:br>
            <a:r>
              <a:rPr lang="en-GB" sz="1600" dirty="0">
                <a:latin typeface="Calibri" pitchFamily="34" charset="0"/>
              </a:rPr>
              <a:t>(aligned)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5" name="Line 64"/>
          <p:cNvSpPr>
            <a:spLocks noChangeShapeType="1"/>
          </p:cNvSpPr>
          <p:nvPr/>
        </p:nvSpPr>
        <p:spPr bwMode="auto">
          <a:xfrm>
            <a:off x="5612113" y="4038600"/>
            <a:ext cx="1588" cy="3048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5254625" y="4343400"/>
            <a:ext cx="304800" cy="3048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5</a:t>
            </a:r>
          </a:p>
        </p:txBody>
      </p:sp>
      <p:sp>
        <p:nvSpPr>
          <p:cNvPr id="66" name="Line 65"/>
          <p:cNvSpPr>
            <a:spLocks noChangeShapeType="1"/>
          </p:cNvSpPr>
          <p:nvPr/>
        </p:nvSpPr>
        <p:spPr bwMode="auto">
          <a:xfrm>
            <a:off x="5254625" y="4166286"/>
            <a:ext cx="1588" cy="6858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69" name="Straight Arrow Connector 68"/>
          <p:cNvCxnSpPr>
            <a:endCxn id="67" idx="2"/>
          </p:cNvCxnSpPr>
          <p:nvPr/>
        </p:nvCxnSpPr>
        <p:spPr bwMode="auto">
          <a:xfrm rot="16200000" flipV="1">
            <a:off x="5179695" y="4875530"/>
            <a:ext cx="457200" cy="2539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1" name="Straight Arrow Connector 70"/>
          <p:cNvCxnSpPr>
            <a:endCxn id="50" idx="2"/>
          </p:cNvCxnSpPr>
          <p:nvPr/>
        </p:nvCxnSpPr>
        <p:spPr bwMode="auto">
          <a:xfrm flipH="1" flipV="1">
            <a:off x="5711825" y="4648200"/>
            <a:ext cx="822593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3" name="Straight Arrow Connector 72"/>
          <p:cNvCxnSpPr>
            <a:endCxn id="51" idx="2"/>
          </p:cNvCxnSpPr>
          <p:nvPr/>
        </p:nvCxnSpPr>
        <p:spPr bwMode="auto">
          <a:xfrm flipH="1" flipV="1">
            <a:off x="6016625" y="4648200"/>
            <a:ext cx="517793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7" name="Straight Arrow Connector 76"/>
          <p:cNvCxnSpPr>
            <a:endCxn id="52" idx="2"/>
          </p:cNvCxnSpPr>
          <p:nvPr/>
        </p:nvCxnSpPr>
        <p:spPr bwMode="auto">
          <a:xfrm flipH="1" flipV="1">
            <a:off x="6321425" y="4648200"/>
            <a:ext cx="212993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9" name="Straight Arrow Connector 78"/>
          <p:cNvCxnSpPr>
            <a:endCxn id="53" idx="2"/>
          </p:cNvCxnSpPr>
          <p:nvPr/>
        </p:nvCxnSpPr>
        <p:spPr bwMode="auto">
          <a:xfrm flipV="1">
            <a:off x="6534418" y="4648200"/>
            <a:ext cx="91807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grpSp>
        <p:nvGrpSpPr>
          <p:cNvPr id="57" name="Group 56"/>
          <p:cNvGrpSpPr/>
          <p:nvPr/>
        </p:nvGrpSpPr>
        <p:grpSpPr>
          <a:xfrm>
            <a:off x="2511425" y="3200400"/>
            <a:ext cx="5489575" cy="304800"/>
            <a:chOff x="2511425" y="3200400"/>
            <a:chExt cx="5489575" cy="304800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511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8162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1210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4258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730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4035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43402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46450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49498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5559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58642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1690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4738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6778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7083425" y="3200400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73882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5254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7696200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73882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7696200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5" name="Group 74"/>
          <p:cNvGrpSpPr/>
          <p:nvPr/>
        </p:nvGrpSpPr>
        <p:grpSpPr>
          <a:xfrm>
            <a:off x="2474754" y="5991225"/>
            <a:ext cx="5489575" cy="304800"/>
            <a:chOff x="2511425" y="3200400"/>
            <a:chExt cx="5489575" cy="304800"/>
          </a:xfrm>
        </p:grpSpPr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2511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28162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31210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34258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3730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4035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43402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46450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49498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5559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58642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61690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64738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6778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7083425" y="3200400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73882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5254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7696200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4992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 bwMode="auto">
          <a:xfrm>
            <a:off x="396875" y="1197678"/>
            <a:ext cx="7146925" cy="18503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Track of Free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254210"/>
            <a:ext cx="8289925" cy="5375190"/>
          </a:xfrm>
        </p:spPr>
        <p:txBody>
          <a:bodyPr/>
          <a:lstStyle/>
          <a:p>
            <a:r>
              <a:rPr lang="en-US" dirty="0"/>
              <a:t>Method 1: </a:t>
            </a:r>
            <a:r>
              <a:rPr lang="en-US" i="1" dirty="0">
                <a:solidFill>
                  <a:srgbClr val="C00000"/>
                </a:solidFill>
              </a:rPr>
              <a:t>Implicit list </a:t>
            </a:r>
            <a:r>
              <a:rPr lang="en-US" dirty="0"/>
              <a:t>using length—links all blocks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Method 2: </a:t>
            </a:r>
            <a:r>
              <a:rPr lang="en-GB" i="1" dirty="0">
                <a:solidFill>
                  <a:srgbClr val="C00000"/>
                </a:solidFill>
              </a:rPr>
              <a:t>Explicit list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/>
              <a:t>among the free blocks using pointers</a:t>
            </a:r>
          </a:p>
          <a:p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Method 3: </a:t>
            </a:r>
            <a:r>
              <a:rPr lang="en-GB" i="1" dirty="0">
                <a:solidFill>
                  <a:srgbClr val="C00000"/>
                </a:solidFill>
              </a:rPr>
              <a:t>Segregated free list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Different free lists for different size classes</a:t>
            </a:r>
            <a:endParaRPr lang="en-US" dirty="0"/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US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dirty="0"/>
              <a:t>Method 4: </a:t>
            </a:r>
            <a:r>
              <a:rPr lang="en-GB" i="1" dirty="0">
                <a:solidFill>
                  <a:srgbClr val="C00000"/>
                </a:solidFill>
              </a:rPr>
              <a:t>Blocks sorted by size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use a balanced tree (e.g. Red-Black tree) with pointers within each free block, and the length used as a key</a:t>
            </a:r>
          </a:p>
        </p:txBody>
      </p:sp>
      <p:sp>
        <p:nvSpPr>
          <p:cNvPr id="21" name="Freeform 39"/>
          <p:cNvSpPr>
            <a:spLocks/>
          </p:cNvSpPr>
          <p:nvPr/>
        </p:nvSpPr>
        <p:spPr bwMode="auto">
          <a:xfrm>
            <a:off x="1752600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28" y="0"/>
              </a:cxn>
              <a:cxn ang="0">
                <a:pos x="960" y="144"/>
              </a:cxn>
            </a:cxnLst>
            <a:rect l="0" t="0" r="r" b="b"/>
            <a:pathLst>
              <a:path w="960" h="144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40"/>
          <p:cNvSpPr>
            <a:spLocks/>
          </p:cNvSpPr>
          <p:nvPr/>
        </p:nvSpPr>
        <p:spPr bwMode="auto">
          <a:xfrm>
            <a:off x="2981432" y="1959678"/>
            <a:ext cx="1819168" cy="231374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41"/>
          <p:cNvSpPr>
            <a:spLocks/>
          </p:cNvSpPr>
          <p:nvPr/>
        </p:nvSpPr>
        <p:spPr bwMode="auto">
          <a:xfrm>
            <a:off x="4838700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7515332" y="1739897"/>
            <a:ext cx="15072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Need to tag</a:t>
            </a:r>
          </a:p>
          <a:p>
            <a:pPr algn="ctr"/>
            <a:r>
              <a:rPr lang="en-US" sz="1800" b="0" dirty="0">
                <a:latin typeface="Calibri" pitchFamily="34" charset="0"/>
              </a:rPr>
              <a:t>each block as</a:t>
            </a:r>
          </a:p>
          <a:p>
            <a:pPr algn="ctr"/>
            <a:r>
              <a:rPr lang="en-US" sz="1800" b="0" dirty="0">
                <a:latin typeface="Calibri" pitchFamily="34" charset="0"/>
              </a:rPr>
              <a:t>allocated/free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7893" y="3791634"/>
            <a:ext cx="131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Need space</a:t>
            </a:r>
          </a:p>
          <a:p>
            <a:pPr algn="ctr"/>
            <a:r>
              <a:rPr lang="en-US" sz="1800" b="0" dirty="0">
                <a:latin typeface="Calibri" pitchFamily="34" charset="0"/>
              </a:rPr>
              <a:t>for pointers</a:t>
            </a:r>
          </a:p>
        </p:txBody>
      </p:sp>
      <p:sp>
        <p:nvSpPr>
          <p:cNvPr id="46" name="Text Box 410"/>
          <p:cNvSpPr txBox="1">
            <a:spLocks noChangeAspect="1" noChangeArrowheads="1"/>
          </p:cNvSpPr>
          <p:nvPr/>
        </p:nvSpPr>
        <p:spPr bwMode="auto">
          <a:xfrm>
            <a:off x="916875" y="1905481"/>
            <a:ext cx="835725" cy="3416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Unused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1288544" y="2209800"/>
            <a:ext cx="5188456" cy="311019"/>
            <a:chOff x="1288544" y="2209800"/>
            <a:chExt cx="5188456" cy="311019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>
                  <a:latin typeface="+mn-lt"/>
                </a:rPr>
                <a:t>6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>
                  <a:latin typeface="+mn-lt"/>
                </a:rPr>
                <a:t>4</a:t>
              </a: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1288544" y="2216019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322111" y="3962399"/>
            <a:ext cx="5181600" cy="304800"/>
            <a:chOff x="1295400" y="2209800"/>
            <a:chExt cx="5181600" cy="304800"/>
          </a:xfrm>
        </p:grpSpPr>
        <p:sp>
          <p:nvSpPr>
            <p:cNvPr id="50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51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>
                  <a:latin typeface="+mn-lt"/>
                </a:rPr>
                <a:t>6</a:t>
              </a:r>
            </a:p>
          </p:txBody>
        </p:sp>
        <p:sp>
          <p:nvSpPr>
            <p:cNvPr id="55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56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>
                  <a:latin typeface="+mn-lt"/>
                </a:rPr>
                <a:t>4</a:t>
              </a:r>
            </a:p>
          </p:txBody>
        </p:sp>
        <p:sp>
          <p:nvSpPr>
            <p:cNvPr id="60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64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66" name="Rectangle 7"/>
            <p:cNvSpPr>
              <a:spLocks noChangeArrowheads="1"/>
            </p:cNvSpPr>
            <p:nvPr/>
          </p:nvSpPr>
          <p:spPr bwMode="auto">
            <a:xfrm>
              <a:off x="1295400" y="2209800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</p:grpSp>
      <p:sp>
        <p:nvSpPr>
          <p:cNvPr id="41" name="Freeform 38"/>
          <p:cNvSpPr>
            <a:spLocks/>
          </p:cNvSpPr>
          <p:nvPr/>
        </p:nvSpPr>
        <p:spPr bwMode="auto">
          <a:xfrm>
            <a:off x="2076381" y="3550334"/>
            <a:ext cx="2733568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Freeform 38"/>
          <p:cNvSpPr>
            <a:spLocks/>
          </p:cNvSpPr>
          <p:nvPr/>
        </p:nvSpPr>
        <p:spPr bwMode="auto">
          <a:xfrm>
            <a:off x="5103805" y="3621689"/>
            <a:ext cx="1677996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xmlns="" id="{957F630D-B636-4E5C-99FE-DB0A2F896C83}"/>
              </a:ext>
            </a:extLst>
          </p:cNvPr>
          <p:cNvSpPr/>
          <p:nvPr/>
        </p:nvSpPr>
        <p:spPr bwMode="auto">
          <a:xfrm>
            <a:off x="174509" y="2135431"/>
            <a:ext cx="519688" cy="453538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95707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67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Homework </a:t>
            </a:r>
            <a:r>
              <a:rPr lang="mr-IN" dirty="0" smtClean="0"/>
              <a:t>–</a:t>
            </a:r>
            <a:r>
              <a:rPr lang="en-US" dirty="0" smtClean="0"/>
              <a:t> Week 5</a:t>
            </a:r>
            <a:br>
              <a:rPr lang="en-US" dirty="0" smtClean="0"/>
            </a:br>
            <a:r>
              <a:rPr lang="en-US" sz="2800" dirty="0" smtClean="0"/>
              <a:t>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623659"/>
            <a:ext cx="7896225" cy="4710465"/>
          </a:xfrm>
        </p:spPr>
        <p:txBody>
          <a:bodyPr/>
          <a:lstStyle/>
          <a:p>
            <a:r>
              <a:rPr lang="en-US" dirty="0" smtClean="0"/>
              <a:t>Homework #3 </a:t>
            </a:r>
            <a:r>
              <a:rPr lang="mr-IN" dirty="0" smtClean="0"/>
              <a:t>–</a:t>
            </a:r>
            <a:r>
              <a:rPr lang="en-US" dirty="0" smtClean="0"/>
              <a:t> Due 2/13 @ 5:45PM</a:t>
            </a:r>
          </a:p>
          <a:p>
            <a:pPr lvl="1"/>
            <a:r>
              <a:rPr lang="en-US" dirty="0" smtClean="0"/>
              <a:t>Problems 9.11, 9.12, 9.13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Begin Shell Lab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Read</a:t>
            </a:r>
            <a:r>
              <a:rPr lang="en-US" dirty="0" smtClean="0"/>
              <a:t>: CS:APP</a:t>
            </a:r>
          </a:p>
          <a:p>
            <a:pPr lvl="1"/>
            <a:r>
              <a:rPr lang="en-US" dirty="0" smtClean="0"/>
              <a:t>Sections 9.1</a:t>
            </a:r>
            <a:r>
              <a:rPr lang="en-US" dirty="0" smtClean="0"/>
              <a:t>-</a:t>
            </a:r>
            <a:r>
              <a:rPr lang="en-US" dirty="0" smtClean="0"/>
              <a:t>9.8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2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66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66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25903</TotalTime>
  <Words>5337</Words>
  <Application>Microsoft Macintosh PowerPoint</Application>
  <PresentationFormat>On-screen Show (4:3)</PresentationFormat>
  <Paragraphs>2448</Paragraphs>
  <Slides>59</Slides>
  <Notes>47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1" baseType="lpstr">
      <vt:lpstr>template2007</vt:lpstr>
      <vt:lpstr>Default Design</vt:lpstr>
      <vt:lpstr>Midterm Exam Virtual Memory Part II  CSC 374: Computer Systems II 6th Lecture, February 6, 2018</vt:lpstr>
      <vt:lpstr>Today</vt:lpstr>
      <vt:lpstr>Review: Virtual Memory &amp; Physical Memory</vt:lpstr>
      <vt:lpstr>Translating with a k-level Page Table</vt:lpstr>
      <vt:lpstr>Translation Lookaside Buffer (TLB)</vt:lpstr>
      <vt:lpstr>Address Translation: Page Hit</vt:lpstr>
      <vt:lpstr>Address Translation: Page Fault</vt:lpstr>
      <vt:lpstr>Review of Symbols</vt:lpstr>
      <vt:lpstr>Today</vt:lpstr>
      <vt:lpstr>Simple Memory System Example</vt:lpstr>
      <vt:lpstr>Simple Memory System TLB</vt:lpstr>
      <vt:lpstr>Simple Memory System Page Table</vt:lpstr>
      <vt:lpstr>Simple Memory System Cache</vt:lpstr>
      <vt:lpstr>Address Translation Example</vt:lpstr>
      <vt:lpstr>Address Translation Example: TLB/Cache Miss</vt:lpstr>
      <vt:lpstr>Address Translation Example</vt:lpstr>
      <vt:lpstr>Virtual Memory Exam Question</vt:lpstr>
      <vt:lpstr>Today</vt:lpstr>
      <vt:lpstr>Intel Core i7 Memory System</vt:lpstr>
      <vt:lpstr>End-to-end Core i7 Address Translation</vt:lpstr>
      <vt:lpstr>Core i7 Level 1-3 Page Table Entries</vt:lpstr>
      <vt:lpstr>Core i7 Level 4 Page Table Entries</vt:lpstr>
      <vt:lpstr>Core i7 Page Table Translation</vt:lpstr>
      <vt:lpstr>Cute Trick for Speeding Up L1 Access</vt:lpstr>
      <vt:lpstr>Virtual Address Space of a Linux Process</vt:lpstr>
      <vt:lpstr>Linux Organizes VM as Collection of “Areas” </vt:lpstr>
      <vt:lpstr>Linux Page Fault Handling </vt:lpstr>
      <vt:lpstr>Today</vt:lpstr>
      <vt:lpstr>Memory Mapping</vt:lpstr>
      <vt:lpstr>Review: Memory Management &amp; Protection </vt:lpstr>
      <vt:lpstr>Sharing Revisited: Shared Objects</vt:lpstr>
      <vt:lpstr>Sharing Revisited: Shared Objects</vt:lpstr>
      <vt:lpstr>Sharing Revisited:  Private Copy-on-write (COW) Objects</vt:lpstr>
      <vt:lpstr>Sharing Revisited:  Private Copy-on-write (COW) Objects</vt:lpstr>
      <vt:lpstr>The fork Function Revisited</vt:lpstr>
      <vt:lpstr>The execve Function Revisited</vt:lpstr>
      <vt:lpstr>Finding More Shareable Pages</vt:lpstr>
      <vt:lpstr>User-Level Memory Mapping</vt:lpstr>
      <vt:lpstr>User-Level Memory Mapping</vt:lpstr>
      <vt:lpstr>Example: Using mmap to Copy Files</vt:lpstr>
      <vt:lpstr>Some Uses of mmap</vt:lpstr>
      <vt:lpstr>Summary</vt:lpstr>
      <vt:lpstr>Today</vt:lpstr>
      <vt:lpstr>Dynamic Memory Allocation </vt:lpstr>
      <vt:lpstr>Dynamic Memory Allocation</vt:lpstr>
      <vt:lpstr>The malloc Package</vt:lpstr>
      <vt:lpstr>malloc Example</vt:lpstr>
      <vt:lpstr>Simplifying Assumptions Made in This Lecture</vt:lpstr>
      <vt:lpstr>Allocation Example</vt:lpstr>
      <vt:lpstr>Constraints</vt:lpstr>
      <vt:lpstr>Performance Goal: Throughput</vt:lpstr>
      <vt:lpstr>Performance Goal: Peak Memory Utilization</vt:lpstr>
      <vt:lpstr>Fragmentation</vt:lpstr>
      <vt:lpstr>Internal Fragmentation</vt:lpstr>
      <vt:lpstr>External Fragmentation</vt:lpstr>
      <vt:lpstr>Implementation Issues</vt:lpstr>
      <vt:lpstr>Knowing How Much to Free</vt:lpstr>
      <vt:lpstr>Keeping Track of Free Blocks</vt:lpstr>
      <vt:lpstr> Homework – Week 5  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Walter Martens</cp:lastModifiedBy>
  <cp:revision>666</cp:revision>
  <cp:lastPrinted>1999-09-20T15:19:18Z</cp:lastPrinted>
  <dcterms:created xsi:type="dcterms:W3CDTF">2011-09-29T14:59:56Z</dcterms:created>
  <dcterms:modified xsi:type="dcterms:W3CDTF">2018-02-06T23:54:35Z</dcterms:modified>
</cp:coreProperties>
</file>