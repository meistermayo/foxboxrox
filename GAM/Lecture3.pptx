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4"/>
  </p:notesMasterIdLst>
  <p:sldIdLst>
    <p:sldId id="259" r:id="rId2"/>
    <p:sldId id="348" r:id="rId3"/>
    <p:sldId id="340" r:id="rId4"/>
    <p:sldId id="341" r:id="rId5"/>
    <p:sldId id="359" r:id="rId6"/>
    <p:sldId id="358" r:id="rId7"/>
    <p:sldId id="362" r:id="rId8"/>
    <p:sldId id="361" r:id="rId9"/>
    <p:sldId id="363" r:id="rId10"/>
    <p:sldId id="360" r:id="rId11"/>
    <p:sldId id="364" r:id="rId12"/>
    <p:sldId id="365" r:id="rId13"/>
    <p:sldId id="367" r:id="rId14"/>
    <p:sldId id="366" r:id="rId15"/>
    <p:sldId id="342" r:id="rId16"/>
    <p:sldId id="343" r:id="rId17"/>
    <p:sldId id="344" r:id="rId18"/>
    <p:sldId id="345" r:id="rId19"/>
    <p:sldId id="346" r:id="rId20"/>
    <p:sldId id="399" r:id="rId21"/>
    <p:sldId id="368" r:id="rId22"/>
    <p:sldId id="371" r:id="rId23"/>
    <p:sldId id="370" r:id="rId24"/>
    <p:sldId id="372" r:id="rId25"/>
    <p:sldId id="386" r:id="rId26"/>
    <p:sldId id="373" r:id="rId27"/>
    <p:sldId id="374" r:id="rId28"/>
    <p:sldId id="375" r:id="rId29"/>
    <p:sldId id="376" r:id="rId30"/>
    <p:sldId id="377" r:id="rId31"/>
    <p:sldId id="378" r:id="rId32"/>
    <p:sldId id="369" r:id="rId33"/>
    <p:sldId id="379" r:id="rId34"/>
    <p:sldId id="380" r:id="rId35"/>
    <p:sldId id="381" r:id="rId36"/>
    <p:sldId id="382" r:id="rId37"/>
    <p:sldId id="383" r:id="rId38"/>
    <p:sldId id="384" r:id="rId39"/>
    <p:sldId id="385" r:id="rId40"/>
    <p:sldId id="387" r:id="rId41"/>
    <p:sldId id="388" r:id="rId42"/>
    <p:sldId id="390" r:id="rId43"/>
    <p:sldId id="391" r:id="rId44"/>
    <p:sldId id="389" r:id="rId45"/>
    <p:sldId id="392" r:id="rId46"/>
    <p:sldId id="393" r:id="rId47"/>
    <p:sldId id="394" r:id="rId48"/>
    <p:sldId id="395" r:id="rId49"/>
    <p:sldId id="396" r:id="rId50"/>
    <p:sldId id="397" r:id="rId51"/>
    <p:sldId id="398" r:id="rId52"/>
    <p:sldId id="266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66"/>
    <a:srgbClr val="0D19FF"/>
    <a:srgbClr val="DE3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881" autoAdjust="0"/>
    <p:restoredTop sz="94994" autoAdjust="0"/>
  </p:normalViewPr>
  <p:slideViewPr>
    <p:cSldViewPr>
      <p:cViewPr varScale="1">
        <p:scale>
          <a:sx n="101" d="100"/>
          <a:sy n="101" d="100"/>
        </p:scale>
        <p:origin x="-103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84DBB-6228-42E2-8BE2-B5B89DE36B0A}" type="datetimeFigureOut">
              <a:rPr lang="en-US" smtClean="0"/>
              <a:t>1/17/2018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6F42D-BF06-49B9-B552-461889774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610600" cy="1295400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rgbClr val="0070C0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3790950"/>
            <a:ext cx="5715000" cy="184785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1/17/2018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106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1/17/2018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10600" cy="52578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fld id="{6DF0B6F7-A95D-415F-AB9C-947ED3F9C7B2}" type="datetime1">
              <a:rPr lang="en-US" smtClean="0"/>
              <a:t>1/17/2018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257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52608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1/17/2018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1/17/2018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1/17/2018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1/17/2018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525780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6172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1/17/2018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fld id="{DBA0D2F6-DF7A-40A9-B654-D40E4E483C8E}" type="datetime1">
              <a:rPr lang="en-US" smtClean="0"/>
              <a:t>1/17/2018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1/17/2018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1/17/2018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1/17/2018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randomBar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solidFill>
            <a:srgbClr val="0070C0"/>
          </a:solidFill>
          <a:latin typeface="Arial Black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1"/>
        </a:buClr>
        <a:buSzPct val="76000"/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4572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tx1"/>
        </a:buClr>
        <a:buSzPct val="70000"/>
        <a:buFont typeface="Arial" pitchFamily="34" charset="0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tx1"/>
        </a:buClr>
        <a:buSzPct val="70000"/>
        <a:buFont typeface="Wingdings"/>
        <a:buChar char="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hyperlink" Target="https://www.youtube.com/watch?v=LPQTMvN1M8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facweb.cs.depaul.edu/andre/GAM325/lecturenotes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facweb.cs.depaul.edu/andre/GAM325/linearAlgebraSafetyRules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windows/desktop/ff471376(v=vs.85).aspx" TargetMode="Externa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sdn.microsoft.com/en-us/library/windows/desktop/ff729728(v=vs.85).aspx" TargetMode="External"/><Relationship Id="rId5" Type="http://schemas.openxmlformats.org/officeDocument/2006/relationships/hyperlink" Target="http://xboxforums.create.msdn.com/forums/t/112276.aspx" TargetMode="External"/><Relationship Id="rId4" Type="http://schemas.openxmlformats.org/officeDocument/2006/relationships/hyperlink" Target="https://msdn.microsoft.com/en-us/library/windows/desktop/bb509628(v=vs.85).aspx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facweb.cs.depaul.edu/andre/GAM325/lecturenotes.html" TargetMode="External"/><Relationship Id="rId2" Type="http://schemas.openxmlformats.org/officeDocument/2006/relationships/hyperlink" Target="https://anteru.net/blog/2011/12/27/1830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facweb.cs.depaul.edu/andre/GAM325/lecturenotes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sdn.microsoft.com/en-us/library/windows/desktop/bb509581(v=vs.85).aspx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windows/desktop/ff476092(v=vs.85).aspx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luralsight.com/content/dam/pluralsight/blog/thumbnails/dt/2014/06/rendering-wireframes-cinema-4d-two-techniques-get-job-done/Featured4.jpg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windows/desktop/bb509581(v=vs.85).aspx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763000" cy="1295400"/>
          </a:xfrm>
        </p:spPr>
        <p:txBody>
          <a:bodyPr/>
          <a:lstStyle/>
          <a:p>
            <a:r>
              <a:rPr lang="en-US" dirty="0" smtClean="0"/>
              <a:t>GAM 370/470: </a:t>
            </a:r>
            <a:br>
              <a:rPr lang="en-US" dirty="0" smtClean="0"/>
            </a:br>
            <a:r>
              <a:rPr lang="en-US" dirty="0" smtClean="0"/>
              <a:t>Rendering and Graphics Programming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3:</a:t>
            </a:r>
          </a:p>
          <a:p>
            <a:r>
              <a:rPr lang="en-US" dirty="0" smtClean="0"/>
              <a:t>Camera Class, </a:t>
            </a:r>
          </a:p>
          <a:p>
            <a:r>
              <a:rPr lang="en-US" dirty="0" smtClean="0"/>
              <a:t>Pipeline Management </a:t>
            </a:r>
          </a:p>
          <a:p>
            <a:r>
              <a:rPr lang="en-US" dirty="0" smtClean="0"/>
              <a:t>and Model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9367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1: </a:t>
            </a:r>
          </a:p>
          <a:p>
            <a:r>
              <a:rPr lang="en-US" dirty="0" smtClean="0"/>
              <a:t>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8540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to 3D </a:t>
            </a:r>
            <a:r>
              <a:rPr lang="en-US" dirty="0" smtClean="0"/>
              <a:t>Finally?</a:t>
            </a:r>
            <a:br>
              <a:rPr lang="en-US" dirty="0" smtClean="0"/>
            </a:br>
            <a:r>
              <a:rPr lang="en-US" dirty="0" smtClean="0"/>
              <a:t>Almost…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What do we need extra to get a 3D shape?</a:t>
            </a:r>
          </a:p>
          <a:p>
            <a:pPr marL="457200" lvl="1" indent="0">
              <a:buNone/>
            </a:pPr>
            <a:r>
              <a:rPr lang="en-US" sz="1600" b="1" dirty="0" smtClean="0"/>
              <a:t>Ex: </a:t>
            </a:r>
            <a:r>
              <a:rPr lang="en-US" sz="1600" i="1" dirty="0" smtClean="0"/>
              <a:t>rotating pyramid or </a:t>
            </a:r>
            <a:r>
              <a:rPr lang="en-US" sz="1600" i="1" dirty="0" smtClean="0">
                <a:hlinkClick r:id="rId2"/>
              </a:rPr>
              <a:t>spinning cube</a:t>
            </a:r>
            <a:r>
              <a:rPr lang="en-US" sz="1600" i="1" dirty="0" smtClean="0"/>
              <a:t>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684213" lvl="1" indent="-227013">
              <a:spcBef>
                <a:spcPts val="0"/>
              </a:spcBef>
              <a:buFont typeface="+mj-lt"/>
              <a:buAutoNum type="arabicPeriod"/>
            </a:pPr>
            <a:r>
              <a:rPr lang="en-US" sz="1800" dirty="0" smtClean="0"/>
              <a:t>A 3D model </a:t>
            </a:r>
          </a:p>
          <a:p>
            <a:pPr marL="1089025" lvl="2" indent="0">
              <a:spcBef>
                <a:spcPts val="0"/>
              </a:spcBef>
              <a:buNone/>
            </a:pPr>
            <a:r>
              <a:rPr lang="en-US" b="1" i="1" dirty="0" smtClean="0"/>
              <a:t>Ex: </a:t>
            </a:r>
            <a:r>
              <a:rPr lang="en-US" i="1" dirty="0" smtClean="0"/>
              <a:t>4-sided pyramid. how many verts? </a:t>
            </a:r>
            <a:r>
              <a:rPr lang="en-US" i="1" dirty="0" err="1" smtClean="0"/>
              <a:t>Tris</a:t>
            </a:r>
            <a:r>
              <a:rPr lang="en-US" i="1" dirty="0" smtClean="0"/>
              <a:t>?</a:t>
            </a:r>
            <a:endParaRPr lang="en-US" sz="1600" i="1" dirty="0" smtClean="0"/>
          </a:p>
          <a:p>
            <a:pPr marL="684213" lvl="1" indent="-227013">
              <a:spcBef>
                <a:spcPts val="0"/>
              </a:spcBef>
              <a:buFont typeface="+mj-lt"/>
              <a:buAutoNum type="arabicPeriod"/>
            </a:pPr>
            <a:r>
              <a:rPr lang="en-US" sz="1800" dirty="0" smtClean="0"/>
              <a:t>World matrix to place the cube in world space</a:t>
            </a:r>
          </a:p>
          <a:p>
            <a:pPr marL="684213" lvl="1" indent="-227013">
              <a:spcBef>
                <a:spcPts val="0"/>
              </a:spcBef>
              <a:buFont typeface="+mj-lt"/>
              <a:buAutoNum type="arabicPeriod"/>
            </a:pPr>
            <a:r>
              <a:rPr lang="en-US" sz="1800" dirty="0" smtClean="0"/>
              <a:t>Camera matrices to convert from World to NDC (view and perspective)</a:t>
            </a:r>
          </a:p>
          <a:p>
            <a:pPr marL="684213" lvl="1" indent="-227013">
              <a:spcBef>
                <a:spcPts val="0"/>
              </a:spcBef>
              <a:buFont typeface="+mj-lt"/>
              <a:buAutoNum type="arabicPeriod"/>
            </a:pPr>
            <a:r>
              <a:rPr lang="en-US" sz="1800" dirty="0" smtClean="0"/>
              <a:t>Passing those matrices to the </a:t>
            </a:r>
            <a:r>
              <a:rPr lang="en-US" sz="1800" dirty="0" err="1" smtClean="0"/>
              <a:t>shaders</a:t>
            </a:r>
            <a:r>
              <a:rPr lang="en-US" sz="1800" dirty="0" smtClean="0"/>
              <a:t> (more constant buffers)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Creating a 3D model isn’t too difficult (next slide)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Matrices: Those will require need some explanations: In particular</a:t>
            </a:r>
          </a:p>
          <a:p>
            <a:pPr marL="461963" lvl="1" indent="-188913"/>
            <a:r>
              <a:rPr lang="en-US" sz="1800" dirty="0" smtClean="0"/>
              <a:t>Available methods</a:t>
            </a:r>
          </a:p>
          <a:p>
            <a:pPr marL="461963" lvl="1" indent="-188913"/>
            <a:r>
              <a:rPr lang="en-US" sz="1800" dirty="0" smtClean="0"/>
              <a:t>Row vs column major</a:t>
            </a:r>
            <a:endParaRPr lang="en-US" sz="1800" dirty="0"/>
          </a:p>
        </p:txBody>
      </p:sp>
      <p:pic>
        <p:nvPicPr>
          <p:cNvPr id="1026" name="Picture 2" descr="Image result for rotating cube animated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222029"/>
            <a:ext cx="13335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rotating pyramid animated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226556"/>
            <a:ext cx="1783250" cy="125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155" y="4343400"/>
            <a:ext cx="1306286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427329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3D Colored Pyramid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Let’s create a simple colored, 4-sided pyramid</a:t>
            </a:r>
            <a:endParaRPr lang="en-US" sz="2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295401"/>
            <a:ext cx="2177143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0123" y="2971800"/>
            <a:ext cx="51054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( 0.0f,  1.0f,  0.0f), Colors::Lime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(-1.0f, -1.0f, -1.0f), Colors::Black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(+1.0f, -1.0f, -1.0f), Colors::Red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(+1.0f, -1.0f, +1.0f), Colors::Magenta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(-1.0f, -1.0f, +1.0f), Colors::Blue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D3D11_BUFFER_DESC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* 5;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   &lt;=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adjust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!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D3D11_BIND_VERTEX_BUFFER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D3D11_SUBRESOURCE_DATA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InitData.pSysMem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vertices;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mpVertexBuffer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24300" y="3124200"/>
            <a:ext cx="5105400" cy="297004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2, 1,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back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4, 3, </a:t>
            </a:r>
            <a:r>
              <a:rPr lang="fr-FR" sz="1100" dirty="0">
                <a:solidFill>
                  <a:srgbClr val="008000"/>
                </a:solidFill>
                <a:latin typeface="Consolas"/>
              </a:rPr>
              <a:t>// front </a:t>
            </a:r>
            <a:r>
              <a:rPr lang="fr-FR" sz="1100" dirty="0" smtClean="0">
                <a:solidFill>
                  <a:srgbClr val="008000"/>
                </a:solidFill>
                <a:latin typeface="Consolas"/>
              </a:rPr>
              <a:t>face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3, 2,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left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1, 4,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right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1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2, 3,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bottom faces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1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3, 4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*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3 * 6;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3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indices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for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6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tris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D3D11_BIND_INDEX_BUFFER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InitData.pSysMem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indices;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mpIndexBuffer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1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1704654"/>
            <a:ext cx="28956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now, we’ll be using vertices in format: position + color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96832" y="1704653"/>
            <a:ext cx="2071735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grpSp>
        <p:nvGrpSpPr>
          <p:cNvPr id="2052" name="Group 2051"/>
          <p:cNvGrpSpPr/>
          <p:nvPr/>
        </p:nvGrpSpPr>
        <p:grpSpPr>
          <a:xfrm>
            <a:off x="6680200" y="1447800"/>
            <a:ext cx="1854202" cy="1273969"/>
            <a:chOff x="6680200" y="1447800"/>
            <a:chExt cx="1854202" cy="1273969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6705600" y="1447800"/>
              <a:ext cx="859971" cy="1143000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7565571" y="1447800"/>
              <a:ext cx="968830" cy="1143000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 flipV="1">
              <a:off x="7416800" y="2387600"/>
              <a:ext cx="1117601" cy="203200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680200" y="2387600"/>
              <a:ext cx="736600" cy="225425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 flipV="1">
              <a:off x="6705600" y="2613027"/>
              <a:ext cx="931069" cy="108742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7636669" y="2590800"/>
              <a:ext cx="897733" cy="128588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6705601" y="2590800"/>
              <a:ext cx="1828799" cy="22226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7416800" y="1447800"/>
              <a:ext cx="148771" cy="939800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879716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1-1:</a:t>
            </a:r>
          </a:p>
          <a:p>
            <a:r>
              <a:rPr lang="en-US" dirty="0" smtClean="0"/>
              <a:t>Matrix and </a:t>
            </a:r>
            <a:r>
              <a:rPr lang="en-US" dirty="0" err="1" smtClean="0"/>
              <a:t>Vect</a:t>
            </a:r>
            <a:r>
              <a:rPr lang="en-US" dirty="0" smtClean="0"/>
              <a:t> classes and HSLS matrices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17817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and Vector Classes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Our applications will be using the </a:t>
            </a:r>
            <a:r>
              <a:rPr lang="en-US" sz="2000" dirty="0" smtClean="0">
                <a:latin typeface="Lucida Sans" panose="020B0602030504020204" pitchFamily="34" charset="0"/>
              </a:rPr>
              <a:t>Matrix</a:t>
            </a:r>
            <a:r>
              <a:rPr lang="en-US" sz="2000" dirty="0" smtClean="0"/>
              <a:t> and </a:t>
            </a:r>
            <a:r>
              <a:rPr lang="en-US" sz="2000" dirty="0" err="1" smtClean="0">
                <a:latin typeface="Lucida Sans" panose="020B0602030504020204" pitchFamily="34" charset="0"/>
              </a:rPr>
              <a:t>Vect</a:t>
            </a:r>
            <a:r>
              <a:rPr lang="en-US" sz="2000" dirty="0" smtClean="0"/>
              <a:t> classes taken from the same AZUL package you’ll use in other courses</a:t>
            </a:r>
          </a:p>
          <a:p>
            <a:pPr marL="0" indent="0">
              <a:buNone/>
            </a:pPr>
            <a:r>
              <a:rPr lang="en-US" sz="2000" dirty="0" smtClean="0"/>
              <a:t>Why?</a:t>
            </a:r>
          </a:p>
          <a:p>
            <a:pPr marL="461963" lvl="1" indent="-188913"/>
            <a:r>
              <a:rPr lang="en-US" sz="1800" dirty="0" smtClean="0"/>
              <a:t>You’ll be using those classes in other courses anyway</a:t>
            </a:r>
          </a:p>
          <a:p>
            <a:pPr marL="461963" lvl="1" indent="-188913"/>
            <a:r>
              <a:rPr lang="en-US" sz="1800" dirty="0" smtClean="0"/>
              <a:t>They offer all the functionality we’d want for linear algebra operations</a:t>
            </a:r>
          </a:p>
          <a:p>
            <a:pPr marL="461963" lvl="1" indent="-188913"/>
            <a:r>
              <a:rPr lang="en-US" sz="1800" dirty="0" smtClean="0"/>
              <a:t>Already optimized for SIMD (though we don’t really need it, it’s nice to have)</a:t>
            </a:r>
          </a:p>
          <a:p>
            <a:pPr marL="461963" lvl="1" indent="-188913"/>
            <a:r>
              <a:rPr lang="en-US" sz="1800" dirty="0" smtClean="0"/>
              <a:t>I want to make it clear that you do NOT need </a:t>
            </a:r>
            <a:r>
              <a:rPr lang="en-US" sz="1800" dirty="0" err="1" smtClean="0"/>
              <a:t>DirectXMath</a:t>
            </a:r>
            <a:r>
              <a:rPr lang="en-US" sz="1800" dirty="0" smtClean="0"/>
              <a:t> to work with DirectX</a:t>
            </a:r>
          </a:p>
          <a:p>
            <a:pPr marL="627063" lvl="2" indent="0">
              <a:buNone/>
            </a:pPr>
            <a:r>
              <a:rPr lang="en-US" i="1" dirty="0" smtClean="0"/>
              <a:t>Yet another aspect not clearly stated in most DX demos (or OpenGL demos for that matter)</a:t>
            </a:r>
          </a:p>
          <a:p>
            <a:pPr marL="627063" lvl="2" indent="0">
              <a:buNone/>
            </a:pPr>
            <a:endParaRPr lang="en-US" i="1" dirty="0"/>
          </a:p>
        </p:txBody>
      </p:sp>
      <p:sp>
        <p:nvSpPr>
          <p:cNvPr id="5" name="TextBox 4"/>
          <p:cNvSpPr txBox="1"/>
          <p:nvPr/>
        </p:nvSpPr>
        <p:spPr>
          <a:xfrm>
            <a:off x="1295400" y="4648200"/>
            <a:ext cx="6629400" cy="102155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78423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everyone is familiar with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linear algebra (covered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GAM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325/425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follows here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merely a review of the syntax of the most common operations we’ll need.</a:t>
            </a:r>
          </a:p>
        </p:txBody>
      </p:sp>
    </p:spTree>
    <p:extLst>
      <p:ext uri="{BB962C8B-B14F-4D97-AF65-F5344CB8AC3E}">
        <p14:creationId xmlns:p14="http://schemas.microsoft.com/office/powerpoint/2010/main" val="277278188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Vect</a:t>
            </a:r>
            <a:r>
              <a:rPr lang="en-US" dirty="0" smtClean="0"/>
              <a:t> Common Functions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Using Visual Studio, I definitely recommend you explore </a:t>
            </a:r>
            <a:r>
              <a:rPr lang="en-US" sz="2000" dirty="0" err="1" smtClean="0"/>
              <a:t>Vect.h</a:t>
            </a:r>
            <a:r>
              <a:rPr lang="en-US" sz="2000" dirty="0" smtClean="0"/>
              <a:t>, but here are some of the more common functions and operations: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Common Constructors: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Common Methods: Given a vector v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24346" y="2467824"/>
            <a:ext cx="7734678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x, y, z, w</a:t>
            </a:r>
            <a:r>
              <a:rPr lang="en-US" sz="1100" dirty="0" smtClean="0">
                <a:latin typeface="Consolas"/>
              </a:rPr>
              <a:t>);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 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Returns a 4-dim vector with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coords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(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x,y,z,w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)</a:t>
            </a:r>
          </a:p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x, y, 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z);	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As above, but w=0: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x, y, z, 1)  (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 a point)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346" y="3650676"/>
            <a:ext cx="7734678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returns the x component (similarly with Y(), Z() and W(). 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[x];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returns the x component (similarly with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[y], [z]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and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[w]. )</a:t>
            </a:r>
          </a:p>
          <a:p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v.norm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normalize (length 1) v (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 changes v)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v.getNorm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returns a normalize version of v (v is left unchanged)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v.mag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returns the magnitude (length) of v</a:t>
            </a: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v.magSqr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returns the square magnitude (length) of v</a:t>
            </a:r>
          </a:p>
          <a:p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v.dot(u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	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dot product of u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and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v</a:t>
            </a: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v.cross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(u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	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cross product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of u and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v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v.getAngle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(u);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angle (in radians) between u and v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3597737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Common Functions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Using Visual Studio, I definitely recommend you explore </a:t>
            </a:r>
            <a:r>
              <a:rPr lang="en-US" sz="2000" dirty="0" err="1" smtClean="0"/>
              <a:t>Matrix.h</a:t>
            </a:r>
            <a:r>
              <a:rPr lang="en-US" sz="2000" dirty="0" smtClean="0"/>
              <a:t>, but here are some of the more common functions and operations: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Common Constructors: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Common Methods: Given a Matrix M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24346" y="2467824"/>
            <a:ext cx="7734678" cy="144655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IDENTITY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	 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Returns a 4x4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identify matrix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SCALE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sy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sz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Scale matrix using these scaling factors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TRANS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tx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ty,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tz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Translation matrix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using these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offset values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ROT_X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Rotation about world axis by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in radians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ROT_Z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ROT_AXIS_ANGLE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axis,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Rotation about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arbitrary axis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by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ang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in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radian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ROT_ORIENT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fwd_axis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up_axis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Rotation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aligned with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fwd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(z) and up (y)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346" y="4437211"/>
            <a:ext cx="7734678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M.T();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Transpose M (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 changes M)</a:t>
            </a: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M.getT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Returns a Transpose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M 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M itself is left unchanged)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M.inv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Inverts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M 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change M)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M.getInv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the inverse of M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 M itself is left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unchanged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5410200"/>
            <a:ext cx="7772400" cy="1157764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78423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WARNING: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matrix class is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 major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LASR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the opposite of what we covered in GAM 325/425. Makes sure to properly transpose your operations!</a:t>
            </a:r>
          </a:p>
          <a:p>
            <a:pPr marL="78423" indent="0" algn="ctr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3" indent="0" algn="ctr">
              <a:buNone/>
            </a:pP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the way: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DirectXMath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row major</a:t>
            </a:r>
          </a:p>
        </p:txBody>
      </p:sp>
    </p:spTree>
    <p:extLst>
      <p:ext uri="{BB962C8B-B14F-4D97-AF65-F5344CB8AC3E}">
        <p14:creationId xmlns:p14="http://schemas.microsoft.com/office/powerpoint/2010/main" val="180254581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HLSL Vectors and Matrices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As </a:t>
            </a:r>
            <a:r>
              <a:rPr lang="en-US" sz="2000" dirty="0" smtClean="0">
                <a:hlinkClick r:id="rId2" action="ppaction://hlinksldjump"/>
              </a:rPr>
              <a:t>we saw earlier</a:t>
            </a:r>
            <a:r>
              <a:rPr lang="en-US" sz="2000" dirty="0" smtClean="0"/>
              <a:t>, HLSL vectors and matrices are declared as follow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Common Operations: (many, many more… see </a:t>
            </a:r>
            <a:r>
              <a:rPr lang="en-US" sz="2000" dirty="0" smtClean="0">
                <a:hlinkClick r:id="rId3"/>
              </a:rPr>
              <a:t>full list</a:t>
            </a:r>
            <a:r>
              <a:rPr lang="en-US" sz="2000" dirty="0" smtClean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96431" y="1676400"/>
            <a:ext cx="4608969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A 4 dim vector of floats</a:t>
            </a:r>
          </a:p>
          <a:p>
            <a:pPr lvl="0"/>
            <a:r>
              <a:rPr lang="en-US" sz="1100" dirty="0">
                <a:solidFill>
                  <a:srgbClr val="0000FF"/>
                </a:solidFill>
                <a:latin typeface="Consolas"/>
              </a:rPr>
              <a:t>float4x4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A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4x4 matrix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of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floats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6431" y="2532706"/>
            <a:ext cx="6361569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/>
              <a:t>mul</a:t>
            </a:r>
            <a:r>
              <a:rPr lang="en-US" sz="1100" dirty="0"/>
              <a:t>( </a:t>
            </a:r>
            <a:r>
              <a:rPr lang="en-US" sz="1100" dirty="0" smtClean="0"/>
              <a:t>x,  y )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multiplies x, y whatever they are, in that order. See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  <a:hlinkClick r:id="rId4"/>
              </a:rPr>
              <a:t>HLSL/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  <a:hlinkClick r:id="rId4"/>
              </a:rPr>
              <a:t>mul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/>
              <a:t>dot( u,  v )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returns the dot product of u and v </a:t>
            </a:r>
          </a:p>
          <a:p>
            <a:r>
              <a:rPr lang="en-US" sz="1100" dirty="0" smtClean="0"/>
              <a:t>cross( </a:t>
            </a:r>
            <a:r>
              <a:rPr lang="en-US" sz="1100" dirty="0"/>
              <a:t>u,  v )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cross product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of u and v </a:t>
            </a:r>
          </a:p>
          <a:p>
            <a:r>
              <a:rPr lang="en-US" sz="1100" dirty="0" smtClean="0"/>
              <a:t>length(  </a:t>
            </a:r>
            <a:r>
              <a:rPr lang="en-US" sz="1100" dirty="0"/>
              <a:t>v )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length of v 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/>
              <a:t>transpose( M )</a:t>
            </a:r>
            <a:r>
              <a:rPr lang="en-US" sz="1100" dirty="0"/>
              <a:t>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transpose of M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6431" y="3657600"/>
            <a:ext cx="7772400" cy="238363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78423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WARNING: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HLSL defaults to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column-major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78423" indent="0" algn="ctr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our row-major matrices to HLSL will require some changes.</a:t>
            </a:r>
          </a:p>
          <a:p>
            <a:pPr marL="78423" indent="0" algn="ctr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3" algn="ctr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Think about this: HLSL and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DirectXMath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were created more or less together yet they chose different matrix standards…</a:t>
            </a:r>
          </a:p>
          <a:p>
            <a:pPr marL="78423" algn="ctr"/>
            <a:endParaRPr lang="en-US" sz="8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3" algn="ctr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links</a:t>
            </a:r>
          </a:p>
          <a:p>
            <a:pPr marL="78423"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xboxforums.create.msdn.com/forums/t/112276.aspx</a:t>
            </a:r>
            <a:endParaRPr lang="en-US" sz="1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3"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https://msdn.microsoft.com/en-us/library/windows/desktop/ff729728(v=vs.85).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aspx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01313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1-2:</a:t>
            </a:r>
          </a:p>
          <a:p>
            <a:r>
              <a:rPr lang="en-US" dirty="0" smtClean="0"/>
              <a:t>Camera Matrices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1304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Camera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Camera class: holder/constructor for the View and Projection matrices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458200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/>
              </a:rPr>
              <a:t>Camera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privUpdateProjectionMatrix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float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d = 1 /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tanf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fovy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/2);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m0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d /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aspectRatio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m2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m3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m4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m5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d;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m6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m7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m8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m9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m10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nearDist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 / 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nearDist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-1.0f; 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m12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m13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m14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(-2.0f *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nearDist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 / 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nearDist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m15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Converting from OpenGL-style NDC of [-1,1] to DX's [0,1].  See note: </a:t>
            </a:r>
            <a:r>
              <a:rPr lang="en-US" sz="1000" dirty="0">
                <a:solidFill>
                  <a:srgbClr val="008000"/>
                </a:solidFill>
                <a:latin typeface="Consolas"/>
                <a:hlinkClick r:id="rId2"/>
              </a:rPr>
              <a:t>https://anteru.net/blog/2011/12/27/1830</a:t>
            </a:r>
            <a:r>
              <a:rPr lang="en-US" sz="1000" dirty="0" smtClean="0">
                <a:solidFill>
                  <a:srgbClr val="008000"/>
                </a:solidFill>
                <a:latin typeface="Consolas"/>
                <a:hlinkClick r:id="rId2"/>
              </a:rPr>
              <a:t>/</a:t>
            </a:r>
            <a:endParaRPr lang="en-US" sz="10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(Note: </a:t>
            </a:r>
            <a:r>
              <a:rPr lang="en-US" sz="1000" dirty="0" err="1">
                <a:solidFill>
                  <a:srgbClr val="008000"/>
                </a:solidFill>
                <a:latin typeface="Consolas"/>
              </a:rPr>
              <a:t>NDCConvert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 should be precomputed once and stored for reuse)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fr-FR" sz="10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fr-FR" sz="10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000" dirty="0">
                <a:solidFill>
                  <a:srgbClr val="000000"/>
                </a:solidFill>
                <a:latin typeface="Consolas"/>
              </a:rPr>
              <a:t> B(</a:t>
            </a:r>
            <a:r>
              <a:rPr lang="fr-FR" sz="1000" dirty="0">
                <a:solidFill>
                  <a:srgbClr val="2F4F4F"/>
                </a:solidFill>
                <a:latin typeface="Consolas"/>
              </a:rPr>
              <a:t>TRANS</a:t>
            </a:r>
            <a:r>
              <a:rPr lang="fr-FR" sz="1000" dirty="0">
                <a:solidFill>
                  <a:srgbClr val="000000"/>
                </a:solidFill>
                <a:latin typeface="Consolas"/>
              </a:rPr>
              <a:t>, 0, 0, 1.0f);</a:t>
            </a:r>
          </a:p>
          <a:p>
            <a:r>
              <a:rPr lang="fr-FR" sz="10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fr-FR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000" dirty="0">
                <a:solidFill>
                  <a:srgbClr val="000000"/>
                </a:solidFill>
                <a:latin typeface="Consolas"/>
              </a:rPr>
              <a:t>S(</a:t>
            </a:r>
            <a:r>
              <a:rPr lang="fr-FR" sz="1000" dirty="0">
                <a:solidFill>
                  <a:srgbClr val="2F4F4F"/>
                </a:solidFill>
                <a:latin typeface="Consolas"/>
              </a:rPr>
              <a:t>SCALE</a:t>
            </a:r>
            <a:r>
              <a:rPr lang="fr-FR" sz="1000" dirty="0">
                <a:solidFill>
                  <a:srgbClr val="000000"/>
                </a:solidFill>
                <a:latin typeface="Consolas"/>
              </a:rPr>
              <a:t>, 1, 1, 0.5f);</a:t>
            </a:r>
          </a:p>
          <a:p>
            <a:r>
              <a:rPr lang="en-US" sz="10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NDCConvert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B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S;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NDCConvert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25002" y="76200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(See also </a:t>
            </a:r>
            <a:r>
              <a:rPr lang="en-US" i="1" dirty="0">
                <a:hlinkClick r:id="rId3"/>
              </a:rPr>
              <a:t>GAM </a:t>
            </a:r>
            <a:r>
              <a:rPr lang="en-US" i="1" dirty="0" smtClean="0">
                <a:hlinkClick r:id="rId3"/>
              </a:rPr>
              <a:t>325/425</a:t>
            </a:r>
            <a:r>
              <a:rPr lang="en-US" i="1" dirty="0"/>
              <a:t>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62200"/>
            <a:ext cx="3781425" cy="1400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556156" y="2043820"/>
            <a:ext cx="3429000" cy="31838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Ins="91440" bIns="0" rtlCol="0">
            <a:no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Transposing since we are row-major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754" y="5638800"/>
                <a:ext cx="3429000" cy="318380"/>
              </a:xfrm>
              <a:prstGeom prst="roundRect">
                <a:avLst/>
              </a:prstGeom>
              <a:solidFill>
                <a:srgbClr val="FFFF66"/>
              </a:solidFill>
              <a:ln w="25400">
                <a:solidFill>
                  <a:srgbClr val="FF0000"/>
                </a:solidFill>
              </a:ln>
            </p:spPr>
            <p:txBody>
              <a:bodyPr wrap="square" tIns="0" rIns="91440" bIns="0" rtlCol="0">
                <a:noAutofit/>
              </a:bodyPr>
              <a:lstStyle/>
              <a:p>
                <a:r>
                  <a:rPr 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Needed to rescale the NDC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/>
                          </a:rPr>
                          <m:t>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persp</m:t>
                        </m:r>
                      </m:sub>
                    </m:sSub>
                  </m:oMath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754" y="5638800"/>
                <a:ext cx="3429000" cy="318380"/>
              </a:xfrm>
              <a:prstGeom prst="roundRect">
                <a:avLst/>
              </a:prstGeom>
              <a:blipFill rotWithShape="1">
                <a:blip r:embed="rId5"/>
                <a:stretch>
                  <a:fillRect l="-176" t="-10714" b="-16071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21997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Camera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Camera class: holder/constructor for the View and Projection matrices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458200" cy="363176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/>
              </a:rPr>
              <a:t>Camera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privUpdateViewMatrix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m0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vRight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vUp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m2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vDir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m3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m4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vRight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m5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vUp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m6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vDir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m7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m8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vRight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z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m9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vUp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z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m10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vDir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z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Apply </a:t>
            </a:r>
            <a:r>
              <a:rPr lang="en-US" sz="1000" dirty="0" err="1">
                <a:solidFill>
                  <a:srgbClr val="008000"/>
                </a:solidFill>
                <a:latin typeface="Consolas"/>
              </a:rPr>
              <a:t>R^t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( -</a:t>
            </a:r>
            <a:r>
              <a:rPr lang="en-US" sz="1000" dirty="0" err="1">
                <a:solidFill>
                  <a:srgbClr val="008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 ). Use dot-product with the basis vectors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m12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-vPos.dot(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vRight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m13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-vPos.dot(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vUp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m14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-vPos.dot(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vDir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m15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1.0f;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5002" y="76200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(See also </a:t>
            </a:r>
            <a:r>
              <a:rPr lang="en-US" i="1" dirty="0">
                <a:hlinkClick r:id="rId2"/>
              </a:rPr>
              <a:t>GAM </a:t>
            </a:r>
            <a:r>
              <a:rPr lang="en-US" i="1" dirty="0" smtClean="0">
                <a:hlinkClick r:id="rId2"/>
              </a:rPr>
              <a:t>325/425</a:t>
            </a:r>
            <a:r>
              <a:rPr lang="en-US" i="1" dirty="0"/>
              <a:t>)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752599"/>
            <a:ext cx="5075562" cy="11807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334000" y="2958220"/>
            <a:ext cx="3429000" cy="31838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Ins="91440" bIns="0" rtlCol="0">
            <a:no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Transposing since we are row-major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42820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DXApp</a:t>
            </a:r>
            <a:r>
              <a:rPr lang="en-US" dirty="0" smtClean="0"/>
              <a:t> Demo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Putting all this knowledge about matrices and camera together in the </a:t>
            </a:r>
            <a:r>
              <a:rPr lang="en-US" sz="2000" dirty="0" err="1" smtClean="0"/>
              <a:t>DXApp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But how do we send all this to the GPU to be used by the render pipeline?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646987"/>
            <a:ext cx="16002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file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Camera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  <a:endParaRPr lang="en-US" sz="11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057400" y="1667357"/>
            <a:ext cx="6553200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DXApp.cpp file</a:t>
            </a:r>
          </a:p>
          <a:p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InitDemo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 … &gt;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IDENTITY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Initialize the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worldmat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Initialize the projection matrix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mCam.setPerspective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(45,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mClientWidth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/ (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mClientHeight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1.0f, 1000.0f);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87578" y="3597389"/>
            <a:ext cx="6553200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.0001f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Simple slow rotation about y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axis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Build the view matrix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. (using gimmicky click drag trick)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target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up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0, 0);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-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mRadius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mTheta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mPhi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mCam.setOrientAndPosition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(up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target,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mCam.updateCamera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2350274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1-3:</a:t>
            </a:r>
          </a:p>
          <a:p>
            <a:r>
              <a:rPr lang="en-US" dirty="0" smtClean="0"/>
              <a:t>Yes, </a:t>
            </a:r>
            <a:r>
              <a:rPr lang="en-US" u="sng" dirty="0" smtClean="0"/>
              <a:t>Now</a:t>
            </a:r>
            <a:r>
              <a:rPr lang="en-US" dirty="0" smtClean="0"/>
              <a:t> we can do 3D…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0274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 &amp; Matrices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Recall: vertex </a:t>
            </a:r>
            <a:r>
              <a:rPr lang="en-US" sz="2000" dirty="0" err="1" smtClean="0"/>
              <a:t>shader’s</a:t>
            </a:r>
            <a:r>
              <a:rPr lang="en-US" sz="2000" dirty="0" smtClean="0"/>
              <a:t> job is to apply the </a:t>
            </a:r>
            <a:r>
              <a:rPr lang="en-US" sz="2000" dirty="0"/>
              <a:t>w</a:t>
            </a:r>
            <a:r>
              <a:rPr lang="en-US" sz="2000" dirty="0" smtClean="0"/>
              <a:t>orld and camera matrices to all vertex.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3032879"/>
            <a:ext cx="4800600" cy="263149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VS_OUTPUT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Color :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COLOR;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VS_OUTPUT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POSITION,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Color : COLOR 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VS_OUTPUT output;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World);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View);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Projection);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Color;    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output;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2290527" y="3641872"/>
            <a:ext cx="3550981" cy="458106"/>
            <a:chOff x="2290527" y="3456462"/>
            <a:chExt cx="3550981" cy="458106"/>
          </a:xfrm>
        </p:grpSpPr>
        <p:sp>
          <p:nvSpPr>
            <p:cNvPr id="6" name="TextBox 5"/>
            <p:cNvSpPr txBox="1"/>
            <p:nvPr/>
          </p:nvSpPr>
          <p:spPr>
            <a:xfrm>
              <a:off x="3048000" y="3456462"/>
              <a:ext cx="2793508" cy="264211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0" rIns="91440" bIns="0" rtlCol="0">
              <a:noAutofit/>
            </a:bodyPr>
            <a:lstStyle/>
            <a:p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vertex from the vertex buffer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Elbow Connector 6"/>
            <p:cNvCxnSpPr>
              <a:stCxn id="6" idx="1"/>
            </p:cNvCxnSpPr>
            <p:nvPr/>
          </p:nvCxnSpPr>
          <p:spPr>
            <a:xfrm flipH="1">
              <a:off x="2290527" y="3588568"/>
              <a:ext cx="757473" cy="3260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081806" y="4699095"/>
            <a:ext cx="3469538" cy="547576"/>
            <a:chOff x="4081806" y="4513685"/>
            <a:chExt cx="3469538" cy="547576"/>
          </a:xfrm>
        </p:grpSpPr>
        <p:sp>
          <p:nvSpPr>
            <p:cNvPr id="11" name="TextBox 10"/>
            <p:cNvSpPr txBox="1"/>
            <p:nvPr/>
          </p:nvSpPr>
          <p:spPr>
            <a:xfrm>
              <a:off x="4655744" y="4513685"/>
              <a:ext cx="2895600" cy="547576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0" rIns="91440" bIns="0" rtlCol="0">
              <a:noAutofit/>
            </a:bodyPr>
            <a:lstStyle/>
            <a:p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Corresponding position in NDC (missing the </a:t>
              </a:r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homog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oord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div. 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Elbow Connector 6"/>
            <p:cNvCxnSpPr>
              <a:stCxn id="11" idx="1"/>
            </p:cNvCxnSpPr>
            <p:nvPr/>
          </p:nvCxnSpPr>
          <p:spPr>
            <a:xfrm flipH="1">
              <a:off x="4081806" y="4787473"/>
              <a:ext cx="573938" cy="5160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457200" y="5783759"/>
            <a:ext cx="48006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PS( VS_OUTPUT input 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2438400" y="6167725"/>
            <a:ext cx="4528996" cy="314777"/>
            <a:chOff x="2438400" y="5862925"/>
            <a:chExt cx="4528996" cy="314777"/>
          </a:xfrm>
        </p:grpSpPr>
        <p:sp>
          <p:nvSpPr>
            <p:cNvPr id="17" name="TextBox 16"/>
            <p:cNvSpPr txBox="1"/>
            <p:nvPr/>
          </p:nvSpPr>
          <p:spPr>
            <a:xfrm>
              <a:off x="4300396" y="5862925"/>
              <a:ext cx="2667000" cy="314777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0" rIns="91440" bIns="0" rtlCol="0">
              <a:noAutofit/>
            </a:bodyPr>
            <a:lstStyle/>
            <a:p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Colors the pixels accordingly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Elbow Connector 6"/>
            <p:cNvCxnSpPr>
              <a:stCxn id="17" idx="1"/>
            </p:cNvCxnSpPr>
            <p:nvPr/>
          </p:nvCxnSpPr>
          <p:spPr>
            <a:xfrm flipH="1" flipV="1">
              <a:off x="2438400" y="5991054"/>
              <a:ext cx="1861996" cy="2926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4300396" y="5380167"/>
            <a:ext cx="2895600" cy="568404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Ins="91440" bIns="0" rtlCol="0">
            <a:no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rasterizer computes the corresponding pixels on screen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1924883"/>
            <a:ext cx="4800600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ConstantBuffer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b0 )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View;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Projection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570053" y="2382083"/>
            <a:ext cx="2840147" cy="31838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Ins="91440" bIns="0" rtlCol="0">
            <a:no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Answer 1: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constant buffer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6451537" y="3872024"/>
            <a:ext cx="2540063" cy="1100859"/>
            <a:chOff x="6451537" y="3686614"/>
            <a:chExt cx="2540063" cy="1100859"/>
          </a:xfrm>
        </p:grpSpPr>
        <p:sp>
          <p:nvSpPr>
            <p:cNvPr id="34" name="TextBox 33"/>
            <p:cNvSpPr txBox="1"/>
            <p:nvPr/>
          </p:nvSpPr>
          <p:spPr>
            <a:xfrm>
              <a:off x="6451537" y="3686614"/>
              <a:ext cx="2540063" cy="547576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0" rIns="91440" bIns="0" rtlCol="0">
              <a:noAutofit/>
            </a:bodyPr>
            <a:lstStyle/>
            <a:p>
              <a:r>
                <a:rPr lang="en-US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1: 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Where did those matrices come from?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Elbow Connector 6"/>
            <p:cNvCxnSpPr>
              <a:stCxn id="11" idx="3"/>
              <a:endCxn id="34" idx="2"/>
            </p:cNvCxnSpPr>
            <p:nvPr/>
          </p:nvCxnSpPr>
          <p:spPr>
            <a:xfrm flipV="1">
              <a:off x="7551344" y="4234190"/>
              <a:ext cx="170225" cy="553283"/>
            </a:xfrm>
            <a:prstGeom prst="bent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Elbow Connector 6"/>
          <p:cNvCxnSpPr>
            <a:stCxn id="34" idx="0"/>
            <a:endCxn id="35" idx="3"/>
          </p:cNvCxnSpPr>
          <p:nvPr/>
        </p:nvCxnSpPr>
        <p:spPr>
          <a:xfrm rot="16200000" flipV="1">
            <a:off x="5900510" y="2050964"/>
            <a:ext cx="1330751" cy="2311369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1676400"/>
            <a:ext cx="480060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808080"/>
                </a:solidFill>
                <a:latin typeface="Consolas"/>
              </a:rPr>
              <a:t>#pragma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pack_matrix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row_major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)</a:t>
            </a:r>
            <a:endParaRPr lang="en-US" sz="11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3692350" y="2057400"/>
            <a:ext cx="5070649" cy="273788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Ins="91440" bIns="0" rtlCol="0">
            <a:no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2: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about the issue with row/column major?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670" y="1606503"/>
            <a:ext cx="3330215" cy="31838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Ins="91440" bIns="0" rtlCol="0">
            <a:no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Answer 2: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Force row-major packing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Elbow Connector 6"/>
          <p:cNvCxnSpPr>
            <a:stCxn id="27" idx="3"/>
            <a:endCxn id="33" idx="3"/>
          </p:cNvCxnSpPr>
          <p:nvPr/>
        </p:nvCxnSpPr>
        <p:spPr>
          <a:xfrm flipH="1" flipV="1">
            <a:off x="6565885" y="1765693"/>
            <a:ext cx="2197114" cy="428601"/>
          </a:xfrm>
          <a:prstGeom prst="bentConnector3">
            <a:avLst>
              <a:gd name="adj1" fmla="val -10405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67521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16" grpId="0" animBg="1"/>
      <p:bldP spid="21" grpId="0" animBg="1"/>
      <p:bldP spid="24" grpId="0" animBg="1"/>
      <p:bldP spid="35" grpId="0" animBg="1"/>
      <p:bldP spid="23" grpId="0" animBg="1"/>
      <p:bldP spid="27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 Buffers for Matrices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dirty="0" smtClean="0"/>
              <a:t>As before, </a:t>
            </a:r>
            <a:r>
              <a:rPr lang="en-US" sz="2200" dirty="0"/>
              <a:t>we must:</a:t>
            </a:r>
          </a:p>
          <a:p>
            <a:pPr marL="685800" lvl="1" indent="-228600">
              <a:buSzPct val="100000"/>
              <a:buFont typeface="+mj-lt"/>
              <a:buAutoNum type="arabicPeriod"/>
            </a:pPr>
            <a:r>
              <a:rPr lang="en-US" sz="1800" dirty="0" smtClean="0"/>
              <a:t>Create a GPU resource for all 3 matrices and </a:t>
            </a:r>
            <a:r>
              <a:rPr lang="en-US" sz="1800" dirty="0"/>
              <a:t>keep a handle on the CPU</a:t>
            </a:r>
          </a:p>
          <a:p>
            <a:pPr marL="685800" lvl="1" indent="-228600">
              <a:buSzPct val="100000"/>
              <a:buFont typeface="+mj-lt"/>
              <a:buAutoNum type="arabicPeriod"/>
            </a:pPr>
            <a:r>
              <a:rPr lang="en-US" sz="1800" dirty="0"/>
              <a:t>Connect </a:t>
            </a:r>
            <a:r>
              <a:rPr lang="en-US" sz="1800" dirty="0" smtClean="0"/>
              <a:t>these resources to </a:t>
            </a:r>
            <a:r>
              <a:rPr lang="en-US" sz="1800" dirty="0"/>
              <a:t>the pipeline, specifically to a </a:t>
            </a:r>
            <a:r>
              <a:rPr lang="en-US" sz="1800" dirty="0" err="1">
                <a:hlinkClick r:id="rId2"/>
              </a:rPr>
              <a:t>shader</a:t>
            </a:r>
            <a:r>
              <a:rPr lang="en-US" sz="1800" dirty="0">
                <a:hlinkClick r:id="rId2"/>
              </a:rPr>
              <a:t> constants</a:t>
            </a:r>
            <a:r>
              <a:rPr lang="en-US" sz="1800" dirty="0"/>
              <a:t> </a:t>
            </a:r>
            <a:r>
              <a:rPr lang="en-US" sz="1800" dirty="0" smtClean="0"/>
              <a:t>for VS</a:t>
            </a:r>
            <a:endParaRPr lang="en-US" sz="1800" dirty="0"/>
          </a:p>
          <a:p>
            <a:pPr marL="685800" lvl="1" indent="-228600">
              <a:buSzPct val="100000"/>
              <a:buFont typeface="+mj-lt"/>
              <a:buAutoNum type="arabicPeriod"/>
            </a:pPr>
            <a:r>
              <a:rPr lang="en-US" sz="1800" dirty="0"/>
              <a:t>Update the data as needed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58" name="Group 57"/>
          <p:cNvGrpSpPr/>
          <p:nvPr/>
        </p:nvGrpSpPr>
        <p:grpSpPr>
          <a:xfrm>
            <a:off x="348417" y="4267200"/>
            <a:ext cx="8725503" cy="2514600"/>
            <a:chOff x="348417" y="4267200"/>
            <a:chExt cx="8725503" cy="2514600"/>
          </a:xfrm>
        </p:grpSpPr>
        <p:grpSp>
          <p:nvGrpSpPr>
            <p:cNvPr id="27" name="Group 26"/>
            <p:cNvGrpSpPr/>
            <p:nvPr/>
          </p:nvGrpSpPr>
          <p:grpSpPr>
            <a:xfrm>
              <a:off x="348417" y="4267200"/>
              <a:ext cx="8725503" cy="2514600"/>
              <a:chOff x="348417" y="4286250"/>
              <a:chExt cx="8725503" cy="251460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5257800" y="4286250"/>
                <a:ext cx="3816120" cy="2514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u="sng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GPU</a:t>
                </a:r>
                <a:endPara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8087847" y="5500550"/>
                <a:ext cx="914400" cy="2240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Viewport</a:t>
                </a:r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cxnSp>
            <p:nvCxnSpPr>
              <p:cNvPr id="30" name="Straight Arrow Connector 29"/>
              <p:cNvCxnSpPr>
                <a:stCxn id="31" idx="3"/>
                <a:endCxn id="29" idx="1"/>
              </p:cNvCxnSpPr>
              <p:nvPr/>
            </p:nvCxnSpPr>
            <p:spPr>
              <a:xfrm flipV="1">
                <a:off x="7885299" y="5612587"/>
                <a:ext cx="202548" cy="445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11720" y="4575341"/>
                <a:ext cx="1173579" cy="207538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2" name="AutoShape 9"/>
              <p:cNvSpPr>
                <a:spLocks noChangeArrowheads="1"/>
              </p:cNvSpPr>
              <p:nvPr/>
            </p:nvSpPr>
            <p:spPr bwMode="auto">
              <a:xfrm>
                <a:off x="5465699" y="4637306"/>
                <a:ext cx="501035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Verts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3" name="AutoShape 9"/>
              <p:cNvSpPr>
                <a:spLocks noChangeArrowheads="1"/>
              </p:cNvSpPr>
              <p:nvPr/>
            </p:nvSpPr>
            <p:spPr bwMode="auto">
              <a:xfrm>
                <a:off x="5465699" y="5044813"/>
                <a:ext cx="630301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Indices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34" name="Straight Arrow Connector 30"/>
              <p:cNvCxnSpPr>
                <a:stCxn id="32" idx="3"/>
              </p:cNvCxnSpPr>
              <p:nvPr/>
            </p:nvCxnSpPr>
            <p:spPr>
              <a:xfrm flipV="1">
                <a:off x="5966734" y="4762620"/>
                <a:ext cx="781471" cy="1318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0"/>
              <p:cNvCxnSpPr>
                <a:stCxn id="33" idx="3"/>
              </p:cNvCxnSpPr>
              <p:nvPr/>
            </p:nvCxnSpPr>
            <p:spPr>
              <a:xfrm flipV="1">
                <a:off x="6096000" y="4886057"/>
                <a:ext cx="652205" cy="29725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/>
              <p:cNvGrpSpPr/>
              <p:nvPr/>
            </p:nvGrpSpPr>
            <p:grpSpPr>
              <a:xfrm>
                <a:off x="7687505" y="5022582"/>
                <a:ext cx="1188553" cy="1200322"/>
                <a:chOff x="7696200" y="2346325"/>
                <a:chExt cx="1188553" cy="1200322"/>
              </a:xfrm>
            </p:grpSpPr>
            <p:sp>
              <p:nvSpPr>
                <p:cNvPr id="44" name="Cloud 43"/>
                <p:cNvSpPr/>
                <p:nvPr/>
              </p:nvSpPr>
              <p:spPr>
                <a:xfrm>
                  <a:off x="8096542" y="2346325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VS</a:t>
                  </a:r>
                  <a:endParaRPr lang="en-US" sz="1200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5" name="Straight Arrow Connector 44"/>
                <p:cNvCxnSpPr>
                  <a:endCxn id="44" idx="2"/>
                </p:cNvCxnSpPr>
                <p:nvPr/>
              </p:nvCxnSpPr>
              <p:spPr>
                <a:xfrm>
                  <a:off x="7696200" y="2526559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Cloud 45"/>
                <p:cNvSpPr/>
                <p:nvPr/>
              </p:nvSpPr>
              <p:spPr>
                <a:xfrm>
                  <a:off x="8112658" y="3186179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PS</a:t>
                  </a:r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7" name="Straight Arrow Connector 46"/>
                <p:cNvCxnSpPr>
                  <a:endCxn id="46" idx="2"/>
                </p:cNvCxnSpPr>
                <p:nvPr/>
              </p:nvCxnSpPr>
              <p:spPr>
                <a:xfrm>
                  <a:off x="7712316" y="3366413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/>
              <p:cNvSpPr txBox="1"/>
              <p:nvPr/>
            </p:nvSpPr>
            <p:spPr>
              <a:xfrm>
                <a:off x="6650162" y="5563761"/>
                <a:ext cx="53251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 smtClean="0">
                    <a:solidFill>
                      <a:srgbClr val="FF0000"/>
                    </a:solidFill>
                  </a:rPr>
                  <a:t>CCW</a:t>
                </a:r>
                <a:endParaRPr lang="en-US" sz="1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AutoShape 9"/>
              <p:cNvSpPr>
                <a:spLocks noChangeArrowheads="1"/>
              </p:cNvSpPr>
              <p:nvPr/>
            </p:nvSpPr>
            <p:spPr bwMode="auto">
              <a:xfrm>
                <a:off x="5465699" y="5486400"/>
                <a:ext cx="566694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World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348417" y="5048250"/>
                <a:ext cx="2522220" cy="914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u="sng" dirty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DirectX App</a:t>
                </a:r>
              </a:p>
            </p:txBody>
          </p:sp>
          <p:sp>
            <p:nvSpPr>
              <p:cNvPr id="40" name="Pentagon 39"/>
              <p:cNvSpPr/>
              <p:nvPr/>
            </p:nvSpPr>
            <p:spPr>
              <a:xfrm>
                <a:off x="2708495" y="5509976"/>
                <a:ext cx="1330105" cy="224073"/>
              </a:xfrm>
              <a:prstGeom prst="homePlat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ID3D11Buffer</a:t>
                </a:r>
              </a:p>
            </p:txBody>
          </p:sp>
          <p:cxnSp>
            <p:nvCxnSpPr>
              <p:cNvPr id="41" name="Straight Connector 40"/>
              <p:cNvCxnSpPr>
                <a:stCxn id="40" idx="3"/>
                <a:endCxn id="38" idx="1"/>
              </p:cNvCxnSpPr>
              <p:nvPr/>
            </p:nvCxnSpPr>
            <p:spPr>
              <a:xfrm>
                <a:off x="4038600" y="5622013"/>
                <a:ext cx="1427099" cy="2887"/>
              </a:xfrm>
              <a:prstGeom prst="line">
                <a:avLst/>
              </a:prstGeom>
              <a:ln w="254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/>
              <p:cNvSpPr/>
              <p:nvPr/>
            </p:nvSpPr>
            <p:spPr>
              <a:xfrm>
                <a:off x="500816" y="5490030"/>
                <a:ext cx="1251784" cy="23759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sz="1200" dirty="0" err="1">
                    <a:solidFill>
                      <a:schemeClr val="tx1"/>
                    </a:solidFill>
                  </a:rPr>
                  <a:t>mpcbWVPBuffer</a:t>
                </a:r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cxnSp>
            <p:nvCxnSpPr>
              <p:cNvPr id="43" name="Straight Arrow Connector 42"/>
              <p:cNvCxnSpPr>
                <a:stCxn id="42" idx="3"/>
              </p:cNvCxnSpPr>
              <p:nvPr/>
            </p:nvCxnSpPr>
            <p:spPr>
              <a:xfrm>
                <a:off x="1752600" y="5608826"/>
                <a:ext cx="958017" cy="6759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AutoShape 9"/>
            <p:cNvSpPr>
              <a:spLocks noChangeArrowheads="1"/>
            </p:cNvSpPr>
            <p:nvPr/>
          </p:nvSpPr>
          <p:spPr bwMode="auto">
            <a:xfrm>
              <a:off x="5468048" y="5824150"/>
              <a:ext cx="508857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View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1" name="AutoShape 9"/>
            <p:cNvSpPr>
              <a:spLocks noChangeArrowheads="1"/>
            </p:cNvSpPr>
            <p:nvPr/>
          </p:nvSpPr>
          <p:spPr bwMode="auto">
            <a:xfrm>
              <a:off x="5468048" y="6172200"/>
              <a:ext cx="81945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Projection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cxnSp>
          <p:nvCxnSpPr>
            <p:cNvPr id="52" name="Straight Connector 51"/>
            <p:cNvCxnSpPr>
              <a:stCxn id="40" idx="3"/>
              <a:endCxn id="50" idx="1"/>
            </p:cNvCxnSpPr>
            <p:nvPr/>
          </p:nvCxnSpPr>
          <p:spPr>
            <a:xfrm>
              <a:off x="4038600" y="5602963"/>
              <a:ext cx="1429448" cy="35968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0" idx="3"/>
              <a:endCxn id="51" idx="1"/>
            </p:cNvCxnSpPr>
            <p:nvPr/>
          </p:nvCxnSpPr>
          <p:spPr>
            <a:xfrm>
              <a:off x="4038600" y="5602963"/>
              <a:ext cx="1429448" cy="70773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990591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 Buffers for Matrices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Step </a:t>
            </a:r>
            <a:r>
              <a:rPr lang="en-US" sz="2000" b="1" dirty="0" smtClean="0"/>
              <a:t>1: GPU Resource:</a:t>
            </a:r>
            <a:r>
              <a:rPr lang="en-US" sz="2000" dirty="0" smtClean="0"/>
              <a:t> </a:t>
            </a:r>
            <a:r>
              <a:rPr lang="en-US" sz="2000" dirty="0"/>
              <a:t>Buffer handle and </a:t>
            </a:r>
            <a:r>
              <a:rPr lang="en-US" sz="2000" dirty="0" smtClean="0"/>
              <a:t>structure (same process as before)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58" name="Group 57"/>
          <p:cNvGrpSpPr/>
          <p:nvPr/>
        </p:nvGrpSpPr>
        <p:grpSpPr>
          <a:xfrm>
            <a:off x="348417" y="4267200"/>
            <a:ext cx="8725503" cy="2514600"/>
            <a:chOff x="348417" y="4267200"/>
            <a:chExt cx="8725503" cy="2514600"/>
          </a:xfrm>
        </p:grpSpPr>
        <p:grpSp>
          <p:nvGrpSpPr>
            <p:cNvPr id="27" name="Group 26"/>
            <p:cNvGrpSpPr/>
            <p:nvPr/>
          </p:nvGrpSpPr>
          <p:grpSpPr>
            <a:xfrm>
              <a:off x="348417" y="4267200"/>
              <a:ext cx="8725503" cy="2514600"/>
              <a:chOff x="348417" y="4286250"/>
              <a:chExt cx="8725503" cy="251460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5257800" y="4286250"/>
                <a:ext cx="3816120" cy="2514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u="sng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GPU</a:t>
                </a:r>
                <a:endPara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8087847" y="5500550"/>
                <a:ext cx="914400" cy="2240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Viewport</a:t>
                </a:r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cxnSp>
            <p:nvCxnSpPr>
              <p:cNvPr id="30" name="Straight Arrow Connector 29"/>
              <p:cNvCxnSpPr>
                <a:stCxn id="31" idx="3"/>
                <a:endCxn id="29" idx="1"/>
              </p:cNvCxnSpPr>
              <p:nvPr/>
            </p:nvCxnSpPr>
            <p:spPr>
              <a:xfrm flipV="1">
                <a:off x="7885299" y="5612587"/>
                <a:ext cx="202548" cy="445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11720" y="4575341"/>
                <a:ext cx="1173579" cy="207538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2" name="AutoShape 9"/>
              <p:cNvSpPr>
                <a:spLocks noChangeArrowheads="1"/>
              </p:cNvSpPr>
              <p:nvPr/>
            </p:nvSpPr>
            <p:spPr bwMode="auto">
              <a:xfrm>
                <a:off x="5465699" y="4637306"/>
                <a:ext cx="501035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Verts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3" name="AutoShape 9"/>
              <p:cNvSpPr>
                <a:spLocks noChangeArrowheads="1"/>
              </p:cNvSpPr>
              <p:nvPr/>
            </p:nvSpPr>
            <p:spPr bwMode="auto">
              <a:xfrm>
                <a:off x="5465699" y="5044813"/>
                <a:ext cx="630301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Indices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34" name="Straight Arrow Connector 30"/>
              <p:cNvCxnSpPr>
                <a:stCxn id="32" idx="3"/>
              </p:cNvCxnSpPr>
              <p:nvPr/>
            </p:nvCxnSpPr>
            <p:spPr>
              <a:xfrm flipV="1">
                <a:off x="5966734" y="4762620"/>
                <a:ext cx="781471" cy="1318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0"/>
              <p:cNvCxnSpPr>
                <a:stCxn id="33" idx="3"/>
              </p:cNvCxnSpPr>
              <p:nvPr/>
            </p:nvCxnSpPr>
            <p:spPr>
              <a:xfrm flipV="1">
                <a:off x="6096000" y="4886057"/>
                <a:ext cx="652205" cy="29725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/>
              <p:cNvGrpSpPr/>
              <p:nvPr/>
            </p:nvGrpSpPr>
            <p:grpSpPr>
              <a:xfrm>
                <a:off x="7687505" y="5022582"/>
                <a:ext cx="1188553" cy="1200322"/>
                <a:chOff x="7696200" y="2346325"/>
                <a:chExt cx="1188553" cy="1200322"/>
              </a:xfrm>
            </p:grpSpPr>
            <p:sp>
              <p:nvSpPr>
                <p:cNvPr id="44" name="Cloud 43"/>
                <p:cNvSpPr/>
                <p:nvPr/>
              </p:nvSpPr>
              <p:spPr>
                <a:xfrm>
                  <a:off x="8096542" y="2346325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VS</a:t>
                  </a:r>
                  <a:endParaRPr lang="en-US" sz="1200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5" name="Straight Arrow Connector 44"/>
                <p:cNvCxnSpPr>
                  <a:endCxn id="44" idx="2"/>
                </p:cNvCxnSpPr>
                <p:nvPr/>
              </p:nvCxnSpPr>
              <p:spPr>
                <a:xfrm>
                  <a:off x="7696200" y="2526559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Cloud 45"/>
                <p:cNvSpPr/>
                <p:nvPr/>
              </p:nvSpPr>
              <p:spPr>
                <a:xfrm>
                  <a:off x="8112658" y="3186179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PS</a:t>
                  </a:r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7" name="Straight Arrow Connector 46"/>
                <p:cNvCxnSpPr>
                  <a:endCxn id="46" idx="2"/>
                </p:cNvCxnSpPr>
                <p:nvPr/>
              </p:nvCxnSpPr>
              <p:spPr>
                <a:xfrm>
                  <a:off x="7712316" y="3366413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/>
              <p:cNvSpPr txBox="1"/>
              <p:nvPr/>
            </p:nvSpPr>
            <p:spPr>
              <a:xfrm>
                <a:off x="6650162" y="5563761"/>
                <a:ext cx="53251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 smtClean="0">
                    <a:solidFill>
                      <a:srgbClr val="FF0000"/>
                    </a:solidFill>
                  </a:rPr>
                  <a:t>CCW</a:t>
                </a:r>
                <a:endParaRPr lang="en-US" sz="1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AutoShape 9"/>
              <p:cNvSpPr>
                <a:spLocks noChangeArrowheads="1"/>
              </p:cNvSpPr>
              <p:nvPr/>
            </p:nvSpPr>
            <p:spPr bwMode="auto">
              <a:xfrm>
                <a:off x="5465699" y="5486400"/>
                <a:ext cx="566694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World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348417" y="5048250"/>
                <a:ext cx="2522220" cy="914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u="sng" dirty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DirectX App</a:t>
                </a:r>
              </a:p>
            </p:txBody>
          </p:sp>
          <p:sp>
            <p:nvSpPr>
              <p:cNvPr id="40" name="Pentagon 39"/>
              <p:cNvSpPr/>
              <p:nvPr/>
            </p:nvSpPr>
            <p:spPr>
              <a:xfrm>
                <a:off x="2708495" y="5509976"/>
                <a:ext cx="1330105" cy="224073"/>
              </a:xfrm>
              <a:prstGeom prst="homePlat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ID3D11Buffer</a:t>
                </a:r>
              </a:p>
            </p:txBody>
          </p:sp>
          <p:cxnSp>
            <p:nvCxnSpPr>
              <p:cNvPr id="41" name="Straight Connector 40"/>
              <p:cNvCxnSpPr>
                <a:stCxn id="40" idx="3"/>
                <a:endCxn id="38" idx="1"/>
              </p:cNvCxnSpPr>
              <p:nvPr/>
            </p:nvCxnSpPr>
            <p:spPr>
              <a:xfrm>
                <a:off x="4038600" y="5622013"/>
                <a:ext cx="1427099" cy="2887"/>
              </a:xfrm>
              <a:prstGeom prst="line">
                <a:avLst/>
              </a:prstGeom>
              <a:ln w="254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/>
              <p:cNvSpPr/>
              <p:nvPr/>
            </p:nvSpPr>
            <p:spPr>
              <a:xfrm>
                <a:off x="500816" y="5490030"/>
                <a:ext cx="1251784" cy="23759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sz="1200" dirty="0" err="1" smtClean="0">
                    <a:solidFill>
                      <a:schemeClr val="tx1"/>
                    </a:solidFill>
                  </a:rPr>
                  <a:t>mpcbWVPBuffer</a:t>
                </a:r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cxnSp>
            <p:nvCxnSpPr>
              <p:cNvPr id="43" name="Straight Arrow Connector 42"/>
              <p:cNvCxnSpPr>
                <a:stCxn id="42" idx="3"/>
              </p:cNvCxnSpPr>
              <p:nvPr/>
            </p:nvCxnSpPr>
            <p:spPr>
              <a:xfrm>
                <a:off x="1752600" y="5608826"/>
                <a:ext cx="958017" cy="6759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AutoShape 9"/>
            <p:cNvSpPr>
              <a:spLocks noChangeArrowheads="1"/>
            </p:cNvSpPr>
            <p:nvPr/>
          </p:nvSpPr>
          <p:spPr bwMode="auto">
            <a:xfrm>
              <a:off x="5468048" y="5824150"/>
              <a:ext cx="508857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View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1" name="AutoShape 9"/>
            <p:cNvSpPr>
              <a:spLocks noChangeArrowheads="1"/>
            </p:cNvSpPr>
            <p:nvPr/>
          </p:nvSpPr>
          <p:spPr bwMode="auto">
            <a:xfrm>
              <a:off x="5468048" y="6172200"/>
              <a:ext cx="81945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Projection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cxnSp>
          <p:nvCxnSpPr>
            <p:cNvPr id="52" name="Straight Connector 51"/>
            <p:cNvCxnSpPr>
              <a:stCxn id="40" idx="3"/>
              <a:endCxn id="50" idx="1"/>
            </p:cNvCxnSpPr>
            <p:nvPr/>
          </p:nvCxnSpPr>
          <p:spPr>
            <a:xfrm>
              <a:off x="4038600" y="5602963"/>
              <a:ext cx="1429448" cy="35968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0" idx="3"/>
              <a:endCxn id="51" idx="1"/>
            </p:cNvCxnSpPr>
            <p:nvPr/>
          </p:nvCxnSpPr>
          <p:spPr>
            <a:xfrm>
              <a:off x="4038600" y="5602963"/>
              <a:ext cx="1429448" cy="70773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304800" y="1646987"/>
            <a:ext cx="2743200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file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mpcbWVPBuffer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WVPmatrices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mProjection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3429000" y="1646986"/>
            <a:ext cx="4876800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DXApp.cpp file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  <a:hlinkClick r:id="rId3"/>
              </a:rPr>
              <a:t>D3D11_BUFFER_DESC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WVPmatrices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D3D11_BIND_CONSTANT_BUFFER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mpcbWVPBuffer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42938338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8" grpId="0" animBg="1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 Buffers for Matrices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Step </a:t>
            </a:r>
            <a:r>
              <a:rPr lang="en-US" sz="2000" b="1" dirty="0" smtClean="0"/>
              <a:t>2: Connect resources to pipeline:</a:t>
            </a:r>
            <a:r>
              <a:rPr lang="en-US" sz="2000" dirty="0" smtClean="0"/>
              <a:t> The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(</a:t>
            </a:r>
            <a:r>
              <a:rPr lang="en-US" sz="2000" dirty="0" smtClean="0">
                <a:hlinkClick r:id="rId2" action="ppaction://hlinksldjump"/>
              </a:rPr>
              <a:t>slide</a:t>
            </a:r>
            <a:r>
              <a:rPr lang="en-US" sz="2000" dirty="0" smtClean="0"/>
              <a:t>) has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constants</a:t>
            </a:r>
          </a:p>
          <a:p>
            <a:pPr marL="457200" lvl="1" indent="0">
              <a:buNone/>
            </a:pPr>
            <a:r>
              <a:rPr lang="en-US" sz="1800" dirty="0" smtClean="0"/>
              <a:t>We only need to connect the corresponding constant buffer to the pipeline</a:t>
            </a:r>
            <a:endParaRPr lang="en-US" sz="1800" dirty="0"/>
          </a:p>
        </p:txBody>
      </p:sp>
      <p:grpSp>
        <p:nvGrpSpPr>
          <p:cNvPr id="58" name="Group 57"/>
          <p:cNvGrpSpPr/>
          <p:nvPr/>
        </p:nvGrpSpPr>
        <p:grpSpPr>
          <a:xfrm>
            <a:off x="348417" y="4267200"/>
            <a:ext cx="8725503" cy="2514600"/>
            <a:chOff x="348417" y="4267200"/>
            <a:chExt cx="8725503" cy="2514600"/>
          </a:xfrm>
        </p:grpSpPr>
        <p:grpSp>
          <p:nvGrpSpPr>
            <p:cNvPr id="27" name="Group 26"/>
            <p:cNvGrpSpPr/>
            <p:nvPr/>
          </p:nvGrpSpPr>
          <p:grpSpPr>
            <a:xfrm>
              <a:off x="348417" y="4267200"/>
              <a:ext cx="8725503" cy="2514600"/>
              <a:chOff x="348417" y="4286250"/>
              <a:chExt cx="8725503" cy="251460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5257800" y="4286250"/>
                <a:ext cx="3816120" cy="2514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u="sng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GPU</a:t>
                </a:r>
                <a:endPara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8087847" y="5500550"/>
                <a:ext cx="914400" cy="2240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Viewport</a:t>
                </a:r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cxnSp>
            <p:nvCxnSpPr>
              <p:cNvPr id="30" name="Straight Arrow Connector 29"/>
              <p:cNvCxnSpPr>
                <a:stCxn id="31" idx="3"/>
                <a:endCxn id="29" idx="1"/>
              </p:cNvCxnSpPr>
              <p:nvPr/>
            </p:nvCxnSpPr>
            <p:spPr>
              <a:xfrm flipV="1">
                <a:off x="7885299" y="5612587"/>
                <a:ext cx="202548" cy="445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11720" y="4575341"/>
                <a:ext cx="1173579" cy="207538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2" name="AutoShape 9"/>
              <p:cNvSpPr>
                <a:spLocks noChangeArrowheads="1"/>
              </p:cNvSpPr>
              <p:nvPr/>
            </p:nvSpPr>
            <p:spPr bwMode="auto">
              <a:xfrm>
                <a:off x="5465699" y="4637306"/>
                <a:ext cx="501035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Verts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3" name="AutoShape 9"/>
              <p:cNvSpPr>
                <a:spLocks noChangeArrowheads="1"/>
              </p:cNvSpPr>
              <p:nvPr/>
            </p:nvSpPr>
            <p:spPr bwMode="auto">
              <a:xfrm>
                <a:off x="5465699" y="5044813"/>
                <a:ext cx="630301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Indices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34" name="Straight Arrow Connector 30"/>
              <p:cNvCxnSpPr>
                <a:stCxn id="32" idx="3"/>
              </p:cNvCxnSpPr>
              <p:nvPr/>
            </p:nvCxnSpPr>
            <p:spPr>
              <a:xfrm flipV="1">
                <a:off x="5966734" y="4762620"/>
                <a:ext cx="781471" cy="1318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0"/>
              <p:cNvCxnSpPr>
                <a:stCxn id="33" idx="3"/>
              </p:cNvCxnSpPr>
              <p:nvPr/>
            </p:nvCxnSpPr>
            <p:spPr>
              <a:xfrm flipV="1">
                <a:off x="6096000" y="4886057"/>
                <a:ext cx="652205" cy="29725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/>
              <p:cNvGrpSpPr/>
              <p:nvPr/>
            </p:nvGrpSpPr>
            <p:grpSpPr>
              <a:xfrm>
                <a:off x="7687505" y="5022582"/>
                <a:ext cx="1188553" cy="1200322"/>
                <a:chOff x="7696200" y="2346325"/>
                <a:chExt cx="1188553" cy="1200322"/>
              </a:xfrm>
            </p:grpSpPr>
            <p:sp>
              <p:nvSpPr>
                <p:cNvPr id="44" name="Cloud 43"/>
                <p:cNvSpPr/>
                <p:nvPr/>
              </p:nvSpPr>
              <p:spPr>
                <a:xfrm>
                  <a:off x="8096542" y="2346325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VS</a:t>
                  </a:r>
                  <a:endParaRPr lang="en-US" sz="1200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5" name="Straight Arrow Connector 44"/>
                <p:cNvCxnSpPr>
                  <a:endCxn id="44" idx="2"/>
                </p:cNvCxnSpPr>
                <p:nvPr/>
              </p:nvCxnSpPr>
              <p:spPr>
                <a:xfrm>
                  <a:off x="7696200" y="2526559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Cloud 45"/>
                <p:cNvSpPr/>
                <p:nvPr/>
              </p:nvSpPr>
              <p:spPr>
                <a:xfrm>
                  <a:off x="8112658" y="3186179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PS</a:t>
                  </a:r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7" name="Straight Arrow Connector 46"/>
                <p:cNvCxnSpPr>
                  <a:endCxn id="46" idx="2"/>
                </p:cNvCxnSpPr>
                <p:nvPr/>
              </p:nvCxnSpPr>
              <p:spPr>
                <a:xfrm>
                  <a:off x="7712316" y="3366413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/>
              <p:cNvSpPr txBox="1"/>
              <p:nvPr/>
            </p:nvSpPr>
            <p:spPr>
              <a:xfrm>
                <a:off x="6650162" y="5563761"/>
                <a:ext cx="53251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 smtClean="0">
                    <a:solidFill>
                      <a:srgbClr val="FF0000"/>
                    </a:solidFill>
                  </a:rPr>
                  <a:t>CCW</a:t>
                </a:r>
                <a:endParaRPr lang="en-US" sz="1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AutoShape 9"/>
              <p:cNvSpPr>
                <a:spLocks noChangeArrowheads="1"/>
              </p:cNvSpPr>
              <p:nvPr/>
            </p:nvSpPr>
            <p:spPr bwMode="auto">
              <a:xfrm>
                <a:off x="5465699" y="5486400"/>
                <a:ext cx="566694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World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348417" y="5048250"/>
                <a:ext cx="2522220" cy="914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u="sng" dirty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DirectX App</a:t>
                </a:r>
              </a:p>
            </p:txBody>
          </p:sp>
          <p:sp>
            <p:nvSpPr>
              <p:cNvPr id="40" name="Pentagon 39"/>
              <p:cNvSpPr/>
              <p:nvPr/>
            </p:nvSpPr>
            <p:spPr>
              <a:xfrm>
                <a:off x="2708495" y="5509976"/>
                <a:ext cx="1330105" cy="224073"/>
              </a:xfrm>
              <a:prstGeom prst="homePlat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ID3D11Buffer</a:t>
                </a:r>
              </a:p>
            </p:txBody>
          </p:sp>
          <p:cxnSp>
            <p:nvCxnSpPr>
              <p:cNvPr id="41" name="Straight Connector 40"/>
              <p:cNvCxnSpPr>
                <a:stCxn id="40" idx="3"/>
                <a:endCxn id="38" idx="1"/>
              </p:cNvCxnSpPr>
              <p:nvPr/>
            </p:nvCxnSpPr>
            <p:spPr>
              <a:xfrm>
                <a:off x="4038600" y="5622013"/>
                <a:ext cx="1427099" cy="2887"/>
              </a:xfrm>
              <a:prstGeom prst="line">
                <a:avLst/>
              </a:prstGeom>
              <a:ln w="254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/>
              <p:cNvSpPr/>
              <p:nvPr/>
            </p:nvSpPr>
            <p:spPr>
              <a:xfrm>
                <a:off x="500816" y="5490030"/>
                <a:ext cx="1251784" cy="23759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sz="1200" dirty="0" err="1">
                    <a:solidFill>
                      <a:schemeClr val="tx1"/>
                    </a:solidFill>
                  </a:rPr>
                  <a:t>mpcbWVPBuffer</a:t>
                </a:r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cxnSp>
            <p:nvCxnSpPr>
              <p:cNvPr id="43" name="Straight Arrow Connector 42"/>
              <p:cNvCxnSpPr>
                <a:stCxn id="42" idx="3"/>
              </p:cNvCxnSpPr>
              <p:nvPr/>
            </p:nvCxnSpPr>
            <p:spPr>
              <a:xfrm>
                <a:off x="1752600" y="5608826"/>
                <a:ext cx="958017" cy="6759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AutoShape 9"/>
            <p:cNvSpPr>
              <a:spLocks noChangeArrowheads="1"/>
            </p:cNvSpPr>
            <p:nvPr/>
          </p:nvSpPr>
          <p:spPr bwMode="auto">
            <a:xfrm>
              <a:off x="5468048" y="5824150"/>
              <a:ext cx="508857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View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1" name="AutoShape 9"/>
            <p:cNvSpPr>
              <a:spLocks noChangeArrowheads="1"/>
            </p:cNvSpPr>
            <p:nvPr/>
          </p:nvSpPr>
          <p:spPr bwMode="auto">
            <a:xfrm>
              <a:off x="5468048" y="6172200"/>
              <a:ext cx="81945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Projection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cxnSp>
          <p:nvCxnSpPr>
            <p:cNvPr id="52" name="Straight Connector 51"/>
            <p:cNvCxnSpPr>
              <a:stCxn id="40" idx="3"/>
              <a:endCxn id="50" idx="1"/>
            </p:cNvCxnSpPr>
            <p:nvPr/>
          </p:nvCxnSpPr>
          <p:spPr>
            <a:xfrm>
              <a:off x="4038600" y="5602963"/>
              <a:ext cx="1429448" cy="35968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0" idx="3"/>
              <a:endCxn id="51" idx="1"/>
            </p:cNvCxnSpPr>
            <p:nvPr/>
          </p:nvCxnSpPr>
          <p:spPr>
            <a:xfrm>
              <a:off x="4038600" y="5602963"/>
              <a:ext cx="1429448" cy="70773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1024993" y="2032462"/>
            <a:ext cx="6830882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VSSetConstantBuffers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mpcbWVPBuffer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4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315553" y="2063308"/>
            <a:ext cx="5446094" cy="1070814"/>
            <a:chOff x="1315553" y="2063308"/>
            <a:chExt cx="5446094" cy="1070814"/>
          </a:xfrm>
        </p:grpSpPr>
        <p:sp>
          <p:nvSpPr>
            <p:cNvPr id="54" name="Rounded Rectangle 53"/>
            <p:cNvSpPr/>
            <p:nvPr/>
          </p:nvSpPr>
          <p:spPr>
            <a:xfrm>
              <a:off x="3245717" y="2063308"/>
              <a:ext cx="254794" cy="26818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  <a:effectLst>
              <a:glow rad="127000">
                <a:srgbClr val="FFFF00">
                  <a:alpha val="65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315553" y="2759551"/>
              <a:ext cx="5446094" cy="374571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Note: 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time, only the VS makes use of the </a:t>
              </a:r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shader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constants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" name="Elbow Connector 56"/>
            <p:cNvCxnSpPr>
              <a:stCxn id="56" idx="0"/>
              <a:endCxn id="54" idx="2"/>
            </p:cNvCxnSpPr>
            <p:nvPr/>
          </p:nvCxnSpPr>
          <p:spPr>
            <a:xfrm rot="16200000" flipV="1">
              <a:off x="3491830" y="2212781"/>
              <a:ext cx="428054" cy="665486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5976905" y="5181600"/>
            <a:ext cx="881095" cy="1129100"/>
            <a:chOff x="5976905" y="5181600"/>
            <a:chExt cx="881095" cy="1129100"/>
          </a:xfrm>
          <a:effectLst>
            <a:glow rad="127000">
              <a:srgbClr val="FFFF00">
                <a:alpha val="45000"/>
              </a:srgbClr>
            </a:glow>
          </a:effectLst>
        </p:grpSpPr>
        <p:cxnSp>
          <p:nvCxnSpPr>
            <p:cNvPr id="48" name="Straight Connector 47"/>
            <p:cNvCxnSpPr>
              <a:stCxn id="38" idx="3"/>
            </p:cNvCxnSpPr>
            <p:nvPr/>
          </p:nvCxnSpPr>
          <p:spPr>
            <a:xfrm flipV="1">
              <a:off x="6032393" y="5181600"/>
              <a:ext cx="825607" cy="42425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7"/>
            <p:cNvCxnSpPr>
              <a:stCxn id="50" idx="3"/>
            </p:cNvCxnSpPr>
            <p:nvPr/>
          </p:nvCxnSpPr>
          <p:spPr>
            <a:xfrm flipV="1">
              <a:off x="5976905" y="5181600"/>
              <a:ext cx="881095" cy="781050"/>
            </a:xfrm>
            <a:prstGeom prst="bentConnector3">
              <a:avLst>
                <a:gd name="adj1" fmla="val 52703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7"/>
            <p:cNvCxnSpPr>
              <a:stCxn id="51" idx="3"/>
            </p:cNvCxnSpPr>
            <p:nvPr/>
          </p:nvCxnSpPr>
          <p:spPr>
            <a:xfrm flipV="1">
              <a:off x="6287503" y="5257800"/>
              <a:ext cx="157693" cy="1052900"/>
            </a:xfrm>
            <a:prstGeom prst="bentConnector2">
              <a:avLst/>
            </a:prstGeom>
            <a:ln w="2540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513461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 Buffers for Matrices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Step </a:t>
            </a:r>
            <a:r>
              <a:rPr lang="en-US" sz="2000" b="1" dirty="0" smtClean="0"/>
              <a:t>3: Updating Data:</a:t>
            </a:r>
            <a:r>
              <a:rPr lang="en-US" sz="2000" dirty="0" smtClean="0"/>
              <a:t> Sending the matrices from CPU to the GPU buffer</a:t>
            </a:r>
          </a:p>
          <a:p>
            <a:pPr marL="457200" lvl="1" indent="0">
              <a:buNone/>
            </a:pPr>
            <a:r>
              <a:rPr lang="en-US" sz="1800" b="1" dirty="0" smtClean="0"/>
              <a:t>Problem: </a:t>
            </a:r>
            <a:r>
              <a:rPr lang="en-US" sz="1800" dirty="0" smtClean="0"/>
              <a:t>The world, view and perspective matrices may change during the update</a:t>
            </a:r>
            <a:endParaRPr lang="en-US" sz="800" b="1" dirty="0" smtClean="0"/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endParaRPr lang="en-US" sz="1100" b="1" dirty="0"/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r>
              <a:rPr lang="en-US" sz="1800" b="1" dirty="0" smtClean="0"/>
              <a:t>Answer:</a:t>
            </a:r>
            <a:r>
              <a:rPr lang="en-US" sz="1800" dirty="0" smtClean="0"/>
              <a:t> </a:t>
            </a:r>
            <a:r>
              <a:rPr lang="en-US" sz="1800" dirty="0"/>
              <a:t>Send the updated data </a:t>
            </a:r>
            <a:r>
              <a:rPr lang="en-US" sz="1800" i="1" u="sng" dirty="0"/>
              <a:t>as part of the draw step.</a:t>
            </a:r>
            <a:endParaRPr lang="en-US" sz="1800" b="1" dirty="0"/>
          </a:p>
          <a:p>
            <a:pPr marL="457200" lvl="1" indent="0">
              <a:buNone/>
            </a:pPr>
            <a:endParaRPr lang="en-US" sz="1800" b="1" dirty="0" smtClean="0"/>
          </a:p>
          <a:p>
            <a:pPr marL="739775" lvl="2" indent="0">
              <a:buNone/>
            </a:pPr>
            <a:endParaRPr lang="en-US" sz="1800" dirty="0"/>
          </a:p>
        </p:txBody>
      </p:sp>
      <p:grpSp>
        <p:nvGrpSpPr>
          <p:cNvPr id="58" name="Group 57"/>
          <p:cNvGrpSpPr/>
          <p:nvPr/>
        </p:nvGrpSpPr>
        <p:grpSpPr>
          <a:xfrm>
            <a:off x="348417" y="4267200"/>
            <a:ext cx="8725503" cy="2514600"/>
            <a:chOff x="348417" y="4267200"/>
            <a:chExt cx="8725503" cy="2514600"/>
          </a:xfrm>
        </p:grpSpPr>
        <p:grpSp>
          <p:nvGrpSpPr>
            <p:cNvPr id="27" name="Group 26"/>
            <p:cNvGrpSpPr/>
            <p:nvPr/>
          </p:nvGrpSpPr>
          <p:grpSpPr>
            <a:xfrm>
              <a:off x="348417" y="4267200"/>
              <a:ext cx="8725503" cy="2514600"/>
              <a:chOff x="348417" y="4286250"/>
              <a:chExt cx="8725503" cy="251460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5257800" y="4286250"/>
                <a:ext cx="3816120" cy="2514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u="sng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GPU</a:t>
                </a:r>
                <a:endPara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8087847" y="5500550"/>
                <a:ext cx="914400" cy="2240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Viewport</a:t>
                </a:r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cxnSp>
            <p:nvCxnSpPr>
              <p:cNvPr id="30" name="Straight Arrow Connector 29"/>
              <p:cNvCxnSpPr>
                <a:stCxn id="31" idx="3"/>
                <a:endCxn id="29" idx="1"/>
              </p:cNvCxnSpPr>
              <p:nvPr/>
            </p:nvCxnSpPr>
            <p:spPr>
              <a:xfrm flipV="1">
                <a:off x="7885299" y="5612587"/>
                <a:ext cx="202548" cy="445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11720" y="4575341"/>
                <a:ext cx="1173579" cy="207538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2" name="AutoShape 9"/>
              <p:cNvSpPr>
                <a:spLocks noChangeArrowheads="1"/>
              </p:cNvSpPr>
              <p:nvPr/>
            </p:nvSpPr>
            <p:spPr bwMode="auto">
              <a:xfrm>
                <a:off x="5465699" y="4637306"/>
                <a:ext cx="501035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Verts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3" name="AutoShape 9"/>
              <p:cNvSpPr>
                <a:spLocks noChangeArrowheads="1"/>
              </p:cNvSpPr>
              <p:nvPr/>
            </p:nvSpPr>
            <p:spPr bwMode="auto">
              <a:xfrm>
                <a:off x="5465699" y="5044813"/>
                <a:ext cx="630301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Indices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34" name="Straight Arrow Connector 30"/>
              <p:cNvCxnSpPr>
                <a:stCxn id="32" idx="3"/>
              </p:cNvCxnSpPr>
              <p:nvPr/>
            </p:nvCxnSpPr>
            <p:spPr>
              <a:xfrm flipV="1">
                <a:off x="5966734" y="4762620"/>
                <a:ext cx="781471" cy="1318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0"/>
              <p:cNvCxnSpPr>
                <a:stCxn id="33" idx="3"/>
              </p:cNvCxnSpPr>
              <p:nvPr/>
            </p:nvCxnSpPr>
            <p:spPr>
              <a:xfrm flipV="1">
                <a:off x="6096000" y="4886057"/>
                <a:ext cx="652205" cy="29725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/>
              <p:cNvGrpSpPr/>
              <p:nvPr/>
            </p:nvGrpSpPr>
            <p:grpSpPr>
              <a:xfrm>
                <a:off x="7687505" y="5022582"/>
                <a:ext cx="1188553" cy="1200322"/>
                <a:chOff x="7696200" y="2346325"/>
                <a:chExt cx="1188553" cy="1200322"/>
              </a:xfrm>
            </p:grpSpPr>
            <p:sp>
              <p:nvSpPr>
                <p:cNvPr id="44" name="Cloud 43"/>
                <p:cNvSpPr/>
                <p:nvPr/>
              </p:nvSpPr>
              <p:spPr>
                <a:xfrm>
                  <a:off x="8096542" y="2346325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VS</a:t>
                  </a:r>
                  <a:endParaRPr lang="en-US" sz="1200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5" name="Straight Arrow Connector 44"/>
                <p:cNvCxnSpPr>
                  <a:endCxn id="44" idx="2"/>
                </p:cNvCxnSpPr>
                <p:nvPr/>
              </p:nvCxnSpPr>
              <p:spPr>
                <a:xfrm>
                  <a:off x="7696200" y="2526559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Cloud 45"/>
                <p:cNvSpPr/>
                <p:nvPr/>
              </p:nvSpPr>
              <p:spPr>
                <a:xfrm>
                  <a:off x="8112658" y="3186179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PS</a:t>
                  </a:r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7" name="Straight Arrow Connector 46"/>
                <p:cNvCxnSpPr>
                  <a:endCxn id="46" idx="2"/>
                </p:cNvCxnSpPr>
                <p:nvPr/>
              </p:nvCxnSpPr>
              <p:spPr>
                <a:xfrm>
                  <a:off x="7712316" y="3366413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/>
              <p:cNvSpPr txBox="1"/>
              <p:nvPr/>
            </p:nvSpPr>
            <p:spPr>
              <a:xfrm>
                <a:off x="6650162" y="5563761"/>
                <a:ext cx="53251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 smtClean="0">
                    <a:solidFill>
                      <a:srgbClr val="FF0000"/>
                    </a:solidFill>
                  </a:rPr>
                  <a:t>CCW</a:t>
                </a:r>
                <a:endParaRPr lang="en-US" sz="1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AutoShape 9"/>
              <p:cNvSpPr>
                <a:spLocks noChangeArrowheads="1"/>
              </p:cNvSpPr>
              <p:nvPr/>
            </p:nvSpPr>
            <p:spPr bwMode="auto">
              <a:xfrm>
                <a:off x="5465699" y="5486400"/>
                <a:ext cx="566694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World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348417" y="5048250"/>
                <a:ext cx="2522220" cy="914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u="sng" dirty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DirectX App</a:t>
                </a:r>
              </a:p>
            </p:txBody>
          </p:sp>
          <p:sp>
            <p:nvSpPr>
              <p:cNvPr id="40" name="Pentagon 39"/>
              <p:cNvSpPr/>
              <p:nvPr/>
            </p:nvSpPr>
            <p:spPr>
              <a:xfrm>
                <a:off x="2708495" y="5509976"/>
                <a:ext cx="1330105" cy="224073"/>
              </a:xfrm>
              <a:prstGeom prst="homePlat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ID3D11Buffer</a:t>
                </a:r>
              </a:p>
            </p:txBody>
          </p:sp>
          <p:cxnSp>
            <p:nvCxnSpPr>
              <p:cNvPr id="41" name="Straight Connector 40"/>
              <p:cNvCxnSpPr>
                <a:stCxn id="40" idx="3"/>
                <a:endCxn id="38" idx="1"/>
              </p:cNvCxnSpPr>
              <p:nvPr/>
            </p:nvCxnSpPr>
            <p:spPr>
              <a:xfrm>
                <a:off x="4038600" y="5622013"/>
                <a:ext cx="1427099" cy="2887"/>
              </a:xfrm>
              <a:prstGeom prst="line">
                <a:avLst/>
              </a:prstGeom>
              <a:ln w="254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/>
              <p:cNvSpPr/>
              <p:nvPr/>
            </p:nvSpPr>
            <p:spPr>
              <a:xfrm>
                <a:off x="500816" y="5490030"/>
                <a:ext cx="1251784" cy="23759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sz="1200" dirty="0" err="1">
                    <a:solidFill>
                      <a:schemeClr val="tx1"/>
                    </a:solidFill>
                  </a:rPr>
                  <a:t>mpcbWVPBuffer</a:t>
                </a:r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  <a:p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cxnSp>
            <p:nvCxnSpPr>
              <p:cNvPr id="43" name="Straight Arrow Connector 42"/>
              <p:cNvCxnSpPr>
                <a:stCxn id="42" idx="3"/>
              </p:cNvCxnSpPr>
              <p:nvPr/>
            </p:nvCxnSpPr>
            <p:spPr>
              <a:xfrm>
                <a:off x="1752600" y="5608826"/>
                <a:ext cx="958017" cy="6759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AutoShape 9"/>
            <p:cNvSpPr>
              <a:spLocks noChangeArrowheads="1"/>
            </p:cNvSpPr>
            <p:nvPr/>
          </p:nvSpPr>
          <p:spPr bwMode="auto">
            <a:xfrm>
              <a:off x="5468048" y="5824150"/>
              <a:ext cx="508857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View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1" name="AutoShape 9"/>
            <p:cNvSpPr>
              <a:spLocks noChangeArrowheads="1"/>
            </p:cNvSpPr>
            <p:nvPr/>
          </p:nvSpPr>
          <p:spPr bwMode="auto">
            <a:xfrm>
              <a:off x="5468048" y="6172200"/>
              <a:ext cx="81945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Projection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cxnSp>
          <p:nvCxnSpPr>
            <p:cNvPr id="52" name="Straight Connector 51"/>
            <p:cNvCxnSpPr>
              <a:stCxn id="40" idx="3"/>
              <a:endCxn id="50" idx="1"/>
            </p:cNvCxnSpPr>
            <p:nvPr/>
          </p:nvCxnSpPr>
          <p:spPr>
            <a:xfrm>
              <a:off x="4038600" y="5602963"/>
              <a:ext cx="1429448" cy="35968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0" idx="3"/>
              <a:endCxn id="51" idx="1"/>
            </p:cNvCxnSpPr>
            <p:nvPr/>
          </p:nvCxnSpPr>
          <p:spPr>
            <a:xfrm>
              <a:off x="4038600" y="5602963"/>
              <a:ext cx="1429448" cy="70773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991687" y="1905000"/>
            <a:ext cx="6695818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.0001f);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Simple slow rotation about y axis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target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Build the view matrix using gimmicky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trick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up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0, 0);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-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mRadius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mTheta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mPhi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mCam.setOrientAndPosition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(up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target,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mCam.updateCamera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grpSp>
        <p:nvGrpSpPr>
          <p:cNvPr id="49" name="Group 48"/>
          <p:cNvGrpSpPr/>
          <p:nvPr/>
        </p:nvGrpSpPr>
        <p:grpSpPr>
          <a:xfrm>
            <a:off x="5976905" y="5181600"/>
            <a:ext cx="881095" cy="1129100"/>
            <a:chOff x="5976905" y="5181600"/>
            <a:chExt cx="881095" cy="1129100"/>
          </a:xfrm>
          <a:effectLst>
            <a:glow>
              <a:schemeClr val="bg1"/>
            </a:glow>
          </a:effectLst>
        </p:grpSpPr>
        <p:cxnSp>
          <p:nvCxnSpPr>
            <p:cNvPr id="53" name="Straight Connector 47"/>
            <p:cNvCxnSpPr/>
            <p:nvPr/>
          </p:nvCxnSpPr>
          <p:spPr>
            <a:xfrm flipV="1">
              <a:off x="6032393" y="5181600"/>
              <a:ext cx="825607" cy="42425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7"/>
            <p:cNvCxnSpPr/>
            <p:nvPr/>
          </p:nvCxnSpPr>
          <p:spPr>
            <a:xfrm flipV="1">
              <a:off x="5976905" y="5181600"/>
              <a:ext cx="881095" cy="781050"/>
            </a:xfrm>
            <a:prstGeom prst="bentConnector3">
              <a:avLst>
                <a:gd name="adj1" fmla="val 52703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7"/>
            <p:cNvCxnSpPr/>
            <p:nvPr/>
          </p:nvCxnSpPr>
          <p:spPr>
            <a:xfrm flipV="1">
              <a:off x="6287503" y="5257800"/>
              <a:ext cx="157693" cy="1052900"/>
            </a:xfrm>
            <a:prstGeom prst="bentConnector2">
              <a:avLst/>
            </a:prstGeom>
            <a:ln w="2540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989675" y="4204230"/>
            <a:ext cx="4411098" cy="747587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Update step, many events could have caused the values to change (key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collision, etc.). We don’t want to send data to the GPU unnecessarily.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03737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8" grpId="0" animBg="1"/>
      <p:bldP spid="5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 Buffers for Matrices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Step </a:t>
            </a:r>
            <a:r>
              <a:rPr lang="en-US" sz="2000" b="1" dirty="0" smtClean="0"/>
              <a:t>3: Updating Data:</a:t>
            </a:r>
            <a:r>
              <a:rPr lang="en-US" sz="2000" dirty="0" smtClean="0"/>
              <a:t> Sending the matrices from CPU to the GPU buffer</a:t>
            </a:r>
          </a:p>
          <a:p>
            <a:pPr marL="457200" lvl="1" indent="0">
              <a:buNone/>
            </a:pPr>
            <a:r>
              <a:rPr lang="en-US" sz="1800" b="1" dirty="0" smtClean="0"/>
              <a:t>Problem: </a:t>
            </a:r>
            <a:r>
              <a:rPr lang="en-US" sz="1800" dirty="0" smtClean="0"/>
              <a:t>The world, view and perspective matrices may change during the update</a:t>
            </a:r>
            <a:endParaRPr lang="en-US" sz="800" b="1" dirty="0" smtClean="0"/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endParaRPr lang="en-US" sz="1100" b="1" dirty="0"/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r>
              <a:rPr lang="en-US" sz="1800" b="1" dirty="0" smtClean="0"/>
              <a:t>Answer:</a:t>
            </a:r>
            <a:r>
              <a:rPr lang="en-US" sz="1800" dirty="0" smtClean="0"/>
              <a:t> </a:t>
            </a:r>
            <a:r>
              <a:rPr lang="en-US" sz="1800" dirty="0"/>
              <a:t>Send the updated data </a:t>
            </a:r>
            <a:r>
              <a:rPr lang="en-US" sz="1800" i="1" u="sng" dirty="0"/>
              <a:t>as part of the draw step.</a:t>
            </a:r>
            <a:endParaRPr lang="en-US" sz="1800" b="1" dirty="0"/>
          </a:p>
          <a:p>
            <a:pPr marL="457200" lvl="1" indent="0">
              <a:buNone/>
            </a:pPr>
            <a:endParaRPr lang="en-US" sz="1800" b="1" dirty="0" smtClean="0"/>
          </a:p>
          <a:p>
            <a:pPr marL="739775" lvl="2" indent="0">
              <a:buNone/>
            </a:pPr>
            <a:endParaRPr lang="en-US" sz="1800" dirty="0"/>
          </a:p>
        </p:txBody>
      </p:sp>
      <p:grpSp>
        <p:nvGrpSpPr>
          <p:cNvPr id="58" name="Group 57"/>
          <p:cNvGrpSpPr/>
          <p:nvPr/>
        </p:nvGrpSpPr>
        <p:grpSpPr>
          <a:xfrm>
            <a:off x="5257800" y="4267200"/>
            <a:ext cx="3816120" cy="2514600"/>
            <a:chOff x="5257800" y="4267200"/>
            <a:chExt cx="3816120" cy="2514600"/>
          </a:xfrm>
        </p:grpSpPr>
        <p:grpSp>
          <p:nvGrpSpPr>
            <p:cNvPr id="27" name="Group 26"/>
            <p:cNvGrpSpPr/>
            <p:nvPr/>
          </p:nvGrpSpPr>
          <p:grpSpPr>
            <a:xfrm>
              <a:off x="5257800" y="4267200"/>
              <a:ext cx="3816120" cy="2514600"/>
              <a:chOff x="5257800" y="4286250"/>
              <a:chExt cx="3816120" cy="251460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5257800" y="4286250"/>
                <a:ext cx="3816120" cy="2514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u="sng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GPU</a:t>
                </a:r>
                <a:endPara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8087847" y="5500550"/>
                <a:ext cx="914400" cy="2240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Viewport</a:t>
                </a:r>
                <a:endPara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  <p:cxnSp>
            <p:nvCxnSpPr>
              <p:cNvPr id="30" name="Straight Arrow Connector 29"/>
              <p:cNvCxnSpPr>
                <a:stCxn id="31" idx="3"/>
                <a:endCxn id="29" idx="1"/>
              </p:cNvCxnSpPr>
              <p:nvPr/>
            </p:nvCxnSpPr>
            <p:spPr>
              <a:xfrm flipV="1">
                <a:off x="7885299" y="5612587"/>
                <a:ext cx="202548" cy="445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11720" y="4575341"/>
                <a:ext cx="1173579" cy="207538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2" name="AutoShape 9"/>
              <p:cNvSpPr>
                <a:spLocks noChangeArrowheads="1"/>
              </p:cNvSpPr>
              <p:nvPr/>
            </p:nvSpPr>
            <p:spPr bwMode="auto">
              <a:xfrm>
                <a:off x="5465699" y="4637306"/>
                <a:ext cx="501035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Verts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3" name="AutoShape 9"/>
              <p:cNvSpPr>
                <a:spLocks noChangeArrowheads="1"/>
              </p:cNvSpPr>
              <p:nvPr/>
            </p:nvSpPr>
            <p:spPr bwMode="auto">
              <a:xfrm>
                <a:off x="5465699" y="5044813"/>
                <a:ext cx="630301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Indices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34" name="Straight Arrow Connector 30"/>
              <p:cNvCxnSpPr>
                <a:stCxn id="32" idx="3"/>
              </p:cNvCxnSpPr>
              <p:nvPr/>
            </p:nvCxnSpPr>
            <p:spPr>
              <a:xfrm flipV="1">
                <a:off x="5966734" y="4762620"/>
                <a:ext cx="781471" cy="1318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0"/>
              <p:cNvCxnSpPr>
                <a:stCxn id="33" idx="3"/>
              </p:cNvCxnSpPr>
              <p:nvPr/>
            </p:nvCxnSpPr>
            <p:spPr>
              <a:xfrm flipV="1">
                <a:off x="6096000" y="4886057"/>
                <a:ext cx="652205" cy="297256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/>
              <p:cNvGrpSpPr/>
              <p:nvPr/>
            </p:nvGrpSpPr>
            <p:grpSpPr>
              <a:xfrm>
                <a:off x="7687505" y="5022582"/>
                <a:ext cx="1188553" cy="1200322"/>
                <a:chOff x="7696200" y="2346325"/>
                <a:chExt cx="1188553" cy="1200322"/>
              </a:xfrm>
            </p:grpSpPr>
            <p:sp>
              <p:nvSpPr>
                <p:cNvPr id="44" name="Cloud 43"/>
                <p:cNvSpPr/>
                <p:nvPr/>
              </p:nvSpPr>
              <p:spPr>
                <a:xfrm>
                  <a:off x="8096542" y="2346325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VS</a:t>
                  </a:r>
                  <a:endParaRPr lang="en-US" sz="1200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5" name="Straight Arrow Connector 44"/>
                <p:cNvCxnSpPr>
                  <a:endCxn id="44" idx="2"/>
                </p:cNvCxnSpPr>
                <p:nvPr/>
              </p:nvCxnSpPr>
              <p:spPr>
                <a:xfrm>
                  <a:off x="7696200" y="2526559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Cloud 45"/>
                <p:cNvSpPr/>
                <p:nvPr/>
              </p:nvSpPr>
              <p:spPr>
                <a:xfrm>
                  <a:off x="8112658" y="3186179"/>
                  <a:ext cx="772095" cy="360468"/>
                </a:xfrm>
                <a:prstGeom prst="cloud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PS</a:t>
                  </a:r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7" name="Straight Arrow Connector 46"/>
                <p:cNvCxnSpPr>
                  <a:endCxn id="46" idx="2"/>
                </p:cNvCxnSpPr>
                <p:nvPr/>
              </p:nvCxnSpPr>
              <p:spPr>
                <a:xfrm>
                  <a:off x="7712316" y="3366413"/>
                  <a:ext cx="402737" cy="0"/>
                </a:xfrm>
                <a:prstGeom prst="straightConnector1">
                  <a:avLst/>
                </a:prstGeom>
                <a:ln w="2540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/>
              <p:cNvSpPr txBox="1"/>
              <p:nvPr/>
            </p:nvSpPr>
            <p:spPr>
              <a:xfrm>
                <a:off x="6650162" y="5563761"/>
                <a:ext cx="53251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 smtClean="0">
                    <a:solidFill>
                      <a:srgbClr val="FF0000"/>
                    </a:solidFill>
                  </a:rPr>
                  <a:t>CCW</a:t>
                </a:r>
                <a:endParaRPr lang="en-US" sz="1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AutoShape 9"/>
              <p:cNvSpPr>
                <a:spLocks noChangeArrowheads="1"/>
              </p:cNvSpPr>
              <p:nvPr/>
            </p:nvSpPr>
            <p:spPr bwMode="auto">
              <a:xfrm>
                <a:off x="5465699" y="5486400"/>
                <a:ext cx="566694" cy="276999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12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World</a:t>
                </a:r>
                <a:endParaRPr kumimoji="0" lang="en-US" altLang="en-US" sz="12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50" name="AutoShape 9"/>
            <p:cNvSpPr>
              <a:spLocks noChangeArrowheads="1"/>
            </p:cNvSpPr>
            <p:nvPr/>
          </p:nvSpPr>
          <p:spPr bwMode="auto">
            <a:xfrm>
              <a:off x="5468048" y="5824150"/>
              <a:ext cx="508857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View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1" name="AutoShape 9"/>
            <p:cNvSpPr>
              <a:spLocks noChangeArrowheads="1"/>
            </p:cNvSpPr>
            <p:nvPr/>
          </p:nvSpPr>
          <p:spPr bwMode="auto">
            <a:xfrm>
              <a:off x="5468048" y="6172200"/>
              <a:ext cx="81945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Projection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991687" y="1905000"/>
            <a:ext cx="6695818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.0001f);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Simple slow rotation about y axis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target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Build the view matrix using gimmicky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trick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up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0, 0);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-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mRadius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mTheta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mPhi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mCam.setOrientAndPosition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(up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target,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mCam.updateCamera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grpSp>
        <p:nvGrpSpPr>
          <p:cNvPr id="49" name="Group 48"/>
          <p:cNvGrpSpPr/>
          <p:nvPr/>
        </p:nvGrpSpPr>
        <p:grpSpPr>
          <a:xfrm>
            <a:off x="5976905" y="5181600"/>
            <a:ext cx="881095" cy="1129100"/>
            <a:chOff x="5976905" y="5181600"/>
            <a:chExt cx="881095" cy="1129100"/>
          </a:xfrm>
          <a:effectLst>
            <a:glow>
              <a:schemeClr val="bg1"/>
            </a:glow>
          </a:effectLst>
        </p:grpSpPr>
        <p:cxnSp>
          <p:nvCxnSpPr>
            <p:cNvPr id="53" name="Straight Connector 47"/>
            <p:cNvCxnSpPr/>
            <p:nvPr/>
          </p:nvCxnSpPr>
          <p:spPr>
            <a:xfrm flipV="1">
              <a:off x="6032393" y="5181600"/>
              <a:ext cx="825607" cy="42425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7"/>
            <p:cNvCxnSpPr/>
            <p:nvPr/>
          </p:nvCxnSpPr>
          <p:spPr>
            <a:xfrm flipV="1">
              <a:off x="5976905" y="5181600"/>
              <a:ext cx="881095" cy="781050"/>
            </a:xfrm>
            <a:prstGeom prst="bentConnector3">
              <a:avLst>
                <a:gd name="adj1" fmla="val 52703"/>
              </a:avLst>
            </a:prstGeom>
            <a:ln w="254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7"/>
            <p:cNvCxnSpPr/>
            <p:nvPr/>
          </p:nvCxnSpPr>
          <p:spPr>
            <a:xfrm flipV="1">
              <a:off x="6287503" y="5257800"/>
              <a:ext cx="157693" cy="1052900"/>
            </a:xfrm>
            <a:prstGeom prst="bentConnector2">
              <a:avLst/>
            </a:prstGeom>
            <a:ln w="2540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989675" y="4204230"/>
            <a:ext cx="4411098" cy="747587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Update step, many events could have caused the values to change (key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collision, etc.). We don’t want to send data to the GPU unnecessarily.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42507" y="5264483"/>
            <a:ext cx="4648200" cy="1052898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Fundamentally, this is 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 have a draw step at all. </a:t>
            </a:r>
          </a:p>
          <a:p>
            <a:pPr marL="395288" lvl="1" indent="-174625">
              <a:buFont typeface="+mj-lt"/>
              <a:buAutoNum type="arabicPeriod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changes for the next frame (Update step)</a:t>
            </a:r>
          </a:p>
          <a:p>
            <a:pPr marL="395288" lvl="1" indent="-174625">
              <a:buFont typeface="+mj-lt"/>
              <a:buAutoNum type="arabicPeriod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all the data in its final form, package it all to the GPU and render the next frame (Draw step)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61972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 Buffers for Matrices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Step 3:</a:t>
            </a:r>
            <a:r>
              <a:rPr lang="en-US" sz="2000" dirty="0"/>
              <a:t> </a:t>
            </a:r>
            <a:r>
              <a:rPr lang="en-US" sz="2000" b="1" dirty="0"/>
              <a:t>Updating Data:</a:t>
            </a:r>
            <a:r>
              <a:rPr lang="en-US" sz="2000" dirty="0"/>
              <a:t> Sending the matrices from CPU to the GPU buffer</a:t>
            </a:r>
          </a:p>
          <a:p>
            <a:pPr marL="457200" lvl="1" indent="0">
              <a:buNone/>
            </a:pPr>
            <a:r>
              <a:rPr lang="en-US" sz="1800" b="1" dirty="0" smtClean="0"/>
              <a:t>Problem</a:t>
            </a:r>
            <a:r>
              <a:rPr lang="en-US" sz="1800" b="1" dirty="0"/>
              <a:t>: </a:t>
            </a:r>
            <a:r>
              <a:rPr lang="en-US" sz="1800" dirty="0"/>
              <a:t>The world, view and perspective matrices may change during the update</a:t>
            </a:r>
            <a:endParaRPr lang="en-US" sz="800" b="1" dirty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sz="1100" b="1" dirty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r>
              <a:rPr lang="en-US" sz="1800" b="1" dirty="0"/>
              <a:t>Answer:</a:t>
            </a:r>
            <a:r>
              <a:rPr lang="en-US" sz="1800" dirty="0"/>
              <a:t> </a:t>
            </a:r>
            <a:r>
              <a:rPr lang="en-US" sz="1800" dirty="0" smtClean="0"/>
              <a:t>Send the updated data </a:t>
            </a:r>
            <a:r>
              <a:rPr lang="en-US" sz="1800" i="1" u="sng" dirty="0" smtClean="0"/>
              <a:t>as part of the draw </a:t>
            </a:r>
            <a:r>
              <a:rPr lang="en-US" sz="1800" i="1" u="sng" dirty="0"/>
              <a:t>step.</a:t>
            </a:r>
            <a:endParaRPr lang="en-US" sz="1800" b="1" dirty="0"/>
          </a:p>
          <a:p>
            <a:pPr marL="739775" lvl="2" indent="0">
              <a:buNone/>
            </a:pPr>
            <a:endParaRPr lang="en-US" sz="1800" dirty="0"/>
          </a:p>
        </p:txBody>
      </p:sp>
      <p:sp>
        <p:nvSpPr>
          <p:cNvPr id="48" name="TextBox 47"/>
          <p:cNvSpPr txBox="1"/>
          <p:nvPr/>
        </p:nvSpPr>
        <p:spPr>
          <a:xfrm>
            <a:off x="990600" y="4243387"/>
            <a:ext cx="7391400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WVPmatrices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cb.mWorld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cb.mView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cb.mProjection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mpcbWVPBuffer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(3 * 6, 0, 0);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3 indices for each triangle in a list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&gt;Present(0, 0);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1219200" y="4921099"/>
            <a:ext cx="6172200" cy="94059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67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991687" y="1905000"/>
            <a:ext cx="6695818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.0001f);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Simple slow rotation about y axis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target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Build the view matrix using gimmicky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trick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up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0, 0);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-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mRadius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mTheta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mPhi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mCam.setOrientAndPosition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(up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target,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mCam.updateCamera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4953000" y="4925689"/>
            <a:ext cx="2430847" cy="54880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Ins="91440" bIns="0" rtlCol="0">
            <a:no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pushed to GPU every frame.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97315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2:</a:t>
            </a:r>
          </a:p>
          <a:p>
            <a:r>
              <a:rPr lang="en-US" dirty="0" smtClean="0"/>
              <a:t>Depth Buffer Woes….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78844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Colored Cube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logical progression at this point would be to have you create a colored cube as part of the next assignment:</a:t>
            </a:r>
          </a:p>
          <a:p>
            <a:pPr marL="461963" lvl="1" indent="-188913"/>
            <a:r>
              <a:rPr lang="en-US" sz="1800" dirty="0" smtClean="0"/>
              <a:t>Use the same </a:t>
            </a:r>
            <a:r>
              <a:rPr lang="en-US" sz="1800" dirty="0" err="1" smtClean="0"/>
              <a:t>shaders</a:t>
            </a:r>
            <a:r>
              <a:rPr lang="en-US" sz="1800" dirty="0" smtClean="0"/>
              <a:t> as the colored pyramid</a:t>
            </a:r>
          </a:p>
          <a:p>
            <a:pPr marL="461963" lvl="1" indent="-188913"/>
            <a:r>
              <a:rPr lang="en-US" sz="1800" dirty="0" smtClean="0"/>
              <a:t>Adjust the code to use the following vertices and indices</a:t>
            </a:r>
          </a:p>
          <a:p>
            <a:pPr marL="461963" lvl="1" indent="-188913"/>
            <a:endParaRPr lang="en-US" sz="1800" dirty="0"/>
          </a:p>
          <a:p>
            <a:pPr marL="461963" lvl="1" indent="-188913"/>
            <a:endParaRPr lang="en-US" sz="1800" dirty="0" smtClean="0"/>
          </a:p>
          <a:p>
            <a:pPr marL="461963" lvl="1" indent="-188913"/>
            <a:endParaRPr lang="en-US" sz="1800" dirty="0"/>
          </a:p>
          <a:p>
            <a:pPr marL="461963" lvl="1" indent="-188913"/>
            <a:endParaRPr lang="en-US" sz="1800" dirty="0" smtClean="0"/>
          </a:p>
          <a:p>
            <a:pPr marL="273050" lvl="1" indent="0">
              <a:buNone/>
            </a:pPr>
            <a:endParaRPr lang="en-US" sz="1800" dirty="0" smtClean="0"/>
          </a:p>
          <a:p>
            <a:pPr marL="273050" lvl="1" indent="0">
              <a:buNone/>
            </a:pPr>
            <a:endParaRPr lang="en-US" sz="800" dirty="0" smtClean="0"/>
          </a:p>
          <a:p>
            <a:pPr marL="273050" lvl="1" indent="0">
              <a:buNone/>
            </a:pPr>
            <a:r>
              <a:rPr lang="en-US" sz="1800" dirty="0" smtClean="0"/>
              <a:t>Unfortunately: without adjusting yet another DX setting, a slight error might give you any of the following (or worse):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131" y="1600200"/>
            <a:ext cx="1675501" cy="1299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67000"/>
            <a:ext cx="3429000" cy="17649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791" y="3011580"/>
            <a:ext cx="2773456" cy="14203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696" y="4876801"/>
            <a:ext cx="2136182" cy="1710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242" y="4876801"/>
            <a:ext cx="2160616" cy="1710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914400" y="5272441"/>
            <a:ext cx="29718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we are seeing here is a problem with the </a:t>
            </a: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depth buffer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09140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Depth Buffering (aka z-buffering):</a:t>
            </a:r>
            <a:br>
              <a:rPr lang="en-US" dirty="0" smtClean="0"/>
            </a:br>
            <a:r>
              <a:rPr lang="en-US" dirty="0" smtClean="0"/>
              <a:t>The Olden </a:t>
            </a:r>
            <a:r>
              <a:rPr lang="en-US" dirty="0"/>
              <a:t>D</a:t>
            </a:r>
            <a:r>
              <a:rPr lang="en-US" dirty="0" smtClean="0"/>
              <a:t>ays…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When a pixel is targeted by two or more objects, </a:t>
            </a:r>
            <a:r>
              <a:rPr lang="en-US" sz="2000" u="sng" dirty="0"/>
              <a:t>d</a:t>
            </a:r>
            <a:r>
              <a:rPr lang="en-US" sz="2000" u="sng" dirty="0" smtClean="0"/>
              <a:t>epth buffering</a:t>
            </a:r>
            <a:r>
              <a:rPr lang="en-US" sz="2000" dirty="0" smtClean="0"/>
              <a:t> will compare their respective NDC </a:t>
            </a:r>
            <a:r>
              <a:rPr lang="en-US" sz="2000" smtClean="0"/>
              <a:t>z values: </a:t>
            </a:r>
            <a:r>
              <a:rPr lang="en-US" sz="2000" dirty="0" smtClean="0"/>
              <a:t>the one closest to the screen wins.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Typical implementation:</a:t>
            </a:r>
            <a:endParaRPr lang="en-US" sz="800" dirty="0"/>
          </a:p>
          <a:p>
            <a:pPr marL="461963" lvl="1" indent="-188913"/>
            <a:r>
              <a:rPr lang="en-US" sz="1800" dirty="0" smtClean="0"/>
              <a:t>Keep a separate buffer to track the depth of each pixel</a:t>
            </a:r>
          </a:p>
          <a:p>
            <a:pPr marL="461963" lvl="1" indent="-188913"/>
            <a:r>
              <a:rPr lang="en-US" sz="1800" dirty="0" smtClean="0"/>
              <a:t>A pixel is recolored only if the new color has a lower z value</a:t>
            </a:r>
            <a:endParaRPr lang="en-US" sz="18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2050" name="Picture 2" descr="http://www.e-reading.club/illustrations/143/143437-_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16394"/>
            <a:ext cx="2752725" cy="278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scs.senecac.on.ca/~gam666/pages/images/depth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516394"/>
            <a:ext cx="3701268" cy="326540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858000" y="2628186"/>
            <a:ext cx="16764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 was simple back then….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14481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Buffering (aka z-buffering):</a:t>
            </a:r>
            <a:br>
              <a:rPr lang="en-US" dirty="0"/>
            </a:br>
            <a:r>
              <a:rPr lang="en-US" dirty="0"/>
              <a:t>The Olden </a:t>
            </a:r>
            <a:r>
              <a:rPr lang="en-US" dirty="0" smtClean="0"/>
              <a:t>Days… Until…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At some point, somebody </a:t>
            </a:r>
            <a:r>
              <a:rPr lang="en-US" sz="2000" dirty="0" smtClean="0"/>
              <a:t>realized the following:</a:t>
            </a:r>
            <a:endParaRPr lang="en-US" sz="2000" dirty="0" smtClean="0"/>
          </a:p>
          <a:p>
            <a:pPr marL="461963" lvl="1" indent="-188913"/>
            <a:r>
              <a:rPr lang="en-US" sz="1800" dirty="0" smtClean="0"/>
              <a:t>The depth buffer is really just a grey-scale image. (Darker pixels = further back)</a:t>
            </a:r>
          </a:p>
          <a:p>
            <a:pPr marL="461963" lvl="1" indent="-188913"/>
            <a:r>
              <a:rPr lang="en-US" sz="1800" dirty="0" smtClean="0"/>
              <a:t>The individual </a:t>
            </a:r>
            <a:r>
              <a:rPr lang="en-US" sz="1800" dirty="0" smtClean="0"/>
              <a:t>pixels </a:t>
            </a:r>
            <a:r>
              <a:rPr lang="en-US" sz="1800" dirty="0" smtClean="0"/>
              <a:t>of the depth buffer image </a:t>
            </a:r>
            <a:r>
              <a:rPr lang="en-US" sz="1800" u="sng" dirty="0" smtClean="0"/>
              <a:t>filter</a:t>
            </a:r>
            <a:r>
              <a:rPr lang="en-US" sz="1800" dirty="0" smtClean="0"/>
              <a:t> what goes on the back buffer…</a:t>
            </a:r>
          </a:p>
          <a:p>
            <a:pPr marL="461963" lvl="1" indent="-188913"/>
            <a:r>
              <a:rPr lang="en-US" sz="1800" dirty="0" smtClean="0"/>
              <a:t>Yes/No is a pretty simplistic filtering rule</a:t>
            </a:r>
          </a:p>
          <a:p>
            <a:pPr marL="461963" lvl="1" indent="-188913"/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What if instead:</a:t>
            </a:r>
          </a:p>
          <a:p>
            <a:pPr marL="461963" lvl="1" indent="-188913"/>
            <a:r>
              <a:rPr lang="en-US" sz="1800" dirty="0" smtClean="0"/>
              <a:t>We upgraded the depth buffer from grey-scale to containing a full image?</a:t>
            </a:r>
          </a:p>
          <a:p>
            <a:pPr marL="461963" lvl="1" indent="-188913"/>
            <a:r>
              <a:rPr lang="en-US" sz="1800" dirty="0" smtClean="0"/>
              <a:t>Allowed more general filter rules?</a:t>
            </a:r>
          </a:p>
          <a:p>
            <a:pPr marL="461963" lvl="1" indent="-188913"/>
            <a:endParaRPr lang="en-US" sz="18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2052" name="Picture 4" descr="https://scs.senecac.on.ca/~gam666/pages/images/dept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516394"/>
            <a:ext cx="3701268" cy="326540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53438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Depth Buffer Evolution:</a:t>
            </a:r>
            <a:br>
              <a:rPr lang="en-US" dirty="0" smtClean="0"/>
            </a:br>
            <a:r>
              <a:rPr lang="en-US" dirty="0" smtClean="0"/>
              <a:t>Stencil Buffer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At this point, we have a general filtering tool called a </a:t>
            </a:r>
            <a:r>
              <a:rPr lang="en-US" sz="2000" i="1" u="sng" dirty="0" smtClean="0"/>
              <a:t>stencil</a:t>
            </a:r>
            <a:endParaRPr lang="en-US" sz="20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We can do some clever tricks:</a:t>
            </a:r>
          </a:p>
          <a:p>
            <a:pPr marL="461963" lvl="1" indent="-188913"/>
            <a:r>
              <a:rPr lang="en-US" sz="1800" dirty="0" smtClean="0"/>
              <a:t>Masking </a:t>
            </a:r>
          </a:p>
          <a:p>
            <a:pPr marL="461963" lvl="1" indent="-188913"/>
            <a:r>
              <a:rPr lang="en-US" sz="1800" dirty="0" smtClean="0"/>
              <a:t>Blending</a:t>
            </a:r>
          </a:p>
          <a:p>
            <a:pPr marL="461963" lvl="1" indent="-188913"/>
            <a:r>
              <a:rPr lang="en-US" sz="1800" dirty="0" smtClean="0"/>
              <a:t>Shadows </a:t>
            </a:r>
          </a:p>
        </p:txBody>
      </p:sp>
      <p:pic>
        <p:nvPicPr>
          <p:cNvPr id="3074" name="Picture 2" descr="Image result for directx stencil buff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083" y="2209800"/>
            <a:ext cx="4735717" cy="14080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directx stencil buff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886200"/>
            <a:ext cx="3013742" cy="23905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takinginitiative.files.wordpress.com/2011/05/shadowmappingfinal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86200"/>
            <a:ext cx="3145941" cy="2529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79568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Stenciling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Modern graphic </a:t>
            </a:r>
            <a:r>
              <a:rPr lang="en-US" sz="2000" dirty="0" smtClean="0"/>
              <a:t>environments </a:t>
            </a:r>
            <a:r>
              <a:rPr lang="en-US" sz="2000" dirty="0" smtClean="0"/>
              <a:t>deal with z-buffer as part of the more general concept of using a </a:t>
            </a:r>
            <a:r>
              <a:rPr lang="en-US" sz="2000" i="1" u="sng" dirty="0" smtClean="0"/>
              <a:t>stencil buffer</a:t>
            </a:r>
            <a:r>
              <a:rPr lang="en-US" sz="2000" dirty="0" smtClean="0"/>
              <a:t>.</a:t>
            </a:r>
          </a:p>
          <a:p>
            <a:pPr marL="515938" lvl="1" indent="-242888"/>
            <a:r>
              <a:rPr lang="en-US" sz="1800" b="1" dirty="0" smtClean="0"/>
              <a:t>Pro:</a:t>
            </a:r>
            <a:r>
              <a:rPr lang="en-US" sz="1800" dirty="0" smtClean="0"/>
              <a:t> Far more powerful and versatile machinery</a:t>
            </a:r>
          </a:p>
          <a:p>
            <a:pPr marL="515938" lvl="1" indent="-242888"/>
            <a:r>
              <a:rPr lang="en-US" sz="1800" b="1" dirty="0" smtClean="0"/>
              <a:t>Con: </a:t>
            </a:r>
            <a:r>
              <a:rPr lang="en-US" sz="1800" dirty="0" smtClean="0"/>
              <a:t>Pain in the rear-end when we just want the simple z-buffer test…</a:t>
            </a:r>
          </a:p>
          <a:p>
            <a:pPr marL="273050" lvl="1" indent="0">
              <a:buNone/>
            </a:pPr>
            <a:endParaRPr lang="en-US" sz="800" b="1" dirty="0" smtClean="0"/>
          </a:p>
          <a:p>
            <a:pPr marL="0" indent="-184150">
              <a:buNone/>
            </a:pPr>
            <a:r>
              <a:rPr lang="en-US" sz="2000" b="1" dirty="0" smtClean="0"/>
              <a:t>Bottom line:</a:t>
            </a:r>
          </a:p>
          <a:p>
            <a:pPr marL="461963" lvl="1" indent="-188913"/>
            <a:r>
              <a:rPr lang="en-US" sz="1800" dirty="0" smtClean="0"/>
              <a:t>The whole concept of Stenciling is covered in chapter 10 of the book</a:t>
            </a:r>
          </a:p>
          <a:p>
            <a:pPr marL="725487" lvl="2" indent="0">
              <a:buNone/>
            </a:pPr>
            <a:r>
              <a:rPr lang="en-US" sz="1600" i="1" dirty="0" smtClean="0"/>
              <a:t>We’ll get there soon enough…</a:t>
            </a:r>
          </a:p>
          <a:p>
            <a:pPr marL="461963" lvl="1" indent="-188913"/>
            <a:r>
              <a:rPr lang="en-US" sz="1800" u="sng" dirty="0" smtClean="0"/>
              <a:t>By default</a:t>
            </a:r>
            <a:r>
              <a:rPr lang="en-US" sz="1800" dirty="0" smtClean="0"/>
              <a:t>, the Output Merger (OM) stage </a:t>
            </a:r>
            <a:r>
              <a:rPr lang="en-US" sz="1800" u="sng" dirty="0" smtClean="0"/>
              <a:t>does not do any sort of filtering test.</a:t>
            </a:r>
          </a:p>
          <a:p>
            <a:pPr marL="744538" lvl="2" indent="0">
              <a:buNone/>
            </a:pPr>
            <a:r>
              <a:rPr lang="en-US" sz="1600" i="1" dirty="0" smtClean="0"/>
              <a:t>That’s why our ‘mistakes’ with the cube had this space-bending appearance.</a:t>
            </a:r>
            <a:endParaRPr lang="en-US" sz="1600" i="1" dirty="0"/>
          </a:p>
          <a:p>
            <a:pPr marL="461963" lvl="1" indent="-188913"/>
            <a:r>
              <a:rPr lang="en-US" sz="1800" dirty="0" smtClean="0"/>
              <a:t>Right now, we just want a working z-buffer without diving too deeply in the stenciling rabbit-hole.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1676400" y="5113699"/>
            <a:ext cx="5943599" cy="1055608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 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will give you the esoteric DX code to get us a functioning z-buffer.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will return to general stenciling later in the quarter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19799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Basic, No-Frills Z-Buffer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1295400"/>
            <a:ext cx="7772400" cy="500136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::InitDirect3D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D3D11_TEXTURE2D_DESC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mClientWidth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descDepthTextureBuf.Height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mClientHeight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descDepthTextureBuf.MipLevels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1;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descDepthTextureBuf.ArraySize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1;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descDepthTextureBuf.Format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DXGI_FORMAT_D24_UNORM_S8_UINT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descDepthTextureBuf.SampleDesc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sampDesc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D3D11_BIND_DEPTH_STENCIL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descDepthTextureBuf.MiscFlags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ID3D11Texture2D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pDepthStencil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md3dDevice-&gt;CreateTexture2D(&amp;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NULL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pDepthStencil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Create the depth stencil view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D3D11_DEPTH_STENCIL_VIEW_DESC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descDSV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descDSV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descDSV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descDSV.Format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descDepthTextureBuf.Format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descDSV.ViewDimension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D3D11_DSV_DIMENSION_TEXTURE2DMS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descDSV.Texture2D.MipSlice = 0;;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pDepthStencil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descDSV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pDepthStencil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52935" y="1447800"/>
            <a:ext cx="35052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file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Gasp! Another resource handle! 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 </a:t>
            </a:r>
            <a:endParaRPr lang="en-US" sz="1100" b="1" dirty="0"/>
          </a:p>
        </p:txBody>
      </p:sp>
      <p:grpSp>
        <p:nvGrpSpPr>
          <p:cNvPr id="12" name="Group 11"/>
          <p:cNvGrpSpPr/>
          <p:nvPr/>
        </p:nvGrpSpPr>
        <p:grpSpPr>
          <a:xfrm>
            <a:off x="4052935" y="2196445"/>
            <a:ext cx="2432706" cy="3289955"/>
            <a:chOff x="4052935" y="2196445"/>
            <a:chExt cx="2432706" cy="3289955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6019800" y="2196445"/>
              <a:ext cx="465841" cy="328995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052935" y="3217202"/>
              <a:ext cx="2133600" cy="578882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DX Esoterica to create a Depth Stencil View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11557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Basic, No-Frills Z-Buffer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Slight change with how </a:t>
            </a:r>
            <a:r>
              <a:rPr lang="en-US" sz="2000" dirty="0" smtClean="0"/>
              <a:t>we </a:t>
            </a:r>
            <a:r>
              <a:rPr lang="en-US" sz="2000" dirty="0" smtClean="0"/>
              <a:t>initialize the OM stage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Finally, a slight change in the draw step operations: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676400"/>
            <a:ext cx="68580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::InitDirect3D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//md3dImmediateContext-&gt;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OMSetRenderTargets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(1, &amp;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mRenderTargetView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);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OMSetRenderTargets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1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5525632" y="1981200"/>
            <a:ext cx="1676400" cy="464641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3276600"/>
            <a:ext cx="7239000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DrawScene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Clear the back 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);</a:t>
            </a: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Clear the depth stencil;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D3D11_CLEAR_DEPTH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1.0f, 0);</a:t>
            </a:r>
            <a:endParaRPr lang="en-US" sz="11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580930" y="3989193"/>
            <a:ext cx="7267669" cy="367121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19200" y="4948788"/>
            <a:ext cx="3770768" cy="102155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it!  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 if your rendering still looks like it’s bending space, it’s all on you…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768" y="4584837"/>
            <a:ext cx="2057399" cy="1749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477000" y="2971800"/>
            <a:ext cx="2362200" cy="74104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Also: remember to release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DXApp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destructor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11318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3:</a:t>
            </a:r>
          </a:p>
          <a:p>
            <a:r>
              <a:rPr lang="en-US" dirty="0" smtClean="0"/>
              <a:t>Managing the Render Pipeline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8137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Constant Buffers and </a:t>
            </a:r>
            <a:br>
              <a:rPr lang="en-US" dirty="0" smtClean="0"/>
            </a:br>
            <a:r>
              <a:rPr lang="en-US" dirty="0" smtClean="0"/>
              <a:t>Updating Data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With our current demo, the constant buffer </a:t>
            </a:r>
            <a:r>
              <a:rPr lang="en-US" sz="2000" dirty="0" smtClean="0"/>
              <a:t>on </a:t>
            </a:r>
            <a:r>
              <a:rPr lang="en-US" sz="2000" dirty="0" smtClean="0"/>
              <a:t>the </a:t>
            </a:r>
            <a:r>
              <a:rPr lang="en-US" sz="2000" dirty="0" smtClean="0"/>
              <a:t>GPU (for matrices) </a:t>
            </a:r>
            <a:r>
              <a:rPr lang="en-US" sz="2000" dirty="0" smtClean="0"/>
              <a:t>is actually updated every frame (in the </a:t>
            </a:r>
            <a:r>
              <a:rPr lang="en-US" sz="2000" dirty="0" err="1" smtClean="0"/>
              <a:t>DrawScene</a:t>
            </a:r>
            <a:r>
              <a:rPr lang="en-US" sz="2000" dirty="0" smtClean="0"/>
              <a:t> method)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354887" cy="3705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68014" y="5388321"/>
            <a:ext cx="6190457" cy="132802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complete sense since the world and camera matrices may be updated at runtime. </a:t>
            </a:r>
          </a:p>
          <a:p>
            <a:pPr algn="ctr"/>
            <a:endParaRPr lang="en-US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it </a:t>
            </a: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</a:t>
            </a: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flaw in our </a:t>
            </a: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 code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Many operations that we performed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‘initialization’ may not always be one-time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83467" y="3124200"/>
            <a:ext cx="6126933" cy="1150544"/>
            <a:chOff x="883467" y="3124200"/>
            <a:chExt cx="6126933" cy="1150544"/>
          </a:xfrm>
        </p:grpSpPr>
        <p:sp>
          <p:nvSpPr>
            <p:cNvPr id="6" name="Rounded Rectangle 5"/>
            <p:cNvSpPr/>
            <p:nvPr/>
          </p:nvSpPr>
          <p:spPr>
            <a:xfrm>
              <a:off x="883467" y="3124200"/>
              <a:ext cx="6126933" cy="1150544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127000">
                <a:srgbClr val="FFFF00">
                  <a:alpha val="59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4054" y="3124200"/>
              <a:ext cx="2430847" cy="548803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0" rIns="91440" bIns="0" rtlCol="0">
              <a:noAutofit/>
            </a:bodyPr>
            <a:lstStyle/>
            <a:p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Note: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 need to push the data to GPU when it changes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457963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 of Operations…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have been cavalier about when we should perform certain DX operations:</a:t>
            </a:r>
          </a:p>
          <a:p>
            <a:pPr marL="457200" lvl="1" indent="0">
              <a:buNone/>
            </a:pPr>
            <a:r>
              <a:rPr lang="en-US" sz="1800" i="1" dirty="0" smtClean="0"/>
              <a:t>BTW: Most graphic environments demos have </a:t>
            </a:r>
            <a:r>
              <a:rPr lang="en-US" sz="1800" i="1" dirty="0" smtClean="0"/>
              <a:t>this problem: It’s up to you to figure out that some ‘initialization’  code rightly belongs elsewhere.</a:t>
            </a:r>
          </a:p>
          <a:p>
            <a:pPr marL="0" indent="0">
              <a:buNone/>
            </a:pPr>
            <a:endParaRPr lang="en-US" sz="800" dirty="0"/>
          </a:p>
          <a:p>
            <a:pPr marL="0" indent="-184150">
              <a:buNone/>
            </a:pPr>
            <a:r>
              <a:rPr lang="en-US" sz="2000" dirty="0" smtClean="0"/>
              <a:t>In </a:t>
            </a:r>
            <a:r>
              <a:rPr lang="en-US" sz="2000" u="sng" dirty="0" smtClean="0"/>
              <a:t>our</a:t>
            </a:r>
            <a:r>
              <a:rPr lang="en-US" sz="2000" dirty="0" smtClean="0"/>
              <a:t> </a:t>
            </a:r>
            <a:r>
              <a:rPr lang="en-US" sz="2000" dirty="0" err="1" smtClean="0"/>
              <a:t>DXApp</a:t>
            </a:r>
            <a:r>
              <a:rPr lang="en-US" sz="2000" dirty="0" smtClean="0"/>
              <a:t> demo code:</a:t>
            </a:r>
          </a:p>
          <a:p>
            <a:pPr marL="461963" lvl="1" indent="-188913"/>
            <a:r>
              <a:rPr lang="en-US" sz="1800" dirty="0" smtClean="0"/>
              <a:t>All the operations in </a:t>
            </a:r>
            <a:r>
              <a:rPr lang="en-US" sz="1800" dirty="0" err="1" smtClean="0"/>
              <a:t>DXInit</a:t>
            </a:r>
            <a:r>
              <a:rPr lang="en-US" sz="1800" dirty="0" smtClean="0"/>
              <a:t> are more or less fine: proper initialization stuff (for now)</a:t>
            </a:r>
          </a:p>
          <a:p>
            <a:pPr marL="463550" lvl="2" indent="0">
              <a:buNone/>
            </a:pPr>
            <a:r>
              <a:rPr lang="en-US" sz="1600" i="1" dirty="0" smtClean="0"/>
              <a:t>There are exceptions even here: what if you want to </a:t>
            </a:r>
            <a:r>
              <a:rPr lang="en-US" sz="1600" i="1" dirty="0" smtClean="0">
                <a:hlinkClick r:id="rId2"/>
              </a:rPr>
              <a:t>mix rendering</a:t>
            </a:r>
            <a:r>
              <a:rPr lang="en-US" sz="1600" i="1" dirty="0" smtClean="0"/>
              <a:t> in solid and wireframe mode?</a:t>
            </a:r>
          </a:p>
          <a:p>
            <a:pPr marL="461963" lvl="1" indent="-188913"/>
            <a:r>
              <a:rPr lang="en-US" sz="1800" dirty="0" smtClean="0"/>
              <a:t>The operations in </a:t>
            </a:r>
            <a:r>
              <a:rPr lang="en-US" sz="1800" dirty="0" err="1" smtClean="0"/>
              <a:t>InitDemo</a:t>
            </a:r>
            <a:r>
              <a:rPr lang="en-US" sz="1800" dirty="0" smtClean="0"/>
              <a:t> however are less clear:</a:t>
            </a:r>
          </a:p>
          <a:p>
            <a:pPr marL="1085850" lvl="2" indent="-188913"/>
            <a:r>
              <a:rPr lang="en-US" sz="1600" dirty="0" smtClean="0"/>
              <a:t>Some things need to be done once only</a:t>
            </a:r>
          </a:p>
          <a:p>
            <a:pPr marL="1541463" lvl="3" indent="-188913"/>
            <a:r>
              <a:rPr lang="en-US" b="1" dirty="0" smtClean="0"/>
              <a:t>Ex: </a:t>
            </a:r>
            <a:r>
              <a:rPr lang="en-US" dirty="0" smtClean="0"/>
              <a:t>Loading </a:t>
            </a:r>
            <a:r>
              <a:rPr lang="en-US" dirty="0" err="1" smtClean="0"/>
              <a:t>shaders</a:t>
            </a:r>
            <a:r>
              <a:rPr lang="en-US" dirty="0" smtClean="0"/>
              <a:t>, vertex/index buffers to the GPU</a:t>
            </a:r>
          </a:p>
          <a:p>
            <a:pPr marL="1085850" lvl="2" indent="-188913"/>
            <a:r>
              <a:rPr lang="en-US" sz="1600" dirty="0" smtClean="0"/>
              <a:t>Others depends context: </a:t>
            </a:r>
          </a:p>
          <a:p>
            <a:pPr marL="1541463" lvl="3" indent="-188913"/>
            <a:r>
              <a:rPr lang="en-US" dirty="0" smtClean="0"/>
              <a:t>Which model are we using? ( And did the vertex layout change? )</a:t>
            </a:r>
          </a:p>
          <a:p>
            <a:pPr marL="1541463" lvl="3" indent="-188913"/>
            <a:r>
              <a:rPr lang="en-US" dirty="0" smtClean="0"/>
              <a:t>Did we change </a:t>
            </a:r>
            <a:r>
              <a:rPr lang="en-US" dirty="0" err="1" smtClean="0"/>
              <a:t>shaders</a:t>
            </a:r>
            <a:r>
              <a:rPr lang="en-US" dirty="0" smtClean="0"/>
              <a:t>? Do </a:t>
            </a:r>
            <a:r>
              <a:rPr lang="en-US" dirty="0" smtClean="0"/>
              <a:t>we need different constant buffers?</a:t>
            </a:r>
          </a:p>
          <a:p>
            <a:pPr marL="1541463" lvl="3" indent="-188913"/>
            <a:r>
              <a:rPr lang="en-US" dirty="0" smtClean="0"/>
              <a:t>Does the data in the constant buffers need updating?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47800" y="5607844"/>
            <a:ext cx="6172200" cy="102155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a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scene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also </a:t>
            </a: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i.e.: Control which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resources, 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necessary and adjust the pipeline accordingly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23379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Data Around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How do we render </a:t>
            </a:r>
            <a:r>
              <a:rPr lang="en-US" sz="2000" u="sng" dirty="0" smtClean="0"/>
              <a:t>two</a:t>
            </a:r>
            <a:r>
              <a:rPr lang="en-US" sz="2000" dirty="0" smtClean="0"/>
              <a:t> colored cubes?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1628134"/>
            <a:ext cx="7467600" cy="500136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md3dImmediateContext-&gt;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ClearDepthStencilView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D3D11_CLEAR_DEPTH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1.0f,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We need to update the values of the matrices on the GPU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Sending the data for Object #1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WVPmatrices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cb.mWorld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mWorld1;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cb.mView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cb.mProjection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mpcbWVPBuffer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render Object #1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(3 * 12, 0, 0);  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Sending the data for Object #2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cb.mWorld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mWorld2;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cb.mView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cb.mProjection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mpcbWVPBuffer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render Object #2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(3 * 12, 0, 0); 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Switches the display to show the now-finished back-buffer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&gt;Present(0, 0);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0" y="1752600"/>
            <a:ext cx="1981200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file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mWorld1;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mWorld2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b="1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And suitably updated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667000"/>
            <a:ext cx="6172200" cy="16002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13715" y="4268708"/>
            <a:ext cx="6172200" cy="151645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6457950" y="3610466"/>
            <a:ext cx="2590800" cy="1489436"/>
            <a:chOff x="6305550" y="3610466"/>
            <a:chExt cx="2590800" cy="1489436"/>
          </a:xfrm>
        </p:grpSpPr>
        <p:sp>
          <p:nvSpPr>
            <p:cNvPr id="9" name="TextBox 8"/>
            <p:cNvSpPr txBox="1"/>
            <p:nvPr/>
          </p:nvSpPr>
          <p:spPr>
            <a:xfrm>
              <a:off x="6305550" y="3751642"/>
              <a:ext cx="2590800" cy="817245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Note: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camera matrices are sent twice despite not changing. Very inefficient!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Curved Connector 10"/>
            <p:cNvCxnSpPr>
              <a:stCxn id="9" idx="0"/>
            </p:cNvCxnSpPr>
            <p:nvPr/>
          </p:nvCxnSpPr>
          <p:spPr>
            <a:xfrm rot="16200000" flipV="1">
              <a:off x="7004916" y="3155608"/>
              <a:ext cx="141176" cy="1050892"/>
            </a:xfrm>
            <a:prstGeom prst="curved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urved Connector 11"/>
            <p:cNvCxnSpPr>
              <a:stCxn id="9" idx="2"/>
            </p:cNvCxnSpPr>
            <p:nvPr/>
          </p:nvCxnSpPr>
          <p:spPr>
            <a:xfrm rot="5400000">
              <a:off x="6814711" y="4313662"/>
              <a:ext cx="531014" cy="1041465"/>
            </a:xfrm>
            <a:prstGeom prst="curved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4495800" y="5290000"/>
            <a:ext cx="4552950" cy="1055608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inefficient? </a:t>
            </a:r>
          </a:p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Placing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1000 cubes in the scene at 60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fps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7.3MB/s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wasted bandwidth to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GPU to send the same View and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matrices for each of them!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915" y="228600"/>
            <a:ext cx="1918580" cy="142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531706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5" grpId="0" animBg="1"/>
      <p:bldP spid="7" grpId="0" animBg="1"/>
      <p:bldP spid="8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 Buffers and </a:t>
            </a:r>
            <a:br>
              <a:rPr lang="en-US" dirty="0" smtClean="0"/>
            </a:br>
            <a:r>
              <a:rPr lang="en-US" dirty="0" smtClean="0"/>
              <a:t>Data Update Frequency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When creating </a:t>
            </a:r>
            <a:r>
              <a:rPr lang="en-US" sz="2000" dirty="0" err="1" smtClean="0"/>
              <a:t>shaders</a:t>
            </a:r>
            <a:r>
              <a:rPr lang="en-US" sz="2000" dirty="0" smtClean="0"/>
              <a:t>, you should group </a:t>
            </a:r>
            <a:r>
              <a:rPr lang="en-US" sz="2000" dirty="0" err="1" smtClean="0"/>
              <a:t>shaders</a:t>
            </a:r>
            <a:r>
              <a:rPr lang="en-US" sz="2000" dirty="0" smtClean="0"/>
              <a:t> constants by how often they will need </a:t>
            </a:r>
            <a:r>
              <a:rPr lang="en-US" sz="2000" dirty="0" smtClean="0"/>
              <a:t>to be updated.</a:t>
            </a:r>
            <a:endParaRPr lang="en-US" sz="2000" dirty="0" smtClean="0"/>
          </a:p>
          <a:p>
            <a:pPr marL="0" indent="0">
              <a:buNone/>
            </a:pPr>
            <a:endParaRPr lang="en-US" sz="800" dirty="0"/>
          </a:p>
          <a:p>
            <a:pPr marL="287338" lvl="1" indent="0">
              <a:buNone/>
            </a:pPr>
            <a:r>
              <a:rPr lang="en-US" sz="1800" dirty="0" smtClean="0"/>
              <a:t>What that means depends greatly on the scene, the objects and </a:t>
            </a:r>
            <a:r>
              <a:rPr lang="en-US" sz="1800" dirty="0" err="1" smtClean="0"/>
              <a:t>shaders</a:t>
            </a:r>
            <a:r>
              <a:rPr lang="en-US" sz="1800" dirty="0" smtClean="0"/>
              <a:t> used…</a:t>
            </a:r>
          </a:p>
          <a:p>
            <a:pPr marL="287338" lvl="1" indent="0">
              <a:buNone/>
            </a:pPr>
            <a:r>
              <a:rPr lang="en-US" sz="1800" dirty="0" smtClean="0"/>
              <a:t>But generally speaking, you have three broad categories:</a:t>
            </a:r>
            <a:endParaRPr lang="en-US" sz="1800" dirty="0"/>
          </a:p>
          <a:p>
            <a:pPr marL="615950" lvl="1" indent="-342900">
              <a:buFont typeface="+mj-lt"/>
              <a:buAutoNum type="arabicPeriod"/>
            </a:pPr>
            <a:r>
              <a:rPr lang="en-US" sz="1800" dirty="0" smtClean="0"/>
              <a:t>Common to all objects in the scene</a:t>
            </a:r>
          </a:p>
          <a:p>
            <a:pPr marL="779462" lvl="2" indent="0">
              <a:buNone/>
            </a:pPr>
            <a:r>
              <a:rPr lang="en-US" sz="1600" b="1" dirty="0" smtClean="0"/>
              <a:t>Ex:</a:t>
            </a:r>
            <a:r>
              <a:rPr lang="en-US" sz="1600" dirty="0" smtClean="0"/>
              <a:t> View and Projections matrices</a:t>
            </a:r>
          </a:p>
          <a:p>
            <a:pPr marL="1143000" lvl="3" indent="0">
              <a:buNone/>
            </a:pPr>
            <a:r>
              <a:rPr lang="en-US" i="1" dirty="0" smtClean="0"/>
              <a:t>Often these are multiplied on the CPU to avoid repeated </a:t>
            </a:r>
            <a:r>
              <a:rPr lang="en-US" i="1" dirty="0" err="1" smtClean="0"/>
              <a:t>recomputation</a:t>
            </a:r>
            <a:r>
              <a:rPr lang="en-US" i="1" dirty="0" smtClean="0"/>
              <a:t> in each </a:t>
            </a:r>
            <a:r>
              <a:rPr lang="en-US" i="1" dirty="0" err="1" smtClean="0"/>
              <a:t>shader</a:t>
            </a:r>
            <a:endParaRPr lang="en-US" sz="1400" i="1" dirty="0" smtClean="0"/>
          </a:p>
          <a:p>
            <a:pPr marL="779462" lvl="2" indent="0">
              <a:buNone/>
            </a:pPr>
            <a:r>
              <a:rPr lang="en-US" sz="1600" b="1" dirty="0" smtClean="0"/>
              <a:t>Ex:</a:t>
            </a:r>
            <a:r>
              <a:rPr lang="en-US" sz="1600" dirty="0" smtClean="0"/>
              <a:t> position and data related to lighting sources</a:t>
            </a:r>
          </a:p>
          <a:p>
            <a:pPr marL="615950" lvl="1" indent="-342900">
              <a:buFont typeface="+mj-lt"/>
              <a:buAutoNum type="arabicPeriod"/>
            </a:pPr>
            <a:r>
              <a:rPr lang="en-US" sz="1800" dirty="0" smtClean="0"/>
              <a:t>Common to all instances of an object type</a:t>
            </a:r>
          </a:p>
          <a:p>
            <a:pPr marL="779462" lvl="2" indent="0">
              <a:buNone/>
            </a:pPr>
            <a:r>
              <a:rPr lang="en-US" sz="1600" b="1" dirty="0" smtClean="0"/>
              <a:t>Ex:</a:t>
            </a:r>
            <a:r>
              <a:rPr lang="en-US" sz="1600" dirty="0" smtClean="0"/>
              <a:t> Texture, colors (ex: all tree bark and foliage textures)</a:t>
            </a:r>
          </a:p>
          <a:p>
            <a:pPr marL="615950" lvl="1" indent="-342900">
              <a:buFont typeface="+mj-lt"/>
              <a:buAutoNum type="arabicPeriod"/>
            </a:pPr>
            <a:r>
              <a:rPr lang="en-US" sz="1800" dirty="0" smtClean="0"/>
              <a:t>Unique to a specific instance</a:t>
            </a:r>
          </a:p>
          <a:p>
            <a:pPr marL="779462" lvl="2" indent="0">
              <a:buNone/>
            </a:pPr>
            <a:r>
              <a:rPr lang="en-US" sz="1600" b="1" dirty="0" smtClean="0"/>
              <a:t>Ex:</a:t>
            </a:r>
            <a:r>
              <a:rPr lang="en-US" sz="1600" dirty="0" smtClean="0"/>
              <a:t> World matrix, texture, color (</a:t>
            </a:r>
            <a:r>
              <a:rPr lang="en-US" sz="1600" b="1" dirty="0" smtClean="0"/>
              <a:t>ex: </a:t>
            </a:r>
            <a:r>
              <a:rPr lang="en-US" sz="1600" dirty="0" smtClean="0"/>
              <a:t>one tree might have a carved symbol on the trunk)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Also </a:t>
            </a:r>
            <a:r>
              <a:rPr lang="en-US" sz="2000" dirty="0"/>
              <a:t>worth considering: maximizing the use of vertex/index buffers, </a:t>
            </a:r>
            <a:r>
              <a:rPr lang="en-US" sz="2000" dirty="0" err="1"/>
              <a:t>shaders</a:t>
            </a:r>
            <a:r>
              <a:rPr lang="en-US" sz="2000" dirty="0"/>
              <a:t>, etc.</a:t>
            </a:r>
          </a:p>
          <a:p>
            <a:pPr marL="292100" lvl="1" indent="0">
              <a:buNone/>
            </a:pPr>
            <a:r>
              <a:rPr lang="en-US" sz="1800" i="1" dirty="0"/>
              <a:t>As we create more complex scenes, we will develop this concept</a:t>
            </a:r>
          </a:p>
          <a:p>
            <a:pPr marL="3175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96220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Improving the </a:t>
            </a:r>
            <a:r>
              <a:rPr lang="en-US" dirty="0" err="1" smtClean="0"/>
              <a:t>ColorSelected</a:t>
            </a:r>
            <a:r>
              <a:rPr lang="en-US" dirty="0" smtClean="0"/>
              <a:t>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Combining 3D </a:t>
            </a:r>
            <a:r>
              <a:rPr lang="en-US" sz="2000" i="1" u="sng" dirty="0" smtClean="0"/>
              <a:t>and</a:t>
            </a:r>
            <a:r>
              <a:rPr lang="en-US" sz="2000" dirty="0" smtClean="0"/>
              <a:t> user selected colors:</a:t>
            </a:r>
          </a:p>
          <a:p>
            <a:pPr marL="461963" lvl="1" indent="-188913"/>
            <a:r>
              <a:rPr lang="en-US" sz="1800" dirty="0" smtClean="0"/>
              <a:t>Two </a:t>
            </a:r>
            <a:r>
              <a:rPr lang="en-US" sz="1800" dirty="0" err="1" smtClean="0"/>
              <a:t>shader</a:t>
            </a:r>
            <a:r>
              <a:rPr lang="en-US" sz="1800" dirty="0" smtClean="0"/>
              <a:t> constants</a:t>
            </a:r>
          </a:p>
          <a:p>
            <a:pPr marL="671512" lvl="2" indent="0">
              <a:buNone/>
            </a:pPr>
            <a:r>
              <a:rPr lang="en-US" i="1" dirty="0" smtClean="0"/>
              <a:t>Separating </a:t>
            </a:r>
            <a:r>
              <a:rPr lang="en-US" i="1" dirty="0" smtClean="0"/>
              <a:t>camera data </a:t>
            </a:r>
            <a:r>
              <a:rPr lang="en-US" i="1" dirty="0" smtClean="0"/>
              <a:t>from instance data</a:t>
            </a:r>
          </a:p>
          <a:p>
            <a:pPr marL="461963" lvl="1" indent="-188913"/>
            <a:r>
              <a:rPr lang="en-US" sz="1800" dirty="0" smtClean="0"/>
              <a:t>VS and PS perform the expected operations</a:t>
            </a:r>
            <a:endParaRPr lang="en-US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733800"/>
            <a:ext cx="3000375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266853" y="1259941"/>
            <a:ext cx="384621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CamData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(b0)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View;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Projection;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InstanceData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(b1)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SelectedColor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VS_OUTPUT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Color : 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VS_OUTPUT 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fr-FR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Pos : POSITION 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VS_OUTPUT output = (VS_OUTPUT)0;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World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View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Projection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SelectedColor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output;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PS( VS_OUTPUT input 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895599"/>
            <a:ext cx="4677624" cy="40862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Let’s look more closely at the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constants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66853" y="1247115"/>
            <a:ext cx="3086100" cy="1953286"/>
          </a:xfrm>
          <a:prstGeom prst="roundRect">
            <a:avLst>
              <a:gd name="adj" fmla="val 10946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266852" y="4253667"/>
            <a:ext cx="3648547" cy="2424773"/>
          </a:xfrm>
          <a:prstGeom prst="roundRect">
            <a:avLst>
              <a:gd name="adj" fmla="val 10946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6119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7" grpId="0" animBg="1"/>
      <p:bldP spid="8" grpId="0" animBg="1"/>
      <p:bldP spid="8" grpId="1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Shader</a:t>
            </a:r>
            <a:r>
              <a:rPr lang="en-US" dirty="0" smtClean="0"/>
              <a:t> Constants and </a:t>
            </a:r>
            <a:br>
              <a:rPr lang="en-US" dirty="0" smtClean="0"/>
            </a:br>
            <a:r>
              <a:rPr lang="en-US" dirty="0" smtClean="0"/>
              <a:t>Registers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Registers are the internal HLSL storage for </a:t>
            </a:r>
          </a:p>
          <a:p>
            <a:pPr marL="0" indent="0">
              <a:buNone/>
            </a:pPr>
            <a:r>
              <a:rPr lang="en-US" sz="2000" dirty="0" smtClean="0"/>
              <a:t>constant buffers.</a:t>
            </a:r>
          </a:p>
          <a:p>
            <a:pPr marL="457200" lvl="1" indent="0">
              <a:buNone/>
            </a:pPr>
            <a:r>
              <a:rPr lang="en-US" sz="1800" i="1" dirty="0" smtClean="0"/>
              <a:t>Up to 14 register per stage… That’s a lot!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The ‘b’ number identifies which </a:t>
            </a:r>
            <a:r>
              <a:rPr lang="en-US" sz="2000" dirty="0" smtClean="0"/>
              <a:t>internal buffer </a:t>
            </a:r>
            <a:r>
              <a:rPr lang="en-US" sz="2000" dirty="0" smtClean="0"/>
              <a:t>register to use</a:t>
            </a:r>
          </a:p>
          <a:p>
            <a:pPr marL="461963" lvl="1" indent="-188913"/>
            <a:r>
              <a:rPr lang="en-US" sz="1800" dirty="0" smtClean="0"/>
              <a:t>Specifying the register is optional: If no register is specified than HLSL assigns the constant to the first available starting with register(b0)</a:t>
            </a:r>
          </a:p>
          <a:p>
            <a:pPr marL="461963" lvl="1" indent="-188913"/>
            <a:r>
              <a:rPr lang="en-US" sz="1800" dirty="0" smtClean="0"/>
              <a:t>You </a:t>
            </a:r>
            <a:r>
              <a:rPr lang="en-US" sz="1800" u="sng" dirty="0" smtClean="0"/>
              <a:t>will</a:t>
            </a:r>
            <a:r>
              <a:rPr lang="en-US" sz="1800" dirty="0" smtClean="0"/>
              <a:t> need to use the register number to set up the rendering pipeline, so might as well clearly specify it in the </a:t>
            </a:r>
            <a:r>
              <a:rPr lang="en-US" sz="1800" dirty="0" err="1" smtClean="0"/>
              <a:t>shader</a:t>
            </a:r>
            <a:r>
              <a:rPr lang="en-US" sz="1800" dirty="0" smtClean="0"/>
              <a:t>!</a:t>
            </a:r>
          </a:p>
          <a:p>
            <a:pPr marL="461963" lvl="1" indent="-188913"/>
            <a:r>
              <a:rPr lang="en-US" sz="1800" dirty="0" smtClean="0"/>
              <a:t>When managing multiple </a:t>
            </a:r>
            <a:r>
              <a:rPr lang="en-US" sz="1800" dirty="0" err="1" smtClean="0"/>
              <a:t>shaders</a:t>
            </a:r>
            <a:r>
              <a:rPr lang="en-US" sz="1800" dirty="0" smtClean="0"/>
              <a:t> simultaneously, it’s best to specify some convention:</a:t>
            </a:r>
          </a:p>
          <a:p>
            <a:pPr marL="608012" lvl="2" indent="0">
              <a:buNone/>
            </a:pPr>
            <a:r>
              <a:rPr lang="en-US" sz="1600" i="1" dirty="0" smtClean="0"/>
              <a:t>Example: Camera data is always in register(b0), light position in register(b1), etc.</a:t>
            </a:r>
            <a:endParaRPr lang="en-US" sz="16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266853" y="1259941"/>
            <a:ext cx="3846214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CamData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(b0)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View;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Projection;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InstanceData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(b1)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SelectedColor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53200" y="762000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See also </a:t>
            </a:r>
            <a:r>
              <a:rPr lang="en-US" i="1" dirty="0" err="1" smtClean="0">
                <a:hlinkClick r:id="rId2"/>
              </a:rPr>
              <a:t>Shader</a:t>
            </a:r>
            <a:r>
              <a:rPr lang="en-US" i="1" dirty="0" smtClean="0">
                <a:hlinkClick r:id="rId2"/>
              </a:rPr>
              <a:t> Constants</a:t>
            </a:r>
            <a:endParaRPr lang="en-US" i="1" dirty="0"/>
          </a:p>
        </p:txBody>
      </p:sp>
      <p:sp>
        <p:nvSpPr>
          <p:cNvPr id="7" name="Rounded Rectangle 6"/>
          <p:cNvSpPr/>
          <p:nvPr/>
        </p:nvSpPr>
        <p:spPr>
          <a:xfrm>
            <a:off x="6536603" y="1259188"/>
            <a:ext cx="1149789" cy="279902"/>
          </a:xfrm>
          <a:prstGeom prst="roundRect">
            <a:avLst>
              <a:gd name="adj" fmla="val 10946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913826" y="2264289"/>
            <a:ext cx="1143757" cy="270679"/>
          </a:xfrm>
          <a:prstGeom prst="roundRect">
            <a:avLst>
              <a:gd name="adj" fmla="val 10946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0799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the ColorSelected3D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Setting up the constant buffers is done the same way as before: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However, to connect the constant buffers with the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constants, we </a:t>
            </a:r>
            <a:r>
              <a:rPr lang="en-US" sz="2000" u="sng" dirty="0" smtClean="0"/>
              <a:t>must</a:t>
            </a:r>
            <a:r>
              <a:rPr lang="en-US" sz="2000" dirty="0" smtClean="0"/>
              <a:t> specify the register number! 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00546" y="1568202"/>
            <a:ext cx="2743200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file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ViewProjData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mProjection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ID3D11Buffer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WorldColorData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657599" y="1568202"/>
            <a:ext cx="5410199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**** View and projection 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ViewProjData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D3D11_BIND_CONSTANT_BUFFER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**** World and Color 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WorldColorData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D3D11_BIND_CONSTANT_BUFFER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  <a:endParaRPr lang="en-US" sz="11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429000" y="5481935"/>
            <a:ext cx="580025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VSSetConstantBuffers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VSSetConstantBuffers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(1, 1,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mpcbWorldColor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2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611486" y="1895947"/>
            <a:ext cx="7810501" cy="1447800"/>
          </a:xfrm>
          <a:prstGeom prst="roundRect">
            <a:avLst>
              <a:gd name="adj" fmla="val 10946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11487" y="3343747"/>
            <a:ext cx="7810501" cy="1536071"/>
          </a:xfrm>
          <a:prstGeom prst="roundRect">
            <a:avLst>
              <a:gd name="adj" fmla="val 10946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7010400" y="5481936"/>
            <a:ext cx="322907" cy="466192"/>
          </a:xfrm>
          <a:prstGeom prst="roundRect">
            <a:avLst>
              <a:gd name="adj" fmla="val 10946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59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5343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9" grpId="0" animBg="1"/>
      <p:bldP spid="8" grpId="0" animBg="1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Connecting Constant Buffers </a:t>
            </a:r>
            <a:r>
              <a:rPr lang="en-US" dirty="0"/>
              <a:t>with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Shader</a:t>
            </a:r>
            <a:r>
              <a:rPr lang="en-US" dirty="0" smtClean="0"/>
              <a:t> </a:t>
            </a:r>
            <a:r>
              <a:rPr lang="en-US" dirty="0"/>
              <a:t>constants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register numbers must match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Remember that </a:t>
            </a:r>
            <a:r>
              <a:rPr lang="en-US" sz="2000" dirty="0" smtClean="0"/>
              <a:t>register </a:t>
            </a:r>
            <a:r>
              <a:rPr lang="en-US" sz="2000" dirty="0" smtClean="0"/>
              <a:t>numbers are used even if not specified!</a:t>
            </a:r>
          </a:p>
          <a:p>
            <a:pPr marL="457200" lvl="1" indent="0">
              <a:buNone/>
            </a:pPr>
            <a:r>
              <a:rPr lang="en-US" sz="1800" b="1" i="1" dirty="0" smtClean="0"/>
              <a:t>Ex</a:t>
            </a:r>
            <a:r>
              <a:rPr lang="en-US" sz="1800" b="1" i="1" dirty="0"/>
              <a:t>: </a:t>
            </a:r>
            <a:r>
              <a:rPr lang="en-US" sz="1800" i="1" dirty="0" smtClean="0"/>
              <a:t>See </a:t>
            </a:r>
            <a:r>
              <a:rPr lang="en-US" sz="1800" i="1" dirty="0" err="1" smtClean="0"/>
              <a:t>ShaderSelected.hlsl</a:t>
            </a:r>
            <a:r>
              <a:rPr lang="en-US" sz="1800" i="1" dirty="0" smtClean="0"/>
              <a:t>  </a:t>
            </a:r>
          </a:p>
          <a:p>
            <a:pPr marL="457200" lvl="1" indent="0">
              <a:buNone/>
            </a:pPr>
            <a:r>
              <a:rPr lang="en-US" sz="1800" i="1" dirty="0" smtClean="0"/>
              <a:t>When not </a:t>
            </a:r>
            <a:r>
              <a:rPr lang="en-US" sz="1800" i="1" dirty="0" smtClean="0"/>
              <a:t>specified, </a:t>
            </a:r>
            <a:r>
              <a:rPr lang="en-US" sz="1800" i="1" dirty="0" smtClean="0"/>
              <a:t>the order is </a:t>
            </a:r>
            <a:r>
              <a:rPr lang="en-US" sz="1800" i="1" dirty="0" smtClean="0"/>
              <a:t>top </a:t>
            </a:r>
            <a:r>
              <a:rPr lang="en-US" sz="1800" i="1" dirty="0" smtClean="0"/>
              <a:t>to bottom starting at 0</a:t>
            </a:r>
            <a:endParaRPr lang="en-US" sz="18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5266853" y="1259941"/>
            <a:ext cx="3846214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CamData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(b0)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View;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Projection;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InstanceData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(b1)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SelectedColor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9000" y="5481935"/>
            <a:ext cx="580025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VSSetConstantBuffers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VSSetConstantBuffers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(1, 1,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mpcbWorldColor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200" b="1" dirty="0"/>
          </a:p>
        </p:txBody>
      </p:sp>
      <p:grpSp>
        <p:nvGrpSpPr>
          <p:cNvPr id="17" name="Group 16"/>
          <p:cNvGrpSpPr/>
          <p:nvPr/>
        </p:nvGrpSpPr>
        <p:grpSpPr>
          <a:xfrm>
            <a:off x="7075660" y="1271939"/>
            <a:ext cx="544340" cy="4453387"/>
            <a:chOff x="7075660" y="1271939"/>
            <a:chExt cx="544340" cy="4453387"/>
          </a:xfrm>
        </p:grpSpPr>
        <p:sp>
          <p:nvSpPr>
            <p:cNvPr id="7" name="Rounded Rectangle 6"/>
            <p:cNvSpPr/>
            <p:nvPr/>
          </p:nvSpPr>
          <p:spPr>
            <a:xfrm>
              <a:off x="7075660" y="5509883"/>
              <a:ext cx="228600" cy="215443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91400" y="1271939"/>
              <a:ext cx="228600" cy="215443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stCxn id="7" idx="0"/>
            </p:cNvCxnSpPr>
            <p:nvPr/>
          </p:nvCxnSpPr>
          <p:spPr>
            <a:xfrm rot="5400000" flipH="1" flipV="1">
              <a:off x="5336581" y="3340764"/>
              <a:ext cx="4022499" cy="315741"/>
            </a:xfrm>
            <a:prstGeom prst="bentConnector3">
              <a:avLst>
                <a:gd name="adj1" fmla="val 92433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7075660" y="2302525"/>
            <a:ext cx="895915" cy="3638243"/>
            <a:chOff x="7075660" y="2302525"/>
            <a:chExt cx="895915" cy="3638243"/>
          </a:xfrm>
        </p:grpSpPr>
        <p:sp>
          <p:nvSpPr>
            <p:cNvPr id="9" name="Rounded Rectangle 8"/>
            <p:cNvSpPr/>
            <p:nvPr/>
          </p:nvSpPr>
          <p:spPr>
            <a:xfrm>
              <a:off x="7742975" y="2302525"/>
              <a:ext cx="228600" cy="215443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075660" y="5725325"/>
              <a:ext cx="228600" cy="215443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1"/>
            <p:cNvCxnSpPr>
              <a:stCxn id="10" idx="3"/>
              <a:endCxn id="9" idx="2"/>
            </p:cNvCxnSpPr>
            <p:nvPr/>
          </p:nvCxnSpPr>
          <p:spPr>
            <a:xfrm flipV="1">
              <a:off x="7304260" y="2517968"/>
              <a:ext cx="553015" cy="3315079"/>
            </a:xfrm>
            <a:prstGeom prst="bentConnector2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972102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 Two Pyramids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1" y="1295400"/>
            <a:ext cx="7620000" cy="533992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ClearDepthStencilView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mpDepthStencilView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D3D11_CLEAR_DEPTH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1.0f,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------- Camera data can be sent only once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ViewProjData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vpdata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vpdata.mView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vpdata.mProjection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mpcbViewProj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vpdata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--- Object #1's data needs to be sent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WorldColorData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wcdata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wcdata.World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mWorld1;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wcdata.Color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Colors::Firebrick;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wcdata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--- Render Object #1;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(3 * 6, 0, 0);  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------- Object #2's data needs to be sent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wcdata.World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mWorld2;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wcdata.Color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Colors::Orange;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UpdateSubresource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wcdata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--- Render Object #2;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md3dImmediateContext-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(3 * 6, 0, 0);  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Switches the display to show the now-finished back-buffer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&gt;Present(0, 0);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0908"/>
            <a:ext cx="1915563" cy="1596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685800" y="2133600"/>
            <a:ext cx="6553200" cy="94059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67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85800" y="3124200"/>
            <a:ext cx="6553200" cy="14478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67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85800" y="4648200"/>
            <a:ext cx="6553200" cy="12954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67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181599" y="2128101"/>
            <a:ext cx="3810001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Clearly we are now much more efficient with updating the camera constant buffers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93402" y="4248507"/>
            <a:ext cx="3810001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there are other sources of inefficiencies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6592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The Pipeline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 general, to render </a:t>
            </a:r>
            <a:r>
              <a:rPr lang="en-US" sz="2000" u="sng" dirty="0" smtClean="0"/>
              <a:t>one</a:t>
            </a:r>
            <a:r>
              <a:rPr lang="en-US" sz="2000" dirty="0" smtClean="0"/>
              <a:t> object on the screen means (at minimum) </a:t>
            </a:r>
          </a:p>
          <a:p>
            <a:pPr marL="461963" lvl="1" indent="-188913"/>
            <a:r>
              <a:rPr lang="en-US" sz="1800" b="1" dirty="0" smtClean="0"/>
              <a:t>Initialization:</a:t>
            </a:r>
          </a:p>
          <a:p>
            <a:pPr marL="742950" lvl="2" indent="-188913"/>
            <a:r>
              <a:rPr lang="en-US" sz="1600" dirty="0" err="1" smtClean="0"/>
              <a:t>Genereal</a:t>
            </a:r>
            <a:r>
              <a:rPr lang="en-US" sz="1600" dirty="0" smtClean="0"/>
              <a:t> initialization of the graphics environment</a:t>
            </a:r>
          </a:p>
          <a:p>
            <a:pPr marL="742950" lvl="2" indent="-188913"/>
            <a:r>
              <a:rPr lang="en-US" sz="1600" dirty="0" smtClean="0"/>
              <a:t>Load all external resources on the GPU: </a:t>
            </a:r>
          </a:p>
          <a:p>
            <a:pPr marL="828357" lvl="3" indent="0">
              <a:buNone/>
            </a:pPr>
            <a:r>
              <a:rPr lang="en-US" sz="1400" i="1" dirty="0" smtClean="0"/>
              <a:t>all </a:t>
            </a:r>
            <a:r>
              <a:rPr lang="en-US" sz="1400" i="1" dirty="0" err="1" smtClean="0"/>
              <a:t>shaders</a:t>
            </a:r>
            <a:r>
              <a:rPr lang="en-US" sz="1400" i="1" dirty="0" smtClean="0"/>
              <a:t>, models (vertices and indices) and textures</a:t>
            </a:r>
          </a:p>
          <a:p>
            <a:pPr marL="828357" lvl="3" indent="0">
              <a:buNone/>
            </a:pPr>
            <a:r>
              <a:rPr lang="en-US" sz="1400" i="1" dirty="0" smtClean="0"/>
              <a:t>Also includes input layouts…</a:t>
            </a:r>
          </a:p>
          <a:p>
            <a:pPr marL="461963" lvl="1" indent="-188913"/>
            <a:r>
              <a:rPr lang="en-US" sz="1800" b="1" dirty="0" smtClean="0"/>
              <a:t>During game loop (Draw step):</a:t>
            </a:r>
          </a:p>
          <a:p>
            <a:pPr marL="742950" lvl="2" indent="-188913"/>
            <a:r>
              <a:rPr lang="en-US" sz="1600" dirty="0" smtClean="0"/>
              <a:t>Ensure that all stages have the right settings for the current object</a:t>
            </a:r>
          </a:p>
          <a:p>
            <a:pPr marL="746125" lvl="3" indent="0">
              <a:buNone/>
            </a:pPr>
            <a:r>
              <a:rPr lang="en-US" i="1" dirty="0" smtClean="0"/>
              <a:t>Solid/Wireframe, Viewport settings, Stencil, etc.</a:t>
            </a:r>
          </a:p>
          <a:p>
            <a:pPr marL="742950" lvl="2" indent="-188913"/>
            <a:r>
              <a:rPr lang="en-US" sz="1600" dirty="0" smtClean="0"/>
              <a:t>Connecting the pipeline with the right vertex and pixel </a:t>
            </a:r>
            <a:r>
              <a:rPr lang="en-US" sz="1600" dirty="0" err="1" smtClean="0"/>
              <a:t>shaders</a:t>
            </a:r>
            <a:r>
              <a:rPr lang="en-US" sz="1600" dirty="0" smtClean="0"/>
              <a:t> </a:t>
            </a:r>
          </a:p>
          <a:p>
            <a:pPr marL="742950" lvl="2" indent="-188913"/>
            <a:r>
              <a:rPr lang="en-US" sz="1600" dirty="0"/>
              <a:t>Connection the IA to the right input layout</a:t>
            </a:r>
          </a:p>
          <a:p>
            <a:pPr marL="742950" lvl="2" indent="-188913"/>
            <a:r>
              <a:rPr lang="en-US" sz="1600" dirty="0" smtClean="0"/>
              <a:t>Connecting the </a:t>
            </a:r>
            <a:r>
              <a:rPr lang="en-US" sz="1600" dirty="0" err="1" smtClean="0"/>
              <a:t>shader</a:t>
            </a:r>
            <a:r>
              <a:rPr lang="en-US" sz="1600" dirty="0" smtClean="0"/>
              <a:t> constants with the correct constant buffers</a:t>
            </a:r>
          </a:p>
          <a:p>
            <a:pPr marL="742950" lvl="2" indent="-188913"/>
            <a:r>
              <a:rPr lang="en-US" sz="1600" dirty="0" smtClean="0"/>
              <a:t>Upload the data to the constant buffers</a:t>
            </a:r>
          </a:p>
          <a:p>
            <a:pPr marL="742950" lvl="2" indent="-188913"/>
            <a:r>
              <a:rPr lang="en-US" sz="1600" dirty="0" smtClean="0"/>
              <a:t>Render one object</a:t>
            </a:r>
          </a:p>
          <a:p>
            <a:pPr marL="554037" lvl="2" indent="0">
              <a:buNone/>
            </a:pPr>
            <a:r>
              <a:rPr lang="en-US" sz="1600" dirty="0" smtClean="0"/>
              <a:t>And then repeat the above list for </a:t>
            </a:r>
            <a:r>
              <a:rPr lang="en-US" sz="1600" i="1" dirty="0" smtClean="0"/>
              <a:t>every objects </a:t>
            </a:r>
            <a:r>
              <a:rPr lang="en-US" sz="1600" i="1" dirty="0" smtClean="0"/>
              <a:t>to render</a:t>
            </a:r>
            <a:r>
              <a:rPr lang="en-US" sz="1600" i="1" dirty="0" smtClean="0"/>
              <a:t>.</a:t>
            </a:r>
            <a:endParaRPr lang="en-US" sz="1600" dirty="0" smtClean="0"/>
          </a:p>
          <a:p>
            <a:pPr marL="828357" lvl="3" indent="0">
              <a:buNone/>
            </a:pPr>
            <a:r>
              <a:rPr lang="en-US" i="1" dirty="0" smtClean="0"/>
              <a:t>Yes, this means any of </a:t>
            </a:r>
            <a:r>
              <a:rPr lang="en-US" i="1" u="sng" dirty="0" smtClean="0"/>
              <a:t>these</a:t>
            </a:r>
            <a:r>
              <a:rPr lang="en-US" i="1" dirty="0" smtClean="0"/>
              <a:t> element may change for any object </a:t>
            </a:r>
            <a:r>
              <a:rPr lang="en-US" i="1" dirty="0"/>
              <a:t>t</a:t>
            </a:r>
            <a:r>
              <a:rPr lang="en-US" i="1" dirty="0" smtClean="0"/>
              <a:t>o render</a:t>
            </a:r>
            <a:endParaRPr lang="en-US" i="1" dirty="0"/>
          </a:p>
          <a:p>
            <a:pPr marL="0" indent="0">
              <a:buNone/>
            </a:pPr>
            <a:endParaRPr lang="en-US" sz="800" dirty="0"/>
          </a:p>
          <a:p>
            <a:pPr marL="3175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752600"/>
            <a:ext cx="175260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1006312" y="3413288"/>
            <a:ext cx="5743280" cy="2758912"/>
            <a:chOff x="1006312" y="3413288"/>
            <a:chExt cx="5743280" cy="2758912"/>
          </a:xfrm>
        </p:grpSpPr>
        <p:sp>
          <p:nvSpPr>
            <p:cNvPr id="6" name="Rounded Rectangle 5"/>
            <p:cNvSpPr/>
            <p:nvPr/>
          </p:nvSpPr>
          <p:spPr>
            <a:xfrm>
              <a:off x="1006312" y="3413288"/>
              <a:ext cx="5743280" cy="1844511"/>
            </a:xfrm>
            <a:prstGeom prst="roundRect">
              <a:avLst>
                <a:gd name="adj" fmla="val 11695"/>
              </a:avLst>
            </a:prstGeom>
            <a:noFill/>
            <a:ln w="25400">
              <a:solidFill>
                <a:srgbClr val="FF0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Curved Connector 6"/>
            <p:cNvCxnSpPr>
              <a:endCxn id="6" idx="1"/>
            </p:cNvCxnSpPr>
            <p:nvPr/>
          </p:nvCxnSpPr>
          <p:spPr>
            <a:xfrm rot="10800000">
              <a:off x="1006312" y="4335544"/>
              <a:ext cx="2422688" cy="1836656"/>
            </a:xfrm>
            <a:prstGeom prst="bentConnector3">
              <a:avLst>
                <a:gd name="adj1" fmla="val 109436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438307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The </a:t>
            </a:r>
            <a:r>
              <a:rPr lang="en-US" dirty="0" smtClean="0"/>
              <a:t>Pipeline: </a:t>
            </a:r>
            <a:br>
              <a:rPr lang="en-US" dirty="0" smtClean="0"/>
            </a:br>
            <a:r>
              <a:rPr lang="en-US" dirty="0" smtClean="0"/>
              <a:t>Options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4045"/>
            <a:ext cx="86106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Assume the simplest setting for a complex scene:</a:t>
            </a:r>
          </a:p>
          <a:p>
            <a:pPr marL="461963" lvl="1" indent="-188913"/>
            <a:r>
              <a:rPr lang="en-US" sz="1600" dirty="0"/>
              <a:t>W</a:t>
            </a:r>
            <a:r>
              <a:rPr lang="en-US" sz="1600" dirty="0" smtClean="0"/>
              <a:t>e have a large number of objects to render</a:t>
            </a:r>
          </a:p>
          <a:p>
            <a:pPr marL="461963" lvl="1" indent="-188913"/>
            <a:r>
              <a:rPr lang="en-US" sz="1600" dirty="0" smtClean="0"/>
              <a:t>We have </a:t>
            </a:r>
            <a:r>
              <a:rPr lang="en-US" sz="1600" dirty="0" smtClean="0"/>
              <a:t>few </a:t>
            </a:r>
            <a:r>
              <a:rPr lang="en-US" sz="1600" dirty="0" err="1" smtClean="0"/>
              <a:t>shaders</a:t>
            </a:r>
            <a:r>
              <a:rPr lang="en-US" sz="1600" dirty="0" smtClean="0"/>
              <a:t>, </a:t>
            </a:r>
            <a:r>
              <a:rPr lang="en-US" sz="1600" dirty="0" smtClean="0"/>
              <a:t>but each object uses only </a:t>
            </a:r>
            <a:r>
              <a:rPr lang="en-US" sz="1600" i="1" u="sng" dirty="0" smtClean="0"/>
              <a:t>one</a:t>
            </a:r>
            <a:r>
              <a:rPr lang="en-US" sz="1600" dirty="0"/>
              <a:t>.</a:t>
            </a:r>
            <a:r>
              <a:rPr lang="en-US" sz="1600" dirty="0" smtClean="0"/>
              <a:t> </a:t>
            </a:r>
          </a:p>
          <a:p>
            <a:pPr marL="461963" lvl="1" indent="-188913"/>
            <a:r>
              <a:rPr lang="en-US" sz="1600" dirty="0" smtClean="0"/>
              <a:t>All constant buffers data are either unique to one instance or </a:t>
            </a:r>
            <a:r>
              <a:rPr lang="en-US" sz="1600" dirty="0"/>
              <a:t>common to </a:t>
            </a:r>
            <a:r>
              <a:rPr lang="en-US" sz="1600" dirty="0" smtClean="0"/>
              <a:t>all instances.</a:t>
            </a:r>
          </a:p>
          <a:p>
            <a:pPr marL="461963" lvl="1" indent="-188913"/>
            <a:r>
              <a:rPr lang="en-US" sz="1600" dirty="0" smtClean="0"/>
              <a:t>The general pipeline settings do not to change. </a:t>
            </a:r>
          </a:p>
          <a:p>
            <a:pPr marL="273050" lvl="1" indent="0">
              <a:buNone/>
            </a:pPr>
            <a:r>
              <a:rPr lang="en-US" sz="1800" dirty="0" smtClean="0"/>
              <a:t>Which is the better arrangement for the draw step?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4608479" y="3196002"/>
            <a:ext cx="449930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US" sz="1600" dirty="0"/>
              <a:t>Update common constant buffers</a:t>
            </a:r>
          </a:p>
          <a:p>
            <a:pPr marL="398463" lvl="1"/>
            <a:r>
              <a:rPr lang="en-US" sz="1600" i="1" dirty="0"/>
              <a:t>camera, lighting info, etc</a:t>
            </a:r>
            <a:r>
              <a:rPr lang="en-US" sz="1600" i="1" dirty="0" smtClean="0"/>
              <a:t>.</a:t>
            </a:r>
            <a:endParaRPr lang="en-US" sz="1600" dirty="0" smtClean="0"/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US" sz="1600" dirty="0" smtClean="0"/>
              <a:t>For each </a:t>
            </a:r>
            <a:r>
              <a:rPr lang="en-US" sz="1600" dirty="0" err="1" smtClean="0"/>
              <a:t>shader</a:t>
            </a:r>
            <a:r>
              <a:rPr lang="en-US" sz="1600" dirty="0" smtClean="0"/>
              <a:t> &lt;vs, </a:t>
            </a:r>
            <a:r>
              <a:rPr lang="en-US" sz="1600" dirty="0" err="1" smtClean="0"/>
              <a:t>ps</a:t>
            </a:r>
            <a:r>
              <a:rPr lang="en-US" sz="1600" dirty="0" smtClean="0"/>
              <a:t>&gt;:</a:t>
            </a:r>
          </a:p>
          <a:p>
            <a:pPr marL="341313" lvl="1" indent="-117475">
              <a:buFont typeface="Arial" panose="020B0604020202020204" pitchFamily="34" charset="0"/>
              <a:buChar char="•"/>
            </a:pPr>
            <a:r>
              <a:rPr lang="en-US" sz="1600" dirty="0" smtClean="0"/>
              <a:t>Connect the vertex and pixel stages to &lt;vs, </a:t>
            </a:r>
            <a:r>
              <a:rPr lang="en-US" sz="1600" dirty="0" err="1" smtClean="0"/>
              <a:t>ps</a:t>
            </a:r>
            <a:r>
              <a:rPr lang="en-US" sz="1600" dirty="0" smtClean="0"/>
              <a:t>&gt;</a:t>
            </a:r>
          </a:p>
          <a:p>
            <a:pPr marL="341313" lvl="1" indent="-117475">
              <a:buFont typeface="Arial" panose="020B0604020202020204" pitchFamily="34" charset="0"/>
              <a:buChar char="•"/>
            </a:pPr>
            <a:r>
              <a:rPr lang="en-US" sz="1600" dirty="0" smtClean="0"/>
              <a:t>Connect the IA with the proper input layout</a:t>
            </a:r>
          </a:p>
          <a:p>
            <a:pPr marL="341313" lvl="1" indent="-117475">
              <a:buFont typeface="Arial" panose="020B0604020202020204" pitchFamily="34" charset="0"/>
              <a:buChar char="•"/>
            </a:pPr>
            <a:r>
              <a:rPr lang="en-US" sz="1600" dirty="0" smtClean="0"/>
              <a:t>For each object &lt;</a:t>
            </a:r>
            <a:r>
              <a:rPr lang="en-US" sz="1600" dirty="0" err="1" smtClean="0"/>
              <a:t>obj</a:t>
            </a:r>
            <a:r>
              <a:rPr lang="en-US" sz="1600" dirty="0" smtClean="0"/>
              <a:t>&gt; using &lt;</a:t>
            </a:r>
            <a:r>
              <a:rPr lang="en-US" sz="1600" dirty="0" err="1" smtClean="0"/>
              <a:t>vs,ps</a:t>
            </a:r>
            <a:r>
              <a:rPr lang="en-US" sz="1600" dirty="0" smtClean="0"/>
              <a:t>&gt;:</a:t>
            </a:r>
          </a:p>
          <a:p>
            <a:pPr marL="684213" lvl="2" indent="-114300">
              <a:buFont typeface="Arial" panose="020B0604020202020204" pitchFamily="34" charset="0"/>
              <a:buChar char="•"/>
            </a:pPr>
            <a:r>
              <a:rPr lang="en-US" sz="1600" dirty="0" smtClean="0"/>
              <a:t>Update the for constant buffers for &lt;</a:t>
            </a:r>
            <a:r>
              <a:rPr lang="en-US" sz="1600" dirty="0" err="1" smtClean="0"/>
              <a:t>obj</a:t>
            </a:r>
            <a:r>
              <a:rPr lang="en-US" sz="1600" dirty="0" smtClean="0"/>
              <a:t>&gt;:  </a:t>
            </a:r>
          </a:p>
          <a:p>
            <a:pPr marL="738188" lvl="2"/>
            <a:r>
              <a:rPr lang="en-US" sz="1600" i="1" dirty="0" err="1" smtClean="0"/>
              <a:t>worldmat</a:t>
            </a:r>
            <a:r>
              <a:rPr lang="en-US" sz="1600" i="1" dirty="0" smtClean="0"/>
              <a:t>, color, etc</a:t>
            </a:r>
            <a:r>
              <a:rPr lang="en-US" sz="1600" dirty="0" smtClean="0"/>
              <a:t>. </a:t>
            </a:r>
          </a:p>
          <a:p>
            <a:pPr marL="684213" lvl="2" indent="-114300">
              <a:buFont typeface="Arial" panose="020B0604020202020204" pitchFamily="34" charset="0"/>
              <a:buChar char="•"/>
            </a:pPr>
            <a:r>
              <a:rPr lang="en-US" sz="1600" dirty="0" smtClean="0"/>
              <a:t>Render &lt;</a:t>
            </a:r>
            <a:r>
              <a:rPr lang="en-US" sz="1600" dirty="0" err="1" smtClean="0"/>
              <a:t>obj</a:t>
            </a:r>
            <a:r>
              <a:rPr lang="en-US" sz="1600" dirty="0" smtClean="0"/>
              <a:t>&gt;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58094" y="3191475"/>
            <a:ext cx="4253729" cy="20621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US" sz="1600" dirty="0"/>
              <a:t>Update common constant buffers</a:t>
            </a:r>
          </a:p>
          <a:p>
            <a:pPr marL="398463" lvl="1"/>
            <a:r>
              <a:rPr lang="en-US" sz="1600" i="1" dirty="0"/>
              <a:t>camera, lighting info, etc</a:t>
            </a:r>
            <a:r>
              <a:rPr lang="en-US" sz="1600" i="1" dirty="0" smtClean="0"/>
              <a:t>.</a:t>
            </a:r>
            <a:endParaRPr lang="en-US" sz="1600" dirty="0" smtClean="0"/>
          </a:p>
          <a:p>
            <a:pPr marL="111125" lvl="1" indent="-111125">
              <a:buFont typeface="Arial" panose="020B0604020202020204" pitchFamily="34" charset="0"/>
              <a:buChar char="•"/>
            </a:pPr>
            <a:r>
              <a:rPr lang="en-US" sz="1600" dirty="0" smtClean="0"/>
              <a:t>For </a:t>
            </a:r>
            <a:r>
              <a:rPr lang="en-US" sz="1600" dirty="0"/>
              <a:t>each object &lt;</a:t>
            </a:r>
            <a:r>
              <a:rPr lang="en-US" sz="1600" dirty="0" err="1"/>
              <a:t>obj</a:t>
            </a:r>
            <a:r>
              <a:rPr lang="en-US" sz="1600" dirty="0" smtClean="0"/>
              <a:t>&gt;:</a:t>
            </a:r>
            <a:endParaRPr lang="en-US" sz="1600" dirty="0"/>
          </a:p>
          <a:p>
            <a:pPr marL="341313" lvl="1" indent="-117475">
              <a:buFont typeface="Arial" panose="020B0604020202020204" pitchFamily="34" charset="0"/>
              <a:buChar char="•"/>
            </a:pPr>
            <a:r>
              <a:rPr lang="en-US" sz="1600" dirty="0" smtClean="0"/>
              <a:t>Connect the </a:t>
            </a:r>
            <a:r>
              <a:rPr lang="en-US" sz="1600" dirty="0" smtClean="0"/>
              <a:t>VS and PS </a:t>
            </a:r>
            <a:r>
              <a:rPr lang="en-US" sz="1600" dirty="0" smtClean="0"/>
              <a:t>stages </a:t>
            </a:r>
            <a:r>
              <a:rPr lang="en-US" sz="1600" dirty="0" err="1" smtClean="0"/>
              <a:t>obj’s</a:t>
            </a:r>
            <a:r>
              <a:rPr lang="en-US" sz="1600" dirty="0" smtClean="0"/>
              <a:t> </a:t>
            </a:r>
            <a:r>
              <a:rPr lang="en-US" sz="1600" dirty="0" smtClean="0"/>
              <a:t>&lt;vs, </a:t>
            </a:r>
            <a:r>
              <a:rPr lang="en-US" sz="1600" dirty="0" err="1" smtClean="0"/>
              <a:t>ps</a:t>
            </a:r>
            <a:r>
              <a:rPr lang="en-US" sz="1600" dirty="0" smtClean="0"/>
              <a:t>&gt;</a:t>
            </a:r>
          </a:p>
          <a:p>
            <a:pPr marL="341313" lvl="1" indent="-117475">
              <a:buFont typeface="Arial" panose="020B0604020202020204" pitchFamily="34" charset="0"/>
              <a:buChar char="•"/>
            </a:pPr>
            <a:r>
              <a:rPr lang="en-US" sz="1600" dirty="0" smtClean="0"/>
              <a:t>Connect the IA with the proper input layout</a:t>
            </a:r>
          </a:p>
          <a:p>
            <a:pPr marL="338138" lvl="1" indent="-114300">
              <a:buFont typeface="Arial" panose="020B0604020202020204" pitchFamily="34" charset="0"/>
              <a:buChar char="•"/>
            </a:pPr>
            <a:r>
              <a:rPr lang="en-US" sz="1600" dirty="0" smtClean="0"/>
              <a:t>Update the constant buffers for &lt;</a:t>
            </a:r>
            <a:r>
              <a:rPr lang="en-US" sz="1600" dirty="0" err="1" smtClean="0"/>
              <a:t>obj</a:t>
            </a:r>
            <a:r>
              <a:rPr lang="en-US" sz="1600" dirty="0" smtClean="0"/>
              <a:t>&gt;:  </a:t>
            </a:r>
          </a:p>
          <a:p>
            <a:pPr marL="393700" lvl="2"/>
            <a:r>
              <a:rPr lang="en-US" sz="1600" i="1" dirty="0" err="1" smtClean="0"/>
              <a:t>worldmat</a:t>
            </a:r>
            <a:r>
              <a:rPr lang="en-US" sz="1600" i="1" dirty="0" smtClean="0"/>
              <a:t>, color, etc</a:t>
            </a:r>
            <a:r>
              <a:rPr lang="en-US" sz="1600" dirty="0" smtClean="0"/>
              <a:t>. </a:t>
            </a:r>
          </a:p>
          <a:p>
            <a:pPr marL="338138" lvl="1" indent="-114300">
              <a:buFont typeface="Arial" panose="020B0604020202020204" pitchFamily="34" charset="0"/>
              <a:buChar char="•"/>
            </a:pPr>
            <a:r>
              <a:rPr lang="en-US" sz="1600" dirty="0" smtClean="0"/>
              <a:t>Render &lt;</a:t>
            </a:r>
            <a:r>
              <a:rPr lang="en-US" sz="1600" dirty="0" err="1" smtClean="0"/>
              <a:t>obj</a:t>
            </a:r>
            <a:r>
              <a:rPr lang="en-US" sz="1600" dirty="0" smtClean="0"/>
              <a:t>&gt;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6019800" y="1447800"/>
            <a:ext cx="25908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 simpler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than any ‘typical’ game situation…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6693" y="5410200"/>
            <a:ext cx="4042109" cy="119181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a much simpler API for our users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Lots of wasted re-connection to the pipeline</a:t>
            </a:r>
          </a:p>
          <a:p>
            <a:pPr marL="168275" lvl="1"/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Re-connection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not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 switching internal GPU pointers around…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37078" y="5638800"/>
            <a:ext cx="4042109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better performance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generalize for ‘typical’ cases 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a more complicated API for users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7331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The Pipeline: </a:t>
            </a:r>
            <a:br>
              <a:rPr lang="en-US" dirty="0"/>
            </a:br>
            <a:r>
              <a:rPr lang="en-US" dirty="0" smtClean="0"/>
              <a:t>Option Selected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Our </a:t>
            </a:r>
            <a:r>
              <a:rPr lang="en-US" sz="2000" dirty="0" smtClean="0"/>
              <a:t>eventual goal </a:t>
            </a:r>
            <a:r>
              <a:rPr lang="en-US" sz="2000" dirty="0" smtClean="0"/>
              <a:t>is still to create a proper API to hide away much of the complexity in using a graphic environment. </a:t>
            </a:r>
          </a:p>
          <a:p>
            <a:pPr marL="0" indent="0">
              <a:buNone/>
            </a:pPr>
            <a:r>
              <a:rPr lang="en-US" sz="2000" dirty="0" smtClean="0"/>
              <a:t>For our purpose, the option below will suffice.</a:t>
            </a:r>
          </a:p>
          <a:p>
            <a:pPr marL="461963" lvl="1" indent="-188913"/>
            <a:r>
              <a:rPr lang="en-US" sz="1800" dirty="0" smtClean="0"/>
              <a:t>Good enough in practice for simple games</a:t>
            </a:r>
          </a:p>
          <a:p>
            <a:pPr marL="461963" lvl="1" indent="-188913"/>
            <a:r>
              <a:rPr lang="en-US" sz="1800" dirty="0" smtClean="0"/>
              <a:t>The resulting API is simple enough for a first attempt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58094" y="3191475"/>
            <a:ext cx="4237570" cy="20621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US" sz="1600" dirty="0"/>
              <a:t>Update common constant buffers</a:t>
            </a:r>
          </a:p>
          <a:p>
            <a:pPr marL="398463" lvl="1"/>
            <a:r>
              <a:rPr lang="en-US" sz="1600" i="1" dirty="0"/>
              <a:t>camera, lighting info, etc.</a:t>
            </a:r>
            <a:endParaRPr lang="en-US" sz="1600" dirty="0"/>
          </a:p>
          <a:p>
            <a:pPr marL="111125" lvl="1" indent="-111125">
              <a:buFont typeface="Arial" panose="020B0604020202020204" pitchFamily="34" charset="0"/>
              <a:buChar char="•"/>
            </a:pPr>
            <a:r>
              <a:rPr lang="en-US" sz="1600" dirty="0"/>
              <a:t>For each object &lt;</a:t>
            </a:r>
            <a:r>
              <a:rPr lang="en-US" sz="1600" dirty="0" err="1"/>
              <a:t>obj</a:t>
            </a:r>
            <a:r>
              <a:rPr lang="en-US" sz="1600" dirty="0"/>
              <a:t>&gt;:</a:t>
            </a:r>
          </a:p>
          <a:p>
            <a:pPr marL="341313" lvl="1" indent="-117475">
              <a:buFont typeface="Arial" panose="020B0604020202020204" pitchFamily="34" charset="0"/>
              <a:buChar char="•"/>
            </a:pPr>
            <a:r>
              <a:rPr lang="en-US" sz="1600" dirty="0"/>
              <a:t>Connect the VS and PS stages </a:t>
            </a:r>
            <a:r>
              <a:rPr lang="en-US" sz="1600" dirty="0" err="1"/>
              <a:t>obj’s</a:t>
            </a:r>
            <a:r>
              <a:rPr lang="en-US" sz="1600" dirty="0"/>
              <a:t> &lt;vs, </a:t>
            </a:r>
            <a:r>
              <a:rPr lang="en-US" sz="1600" dirty="0" err="1"/>
              <a:t>ps</a:t>
            </a:r>
            <a:r>
              <a:rPr lang="en-US" sz="1600" dirty="0"/>
              <a:t>&gt;</a:t>
            </a:r>
          </a:p>
          <a:p>
            <a:pPr marL="341313" lvl="1" indent="-117475">
              <a:buFont typeface="Arial" panose="020B0604020202020204" pitchFamily="34" charset="0"/>
              <a:buChar char="•"/>
            </a:pPr>
            <a:r>
              <a:rPr lang="en-US" sz="1600" dirty="0"/>
              <a:t>Connect the IA with the proper input layout</a:t>
            </a:r>
          </a:p>
          <a:p>
            <a:pPr marL="338138" lvl="1" indent="-114300">
              <a:buFont typeface="Arial" panose="020B0604020202020204" pitchFamily="34" charset="0"/>
              <a:buChar char="•"/>
            </a:pPr>
            <a:r>
              <a:rPr lang="en-US" sz="1600" dirty="0"/>
              <a:t>Update the constant buffers for &lt;</a:t>
            </a:r>
            <a:r>
              <a:rPr lang="en-US" sz="1600" dirty="0" err="1"/>
              <a:t>obj</a:t>
            </a:r>
            <a:r>
              <a:rPr lang="en-US" sz="1600" dirty="0"/>
              <a:t>&gt;:  </a:t>
            </a:r>
          </a:p>
          <a:p>
            <a:pPr marL="393700" lvl="2"/>
            <a:r>
              <a:rPr lang="en-US" sz="1600" i="1" dirty="0" err="1"/>
              <a:t>worldmat</a:t>
            </a:r>
            <a:r>
              <a:rPr lang="en-US" sz="1600" i="1" dirty="0"/>
              <a:t>, color, etc</a:t>
            </a:r>
            <a:r>
              <a:rPr lang="en-US" sz="1600" dirty="0"/>
              <a:t>. </a:t>
            </a:r>
          </a:p>
          <a:p>
            <a:pPr marL="338138" lvl="1" indent="-114300">
              <a:buFont typeface="Arial" panose="020B0604020202020204" pitchFamily="34" charset="0"/>
              <a:buChar char="•"/>
            </a:pPr>
            <a:r>
              <a:rPr lang="en-US" sz="1600" dirty="0"/>
              <a:t>Render &lt;</a:t>
            </a:r>
            <a:r>
              <a:rPr lang="en-US" sz="1600" dirty="0" err="1"/>
              <a:t>obj</a:t>
            </a:r>
            <a:r>
              <a:rPr lang="en-US" sz="1600" dirty="0"/>
              <a:t>&gt;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286693" y="5410200"/>
            <a:ext cx="4042109" cy="119181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a much simpler API for our users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Lots of wasted re-connection to the pipeline</a:t>
            </a:r>
          </a:p>
          <a:p>
            <a:pPr marL="168275" lvl="1"/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Saving grace: re-connection are not as expensive as wasted data uploads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6800" y="3354203"/>
            <a:ext cx="4042109" cy="1600438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you will built many such API. Over time, you may decide on a different order of operations that is better suited for your particular case at the time.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for now: this will be good enough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19826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4:</a:t>
            </a:r>
          </a:p>
          <a:p>
            <a:r>
              <a:rPr lang="en-US" dirty="0" smtClean="0"/>
              <a:t>Speaking of API…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6157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Learned a </a:t>
            </a:r>
            <a:r>
              <a:rPr lang="en-US" dirty="0" smtClean="0"/>
              <a:t>Lot!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 hope that by now you have a much better grasp of graphic environments.</a:t>
            </a:r>
          </a:p>
          <a:p>
            <a:pPr marL="0" indent="0">
              <a:buNone/>
            </a:pPr>
            <a:r>
              <a:rPr lang="en-US" sz="2000" dirty="0" smtClean="0"/>
              <a:t>We have covered a </a:t>
            </a:r>
            <a:r>
              <a:rPr lang="en-US" sz="2000" i="1" dirty="0" smtClean="0"/>
              <a:t>lot</a:t>
            </a:r>
            <a:r>
              <a:rPr lang="en-US" sz="2000" dirty="0" smtClean="0"/>
              <a:t> of ground in 3 </a:t>
            </a:r>
            <a:r>
              <a:rPr lang="en-US" sz="2000" dirty="0" smtClean="0"/>
              <a:t>weeks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152400" y="2438400"/>
            <a:ext cx="8854015" cy="4343400"/>
            <a:chOff x="228600" y="1219200"/>
            <a:chExt cx="8854015" cy="4343400"/>
          </a:xfrm>
        </p:grpSpPr>
        <p:sp>
          <p:nvSpPr>
            <p:cNvPr id="6" name="Rectangle 5"/>
            <p:cNvSpPr/>
            <p:nvPr/>
          </p:nvSpPr>
          <p:spPr>
            <a:xfrm>
              <a:off x="4934963" y="1219200"/>
              <a:ext cx="4147652" cy="434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28600" y="1219200"/>
              <a:ext cx="2522220" cy="434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458933" y="1551159"/>
              <a:ext cx="12192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Main Controls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9" name="Pentagon 8"/>
            <p:cNvSpPr/>
            <p:nvPr/>
          </p:nvSpPr>
          <p:spPr>
            <a:xfrm>
              <a:off x="2588678" y="1658246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0" name="Straight Connector 9"/>
            <p:cNvCxnSpPr>
              <a:stCxn id="9" idx="3"/>
              <a:endCxn id="8" idx="1"/>
            </p:cNvCxnSpPr>
            <p:nvPr/>
          </p:nvCxnSpPr>
          <p:spPr>
            <a:xfrm flipV="1">
              <a:off x="3918783" y="1663196"/>
              <a:ext cx="1540150" cy="107087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Pentagon 10"/>
            <p:cNvSpPr/>
            <p:nvPr/>
          </p:nvSpPr>
          <p:spPr>
            <a:xfrm>
              <a:off x="2588678" y="2086509"/>
              <a:ext cx="1905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ID3D11DeviceContext</a:t>
              </a:r>
            </a:p>
          </p:txBody>
        </p:sp>
        <p:cxnSp>
          <p:nvCxnSpPr>
            <p:cNvPr id="12" name="Straight Connector 11"/>
            <p:cNvCxnSpPr>
              <a:stCxn id="11" idx="3"/>
              <a:endCxn id="8" idx="1"/>
            </p:cNvCxnSpPr>
            <p:nvPr/>
          </p:nvCxnSpPr>
          <p:spPr>
            <a:xfrm flipV="1">
              <a:off x="4493678" y="1663196"/>
              <a:ext cx="965255" cy="53535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5070685" y="4383454"/>
              <a:ext cx="1577340" cy="6322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 Chain</a:t>
              </a: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FrontBuffer</a:t>
              </a:r>
              <a:endParaRPr lang="en-US" sz="11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4" name="Pentagon 13"/>
            <p:cNvSpPr/>
            <p:nvPr/>
          </p:nvSpPr>
          <p:spPr>
            <a:xfrm>
              <a:off x="2588678" y="4594633"/>
              <a:ext cx="1524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IDXGISwapChain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5" name="Straight Connector 14"/>
            <p:cNvCxnSpPr>
              <a:stCxn id="14" idx="3"/>
              <a:endCxn id="13" idx="1"/>
            </p:cNvCxnSpPr>
            <p:nvPr/>
          </p:nvCxnSpPr>
          <p:spPr>
            <a:xfrm flipV="1">
              <a:off x="4112678" y="4699587"/>
              <a:ext cx="958007" cy="7083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>
              <a:off x="2588678" y="5047306"/>
              <a:ext cx="2209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ID3D11RenderTargetView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087294" y="5105400"/>
              <a:ext cx="2720340" cy="3899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Render Target View</a:t>
              </a:r>
            </a:p>
            <a:p>
              <a:pPr algn="r"/>
              <a:r>
                <a:rPr lang="en-US" sz="1100" i="1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Send to  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SwapChain</a:t>
              </a:r>
              <a:r>
                <a:rPr lang="en-US" sz="11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-&gt;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8" name="Straight Connector 17"/>
            <p:cNvCxnSpPr>
              <a:stCxn id="16" idx="3"/>
              <a:endCxn id="17" idx="1"/>
            </p:cNvCxnSpPr>
            <p:nvPr/>
          </p:nvCxnSpPr>
          <p:spPr>
            <a:xfrm>
              <a:off x="4798478" y="5159343"/>
              <a:ext cx="288816" cy="141053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381000" y="1638300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0" name="Straight Arrow Connector 19"/>
            <p:cNvCxnSpPr>
              <a:stCxn id="19" idx="3"/>
            </p:cNvCxnSpPr>
            <p:nvPr/>
          </p:nvCxnSpPr>
          <p:spPr>
            <a:xfrm>
              <a:off x="1600200" y="1757096"/>
              <a:ext cx="99060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381000" y="2080081"/>
              <a:ext cx="1996441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md3dImmediateContext</a:t>
              </a:r>
            </a:p>
          </p:txBody>
        </p:sp>
        <p:cxnSp>
          <p:nvCxnSpPr>
            <p:cNvPr id="22" name="Straight Arrow Connector 21"/>
            <p:cNvCxnSpPr>
              <a:stCxn id="21" idx="3"/>
              <a:endCxn id="11" idx="1"/>
            </p:cNvCxnSpPr>
            <p:nvPr/>
          </p:nvCxnSpPr>
          <p:spPr>
            <a:xfrm flipV="1">
              <a:off x="2377441" y="2198546"/>
              <a:ext cx="211237" cy="33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381000" y="4581115"/>
              <a:ext cx="11430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4" name="Straight Arrow Connector 23"/>
            <p:cNvCxnSpPr>
              <a:stCxn id="23" idx="3"/>
              <a:endCxn id="14" idx="1"/>
            </p:cNvCxnSpPr>
            <p:nvPr/>
          </p:nvCxnSpPr>
          <p:spPr>
            <a:xfrm>
              <a:off x="1524000" y="4699911"/>
              <a:ext cx="1064678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381000" y="5038315"/>
              <a:ext cx="17526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mRenderTargetView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6" name="Straight Arrow Connector 25"/>
            <p:cNvCxnSpPr>
              <a:stCxn id="25" idx="3"/>
              <a:endCxn id="16" idx="1"/>
            </p:cNvCxnSpPr>
            <p:nvPr/>
          </p:nvCxnSpPr>
          <p:spPr>
            <a:xfrm>
              <a:off x="2133600" y="5157111"/>
              <a:ext cx="455078" cy="2232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AutoShape 9"/>
            <p:cNvSpPr>
              <a:spLocks noChangeArrowheads="1"/>
            </p:cNvSpPr>
            <p:nvPr/>
          </p:nvSpPr>
          <p:spPr bwMode="auto">
            <a:xfrm>
              <a:off x="8092015" y="4419600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#1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8" name="AutoShape 9"/>
            <p:cNvSpPr>
              <a:spLocks noChangeArrowheads="1"/>
            </p:cNvSpPr>
            <p:nvPr/>
          </p:nvSpPr>
          <p:spPr bwMode="auto">
            <a:xfrm>
              <a:off x="8092014" y="4771484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#2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096542" y="3345627"/>
              <a:ext cx="9144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Viewport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0" name="Straight Arrow Connector 29"/>
            <p:cNvCxnSpPr>
              <a:stCxn id="32" idx="3"/>
              <a:endCxn id="29" idx="1"/>
            </p:cNvCxnSpPr>
            <p:nvPr/>
          </p:nvCxnSpPr>
          <p:spPr>
            <a:xfrm flipV="1">
              <a:off x="7893994" y="3457664"/>
              <a:ext cx="202548" cy="44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8" idx="3"/>
              <a:endCxn id="32" idx="0"/>
            </p:cNvCxnSpPr>
            <p:nvPr/>
          </p:nvCxnSpPr>
          <p:spPr>
            <a:xfrm>
              <a:off x="6678133" y="1663196"/>
              <a:ext cx="629072" cy="757222"/>
            </a:xfrm>
            <a:prstGeom prst="bentConnector2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0415" y="2420418"/>
              <a:ext cx="1173579" cy="2075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" name="AutoShape 9"/>
            <p:cNvSpPr>
              <a:spLocks noChangeArrowheads="1"/>
            </p:cNvSpPr>
            <p:nvPr/>
          </p:nvSpPr>
          <p:spPr bwMode="auto">
            <a:xfrm>
              <a:off x="5395627" y="1961049"/>
              <a:ext cx="50103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Verts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34" name="Pentagon 33"/>
            <p:cNvSpPr/>
            <p:nvPr/>
          </p:nvSpPr>
          <p:spPr>
            <a:xfrm>
              <a:off x="2588678" y="2559013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ID3D11Buffer</a:t>
              </a:r>
            </a:p>
          </p:txBody>
        </p:sp>
        <p:cxnSp>
          <p:nvCxnSpPr>
            <p:cNvPr id="35" name="Straight Connector 34"/>
            <p:cNvCxnSpPr>
              <a:stCxn id="34" idx="3"/>
              <a:endCxn id="33" idx="1"/>
            </p:cNvCxnSpPr>
            <p:nvPr/>
          </p:nvCxnSpPr>
          <p:spPr>
            <a:xfrm flipV="1">
              <a:off x="3918783" y="2099549"/>
              <a:ext cx="1476844" cy="571501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381000" y="2539067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mpVertexBuffer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7" name="Straight Arrow Connector 36"/>
            <p:cNvCxnSpPr>
              <a:stCxn id="36" idx="3"/>
            </p:cNvCxnSpPr>
            <p:nvPr/>
          </p:nvCxnSpPr>
          <p:spPr>
            <a:xfrm>
              <a:off x="1600200" y="2657863"/>
              <a:ext cx="99060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AutoShape 9"/>
            <p:cNvSpPr>
              <a:spLocks noChangeArrowheads="1"/>
            </p:cNvSpPr>
            <p:nvPr/>
          </p:nvSpPr>
          <p:spPr bwMode="auto">
            <a:xfrm>
              <a:off x="5399090" y="2275670"/>
              <a:ext cx="658051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Indices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39" name="Pentagon 38"/>
            <p:cNvSpPr/>
            <p:nvPr/>
          </p:nvSpPr>
          <p:spPr>
            <a:xfrm>
              <a:off x="2588678" y="2976327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ID3D11Buffer</a:t>
              </a:r>
            </a:p>
          </p:txBody>
        </p:sp>
        <p:cxnSp>
          <p:nvCxnSpPr>
            <p:cNvPr id="40" name="Straight Connector 39"/>
            <p:cNvCxnSpPr>
              <a:stCxn id="39" idx="3"/>
              <a:endCxn id="38" idx="1"/>
            </p:cNvCxnSpPr>
            <p:nvPr/>
          </p:nvCxnSpPr>
          <p:spPr>
            <a:xfrm flipV="1">
              <a:off x="3918783" y="2414170"/>
              <a:ext cx="1480307" cy="674194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381000" y="2956381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mpIndexBuffer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42" name="Straight Arrow Connector 41"/>
            <p:cNvCxnSpPr>
              <a:stCxn id="41" idx="3"/>
            </p:cNvCxnSpPr>
            <p:nvPr/>
          </p:nvCxnSpPr>
          <p:spPr>
            <a:xfrm>
              <a:off x="1600200" y="3075177"/>
              <a:ext cx="99060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30"/>
            <p:cNvCxnSpPr>
              <a:stCxn id="33" idx="3"/>
            </p:cNvCxnSpPr>
            <p:nvPr/>
          </p:nvCxnSpPr>
          <p:spPr>
            <a:xfrm>
              <a:off x="5896662" y="2099549"/>
              <a:ext cx="781471" cy="26265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30"/>
            <p:cNvCxnSpPr>
              <a:stCxn id="38" idx="3"/>
            </p:cNvCxnSpPr>
            <p:nvPr/>
          </p:nvCxnSpPr>
          <p:spPr>
            <a:xfrm>
              <a:off x="6057141" y="2414170"/>
              <a:ext cx="605179" cy="51957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6658857" y="3408838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 smtClean="0">
                  <a:solidFill>
                    <a:srgbClr val="FF0000"/>
                  </a:solidFill>
                </a:rPr>
                <a:t>CCW</a:t>
              </a:r>
              <a:endParaRPr 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867400" y="2933700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Straight Arrow Connector 46"/>
            <p:cNvCxnSpPr>
              <a:endCxn id="46" idx="3"/>
            </p:cNvCxnSpPr>
            <p:nvPr/>
          </p:nvCxnSpPr>
          <p:spPr>
            <a:xfrm flipH="1">
              <a:off x="6262973" y="3045736"/>
              <a:ext cx="607728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5859355" y="3771900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Arrow Connector 48"/>
            <p:cNvCxnSpPr>
              <a:endCxn id="48" idx="3"/>
            </p:cNvCxnSpPr>
            <p:nvPr/>
          </p:nvCxnSpPr>
          <p:spPr>
            <a:xfrm flipH="1">
              <a:off x="6254928" y="3883936"/>
              <a:ext cx="607728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/>
            <p:cNvSpPr/>
            <p:nvPr/>
          </p:nvSpPr>
          <p:spPr>
            <a:xfrm>
              <a:off x="5867301" y="2651977"/>
              <a:ext cx="685799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Layout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Straight Arrow Connector 50"/>
            <p:cNvCxnSpPr>
              <a:stCxn id="50" idx="3"/>
            </p:cNvCxnSpPr>
            <p:nvPr/>
          </p:nvCxnSpPr>
          <p:spPr>
            <a:xfrm flipV="1">
              <a:off x="6553100" y="2683780"/>
              <a:ext cx="167315" cy="80234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Pentagon 51"/>
            <p:cNvSpPr/>
            <p:nvPr/>
          </p:nvSpPr>
          <p:spPr>
            <a:xfrm>
              <a:off x="2588678" y="3408838"/>
              <a:ext cx="1828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ID3D11InputLayout</a:t>
              </a:r>
            </a:p>
          </p:txBody>
        </p:sp>
        <p:cxnSp>
          <p:nvCxnSpPr>
            <p:cNvPr id="53" name="Straight Connector 52"/>
            <p:cNvCxnSpPr>
              <a:stCxn id="52" idx="3"/>
              <a:endCxn id="50" idx="1"/>
            </p:cNvCxnSpPr>
            <p:nvPr/>
          </p:nvCxnSpPr>
          <p:spPr>
            <a:xfrm flipV="1">
              <a:off x="4417478" y="2764014"/>
              <a:ext cx="1449823" cy="756861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381000" y="3395320"/>
              <a:ext cx="1464247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mpVertexLayout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55" name="Straight Arrow Connector 54"/>
            <p:cNvCxnSpPr>
              <a:stCxn id="54" idx="3"/>
              <a:endCxn id="52" idx="1"/>
            </p:cNvCxnSpPr>
            <p:nvPr/>
          </p:nvCxnSpPr>
          <p:spPr>
            <a:xfrm>
              <a:off x="1845247" y="3514116"/>
              <a:ext cx="743431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Pentagon 55"/>
            <p:cNvSpPr/>
            <p:nvPr/>
          </p:nvSpPr>
          <p:spPr>
            <a:xfrm>
              <a:off x="2588678" y="3787890"/>
              <a:ext cx="1828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ID3D11VertexShader</a:t>
              </a:r>
            </a:p>
          </p:txBody>
        </p:sp>
        <p:cxnSp>
          <p:nvCxnSpPr>
            <p:cNvPr id="57" name="Straight Connector 56"/>
            <p:cNvCxnSpPr>
              <a:stCxn id="56" idx="3"/>
              <a:endCxn id="46" idx="1"/>
            </p:cNvCxnSpPr>
            <p:nvPr/>
          </p:nvCxnSpPr>
          <p:spPr>
            <a:xfrm flipV="1">
              <a:off x="4417478" y="3045737"/>
              <a:ext cx="1449922" cy="85419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/>
            <p:cNvSpPr/>
            <p:nvPr/>
          </p:nvSpPr>
          <p:spPr>
            <a:xfrm>
              <a:off x="381000" y="3774372"/>
              <a:ext cx="1464247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mpVertexShader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59" name="Straight Arrow Connector 58"/>
            <p:cNvCxnSpPr>
              <a:stCxn id="58" idx="3"/>
              <a:endCxn id="56" idx="1"/>
            </p:cNvCxnSpPr>
            <p:nvPr/>
          </p:nvCxnSpPr>
          <p:spPr>
            <a:xfrm>
              <a:off x="1845247" y="3893168"/>
              <a:ext cx="743431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Pentagon 59"/>
            <p:cNvSpPr/>
            <p:nvPr/>
          </p:nvSpPr>
          <p:spPr>
            <a:xfrm>
              <a:off x="2588678" y="4168890"/>
              <a:ext cx="1828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ID3D11PixelShader</a:t>
              </a:r>
            </a:p>
          </p:txBody>
        </p:sp>
        <p:cxnSp>
          <p:nvCxnSpPr>
            <p:cNvPr id="61" name="Straight Connector 60"/>
            <p:cNvCxnSpPr>
              <a:stCxn id="60" idx="3"/>
              <a:endCxn id="48" idx="1"/>
            </p:cNvCxnSpPr>
            <p:nvPr/>
          </p:nvCxnSpPr>
          <p:spPr>
            <a:xfrm flipV="1">
              <a:off x="4417478" y="3883937"/>
              <a:ext cx="1441877" cy="39699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381000" y="4155372"/>
              <a:ext cx="1464247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mpPixelShader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63" name="Straight Arrow Connector 62"/>
            <p:cNvCxnSpPr>
              <a:stCxn id="62" idx="3"/>
              <a:endCxn id="60" idx="1"/>
            </p:cNvCxnSpPr>
            <p:nvPr/>
          </p:nvCxnSpPr>
          <p:spPr>
            <a:xfrm>
              <a:off x="1845247" y="4274168"/>
              <a:ext cx="743431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684706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Learned a </a:t>
            </a:r>
            <a:r>
              <a:rPr lang="en-US" dirty="0" smtClean="0"/>
              <a:t>Lot!  (</a:t>
            </a:r>
            <a:r>
              <a:rPr lang="en-US" i="1" dirty="0" smtClean="0"/>
              <a:t>Much left to do…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 hope that by now you have a much better grasp of graphic environments.</a:t>
            </a:r>
          </a:p>
          <a:p>
            <a:pPr marL="0" indent="0">
              <a:buNone/>
            </a:pPr>
            <a:r>
              <a:rPr lang="en-US" sz="2000" dirty="0"/>
              <a:t>We have covered a </a:t>
            </a:r>
            <a:r>
              <a:rPr lang="en-US" sz="2000" i="1" dirty="0"/>
              <a:t>lot</a:t>
            </a:r>
            <a:r>
              <a:rPr lang="en-US" sz="2000" dirty="0"/>
              <a:t> of </a:t>
            </a:r>
            <a:r>
              <a:rPr lang="en-US" sz="2000" dirty="0" smtClean="0"/>
              <a:t>ground </a:t>
            </a:r>
            <a:r>
              <a:rPr lang="en-US" sz="2000" dirty="0"/>
              <a:t>in 3 </a:t>
            </a:r>
            <a:r>
              <a:rPr lang="en-US" sz="2000" dirty="0" smtClean="0"/>
              <a:t>weeks</a:t>
            </a:r>
            <a:endParaRPr lang="en-US" sz="20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Unfortunately, </a:t>
            </a:r>
            <a:r>
              <a:rPr lang="en-US" sz="2000" dirty="0" smtClean="0"/>
              <a:t>the code </a:t>
            </a:r>
            <a:r>
              <a:rPr lang="en-US" sz="2000" dirty="0" err="1" smtClean="0"/>
              <a:t>DXApp</a:t>
            </a:r>
            <a:r>
              <a:rPr lang="en-US" sz="2000" dirty="0" smtClean="0"/>
              <a:t> </a:t>
            </a:r>
            <a:r>
              <a:rPr lang="en-US" sz="2000" dirty="0" smtClean="0"/>
              <a:t>is becoming far too unwieldly to use: </a:t>
            </a:r>
          </a:p>
          <a:p>
            <a:pPr marL="461963" lvl="1" indent="-188913"/>
            <a:r>
              <a:rPr lang="en-US" sz="1800" dirty="0" smtClean="0"/>
              <a:t>One file with 545 lines of code is horrible…</a:t>
            </a:r>
          </a:p>
          <a:p>
            <a:pPr marL="461963" lvl="1" indent="-188913"/>
            <a:r>
              <a:rPr lang="en-US" sz="1800" dirty="0" smtClean="0"/>
              <a:t>Any </a:t>
            </a:r>
            <a:r>
              <a:rPr lang="en-US" sz="1800" dirty="0" smtClean="0"/>
              <a:t>attempt at a complex scene would create a giant mess impossible to debug</a:t>
            </a:r>
          </a:p>
          <a:p>
            <a:pPr marL="461963" lvl="1" indent="-188913"/>
            <a:r>
              <a:rPr lang="en-US" sz="1800" dirty="0" smtClean="0"/>
              <a:t>Even with a single-object-per-scene, the code is unpleasant to work with.</a:t>
            </a:r>
          </a:p>
          <a:p>
            <a:pPr marL="461963" lvl="1" indent="-188913"/>
            <a:r>
              <a:rPr lang="en-US" sz="1800" dirty="0" smtClean="0"/>
              <a:t>Adding the new materials such as texturing, lighting, multi-mesh models, etc. will just make the situation worse.</a:t>
            </a:r>
          </a:p>
          <a:p>
            <a:pPr marL="461963" lvl="1" indent="-188913"/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Therefore: </a:t>
            </a:r>
            <a:r>
              <a:rPr lang="en-US" sz="2000" dirty="0" smtClean="0"/>
              <a:t>we now begin the process of ‘cleaning up’ </a:t>
            </a:r>
            <a:r>
              <a:rPr lang="en-US" sz="2000" dirty="0" err="1" smtClean="0"/>
              <a:t>DXApp</a:t>
            </a:r>
            <a:endParaRPr lang="en-US" sz="2000" dirty="0" smtClean="0"/>
          </a:p>
          <a:p>
            <a:pPr marL="461963" lvl="1" indent="-188913"/>
            <a:r>
              <a:rPr lang="en-US" sz="1800" dirty="0" smtClean="0"/>
              <a:t>We’ll start with a few simple </a:t>
            </a:r>
            <a:r>
              <a:rPr lang="en-US" sz="1800" dirty="0" smtClean="0"/>
              <a:t>classes </a:t>
            </a:r>
            <a:r>
              <a:rPr lang="en-US" sz="1800" dirty="0" smtClean="0"/>
              <a:t>to encapsulate data and related operations</a:t>
            </a:r>
          </a:p>
          <a:p>
            <a:pPr marL="461963" lvl="1" indent="-188913"/>
            <a:r>
              <a:rPr lang="en-US" sz="1800" dirty="0" smtClean="0"/>
              <a:t>At first, I will usually give you partial code for these classes, but you will build them up over time (homework)</a:t>
            </a:r>
          </a:p>
          <a:p>
            <a:pPr marL="461963" lvl="1" indent="-188913"/>
            <a:r>
              <a:rPr lang="en-US" sz="1800" dirty="0" smtClean="0"/>
              <a:t>You’re welcome to add your own code organization as you see fit.</a:t>
            </a:r>
          </a:p>
          <a:p>
            <a:pPr marL="461963" lvl="1" indent="-188913"/>
            <a:r>
              <a:rPr lang="en-US" sz="1800" dirty="0" smtClean="0"/>
              <a:t>This work will build the components needed for the final project.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9846307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Up: Model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Looking at </a:t>
            </a:r>
            <a:r>
              <a:rPr lang="en-US" sz="2000" dirty="0" err="1" smtClean="0"/>
              <a:t>DXApp</a:t>
            </a:r>
            <a:r>
              <a:rPr lang="en-US" sz="2000" dirty="0" smtClean="0"/>
              <a:t>, what ‘stuff’ do we want to encapsulate into a ‘Model’?</a:t>
            </a:r>
          </a:p>
          <a:p>
            <a:pPr marL="461963" lvl="1" indent="-188913"/>
            <a:r>
              <a:rPr lang="en-US" sz="1800" dirty="0" smtClean="0"/>
              <a:t>Vertices and indices</a:t>
            </a:r>
          </a:p>
          <a:p>
            <a:pPr marL="461963" lvl="1" indent="-188913"/>
            <a:r>
              <a:rPr lang="en-US" sz="1800" dirty="0" smtClean="0"/>
              <a:t>Handles for vertex </a:t>
            </a:r>
            <a:r>
              <a:rPr lang="en-US" sz="1800" dirty="0" smtClean="0"/>
              <a:t>and </a:t>
            </a:r>
            <a:r>
              <a:rPr lang="en-US" sz="1800" dirty="0" smtClean="0"/>
              <a:t>index </a:t>
            </a:r>
            <a:r>
              <a:rPr lang="en-US" sz="1800" dirty="0" smtClean="0"/>
              <a:t>buffers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What operations/services do we want for a ‘Model’?</a:t>
            </a:r>
            <a:endParaRPr lang="en-US" sz="2000" dirty="0"/>
          </a:p>
          <a:p>
            <a:pPr marL="461963" lvl="1" indent="-188913"/>
            <a:r>
              <a:rPr lang="en-US" sz="1800" dirty="0" smtClean="0"/>
              <a:t>Construction: either passing in the vertices and indices or having pre-made models</a:t>
            </a:r>
          </a:p>
          <a:p>
            <a:pPr marL="461963" lvl="1" indent="-188913"/>
            <a:r>
              <a:rPr lang="en-US" sz="1800" dirty="0" smtClean="0"/>
              <a:t>Connect the buffers to the pipeline</a:t>
            </a:r>
          </a:p>
          <a:p>
            <a:pPr marL="461963" lvl="1" indent="-188913"/>
            <a:r>
              <a:rPr lang="en-US" sz="1800" dirty="0" smtClean="0"/>
              <a:t>Call the </a:t>
            </a:r>
            <a:r>
              <a:rPr lang="en-US" sz="1800" dirty="0" err="1" smtClean="0"/>
              <a:t>DrawIndexed</a:t>
            </a:r>
            <a:r>
              <a:rPr lang="en-US" sz="1800" dirty="0" smtClean="0"/>
              <a:t> command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1600200" y="4343400"/>
            <a:ext cx="5791200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good enough to start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We’ll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adding more features to the Model class over time. </a:t>
            </a:r>
          </a:p>
        </p:txBody>
      </p:sp>
    </p:spTree>
    <p:extLst>
      <p:ext uri="{BB962C8B-B14F-4D97-AF65-F5344CB8AC3E}">
        <p14:creationId xmlns:p14="http://schemas.microsoft.com/office/powerpoint/2010/main" val="423534713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Standardizing Vertices and Indices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Having too many format for vertices and indices across multiple models will quickly get messy. We need to standardize: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52400" y="2034094"/>
            <a:ext cx="5105400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Align16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set(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1,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_g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1,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1)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s-ES" sz="1100" dirty="0" smtClean="0">
                <a:solidFill>
                  <a:srgbClr val="000000"/>
                </a:solidFill>
                <a:latin typeface="Consolas"/>
              </a:rPr>
              <a:t>      Pos </a:t>
            </a:r>
            <a:r>
              <a:rPr lang="es-E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s-E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s-ES" sz="1100" dirty="0">
                <a:solidFill>
                  <a:srgbClr val="808080"/>
                </a:solidFill>
                <a:latin typeface="Consolas"/>
              </a:rPr>
              <a:t>_x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s-ES" sz="1100" dirty="0">
                <a:solidFill>
                  <a:srgbClr val="808080"/>
                </a:solidFill>
                <a:latin typeface="Consolas"/>
              </a:rPr>
              <a:t>_y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s-ES" sz="1100" dirty="0">
                <a:solidFill>
                  <a:srgbClr val="808080"/>
                </a:solidFill>
                <a:latin typeface="Consolas"/>
              </a:rPr>
              <a:t>_z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Color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_g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set(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s-ES" sz="1100" dirty="0" smtClean="0">
                <a:solidFill>
                  <a:srgbClr val="000000"/>
                </a:solidFill>
                <a:latin typeface="Consolas"/>
              </a:rPr>
              <a:t>      Pos </a:t>
            </a:r>
            <a:r>
              <a:rPr lang="es-E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s-E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s-ES" sz="1100" dirty="0">
                <a:solidFill>
                  <a:srgbClr val="808080"/>
                </a:solidFill>
                <a:latin typeface="Consolas"/>
              </a:rPr>
              <a:t>_x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s-ES" sz="1100" dirty="0">
                <a:solidFill>
                  <a:srgbClr val="808080"/>
                </a:solidFill>
                <a:latin typeface="Consolas"/>
              </a:rPr>
              <a:t>_y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s-ES" sz="1100" dirty="0">
                <a:solidFill>
                  <a:srgbClr val="808080"/>
                </a:solidFill>
                <a:latin typeface="Consolas"/>
              </a:rPr>
              <a:t>_z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Color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set(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Color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2342674"/>
            <a:ext cx="3352800" cy="47672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much different from what we’ve done, </a:t>
            </a:r>
          </a:p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we’ll add to these in the near future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75768" y="2039445"/>
            <a:ext cx="3200400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TriangleByIndex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unsigned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v0;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unsigned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v1;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unsigned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v2;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set(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_v0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_v1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_v2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v0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_v0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v1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_v1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v2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_v2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442234" y="3048000"/>
            <a:ext cx="2644366" cy="2819400"/>
            <a:chOff x="4876800" y="2971800"/>
            <a:chExt cx="2644366" cy="2819400"/>
          </a:xfrm>
        </p:grpSpPr>
        <p:sp>
          <p:nvSpPr>
            <p:cNvPr id="9" name="TextBox 8"/>
            <p:cNvSpPr txBox="1"/>
            <p:nvPr/>
          </p:nvSpPr>
          <p:spPr>
            <a:xfrm>
              <a:off x="5235166" y="4374118"/>
              <a:ext cx="2286000" cy="578882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Similarly, these accessors will be useful later</a:t>
              </a:r>
            </a:p>
          </p:txBody>
        </p:sp>
        <p:sp>
          <p:nvSpPr>
            <p:cNvPr id="10" name="Right Brace 9"/>
            <p:cNvSpPr/>
            <p:nvPr/>
          </p:nvSpPr>
          <p:spPr>
            <a:xfrm>
              <a:off x="4876800" y="2971800"/>
              <a:ext cx="304800" cy="2819400"/>
            </a:xfrm>
            <a:prstGeom prst="rightBrace">
              <a:avLst>
                <a:gd name="adj1" fmla="val 41007"/>
                <a:gd name="adj2" fmla="val 59955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620000" y="1882455"/>
            <a:ext cx="1371600" cy="95345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from ‘Word’ (16 bits) to unsigned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(32 bits)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75768" y="5204804"/>
            <a:ext cx="32004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changes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towards (eventually) being compatible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loading models from file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(later)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08624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7" grpId="0" animBg="1"/>
      <p:bldP spid="12" grpId="0" animBg="1"/>
      <p:bldP spid="13" grpId="0" animBg="1"/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the New Standard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Slight changes in how we construct the arrays of vertices and indices.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The only other difference:</a:t>
            </a:r>
          </a:p>
          <a:p>
            <a:pPr marL="457200" lvl="1" indent="0">
              <a:buNone/>
            </a:pPr>
            <a:r>
              <a:rPr lang="en-US" sz="1800" dirty="0" smtClean="0"/>
              <a:t>The index buffer needs to reflect the change from 16bit to 32bit data format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9053" y="1600200"/>
            <a:ext cx="4953000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vertices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[8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];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vertices[0].set(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-0.5f), Colors::Black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vertices[1].set(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+0.5f, -0.5f), Colors::Lime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vertices[2].set(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(+0.5f, +0.5f, -0.5f), Colors::Yellow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vertices[3].set(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(+0.5f, -0.5f, -0.5f), Colors::Red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vertices[4].set(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+0.5f), Colors::Blue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vertices[5].set(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+0.5f, +0.5f), Colors::Cyan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vertices[6].set(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(+0.5f, +0.5f, +0.5f), Colors::White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vertices[7].set(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(+0.5f, -0.5f, +0.5f), Colors::Magenta 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5066" y="1605481"/>
            <a:ext cx="4124608" cy="30623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TriangleByIndex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indices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TriangleByIndex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[12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];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indices[0].set(0, 1, 2);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indices[1].set(0, 2, 3);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back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</a:p>
          <a:p>
            <a:endParaRPr lang="en-US" sz="7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indices[2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].set(4, 6, 5);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indices[3].set(4, 7, 6);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front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</a:p>
          <a:p>
            <a:endParaRPr lang="en-US" sz="8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indices[4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].set(4, 5, 1);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indices[5].set(4, 1, 0);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right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</a:p>
          <a:p>
            <a:endParaRPr lang="en-US" sz="8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indices[6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].set(3, 2, 6);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indices[7].set(3, 6, 7);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left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</a:p>
          <a:p>
            <a:endParaRPr lang="en-US" sz="8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indices[8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].set(1, 5, 6);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indices[9].set(1, 6, 2);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top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</a:p>
          <a:p>
            <a:endParaRPr lang="en-US" sz="8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indices[10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].set(4, 0, 3);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indices[11].set(4, 3, 7);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bottom face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4921" y="5453390"/>
            <a:ext cx="627027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IASetIndexBuffer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mpIndexBuffer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DXGI_FORMAT_R32_UINT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999" y="5462915"/>
            <a:ext cx="347663" cy="25208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>
                <a:alpha val="32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0337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</a:t>
            </a:r>
            <a:r>
              <a:rPr lang="en-US" dirty="0" err="1" smtClean="0"/>
              <a:t>Ctor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Providing the Verts and Indices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A Model constructor should allow to pass in the verts and indices: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1676400"/>
            <a:ext cx="4953000" cy="161582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B050"/>
                </a:solidFill>
                <a:latin typeface="Consolas"/>
              </a:rPr>
              <a:t>// in </a:t>
            </a:r>
            <a:r>
              <a:rPr lang="en-US" sz="1100" dirty="0" err="1" smtClean="0">
                <a:solidFill>
                  <a:srgbClr val="00B050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B05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B05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B050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vertices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[8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];</a:t>
            </a:r>
          </a:p>
          <a:p>
            <a:r>
              <a:rPr lang="en-US" sz="1100" b="1" dirty="0" smtClean="0">
                <a:solidFill>
                  <a:srgbClr val="00B050"/>
                </a:solidFill>
                <a:latin typeface="Consolas"/>
              </a:rPr>
              <a:t>&lt;</a:t>
            </a:r>
            <a:r>
              <a:rPr lang="en-US" sz="1100" b="1" dirty="0" err="1" smtClean="0">
                <a:solidFill>
                  <a:srgbClr val="00B050"/>
                </a:solidFill>
                <a:latin typeface="Consolas"/>
              </a:rPr>
              <a:t>init</a:t>
            </a:r>
            <a:r>
              <a:rPr lang="en-US" sz="1100" b="1" dirty="0" smtClean="0">
                <a:solidFill>
                  <a:srgbClr val="00B050"/>
                </a:solidFill>
                <a:latin typeface="Consolas"/>
              </a:rPr>
              <a:t> array&gt;</a:t>
            </a:r>
            <a:endParaRPr lang="en-US" sz="1100" b="1" dirty="0">
              <a:solidFill>
                <a:srgbClr val="00B050"/>
              </a:solidFill>
              <a:latin typeface="Consolas"/>
            </a:endParaRP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pPr lvl="0"/>
            <a:r>
              <a:rPr lang="en-US" sz="1100" dirty="0" err="1">
                <a:solidFill>
                  <a:srgbClr val="2B91AF"/>
                </a:solidFill>
                <a:latin typeface="Consolas"/>
              </a:rPr>
              <a:t>TriangleByIndex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indices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TriangleByIndex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[12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];</a:t>
            </a:r>
          </a:p>
          <a:p>
            <a:r>
              <a:rPr lang="en-US" sz="1100" b="1" dirty="0">
                <a:solidFill>
                  <a:srgbClr val="00B050"/>
                </a:solidFill>
                <a:latin typeface="Consolas"/>
              </a:rPr>
              <a:t>&lt;</a:t>
            </a:r>
            <a:r>
              <a:rPr lang="en-US" sz="1100" b="1" dirty="0" err="1">
                <a:solidFill>
                  <a:srgbClr val="00B050"/>
                </a:solidFill>
                <a:latin typeface="Consolas"/>
              </a:rPr>
              <a:t>init</a:t>
            </a:r>
            <a:r>
              <a:rPr lang="en-US" sz="1100" b="1" dirty="0">
                <a:solidFill>
                  <a:srgbClr val="00B050"/>
                </a:solidFill>
                <a:latin typeface="Consolas"/>
              </a:rPr>
              <a:t> array&gt;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pModel1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(md3dDevice, vertices, 8, indices, 12);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581400"/>
            <a:ext cx="48768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B050"/>
                </a:solidFill>
                <a:latin typeface="Consolas"/>
              </a:rPr>
              <a:t>// in </a:t>
            </a:r>
            <a:r>
              <a:rPr lang="en-US" sz="1100" dirty="0" err="1" smtClean="0">
                <a:solidFill>
                  <a:srgbClr val="00B050"/>
                </a:solidFill>
                <a:latin typeface="Consolas"/>
              </a:rPr>
              <a:t>DXApp</a:t>
            </a:r>
            <a:r>
              <a:rPr lang="en-US" sz="1100" dirty="0" smtClean="0">
                <a:solidFill>
                  <a:srgbClr val="00B05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B050"/>
                </a:solidFill>
                <a:latin typeface="Consolas"/>
              </a:rPr>
              <a:t>DrawScene</a:t>
            </a:r>
            <a:endParaRPr lang="en-US" sz="1100" dirty="0" smtClean="0">
              <a:solidFill>
                <a:srgbClr val="00B050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//md3dImmediateContext-&gt;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DrawIndexed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(3*12, 0, 0); 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0" y="2253377"/>
            <a:ext cx="3048000" cy="132802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of course, Model handles all the work related to vertex and index buffers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(see code)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95400" y="4724400"/>
            <a:ext cx="6324600" cy="132802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class does </a:t>
            </a:r>
            <a:r>
              <a:rPr lang="en-US" sz="16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deal with things like world matrix,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or even the camera matrices (or their associated buffers).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classes will deal with those, eventually giving us the ability to have a proper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 object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able to juggle all these.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00009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Ctor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Using Pre-Made Models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It’s convenient to have some premade shapes. Typically, unit boxes and spheres are very useful either for testing/debug or visualization.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1905000"/>
            <a:ext cx="5562600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B050"/>
                </a:solidFill>
                <a:latin typeface="Consolas"/>
              </a:rPr>
              <a:t>// in </a:t>
            </a:r>
            <a:r>
              <a:rPr lang="en-US" sz="1100" dirty="0" err="1" smtClean="0">
                <a:solidFill>
                  <a:srgbClr val="00B050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B05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B05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B050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b="1" dirty="0" smtClean="0">
                <a:solidFill>
                  <a:srgbClr val="00B050"/>
                </a:solidFill>
                <a:latin typeface="Consolas"/>
              </a:rPr>
              <a:t>&lt;no arrays&gt;</a:t>
            </a:r>
            <a:endParaRPr lang="en-US" sz="1100" b="1" dirty="0">
              <a:solidFill>
                <a:srgbClr val="00B050"/>
              </a:solidFill>
              <a:latin typeface="Consolas"/>
            </a:endParaRP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pModel1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PreMadedeModels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895600"/>
            <a:ext cx="6858000" cy="38164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B050"/>
                </a:solidFill>
                <a:latin typeface="Consolas"/>
              </a:rPr>
              <a:t>// in </a:t>
            </a:r>
            <a:r>
              <a:rPr lang="en-US" sz="1100" dirty="0" err="1" smtClean="0">
                <a:solidFill>
                  <a:srgbClr val="00B050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B050"/>
                </a:solidFill>
                <a:latin typeface="Consolas"/>
              </a:rPr>
              <a:t>::</a:t>
            </a:r>
            <a:r>
              <a:rPr lang="en-US" sz="1100" dirty="0" err="1" smtClean="0">
                <a:solidFill>
                  <a:srgbClr val="00B050"/>
                </a:solidFill>
                <a:latin typeface="Consolas"/>
              </a:rPr>
              <a:t>InitDemo</a:t>
            </a:r>
            <a:endParaRPr lang="en-US" sz="1100" dirty="0" smtClean="0">
              <a:solidFill>
                <a:srgbClr val="00B050"/>
              </a:solidFill>
              <a:latin typeface="Consolas"/>
            </a:endParaRPr>
          </a:p>
          <a:p>
            <a:endParaRPr lang="en-US" sz="1100" dirty="0" smtClean="0">
              <a:solidFill>
                <a:srgbClr val="00B05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::Model(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dev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PreMadedeModels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pm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switch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pm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case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ModelTools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CreateUnitBox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pStdVerts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numVerts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pTriList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numTris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  break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case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UnitPyramid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   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ModelTools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CreateUnitPyramid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pStdVerts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numVerts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pTriList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numTris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   //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break;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case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UnitSphere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   //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ModelTools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CreateUnitSphere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(12, 12,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pStdVerts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numVerts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pTriList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numTris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   //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break;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6F008A"/>
                </a:solidFill>
                <a:latin typeface="Consolas"/>
              </a:rPr>
              <a:t>      assert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false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&amp;&amp;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"Invalid option"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privLoadDataToGPU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975858"/>
            <a:ext cx="2971800" cy="3048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tlCol="0">
            <a:no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Guess what’s in your homework?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104194"/>
            <a:ext cx="1188720" cy="105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740" y="3200400"/>
            <a:ext cx="1089660" cy="105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30" y="5486400"/>
            <a:ext cx="1227764" cy="104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138857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Model: </a:t>
            </a:r>
            <a:br>
              <a:rPr lang="en-US" dirty="0" smtClean="0"/>
            </a:br>
            <a:r>
              <a:rPr lang="en-US" dirty="0" smtClean="0"/>
              <a:t>Benefits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Thanks to the Model class:</a:t>
            </a:r>
          </a:p>
          <a:p>
            <a:pPr marL="461963" lvl="1" indent="-188913"/>
            <a:r>
              <a:rPr lang="en-US" sz="1800" dirty="0" smtClean="0"/>
              <a:t>We cut down on 60+ lines of code in </a:t>
            </a:r>
            <a:r>
              <a:rPr lang="en-US" sz="1800" dirty="0" err="1" smtClean="0"/>
              <a:t>DXApp</a:t>
            </a:r>
            <a:endParaRPr lang="en-US" sz="1800" dirty="0" smtClean="0"/>
          </a:p>
          <a:p>
            <a:pPr marL="461963" lvl="1" indent="-188913"/>
            <a:r>
              <a:rPr lang="en-US" sz="1800" dirty="0" smtClean="0"/>
              <a:t>Removed two handles (per model) that we don’t need to deal with</a:t>
            </a:r>
          </a:p>
          <a:p>
            <a:pPr marL="461963" lvl="1" indent="-188913"/>
            <a:r>
              <a:rPr lang="en-US" sz="1800" dirty="0" smtClean="0"/>
              <a:t>We can easily create models ‘by hand’ by passing in the arrays of </a:t>
            </a:r>
            <a:r>
              <a:rPr lang="en-US" sz="1800" dirty="0" smtClean="0"/>
              <a:t>verts </a:t>
            </a:r>
            <a:r>
              <a:rPr lang="en-US" sz="1800" dirty="0" smtClean="0"/>
              <a:t>and indices</a:t>
            </a:r>
          </a:p>
          <a:p>
            <a:pPr marL="461963" lvl="1" indent="-188913"/>
            <a:r>
              <a:rPr lang="en-US" sz="1800" dirty="0" smtClean="0"/>
              <a:t>The premade models will simplify testing and demos</a:t>
            </a:r>
          </a:p>
          <a:p>
            <a:pPr marL="461963" lvl="1" indent="-188913"/>
            <a:endParaRPr lang="en-US" sz="1800" dirty="0"/>
          </a:p>
          <a:p>
            <a:pPr marL="0" indent="0">
              <a:buNone/>
            </a:pPr>
            <a:r>
              <a:rPr lang="en-US" sz="2000" dirty="0" smtClean="0"/>
              <a:t>The Model class will be improved over the next few weeks (and as par of your own homework)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In the coming weeks, we’ll continue the code clean-up as we learn more aspect of graphic environments.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0174401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43811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1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70C0"/>
      </a:hlink>
      <a:folHlink>
        <a:srgbClr val="638BAD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33905</TotalTime>
  <Words>6541</Words>
  <Application>Microsoft Office PowerPoint</Application>
  <PresentationFormat>On-screen Show (4:3)</PresentationFormat>
  <Paragraphs>1169</Paragraphs>
  <Slides>52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Origin</vt:lpstr>
      <vt:lpstr>GAM 370/470:  Rendering and Graphics Programming</vt:lpstr>
      <vt:lpstr>PowerPoint Presentation</vt:lpstr>
      <vt:lpstr>Moving to 3D Finally? Almost…</vt:lpstr>
      <vt:lpstr>A 3D Colored Pyramid</vt:lpstr>
      <vt:lpstr>PowerPoint Presentation</vt:lpstr>
      <vt:lpstr>Matrix and Vector Classes</vt:lpstr>
      <vt:lpstr>Vect Common Functions</vt:lpstr>
      <vt:lpstr>Matrix Common Functions</vt:lpstr>
      <vt:lpstr>HLSL Vectors and Matrices</vt:lpstr>
      <vt:lpstr>PowerPoint Presentation</vt:lpstr>
      <vt:lpstr>Camera Class</vt:lpstr>
      <vt:lpstr>Camera Class</vt:lpstr>
      <vt:lpstr>DXApp Demo</vt:lpstr>
      <vt:lpstr>PowerPoint Presentation</vt:lpstr>
      <vt:lpstr>Vertex Shader &amp; Matrices</vt:lpstr>
      <vt:lpstr>Constant Buffers for Matrices</vt:lpstr>
      <vt:lpstr>Constant Buffers for Matrices</vt:lpstr>
      <vt:lpstr>Constant Buffers for Matrices</vt:lpstr>
      <vt:lpstr>Constant Buffers for Matrices</vt:lpstr>
      <vt:lpstr>Constant Buffers for Matrices</vt:lpstr>
      <vt:lpstr>Constant Buffers for Matrices</vt:lpstr>
      <vt:lpstr>PowerPoint Presentation</vt:lpstr>
      <vt:lpstr>Colored Cube</vt:lpstr>
      <vt:lpstr>Depth Buffering (aka z-buffering): The Olden Days…</vt:lpstr>
      <vt:lpstr>Depth Buffering (aka z-buffering): The Olden Days… Until…</vt:lpstr>
      <vt:lpstr>Depth Buffer Evolution: Stencil Buffer</vt:lpstr>
      <vt:lpstr>Stenciling</vt:lpstr>
      <vt:lpstr>Basic, No-Frills Z-Buffer</vt:lpstr>
      <vt:lpstr>Basic, No-Frills Z-Buffer</vt:lpstr>
      <vt:lpstr>PowerPoint Presentation</vt:lpstr>
      <vt:lpstr>Back to Constant Buffers and  Updating Data</vt:lpstr>
      <vt:lpstr>Order of Operations…</vt:lpstr>
      <vt:lpstr>Moving Data Around</vt:lpstr>
      <vt:lpstr>Constant Buffers and  Data Update Frequency</vt:lpstr>
      <vt:lpstr>Improving the ColorSelected Shader</vt:lpstr>
      <vt:lpstr>Shader Constants and  Registers</vt:lpstr>
      <vt:lpstr>Using the ColorSelected3D Shader</vt:lpstr>
      <vt:lpstr>Connecting Constant Buffers with  Shader constants</vt:lpstr>
      <vt:lpstr>Rendering Two Pyramids</vt:lpstr>
      <vt:lpstr>Managing The Pipeline</vt:lpstr>
      <vt:lpstr>Managing The Pipeline:  Options</vt:lpstr>
      <vt:lpstr>Managing The Pipeline:  Option Selected</vt:lpstr>
      <vt:lpstr>PowerPoint Presentation</vt:lpstr>
      <vt:lpstr>We Learned a Lot!</vt:lpstr>
      <vt:lpstr>We Learned a Lot!  (Much left to do…)</vt:lpstr>
      <vt:lpstr>First Up: Model</vt:lpstr>
      <vt:lpstr>Standardizing Vertices and Indices</vt:lpstr>
      <vt:lpstr>Using the New Standard </vt:lpstr>
      <vt:lpstr>Model Ctor:  Providing the Verts and Indices</vt:lpstr>
      <vt:lpstr>Model Ctor: Using Pre-Made Models</vt:lpstr>
      <vt:lpstr>Model:  Benefits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</dc:creator>
  <cp:lastModifiedBy>andre</cp:lastModifiedBy>
  <cp:revision>1093</cp:revision>
  <dcterms:created xsi:type="dcterms:W3CDTF">2013-03-17T23:02:21Z</dcterms:created>
  <dcterms:modified xsi:type="dcterms:W3CDTF">2018-01-17T23:48:17Z</dcterms:modified>
</cp:coreProperties>
</file>