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notesMasterIdLst>
    <p:notesMasterId r:id="rId105"/>
  </p:notesMasterIdLst>
  <p:handoutMasterIdLst>
    <p:handoutMasterId r:id="rId106"/>
  </p:handoutMasterIdLst>
  <p:sldIdLst>
    <p:sldId id="542" r:id="rId3"/>
    <p:sldId id="1085" r:id="rId4"/>
    <p:sldId id="1629" r:id="rId5"/>
    <p:sldId id="1630" r:id="rId6"/>
    <p:sldId id="1631" r:id="rId7"/>
    <p:sldId id="1632" r:id="rId8"/>
    <p:sldId id="1633" r:id="rId9"/>
    <p:sldId id="1634" r:id="rId10"/>
    <p:sldId id="1635" r:id="rId11"/>
    <p:sldId id="1636" r:id="rId12"/>
    <p:sldId id="1637" r:id="rId13"/>
    <p:sldId id="1638" r:id="rId14"/>
    <p:sldId id="1639" r:id="rId15"/>
    <p:sldId id="1640" r:id="rId16"/>
    <p:sldId id="1641" r:id="rId17"/>
    <p:sldId id="1642" r:id="rId18"/>
    <p:sldId id="1728" r:id="rId19"/>
    <p:sldId id="1644" r:id="rId20"/>
    <p:sldId id="1645" r:id="rId21"/>
    <p:sldId id="1646" r:id="rId22"/>
    <p:sldId id="1647" r:id="rId23"/>
    <p:sldId id="1648" r:id="rId24"/>
    <p:sldId id="1649" r:id="rId25"/>
    <p:sldId id="1650" r:id="rId26"/>
    <p:sldId id="1651" r:id="rId27"/>
    <p:sldId id="1652" r:id="rId28"/>
    <p:sldId id="1653" r:id="rId29"/>
    <p:sldId id="1654" r:id="rId30"/>
    <p:sldId id="1655" r:id="rId31"/>
    <p:sldId id="1729" r:id="rId32"/>
    <p:sldId id="1658" r:id="rId33"/>
    <p:sldId id="1659" r:id="rId34"/>
    <p:sldId id="1660" r:id="rId35"/>
    <p:sldId id="1661" r:id="rId36"/>
    <p:sldId id="1662" r:id="rId37"/>
    <p:sldId id="1730" r:id="rId38"/>
    <p:sldId id="1664" r:id="rId39"/>
    <p:sldId id="1665" r:id="rId40"/>
    <p:sldId id="1666" r:id="rId41"/>
    <p:sldId id="1667" r:id="rId42"/>
    <p:sldId id="1668" r:id="rId43"/>
    <p:sldId id="1669" r:id="rId44"/>
    <p:sldId id="1670" r:id="rId45"/>
    <p:sldId id="1671" r:id="rId46"/>
    <p:sldId id="1672" r:id="rId47"/>
    <p:sldId id="1673" r:id="rId48"/>
    <p:sldId id="1731" r:id="rId49"/>
    <p:sldId id="1675" r:id="rId50"/>
    <p:sldId id="1676" r:id="rId51"/>
    <p:sldId id="1677" r:id="rId52"/>
    <p:sldId id="1678" r:id="rId53"/>
    <p:sldId id="1679" r:id="rId54"/>
    <p:sldId id="1680" r:id="rId55"/>
    <p:sldId id="1681" r:id="rId56"/>
    <p:sldId id="1682" r:id="rId57"/>
    <p:sldId id="1683" r:id="rId58"/>
    <p:sldId id="1684" r:id="rId59"/>
    <p:sldId id="1685" r:id="rId60"/>
    <p:sldId id="1686" r:id="rId61"/>
    <p:sldId id="1602" r:id="rId62"/>
    <p:sldId id="1732" r:id="rId63"/>
    <p:sldId id="1687" r:id="rId64"/>
    <p:sldId id="1733" r:id="rId65"/>
    <p:sldId id="1689" r:id="rId66"/>
    <p:sldId id="1690" r:id="rId67"/>
    <p:sldId id="1691" r:id="rId68"/>
    <p:sldId id="1692" r:id="rId69"/>
    <p:sldId id="1735" r:id="rId70"/>
    <p:sldId id="1694" r:id="rId71"/>
    <p:sldId id="1695" r:id="rId72"/>
    <p:sldId id="1696" r:id="rId73"/>
    <p:sldId id="1697" r:id="rId74"/>
    <p:sldId id="1698" r:id="rId75"/>
    <p:sldId id="1699" r:id="rId76"/>
    <p:sldId id="1700" r:id="rId77"/>
    <p:sldId id="1701" r:id="rId78"/>
    <p:sldId id="1702" r:id="rId79"/>
    <p:sldId id="1703" r:id="rId80"/>
    <p:sldId id="1704" r:id="rId81"/>
    <p:sldId id="1734" r:id="rId82"/>
    <p:sldId id="1706" r:id="rId83"/>
    <p:sldId id="1707" r:id="rId84"/>
    <p:sldId id="1708" r:id="rId85"/>
    <p:sldId id="1736" r:id="rId86"/>
    <p:sldId id="1710" r:id="rId87"/>
    <p:sldId id="1712" r:id="rId88"/>
    <p:sldId id="1713" r:id="rId89"/>
    <p:sldId id="1714" r:id="rId90"/>
    <p:sldId id="1715" r:id="rId91"/>
    <p:sldId id="1716" r:id="rId92"/>
    <p:sldId id="1717" r:id="rId93"/>
    <p:sldId id="1718" r:id="rId94"/>
    <p:sldId id="1719" r:id="rId95"/>
    <p:sldId id="1720" r:id="rId96"/>
    <p:sldId id="1721" r:id="rId97"/>
    <p:sldId id="1722" r:id="rId98"/>
    <p:sldId id="1723" r:id="rId99"/>
    <p:sldId id="1724" r:id="rId100"/>
    <p:sldId id="1725" r:id="rId101"/>
    <p:sldId id="1726" r:id="rId102"/>
    <p:sldId id="1727" r:id="rId103"/>
    <p:sldId id="1627" r:id="rId104"/>
  </p:sldIdLst>
  <p:sldSz cx="9144000" cy="6858000" type="screen4x3"/>
  <p:notesSz cx="7302500" cy="9586913"/>
  <p:custDataLst>
    <p:tags r:id="rId10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72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FF5"/>
    <a:srgbClr val="E0E0E0"/>
    <a:srgbClr val="FFFFFF"/>
    <a:srgbClr val="FCFCFC"/>
    <a:srgbClr val="DF9F98"/>
    <a:srgbClr val="D6CDEE"/>
    <a:srgbClr val="F7F5CD"/>
    <a:srgbClr val="FFABAA"/>
    <a:srgbClr val="000000"/>
    <a:srgbClr val="B2E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1" autoAdjust="0"/>
    <p:restoredTop sz="94649" autoAdjust="0"/>
  </p:normalViewPr>
  <p:slideViewPr>
    <p:cSldViewPr snapToGrid="0" snapToObjects="1">
      <p:cViewPr varScale="1">
        <p:scale>
          <a:sx n="91" d="100"/>
          <a:sy n="91" d="100"/>
        </p:scale>
        <p:origin x="-1576" y="-112"/>
      </p:cViewPr>
      <p:guideLst>
        <p:guide orient="horz" pos="172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5585"/>
    </p:cViewPr>
  </p:sorterViewPr>
  <p:notesViewPr>
    <p:cSldViewPr snapToObjects="1">
      <p:cViewPr varScale="1">
        <p:scale>
          <a:sx n="64" d="100"/>
          <a:sy n="64" d="100"/>
        </p:scale>
        <p:origin x="-3544" y="-120"/>
      </p:cViewPr>
      <p:guideLst>
        <p:guide orient="horz" pos="3019"/>
        <p:guide pos="23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notesMaster" Target="notesMasters/notesMaster1.xml"/><Relationship Id="rId106" Type="http://schemas.openxmlformats.org/officeDocument/2006/relationships/handoutMaster" Target="handoutMasters/handoutMaster1.xml"/><Relationship Id="rId107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8" Type="http://schemas.openxmlformats.org/officeDocument/2006/relationships/tags" Target="tags/tag1.xml"/><Relationship Id="rId109" Type="http://schemas.openxmlformats.org/officeDocument/2006/relationships/presProps" Target="presProp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110" Type="http://schemas.openxmlformats.org/officeDocument/2006/relationships/viewProps" Target="viewProps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11" Type="http://schemas.openxmlformats.org/officeDocument/2006/relationships/theme" Target="theme/theme1.xml"/><Relationship Id="rId112" Type="http://schemas.openxmlformats.org/officeDocument/2006/relationships/tableStyles" Target="tableStyles.xml"/><Relationship Id="rId151" Type="http://schemas.microsoft.com/office/2015/10/relationships/revisionInfo" Target="revisionInfo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100" Type="http://schemas.openxmlformats.org/officeDocument/2006/relationships/slide" Target="slides/slide98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3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28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32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64626" y="753845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699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16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145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19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29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ext Box 1"/>
          <p:cNvSpPr txBox="1">
            <a:spLocks noChangeArrowheads="1"/>
          </p:cNvSpPr>
          <p:nvPr/>
        </p:nvSpPr>
        <p:spPr bwMode="auto">
          <a:xfrm>
            <a:off x="1264660" y="726233"/>
            <a:ext cx="4774840" cy="358197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924" tIns="47462" rIns="94924" bIns="47462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0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2560" y="4554112"/>
            <a:ext cx="5357380" cy="4316406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91288" tIns="45644" rIns="91288" bIns="45644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49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20788"/>
            <a:ext cx="8305800" cy="5222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247650"/>
            <a:ext cx="8715375" cy="781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42913" y="6345238"/>
            <a:ext cx="447675" cy="395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rIns="45720" anchor="ctr">
            <a:prstTxWarp prst="textNoShape">
              <a:avLst/>
            </a:prstTxWarp>
            <a:spAutoFit/>
          </a:bodyPr>
          <a:lstStyle/>
          <a:p>
            <a:pPr algn="ctr" defTabSz="457200">
              <a:lnSpc>
                <a:spcPct val="83000"/>
              </a:lnSpc>
              <a:buClr>
                <a:srgbClr val="000066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BC07E77-5360-6D43-8AEB-E24B08212AFE}" type="slidenum">
              <a:rPr lang="en-GB" b="0">
                <a:solidFill>
                  <a:srgbClr val="000066"/>
                </a:solidFill>
                <a:latin typeface="Times New Roman" charset="0"/>
              </a:rPr>
              <a:pPr algn="ctr" defTabSz="457200">
                <a:lnSpc>
                  <a:spcPct val="83000"/>
                </a:lnSpc>
                <a:buClr>
                  <a:srgbClr val="000066"/>
                </a:buClr>
                <a:buSzPct val="100000"/>
                <a:buFont typeface="Times New Roman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‹#›</a:t>
            </a:fld>
            <a:endParaRPr lang="en-GB" b="0">
              <a:solidFill>
                <a:srgbClr val="000066"/>
              </a:solidFill>
              <a:latin typeface="Times New Roman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+mj-lt"/>
          <a:ea typeface="ＭＳ Ｐゴシック" charset="-128"/>
          <a:cs typeface="ＭＳ Ｐゴシック" charset="-128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5pPr>
      <a:lvl6pPr marL="15367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6pPr>
      <a:lvl7pPr marL="19939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7pPr>
      <a:lvl8pPr marL="24511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8pPr>
      <a:lvl9pPr marL="29083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9pPr>
    </p:titleStyle>
    <p:bodyStyle>
      <a:lvl1pPr marL="384175" indent="-384175" algn="l" defTabSz="457200" rtl="0" eaLnBrk="0" fontAlgn="base" hangingPunct="0">
        <a:lnSpc>
          <a:spcPct val="93000"/>
        </a:lnSpc>
        <a:spcBef>
          <a:spcPts val="1500"/>
        </a:spcBef>
        <a:spcAft>
          <a:spcPct val="0"/>
        </a:spcAft>
        <a:buClr>
          <a:srgbClr val="660033"/>
        </a:buClr>
        <a:buSzPct val="45000"/>
        <a:buFont typeface="Wingdings" charset="2"/>
        <a:buChar char=""/>
        <a:defRPr sz="2400" b="1">
          <a:solidFill>
            <a:srgbClr val="0033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ＭＳ Ｐゴシック" charset="-128"/>
          <a:cs typeface="ＭＳ Ｐゴシック" charset="-128"/>
        </a:defRPr>
      </a:lvl1pPr>
      <a:lvl2pPr marL="742950" indent="-246063" algn="l" defTabSz="457200" rtl="0" eaLnBrk="0" fontAlgn="base" hangingPunct="0">
        <a:lnSpc>
          <a:spcPct val="98000"/>
        </a:lnSpc>
        <a:spcBef>
          <a:spcPts val="625"/>
        </a:spcBef>
        <a:spcAft>
          <a:spcPct val="0"/>
        </a:spcAft>
        <a:buClr>
          <a:srgbClr val="660033"/>
        </a:buClr>
        <a:buSzPct val="45000"/>
        <a:buFont typeface="Wingdings" charset="2"/>
        <a:buChar char=""/>
        <a:defRPr sz="2000" b="1">
          <a:solidFill>
            <a:srgbClr val="000066"/>
          </a:solidFill>
          <a:latin typeface="+mn-lt"/>
          <a:ea typeface="ＭＳ Ｐゴシック" charset="-128"/>
        </a:defRPr>
      </a:lvl2pPr>
      <a:lvl3pPr marL="1144588" indent="-236538" algn="l" defTabSz="457200" rtl="0" eaLnBrk="0" fontAlgn="base" hangingPunct="0">
        <a:lnSpc>
          <a:spcPct val="104000"/>
        </a:lnSpc>
        <a:spcBef>
          <a:spcPts val="225"/>
        </a:spcBef>
        <a:spcAft>
          <a:spcPct val="0"/>
        </a:spcAft>
        <a:buClr>
          <a:srgbClr val="005400"/>
        </a:buClr>
        <a:buSzPct val="45000"/>
        <a:buFont typeface="Wingdings" charset="2"/>
        <a:buChar char=""/>
        <a:defRPr b="1">
          <a:solidFill>
            <a:srgbClr val="000099"/>
          </a:solidFill>
          <a:latin typeface="+mn-lt"/>
          <a:ea typeface="ＭＳ Ｐゴシック" charset="-128"/>
        </a:defRPr>
      </a:lvl3pPr>
      <a:lvl4pPr marL="1600200" indent="-228600" algn="l" defTabSz="457200" rtl="0" eaLnBrk="0" fontAlgn="base" hangingPunct="0">
        <a:lnSpc>
          <a:spcPct val="98000"/>
        </a:lnSpc>
        <a:spcBef>
          <a:spcPts val="45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b="1">
          <a:solidFill>
            <a:srgbClr val="000066"/>
          </a:solidFill>
          <a:latin typeface="+mn-lt"/>
          <a:ea typeface="ＭＳ Ｐゴシック" charset="-128"/>
        </a:defRPr>
      </a:lvl4pPr>
      <a:lvl5pPr marL="2449513" indent="-2286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5pPr>
      <a:lvl6pPr marL="29067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6pPr>
      <a:lvl7pPr marL="33639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7pPr>
      <a:lvl8pPr marL="38211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8pPr>
      <a:lvl9pPr marL="42783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csapp.cs.cmu.edu/public/code.html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631950"/>
            <a:ext cx="7772400" cy="1644650"/>
          </a:xfrm>
        </p:spPr>
        <p:txBody>
          <a:bodyPr/>
          <a:lstStyle/>
          <a:p>
            <a:pPr marL="0" lvl="0" indent="0"/>
            <a:r>
              <a:rPr lang="en-US" dirty="0" smtClean="0"/>
              <a:t>System </a:t>
            </a:r>
            <a:r>
              <a:rPr lang="en-US" dirty="0" smtClean="0"/>
              <a:t>I/</a:t>
            </a:r>
            <a:r>
              <a:rPr lang="en-US" dirty="0" smtClean="0"/>
              <a:t>O</a:t>
            </a:r>
            <a:br>
              <a:rPr lang="en-US" dirty="0" smtClean="0"/>
            </a:br>
            <a:r>
              <a:rPr lang="en-US" dirty="0" smtClean="0"/>
              <a:t>Virtual Memory Part 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2000" b="0" dirty="0"/>
              <a:t>CSC 374: Computer Systems II</a:t>
            </a:r>
            <a:br>
              <a:rPr lang="en-US" sz="2000" b="0" dirty="0"/>
            </a:br>
            <a:r>
              <a:rPr lang="en-US" sz="2000" b="0" dirty="0"/>
              <a:t>5</a:t>
            </a:r>
            <a:r>
              <a:rPr lang="en-US" sz="2000" b="0" baseline="30000" dirty="0" smtClean="0"/>
              <a:t>th</a:t>
            </a:r>
            <a:r>
              <a:rPr lang="en-US" sz="2000" b="0" dirty="0" smtClean="0"/>
              <a:t> </a:t>
            </a:r>
            <a:r>
              <a:rPr lang="en-US" sz="2000" b="0" dirty="0" smtClean="0"/>
              <a:t>Lecture</a:t>
            </a:r>
            <a:r>
              <a:rPr lang="en-US" sz="2000" b="0" dirty="0"/>
              <a:t>, January </a:t>
            </a:r>
            <a:r>
              <a:rPr lang="en-US" sz="2000" b="0" dirty="0" smtClean="0"/>
              <a:t>30</a:t>
            </a:r>
            <a:r>
              <a:rPr lang="en-US" sz="2000" b="0" dirty="0" smtClean="0"/>
              <a:t>, </a:t>
            </a:r>
            <a:r>
              <a:rPr lang="en-US" sz="2000" b="0" dirty="0"/>
              <a:t>2018</a:t>
            </a: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685800" y="4037364"/>
            <a:ext cx="7678738" cy="1752600"/>
          </a:xfrm>
        </p:spPr>
        <p:txBody>
          <a:bodyPr/>
          <a:lstStyle/>
          <a:p>
            <a:r>
              <a:rPr lang="en-US" b="1" dirty="0" smtClean="0"/>
              <a:t>Instructor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r>
              <a:rPr lang="en-US" dirty="0" smtClean="0"/>
              <a:t>Walter Martens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System IO</a:t>
            </a:r>
          </a:p>
          <a:p>
            <a:pPr lvl="1"/>
            <a:r>
              <a:rPr lang="en-US" dirty="0"/>
              <a:t>Unix I/O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Metadata, sharing, and redirection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Standard I/O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RIO (robust I/O) package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Closing 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remarks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Virtual Memory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Today: Unix I/O and C Standard I/O</a:t>
            </a:r>
            <a:endParaRPr lang="en-US" dirty="0"/>
          </a:p>
        </p:txBody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769" y="1295400"/>
            <a:ext cx="8750300" cy="1371600"/>
          </a:xfrm>
        </p:spPr>
        <p:txBody>
          <a:bodyPr/>
          <a:lstStyle/>
          <a:p>
            <a:r>
              <a:rPr lang="en-US" dirty="0" smtClean="0"/>
              <a:t>Two sets: system-</a:t>
            </a:r>
            <a:r>
              <a:rPr lang="en-US" dirty="0"/>
              <a:t>l</a:t>
            </a:r>
            <a:r>
              <a:rPr lang="en-US" dirty="0" smtClean="0"/>
              <a:t>evel and C level </a:t>
            </a:r>
          </a:p>
          <a:p>
            <a:r>
              <a:rPr lang="en-US" dirty="0" smtClean="0"/>
              <a:t>Robust I/O (RIO): 15-213 special wrappers</a:t>
            </a:r>
            <a:br>
              <a:rPr lang="en-US" dirty="0" smtClean="0"/>
            </a:br>
            <a:r>
              <a:rPr lang="en-US" dirty="0" smtClean="0"/>
              <a:t>good coding practice: </a:t>
            </a:r>
            <a:r>
              <a:rPr lang="en-US" b="0" dirty="0" smtClean="0"/>
              <a:t>handles error checking, signals, and </a:t>
            </a:r>
            <a:br>
              <a:rPr lang="en-US" b="0" dirty="0" smtClean="0"/>
            </a:br>
            <a:r>
              <a:rPr lang="en-US" b="0" dirty="0" smtClean="0"/>
              <a:t>“short counts”</a:t>
            </a:r>
            <a:endParaRPr lang="en-US" b="0" dirty="0"/>
          </a:p>
        </p:txBody>
      </p:sp>
      <p:sp>
        <p:nvSpPr>
          <p:cNvPr id="671748" name="Rectangle 4"/>
          <p:cNvSpPr>
            <a:spLocks noChangeAspect="1" noChangeArrowheads="1"/>
          </p:cNvSpPr>
          <p:nvPr/>
        </p:nvSpPr>
        <p:spPr bwMode="auto">
          <a:xfrm>
            <a:off x="2740025" y="3675063"/>
            <a:ext cx="4041775" cy="15779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71749" name="Rectangle 5"/>
          <p:cNvSpPr>
            <a:spLocks noChangeAspect="1" noChangeArrowheads="1"/>
          </p:cNvSpPr>
          <p:nvPr/>
        </p:nvSpPr>
        <p:spPr bwMode="auto">
          <a:xfrm>
            <a:off x="2740025" y="5253038"/>
            <a:ext cx="4041775" cy="685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Unix I/O functions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(accessed via system calls)</a:t>
            </a:r>
          </a:p>
        </p:txBody>
      </p:sp>
      <p:sp>
        <p:nvSpPr>
          <p:cNvPr id="671750" name="Rectangle 6"/>
          <p:cNvSpPr>
            <a:spLocks noChangeAspect="1" noChangeArrowheads="1"/>
          </p:cNvSpPr>
          <p:nvPr/>
        </p:nvSpPr>
        <p:spPr bwMode="auto">
          <a:xfrm>
            <a:off x="2741913" y="4567238"/>
            <a:ext cx="1447800" cy="685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 smtClean="0">
                <a:latin typeface="Calibri" pitchFamily="34" charset="0"/>
              </a:rPr>
              <a:t>Standard </a:t>
            </a:r>
            <a:r>
              <a:rPr lang="en-US" sz="1600" dirty="0">
                <a:latin typeface="Calibri" pitchFamily="34" charset="0"/>
              </a:rPr>
              <a:t>I/O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functions</a:t>
            </a:r>
          </a:p>
        </p:txBody>
      </p:sp>
      <p:sp>
        <p:nvSpPr>
          <p:cNvPr id="671751" name="Text Box 7"/>
          <p:cNvSpPr txBox="1">
            <a:spLocks noChangeAspect="1" noChangeArrowheads="1"/>
          </p:cNvSpPr>
          <p:nvPr/>
        </p:nvSpPr>
        <p:spPr bwMode="auto">
          <a:xfrm>
            <a:off x="3254439" y="3886200"/>
            <a:ext cx="299396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 application program</a:t>
            </a:r>
          </a:p>
        </p:txBody>
      </p:sp>
      <p:sp>
        <p:nvSpPr>
          <p:cNvPr id="671752" name="Text Box 8"/>
          <p:cNvSpPr txBox="1">
            <a:spLocks noChangeAspect="1" noChangeArrowheads="1"/>
          </p:cNvSpPr>
          <p:nvPr/>
        </p:nvSpPr>
        <p:spPr bwMode="auto">
          <a:xfrm>
            <a:off x="241300" y="3213100"/>
            <a:ext cx="1989138" cy="1816100"/>
          </a:xfrm>
          <a:prstGeom prst="rect">
            <a:avLst/>
          </a:prstGeom>
          <a:solidFill>
            <a:srgbClr val="D5F1CF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fopen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fdopen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fread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fwrite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fscanf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fprintf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sscanf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sprintf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fgets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fputs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fflush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fseek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fclose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671753" name="Text Box 9"/>
          <p:cNvSpPr txBox="1">
            <a:spLocks noChangeAspect="1" noChangeArrowheads="1"/>
          </p:cNvSpPr>
          <p:nvPr/>
        </p:nvSpPr>
        <p:spPr bwMode="auto">
          <a:xfrm>
            <a:off x="530225" y="5181600"/>
            <a:ext cx="16637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open   read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write  lseek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stat   close</a:t>
            </a:r>
          </a:p>
        </p:txBody>
      </p:sp>
      <p:sp>
        <p:nvSpPr>
          <p:cNvPr id="671754" name="Line 10"/>
          <p:cNvSpPr>
            <a:spLocks noChangeAspect="1" noChangeShapeType="1"/>
          </p:cNvSpPr>
          <p:nvPr/>
        </p:nvSpPr>
        <p:spPr bwMode="auto">
          <a:xfrm flipH="1" flipV="1">
            <a:off x="2230438" y="5602288"/>
            <a:ext cx="4746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1755" name="Text Box 11"/>
          <p:cNvSpPr txBox="1">
            <a:spLocks noChangeAspect="1" noChangeArrowheads="1"/>
          </p:cNvSpPr>
          <p:nvPr/>
        </p:nvSpPr>
        <p:spPr bwMode="auto">
          <a:xfrm>
            <a:off x="7150100" y="4252913"/>
            <a:ext cx="1841500" cy="1327150"/>
          </a:xfrm>
          <a:prstGeom prst="rect">
            <a:avLst/>
          </a:prstGeom>
          <a:solidFill>
            <a:srgbClr val="F1C7C7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rio_readn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rio_writen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rio_readinitb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rio_readlineb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rio_readnb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671756" name="Rectangle 12"/>
          <p:cNvSpPr>
            <a:spLocks noChangeAspect="1" noChangeArrowheads="1"/>
          </p:cNvSpPr>
          <p:nvPr/>
        </p:nvSpPr>
        <p:spPr bwMode="auto">
          <a:xfrm>
            <a:off x="5334000" y="4567238"/>
            <a:ext cx="1447800" cy="6858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 smtClean="0">
                <a:latin typeface="Calibri" pitchFamily="34" charset="0"/>
              </a:rPr>
              <a:t>RIO</a:t>
            </a:r>
            <a:endParaRPr lang="en-US" sz="1600" dirty="0">
              <a:latin typeface="Calibri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functions</a:t>
            </a:r>
          </a:p>
        </p:txBody>
      </p:sp>
      <p:sp>
        <p:nvSpPr>
          <p:cNvPr id="671757" name="Line 13"/>
          <p:cNvSpPr>
            <a:spLocks noChangeShapeType="1"/>
          </p:cNvSpPr>
          <p:nvPr/>
        </p:nvSpPr>
        <p:spPr bwMode="auto">
          <a:xfrm flipH="1" flipV="1">
            <a:off x="2260600" y="4102100"/>
            <a:ext cx="482600" cy="7493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1758" name="Line 14"/>
          <p:cNvSpPr>
            <a:spLocks noChangeShapeType="1"/>
          </p:cNvSpPr>
          <p:nvPr/>
        </p:nvSpPr>
        <p:spPr bwMode="auto">
          <a:xfrm>
            <a:off x="6794500" y="4914900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38887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55" grpId="0" animBg="1"/>
      <p:bldP spid="671756" grpId="0" animBg="1"/>
      <p:bldP spid="67175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3"/>
            <a:ext cx="4953000" cy="573087"/>
          </a:xfrm>
        </p:spPr>
        <p:txBody>
          <a:bodyPr/>
          <a:lstStyle/>
          <a:p>
            <a:r>
              <a:rPr lang="en-US" dirty="0"/>
              <a:t>Unix </a:t>
            </a:r>
            <a:r>
              <a:rPr lang="en-US" dirty="0" smtClean="0"/>
              <a:t>I/O Overview</a:t>
            </a:r>
            <a:endParaRPr lang="en-US" dirty="0"/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670925" cy="497205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smtClean="0"/>
              <a:t>Linux </a:t>
            </a:r>
            <a:r>
              <a:rPr lang="en-US" i="1" dirty="0">
                <a:solidFill>
                  <a:srgbClr val="C00000"/>
                </a:solidFill>
              </a:rPr>
              <a:t>file</a:t>
            </a:r>
            <a:r>
              <a:rPr lang="en-US" dirty="0"/>
              <a:t> is a sequence of </a:t>
            </a:r>
            <a:r>
              <a:rPr lang="en-US" i="1" dirty="0"/>
              <a:t>m</a:t>
            </a:r>
            <a:r>
              <a:rPr lang="en-US" dirty="0"/>
              <a:t> bytes:</a:t>
            </a:r>
          </a:p>
          <a:p>
            <a:pPr lvl="1"/>
            <a:r>
              <a:rPr lang="en-US" i="1" dirty="0" smtClean="0"/>
              <a:t>B</a:t>
            </a:r>
            <a:r>
              <a:rPr lang="en-US" i="1" baseline="-25000" dirty="0" smtClean="0"/>
              <a:t>0 </a:t>
            </a:r>
            <a:r>
              <a:rPr lang="en-US" i="1" dirty="0" smtClean="0"/>
              <a:t>, B</a:t>
            </a:r>
            <a:r>
              <a:rPr lang="en-US" i="1" baseline="-25000" dirty="0" smtClean="0"/>
              <a:t>1 </a:t>
            </a:r>
            <a:r>
              <a:rPr lang="en-US" i="1" dirty="0" smtClean="0"/>
              <a:t>, </a:t>
            </a:r>
            <a:r>
              <a:rPr lang="en-US" i="1" dirty="0"/>
              <a:t>.... , </a:t>
            </a:r>
            <a:r>
              <a:rPr lang="en-US" i="1" dirty="0" err="1"/>
              <a:t>B</a:t>
            </a:r>
            <a:r>
              <a:rPr lang="en-US" i="1" baseline="-25000" dirty="0" err="1"/>
              <a:t>k</a:t>
            </a:r>
            <a:r>
              <a:rPr lang="en-US" i="1" dirty="0"/>
              <a:t> , .... , B</a:t>
            </a:r>
            <a:r>
              <a:rPr lang="en-US" i="1" baseline="-25000" dirty="0"/>
              <a:t>m-1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Cool fact: All </a:t>
            </a:r>
            <a:r>
              <a:rPr lang="en-US" dirty="0"/>
              <a:t>I/O devices are represented as files:</a:t>
            </a:r>
          </a:p>
          <a:p>
            <a:pPr lvl="1"/>
            <a:r>
              <a:rPr lang="en-US" b="1" dirty="0">
                <a:latin typeface="Courier New" pitchFamily="49" charset="0"/>
              </a:rPr>
              <a:t>/dev/sda2</a:t>
            </a:r>
            <a:r>
              <a:rPr lang="en-US" b="1" dirty="0"/>
              <a:t>    </a:t>
            </a:r>
            <a:r>
              <a:rPr lang="en-US" dirty="0"/>
              <a:t>(</a:t>
            </a:r>
            <a:r>
              <a:rPr lang="en-US" b="1" dirty="0">
                <a:latin typeface="Courier New" pitchFamily="49" charset="0"/>
              </a:rPr>
              <a:t>/</a:t>
            </a:r>
            <a:r>
              <a:rPr lang="en-US" b="1" dirty="0" err="1">
                <a:latin typeface="Courier New" pitchFamily="49" charset="0"/>
              </a:rPr>
              <a:t>usr</a:t>
            </a:r>
            <a:r>
              <a:rPr lang="en-US" b="1" dirty="0"/>
              <a:t> </a:t>
            </a:r>
            <a:r>
              <a:rPr lang="en-US" dirty="0"/>
              <a:t>disk partition)</a:t>
            </a:r>
          </a:p>
          <a:p>
            <a:pPr lvl="1"/>
            <a:r>
              <a:rPr lang="en-US" b="1" dirty="0">
                <a:latin typeface="Courier New" pitchFamily="49" charset="0"/>
              </a:rPr>
              <a:t>/dev/tty2</a:t>
            </a:r>
            <a:r>
              <a:rPr lang="en-US" b="1" dirty="0"/>
              <a:t>    </a:t>
            </a:r>
            <a:r>
              <a:rPr lang="en-US" dirty="0"/>
              <a:t>(terminal)</a:t>
            </a:r>
          </a:p>
          <a:p>
            <a:endParaRPr lang="en-US" dirty="0" smtClean="0"/>
          </a:p>
          <a:p>
            <a:r>
              <a:rPr lang="en-US" dirty="0" smtClean="0"/>
              <a:t>Even </a:t>
            </a:r>
            <a:r>
              <a:rPr lang="en-US" dirty="0"/>
              <a:t>the kernel is represented as a file:</a:t>
            </a:r>
          </a:p>
          <a:p>
            <a:pPr lvl="1"/>
            <a:r>
              <a:rPr lang="en-US" b="1" dirty="0" smtClean="0">
                <a:latin typeface="Courier New" pitchFamily="49" charset="0"/>
              </a:rPr>
              <a:t>/boot/</a:t>
            </a:r>
            <a:r>
              <a:rPr lang="en-US" b="1" dirty="0">
                <a:latin typeface="Courier New"/>
                <a:cs typeface="Courier New"/>
              </a:rPr>
              <a:t>vmlinuz-3.13.0-55-</a:t>
            </a:r>
            <a:r>
              <a:rPr lang="en-US" b="1" dirty="0" smtClean="0">
                <a:latin typeface="Courier New"/>
                <a:cs typeface="Courier New"/>
              </a:rPr>
              <a:t>generic </a:t>
            </a:r>
            <a:r>
              <a:rPr lang="en-US" dirty="0" smtClean="0"/>
              <a:t>(</a:t>
            </a:r>
            <a:r>
              <a:rPr lang="en-US" dirty="0"/>
              <a:t>kernel </a:t>
            </a:r>
            <a:r>
              <a:rPr lang="en-US" dirty="0" smtClean="0"/>
              <a:t>image</a:t>
            </a:r>
            <a:r>
              <a:rPr lang="en-US" dirty="0"/>
              <a:t>) </a:t>
            </a:r>
          </a:p>
          <a:p>
            <a:pPr lvl="1"/>
            <a:r>
              <a:rPr lang="en-US" b="1" dirty="0">
                <a:latin typeface="Courier New" pitchFamily="49" charset="0"/>
              </a:rPr>
              <a:t>/proc</a:t>
            </a:r>
            <a:r>
              <a:rPr lang="en-US" b="1" dirty="0"/>
              <a:t>            </a:t>
            </a:r>
            <a:r>
              <a:rPr lang="en-US" b="1" dirty="0" smtClean="0"/>
              <a:t> 	                                                  </a:t>
            </a:r>
            <a:r>
              <a:rPr lang="en-US" dirty="0" smtClean="0"/>
              <a:t>(</a:t>
            </a:r>
            <a:r>
              <a:rPr lang="en-US" dirty="0"/>
              <a:t>kernel data structures)</a:t>
            </a:r>
          </a:p>
        </p:txBody>
      </p:sp>
    </p:spTree>
    <p:extLst>
      <p:ext uri="{BB962C8B-B14F-4D97-AF65-F5344CB8AC3E}">
        <p14:creationId xmlns:p14="http://schemas.microsoft.com/office/powerpoint/2010/main" val="1182036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7" y="438150"/>
            <a:ext cx="8716963" cy="781050"/>
          </a:xfrm>
        </p:spPr>
        <p:txBody>
          <a:bodyPr/>
          <a:lstStyle/>
          <a:p>
            <a:r>
              <a:rPr lang="en-US" dirty="0"/>
              <a:t>Unix I/</a:t>
            </a:r>
            <a:r>
              <a:rPr lang="en-US" dirty="0" smtClean="0"/>
              <a:t>O Overview</a:t>
            </a:r>
            <a:endParaRPr lang="en-US" dirty="0"/>
          </a:p>
        </p:txBody>
      </p:sp>
      <p:sp>
        <p:nvSpPr>
          <p:cNvPr id="75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27150"/>
            <a:ext cx="8307387" cy="4997450"/>
          </a:xfrm>
        </p:spPr>
        <p:txBody>
          <a:bodyPr/>
          <a:lstStyle/>
          <a:p>
            <a:r>
              <a:rPr lang="en-US" dirty="0" smtClean="0"/>
              <a:t>Elegant </a:t>
            </a:r>
            <a:r>
              <a:rPr lang="en-US" dirty="0"/>
              <a:t>mapping of files to devices allows kernel to export simple interface called </a:t>
            </a:r>
            <a:r>
              <a:rPr lang="en-US" i="1" dirty="0"/>
              <a:t>Unix </a:t>
            </a:r>
            <a:r>
              <a:rPr lang="en-US" i="1" dirty="0" smtClean="0"/>
              <a:t>I/O:</a:t>
            </a:r>
            <a:endParaRPr lang="en-US" i="1" dirty="0"/>
          </a:p>
          <a:p>
            <a:pPr lvl="1"/>
            <a:r>
              <a:rPr lang="en-US" dirty="0" smtClean="0"/>
              <a:t>Opening </a:t>
            </a:r>
            <a:r>
              <a:rPr lang="en-US" dirty="0"/>
              <a:t>and closing files</a:t>
            </a:r>
          </a:p>
          <a:p>
            <a:pPr lvl="2"/>
            <a:r>
              <a:rPr lang="en-US" b="1" dirty="0">
                <a:latin typeface="Courier New" pitchFamily="49" charset="0"/>
              </a:rPr>
              <a:t>open()</a:t>
            </a:r>
            <a:r>
              <a:rPr lang="en-US" dirty="0"/>
              <a:t>and </a:t>
            </a:r>
            <a:r>
              <a:rPr lang="en-US" b="1" dirty="0">
                <a:latin typeface="Courier New" pitchFamily="49" charset="0"/>
              </a:rPr>
              <a:t>close()</a:t>
            </a:r>
          </a:p>
          <a:p>
            <a:pPr lvl="1"/>
            <a:r>
              <a:rPr lang="en-US" dirty="0"/>
              <a:t>Reading and writing a file</a:t>
            </a:r>
          </a:p>
          <a:p>
            <a:pPr lvl="2"/>
            <a:r>
              <a:rPr lang="en-US" b="1" dirty="0">
                <a:latin typeface="Courier New" pitchFamily="49" charset="0"/>
              </a:rPr>
              <a:t>read()</a:t>
            </a:r>
            <a:r>
              <a:rPr lang="en-US" b="1" dirty="0"/>
              <a:t> </a:t>
            </a:r>
            <a:r>
              <a:rPr lang="en-US" dirty="0"/>
              <a:t>and  </a:t>
            </a:r>
            <a:r>
              <a:rPr lang="en-US" b="1" dirty="0">
                <a:latin typeface="Courier New" pitchFamily="49" charset="0"/>
              </a:rPr>
              <a:t>write()</a:t>
            </a:r>
          </a:p>
          <a:p>
            <a:pPr lvl="1"/>
            <a:r>
              <a:rPr lang="en-US" dirty="0"/>
              <a:t>Changing the </a:t>
            </a:r>
            <a:r>
              <a:rPr lang="en-US" b="1" i="1" dirty="0">
                <a:solidFill>
                  <a:srgbClr val="C00000"/>
                </a:solidFill>
              </a:rPr>
              <a:t>current file position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(seek)</a:t>
            </a:r>
          </a:p>
          <a:p>
            <a:pPr lvl="2"/>
            <a:r>
              <a:rPr lang="en-US" dirty="0"/>
              <a:t>indicates next offset into file to read or write</a:t>
            </a:r>
          </a:p>
          <a:p>
            <a:pPr lvl="2"/>
            <a:r>
              <a:rPr lang="en-US" b="1" dirty="0" err="1" smtClean="0">
                <a:latin typeface="Courier New" pitchFamily="49" charset="0"/>
              </a:rPr>
              <a:t>lseek</a:t>
            </a:r>
            <a:r>
              <a:rPr lang="en-US" b="1" dirty="0" smtClean="0">
                <a:latin typeface="Courier New" pitchFamily="49" charset="0"/>
              </a:rPr>
              <a:t>()</a:t>
            </a:r>
            <a:endParaRPr lang="en-US" b="1" dirty="0">
              <a:latin typeface="Courier New" pitchFamily="49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480752" y="4837710"/>
            <a:ext cx="4767648" cy="1258290"/>
            <a:chOff x="3048000" y="5561999"/>
            <a:chExt cx="4767648" cy="1258290"/>
          </a:xfrm>
        </p:grpSpPr>
        <p:sp>
          <p:nvSpPr>
            <p:cNvPr id="750597" name="Rectangle 5"/>
            <p:cNvSpPr>
              <a:spLocks noChangeArrowheads="1"/>
            </p:cNvSpPr>
            <p:nvPr/>
          </p:nvSpPr>
          <p:spPr bwMode="auto">
            <a:xfrm>
              <a:off x="3048000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  <a:r>
                <a:rPr lang="en-US" sz="1800" baseline="-250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50598" name="Rectangle 6"/>
            <p:cNvSpPr>
              <a:spLocks noChangeArrowheads="1"/>
            </p:cNvSpPr>
            <p:nvPr/>
          </p:nvSpPr>
          <p:spPr bwMode="auto">
            <a:xfrm>
              <a:off x="3481388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  <a:r>
                <a:rPr lang="en-US" sz="1800" baseline="-250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50599" name="Rectangle 7"/>
            <p:cNvSpPr>
              <a:spLocks noChangeArrowheads="1"/>
            </p:cNvSpPr>
            <p:nvPr/>
          </p:nvSpPr>
          <p:spPr bwMode="auto">
            <a:xfrm>
              <a:off x="3914775" y="5562600"/>
              <a:ext cx="1319213" cy="441325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800" dirty="0">
                  <a:latin typeface="Calibri" pitchFamily="34" charset="0"/>
                </a:rPr>
                <a:t>• • •</a:t>
              </a:r>
            </a:p>
          </p:txBody>
        </p:sp>
        <p:sp>
          <p:nvSpPr>
            <p:cNvPr id="750600" name="Rectangle 8"/>
            <p:cNvSpPr>
              <a:spLocks noChangeArrowheads="1"/>
            </p:cNvSpPr>
            <p:nvPr/>
          </p:nvSpPr>
          <p:spPr bwMode="auto">
            <a:xfrm>
              <a:off x="5214938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 anchorCtr="1"/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  <a:r>
                <a:rPr lang="en-US" sz="1800" baseline="-25000" dirty="0">
                  <a:latin typeface="Calibri" pitchFamily="34" charset="0"/>
                </a:rPr>
                <a:t>k-1</a:t>
              </a:r>
            </a:p>
          </p:txBody>
        </p:sp>
        <p:sp>
          <p:nvSpPr>
            <p:cNvPr id="750601" name="Rectangle 9"/>
            <p:cNvSpPr>
              <a:spLocks noChangeArrowheads="1"/>
            </p:cNvSpPr>
            <p:nvPr/>
          </p:nvSpPr>
          <p:spPr bwMode="auto">
            <a:xfrm>
              <a:off x="5638800" y="5562600"/>
              <a:ext cx="433388" cy="4413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 anchorCtr="1"/>
            <a:lstStyle/>
            <a:p>
              <a:r>
                <a:rPr lang="en-US" sz="1800" dirty="0" err="1">
                  <a:latin typeface="Calibri" pitchFamily="34" charset="0"/>
                </a:rPr>
                <a:t>B</a:t>
              </a:r>
              <a:r>
                <a:rPr lang="en-US" sz="1800" baseline="-25000" dirty="0" err="1">
                  <a:latin typeface="Calibri" pitchFamily="34" charset="0"/>
                </a:rPr>
                <a:t>k</a:t>
              </a:r>
              <a:endParaRPr lang="en-US" sz="1800" baseline="-25000" dirty="0">
                <a:latin typeface="Calibri" pitchFamily="34" charset="0"/>
              </a:endParaRPr>
            </a:p>
          </p:txBody>
        </p:sp>
        <p:sp>
          <p:nvSpPr>
            <p:cNvPr id="750602" name="Rectangle 10"/>
            <p:cNvSpPr>
              <a:spLocks noChangeArrowheads="1"/>
            </p:cNvSpPr>
            <p:nvPr/>
          </p:nvSpPr>
          <p:spPr bwMode="auto">
            <a:xfrm>
              <a:off x="6070384" y="5561999"/>
              <a:ext cx="433388" cy="4413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 anchorCtr="1"/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  <a:r>
                <a:rPr lang="en-US" sz="1800" baseline="-25000" dirty="0" err="1">
                  <a:latin typeface="Calibri" pitchFamily="34" charset="0"/>
                </a:rPr>
                <a:t>k+1</a:t>
              </a:r>
            </a:p>
          </p:txBody>
        </p:sp>
        <p:sp>
          <p:nvSpPr>
            <p:cNvPr id="750603" name="Rectangle 11"/>
            <p:cNvSpPr>
              <a:spLocks noChangeArrowheads="1"/>
            </p:cNvSpPr>
            <p:nvPr/>
          </p:nvSpPr>
          <p:spPr bwMode="auto">
            <a:xfrm>
              <a:off x="6496435" y="5562600"/>
              <a:ext cx="1319213" cy="4413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800" dirty="0">
                  <a:latin typeface="Calibri" pitchFamily="34" charset="0"/>
                </a:rPr>
                <a:t>• • •</a:t>
              </a:r>
            </a:p>
          </p:txBody>
        </p:sp>
        <p:sp>
          <p:nvSpPr>
            <p:cNvPr id="750604" name="Line 12"/>
            <p:cNvSpPr>
              <a:spLocks noChangeShapeType="1"/>
            </p:cNvSpPr>
            <p:nvPr/>
          </p:nvSpPr>
          <p:spPr bwMode="auto">
            <a:xfrm flipV="1">
              <a:off x="5851826" y="6011562"/>
              <a:ext cx="0" cy="3810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0605" name="Text Box 13"/>
            <p:cNvSpPr txBox="1">
              <a:spLocks noChangeArrowheads="1"/>
            </p:cNvSpPr>
            <p:nvPr/>
          </p:nvSpPr>
          <p:spPr bwMode="auto">
            <a:xfrm>
              <a:off x="4258962" y="6358624"/>
              <a:ext cx="317593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Current </a:t>
              </a:r>
              <a:r>
                <a:rPr lang="en-US" dirty="0" smtClean="0">
                  <a:latin typeface="Calibri" pitchFamily="34" charset="0"/>
                </a:rPr>
                <a:t>file position </a:t>
              </a:r>
              <a:r>
                <a:rPr lang="en-US" dirty="0">
                  <a:latin typeface="Calibri" pitchFamily="34" charset="0"/>
                </a:rPr>
                <a:t>= 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163574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Types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file has a </a:t>
            </a:r>
            <a:r>
              <a:rPr lang="en-US" i="1" dirty="0" smtClean="0"/>
              <a:t>type</a:t>
            </a:r>
            <a:r>
              <a:rPr lang="en-US" dirty="0" smtClean="0"/>
              <a:t> indicating its role in the system</a:t>
            </a:r>
          </a:p>
          <a:p>
            <a:pPr lvl="1"/>
            <a:r>
              <a:rPr lang="en-US" i="1" dirty="0" smtClean="0"/>
              <a:t>Regular file: </a:t>
            </a:r>
            <a:r>
              <a:rPr lang="en-US" dirty="0" smtClean="0"/>
              <a:t>Contains arbitrary data</a:t>
            </a:r>
          </a:p>
          <a:p>
            <a:pPr lvl="1"/>
            <a:r>
              <a:rPr lang="en-US" i="1" dirty="0" smtClean="0"/>
              <a:t>Directory:  </a:t>
            </a:r>
            <a:r>
              <a:rPr lang="en-US" dirty="0" smtClean="0"/>
              <a:t>Index for a related group of files</a:t>
            </a:r>
          </a:p>
          <a:p>
            <a:pPr lvl="1"/>
            <a:r>
              <a:rPr lang="en-US" i="1" dirty="0" smtClean="0"/>
              <a:t>Socket:</a:t>
            </a:r>
            <a:r>
              <a:rPr lang="en-US" dirty="0" smtClean="0"/>
              <a:t> For communicating with a process on another machine</a:t>
            </a:r>
          </a:p>
          <a:p>
            <a:endParaRPr lang="en-US" dirty="0" smtClean="0"/>
          </a:p>
          <a:p>
            <a:r>
              <a:rPr lang="en-US" dirty="0" smtClean="0"/>
              <a:t>Other file types beyond our scope</a:t>
            </a:r>
          </a:p>
          <a:p>
            <a:pPr lvl="1"/>
            <a:r>
              <a:rPr lang="en-US" i="1" dirty="0" smtClean="0"/>
              <a:t>Named pipes (FIFOs)</a:t>
            </a:r>
          </a:p>
          <a:p>
            <a:pPr lvl="1"/>
            <a:r>
              <a:rPr lang="en-US" i="1" dirty="0" smtClean="0"/>
              <a:t>Symbolic links</a:t>
            </a:r>
          </a:p>
          <a:p>
            <a:pPr lvl="1"/>
            <a:r>
              <a:rPr lang="en-US" i="1" dirty="0" smtClean="0"/>
              <a:t>Character and block devices</a:t>
            </a:r>
          </a:p>
        </p:txBody>
      </p:sp>
    </p:spTree>
    <p:extLst>
      <p:ext uri="{BB962C8B-B14F-4D97-AF65-F5344CB8AC3E}">
        <p14:creationId xmlns:p14="http://schemas.microsoft.com/office/powerpoint/2010/main" val="1797165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4"/>
            <a:ext cx="7896225" cy="526732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regular file contains arbitrary data</a:t>
            </a:r>
            <a:endParaRPr lang="en-US" dirty="0"/>
          </a:p>
          <a:p>
            <a:r>
              <a:rPr lang="en-US" dirty="0" smtClean="0"/>
              <a:t>Applications </a:t>
            </a:r>
            <a:r>
              <a:rPr lang="en-US" dirty="0"/>
              <a:t>often distinguish between </a:t>
            </a:r>
            <a:r>
              <a:rPr lang="en-US" i="1" dirty="0"/>
              <a:t>text files </a:t>
            </a:r>
            <a:r>
              <a:rPr lang="en-US" dirty="0"/>
              <a:t>and </a:t>
            </a:r>
            <a:r>
              <a:rPr lang="en-US" i="1" dirty="0"/>
              <a:t>binary files</a:t>
            </a:r>
          </a:p>
          <a:p>
            <a:pPr lvl="1"/>
            <a:r>
              <a:rPr lang="en-US" dirty="0" smtClean="0"/>
              <a:t>Text files are regular files with only ASCII or Unicode characters</a:t>
            </a:r>
          </a:p>
          <a:p>
            <a:pPr lvl="1"/>
            <a:r>
              <a:rPr lang="en-US" dirty="0" smtClean="0"/>
              <a:t>Binary files are everything else</a:t>
            </a:r>
          </a:p>
          <a:p>
            <a:pPr lvl="2"/>
            <a:r>
              <a:rPr lang="en-US" dirty="0" smtClean="0"/>
              <a:t>e.g., object files, JPEG images</a:t>
            </a:r>
          </a:p>
          <a:p>
            <a:pPr lvl="1"/>
            <a:r>
              <a:rPr lang="en-US" dirty="0" smtClean="0"/>
              <a:t>Kernel </a:t>
            </a:r>
            <a:r>
              <a:rPr lang="en-US" dirty="0" err="1"/>
              <a:t>doesn</a:t>
            </a:r>
            <a:r>
              <a:rPr lang="fr-FR" dirty="0"/>
              <a:t>’</a:t>
            </a:r>
            <a:r>
              <a:rPr lang="en-US" dirty="0"/>
              <a:t>t know the </a:t>
            </a:r>
            <a:r>
              <a:rPr lang="en-US" dirty="0" smtClean="0"/>
              <a:t>difference!</a:t>
            </a:r>
          </a:p>
          <a:p>
            <a:r>
              <a:rPr lang="en-US" dirty="0" smtClean="0"/>
              <a:t>Text </a:t>
            </a:r>
            <a:r>
              <a:rPr lang="en-US" dirty="0"/>
              <a:t>file is sequence of </a:t>
            </a:r>
            <a:r>
              <a:rPr lang="en-US" i="1" dirty="0"/>
              <a:t>text lines</a:t>
            </a:r>
          </a:p>
          <a:p>
            <a:pPr lvl="1"/>
            <a:r>
              <a:rPr lang="en-US" dirty="0"/>
              <a:t>Text line is sequence of chars terminated by </a:t>
            </a:r>
            <a:r>
              <a:rPr lang="en-US" i="1" dirty="0"/>
              <a:t>newline char </a:t>
            </a:r>
            <a:r>
              <a:rPr lang="en-US" dirty="0"/>
              <a:t>(</a:t>
            </a:r>
            <a:r>
              <a:rPr lang="en-US" b="1" dirty="0"/>
              <a:t>‘</a:t>
            </a:r>
            <a:r>
              <a:rPr lang="en-US" b="1" dirty="0">
                <a:latin typeface="Courier New"/>
                <a:cs typeface="Courier New"/>
              </a:rPr>
              <a:t>\n</a:t>
            </a:r>
            <a:r>
              <a:rPr lang="en-US" b="1" dirty="0"/>
              <a:t>’)</a:t>
            </a:r>
            <a:r>
              <a:rPr lang="en-US" dirty="0"/>
              <a:t>	</a:t>
            </a:r>
          </a:p>
          <a:p>
            <a:pPr lvl="2"/>
            <a:r>
              <a:rPr lang="en-US" dirty="0"/>
              <a:t>Newline is </a:t>
            </a:r>
            <a:r>
              <a:rPr lang="en-US" b="1" dirty="0" smtClean="0">
                <a:latin typeface="Courier New"/>
                <a:cs typeface="Courier New"/>
              </a:rPr>
              <a:t>0xa</a:t>
            </a:r>
            <a:r>
              <a:rPr lang="en-US" dirty="0"/>
              <a:t>, same as ASCII line feed </a:t>
            </a:r>
            <a:r>
              <a:rPr lang="en-US" dirty="0" smtClean="0"/>
              <a:t>character </a:t>
            </a:r>
            <a:r>
              <a:rPr lang="en-US" dirty="0"/>
              <a:t>(LF</a:t>
            </a:r>
            <a:r>
              <a:rPr lang="en-US" dirty="0" smtClean="0"/>
              <a:t>)</a:t>
            </a:r>
          </a:p>
          <a:p>
            <a:r>
              <a:rPr lang="en-US" dirty="0" smtClean="0"/>
              <a:t>End of line (EOL) indicators in other systems</a:t>
            </a:r>
          </a:p>
          <a:p>
            <a:pPr lvl="1"/>
            <a:r>
              <a:rPr lang="en-US" dirty="0" smtClean="0"/>
              <a:t>Linux and Mac OS: </a:t>
            </a:r>
            <a:r>
              <a:rPr lang="en-US" b="1" dirty="0" smtClean="0"/>
              <a:t>‘</a:t>
            </a:r>
            <a:r>
              <a:rPr lang="en-US" b="1" dirty="0" smtClean="0">
                <a:latin typeface="Courier New"/>
                <a:cs typeface="Courier New"/>
              </a:rPr>
              <a:t>\n</a:t>
            </a:r>
            <a:r>
              <a:rPr lang="en-US" b="1" dirty="0" smtClean="0"/>
              <a:t>’</a:t>
            </a:r>
            <a:r>
              <a:rPr lang="en-US" dirty="0" smtClean="0"/>
              <a:t> (</a:t>
            </a:r>
            <a:r>
              <a:rPr lang="en-US" b="1" dirty="0" smtClean="0">
                <a:latin typeface="Courier New"/>
                <a:cs typeface="Courier New"/>
              </a:rPr>
              <a:t>0xa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line feed (LF)</a:t>
            </a:r>
          </a:p>
          <a:p>
            <a:pPr lvl="1"/>
            <a:r>
              <a:rPr lang="en-US" dirty="0" smtClean="0"/>
              <a:t>Windows and Internet protocols: </a:t>
            </a:r>
            <a:r>
              <a:rPr lang="en-US" b="1" dirty="0" smtClean="0"/>
              <a:t>‘</a:t>
            </a:r>
            <a:r>
              <a:rPr lang="en-US" b="1" dirty="0" smtClean="0">
                <a:latin typeface="Courier New"/>
                <a:cs typeface="Courier New"/>
              </a:rPr>
              <a:t>\r\n</a:t>
            </a:r>
            <a:r>
              <a:rPr lang="en-US" b="1" dirty="0" smtClean="0"/>
              <a:t>’ </a:t>
            </a:r>
            <a:r>
              <a:rPr lang="en-US" dirty="0" smtClean="0"/>
              <a:t>(</a:t>
            </a:r>
            <a:r>
              <a:rPr lang="en-US" b="1" dirty="0" smtClean="0">
                <a:latin typeface="Courier New"/>
                <a:cs typeface="Courier New"/>
              </a:rPr>
              <a:t>0xd 0xa</a:t>
            </a:r>
            <a:r>
              <a:rPr lang="en-US" dirty="0" smtClean="0"/>
              <a:t>) 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arriage return (CR) followed by line feed (LF)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4707457"/>
            <a:ext cx="25908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572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Directories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Directory consists of an array of </a:t>
            </a:r>
            <a:r>
              <a:rPr lang="en-US" i="1" dirty="0" smtClean="0"/>
              <a:t>links</a:t>
            </a:r>
          </a:p>
          <a:p>
            <a:pPr lvl="1"/>
            <a:r>
              <a:rPr lang="en-US" dirty="0" smtClean="0"/>
              <a:t>Each link maps a </a:t>
            </a:r>
            <a:r>
              <a:rPr lang="en-US" i="1" dirty="0" smtClean="0"/>
              <a:t>filenam</a:t>
            </a:r>
            <a:r>
              <a:rPr lang="en-US" dirty="0" smtClean="0"/>
              <a:t>e to a file</a:t>
            </a:r>
          </a:p>
          <a:p>
            <a:r>
              <a:rPr lang="en-US" dirty="0" smtClean="0"/>
              <a:t>Each directory contains at least two entries</a:t>
            </a: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.</a:t>
            </a:r>
            <a:r>
              <a:rPr lang="en-US" dirty="0" smtClean="0"/>
              <a:t> (dot) is  a link to itself</a:t>
            </a: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..</a:t>
            </a:r>
            <a:r>
              <a:rPr lang="en-US" dirty="0" smtClean="0"/>
              <a:t> (dot dot) is a link to </a:t>
            </a:r>
            <a:r>
              <a:rPr lang="en-US" i="1" dirty="0" smtClean="0"/>
              <a:t>the parent directory </a:t>
            </a:r>
            <a:r>
              <a:rPr lang="en-US" dirty="0" smtClean="0"/>
              <a:t>in the </a:t>
            </a:r>
            <a:r>
              <a:rPr lang="en-US" i="1" dirty="0" smtClean="0"/>
              <a:t>directory hierarchy</a:t>
            </a:r>
            <a:r>
              <a:rPr lang="en-US" dirty="0" smtClean="0"/>
              <a:t> (next slide)</a:t>
            </a:r>
          </a:p>
          <a:p>
            <a:r>
              <a:rPr lang="en-US" dirty="0" smtClean="0"/>
              <a:t>Commands for manipulating directories</a:t>
            </a:r>
          </a:p>
          <a:p>
            <a:pPr lvl="1"/>
            <a:r>
              <a:rPr lang="en-US" b="1" dirty="0" err="1" smtClean="0">
                <a:latin typeface="Courier New"/>
                <a:cs typeface="Courier New"/>
              </a:rPr>
              <a:t>mkdir</a:t>
            </a:r>
            <a:r>
              <a:rPr lang="en-US" dirty="0" smtClean="0"/>
              <a:t>: create empty directory</a:t>
            </a:r>
          </a:p>
          <a:p>
            <a:pPr lvl="1"/>
            <a:r>
              <a:rPr lang="en-US" b="1" dirty="0" err="1" smtClean="0">
                <a:latin typeface="Courier New"/>
                <a:cs typeface="Courier New"/>
              </a:rPr>
              <a:t>ls</a:t>
            </a:r>
            <a:r>
              <a:rPr lang="en-US" dirty="0" smtClean="0"/>
              <a:t>: view directory contents</a:t>
            </a:r>
          </a:p>
          <a:p>
            <a:pPr lvl="1"/>
            <a:r>
              <a:rPr lang="en-US" b="1" dirty="0" err="1" smtClean="0">
                <a:latin typeface="Courier New"/>
                <a:cs typeface="Courier New"/>
              </a:rPr>
              <a:t>rmdir</a:t>
            </a:r>
            <a:r>
              <a:rPr lang="en-US" dirty="0" smtClean="0"/>
              <a:t>: delete empty directory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3951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Directory Hierarchy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62075"/>
            <a:ext cx="8899525" cy="5267325"/>
          </a:xfrm>
        </p:spPr>
        <p:txBody>
          <a:bodyPr/>
          <a:lstStyle/>
          <a:p>
            <a:r>
              <a:rPr lang="en-US" dirty="0" smtClean="0"/>
              <a:t>All files are organized as a hierarchy anchored by root directory named </a:t>
            </a:r>
            <a:r>
              <a:rPr lang="en-US" dirty="0" smtClean="0">
                <a:latin typeface="Courier New"/>
                <a:cs typeface="Courier New"/>
              </a:rPr>
              <a:t>/</a:t>
            </a:r>
            <a:r>
              <a:rPr lang="en-US" dirty="0" smtClean="0"/>
              <a:t> (slash)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Kernel maintains </a:t>
            </a:r>
            <a:r>
              <a:rPr lang="en-US" i="1" dirty="0" smtClean="0"/>
              <a:t>current working directory (</a:t>
            </a:r>
            <a:r>
              <a:rPr lang="en-US" i="1" dirty="0" err="1" smtClean="0"/>
              <a:t>cwd</a:t>
            </a:r>
            <a:r>
              <a:rPr lang="en-US" i="1" dirty="0" smtClean="0"/>
              <a:t>) </a:t>
            </a:r>
            <a:r>
              <a:rPr lang="en-US" dirty="0" smtClean="0"/>
              <a:t>for each process</a:t>
            </a:r>
          </a:p>
          <a:p>
            <a:pPr lvl="1"/>
            <a:r>
              <a:rPr lang="en-US" dirty="0" smtClean="0"/>
              <a:t>Modified using the </a:t>
            </a:r>
            <a:r>
              <a:rPr lang="en-US" b="1" dirty="0" smtClean="0">
                <a:latin typeface="Courier New"/>
                <a:cs typeface="Courier New"/>
              </a:rPr>
              <a:t>cd</a:t>
            </a:r>
            <a:r>
              <a:rPr lang="en-US" dirty="0" smtClean="0"/>
              <a:t> command</a:t>
            </a:r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>
            <a:off x="3962400" y="2209800"/>
            <a:ext cx="307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74353" y="29337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bin/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143000" y="29337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dev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376835" y="29337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etc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457480" y="2933700"/>
            <a:ext cx="800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home/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7095211" y="29337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urier New"/>
                <a:cs typeface="Courier New"/>
              </a:rPr>
              <a:t>u</a:t>
            </a:r>
            <a:r>
              <a:rPr lang="en-US" sz="1600" dirty="0" err="1" smtClean="0">
                <a:latin typeface="Courier New"/>
                <a:cs typeface="Courier New"/>
              </a:rPr>
              <a:t>sr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74353" y="35814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bash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143000" y="35814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tty1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957514" y="3581400"/>
            <a:ext cx="800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group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2734150" y="3581400"/>
            <a:ext cx="923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passwd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029550" y="3581400"/>
            <a:ext cx="800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>
                <a:latin typeface="Courier New"/>
                <a:cs typeface="Courier New"/>
              </a:rPr>
              <a:t>droh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897019" y="3581400"/>
            <a:ext cx="1046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bryant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96000" y="3581400"/>
            <a:ext cx="1169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include/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781011" y="35814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bin/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638800" y="4419600"/>
            <a:ext cx="1046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stdio.h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7842576" y="4419600"/>
            <a:ext cx="554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vim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875661" y="44196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sys/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629400" y="5300246"/>
            <a:ext cx="1169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unistd.h</a:t>
            </a:r>
            <a:endParaRPr lang="en-US" sz="1600" dirty="0">
              <a:latin typeface="Courier New"/>
              <a:cs typeface="Courier New"/>
            </a:endParaRPr>
          </a:p>
        </p:txBody>
      </p:sp>
      <p:cxnSp>
        <p:nvCxnSpPr>
          <p:cNvPr id="133" name="Straight Connector 132"/>
          <p:cNvCxnSpPr>
            <a:stCxn id="115" idx="2"/>
            <a:endCxn id="116" idx="0"/>
          </p:cNvCxnSpPr>
          <p:nvPr/>
        </p:nvCxnSpPr>
        <p:spPr bwMode="auto">
          <a:xfrm flipH="1">
            <a:off x="512948" y="2548354"/>
            <a:ext cx="3603351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Straight Connector 133"/>
          <p:cNvCxnSpPr>
            <a:stCxn id="115" idx="2"/>
            <a:endCxn id="117" idx="0"/>
          </p:cNvCxnSpPr>
          <p:nvPr/>
        </p:nvCxnSpPr>
        <p:spPr bwMode="auto">
          <a:xfrm flipH="1">
            <a:off x="1481595" y="2548354"/>
            <a:ext cx="2634704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Straight Connector 134"/>
          <p:cNvCxnSpPr>
            <a:stCxn id="115" idx="2"/>
            <a:endCxn id="118" idx="0"/>
          </p:cNvCxnSpPr>
          <p:nvPr/>
        </p:nvCxnSpPr>
        <p:spPr bwMode="auto">
          <a:xfrm flipH="1">
            <a:off x="2715430" y="2548354"/>
            <a:ext cx="1400869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Straight Connector 135"/>
          <p:cNvCxnSpPr>
            <a:stCxn id="115" idx="2"/>
            <a:endCxn id="119" idx="0"/>
          </p:cNvCxnSpPr>
          <p:nvPr/>
        </p:nvCxnSpPr>
        <p:spPr bwMode="auto">
          <a:xfrm>
            <a:off x="4116299" y="2548354"/>
            <a:ext cx="741341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Straight Connector 136"/>
          <p:cNvCxnSpPr>
            <a:stCxn id="115" idx="2"/>
            <a:endCxn id="120" idx="0"/>
          </p:cNvCxnSpPr>
          <p:nvPr/>
        </p:nvCxnSpPr>
        <p:spPr bwMode="auto">
          <a:xfrm>
            <a:off x="4116299" y="2548354"/>
            <a:ext cx="3317507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Straight Connector 137"/>
          <p:cNvCxnSpPr>
            <a:stCxn id="119" idx="2"/>
            <a:endCxn id="125" idx="0"/>
          </p:cNvCxnSpPr>
          <p:nvPr/>
        </p:nvCxnSpPr>
        <p:spPr bwMode="auto">
          <a:xfrm flipH="1">
            <a:off x="4429710" y="3272254"/>
            <a:ext cx="42793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Straight Connector 138"/>
          <p:cNvCxnSpPr>
            <a:stCxn id="119" idx="2"/>
            <a:endCxn id="126" idx="0"/>
          </p:cNvCxnSpPr>
          <p:nvPr/>
        </p:nvCxnSpPr>
        <p:spPr bwMode="auto">
          <a:xfrm>
            <a:off x="4857640" y="3272254"/>
            <a:ext cx="56267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Straight Connector 139"/>
          <p:cNvCxnSpPr>
            <a:stCxn id="125" idx="2"/>
          </p:cNvCxnSpPr>
          <p:nvPr/>
        </p:nvCxnSpPr>
        <p:spPr bwMode="auto">
          <a:xfrm>
            <a:off x="4429710" y="3919954"/>
            <a:ext cx="0" cy="5377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Straight Connector 140"/>
          <p:cNvCxnSpPr>
            <a:stCxn id="116" idx="2"/>
            <a:endCxn id="121" idx="0"/>
          </p:cNvCxnSpPr>
          <p:nvPr/>
        </p:nvCxnSpPr>
        <p:spPr bwMode="auto">
          <a:xfrm>
            <a:off x="512948" y="3272254"/>
            <a:ext cx="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Straight Connector 141"/>
          <p:cNvCxnSpPr>
            <a:stCxn id="117" idx="2"/>
            <a:endCxn id="122" idx="0"/>
          </p:cNvCxnSpPr>
          <p:nvPr/>
        </p:nvCxnSpPr>
        <p:spPr bwMode="auto">
          <a:xfrm>
            <a:off x="1481595" y="3272254"/>
            <a:ext cx="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Straight Connector 142"/>
          <p:cNvCxnSpPr>
            <a:stCxn id="118" idx="2"/>
            <a:endCxn id="123" idx="0"/>
          </p:cNvCxnSpPr>
          <p:nvPr/>
        </p:nvCxnSpPr>
        <p:spPr bwMode="auto">
          <a:xfrm flipH="1">
            <a:off x="2357674" y="3272254"/>
            <a:ext cx="357756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Straight Connector 143"/>
          <p:cNvCxnSpPr>
            <a:stCxn id="118" idx="2"/>
            <a:endCxn id="124" idx="0"/>
          </p:cNvCxnSpPr>
          <p:nvPr/>
        </p:nvCxnSpPr>
        <p:spPr bwMode="auto">
          <a:xfrm>
            <a:off x="2715430" y="3272254"/>
            <a:ext cx="480445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Straight Connector 144"/>
          <p:cNvCxnSpPr>
            <a:stCxn id="120" idx="2"/>
            <a:endCxn id="127" idx="0"/>
          </p:cNvCxnSpPr>
          <p:nvPr/>
        </p:nvCxnSpPr>
        <p:spPr bwMode="auto">
          <a:xfrm flipH="1">
            <a:off x="6680856" y="3272254"/>
            <a:ext cx="75295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Straight Connector 145"/>
          <p:cNvCxnSpPr>
            <a:stCxn id="120" idx="2"/>
            <a:endCxn id="128" idx="0"/>
          </p:cNvCxnSpPr>
          <p:nvPr/>
        </p:nvCxnSpPr>
        <p:spPr bwMode="auto">
          <a:xfrm>
            <a:off x="7433806" y="3272254"/>
            <a:ext cx="68580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Straight Connector 146"/>
          <p:cNvCxnSpPr>
            <a:stCxn id="127" idx="2"/>
            <a:endCxn id="129" idx="0"/>
          </p:cNvCxnSpPr>
          <p:nvPr/>
        </p:nvCxnSpPr>
        <p:spPr bwMode="auto">
          <a:xfrm flipH="1">
            <a:off x="6162091" y="3919954"/>
            <a:ext cx="518765" cy="4996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Straight Connector 147"/>
          <p:cNvCxnSpPr>
            <a:stCxn id="127" idx="2"/>
            <a:endCxn id="131" idx="0"/>
          </p:cNvCxnSpPr>
          <p:nvPr/>
        </p:nvCxnSpPr>
        <p:spPr bwMode="auto">
          <a:xfrm>
            <a:off x="6680856" y="3919954"/>
            <a:ext cx="533400" cy="4996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9" name="Straight Connector 148"/>
          <p:cNvCxnSpPr>
            <a:stCxn id="128" idx="2"/>
            <a:endCxn id="130" idx="0"/>
          </p:cNvCxnSpPr>
          <p:nvPr/>
        </p:nvCxnSpPr>
        <p:spPr bwMode="auto">
          <a:xfrm flipH="1">
            <a:off x="8119605" y="3919954"/>
            <a:ext cx="1" cy="4996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" name="Straight Connector 149"/>
          <p:cNvCxnSpPr>
            <a:stCxn id="131" idx="2"/>
            <a:endCxn id="132" idx="0"/>
          </p:cNvCxnSpPr>
          <p:nvPr/>
        </p:nvCxnSpPr>
        <p:spPr bwMode="auto">
          <a:xfrm>
            <a:off x="7214256" y="4758154"/>
            <a:ext cx="0" cy="54209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1" name="TextBox 150"/>
          <p:cNvSpPr txBox="1"/>
          <p:nvPr/>
        </p:nvSpPr>
        <p:spPr>
          <a:xfrm>
            <a:off x="3906419" y="4419600"/>
            <a:ext cx="1046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hello.c</a:t>
            </a:r>
            <a:endParaRPr lang="en-US" sz="16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8095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Pathnames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518525" cy="1914525"/>
          </a:xfrm>
        </p:spPr>
        <p:txBody>
          <a:bodyPr/>
          <a:lstStyle/>
          <a:p>
            <a:r>
              <a:rPr lang="en-US" dirty="0" smtClean="0"/>
              <a:t>Locations of files in the hierarchy denoted by </a:t>
            </a:r>
            <a:r>
              <a:rPr lang="en-US" i="1" dirty="0" smtClean="0"/>
              <a:t>pathnames</a:t>
            </a:r>
          </a:p>
          <a:p>
            <a:pPr lvl="1"/>
            <a:r>
              <a:rPr lang="en-US" i="1" dirty="0" smtClean="0"/>
              <a:t>Absolute pathname </a:t>
            </a:r>
            <a:r>
              <a:rPr lang="en-US" dirty="0" smtClean="0"/>
              <a:t>starts with ‘/’ and denotes path from root</a:t>
            </a:r>
          </a:p>
          <a:p>
            <a:pPr lvl="2"/>
            <a:r>
              <a:rPr lang="en-US" b="1" dirty="0" smtClean="0">
                <a:latin typeface="Courier New"/>
                <a:cs typeface="Courier New"/>
              </a:rPr>
              <a:t>/home/</a:t>
            </a:r>
            <a:r>
              <a:rPr lang="en-US" b="1" dirty="0" err="1" smtClean="0">
                <a:latin typeface="Courier New"/>
                <a:cs typeface="Courier New"/>
              </a:rPr>
              <a:t>droh</a:t>
            </a:r>
            <a:r>
              <a:rPr lang="en-US" b="1" dirty="0" smtClean="0">
                <a:latin typeface="Courier New"/>
                <a:cs typeface="Courier New"/>
              </a:rPr>
              <a:t>/</a:t>
            </a:r>
            <a:r>
              <a:rPr lang="en-US" b="1" dirty="0" err="1" smtClean="0">
                <a:latin typeface="Courier New"/>
                <a:cs typeface="Courier New"/>
              </a:rPr>
              <a:t>hello.c</a:t>
            </a:r>
            <a:endParaRPr lang="en-US" b="1" dirty="0">
              <a:latin typeface="Courier New"/>
              <a:cs typeface="Courier New"/>
            </a:endParaRPr>
          </a:p>
          <a:p>
            <a:pPr lvl="1"/>
            <a:r>
              <a:rPr lang="en-US" i="1" dirty="0" smtClean="0">
                <a:latin typeface="+mn-lt"/>
                <a:cs typeface="Courier New"/>
              </a:rPr>
              <a:t>Relative pathname </a:t>
            </a:r>
            <a:r>
              <a:rPr lang="en-US" dirty="0" smtClean="0">
                <a:latin typeface="+mn-lt"/>
                <a:cs typeface="Courier New"/>
              </a:rPr>
              <a:t>denotes path from current working directory</a:t>
            </a:r>
          </a:p>
          <a:p>
            <a:pPr lvl="2"/>
            <a:r>
              <a:rPr lang="en-US" b="1" dirty="0" smtClean="0">
                <a:latin typeface="Courier New"/>
                <a:cs typeface="Courier New"/>
              </a:rPr>
              <a:t>../home/</a:t>
            </a:r>
            <a:r>
              <a:rPr lang="en-US" b="1" dirty="0" err="1" smtClean="0">
                <a:latin typeface="Courier New"/>
                <a:cs typeface="Courier New"/>
              </a:rPr>
              <a:t>droh</a:t>
            </a:r>
            <a:r>
              <a:rPr lang="en-US" b="1" dirty="0" smtClean="0">
                <a:latin typeface="Courier New"/>
                <a:cs typeface="Courier New"/>
              </a:rPr>
              <a:t>/</a:t>
            </a:r>
            <a:r>
              <a:rPr lang="en-US" b="1" dirty="0" err="1" smtClean="0">
                <a:latin typeface="Courier New"/>
                <a:cs typeface="Courier New"/>
              </a:rPr>
              <a:t>hello.c</a:t>
            </a:r>
            <a:endParaRPr lang="en-US" b="1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115" name="TextBox 114"/>
          <p:cNvSpPr txBox="1"/>
          <p:nvPr/>
        </p:nvSpPr>
        <p:spPr>
          <a:xfrm>
            <a:off x="3962400" y="3505200"/>
            <a:ext cx="307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74353" y="42291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bin/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143000" y="42291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dev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376835" y="42291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etc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457480" y="4229100"/>
            <a:ext cx="800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home/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7095211" y="42291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urier New"/>
                <a:cs typeface="Courier New"/>
              </a:rPr>
              <a:t>u</a:t>
            </a:r>
            <a:r>
              <a:rPr lang="en-US" sz="1600" dirty="0" err="1" smtClean="0">
                <a:latin typeface="Courier New"/>
                <a:cs typeface="Courier New"/>
              </a:rPr>
              <a:t>sr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74353" y="48768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bash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143000" y="48768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tty1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957514" y="4876800"/>
            <a:ext cx="800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group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2734150" y="4876800"/>
            <a:ext cx="923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passwd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029550" y="4876800"/>
            <a:ext cx="800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>
                <a:latin typeface="Courier New"/>
                <a:cs typeface="Courier New"/>
              </a:rPr>
              <a:t>droh</a:t>
            </a:r>
            <a:r>
              <a:rPr lang="en-US" sz="1600" dirty="0" smtClean="0">
                <a:latin typeface="Courier New"/>
                <a:cs typeface="Courier New"/>
              </a:rPr>
              <a:t>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897019" y="4876800"/>
            <a:ext cx="1046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solidFill>
                  <a:srgbClr val="3333CC"/>
                </a:solidFill>
                <a:latin typeface="Courier New"/>
                <a:cs typeface="Courier New"/>
              </a:rPr>
              <a:t>bryant</a:t>
            </a:r>
            <a:r>
              <a:rPr lang="en-US" sz="1600" dirty="0" smtClean="0">
                <a:solidFill>
                  <a:srgbClr val="3333CC"/>
                </a:solidFill>
                <a:latin typeface="Courier New"/>
                <a:cs typeface="Courier New"/>
              </a:rPr>
              <a:t>/</a:t>
            </a:r>
            <a:endParaRPr lang="en-US" sz="1600" dirty="0">
              <a:solidFill>
                <a:srgbClr val="3333CC"/>
              </a:solidFill>
              <a:latin typeface="Courier New"/>
              <a:cs typeface="Courier New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96000" y="4876800"/>
            <a:ext cx="1169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include/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781011" y="48768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bin/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638800" y="5715000"/>
            <a:ext cx="1046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stdio.h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7842576" y="5715000"/>
            <a:ext cx="554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vim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875661" y="5715000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ourier New"/>
                <a:cs typeface="Courier New"/>
              </a:rPr>
              <a:t>sys/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629400" y="6595646"/>
            <a:ext cx="1169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Courier New"/>
                <a:cs typeface="Courier New"/>
              </a:rPr>
              <a:t>unistd.h</a:t>
            </a:r>
            <a:endParaRPr lang="en-US" sz="1600" dirty="0">
              <a:latin typeface="Courier New"/>
              <a:cs typeface="Courier New"/>
            </a:endParaRPr>
          </a:p>
        </p:txBody>
      </p:sp>
      <p:cxnSp>
        <p:nvCxnSpPr>
          <p:cNvPr id="133" name="Straight Connector 132"/>
          <p:cNvCxnSpPr>
            <a:stCxn id="115" idx="2"/>
            <a:endCxn id="116" idx="0"/>
          </p:cNvCxnSpPr>
          <p:nvPr/>
        </p:nvCxnSpPr>
        <p:spPr bwMode="auto">
          <a:xfrm flipH="1">
            <a:off x="512948" y="3843754"/>
            <a:ext cx="3603351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Straight Connector 133"/>
          <p:cNvCxnSpPr>
            <a:stCxn id="115" idx="2"/>
            <a:endCxn id="117" idx="0"/>
          </p:cNvCxnSpPr>
          <p:nvPr/>
        </p:nvCxnSpPr>
        <p:spPr bwMode="auto">
          <a:xfrm flipH="1">
            <a:off x="1481595" y="3843754"/>
            <a:ext cx="2634704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Straight Connector 134"/>
          <p:cNvCxnSpPr>
            <a:stCxn id="115" idx="2"/>
            <a:endCxn id="118" idx="0"/>
          </p:cNvCxnSpPr>
          <p:nvPr/>
        </p:nvCxnSpPr>
        <p:spPr bwMode="auto">
          <a:xfrm flipH="1">
            <a:off x="2715430" y="3843754"/>
            <a:ext cx="1400869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Straight Connector 135"/>
          <p:cNvCxnSpPr>
            <a:stCxn id="115" idx="2"/>
            <a:endCxn id="119" idx="0"/>
          </p:cNvCxnSpPr>
          <p:nvPr/>
        </p:nvCxnSpPr>
        <p:spPr bwMode="auto">
          <a:xfrm>
            <a:off x="4116299" y="3843754"/>
            <a:ext cx="741341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Straight Connector 136"/>
          <p:cNvCxnSpPr>
            <a:stCxn id="115" idx="2"/>
            <a:endCxn id="120" idx="0"/>
          </p:cNvCxnSpPr>
          <p:nvPr/>
        </p:nvCxnSpPr>
        <p:spPr bwMode="auto">
          <a:xfrm>
            <a:off x="4116299" y="3843754"/>
            <a:ext cx="3317507" cy="3853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Straight Connector 137"/>
          <p:cNvCxnSpPr>
            <a:stCxn id="119" idx="2"/>
            <a:endCxn id="125" idx="0"/>
          </p:cNvCxnSpPr>
          <p:nvPr/>
        </p:nvCxnSpPr>
        <p:spPr bwMode="auto">
          <a:xfrm flipH="1">
            <a:off x="4429710" y="4567654"/>
            <a:ext cx="42793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Straight Connector 138"/>
          <p:cNvCxnSpPr>
            <a:stCxn id="119" idx="2"/>
            <a:endCxn id="126" idx="0"/>
          </p:cNvCxnSpPr>
          <p:nvPr/>
        </p:nvCxnSpPr>
        <p:spPr bwMode="auto">
          <a:xfrm>
            <a:off x="4857640" y="4567654"/>
            <a:ext cx="56267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Straight Connector 139"/>
          <p:cNvCxnSpPr>
            <a:stCxn id="125" idx="2"/>
          </p:cNvCxnSpPr>
          <p:nvPr/>
        </p:nvCxnSpPr>
        <p:spPr bwMode="auto">
          <a:xfrm>
            <a:off x="4429710" y="5215354"/>
            <a:ext cx="0" cy="5377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Straight Connector 140"/>
          <p:cNvCxnSpPr>
            <a:stCxn id="116" idx="2"/>
            <a:endCxn id="121" idx="0"/>
          </p:cNvCxnSpPr>
          <p:nvPr/>
        </p:nvCxnSpPr>
        <p:spPr bwMode="auto">
          <a:xfrm>
            <a:off x="512948" y="4567654"/>
            <a:ext cx="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Straight Connector 141"/>
          <p:cNvCxnSpPr>
            <a:stCxn id="117" idx="2"/>
            <a:endCxn id="122" idx="0"/>
          </p:cNvCxnSpPr>
          <p:nvPr/>
        </p:nvCxnSpPr>
        <p:spPr bwMode="auto">
          <a:xfrm>
            <a:off x="1481595" y="4567654"/>
            <a:ext cx="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Straight Connector 142"/>
          <p:cNvCxnSpPr>
            <a:stCxn id="118" idx="2"/>
            <a:endCxn id="123" idx="0"/>
          </p:cNvCxnSpPr>
          <p:nvPr/>
        </p:nvCxnSpPr>
        <p:spPr bwMode="auto">
          <a:xfrm flipH="1">
            <a:off x="2357674" y="4567654"/>
            <a:ext cx="357756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Straight Connector 143"/>
          <p:cNvCxnSpPr>
            <a:stCxn id="118" idx="2"/>
            <a:endCxn id="124" idx="0"/>
          </p:cNvCxnSpPr>
          <p:nvPr/>
        </p:nvCxnSpPr>
        <p:spPr bwMode="auto">
          <a:xfrm>
            <a:off x="2715430" y="4567654"/>
            <a:ext cx="480445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Straight Connector 144"/>
          <p:cNvCxnSpPr>
            <a:stCxn id="120" idx="2"/>
            <a:endCxn id="127" idx="0"/>
          </p:cNvCxnSpPr>
          <p:nvPr/>
        </p:nvCxnSpPr>
        <p:spPr bwMode="auto">
          <a:xfrm flipH="1">
            <a:off x="6680856" y="4567654"/>
            <a:ext cx="75295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Straight Connector 145"/>
          <p:cNvCxnSpPr>
            <a:stCxn id="120" idx="2"/>
            <a:endCxn id="128" idx="0"/>
          </p:cNvCxnSpPr>
          <p:nvPr/>
        </p:nvCxnSpPr>
        <p:spPr bwMode="auto">
          <a:xfrm>
            <a:off x="7433806" y="4567654"/>
            <a:ext cx="685800" cy="3091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Straight Connector 146"/>
          <p:cNvCxnSpPr>
            <a:stCxn id="127" idx="2"/>
            <a:endCxn id="129" idx="0"/>
          </p:cNvCxnSpPr>
          <p:nvPr/>
        </p:nvCxnSpPr>
        <p:spPr bwMode="auto">
          <a:xfrm flipH="1">
            <a:off x="6162091" y="5215354"/>
            <a:ext cx="518765" cy="4996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Straight Connector 147"/>
          <p:cNvCxnSpPr>
            <a:stCxn id="127" idx="2"/>
            <a:endCxn id="131" idx="0"/>
          </p:cNvCxnSpPr>
          <p:nvPr/>
        </p:nvCxnSpPr>
        <p:spPr bwMode="auto">
          <a:xfrm>
            <a:off x="6680856" y="5215354"/>
            <a:ext cx="533400" cy="4996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9" name="Straight Connector 148"/>
          <p:cNvCxnSpPr>
            <a:stCxn id="128" idx="2"/>
            <a:endCxn id="130" idx="0"/>
          </p:cNvCxnSpPr>
          <p:nvPr/>
        </p:nvCxnSpPr>
        <p:spPr bwMode="auto">
          <a:xfrm flipH="1">
            <a:off x="8119605" y="5215354"/>
            <a:ext cx="1" cy="49964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" name="Straight Connector 149"/>
          <p:cNvCxnSpPr>
            <a:stCxn id="131" idx="2"/>
            <a:endCxn id="132" idx="0"/>
          </p:cNvCxnSpPr>
          <p:nvPr/>
        </p:nvCxnSpPr>
        <p:spPr bwMode="auto">
          <a:xfrm>
            <a:off x="7214256" y="6053554"/>
            <a:ext cx="0" cy="54209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1" name="TextBox 150"/>
          <p:cNvSpPr txBox="1"/>
          <p:nvPr/>
        </p:nvSpPr>
        <p:spPr>
          <a:xfrm>
            <a:off x="3906419" y="5715000"/>
            <a:ext cx="1046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solidFill>
                  <a:srgbClr val="FF0000"/>
                </a:solidFill>
                <a:latin typeface="Courier New"/>
                <a:cs typeface="Courier New"/>
              </a:rPr>
              <a:t>hello.c</a:t>
            </a:r>
            <a:endParaRPr lang="en-US" sz="16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27506" y="3474422"/>
            <a:ext cx="244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+mn-lt"/>
                <a:cs typeface="Courier New"/>
              </a:rPr>
              <a:t>cwd</a:t>
            </a:r>
            <a:r>
              <a:rPr lang="en-US" sz="1800" dirty="0" smtClean="0">
                <a:latin typeface="+mn-lt"/>
                <a:cs typeface="Courier New"/>
              </a:rPr>
              <a:t>:</a:t>
            </a:r>
            <a:r>
              <a:rPr lang="en-US" sz="1800" dirty="0" smtClean="0">
                <a:latin typeface="Courier New"/>
                <a:cs typeface="Courier New"/>
              </a:rPr>
              <a:t> </a:t>
            </a:r>
            <a:r>
              <a:rPr lang="en-US" sz="1800" dirty="0" smtClean="0">
                <a:solidFill>
                  <a:schemeClr val="accent2"/>
                </a:solidFill>
                <a:latin typeface="Courier New"/>
                <a:cs typeface="Courier New"/>
              </a:rPr>
              <a:t>/home/</a:t>
            </a:r>
            <a:r>
              <a:rPr lang="en-US" sz="1800" dirty="0" err="1" smtClean="0">
                <a:solidFill>
                  <a:schemeClr val="accent2"/>
                </a:solidFill>
                <a:latin typeface="Courier New"/>
                <a:cs typeface="Courier New"/>
              </a:rPr>
              <a:t>bryant</a:t>
            </a:r>
            <a:endParaRPr lang="en-US" sz="1800" dirty="0" smtClean="0">
              <a:solidFill>
                <a:schemeClr val="accent2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66779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56286" y="493712"/>
            <a:ext cx="6496050" cy="573088"/>
          </a:xfrm>
        </p:spPr>
        <p:txBody>
          <a:bodyPr/>
          <a:lstStyle/>
          <a:p>
            <a:r>
              <a:rPr lang="en-US"/>
              <a:t>Opening Files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713" y="1296988"/>
            <a:ext cx="8624887" cy="5256212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Opening a file informs the kernel that you are getting ready to access that file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 smtClean="0"/>
          </a:p>
          <a:p>
            <a:pPr>
              <a:lnSpc>
                <a:spcPct val="85000"/>
              </a:lnSpc>
            </a:pPr>
            <a:r>
              <a:rPr lang="en-US" dirty="0" smtClean="0"/>
              <a:t>Returns </a:t>
            </a:r>
            <a:r>
              <a:rPr lang="en-US" dirty="0"/>
              <a:t>a small identifying integer </a:t>
            </a:r>
            <a:r>
              <a:rPr lang="en-US" i="1" dirty="0">
                <a:solidFill>
                  <a:srgbClr val="C00000"/>
                </a:solidFill>
              </a:rPr>
              <a:t>file descriptor</a:t>
            </a:r>
          </a:p>
          <a:p>
            <a:pPr lvl="1">
              <a:lnSpc>
                <a:spcPct val="90000"/>
              </a:lnSpc>
            </a:pPr>
            <a:r>
              <a:rPr lang="en-US" b="1" dirty="0" err="1">
                <a:latin typeface="Courier New" pitchFamily="49" charset="0"/>
              </a:rPr>
              <a:t>fd</a:t>
            </a:r>
            <a:r>
              <a:rPr lang="en-US" b="1" dirty="0">
                <a:latin typeface="Courier New" pitchFamily="49" charset="0"/>
              </a:rPr>
              <a:t> == -1</a:t>
            </a:r>
            <a:r>
              <a:rPr lang="en-US" b="1" dirty="0"/>
              <a:t> </a:t>
            </a:r>
            <a:r>
              <a:rPr lang="en-US" dirty="0"/>
              <a:t>indicates that an error occurred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Each process created by a </a:t>
            </a:r>
            <a:r>
              <a:rPr lang="en-US" dirty="0" smtClean="0"/>
              <a:t>Linux </a:t>
            </a:r>
            <a:r>
              <a:rPr lang="en-US" dirty="0"/>
              <a:t>shell begins life with three open files associated with a terminal: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0: standard </a:t>
            </a:r>
            <a:r>
              <a:rPr lang="en-US" dirty="0" smtClean="0"/>
              <a:t>input (</a:t>
            </a:r>
            <a:r>
              <a:rPr lang="en-US" dirty="0" err="1" smtClean="0"/>
              <a:t>stdin</a:t>
            </a:r>
            <a:r>
              <a:rPr lang="en-US" dirty="0" smtClean="0"/>
              <a:t>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1: standard </a:t>
            </a:r>
            <a:r>
              <a:rPr lang="en-US" dirty="0" smtClean="0"/>
              <a:t>output (</a:t>
            </a:r>
            <a:r>
              <a:rPr lang="en-US" dirty="0" err="1" smtClean="0"/>
              <a:t>stdout</a:t>
            </a:r>
            <a:r>
              <a:rPr lang="en-US" dirty="0" smtClean="0"/>
              <a:t>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2: standard </a:t>
            </a:r>
            <a:r>
              <a:rPr lang="en-US" dirty="0" smtClean="0"/>
              <a:t>error (</a:t>
            </a:r>
            <a:r>
              <a:rPr lang="en-US" dirty="0" err="1" smtClean="0"/>
              <a:t>stderr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33860" name="Text Box 4"/>
          <p:cNvSpPr txBox="1">
            <a:spLocks noChangeArrowheads="1"/>
          </p:cNvSpPr>
          <p:nvPr/>
        </p:nvSpPr>
        <p:spPr bwMode="auto">
          <a:xfrm>
            <a:off x="821724" y="2057400"/>
            <a:ext cx="6324600" cy="15843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;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file descriptor */</a:t>
            </a: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if ((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 = open("/etc/hosts", O_RDONLY)) &lt; 0) {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</a:t>
            </a:r>
            <a:r>
              <a:rPr lang="en-US" sz="1600" dirty="0" err="1">
                <a:latin typeface="Courier New" pitchFamily="49" charset="0"/>
              </a:rPr>
              <a:t>perror</a:t>
            </a:r>
            <a:r>
              <a:rPr lang="en-US" sz="1600" dirty="0">
                <a:latin typeface="Courier New" pitchFamily="49" charset="0"/>
              </a:rPr>
              <a:t>("open");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exit(1);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11685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35678"/>
            <a:ext cx="7592093" cy="762000"/>
          </a:xfrm>
        </p:spPr>
        <p:txBody>
          <a:bodyPr/>
          <a:lstStyle/>
          <a:p>
            <a:r>
              <a:rPr lang="en-US" dirty="0"/>
              <a:t>Closing Files</a:t>
            </a:r>
          </a:p>
        </p:txBody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a file informs the kernel that you are finished accessing that file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Closing </a:t>
            </a:r>
            <a:r>
              <a:rPr lang="en-US" dirty="0"/>
              <a:t>an already closed file is a recipe for disaster in threaded programs (more on this later)</a:t>
            </a:r>
          </a:p>
          <a:p>
            <a:r>
              <a:rPr lang="en-US" dirty="0"/>
              <a:t>Moral: Always check return codes, even for seemingly benign functions such as </a:t>
            </a:r>
            <a:r>
              <a:rPr lang="en-US" dirty="0">
                <a:latin typeface="Courier New" pitchFamily="49" charset="0"/>
              </a:rPr>
              <a:t>close()</a:t>
            </a:r>
          </a:p>
        </p:txBody>
      </p:sp>
      <p:sp>
        <p:nvSpPr>
          <p:cNvPr id="752644" name="Text Box 4"/>
          <p:cNvSpPr txBox="1">
            <a:spLocks noChangeArrowheads="1"/>
          </p:cNvSpPr>
          <p:nvPr/>
        </p:nvSpPr>
        <p:spPr bwMode="auto">
          <a:xfrm>
            <a:off x="838200" y="2286000"/>
            <a:ext cx="6324600" cy="1828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 fd;  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file descriptor */</a:t>
            </a:r>
          </a:p>
          <a:p>
            <a:r>
              <a:rPr lang="en-US" sz="1600" dirty="0" err="1">
                <a:latin typeface="Courier New" pitchFamily="49" charset="0"/>
              </a:rPr>
              <a:t>int retval;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return value */</a:t>
            </a:r>
          </a:p>
          <a:p>
            <a:endParaRPr lang="en-US" sz="1600" dirty="0" err="1">
              <a:latin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</a:rPr>
              <a:t>if ((retval = close(fd)) &lt; 0) {</a:t>
            </a:r>
          </a:p>
          <a:p>
            <a:r>
              <a:rPr lang="en-US" sz="1600" dirty="0" err="1">
                <a:latin typeface="Courier New" pitchFamily="49" charset="0"/>
              </a:rPr>
              <a:t>   perror("close");</a:t>
            </a:r>
          </a:p>
          <a:p>
            <a:r>
              <a:rPr lang="en-US" sz="1600" dirty="0" err="1">
                <a:latin typeface="Courier New" pitchFamily="49" charset="0"/>
              </a:rPr>
              <a:t>   exit(1);</a:t>
            </a:r>
          </a:p>
          <a:p>
            <a:r>
              <a:rPr lang="en-US" sz="1600" dirty="0" err="1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054275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6496050" cy="573087"/>
          </a:xfrm>
        </p:spPr>
        <p:txBody>
          <a:bodyPr/>
          <a:lstStyle/>
          <a:p>
            <a:r>
              <a:rPr lang="en-US"/>
              <a:t>Reading Files</a:t>
            </a:r>
          </a:p>
        </p:txBody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1219200"/>
            <a:ext cx="8307387" cy="52578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Reading a file copies bytes from the current file position to memory, and then updates file position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 smtClean="0"/>
          </a:p>
          <a:p>
            <a:pPr>
              <a:lnSpc>
                <a:spcPct val="85000"/>
              </a:lnSpc>
            </a:pPr>
            <a:endParaRPr lang="en-US" dirty="0" smtClean="0"/>
          </a:p>
          <a:p>
            <a:pPr>
              <a:lnSpc>
                <a:spcPct val="85000"/>
              </a:lnSpc>
            </a:pPr>
            <a:r>
              <a:rPr lang="en-US" dirty="0" smtClean="0"/>
              <a:t>Returns </a:t>
            </a:r>
            <a:r>
              <a:rPr lang="en-US" dirty="0"/>
              <a:t>number of bytes read from file </a:t>
            </a:r>
            <a:r>
              <a:rPr lang="en-US" dirty="0" err="1">
                <a:latin typeface="Courier New" pitchFamily="49" charset="0"/>
              </a:rPr>
              <a:t>fd</a:t>
            </a:r>
            <a:r>
              <a:rPr lang="en-US" dirty="0"/>
              <a:t> into </a:t>
            </a:r>
            <a:r>
              <a:rPr lang="en-US" dirty="0" err="1">
                <a:latin typeface="Courier New" pitchFamily="49" charset="0"/>
              </a:rPr>
              <a:t>buf</a:t>
            </a:r>
            <a:endParaRPr 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Return type </a:t>
            </a:r>
            <a:r>
              <a:rPr lang="en-US" b="1" dirty="0" err="1">
                <a:latin typeface="Courier New" pitchFamily="49" charset="0"/>
              </a:rPr>
              <a:t>ssize_t</a:t>
            </a:r>
            <a:r>
              <a:rPr lang="en-US" dirty="0"/>
              <a:t> is signed integer</a:t>
            </a:r>
            <a:endParaRPr 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b="1" dirty="0" err="1">
                <a:latin typeface="Courier New" pitchFamily="49" charset="0"/>
              </a:rPr>
              <a:t>nbytes</a:t>
            </a:r>
            <a:r>
              <a:rPr lang="en-US" b="1" dirty="0">
                <a:latin typeface="Courier New" pitchFamily="49" charset="0"/>
              </a:rPr>
              <a:t> &lt; 0</a:t>
            </a:r>
            <a:r>
              <a:rPr lang="en-US" b="1" dirty="0"/>
              <a:t> </a:t>
            </a:r>
            <a:r>
              <a:rPr lang="en-US" dirty="0"/>
              <a:t>indicates that an error occurred</a:t>
            </a:r>
          </a:p>
          <a:p>
            <a:pPr lvl="1">
              <a:lnSpc>
                <a:spcPct val="90000"/>
              </a:lnSpc>
            </a:pPr>
            <a:r>
              <a:rPr lang="en-US" b="1" i="1" dirty="0">
                <a:solidFill>
                  <a:srgbClr val="C00000"/>
                </a:solidFill>
              </a:rPr>
              <a:t>S</a:t>
            </a:r>
            <a:r>
              <a:rPr lang="en-US" b="1" i="1" dirty="0" smtClean="0">
                <a:solidFill>
                  <a:srgbClr val="C00000"/>
                </a:solidFill>
              </a:rPr>
              <a:t>hort </a:t>
            </a:r>
            <a:r>
              <a:rPr lang="en-US" b="1" i="1" dirty="0">
                <a:solidFill>
                  <a:srgbClr val="C00000"/>
                </a:solidFill>
              </a:rPr>
              <a:t>counts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 err="1">
                <a:latin typeface="Courier New" pitchFamily="49" charset="0"/>
              </a:rPr>
              <a:t>nbytes</a:t>
            </a:r>
            <a:r>
              <a:rPr lang="en-US" b="1" dirty="0">
                <a:latin typeface="Courier New" pitchFamily="49" charset="0"/>
              </a:rPr>
              <a:t> &lt; </a:t>
            </a:r>
            <a:r>
              <a:rPr lang="en-US" b="1" dirty="0" err="1">
                <a:latin typeface="Courier New" pitchFamily="49" charset="0"/>
              </a:rPr>
              <a:t>sizeof</a:t>
            </a:r>
            <a:r>
              <a:rPr lang="en-US" b="1" dirty="0">
                <a:latin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</a:rPr>
              <a:t>buf</a:t>
            </a:r>
            <a:r>
              <a:rPr lang="en-US" b="1" dirty="0">
                <a:latin typeface="Courier New" pitchFamily="49" charset="0"/>
              </a:rPr>
              <a:t>)</a:t>
            </a:r>
            <a:r>
              <a:rPr lang="en-US" b="1" dirty="0"/>
              <a:t> </a:t>
            </a:r>
            <a:r>
              <a:rPr lang="en-US" dirty="0"/>
              <a:t>) are possible and are not errors!</a:t>
            </a:r>
          </a:p>
        </p:txBody>
      </p:sp>
      <p:sp>
        <p:nvSpPr>
          <p:cNvPr id="634884" name="Text Box 4"/>
          <p:cNvSpPr txBox="1">
            <a:spLocks noChangeArrowheads="1"/>
          </p:cNvSpPr>
          <p:nvPr/>
        </p:nvSpPr>
        <p:spPr bwMode="auto">
          <a:xfrm>
            <a:off x="834424" y="2085975"/>
            <a:ext cx="6076950" cy="25622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char buf[512];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 fd;    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file descriptor */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 nbytes;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number of bytes read */</a:t>
            </a:r>
          </a:p>
          <a:p>
            <a:pPr>
              <a:lnSpc>
                <a:spcPct val="100000"/>
              </a:lnSpc>
            </a:pPr>
            <a:endParaRPr lang="en-US" sz="1600" dirty="0" err="1">
              <a:latin typeface="Courier New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Open file fd ...  */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Then read up to 512 bytes from file fd */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if ((nbytes = read(fd, buf, sizeof(buf))) &lt; 0) {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   perror("read");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   exit(1);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92915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6634163" cy="573088"/>
          </a:xfrm>
        </p:spPr>
        <p:txBody>
          <a:bodyPr/>
          <a:lstStyle/>
          <a:p>
            <a:r>
              <a:rPr lang="en-US"/>
              <a:t>Writing Files</a:t>
            </a:r>
          </a:p>
        </p:txBody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548687" cy="5562600"/>
          </a:xfrm>
        </p:spPr>
        <p:txBody>
          <a:bodyPr/>
          <a:lstStyle/>
          <a:p>
            <a:r>
              <a:rPr lang="en-US" dirty="0"/>
              <a:t>Writing a file copies bytes from memory to the current file position, and then updates current file position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Returns </a:t>
            </a:r>
            <a:r>
              <a:rPr lang="en-US" dirty="0"/>
              <a:t>number of bytes written from </a:t>
            </a:r>
            <a:r>
              <a:rPr lang="en-US" dirty="0" err="1">
                <a:latin typeface="Courier New" pitchFamily="49" charset="0"/>
              </a:rPr>
              <a:t>buf</a:t>
            </a:r>
            <a:r>
              <a:rPr lang="en-US" dirty="0"/>
              <a:t> to file </a:t>
            </a:r>
            <a:r>
              <a:rPr lang="en-US" dirty="0" err="1">
                <a:latin typeface="Courier New" pitchFamily="49" charset="0"/>
              </a:rPr>
              <a:t>fd</a:t>
            </a:r>
            <a:endParaRPr lang="en-US" dirty="0"/>
          </a:p>
          <a:p>
            <a:pPr lvl="1"/>
            <a:r>
              <a:rPr lang="en-US" b="1" dirty="0" err="1">
                <a:latin typeface="Courier New" pitchFamily="49" charset="0"/>
              </a:rPr>
              <a:t>nbytes</a:t>
            </a:r>
            <a:r>
              <a:rPr lang="en-US" b="1" dirty="0">
                <a:latin typeface="Courier New" pitchFamily="49" charset="0"/>
              </a:rPr>
              <a:t> &lt; 0</a:t>
            </a:r>
            <a:r>
              <a:rPr lang="en-US" b="1" dirty="0"/>
              <a:t> </a:t>
            </a:r>
            <a:r>
              <a:rPr lang="en-US" dirty="0"/>
              <a:t>indicates that an error occurred</a:t>
            </a:r>
          </a:p>
          <a:p>
            <a:pPr lvl="1"/>
            <a:r>
              <a:rPr lang="en-US" dirty="0"/>
              <a:t>As with reads, short counts are possible and are not errors!</a:t>
            </a:r>
          </a:p>
        </p:txBody>
      </p:sp>
      <p:sp>
        <p:nvSpPr>
          <p:cNvPr id="635908" name="Text Box 4"/>
          <p:cNvSpPr txBox="1">
            <a:spLocks noChangeArrowheads="1"/>
          </p:cNvSpPr>
          <p:nvPr/>
        </p:nvSpPr>
        <p:spPr bwMode="auto">
          <a:xfrm>
            <a:off x="831549" y="2133600"/>
            <a:ext cx="6565900" cy="25622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char buf[512];</a:t>
            </a:r>
          </a:p>
          <a:p>
            <a:r>
              <a:rPr lang="en-US" sz="1600" dirty="0" err="1">
                <a:latin typeface="Courier New" pitchFamily="49" charset="0"/>
              </a:rPr>
              <a:t>int fd;    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file descriptor */</a:t>
            </a:r>
          </a:p>
          <a:p>
            <a:r>
              <a:rPr lang="en-US" sz="1600" dirty="0" err="1">
                <a:latin typeface="Courier New" pitchFamily="49" charset="0"/>
              </a:rPr>
              <a:t>int nbytes;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number of bytes read */</a:t>
            </a:r>
          </a:p>
          <a:p>
            <a:endParaRPr lang="en-US" sz="1600" dirty="0" err="1">
              <a:latin typeface="Courier New" pitchFamily="49" charset="0"/>
            </a:endParaRPr>
          </a:p>
          <a:p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Open the file fd ... */</a:t>
            </a:r>
          </a:p>
          <a:p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Then write up to 512 bytes from buf to file fd */</a:t>
            </a:r>
          </a:p>
          <a:p>
            <a:r>
              <a:rPr lang="en-US" sz="1600" dirty="0" err="1">
                <a:latin typeface="Courier New" pitchFamily="49" charset="0"/>
              </a:rPr>
              <a:t>if ((nbytes = write(fd, buf, sizeof(buf)) &lt; 0) {</a:t>
            </a:r>
          </a:p>
          <a:p>
            <a:r>
              <a:rPr lang="en-US" sz="1600" dirty="0" err="1">
                <a:latin typeface="Courier New" pitchFamily="49" charset="0"/>
              </a:rPr>
              <a:t>   perror("write");</a:t>
            </a:r>
          </a:p>
          <a:p>
            <a:r>
              <a:rPr lang="en-US" sz="1600" dirty="0" err="1">
                <a:latin typeface="Courier New" pitchFamily="49" charset="0"/>
              </a:rPr>
              <a:t>   exit(1);</a:t>
            </a:r>
          </a:p>
          <a:p>
            <a:r>
              <a:rPr lang="en-US" sz="1600" dirty="0" err="1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98240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Unix I/O example</a:t>
            </a:r>
          </a:p>
        </p:txBody>
      </p:sp>
      <p:sp>
        <p:nvSpPr>
          <p:cNvPr id="66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610600" cy="5410200"/>
          </a:xfrm>
        </p:spPr>
        <p:txBody>
          <a:bodyPr/>
          <a:lstStyle/>
          <a:p>
            <a:r>
              <a:rPr lang="en-US" dirty="0"/>
              <a:t>Copying </a:t>
            </a:r>
            <a:r>
              <a:rPr lang="en-US" dirty="0" err="1" smtClean="0"/>
              <a:t>stdin</a:t>
            </a:r>
            <a:r>
              <a:rPr lang="en-US" dirty="0" smtClean="0"/>
              <a:t> to </a:t>
            </a:r>
            <a:r>
              <a:rPr lang="en-US" dirty="0" err="1" smtClean="0"/>
              <a:t>stdout</a:t>
            </a:r>
            <a:r>
              <a:rPr lang="en-US" dirty="0" smtClean="0"/>
              <a:t>, </a:t>
            </a:r>
            <a:r>
              <a:rPr lang="en-US" dirty="0"/>
              <a:t>one byte at a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61508" name="Text Box 4"/>
          <p:cNvSpPr txBox="1">
            <a:spLocks noChangeArrowheads="1"/>
          </p:cNvSpPr>
          <p:nvPr/>
        </p:nvSpPr>
        <p:spPr bwMode="auto">
          <a:xfrm>
            <a:off x="990600" y="2057400"/>
            <a:ext cx="6461125" cy="255454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square" lIns="45720" rIns="45720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926492"/>
                </a:solidFill>
                <a:latin typeface="Courier New"/>
                <a:cs typeface="Courier New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csapp.h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 err="1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da-DK" sz="1600" dirty="0">
                <a:solidFill>
                  <a:srgbClr val="C1651C"/>
                </a:solidFill>
                <a:latin typeface="Courier New"/>
                <a:cs typeface="Courier New"/>
              </a:rPr>
              <a:t>c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(Read(STDIN_FILENO, &amp;c, 1) != 0)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Write(STDOUT_FILENO, &amp;c, 1);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exit(0);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310085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592093" cy="762000"/>
          </a:xfrm>
        </p:spPr>
        <p:txBody>
          <a:bodyPr/>
          <a:lstStyle/>
          <a:p>
            <a:r>
              <a:rPr lang="en-US" dirty="0" smtClean="0"/>
              <a:t>On Short Counts</a:t>
            </a:r>
            <a:endParaRPr lang="en-US" dirty="0"/>
          </a:p>
        </p:txBody>
      </p:sp>
      <p:sp>
        <p:nvSpPr>
          <p:cNvPr id="6369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8637" y="1295400"/>
            <a:ext cx="7896225" cy="4972050"/>
          </a:xfrm>
        </p:spPr>
        <p:txBody>
          <a:bodyPr/>
          <a:lstStyle/>
          <a:p>
            <a:r>
              <a:rPr lang="en-US" dirty="0"/>
              <a:t>Short counts can occur in these situations:</a:t>
            </a:r>
          </a:p>
          <a:p>
            <a:pPr lvl="1"/>
            <a:r>
              <a:rPr lang="en-US" dirty="0"/>
              <a:t>Encountering (end-of-file) EOF on reads</a:t>
            </a:r>
          </a:p>
          <a:p>
            <a:pPr lvl="1"/>
            <a:r>
              <a:rPr lang="en-US" dirty="0"/>
              <a:t>Reading text lines from a terminal</a:t>
            </a:r>
          </a:p>
          <a:p>
            <a:pPr lvl="1"/>
            <a:r>
              <a:rPr lang="en-US" dirty="0"/>
              <a:t>Reading and writing network </a:t>
            </a:r>
            <a:r>
              <a:rPr lang="en-US" dirty="0" smtClean="0"/>
              <a:t>sockets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Short </a:t>
            </a:r>
            <a:r>
              <a:rPr lang="en-US" dirty="0"/>
              <a:t>counts never occur in these situations:</a:t>
            </a:r>
          </a:p>
          <a:p>
            <a:pPr lvl="1"/>
            <a:r>
              <a:rPr lang="en-US" dirty="0"/>
              <a:t>Reading from disk files (except for EOF)</a:t>
            </a:r>
          </a:p>
          <a:p>
            <a:pPr lvl="1"/>
            <a:r>
              <a:rPr lang="en-US" dirty="0"/>
              <a:t>Writing to disk files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Best practice is to always allow for short counts. </a:t>
            </a:r>
          </a:p>
        </p:txBody>
      </p:sp>
    </p:spTree>
    <p:extLst>
      <p:ext uri="{BB962C8B-B14F-4D97-AF65-F5344CB8AC3E}">
        <p14:creationId xmlns:p14="http://schemas.microsoft.com/office/powerpoint/2010/main" val="29566375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System IO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Unix I/O</a:t>
            </a:r>
          </a:p>
          <a:p>
            <a:pPr lvl="1"/>
            <a:r>
              <a:rPr lang="en-US" dirty="0"/>
              <a:t>Metadata, sharing, and redirection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Standard I/O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RIO (robust I/O) package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Closing 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remarks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Virtual Memory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7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Metadata</a:t>
            </a:r>
            <a:endParaRPr lang="en-US">
              <a:latin typeface="Courier New" pitchFamily="49" charset="0"/>
            </a:endParaRPr>
          </a:p>
        </p:txBody>
      </p:sp>
      <p:sp>
        <p:nvSpPr>
          <p:cNvPr id="6307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72161" y="1123950"/>
            <a:ext cx="7896225" cy="4972050"/>
          </a:xfrm>
        </p:spPr>
        <p:txBody>
          <a:bodyPr/>
          <a:lstStyle/>
          <a:p>
            <a:r>
              <a:rPr lang="en-US" i="1" dirty="0">
                <a:solidFill>
                  <a:srgbClr val="C00000"/>
                </a:solidFill>
              </a:rPr>
              <a:t>Metadata</a:t>
            </a:r>
            <a:r>
              <a:rPr lang="en-US" dirty="0"/>
              <a:t> is data about data, in this case file data</a:t>
            </a:r>
          </a:p>
          <a:p>
            <a:r>
              <a:rPr lang="en-US" dirty="0"/>
              <a:t>Per-file metadata maintained by kernel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accessed by users with the </a:t>
            </a:r>
            <a:r>
              <a:rPr lang="en-US" b="1" dirty="0">
                <a:latin typeface="Courier New" pitchFamily="49" charset="0"/>
              </a:rPr>
              <a:t>stat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and </a:t>
            </a:r>
            <a:r>
              <a:rPr lang="en-US" b="1" dirty="0" err="1">
                <a:latin typeface="Courier New" pitchFamily="49" charset="0"/>
              </a:rPr>
              <a:t>fstat</a:t>
            </a:r>
            <a:r>
              <a:rPr lang="en-US" dirty="0"/>
              <a:t> functions</a:t>
            </a:r>
          </a:p>
        </p:txBody>
      </p:sp>
      <p:sp>
        <p:nvSpPr>
          <p:cNvPr id="630787" name="Rectangle 3"/>
          <p:cNvSpPr>
            <a:spLocks noChangeArrowheads="1"/>
          </p:cNvSpPr>
          <p:nvPr/>
        </p:nvSpPr>
        <p:spPr bwMode="auto">
          <a:xfrm>
            <a:off x="473761" y="2590800"/>
            <a:ext cx="8264525" cy="40163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Metadata returned by the stat and fstat functions */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struct stat 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dev_t</a:t>
            </a:r>
            <a:r>
              <a:rPr lang="en-US" sz="1600" dirty="0">
                <a:latin typeface="Courier New" pitchFamily="49" charset="0"/>
              </a:rPr>
              <a:t>         </a:t>
            </a:r>
            <a:r>
              <a:rPr lang="en-US" sz="1600" dirty="0" err="1">
                <a:latin typeface="Courier New" pitchFamily="49" charset="0"/>
              </a:rPr>
              <a:t>st_dev</a:t>
            </a:r>
            <a:r>
              <a:rPr lang="en-US" sz="1600" dirty="0">
                <a:latin typeface="Courier New" pitchFamily="49" charset="0"/>
              </a:rPr>
              <a:t>; 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Device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*/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    ino_t         st_ino;   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inode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mode_t</a:t>
            </a:r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</a:rPr>
              <a:t>st_mode</a:t>
            </a:r>
            <a:r>
              <a:rPr lang="en-US" sz="1600" dirty="0">
                <a:latin typeface="Courier New" pitchFamily="49" charset="0"/>
              </a:rPr>
              <a:t>;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Protection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and file type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nlink_t</a:t>
            </a:r>
            <a:r>
              <a:rPr lang="en-US" sz="1600" dirty="0">
                <a:latin typeface="Courier New" pitchFamily="49" charset="0"/>
              </a:rPr>
              <a:t>       </a:t>
            </a:r>
            <a:r>
              <a:rPr lang="en-US" sz="1600" dirty="0" err="1">
                <a:latin typeface="Courier New" pitchFamily="49" charset="0"/>
              </a:rPr>
              <a:t>st_nlink</a:t>
            </a:r>
            <a:r>
              <a:rPr lang="en-US" sz="1600" dirty="0">
                <a:latin typeface="Courier New" pitchFamily="49" charset="0"/>
              </a:rPr>
              <a:t>;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Number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of hard links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uid_t</a:t>
            </a:r>
            <a:r>
              <a:rPr lang="en-US" sz="1600" dirty="0">
                <a:latin typeface="Courier New" pitchFamily="49" charset="0"/>
              </a:rPr>
              <a:t>         </a:t>
            </a:r>
            <a:r>
              <a:rPr lang="en-US" sz="1600" dirty="0" err="1">
                <a:latin typeface="Courier New" pitchFamily="49" charset="0"/>
              </a:rPr>
              <a:t>st_uid</a:t>
            </a:r>
            <a:r>
              <a:rPr lang="en-US" sz="1600" dirty="0">
                <a:latin typeface="Courier New" pitchFamily="49" charset="0"/>
              </a:rPr>
              <a:t>; 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User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ID of owner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gid_t</a:t>
            </a:r>
            <a:r>
              <a:rPr lang="en-US" sz="1600" dirty="0">
                <a:latin typeface="Courier New" pitchFamily="49" charset="0"/>
              </a:rPr>
              <a:t>         </a:t>
            </a:r>
            <a:r>
              <a:rPr lang="en-US" sz="1600" dirty="0" err="1">
                <a:latin typeface="Courier New" pitchFamily="49" charset="0"/>
              </a:rPr>
              <a:t>st_gid</a:t>
            </a:r>
            <a:r>
              <a:rPr lang="en-US" sz="1600" dirty="0">
                <a:latin typeface="Courier New" pitchFamily="49" charset="0"/>
              </a:rPr>
              <a:t>; 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Group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ID of owner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dev_t</a:t>
            </a:r>
            <a:r>
              <a:rPr lang="en-US" sz="1600" dirty="0">
                <a:latin typeface="Courier New" pitchFamily="49" charset="0"/>
              </a:rPr>
              <a:t>         </a:t>
            </a:r>
            <a:r>
              <a:rPr lang="en-US" sz="1600" dirty="0" err="1">
                <a:latin typeface="Courier New" pitchFamily="49" charset="0"/>
              </a:rPr>
              <a:t>st_rdev</a:t>
            </a:r>
            <a:r>
              <a:rPr lang="en-US" sz="1600" dirty="0">
                <a:latin typeface="Courier New" pitchFamily="49" charset="0"/>
              </a:rPr>
              <a:t>;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Device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type (if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inode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device)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off_t</a:t>
            </a:r>
            <a:r>
              <a:rPr lang="en-US" sz="1600" dirty="0">
                <a:latin typeface="Courier New" pitchFamily="49" charset="0"/>
              </a:rPr>
              <a:t>         </a:t>
            </a:r>
            <a:r>
              <a:rPr lang="en-US" sz="1600" dirty="0" err="1">
                <a:latin typeface="Courier New" pitchFamily="49" charset="0"/>
              </a:rPr>
              <a:t>st_size</a:t>
            </a:r>
            <a:r>
              <a:rPr lang="en-US" sz="1600" dirty="0">
                <a:latin typeface="Courier New" pitchFamily="49" charset="0"/>
              </a:rPr>
              <a:t>;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Total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size, in bytes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unsigned long </a:t>
            </a:r>
            <a:r>
              <a:rPr lang="en-US" sz="1600" dirty="0" err="1">
                <a:latin typeface="Courier New" pitchFamily="49" charset="0"/>
              </a:rPr>
              <a:t>st_blksize</a:t>
            </a:r>
            <a:r>
              <a:rPr lang="en-US" sz="1600" dirty="0">
                <a:latin typeface="Courier New" pitchFamily="49" charset="0"/>
              </a:rPr>
              <a:t>;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err="1" smtClean="0">
                <a:solidFill>
                  <a:srgbClr val="990000"/>
                </a:solidFill>
                <a:latin typeface="Courier New" pitchFamily="49" charset="0"/>
              </a:rPr>
              <a:t>Blocksize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for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filesystem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I/O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unsigned long </a:t>
            </a:r>
            <a:r>
              <a:rPr lang="en-US" sz="1600" dirty="0" err="1">
                <a:latin typeface="Courier New" pitchFamily="49" charset="0"/>
              </a:rPr>
              <a:t>st_blocks</a:t>
            </a:r>
            <a:r>
              <a:rPr lang="en-US" sz="1600" dirty="0">
                <a:latin typeface="Courier New" pitchFamily="49" charset="0"/>
              </a:rPr>
              <a:t>;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Number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of blocks allocated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time_t</a:t>
            </a:r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</a:rPr>
              <a:t>st_atime</a:t>
            </a:r>
            <a:r>
              <a:rPr lang="en-US" sz="1600" dirty="0">
                <a:latin typeface="Courier New" pitchFamily="49" charset="0"/>
              </a:rPr>
              <a:t>;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Time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of last access */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time_t</a:t>
            </a:r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</a:rPr>
              <a:t>st_mtime</a:t>
            </a:r>
            <a:r>
              <a:rPr lang="en-US" sz="1600" dirty="0">
                <a:latin typeface="Courier New" pitchFamily="49" charset="0"/>
              </a:rPr>
              <a:t>;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Time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of last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modification */</a:t>
            </a:r>
          </a:p>
          <a:p>
            <a:pPr>
              <a:lnSpc>
                <a:spcPct val="100000"/>
              </a:lnSpc>
            </a:pPr>
            <a:r>
              <a:rPr lang="en-US" sz="1600" dirty="0" smtClean="0">
                <a:latin typeface="Courier New" pitchFamily="49" charset="0"/>
              </a:rPr>
              <a:t>    </a:t>
            </a:r>
            <a:r>
              <a:rPr lang="en-US" sz="1600" dirty="0" err="1" smtClean="0">
                <a:latin typeface="Courier New" pitchFamily="49" charset="0"/>
              </a:rPr>
              <a:t>time_t</a:t>
            </a:r>
            <a:r>
              <a:rPr lang="en-US" sz="1600" dirty="0" smtClean="0">
                <a:latin typeface="Courier New" pitchFamily="49" charset="0"/>
              </a:rPr>
              <a:t>        </a:t>
            </a:r>
            <a:r>
              <a:rPr lang="en-US" sz="1600" dirty="0" err="1" smtClean="0">
                <a:latin typeface="Courier New" pitchFamily="49" charset="0"/>
              </a:rPr>
              <a:t>st_ctime</a:t>
            </a:r>
            <a:r>
              <a:rPr lang="en-US" sz="1600" dirty="0" smtClean="0">
                <a:latin typeface="Courier New" pitchFamily="49" charset="0"/>
              </a:rPr>
              <a:t>;   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Time of last change */</a:t>
            </a:r>
          </a:p>
          <a:p>
            <a:pPr>
              <a:lnSpc>
                <a:spcPct val="100000"/>
              </a:lnSpc>
            </a:pPr>
            <a:r>
              <a:rPr lang="en-US" sz="1600" dirty="0" smtClean="0">
                <a:latin typeface="Courier New" pitchFamily="49" charset="0"/>
              </a:rPr>
              <a:t>};</a:t>
            </a: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2779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618" name="Rectangle 4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710782" cy="762000"/>
          </a:xfrm>
        </p:spPr>
        <p:txBody>
          <a:bodyPr/>
          <a:lstStyle/>
          <a:p>
            <a:r>
              <a:rPr lang="en-US"/>
              <a:t>How the Unix Kernel Represents Open Files</a:t>
            </a:r>
          </a:p>
        </p:txBody>
      </p:sp>
      <p:sp>
        <p:nvSpPr>
          <p:cNvPr id="664619" name="Rectangle 43"/>
          <p:cNvSpPr>
            <a:spLocks noGrp="1" noChangeArrowheads="1"/>
          </p:cNvSpPr>
          <p:nvPr>
            <p:ph type="body" idx="1"/>
          </p:nvPr>
        </p:nvSpPr>
        <p:spPr>
          <a:xfrm>
            <a:off x="362937" y="1295400"/>
            <a:ext cx="8307387" cy="1295400"/>
          </a:xfrm>
        </p:spPr>
        <p:txBody>
          <a:bodyPr/>
          <a:lstStyle/>
          <a:p>
            <a:r>
              <a:rPr lang="en-US" dirty="0"/>
              <a:t>Two descriptors referencing two distinct open </a:t>
            </a:r>
            <a:r>
              <a:rPr lang="en-US" dirty="0" smtClean="0"/>
              <a:t>files</a:t>
            </a:r>
            <a:r>
              <a:rPr lang="en-US" dirty="0"/>
              <a:t>. Descriptor 1 (</a:t>
            </a:r>
            <a:r>
              <a:rPr lang="en-US" dirty="0" err="1"/>
              <a:t>stdout</a:t>
            </a:r>
            <a:r>
              <a:rPr lang="en-US" dirty="0"/>
              <a:t>) points to terminal, and descriptor 4 points to open disk file</a:t>
            </a:r>
          </a:p>
        </p:txBody>
      </p:sp>
      <p:sp>
        <p:nvSpPr>
          <p:cNvPr id="664580" name="Rectangle 4"/>
          <p:cNvSpPr>
            <a:spLocks noChangeArrowheads="1"/>
          </p:cNvSpPr>
          <p:nvPr/>
        </p:nvSpPr>
        <p:spPr bwMode="auto">
          <a:xfrm>
            <a:off x="1506538" y="36703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581" name="Rectangle 5"/>
          <p:cNvSpPr>
            <a:spLocks noChangeArrowheads="1"/>
          </p:cNvSpPr>
          <p:nvPr/>
        </p:nvSpPr>
        <p:spPr bwMode="auto">
          <a:xfrm>
            <a:off x="1506538" y="38989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582" name="Rectangle 6"/>
          <p:cNvSpPr>
            <a:spLocks noChangeArrowheads="1"/>
          </p:cNvSpPr>
          <p:nvPr/>
        </p:nvSpPr>
        <p:spPr bwMode="auto">
          <a:xfrm>
            <a:off x="1506538" y="41275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583" name="Rectangle 7"/>
          <p:cNvSpPr>
            <a:spLocks noChangeArrowheads="1"/>
          </p:cNvSpPr>
          <p:nvPr/>
        </p:nvSpPr>
        <p:spPr bwMode="auto">
          <a:xfrm>
            <a:off x="1506538" y="43561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584" name="Rectangle 8"/>
          <p:cNvSpPr>
            <a:spLocks noChangeArrowheads="1"/>
          </p:cNvSpPr>
          <p:nvPr/>
        </p:nvSpPr>
        <p:spPr bwMode="auto">
          <a:xfrm>
            <a:off x="1506538" y="45847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585" name="Rectangle 9"/>
          <p:cNvSpPr>
            <a:spLocks noChangeArrowheads="1"/>
          </p:cNvSpPr>
          <p:nvPr/>
        </p:nvSpPr>
        <p:spPr bwMode="auto">
          <a:xfrm>
            <a:off x="896938" y="36703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0</a:t>
            </a:r>
          </a:p>
        </p:txBody>
      </p:sp>
      <p:sp>
        <p:nvSpPr>
          <p:cNvPr id="664586" name="Rectangle 10"/>
          <p:cNvSpPr>
            <a:spLocks noChangeArrowheads="1"/>
          </p:cNvSpPr>
          <p:nvPr/>
        </p:nvSpPr>
        <p:spPr bwMode="auto">
          <a:xfrm>
            <a:off x="896938" y="38989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1</a:t>
            </a:r>
          </a:p>
        </p:txBody>
      </p:sp>
      <p:sp>
        <p:nvSpPr>
          <p:cNvPr id="664587" name="Rectangle 11"/>
          <p:cNvSpPr>
            <a:spLocks noChangeArrowheads="1"/>
          </p:cNvSpPr>
          <p:nvPr/>
        </p:nvSpPr>
        <p:spPr bwMode="auto">
          <a:xfrm>
            <a:off x="896938" y="41275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2</a:t>
            </a:r>
          </a:p>
        </p:txBody>
      </p:sp>
      <p:sp>
        <p:nvSpPr>
          <p:cNvPr id="664588" name="Rectangle 12"/>
          <p:cNvSpPr>
            <a:spLocks noChangeArrowheads="1"/>
          </p:cNvSpPr>
          <p:nvPr/>
        </p:nvSpPr>
        <p:spPr bwMode="auto">
          <a:xfrm>
            <a:off x="896938" y="43561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3</a:t>
            </a:r>
          </a:p>
        </p:txBody>
      </p:sp>
      <p:sp>
        <p:nvSpPr>
          <p:cNvPr id="664589" name="Rectangle 13"/>
          <p:cNvSpPr>
            <a:spLocks noChangeArrowheads="1"/>
          </p:cNvSpPr>
          <p:nvPr/>
        </p:nvSpPr>
        <p:spPr bwMode="auto">
          <a:xfrm>
            <a:off x="896938" y="45847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4</a:t>
            </a:r>
          </a:p>
        </p:txBody>
      </p:sp>
      <p:sp>
        <p:nvSpPr>
          <p:cNvPr id="664590" name="Text Box 14"/>
          <p:cNvSpPr txBox="1">
            <a:spLocks noChangeArrowheads="1"/>
          </p:cNvSpPr>
          <p:nvPr/>
        </p:nvSpPr>
        <p:spPr bwMode="auto">
          <a:xfrm>
            <a:off x="610550" y="2636222"/>
            <a:ext cx="23900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Descriptor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[one table per process]</a:t>
            </a:r>
          </a:p>
        </p:txBody>
      </p:sp>
      <p:sp>
        <p:nvSpPr>
          <p:cNvPr id="664591" name="Text Box 15"/>
          <p:cNvSpPr txBox="1">
            <a:spLocks noChangeArrowheads="1"/>
          </p:cNvSpPr>
          <p:nvPr/>
        </p:nvSpPr>
        <p:spPr bwMode="auto">
          <a:xfrm>
            <a:off x="31594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Open file table 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664592" name="Text Box 16"/>
          <p:cNvSpPr txBox="1">
            <a:spLocks noChangeArrowheads="1"/>
          </p:cNvSpPr>
          <p:nvPr/>
        </p:nvSpPr>
        <p:spPr bwMode="auto">
          <a:xfrm>
            <a:off x="57502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v-node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664593" name="Rectangle 17"/>
          <p:cNvSpPr>
            <a:spLocks noChangeArrowheads="1"/>
          </p:cNvSpPr>
          <p:nvPr/>
        </p:nvSpPr>
        <p:spPr bwMode="auto">
          <a:xfrm>
            <a:off x="3868738" y="3962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70C0"/>
                </a:solidFill>
                <a:latin typeface="Calibri" pitchFamily="34" charset="0"/>
              </a:rPr>
              <a:t>File pos</a:t>
            </a:r>
          </a:p>
        </p:txBody>
      </p:sp>
      <p:sp>
        <p:nvSpPr>
          <p:cNvPr id="664594" name="Rectangle 18"/>
          <p:cNvSpPr>
            <a:spLocks noChangeArrowheads="1"/>
          </p:cNvSpPr>
          <p:nvPr/>
        </p:nvSpPr>
        <p:spPr bwMode="auto">
          <a:xfrm>
            <a:off x="3868738" y="42672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refcnt=1</a:t>
            </a:r>
          </a:p>
        </p:txBody>
      </p:sp>
      <p:sp>
        <p:nvSpPr>
          <p:cNvPr id="664595" name="Rectangle 19"/>
          <p:cNvSpPr>
            <a:spLocks noChangeArrowheads="1"/>
          </p:cNvSpPr>
          <p:nvPr/>
        </p:nvSpPr>
        <p:spPr bwMode="auto">
          <a:xfrm>
            <a:off x="3868738" y="4572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64596" name="Line 20"/>
          <p:cNvSpPr>
            <a:spLocks noChangeShapeType="1"/>
          </p:cNvSpPr>
          <p:nvPr/>
        </p:nvSpPr>
        <p:spPr bwMode="auto">
          <a:xfrm flipV="1">
            <a:off x="1828800" y="3657599"/>
            <a:ext cx="2039938" cy="352425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598" name="Rectangle 22"/>
          <p:cNvSpPr>
            <a:spLocks noChangeArrowheads="1"/>
          </p:cNvSpPr>
          <p:nvPr/>
        </p:nvSpPr>
        <p:spPr bwMode="auto">
          <a:xfrm>
            <a:off x="3868738" y="3657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64599" name="Rectangle 23"/>
          <p:cNvSpPr>
            <a:spLocks noChangeArrowheads="1"/>
          </p:cNvSpPr>
          <p:nvPr/>
        </p:nvSpPr>
        <p:spPr bwMode="auto">
          <a:xfrm>
            <a:off x="3868738" y="56388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70C0"/>
                </a:solidFill>
                <a:latin typeface="Calibri" pitchFamily="34" charset="0"/>
              </a:rPr>
              <a:t>File pos</a:t>
            </a:r>
          </a:p>
        </p:txBody>
      </p:sp>
      <p:sp>
        <p:nvSpPr>
          <p:cNvPr id="664600" name="Rectangle 24"/>
          <p:cNvSpPr>
            <a:spLocks noChangeArrowheads="1"/>
          </p:cNvSpPr>
          <p:nvPr/>
        </p:nvSpPr>
        <p:spPr bwMode="auto">
          <a:xfrm>
            <a:off x="3868738" y="5943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refcnt=1</a:t>
            </a:r>
          </a:p>
        </p:txBody>
      </p:sp>
      <p:sp>
        <p:nvSpPr>
          <p:cNvPr id="664601" name="Rectangle 25"/>
          <p:cNvSpPr>
            <a:spLocks noChangeArrowheads="1"/>
          </p:cNvSpPr>
          <p:nvPr/>
        </p:nvSpPr>
        <p:spPr bwMode="auto">
          <a:xfrm>
            <a:off x="3868738" y="6248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64602" name="Rectangle 26"/>
          <p:cNvSpPr>
            <a:spLocks noChangeArrowheads="1"/>
          </p:cNvSpPr>
          <p:nvPr/>
        </p:nvSpPr>
        <p:spPr bwMode="auto">
          <a:xfrm>
            <a:off x="3868738" y="5334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64603" name="Line 27"/>
          <p:cNvSpPr>
            <a:spLocks noChangeShapeType="1"/>
          </p:cNvSpPr>
          <p:nvPr/>
        </p:nvSpPr>
        <p:spPr bwMode="auto">
          <a:xfrm>
            <a:off x="1828800" y="4683125"/>
            <a:ext cx="2057400" cy="698500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604" name="Text Box 28"/>
          <p:cNvSpPr txBox="1">
            <a:spLocks noChangeArrowheads="1"/>
          </p:cNvSpPr>
          <p:nvPr/>
        </p:nvSpPr>
        <p:spPr bwMode="auto">
          <a:xfrm>
            <a:off x="228600" y="40862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stderr</a:t>
            </a:r>
          </a:p>
        </p:txBody>
      </p:sp>
      <p:sp>
        <p:nvSpPr>
          <p:cNvPr id="664605" name="Text Box 29"/>
          <p:cNvSpPr txBox="1">
            <a:spLocks noChangeArrowheads="1"/>
          </p:cNvSpPr>
          <p:nvPr/>
        </p:nvSpPr>
        <p:spPr bwMode="auto">
          <a:xfrm>
            <a:off x="228600" y="38576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stdout</a:t>
            </a:r>
          </a:p>
        </p:txBody>
      </p:sp>
      <p:sp>
        <p:nvSpPr>
          <p:cNvPr id="664606" name="Text Box 30"/>
          <p:cNvSpPr txBox="1">
            <a:spLocks noChangeArrowheads="1"/>
          </p:cNvSpPr>
          <p:nvPr/>
        </p:nvSpPr>
        <p:spPr bwMode="auto">
          <a:xfrm>
            <a:off x="334963" y="3629025"/>
            <a:ext cx="715962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stdin</a:t>
            </a:r>
          </a:p>
        </p:txBody>
      </p:sp>
      <p:sp>
        <p:nvSpPr>
          <p:cNvPr id="664607" name="Line 31"/>
          <p:cNvSpPr>
            <a:spLocks noChangeShapeType="1"/>
          </p:cNvSpPr>
          <p:nvPr/>
        </p:nvSpPr>
        <p:spPr bwMode="auto">
          <a:xfrm flipV="1">
            <a:off x="4786313" y="3641725"/>
            <a:ext cx="1690687" cy="153988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608" name="Rectangle 32"/>
          <p:cNvSpPr>
            <a:spLocks noChangeArrowheads="1"/>
          </p:cNvSpPr>
          <p:nvPr/>
        </p:nvSpPr>
        <p:spPr bwMode="auto">
          <a:xfrm>
            <a:off x="6477000" y="3629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664609" name="Rectangle 33"/>
          <p:cNvSpPr>
            <a:spLocks noChangeArrowheads="1"/>
          </p:cNvSpPr>
          <p:nvPr/>
        </p:nvSpPr>
        <p:spPr bwMode="auto">
          <a:xfrm>
            <a:off x="6477000" y="45434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64610" name="Rectangle 34"/>
          <p:cNvSpPr>
            <a:spLocks noChangeArrowheads="1"/>
          </p:cNvSpPr>
          <p:nvPr/>
        </p:nvSpPr>
        <p:spPr bwMode="auto">
          <a:xfrm>
            <a:off x="6477000" y="3933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664611" name="Rectangle 35"/>
          <p:cNvSpPr>
            <a:spLocks noChangeArrowheads="1"/>
          </p:cNvSpPr>
          <p:nvPr/>
        </p:nvSpPr>
        <p:spPr bwMode="auto">
          <a:xfrm>
            <a:off x="6477000" y="4238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664612" name="Rectangle 36"/>
          <p:cNvSpPr>
            <a:spLocks noChangeArrowheads="1"/>
          </p:cNvSpPr>
          <p:nvPr/>
        </p:nvSpPr>
        <p:spPr bwMode="auto">
          <a:xfrm>
            <a:off x="6477000" y="52292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664613" name="Rectangle 37"/>
          <p:cNvSpPr>
            <a:spLocks noChangeArrowheads="1"/>
          </p:cNvSpPr>
          <p:nvPr/>
        </p:nvSpPr>
        <p:spPr bwMode="auto">
          <a:xfrm>
            <a:off x="6477000" y="6143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64614" name="Rectangle 38"/>
          <p:cNvSpPr>
            <a:spLocks noChangeArrowheads="1"/>
          </p:cNvSpPr>
          <p:nvPr/>
        </p:nvSpPr>
        <p:spPr bwMode="auto">
          <a:xfrm>
            <a:off x="6477000" y="5534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664615" name="Rectangle 39"/>
          <p:cNvSpPr>
            <a:spLocks noChangeArrowheads="1"/>
          </p:cNvSpPr>
          <p:nvPr/>
        </p:nvSpPr>
        <p:spPr bwMode="auto">
          <a:xfrm>
            <a:off x="6477000" y="5838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664616" name="Text Box 40"/>
          <p:cNvSpPr txBox="1">
            <a:spLocks noChangeArrowheads="1"/>
          </p:cNvSpPr>
          <p:nvPr/>
        </p:nvSpPr>
        <p:spPr bwMode="auto">
          <a:xfrm>
            <a:off x="3758514" y="3352800"/>
            <a:ext cx="154952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</a:t>
            </a:r>
            <a:r>
              <a:rPr lang="en-US" sz="1600" dirty="0" smtClean="0">
                <a:latin typeface="Calibri" pitchFamily="34" charset="0"/>
              </a:rPr>
              <a:t>A (terminal)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664617" name="Text Box 41"/>
          <p:cNvSpPr txBox="1">
            <a:spLocks noChangeArrowheads="1"/>
          </p:cNvSpPr>
          <p:nvPr/>
        </p:nvSpPr>
        <p:spPr bwMode="auto">
          <a:xfrm>
            <a:off x="3766752" y="5029200"/>
            <a:ext cx="115768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</a:t>
            </a:r>
            <a:r>
              <a:rPr lang="en-US" sz="1600" dirty="0" smtClean="0">
                <a:latin typeface="Calibri" pitchFamily="34" charset="0"/>
              </a:rPr>
              <a:t>B (disk)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664621" name="Text Box 45"/>
          <p:cNvSpPr txBox="1">
            <a:spLocks noChangeArrowheads="1"/>
          </p:cNvSpPr>
          <p:nvPr/>
        </p:nvSpPr>
        <p:spPr bwMode="auto">
          <a:xfrm>
            <a:off x="7975600" y="3886200"/>
            <a:ext cx="91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600" i="1" dirty="0">
                <a:latin typeface="Calibri" pitchFamily="34" charset="0"/>
              </a:rPr>
              <a:t>Info in 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stat</a:t>
            </a:r>
            <a:r>
              <a:rPr lang="en-US" sz="1600" i="1" dirty="0">
                <a:latin typeface="Calibri" pitchFamily="34" charset="0"/>
              </a:rPr>
              <a:t> </a:t>
            </a:r>
            <a:r>
              <a:rPr lang="en-US" sz="1600" i="1" dirty="0" err="1">
                <a:latin typeface="Calibri" pitchFamily="34" charset="0"/>
              </a:rPr>
              <a:t>struct</a:t>
            </a:r>
            <a:endParaRPr lang="en-US" sz="1600" i="1" dirty="0">
              <a:latin typeface="Calibri" pitchFamily="34" charset="0"/>
            </a:endParaRPr>
          </a:p>
        </p:txBody>
      </p:sp>
      <p:sp>
        <p:nvSpPr>
          <p:cNvPr id="664622" name="AutoShape 46"/>
          <p:cNvSpPr>
            <a:spLocks/>
          </p:cNvSpPr>
          <p:nvPr/>
        </p:nvSpPr>
        <p:spPr bwMode="auto">
          <a:xfrm>
            <a:off x="7611076" y="3649361"/>
            <a:ext cx="366418" cy="1188720"/>
          </a:xfrm>
          <a:prstGeom prst="rightBrace">
            <a:avLst>
              <a:gd name="adj1" fmla="val 1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4597" name="Line 21"/>
          <p:cNvSpPr>
            <a:spLocks noChangeShapeType="1"/>
          </p:cNvSpPr>
          <p:nvPr/>
        </p:nvSpPr>
        <p:spPr bwMode="auto">
          <a:xfrm flipV="1">
            <a:off x="4706938" y="5229224"/>
            <a:ext cx="1770062" cy="257175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4" name="Text Box 14"/>
          <p:cNvSpPr txBox="1">
            <a:spLocks noChangeArrowheads="1"/>
          </p:cNvSpPr>
          <p:nvPr/>
        </p:nvSpPr>
        <p:spPr bwMode="auto">
          <a:xfrm>
            <a:off x="76200" y="6248400"/>
            <a:ext cx="351775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smtClean="0">
                <a:solidFill>
                  <a:srgbClr val="0070C0"/>
                </a:solidFill>
                <a:latin typeface="Calibri" pitchFamily="34" charset="0"/>
              </a:rPr>
              <a:t>File </a:t>
            </a:r>
            <a:r>
              <a:rPr lang="en-US" sz="1800" i="1" dirty="0" err="1" smtClean="0">
                <a:solidFill>
                  <a:srgbClr val="0070C0"/>
                </a:solidFill>
                <a:latin typeface="Calibri" pitchFamily="34" charset="0"/>
              </a:rPr>
              <a:t>pos</a:t>
            </a:r>
            <a:r>
              <a:rPr lang="en-US" sz="1800" i="1" dirty="0" smtClean="0">
                <a:solidFill>
                  <a:srgbClr val="0070C0"/>
                </a:solidFill>
                <a:latin typeface="Calibri" pitchFamily="34" charset="0"/>
              </a:rPr>
              <a:t> is maintained per open file</a:t>
            </a:r>
            <a:endParaRPr lang="en-US" sz="1800" i="1" dirty="0">
              <a:solidFill>
                <a:srgbClr val="0070C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30733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Sharing</a:t>
            </a:r>
          </a:p>
        </p:txBody>
      </p:sp>
      <p:sp>
        <p:nvSpPr>
          <p:cNvPr id="66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175" y="1220788"/>
            <a:ext cx="8307387" cy="1141412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Two distinct descriptors sharing the same disk file through two distinct open file table entries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E.g., Calling </a:t>
            </a:r>
            <a:r>
              <a:rPr lang="en-US" b="1" dirty="0">
                <a:latin typeface="Courier New" pitchFamily="49" charset="0"/>
              </a:rPr>
              <a:t>open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twice with the same </a:t>
            </a:r>
            <a:r>
              <a:rPr lang="en-US" b="1" dirty="0">
                <a:latin typeface="Courier New" pitchFamily="49" charset="0"/>
              </a:rPr>
              <a:t>filename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argument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1506538" y="36703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1506538" y="38989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1506538" y="41275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506538" y="43561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9" name="Rectangle 8"/>
          <p:cNvSpPr>
            <a:spLocks noChangeArrowheads="1"/>
          </p:cNvSpPr>
          <p:nvPr/>
        </p:nvSpPr>
        <p:spPr bwMode="auto">
          <a:xfrm>
            <a:off x="1506538" y="45847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896938" y="36703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0</a:t>
            </a:r>
          </a:p>
        </p:txBody>
      </p:sp>
      <p:sp>
        <p:nvSpPr>
          <p:cNvPr id="41" name="Rectangle 10"/>
          <p:cNvSpPr>
            <a:spLocks noChangeArrowheads="1"/>
          </p:cNvSpPr>
          <p:nvPr/>
        </p:nvSpPr>
        <p:spPr bwMode="auto">
          <a:xfrm>
            <a:off x="896938" y="38989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1</a:t>
            </a:r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896938" y="41275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2</a:t>
            </a:r>
          </a:p>
        </p:txBody>
      </p:sp>
      <p:sp>
        <p:nvSpPr>
          <p:cNvPr id="43" name="Rectangle 12"/>
          <p:cNvSpPr>
            <a:spLocks noChangeArrowheads="1"/>
          </p:cNvSpPr>
          <p:nvPr/>
        </p:nvSpPr>
        <p:spPr bwMode="auto">
          <a:xfrm>
            <a:off x="896938" y="43561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3</a:t>
            </a:r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896938" y="45847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4</a:t>
            </a:r>
          </a:p>
        </p:txBody>
      </p:sp>
      <p:sp>
        <p:nvSpPr>
          <p:cNvPr id="45" name="Text Box 14"/>
          <p:cNvSpPr txBox="1">
            <a:spLocks noChangeArrowheads="1"/>
          </p:cNvSpPr>
          <p:nvPr/>
        </p:nvSpPr>
        <p:spPr bwMode="auto">
          <a:xfrm>
            <a:off x="610550" y="2636222"/>
            <a:ext cx="23900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Descriptor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[one table per process]</a:t>
            </a:r>
          </a:p>
        </p:txBody>
      </p:sp>
      <p:sp>
        <p:nvSpPr>
          <p:cNvPr id="46" name="Text Box 15"/>
          <p:cNvSpPr txBox="1">
            <a:spLocks noChangeArrowheads="1"/>
          </p:cNvSpPr>
          <p:nvPr/>
        </p:nvSpPr>
        <p:spPr bwMode="auto">
          <a:xfrm>
            <a:off x="31594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Open file table 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47" name="Text Box 16"/>
          <p:cNvSpPr txBox="1">
            <a:spLocks noChangeArrowheads="1"/>
          </p:cNvSpPr>
          <p:nvPr/>
        </p:nvSpPr>
        <p:spPr bwMode="auto">
          <a:xfrm>
            <a:off x="57502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v-node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48" name="Rectangle 17"/>
          <p:cNvSpPr>
            <a:spLocks noChangeArrowheads="1"/>
          </p:cNvSpPr>
          <p:nvPr/>
        </p:nvSpPr>
        <p:spPr bwMode="auto">
          <a:xfrm>
            <a:off x="3868738" y="3962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49" name="Rectangle 18"/>
          <p:cNvSpPr>
            <a:spLocks noChangeArrowheads="1"/>
          </p:cNvSpPr>
          <p:nvPr/>
        </p:nvSpPr>
        <p:spPr bwMode="auto">
          <a:xfrm>
            <a:off x="3868738" y="42672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refcnt=1</a:t>
            </a:r>
          </a:p>
        </p:txBody>
      </p:sp>
      <p:sp>
        <p:nvSpPr>
          <p:cNvPr id="50" name="Rectangle 19"/>
          <p:cNvSpPr>
            <a:spLocks noChangeArrowheads="1"/>
          </p:cNvSpPr>
          <p:nvPr/>
        </p:nvSpPr>
        <p:spPr bwMode="auto">
          <a:xfrm>
            <a:off x="3868738" y="4572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51" name="Line 20"/>
          <p:cNvSpPr>
            <a:spLocks noChangeShapeType="1"/>
          </p:cNvSpPr>
          <p:nvPr/>
        </p:nvSpPr>
        <p:spPr bwMode="auto">
          <a:xfrm flipV="1">
            <a:off x="2116138" y="3657595"/>
            <a:ext cx="1752600" cy="733429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" name="Rectangle 22"/>
          <p:cNvSpPr>
            <a:spLocks noChangeArrowheads="1"/>
          </p:cNvSpPr>
          <p:nvPr/>
        </p:nvSpPr>
        <p:spPr bwMode="auto">
          <a:xfrm>
            <a:off x="3868738" y="3657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53" name="Rectangle 23"/>
          <p:cNvSpPr>
            <a:spLocks noChangeArrowheads="1"/>
          </p:cNvSpPr>
          <p:nvPr/>
        </p:nvSpPr>
        <p:spPr bwMode="auto">
          <a:xfrm>
            <a:off x="3868738" y="56388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54" name="Rectangle 24"/>
          <p:cNvSpPr>
            <a:spLocks noChangeArrowheads="1"/>
          </p:cNvSpPr>
          <p:nvPr/>
        </p:nvSpPr>
        <p:spPr bwMode="auto">
          <a:xfrm>
            <a:off x="3868738" y="5943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refcnt=1</a:t>
            </a:r>
          </a:p>
        </p:txBody>
      </p:sp>
      <p:sp>
        <p:nvSpPr>
          <p:cNvPr id="55" name="Rectangle 25"/>
          <p:cNvSpPr>
            <a:spLocks noChangeArrowheads="1"/>
          </p:cNvSpPr>
          <p:nvPr/>
        </p:nvSpPr>
        <p:spPr bwMode="auto">
          <a:xfrm>
            <a:off x="3868738" y="6248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3868738" y="5334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57" name="Line 27"/>
          <p:cNvSpPr>
            <a:spLocks noChangeShapeType="1"/>
          </p:cNvSpPr>
          <p:nvPr/>
        </p:nvSpPr>
        <p:spPr bwMode="auto">
          <a:xfrm>
            <a:off x="2116138" y="4683125"/>
            <a:ext cx="1770062" cy="698500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8" name="Text Box 28"/>
          <p:cNvSpPr txBox="1">
            <a:spLocks noChangeArrowheads="1"/>
          </p:cNvSpPr>
          <p:nvPr/>
        </p:nvSpPr>
        <p:spPr bwMode="auto">
          <a:xfrm>
            <a:off x="228600" y="40862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stderr</a:t>
            </a:r>
          </a:p>
        </p:txBody>
      </p:sp>
      <p:sp>
        <p:nvSpPr>
          <p:cNvPr id="59" name="Text Box 29"/>
          <p:cNvSpPr txBox="1">
            <a:spLocks noChangeArrowheads="1"/>
          </p:cNvSpPr>
          <p:nvPr/>
        </p:nvSpPr>
        <p:spPr bwMode="auto">
          <a:xfrm>
            <a:off x="228600" y="38576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stdout</a:t>
            </a:r>
          </a:p>
        </p:txBody>
      </p:sp>
      <p:sp>
        <p:nvSpPr>
          <p:cNvPr id="60" name="Text Box 30"/>
          <p:cNvSpPr txBox="1">
            <a:spLocks noChangeArrowheads="1"/>
          </p:cNvSpPr>
          <p:nvPr/>
        </p:nvSpPr>
        <p:spPr bwMode="auto">
          <a:xfrm>
            <a:off x="334963" y="3629025"/>
            <a:ext cx="715962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stdin</a:t>
            </a:r>
          </a:p>
        </p:txBody>
      </p:sp>
      <p:sp>
        <p:nvSpPr>
          <p:cNvPr id="61" name="Line 31"/>
          <p:cNvSpPr>
            <a:spLocks noChangeShapeType="1"/>
          </p:cNvSpPr>
          <p:nvPr/>
        </p:nvSpPr>
        <p:spPr bwMode="auto">
          <a:xfrm flipV="1">
            <a:off x="4786313" y="3641725"/>
            <a:ext cx="1690687" cy="153988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32"/>
          <p:cNvSpPr>
            <a:spLocks noChangeArrowheads="1"/>
          </p:cNvSpPr>
          <p:nvPr/>
        </p:nvSpPr>
        <p:spPr bwMode="auto">
          <a:xfrm>
            <a:off x="6477000" y="3629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63" name="Rectangle 33"/>
          <p:cNvSpPr>
            <a:spLocks noChangeArrowheads="1"/>
          </p:cNvSpPr>
          <p:nvPr/>
        </p:nvSpPr>
        <p:spPr bwMode="auto">
          <a:xfrm>
            <a:off x="6477000" y="45434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4" name="Rectangle 34"/>
          <p:cNvSpPr>
            <a:spLocks noChangeArrowheads="1"/>
          </p:cNvSpPr>
          <p:nvPr/>
        </p:nvSpPr>
        <p:spPr bwMode="auto">
          <a:xfrm>
            <a:off x="6477000" y="3933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65" name="Rectangle 35"/>
          <p:cNvSpPr>
            <a:spLocks noChangeArrowheads="1"/>
          </p:cNvSpPr>
          <p:nvPr/>
        </p:nvSpPr>
        <p:spPr bwMode="auto">
          <a:xfrm>
            <a:off x="6477000" y="4238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70" name="Text Box 40"/>
          <p:cNvSpPr txBox="1">
            <a:spLocks noChangeArrowheads="1"/>
          </p:cNvSpPr>
          <p:nvPr/>
        </p:nvSpPr>
        <p:spPr bwMode="auto">
          <a:xfrm>
            <a:off x="3758514" y="3352800"/>
            <a:ext cx="116870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 </a:t>
            </a:r>
            <a:r>
              <a:rPr lang="en-US" sz="1600" dirty="0" smtClean="0">
                <a:latin typeface="Calibri" pitchFamily="34" charset="0"/>
              </a:rPr>
              <a:t>(disk)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71" name="Text Box 41"/>
          <p:cNvSpPr txBox="1">
            <a:spLocks noChangeArrowheads="1"/>
          </p:cNvSpPr>
          <p:nvPr/>
        </p:nvSpPr>
        <p:spPr bwMode="auto">
          <a:xfrm>
            <a:off x="3766752" y="5029200"/>
            <a:ext cx="115768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B (disk)</a:t>
            </a:r>
          </a:p>
        </p:txBody>
      </p:sp>
      <p:sp>
        <p:nvSpPr>
          <p:cNvPr id="74" name="Line 21"/>
          <p:cNvSpPr>
            <a:spLocks noChangeShapeType="1"/>
          </p:cNvSpPr>
          <p:nvPr/>
        </p:nvSpPr>
        <p:spPr bwMode="auto">
          <a:xfrm flipV="1">
            <a:off x="4706938" y="3641725"/>
            <a:ext cx="1770062" cy="1844674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" name="Text Box 14"/>
          <p:cNvSpPr txBox="1">
            <a:spLocks noChangeArrowheads="1"/>
          </p:cNvSpPr>
          <p:nvPr/>
        </p:nvSpPr>
        <p:spPr bwMode="auto">
          <a:xfrm>
            <a:off x="5091797" y="6203484"/>
            <a:ext cx="38372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smtClean="0">
                <a:solidFill>
                  <a:srgbClr val="0070C0"/>
                </a:solidFill>
                <a:latin typeface="Calibri" pitchFamily="34" charset="0"/>
              </a:rPr>
              <a:t>Different logical but same physical file</a:t>
            </a:r>
            <a:endParaRPr lang="en-US" sz="1800" i="1" dirty="0">
              <a:solidFill>
                <a:srgbClr val="0070C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8195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Processes Share </a:t>
            </a:r>
            <a:r>
              <a:rPr lang="en-US" dirty="0" smtClean="0"/>
              <a:t>Files: </a:t>
            </a:r>
            <a:r>
              <a:rPr lang="en-US" dirty="0" smtClean="0">
                <a:latin typeface="Courier New"/>
                <a:cs typeface="Courier New"/>
              </a:rPr>
              <a:t>fork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66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1143000"/>
            <a:ext cx="8307387" cy="1295400"/>
          </a:xfrm>
        </p:spPr>
        <p:txBody>
          <a:bodyPr/>
          <a:lstStyle/>
          <a:p>
            <a:r>
              <a:rPr lang="en-US" dirty="0"/>
              <a:t>A child process inherits its parent’s open </a:t>
            </a:r>
            <a:r>
              <a:rPr lang="en-US" dirty="0" smtClean="0"/>
              <a:t>files</a:t>
            </a:r>
            <a:endParaRPr lang="en-US" dirty="0" smtClean="0">
              <a:latin typeface="Courier New" pitchFamily="49" charset="0"/>
            </a:endParaRPr>
          </a:p>
          <a:p>
            <a:pPr lvl="1"/>
            <a:r>
              <a:rPr lang="en-US" sz="2000" dirty="0" smtClean="0">
                <a:ea typeface="+mn-ea"/>
                <a:cs typeface="+mn-cs"/>
              </a:rPr>
              <a:t>Note</a:t>
            </a:r>
            <a:r>
              <a:rPr lang="en-US" sz="2000" dirty="0">
                <a:ea typeface="+mn-ea"/>
                <a:cs typeface="+mn-cs"/>
              </a:rPr>
              <a:t>: situation unchanged by </a:t>
            </a:r>
            <a:r>
              <a:rPr lang="en-US" sz="2000" b="1" dirty="0" smtClean="0">
                <a:latin typeface="Courier New" pitchFamily="49" charset="0"/>
                <a:ea typeface="+mn-ea"/>
                <a:cs typeface="Courier New" pitchFamily="49" charset="0"/>
              </a:rPr>
              <a:t>exec </a:t>
            </a:r>
            <a:r>
              <a:rPr lang="en-US" sz="2000" dirty="0" smtClean="0">
                <a:ea typeface="+mn-ea"/>
                <a:cs typeface="+mn-cs"/>
              </a:rPr>
              <a:t>functions (use </a:t>
            </a:r>
            <a:r>
              <a:rPr lang="en-US" sz="2000" b="1" dirty="0" err="1" smtClean="0">
                <a:latin typeface="Courier New"/>
                <a:ea typeface="+mn-ea"/>
                <a:cs typeface="Courier New"/>
              </a:rPr>
              <a:t>fcntl</a:t>
            </a:r>
            <a:r>
              <a:rPr lang="en-US" sz="2000" dirty="0" smtClean="0">
                <a:ea typeface="+mn-ea"/>
                <a:cs typeface="+mn-cs"/>
              </a:rPr>
              <a:t> to change)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Before</a:t>
            </a:r>
            <a:r>
              <a:rPr lang="en-US" dirty="0" smtClean="0"/>
              <a:t> </a:t>
            </a:r>
            <a:r>
              <a:rPr lang="en-US" dirty="0" smtClean="0">
                <a:latin typeface="Courier New"/>
                <a:cs typeface="Courier New"/>
              </a:rPr>
              <a:t>fork</a:t>
            </a:r>
            <a:r>
              <a:rPr lang="en-US" dirty="0" smtClean="0"/>
              <a:t> call:</a:t>
            </a:r>
          </a:p>
        </p:txBody>
      </p:sp>
      <p:sp>
        <p:nvSpPr>
          <p:cNvPr id="41" name="Rectangle 4"/>
          <p:cNvSpPr>
            <a:spLocks noChangeArrowheads="1"/>
          </p:cNvSpPr>
          <p:nvPr/>
        </p:nvSpPr>
        <p:spPr bwMode="auto">
          <a:xfrm>
            <a:off x="1506538" y="36703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1506538" y="38989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3" name="Rectangle 6"/>
          <p:cNvSpPr>
            <a:spLocks noChangeArrowheads="1"/>
          </p:cNvSpPr>
          <p:nvPr/>
        </p:nvSpPr>
        <p:spPr bwMode="auto">
          <a:xfrm>
            <a:off x="1506538" y="41275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1506538" y="43561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5" name="Rectangle 8"/>
          <p:cNvSpPr>
            <a:spLocks noChangeArrowheads="1"/>
          </p:cNvSpPr>
          <p:nvPr/>
        </p:nvSpPr>
        <p:spPr bwMode="auto">
          <a:xfrm>
            <a:off x="1506538" y="45847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6" name="Rectangle 9"/>
          <p:cNvSpPr>
            <a:spLocks noChangeArrowheads="1"/>
          </p:cNvSpPr>
          <p:nvPr/>
        </p:nvSpPr>
        <p:spPr bwMode="auto">
          <a:xfrm>
            <a:off x="896938" y="36703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0</a:t>
            </a:r>
          </a:p>
        </p:txBody>
      </p:sp>
      <p:sp>
        <p:nvSpPr>
          <p:cNvPr id="47" name="Rectangle 10"/>
          <p:cNvSpPr>
            <a:spLocks noChangeArrowheads="1"/>
          </p:cNvSpPr>
          <p:nvPr/>
        </p:nvSpPr>
        <p:spPr bwMode="auto">
          <a:xfrm>
            <a:off x="896938" y="38989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1</a:t>
            </a:r>
          </a:p>
        </p:txBody>
      </p:sp>
      <p:sp>
        <p:nvSpPr>
          <p:cNvPr id="48" name="Rectangle 11"/>
          <p:cNvSpPr>
            <a:spLocks noChangeArrowheads="1"/>
          </p:cNvSpPr>
          <p:nvPr/>
        </p:nvSpPr>
        <p:spPr bwMode="auto">
          <a:xfrm>
            <a:off x="896938" y="41275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2</a:t>
            </a:r>
          </a:p>
        </p:txBody>
      </p: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896938" y="43561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3</a:t>
            </a:r>
          </a:p>
        </p:txBody>
      </p: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896938" y="45847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4</a:t>
            </a:r>
          </a:p>
        </p:txBody>
      </p:sp>
      <p:sp>
        <p:nvSpPr>
          <p:cNvPr id="51" name="Text Box 14"/>
          <p:cNvSpPr txBox="1">
            <a:spLocks noChangeArrowheads="1"/>
          </p:cNvSpPr>
          <p:nvPr/>
        </p:nvSpPr>
        <p:spPr bwMode="auto">
          <a:xfrm>
            <a:off x="610550" y="2636222"/>
            <a:ext cx="23900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Descriptor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[one table per process]</a:t>
            </a:r>
          </a:p>
        </p:txBody>
      </p:sp>
      <p:sp>
        <p:nvSpPr>
          <p:cNvPr id="52" name="Text Box 15"/>
          <p:cNvSpPr txBox="1">
            <a:spLocks noChangeArrowheads="1"/>
          </p:cNvSpPr>
          <p:nvPr/>
        </p:nvSpPr>
        <p:spPr bwMode="auto">
          <a:xfrm>
            <a:off x="31594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Open file table 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57502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v-node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54" name="Rectangle 17"/>
          <p:cNvSpPr>
            <a:spLocks noChangeArrowheads="1"/>
          </p:cNvSpPr>
          <p:nvPr/>
        </p:nvSpPr>
        <p:spPr bwMode="auto">
          <a:xfrm>
            <a:off x="3868738" y="3962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55" name="Rectangle 18"/>
          <p:cNvSpPr>
            <a:spLocks noChangeArrowheads="1"/>
          </p:cNvSpPr>
          <p:nvPr/>
        </p:nvSpPr>
        <p:spPr bwMode="auto">
          <a:xfrm>
            <a:off x="3868738" y="42672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refcnt=1</a:t>
            </a:r>
          </a:p>
        </p:txBody>
      </p:sp>
      <p:sp>
        <p:nvSpPr>
          <p:cNvPr id="56" name="Rectangle 19"/>
          <p:cNvSpPr>
            <a:spLocks noChangeArrowheads="1"/>
          </p:cNvSpPr>
          <p:nvPr/>
        </p:nvSpPr>
        <p:spPr bwMode="auto">
          <a:xfrm>
            <a:off x="3868738" y="4572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57" name="Line 20"/>
          <p:cNvSpPr>
            <a:spLocks noChangeShapeType="1"/>
          </p:cNvSpPr>
          <p:nvPr/>
        </p:nvSpPr>
        <p:spPr bwMode="auto">
          <a:xfrm flipV="1">
            <a:off x="1828800" y="3657599"/>
            <a:ext cx="2039938" cy="352425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8" name="Rectangle 22"/>
          <p:cNvSpPr>
            <a:spLocks noChangeArrowheads="1"/>
          </p:cNvSpPr>
          <p:nvPr/>
        </p:nvSpPr>
        <p:spPr bwMode="auto">
          <a:xfrm>
            <a:off x="3868738" y="3657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3868738" y="56388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3868738" y="5943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refcnt=1</a:t>
            </a:r>
          </a:p>
        </p:txBody>
      </p:sp>
      <p:sp>
        <p:nvSpPr>
          <p:cNvPr id="61" name="Rectangle 25"/>
          <p:cNvSpPr>
            <a:spLocks noChangeArrowheads="1"/>
          </p:cNvSpPr>
          <p:nvPr/>
        </p:nvSpPr>
        <p:spPr bwMode="auto">
          <a:xfrm>
            <a:off x="3868738" y="6248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2" name="Rectangle 26"/>
          <p:cNvSpPr>
            <a:spLocks noChangeArrowheads="1"/>
          </p:cNvSpPr>
          <p:nvPr/>
        </p:nvSpPr>
        <p:spPr bwMode="auto">
          <a:xfrm>
            <a:off x="3868738" y="5334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>
            <a:off x="1828800" y="4683125"/>
            <a:ext cx="2057400" cy="698500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" name="Text Box 28"/>
          <p:cNvSpPr txBox="1">
            <a:spLocks noChangeArrowheads="1"/>
          </p:cNvSpPr>
          <p:nvPr/>
        </p:nvSpPr>
        <p:spPr bwMode="auto">
          <a:xfrm>
            <a:off x="228600" y="40862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stderr</a:t>
            </a:r>
          </a:p>
        </p:txBody>
      </p:sp>
      <p:sp>
        <p:nvSpPr>
          <p:cNvPr id="65" name="Text Box 29"/>
          <p:cNvSpPr txBox="1">
            <a:spLocks noChangeArrowheads="1"/>
          </p:cNvSpPr>
          <p:nvPr/>
        </p:nvSpPr>
        <p:spPr bwMode="auto">
          <a:xfrm>
            <a:off x="228600" y="38576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stdout</a:t>
            </a:r>
          </a:p>
        </p:txBody>
      </p:sp>
      <p:sp>
        <p:nvSpPr>
          <p:cNvPr id="66" name="Text Box 30"/>
          <p:cNvSpPr txBox="1">
            <a:spLocks noChangeArrowheads="1"/>
          </p:cNvSpPr>
          <p:nvPr/>
        </p:nvSpPr>
        <p:spPr bwMode="auto">
          <a:xfrm>
            <a:off x="334963" y="3629025"/>
            <a:ext cx="715962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stdin</a:t>
            </a:r>
          </a:p>
        </p:txBody>
      </p:sp>
      <p:sp>
        <p:nvSpPr>
          <p:cNvPr id="67" name="Line 31"/>
          <p:cNvSpPr>
            <a:spLocks noChangeShapeType="1"/>
          </p:cNvSpPr>
          <p:nvPr/>
        </p:nvSpPr>
        <p:spPr bwMode="auto">
          <a:xfrm flipV="1">
            <a:off x="4786313" y="3641725"/>
            <a:ext cx="1690687" cy="153988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" name="Rectangle 32"/>
          <p:cNvSpPr>
            <a:spLocks noChangeArrowheads="1"/>
          </p:cNvSpPr>
          <p:nvPr/>
        </p:nvSpPr>
        <p:spPr bwMode="auto">
          <a:xfrm>
            <a:off x="6477000" y="3629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69" name="Rectangle 33"/>
          <p:cNvSpPr>
            <a:spLocks noChangeArrowheads="1"/>
          </p:cNvSpPr>
          <p:nvPr/>
        </p:nvSpPr>
        <p:spPr bwMode="auto">
          <a:xfrm>
            <a:off x="6477000" y="45434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70" name="Rectangle 34"/>
          <p:cNvSpPr>
            <a:spLocks noChangeArrowheads="1"/>
          </p:cNvSpPr>
          <p:nvPr/>
        </p:nvSpPr>
        <p:spPr bwMode="auto">
          <a:xfrm>
            <a:off x="6477000" y="3933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6477000" y="4238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72" name="Rectangle 36"/>
          <p:cNvSpPr>
            <a:spLocks noChangeArrowheads="1"/>
          </p:cNvSpPr>
          <p:nvPr/>
        </p:nvSpPr>
        <p:spPr bwMode="auto">
          <a:xfrm>
            <a:off x="6477000" y="52292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73" name="Rectangle 37"/>
          <p:cNvSpPr>
            <a:spLocks noChangeArrowheads="1"/>
          </p:cNvSpPr>
          <p:nvPr/>
        </p:nvSpPr>
        <p:spPr bwMode="auto">
          <a:xfrm>
            <a:off x="6477000" y="6143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74" name="Rectangle 38"/>
          <p:cNvSpPr>
            <a:spLocks noChangeArrowheads="1"/>
          </p:cNvSpPr>
          <p:nvPr/>
        </p:nvSpPr>
        <p:spPr bwMode="auto">
          <a:xfrm>
            <a:off x="6477000" y="5534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75" name="Rectangle 39"/>
          <p:cNvSpPr>
            <a:spLocks noChangeArrowheads="1"/>
          </p:cNvSpPr>
          <p:nvPr/>
        </p:nvSpPr>
        <p:spPr bwMode="auto">
          <a:xfrm>
            <a:off x="6477000" y="5838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76" name="Text Box 40"/>
          <p:cNvSpPr txBox="1">
            <a:spLocks noChangeArrowheads="1"/>
          </p:cNvSpPr>
          <p:nvPr/>
        </p:nvSpPr>
        <p:spPr bwMode="auto">
          <a:xfrm>
            <a:off x="3758514" y="3352800"/>
            <a:ext cx="154952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 (terminal)</a:t>
            </a:r>
          </a:p>
        </p:txBody>
      </p:sp>
      <p:sp>
        <p:nvSpPr>
          <p:cNvPr id="77" name="Text Box 41"/>
          <p:cNvSpPr txBox="1">
            <a:spLocks noChangeArrowheads="1"/>
          </p:cNvSpPr>
          <p:nvPr/>
        </p:nvSpPr>
        <p:spPr bwMode="auto">
          <a:xfrm>
            <a:off x="3766752" y="5029200"/>
            <a:ext cx="115768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B (disk)</a:t>
            </a:r>
          </a:p>
        </p:txBody>
      </p:sp>
      <p:sp>
        <p:nvSpPr>
          <p:cNvPr id="80" name="Line 21"/>
          <p:cNvSpPr>
            <a:spLocks noChangeShapeType="1"/>
          </p:cNvSpPr>
          <p:nvPr/>
        </p:nvSpPr>
        <p:spPr bwMode="auto">
          <a:xfrm flipV="1">
            <a:off x="4706938" y="5229224"/>
            <a:ext cx="1770062" cy="257175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02062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72983" y="381000"/>
            <a:ext cx="7592093" cy="762000"/>
          </a:xfrm>
        </p:spPr>
        <p:txBody>
          <a:bodyPr/>
          <a:lstStyle/>
          <a:p>
            <a:r>
              <a:rPr lang="en-US" sz="3200" dirty="0" smtClean="0"/>
              <a:t>How Processes Share Files: </a:t>
            </a:r>
            <a:r>
              <a:rPr lang="en-US" sz="3200" dirty="0" smtClean="0">
                <a:latin typeface="Courier New"/>
                <a:cs typeface="Courier New"/>
              </a:rPr>
              <a:t>fork</a:t>
            </a:r>
            <a:endParaRPr lang="en-US" sz="3400" dirty="0">
              <a:latin typeface="Courier New"/>
              <a:cs typeface="Courier New"/>
            </a:endParaRPr>
          </a:p>
        </p:txBody>
      </p:sp>
      <p:sp>
        <p:nvSpPr>
          <p:cNvPr id="75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066800"/>
            <a:ext cx="8307387" cy="1295400"/>
          </a:xfrm>
        </p:spPr>
        <p:txBody>
          <a:bodyPr/>
          <a:lstStyle/>
          <a:p>
            <a:r>
              <a:rPr lang="en-US" dirty="0"/>
              <a:t>A child process inherits its parent’s open </a:t>
            </a:r>
            <a:r>
              <a:rPr lang="en-US" dirty="0" smtClean="0"/>
              <a:t>files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After</a:t>
            </a:r>
            <a:r>
              <a:rPr lang="en-US" dirty="0" smtClean="0"/>
              <a:t> </a:t>
            </a:r>
            <a:r>
              <a:rPr lang="en-US" dirty="0" smtClean="0">
                <a:latin typeface="Courier New"/>
                <a:cs typeface="Courier New"/>
              </a:rPr>
              <a:t>fork</a:t>
            </a:r>
            <a:r>
              <a:rPr lang="en-US" dirty="0" smtClean="0"/>
              <a:t>:</a:t>
            </a: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+mn-lt"/>
              </a:rPr>
              <a:t>Child’s table same as </a:t>
            </a:r>
            <a:r>
              <a:rPr lang="en-US" dirty="0" smtClean="0">
                <a:latin typeface="+mn-lt"/>
              </a:rPr>
              <a:t>parent’s</a:t>
            </a:r>
            <a:r>
              <a:rPr lang="en-US" dirty="0">
                <a:latin typeface="+mn-lt"/>
              </a:rPr>
              <a:t>, and +1 to each </a:t>
            </a:r>
            <a:r>
              <a:rPr lang="en-US" dirty="0" err="1" smtClean="0">
                <a:latin typeface="+mn-lt"/>
              </a:rPr>
              <a:t>refcnt</a:t>
            </a:r>
            <a:endParaRPr lang="en-US" dirty="0">
              <a:latin typeface="+mn-lt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1506538" y="36703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4" name="Rectangle 5"/>
          <p:cNvSpPr>
            <a:spLocks noChangeArrowheads="1"/>
          </p:cNvSpPr>
          <p:nvPr/>
        </p:nvSpPr>
        <p:spPr bwMode="auto">
          <a:xfrm>
            <a:off x="1506538" y="38989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auto">
          <a:xfrm>
            <a:off x="1506538" y="41275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6" name="Rectangle 7"/>
          <p:cNvSpPr>
            <a:spLocks noChangeArrowheads="1"/>
          </p:cNvSpPr>
          <p:nvPr/>
        </p:nvSpPr>
        <p:spPr bwMode="auto">
          <a:xfrm>
            <a:off x="1506538" y="43561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7" name="Rectangle 8"/>
          <p:cNvSpPr>
            <a:spLocks noChangeArrowheads="1"/>
          </p:cNvSpPr>
          <p:nvPr/>
        </p:nvSpPr>
        <p:spPr bwMode="auto">
          <a:xfrm>
            <a:off x="1506538" y="45847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896938" y="36703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0</a:t>
            </a: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896938" y="38989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1</a:t>
            </a:r>
          </a:p>
        </p:txBody>
      </p:sp>
      <p:sp>
        <p:nvSpPr>
          <p:cNvPr id="60" name="Rectangle 11"/>
          <p:cNvSpPr>
            <a:spLocks noChangeArrowheads="1"/>
          </p:cNvSpPr>
          <p:nvPr/>
        </p:nvSpPr>
        <p:spPr bwMode="auto">
          <a:xfrm>
            <a:off x="896938" y="41275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2</a:t>
            </a:r>
          </a:p>
        </p:txBody>
      </p:sp>
      <p:sp>
        <p:nvSpPr>
          <p:cNvPr id="61" name="Rectangle 12"/>
          <p:cNvSpPr>
            <a:spLocks noChangeArrowheads="1"/>
          </p:cNvSpPr>
          <p:nvPr/>
        </p:nvSpPr>
        <p:spPr bwMode="auto">
          <a:xfrm>
            <a:off x="896938" y="43561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3</a:t>
            </a:r>
          </a:p>
        </p:txBody>
      </p:sp>
      <p:sp>
        <p:nvSpPr>
          <p:cNvPr id="62" name="Rectangle 13"/>
          <p:cNvSpPr>
            <a:spLocks noChangeArrowheads="1"/>
          </p:cNvSpPr>
          <p:nvPr/>
        </p:nvSpPr>
        <p:spPr bwMode="auto">
          <a:xfrm>
            <a:off x="896938" y="45847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4</a:t>
            </a:r>
          </a:p>
        </p:txBody>
      </p:sp>
      <p:sp>
        <p:nvSpPr>
          <p:cNvPr id="63" name="Text Box 14"/>
          <p:cNvSpPr txBox="1">
            <a:spLocks noChangeArrowheads="1"/>
          </p:cNvSpPr>
          <p:nvPr/>
        </p:nvSpPr>
        <p:spPr bwMode="auto">
          <a:xfrm>
            <a:off x="610550" y="2636222"/>
            <a:ext cx="23900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Descriptor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[one table per process]</a:t>
            </a:r>
          </a:p>
        </p:txBody>
      </p:sp>
      <p:sp>
        <p:nvSpPr>
          <p:cNvPr id="64" name="Text Box 15"/>
          <p:cNvSpPr txBox="1">
            <a:spLocks noChangeArrowheads="1"/>
          </p:cNvSpPr>
          <p:nvPr/>
        </p:nvSpPr>
        <p:spPr bwMode="auto">
          <a:xfrm>
            <a:off x="31594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Open file table 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65" name="Text Box 16"/>
          <p:cNvSpPr txBox="1">
            <a:spLocks noChangeArrowheads="1"/>
          </p:cNvSpPr>
          <p:nvPr/>
        </p:nvSpPr>
        <p:spPr bwMode="auto">
          <a:xfrm>
            <a:off x="57502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v-node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66" name="Rectangle 17"/>
          <p:cNvSpPr>
            <a:spLocks noChangeArrowheads="1"/>
          </p:cNvSpPr>
          <p:nvPr/>
        </p:nvSpPr>
        <p:spPr bwMode="auto">
          <a:xfrm>
            <a:off x="3868738" y="3962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67" name="Rectangle 18"/>
          <p:cNvSpPr>
            <a:spLocks noChangeArrowheads="1"/>
          </p:cNvSpPr>
          <p:nvPr/>
        </p:nvSpPr>
        <p:spPr bwMode="auto">
          <a:xfrm>
            <a:off x="3868738" y="42672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 dirty="0" err="1" smtClean="0">
                <a:solidFill>
                  <a:srgbClr val="0070C0"/>
                </a:solidFill>
                <a:latin typeface="Courier New" pitchFamily="49" charset="0"/>
              </a:rPr>
              <a:t>refcnt</a:t>
            </a:r>
            <a:r>
              <a:rPr lang="en-US" sz="1400" dirty="0" smtClean="0">
                <a:solidFill>
                  <a:srgbClr val="0070C0"/>
                </a:solidFill>
                <a:latin typeface="Courier New" pitchFamily="49" charset="0"/>
              </a:rPr>
              <a:t>=2</a:t>
            </a:r>
            <a:endParaRPr lang="en-US" sz="1400" dirty="0">
              <a:solidFill>
                <a:srgbClr val="0070C0"/>
              </a:solidFill>
              <a:latin typeface="Courier New" pitchFamily="49" charset="0"/>
            </a:endParaRPr>
          </a:p>
        </p:txBody>
      </p:sp>
      <p:sp>
        <p:nvSpPr>
          <p:cNvPr id="68" name="Rectangle 19"/>
          <p:cNvSpPr>
            <a:spLocks noChangeArrowheads="1"/>
          </p:cNvSpPr>
          <p:nvPr/>
        </p:nvSpPr>
        <p:spPr bwMode="auto">
          <a:xfrm>
            <a:off x="3868738" y="4572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9" name="Line 20"/>
          <p:cNvSpPr>
            <a:spLocks noChangeShapeType="1"/>
          </p:cNvSpPr>
          <p:nvPr/>
        </p:nvSpPr>
        <p:spPr bwMode="auto">
          <a:xfrm flipV="1">
            <a:off x="1828800" y="3657599"/>
            <a:ext cx="2039938" cy="352425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" name="Rectangle 22"/>
          <p:cNvSpPr>
            <a:spLocks noChangeArrowheads="1"/>
          </p:cNvSpPr>
          <p:nvPr/>
        </p:nvSpPr>
        <p:spPr bwMode="auto">
          <a:xfrm>
            <a:off x="3868738" y="3657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71" name="Rectangle 23"/>
          <p:cNvSpPr>
            <a:spLocks noChangeArrowheads="1"/>
          </p:cNvSpPr>
          <p:nvPr/>
        </p:nvSpPr>
        <p:spPr bwMode="auto">
          <a:xfrm>
            <a:off x="3868738" y="56388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72" name="Rectangle 24"/>
          <p:cNvSpPr>
            <a:spLocks noChangeArrowheads="1"/>
          </p:cNvSpPr>
          <p:nvPr/>
        </p:nvSpPr>
        <p:spPr bwMode="auto">
          <a:xfrm>
            <a:off x="3868738" y="5943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 dirty="0" err="1" smtClean="0">
                <a:solidFill>
                  <a:srgbClr val="0070C0"/>
                </a:solidFill>
                <a:latin typeface="Courier New" pitchFamily="49" charset="0"/>
              </a:rPr>
              <a:t>refcnt</a:t>
            </a:r>
            <a:r>
              <a:rPr lang="en-US" sz="1400" dirty="0" smtClean="0">
                <a:solidFill>
                  <a:srgbClr val="0070C0"/>
                </a:solidFill>
                <a:latin typeface="Courier New" pitchFamily="49" charset="0"/>
              </a:rPr>
              <a:t>=2</a:t>
            </a:r>
            <a:endParaRPr lang="en-US" sz="1400" dirty="0">
              <a:solidFill>
                <a:srgbClr val="0070C0"/>
              </a:solidFill>
              <a:latin typeface="Courier New" pitchFamily="49" charset="0"/>
            </a:endParaRPr>
          </a:p>
        </p:txBody>
      </p:sp>
      <p:sp>
        <p:nvSpPr>
          <p:cNvPr id="73" name="Rectangle 25"/>
          <p:cNvSpPr>
            <a:spLocks noChangeArrowheads="1"/>
          </p:cNvSpPr>
          <p:nvPr/>
        </p:nvSpPr>
        <p:spPr bwMode="auto">
          <a:xfrm>
            <a:off x="3868738" y="6248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74" name="Rectangle 26"/>
          <p:cNvSpPr>
            <a:spLocks noChangeArrowheads="1"/>
          </p:cNvSpPr>
          <p:nvPr/>
        </p:nvSpPr>
        <p:spPr bwMode="auto">
          <a:xfrm>
            <a:off x="3868738" y="5334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75" name="Line 27"/>
          <p:cNvSpPr>
            <a:spLocks noChangeShapeType="1"/>
          </p:cNvSpPr>
          <p:nvPr/>
        </p:nvSpPr>
        <p:spPr bwMode="auto">
          <a:xfrm>
            <a:off x="1828800" y="4683125"/>
            <a:ext cx="2057400" cy="650875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9" name="Line 31"/>
          <p:cNvSpPr>
            <a:spLocks noChangeShapeType="1"/>
          </p:cNvSpPr>
          <p:nvPr/>
        </p:nvSpPr>
        <p:spPr bwMode="auto">
          <a:xfrm flipV="1">
            <a:off x="4786313" y="3641725"/>
            <a:ext cx="1690687" cy="153988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0" name="Rectangle 32"/>
          <p:cNvSpPr>
            <a:spLocks noChangeArrowheads="1"/>
          </p:cNvSpPr>
          <p:nvPr/>
        </p:nvSpPr>
        <p:spPr bwMode="auto">
          <a:xfrm>
            <a:off x="6477000" y="3629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81" name="Rectangle 33"/>
          <p:cNvSpPr>
            <a:spLocks noChangeArrowheads="1"/>
          </p:cNvSpPr>
          <p:nvPr/>
        </p:nvSpPr>
        <p:spPr bwMode="auto">
          <a:xfrm>
            <a:off x="6477000" y="45434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82" name="Rectangle 34"/>
          <p:cNvSpPr>
            <a:spLocks noChangeArrowheads="1"/>
          </p:cNvSpPr>
          <p:nvPr/>
        </p:nvSpPr>
        <p:spPr bwMode="auto">
          <a:xfrm>
            <a:off x="6477000" y="3933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83" name="Rectangle 35"/>
          <p:cNvSpPr>
            <a:spLocks noChangeArrowheads="1"/>
          </p:cNvSpPr>
          <p:nvPr/>
        </p:nvSpPr>
        <p:spPr bwMode="auto">
          <a:xfrm>
            <a:off x="6477000" y="4238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84" name="Rectangle 36"/>
          <p:cNvSpPr>
            <a:spLocks noChangeArrowheads="1"/>
          </p:cNvSpPr>
          <p:nvPr/>
        </p:nvSpPr>
        <p:spPr bwMode="auto">
          <a:xfrm>
            <a:off x="6477000" y="52292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85" name="Rectangle 37"/>
          <p:cNvSpPr>
            <a:spLocks noChangeArrowheads="1"/>
          </p:cNvSpPr>
          <p:nvPr/>
        </p:nvSpPr>
        <p:spPr bwMode="auto">
          <a:xfrm>
            <a:off x="6477000" y="6143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86" name="Rectangle 38"/>
          <p:cNvSpPr>
            <a:spLocks noChangeArrowheads="1"/>
          </p:cNvSpPr>
          <p:nvPr/>
        </p:nvSpPr>
        <p:spPr bwMode="auto">
          <a:xfrm>
            <a:off x="6477000" y="5534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87" name="Rectangle 39"/>
          <p:cNvSpPr>
            <a:spLocks noChangeArrowheads="1"/>
          </p:cNvSpPr>
          <p:nvPr/>
        </p:nvSpPr>
        <p:spPr bwMode="auto">
          <a:xfrm>
            <a:off x="6477000" y="5838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88" name="Text Box 40"/>
          <p:cNvSpPr txBox="1">
            <a:spLocks noChangeArrowheads="1"/>
          </p:cNvSpPr>
          <p:nvPr/>
        </p:nvSpPr>
        <p:spPr bwMode="auto">
          <a:xfrm>
            <a:off x="3758514" y="3352800"/>
            <a:ext cx="154952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 (terminal)</a:t>
            </a:r>
          </a:p>
        </p:txBody>
      </p:sp>
      <p:sp>
        <p:nvSpPr>
          <p:cNvPr id="89" name="Text Box 41"/>
          <p:cNvSpPr txBox="1">
            <a:spLocks noChangeArrowheads="1"/>
          </p:cNvSpPr>
          <p:nvPr/>
        </p:nvSpPr>
        <p:spPr bwMode="auto">
          <a:xfrm>
            <a:off x="3766752" y="5029200"/>
            <a:ext cx="115768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B (disk)</a:t>
            </a:r>
          </a:p>
        </p:txBody>
      </p:sp>
      <p:sp>
        <p:nvSpPr>
          <p:cNvPr id="92" name="Line 21"/>
          <p:cNvSpPr>
            <a:spLocks noChangeShapeType="1"/>
          </p:cNvSpPr>
          <p:nvPr/>
        </p:nvSpPr>
        <p:spPr bwMode="auto">
          <a:xfrm flipV="1">
            <a:off x="4706938" y="5229224"/>
            <a:ext cx="1770062" cy="257175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3" name="Rectangle 4"/>
          <p:cNvSpPr>
            <a:spLocks noChangeArrowheads="1"/>
          </p:cNvSpPr>
          <p:nvPr/>
        </p:nvSpPr>
        <p:spPr bwMode="auto">
          <a:xfrm>
            <a:off x="1507524" y="54102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4" name="Rectangle 5"/>
          <p:cNvSpPr>
            <a:spLocks noChangeArrowheads="1"/>
          </p:cNvSpPr>
          <p:nvPr/>
        </p:nvSpPr>
        <p:spPr bwMode="auto">
          <a:xfrm>
            <a:off x="1507524" y="56388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5" name="Rectangle 6"/>
          <p:cNvSpPr>
            <a:spLocks noChangeArrowheads="1"/>
          </p:cNvSpPr>
          <p:nvPr/>
        </p:nvSpPr>
        <p:spPr bwMode="auto">
          <a:xfrm>
            <a:off x="1507524" y="58674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6" name="Rectangle 7"/>
          <p:cNvSpPr>
            <a:spLocks noChangeArrowheads="1"/>
          </p:cNvSpPr>
          <p:nvPr/>
        </p:nvSpPr>
        <p:spPr bwMode="auto">
          <a:xfrm>
            <a:off x="1507524" y="60960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7" name="Rectangle 8"/>
          <p:cNvSpPr>
            <a:spLocks noChangeArrowheads="1"/>
          </p:cNvSpPr>
          <p:nvPr/>
        </p:nvSpPr>
        <p:spPr bwMode="auto">
          <a:xfrm>
            <a:off x="1507524" y="63246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8" name="Rectangle 9"/>
          <p:cNvSpPr>
            <a:spLocks noChangeArrowheads="1"/>
          </p:cNvSpPr>
          <p:nvPr/>
        </p:nvSpPr>
        <p:spPr bwMode="auto">
          <a:xfrm>
            <a:off x="897924" y="54102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0</a:t>
            </a:r>
          </a:p>
        </p:txBody>
      </p:sp>
      <p:sp>
        <p:nvSpPr>
          <p:cNvPr id="99" name="Rectangle 10"/>
          <p:cNvSpPr>
            <a:spLocks noChangeArrowheads="1"/>
          </p:cNvSpPr>
          <p:nvPr/>
        </p:nvSpPr>
        <p:spPr bwMode="auto">
          <a:xfrm>
            <a:off x="897924" y="56388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1</a:t>
            </a:r>
          </a:p>
        </p:txBody>
      </p:sp>
      <p:sp>
        <p:nvSpPr>
          <p:cNvPr id="100" name="Rectangle 11"/>
          <p:cNvSpPr>
            <a:spLocks noChangeArrowheads="1"/>
          </p:cNvSpPr>
          <p:nvPr/>
        </p:nvSpPr>
        <p:spPr bwMode="auto">
          <a:xfrm>
            <a:off x="897924" y="58674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2</a:t>
            </a:r>
          </a:p>
        </p:txBody>
      </p:sp>
      <p:sp>
        <p:nvSpPr>
          <p:cNvPr id="101" name="Rectangle 12"/>
          <p:cNvSpPr>
            <a:spLocks noChangeArrowheads="1"/>
          </p:cNvSpPr>
          <p:nvPr/>
        </p:nvSpPr>
        <p:spPr bwMode="auto">
          <a:xfrm>
            <a:off x="897924" y="60960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3</a:t>
            </a:r>
          </a:p>
        </p:txBody>
      </p:sp>
      <p:sp>
        <p:nvSpPr>
          <p:cNvPr id="102" name="Rectangle 13"/>
          <p:cNvSpPr>
            <a:spLocks noChangeArrowheads="1"/>
          </p:cNvSpPr>
          <p:nvPr/>
        </p:nvSpPr>
        <p:spPr bwMode="auto">
          <a:xfrm>
            <a:off x="897924" y="63246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4</a:t>
            </a:r>
          </a:p>
        </p:txBody>
      </p:sp>
      <p:sp>
        <p:nvSpPr>
          <p:cNvPr id="103" name="Text Box 40"/>
          <p:cNvSpPr txBox="1">
            <a:spLocks noChangeArrowheads="1"/>
          </p:cNvSpPr>
          <p:nvPr/>
        </p:nvSpPr>
        <p:spPr bwMode="auto">
          <a:xfrm>
            <a:off x="1397559" y="3352800"/>
            <a:ext cx="74385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smtClean="0">
                <a:latin typeface="Calibri" pitchFamily="34" charset="0"/>
              </a:rPr>
              <a:t>Parent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104" name="Text Box 40"/>
          <p:cNvSpPr txBox="1">
            <a:spLocks noChangeArrowheads="1"/>
          </p:cNvSpPr>
          <p:nvPr/>
        </p:nvSpPr>
        <p:spPr bwMode="auto">
          <a:xfrm>
            <a:off x="1389742" y="5105400"/>
            <a:ext cx="61427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smtClean="0">
                <a:latin typeface="Calibri" pitchFamily="34" charset="0"/>
              </a:rPr>
              <a:t>Child</a:t>
            </a:r>
            <a:endParaRPr lang="en-US" sz="1600" dirty="0">
              <a:latin typeface="Calibri" pitchFamily="34" charset="0"/>
            </a:endParaRPr>
          </a:p>
        </p:txBody>
      </p:sp>
      <p:cxnSp>
        <p:nvCxnSpPr>
          <p:cNvPr id="106" name="Straight Arrow Connector 105"/>
          <p:cNvCxnSpPr/>
          <p:nvPr/>
        </p:nvCxnSpPr>
        <p:spPr bwMode="auto">
          <a:xfrm rot="5400000" flipH="1" flipV="1">
            <a:off x="1808070" y="3695608"/>
            <a:ext cx="2064922" cy="2056414"/>
          </a:xfrm>
          <a:prstGeom prst="straightConnector1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</p:cxnSp>
      <p:cxnSp>
        <p:nvCxnSpPr>
          <p:cNvPr id="110" name="Straight Arrow Connector 109"/>
          <p:cNvCxnSpPr/>
          <p:nvPr/>
        </p:nvCxnSpPr>
        <p:spPr bwMode="auto">
          <a:xfrm flipV="1">
            <a:off x="1812324" y="5334000"/>
            <a:ext cx="2073876" cy="1107990"/>
          </a:xfrm>
          <a:prstGeom prst="straightConnector1">
            <a:avLst/>
          </a:prstGeom>
          <a:noFill/>
          <a:ln w="25400">
            <a:solidFill>
              <a:srgbClr val="0070C0"/>
            </a:solidFill>
            <a:round/>
            <a:headEnd/>
            <a:tailEnd type="stealth" w="med" len="med"/>
          </a:ln>
          <a:effectLst/>
        </p:spPr>
      </p:cxnSp>
      <p:sp>
        <p:nvSpPr>
          <p:cNvPr id="76" name="Text Box 14"/>
          <p:cNvSpPr txBox="1">
            <a:spLocks noChangeArrowheads="1"/>
          </p:cNvSpPr>
          <p:nvPr/>
        </p:nvSpPr>
        <p:spPr bwMode="auto">
          <a:xfrm>
            <a:off x="5218758" y="6452779"/>
            <a:ext cx="328320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smtClean="0">
                <a:solidFill>
                  <a:srgbClr val="0070C0"/>
                </a:solidFill>
                <a:latin typeface="Calibri" pitchFamily="34" charset="0"/>
              </a:rPr>
              <a:t>File is shared between processes</a:t>
            </a:r>
            <a:endParaRPr lang="en-US" sz="1800" i="1" dirty="0">
              <a:solidFill>
                <a:srgbClr val="0070C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85962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4524" y="435678"/>
            <a:ext cx="7592093" cy="762000"/>
          </a:xfrm>
        </p:spPr>
        <p:txBody>
          <a:bodyPr/>
          <a:lstStyle/>
          <a:p>
            <a:r>
              <a:rPr lang="en-US"/>
              <a:t>I/O Redirection</a:t>
            </a:r>
          </a:p>
        </p:txBody>
      </p:sp>
      <p:sp>
        <p:nvSpPr>
          <p:cNvPr id="66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05800" cy="1905000"/>
          </a:xfrm>
        </p:spPr>
        <p:txBody>
          <a:bodyPr/>
          <a:lstStyle/>
          <a:p>
            <a:r>
              <a:rPr lang="en-US" dirty="0"/>
              <a:t>Question: How does a shell implement I/O redirection?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 smtClean="0">
                <a:latin typeface="Courier New" pitchFamily="49" charset="0"/>
              </a:rPr>
              <a:t>linux</a:t>
            </a:r>
            <a:r>
              <a:rPr lang="en-US" b="1" dirty="0" smtClean="0">
                <a:latin typeface="Courier New" pitchFamily="49" charset="0"/>
              </a:rPr>
              <a:t>&gt; </a:t>
            </a:r>
            <a:r>
              <a:rPr lang="en-US" b="1" dirty="0" err="1">
                <a:latin typeface="Courier New" pitchFamily="49" charset="0"/>
              </a:rPr>
              <a:t>ls</a:t>
            </a:r>
            <a:r>
              <a:rPr lang="en-US" b="1" dirty="0">
                <a:latin typeface="Courier New" pitchFamily="49" charset="0"/>
              </a:rPr>
              <a:t> &gt; foo.txt</a:t>
            </a:r>
          </a:p>
          <a:p>
            <a:endParaRPr lang="en-US" dirty="0" smtClean="0"/>
          </a:p>
          <a:p>
            <a:r>
              <a:rPr lang="en-US" dirty="0" smtClean="0"/>
              <a:t>Answer</a:t>
            </a:r>
            <a:r>
              <a:rPr lang="en-US" dirty="0"/>
              <a:t>: By calling the </a:t>
            </a:r>
            <a:r>
              <a:rPr lang="en-US" dirty="0">
                <a:latin typeface="Courier New"/>
                <a:cs typeface="Courier New"/>
              </a:rPr>
              <a:t>dup2(</a:t>
            </a:r>
            <a:r>
              <a:rPr lang="en-US" dirty="0" err="1">
                <a:latin typeface="Courier New"/>
                <a:cs typeface="Courier New"/>
              </a:rPr>
              <a:t>oldfd</a:t>
            </a:r>
            <a:r>
              <a:rPr lang="en-US" dirty="0">
                <a:latin typeface="Courier New"/>
                <a:cs typeface="Courier New"/>
              </a:rPr>
              <a:t>, </a:t>
            </a:r>
            <a:r>
              <a:rPr lang="en-US" dirty="0" err="1">
                <a:latin typeface="Courier New"/>
                <a:cs typeface="Courier New"/>
              </a:rPr>
              <a:t>newfd</a:t>
            </a:r>
            <a:r>
              <a:rPr lang="en-US" dirty="0">
                <a:latin typeface="Courier New"/>
                <a:cs typeface="Courier New"/>
              </a:rPr>
              <a:t>) </a:t>
            </a:r>
            <a:r>
              <a:rPr lang="en-US" dirty="0"/>
              <a:t>function</a:t>
            </a:r>
          </a:p>
          <a:p>
            <a:pPr lvl="1"/>
            <a:r>
              <a:rPr lang="en-US" dirty="0"/>
              <a:t>Copies (per-process) descriptor table entry </a:t>
            </a:r>
            <a:r>
              <a:rPr lang="en-US" b="1" dirty="0" err="1">
                <a:latin typeface="Courier New" pitchFamily="49" charset="0"/>
              </a:rPr>
              <a:t>oldfd</a:t>
            </a:r>
            <a:r>
              <a:rPr lang="en-US" dirty="0"/>
              <a:t> </a:t>
            </a:r>
            <a:r>
              <a:rPr lang="en-US" dirty="0" smtClean="0"/>
              <a:t> to </a:t>
            </a:r>
            <a:r>
              <a:rPr lang="en-US" dirty="0"/>
              <a:t>entry </a:t>
            </a:r>
            <a:r>
              <a:rPr lang="en-US" b="1" dirty="0" err="1">
                <a:latin typeface="Courier New" pitchFamily="49" charset="0"/>
              </a:rPr>
              <a:t>newfd</a:t>
            </a:r>
            <a:endParaRPr lang="en-US" b="1" dirty="0">
              <a:latin typeface="Courier New" pitchFamily="49" charset="0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873210" y="4602162"/>
            <a:ext cx="1838325" cy="1722438"/>
            <a:chOff x="906162" y="4221162"/>
            <a:chExt cx="1838325" cy="1722438"/>
          </a:xfrm>
        </p:grpSpPr>
        <p:sp>
          <p:nvSpPr>
            <p:cNvPr id="666663" name="Rectangle 39"/>
            <p:cNvSpPr>
              <a:spLocks noChangeAspect="1" noChangeArrowheads="1"/>
            </p:cNvSpPr>
            <p:nvPr/>
          </p:nvSpPr>
          <p:spPr bwMode="auto">
            <a:xfrm>
              <a:off x="1825324" y="4221162"/>
              <a:ext cx="919163" cy="3444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66664" name="Rectangle 40"/>
            <p:cNvSpPr>
              <a:spLocks noChangeAspect="1" noChangeArrowheads="1"/>
            </p:cNvSpPr>
            <p:nvPr/>
          </p:nvSpPr>
          <p:spPr bwMode="auto">
            <a:xfrm>
              <a:off x="1825324" y="4565650"/>
              <a:ext cx="919163" cy="3444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>
                  <a:latin typeface="Courier New" pitchFamily="49" charset="0"/>
                </a:rPr>
                <a:t>a</a:t>
              </a:r>
            </a:p>
          </p:txBody>
        </p:sp>
        <p:sp>
          <p:nvSpPr>
            <p:cNvPr id="666665" name="Rectangle 41"/>
            <p:cNvSpPr>
              <a:spLocks noChangeAspect="1" noChangeArrowheads="1"/>
            </p:cNvSpPr>
            <p:nvPr/>
          </p:nvSpPr>
          <p:spPr bwMode="auto">
            <a:xfrm>
              <a:off x="1825324" y="4910137"/>
              <a:ext cx="919163" cy="3444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66666" name="Rectangle 42"/>
            <p:cNvSpPr>
              <a:spLocks noChangeAspect="1" noChangeArrowheads="1"/>
            </p:cNvSpPr>
            <p:nvPr/>
          </p:nvSpPr>
          <p:spPr bwMode="auto">
            <a:xfrm>
              <a:off x="1825324" y="5254625"/>
              <a:ext cx="919163" cy="3444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urier New" pitchFamily="49" charset="0"/>
              </a:endParaRPr>
            </a:p>
          </p:txBody>
        </p:sp>
        <p:sp>
          <p:nvSpPr>
            <p:cNvPr id="666667" name="Rectangle 43"/>
            <p:cNvSpPr>
              <a:spLocks noChangeAspect="1" noChangeArrowheads="1"/>
            </p:cNvSpPr>
            <p:nvPr/>
          </p:nvSpPr>
          <p:spPr bwMode="auto">
            <a:xfrm>
              <a:off x="1825324" y="5599112"/>
              <a:ext cx="919163" cy="3444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>
                  <a:latin typeface="Courier New" pitchFamily="49" charset="0"/>
                </a:rPr>
                <a:t>b</a:t>
              </a:r>
            </a:p>
          </p:txBody>
        </p:sp>
        <p:sp>
          <p:nvSpPr>
            <p:cNvPr id="666668" name="Rectangle 44"/>
            <p:cNvSpPr>
              <a:spLocks noChangeAspect="1" noChangeArrowheads="1"/>
            </p:cNvSpPr>
            <p:nvPr/>
          </p:nvSpPr>
          <p:spPr bwMode="auto">
            <a:xfrm>
              <a:off x="906162" y="4221162"/>
              <a:ext cx="919162" cy="3444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2000" dirty="0" err="1">
                  <a:latin typeface="Calibri" pitchFamily="34" charset="0"/>
                </a:rPr>
                <a:t>fd</a:t>
              </a:r>
              <a:r>
                <a:rPr lang="en-US" sz="2000" dirty="0">
                  <a:latin typeface="Calibri" pitchFamily="34" charset="0"/>
                </a:rPr>
                <a:t> 0</a:t>
              </a:r>
            </a:p>
          </p:txBody>
        </p:sp>
        <p:sp>
          <p:nvSpPr>
            <p:cNvPr id="666669" name="Rectangle 45"/>
            <p:cNvSpPr>
              <a:spLocks noChangeAspect="1" noChangeArrowheads="1"/>
            </p:cNvSpPr>
            <p:nvPr/>
          </p:nvSpPr>
          <p:spPr bwMode="auto">
            <a:xfrm>
              <a:off x="906162" y="4565650"/>
              <a:ext cx="919162" cy="3444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2000" dirty="0" err="1">
                  <a:latin typeface="Calibri" pitchFamily="34" charset="0"/>
                </a:rPr>
                <a:t>fd</a:t>
              </a:r>
              <a:r>
                <a:rPr lang="en-US" sz="2000" dirty="0">
                  <a:latin typeface="Calibri" pitchFamily="34" charset="0"/>
                </a:rPr>
                <a:t> 1</a:t>
              </a:r>
            </a:p>
          </p:txBody>
        </p:sp>
        <p:sp>
          <p:nvSpPr>
            <p:cNvPr id="666670" name="Rectangle 46"/>
            <p:cNvSpPr>
              <a:spLocks noChangeAspect="1" noChangeArrowheads="1"/>
            </p:cNvSpPr>
            <p:nvPr/>
          </p:nvSpPr>
          <p:spPr bwMode="auto">
            <a:xfrm>
              <a:off x="906162" y="4910137"/>
              <a:ext cx="919162" cy="3444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2000" dirty="0" err="1">
                  <a:latin typeface="Calibri" pitchFamily="34" charset="0"/>
                </a:rPr>
                <a:t>fd</a:t>
              </a:r>
              <a:r>
                <a:rPr lang="en-US" sz="2000" dirty="0">
                  <a:latin typeface="Calibri" pitchFamily="34" charset="0"/>
                </a:rPr>
                <a:t> 2</a:t>
              </a:r>
            </a:p>
          </p:txBody>
        </p:sp>
        <p:sp>
          <p:nvSpPr>
            <p:cNvPr id="666671" name="Rectangle 47"/>
            <p:cNvSpPr>
              <a:spLocks noChangeAspect="1" noChangeArrowheads="1"/>
            </p:cNvSpPr>
            <p:nvPr/>
          </p:nvSpPr>
          <p:spPr bwMode="auto">
            <a:xfrm>
              <a:off x="906162" y="5254625"/>
              <a:ext cx="919162" cy="3444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2000" dirty="0" err="1">
                  <a:latin typeface="Calibri" pitchFamily="34" charset="0"/>
                </a:rPr>
                <a:t>fd</a:t>
              </a:r>
              <a:r>
                <a:rPr lang="en-US" sz="2000" dirty="0">
                  <a:latin typeface="Calibri" pitchFamily="34" charset="0"/>
                </a:rPr>
                <a:t> 3</a:t>
              </a:r>
            </a:p>
          </p:txBody>
        </p:sp>
        <p:sp>
          <p:nvSpPr>
            <p:cNvPr id="666672" name="Rectangle 48"/>
            <p:cNvSpPr>
              <a:spLocks noChangeAspect="1" noChangeArrowheads="1"/>
            </p:cNvSpPr>
            <p:nvPr/>
          </p:nvSpPr>
          <p:spPr bwMode="auto">
            <a:xfrm>
              <a:off x="906162" y="5599112"/>
              <a:ext cx="919162" cy="3444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2000" dirty="0" err="1">
                  <a:latin typeface="Calibri" pitchFamily="34" charset="0"/>
                </a:rPr>
                <a:t>fd</a:t>
              </a:r>
              <a:r>
                <a:rPr lang="en-US" sz="2000" dirty="0">
                  <a:latin typeface="Calibri" pitchFamily="34" charset="0"/>
                </a:rPr>
                <a:t> 4</a:t>
              </a:r>
            </a:p>
          </p:txBody>
        </p:sp>
      </p:grpSp>
      <p:sp>
        <p:nvSpPr>
          <p:cNvPr id="666673" name="Text Box 49"/>
          <p:cNvSpPr txBox="1">
            <a:spLocks noChangeAspect="1" noChangeArrowheads="1"/>
          </p:cNvSpPr>
          <p:nvPr/>
        </p:nvSpPr>
        <p:spPr bwMode="auto">
          <a:xfrm>
            <a:off x="1141798" y="3611562"/>
            <a:ext cx="275030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Descriptor table</a:t>
            </a:r>
          </a:p>
          <a:p>
            <a:pPr algn="l">
              <a:lnSpc>
                <a:spcPct val="100000"/>
              </a:lnSpc>
            </a:pP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before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>
                <a:latin typeface="Courier New"/>
                <a:cs typeface="Courier New"/>
              </a:rPr>
              <a:t>dup2(4,1)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3624648" y="3611562"/>
            <a:ext cx="4367544" cy="2713038"/>
            <a:chOff x="3624648" y="3611562"/>
            <a:chExt cx="4367544" cy="2713038"/>
          </a:xfrm>
        </p:grpSpPr>
        <p:grpSp>
          <p:nvGrpSpPr>
            <p:cNvPr id="3" name="Group 27"/>
            <p:cNvGrpSpPr/>
            <p:nvPr/>
          </p:nvGrpSpPr>
          <p:grpSpPr>
            <a:xfrm>
              <a:off x="5208673" y="4602162"/>
              <a:ext cx="1836737" cy="1722438"/>
              <a:chOff x="5241625" y="4267200"/>
              <a:chExt cx="1836737" cy="1722438"/>
            </a:xfrm>
          </p:grpSpPr>
          <p:sp>
            <p:nvSpPr>
              <p:cNvPr id="666676" name="Rectangle 52"/>
              <p:cNvSpPr>
                <a:spLocks noChangeAspect="1" noChangeArrowheads="1"/>
              </p:cNvSpPr>
              <p:nvPr/>
            </p:nvSpPr>
            <p:spPr bwMode="auto">
              <a:xfrm>
                <a:off x="6159200" y="4267200"/>
                <a:ext cx="919162" cy="34448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66677" name="Rectangle 53"/>
              <p:cNvSpPr>
                <a:spLocks noChangeAspect="1" noChangeArrowheads="1"/>
              </p:cNvSpPr>
              <p:nvPr/>
            </p:nvSpPr>
            <p:spPr bwMode="auto">
              <a:xfrm>
                <a:off x="6159200" y="4611688"/>
                <a:ext cx="919162" cy="34448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en-US" dirty="0">
                    <a:solidFill>
                      <a:srgbClr val="C00000"/>
                    </a:solidFill>
                    <a:latin typeface="Courier New" pitchFamily="49" charset="0"/>
                  </a:rPr>
                  <a:t>b</a:t>
                </a:r>
              </a:p>
            </p:txBody>
          </p:sp>
          <p:sp>
            <p:nvSpPr>
              <p:cNvPr id="666678" name="Rectangle 54"/>
              <p:cNvSpPr>
                <a:spLocks noChangeAspect="1" noChangeArrowheads="1"/>
              </p:cNvSpPr>
              <p:nvPr/>
            </p:nvSpPr>
            <p:spPr bwMode="auto">
              <a:xfrm>
                <a:off x="6159200" y="4956175"/>
                <a:ext cx="919162" cy="34448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66679" name="Rectangle 55"/>
              <p:cNvSpPr>
                <a:spLocks noChangeAspect="1" noChangeArrowheads="1"/>
              </p:cNvSpPr>
              <p:nvPr/>
            </p:nvSpPr>
            <p:spPr bwMode="auto">
              <a:xfrm>
                <a:off x="6159200" y="5300663"/>
                <a:ext cx="919162" cy="34448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latin typeface="Courier New" pitchFamily="49" charset="0"/>
                </a:endParaRPr>
              </a:p>
            </p:txBody>
          </p:sp>
          <p:sp>
            <p:nvSpPr>
              <p:cNvPr id="666680" name="Rectangle 56"/>
              <p:cNvSpPr>
                <a:spLocks noChangeAspect="1" noChangeArrowheads="1"/>
              </p:cNvSpPr>
              <p:nvPr/>
            </p:nvSpPr>
            <p:spPr bwMode="auto">
              <a:xfrm>
                <a:off x="6159200" y="5645150"/>
                <a:ext cx="919162" cy="34448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en-US" dirty="0">
                    <a:latin typeface="Courier New" pitchFamily="49" charset="0"/>
                  </a:rPr>
                  <a:t>b</a:t>
                </a:r>
              </a:p>
            </p:txBody>
          </p:sp>
          <p:sp>
            <p:nvSpPr>
              <p:cNvPr id="666681" name="Rectangle 57"/>
              <p:cNvSpPr>
                <a:spLocks noChangeAspect="1" noChangeArrowheads="1"/>
              </p:cNvSpPr>
              <p:nvPr/>
            </p:nvSpPr>
            <p:spPr bwMode="auto">
              <a:xfrm>
                <a:off x="5241625" y="4267200"/>
                <a:ext cx="917575" cy="3444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>
                  <a:lnSpc>
                    <a:spcPct val="100000"/>
                  </a:lnSpc>
                </a:pPr>
                <a:r>
                  <a:rPr lang="en-US" sz="2000" dirty="0" err="1">
                    <a:latin typeface="Calibri" pitchFamily="34" charset="0"/>
                  </a:rPr>
                  <a:t>fd</a:t>
                </a:r>
                <a:r>
                  <a:rPr lang="en-US" sz="2000" dirty="0">
                    <a:latin typeface="Calibri" pitchFamily="34" charset="0"/>
                  </a:rPr>
                  <a:t> 0</a:t>
                </a:r>
              </a:p>
            </p:txBody>
          </p:sp>
          <p:sp>
            <p:nvSpPr>
              <p:cNvPr id="666682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5241625" y="4611688"/>
                <a:ext cx="917575" cy="34448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>
                  <a:lnSpc>
                    <a:spcPct val="100000"/>
                  </a:lnSpc>
                </a:pPr>
                <a:r>
                  <a:rPr lang="en-US" sz="2000" dirty="0" err="1">
                    <a:latin typeface="Calibri" pitchFamily="34" charset="0"/>
                  </a:rPr>
                  <a:t>fd</a:t>
                </a:r>
                <a:r>
                  <a:rPr lang="en-US" sz="2000" dirty="0">
                    <a:latin typeface="Calibri" pitchFamily="34" charset="0"/>
                  </a:rPr>
                  <a:t> 1</a:t>
                </a:r>
              </a:p>
            </p:txBody>
          </p:sp>
          <p:sp>
            <p:nvSpPr>
              <p:cNvPr id="666683" name="Rectangle 59"/>
              <p:cNvSpPr>
                <a:spLocks noChangeAspect="1" noChangeArrowheads="1"/>
              </p:cNvSpPr>
              <p:nvPr/>
            </p:nvSpPr>
            <p:spPr bwMode="auto">
              <a:xfrm>
                <a:off x="5241625" y="4956175"/>
                <a:ext cx="917575" cy="3444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>
                  <a:lnSpc>
                    <a:spcPct val="100000"/>
                  </a:lnSpc>
                </a:pPr>
                <a:r>
                  <a:rPr lang="en-US" sz="2000" dirty="0" err="1">
                    <a:latin typeface="Calibri" pitchFamily="34" charset="0"/>
                  </a:rPr>
                  <a:t>fd</a:t>
                </a:r>
                <a:r>
                  <a:rPr lang="en-US" sz="2000" dirty="0">
                    <a:latin typeface="Calibri" pitchFamily="34" charset="0"/>
                  </a:rPr>
                  <a:t> 2</a:t>
                </a:r>
              </a:p>
            </p:txBody>
          </p:sp>
          <p:sp>
            <p:nvSpPr>
              <p:cNvPr id="666684" name="Rectangle 60"/>
              <p:cNvSpPr>
                <a:spLocks noChangeAspect="1" noChangeArrowheads="1"/>
              </p:cNvSpPr>
              <p:nvPr/>
            </p:nvSpPr>
            <p:spPr bwMode="auto">
              <a:xfrm>
                <a:off x="5241625" y="5300663"/>
                <a:ext cx="917575" cy="34448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>
                  <a:lnSpc>
                    <a:spcPct val="100000"/>
                  </a:lnSpc>
                </a:pPr>
                <a:r>
                  <a:rPr lang="en-US" sz="2000" dirty="0" err="1">
                    <a:latin typeface="Calibri" pitchFamily="34" charset="0"/>
                  </a:rPr>
                  <a:t>fd</a:t>
                </a:r>
                <a:r>
                  <a:rPr lang="en-US" sz="2000" dirty="0">
                    <a:latin typeface="Calibri" pitchFamily="34" charset="0"/>
                  </a:rPr>
                  <a:t> 3</a:t>
                </a:r>
              </a:p>
            </p:txBody>
          </p:sp>
          <p:sp>
            <p:nvSpPr>
              <p:cNvPr id="666685" name="Rectangle 61"/>
              <p:cNvSpPr>
                <a:spLocks noChangeAspect="1" noChangeArrowheads="1"/>
              </p:cNvSpPr>
              <p:nvPr/>
            </p:nvSpPr>
            <p:spPr bwMode="auto">
              <a:xfrm>
                <a:off x="5241625" y="5645150"/>
                <a:ext cx="917575" cy="3444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>
                  <a:lnSpc>
                    <a:spcPct val="100000"/>
                  </a:lnSpc>
                </a:pPr>
                <a:r>
                  <a:rPr lang="en-US" sz="2000" dirty="0" err="1">
                    <a:latin typeface="Calibri" pitchFamily="34" charset="0"/>
                  </a:rPr>
                  <a:t>fd</a:t>
                </a:r>
                <a:r>
                  <a:rPr lang="en-US" sz="2000" dirty="0">
                    <a:latin typeface="Calibri" pitchFamily="34" charset="0"/>
                  </a:rPr>
                  <a:t> 4</a:t>
                </a:r>
              </a:p>
            </p:txBody>
          </p:sp>
        </p:grpSp>
        <p:sp>
          <p:nvSpPr>
            <p:cNvPr id="666686" name="Text Box 62"/>
            <p:cNvSpPr txBox="1">
              <a:spLocks noChangeAspect="1" noChangeArrowheads="1"/>
            </p:cNvSpPr>
            <p:nvPr/>
          </p:nvSpPr>
          <p:spPr bwMode="auto">
            <a:xfrm>
              <a:off x="5462973" y="3611562"/>
              <a:ext cx="2529219" cy="8309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dirty="0">
                  <a:latin typeface="Calibri" pitchFamily="34" charset="0"/>
                </a:rPr>
                <a:t>Descriptor table</a:t>
              </a:r>
            </a:p>
            <a:p>
              <a:pPr algn="l">
                <a:lnSpc>
                  <a:spcPct val="100000"/>
                </a:lnSpc>
              </a:pPr>
              <a:r>
                <a:rPr lang="en-US" i="1" dirty="0">
                  <a:solidFill>
                    <a:srgbClr val="C00000"/>
                  </a:solidFill>
                  <a:latin typeface="Calibri" pitchFamily="34" charset="0"/>
                </a:rPr>
                <a:t>after</a:t>
              </a:r>
              <a:r>
                <a:rPr lang="en-US" dirty="0">
                  <a:latin typeface="Calibri" pitchFamily="34" charset="0"/>
                </a:rPr>
                <a:t> </a:t>
              </a:r>
              <a:r>
                <a:rPr lang="en-US" dirty="0">
                  <a:latin typeface="Courier New" pitchFamily="49" charset="0"/>
                </a:rPr>
                <a:t>dup2(4,1)</a:t>
              </a:r>
            </a:p>
          </p:txBody>
        </p:sp>
        <p:sp>
          <p:nvSpPr>
            <p:cNvPr id="27" name="Right Arrow 26"/>
            <p:cNvSpPr/>
            <p:nvPr/>
          </p:nvSpPr>
          <p:spPr bwMode="auto">
            <a:xfrm>
              <a:off x="3624648" y="5059362"/>
              <a:ext cx="1295400" cy="592138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  <a:round/>
              <a:headEnd/>
              <a:tailEnd type="triangle" w="med" len="med"/>
            </a:ln>
            <a:effectLst/>
          </p:spPr>
          <p:txBody>
            <a:bodyPr wrap="none" rtlCol="0" anchor="ctr"/>
            <a:lstStyle/>
            <a:p>
              <a:pPr algn="ctr"/>
              <a:endParaRPr lang="en-US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62682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Redirection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66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237" y="1296988"/>
            <a:ext cx="8548687" cy="989012"/>
          </a:xfrm>
        </p:spPr>
        <p:txBody>
          <a:bodyPr/>
          <a:lstStyle/>
          <a:p>
            <a:r>
              <a:rPr lang="en-US" dirty="0"/>
              <a:t> Step #1: open file to which </a:t>
            </a:r>
            <a:r>
              <a:rPr lang="en-US" dirty="0" err="1"/>
              <a:t>stdout</a:t>
            </a:r>
            <a:r>
              <a:rPr lang="en-US" dirty="0"/>
              <a:t> should be redirected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Happens in child executing shell code, before </a:t>
            </a:r>
            <a:r>
              <a:rPr lang="en-US" b="1" dirty="0" smtClean="0">
                <a:latin typeface="Courier New"/>
                <a:cs typeface="Courier New"/>
              </a:rPr>
              <a:t>exec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1506538" y="36703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1506538" y="38989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1506538" y="41275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1506538" y="43561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1506538" y="45847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896938" y="36703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0</a:t>
            </a:r>
          </a:p>
        </p:txBody>
      </p:sp>
      <p:sp>
        <p:nvSpPr>
          <p:cNvPr id="49" name="Rectangle 10"/>
          <p:cNvSpPr>
            <a:spLocks noChangeArrowheads="1"/>
          </p:cNvSpPr>
          <p:nvPr/>
        </p:nvSpPr>
        <p:spPr bwMode="auto">
          <a:xfrm>
            <a:off x="896938" y="38989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1</a:t>
            </a:r>
          </a:p>
        </p:txBody>
      </p:sp>
      <p:sp>
        <p:nvSpPr>
          <p:cNvPr id="50" name="Rectangle 11"/>
          <p:cNvSpPr>
            <a:spLocks noChangeArrowheads="1"/>
          </p:cNvSpPr>
          <p:nvPr/>
        </p:nvSpPr>
        <p:spPr bwMode="auto">
          <a:xfrm>
            <a:off x="896938" y="41275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2</a:t>
            </a:r>
          </a:p>
        </p:txBody>
      </p:sp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896938" y="43561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3</a:t>
            </a:r>
          </a:p>
        </p:txBody>
      </p:sp>
      <p:sp>
        <p:nvSpPr>
          <p:cNvPr id="52" name="Rectangle 13"/>
          <p:cNvSpPr>
            <a:spLocks noChangeArrowheads="1"/>
          </p:cNvSpPr>
          <p:nvPr/>
        </p:nvSpPr>
        <p:spPr bwMode="auto">
          <a:xfrm>
            <a:off x="896938" y="45847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4</a:t>
            </a:r>
          </a:p>
        </p:txBody>
      </p:sp>
      <p:sp>
        <p:nvSpPr>
          <p:cNvPr id="53" name="Text Box 14"/>
          <p:cNvSpPr txBox="1">
            <a:spLocks noChangeArrowheads="1"/>
          </p:cNvSpPr>
          <p:nvPr/>
        </p:nvSpPr>
        <p:spPr bwMode="auto">
          <a:xfrm>
            <a:off x="610550" y="2636222"/>
            <a:ext cx="23900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Descriptor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[one table per process]</a:t>
            </a:r>
          </a:p>
        </p:txBody>
      </p:sp>
      <p:sp>
        <p:nvSpPr>
          <p:cNvPr id="54" name="Text Box 15"/>
          <p:cNvSpPr txBox="1">
            <a:spLocks noChangeArrowheads="1"/>
          </p:cNvSpPr>
          <p:nvPr/>
        </p:nvSpPr>
        <p:spPr bwMode="auto">
          <a:xfrm>
            <a:off x="31594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Open file table 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55" name="Text Box 16"/>
          <p:cNvSpPr txBox="1">
            <a:spLocks noChangeArrowheads="1"/>
          </p:cNvSpPr>
          <p:nvPr/>
        </p:nvSpPr>
        <p:spPr bwMode="auto">
          <a:xfrm>
            <a:off x="57502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v-node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56" name="Rectangle 17"/>
          <p:cNvSpPr>
            <a:spLocks noChangeArrowheads="1"/>
          </p:cNvSpPr>
          <p:nvPr/>
        </p:nvSpPr>
        <p:spPr bwMode="auto">
          <a:xfrm>
            <a:off x="3868738" y="3962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57" name="Rectangle 18"/>
          <p:cNvSpPr>
            <a:spLocks noChangeArrowheads="1"/>
          </p:cNvSpPr>
          <p:nvPr/>
        </p:nvSpPr>
        <p:spPr bwMode="auto">
          <a:xfrm>
            <a:off x="3868738" y="42672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refcnt=1</a:t>
            </a:r>
          </a:p>
        </p:txBody>
      </p:sp>
      <p:sp>
        <p:nvSpPr>
          <p:cNvPr id="58" name="Rectangle 19"/>
          <p:cNvSpPr>
            <a:spLocks noChangeArrowheads="1"/>
          </p:cNvSpPr>
          <p:nvPr/>
        </p:nvSpPr>
        <p:spPr bwMode="auto">
          <a:xfrm>
            <a:off x="3868738" y="4572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59" name="Line 20"/>
          <p:cNvSpPr>
            <a:spLocks noChangeShapeType="1"/>
          </p:cNvSpPr>
          <p:nvPr/>
        </p:nvSpPr>
        <p:spPr bwMode="auto">
          <a:xfrm flipV="1">
            <a:off x="1828800" y="3657599"/>
            <a:ext cx="2039938" cy="352425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0" name="Rectangle 22"/>
          <p:cNvSpPr>
            <a:spLocks noChangeArrowheads="1"/>
          </p:cNvSpPr>
          <p:nvPr/>
        </p:nvSpPr>
        <p:spPr bwMode="auto">
          <a:xfrm>
            <a:off x="3868738" y="3657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6" name="Text Box 28"/>
          <p:cNvSpPr txBox="1">
            <a:spLocks noChangeArrowheads="1"/>
          </p:cNvSpPr>
          <p:nvPr/>
        </p:nvSpPr>
        <p:spPr bwMode="auto">
          <a:xfrm>
            <a:off x="228600" y="40862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stderr</a:t>
            </a:r>
          </a:p>
        </p:txBody>
      </p:sp>
      <p:sp>
        <p:nvSpPr>
          <p:cNvPr id="67" name="Text Box 29"/>
          <p:cNvSpPr txBox="1">
            <a:spLocks noChangeArrowheads="1"/>
          </p:cNvSpPr>
          <p:nvPr/>
        </p:nvSpPr>
        <p:spPr bwMode="auto">
          <a:xfrm>
            <a:off x="228600" y="38576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stdout</a:t>
            </a:r>
          </a:p>
        </p:txBody>
      </p:sp>
      <p:sp>
        <p:nvSpPr>
          <p:cNvPr id="68" name="Text Box 30"/>
          <p:cNvSpPr txBox="1">
            <a:spLocks noChangeArrowheads="1"/>
          </p:cNvSpPr>
          <p:nvPr/>
        </p:nvSpPr>
        <p:spPr bwMode="auto">
          <a:xfrm>
            <a:off x="334963" y="3629025"/>
            <a:ext cx="715962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stdin</a:t>
            </a:r>
          </a:p>
        </p:txBody>
      </p:sp>
      <p:sp>
        <p:nvSpPr>
          <p:cNvPr id="69" name="Line 31"/>
          <p:cNvSpPr>
            <a:spLocks noChangeShapeType="1"/>
          </p:cNvSpPr>
          <p:nvPr/>
        </p:nvSpPr>
        <p:spPr bwMode="auto">
          <a:xfrm flipV="1">
            <a:off x="4786313" y="3641725"/>
            <a:ext cx="1690687" cy="153988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" name="Rectangle 32"/>
          <p:cNvSpPr>
            <a:spLocks noChangeArrowheads="1"/>
          </p:cNvSpPr>
          <p:nvPr/>
        </p:nvSpPr>
        <p:spPr bwMode="auto">
          <a:xfrm>
            <a:off x="6477000" y="3629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71" name="Rectangle 33"/>
          <p:cNvSpPr>
            <a:spLocks noChangeArrowheads="1"/>
          </p:cNvSpPr>
          <p:nvPr/>
        </p:nvSpPr>
        <p:spPr bwMode="auto">
          <a:xfrm>
            <a:off x="6477000" y="45434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72" name="Rectangle 34"/>
          <p:cNvSpPr>
            <a:spLocks noChangeArrowheads="1"/>
          </p:cNvSpPr>
          <p:nvPr/>
        </p:nvSpPr>
        <p:spPr bwMode="auto">
          <a:xfrm>
            <a:off x="6477000" y="3933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73" name="Rectangle 35"/>
          <p:cNvSpPr>
            <a:spLocks noChangeArrowheads="1"/>
          </p:cNvSpPr>
          <p:nvPr/>
        </p:nvSpPr>
        <p:spPr bwMode="auto">
          <a:xfrm>
            <a:off x="6477000" y="4238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78" name="Text Box 40"/>
          <p:cNvSpPr txBox="1">
            <a:spLocks noChangeArrowheads="1"/>
          </p:cNvSpPr>
          <p:nvPr/>
        </p:nvSpPr>
        <p:spPr bwMode="auto">
          <a:xfrm>
            <a:off x="3758514" y="3352800"/>
            <a:ext cx="65274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</a:t>
            </a:r>
            <a:r>
              <a:rPr lang="en-US" sz="1600" dirty="0" smtClean="0">
                <a:latin typeface="Calibri" pitchFamily="34" charset="0"/>
              </a:rPr>
              <a:t>A</a:t>
            </a:r>
            <a:endParaRPr lang="en-US" sz="1600" dirty="0">
              <a:latin typeface="Calibri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828800" y="4683125"/>
            <a:ext cx="5715000" cy="1870075"/>
            <a:chOff x="1828800" y="4683125"/>
            <a:chExt cx="5715000" cy="1870075"/>
          </a:xfrm>
        </p:grpSpPr>
        <p:sp>
          <p:nvSpPr>
            <p:cNvPr id="61" name="Rectangle 23"/>
            <p:cNvSpPr>
              <a:spLocks noChangeArrowheads="1"/>
            </p:cNvSpPr>
            <p:nvPr/>
          </p:nvSpPr>
          <p:spPr bwMode="auto">
            <a:xfrm>
              <a:off x="3868738" y="5638800"/>
              <a:ext cx="1066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alibri" pitchFamily="34" charset="0"/>
                </a:rPr>
                <a:t>File pos</a:t>
              </a:r>
            </a:p>
          </p:txBody>
        </p:sp>
        <p:sp>
          <p:nvSpPr>
            <p:cNvPr id="62" name="Rectangle 24"/>
            <p:cNvSpPr>
              <a:spLocks noChangeArrowheads="1"/>
            </p:cNvSpPr>
            <p:nvPr/>
          </p:nvSpPr>
          <p:spPr bwMode="auto">
            <a:xfrm>
              <a:off x="3868738" y="5943600"/>
              <a:ext cx="1066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400">
                  <a:latin typeface="Courier New" pitchFamily="49" charset="0"/>
                </a:rPr>
                <a:t>refcnt=1</a:t>
              </a:r>
            </a:p>
          </p:txBody>
        </p:sp>
        <p:sp>
          <p:nvSpPr>
            <p:cNvPr id="63" name="Rectangle 25"/>
            <p:cNvSpPr>
              <a:spLocks noChangeArrowheads="1"/>
            </p:cNvSpPr>
            <p:nvPr/>
          </p:nvSpPr>
          <p:spPr bwMode="auto">
            <a:xfrm>
              <a:off x="3868738" y="6248400"/>
              <a:ext cx="1066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alibri" pitchFamily="34" charset="0"/>
                </a:rPr>
                <a:t>...</a:t>
              </a:r>
            </a:p>
          </p:txBody>
        </p:sp>
        <p:sp>
          <p:nvSpPr>
            <p:cNvPr id="64" name="Rectangle 26"/>
            <p:cNvSpPr>
              <a:spLocks noChangeArrowheads="1"/>
            </p:cNvSpPr>
            <p:nvPr/>
          </p:nvSpPr>
          <p:spPr bwMode="auto">
            <a:xfrm>
              <a:off x="3868738" y="5334000"/>
              <a:ext cx="1066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600" dirty="0">
                <a:latin typeface="Calibri" pitchFamily="34" charset="0"/>
              </a:endParaRPr>
            </a:p>
          </p:txBody>
        </p:sp>
        <p:sp>
          <p:nvSpPr>
            <p:cNvPr id="65" name="Line 27"/>
            <p:cNvSpPr>
              <a:spLocks noChangeShapeType="1"/>
            </p:cNvSpPr>
            <p:nvPr/>
          </p:nvSpPr>
          <p:spPr bwMode="auto">
            <a:xfrm>
              <a:off x="1828800" y="4683125"/>
              <a:ext cx="2057400" cy="698500"/>
            </a:xfrm>
            <a:prstGeom prst="line">
              <a:avLst/>
            </a:prstGeom>
            <a:noFill/>
            <a:ln w="25400">
              <a:solidFill>
                <a:schemeClr val="bg2">
                  <a:lumMod val="75000"/>
                </a:schemeClr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4" name="Rectangle 36"/>
            <p:cNvSpPr>
              <a:spLocks noChangeArrowheads="1"/>
            </p:cNvSpPr>
            <p:nvPr/>
          </p:nvSpPr>
          <p:spPr bwMode="auto">
            <a:xfrm>
              <a:off x="6477000" y="5229225"/>
              <a:ext cx="1066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alibri" pitchFamily="34" charset="0"/>
                </a:rPr>
                <a:t>File access</a:t>
              </a:r>
            </a:p>
          </p:txBody>
        </p:sp>
        <p:sp>
          <p:nvSpPr>
            <p:cNvPr id="75" name="Rectangle 37"/>
            <p:cNvSpPr>
              <a:spLocks noChangeArrowheads="1"/>
            </p:cNvSpPr>
            <p:nvPr/>
          </p:nvSpPr>
          <p:spPr bwMode="auto">
            <a:xfrm>
              <a:off x="6477000" y="6143625"/>
              <a:ext cx="1066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alibri" pitchFamily="34" charset="0"/>
                </a:rPr>
                <a:t>...</a:t>
              </a:r>
            </a:p>
          </p:txBody>
        </p:sp>
        <p:sp>
          <p:nvSpPr>
            <p:cNvPr id="76" name="Rectangle 38"/>
            <p:cNvSpPr>
              <a:spLocks noChangeArrowheads="1"/>
            </p:cNvSpPr>
            <p:nvPr/>
          </p:nvSpPr>
          <p:spPr bwMode="auto">
            <a:xfrm>
              <a:off x="6477000" y="5534025"/>
              <a:ext cx="1066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alibri" pitchFamily="34" charset="0"/>
                </a:rPr>
                <a:t>File size</a:t>
              </a:r>
            </a:p>
          </p:txBody>
        </p:sp>
        <p:sp>
          <p:nvSpPr>
            <p:cNvPr id="77" name="Rectangle 39"/>
            <p:cNvSpPr>
              <a:spLocks noChangeArrowheads="1"/>
            </p:cNvSpPr>
            <p:nvPr/>
          </p:nvSpPr>
          <p:spPr bwMode="auto">
            <a:xfrm>
              <a:off x="6477000" y="5838825"/>
              <a:ext cx="1066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alibri" pitchFamily="34" charset="0"/>
                </a:rPr>
                <a:t>File type</a:t>
              </a:r>
            </a:p>
          </p:txBody>
        </p:sp>
        <p:sp>
          <p:nvSpPr>
            <p:cNvPr id="79" name="Text Box 41"/>
            <p:cNvSpPr txBox="1">
              <a:spLocks noChangeArrowheads="1"/>
            </p:cNvSpPr>
            <p:nvPr/>
          </p:nvSpPr>
          <p:spPr bwMode="auto">
            <a:xfrm>
              <a:off x="3766752" y="5029200"/>
              <a:ext cx="643125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alibri" pitchFamily="34" charset="0"/>
                </a:rPr>
                <a:t>File </a:t>
              </a:r>
              <a:r>
                <a:rPr lang="en-US" sz="1600" dirty="0" smtClean="0">
                  <a:latin typeface="Calibri" pitchFamily="34" charset="0"/>
                </a:rPr>
                <a:t>B</a:t>
              </a:r>
              <a:endParaRPr lang="en-US" sz="1600" dirty="0">
                <a:latin typeface="Calibri" pitchFamily="34" charset="0"/>
              </a:endParaRPr>
            </a:p>
          </p:txBody>
        </p:sp>
        <p:sp>
          <p:nvSpPr>
            <p:cNvPr id="80" name="Line 21"/>
            <p:cNvSpPr>
              <a:spLocks noChangeShapeType="1"/>
            </p:cNvSpPr>
            <p:nvPr/>
          </p:nvSpPr>
          <p:spPr bwMode="auto">
            <a:xfrm flipV="1">
              <a:off x="4706938" y="5229224"/>
              <a:ext cx="1770062" cy="257175"/>
            </a:xfrm>
            <a:prstGeom prst="line">
              <a:avLst/>
            </a:prstGeom>
            <a:noFill/>
            <a:ln w="25400">
              <a:solidFill>
                <a:schemeClr val="bg2">
                  <a:lumMod val="75000"/>
                </a:schemeClr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88713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57200"/>
            <a:ext cx="7592093" cy="762000"/>
          </a:xfrm>
        </p:spPr>
        <p:txBody>
          <a:bodyPr/>
          <a:lstStyle/>
          <a:p>
            <a:r>
              <a:rPr lang="en-US" dirty="0"/>
              <a:t>I/O Redirection Example (</a:t>
            </a:r>
            <a:r>
              <a:rPr lang="en-US" dirty="0" smtClean="0"/>
              <a:t>cont.)</a:t>
            </a:r>
            <a:endParaRPr lang="en-US" dirty="0"/>
          </a:p>
        </p:txBody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713" y="1296988"/>
            <a:ext cx="8624887" cy="989012"/>
          </a:xfrm>
        </p:spPr>
        <p:txBody>
          <a:bodyPr/>
          <a:lstStyle/>
          <a:p>
            <a:r>
              <a:rPr lang="en-US" dirty="0"/>
              <a:t>Step #2: call </a:t>
            </a:r>
            <a:r>
              <a:rPr lang="en-US" dirty="0">
                <a:latin typeface="Courier New" pitchFamily="49" charset="0"/>
              </a:rPr>
              <a:t>dup2(4,1)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cause </a:t>
            </a:r>
            <a:r>
              <a:rPr lang="en-US" dirty="0" err="1"/>
              <a:t>fd</a:t>
            </a:r>
            <a:r>
              <a:rPr lang="en-US" dirty="0"/>
              <a:t>=1 (</a:t>
            </a:r>
            <a:r>
              <a:rPr lang="en-US" dirty="0" err="1"/>
              <a:t>stdout</a:t>
            </a:r>
            <a:r>
              <a:rPr lang="en-US" dirty="0"/>
              <a:t>) to refer to disk file pointed at by </a:t>
            </a:r>
            <a:r>
              <a:rPr lang="en-US" dirty="0" err="1"/>
              <a:t>fd</a:t>
            </a:r>
            <a:r>
              <a:rPr lang="en-US" dirty="0"/>
              <a:t>=4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506538" y="36703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1506538" y="38989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1" name="Rectangle 6"/>
          <p:cNvSpPr>
            <a:spLocks noChangeArrowheads="1"/>
          </p:cNvSpPr>
          <p:nvPr/>
        </p:nvSpPr>
        <p:spPr bwMode="auto">
          <a:xfrm>
            <a:off x="1506538" y="41275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2" name="Rectangle 7"/>
          <p:cNvSpPr>
            <a:spLocks noChangeArrowheads="1"/>
          </p:cNvSpPr>
          <p:nvPr/>
        </p:nvSpPr>
        <p:spPr bwMode="auto">
          <a:xfrm>
            <a:off x="1506538" y="43561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3" name="Rectangle 8"/>
          <p:cNvSpPr>
            <a:spLocks noChangeArrowheads="1"/>
          </p:cNvSpPr>
          <p:nvPr/>
        </p:nvSpPr>
        <p:spPr bwMode="auto">
          <a:xfrm>
            <a:off x="1506538" y="4584700"/>
            <a:ext cx="609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4" name="Rectangle 9"/>
          <p:cNvSpPr>
            <a:spLocks noChangeArrowheads="1"/>
          </p:cNvSpPr>
          <p:nvPr/>
        </p:nvSpPr>
        <p:spPr bwMode="auto">
          <a:xfrm>
            <a:off x="896938" y="36703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0</a:t>
            </a:r>
          </a:p>
        </p:txBody>
      </p:sp>
      <p:sp>
        <p:nvSpPr>
          <p:cNvPr id="45" name="Rectangle 10"/>
          <p:cNvSpPr>
            <a:spLocks noChangeArrowheads="1"/>
          </p:cNvSpPr>
          <p:nvPr/>
        </p:nvSpPr>
        <p:spPr bwMode="auto">
          <a:xfrm>
            <a:off x="896938" y="38989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1</a:t>
            </a:r>
          </a:p>
        </p:txBody>
      </p:sp>
      <p:sp>
        <p:nvSpPr>
          <p:cNvPr id="46" name="Rectangle 11"/>
          <p:cNvSpPr>
            <a:spLocks noChangeArrowheads="1"/>
          </p:cNvSpPr>
          <p:nvPr/>
        </p:nvSpPr>
        <p:spPr bwMode="auto">
          <a:xfrm>
            <a:off x="896938" y="41275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2</a:t>
            </a:r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896938" y="43561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3</a:t>
            </a:r>
          </a:p>
        </p:txBody>
      </p:sp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896938" y="4584700"/>
            <a:ext cx="6096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400" dirty="0" err="1">
                <a:latin typeface="Calibri" pitchFamily="34" charset="0"/>
              </a:rPr>
              <a:t>fd</a:t>
            </a:r>
            <a:r>
              <a:rPr lang="en-US" sz="1400" dirty="0">
                <a:latin typeface="Calibri" pitchFamily="34" charset="0"/>
              </a:rPr>
              <a:t> 4</a:t>
            </a:r>
          </a:p>
        </p:txBody>
      </p:sp>
      <p:sp>
        <p:nvSpPr>
          <p:cNvPr id="49" name="Text Box 14"/>
          <p:cNvSpPr txBox="1">
            <a:spLocks noChangeArrowheads="1"/>
          </p:cNvSpPr>
          <p:nvPr/>
        </p:nvSpPr>
        <p:spPr bwMode="auto">
          <a:xfrm>
            <a:off x="610550" y="2636222"/>
            <a:ext cx="23900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Descriptor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[one table per process]</a:t>
            </a:r>
          </a:p>
        </p:txBody>
      </p:sp>
      <p:sp>
        <p:nvSpPr>
          <p:cNvPr id="50" name="Text Box 15"/>
          <p:cNvSpPr txBox="1">
            <a:spLocks noChangeArrowheads="1"/>
          </p:cNvSpPr>
          <p:nvPr/>
        </p:nvSpPr>
        <p:spPr bwMode="auto">
          <a:xfrm>
            <a:off x="31594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Open file table 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51" name="Text Box 16"/>
          <p:cNvSpPr txBox="1">
            <a:spLocks noChangeArrowheads="1"/>
          </p:cNvSpPr>
          <p:nvPr/>
        </p:nvSpPr>
        <p:spPr bwMode="auto">
          <a:xfrm>
            <a:off x="5750291" y="2636222"/>
            <a:ext cx="2532326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v-node table</a:t>
            </a:r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[shared by all processes]</a:t>
            </a:r>
          </a:p>
        </p:txBody>
      </p:sp>
      <p:sp>
        <p:nvSpPr>
          <p:cNvPr id="52" name="Rectangle 17"/>
          <p:cNvSpPr>
            <a:spLocks noChangeArrowheads="1"/>
          </p:cNvSpPr>
          <p:nvPr/>
        </p:nvSpPr>
        <p:spPr bwMode="auto">
          <a:xfrm>
            <a:off x="3868738" y="3962400"/>
            <a:ext cx="1066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53" name="Rectangle 18"/>
          <p:cNvSpPr>
            <a:spLocks noChangeArrowheads="1"/>
          </p:cNvSpPr>
          <p:nvPr/>
        </p:nvSpPr>
        <p:spPr bwMode="auto">
          <a:xfrm>
            <a:off x="3868738" y="4267200"/>
            <a:ext cx="1066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 dirty="0" err="1" smtClean="0">
                <a:solidFill>
                  <a:srgbClr val="0070C0"/>
                </a:solidFill>
                <a:latin typeface="Courier New" pitchFamily="49" charset="0"/>
              </a:rPr>
              <a:t>refcnt</a:t>
            </a:r>
            <a:r>
              <a:rPr lang="en-US" sz="1400" dirty="0" smtClean="0">
                <a:solidFill>
                  <a:srgbClr val="0070C0"/>
                </a:solidFill>
                <a:latin typeface="Courier New" pitchFamily="49" charset="0"/>
              </a:rPr>
              <a:t>=0</a:t>
            </a:r>
            <a:endParaRPr lang="en-US" sz="1400" dirty="0">
              <a:solidFill>
                <a:srgbClr val="0070C0"/>
              </a:solidFill>
              <a:latin typeface="Courier New" pitchFamily="49" charset="0"/>
            </a:endParaRPr>
          </a:p>
        </p:txBody>
      </p:sp>
      <p:sp>
        <p:nvSpPr>
          <p:cNvPr id="54" name="Rectangle 19"/>
          <p:cNvSpPr>
            <a:spLocks noChangeArrowheads="1"/>
          </p:cNvSpPr>
          <p:nvPr/>
        </p:nvSpPr>
        <p:spPr bwMode="auto">
          <a:xfrm>
            <a:off x="3868738" y="4572000"/>
            <a:ext cx="1066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55" name="Line 20"/>
          <p:cNvSpPr>
            <a:spLocks noChangeShapeType="1"/>
          </p:cNvSpPr>
          <p:nvPr/>
        </p:nvSpPr>
        <p:spPr bwMode="auto">
          <a:xfrm>
            <a:off x="1828800" y="4010023"/>
            <a:ext cx="2057400" cy="135773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6" name="Rectangle 22"/>
          <p:cNvSpPr>
            <a:spLocks noChangeArrowheads="1"/>
          </p:cNvSpPr>
          <p:nvPr/>
        </p:nvSpPr>
        <p:spPr bwMode="auto">
          <a:xfrm>
            <a:off x="3868738" y="3657600"/>
            <a:ext cx="1066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57" name="Rectangle 23"/>
          <p:cNvSpPr>
            <a:spLocks noChangeArrowheads="1"/>
          </p:cNvSpPr>
          <p:nvPr/>
        </p:nvSpPr>
        <p:spPr bwMode="auto">
          <a:xfrm>
            <a:off x="3868738" y="56388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pos</a:t>
            </a:r>
          </a:p>
        </p:txBody>
      </p:sp>
      <p:sp>
        <p:nvSpPr>
          <p:cNvPr id="58" name="Rectangle 24"/>
          <p:cNvSpPr>
            <a:spLocks noChangeArrowheads="1"/>
          </p:cNvSpPr>
          <p:nvPr/>
        </p:nvSpPr>
        <p:spPr bwMode="auto">
          <a:xfrm>
            <a:off x="3868738" y="59436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400" dirty="0" err="1" smtClean="0">
                <a:solidFill>
                  <a:srgbClr val="0070C0"/>
                </a:solidFill>
                <a:latin typeface="Courier New" pitchFamily="49" charset="0"/>
              </a:rPr>
              <a:t>refcnt</a:t>
            </a:r>
            <a:r>
              <a:rPr lang="en-US" sz="1400" dirty="0" smtClean="0">
                <a:solidFill>
                  <a:srgbClr val="0070C0"/>
                </a:solidFill>
                <a:latin typeface="Courier New" pitchFamily="49" charset="0"/>
              </a:rPr>
              <a:t>=2</a:t>
            </a:r>
            <a:endParaRPr lang="en-US" sz="1400" dirty="0">
              <a:solidFill>
                <a:srgbClr val="0070C0"/>
              </a:solidFill>
              <a:latin typeface="Courier New" pitchFamily="49" charset="0"/>
            </a:endParaRPr>
          </a:p>
        </p:txBody>
      </p:sp>
      <p:sp>
        <p:nvSpPr>
          <p:cNvPr id="59" name="Rectangle 25"/>
          <p:cNvSpPr>
            <a:spLocks noChangeArrowheads="1"/>
          </p:cNvSpPr>
          <p:nvPr/>
        </p:nvSpPr>
        <p:spPr bwMode="auto">
          <a:xfrm>
            <a:off x="3868738" y="62484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0" name="Rectangle 26"/>
          <p:cNvSpPr>
            <a:spLocks noChangeArrowheads="1"/>
          </p:cNvSpPr>
          <p:nvPr/>
        </p:nvSpPr>
        <p:spPr bwMode="auto">
          <a:xfrm>
            <a:off x="3868738" y="5334000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1" name="Line 27"/>
          <p:cNvSpPr>
            <a:spLocks noChangeShapeType="1"/>
          </p:cNvSpPr>
          <p:nvPr/>
        </p:nvSpPr>
        <p:spPr bwMode="auto">
          <a:xfrm>
            <a:off x="1828800" y="4683125"/>
            <a:ext cx="2057400" cy="698500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Text Box 28"/>
          <p:cNvSpPr txBox="1">
            <a:spLocks noChangeArrowheads="1"/>
          </p:cNvSpPr>
          <p:nvPr/>
        </p:nvSpPr>
        <p:spPr bwMode="auto">
          <a:xfrm>
            <a:off x="228600" y="40862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stderr</a:t>
            </a:r>
          </a:p>
        </p:txBody>
      </p:sp>
      <p:sp>
        <p:nvSpPr>
          <p:cNvPr id="63" name="Text Box 29"/>
          <p:cNvSpPr txBox="1">
            <a:spLocks noChangeArrowheads="1"/>
          </p:cNvSpPr>
          <p:nvPr/>
        </p:nvSpPr>
        <p:spPr bwMode="auto">
          <a:xfrm>
            <a:off x="228600" y="3857625"/>
            <a:ext cx="82232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stdout</a:t>
            </a:r>
          </a:p>
        </p:txBody>
      </p:sp>
      <p:sp>
        <p:nvSpPr>
          <p:cNvPr id="64" name="Text Box 30"/>
          <p:cNvSpPr txBox="1">
            <a:spLocks noChangeArrowheads="1"/>
          </p:cNvSpPr>
          <p:nvPr/>
        </p:nvSpPr>
        <p:spPr bwMode="auto">
          <a:xfrm>
            <a:off x="334963" y="3629025"/>
            <a:ext cx="715962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stdin</a:t>
            </a:r>
          </a:p>
        </p:txBody>
      </p:sp>
      <p:sp>
        <p:nvSpPr>
          <p:cNvPr id="65" name="Line 31"/>
          <p:cNvSpPr>
            <a:spLocks noChangeShapeType="1"/>
          </p:cNvSpPr>
          <p:nvPr/>
        </p:nvSpPr>
        <p:spPr bwMode="auto">
          <a:xfrm flipV="1">
            <a:off x="4786313" y="3641725"/>
            <a:ext cx="1690687" cy="153988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" name="Rectangle 32"/>
          <p:cNvSpPr>
            <a:spLocks noChangeArrowheads="1"/>
          </p:cNvSpPr>
          <p:nvPr/>
        </p:nvSpPr>
        <p:spPr bwMode="auto">
          <a:xfrm>
            <a:off x="6477000" y="3629025"/>
            <a:ext cx="1066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67" name="Rectangle 33"/>
          <p:cNvSpPr>
            <a:spLocks noChangeArrowheads="1"/>
          </p:cNvSpPr>
          <p:nvPr/>
        </p:nvSpPr>
        <p:spPr bwMode="auto">
          <a:xfrm>
            <a:off x="6477000" y="4543425"/>
            <a:ext cx="1066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68" name="Rectangle 34"/>
          <p:cNvSpPr>
            <a:spLocks noChangeArrowheads="1"/>
          </p:cNvSpPr>
          <p:nvPr/>
        </p:nvSpPr>
        <p:spPr bwMode="auto">
          <a:xfrm>
            <a:off x="6477000" y="3933825"/>
            <a:ext cx="1066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69" name="Rectangle 35"/>
          <p:cNvSpPr>
            <a:spLocks noChangeArrowheads="1"/>
          </p:cNvSpPr>
          <p:nvPr/>
        </p:nvSpPr>
        <p:spPr bwMode="auto">
          <a:xfrm>
            <a:off x="6477000" y="4238625"/>
            <a:ext cx="1066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70" name="Rectangle 36"/>
          <p:cNvSpPr>
            <a:spLocks noChangeArrowheads="1"/>
          </p:cNvSpPr>
          <p:nvPr/>
        </p:nvSpPr>
        <p:spPr bwMode="auto">
          <a:xfrm>
            <a:off x="6477000" y="52292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access</a:t>
            </a:r>
          </a:p>
        </p:txBody>
      </p:sp>
      <p:sp>
        <p:nvSpPr>
          <p:cNvPr id="71" name="Rectangle 37"/>
          <p:cNvSpPr>
            <a:spLocks noChangeArrowheads="1"/>
          </p:cNvSpPr>
          <p:nvPr/>
        </p:nvSpPr>
        <p:spPr bwMode="auto">
          <a:xfrm>
            <a:off x="6477000" y="61436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...</a:t>
            </a:r>
          </a:p>
        </p:txBody>
      </p:sp>
      <p:sp>
        <p:nvSpPr>
          <p:cNvPr id="72" name="Rectangle 38"/>
          <p:cNvSpPr>
            <a:spLocks noChangeArrowheads="1"/>
          </p:cNvSpPr>
          <p:nvPr/>
        </p:nvSpPr>
        <p:spPr bwMode="auto">
          <a:xfrm>
            <a:off x="6477000" y="55340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size</a:t>
            </a:r>
          </a:p>
        </p:txBody>
      </p:sp>
      <p:sp>
        <p:nvSpPr>
          <p:cNvPr id="73" name="Rectangle 39"/>
          <p:cNvSpPr>
            <a:spLocks noChangeArrowheads="1"/>
          </p:cNvSpPr>
          <p:nvPr/>
        </p:nvSpPr>
        <p:spPr bwMode="auto">
          <a:xfrm>
            <a:off x="6477000" y="5838825"/>
            <a:ext cx="10668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type</a:t>
            </a:r>
          </a:p>
        </p:txBody>
      </p:sp>
      <p:sp>
        <p:nvSpPr>
          <p:cNvPr id="74" name="Text Box 40"/>
          <p:cNvSpPr txBox="1">
            <a:spLocks noChangeArrowheads="1"/>
          </p:cNvSpPr>
          <p:nvPr/>
        </p:nvSpPr>
        <p:spPr bwMode="auto">
          <a:xfrm>
            <a:off x="3758514" y="3352800"/>
            <a:ext cx="65274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</a:t>
            </a:r>
            <a:r>
              <a:rPr lang="en-US" sz="1600" dirty="0" smtClean="0">
                <a:latin typeface="Calibri" pitchFamily="34" charset="0"/>
              </a:rPr>
              <a:t>A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3766752" y="5029200"/>
            <a:ext cx="6431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File </a:t>
            </a:r>
            <a:r>
              <a:rPr lang="en-US" sz="1600" dirty="0" smtClean="0">
                <a:latin typeface="Calibri" pitchFamily="34" charset="0"/>
              </a:rPr>
              <a:t>B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76" name="Line 21"/>
          <p:cNvSpPr>
            <a:spLocks noChangeShapeType="1"/>
          </p:cNvSpPr>
          <p:nvPr/>
        </p:nvSpPr>
        <p:spPr bwMode="auto">
          <a:xfrm flipV="1">
            <a:off x="4706938" y="5229224"/>
            <a:ext cx="1770062" cy="257175"/>
          </a:xfrm>
          <a:prstGeom prst="line">
            <a:avLst/>
          </a:prstGeom>
          <a:noFill/>
          <a:ln w="25400">
            <a:solidFill>
              <a:schemeClr val="bg2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7" name="Text Box 14"/>
          <p:cNvSpPr txBox="1">
            <a:spLocks noChangeArrowheads="1"/>
          </p:cNvSpPr>
          <p:nvPr/>
        </p:nvSpPr>
        <p:spPr bwMode="auto">
          <a:xfrm>
            <a:off x="15715" y="6183868"/>
            <a:ext cx="378353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smtClean="0">
                <a:solidFill>
                  <a:srgbClr val="0070C0"/>
                </a:solidFill>
                <a:latin typeface="Calibri" pitchFamily="34" charset="0"/>
              </a:rPr>
              <a:t>Two descriptors point to the same file</a:t>
            </a:r>
            <a:endParaRPr lang="en-US" sz="1800" i="1" dirty="0">
              <a:solidFill>
                <a:srgbClr val="0070C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33367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08907" y="457200"/>
            <a:ext cx="8277893" cy="762000"/>
          </a:xfrm>
        </p:spPr>
        <p:txBody>
          <a:bodyPr/>
          <a:lstStyle/>
          <a:p>
            <a:r>
              <a:rPr lang="en-US" dirty="0" smtClean="0"/>
              <a:t>Warm-Up: I/O and Redirection Example </a:t>
            </a:r>
            <a:endParaRPr lang="en-US" dirty="0"/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2" y="5546124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en-US" dirty="0"/>
              <a:t>”?</a:t>
            </a:r>
          </a:p>
          <a:p>
            <a:endParaRPr lang="en-US" dirty="0"/>
          </a:p>
        </p:txBody>
      </p:sp>
      <p:sp>
        <p:nvSpPr>
          <p:cNvPr id="735236" name="Text Box 4"/>
          <p:cNvSpPr txBox="1">
            <a:spLocks noChangeArrowheads="1"/>
          </p:cNvSpPr>
          <p:nvPr/>
        </p:nvSpPr>
        <p:spPr bwMode="auto">
          <a:xfrm>
            <a:off x="533400" y="1295400"/>
            <a:ext cx="6849952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fd1, fd2, fd3;</a:t>
            </a:r>
          </a:p>
          <a:p>
            <a:r>
              <a:rPr lang="en-US" sz="1600" dirty="0">
                <a:latin typeface="Courier New" pitchFamily="49" charset="0"/>
              </a:rPr>
              <a:t>    char c1, c2, c3;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fd2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fd3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Dup2(fd2, fd3);</a:t>
            </a:r>
          </a:p>
          <a:p>
            <a:r>
              <a:rPr lang="en-US" sz="1600" dirty="0">
                <a:latin typeface="Courier New" pitchFamily="49" charset="0"/>
              </a:rPr>
              <a:t>    Read(fd1, &amp;c1, 1);</a:t>
            </a:r>
          </a:p>
          <a:p>
            <a:r>
              <a:rPr lang="en-US" sz="1600" dirty="0">
                <a:latin typeface="Courier New" pitchFamily="49" charset="0"/>
              </a:rPr>
              <a:t>    Read(fd2, &amp;c2, 1);</a:t>
            </a:r>
          </a:p>
          <a:p>
            <a:r>
              <a:rPr lang="en-US" sz="1600" dirty="0">
                <a:latin typeface="Courier New" pitchFamily="49" charset="0"/>
              </a:rPr>
              <a:t>    Read(fd3, &amp;c3, 1);</a:t>
            </a:r>
          </a:p>
          <a:p>
            <a:r>
              <a:rPr lang="en-US" sz="1600" dirty="0">
                <a:latin typeface="Courier New" pitchFamily="49" charset="0"/>
              </a:rPr>
              <a:t>    printf("c1 = %c, c2 = %c, c3 = %c\n", c1, c2, c3);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51988" y="4957941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ffiles1.c</a:t>
            </a:r>
          </a:p>
        </p:txBody>
      </p:sp>
    </p:spTree>
    <p:extLst>
      <p:ext uri="{BB962C8B-B14F-4D97-AF65-F5344CB8AC3E}">
        <p14:creationId xmlns:p14="http://schemas.microsoft.com/office/powerpoint/2010/main" val="64312666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08907" y="457200"/>
            <a:ext cx="8277893" cy="762000"/>
          </a:xfrm>
        </p:spPr>
        <p:txBody>
          <a:bodyPr/>
          <a:lstStyle/>
          <a:p>
            <a:r>
              <a:rPr lang="en-US" dirty="0" smtClean="0"/>
              <a:t>Warm-Up: I/O and Redirection Example </a:t>
            </a:r>
            <a:endParaRPr lang="en-US" dirty="0"/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2" y="5546124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en-US" dirty="0"/>
              <a:t>”?</a:t>
            </a:r>
          </a:p>
          <a:p>
            <a:endParaRPr lang="en-US" dirty="0"/>
          </a:p>
        </p:txBody>
      </p:sp>
      <p:sp>
        <p:nvSpPr>
          <p:cNvPr id="735236" name="Text Box 4"/>
          <p:cNvSpPr txBox="1">
            <a:spLocks noChangeArrowheads="1"/>
          </p:cNvSpPr>
          <p:nvPr/>
        </p:nvSpPr>
        <p:spPr bwMode="auto">
          <a:xfrm>
            <a:off x="533400" y="1295400"/>
            <a:ext cx="6849952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fd1, fd2, fd3;</a:t>
            </a:r>
          </a:p>
          <a:p>
            <a:r>
              <a:rPr lang="en-US" sz="1600" dirty="0">
                <a:latin typeface="Courier New" pitchFamily="49" charset="0"/>
              </a:rPr>
              <a:t>    char c1, c2, c3;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fd2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</a:rPr>
              <a:t>fd3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</a:rPr>
              <a:t>Dup2(fd2, fd3);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Read(fd1, &amp;c1, 1);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Read(fd2, &amp;c2, 1);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</a:rPr>
              <a:t>Read(fd3, &amp;c3, 1);</a:t>
            </a:r>
          </a:p>
          <a:p>
            <a:r>
              <a:rPr lang="en-US" sz="1600" dirty="0">
                <a:latin typeface="Courier New" pitchFamily="49" charset="0"/>
              </a:rPr>
              <a:t>    printf("c1 = %c, c2 = %c, c3 = %c\n", c1, c2, c3);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51988" y="4957941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ffiles1.c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9202" y="1578114"/>
            <a:ext cx="37338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c1 = </a:t>
            </a:r>
            <a:r>
              <a:rPr lang="pt-BR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c2 = </a:t>
            </a:r>
            <a:r>
              <a:rPr lang="pt-BR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c3 = </a:t>
            </a:r>
            <a:r>
              <a:rPr lang="pt-BR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2" name="Rectangle 1"/>
          <p:cNvSpPr/>
          <p:nvPr/>
        </p:nvSpPr>
        <p:spPr>
          <a:xfrm>
            <a:off x="5249202" y="3429000"/>
            <a:ext cx="3108543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dup2(</a:t>
            </a:r>
            <a:r>
              <a:rPr lang="en-US" sz="2000" dirty="0" err="1">
                <a:latin typeface="Courier New"/>
                <a:cs typeface="Courier New"/>
              </a:rPr>
              <a:t>oldfd</a:t>
            </a:r>
            <a:r>
              <a:rPr lang="en-US" sz="2000" dirty="0">
                <a:latin typeface="Courier New"/>
                <a:cs typeface="Courier New"/>
              </a:rPr>
              <a:t>, </a:t>
            </a:r>
            <a:r>
              <a:rPr lang="en-US" sz="2000" dirty="0" err="1">
                <a:latin typeface="Courier New"/>
                <a:cs typeface="Courier New"/>
              </a:rPr>
              <a:t>newfd</a:t>
            </a:r>
            <a:r>
              <a:rPr lang="en-US" sz="2000" dirty="0">
                <a:latin typeface="Courier New"/>
                <a:cs typeface="Courier New"/>
              </a:rPr>
              <a:t>) </a:t>
            </a:r>
            <a:endParaRPr lang="en-US" sz="2000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>
            <a:off x="2971800" y="3629055"/>
            <a:ext cx="2277402" cy="28545"/>
          </a:xfrm>
          <a:prstGeom prst="straightConnector1">
            <a:avLst/>
          </a:prstGeom>
          <a:noFill/>
          <a:ln w="38100">
            <a:solidFill>
              <a:schemeClr val="bg2"/>
            </a:solidFill>
            <a:miter lim="800000"/>
            <a:headEnd type="none" w="med" len="med"/>
            <a:tailEnd type="stealth"/>
          </a:ln>
          <a:effectLst/>
        </p:spPr>
      </p:cxnSp>
    </p:spTree>
    <p:extLst>
      <p:ext uri="{BB962C8B-B14F-4D97-AF65-F5344CB8AC3E}">
        <p14:creationId xmlns:p14="http://schemas.microsoft.com/office/powerpoint/2010/main" val="149873583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81000"/>
            <a:ext cx="7592093" cy="762000"/>
          </a:xfrm>
        </p:spPr>
        <p:txBody>
          <a:bodyPr/>
          <a:lstStyle/>
          <a:p>
            <a:r>
              <a:rPr lang="en-US" dirty="0" smtClean="0"/>
              <a:t>Master Class: Process Control and I/O</a:t>
            </a:r>
            <a:endParaRPr lang="en-US" dirty="0"/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174" y="6248400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en-US" dirty="0" smtClean="0"/>
              <a:t>”?</a:t>
            </a:r>
            <a:endParaRPr lang="en-US" dirty="0"/>
          </a:p>
        </p:txBody>
      </p:sp>
      <p:sp>
        <p:nvSpPr>
          <p:cNvPr id="739332" name="Text Box 4"/>
          <p:cNvSpPr txBox="1">
            <a:spLocks noChangeArrowheads="1"/>
          </p:cNvSpPr>
          <p:nvPr/>
        </p:nvSpPr>
        <p:spPr bwMode="auto">
          <a:xfrm>
            <a:off x="481914" y="1155442"/>
            <a:ext cx="6634188" cy="501675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fd1;</a:t>
            </a:r>
          </a:p>
          <a:p>
            <a:r>
              <a:rPr lang="en-US" sz="1600" dirty="0">
                <a:latin typeface="Courier New" pitchFamily="49" charset="0"/>
              </a:rPr>
              <a:t>    int s = getpid() &amp; 0x1;</a:t>
            </a:r>
          </a:p>
          <a:p>
            <a:r>
              <a:rPr lang="en-US" sz="1600" dirty="0">
                <a:latin typeface="Courier New" pitchFamily="49" charset="0"/>
              </a:rPr>
              <a:t>    char c1, c2;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Read(fd1, &amp;c1, 1);</a:t>
            </a:r>
          </a:p>
          <a:p>
            <a:r>
              <a:rPr lang="en-US" sz="1600" dirty="0">
                <a:latin typeface="Courier New" pitchFamily="49" charset="0"/>
              </a:rPr>
              <a:t>    if (fork()) </a:t>
            </a:r>
            <a:r>
              <a:rPr lang="en-US" sz="1600" dirty="0" smtClean="0">
                <a:latin typeface="Courier New" pitchFamily="49" charset="0"/>
              </a:rPr>
              <a:t>{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Parent */</a:t>
            </a:r>
          </a:p>
          <a:p>
            <a:r>
              <a:rPr lang="en-US" sz="1600" dirty="0">
                <a:latin typeface="Courier New" pitchFamily="49" charset="0"/>
              </a:rPr>
              <a:t>        sleep(s);</a:t>
            </a:r>
          </a:p>
          <a:p>
            <a:r>
              <a:rPr lang="en-US" sz="1600" dirty="0">
                <a:latin typeface="Courier New" pitchFamily="49" charset="0"/>
              </a:rPr>
              <a:t>        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printf("Parent: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 else </a:t>
            </a:r>
            <a:r>
              <a:rPr lang="en-US" sz="1600" dirty="0" smtClean="0">
                <a:latin typeface="Courier New" pitchFamily="49" charset="0"/>
              </a:rPr>
              <a:t>{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Child */</a:t>
            </a:r>
          </a:p>
          <a:p>
            <a:r>
              <a:rPr lang="en-US" sz="1600" dirty="0">
                <a:latin typeface="Courier New" pitchFamily="49" charset="0"/>
              </a:rPr>
              <a:t>        sleep(1-s);</a:t>
            </a:r>
          </a:p>
          <a:p>
            <a:r>
              <a:rPr lang="en-US" sz="1600" dirty="0">
                <a:latin typeface="Courier New" pitchFamily="49" charset="0"/>
              </a:rPr>
              <a:t>        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printf("Child: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84738" y="5802868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ffiles2.c</a:t>
            </a:r>
          </a:p>
        </p:txBody>
      </p:sp>
    </p:spTree>
    <p:extLst>
      <p:ext uri="{BB962C8B-B14F-4D97-AF65-F5344CB8AC3E}">
        <p14:creationId xmlns:p14="http://schemas.microsoft.com/office/powerpoint/2010/main" val="149794638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81000"/>
            <a:ext cx="7592093" cy="762000"/>
          </a:xfrm>
        </p:spPr>
        <p:txBody>
          <a:bodyPr/>
          <a:lstStyle/>
          <a:p>
            <a:r>
              <a:rPr lang="en-US" dirty="0" smtClean="0"/>
              <a:t>Master Class: Process Control and I/O</a:t>
            </a:r>
            <a:endParaRPr lang="en-US" dirty="0"/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174" y="6248400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en-US" dirty="0" smtClean="0"/>
              <a:t>”?</a:t>
            </a:r>
            <a:endParaRPr lang="en-US" dirty="0"/>
          </a:p>
        </p:txBody>
      </p:sp>
      <p:sp>
        <p:nvSpPr>
          <p:cNvPr id="739332" name="Text Box 4"/>
          <p:cNvSpPr txBox="1">
            <a:spLocks noChangeArrowheads="1"/>
          </p:cNvSpPr>
          <p:nvPr/>
        </p:nvSpPr>
        <p:spPr bwMode="auto">
          <a:xfrm>
            <a:off x="481914" y="1155442"/>
            <a:ext cx="6634188" cy="501675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int s = getpid() &amp; 0x1;</a:t>
            </a:r>
          </a:p>
          <a:p>
            <a:r>
              <a:rPr lang="en-US" sz="1600" dirty="0">
                <a:latin typeface="Courier New" pitchFamily="49" charset="0"/>
              </a:rPr>
              <a:t>    char c1, c2;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Read(fd1, &amp;c1, 1);</a:t>
            </a:r>
          </a:p>
          <a:p>
            <a:r>
              <a:rPr lang="en-US" sz="1600" dirty="0">
                <a:latin typeface="Courier New" pitchFamily="49" charset="0"/>
              </a:rPr>
              <a:t>    if (fork()) </a:t>
            </a:r>
            <a:r>
              <a:rPr lang="en-US" sz="1600" dirty="0" smtClean="0">
                <a:latin typeface="Courier New" pitchFamily="49" charset="0"/>
              </a:rPr>
              <a:t>{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Parent */</a:t>
            </a:r>
          </a:p>
          <a:p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sleep(s);</a:t>
            </a:r>
          </a:p>
          <a:p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printf("Parent: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 else </a:t>
            </a:r>
            <a:r>
              <a:rPr lang="en-US" sz="1600" dirty="0" smtClean="0">
                <a:latin typeface="Courier New" pitchFamily="49" charset="0"/>
              </a:rPr>
              <a:t>{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Child */</a:t>
            </a:r>
          </a:p>
          <a:p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sleep(1-s);</a:t>
            </a:r>
          </a:p>
          <a:p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printf("Child: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84738" y="5802868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ffiles2.c</a:t>
            </a:r>
          </a:p>
        </p:txBody>
      </p:sp>
      <p:sp>
        <p:nvSpPr>
          <p:cNvPr id="2" name="Rectangle 1"/>
          <p:cNvSpPr/>
          <p:nvPr/>
        </p:nvSpPr>
        <p:spPr>
          <a:xfrm>
            <a:off x="5249202" y="1315865"/>
            <a:ext cx="37338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Child: c1 = a, c2 = b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Parent: c1 = a, c2 = c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9202" y="2362200"/>
            <a:ext cx="37338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Parent: c1 = a, c2 = b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Child: c1 = a, c2 =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6169" y="3352800"/>
            <a:ext cx="3029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C00000"/>
                </a:solidFill>
                <a:latin typeface="Calibri" pitchFamily="34" charset="0"/>
              </a:rPr>
              <a:t>Bonus: Which way does it go?</a:t>
            </a:r>
          </a:p>
        </p:txBody>
      </p:sp>
    </p:spTree>
    <p:extLst>
      <p:ext uri="{BB962C8B-B14F-4D97-AF65-F5344CB8AC3E}">
        <p14:creationId xmlns:p14="http://schemas.microsoft.com/office/powerpoint/2010/main" val="386633958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System IO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Unix I/O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Metadata, sharing, and redirection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Standard I/O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RIO (robust I/O) package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Closing 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remarks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Virtual Memory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7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93" y="435678"/>
            <a:ext cx="7592093" cy="762000"/>
          </a:xfrm>
        </p:spPr>
        <p:txBody>
          <a:bodyPr/>
          <a:lstStyle/>
          <a:p>
            <a:r>
              <a:rPr lang="en-US" dirty="0"/>
              <a:t>Standard I/O Functions</a:t>
            </a:r>
          </a:p>
        </p:txBody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861" y="1362075"/>
            <a:ext cx="7896225" cy="4972050"/>
          </a:xfrm>
        </p:spPr>
        <p:txBody>
          <a:bodyPr/>
          <a:lstStyle/>
          <a:p>
            <a:r>
              <a:rPr lang="en-US" dirty="0"/>
              <a:t>The C standard library </a:t>
            </a:r>
            <a:r>
              <a:rPr lang="en-US" dirty="0" smtClean="0"/>
              <a:t>(</a:t>
            </a:r>
            <a:r>
              <a:rPr lang="en-US" dirty="0" err="1" smtClean="0">
                <a:latin typeface="Courier New" pitchFamily="49" charset="0"/>
              </a:rPr>
              <a:t>libc.so</a:t>
            </a:r>
            <a:r>
              <a:rPr lang="en-US" dirty="0" smtClean="0"/>
              <a:t>) </a:t>
            </a:r>
            <a:r>
              <a:rPr lang="en-US" dirty="0"/>
              <a:t>contains a collection of higher-level </a:t>
            </a:r>
            <a:r>
              <a:rPr lang="en-US" i="1" dirty="0">
                <a:solidFill>
                  <a:srgbClr val="C00000"/>
                </a:solidFill>
              </a:rPr>
              <a:t>standard I/O </a:t>
            </a:r>
            <a:r>
              <a:rPr lang="en-US" dirty="0"/>
              <a:t>functions</a:t>
            </a:r>
          </a:p>
          <a:p>
            <a:endParaRPr lang="en-US" dirty="0" smtClean="0"/>
          </a:p>
          <a:p>
            <a:r>
              <a:rPr lang="en-US" dirty="0" smtClean="0"/>
              <a:t>Examples </a:t>
            </a:r>
            <a:r>
              <a:rPr lang="en-US" dirty="0"/>
              <a:t>of standard I/O functions:</a:t>
            </a:r>
          </a:p>
          <a:p>
            <a:pPr lvl="1"/>
            <a:r>
              <a:rPr lang="en-US" dirty="0"/>
              <a:t>Opening and closing files (</a:t>
            </a:r>
            <a:r>
              <a:rPr lang="en-US" b="1" dirty="0" err="1">
                <a:latin typeface="Courier New" pitchFamily="49" charset="0"/>
              </a:rPr>
              <a:t>fopen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fclose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Reading and writing bytes (</a:t>
            </a:r>
            <a:r>
              <a:rPr lang="en-US" b="1" dirty="0" err="1">
                <a:latin typeface="Courier New" pitchFamily="49" charset="0"/>
              </a:rPr>
              <a:t>fread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fwrite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Reading and writing text lines (</a:t>
            </a:r>
            <a:r>
              <a:rPr lang="en-US" b="1" dirty="0" err="1">
                <a:latin typeface="Courier New" pitchFamily="49" charset="0"/>
              </a:rPr>
              <a:t>fgets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fputs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Formatted reading and writing (</a:t>
            </a:r>
            <a:r>
              <a:rPr lang="en-US" b="1" dirty="0" err="1">
                <a:latin typeface="Courier New" pitchFamily="49" charset="0"/>
              </a:rPr>
              <a:t>fscanf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fprintf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719885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I/O Streams</a:t>
            </a:r>
          </a:p>
        </p:txBody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2937" y="1220788"/>
            <a:ext cx="8307387" cy="2970212"/>
          </a:xfrm>
        </p:spPr>
        <p:txBody>
          <a:bodyPr/>
          <a:lstStyle/>
          <a:p>
            <a:r>
              <a:rPr lang="en-US" dirty="0"/>
              <a:t>Standard I/O models open files as </a:t>
            </a:r>
            <a:r>
              <a:rPr lang="en-US" i="1" dirty="0">
                <a:solidFill>
                  <a:srgbClr val="C00000"/>
                </a:solidFill>
              </a:rPr>
              <a:t>streams</a:t>
            </a:r>
          </a:p>
          <a:p>
            <a:pPr lvl="1"/>
            <a:r>
              <a:rPr lang="en-US" dirty="0"/>
              <a:t>Abstraction for a file descriptor and a buffer in </a:t>
            </a:r>
            <a:r>
              <a:rPr lang="en-US" dirty="0" smtClean="0"/>
              <a:t>memory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 </a:t>
            </a:r>
            <a:r>
              <a:rPr lang="en-US" dirty="0"/>
              <a:t>programs begin life with three open streams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/>
              <a:t>defined in 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/>
              <a:t>)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stdin</a:t>
            </a:r>
            <a:r>
              <a:rPr lang="en-US" dirty="0"/>
              <a:t> </a:t>
            </a:r>
            <a:r>
              <a:rPr lang="en-US" dirty="0" smtClean="0"/>
              <a:t> (</a:t>
            </a:r>
            <a:r>
              <a:rPr lang="en-US" dirty="0"/>
              <a:t>standard input)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stdout</a:t>
            </a:r>
            <a:r>
              <a:rPr lang="en-US" dirty="0"/>
              <a:t> (standard output)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stderr</a:t>
            </a:r>
            <a:r>
              <a:rPr lang="en-US" dirty="0"/>
              <a:t> (standard error)</a:t>
            </a:r>
          </a:p>
          <a:p>
            <a:pPr lvl="1"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74820" name="Text Box 4"/>
          <p:cNvSpPr txBox="1">
            <a:spLocks noChangeArrowheads="1"/>
          </p:cNvSpPr>
          <p:nvPr/>
        </p:nvSpPr>
        <p:spPr bwMode="auto">
          <a:xfrm>
            <a:off x="914400" y="4495800"/>
            <a:ext cx="7164388" cy="20574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</a:rPr>
              <a:t>stdio.h</a:t>
            </a:r>
            <a:r>
              <a:rPr lang="en-US" sz="1600" dirty="0">
                <a:latin typeface="Courier New" pitchFamily="49" charset="0"/>
              </a:rPr>
              <a:t>&gt;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extern FILE *</a:t>
            </a:r>
            <a:r>
              <a:rPr lang="en-US" sz="1600" dirty="0" err="1">
                <a:latin typeface="Courier New" pitchFamily="49" charset="0"/>
              </a:rPr>
              <a:t>stdin</a:t>
            </a:r>
            <a:r>
              <a:rPr lang="en-US" sz="1600" dirty="0">
                <a:latin typeface="Courier New" pitchFamily="49" charset="0"/>
              </a:rPr>
              <a:t>;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standard input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 (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descriptor 0)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*/</a:t>
            </a:r>
            <a:endParaRPr lang="en-US" sz="1600" dirty="0">
              <a:solidFill>
                <a:srgbClr val="990000"/>
              </a:solidFill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extern FILE *</a:t>
            </a:r>
            <a:r>
              <a:rPr lang="en-US" sz="1600" dirty="0" err="1">
                <a:latin typeface="Courier New" pitchFamily="49" charset="0"/>
              </a:rPr>
              <a:t>stdout</a:t>
            </a:r>
            <a:r>
              <a:rPr lang="en-US" sz="1600" dirty="0">
                <a:latin typeface="Courier New" pitchFamily="49" charset="0"/>
              </a:rPr>
              <a:t>;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standard output (descriptor 1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) */</a:t>
            </a:r>
            <a:endParaRPr lang="en-US" sz="1600" dirty="0">
              <a:solidFill>
                <a:srgbClr val="990000"/>
              </a:solidFill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extern FILE *</a:t>
            </a:r>
            <a:r>
              <a:rPr lang="en-US" sz="1600" dirty="0" err="1">
                <a:latin typeface="Courier New" pitchFamily="49" charset="0"/>
              </a:rPr>
              <a:t>stderr</a:t>
            </a:r>
            <a:r>
              <a:rPr lang="en-US" sz="1600" dirty="0">
                <a:latin typeface="Courier New" pitchFamily="49" charset="0"/>
              </a:rPr>
              <a:t>;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standard error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 (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descriptor 2)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*/</a:t>
            </a:r>
            <a:endParaRPr lang="en-US" sz="1600" dirty="0">
              <a:solidFill>
                <a:srgbClr val="990000"/>
              </a:solidFill>
              <a:latin typeface="Courier New" pitchFamily="49" charset="0"/>
            </a:endParaRP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main() {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fprintf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stdout</a:t>
            </a:r>
            <a:r>
              <a:rPr lang="en-US" sz="1600" dirty="0">
                <a:latin typeface="Courier New" pitchFamily="49" charset="0"/>
              </a:rPr>
              <a:t>, "Hello, world\n");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907880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Buffered I/O: Motivation</a:t>
            </a:r>
          </a:p>
        </p:txBody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2937" y="1220788"/>
            <a:ext cx="8307387" cy="4341812"/>
          </a:xfrm>
        </p:spPr>
        <p:txBody>
          <a:bodyPr/>
          <a:lstStyle/>
          <a:p>
            <a:r>
              <a:rPr lang="en-US" dirty="0" smtClean="0"/>
              <a:t>Applications often read/write one character at a time</a:t>
            </a:r>
          </a:p>
          <a:p>
            <a:pPr lvl="1"/>
            <a:r>
              <a:rPr lang="en-US" b="1" dirty="0" err="1">
                <a:latin typeface="Courier New"/>
                <a:cs typeface="Courier New"/>
              </a:rPr>
              <a:t>getc</a:t>
            </a:r>
            <a:r>
              <a:rPr lang="en-US" b="1" dirty="0">
                <a:latin typeface="Courier New"/>
                <a:cs typeface="Courier New"/>
              </a:rPr>
              <a:t>, </a:t>
            </a:r>
            <a:r>
              <a:rPr lang="en-US" b="1" dirty="0" err="1">
                <a:latin typeface="Courier New"/>
                <a:cs typeface="Courier New"/>
              </a:rPr>
              <a:t>putc</a:t>
            </a:r>
            <a:r>
              <a:rPr lang="en-US" b="1" dirty="0">
                <a:latin typeface="Courier New"/>
                <a:cs typeface="Courier New"/>
              </a:rPr>
              <a:t>, </a:t>
            </a:r>
            <a:r>
              <a:rPr lang="en-US" b="1" dirty="0" err="1">
                <a:latin typeface="Courier New"/>
                <a:cs typeface="Courier New"/>
              </a:rPr>
              <a:t>ungetc</a:t>
            </a:r>
            <a:endParaRPr lang="en-US" b="1" dirty="0" smtClean="0">
              <a:latin typeface="Courier New"/>
              <a:cs typeface="Courier New"/>
            </a:endParaRP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gets, </a:t>
            </a:r>
            <a:r>
              <a:rPr lang="en-US" b="1" dirty="0" err="1" smtClean="0">
                <a:latin typeface="Courier New"/>
                <a:cs typeface="Courier New"/>
              </a:rPr>
              <a:t>fgets</a:t>
            </a:r>
            <a:endParaRPr lang="en-US" b="1" dirty="0" smtClean="0">
              <a:latin typeface="Courier New"/>
              <a:cs typeface="Courier New"/>
            </a:endParaRPr>
          </a:p>
          <a:p>
            <a:pPr lvl="2"/>
            <a:r>
              <a:rPr lang="en-US" dirty="0"/>
              <a:t>Read line of </a:t>
            </a:r>
            <a:r>
              <a:rPr lang="en-US" dirty="0" smtClean="0"/>
              <a:t>text one character at a time, </a:t>
            </a:r>
            <a:r>
              <a:rPr lang="en-US" dirty="0"/>
              <a:t>stopping at newline</a:t>
            </a:r>
          </a:p>
          <a:p>
            <a:r>
              <a:rPr lang="en-US" dirty="0"/>
              <a:t>Implementing</a:t>
            </a:r>
            <a:r>
              <a:rPr lang="en-US" dirty="0" smtClean="0"/>
              <a:t> as Unix I/O calls expensive</a:t>
            </a: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read</a:t>
            </a:r>
            <a:r>
              <a:rPr lang="en-US" dirty="0" smtClean="0"/>
              <a:t> and </a:t>
            </a:r>
            <a:r>
              <a:rPr lang="en-US" b="1" dirty="0" smtClean="0">
                <a:latin typeface="Courier New"/>
                <a:cs typeface="Courier New"/>
              </a:rPr>
              <a:t>write</a:t>
            </a:r>
            <a:r>
              <a:rPr lang="en-US" dirty="0" smtClean="0"/>
              <a:t> require </a:t>
            </a:r>
            <a:r>
              <a:rPr lang="en-US" dirty="0"/>
              <a:t>Unix kernel calls</a:t>
            </a:r>
          </a:p>
          <a:p>
            <a:pPr lvl="2"/>
            <a:r>
              <a:rPr lang="en-US" dirty="0"/>
              <a:t>&gt; 10,000 clock cycles</a:t>
            </a:r>
            <a:endParaRPr lang="en-US" dirty="0" smtClean="0"/>
          </a:p>
          <a:p>
            <a:r>
              <a:rPr lang="en-US" dirty="0" smtClean="0"/>
              <a:t>Solution: Buffered read</a:t>
            </a:r>
          </a:p>
          <a:p>
            <a:pPr lvl="1"/>
            <a:r>
              <a:rPr lang="en-US" dirty="0"/>
              <a:t>Use Unix </a:t>
            </a:r>
            <a:r>
              <a:rPr lang="en-US" b="1" dirty="0" smtClean="0">
                <a:latin typeface="Courier New"/>
                <a:cs typeface="Courier New"/>
              </a:rPr>
              <a:t>read</a:t>
            </a:r>
            <a:r>
              <a:rPr lang="en-US" dirty="0" smtClean="0">
                <a:latin typeface="Courier New"/>
                <a:cs typeface="Courier New"/>
              </a:rPr>
              <a:t> </a:t>
            </a:r>
            <a:r>
              <a:rPr lang="en-US" dirty="0" smtClean="0"/>
              <a:t>to </a:t>
            </a:r>
            <a:r>
              <a:rPr lang="en-US" dirty="0"/>
              <a:t>grab block of bytes</a:t>
            </a:r>
          </a:p>
          <a:p>
            <a:pPr lvl="1"/>
            <a:r>
              <a:rPr lang="en-US" dirty="0"/>
              <a:t>User input functions take one byte at a time from buffer</a:t>
            </a:r>
          </a:p>
          <a:p>
            <a:pPr lvl="2"/>
            <a:r>
              <a:rPr lang="en-US" dirty="0"/>
              <a:t>Refill buffer when empty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826476" y="5807075"/>
            <a:ext cx="2362200" cy="441325"/>
          </a:xfrm>
          <a:prstGeom prst="rect">
            <a:avLst/>
          </a:prstGeom>
          <a:solidFill>
            <a:srgbClr val="F1C7C7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unread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464276" y="5807075"/>
            <a:ext cx="2362200" cy="441325"/>
          </a:xfrm>
          <a:prstGeom prst="rect">
            <a:avLst/>
          </a:prstGeom>
          <a:solidFill>
            <a:srgbClr val="D5F1C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already read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464276" y="5807075"/>
            <a:ext cx="6096000" cy="44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09600" y="5831299"/>
            <a:ext cx="8423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Buffer</a:t>
            </a:r>
          </a:p>
        </p:txBody>
      </p:sp>
    </p:spTree>
    <p:extLst>
      <p:ext uri="{BB962C8B-B14F-4D97-AF65-F5344CB8AC3E}">
        <p14:creationId xmlns:p14="http://schemas.microsoft.com/office/powerpoint/2010/main" val="279568963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101" name="Rectangle 29"/>
          <p:cNvSpPr>
            <a:spLocks noGrp="1" noChangeArrowheads="1"/>
          </p:cNvSpPr>
          <p:nvPr>
            <p:ph type="title"/>
          </p:nvPr>
        </p:nvSpPr>
        <p:spPr>
          <a:xfrm>
            <a:off x="381000" y="435678"/>
            <a:ext cx="7592093" cy="762000"/>
          </a:xfrm>
        </p:spPr>
        <p:txBody>
          <a:bodyPr/>
          <a:lstStyle/>
          <a:p>
            <a:r>
              <a:rPr lang="en-US"/>
              <a:t>Buffering in Standard I/O</a:t>
            </a:r>
          </a:p>
        </p:txBody>
      </p:sp>
      <p:sp>
        <p:nvSpPr>
          <p:cNvPr id="643102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7896225" cy="5267325"/>
          </a:xfrm>
        </p:spPr>
        <p:txBody>
          <a:bodyPr/>
          <a:lstStyle/>
          <a:p>
            <a:r>
              <a:rPr lang="en-US" dirty="0"/>
              <a:t>Standard I/O functions use buffered I/O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Buffer </a:t>
            </a:r>
            <a:r>
              <a:rPr lang="en-US" dirty="0"/>
              <a:t>flushed to output </a:t>
            </a:r>
            <a:r>
              <a:rPr lang="en-US" dirty="0" err="1"/>
              <a:t>fd</a:t>
            </a:r>
            <a:r>
              <a:rPr lang="en-US" dirty="0"/>
              <a:t> on “\n</a:t>
            </a:r>
            <a:r>
              <a:rPr lang="en-US" dirty="0" smtClean="0"/>
              <a:t>”, call to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fflush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+mn-lt"/>
                <a:cs typeface="Courier New" pitchFamily="49" charset="0"/>
              </a:rPr>
              <a:t>or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exit</a:t>
            </a:r>
            <a:r>
              <a:rPr lang="en-US" dirty="0" smtClean="0">
                <a:latin typeface="+mn-lt"/>
                <a:cs typeface="Courier New" pitchFamily="49" charset="0"/>
              </a:rPr>
              <a:t>,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+mn-lt"/>
                <a:cs typeface="Courier New" pitchFamily="49" charset="0"/>
              </a:rPr>
              <a:t>or return from </a:t>
            </a:r>
            <a:r>
              <a:rPr lang="en-US" dirty="0" smtClean="0">
                <a:latin typeface="Courier New"/>
                <a:cs typeface="Courier New"/>
              </a:rPr>
              <a:t>main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 </a:t>
            </a:r>
            <a:endParaRPr lang="en-US" dirty="0"/>
          </a:p>
        </p:txBody>
      </p:sp>
      <p:sp>
        <p:nvSpPr>
          <p:cNvPr id="643076" name="Text Box 4"/>
          <p:cNvSpPr txBox="1">
            <a:spLocks noChangeArrowheads="1"/>
          </p:cNvSpPr>
          <p:nvPr/>
        </p:nvSpPr>
        <p:spPr bwMode="auto">
          <a:xfrm>
            <a:off x="2544762" y="1905000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("h");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77" name="Rectangle 5"/>
          <p:cNvSpPr>
            <a:spLocks noChangeArrowheads="1"/>
          </p:cNvSpPr>
          <p:nvPr/>
        </p:nvSpPr>
        <p:spPr bwMode="auto">
          <a:xfrm>
            <a:off x="26209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h</a:t>
            </a:r>
          </a:p>
        </p:txBody>
      </p:sp>
      <p:sp>
        <p:nvSpPr>
          <p:cNvPr id="643078" name="Rectangle 6"/>
          <p:cNvSpPr>
            <a:spLocks noChangeArrowheads="1"/>
          </p:cNvSpPr>
          <p:nvPr/>
        </p:nvSpPr>
        <p:spPr bwMode="auto">
          <a:xfrm>
            <a:off x="30781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e</a:t>
            </a:r>
          </a:p>
        </p:txBody>
      </p:sp>
      <p:sp>
        <p:nvSpPr>
          <p:cNvPr id="643079" name="Rectangle 7"/>
          <p:cNvSpPr>
            <a:spLocks noChangeArrowheads="1"/>
          </p:cNvSpPr>
          <p:nvPr/>
        </p:nvSpPr>
        <p:spPr bwMode="auto">
          <a:xfrm>
            <a:off x="34591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l</a:t>
            </a:r>
          </a:p>
        </p:txBody>
      </p:sp>
      <p:sp>
        <p:nvSpPr>
          <p:cNvPr id="643080" name="Rectangle 8"/>
          <p:cNvSpPr>
            <a:spLocks noChangeArrowheads="1"/>
          </p:cNvSpPr>
          <p:nvPr/>
        </p:nvSpPr>
        <p:spPr bwMode="auto">
          <a:xfrm>
            <a:off x="39163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l</a:t>
            </a:r>
          </a:p>
        </p:txBody>
      </p:sp>
      <p:sp>
        <p:nvSpPr>
          <p:cNvPr id="643081" name="Rectangle 9"/>
          <p:cNvSpPr>
            <a:spLocks noChangeArrowheads="1"/>
          </p:cNvSpPr>
          <p:nvPr/>
        </p:nvSpPr>
        <p:spPr bwMode="auto">
          <a:xfrm>
            <a:off x="43735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o</a:t>
            </a:r>
          </a:p>
        </p:txBody>
      </p:sp>
      <p:sp>
        <p:nvSpPr>
          <p:cNvPr id="643082" name="Rectangle 10"/>
          <p:cNvSpPr>
            <a:spLocks noChangeArrowheads="1"/>
          </p:cNvSpPr>
          <p:nvPr/>
        </p:nvSpPr>
        <p:spPr bwMode="auto">
          <a:xfrm>
            <a:off x="48307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\n</a:t>
            </a:r>
          </a:p>
        </p:txBody>
      </p:sp>
      <p:sp>
        <p:nvSpPr>
          <p:cNvPr id="643083" name="Rectangle 11"/>
          <p:cNvSpPr>
            <a:spLocks noChangeArrowheads="1"/>
          </p:cNvSpPr>
          <p:nvPr/>
        </p:nvSpPr>
        <p:spPr bwMode="auto">
          <a:xfrm>
            <a:off x="52879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.</a:t>
            </a:r>
          </a:p>
        </p:txBody>
      </p:sp>
      <p:sp>
        <p:nvSpPr>
          <p:cNvPr id="643084" name="Rectangle 12"/>
          <p:cNvSpPr>
            <a:spLocks noChangeArrowheads="1"/>
          </p:cNvSpPr>
          <p:nvPr/>
        </p:nvSpPr>
        <p:spPr bwMode="auto">
          <a:xfrm>
            <a:off x="57451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.</a:t>
            </a:r>
          </a:p>
        </p:txBody>
      </p:sp>
      <p:sp>
        <p:nvSpPr>
          <p:cNvPr id="643085" name="Line 13"/>
          <p:cNvSpPr>
            <a:spLocks noChangeShapeType="1"/>
          </p:cNvSpPr>
          <p:nvPr/>
        </p:nvSpPr>
        <p:spPr bwMode="auto">
          <a:xfrm>
            <a:off x="2849562" y="2319337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86" name="Text Box 14"/>
          <p:cNvSpPr txBox="1">
            <a:spLocks noChangeArrowheads="1"/>
          </p:cNvSpPr>
          <p:nvPr/>
        </p:nvSpPr>
        <p:spPr bwMode="auto">
          <a:xfrm>
            <a:off x="3001962" y="2133600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("e");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87" name="Line 15"/>
          <p:cNvSpPr>
            <a:spLocks noChangeShapeType="1"/>
          </p:cNvSpPr>
          <p:nvPr/>
        </p:nvSpPr>
        <p:spPr bwMode="auto">
          <a:xfrm>
            <a:off x="3306762" y="2471737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88" name="Text Box 16"/>
          <p:cNvSpPr txBox="1">
            <a:spLocks noChangeArrowheads="1"/>
          </p:cNvSpPr>
          <p:nvPr/>
        </p:nvSpPr>
        <p:spPr bwMode="auto">
          <a:xfrm>
            <a:off x="3382962" y="2363787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("l");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89" name="Line 17"/>
          <p:cNvSpPr>
            <a:spLocks noChangeShapeType="1"/>
          </p:cNvSpPr>
          <p:nvPr/>
        </p:nvSpPr>
        <p:spPr bwMode="auto">
          <a:xfrm>
            <a:off x="5059362" y="3462337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0" name="Text Box 18"/>
          <p:cNvSpPr txBox="1">
            <a:spLocks noChangeArrowheads="1"/>
          </p:cNvSpPr>
          <p:nvPr/>
        </p:nvSpPr>
        <p:spPr bwMode="auto">
          <a:xfrm>
            <a:off x="3759200" y="2624137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("l");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91" name="Line 19"/>
          <p:cNvSpPr>
            <a:spLocks noChangeShapeType="1"/>
          </p:cNvSpPr>
          <p:nvPr/>
        </p:nvSpPr>
        <p:spPr bwMode="auto">
          <a:xfrm>
            <a:off x="4525962" y="3233737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2" name="Text Box 20"/>
          <p:cNvSpPr txBox="1">
            <a:spLocks noChangeArrowheads="1"/>
          </p:cNvSpPr>
          <p:nvPr/>
        </p:nvSpPr>
        <p:spPr bwMode="auto">
          <a:xfrm>
            <a:off x="4140200" y="2897187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("o");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93" name="Text Box 21"/>
          <p:cNvSpPr txBox="1">
            <a:spLocks noChangeArrowheads="1"/>
          </p:cNvSpPr>
          <p:nvPr/>
        </p:nvSpPr>
        <p:spPr bwMode="auto">
          <a:xfrm>
            <a:off x="4627562" y="3157537"/>
            <a:ext cx="177323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("\n");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94" name="Line 22"/>
          <p:cNvSpPr>
            <a:spLocks noChangeShapeType="1"/>
          </p:cNvSpPr>
          <p:nvPr/>
        </p:nvSpPr>
        <p:spPr bwMode="auto">
          <a:xfrm>
            <a:off x="3687762" y="2700337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5" name="Line 23"/>
          <p:cNvSpPr>
            <a:spLocks noChangeShapeType="1"/>
          </p:cNvSpPr>
          <p:nvPr/>
        </p:nvSpPr>
        <p:spPr bwMode="auto">
          <a:xfrm>
            <a:off x="4144962" y="2928937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6" name="Line 24"/>
          <p:cNvSpPr>
            <a:spLocks noChangeShapeType="1"/>
          </p:cNvSpPr>
          <p:nvPr/>
        </p:nvSpPr>
        <p:spPr bwMode="auto">
          <a:xfrm>
            <a:off x="3916362" y="4300537"/>
            <a:ext cx="0" cy="82296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7" name="Text Box 25"/>
          <p:cNvSpPr txBox="1">
            <a:spLocks noChangeArrowheads="1"/>
          </p:cNvSpPr>
          <p:nvPr/>
        </p:nvSpPr>
        <p:spPr bwMode="auto">
          <a:xfrm>
            <a:off x="3992562" y="4510087"/>
            <a:ext cx="223202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fflush(stdout);</a:t>
            </a:r>
          </a:p>
        </p:txBody>
      </p:sp>
      <p:sp>
        <p:nvSpPr>
          <p:cNvPr id="643098" name="Text Box 26"/>
          <p:cNvSpPr txBox="1">
            <a:spLocks noChangeArrowheads="1"/>
          </p:cNvSpPr>
          <p:nvPr/>
        </p:nvSpPr>
        <p:spPr bwMode="auto">
          <a:xfrm>
            <a:off x="1630362" y="3076574"/>
            <a:ext cx="59372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buf</a:t>
            </a:r>
          </a:p>
        </p:txBody>
      </p:sp>
      <p:sp>
        <p:nvSpPr>
          <p:cNvPr id="643099" name="Line 27"/>
          <p:cNvSpPr>
            <a:spLocks noChangeShapeType="1"/>
          </p:cNvSpPr>
          <p:nvPr/>
        </p:nvSpPr>
        <p:spPr bwMode="auto">
          <a:xfrm>
            <a:off x="1935162" y="3394075"/>
            <a:ext cx="685800" cy="6016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100" name="Text Box 28"/>
          <p:cNvSpPr txBox="1">
            <a:spLocks noChangeArrowheads="1"/>
          </p:cNvSpPr>
          <p:nvPr/>
        </p:nvSpPr>
        <p:spPr bwMode="auto">
          <a:xfrm>
            <a:off x="2659400" y="5195887"/>
            <a:ext cx="252825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write(1, </a:t>
            </a:r>
            <a:r>
              <a:rPr lang="en-US" sz="1800" dirty="0" err="1" smtClean="0">
                <a:latin typeface="Courier New" pitchFamily="49" charset="0"/>
              </a:rPr>
              <a:t>buf</a:t>
            </a:r>
            <a:r>
              <a:rPr lang="en-US" sz="1800" dirty="0" smtClean="0">
                <a:latin typeface="Courier New" pitchFamily="49" charset="0"/>
              </a:rPr>
              <a:t>, </a:t>
            </a:r>
            <a:r>
              <a:rPr lang="en-US" sz="1800" dirty="0">
                <a:latin typeface="Courier New" pitchFamily="49" charset="0"/>
              </a:rPr>
              <a:t>6</a:t>
            </a:r>
            <a:r>
              <a:rPr lang="en-US" sz="1800" dirty="0" smtClean="0">
                <a:latin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4143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102" name="Rectangle 6"/>
          <p:cNvSpPr>
            <a:spLocks noGrp="1" noChangeArrowheads="1"/>
          </p:cNvSpPr>
          <p:nvPr>
            <p:ph type="title"/>
          </p:nvPr>
        </p:nvSpPr>
        <p:spPr>
          <a:xfrm>
            <a:off x="357018" y="457200"/>
            <a:ext cx="7592093" cy="762000"/>
          </a:xfrm>
        </p:spPr>
        <p:txBody>
          <a:bodyPr/>
          <a:lstStyle/>
          <a:p>
            <a:r>
              <a:rPr lang="en-US"/>
              <a:t>Standard I/O Buffering in Action</a:t>
            </a:r>
          </a:p>
        </p:txBody>
      </p:sp>
      <p:sp>
        <p:nvSpPr>
          <p:cNvPr id="64410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56286" y="1295400"/>
            <a:ext cx="7896225" cy="4972050"/>
          </a:xfrm>
        </p:spPr>
        <p:txBody>
          <a:bodyPr/>
          <a:lstStyle/>
          <a:p>
            <a:r>
              <a:rPr lang="en-US" dirty="0"/>
              <a:t>You can see this buffering in action for yourself, using the always fascinating </a:t>
            </a:r>
            <a:r>
              <a:rPr lang="en-US" dirty="0" smtClean="0"/>
              <a:t>Linux </a:t>
            </a:r>
            <a:r>
              <a:rPr lang="en-US" dirty="0" err="1" smtClean="0">
                <a:latin typeface="Courier New" pitchFamily="49" charset="0"/>
              </a:rPr>
              <a:t>strace</a:t>
            </a:r>
            <a:r>
              <a:rPr lang="en-US" dirty="0" smtClean="0"/>
              <a:t> </a:t>
            </a:r>
            <a:r>
              <a:rPr lang="en-US" dirty="0"/>
              <a:t>program:</a:t>
            </a:r>
          </a:p>
        </p:txBody>
      </p:sp>
      <p:sp>
        <p:nvSpPr>
          <p:cNvPr id="644099" name="Rectangle 3"/>
          <p:cNvSpPr>
            <a:spLocks noChangeArrowheads="1"/>
          </p:cNvSpPr>
          <p:nvPr/>
        </p:nvSpPr>
        <p:spPr bwMode="auto">
          <a:xfrm>
            <a:off x="3276600" y="2438400"/>
            <a:ext cx="5638800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 smtClean="0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dirty="0" err="1">
                <a:latin typeface="Courier New" pitchFamily="49" charset="0"/>
              </a:rPr>
              <a:t>strace</a:t>
            </a:r>
            <a:r>
              <a:rPr lang="en-US" sz="1600" dirty="0">
                <a:latin typeface="Courier New" pitchFamily="49" charset="0"/>
              </a:rPr>
              <a:t> ./hello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execve</a:t>
            </a:r>
            <a:r>
              <a:rPr lang="en-US" sz="1600" dirty="0">
                <a:latin typeface="Courier New" pitchFamily="49" charset="0"/>
              </a:rPr>
              <a:t>("./hello", ["hello"], [/* ... */]).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write(1, "hello\n", </a:t>
            </a:r>
            <a:r>
              <a:rPr lang="en-US" sz="1600" dirty="0" smtClean="0">
                <a:latin typeface="Courier New" pitchFamily="49" charset="0"/>
              </a:rPr>
              <a:t>6)               </a:t>
            </a:r>
            <a:r>
              <a:rPr lang="en-US" sz="1600" dirty="0">
                <a:latin typeface="Courier New" pitchFamily="49" charset="0"/>
              </a:rPr>
              <a:t>= 6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...</a:t>
            </a:r>
            <a:endParaRPr lang="en-US" sz="1600" dirty="0" smtClean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smtClean="0">
                <a:latin typeface="Courier New" pitchFamily="49" charset="0"/>
              </a:rPr>
              <a:t>exit_group(</a:t>
            </a:r>
            <a:r>
              <a:rPr lang="en-US" sz="1600" dirty="0">
                <a:latin typeface="Courier New" pitchFamily="49" charset="0"/>
              </a:rPr>
              <a:t>0)                       </a:t>
            </a:r>
            <a:r>
              <a:rPr lang="en-US" sz="1600" dirty="0" smtClean="0">
                <a:latin typeface="Courier New" pitchFamily="49" charset="0"/>
              </a:rPr>
              <a:t> = </a:t>
            </a:r>
            <a:r>
              <a:rPr lang="en-US" sz="1600" dirty="0">
                <a:latin typeface="Courier New" pitchFamily="49" charset="0"/>
              </a:rPr>
              <a:t>?</a:t>
            </a: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644101" name="Rectangle 5"/>
          <p:cNvSpPr>
            <a:spLocks noChangeArrowheads="1"/>
          </p:cNvSpPr>
          <p:nvPr/>
        </p:nvSpPr>
        <p:spPr bwMode="auto">
          <a:xfrm>
            <a:off x="457200" y="2432050"/>
            <a:ext cx="2590800" cy="328295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#include &lt;stdio.h&gt;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int main()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printf("h");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printf("e");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printf("l");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printf("l");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printf("o");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printf("\n");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fflush(stdout);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exit(0);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44870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09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System IO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Unix I/O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Metadata, sharing, and redirection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Standard I/O</a:t>
            </a:r>
          </a:p>
          <a:p>
            <a:pPr lvl="1"/>
            <a:r>
              <a:rPr lang="en-US" dirty="0"/>
              <a:t>RIO (robust I/O) package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Closing 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remarks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Virtual Memory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7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Today: Unix I/O, C Standard I/O, and RIO</a:t>
            </a:r>
            <a:endParaRPr lang="en-US" dirty="0"/>
          </a:p>
        </p:txBody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769" y="1295400"/>
            <a:ext cx="8750300" cy="1371600"/>
          </a:xfrm>
        </p:spPr>
        <p:txBody>
          <a:bodyPr/>
          <a:lstStyle/>
          <a:p>
            <a:r>
              <a:rPr lang="en-US" dirty="0" smtClean="0"/>
              <a:t>Two </a:t>
            </a:r>
            <a:r>
              <a:rPr lang="en-US" i="1" dirty="0" smtClean="0"/>
              <a:t>incompatible</a:t>
            </a:r>
            <a:r>
              <a:rPr lang="en-US" dirty="0" smtClean="0"/>
              <a:t> libraries building on Unix I/O</a:t>
            </a:r>
          </a:p>
          <a:p>
            <a:r>
              <a:rPr lang="en-US" dirty="0" smtClean="0"/>
              <a:t>Robust I/O (RIO): </a:t>
            </a:r>
            <a:r>
              <a:rPr lang="en-US" dirty="0" smtClean="0"/>
              <a:t>CS:APP </a:t>
            </a:r>
            <a:r>
              <a:rPr lang="en-US" dirty="0" smtClean="0"/>
              <a:t>special wrappers</a:t>
            </a:r>
            <a:br>
              <a:rPr lang="en-US" dirty="0" smtClean="0"/>
            </a:br>
            <a:r>
              <a:rPr lang="en-US" dirty="0" smtClean="0"/>
              <a:t>good coding practice: </a:t>
            </a:r>
            <a:r>
              <a:rPr lang="en-US" b="0" dirty="0" smtClean="0"/>
              <a:t>handles error checking, signals, and </a:t>
            </a:r>
            <a:br>
              <a:rPr lang="en-US" b="0" dirty="0" smtClean="0"/>
            </a:br>
            <a:r>
              <a:rPr lang="en-US" b="0" dirty="0" smtClean="0"/>
              <a:t>“short counts”</a:t>
            </a:r>
            <a:endParaRPr lang="en-US" b="0" dirty="0"/>
          </a:p>
        </p:txBody>
      </p:sp>
      <p:sp>
        <p:nvSpPr>
          <p:cNvPr id="671748" name="Rectangle 4"/>
          <p:cNvSpPr>
            <a:spLocks noChangeAspect="1" noChangeArrowheads="1"/>
          </p:cNvSpPr>
          <p:nvPr/>
        </p:nvSpPr>
        <p:spPr bwMode="auto">
          <a:xfrm>
            <a:off x="2740025" y="3675063"/>
            <a:ext cx="4041775" cy="15779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71749" name="Rectangle 5"/>
          <p:cNvSpPr>
            <a:spLocks noChangeAspect="1" noChangeArrowheads="1"/>
          </p:cNvSpPr>
          <p:nvPr/>
        </p:nvSpPr>
        <p:spPr bwMode="auto">
          <a:xfrm>
            <a:off x="2740025" y="5253038"/>
            <a:ext cx="4041775" cy="685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Unix I/O functions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(accessed via system calls)</a:t>
            </a:r>
          </a:p>
        </p:txBody>
      </p:sp>
      <p:sp>
        <p:nvSpPr>
          <p:cNvPr id="671750" name="Rectangle 6"/>
          <p:cNvSpPr>
            <a:spLocks noChangeAspect="1" noChangeArrowheads="1"/>
          </p:cNvSpPr>
          <p:nvPr/>
        </p:nvSpPr>
        <p:spPr bwMode="auto">
          <a:xfrm>
            <a:off x="2741913" y="4567238"/>
            <a:ext cx="1447800" cy="685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 smtClean="0">
                <a:latin typeface="Calibri" pitchFamily="34" charset="0"/>
              </a:rPr>
              <a:t>Standard </a:t>
            </a:r>
            <a:r>
              <a:rPr lang="en-US" sz="1600" dirty="0">
                <a:latin typeface="Calibri" pitchFamily="34" charset="0"/>
              </a:rPr>
              <a:t>I/O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functions</a:t>
            </a:r>
          </a:p>
        </p:txBody>
      </p:sp>
      <p:sp>
        <p:nvSpPr>
          <p:cNvPr id="671751" name="Text Box 7"/>
          <p:cNvSpPr txBox="1">
            <a:spLocks noChangeAspect="1" noChangeArrowheads="1"/>
          </p:cNvSpPr>
          <p:nvPr/>
        </p:nvSpPr>
        <p:spPr bwMode="auto">
          <a:xfrm>
            <a:off x="3254439" y="3886200"/>
            <a:ext cx="299396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 application program</a:t>
            </a:r>
          </a:p>
        </p:txBody>
      </p:sp>
      <p:sp>
        <p:nvSpPr>
          <p:cNvPr id="671752" name="Text Box 8"/>
          <p:cNvSpPr txBox="1">
            <a:spLocks noChangeAspect="1" noChangeArrowheads="1"/>
          </p:cNvSpPr>
          <p:nvPr/>
        </p:nvSpPr>
        <p:spPr bwMode="auto">
          <a:xfrm>
            <a:off x="241300" y="3213100"/>
            <a:ext cx="1989138" cy="1816100"/>
          </a:xfrm>
          <a:prstGeom prst="rect">
            <a:avLst/>
          </a:prstGeom>
          <a:solidFill>
            <a:srgbClr val="D5F1CF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fopen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fdopen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fread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fwrite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fscanf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fprintf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sscanf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sprintf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fgets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fputs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fflush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fseek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fclose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671753" name="Text Box 9"/>
          <p:cNvSpPr txBox="1">
            <a:spLocks noChangeAspect="1" noChangeArrowheads="1"/>
          </p:cNvSpPr>
          <p:nvPr/>
        </p:nvSpPr>
        <p:spPr bwMode="auto">
          <a:xfrm>
            <a:off x="530225" y="5181600"/>
            <a:ext cx="16637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open   read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write  lseek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stat   close</a:t>
            </a:r>
          </a:p>
        </p:txBody>
      </p:sp>
      <p:sp>
        <p:nvSpPr>
          <p:cNvPr id="671754" name="Line 10"/>
          <p:cNvSpPr>
            <a:spLocks noChangeAspect="1" noChangeShapeType="1"/>
          </p:cNvSpPr>
          <p:nvPr/>
        </p:nvSpPr>
        <p:spPr bwMode="auto">
          <a:xfrm flipH="1" flipV="1">
            <a:off x="2230438" y="5602288"/>
            <a:ext cx="4746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1755" name="Text Box 11"/>
          <p:cNvSpPr txBox="1">
            <a:spLocks noChangeAspect="1" noChangeArrowheads="1"/>
          </p:cNvSpPr>
          <p:nvPr/>
        </p:nvSpPr>
        <p:spPr bwMode="auto">
          <a:xfrm>
            <a:off x="7150100" y="4252913"/>
            <a:ext cx="1841500" cy="1327150"/>
          </a:xfrm>
          <a:prstGeom prst="rect">
            <a:avLst/>
          </a:prstGeom>
          <a:solidFill>
            <a:srgbClr val="F1C7C7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rio_readn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rio_writen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rio_readinitb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rio_readlineb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rio_readnb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671756" name="Rectangle 12"/>
          <p:cNvSpPr>
            <a:spLocks noChangeAspect="1" noChangeArrowheads="1"/>
          </p:cNvSpPr>
          <p:nvPr/>
        </p:nvSpPr>
        <p:spPr bwMode="auto">
          <a:xfrm>
            <a:off x="5334000" y="4567238"/>
            <a:ext cx="1447800" cy="6858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 smtClean="0">
                <a:latin typeface="Calibri" pitchFamily="34" charset="0"/>
              </a:rPr>
              <a:t>RIO</a:t>
            </a:r>
            <a:endParaRPr lang="en-US" sz="1600" dirty="0">
              <a:latin typeface="Calibri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functions</a:t>
            </a:r>
          </a:p>
        </p:txBody>
      </p:sp>
      <p:sp>
        <p:nvSpPr>
          <p:cNvPr id="671757" name="Line 13"/>
          <p:cNvSpPr>
            <a:spLocks noChangeShapeType="1"/>
          </p:cNvSpPr>
          <p:nvPr/>
        </p:nvSpPr>
        <p:spPr bwMode="auto">
          <a:xfrm flipH="1" flipV="1">
            <a:off x="2260600" y="4102100"/>
            <a:ext cx="482600" cy="7493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1758" name="Line 14"/>
          <p:cNvSpPr>
            <a:spLocks noChangeShapeType="1"/>
          </p:cNvSpPr>
          <p:nvPr/>
        </p:nvSpPr>
        <p:spPr bwMode="auto">
          <a:xfrm>
            <a:off x="6794500" y="4914900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1426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55" grpId="0" animBg="1"/>
      <p:bldP spid="671756" grpId="0" animBg="1"/>
      <p:bldP spid="67175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592093" cy="762000"/>
          </a:xfrm>
        </p:spPr>
        <p:txBody>
          <a:bodyPr/>
          <a:lstStyle/>
          <a:p>
            <a:r>
              <a:rPr lang="en-US" dirty="0" smtClean="0"/>
              <a:t>Unix I/O Recap</a:t>
            </a:r>
            <a:endParaRPr lang="en-US" dirty="0"/>
          </a:p>
        </p:txBody>
      </p:sp>
      <p:sp>
        <p:nvSpPr>
          <p:cNvPr id="6369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3429000"/>
            <a:ext cx="7896225" cy="2000250"/>
          </a:xfrm>
        </p:spPr>
        <p:txBody>
          <a:bodyPr/>
          <a:lstStyle/>
          <a:p>
            <a:r>
              <a:rPr lang="en-US" dirty="0"/>
              <a:t>Short counts can occur in these situations:</a:t>
            </a:r>
          </a:p>
          <a:p>
            <a:pPr lvl="1"/>
            <a:r>
              <a:rPr lang="en-US" dirty="0"/>
              <a:t>Encountering (end-of-file) EOF on reads</a:t>
            </a:r>
          </a:p>
          <a:p>
            <a:pPr lvl="1"/>
            <a:r>
              <a:rPr lang="en-US" dirty="0"/>
              <a:t>Reading text lines from a terminal</a:t>
            </a:r>
          </a:p>
          <a:p>
            <a:pPr lvl="1"/>
            <a:r>
              <a:rPr lang="en-US" dirty="0"/>
              <a:t>Reading and writing network </a:t>
            </a:r>
            <a:r>
              <a:rPr lang="en-US" dirty="0" smtClean="0"/>
              <a:t>sockets</a:t>
            </a:r>
          </a:p>
          <a:p>
            <a:r>
              <a:rPr lang="en-US" dirty="0" smtClean="0"/>
              <a:t>Short </a:t>
            </a:r>
            <a:r>
              <a:rPr lang="en-US" dirty="0"/>
              <a:t>counts never occur in these situations:</a:t>
            </a:r>
          </a:p>
          <a:p>
            <a:pPr lvl="1"/>
            <a:r>
              <a:rPr lang="en-US" dirty="0"/>
              <a:t>Reading from disk files (except for EOF)</a:t>
            </a:r>
          </a:p>
          <a:p>
            <a:pPr lvl="1"/>
            <a:r>
              <a:rPr lang="en-US" dirty="0"/>
              <a:t>Writing to disk </a:t>
            </a:r>
            <a:r>
              <a:rPr lang="en-US" dirty="0" smtClean="0"/>
              <a:t>files</a:t>
            </a:r>
          </a:p>
          <a:p>
            <a:r>
              <a:rPr lang="en-US" dirty="0" smtClean="0"/>
              <a:t>Best practice is to always allow for short counts. 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57200" y="1447800"/>
            <a:ext cx="7014176" cy="83099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smtClean="0">
                <a:solidFill>
                  <a:srgbClr val="800000"/>
                </a:solidFill>
                <a:latin typeface="Courier New" pitchFamily="49" charset="0"/>
              </a:rPr>
              <a:t>/* Read at most </a:t>
            </a:r>
            <a:r>
              <a:rPr lang="en-US" sz="1600" dirty="0" err="1" smtClean="0">
                <a:solidFill>
                  <a:srgbClr val="800000"/>
                </a:solidFill>
                <a:latin typeface="Courier New" pitchFamily="49" charset="0"/>
              </a:rPr>
              <a:t>max_count</a:t>
            </a:r>
            <a:r>
              <a:rPr lang="en-US" sz="1600" dirty="0" smtClean="0">
                <a:solidFill>
                  <a:srgbClr val="800000"/>
                </a:solidFill>
                <a:latin typeface="Courier New" pitchFamily="49" charset="0"/>
              </a:rPr>
              <a:t> bytes from file into buffer.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00000"/>
                </a:solidFill>
                <a:latin typeface="Courier New" pitchFamily="49" charset="0"/>
              </a:rPr>
              <a:t> </a:t>
            </a:r>
            <a:r>
              <a:rPr lang="en-US" sz="1600" dirty="0" smtClean="0">
                <a:solidFill>
                  <a:srgbClr val="800000"/>
                </a:solidFill>
                <a:latin typeface="Courier New" pitchFamily="49" charset="0"/>
              </a:rPr>
              <a:t>  Return number bytes read, or error value */</a:t>
            </a:r>
          </a:p>
          <a:p>
            <a:pPr>
              <a:lnSpc>
                <a:spcPct val="100000"/>
              </a:lnSpc>
            </a:pPr>
            <a:r>
              <a:rPr lang="en-US" sz="1600" dirty="0" err="1" smtClean="0">
                <a:latin typeface="Courier New" pitchFamily="49" charset="0"/>
              </a:rPr>
              <a:t>ssize_t</a:t>
            </a:r>
            <a:r>
              <a:rPr lang="en-US" sz="1600" dirty="0" smtClean="0">
                <a:latin typeface="Courier New" pitchFamily="49" charset="0"/>
              </a:rPr>
              <a:t> read(</a:t>
            </a:r>
            <a:r>
              <a:rPr lang="en-US" sz="1600" dirty="0" err="1" smtClean="0">
                <a:latin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</a:rPr>
              <a:t>fd</a:t>
            </a:r>
            <a:r>
              <a:rPr lang="en-US" sz="1600" dirty="0" smtClean="0">
                <a:latin typeface="Courier New" pitchFamily="49" charset="0"/>
              </a:rPr>
              <a:t>, void *buffer, </a:t>
            </a:r>
            <a:r>
              <a:rPr lang="en-US" sz="1600" dirty="0" err="1" smtClean="0">
                <a:latin typeface="Courier New" pitchFamily="49" charset="0"/>
              </a:rPr>
              <a:t>size_t</a:t>
            </a:r>
            <a:r>
              <a:rPr lang="en-US" sz="1600" dirty="0" smtClean="0">
                <a:latin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</a:rPr>
              <a:t>max_count</a:t>
            </a:r>
            <a:r>
              <a:rPr lang="en-US" sz="1600" dirty="0" smtClean="0">
                <a:latin typeface="Courier New" pitchFamily="49" charset="0"/>
              </a:rPr>
              <a:t>); 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57200" y="2409074"/>
            <a:ext cx="7014176" cy="83099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smtClean="0">
                <a:solidFill>
                  <a:srgbClr val="800000"/>
                </a:solidFill>
                <a:latin typeface="Courier New" pitchFamily="49" charset="0"/>
              </a:rPr>
              <a:t>/* Write at most </a:t>
            </a:r>
            <a:r>
              <a:rPr lang="en-US" sz="1600" dirty="0" err="1" smtClean="0">
                <a:solidFill>
                  <a:srgbClr val="800000"/>
                </a:solidFill>
                <a:latin typeface="Courier New" pitchFamily="49" charset="0"/>
              </a:rPr>
              <a:t>max_count</a:t>
            </a:r>
            <a:r>
              <a:rPr lang="en-US" sz="1600" dirty="0" smtClean="0">
                <a:solidFill>
                  <a:srgbClr val="800000"/>
                </a:solidFill>
                <a:latin typeface="Courier New" pitchFamily="49" charset="0"/>
              </a:rPr>
              <a:t> bytes from buffer to file.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00000"/>
                </a:solidFill>
                <a:latin typeface="Courier New" pitchFamily="49" charset="0"/>
              </a:rPr>
              <a:t> </a:t>
            </a:r>
            <a:r>
              <a:rPr lang="en-US" sz="1600" dirty="0" smtClean="0">
                <a:solidFill>
                  <a:srgbClr val="800000"/>
                </a:solidFill>
                <a:latin typeface="Courier New" pitchFamily="49" charset="0"/>
              </a:rPr>
              <a:t>  Return number bytes written, or error value */</a:t>
            </a:r>
          </a:p>
          <a:p>
            <a:pPr>
              <a:lnSpc>
                <a:spcPct val="100000"/>
              </a:lnSpc>
            </a:pPr>
            <a:r>
              <a:rPr lang="en-US" sz="1600" dirty="0" err="1" smtClean="0">
                <a:latin typeface="Courier New" pitchFamily="49" charset="0"/>
              </a:rPr>
              <a:t>ssize_t</a:t>
            </a:r>
            <a:r>
              <a:rPr lang="en-US" sz="1600" dirty="0" smtClean="0">
                <a:latin typeface="Courier New" pitchFamily="49" charset="0"/>
              </a:rPr>
              <a:t> write(</a:t>
            </a:r>
            <a:r>
              <a:rPr lang="en-US" sz="1600" dirty="0" err="1" smtClean="0">
                <a:latin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</a:rPr>
              <a:t>fd</a:t>
            </a:r>
            <a:r>
              <a:rPr lang="en-US" sz="1600" dirty="0" smtClean="0">
                <a:latin typeface="Courier New" pitchFamily="49" charset="0"/>
              </a:rPr>
              <a:t>, void *buffer, </a:t>
            </a:r>
            <a:r>
              <a:rPr lang="en-US" sz="1600" dirty="0" err="1" smtClean="0">
                <a:latin typeface="Courier New" pitchFamily="49" charset="0"/>
              </a:rPr>
              <a:t>size_t</a:t>
            </a:r>
            <a:r>
              <a:rPr lang="en-US" sz="1600" dirty="0" smtClean="0">
                <a:latin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</a:rPr>
              <a:t>max_count</a:t>
            </a:r>
            <a:r>
              <a:rPr lang="en-US" sz="1600" dirty="0" smtClean="0">
                <a:latin typeface="Courier New" pitchFamily="49" charset="0"/>
              </a:rPr>
              <a:t>); </a:t>
            </a: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728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710782" cy="762000"/>
          </a:xfrm>
        </p:spPr>
        <p:txBody>
          <a:bodyPr/>
          <a:lstStyle/>
          <a:p>
            <a:r>
              <a:rPr lang="en-US" dirty="0" smtClean="0"/>
              <a:t>The RIO Package 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(CS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:APP Package)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366125" cy="4972050"/>
          </a:xfrm>
        </p:spPr>
        <p:txBody>
          <a:bodyPr/>
          <a:lstStyle/>
          <a:p>
            <a:r>
              <a:rPr lang="en-US" dirty="0" smtClean="0"/>
              <a:t>RIO is a set of wrappers that provide efficient and robust I/O in apps, such as network programs that are subject to short counts</a:t>
            </a:r>
          </a:p>
          <a:p>
            <a:r>
              <a:rPr lang="en-US" dirty="0" smtClean="0"/>
              <a:t>RIO provides two different kinds of functions</a:t>
            </a:r>
          </a:p>
          <a:p>
            <a:pPr lvl="1"/>
            <a:r>
              <a:rPr lang="en-US" dirty="0" err="1" smtClean="0"/>
              <a:t>Unbuffered</a:t>
            </a:r>
            <a:r>
              <a:rPr lang="en-US" dirty="0" smtClean="0"/>
              <a:t> input and output of binary data</a:t>
            </a:r>
          </a:p>
          <a:p>
            <a:pPr lvl="2"/>
            <a:r>
              <a:rPr lang="en-US" b="1" dirty="0" err="1" smtClean="0">
                <a:latin typeface="Courier New"/>
                <a:cs typeface="Courier New"/>
              </a:rPr>
              <a:t>rio_readn</a:t>
            </a:r>
            <a:r>
              <a:rPr lang="en-US" dirty="0" smtClean="0"/>
              <a:t> and </a:t>
            </a:r>
            <a:r>
              <a:rPr lang="en-US" b="1" dirty="0" err="1" smtClean="0">
                <a:latin typeface="Courier New"/>
                <a:cs typeface="Courier New"/>
              </a:rPr>
              <a:t>rio_writen</a:t>
            </a:r>
            <a:endParaRPr lang="en-US" b="1" dirty="0" smtClean="0">
              <a:latin typeface="Courier New"/>
              <a:cs typeface="Courier New"/>
            </a:endParaRPr>
          </a:p>
          <a:p>
            <a:pPr lvl="1"/>
            <a:r>
              <a:rPr lang="en-US" dirty="0" smtClean="0"/>
              <a:t>Buffered input of text lines and binary data</a:t>
            </a:r>
          </a:p>
          <a:p>
            <a:pPr lvl="2"/>
            <a:r>
              <a:rPr lang="en-US" b="1" dirty="0" err="1" smtClean="0">
                <a:latin typeface="Courier New"/>
                <a:cs typeface="Courier New"/>
              </a:rPr>
              <a:t>rio_readlineb</a:t>
            </a:r>
            <a:r>
              <a:rPr lang="en-US" dirty="0" smtClean="0"/>
              <a:t> and </a:t>
            </a:r>
            <a:r>
              <a:rPr lang="en-US" b="1" dirty="0" err="1" smtClean="0">
                <a:latin typeface="Courier New"/>
                <a:cs typeface="Courier New"/>
              </a:rPr>
              <a:t>rio_readnb</a:t>
            </a:r>
            <a:endParaRPr lang="en-US" b="1" dirty="0" smtClean="0">
              <a:latin typeface="Courier New"/>
              <a:cs typeface="Courier New"/>
            </a:endParaRPr>
          </a:p>
          <a:p>
            <a:pPr lvl="2"/>
            <a:r>
              <a:rPr lang="en-US" dirty="0" smtClean="0"/>
              <a:t>Buffered RIO routines are thread-safe and can be interleaved arbitrarily on the same descriptor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Download from </a:t>
            </a:r>
            <a:r>
              <a:rPr lang="en-US" dirty="0" smtClean="0">
                <a:hlinkClick r:id="rId3"/>
              </a:rPr>
              <a:t>http://csapp.cs.cmu.edu/3e/code.html</a:t>
            </a:r>
            <a:r>
              <a:rPr lang="en-US" dirty="0" smtClean="0"/>
              <a:t>  </a:t>
            </a:r>
          </a:p>
          <a:p>
            <a:pPr lvl="1">
              <a:buFont typeface="Wingdings" charset="0"/>
              <a:buChar char="à"/>
            </a:pPr>
            <a:r>
              <a:rPr lang="en-US" b="1" dirty="0" err="1" smtClean="0">
                <a:latin typeface="Courier New"/>
                <a:cs typeface="Courier New"/>
              </a:rPr>
              <a:t>src</a:t>
            </a:r>
            <a:r>
              <a:rPr lang="en-US" b="1" dirty="0" smtClean="0">
                <a:latin typeface="Courier New"/>
                <a:cs typeface="Courier New"/>
              </a:rPr>
              <a:t>/</a:t>
            </a:r>
            <a:r>
              <a:rPr lang="en-US" b="1" dirty="0" err="1" smtClean="0">
                <a:latin typeface="Courier New"/>
                <a:cs typeface="Courier New"/>
              </a:rPr>
              <a:t>csapp.c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latin typeface="Courier New"/>
                <a:cs typeface="Courier New"/>
              </a:rPr>
              <a:t>include/</a:t>
            </a:r>
            <a:r>
              <a:rPr lang="en-US" b="1" dirty="0" err="1" smtClean="0">
                <a:latin typeface="Courier New"/>
                <a:cs typeface="Courier New"/>
              </a:rPr>
              <a:t>csapp.h</a:t>
            </a:r>
            <a:endParaRPr lang="en-US" b="1" dirty="0" smtClean="0">
              <a:latin typeface="Courier New"/>
              <a:cs typeface="Courier New"/>
            </a:endParaRPr>
          </a:p>
          <a:p>
            <a:pPr lvl="1">
              <a:buFont typeface="Wingdings" charset="0"/>
              <a:buChar char="à"/>
            </a:pPr>
            <a:r>
              <a:rPr lang="en-US" b="1" dirty="0" smtClean="0">
                <a:latin typeface="Courier New"/>
                <a:cs typeface="Courier New"/>
              </a:rPr>
              <a:t>/home/</a:t>
            </a:r>
            <a:r>
              <a:rPr lang="en-US" b="1" dirty="0" err="1" smtClean="0">
                <a:latin typeface="Courier New"/>
                <a:cs typeface="Courier New"/>
              </a:rPr>
              <a:t>wmartens</a:t>
            </a:r>
            <a:r>
              <a:rPr lang="en-US" b="1" dirty="0" smtClean="0">
                <a:latin typeface="Courier New"/>
                <a:cs typeface="Courier New"/>
              </a:rPr>
              <a:t>/public/lecture5</a:t>
            </a:r>
            <a:endParaRPr lang="en-US" b="1" dirty="0" smtClean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3422327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Unbuffered RIO Input and Output</a:t>
            </a:r>
          </a:p>
        </p:txBody>
      </p:sp>
      <p:sp>
        <p:nvSpPr>
          <p:cNvPr id="75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713" y="1220788"/>
            <a:ext cx="8701087" cy="5180012"/>
          </a:xfrm>
        </p:spPr>
        <p:txBody>
          <a:bodyPr/>
          <a:lstStyle/>
          <a:p>
            <a:r>
              <a:rPr lang="en-US" dirty="0"/>
              <a:t>Same interface as Unix </a:t>
            </a:r>
            <a:r>
              <a:rPr lang="en-US" dirty="0">
                <a:latin typeface="Courier New" pitchFamily="49" charset="0"/>
              </a:rPr>
              <a:t>read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write</a:t>
            </a:r>
          </a:p>
          <a:p>
            <a:r>
              <a:rPr lang="en-US" dirty="0"/>
              <a:t>Especially useful for transferring data on network sockets</a:t>
            </a: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</a:endParaRPr>
          </a:p>
          <a:p>
            <a:pPr lvl="1"/>
            <a:r>
              <a:rPr lang="en-US" b="1" dirty="0" err="1">
                <a:latin typeface="Courier New" pitchFamily="49" charset="0"/>
              </a:rPr>
              <a:t>rio_readn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returns short count only </a:t>
            </a:r>
            <a:r>
              <a:rPr lang="en-US" dirty="0" smtClean="0"/>
              <a:t>if it </a:t>
            </a:r>
            <a:r>
              <a:rPr lang="en-US" dirty="0"/>
              <a:t>encounters </a:t>
            </a:r>
            <a:r>
              <a:rPr lang="en-US" dirty="0" smtClean="0"/>
              <a:t>EOF</a:t>
            </a:r>
            <a:endParaRPr lang="en-US" dirty="0"/>
          </a:p>
          <a:p>
            <a:pPr lvl="2"/>
            <a:r>
              <a:rPr lang="en-US" dirty="0"/>
              <a:t>Only use it when you know how many bytes to read</a:t>
            </a:r>
          </a:p>
          <a:p>
            <a:pPr lvl="1"/>
            <a:r>
              <a:rPr lang="en-US" b="1" dirty="0" err="1" smtClean="0">
                <a:latin typeface="Courier New" pitchFamily="49" charset="0"/>
              </a:rPr>
              <a:t>rio_writen</a:t>
            </a:r>
            <a:r>
              <a:rPr lang="en-US" b="1" dirty="0" smtClean="0">
                <a:latin typeface="Courier New" pitchFamily="49" charset="0"/>
              </a:rPr>
              <a:t> </a:t>
            </a:r>
            <a:r>
              <a:rPr lang="en-US" dirty="0" smtClean="0"/>
              <a:t>never </a:t>
            </a:r>
            <a:r>
              <a:rPr lang="en-US" dirty="0"/>
              <a:t>returns a short </a:t>
            </a:r>
            <a:r>
              <a:rPr lang="en-US" dirty="0" smtClean="0"/>
              <a:t>count</a:t>
            </a:r>
            <a:endParaRPr lang="en-US" dirty="0"/>
          </a:p>
          <a:p>
            <a:pPr lvl="1"/>
            <a:r>
              <a:rPr lang="en-US" dirty="0"/>
              <a:t>Calls to </a:t>
            </a:r>
            <a:r>
              <a:rPr lang="en-US" b="1" dirty="0" err="1">
                <a:latin typeface="Courier New" pitchFamily="49" charset="0"/>
              </a:rPr>
              <a:t>rio_readn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>
                <a:latin typeface="Courier New" pitchFamily="49" charset="0"/>
              </a:rPr>
              <a:t>rio_writen</a:t>
            </a:r>
            <a:r>
              <a:rPr lang="en-US" b="1" dirty="0"/>
              <a:t> </a:t>
            </a:r>
            <a:r>
              <a:rPr lang="en-US" dirty="0"/>
              <a:t>can be interleaved arbitrarily on the same </a:t>
            </a:r>
            <a:r>
              <a:rPr lang="en-US" dirty="0" smtClean="0"/>
              <a:t>descriptor</a:t>
            </a:r>
            <a:endParaRPr lang="en-US" dirty="0"/>
          </a:p>
        </p:txBody>
      </p:sp>
      <p:sp>
        <p:nvSpPr>
          <p:cNvPr id="758788" name="Text Box 4"/>
          <p:cNvSpPr txBox="1">
            <a:spLocks noChangeArrowheads="1"/>
          </p:cNvSpPr>
          <p:nvPr/>
        </p:nvSpPr>
        <p:spPr bwMode="auto">
          <a:xfrm>
            <a:off x="818592" y="2316540"/>
            <a:ext cx="7478970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rio_writen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smtClean="0">
                <a:latin typeface="Courier New" pitchFamily="49" charset="0"/>
              </a:rPr>
              <a:t> </a:t>
            </a:r>
            <a:r>
              <a:rPr lang="en-US" sz="1600" dirty="0" smtClean="0">
                <a:solidFill>
                  <a:srgbClr val="990000"/>
                </a:solidFill>
                <a:latin typeface="Calibri" pitchFamily="34" charset="0"/>
              </a:rPr>
              <a:t>Return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: num. bytes transferred if OK,</a:t>
            </a:r>
            <a:r>
              <a:rPr lang="en-US" sz="1600" i="1" dirty="0">
                <a:solidFill>
                  <a:srgbClr val="990000"/>
                </a:solidFill>
                <a:latin typeface="Calibri" pitchFamily="34" charset="0"/>
              </a:rPr>
              <a:t>  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0 on EOF (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rio_readn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 only), -1 on error</a:t>
            </a:r>
            <a:r>
              <a:rPr lang="en-US" sz="1600" i="1" dirty="0">
                <a:solidFill>
                  <a:srgbClr val="990000"/>
                </a:solidFill>
                <a:latin typeface="Calibri" pitchFamily="34" charset="0"/>
              </a:rPr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286174163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592093" cy="762000"/>
          </a:xfrm>
        </p:spPr>
        <p:txBody>
          <a:bodyPr/>
          <a:lstStyle/>
          <a:p>
            <a:r>
              <a:rPr lang="en-US"/>
              <a:t>Implementation of </a:t>
            </a:r>
            <a:r>
              <a:rPr lang="en-US">
                <a:latin typeface="Courier New" pitchFamily="49" charset="0"/>
              </a:rPr>
              <a:t>rio_readn</a:t>
            </a:r>
          </a:p>
        </p:txBody>
      </p:sp>
      <p:sp>
        <p:nvSpPr>
          <p:cNvPr id="760835" name="Text Box 3"/>
          <p:cNvSpPr txBox="1">
            <a:spLocks noChangeArrowheads="1"/>
          </p:cNvSpPr>
          <p:nvPr/>
        </p:nvSpPr>
        <p:spPr bwMode="auto">
          <a:xfrm>
            <a:off x="357018" y="990600"/>
            <a:ext cx="8710782" cy="575542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l"/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</a:t>
            </a:r>
          </a:p>
          <a:p>
            <a:pPr algn="l"/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*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rio_readn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-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Robustly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read n bytes (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unbuffered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*/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 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{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nleft</a:t>
            </a:r>
            <a:r>
              <a:rPr lang="en-US" sz="1600" dirty="0">
                <a:latin typeface="Courier New" pitchFamily="49" charset="0"/>
              </a:rPr>
              <a:t> = n;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nread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char *</a:t>
            </a:r>
            <a:r>
              <a:rPr lang="en-US" sz="1600" dirty="0" err="1">
                <a:latin typeface="Courier New" pitchFamily="49" charset="0"/>
              </a:rPr>
              <a:t>bufp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while (</a:t>
            </a:r>
            <a:r>
              <a:rPr lang="en-US" sz="1600" dirty="0" err="1">
                <a:solidFill>
                  <a:srgbClr val="0070C0"/>
                </a:solidFill>
                <a:latin typeface="Courier New" pitchFamily="49" charset="0"/>
              </a:rPr>
              <a:t>nleft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 &gt; 0) </a:t>
            </a:r>
            <a:r>
              <a:rPr lang="en-US" sz="1600" dirty="0">
                <a:latin typeface="Courier New" pitchFamily="49" charset="0"/>
              </a:rPr>
              <a:t>{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if ((</a:t>
            </a:r>
            <a:r>
              <a:rPr lang="en-US" sz="1600" dirty="0" err="1">
                <a:latin typeface="Courier New" pitchFamily="49" charset="0"/>
              </a:rPr>
              <a:t>nread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read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bufp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nleft</a:t>
            </a:r>
            <a:r>
              <a:rPr lang="en-US" sz="1600" dirty="0">
                <a:latin typeface="Courier New" pitchFamily="49" charset="0"/>
              </a:rPr>
              <a:t>)) &lt; 0) {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if (</a:t>
            </a:r>
            <a:r>
              <a:rPr lang="en-US" sz="1600" dirty="0" err="1">
                <a:solidFill>
                  <a:srgbClr val="0070C0"/>
                </a:solidFill>
                <a:latin typeface="Courier New" pitchFamily="49" charset="0"/>
              </a:rPr>
              <a:t>errno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 == EINTR)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Interrupted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by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sig handler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return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</a:rPr>
              <a:t>nread</a:t>
            </a:r>
            <a:r>
              <a:rPr lang="en-US" sz="1600" dirty="0">
                <a:latin typeface="Courier New" pitchFamily="49" charset="0"/>
              </a:rPr>
              <a:t> = 0;      </a:t>
            </a:r>
            <a:r>
              <a:rPr lang="en-US" sz="1600" dirty="0" smtClean="0">
                <a:latin typeface="Courier New" pitchFamily="49" charset="0"/>
              </a:rPr>
              <a:t>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and call read() again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    else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	return -1;      </a:t>
            </a:r>
            <a:r>
              <a:rPr lang="en-US" sz="1600" dirty="0" smtClean="0">
                <a:latin typeface="Courier New" pitchFamily="49" charset="0"/>
              </a:rPr>
              <a:t>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errno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set by read() */ 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} 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else if (</a:t>
            </a:r>
            <a:r>
              <a:rPr lang="en-US" sz="1600" dirty="0" err="1">
                <a:solidFill>
                  <a:srgbClr val="0070C0"/>
                </a:solidFill>
                <a:latin typeface="Courier New" pitchFamily="49" charset="0"/>
              </a:rPr>
              <a:t>nread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 == 0)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    break;             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EOF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nleft</a:t>
            </a:r>
            <a:r>
              <a:rPr lang="en-US" sz="1600" dirty="0">
                <a:latin typeface="Courier New" pitchFamily="49" charset="0"/>
              </a:rPr>
              <a:t> -= </a:t>
            </a:r>
            <a:r>
              <a:rPr lang="en-US" sz="1600" dirty="0" err="1">
                <a:latin typeface="Courier New" pitchFamily="49" charset="0"/>
              </a:rPr>
              <a:t>nread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bufp</a:t>
            </a:r>
            <a:r>
              <a:rPr lang="en-US" sz="1600" dirty="0">
                <a:latin typeface="Courier New" pitchFamily="49" charset="0"/>
              </a:rPr>
              <a:t> += </a:t>
            </a:r>
            <a:r>
              <a:rPr lang="en-US" sz="1600" dirty="0" err="1">
                <a:latin typeface="Courier New" pitchFamily="49" charset="0"/>
              </a:rPr>
              <a:t>nread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}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return (n - </a:t>
            </a:r>
            <a:r>
              <a:rPr lang="en-US" sz="1600" dirty="0" err="1">
                <a:latin typeface="Courier New" pitchFamily="49" charset="0"/>
              </a:rPr>
              <a:t>nleft</a:t>
            </a:r>
            <a:r>
              <a:rPr lang="en-US" sz="1600" dirty="0">
                <a:latin typeface="Courier New" pitchFamily="49" charset="0"/>
              </a:rPr>
              <a:t>);    </a:t>
            </a:r>
            <a:r>
              <a:rPr lang="en-US" sz="1600" dirty="0" smtClean="0">
                <a:latin typeface="Courier New" pitchFamily="49" charset="0"/>
              </a:rPr>
              <a:t>    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R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eturn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&gt;= 0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3480" y="6376690"/>
            <a:ext cx="115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csapp.c</a:t>
            </a:r>
            <a:endParaRPr lang="en-US" sz="1800" dirty="0" smtClean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5807370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Buffered RIO Input Functions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2936" y="1219200"/>
            <a:ext cx="8307388" cy="5334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Efficiently read text lines and binary data from a file partially cached in an internal memory buffer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dirty="0"/>
          </a:p>
          <a:p>
            <a:pPr lvl="1">
              <a:spcBef>
                <a:spcPct val="0"/>
              </a:spcBef>
            </a:pPr>
            <a:endParaRPr lang="en-US" dirty="0">
              <a:latin typeface="Courier New" pitchFamily="49" charset="0"/>
            </a:endParaRPr>
          </a:p>
          <a:p>
            <a:pPr lvl="1">
              <a:spcBef>
                <a:spcPct val="0"/>
              </a:spcBef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rio_readlineb</a:t>
            </a:r>
            <a:r>
              <a:rPr lang="en-US" dirty="0"/>
              <a:t> reads a </a:t>
            </a:r>
            <a:r>
              <a:rPr lang="en-US" b="1" i="1" dirty="0">
                <a:solidFill>
                  <a:srgbClr val="0070C0"/>
                </a:solidFill>
              </a:rPr>
              <a:t>text line</a:t>
            </a:r>
            <a:r>
              <a:rPr lang="en-US" dirty="0"/>
              <a:t> of up to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from file </a:t>
            </a:r>
            <a:r>
              <a:rPr lang="en-US" b="1" dirty="0" err="1">
                <a:latin typeface="Courier New" pitchFamily="49" charset="0"/>
              </a:rPr>
              <a:t>fd</a:t>
            </a:r>
            <a:r>
              <a:rPr lang="en-US" dirty="0"/>
              <a:t> and stores the line in </a:t>
            </a:r>
            <a:r>
              <a:rPr lang="en-US" b="1" dirty="0" err="1">
                <a:latin typeface="Courier New" pitchFamily="49" charset="0"/>
              </a:rPr>
              <a:t>usrbuf</a:t>
            </a:r>
            <a:endParaRPr lang="en-US" b="1" dirty="0"/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Especially useful for reading text lines from network sockets</a:t>
            </a:r>
          </a:p>
          <a:p>
            <a:pPr lvl="1">
              <a:spcBef>
                <a:spcPct val="0"/>
              </a:spcBef>
            </a:pPr>
            <a:r>
              <a:rPr lang="en-US" dirty="0"/>
              <a:t>Stopping conditions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read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EOF encountered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Newline (‘</a:t>
            </a:r>
            <a:r>
              <a:rPr lang="en-US" b="1" dirty="0">
                <a:latin typeface="Courier New" pitchFamily="49" charset="0"/>
              </a:rPr>
              <a:t>\n</a:t>
            </a:r>
            <a:r>
              <a:rPr lang="en-US" dirty="0"/>
              <a:t>’) encountered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endParaRPr lang="en-US" dirty="0"/>
          </a:p>
        </p:txBody>
      </p:sp>
      <p:sp>
        <p:nvSpPr>
          <p:cNvPr id="766980" name="Text Box 4"/>
          <p:cNvSpPr txBox="1">
            <a:spLocks noChangeArrowheads="1"/>
          </p:cNvSpPr>
          <p:nvPr/>
        </p:nvSpPr>
        <p:spPr bwMode="auto">
          <a:xfrm>
            <a:off x="106363" y="4132263"/>
            <a:ext cx="92075" cy="420687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endParaRPr lang="en-US" sz="2400">
              <a:latin typeface="Courier New" pitchFamily="49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81914" y="2057400"/>
            <a:ext cx="7745069" cy="206210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rio_readinitb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rio_readlineb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maxlen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                 </a:t>
            </a:r>
            <a:r>
              <a:rPr lang="en-US" sz="1600" dirty="0" smtClean="0">
                <a:latin typeface="Courier New" pitchFamily="49" charset="0"/>
              </a:rPr>
              <a:t>     </a:t>
            </a:r>
            <a:r>
              <a:rPr lang="en-US" sz="1600" dirty="0" smtClean="0">
                <a:solidFill>
                  <a:srgbClr val="990000"/>
                </a:solidFill>
                <a:latin typeface="Calibri" pitchFamily="34" charset="0"/>
              </a:rPr>
              <a:t>Return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: num. bytes read if OK, 0 on EOF, -1 on error</a:t>
            </a:r>
            <a:endParaRPr lang="en-US" sz="1600" i="1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60732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Buffered RIO Input Functions (cont)</a:t>
            </a:r>
          </a:p>
        </p:txBody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3429000"/>
            <a:ext cx="8307388" cy="2895600"/>
          </a:xfrm>
        </p:spPr>
        <p:txBody>
          <a:bodyPr/>
          <a:lstStyle/>
          <a:p>
            <a:pPr lvl="1">
              <a:lnSpc>
                <a:spcPct val="90000"/>
              </a:lnSpc>
              <a:buNone/>
            </a:pPr>
            <a:endParaRPr 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rio_readnb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reads up to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i="1" dirty="0">
                <a:solidFill>
                  <a:srgbClr val="0070C0"/>
                </a:solidFill>
              </a:rPr>
              <a:t>bytes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from file </a:t>
            </a:r>
            <a:r>
              <a:rPr lang="en-US" b="1" dirty="0" err="1">
                <a:latin typeface="Courier New" pitchFamily="49" charset="0"/>
              </a:rPr>
              <a:t>fd</a:t>
            </a:r>
            <a:endParaRPr lang="en-US" b="1" dirty="0"/>
          </a:p>
          <a:p>
            <a:pPr lvl="1">
              <a:lnSpc>
                <a:spcPct val="90000"/>
              </a:lnSpc>
            </a:pPr>
            <a:r>
              <a:rPr lang="en-US" dirty="0"/>
              <a:t>Stopping conditions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</a:rPr>
              <a:t>maxlen</a:t>
            </a:r>
            <a:r>
              <a:rPr lang="en-US" dirty="0"/>
              <a:t> bytes read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EOF encountered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Calls to </a:t>
            </a:r>
            <a:r>
              <a:rPr lang="en-US" b="1" dirty="0" err="1">
                <a:latin typeface="Courier New" pitchFamily="49" charset="0"/>
              </a:rPr>
              <a:t>rio_readlineb</a:t>
            </a:r>
            <a:r>
              <a:rPr lang="en-US" dirty="0"/>
              <a:t> and </a:t>
            </a:r>
            <a:r>
              <a:rPr lang="en-US" b="1" dirty="0" err="1">
                <a:latin typeface="Courier New" pitchFamily="49" charset="0"/>
              </a:rPr>
              <a:t>rio_readnb</a:t>
            </a:r>
            <a:r>
              <a:rPr lang="en-US" dirty="0"/>
              <a:t> can be interleaved arbitrarily on the same descriptor</a:t>
            </a:r>
          </a:p>
          <a:p>
            <a:pPr lvl="2">
              <a:lnSpc>
                <a:spcPct val="97000"/>
              </a:lnSpc>
            </a:pPr>
            <a:r>
              <a:rPr lang="en-US" b="1" kern="1200" dirty="0">
                <a:solidFill>
                  <a:srgbClr val="990000"/>
                </a:solidFill>
                <a:ea typeface="+mn-ea"/>
                <a:cs typeface="+mn-cs"/>
              </a:rPr>
              <a:t>Warning: </a:t>
            </a:r>
            <a:r>
              <a:rPr lang="en-US" dirty="0"/>
              <a:t>Don’t interleave with calls to </a:t>
            </a:r>
            <a:r>
              <a:rPr lang="en-US" b="1" dirty="0" err="1">
                <a:latin typeface="Courier New" pitchFamily="49" charset="0"/>
              </a:rPr>
              <a:t>rio_readn</a:t>
            </a:r>
            <a:endParaRPr lang="en-US" b="1" dirty="0">
              <a:latin typeface="Courier New" pitchFamily="49" charset="0"/>
            </a:endParaRPr>
          </a:p>
        </p:txBody>
      </p:sp>
      <p:sp>
        <p:nvSpPr>
          <p:cNvPr id="769028" name="Text Box 4"/>
          <p:cNvSpPr txBox="1">
            <a:spLocks noChangeArrowheads="1"/>
          </p:cNvSpPr>
          <p:nvPr/>
        </p:nvSpPr>
        <p:spPr bwMode="auto">
          <a:xfrm>
            <a:off x="106363" y="4132263"/>
            <a:ext cx="92075" cy="420687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endParaRPr lang="en-US" sz="2400">
              <a:latin typeface="Courier New" pitchFamily="49" charset="0"/>
            </a:endParaRPr>
          </a:p>
        </p:txBody>
      </p:sp>
      <p:sp>
        <p:nvSpPr>
          <p:cNvPr id="769029" name="Text Box 5"/>
          <p:cNvSpPr txBox="1">
            <a:spLocks noChangeArrowheads="1"/>
          </p:cNvSpPr>
          <p:nvPr/>
        </p:nvSpPr>
        <p:spPr bwMode="auto">
          <a:xfrm>
            <a:off x="533400" y="1366897"/>
            <a:ext cx="7745069" cy="206210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rio_readinitb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rio_readlineb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maxlen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 algn="l"/>
            <a:r>
              <a:rPr lang="en-US" sz="1600" dirty="0" err="1">
                <a:latin typeface="Courier New" pitchFamily="49" charset="0"/>
              </a:rPr>
              <a:t>ssize_t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rio_readnb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rp</a:t>
            </a:r>
            <a:r>
              <a:rPr lang="en-US" sz="1600" dirty="0">
                <a:latin typeface="Courier New" pitchFamily="49" charset="0"/>
              </a:rPr>
              <a:t>, void *</a:t>
            </a:r>
            <a:r>
              <a:rPr lang="en-US" sz="1600" dirty="0" err="1">
                <a:latin typeface="Courier New" pitchFamily="49" charset="0"/>
              </a:rPr>
              <a:t>usrbuf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</a:rPr>
              <a:t> n);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                     </a:t>
            </a:r>
            <a:r>
              <a:rPr lang="en-US" sz="1600" dirty="0" smtClean="0">
                <a:latin typeface="Courier New" pitchFamily="49" charset="0"/>
              </a:rPr>
              <a:t>     </a:t>
            </a:r>
            <a:r>
              <a:rPr lang="en-US" sz="1600" dirty="0" smtClean="0">
                <a:solidFill>
                  <a:srgbClr val="990000"/>
                </a:solidFill>
                <a:latin typeface="Calibri" pitchFamily="34" charset="0"/>
              </a:rPr>
              <a:t>Return</a:t>
            </a:r>
            <a:r>
              <a:rPr lang="en-US" sz="1600" dirty="0">
                <a:solidFill>
                  <a:srgbClr val="990000"/>
                </a:solidFill>
                <a:latin typeface="Calibri" pitchFamily="34" charset="0"/>
              </a:rPr>
              <a:t>: num. bytes read if OK, 0 on EOF, -1 on error</a:t>
            </a:r>
            <a:endParaRPr lang="en-US" sz="1600" i="1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3158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ChangeArrowheads="1"/>
          </p:cNvSpPr>
          <p:nvPr/>
        </p:nvSpPr>
        <p:spPr bwMode="auto">
          <a:xfrm>
            <a:off x="4724400" y="3040062"/>
            <a:ext cx="2362200" cy="441325"/>
          </a:xfrm>
          <a:prstGeom prst="rect">
            <a:avLst/>
          </a:prstGeom>
          <a:solidFill>
            <a:srgbClr val="F1C7C7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unread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Buffered I/O: Implementation</a:t>
            </a:r>
          </a:p>
        </p:txBody>
      </p:sp>
      <p:sp>
        <p:nvSpPr>
          <p:cNvPr id="7628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3960812"/>
          </a:xfrm>
        </p:spPr>
        <p:txBody>
          <a:bodyPr/>
          <a:lstStyle/>
          <a:p>
            <a:r>
              <a:rPr lang="en-US" dirty="0"/>
              <a:t>For reading from file</a:t>
            </a:r>
          </a:p>
          <a:p>
            <a:r>
              <a:rPr lang="en-US" dirty="0"/>
              <a:t>File has associated buffer to hold bytes that have been read from file but not yet read by user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 smtClean="0"/>
          </a:p>
          <a:p>
            <a:r>
              <a:rPr lang="en-US" dirty="0" smtClean="0"/>
              <a:t>Layered </a:t>
            </a:r>
            <a:r>
              <a:rPr lang="en-US" dirty="0"/>
              <a:t>on Unix</a:t>
            </a:r>
            <a:r>
              <a:rPr lang="en-US" dirty="0" smtClean="0"/>
              <a:t> file:</a:t>
            </a:r>
            <a:endParaRPr lang="en-US" dirty="0"/>
          </a:p>
        </p:txBody>
      </p:sp>
      <p:sp>
        <p:nvSpPr>
          <p:cNvPr id="762885" name="Rectangle 5"/>
          <p:cNvSpPr>
            <a:spLocks noChangeArrowheads="1"/>
          </p:cNvSpPr>
          <p:nvPr/>
        </p:nvSpPr>
        <p:spPr bwMode="auto">
          <a:xfrm>
            <a:off x="2362200" y="3040062"/>
            <a:ext cx="2362200" cy="441325"/>
          </a:xfrm>
          <a:prstGeom prst="rect">
            <a:avLst/>
          </a:prstGeom>
          <a:solidFill>
            <a:srgbClr val="D5F1C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already read</a:t>
            </a:r>
          </a:p>
        </p:txBody>
      </p:sp>
      <p:sp>
        <p:nvSpPr>
          <p:cNvPr id="762886" name="Rectangle 6"/>
          <p:cNvSpPr>
            <a:spLocks noChangeArrowheads="1"/>
          </p:cNvSpPr>
          <p:nvPr/>
        </p:nvSpPr>
        <p:spPr bwMode="auto">
          <a:xfrm>
            <a:off x="2362200" y="3040062"/>
            <a:ext cx="6096000" cy="44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887" name="Text Box 7"/>
          <p:cNvSpPr txBox="1">
            <a:spLocks noChangeArrowheads="1"/>
          </p:cNvSpPr>
          <p:nvPr/>
        </p:nvSpPr>
        <p:spPr bwMode="auto">
          <a:xfrm>
            <a:off x="1498697" y="3056538"/>
            <a:ext cx="8470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Buffer</a:t>
            </a:r>
          </a:p>
        </p:txBody>
      </p:sp>
      <p:sp>
        <p:nvSpPr>
          <p:cNvPr id="762888" name="Arc 8"/>
          <p:cNvSpPr>
            <a:spLocks/>
          </p:cNvSpPr>
          <p:nvPr/>
        </p:nvSpPr>
        <p:spPr bwMode="auto">
          <a:xfrm rot="-5400000" flipH="1" flipV="1">
            <a:off x="1978110" y="3418829"/>
            <a:ext cx="304800" cy="46166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889" name="Arc 9"/>
          <p:cNvSpPr>
            <a:spLocks/>
          </p:cNvSpPr>
          <p:nvPr/>
        </p:nvSpPr>
        <p:spPr bwMode="auto">
          <a:xfrm rot="-5400000" flipH="1" flipV="1">
            <a:off x="4264110" y="3495029"/>
            <a:ext cx="457200" cy="46166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890" name="Rectangle 10"/>
          <p:cNvSpPr>
            <a:spLocks noChangeArrowheads="1"/>
          </p:cNvSpPr>
          <p:nvPr/>
        </p:nvSpPr>
        <p:spPr bwMode="auto">
          <a:xfrm>
            <a:off x="720810" y="3649662"/>
            <a:ext cx="1039813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>
                <a:latin typeface="Courier New" pitchFamily="49" charset="0"/>
              </a:rPr>
              <a:t>rio_buf</a:t>
            </a:r>
          </a:p>
        </p:txBody>
      </p:sp>
      <p:sp>
        <p:nvSpPr>
          <p:cNvPr id="762891" name="Rectangle 11"/>
          <p:cNvSpPr>
            <a:spLocks noChangeArrowheads="1"/>
          </p:cNvSpPr>
          <p:nvPr/>
        </p:nvSpPr>
        <p:spPr bwMode="auto">
          <a:xfrm>
            <a:off x="2702010" y="3802062"/>
            <a:ext cx="160020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>
                <a:latin typeface="Courier New" pitchFamily="49" charset="0"/>
              </a:rPr>
              <a:t>rio_bufptr</a:t>
            </a:r>
          </a:p>
        </p:txBody>
      </p:sp>
      <p:sp>
        <p:nvSpPr>
          <p:cNvPr id="762892" name="Line 12"/>
          <p:cNvSpPr>
            <a:spLocks noChangeShapeType="1"/>
          </p:cNvSpPr>
          <p:nvPr/>
        </p:nvSpPr>
        <p:spPr bwMode="auto">
          <a:xfrm flipV="1">
            <a:off x="4724400" y="2659062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893" name="Line 13"/>
          <p:cNvSpPr>
            <a:spLocks noChangeShapeType="1"/>
          </p:cNvSpPr>
          <p:nvPr/>
        </p:nvSpPr>
        <p:spPr bwMode="auto">
          <a:xfrm flipV="1">
            <a:off x="7086600" y="2659062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894" name="Line 14"/>
          <p:cNvSpPr>
            <a:spLocks noChangeShapeType="1"/>
          </p:cNvSpPr>
          <p:nvPr/>
        </p:nvSpPr>
        <p:spPr bwMode="auto">
          <a:xfrm>
            <a:off x="4724400" y="2811462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762895" name="Rectangle 15"/>
          <p:cNvSpPr>
            <a:spLocks noChangeArrowheads="1"/>
          </p:cNvSpPr>
          <p:nvPr/>
        </p:nvSpPr>
        <p:spPr bwMode="auto">
          <a:xfrm>
            <a:off x="5257800" y="2659062"/>
            <a:ext cx="1219200" cy="3127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>
                <a:latin typeface="Courier New" pitchFamily="49" charset="0"/>
              </a:rPr>
              <a:t>rio_cnt</a:t>
            </a:r>
          </a:p>
        </p:txBody>
      </p:sp>
      <p:sp>
        <p:nvSpPr>
          <p:cNvPr id="762896" name="Rectangle 16"/>
          <p:cNvSpPr>
            <a:spLocks noChangeArrowheads="1"/>
          </p:cNvSpPr>
          <p:nvPr/>
        </p:nvSpPr>
        <p:spPr bwMode="auto">
          <a:xfrm>
            <a:off x="5105400" y="5452646"/>
            <a:ext cx="2362200" cy="441325"/>
          </a:xfrm>
          <a:prstGeom prst="rect">
            <a:avLst/>
          </a:prstGeom>
          <a:solidFill>
            <a:srgbClr val="F1C7C7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unread</a:t>
            </a:r>
          </a:p>
        </p:txBody>
      </p:sp>
      <p:sp>
        <p:nvSpPr>
          <p:cNvPr id="762897" name="Rectangle 17"/>
          <p:cNvSpPr>
            <a:spLocks noChangeArrowheads="1"/>
          </p:cNvSpPr>
          <p:nvPr/>
        </p:nvSpPr>
        <p:spPr bwMode="auto">
          <a:xfrm>
            <a:off x="2743200" y="5452646"/>
            <a:ext cx="2362200" cy="441325"/>
          </a:xfrm>
          <a:prstGeom prst="rect">
            <a:avLst/>
          </a:prstGeom>
          <a:solidFill>
            <a:srgbClr val="D5F1C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already read</a:t>
            </a:r>
          </a:p>
        </p:txBody>
      </p:sp>
      <p:sp>
        <p:nvSpPr>
          <p:cNvPr id="762898" name="Rectangle 18"/>
          <p:cNvSpPr>
            <a:spLocks noChangeArrowheads="1"/>
          </p:cNvSpPr>
          <p:nvPr/>
        </p:nvSpPr>
        <p:spPr bwMode="auto">
          <a:xfrm>
            <a:off x="762000" y="5452646"/>
            <a:ext cx="8229600" cy="44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762899" name="Rectangle 19"/>
          <p:cNvSpPr>
            <a:spLocks noChangeArrowheads="1"/>
          </p:cNvSpPr>
          <p:nvPr/>
        </p:nvSpPr>
        <p:spPr bwMode="auto">
          <a:xfrm>
            <a:off x="290513" y="5452646"/>
            <a:ext cx="2452687" cy="4413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 smtClean="0">
                <a:latin typeface="Calibri" pitchFamily="34" charset="0"/>
              </a:rPr>
              <a:t>no longer </a:t>
            </a:r>
            <a:r>
              <a:rPr lang="en-US" sz="2000" dirty="0">
                <a:latin typeface="Calibri" pitchFamily="34" charset="0"/>
              </a:rPr>
              <a:t>in buffer</a:t>
            </a:r>
          </a:p>
        </p:txBody>
      </p:sp>
      <p:sp>
        <p:nvSpPr>
          <p:cNvPr id="762900" name="Rectangle 20"/>
          <p:cNvSpPr>
            <a:spLocks noChangeArrowheads="1"/>
          </p:cNvSpPr>
          <p:nvPr/>
        </p:nvSpPr>
        <p:spPr bwMode="auto">
          <a:xfrm>
            <a:off x="7467600" y="5452646"/>
            <a:ext cx="1524000" cy="4413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unseen</a:t>
            </a:r>
          </a:p>
        </p:txBody>
      </p:sp>
      <p:sp>
        <p:nvSpPr>
          <p:cNvPr id="762901" name="Arc 21"/>
          <p:cNvSpPr>
            <a:spLocks/>
          </p:cNvSpPr>
          <p:nvPr/>
        </p:nvSpPr>
        <p:spPr bwMode="auto">
          <a:xfrm rot="-5400000" flipH="1" flipV="1">
            <a:off x="7007310" y="5907613"/>
            <a:ext cx="457200" cy="46166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902" name="Rectangle 22"/>
          <p:cNvSpPr>
            <a:spLocks noChangeArrowheads="1"/>
          </p:cNvSpPr>
          <p:nvPr/>
        </p:nvSpPr>
        <p:spPr bwMode="auto">
          <a:xfrm>
            <a:off x="4378410" y="6214646"/>
            <a:ext cx="2590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1600" dirty="0">
                <a:latin typeface="Calibri" pitchFamily="34" charset="0"/>
              </a:rPr>
              <a:t>Current File Position</a:t>
            </a:r>
          </a:p>
        </p:txBody>
      </p:sp>
      <p:sp>
        <p:nvSpPr>
          <p:cNvPr id="762903" name="Line 23"/>
          <p:cNvSpPr>
            <a:spLocks noChangeShapeType="1"/>
          </p:cNvSpPr>
          <p:nvPr/>
        </p:nvSpPr>
        <p:spPr bwMode="auto">
          <a:xfrm flipV="1">
            <a:off x="2743200" y="5029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904" name="Line 24"/>
          <p:cNvSpPr>
            <a:spLocks noChangeShapeType="1"/>
          </p:cNvSpPr>
          <p:nvPr/>
        </p:nvSpPr>
        <p:spPr bwMode="auto">
          <a:xfrm flipV="1">
            <a:off x="7467600" y="5029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905" name="Line 25"/>
          <p:cNvSpPr>
            <a:spLocks noChangeShapeType="1"/>
          </p:cNvSpPr>
          <p:nvPr/>
        </p:nvSpPr>
        <p:spPr bwMode="auto">
          <a:xfrm flipV="1">
            <a:off x="2743200" y="5181600"/>
            <a:ext cx="4724400" cy="7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2906" name="Rectangle 26"/>
          <p:cNvSpPr>
            <a:spLocks noChangeArrowheads="1"/>
          </p:cNvSpPr>
          <p:nvPr/>
        </p:nvSpPr>
        <p:spPr bwMode="auto">
          <a:xfrm>
            <a:off x="3886200" y="5029200"/>
            <a:ext cx="2667000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Buffered Portion</a:t>
            </a:r>
          </a:p>
        </p:txBody>
      </p:sp>
    </p:spTree>
    <p:extLst>
      <p:ext uri="{BB962C8B-B14F-4D97-AF65-F5344CB8AC3E}">
        <p14:creationId xmlns:p14="http://schemas.microsoft.com/office/powerpoint/2010/main" val="368983370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Buffered I/O: Declaration</a:t>
            </a:r>
          </a:p>
        </p:txBody>
      </p:sp>
      <p:sp>
        <p:nvSpPr>
          <p:cNvPr id="7649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79413" y="1296988"/>
            <a:ext cx="8307387" cy="608012"/>
          </a:xfrm>
        </p:spPr>
        <p:txBody>
          <a:bodyPr/>
          <a:lstStyle/>
          <a:p>
            <a:r>
              <a:rPr lang="en-US" dirty="0"/>
              <a:t>All information contained in </a:t>
            </a:r>
            <a:r>
              <a:rPr lang="en-US" dirty="0" err="1">
                <a:latin typeface="Courier New"/>
                <a:cs typeface="Courier New"/>
              </a:rPr>
              <a:t>struct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764934" name="Text Box 6"/>
          <p:cNvSpPr txBox="1">
            <a:spLocks noChangeArrowheads="1"/>
          </p:cNvSpPr>
          <p:nvPr/>
        </p:nvSpPr>
        <p:spPr bwMode="auto">
          <a:xfrm>
            <a:off x="452437" y="4267200"/>
            <a:ext cx="8539163" cy="16002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l"/>
            <a:r>
              <a:rPr lang="en-US" sz="1600" dirty="0" err="1">
                <a:latin typeface="Courier New" pitchFamily="49" charset="0"/>
              </a:rPr>
              <a:t>typedef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</a:rPr>
              <a:t> {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rio_fd</a:t>
            </a:r>
            <a:r>
              <a:rPr lang="en-US" sz="1600" dirty="0">
                <a:latin typeface="Courier New" pitchFamily="49" charset="0"/>
              </a:rPr>
              <a:t>;           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descriptor for this internal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buf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rio_cnt</a:t>
            </a:r>
            <a:r>
              <a:rPr lang="en-US" sz="1600" dirty="0">
                <a:latin typeface="Courier New" pitchFamily="49" charset="0"/>
              </a:rPr>
              <a:t>;          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unread bytes in internal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buf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char *</a:t>
            </a:r>
            <a:r>
              <a:rPr lang="en-US" sz="1600" dirty="0" err="1">
                <a:latin typeface="Courier New" pitchFamily="49" charset="0"/>
              </a:rPr>
              <a:t>rio_bufptr</a:t>
            </a:r>
            <a:r>
              <a:rPr lang="en-US" sz="1600" dirty="0">
                <a:latin typeface="Courier New" pitchFamily="49" charset="0"/>
              </a:rPr>
              <a:t>;      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next unread byte in internal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buf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char </a:t>
            </a:r>
            <a:r>
              <a:rPr lang="en-US" sz="1600" dirty="0" err="1">
                <a:latin typeface="Courier New" pitchFamily="49" charset="0"/>
              </a:rPr>
              <a:t>rio_buf</a:t>
            </a:r>
            <a:r>
              <a:rPr lang="en-US" sz="1600" dirty="0">
                <a:latin typeface="Courier New" pitchFamily="49" charset="0"/>
              </a:rPr>
              <a:t>[RIO_BUFSIZE];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internal buffer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} </a:t>
            </a:r>
            <a:r>
              <a:rPr lang="en-US" sz="1600" dirty="0" err="1">
                <a:latin typeface="Courier New" pitchFamily="49" charset="0"/>
              </a:rPr>
              <a:t>rio_t</a:t>
            </a:r>
            <a:r>
              <a:rPr lang="en-US" sz="1600" dirty="0">
                <a:latin typeface="Courier New" pitchFamily="49" charset="0"/>
              </a:rPr>
              <a:t>;</a:t>
            </a: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4724400" y="2430462"/>
            <a:ext cx="2362200" cy="441325"/>
          </a:xfrm>
          <a:prstGeom prst="rect">
            <a:avLst/>
          </a:prstGeom>
          <a:solidFill>
            <a:srgbClr val="F1C7C7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unread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2362200" y="2430462"/>
            <a:ext cx="2362200" cy="441325"/>
          </a:xfrm>
          <a:prstGeom prst="rect">
            <a:avLst/>
          </a:prstGeom>
          <a:solidFill>
            <a:srgbClr val="D5F1C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dirty="0">
                <a:latin typeface="Calibri" pitchFamily="34" charset="0"/>
              </a:rPr>
              <a:t>already read</a:t>
            </a: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2362200" y="2430462"/>
            <a:ext cx="6096000" cy="44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1498697" y="2452994"/>
            <a:ext cx="8470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Buffer</a:t>
            </a:r>
          </a:p>
        </p:txBody>
      </p:sp>
      <p:sp>
        <p:nvSpPr>
          <p:cNvPr id="21" name="Arc 8"/>
          <p:cNvSpPr>
            <a:spLocks/>
          </p:cNvSpPr>
          <p:nvPr/>
        </p:nvSpPr>
        <p:spPr bwMode="auto">
          <a:xfrm rot="16200000" flipH="1" flipV="1">
            <a:off x="1978110" y="2809229"/>
            <a:ext cx="304800" cy="46166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2" name="Arc 9"/>
          <p:cNvSpPr>
            <a:spLocks/>
          </p:cNvSpPr>
          <p:nvPr/>
        </p:nvSpPr>
        <p:spPr bwMode="auto">
          <a:xfrm rot="16200000" flipH="1" flipV="1">
            <a:off x="4264110" y="2885429"/>
            <a:ext cx="457200" cy="46166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720810" y="3040062"/>
            <a:ext cx="1039813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>
                <a:latin typeface="Courier New" pitchFamily="49" charset="0"/>
              </a:rPr>
              <a:t>rio_buf</a:t>
            </a: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2702010" y="3192462"/>
            <a:ext cx="160020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>
                <a:latin typeface="Courier New" pitchFamily="49" charset="0"/>
              </a:rPr>
              <a:t>rio_bufptr</a:t>
            </a:r>
          </a:p>
        </p:txBody>
      </p:sp>
      <p:sp>
        <p:nvSpPr>
          <p:cNvPr id="25" name="Line 12"/>
          <p:cNvSpPr>
            <a:spLocks noChangeShapeType="1"/>
          </p:cNvSpPr>
          <p:nvPr/>
        </p:nvSpPr>
        <p:spPr bwMode="auto">
          <a:xfrm flipV="1">
            <a:off x="4724400" y="2049462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6" name="Line 13"/>
          <p:cNvSpPr>
            <a:spLocks noChangeShapeType="1"/>
          </p:cNvSpPr>
          <p:nvPr/>
        </p:nvSpPr>
        <p:spPr bwMode="auto">
          <a:xfrm flipV="1">
            <a:off x="7086600" y="2049462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7" name="Line 14"/>
          <p:cNvSpPr>
            <a:spLocks noChangeShapeType="1"/>
          </p:cNvSpPr>
          <p:nvPr/>
        </p:nvSpPr>
        <p:spPr bwMode="auto">
          <a:xfrm>
            <a:off x="4724400" y="2201862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5257800" y="2049462"/>
            <a:ext cx="1219200" cy="3127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>
                <a:latin typeface="Courier New" pitchFamily="49" charset="0"/>
              </a:rPr>
              <a:t>rio_cnt</a:t>
            </a:r>
          </a:p>
        </p:txBody>
      </p:sp>
    </p:spTree>
    <p:extLst>
      <p:ext uri="{BB962C8B-B14F-4D97-AF65-F5344CB8AC3E}">
        <p14:creationId xmlns:p14="http://schemas.microsoft.com/office/powerpoint/2010/main" val="92699806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RIO Example</a:t>
            </a:r>
          </a:p>
        </p:txBody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1220788"/>
            <a:ext cx="8307387" cy="912812"/>
          </a:xfrm>
        </p:spPr>
        <p:txBody>
          <a:bodyPr/>
          <a:lstStyle/>
          <a:p>
            <a:r>
              <a:rPr lang="en-US"/>
              <a:t>Copying the lines of a text file from standard input to standard output</a:t>
            </a:r>
          </a:p>
        </p:txBody>
      </p:sp>
      <p:sp>
        <p:nvSpPr>
          <p:cNvPr id="771076" name="Text Box 4"/>
          <p:cNvSpPr txBox="1">
            <a:spLocks noChangeArrowheads="1"/>
          </p:cNvSpPr>
          <p:nvPr/>
        </p:nvSpPr>
        <p:spPr bwMode="auto">
          <a:xfrm>
            <a:off x="844118" y="2286000"/>
            <a:ext cx="7004482" cy="329320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int main(int argc, char **argv) 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n;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rio_t rio;</a:t>
            </a:r>
          </a:p>
          <a:p>
            <a:r>
              <a:rPr lang="en-US" sz="1600" dirty="0">
                <a:latin typeface="Courier New" pitchFamily="49" charset="0"/>
              </a:rPr>
              <a:t>    char buf[MAXLINE];</a:t>
            </a:r>
          </a:p>
          <a:p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Rio_readinitb</a:t>
            </a:r>
            <a:r>
              <a:rPr lang="en-US" sz="1600" dirty="0">
                <a:latin typeface="Courier New" pitchFamily="49" charset="0"/>
              </a:rPr>
              <a:t>(&amp;rio, STDIN_FILENO);</a:t>
            </a:r>
          </a:p>
          <a:p>
            <a:r>
              <a:rPr lang="en-US" sz="1600" dirty="0">
                <a:latin typeface="Courier New" pitchFamily="49" charset="0"/>
              </a:rPr>
              <a:t>    while((n =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Rio_readlineb</a:t>
            </a:r>
            <a:r>
              <a:rPr lang="en-US" sz="1600" dirty="0">
                <a:latin typeface="Courier New" pitchFamily="49" charset="0"/>
              </a:rPr>
              <a:t>(&amp;rio, buf, MAXLINE)) != 0) </a:t>
            </a:r>
          </a:p>
          <a:p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Rio_writen</a:t>
            </a:r>
            <a:r>
              <a:rPr lang="en-US" sz="1600" dirty="0">
                <a:latin typeface="Courier New" pitchFamily="49" charset="0"/>
              </a:rPr>
              <a:t>(STDOUT_FILENO, buf, n);</a:t>
            </a:r>
          </a:p>
          <a:p>
            <a:r>
              <a:rPr lang="en-US" sz="1600" dirty="0">
                <a:latin typeface="Courier New" pitchFamily="49" charset="0"/>
              </a:rPr>
              <a:t>    exit(0);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5758" y="5209877"/>
            <a:ext cx="1292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cpfile.c</a:t>
            </a:r>
            <a:endParaRPr lang="en-US" sz="1800" dirty="0" smtClean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2322419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System IO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Unix I/O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Metadata, sharing, and redirection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Standard I/O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RIO (robust I/O) package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Closing </a:t>
            </a:r>
            <a:r>
              <a:rPr lang="en-US" dirty="0" smtClean="0">
                <a:solidFill>
                  <a:srgbClr val="000000"/>
                </a:solidFill>
              </a:rPr>
              <a:t>remarks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Virtual Memory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7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Unix I/O vs. Standard I/O vs. RIO</a:t>
            </a:r>
          </a:p>
        </p:txBody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300" y="1600200"/>
            <a:ext cx="8750300" cy="4876800"/>
          </a:xfrm>
        </p:spPr>
        <p:txBody>
          <a:bodyPr/>
          <a:lstStyle/>
          <a:p>
            <a:r>
              <a:rPr lang="en-US" dirty="0"/>
              <a:t>Standard I/O and RIO are implemented using low-level </a:t>
            </a:r>
            <a:r>
              <a:rPr lang="en-US" dirty="0" smtClean="0"/>
              <a:t>Unix I/O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Which </a:t>
            </a:r>
            <a:r>
              <a:rPr lang="en-US" dirty="0"/>
              <a:t>ones should you use in your programs?</a:t>
            </a:r>
          </a:p>
        </p:txBody>
      </p:sp>
      <p:sp>
        <p:nvSpPr>
          <p:cNvPr id="671748" name="Rectangle 4"/>
          <p:cNvSpPr>
            <a:spLocks noChangeAspect="1" noChangeArrowheads="1"/>
          </p:cNvSpPr>
          <p:nvPr/>
        </p:nvSpPr>
        <p:spPr bwMode="auto">
          <a:xfrm>
            <a:off x="2740025" y="2913063"/>
            <a:ext cx="4041775" cy="15779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71749" name="Rectangle 5"/>
          <p:cNvSpPr>
            <a:spLocks noChangeAspect="1" noChangeArrowheads="1"/>
          </p:cNvSpPr>
          <p:nvPr/>
        </p:nvSpPr>
        <p:spPr bwMode="auto">
          <a:xfrm>
            <a:off x="2740025" y="4491038"/>
            <a:ext cx="4041775" cy="685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Unix I/O functions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(accessed via system calls)</a:t>
            </a:r>
          </a:p>
        </p:txBody>
      </p:sp>
      <p:sp>
        <p:nvSpPr>
          <p:cNvPr id="671750" name="Rectangle 6"/>
          <p:cNvSpPr>
            <a:spLocks noChangeAspect="1" noChangeArrowheads="1"/>
          </p:cNvSpPr>
          <p:nvPr/>
        </p:nvSpPr>
        <p:spPr bwMode="auto">
          <a:xfrm>
            <a:off x="2741913" y="3805238"/>
            <a:ext cx="1447800" cy="685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 Standard I/O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functions</a:t>
            </a:r>
          </a:p>
        </p:txBody>
      </p:sp>
      <p:sp>
        <p:nvSpPr>
          <p:cNvPr id="671751" name="Text Box 7"/>
          <p:cNvSpPr txBox="1">
            <a:spLocks noChangeAspect="1" noChangeArrowheads="1"/>
          </p:cNvSpPr>
          <p:nvPr/>
        </p:nvSpPr>
        <p:spPr bwMode="auto">
          <a:xfrm>
            <a:off x="3254439" y="3124200"/>
            <a:ext cx="299396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 application program</a:t>
            </a:r>
          </a:p>
        </p:txBody>
      </p:sp>
      <p:sp>
        <p:nvSpPr>
          <p:cNvPr id="671752" name="Text Box 8"/>
          <p:cNvSpPr txBox="1">
            <a:spLocks noChangeAspect="1" noChangeArrowheads="1"/>
          </p:cNvSpPr>
          <p:nvPr/>
        </p:nvSpPr>
        <p:spPr bwMode="auto">
          <a:xfrm>
            <a:off x="241300" y="2451100"/>
            <a:ext cx="1989138" cy="18161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fopen  fdopen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fread  fwrite fscanf fprintf  sscanf sprintf fgets  fputs fflush fseek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fclose</a:t>
            </a:r>
          </a:p>
        </p:txBody>
      </p:sp>
      <p:sp>
        <p:nvSpPr>
          <p:cNvPr id="671753" name="Text Box 9"/>
          <p:cNvSpPr txBox="1">
            <a:spLocks noChangeAspect="1" noChangeArrowheads="1"/>
          </p:cNvSpPr>
          <p:nvPr/>
        </p:nvSpPr>
        <p:spPr bwMode="auto">
          <a:xfrm>
            <a:off x="530225" y="4419600"/>
            <a:ext cx="16637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open   read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write  lseek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stat   close</a:t>
            </a:r>
          </a:p>
        </p:txBody>
      </p:sp>
      <p:sp>
        <p:nvSpPr>
          <p:cNvPr id="671754" name="Line 10"/>
          <p:cNvSpPr>
            <a:spLocks noChangeAspect="1" noChangeShapeType="1"/>
          </p:cNvSpPr>
          <p:nvPr/>
        </p:nvSpPr>
        <p:spPr bwMode="auto">
          <a:xfrm flipH="1" flipV="1">
            <a:off x="2230438" y="4840288"/>
            <a:ext cx="4746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1755" name="Text Box 11"/>
          <p:cNvSpPr txBox="1">
            <a:spLocks noChangeAspect="1" noChangeArrowheads="1"/>
          </p:cNvSpPr>
          <p:nvPr/>
        </p:nvSpPr>
        <p:spPr bwMode="auto">
          <a:xfrm>
            <a:off x="7150100" y="3490913"/>
            <a:ext cx="1841500" cy="13271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rio_readn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rio_writen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rio_readinitb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rio_readlineb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rio_readnb</a:t>
            </a:r>
          </a:p>
        </p:txBody>
      </p:sp>
      <p:sp>
        <p:nvSpPr>
          <p:cNvPr id="671756" name="Rectangle 12"/>
          <p:cNvSpPr>
            <a:spLocks noChangeAspect="1" noChangeArrowheads="1"/>
          </p:cNvSpPr>
          <p:nvPr/>
        </p:nvSpPr>
        <p:spPr bwMode="auto">
          <a:xfrm>
            <a:off x="5334000" y="3805238"/>
            <a:ext cx="1447800" cy="6858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 RIO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functions</a:t>
            </a:r>
          </a:p>
        </p:txBody>
      </p:sp>
      <p:sp>
        <p:nvSpPr>
          <p:cNvPr id="671757" name="Line 13"/>
          <p:cNvSpPr>
            <a:spLocks noChangeShapeType="1"/>
          </p:cNvSpPr>
          <p:nvPr/>
        </p:nvSpPr>
        <p:spPr bwMode="auto">
          <a:xfrm flipH="1" flipV="1">
            <a:off x="2260600" y="3340100"/>
            <a:ext cx="482600" cy="7493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1758" name="Line 14"/>
          <p:cNvSpPr>
            <a:spLocks noChangeShapeType="1"/>
          </p:cNvSpPr>
          <p:nvPr/>
        </p:nvSpPr>
        <p:spPr bwMode="auto">
          <a:xfrm>
            <a:off x="6794500" y="4152900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07780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9970" y="435678"/>
            <a:ext cx="7592093" cy="762000"/>
          </a:xfrm>
        </p:spPr>
        <p:txBody>
          <a:bodyPr/>
          <a:lstStyle/>
          <a:p>
            <a:r>
              <a:rPr lang="en-US" dirty="0"/>
              <a:t>Pros and Cons of Unix I/O</a:t>
            </a:r>
          </a:p>
        </p:txBody>
      </p:sp>
      <p:sp>
        <p:nvSpPr>
          <p:cNvPr id="67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518525" cy="4972050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Unix I/O is the most general and lowest overhead form of I/</a:t>
            </a:r>
            <a:r>
              <a:rPr lang="en-US" dirty="0" smtClean="0"/>
              <a:t>O</a:t>
            </a:r>
            <a:endParaRPr lang="en-US" dirty="0"/>
          </a:p>
          <a:p>
            <a:pPr lvl="2"/>
            <a:r>
              <a:rPr lang="en-US" dirty="0"/>
              <a:t>All other I/O packages are implemented using Unix I/O </a:t>
            </a:r>
            <a:r>
              <a:rPr lang="en-US" dirty="0" smtClean="0"/>
              <a:t>functions</a:t>
            </a:r>
            <a:endParaRPr lang="en-US" dirty="0"/>
          </a:p>
          <a:p>
            <a:pPr lvl="1"/>
            <a:r>
              <a:rPr lang="en-US" dirty="0"/>
              <a:t>Unix I/O provides functions for accessing file </a:t>
            </a:r>
            <a:r>
              <a:rPr lang="en-US" dirty="0" smtClean="0"/>
              <a:t>metadata</a:t>
            </a:r>
          </a:p>
          <a:p>
            <a:pPr lvl="1"/>
            <a:r>
              <a:rPr lang="en-US" dirty="0" smtClean="0"/>
              <a:t>Unix I/O functions are </a:t>
            </a:r>
            <a:r>
              <a:rPr lang="en-US" dirty="0" err="1" smtClean="0"/>
              <a:t>async</a:t>
            </a:r>
            <a:r>
              <a:rPr lang="en-US" dirty="0" smtClean="0"/>
              <a:t>-signal-safe and can be used safely in signal handlers</a:t>
            </a:r>
          </a:p>
          <a:p>
            <a:endParaRPr lang="en-US" dirty="0" smtClean="0"/>
          </a:p>
          <a:p>
            <a:r>
              <a:rPr lang="en-US" dirty="0" smtClean="0"/>
              <a:t>Cons</a:t>
            </a:r>
            <a:endParaRPr lang="en-US" dirty="0"/>
          </a:p>
          <a:p>
            <a:pPr lvl="1"/>
            <a:r>
              <a:rPr lang="en-US" dirty="0"/>
              <a:t>Dealing with short counts is tricky and error </a:t>
            </a:r>
            <a:r>
              <a:rPr lang="en-US" dirty="0" smtClean="0"/>
              <a:t>prone</a:t>
            </a:r>
            <a:endParaRPr lang="en-US" dirty="0"/>
          </a:p>
          <a:p>
            <a:pPr lvl="1"/>
            <a:r>
              <a:rPr lang="en-US" dirty="0"/>
              <a:t>Efficient reading of text lines requires some form of buffering, also tricky and error </a:t>
            </a:r>
            <a:r>
              <a:rPr lang="en-US" dirty="0" smtClean="0"/>
              <a:t>prone</a:t>
            </a:r>
            <a:endParaRPr lang="en-US" dirty="0"/>
          </a:p>
          <a:p>
            <a:pPr lvl="1"/>
            <a:r>
              <a:rPr lang="en-US" dirty="0"/>
              <a:t>Both of these issues are addressed by the standard I/O and RIO </a:t>
            </a:r>
            <a:r>
              <a:rPr lang="en-US" dirty="0" smtClean="0"/>
              <a:t>packages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95185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5955" y="435678"/>
            <a:ext cx="7592093" cy="762000"/>
          </a:xfrm>
        </p:spPr>
        <p:txBody>
          <a:bodyPr/>
          <a:lstStyle/>
          <a:p>
            <a:r>
              <a:rPr lang="en-US"/>
              <a:t>Pros and Cons of Standard I/O</a:t>
            </a:r>
          </a:p>
        </p:txBody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1" y="1362075"/>
            <a:ext cx="8458200" cy="4972050"/>
          </a:xfrm>
        </p:spPr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Buffering increases efficiency by decreasing the number of </a:t>
            </a:r>
            <a:r>
              <a:rPr lang="en-US" b="1" dirty="0">
                <a:latin typeface="Courier New" pitchFamily="49" charset="0"/>
              </a:rPr>
              <a:t>read</a:t>
            </a:r>
            <a:r>
              <a:rPr lang="en-US" dirty="0"/>
              <a:t> and </a:t>
            </a:r>
            <a:r>
              <a:rPr lang="en-US" b="1" dirty="0">
                <a:latin typeface="Courier New" pitchFamily="49" charset="0"/>
              </a:rPr>
              <a:t>write</a:t>
            </a:r>
            <a:r>
              <a:rPr lang="en-US" dirty="0"/>
              <a:t> system calls</a:t>
            </a:r>
          </a:p>
          <a:p>
            <a:pPr lvl="1"/>
            <a:r>
              <a:rPr lang="en-US" dirty="0"/>
              <a:t>Short counts are handled automatically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Provides no function for accessing file </a:t>
            </a:r>
            <a:r>
              <a:rPr lang="en-US" dirty="0" smtClean="0"/>
              <a:t>metadata</a:t>
            </a:r>
          </a:p>
          <a:p>
            <a:pPr lvl="1"/>
            <a:r>
              <a:rPr lang="en-US" dirty="0" smtClean="0"/>
              <a:t>Standard I/O functions are not </a:t>
            </a:r>
            <a:r>
              <a:rPr lang="en-US" dirty="0" err="1" smtClean="0"/>
              <a:t>async</a:t>
            </a:r>
            <a:r>
              <a:rPr lang="en-US" dirty="0" smtClean="0"/>
              <a:t>-signal-safe, and not appropriate for signal handlers</a:t>
            </a:r>
          </a:p>
          <a:p>
            <a:pPr lvl="1"/>
            <a:r>
              <a:rPr lang="en-US" dirty="0"/>
              <a:t>Standard I/O is not appropriate for input and output on network sockets</a:t>
            </a:r>
          </a:p>
          <a:p>
            <a:pPr lvl="2"/>
            <a:r>
              <a:rPr lang="en-US" dirty="0"/>
              <a:t>There are poorly documented restrictions on streams that interact badly with restrictions on </a:t>
            </a:r>
            <a:r>
              <a:rPr lang="en-US" dirty="0" smtClean="0"/>
              <a:t>sockets (CS:APP3e, Sec 10.11)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03841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6878638" cy="573087"/>
          </a:xfrm>
        </p:spPr>
        <p:txBody>
          <a:bodyPr/>
          <a:lstStyle/>
          <a:p>
            <a:r>
              <a:rPr lang="en-US"/>
              <a:t>Choosing I/O Functions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52538"/>
            <a:ext cx="8472487" cy="5224462"/>
          </a:xfrm>
        </p:spPr>
        <p:txBody>
          <a:bodyPr/>
          <a:lstStyle/>
          <a:p>
            <a:r>
              <a:rPr lang="en-US" dirty="0"/>
              <a:t>General rule: use the highest-level I/O functions you can</a:t>
            </a:r>
          </a:p>
          <a:p>
            <a:pPr lvl="1"/>
            <a:r>
              <a:rPr lang="en-US" dirty="0"/>
              <a:t>Many C programmers are able to do all of their work using the standard I/O </a:t>
            </a:r>
            <a:r>
              <a:rPr lang="en-US" dirty="0" smtClean="0"/>
              <a:t>functions</a:t>
            </a:r>
          </a:p>
          <a:p>
            <a:pPr lvl="1"/>
            <a:r>
              <a:rPr lang="en-US" dirty="0" smtClean="0"/>
              <a:t>But, be sure to understand the functions you use!</a:t>
            </a:r>
          </a:p>
          <a:p>
            <a:pPr lvl="1">
              <a:buFont typeface="Wingdings" pitchFamily="2" charset="2"/>
              <a:buNone/>
            </a:pPr>
            <a:endParaRPr lang="en-US" dirty="0"/>
          </a:p>
          <a:p>
            <a:r>
              <a:rPr lang="en-US" dirty="0"/>
              <a:t>When to use standard I/O</a:t>
            </a:r>
          </a:p>
          <a:p>
            <a:pPr lvl="1"/>
            <a:r>
              <a:rPr lang="en-US" dirty="0"/>
              <a:t>When working with disk or terminal files</a:t>
            </a:r>
          </a:p>
          <a:p>
            <a:r>
              <a:rPr lang="en-US" dirty="0"/>
              <a:t>When to use raw Unix I/O </a:t>
            </a:r>
            <a:endParaRPr lang="en-US" dirty="0" smtClean="0"/>
          </a:p>
          <a:p>
            <a:pPr lvl="1"/>
            <a:r>
              <a:rPr lang="en-US" i="1" dirty="0" smtClean="0">
                <a:solidFill>
                  <a:srgbClr val="C00000"/>
                </a:solidFill>
              </a:rPr>
              <a:t>Inside signal handlers, because Unix I/O is </a:t>
            </a:r>
            <a:r>
              <a:rPr lang="en-US" i="1" dirty="0" err="1" smtClean="0">
                <a:solidFill>
                  <a:srgbClr val="C00000"/>
                </a:solidFill>
              </a:rPr>
              <a:t>async</a:t>
            </a:r>
            <a:r>
              <a:rPr lang="en-US" i="1" dirty="0" smtClean="0">
                <a:solidFill>
                  <a:srgbClr val="C00000"/>
                </a:solidFill>
              </a:rPr>
              <a:t>-signal-safe</a:t>
            </a:r>
          </a:p>
          <a:p>
            <a:pPr lvl="1"/>
            <a:r>
              <a:rPr lang="en-US" dirty="0"/>
              <a:t>In rare cases when you need absolute highest </a:t>
            </a:r>
            <a:r>
              <a:rPr lang="en-US" dirty="0" smtClean="0"/>
              <a:t>performance</a:t>
            </a:r>
          </a:p>
          <a:p>
            <a:r>
              <a:rPr lang="en-US" dirty="0"/>
              <a:t>When to use RIO</a:t>
            </a:r>
          </a:p>
          <a:p>
            <a:pPr lvl="1"/>
            <a:r>
              <a:rPr lang="en-US" i="1" dirty="0">
                <a:solidFill>
                  <a:srgbClr val="C00000"/>
                </a:solidFill>
              </a:rPr>
              <a:t>When you are reading and writing network</a:t>
            </a:r>
            <a:r>
              <a:rPr lang="en-US" i="1" dirty="0" smtClean="0">
                <a:solidFill>
                  <a:srgbClr val="C00000"/>
                </a:solidFill>
              </a:rPr>
              <a:t> sockets</a:t>
            </a:r>
          </a:p>
          <a:p>
            <a:pPr lvl="1"/>
            <a:r>
              <a:rPr lang="en-US" dirty="0" smtClean="0"/>
              <a:t>Avoid using standard I/O on sockets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304249" y="308254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057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6875" y="435678"/>
            <a:ext cx="7592093" cy="762000"/>
          </a:xfrm>
        </p:spPr>
        <p:txBody>
          <a:bodyPr/>
          <a:lstStyle/>
          <a:p>
            <a:r>
              <a:rPr lang="en-US" dirty="0" smtClean="0"/>
              <a:t>Aside: Working </a:t>
            </a:r>
            <a:r>
              <a:rPr lang="en-US" dirty="0"/>
              <a:t>with Binary Files</a:t>
            </a:r>
          </a:p>
        </p:txBody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62074"/>
            <a:ext cx="9067800" cy="549592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Functions </a:t>
            </a:r>
            <a:r>
              <a:rPr lang="en-US" dirty="0">
                <a:solidFill>
                  <a:srgbClr val="C00000"/>
                </a:solidFill>
              </a:rPr>
              <a:t>you </a:t>
            </a:r>
            <a:r>
              <a:rPr lang="en-US" dirty="0" smtClean="0">
                <a:solidFill>
                  <a:srgbClr val="C00000"/>
                </a:solidFill>
              </a:rPr>
              <a:t>should </a:t>
            </a:r>
            <a:r>
              <a:rPr lang="en-US" i="1" dirty="0" smtClean="0">
                <a:solidFill>
                  <a:srgbClr val="C00000"/>
                </a:solidFill>
              </a:rPr>
              <a:t>never</a:t>
            </a:r>
            <a:r>
              <a:rPr lang="en-US" dirty="0" smtClean="0">
                <a:solidFill>
                  <a:srgbClr val="C00000"/>
                </a:solidFill>
              </a:rPr>
              <a:t> use on binary files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Text-</a:t>
            </a:r>
            <a:r>
              <a:rPr lang="en-US" b="1" dirty="0">
                <a:solidFill>
                  <a:srgbClr val="C00000"/>
                </a:solidFill>
              </a:rPr>
              <a:t>oriented </a:t>
            </a:r>
            <a:r>
              <a:rPr lang="en-US" b="1" dirty="0" smtClean="0">
                <a:solidFill>
                  <a:srgbClr val="C00000"/>
                </a:solidFill>
              </a:rPr>
              <a:t>I/O: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such as </a:t>
            </a:r>
            <a:r>
              <a:rPr lang="en-US" b="1" dirty="0" err="1" smtClean="0">
                <a:latin typeface="Courier New"/>
                <a:cs typeface="Courier New"/>
              </a:rPr>
              <a:t>fgets</a:t>
            </a:r>
            <a:r>
              <a:rPr lang="en-US" b="1" dirty="0">
                <a:latin typeface="Courier New"/>
                <a:cs typeface="Courier New"/>
              </a:rPr>
              <a:t>, </a:t>
            </a:r>
            <a:r>
              <a:rPr lang="en-US" b="1" dirty="0" err="1">
                <a:latin typeface="Courier New"/>
                <a:cs typeface="Courier New"/>
              </a:rPr>
              <a:t>scanf</a:t>
            </a:r>
            <a:r>
              <a:rPr lang="en-US" b="1" dirty="0">
                <a:latin typeface="Courier New"/>
                <a:cs typeface="Courier New"/>
              </a:rPr>
              <a:t>, </a:t>
            </a:r>
            <a:r>
              <a:rPr lang="en-US" b="1" dirty="0" err="1" smtClean="0">
                <a:latin typeface="Courier New"/>
                <a:cs typeface="Courier New"/>
              </a:rPr>
              <a:t>rio_readlineb</a:t>
            </a:r>
            <a:endParaRPr lang="en-US" b="1" dirty="0" smtClean="0">
              <a:latin typeface="Courier New"/>
              <a:cs typeface="Courier New"/>
            </a:endParaRPr>
          </a:p>
          <a:p>
            <a:pPr lvl="2"/>
            <a:r>
              <a:rPr lang="en-US" dirty="0" smtClean="0"/>
              <a:t>Interpret EOL characters. </a:t>
            </a:r>
          </a:p>
          <a:p>
            <a:pPr lvl="2"/>
            <a:r>
              <a:rPr lang="en-US" dirty="0" smtClean="0"/>
              <a:t>Use functions like </a:t>
            </a:r>
            <a:r>
              <a:rPr lang="en-US" b="1" dirty="0" err="1" smtClean="0">
                <a:latin typeface="Courier New"/>
                <a:cs typeface="Courier New"/>
              </a:rPr>
              <a:t>rio_readn</a:t>
            </a:r>
            <a:r>
              <a:rPr lang="en-US" dirty="0" smtClean="0"/>
              <a:t> or </a:t>
            </a:r>
            <a:r>
              <a:rPr lang="en-US" b="1" dirty="0" err="1" smtClean="0">
                <a:latin typeface="Courier New"/>
                <a:cs typeface="Courier New"/>
              </a:rPr>
              <a:t>rio_readnb</a:t>
            </a:r>
            <a:r>
              <a:rPr lang="en-US" dirty="0" smtClean="0"/>
              <a:t> instead</a:t>
            </a:r>
          </a:p>
          <a:p>
            <a:pPr lvl="3"/>
            <a:endParaRPr lang="en-US" dirty="0" smtClean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String functions</a:t>
            </a:r>
          </a:p>
          <a:p>
            <a:pPr lvl="2"/>
            <a:r>
              <a:rPr lang="en-US" b="1" dirty="0" err="1">
                <a:latin typeface="Courier New"/>
                <a:cs typeface="Courier New"/>
              </a:rPr>
              <a:t>strlen</a:t>
            </a:r>
            <a:r>
              <a:rPr lang="en-US" b="1" dirty="0">
                <a:latin typeface="Courier New"/>
                <a:cs typeface="Courier New"/>
              </a:rPr>
              <a:t>, </a:t>
            </a:r>
            <a:r>
              <a:rPr lang="en-US" b="1" dirty="0" err="1" smtClean="0">
                <a:latin typeface="Courier New"/>
                <a:cs typeface="Courier New"/>
              </a:rPr>
              <a:t>strcpy</a:t>
            </a:r>
            <a:r>
              <a:rPr lang="en-US" b="1" dirty="0" smtClean="0">
                <a:latin typeface="Courier New"/>
                <a:cs typeface="Courier New"/>
              </a:rPr>
              <a:t>, </a:t>
            </a:r>
            <a:r>
              <a:rPr lang="en-US" b="1" dirty="0" err="1" smtClean="0">
                <a:latin typeface="Courier New"/>
                <a:cs typeface="Courier New"/>
              </a:rPr>
              <a:t>strcat</a:t>
            </a:r>
            <a:endParaRPr lang="en-US" b="1" dirty="0">
              <a:latin typeface="Courier New"/>
              <a:cs typeface="Courier New"/>
            </a:endParaRPr>
          </a:p>
          <a:p>
            <a:pPr lvl="2"/>
            <a:r>
              <a:rPr lang="en-US" dirty="0"/>
              <a:t>Interprets byte value 0</a:t>
            </a:r>
            <a:r>
              <a:rPr lang="en-US" dirty="0" smtClean="0"/>
              <a:t> (end of string) as </a:t>
            </a:r>
            <a:r>
              <a:rPr lang="en-US" dirty="0"/>
              <a:t>special</a:t>
            </a:r>
          </a:p>
        </p:txBody>
      </p:sp>
    </p:spTree>
    <p:extLst>
      <p:ext uri="{BB962C8B-B14F-4D97-AF65-F5344CB8AC3E}">
        <p14:creationId xmlns:p14="http://schemas.microsoft.com/office/powerpoint/2010/main" val="344565281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22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08907" y="457200"/>
            <a:ext cx="7592093" cy="762000"/>
          </a:xfrm>
        </p:spPr>
        <p:txBody>
          <a:bodyPr/>
          <a:lstStyle/>
          <a:p>
            <a:r>
              <a:rPr lang="en-US"/>
              <a:t>Fun with File Descriptors (1)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2" y="5546124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/>
              <a:t>abcde</a:t>
            </a:r>
            <a:r>
              <a:rPr lang="en-US" dirty="0"/>
              <a:t>”?</a:t>
            </a:r>
          </a:p>
          <a:p>
            <a:endParaRPr lang="en-US" dirty="0"/>
          </a:p>
        </p:txBody>
      </p:sp>
      <p:sp>
        <p:nvSpPr>
          <p:cNvPr id="735236" name="Text Box 4"/>
          <p:cNvSpPr txBox="1">
            <a:spLocks noChangeArrowheads="1"/>
          </p:cNvSpPr>
          <p:nvPr/>
        </p:nvSpPr>
        <p:spPr bwMode="auto">
          <a:xfrm>
            <a:off x="533400" y="1295400"/>
            <a:ext cx="6849952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fd1, fd2, fd3;</a:t>
            </a:r>
          </a:p>
          <a:p>
            <a:r>
              <a:rPr lang="en-US" sz="1600" dirty="0">
                <a:latin typeface="Courier New" pitchFamily="49" charset="0"/>
              </a:rPr>
              <a:t>    char c1, c2, c3;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fd2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fd3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Dup2(fd2, fd3);</a:t>
            </a:r>
          </a:p>
          <a:p>
            <a:r>
              <a:rPr lang="en-US" sz="1600" dirty="0">
                <a:latin typeface="Courier New" pitchFamily="49" charset="0"/>
              </a:rPr>
              <a:t>    Read(fd1, &amp;c1, 1);</a:t>
            </a:r>
          </a:p>
          <a:p>
            <a:r>
              <a:rPr lang="en-US" sz="1600" dirty="0">
                <a:latin typeface="Courier New" pitchFamily="49" charset="0"/>
              </a:rPr>
              <a:t>    Read(fd2, &amp;c2, 1);</a:t>
            </a:r>
          </a:p>
          <a:p>
            <a:r>
              <a:rPr lang="en-US" sz="1600" dirty="0">
                <a:latin typeface="Courier New" pitchFamily="49" charset="0"/>
              </a:rPr>
              <a:t>    Read(fd3, &amp;c3, 1);</a:t>
            </a:r>
          </a:p>
          <a:p>
            <a:r>
              <a:rPr lang="en-US" sz="1600" dirty="0">
                <a:latin typeface="Courier New" pitchFamily="49" charset="0"/>
              </a:rPr>
              <a:t>    printf("c1 = %c, c2 = %c, c3 = %c\n", c1, c2, c3);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51988" y="4957941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ffiles1.c</a:t>
            </a:r>
          </a:p>
        </p:txBody>
      </p:sp>
    </p:spTree>
    <p:extLst>
      <p:ext uri="{BB962C8B-B14F-4D97-AF65-F5344CB8AC3E}">
        <p14:creationId xmlns:p14="http://schemas.microsoft.com/office/powerpoint/2010/main" val="372872424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81000"/>
            <a:ext cx="7592093" cy="762000"/>
          </a:xfrm>
        </p:spPr>
        <p:txBody>
          <a:bodyPr/>
          <a:lstStyle/>
          <a:p>
            <a:r>
              <a:rPr lang="en-US"/>
              <a:t>Fun with File Descriptors (2)</a:t>
            </a:r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174" y="6248400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/>
              <a:t>abcde</a:t>
            </a:r>
            <a:r>
              <a:rPr lang="en-US" dirty="0" smtClean="0"/>
              <a:t>”?</a:t>
            </a:r>
            <a:endParaRPr lang="en-US" dirty="0"/>
          </a:p>
        </p:txBody>
      </p:sp>
      <p:sp>
        <p:nvSpPr>
          <p:cNvPr id="739332" name="Text Box 4"/>
          <p:cNvSpPr txBox="1">
            <a:spLocks noChangeArrowheads="1"/>
          </p:cNvSpPr>
          <p:nvPr/>
        </p:nvSpPr>
        <p:spPr bwMode="auto">
          <a:xfrm>
            <a:off x="481914" y="1155442"/>
            <a:ext cx="6634188" cy="501675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fd1;</a:t>
            </a:r>
          </a:p>
          <a:p>
            <a:r>
              <a:rPr lang="en-US" sz="1600" dirty="0">
                <a:latin typeface="Courier New" pitchFamily="49" charset="0"/>
              </a:rPr>
              <a:t>    int s = getpid() &amp; 0x1;</a:t>
            </a:r>
          </a:p>
          <a:p>
            <a:r>
              <a:rPr lang="en-US" sz="1600" dirty="0">
                <a:latin typeface="Courier New" pitchFamily="49" charset="0"/>
              </a:rPr>
              <a:t>    char c1, c2;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Read(fd1, &amp;c1, 1);</a:t>
            </a:r>
          </a:p>
          <a:p>
            <a:r>
              <a:rPr lang="en-US" sz="1600" dirty="0">
                <a:latin typeface="Courier New" pitchFamily="49" charset="0"/>
              </a:rPr>
              <a:t>    if (fork()) </a:t>
            </a:r>
            <a:r>
              <a:rPr lang="en-US" sz="1600" dirty="0" smtClean="0">
                <a:latin typeface="Courier New" pitchFamily="49" charset="0"/>
              </a:rPr>
              <a:t>{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Parent */</a:t>
            </a:r>
          </a:p>
          <a:p>
            <a:r>
              <a:rPr lang="en-US" sz="1600" dirty="0">
                <a:latin typeface="Courier New" pitchFamily="49" charset="0"/>
              </a:rPr>
              <a:t>        sleep(s);</a:t>
            </a:r>
          </a:p>
          <a:p>
            <a:r>
              <a:rPr lang="en-US" sz="1600" dirty="0">
                <a:latin typeface="Courier New" pitchFamily="49" charset="0"/>
              </a:rPr>
              <a:t>        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printf("Parent: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 else </a:t>
            </a:r>
            <a:r>
              <a:rPr lang="en-US" sz="1600" dirty="0" smtClean="0">
                <a:latin typeface="Courier New" pitchFamily="49" charset="0"/>
              </a:rPr>
              <a:t>{ </a:t>
            </a:r>
            <a:r>
              <a:rPr lang="en-US" sz="1600" dirty="0" smtClean="0">
                <a:solidFill>
                  <a:srgbClr val="990000"/>
                </a:solidFill>
                <a:latin typeface="Courier New" pitchFamily="49" charset="0"/>
              </a:rPr>
              <a:t>/*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Child */</a:t>
            </a:r>
          </a:p>
          <a:p>
            <a:r>
              <a:rPr lang="en-US" sz="1600" dirty="0">
                <a:latin typeface="Courier New" pitchFamily="49" charset="0"/>
              </a:rPr>
              <a:t>        sleep(1-s);</a:t>
            </a:r>
          </a:p>
          <a:p>
            <a:r>
              <a:rPr lang="en-US" sz="1600" dirty="0">
                <a:latin typeface="Courier New" pitchFamily="49" charset="0"/>
              </a:rPr>
              <a:t>        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printf("Child: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84738" y="5802868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ffiles2.c</a:t>
            </a:r>
          </a:p>
        </p:txBody>
      </p:sp>
    </p:spTree>
    <p:extLst>
      <p:ext uri="{BB962C8B-B14F-4D97-AF65-F5344CB8AC3E}">
        <p14:creationId xmlns:p14="http://schemas.microsoft.com/office/powerpoint/2010/main" val="353461424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 with File Descriptors (3)</a:t>
            </a:r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174" y="5029200"/>
            <a:ext cx="8307388" cy="533400"/>
          </a:xfrm>
        </p:spPr>
        <p:txBody>
          <a:bodyPr/>
          <a:lstStyle/>
          <a:p>
            <a:r>
              <a:rPr lang="en-US" dirty="0"/>
              <a:t>What would be </a:t>
            </a:r>
            <a:r>
              <a:rPr lang="en-US" dirty="0" smtClean="0"/>
              <a:t>the contents </a:t>
            </a:r>
            <a:r>
              <a:rPr lang="en-US" dirty="0"/>
              <a:t>of </a:t>
            </a:r>
            <a:r>
              <a:rPr lang="en-US" dirty="0" smtClean="0"/>
              <a:t>the resulting </a:t>
            </a:r>
            <a:r>
              <a:rPr lang="en-US" dirty="0"/>
              <a:t>file?</a:t>
            </a:r>
          </a:p>
          <a:p>
            <a:endParaRPr lang="en-US" dirty="0"/>
          </a:p>
        </p:txBody>
      </p:sp>
      <p:sp>
        <p:nvSpPr>
          <p:cNvPr id="737284" name="Text Box 4"/>
          <p:cNvSpPr txBox="1">
            <a:spLocks noChangeArrowheads="1"/>
          </p:cNvSpPr>
          <p:nvPr/>
        </p:nvSpPr>
        <p:spPr bwMode="auto">
          <a:xfrm>
            <a:off x="473676" y="1261170"/>
            <a:ext cx="7960834" cy="353943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fd1, fd2, fd3;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Open(fname, O_CREAT|O_TRUNC|O_RDWR, S_IRUSR|S_IWUSR);</a:t>
            </a:r>
          </a:p>
          <a:p>
            <a:r>
              <a:rPr lang="en-US" sz="1600" dirty="0">
                <a:latin typeface="Courier New" pitchFamily="49" charset="0"/>
              </a:rPr>
              <a:t>    Write(fd1, "pqrs", 4);</a:t>
            </a:r>
          </a:p>
          <a:p>
            <a:r>
              <a:rPr lang="en-US" sz="1600" dirty="0">
                <a:latin typeface="Courier New" pitchFamily="49" charset="0"/>
              </a:rPr>
              <a:t>    fd3 = Open(fname, O_APPEND|O_WRONLY, 0);</a:t>
            </a:r>
          </a:p>
          <a:p>
            <a:r>
              <a:rPr lang="en-US" sz="1600" dirty="0">
                <a:latin typeface="Courier New" pitchFamily="49" charset="0"/>
              </a:rPr>
              <a:t>    Write(fd3, "jklmn", 5);</a:t>
            </a:r>
          </a:p>
          <a:p>
            <a:r>
              <a:rPr lang="en-US" sz="1600" dirty="0">
                <a:latin typeface="Courier New" pitchFamily="49" charset="0"/>
              </a:rPr>
              <a:t>    fd2 = dup(fd1);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Allocates descriptor */</a:t>
            </a:r>
          </a:p>
          <a:p>
            <a:r>
              <a:rPr lang="en-US" sz="1600" dirty="0">
                <a:latin typeface="Courier New" pitchFamily="49" charset="0"/>
              </a:rPr>
              <a:t>    Write(fd2, "wxyz", 4);</a:t>
            </a:r>
          </a:p>
          <a:p>
            <a:r>
              <a:rPr lang="en-US" sz="1600" dirty="0">
                <a:latin typeface="Courier New" pitchFamily="49" charset="0"/>
              </a:rPr>
              <a:t>    Write(fd3, "ef", 2);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3146" y="4431268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ffiles3.c</a:t>
            </a:r>
          </a:p>
        </p:txBody>
      </p:sp>
    </p:spTree>
    <p:extLst>
      <p:ext uri="{BB962C8B-B14F-4D97-AF65-F5344CB8AC3E}">
        <p14:creationId xmlns:p14="http://schemas.microsoft.com/office/powerpoint/2010/main" val="77881402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04800"/>
            <a:ext cx="7592093" cy="762000"/>
          </a:xfrm>
        </p:spPr>
        <p:txBody>
          <a:bodyPr/>
          <a:lstStyle/>
          <a:p>
            <a:r>
              <a:rPr lang="en-US"/>
              <a:t>Accessing Directories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851" y="1066800"/>
            <a:ext cx="8565549" cy="4972050"/>
          </a:xfrm>
        </p:spPr>
        <p:txBody>
          <a:bodyPr/>
          <a:lstStyle/>
          <a:p>
            <a:r>
              <a:rPr lang="en-US" dirty="0" smtClean="0"/>
              <a:t>Only </a:t>
            </a:r>
            <a:r>
              <a:rPr lang="en-US" dirty="0"/>
              <a:t>recommended operation on a </a:t>
            </a:r>
            <a:r>
              <a:rPr lang="en-US" dirty="0" smtClean="0"/>
              <a:t>directory: read </a:t>
            </a:r>
            <a:r>
              <a:rPr lang="en-US" dirty="0"/>
              <a:t>its entries</a:t>
            </a:r>
          </a:p>
          <a:p>
            <a:pPr lvl="1"/>
            <a:r>
              <a:rPr lang="en-US" b="1" dirty="0" err="1">
                <a:latin typeface="Courier New"/>
                <a:cs typeface="Courier New"/>
              </a:rPr>
              <a:t>dirent</a:t>
            </a:r>
            <a:r>
              <a:rPr lang="en-US" dirty="0"/>
              <a:t> structure contains information about a directory entry</a:t>
            </a:r>
          </a:p>
          <a:p>
            <a:pPr lvl="1"/>
            <a:r>
              <a:rPr lang="en-US" dirty="0"/>
              <a:t>DIR structure contains information about directory while stepping through its entries</a:t>
            </a:r>
          </a:p>
        </p:txBody>
      </p:sp>
      <p:sp>
        <p:nvSpPr>
          <p:cNvPr id="685060" name="Text Box 4"/>
          <p:cNvSpPr txBox="1">
            <a:spLocks noChangeArrowheads="1"/>
          </p:cNvSpPr>
          <p:nvPr/>
        </p:nvSpPr>
        <p:spPr bwMode="auto">
          <a:xfrm>
            <a:off x="939114" y="2607276"/>
            <a:ext cx="5646739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&lt;sys/types.h&gt;</a:t>
            </a:r>
          </a:p>
          <a:p>
            <a:r>
              <a:rPr lang="en-US" sz="1600" dirty="0">
                <a:latin typeface="Courier New" pitchFamily="49" charset="0"/>
              </a:rPr>
              <a:t>#include &lt;dirent.h&gt;</a:t>
            </a:r>
          </a:p>
          <a:p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DIR *directory;</a:t>
            </a:r>
          </a:p>
          <a:p>
            <a:r>
              <a:rPr lang="en-US" sz="1600" dirty="0">
                <a:latin typeface="Courier New" pitchFamily="49" charset="0"/>
              </a:rPr>
              <a:t>  struct dirent *de;</a:t>
            </a:r>
          </a:p>
          <a:p>
            <a:r>
              <a:rPr lang="en-US" sz="1600" dirty="0">
                <a:latin typeface="Courier New" pitchFamily="49" charset="0"/>
              </a:rPr>
              <a:t>  ...</a:t>
            </a:r>
          </a:p>
          <a:p>
            <a:r>
              <a:rPr lang="en-US" sz="1600" dirty="0">
                <a:latin typeface="Courier New" pitchFamily="49" charset="0"/>
              </a:rPr>
              <a:t>  if (!(directory = opendir(dir_name)))</a:t>
            </a:r>
          </a:p>
          <a:p>
            <a:r>
              <a:rPr lang="en-US" sz="1600" dirty="0">
                <a:latin typeface="Courier New" pitchFamily="49" charset="0"/>
              </a:rPr>
              <a:t>      error("Failed to open directory");</a:t>
            </a:r>
          </a:p>
          <a:p>
            <a:r>
              <a:rPr lang="en-US" sz="1600" dirty="0">
                <a:latin typeface="Courier New" pitchFamily="49" charset="0"/>
              </a:rPr>
              <a:t>  ...</a:t>
            </a:r>
          </a:p>
          <a:p>
            <a:r>
              <a:rPr lang="en-US" sz="1600" dirty="0">
                <a:latin typeface="Courier New" pitchFamily="49" charset="0"/>
              </a:rPr>
              <a:t>  while (0 != (de = readdir(directory))) {</a:t>
            </a:r>
          </a:p>
          <a:p>
            <a:r>
              <a:rPr lang="en-US" sz="1600" dirty="0">
                <a:latin typeface="Courier New" pitchFamily="49" charset="0"/>
              </a:rPr>
              <a:t>      printf("Found file: %s\n", de-&gt;d_name);</a:t>
            </a:r>
          </a:p>
          <a:p>
            <a:r>
              <a:rPr lang="en-US" sz="1600" dirty="0">
                <a:latin typeface="Courier New" pitchFamily="49" charset="0"/>
              </a:rPr>
              <a:t>  }</a:t>
            </a:r>
          </a:p>
          <a:p>
            <a:r>
              <a:rPr lang="en-US" sz="1600" dirty="0">
                <a:latin typeface="Courier New" pitchFamily="49" charset="0"/>
              </a:rPr>
              <a:t>  ...</a:t>
            </a:r>
          </a:p>
          <a:p>
            <a:r>
              <a:rPr lang="en-US" sz="1600" dirty="0">
                <a:latin typeface="Courier New" pitchFamily="49" charset="0"/>
              </a:rPr>
              <a:t>  closedir(directory);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470728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32707" y="304800"/>
            <a:ext cx="7592093" cy="762000"/>
          </a:xfrm>
        </p:spPr>
        <p:txBody>
          <a:bodyPr/>
          <a:lstStyle/>
          <a:p>
            <a:r>
              <a:rPr lang="en-US"/>
              <a:t>Example of Accessing File Metadata</a:t>
            </a:r>
          </a:p>
        </p:txBody>
      </p:sp>
      <p:sp>
        <p:nvSpPr>
          <p:cNvPr id="663556" name="Text Box 4"/>
          <p:cNvSpPr txBox="1">
            <a:spLocks noChangeArrowheads="1"/>
          </p:cNvSpPr>
          <p:nvPr/>
        </p:nvSpPr>
        <p:spPr bwMode="auto">
          <a:xfrm>
            <a:off x="152400" y="1371600"/>
            <a:ext cx="8153400" cy="501675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) 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stat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stat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readok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Stat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[1], &amp;stat);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(S_ISREG(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stat.st_mode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Determine file type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	type =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"regular"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(S_ISDIR(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stat.st_mode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	type =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"directory"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hu-HU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hu-HU" sz="1600" dirty="0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endParaRPr lang="hu-HU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type =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"other"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stat.st_mode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&amp; S_IRUSR))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Check read access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readok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"yes"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hu-HU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hu-HU" sz="1600" dirty="0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endParaRPr lang="hu-HU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s-ES_tradnl" sz="1600" dirty="0" err="1">
                <a:solidFill>
                  <a:srgbClr val="000000"/>
                </a:solidFill>
                <a:latin typeface="Courier New"/>
                <a:cs typeface="Courier New"/>
              </a:rPr>
              <a:t>readok</a:t>
            </a:r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s-ES_tradnl" sz="1600" dirty="0">
                <a:solidFill>
                  <a:srgbClr val="9D206F"/>
                </a:solidFill>
                <a:latin typeface="Courier New"/>
                <a:cs typeface="Courier New"/>
              </a:rPr>
              <a:t>"no"</a:t>
            </a:r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es-ES_trad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s-ES_tradnl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-ES_tradnl" sz="16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es-ES_tradnl" sz="1600" dirty="0" err="1">
                <a:solidFill>
                  <a:srgbClr val="9D206F"/>
                </a:solidFill>
                <a:latin typeface="Courier New"/>
                <a:cs typeface="Courier New"/>
              </a:rPr>
              <a:t>type</a:t>
            </a:r>
            <a:r>
              <a:rPr lang="es-ES_tradnl" sz="1600" dirty="0">
                <a:solidFill>
                  <a:srgbClr val="9D206F"/>
                </a:solidFill>
                <a:latin typeface="Courier New"/>
                <a:cs typeface="Courier New"/>
              </a:rPr>
              <a:t>: %s, </a:t>
            </a:r>
            <a:r>
              <a:rPr lang="es-ES_tradnl" sz="1600" dirty="0" err="1">
                <a:solidFill>
                  <a:srgbClr val="9D206F"/>
                </a:solidFill>
                <a:latin typeface="Courier New"/>
                <a:cs typeface="Courier New"/>
              </a:rPr>
              <a:t>read</a:t>
            </a:r>
            <a:r>
              <a:rPr lang="es-ES_tradnl" sz="1600" dirty="0">
                <a:solidFill>
                  <a:srgbClr val="9D206F"/>
                </a:solidFill>
                <a:latin typeface="Courier New"/>
                <a:cs typeface="Courier New"/>
              </a:rPr>
              <a:t>: %s\n"</a:t>
            </a:r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-ES_tradnl" sz="1600" dirty="0" err="1">
                <a:solidFill>
                  <a:srgbClr val="000000"/>
                </a:solidFill>
                <a:latin typeface="Courier New"/>
                <a:cs typeface="Courier New"/>
              </a:rPr>
              <a:t>type</a:t>
            </a:r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-ES_tradnl" sz="1600" dirty="0" err="1">
                <a:solidFill>
                  <a:srgbClr val="000000"/>
                </a:solidFill>
                <a:latin typeface="Courier New"/>
                <a:cs typeface="Courier New"/>
              </a:rPr>
              <a:t>readok</a:t>
            </a:r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s-ES_tradnl" sz="1600" dirty="0" err="1">
                <a:solidFill>
                  <a:srgbClr val="000000"/>
                </a:solidFill>
                <a:latin typeface="Courier New"/>
                <a:cs typeface="Courier New"/>
              </a:rPr>
              <a:t>exit</a:t>
            </a:r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(0);</a:t>
            </a:r>
          </a:p>
          <a:p>
            <a:r>
              <a:rPr lang="es-ES_tradnl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663557" name="Text Box 5"/>
          <p:cNvSpPr txBox="1">
            <a:spLocks noChangeArrowheads="1"/>
          </p:cNvSpPr>
          <p:nvPr/>
        </p:nvSpPr>
        <p:spPr bwMode="auto">
          <a:xfrm>
            <a:off x="4876801" y="1143000"/>
            <a:ext cx="4114800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 type="none" w="sm" len="sm"/>
          </a:ln>
          <a:effectLst/>
        </p:spPr>
        <p:txBody>
          <a:bodyPr wrap="square" lIns="45720" rIns="45720">
            <a:spAutoFit/>
          </a:bodyPr>
          <a:lstStyle/>
          <a:p>
            <a:pPr algn="l"/>
            <a:r>
              <a:rPr lang="en-US" sz="1600" dirty="0" err="1" smtClean="0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./</a:t>
            </a:r>
            <a:r>
              <a:rPr lang="en-US" sz="1600" dirty="0" err="1">
                <a:latin typeface="Courier New" pitchFamily="49" charset="0"/>
              </a:rPr>
              <a:t>statcheck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statcheck.c</a:t>
            </a:r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type: regular, read: yes</a:t>
            </a:r>
          </a:p>
          <a:p>
            <a:pPr algn="l"/>
            <a:r>
              <a:rPr lang="en-US" sz="1600" dirty="0" err="1" smtClean="0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dirty="0" err="1">
                <a:latin typeface="Courier New" pitchFamily="49" charset="0"/>
              </a:rPr>
              <a:t>chmod</a:t>
            </a:r>
            <a:r>
              <a:rPr lang="en-US" sz="1600" dirty="0">
                <a:latin typeface="Courier New" pitchFamily="49" charset="0"/>
              </a:rPr>
              <a:t> 000 </a:t>
            </a:r>
            <a:r>
              <a:rPr lang="en-US" sz="1600" dirty="0" err="1">
                <a:latin typeface="Courier New" pitchFamily="49" charset="0"/>
              </a:rPr>
              <a:t>statcheck.c</a:t>
            </a:r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 smtClean="0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./</a:t>
            </a:r>
            <a:r>
              <a:rPr lang="en-US" sz="1600" dirty="0" err="1">
                <a:latin typeface="Courier New" pitchFamily="49" charset="0"/>
              </a:rPr>
              <a:t>statcheck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statcheck.c</a:t>
            </a:r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>
                <a:latin typeface="Courier New" pitchFamily="49" charset="0"/>
              </a:rPr>
              <a:t>type: regular, read: no</a:t>
            </a:r>
          </a:p>
          <a:p>
            <a:pPr algn="l"/>
            <a:r>
              <a:rPr lang="en-US" sz="1600" dirty="0" err="1" smtClean="0">
                <a:latin typeface="Courier New" pitchFamily="49" charset="0"/>
              </a:rPr>
              <a:t>linux</a:t>
            </a:r>
            <a:r>
              <a:rPr lang="en-US" sz="1600" dirty="0" smtClean="0">
                <a:latin typeface="Courier New" pitchFamily="49" charset="0"/>
              </a:rPr>
              <a:t>&gt; </a:t>
            </a:r>
            <a:r>
              <a:rPr lang="en-US" sz="1600" dirty="0">
                <a:latin typeface="Courier New" pitchFamily="49" charset="0"/>
              </a:rPr>
              <a:t>./</a:t>
            </a:r>
            <a:r>
              <a:rPr lang="en-US" sz="1600" dirty="0" err="1">
                <a:latin typeface="Courier New" pitchFamily="49" charset="0"/>
              </a:rPr>
              <a:t>statcheck</a:t>
            </a:r>
            <a:r>
              <a:rPr lang="en-US" sz="1600" dirty="0">
                <a:latin typeface="Courier New" pitchFamily="49" charset="0"/>
              </a:rPr>
              <a:t> ..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type: directory, read: </a:t>
            </a:r>
            <a:r>
              <a:rPr lang="en-US" sz="1600" dirty="0" smtClean="0">
                <a:latin typeface="Courier New" pitchFamily="49" charset="0"/>
              </a:rPr>
              <a:t>yes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53200" y="6019800"/>
            <a:ext cx="170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statcheck.c</a:t>
            </a:r>
            <a:endParaRPr lang="en-US" sz="1800" dirty="0" smtClean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7569860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435678"/>
            <a:ext cx="7592093" cy="762000"/>
          </a:xfrm>
        </p:spPr>
        <p:txBody>
          <a:bodyPr/>
          <a:lstStyle/>
          <a:p>
            <a:r>
              <a:rPr lang="en-US" smtClean="0"/>
              <a:t>For Further Information</a:t>
            </a:r>
            <a:endParaRPr lang="en-US"/>
          </a:p>
        </p:txBody>
      </p:sp>
      <p:sp>
        <p:nvSpPr>
          <p:cNvPr id="6502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6875" y="1143000"/>
            <a:ext cx="8518525" cy="4972050"/>
          </a:xfrm>
        </p:spPr>
        <p:txBody>
          <a:bodyPr/>
          <a:lstStyle/>
          <a:p>
            <a:r>
              <a:rPr lang="en-US" dirty="0" smtClean="0"/>
              <a:t>The Unix bible:</a:t>
            </a:r>
          </a:p>
          <a:p>
            <a:pPr lvl="1"/>
            <a:r>
              <a:rPr lang="en-US" dirty="0" smtClean="0"/>
              <a:t>W. Richard  Stevens &amp; Stephen A. </a:t>
            </a:r>
            <a:r>
              <a:rPr lang="en-US" dirty="0" err="1" smtClean="0"/>
              <a:t>Rago</a:t>
            </a:r>
            <a:r>
              <a:rPr lang="en-US" dirty="0" smtClean="0"/>
              <a:t>, </a:t>
            </a:r>
            <a:r>
              <a:rPr lang="en-US" b="1" i="1" dirty="0" smtClean="0"/>
              <a:t>Advanced Programming in the Unix Environment</a:t>
            </a:r>
            <a:r>
              <a:rPr lang="en-US" dirty="0" smtClean="0"/>
              <a:t>, 2</a:t>
            </a:r>
            <a:r>
              <a:rPr lang="en-US" baseline="30000" dirty="0" smtClean="0"/>
              <a:t>nd</a:t>
            </a:r>
            <a:r>
              <a:rPr lang="en-US" dirty="0" smtClean="0"/>
              <a:t> Edition, Addison Wesley, 2005</a:t>
            </a:r>
          </a:p>
          <a:p>
            <a:pPr lvl="2"/>
            <a:r>
              <a:rPr lang="en-US" dirty="0" smtClean="0"/>
              <a:t>Updated from </a:t>
            </a:r>
            <a:r>
              <a:rPr lang="en-US" dirty="0" err="1" smtClean="0"/>
              <a:t>Stevens’s</a:t>
            </a:r>
            <a:r>
              <a:rPr lang="en-US" dirty="0" smtClean="0"/>
              <a:t> 1993 classic text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Linux bible:</a:t>
            </a:r>
          </a:p>
          <a:p>
            <a:pPr lvl="1"/>
            <a:r>
              <a:rPr lang="en-US" dirty="0" smtClean="0"/>
              <a:t>Michael </a:t>
            </a:r>
            <a:r>
              <a:rPr lang="en-US" dirty="0" err="1" smtClean="0"/>
              <a:t>Kerrisk</a:t>
            </a:r>
            <a:r>
              <a:rPr lang="en-US" dirty="0" smtClean="0"/>
              <a:t>, The Linux Programming Interface, No Starch Press, 2010</a:t>
            </a:r>
          </a:p>
          <a:p>
            <a:pPr lvl="2"/>
            <a:r>
              <a:rPr lang="en-US" dirty="0" smtClean="0"/>
              <a:t>Encyclopedic and authoritative</a:t>
            </a:r>
          </a:p>
          <a:p>
            <a:pPr marL="914400" lvl="2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247358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15 Minute Break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951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76032"/>
            <a:ext cx="7896225" cy="497205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System IO</a:t>
            </a:r>
            <a:endParaRPr lang="en-US" dirty="0" smtClean="0">
              <a:solidFill>
                <a:srgbClr val="B3B3B3"/>
              </a:solidFill>
            </a:endParaRPr>
          </a:p>
          <a:p>
            <a:r>
              <a:rPr lang="en-US" sz="2800" dirty="0" smtClean="0"/>
              <a:t>Virtual Memory </a:t>
            </a:r>
            <a:endParaRPr lang="en-US" dirty="0" smtClean="0"/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57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Hmmm, How Does This Work?!		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11212"/>
            <a:ext cx="292470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32"/>
          <a:stretch/>
        </p:blipFill>
        <p:spPr bwMode="auto">
          <a:xfrm>
            <a:off x="4114800" y="1611212"/>
            <a:ext cx="1151406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Oval 16"/>
          <p:cNvSpPr/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78082" y="1219200"/>
            <a:ext cx="107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Process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8600" y="1219200"/>
            <a:ext cx="107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Process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7070" y="1219200"/>
            <a:ext cx="108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Process n</a:t>
            </a: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611212"/>
            <a:ext cx="292470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1632549" y="6143017"/>
            <a:ext cx="4964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Solution: Virtual Memory (today and next lecture)</a:t>
            </a:r>
          </a:p>
        </p:txBody>
      </p:sp>
    </p:spTree>
    <p:extLst>
      <p:ext uri="{BB962C8B-B14F-4D97-AF65-F5344CB8AC3E}">
        <p14:creationId xmlns:p14="http://schemas.microsoft.com/office/powerpoint/2010/main" val="770318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2" grpId="0" animBg="1"/>
      <p:bldP spid="24" grpId="0"/>
      <p:bldP spid="25" grpId="0"/>
      <p:bldP spid="2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System IO</a:t>
            </a:r>
            <a:endParaRPr lang="en-US" dirty="0" smtClean="0">
              <a:solidFill>
                <a:srgbClr val="B3B3B3"/>
              </a:solidFill>
            </a:endParaRPr>
          </a:p>
          <a:p>
            <a:r>
              <a:rPr lang="en-US" sz="2800" dirty="0" smtClean="0"/>
              <a:t>Virtual Memory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Address spaces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caching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memory management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memory protection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Address translation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607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350837" y="381000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 System Using Physical Addressing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2" y="5791200"/>
            <a:ext cx="8307388" cy="881063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Used in “simple” systems like embedded microcontrollers in devices like cars, elevators, and digital picture frames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4648200" y="4233863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341813" y="1665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0: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4341813" y="1893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1: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4103002" y="4186238"/>
            <a:ext cx="584839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M-1: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4379913" y="1371600"/>
            <a:ext cx="138884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1600200" y="246740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4343400" y="2122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2: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4341813" y="23510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3: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4648200" y="16700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4648200" y="18986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4648200" y="21272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4648200" y="23558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4648200" y="25844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4648200" y="28130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4341813" y="2579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4: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4341813" y="2808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5:</a:t>
            </a: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4648200" y="30416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4648200" y="32702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4341813" y="3036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6:</a:t>
            </a: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4343400" y="3265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7:</a:t>
            </a:r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4648200" y="4010025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733628" y="2133600"/>
            <a:ext cx="1567353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(PA)</a:t>
            </a:r>
          </a:p>
        </p:txBody>
      </p:sp>
      <p:sp>
        <p:nvSpPr>
          <p:cNvPr id="9247" name="AutoShape 31"/>
          <p:cNvSpPr>
            <a:spLocks/>
          </p:cNvSpPr>
          <p:nvPr/>
        </p:nvSpPr>
        <p:spPr bwMode="auto">
          <a:xfrm>
            <a:off x="5638801" y="2584450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715726" y="4832740"/>
            <a:ext cx="1069320" cy="3366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Data word</a:t>
            </a:r>
          </a:p>
        </p:txBody>
      </p:sp>
      <p:sp>
        <p:nvSpPr>
          <p:cNvPr id="9249" name="Rectangle 33"/>
          <p:cNvSpPr>
            <a:spLocks noChangeArrowheads="1"/>
          </p:cNvSpPr>
          <p:nvPr/>
        </p:nvSpPr>
        <p:spPr bwMode="auto">
          <a:xfrm>
            <a:off x="4648200" y="3499301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4341813" y="350043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8:</a:t>
            </a:r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4724400" y="3733800"/>
            <a:ext cx="914400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 anchor="ctr"/>
          <a:lstStyle/>
          <a:p>
            <a:pPr algn="ctr" rt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alibri" pitchFamily="34" charset="0"/>
              </a:rPr>
              <a:t>...</a:t>
            </a:r>
          </a:p>
        </p:txBody>
      </p:sp>
      <p:cxnSp>
        <p:nvCxnSpPr>
          <p:cNvPr id="40" name="Straight Arrow Connector 39"/>
          <p:cNvCxnSpPr>
            <a:stCxn id="9226" idx="3"/>
            <a:endCxn id="9239" idx="1"/>
          </p:cNvCxnSpPr>
          <p:nvPr/>
        </p:nvCxnSpPr>
        <p:spPr bwMode="auto">
          <a:xfrm flipV="1">
            <a:off x="2667000" y="2732732"/>
            <a:ext cx="16748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 flipH="1">
            <a:off x="5791201" y="3041650"/>
            <a:ext cx="533399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 rot="5400000">
            <a:off x="5403850" y="3956844"/>
            <a:ext cx="1839912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/>
          <p:nvPr/>
        </p:nvCxnSpPr>
        <p:spPr bwMode="auto">
          <a:xfrm rot="10800000">
            <a:off x="2133602" y="3000809"/>
            <a:ext cx="4189410" cy="1876787"/>
          </a:xfrm>
          <a:prstGeom prst="bentConnector3">
            <a:avLst>
              <a:gd name="adj1" fmla="val 9999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3352800" y="2667000"/>
            <a:ext cx="307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740478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849998" y="2280692"/>
            <a:ext cx="3749615" cy="1149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350837" y="381000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 System Using Virtual Addressing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2" y="5443537"/>
            <a:ext cx="8307388" cy="1262063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Used in all modern servers, laptops, and smart phones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One of the great ideas in computer science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324600" y="4386263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018213" y="1817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0: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6018213" y="2046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1: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779402" y="4338638"/>
            <a:ext cx="584839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M-1: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6056313" y="1524000"/>
            <a:ext cx="138884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429000" y="2619808"/>
            <a:ext cx="1066800" cy="533400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6019800" y="2274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2: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6018213" y="2503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3: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324600" y="18224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6324600" y="20510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6324600" y="22796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6324600" y="25082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6324600" y="27368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6324600" y="29654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6018213" y="27320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4: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6018213" y="2960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5:</a:t>
            </a: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6324600" y="31940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6324600" y="34226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6018213" y="3189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6:</a:t>
            </a: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6019800" y="3417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7:</a:t>
            </a:r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6324600" y="4162425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557652" y="2378791"/>
            <a:ext cx="1395808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Physical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(PA)</a:t>
            </a:r>
          </a:p>
        </p:txBody>
      </p:sp>
      <p:sp>
        <p:nvSpPr>
          <p:cNvPr id="9247" name="AutoShape 31"/>
          <p:cNvSpPr>
            <a:spLocks/>
          </p:cNvSpPr>
          <p:nvPr/>
        </p:nvSpPr>
        <p:spPr bwMode="auto">
          <a:xfrm>
            <a:off x="7315201" y="2736850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4000500" y="5000625"/>
            <a:ext cx="95697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 word</a:t>
            </a:r>
          </a:p>
        </p:txBody>
      </p:sp>
      <p:sp>
        <p:nvSpPr>
          <p:cNvPr id="9249" name="Rectangle 33"/>
          <p:cNvSpPr>
            <a:spLocks noChangeArrowheads="1"/>
          </p:cNvSpPr>
          <p:nvPr/>
        </p:nvSpPr>
        <p:spPr bwMode="auto">
          <a:xfrm>
            <a:off x="6324600" y="3651701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6018213" y="365283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8:</a:t>
            </a:r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6400800" y="3886200"/>
            <a:ext cx="914400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 anchor="ctr"/>
          <a:lstStyle/>
          <a:p>
            <a:pPr algn="ctr" rt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alibri" pitchFamily="34" charset="0"/>
              </a:rPr>
              <a:t>...</a:t>
            </a:r>
          </a:p>
        </p:txBody>
      </p:sp>
      <p:cxnSp>
        <p:nvCxnSpPr>
          <p:cNvPr id="40" name="Straight Arrow Connector 39"/>
          <p:cNvCxnSpPr>
            <a:stCxn id="9226" idx="3"/>
            <a:endCxn id="9239" idx="1"/>
          </p:cNvCxnSpPr>
          <p:nvPr/>
        </p:nvCxnSpPr>
        <p:spPr bwMode="auto">
          <a:xfrm flipV="1">
            <a:off x="4495800" y="2885132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 flipH="1">
            <a:off x="7467601" y="3194050"/>
            <a:ext cx="533399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 rot="5400000">
            <a:off x="7080250" y="4109244"/>
            <a:ext cx="1839912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>
            <a:endCxn id="37" idx="2"/>
          </p:cNvCxnSpPr>
          <p:nvPr/>
        </p:nvCxnSpPr>
        <p:spPr bwMode="auto">
          <a:xfrm rot="10800000">
            <a:off x="1524000" y="3153695"/>
            <a:ext cx="6475412" cy="1876304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990600" y="2620295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057400" y="2882426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057839" y="2378791"/>
            <a:ext cx="1305078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Virtual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(VA)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19767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5400" y="2815141"/>
            <a:ext cx="307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2200" y="2882426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4100</a:t>
            </a:r>
          </a:p>
        </p:txBody>
      </p:sp>
    </p:spTree>
    <p:extLst>
      <p:ext uri="{BB962C8B-B14F-4D97-AF65-F5344CB8AC3E}">
        <p14:creationId xmlns:p14="http://schemas.microsoft.com/office/powerpoint/2010/main" val="8242963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289925" cy="4972050"/>
          </a:xfrm>
        </p:spPr>
        <p:txBody>
          <a:bodyPr/>
          <a:lstStyle/>
          <a:p>
            <a:r>
              <a:rPr lang="en-US" sz="2000" dirty="0">
                <a:solidFill>
                  <a:srgbClr val="990000"/>
                </a:solidFill>
              </a:rPr>
              <a:t>Linear address space: </a:t>
            </a:r>
            <a:r>
              <a:rPr lang="en-US" sz="2000" b="0" dirty="0"/>
              <a:t>Ordered set of contiguous non-negative integer addresses:</a:t>
            </a:r>
            <a:br>
              <a:rPr lang="en-US" sz="2000" b="0" dirty="0"/>
            </a:br>
            <a:r>
              <a:rPr lang="en-US" sz="2000" b="0" dirty="0"/>
              <a:t>		{0, 1, 2, 3 … }</a:t>
            </a:r>
          </a:p>
          <a:p>
            <a:endParaRPr lang="en-US" sz="2000" dirty="0">
              <a:solidFill>
                <a:srgbClr val="990000"/>
              </a:solidFill>
            </a:endParaRPr>
          </a:p>
          <a:p>
            <a:r>
              <a:rPr lang="en-US" sz="2000" dirty="0">
                <a:solidFill>
                  <a:srgbClr val="990000"/>
                </a:solidFill>
              </a:rPr>
              <a:t>Virtual address space: </a:t>
            </a:r>
            <a:r>
              <a:rPr lang="en-US" sz="2000" b="0" dirty="0"/>
              <a:t>Set of N = 2</a:t>
            </a:r>
            <a:r>
              <a:rPr lang="en-US" sz="2000" b="0" baseline="30000" dirty="0"/>
              <a:t>n</a:t>
            </a:r>
            <a:r>
              <a:rPr lang="en-US" sz="2000" b="0" dirty="0"/>
              <a:t> virtual addresses</a:t>
            </a:r>
            <a:br>
              <a:rPr lang="en-US" sz="2000" b="0" dirty="0"/>
            </a:br>
            <a:r>
              <a:rPr lang="en-US" sz="2000" b="0" dirty="0"/>
              <a:t>		{0, 1, 2, 3, …, N-1}</a:t>
            </a:r>
          </a:p>
          <a:p>
            <a:endParaRPr lang="en-US" sz="2000" dirty="0">
              <a:solidFill>
                <a:srgbClr val="990000"/>
              </a:solidFill>
            </a:endParaRPr>
          </a:p>
          <a:p>
            <a:r>
              <a:rPr lang="en-US" sz="2000" dirty="0">
                <a:solidFill>
                  <a:srgbClr val="990000"/>
                </a:solidFill>
              </a:rPr>
              <a:t>Physical address space: </a:t>
            </a:r>
            <a:r>
              <a:rPr lang="en-US" sz="2000" b="0" dirty="0"/>
              <a:t>Set of M = 2</a:t>
            </a:r>
            <a:r>
              <a:rPr lang="en-US" sz="2000" b="0" baseline="30000" dirty="0"/>
              <a:t>m</a:t>
            </a:r>
            <a:r>
              <a:rPr lang="en-US" sz="2000" b="0" dirty="0"/>
              <a:t> physical addresses</a:t>
            </a:r>
            <a:br>
              <a:rPr lang="en-US" sz="2000" b="0" dirty="0"/>
            </a:br>
            <a:r>
              <a:rPr lang="en-US" sz="2000" b="0" dirty="0"/>
              <a:t>		{0, 1, 2, 3, …, M-1}</a:t>
            </a:r>
          </a:p>
          <a:p>
            <a:pPr marL="0" indent="0">
              <a:buNone/>
            </a:pP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24279642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001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Why Virtual Memory (VM)?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301750"/>
            <a:ext cx="8686800" cy="5480050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Uses main </a:t>
            </a:r>
            <a:r>
              <a:rPr lang="en-GB" dirty="0"/>
              <a:t>memory efficiently</a:t>
            </a:r>
            <a:endParaRPr lang="en-GB" dirty="0">
              <a:effectLst/>
            </a:endParaRP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 DRAM as a cache for parts of a virtual address space</a:t>
            </a:r>
          </a:p>
          <a:p>
            <a:pPr>
              <a:lnSpc>
                <a:spcPct val="83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Simplifies memory management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process gets the same uniform linear address space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Isolates address spaces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One process can’t interfere with another’s memory	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User program cannot access privileged kernel information and code</a:t>
            </a:r>
          </a:p>
        </p:txBody>
      </p:sp>
    </p:spTree>
    <p:extLst>
      <p:ext uri="{BB962C8B-B14F-4D97-AF65-F5344CB8AC3E}">
        <p14:creationId xmlns:p14="http://schemas.microsoft.com/office/powerpoint/2010/main" val="345109216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System IO</a:t>
            </a:r>
            <a:endParaRPr lang="en-US" dirty="0" smtClean="0">
              <a:solidFill>
                <a:srgbClr val="B3B3B3"/>
              </a:solidFill>
            </a:endParaRPr>
          </a:p>
          <a:p>
            <a:r>
              <a:rPr lang="en-US" sz="2800" dirty="0" smtClean="0"/>
              <a:t>Virtual Memory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Address spaces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VM as a tool for caching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memory management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memory protection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Address translation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607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VM as a Tool for Caching</a:t>
            </a:r>
            <a:endParaRPr lang="en-GB" dirty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7896225" cy="2066925"/>
          </a:xfrm>
        </p:spPr>
        <p:txBody>
          <a:bodyPr/>
          <a:lstStyle/>
          <a:p>
            <a:r>
              <a:rPr lang="en-US" dirty="0"/>
              <a:t>Conceptually,</a:t>
            </a:r>
            <a:r>
              <a:rPr lang="en-US" i="1" dirty="0">
                <a:solidFill>
                  <a:srgbClr val="990000"/>
                </a:solidFill>
              </a:rPr>
              <a:t> virtual memory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/>
              <a:t>is an array of N contiguous bytes stored on disk. </a:t>
            </a:r>
          </a:p>
          <a:p>
            <a:r>
              <a:rPr lang="en-US" dirty="0"/>
              <a:t>The contents of the array on disk are cached in </a:t>
            </a:r>
            <a:r>
              <a:rPr lang="en-US" i="1" dirty="0">
                <a:solidFill>
                  <a:srgbClr val="990000"/>
                </a:solidFill>
              </a:rPr>
              <a:t>physical memory</a:t>
            </a:r>
            <a:r>
              <a:rPr lang="en-US" dirty="0"/>
              <a:t> (</a:t>
            </a:r>
            <a:r>
              <a:rPr lang="en-US" i="1" dirty="0">
                <a:solidFill>
                  <a:srgbClr val="990000"/>
                </a:solidFill>
              </a:rPr>
              <a:t>DRAM cache</a:t>
            </a:r>
            <a:r>
              <a:rPr lang="en-US" dirty="0"/>
              <a:t>)</a:t>
            </a:r>
          </a:p>
          <a:p>
            <a:pPr lvl="1"/>
            <a:r>
              <a:rPr lang="en-GB" dirty="0"/>
              <a:t>These cache blocks are called </a:t>
            </a:r>
            <a:r>
              <a:rPr lang="en-GB" i="1" dirty="0"/>
              <a:t>pages </a:t>
            </a:r>
            <a:r>
              <a:rPr lang="en-GB" dirty="0"/>
              <a:t>(size is P = 2</a:t>
            </a:r>
            <a:r>
              <a:rPr lang="en-GB" baseline="30000" dirty="0"/>
              <a:t>p</a:t>
            </a:r>
            <a:r>
              <a:rPr lang="en-GB" dirty="0"/>
              <a:t> bytes)</a:t>
            </a:r>
            <a:endParaRPr lang="en-GB" baseline="30000" dirty="0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5145248" y="53022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021510" y="5281613"/>
            <a:ext cx="850938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2</a:t>
            </a:r>
            <a:r>
              <a:rPr lang="en-GB" sz="1400" baseline="30000" dirty="0">
                <a:latin typeface="Calibri" pitchFamily="34" charset="0"/>
              </a:rPr>
              <a:t>m-p</a:t>
            </a:r>
            <a:r>
              <a:rPr lang="en-GB" sz="1400" dirty="0">
                <a:latin typeface="Calibri" pitchFamily="34" charset="0"/>
              </a:rPr>
              <a:t>-1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762661" y="3503913"/>
            <a:ext cx="162788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memory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5145248" y="41719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145248" y="44005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145248" y="46291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2329023" y="5508625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1834983" y="3916363"/>
            <a:ext cx="515909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0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1834983" y="4144963"/>
            <a:ext cx="515909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1524000" y="5505450"/>
            <a:ext cx="826892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  <a:r>
              <a:rPr lang="en-GB" sz="1400" baseline="30000" dirty="0">
                <a:latin typeface="Calibri" pitchFamily="34" charset="0"/>
              </a:rPr>
              <a:t>n-p</a:t>
            </a:r>
            <a:r>
              <a:rPr lang="en-GB" sz="1400" dirty="0">
                <a:latin typeface="Calibri" pitchFamily="34" charset="0"/>
              </a:rPr>
              <a:t>-1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2019461" y="3503913"/>
            <a:ext cx="152509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Virtual memory</a:t>
            </a:r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2329023" y="3927024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Unallocated</a:t>
            </a: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2329023" y="4155624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2329023" y="4384224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2329023" y="461010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Unallocated</a:t>
            </a:r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2329023" y="4835525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2329023" y="5064125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6021510" y="4141788"/>
            <a:ext cx="50556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0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6021510" y="4370388"/>
            <a:ext cx="50556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1</a:t>
            </a:r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>
            <a:off x="3243423" y="4264025"/>
            <a:ext cx="1905000" cy="260350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5145248" y="50736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312" name="Line 24"/>
          <p:cNvSpPr>
            <a:spLocks noChangeShapeType="1"/>
          </p:cNvSpPr>
          <p:nvPr/>
        </p:nvSpPr>
        <p:spPr bwMode="auto">
          <a:xfrm>
            <a:off x="3243423" y="4981575"/>
            <a:ext cx="1905000" cy="457200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2329023" y="5286375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>
            <a:off x="5145248" y="48577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Line 27"/>
          <p:cNvSpPr>
            <a:spLocks noChangeShapeType="1"/>
          </p:cNvSpPr>
          <p:nvPr/>
        </p:nvSpPr>
        <p:spPr bwMode="auto">
          <a:xfrm flipV="1">
            <a:off x="3243423" y="4979988"/>
            <a:ext cx="1905000" cy="384175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3189448" y="3810000"/>
            <a:ext cx="2540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0</a:t>
            </a:r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3203286" y="5606794"/>
            <a:ext cx="370486" cy="2458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N-1</a:t>
            </a: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4799216" y="5414351"/>
            <a:ext cx="398101" cy="2458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M-1</a:t>
            </a:r>
          </a:p>
        </p:txBody>
      </p:sp>
      <p:sp>
        <p:nvSpPr>
          <p:cNvPr id="12319" name="Text Box 31"/>
          <p:cNvSpPr txBox="1">
            <a:spLocks noChangeArrowheads="1"/>
          </p:cNvSpPr>
          <p:nvPr/>
        </p:nvSpPr>
        <p:spPr bwMode="auto">
          <a:xfrm>
            <a:off x="4948131" y="4055885"/>
            <a:ext cx="2540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0</a:t>
            </a:r>
          </a:p>
        </p:txBody>
      </p:sp>
      <p:sp>
        <p:nvSpPr>
          <p:cNvPr id="12320" name="Text Box 32"/>
          <p:cNvSpPr txBox="1">
            <a:spLocks noChangeArrowheads="1"/>
          </p:cNvSpPr>
          <p:nvPr/>
        </p:nvSpPr>
        <p:spPr bwMode="auto">
          <a:xfrm>
            <a:off x="1913533" y="5899495"/>
            <a:ext cx="1794579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Virtual pages (VPs)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stored on disk</a:t>
            </a:r>
          </a:p>
        </p:txBody>
      </p:sp>
      <p:sp>
        <p:nvSpPr>
          <p:cNvPr id="12321" name="Text Box 33"/>
          <p:cNvSpPr txBox="1">
            <a:spLocks noChangeArrowheads="1"/>
          </p:cNvSpPr>
          <p:nvPr/>
        </p:nvSpPr>
        <p:spPr bwMode="auto">
          <a:xfrm>
            <a:off x="4708977" y="5899495"/>
            <a:ext cx="1872124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pages (</a:t>
            </a:r>
            <a:r>
              <a:rPr lang="en-GB" sz="1600" dirty="0" err="1">
                <a:latin typeface="Calibri" pitchFamily="34" charset="0"/>
              </a:rPr>
              <a:t>PPs</a:t>
            </a:r>
            <a:r>
              <a:rPr lang="en-GB" sz="1600" dirty="0">
                <a:latin typeface="Calibri" pitchFamily="34" charset="0"/>
              </a:rPr>
              <a:t>)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cached in DRAM</a:t>
            </a:r>
          </a:p>
        </p:txBody>
      </p:sp>
    </p:spTree>
    <p:extLst>
      <p:ext uri="{BB962C8B-B14F-4D97-AF65-F5344CB8AC3E}">
        <p14:creationId xmlns:p14="http://schemas.microsoft.com/office/powerpoint/2010/main" val="173444966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278169" y="468757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DRAM Cache Organization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347788"/>
            <a:ext cx="8548687" cy="535781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DRAM cache organization driven by the enormous miss penalty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DRAM is about </a:t>
            </a:r>
            <a:r>
              <a:rPr lang="en-GB" b="1" i="1" dirty="0">
                <a:solidFill>
                  <a:srgbClr val="C00000"/>
                </a:solidFill>
              </a:rPr>
              <a:t>10x</a:t>
            </a:r>
            <a:r>
              <a:rPr lang="en-GB" dirty="0"/>
              <a:t> slower than SRAM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Disk is about </a:t>
            </a:r>
            <a:r>
              <a:rPr lang="en-GB" b="1" i="1" dirty="0">
                <a:solidFill>
                  <a:srgbClr val="C00000"/>
                </a:solidFill>
              </a:rPr>
              <a:t>10,000x</a:t>
            </a:r>
            <a:r>
              <a:rPr lang="en-GB" dirty="0"/>
              <a:t> slower than </a:t>
            </a:r>
            <a:r>
              <a:rPr lang="en-GB" dirty="0" smtClean="0"/>
              <a:t>DRAM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 smtClean="0"/>
              <a:t>Time to load block from disk &gt; 1ms (&gt; 1 million clock cycles)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 smtClean="0"/>
              <a:t>CPU can do a lot of computation during that time</a:t>
            </a: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Consequences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Large page (block) size: typically 4 KB, sometimes 4 MB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Fully associative 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Any VP can be placed in any PP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Requires a “large” mapping function – different from cache memories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Highly sophisticated, expensive replacement algorithms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Too complicated and open-ended to be implemented in hardware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Write-back rather than write-through</a:t>
            </a:r>
          </a:p>
        </p:txBody>
      </p:sp>
    </p:spTree>
    <p:extLst>
      <p:ext uri="{BB962C8B-B14F-4D97-AF65-F5344CB8AC3E}">
        <p14:creationId xmlns:p14="http://schemas.microsoft.com/office/powerpoint/2010/main" val="118521916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Enabling Data Structure: Page Table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147763"/>
            <a:ext cx="8307387" cy="12906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 </a:t>
            </a:r>
            <a:r>
              <a:rPr lang="en-GB" i="1" dirty="0">
                <a:solidFill>
                  <a:srgbClr val="C00000"/>
                </a:solidFill>
              </a:rPr>
              <a:t>page table </a:t>
            </a:r>
            <a:r>
              <a:rPr lang="en-GB" dirty="0"/>
              <a:t>is an array of page table entries (PTEs) that maps virtual pages to physical pages. 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Per-process kernel data structure in DRAM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120900" y="46767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120900" y="4905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2120900" y="44481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2120900" y="33051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120900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2120900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2120900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2120900" y="42195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2073631" y="51751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5348288" y="23622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5465763" y="34006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5465763" y="36099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2946400" y="47974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2946400" y="34274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2971800" y="31988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2921000" y="29702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5400675" y="43592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1816100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1816100" y="4905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1816100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1816100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1816100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1816100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1816100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1816100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1587500" y="30003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1824127" y="32750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1824920" y="35079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1824127" y="39737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1824920" y="41808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1824127" y="44202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1824920" y="48796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1824127" y="46467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1824920" y="37408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2187575" y="25114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1209497" y="32399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1206322" y="48528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6831013" y="29098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5465763" y="31750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5465763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2895600" y="50038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2895600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2895600" y="38671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2895600" y="3632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6843713" y="3570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5473700" y="49879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5473700" y="52984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5473700" y="59194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5473700" y="62299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5473700" y="65405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2895600" y="40763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2908300" y="41210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2895600" y="4286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2940050" y="36433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5473700" y="56089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</p:spTree>
    <p:extLst>
      <p:ext uri="{BB962C8B-B14F-4D97-AF65-F5344CB8AC3E}">
        <p14:creationId xmlns:p14="http://schemas.microsoft.com/office/powerpoint/2010/main" val="315937138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8" grpId="0"/>
      <p:bldP spid="14349" grpId="0" animBg="1"/>
      <p:bldP spid="14350" grpId="0" animBg="1"/>
      <p:bldP spid="14351" grpId="0" animBg="1"/>
      <p:bldP spid="14352" grpId="0" animBg="1"/>
      <p:bldP spid="14353" grpId="0" animBg="1"/>
      <p:bldP spid="14354" grpId="0" animBg="1"/>
      <p:bldP spid="14355" grpId="0"/>
      <p:bldP spid="14376" grpId="0"/>
      <p:bldP spid="14377" grpId="0" animBg="1"/>
      <p:bldP spid="14378" grpId="0" animBg="1"/>
      <p:bldP spid="14383" grpId="0"/>
      <p:bldP spid="14384" grpId="0" animBg="1"/>
      <p:bldP spid="14385" grpId="0" animBg="1"/>
      <p:bldP spid="14386" grpId="0" animBg="1"/>
      <p:bldP spid="14387" grpId="0" animBg="1"/>
      <p:bldP spid="14388" grpId="0" animBg="1"/>
      <p:bldP spid="14390" grpId="0" animBg="1"/>
      <p:bldP spid="14392" grpId="0" animBg="1"/>
      <p:bldP spid="1439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Page Hit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6048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Page hit: </a:t>
            </a:r>
            <a:r>
              <a:rPr lang="en-GB" dirty="0"/>
              <a:t>reference to VM word that is in physical memory (DRAM cache hit)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1849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1849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1849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1849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1849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1849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1849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1849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1376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123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5298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5298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104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104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0358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39850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4647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8801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8801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8801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8801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8801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8801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8801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8801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6515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8881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8889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8881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8889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8881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8889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8881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8889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2516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2735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2703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8950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5298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5298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39596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39596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39596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39596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077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5377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5377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5377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5377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5377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39596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39723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39596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040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5377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381000" y="24384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1" name="Shape 60"/>
          <p:cNvCxnSpPr>
            <a:stCxn id="59" idx="2"/>
            <a:endCxn id="14372" idx="1"/>
          </p:cNvCxnSpPr>
          <p:nvPr/>
        </p:nvCxnSpPr>
        <p:spPr bwMode="auto">
          <a:xfrm rot="16200000" flipH="1">
            <a:off x="1543358" y="2319029"/>
            <a:ext cx="983343" cy="170785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65090792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25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Page fault: </a:t>
            </a:r>
            <a:r>
              <a:rPr lang="en-GB" dirty="0"/>
              <a:t>reference to VM word that is not in physical memory (DRAM cache miss)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15104433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71462185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rgbClr val="F1C7C7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0" name="Shape 59"/>
          <p:cNvCxnSpPr>
            <a:stCxn id="59" idx="2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51783217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80289" y="40878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6639" y="34432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0" name="Shape 59"/>
          <p:cNvCxnSpPr>
            <a:stCxn id="59" idx="2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52257297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Offending instruction is restarted: page hit!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80289" y="40878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6639" y="34432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309831" y="5791200"/>
            <a:ext cx="578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Key point</a:t>
            </a:r>
            <a:r>
              <a:rPr lang="en-US" sz="1800" dirty="0">
                <a:latin typeface="Calibri" pitchFamily="34" charset="0"/>
              </a:rPr>
              <a:t>: Waiting until the miss to copy the page to DRAM is known as </a:t>
            </a:r>
            <a:r>
              <a:rPr lang="en-US" sz="1800" i="1" dirty="0">
                <a:solidFill>
                  <a:srgbClr val="FF0000"/>
                </a:solidFill>
                <a:latin typeface="Calibri" pitchFamily="34" charset="0"/>
              </a:rPr>
              <a:t>demand paging</a:t>
            </a:r>
          </a:p>
        </p:txBody>
      </p:sp>
    </p:spTree>
    <p:extLst>
      <p:ext uri="{BB962C8B-B14F-4D97-AF65-F5344CB8AC3E}">
        <p14:creationId xmlns:p14="http://schemas.microsoft.com/office/powerpoint/2010/main" val="425036268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3261139" y="38512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Allocating a new page (VP 5) of virtual memory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Subsequent miss will bring it into memory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61139" y="40798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61139" y="43084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261139" y="27082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61139" y="29368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261139" y="31654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261139" y="33940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261139" y="36226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213870" y="45782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488527" y="17653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606002" y="28037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606002" y="30130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086639" y="4200525"/>
            <a:ext cx="2519363" cy="173736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V="1">
            <a:off x="4086639" y="28305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V="1">
            <a:off x="4112039" y="26019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V="1">
            <a:off x="4061239" y="23733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6540914" y="37623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956339" y="4079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956339" y="4308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956339" y="3851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2956339" y="2708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956339" y="2936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956339" y="3165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2956339" y="33940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2956339" y="36226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2727739" y="24034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2964366" y="26781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2965159" y="29110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2964366" y="33768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2965159" y="35839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2964366" y="38233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2965159" y="42827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2964366" y="40498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2965159" y="31439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3327814" y="19145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2349736" y="26430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2346561" y="42559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7971252" y="23129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606002" y="25781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606002" y="23495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4035839" y="44069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4035839" y="4178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4035839" y="3270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4035839" y="3035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7983952" y="29733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613939" y="43910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613939" y="47015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613939" y="53225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613939" y="59378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613939" y="62484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54" name="Oval 53"/>
          <p:cNvSpPr>
            <a:spLocks noChangeArrowheads="1"/>
          </p:cNvSpPr>
          <p:nvPr/>
        </p:nvSpPr>
        <p:spPr bwMode="auto">
          <a:xfrm>
            <a:off x="4035839" y="34794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>
            <a:off x="4080289" y="37195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Oval 55"/>
          <p:cNvSpPr>
            <a:spLocks noChangeArrowheads="1"/>
          </p:cNvSpPr>
          <p:nvPr/>
        </p:nvSpPr>
        <p:spPr bwMode="auto">
          <a:xfrm>
            <a:off x="4035839" y="36893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V="1">
            <a:off x="4086639" y="30749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613939" y="50120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613939" y="56273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5</a:t>
            </a:r>
          </a:p>
        </p:txBody>
      </p:sp>
      <p:sp>
        <p:nvSpPr>
          <p:cNvPr id="63" name="Line 15"/>
          <p:cNvSpPr>
            <a:spLocks noChangeShapeType="1"/>
          </p:cNvSpPr>
          <p:nvPr/>
        </p:nvSpPr>
        <p:spPr bwMode="auto">
          <a:xfrm>
            <a:off x="4094576" y="3932835"/>
            <a:ext cx="2519363" cy="173736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4043776" y="391061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2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3603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Locality to the Rescue Again!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28738"/>
            <a:ext cx="8307387" cy="5224462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Virtual memory seems terribly inefficient, but it works because of locality. </a:t>
            </a:r>
          </a:p>
          <a:p>
            <a:pPr>
              <a:lnSpc>
                <a:spcPct val="83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At any point in time, programs tend to access a set of active virtual pages called the </a:t>
            </a:r>
            <a:r>
              <a:rPr lang="en-GB" i="1" dirty="0">
                <a:solidFill>
                  <a:srgbClr val="C00000"/>
                </a:solidFill>
              </a:rPr>
              <a:t>working set</a:t>
            </a:r>
            <a:endParaRPr lang="en-GB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Programs with better temporal locality will have smaller working sets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(working set size &lt; main memory size)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Good performance for one process after compulsory misses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( SUM(working set sizes) &gt; main memory size )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  <a:ea typeface="+mn-ea"/>
                <a:cs typeface="+mn-cs"/>
              </a:rPr>
              <a:t>Thrashing:</a:t>
            </a:r>
            <a:r>
              <a:rPr lang="en-GB" i="1" dirty="0"/>
              <a:t> </a:t>
            </a:r>
            <a:r>
              <a:rPr lang="en-GB" dirty="0"/>
              <a:t>Performance meltdown</a:t>
            </a:r>
            <a:r>
              <a:rPr lang="en-GB" i="1" dirty="0"/>
              <a:t> </a:t>
            </a:r>
            <a:r>
              <a:rPr lang="en-GB" dirty="0"/>
              <a:t>where pages are swapped (copied) in and out continuously</a:t>
            </a:r>
          </a:p>
        </p:txBody>
      </p:sp>
    </p:spTree>
    <p:extLst>
      <p:ext uri="{BB962C8B-B14F-4D97-AF65-F5344CB8AC3E}">
        <p14:creationId xmlns:p14="http://schemas.microsoft.com/office/powerpoint/2010/main" val="391361866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System IO</a:t>
            </a:r>
            <a:endParaRPr lang="en-US" dirty="0" smtClean="0">
              <a:solidFill>
                <a:srgbClr val="B3B3B3"/>
              </a:solidFill>
            </a:endParaRPr>
          </a:p>
          <a:p>
            <a:r>
              <a:rPr lang="en-US" sz="2800" dirty="0" smtClean="0"/>
              <a:t>Virtual Memory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Address spaces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caching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VM as a tool for memory management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memory protection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Address translation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607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62468" y="569913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VM as a Tool for Memory Management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7850188" cy="1257300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Key idea: each process has its own virtual address space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It can view memory as a simple linear array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Mapping function scatters addresses through physical memory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Well-chosen mappings can improve locality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993775" y="31462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1: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731356" y="3120362"/>
            <a:ext cx="1066800" cy="1175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Space (DRAM)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2359919" y="30700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2192338" y="43697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6629400" y="4634041"/>
            <a:ext cx="1449388" cy="512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(e.g., read-only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library code)</a:t>
            </a: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993775" y="51274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2: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2616556" y="3225395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616556" y="3480982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616556" y="373303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616556" y="424298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2838717" y="3861958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2359919" y="5051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2192338" y="63509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616556" y="520279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2616556" y="545838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2616556" y="571044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2616556" y="622038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2838717" y="5839359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715000" y="32224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715000" y="347807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715000" y="373656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5715000" y="398969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5715000" y="424528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5715000" y="450377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5715000" y="475936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715000" y="501892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5715000" y="527451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5715000" y="553301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5715000" y="61942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5960177" y="5742270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5474234" y="30700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72" name="Rectangle 26"/>
          <p:cNvSpPr>
            <a:spLocks noChangeArrowheads="1"/>
          </p:cNvSpPr>
          <p:nvPr/>
        </p:nvSpPr>
        <p:spPr bwMode="auto">
          <a:xfrm>
            <a:off x="5261580" y="6344474"/>
            <a:ext cx="485453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M</a:t>
            </a:r>
            <a:r>
              <a:rPr lang="en-GB" sz="1400" b="1" dirty="0">
                <a:latin typeface="Calibri" pitchFamily="34" charset="0"/>
              </a:rPr>
              <a:t>-1</a:t>
            </a:r>
          </a:p>
        </p:txBody>
      </p:sp>
      <p:cxnSp>
        <p:nvCxnSpPr>
          <p:cNvPr id="74" name="Straight Arrow Connector 73"/>
          <p:cNvCxnSpPr>
            <a:stCxn id="46" idx="3"/>
            <a:endCxn id="59" idx="1"/>
          </p:cNvCxnSpPr>
          <p:nvPr/>
        </p:nvCxnSpPr>
        <p:spPr bwMode="auto">
          <a:xfrm>
            <a:off x="3530956" y="3608776"/>
            <a:ext cx="2184044" cy="255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Straight Arrow Connector 75"/>
          <p:cNvCxnSpPr>
            <a:stCxn id="47" idx="3"/>
            <a:endCxn id="63" idx="1"/>
          </p:cNvCxnSpPr>
          <p:nvPr/>
        </p:nvCxnSpPr>
        <p:spPr bwMode="auto">
          <a:xfrm>
            <a:off x="3530956" y="3860833"/>
            <a:ext cx="2184044" cy="10263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Straight Arrow Connector 77"/>
          <p:cNvCxnSpPr>
            <a:stCxn id="54" idx="3"/>
            <a:endCxn id="63" idx="1"/>
          </p:cNvCxnSpPr>
          <p:nvPr/>
        </p:nvCxnSpPr>
        <p:spPr bwMode="auto">
          <a:xfrm flipV="1">
            <a:off x="3530956" y="4887158"/>
            <a:ext cx="2184044" cy="9510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Straight Arrow Connector 79"/>
          <p:cNvCxnSpPr>
            <a:stCxn id="53" idx="3"/>
            <a:endCxn id="65" idx="1"/>
          </p:cNvCxnSpPr>
          <p:nvPr/>
        </p:nvCxnSpPr>
        <p:spPr bwMode="auto">
          <a:xfrm flipV="1">
            <a:off x="3530956" y="5402309"/>
            <a:ext cx="2184044" cy="1838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3911530" y="2971800"/>
            <a:ext cx="1350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translation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945901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54001" y="533400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VM as a Tool for Memory Management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1905000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Simplifying memory allocation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virtual page can be mapped to any physical page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 virtual page can be stored in different physical pages at different times</a:t>
            </a:r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Sharing code and data among processes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 virtual pages to the same physical page (here: PP 6)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993775" y="32224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1: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731356" y="3196562"/>
            <a:ext cx="1066800" cy="1175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Space (DRAM)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2359919" y="3146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2192338" y="44459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6629400" y="4710241"/>
            <a:ext cx="1449388" cy="512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(e.g., read-only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library code)</a:t>
            </a: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993775" y="52036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2: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2616556" y="3301595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616556" y="3557182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616556" y="380923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616556" y="431918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2838717" y="3938158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2359919" y="51274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2192338" y="64271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616556" y="527899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2616556" y="553458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2616556" y="578664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2616556" y="629658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2838717" y="5915559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715000" y="32986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715000" y="355268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715000" y="381276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5715000" y="406589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5715000" y="432148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5715000" y="457997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5715000" y="483556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715000" y="509512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5715000" y="535071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5715000" y="560921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5715000" y="62704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5960177" y="5818470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5474234" y="3146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72" name="Rectangle 26"/>
          <p:cNvSpPr>
            <a:spLocks noChangeArrowheads="1"/>
          </p:cNvSpPr>
          <p:nvPr/>
        </p:nvSpPr>
        <p:spPr bwMode="auto">
          <a:xfrm>
            <a:off x="5261580" y="6420674"/>
            <a:ext cx="485453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M</a:t>
            </a:r>
            <a:r>
              <a:rPr lang="en-GB" sz="1400" b="1" dirty="0">
                <a:latin typeface="Calibri" pitchFamily="34" charset="0"/>
              </a:rPr>
              <a:t>-1</a:t>
            </a:r>
          </a:p>
        </p:txBody>
      </p:sp>
      <p:cxnSp>
        <p:nvCxnSpPr>
          <p:cNvPr id="74" name="Straight Arrow Connector 73"/>
          <p:cNvCxnSpPr>
            <a:stCxn id="46" idx="3"/>
            <a:endCxn id="59" idx="1"/>
          </p:cNvCxnSpPr>
          <p:nvPr/>
        </p:nvCxnSpPr>
        <p:spPr bwMode="auto">
          <a:xfrm>
            <a:off x="3530956" y="3684976"/>
            <a:ext cx="2184044" cy="255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Straight Arrow Connector 75"/>
          <p:cNvCxnSpPr>
            <a:stCxn id="47" idx="3"/>
            <a:endCxn id="63" idx="1"/>
          </p:cNvCxnSpPr>
          <p:nvPr/>
        </p:nvCxnSpPr>
        <p:spPr bwMode="auto">
          <a:xfrm>
            <a:off x="3530956" y="3937033"/>
            <a:ext cx="2184044" cy="10263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Straight Arrow Connector 77"/>
          <p:cNvCxnSpPr>
            <a:stCxn id="54" idx="3"/>
            <a:endCxn id="63" idx="1"/>
          </p:cNvCxnSpPr>
          <p:nvPr/>
        </p:nvCxnSpPr>
        <p:spPr bwMode="auto">
          <a:xfrm flipV="1">
            <a:off x="3530956" y="4963358"/>
            <a:ext cx="2184044" cy="9510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Straight Arrow Connector 79"/>
          <p:cNvCxnSpPr>
            <a:stCxn id="53" idx="3"/>
            <a:endCxn id="65" idx="1"/>
          </p:cNvCxnSpPr>
          <p:nvPr/>
        </p:nvCxnSpPr>
        <p:spPr bwMode="auto">
          <a:xfrm flipV="1">
            <a:off x="3530956" y="5478509"/>
            <a:ext cx="2184044" cy="1838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3911530" y="3048000"/>
            <a:ext cx="1350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translation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58466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3603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Simplifying Linking and Loading</a:t>
            </a:r>
          </a:p>
        </p:txBody>
      </p:sp>
      <p:sp>
        <p:nvSpPr>
          <p:cNvPr id="23578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3962400" cy="4778910"/>
          </a:xfrm>
          <a:ln/>
        </p:spPr>
        <p:txBody>
          <a:bodyPr/>
          <a:lstStyle/>
          <a:p>
            <a:pPr marL="228600" indent="-228600">
              <a:spcBef>
                <a:spcPts val="1250"/>
              </a:spcBef>
              <a:tabLst>
                <a:tab pos="28733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Linking</a:t>
            </a:r>
            <a:r>
              <a:rPr lang="en-GB" b="0" dirty="0">
                <a:effectLst/>
              </a:rPr>
              <a:t> 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Each program has similar virtual address space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Code, data, and heap always start at the same addresses.</a:t>
            </a:r>
          </a:p>
          <a:p>
            <a:pPr lvl="1">
              <a:spcBef>
                <a:spcPts val="563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/>
          </a:p>
          <a:p>
            <a:pPr marL="228600" indent="-228600">
              <a:spcBef>
                <a:spcPts val="1250"/>
              </a:spcBef>
              <a:tabLst>
                <a:tab pos="28733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Loading </a:t>
            </a:r>
          </a:p>
          <a:p>
            <a:pPr marL="457200" lvl="1" indent="-228600">
              <a:lnSpc>
                <a:spcPct val="94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execve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/>
              <a:t>allocates virtual pages for .text and .data sections &amp; creates PTEs marked as invalid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The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.text </a:t>
            </a:r>
            <a:r>
              <a:rPr lang="en-GB" sz="1800" dirty="0"/>
              <a:t>and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.data </a:t>
            </a:r>
            <a:r>
              <a:rPr lang="en-GB" sz="1800" dirty="0"/>
              <a:t>sections are copied, page by page, on demand by the virtual memory system</a:t>
            </a:r>
          </a:p>
          <a:p>
            <a:pPr>
              <a:spcBef>
                <a:spcPts val="1125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>
              <a:solidFill>
                <a:srgbClr val="000066"/>
              </a:solidFill>
              <a:effectLst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4998661" y="1262063"/>
            <a:ext cx="2789237" cy="487362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Kernel virtual memory</a:t>
            </a:r>
          </a:p>
        </p:txBody>
      </p:sp>
      <p:sp>
        <p:nvSpPr>
          <p:cNvPr id="53" name="Rectangle 15"/>
          <p:cNvSpPr>
            <a:spLocks noChangeArrowheads="1"/>
          </p:cNvSpPr>
          <p:nvPr/>
        </p:nvSpPr>
        <p:spPr bwMode="auto">
          <a:xfrm>
            <a:off x="4998661" y="2963863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Memory-mapped region for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shared libraries</a:t>
            </a:r>
          </a:p>
        </p:txBody>
      </p: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4998661" y="3629025"/>
            <a:ext cx="2789237" cy="7239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Rectangle 17"/>
          <p:cNvSpPr>
            <a:spLocks noChangeArrowheads="1"/>
          </p:cNvSpPr>
          <p:nvPr/>
        </p:nvSpPr>
        <p:spPr bwMode="auto">
          <a:xfrm>
            <a:off x="4998662" y="4350808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Run-time heap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(created by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56" name="Rectangle 18"/>
          <p:cNvSpPr>
            <a:spLocks noChangeArrowheads="1"/>
          </p:cNvSpPr>
          <p:nvPr/>
        </p:nvSpPr>
        <p:spPr bwMode="auto">
          <a:xfrm>
            <a:off x="4998661" y="2054225"/>
            <a:ext cx="2789237" cy="906463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19"/>
          <p:cNvSpPr>
            <a:spLocks noChangeShapeType="1"/>
          </p:cNvSpPr>
          <p:nvPr/>
        </p:nvSpPr>
        <p:spPr bwMode="auto">
          <a:xfrm flipV="1">
            <a:off x="6388782" y="3957638"/>
            <a:ext cx="1588" cy="3841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98661" y="1719263"/>
            <a:ext cx="2789237" cy="563562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User stack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(created at runtime)</a:t>
            </a:r>
          </a:p>
        </p:txBody>
      </p:sp>
      <p:sp>
        <p:nvSpPr>
          <p:cNvPr id="59" name="Line 21"/>
          <p:cNvSpPr>
            <a:spLocks noChangeShapeType="1"/>
          </p:cNvSpPr>
          <p:nvPr/>
        </p:nvSpPr>
        <p:spPr bwMode="auto">
          <a:xfrm flipV="1">
            <a:off x="6388782" y="2738438"/>
            <a:ext cx="1588" cy="2317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Line 22"/>
          <p:cNvSpPr>
            <a:spLocks noChangeShapeType="1"/>
          </p:cNvSpPr>
          <p:nvPr/>
        </p:nvSpPr>
        <p:spPr bwMode="auto">
          <a:xfrm>
            <a:off x="6388782" y="2282825"/>
            <a:ext cx="1588" cy="2286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" name="Rectangle 23"/>
          <p:cNvSpPr>
            <a:spLocks noChangeArrowheads="1"/>
          </p:cNvSpPr>
          <p:nvPr/>
        </p:nvSpPr>
        <p:spPr bwMode="auto">
          <a:xfrm>
            <a:off x="4998661" y="6312958"/>
            <a:ext cx="2789238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62" name="Text Box 24"/>
          <p:cNvSpPr txBox="1">
            <a:spLocks noChangeArrowheads="1"/>
          </p:cNvSpPr>
          <p:nvPr/>
        </p:nvSpPr>
        <p:spPr bwMode="auto">
          <a:xfrm>
            <a:off x="4733026" y="6531510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8146053" y="2108200"/>
            <a:ext cx="869831" cy="80855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%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rsp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(stack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pointer)</a:t>
            </a:r>
          </a:p>
        </p:txBody>
      </p:sp>
      <p:sp>
        <p:nvSpPr>
          <p:cNvPr id="64" name="Line 26"/>
          <p:cNvSpPr>
            <a:spLocks noChangeShapeType="1"/>
          </p:cNvSpPr>
          <p:nvPr/>
        </p:nvSpPr>
        <p:spPr bwMode="auto">
          <a:xfrm flipH="1">
            <a:off x="7839666" y="2279650"/>
            <a:ext cx="384175" cy="1588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Text Box 27"/>
          <p:cNvSpPr txBox="1">
            <a:spLocks noChangeArrowheads="1"/>
          </p:cNvSpPr>
          <p:nvPr/>
        </p:nvSpPr>
        <p:spPr bwMode="auto">
          <a:xfrm>
            <a:off x="8008032" y="990600"/>
            <a:ext cx="1149972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Memory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invisible to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user code</a:t>
            </a:r>
          </a:p>
        </p:txBody>
      </p:sp>
      <p:sp>
        <p:nvSpPr>
          <p:cNvPr id="66" name="Line 28"/>
          <p:cNvSpPr>
            <a:spLocks noChangeShapeType="1"/>
          </p:cNvSpPr>
          <p:nvPr/>
        </p:nvSpPr>
        <p:spPr bwMode="auto">
          <a:xfrm flipV="1">
            <a:off x="7855632" y="1257568"/>
            <a:ext cx="1588" cy="4603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" name="Text Box 29"/>
          <p:cNvSpPr txBox="1">
            <a:spLocks noChangeArrowheads="1"/>
          </p:cNvSpPr>
          <p:nvPr/>
        </p:nvSpPr>
        <p:spPr bwMode="auto">
          <a:xfrm>
            <a:off x="8200120" y="4173538"/>
            <a:ext cx="552052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brk</a:t>
            </a:r>
          </a:p>
        </p:txBody>
      </p:sp>
      <p:sp>
        <p:nvSpPr>
          <p:cNvPr id="68" name="Line 30"/>
          <p:cNvSpPr>
            <a:spLocks noChangeShapeType="1"/>
          </p:cNvSpPr>
          <p:nvPr/>
        </p:nvSpPr>
        <p:spPr bwMode="auto">
          <a:xfrm flipH="1">
            <a:off x="7815945" y="4340225"/>
            <a:ext cx="384175" cy="1588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Box 32"/>
          <p:cNvSpPr txBox="1">
            <a:spLocks noChangeArrowheads="1"/>
          </p:cNvSpPr>
          <p:nvPr/>
        </p:nvSpPr>
        <p:spPr bwMode="auto">
          <a:xfrm>
            <a:off x="3985528" y="6189452"/>
            <a:ext cx="1043672" cy="2991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ourier New" pitchFamily="49" charset="0"/>
                <a:ea typeface="msgothic" charset="0"/>
                <a:cs typeface="msgothic" charset="0"/>
              </a:rPr>
              <a:t>0x400000</a:t>
            </a:r>
          </a:p>
        </p:txBody>
      </p:sp>
      <p:sp>
        <p:nvSpPr>
          <p:cNvPr id="70" name="Rectangle 34"/>
          <p:cNvSpPr>
            <a:spLocks noChangeArrowheads="1"/>
          </p:cNvSpPr>
          <p:nvPr/>
        </p:nvSpPr>
        <p:spPr bwMode="auto">
          <a:xfrm>
            <a:off x="4998661" y="5017558"/>
            <a:ext cx="2789238" cy="669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Read/write segment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(.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4998661" y="5643033"/>
            <a:ext cx="2789238" cy="669925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Read-only segment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.init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text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rodata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72" name="AutoShape 36"/>
          <p:cNvSpPr>
            <a:spLocks/>
          </p:cNvSpPr>
          <p:nvPr/>
        </p:nvSpPr>
        <p:spPr bwMode="auto">
          <a:xfrm>
            <a:off x="7836582" y="5026025"/>
            <a:ext cx="76200" cy="12954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Text Box 37"/>
          <p:cNvSpPr txBox="1">
            <a:spLocks noChangeArrowheads="1"/>
          </p:cNvSpPr>
          <p:nvPr/>
        </p:nvSpPr>
        <p:spPr bwMode="auto">
          <a:xfrm>
            <a:off x="7988982" y="5010150"/>
            <a:ext cx="1149459" cy="13009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Loaded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from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the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executable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168310499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8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System IO</a:t>
            </a:r>
            <a:endParaRPr lang="en-US" dirty="0" smtClean="0">
              <a:solidFill>
                <a:srgbClr val="B3B3B3"/>
              </a:solidFill>
            </a:endParaRPr>
          </a:p>
          <a:p>
            <a:r>
              <a:rPr lang="en-US" sz="2800" dirty="0" smtClean="0"/>
              <a:t>Virtual Memory</a:t>
            </a:r>
          </a:p>
          <a:p>
            <a:pPr lvl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Address spaces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caching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VM as a tool for memory management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VM as a tool for memory protection</a:t>
            </a:r>
          </a:p>
          <a:p>
            <a:pPr lvl="1"/>
            <a:r>
              <a:rPr lang="en-US" dirty="0">
                <a:solidFill>
                  <a:srgbClr val="B3B3B3"/>
                </a:solidFill>
              </a:rPr>
              <a:t>Address translation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607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327025" y="381000"/>
            <a:ext cx="88931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VM as a Tool for Memory Protection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8668" y="1212321"/>
            <a:ext cx="8307387" cy="921279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Extend PTEs with permission bits</a:t>
            </a:r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MMU checks these bits on each access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52400" y="2870188"/>
            <a:ext cx="1072087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</a:t>
            </a:r>
            <a:r>
              <a:rPr lang="en-GB" sz="1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i</a:t>
            </a: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: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297363" y="2871788"/>
            <a:ext cx="866262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Address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976441" y="2871788"/>
            <a:ext cx="649664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READ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616199" y="2871788"/>
            <a:ext cx="738727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WRITE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4003675" y="31765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6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951037" y="31765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2636837" y="31765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4003675" y="34813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4</a:t>
            </a: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1951037" y="34813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2636837" y="34813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4003675" y="37861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2</a:t>
            </a: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1951037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533400" y="31718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0: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533400" y="34766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1: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534987" y="37814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2:</a:t>
            </a:r>
          </a:p>
        </p:txBody>
      </p:sp>
      <p:sp>
        <p:nvSpPr>
          <p:cNvPr id="24595" name="Rectangle 19"/>
          <p:cNvSpPr>
            <a:spLocks noChangeArrowheads="1"/>
          </p:cNvSpPr>
          <p:nvPr/>
        </p:nvSpPr>
        <p:spPr bwMode="auto">
          <a:xfrm>
            <a:off x="3605213" y="4167188"/>
            <a:ext cx="246062" cy="45653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152400" y="5099453"/>
            <a:ext cx="1075293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j:</a:t>
            </a:r>
          </a:p>
        </p:txBody>
      </p:sp>
      <p:sp>
        <p:nvSpPr>
          <p:cNvPr id="24611" name="Rectangle 35"/>
          <p:cNvSpPr>
            <a:spLocks noChangeArrowheads="1"/>
          </p:cNvSpPr>
          <p:nvPr/>
        </p:nvSpPr>
        <p:spPr bwMode="auto">
          <a:xfrm>
            <a:off x="2636837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1356256" y="2871788"/>
            <a:ext cx="52392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SUP</a:t>
            </a:r>
          </a:p>
        </p:txBody>
      </p:sp>
      <p:sp>
        <p:nvSpPr>
          <p:cNvPr id="24619" name="Rectangle 43"/>
          <p:cNvSpPr>
            <a:spLocks noChangeArrowheads="1"/>
          </p:cNvSpPr>
          <p:nvPr/>
        </p:nvSpPr>
        <p:spPr bwMode="auto">
          <a:xfrm>
            <a:off x="1262062" y="31765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0" name="Rectangle 44"/>
          <p:cNvSpPr>
            <a:spLocks noChangeArrowheads="1"/>
          </p:cNvSpPr>
          <p:nvPr/>
        </p:nvSpPr>
        <p:spPr bwMode="auto">
          <a:xfrm>
            <a:off x="1262062" y="34813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1" name="Rectangle 45"/>
          <p:cNvSpPr>
            <a:spLocks noChangeArrowheads="1"/>
          </p:cNvSpPr>
          <p:nvPr/>
        </p:nvSpPr>
        <p:spPr bwMode="auto">
          <a:xfrm>
            <a:off x="1262062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4300538" y="5080000"/>
            <a:ext cx="866262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Address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981879" y="5080000"/>
            <a:ext cx="649664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READ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2621637" y="5080000"/>
            <a:ext cx="738727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WRITE</a:t>
            </a:r>
          </a:p>
        </p:txBody>
      </p:sp>
      <p:sp>
        <p:nvSpPr>
          <p:cNvPr id="24625" name="Rectangle 49"/>
          <p:cNvSpPr>
            <a:spLocks noChangeArrowheads="1"/>
          </p:cNvSpPr>
          <p:nvPr/>
        </p:nvSpPr>
        <p:spPr bwMode="auto">
          <a:xfrm>
            <a:off x="4006850" y="53848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9</a:t>
            </a:r>
          </a:p>
        </p:txBody>
      </p:sp>
      <p:sp>
        <p:nvSpPr>
          <p:cNvPr id="24626" name="Rectangle 50"/>
          <p:cNvSpPr>
            <a:spLocks noChangeArrowheads="1"/>
          </p:cNvSpPr>
          <p:nvPr/>
        </p:nvSpPr>
        <p:spPr bwMode="auto">
          <a:xfrm>
            <a:off x="1959650" y="53848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27" name="Rectangle 51"/>
          <p:cNvSpPr>
            <a:spLocks noChangeArrowheads="1"/>
          </p:cNvSpPr>
          <p:nvPr/>
        </p:nvSpPr>
        <p:spPr bwMode="auto">
          <a:xfrm>
            <a:off x="2645450" y="53848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8" name="Rectangle 52"/>
          <p:cNvSpPr>
            <a:spLocks noChangeArrowheads="1"/>
          </p:cNvSpPr>
          <p:nvPr/>
        </p:nvSpPr>
        <p:spPr bwMode="auto">
          <a:xfrm>
            <a:off x="4006850" y="56896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6</a:t>
            </a:r>
          </a:p>
        </p:txBody>
      </p:sp>
      <p:sp>
        <p:nvSpPr>
          <p:cNvPr id="24629" name="Rectangle 53"/>
          <p:cNvSpPr>
            <a:spLocks noChangeArrowheads="1"/>
          </p:cNvSpPr>
          <p:nvPr/>
        </p:nvSpPr>
        <p:spPr bwMode="auto">
          <a:xfrm>
            <a:off x="1959650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0" name="Rectangle 54"/>
          <p:cNvSpPr>
            <a:spLocks noChangeArrowheads="1"/>
          </p:cNvSpPr>
          <p:nvPr/>
        </p:nvSpPr>
        <p:spPr bwMode="auto">
          <a:xfrm>
            <a:off x="2645450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1" name="Rectangle 55"/>
          <p:cNvSpPr>
            <a:spLocks noChangeArrowheads="1"/>
          </p:cNvSpPr>
          <p:nvPr/>
        </p:nvSpPr>
        <p:spPr bwMode="auto">
          <a:xfrm>
            <a:off x="4006850" y="59944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11</a:t>
            </a:r>
          </a:p>
        </p:txBody>
      </p:sp>
      <p:sp>
        <p:nvSpPr>
          <p:cNvPr id="24632" name="Rectangle 56"/>
          <p:cNvSpPr>
            <a:spLocks noChangeArrowheads="1"/>
          </p:cNvSpPr>
          <p:nvPr/>
        </p:nvSpPr>
        <p:spPr bwMode="auto">
          <a:xfrm>
            <a:off x="1959650" y="59944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3" name="Rectangle 57"/>
          <p:cNvSpPr>
            <a:spLocks noChangeArrowheads="1"/>
          </p:cNvSpPr>
          <p:nvPr/>
        </p:nvSpPr>
        <p:spPr bwMode="auto">
          <a:xfrm>
            <a:off x="2645450" y="59944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4" name="Text Box 58"/>
          <p:cNvSpPr txBox="1">
            <a:spLocks noChangeArrowheads="1"/>
          </p:cNvSpPr>
          <p:nvPr/>
        </p:nvSpPr>
        <p:spPr bwMode="auto">
          <a:xfrm>
            <a:off x="1361694" y="5080000"/>
            <a:ext cx="52392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SUP</a:t>
            </a:r>
          </a:p>
        </p:txBody>
      </p:sp>
      <p:sp>
        <p:nvSpPr>
          <p:cNvPr id="24635" name="Rectangle 59"/>
          <p:cNvSpPr>
            <a:spLocks noChangeArrowheads="1"/>
          </p:cNvSpPr>
          <p:nvPr/>
        </p:nvSpPr>
        <p:spPr bwMode="auto">
          <a:xfrm>
            <a:off x="1270675" y="53848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36" name="Rectangle 60"/>
          <p:cNvSpPr>
            <a:spLocks noChangeArrowheads="1"/>
          </p:cNvSpPr>
          <p:nvPr/>
        </p:nvSpPr>
        <p:spPr bwMode="auto">
          <a:xfrm>
            <a:off x="1270675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7" name="Rectangle 61"/>
          <p:cNvSpPr>
            <a:spLocks noChangeArrowheads="1"/>
          </p:cNvSpPr>
          <p:nvPr/>
        </p:nvSpPr>
        <p:spPr bwMode="auto">
          <a:xfrm>
            <a:off x="1270675" y="59944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38" name="Text Box 62"/>
          <p:cNvSpPr txBox="1">
            <a:spLocks noChangeArrowheads="1"/>
          </p:cNvSpPr>
          <p:nvPr/>
        </p:nvSpPr>
        <p:spPr bwMode="auto">
          <a:xfrm>
            <a:off x="659488" y="53863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0:</a:t>
            </a:r>
          </a:p>
        </p:txBody>
      </p:sp>
      <p:sp>
        <p:nvSpPr>
          <p:cNvPr id="24639" name="Text Box 63"/>
          <p:cNvSpPr txBox="1">
            <a:spLocks noChangeArrowheads="1"/>
          </p:cNvSpPr>
          <p:nvPr/>
        </p:nvSpPr>
        <p:spPr bwMode="auto">
          <a:xfrm>
            <a:off x="659488" y="56911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1:</a:t>
            </a:r>
          </a:p>
        </p:txBody>
      </p:sp>
      <p:sp>
        <p:nvSpPr>
          <p:cNvPr id="24640" name="Text Box 64"/>
          <p:cNvSpPr txBox="1">
            <a:spLocks noChangeArrowheads="1"/>
          </p:cNvSpPr>
          <p:nvPr/>
        </p:nvSpPr>
        <p:spPr bwMode="auto">
          <a:xfrm>
            <a:off x="661075" y="59959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2:</a:t>
            </a:r>
          </a:p>
        </p:txBody>
      </p:sp>
      <p:sp>
        <p:nvSpPr>
          <p:cNvPr id="93" name="Rectangle 4"/>
          <p:cNvSpPr>
            <a:spLocks noChangeArrowheads="1"/>
          </p:cNvSpPr>
          <p:nvPr/>
        </p:nvSpPr>
        <p:spPr bwMode="auto">
          <a:xfrm>
            <a:off x="7086600" y="2548468"/>
            <a:ext cx="1676400" cy="63239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Space</a:t>
            </a:r>
          </a:p>
        </p:txBody>
      </p:sp>
      <p:sp>
        <p:nvSpPr>
          <p:cNvPr id="95" name="Rectangle 94"/>
          <p:cNvSpPr/>
          <p:nvPr/>
        </p:nvSpPr>
        <p:spPr bwMode="auto">
          <a:xfrm>
            <a:off x="7161212" y="318086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7161212" y="3436449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7161212" y="369494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98" name="Rectangle 97"/>
          <p:cNvSpPr/>
          <p:nvPr/>
        </p:nvSpPr>
        <p:spPr bwMode="auto">
          <a:xfrm>
            <a:off x="7161212" y="395653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7161212" y="421212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/>
              </a:rPr>
              <a:t>PP 4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7161212" y="446636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7161212" y="4726207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102" name="Rectangle 101"/>
          <p:cNvSpPr/>
          <p:nvPr/>
        </p:nvSpPr>
        <p:spPr bwMode="auto">
          <a:xfrm>
            <a:off x="7161212" y="497681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161212" y="5232891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104" name="Rectangle 103"/>
          <p:cNvSpPr/>
          <p:nvPr/>
        </p:nvSpPr>
        <p:spPr bwMode="auto">
          <a:xfrm>
            <a:off x="7161212" y="548640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/>
              </a:rPr>
              <a:t>PP 9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7162800" y="573673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7162800" y="599281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11</a:t>
            </a:r>
          </a:p>
        </p:txBody>
      </p:sp>
      <p:cxnSp>
        <p:nvCxnSpPr>
          <p:cNvPr id="114" name="Straight Arrow Connector 113"/>
          <p:cNvCxnSpPr>
            <a:stCxn id="24584" idx="3"/>
            <a:endCxn id="101" idx="1"/>
          </p:cNvCxnSpPr>
          <p:nvPr/>
        </p:nvCxnSpPr>
        <p:spPr bwMode="auto">
          <a:xfrm>
            <a:off x="5527675" y="3328988"/>
            <a:ext cx="1633537" cy="152501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6" name="Straight Arrow Connector 115"/>
          <p:cNvCxnSpPr>
            <a:stCxn id="24587" idx="3"/>
            <a:endCxn id="99" idx="1"/>
          </p:cNvCxnSpPr>
          <p:nvPr/>
        </p:nvCxnSpPr>
        <p:spPr bwMode="auto">
          <a:xfrm>
            <a:off x="5527675" y="3633788"/>
            <a:ext cx="1633537" cy="70613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8" name="Straight Arrow Connector 117"/>
          <p:cNvCxnSpPr>
            <a:stCxn id="24590" idx="3"/>
            <a:endCxn id="97" idx="1"/>
          </p:cNvCxnSpPr>
          <p:nvPr/>
        </p:nvCxnSpPr>
        <p:spPr bwMode="auto">
          <a:xfrm flipV="1">
            <a:off x="5527675" y="3822739"/>
            <a:ext cx="1633537" cy="11584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0" name="Straight Arrow Connector 119"/>
          <p:cNvCxnSpPr>
            <a:stCxn id="24625" idx="3"/>
            <a:endCxn id="104" idx="1"/>
          </p:cNvCxnSpPr>
          <p:nvPr/>
        </p:nvCxnSpPr>
        <p:spPr bwMode="auto">
          <a:xfrm>
            <a:off x="5530850" y="5537200"/>
            <a:ext cx="1630362" cy="7699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2" name="Straight Arrow Connector 121"/>
          <p:cNvCxnSpPr>
            <a:stCxn id="24628" idx="3"/>
            <a:endCxn id="101" idx="1"/>
          </p:cNvCxnSpPr>
          <p:nvPr/>
        </p:nvCxnSpPr>
        <p:spPr bwMode="auto">
          <a:xfrm flipV="1">
            <a:off x="5530850" y="4854001"/>
            <a:ext cx="1630362" cy="98799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4" name="Straight Arrow Connector 123"/>
          <p:cNvCxnSpPr>
            <a:stCxn id="24631" idx="3"/>
            <a:endCxn id="112" idx="1"/>
          </p:cNvCxnSpPr>
          <p:nvPr/>
        </p:nvCxnSpPr>
        <p:spPr bwMode="auto">
          <a:xfrm flipV="1">
            <a:off x="5530850" y="6120607"/>
            <a:ext cx="1631950" cy="261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3367100" y="2870200"/>
            <a:ext cx="604275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EXEC</a:t>
            </a:r>
          </a:p>
        </p:txBody>
      </p:sp>
      <p:sp>
        <p:nvSpPr>
          <p:cNvPr id="66" name="Rectangle 13"/>
          <p:cNvSpPr>
            <a:spLocks noChangeArrowheads="1"/>
          </p:cNvSpPr>
          <p:nvPr/>
        </p:nvSpPr>
        <p:spPr bwMode="auto">
          <a:xfrm>
            <a:off x="3320511" y="34798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3370868" y="5076120"/>
            <a:ext cx="604275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EXEC</a:t>
            </a:r>
          </a:p>
        </p:txBody>
      </p:sp>
      <p:sp>
        <p:nvSpPr>
          <p:cNvPr id="70" name="Rectangle 13"/>
          <p:cNvSpPr>
            <a:spLocks noChangeArrowheads="1"/>
          </p:cNvSpPr>
          <p:nvPr/>
        </p:nvSpPr>
        <p:spPr bwMode="auto">
          <a:xfrm>
            <a:off x="3324279" y="56857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3324279" y="59905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2" name="Rectangle 13"/>
          <p:cNvSpPr>
            <a:spLocks noChangeArrowheads="1"/>
          </p:cNvSpPr>
          <p:nvPr/>
        </p:nvSpPr>
        <p:spPr bwMode="auto">
          <a:xfrm>
            <a:off x="3316607" y="3173057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3" name="Rectangle 13"/>
          <p:cNvSpPr>
            <a:spLocks noChangeArrowheads="1"/>
          </p:cNvSpPr>
          <p:nvPr/>
        </p:nvSpPr>
        <p:spPr bwMode="auto">
          <a:xfrm>
            <a:off x="3326117" y="53809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4" name="Rectangle 10"/>
          <p:cNvSpPr>
            <a:spLocks noChangeArrowheads="1"/>
          </p:cNvSpPr>
          <p:nvPr/>
        </p:nvSpPr>
        <p:spPr bwMode="auto">
          <a:xfrm>
            <a:off x="3316607" y="37861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91844300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</a:t>
            </a:r>
          </a:p>
          <a:p>
            <a:r>
              <a:rPr lang="en-US" dirty="0">
                <a:solidFill>
                  <a:srgbClr val="7F7F7F"/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rgbClr val="7F7F7F"/>
                </a:solidFill>
              </a:rPr>
              <a:t>VM as a tool for memory protection</a:t>
            </a:r>
          </a:p>
          <a:p>
            <a:r>
              <a:rPr lang="en-US" dirty="0"/>
              <a:t>Address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2906" y="456956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5199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310" name="Rectangle 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VM Address Translation</a:t>
            </a:r>
          </a:p>
        </p:txBody>
      </p:sp>
      <p:sp>
        <p:nvSpPr>
          <p:cNvPr id="566311" name="Rectangle 39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442325" cy="4972050"/>
          </a:xfrm>
        </p:spPr>
        <p:txBody>
          <a:bodyPr/>
          <a:lstStyle/>
          <a:p>
            <a:r>
              <a:rPr lang="en-US" dirty="0"/>
              <a:t>Virtual Address Space</a:t>
            </a:r>
          </a:p>
          <a:p>
            <a:pPr lvl="1"/>
            <a:r>
              <a:rPr lang="en-US" i="1" dirty="0"/>
              <a:t>V = {0, 1, …, N–1}</a:t>
            </a:r>
          </a:p>
          <a:p>
            <a:r>
              <a:rPr lang="en-US" dirty="0"/>
              <a:t>Physical Address Space</a:t>
            </a:r>
          </a:p>
          <a:p>
            <a:pPr lvl="1"/>
            <a:r>
              <a:rPr lang="en-US" i="1" dirty="0"/>
              <a:t>P = {0, 1, …, M–1}</a:t>
            </a:r>
          </a:p>
          <a:p>
            <a:r>
              <a:rPr lang="en-US" dirty="0"/>
              <a:t>Address Translation</a:t>
            </a:r>
          </a:p>
          <a:p>
            <a:pPr lvl="1"/>
            <a:r>
              <a:rPr lang="en-US" b="1" i="1" dirty="0"/>
              <a:t>MAP:  V </a:t>
            </a:r>
            <a:r>
              <a:rPr lang="en-US" b="1" i="1" dirty="0" err="1">
                <a:sym typeface="Symbol" charset="2"/>
              </a:rPr>
              <a:t></a:t>
            </a:r>
            <a:r>
              <a:rPr lang="en-US" b="1" i="1" dirty="0"/>
              <a:t>  P  U  {</a:t>
            </a:r>
            <a:r>
              <a:rPr lang="en-US" b="1" i="1" dirty="0" err="1">
                <a:sym typeface="Symbol" charset="2"/>
              </a:rPr>
              <a:t></a:t>
            </a:r>
            <a:r>
              <a:rPr lang="en-US" b="1" i="1" dirty="0"/>
              <a:t>}</a:t>
            </a:r>
          </a:p>
          <a:p>
            <a:pPr lvl="1"/>
            <a:r>
              <a:rPr lang="en-US" dirty="0"/>
              <a:t>For virtual address </a:t>
            </a:r>
            <a:r>
              <a:rPr lang="en-US" b="1" i="1" dirty="0"/>
              <a:t>a</a:t>
            </a:r>
            <a:r>
              <a:rPr lang="en-US" dirty="0"/>
              <a:t>:</a:t>
            </a:r>
          </a:p>
          <a:p>
            <a:pPr lvl="2"/>
            <a:r>
              <a:rPr lang="en-US" b="1" i="1" dirty="0" err="1"/>
              <a:t>MAP(a</a:t>
            </a:r>
            <a:r>
              <a:rPr lang="en-US" b="1" i="1" dirty="0"/>
              <a:t>)  =  a</a:t>
            </a:r>
            <a:r>
              <a:rPr lang="en-US" i="1" dirty="0"/>
              <a:t>’</a:t>
            </a:r>
            <a:r>
              <a:rPr lang="en-US" dirty="0"/>
              <a:t>  if data at virtual address </a:t>
            </a:r>
            <a:r>
              <a:rPr lang="en-US" b="1" i="1" dirty="0"/>
              <a:t>a</a:t>
            </a:r>
            <a:r>
              <a:rPr lang="en-US" dirty="0"/>
              <a:t> is at physical address </a:t>
            </a:r>
            <a:r>
              <a:rPr lang="en-US" b="1" i="1" dirty="0"/>
              <a:t>a’</a:t>
            </a:r>
            <a:r>
              <a:rPr lang="en-US" i="1" dirty="0"/>
              <a:t> </a:t>
            </a:r>
            <a:r>
              <a:rPr lang="en-US" dirty="0"/>
              <a:t>in </a:t>
            </a:r>
            <a:r>
              <a:rPr lang="en-US" b="1" i="1" dirty="0"/>
              <a:t>P</a:t>
            </a:r>
          </a:p>
          <a:p>
            <a:pPr lvl="2"/>
            <a:r>
              <a:rPr lang="en-US" b="1" i="1" dirty="0" err="1"/>
              <a:t>MAP(a</a:t>
            </a:r>
            <a:r>
              <a:rPr lang="en-US" b="1" i="1" dirty="0"/>
              <a:t>)  = </a:t>
            </a:r>
            <a:r>
              <a:rPr lang="en-US" b="1" i="1" dirty="0" err="1">
                <a:sym typeface="Symbol" charset="2"/>
              </a:rPr>
              <a:t></a:t>
            </a:r>
            <a:r>
              <a:rPr lang="en-US" b="1" i="1" dirty="0"/>
              <a:t> </a:t>
            </a:r>
            <a:r>
              <a:rPr lang="en-US" dirty="0"/>
              <a:t>if data at virtual address </a:t>
            </a:r>
            <a:r>
              <a:rPr lang="en-US" b="1" i="1" dirty="0"/>
              <a:t>a</a:t>
            </a:r>
            <a:r>
              <a:rPr lang="en-US" dirty="0"/>
              <a:t> is not in physical memory</a:t>
            </a:r>
          </a:p>
          <a:p>
            <a:pPr lvl="3"/>
            <a:r>
              <a:rPr lang="en-US" dirty="0"/>
              <a:t>Either invalid or stored on disk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3927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29782" cy="762000"/>
          </a:xfrm>
        </p:spPr>
        <p:txBody>
          <a:bodyPr/>
          <a:lstStyle/>
          <a:p>
            <a:r>
              <a:rPr lang="en-US" dirty="0"/>
              <a:t>Summary of Address Translation Symbols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7896225" cy="5267325"/>
          </a:xfrm>
        </p:spPr>
        <p:txBody>
          <a:bodyPr>
            <a:normAutofit/>
          </a:bodyPr>
          <a:lstStyle/>
          <a:p>
            <a:r>
              <a:rPr lang="en-US" dirty="0"/>
              <a:t>Basic Parameters</a:t>
            </a:r>
          </a:p>
          <a:p>
            <a:pPr lvl="1"/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virtual address space</a:t>
            </a:r>
            <a:endParaRPr lang="en-US" baseline="30000" dirty="0"/>
          </a:p>
          <a:p>
            <a:pPr lvl="1"/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physical address space</a:t>
            </a:r>
            <a:endParaRPr lang="en-US" baseline="30000" dirty="0"/>
          </a:p>
          <a:p>
            <a:pPr lvl="1"/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  <a:endParaRPr lang="en-US" baseline="30000" dirty="0"/>
          </a:p>
          <a:p>
            <a:r>
              <a:rPr lang="en-US" dirty="0"/>
              <a:t>Components of the virtual address (VA)</a:t>
            </a:r>
          </a:p>
          <a:p>
            <a:pPr lvl="1"/>
            <a:r>
              <a:rPr lang="en-US" b="1" dirty="0" smtClean="0"/>
              <a:t>VPO</a:t>
            </a:r>
            <a:r>
              <a:rPr lang="en-US" dirty="0"/>
              <a:t>: Virtual page offset </a:t>
            </a:r>
          </a:p>
          <a:p>
            <a:pPr lvl="1"/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r>
              <a:rPr lang="en-US" dirty="0"/>
              <a:t>Components of the physical address (PA)</a:t>
            </a:r>
          </a:p>
          <a:p>
            <a:pPr lvl="1"/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/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3823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Translation With a Page Table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3753117" y="1840468"/>
            <a:ext cx="25146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Virtual page number (VPN)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267717" y="1840468"/>
            <a:ext cx="2133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Virtual page offset (VPO)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753117" y="32120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3372117" y="32120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3753117" y="3516868"/>
            <a:ext cx="2514600" cy="304800"/>
          </a:xfrm>
          <a:prstGeom prst="rect">
            <a:avLst/>
          </a:prstGeom>
          <a:solidFill>
            <a:srgbClr val="D5F1C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3372117" y="3516868"/>
            <a:ext cx="381000" cy="304800"/>
          </a:xfrm>
          <a:prstGeom prst="rect">
            <a:avLst/>
          </a:prstGeom>
          <a:solidFill>
            <a:srgbClr val="8DBA84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753117" y="38216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372117" y="38216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3753117" y="41264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3372117" y="41264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3753117" y="5726668"/>
            <a:ext cx="2514600" cy="304800"/>
          </a:xfrm>
          <a:prstGeom prst="rect">
            <a:avLst/>
          </a:prstGeom>
          <a:solidFill>
            <a:srgbClr val="D5F1C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Physical page number (PPN)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6267717" y="5726668"/>
            <a:ext cx="2133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Physical page offset (PPO)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3117" y="1207070"/>
            <a:ext cx="16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3117" y="6031468"/>
            <a:ext cx="175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5355" y="2939463"/>
            <a:ext cx="554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Valid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0703" y="2940531"/>
            <a:ext cx="227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Physical page number (PPN)</a:t>
            </a:r>
          </a:p>
        </p:txBody>
      </p:sp>
      <p:cxnSp>
        <p:nvCxnSpPr>
          <p:cNvPr id="24" name="Elbow Connector 23"/>
          <p:cNvCxnSpPr>
            <a:stCxn id="3" idx="1"/>
            <a:endCxn id="8" idx="1"/>
          </p:cNvCxnSpPr>
          <p:nvPr/>
        </p:nvCxnSpPr>
        <p:spPr bwMode="auto">
          <a:xfrm rot="10800000" flipV="1">
            <a:off x="3372117" y="1992868"/>
            <a:ext cx="381000" cy="1676400"/>
          </a:xfrm>
          <a:prstGeom prst="bentConnector3">
            <a:avLst>
              <a:gd name="adj1" fmla="val 258028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4" idx="2"/>
            <a:endCxn id="14" idx="0"/>
          </p:cNvCxnSpPr>
          <p:nvPr/>
        </p:nvCxnSpPr>
        <p:spPr bwMode="auto">
          <a:xfrm rot="5400000">
            <a:off x="5543817" y="3935968"/>
            <a:ext cx="3581400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5400000">
            <a:off x="3976677" y="4692134"/>
            <a:ext cx="2069068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Rectangle 35"/>
          <p:cNvSpPr/>
          <p:nvPr/>
        </p:nvSpPr>
        <p:spPr bwMode="auto">
          <a:xfrm>
            <a:off x="357762" y="1633336"/>
            <a:ext cx="1740959" cy="719063"/>
          </a:xfrm>
          <a:prstGeom prst="rect">
            <a:avLst/>
          </a:prstGeom>
          <a:solidFill>
            <a:srgbClr val="F1C7C7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Page table </a:t>
            </a:r>
            <a:br>
              <a:rPr lang="en-US" sz="1400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base register (PTBR)</a:t>
            </a:r>
          </a:p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(CR3 in x86)</a:t>
            </a:r>
          </a:p>
        </p:txBody>
      </p:sp>
      <p:cxnSp>
        <p:nvCxnSpPr>
          <p:cNvPr id="38" name="Shape 37"/>
          <p:cNvCxnSpPr/>
          <p:nvPr/>
        </p:nvCxnSpPr>
        <p:spPr bwMode="auto">
          <a:xfrm rot="5400000">
            <a:off x="2286267" y="3459719"/>
            <a:ext cx="1066800" cy="148590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Shape 39"/>
          <p:cNvCxnSpPr>
            <a:stCxn id="36" idx="2"/>
          </p:cNvCxnSpPr>
          <p:nvPr/>
        </p:nvCxnSpPr>
        <p:spPr bwMode="auto">
          <a:xfrm rot="16200000" flipH="1">
            <a:off x="1870345" y="1710296"/>
            <a:ext cx="859668" cy="2143874"/>
          </a:xfrm>
          <a:prstGeom prst="bentConnector2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3272477" y="2639892"/>
            <a:ext cx="129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79" y="3196475"/>
            <a:ext cx="1903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90000"/>
                </a:solidFill>
                <a:latin typeface="Calibri" pitchFamily="34" charset="0"/>
              </a:rPr>
              <a:t>Physical page table </a:t>
            </a:r>
          </a:p>
          <a:p>
            <a:r>
              <a:rPr lang="en-US" sz="1400" dirty="0">
                <a:solidFill>
                  <a:srgbClr val="990000"/>
                </a:solidFill>
                <a:latin typeface="Calibri" pitchFamily="34" charset="0"/>
              </a:rPr>
              <a:t>address for the current</a:t>
            </a:r>
          </a:p>
          <a:p>
            <a:r>
              <a:rPr lang="en-US" sz="1400" dirty="0">
                <a:solidFill>
                  <a:srgbClr val="990000"/>
                </a:solidFill>
                <a:latin typeface="Calibri" pitchFamily="34" charset="0"/>
              </a:rPr>
              <a:t>process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8992" y="4371965"/>
            <a:ext cx="169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alibri" pitchFamily="34" charset="0"/>
              </a:rPr>
              <a:t>Valid bit = 0:</a:t>
            </a:r>
          </a:p>
          <a:p>
            <a:pPr algn="r"/>
            <a:r>
              <a:rPr lang="en-US" sz="1400" dirty="0">
                <a:latin typeface="Calibri" pitchFamily="34" charset="0"/>
              </a:rPr>
              <a:t>Page not in memory</a:t>
            </a:r>
          </a:p>
          <a:p>
            <a:pPr algn="r"/>
            <a:r>
              <a:rPr lang="en-US" sz="1400" dirty="0">
                <a:latin typeface="Calibri" pitchFamily="34" charset="0"/>
              </a:rPr>
              <a:t>(page fault)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551801"/>
            <a:ext cx="29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7045" y="1551801"/>
            <a:ext cx="42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p-1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7354" y="1551801"/>
            <a:ext cx="301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Calibri" pitchFamily="34" charset="0"/>
              </a:rPr>
              <a:t>p</a:t>
            </a:r>
            <a:endParaRPr lang="en-US" sz="1200" i="1" dirty="0"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53117" y="1551801"/>
            <a:ext cx="42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n-1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5796" y="5450463"/>
            <a:ext cx="29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3241" y="5450463"/>
            <a:ext cx="42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p-1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2765" y="5450463"/>
            <a:ext cx="301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Calibri" pitchFamily="34" charset="0"/>
              </a:rPr>
              <a:t>p</a:t>
            </a:r>
            <a:endParaRPr lang="en-US" sz="1200" i="1" dirty="0">
              <a:latin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18528" y="5450463"/>
            <a:ext cx="469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m-1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3000" y="4691628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alibri" pitchFamily="34" charset="0"/>
              </a:rPr>
              <a:t>Valid bit = 1</a:t>
            </a:r>
          </a:p>
        </p:txBody>
      </p:sp>
    </p:spTree>
    <p:extLst>
      <p:ext uri="{BB962C8B-B14F-4D97-AF65-F5344CB8AC3E}">
        <p14:creationId xmlns:p14="http://schemas.microsoft.com/office/powerpoint/2010/main" val="19948892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572895"/>
            <a:ext cx="3749615" cy="16774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Translation: Page Hit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419600"/>
            <a:ext cx="6781800" cy="2057400"/>
          </a:xfrm>
          <a:ln/>
        </p:spPr>
        <p:txBody>
          <a:bodyPr/>
          <a:lstStyle/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1) Processor sends virtual address to MMU 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2-3) MMU fetches PTE from page table in memory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4) MMU sends physical address to cache/memory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5) Cache/memory sends data word to processor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1809754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1524728"/>
            <a:ext cx="914400" cy="22844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606298" y="2631411"/>
            <a:ext cx="37475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87787" y="3580538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5030787" y="28842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2162233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2424364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2157277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577141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5513388" y="1717011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 flipV="1">
            <a:off x="5030787" y="19698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5566800" y="2021811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5030787" y="22746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58988" y="2695634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07266" y="1921934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5656358" y="1469495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5656358" y="2324630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5656358" y="2951163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21666" y="3865564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7272567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48" grpId="0"/>
      <p:bldP spid="43" grpId="0"/>
      <p:bldP spid="47" grpId="0"/>
      <p:bldP spid="52" grpId="0" animBg="1"/>
      <p:bldP spid="53" grpId="0" animBg="1"/>
      <p:bldP spid="54" grpId="0" animBg="1"/>
      <p:bldP spid="5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609600" y="2237000"/>
            <a:ext cx="3749615" cy="16774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Translation: Page Fault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495800"/>
            <a:ext cx="8001000" cy="2057400"/>
          </a:xfrm>
          <a:ln/>
        </p:spPr>
        <p:txBody>
          <a:bodyPr/>
          <a:lstStyle/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1) Processor sends virtual address to MMU 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2-3) MMU fetches PTE from page table in memory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4) Valid bit is zero, so MMU triggers page fault exception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5) Handler identifies victim (and, if dirty, pages it out to disk)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6) Handler pages in new page and updates PTE in memory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7) Handler returns to original process, restarting faulting instruction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188602" y="2473859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5777815" y="2188833"/>
            <a:ext cx="914400" cy="192596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750202" y="282633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1817002" y="3088469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274202" y="2829849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766" y="2241246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4738003" y="2394344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 flipV="1">
            <a:off x="4255402" y="2647203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4791415" y="2835472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4255402" y="3104403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2330387" y="2594506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4880973" y="2146828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4880973" y="3154363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4563533" y="1554162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192962" y="2700868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7924800" y="2192866"/>
            <a:ext cx="914400" cy="192596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Disk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5760880" y="1219200"/>
            <a:ext cx="2527985" cy="533400"/>
          </a:xfrm>
          <a:prstGeom prst="rect">
            <a:avLst/>
          </a:prstGeom>
          <a:solidFill>
            <a:srgbClr val="F6F5BD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Page fault handler</a:t>
            </a:r>
          </a:p>
        </p:txBody>
      </p:sp>
      <p:cxnSp>
        <p:nvCxnSpPr>
          <p:cNvPr id="27" name="Shape 26"/>
          <p:cNvCxnSpPr>
            <a:stCxn id="9226" idx="0"/>
            <a:endCxn id="25" idx="1"/>
          </p:cNvCxnSpPr>
          <p:nvPr/>
        </p:nvCxnSpPr>
        <p:spPr bwMode="auto">
          <a:xfrm rot="5400000" flipH="1" flipV="1">
            <a:off x="4247462" y="960441"/>
            <a:ext cx="987959" cy="2038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6707187" y="2633132"/>
            <a:ext cx="1217613" cy="22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10800000">
            <a:off x="6707188" y="3580024"/>
            <a:ext cx="12176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Down Arrow 33"/>
          <p:cNvSpPr/>
          <p:nvPr/>
        </p:nvSpPr>
        <p:spPr bwMode="auto">
          <a:xfrm>
            <a:off x="7086600" y="1752600"/>
            <a:ext cx="457200" cy="628516"/>
          </a:xfrm>
          <a:prstGeom prst="downArrow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6773333" y="2353733"/>
            <a:ext cx="105828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Victim page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6858000" y="3302001"/>
            <a:ext cx="91952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New page</a:t>
            </a: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4267200" y="1180238"/>
            <a:ext cx="90791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Exception</a:t>
            </a:r>
          </a:p>
        </p:txBody>
      </p:sp>
      <p:sp>
        <p:nvSpPr>
          <p:cNvPr id="42" name="Oval 21"/>
          <p:cNvSpPr>
            <a:spLocks noChangeArrowheads="1"/>
          </p:cNvSpPr>
          <p:nvPr/>
        </p:nvSpPr>
        <p:spPr bwMode="auto">
          <a:xfrm>
            <a:off x="7205132" y="3662362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2330386" y="317314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9944956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25" grpId="0" animBg="1"/>
      <p:bldP spid="34" grpId="0" animBg="1"/>
      <p:bldP spid="35" grpId="0"/>
      <p:bldP spid="36" grpId="0"/>
      <p:bldP spid="39" grpId="0"/>
      <p:bldP spid="42" grpId="0" animBg="1"/>
      <p:bldP spid="4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471" name="Rectangle 79"/>
          <p:cNvSpPr>
            <a:spLocks noChangeArrowheads="1"/>
          </p:cNvSpPr>
          <p:nvPr/>
        </p:nvSpPr>
        <p:spPr bwMode="auto">
          <a:xfrm>
            <a:off x="827088" y="2222211"/>
            <a:ext cx="3646487" cy="2438400"/>
          </a:xfrm>
          <a:prstGeom prst="rect">
            <a:avLst/>
          </a:prstGeom>
          <a:solidFill>
            <a:srgbClr val="EBEBEB"/>
          </a:solidFill>
          <a:ln w="12700" cap="flat" cmpd="sng" algn="ctr">
            <a:noFill/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20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Integrating VM and Cache</a:t>
            </a:r>
          </a:p>
        </p:txBody>
      </p:sp>
      <p:sp>
        <p:nvSpPr>
          <p:cNvPr id="571458" name="Rectangle 66"/>
          <p:cNvSpPr>
            <a:spLocks noChangeArrowheads="1"/>
          </p:cNvSpPr>
          <p:nvPr/>
        </p:nvSpPr>
        <p:spPr bwMode="auto">
          <a:xfrm>
            <a:off x="2552700" y="3411249"/>
            <a:ext cx="384721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dirty="0">
                <a:latin typeface="+mn-lt"/>
              </a:rPr>
              <a:t>VA</a:t>
            </a:r>
          </a:p>
        </p:txBody>
      </p:sp>
      <p:sp>
        <p:nvSpPr>
          <p:cNvPr id="571459" name="Rectangle 67"/>
          <p:cNvSpPr>
            <a:spLocks noChangeArrowheads="1"/>
          </p:cNvSpPr>
          <p:nvPr/>
        </p:nvSpPr>
        <p:spPr bwMode="auto">
          <a:xfrm>
            <a:off x="1028700" y="3182649"/>
            <a:ext cx="1230313" cy="457200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CPU</a:t>
            </a:r>
          </a:p>
        </p:txBody>
      </p:sp>
      <p:sp>
        <p:nvSpPr>
          <p:cNvPr id="571460" name="Rectangle 68"/>
          <p:cNvSpPr>
            <a:spLocks noChangeArrowheads="1"/>
          </p:cNvSpPr>
          <p:nvPr/>
        </p:nvSpPr>
        <p:spPr bwMode="auto">
          <a:xfrm>
            <a:off x="3267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MMU</a:t>
            </a:r>
          </a:p>
        </p:txBody>
      </p:sp>
      <p:sp>
        <p:nvSpPr>
          <p:cNvPr id="571461" name="Rectangle 69"/>
          <p:cNvSpPr>
            <a:spLocks noChangeArrowheads="1"/>
          </p:cNvSpPr>
          <p:nvPr/>
        </p:nvSpPr>
        <p:spPr bwMode="auto">
          <a:xfrm>
            <a:off x="5448300" y="2420649"/>
            <a:ext cx="925513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 b="0">
              <a:latin typeface="+mn-lt"/>
            </a:endParaRPr>
          </a:p>
        </p:txBody>
      </p:sp>
      <p:sp>
        <p:nvSpPr>
          <p:cNvPr id="571462" name="Line 70"/>
          <p:cNvSpPr>
            <a:spLocks noChangeShapeType="1"/>
          </p:cNvSpPr>
          <p:nvPr/>
        </p:nvSpPr>
        <p:spPr bwMode="auto">
          <a:xfrm flipV="1">
            <a:off x="2259013" y="3411249"/>
            <a:ext cx="1001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3" name="Line 71"/>
          <p:cNvSpPr>
            <a:spLocks noChangeShapeType="1"/>
          </p:cNvSpPr>
          <p:nvPr/>
        </p:nvSpPr>
        <p:spPr bwMode="auto">
          <a:xfrm flipV="1">
            <a:off x="1638300" y="3639849"/>
            <a:ext cx="0" cy="1249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4" name="Rectangle 72"/>
          <p:cNvSpPr>
            <a:spLocks noChangeArrowheads="1"/>
          </p:cNvSpPr>
          <p:nvPr/>
        </p:nvSpPr>
        <p:spPr bwMode="auto">
          <a:xfrm>
            <a:off x="4564063" y="2922299"/>
            <a:ext cx="564257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dirty="0">
                <a:latin typeface="+mn-lt"/>
              </a:rPr>
              <a:t>PTEA</a:t>
            </a:r>
          </a:p>
        </p:txBody>
      </p:sp>
      <p:sp>
        <p:nvSpPr>
          <p:cNvPr id="571465" name="Text Box 73"/>
          <p:cNvSpPr txBox="1">
            <a:spLocks noChangeArrowheads="1"/>
          </p:cNvSpPr>
          <p:nvPr/>
        </p:nvSpPr>
        <p:spPr bwMode="auto">
          <a:xfrm>
            <a:off x="4286250" y="1764009"/>
            <a:ext cx="49494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PTE</a:t>
            </a:r>
          </a:p>
        </p:txBody>
      </p:sp>
      <p:sp>
        <p:nvSpPr>
          <p:cNvPr id="571466" name="Line 74"/>
          <p:cNvSpPr>
            <a:spLocks noChangeShapeType="1"/>
          </p:cNvSpPr>
          <p:nvPr/>
        </p:nvSpPr>
        <p:spPr bwMode="auto">
          <a:xfrm>
            <a:off x="4286250" y="3181061"/>
            <a:ext cx="116205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7" name="Rectangle 75"/>
          <p:cNvSpPr>
            <a:spLocks noChangeArrowheads="1"/>
          </p:cNvSpPr>
          <p:nvPr/>
        </p:nvSpPr>
        <p:spPr bwMode="auto">
          <a:xfrm>
            <a:off x="4692650" y="3563649"/>
            <a:ext cx="347852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>
                <a:latin typeface="+mn-lt"/>
              </a:rPr>
              <a:t>PA</a:t>
            </a:r>
          </a:p>
        </p:txBody>
      </p:sp>
      <p:sp>
        <p:nvSpPr>
          <p:cNvPr id="571468" name="Line 76"/>
          <p:cNvSpPr>
            <a:spLocks noChangeShapeType="1"/>
          </p:cNvSpPr>
          <p:nvPr/>
        </p:nvSpPr>
        <p:spPr bwMode="auto">
          <a:xfrm flipH="1">
            <a:off x="1638300" y="4889211"/>
            <a:ext cx="3568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9" name="Text Box 77"/>
          <p:cNvSpPr txBox="1">
            <a:spLocks noChangeArrowheads="1"/>
          </p:cNvSpPr>
          <p:nvPr/>
        </p:nvSpPr>
        <p:spPr bwMode="auto">
          <a:xfrm>
            <a:off x="3200400" y="4813011"/>
            <a:ext cx="58381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+mn-lt"/>
              </a:rPr>
              <a:t>Data</a:t>
            </a:r>
          </a:p>
        </p:txBody>
      </p:sp>
      <p:sp>
        <p:nvSpPr>
          <p:cNvPr id="571470" name="Line 78"/>
          <p:cNvSpPr>
            <a:spLocks noChangeShapeType="1"/>
          </p:cNvSpPr>
          <p:nvPr/>
        </p:nvSpPr>
        <p:spPr bwMode="auto">
          <a:xfrm flipV="1">
            <a:off x="4305300" y="3822411"/>
            <a:ext cx="1162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73" name="Rectangle 81"/>
          <p:cNvSpPr>
            <a:spLocks noChangeArrowheads="1"/>
          </p:cNvSpPr>
          <p:nvPr/>
        </p:nvSpPr>
        <p:spPr bwMode="auto">
          <a:xfrm>
            <a:off x="7532688" y="2420649"/>
            <a:ext cx="925512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Memory</a:t>
            </a:r>
          </a:p>
        </p:txBody>
      </p:sp>
      <p:sp>
        <p:nvSpPr>
          <p:cNvPr id="571474" name="Line 82"/>
          <p:cNvSpPr>
            <a:spLocks noChangeShapeType="1"/>
          </p:cNvSpPr>
          <p:nvPr/>
        </p:nvSpPr>
        <p:spPr bwMode="auto">
          <a:xfrm>
            <a:off x="6373813" y="3822411"/>
            <a:ext cx="1177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75" name="Text Box 83"/>
          <p:cNvSpPr txBox="1">
            <a:spLocks noChangeArrowheads="1"/>
          </p:cNvSpPr>
          <p:nvPr/>
        </p:nvSpPr>
        <p:spPr bwMode="auto">
          <a:xfrm>
            <a:off x="6750050" y="3516609"/>
            <a:ext cx="4042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PA</a:t>
            </a:r>
          </a:p>
        </p:txBody>
      </p:sp>
      <p:sp>
        <p:nvSpPr>
          <p:cNvPr id="571476" name="Text Box 84"/>
          <p:cNvSpPr txBox="1">
            <a:spLocks noChangeArrowheads="1"/>
          </p:cNvSpPr>
          <p:nvPr/>
        </p:nvSpPr>
        <p:spPr bwMode="auto">
          <a:xfrm>
            <a:off x="5981507" y="3575704"/>
            <a:ext cx="47961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PA</a:t>
            </a:r>
          </a:p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miss</a:t>
            </a:r>
          </a:p>
        </p:txBody>
      </p:sp>
      <p:sp>
        <p:nvSpPr>
          <p:cNvPr id="571477" name="Rectangle 85"/>
          <p:cNvSpPr>
            <a:spLocks noChangeArrowheads="1"/>
          </p:cNvSpPr>
          <p:nvPr/>
        </p:nvSpPr>
        <p:spPr bwMode="auto">
          <a:xfrm>
            <a:off x="6648450" y="2861974"/>
            <a:ext cx="564257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>
                <a:latin typeface="+mn-lt"/>
              </a:rPr>
              <a:t>PTEA</a:t>
            </a:r>
          </a:p>
        </p:txBody>
      </p:sp>
      <p:sp>
        <p:nvSpPr>
          <p:cNvPr id="571478" name="Text Box 86"/>
          <p:cNvSpPr txBox="1">
            <a:spLocks noChangeArrowheads="1"/>
          </p:cNvSpPr>
          <p:nvPr/>
        </p:nvSpPr>
        <p:spPr bwMode="auto">
          <a:xfrm>
            <a:off x="5933633" y="2905779"/>
            <a:ext cx="50526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PTEA</a:t>
            </a:r>
          </a:p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miss</a:t>
            </a:r>
          </a:p>
        </p:txBody>
      </p:sp>
      <p:sp>
        <p:nvSpPr>
          <p:cNvPr id="571479" name="Line 87"/>
          <p:cNvSpPr>
            <a:spLocks noChangeShapeType="1"/>
          </p:cNvSpPr>
          <p:nvPr/>
        </p:nvSpPr>
        <p:spPr bwMode="auto">
          <a:xfrm flipH="1">
            <a:off x="3763963" y="2071399"/>
            <a:ext cx="14430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0" name="Line 88"/>
          <p:cNvSpPr>
            <a:spLocks noChangeShapeType="1"/>
          </p:cNvSpPr>
          <p:nvPr/>
        </p:nvSpPr>
        <p:spPr bwMode="auto">
          <a:xfrm flipV="1">
            <a:off x="3763963" y="2071399"/>
            <a:ext cx="0" cy="349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1" name="Line 89"/>
          <p:cNvSpPr>
            <a:spLocks noChangeShapeType="1"/>
          </p:cNvSpPr>
          <p:nvPr/>
        </p:nvSpPr>
        <p:spPr bwMode="auto">
          <a:xfrm flipH="1">
            <a:off x="5207000" y="2603211"/>
            <a:ext cx="24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2" name="Line 90"/>
          <p:cNvSpPr>
            <a:spLocks noChangeShapeType="1"/>
          </p:cNvSpPr>
          <p:nvPr/>
        </p:nvSpPr>
        <p:spPr bwMode="auto">
          <a:xfrm flipV="1">
            <a:off x="5207000" y="2071399"/>
            <a:ext cx="0" cy="531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3" name="Text Box 91"/>
          <p:cNvSpPr txBox="1">
            <a:spLocks noChangeArrowheads="1"/>
          </p:cNvSpPr>
          <p:nvPr/>
        </p:nvSpPr>
        <p:spPr bwMode="auto">
          <a:xfrm>
            <a:off x="5399088" y="2402542"/>
            <a:ext cx="50526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PTEA </a:t>
            </a:r>
          </a:p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hit</a:t>
            </a:r>
          </a:p>
        </p:txBody>
      </p:sp>
      <p:sp>
        <p:nvSpPr>
          <p:cNvPr id="571484" name="Line 92"/>
          <p:cNvSpPr>
            <a:spLocks noChangeShapeType="1"/>
          </p:cNvSpPr>
          <p:nvPr/>
        </p:nvSpPr>
        <p:spPr bwMode="auto">
          <a:xfrm flipH="1">
            <a:off x="5207000" y="4355811"/>
            <a:ext cx="24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5" name="Line 93"/>
          <p:cNvSpPr>
            <a:spLocks noChangeShapeType="1"/>
          </p:cNvSpPr>
          <p:nvPr/>
        </p:nvSpPr>
        <p:spPr bwMode="auto">
          <a:xfrm flipH="1" flipV="1">
            <a:off x="5207000" y="4355811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6" name="Text Box 94"/>
          <p:cNvSpPr txBox="1">
            <a:spLocks noChangeArrowheads="1"/>
          </p:cNvSpPr>
          <p:nvPr/>
        </p:nvSpPr>
        <p:spPr bwMode="auto">
          <a:xfrm>
            <a:off x="5399088" y="4155142"/>
            <a:ext cx="35839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PA </a:t>
            </a:r>
          </a:p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hit</a:t>
            </a:r>
          </a:p>
        </p:txBody>
      </p:sp>
      <p:sp>
        <p:nvSpPr>
          <p:cNvPr id="571487" name="Line 95"/>
          <p:cNvSpPr>
            <a:spLocks noChangeShapeType="1"/>
          </p:cNvSpPr>
          <p:nvPr/>
        </p:nvSpPr>
        <p:spPr bwMode="auto">
          <a:xfrm>
            <a:off x="6389688" y="3182649"/>
            <a:ext cx="116205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8" name="Line 96"/>
          <p:cNvSpPr>
            <a:spLocks noChangeShapeType="1"/>
          </p:cNvSpPr>
          <p:nvPr/>
        </p:nvSpPr>
        <p:spPr bwMode="auto">
          <a:xfrm flipH="1">
            <a:off x="6373813" y="4355811"/>
            <a:ext cx="1171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9" name="Text Box 97"/>
          <p:cNvSpPr txBox="1">
            <a:spLocks noChangeArrowheads="1"/>
          </p:cNvSpPr>
          <p:nvPr/>
        </p:nvSpPr>
        <p:spPr bwMode="auto">
          <a:xfrm>
            <a:off x="6672263" y="4050009"/>
            <a:ext cx="58381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Data</a:t>
            </a:r>
          </a:p>
        </p:txBody>
      </p:sp>
      <p:sp>
        <p:nvSpPr>
          <p:cNvPr id="571490" name="Line 98"/>
          <p:cNvSpPr>
            <a:spLocks noChangeShapeType="1"/>
          </p:cNvSpPr>
          <p:nvPr/>
        </p:nvSpPr>
        <p:spPr bwMode="auto">
          <a:xfrm flipH="1">
            <a:off x="6361113" y="2603211"/>
            <a:ext cx="1171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91" name="Text Box 99"/>
          <p:cNvSpPr txBox="1">
            <a:spLocks noChangeArrowheads="1"/>
          </p:cNvSpPr>
          <p:nvPr/>
        </p:nvSpPr>
        <p:spPr bwMode="auto">
          <a:xfrm>
            <a:off x="6689725" y="2265659"/>
            <a:ext cx="49494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PTE</a:t>
            </a:r>
          </a:p>
        </p:txBody>
      </p:sp>
      <p:sp>
        <p:nvSpPr>
          <p:cNvPr id="571492" name="Text Box 100"/>
          <p:cNvSpPr txBox="1">
            <a:spLocks noChangeArrowheads="1"/>
          </p:cNvSpPr>
          <p:nvPr/>
        </p:nvSpPr>
        <p:spPr bwMode="auto">
          <a:xfrm>
            <a:off x="5573713" y="4596824"/>
            <a:ext cx="671979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L1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cache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2222211"/>
            <a:ext cx="110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CPU Chip</a:t>
            </a:r>
          </a:p>
        </p:txBody>
      </p:sp>
      <p:sp>
        <p:nvSpPr>
          <p:cNvPr id="44" name="Rectangle 72"/>
          <p:cNvSpPr>
            <a:spLocks noChangeArrowheads="1"/>
          </p:cNvSpPr>
          <p:nvPr/>
        </p:nvSpPr>
        <p:spPr bwMode="auto">
          <a:xfrm>
            <a:off x="943437" y="6191230"/>
            <a:ext cx="7241252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i="1" dirty="0">
                <a:latin typeface="+mn-lt"/>
              </a:rPr>
              <a:t>VA: virtual address, PA: physical address, PTE: page table entry, PTEA = PTE address</a:t>
            </a:r>
          </a:p>
        </p:txBody>
      </p:sp>
    </p:spTree>
    <p:extLst>
      <p:ext uri="{BB962C8B-B14F-4D97-AF65-F5344CB8AC3E}">
        <p14:creationId xmlns:p14="http://schemas.microsoft.com/office/powerpoint/2010/main" val="227553496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/>
          </p:nvPr>
        </p:nvSpPr>
        <p:spPr>
          <a:xfrm>
            <a:off x="389467" y="493712"/>
            <a:ext cx="8382000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Speeding up Translation with a TLB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81138"/>
            <a:ext cx="8548687" cy="5224462"/>
          </a:xfrm>
          <a:ln/>
        </p:spPr>
        <p:txBody>
          <a:bodyPr/>
          <a:lstStyle/>
          <a:p>
            <a:pPr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Page table entries (PTEs) are cached in L1 like any other memory word</a:t>
            </a:r>
          </a:p>
          <a:p>
            <a:pPr lvl="1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PTEs may be evicted by other data references</a:t>
            </a:r>
          </a:p>
          <a:p>
            <a:pPr lvl="1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PTE hit still requires a small L1 delay</a:t>
            </a:r>
          </a:p>
          <a:p>
            <a:pPr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Solution: </a:t>
            </a:r>
            <a:r>
              <a:rPr lang="en-GB" i="1" dirty="0">
                <a:solidFill>
                  <a:srgbClr val="C00000"/>
                </a:solidFill>
                <a:effectLst/>
              </a:rPr>
              <a:t>Translation </a:t>
            </a:r>
            <a:r>
              <a:rPr lang="en-GB" i="1" dirty="0" err="1">
                <a:solidFill>
                  <a:srgbClr val="C00000"/>
                </a:solidFill>
                <a:effectLst/>
              </a:rPr>
              <a:t>Lookaside</a:t>
            </a:r>
            <a:r>
              <a:rPr lang="en-GB" i="1" dirty="0">
                <a:solidFill>
                  <a:srgbClr val="C00000"/>
                </a:solidFill>
                <a:effectLst/>
              </a:rPr>
              <a:t> Buffer</a:t>
            </a:r>
            <a:r>
              <a:rPr lang="en-GB" dirty="0">
                <a:effectLst/>
              </a:rPr>
              <a:t> (TLB)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Small set-associative hardware cache in MMU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Maps virtual page numbers to  physical page numbers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Contains complete page table entries for small number of pages</a:t>
            </a:r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031121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29782" cy="762000"/>
          </a:xfrm>
        </p:spPr>
        <p:txBody>
          <a:bodyPr/>
          <a:lstStyle/>
          <a:p>
            <a:r>
              <a:rPr lang="en-US" dirty="0"/>
              <a:t>Summary of Address Translation Symbols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7896225" cy="5267325"/>
          </a:xfrm>
        </p:spPr>
        <p:txBody>
          <a:bodyPr>
            <a:normAutofit/>
          </a:bodyPr>
          <a:lstStyle/>
          <a:p>
            <a:r>
              <a:rPr lang="en-US" dirty="0"/>
              <a:t>Basic Parameters</a:t>
            </a:r>
          </a:p>
          <a:p>
            <a:pPr lvl="1"/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virtual address space</a:t>
            </a:r>
            <a:endParaRPr lang="en-US" baseline="30000" dirty="0"/>
          </a:p>
          <a:p>
            <a:pPr lvl="1"/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physical address space</a:t>
            </a:r>
            <a:endParaRPr lang="en-US" baseline="30000" dirty="0"/>
          </a:p>
          <a:p>
            <a:pPr lvl="1"/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  <a:endParaRPr lang="en-US" baseline="30000" dirty="0"/>
          </a:p>
          <a:p>
            <a:r>
              <a:rPr lang="en-US" dirty="0"/>
              <a:t>Components of the virtual address (VA)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TLBI</a:t>
            </a:r>
            <a:r>
              <a:rPr lang="en-US" i="1" dirty="0">
                <a:solidFill>
                  <a:srgbClr val="FF0000"/>
                </a:solidFill>
              </a:rPr>
              <a:t>: TLB index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TLBT</a:t>
            </a:r>
            <a:r>
              <a:rPr lang="en-US" i="1" dirty="0">
                <a:solidFill>
                  <a:srgbClr val="FF0000"/>
                </a:solidFill>
              </a:rPr>
              <a:t>: TLB tag</a:t>
            </a:r>
          </a:p>
          <a:p>
            <a:pPr lvl="1"/>
            <a:r>
              <a:rPr lang="en-US" b="1" dirty="0"/>
              <a:t>VPO</a:t>
            </a:r>
            <a:r>
              <a:rPr lang="en-US" dirty="0"/>
              <a:t>: Virtual page offset </a:t>
            </a:r>
          </a:p>
          <a:p>
            <a:pPr lvl="1"/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r>
              <a:rPr lang="en-US" dirty="0"/>
              <a:t>Components of the physical address (PA)</a:t>
            </a:r>
          </a:p>
          <a:p>
            <a:pPr lvl="1"/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/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015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TLB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847725"/>
          </a:xfrm>
        </p:spPr>
        <p:txBody>
          <a:bodyPr/>
          <a:lstStyle/>
          <a:p>
            <a:r>
              <a:rPr lang="en-US" dirty="0"/>
              <a:t>MMU uses the VPN portion of the virtual address to access the TLB: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4454526" y="2908300"/>
            <a:ext cx="1658937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800" dirty="0">
                <a:latin typeface="+mj-lt"/>
              </a:rPr>
              <a:t>TLB tag (TLBT)</a:t>
            </a:r>
          </a:p>
        </p:txBody>
      </p:sp>
      <p:sp>
        <p:nvSpPr>
          <p:cNvPr id="5" name="Rectangle 380"/>
          <p:cNvSpPr>
            <a:spLocks noChangeArrowheads="1"/>
          </p:cNvSpPr>
          <p:nvPr/>
        </p:nvSpPr>
        <p:spPr bwMode="auto">
          <a:xfrm>
            <a:off x="6108701" y="2908300"/>
            <a:ext cx="177006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800">
                <a:latin typeface="+mj-lt"/>
              </a:rPr>
              <a:t>TLB index (TLBI)</a:t>
            </a:r>
          </a:p>
        </p:txBody>
      </p:sp>
      <p:sp>
        <p:nvSpPr>
          <p:cNvPr id="6" name="Text Box 381"/>
          <p:cNvSpPr txBox="1">
            <a:spLocks noChangeArrowheads="1"/>
          </p:cNvSpPr>
          <p:nvPr/>
        </p:nvSpPr>
        <p:spPr bwMode="auto">
          <a:xfrm>
            <a:off x="8670926" y="2607261"/>
            <a:ext cx="2888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0</a:t>
            </a:r>
          </a:p>
        </p:txBody>
      </p:sp>
      <p:sp>
        <p:nvSpPr>
          <p:cNvPr id="7" name="Text Box 382"/>
          <p:cNvSpPr txBox="1">
            <a:spLocks noChangeArrowheads="1"/>
          </p:cNvSpPr>
          <p:nvPr/>
        </p:nvSpPr>
        <p:spPr bwMode="auto">
          <a:xfrm>
            <a:off x="7842251" y="2607261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p-1</a:t>
            </a:r>
          </a:p>
        </p:txBody>
      </p:sp>
      <p:sp>
        <p:nvSpPr>
          <p:cNvPr id="8" name="Text Box 383"/>
          <p:cNvSpPr txBox="1">
            <a:spLocks noChangeArrowheads="1"/>
          </p:cNvSpPr>
          <p:nvPr/>
        </p:nvSpPr>
        <p:spPr bwMode="auto">
          <a:xfrm>
            <a:off x="7637463" y="2607261"/>
            <a:ext cx="2952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p</a:t>
            </a:r>
          </a:p>
        </p:txBody>
      </p:sp>
      <p:sp>
        <p:nvSpPr>
          <p:cNvPr id="9" name="Text Box 384"/>
          <p:cNvSpPr txBox="1">
            <a:spLocks noChangeArrowheads="1"/>
          </p:cNvSpPr>
          <p:nvPr/>
        </p:nvSpPr>
        <p:spPr bwMode="auto">
          <a:xfrm>
            <a:off x="4343400" y="2607261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n-1</a:t>
            </a:r>
          </a:p>
        </p:txBody>
      </p:sp>
      <p:sp>
        <p:nvSpPr>
          <p:cNvPr id="10" name="Rectangle 385"/>
          <p:cNvSpPr>
            <a:spLocks noChangeArrowheads="1"/>
          </p:cNvSpPr>
          <p:nvPr/>
        </p:nvSpPr>
        <p:spPr bwMode="auto">
          <a:xfrm>
            <a:off x="7880351" y="2908300"/>
            <a:ext cx="91916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800">
                <a:latin typeface="+mj-lt"/>
              </a:rPr>
              <a:t>VPO</a:t>
            </a:r>
          </a:p>
        </p:txBody>
      </p:sp>
      <p:sp>
        <p:nvSpPr>
          <p:cNvPr id="11" name="AutoShape 386"/>
          <p:cNvSpPr>
            <a:spLocks/>
          </p:cNvSpPr>
          <p:nvPr/>
        </p:nvSpPr>
        <p:spPr bwMode="auto">
          <a:xfrm rot="5400000" flipV="1">
            <a:off x="6056313" y="869950"/>
            <a:ext cx="177800" cy="3403600"/>
          </a:xfrm>
          <a:prstGeom prst="leftBrace">
            <a:avLst>
              <a:gd name="adj1" fmla="val 159524"/>
              <a:gd name="adj2" fmla="val 49949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12" name="Text Box 387"/>
          <p:cNvSpPr txBox="1">
            <a:spLocks noChangeArrowheads="1"/>
          </p:cNvSpPr>
          <p:nvPr/>
        </p:nvSpPr>
        <p:spPr bwMode="auto">
          <a:xfrm>
            <a:off x="5840413" y="2113518"/>
            <a:ext cx="596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+mj-lt"/>
              </a:rPr>
              <a:t>VPN</a:t>
            </a:r>
          </a:p>
        </p:txBody>
      </p:sp>
      <p:sp>
        <p:nvSpPr>
          <p:cNvPr id="13" name="Text Box 388"/>
          <p:cNvSpPr txBox="1">
            <a:spLocks noChangeArrowheads="1"/>
          </p:cNvSpPr>
          <p:nvPr/>
        </p:nvSpPr>
        <p:spPr bwMode="auto">
          <a:xfrm>
            <a:off x="6107113" y="2607261"/>
            <a:ext cx="6351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p+t-1</a:t>
            </a:r>
          </a:p>
        </p:txBody>
      </p:sp>
      <p:sp>
        <p:nvSpPr>
          <p:cNvPr id="14" name="Text Box 389"/>
          <p:cNvSpPr txBox="1">
            <a:spLocks noChangeArrowheads="1"/>
          </p:cNvSpPr>
          <p:nvPr/>
        </p:nvSpPr>
        <p:spPr bwMode="auto">
          <a:xfrm>
            <a:off x="5749926" y="2607261"/>
            <a:ext cx="4683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 dirty="0" err="1">
                <a:latin typeface="+mj-lt"/>
              </a:rPr>
              <a:t>p+t</a:t>
            </a:r>
            <a:endParaRPr lang="en-US" sz="1600" dirty="0"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838200" y="3739782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987607" y="3815985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280925" y="3914651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501788" y="3914651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1096928" y="391465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3050943" y="4994139"/>
            <a:ext cx="5496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alibri" pitchFamily="34" charset="0"/>
              </a:rPr>
              <a:t>…</a:t>
            </a:r>
          </a:p>
        </p:txBody>
      </p:sp>
      <p:sp>
        <p:nvSpPr>
          <p:cNvPr id="109" name="Rectangle 108"/>
          <p:cNvSpPr/>
          <p:nvPr/>
        </p:nvSpPr>
        <p:spPr bwMode="auto">
          <a:xfrm>
            <a:off x="3540307" y="3815985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4833625" y="3914651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PTE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4054488" y="3914651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tag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3649628" y="391465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v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3200" y="3847561"/>
            <a:ext cx="65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0</a:t>
            </a:r>
          </a:p>
        </p:txBody>
      </p:sp>
      <p:sp>
        <p:nvSpPr>
          <p:cNvPr id="114" name="Rectangle 113"/>
          <p:cNvSpPr/>
          <p:nvPr/>
        </p:nvSpPr>
        <p:spPr bwMode="auto">
          <a:xfrm>
            <a:off x="863600" y="4520968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013007" y="4597171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2306325" y="4695837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1527188" y="4695837"/>
            <a:ext cx="61978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1122328" y="4695837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3565707" y="4597171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4859025" y="4695837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PTE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4079888" y="4695837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tag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675028" y="4695837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v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8600" y="4628747"/>
            <a:ext cx="65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1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863600" y="5559357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1013007" y="5635560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2306325" y="5734226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27" name="Rectangle 126"/>
          <p:cNvSpPr/>
          <p:nvPr/>
        </p:nvSpPr>
        <p:spPr bwMode="auto">
          <a:xfrm>
            <a:off x="1527188" y="57342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1122328" y="57342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3565707" y="5635560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4859025" y="5734226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31" name="Rectangle 130"/>
          <p:cNvSpPr/>
          <p:nvPr/>
        </p:nvSpPr>
        <p:spPr bwMode="auto">
          <a:xfrm>
            <a:off x="4079888" y="57342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32" name="Rectangle 131"/>
          <p:cNvSpPr/>
          <p:nvPr/>
        </p:nvSpPr>
        <p:spPr bwMode="auto">
          <a:xfrm>
            <a:off x="3675028" y="57342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0" y="5667136"/>
            <a:ext cx="844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T-1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77610" y="192885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j-lt"/>
              </a:rPr>
              <a:t>T = 2</a:t>
            </a:r>
            <a:r>
              <a:rPr lang="en-US" sz="1800" baseline="30000" dirty="0">
                <a:latin typeface="+mj-lt"/>
              </a:rPr>
              <a:t>t</a:t>
            </a:r>
            <a:r>
              <a:rPr lang="en-US" sz="1800" dirty="0">
                <a:latin typeface="+mj-lt"/>
              </a:rPr>
              <a:t> sets</a:t>
            </a:r>
            <a:endParaRPr lang="en-US" sz="1800" baseline="30000" dirty="0">
              <a:latin typeface="+mj-lt"/>
            </a:endParaRPr>
          </a:p>
        </p:txBody>
      </p:sp>
      <p:grpSp>
        <p:nvGrpSpPr>
          <p:cNvPr id="150" name="Group 149"/>
          <p:cNvGrpSpPr/>
          <p:nvPr/>
        </p:nvGrpSpPr>
        <p:grpSpPr>
          <a:xfrm>
            <a:off x="6121401" y="3213100"/>
            <a:ext cx="2967558" cy="1663700"/>
            <a:chOff x="6121401" y="3213100"/>
            <a:chExt cx="2967558" cy="1663700"/>
          </a:xfrm>
        </p:grpSpPr>
        <p:cxnSp>
          <p:nvCxnSpPr>
            <p:cNvPr id="136" name="Straight Connector 135"/>
            <p:cNvCxnSpPr>
              <a:stCxn id="5" idx="2"/>
            </p:cNvCxnSpPr>
            <p:nvPr/>
          </p:nvCxnSpPr>
          <p:spPr bwMode="auto">
            <a:xfrm>
              <a:off x="6993732" y="3213100"/>
              <a:ext cx="0" cy="16637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Straight Arrow Connector 139"/>
            <p:cNvCxnSpPr/>
            <p:nvPr/>
          </p:nvCxnSpPr>
          <p:spPr bwMode="auto">
            <a:xfrm flipH="1">
              <a:off x="6121401" y="4876800"/>
              <a:ext cx="872331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43" name="TextBox 142"/>
            <p:cNvSpPr txBox="1"/>
            <p:nvPr/>
          </p:nvSpPr>
          <p:spPr>
            <a:xfrm>
              <a:off x="7086600" y="4177761"/>
              <a:ext cx="2002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j-lt"/>
                </a:rPr>
                <a:t>TLBI selects the set</a:t>
              </a:r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1828800" y="2395319"/>
            <a:ext cx="2625726" cy="2300518"/>
            <a:chOff x="1828800" y="2395319"/>
            <a:chExt cx="2625726" cy="2300518"/>
          </a:xfrm>
        </p:grpSpPr>
        <p:cxnSp>
          <p:nvCxnSpPr>
            <p:cNvPr id="145" name="Straight Connector 144"/>
            <p:cNvCxnSpPr>
              <a:stCxn id="4" idx="1"/>
            </p:cNvCxnSpPr>
            <p:nvPr/>
          </p:nvCxnSpPr>
          <p:spPr bwMode="auto">
            <a:xfrm flipH="1" flipV="1">
              <a:off x="1828800" y="3048000"/>
              <a:ext cx="2625726" cy="127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Arrow Connector 146"/>
            <p:cNvCxnSpPr>
              <a:endCxn id="117" idx="0"/>
            </p:cNvCxnSpPr>
            <p:nvPr/>
          </p:nvCxnSpPr>
          <p:spPr bwMode="auto">
            <a:xfrm>
              <a:off x="1828800" y="3048000"/>
              <a:ext cx="8283" cy="164783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48" name="TextBox 147"/>
            <p:cNvSpPr txBox="1"/>
            <p:nvPr/>
          </p:nvSpPr>
          <p:spPr>
            <a:xfrm>
              <a:off x="2281787" y="2395319"/>
              <a:ext cx="20616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TLBT matches tag of line within 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3985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752600"/>
            <a:ext cx="3749615" cy="2695242"/>
          </a:xfrm>
          <a:prstGeom prst="rect">
            <a:avLst/>
          </a:prstGeom>
          <a:solidFill>
            <a:srgbClr val="EBEBEB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TLB Hit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3007259"/>
            <a:ext cx="1066800" cy="1237384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2722233"/>
            <a:ext cx="914400" cy="2284410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3359738"/>
            <a:ext cx="1066800" cy="5334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7526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592387" y="3119439"/>
            <a:ext cx="1370013" cy="541005"/>
            <a:chOff x="2592387" y="3119439"/>
            <a:chExt cx="1370013" cy="541005"/>
          </a:xfrm>
        </p:grpSpPr>
        <p:cxnSp>
          <p:nvCxnSpPr>
            <p:cNvPr id="38" name="Straight Arrow Connector 37"/>
            <p:cNvCxnSpPr>
              <a:stCxn id="37" idx="3"/>
            </p:cNvCxnSpPr>
            <p:nvPr/>
          </p:nvCxnSpPr>
          <p:spPr bwMode="auto">
            <a:xfrm flipV="1">
              <a:off x="2592387" y="3621869"/>
              <a:ext cx="1370013" cy="4569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1" name="Text Box 9"/>
            <p:cNvSpPr txBox="1">
              <a:spLocks noChangeArrowheads="1"/>
            </p:cNvSpPr>
            <p:nvPr/>
          </p:nvSpPr>
          <p:spPr bwMode="auto">
            <a:xfrm>
              <a:off x="3049587" y="3354782"/>
              <a:ext cx="387007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VA</a:t>
              </a:r>
            </a:p>
          </p:txBody>
        </p:sp>
        <p:sp>
          <p:nvSpPr>
            <p:cNvPr id="51" name="Oval 4"/>
            <p:cNvSpPr>
              <a:spLocks noChangeArrowheads="1"/>
            </p:cNvSpPr>
            <p:nvPr/>
          </p:nvSpPr>
          <p:spPr bwMode="auto">
            <a:xfrm>
              <a:off x="3107266" y="3119439"/>
              <a:ext cx="274637" cy="2746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chemeClr val="bg1"/>
                  </a:solidFill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030787" y="3352800"/>
            <a:ext cx="1522413" cy="594390"/>
            <a:chOff x="5030787" y="3352800"/>
            <a:chExt cx="1522413" cy="594390"/>
          </a:xfrm>
        </p:grpSpPr>
        <p:sp>
          <p:nvSpPr>
            <p:cNvPr id="9225" name="Text Box 9"/>
            <p:cNvSpPr txBox="1">
              <a:spLocks noChangeArrowheads="1"/>
            </p:cNvSpPr>
            <p:nvPr/>
          </p:nvSpPr>
          <p:spPr bwMode="auto">
            <a:xfrm>
              <a:off x="5606298" y="3352800"/>
              <a:ext cx="374759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PA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 bwMode="auto">
            <a:xfrm flipV="1">
              <a:off x="5030787" y="3605659"/>
              <a:ext cx="1522413" cy="1376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4" name="Oval 20"/>
            <p:cNvSpPr>
              <a:spLocks noChangeArrowheads="1"/>
            </p:cNvSpPr>
            <p:nvPr/>
          </p:nvSpPr>
          <p:spPr bwMode="auto">
            <a:xfrm>
              <a:off x="5656358" y="3672552"/>
              <a:ext cx="274638" cy="2746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chemeClr val="bg1"/>
                  </a:solidFill>
                  <a:latin typeface="Calibri" pitchFamily="34" charset="0"/>
                </a:rPr>
                <a:t>4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58988" y="3893139"/>
            <a:ext cx="4494213" cy="1444567"/>
            <a:chOff x="2058988" y="3893139"/>
            <a:chExt cx="4494213" cy="1444567"/>
          </a:xfrm>
        </p:grpSpPr>
        <p:sp>
          <p:nvSpPr>
            <p:cNvPr id="9248" name="Text Box 32"/>
            <p:cNvSpPr txBox="1">
              <a:spLocks noChangeArrowheads="1"/>
            </p:cNvSpPr>
            <p:nvPr/>
          </p:nvSpPr>
          <p:spPr bwMode="auto">
            <a:xfrm>
              <a:off x="3887787" y="4778043"/>
              <a:ext cx="531020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Data</a:t>
              </a:r>
            </a:p>
          </p:txBody>
        </p:sp>
        <p:cxnSp>
          <p:nvCxnSpPr>
            <p:cNvPr id="50" name="Shape 49"/>
            <p:cNvCxnSpPr>
              <a:endCxn id="37" idx="2"/>
            </p:cNvCxnSpPr>
            <p:nvPr/>
          </p:nvCxnSpPr>
          <p:spPr bwMode="auto">
            <a:xfrm rot="10800000">
              <a:off x="2058988" y="3893139"/>
              <a:ext cx="4494213" cy="884905"/>
            </a:xfrm>
            <a:prstGeom prst="bentConnector2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6" name="Oval 21"/>
            <p:cNvSpPr>
              <a:spLocks noChangeArrowheads="1"/>
            </p:cNvSpPr>
            <p:nvPr/>
          </p:nvSpPr>
          <p:spPr bwMode="auto">
            <a:xfrm>
              <a:off x="4021666" y="5063069"/>
              <a:ext cx="274638" cy="2746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chemeClr val="bg1"/>
                  </a:solidFill>
                  <a:latin typeface="Calibri" pitchFamily="34" charset="0"/>
                </a:rPr>
                <a:t>5</a:t>
              </a:r>
            </a:p>
          </p:txBody>
        </p:sp>
      </p:grp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506411" y="5822950"/>
            <a:ext cx="7189789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 TLB hit eliminates a memory access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TLB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28532" y="2286000"/>
            <a:ext cx="502358" cy="721259"/>
            <a:chOff x="3928532" y="2286000"/>
            <a:chExt cx="502358" cy="721259"/>
          </a:xfrm>
        </p:grpSpPr>
        <p:sp>
          <p:nvSpPr>
            <p:cNvPr id="52" name="Oval 18"/>
            <p:cNvSpPr>
              <a:spLocks noChangeArrowheads="1"/>
            </p:cNvSpPr>
            <p:nvPr/>
          </p:nvSpPr>
          <p:spPr bwMode="auto">
            <a:xfrm>
              <a:off x="4038600" y="2362200"/>
              <a:ext cx="274638" cy="2746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chemeClr val="bg1"/>
                  </a:solidFill>
                  <a:latin typeface="Calibri" pitchFamily="34" charset="0"/>
                </a:rPr>
                <a:t>2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 bwMode="auto">
            <a:xfrm rot="16200000" flipV="1">
              <a:off x="4058177" y="2645836"/>
              <a:ext cx="721259" cy="158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3928532" y="2667000"/>
              <a:ext cx="502358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VPN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646613" y="2286000"/>
            <a:ext cx="455342" cy="721259"/>
            <a:chOff x="4646613" y="2286000"/>
            <a:chExt cx="455342" cy="721259"/>
          </a:xfrm>
        </p:grpSpPr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4648200" y="2311401"/>
              <a:ext cx="453755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PTE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 bwMode="auto">
            <a:xfrm rot="5400000">
              <a:off x="4286777" y="2645836"/>
              <a:ext cx="721259" cy="158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3" name="Oval 19"/>
            <p:cNvSpPr>
              <a:spLocks noChangeArrowheads="1"/>
            </p:cNvSpPr>
            <p:nvPr/>
          </p:nvSpPr>
          <p:spPr bwMode="auto">
            <a:xfrm>
              <a:off x="4737628" y="2633132"/>
              <a:ext cx="274638" cy="2746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chemeClr val="bg1"/>
                  </a:solidFill>
                  <a:latin typeface="Calibri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899429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724358"/>
            <a:ext cx="3749615" cy="2695242"/>
          </a:xfrm>
          <a:prstGeom prst="rect">
            <a:avLst/>
          </a:prstGeom>
          <a:solidFill>
            <a:srgbClr val="EBEBEB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TLB Miss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3007259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2722233"/>
            <a:ext cx="914400" cy="2284410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576700" y="3810000"/>
            <a:ext cx="37475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87787" y="4778043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5030787" y="4062859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335973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3621869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3354782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7526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5537202" y="2361338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58988" y="3893139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07266" y="3119439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4038600" y="2362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5626760" y="4129752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21666" y="506306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TLB</a:t>
            </a:r>
          </a:p>
        </p:txBody>
      </p:sp>
      <p:cxnSp>
        <p:nvCxnSpPr>
          <p:cNvPr id="28" name="Straight Arrow Connector 27"/>
          <p:cNvCxnSpPr/>
          <p:nvPr/>
        </p:nvCxnSpPr>
        <p:spPr bwMode="auto">
          <a:xfrm rot="16200000" flipV="1">
            <a:off x="4058177" y="2645836"/>
            <a:ext cx="721259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5400000">
            <a:off x="4286777" y="2645836"/>
            <a:ext cx="721259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928532" y="2667000"/>
            <a:ext cx="502358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VPN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5626760" y="2121431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  <a:endParaRPr lang="en-GB" sz="14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513388" y="3371716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31" name="Straight Arrow Connector 30"/>
          <p:cNvCxnSpPr/>
          <p:nvPr/>
        </p:nvCxnSpPr>
        <p:spPr bwMode="auto">
          <a:xfrm flipV="1">
            <a:off x="5030787" y="3624575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Oval 18"/>
          <p:cNvSpPr>
            <a:spLocks noChangeArrowheads="1"/>
          </p:cNvSpPr>
          <p:nvPr/>
        </p:nvSpPr>
        <p:spPr bwMode="auto">
          <a:xfrm>
            <a:off x="5626760" y="3124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3</a:t>
            </a:r>
            <a:endParaRPr lang="en-GB" sz="14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34" name="Elbow Connector 33"/>
          <p:cNvCxnSpPr/>
          <p:nvPr/>
        </p:nvCxnSpPr>
        <p:spPr bwMode="auto">
          <a:xfrm rot="10800000">
            <a:off x="4648200" y="2636839"/>
            <a:ext cx="1905000" cy="482601"/>
          </a:xfrm>
          <a:prstGeom prst="bentConnector3">
            <a:avLst>
              <a:gd name="adj1" fmla="val 21556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519113" y="5715000"/>
            <a:ext cx="771048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itchFamily="2" charset="2"/>
              <a:buNone/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 TLB miss incurs an additional memory access (the PTE)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/>
            </a:r>
            <a:b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</a:b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Fortunately, TLB misses are rare. Why?</a:t>
            </a:r>
          </a:p>
        </p:txBody>
      </p:sp>
    </p:spTree>
    <p:extLst>
      <p:ext uri="{BB962C8B-B14F-4D97-AF65-F5344CB8AC3E}">
        <p14:creationId xmlns:p14="http://schemas.microsoft.com/office/powerpoint/2010/main" val="302097440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48" grpId="0"/>
      <p:bldP spid="47" grpId="0"/>
      <p:bldP spid="54" grpId="0" animBg="1"/>
      <p:bldP spid="56" grpId="0" animBg="1"/>
      <p:bldP spid="53" grpId="0" animBg="1"/>
      <p:bldP spid="27" grpId="0"/>
      <p:bldP spid="3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Multi-Level Page Tables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295400"/>
            <a:ext cx="6918325" cy="4972050"/>
          </a:xfrm>
        </p:spPr>
        <p:txBody>
          <a:bodyPr/>
          <a:lstStyle/>
          <a:p>
            <a:r>
              <a:rPr lang="en-GB" dirty="0"/>
              <a:t>Suppose:</a:t>
            </a:r>
          </a:p>
          <a:p>
            <a:pPr lvl="1"/>
            <a:r>
              <a:rPr lang="en-GB" dirty="0"/>
              <a:t>4KB (2</a:t>
            </a:r>
            <a:r>
              <a:rPr lang="en-GB" baseline="30000" dirty="0"/>
              <a:t>12</a:t>
            </a:r>
            <a:r>
              <a:rPr lang="en-GB" dirty="0"/>
              <a:t>) page size, 48-bit address space, 8-byte PTE </a:t>
            </a:r>
          </a:p>
          <a:p>
            <a:endParaRPr lang="en-GB" dirty="0"/>
          </a:p>
          <a:p>
            <a:r>
              <a:rPr lang="en-GB" dirty="0"/>
              <a:t>Problem:</a:t>
            </a:r>
          </a:p>
          <a:p>
            <a:pPr lvl="1"/>
            <a:r>
              <a:rPr lang="en-GB" dirty="0"/>
              <a:t>Would need a 512 GB page table!</a:t>
            </a:r>
          </a:p>
          <a:p>
            <a:pPr lvl="2"/>
            <a:r>
              <a:rPr lang="en-GB" dirty="0"/>
              <a:t>2</a:t>
            </a:r>
            <a:r>
              <a:rPr lang="en-GB" baseline="30000" dirty="0"/>
              <a:t>48</a:t>
            </a:r>
            <a:r>
              <a:rPr lang="en-GB" dirty="0"/>
              <a:t> * 2</a:t>
            </a:r>
            <a:r>
              <a:rPr lang="en-GB" baseline="30000" dirty="0"/>
              <a:t>-12  </a:t>
            </a:r>
            <a:r>
              <a:rPr lang="en-GB" dirty="0"/>
              <a:t>* 2</a:t>
            </a:r>
            <a:r>
              <a:rPr lang="en-GB" baseline="30000" dirty="0"/>
              <a:t>3</a:t>
            </a:r>
            <a:r>
              <a:rPr lang="en-GB" dirty="0"/>
              <a:t> = 2</a:t>
            </a:r>
            <a:r>
              <a:rPr lang="en-GB" baseline="30000" dirty="0"/>
              <a:t>39</a:t>
            </a:r>
            <a:r>
              <a:rPr lang="en-GB" dirty="0"/>
              <a:t> bytes</a:t>
            </a:r>
          </a:p>
          <a:p>
            <a:endParaRPr lang="en-GB" dirty="0"/>
          </a:p>
          <a:p>
            <a:r>
              <a:rPr lang="en-GB" dirty="0"/>
              <a:t>Common solution: Multi-level page table</a:t>
            </a:r>
          </a:p>
          <a:p>
            <a:r>
              <a:rPr lang="en-GB" dirty="0"/>
              <a:t>Example: 2-level page table</a:t>
            </a:r>
          </a:p>
          <a:p>
            <a:pPr lvl="1"/>
            <a:r>
              <a:rPr lang="en-GB" dirty="0"/>
              <a:t>Level 1 table: each PTE points to a page table (always memory resident)</a:t>
            </a:r>
          </a:p>
          <a:p>
            <a:pPr lvl="1"/>
            <a:r>
              <a:rPr lang="en-GB" dirty="0"/>
              <a:t>Level 2 table: each PTE points to a page </a:t>
            </a:r>
            <a:br>
              <a:rPr lang="en-GB" dirty="0"/>
            </a:br>
            <a:r>
              <a:rPr lang="en-GB" dirty="0"/>
              <a:t>(paged in and out like any other data)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243743" y="1333500"/>
            <a:ext cx="2671657" cy="4696895"/>
            <a:chOff x="6243743" y="1333500"/>
            <a:chExt cx="2671657" cy="4696895"/>
          </a:xfrm>
        </p:grpSpPr>
        <p:sp>
          <p:nvSpPr>
            <p:cNvPr id="40963" name="Text Box 3"/>
            <p:cNvSpPr txBox="1">
              <a:spLocks noChangeArrowheads="1"/>
            </p:cNvSpPr>
            <p:nvPr/>
          </p:nvSpPr>
          <p:spPr bwMode="auto">
            <a:xfrm>
              <a:off x="6243743" y="2719927"/>
              <a:ext cx="842857" cy="6667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Level 1</a:t>
              </a:r>
            </a:p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Table</a:t>
              </a:r>
            </a:p>
          </p:txBody>
        </p:sp>
        <p:sp>
          <p:nvSpPr>
            <p:cNvPr id="40964" name="Rectangle 4"/>
            <p:cNvSpPr>
              <a:spLocks noChangeArrowheads="1"/>
            </p:cNvSpPr>
            <p:nvPr/>
          </p:nvSpPr>
          <p:spPr bwMode="auto">
            <a:xfrm>
              <a:off x="6327247" y="3363395"/>
              <a:ext cx="758952" cy="1143000"/>
            </a:xfrm>
            <a:prstGeom prst="rect">
              <a:avLst/>
            </a:prstGeom>
            <a:solidFill>
              <a:srgbClr val="F6F5BD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5" name="Rectangle 5"/>
            <p:cNvSpPr>
              <a:spLocks noChangeArrowheads="1"/>
            </p:cNvSpPr>
            <p:nvPr/>
          </p:nvSpPr>
          <p:spPr bwMode="auto">
            <a:xfrm>
              <a:off x="8170334" y="19917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6" name="Rectangle 6"/>
            <p:cNvSpPr>
              <a:spLocks noChangeArrowheads="1"/>
            </p:cNvSpPr>
            <p:nvPr/>
          </p:nvSpPr>
          <p:spPr bwMode="auto">
            <a:xfrm>
              <a:off x="8170334" y="33633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Rectangle 7"/>
            <p:cNvSpPr>
              <a:spLocks noChangeArrowheads="1"/>
            </p:cNvSpPr>
            <p:nvPr/>
          </p:nvSpPr>
          <p:spPr bwMode="auto">
            <a:xfrm>
              <a:off x="8170334" y="48873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8" name="Text Box 8"/>
            <p:cNvSpPr txBox="1">
              <a:spLocks noChangeArrowheads="1"/>
            </p:cNvSpPr>
            <p:nvPr/>
          </p:nvSpPr>
          <p:spPr bwMode="auto">
            <a:xfrm rot="16200000">
              <a:off x="8261381" y="4527581"/>
              <a:ext cx="365227" cy="33321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...</a:t>
              </a:r>
            </a:p>
          </p:txBody>
        </p:sp>
        <p:sp>
          <p:nvSpPr>
            <p:cNvPr id="40969" name="Text Box 9"/>
            <p:cNvSpPr txBox="1">
              <a:spLocks noChangeArrowheads="1"/>
            </p:cNvSpPr>
            <p:nvPr/>
          </p:nvSpPr>
          <p:spPr bwMode="auto">
            <a:xfrm>
              <a:off x="8072543" y="1333500"/>
              <a:ext cx="842857" cy="6667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Level 2</a:t>
              </a:r>
            </a:p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Tables</a:t>
              </a:r>
            </a:p>
          </p:txBody>
        </p:sp>
        <p:sp>
          <p:nvSpPr>
            <p:cNvPr id="40970" name="Line 10"/>
            <p:cNvSpPr>
              <a:spLocks noChangeShapeType="1"/>
            </p:cNvSpPr>
            <p:nvPr/>
          </p:nvSpPr>
          <p:spPr bwMode="auto">
            <a:xfrm flipV="1">
              <a:off x="6874934" y="1990208"/>
              <a:ext cx="1295400" cy="1450975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Line 11"/>
            <p:cNvSpPr>
              <a:spLocks noChangeShapeType="1"/>
            </p:cNvSpPr>
            <p:nvPr/>
          </p:nvSpPr>
          <p:spPr bwMode="auto">
            <a:xfrm flipV="1">
              <a:off x="6874934" y="3361808"/>
              <a:ext cx="1295400" cy="231775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Line 12"/>
            <p:cNvSpPr>
              <a:spLocks noChangeShapeType="1"/>
            </p:cNvSpPr>
            <p:nvPr/>
          </p:nvSpPr>
          <p:spPr bwMode="auto">
            <a:xfrm>
              <a:off x="7027334" y="4423845"/>
              <a:ext cx="1143000" cy="463550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>
              <a:off x="6333067" y="35157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Line 14"/>
            <p:cNvSpPr>
              <a:spLocks noChangeShapeType="1"/>
            </p:cNvSpPr>
            <p:nvPr/>
          </p:nvSpPr>
          <p:spPr bwMode="auto">
            <a:xfrm>
              <a:off x="6333067" y="36681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>
              <a:off x="6333067" y="43539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Text Box 16"/>
            <p:cNvSpPr txBox="1">
              <a:spLocks noChangeArrowheads="1"/>
            </p:cNvSpPr>
            <p:nvPr/>
          </p:nvSpPr>
          <p:spPr bwMode="auto">
            <a:xfrm>
              <a:off x="6572490" y="3820595"/>
              <a:ext cx="426270" cy="27216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vert="eaVert" wrap="none" lIns="90360" tIns="44280" rIns="90360" bIns="44280">
              <a:spAutoFit/>
            </a:bodyPr>
            <a:lstStyle/>
            <a:p>
              <a:pPr rtl="1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583682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841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 Two-Level Page Table Hierarchy</a:t>
            </a:r>
          </a:p>
        </p:txBody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800886" y="1106488"/>
            <a:ext cx="1205715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Level 1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5858933" y="6426198"/>
            <a:ext cx="507510" cy="3346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>
            <a:spAutoFit/>
          </a:bodyPr>
          <a:lstStyle/>
          <a:p>
            <a:pPr rtl="1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alibri" pitchFamily="34" charset="0"/>
              </a:rPr>
              <a:t>...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121025" y="1112838"/>
            <a:ext cx="1297085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Level 2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tables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5538788" y="17795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0</a:t>
            </a: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5538788" y="20843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5538788" y="23891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1023</a:t>
            </a: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5538788" y="26939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1024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5538788" y="29987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5538788" y="33035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2047</a:t>
            </a: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5538788" y="17795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5538788" y="26939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5538788" y="3608388"/>
            <a:ext cx="990600" cy="1841500"/>
          </a:xfrm>
          <a:prstGeom prst="rect">
            <a:avLst/>
          </a:prstGeom>
          <a:solidFill>
            <a:srgbClr val="F6F5BD"/>
          </a:solidFill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Gap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6473825" y="1641475"/>
            <a:ext cx="266700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</a:p>
        </p:txBody>
      </p: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3252788" y="21732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3252788" y="24780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3252788" y="2782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2" name="Rectangle 18"/>
          <p:cNvSpPr>
            <a:spLocks noChangeArrowheads="1"/>
          </p:cNvSpPr>
          <p:nvPr/>
        </p:nvSpPr>
        <p:spPr bwMode="auto">
          <a:xfrm>
            <a:off x="3252788" y="21732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3252788" y="3544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04" name="Rectangle 20"/>
          <p:cNvSpPr>
            <a:spLocks noChangeArrowheads="1"/>
          </p:cNvSpPr>
          <p:nvPr/>
        </p:nvSpPr>
        <p:spPr bwMode="auto">
          <a:xfrm>
            <a:off x="3252788" y="38496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3252788" y="41544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6" name="Rectangle 22"/>
          <p:cNvSpPr>
            <a:spLocks noChangeArrowheads="1"/>
          </p:cNvSpPr>
          <p:nvPr/>
        </p:nvSpPr>
        <p:spPr bwMode="auto">
          <a:xfrm>
            <a:off x="3252788" y="35448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07" name="Rectangle 23"/>
          <p:cNvSpPr>
            <a:spLocks noChangeArrowheads="1"/>
          </p:cNvSpPr>
          <p:nvPr/>
        </p:nvSpPr>
        <p:spPr bwMode="auto">
          <a:xfrm>
            <a:off x="3252788" y="4840288"/>
            <a:ext cx="990600" cy="609600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1023 null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PTEs</a:t>
            </a:r>
          </a:p>
        </p:txBody>
      </p:sp>
      <p:sp>
        <p:nvSpPr>
          <p:cNvPr id="42008" name="Rectangle 24"/>
          <p:cNvSpPr>
            <a:spLocks noChangeArrowheads="1"/>
          </p:cNvSpPr>
          <p:nvPr/>
        </p:nvSpPr>
        <p:spPr bwMode="auto">
          <a:xfrm>
            <a:off x="3252788" y="5449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9" name="Rectangle 25"/>
          <p:cNvSpPr>
            <a:spLocks noChangeArrowheads="1"/>
          </p:cNvSpPr>
          <p:nvPr/>
        </p:nvSpPr>
        <p:spPr bwMode="auto">
          <a:xfrm>
            <a:off x="3252788" y="48402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10" name="Rectangle 26"/>
          <p:cNvSpPr>
            <a:spLocks noChangeArrowheads="1"/>
          </p:cNvSpPr>
          <p:nvPr/>
        </p:nvSpPr>
        <p:spPr bwMode="auto">
          <a:xfrm>
            <a:off x="5538788" y="5449888"/>
            <a:ext cx="990600" cy="609600"/>
          </a:xfrm>
          <a:prstGeom prst="rect">
            <a:avLst/>
          </a:prstGeom>
          <a:solidFill>
            <a:srgbClr val="DEDFF5"/>
          </a:solidFill>
          <a:ln w="12600">
            <a:solidFill>
              <a:srgbClr val="DEDFF5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1023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unallocated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pages</a:t>
            </a:r>
          </a:p>
        </p:txBody>
      </p:sp>
      <p:sp>
        <p:nvSpPr>
          <p:cNvPr id="42011" name="Rectangle 27"/>
          <p:cNvSpPr>
            <a:spLocks noChangeArrowheads="1"/>
          </p:cNvSpPr>
          <p:nvPr/>
        </p:nvSpPr>
        <p:spPr bwMode="auto">
          <a:xfrm>
            <a:off x="5538788" y="60594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9215</a:t>
            </a:r>
          </a:p>
        </p:txBody>
      </p:sp>
      <p:sp>
        <p:nvSpPr>
          <p:cNvPr id="42012" name="Rectangle 28"/>
          <p:cNvSpPr>
            <a:spLocks noChangeArrowheads="1"/>
          </p:cNvSpPr>
          <p:nvPr/>
        </p:nvSpPr>
        <p:spPr bwMode="auto">
          <a:xfrm>
            <a:off x="5538788" y="54498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5537199" y="1106488"/>
            <a:ext cx="982256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memory</a:t>
            </a:r>
          </a:p>
        </p:txBody>
      </p:sp>
      <p:sp>
        <p:nvSpPr>
          <p:cNvPr id="42014" name="Line 30"/>
          <p:cNvSpPr>
            <a:spLocks noChangeShapeType="1"/>
          </p:cNvSpPr>
          <p:nvPr/>
        </p:nvSpPr>
        <p:spPr bwMode="auto">
          <a:xfrm flipV="1">
            <a:off x="4243388" y="179070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5" name="Line 31"/>
          <p:cNvSpPr>
            <a:spLocks noChangeShapeType="1"/>
          </p:cNvSpPr>
          <p:nvPr/>
        </p:nvSpPr>
        <p:spPr bwMode="auto">
          <a:xfrm flipV="1">
            <a:off x="4243388" y="240030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6" name="Line 32"/>
          <p:cNvSpPr>
            <a:spLocks noChangeShapeType="1"/>
          </p:cNvSpPr>
          <p:nvPr/>
        </p:nvSpPr>
        <p:spPr bwMode="auto">
          <a:xfrm flipV="1">
            <a:off x="4243388" y="270510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7" name="Line 33"/>
          <p:cNvSpPr>
            <a:spLocks noChangeShapeType="1"/>
          </p:cNvSpPr>
          <p:nvPr/>
        </p:nvSpPr>
        <p:spPr bwMode="auto">
          <a:xfrm flipV="1">
            <a:off x="4243388" y="331470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8" name="Line 34"/>
          <p:cNvSpPr>
            <a:spLocks noChangeShapeType="1"/>
          </p:cNvSpPr>
          <p:nvPr/>
        </p:nvSpPr>
        <p:spPr bwMode="auto">
          <a:xfrm>
            <a:off x="4243388" y="5602288"/>
            <a:ext cx="1219200" cy="457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9" name="Line 35"/>
          <p:cNvSpPr>
            <a:spLocks noChangeShapeType="1"/>
          </p:cNvSpPr>
          <p:nvPr/>
        </p:nvSpPr>
        <p:spPr bwMode="auto">
          <a:xfrm flipV="1">
            <a:off x="1957388" y="2171700"/>
            <a:ext cx="1243012" cy="231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0" name="Line 36"/>
          <p:cNvSpPr>
            <a:spLocks noChangeShapeType="1"/>
          </p:cNvSpPr>
          <p:nvPr/>
        </p:nvSpPr>
        <p:spPr bwMode="auto">
          <a:xfrm>
            <a:off x="1957388" y="2706688"/>
            <a:ext cx="1295400" cy="838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1" name="Line 37"/>
          <p:cNvSpPr>
            <a:spLocks noChangeShapeType="1"/>
          </p:cNvSpPr>
          <p:nvPr/>
        </p:nvSpPr>
        <p:spPr bwMode="auto">
          <a:xfrm>
            <a:off x="1957388" y="4840288"/>
            <a:ext cx="1295400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2" name="Rectangle 38"/>
          <p:cNvSpPr>
            <a:spLocks noChangeArrowheads="1"/>
          </p:cNvSpPr>
          <p:nvPr/>
        </p:nvSpPr>
        <p:spPr bwMode="auto">
          <a:xfrm>
            <a:off x="838200" y="4992688"/>
            <a:ext cx="1119188" cy="8382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(1K - 9)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null PTEs </a:t>
            </a:r>
          </a:p>
        </p:txBody>
      </p:sp>
      <p:sp>
        <p:nvSpPr>
          <p:cNvPr id="42023" name="Rectangle 39"/>
          <p:cNvSpPr>
            <a:spLocks noChangeArrowheads="1"/>
          </p:cNvSpPr>
          <p:nvPr/>
        </p:nvSpPr>
        <p:spPr bwMode="auto">
          <a:xfrm>
            <a:off x="838200" y="22494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24" name="Rectangle 40"/>
          <p:cNvSpPr>
            <a:spLocks noChangeArrowheads="1"/>
          </p:cNvSpPr>
          <p:nvPr/>
        </p:nvSpPr>
        <p:spPr bwMode="auto">
          <a:xfrm>
            <a:off x="838200" y="25542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</a:t>
            </a:r>
          </a:p>
        </p:txBody>
      </p:sp>
      <p:sp>
        <p:nvSpPr>
          <p:cNvPr id="42025" name="Rectangle 41"/>
          <p:cNvSpPr>
            <a:spLocks noChangeArrowheads="1"/>
          </p:cNvSpPr>
          <p:nvPr/>
        </p:nvSpPr>
        <p:spPr bwMode="auto">
          <a:xfrm>
            <a:off x="838200" y="28590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2 (null)</a:t>
            </a:r>
          </a:p>
        </p:txBody>
      </p:sp>
      <p:sp>
        <p:nvSpPr>
          <p:cNvPr id="42026" name="Rectangle 42"/>
          <p:cNvSpPr>
            <a:spLocks noChangeArrowheads="1"/>
          </p:cNvSpPr>
          <p:nvPr/>
        </p:nvSpPr>
        <p:spPr bwMode="auto">
          <a:xfrm>
            <a:off x="838200" y="31638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3 (null)</a:t>
            </a:r>
          </a:p>
        </p:txBody>
      </p:sp>
      <p:sp>
        <p:nvSpPr>
          <p:cNvPr id="42027" name="Rectangle 43"/>
          <p:cNvSpPr>
            <a:spLocks noChangeArrowheads="1"/>
          </p:cNvSpPr>
          <p:nvPr/>
        </p:nvSpPr>
        <p:spPr bwMode="auto">
          <a:xfrm>
            <a:off x="838200" y="34686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4 (null)</a:t>
            </a:r>
          </a:p>
        </p:txBody>
      </p:sp>
      <p:sp>
        <p:nvSpPr>
          <p:cNvPr id="42028" name="Rectangle 44"/>
          <p:cNvSpPr>
            <a:spLocks noChangeArrowheads="1"/>
          </p:cNvSpPr>
          <p:nvPr/>
        </p:nvSpPr>
        <p:spPr bwMode="auto">
          <a:xfrm>
            <a:off x="838200" y="37734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5 (null)</a:t>
            </a:r>
          </a:p>
        </p:txBody>
      </p:sp>
      <p:sp>
        <p:nvSpPr>
          <p:cNvPr id="42029" name="Rectangle 45"/>
          <p:cNvSpPr>
            <a:spLocks noChangeArrowheads="1"/>
          </p:cNvSpPr>
          <p:nvPr/>
        </p:nvSpPr>
        <p:spPr bwMode="auto">
          <a:xfrm>
            <a:off x="838200" y="40782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6 (null)</a:t>
            </a:r>
          </a:p>
        </p:txBody>
      </p:sp>
      <p:sp>
        <p:nvSpPr>
          <p:cNvPr id="42030" name="Rectangle 46"/>
          <p:cNvSpPr>
            <a:spLocks noChangeArrowheads="1"/>
          </p:cNvSpPr>
          <p:nvPr/>
        </p:nvSpPr>
        <p:spPr bwMode="auto">
          <a:xfrm>
            <a:off x="838200" y="43830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7 (null)</a:t>
            </a:r>
          </a:p>
        </p:txBody>
      </p:sp>
      <p:sp>
        <p:nvSpPr>
          <p:cNvPr id="42031" name="Rectangle 47"/>
          <p:cNvSpPr>
            <a:spLocks noChangeArrowheads="1"/>
          </p:cNvSpPr>
          <p:nvPr/>
        </p:nvSpPr>
        <p:spPr bwMode="auto">
          <a:xfrm>
            <a:off x="838200" y="46878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8</a:t>
            </a:r>
          </a:p>
        </p:txBody>
      </p:sp>
      <p:sp>
        <p:nvSpPr>
          <p:cNvPr id="42032" name="Rectangle 48"/>
          <p:cNvSpPr>
            <a:spLocks noChangeArrowheads="1"/>
          </p:cNvSpPr>
          <p:nvPr/>
        </p:nvSpPr>
        <p:spPr bwMode="auto">
          <a:xfrm>
            <a:off x="838200" y="2249488"/>
            <a:ext cx="1119188" cy="3581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3" name="AutoShape 49"/>
          <p:cNvSpPr>
            <a:spLocks/>
          </p:cNvSpPr>
          <p:nvPr/>
        </p:nvSpPr>
        <p:spPr bwMode="auto">
          <a:xfrm>
            <a:off x="6665678" y="17922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4" name="Text Box 50"/>
          <p:cNvSpPr txBox="1">
            <a:spLocks noChangeArrowheads="1"/>
          </p:cNvSpPr>
          <p:nvPr/>
        </p:nvSpPr>
        <p:spPr bwMode="auto">
          <a:xfrm>
            <a:off x="6918090" y="2403475"/>
            <a:ext cx="1885942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2K allocated VM pages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for code and data</a:t>
            </a:r>
          </a:p>
        </p:txBody>
      </p:sp>
      <p:sp>
        <p:nvSpPr>
          <p:cNvPr id="42035" name="AutoShape 51"/>
          <p:cNvSpPr>
            <a:spLocks/>
          </p:cNvSpPr>
          <p:nvPr/>
        </p:nvSpPr>
        <p:spPr bwMode="auto">
          <a:xfrm>
            <a:off x="6665678" y="36210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6" name="Text Box 52"/>
          <p:cNvSpPr txBox="1">
            <a:spLocks noChangeArrowheads="1"/>
          </p:cNvSpPr>
          <p:nvPr/>
        </p:nvSpPr>
        <p:spPr bwMode="auto">
          <a:xfrm>
            <a:off x="6916503" y="4306888"/>
            <a:ext cx="207509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6K unallocated VM pages</a:t>
            </a:r>
          </a:p>
        </p:txBody>
      </p:sp>
      <p:sp>
        <p:nvSpPr>
          <p:cNvPr id="42037" name="AutoShape 53"/>
          <p:cNvSpPr>
            <a:spLocks/>
          </p:cNvSpPr>
          <p:nvPr/>
        </p:nvSpPr>
        <p:spPr bwMode="auto">
          <a:xfrm>
            <a:off x="6589478" y="5449888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8" name="Text Box 54"/>
          <p:cNvSpPr txBox="1">
            <a:spLocks noChangeArrowheads="1"/>
          </p:cNvSpPr>
          <p:nvPr/>
        </p:nvSpPr>
        <p:spPr bwMode="auto">
          <a:xfrm>
            <a:off x="6916503" y="5588000"/>
            <a:ext cx="198853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1023 unallocated  pages</a:t>
            </a:r>
          </a:p>
        </p:txBody>
      </p:sp>
      <p:sp>
        <p:nvSpPr>
          <p:cNvPr id="42039" name="AutoShape 55"/>
          <p:cNvSpPr>
            <a:spLocks/>
          </p:cNvSpPr>
          <p:nvPr/>
        </p:nvSpPr>
        <p:spPr bwMode="auto">
          <a:xfrm>
            <a:off x="6589478" y="6059488"/>
            <a:ext cx="304800" cy="3048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40" name="Text Box 56"/>
          <p:cNvSpPr txBox="1">
            <a:spLocks noChangeArrowheads="1"/>
          </p:cNvSpPr>
          <p:nvPr/>
        </p:nvSpPr>
        <p:spPr bwMode="auto">
          <a:xfrm>
            <a:off x="6918090" y="6000750"/>
            <a:ext cx="1717627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1 allocated VM page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for the stack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000" y="6324600"/>
            <a:ext cx="4057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>
                <a:latin typeface="Calibri" pitchFamily="34" charset="0"/>
              </a:rPr>
              <a:t>64 </a:t>
            </a:r>
            <a:r>
              <a:rPr lang="en-US" sz="1800" i="1" dirty="0">
                <a:latin typeface="Calibri" pitchFamily="34" charset="0"/>
              </a:rPr>
              <a:t>bit addresses, </a:t>
            </a:r>
            <a:r>
              <a:rPr lang="en-US" sz="1800" i="1" dirty="0" smtClean="0">
                <a:latin typeface="Calibri" pitchFamily="34" charset="0"/>
              </a:rPr>
              <a:t>8KB </a:t>
            </a:r>
            <a:r>
              <a:rPr lang="en-US" sz="1800" i="1" dirty="0">
                <a:latin typeface="Calibri" pitchFamily="34" charset="0"/>
              </a:rPr>
              <a:t>pages, </a:t>
            </a:r>
            <a:r>
              <a:rPr lang="en-US" sz="1800" i="1" dirty="0" smtClean="0">
                <a:latin typeface="Calibri" pitchFamily="34" charset="0"/>
              </a:rPr>
              <a:t>8-byte </a:t>
            </a:r>
            <a:r>
              <a:rPr lang="en-US" sz="1800" i="1" dirty="0">
                <a:latin typeface="Calibri" pitchFamily="34" charset="0"/>
              </a:rPr>
              <a:t>PTEs</a:t>
            </a:r>
          </a:p>
        </p:txBody>
      </p:sp>
    </p:spTree>
    <p:extLst>
      <p:ext uri="{BB962C8B-B14F-4D97-AF65-F5344CB8AC3E}">
        <p14:creationId xmlns:p14="http://schemas.microsoft.com/office/powerpoint/2010/main" val="188757662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Translating with a k-level Page Table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177800" y="1833361"/>
            <a:ext cx="1524000" cy="719063"/>
          </a:xfrm>
          <a:prstGeom prst="rect">
            <a:avLst/>
          </a:prstGeom>
          <a:solidFill>
            <a:srgbClr val="F1C7C7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+mn-lt"/>
              </a:rPr>
              <a:t>Page table </a:t>
            </a:r>
            <a:br>
              <a:rPr lang="en-US" sz="1600" dirty="0">
                <a:solidFill>
                  <a:srgbClr val="000000"/>
                </a:solidFill>
                <a:latin typeface="+mn-lt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</a:rPr>
              <a:t>base register</a:t>
            </a:r>
          </a:p>
          <a:p>
            <a:pPr lvl="0" algn="ctr"/>
            <a:r>
              <a:rPr lang="en-US" sz="1600" dirty="0">
                <a:solidFill>
                  <a:srgbClr val="000000"/>
                </a:solidFill>
                <a:latin typeface="+mn-lt"/>
              </a:rPr>
              <a:t>(PTBR)</a:t>
            </a:r>
          </a:p>
        </p:txBody>
      </p:sp>
      <p:cxnSp>
        <p:nvCxnSpPr>
          <p:cNvPr id="5" name="Straight Connector 4"/>
          <p:cNvCxnSpPr>
            <a:stCxn id="51" idx="2"/>
          </p:cNvCxnSpPr>
          <p:nvPr/>
        </p:nvCxnSpPr>
        <p:spPr bwMode="auto">
          <a:xfrm>
            <a:off x="939800" y="2552424"/>
            <a:ext cx="0" cy="148617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939800" y="4038600"/>
            <a:ext cx="1193800" cy="95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4" name="Rectangle 379"/>
          <p:cNvSpPr>
            <a:spLocks noChangeArrowheads="1"/>
          </p:cNvSpPr>
          <p:nvPr/>
        </p:nvSpPr>
        <p:spPr bwMode="auto">
          <a:xfrm>
            <a:off x="1630362" y="2981325"/>
            <a:ext cx="123983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+mn-lt"/>
              </a:rPr>
              <a:t>VPN 1</a:t>
            </a:r>
          </a:p>
        </p:txBody>
      </p:sp>
      <p:sp>
        <p:nvSpPr>
          <p:cNvPr id="105" name="Text Box 381"/>
          <p:cNvSpPr txBox="1">
            <a:spLocks noChangeArrowheads="1"/>
          </p:cNvSpPr>
          <p:nvPr/>
        </p:nvSpPr>
        <p:spPr bwMode="auto">
          <a:xfrm>
            <a:off x="7382915" y="2692986"/>
            <a:ext cx="2888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0</a:t>
            </a:r>
          </a:p>
        </p:txBody>
      </p:sp>
      <p:sp>
        <p:nvSpPr>
          <p:cNvPr id="106" name="Text Box 382"/>
          <p:cNvSpPr txBox="1">
            <a:spLocks noChangeArrowheads="1"/>
          </p:cNvSpPr>
          <p:nvPr/>
        </p:nvSpPr>
        <p:spPr bwMode="auto">
          <a:xfrm>
            <a:off x="6547077" y="2692986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p-1</a:t>
            </a:r>
          </a:p>
        </p:txBody>
      </p:sp>
      <p:sp>
        <p:nvSpPr>
          <p:cNvPr id="107" name="Text Box 384"/>
          <p:cNvSpPr txBox="1">
            <a:spLocks noChangeArrowheads="1"/>
          </p:cNvSpPr>
          <p:nvPr/>
        </p:nvSpPr>
        <p:spPr bwMode="auto">
          <a:xfrm>
            <a:off x="1511527" y="2654886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n-1</a:t>
            </a:r>
          </a:p>
        </p:txBody>
      </p:sp>
      <p:sp>
        <p:nvSpPr>
          <p:cNvPr id="108" name="Rectangle 385"/>
          <p:cNvSpPr>
            <a:spLocks noChangeArrowheads="1"/>
          </p:cNvSpPr>
          <p:nvPr/>
        </p:nvSpPr>
        <p:spPr bwMode="auto">
          <a:xfrm>
            <a:off x="6610350" y="2981325"/>
            <a:ext cx="919162" cy="304800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VPO</a:t>
            </a:r>
          </a:p>
        </p:txBody>
      </p:sp>
      <p:sp>
        <p:nvSpPr>
          <p:cNvPr id="109" name="Rectangle 390"/>
          <p:cNvSpPr>
            <a:spLocks noChangeArrowheads="1"/>
          </p:cNvSpPr>
          <p:nvPr/>
        </p:nvSpPr>
        <p:spPr bwMode="auto">
          <a:xfrm>
            <a:off x="2879725" y="2981325"/>
            <a:ext cx="123983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VPN 2</a:t>
            </a:r>
          </a:p>
        </p:txBody>
      </p:sp>
      <p:sp>
        <p:nvSpPr>
          <p:cNvPr id="110" name="Rectangle 391"/>
          <p:cNvSpPr>
            <a:spLocks noChangeArrowheads="1"/>
          </p:cNvSpPr>
          <p:nvPr/>
        </p:nvSpPr>
        <p:spPr bwMode="auto">
          <a:xfrm>
            <a:off x="4124325" y="2981325"/>
            <a:ext cx="123983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11" name="Rectangle 392"/>
          <p:cNvSpPr>
            <a:spLocks noChangeArrowheads="1"/>
          </p:cNvSpPr>
          <p:nvPr/>
        </p:nvSpPr>
        <p:spPr bwMode="auto">
          <a:xfrm>
            <a:off x="5364162" y="2981325"/>
            <a:ext cx="123983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VPN k</a:t>
            </a:r>
          </a:p>
        </p:txBody>
      </p:sp>
      <p:sp>
        <p:nvSpPr>
          <p:cNvPr id="112" name="Line 393"/>
          <p:cNvSpPr>
            <a:spLocks noChangeShapeType="1"/>
          </p:cNvSpPr>
          <p:nvPr/>
        </p:nvSpPr>
        <p:spPr bwMode="auto">
          <a:xfrm>
            <a:off x="1820862" y="3143250"/>
            <a:ext cx="0" cy="13451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3" name="Rectangle 395"/>
          <p:cNvSpPr>
            <a:spLocks noChangeArrowheads="1"/>
          </p:cNvSpPr>
          <p:nvPr/>
        </p:nvSpPr>
        <p:spPr bwMode="auto">
          <a:xfrm>
            <a:off x="21637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4" name="Line 396"/>
          <p:cNvSpPr>
            <a:spLocks noChangeShapeType="1"/>
          </p:cNvSpPr>
          <p:nvPr/>
        </p:nvSpPr>
        <p:spPr bwMode="auto">
          <a:xfrm>
            <a:off x="1820862" y="44884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5" name="Rectangle 397"/>
          <p:cNvSpPr>
            <a:spLocks noChangeArrowheads="1"/>
          </p:cNvSpPr>
          <p:nvPr/>
        </p:nvSpPr>
        <p:spPr bwMode="auto">
          <a:xfrm>
            <a:off x="2163762" y="4424948"/>
            <a:ext cx="520700" cy="1143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6" name="Line 398"/>
          <p:cNvSpPr>
            <a:spLocks noChangeShapeType="1"/>
          </p:cNvSpPr>
          <p:nvPr/>
        </p:nvSpPr>
        <p:spPr bwMode="auto">
          <a:xfrm>
            <a:off x="3027362" y="3143250"/>
            <a:ext cx="0" cy="1103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7" name="Rectangle 399"/>
          <p:cNvSpPr>
            <a:spLocks noChangeArrowheads="1"/>
          </p:cNvSpPr>
          <p:nvPr/>
        </p:nvSpPr>
        <p:spPr bwMode="auto">
          <a:xfrm>
            <a:off x="33702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8" name="Line 400"/>
          <p:cNvSpPr>
            <a:spLocks noChangeShapeType="1"/>
          </p:cNvSpPr>
          <p:nvPr/>
        </p:nvSpPr>
        <p:spPr bwMode="auto">
          <a:xfrm>
            <a:off x="3027362" y="42471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9" name="Rectangle 401"/>
          <p:cNvSpPr>
            <a:spLocks noChangeArrowheads="1"/>
          </p:cNvSpPr>
          <p:nvPr/>
        </p:nvSpPr>
        <p:spPr bwMode="auto">
          <a:xfrm>
            <a:off x="3370262" y="4196348"/>
            <a:ext cx="520700" cy="1143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0" name="Line 402"/>
          <p:cNvSpPr>
            <a:spLocks noChangeShapeType="1"/>
          </p:cNvSpPr>
          <p:nvPr/>
        </p:nvSpPr>
        <p:spPr bwMode="auto">
          <a:xfrm>
            <a:off x="5541962" y="3143250"/>
            <a:ext cx="0" cy="1484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1" name="Rectangle 403"/>
          <p:cNvSpPr>
            <a:spLocks noChangeArrowheads="1"/>
          </p:cNvSpPr>
          <p:nvPr/>
        </p:nvSpPr>
        <p:spPr bwMode="auto">
          <a:xfrm>
            <a:off x="58848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2" name="Line 404"/>
          <p:cNvSpPr>
            <a:spLocks noChangeShapeType="1"/>
          </p:cNvSpPr>
          <p:nvPr/>
        </p:nvSpPr>
        <p:spPr bwMode="auto">
          <a:xfrm>
            <a:off x="5541962" y="46281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3" name="Rectangle 405"/>
          <p:cNvSpPr>
            <a:spLocks noChangeArrowheads="1"/>
          </p:cNvSpPr>
          <p:nvPr/>
        </p:nvSpPr>
        <p:spPr bwMode="auto">
          <a:xfrm>
            <a:off x="5884862" y="4539248"/>
            <a:ext cx="520700" cy="152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600" dirty="0">
                <a:latin typeface="+mn-lt"/>
              </a:rPr>
              <a:t>PPN</a:t>
            </a:r>
          </a:p>
        </p:txBody>
      </p:sp>
      <p:sp>
        <p:nvSpPr>
          <p:cNvPr id="124" name="Text Box 407"/>
          <p:cNvSpPr txBox="1">
            <a:spLocks noChangeArrowheads="1"/>
          </p:cNvSpPr>
          <p:nvPr/>
        </p:nvSpPr>
        <p:spPr bwMode="auto">
          <a:xfrm>
            <a:off x="7382915" y="5101809"/>
            <a:ext cx="2888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0</a:t>
            </a:r>
          </a:p>
        </p:txBody>
      </p:sp>
      <p:sp>
        <p:nvSpPr>
          <p:cNvPr id="125" name="Text Box 408"/>
          <p:cNvSpPr txBox="1">
            <a:spLocks noChangeArrowheads="1"/>
          </p:cNvSpPr>
          <p:nvPr/>
        </p:nvSpPr>
        <p:spPr bwMode="auto">
          <a:xfrm>
            <a:off x="6547077" y="5101809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p-1</a:t>
            </a:r>
          </a:p>
        </p:txBody>
      </p:sp>
      <p:sp>
        <p:nvSpPr>
          <p:cNvPr id="126" name="Text Box 409"/>
          <p:cNvSpPr txBox="1">
            <a:spLocks noChangeArrowheads="1"/>
          </p:cNvSpPr>
          <p:nvPr/>
        </p:nvSpPr>
        <p:spPr bwMode="auto">
          <a:xfrm>
            <a:off x="2734004" y="5098634"/>
            <a:ext cx="5180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m-1</a:t>
            </a:r>
          </a:p>
        </p:txBody>
      </p:sp>
      <p:sp>
        <p:nvSpPr>
          <p:cNvPr id="127" name="Rectangle 410"/>
          <p:cNvSpPr>
            <a:spLocks noChangeArrowheads="1"/>
          </p:cNvSpPr>
          <p:nvPr/>
        </p:nvSpPr>
        <p:spPr bwMode="auto">
          <a:xfrm>
            <a:off x="6610350" y="5390148"/>
            <a:ext cx="919162" cy="304800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PPO</a:t>
            </a:r>
          </a:p>
        </p:txBody>
      </p:sp>
      <p:sp>
        <p:nvSpPr>
          <p:cNvPr id="128" name="Rectangle 411"/>
          <p:cNvSpPr>
            <a:spLocks noChangeArrowheads="1"/>
          </p:cNvSpPr>
          <p:nvPr/>
        </p:nvSpPr>
        <p:spPr bwMode="auto">
          <a:xfrm>
            <a:off x="2879725" y="5390148"/>
            <a:ext cx="372427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PPN</a:t>
            </a:r>
          </a:p>
        </p:txBody>
      </p:sp>
      <p:sp>
        <p:nvSpPr>
          <p:cNvPr id="129" name="Line 414"/>
          <p:cNvSpPr>
            <a:spLocks noChangeShapeType="1"/>
          </p:cNvSpPr>
          <p:nvPr/>
        </p:nvSpPr>
        <p:spPr bwMode="auto">
          <a:xfrm>
            <a:off x="2570162" y="4488448"/>
            <a:ext cx="309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0" name="Line 415"/>
          <p:cNvSpPr>
            <a:spLocks noChangeShapeType="1"/>
          </p:cNvSpPr>
          <p:nvPr/>
        </p:nvSpPr>
        <p:spPr bwMode="auto">
          <a:xfrm flipH="1" flipV="1">
            <a:off x="2874962" y="403442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1" name="Line 416"/>
          <p:cNvSpPr>
            <a:spLocks noChangeShapeType="1"/>
          </p:cNvSpPr>
          <p:nvPr/>
        </p:nvSpPr>
        <p:spPr bwMode="auto">
          <a:xfrm>
            <a:off x="2879725" y="4031248"/>
            <a:ext cx="490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2" name="Line 417"/>
          <p:cNvSpPr>
            <a:spLocks noChangeShapeType="1"/>
          </p:cNvSpPr>
          <p:nvPr/>
        </p:nvSpPr>
        <p:spPr bwMode="auto">
          <a:xfrm>
            <a:off x="3789362" y="4247148"/>
            <a:ext cx="309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3" name="Line 418"/>
          <p:cNvSpPr>
            <a:spLocks noChangeShapeType="1"/>
          </p:cNvSpPr>
          <p:nvPr/>
        </p:nvSpPr>
        <p:spPr bwMode="auto">
          <a:xfrm flipV="1">
            <a:off x="4090987" y="4031248"/>
            <a:ext cx="4763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4" name="Line 419"/>
          <p:cNvSpPr>
            <a:spLocks noChangeShapeType="1"/>
          </p:cNvSpPr>
          <p:nvPr/>
        </p:nvSpPr>
        <p:spPr bwMode="auto">
          <a:xfrm>
            <a:off x="4098925" y="4031248"/>
            <a:ext cx="490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5" name="Text Box 420"/>
          <p:cNvSpPr txBox="1">
            <a:spLocks noChangeArrowheads="1"/>
          </p:cNvSpPr>
          <p:nvPr/>
        </p:nvSpPr>
        <p:spPr bwMode="auto">
          <a:xfrm>
            <a:off x="3695700" y="2548523"/>
            <a:ext cx="17748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VIRTUAL ADDRESS</a:t>
            </a:r>
          </a:p>
        </p:txBody>
      </p:sp>
      <p:sp>
        <p:nvSpPr>
          <p:cNvPr id="136" name="Text Box 421"/>
          <p:cNvSpPr txBox="1">
            <a:spLocks noChangeArrowheads="1"/>
          </p:cNvSpPr>
          <p:nvPr/>
        </p:nvSpPr>
        <p:spPr bwMode="auto">
          <a:xfrm>
            <a:off x="4200525" y="5757446"/>
            <a:ext cx="190308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PHYSICAL ADDRESS</a:t>
            </a:r>
          </a:p>
        </p:txBody>
      </p:sp>
      <p:sp>
        <p:nvSpPr>
          <p:cNvPr id="137" name="Line 422"/>
          <p:cNvSpPr>
            <a:spLocks noChangeShapeType="1"/>
          </p:cNvSpPr>
          <p:nvPr/>
        </p:nvSpPr>
        <p:spPr bwMode="auto">
          <a:xfrm flipH="1">
            <a:off x="7062787" y="3419475"/>
            <a:ext cx="0" cy="19706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8" name="Line 423"/>
          <p:cNvSpPr>
            <a:spLocks noChangeShapeType="1"/>
          </p:cNvSpPr>
          <p:nvPr/>
        </p:nvSpPr>
        <p:spPr bwMode="auto">
          <a:xfrm>
            <a:off x="6557962" y="4609098"/>
            <a:ext cx="220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9" name="Line 424"/>
          <p:cNvSpPr>
            <a:spLocks noChangeShapeType="1"/>
          </p:cNvSpPr>
          <p:nvPr/>
        </p:nvSpPr>
        <p:spPr bwMode="auto">
          <a:xfrm>
            <a:off x="6773862" y="4613861"/>
            <a:ext cx="0" cy="534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0" name="Line 425"/>
          <p:cNvSpPr>
            <a:spLocks noChangeShapeType="1"/>
          </p:cNvSpPr>
          <p:nvPr/>
        </p:nvSpPr>
        <p:spPr bwMode="auto">
          <a:xfrm flipH="1">
            <a:off x="4779962" y="5145673"/>
            <a:ext cx="1993900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1" name="Line 426"/>
          <p:cNvSpPr>
            <a:spLocks noChangeShapeType="1"/>
          </p:cNvSpPr>
          <p:nvPr/>
        </p:nvSpPr>
        <p:spPr bwMode="auto">
          <a:xfrm>
            <a:off x="4779962" y="5148848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2" name="Line 427"/>
          <p:cNvSpPr>
            <a:spLocks noChangeShapeType="1"/>
          </p:cNvSpPr>
          <p:nvPr/>
        </p:nvSpPr>
        <p:spPr bwMode="auto">
          <a:xfrm>
            <a:off x="5186362" y="4031248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3" name="Text Box 428"/>
          <p:cNvSpPr txBox="1">
            <a:spLocks noChangeArrowheads="1"/>
          </p:cNvSpPr>
          <p:nvPr/>
        </p:nvSpPr>
        <p:spPr bwMode="auto">
          <a:xfrm>
            <a:off x="4514391" y="3801646"/>
            <a:ext cx="3481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44" name="Text Box 429"/>
          <p:cNvSpPr txBox="1">
            <a:spLocks noChangeArrowheads="1"/>
          </p:cNvSpPr>
          <p:nvPr/>
        </p:nvSpPr>
        <p:spPr bwMode="auto">
          <a:xfrm>
            <a:off x="4882691" y="3801646"/>
            <a:ext cx="3481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45" name="Text Box 430"/>
          <p:cNvSpPr txBox="1">
            <a:spLocks noChangeArrowheads="1"/>
          </p:cNvSpPr>
          <p:nvPr/>
        </p:nvSpPr>
        <p:spPr bwMode="auto">
          <a:xfrm>
            <a:off x="1914800" y="3371562"/>
            <a:ext cx="11020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the Level 1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6" name="Text Box 431"/>
          <p:cNvSpPr txBox="1">
            <a:spLocks noChangeArrowheads="1"/>
          </p:cNvSpPr>
          <p:nvPr/>
        </p:nvSpPr>
        <p:spPr bwMode="auto">
          <a:xfrm>
            <a:off x="3148236" y="3362037"/>
            <a:ext cx="10736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 Level 2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7" name="Text Box 432"/>
          <p:cNvSpPr txBox="1">
            <a:spLocks noChangeArrowheads="1"/>
          </p:cNvSpPr>
          <p:nvPr/>
        </p:nvSpPr>
        <p:spPr bwMode="auto">
          <a:xfrm>
            <a:off x="5653311" y="3352512"/>
            <a:ext cx="10736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 Level k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8" name="AutoShape 433"/>
          <p:cNvSpPr>
            <a:spLocks/>
          </p:cNvSpPr>
          <p:nvPr/>
        </p:nvSpPr>
        <p:spPr bwMode="auto">
          <a:xfrm rot="5400000">
            <a:off x="7014369" y="2905919"/>
            <a:ext cx="112712" cy="914400"/>
          </a:xfrm>
          <a:prstGeom prst="rightBrace">
            <a:avLst>
              <a:gd name="adj1" fmla="val 6760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9" name="AutoShape 434"/>
          <p:cNvSpPr>
            <a:spLocks/>
          </p:cNvSpPr>
          <p:nvPr/>
        </p:nvSpPr>
        <p:spPr bwMode="auto">
          <a:xfrm>
            <a:off x="6446837" y="4539248"/>
            <a:ext cx="74613" cy="142875"/>
          </a:xfrm>
          <a:prstGeom prst="rightBrace">
            <a:avLst>
              <a:gd name="adj1" fmla="val 1595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185810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Grp="1" noChangeArrowheads="1"/>
          </p:cNvSpPr>
          <p:nvPr>
            <p:ph type="title"/>
          </p:nvPr>
        </p:nvSpPr>
        <p:spPr>
          <a:xfrm>
            <a:off x="447676" y="493713"/>
            <a:ext cx="5292725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Summary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7387" cy="4800600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Programmer’s view of virtual </a:t>
            </a:r>
            <a:r>
              <a:rPr lang="en-GB" dirty="0"/>
              <a:t>m</a:t>
            </a:r>
            <a:r>
              <a:rPr lang="en-GB" dirty="0">
                <a:effectLst/>
              </a:rPr>
              <a:t>emory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process has its own private linear address space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Cannot be corrupted by other processes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>
              <a:effectLst/>
            </a:endParaRP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System </a:t>
            </a:r>
            <a:r>
              <a:rPr lang="en-GB" dirty="0"/>
              <a:t>v</a:t>
            </a:r>
            <a:r>
              <a:rPr lang="en-GB" dirty="0">
                <a:effectLst/>
              </a:rPr>
              <a:t>iew of virtual </a:t>
            </a:r>
            <a:r>
              <a:rPr lang="en-GB" dirty="0"/>
              <a:t>m</a:t>
            </a:r>
            <a:r>
              <a:rPr lang="en-GB" dirty="0">
                <a:effectLst/>
              </a:rPr>
              <a:t>emory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Uses memory efficiently by caching virtual memory pages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Efficient only because of locality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Simplifies memory management and programming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Simplifies protection by providing a convenient </a:t>
            </a:r>
            <a:r>
              <a:rPr lang="en-GB" dirty="0" err="1"/>
              <a:t>interpositioning</a:t>
            </a:r>
            <a:r>
              <a:rPr lang="en-GB" dirty="0"/>
              <a:t> point to check permissions</a:t>
            </a:r>
          </a:p>
        </p:txBody>
      </p:sp>
    </p:spTree>
    <p:extLst>
      <p:ext uri="{BB962C8B-B14F-4D97-AF65-F5344CB8AC3E}">
        <p14:creationId xmlns:p14="http://schemas.microsoft.com/office/powerpoint/2010/main" val="330629947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Homework </a:t>
            </a:r>
            <a:r>
              <a:rPr lang="mr-IN" dirty="0" smtClean="0"/>
              <a:t>–</a:t>
            </a:r>
            <a:r>
              <a:rPr lang="en-US" dirty="0" smtClean="0"/>
              <a:t> Week </a:t>
            </a:r>
            <a:r>
              <a:rPr lang="en-US" dirty="0" smtClean="0"/>
              <a:t>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623659"/>
            <a:ext cx="7896225" cy="4710465"/>
          </a:xfrm>
        </p:spPr>
        <p:txBody>
          <a:bodyPr/>
          <a:lstStyle/>
          <a:p>
            <a:r>
              <a:rPr lang="en-US" dirty="0" smtClean="0"/>
              <a:t>Read: CS:</a:t>
            </a:r>
            <a:r>
              <a:rPr lang="en-US" dirty="0" smtClean="0"/>
              <a:t>APP</a:t>
            </a:r>
          </a:p>
          <a:p>
            <a:pPr lvl="1"/>
            <a:r>
              <a:rPr lang="en-US" dirty="0" smtClean="0"/>
              <a:t>Chapters 9.1-9.8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Review </a:t>
            </a:r>
            <a:r>
              <a:rPr lang="en-US" dirty="0" smtClean="0"/>
              <a:t>I/O </a:t>
            </a:r>
            <a:r>
              <a:rPr lang="en-US" dirty="0" smtClean="0"/>
              <a:t>sample </a:t>
            </a:r>
            <a:r>
              <a:rPr lang="en-US" dirty="0" smtClean="0"/>
              <a:t>code:</a:t>
            </a:r>
          </a:p>
          <a:p>
            <a:pPr lvl="1"/>
            <a:r>
              <a:rPr lang="en-US" dirty="0" err="1" smtClean="0"/>
              <a:t>cp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dirty="0" smtClean="0"/>
              <a:t>r /home/</a:t>
            </a:r>
            <a:r>
              <a:rPr lang="en-US" dirty="0" err="1" smtClean="0"/>
              <a:t>wmartens</a:t>
            </a:r>
            <a:r>
              <a:rPr lang="en-US" dirty="0" smtClean="0"/>
              <a:t>/public/</a:t>
            </a:r>
            <a:r>
              <a:rPr lang="en-US" dirty="0" smtClean="0"/>
              <a:t>lecture5 .</a:t>
            </a:r>
          </a:p>
          <a:p>
            <a:endParaRPr lang="en-US" dirty="0" smtClean="0"/>
          </a:p>
          <a:p>
            <a:r>
              <a:rPr lang="en-US" dirty="0" smtClean="0"/>
              <a:t>Review Slides from Lecture </a:t>
            </a:r>
            <a:r>
              <a:rPr lang="en-US" dirty="0" smtClean="0"/>
              <a:t>5</a:t>
            </a:r>
          </a:p>
          <a:p>
            <a:endParaRPr lang="en-US" dirty="0"/>
          </a:p>
          <a:p>
            <a:r>
              <a:rPr lang="en-US" dirty="0" smtClean="0"/>
              <a:t>Midterm Exam - Next week</a:t>
            </a:r>
          </a:p>
          <a:p>
            <a:pPr lvl="1"/>
            <a:r>
              <a:rPr lang="en-US" dirty="0" smtClean="0"/>
              <a:t>Section 801: In class </a:t>
            </a:r>
            <a:r>
              <a:rPr lang="mr-IN" dirty="0" smtClean="0"/>
              <a:t>–</a:t>
            </a:r>
            <a:r>
              <a:rPr lang="en-US" dirty="0" smtClean="0"/>
              <a:t> February 6</a:t>
            </a:r>
            <a:r>
              <a:rPr lang="en-US" baseline="30000" dirty="0" smtClean="0"/>
              <a:t>th</a:t>
            </a:r>
          </a:p>
          <a:p>
            <a:pPr lvl="1"/>
            <a:r>
              <a:rPr lang="en-US" dirty="0" smtClean="0"/>
              <a:t>Section 810: Register for proctored exam Feb 6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dirty="0" smtClean="0"/>
              <a:t> Feb 12</a:t>
            </a:r>
            <a:r>
              <a:rPr lang="en-US" baseline="30000" dirty="0" smtClean="0"/>
              <a:t>th</a:t>
            </a:r>
            <a:r>
              <a:rPr lang="en-US" dirty="0" smtClean="0"/>
              <a:t>	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2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66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66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22620</TotalTime>
  <Words>9046</Words>
  <Application>Microsoft Macintosh PowerPoint</Application>
  <PresentationFormat>On-screen Show (4:3)</PresentationFormat>
  <Paragraphs>2132</Paragraphs>
  <Slides>102</Slides>
  <Notes>91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102</vt:i4>
      </vt:variant>
    </vt:vector>
  </HeadingPairs>
  <TitlesOfParts>
    <vt:vector size="104" baseType="lpstr">
      <vt:lpstr>template2007</vt:lpstr>
      <vt:lpstr>Default Design</vt:lpstr>
      <vt:lpstr>System I/O Virtual Memory Part I  CSC 374: Computer Systems II 5th Lecture, January 30, 2018</vt:lpstr>
      <vt:lpstr>Today</vt:lpstr>
      <vt:lpstr>Today: Unix I/O and C Standard I/O</vt:lpstr>
      <vt:lpstr>Unix I/O Overview</vt:lpstr>
      <vt:lpstr>Unix I/O Overview</vt:lpstr>
      <vt:lpstr>File Types </vt:lpstr>
      <vt:lpstr>Regular Files</vt:lpstr>
      <vt:lpstr>Directories </vt:lpstr>
      <vt:lpstr>Directory Hierarchy </vt:lpstr>
      <vt:lpstr>Pathnames </vt:lpstr>
      <vt:lpstr>Opening Files</vt:lpstr>
      <vt:lpstr>Closing Files</vt:lpstr>
      <vt:lpstr>Reading Files</vt:lpstr>
      <vt:lpstr>Writing Files</vt:lpstr>
      <vt:lpstr>Simple Unix I/O example</vt:lpstr>
      <vt:lpstr>On Short Counts</vt:lpstr>
      <vt:lpstr>Today</vt:lpstr>
      <vt:lpstr>File Metadata</vt:lpstr>
      <vt:lpstr>How the Unix Kernel Represents Open Files</vt:lpstr>
      <vt:lpstr>File Sharing</vt:lpstr>
      <vt:lpstr>How Processes Share Files: fork</vt:lpstr>
      <vt:lpstr>How Processes Share Files: fork</vt:lpstr>
      <vt:lpstr>I/O Redirection</vt:lpstr>
      <vt:lpstr>I/O Redirection Example</vt:lpstr>
      <vt:lpstr>I/O Redirection Example (cont.)</vt:lpstr>
      <vt:lpstr>Warm-Up: I/O and Redirection Example </vt:lpstr>
      <vt:lpstr>Warm-Up: I/O and Redirection Example </vt:lpstr>
      <vt:lpstr>Master Class: Process Control and I/O</vt:lpstr>
      <vt:lpstr>Master Class: Process Control and I/O</vt:lpstr>
      <vt:lpstr>Today</vt:lpstr>
      <vt:lpstr>Standard I/O Functions</vt:lpstr>
      <vt:lpstr>Standard I/O Streams</vt:lpstr>
      <vt:lpstr>Buffered I/O: Motivation</vt:lpstr>
      <vt:lpstr>Buffering in Standard I/O</vt:lpstr>
      <vt:lpstr>Standard I/O Buffering in Action</vt:lpstr>
      <vt:lpstr>Today</vt:lpstr>
      <vt:lpstr>Today: Unix I/O, C Standard I/O, and RIO</vt:lpstr>
      <vt:lpstr>Unix I/O Recap</vt:lpstr>
      <vt:lpstr>The RIO Package (CS:APP Package)</vt:lpstr>
      <vt:lpstr>Unbuffered RIO Input and Output</vt:lpstr>
      <vt:lpstr>Implementation of rio_readn</vt:lpstr>
      <vt:lpstr>Buffered RIO Input Functions</vt:lpstr>
      <vt:lpstr>Buffered RIO Input Functions (cont)</vt:lpstr>
      <vt:lpstr>Buffered I/O: Implementation</vt:lpstr>
      <vt:lpstr>Buffered I/O: Declaration</vt:lpstr>
      <vt:lpstr>RIO Example</vt:lpstr>
      <vt:lpstr>Today</vt:lpstr>
      <vt:lpstr>Unix I/O vs. Standard I/O vs. RIO</vt:lpstr>
      <vt:lpstr>Pros and Cons of Unix I/O</vt:lpstr>
      <vt:lpstr>Pros and Cons of Standard I/O</vt:lpstr>
      <vt:lpstr>Choosing I/O Functions</vt:lpstr>
      <vt:lpstr>Aside: Working with Binary Files</vt:lpstr>
      <vt:lpstr>Extra Slides</vt:lpstr>
      <vt:lpstr>Fun with File Descriptors (1)</vt:lpstr>
      <vt:lpstr>Fun with File Descriptors (2)</vt:lpstr>
      <vt:lpstr>Fun with File Descriptors (3)</vt:lpstr>
      <vt:lpstr>Accessing Directories</vt:lpstr>
      <vt:lpstr>Example of Accessing File Metadata</vt:lpstr>
      <vt:lpstr>For Further Information</vt:lpstr>
      <vt:lpstr>15 Minute Break</vt:lpstr>
      <vt:lpstr>Today</vt:lpstr>
      <vt:lpstr>Hmmm, How Does This Work?!  </vt:lpstr>
      <vt:lpstr>Today</vt:lpstr>
      <vt:lpstr>A System Using Physical Addressing</vt:lpstr>
      <vt:lpstr>A System Using Virtual Addressing</vt:lpstr>
      <vt:lpstr>Address Spaces</vt:lpstr>
      <vt:lpstr>Why Virtual Memory (VM)?</vt:lpstr>
      <vt:lpstr>Today</vt:lpstr>
      <vt:lpstr>VM as a Tool for Caching</vt:lpstr>
      <vt:lpstr>DRAM Cache Organization</vt:lpstr>
      <vt:lpstr>Enabling Data Structure: Page Table</vt:lpstr>
      <vt:lpstr>Page Hit</vt:lpstr>
      <vt:lpstr>Page Fault</vt:lpstr>
      <vt:lpstr>Handling Page Fault</vt:lpstr>
      <vt:lpstr>Handling Page Fault</vt:lpstr>
      <vt:lpstr>Handling Page Fault</vt:lpstr>
      <vt:lpstr>Handling Page Fault</vt:lpstr>
      <vt:lpstr>Allocating Pages</vt:lpstr>
      <vt:lpstr>Locality to the Rescue Again!</vt:lpstr>
      <vt:lpstr>Today</vt:lpstr>
      <vt:lpstr>VM as a Tool for Memory Management</vt:lpstr>
      <vt:lpstr>VM as a Tool for Memory Management</vt:lpstr>
      <vt:lpstr>Simplifying Linking and Loading</vt:lpstr>
      <vt:lpstr>Today</vt:lpstr>
      <vt:lpstr>VM as a Tool for Memory Protection</vt:lpstr>
      <vt:lpstr>Today  </vt:lpstr>
      <vt:lpstr>VM Address Translation</vt:lpstr>
      <vt:lpstr>Summary of Address Translation Symbols</vt:lpstr>
      <vt:lpstr>Address Translation With a Page Table</vt:lpstr>
      <vt:lpstr>Address Translation: Page Hit</vt:lpstr>
      <vt:lpstr>Address Translation: Page Fault</vt:lpstr>
      <vt:lpstr>Integrating VM and Cache</vt:lpstr>
      <vt:lpstr>Speeding up Translation with a TLB</vt:lpstr>
      <vt:lpstr>Summary of Address Translation Symbols</vt:lpstr>
      <vt:lpstr>Accessing the TLB</vt:lpstr>
      <vt:lpstr>TLB Hit</vt:lpstr>
      <vt:lpstr>TLB Miss</vt:lpstr>
      <vt:lpstr>Multi-Level Page Tables</vt:lpstr>
      <vt:lpstr>A Two-Level Page Table Hierarchy</vt:lpstr>
      <vt:lpstr>Translating with a k-level Page Table</vt:lpstr>
      <vt:lpstr>Summary</vt:lpstr>
      <vt:lpstr> Homework – Week 5  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Walter Martens</cp:lastModifiedBy>
  <cp:revision>652</cp:revision>
  <cp:lastPrinted>1999-09-20T15:19:18Z</cp:lastPrinted>
  <dcterms:created xsi:type="dcterms:W3CDTF">2011-09-29T14:59:56Z</dcterms:created>
  <dcterms:modified xsi:type="dcterms:W3CDTF">2018-01-30T22:49:33Z</dcterms:modified>
</cp:coreProperties>
</file>