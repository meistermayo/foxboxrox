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2" r:id="rId2"/>
  </p:sldMasterIdLst>
  <p:notesMasterIdLst>
    <p:notesMasterId r:id="rId133"/>
  </p:notesMasterIdLst>
  <p:handoutMasterIdLst>
    <p:handoutMasterId r:id="rId134"/>
  </p:handoutMasterIdLst>
  <p:sldIdLst>
    <p:sldId id="542" r:id="rId3"/>
    <p:sldId id="1792" r:id="rId4"/>
    <p:sldId id="1793" r:id="rId5"/>
    <p:sldId id="1794" r:id="rId6"/>
    <p:sldId id="1814" r:id="rId7"/>
    <p:sldId id="1815" r:id="rId8"/>
    <p:sldId id="1816" r:id="rId9"/>
    <p:sldId id="1817" r:id="rId10"/>
    <p:sldId id="1818" r:id="rId11"/>
    <p:sldId id="1819" r:id="rId12"/>
    <p:sldId id="1820" r:id="rId13"/>
    <p:sldId id="1821" r:id="rId14"/>
    <p:sldId id="1822" r:id="rId15"/>
    <p:sldId id="1810" r:id="rId16"/>
    <p:sldId id="1811" r:id="rId17"/>
    <p:sldId id="1812" r:id="rId18"/>
    <p:sldId id="1805" r:id="rId19"/>
    <p:sldId id="1808" r:id="rId20"/>
    <p:sldId id="1809" r:id="rId21"/>
    <p:sldId id="1764" r:id="rId22"/>
    <p:sldId id="1765" r:id="rId23"/>
    <p:sldId id="1766" r:id="rId24"/>
    <p:sldId id="1767" r:id="rId25"/>
    <p:sldId id="1768" r:id="rId26"/>
    <p:sldId id="1769" r:id="rId27"/>
    <p:sldId id="1771" r:id="rId28"/>
    <p:sldId id="1772" r:id="rId29"/>
    <p:sldId id="1773" r:id="rId30"/>
    <p:sldId id="1774" r:id="rId31"/>
    <p:sldId id="1775" r:id="rId32"/>
    <p:sldId id="1813" r:id="rId33"/>
    <p:sldId id="1823" r:id="rId34"/>
    <p:sldId id="1824" r:id="rId35"/>
    <p:sldId id="1825" r:id="rId36"/>
    <p:sldId id="1826" r:id="rId37"/>
    <p:sldId id="1827" r:id="rId38"/>
    <p:sldId id="1828" r:id="rId39"/>
    <p:sldId id="1829" r:id="rId40"/>
    <p:sldId id="1830" r:id="rId41"/>
    <p:sldId id="1831" r:id="rId42"/>
    <p:sldId id="1832" r:id="rId43"/>
    <p:sldId id="1833" r:id="rId44"/>
    <p:sldId id="1834" r:id="rId45"/>
    <p:sldId id="1835" r:id="rId46"/>
    <p:sldId id="1836" r:id="rId47"/>
    <p:sldId id="1837" r:id="rId48"/>
    <p:sldId id="1838" r:id="rId49"/>
    <p:sldId id="1864" r:id="rId50"/>
    <p:sldId id="1840" r:id="rId51"/>
    <p:sldId id="1841" r:id="rId52"/>
    <p:sldId id="1842" r:id="rId53"/>
    <p:sldId id="1843" r:id="rId54"/>
    <p:sldId id="1844" r:id="rId55"/>
    <p:sldId id="1845" r:id="rId56"/>
    <p:sldId id="1846" r:id="rId57"/>
    <p:sldId id="1847" r:id="rId58"/>
    <p:sldId id="1848" r:id="rId59"/>
    <p:sldId id="1849" r:id="rId60"/>
    <p:sldId id="1850" r:id="rId61"/>
    <p:sldId id="1851" r:id="rId62"/>
    <p:sldId id="1852" r:id="rId63"/>
    <p:sldId id="1853" r:id="rId64"/>
    <p:sldId id="1854" r:id="rId65"/>
    <p:sldId id="1856" r:id="rId66"/>
    <p:sldId id="1857" r:id="rId67"/>
    <p:sldId id="1858" r:id="rId68"/>
    <p:sldId id="1859" r:id="rId69"/>
    <p:sldId id="1860" r:id="rId70"/>
    <p:sldId id="1861" r:id="rId71"/>
    <p:sldId id="1862" r:id="rId72"/>
    <p:sldId id="1863" r:id="rId73"/>
    <p:sldId id="1627" r:id="rId74"/>
    <p:sldId id="1865" r:id="rId75"/>
    <p:sldId id="1866" r:id="rId76"/>
    <p:sldId id="1867" r:id="rId77"/>
    <p:sldId id="1868" r:id="rId78"/>
    <p:sldId id="1869" r:id="rId79"/>
    <p:sldId id="1870" r:id="rId80"/>
    <p:sldId id="1871" r:id="rId81"/>
    <p:sldId id="1872" r:id="rId82"/>
    <p:sldId id="1873" r:id="rId83"/>
    <p:sldId id="1874" r:id="rId84"/>
    <p:sldId id="1875" r:id="rId85"/>
    <p:sldId id="1876" r:id="rId86"/>
    <p:sldId id="1877" r:id="rId87"/>
    <p:sldId id="1878" r:id="rId88"/>
    <p:sldId id="1879" r:id="rId89"/>
    <p:sldId id="1880" r:id="rId90"/>
    <p:sldId id="1881" r:id="rId91"/>
    <p:sldId id="1882" r:id="rId92"/>
    <p:sldId id="1883" r:id="rId93"/>
    <p:sldId id="1884" r:id="rId94"/>
    <p:sldId id="1885" r:id="rId95"/>
    <p:sldId id="1886" r:id="rId96"/>
    <p:sldId id="1887" r:id="rId97"/>
    <p:sldId id="1888" r:id="rId98"/>
    <p:sldId id="1889" r:id="rId99"/>
    <p:sldId id="1890" r:id="rId100"/>
    <p:sldId id="1891" r:id="rId101"/>
    <p:sldId id="1892" r:id="rId102"/>
    <p:sldId id="1893" r:id="rId103"/>
    <p:sldId id="1894" r:id="rId104"/>
    <p:sldId id="1895" r:id="rId105"/>
    <p:sldId id="1896" r:id="rId106"/>
    <p:sldId id="1897" r:id="rId107"/>
    <p:sldId id="1898" r:id="rId108"/>
    <p:sldId id="1899" r:id="rId109"/>
    <p:sldId id="1900" r:id="rId110"/>
    <p:sldId id="1901" r:id="rId111"/>
    <p:sldId id="1902" r:id="rId112"/>
    <p:sldId id="1903" r:id="rId113"/>
    <p:sldId id="1904" r:id="rId114"/>
    <p:sldId id="1905" r:id="rId115"/>
    <p:sldId id="1906" r:id="rId116"/>
    <p:sldId id="1907" r:id="rId117"/>
    <p:sldId id="1908" r:id="rId118"/>
    <p:sldId id="1909" r:id="rId119"/>
    <p:sldId id="1910" r:id="rId120"/>
    <p:sldId id="1911" r:id="rId121"/>
    <p:sldId id="1912" r:id="rId122"/>
    <p:sldId id="1913" r:id="rId123"/>
    <p:sldId id="1914" r:id="rId124"/>
    <p:sldId id="1915" r:id="rId125"/>
    <p:sldId id="1916" r:id="rId126"/>
    <p:sldId id="1917" r:id="rId127"/>
    <p:sldId id="1918" r:id="rId128"/>
    <p:sldId id="1919" r:id="rId129"/>
    <p:sldId id="1920" r:id="rId130"/>
    <p:sldId id="1921" r:id="rId131"/>
    <p:sldId id="1922" r:id="rId132"/>
  </p:sldIdLst>
  <p:sldSz cx="9144000" cy="6858000" type="screen4x3"/>
  <p:notesSz cx="7302500" cy="9586913"/>
  <p:custDataLst>
    <p:tags r:id="rId13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72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FF5"/>
    <a:srgbClr val="E0E0E0"/>
    <a:srgbClr val="FFFFFF"/>
    <a:srgbClr val="FCFCFC"/>
    <a:srgbClr val="DF9F98"/>
    <a:srgbClr val="D6CDEE"/>
    <a:srgbClr val="F7F5CD"/>
    <a:srgbClr val="FFABAA"/>
    <a:srgbClr val="000000"/>
    <a:srgbClr val="B2E6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1" autoAdjust="0"/>
    <p:restoredTop sz="94649" autoAdjust="0"/>
  </p:normalViewPr>
  <p:slideViewPr>
    <p:cSldViewPr snapToGrid="0" snapToObjects="1">
      <p:cViewPr varScale="1">
        <p:scale>
          <a:sx n="94" d="100"/>
          <a:sy n="94" d="100"/>
        </p:scale>
        <p:origin x="-1520" y="-96"/>
      </p:cViewPr>
      <p:guideLst>
        <p:guide orient="horz" pos="172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15585"/>
    </p:cViewPr>
  </p:sorterViewPr>
  <p:notesViewPr>
    <p:cSldViewPr snapToObjects="1">
      <p:cViewPr varScale="1">
        <p:scale>
          <a:sx n="64" d="100"/>
          <a:sy n="64" d="100"/>
        </p:scale>
        <p:origin x="-3544" y="-120"/>
      </p:cViewPr>
      <p:guideLst>
        <p:guide orient="horz" pos="3019"/>
        <p:guide pos="23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120" Type="http://schemas.openxmlformats.org/officeDocument/2006/relationships/slide" Target="slides/slide118.xml"/><Relationship Id="rId121" Type="http://schemas.openxmlformats.org/officeDocument/2006/relationships/slide" Target="slides/slide119.xml"/><Relationship Id="rId122" Type="http://schemas.openxmlformats.org/officeDocument/2006/relationships/slide" Target="slides/slide120.xml"/><Relationship Id="rId123" Type="http://schemas.openxmlformats.org/officeDocument/2006/relationships/slide" Target="slides/slide121.xml"/><Relationship Id="rId124" Type="http://schemas.openxmlformats.org/officeDocument/2006/relationships/slide" Target="slides/slide122.xml"/><Relationship Id="rId125" Type="http://schemas.openxmlformats.org/officeDocument/2006/relationships/slide" Target="slides/slide123.xml"/><Relationship Id="rId126" Type="http://schemas.openxmlformats.org/officeDocument/2006/relationships/slide" Target="slides/slide124.xml"/><Relationship Id="rId127" Type="http://schemas.openxmlformats.org/officeDocument/2006/relationships/slide" Target="slides/slide125.xml"/><Relationship Id="rId128" Type="http://schemas.openxmlformats.org/officeDocument/2006/relationships/slide" Target="slides/slide126.xml"/><Relationship Id="rId129" Type="http://schemas.openxmlformats.org/officeDocument/2006/relationships/slide" Target="slides/slide12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slide" Target="slides/slide90.xml"/><Relationship Id="rId93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101" Type="http://schemas.openxmlformats.org/officeDocument/2006/relationships/slide" Target="slides/slide99.xml"/><Relationship Id="rId102" Type="http://schemas.openxmlformats.org/officeDocument/2006/relationships/slide" Target="slides/slide100.xml"/><Relationship Id="rId103" Type="http://schemas.openxmlformats.org/officeDocument/2006/relationships/slide" Target="slides/slide101.xml"/><Relationship Id="rId104" Type="http://schemas.openxmlformats.org/officeDocument/2006/relationships/slide" Target="slides/slide102.xml"/><Relationship Id="rId105" Type="http://schemas.openxmlformats.org/officeDocument/2006/relationships/slide" Target="slides/slide103.xml"/><Relationship Id="rId106" Type="http://schemas.openxmlformats.org/officeDocument/2006/relationships/slide" Target="slides/slide104.xml"/><Relationship Id="rId107" Type="http://schemas.openxmlformats.org/officeDocument/2006/relationships/slide" Target="slides/slide105.xml"/><Relationship Id="rId108" Type="http://schemas.openxmlformats.org/officeDocument/2006/relationships/slide" Target="slides/slide106.xml"/><Relationship Id="rId109" Type="http://schemas.openxmlformats.org/officeDocument/2006/relationships/slide" Target="slides/slide107.xml"/><Relationship Id="rId97" Type="http://schemas.openxmlformats.org/officeDocument/2006/relationships/slide" Target="slides/slide95.xml"/><Relationship Id="rId98" Type="http://schemas.openxmlformats.org/officeDocument/2006/relationships/slide" Target="slides/slide96.xml"/><Relationship Id="rId99" Type="http://schemas.openxmlformats.org/officeDocument/2006/relationships/slide" Target="slides/slide97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100" Type="http://schemas.openxmlformats.org/officeDocument/2006/relationships/slide" Target="slides/slide98.xml"/><Relationship Id="rId151" Type="http://schemas.microsoft.com/office/2015/10/relationships/revisionInfo" Target="revisionInfo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130" Type="http://schemas.openxmlformats.org/officeDocument/2006/relationships/slide" Target="slides/slide128.xml"/><Relationship Id="rId131" Type="http://schemas.openxmlformats.org/officeDocument/2006/relationships/slide" Target="slides/slide129.xml"/><Relationship Id="rId132" Type="http://schemas.openxmlformats.org/officeDocument/2006/relationships/slide" Target="slides/slide130.xml"/><Relationship Id="rId133" Type="http://schemas.openxmlformats.org/officeDocument/2006/relationships/notesMaster" Target="notesMasters/notesMaster1.xml"/><Relationship Id="rId134" Type="http://schemas.openxmlformats.org/officeDocument/2006/relationships/handoutMaster" Target="handoutMasters/handoutMaster1.xml"/><Relationship Id="rId135" Type="http://schemas.openxmlformats.org/officeDocument/2006/relationships/printerSettings" Target="printerSettings/printerSettings1.bin"/><Relationship Id="rId136" Type="http://schemas.openxmlformats.org/officeDocument/2006/relationships/tags" Target="tags/tag1.xml"/><Relationship Id="rId137" Type="http://schemas.openxmlformats.org/officeDocument/2006/relationships/presProps" Target="presProps.xml"/><Relationship Id="rId138" Type="http://schemas.openxmlformats.org/officeDocument/2006/relationships/viewProps" Target="viewProps.xml"/><Relationship Id="rId13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110" Type="http://schemas.openxmlformats.org/officeDocument/2006/relationships/slide" Target="slides/slide108.xml"/><Relationship Id="rId111" Type="http://schemas.openxmlformats.org/officeDocument/2006/relationships/slide" Target="slides/slide109.xml"/><Relationship Id="rId112" Type="http://schemas.openxmlformats.org/officeDocument/2006/relationships/slide" Target="slides/slide110.xml"/><Relationship Id="rId113" Type="http://schemas.openxmlformats.org/officeDocument/2006/relationships/slide" Target="slides/slide111.xml"/><Relationship Id="rId114" Type="http://schemas.openxmlformats.org/officeDocument/2006/relationships/slide" Target="slides/slide112.xml"/><Relationship Id="rId115" Type="http://schemas.openxmlformats.org/officeDocument/2006/relationships/slide" Target="slides/slide113.xml"/><Relationship Id="rId116" Type="http://schemas.openxmlformats.org/officeDocument/2006/relationships/slide" Target="slides/slide114.xml"/><Relationship Id="rId117" Type="http://schemas.openxmlformats.org/officeDocument/2006/relationships/slide" Target="slides/slide115.xml"/><Relationship Id="rId118" Type="http://schemas.openxmlformats.org/officeDocument/2006/relationships/slide" Target="slides/slide116.xml"/><Relationship Id="rId119" Type="http://schemas.openxmlformats.org/officeDocument/2006/relationships/slide" Target="slides/slide11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14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336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828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6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6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6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6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6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6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6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6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6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7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7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7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7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7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7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7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7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7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7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8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8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8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8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8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8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8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8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8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8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9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9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9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9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9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9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9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9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9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9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0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0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0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0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0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0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0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0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92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337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Text Box 2"/>
          <p:cNvSpPr txBox="1">
            <a:spLocks noChangeArrowheads="1"/>
          </p:cNvSpPr>
          <p:nvPr/>
        </p:nvSpPr>
        <p:spPr bwMode="auto">
          <a:xfrm>
            <a:off x="1266211" y="725994"/>
            <a:ext cx="4773249" cy="358082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84" tIns="45642" rIns="91284" bIns="45642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6083" name="Rectangle 3"/>
          <p:cNvSpPr txBox="1">
            <a:spLocks noGrp="1" noChangeArrowheads="1"/>
          </p:cNvSpPr>
          <p:nvPr>
            <p:ph type="body"/>
          </p:nvPr>
        </p:nvSpPr>
        <p:spPr>
          <a:ln/>
        </p:spPr>
        <p:txBody>
          <a:bodyPr wrap="none" anchor="ctr"/>
          <a:lstStyle/>
          <a:p>
            <a:r>
              <a:rPr lang="en-US" dirty="0" smtClean="0"/>
              <a:t>./</a:t>
            </a:r>
            <a:r>
              <a:rPr lang="en-US" dirty="0" err="1" smtClean="0"/>
              <a:t>shellex</a:t>
            </a:r>
            <a:endParaRPr lang="en-US" dirty="0" smtClean="0"/>
          </a:p>
          <a:p>
            <a:r>
              <a:rPr lang="en-US" dirty="0" smtClean="0"/>
              <a:t>&gt;./delay</a:t>
            </a:r>
            <a:r>
              <a:rPr lang="en-US" baseline="0" dirty="0" smtClean="0"/>
              <a:t> 10 &amp;</a:t>
            </a:r>
          </a:p>
          <a:p>
            <a:r>
              <a:rPr lang="en-US" baseline="0" dirty="0" smtClean="0"/>
              <a:t>&gt;/bin/</a:t>
            </a:r>
            <a:r>
              <a:rPr lang="en-US" baseline="0" dirty="0" err="1" smtClean="0"/>
              <a:t>ps</a:t>
            </a:r>
            <a:endParaRPr lang="en-US" baseline="0" dirty="0" smtClean="0"/>
          </a:p>
          <a:p>
            <a:r>
              <a:rPr lang="en-US" baseline="0" dirty="0" smtClean="0"/>
              <a:t>...</a:t>
            </a:r>
          </a:p>
          <a:p>
            <a:r>
              <a:rPr lang="en-US" baseline="0" dirty="0" smtClean="0"/>
              <a:t>&gt;/bin/</a:t>
            </a:r>
            <a:r>
              <a:rPr lang="en-US" baseline="0" dirty="0" err="1" smtClean="0"/>
              <a:t>ps</a:t>
            </a:r>
            <a:endParaRPr lang="en-US" baseline="0" dirty="0" smtClean="0"/>
          </a:p>
          <a:p>
            <a:endParaRPr lang="en-US" baseline="0" dirty="0" smtClean="0"/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706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963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758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758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ext Box 1"/>
          <p:cNvSpPr txBox="1">
            <a:spLocks noChangeArrowheads="1"/>
          </p:cNvSpPr>
          <p:nvPr/>
        </p:nvSpPr>
        <p:spPr bwMode="auto">
          <a:xfrm>
            <a:off x="1347244" y="725326"/>
            <a:ext cx="4609703" cy="35828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9340" tIns="49670" rIns="99340" bIns="49670" anchor="ctr"/>
          <a:lstStyle/>
          <a:p>
            <a:endParaRPr lang="en-US"/>
          </a:p>
        </p:txBody>
      </p:sp>
      <p:sp>
        <p:nvSpPr>
          <p:cNvPr id="6861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667" y="4553434"/>
            <a:ext cx="5355167" cy="431691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3789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 Box 1"/>
          <p:cNvSpPr txBox="1">
            <a:spLocks noChangeArrowheads="1"/>
          </p:cNvSpPr>
          <p:nvPr/>
        </p:nvSpPr>
        <p:spPr bwMode="auto">
          <a:xfrm>
            <a:off x="1261456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3891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3993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409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4198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4301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4403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450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4608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120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22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427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427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427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427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52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632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734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837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939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041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14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24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5939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041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14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6380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24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986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349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ext Box 1"/>
          <p:cNvSpPr txBox="1">
            <a:spLocks noChangeArrowheads="1"/>
          </p:cNvSpPr>
          <p:nvPr/>
        </p:nvSpPr>
        <p:spPr bwMode="auto">
          <a:xfrm>
            <a:off x="1259872" y="722823"/>
            <a:ext cx="4779588" cy="358558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294" tIns="45647" rIns="91294" bIns="45647" anchor="ctr"/>
          <a:lstStyle/>
          <a:p>
            <a:endParaRPr lang="en-US"/>
          </a:p>
        </p:txBody>
      </p:sp>
      <p:sp>
        <p:nvSpPr>
          <p:cNvPr id="6451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3033" y="4555686"/>
            <a:ext cx="5356434" cy="431316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73</a:t>
            </a:fld>
            <a:endParaRPr lang="en-U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ext Box 1"/>
          <p:cNvSpPr txBox="1">
            <a:spLocks noChangeArrowheads="1"/>
          </p:cNvSpPr>
          <p:nvPr/>
        </p:nvSpPr>
        <p:spPr bwMode="auto">
          <a:xfrm>
            <a:off x="1181287" y="726135"/>
            <a:ext cx="4953350" cy="35805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4710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24461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ext Box 1"/>
          <p:cNvSpPr txBox="1">
            <a:spLocks noChangeArrowheads="1"/>
          </p:cNvSpPr>
          <p:nvPr/>
        </p:nvSpPr>
        <p:spPr bwMode="auto">
          <a:xfrm>
            <a:off x="1181287" y="726135"/>
            <a:ext cx="4953350" cy="35805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4710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24461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4813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4915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501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522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5120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5325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1"/>
          <p:cNvSpPr txBox="1">
            <a:spLocks noChangeArrowheads="1"/>
          </p:cNvSpPr>
          <p:nvPr/>
        </p:nvSpPr>
        <p:spPr bwMode="auto">
          <a:xfrm>
            <a:off x="1179610" y="724518"/>
            <a:ext cx="4955028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5427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85</a:t>
            </a:fld>
            <a:endParaRPr lang="en-US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5632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5734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5837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ext Box 1"/>
          <p:cNvSpPr txBox="1">
            <a:spLocks noChangeArrowheads="1"/>
          </p:cNvSpPr>
          <p:nvPr/>
        </p:nvSpPr>
        <p:spPr bwMode="auto">
          <a:xfrm>
            <a:off x="1179610" y="724518"/>
            <a:ext cx="4955028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5939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7747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91</a:t>
            </a:fld>
            <a:endParaRPr lang="en-US" dirty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6041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614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624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6349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6553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6451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1174576" y="724519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22" tIns="47311" rIns="94622" bIns="47311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1174576" y="724519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22" tIns="47311" rIns="94622" bIns="47311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1174576" y="724519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22" tIns="47311" rIns="94622" bIns="47311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1174576" y="724519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22" tIns="47311" rIns="94622" bIns="47311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1174576" y="724519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22" tIns="47311" rIns="94622" bIns="47311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1174576" y="724519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22" tIns="47311" rIns="94622" bIns="47311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1174576" y="724519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22" tIns="47311" rIns="94622" bIns="47311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1174576" y="724519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22" tIns="47311" rIns="94622" bIns="47311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1174576" y="724519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22" tIns="47311" rIns="94622" bIns="47311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1174576" y="724519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22" tIns="47311" rIns="94622" bIns="47311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1174576" y="724519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22" tIns="47311" rIns="94622" bIns="47311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ext Box 1"/>
          <p:cNvSpPr txBox="1">
            <a:spLocks noChangeArrowheads="1"/>
          </p:cNvSpPr>
          <p:nvPr/>
        </p:nvSpPr>
        <p:spPr bwMode="auto">
          <a:xfrm>
            <a:off x="1174576" y="724519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22" tIns="47311" rIns="94622" bIns="47311" anchor="ctr"/>
          <a:lstStyle/>
          <a:p>
            <a:endParaRPr lang="en-US"/>
          </a:p>
        </p:txBody>
      </p:sp>
      <p:sp>
        <p:nvSpPr>
          <p:cNvPr id="6656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/>
          </a:p>
        </p:txBody>
      </p:sp>
      <p:sp>
        <p:nvSpPr>
          <p:cNvPr id="6758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111</a:t>
            </a:fld>
            <a:endParaRPr lang="en-US" dirty="0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861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0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3900"/>
            <a:ext cx="4778375" cy="3582988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219" y="4555725"/>
            <a:ext cx="5356062" cy="431314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963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65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168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270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373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75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499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7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680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782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8850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987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ext Box 1"/>
          <p:cNvSpPr txBox="1">
            <a:spLocks noChangeArrowheads="1"/>
          </p:cNvSpPr>
          <p:nvPr/>
        </p:nvSpPr>
        <p:spPr bwMode="auto"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4631" tIns="47316" rIns="94631" bIns="47316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089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74898" y="4555725"/>
            <a:ext cx="5352706" cy="4314758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3900"/>
            <a:ext cx="4778375" cy="3582988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219" y="4555725"/>
            <a:ext cx="5356062" cy="4313140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02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8830843" y="6611779"/>
            <a:ext cx="3385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90513" y="1220788"/>
            <a:ext cx="8305800" cy="52228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360" tIns="44280" rIns="90360" bIns="442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4813" y="247650"/>
            <a:ext cx="8715375" cy="7810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442913" y="6345238"/>
            <a:ext cx="447675" cy="39528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rIns="45720" anchor="ctr">
            <a:prstTxWarp prst="textNoShape">
              <a:avLst/>
            </a:prstTxWarp>
            <a:spAutoFit/>
          </a:bodyPr>
          <a:lstStyle/>
          <a:p>
            <a:pPr algn="ctr" defTabSz="457200">
              <a:lnSpc>
                <a:spcPct val="83000"/>
              </a:lnSpc>
              <a:buClr>
                <a:srgbClr val="000066"/>
              </a:buClr>
              <a:buSzPct val="100000"/>
              <a:buFont typeface="Times New Roman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fld id="{BBC07E77-5360-6D43-8AEB-E24B08212AFE}" type="slidenum">
              <a:rPr lang="en-GB" b="0">
                <a:solidFill>
                  <a:srgbClr val="000066"/>
                </a:solidFill>
                <a:latin typeface="Times New Roman" charset="0"/>
              </a:rPr>
              <a:pPr algn="ctr" defTabSz="457200">
                <a:lnSpc>
                  <a:spcPct val="83000"/>
                </a:lnSpc>
                <a:buClr>
                  <a:srgbClr val="000066"/>
                </a:buClr>
                <a:buSzPct val="100000"/>
                <a:buFont typeface="Times New Roman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t>‹#›</a:t>
            </a:fld>
            <a:endParaRPr lang="en-GB" b="0">
              <a:solidFill>
                <a:srgbClr val="000066"/>
              </a:solidFill>
              <a:latin typeface="Times New Roman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+mj-lt"/>
          <a:ea typeface="ＭＳ Ｐゴシック" charset="-128"/>
          <a:cs typeface="ＭＳ Ｐゴシック" charset="-128"/>
        </a:defRPr>
      </a:lvl1pPr>
      <a:lvl2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Helvetica" charset="0"/>
          <a:ea typeface="ＭＳ Ｐゴシック" charset="-128"/>
          <a:cs typeface="ＭＳ Ｐゴシック" charset="-128"/>
        </a:defRPr>
      </a:lvl2pPr>
      <a:lvl3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Helvetica" charset="0"/>
          <a:ea typeface="ＭＳ Ｐゴシック" charset="-128"/>
          <a:cs typeface="ＭＳ Ｐゴシック" charset="-128"/>
        </a:defRPr>
      </a:lvl3pPr>
      <a:lvl4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Helvetica" charset="0"/>
          <a:ea typeface="ＭＳ Ｐゴシック" charset="-128"/>
          <a:cs typeface="ＭＳ Ｐゴシック" charset="-128"/>
        </a:defRPr>
      </a:lvl4pPr>
      <a:lvl5pPr algn="l" defTabSz="457200" rtl="0" eaLnBrk="0" fontAlgn="base" hangingPunct="0">
        <a:lnSpc>
          <a:spcPct val="85000"/>
        </a:lnSpc>
        <a:spcBef>
          <a:spcPct val="0"/>
        </a:spcBef>
        <a:spcAft>
          <a:spcPct val="0"/>
        </a:spcAft>
        <a:buClr>
          <a:srgbClr val="660033"/>
        </a:buClr>
        <a:buSzPct val="100000"/>
        <a:buFont typeface="Helvetica" charset="0"/>
        <a:defRPr sz="3800" b="1">
          <a:solidFill>
            <a:srgbClr val="660033"/>
          </a:solidFill>
          <a:latin typeface="Helvetica" charset="0"/>
          <a:ea typeface="ＭＳ Ｐゴシック" charset="-128"/>
          <a:cs typeface="ＭＳ Ｐゴシック" charset="-128"/>
        </a:defRPr>
      </a:lvl5pPr>
      <a:lvl6pPr marL="1536700" indent="-215900" algn="l" defTabSz="457200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800" b="1">
          <a:solidFill>
            <a:srgbClr val="660033"/>
          </a:solidFill>
          <a:latin typeface="Helvetica" charset="0"/>
          <a:ea typeface="ＭＳ Ｐゴシック" charset="-128"/>
        </a:defRPr>
      </a:lvl6pPr>
      <a:lvl7pPr marL="1993900" indent="-215900" algn="l" defTabSz="457200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800" b="1">
          <a:solidFill>
            <a:srgbClr val="660033"/>
          </a:solidFill>
          <a:latin typeface="Helvetica" charset="0"/>
          <a:ea typeface="ＭＳ Ｐゴシック" charset="-128"/>
        </a:defRPr>
      </a:lvl7pPr>
      <a:lvl8pPr marL="2451100" indent="-215900" algn="l" defTabSz="457200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800" b="1">
          <a:solidFill>
            <a:srgbClr val="660033"/>
          </a:solidFill>
          <a:latin typeface="Helvetica" charset="0"/>
          <a:ea typeface="ＭＳ Ｐゴシック" charset="-128"/>
        </a:defRPr>
      </a:lvl8pPr>
      <a:lvl9pPr marL="2908300" indent="-215900" algn="l" defTabSz="457200" rtl="0" fontAlgn="base">
        <a:lnSpc>
          <a:spcPct val="85000"/>
        </a:lnSpc>
        <a:spcBef>
          <a:spcPct val="0"/>
        </a:spcBef>
        <a:spcAft>
          <a:spcPct val="0"/>
        </a:spcAft>
        <a:buClr>
          <a:srgbClr val="000000"/>
        </a:buClr>
        <a:buSzPct val="45000"/>
        <a:buFont typeface="StarSymbol" charset="0"/>
        <a:defRPr sz="3800" b="1">
          <a:solidFill>
            <a:srgbClr val="660033"/>
          </a:solidFill>
          <a:latin typeface="Helvetica" charset="0"/>
          <a:ea typeface="ＭＳ Ｐゴシック" charset="-128"/>
        </a:defRPr>
      </a:lvl9pPr>
    </p:titleStyle>
    <p:bodyStyle>
      <a:lvl1pPr marL="384175" indent="-384175" algn="l" defTabSz="457200" rtl="0" eaLnBrk="0" fontAlgn="base" hangingPunct="0">
        <a:lnSpc>
          <a:spcPct val="93000"/>
        </a:lnSpc>
        <a:spcBef>
          <a:spcPts val="1500"/>
        </a:spcBef>
        <a:spcAft>
          <a:spcPct val="0"/>
        </a:spcAft>
        <a:buClr>
          <a:srgbClr val="660033"/>
        </a:buClr>
        <a:buSzPct val="45000"/>
        <a:buFont typeface="Wingdings" charset="2"/>
        <a:buChar char=""/>
        <a:defRPr sz="2400" b="1">
          <a:solidFill>
            <a:srgbClr val="003300"/>
          </a:solidFill>
          <a:effectLst>
            <a:outerShdw blurRad="38100" dist="38100" dir="2700000" algn="tl">
              <a:srgbClr val="DDDDDD"/>
            </a:outerShdw>
          </a:effectLst>
          <a:latin typeface="+mn-lt"/>
          <a:ea typeface="ＭＳ Ｐゴシック" charset="-128"/>
          <a:cs typeface="ＭＳ Ｐゴシック" charset="-128"/>
        </a:defRPr>
      </a:lvl1pPr>
      <a:lvl2pPr marL="742950" indent="-246063" algn="l" defTabSz="457200" rtl="0" eaLnBrk="0" fontAlgn="base" hangingPunct="0">
        <a:lnSpc>
          <a:spcPct val="98000"/>
        </a:lnSpc>
        <a:spcBef>
          <a:spcPts val="625"/>
        </a:spcBef>
        <a:spcAft>
          <a:spcPct val="0"/>
        </a:spcAft>
        <a:buClr>
          <a:srgbClr val="660033"/>
        </a:buClr>
        <a:buSzPct val="45000"/>
        <a:buFont typeface="Wingdings" charset="2"/>
        <a:buChar char=""/>
        <a:defRPr sz="2000" b="1">
          <a:solidFill>
            <a:srgbClr val="000066"/>
          </a:solidFill>
          <a:latin typeface="+mn-lt"/>
          <a:ea typeface="ＭＳ Ｐゴシック" charset="-128"/>
        </a:defRPr>
      </a:lvl2pPr>
      <a:lvl3pPr marL="1144588" indent="-236538" algn="l" defTabSz="457200" rtl="0" eaLnBrk="0" fontAlgn="base" hangingPunct="0">
        <a:lnSpc>
          <a:spcPct val="104000"/>
        </a:lnSpc>
        <a:spcBef>
          <a:spcPts val="225"/>
        </a:spcBef>
        <a:spcAft>
          <a:spcPct val="0"/>
        </a:spcAft>
        <a:buClr>
          <a:srgbClr val="005400"/>
        </a:buClr>
        <a:buSzPct val="45000"/>
        <a:buFont typeface="Wingdings" charset="2"/>
        <a:buChar char=""/>
        <a:defRPr b="1">
          <a:solidFill>
            <a:srgbClr val="000099"/>
          </a:solidFill>
          <a:latin typeface="+mn-lt"/>
          <a:ea typeface="ＭＳ Ｐゴシック" charset="-128"/>
        </a:defRPr>
      </a:lvl3pPr>
      <a:lvl4pPr marL="1600200" indent="-228600" algn="l" defTabSz="457200" rtl="0" eaLnBrk="0" fontAlgn="base" hangingPunct="0">
        <a:lnSpc>
          <a:spcPct val="98000"/>
        </a:lnSpc>
        <a:spcBef>
          <a:spcPts val="45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b="1">
          <a:solidFill>
            <a:srgbClr val="000066"/>
          </a:solidFill>
          <a:latin typeface="+mn-lt"/>
          <a:ea typeface="ＭＳ Ｐゴシック" charset="-128"/>
        </a:defRPr>
      </a:lvl4pPr>
      <a:lvl5pPr marL="2449513" indent="-228600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5pPr>
      <a:lvl6pPr marL="2906713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6pPr>
      <a:lvl7pPr marL="3363913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7pPr>
      <a:lvl8pPr marL="3821113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8pPr>
      <a:lvl9pPr marL="4278313" indent="-228600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000066"/>
        </a:buClr>
        <a:buSzPct val="45000"/>
        <a:buFont typeface="Wingdings" charset="2"/>
        <a:buChar char=""/>
        <a:defRPr sz="2000">
          <a:solidFill>
            <a:srgbClr val="000066"/>
          </a:solidFill>
          <a:latin typeface="Times New Roman" charset="0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hyperlink" Target="https://canvas.cmu.edu/courses/1221" TargetMode="Externa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2.png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631950"/>
            <a:ext cx="7772400" cy="1644650"/>
          </a:xfrm>
        </p:spPr>
        <p:txBody>
          <a:bodyPr/>
          <a:lstStyle/>
          <a:p>
            <a:pPr marL="0" lvl="0" indent="0"/>
            <a:r>
              <a:rPr lang="en-US" dirty="0" smtClean="0"/>
              <a:t>Midterm Review</a:t>
            </a:r>
            <a:br>
              <a:rPr lang="en-US" dirty="0" smtClean="0"/>
            </a:br>
            <a:r>
              <a:rPr lang="en-US" dirty="0" smtClean="0"/>
              <a:t>Shell Lab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Dynamic Storage Allocation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sz="2000" b="0" dirty="0"/>
              <a:t>CSC 374: Computer Systems II</a:t>
            </a:r>
            <a:br>
              <a:rPr lang="en-US" sz="2000" b="0" dirty="0"/>
            </a:br>
            <a:r>
              <a:rPr lang="en-US" sz="2000" b="0" dirty="0"/>
              <a:t>7</a:t>
            </a:r>
            <a:r>
              <a:rPr lang="en-US" sz="2000" b="0" baseline="30000" dirty="0" smtClean="0"/>
              <a:t>th</a:t>
            </a:r>
            <a:r>
              <a:rPr lang="en-US" sz="2000" b="0" dirty="0" smtClean="0"/>
              <a:t> </a:t>
            </a:r>
            <a:r>
              <a:rPr lang="en-US" sz="2000" b="0" dirty="0" smtClean="0"/>
              <a:t>Lecture</a:t>
            </a:r>
            <a:r>
              <a:rPr lang="en-US" sz="2000" b="0" dirty="0"/>
              <a:t>, </a:t>
            </a:r>
            <a:r>
              <a:rPr lang="en-US" sz="2000" b="0" dirty="0" smtClean="0"/>
              <a:t>February 13, </a:t>
            </a:r>
            <a:r>
              <a:rPr lang="en-US" sz="2000" b="0" dirty="0"/>
              <a:t>2018</a:t>
            </a:r>
          </a:p>
        </p:txBody>
      </p:sp>
      <p:sp>
        <p:nvSpPr>
          <p:cNvPr id="9219" name="Subtitle 2"/>
          <p:cNvSpPr>
            <a:spLocks noGrp="1"/>
          </p:cNvSpPr>
          <p:nvPr>
            <p:ph type="subTitle" idx="1"/>
          </p:nvPr>
        </p:nvSpPr>
        <p:spPr>
          <a:xfrm>
            <a:off x="685800" y="4037364"/>
            <a:ext cx="7678738" cy="1752600"/>
          </a:xfrm>
        </p:spPr>
        <p:txBody>
          <a:bodyPr/>
          <a:lstStyle/>
          <a:p>
            <a:r>
              <a:rPr lang="en-US" b="1" dirty="0" smtClean="0"/>
              <a:t>Instructor</a:t>
            </a:r>
            <a:r>
              <a:rPr lang="en-US" b="1" dirty="0"/>
              <a:t>:</a:t>
            </a:r>
            <a:r>
              <a:rPr lang="en-US" dirty="0"/>
              <a:t> </a:t>
            </a:r>
          </a:p>
          <a:p>
            <a:r>
              <a:rPr lang="en-US" dirty="0" smtClean="0"/>
              <a:t>Walter Martens</a:t>
            </a:r>
            <a:endParaRPr lang="en-US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/>
              <a:t>Midterm Review</a:t>
            </a:r>
            <a:endParaRPr lang="en-US" sz="2800" dirty="0" smtClean="0"/>
          </a:p>
          <a:p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Shell Lab Overview</a:t>
            </a:r>
          </a:p>
          <a:p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Dynamic Memory Allocation</a:t>
            </a:r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6529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>
                <a:solidFill>
                  <a:srgbClr val="B3B3B3"/>
                </a:solidFill>
              </a:rPr>
              <a:t>Midterm Review</a:t>
            </a:r>
            <a:endParaRPr lang="en-US" sz="2800" dirty="0" smtClean="0">
              <a:solidFill>
                <a:srgbClr val="B3B3B3"/>
              </a:solidFill>
            </a:endParaRPr>
          </a:p>
          <a:p>
            <a:r>
              <a:rPr lang="en-US" sz="2800" dirty="0" smtClean="0"/>
              <a:t>Shell Lab Overview</a:t>
            </a:r>
          </a:p>
          <a:p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Dynamic Memory Allocation</a:t>
            </a:r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6590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Shell Lab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Due next week, </a:t>
            </a:r>
            <a:r>
              <a:rPr lang="en-US" dirty="0" smtClean="0"/>
              <a:t>Friday, February 23rd.</a:t>
            </a:r>
            <a:endParaRPr lang="en-US" dirty="0" smtClean="0"/>
          </a:p>
          <a:p>
            <a:r>
              <a:rPr lang="en-US" dirty="0" smtClean="0"/>
              <a:t>Simulate </a:t>
            </a:r>
            <a:r>
              <a:rPr lang="en-US" dirty="0" smtClean="0"/>
              <a:t>a tiny </a:t>
            </a:r>
            <a:r>
              <a:rPr lang="en-US" dirty="0" smtClean="0"/>
              <a:t>Linux-like </a:t>
            </a:r>
            <a:r>
              <a:rPr lang="en-US" dirty="0" smtClean="0"/>
              <a:t>shell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Re-read </a:t>
            </a:r>
            <a:r>
              <a:rPr lang="en-US" dirty="0" smtClean="0"/>
              <a:t>the </a:t>
            </a:r>
            <a:r>
              <a:rPr lang="en-US" dirty="0" smtClean="0"/>
              <a:t>write-up mid-way </a:t>
            </a:r>
            <a:r>
              <a:rPr lang="en-US" dirty="0" smtClean="0"/>
              <a:t>through the assignment. </a:t>
            </a:r>
          </a:p>
          <a:p>
            <a:pPr lvl="1"/>
            <a:r>
              <a:rPr lang="en-US" dirty="0" smtClean="0"/>
              <a:t>A lot of important points mentioned in the </a:t>
            </a:r>
            <a:r>
              <a:rPr lang="en-US" dirty="0" smtClean="0"/>
              <a:t>write-up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Re-read chapter 8!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Pay </a:t>
            </a:r>
            <a:r>
              <a:rPr lang="en-US" dirty="0" smtClean="0"/>
              <a:t>attention to race conditions!</a:t>
            </a:r>
          </a:p>
        </p:txBody>
      </p:sp>
    </p:spTree>
    <p:extLst>
      <p:ext uri="{BB962C8B-B14F-4D97-AF65-F5344CB8AC3E}">
        <p14:creationId xmlns:p14="http://schemas.microsoft.com/office/powerpoint/2010/main" val="4279492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Four basic process control function families:</a:t>
            </a:r>
          </a:p>
          <a:p>
            <a:pPr lvl="1"/>
            <a:r>
              <a:rPr lang="en-US" dirty="0"/>
              <a:t>f</a:t>
            </a:r>
            <a:r>
              <a:rPr lang="en-US" dirty="0" smtClean="0"/>
              <a:t>ork()</a:t>
            </a:r>
          </a:p>
          <a:p>
            <a:pPr lvl="1"/>
            <a:r>
              <a:rPr lang="en-US" dirty="0" smtClean="0"/>
              <a:t>exec()  </a:t>
            </a:r>
          </a:p>
          <a:p>
            <a:pPr lvl="2"/>
            <a:r>
              <a:rPr lang="en-US" dirty="0" smtClean="0"/>
              <a:t>And other variants such as </a:t>
            </a:r>
            <a:r>
              <a:rPr lang="en-US" dirty="0" err="1" smtClean="0"/>
              <a:t>execve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exit()</a:t>
            </a:r>
          </a:p>
          <a:p>
            <a:pPr lvl="1"/>
            <a:r>
              <a:rPr lang="en-US" dirty="0" smtClean="0"/>
              <a:t>wait()</a:t>
            </a:r>
          </a:p>
          <a:p>
            <a:pPr lvl="2"/>
            <a:r>
              <a:rPr lang="en-US" dirty="0" smtClean="0"/>
              <a:t>And variants like </a:t>
            </a:r>
            <a:r>
              <a:rPr lang="en-US" dirty="0" err="1" smtClean="0"/>
              <a:t>waitpid</a:t>
            </a:r>
            <a:r>
              <a:rPr lang="en-US" dirty="0" smtClean="0"/>
              <a:t>()</a:t>
            </a:r>
            <a:endParaRPr lang="en-US" dirty="0"/>
          </a:p>
          <a:p>
            <a:r>
              <a:rPr lang="en-US" dirty="0" smtClean="0"/>
              <a:t>Standard on all UNIX-based systems</a:t>
            </a:r>
            <a:endParaRPr lang="en-US" dirty="0"/>
          </a:p>
          <a:p>
            <a:r>
              <a:rPr lang="en-US" dirty="0" smtClean="0"/>
              <a:t>Don’t be confused:</a:t>
            </a:r>
            <a:br>
              <a:rPr lang="en-US" dirty="0" smtClean="0"/>
            </a:br>
            <a:r>
              <a:rPr lang="en-US" b="1" u="sng" dirty="0" smtClean="0"/>
              <a:t>F</a:t>
            </a:r>
            <a:r>
              <a:rPr lang="en-US" dirty="0" smtClean="0"/>
              <a:t>ork(), </a:t>
            </a:r>
            <a:r>
              <a:rPr lang="en-US" b="1" u="sng" dirty="0" smtClean="0"/>
              <a:t>E</a:t>
            </a:r>
            <a:r>
              <a:rPr lang="en-US" dirty="0" smtClean="0"/>
              <a:t>xit(), </a:t>
            </a:r>
            <a:r>
              <a:rPr lang="en-US" b="1" u="sng" dirty="0" smtClean="0"/>
              <a:t>W</a:t>
            </a:r>
            <a:r>
              <a:rPr lang="en-US" dirty="0" smtClean="0"/>
              <a:t>ait() are all wrappers provided by CS:APP</a:t>
            </a:r>
          </a:p>
        </p:txBody>
      </p:sp>
    </p:spTree>
    <p:extLst>
      <p:ext uri="{BB962C8B-B14F-4D97-AF65-F5344CB8AC3E}">
        <p14:creationId xmlns:p14="http://schemas.microsoft.com/office/powerpoint/2010/main" val="19289797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Processes</a:t>
            </a:r>
          </a:p>
        </p:txBody>
      </p:sp>
      <p:sp>
        <p:nvSpPr>
          <p:cNvPr id="489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latin typeface="Consolas"/>
                <a:cs typeface="Consolas"/>
              </a:rPr>
              <a:t>int</a:t>
            </a:r>
            <a:r>
              <a:rPr lang="en-US" b="1" dirty="0">
                <a:latin typeface="Consolas"/>
                <a:cs typeface="Consolas"/>
              </a:rPr>
              <a:t> fork(void)</a:t>
            </a:r>
          </a:p>
          <a:p>
            <a:pPr lvl="1"/>
            <a:r>
              <a:rPr lang="en-US" dirty="0"/>
              <a:t>creates a new process (child process) that is identical to the calling process (parent process)</a:t>
            </a:r>
          </a:p>
          <a:p>
            <a:pPr lvl="1"/>
            <a:r>
              <a:rPr lang="en-US" dirty="0"/>
              <a:t>OS creates an exact duplicate of parent’s state:</a:t>
            </a:r>
          </a:p>
          <a:p>
            <a:pPr lvl="2"/>
            <a:r>
              <a:rPr lang="en-US" dirty="0"/>
              <a:t>Virtual address space (memory), including heap and stack</a:t>
            </a:r>
          </a:p>
          <a:p>
            <a:pPr lvl="2"/>
            <a:r>
              <a:rPr lang="en-US" dirty="0"/>
              <a:t>Registers, except for the return value (%</a:t>
            </a:r>
            <a:r>
              <a:rPr lang="en-US" dirty="0" err="1"/>
              <a:t>eax</a:t>
            </a:r>
            <a:r>
              <a:rPr lang="en-US" dirty="0"/>
              <a:t>/%</a:t>
            </a:r>
            <a:r>
              <a:rPr lang="en-US" dirty="0" err="1"/>
              <a:t>rax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File descriptors but files are shared</a:t>
            </a:r>
          </a:p>
          <a:p>
            <a:pPr lvl="1"/>
            <a:r>
              <a:rPr lang="en-US" b="1" dirty="0"/>
              <a:t>Result </a:t>
            </a:r>
            <a:r>
              <a:rPr lang="en-US" b="1" dirty="0">
                <a:sym typeface="Wingdings" pitchFamily="2" charset="2"/>
              </a:rPr>
              <a:t> </a:t>
            </a:r>
            <a:r>
              <a:rPr lang="en-US" b="1" dirty="0"/>
              <a:t>Equal but separate </a:t>
            </a:r>
            <a:r>
              <a:rPr lang="en-US" b="1" dirty="0" smtClean="0"/>
              <a:t>state</a:t>
            </a:r>
          </a:p>
          <a:p>
            <a:pPr lvl="1"/>
            <a:endParaRPr lang="en-US" b="1" dirty="0"/>
          </a:p>
          <a:p>
            <a:pPr lvl="1"/>
            <a:r>
              <a:rPr lang="en-US" dirty="0" smtClean="0"/>
              <a:t>Fork is interesting (and often confusing) because </a:t>
            </a:r>
            <a:br>
              <a:rPr lang="en-US" dirty="0" smtClean="0"/>
            </a:br>
            <a:r>
              <a:rPr lang="en-US" dirty="0" smtClean="0"/>
              <a:t>it is called </a:t>
            </a:r>
            <a:r>
              <a:rPr lang="en-US" i="1" dirty="0" smtClean="0">
                <a:solidFill>
                  <a:srgbClr val="C00000"/>
                </a:solidFill>
              </a:rPr>
              <a:t>once</a:t>
            </a:r>
            <a:r>
              <a:rPr lang="en-US" i="1" dirty="0" smtClean="0"/>
              <a:t> </a:t>
            </a:r>
            <a:r>
              <a:rPr lang="en-US" dirty="0" smtClean="0"/>
              <a:t>but returns </a:t>
            </a:r>
            <a:r>
              <a:rPr lang="en-US" i="1" dirty="0" smtClean="0">
                <a:solidFill>
                  <a:srgbClr val="C00000"/>
                </a:solidFill>
              </a:rPr>
              <a:t>twice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8727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Processes</a:t>
            </a:r>
          </a:p>
        </p:txBody>
      </p:sp>
      <p:sp>
        <p:nvSpPr>
          <p:cNvPr id="489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latin typeface="Consolas"/>
                <a:cs typeface="Consolas"/>
              </a:rPr>
              <a:t>int</a:t>
            </a:r>
            <a:r>
              <a:rPr lang="en-US" b="1" dirty="0">
                <a:latin typeface="Consolas"/>
                <a:cs typeface="Consolas"/>
              </a:rPr>
              <a:t> fork(void)</a:t>
            </a:r>
          </a:p>
          <a:p>
            <a:pPr lvl="1"/>
            <a:r>
              <a:rPr lang="en-US" dirty="0"/>
              <a:t>returns 0 to the child process</a:t>
            </a:r>
          </a:p>
          <a:p>
            <a:pPr lvl="1"/>
            <a:r>
              <a:rPr lang="en-US" dirty="0"/>
              <a:t>returns child’s </a:t>
            </a:r>
            <a:r>
              <a:rPr lang="en-US" b="1" dirty="0" err="1">
                <a:latin typeface="Courier New" pitchFamily="49" charset="0"/>
              </a:rPr>
              <a:t>pid</a:t>
            </a:r>
            <a:r>
              <a:rPr lang="en-US" dirty="0"/>
              <a:t> (process id) to the parent process</a:t>
            </a:r>
          </a:p>
          <a:p>
            <a:pPr lvl="1"/>
            <a:r>
              <a:rPr lang="en-US" dirty="0" smtClean="0"/>
              <a:t>Usually used like:</a:t>
            </a:r>
            <a:endParaRPr lang="en-US" dirty="0"/>
          </a:p>
        </p:txBody>
      </p:sp>
      <p:sp>
        <p:nvSpPr>
          <p:cNvPr id="489476" name="Text Box 4"/>
          <p:cNvSpPr txBox="1">
            <a:spLocks noChangeArrowheads="1"/>
          </p:cNvSpPr>
          <p:nvPr/>
        </p:nvSpPr>
        <p:spPr bwMode="auto">
          <a:xfrm>
            <a:off x="914400" y="2956679"/>
            <a:ext cx="7086600" cy="3139321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err="1" smtClean="0">
                <a:latin typeface="Consolas"/>
                <a:cs typeface="Consolas"/>
              </a:rPr>
              <a:t>pid_t</a:t>
            </a:r>
            <a:r>
              <a:rPr lang="en-US" sz="1800" dirty="0" smtClean="0">
                <a:latin typeface="Consolas"/>
                <a:cs typeface="Consolas"/>
              </a:rPr>
              <a:t> </a:t>
            </a:r>
            <a:r>
              <a:rPr lang="en-US" sz="1800" dirty="0" err="1" smtClean="0">
                <a:latin typeface="Consolas"/>
                <a:cs typeface="Consolas"/>
              </a:rPr>
              <a:t>pid</a:t>
            </a:r>
            <a:r>
              <a:rPr lang="en-US" sz="1800" dirty="0" smtClean="0">
                <a:latin typeface="Consolas"/>
                <a:cs typeface="Consolas"/>
              </a:rPr>
              <a:t> = fork();</a:t>
            </a:r>
          </a:p>
          <a:p>
            <a:pPr algn="l">
              <a:lnSpc>
                <a:spcPct val="100000"/>
              </a:lnSpc>
            </a:pPr>
            <a:endParaRPr lang="en-US" sz="1800" dirty="0" smtClean="0"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</a:pPr>
            <a:r>
              <a:rPr lang="en-US" sz="1800" dirty="0" smtClean="0">
                <a:latin typeface="Consolas"/>
                <a:cs typeface="Consolas"/>
              </a:rPr>
              <a:t>if (</a:t>
            </a:r>
            <a:r>
              <a:rPr lang="en-US" sz="1800" dirty="0" err="1" smtClean="0">
                <a:latin typeface="Consolas"/>
                <a:cs typeface="Consolas"/>
              </a:rPr>
              <a:t>pid</a:t>
            </a:r>
            <a:r>
              <a:rPr lang="en-US" sz="1800" dirty="0" smtClean="0">
                <a:latin typeface="Consolas"/>
                <a:cs typeface="Consolas"/>
              </a:rPr>
              <a:t> </a:t>
            </a:r>
            <a:r>
              <a:rPr lang="en-US" sz="1800" dirty="0">
                <a:latin typeface="Consolas"/>
                <a:cs typeface="Consolas"/>
              </a:rPr>
              <a:t>== 0) </a:t>
            </a:r>
            <a:r>
              <a:rPr lang="en-US" sz="1800" dirty="0" smtClean="0">
                <a:latin typeface="Consolas"/>
                <a:cs typeface="Consolas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 </a:t>
            </a:r>
            <a:r>
              <a:rPr lang="en-US" i="1" dirty="0" smtClean="0">
                <a:latin typeface="Consolas"/>
                <a:cs typeface="Consolas"/>
              </a:rPr>
              <a:t>// </a:t>
            </a:r>
            <a:r>
              <a:rPr lang="en-US" i="1" dirty="0" err="1" smtClean="0">
                <a:latin typeface="Consolas"/>
                <a:cs typeface="Consolas"/>
              </a:rPr>
              <a:t>pid</a:t>
            </a:r>
            <a:r>
              <a:rPr lang="en-US" i="1" dirty="0" smtClean="0">
                <a:latin typeface="Consolas"/>
                <a:cs typeface="Consolas"/>
              </a:rPr>
              <a:t> is 0 so we can detect child</a:t>
            </a:r>
            <a:endParaRPr lang="en-US" sz="1800" i="1" dirty="0"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nsolas"/>
                <a:cs typeface="Consolas"/>
              </a:rPr>
              <a:t>   </a:t>
            </a:r>
            <a:r>
              <a:rPr lang="en-US" sz="1800" dirty="0" err="1">
                <a:latin typeface="Consolas"/>
                <a:cs typeface="Consolas"/>
              </a:rPr>
              <a:t>printf</a:t>
            </a:r>
            <a:r>
              <a:rPr lang="en-US" sz="1800" dirty="0">
                <a:latin typeface="Consolas"/>
                <a:cs typeface="Consolas"/>
              </a:rPr>
              <a:t>("hello from child\n");</a:t>
            </a:r>
          </a:p>
          <a:p>
            <a:pPr algn="l">
              <a:lnSpc>
                <a:spcPct val="100000"/>
              </a:lnSpc>
            </a:pPr>
            <a:r>
              <a:rPr lang="en-US" sz="1800" dirty="0" smtClean="0">
                <a:latin typeface="Consolas"/>
                <a:cs typeface="Consolas"/>
              </a:rPr>
              <a:t>}</a:t>
            </a:r>
          </a:p>
          <a:p>
            <a:pPr algn="l">
              <a:lnSpc>
                <a:spcPct val="100000"/>
              </a:lnSpc>
            </a:pPr>
            <a:endParaRPr lang="en-US" dirty="0"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</a:pPr>
            <a:r>
              <a:rPr lang="en-US" sz="1800" dirty="0" smtClean="0">
                <a:latin typeface="Consolas"/>
                <a:cs typeface="Consolas"/>
              </a:rPr>
              <a:t>else </a:t>
            </a:r>
            <a:r>
              <a:rPr lang="en-US" sz="1800" dirty="0">
                <a:latin typeface="Consolas"/>
                <a:cs typeface="Consolas"/>
              </a:rPr>
              <a:t>{ </a:t>
            </a:r>
            <a:endParaRPr lang="en-US" sz="1800" dirty="0" smtClean="0"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 </a:t>
            </a:r>
            <a:r>
              <a:rPr lang="en-US" dirty="0" smtClean="0">
                <a:latin typeface="Consolas"/>
                <a:cs typeface="Consolas"/>
              </a:rPr>
              <a:t>  </a:t>
            </a:r>
            <a:r>
              <a:rPr lang="en-US" i="1" dirty="0" smtClean="0">
                <a:latin typeface="Consolas"/>
                <a:cs typeface="Consolas"/>
              </a:rPr>
              <a:t>// </a:t>
            </a:r>
            <a:r>
              <a:rPr lang="en-US" i="1" dirty="0" err="1" smtClean="0">
                <a:latin typeface="Consolas"/>
                <a:cs typeface="Consolas"/>
              </a:rPr>
              <a:t>pid</a:t>
            </a:r>
            <a:r>
              <a:rPr lang="en-US" i="1" dirty="0" smtClean="0">
                <a:latin typeface="Consolas"/>
                <a:cs typeface="Consolas"/>
              </a:rPr>
              <a:t> = child’s assigned </a:t>
            </a:r>
            <a:r>
              <a:rPr lang="en-US" i="1" dirty="0" err="1" smtClean="0">
                <a:latin typeface="Consolas"/>
                <a:cs typeface="Consolas"/>
              </a:rPr>
              <a:t>pid</a:t>
            </a:r>
            <a:endParaRPr lang="en-US" sz="1800" i="1" dirty="0"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nsolas"/>
                <a:cs typeface="Consolas"/>
              </a:rPr>
              <a:t>   </a:t>
            </a:r>
            <a:r>
              <a:rPr lang="en-US" sz="1800" dirty="0" err="1">
                <a:latin typeface="Consolas"/>
                <a:cs typeface="Consolas"/>
              </a:rPr>
              <a:t>printf</a:t>
            </a:r>
            <a:r>
              <a:rPr lang="en-US" sz="1800" dirty="0">
                <a:latin typeface="Consolas"/>
                <a:cs typeface="Consolas"/>
              </a:rPr>
              <a:t>("hello from parent\n");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36413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onsolas"/>
                <a:cs typeface="Consolas"/>
              </a:rPr>
              <a:t>i</a:t>
            </a:r>
            <a:r>
              <a:rPr lang="en-US" dirty="0" err="1" smtClean="0">
                <a:latin typeface="Consolas"/>
                <a:cs typeface="Consolas"/>
              </a:rPr>
              <a:t>nt</a:t>
            </a:r>
            <a:r>
              <a:rPr lang="en-US" dirty="0" smtClean="0">
                <a:latin typeface="Consolas"/>
                <a:cs typeface="Consolas"/>
              </a:rPr>
              <a:t> exec()</a:t>
            </a:r>
          </a:p>
          <a:p>
            <a:pPr lvl="1"/>
            <a:r>
              <a:rPr lang="en-US" dirty="0" smtClean="0"/>
              <a:t>Replaces the current process’s state and context</a:t>
            </a:r>
          </a:p>
          <a:p>
            <a:pPr lvl="2"/>
            <a:r>
              <a:rPr lang="en-US" dirty="0" smtClean="0"/>
              <a:t>But keeps PID, </a:t>
            </a:r>
            <a:r>
              <a:rPr lang="en-US" dirty="0"/>
              <a:t>open </a:t>
            </a:r>
            <a:r>
              <a:rPr lang="en-US" dirty="0" smtClean="0"/>
              <a:t>files, </a:t>
            </a:r>
            <a:r>
              <a:rPr lang="en-US" dirty="0"/>
              <a:t>and signal context</a:t>
            </a:r>
            <a:endParaRPr lang="en-US" dirty="0" smtClean="0"/>
          </a:p>
          <a:p>
            <a:pPr lvl="1"/>
            <a:r>
              <a:rPr lang="en-US" dirty="0" smtClean="0"/>
              <a:t>Provides a way to load and run </a:t>
            </a:r>
            <a:r>
              <a:rPr lang="en-US" b="1" dirty="0" smtClean="0"/>
              <a:t>another</a:t>
            </a:r>
            <a:r>
              <a:rPr lang="en-US" dirty="0" smtClean="0"/>
              <a:t> program</a:t>
            </a:r>
          </a:p>
          <a:p>
            <a:pPr lvl="2"/>
            <a:r>
              <a:rPr lang="en-US" dirty="0" smtClean="0"/>
              <a:t>Replaces the current running memory image with that of new program</a:t>
            </a:r>
          </a:p>
          <a:p>
            <a:pPr lvl="2"/>
            <a:r>
              <a:rPr lang="en-US" dirty="0" smtClean="0"/>
              <a:t>Set up stack with arguments and environment variables</a:t>
            </a:r>
          </a:p>
          <a:p>
            <a:pPr lvl="2"/>
            <a:r>
              <a:rPr lang="en-US" dirty="0" smtClean="0"/>
              <a:t>Start execution at the entry point </a:t>
            </a:r>
          </a:p>
          <a:p>
            <a:pPr lvl="1"/>
            <a:r>
              <a:rPr lang="en-US" dirty="0" smtClean="0"/>
              <a:t>Never returns on successful execution</a:t>
            </a:r>
          </a:p>
          <a:p>
            <a:pPr lvl="1"/>
            <a:r>
              <a:rPr lang="en-US" dirty="0" smtClean="0"/>
              <a:t>The newly loaded program’s perspective: as if the previous program has not been run before</a:t>
            </a:r>
          </a:p>
          <a:p>
            <a:pPr lvl="1"/>
            <a:r>
              <a:rPr lang="en-US" dirty="0" smtClean="0"/>
              <a:t>More useful variant is </a:t>
            </a:r>
            <a:r>
              <a:rPr lang="en-US" b="1" dirty="0" err="1" smtClean="0">
                <a:latin typeface="Consolas"/>
                <a:cs typeface="Consolas"/>
              </a:rPr>
              <a:t>int</a:t>
            </a:r>
            <a:r>
              <a:rPr lang="en-US" b="1" dirty="0" smtClean="0">
                <a:latin typeface="Consolas"/>
                <a:cs typeface="Consolas"/>
              </a:rPr>
              <a:t> </a:t>
            </a:r>
            <a:r>
              <a:rPr lang="en-US" b="1" dirty="0" err="1" smtClean="0">
                <a:latin typeface="Consolas"/>
                <a:cs typeface="Consolas"/>
              </a:rPr>
              <a:t>execve</a:t>
            </a:r>
            <a:r>
              <a:rPr lang="en-US" b="1" dirty="0" smtClean="0">
                <a:latin typeface="Consolas"/>
                <a:cs typeface="Consolas"/>
              </a:rPr>
              <a:t>()</a:t>
            </a:r>
          </a:p>
          <a:p>
            <a:pPr lvl="1"/>
            <a:r>
              <a:rPr lang="en-US" dirty="0" smtClean="0"/>
              <a:t>More information? </a:t>
            </a:r>
            <a:r>
              <a:rPr lang="en-US" dirty="0"/>
              <a:t>m</a:t>
            </a:r>
            <a:r>
              <a:rPr lang="en-US" dirty="0" smtClean="0"/>
              <a:t>an 3 exec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0427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/>
                <a:cs typeface="Consolas"/>
              </a:rPr>
              <a:t>void exit(</a:t>
            </a:r>
            <a:r>
              <a:rPr lang="en-US" dirty="0" err="1">
                <a:latin typeface="Consolas"/>
                <a:cs typeface="Consolas"/>
              </a:rPr>
              <a:t>int</a:t>
            </a:r>
            <a:r>
              <a:rPr lang="en-US" dirty="0">
                <a:latin typeface="Consolas"/>
                <a:cs typeface="Consolas"/>
              </a:rPr>
              <a:t> status</a:t>
            </a:r>
            <a:r>
              <a:rPr lang="en-US" dirty="0" smtClean="0">
                <a:latin typeface="Consolas"/>
                <a:cs typeface="Consolas"/>
              </a:rPr>
              <a:t>)</a:t>
            </a:r>
          </a:p>
          <a:p>
            <a:pPr lvl="1"/>
            <a:r>
              <a:rPr lang="en-US" dirty="0" smtClean="0"/>
              <a:t>Normally </a:t>
            </a:r>
            <a:r>
              <a:rPr lang="en-US" dirty="0"/>
              <a:t>return with status </a:t>
            </a:r>
            <a:r>
              <a:rPr lang="en-US" dirty="0" smtClean="0"/>
              <a:t>0 (other numbers indicate an error)</a:t>
            </a:r>
          </a:p>
          <a:p>
            <a:pPr lvl="1"/>
            <a:r>
              <a:rPr lang="en-US" dirty="0"/>
              <a:t>Terminates the current process</a:t>
            </a:r>
          </a:p>
          <a:p>
            <a:pPr lvl="1"/>
            <a:r>
              <a:rPr lang="en-US" dirty="0"/>
              <a:t>OS frees resources such as heap memory and open file descriptors and so on…</a:t>
            </a:r>
          </a:p>
          <a:p>
            <a:pPr lvl="1"/>
            <a:r>
              <a:rPr lang="en-US" dirty="0"/>
              <a:t>Reduce to a zombie state </a:t>
            </a:r>
          </a:p>
          <a:p>
            <a:pPr lvl="2"/>
            <a:r>
              <a:rPr lang="en-US" dirty="0"/>
              <a:t>Must wait to be reaped by the parent process (or the </a:t>
            </a:r>
            <a:r>
              <a:rPr lang="en-US" dirty="0" err="1"/>
              <a:t>init</a:t>
            </a:r>
            <a:r>
              <a:rPr lang="en-US" dirty="0"/>
              <a:t> process if the parent died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Signal is sent to the parent process notifying of death</a:t>
            </a:r>
            <a:endParaRPr lang="en-US" dirty="0"/>
          </a:p>
          <a:p>
            <a:pPr lvl="2"/>
            <a:r>
              <a:rPr lang="en-US" dirty="0"/>
              <a:t>Reaper can inspect the exit </a:t>
            </a:r>
            <a:r>
              <a:rPr lang="en-US" dirty="0" smtClean="0"/>
              <a:t>status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3428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nsolas"/>
                <a:cs typeface="Consolas"/>
              </a:rPr>
              <a:t>int</a:t>
            </a:r>
            <a:r>
              <a:rPr lang="en-US" dirty="0">
                <a:latin typeface="Consolas"/>
                <a:cs typeface="Consolas"/>
              </a:rPr>
              <a:t> wait(</a:t>
            </a:r>
            <a:r>
              <a:rPr lang="en-US" dirty="0" err="1">
                <a:latin typeface="Consolas"/>
                <a:cs typeface="Consolas"/>
              </a:rPr>
              <a:t>int</a:t>
            </a:r>
            <a:r>
              <a:rPr lang="en-US" dirty="0">
                <a:latin typeface="Consolas"/>
                <a:cs typeface="Consolas"/>
              </a:rPr>
              <a:t> *</a:t>
            </a:r>
            <a:r>
              <a:rPr lang="en-US" dirty="0" err="1">
                <a:latin typeface="Consolas"/>
                <a:cs typeface="Consolas"/>
              </a:rPr>
              <a:t>child_status</a:t>
            </a:r>
            <a:r>
              <a:rPr lang="en-US" dirty="0">
                <a:latin typeface="Consolas"/>
                <a:cs typeface="Consolas"/>
              </a:rPr>
              <a:t>)</a:t>
            </a:r>
          </a:p>
          <a:p>
            <a:pPr lvl="1"/>
            <a:r>
              <a:rPr lang="en-US" dirty="0"/>
              <a:t>suspends current process until one of its children terminates</a:t>
            </a:r>
          </a:p>
          <a:p>
            <a:pPr lvl="1"/>
            <a:r>
              <a:rPr lang="en-US" dirty="0"/>
              <a:t>return value is the </a:t>
            </a:r>
            <a:r>
              <a:rPr lang="en-US" dirty="0" err="1"/>
              <a:t>pid</a:t>
            </a:r>
            <a:r>
              <a:rPr lang="en-US" dirty="0"/>
              <a:t> of the child process that </a:t>
            </a:r>
            <a:r>
              <a:rPr lang="en-US" dirty="0" smtClean="0"/>
              <a:t>terminated</a:t>
            </a:r>
          </a:p>
          <a:p>
            <a:pPr lvl="2"/>
            <a:r>
              <a:rPr lang="en-US" dirty="0" smtClean="0"/>
              <a:t>When wait returns a </a:t>
            </a:r>
            <a:r>
              <a:rPr lang="en-US" dirty="0" err="1" smtClean="0"/>
              <a:t>pid</a:t>
            </a:r>
            <a:r>
              <a:rPr lang="en-US" dirty="0" smtClean="0"/>
              <a:t> &gt; 0, child process has been reaped</a:t>
            </a:r>
          </a:p>
          <a:p>
            <a:pPr lvl="2"/>
            <a:r>
              <a:rPr lang="en-US" dirty="0" smtClean="0"/>
              <a:t>All child resources freed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dirty="0" err="1"/>
              <a:t>child_status</a:t>
            </a:r>
            <a:r>
              <a:rPr lang="en-US" dirty="0"/>
              <a:t> != NULL, then the object it points to will be set to  a status indicating why the child process </a:t>
            </a:r>
            <a:r>
              <a:rPr lang="en-US" dirty="0" smtClean="0"/>
              <a:t>terminated</a:t>
            </a:r>
          </a:p>
          <a:p>
            <a:pPr lvl="1"/>
            <a:r>
              <a:rPr lang="en-US" dirty="0" smtClean="0"/>
              <a:t>More useful variant is </a:t>
            </a:r>
            <a:r>
              <a:rPr lang="en-US" dirty="0" err="1" smtClean="0">
                <a:latin typeface="Consolas"/>
                <a:cs typeface="Consolas"/>
              </a:rPr>
              <a:t>int</a:t>
            </a:r>
            <a:r>
              <a:rPr lang="en-US" dirty="0" smtClean="0">
                <a:latin typeface="Consolas"/>
                <a:cs typeface="Consolas"/>
              </a:rPr>
              <a:t> </a:t>
            </a:r>
            <a:r>
              <a:rPr lang="en-US" dirty="0" err="1" smtClean="0">
                <a:latin typeface="Consolas"/>
                <a:cs typeface="Consolas"/>
              </a:rPr>
              <a:t>waitpid</a:t>
            </a:r>
            <a:r>
              <a:rPr lang="en-US" dirty="0" smtClean="0">
                <a:latin typeface="Consolas"/>
                <a:cs typeface="Consolas"/>
              </a:rPr>
              <a:t>()</a:t>
            </a:r>
          </a:p>
          <a:p>
            <a:pPr lvl="1"/>
            <a:r>
              <a:rPr lang="en-US" dirty="0" smtClean="0"/>
              <a:t>For details: man 2 wait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8296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Examples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724400" y="1362075"/>
            <a:ext cx="3568700" cy="4972050"/>
          </a:xfrm>
        </p:spPr>
        <p:txBody>
          <a:bodyPr>
            <a:normAutofit/>
          </a:bodyPr>
          <a:lstStyle/>
          <a:p>
            <a:r>
              <a:rPr lang="en-US" dirty="0" smtClean="0"/>
              <a:t>What are the possible output  (assuming fork succeeds) ?</a:t>
            </a:r>
          </a:p>
          <a:p>
            <a:pPr lvl="1"/>
            <a:r>
              <a:rPr lang="en-US" dirty="0" smtClean="0">
                <a:latin typeface="Consolas"/>
                <a:cs typeface="Consolas"/>
              </a:rPr>
              <a:t>Child!</a:t>
            </a:r>
            <a:r>
              <a:rPr lang="en-US" dirty="0">
                <a:latin typeface="Consolas"/>
                <a:cs typeface="Consolas"/>
              </a:rPr>
              <a:t/>
            </a:r>
            <a:br>
              <a:rPr lang="en-US" dirty="0">
                <a:latin typeface="Consolas"/>
                <a:cs typeface="Consolas"/>
              </a:rPr>
            </a:br>
            <a:r>
              <a:rPr lang="en-US" dirty="0" smtClean="0">
                <a:latin typeface="Consolas"/>
                <a:cs typeface="Consolas"/>
              </a:rPr>
              <a:t>Parent!</a:t>
            </a:r>
          </a:p>
          <a:p>
            <a:pPr lvl="1"/>
            <a:r>
              <a:rPr lang="en-US" dirty="0" smtClean="0">
                <a:latin typeface="Consolas"/>
                <a:cs typeface="Consolas"/>
              </a:rPr>
              <a:t>Parent!</a:t>
            </a:r>
            <a:r>
              <a:rPr lang="en-US" dirty="0">
                <a:latin typeface="Consolas"/>
                <a:cs typeface="Consolas"/>
              </a:rPr>
              <a:t/>
            </a:r>
            <a:br>
              <a:rPr lang="en-US" dirty="0">
                <a:latin typeface="Consolas"/>
                <a:cs typeface="Consolas"/>
              </a:rPr>
            </a:br>
            <a:r>
              <a:rPr lang="en-US" dirty="0" smtClean="0">
                <a:latin typeface="Consolas"/>
                <a:cs typeface="Consolas"/>
              </a:rPr>
              <a:t>Child!</a:t>
            </a:r>
          </a:p>
          <a:p>
            <a:pPr lvl="1"/>
            <a:endParaRPr lang="en-US" dirty="0"/>
          </a:p>
          <a:p>
            <a:r>
              <a:rPr lang="en-US" dirty="0" smtClean="0"/>
              <a:t>How to get the child to always print first?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1929348"/>
            <a:ext cx="4572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onsolas"/>
                <a:cs typeface="Consolas"/>
              </a:rPr>
              <a:t> 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err="1" smtClean="0">
                <a:latin typeface="Consolas"/>
                <a:cs typeface="Consolas"/>
              </a:rPr>
              <a:t>pid_t</a:t>
            </a:r>
            <a:r>
              <a:rPr lang="en-US" sz="1600" dirty="0" smtClean="0">
                <a:latin typeface="Consolas"/>
                <a:cs typeface="Consolas"/>
              </a:rPr>
              <a:t> </a:t>
            </a:r>
            <a:r>
              <a:rPr lang="en-US" sz="1600" dirty="0" err="1" smtClean="0">
                <a:latin typeface="Consolas"/>
                <a:cs typeface="Consolas"/>
              </a:rPr>
              <a:t>child_pid</a:t>
            </a:r>
            <a:r>
              <a:rPr lang="en-US" sz="1600" dirty="0" smtClean="0">
                <a:latin typeface="Consolas"/>
                <a:cs typeface="Consolas"/>
              </a:rPr>
              <a:t> = fork();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/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if (</a:t>
            </a:r>
            <a:r>
              <a:rPr lang="en-US" sz="1600" dirty="0" err="1" smtClean="0">
                <a:latin typeface="Consolas"/>
                <a:cs typeface="Consolas"/>
              </a:rPr>
              <a:t>child_pid</a:t>
            </a:r>
            <a:r>
              <a:rPr lang="en-US" sz="1600" dirty="0" smtClean="0">
                <a:latin typeface="Consolas"/>
                <a:cs typeface="Consolas"/>
              </a:rPr>
              <a:t> == 0){</a:t>
            </a:r>
          </a:p>
          <a:p>
            <a:r>
              <a:rPr lang="en-US" sz="1600" dirty="0" smtClean="0">
                <a:latin typeface="Consolas"/>
                <a:cs typeface="Consolas"/>
              </a:rPr>
              <a:t>   /* only child comes here */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/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   </a:t>
            </a:r>
            <a:r>
              <a:rPr lang="en-US" sz="1600" dirty="0" err="1" smtClean="0">
                <a:latin typeface="Consolas"/>
                <a:cs typeface="Consolas"/>
              </a:rPr>
              <a:t>printf</a:t>
            </a:r>
            <a:r>
              <a:rPr lang="en-US" sz="1600" dirty="0" smtClean="0">
                <a:latin typeface="Consolas"/>
                <a:cs typeface="Consolas"/>
              </a:rPr>
              <a:t>(“Child!\n”);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/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   exit(0);</a:t>
            </a:r>
            <a:endParaRPr lang="en-US" sz="1600" dirty="0">
              <a:latin typeface="Consolas"/>
              <a:cs typeface="Consolas"/>
            </a:endParaRPr>
          </a:p>
          <a:p>
            <a:r>
              <a:rPr lang="en-US" sz="1600" dirty="0" smtClean="0">
                <a:latin typeface="Consolas"/>
                <a:cs typeface="Consolas"/>
              </a:rPr>
              <a:t>}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else{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    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/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   </a:t>
            </a:r>
            <a:r>
              <a:rPr lang="en-US" sz="1600" dirty="0" err="1" smtClean="0">
                <a:latin typeface="Consolas"/>
                <a:cs typeface="Consolas"/>
              </a:rPr>
              <a:t>printf</a:t>
            </a:r>
            <a:r>
              <a:rPr lang="en-US" sz="1600" dirty="0" smtClean="0">
                <a:latin typeface="Consolas"/>
                <a:cs typeface="Consolas"/>
              </a:rPr>
              <a:t>(“Parent!\n”);</a:t>
            </a:r>
          </a:p>
          <a:p>
            <a:r>
              <a:rPr lang="en-US" sz="1600" dirty="0" smtClean="0">
                <a:latin typeface="Consolas"/>
                <a:cs typeface="Consolas"/>
              </a:rPr>
              <a:t>}</a:t>
            </a:r>
            <a:endParaRPr lang="en-US" sz="16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683837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04800" y="1929348"/>
            <a:ext cx="4572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latin typeface="Consolas"/>
                <a:cs typeface="Consolas"/>
              </a:rPr>
              <a:t>int</a:t>
            </a:r>
            <a:r>
              <a:rPr lang="en-US" sz="1600" dirty="0" smtClean="0">
                <a:latin typeface="Consolas"/>
                <a:cs typeface="Consolas"/>
              </a:rPr>
              <a:t> status;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err="1" smtClean="0">
                <a:latin typeface="Consolas"/>
                <a:cs typeface="Consolas"/>
              </a:rPr>
              <a:t>pid_t</a:t>
            </a:r>
            <a:r>
              <a:rPr lang="en-US" sz="1600" dirty="0" smtClean="0">
                <a:latin typeface="Consolas"/>
                <a:cs typeface="Consolas"/>
              </a:rPr>
              <a:t> </a:t>
            </a:r>
            <a:r>
              <a:rPr lang="en-US" sz="1600" dirty="0" err="1" smtClean="0">
                <a:latin typeface="Consolas"/>
                <a:cs typeface="Consolas"/>
              </a:rPr>
              <a:t>child_pid</a:t>
            </a:r>
            <a:r>
              <a:rPr lang="en-US" sz="1600" dirty="0" smtClean="0">
                <a:latin typeface="Consolas"/>
                <a:cs typeface="Consolas"/>
              </a:rPr>
              <a:t> = fork();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/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if (</a:t>
            </a:r>
            <a:r>
              <a:rPr lang="en-US" sz="1600" dirty="0" err="1" smtClean="0">
                <a:latin typeface="Consolas"/>
                <a:cs typeface="Consolas"/>
              </a:rPr>
              <a:t>child_pid</a:t>
            </a:r>
            <a:r>
              <a:rPr lang="en-US" sz="1600" dirty="0" smtClean="0">
                <a:latin typeface="Consolas"/>
                <a:cs typeface="Consolas"/>
              </a:rPr>
              <a:t> == 0){</a:t>
            </a:r>
          </a:p>
          <a:p>
            <a:r>
              <a:rPr lang="en-US" sz="1600" dirty="0" smtClean="0">
                <a:latin typeface="Consolas"/>
                <a:cs typeface="Consolas"/>
              </a:rPr>
              <a:t>   /* only child comes here */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/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   </a:t>
            </a:r>
            <a:r>
              <a:rPr lang="en-US" sz="1600" dirty="0" err="1" smtClean="0">
                <a:latin typeface="Consolas"/>
                <a:cs typeface="Consolas"/>
              </a:rPr>
              <a:t>printf</a:t>
            </a:r>
            <a:r>
              <a:rPr lang="en-US" sz="1600" dirty="0" smtClean="0">
                <a:latin typeface="Consolas"/>
                <a:cs typeface="Consolas"/>
              </a:rPr>
              <a:t>(“Child!\n”);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/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   exit(0);</a:t>
            </a:r>
            <a:endParaRPr lang="en-US" sz="1600" dirty="0">
              <a:latin typeface="Consolas"/>
              <a:cs typeface="Consolas"/>
            </a:endParaRPr>
          </a:p>
          <a:p>
            <a:r>
              <a:rPr lang="en-US" sz="1600" dirty="0" smtClean="0">
                <a:latin typeface="Consolas"/>
                <a:cs typeface="Consolas"/>
              </a:rPr>
              <a:t>}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else{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   </a:t>
            </a:r>
            <a:r>
              <a:rPr lang="en-US" sz="1600" dirty="0" err="1" smtClean="0">
                <a:latin typeface="Consolas"/>
                <a:cs typeface="Consolas"/>
              </a:rPr>
              <a:t>waitpid</a:t>
            </a:r>
            <a:r>
              <a:rPr lang="en-US" sz="1600" dirty="0" smtClean="0">
                <a:latin typeface="Consolas"/>
                <a:cs typeface="Consolas"/>
              </a:rPr>
              <a:t>(</a:t>
            </a:r>
            <a:r>
              <a:rPr lang="en-US" sz="1600" dirty="0" err="1" smtClean="0">
                <a:latin typeface="Consolas"/>
                <a:cs typeface="Consolas"/>
              </a:rPr>
              <a:t>child_pid</a:t>
            </a:r>
            <a:r>
              <a:rPr lang="en-US" sz="1600" dirty="0" smtClean="0">
                <a:latin typeface="Consolas"/>
                <a:cs typeface="Consolas"/>
              </a:rPr>
              <a:t>, &amp;status, 0);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/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   </a:t>
            </a:r>
            <a:r>
              <a:rPr lang="en-US" sz="1600" dirty="0" err="1" smtClean="0">
                <a:latin typeface="Consolas"/>
                <a:cs typeface="Consolas"/>
              </a:rPr>
              <a:t>printf</a:t>
            </a:r>
            <a:r>
              <a:rPr lang="en-US" sz="1600" dirty="0" smtClean="0">
                <a:latin typeface="Consolas"/>
                <a:cs typeface="Consolas"/>
              </a:rPr>
              <a:t>(“Parent!\n”);</a:t>
            </a:r>
          </a:p>
          <a:p>
            <a:r>
              <a:rPr lang="en-US" sz="1600" dirty="0" smtClean="0">
                <a:latin typeface="Consolas"/>
                <a:cs typeface="Consolas"/>
              </a:rPr>
              <a:t>}</a:t>
            </a:r>
            <a:endParaRPr lang="en-US" sz="1600" dirty="0">
              <a:latin typeface="Consolas"/>
              <a:cs typeface="Consolas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Examples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724400" y="1362075"/>
            <a:ext cx="3568700" cy="4972050"/>
          </a:xfrm>
        </p:spPr>
        <p:txBody>
          <a:bodyPr>
            <a:normAutofit/>
          </a:bodyPr>
          <a:lstStyle/>
          <a:p>
            <a:r>
              <a:rPr lang="en-US" dirty="0" smtClean="0"/>
              <a:t>Waits </a:t>
            </a:r>
            <a:r>
              <a:rPr lang="en-US" dirty="0" err="1" smtClean="0"/>
              <a:t>til</a:t>
            </a:r>
            <a:r>
              <a:rPr lang="en-US" dirty="0" smtClean="0"/>
              <a:t> the child has terminated.</a:t>
            </a:r>
            <a:br>
              <a:rPr lang="en-US" dirty="0" smtClean="0"/>
            </a:br>
            <a:r>
              <a:rPr lang="en-US" dirty="0" smtClean="0"/>
              <a:t>    Parent can inspect exit status of  </a:t>
            </a:r>
            <a:br>
              <a:rPr lang="en-US" dirty="0" smtClean="0"/>
            </a:br>
            <a:r>
              <a:rPr lang="en-US" dirty="0" smtClean="0"/>
              <a:t>    child using ‘status’</a:t>
            </a:r>
          </a:p>
          <a:p>
            <a:pPr lvl="1"/>
            <a:r>
              <a:rPr lang="en-US" dirty="0" smtClean="0"/>
              <a:t>WEXITSTATUS(status)</a:t>
            </a:r>
          </a:p>
          <a:p>
            <a:endParaRPr lang="en-US" dirty="0" smtClean="0"/>
          </a:p>
          <a:p>
            <a:r>
              <a:rPr lang="en-US" dirty="0" smtClean="0"/>
              <a:t>Output always: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latin typeface="Consolas"/>
                <a:cs typeface="Consolas"/>
              </a:rPr>
              <a:t>Child!</a:t>
            </a:r>
            <a:r>
              <a:rPr lang="en-US" dirty="0">
                <a:latin typeface="Consolas"/>
                <a:cs typeface="Consolas"/>
              </a:rPr>
              <a:t/>
            </a:r>
            <a:br>
              <a:rPr lang="en-US" dirty="0">
                <a:latin typeface="Consolas"/>
                <a:cs typeface="Consolas"/>
              </a:rPr>
            </a:br>
            <a:r>
              <a:rPr lang="en-US" dirty="0" smtClean="0">
                <a:latin typeface="Consolas"/>
                <a:cs typeface="Consolas"/>
              </a:rPr>
              <a:t>Parent!</a:t>
            </a:r>
            <a:endParaRPr lang="en-US" dirty="0">
              <a:latin typeface="Consolas"/>
              <a:cs typeface="Consolas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3733800" y="2819400"/>
            <a:ext cx="609600" cy="17949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09600" y="4614333"/>
            <a:ext cx="3962400" cy="381000"/>
          </a:xfrm>
          <a:prstGeom prst="rect">
            <a:avLst/>
          </a:prstGeom>
          <a:noFill/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258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Examples</a:t>
            </a:r>
          </a:p>
        </p:txBody>
      </p:sp>
      <p:sp>
        <p:nvSpPr>
          <p:cNvPr id="5" name="Content Placeholder 6"/>
          <p:cNvSpPr>
            <a:spLocks noGrp="1"/>
          </p:cNvSpPr>
          <p:nvPr>
            <p:ph idx="1"/>
          </p:nvPr>
        </p:nvSpPr>
        <p:spPr>
          <a:xfrm>
            <a:off x="4724400" y="1447800"/>
            <a:ext cx="4191000" cy="4972050"/>
          </a:xfrm>
        </p:spPr>
        <p:txBody>
          <a:bodyPr>
            <a:normAutofit/>
          </a:bodyPr>
          <a:lstStyle/>
          <a:p>
            <a:r>
              <a:rPr lang="en-US" dirty="0" smtClean="0"/>
              <a:t>An example of something useful.</a:t>
            </a:r>
          </a:p>
          <a:p>
            <a:r>
              <a:rPr lang="en-US" dirty="0" smtClean="0"/>
              <a:t>Why is the first </a:t>
            </a:r>
            <a:r>
              <a:rPr lang="en-US" dirty="0" err="1" smtClean="0"/>
              <a:t>arg</a:t>
            </a:r>
            <a:r>
              <a:rPr lang="en-US" dirty="0" smtClean="0"/>
              <a:t> “/bin/</a:t>
            </a:r>
            <a:r>
              <a:rPr lang="en-US" dirty="0" err="1" smtClean="0"/>
              <a:t>ls</a:t>
            </a:r>
            <a:r>
              <a:rPr lang="en-US" dirty="0" smtClean="0"/>
              <a:t>”?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Will child reach here?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676400"/>
            <a:ext cx="48006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latin typeface="Consolas"/>
                <a:cs typeface="Consolas"/>
              </a:rPr>
              <a:t>int</a:t>
            </a:r>
            <a:r>
              <a:rPr lang="en-US" sz="1600" dirty="0" smtClean="0">
                <a:latin typeface="Consolas"/>
                <a:cs typeface="Consolas"/>
              </a:rPr>
              <a:t> status;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err="1" smtClean="0">
                <a:latin typeface="Consolas"/>
                <a:cs typeface="Consolas"/>
              </a:rPr>
              <a:t>pid_t</a:t>
            </a:r>
            <a:r>
              <a:rPr lang="en-US" sz="1600" dirty="0" smtClean="0">
                <a:latin typeface="Consolas"/>
                <a:cs typeface="Consolas"/>
              </a:rPr>
              <a:t> </a:t>
            </a:r>
            <a:r>
              <a:rPr lang="en-US" sz="1600" dirty="0" err="1" smtClean="0">
                <a:latin typeface="Consolas"/>
                <a:cs typeface="Consolas"/>
              </a:rPr>
              <a:t>child_pid</a:t>
            </a:r>
            <a:r>
              <a:rPr lang="en-US" sz="1600" dirty="0" smtClean="0">
                <a:latin typeface="Consolas"/>
                <a:cs typeface="Consolas"/>
              </a:rPr>
              <a:t> = fork();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char* </a:t>
            </a:r>
            <a:r>
              <a:rPr lang="en-US" sz="1600" dirty="0" err="1" smtClean="0">
                <a:latin typeface="Consolas"/>
                <a:cs typeface="Consolas"/>
              </a:rPr>
              <a:t>argv</a:t>
            </a:r>
            <a:r>
              <a:rPr lang="en-US" sz="1600" dirty="0" smtClean="0">
                <a:latin typeface="Consolas"/>
                <a:cs typeface="Consolas"/>
              </a:rPr>
              <a:t>[] = {“/bin/</a:t>
            </a:r>
            <a:r>
              <a:rPr lang="en-US" sz="1600" dirty="0" err="1" smtClean="0">
                <a:latin typeface="Consolas"/>
                <a:cs typeface="Consolas"/>
              </a:rPr>
              <a:t>ls</a:t>
            </a:r>
            <a:r>
              <a:rPr lang="en-US" sz="1600" dirty="0" smtClean="0">
                <a:latin typeface="Consolas"/>
                <a:cs typeface="Consolas"/>
              </a:rPr>
              <a:t>”, “-l”, NULL};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char* </a:t>
            </a:r>
            <a:r>
              <a:rPr lang="en-US" sz="1600" dirty="0" err="1" smtClean="0">
                <a:latin typeface="Consolas"/>
                <a:cs typeface="Consolas"/>
              </a:rPr>
              <a:t>env</a:t>
            </a:r>
            <a:r>
              <a:rPr lang="en-US" sz="1600" dirty="0" smtClean="0">
                <a:latin typeface="Consolas"/>
                <a:cs typeface="Consolas"/>
              </a:rPr>
              <a:t>[] = {…, NULL};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/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if (</a:t>
            </a:r>
            <a:r>
              <a:rPr lang="en-US" sz="1600" dirty="0" err="1" smtClean="0">
                <a:latin typeface="Consolas"/>
                <a:cs typeface="Consolas"/>
              </a:rPr>
              <a:t>child_pid</a:t>
            </a:r>
            <a:r>
              <a:rPr lang="en-US" sz="1600" dirty="0" smtClean="0">
                <a:latin typeface="Consolas"/>
                <a:cs typeface="Consolas"/>
              </a:rPr>
              <a:t> == 0){</a:t>
            </a:r>
          </a:p>
          <a:p>
            <a:r>
              <a:rPr lang="en-US" sz="1600" dirty="0" smtClean="0">
                <a:latin typeface="Consolas"/>
                <a:cs typeface="Consolas"/>
              </a:rPr>
              <a:t>   /* only child comes here */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/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   </a:t>
            </a:r>
            <a:r>
              <a:rPr lang="en-US" sz="1600" dirty="0" err="1" smtClean="0">
                <a:latin typeface="Consolas"/>
                <a:cs typeface="Consolas"/>
              </a:rPr>
              <a:t>execve</a:t>
            </a:r>
            <a:r>
              <a:rPr lang="en-US" sz="1600" dirty="0" smtClean="0">
                <a:latin typeface="Consolas"/>
                <a:cs typeface="Consolas"/>
              </a:rPr>
              <a:t>(“/bin/</a:t>
            </a:r>
            <a:r>
              <a:rPr lang="en-US" sz="1600" dirty="0" err="1" smtClean="0">
                <a:latin typeface="Consolas"/>
                <a:cs typeface="Consolas"/>
              </a:rPr>
              <a:t>ls</a:t>
            </a:r>
            <a:r>
              <a:rPr lang="en-US" sz="1600" dirty="0" smtClean="0">
                <a:latin typeface="Consolas"/>
                <a:cs typeface="Consolas"/>
              </a:rPr>
              <a:t>”, </a:t>
            </a:r>
            <a:r>
              <a:rPr lang="en-US" sz="1600" dirty="0" err="1" smtClean="0">
                <a:latin typeface="Consolas"/>
                <a:cs typeface="Consolas"/>
              </a:rPr>
              <a:t>argv</a:t>
            </a:r>
            <a:r>
              <a:rPr lang="en-US" sz="1600" dirty="0" smtClean="0">
                <a:latin typeface="Consolas"/>
                <a:cs typeface="Consolas"/>
              </a:rPr>
              <a:t>, </a:t>
            </a:r>
            <a:r>
              <a:rPr lang="en-US" sz="1600" dirty="0" err="1" smtClean="0">
                <a:latin typeface="Consolas"/>
                <a:cs typeface="Consolas"/>
              </a:rPr>
              <a:t>env</a:t>
            </a:r>
            <a:r>
              <a:rPr lang="en-US" sz="1600" dirty="0" smtClean="0">
                <a:latin typeface="Consolas"/>
                <a:cs typeface="Consolas"/>
              </a:rPr>
              <a:t>);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/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   /* will child reach here? */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}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else{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   </a:t>
            </a:r>
            <a:r>
              <a:rPr lang="en-US" sz="1600" dirty="0" err="1" smtClean="0">
                <a:latin typeface="Consolas"/>
                <a:cs typeface="Consolas"/>
              </a:rPr>
              <a:t>waitpid</a:t>
            </a:r>
            <a:r>
              <a:rPr lang="en-US" sz="1600" dirty="0" smtClean="0">
                <a:latin typeface="Consolas"/>
                <a:cs typeface="Consolas"/>
              </a:rPr>
              <a:t>(</a:t>
            </a:r>
            <a:r>
              <a:rPr lang="en-US" sz="1600" dirty="0" err="1" smtClean="0">
                <a:latin typeface="Consolas"/>
                <a:cs typeface="Consolas"/>
              </a:rPr>
              <a:t>child_pid</a:t>
            </a:r>
            <a:r>
              <a:rPr lang="en-US" sz="1600" dirty="0" smtClean="0">
                <a:latin typeface="Consolas"/>
                <a:cs typeface="Consolas"/>
              </a:rPr>
              <a:t>, &amp;status, 0);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/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   … parent continue execution…</a:t>
            </a:r>
            <a:br>
              <a:rPr lang="en-US" sz="1600" dirty="0" smtClean="0">
                <a:latin typeface="Consolas"/>
                <a:cs typeface="Consolas"/>
              </a:rPr>
            </a:br>
            <a:r>
              <a:rPr lang="en-US" sz="1600" dirty="0" smtClean="0">
                <a:latin typeface="Consolas"/>
                <a:cs typeface="Consolas"/>
              </a:rPr>
              <a:t>}</a:t>
            </a:r>
            <a:endParaRPr lang="en-US" sz="1600" dirty="0">
              <a:latin typeface="Consolas"/>
              <a:cs typeface="Consolas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962400" y="3505200"/>
            <a:ext cx="762000" cy="7620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4419600" y="2438400"/>
            <a:ext cx="304800" cy="762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4233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8299"/>
            <a:ext cx="6757988" cy="781050"/>
          </a:xfrm>
        </p:spPr>
        <p:txBody>
          <a:bodyPr/>
          <a:lstStyle/>
          <a:p>
            <a:r>
              <a:rPr lang="en-US" dirty="0"/>
              <a:t>Simple Shell </a:t>
            </a:r>
            <a:r>
              <a:rPr lang="en-US" dirty="0">
                <a:latin typeface="Courier New" pitchFamily="49" charset="0"/>
              </a:rPr>
              <a:t>eval</a:t>
            </a:r>
            <a:r>
              <a:rPr lang="en-US" dirty="0"/>
              <a:t> Function</a:t>
            </a:r>
          </a:p>
        </p:txBody>
      </p:sp>
      <p:sp>
        <p:nvSpPr>
          <p:cNvPr id="544772" name="Text Box 4"/>
          <p:cNvSpPr txBox="1">
            <a:spLocks noChangeArrowheads="1"/>
          </p:cNvSpPr>
          <p:nvPr/>
        </p:nvSpPr>
        <p:spPr bwMode="auto">
          <a:xfrm>
            <a:off x="279400" y="914400"/>
            <a:ext cx="8340725" cy="58674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 type="none" w="sm" len="sm"/>
          </a:ln>
          <a:effectLst/>
        </p:spPr>
        <p:txBody>
          <a:bodyPr wrap="square" lIns="45720" rIns="45720">
            <a:normAutofit fontScale="92500" lnSpcReduction="20000"/>
          </a:bodyPr>
          <a:lstStyle/>
          <a:p>
            <a:r>
              <a:rPr lang="en-US" sz="1600" dirty="0" smtClean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4A00FF"/>
                </a:solidFill>
                <a:latin typeface="Courier New"/>
                <a:cs typeface="Courier New"/>
              </a:rPr>
              <a:t>eval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cmdline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[MAXARGS];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Argument list </a:t>
            </a:r>
            <a:r>
              <a:rPr lang="en-US" sz="1600" dirty="0" err="1">
                <a:solidFill>
                  <a:srgbClr val="CB2418"/>
                </a:solidFill>
                <a:latin typeface="Courier New"/>
                <a:cs typeface="Courier New"/>
              </a:rPr>
              <a:t>execve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()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buf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[MAXLINE];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Holds modified command line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bg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          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Should the job run in </a:t>
            </a:r>
            <a:r>
              <a:rPr lang="en-US" sz="1600" dirty="0" err="1">
                <a:solidFill>
                  <a:srgbClr val="CB2418"/>
                </a:solidFill>
                <a:latin typeface="Courier New"/>
                <a:cs typeface="Courier New"/>
              </a:rPr>
              <a:t>bg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 or </a:t>
            </a:r>
            <a:r>
              <a:rPr lang="en-US" sz="1600" dirty="0" err="1">
                <a:solidFill>
                  <a:srgbClr val="CB2418"/>
                </a:solidFill>
                <a:latin typeface="Courier New"/>
                <a:cs typeface="Courier New"/>
              </a:rPr>
              <a:t>fg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?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Courier New"/>
                <a:cs typeface="Courier New"/>
              </a:rPr>
              <a:t>pid_t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i-FI" sz="1600" dirty="0" err="1">
                <a:solidFill>
                  <a:srgbClr val="C1651C"/>
                </a:solidFill>
                <a:latin typeface="Courier New"/>
                <a:cs typeface="Courier New"/>
              </a:rPr>
              <a:t>pid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;           </a:t>
            </a:r>
            <a:r>
              <a:rPr lang="fi-FI" sz="1600" dirty="0">
                <a:solidFill>
                  <a:srgbClr val="CB2418"/>
                </a:solidFill>
                <a:latin typeface="Courier New"/>
                <a:cs typeface="Courier New"/>
              </a:rPr>
              <a:t>/* </a:t>
            </a:r>
            <a:r>
              <a:rPr lang="fi-FI" sz="1600" dirty="0" err="1">
                <a:solidFill>
                  <a:srgbClr val="CB2418"/>
                </a:solidFill>
                <a:latin typeface="Courier New"/>
                <a:cs typeface="Courier New"/>
              </a:rPr>
              <a:t>Process</a:t>
            </a:r>
            <a:r>
              <a:rPr lang="fi-FI" sz="1600" dirty="0">
                <a:solidFill>
                  <a:srgbClr val="CB2418"/>
                </a:solidFill>
                <a:latin typeface="Courier New"/>
                <a:cs typeface="Courier New"/>
              </a:rPr>
              <a:t> id */</a:t>
            </a:r>
            <a:endParaRPr lang="fi-FI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endParaRPr lang="fi-FI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strcpy(buf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cmdline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bg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parseline(buf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argv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[0] == </a:t>
            </a:r>
            <a:r>
              <a:rPr lang="en-US" sz="1600" dirty="0">
                <a:solidFill>
                  <a:srgbClr val="2C9290"/>
                </a:solidFill>
                <a:latin typeface="Courier New"/>
                <a:cs typeface="Courier New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Ignore empty lines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(!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builtin_command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Fork()) == 0) {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Child runs user job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execve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[0],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environ) &lt; 0)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"%s: Command not found.\n"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[0]);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    exit(0);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}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Parent waits for foreground job to terminate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de-DE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de-DE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     </a:t>
            </a:r>
            <a:r>
              <a:rPr lang="de-DE" sz="1600" dirty="0" smtClean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de-DE" sz="1600" dirty="0" smtClean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urier New"/>
                <a:cs typeface="Courier New"/>
              </a:rPr>
              <a:t>(!bg) {</a:t>
            </a:r>
          </a:p>
          <a:p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fr-FR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r-FR" sz="1600" dirty="0" err="1">
                <a:solidFill>
                  <a:srgbClr val="C1651C"/>
                </a:solidFill>
                <a:latin typeface="Courier New"/>
                <a:cs typeface="Courier New"/>
              </a:rPr>
              <a:t>status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waitpid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&amp;status, 0) &lt; 0)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unix_error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waitfg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: </a:t>
            </a:r>
            <a:r>
              <a:rPr lang="en-US" sz="1600" dirty="0" err="1">
                <a:solidFill>
                  <a:srgbClr val="9D206F"/>
                </a:solidFill>
                <a:latin typeface="Courier New"/>
                <a:cs typeface="Courier New"/>
              </a:rPr>
              <a:t>waitpid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 error"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}</a:t>
            </a:r>
          </a:p>
          <a:p>
            <a:r>
              <a:rPr lang="hu-HU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hu-HU" sz="1600" dirty="0">
                <a:solidFill>
                  <a:srgbClr val="C200FF"/>
                </a:solidFill>
                <a:latin typeface="Courier New"/>
                <a:cs typeface="Courier New"/>
              </a:rPr>
              <a:t>else</a:t>
            </a:r>
            <a:endParaRPr lang="hu-HU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printf(</a:t>
            </a:r>
            <a:r>
              <a:rPr lang="fi-FI" sz="1600" dirty="0" err="1">
                <a:solidFill>
                  <a:srgbClr val="9D206F"/>
                </a:solidFill>
                <a:latin typeface="Courier New"/>
                <a:cs typeface="Courier New"/>
              </a:rPr>
              <a:t>"%d</a:t>
            </a:r>
            <a:r>
              <a:rPr lang="fi-FI" sz="1600" dirty="0">
                <a:solidFill>
                  <a:srgbClr val="9D206F"/>
                </a:solidFill>
                <a:latin typeface="Courier New"/>
                <a:cs typeface="Courier New"/>
              </a:rPr>
              <a:t> %s"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cmdline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is-IS" sz="1600" dirty="0">
                <a:solidFill>
                  <a:srgbClr val="C200FF"/>
                </a:solidFill>
                <a:latin typeface="Courier New"/>
                <a:cs typeface="Courier New"/>
              </a:rPr>
              <a:t>return</a:t>
            </a:r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is-I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124565" y="6474937"/>
            <a:ext cx="1482860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shellex.c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127740" y="6477000"/>
            <a:ext cx="1482860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shellex.c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337099" y="5088078"/>
            <a:ext cx="2615951" cy="1384995"/>
          </a:xfrm>
          <a:prstGeom prst="rect">
            <a:avLst/>
          </a:prstGeom>
          <a:solidFill>
            <a:srgbClr val="DEDFF5"/>
          </a:solidFill>
        </p:spPr>
        <p:txBody>
          <a:bodyPr wrap="square" rtlCol="0">
            <a:spAutoFit/>
          </a:bodyPr>
          <a:lstStyle/>
          <a:p>
            <a:r>
              <a:rPr lang="en-US" sz="2800" b="0" dirty="0" smtClean="0">
                <a:latin typeface="Calibri" pitchFamily="34" charset="0"/>
              </a:rPr>
              <a:t>Oops.  </a:t>
            </a:r>
            <a:r>
              <a:rPr lang="en-US" sz="2800" b="0" i="1" dirty="0" smtClean="0">
                <a:latin typeface="Calibri" pitchFamily="34" charset="0"/>
              </a:rPr>
              <a:t>There is a problem with this code.</a:t>
            </a:r>
          </a:p>
        </p:txBody>
      </p:sp>
    </p:spTree>
    <p:extLst>
      <p:ext uri="{BB962C8B-B14F-4D97-AF65-F5344CB8AC3E}">
        <p14:creationId xmlns:p14="http://schemas.microsoft.com/office/powerpoint/2010/main" val="263390555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25450" y="360362"/>
            <a:ext cx="8718550" cy="782638"/>
          </a:xfrm>
          <a:ln/>
          <a:effectLst/>
        </p:spPr>
        <p:txBody>
          <a:bodyPr/>
          <a:lstStyle/>
          <a:p>
            <a:pPr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Problem with Simple Shell Example</a:t>
            </a:r>
          </a:p>
        </p:txBody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5216" y="1220788"/>
            <a:ext cx="8548687" cy="3503612"/>
          </a:xfrm>
          <a:ln/>
        </p:spPr>
        <p:txBody>
          <a:bodyPr lIns="90360" tIns="44280" rIns="90360" bIns="44280"/>
          <a:lstStyle/>
          <a:p>
            <a:pPr marL="284163" indent="-319088" defTabSz="457200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 smtClean="0"/>
              <a:t>Our example shell correctly waits for and reaps foreground jobs</a:t>
            </a:r>
          </a:p>
          <a:p>
            <a:pPr marL="284163" indent="-319088" defTabSz="457200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 smtClean="0"/>
          </a:p>
          <a:p>
            <a:pPr marL="284163" indent="-319088" defTabSz="457200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 smtClean="0"/>
              <a:t>But what about background jobs?</a:t>
            </a:r>
          </a:p>
          <a:p>
            <a:pPr marL="631825" lvl="1" indent="-266700" defTabSz="457200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Will become zombies when they terminate</a:t>
            </a:r>
          </a:p>
          <a:p>
            <a:pPr marL="631825" lvl="1" indent="-266700" defTabSz="457200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Will never be reaped because shell (typically) will not terminate</a:t>
            </a:r>
          </a:p>
          <a:p>
            <a:pPr marL="631825" lvl="1" indent="-266700" defTabSz="457200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Will create a memory leak that could</a:t>
            </a:r>
            <a:r>
              <a:rPr lang="en-GB" dirty="0" smtClean="0"/>
              <a:t> run </a:t>
            </a:r>
            <a:r>
              <a:rPr lang="en-GB" dirty="0"/>
              <a:t>the kernel out of </a:t>
            </a:r>
            <a:r>
              <a:rPr lang="en-GB" dirty="0" smtClean="0"/>
              <a:t>memory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7234346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 bwMode="auto">
          <a:xfrm>
            <a:off x="6096000" y="3156387"/>
            <a:ext cx="2057400" cy="16442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 bwMode="auto">
          <a:xfrm>
            <a:off x="3810000" y="3147796"/>
            <a:ext cx="2057400" cy="16442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 bwMode="auto">
          <a:xfrm>
            <a:off x="1084497" y="3147796"/>
            <a:ext cx="2514600" cy="30993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0614" y="381000"/>
            <a:ext cx="7592093" cy="762000"/>
          </a:xfrm>
        </p:spPr>
        <p:txBody>
          <a:bodyPr/>
          <a:lstStyle/>
          <a:p>
            <a:r>
              <a:rPr lang="en-US" dirty="0" smtClean="0"/>
              <a:t>Sending Signals: Process </a:t>
            </a:r>
            <a:r>
              <a:rPr lang="en-US" dirty="0"/>
              <a:t>Groups</a:t>
            </a:r>
          </a:p>
        </p:txBody>
      </p:sp>
      <p:sp>
        <p:nvSpPr>
          <p:cNvPr id="551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0999" y="1219200"/>
            <a:ext cx="7720013" cy="609600"/>
          </a:xfrm>
        </p:spPr>
        <p:txBody>
          <a:bodyPr/>
          <a:lstStyle/>
          <a:p>
            <a:r>
              <a:rPr lang="en-US"/>
              <a:t>Every process belongs to exactly one process group</a:t>
            </a:r>
          </a:p>
        </p:txBody>
      </p:sp>
      <p:sp>
        <p:nvSpPr>
          <p:cNvPr id="551940" name="Oval 4"/>
          <p:cNvSpPr>
            <a:spLocks noChangeAspect="1" noChangeArrowheads="1"/>
          </p:cNvSpPr>
          <p:nvPr/>
        </p:nvSpPr>
        <p:spPr bwMode="auto">
          <a:xfrm>
            <a:off x="1898650" y="3228975"/>
            <a:ext cx="982663" cy="88582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Fore-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ground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job</a:t>
            </a:r>
          </a:p>
        </p:txBody>
      </p:sp>
      <p:sp>
        <p:nvSpPr>
          <p:cNvPr id="551941" name="Oval 5"/>
          <p:cNvSpPr>
            <a:spLocks noChangeAspect="1" noChangeArrowheads="1"/>
          </p:cNvSpPr>
          <p:nvPr/>
        </p:nvSpPr>
        <p:spPr bwMode="auto">
          <a:xfrm>
            <a:off x="4094163" y="3228975"/>
            <a:ext cx="982662" cy="8636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Back-</a:t>
            </a:r>
          </a:p>
          <a:p>
            <a:pPr algn="ctr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ground</a:t>
            </a:r>
          </a:p>
          <a:p>
            <a:pPr algn="ctr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job #1</a:t>
            </a:r>
          </a:p>
        </p:txBody>
      </p:sp>
      <p:sp>
        <p:nvSpPr>
          <p:cNvPr id="551942" name="Oval 6"/>
          <p:cNvSpPr>
            <a:spLocks noChangeAspect="1" noChangeArrowheads="1"/>
          </p:cNvSpPr>
          <p:nvPr/>
        </p:nvSpPr>
        <p:spPr bwMode="auto">
          <a:xfrm>
            <a:off x="6248400" y="3228975"/>
            <a:ext cx="984250" cy="88582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Back-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ground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job #2</a:t>
            </a:r>
          </a:p>
        </p:txBody>
      </p:sp>
      <p:sp>
        <p:nvSpPr>
          <p:cNvPr id="551943" name="Oval 7"/>
          <p:cNvSpPr>
            <a:spLocks noChangeAspect="1" noChangeArrowheads="1"/>
          </p:cNvSpPr>
          <p:nvPr/>
        </p:nvSpPr>
        <p:spPr bwMode="auto">
          <a:xfrm>
            <a:off x="4098925" y="1905000"/>
            <a:ext cx="984250" cy="77628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latin typeface="Calibri" pitchFamily="34" charset="0"/>
              </a:rPr>
              <a:t>Shell</a:t>
            </a:r>
          </a:p>
        </p:txBody>
      </p:sp>
      <p:sp>
        <p:nvSpPr>
          <p:cNvPr id="551944" name="Oval 8"/>
          <p:cNvSpPr>
            <a:spLocks noChangeAspect="1" noChangeArrowheads="1"/>
          </p:cNvSpPr>
          <p:nvPr/>
        </p:nvSpPr>
        <p:spPr bwMode="auto">
          <a:xfrm>
            <a:off x="1339850" y="4414838"/>
            <a:ext cx="984250" cy="77628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Child</a:t>
            </a:r>
          </a:p>
        </p:txBody>
      </p:sp>
      <p:sp>
        <p:nvSpPr>
          <p:cNvPr id="551945" name="Oval 9"/>
          <p:cNvSpPr>
            <a:spLocks noChangeAspect="1" noChangeArrowheads="1"/>
          </p:cNvSpPr>
          <p:nvPr/>
        </p:nvSpPr>
        <p:spPr bwMode="auto">
          <a:xfrm>
            <a:off x="2465388" y="4414838"/>
            <a:ext cx="984250" cy="77628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Child</a:t>
            </a:r>
          </a:p>
        </p:txBody>
      </p:sp>
      <p:sp>
        <p:nvSpPr>
          <p:cNvPr id="551946" name="Line 10"/>
          <p:cNvSpPr>
            <a:spLocks noChangeAspect="1" noChangeShapeType="1"/>
          </p:cNvSpPr>
          <p:nvPr/>
        </p:nvSpPr>
        <p:spPr bwMode="auto">
          <a:xfrm flipH="1">
            <a:off x="1906588" y="4051300"/>
            <a:ext cx="182562" cy="3698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51947" name="Line 11"/>
          <p:cNvSpPr>
            <a:spLocks noChangeAspect="1" noChangeShapeType="1"/>
          </p:cNvSpPr>
          <p:nvPr/>
        </p:nvSpPr>
        <p:spPr bwMode="auto">
          <a:xfrm>
            <a:off x="2686050" y="4048125"/>
            <a:ext cx="163513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51948" name="Line 12"/>
          <p:cNvSpPr>
            <a:spLocks noChangeAspect="1" noChangeShapeType="1"/>
          </p:cNvSpPr>
          <p:nvPr/>
        </p:nvSpPr>
        <p:spPr bwMode="auto">
          <a:xfrm>
            <a:off x="4594225" y="2667000"/>
            <a:ext cx="0" cy="557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51949" name="Line 13"/>
          <p:cNvSpPr>
            <a:spLocks noChangeAspect="1" noChangeShapeType="1"/>
          </p:cNvSpPr>
          <p:nvPr/>
        </p:nvSpPr>
        <p:spPr bwMode="auto">
          <a:xfrm flipH="1">
            <a:off x="2768600" y="2574925"/>
            <a:ext cx="1481138" cy="801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51950" name="Line 14"/>
          <p:cNvSpPr>
            <a:spLocks noChangeAspect="1" noChangeShapeType="1"/>
          </p:cNvSpPr>
          <p:nvPr/>
        </p:nvSpPr>
        <p:spPr bwMode="auto">
          <a:xfrm>
            <a:off x="4968875" y="2535238"/>
            <a:ext cx="1412875" cy="833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51951" name="Text Box 15"/>
          <p:cNvSpPr txBox="1">
            <a:spLocks noChangeAspect="1" noChangeArrowheads="1"/>
          </p:cNvSpPr>
          <p:nvPr/>
        </p:nvSpPr>
        <p:spPr bwMode="auto">
          <a:xfrm>
            <a:off x="3297238" y="2070100"/>
            <a:ext cx="828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pid=10</a:t>
            </a:r>
          </a:p>
          <a:p>
            <a:pPr algn="r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pgid=10</a:t>
            </a:r>
          </a:p>
        </p:txBody>
      </p:sp>
      <p:sp>
        <p:nvSpPr>
          <p:cNvPr id="551953" name="Text Box 17"/>
          <p:cNvSpPr txBox="1">
            <a:spLocks noChangeAspect="1" noChangeArrowheads="1"/>
          </p:cNvSpPr>
          <p:nvPr/>
        </p:nvSpPr>
        <p:spPr bwMode="auto">
          <a:xfrm>
            <a:off x="1084498" y="5663625"/>
            <a:ext cx="176506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Foreground </a:t>
            </a:r>
          </a:p>
          <a:p>
            <a:pPr>
              <a:lnSpc>
                <a:spcPct val="100000"/>
              </a:lnSpc>
            </a:pPr>
            <a:r>
              <a:rPr lang="en-US" sz="1600" b="1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process </a:t>
            </a:r>
            <a:r>
              <a:rPr 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group 20</a:t>
            </a:r>
          </a:p>
        </p:txBody>
      </p:sp>
      <p:sp>
        <p:nvSpPr>
          <p:cNvPr id="551955" name="Text Box 19"/>
          <p:cNvSpPr txBox="1">
            <a:spLocks noChangeAspect="1" noChangeArrowheads="1"/>
          </p:cNvSpPr>
          <p:nvPr/>
        </p:nvSpPr>
        <p:spPr bwMode="auto">
          <a:xfrm>
            <a:off x="3810000" y="4191000"/>
            <a:ext cx="1629100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Background</a:t>
            </a:r>
          </a:p>
          <a:p>
            <a:r>
              <a:rPr lang="en-US" sz="1600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process group 32</a:t>
            </a:r>
          </a:p>
        </p:txBody>
      </p:sp>
      <p:sp>
        <p:nvSpPr>
          <p:cNvPr id="551956" name="Text Box 20"/>
          <p:cNvSpPr txBox="1">
            <a:spLocks noChangeAspect="1" noChangeArrowheads="1"/>
          </p:cNvSpPr>
          <p:nvPr/>
        </p:nvSpPr>
        <p:spPr bwMode="auto">
          <a:xfrm>
            <a:off x="6096000" y="4215825"/>
            <a:ext cx="1629100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Background</a:t>
            </a:r>
          </a:p>
          <a:p>
            <a:pPr>
              <a:lnSpc>
                <a:spcPct val="100000"/>
              </a:lnSpc>
            </a:pPr>
            <a:r>
              <a:rPr 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process group 40</a:t>
            </a:r>
          </a:p>
        </p:txBody>
      </p:sp>
      <p:sp>
        <p:nvSpPr>
          <p:cNvPr id="551958" name="Text Box 22"/>
          <p:cNvSpPr txBox="1">
            <a:spLocks noChangeAspect="1" noChangeArrowheads="1"/>
          </p:cNvSpPr>
          <p:nvPr/>
        </p:nvSpPr>
        <p:spPr bwMode="auto">
          <a:xfrm>
            <a:off x="1098550" y="3365500"/>
            <a:ext cx="828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pid=20</a:t>
            </a:r>
          </a:p>
          <a:p>
            <a:pPr algn="r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pgid=20</a:t>
            </a:r>
          </a:p>
        </p:txBody>
      </p:sp>
      <p:sp>
        <p:nvSpPr>
          <p:cNvPr id="551959" name="Text Box 23"/>
          <p:cNvSpPr txBox="1">
            <a:spLocks noChangeAspect="1" noChangeArrowheads="1"/>
          </p:cNvSpPr>
          <p:nvPr/>
        </p:nvSpPr>
        <p:spPr bwMode="auto">
          <a:xfrm>
            <a:off x="5038725" y="3416300"/>
            <a:ext cx="828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pid=32</a:t>
            </a:r>
          </a:p>
          <a:p>
            <a:pPr algn="l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pgid=32</a:t>
            </a:r>
          </a:p>
        </p:txBody>
      </p:sp>
      <p:sp>
        <p:nvSpPr>
          <p:cNvPr id="551960" name="Text Box 24"/>
          <p:cNvSpPr txBox="1">
            <a:spLocks noChangeAspect="1" noChangeArrowheads="1"/>
          </p:cNvSpPr>
          <p:nvPr/>
        </p:nvSpPr>
        <p:spPr bwMode="auto">
          <a:xfrm>
            <a:off x="7224929" y="3443288"/>
            <a:ext cx="828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pid=40</a:t>
            </a:r>
          </a:p>
          <a:p>
            <a:pPr algn="l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pgid=40</a:t>
            </a:r>
          </a:p>
        </p:txBody>
      </p:sp>
      <p:sp>
        <p:nvSpPr>
          <p:cNvPr id="551961" name="Text Box 25"/>
          <p:cNvSpPr txBox="1">
            <a:spLocks noChangeAspect="1" noChangeArrowheads="1"/>
          </p:cNvSpPr>
          <p:nvPr/>
        </p:nvSpPr>
        <p:spPr bwMode="auto">
          <a:xfrm>
            <a:off x="1398588" y="5181600"/>
            <a:ext cx="828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pid=21</a:t>
            </a:r>
          </a:p>
          <a:p>
            <a:pPr algn="r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pgid=20</a:t>
            </a:r>
          </a:p>
        </p:txBody>
      </p:sp>
      <p:sp>
        <p:nvSpPr>
          <p:cNvPr id="551962" name="Text Box 26"/>
          <p:cNvSpPr txBox="1">
            <a:spLocks noChangeAspect="1" noChangeArrowheads="1"/>
          </p:cNvSpPr>
          <p:nvPr/>
        </p:nvSpPr>
        <p:spPr bwMode="auto">
          <a:xfrm>
            <a:off x="2541588" y="5181600"/>
            <a:ext cx="828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pid=22</a:t>
            </a:r>
          </a:p>
          <a:p>
            <a:pPr algn="r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pgid=20</a:t>
            </a:r>
          </a:p>
        </p:txBody>
      </p:sp>
      <p:sp>
        <p:nvSpPr>
          <p:cNvPr id="551963" name="Rectangle 27"/>
          <p:cNvSpPr>
            <a:spLocks noChangeArrowheads="1"/>
          </p:cNvSpPr>
          <p:nvPr/>
        </p:nvSpPr>
        <p:spPr bwMode="auto">
          <a:xfrm>
            <a:off x="3733800" y="5070493"/>
            <a:ext cx="4114800" cy="1558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79" tIns="44446" rIns="90479" bIns="44446"/>
          <a:lstStyle/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err="1">
                <a:solidFill>
                  <a:schemeClr val="tx2"/>
                </a:solidFill>
                <a:latin typeface="Courier New"/>
                <a:cs typeface="Courier New"/>
              </a:rPr>
              <a:t>getpgrp</a:t>
            </a:r>
            <a:r>
              <a:rPr lang="en-US" sz="1800" b="1" dirty="0" smtClean="0">
                <a:solidFill>
                  <a:schemeClr val="tx2"/>
                </a:solidFill>
                <a:latin typeface="Courier New"/>
                <a:cs typeface="Courier New"/>
              </a:rPr>
              <a:t>()</a:t>
            </a:r>
            <a:br>
              <a:rPr lang="en-US" sz="1800" b="1" dirty="0" smtClean="0">
                <a:solidFill>
                  <a:schemeClr val="tx2"/>
                </a:solidFill>
                <a:latin typeface="Courier New"/>
                <a:cs typeface="Courier New"/>
              </a:rPr>
            </a:br>
            <a:r>
              <a:rPr lang="en-US" sz="1800" b="1" dirty="0" smtClean="0">
                <a:solidFill>
                  <a:schemeClr val="tx2"/>
                </a:solidFill>
                <a:latin typeface="Calibri" pitchFamily="34" charset="0"/>
              </a:rPr>
              <a:t>Return </a:t>
            </a:r>
            <a:r>
              <a:rPr lang="en-US" sz="1800" b="1" dirty="0">
                <a:solidFill>
                  <a:schemeClr val="tx2"/>
                </a:solidFill>
                <a:latin typeface="Calibri" pitchFamily="34" charset="0"/>
              </a:rPr>
              <a:t>process group of current process</a:t>
            </a:r>
          </a:p>
          <a:p>
            <a:pPr algn="l" eaLnBrk="1" hangingPunct="1">
              <a:lnSpc>
                <a:spcPct val="95000"/>
              </a:lnSpc>
              <a:spcBef>
                <a:spcPct val="5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sz="1800" b="1" dirty="0" err="1">
                <a:solidFill>
                  <a:schemeClr val="tx2"/>
                </a:solidFill>
                <a:latin typeface="Courier New" pitchFamily="49" charset="0"/>
              </a:rPr>
              <a:t>setpgid</a:t>
            </a:r>
            <a:r>
              <a:rPr lang="en-US" sz="1800" b="1" dirty="0" smtClean="0">
                <a:solidFill>
                  <a:schemeClr val="tx2"/>
                </a:solidFill>
                <a:latin typeface="Courier New" pitchFamily="49" charset="0"/>
              </a:rPr>
              <a:t>()</a:t>
            </a:r>
            <a:br>
              <a:rPr lang="en-US" sz="1800" b="1" dirty="0" smtClean="0">
                <a:solidFill>
                  <a:schemeClr val="tx2"/>
                </a:solidFill>
                <a:latin typeface="Courier New" pitchFamily="49" charset="0"/>
              </a:rPr>
            </a:br>
            <a:r>
              <a:rPr lang="en-US" sz="1800" b="1" dirty="0" smtClean="0">
                <a:solidFill>
                  <a:schemeClr val="tx2"/>
                </a:solidFill>
                <a:latin typeface="Calibri" pitchFamily="34" charset="0"/>
              </a:rPr>
              <a:t>Change </a:t>
            </a:r>
            <a:r>
              <a:rPr lang="en-US" sz="1800" b="1" dirty="0">
                <a:solidFill>
                  <a:schemeClr val="tx2"/>
                </a:solidFill>
                <a:latin typeface="Calibri" pitchFamily="34" charset="0"/>
              </a:rPr>
              <a:t>process group of a </a:t>
            </a:r>
            <a:r>
              <a:rPr lang="en-US" sz="1800" b="1" dirty="0" smtClean="0">
                <a:solidFill>
                  <a:schemeClr val="tx2"/>
                </a:solidFill>
                <a:latin typeface="Calibri" pitchFamily="34" charset="0"/>
              </a:rPr>
              <a:t>process (see text for details)</a:t>
            </a:r>
            <a:endParaRPr lang="en-US" sz="1800" b="1" dirty="0">
              <a:solidFill>
                <a:schemeClr val="tx2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03424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6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Signals and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Signals can happen at any time</a:t>
            </a:r>
          </a:p>
          <a:p>
            <a:pPr lvl="1"/>
            <a:r>
              <a:rPr lang="en-US" dirty="0" smtClean="0"/>
              <a:t>Control when </a:t>
            </a:r>
            <a:r>
              <a:rPr lang="en-US" dirty="0" smtClean="0"/>
              <a:t>they are processed by</a:t>
            </a:r>
            <a:r>
              <a:rPr lang="en-US" dirty="0" smtClean="0"/>
              <a:t> </a:t>
            </a:r>
            <a:r>
              <a:rPr lang="en-US" dirty="0" smtClean="0"/>
              <a:t>blocking signals</a:t>
            </a:r>
          </a:p>
          <a:p>
            <a:endParaRPr lang="en-US" dirty="0"/>
          </a:p>
          <a:p>
            <a:r>
              <a:rPr lang="en-US" dirty="0" smtClean="0"/>
              <a:t>Signals also communicate that events have occurred</a:t>
            </a:r>
          </a:p>
          <a:p>
            <a:pPr lvl="1"/>
            <a:r>
              <a:rPr lang="en-US" dirty="0" smtClean="0"/>
              <a:t>What event(s) correspond to each signal?</a:t>
            </a:r>
          </a:p>
          <a:p>
            <a:endParaRPr lang="en-US" dirty="0"/>
          </a:p>
          <a:p>
            <a:r>
              <a:rPr lang="en-US" dirty="0" smtClean="0"/>
              <a:t>Write separate routines for receiving (i.e., signals)</a:t>
            </a:r>
          </a:p>
        </p:txBody>
      </p:sp>
    </p:spTree>
    <p:extLst>
      <p:ext uri="{BB962C8B-B14F-4D97-AF65-F5344CB8AC3E}">
        <p14:creationId xmlns:p14="http://schemas.microsoft.com/office/powerpoint/2010/main" val="2467992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 you get stuck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Read the </a:t>
            </a:r>
            <a:r>
              <a:rPr lang="en-US" dirty="0" err="1" smtClean="0"/>
              <a:t>writeup</a:t>
            </a:r>
            <a:r>
              <a:rPr lang="en-US" dirty="0" smtClean="0"/>
              <a:t>!</a:t>
            </a:r>
          </a:p>
          <a:p>
            <a:r>
              <a:rPr lang="en-US" dirty="0" smtClean="0"/>
              <a:t>Do manual unit testing before </a:t>
            </a:r>
            <a:r>
              <a:rPr lang="en-US" dirty="0" smtClean="0"/>
              <a:t>using </a:t>
            </a:r>
            <a:r>
              <a:rPr lang="en-US" b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sdriver</a:t>
            </a:r>
            <a:r>
              <a:rPr lang="en-US" dirty="0" smtClean="0"/>
              <a:t>!</a:t>
            </a:r>
          </a:p>
          <a:p>
            <a:endParaRPr lang="en-US" dirty="0" smtClean="0"/>
          </a:p>
          <a:p>
            <a:r>
              <a:rPr lang="en-US" dirty="0" smtClean="0"/>
              <a:t>Read the </a:t>
            </a:r>
            <a:r>
              <a:rPr lang="en-US" dirty="0" err="1" smtClean="0"/>
              <a:t>writeup</a:t>
            </a:r>
            <a:r>
              <a:rPr lang="en-US" dirty="0" smtClean="0"/>
              <a:t>!</a:t>
            </a:r>
          </a:p>
          <a:p>
            <a:r>
              <a:rPr lang="en-US" dirty="0" smtClean="0"/>
              <a:t>Post </a:t>
            </a:r>
            <a:r>
              <a:rPr lang="en-US" dirty="0" smtClean="0"/>
              <a:t>questions </a:t>
            </a:r>
            <a:r>
              <a:rPr lang="en-US" dirty="0" smtClean="0"/>
              <a:t>on </a:t>
            </a:r>
            <a:r>
              <a:rPr lang="en-US" dirty="0" smtClean="0"/>
              <a:t>the Discussion Board!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Read the man pages on the </a:t>
            </a:r>
            <a:r>
              <a:rPr lang="en-US" dirty="0" err="1" smtClean="0"/>
              <a:t>syscalls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Especially the error conditions</a:t>
            </a:r>
          </a:p>
          <a:p>
            <a:pPr lvl="1"/>
            <a:r>
              <a:rPr lang="en-US" dirty="0" smtClean="0"/>
              <a:t>What errors should terminate the shell?</a:t>
            </a:r>
          </a:p>
          <a:p>
            <a:pPr lvl="1"/>
            <a:r>
              <a:rPr lang="en-US" dirty="0" smtClean="0"/>
              <a:t>What errors should be reported?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373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>
                <a:solidFill>
                  <a:srgbClr val="B3B3B3"/>
                </a:solidFill>
              </a:rPr>
              <a:t>Midterm Review</a:t>
            </a:r>
            <a:endParaRPr lang="en-US" sz="2800" dirty="0" smtClean="0">
              <a:solidFill>
                <a:srgbClr val="B3B3B3"/>
              </a:solidFill>
            </a:endParaRPr>
          </a:p>
          <a:p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Shell Lab Overview</a:t>
            </a:r>
          </a:p>
          <a:p>
            <a:r>
              <a:rPr lang="en-US" sz="2800" dirty="0" smtClean="0">
                <a:solidFill>
                  <a:srgbClr val="000000"/>
                </a:solidFill>
              </a:rPr>
              <a:t>Dynamic Memory Allocation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Memory Mapping (brief review)</a:t>
            </a:r>
          </a:p>
          <a:p>
            <a:pPr lvl="1"/>
            <a:r>
              <a:rPr lang="en-US" dirty="0" smtClean="0">
                <a:solidFill>
                  <a:srgbClr val="B3B3B3"/>
                </a:solidFill>
              </a:rPr>
              <a:t>Basic Concepts of Memory Allocation</a:t>
            </a:r>
          </a:p>
          <a:p>
            <a:pPr lvl="1"/>
            <a:r>
              <a:rPr lang="en-US" dirty="0" smtClean="0">
                <a:solidFill>
                  <a:srgbClr val="B3B3B3"/>
                </a:solidFill>
              </a:rPr>
              <a:t>Implicit Free Lists</a:t>
            </a:r>
            <a:endParaRPr lang="en-US" dirty="0" smtClean="0">
              <a:solidFill>
                <a:srgbClr val="B3B3B3"/>
              </a:solidFill>
            </a:endParaRPr>
          </a:p>
          <a:p>
            <a:pPr lvl="1"/>
            <a:endParaRPr lang="en-US" dirty="0" smtClean="0">
              <a:solidFill>
                <a:srgbClr val="000000"/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7321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Revisited: Shared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8400" y="2097772"/>
            <a:ext cx="2651125" cy="4607828"/>
          </a:xfrm>
        </p:spPr>
        <p:txBody>
          <a:bodyPr/>
          <a:lstStyle/>
          <a:p>
            <a:r>
              <a:rPr lang="en-US" dirty="0"/>
              <a:t>Process 1 maps the shared object (on disk). </a:t>
            </a:r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2355850" y="5526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2163565" y="6059269"/>
            <a:ext cx="848951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Shared</a:t>
            </a:r>
          </a:p>
          <a:p>
            <a:pPr algn="ctr"/>
            <a:r>
              <a:rPr lang="en-US" sz="1800" dirty="0">
                <a:latin typeface="+mn-lt"/>
              </a:rPr>
              <a:t>object</a:t>
            </a:r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2355850" y="2707372"/>
            <a:ext cx="3810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2084755" y="2065119"/>
            <a:ext cx="99027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Physical</a:t>
            </a:r>
          </a:p>
          <a:p>
            <a:pPr algn="ctr"/>
            <a:r>
              <a:rPr lang="en-US" sz="1800">
                <a:latin typeface="+mn-lt"/>
              </a:rPr>
              <a:t>memory</a:t>
            </a:r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679450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9" name="Rectangle 386"/>
          <p:cNvSpPr>
            <a:spLocks noChangeArrowheads="1"/>
          </p:cNvSpPr>
          <p:nvPr/>
        </p:nvSpPr>
        <p:spPr bwMode="auto">
          <a:xfrm>
            <a:off x="4032250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0" name="Rectangle 388"/>
          <p:cNvSpPr>
            <a:spLocks noChangeArrowheads="1"/>
          </p:cNvSpPr>
          <p:nvPr/>
        </p:nvSpPr>
        <p:spPr bwMode="auto">
          <a:xfrm>
            <a:off x="2355850" y="2859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1" name="Rectangle 389"/>
          <p:cNvSpPr>
            <a:spLocks noChangeArrowheads="1"/>
          </p:cNvSpPr>
          <p:nvPr/>
        </p:nvSpPr>
        <p:spPr bwMode="auto">
          <a:xfrm>
            <a:off x="679450" y="33169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2" name="Line 391"/>
          <p:cNvSpPr>
            <a:spLocks noChangeShapeType="1"/>
          </p:cNvSpPr>
          <p:nvPr/>
        </p:nvSpPr>
        <p:spPr bwMode="auto">
          <a:xfrm flipH="1" flipV="1">
            <a:off x="1060450" y="33169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3" name="Line 392"/>
          <p:cNvSpPr>
            <a:spLocks noChangeShapeType="1"/>
          </p:cNvSpPr>
          <p:nvPr/>
        </p:nvSpPr>
        <p:spPr bwMode="auto">
          <a:xfrm flipH="1" flipV="1">
            <a:off x="1060450" y="38503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4" name="Line 396"/>
          <p:cNvSpPr>
            <a:spLocks noChangeShapeType="1"/>
          </p:cNvSpPr>
          <p:nvPr/>
        </p:nvSpPr>
        <p:spPr bwMode="auto">
          <a:xfrm flipV="1">
            <a:off x="1060450" y="28597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5" name="Line 397"/>
          <p:cNvSpPr>
            <a:spLocks noChangeShapeType="1"/>
          </p:cNvSpPr>
          <p:nvPr/>
        </p:nvSpPr>
        <p:spPr bwMode="auto">
          <a:xfrm flipV="1">
            <a:off x="1060450" y="33931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6" name="Text Box 400"/>
          <p:cNvSpPr txBox="1">
            <a:spLocks noChangeArrowheads="1"/>
          </p:cNvSpPr>
          <p:nvPr/>
        </p:nvSpPr>
        <p:spPr bwMode="auto">
          <a:xfrm>
            <a:off x="92640" y="2079407"/>
            <a:ext cx="1663533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Process 1</a:t>
            </a:r>
          </a:p>
          <a:p>
            <a:pPr algn="ctr"/>
            <a:r>
              <a:rPr lang="en-US" sz="1800" dirty="0">
                <a:latin typeface="+mn-lt"/>
              </a:rPr>
              <a:t>virtual memory</a:t>
            </a:r>
          </a:p>
        </p:txBody>
      </p:sp>
      <p:sp>
        <p:nvSpPr>
          <p:cNvPr id="17" name="Text Box 401"/>
          <p:cNvSpPr txBox="1">
            <a:spLocks noChangeArrowheads="1"/>
          </p:cNvSpPr>
          <p:nvPr/>
        </p:nvSpPr>
        <p:spPr bwMode="auto">
          <a:xfrm>
            <a:off x="3445440" y="2065119"/>
            <a:ext cx="1663533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Process 2</a:t>
            </a:r>
          </a:p>
          <a:p>
            <a:pPr algn="ctr"/>
            <a:r>
              <a:rPr lang="en-US" sz="1800">
                <a:latin typeface="+mn-lt"/>
              </a:rPr>
              <a:t>virtual memory</a:t>
            </a:r>
          </a:p>
        </p:txBody>
      </p:sp>
    </p:spTree>
    <p:extLst>
      <p:ext uri="{BB962C8B-B14F-4D97-AF65-F5344CB8AC3E}">
        <p14:creationId xmlns:p14="http://schemas.microsoft.com/office/powerpoint/2010/main" val="14853511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Revisited: Shared Objects</a:t>
            </a:r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2355850" y="5526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2212768" y="6059269"/>
            <a:ext cx="848951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Shared</a:t>
            </a:r>
          </a:p>
          <a:p>
            <a:pPr algn="ctr"/>
            <a:r>
              <a:rPr lang="en-US" sz="1800" dirty="0">
                <a:latin typeface="+mn-lt"/>
              </a:rPr>
              <a:t>object</a:t>
            </a:r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2355850" y="2707372"/>
            <a:ext cx="3810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2084755" y="2065119"/>
            <a:ext cx="99027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Physical</a:t>
            </a:r>
          </a:p>
          <a:p>
            <a:pPr algn="ctr"/>
            <a:r>
              <a:rPr lang="en-US" sz="1800">
                <a:latin typeface="+mn-lt"/>
              </a:rPr>
              <a:t>memory</a:t>
            </a:r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679450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9" name="Rectangle 386"/>
          <p:cNvSpPr>
            <a:spLocks noChangeArrowheads="1"/>
          </p:cNvSpPr>
          <p:nvPr/>
        </p:nvSpPr>
        <p:spPr bwMode="auto">
          <a:xfrm>
            <a:off x="4032250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0" name="Rectangle 388"/>
          <p:cNvSpPr>
            <a:spLocks noChangeArrowheads="1"/>
          </p:cNvSpPr>
          <p:nvPr/>
        </p:nvSpPr>
        <p:spPr bwMode="auto">
          <a:xfrm>
            <a:off x="2355850" y="2859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1" name="Rectangle 389"/>
          <p:cNvSpPr>
            <a:spLocks noChangeArrowheads="1"/>
          </p:cNvSpPr>
          <p:nvPr/>
        </p:nvSpPr>
        <p:spPr bwMode="auto">
          <a:xfrm>
            <a:off x="679450" y="33169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2" name="Rectangle 390"/>
          <p:cNvSpPr>
            <a:spLocks noChangeArrowheads="1"/>
          </p:cNvSpPr>
          <p:nvPr/>
        </p:nvSpPr>
        <p:spPr bwMode="auto">
          <a:xfrm>
            <a:off x="4032250" y="37741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3" name="Line 391"/>
          <p:cNvSpPr>
            <a:spLocks noChangeShapeType="1"/>
          </p:cNvSpPr>
          <p:nvPr/>
        </p:nvSpPr>
        <p:spPr bwMode="auto">
          <a:xfrm flipH="1" flipV="1">
            <a:off x="1060450" y="33169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4" name="Line 392"/>
          <p:cNvSpPr>
            <a:spLocks noChangeShapeType="1"/>
          </p:cNvSpPr>
          <p:nvPr/>
        </p:nvSpPr>
        <p:spPr bwMode="auto">
          <a:xfrm flipH="1" flipV="1">
            <a:off x="1060450" y="38503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5" name="Line 393"/>
          <p:cNvSpPr>
            <a:spLocks noChangeShapeType="1"/>
          </p:cNvSpPr>
          <p:nvPr/>
        </p:nvSpPr>
        <p:spPr bwMode="auto">
          <a:xfrm flipV="1">
            <a:off x="2736850" y="37741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6" name="Line 394"/>
          <p:cNvSpPr>
            <a:spLocks noChangeShapeType="1"/>
          </p:cNvSpPr>
          <p:nvPr/>
        </p:nvSpPr>
        <p:spPr bwMode="auto">
          <a:xfrm flipV="1">
            <a:off x="2736850" y="43075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7" name="Line 396"/>
          <p:cNvSpPr>
            <a:spLocks noChangeShapeType="1"/>
          </p:cNvSpPr>
          <p:nvPr/>
        </p:nvSpPr>
        <p:spPr bwMode="auto">
          <a:xfrm flipV="1">
            <a:off x="1060450" y="28597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8" name="Line 397"/>
          <p:cNvSpPr>
            <a:spLocks noChangeShapeType="1"/>
          </p:cNvSpPr>
          <p:nvPr/>
        </p:nvSpPr>
        <p:spPr bwMode="auto">
          <a:xfrm flipV="1">
            <a:off x="1060450" y="33931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19" name="Line 398"/>
          <p:cNvSpPr>
            <a:spLocks noChangeShapeType="1"/>
          </p:cNvSpPr>
          <p:nvPr/>
        </p:nvSpPr>
        <p:spPr bwMode="auto">
          <a:xfrm flipH="1" flipV="1">
            <a:off x="2736850" y="285977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20" name="Line 399"/>
          <p:cNvSpPr>
            <a:spLocks noChangeShapeType="1"/>
          </p:cNvSpPr>
          <p:nvPr/>
        </p:nvSpPr>
        <p:spPr bwMode="auto">
          <a:xfrm flipH="1" flipV="1">
            <a:off x="2736850" y="339317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>
              <a:latin typeface="+mn-lt"/>
            </a:endParaRPr>
          </a:p>
        </p:txBody>
      </p:sp>
      <p:sp>
        <p:nvSpPr>
          <p:cNvPr id="21" name="Text Box 400"/>
          <p:cNvSpPr txBox="1">
            <a:spLocks noChangeArrowheads="1"/>
          </p:cNvSpPr>
          <p:nvPr/>
        </p:nvSpPr>
        <p:spPr bwMode="auto">
          <a:xfrm>
            <a:off x="92640" y="2079407"/>
            <a:ext cx="1663533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Process 1</a:t>
            </a:r>
          </a:p>
          <a:p>
            <a:pPr algn="ctr"/>
            <a:r>
              <a:rPr lang="en-US" sz="1800" dirty="0">
                <a:latin typeface="+mn-lt"/>
              </a:rPr>
              <a:t>virtual memory</a:t>
            </a:r>
          </a:p>
        </p:txBody>
      </p:sp>
      <p:sp>
        <p:nvSpPr>
          <p:cNvPr id="22" name="Text Box 401"/>
          <p:cNvSpPr txBox="1">
            <a:spLocks noChangeArrowheads="1"/>
          </p:cNvSpPr>
          <p:nvPr/>
        </p:nvSpPr>
        <p:spPr bwMode="auto">
          <a:xfrm>
            <a:off x="3445440" y="2065119"/>
            <a:ext cx="1663533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Process 2</a:t>
            </a:r>
          </a:p>
          <a:p>
            <a:pPr algn="ctr"/>
            <a:r>
              <a:rPr lang="en-US" sz="1800">
                <a:latin typeface="+mn-lt"/>
              </a:rPr>
              <a:t>virtual memory</a:t>
            </a:r>
          </a:p>
        </p:txBody>
      </p:sp>
      <p:sp>
        <p:nvSpPr>
          <p:cNvPr id="24" name="Content Placeholder 2"/>
          <p:cNvSpPr txBox="1">
            <a:spLocks/>
          </p:cNvSpPr>
          <p:nvPr/>
        </p:nvSpPr>
        <p:spPr bwMode="auto">
          <a:xfrm>
            <a:off x="6248400" y="2097772"/>
            <a:ext cx="2651125" cy="4607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Process 2 maps the same shared object.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r>
              <a:rPr lang="en-US" kern="0" dirty="0">
                <a:latin typeface="Calibri" pitchFamily="34" charset="0"/>
              </a:rPr>
              <a:t>Notice how the virtual addresses can be different</a:t>
            </a:r>
            <a:r>
              <a:rPr lang="en-US" kern="0" dirty="0" smtClean="0">
                <a:latin typeface="Calibri" pitchFamily="34" charset="0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But,</a:t>
            </a:r>
            <a:r>
              <a:rPr kumimoji="0" lang="en-US" sz="2400" b="1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difference must be multiple of page size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71684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1088322"/>
          </a:xfrm>
        </p:spPr>
        <p:txBody>
          <a:bodyPr/>
          <a:lstStyle/>
          <a:p>
            <a:pPr marL="0" indent="0"/>
            <a:r>
              <a:rPr lang="en-US" sz="3200" dirty="0"/>
              <a:t>Sharing Revisited: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Private Copy-on-write (COW)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8400" y="2097772"/>
            <a:ext cx="2895600" cy="4191000"/>
          </a:xfrm>
        </p:spPr>
        <p:txBody>
          <a:bodyPr/>
          <a:lstStyle/>
          <a:p>
            <a:r>
              <a:rPr lang="en-US" dirty="0"/>
              <a:t>Two processes mapping a </a:t>
            </a:r>
            <a:r>
              <a:rPr lang="en-US" i="1" dirty="0">
                <a:solidFill>
                  <a:srgbClr val="990000"/>
                </a:solidFill>
              </a:rPr>
              <a:t>private copy-on-write (COW)  </a:t>
            </a:r>
            <a:r>
              <a:rPr lang="en-US" dirty="0"/>
              <a:t>object</a:t>
            </a:r>
          </a:p>
          <a:p>
            <a:r>
              <a:rPr lang="en-US" dirty="0"/>
              <a:t>Area flagged as private copy-on-write</a:t>
            </a:r>
          </a:p>
          <a:p>
            <a:r>
              <a:rPr lang="en-US" dirty="0" err="1"/>
              <a:t>PTEs</a:t>
            </a:r>
            <a:r>
              <a:rPr lang="en-US" dirty="0"/>
              <a:t> in private areas are flagged as read-only</a:t>
            </a:r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2369031" y="5526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1507820" y="6059269"/>
            <a:ext cx="217168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Private </a:t>
            </a:r>
          </a:p>
          <a:p>
            <a:pPr algn="ctr"/>
            <a:r>
              <a:rPr lang="en-US" sz="1800">
                <a:latin typeface="+mn-lt"/>
              </a:rPr>
              <a:t>copy-on-write object</a:t>
            </a:r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2369031" y="2707372"/>
            <a:ext cx="3810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2090590" y="2065119"/>
            <a:ext cx="99027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Physical</a:t>
            </a:r>
          </a:p>
          <a:p>
            <a:pPr algn="ctr"/>
            <a:r>
              <a:rPr lang="en-US" sz="1800">
                <a:latin typeface="+mn-lt"/>
              </a:rPr>
              <a:t>memory</a:t>
            </a:r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692631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9" name="Rectangle 386"/>
          <p:cNvSpPr>
            <a:spLocks noChangeArrowheads="1"/>
          </p:cNvSpPr>
          <p:nvPr/>
        </p:nvSpPr>
        <p:spPr bwMode="auto">
          <a:xfrm>
            <a:off x="4045431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0" name="Rectangle 388"/>
          <p:cNvSpPr>
            <a:spLocks noChangeArrowheads="1"/>
          </p:cNvSpPr>
          <p:nvPr/>
        </p:nvSpPr>
        <p:spPr bwMode="auto">
          <a:xfrm>
            <a:off x="2369031" y="2859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1" name="Rectangle 389"/>
          <p:cNvSpPr>
            <a:spLocks noChangeArrowheads="1"/>
          </p:cNvSpPr>
          <p:nvPr/>
        </p:nvSpPr>
        <p:spPr bwMode="auto">
          <a:xfrm>
            <a:off x="692631" y="33169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2" name="Rectangle 390"/>
          <p:cNvSpPr>
            <a:spLocks noChangeArrowheads="1"/>
          </p:cNvSpPr>
          <p:nvPr/>
        </p:nvSpPr>
        <p:spPr bwMode="auto">
          <a:xfrm>
            <a:off x="4045431" y="37741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3" name="Line 391"/>
          <p:cNvSpPr>
            <a:spLocks noChangeShapeType="1"/>
          </p:cNvSpPr>
          <p:nvPr/>
        </p:nvSpPr>
        <p:spPr bwMode="auto">
          <a:xfrm flipH="1" flipV="1">
            <a:off x="1073631" y="33169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4" name="Line 392"/>
          <p:cNvSpPr>
            <a:spLocks noChangeShapeType="1"/>
          </p:cNvSpPr>
          <p:nvPr/>
        </p:nvSpPr>
        <p:spPr bwMode="auto">
          <a:xfrm flipH="1" flipV="1">
            <a:off x="1073631" y="38503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5" name="Line 393"/>
          <p:cNvSpPr>
            <a:spLocks noChangeShapeType="1"/>
          </p:cNvSpPr>
          <p:nvPr/>
        </p:nvSpPr>
        <p:spPr bwMode="auto">
          <a:xfrm flipV="1">
            <a:off x="2750031" y="37741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6" name="Line 394"/>
          <p:cNvSpPr>
            <a:spLocks noChangeShapeType="1"/>
          </p:cNvSpPr>
          <p:nvPr/>
        </p:nvSpPr>
        <p:spPr bwMode="auto">
          <a:xfrm flipV="1">
            <a:off x="2750031" y="43075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7" name="Line 396"/>
          <p:cNvSpPr>
            <a:spLocks noChangeShapeType="1"/>
          </p:cNvSpPr>
          <p:nvPr/>
        </p:nvSpPr>
        <p:spPr bwMode="auto">
          <a:xfrm flipV="1">
            <a:off x="1073631" y="28597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8" name="Line 397"/>
          <p:cNvSpPr>
            <a:spLocks noChangeShapeType="1"/>
          </p:cNvSpPr>
          <p:nvPr/>
        </p:nvSpPr>
        <p:spPr bwMode="auto">
          <a:xfrm flipV="1">
            <a:off x="1073631" y="3393172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9" name="Line 398"/>
          <p:cNvSpPr>
            <a:spLocks noChangeShapeType="1"/>
          </p:cNvSpPr>
          <p:nvPr/>
        </p:nvSpPr>
        <p:spPr bwMode="auto">
          <a:xfrm flipH="1" flipV="1">
            <a:off x="2750031" y="285977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0" name="Line 399"/>
          <p:cNvSpPr>
            <a:spLocks noChangeShapeType="1"/>
          </p:cNvSpPr>
          <p:nvPr/>
        </p:nvSpPr>
        <p:spPr bwMode="auto">
          <a:xfrm flipH="1" flipV="1">
            <a:off x="2750031" y="339317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1" name="Text Box 400"/>
          <p:cNvSpPr txBox="1">
            <a:spLocks noChangeArrowheads="1"/>
          </p:cNvSpPr>
          <p:nvPr/>
        </p:nvSpPr>
        <p:spPr bwMode="auto">
          <a:xfrm>
            <a:off x="92640" y="2079407"/>
            <a:ext cx="1663533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Process 1</a:t>
            </a:r>
          </a:p>
          <a:p>
            <a:pPr algn="ctr"/>
            <a:r>
              <a:rPr lang="en-US" sz="1800" dirty="0">
                <a:latin typeface="+mn-lt"/>
              </a:rPr>
              <a:t>virtual memory</a:t>
            </a:r>
          </a:p>
        </p:txBody>
      </p:sp>
      <p:sp>
        <p:nvSpPr>
          <p:cNvPr id="22" name="Text Box 401"/>
          <p:cNvSpPr txBox="1">
            <a:spLocks noChangeArrowheads="1"/>
          </p:cNvSpPr>
          <p:nvPr/>
        </p:nvSpPr>
        <p:spPr bwMode="auto">
          <a:xfrm>
            <a:off x="3445440" y="2065119"/>
            <a:ext cx="1663533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Process 2</a:t>
            </a:r>
          </a:p>
          <a:p>
            <a:pPr algn="ctr"/>
            <a:r>
              <a:rPr lang="en-US" sz="1800">
                <a:latin typeface="+mn-lt"/>
              </a:rPr>
              <a:t>virtual memory</a:t>
            </a:r>
          </a:p>
        </p:txBody>
      </p:sp>
      <p:sp>
        <p:nvSpPr>
          <p:cNvPr id="23" name="Text Box 410"/>
          <p:cNvSpPr txBox="1">
            <a:spLocks noChangeArrowheads="1"/>
          </p:cNvSpPr>
          <p:nvPr/>
        </p:nvSpPr>
        <p:spPr bwMode="auto">
          <a:xfrm>
            <a:off x="4724400" y="3581400"/>
            <a:ext cx="1520866" cy="9233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+mn-lt"/>
              </a:rPr>
              <a:t> Private</a:t>
            </a:r>
          </a:p>
          <a:p>
            <a:r>
              <a:rPr lang="en-US" sz="1800" dirty="0">
                <a:latin typeface="+mn-lt"/>
              </a:rPr>
              <a:t>copy-on-write</a:t>
            </a:r>
          </a:p>
          <a:p>
            <a:r>
              <a:rPr lang="en-US" sz="1800" dirty="0">
                <a:latin typeface="+mn-lt"/>
              </a:rPr>
              <a:t>area</a:t>
            </a:r>
          </a:p>
        </p:txBody>
      </p:sp>
      <p:sp>
        <p:nvSpPr>
          <p:cNvPr id="24" name="Right Brace 23"/>
          <p:cNvSpPr/>
          <p:nvPr/>
        </p:nvSpPr>
        <p:spPr bwMode="auto">
          <a:xfrm>
            <a:off x="4502631" y="3774172"/>
            <a:ext cx="145569" cy="533400"/>
          </a:xfrm>
          <a:prstGeom prst="righ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24075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1164522"/>
          </a:xfrm>
        </p:spPr>
        <p:txBody>
          <a:bodyPr/>
          <a:lstStyle/>
          <a:p>
            <a:r>
              <a:rPr lang="en-US" dirty="0"/>
              <a:t>Sharing Revisited: </a:t>
            </a:r>
            <a:br>
              <a:rPr lang="en-US" dirty="0"/>
            </a:br>
            <a:r>
              <a:rPr lang="en-US" dirty="0"/>
              <a:t>Private Copy-on-write (COW)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1232" y="2057400"/>
            <a:ext cx="2872768" cy="4505325"/>
          </a:xfrm>
        </p:spPr>
        <p:txBody>
          <a:bodyPr/>
          <a:lstStyle/>
          <a:p>
            <a:r>
              <a:rPr lang="en-US" dirty="0"/>
              <a:t>Instruction writing to private page triggers protection fault. </a:t>
            </a:r>
          </a:p>
          <a:p>
            <a:r>
              <a:rPr lang="en-US" dirty="0"/>
              <a:t>Handler creates new R/W page. </a:t>
            </a:r>
          </a:p>
          <a:p>
            <a:r>
              <a:rPr lang="en-US" dirty="0"/>
              <a:t>Instruction restarts upon handler return. </a:t>
            </a:r>
          </a:p>
          <a:p>
            <a:r>
              <a:rPr lang="en-US" dirty="0"/>
              <a:t>Copying deferred as long as possible!</a:t>
            </a:r>
          </a:p>
        </p:txBody>
      </p:sp>
      <p:sp>
        <p:nvSpPr>
          <p:cNvPr id="4" name="Rectangle 379"/>
          <p:cNvSpPr>
            <a:spLocks noChangeArrowheads="1"/>
          </p:cNvSpPr>
          <p:nvPr/>
        </p:nvSpPr>
        <p:spPr bwMode="auto">
          <a:xfrm>
            <a:off x="2369031" y="55267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5" name="Text Box 380"/>
          <p:cNvSpPr txBox="1">
            <a:spLocks noChangeArrowheads="1"/>
          </p:cNvSpPr>
          <p:nvPr/>
        </p:nvSpPr>
        <p:spPr bwMode="auto">
          <a:xfrm>
            <a:off x="1526870" y="6059269"/>
            <a:ext cx="217168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Private  </a:t>
            </a:r>
          </a:p>
          <a:p>
            <a:pPr algn="ctr"/>
            <a:r>
              <a:rPr lang="en-US" sz="1800">
                <a:latin typeface="+mn-lt"/>
              </a:rPr>
              <a:t>copy-on-write object</a:t>
            </a:r>
          </a:p>
        </p:txBody>
      </p:sp>
      <p:sp>
        <p:nvSpPr>
          <p:cNvPr id="6" name="Rectangle 382"/>
          <p:cNvSpPr>
            <a:spLocks noChangeArrowheads="1"/>
          </p:cNvSpPr>
          <p:nvPr/>
        </p:nvSpPr>
        <p:spPr bwMode="auto">
          <a:xfrm>
            <a:off x="2369031" y="2707372"/>
            <a:ext cx="381000" cy="2057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7" name="Text Box 383"/>
          <p:cNvSpPr txBox="1">
            <a:spLocks noChangeArrowheads="1"/>
          </p:cNvSpPr>
          <p:nvPr/>
        </p:nvSpPr>
        <p:spPr bwMode="auto">
          <a:xfrm>
            <a:off x="2090590" y="2065119"/>
            <a:ext cx="99027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Physical</a:t>
            </a:r>
          </a:p>
          <a:p>
            <a:pPr algn="ctr"/>
            <a:r>
              <a:rPr lang="en-US" sz="1800">
                <a:latin typeface="+mn-lt"/>
              </a:rPr>
              <a:t>memory</a:t>
            </a:r>
          </a:p>
        </p:txBody>
      </p:sp>
      <p:sp>
        <p:nvSpPr>
          <p:cNvPr id="8" name="Rectangle 385"/>
          <p:cNvSpPr>
            <a:spLocks noChangeArrowheads="1"/>
          </p:cNvSpPr>
          <p:nvPr/>
        </p:nvSpPr>
        <p:spPr bwMode="auto">
          <a:xfrm>
            <a:off x="692631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9" name="Rectangle 386"/>
          <p:cNvSpPr>
            <a:spLocks noChangeArrowheads="1"/>
          </p:cNvSpPr>
          <p:nvPr/>
        </p:nvSpPr>
        <p:spPr bwMode="auto">
          <a:xfrm>
            <a:off x="4045431" y="2707372"/>
            <a:ext cx="381000" cy="3352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0" name="Rectangle 388"/>
          <p:cNvSpPr>
            <a:spLocks noChangeArrowheads="1"/>
          </p:cNvSpPr>
          <p:nvPr/>
        </p:nvSpPr>
        <p:spPr bwMode="auto">
          <a:xfrm>
            <a:off x="2369031" y="289152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1" name="Rectangle 389"/>
          <p:cNvSpPr>
            <a:spLocks noChangeArrowheads="1"/>
          </p:cNvSpPr>
          <p:nvPr/>
        </p:nvSpPr>
        <p:spPr bwMode="auto">
          <a:xfrm>
            <a:off x="692631" y="331697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2" name="Rectangle 390"/>
          <p:cNvSpPr>
            <a:spLocks noChangeArrowheads="1"/>
          </p:cNvSpPr>
          <p:nvPr/>
        </p:nvSpPr>
        <p:spPr bwMode="auto">
          <a:xfrm>
            <a:off x="4045431" y="3805922"/>
            <a:ext cx="381000" cy="533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3" name="Line 391"/>
          <p:cNvSpPr>
            <a:spLocks noChangeShapeType="1"/>
          </p:cNvSpPr>
          <p:nvPr/>
        </p:nvSpPr>
        <p:spPr bwMode="auto">
          <a:xfrm flipH="1" flipV="1">
            <a:off x="1073631" y="33169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4" name="Line 392"/>
          <p:cNvSpPr>
            <a:spLocks noChangeShapeType="1"/>
          </p:cNvSpPr>
          <p:nvPr/>
        </p:nvSpPr>
        <p:spPr bwMode="auto">
          <a:xfrm flipH="1" flipV="1">
            <a:off x="1073631" y="3850372"/>
            <a:ext cx="1295400" cy="2209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5" name="Line 393"/>
          <p:cNvSpPr>
            <a:spLocks noChangeShapeType="1"/>
          </p:cNvSpPr>
          <p:nvPr/>
        </p:nvSpPr>
        <p:spPr bwMode="auto">
          <a:xfrm flipV="1">
            <a:off x="2750031" y="3805922"/>
            <a:ext cx="1301750" cy="17208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6" name="Line 394"/>
          <p:cNvSpPr>
            <a:spLocks noChangeShapeType="1"/>
          </p:cNvSpPr>
          <p:nvPr/>
        </p:nvSpPr>
        <p:spPr bwMode="auto">
          <a:xfrm flipV="1">
            <a:off x="2750031" y="4307572"/>
            <a:ext cx="1295400" cy="1752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7" name="Line 396"/>
          <p:cNvSpPr>
            <a:spLocks noChangeShapeType="1"/>
          </p:cNvSpPr>
          <p:nvPr/>
        </p:nvSpPr>
        <p:spPr bwMode="auto">
          <a:xfrm flipV="1">
            <a:off x="1073631" y="2891522"/>
            <a:ext cx="1301750" cy="4254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8" name="Line 397"/>
          <p:cNvSpPr>
            <a:spLocks noChangeShapeType="1"/>
          </p:cNvSpPr>
          <p:nvPr/>
        </p:nvSpPr>
        <p:spPr bwMode="auto">
          <a:xfrm flipV="1">
            <a:off x="1073631" y="3424922"/>
            <a:ext cx="1301750" cy="4254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19" name="Line 398"/>
          <p:cNvSpPr>
            <a:spLocks noChangeShapeType="1"/>
          </p:cNvSpPr>
          <p:nvPr/>
        </p:nvSpPr>
        <p:spPr bwMode="auto">
          <a:xfrm flipH="1" flipV="1">
            <a:off x="2756381" y="2891522"/>
            <a:ext cx="1289050" cy="8826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0" name="Line 399"/>
          <p:cNvSpPr>
            <a:spLocks noChangeShapeType="1"/>
          </p:cNvSpPr>
          <p:nvPr/>
        </p:nvSpPr>
        <p:spPr bwMode="auto">
          <a:xfrm flipH="1" flipV="1">
            <a:off x="2766725" y="327887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1" name="Text Box 400"/>
          <p:cNvSpPr txBox="1">
            <a:spLocks noChangeArrowheads="1"/>
          </p:cNvSpPr>
          <p:nvPr/>
        </p:nvSpPr>
        <p:spPr bwMode="auto">
          <a:xfrm>
            <a:off x="92640" y="2079407"/>
            <a:ext cx="1663533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Process 1</a:t>
            </a:r>
          </a:p>
          <a:p>
            <a:pPr algn="ctr"/>
            <a:r>
              <a:rPr lang="en-US" sz="1800" dirty="0">
                <a:latin typeface="+mn-lt"/>
              </a:rPr>
              <a:t>virtual memory</a:t>
            </a:r>
          </a:p>
        </p:txBody>
      </p:sp>
      <p:sp>
        <p:nvSpPr>
          <p:cNvPr id="22" name="Text Box 401"/>
          <p:cNvSpPr txBox="1">
            <a:spLocks noChangeArrowheads="1"/>
          </p:cNvSpPr>
          <p:nvPr/>
        </p:nvSpPr>
        <p:spPr bwMode="auto">
          <a:xfrm>
            <a:off x="3445440" y="2065119"/>
            <a:ext cx="1663533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>
                <a:latin typeface="+mn-lt"/>
              </a:rPr>
              <a:t>Process 2</a:t>
            </a:r>
          </a:p>
          <a:p>
            <a:pPr algn="ctr"/>
            <a:r>
              <a:rPr lang="en-US" sz="1800">
                <a:latin typeface="+mn-lt"/>
              </a:rPr>
              <a:t>virtual memory</a:t>
            </a:r>
          </a:p>
        </p:txBody>
      </p:sp>
      <p:sp>
        <p:nvSpPr>
          <p:cNvPr id="23" name="AutoShape 403"/>
          <p:cNvSpPr>
            <a:spLocks noChangeArrowheads="1"/>
          </p:cNvSpPr>
          <p:nvPr/>
        </p:nvSpPr>
        <p:spPr bwMode="auto">
          <a:xfrm>
            <a:off x="2826231" y="3272522"/>
            <a:ext cx="304800" cy="914400"/>
          </a:xfrm>
          <a:prstGeom prst="curvedLeftArrow">
            <a:avLst>
              <a:gd name="adj1" fmla="val 60000"/>
              <a:gd name="adj2" fmla="val 120000"/>
              <a:gd name="adj3" fmla="val 33333"/>
            </a:avLst>
          </a:prstGeom>
          <a:solidFill>
            <a:srgbClr val="990000"/>
          </a:solidFill>
          <a:ln w="12700">
            <a:solidFill>
              <a:srgbClr val="D5F1CF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4" name="Text Box 404"/>
          <p:cNvSpPr txBox="1">
            <a:spLocks noChangeArrowheads="1"/>
          </p:cNvSpPr>
          <p:nvPr/>
        </p:nvSpPr>
        <p:spPr bwMode="auto">
          <a:xfrm>
            <a:off x="2799283" y="3103553"/>
            <a:ext cx="1246111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Copy-on-write</a:t>
            </a:r>
          </a:p>
        </p:txBody>
      </p:sp>
      <p:sp>
        <p:nvSpPr>
          <p:cNvPr id="25" name="Rectangle 405" descr="Wide upward diagonal"/>
          <p:cNvSpPr>
            <a:spLocks noChangeArrowheads="1"/>
          </p:cNvSpPr>
          <p:nvPr/>
        </p:nvSpPr>
        <p:spPr bwMode="auto">
          <a:xfrm>
            <a:off x="2375381" y="3272522"/>
            <a:ext cx="381000" cy="152400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6" name="Rectangle 406" descr="Wide upward diagonal"/>
          <p:cNvSpPr>
            <a:spLocks noChangeArrowheads="1"/>
          </p:cNvSpPr>
          <p:nvPr/>
        </p:nvSpPr>
        <p:spPr bwMode="auto">
          <a:xfrm>
            <a:off x="4051781" y="4186922"/>
            <a:ext cx="381000" cy="1524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7" name="Rectangle 407" descr="Wide upward diagonal"/>
          <p:cNvSpPr>
            <a:spLocks noChangeArrowheads="1"/>
          </p:cNvSpPr>
          <p:nvPr/>
        </p:nvSpPr>
        <p:spPr bwMode="auto">
          <a:xfrm>
            <a:off x="2375381" y="3964220"/>
            <a:ext cx="381000" cy="1524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8" name="Line 408"/>
          <p:cNvSpPr>
            <a:spLocks noChangeShapeType="1"/>
          </p:cNvSpPr>
          <p:nvPr/>
        </p:nvSpPr>
        <p:spPr bwMode="auto">
          <a:xfrm flipH="1" flipV="1">
            <a:off x="2756381" y="3958322"/>
            <a:ext cx="1295400" cy="228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29" name="Line 409"/>
          <p:cNvSpPr>
            <a:spLocks noChangeShapeType="1"/>
          </p:cNvSpPr>
          <p:nvPr/>
        </p:nvSpPr>
        <p:spPr bwMode="auto">
          <a:xfrm flipH="1" flipV="1">
            <a:off x="2756381" y="4110722"/>
            <a:ext cx="1295400" cy="2286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30" name="Text Box 410"/>
          <p:cNvSpPr txBox="1">
            <a:spLocks noChangeArrowheads="1"/>
          </p:cNvSpPr>
          <p:nvPr/>
        </p:nvSpPr>
        <p:spPr bwMode="auto">
          <a:xfrm>
            <a:off x="4642596" y="3833207"/>
            <a:ext cx="1698094" cy="9233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Write to private</a:t>
            </a:r>
          </a:p>
          <a:p>
            <a:pPr algn="ctr"/>
            <a:r>
              <a:rPr lang="en-US" sz="1800" dirty="0">
                <a:latin typeface="+mn-lt"/>
              </a:rPr>
              <a:t>copy-on-write</a:t>
            </a:r>
          </a:p>
          <a:p>
            <a:pPr algn="ctr"/>
            <a:r>
              <a:rPr lang="en-US" sz="1800" dirty="0">
                <a:latin typeface="+mn-lt"/>
              </a:rPr>
              <a:t>page</a:t>
            </a:r>
          </a:p>
        </p:txBody>
      </p:sp>
      <p:sp>
        <p:nvSpPr>
          <p:cNvPr id="31" name="Line 411"/>
          <p:cNvSpPr>
            <a:spLocks noChangeShapeType="1"/>
          </p:cNvSpPr>
          <p:nvPr/>
        </p:nvSpPr>
        <p:spPr bwMode="auto">
          <a:xfrm flipH="1">
            <a:off x="4432781" y="4263122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  <p:sp>
        <p:nvSpPr>
          <p:cNvPr id="32" name="Line 399"/>
          <p:cNvSpPr>
            <a:spLocks noChangeShapeType="1"/>
          </p:cNvSpPr>
          <p:nvPr/>
        </p:nvSpPr>
        <p:spPr bwMode="auto">
          <a:xfrm flipH="1" flipV="1">
            <a:off x="2766725" y="3424922"/>
            <a:ext cx="1295400" cy="9144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053240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  <p:bldP spid="24" grpId="0"/>
      <p:bldP spid="27" grpId="0" animBg="1"/>
      <p:bldP spid="28" grpId="0" animBg="1"/>
      <p:bldP spid="29" grpId="0" animBg="1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latin typeface="Courier New"/>
                <a:cs typeface="Courier New"/>
              </a:rPr>
              <a:t>fork</a:t>
            </a:r>
            <a:r>
              <a:rPr lang="en-GB" dirty="0"/>
              <a:t> Function Revisited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8518525" cy="4972050"/>
          </a:xfrm>
        </p:spPr>
        <p:txBody>
          <a:bodyPr/>
          <a:lstStyle/>
          <a:p>
            <a:r>
              <a:rPr lang="en-GB" dirty="0"/>
              <a:t>VM and memory mapping explain how </a:t>
            </a:r>
            <a:r>
              <a:rPr lang="en-GB" dirty="0">
                <a:latin typeface="Courier New"/>
                <a:cs typeface="Courier New"/>
              </a:rPr>
              <a:t>fork</a:t>
            </a:r>
            <a:r>
              <a:rPr lang="en-GB" dirty="0"/>
              <a:t> provides private address space for each process. </a:t>
            </a:r>
          </a:p>
          <a:p>
            <a:pPr>
              <a:buNone/>
            </a:pPr>
            <a:endParaRPr lang="en-GB" dirty="0"/>
          </a:p>
          <a:p>
            <a:r>
              <a:rPr lang="en-GB" dirty="0"/>
              <a:t>To create virtual address for new process:</a:t>
            </a:r>
          </a:p>
          <a:p>
            <a:pPr lvl="1"/>
            <a:r>
              <a:rPr lang="en-GB" dirty="0"/>
              <a:t>Create exact copies of current </a:t>
            </a:r>
            <a:r>
              <a:rPr lang="en-GB" b="1" dirty="0" err="1">
                <a:latin typeface="Courier New"/>
                <a:cs typeface="Courier New"/>
              </a:rPr>
              <a:t>mm_struct</a:t>
            </a:r>
            <a:r>
              <a:rPr lang="en-GB" dirty="0"/>
              <a:t>, </a:t>
            </a:r>
            <a:r>
              <a:rPr lang="en-GB" b="1" dirty="0" err="1">
                <a:latin typeface="Courier New"/>
                <a:cs typeface="Courier New"/>
              </a:rPr>
              <a:t>vm_area_struct</a:t>
            </a:r>
            <a:r>
              <a:rPr lang="en-GB" dirty="0"/>
              <a:t>, and page tables. </a:t>
            </a:r>
          </a:p>
          <a:p>
            <a:pPr lvl="1"/>
            <a:r>
              <a:rPr lang="en-GB" dirty="0"/>
              <a:t>Flag each page in both processes as read-only</a:t>
            </a:r>
          </a:p>
          <a:p>
            <a:pPr lvl="1"/>
            <a:r>
              <a:rPr lang="en-GB" dirty="0"/>
              <a:t>Flag each </a:t>
            </a:r>
            <a:r>
              <a:rPr lang="en-GB" b="1" dirty="0" err="1">
                <a:latin typeface="Courier New"/>
                <a:cs typeface="Courier New"/>
              </a:rPr>
              <a:t>vm_area_struct</a:t>
            </a:r>
            <a:r>
              <a:rPr lang="en-GB" dirty="0">
                <a:latin typeface="+mn-lt"/>
                <a:cs typeface="Courier New"/>
              </a:rPr>
              <a:t> i</a:t>
            </a:r>
            <a:r>
              <a:rPr lang="en-GB" dirty="0">
                <a:latin typeface="+mn-lt"/>
              </a:rPr>
              <a:t>n</a:t>
            </a:r>
            <a:r>
              <a:rPr lang="en-GB" dirty="0"/>
              <a:t> both processes as private COW</a:t>
            </a:r>
          </a:p>
          <a:p>
            <a:pPr lvl="1"/>
            <a:endParaRPr lang="en-GB" dirty="0"/>
          </a:p>
          <a:p>
            <a:r>
              <a:rPr lang="en-GB" dirty="0"/>
              <a:t>On return, each process has exact copy of virtual memory.</a:t>
            </a:r>
          </a:p>
          <a:p>
            <a:endParaRPr lang="en-GB" dirty="0"/>
          </a:p>
          <a:p>
            <a:r>
              <a:rPr lang="en-GB" dirty="0"/>
              <a:t>Subsequent writes create new pages using COW mechanism.</a:t>
            </a:r>
          </a:p>
        </p:txBody>
      </p:sp>
    </p:spTree>
    <p:extLst>
      <p:ext uri="{BB962C8B-B14F-4D97-AF65-F5344CB8AC3E}">
        <p14:creationId xmlns:p14="http://schemas.microsoft.com/office/powerpoint/2010/main" val="231045179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 err="1">
                <a:latin typeface="Courier New"/>
                <a:cs typeface="Courier New"/>
              </a:rPr>
              <a:t>execve</a:t>
            </a:r>
            <a:r>
              <a:rPr lang="en-GB" dirty="0"/>
              <a:t> Function Revisited</a:t>
            </a:r>
          </a:p>
        </p:txBody>
      </p:sp>
      <p:sp>
        <p:nvSpPr>
          <p:cNvPr id="34845" name="Rectangle 29"/>
          <p:cNvSpPr>
            <a:spLocks noGrp="1" noChangeArrowheads="1"/>
          </p:cNvSpPr>
          <p:nvPr>
            <p:ph type="body" idx="1"/>
          </p:nvPr>
        </p:nvSpPr>
        <p:spPr>
          <a:xfrm>
            <a:off x="5534024" y="1362074"/>
            <a:ext cx="3609975" cy="5495926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To load and run a new program </a:t>
            </a:r>
            <a:r>
              <a:rPr lang="en-GB" dirty="0" err="1">
                <a:latin typeface="Courier New"/>
                <a:cs typeface="Courier New"/>
              </a:rPr>
              <a:t>a.out</a:t>
            </a:r>
            <a:r>
              <a:rPr lang="en-GB" dirty="0"/>
              <a:t> in the current process using </a:t>
            </a:r>
            <a:r>
              <a:rPr lang="en-GB" dirty="0" err="1">
                <a:latin typeface="Courier New"/>
                <a:cs typeface="Courier New"/>
              </a:rPr>
              <a:t>execve</a:t>
            </a:r>
            <a:r>
              <a:rPr lang="en-GB" dirty="0"/>
              <a:t>:</a:t>
            </a:r>
          </a:p>
          <a:p>
            <a:endParaRPr lang="en-GB" dirty="0"/>
          </a:p>
          <a:p>
            <a:r>
              <a:rPr lang="en-GB" dirty="0">
                <a:latin typeface="+mn-lt"/>
                <a:cs typeface="Courier New"/>
              </a:rPr>
              <a:t>Free</a:t>
            </a:r>
            <a:r>
              <a:rPr lang="en-GB" dirty="0">
                <a:latin typeface="+mj-lt"/>
                <a:cs typeface="Courier New"/>
              </a:rPr>
              <a:t> </a:t>
            </a:r>
            <a:r>
              <a:rPr lang="en-GB" dirty="0" err="1">
                <a:latin typeface="Courier New"/>
                <a:cs typeface="Courier New"/>
              </a:rPr>
              <a:t>vm_area_struct</a:t>
            </a:r>
            <a:r>
              <a:rPr lang="en-GB" dirty="0" err="1"/>
              <a:t>’s</a:t>
            </a:r>
            <a:r>
              <a:rPr lang="en-GB" dirty="0"/>
              <a:t> and page tables for old areas</a:t>
            </a:r>
          </a:p>
          <a:p>
            <a:endParaRPr lang="en-GB" dirty="0"/>
          </a:p>
          <a:p>
            <a:r>
              <a:rPr lang="en-GB" dirty="0"/>
              <a:t>Create </a:t>
            </a:r>
            <a:r>
              <a:rPr lang="en-GB" dirty="0" err="1">
                <a:latin typeface="Courier New"/>
                <a:cs typeface="Courier New"/>
              </a:rPr>
              <a:t>vm_area_struct</a:t>
            </a:r>
            <a:r>
              <a:rPr lang="en-GB" dirty="0" err="1"/>
              <a:t>’s</a:t>
            </a:r>
            <a:r>
              <a:rPr lang="en-GB" dirty="0"/>
              <a:t> and page tables for new areas</a:t>
            </a:r>
          </a:p>
          <a:p>
            <a:pPr lvl="1"/>
            <a:r>
              <a:rPr lang="en-GB" dirty="0"/>
              <a:t>Programs and initialized data backed by object files.</a:t>
            </a:r>
          </a:p>
          <a:p>
            <a:pPr lvl="1"/>
            <a:r>
              <a:rPr lang="en-GB" b="1" dirty="0">
                <a:latin typeface="Courier New"/>
                <a:cs typeface="Courier New"/>
              </a:rPr>
              <a:t>.</a:t>
            </a:r>
            <a:r>
              <a:rPr lang="en-GB" b="1" dirty="0" err="1">
                <a:latin typeface="Courier New"/>
                <a:cs typeface="Courier New"/>
              </a:rPr>
              <a:t>bss</a:t>
            </a:r>
            <a:r>
              <a:rPr lang="en-GB" dirty="0">
                <a:latin typeface="+mj-lt"/>
                <a:cs typeface="Courier New"/>
              </a:rPr>
              <a:t> </a:t>
            </a:r>
            <a:r>
              <a:rPr lang="en-GB" dirty="0"/>
              <a:t>and stack backed by anonymous files. </a:t>
            </a:r>
          </a:p>
          <a:p>
            <a:endParaRPr lang="en-GB" dirty="0"/>
          </a:p>
          <a:p>
            <a:r>
              <a:rPr lang="en-GB" dirty="0"/>
              <a:t>Set PC to entry point in </a:t>
            </a:r>
            <a:r>
              <a:rPr lang="en-GB" dirty="0">
                <a:latin typeface="Courier New"/>
                <a:cs typeface="Courier New"/>
              </a:rPr>
              <a:t>.text</a:t>
            </a:r>
          </a:p>
          <a:p>
            <a:pPr lvl="1"/>
            <a:r>
              <a:rPr lang="en-GB" dirty="0"/>
              <a:t>Linux will fault in code and data pages as needed.</a:t>
            </a:r>
          </a:p>
        </p:txBody>
      </p:sp>
      <p:sp>
        <p:nvSpPr>
          <p:cNvPr id="48" name="Rectangle 380"/>
          <p:cNvSpPr>
            <a:spLocks noChangeAspect="1" noChangeArrowheads="1"/>
          </p:cNvSpPr>
          <p:nvPr/>
        </p:nvSpPr>
        <p:spPr bwMode="auto">
          <a:xfrm>
            <a:off x="1514475" y="2627312"/>
            <a:ext cx="2174875" cy="63817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latin typeface="+mn-lt"/>
              </a:rPr>
              <a:t>Memory mapped region </a:t>
            </a:r>
          </a:p>
          <a:p>
            <a:pPr algn="ctr"/>
            <a:r>
              <a:rPr lang="en-US" sz="1400" dirty="0">
                <a:latin typeface="+mn-lt"/>
              </a:rPr>
              <a:t>for shared libraries</a:t>
            </a:r>
          </a:p>
        </p:txBody>
      </p:sp>
      <p:sp>
        <p:nvSpPr>
          <p:cNvPr id="49" name="Rectangle 381"/>
          <p:cNvSpPr>
            <a:spLocks noChangeAspect="1" noChangeArrowheads="1"/>
          </p:cNvSpPr>
          <p:nvPr/>
        </p:nvSpPr>
        <p:spPr bwMode="auto">
          <a:xfrm>
            <a:off x="1514475" y="3262312"/>
            <a:ext cx="2174875" cy="68897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400">
              <a:latin typeface="+mn-lt"/>
            </a:endParaRPr>
          </a:p>
        </p:txBody>
      </p:sp>
      <p:sp>
        <p:nvSpPr>
          <p:cNvPr id="50" name="Rectangle 382"/>
          <p:cNvSpPr>
            <a:spLocks noChangeAspect="1" noChangeArrowheads="1"/>
          </p:cNvSpPr>
          <p:nvPr/>
        </p:nvSpPr>
        <p:spPr bwMode="auto">
          <a:xfrm>
            <a:off x="1514475" y="3956050"/>
            <a:ext cx="2174875" cy="636587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latin typeface="+mn-lt"/>
              </a:rPr>
              <a:t>Runtime heap (via </a:t>
            </a:r>
            <a:r>
              <a:rPr lang="en-US" sz="1400" dirty="0" err="1">
                <a:latin typeface="+mn-lt"/>
              </a:rPr>
              <a:t>malloc</a:t>
            </a:r>
            <a:r>
              <a:rPr lang="en-US" sz="1400" dirty="0">
                <a:latin typeface="+mn-lt"/>
              </a:rPr>
              <a:t>)</a:t>
            </a:r>
          </a:p>
        </p:txBody>
      </p:sp>
      <p:sp>
        <p:nvSpPr>
          <p:cNvPr id="51" name="Rectangle 383"/>
          <p:cNvSpPr>
            <a:spLocks noChangeAspect="1" noChangeArrowheads="1"/>
          </p:cNvSpPr>
          <p:nvPr/>
        </p:nvSpPr>
        <p:spPr bwMode="auto">
          <a:xfrm>
            <a:off x="1514475" y="1770062"/>
            <a:ext cx="2174875" cy="8636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400">
              <a:latin typeface="+mn-lt"/>
            </a:endParaRPr>
          </a:p>
        </p:txBody>
      </p:sp>
      <p:sp>
        <p:nvSpPr>
          <p:cNvPr id="52" name="Rectangle 384"/>
          <p:cNvSpPr>
            <a:spLocks noChangeAspect="1" noChangeArrowheads="1"/>
          </p:cNvSpPr>
          <p:nvPr/>
        </p:nvSpPr>
        <p:spPr bwMode="auto">
          <a:xfrm>
            <a:off x="1514475" y="5305425"/>
            <a:ext cx="2174875" cy="379412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Program text (.text)</a:t>
            </a:r>
          </a:p>
        </p:txBody>
      </p:sp>
      <p:sp>
        <p:nvSpPr>
          <p:cNvPr id="53" name="Rectangle 385"/>
          <p:cNvSpPr>
            <a:spLocks noChangeAspect="1" noChangeArrowheads="1"/>
          </p:cNvSpPr>
          <p:nvPr/>
        </p:nvSpPr>
        <p:spPr bwMode="auto">
          <a:xfrm>
            <a:off x="1514475" y="4943475"/>
            <a:ext cx="2174875" cy="3778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Initialized data (.data)</a:t>
            </a:r>
          </a:p>
        </p:txBody>
      </p:sp>
      <p:sp>
        <p:nvSpPr>
          <p:cNvPr id="54" name="Rectangle 386"/>
          <p:cNvSpPr>
            <a:spLocks noChangeAspect="1" noChangeArrowheads="1"/>
          </p:cNvSpPr>
          <p:nvPr/>
        </p:nvSpPr>
        <p:spPr bwMode="auto">
          <a:xfrm>
            <a:off x="1514475" y="4579937"/>
            <a:ext cx="2174875" cy="376238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Uninitialized data (.bss)</a:t>
            </a:r>
          </a:p>
        </p:txBody>
      </p:sp>
      <p:sp>
        <p:nvSpPr>
          <p:cNvPr id="55" name="Line 387"/>
          <p:cNvSpPr>
            <a:spLocks noChangeAspect="1" noChangeShapeType="1"/>
          </p:cNvSpPr>
          <p:nvPr/>
        </p:nvSpPr>
        <p:spPr bwMode="auto">
          <a:xfrm flipV="1">
            <a:off x="2540000" y="3633787"/>
            <a:ext cx="0" cy="336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6" name="Rectangle 388"/>
          <p:cNvSpPr>
            <a:spLocks noChangeAspect="1" noChangeArrowheads="1"/>
          </p:cNvSpPr>
          <p:nvPr/>
        </p:nvSpPr>
        <p:spPr bwMode="auto">
          <a:xfrm>
            <a:off x="1514475" y="1452562"/>
            <a:ext cx="2174875" cy="320675"/>
          </a:xfrm>
          <a:prstGeom prst="rect">
            <a:avLst/>
          </a:prstGeom>
          <a:solidFill>
            <a:srgbClr val="DEDFF5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latin typeface="+mn-lt"/>
              </a:rPr>
              <a:t>User stack</a:t>
            </a:r>
          </a:p>
        </p:txBody>
      </p:sp>
      <p:sp>
        <p:nvSpPr>
          <p:cNvPr id="57" name="Line 389"/>
          <p:cNvSpPr>
            <a:spLocks noChangeAspect="1" noChangeShapeType="1"/>
          </p:cNvSpPr>
          <p:nvPr/>
        </p:nvSpPr>
        <p:spPr bwMode="auto">
          <a:xfrm flipV="1">
            <a:off x="2551113" y="2297112"/>
            <a:ext cx="0" cy="3349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8" name="Line 390"/>
          <p:cNvSpPr>
            <a:spLocks noChangeAspect="1" noChangeShapeType="1"/>
          </p:cNvSpPr>
          <p:nvPr/>
        </p:nvSpPr>
        <p:spPr bwMode="auto">
          <a:xfrm>
            <a:off x="2560638" y="1773237"/>
            <a:ext cx="0" cy="336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59" name="Rectangle 391"/>
          <p:cNvSpPr>
            <a:spLocks noChangeAspect="1" noChangeArrowheads="1"/>
          </p:cNvSpPr>
          <p:nvPr/>
        </p:nvSpPr>
        <p:spPr bwMode="auto">
          <a:xfrm>
            <a:off x="1514475" y="5668962"/>
            <a:ext cx="2174875" cy="377825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400">
              <a:latin typeface="+mn-lt"/>
            </a:endParaRPr>
          </a:p>
        </p:txBody>
      </p:sp>
      <p:sp>
        <p:nvSpPr>
          <p:cNvPr id="60" name="Text Box 392"/>
          <p:cNvSpPr txBox="1">
            <a:spLocks noChangeAspect="1" noChangeArrowheads="1"/>
          </p:cNvSpPr>
          <p:nvPr/>
        </p:nvSpPr>
        <p:spPr bwMode="auto">
          <a:xfrm>
            <a:off x="1311368" y="5867400"/>
            <a:ext cx="276038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+mn-lt"/>
              </a:rPr>
              <a:t>0</a:t>
            </a:r>
          </a:p>
        </p:txBody>
      </p:sp>
      <p:sp>
        <p:nvSpPr>
          <p:cNvPr id="61" name="AutoShape 411"/>
          <p:cNvSpPr>
            <a:spLocks/>
          </p:cNvSpPr>
          <p:nvPr/>
        </p:nvSpPr>
        <p:spPr bwMode="auto">
          <a:xfrm>
            <a:off x="3746500" y="1439862"/>
            <a:ext cx="76200" cy="304800"/>
          </a:xfrm>
          <a:prstGeom prst="rightBrace">
            <a:avLst>
              <a:gd name="adj1" fmla="val 33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62" name="AutoShape 412"/>
          <p:cNvSpPr>
            <a:spLocks/>
          </p:cNvSpPr>
          <p:nvPr/>
        </p:nvSpPr>
        <p:spPr bwMode="auto">
          <a:xfrm>
            <a:off x="3746500" y="2659062"/>
            <a:ext cx="76200" cy="609600"/>
          </a:xfrm>
          <a:prstGeom prst="rightBrace">
            <a:avLst>
              <a:gd name="adj1" fmla="val 6666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63" name="AutoShape 415"/>
          <p:cNvSpPr>
            <a:spLocks/>
          </p:cNvSpPr>
          <p:nvPr/>
        </p:nvSpPr>
        <p:spPr bwMode="auto">
          <a:xfrm>
            <a:off x="3746500" y="3967162"/>
            <a:ext cx="74613" cy="584200"/>
          </a:xfrm>
          <a:prstGeom prst="rightBrace">
            <a:avLst>
              <a:gd name="adj1" fmla="val 65248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64" name="AutoShape 416"/>
          <p:cNvSpPr>
            <a:spLocks/>
          </p:cNvSpPr>
          <p:nvPr/>
        </p:nvSpPr>
        <p:spPr bwMode="auto">
          <a:xfrm>
            <a:off x="3746500" y="4576762"/>
            <a:ext cx="76200" cy="355600"/>
          </a:xfrm>
          <a:prstGeom prst="rightBrace">
            <a:avLst>
              <a:gd name="adj1" fmla="val 38889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65" name="AutoShape 417"/>
          <p:cNvSpPr>
            <a:spLocks/>
          </p:cNvSpPr>
          <p:nvPr/>
        </p:nvSpPr>
        <p:spPr bwMode="auto">
          <a:xfrm>
            <a:off x="3746500" y="4983162"/>
            <a:ext cx="76200" cy="647700"/>
          </a:xfrm>
          <a:prstGeom prst="rightBrace">
            <a:avLst>
              <a:gd name="adj1" fmla="val 70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66" name="Text Box 420"/>
          <p:cNvSpPr txBox="1">
            <a:spLocks noChangeArrowheads="1"/>
          </p:cNvSpPr>
          <p:nvPr/>
        </p:nvSpPr>
        <p:spPr bwMode="auto">
          <a:xfrm>
            <a:off x="3822700" y="1438374"/>
            <a:ext cx="1784463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i="1">
                <a:latin typeface="+mn-lt"/>
              </a:rPr>
              <a:t>Private, demand-zero</a:t>
            </a:r>
          </a:p>
        </p:txBody>
      </p:sp>
      <p:sp>
        <p:nvSpPr>
          <p:cNvPr id="67" name="Text Box 423"/>
          <p:cNvSpPr txBox="1">
            <a:spLocks noChangeArrowheads="1"/>
          </p:cNvSpPr>
          <p:nvPr/>
        </p:nvSpPr>
        <p:spPr bwMode="auto">
          <a:xfrm>
            <a:off x="205564" y="2430462"/>
            <a:ext cx="660436" cy="283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b="1">
                <a:solidFill>
                  <a:schemeClr val="tx2"/>
                </a:solidFill>
                <a:latin typeface="+mn-lt"/>
              </a:rPr>
              <a:t>libc.so</a:t>
            </a:r>
          </a:p>
        </p:txBody>
      </p:sp>
      <p:sp>
        <p:nvSpPr>
          <p:cNvPr id="68" name="Rectangle 424"/>
          <p:cNvSpPr>
            <a:spLocks noChangeArrowheads="1"/>
          </p:cNvSpPr>
          <p:nvPr/>
        </p:nvSpPr>
        <p:spPr bwMode="auto">
          <a:xfrm>
            <a:off x="88900" y="2735262"/>
            <a:ext cx="914400" cy="228600"/>
          </a:xfrm>
          <a:prstGeom prst="rect">
            <a:avLst/>
          </a:prstGeom>
          <a:solidFill>
            <a:srgbClr val="D5F1C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dirty="0">
                <a:solidFill>
                  <a:schemeClr val="tx2"/>
                </a:solidFill>
                <a:latin typeface="+mn-lt"/>
              </a:rPr>
              <a:t>.data</a:t>
            </a:r>
          </a:p>
        </p:txBody>
      </p:sp>
      <p:sp>
        <p:nvSpPr>
          <p:cNvPr id="69" name="Rectangle 425"/>
          <p:cNvSpPr>
            <a:spLocks noChangeArrowheads="1"/>
          </p:cNvSpPr>
          <p:nvPr/>
        </p:nvSpPr>
        <p:spPr bwMode="auto">
          <a:xfrm>
            <a:off x="88900" y="2963862"/>
            <a:ext cx="914400" cy="228600"/>
          </a:xfrm>
          <a:prstGeom prst="rect">
            <a:avLst/>
          </a:prstGeom>
          <a:solidFill>
            <a:srgbClr val="D5F1C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.text</a:t>
            </a:r>
          </a:p>
        </p:txBody>
      </p:sp>
      <p:sp>
        <p:nvSpPr>
          <p:cNvPr id="70" name="Line 428"/>
          <p:cNvSpPr>
            <a:spLocks noChangeShapeType="1"/>
          </p:cNvSpPr>
          <p:nvPr/>
        </p:nvSpPr>
        <p:spPr bwMode="auto">
          <a:xfrm>
            <a:off x="1003300" y="2811462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71" name="Line 429"/>
          <p:cNvSpPr>
            <a:spLocks noChangeShapeType="1"/>
          </p:cNvSpPr>
          <p:nvPr/>
        </p:nvSpPr>
        <p:spPr bwMode="auto">
          <a:xfrm>
            <a:off x="1003300" y="3116262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72" name="Text Box 430"/>
          <p:cNvSpPr txBox="1">
            <a:spLocks noChangeArrowheads="1"/>
          </p:cNvSpPr>
          <p:nvPr/>
        </p:nvSpPr>
        <p:spPr bwMode="auto">
          <a:xfrm>
            <a:off x="3822700" y="2809974"/>
            <a:ext cx="1604735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i="1">
                <a:latin typeface="+mn-lt"/>
              </a:rPr>
              <a:t>Shared, file-backed</a:t>
            </a:r>
          </a:p>
        </p:txBody>
      </p:sp>
      <p:sp>
        <p:nvSpPr>
          <p:cNvPr id="73" name="Text Box 431"/>
          <p:cNvSpPr txBox="1">
            <a:spLocks noChangeArrowheads="1"/>
          </p:cNvSpPr>
          <p:nvPr/>
        </p:nvSpPr>
        <p:spPr bwMode="auto">
          <a:xfrm>
            <a:off x="3822700" y="4105374"/>
            <a:ext cx="1784463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i="1">
                <a:latin typeface="+mn-lt"/>
              </a:rPr>
              <a:t>Private, demand-zero</a:t>
            </a:r>
          </a:p>
        </p:txBody>
      </p:sp>
      <p:sp>
        <p:nvSpPr>
          <p:cNvPr id="74" name="Text Box 432"/>
          <p:cNvSpPr txBox="1">
            <a:spLocks noChangeArrowheads="1"/>
          </p:cNvSpPr>
          <p:nvPr/>
        </p:nvSpPr>
        <p:spPr bwMode="auto">
          <a:xfrm>
            <a:off x="3822700" y="4562574"/>
            <a:ext cx="1784463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i="1">
                <a:latin typeface="+mn-lt"/>
              </a:rPr>
              <a:t>Private, demand-zero</a:t>
            </a:r>
          </a:p>
        </p:txBody>
      </p:sp>
      <p:sp>
        <p:nvSpPr>
          <p:cNvPr id="75" name="Text Box 434"/>
          <p:cNvSpPr txBox="1">
            <a:spLocks noChangeArrowheads="1"/>
          </p:cNvSpPr>
          <p:nvPr/>
        </p:nvSpPr>
        <p:spPr bwMode="auto">
          <a:xfrm>
            <a:off x="3822700" y="5172174"/>
            <a:ext cx="1619354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i="1">
                <a:latin typeface="+mn-lt"/>
              </a:rPr>
              <a:t>Private, file-backed</a:t>
            </a:r>
          </a:p>
        </p:txBody>
      </p:sp>
      <p:sp>
        <p:nvSpPr>
          <p:cNvPr id="76" name="Text Box 435"/>
          <p:cNvSpPr txBox="1">
            <a:spLocks noChangeArrowheads="1"/>
          </p:cNvSpPr>
          <p:nvPr/>
        </p:nvSpPr>
        <p:spPr bwMode="auto">
          <a:xfrm>
            <a:off x="255988" y="4792662"/>
            <a:ext cx="573875" cy="283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 b="1">
                <a:solidFill>
                  <a:schemeClr val="tx2"/>
                </a:solidFill>
                <a:latin typeface="+mn-lt"/>
              </a:rPr>
              <a:t>a.out</a:t>
            </a:r>
          </a:p>
        </p:txBody>
      </p:sp>
      <p:sp>
        <p:nvSpPr>
          <p:cNvPr id="77" name="Rectangle 436"/>
          <p:cNvSpPr>
            <a:spLocks noChangeArrowheads="1"/>
          </p:cNvSpPr>
          <p:nvPr/>
        </p:nvSpPr>
        <p:spPr bwMode="auto">
          <a:xfrm>
            <a:off x="88900" y="5097462"/>
            <a:ext cx="914400" cy="228600"/>
          </a:xfrm>
          <a:prstGeom prst="rect">
            <a:avLst/>
          </a:prstGeom>
          <a:solidFill>
            <a:srgbClr val="F6F5BD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.data</a:t>
            </a:r>
          </a:p>
        </p:txBody>
      </p:sp>
      <p:sp>
        <p:nvSpPr>
          <p:cNvPr id="78" name="Rectangle 437"/>
          <p:cNvSpPr>
            <a:spLocks noChangeArrowheads="1"/>
          </p:cNvSpPr>
          <p:nvPr/>
        </p:nvSpPr>
        <p:spPr bwMode="auto">
          <a:xfrm>
            <a:off x="88900" y="5326062"/>
            <a:ext cx="914400" cy="228600"/>
          </a:xfrm>
          <a:prstGeom prst="rect">
            <a:avLst/>
          </a:prstGeom>
          <a:solidFill>
            <a:srgbClr val="F1C7C7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487" tIns="44450" rIns="90487" bIns="44450" anchor="ctr">
            <a:prstTxWarp prst="textNoShape">
              <a:avLst/>
            </a:prstTxWarp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</a:pPr>
            <a:r>
              <a:rPr lang="en-US" sz="1400">
                <a:solidFill>
                  <a:schemeClr val="tx2"/>
                </a:solidFill>
                <a:latin typeface="+mn-lt"/>
              </a:rPr>
              <a:t>.text</a:t>
            </a:r>
          </a:p>
        </p:txBody>
      </p:sp>
      <p:sp>
        <p:nvSpPr>
          <p:cNvPr id="79" name="Line 438"/>
          <p:cNvSpPr>
            <a:spLocks noChangeShapeType="1"/>
          </p:cNvSpPr>
          <p:nvPr/>
        </p:nvSpPr>
        <p:spPr bwMode="auto">
          <a:xfrm>
            <a:off x="1003300" y="5173662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  <p:sp>
        <p:nvSpPr>
          <p:cNvPr id="80" name="Line 439"/>
          <p:cNvSpPr>
            <a:spLocks noChangeShapeType="1"/>
          </p:cNvSpPr>
          <p:nvPr/>
        </p:nvSpPr>
        <p:spPr bwMode="auto">
          <a:xfrm>
            <a:off x="1003300" y="5478462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160379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3497" y="434447"/>
            <a:ext cx="7259637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User-Level Memory Mapping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5613" y="1220788"/>
            <a:ext cx="8459787" cy="5637212"/>
          </a:xfrm>
          <a:ln/>
        </p:spPr>
        <p:txBody>
          <a:bodyPr/>
          <a:lstStyle/>
          <a:p>
            <a:pPr>
              <a:lnSpc>
                <a:spcPct val="94000"/>
              </a:lnSpc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>
                <a:effectLst/>
                <a:latin typeface="Courier New" pitchFamily="49" charset="0"/>
              </a:rPr>
              <a:t>void *</a:t>
            </a:r>
            <a:r>
              <a:rPr lang="en-GB" sz="1800" dirty="0" err="1">
                <a:effectLst/>
                <a:latin typeface="Courier New" pitchFamily="49" charset="0"/>
              </a:rPr>
              <a:t>mmap</a:t>
            </a:r>
            <a:r>
              <a:rPr lang="en-GB" sz="1800" dirty="0">
                <a:effectLst/>
                <a:latin typeface="Courier New" pitchFamily="49" charset="0"/>
              </a:rPr>
              <a:t>(void *start,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</a:t>
            </a:r>
            <a:r>
              <a:rPr lang="en-GB" sz="1800" dirty="0" err="1">
                <a:effectLst/>
                <a:latin typeface="Courier New" pitchFamily="49" charset="0"/>
              </a:rPr>
              <a:t>len</a:t>
            </a:r>
            <a:r>
              <a:rPr lang="en-GB" sz="1800" dirty="0">
                <a:effectLst/>
                <a:latin typeface="Courier New" pitchFamily="49" charset="0"/>
              </a:rPr>
              <a:t>,</a:t>
            </a:r>
          </a:p>
          <a:p>
            <a:pPr>
              <a:lnSpc>
                <a:spcPct val="94000"/>
              </a:lnSpc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>
                <a:effectLst/>
                <a:latin typeface="Courier New" pitchFamily="49" charset="0"/>
              </a:rPr>
              <a:t>          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</a:t>
            </a:r>
            <a:r>
              <a:rPr lang="en-GB" sz="1800" dirty="0" err="1">
                <a:effectLst/>
                <a:latin typeface="Courier New" pitchFamily="49" charset="0"/>
              </a:rPr>
              <a:t>prot</a:t>
            </a:r>
            <a:r>
              <a:rPr lang="en-GB" sz="1800" dirty="0">
                <a:effectLst/>
                <a:latin typeface="Courier New" pitchFamily="49" charset="0"/>
              </a:rPr>
              <a:t>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flags,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</a:t>
            </a:r>
            <a:r>
              <a:rPr lang="en-GB" sz="1800" dirty="0" err="1">
                <a:effectLst/>
                <a:latin typeface="Courier New" pitchFamily="49" charset="0"/>
              </a:rPr>
              <a:t>fd</a:t>
            </a:r>
            <a:r>
              <a:rPr lang="en-GB" sz="1800" dirty="0">
                <a:effectLst/>
                <a:latin typeface="Courier New" pitchFamily="49" charset="0"/>
              </a:rPr>
              <a:t>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offset</a:t>
            </a:r>
            <a:r>
              <a:rPr lang="en-GB" sz="2000" dirty="0">
                <a:effectLst/>
              </a:rPr>
              <a:t>)</a:t>
            </a:r>
          </a:p>
          <a:p>
            <a:pPr lvl="1"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Map </a:t>
            </a:r>
            <a:r>
              <a:rPr lang="en-GB" b="1" dirty="0" err="1">
                <a:latin typeface="Courier New" pitchFamily="49" charset="0"/>
              </a:rPr>
              <a:t>len</a:t>
            </a:r>
            <a:r>
              <a:rPr lang="en-GB" dirty="0"/>
              <a:t> bytes starting at offset </a:t>
            </a:r>
            <a:r>
              <a:rPr lang="en-GB" b="1" dirty="0" err="1">
                <a:latin typeface="Courier New" pitchFamily="49" charset="0"/>
              </a:rPr>
              <a:t>offset</a:t>
            </a:r>
            <a:r>
              <a:rPr lang="en-GB" dirty="0">
                <a:latin typeface="+mj-lt"/>
              </a:rPr>
              <a:t> </a:t>
            </a:r>
            <a:r>
              <a:rPr lang="en-GB" dirty="0"/>
              <a:t>of the file specified by file description </a:t>
            </a:r>
            <a:r>
              <a:rPr lang="en-GB" b="1" dirty="0" err="1">
                <a:latin typeface="Courier New" pitchFamily="49" charset="0"/>
              </a:rPr>
              <a:t>fd</a:t>
            </a:r>
            <a:r>
              <a:rPr lang="en-GB" dirty="0"/>
              <a:t>, preferably at address </a:t>
            </a:r>
            <a:r>
              <a:rPr lang="en-GB" b="1" dirty="0">
                <a:latin typeface="Courier New" pitchFamily="49" charset="0"/>
              </a:rPr>
              <a:t>start</a:t>
            </a:r>
            <a:r>
              <a:rPr lang="en-GB" dirty="0"/>
              <a:t> </a:t>
            </a:r>
          </a:p>
          <a:p>
            <a:pPr lvl="1">
              <a:lnSpc>
                <a:spcPct val="101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dirty="0">
                <a:latin typeface="Courier New" pitchFamily="49" charset="0"/>
              </a:rPr>
              <a:t>start</a:t>
            </a:r>
            <a:r>
              <a:rPr lang="en-GB" dirty="0">
                <a:latin typeface="Courier New" pitchFamily="49" charset="0"/>
              </a:rPr>
              <a:t>:</a:t>
            </a:r>
            <a:r>
              <a:rPr lang="en-GB" dirty="0"/>
              <a:t> may be 0 for “pick an address”</a:t>
            </a:r>
          </a:p>
          <a:p>
            <a:pPr lvl="1">
              <a:lnSpc>
                <a:spcPct val="101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dirty="0" err="1">
                <a:latin typeface="Courier New" pitchFamily="49" charset="0"/>
              </a:rPr>
              <a:t>prot</a:t>
            </a:r>
            <a:r>
              <a:rPr lang="en-GB" dirty="0"/>
              <a:t>: PROT_READ, PROT_WRITE, PROT_EXEC, ...</a:t>
            </a:r>
          </a:p>
          <a:p>
            <a:pPr lvl="1">
              <a:lnSpc>
                <a:spcPct val="101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dirty="0">
                <a:latin typeface="Courier New" pitchFamily="49" charset="0"/>
              </a:rPr>
              <a:t>flags</a:t>
            </a:r>
            <a:r>
              <a:rPr lang="en-GB" dirty="0"/>
              <a:t>: MAP_ANON, MAP_PRIVATE, MAP_SHARED, ...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Return a pointer to start of mapped area (may not be </a:t>
            </a:r>
            <a:r>
              <a:rPr lang="en-GB" b="1" dirty="0">
                <a:latin typeface="Courier New" pitchFamily="49" charset="0"/>
              </a:rPr>
              <a:t>start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366317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493713"/>
            <a:ext cx="7259637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User-Level Memory Mapping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0201" y="1220789"/>
            <a:ext cx="8307387" cy="836612"/>
          </a:xfrm>
          <a:ln/>
        </p:spPr>
        <p:txBody>
          <a:bodyPr/>
          <a:lstStyle/>
          <a:p>
            <a:pPr>
              <a:lnSpc>
                <a:spcPct val="94000"/>
              </a:lnSpc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>
                <a:effectLst/>
                <a:latin typeface="Courier New" pitchFamily="49" charset="0"/>
              </a:rPr>
              <a:t>void *</a:t>
            </a:r>
            <a:r>
              <a:rPr lang="en-GB" sz="1800" dirty="0" err="1">
                <a:effectLst/>
                <a:latin typeface="Courier New" pitchFamily="49" charset="0"/>
              </a:rPr>
              <a:t>mmap</a:t>
            </a:r>
            <a:r>
              <a:rPr lang="en-GB" sz="1800" dirty="0">
                <a:effectLst/>
                <a:latin typeface="Courier New" pitchFamily="49" charset="0"/>
              </a:rPr>
              <a:t>(void *start,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</a:t>
            </a:r>
            <a:r>
              <a:rPr lang="en-GB" sz="1800" dirty="0" err="1">
                <a:effectLst/>
                <a:latin typeface="Courier New" pitchFamily="49" charset="0"/>
              </a:rPr>
              <a:t>len</a:t>
            </a:r>
            <a:r>
              <a:rPr lang="en-GB" sz="1800" dirty="0">
                <a:effectLst/>
                <a:latin typeface="Courier New" pitchFamily="49" charset="0"/>
              </a:rPr>
              <a:t>,</a:t>
            </a:r>
          </a:p>
          <a:p>
            <a:pPr>
              <a:lnSpc>
                <a:spcPct val="94000"/>
              </a:lnSpc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>
                <a:effectLst/>
                <a:latin typeface="Courier New" pitchFamily="49" charset="0"/>
              </a:rPr>
              <a:t>          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</a:t>
            </a:r>
            <a:r>
              <a:rPr lang="en-GB" sz="1800" dirty="0" err="1">
                <a:effectLst/>
                <a:latin typeface="Courier New" pitchFamily="49" charset="0"/>
              </a:rPr>
              <a:t>prot</a:t>
            </a:r>
            <a:r>
              <a:rPr lang="en-GB" sz="1800" dirty="0">
                <a:effectLst/>
                <a:latin typeface="Courier New" pitchFamily="49" charset="0"/>
              </a:rPr>
              <a:t>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flags,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</a:t>
            </a:r>
            <a:r>
              <a:rPr lang="en-GB" sz="1800" dirty="0" err="1">
                <a:effectLst/>
                <a:latin typeface="Courier New" pitchFamily="49" charset="0"/>
              </a:rPr>
              <a:t>fd</a:t>
            </a:r>
            <a:r>
              <a:rPr lang="en-GB" sz="1800" dirty="0">
                <a:effectLst/>
                <a:latin typeface="Courier New" pitchFamily="49" charset="0"/>
              </a:rPr>
              <a:t>, </a:t>
            </a:r>
            <a:r>
              <a:rPr lang="en-GB" sz="1800" dirty="0" err="1">
                <a:effectLst/>
                <a:latin typeface="Courier New" pitchFamily="49" charset="0"/>
              </a:rPr>
              <a:t>int</a:t>
            </a:r>
            <a:r>
              <a:rPr lang="en-GB" sz="1800" dirty="0">
                <a:effectLst/>
                <a:latin typeface="Courier New" pitchFamily="49" charset="0"/>
              </a:rPr>
              <a:t> offset</a:t>
            </a:r>
            <a:r>
              <a:rPr lang="en-GB" sz="2000" dirty="0">
                <a:effectLst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2057400" y="2362200"/>
            <a:ext cx="990600" cy="3657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057400" y="3733800"/>
            <a:ext cx="990600" cy="114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638800" y="1981200"/>
            <a:ext cx="990600" cy="40386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638800" y="2590800"/>
            <a:ext cx="990600" cy="1143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cxnSp>
        <p:nvCxnSpPr>
          <p:cNvPr id="9" name="Straight Connector 8"/>
          <p:cNvCxnSpPr/>
          <p:nvPr/>
        </p:nvCxnSpPr>
        <p:spPr bwMode="auto">
          <a:xfrm flipV="1">
            <a:off x="3048000" y="2590800"/>
            <a:ext cx="2590800" cy="1143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3048000" y="3733800"/>
            <a:ext cx="2590800" cy="1143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AutoShape 51"/>
          <p:cNvSpPr>
            <a:spLocks/>
          </p:cNvSpPr>
          <p:nvPr/>
        </p:nvSpPr>
        <p:spPr bwMode="auto">
          <a:xfrm>
            <a:off x="6705600" y="2590800"/>
            <a:ext cx="228600" cy="11430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934200" y="2963336"/>
            <a:ext cx="13773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 err="1">
                <a:latin typeface="Courier New" pitchFamily="49" charset="0"/>
              </a:rPr>
              <a:t>len</a:t>
            </a:r>
            <a:r>
              <a:rPr lang="en-GB" sz="2000" dirty="0">
                <a:latin typeface="Courier New" pitchFamily="49" charset="0"/>
              </a:rPr>
              <a:t> </a:t>
            </a:r>
            <a:r>
              <a:rPr lang="en-GB" sz="2000" dirty="0">
                <a:latin typeface="+mn-lt"/>
              </a:rPr>
              <a:t>bytes</a:t>
            </a:r>
            <a:endParaRPr lang="en-US" sz="2000" dirty="0">
              <a:latin typeface="+mn-lt"/>
            </a:endParaRPr>
          </a:p>
        </p:txBody>
      </p:sp>
      <p:cxnSp>
        <p:nvCxnSpPr>
          <p:cNvPr id="15" name="Straight Arrow Connector 14"/>
          <p:cNvCxnSpPr/>
          <p:nvPr/>
        </p:nvCxnSpPr>
        <p:spPr bwMode="auto">
          <a:xfrm rot="10800000">
            <a:off x="6629400" y="3733800"/>
            <a:ext cx="609600" cy="158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Rectangle 15"/>
          <p:cNvSpPr/>
          <p:nvPr/>
        </p:nvSpPr>
        <p:spPr>
          <a:xfrm>
            <a:off x="7239000" y="3536889"/>
            <a:ext cx="954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latin typeface="Courier New" pitchFamily="49" charset="0"/>
              </a:rPr>
              <a:t>start</a:t>
            </a:r>
            <a:endParaRPr 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6781800" y="3857936"/>
            <a:ext cx="18635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(or address 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chosen by kernel)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4468" y="6031468"/>
            <a:ext cx="26722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Process virtual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753" y="6019800"/>
            <a:ext cx="23874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Disk file specified by </a:t>
            </a:r>
          </a:p>
          <a:p>
            <a:pPr algn="ctr"/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file descriptor </a:t>
            </a:r>
            <a:r>
              <a:rPr lang="en-US" sz="2000" dirty="0" err="1">
                <a:latin typeface="Courier New" pitchFamily="49" charset="0"/>
              </a:rPr>
              <a:t>fd</a:t>
            </a:r>
            <a:endParaRPr lang="en-US" sz="2000" dirty="0">
              <a:latin typeface="Courier New" pitchFamily="49" charset="0"/>
            </a:endParaRPr>
          </a:p>
        </p:txBody>
      </p:sp>
      <p:sp>
        <p:nvSpPr>
          <p:cNvPr id="20" name="AutoShape 51"/>
          <p:cNvSpPr>
            <a:spLocks/>
          </p:cNvSpPr>
          <p:nvPr/>
        </p:nvSpPr>
        <p:spPr bwMode="auto">
          <a:xfrm flipH="1">
            <a:off x="1752600" y="3733800"/>
            <a:ext cx="228600" cy="1143000"/>
          </a:xfrm>
          <a:prstGeom prst="rightBrace">
            <a:avLst>
              <a:gd name="adj1" fmla="val 63889"/>
              <a:gd name="adj2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58366" y="4104157"/>
            <a:ext cx="13773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 err="1">
                <a:latin typeface="Courier New" pitchFamily="49" charset="0"/>
              </a:rPr>
              <a:t>len</a:t>
            </a:r>
            <a:r>
              <a:rPr lang="en-GB" sz="2000" dirty="0">
                <a:latin typeface="Courier New" pitchFamily="49" charset="0"/>
              </a:rPr>
              <a:t> </a:t>
            </a:r>
            <a:r>
              <a:rPr lang="en-GB" sz="2000" dirty="0">
                <a:latin typeface="+mn-lt"/>
              </a:rPr>
              <a:t>bytes</a:t>
            </a:r>
            <a:endParaRPr lang="en-US" sz="2000" dirty="0">
              <a:latin typeface="+mn-lt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52400" y="4676745"/>
            <a:ext cx="11079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latin typeface="Courier New" pitchFamily="49" charset="0"/>
              </a:rPr>
              <a:t>offset</a:t>
            </a:r>
            <a:endParaRPr lang="en-US" sz="2000" dirty="0"/>
          </a:p>
        </p:txBody>
      </p:sp>
      <p:cxnSp>
        <p:nvCxnSpPr>
          <p:cNvPr id="24" name="Straight Arrow Connector 23"/>
          <p:cNvCxnSpPr>
            <a:stCxn id="22" idx="3"/>
          </p:cNvCxnSpPr>
          <p:nvPr/>
        </p:nvCxnSpPr>
        <p:spPr bwMode="auto">
          <a:xfrm>
            <a:off x="1260396" y="4876800"/>
            <a:ext cx="797004" cy="1588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262468" y="5003799"/>
            <a:ext cx="84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(bytes)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0004" y="5819001"/>
            <a:ext cx="2924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>
                <a:latin typeface="Courier New"/>
                <a:cs typeface="Courier New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1542" y="5791200"/>
            <a:ext cx="2924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dirty="0">
                <a:latin typeface="Courier New"/>
                <a:cs typeface="Courier New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42680222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61963"/>
            <a:ext cx="9144000" cy="604837"/>
          </a:xfrm>
          <a:ln/>
        </p:spPr>
        <p:txBody>
          <a:bodyPr/>
          <a:lstStyle/>
          <a:p>
            <a:pPr>
              <a:lnSpc>
                <a:spcPct val="82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>
                <a:latin typeface="+mn-lt"/>
              </a:rPr>
              <a:t>Example: Using </a:t>
            </a:r>
            <a:r>
              <a:rPr lang="en-GB" dirty="0" err="1">
                <a:latin typeface="Courier New"/>
                <a:cs typeface="Courier New"/>
              </a:rPr>
              <a:t>mmap</a:t>
            </a:r>
            <a:r>
              <a:rPr lang="en-GB" dirty="0">
                <a:latin typeface="+mn-lt"/>
              </a:rPr>
              <a:t> to Copy Files</a:t>
            </a:r>
            <a:endParaRPr lang="en-GB" dirty="0">
              <a:latin typeface="Courier New"/>
              <a:cs typeface="Courier New"/>
            </a:endParaRP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4419600" y="2436812"/>
            <a:ext cx="4572000" cy="4116388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360" tIns="44280" rIns="90360" bIns="44280"/>
          <a:lstStyle/>
          <a:p>
            <a:r>
              <a:rPr lang="en-US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/* </a:t>
            </a:r>
            <a:r>
              <a:rPr lang="en-US" sz="1400" dirty="0" err="1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mmapcopy</a:t>
            </a:r>
            <a:r>
              <a:rPr lang="en-US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 driver */</a:t>
            </a:r>
            <a:endParaRPr lang="en-US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1400" dirty="0" err="1">
                <a:solidFill>
                  <a:srgbClr val="2D961E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>
                <a:solidFill>
                  <a:srgbClr val="4A00FF"/>
                </a:solidFill>
                <a:latin typeface="Courier New" charset="0"/>
                <a:ea typeface="Courier New" charset="0"/>
                <a:cs typeface="Courier New" charset="0"/>
              </a:rPr>
              <a:t>main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sz="1400" dirty="0" err="1">
                <a:solidFill>
                  <a:srgbClr val="2D961E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 err="1">
                <a:solidFill>
                  <a:srgbClr val="C1651C"/>
                </a:solidFill>
                <a:latin typeface="Courier New" charset="0"/>
                <a:ea typeface="Courier New" charset="0"/>
                <a:cs typeface="Courier New" charset="0"/>
              </a:rPr>
              <a:t>argc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, </a:t>
            </a:r>
            <a:r>
              <a:rPr lang="en-US" sz="1400" dirty="0">
                <a:solidFill>
                  <a:srgbClr val="2D961E"/>
                </a:solidFill>
                <a:latin typeface="Courier New" charset="0"/>
                <a:ea typeface="Courier New" charset="0"/>
                <a:cs typeface="Courier New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**</a:t>
            </a:r>
            <a:r>
              <a:rPr lang="en-US" sz="1400" dirty="0" err="1">
                <a:solidFill>
                  <a:srgbClr val="C1651C"/>
                </a:solidFill>
                <a:latin typeface="Courier New" charset="0"/>
                <a:ea typeface="Courier New" charset="0"/>
                <a:cs typeface="Courier New" charset="0"/>
              </a:rPr>
              <a:t>argv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1400" dirty="0" err="1">
                <a:solidFill>
                  <a:srgbClr val="C200FF"/>
                </a:solidFill>
                <a:latin typeface="Courier New" charset="0"/>
                <a:ea typeface="Courier New" charset="0"/>
                <a:cs typeface="Courier New" charset="0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>
                <a:solidFill>
                  <a:srgbClr val="2D961E"/>
                </a:solidFill>
                <a:latin typeface="Courier New" charset="0"/>
                <a:ea typeface="Courier New" charset="0"/>
                <a:cs typeface="Courier New" charset="0"/>
              </a:rPr>
              <a:t>stat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>
                <a:solidFill>
                  <a:srgbClr val="C1651C"/>
                </a:solidFill>
                <a:latin typeface="Courier New" charset="0"/>
                <a:ea typeface="Courier New" charset="0"/>
                <a:cs typeface="Courier New" charset="0"/>
              </a:rPr>
              <a:t>stat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nl-NL" sz="1400" dirty="0">
                <a:solidFill>
                  <a:srgbClr val="2D961E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nl-NL" sz="1400" dirty="0" err="1">
                <a:solidFill>
                  <a:srgbClr val="C1651C"/>
                </a:solidFill>
                <a:latin typeface="Courier New" charset="0"/>
                <a:ea typeface="Courier New" charset="0"/>
                <a:cs typeface="Courier New" charset="0"/>
              </a:rPr>
              <a:t>fd</a:t>
            </a:r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endParaRPr lang="nl-NL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nl-NL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/* Check </a:t>
            </a:r>
            <a:r>
              <a:rPr lang="nl-NL" sz="1400" dirty="0" err="1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for</a:t>
            </a:r>
            <a:r>
              <a:rPr lang="nl-NL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nl-NL" sz="1400" dirty="0" err="1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required</a:t>
            </a:r>
            <a:r>
              <a:rPr lang="nl-NL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nl-NL" sz="1400" dirty="0" err="1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cmd</a:t>
            </a:r>
            <a:r>
              <a:rPr lang="nl-NL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 line </a:t>
            </a:r>
            <a:r>
              <a:rPr lang="nl-NL" sz="1400" dirty="0" err="1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arg</a:t>
            </a:r>
            <a:r>
              <a:rPr lang="nl-NL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 */</a:t>
            </a:r>
            <a:endParaRPr lang="nl-NL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1400" dirty="0">
                <a:solidFill>
                  <a:srgbClr val="C200FF"/>
                </a:solidFill>
                <a:latin typeface="Courier New" charset="0"/>
                <a:ea typeface="Courier New" charset="0"/>
                <a:cs typeface="Courier New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argc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!= 2) {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sz="1400" dirty="0">
                <a:solidFill>
                  <a:srgbClr val="9D206F"/>
                </a:solidFill>
                <a:latin typeface="Courier New" charset="0"/>
                <a:ea typeface="Courier New" charset="0"/>
                <a:cs typeface="Courier New" charset="0"/>
              </a:rPr>
              <a:t>"usage: %s &lt;filename&gt;\n"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,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         </a:t>
            </a:r>
            <a:r>
              <a:rPr lang="en-US" sz="1400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argv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[0]);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  exit(0);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}</a:t>
            </a:r>
          </a:p>
          <a:p>
            <a:endParaRPr lang="en-US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/* Copy input file to </a:t>
            </a:r>
            <a:r>
              <a:rPr lang="en-US" sz="1400" dirty="0" err="1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stdout</a:t>
            </a:r>
            <a:r>
              <a:rPr lang="en-US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 */</a:t>
            </a:r>
            <a:endParaRPr lang="en-US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nl-NL" sz="1400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fd</a:t>
            </a:r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= Open(</a:t>
            </a:r>
            <a:r>
              <a:rPr lang="nl-NL" sz="1400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argv</a:t>
            </a:r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[1], O_RDONLY, 0);</a:t>
            </a:r>
          </a:p>
          <a:p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fstat(fd, &amp;stat);</a:t>
            </a:r>
          </a:p>
          <a:p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nl-NL" sz="1400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mmapcopy</a:t>
            </a:r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nl-NL" sz="1400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fd</a:t>
            </a:r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, </a:t>
            </a:r>
            <a:r>
              <a:rPr lang="nl-NL" sz="1400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stat.st_size</a:t>
            </a:r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);</a:t>
            </a:r>
          </a:p>
          <a:p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exit(0);</a:t>
            </a:r>
          </a:p>
          <a:p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}</a:t>
            </a:r>
            <a:endParaRPr lang="en-GB" sz="14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96875" y="1362075"/>
            <a:ext cx="7896225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28600" y="1362075"/>
            <a:ext cx="87630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tabLst/>
              <a:defRPr/>
            </a:pPr>
            <a:r>
              <a:rPr lang="en-GB" kern="0" dirty="0">
                <a:latin typeface="Calibri" pitchFamily="34" charset="0"/>
              </a:rPr>
              <a:t>Copying a file to </a:t>
            </a:r>
            <a:r>
              <a:rPr lang="en-GB" kern="0" dirty="0" err="1">
                <a:latin typeface="Courier New"/>
                <a:cs typeface="Courier New"/>
              </a:rPr>
              <a:t>stdout</a:t>
            </a:r>
            <a:r>
              <a:rPr lang="en-GB" kern="0" dirty="0">
                <a:latin typeface="Calibri" pitchFamily="34" charset="0"/>
              </a:rPr>
              <a:t> without transferring data to user </a:t>
            </a:r>
            <a:r>
              <a:rPr lang="en-GB" kern="0" dirty="0" smtClean="0">
                <a:latin typeface="Calibri" pitchFamily="34" charset="0"/>
              </a:rPr>
              <a:t>space</a:t>
            </a:r>
          </a:p>
          <a:p>
            <a:pPr marL="800100" lvl="1" indent="-342900" eaLnBrk="1" hangingPunct="1">
              <a:spcBef>
                <a:spcPct val="20000"/>
              </a:spcBef>
              <a:buClr>
                <a:srgbClr val="990000"/>
              </a:buClr>
              <a:buSzPct val="60000"/>
              <a:buFont typeface="Wingdings 2" pitchFamily="18" charset="2"/>
              <a:buChar char="¢"/>
              <a:defRPr/>
            </a:pPr>
            <a:r>
              <a:rPr lang="en-GB" kern="0" dirty="0" smtClean="0">
                <a:latin typeface="Calibri" pitchFamily="34" charset="0"/>
              </a:rPr>
              <a:t>This </a:t>
            </a:r>
            <a:r>
              <a:rPr lang="en-GB" kern="0" dirty="0">
                <a:latin typeface="Calibri" pitchFamily="34" charset="0"/>
              </a:rPr>
              <a:t>c</a:t>
            </a:r>
            <a:r>
              <a:rPr kumimoji="0" lang="en-GB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ode does</a:t>
            </a:r>
            <a:r>
              <a:rPr kumimoji="0" lang="en-GB" b="1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 not meet our coding standards.</a:t>
            </a:r>
            <a:endParaRPr kumimoji="0" lang="en-GB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23318" y="2436812"/>
            <a:ext cx="3991482" cy="4116388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360" tIns="44280" rIns="90360" bIns="44280"/>
          <a:lstStyle/>
          <a:p>
            <a:r>
              <a:rPr lang="en-US" sz="1400" dirty="0">
                <a:solidFill>
                  <a:srgbClr val="926492"/>
                </a:solidFill>
                <a:latin typeface="Courier New" charset="0"/>
                <a:ea typeface="Courier New" charset="0"/>
                <a:cs typeface="Courier New" charset="0"/>
              </a:rPr>
              <a:t>#include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>
                <a:solidFill>
                  <a:srgbClr val="9D206F"/>
                </a:solidFill>
                <a:latin typeface="Courier New" charset="0"/>
                <a:ea typeface="Courier New" charset="0"/>
                <a:cs typeface="Courier New" charset="0"/>
              </a:rPr>
              <a:t>"</a:t>
            </a:r>
            <a:r>
              <a:rPr lang="en-US" sz="1400" dirty="0" err="1">
                <a:solidFill>
                  <a:srgbClr val="9D206F"/>
                </a:solidFill>
                <a:latin typeface="Courier New" charset="0"/>
                <a:ea typeface="Courier New" charset="0"/>
                <a:cs typeface="Courier New" charset="0"/>
              </a:rPr>
              <a:t>csapp.h</a:t>
            </a:r>
            <a:r>
              <a:rPr lang="en-US" sz="1400" dirty="0">
                <a:solidFill>
                  <a:srgbClr val="9D206F"/>
                </a:solidFill>
                <a:latin typeface="Courier New" charset="0"/>
                <a:ea typeface="Courier New" charset="0"/>
                <a:cs typeface="Courier New" charset="0"/>
              </a:rPr>
              <a:t>"</a:t>
            </a:r>
            <a:endParaRPr lang="en-US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endParaRPr lang="en-US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1400" dirty="0">
                <a:solidFill>
                  <a:srgbClr val="2D961E"/>
                </a:solidFill>
                <a:latin typeface="Courier New" charset="0"/>
                <a:ea typeface="Courier New" charset="0"/>
                <a:cs typeface="Courier New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 err="1">
                <a:solidFill>
                  <a:srgbClr val="4A00FF"/>
                </a:solidFill>
                <a:latin typeface="Courier New" charset="0"/>
                <a:ea typeface="Courier New" charset="0"/>
                <a:cs typeface="Courier New" charset="0"/>
              </a:rPr>
              <a:t>mmapcopy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sz="1400" dirty="0" err="1">
                <a:solidFill>
                  <a:srgbClr val="2D961E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 err="1">
                <a:solidFill>
                  <a:srgbClr val="C1651C"/>
                </a:solidFill>
                <a:latin typeface="Courier New" charset="0"/>
                <a:ea typeface="Courier New" charset="0"/>
                <a:cs typeface="Courier New" charset="0"/>
              </a:rPr>
              <a:t>fd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, </a:t>
            </a:r>
            <a:r>
              <a:rPr lang="en-US" sz="1400" dirty="0" err="1">
                <a:solidFill>
                  <a:srgbClr val="2D961E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1400" dirty="0">
                <a:solidFill>
                  <a:srgbClr val="C1651C"/>
                </a:solidFill>
                <a:latin typeface="Courier New" charset="0"/>
                <a:ea typeface="Courier New" charset="0"/>
                <a:cs typeface="Courier New" charset="0"/>
              </a:rPr>
              <a:t>size</a:t>
            </a:r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{</a:t>
            </a:r>
          </a:p>
          <a:p>
            <a:endParaRPr lang="en-US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en-US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/* </a:t>
            </a:r>
            <a:r>
              <a:rPr lang="en-US" sz="1400" dirty="0" err="1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Ptr</a:t>
            </a:r>
            <a:r>
              <a:rPr lang="en-US" sz="1400" dirty="0">
                <a:solidFill>
                  <a:srgbClr val="CB2418"/>
                </a:solidFill>
                <a:latin typeface="Courier New" charset="0"/>
                <a:ea typeface="Courier New" charset="0"/>
                <a:cs typeface="Courier New" charset="0"/>
              </a:rPr>
              <a:t> to memory mapped area */</a:t>
            </a:r>
            <a:endParaRPr lang="en-US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da-DK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da-DK" sz="1400" dirty="0" err="1">
                <a:solidFill>
                  <a:srgbClr val="2D961E"/>
                </a:solidFill>
                <a:latin typeface="Courier New" charset="0"/>
                <a:ea typeface="Courier New" charset="0"/>
                <a:cs typeface="Courier New" charset="0"/>
              </a:rPr>
              <a:t>char</a:t>
            </a:r>
            <a:r>
              <a:rPr lang="da-DK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*</a:t>
            </a:r>
            <a:r>
              <a:rPr lang="da-DK" sz="1400" dirty="0" err="1">
                <a:solidFill>
                  <a:srgbClr val="C1651C"/>
                </a:solidFill>
                <a:latin typeface="Courier New" charset="0"/>
                <a:ea typeface="Courier New" charset="0"/>
                <a:cs typeface="Courier New" charset="0"/>
              </a:rPr>
              <a:t>bufp</a:t>
            </a:r>
            <a:r>
              <a:rPr lang="da-DK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endParaRPr lang="da-DK" sz="1400" dirty="0">
              <a:solidFill>
                <a:srgbClr val="000000"/>
              </a:solidFill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da-DK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bufp = mmap(</a:t>
            </a:r>
            <a:r>
              <a:rPr lang="da-DK" sz="1400" dirty="0">
                <a:solidFill>
                  <a:srgbClr val="2C9290"/>
                </a:solidFill>
                <a:latin typeface="Courier New" charset="0"/>
                <a:ea typeface="Courier New" charset="0"/>
                <a:cs typeface="Courier New" charset="0"/>
              </a:rPr>
              <a:t>NULL</a:t>
            </a:r>
            <a:r>
              <a:rPr lang="da-DK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, size, </a:t>
            </a:r>
          </a:p>
          <a:p>
            <a:r>
              <a:rPr lang="da-DK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          PROT_READ,</a:t>
            </a:r>
          </a:p>
          <a:p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          MAP_PRIVATE, </a:t>
            </a:r>
          </a:p>
          <a:p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          </a:t>
            </a:r>
            <a:r>
              <a:rPr lang="nl-NL" sz="1400" dirty="0" err="1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fd</a:t>
            </a:r>
            <a:r>
              <a:rPr lang="nl-NL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, 0);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de-DE" sz="1400" dirty="0" err="1" smtClean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write</a:t>
            </a:r>
            <a:r>
              <a:rPr lang="de-DE" sz="1400" dirty="0" smtClean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(STDOUT_FILENO, </a:t>
            </a:r>
          </a:p>
          <a:p>
            <a:r>
              <a:rPr lang="de-DE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de-DE" sz="1400" dirty="0" smtClean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     </a:t>
            </a:r>
            <a:r>
              <a:rPr lang="de-DE" sz="1400" dirty="0" err="1" smtClean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bufp</a:t>
            </a:r>
            <a:r>
              <a:rPr lang="de-DE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, size);</a:t>
            </a:r>
          </a:p>
          <a:p>
            <a:r>
              <a:rPr lang="is-I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    </a:t>
            </a:r>
            <a:r>
              <a:rPr lang="is-IS" sz="1400" dirty="0">
                <a:solidFill>
                  <a:srgbClr val="C200FF"/>
                </a:solidFill>
                <a:latin typeface="Courier New" charset="0"/>
                <a:ea typeface="Courier New" charset="0"/>
                <a:cs typeface="Courier New" charset="0"/>
              </a:rPr>
              <a:t>return</a:t>
            </a:r>
            <a:r>
              <a:rPr lang="is-I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;</a:t>
            </a:r>
          </a:p>
          <a:p>
            <a:r>
              <a:rPr lang="is-IS" sz="1400" dirty="0">
                <a:solidFill>
                  <a:srgbClr val="000000"/>
                </a:solidFill>
                <a:latin typeface="Courier New" charset="0"/>
                <a:ea typeface="Courier New" charset="0"/>
                <a:cs typeface="Courier New" charset="0"/>
              </a:rPr>
              <a:t>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67000" y="6172200"/>
            <a:ext cx="1410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mmapcopy.c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Calibri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1426" y="6183868"/>
            <a:ext cx="1410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mmapcopy.c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54294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Uses of </a:t>
            </a:r>
            <a:r>
              <a:rPr lang="en-US" dirty="0" err="1" smtClean="0"/>
              <a:t>mmap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Reading big files</a:t>
            </a:r>
          </a:p>
          <a:p>
            <a:pPr lvl="1"/>
            <a:r>
              <a:rPr lang="en-US" dirty="0" smtClean="0"/>
              <a:t>Uses paging mechanism to bring files into memory</a:t>
            </a:r>
          </a:p>
          <a:p>
            <a:r>
              <a:rPr lang="en-US" dirty="0" smtClean="0"/>
              <a:t>Shared data structures</a:t>
            </a:r>
          </a:p>
          <a:p>
            <a:pPr lvl="1"/>
            <a:r>
              <a:rPr lang="en-US" dirty="0" smtClean="0"/>
              <a:t>When call with </a:t>
            </a:r>
            <a:r>
              <a:rPr lang="en-US" b="1" dirty="0" smtClean="0">
                <a:latin typeface="Courier New" charset="0"/>
                <a:ea typeface="Courier New" charset="0"/>
                <a:cs typeface="Courier New" charset="0"/>
              </a:rPr>
              <a:t>MAP_SHARED</a:t>
            </a:r>
            <a:r>
              <a:rPr lang="en-US" dirty="0" smtClean="0"/>
              <a:t> flag</a:t>
            </a:r>
          </a:p>
          <a:p>
            <a:pPr lvl="2"/>
            <a:r>
              <a:rPr lang="en-US" dirty="0" smtClean="0"/>
              <a:t>Multiple processes have access to same region of memory</a:t>
            </a:r>
          </a:p>
          <a:p>
            <a:pPr lvl="2"/>
            <a:r>
              <a:rPr lang="en-US" dirty="0" smtClean="0"/>
              <a:t>Risky!</a:t>
            </a:r>
          </a:p>
          <a:p>
            <a:r>
              <a:rPr lang="en-US" dirty="0" smtClean="0"/>
              <a:t>File-based data structures</a:t>
            </a:r>
          </a:p>
          <a:p>
            <a:pPr lvl="1"/>
            <a:r>
              <a:rPr lang="en-US" dirty="0" smtClean="0"/>
              <a:t>E.g., database</a:t>
            </a:r>
          </a:p>
          <a:p>
            <a:pPr lvl="1"/>
            <a:r>
              <a:rPr lang="en-US" dirty="0" smtClean="0"/>
              <a:t>Give </a:t>
            </a:r>
            <a:r>
              <a:rPr lang="en-US" b="1" dirty="0" err="1" smtClean="0">
                <a:latin typeface="Courier New" charset="0"/>
                <a:ea typeface="Courier New" charset="0"/>
                <a:cs typeface="Courier New" charset="0"/>
              </a:rPr>
              <a:t>prot</a:t>
            </a:r>
            <a:r>
              <a:rPr lang="en-US" dirty="0" smtClean="0"/>
              <a:t> argument </a:t>
            </a:r>
            <a:r>
              <a:rPr lang="en-US" b="1" dirty="0" smtClean="0">
                <a:latin typeface="Courier New" charset="0"/>
                <a:ea typeface="Courier New" charset="0"/>
                <a:cs typeface="Courier New" charset="0"/>
              </a:rPr>
              <a:t>PROT_READ | PROT_WRITE</a:t>
            </a:r>
          </a:p>
          <a:p>
            <a:pPr lvl="1"/>
            <a:r>
              <a:rPr lang="en-US" dirty="0" smtClean="0"/>
              <a:t>When </a:t>
            </a:r>
            <a:r>
              <a:rPr lang="en-US" dirty="0" err="1" smtClean="0"/>
              <a:t>unmap</a:t>
            </a:r>
            <a:r>
              <a:rPr lang="en-US" dirty="0" smtClean="0"/>
              <a:t> region, file will be updated via write-back</a:t>
            </a:r>
          </a:p>
          <a:p>
            <a:pPr lvl="1"/>
            <a:r>
              <a:rPr lang="en-US" dirty="0" smtClean="0"/>
              <a:t>Can implement load from file / update / write back to file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2255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VM requires hardware support</a:t>
            </a:r>
          </a:p>
          <a:p>
            <a:pPr lvl="1"/>
            <a:r>
              <a:rPr lang="en-US" dirty="0" smtClean="0"/>
              <a:t>Exception handling mechanism</a:t>
            </a:r>
          </a:p>
          <a:p>
            <a:pPr lvl="1"/>
            <a:r>
              <a:rPr lang="en-US" dirty="0" smtClean="0"/>
              <a:t>TLB</a:t>
            </a:r>
          </a:p>
          <a:p>
            <a:pPr lvl="1"/>
            <a:r>
              <a:rPr lang="en-US" dirty="0" smtClean="0"/>
              <a:t>Various control registers</a:t>
            </a:r>
          </a:p>
          <a:p>
            <a:r>
              <a:rPr lang="en-US" dirty="0" smtClean="0"/>
              <a:t>VM requires OS support</a:t>
            </a:r>
          </a:p>
          <a:p>
            <a:pPr lvl="1"/>
            <a:r>
              <a:rPr lang="en-US" dirty="0" smtClean="0"/>
              <a:t>Managing page tables</a:t>
            </a:r>
          </a:p>
          <a:p>
            <a:pPr lvl="1"/>
            <a:r>
              <a:rPr lang="en-US" dirty="0" smtClean="0"/>
              <a:t>Implementing page replacement policies</a:t>
            </a:r>
          </a:p>
          <a:p>
            <a:pPr lvl="1"/>
            <a:r>
              <a:rPr lang="en-US" dirty="0" smtClean="0"/>
              <a:t>Managing file system</a:t>
            </a:r>
          </a:p>
          <a:p>
            <a:r>
              <a:rPr lang="en-US" dirty="0" smtClean="0"/>
              <a:t>VM enables many capabilities</a:t>
            </a:r>
          </a:p>
          <a:p>
            <a:pPr lvl="1"/>
            <a:r>
              <a:rPr lang="en-US" dirty="0" smtClean="0"/>
              <a:t>Loading programs from memory</a:t>
            </a:r>
          </a:p>
          <a:p>
            <a:pPr lvl="1"/>
            <a:r>
              <a:rPr lang="en-US" dirty="0" smtClean="0"/>
              <a:t>Forking processes</a:t>
            </a:r>
          </a:p>
          <a:p>
            <a:pPr lvl="1"/>
            <a:r>
              <a:rPr lang="en-US" dirty="0" smtClean="0"/>
              <a:t>Providing memory protection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4386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15 Minute Break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5412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>
                <a:solidFill>
                  <a:srgbClr val="B3B3B3"/>
                </a:solidFill>
              </a:rPr>
              <a:t>Midterm Review</a:t>
            </a:r>
            <a:endParaRPr lang="en-US" sz="2800" dirty="0" smtClean="0">
              <a:solidFill>
                <a:srgbClr val="B3B3B3"/>
              </a:solidFill>
            </a:endParaRPr>
          </a:p>
          <a:p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Shell Lab Overview</a:t>
            </a:r>
          </a:p>
          <a:p>
            <a:r>
              <a:rPr lang="en-US" sz="2800" dirty="0" smtClean="0">
                <a:solidFill>
                  <a:srgbClr val="000000"/>
                </a:solidFill>
              </a:rPr>
              <a:t>Dynamic Memory Allocation</a:t>
            </a:r>
          </a:p>
          <a:p>
            <a:pPr lvl="1"/>
            <a:r>
              <a:rPr lang="en-US" dirty="0" smtClean="0">
                <a:solidFill>
                  <a:srgbClr val="B3B3B3"/>
                </a:solidFill>
              </a:rPr>
              <a:t>Memory Mapping (brief review)</a:t>
            </a:r>
          </a:p>
          <a:p>
            <a:pPr lvl="1"/>
            <a:r>
              <a:rPr lang="en-US" dirty="0" smtClean="0"/>
              <a:t>Basic Concepts of Memory Allocation</a:t>
            </a:r>
          </a:p>
          <a:p>
            <a:pPr lvl="1"/>
            <a:r>
              <a:rPr lang="en-US" dirty="0" smtClean="0">
                <a:solidFill>
                  <a:srgbClr val="B3B3B3"/>
                </a:solidFill>
              </a:rPr>
              <a:t>Implicit Free Lists</a:t>
            </a:r>
            <a:endParaRPr lang="en-US" dirty="0" smtClean="0">
              <a:solidFill>
                <a:srgbClr val="B3B3B3"/>
              </a:solidFill>
            </a:endParaRPr>
          </a:p>
          <a:p>
            <a:pPr lvl="1"/>
            <a:endParaRPr lang="en-US" dirty="0" smtClean="0">
              <a:solidFill>
                <a:srgbClr val="000000"/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3238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Memory Allocation	</a:t>
            </a:r>
          </a:p>
        </p:txBody>
      </p:sp>
      <p:sp>
        <p:nvSpPr>
          <p:cNvPr id="28" name="Content Placeholder 27"/>
          <p:cNvSpPr>
            <a:spLocks noGrp="1"/>
          </p:cNvSpPr>
          <p:nvPr>
            <p:ph idx="1"/>
          </p:nvPr>
        </p:nvSpPr>
        <p:spPr>
          <a:xfrm>
            <a:off x="280875" y="2940909"/>
            <a:ext cx="4093996" cy="3815473"/>
          </a:xfrm>
        </p:spPr>
        <p:txBody>
          <a:bodyPr/>
          <a:lstStyle/>
          <a:p>
            <a:r>
              <a:rPr lang="en-US" dirty="0"/>
              <a:t>Programmers use </a:t>
            </a:r>
            <a:r>
              <a:rPr lang="en-US" i="1" dirty="0">
                <a:solidFill>
                  <a:srgbClr val="990000"/>
                </a:solidFill>
              </a:rPr>
              <a:t>dynamic memory allocators </a:t>
            </a:r>
            <a:r>
              <a:rPr lang="en-US" dirty="0"/>
              <a:t>(such as </a:t>
            </a:r>
            <a:r>
              <a:rPr lang="en-US" dirty="0">
                <a:latin typeface="Courier New"/>
                <a:cs typeface="Courier New"/>
              </a:rPr>
              <a:t>malloc</a:t>
            </a:r>
            <a:r>
              <a:rPr lang="en-US" dirty="0"/>
              <a:t>) to acquire virtual memory (VM) at run time. </a:t>
            </a:r>
          </a:p>
          <a:p>
            <a:pPr lvl="1"/>
            <a:r>
              <a:rPr lang="en-US" dirty="0"/>
              <a:t>for data structures whose size is only known at runtime</a:t>
            </a:r>
          </a:p>
          <a:p>
            <a:r>
              <a:rPr lang="en-US" dirty="0"/>
              <a:t>Dynamic memory allocators manage an area of process VM known as the </a:t>
            </a:r>
            <a:r>
              <a:rPr lang="en-US" i="1" dirty="0">
                <a:solidFill>
                  <a:srgbClr val="990000"/>
                </a:solidFill>
              </a:rPr>
              <a:t>heap</a:t>
            </a:r>
            <a:r>
              <a:rPr lang="en-US" dirty="0"/>
              <a:t>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3959F402-DA8D-4BA1-8DCC-12F3B2AF8AE4}"/>
              </a:ext>
            </a:extLst>
          </p:cNvPr>
          <p:cNvGrpSpPr/>
          <p:nvPr/>
        </p:nvGrpSpPr>
        <p:grpSpPr>
          <a:xfrm>
            <a:off x="701418" y="1362074"/>
            <a:ext cx="3505200" cy="1371600"/>
            <a:chOff x="4189412" y="1362075"/>
            <a:chExt cx="3505200" cy="1371600"/>
          </a:xfrm>
        </p:grpSpPr>
        <p:sp>
          <p:nvSpPr>
            <p:cNvPr id="29" name="Rectangle 4"/>
            <p:cNvSpPr>
              <a:spLocks noChangeArrowheads="1"/>
            </p:cNvSpPr>
            <p:nvPr/>
          </p:nvSpPr>
          <p:spPr bwMode="auto">
            <a:xfrm>
              <a:off x="4189412" y="1362075"/>
              <a:ext cx="3505200" cy="457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>
                  <a:latin typeface="+mn-lt"/>
                </a:rPr>
                <a:t>Application</a:t>
              </a:r>
            </a:p>
          </p:txBody>
        </p:sp>
        <p:sp>
          <p:nvSpPr>
            <p:cNvPr id="30" name="Rectangle 5"/>
            <p:cNvSpPr>
              <a:spLocks noChangeArrowheads="1"/>
            </p:cNvSpPr>
            <p:nvPr/>
          </p:nvSpPr>
          <p:spPr bwMode="auto">
            <a:xfrm>
              <a:off x="4189412" y="1819275"/>
              <a:ext cx="3505200" cy="457200"/>
            </a:xfrm>
            <a:prstGeom prst="rect">
              <a:avLst/>
            </a:prstGeom>
            <a:solidFill>
              <a:srgbClr val="F6F5BD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>
                  <a:latin typeface="+mn-lt"/>
                </a:rPr>
                <a:t>Dynamic Memory Allocator</a:t>
              </a:r>
            </a:p>
          </p:txBody>
        </p:sp>
        <p:sp>
          <p:nvSpPr>
            <p:cNvPr id="31" name="Rectangle 6"/>
            <p:cNvSpPr>
              <a:spLocks noChangeArrowheads="1"/>
            </p:cNvSpPr>
            <p:nvPr/>
          </p:nvSpPr>
          <p:spPr bwMode="auto">
            <a:xfrm>
              <a:off x="4189412" y="2276475"/>
              <a:ext cx="3505200" cy="457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latin typeface="+mn-lt"/>
                </a:rPr>
                <a:t>Heap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46547B32-6206-4367-B7C8-5DDEB992958D}"/>
              </a:ext>
            </a:extLst>
          </p:cNvPr>
          <p:cNvGrpSpPr/>
          <p:nvPr/>
        </p:nvGrpSpPr>
        <p:grpSpPr>
          <a:xfrm>
            <a:off x="3985528" y="1057491"/>
            <a:ext cx="5172476" cy="5876709"/>
            <a:chOff x="3985528" y="1057491"/>
            <a:chExt cx="5172476" cy="5876709"/>
          </a:xfrm>
        </p:grpSpPr>
        <p:sp>
          <p:nvSpPr>
            <p:cNvPr id="48" name="Rectangle 14">
              <a:extLst>
                <a:ext uri="{FF2B5EF4-FFF2-40B4-BE49-F238E27FC236}">
                  <a16:creationId xmlns:a16="http://schemas.microsoft.com/office/drawing/2014/main" xmlns="" id="{3C6BC731-BCC7-4ECB-9878-B084C0C64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661" y="1328954"/>
              <a:ext cx="2789237" cy="487362"/>
            </a:xfrm>
            <a:prstGeom prst="rect">
              <a:avLst/>
            </a:prstGeom>
            <a:solidFill>
              <a:srgbClr val="F1C7C7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Kernel virtual memory</a:t>
              </a:r>
            </a:p>
          </p:txBody>
        </p:sp>
        <p:sp>
          <p:nvSpPr>
            <p:cNvPr id="49" name="Rectangle 15">
              <a:extLst>
                <a:ext uri="{FF2B5EF4-FFF2-40B4-BE49-F238E27FC236}">
                  <a16:creationId xmlns:a16="http://schemas.microsoft.com/office/drawing/2014/main" xmlns="" id="{71DF70EE-8BA3-40E2-AC0D-4E5BC103D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661" y="3030754"/>
              <a:ext cx="2789237" cy="669925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Memory-mapped region for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shared libraries</a:t>
              </a:r>
            </a:p>
          </p:txBody>
        </p:sp>
        <p:sp>
          <p:nvSpPr>
            <p:cNvPr id="50" name="Rectangle 16">
              <a:extLst>
                <a:ext uri="{FF2B5EF4-FFF2-40B4-BE49-F238E27FC236}">
                  <a16:creationId xmlns:a16="http://schemas.microsoft.com/office/drawing/2014/main" xmlns="" id="{4467A38E-A137-4ED9-A1C9-28C0DC7D7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661" y="3695916"/>
              <a:ext cx="2789237" cy="723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Rectangle 18">
              <a:extLst>
                <a:ext uri="{FF2B5EF4-FFF2-40B4-BE49-F238E27FC236}">
                  <a16:creationId xmlns:a16="http://schemas.microsoft.com/office/drawing/2014/main" xmlns="" id="{68B8D680-7A45-47D5-B75E-C44C19F68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661" y="2121116"/>
              <a:ext cx="2789237" cy="9064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Line 19">
              <a:extLst>
                <a:ext uri="{FF2B5EF4-FFF2-40B4-BE49-F238E27FC236}">
                  <a16:creationId xmlns:a16="http://schemas.microsoft.com/office/drawing/2014/main" xmlns="" id="{DEE5B908-3B29-4F80-8A43-61B4052051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8782" y="4024529"/>
              <a:ext cx="1588" cy="3841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Rectangle 20">
              <a:extLst>
                <a:ext uri="{FF2B5EF4-FFF2-40B4-BE49-F238E27FC236}">
                  <a16:creationId xmlns:a16="http://schemas.microsoft.com/office/drawing/2014/main" xmlns="" id="{DC92565D-8865-4ED7-ABD4-8546053FB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661" y="1786154"/>
              <a:ext cx="2789237" cy="563562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User stack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(created at runtime)</a:t>
              </a:r>
            </a:p>
          </p:txBody>
        </p:sp>
        <p:sp>
          <p:nvSpPr>
            <p:cNvPr id="55" name="Line 21">
              <a:extLst>
                <a:ext uri="{FF2B5EF4-FFF2-40B4-BE49-F238E27FC236}">
                  <a16:creationId xmlns:a16="http://schemas.microsoft.com/office/drawing/2014/main" xmlns="" id="{489F7873-687C-4A92-B1E0-FFF5AB5646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8782" y="2805329"/>
              <a:ext cx="1588" cy="2317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22">
              <a:extLst>
                <a:ext uri="{FF2B5EF4-FFF2-40B4-BE49-F238E27FC236}">
                  <a16:creationId xmlns:a16="http://schemas.microsoft.com/office/drawing/2014/main" xmlns="" id="{7F85D09C-7BA7-4CEC-A02C-8D764B0990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8782" y="2349716"/>
              <a:ext cx="1588" cy="228600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Rectangle 23">
              <a:extLst>
                <a:ext uri="{FF2B5EF4-FFF2-40B4-BE49-F238E27FC236}">
                  <a16:creationId xmlns:a16="http://schemas.microsoft.com/office/drawing/2014/main" xmlns="" id="{D93691E9-1304-4426-A712-535E2AAED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661" y="6379849"/>
              <a:ext cx="2789238" cy="39687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Unused</a:t>
              </a:r>
            </a:p>
          </p:txBody>
        </p:sp>
        <p:sp>
          <p:nvSpPr>
            <p:cNvPr id="58" name="Text Box 24">
              <a:extLst>
                <a:ext uri="{FF2B5EF4-FFF2-40B4-BE49-F238E27FC236}">
                  <a16:creationId xmlns:a16="http://schemas.microsoft.com/office/drawing/2014/main" xmlns="" id="{69070789-7074-4E29-9825-CA47170452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3026" y="6598401"/>
              <a:ext cx="285954" cy="335799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0</a:t>
              </a:r>
            </a:p>
          </p:txBody>
        </p:sp>
        <p:sp>
          <p:nvSpPr>
            <p:cNvPr id="59" name="Text Box 25">
              <a:extLst>
                <a:ext uri="{FF2B5EF4-FFF2-40B4-BE49-F238E27FC236}">
                  <a16:creationId xmlns:a16="http://schemas.microsoft.com/office/drawing/2014/main" xmlns="" id="{3A65B827-6A3C-4488-88A6-40D81BD391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6053" y="2175091"/>
              <a:ext cx="869831" cy="80855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ourier New" pitchFamily="49" charset="0"/>
                  <a:ea typeface="msgothic" charset="0"/>
                  <a:cs typeface="msgothic" charset="0"/>
                </a:rPr>
                <a:t>%</a:t>
              </a:r>
              <a:r>
                <a:rPr lang="en-GB" sz="1600" b="1" dirty="0" err="1">
                  <a:latin typeface="Courier New" pitchFamily="49" charset="0"/>
                  <a:ea typeface="msgothic" charset="0"/>
                  <a:cs typeface="msgothic" charset="0"/>
                </a:rPr>
                <a:t>rsp</a:t>
              </a: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(stack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pointer)</a:t>
              </a:r>
            </a:p>
          </p:txBody>
        </p:sp>
        <p:sp>
          <p:nvSpPr>
            <p:cNvPr id="60" name="Line 26">
              <a:extLst>
                <a:ext uri="{FF2B5EF4-FFF2-40B4-BE49-F238E27FC236}">
                  <a16:creationId xmlns:a16="http://schemas.microsoft.com/office/drawing/2014/main" xmlns="" id="{0DE4F69E-885B-4E2B-A696-A98D610F55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39666" y="2346541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 Box 27">
              <a:extLst>
                <a:ext uri="{FF2B5EF4-FFF2-40B4-BE49-F238E27FC236}">
                  <a16:creationId xmlns:a16="http://schemas.microsoft.com/office/drawing/2014/main" xmlns="" id="{3095C856-5C32-4095-A5F8-54ECCE767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8032" y="1057491"/>
              <a:ext cx="1149972" cy="81836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Memory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invisible to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user code</a:t>
              </a:r>
            </a:p>
          </p:txBody>
        </p:sp>
        <p:sp>
          <p:nvSpPr>
            <p:cNvPr id="62" name="Line 28">
              <a:extLst>
                <a:ext uri="{FF2B5EF4-FFF2-40B4-BE49-F238E27FC236}">
                  <a16:creationId xmlns:a16="http://schemas.microsoft.com/office/drawing/2014/main" xmlns="" id="{9974C533-5AC4-4A28-AA60-8A8181E18B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55632" y="1324459"/>
              <a:ext cx="1588" cy="460375"/>
            </a:xfrm>
            <a:prstGeom prst="line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Box 29">
              <a:extLst>
                <a:ext uri="{FF2B5EF4-FFF2-40B4-BE49-F238E27FC236}">
                  <a16:creationId xmlns:a16="http://schemas.microsoft.com/office/drawing/2014/main" xmlns="" id="{F5216458-C0DC-4DA7-9E11-D6122C2BE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0120" y="4240429"/>
              <a:ext cx="552052" cy="32598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>
                  <a:latin typeface="Courier New" pitchFamily="49" charset="0"/>
                  <a:ea typeface="msgothic" charset="0"/>
                  <a:cs typeface="msgothic" charset="0"/>
                </a:rPr>
                <a:t>brk</a:t>
              </a:r>
            </a:p>
          </p:txBody>
        </p:sp>
        <p:sp>
          <p:nvSpPr>
            <p:cNvPr id="64" name="Line 30">
              <a:extLst>
                <a:ext uri="{FF2B5EF4-FFF2-40B4-BE49-F238E27FC236}">
                  <a16:creationId xmlns:a16="http://schemas.microsoft.com/office/drawing/2014/main" xmlns="" id="{0D03DCEE-4D5D-474D-B273-F51B91F9B2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15945" y="4407116"/>
              <a:ext cx="384175" cy="1588"/>
            </a:xfrm>
            <a:prstGeom prst="line">
              <a:avLst/>
            </a:prstGeom>
            <a:noFill/>
            <a:ln w="324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Box 32">
              <a:extLst>
                <a:ext uri="{FF2B5EF4-FFF2-40B4-BE49-F238E27FC236}">
                  <a16:creationId xmlns:a16="http://schemas.microsoft.com/office/drawing/2014/main" xmlns="" id="{A9EA6A47-1273-4984-91DA-0AD78F8ECF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5528" y="6256343"/>
              <a:ext cx="1043672" cy="29918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400" b="1" dirty="0">
                  <a:latin typeface="Courier New" pitchFamily="49" charset="0"/>
                  <a:ea typeface="msgothic" charset="0"/>
                  <a:cs typeface="msgothic" charset="0"/>
                </a:rPr>
                <a:t>0x400000</a:t>
              </a:r>
            </a:p>
          </p:txBody>
        </p:sp>
        <p:sp>
          <p:nvSpPr>
            <p:cNvPr id="66" name="Rectangle 34">
              <a:extLst>
                <a:ext uri="{FF2B5EF4-FFF2-40B4-BE49-F238E27FC236}">
                  <a16:creationId xmlns:a16="http://schemas.microsoft.com/office/drawing/2014/main" xmlns="" id="{A34C9A30-356D-41C0-A8B6-38A25A8CB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661" y="5084449"/>
              <a:ext cx="2789238" cy="669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Read/write segment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(.</a:t>
              </a:r>
              <a:r>
                <a:rPr lang="en-GB" sz="1600" b="1" dirty="0">
                  <a:latin typeface="Courier New" pitchFamily="49" charset="0"/>
                  <a:ea typeface="msgothic" charset="0"/>
                  <a:cs typeface="msgothic" charset="0"/>
                </a:rPr>
                <a:t>data</a:t>
              </a: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, .</a:t>
              </a:r>
              <a:r>
                <a:rPr lang="en-GB" sz="1600" b="1" dirty="0" err="1">
                  <a:latin typeface="Courier New" pitchFamily="49" charset="0"/>
                  <a:ea typeface="msgothic" charset="0"/>
                  <a:cs typeface="msgothic" charset="0"/>
                </a:rPr>
                <a:t>bss</a:t>
              </a: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)</a:t>
              </a:r>
            </a:p>
          </p:txBody>
        </p:sp>
        <p:sp>
          <p:nvSpPr>
            <p:cNvPr id="67" name="Rectangle 35">
              <a:extLst>
                <a:ext uri="{FF2B5EF4-FFF2-40B4-BE49-F238E27FC236}">
                  <a16:creationId xmlns:a16="http://schemas.microsoft.com/office/drawing/2014/main" xmlns="" id="{F6E1B079-3169-48E3-B21E-9B83D7C1D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661" y="5709924"/>
              <a:ext cx="2789238" cy="669925"/>
            </a:xfrm>
            <a:prstGeom prst="rect">
              <a:avLst/>
            </a:prstGeom>
            <a:solidFill>
              <a:srgbClr val="F6F5BD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Read-only segment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(</a:t>
              </a:r>
              <a:r>
                <a:rPr lang="en-GB" sz="1600" b="1" dirty="0">
                  <a:latin typeface="Courier New" pitchFamily="49" charset="0"/>
                  <a:ea typeface="msgothic" charset="0"/>
                  <a:cs typeface="msgothic" charset="0"/>
                </a:rPr>
                <a:t>.init</a:t>
              </a: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, .</a:t>
              </a:r>
              <a:r>
                <a:rPr lang="en-GB" sz="1600" b="1" dirty="0">
                  <a:latin typeface="Courier New" pitchFamily="49" charset="0"/>
                  <a:ea typeface="msgothic" charset="0"/>
                  <a:cs typeface="msgothic" charset="0"/>
                </a:rPr>
                <a:t>text</a:t>
              </a: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, </a:t>
              </a:r>
              <a:r>
                <a:rPr lang="en-GB" sz="1600" b="1" dirty="0">
                  <a:latin typeface="Courier New" pitchFamily="49" charset="0"/>
                  <a:ea typeface="msgothic" charset="0"/>
                  <a:cs typeface="msgothic" charset="0"/>
                </a:rPr>
                <a:t>.</a:t>
              </a:r>
              <a:r>
                <a:rPr lang="en-GB" sz="1600" b="1" dirty="0" err="1">
                  <a:latin typeface="Courier New" pitchFamily="49" charset="0"/>
                  <a:ea typeface="msgothic" charset="0"/>
                  <a:cs typeface="msgothic" charset="0"/>
                </a:rPr>
                <a:t>rodata</a:t>
              </a: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)</a:t>
              </a:r>
            </a:p>
          </p:txBody>
        </p:sp>
        <p:sp>
          <p:nvSpPr>
            <p:cNvPr id="68" name="AutoShape 36">
              <a:extLst>
                <a:ext uri="{FF2B5EF4-FFF2-40B4-BE49-F238E27FC236}">
                  <a16:creationId xmlns:a16="http://schemas.microsoft.com/office/drawing/2014/main" xmlns="" id="{A5118769-711D-4D83-971A-3B3ED1712A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6582" y="5092916"/>
              <a:ext cx="76200" cy="1295400"/>
            </a:xfrm>
            <a:prstGeom prst="rightBrace">
              <a:avLst>
                <a:gd name="adj1" fmla="val 141667"/>
                <a:gd name="adj2" fmla="val 50000"/>
              </a:avLst>
            </a:prstGeom>
            <a:noFill/>
            <a:ln w="1260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Text Box 37">
              <a:extLst>
                <a:ext uri="{FF2B5EF4-FFF2-40B4-BE49-F238E27FC236}">
                  <a16:creationId xmlns:a16="http://schemas.microsoft.com/office/drawing/2014/main" xmlns="" id="{BDD0E81B-FCD2-476D-9F94-60248BFF36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8982" y="5077041"/>
              <a:ext cx="1149459" cy="130093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Loaded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from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the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executable </a:t>
              </a:r>
            </a:p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file</a:t>
              </a:r>
            </a:p>
          </p:txBody>
        </p:sp>
        <p:sp>
          <p:nvSpPr>
            <p:cNvPr id="51" name="Rectangle 17">
              <a:extLst>
                <a:ext uri="{FF2B5EF4-FFF2-40B4-BE49-F238E27FC236}">
                  <a16:creationId xmlns:a16="http://schemas.microsoft.com/office/drawing/2014/main" xmlns="" id="{8D2750E6-4CB4-4B36-B725-F6B8B2E9C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662" y="4417699"/>
              <a:ext cx="2789237" cy="669925"/>
            </a:xfrm>
            <a:prstGeom prst="rect">
              <a:avLst/>
            </a:prstGeom>
            <a:solidFill>
              <a:srgbClr val="D5F1CF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Run-time heap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(created by </a:t>
              </a:r>
              <a:r>
                <a:rPr lang="en-GB" sz="1600" b="1" dirty="0" err="1">
                  <a:latin typeface="Courier New" pitchFamily="49" charset="0"/>
                  <a:ea typeface="msgothic" charset="0"/>
                  <a:cs typeface="msgothic" charset="0"/>
                </a:rPr>
                <a:t>malloc</a:t>
              </a: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893799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Memory Allocation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671637"/>
            <a:ext cx="7896225" cy="4348163"/>
          </a:xfrm>
        </p:spPr>
        <p:txBody>
          <a:bodyPr/>
          <a:lstStyle/>
          <a:p>
            <a:r>
              <a:rPr lang="en-US" dirty="0"/>
              <a:t>Allocator maintains heap as collection of variable sized </a:t>
            </a:r>
            <a:r>
              <a:rPr lang="en-US" i="1" dirty="0">
                <a:solidFill>
                  <a:srgbClr val="990000"/>
                </a:solidFill>
              </a:rPr>
              <a:t>blocks</a:t>
            </a:r>
            <a:r>
              <a:rPr lang="en-US" dirty="0">
                <a:solidFill>
                  <a:srgbClr val="000000"/>
                </a:solidFill>
              </a:rPr>
              <a:t>, which are either </a:t>
            </a:r>
            <a:r>
              <a:rPr lang="en-US" i="1" dirty="0">
                <a:solidFill>
                  <a:srgbClr val="990000"/>
                </a:solidFill>
              </a:rPr>
              <a:t>allocated</a:t>
            </a:r>
            <a:r>
              <a:rPr lang="en-US" dirty="0">
                <a:solidFill>
                  <a:srgbClr val="000000"/>
                </a:solidFill>
              </a:rPr>
              <a:t> or </a:t>
            </a:r>
            <a:r>
              <a:rPr lang="en-US" i="1" dirty="0">
                <a:solidFill>
                  <a:srgbClr val="990000"/>
                </a:solidFill>
              </a:rPr>
              <a:t>free</a:t>
            </a:r>
          </a:p>
          <a:p>
            <a:r>
              <a:rPr lang="en-US" dirty="0"/>
              <a:t>Types of allocators</a:t>
            </a:r>
          </a:p>
          <a:p>
            <a:pPr lvl="1"/>
            <a:r>
              <a:rPr lang="en-US" b="1" i="1" dirty="0">
                <a:solidFill>
                  <a:srgbClr val="990000"/>
                </a:solidFill>
              </a:rPr>
              <a:t>Explicit allocator</a:t>
            </a:r>
            <a:r>
              <a:rPr lang="en-US" b="1" dirty="0"/>
              <a:t>:  </a:t>
            </a:r>
            <a:r>
              <a:rPr lang="en-US" dirty="0"/>
              <a:t>application allocates and frees space </a:t>
            </a:r>
          </a:p>
          <a:p>
            <a:pPr lvl="2"/>
            <a:r>
              <a:rPr lang="en-US" dirty="0"/>
              <a:t>E.g.,  </a:t>
            </a:r>
            <a:r>
              <a:rPr lang="en-US" b="1" dirty="0" err="1">
                <a:latin typeface="Courier New"/>
                <a:cs typeface="Courier New"/>
              </a:rPr>
              <a:t>malloc</a:t>
            </a:r>
            <a:r>
              <a:rPr lang="en-US" dirty="0"/>
              <a:t> and </a:t>
            </a:r>
            <a:r>
              <a:rPr lang="en-US" b="1" dirty="0">
                <a:latin typeface="Courier New"/>
                <a:cs typeface="Courier New"/>
              </a:rPr>
              <a:t>free</a:t>
            </a:r>
            <a:r>
              <a:rPr lang="en-US" dirty="0"/>
              <a:t> in C</a:t>
            </a:r>
          </a:p>
          <a:p>
            <a:pPr lvl="1"/>
            <a:r>
              <a:rPr lang="en-US" b="1" i="1" dirty="0">
                <a:solidFill>
                  <a:srgbClr val="990000"/>
                </a:solidFill>
              </a:rPr>
              <a:t>Implicit allocator:</a:t>
            </a:r>
            <a:r>
              <a:rPr lang="en-US" dirty="0"/>
              <a:t> application allocates, but does not free space</a:t>
            </a:r>
          </a:p>
          <a:p>
            <a:pPr lvl="2"/>
            <a:r>
              <a:rPr lang="en-US" dirty="0"/>
              <a:t>E.g.,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/>
              <a:t> and garbage collection in Java</a:t>
            </a:r>
          </a:p>
          <a:p>
            <a:endParaRPr lang="en-US" dirty="0"/>
          </a:p>
          <a:p>
            <a:r>
              <a:rPr lang="en-US" dirty="0"/>
              <a:t>Will discuss simple explicit memory allocation today</a:t>
            </a:r>
          </a:p>
        </p:txBody>
      </p:sp>
    </p:spTree>
    <p:extLst>
      <p:ext uri="{BB962C8B-B14F-4D97-AF65-F5344CB8AC3E}">
        <p14:creationId xmlns:p14="http://schemas.microsoft.com/office/powerpoint/2010/main" val="5303758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 noGrp="1" noChangeArrowheads="1"/>
          </p:cNvSpPr>
          <p:nvPr>
            <p:ph type="title"/>
          </p:nvPr>
        </p:nvSpPr>
        <p:spPr>
          <a:xfrm>
            <a:off x="424248" y="417513"/>
            <a:ext cx="59436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The </a:t>
            </a:r>
            <a:r>
              <a:rPr lang="en-GB" dirty="0" err="1">
                <a:latin typeface="Courier New"/>
                <a:cs typeface="Courier New"/>
              </a:rPr>
              <a:t>malloc</a:t>
            </a:r>
            <a:r>
              <a:rPr lang="en-GB" dirty="0"/>
              <a:t> Package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42913" y="1126524"/>
            <a:ext cx="8624887" cy="5486400"/>
          </a:xfrm>
          <a:ln/>
        </p:spPr>
        <p:txBody>
          <a:bodyPr/>
          <a:lstStyle/>
          <a:p>
            <a:pPr marL="346075" indent="-346075">
              <a:lnSpc>
                <a:spcPct val="94000"/>
              </a:lnSpc>
              <a:buNone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000" dirty="0">
                <a:latin typeface="Courier New" pitchFamily="49" charset="0"/>
              </a:rPr>
              <a:t>#include &lt;</a:t>
            </a:r>
            <a:r>
              <a:rPr lang="en-GB" sz="2000" dirty="0" err="1">
                <a:latin typeface="Courier New" pitchFamily="49" charset="0"/>
              </a:rPr>
              <a:t>stdlib.h</a:t>
            </a:r>
            <a:r>
              <a:rPr lang="en-GB" sz="2000" dirty="0">
                <a:latin typeface="Courier New" pitchFamily="49" charset="0"/>
              </a:rPr>
              <a:t>&gt;</a:t>
            </a:r>
          </a:p>
          <a:p>
            <a:pPr marL="346075" indent="-346075">
              <a:lnSpc>
                <a:spcPct val="94000"/>
              </a:lnSpc>
              <a:spcBef>
                <a:spcPts val="1200"/>
              </a:spcBef>
              <a:buNone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000" dirty="0">
                <a:latin typeface="Courier New" pitchFamily="49" charset="0"/>
              </a:rPr>
              <a:t>void *</a:t>
            </a:r>
            <a:r>
              <a:rPr lang="en-GB" sz="2000" dirty="0" err="1">
                <a:latin typeface="Courier New" pitchFamily="49" charset="0"/>
              </a:rPr>
              <a:t>malloc</a:t>
            </a:r>
            <a:r>
              <a:rPr lang="en-GB" sz="2000" dirty="0">
                <a:latin typeface="Courier New" pitchFamily="49" charset="0"/>
              </a:rPr>
              <a:t>(</a:t>
            </a:r>
            <a:r>
              <a:rPr lang="en-GB" sz="2000" dirty="0" err="1">
                <a:latin typeface="Courier New" pitchFamily="49" charset="0"/>
              </a:rPr>
              <a:t>size_t</a:t>
            </a:r>
            <a:r>
              <a:rPr lang="en-GB" sz="2000" dirty="0">
                <a:latin typeface="Courier New" pitchFamily="49" charset="0"/>
              </a:rPr>
              <a:t> size)</a:t>
            </a:r>
          </a:p>
          <a:p>
            <a:pPr lvl="1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dirty="0"/>
              <a:t>Successful:</a:t>
            </a:r>
          </a:p>
          <a:p>
            <a:pPr lvl="2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dirty="0"/>
              <a:t>Returns a pointer to a memory block of at least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size</a:t>
            </a:r>
            <a:r>
              <a:rPr lang="en-GB" dirty="0"/>
              <a:t> bytes</a:t>
            </a:r>
            <a:br>
              <a:rPr lang="en-GB" dirty="0"/>
            </a:br>
            <a:r>
              <a:rPr lang="en-GB" dirty="0"/>
              <a:t>aligned to a 16-byte boundary (on x86-64)</a:t>
            </a:r>
          </a:p>
          <a:p>
            <a:pPr lvl="2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dirty="0"/>
              <a:t>If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size == 0</a:t>
            </a:r>
            <a:r>
              <a:rPr lang="en-GB" dirty="0"/>
              <a:t>, returns NULL</a:t>
            </a:r>
          </a:p>
          <a:p>
            <a:pPr lvl="1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dirty="0"/>
              <a:t>Unsuccessful: returns NULL (0) and sets </a:t>
            </a:r>
            <a:r>
              <a:rPr lang="en-GB" b="1" dirty="0" err="1">
                <a:latin typeface="Courier New"/>
                <a:cs typeface="Courier New"/>
              </a:rPr>
              <a:t>errno</a:t>
            </a:r>
            <a:r>
              <a:rPr lang="en-GB" b="1" dirty="0">
                <a:latin typeface="Courier New"/>
                <a:cs typeface="Courier New"/>
              </a:rPr>
              <a:t> </a:t>
            </a:r>
            <a:r>
              <a:rPr lang="en-GB" dirty="0">
                <a:latin typeface="+mn-lt"/>
                <a:cs typeface="Courier New"/>
              </a:rPr>
              <a:t>to</a:t>
            </a:r>
            <a:r>
              <a:rPr lang="en-GB" b="1" dirty="0">
                <a:latin typeface="Courier New"/>
                <a:cs typeface="Courier New"/>
              </a:rPr>
              <a:t> </a:t>
            </a:r>
            <a:r>
              <a:rPr lang="en-GB" dirty="0">
                <a:latin typeface="+mn-lt"/>
                <a:cs typeface="Courier New"/>
              </a:rPr>
              <a:t>ENOMEM</a:t>
            </a:r>
          </a:p>
          <a:p>
            <a:pPr marL="346075" indent="-346075">
              <a:lnSpc>
                <a:spcPct val="94000"/>
              </a:lnSpc>
              <a:spcBef>
                <a:spcPts val="1200"/>
              </a:spcBef>
              <a:buNone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000" dirty="0">
                <a:latin typeface="Courier New" pitchFamily="49" charset="0"/>
              </a:rPr>
              <a:t>void free(void *p)</a:t>
            </a:r>
          </a:p>
          <a:p>
            <a:pPr lvl="1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dirty="0"/>
              <a:t>Returns the block pointed at by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GB" dirty="0"/>
              <a:t> to pool of available memory</a:t>
            </a:r>
          </a:p>
          <a:p>
            <a:pPr lvl="1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b="1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GB" dirty="0"/>
              <a:t> must come from a previous call to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dirty="0"/>
              <a:t>or 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realloc</a:t>
            </a:r>
            <a:endParaRPr lang="en-GB" b="1" dirty="0">
              <a:latin typeface="Courier New" pitchFamily="49" charset="0"/>
              <a:cs typeface="Courier New" pitchFamily="49" charset="0"/>
            </a:endParaRPr>
          </a:p>
          <a:p>
            <a:pPr marL="346075" indent="-346075">
              <a:lnSpc>
                <a:spcPct val="94000"/>
              </a:lnSpc>
              <a:spcBef>
                <a:spcPts val="1200"/>
              </a:spcBef>
              <a:buNone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sz="2000" dirty="0">
                <a:latin typeface="+mn-lt"/>
              </a:rPr>
              <a:t>Other functions</a:t>
            </a:r>
          </a:p>
          <a:p>
            <a:pPr lvl="1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b="1" dirty="0" err="1">
                <a:latin typeface="Courier New"/>
                <a:cs typeface="Courier New"/>
              </a:rPr>
              <a:t>calloc</a:t>
            </a:r>
            <a:r>
              <a:rPr lang="en-GB" b="1" dirty="0"/>
              <a:t>:</a:t>
            </a:r>
            <a:r>
              <a:rPr lang="en-GB" dirty="0"/>
              <a:t> Version of </a:t>
            </a:r>
            <a:r>
              <a:rPr lang="en-GB" b="1" dirty="0" err="1">
                <a:latin typeface="Courier New"/>
                <a:cs typeface="Courier New"/>
              </a:rPr>
              <a:t>malloc</a:t>
            </a:r>
            <a:r>
              <a:rPr lang="en-GB" dirty="0"/>
              <a:t> that initializes allocated block to zero. </a:t>
            </a:r>
          </a:p>
          <a:p>
            <a:pPr lvl="1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b="1" dirty="0" err="1">
                <a:latin typeface="Courier New"/>
                <a:cs typeface="Courier New"/>
              </a:rPr>
              <a:t>realloc</a:t>
            </a:r>
            <a:r>
              <a:rPr lang="en-GB" b="1" dirty="0">
                <a:latin typeface="Courier New"/>
                <a:cs typeface="Courier New"/>
              </a:rPr>
              <a:t>:</a:t>
            </a:r>
            <a:r>
              <a:rPr lang="en-GB" dirty="0"/>
              <a:t> Changes the size of a previously allocated block.</a:t>
            </a:r>
          </a:p>
          <a:p>
            <a:pPr lvl="1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b="1" dirty="0" err="1">
                <a:latin typeface="Courier New"/>
                <a:cs typeface="Courier New"/>
              </a:rPr>
              <a:t>sbrk</a:t>
            </a:r>
            <a:r>
              <a:rPr lang="en-GB" b="1" dirty="0"/>
              <a:t>:</a:t>
            </a:r>
            <a:r>
              <a:rPr lang="en-GB" dirty="0"/>
              <a:t> Used internally by allocators to grow or shrink the heap</a:t>
            </a:r>
          </a:p>
          <a:p>
            <a:pPr lvl="1"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759526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407772" y="398978"/>
            <a:ext cx="5943600" cy="57308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>
                <a:latin typeface="Courier New"/>
                <a:cs typeface="Courier New"/>
              </a:rPr>
              <a:t>malloc</a:t>
            </a:r>
            <a:r>
              <a:rPr lang="en-GB" dirty="0"/>
              <a:t> Example</a:t>
            </a:r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533400" y="1143000"/>
            <a:ext cx="8077200" cy="5265161"/>
          </a:xfrm>
          <a:prstGeom prst="rect">
            <a:avLst/>
          </a:prstGeom>
          <a:solidFill>
            <a:srgbClr val="F6F5BD"/>
          </a:solidFill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r>
              <a:rPr lang="en-US" sz="1600" dirty="0">
                <a:solidFill>
                  <a:srgbClr val="9264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9D20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600" dirty="0" err="1">
                <a:solidFill>
                  <a:srgbClr val="9D20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600" dirty="0">
                <a:solidFill>
                  <a:srgbClr val="9D20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92649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9D20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600" dirty="0" err="1">
                <a:solidFill>
                  <a:srgbClr val="9D20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1600" dirty="0">
                <a:solidFill>
                  <a:srgbClr val="9D20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2D961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1651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fr-FR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600" dirty="0" err="1">
                <a:solidFill>
                  <a:srgbClr val="2D961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fr-FR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fr-FR" sz="1600" dirty="0">
                <a:solidFill>
                  <a:srgbClr val="C1651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fr-FR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fr-FR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fr-FR" sz="1600" dirty="0" err="1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Allocate</a:t>
            </a:r>
            <a:r>
              <a:rPr lang="fr-FR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block of n </a:t>
            </a:r>
            <a:r>
              <a:rPr lang="fr-FR" sz="1600" dirty="0" err="1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ints</a:t>
            </a:r>
            <a:r>
              <a:rPr lang="fr-FR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endParaRPr lang="fr-FR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 = (</a:t>
            </a:r>
            <a:r>
              <a:rPr lang="en-US" sz="1600" dirty="0" err="1">
                <a:solidFill>
                  <a:srgbClr val="2D961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*)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malloc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 * </a:t>
            </a:r>
            <a:r>
              <a:rPr lang="en-US" sz="1600" dirty="0" err="1">
                <a:solidFill>
                  <a:srgbClr val="C2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2D961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== </a:t>
            </a:r>
            <a:r>
              <a:rPr lang="en-US" sz="1600" dirty="0">
                <a:solidFill>
                  <a:srgbClr val="2C929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fi-FI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i-FI" sz="16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perror(</a:t>
            </a:r>
            <a:r>
              <a:rPr lang="fi-FI" sz="1600" dirty="0" err="1">
                <a:solidFill>
                  <a:srgbClr val="9D20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"malloc</a:t>
            </a:r>
            <a:r>
              <a:rPr lang="fi-FI" sz="1600" dirty="0">
                <a:solidFill>
                  <a:srgbClr val="9D206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i-FI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fi-FI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exit(0);</a:t>
            </a:r>
          </a:p>
          <a:p>
            <a:r>
              <a:rPr lang="fi-FI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fi-FI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i-FI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i-FI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fi-FI" sz="1600" dirty="0" err="1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Initialize</a:t>
            </a:r>
            <a:r>
              <a:rPr lang="fi-FI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i-FI" sz="1600" dirty="0" err="1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allocated</a:t>
            </a:r>
            <a:r>
              <a:rPr lang="fi-FI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i-FI" sz="1600" dirty="0" err="1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fi-FI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endParaRPr lang="fi-FI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a-DK" sz="1600" dirty="0">
                <a:solidFill>
                  <a:srgbClr val="C2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a-DK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(i=0; i&lt;n; i++)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p[i] = i;</a:t>
            </a:r>
          </a:p>
          <a:p>
            <a:endParaRPr lang="da-DK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a-DK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a-DK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Return </a:t>
            </a:r>
            <a:r>
              <a:rPr lang="da-DK" sz="1600" dirty="0" err="1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allocated</a:t>
            </a:r>
            <a:r>
              <a:rPr lang="da-DK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sz="1600" dirty="0" err="1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da-DK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 the </a:t>
            </a:r>
            <a:r>
              <a:rPr lang="da-DK" sz="1600" dirty="0" err="1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heap</a:t>
            </a:r>
            <a:r>
              <a:rPr lang="da-DK" sz="1600" dirty="0">
                <a:solidFill>
                  <a:srgbClr val="CB241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  <a:endParaRPr lang="da-DK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free(p);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8645121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" y="435678"/>
            <a:ext cx="8991600" cy="762000"/>
          </a:xfrm>
        </p:spPr>
        <p:txBody>
          <a:bodyPr/>
          <a:lstStyle/>
          <a:p>
            <a:r>
              <a:rPr lang="en-GB" dirty="0"/>
              <a:t>Simplifying Assumptions Made in This Lecture</a:t>
            </a:r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Memory is word addressed.</a:t>
            </a:r>
          </a:p>
          <a:p>
            <a:r>
              <a:rPr lang="en-GB" dirty="0"/>
              <a:t>Words are </a:t>
            </a:r>
            <a:r>
              <a:rPr lang="en-GB" dirty="0" err="1"/>
              <a:t>int</a:t>
            </a:r>
            <a:r>
              <a:rPr lang="en-GB" dirty="0"/>
              <a:t>-sized.</a:t>
            </a:r>
          </a:p>
          <a:p>
            <a:r>
              <a:rPr lang="en-GB" dirty="0"/>
              <a:t>Allocations are double-word aligned.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13001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16049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19097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22145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2519362" y="391871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2824162" y="391871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3128962" y="3918718"/>
            <a:ext cx="304800" cy="304800"/>
          </a:xfrm>
          <a:prstGeom prst="rect">
            <a:avLst/>
          </a:prstGeom>
          <a:noFill/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3433762" y="3918718"/>
            <a:ext cx="304800" cy="304800"/>
          </a:xfrm>
          <a:prstGeom prst="rect">
            <a:avLst/>
          </a:prstGeom>
          <a:noFill/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37385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40433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3" name="Rectangle 13"/>
          <p:cNvSpPr>
            <a:spLocks noChangeArrowheads="1"/>
          </p:cNvSpPr>
          <p:nvPr/>
        </p:nvSpPr>
        <p:spPr bwMode="auto">
          <a:xfrm>
            <a:off x="4348162" y="391871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4652962" y="391871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5" name="Rectangle 15"/>
          <p:cNvSpPr>
            <a:spLocks noChangeArrowheads="1"/>
          </p:cNvSpPr>
          <p:nvPr/>
        </p:nvSpPr>
        <p:spPr bwMode="auto">
          <a:xfrm>
            <a:off x="49577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Rectangle 16"/>
          <p:cNvSpPr>
            <a:spLocks noChangeArrowheads="1"/>
          </p:cNvSpPr>
          <p:nvPr/>
        </p:nvSpPr>
        <p:spPr bwMode="auto">
          <a:xfrm>
            <a:off x="52625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7" name="Rectangle 17"/>
          <p:cNvSpPr>
            <a:spLocks noChangeArrowheads="1"/>
          </p:cNvSpPr>
          <p:nvPr/>
        </p:nvSpPr>
        <p:spPr bwMode="auto">
          <a:xfrm>
            <a:off x="55673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Rectangle 18"/>
          <p:cNvSpPr>
            <a:spLocks noChangeArrowheads="1"/>
          </p:cNvSpPr>
          <p:nvPr/>
        </p:nvSpPr>
        <p:spPr bwMode="auto">
          <a:xfrm>
            <a:off x="58721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9" name="Rectangle 19"/>
          <p:cNvSpPr>
            <a:spLocks noChangeArrowheads="1"/>
          </p:cNvSpPr>
          <p:nvPr/>
        </p:nvSpPr>
        <p:spPr bwMode="auto">
          <a:xfrm>
            <a:off x="61769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0" name="Rectangle 20"/>
          <p:cNvSpPr>
            <a:spLocks noChangeArrowheads="1"/>
          </p:cNvSpPr>
          <p:nvPr/>
        </p:nvSpPr>
        <p:spPr bwMode="auto">
          <a:xfrm>
            <a:off x="6481762" y="3918718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1" name="Rectangle 21"/>
          <p:cNvSpPr>
            <a:spLocks noChangeArrowheads="1"/>
          </p:cNvSpPr>
          <p:nvPr/>
        </p:nvSpPr>
        <p:spPr bwMode="auto">
          <a:xfrm>
            <a:off x="6786562" y="391871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7091362" y="391871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1186248" y="4572000"/>
            <a:ext cx="1484166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Allocated block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(4 words)</a:t>
            </a: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4130307" y="4572000"/>
            <a:ext cx="1095469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Free block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(2 words)</a:t>
            </a:r>
          </a:p>
        </p:txBody>
      </p:sp>
      <p:sp>
        <p:nvSpPr>
          <p:cNvPr id="10267" name="Rectangle 27"/>
          <p:cNvSpPr>
            <a:spLocks noChangeArrowheads="1"/>
          </p:cNvSpPr>
          <p:nvPr/>
        </p:nvSpPr>
        <p:spPr bwMode="auto">
          <a:xfrm>
            <a:off x="6532256" y="484580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8" name="Rectangle 28"/>
          <p:cNvSpPr>
            <a:spLocks noChangeArrowheads="1"/>
          </p:cNvSpPr>
          <p:nvPr/>
        </p:nvSpPr>
        <p:spPr bwMode="auto">
          <a:xfrm>
            <a:off x="6532256" y="5226801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9" name="Text Box 29"/>
          <p:cNvSpPr txBox="1">
            <a:spLocks noChangeArrowheads="1"/>
          </p:cNvSpPr>
          <p:nvPr/>
        </p:nvSpPr>
        <p:spPr bwMode="auto">
          <a:xfrm>
            <a:off x="6913256" y="4845801"/>
            <a:ext cx="1042443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Free word</a:t>
            </a:r>
          </a:p>
        </p:txBody>
      </p:sp>
      <p:sp>
        <p:nvSpPr>
          <p:cNvPr id="10270" name="Text Box 30"/>
          <p:cNvSpPr txBox="1">
            <a:spLocks noChangeArrowheads="1"/>
          </p:cNvSpPr>
          <p:nvPr/>
        </p:nvSpPr>
        <p:spPr bwMode="auto">
          <a:xfrm>
            <a:off x="6910081" y="5226801"/>
            <a:ext cx="1471919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Allocated word</a:t>
            </a:r>
          </a:p>
        </p:txBody>
      </p:sp>
      <p:sp>
        <p:nvSpPr>
          <p:cNvPr id="32" name="AutoShape 17"/>
          <p:cNvSpPr>
            <a:spLocks/>
          </p:cNvSpPr>
          <p:nvPr/>
        </p:nvSpPr>
        <p:spPr bwMode="auto">
          <a:xfrm rot="16200000">
            <a:off x="1827796" y="3766318"/>
            <a:ext cx="182880" cy="1188720"/>
          </a:xfrm>
          <a:prstGeom prst="leftBrace">
            <a:avLst>
              <a:gd name="adj1" fmla="val 33333"/>
              <a:gd name="adj2" fmla="val 50901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AutoShape 17"/>
          <p:cNvSpPr>
            <a:spLocks/>
          </p:cNvSpPr>
          <p:nvPr/>
        </p:nvSpPr>
        <p:spPr bwMode="auto">
          <a:xfrm rot="16200000">
            <a:off x="4575400" y="4067718"/>
            <a:ext cx="180842" cy="583882"/>
          </a:xfrm>
          <a:prstGeom prst="leftBrace">
            <a:avLst>
              <a:gd name="adj1" fmla="val 33333"/>
              <a:gd name="adj2" fmla="val 50901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9575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493713"/>
            <a:ext cx="64643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Allocation Example</a:t>
            </a: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176831" y="1582738"/>
            <a:ext cx="2663206" cy="354906"/>
          </a:xfrm>
          <a:prstGeom prst="rect">
            <a:avLst/>
          </a:prstGeom>
          <a:solidFill>
            <a:srgbClr val="F6F5BD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p1 = malloc(4*SIZ)</a:t>
            </a:r>
          </a:p>
        </p:txBody>
      </p:sp>
      <p:sp>
        <p:nvSpPr>
          <p:cNvPr id="11301" name="Text Box 37"/>
          <p:cNvSpPr txBox="1">
            <a:spLocks noChangeArrowheads="1"/>
          </p:cNvSpPr>
          <p:nvPr/>
        </p:nvSpPr>
        <p:spPr bwMode="auto">
          <a:xfrm>
            <a:off x="176831" y="2464826"/>
            <a:ext cx="2663206" cy="354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p2 = malloc(5*SIZ)</a:t>
            </a:r>
          </a:p>
        </p:txBody>
      </p:sp>
      <p:sp>
        <p:nvSpPr>
          <p:cNvPr id="11319" name="Text Box 55"/>
          <p:cNvSpPr txBox="1">
            <a:spLocks noChangeArrowheads="1"/>
          </p:cNvSpPr>
          <p:nvPr/>
        </p:nvSpPr>
        <p:spPr bwMode="auto">
          <a:xfrm>
            <a:off x="176831" y="3365128"/>
            <a:ext cx="2663206" cy="354906"/>
          </a:xfrm>
          <a:prstGeom prst="rect">
            <a:avLst/>
          </a:prstGeom>
          <a:solidFill>
            <a:srgbClr val="F1C7C7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p3 = malloc(6*SIZ)</a:t>
            </a:r>
          </a:p>
        </p:txBody>
      </p:sp>
      <p:sp>
        <p:nvSpPr>
          <p:cNvPr id="11337" name="Text Box 73"/>
          <p:cNvSpPr txBox="1">
            <a:spLocks noChangeArrowheads="1"/>
          </p:cNvSpPr>
          <p:nvPr/>
        </p:nvSpPr>
        <p:spPr bwMode="auto">
          <a:xfrm>
            <a:off x="533400" y="4244975"/>
            <a:ext cx="1284624" cy="3590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itchFamily="49" charset="0"/>
              </a:rPr>
              <a:t>free(p2)</a:t>
            </a:r>
          </a:p>
        </p:txBody>
      </p:sp>
      <p:sp>
        <p:nvSpPr>
          <p:cNvPr id="11355" name="Text Box 91"/>
          <p:cNvSpPr txBox="1">
            <a:spLocks noChangeArrowheads="1"/>
          </p:cNvSpPr>
          <p:nvPr/>
        </p:nvSpPr>
        <p:spPr bwMode="auto">
          <a:xfrm>
            <a:off x="176831" y="5128926"/>
            <a:ext cx="2663206" cy="354906"/>
          </a:xfrm>
          <a:prstGeom prst="rect">
            <a:avLst/>
          </a:prstGeom>
          <a:solidFill>
            <a:srgbClr val="D5F1CF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p4 = malloc(2*SIZ)</a:t>
            </a:r>
          </a:p>
        </p:txBody>
      </p:sp>
      <p:sp>
        <p:nvSpPr>
          <p:cNvPr id="99" name="Text Box 19"/>
          <p:cNvSpPr txBox="1">
            <a:spLocks noChangeArrowheads="1"/>
          </p:cNvSpPr>
          <p:nvPr/>
        </p:nvSpPr>
        <p:spPr bwMode="auto">
          <a:xfrm>
            <a:off x="5278437" y="500547"/>
            <a:ext cx="3352498" cy="354906"/>
          </a:xfrm>
          <a:prstGeom prst="rect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#define SIZ </a:t>
            </a:r>
            <a:r>
              <a:rPr lang="en-GB" sz="1800" b="1" dirty="0" err="1">
                <a:latin typeface="Courier New" pitchFamily="49" charset="0"/>
              </a:rPr>
              <a:t>sizeof</a:t>
            </a:r>
            <a:r>
              <a:rPr lang="en-GB" sz="1800" b="1" dirty="0">
                <a:latin typeface="Courier New" pitchFamily="49" charset="0"/>
              </a:rPr>
              <a:t>(</a:t>
            </a:r>
            <a:r>
              <a:rPr lang="en-GB" sz="1800" b="1" dirty="0" err="1">
                <a:latin typeface="Courier New" pitchFamily="49" charset="0"/>
              </a:rPr>
              <a:t>int</a:t>
            </a:r>
            <a:r>
              <a:rPr lang="en-GB" sz="1800" b="1" dirty="0">
                <a:latin typeface="Courier New" pitchFamily="49" charset="0"/>
              </a:rPr>
              <a:t>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992437" y="1614488"/>
            <a:ext cx="5486400" cy="304800"/>
            <a:chOff x="2992437" y="1614488"/>
            <a:chExt cx="5486400" cy="304800"/>
          </a:xfrm>
        </p:grpSpPr>
        <p:grpSp>
          <p:nvGrpSpPr>
            <p:cNvPr id="98" name="Group 97"/>
            <p:cNvGrpSpPr/>
            <p:nvPr/>
          </p:nvGrpSpPr>
          <p:grpSpPr>
            <a:xfrm>
              <a:off x="2992437" y="1614488"/>
              <a:ext cx="5181600" cy="304800"/>
              <a:chOff x="3006724" y="1614488"/>
              <a:chExt cx="5181600" cy="304800"/>
            </a:xfrm>
          </p:grpSpPr>
          <p:sp>
            <p:nvSpPr>
              <p:cNvPr id="11266" name="Rectangle 2"/>
              <p:cNvSpPr>
                <a:spLocks noChangeArrowheads="1"/>
              </p:cNvSpPr>
              <p:nvPr/>
            </p:nvSpPr>
            <p:spPr bwMode="auto">
              <a:xfrm>
                <a:off x="30067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67" name="Rectangle 3"/>
              <p:cNvSpPr>
                <a:spLocks noChangeArrowheads="1"/>
              </p:cNvSpPr>
              <p:nvPr/>
            </p:nvSpPr>
            <p:spPr bwMode="auto">
              <a:xfrm>
                <a:off x="33115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68" name="Rectangle 4"/>
              <p:cNvSpPr>
                <a:spLocks noChangeArrowheads="1"/>
              </p:cNvSpPr>
              <p:nvPr/>
            </p:nvSpPr>
            <p:spPr bwMode="auto">
              <a:xfrm>
                <a:off x="36163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69" name="Rectangle 5"/>
              <p:cNvSpPr>
                <a:spLocks noChangeArrowheads="1"/>
              </p:cNvSpPr>
              <p:nvPr/>
            </p:nvSpPr>
            <p:spPr bwMode="auto">
              <a:xfrm>
                <a:off x="39211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0" name="Rectangle 6"/>
              <p:cNvSpPr>
                <a:spLocks noChangeArrowheads="1"/>
              </p:cNvSpPr>
              <p:nvPr/>
            </p:nvSpPr>
            <p:spPr bwMode="auto">
              <a:xfrm>
                <a:off x="42259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1" name="Rectangle 7"/>
              <p:cNvSpPr>
                <a:spLocks noChangeArrowheads="1"/>
              </p:cNvSpPr>
              <p:nvPr/>
            </p:nvSpPr>
            <p:spPr bwMode="auto">
              <a:xfrm>
                <a:off x="45307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2" name="Rectangle 8"/>
              <p:cNvSpPr>
                <a:spLocks noChangeArrowheads="1"/>
              </p:cNvSpPr>
              <p:nvPr/>
            </p:nvSpPr>
            <p:spPr bwMode="auto">
              <a:xfrm>
                <a:off x="48355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3" name="Rectangle 9"/>
              <p:cNvSpPr>
                <a:spLocks noChangeArrowheads="1"/>
              </p:cNvSpPr>
              <p:nvPr/>
            </p:nvSpPr>
            <p:spPr bwMode="auto">
              <a:xfrm>
                <a:off x="51403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4" name="Rectangle 10"/>
              <p:cNvSpPr>
                <a:spLocks noChangeArrowheads="1"/>
              </p:cNvSpPr>
              <p:nvPr/>
            </p:nvSpPr>
            <p:spPr bwMode="auto">
              <a:xfrm>
                <a:off x="54451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5" name="Rectangle 11"/>
              <p:cNvSpPr>
                <a:spLocks noChangeArrowheads="1"/>
              </p:cNvSpPr>
              <p:nvPr/>
            </p:nvSpPr>
            <p:spPr bwMode="auto">
              <a:xfrm>
                <a:off x="57499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6" name="Rectangle 12"/>
              <p:cNvSpPr>
                <a:spLocks noChangeArrowheads="1"/>
              </p:cNvSpPr>
              <p:nvPr/>
            </p:nvSpPr>
            <p:spPr bwMode="auto">
              <a:xfrm>
                <a:off x="60547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7" name="Rectangle 13"/>
              <p:cNvSpPr>
                <a:spLocks noChangeArrowheads="1"/>
              </p:cNvSpPr>
              <p:nvPr/>
            </p:nvSpPr>
            <p:spPr bwMode="auto">
              <a:xfrm>
                <a:off x="63595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8" name="Rectangle 14"/>
              <p:cNvSpPr>
                <a:spLocks noChangeArrowheads="1"/>
              </p:cNvSpPr>
              <p:nvPr/>
            </p:nvSpPr>
            <p:spPr bwMode="auto">
              <a:xfrm>
                <a:off x="66643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9" name="Rectangle 15"/>
              <p:cNvSpPr>
                <a:spLocks noChangeArrowheads="1"/>
              </p:cNvSpPr>
              <p:nvPr/>
            </p:nvSpPr>
            <p:spPr bwMode="auto">
              <a:xfrm>
                <a:off x="69691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0" name="Rectangle 16"/>
              <p:cNvSpPr>
                <a:spLocks noChangeArrowheads="1"/>
              </p:cNvSpPr>
              <p:nvPr/>
            </p:nvSpPr>
            <p:spPr bwMode="auto">
              <a:xfrm>
                <a:off x="72739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1" name="Rectangle 17"/>
              <p:cNvSpPr>
                <a:spLocks noChangeArrowheads="1"/>
              </p:cNvSpPr>
              <p:nvPr/>
            </p:nvSpPr>
            <p:spPr bwMode="auto">
              <a:xfrm>
                <a:off x="75787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82" name="Rectangle 18"/>
              <p:cNvSpPr>
                <a:spLocks noChangeArrowheads="1"/>
              </p:cNvSpPr>
              <p:nvPr/>
            </p:nvSpPr>
            <p:spPr bwMode="auto">
              <a:xfrm>
                <a:off x="78835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01" name="Rectangle 9"/>
            <p:cNvSpPr>
              <a:spLocks noChangeArrowheads="1"/>
            </p:cNvSpPr>
            <p:nvPr/>
          </p:nvSpPr>
          <p:spPr bwMode="auto">
            <a:xfrm>
              <a:off x="8174037" y="161448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992437" y="2501901"/>
            <a:ext cx="5486400" cy="304800"/>
            <a:chOff x="2992437" y="2501901"/>
            <a:chExt cx="5486400" cy="304800"/>
          </a:xfrm>
        </p:grpSpPr>
        <p:sp>
          <p:nvSpPr>
            <p:cNvPr id="11284" name="Rectangle 20"/>
            <p:cNvSpPr>
              <a:spLocks noChangeArrowheads="1"/>
            </p:cNvSpPr>
            <p:nvPr/>
          </p:nvSpPr>
          <p:spPr bwMode="auto">
            <a:xfrm>
              <a:off x="29924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5" name="Rectangle 21"/>
            <p:cNvSpPr>
              <a:spLocks noChangeArrowheads="1"/>
            </p:cNvSpPr>
            <p:nvPr/>
          </p:nvSpPr>
          <p:spPr bwMode="auto">
            <a:xfrm>
              <a:off x="32972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6" name="Rectangle 22"/>
            <p:cNvSpPr>
              <a:spLocks noChangeArrowheads="1"/>
            </p:cNvSpPr>
            <p:nvPr/>
          </p:nvSpPr>
          <p:spPr bwMode="auto">
            <a:xfrm>
              <a:off x="36020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7" name="Rectangle 23"/>
            <p:cNvSpPr>
              <a:spLocks noChangeArrowheads="1"/>
            </p:cNvSpPr>
            <p:nvPr/>
          </p:nvSpPr>
          <p:spPr bwMode="auto">
            <a:xfrm>
              <a:off x="39068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8" name="Rectangle 24"/>
            <p:cNvSpPr>
              <a:spLocks noChangeArrowheads="1"/>
            </p:cNvSpPr>
            <p:nvPr/>
          </p:nvSpPr>
          <p:spPr bwMode="auto">
            <a:xfrm>
              <a:off x="42116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9" name="Rectangle 25"/>
            <p:cNvSpPr>
              <a:spLocks noChangeArrowheads="1"/>
            </p:cNvSpPr>
            <p:nvPr/>
          </p:nvSpPr>
          <p:spPr bwMode="auto">
            <a:xfrm>
              <a:off x="45164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0" name="Rectangle 26"/>
            <p:cNvSpPr>
              <a:spLocks noChangeArrowheads="1"/>
            </p:cNvSpPr>
            <p:nvPr/>
          </p:nvSpPr>
          <p:spPr bwMode="auto">
            <a:xfrm>
              <a:off x="48212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1" name="Rectangle 27"/>
            <p:cNvSpPr>
              <a:spLocks noChangeArrowheads="1"/>
            </p:cNvSpPr>
            <p:nvPr/>
          </p:nvSpPr>
          <p:spPr bwMode="auto">
            <a:xfrm>
              <a:off x="51260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2" name="Rectangle 28"/>
            <p:cNvSpPr>
              <a:spLocks noChangeArrowheads="1"/>
            </p:cNvSpPr>
            <p:nvPr/>
          </p:nvSpPr>
          <p:spPr bwMode="auto">
            <a:xfrm>
              <a:off x="54308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3" name="Rectangle 29"/>
            <p:cNvSpPr>
              <a:spLocks noChangeArrowheads="1"/>
            </p:cNvSpPr>
            <p:nvPr/>
          </p:nvSpPr>
          <p:spPr bwMode="auto">
            <a:xfrm>
              <a:off x="57356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4" name="Rectangle 30"/>
            <p:cNvSpPr>
              <a:spLocks noChangeArrowheads="1"/>
            </p:cNvSpPr>
            <p:nvPr/>
          </p:nvSpPr>
          <p:spPr bwMode="auto">
            <a:xfrm>
              <a:off x="60404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5" name="Rectangle 31"/>
            <p:cNvSpPr>
              <a:spLocks noChangeArrowheads="1"/>
            </p:cNvSpPr>
            <p:nvPr/>
          </p:nvSpPr>
          <p:spPr bwMode="auto">
            <a:xfrm>
              <a:off x="63452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6" name="Rectangle 32"/>
            <p:cNvSpPr>
              <a:spLocks noChangeArrowheads="1"/>
            </p:cNvSpPr>
            <p:nvPr/>
          </p:nvSpPr>
          <p:spPr bwMode="auto">
            <a:xfrm>
              <a:off x="66500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7" name="Rectangle 33"/>
            <p:cNvSpPr>
              <a:spLocks noChangeArrowheads="1"/>
            </p:cNvSpPr>
            <p:nvPr/>
          </p:nvSpPr>
          <p:spPr bwMode="auto">
            <a:xfrm>
              <a:off x="69548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298" name="Rectangle 34"/>
            <p:cNvSpPr>
              <a:spLocks noChangeArrowheads="1"/>
            </p:cNvSpPr>
            <p:nvPr/>
          </p:nvSpPr>
          <p:spPr bwMode="auto">
            <a:xfrm>
              <a:off x="72596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9" name="Rectangle 35"/>
            <p:cNvSpPr>
              <a:spLocks noChangeArrowheads="1"/>
            </p:cNvSpPr>
            <p:nvPr/>
          </p:nvSpPr>
          <p:spPr bwMode="auto">
            <a:xfrm>
              <a:off x="75644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0" name="Rectangle 36"/>
            <p:cNvSpPr>
              <a:spLocks noChangeArrowheads="1"/>
            </p:cNvSpPr>
            <p:nvPr/>
          </p:nvSpPr>
          <p:spPr bwMode="auto">
            <a:xfrm>
              <a:off x="78692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Rectangle 9"/>
            <p:cNvSpPr>
              <a:spLocks noChangeArrowheads="1"/>
            </p:cNvSpPr>
            <p:nvPr/>
          </p:nvSpPr>
          <p:spPr bwMode="auto">
            <a:xfrm>
              <a:off x="81740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992437" y="3389313"/>
            <a:ext cx="5486400" cy="304800"/>
            <a:chOff x="2992437" y="3389313"/>
            <a:chExt cx="5486400" cy="304800"/>
          </a:xfrm>
        </p:grpSpPr>
        <p:sp>
          <p:nvSpPr>
            <p:cNvPr id="11302" name="Rectangle 38"/>
            <p:cNvSpPr>
              <a:spLocks noChangeArrowheads="1"/>
            </p:cNvSpPr>
            <p:nvPr/>
          </p:nvSpPr>
          <p:spPr bwMode="auto">
            <a:xfrm>
              <a:off x="29924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3" name="Rectangle 39"/>
            <p:cNvSpPr>
              <a:spLocks noChangeArrowheads="1"/>
            </p:cNvSpPr>
            <p:nvPr/>
          </p:nvSpPr>
          <p:spPr bwMode="auto">
            <a:xfrm>
              <a:off x="32972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4" name="Rectangle 40"/>
            <p:cNvSpPr>
              <a:spLocks noChangeArrowheads="1"/>
            </p:cNvSpPr>
            <p:nvPr/>
          </p:nvSpPr>
          <p:spPr bwMode="auto">
            <a:xfrm>
              <a:off x="36020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5" name="Rectangle 41"/>
            <p:cNvSpPr>
              <a:spLocks noChangeArrowheads="1"/>
            </p:cNvSpPr>
            <p:nvPr/>
          </p:nvSpPr>
          <p:spPr bwMode="auto">
            <a:xfrm>
              <a:off x="39068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6" name="Rectangle 42"/>
            <p:cNvSpPr>
              <a:spLocks noChangeArrowheads="1"/>
            </p:cNvSpPr>
            <p:nvPr/>
          </p:nvSpPr>
          <p:spPr bwMode="auto">
            <a:xfrm>
              <a:off x="42116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7" name="Rectangle 43"/>
            <p:cNvSpPr>
              <a:spLocks noChangeArrowheads="1"/>
            </p:cNvSpPr>
            <p:nvPr/>
          </p:nvSpPr>
          <p:spPr bwMode="auto">
            <a:xfrm>
              <a:off x="45164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8" name="Rectangle 44"/>
            <p:cNvSpPr>
              <a:spLocks noChangeArrowheads="1"/>
            </p:cNvSpPr>
            <p:nvPr/>
          </p:nvSpPr>
          <p:spPr bwMode="auto">
            <a:xfrm>
              <a:off x="48212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9" name="Rectangle 45"/>
            <p:cNvSpPr>
              <a:spLocks noChangeArrowheads="1"/>
            </p:cNvSpPr>
            <p:nvPr/>
          </p:nvSpPr>
          <p:spPr bwMode="auto">
            <a:xfrm>
              <a:off x="51260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0" name="Rectangle 46"/>
            <p:cNvSpPr>
              <a:spLocks noChangeArrowheads="1"/>
            </p:cNvSpPr>
            <p:nvPr/>
          </p:nvSpPr>
          <p:spPr bwMode="auto">
            <a:xfrm>
              <a:off x="54308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1" name="Rectangle 47"/>
            <p:cNvSpPr>
              <a:spLocks noChangeArrowheads="1"/>
            </p:cNvSpPr>
            <p:nvPr/>
          </p:nvSpPr>
          <p:spPr bwMode="auto">
            <a:xfrm>
              <a:off x="5735637" y="3389313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2" name="Rectangle 48"/>
            <p:cNvSpPr>
              <a:spLocks noChangeArrowheads="1"/>
            </p:cNvSpPr>
            <p:nvPr/>
          </p:nvSpPr>
          <p:spPr bwMode="auto">
            <a:xfrm>
              <a:off x="60404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3" name="Rectangle 49"/>
            <p:cNvSpPr>
              <a:spLocks noChangeArrowheads="1"/>
            </p:cNvSpPr>
            <p:nvPr/>
          </p:nvSpPr>
          <p:spPr bwMode="auto">
            <a:xfrm>
              <a:off x="63452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4" name="Rectangle 50"/>
            <p:cNvSpPr>
              <a:spLocks noChangeArrowheads="1"/>
            </p:cNvSpPr>
            <p:nvPr/>
          </p:nvSpPr>
          <p:spPr bwMode="auto">
            <a:xfrm>
              <a:off x="66500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5" name="Rectangle 51"/>
            <p:cNvSpPr>
              <a:spLocks noChangeArrowheads="1"/>
            </p:cNvSpPr>
            <p:nvPr/>
          </p:nvSpPr>
          <p:spPr bwMode="auto">
            <a:xfrm>
              <a:off x="69548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6" name="Rectangle 52"/>
            <p:cNvSpPr>
              <a:spLocks noChangeArrowheads="1"/>
            </p:cNvSpPr>
            <p:nvPr/>
          </p:nvSpPr>
          <p:spPr bwMode="auto">
            <a:xfrm>
              <a:off x="72596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7" name="Rectangle 53"/>
            <p:cNvSpPr>
              <a:spLocks noChangeArrowheads="1"/>
            </p:cNvSpPr>
            <p:nvPr/>
          </p:nvSpPr>
          <p:spPr bwMode="auto">
            <a:xfrm>
              <a:off x="75644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8" name="Rectangle 54"/>
            <p:cNvSpPr>
              <a:spLocks noChangeArrowheads="1"/>
            </p:cNvSpPr>
            <p:nvPr/>
          </p:nvSpPr>
          <p:spPr bwMode="auto">
            <a:xfrm>
              <a:off x="7869237" y="3389313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Rectangle 9"/>
            <p:cNvSpPr>
              <a:spLocks noChangeArrowheads="1"/>
            </p:cNvSpPr>
            <p:nvPr/>
          </p:nvSpPr>
          <p:spPr bwMode="auto">
            <a:xfrm>
              <a:off x="8174037" y="3389313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992437" y="4272080"/>
            <a:ext cx="5486400" cy="309446"/>
            <a:chOff x="2992437" y="4272080"/>
            <a:chExt cx="5486400" cy="309446"/>
          </a:xfrm>
        </p:grpSpPr>
        <p:sp>
          <p:nvSpPr>
            <p:cNvPr id="11320" name="Rectangle 56"/>
            <p:cNvSpPr>
              <a:spLocks noChangeArrowheads="1"/>
            </p:cNvSpPr>
            <p:nvPr/>
          </p:nvSpPr>
          <p:spPr bwMode="auto">
            <a:xfrm>
              <a:off x="29924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1" name="Rectangle 57"/>
            <p:cNvSpPr>
              <a:spLocks noChangeArrowheads="1"/>
            </p:cNvSpPr>
            <p:nvPr/>
          </p:nvSpPr>
          <p:spPr bwMode="auto">
            <a:xfrm>
              <a:off x="32972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2" name="Rectangle 58"/>
            <p:cNvSpPr>
              <a:spLocks noChangeArrowheads="1"/>
            </p:cNvSpPr>
            <p:nvPr/>
          </p:nvSpPr>
          <p:spPr bwMode="auto">
            <a:xfrm>
              <a:off x="36020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3" name="Rectangle 59"/>
            <p:cNvSpPr>
              <a:spLocks noChangeArrowheads="1"/>
            </p:cNvSpPr>
            <p:nvPr/>
          </p:nvSpPr>
          <p:spPr bwMode="auto">
            <a:xfrm>
              <a:off x="39068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4" name="Rectangle 60"/>
            <p:cNvSpPr>
              <a:spLocks noChangeArrowheads="1"/>
            </p:cNvSpPr>
            <p:nvPr/>
          </p:nvSpPr>
          <p:spPr bwMode="auto">
            <a:xfrm>
              <a:off x="42116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5" name="Rectangle 61"/>
            <p:cNvSpPr>
              <a:spLocks noChangeArrowheads="1"/>
            </p:cNvSpPr>
            <p:nvPr/>
          </p:nvSpPr>
          <p:spPr bwMode="auto">
            <a:xfrm>
              <a:off x="45164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6" name="Rectangle 62"/>
            <p:cNvSpPr>
              <a:spLocks noChangeArrowheads="1"/>
            </p:cNvSpPr>
            <p:nvPr/>
          </p:nvSpPr>
          <p:spPr bwMode="auto">
            <a:xfrm>
              <a:off x="48212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7" name="Rectangle 63"/>
            <p:cNvSpPr>
              <a:spLocks noChangeArrowheads="1"/>
            </p:cNvSpPr>
            <p:nvPr/>
          </p:nvSpPr>
          <p:spPr bwMode="auto">
            <a:xfrm>
              <a:off x="51260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8" name="Rectangle 64"/>
            <p:cNvSpPr>
              <a:spLocks noChangeArrowheads="1"/>
            </p:cNvSpPr>
            <p:nvPr/>
          </p:nvSpPr>
          <p:spPr bwMode="auto">
            <a:xfrm>
              <a:off x="54308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9" name="Rectangle 65"/>
            <p:cNvSpPr>
              <a:spLocks noChangeArrowheads="1"/>
            </p:cNvSpPr>
            <p:nvPr/>
          </p:nvSpPr>
          <p:spPr bwMode="auto">
            <a:xfrm>
              <a:off x="5735637" y="4276726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0" name="Rectangle 66"/>
            <p:cNvSpPr>
              <a:spLocks noChangeArrowheads="1"/>
            </p:cNvSpPr>
            <p:nvPr/>
          </p:nvSpPr>
          <p:spPr bwMode="auto">
            <a:xfrm>
              <a:off x="60404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1" name="Rectangle 67"/>
            <p:cNvSpPr>
              <a:spLocks noChangeArrowheads="1"/>
            </p:cNvSpPr>
            <p:nvPr/>
          </p:nvSpPr>
          <p:spPr bwMode="auto">
            <a:xfrm>
              <a:off x="63452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2" name="Rectangle 68"/>
            <p:cNvSpPr>
              <a:spLocks noChangeArrowheads="1"/>
            </p:cNvSpPr>
            <p:nvPr/>
          </p:nvSpPr>
          <p:spPr bwMode="auto">
            <a:xfrm>
              <a:off x="66500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3" name="Rectangle 69"/>
            <p:cNvSpPr>
              <a:spLocks noChangeArrowheads="1"/>
            </p:cNvSpPr>
            <p:nvPr/>
          </p:nvSpPr>
          <p:spPr bwMode="auto">
            <a:xfrm>
              <a:off x="69548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4" name="Rectangle 70"/>
            <p:cNvSpPr>
              <a:spLocks noChangeArrowheads="1"/>
            </p:cNvSpPr>
            <p:nvPr/>
          </p:nvSpPr>
          <p:spPr bwMode="auto">
            <a:xfrm>
              <a:off x="72596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5" name="Rectangle 71"/>
            <p:cNvSpPr>
              <a:spLocks noChangeArrowheads="1"/>
            </p:cNvSpPr>
            <p:nvPr/>
          </p:nvSpPr>
          <p:spPr bwMode="auto">
            <a:xfrm>
              <a:off x="75644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6" name="Rectangle 72"/>
            <p:cNvSpPr>
              <a:spLocks noChangeArrowheads="1"/>
            </p:cNvSpPr>
            <p:nvPr/>
          </p:nvSpPr>
          <p:spPr bwMode="auto">
            <a:xfrm>
              <a:off x="78692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Rectangle 9"/>
            <p:cNvSpPr>
              <a:spLocks noChangeArrowheads="1"/>
            </p:cNvSpPr>
            <p:nvPr/>
          </p:nvSpPr>
          <p:spPr bwMode="auto">
            <a:xfrm>
              <a:off x="8174037" y="427208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992437" y="5164138"/>
            <a:ext cx="5486400" cy="304800"/>
            <a:chOff x="2992437" y="5164138"/>
            <a:chExt cx="5486400" cy="304800"/>
          </a:xfrm>
        </p:grpSpPr>
        <p:sp>
          <p:nvSpPr>
            <p:cNvPr id="11338" name="Rectangle 74"/>
            <p:cNvSpPr>
              <a:spLocks noChangeArrowheads="1"/>
            </p:cNvSpPr>
            <p:nvPr/>
          </p:nvSpPr>
          <p:spPr bwMode="auto">
            <a:xfrm>
              <a:off x="2992437" y="516413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9" name="Rectangle 75"/>
            <p:cNvSpPr>
              <a:spLocks noChangeArrowheads="1"/>
            </p:cNvSpPr>
            <p:nvPr/>
          </p:nvSpPr>
          <p:spPr bwMode="auto">
            <a:xfrm>
              <a:off x="3297237" y="516413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0" name="Rectangle 76"/>
            <p:cNvSpPr>
              <a:spLocks noChangeArrowheads="1"/>
            </p:cNvSpPr>
            <p:nvPr/>
          </p:nvSpPr>
          <p:spPr bwMode="auto">
            <a:xfrm>
              <a:off x="3602037" y="516413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1" name="Rectangle 77"/>
            <p:cNvSpPr>
              <a:spLocks noChangeArrowheads="1"/>
            </p:cNvSpPr>
            <p:nvPr/>
          </p:nvSpPr>
          <p:spPr bwMode="auto">
            <a:xfrm>
              <a:off x="3906837" y="5164138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2" name="Rectangle 78"/>
            <p:cNvSpPr>
              <a:spLocks noChangeArrowheads="1"/>
            </p:cNvSpPr>
            <p:nvPr/>
          </p:nvSpPr>
          <p:spPr bwMode="auto">
            <a:xfrm>
              <a:off x="4211637" y="5164138"/>
              <a:ext cx="304800" cy="3048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3" name="Rectangle 79"/>
            <p:cNvSpPr>
              <a:spLocks noChangeArrowheads="1"/>
            </p:cNvSpPr>
            <p:nvPr/>
          </p:nvSpPr>
          <p:spPr bwMode="auto">
            <a:xfrm>
              <a:off x="4516437" y="5164138"/>
              <a:ext cx="304800" cy="3048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4" name="Rectangle 80"/>
            <p:cNvSpPr>
              <a:spLocks noChangeArrowheads="1"/>
            </p:cNvSpPr>
            <p:nvPr/>
          </p:nvSpPr>
          <p:spPr bwMode="auto">
            <a:xfrm>
              <a:off x="4821237" y="516413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5" name="Rectangle 81"/>
            <p:cNvSpPr>
              <a:spLocks noChangeArrowheads="1"/>
            </p:cNvSpPr>
            <p:nvPr/>
          </p:nvSpPr>
          <p:spPr bwMode="auto">
            <a:xfrm>
              <a:off x="5126037" y="516413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6" name="Rectangle 82"/>
            <p:cNvSpPr>
              <a:spLocks noChangeArrowheads="1"/>
            </p:cNvSpPr>
            <p:nvPr/>
          </p:nvSpPr>
          <p:spPr bwMode="auto">
            <a:xfrm>
              <a:off x="5430837" y="516413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7" name="Rectangle 83"/>
            <p:cNvSpPr>
              <a:spLocks noChangeArrowheads="1"/>
            </p:cNvSpPr>
            <p:nvPr/>
          </p:nvSpPr>
          <p:spPr bwMode="auto">
            <a:xfrm>
              <a:off x="5735637" y="5164138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8" name="Rectangle 84"/>
            <p:cNvSpPr>
              <a:spLocks noChangeArrowheads="1"/>
            </p:cNvSpPr>
            <p:nvPr/>
          </p:nvSpPr>
          <p:spPr bwMode="auto">
            <a:xfrm>
              <a:off x="60404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9" name="Rectangle 85"/>
            <p:cNvSpPr>
              <a:spLocks noChangeArrowheads="1"/>
            </p:cNvSpPr>
            <p:nvPr/>
          </p:nvSpPr>
          <p:spPr bwMode="auto">
            <a:xfrm>
              <a:off x="63452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0" name="Rectangle 86"/>
            <p:cNvSpPr>
              <a:spLocks noChangeArrowheads="1"/>
            </p:cNvSpPr>
            <p:nvPr/>
          </p:nvSpPr>
          <p:spPr bwMode="auto">
            <a:xfrm>
              <a:off x="66500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1" name="Rectangle 87"/>
            <p:cNvSpPr>
              <a:spLocks noChangeArrowheads="1"/>
            </p:cNvSpPr>
            <p:nvPr/>
          </p:nvSpPr>
          <p:spPr bwMode="auto">
            <a:xfrm>
              <a:off x="69548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2" name="Rectangle 88"/>
            <p:cNvSpPr>
              <a:spLocks noChangeArrowheads="1"/>
            </p:cNvSpPr>
            <p:nvPr/>
          </p:nvSpPr>
          <p:spPr bwMode="auto">
            <a:xfrm>
              <a:off x="72596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3" name="Rectangle 89"/>
            <p:cNvSpPr>
              <a:spLocks noChangeArrowheads="1"/>
            </p:cNvSpPr>
            <p:nvPr/>
          </p:nvSpPr>
          <p:spPr bwMode="auto">
            <a:xfrm>
              <a:off x="7564437" y="5164138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4" name="Rectangle 90"/>
            <p:cNvSpPr>
              <a:spLocks noChangeArrowheads="1"/>
            </p:cNvSpPr>
            <p:nvPr/>
          </p:nvSpPr>
          <p:spPr bwMode="auto">
            <a:xfrm>
              <a:off x="7869237" y="516413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Rectangle 9"/>
            <p:cNvSpPr>
              <a:spLocks noChangeArrowheads="1"/>
            </p:cNvSpPr>
            <p:nvPr/>
          </p:nvSpPr>
          <p:spPr bwMode="auto">
            <a:xfrm>
              <a:off x="8174037" y="516413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124218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5524500" cy="57308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Constraints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72893" y="1143000"/>
            <a:ext cx="8542507" cy="5562600"/>
          </a:xfrm>
          <a:ln/>
        </p:spPr>
        <p:txBody>
          <a:bodyPr/>
          <a:lstStyle/>
          <a:p>
            <a:pPr marL="346075" indent="-346075">
              <a:lnSpc>
                <a:spcPct val="83000"/>
              </a:lnSpc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Applications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Can issue arbitrary sequence of </a:t>
            </a:r>
            <a:r>
              <a:rPr lang="en-GB" b="1" dirty="0" err="1">
                <a:latin typeface="Courier New"/>
                <a:cs typeface="Courier New"/>
              </a:rPr>
              <a:t>malloc</a:t>
            </a:r>
            <a:r>
              <a:rPr lang="en-GB" dirty="0"/>
              <a:t> and </a:t>
            </a:r>
            <a:r>
              <a:rPr lang="en-GB" b="1" dirty="0">
                <a:latin typeface="Courier New"/>
                <a:cs typeface="Courier New"/>
              </a:rPr>
              <a:t>free</a:t>
            </a:r>
            <a:r>
              <a:rPr lang="en-GB" dirty="0"/>
              <a:t> requests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b="1" dirty="0">
                <a:latin typeface="Courier New"/>
                <a:cs typeface="Courier New"/>
              </a:rPr>
              <a:t>free</a:t>
            </a:r>
            <a:r>
              <a:rPr lang="en-GB" dirty="0">
                <a:cs typeface="Courier New"/>
              </a:rPr>
              <a:t> </a:t>
            </a:r>
            <a:r>
              <a:rPr lang="en-GB" dirty="0"/>
              <a:t>request must be to a </a:t>
            </a:r>
            <a:r>
              <a:rPr lang="en-GB" b="1" dirty="0" err="1">
                <a:latin typeface="Courier New"/>
                <a:cs typeface="Courier New"/>
              </a:rPr>
              <a:t>malloc</a:t>
            </a:r>
            <a:r>
              <a:rPr lang="en-GB" dirty="0" err="1">
                <a:cs typeface="Courier New"/>
              </a:rPr>
              <a:t>’d</a:t>
            </a:r>
            <a:r>
              <a:rPr lang="en-GB" dirty="0">
                <a:cs typeface="Courier New"/>
              </a:rPr>
              <a:t> </a:t>
            </a:r>
            <a:r>
              <a:rPr lang="en-GB" dirty="0"/>
              <a:t> block</a:t>
            </a:r>
          </a:p>
          <a:p>
            <a:pPr marL="346075" indent="-346075">
              <a:lnSpc>
                <a:spcPct val="83000"/>
              </a:lnSpc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endParaRPr lang="en-GB" dirty="0"/>
          </a:p>
          <a:p>
            <a:pPr marL="346075" indent="-346075">
              <a:lnSpc>
                <a:spcPct val="83000"/>
              </a:lnSpc>
              <a:tabLst>
                <a:tab pos="346075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Explicit Allocators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Can’t control number or size of allocated blocks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Must respond immediately to </a:t>
            </a:r>
            <a:r>
              <a:rPr lang="en-GB" b="1" dirty="0" err="1">
                <a:latin typeface="Courier New"/>
                <a:cs typeface="Courier New"/>
              </a:rPr>
              <a:t>malloc</a:t>
            </a:r>
            <a:r>
              <a:rPr lang="en-GB" b="1" dirty="0">
                <a:cs typeface="Courier New"/>
              </a:rPr>
              <a:t> </a:t>
            </a:r>
            <a:r>
              <a:rPr lang="en-GB" dirty="0"/>
              <a:t>requests</a:t>
            </a:r>
          </a:p>
          <a:p>
            <a:pPr lvl="2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i="1" dirty="0"/>
              <a:t>i.e</a:t>
            </a:r>
            <a:r>
              <a:rPr lang="en-GB" dirty="0"/>
              <a:t>., can’t reorder or buffer requests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Must allocate blocks from free memory</a:t>
            </a:r>
          </a:p>
          <a:p>
            <a:pPr lvl="2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i="1" dirty="0"/>
              <a:t>i.e</a:t>
            </a:r>
            <a:r>
              <a:rPr lang="en-GB" dirty="0"/>
              <a:t>., can only place allocated blocks in free memory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Must align blocks so they satisfy all alignment requirements</a:t>
            </a:r>
          </a:p>
          <a:p>
            <a:pPr lvl="2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16-byte (x86-64) alignment on Linux boxes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Can manipulate and modify only free memory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Can’t move the allocated blocks once they are </a:t>
            </a:r>
            <a:r>
              <a:rPr lang="en-GB" b="1" dirty="0" err="1">
                <a:latin typeface="Courier New"/>
                <a:cs typeface="Courier New"/>
              </a:rPr>
              <a:t>malloc</a:t>
            </a:r>
            <a:r>
              <a:rPr lang="en-GB" dirty="0" err="1"/>
              <a:t>’d</a:t>
            </a:r>
            <a:endParaRPr lang="en-GB" dirty="0"/>
          </a:p>
          <a:p>
            <a:pPr lvl="2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i="1" dirty="0"/>
              <a:t>i.e</a:t>
            </a:r>
            <a:r>
              <a:rPr lang="en-GB" dirty="0"/>
              <a:t>., compaction is not allowed.  </a:t>
            </a:r>
            <a:r>
              <a:rPr lang="en-GB" i="1" dirty="0"/>
              <a:t>Why not?</a:t>
            </a:r>
          </a:p>
        </p:txBody>
      </p:sp>
    </p:spTree>
    <p:extLst>
      <p:ext uri="{BB962C8B-B14F-4D97-AF65-F5344CB8AC3E}">
        <p14:creationId xmlns:p14="http://schemas.microsoft.com/office/powerpoint/2010/main" val="14300173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/>
          </p:nvPr>
        </p:nvSpPr>
        <p:spPr>
          <a:xfrm>
            <a:off x="364524" y="569913"/>
            <a:ext cx="76708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Performance Goal: Throughput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404938"/>
            <a:ext cx="8701087" cy="5224462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Given some sequence of </a:t>
            </a:r>
            <a:r>
              <a:rPr lang="en-GB" dirty="0" err="1">
                <a:latin typeface="Courier New" pitchFamily="49" charset="0"/>
              </a:rPr>
              <a:t>malloc</a:t>
            </a:r>
            <a:r>
              <a:rPr lang="en-GB" dirty="0"/>
              <a:t> and </a:t>
            </a:r>
            <a:r>
              <a:rPr lang="en-GB" dirty="0">
                <a:latin typeface="Courier New" pitchFamily="49" charset="0"/>
              </a:rPr>
              <a:t>free</a:t>
            </a:r>
            <a:r>
              <a:rPr lang="en-GB" dirty="0"/>
              <a:t> requests: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 </a:t>
            </a:r>
            <a:r>
              <a:rPr lang="en-GB" i="1" dirty="0"/>
              <a:t>R</a:t>
            </a:r>
            <a:r>
              <a:rPr lang="en-GB" i="1" baseline="-25000" dirty="0"/>
              <a:t>0</a:t>
            </a:r>
            <a:r>
              <a:rPr lang="en-GB" i="1" dirty="0"/>
              <a:t>, R</a:t>
            </a:r>
            <a:r>
              <a:rPr lang="en-GB" i="1" baseline="-25000" dirty="0"/>
              <a:t>1</a:t>
            </a:r>
            <a:r>
              <a:rPr lang="en-GB" i="1" dirty="0"/>
              <a:t>, ..., </a:t>
            </a:r>
            <a:r>
              <a:rPr lang="en-GB" i="1" dirty="0" err="1"/>
              <a:t>R</a:t>
            </a:r>
            <a:r>
              <a:rPr lang="en-GB" i="1" baseline="-25000" dirty="0" err="1"/>
              <a:t>k</a:t>
            </a:r>
            <a:r>
              <a:rPr lang="en-GB" i="1" dirty="0"/>
              <a:t>, ... , R</a:t>
            </a:r>
            <a:r>
              <a:rPr lang="en-GB" i="1" baseline="-25000" dirty="0"/>
              <a:t>n-1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i="1" dirty="0"/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Goals: maximize throughput and peak memory utilization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These goals are often conflicting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Throughput: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Number of completed requests per unit time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Example: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5,000  </a:t>
            </a:r>
            <a:r>
              <a:rPr lang="en-GB" b="1" dirty="0" err="1">
                <a:latin typeface="Courier New" pitchFamily="49" charset="0"/>
              </a:rPr>
              <a:t>malloc</a:t>
            </a:r>
            <a:r>
              <a:rPr lang="en-GB" dirty="0"/>
              <a:t> calls and 5,000 </a:t>
            </a:r>
            <a:r>
              <a:rPr lang="en-GB" b="1" dirty="0">
                <a:latin typeface="Courier New" pitchFamily="49" charset="0"/>
              </a:rPr>
              <a:t>free</a:t>
            </a:r>
            <a:r>
              <a:rPr lang="en-GB" b="1" dirty="0"/>
              <a:t> </a:t>
            </a:r>
            <a:r>
              <a:rPr lang="en-GB" dirty="0"/>
              <a:t>calls in 10 seconds 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Throughput is 1,000 operations/second</a:t>
            </a:r>
          </a:p>
        </p:txBody>
      </p:sp>
    </p:spTree>
    <p:extLst>
      <p:ext uri="{BB962C8B-B14F-4D97-AF65-F5344CB8AC3E}">
        <p14:creationId xmlns:p14="http://schemas.microsoft.com/office/powerpoint/2010/main" val="388715330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699500" cy="1096963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Performance Goal: Peak Memory Utilization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8300" y="1295400"/>
            <a:ext cx="8470900" cy="5216525"/>
          </a:xfrm>
          <a:ln/>
        </p:spPr>
        <p:txBody>
          <a:bodyPr/>
          <a:lstStyle/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Given some sequence of </a:t>
            </a:r>
            <a:r>
              <a:rPr lang="en-GB" dirty="0" err="1">
                <a:latin typeface="Courier New" pitchFamily="49" charset="0"/>
              </a:rPr>
              <a:t>malloc</a:t>
            </a:r>
            <a:r>
              <a:rPr lang="en-GB" dirty="0"/>
              <a:t> and </a:t>
            </a:r>
            <a:r>
              <a:rPr lang="en-GB" dirty="0">
                <a:latin typeface="Courier New" pitchFamily="49" charset="0"/>
              </a:rPr>
              <a:t>free</a:t>
            </a:r>
            <a:r>
              <a:rPr lang="en-GB" dirty="0"/>
              <a:t> requests: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 </a:t>
            </a:r>
            <a:r>
              <a:rPr lang="en-GB" i="1" dirty="0"/>
              <a:t>R</a:t>
            </a:r>
            <a:r>
              <a:rPr lang="en-GB" i="1" baseline="-25000" dirty="0"/>
              <a:t>0</a:t>
            </a:r>
            <a:r>
              <a:rPr lang="en-GB" i="1" dirty="0"/>
              <a:t>, R</a:t>
            </a:r>
            <a:r>
              <a:rPr lang="en-GB" i="1" baseline="-25000" dirty="0"/>
              <a:t>1</a:t>
            </a:r>
            <a:r>
              <a:rPr lang="en-GB" i="1" dirty="0"/>
              <a:t>, ..., </a:t>
            </a:r>
            <a:r>
              <a:rPr lang="en-GB" i="1" dirty="0" err="1"/>
              <a:t>R</a:t>
            </a:r>
            <a:r>
              <a:rPr lang="en-GB" i="1" baseline="-25000" dirty="0" err="1"/>
              <a:t>k</a:t>
            </a:r>
            <a:r>
              <a:rPr lang="en-GB" i="1" dirty="0"/>
              <a:t>, ... , R</a:t>
            </a:r>
            <a:r>
              <a:rPr lang="en-GB" i="1" baseline="-25000" dirty="0"/>
              <a:t>n-1</a:t>
            </a:r>
            <a:endParaRPr lang="en-GB" sz="1200" i="1" dirty="0"/>
          </a:p>
          <a:p>
            <a:pPr>
              <a:lnSpc>
                <a:spcPct val="83000"/>
              </a:lnSpc>
              <a:spcBef>
                <a:spcPts val="18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>
                <a:solidFill>
                  <a:srgbClr val="C00000"/>
                </a:solidFill>
              </a:rPr>
              <a:t>Def:</a:t>
            </a:r>
            <a:r>
              <a:rPr lang="en-GB" i="1" dirty="0"/>
              <a:t> Aggregate payload </a:t>
            </a:r>
            <a:r>
              <a:rPr lang="en-GB" i="1" dirty="0" err="1"/>
              <a:t>P</a:t>
            </a:r>
            <a:r>
              <a:rPr lang="en-GB" i="1" baseline="-25000" dirty="0" err="1"/>
              <a:t>k</a:t>
            </a:r>
            <a:r>
              <a:rPr lang="en-GB" dirty="0"/>
              <a:t> 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 </a:t>
            </a:r>
            <a:r>
              <a:rPr lang="en-GB" b="1" dirty="0" err="1">
                <a:latin typeface="Courier New" pitchFamily="49" charset="0"/>
              </a:rPr>
              <a:t>malloc</a:t>
            </a:r>
            <a:r>
              <a:rPr lang="en-GB" b="1" dirty="0">
                <a:latin typeface="Courier New" pitchFamily="49" charset="0"/>
              </a:rPr>
              <a:t>(p)</a:t>
            </a:r>
            <a:r>
              <a:rPr lang="en-GB" dirty="0"/>
              <a:t> results in a block with a </a:t>
            </a:r>
            <a:r>
              <a:rPr lang="en-GB" b="1" i="1" dirty="0">
                <a:solidFill>
                  <a:srgbClr val="C00000"/>
                </a:solidFill>
              </a:rPr>
              <a:t>payload</a:t>
            </a:r>
            <a:r>
              <a:rPr lang="en-GB" dirty="0"/>
              <a:t> of </a:t>
            </a:r>
            <a:r>
              <a:rPr lang="en-GB" b="1" dirty="0">
                <a:latin typeface="Courier New" pitchFamily="49" charset="0"/>
              </a:rPr>
              <a:t>p</a:t>
            </a:r>
            <a:r>
              <a:rPr lang="en-GB" dirty="0"/>
              <a:t> bytes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After request </a:t>
            </a:r>
            <a:r>
              <a:rPr lang="en-GB" i="1" dirty="0" err="1"/>
              <a:t>R</a:t>
            </a:r>
            <a:r>
              <a:rPr lang="en-GB" i="1" baseline="-25000" dirty="0" err="1"/>
              <a:t>k</a:t>
            </a:r>
            <a:r>
              <a:rPr lang="en-GB" i="1" baseline="-25000" dirty="0"/>
              <a:t> </a:t>
            </a:r>
            <a:r>
              <a:rPr lang="en-GB" dirty="0"/>
              <a:t>has completed, the </a:t>
            </a:r>
            <a:r>
              <a:rPr lang="en-GB" b="1" i="1" dirty="0">
                <a:solidFill>
                  <a:srgbClr val="C00000"/>
                </a:solidFill>
              </a:rPr>
              <a:t>aggregate payload </a:t>
            </a:r>
            <a:r>
              <a:rPr lang="en-GB" i="1" dirty="0" err="1"/>
              <a:t>P</a:t>
            </a:r>
            <a:r>
              <a:rPr lang="en-GB" i="1" baseline="-25000" dirty="0" err="1"/>
              <a:t>k</a:t>
            </a:r>
            <a:r>
              <a:rPr lang="en-GB" i="1" baseline="-25000" dirty="0"/>
              <a:t>  </a:t>
            </a:r>
            <a:r>
              <a:rPr lang="en-GB" dirty="0"/>
              <a:t>is the sum of currently allocated payloads</a:t>
            </a:r>
          </a:p>
          <a:p>
            <a:pPr>
              <a:lnSpc>
                <a:spcPct val="83000"/>
              </a:lnSpc>
              <a:spcBef>
                <a:spcPts val="18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>
                <a:solidFill>
                  <a:srgbClr val="C00000"/>
                </a:solidFill>
              </a:rPr>
              <a:t>Def:</a:t>
            </a:r>
            <a:r>
              <a:rPr lang="en-GB" i="1" dirty="0"/>
              <a:t> Current heap size </a:t>
            </a:r>
            <a:r>
              <a:rPr lang="en-GB" i="1" dirty="0" err="1"/>
              <a:t>H</a:t>
            </a:r>
            <a:r>
              <a:rPr lang="en-GB" i="1" baseline="-25000" dirty="0" err="1"/>
              <a:t>k</a:t>
            </a:r>
            <a:endParaRPr lang="en-GB" i="1" baseline="-25000" dirty="0"/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Assume </a:t>
            </a:r>
            <a:r>
              <a:rPr lang="en-GB" i="1" dirty="0" err="1"/>
              <a:t>H</a:t>
            </a:r>
            <a:r>
              <a:rPr lang="en-GB" i="1" baseline="-25000" dirty="0" err="1"/>
              <a:t>k</a:t>
            </a:r>
            <a:r>
              <a:rPr lang="en-GB" dirty="0"/>
              <a:t> is monotonically </a:t>
            </a:r>
            <a:r>
              <a:rPr lang="en-GB" dirty="0" err="1"/>
              <a:t>nondecreasing</a:t>
            </a:r>
            <a:endParaRPr lang="en-GB" dirty="0"/>
          </a:p>
          <a:p>
            <a:pPr lvl="2">
              <a:lnSpc>
                <a:spcPct val="94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i.e., heap only grows when allocator uses </a:t>
            </a:r>
            <a:r>
              <a:rPr lang="en-GB" b="1" dirty="0" err="1">
                <a:latin typeface="Courier New" pitchFamily="49" charset="0"/>
              </a:rPr>
              <a:t>sbrk</a:t>
            </a:r>
            <a:endParaRPr lang="en-GB" b="1" dirty="0">
              <a:latin typeface="Courier New" pitchFamily="49" charset="0"/>
            </a:endParaRPr>
          </a:p>
          <a:p>
            <a:pPr>
              <a:lnSpc>
                <a:spcPct val="83000"/>
              </a:lnSpc>
              <a:spcBef>
                <a:spcPts val="18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>
                <a:solidFill>
                  <a:srgbClr val="C00000"/>
                </a:solidFill>
              </a:rPr>
              <a:t>Def:</a:t>
            </a:r>
            <a:r>
              <a:rPr lang="en-GB" i="1" dirty="0"/>
              <a:t> Peak memory utilization after k+1 requests </a:t>
            </a:r>
          </a:p>
          <a:p>
            <a:pPr lvl="1"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 err="1"/>
              <a:t>U</a:t>
            </a:r>
            <a:r>
              <a:rPr lang="en-GB" i="1" baseline="-25000" dirty="0" err="1"/>
              <a:t>k</a:t>
            </a:r>
            <a:r>
              <a:rPr lang="en-GB" i="1" dirty="0"/>
              <a:t> = ( </a:t>
            </a:r>
            <a:r>
              <a:rPr lang="en-GB" i="1" dirty="0" err="1"/>
              <a:t>max</a:t>
            </a:r>
            <a:r>
              <a:rPr lang="en-GB" i="1" baseline="-25000" dirty="0" err="1"/>
              <a:t>i≤k</a:t>
            </a:r>
            <a:r>
              <a:rPr lang="en-GB" i="1" dirty="0"/>
              <a:t> P</a:t>
            </a:r>
            <a:r>
              <a:rPr lang="en-GB" i="1" baseline="-25000" dirty="0"/>
              <a:t>i </a:t>
            </a:r>
            <a:r>
              <a:rPr lang="en-GB" i="1" dirty="0"/>
              <a:t>)  /  </a:t>
            </a:r>
            <a:r>
              <a:rPr lang="en-GB" i="1" dirty="0" err="1"/>
              <a:t>H</a:t>
            </a:r>
            <a:r>
              <a:rPr lang="en-GB" i="1" baseline="-25000" dirty="0" err="1"/>
              <a:t>k</a:t>
            </a:r>
            <a:endParaRPr lang="en-GB" i="1" baseline="-25000" dirty="0"/>
          </a:p>
        </p:txBody>
      </p:sp>
    </p:spTree>
    <p:extLst>
      <p:ext uri="{BB962C8B-B14F-4D97-AF65-F5344CB8AC3E}">
        <p14:creationId xmlns:p14="http://schemas.microsoft.com/office/powerpoint/2010/main" val="104246373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Fragmentation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3000"/>
              </a:lnSpc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/>
              <a:t>Poor memory utilization caused by </a:t>
            </a:r>
            <a:r>
              <a:rPr lang="en-GB" i="1">
                <a:solidFill>
                  <a:srgbClr val="C00000"/>
                </a:solidFill>
              </a:rPr>
              <a:t>fragmentation</a:t>
            </a:r>
            <a:endParaRPr lang="en-GB">
              <a:solidFill>
                <a:srgbClr val="C00000"/>
              </a:solidFill>
            </a:endParaRP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>
                <a:solidFill>
                  <a:srgbClr val="C00000"/>
                </a:solidFill>
                <a:ea typeface="+mn-ea"/>
                <a:cs typeface="+mn-cs"/>
              </a:rPr>
              <a:t>internal</a:t>
            </a:r>
            <a:r>
              <a:rPr lang="en-GB"/>
              <a:t> fragmentation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>
                <a:solidFill>
                  <a:srgbClr val="C00000"/>
                </a:solidFill>
                <a:ea typeface="+mn-ea"/>
                <a:cs typeface="+mn-cs"/>
              </a:rPr>
              <a:t>external</a:t>
            </a:r>
            <a:r>
              <a:rPr lang="en-GB"/>
              <a:t> fragmentation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15624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67310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Internal Fragmentation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220788"/>
            <a:ext cx="8307387" cy="5408612"/>
          </a:xfrm>
          <a:ln/>
        </p:spPr>
        <p:txBody>
          <a:bodyPr/>
          <a:lstStyle/>
          <a:p>
            <a:pPr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200" dirty="0"/>
              <a:t>For a given block, </a:t>
            </a:r>
            <a:r>
              <a:rPr lang="en-GB" sz="2200" i="1" dirty="0">
                <a:solidFill>
                  <a:srgbClr val="C00000"/>
                </a:solidFill>
              </a:rPr>
              <a:t>internal fragmentation </a:t>
            </a:r>
            <a:r>
              <a:rPr lang="en-GB" sz="2200" dirty="0"/>
              <a:t>occurs if payload is smaller than block size</a:t>
            </a:r>
          </a:p>
          <a:p>
            <a:pPr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200" dirty="0"/>
          </a:p>
          <a:p>
            <a:pPr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200" dirty="0"/>
          </a:p>
          <a:p>
            <a:pPr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200" dirty="0"/>
          </a:p>
          <a:p>
            <a:pPr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200" dirty="0"/>
          </a:p>
          <a:p>
            <a:pPr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200" dirty="0"/>
          </a:p>
          <a:p>
            <a:pPr>
              <a:lnSpc>
                <a:spcPct val="88000"/>
              </a:lnSpc>
              <a:spcBef>
                <a:spcPts val="563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200" dirty="0"/>
          </a:p>
          <a:p>
            <a:pPr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200" dirty="0"/>
              <a:t>Caused by 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a typeface="+mn-ea"/>
                <a:cs typeface="+mn-cs"/>
              </a:rPr>
              <a:t>Overhead of maintaining heap data structures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a typeface="+mn-ea"/>
                <a:cs typeface="+mn-cs"/>
              </a:rPr>
              <a:t>Padding for alignment purposes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a typeface="+mn-ea"/>
                <a:cs typeface="+mn-cs"/>
              </a:rPr>
              <a:t>Explicit policy decisions </a:t>
            </a:r>
            <a:br>
              <a:rPr lang="en-GB" dirty="0">
                <a:ea typeface="+mn-ea"/>
                <a:cs typeface="+mn-cs"/>
              </a:rPr>
            </a:br>
            <a:r>
              <a:rPr lang="en-GB" dirty="0">
                <a:ea typeface="+mn-ea"/>
                <a:cs typeface="+mn-cs"/>
              </a:rPr>
              <a:t>(e.g., to return a big block to satisfy a small request)</a:t>
            </a:r>
            <a:endParaRPr lang="en-GB" sz="2200" dirty="0"/>
          </a:p>
          <a:p>
            <a:pPr>
              <a:lnSpc>
                <a:spcPct val="88000"/>
              </a:lnSpc>
              <a:spcBef>
                <a:spcPts val="18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200" dirty="0"/>
              <a:t>Depends only on the pattern of </a:t>
            </a:r>
            <a:r>
              <a:rPr lang="en-GB" sz="2200" i="1" dirty="0">
                <a:solidFill>
                  <a:srgbClr val="C00000"/>
                </a:solidFill>
              </a:rPr>
              <a:t>previous</a:t>
            </a:r>
            <a:r>
              <a:rPr lang="en-GB" sz="2200" dirty="0"/>
              <a:t> requests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Thus, easy to measure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3094846" y="2895600"/>
            <a:ext cx="2819400" cy="6096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</a:t>
            </a:r>
            <a:r>
              <a:rPr lang="en-GB" sz="1600" b="1" dirty="0">
                <a:latin typeface="Calibri" pitchFamily="34" charset="0"/>
              </a:rPr>
              <a:t>ayload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5914246" y="2895600"/>
            <a:ext cx="762000" cy="6096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2332846" y="2895600"/>
            <a:ext cx="762000" cy="6096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7148335" y="2911642"/>
            <a:ext cx="1402541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Internal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fragmentation</a:t>
            </a:r>
          </a:p>
        </p:txBody>
      </p:sp>
      <p:sp>
        <p:nvSpPr>
          <p:cNvPr id="15367" name="Line 7"/>
          <p:cNvSpPr>
            <a:spLocks noChangeShapeType="1"/>
          </p:cNvSpPr>
          <p:nvPr/>
        </p:nvSpPr>
        <p:spPr bwMode="auto">
          <a:xfrm flipH="1">
            <a:off x="6321425" y="3200400"/>
            <a:ext cx="765175" cy="1588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368" name="AutoShape 8"/>
          <p:cNvSpPr>
            <a:spLocks/>
          </p:cNvSpPr>
          <p:nvPr/>
        </p:nvSpPr>
        <p:spPr bwMode="auto">
          <a:xfrm rot="16200000">
            <a:off x="4350559" y="495300"/>
            <a:ext cx="304800" cy="4343400"/>
          </a:xfrm>
          <a:prstGeom prst="rightBrace">
            <a:avLst>
              <a:gd name="adj1" fmla="val 118750"/>
              <a:gd name="adj2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4184773" y="2133600"/>
            <a:ext cx="641820" cy="33663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B</a:t>
            </a:r>
            <a:r>
              <a:rPr lang="en-GB" sz="1600" b="1" dirty="0">
                <a:latin typeface="Calibri" pitchFamily="34" charset="0"/>
              </a:rPr>
              <a:t>lock</a:t>
            </a:r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684814" y="2911642"/>
            <a:ext cx="1402541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Internal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fragmentation</a:t>
            </a:r>
          </a:p>
        </p:txBody>
      </p:sp>
      <p:sp>
        <p:nvSpPr>
          <p:cNvPr id="15371" name="Line 11"/>
          <p:cNvSpPr>
            <a:spLocks noChangeShapeType="1"/>
          </p:cNvSpPr>
          <p:nvPr/>
        </p:nvSpPr>
        <p:spPr bwMode="auto">
          <a:xfrm>
            <a:off x="2057400" y="3200400"/>
            <a:ext cx="685800" cy="1588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8813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Occurs when there is enough aggregate heap memory, but no single free block is large enough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dirty="0"/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Amount of external fragmentation</a:t>
            </a:r>
            <a:br>
              <a:rPr lang="en-GB" dirty="0"/>
            </a:br>
            <a:r>
              <a:rPr lang="en-GB" dirty="0"/>
              <a:t>depends on the pattern of future requests</a:t>
            </a:r>
          </a:p>
          <a:p>
            <a:pPr lvl="1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Thus, difficult to measure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80" name="Text Box 91"/>
          <p:cNvSpPr txBox="1">
            <a:spLocks noChangeArrowheads="1"/>
          </p:cNvSpPr>
          <p:nvPr/>
        </p:nvSpPr>
        <p:spPr bwMode="auto">
          <a:xfrm>
            <a:off x="323656" y="4876800"/>
            <a:ext cx="2663206" cy="354906"/>
          </a:xfrm>
          <a:prstGeom prst="rect">
            <a:avLst/>
          </a:prstGeom>
          <a:solidFill>
            <a:srgbClr val="D5F1CF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p4 = malloc(7*SIZ)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00400" y="4782744"/>
            <a:ext cx="45018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Yikes! (what would happen now?)</a:t>
            </a:r>
          </a:p>
        </p:txBody>
      </p:sp>
      <p:sp>
        <p:nvSpPr>
          <p:cNvPr id="82" name="Text Box 19"/>
          <p:cNvSpPr txBox="1">
            <a:spLocks noChangeArrowheads="1"/>
          </p:cNvSpPr>
          <p:nvPr/>
        </p:nvSpPr>
        <p:spPr bwMode="auto">
          <a:xfrm>
            <a:off x="5278437" y="500547"/>
            <a:ext cx="3352498" cy="354906"/>
          </a:xfrm>
          <a:prstGeom prst="rect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#define SIZ </a:t>
            </a:r>
            <a:r>
              <a:rPr lang="en-GB" sz="1800" b="1" dirty="0" err="1">
                <a:latin typeface="Courier New" pitchFamily="49" charset="0"/>
              </a:rPr>
              <a:t>sizeof</a:t>
            </a:r>
            <a:r>
              <a:rPr lang="en-GB" sz="1800" b="1" dirty="0">
                <a:latin typeface="Courier New" pitchFamily="49" charset="0"/>
              </a:rPr>
              <a:t>(</a:t>
            </a:r>
            <a:r>
              <a:rPr lang="en-GB" sz="1800" b="1" dirty="0" err="1">
                <a:latin typeface="Courier New" pitchFamily="49" charset="0"/>
              </a:rPr>
              <a:t>int</a:t>
            </a:r>
            <a:r>
              <a:rPr lang="en-GB" sz="1800" b="1" dirty="0">
                <a:latin typeface="Courier New" pitchFamily="49" charset="0"/>
              </a:rPr>
              <a:t>)</a:t>
            </a:r>
          </a:p>
        </p:txBody>
      </p:sp>
      <p:sp>
        <p:nvSpPr>
          <p:cNvPr id="83" name="Text Box 19"/>
          <p:cNvSpPr txBox="1">
            <a:spLocks noChangeArrowheads="1"/>
          </p:cNvSpPr>
          <p:nvPr/>
        </p:nvSpPr>
        <p:spPr bwMode="auto">
          <a:xfrm>
            <a:off x="176831" y="2362200"/>
            <a:ext cx="2663206" cy="354906"/>
          </a:xfrm>
          <a:prstGeom prst="rect">
            <a:avLst/>
          </a:prstGeom>
          <a:solidFill>
            <a:srgbClr val="F6F5BD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p1 = malloc(4*SIZ)</a:t>
            </a:r>
          </a:p>
        </p:txBody>
      </p:sp>
      <p:sp>
        <p:nvSpPr>
          <p:cNvPr id="84" name="Text Box 37"/>
          <p:cNvSpPr txBox="1">
            <a:spLocks noChangeArrowheads="1"/>
          </p:cNvSpPr>
          <p:nvPr/>
        </p:nvSpPr>
        <p:spPr bwMode="auto">
          <a:xfrm>
            <a:off x="176831" y="2971800"/>
            <a:ext cx="2663206" cy="354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p2 = malloc(5*SIZ)</a:t>
            </a:r>
          </a:p>
        </p:txBody>
      </p:sp>
      <p:sp>
        <p:nvSpPr>
          <p:cNvPr id="85" name="Text Box 55"/>
          <p:cNvSpPr txBox="1">
            <a:spLocks noChangeArrowheads="1"/>
          </p:cNvSpPr>
          <p:nvPr/>
        </p:nvSpPr>
        <p:spPr bwMode="auto">
          <a:xfrm>
            <a:off x="176831" y="3657600"/>
            <a:ext cx="2663206" cy="354906"/>
          </a:xfrm>
          <a:prstGeom prst="rect">
            <a:avLst/>
          </a:prstGeom>
          <a:solidFill>
            <a:srgbClr val="F1C7C7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</a:rPr>
              <a:t>p3 = malloc(6*SIZ)</a:t>
            </a:r>
          </a:p>
        </p:txBody>
      </p:sp>
      <p:sp>
        <p:nvSpPr>
          <p:cNvPr id="86" name="Text Box 73"/>
          <p:cNvSpPr txBox="1">
            <a:spLocks noChangeArrowheads="1"/>
          </p:cNvSpPr>
          <p:nvPr/>
        </p:nvSpPr>
        <p:spPr bwMode="auto">
          <a:xfrm>
            <a:off x="533400" y="4263096"/>
            <a:ext cx="1284624" cy="3590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itchFamily="49" charset="0"/>
              </a:rPr>
              <a:t>free(p2)</a:t>
            </a:r>
          </a:p>
        </p:txBody>
      </p:sp>
      <p:grpSp>
        <p:nvGrpSpPr>
          <p:cNvPr id="87" name="Group 86"/>
          <p:cNvGrpSpPr/>
          <p:nvPr/>
        </p:nvGrpSpPr>
        <p:grpSpPr>
          <a:xfrm>
            <a:off x="2992437" y="2393950"/>
            <a:ext cx="5486400" cy="304800"/>
            <a:chOff x="2992437" y="1614488"/>
            <a:chExt cx="5486400" cy="304800"/>
          </a:xfrm>
        </p:grpSpPr>
        <p:grpSp>
          <p:nvGrpSpPr>
            <p:cNvPr id="88" name="Group 87"/>
            <p:cNvGrpSpPr/>
            <p:nvPr/>
          </p:nvGrpSpPr>
          <p:grpSpPr>
            <a:xfrm>
              <a:off x="2992437" y="1614488"/>
              <a:ext cx="5181600" cy="304800"/>
              <a:chOff x="3006724" y="1614488"/>
              <a:chExt cx="5181600" cy="304800"/>
            </a:xfrm>
          </p:grpSpPr>
          <p:sp>
            <p:nvSpPr>
              <p:cNvPr id="90" name="Rectangle 2"/>
              <p:cNvSpPr>
                <a:spLocks noChangeArrowheads="1"/>
              </p:cNvSpPr>
              <p:nvPr/>
            </p:nvSpPr>
            <p:spPr bwMode="auto">
              <a:xfrm>
                <a:off x="30067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Rectangle 3"/>
              <p:cNvSpPr>
                <a:spLocks noChangeArrowheads="1"/>
              </p:cNvSpPr>
              <p:nvPr/>
            </p:nvSpPr>
            <p:spPr bwMode="auto">
              <a:xfrm>
                <a:off x="33115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" name="Rectangle 4"/>
              <p:cNvSpPr>
                <a:spLocks noChangeArrowheads="1"/>
              </p:cNvSpPr>
              <p:nvPr/>
            </p:nvSpPr>
            <p:spPr bwMode="auto">
              <a:xfrm>
                <a:off x="36163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3" name="Rectangle 5"/>
              <p:cNvSpPr>
                <a:spLocks noChangeArrowheads="1"/>
              </p:cNvSpPr>
              <p:nvPr/>
            </p:nvSpPr>
            <p:spPr bwMode="auto">
              <a:xfrm>
                <a:off x="3921124" y="1614488"/>
                <a:ext cx="304800" cy="304800"/>
              </a:xfrm>
              <a:prstGeom prst="rect">
                <a:avLst/>
              </a:prstGeom>
              <a:solidFill>
                <a:srgbClr val="F6F5B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4" name="Rectangle 6"/>
              <p:cNvSpPr>
                <a:spLocks noChangeArrowheads="1"/>
              </p:cNvSpPr>
              <p:nvPr/>
            </p:nvSpPr>
            <p:spPr bwMode="auto">
              <a:xfrm>
                <a:off x="42259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5" name="Rectangle 7"/>
              <p:cNvSpPr>
                <a:spLocks noChangeArrowheads="1"/>
              </p:cNvSpPr>
              <p:nvPr/>
            </p:nvSpPr>
            <p:spPr bwMode="auto">
              <a:xfrm>
                <a:off x="45307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" name="Rectangle 8"/>
              <p:cNvSpPr>
                <a:spLocks noChangeArrowheads="1"/>
              </p:cNvSpPr>
              <p:nvPr/>
            </p:nvSpPr>
            <p:spPr bwMode="auto">
              <a:xfrm>
                <a:off x="48355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" name="Rectangle 9"/>
              <p:cNvSpPr>
                <a:spLocks noChangeArrowheads="1"/>
              </p:cNvSpPr>
              <p:nvPr/>
            </p:nvSpPr>
            <p:spPr bwMode="auto">
              <a:xfrm>
                <a:off x="51403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" name="Rectangle 10"/>
              <p:cNvSpPr>
                <a:spLocks noChangeArrowheads="1"/>
              </p:cNvSpPr>
              <p:nvPr/>
            </p:nvSpPr>
            <p:spPr bwMode="auto">
              <a:xfrm>
                <a:off x="54451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9" name="Rectangle 11"/>
              <p:cNvSpPr>
                <a:spLocks noChangeArrowheads="1"/>
              </p:cNvSpPr>
              <p:nvPr/>
            </p:nvSpPr>
            <p:spPr bwMode="auto">
              <a:xfrm>
                <a:off x="57499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0" name="Rectangle 12"/>
              <p:cNvSpPr>
                <a:spLocks noChangeArrowheads="1"/>
              </p:cNvSpPr>
              <p:nvPr/>
            </p:nvSpPr>
            <p:spPr bwMode="auto">
              <a:xfrm>
                <a:off x="60547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1" name="Rectangle 13"/>
              <p:cNvSpPr>
                <a:spLocks noChangeArrowheads="1"/>
              </p:cNvSpPr>
              <p:nvPr/>
            </p:nvSpPr>
            <p:spPr bwMode="auto">
              <a:xfrm>
                <a:off x="63595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" name="Rectangle 14"/>
              <p:cNvSpPr>
                <a:spLocks noChangeArrowheads="1"/>
              </p:cNvSpPr>
              <p:nvPr/>
            </p:nvSpPr>
            <p:spPr bwMode="auto">
              <a:xfrm>
                <a:off x="66643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" name="Rectangle 15"/>
              <p:cNvSpPr>
                <a:spLocks noChangeArrowheads="1"/>
              </p:cNvSpPr>
              <p:nvPr/>
            </p:nvSpPr>
            <p:spPr bwMode="auto">
              <a:xfrm>
                <a:off x="69691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" name="Rectangle 16"/>
              <p:cNvSpPr>
                <a:spLocks noChangeArrowheads="1"/>
              </p:cNvSpPr>
              <p:nvPr/>
            </p:nvSpPr>
            <p:spPr bwMode="auto">
              <a:xfrm>
                <a:off x="72739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" name="Rectangle 17"/>
              <p:cNvSpPr>
                <a:spLocks noChangeArrowheads="1"/>
              </p:cNvSpPr>
              <p:nvPr/>
            </p:nvSpPr>
            <p:spPr bwMode="auto">
              <a:xfrm>
                <a:off x="75787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" name="Rectangle 18"/>
              <p:cNvSpPr>
                <a:spLocks noChangeArrowheads="1"/>
              </p:cNvSpPr>
              <p:nvPr/>
            </p:nvSpPr>
            <p:spPr bwMode="auto">
              <a:xfrm>
                <a:off x="7883524" y="1614488"/>
                <a:ext cx="304800" cy="30480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89" name="Rectangle 9"/>
            <p:cNvSpPr>
              <a:spLocks noChangeArrowheads="1"/>
            </p:cNvSpPr>
            <p:nvPr/>
          </p:nvSpPr>
          <p:spPr bwMode="auto">
            <a:xfrm>
              <a:off x="8174037" y="1614488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2992437" y="3008875"/>
            <a:ext cx="5486400" cy="304800"/>
            <a:chOff x="2992437" y="2501901"/>
            <a:chExt cx="5486400" cy="304800"/>
          </a:xfrm>
        </p:grpSpPr>
        <p:sp>
          <p:nvSpPr>
            <p:cNvPr id="108" name="Rectangle 20"/>
            <p:cNvSpPr>
              <a:spLocks noChangeArrowheads="1"/>
            </p:cNvSpPr>
            <p:nvPr/>
          </p:nvSpPr>
          <p:spPr bwMode="auto">
            <a:xfrm>
              <a:off x="29924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" name="Rectangle 21"/>
            <p:cNvSpPr>
              <a:spLocks noChangeArrowheads="1"/>
            </p:cNvSpPr>
            <p:nvPr/>
          </p:nvSpPr>
          <p:spPr bwMode="auto">
            <a:xfrm>
              <a:off x="32972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" name="Rectangle 22"/>
            <p:cNvSpPr>
              <a:spLocks noChangeArrowheads="1"/>
            </p:cNvSpPr>
            <p:nvPr/>
          </p:nvSpPr>
          <p:spPr bwMode="auto">
            <a:xfrm>
              <a:off x="36020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" name="Rectangle 23"/>
            <p:cNvSpPr>
              <a:spLocks noChangeArrowheads="1"/>
            </p:cNvSpPr>
            <p:nvPr/>
          </p:nvSpPr>
          <p:spPr bwMode="auto">
            <a:xfrm>
              <a:off x="3906837" y="2501901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Rectangle 24"/>
            <p:cNvSpPr>
              <a:spLocks noChangeArrowheads="1"/>
            </p:cNvSpPr>
            <p:nvPr/>
          </p:nvSpPr>
          <p:spPr bwMode="auto">
            <a:xfrm>
              <a:off x="42116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" name="Rectangle 25"/>
            <p:cNvSpPr>
              <a:spLocks noChangeArrowheads="1"/>
            </p:cNvSpPr>
            <p:nvPr/>
          </p:nvSpPr>
          <p:spPr bwMode="auto">
            <a:xfrm>
              <a:off x="45164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" name="Rectangle 26"/>
            <p:cNvSpPr>
              <a:spLocks noChangeArrowheads="1"/>
            </p:cNvSpPr>
            <p:nvPr/>
          </p:nvSpPr>
          <p:spPr bwMode="auto">
            <a:xfrm>
              <a:off x="48212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" name="Rectangle 27"/>
            <p:cNvSpPr>
              <a:spLocks noChangeArrowheads="1"/>
            </p:cNvSpPr>
            <p:nvPr/>
          </p:nvSpPr>
          <p:spPr bwMode="auto">
            <a:xfrm>
              <a:off x="51260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" name="Rectangle 28"/>
            <p:cNvSpPr>
              <a:spLocks noChangeArrowheads="1"/>
            </p:cNvSpPr>
            <p:nvPr/>
          </p:nvSpPr>
          <p:spPr bwMode="auto">
            <a:xfrm>
              <a:off x="5430837" y="2501901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" name="Rectangle 29"/>
            <p:cNvSpPr>
              <a:spLocks noChangeArrowheads="1"/>
            </p:cNvSpPr>
            <p:nvPr/>
          </p:nvSpPr>
          <p:spPr bwMode="auto">
            <a:xfrm>
              <a:off x="57356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" name="Rectangle 30"/>
            <p:cNvSpPr>
              <a:spLocks noChangeArrowheads="1"/>
            </p:cNvSpPr>
            <p:nvPr/>
          </p:nvSpPr>
          <p:spPr bwMode="auto">
            <a:xfrm>
              <a:off x="60404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" name="Rectangle 31"/>
            <p:cNvSpPr>
              <a:spLocks noChangeArrowheads="1"/>
            </p:cNvSpPr>
            <p:nvPr/>
          </p:nvSpPr>
          <p:spPr bwMode="auto">
            <a:xfrm>
              <a:off x="63452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" name="Rectangle 32"/>
            <p:cNvSpPr>
              <a:spLocks noChangeArrowheads="1"/>
            </p:cNvSpPr>
            <p:nvPr/>
          </p:nvSpPr>
          <p:spPr bwMode="auto">
            <a:xfrm>
              <a:off x="66500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" name="Rectangle 33"/>
            <p:cNvSpPr>
              <a:spLocks noChangeArrowheads="1"/>
            </p:cNvSpPr>
            <p:nvPr/>
          </p:nvSpPr>
          <p:spPr bwMode="auto">
            <a:xfrm>
              <a:off x="69548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2" name="Rectangle 34"/>
            <p:cNvSpPr>
              <a:spLocks noChangeArrowheads="1"/>
            </p:cNvSpPr>
            <p:nvPr/>
          </p:nvSpPr>
          <p:spPr bwMode="auto">
            <a:xfrm>
              <a:off x="72596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" name="Rectangle 35"/>
            <p:cNvSpPr>
              <a:spLocks noChangeArrowheads="1"/>
            </p:cNvSpPr>
            <p:nvPr/>
          </p:nvSpPr>
          <p:spPr bwMode="auto">
            <a:xfrm>
              <a:off x="75644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Rectangle 36"/>
            <p:cNvSpPr>
              <a:spLocks noChangeArrowheads="1"/>
            </p:cNvSpPr>
            <p:nvPr/>
          </p:nvSpPr>
          <p:spPr bwMode="auto">
            <a:xfrm>
              <a:off x="78692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" name="Rectangle 9"/>
            <p:cNvSpPr>
              <a:spLocks noChangeArrowheads="1"/>
            </p:cNvSpPr>
            <p:nvPr/>
          </p:nvSpPr>
          <p:spPr bwMode="auto">
            <a:xfrm>
              <a:off x="8174037" y="2501901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6" name="Group 125"/>
          <p:cNvGrpSpPr/>
          <p:nvPr/>
        </p:nvGrpSpPr>
        <p:grpSpPr>
          <a:xfrm>
            <a:off x="2992437" y="3681785"/>
            <a:ext cx="5486400" cy="304800"/>
            <a:chOff x="2992437" y="3389313"/>
            <a:chExt cx="5486400" cy="304800"/>
          </a:xfrm>
        </p:grpSpPr>
        <p:sp>
          <p:nvSpPr>
            <p:cNvPr id="127" name="Rectangle 38"/>
            <p:cNvSpPr>
              <a:spLocks noChangeArrowheads="1"/>
            </p:cNvSpPr>
            <p:nvPr/>
          </p:nvSpPr>
          <p:spPr bwMode="auto">
            <a:xfrm>
              <a:off x="29924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" name="Rectangle 39"/>
            <p:cNvSpPr>
              <a:spLocks noChangeArrowheads="1"/>
            </p:cNvSpPr>
            <p:nvPr/>
          </p:nvSpPr>
          <p:spPr bwMode="auto">
            <a:xfrm>
              <a:off x="32972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" name="Rectangle 40"/>
            <p:cNvSpPr>
              <a:spLocks noChangeArrowheads="1"/>
            </p:cNvSpPr>
            <p:nvPr/>
          </p:nvSpPr>
          <p:spPr bwMode="auto">
            <a:xfrm>
              <a:off x="36020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Rectangle 41"/>
            <p:cNvSpPr>
              <a:spLocks noChangeArrowheads="1"/>
            </p:cNvSpPr>
            <p:nvPr/>
          </p:nvSpPr>
          <p:spPr bwMode="auto">
            <a:xfrm>
              <a:off x="3906837" y="3389313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" name="Rectangle 42"/>
            <p:cNvSpPr>
              <a:spLocks noChangeArrowheads="1"/>
            </p:cNvSpPr>
            <p:nvPr/>
          </p:nvSpPr>
          <p:spPr bwMode="auto">
            <a:xfrm>
              <a:off x="42116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2" name="Rectangle 43"/>
            <p:cNvSpPr>
              <a:spLocks noChangeArrowheads="1"/>
            </p:cNvSpPr>
            <p:nvPr/>
          </p:nvSpPr>
          <p:spPr bwMode="auto">
            <a:xfrm>
              <a:off x="45164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" name="Rectangle 44"/>
            <p:cNvSpPr>
              <a:spLocks noChangeArrowheads="1"/>
            </p:cNvSpPr>
            <p:nvPr/>
          </p:nvSpPr>
          <p:spPr bwMode="auto">
            <a:xfrm>
              <a:off x="48212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Rectangle 45"/>
            <p:cNvSpPr>
              <a:spLocks noChangeArrowheads="1"/>
            </p:cNvSpPr>
            <p:nvPr/>
          </p:nvSpPr>
          <p:spPr bwMode="auto">
            <a:xfrm>
              <a:off x="51260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Rectangle 46"/>
            <p:cNvSpPr>
              <a:spLocks noChangeArrowheads="1"/>
            </p:cNvSpPr>
            <p:nvPr/>
          </p:nvSpPr>
          <p:spPr bwMode="auto">
            <a:xfrm>
              <a:off x="5430837" y="3389313"/>
              <a:ext cx="3048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Rectangle 47"/>
            <p:cNvSpPr>
              <a:spLocks noChangeArrowheads="1"/>
            </p:cNvSpPr>
            <p:nvPr/>
          </p:nvSpPr>
          <p:spPr bwMode="auto">
            <a:xfrm>
              <a:off x="5735637" y="3389313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Rectangle 48"/>
            <p:cNvSpPr>
              <a:spLocks noChangeArrowheads="1"/>
            </p:cNvSpPr>
            <p:nvPr/>
          </p:nvSpPr>
          <p:spPr bwMode="auto">
            <a:xfrm>
              <a:off x="60404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Rectangle 49"/>
            <p:cNvSpPr>
              <a:spLocks noChangeArrowheads="1"/>
            </p:cNvSpPr>
            <p:nvPr/>
          </p:nvSpPr>
          <p:spPr bwMode="auto">
            <a:xfrm>
              <a:off x="63452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Rectangle 50"/>
            <p:cNvSpPr>
              <a:spLocks noChangeArrowheads="1"/>
            </p:cNvSpPr>
            <p:nvPr/>
          </p:nvSpPr>
          <p:spPr bwMode="auto">
            <a:xfrm>
              <a:off x="66500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" name="Rectangle 51"/>
            <p:cNvSpPr>
              <a:spLocks noChangeArrowheads="1"/>
            </p:cNvSpPr>
            <p:nvPr/>
          </p:nvSpPr>
          <p:spPr bwMode="auto">
            <a:xfrm>
              <a:off x="69548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1" name="Rectangle 52"/>
            <p:cNvSpPr>
              <a:spLocks noChangeArrowheads="1"/>
            </p:cNvSpPr>
            <p:nvPr/>
          </p:nvSpPr>
          <p:spPr bwMode="auto">
            <a:xfrm>
              <a:off x="72596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2" name="Rectangle 53"/>
            <p:cNvSpPr>
              <a:spLocks noChangeArrowheads="1"/>
            </p:cNvSpPr>
            <p:nvPr/>
          </p:nvSpPr>
          <p:spPr bwMode="auto">
            <a:xfrm>
              <a:off x="7564437" y="3389313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" name="Rectangle 54"/>
            <p:cNvSpPr>
              <a:spLocks noChangeArrowheads="1"/>
            </p:cNvSpPr>
            <p:nvPr/>
          </p:nvSpPr>
          <p:spPr bwMode="auto">
            <a:xfrm>
              <a:off x="7869237" y="3389313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" name="Rectangle 9"/>
            <p:cNvSpPr>
              <a:spLocks noChangeArrowheads="1"/>
            </p:cNvSpPr>
            <p:nvPr/>
          </p:nvSpPr>
          <p:spPr bwMode="auto">
            <a:xfrm>
              <a:off x="8174037" y="3389313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5" name="Group 144"/>
          <p:cNvGrpSpPr/>
          <p:nvPr/>
        </p:nvGrpSpPr>
        <p:grpSpPr>
          <a:xfrm>
            <a:off x="2992437" y="4290201"/>
            <a:ext cx="5486400" cy="309446"/>
            <a:chOff x="2992437" y="4272080"/>
            <a:chExt cx="5486400" cy="309446"/>
          </a:xfrm>
        </p:grpSpPr>
        <p:sp>
          <p:nvSpPr>
            <p:cNvPr id="146" name="Rectangle 56"/>
            <p:cNvSpPr>
              <a:spLocks noChangeArrowheads="1"/>
            </p:cNvSpPr>
            <p:nvPr/>
          </p:nvSpPr>
          <p:spPr bwMode="auto">
            <a:xfrm>
              <a:off x="29924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7" name="Rectangle 57"/>
            <p:cNvSpPr>
              <a:spLocks noChangeArrowheads="1"/>
            </p:cNvSpPr>
            <p:nvPr/>
          </p:nvSpPr>
          <p:spPr bwMode="auto">
            <a:xfrm>
              <a:off x="32972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" name="Rectangle 58"/>
            <p:cNvSpPr>
              <a:spLocks noChangeArrowheads="1"/>
            </p:cNvSpPr>
            <p:nvPr/>
          </p:nvSpPr>
          <p:spPr bwMode="auto">
            <a:xfrm>
              <a:off x="36020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9" name="Rectangle 59"/>
            <p:cNvSpPr>
              <a:spLocks noChangeArrowheads="1"/>
            </p:cNvSpPr>
            <p:nvPr/>
          </p:nvSpPr>
          <p:spPr bwMode="auto">
            <a:xfrm>
              <a:off x="3906837" y="4276726"/>
              <a:ext cx="3048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0" name="Rectangle 60"/>
            <p:cNvSpPr>
              <a:spLocks noChangeArrowheads="1"/>
            </p:cNvSpPr>
            <p:nvPr/>
          </p:nvSpPr>
          <p:spPr bwMode="auto">
            <a:xfrm>
              <a:off x="42116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" name="Rectangle 61"/>
            <p:cNvSpPr>
              <a:spLocks noChangeArrowheads="1"/>
            </p:cNvSpPr>
            <p:nvPr/>
          </p:nvSpPr>
          <p:spPr bwMode="auto">
            <a:xfrm>
              <a:off x="45164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2" name="Rectangle 62"/>
            <p:cNvSpPr>
              <a:spLocks noChangeArrowheads="1"/>
            </p:cNvSpPr>
            <p:nvPr/>
          </p:nvSpPr>
          <p:spPr bwMode="auto">
            <a:xfrm>
              <a:off x="48212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" name="Rectangle 63"/>
            <p:cNvSpPr>
              <a:spLocks noChangeArrowheads="1"/>
            </p:cNvSpPr>
            <p:nvPr/>
          </p:nvSpPr>
          <p:spPr bwMode="auto">
            <a:xfrm>
              <a:off x="51260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" name="Rectangle 64"/>
            <p:cNvSpPr>
              <a:spLocks noChangeArrowheads="1"/>
            </p:cNvSpPr>
            <p:nvPr/>
          </p:nvSpPr>
          <p:spPr bwMode="auto">
            <a:xfrm>
              <a:off x="54308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5" name="Rectangle 65"/>
            <p:cNvSpPr>
              <a:spLocks noChangeArrowheads="1"/>
            </p:cNvSpPr>
            <p:nvPr/>
          </p:nvSpPr>
          <p:spPr bwMode="auto">
            <a:xfrm>
              <a:off x="5735637" y="4276726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" name="Rectangle 66"/>
            <p:cNvSpPr>
              <a:spLocks noChangeArrowheads="1"/>
            </p:cNvSpPr>
            <p:nvPr/>
          </p:nvSpPr>
          <p:spPr bwMode="auto">
            <a:xfrm>
              <a:off x="60404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7" name="Rectangle 67"/>
            <p:cNvSpPr>
              <a:spLocks noChangeArrowheads="1"/>
            </p:cNvSpPr>
            <p:nvPr/>
          </p:nvSpPr>
          <p:spPr bwMode="auto">
            <a:xfrm>
              <a:off x="63452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8" name="Rectangle 68"/>
            <p:cNvSpPr>
              <a:spLocks noChangeArrowheads="1"/>
            </p:cNvSpPr>
            <p:nvPr/>
          </p:nvSpPr>
          <p:spPr bwMode="auto">
            <a:xfrm>
              <a:off x="66500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9" name="Rectangle 69"/>
            <p:cNvSpPr>
              <a:spLocks noChangeArrowheads="1"/>
            </p:cNvSpPr>
            <p:nvPr/>
          </p:nvSpPr>
          <p:spPr bwMode="auto">
            <a:xfrm>
              <a:off x="69548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0" name="Rectangle 70"/>
            <p:cNvSpPr>
              <a:spLocks noChangeArrowheads="1"/>
            </p:cNvSpPr>
            <p:nvPr/>
          </p:nvSpPr>
          <p:spPr bwMode="auto">
            <a:xfrm>
              <a:off x="72596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1" name="Rectangle 71"/>
            <p:cNvSpPr>
              <a:spLocks noChangeArrowheads="1"/>
            </p:cNvSpPr>
            <p:nvPr/>
          </p:nvSpPr>
          <p:spPr bwMode="auto">
            <a:xfrm>
              <a:off x="7564437" y="4276726"/>
              <a:ext cx="304800" cy="3048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2" name="Rectangle 72"/>
            <p:cNvSpPr>
              <a:spLocks noChangeArrowheads="1"/>
            </p:cNvSpPr>
            <p:nvPr/>
          </p:nvSpPr>
          <p:spPr bwMode="auto">
            <a:xfrm>
              <a:off x="7869237" y="4276726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" name="Rectangle 9"/>
            <p:cNvSpPr>
              <a:spLocks noChangeArrowheads="1"/>
            </p:cNvSpPr>
            <p:nvPr/>
          </p:nvSpPr>
          <p:spPr bwMode="auto">
            <a:xfrm>
              <a:off x="8174037" y="427208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103559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Issues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we know how much memory to free given just a pointer?</a:t>
            </a:r>
          </a:p>
          <a:p>
            <a:endParaRPr lang="en-US" dirty="0"/>
          </a:p>
          <a:p>
            <a:r>
              <a:rPr lang="en-US" dirty="0"/>
              <a:t>How do we keep track of the free blocks?</a:t>
            </a:r>
          </a:p>
          <a:p>
            <a:endParaRPr lang="en-US" dirty="0"/>
          </a:p>
          <a:p>
            <a:r>
              <a:rPr lang="en-US" dirty="0"/>
              <a:t>What do we do with the extra space when allocating a structure that is smaller than the free block it is placed in?</a:t>
            </a:r>
          </a:p>
          <a:p>
            <a:endParaRPr lang="en-US" dirty="0"/>
          </a:p>
          <a:p>
            <a:r>
              <a:rPr lang="en-US" dirty="0"/>
              <a:t>How do we pick a block to use for allocation -- many might fit?</a:t>
            </a:r>
          </a:p>
          <a:p>
            <a:endParaRPr lang="en-US" dirty="0"/>
          </a:p>
          <a:p>
            <a:r>
              <a:rPr lang="en-US" dirty="0"/>
              <a:t>How do we reinsert freed block?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9127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Knowing How Much to Free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 method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Keep the length of a block in the word </a:t>
            </a:r>
            <a:r>
              <a:rPr lang="en-GB" i="1" dirty="0"/>
              <a:t>preceding</a:t>
            </a:r>
            <a:r>
              <a:rPr lang="en-GB" dirty="0"/>
              <a:t> the </a:t>
            </a:r>
            <a:r>
              <a:rPr lang="en-GB" dirty="0" smtClean="0"/>
              <a:t>payload.</a:t>
            </a:r>
            <a:endParaRPr lang="en-GB" dirty="0"/>
          </a:p>
          <a:p>
            <a:pPr lvl="2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This word is often called the </a:t>
            </a:r>
            <a:r>
              <a:rPr lang="en-GB" b="1" i="1" dirty="0">
                <a:solidFill>
                  <a:srgbClr val="C00000"/>
                </a:solidFill>
              </a:rPr>
              <a:t>header field</a:t>
            </a:r>
            <a:r>
              <a:rPr lang="en-GB" b="1" dirty="0">
                <a:solidFill>
                  <a:srgbClr val="C00000"/>
                </a:solidFill>
              </a:rPr>
              <a:t> </a:t>
            </a:r>
            <a:r>
              <a:rPr lang="en-GB" dirty="0"/>
              <a:t>or</a:t>
            </a:r>
            <a:r>
              <a:rPr lang="en-GB" i="1" dirty="0"/>
              <a:t> </a:t>
            </a:r>
            <a:r>
              <a:rPr lang="en-GB" b="1" i="1" dirty="0">
                <a:solidFill>
                  <a:srgbClr val="C00000"/>
                </a:solidFill>
              </a:rPr>
              <a:t>header</a:t>
            </a:r>
          </a:p>
          <a:p>
            <a:pPr lvl="1">
              <a:tabLst>
                <a:tab pos="222250" algn="l"/>
                <a:tab pos="749300" algn="l"/>
                <a:tab pos="1663700" algn="l"/>
                <a:tab pos="2578100" algn="l"/>
                <a:tab pos="3492500" algn="l"/>
                <a:tab pos="4406900" algn="l"/>
                <a:tab pos="5321300" algn="l"/>
                <a:tab pos="6235700" algn="l"/>
                <a:tab pos="7150100" algn="l"/>
                <a:tab pos="8064500" algn="l"/>
                <a:tab pos="8978900" algn="l"/>
                <a:tab pos="9893300" algn="l"/>
              </a:tabLst>
            </a:pPr>
            <a:r>
              <a:rPr lang="en-GB" dirty="0"/>
              <a:t>Requires an extra word for every allocated block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41305" y="4014429"/>
            <a:ext cx="2403520" cy="325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</a:rPr>
              <a:t>p0 = malloc(4*SIZ)</a:t>
            </a:r>
          </a:p>
        </p:txBody>
      </p:sp>
      <p:sp>
        <p:nvSpPr>
          <p:cNvPr id="40" name="Text Box 39"/>
          <p:cNvSpPr txBox="1">
            <a:spLocks noChangeArrowheads="1"/>
          </p:cNvSpPr>
          <p:nvPr/>
        </p:nvSpPr>
        <p:spPr bwMode="auto">
          <a:xfrm>
            <a:off x="5410200" y="3733800"/>
            <a:ext cx="425450" cy="323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</a:rPr>
              <a:t>p0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2511425" y="43434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2816225" y="43434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3121025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3425825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3730625" y="43434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4035425" y="43434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4340225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>
            <a:off x="4645025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4949825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5559425" y="4343400"/>
            <a:ext cx="3048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5864225" y="4343400"/>
            <a:ext cx="3048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6169025" y="4343400"/>
            <a:ext cx="3048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6473825" y="4343400"/>
            <a:ext cx="3048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Rectangle 53"/>
          <p:cNvSpPr>
            <a:spLocks noChangeArrowheads="1"/>
          </p:cNvSpPr>
          <p:nvPr/>
        </p:nvSpPr>
        <p:spPr bwMode="auto">
          <a:xfrm>
            <a:off x="6778625" y="4343400"/>
            <a:ext cx="3048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7083425" y="4343400"/>
            <a:ext cx="304800" cy="304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Line 55"/>
          <p:cNvSpPr>
            <a:spLocks noChangeShapeType="1"/>
          </p:cNvSpPr>
          <p:nvPr/>
        </p:nvSpPr>
        <p:spPr bwMode="auto">
          <a:xfrm>
            <a:off x="6778625" y="4166286"/>
            <a:ext cx="1588" cy="6858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185228" y="5665237"/>
            <a:ext cx="1169208" cy="325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</a:rPr>
              <a:t>free(p0)</a:t>
            </a:r>
          </a:p>
        </p:txBody>
      </p:sp>
      <p:sp>
        <p:nvSpPr>
          <p:cNvPr id="58" name="Text Box 57"/>
          <p:cNvSpPr txBox="1">
            <a:spLocks noChangeArrowheads="1"/>
          </p:cNvSpPr>
          <p:nvPr/>
        </p:nvSpPr>
        <p:spPr bwMode="auto">
          <a:xfrm>
            <a:off x="4914985" y="5129816"/>
            <a:ext cx="995507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b</a:t>
            </a:r>
            <a:r>
              <a:rPr lang="en-GB" sz="1600" b="1" dirty="0">
                <a:latin typeface="Calibri" pitchFamily="34" charset="0"/>
              </a:rPr>
              <a:t>lock size</a:t>
            </a:r>
          </a:p>
        </p:txBody>
      </p:sp>
      <p:sp>
        <p:nvSpPr>
          <p:cNvPr id="60" name="Text Box 59"/>
          <p:cNvSpPr txBox="1">
            <a:spLocks noChangeArrowheads="1"/>
          </p:cNvSpPr>
          <p:nvPr/>
        </p:nvSpPr>
        <p:spPr bwMode="auto">
          <a:xfrm>
            <a:off x="6071611" y="5129816"/>
            <a:ext cx="931963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Payload</a:t>
            </a:r>
            <a:br>
              <a:rPr lang="en-GB" sz="1600" dirty="0">
                <a:latin typeface="Calibri" pitchFamily="34" charset="0"/>
              </a:rPr>
            </a:br>
            <a:r>
              <a:rPr lang="en-GB" sz="1600" dirty="0">
                <a:latin typeface="Calibri" pitchFamily="34" charset="0"/>
              </a:rPr>
              <a:t>(aligned)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65" name="Line 64"/>
          <p:cNvSpPr>
            <a:spLocks noChangeShapeType="1"/>
          </p:cNvSpPr>
          <p:nvPr/>
        </p:nvSpPr>
        <p:spPr bwMode="auto">
          <a:xfrm>
            <a:off x="5612113" y="4038600"/>
            <a:ext cx="1588" cy="3048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" name="Rectangle 66"/>
          <p:cNvSpPr>
            <a:spLocks noChangeArrowheads="1"/>
          </p:cNvSpPr>
          <p:nvPr/>
        </p:nvSpPr>
        <p:spPr bwMode="auto">
          <a:xfrm>
            <a:off x="5254625" y="4343400"/>
            <a:ext cx="304800" cy="3048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5</a:t>
            </a:r>
          </a:p>
        </p:txBody>
      </p:sp>
      <p:sp>
        <p:nvSpPr>
          <p:cNvPr id="66" name="Line 65"/>
          <p:cNvSpPr>
            <a:spLocks noChangeShapeType="1"/>
          </p:cNvSpPr>
          <p:nvPr/>
        </p:nvSpPr>
        <p:spPr bwMode="auto">
          <a:xfrm>
            <a:off x="5254625" y="4166286"/>
            <a:ext cx="1588" cy="6858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cxnSp>
        <p:nvCxnSpPr>
          <p:cNvPr id="69" name="Straight Arrow Connector 68"/>
          <p:cNvCxnSpPr>
            <a:endCxn id="67" idx="2"/>
          </p:cNvCxnSpPr>
          <p:nvPr/>
        </p:nvCxnSpPr>
        <p:spPr bwMode="auto">
          <a:xfrm rot="16200000" flipV="1">
            <a:off x="5179695" y="4875530"/>
            <a:ext cx="457200" cy="2539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cxnSp>
        <p:nvCxnSpPr>
          <p:cNvPr id="71" name="Straight Arrow Connector 70"/>
          <p:cNvCxnSpPr>
            <a:endCxn id="50" idx="2"/>
          </p:cNvCxnSpPr>
          <p:nvPr/>
        </p:nvCxnSpPr>
        <p:spPr bwMode="auto">
          <a:xfrm flipH="1" flipV="1">
            <a:off x="5711825" y="4648200"/>
            <a:ext cx="822593" cy="457200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cxnSp>
        <p:nvCxnSpPr>
          <p:cNvPr id="73" name="Straight Arrow Connector 72"/>
          <p:cNvCxnSpPr>
            <a:endCxn id="51" idx="2"/>
          </p:cNvCxnSpPr>
          <p:nvPr/>
        </p:nvCxnSpPr>
        <p:spPr bwMode="auto">
          <a:xfrm flipH="1" flipV="1">
            <a:off x="6016625" y="4648200"/>
            <a:ext cx="517793" cy="457200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cxnSp>
        <p:nvCxnSpPr>
          <p:cNvPr id="77" name="Straight Arrow Connector 76"/>
          <p:cNvCxnSpPr>
            <a:endCxn id="52" idx="2"/>
          </p:cNvCxnSpPr>
          <p:nvPr/>
        </p:nvCxnSpPr>
        <p:spPr bwMode="auto">
          <a:xfrm flipH="1" flipV="1">
            <a:off x="6321425" y="4648200"/>
            <a:ext cx="212993" cy="457200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cxnSp>
        <p:nvCxnSpPr>
          <p:cNvPr id="79" name="Straight Arrow Connector 78"/>
          <p:cNvCxnSpPr>
            <a:endCxn id="53" idx="2"/>
          </p:cNvCxnSpPr>
          <p:nvPr/>
        </p:nvCxnSpPr>
        <p:spPr bwMode="auto">
          <a:xfrm flipV="1">
            <a:off x="6534418" y="4648200"/>
            <a:ext cx="91807" cy="457200"/>
          </a:xfrm>
          <a:prstGeom prst="straightConnector1">
            <a:avLst/>
          </a:prstGeom>
          <a:noFill/>
          <a:ln w="12700">
            <a:solidFill>
              <a:srgbClr val="000000"/>
            </a:solidFill>
            <a:miter lim="800000"/>
            <a:headEnd type="none" w="med" len="med"/>
            <a:tailEnd type="arrow"/>
          </a:ln>
          <a:effectLst/>
        </p:spPr>
      </p:cxnSp>
      <p:grpSp>
        <p:nvGrpSpPr>
          <p:cNvPr id="57" name="Group 56"/>
          <p:cNvGrpSpPr/>
          <p:nvPr/>
        </p:nvGrpSpPr>
        <p:grpSpPr>
          <a:xfrm>
            <a:off x="2511425" y="3200400"/>
            <a:ext cx="5489575" cy="304800"/>
            <a:chOff x="2511425" y="3200400"/>
            <a:chExt cx="5489575" cy="304800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5114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8162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1210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4258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37306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40354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43402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46450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49498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55594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58642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61690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64738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67786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7083425" y="3200400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73882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52546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Rectangle 69"/>
            <p:cNvSpPr>
              <a:spLocks noChangeArrowheads="1"/>
            </p:cNvSpPr>
            <p:nvPr/>
          </p:nvSpPr>
          <p:spPr bwMode="auto">
            <a:xfrm>
              <a:off x="7696200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7388225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4" name="Rectangle 73"/>
          <p:cNvSpPr>
            <a:spLocks noChangeArrowheads="1"/>
          </p:cNvSpPr>
          <p:nvPr/>
        </p:nvSpPr>
        <p:spPr bwMode="auto">
          <a:xfrm>
            <a:off x="7696200" y="4343400"/>
            <a:ext cx="304800" cy="304800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5" name="Group 74"/>
          <p:cNvGrpSpPr/>
          <p:nvPr/>
        </p:nvGrpSpPr>
        <p:grpSpPr>
          <a:xfrm>
            <a:off x="2474754" y="5991225"/>
            <a:ext cx="5489575" cy="304800"/>
            <a:chOff x="2511425" y="3200400"/>
            <a:chExt cx="5489575" cy="304800"/>
          </a:xfrm>
        </p:grpSpPr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25114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Rectangle 77"/>
            <p:cNvSpPr>
              <a:spLocks noChangeArrowheads="1"/>
            </p:cNvSpPr>
            <p:nvPr/>
          </p:nvSpPr>
          <p:spPr bwMode="auto">
            <a:xfrm>
              <a:off x="28162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Rectangle 79"/>
            <p:cNvSpPr>
              <a:spLocks noChangeArrowheads="1"/>
            </p:cNvSpPr>
            <p:nvPr/>
          </p:nvSpPr>
          <p:spPr bwMode="auto">
            <a:xfrm>
              <a:off x="31210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Rectangle 80"/>
            <p:cNvSpPr>
              <a:spLocks noChangeArrowheads="1"/>
            </p:cNvSpPr>
            <p:nvPr/>
          </p:nvSpPr>
          <p:spPr bwMode="auto">
            <a:xfrm>
              <a:off x="34258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Rectangle 81"/>
            <p:cNvSpPr>
              <a:spLocks noChangeArrowheads="1"/>
            </p:cNvSpPr>
            <p:nvPr/>
          </p:nvSpPr>
          <p:spPr bwMode="auto">
            <a:xfrm>
              <a:off x="37306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Rectangle 82"/>
            <p:cNvSpPr>
              <a:spLocks noChangeArrowheads="1"/>
            </p:cNvSpPr>
            <p:nvPr/>
          </p:nvSpPr>
          <p:spPr bwMode="auto">
            <a:xfrm>
              <a:off x="40354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Rectangle 83"/>
            <p:cNvSpPr>
              <a:spLocks noChangeArrowheads="1"/>
            </p:cNvSpPr>
            <p:nvPr/>
          </p:nvSpPr>
          <p:spPr bwMode="auto">
            <a:xfrm>
              <a:off x="43402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Rectangle 84"/>
            <p:cNvSpPr>
              <a:spLocks noChangeArrowheads="1"/>
            </p:cNvSpPr>
            <p:nvPr/>
          </p:nvSpPr>
          <p:spPr bwMode="auto">
            <a:xfrm>
              <a:off x="46450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Rectangle 85"/>
            <p:cNvSpPr>
              <a:spLocks noChangeArrowheads="1"/>
            </p:cNvSpPr>
            <p:nvPr/>
          </p:nvSpPr>
          <p:spPr bwMode="auto">
            <a:xfrm>
              <a:off x="49498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Rectangle 86"/>
            <p:cNvSpPr>
              <a:spLocks noChangeArrowheads="1"/>
            </p:cNvSpPr>
            <p:nvPr/>
          </p:nvSpPr>
          <p:spPr bwMode="auto">
            <a:xfrm>
              <a:off x="55594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Rectangle 87"/>
            <p:cNvSpPr>
              <a:spLocks noChangeArrowheads="1"/>
            </p:cNvSpPr>
            <p:nvPr/>
          </p:nvSpPr>
          <p:spPr bwMode="auto">
            <a:xfrm>
              <a:off x="58642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Rectangle 88"/>
            <p:cNvSpPr>
              <a:spLocks noChangeArrowheads="1"/>
            </p:cNvSpPr>
            <p:nvPr/>
          </p:nvSpPr>
          <p:spPr bwMode="auto">
            <a:xfrm>
              <a:off x="61690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Rectangle 89"/>
            <p:cNvSpPr>
              <a:spLocks noChangeArrowheads="1"/>
            </p:cNvSpPr>
            <p:nvPr/>
          </p:nvSpPr>
          <p:spPr bwMode="auto">
            <a:xfrm>
              <a:off x="64738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Rectangle 90"/>
            <p:cNvSpPr>
              <a:spLocks noChangeArrowheads="1"/>
            </p:cNvSpPr>
            <p:nvPr/>
          </p:nvSpPr>
          <p:spPr bwMode="auto">
            <a:xfrm>
              <a:off x="67786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Rectangle 91"/>
            <p:cNvSpPr>
              <a:spLocks noChangeArrowheads="1"/>
            </p:cNvSpPr>
            <p:nvPr/>
          </p:nvSpPr>
          <p:spPr bwMode="auto">
            <a:xfrm>
              <a:off x="7083425" y="3200400"/>
              <a:ext cx="304800" cy="3048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Rectangle 92"/>
            <p:cNvSpPr>
              <a:spLocks noChangeArrowheads="1"/>
            </p:cNvSpPr>
            <p:nvPr/>
          </p:nvSpPr>
          <p:spPr bwMode="auto">
            <a:xfrm>
              <a:off x="7388225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Rectangle 93"/>
            <p:cNvSpPr>
              <a:spLocks noChangeArrowheads="1"/>
            </p:cNvSpPr>
            <p:nvPr/>
          </p:nvSpPr>
          <p:spPr bwMode="auto">
            <a:xfrm>
              <a:off x="5254625" y="3200400"/>
              <a:ext cx="304800" cy="304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Rectangle 94"/>
            <p:cNvSpPr>
              <a:spLocks noChangeArrowheads="1"/>
            </p:cNvSpPr>
            <p:nvPr/>
          </p:nvSpPr>
          <p:spPr bwMode="auto">
            <a:xfrm>
              <a:off x="7696200" y="3200400"/>
              <a:ext cx="304800" cy="304800"/>
            </a:xfrm>
            <a:prstGeom prst="rect">
              <a:avLst/>
            </a:prstGeom>
            <a:solidFill>
              <a:srgbClr val="C0C0C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63112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 bwMode="auto">
          <a:xfrm>
            <a:off x="396875" y="1197678"/>
            <a:ext cx="7146925" cy="185032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Keeping Track of Free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254210"/>
            <a:ext cx="8289925" cy="5375190"/>
          </a:xfrm>
        </p:spPr>
        <p:txBody>
          <a:bodyPr/>
          <a:lstStyle/>
          <a:p>
            <a:r>
              <a:rPr lang="en-US" dirty="0"/>
              <a:t>Method 1: </a:t>
            </a:r>
            <a:r>
              <a:rPr lang="en-US" i="1" dirty="0">
                <a:solidFill>
                  <a:srgbClr val="C00000"/>
                </a:solidFill>
              </a:rPr>
              <a:t>Implicit list </a:t>
            </a:r>
            <a:r>
              <a:rPr lang="en-US" dirty="0"/>
              <a:t>using length—links all blocks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Method 2: </a:t>
            </a:r>
            <a:r>
              <a:rPr lang="en-GB" i="1" dirty="0">
                <a:solidFill>
                  <a:srgbClr val="C00000"/>
                </a:solidFill>
              </a:rPr>
              <a:t>Explicit list</a:t>
            </a:r>
            <a:r>
              <a:rPr lang="en-GB" dirty="0">
                <a:solidFill>
                  <a:srgbClr val="C00000"/>
                </a:solidFill>
              </a:rPr>
              <a:t> </a:t>
            </a:r>
            <a:r>
              <a:rPr lang="en-GB" dirty="0"/>
              <a:t>among the free blocks using pointers</a:t>
            </a:r>
          </a:p>
          <a:p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Method 3: </a:t>
            </a:r>
            <a:r>
              <a:rPr lang="en-GB" i="1" dirty="0">
                <a:solidFill>
                  <a:srgbClr val="C00000"/>
                </a:solidFill>
              </a:rPr>
              <a:t>Segregated free list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Different free lists for different size classes</a:t>
            </a:r>
            <a:endParaRPr lang="en-US" dirty="0"/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US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US" dirty="0"/>
              <a:t>Method 4: </a:t>
            </a:r>
            <a:r>
              <a:rPr lang="en-GB" i="1" dirty="0">
                <a:solidFill>
                  <a:srgbClr val="C00000"/>
                </a:solidFill>
              </a:rPr>
              <a:t>Blocks sorted by size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Can use a balanced tree (e.g. Red-Black tree) with pointers within each free block, and the length used as a key</a:t>
            </a:r>
          </a:p>
        </p:txBody>
      </p:sp>
      <p:sp>
        <p:nvSpPr>
          <p:cNvPr id="21" name="Freeform 39"/>
          <p:cNvSpPr>
            <a:spLocks/>
          </p:cNvSpPr>
          <p:nvPr/>
        </p:nvSpPr>
        <p:spPr bwMode="auto">
          <a:xfrm>
            <a:off x="1752600" y="1972962"/>
            <a:ext cx="1188261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28" y="0"/>
              </a:cxn>
              <a:cxn ang="0">
                <a:pos x="960" y="144"/>
              </a:cxn>
            </a:cxnLst>
            <a:rect l="0" t="0" r="r" b="b"/>
            <a:pathLst>
              <a:path w="960" h="144">
                <a:moveTo>
                  <a:pt x="0" y="144"/>
                </a:moveTo>
                <a:cubicBezTo>
                  <a:pt x="184" y="72"/>
                  <a:pt x="368" y="0"/>
                  <a:pt x="528" y="0"/>
                </a:cubicBezTo>
                <a:cubicBezTo>
                  <a:pt x="688" y="0"/>
                  <a:pt x="824" y="72"/>
                  <a:pt x="960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Freeform 40"/>
          <p:cNvSpPr>
            <a:spLocks/>
          </p:cNvSpPr>
          <p:nvPr/>
        </p:nvSpPr>
        <p:spPr bwMode="auto">
          <a:xfrm>
            <a:off x="2981432" y="1959678"/>
            <a:ext cx="1819168" cy="231374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Freeform 41"/>
          <p:cNvSpPr>
            <a:spLocks/>
          </p:cNvSpPr>
          <p:nvPr/>
        </p:nvSpPr>
        <p:spPr bwMode="auto">
          <a:xfrm>
            <a:off x="4838700" y="1972962"/>
            <a:ext cx="1188261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76" y="0"/>
              </a:cxn>
              <a:cxn ang="0">
                <a:pos x="1152" y="144"/>
              </a:cxn>
            </a:cxnLst>
            <a:rect l="0" t="0" r="r" b="b"/>
            <a:pathLst>
              <a:path w="1152" h="144">
                <a:moveTo>
                  <a:pt x="0" y="144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7515332" y="1739897"/>
            <a:ext cx="15072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0" dirty="0">
                <a:latin typeface="Calibri" pitchFamily="34" charset="0"/>
              </a:rPr>
              <a:t>Need to tag</a:t>
            </a:r>
          </a:p>
          <a:p>
            <a:pPr algn="ctr"/>
            <a:r>
              <a:rPr lang="en-US" sz="1800" b="0" dirty="0">
                <a:latin typeface="Calibri" pitchFamily="34" charset="0"/>
              </a:rPr>
              <a:t>each block as</a:t>
            </a:r>
          </a:p>
          <a:p>
            <a:pPr algn="ctr"/>
            <a:r>
              <a:rPr lang="en-US" sz="1800" b="0" dirty="0">
                <a:latin typeface="Calibri" pitchFamily="34" charset="0"/>
              </a:rPr>
              <a:t>allocated/free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67893" y="3791634"/>
            <a:ext cx="1314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0" dirty="0">
                <a:latin typeface="Calibri" pitchFamily="34" charset="0"/>
              </a:rPr>
              <a:t>Need space</a:t>
            </a:r>
          </a:p>
          <a:p>
            <a:pPr algn="ctr"/>
            <a:r>
              <a:rPr lang="en-US" sz="1800" b="0" dirty="0">
                <a:latin typeface="Calibri" pitchFamily="34" charset="0"/>
              </a:rPr>
              <a:t>for pointers</a:t>
            </a:r>
          </a:p>
        </p:txBody>
      </p:sp>
      <p:sp>
        <p:nvSpPr>
          <p:cNvPr id="46" name="Text Box 410"/>
          <p:cNvSpPr txBox="1">
            <a:spLocks noChangeAspect="1" noChangeArrowheads="1"/>
          </p:cNvSpPr>
          <p:nvPr/>
        </p:nvSpPr>
        <p:spPr bwMode="auto">
          <a:xfrm>
            <a:off x="916875" y="1905481"/>
            <a:ext cx="835725" cy="3416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Unused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1288544" y="2209800"/>
            <a:ext cx="5188456" cy="311019"/>
            <a:chOff x="1288544" y="2209800"/>
            <a:chExt cx="5188456" cy="311019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600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05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2209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2514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819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600" dirty="0">
                  <a:latin typeface="+mn-lt"/>
                </a:rPr>
                <a:t>6</a:t>
              </a: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3124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1" dirty="0">
                <a:latin typeface="Calibri" pitchFamily="34" charset="0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34290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37338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40386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4648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600" dirty="0">
                  <a:latin typeface="+mn-lt"/>
                </a:rPr>
                <a:t>4</a:t>
              </a: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4953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5257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5562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5867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6172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1" dirty="0">
                <a:latin typeface="Calibri" pitchFamily="34" charset="0"/>
              </a:endParaRPr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4343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1" dirty="0">
                <a:latin typeface="Calibri" pitchFamily="34" charset="0"/>
              </a:endParaRPr>
            </a:p>
          </p:txBody>
        </p:sp>
        <p:sp>
          <p:nvSpPr>
            <p:cNvPr id="47" name="Rectangle 7"/>
            <p:cNvSpPr>
              <a:spLocks noChangeArrowheads="1"/>
            </p:cNvSpPr>
            <p:nvPr/>
          </p:nvSpPr>
          <p:spPr bwMode="auto">
            <a:xfrm>
              <a:off x="1288544" y="2216019"/>
              <a:ext cx="304800" cy="304800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bg1"/>
              </a:bgClr>
            </a:patt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322111" y="3962399"/>
            <a:ext cx="5181600" cy="304800"/>
            <a:chOff x="1295400" y="2209800"/>
            <a:chExt cx="5181600" cy="304800"/>
          </a:xfrm>
        </p:grpSpPr>
        <p:sp>
          <p:nvSpPr>
            <p:cNvPr id="50" name="Rectangle 4"/>
            <p:cNvSpPr>
              <a:spLocks noChangeArrowheads="1"/>
            </p:cNvSpPr>
            <p:nvPr/>
          </p:nvSpPr>
          <p:spPr bwMode="auto">
            <a:xfrm>
              <a:off x="1600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ourier New" pitchFamily="49" charset="0"/>
                </a:rPr>
                <a:t>4</a:t>
              </a:r>
            </a:p>
          </p:txBody>
        </p:sp>
        <p:sp>
          <p:nvSpPr>
            <p:cNvPr id="51" name="Rectangle 5"/>
            <p:cNvSpPr>
              <a:spLocks noChangeArrowheads="1"/>
            </p:cNvSpPr>
            <p:nvPr/>
          </p:nvSpPr>
          <p:spPr bwMode="auto">
            <a:xfrm>
              <a:off x="1905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Rectangle 6"/>
            <p:cNvSpPr>
              <a:spLocks noChangeArrowheads="1"/>
            </p:cNvSpPr>
            <p:nvPr/>
          </p:nvSpPr>
          <p:spPr bwMode="auto">
            <a:xfrm>
              <a:off x="2209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Rectangle 7"/>
            <p:cNvSpPr>
              <a:spLocks noChangeArrowheads="1"/>
            </p:cNvSpPr>
            <p:nvPr/>
          </p:nvSpPr>
          <p:spPr bwMode="auto">
            <a:xfrm>
              <a:off x="2514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Rectangle 8"/>
            <p:cNvSpPr>
              <a:spLocks noChangeArrowheads="1"/>
            </p:cNvSpPr>
            <p:nvPr/>
          </p:nvSpPr>
          <p:spPr bwMode="auto">
            <a:xfrm>
              <a:off x="2819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600" dirty="0">
                  <a:latin typeface="+mn-lt"/>
                </a:rPr>
                <a:t>6</a:t>
              </a:r>
            </a:p>
          </p:txBody>
        </p:sp>
        <p:sp>
          <p:nvSpPr>
            <p:cNvPr id="55" name="Rectangle 9"/>
            <p:cNvSpPr>
              <a:spLocks noChangeArrowheads="1"/>
            </p:cNvSpPr>
            <p:nvPr/>
          </p:nvSpPr>
          <p:spPr bwMode="auto">
            <a:xfrm>
              <a:off x="3124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1" dirty="0">
                <a:latin typeface="Calibri" pitchFamily="34" charset="0"/>
              </a:endParaRPr>
            </a:p>
          </p:txBody>
        </p:sp>
        <p:sp>
          <p:nvSpPr>
            <p:cNvPr id="56" name="Rectangle 10"/>
            <p:cNvSpPr>
              <a:spLocks noChangeArrowheads="1"/>
            </p:cNvSpPr>
            <p:nvPr/>
          </p:nvSpPr>
          <p:spPr bwMode="auto">
            <a:xfrm>
              <a:off x="34290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Rectangle 11"/>
            <p:cNvSpPr>
              <a:spLocks noChangeArrowheads="1"/>
            </p:cNvSpPr>
            <p:nvPr/>
          </p:nvSpPr>
          <p:spPr bwMode="auto">
            <a:xfrm>
              <a:off x="37338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Rectangle 12"/>
            <p:cNvSpPr>
              <a:spLocks noChangeArrowheads="1"/>
            </p:cNvSpPr>
            <p:nvPr/>
          </p:nvSpPr>
          <p:spPr bwMode="auto">
            <a:xfrm>
              <a:off x="40386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Rectangle 13"/>
            <p:cNvSpPr>
              <a:spLocks noChangeArrowheads="1"/>
            </p:cNvSpPr>
            <p:nvPr/>
          </p:nvSpPr>
          <p:spPr bwMode="auto">
            <a:xfrm>
              <a:off x="46482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600" dirty="0">
                  <a:latin typeface="+mn-lt"/>
                </a:rPr>
                <a:t>4</a:t>
              </a:r>
            </a:p>
          </p:txBody>
        </p:sp>
        <p:sp>
          <p:nvSpPr>
            <p:cNvPr id="60" name="Rectangle 14"/>
            <p:cNvSpPr>
              <a:spLocks noChangeArrowheads="1"/>
            </p:cNvSpPr>
            <p:nvPr/>
          </p:nvSpPr>
          <p:spPr bwMode="auto">
            <a:xfrm>
              <a:off x="49530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Rectangle 15"/>
            <p:cNvSpPr>
              <a:spLocks noChangeArrowheads="1"/>
            </p:cNvSpPr>
            <p:nvPr/>
          </p:nvSpPr>
          <p:spPr bwMode="auto">
            <a:xfrm>
              <a:off x="52578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Rectangle 16"/>
            <p:cNvSpPr>
              <a:spLocks noChangeArrowheads="1"/>
            </p:cNvSpPr>
            <p:nvPr/>
          </p:nvSpPr>
          <p:spPr bwMode="auto">
            <a:xfrm>
              <a:off x="5562600" y="22098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Rectangle 17"/>
            <p:cNvSpPr>
              <a:spLocks noChangeArrowheads="1"/>
            </p:cNvSpPr>
            <p:nvPr/>
          </p:nvSpPr>
          <p:spPr bwMode="auto">
            <a:xfrm>
              <a:off x="5867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64" name="Rectangle 18"/>
            <p:cNvSpPr>
              <a:spLocks noChangeArrowheads="1"/>
            </p:cNvSpPr>
            <p:nvPr/>
          </p:nvSpPr>
          <p:spPr bwMode="auto">
            <a:xfrm>
              <a:off x="61722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1" dirty="0">
                <a:latin typeface="Calibri" pitchFamily="34" charset="0"/>
              </a:endParaRPr>
            </a:p>
          </p:txBody>
        </p:sp>
        <p:sp>
          <p:nvSpPr>
            <p:cNvPr id="65" name="Rectangle 20"/>
            <p:cNvSpPr>
              <a:spLocks noChangeArrowheads="1"/>
            </p:cNvSpPr>
            <p:nvPr/>
          </p:nvSpPr>
          <p:spPr bwMode="auto">
            <a:xfrm>
              <a:off x="4343400" y="22098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GB" sz="1600" b="1" dirty="0">
                <a:latin typeface="Calibri" pitchFamily="34" charset="0"/>
              </a:endParaRPr>
            </a:p>
          </p:txBody>
        </p:sp>
        <p:sp>
          <p:nvSpPr>
            <p:cNvPr id="66" name="Rectangle 7"/>
            <p:cNvSpPr>
              <a:spLocks noChangeArrowheads="1"/>
            </p:cNvSpPr>
            <p:nvPr/>
          </p:nvSpPr>
          <p:spPr bwMode="auto">
            <a:xfrm>
              <a:off x="1295400" y="2209800"/>
              <a:ext cx="304800" cy="304800"/>
            </a:xfrm>
            <a:prstGeom prst="rect">
              <a:avLst/>
            </a:prstGeom>
            <a:pattFill prst="wdUpDiag">
              <a:fgClr>
                <a:schemeClr val="bg2"/>
              </a:fgClr>
              <a:bgClr>
                <a:schemeClr val="bg1"/>
              </a:bgClr>
            </a:patt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</p:grpSp>
      <p:sp>
        <p:nvSpPr>
          <p:cNvPr id="41" name="Freeform 38"/>
          <p:cNvSpPr>
            <a:spLocks/>
          </p:cNvSpPr>
          <p:nvPr/>
        </p:nvSpPr>
        <p:spPr bwMode="auto">
          <a:xfrm>
            <a:off x="2076381" y="3550334"/>
            <a:ext cx="2733568" cy="482600"/>
          </a:xfrm>
          <a:custGeom>
            <a:avLst/>
            <a:gdLst/>
            <a:ahLst/>
            <a:cxnLst>
              <a:cxn ang="0">
                <a:pos x="0" y="304"/>
              </a:cxn>
              <a:cxn ang="0">
                <a:pos x="912" y="16"/>
              </a:cxn>
              <a:cxn ang="0">
                <a:pos x="1536" y="208"/>
              </a:cxn>
            </a:cxnLst>
            <a:rect l="0" t="0" r="r" b="b"/>
            <a:pathLst>
              <a:path w="1536" h="304">
                <a:moveTo>
                  <a:pt x="0" y="304"/>
                </a:moveTo>
                <a:cubicBezTo>
                  <a:pt x="328" y="167"/>
                  <a:pt x="656" y="31"/>
                  <a:pt x="912" y="16"/>
                </a:cubicBezTo>
                <a:cubicBezTo>
                  <a:pt x="1167" y="0"/>
                  <a:pt x="1351" y="104"/>
                  <a:pt x="1536" y="208"/>
                </a:cubicBezTo>
              </a:path>
            </a:pathLst>
          </a:custGeom>
          <a:noFill/>
          <a:ln w="2556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Freeform 38"/>
          <p:cNvSpPr>
            <a:spLocks/>
          </p:cNvSpPr>
          <p:nvPr/>
        </p:nvSpPr>
        <p:spPr bwMode="auto">
          <a:xfrm>
            <a:off x="5103805" y="3621689"/>
            <a:ext cx="1677996" cy="482600"/>
          </a:xfrm>
          <a:custGeom>
            <a:avLst/>
            <a:gdLst/>
            <a:ahLst/>
            <a:cxnLst>
              <a:cxn ang="0">
                <a:pos x="0" y="304"/>
              </a:cxn>
              <a:cxn ang="0">
                <a:pos x="912" y="16"/>
              </a:cxn>
              <a:cxn ang="0">
                <a:pos x="1536" y="208"/>
              </a:cxn>
            </a:cxnLst>
            <a:rect l="0" t="0" r="r" b="b"/>
            <a:pathLst>
              <a:path w="1536" h="304">
                <a:moveTo>
                  <a:pt x="0" y="304"/>
                </a:moveTo>
                <a:cubicBezTo>
                  <a:pt x="328" y="167"/>
                  <a:pt x="656" y="31"/>
                  <a:pt x="912" y="16"/>
                </a:cubicBezTo>
                <a:cubicBezTo>
                  <a:pt x="1167" y="0"/>
                  <a:pt x="1351" y="104"/>
                  <a:pt x="1536" y="208"/>
                </a:cubicBezTo>
              </a:path>
            </a:pathLst>
          </a:custGeom>
          <a:noFill/>
          <a:ln w="2556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xmlns="" id="{957F630D-B636-4E5C-99FE-DB0A2F896C83}"/>
              </a:ext>
            </a:extLst>
          </p:cNvPr>
          <p:cNvSpPr/>
          <p:nvPr/>
        </p:nvSpPr>
        <p:spPr bwMode="auto">
          <a:xfrm>
            <a:off x="174509" y="2135431"/>
            <a:ext cx="519688" cy="453538"/>
          </a:xfrm>
          <a:prstGeom prst="rightArrow">
            <a:avLst/>
          </a:prstGeom>
          <a:solidFill>
            <a:srgbClr val="C0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25634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67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sz="2800" dirty="0" smtClean="0"/>
          </a:p>
          <a:p>
            <a:r>
              <a:rPr lang="en-US" sz="2800" dirty="0" smtClean="0">
                <a:solidFill>
                  <a:srgbClr val="B3B3B3"/>
                </a:solidFill>
              </a:rPr>
              <a:t>Midterm Review</a:t>
            </a:r>
            <a:endParaRPr lang="en-US" sz="2800" dirty="0" smtClean="0">
              <a:solidFill>
                <a:srgbClr val="B3B3B3"/>
              </a:solidFill>
            </a:endParaRPr>
          </a:p>
          <a:p>
            <a:r>
              <a:rPr lang="en-US" sz="28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Shell Lab Overview</a:t>
            </a:r>
          </a:p>
          <a:p>
            <a:r>
              <a:rPr lang="en-US" sz="2800" dirty="0" smtClean="0">
                <a:solidFill>
                  <a:srgbClr val="000000"/>
                </a:solidFill>
              </a:rPr>
              <a:t>Dynamic Storage Allocation</a:t>
            </a:r>
          </a:p>
          <a:p>
            <a:pPr lvl="1"/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Memory Mapping (brief review)</a:t>
            </a:r>
          </a:p>
          <a:p>
            <a:pPr lvl="1"/>
            <a:r>
              <a:rPr lang="en-US" dirty="0" smtClean="0">
                <a:solidFill>
                  <a:srgbClr val="B3B3B3"/>
                </a:solidFill>
              </a:rPr>
              <a:t>Basic Concepts of Memory Allocation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Implicit Free Lists</a:t>
            </a:r>
            <a:endParaRPr lang="en-US" dirty="0" smtClean="0">
              <a:solidFill>
                <a:srgbClr val="000000"/>
              </a:solidFill>
            </a:endParaRPr>
          </a:p>
          <a:p>
            <a:pPr lvl="1"/>
            <a:endParaRPr lang="en-US" dirty="0" smtClean="0">
              <a:solidFill>
                <a:srgbClr val="000000"/>
              </a:solidFill>
            </a:endParaRPr>
          </a:p>
          <a:p>
            <a:pPr lvl="1"/>
            <a:endParaRPr lang="en-US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 smtClean="0">
              <a:solidFill>
                <a:srgbClr val="B3B3B3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en-US" sz="28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51727" y="565727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0611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ChangeArrowheads="1"/>
          </p:cNvSpPr>
          <p:nvPr>
            <p:ph type="title"/>
          </p:nvPr>
        </p:nvSpPr>
        <p:spPr>
          <a:xfrm>
            <a:off x="359376" y="473676"/>
            <a:ext cx="65913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Method 1: Implicit Free List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192212"/>
            <a:ext cx="8255000" cy="2160588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For each block we need both size and allocation status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Could store this information in two words: wasteful!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Standard trick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When blocks are aligned, some low-order address bits are always 0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Instead of storing an always-0 bit, use it as an allocated/free flag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When reading the Size word, must mask out this bit</a:t>
            </a:r>
          </a:p>
        </p:txBody>
      </p:sp>
      <p:sp>
        <p:nvSpPr>
          <p:cNvPr id="26" name="Rectangle 3"/>
          <p:cNvSpPr>
            <a:spLocks noChangeArrowheads="1"/>
          </p:cNvSpPr>
          <p:nvPr/>
        </p:nvSpPr>
        <p:spPr bwMode="auto">
          <a:xfrm>
            <a:off x="2971800" y="4279900"/>
            <a:ext cx="1370012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</a:t>
            </a:r>
            <a:r>
              <a:rPr lang="en-GB" sz="1600" b="1" dirty="0">
                <a:latin typeface="Calibri" pitchFamily="34" charset="0"/>
              </a:rPr>
              <a:t>ize</a:t>
            </a: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3423604" y="3610125"/>
            <a:ext cx="775446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 word</a:t>
            </a: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821724" y="4707924"/>
            <a:ext cx="1623435" cy="99937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Format of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allocated and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free blocks</a:t>
            </a:r>
          </a:p>
        </p:txBody>
      </p:sp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2971800" y="4660900"/>
            <a:ext cx="1676400" cy="128587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</a:t>
            </a:r>
            <a:r>
              <a:rPr lang="en-GB" sz="1600" b="1" dirty="0">
                <a:latin typeface="Calibri" pitchFamily="34" charset="0"/>
              </a:rPr>
              <a:t>ayload</a:t>
            </a: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5006975" y="4302556"/>
            <a:ext cx="2329982" cy="20257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a = 1: Allocated block 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a = 0: Free block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b="1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</a:t>
            </a:r>
            <a:r>
              <a:rPr lang="en-GB" sz="1600" b="1" dirty="0">
                <a:latin typeface="Calibri" pitchFamily="34" charset="0"/>
              </a:rPr>
              <a:t>ize: block size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b="1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</a:t>
            </a:r>
            <a:r>
              <a:rPr lang="en-GB" sz="1600" b="1" dirty="0">
                <a:latin typeface="Calibri" pitchFamily="34" charset="0"/>
              </a:rPr>
              <a:t>ayload: application data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(allocated blocks only)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b="1" dirty="0">
              <a:latin typeface="Calibri" pitchFamily="34" charset="0"/>
            </a:endParaRP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4343400" y="4279900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a</a:t>
            </a:r>
          </a:p>
        </p:txBody>
      </p:sp>
      <p:sp>
        <p:nvSpPr>
          <p:cNvPr id="32" name="Rectangle 9"/>
          <p:cNvSpPr>
            <a:spLocks noChangeArrowheads="1"/>
          </p:cNvSpPr>
          <p:nvPr/>
        </p:nvSpPr>
        <p:spPr bwMode="auto">
          <a:xfrm>
            <a:off x="2971800" y="5943600"/>
            <a:ext cx="1676400" cy="6858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O</a:t>
            </a:r>
            <a:r>
              <a:rPr lang="en-GB" sz="1600" b="1" dirty="0">
                <a:latin typeface="Calibri" pitchFamily="34" charset="0"/>
              </a:rPr>
              <a:t>ptional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padding</a:t>
            </a:r>
          </a:p>
        </p:txBody>
      </p:sp>
      <p:sp>
        <p:nvSpPr>
          <p:cNvPr id="33" name="AutoShape 8"/>
          <p:cNvSpPr>
            <a:spLocks/>
          </p:cNvSpPr>
          <p:nvPr/>
        </p:nvSpPr>
        <p:spPr bwMode="auto">
          <a:xfrm rot="16200000">
            <a:off x="3695702" y="3222024"/>
            <a:ext cx="228600" cy="1676401"/>
          </a:xfrm>
          <a:prstGeom prst="rightBrace">
            <a:avLst>
              <a:gd name="adj1" fmla="val 118750"/>
              <a:gd name="adj2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7587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8" grpId="0"/>
      <p:bldP spid="29" grpId="0" animBg="1"/>
      <p:bldP spid="30" grpId="0"/>
      <p:bldP spid="31" grpId="0" animBg="1"/>
      <p:bldP spid="32" grpId="0" animBg="1"/>
      <p:bldP spid="3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Implicit Free List Example</a:t>
            </a:r>
          </a:p>
        </p:txBody>
      </p:sp>
      <p:sp>
        <p:nvSpPr>
          <p:cNvPr id="25" name="Text Box 404"/>
          <p:cNvSpPr txBox="1">
            <a:spLocks noChangeAspect="1" noChangeArrowheads="1"/>
          </p:cNvSpPr>
          <p:nvPr/>
        </p:nvSpPr>
        <p:spPr bwMode="auto">
          <a:xfrm>
            <a:off x="76200" y="2057400"/>
            <a:ext cx="662561" cy="9233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Start </a:t>
            </a:r>
          </a:p>
          <a:p>
            <a:pPr algn="ctr"/>
            <a:r>
              <a:rPr lang="en-US" sz="1800" dirty="0">
                <a:latin typeface="+mn-lt"/>
              </a:rPr>
              <a:t>of </a:t>
            </a:r>
          </a:p>
          <a:p>
            <a:pPr algn="ctr"/>
            <a:r>
              <a:rPr lang="en-US" sz="1800" dirty="0">
                <a:latin typeface="+mn-lt"/>
              </a:rPr>
              <a:t>heap</a:t>
            </a:r>
          </a:p>
        </p:txBody>
      </p:sp>
      <p:sp>
        <p:nvSpPr>
          <p:cNvPr id="43" name="Line 429"/>
          <p:cNvSpPr>
            <a:spLocks noChangeAspect="1" noChangeShapeType="1"/>
          </p:cNvSpPr>
          <p:nvPr/>
        </p:nvSpPr>
        <p:spPr bwMode="auto">
          <a:xfrm flipV="1">
            <a:off x="1059691" y="4070975"/>
            <a:ext cx="0" cy="5010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2000">
              <a:latin typeface="+mn-lt"/>
            </a:endParaRPr>
          </a:p>
        </p:txBody>
      </p:sp>
      <p:sp>
        <p:nvSpPr>
          <p:cNvPr id="44" name="Text Box 431"/>
          <p:cNvSpPr txBox="1">
            <a:spLocks noChangeAspect="1" noChangeArrowheads="1"/>
          </p:cNvSpPr>
          <p:nvPr/>
        </p:nvSpPr>
        <p:spPr bwMode="auto">
          <a:xfrm>
            <a:off x="1101482" y="3940314"/>
            <a:ext cx="1863209" cy="7078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Double-word</a:t>
            </a:r>
          </a:p>
          <a:p>
            <a:r>
              <a:rPr lang="en-US" sz="2000" dirty="0" smtClean="0">
                <a:solidFill>
                  <a:schemeClr val="bg2">
                    <a:lumMod val="75000"/>
                  </a:schemeClr>
                </a:solidFill>
                <a:latin typeface="+mn-lt"/>
              </a:rPr>
              <a:t>aligned</a:t>
            </a:r>
            <a:endParaRPr lang="en-US" sz="2000" dirty="0">
              <a:solidFill>
                <a:schemeClr val="bg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32"/>
          <p:cNvSpPr>
            <a:spLocks noChangeAspect="1" noChangeArrowheads="1"/>
          </p:cNvSpPr>
          <p:nvPr/>
        </p:nvSpPr>
        <p:spPr bwMode="auto">
          <a:xfrm>
            <a:off x="6208814" y="2310981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6" name="Rectangle 379"/>
          <p:cNvSpPr>
            <a:spLocks noChangeAspect="1" noChangeArrowheads="1"/>
          </p:cNvSpPr>
          <p:nvPr/>
        </p:nvSpPr>
        <p:spPr bwMode="auto">
          <a:xfrm>
            <a:off x="1471696" y="2310981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latin typeface="+mn-lt"/>
              </a:rPr>
              <a:t>2/0</a:t>
            </a:r>
          </a:p>
        </p:txBody>
      </p:sp>
      <p:sp>
        <p:nvSpPr>
          <p:cNvPr id="7" name="Rectangle 380"/>
          <p:cNvSpPr>
            <a:spLocks noChangeAspect="1" noChangeArrowheads="1"/>
          </p:cNvSpPr>
          <p:nvPr/>
        </p:nvSpPr>
        <p:spPr bwMode="auto">
          <a:xfrm>
            <a:off x="1867166" y="2310981"/>
            <a:ext cx="393766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8" name="Rectangle 384"/>
          <p:cNvSpPr>
            <a:spLocks noChangeAspect="1" noChangeArrowheads="1"/>
          </p:cNvSpPr>
          <p:nvPr/>
        </p:nvSpPr>
        <p:spPr bwMode="auto">
          <a:xfrm>
            <a:off x="2247294" y="2310981"/>
            <a:ext cx="393766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latin typeface="+mn-lt"/>
              </a:rPr>
              <a:t>4/1</a:t>
            </a:r>
          </a:p>
        </p:txBody>
      </p:sp>
      <p:sp>
        <p:nvSpPr>
          <p:cNvPr id="9" name="Rectangle 385"/>
          <p:cNvSpPr>
            <a:spLocks noChangeAspect="1" noChangeArrowheads="1"/>
          </p:cNvSpPr>
          <p:nvPr/>
        </p:nvSpPr>
        <p:spPr bwMode="auto">
          <a:xfrm>
            <a:off x="2641060" y="2310981"/>
            <a:ext cx="395470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10" name="Rectangle 386"/>
          <p:cNvSpPr>
            <a:spLocks noChangeAspect="1" noChangeArrowheads="1"/>
          </p:cNvSpPr>
          <p:nvPr/>
        </p:nvSpPr>
        <p:spPr bwMode="auto">
          <a:xfrm>
            <a:off x="3036530" y="2310981"/>
            <a:ext cx="395470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11" name="Rectangle 387" descr="Wide upward diagonal"/>
          <p:cNvSpPr>
            <a:spLocks noChangeAspect="1" noChangeArrowheads="1"/>
          </p:cNvSpPr>
          <p:nvPr/>
        </p:nvSpPr>
        <p:spPr bwMode="auto">
          <a:xfrm>
            <a:off x="3432001" y="2310981"/>
            <a:ext cx="393766" cy="518016"/>
          </a:xfrm>
          <a:prstGeom prst="rect">
            <a:avLst/>
          </a:prstGeom>
          <a:pattFill prst="wdUpDiag">
            <a:fgClr>
              <a:srgbClr val="C0C0C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12" name="Rectangle 388"/>
          <p:cNvSpPr>
            <a:spLocks noChangeAspect="1" noChangeArrowheads="1"/>
          </p:cNvSpPr>
          <p:nvPr/>
        </p:nvSpPr>
        <p:spPr bwMode="auto">
          <a:xfrm>
            <a:off x="4248509" y="2310981"/>
            <a:ext cx="393766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13" name="Rectangle 389"/>
          <p:cNvSpPr>
            <a:spLocks noChangeAspect="1" noChangeArrowheads="1"/>
          </p:cNvSpPr>
          <p:nvPr/>
        </p:nvSpPr>
        <p:spPr bwMode="auto">
          <a:xfrm>
            <a:off x="4642275" y="2310981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14" name="Rectangle 390"/>
          <p:cNvSpPr>
            <a:spLocks noChangeAspect="1" noChangeArrowheads="1"/>
          </p:cNvSpPr>
          <p:nvPr/>
        </p:nvSpPr>
        <p:spPr bwMode="auto">
          <a:xfrm>
            <a:off x="5037745" y="2310981"/>
            <a:ext cx="393766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15" name="Rectangle 391"/>
          <p:cNvSpPr>
            <a:spLocks noChangeAspect="1" noChangeArrowheads="1"/>
          </p:cNvSpPr>
          <p:nvPr/>
        </p:nvSpPr>
        <p:spPr bwMode="auto">
          <a:xfrm>
            <a:off x="5431511" y="2310981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16" name="Rectangle 392"/>
          <p:cNvSpPr>
            <a:spLocks noChangeAspect="1" noChangeArrowheads="1"/>
          </p:cNvSpPr>
          <p:nvPr/>
        </p:nvSpPr>
        <p:spPr bwMode="auto">
          <a:xfrm>
            <a:off x="5826981" y="2310981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17" name="Rectangle 393"/>
          <p:cNvSpPr>
            <a:spLocks noChangeAspect="1" noChangeArrowheads="1"/>
          </p:cNvSpPr>
          <p:nvPr/>
        </p:nvSpPr>
        <p:spPr bwMode="auto">
          <a:xfrm>
            <a:off x="6967367" y="2310981"/>
            <a:ext cx="395470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latin typeface="+mn-lt"/>
              </a:rPr>
              <a:t>4/1</a:t>
            </a:r>
          </a:p>
        </p:txBody>
      </p:sp>
      <p:sp>
        <p:nvSpPr>
          <p:cNvPr id="18" name="Rectangle 394"/>
          <p:cNvSpPr>
            <a:spLocks noChangeAspect="1" noChangeArrowheads="1"/>
          </p:cNvSpPr>
          <p:nvPr/>
        </p:nvSpPr>
        <p:spPr bwMode="auto">
          <a:xfrm>
            <a:off x="7362837" y="2310981"/>
            <a:ext cx="393766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19" name="Rectangle 395"/>
          <p:cNvSpPr>
            <a:spLocks noChangeAspect="1" noChangeArrowheads="1"/>
          </p:cNvSpPr>
          <p:nvPr/>
        </p:nvSpPr>
        <p:spPr bwMode="auto">
          <a:xfrm>
            <a:off x="3853039" y="2310981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latin typeface="+mn-lt"/>
              </a:rPr>
              <a:t>8/0</a:t>
            </a:r>
          </a:p>
        </p:txBody>
      </p:sp>
      <p:sp>
        <p:nvSpPr>
          <p:cNvPr id="20" name="Freeform 396"/>
          <p:cNvSpPr>
            <a:spLocks noChangeAspect="1"/>
          </p:cNvSpPr>
          <p:nvPr/>
        </p:nvSpPr>
        <p:spPr bwMode="auto">
          <a:xfrm>
            <a:off x="1553517" y="1777268"/>
            <a:ext cx="806282" cy="497833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28" y="0"/>
              </a:cxn>
              <a:cxn ang="0">
                <a:pos x="960" y="144"/>
              </a:cxn>
            </a:cxnLst>
            <a:rect l="0" t="0" r="r" b="b"/>
            <a:pathLst>
              <a:path w="960" h="144">
                <a:moveTo>
                  <a:pt x="0" y="144"/>
                </a:moveTo>
                <a:cubicBezTo>
                  <a:pt x="184" y="72"/>
                  <a:pt x="368" y="0"/>
                  <a:pt x="528" y="0"/>
                </a:cubicBezTo>
                <a:cubicBezTo>
                  <a:pt x="688" y="0"/>
                  <a:pt x="824" y="72"/>
                  <a:pt x="960" y="14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21" name="Freeform 397"/>
          <p:cNvSpPr>
            <a:spLocks noChangeAspect="1"/>
          </p:cNvSpPr>
          <p:nvPr/>
        </p:nvSpPr>
        <p:spPr bwMode="auto">
          <a:xfrm>
            <a:off x="2431393" y="1777268"/>
            <a:ext cx="1493240" cy="497833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22" name="Freeform 398"/>
          <p:cNvSpPr>
            <a:spLocks noChangeAspect="1"/>
          </p:cNvSpPr>
          <p:nvPr/>
        </p:nvSpPr>
        <p:spPr bwMode="auto">
          <a:xfrm>
            <a:off x="3955316" y="1759328"/>
            <a:ext cx="3100690" cy="497833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76" y="0"/>
              </a:cxn>
              <a:cxn ang="0">
                <a:pos x="1152" y="144"/>
              </a:cxn>
            </a:cxnLst>
            <a:rect l="0" t="0" r="r" b="b"/>
            <a:pathLst>
              <a:path w="1152" h="144">
                <a:moveTo>
                  <a:pt x="0" y="144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23" name="Rectangle 399"/>
          <p:cNvSpPr>
            <a:spLocks noChangeAspect="1" noChangeArrowheads="1"/>
          </p:cNvSpPr>
          <p:nvPr/>
        </p:nvSpPr>
        <p:spPr bwMode="auto">
          <a:xfrm>
            <a:off x="7756602" y="2310981"/>
            <a:ext cx="395470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24" name="Rectangle 403" descr="Wide upward diagonal"/>
          <p:cNvSpPr>
            <a:spLocks noChangeAspect="1" noChangeArrowheads="1"/>
          </p:cNvSpPr>
          <p:nvPr/>
        </p:nvSpPr>
        <p:spPr bwMode="auto">
          <a:xfrm>
            <a:off x="1076226" y="2310981"/>
            <a:ext cx="395470" cy="518016"/>
          </a:xfrm>
          <a:prstGeom prst="rect">
            <a:avLst/>
          </a:prstGeom>
          <a:pattFill prst="wdUpDiag">
            <a:fgClr>
              <a:srgbClr val="C0C0C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200">
              <a:latin typeface="+mn-lt"/>
            </a:endParaRPr>
          </a:p>
        </p:txBody>
      </p:sp>
      <p:sp>
        <p:nvSpPr>
          <p:cNvPr id="26" name="Rectangle 406"/>
          <p:cNvSpPr>
            <a:spLocks noChangeAspect="1" noChangeArrowheads="1"/>
          </p:cNvSpPr>
          <p:nvPr/>
        </p:nvSpPr>
        <p:spPr bwMode="auto">
          <a:xfrm>
            <a:off x="1471696" y="2308738"/>
            <a:ext cx="777303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27" name="Rectangle 407"/>
          <p:cNvSpPr>
            <a:spLocks noChangeAspect="1" noChangeArrowheads="1"/>
          </p:cNvSpPr>
          <p:nvPr/>
        </p:nvSpPr>
        <p:spPr bwMode="auto">
          <a:xfrm>
            <a:off x="2248999" y="2308738"/>
            <a:ext cx="1595518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28" name="Text Box 410"/>
          <p:cNvSpPr txBox="1">
            <a:spLocks noChangeAspect="1" noChangeArrowheads="1"/>
          </p:cNvSpPr>
          <p:nvPr/>
        </p:nvSpPr>
        <p:spPr bwMode="auto">
          <a:xfrm>
            <a:off x="8529030" y="1759328"/>
            <a:ext cx="544615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End</a:t>
            </a:r>
          </a:p>
          <a:p>
            <a:pPr algn="ctr"/>
            <a:r>
              <a:rPr lang="en-US" sz="1400" dirty="0" smtClean="0">
                <a:latin typeface="+mn-lt"/>
              </a:rPr>
              <a:t>Heap</a:t>
            </a:r>
            <a:endParaRPr lang="en-US" sz="1400" dirty="0">
              <a:latin typeface="+mn-lt"/>
            </a:endParaRPr>
          </a:p>
        </p:txBody>
      </p:sp>
      <p:sp>
        <p:nvSpPr>
          <p:cNvPr id="29" name="Line 411"/>
          <p:cNvSpPr>
            <a:spLocks noChangeAspect="1" noChangeShapeType="1"/>
          </p:cNvSpPr>
          <p:nvPr/>
        </p:nvSpPr>
        <p:spPr bwMode="auto">
          <a:xfrm flipV="1">
            <a:off x="1867166" y="288281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30" name="Line 413"/>
          <p:cNvSpPr>
            <a:spLocks noChangeAspect="1" noChangeShapeType="1"/>
          </p:cNvSpPr>
          <p:nvPr/>
        </p:nvSpPr>
        <p:spPr bwMode="auto">
          <a:xfrm flipV="1">
            <a:off x="2644469" y="288281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31" name="Line 414"/>
          <p:cNvSpPr>
            <a:spLocks noChangeAspect="1" noChangeShapeType="1"/>
          </p:cNvSpPr>
          <p:nvPr/>
        </p:nvSpPr>
        <p:spPr bwMode="auto">
          <a:xfrm flipV="1">
            <a:off x="3435410" y="288281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32" name="Line 415"/>
          <p:cNvSpPr>
            <a:spLocks noChangeAspect="1" noChangeShapeType="1"/>
          </p:cNvSpPr>
          <p:nvPr/>
        </p:nvSpPr>
        <p:spPr bwMode="auto">
          <a:xfrm flipV="1">
            <a:off x="4253624" y="288281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33" name="Line 416"/>
          <p:cNvSpPr>
            <a:spLocks noChangeAspect="1" noChangeShapeType="1"/>
          </p:cNvSpPr>
          <p:nvPr/>
        </p:nvSpPr>
        <p:spPr bwMode="auto">
          <a:xfrm flipV="1">
            <a:off x="5044564" y="288281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34" name="Line 417"/>
          <p:cNvSpPr>
            <a:spLocks noChangeAspect="1" noChangeShapeType="1"/>
          </p:cNvSpPr>
          <p:nvPr/>
        </p:nvSpPr>
        <p:spPr bwMode="auto">
          <a:xfrm flipV="1">
            <a:off x="5821867" y="288281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35" name="Line 418"/>
          <p:cNvSpPr>
            <a:spLocks noChangeAspect="1" noChangeShapeType="1"/>
          </p:cNvSpPr>
          <p:nvPr/>
        </p:nvSpPr>
        <p:spPr bwMode="auto">
          <a:xfrm flipV="1">
            <a:off x="7376473" y="288281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36" name="Line 419"/>
          <p:cNvSpPr>
            <a:spLocks noChangeAspect="1" noChangeShapeType="1"/>
          </p:cNvSpPr>
          <p:nvPr/>
        </p:nvSpPr>
        <p:spPr bwMode="auto">
          <a:xfrm flipV="1">
            <a:off x="1089863" y="286487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37" name="Line 420"/>
          <p:cNvSpPr>
            <a:spLocks noChangeAspect="1" noChangeShapeType="1"/>
          </p:cNvSpPr>
          <p:nvPr/>
        </p:nvSpPr>
        <p:spPr bwMode="auto">
          <a:xfrm flipV="1">
            <a:off x="8167414" y="288281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38" name="Rectangle 421"/>
          <p:cNvSpPr>
            <a:spLocks noChangeAspect="1" noChangeArrowheads="1"/>
          </p:cNvSpPr>
          <p:nvPr/>
        </p:nvSpPr>
        <p:spPr bwMode="auto">
          <a:xfrm>
            <a:off x="8152073" y="2310981"/>
            <a:ext cx="395470" cy="518016"/>
          </a:xfrm>
          <a:prstGeom prst="rect">
            <a:avLst/>
          </a:prstGeom>
          <a:solidFill>
            <a:srgbClr val="C0C0C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39" name="Rectangle 409"/>
          <p:cNvSpPr>
            <a:spLocks noChangeAspect="1" noChangeArrowheads="1"/>
          </p:cNvSpPr>
          <p:nvPr/>
        </p:nvSpPr>
        <p:spPr bwMode="auto">
          <a:xfrm>
            <a:off x="6977595" y="2308738"/>
            <a:ext cx="1581880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40" name="Freeform 422"/>
          <p:cNvSpPr>
            <a:spLocks noChangeAspect="1"/>
          </p:cNvSpPr>
          <p:nvPr/>
        </p:nvSpPr>
        <p:spPr bwMode="auto">
          <a:xfrm>
            <a:off x="7108850" y="1752600"/>
            <a:ext cx="1493240" cy="497833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12700" cap="flat" cmpd="sng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41" name="Rectangle 423" descr="Wide upward diagonal"/>
          <p:cNvSpPr>
            <a:spLocks noChangeAspect="1" noChangeArrowheads="1"/>
          </p:cNvSpPr>
          <p:nvPr/>
        </p:nvSpPr>
        <p:spPr bwMode="auto">
          <a:xfrm>
            <a:off x="8549247" y="2310981"/>
            <a:ext cx="395470" cy="518016"/>
          </a:xfrm>
          <a:prstGeom prst="rect">
            <a:avLst/>
          </a:prstGeom>
          <a:pattFill prst="wdUpDiag">
            <a:fgClr>
              <a:srgbClr val="C0C0C0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0/1</a:t>
            </a:r>
          </a:p>
        </p:txBody>
      </p:sp>
      <p:sp>
        <p:nvSpPr>
          <p:cNvPr id="42" name="Rectangle 426"/>
          <p:cNvSpPr>
            <a:spLocks noChangeAspect="1" noChangeArrowheads="1"/>
          </p:cNvSpPr>
          <p:nvPr/>
        </p:nvSpPr>
        <p:spPr bwMode="auto">
          <a:xfrm>
            <a:off x="8549247" y="2308738"/>
            <a:ext cx="368196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45" name="Rectangle 433"/>
          <p:cNvSpPr>
            <a:spLocks noChangeAspect="1" noChangeArrowheads="1"/>
          </p:cNvSpPr>
          <p:nvPr/>
        </p:nvSpPr>
        <p:spPr bwMode="auto">
          <a:xfrm>
            <a:off x="6590647" y="2293040"/>
            <a:ext cx="395470" cy="51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46" name="Rectangle 408"/>
          <p:cNvSpPr>
            <a:spLocks noChangeAspect="1" noChangeArrowheads="1"/>
          </p:cNvSpPr>
          <p:nvPr/>
        </p:nvSpPr>
        <p:spPr bwMode="auto">
          <a:xfrm>
            <a:off x="3844517" y="2308738"/>
            <a:ext cx="3136487" cy="51801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47" name="Line 434"/>
          <p:cNvSpPr>
            <a:spLocks noChangeAspect="1" noChangeShapeType="1"/>
          </p:cNvSpPr>
          <p:nvPr/>
        </p:nvSpPr>
        <p:spPr bwMode="auto">
          <a:xfrm flipV="1">
            <a:off x="6585534" y="2882816"/>
            <a:ext cx="0" cy="5561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200">
              <a:latin typeface="+mn-l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640409" y="3886200"/>
            <a:ext cx="54548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Allocated blocks: </a:t>
            </a:r>
            <a:r>
              <a:rPr lang="en-US" sz="2000" b="0" dirty="0">
                <a:latin typeface="Calibri" pitchFamily="34" charset="0"/>
              </a:rPr>
              <a:t>shaded</a:t>
            </a:r>
          </a:p>
          <a:p>
            <a:r>
              <a:rPr lang="en-US" sz="2000" dirty="0">
                <a:latin typeface="Calibri" pitchFamily="34" charset="0"/>
              </a:rPr>
              <a:t>Free blocks: </a:t>
            </a:r>
            <a:r>
              <a:rPr lang="en-US" sz="2000" b="0" dirty="0" err="1">
                <a:latin typeface="Calibri" pitchFamily="34" charset="0"/>
              </a:rPr>
              <a:t>unshaded</a:t>
            </a:r>
            <a:endParaRPr lang="en-US" sz="2000" b="0" dirty="0">
              <a:latin typeface="Calibri" pitchFamily="34" charset="0"/>
            </a:endParaRPr>
          </a:p>
          <a:p>
            <a:r>
              <a:rPr lang="en-US" sz="2000" dirty="0">
                <a:latin typeface="Calibri" pitchFamily="34" charset="0"/>
              </a:rPr>
              <a:t>Headers: </a:t>
            </a:r>
            <a:r>
              <a:rPr lang="en-US" sz="2000" b="0" dirty="0">
                <a:latin typeface="Calibri" pitchFamily="34" charset="0"/>
              </a:rPr>
              <a:t>labeled with “size in words/allocated bit”</a:t>
            </a:r>
          </a:p>
        </p:txBody>
      </p:sp>
      <p:sp>
        <p:nvSpPr>
          <p:cNvPr id="48" name="Text Box 410">
            <a:extLst>
              <a:ext uri="{FF2B5EF4-FFF2-40B4-BE49-F238E27FC236}">
                <a16:creationId xmlns:a16="http://schemas.microsoft.com/office/drawing/2014/main" xmlns="" id="{C20F70C2-92A6-485D-B2F2-20DB681AEA8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69444" y="1945884"/>
            <a:ext cx="835725" cy="3416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Unused</a:t>
            </a:r>
          </a:p>
        </p:txBody>
      </p:sp>
    </p:spTree>
    <p:extLst>
      <p:ext uri="{BB962C8B-B14F-4D97-AF65-F5344CB8AC3E}">
        <p14:creationId xmlns:p14="http://schemas.microsoft.com/office/powerpoint/2010/main" val="16335471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280086" y="468998"/>
            <a:ext cx="8001000" cy="57308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Implicit List: Finding a Free Block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0513" y="1066800"/>
            <a:ext cx="8307387" cy="5608638"/>
          </a:xfrm>
          <a:ln/>
        </p:spPr>
        <p:txBody>
          <a:bodyPr/>
          <a:lstStyle/>
          <a:p>
            <a:pPr>
              <a:lnSpc>
                <a:spcPct val="83000"/>
              </a:lnSpc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i="1" dirty="0">
                <a:solidFill>
                  <a:srgbClr val="C00000"/>
                </a:solidFill>
              </a:rPr>
              <a:t>First fit: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b="0" dirty="0"/>
              <a:t>Search list from beginning, choose </a:t>
            </a:r>
            <a:r>
              <a:rPr lang="en-GB" sz="1800" b="1" i="1" dirty="0">
                <a:solidFill>
                  <a:srgbClr val="C00000"/>
                </a:solidFill>
              </a:rPr>
              <a:t>first</a:t>
            </a:r>
            <a:r>
              <a:rPr lang="en-GB" sz="1800" b="0" dirty="0"/>
              <a:t> free block that fits:</a:t>
            </a:r>
            <a:endParaRPr lang="en-GB" b="1" i="1" dirty="0">
              <a:solidFill>
                <a:srgbClr val="C00000"/>
              </a:solidFill>
              <a:ea typeface="+mn-ea"/>
              <a:cs typeface="+mn-cs"/>
            </a:endParaRPr>
          </a:p>
          <a:p>
            <a:pPr lvl="1">
              <a:lnSpc>
                <a:spcPct val="88000"/>
              </a:lnSpc>
              <a:spcBef>
                <a:spcPts val="563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1800" dirty="0"/>
          </a:p>
          <a:p>
            <a:pPr lvl="1">
              <a:lnSpc>
                <a:spcPct val="88000"/>
              </a:lnSpc>
              <a:spcBef>
                <a:spcPts val="563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1800" dirty="0"/>
          </a:p>
          <a:p>
            <a:pPr lvl="1">
              <a:lnSpc>
                <a:spcPct val="88000"/>
              </a:lnSpc>
              <a:spcBef>
                <a:spcPts val="563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1800" dirty="0"/>
          </a:p>
          <a:p>
            <a:pPr lvl="1">
              <a:lnSpc>
                <a:spcPct val="88000"/>
              </a:lnSpc>
              <a:spcBef>
                <a:spcPts val="563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1800" dirty="0"/>
          </a:p>
          <a:p>
            <a:pPr lvl="1">
              <a:lnSpc>
                <a:spcPct val="88000"/>
              </a:lnSpc>
              <a:spcBef>
                <a:spcPts val="563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1800" dirty="0"/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b="0" dirty="0"/>
              <a:t>Can take linear time in total number of blocks (allocated and free)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b="0" dirty="0"/>
              <a:t>In practice it can cause “splinters” at beginning of list</a:t>
            </a:r>
          </a:p>
          <a:p>
            <a:pPr>
              <a:lnSpc>
                <a:spcPct val="83000"/>
              </a:lnSpc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i="1" dirty="0">
                <a:solidFill>
                  <a:srgbClr val="C00000"/>
                </a:solidFill>
              </a:rPr>
              <a:t>Next fit: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b="0" dirty="0"/>
              <a:t>Like first fit, but search list starting where previous search finished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Should often be faster than first fit: avoids re-scanning unhelpful blocks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Some research suggests that fragmentation is worse</a:t>
            </a:r>
          </a:p>
          <a:p>
            <a:pPr>
              <a:lnSpc>
                <a:spcPct val="83000"/>
              </a:lnSpc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i="1" dirty="0">
                <a:solidFill>
                  <a:srgbClr val="C00000"/>
                </a:solidFill>
              </a:rPr>
              <a:t>Best fit: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b="0" dirty="0"/>
              <a:t>Search the list, choose the </a:t>
            </a:r>
            <a:r>
              <a:rPr lang="en-GB" sz="1800" b="1" i="1" dirty="0">
                <a:solidFill>
                  <a:srgbClr val="C00000"/>
                </a:solidFill>
              </a:rPr>
              <a:t>best</a:t>
            </a:r>
            <a:r>
              <a:rPr lang="en-GB" sz="1800" b="0" dirty="0"/>
              <a:t> free block: fits, with fewest bytes left over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b="0" dirty="0"/>
              <a:t>Keeps fragments small—usually improves memory utilization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b="0" dirty="0"/>
              <a:t>Will typically run slower than first fit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1143000" y="1911265"/>
            <a:ext cx="7464201" cy="1251882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</a:rPr>
              <a:t>p = start; 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</a:rPr>
              <a:t>while ((p &lt; end) &amp;&amp;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</a:rPr>
              <a:t>\\ not passed end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</a:rPr>
              <a:t>       ((*p &amp; 1) ||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</a:rPr>
              <a:t>\\ already allocated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</a:rPr>
              <a:t>       (*</a:t>
            </a:r>
            <a:r>
              <a:rPr lang="en-GB" sz="1600" b="1" dirty="0" err="1">
                <a:latin typeface="Courier New" pitchFamily="49" charset="0"/>
              </a:rPr>
              <a:t>p</a:t>
            </a:r>
            <a:r>
              <a:rPr lang="en-GB" sz="1600" b="1" dirty="0">
                <a:latin typeface="Courier New" pitchFamily="49" charset="0"/>
              </a:rPr>
              <a:t>  &lt;= </a:t>
            </a:r>
            <a:r>
              <a:rPr lang="en-GB" sz="1600" b="1" dirty="0" err="1">
                <a:latin typeface="Courier New" pitchFamily="49" charset="0"/>
              </a:rPr>
              <a:t>len</a:t>
            </a:r>
            <a:r>
              <a:rPr lang="en-GB" sz="1600" b="1" dirty="0">
                <a:latin typeface="Courier New" pitchFamily="49" charset="0"/>
              </a:rPr>
              <a:t>)))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</a:rPr>
              <a:t>\\ too small 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</a:rPr>
              <a:t>  p = p + (*p &amp; -2);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</a:rPr>
              <a:t>\\ </a:t>
            </a:r>
            <a:r>
              <a:rPr lang="en-GB" sz="1600" b="1" dirty="0" err="1">
                <a:solidFill>
                  <a:srgbClr val="990000"/>
                </a:solidFill>
                <a:latin typeface="Courier New" pitchFamily="49" charset="0"/>
              </a:rPr>
              <a:t>goto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</a:rPr>
              <a:t> next block (word addressed)</a:t>
            </a:r>
          </a:p>
        </p:txBody>
      </p:sp>
    </p:spTree>
    <p:extLst>
      <p:ext uri="{BB962C8B-B14F-4D97-AF65-F5344CB8AC3E}">
        <p14:creationId xmlns:p14="http://schemas.microsoft.com/office/powerpoint/2010/main" val="42892080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>
          <a:xfrm>
            <a:off x="266700" y="493713"/>
            <a:ext cx="86106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Implicit List: Allocating in Free Block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307387" cy="5224462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Allocating in a free block: </a:t>
            </a:r>
            <a:r>
              <a:rPr lang="en-GB" i="1" dirty="0">
                <a:solidFill>
                  <a:srgbClr val="C00000"/>
                </a:solidFill>
              </a:rPr>
              <a:t>splitting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Since allocated space might be smaller than free space, we might want to split the block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413952" y="4910915"/>
            <a:ext cx="8328219" cy="171848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void addblock(ptr p, int len) {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</a:t>
            </a:r>
            <a:r>
              <a:rPr lang="en-GB" sz="1600" dirty="0">
                <a:solidFill>
                  <a:schemeClr val="accent2"/>
                </a:solidFill>
                <a:latin typeface="Courier New" pitchFamily="49" charset="0"/>
              </a:rPr>
              <a:t>int newsize = ((len + 1) &gt;&gt; 1) &lt;&lt; 1;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round up to even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int oldsize = *p &amp; -2;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mask out low bit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*p = newsize | 1;     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set new length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if (newsize &lt; oldsize)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  *(p+newsize) = oldsize - newsize;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set length in remaining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}                       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  part of block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20574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23622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26670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29718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32766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35814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38862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1910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48006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51054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54102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57150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60198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6324600" y="2751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2</a:t>
            </a: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6629400" y="2751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44958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6</a:t>
            </a:r>
          </a:p>
        </p:txBody>
      </p:sp>
      <p:sp>
        <p:nvSpPr>
          <p:cNvPr id="23572" name="Freeform 20"/>
          <p:cNvSpPr>
            <a:spLocks/>
          </p:cNvSpPr>
          <p:nvPr/>
        </p:nvSpPr>
        <p:spPr bwMode="auto">
          <a:xfrm>
            <a:off x="3429000" y="2514600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3" name="Freeform 21"/>
          <p:cNvSpPr>
            <a:spLocks/>
          </p:cNvSpPr>
          <p:nvPr/>
        </p:nvSpPr>
        <p:spPr bwMode="auto">
          <a:xfrm>
            <a:off x="4648200" y="2514600"/>
            <a:ext cx="18288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76" y="0"/>
              </a:cxn>
              <a:cxn ang="0">
                <a:pos x="1152" y="144"/>
              </a:cxn>
            </a:cxnLst>
            <a:rect l="0" t="0" r="r" b="b"/>
            <a:pathLst>
              <a:path w="1152" h="144">
                <a:moveTo>
                  <a:pt x="0" y="144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32766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35814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38862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41910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8006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51054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54102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1" name="Rectangle 29"/>
          <p:cNvSpPr>
            <a:spLocks noChangeArrowheads="1"/>
          </p:cNvSpPr>
          <p:nvPr/>
        </p:nvSpPr>
        <p:spPr bwMode="auto">
          <a:xfrm>
            <a:off x="5715000" y="4250789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2" name="Rectangle 30"/>
          <p:cNvSpPr>
            <a:spLocks noChangeArrowheads="1"/>
          </p:cNvSpPr>
          <p:nvPr/>
        </p:nvSpPr>
        <p:spPr bwMode="auto">
          <a:xfrm>
            <a:off x="6019800" y="4250789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3" name="Rectangle 31"/>
          <p:cNvSpPr>
            <a:spLocks noChangeArrowheads="1"/>
          </p:cNvSpPr>
          <p:nvPr/>
        </p:nvSpPr>
        <p:spPr bwMode="auto">
          <a:xfrm>
            <a:off x="6324600" y="4250789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2</a:t>
            </a:r>
          </a:p>
        </p:txBody>
      </p:sp>
      <p:sp>
        <p:nvSpPr>
          <p:cNvPr id="23584" name="Rectangle 32"/>
          <p:cNvSpPr>
            <a:spLocks noChangeArrowheads="1"/>
          </p:cNvSpPr>
          <p:nvPr/>
        </p:nvSpPr>
        <p:spPr bwMode="auto">
          <a:xfrm>
            <a:off x="6629400" y="4250789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5" name="Rectangle 33"/>
          <p:cNvSpPr>
            <a:spLocks noChangeArrowheads="1"/>
          </p:cNvSpPr>
          <p:nvPr/>
        </p:nvSpPr>
        <p:spPr bwMode="auto">
          <a:xfrm>
            <a:off x="44958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86" name="Freeform 34"/>
          <p:cNvSpPr>
            <a:spLocks/>
          </p:cNvSpPr>
          <p:nvPr/>
        </p:nvSpPr>
        <p:spPr bwMode="auto">
          <a:xfrm>
            <a:off x="3429000" y="4013951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7" name="Line 35"/>
          <p:cNvSpPr>
            <a:spLocks noChangeShapeType="1"/>
          </p:cNvSpPr>
          <p:nvPr/>
        </p:nvSpPr>
        <p:spPr bwMode="auto">
          <a:xfrm flipV="1">
            <a:off x="4638408" y="3054651"/>
            <a:ext cx="1588" cy="231775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88" name="Text Box 36"/>
          <p:cNvSpPr txBox="1">
            <a:spLocks noChangeArrowheads="1"/>
          </p:cNvSpPr>
          <p:nvPr/>
        </p:nvSpPr>
        <p:spPr bwMode="auto">
          <a:xfrm>
            <a:off x="4482833" y="3208638"/>
            <a:ext cx="292366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p</a:t>
            </a:r>
          </a:p>
        </p:txBody>
      </p:sp>
      <p:sp>
        <p:nvSpPr>
          <p:cNvPr id="23589" name="Freeform 37"/>
          <p:cNvSpPr>
            <a:spLocks/>
          </p:cNvSpPr>
          <p:nvPr/>
        </p:nvSpPr>
        <p:spPr bwMode="auto">
          <a:xfrm>
            <a:off x="2209800" y="2514600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0" name="Text Box 38"/>
          <p:cNvSpPr txBox="1">
            <a:spLocks noChangeArrowheads="1"/>
          </p:cNvSpPr>
          <p:nvPr/>
        </p:nvSpPr>
        <p:spPr bwMode="auto">
          <a:xfrm>
            <a:off x="5731476" y="4236201"/>
            <a:ext cx="285954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2</a:t>
            </a:r>
          </a:p>
        </p:txBody>
      </p:sp>
      <p:sp>
        <p:nvSpPr>
          <p:cNvPr id="23591" name="Freeform 39"/>
          <p:cNvSpPr>
            <a:spLocks/>
          </p:cNvSpPr>
          <p:nvPr/>
        </p:nvSpPr>
        <p:spPr bwMode="auto">
          <a:xfrm>
            <a:off x="4572000" y="4013951"/>
            <a:ext cx="12954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432" y="0"/>
              </a:cxn>
              <a:cxn ang="0">
                <a:pos x="816" y="144"/>
              </a:cxn>
            </a:cxnLst>
            <a:rect l="0" t="0" r="r" b="b"/>
            <a:pathLst>
              <a:path w="816" h="144">
                <a:moveTo>
                  <a:pt x="0" y="144"/>
                </a:moveTo>
                <a:cubicBezTo>
                  <a:pt x="148" y="72"/>
                  <a:pt x="296" y="0"/>
                  <a:pt x="432" y="0"/>
                </a:cubicBezTo>
                <a:cubicBezTo>
                  <a:pt x="568" y="0"/>
                  <a:pt x="692" y="72"/>
                  <a:pt x="816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2" name="Freeform 40"/>
          <p:cNvSpPr>
            <a:spLocks/>
          </p:cNvSpPr>
          <p:nvPr/>
        </p:nvSpPr>
        <p:spPr bwMode="auto">
          <a:xfrm>
            <a:off x="5867400" y="4090151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3" name="Rectangle 41"/>
          <p:cNvSpPr>
            <a:spLocks noChangeArrowheads="1"/>
          </p:cNvSpPr>
          <p:nvPr/>
        </p:nvSpPr>
        <p:spPr bwMode="auto">
          <a:xfrm>
            <a:off x="20574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94" name="Rectangle 42"/>
          <p:cNvSpPr>
            <a:spLocks noChangeArrowheads="1"/>
          </p:cNvSpPr>
          <p:nvPr/>
        </p:nvSpPr>
        <p:spPr bwMode="auto">
          <a:xfrm>
            <a:off x="23622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5" name="Rectangle 43"/>
          <p:cNvSpPr>
            <a:spLocks noChangeArrowheads="1"/>
          </p:cNvSpPr>
          <p:nvPr/>
        </p:nvSpPr>
        <p:spPr bwMode="auto">
          <a:xfrm>
            <a:off x="26670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6" name="Rectangle 44"/>
          <p:cNvSpPr>
            <a:spLocks noChangeArrowheads="1"/>
          </p:cNvSpPr>
          <p:nvPr/>
        </p:nvSpPr>
        <p:spPr bwMode="auto">
          <a:xfrm>
            <a:off x="29718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7" name="Freeform 45"/>
          <p:cNvSpPr>
            <a:spLocks/>
          </p:cNvSpPr>
          <p:nvPr/>
        </p:nvSpPr>
        <p:spPr bwMode="auto">
          <a:xfrm>
            <a:off x="2209800" y="4013951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8" name="Text Box 46"/>
          <p:cNvSpPr txBox="1">
            <a:spLocks noChangeArrowheads="1"/>
          </p:cNvSpPr>
          <p:nvPr/>
        </p:nvSpPr>
        <p:spPr bwMode="auto">
          <a:xfrm>
            <a:off x="688975" y="3685639"/>
            <a:ext cx="1820371" cy="30380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</a:rPr>
              <a:t>addblock</a:t>
            </a:r>
            <a:r>
              <a:rPr lang="en-GB" sz="1600" b="1" dirty="0">
                <a:latin typeface="Courier New" pitchFamily="49" charset="0"/>
              </a:rPr>
              <a:t>(p, 4)</a:t>
            </a:r>
          </a:p>
        </p:txBody>
      </p:sp>
      <p:sp>
        <p:nvSpPr>
          <p:cNvPr id="48" name="Rectangle 7"/>
          <p:cNvSpPr>
            <a:spLocks noChangeArrowheads="1"/>
          </p:cNvSpPr>
          <p:nvPr/>
        </p:nvSpPr>
        <p:spPr bwMode="auto">
          <a:xfrm>
            <a:off x="1752600" y="2756693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9" name="Rectangle 7"/>
          <p:cNvSpPr>
            <a:spLocks noChangeArrowheads="1"/>
          </p:cNvSpPr>
          <p:nvPr/>
        </p:nvSpPr>
        <p:spPr bwMode="auto">
          <a:xfrm>
            <a:off x="1752600" y="4245534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0" name="Rectangle 7"/>
          <p:cNvSpPr>
            <a:spLocks noChangeArrowheads="1"/>
          </p:cNvSpPr>
          <p:nvPr/>
        </p:nvSpPr>
        <p:spPr bwMode="auto">
          <a:xfrm>
            <a:off x="6934200" y="2751438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+mn-lt"/>
              </a:rPr>
              <a:t>0</a:t>
            </a:r>
          </a:p>
        </p:txBody>
      </p: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6934200" y="4250789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+mn-lt"/>
              </a:rPr>
              <a:t>0</a:t>
            </a:r>
          </a:p>
        </p:txBody>
      </p:sp>
      <p:sp>
        <p:nvSpPr>
          <p:cNvPr id="52" name="Freeform 40"/>
          <p:cNvSpPr>
            <a:spLocks/>
          </p:cNvSpPr>
          <p:nvPr/>
        </p:nvSpPr>
        <p:spPr bwMode="auto">
          <a:xfrm>
            <a:off x="6492766" y="4083801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Freeform 40"/>
          <p:cNvSpPr>
            <a:spLocks/>
          </p:cNvSpPr>
          <p:nvPr/>
        </p:nvSpPr>
        <p:spPr bwMode="auto">
          <a:xfrm>
            <a:off x="6492766" y="2578372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14711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>
          <a:xfrm>
            <a:off x="266700" y="493713"/>
            <a:ext cx="86106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Implicit List: Allocating in Free Block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307387" cy="5224462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Allocating in a free block: </a:t>
            </a:r>
            <a:r>
              <a:rPr lang="en-GB" i="1" dirty="0">
                <a:solidFill>
                  <a:srgbClr val="C00000"/>
                </a:solidFill>
              </a:rPr>
              <a:t>splitting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Since allocated space might be smaller than free space, we might want to split the block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413952" y="4910915"/>
            <a:ext cx="8328219" cy="171848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void addblock(ptr p, int len) {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int newsize = ((len + 1) &gt;&gt; 1) &lt;&lt; 1;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round up to even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</a:t>
            </a:r>
            <a:r>
              <a:rPr lang="en-GB" sz="1600" dirty="0">
                <a:solidFill>
                  <a:schemeClr val="accent2"/>
                </a:solidFill>
                <a:latin typeface="Courier New" pitchFamily="49" charset="0"/>
              </a:rPr>
              <a:t>int oldsize = *p &amp; -2;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mask out low bit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*p = newsize | 1;     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set new length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if (newsize &lt; oldsize)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  *(p+newsize) = oldsize - newsize;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set length in remaining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}                       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  part of block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20574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23622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26670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29718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32766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35814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38862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1910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48006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51054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54102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57150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60198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6324600" y="2751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2</a:t>
            </a: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6629400" y="2751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44958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6</a:t>
            </a:r>
          </a:p>
        </p:txBody>
      </p:sp>
      <p:sp>
        <p:nvSpPr>
          <p:cNvPr id="23572" name="Freeform 20"/>
          <p:cNvSpPr>
            <a:spLocks/>
          </p:cNvSpPr>
          <p:nvPr/>
        </p:nvSpPr>
        <p:spPr bwMode="auto">
          <a:xfrm>
            <a:off x="3429000" y="2514600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3" name="Freeform 21"/>
          <p:cNvSpPr>
            <a:spLocks/>
          </p:cNvSpPr>
          <p:nvPr/>
        </p:nvSpPr>
        <p:spPr bwMode="auto">
          <a:xfrm>
            <a:off x="4648200" y="2514600"/>
            <a:ext cx="18288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76" y="0"/>
              </a:cxn>
              <a:cxn ang="0">
                <a:pos x="1152" y="144"/>
              </a:cxn>
            </a:cxnLst>
            <a:rect l="0" t="0" r="r" b="b"/>
            <a:pathLst>
              <a:path w="1152" h="144">
                <a:moveTo>
                  <a:pt x="0" y="144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32766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35814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38862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41910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8006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51054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54102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1" name="Rectangle 29"/>
          <p:cNvSpPr>
            <a:spLocks noChangeArrowheads="1"/>
          </p:cNvSpPr>
          <p:nvPr/>
        </p:nvSpPr>
        <p:spPr bwMode="auto">
          <a:xfrm>
            <a:off x="5715000" y="4250789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2" name="Rectangle 30"/>
          <p:cNvSpPr>
            <a:spLocks noChangeArrowheads="1"/>
          </p:cNvSpPr>
          <p:nvPr/>
        </p:nvSpPr>
        <p:spPr bwMode="auto">
          <a:xfrm>
            <a:off x="6019800" y="4250789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3" name="Rectangle 31"/>
          <p:cNvSpPr>
            <a:spLocks noChangeArrowheads="1"/>
          </p:cNvSpPr>
          <p:nvPr/>
        </p:nvSpPr>
        <p:spPr bwMode="auto">
          <a:xfrm>
            <a:off x="6324600" y="4250789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2</a:t>
            </a:r>
          </a:p>
        </p:txBody>
      </p:sp>
      <p:sp>
        <p:nvSpPr>
          <p:cNvPr id="23584" name="Rectangle 32"/>
          <p:cNvSpPr>
            <a:spLocks noChangeArrowheads="1"/>
          </p:cNvSpPr>
          <p:nvPr/>
        </p:nvSpPr>
        <p:spPr bwMode="auto">
          <a:xfrm>
            <a:off x="6629400" y="4250789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5" name="Rectangle 33"/>
          <p:cNvSpPr>
            <a:spLocks noChangeArrowheads="1"/>
          </p:cNvSpPr>
          <p:nvPr/>
        </p:nvSpPr>
        <p:spPr bwMode="auto">
          <a:xfrm>
            <a:off x="44958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86" name="Freeform 34"/>
          <p:cNvSpPr>
            <a:spLocks/>
          </p:cNvSpPr>
          <p:nvPr/>
        </p:nvSpPr>
        <p:spPr bwMode="auto">
          <a:xfrm>
            <a:off x="3429000" y="4013951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7" name="Line 35"/>
          <p:cNvSpPr>
            <a:spLocks noChangeShapeType="1"/>
          </p:cNvSpPr>
          <p:nvPr/>
        </p:nvSpPr>
        <p:spPr bwMode="auto">
          <a:xfrm flipV="1">
            <a:off x="4638408" y="3054651"/>
            <a:ext cx="1588" cy="231775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88" name="Text Box 36"/>
          <p:cNvSpPr txBox="1">
            <a:spLocks noChangeArrowheads="1"/>
          </p:cNvSpPr>
          <p:nvPr/>
        </p:nvSpPr>
        <p:spPr bwMode="auto">
          <a:xfrm>
            <a:off x="4482833" y="3208638"/>
            <a:ext cx="292366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p</a:t>
            </a:r>
          </a:p>
        </p:txBody>
      </p:sp>
      <p:sp>
        <p:nvSpPr>
          <p:cNvPr id="23589" name="Freeform 37"/>
          <p:cNvSpPr>
            <a:spLocks/>
          </p:cNvSpPr>
          <p:nvPr/>
        </p:nvSpPr>
        <p:spPr bwMode="auto">
          <a:xfrm>
            <a:off x="2209800" y="2514600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0" name="Text Box 38"/>
          <p:cNvSpPr txBox="1">
            <a:spLocks noChangeArrowheads="1"/>
          </p:cNvSpPr>
          <p:nvPr/>
        </p:nvSpPr>
        <p:spPr bwMode="auto">
          <a:xfrm>
            <a:off x="5731476" y="4236201"/>
            <a:ext cx="285954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2</a:t>
            </a:r>
          </a:p>
        </p:txBody>
      </p:sp>
      <p:sp>
        <p:nvSpPr>
          <p:cNvPr id="23591" name="Freeform 39"/>
          <p:cNvSpPr>
            <a:spLocks/>
          </p:cNvSpPr>
          <p:nvPr/>
        </p:nvSpPr>
        <p:spPr bwMode="auto">
          <a:xfrm>
            <a:off x="4572000" y="4013951"/>
            <a:ext cx="12954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432" y="0"/>
              </a:cxn>
              <a:cxn ang="0">
                <a:pos x="816" y="144"/>
              </a:cxn>
            </a:cxnLst>
            <a:rect l="0" t="0" r="r" b="b"/>
            <a:pathLst>
              <a:path w="816" h="144">
                <a:moveTo>
                  <a:pt x="0" y="144"/>
                </a:moveTo>
                <a:cubicBezTo>
                  <a:pt x="148" y="72"/>
                  <a:pt x="296" y="0"/>
                  <a:pt x="432" y="0"/>
                </a:cubicBezTo>
                <a:cubicBezTo>
                  <a:pt x="568" y="0"/>
                  <a:pt x="692" y="72"/>
                  <a:pt x="816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2" name="Freeform 40"/>
          <p:cNvSpPr>
            <a:spLocks/>
          </p:cNvSpPr>
          <p:nvPr/>
        </p:nvSpPr>
        <p:spPr bwMode="auto">
          <a:xfrm>
            <a:off x="5867400" y="4090151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3" name="Rectangle 41"/>
          <p:cNvSpPr>
            <a:spLocks noChangeArrowheads="1"/>
          </p:cNvSpPr>
          <p:nvPr/>
        </p:nvSpPr>
        <p:spPr bwMode="auto">
          <a:xfrm>
            <a:off x="20574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94" name="Rectangle 42"/>
          <p:cNvSpPr>
            <a:spLocks noChangeArrowheads="1"/>
          </p:cNvSpPr>
          <p:nvPr/>
        </p:nvSpPr>
        <p:spPr bwMode="auto">
          <a:xfrm>
            <a:off x="23622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5" name="Rectangle 43"/>
          <p:cNvSpPr>
            <a:spLocks noChangeArrowheads="1"/>
          </p:cNvSpPr>
          <p:nvPr/>
        </p:nvSpPr>
        <p:spPr bwMode="auto">
          <a:xfrm>
            <a:off x="26670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6" name="Rectangle 44"/>
          <p:cNvSpPr>
            <a:spLocks noChangeArrowheads="1"/>
          </p:cNvSpPr>
          <p:nvPr/>
        </p:nvSpPr>
        <p:spPr bwMode="auto">
          <a:xfrm>
            <a:off x="29718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7" name="Freeform 45"/>
          <p:cNvSpPr>
            <a:spLocks/>
          </p:cNvSpPr>
          <p:nvPr/>
        </p:nvSpPr>
        <p:spPr bwMode="auto">
          <a:xfrm>
            <a:off x="2209800" y="4013951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8" name="Text Box 46"/>
          <p:cNvSpPr txBox="1">
            <a:spLocks noChangeArrowheads="1"/>
          </p:cNvSpPr>
          <p:nvPr/>
        </p:nvSpPr>
        <p:spPr bwMode="auto">
          <a:xfrm>
            <a:off x="688975" y="3685639"/>
            <a:ext cx="1820371" cy="30380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</a:rPr>
              <a:t>addblock</a:t>
            </a:r>
            <a:r>
              <a:rPr lang="en-GB" sz="1600" b="1" dirty="0">
                <a:latin typeface="Courier New" pitchFamily="49" charset="0"/>
              </a:rPr>
              <a:t>(p, 4)</a:t>
            </a:r>
          </a:p>
        </p:txBody>
      </p:sp>
      <p:sp>
        <p:nvSpPr>
          <p:cNvPr id="48" name="Rectangle 7"/>
          <p:cNvSpPr>
            <a:spLocks noChangeArrowheads="1"/>
          </p:cNvSpPr>
          <p:nvPr/>
        </p:nvSpPr>
        <p:spPr bwMode="auto">
          <a:xfrm>
            <a:off x="1752600" y="2756693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9" name="Rectangle 7"/>
          <p:cNvSpPr>
            <a:spLocks noChangeArrowheads="1"/>
          </p:cNvSpPr>
          <p:nvPr/>
        </p:nvSpPr>
        <p:spPr bwMode="auto">
          <a:xfrm>
            <a:off x="1752600" y="4245534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0" name="Rectangle 7"/>
          <p:cNvSpPr>
            <a:spLocks noChangeArrowheads="1"/>
          </p:cNvSpPr>
          <p:nvPr/>
        </p:nvSpPr>
        <p:spPr bwMode="auto">
          <a:xfrm>
            <a:off x="6934200" y="2751438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+mn-lt"/>
              </a:rPr>
              <a:t>0</a:t>
            </a:r>
          </a:p>
        </p:txBody>
      </p: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6934200" y="4250789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+mn-lt"/>
              </a:rPr>
              <a:t>0</a:t>
            </a:r>
          </a:p>
        </p:txBody>
      </p:sp>
      <p:sp>
        <p:nvSpPr>
          <p:cNvPr id="52" name="Freeform 40"/>
          <p:cNvSpPr>
            <a:spLocks/>
          </p:cNvSpPr>
          <p:nvPr/>
        </p:nvSpPr>
        <p:spPr bwMode="auto">
          <a:xfrm>
            <a:off x="6492766" y="4083801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Freeform 40"/>
          <p:cNvSpPr>
            <a:spLocks/>
          </p:cNvSpPr>
          <p:nvPr/>
        </p:nvSpPr>
        <p:spPr bwMode="auto">
          <a:xfrm>
            <a:off x="6492766" y="2578372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2701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>
          <a:xfrm>
            <a:off x="266700" y="493713"/>
            <a:ext cx="86106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Implicit List: Allocating in Free Block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307387" cy="5224462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Allocating in a free block: </a:t>
            </a:r>
            <a:r>
              <a:rPr lang="en-GB" i="1" dirty="0">
                <a:solidFill>
                  <a:srgbClr val="C00000"/>
                </a:solidFill>
              </a:rPr>
              <a:t>splitting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Since allocated space might be smaller than free space, we might want to split the block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413952" y="4910915"/>
            <a:ext cx="8328219" cy="171848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void addblock(ptr p, int len) {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int newsize = ((len + 1) &gt;&gt; 1) &lt;&lt; 1;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round up to even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int oldsize = *p &amp; -2;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mask out low bit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</a:t>
            </a:r>
            <a:r>
              <a:rPr lang="en-GB" sz="1600" dirty="0">
                <a:solidFill>
                  <a:schemeClr val="accent2"/>
                </a:solidFill>
                <a:latin typeface="Courier New" pitchFamily="49" charset="0"/>
              </a:rPr>
              <a:t>*p = newsize | 1;     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set new length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if (newsize &lt; oldsize)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  *(p+newsize) = oldsize - newsize;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set length in remaining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}                       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  part of block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20574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23622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26670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29718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32766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35814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38862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1910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48006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51054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54102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57150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60198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6324600" y="2751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2</a:t>
            </a: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6629400" y="2751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44958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6</a:t>
            </a:r>
          </a:p>
        </p:txBody>
      </p:sp>
      <p:sp>
        <p:nvSpPr>
          <p:cNvPr id="23572" name="Freeform 20"/>
          <p:cNvSpPr>
            <a:spLocks/>
          </p:cNvSpPr>
          <p:nvPr/>
        </p:nvSpPr>
        <p:spPr bwMode="auto">
          <a:xfrm>
            <a:off x="3429000" y="2514600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3" name="Freeform 21"/>
          <p:cNvSpPr>
            <a:spLocks/>
          </p:cNvSpPr>
          <p:nvPr/>
        </p:nvSpPr>
        <p:spPr bwMode="auto">
          <a:xfrm>
            <a:off x="4648200" y="2514600"/>
            <a:ext cx="18288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76" y="0"/>
              </a:cxn>
              <a:cxn ang="0">
                <a:pos x="1152" y="144"/>
              </a:cxn>
            </a:cxnLst>
            <a:rect l="0" t="0" r="r" b="b"/>
            <a:pathLst>
              <a:path w="1152" h="144">
                <a:moveTo>
                  <a:pt x="0" y="144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32766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35814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38862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41910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8006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51054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54102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1" name="Rectangle 29"/>
          <p:cNvSpPr>
            <a:spLocks noChangeArrowheads="1"/>
          </p:cNvSpPr>
          <p:nvPr/>
        </p:nvSpPr>
        <p:spPr bwMode="auto">
          <a:xfrm>
            <a:off x="5715000" y="4250789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2" name="Rectangle 30"/>
          <p:cNvSpPr>
            <a:spLocks noChangeArrowheads="1"/>
          </p:cNvSpPr>
          <p:nvPr/>
        </p:nvSpPr>
        <p:spPr bwMode="auto">
          <a:xfrm>
            <a:off x="6019800" y="4250789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3" name="Rectangle 31"/>
          <p:cNvSpPr>
            <a:spLocks noChangeArrowheads="1"/>
          </p:cNvSpPr>
          <p:nvPr/>
        </p:nvSpPr>
        <p:spPr bwMode="auto">
          <a:xfrm>
            <a:off x="6324600" y="4250789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2</a:t>
            </a:r>
          </a:p>
        </p:txBody>
      </p:sp>
      <p:sp>
        <p:nvSpPr>
          <p:cNvPr id="23584" name="Rectangle 32"/>
          <p:cNvSpPr>
            <a:spLocks noChangeArrowheads="1"/>
          </p:cNvSpPr>
          <p:nvPr/>
        </p:nvSpPr>
        <p:spPr bwMode="auto">
          <a:xfrm>
            <a:off x="6629400" y="4250789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5" name="Rectangle 33"/>
          <p:cNvSpPr>
            <a:spLocks noChangeArrowheads="1"/>
          </p:cNvSpPr>
          <p:nvPr/>
        </p:nvSpPr>
        <p:spPr bwMode="auto">
          <a:xfrm>
            <a:off x="44958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86" name="Freeform 34"/>
          <p:cNvSpPr>
            <a:spLocks/>
          </p:cNvSpPr>
          <p:nvPr/>
        </p:nvSpPr>
        <p:spPr bwMode="auto">
          <a:xfrm>
            <a:off x="3429000" y="4013951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7" name="Line 35"/>
          <p:cNvSpPr>
            <a:spLocks noChangeShapeType="1"/>
          </p:cNvSpPr>
          <p:nvPr/>
        </p:nvSpPr>
        <p:spPr bwMode="auto">
          <a:xfrm flipV="1">
            <a:off x="4638408" y="3054651"/>
            <a:ext cx="1588" cy="231775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88" name="Text Box 36"/>
          <p:cNvSpPr txBox="1">
            <a:spLocks noChangeArrowheads="1"/>
          </p:cNvSpPr>
          <p:nvPr/>
        </p:nvSpPr>
        <p:spPr bwMode="auto">
          <a:xfrm>
            <a:off x="4482833" y="3208638"/>
            <a:ext cx="292366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p</a:t>
            </a:r>
          </a:p>
        </p:txBody>
      </p:sp>
      <p:sp>
        <p:nvSpPr>
          <p:cNvPr id="23589" name="Freeform 37"/>
          <p:cNvSpPr>
            <a:spLocks/>
          </p:cNvSpPr>
          <p:nvPr/>
        </p:nvSpPr>
        <p:spPr bwMode="auto">
          <a:xfrm>
            <a:off x="2209800" y="2514600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0" name="Text Box 38"/>
          <p:cNvSpPr txBox="1">
            <a:spLocks noChangeArrowheads="1"/>
          </p:cNvSpPr>
          <p:nvPr/>
        </p:nvSpPr>
        <p:spPr bwMode="auto">
          <a:xfrm>
            <a:off x="5731476" y="4236201"/>
            <a:ext cx="285954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2</a:t>
            </a:r>
          </a:p>
        </p:txBody>
      </p:sp>
      <p:sp>
        <p:nvSpPr>
          <p:cNvPr id="23591" name="Freeform 39"/>
          <p:cNvSpPr>
            <a:spLocks/>
          </p:cNvSpPr>
          <p:nvPr/>
        </p:nvSpPr>
        <p:spPr bwMode="auto">
          <a:xfrm>
            <a:off x="4572000" y="4013951"/>
            <a:ext cx="12954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432" y="0"/>
              </a:cxn>
              <a:cxn ang="0">
                <a:pos x="816" y="144"/>
              </a:cxn>
            </a:cxnLst>
            <a:rect l="0" t="0" r="r" b="b"/>
            <a:pathLst>
              <a:path w="816" h="144">
                <a:moveTo>
                  <a:pt x="0" y="144"/>
                </a:moveTo>
                <a:cubicBezTo>
                  <a:pt x="148" y="72"/>
                  <a:pt x="296" y="0"/>
                  <a:pt x="432" y="0"/>
                </a:cubicBezTo>
                <a:cubicBezTo>
                  <a:pt x="568" y="0"/>
                  <a:pt x="692" y="72"/>
                  <a:pt x="816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2" name="Freeform 40"/>
          <p:cNvSpPr>
            <a:spLocks/>
          </p:cNvSpPr>
          <p:nvPr/>
        </p:nvSpPr>
        <p:spPr bwMode="auto">
          <a:xfrm>
            <a:off x="5867400" y="4090151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3" name="Rectangle 41"/>
          <p:cNvSpPr>
            <a:spLocks noChangeArrowheads="1"/>
          </p:cNvSpPr>
          <p:nvPr/>
        </p:nvSpPr>
        <p:spPr bwMode="auto">
          <a:xfrm>
            <a:off x="20574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94" name="Rectangle 42"/>
          <p:cNvSpPr>
            <a:spLocks noChangeArrowheads="1"/>
          </p:cNvSpPr>
          <p:nvPr/>
        </p:nvSpPr>
        <p:spPr bwMode="auto">
          <a:xfrm>
            <a:off x="23622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5" name="Rectangle 43"/>
          <p:cNvSpPr>
            <a:spLocks noChangeArrowheads="1"/>
          </p:cNvSpPr>
          <p:nvPr/>
        </p:nvSpPr>
        <p:spPr bwMode="auto">
          <a:xfrm>
            <a:off x="26670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6" name="Rectangle 44"/>
          <p:cNvSpPr>
            <a:spLocks noChangeArrowheads="1"/>
          </p:cNvSpPr>
          <p:nvPr/>
        </p:nvSpPr>
        <p:spPr bwMode="auto">
          <a:xfrm>
            <a:off x="29718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7" name="Freeform 45"/>
          <p:cNvSpPr>
            <a:spLocks/>
          </p:cNvSpPr>
          <p:nvPr/>
        </p:nvSpPr>
        <p:spPr bwMode="auto">
          <a:xfrm>
            <a:off x="2209800" y="4013951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8" name="Text Box 46"/>
          <p:cNvSpPr txBox="1">
            <a:spLocks noChangeArrowheads="1"/>
          </p:cNvSpPr>
          <p:nvPr/>
        </p:nvSpPr>
        <p:spPr bwMode="auto">
          <a:xfrm>
            <a:off x="688975" y="3685639"/>
            <a:ext cx="1820371" cy="30380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</a:rPr>
              <a:t>addblock</a:t>
            </a:r>
            <a:r>
              <a:rPr lang="en-GB" sz="1600" b="1" dirty="0">
                <a:latin typeface="Courier New" pitchFamily="49" charset="0"/>
              </a:rPr>
              <a:t>(p, 4)</a:t>
            </a:r>
          </a:p>
        </p:txBody>
      </p:sp>
      <p:sp>
        <p:nvSpPr>
          <p:cNvPr id="48" name="Rectangle 7"/>
          <p:cNvSpPr>
            <a:spLocks noChangeArrowheads="1"/>
          </p:cNvSpPr>
          <p:nvPr/>
        </p:nvSpPr>
        <p:spPr bwMode="auto">
          <a:xfrm>
            <a:off x="1752600" y="2756693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9" name="Rectangle 7"/>
          <p:cNvSpPr>
            <a:spLocks noChangeArrowheads="1"/>
          </p:cNvSpPr>
          <p:nvPr/>
        </p:nvSpPr>
        <p:spPr bwMode="auto">
          <a:xfrm>
            <a:off x="1752600" y="4245534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0" name="Rectangle 7"/>
          <p:cNvSpPr>
            <a:spLocks noChangeArrowheads="1"/>
          </p:cNvSpPr>
          <p:nvPr/>
        </p:nvSpPr>
        <p:spPr bwMode="auto">
          <a:xfrm>
            <a:off x="6934200" y="2751438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+mn-lt"/>
              </a:rPr>
              <a:t>0</a:t>
            </a:r>
          </a:p>
        </p:txBody>
      </p: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6934200" y="4250789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+mn-lt"/>
              </a:rPr>
              <a:t>0</a:t>
            </a:r>
          </a:p>
        </p:txBody>
      </p:sp>
      <p:sp>
        <p:nvSpPr>
          <p:cNvPr id="52" name="Freeform 40"/>
          <p:cNvSpPr>
            <a:spLocks/>
          </p:cNvSpPr>
          <p:nvPr/>
        </p:nvSpPr>
        <p:spPr bwMode="auto">
          <a:xfrm>
            <a:off x="6492766" y="4083801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Freeform 40"/>
          <p:cNvSpPr>
            <a:spLocks/>
          </p:cNvSpPr>
          <p:nvPr/>
        </p:nvSpPr>
        <p:spPr bwMode="auto">
          <a:xfrm>
            <a:off x="6492766" y="2578372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0375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>
          <a:xfrm>
            <a:off x="266700" y="493713"/>
            <a:ext cx="86106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Implicit List: Allocating in Free Block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307387" cy="5224462"/>
          </a:xfrm>
          <a:ln/>
        </p:spPr>
        <p:txBody>
          <a:bodyPr/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Allocating in a free block: </a:t>
            </a:r>
            <a:r>
              <a:rPr lang="en-GB" i="1" dirty="0">
                <a:solidFill>
                  <a:srgbClr val="C00000"/>
                </a:solidFill>
              </a:rPr>
              <a:t>splitting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Since allocated space might be smaller than free space, we might want to split the block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413952" y="4910915"/>
            <a:ext cx="8328219" cy="171848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void addblock(ptr p, int len) {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int newsize = ((len + 1) &gt;&gt; 1) &lt;&lt; 1;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round up to even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int oldsize = *p &amp; -2;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mask out low bit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*p = newsize | 1;     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set new length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  </a:t>
            </a:r>
            <a:r>
              <a:rPr lang="en-GB" sz="1600" dirty="0">
                <a:solidFill>
                  <a:schemeClr val="accent2"/>
                </a:solidFill>
                <a:latin typeface="Courier New" pitchFamily="49" charset="0"/>
              </a:rPr>
              <a:t>if (newsize &lt; oldsize)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chemeClr val="accent2"/>
                </a:solidFill>
                <a:latin typeface="Courier New" pitchFamily="49" charset="0"/>
              </a:rPr>
              <a:t>    *(p+newsize) = oldsize - newsize;</a:t>
            </a:r>
            <a:r>
              <a:rPr lang="en-GB" sz="1600" dirty="0">
                <a:latin typeface="Courier New" pitchFamily="49" charset="0"/>
              </a:rPr>
              <a:t>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set length in remaining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}                       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  part of block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20574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23622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26670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2971800" y="2751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32766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35814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38862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191000" y="2751438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48006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51054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54102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57150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60198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6324600" y="2751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2</a:t>
            </a: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6629400" y="2751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4495800" y="2751438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6</a:t>
            </a:r>
          </a:p>
        </p:txBody>
      </p:sp>
      <p:sp>
        <p:nvSpPr>
          <p:cNvPr id="23572" name="Freeform 20"/>
          <p:cNvSpPr>
            <a:spLocks/>
          </p:cNvSpPr>
          <p:nvPr/>
        </p:nvSpPr>
        <p:spPr bwMode="auto">
          <a:xfrm>
            <a:off x="3429000" y="2514600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3" name="Freeform 21"/>
          <p:cNvSpPr>
            <a:spLocks/>
          </p:cNvSpPr>
          <p:nvPr/>
        </p:nvSpPr>
        <p:spPr bwMode="auto">
          <a:xfrm>
            <a:off x="4648200" y="2514600"/>
            <a:ext cx="18288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76" y="0"/>
              </a:cxn>
              <a:cxn ang="0">
                <a:pos x="1152" y="144"/>
              </a:cxn>
            </a:cxnLst>
            <a:rect l="0" t="0" r="r" b="b"/>
            <a:pathLst>
              <a:path w="1152" h="144">
                <a:moveTo>
                  <a:pt x="0" y="144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32766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35814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38862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4191000" y="4250789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8006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51054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54102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1" name="Rectangle 29"/>
          <p:cNvSpPr>
            <a:spLocks noChangeArrowheads="1"/>
          </p:cNvSpPr>
          <p:nvPr/>
        </p:nvSpPr>
        <p:spPr bwMode="auto">
          <a:xfrm>
            <a:off x="5715000" y="4250789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2" name="Rectangle 30"/>
          <p:cNvSpPr>
            <a:spLocks noChangeArrowheads="1"/>
          </p:cNvSpPr>
          <p:nvPr/>
        </p:nvSpPr>
        <p:spPr bwMode="auto">
          <a:xfrm>
            <a:off x="6019800" y="4250789"/>
            <a:ext cx="3048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3" name="Rectangle 31"/>
          <p:cNvSpPr>
            <a:spLocks noChangeArrowheads="1"/>
          </p:cNvSpPr>
          <p:nvPr/>
        </p:nvSpPr>
        <p:spPr bwMode="auto">
          <a:xfrm>
            <a:off x="6324600" y="4250789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2</a:t>
            </a:r>
          </a:p>
        </p:txBody>
      </p:sp>
      <p:sp>
        <p:nvSpPr>
          <p:cNvPr id="23584" name="Rectangle 32"/>
          <p:cNvSpPr>
            <a:spLocks noChangeArrowheads="1"/>
          </p:cNvSpPr>
          <p:nvPr/>
        </p:nvSpPr>
        <p:spPr bwMode="auto">
          <a:xfrm>
            <a:off x="6629400" y="4250789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5" name="Rectangle 33"/>
          <p:cNvSpPr>
            <a:spLocks noChangeArrowheads="1"/>
          </p:cNvSpPr>
          <p:nvPr/>
        </p:nvSpPr>
        <p:spPr bwMode="auto">
          <a:xfrm>
            <a:off x="4495800" y="4250789"/>
            <a:ext cx="304800" cy="304800"/>
          </a:xfrm>
          <a:prstGeom prst="rect">
            <a:avLst/>
          </a:prstGeom>
          <a:solidFill>
            <a:srgbClr val="CCFFCC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86" name="Freeform 34"/>
          <p:cNvSpPr>
            <a:spLocks/>
          </p:cNvSpPr>
          <p:nvPr/>
        </p:nvSpPr>
        <p:spPr bwMode="auto">
          <a:xfrm>
            <a:off x="3429000" y="4013951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87" name="Line 35"/>
          <p:cNvSpPr>
            <a:spLocks noChangeShapeType="1"/>
          </p:cNvSpPr>
          <p:nvPr/>
        </p:nvSpPr>
        <p:spPr bwMode="auto">
          <a:xfrm flipV="1">
            <a:off x="4638408" y="3054651"/>
            <a:ext cx="1588" cy="231775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88" name="Text Box 36"/>
          <p:cNvSpPr txBox="1">
            <a:spLocks noChangeArrowheads="1"/>
          </p:cNvSpPr>
          <p:nvPr/>
        </p:nvSpPr>
        <p:spPr bwMode="auto">
          <a:xfrm>
            <a:off x="4482833" y="3208638"/>
            <a:ext cx="292366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p</a:t>
            </a:r>
          </a:p>
        </p:txBody>
      </p:sp>
      <p:sp>
        <p:nvSpPr>
          <p:cNvPr id="23589" name="Freeform 37"/>
          <p:cNvSpPr>
            <a:spLocks/>
          </p:cNvSpPr>
          <p:nvPr/>
        </p:nvSpPr>
        <p:spPr bwMode="auto">
          <a:xfrm>
            <a:off x="2209800" y="2514600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0" name="Text Box 38"/>
          <p:cNvSpPr txBox="1">
            <a:spLocks noChangeArrowheads="1"/>
          </p:cNvSpPr>
          <p:nvPr/>
        </p:nvSpPr>
        <p:spPr bwMode="auto">
          <a:xfrm>
            <a:off x="5731476" y="4236201"/>
            <a:ext cx="285954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2</a:t>
            </a:r>
          </a:p>
        </p:txBody>
      </p:sp>
      <p:sp>
        <p:nvSpPr>
          <p:cNvPr id="23591" name="Freeform 39"/>
          <p:cNvSpPr>
            <a:spLocks/>
          </p:cNvSpPr>
          <p:nvPr/>
        </p:nvSpPr>
        <p:spPr bwMode="auto">
          <a:xfrm>
            <a:off x="4572000" y="4013951"/>
            <a:ext cx="12954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432" y="0"/>
              </a:cxn>
              <a:cxn ang="0">
                <a:pos x="816" y="144"/>
              </a:cxn>
            </a:cxnLst>
            <a:rect l="0" t="0" r="r" b="b"/>
            <a:pathLst>
              <a:path w="816" h="144">
                <a:moveTo>
                  <a:pt x="0" y="144"/>
                </a:moveTo>
                <a:cubicBezTo>
                  <a:pt x="148" y="72"/>
                  <a:pt x="296" y="0"/>
                  <a:pt x="432" y="0"/>
                </a:cubicBezTo>
                <a:cubicBezTo>
                  <a:pt x="568" y="0"/>
                  <a:pt x="692" y="72"/>
                  <a:pt x="816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2" name="Freeform 40"/>
          <p:cNvSpPr>
            <a:spLocks/>
          </p:cNvSpPr>
          <p:nvPr/>
        </p:nvSpPr>
        <p:spPr bwMode="auto">
          <a:xfrm>
            <a:off x="5867400" y="4090151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3" name="Rectangle 41"/>
          <p:cNvSpPr>
            <a:spLocks noChangeArrowheads="1"/>
          </p:cNvSpPr>
          <p:nvPr/>
        </p:nvSpPr>
        <p:spPr bwMode="auto">
          <a:xfrm>
            <a:off x="20574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23594" name="Rectangle 42"/>
          <p:cNvSpPr>
            <a:spLocks noChangeArrowheads="1"/>
          </p:cNvSpPr>
          <p:nvPr/>
        </p:nvSpPr>
        <p:spPr bwMode="auto">
          <a:xfrm>
            <a:off x="23622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5" name="Rectangle 43"/>
          <p:cNvSpPr>
            <a:spLocks noChangeArrowheads="1"/>
          </p:cNvSpPr>
          <p:nvPr/>
        </p:nvSpPr>
        <p:spPr bwMode="auto">
          <a:xfrm>
            <a:off x="26670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6" name="Rectangle 44"/>
          <p:cNvSpPr>
            <a:spLocks noChangeArrowheads="1"/>
          </p:cNvSpPr>
          <p:nvPr/>
        </p:nvSpPr>
        <p:spPr bwMode="auto">
          <a:xfrm>
            <a:off x="2971800" y="4250789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7" name="Freeform 45"/>
          <p:cNvSpPr>
            <a:spLocks/>
          </p:cNvSpPr>
          <p:nvPr/>
        </p:nvSpPr>
        <p:spPr bwMode="auto">
          <a:xfrm>
            <a:off x="2209800" y="4013951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98" name="Text Box 46"/>
          <p:cNvSpPr txBox="1">
            <a:spLocks noChangeArrowheads="1"/>
          </p:cNvSpPr>
          <p:nvPr/>
        </p:nvSpPr>
        <p:spPr bwMode="auto">
          <a:xfrm>
            <a:off x="688975" y="3685639"/>
            <a:ext cx="1820371" cy="30380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8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</a:rPr>
              <a:t>addblock</a:t>
            </a:r>
            <a:r>
              <a:rPr lang="en-GB" sz="1600" b="1" dirty="0">
                <a:latin typeface="Courier New" pitchFamily="49" charset="0"/>
              </a:rPr>
              <a:t>(p, 4)</a:t>
            </a:r>
          </a:p>
        </p:txBody>
      </p:sp>
      <p:sp>
        <p:nvSpPr>
          <p:cNvPr id="48" name="Rectangle 7"/>
          <p:cNvSpPr>
            <a:spLocks noChangeArrowheads="1"/>
          </p:cNvSpPr>
          <p:nvPr/>
        </p:nvSpPr>
        <p:spPr bwMode="auto">
          <a:xfrm>
            <a:off x="1752600" y="2756693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9" name="Rectangle 7"/>
          <p:cNvSpPr>
            <a:spLocks noChangeArrowheads="1"/>
          </p:cNvSpPr>
          <p:nvPr/>
        </p:nvSpPr>
        <p:spPr bwMode="auto">
          <a:xfrm>
            <a:off x="1752600" y="4245534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0" name="Rectangle 7"/>
          <p:cNvSpPr>
            <a:spLocks noChangeArrowheads="1"/>
          </p:cNvSpPr>
          <p:nvPr/>
        </p:nvSpPr>
        <p:spPr bwMode="auto">
          <a:xfrm>
            <a:off x="6934200" y="2751438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+mn-lt"/>
              </a:rPr>
              <a:t>0</a:t>
            </a:r>
          </a:p>
        </p:txBody>
      </p: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6934200" y="4250789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+mn-lt"/>
              </a:rPr>
              <a:t>0</a:t>
            </a:r>
          </a:p>
        </p:txBody>
      </p:sp>
      <p:sp>
        <p:nvSpPr>
          <p:cNvPr id="52" name="Freeform 40"/>
          <p:cNvSpPr>
            <a:spLocks/>
          </p:cNvSpPr>
          <p:nvPr/>
        </p:nvSpPr>
        <p:spPr bwMode="auto">
          <a:xfrm>
            <a:off x="6492766" y="4083801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Freeform 40"/>
          <p:cNvSpPr>
            <a:spLocks/>
          </p:cNvSpPr>
          <p:nvPr/>
        </p:nvSpPr>
        <p:spPr bwMode="auto">
          <a:xfrm>
            <a:off x="6492766" y="2578372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3363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Grp="1" noChangeArrowheads="1"/>
          </p:cNvSpPr>
          <p:nvPr>
            <p:ph type="title"/>
          </p:nvPr>
        </p:nvSpPr>
        <p:spPr>
          <a:xfrm>
            <a:off x="266700" y="533400"/>
            <a:ext cx="72009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Implicit List: Freeing a Block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307387" cy="4341812"/>
          </a:xfrm>
          <a:ln/>
        </p:spPr>
        <p:txBody>
          <a:bodyPr/>
          <a:lstStyle/>
          <a:p>
            <a:pPr marL="346075" indent="-346075"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r>
              <a:rPr lang="en-GB" dirty="0"/>
              <a:t>Simplest implementation:</a:t>
            </a:r>
          </a:p>
          <a:p>
            <a:pPr lvl="1"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r>
              <a:rPr lang="en-GB" dirty="0"/>
              <a:t>Need only clear the “allocated” flag</a:t>
            </a:r>
          </a:p>
          <a:p>
            <a:pPr marL="1249363" lvl="2" indent="-341313">
              <a:lnSpc>
                <a:spcPct val="101000"/>
              </a:lnSpc>
              <a:spcBef>
                <a:spcPts val="200"/>
              </a:spcBef>
              <a:buSzPct val="90000"/>
              <a:buFont typeface="Wingdings" pitchFamily="2" charset="2"/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r>
              <a:rPr lang="en-GB" dirty="0">
                <a:latin typeface="Courier New" pitchFamily="49" charset="0"/>
              </a:rPr>
              <a:t>  </a:t>
            </a:r>
            <a:r>
              <a:rPr lang="en-GB" sz="1600" b="1" dirty="0">
                <a:latin typeface="Courier New" pitchFamily="49" charset="0"/>
              </a:rPr>
              <a:t>void </a:t>
            </a:r>
            <a:r>
              <a:rPr lang="en-GB" sz="1600" b="1" dirty="0" err="1">
                <a:latin typeface="Courier New" pitchFamily="49" charset="0"/>
              </a:rPr>
              <a:t>free_block(ptr</a:t>
            </a:r>
            <a:r>
              <a:rPr lang="en-GB" sz="1600" b="1" dirty="0">
                <a:latin typeface="Courier New" pitchFamily="49" charset="0"/>
              </a:rPr>
              <a:t> p) { *p = *p &amp; -2 }</a:t>
            </a:r>
          </a:p>
          <a:p>
            <a:pPr lvl="1"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GB" dirty="0"/>
          </a:p>
          <a:p>
            <a:pPr lvl="1"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r>
              <a:rPr lang="en-GB" dirty="0"/>
              <a:t>But can lead to “false fragmentation” </a:t>
            </a:r>
          </a:p>
          <a:p>
            <a:pPr lvl="1">
              <a:buSzPct val="75000"/>
              <a:buFont typeface="Wingdings" pitchFamily="2" charset="2"/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GB" dirty="0"/>
          </a:p>
          <a:p>
            <a:pPr lvl="1">
              <a:buSzPct val="75000"/>
              <a:buFont typeface="Wingdings" pitchFamily="2" charset="2"/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GB" dirty="0"/>
          </a:p>
          <a:p>
            <a:pPr lvl="1">
              <a:buSzPct val="75000"/>
              <a:buFont typeface="Wingdings" pitchFamily="2" charset="2"/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GB" dirty="0"/>
          </a:p>
          <a:p>
            <a:pPr lvl="1">
              <a:buSzPct val="75000"/>
              <a:buFont typeface="Wingdings" pitchFamily="2" charset="2"/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GB" dirty="0"/>
          </a:p>
          <a:p>
            <a:pPr lvl="1">
              <a:buSzPct val="75000"/>
              <a:buFont typeface="Wingdings" pitchFamily="2" charset="2"/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GB" dirty="0"/>
          </a:p>
          <a:p>
            <a:pPr lvl="1">
              <a:buSzPct val="75000"/>
              <a:buFont typeface="Wingdings" pitchFamily="2" charset="2"/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GB" dirty="0"/>
          </a:p>
          <a:p>
            <a:pPr lvl="1">
              <a:buSzPct val="75000"/>
              <a:buFont typeface="Wingdings" pitchFamily="2" charset="2"/>
              <a:buNone/>
              <a:tabLst>
                <a:tab pos="457200" algn="l"/>
                <a:tab pos="984250" algn="l"/>
                <a:tab pos="1898650" algn="l"/>
                <a:tab pos="2813050" algn="l"/>
                <a:tab pos="3727450" algn="l"/>
                <a:tab pos="4641850" algn="l"/>
                <a:tab pos="5556250" algn="l"/>
                <a:tab pos="6470650" algn="l"/>
                <a:tab pos="7385050" algn="l"/>
                <a:tab pos="8299450" algn="l"/>
                <a:tab pos="9213850" algn="l"/>
                <a:tab pos="10128250" algn="l"/>
              </a:tabLst>
            </a:pPr>
            <a:endParaRPr lang="en-GB" dirty="0"/>
          </a:p>
        </p:txBody>
      </p:sp>
      <p:grpSp>
        <p:nvGrpSpPr>
          <p:cNvPr id="54" name="Group 53"/>
          <p:cNvGrpSpPr/>
          <p:nvPr/>
        </p:nvGrpSpPr>
        <p:grpSpPr>
          <a:xfrm>
            <a:off x="2133600" y="3167513"/>
            <a:ext cx="4876800" cy="541638"/>
            <a:chOff x="2133600" y="3167513"/>
            <a:chExt cx="4876800" cy="541638"/>
          </a:xfrm>
        </p:grpSpPr>
        <p:sp>
          <p:nvSpPr>
            <p:cNvPr id="24579" name="Rectangle 3"/>
            <p:cNvSpPr>
              <a:spLocks noChangeArrowheads="1"/>
            </p:cNvSpPr>
            <p:nvPr/>
          </p:nvSpPr>
          <p:spPr bwMode="auto">
            <a:xfrm>
              <a:off x="3352800" y="3404351"/>
              <a:ext cx="3048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rgbClr val="000066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4</a:t>
              </a:r>
            </a:p>
          </p:txBody>
        </p:sp>
        <p:sp>
          <p:nvSpPr>
            <p:cNvPr id="24580" name="Rectangle 4"/>
            <p:cNvSpPr>
              <a:spLocks noChangeArrowheads="1"/>
            </p:cNvSpPr>
            <p:nvPr/>
          </p:nvSpPr>
          <p:spPr bwMode="auto">
            <a:xfrm>
              <a:off x="3657600" y="3404351"/>
              <a:ext cx="3048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rgbClr val="000066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1" name="Rectangle 5"/>
            <p:cNvSpPr>
              <a:spLocks noChangeArrowheads="1"/>
            </p:cNvSpPr>
            <p:nvPr/>
          </p:nvSpPr>
          <p:spPr bwMode="auto">
            <a:xfrm>
              <a:off x="3962400" y="3404351"/>
              <a:ext cx="3048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rgbClr val="000066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2" name="Rectangle 6"/>
            <p:cNvSpPr>
              <a:spLocks noChangeArrowheads="1"/>
            </p:cNvSpPr>
            <p:nvPr/>
          </p:nvSpPr>
          <p:spPr bwMode="auto">
            <a:xfrm>
              <a:off x="4267200" y="3404351"/>
              <a:ext cx="3048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rgbClr val="000066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3" name="Rectangle 7"/>
            <p:cNvSpPr>
              <a:spLocks noChangeArrowheads="1"/>
            </p:cNvSpPr>
            <p:nvPr/>
          </p:nvSpPr>
          <p:spPr bwMode="auto">
            <a:xfrm>
              <a:off x="4876800" y="3404351"/>
              <a:ext cx="3048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rgbClr val="000066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4" name="Rectangle 8"/>
            <p:cNvSpPr>
              <a:spLocks noChangeArrowheads="1"/>
            </p:cNvSpPr>
            <p:nvPr/>
          </p:nvSpPr>
          <p:spPr bwMode="auto">
            <a:xfrm>
              <a:off x="5181600" y="3404351"/>
              <a:ext cx="3048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rgbClr val="000066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5" name="Rectangle 9"/>
            <p:cNvSpPr>
              <a:spLocks noChangeArrowheads="1"/>
            </p:cNvSpPr>
            <p:nvPr/>
          </p:nvSpPr>
          <p:spPr bwMode="auto">
            <a:xfrm>
              <a:off x="5486400" y="3404351"/>
              <a:ext cx="3048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rgbClr val="000066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4586" name="Rectangle 10"/>
            <p:cNvSpPr>
              <a:spLocks noChangeArrowheads="1"/>
            </p:cNvSpPr>
            <p:nvPr/>
          </p:nvSpPr>
          <p:spPr bwMode="auto">
            <a:xfrm>
              <a:off x="5791200" y="34043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sz="1600" dirty="0">
                  <a:latin typeface="+mn-lt"/>
                </a:rPr>
                <a:t>2</a:t>
              </a:r>
            </a:p>
          </p:txBody>
        </p:sp>
        <p:sp>
          <p:nvSpPr>
            <p:cNvPr id="24587" name="Rectangle 11"/>
            <p:cNvSpPr>
              <a:spLocks noChangeArrowheads="1"/>
            </p:cNvSpPr>
            <p:nvPr/>
          </p:nvSpPr>
          <p:spPr bwMode="auto">
            <a:xfrm>
              <a:off x="6096000" y="34043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8" name="Rectangle 12"/>
            <p:cNvSpPr>
              <a:spLocks noChangeArrowheads="1"/>
            </p:cNvSpPr>
            <p:nvPr/>
          </p:nvSpPr>
          <p:spPr bwMode="auto">
            <a:xfrm>
              <a:off x="6400800" y="3404351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24589" name="Rectangle 13"/>
            <p:cNvSpPr>
              <a:spLocks noChangeArrowheads="1"/>
            </p:cNvSpPr>
            <p:nvPr/>
          </p:nvSpPr>
          <p:spPr bwMode="auto">
            <a:xfrm>
              <a:off x="6705600" y="3404351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0" name="Rectangle 14"/>
            <p:cNvSpPr>
              <a:spLocks noChangeArrowheads="1"/>
            </p:cNvSpPr>
            <p:nvPr/>
          </p:nvSpPr>
          <p:spPr bwMode="auto">
            <a:xfrm>
              <a:off x="4572000" y="3404351"/>
              <a:ext cx="3048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rgbClr val="000066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4</a:t>
              </a:r>
            </a:p>
          </p:txBody>
        </p:sp>
        <p:sp>
          <p:nvSpPr>
            <p:cNvPr id="24591" name="Freeform 15"/>
            <p:cNvSpPr>
              <a:spLocks/>
            </p:cNvSpPr>
            <p:nvPr/>
          </p:nvSpPr>
          <p:spPr bwMode="auto">
            <a:xfrm>
              <a:off x="3505200" y="3167513"/>
              <a:ext cx="1219200" cy="2286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384" y="0"/>
                </a:cxn>
                <a:cxn ang="0">
                  <a:pos x="768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3" name="Freeform 17"/>
            <p:cNvSpPr>
              <a:spLocks/>
            </p:cNvSpPr>
            <p:nvPr/>
          </p:nvSpPr>
          <p:spPr bwMode="auto">
            <a:xfrm>
              <a:off x="4648200" y="3167513"/>
              <a:ext cx="1295400" cy="2286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432" y="0"/>
                </a:cxn>
                <a:cxn ang="0">
                  <a:pos x="816" y="144"/>
                </a:cxn>
              </a:cxnLst>
              <a:rect l="0" t="0" r="r" b="b"/>
              <a:pathLst>
                <a:path w="816" h="144">
                  <a:moveTo>
                    <a:pt x="0" y="144"/>
                  </a:moveTo>
                  <a:cubicBezTo>
                    <a:pt x="148" y="72"/>
                    <a:pt x="296" y="0"/>
                    <a:pt x="432" y="0"/>
                  </a:cubicBezTo>
                  <a:cubicBezTo>
                    <a:pt x="568" y="0"/>
                    <a:pt x="692" y="72"/>
                    <a:pt x="816" y="144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4" name="Freeform 18"/>
            <p:cNvSpPr>
              <a:spLocks/>
            </p:cNvSpPr>
            <p:nvPr/>
          </p:nvSpPr>
          <p:spPr bwMode="auto">
            <a:xfrm>
              <a:off x="5943600" y="3243713"/>
              <a:ext cx="609600" cy="152400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192" y="0"/>
                </a:cxn>
                <a:cxn ang="0">
                  <a:pos x="384" y="96"/>
                </a:cxn>
              </a:cxnLst>
              <a:rect l="0" t="0" r="r" b="b"/>
              <a:pathLst>
                <a:path w="384" h="96">
                  <a:moveTo>
                    <a:pt x="0" y="96"/>
                  </a:moveTo>
                  <a:cubicBezTo>
                    <a:pt x="64" y="48"/>
                    <a:pt x="128" y="0"/>
                    <a:pt x="192" y="0"/>
                  </a:cubicBezTo>
                  <a:cubicBezTo>
                    <a:pt x="256" y="0"/>
                    <a:pt x="320" y="48"/>
                    <a:pt x="384" y="96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4611" name="Rectangle 35"/>
            <p:cNvSpPr>
              <a:spLocks noChangeArrowheads="1"/>
            </p:cNvSpPr>
            <p:nvPr/>
          </p:nvSpPr>
          <p:spPr bwMode="auto">
            <a:xfrm>
              <a:off x="2133600" y="34043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4</a:t>
              </a:r>
            </a:p>
          </p:txBody>
        </p:sp>
        <p:sp>
          <p:nvSpPr>
            <p:cNvPr id="24612" name="Rectangle 36"/>
            <p:cNvSpPr>
              <a:spLocks noChangeArrowheads="1"/>
            </p:cNvSpPr>
            <p:nvPr/>
          </p:nvSpPr>
          <p:spPr bwMode="auto">
            <a:xfrm>
              <a:off x="2438400" y="34043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3" name="Rectangle 37"/>
            <p:cNvSpPr>
              <a:spLocks noChangeArrowheads="1"/>
            </p:cNvSpPr>
            <p:nvPr/>
          </p:nvSpPr>
          <p:spPr bwMode="auto">
            <a:xfrm>
              <a:off x="2743200" y="34043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4" name="Rectangle 38"/>
            <p:cNvSpPr>
              <a:spLocks noChangeArrowheads="1"/>
            </p:cNvSpPr>
            <p:nvPr/>
          </p:nvSpPr>
          <p:spPr bwMode="auto">
            <a:xfrm>
              <a:off x="3048000" y="34043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5" name="Freeform 39"/>
            <p:cNvSpPr>
              <a:spLocks/>
            </p:cNvSpPr>
            <p:nvPr/>
          </p:nvSpPr>
          <p:spPr bwMode="auto">
            <a:xfrm>
              <a:off x="2286000" y="3167513"/>
              <a:ext cx="1219200" cy="2286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384" y="0"/>
                </a:cxn>
                <a:cxn ang="0">
                  <a:pos x="768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825500" y="3707564"/>
            <a:ext cx="6184900" cy="1016836"/>
            <a:chOff x="825500" y="3707564"/>
            <a:chExt cx="6184900" cy="1016836"/>
          </a:xfrm>
        </p:grpSpPr>
        <p:sp>
          <p:nvSpPr>
            <p:cNvPr id="24595" name="Text Box 19"/>
            <p:cNvSpPr txBox="1">
              <a:spLocks noChangeArrowheads="1"/>
            </p:cNvSpPr>
            <p:nvPr/>
          </p:nvSpPr>
          <p:spPr bwMode="auto">
            <a:xfrm>
              <a:off x="825500" y="3863139"/>
              <a:ext cx="1045777" cy="32598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ourier New" pitchFamily="49" charset="0"/>
                </a:rPr>
                <a:t>free(p)</a:t>
              </a:r>
            </a:p>
          </p:txBody>
        </p:sp>
        <p:sp>
          <p:nvSpPr>
            <p:cNvPr id="24596" name="Text Box 20"/>
            <p:cNvSpPr txBox="1">
              <a:spLocks noChangeArrowheads="1"/>
            </p:cNvSpPr>
            <p:nvPr/>
          </p:nvSpPr>
          <p:spPr bwMode="auto">
            <a:xfrm>
              <a:off x="4573588" y="3785351"/>
              <a:ext cx="305190" cy="32964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ourier New" pitchFamily="49" charset="0"/>
                </a:rPr>
                <a:t>p</a:t>
              </a:r>
            </a:p>
          </p:txBody>
        </p:sp>
        <p:sp>
          <p:nvSpPr>
            <p:cNvPr id="24597" name="Line 21"/>
            <p:cNvSpPr>
              <a:spLocks noChangeShapeType="1"/>
            </p:cNvSpPr>
            <p:nvPr/>
          </p:nvSpPr>
          <p:spPr bwMode="auto">
            <a:xfrm flipV="1">
              <a:off x="4724400" y="3707564"/>
              <a:ext cx="1588" cy="155575"/>
            </a:xfrm>
            <a:prstGeom prst="line">
              <a:avLst/>
            </a:prstGeom>
            <a:noFill/>
            <a:ln w="25560">
              <a:solidFill>
                <a:srgbClr val="000066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598" name="Rectangle 22"/>
            <p:cNvSpPr>
              <a:spLocks noChangeArrowheads="1"/>
            </p:cNvSpPr>
            <p:nvPr/>
          </p:nvSpPr>
          <p:spPr bwMode="auto">
            <a:xfrm>
              <a:off x="21336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4</a:t>
              </a:r>
            </a:p>
          </p:txBody>
        </p:sp>
        <p:sp>
          <p:nvSpPr>
            <p:cNvPr id="24599" name="Rectangle 23"/>
            <p:cNvSpPr>
              <a:spLocks noChangeArrowheads="1"/>
            </p:cNvSpPr>
            <p:nvPr/>
          </p:nvSpPr>
          <p:spPr bwMode="auto">
            <a:xfrm>
              <a:off x="24384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0" name="Rectangle 24"/>
            <p:cNvSpPr>
              <a:spLocks noChangeArrowheads="1"/>
            </p:cNvSpPr>
            <p:nvPr/>
          </p:nvSpPr>
          <p:spPr bwMode="auto">
            <a:xfrm>
              <a:off x="27432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1" name="Rectangle 25"/>
            <p:cNvSpPr>
              <a:spLocks noChangeArrowheads="1"/>
            </p:cNvSpPr>
            <p:nvPr/>
          </p:nvSpPr>
          <p:spPr bwMode="auto">
            <a:xfrm>
              <a:off x="30480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2" name="Rectangle 26"/>
            <p:cNvSpPr>
              <a:spLocks noChangeArrowheads="1"/>
            </p:cNvSpPr>
            <p:nvPr/>
          </p:nvSpPr>
          <p:spPr bwMode="auto">
            <a:xfrm>
              <a:off x="3352800" y="4394951"/>
              <a:ext cx="3048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4</a:t>
              </a:r>
            </a:p>
          </p:txBody>
        </p:sp>
        <p:sp>
          <p:nvSpPr>
            <p:cNvPr id="24603" name="Rectangle 27"/>
            <p:cNvSpPr>
              <a:spLocks noChangeArrowheads="1"/>
            </p:cNvSpPr>
            <p:nvPr/>
          </p:nvSpPr>
          <p:spPr bwMode="auto">
            <a:xfrm>
              <a:off x="3657600" y="4394951"/>
              <a:ext cx="3048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4" name="Rectangle 28"/>
            <p:cNvSpPr>
              <a:spLocks noChangeArrowheads="1"/>
            </p:cNvSpPr>
            <p:nvPr/>
          </p:nvSpPr>
          <p:spPr bwMode="auto">
            <a:xfrm>
              <a:off x="3962400" y="4394951"/>
              <a:ext cx="3048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5" name="Rectangle 29"/>
            <p:cNvSpPr>
              <a:spLocks noChangeArrowheads="1"/>
            </p:cNvSpPr>
            <p:nvPr/>
          </p:nvSpPr>
          <p:spPr bwMode="auto">
            <a:xfrm>
              <a:off x="4267200" y="4394951"/>
              <a:ext cx="304800" cy="304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6" name="Rectangle 30"/>
            <p:cNvSpPr>
              <a:spLocks noChangeArrowheads="1"/>
            </p:cNvSpPr>
            <p:nvPr/>
          </p:nvSpPr>
          <p:spPr bwMode="auto">
            <a:xfrm>
              <a:off x="6400800" y="4394951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24607" name="Rectangle 31"/>
            <p:cNvSpPr>
              <a:spLocks noChangeArrowheads="1"/>
            </p:cNvSpPr>
            <p:nvPr/>
          </p:nvSpPr>
          <p:spPr bwMode="auto">
            <a:xfrm>
              <a:off x="6705600" y="4394951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8" name="Freeform 32"/>
            <p:cNvSpPr>
              <a:spLocks/>
            </p:cNvSpPr>
            <p:nvPr/>
          </p:nvSpPr>
          <p:spPr bwMode="auto">
            <a:xfrm>
              <a:off x="3505200" y="4158113"/>
              <a:ext cx="1219200" cy="2286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384" y="0"/>
                </a:cxn>
                <a:cxn ang="0">
                  <a:pos x="768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9" name="Freeform 33"/>
            <p:cNvSpPr>
              <a:spLocks/>
            </p:cNvSpPr>
            <p:nvPr/>
          </p:nvSpPr>
          <p:spPr bwMode="auto">
            <a:xfrm>
              <a:off x="2286000" y="4158113"/>
              <a:ext cx="1219200" cy="2286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384" y="0"/>
                </a:cxn>
                <a:cxn ang="0">
                  <a:pos x="768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6" name="Rectangle 40"/>
            <p:cNvSpPr>
              <a:spLocks noChangeArrowheads="1"/>
            </p:cNvSpPr>
            <p:nvPr/>
          </p:nvSpPr>
          <p:spPr bwMode="auto">
            <a:xfrm>
              <a:off x="48768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7" name="Rectangle 41"/>
            <p:cNvSpPr>
              <a:spLocks noChangeArrowheads="1"/>
            </p:cNvSpPr>
            <p:nvPr/>
          </p:nvSpPr>
          <p:spPr bwMode="auto">
            <a:xfrm>
              <a:off x="51816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8" name="Rectangle 42"/>
            <p:cNvSpPr>
              <a:spLocks noChangeArrowheads="1"/>
            </p:cNvSpPr>
            <p:nvPr/>
          </p:nvSpPr>
          <p:spPr bwMode="auto">
            <a:xfrm>
              <a:off x="54864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9" name="Rectangle 43"/>
            <p:cNvSpPr>
              <a:spLocks noChangeArrowheads="1"/>
            </p:cNvSpPr>
            <p:nvPr/>
          </p:nvSpPr>
          <p:spPr bwMode="auto">
            <a:xfrm>
              <a:off x="57912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0" name="Rectangle 44"/>
            <p:cNvSpPr>
              <a:spLocks noChangeArrowheads="1"/>
            </p:cNvSpPr>
            <p:nvPr/>
          </p:nvSpPr>
          <p:spPr bwMode="auto">
            <a:xfrm>
              <a:off x="60960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1" name="Rectangle 45"/>
            <p:cNvSpPr>
              <a:spLocks noChangeArrowheads="1"/>
            </p:cNvSpPr>
            <p:nvPr/>
          </p:nvSpPr>
          <p:spPr bwMode="auto">
            <a:xfrm>
              <a:off x="4572000" y="4394951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4</a:t>
              </a:r>
            </a:p>
          </p:txBody>
        </p:sp>
        <p:sp>
          <p:nvSpPr>
            <p:cNvPr id="24622" name="Text Box 46"/>
            <p:cNvSpPr txBox="1">
              <a:spLocks noChangeArrowheads="1"/>
            </p:cNvSpPr>
            <p:nvPr/>
          </p:nvSpPr>
          <p:spPr bwMode="auto">
            <a:xfrm>
              <a:off x="5776913" y="4388601"/>
              <a:ext cx="285954" cy="335799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24623" name="Freeform 47"/>
            <p:cNvSpPr>
              <a:spLocks/>
            </p:cNvSpPr>
            <p:nvPr/>
          </p:nvSpPr>
          <p:spPr bwMode="auto">
            <a:xfrm>
              <a:off x="4648200" y="4158113"/>
              <a:ext cx="1295400" cy="2286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432" y="0"/>
                </a:cxn>
                <a:cxn ang="0">
                  <a:pos x="816" y="144"/>
                </a:cxn>
              </a:cxnLst>
              <a:rect l="0" t="0" r="r" b="b"/>
              <a:pathLst>
                <a:path w="816" h="144">
                  <a:moveTo>
                    <a:pt x="0" y="144"/>
                  </a:moveTo>
                  <a:cubicBezTo>
                    <a:pt x="148" y="72"/>
                    <a:pt x="296" y="0"/>
                    <a:pt x="432" y="0"/>
                  </a:cubicBezTo>
                  <a:cubicBezTo>
                    <a:pt x="568" y="0"/>
                    <a:pt x="692" y="72"/>
                    <a:pt x="816" y="144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4" name="Freeform 48"/>
            <p:cNvSpPr>
              <a:spLocks/>
            </p:cNvSpPr>
            <p:nvPr/>
          </p:nvSpPr>
          <p:spPr bwMode="auto">
            <a:xfrm>
              <a:off x="5943600" y="4234313"/>
              <a:ext cx="609600" cy="152400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192" y="0"/>
                </a:cxn>
                <a:cxn ang="0">
                  <a:pos x="384" y="96"/>
                </a:cxn>
              </a:cxnLst>
              <a:rect l="0" t="0" r="r" b="b"/>
              <a:pathLst>
                <a:path w="384" h="96">
                  <a:moveTo>
                    <a:pt x="0" y="96"/>
                  </a:moveTo>
                  <a:cubicBezTo>
                    <a:pt x="64" y="48"/>
                    <a:pt x="128" y="0"/>
                    <a:pt x="192" y="0"/>
                  </a:cubicBezTo>
                  <a:cubicBezTo>
                    <a:pt x="256" y="0"/>
                    <a:pt x="320" y="48"/>
                    <a:pt x="384" y="96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625" name="Text Box 49"/>
          <p:cNvSpPr txBox="1">
            <a:spLocks noChangeArrowheads="1"/>
          </p:cNvSpPr>
          <p:nvPr/>
        </p:nvSpPr>
        <p:spPr bwMode="auto">
          <a:xfrm>
            <a:off x="841375" y="4967828"/>
            <a:ext cx="1786364" cy="32964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</a:rPr>
              <a:t>malloc(5*SIZ)</a:t>
            </a:r>
          </a:p>
        </p:txBody>
      </p:sp>
      <p:sp>
        <p:nvSpPr>
          <p:cNvPr id="24626" name="Text Box 50"/>
          <p:cNvSpPr txBox="1">
            <a:spLocks noChangeArrowheads="1"/>
          </p:cNvSpPr>
          <p:nvPr/>
        </p:nvSpPr>
        <p:spPr bwMode="auto">
          <a:xfrm>
            <a:off x="2728743" y="4890302"/>
            <a:ext cx="925616" cy="47122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2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i="1" dirty="0">
                <a:solidFill>
                  <a:srgbClr val="C00000"/>
                </a:solidFill>
                <a:latin typeface="Calibri" pitchFamily="34" charset="0"/>
              </a:rPr>
              <a:t>Yike</a:t>
            </a:r>
            <a:r>
              <a:rPr lang="en-GB" b="1" i="1" dirty="0">
                <a:solidFill>
                  <a:srgbClr val="C00000"/>
                </a:solidFill>
                <a:latin typeface="Calibri" pitchFamily="34" charset="0"/>
              </a:rPr>
              <a:t>s!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34000" y="5079753"/>
            <a:ext cx="37561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GB" i="1" dirty="0">
                <a:solidFill>
                  <a:srgbClr val="C00000"/>
                </a:solidFill>
                <a:latin typeface="+mj-lt"/>
              </a:rPr>
              <a:t>There is enough contiguous</a:t>
            </a:r>
          </a:p>
          <a:p>
            <a:pPr marL="0" lvl="1"/>
            <a:r>
              <a:rPr lang="en-GB" i="1" dirty="0">
                <a:solidFill>
                  <a:srgbClr val="C00000"/>
                </a:solidFill>
                <a:latin typeface="+mj-lt"/>
              </a:rPr>
              <a:t>free space, but the allocator</a:t>
            </a:r>
            <a:br>
              <a:rPr lang="en-GB" i="1" dirty="0">
                <a:solidFill>
                  <a:srgbClr val="C00000"/>
                </a:solidFill>
                <a:latin typeface="+mj-lt"/>
              </a:rPr>
            </a:br>
            <a:r>
              <a:rPr lang="en-GB" i="1" dirty="0">
                <a:solidFill>
                  <a:srgbClr val="C00000"/>
                </a:solidFill>
                <a:latin typeface="+mj-lt"/>
              </a:rPr>
              <a:t>won’t be able to find it</a:t>
            </a:r>
          </a:p>
          <a:p>
            <a:endParaRPr lang="en-US" sz="1800" dirty="0">
              <a:latin typeface="+mj-lt"/>
            </a:endParaRPr>
          </a:p>
        </p:txBody>
      </p:sp>
      <p:sp>
        <p:nvSpPr>
          <p:cNvPr id="55" name="Rectangle 7"/>
          <p:cNvSpPr>
            <a:spLocks noChangeArrowheads="1"/>
          </p:cNvSpPr>
          <p:nvPr/>
        </p:nvSpPr>
        <p:spPr bwMode="auto">
          <a:xfrm>
            <a:off x="1828410" y="3402764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" name="Rectangle 7"/>
          <p:cNvSpPr>
            <a:spLocks noChangeArrowheads="1"/>
          </p:cNvSpPr>
          <p:nvPr/>
        </p:nvSpPr>
        <p:spPr bwMode="auto">
          <a:xfrm>
            <a:off x="1822066" y="4386713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7" name="Rectangle 7"/>
          <p:cNvSpPr>
            <a:spLocks noChangeArrowheads="1"/>
          </p:cNvSpPr>
          <p:nvPr/>
        </p:nvSpPr>
        <p:spPr bwMode="auto">
          <a:xfrm>
            <a:off x="7010400" y="3404351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+mn-lt"/>
              </a:rPr>
              <a:t>0</a:t>
            </a:r>
          </a:p>
        </p:txBody>
      </p:sp>
      <p:sp>
        <p:nvSpPr>
          <p:cNvPr id="58" name="Rectangle 7"/>
          <p:cNvSpPr>
            <a:spLocks noChangeArrowheads="1"/>
          </p:cNvSpPr>
          <p:nvPr/>
        </p:nvSpPr>
        <p:spPr bwMode="auto">
          <a:xfrm>
            <a:off x="7010400" y="4394951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+mn-lt"/>
              </a:rPr>
              <a:t>0</a:t>
            </a:r>
          </a:p>
        </p:txBody>
      </p:sp>
      <p:sp>
        <p:nvSpPr>
          <p:cNvPr id="59" name="Freeform 40"/>
          <p:cNvSpPr>
            <a:spLocks/>
          </p:cNvSpPr>
          <p:nvPr/>
        </p:nvSpPr>
        <p:spPr bwMode="auto">
          <a:xfrm>
            <a:off x="6555828" y="3239294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Freeform 40"/>
          <p:cNvSpPr>
            <a:spLocks/>
          </p:cNvSpPr>
          <p:nvPr/>
        </p:nvSpPr>
        <p:spPr bwMode="auto">
          <a:xfrm>
            <a:off x="6566338" y="4216134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3198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25" grpId="0"/>
      <p:bldP spid="24626" grpId="0"/>
      <p:bldP spid="53" grpId="0"/>
      <p:bldP spid="56" grpId="0" animBg="1"/>
      <p:bldP spid="58" grpId="0" animBg="1"/>
      <p:bldP spid="6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67691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Implicit List: Coalescing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19689" y="1220788"/>
            <a:ext cx="8307387" cy="5486400"/>
          </a:xfrm>
          <a:ln>
            <a:prstDash val="sysDash"/>
          </a:ln>
        </p:spPr>
        <p:txBody>
          <a:bodyPr/>
          <a:lstStyle/>
          <a:p>
            <a:pPr>
              <a:lnSpc>
                <a:spcPct val="83000"/>
              </a:lnSpc>
              <a:spcBef>
                <a:spcPts val="17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Join </a:t>
            </a:r>
            <a:r>
              <a:rPr lang="en-GB" i="1" dirty="0">
                <a:solidFill>
                  <a:srgbClr val="C00000"/>
                </a:solidFill>
              </a:rPr>
              <a:t>(coalesce) </a:t>
            </a:r>
            <a:r>
              <a:rPr lang="en-GB" dirty="0"/>
              <a:t>with next/previous blocks, if they are free</a:t>
            </a:r>
          </a:p>
          <a:p>
            <a:pPr lvl="1">
              <a:lnSpc>
                <a:spcPct val="88000"/>
              </a:lnSpc>
              <a:spcBef>
                <a:spcPts val="7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Coalescing with next block</a:t>
            </a:r>
          </a:p>
          <a:p>
            <a:pPr lvl="1">
              <a:lnSpc>
                <a:spcPct val="88000"/>
              </a:lnSpc>
              <a:spcBef>
                <a:spcPts val="7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 marL="1144588" lvl="2" indent="-236538">
              <a:lnSpc>
                <a:spcPct val="91000"/>
              </a:lnSpc>
              <a:buSzPct val="90000"/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dirty="0">
                <a:latin typeface="Courier New" pitchFamily="49" charset="0"/>
              </a:rPr>
              <a:t>  </a:t>
            </a:r>
            <a:r>
              <a:rPr lang="en-GB" b="0" dirty="0">
                <a:latin typeface="Courier New" pitchFamily="49" charset="0"/>
              </a:rPr>
              <a:t> </a:t>
            </a:r>
          </a:p>
          <a:p>
            <a:pPr lvl="1">
              <a:lnSpc>
                <a:spcPct val="85000"/>
              </a:lnSpc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b="0" dirty="0">
              <a:latin typeface="Courier New" pitchFamily="49" charset="0"/>
            </a:endParaRPr>
          </a:p>
          <a:p>
            <a:pPr lvl="1">
              <a:lnSpc>
                <a:spcPct val="85000"/>
              </a:lnSpc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b="0" dirty="0">
              <a:latin typeface="Courier New" pitchFamily="49" charset="0"/>
            </a:endParaRPr>
          </a:p>
          <a:p>
            <a:pPr lvl="1">
              <a:lnSpc>
                <a:spcPct val="85000"/>
              </a:lnSpc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b="0" dirty="0">
              <a:latin typeface="Courier New" pitchFamily="49" charset="0"/>
            </a:endParaRPr>
          </a:p>
          <a:p>
            <a:pPr lvl="1">
              <a:lnSpc>
                <a:spcPct val="85000"/>
              </a:lnSpc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b="0" dirty="0">
              <a:latin typeface="Courier New" pitchFamily="49" charset="0"/>
            </a:endParaRPr>
          </a:p>
          <a:p>
            <a:pPr lvl="1">
              <a:lnSpc>
                <a:spcPct val="85000"/>
              </a:lnSpc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b="0" dirty="0">
              <a:latin typeface="Courier New" pitchFamily="49" charset="0"/>
            </a:endParaRPr>
          </a:p>
          <a:p>
            <a:pPr lvl="1">
              <a:lnSpc>
                <a:spcPct val="88000"/>
              </a:lnSpc>
              <a:spcBef>
                <a:spcPts val="7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400" dirty="0"/>
          </a:p>
          <a:p>
            <a:pPr lvl="1">
              <a:lnSpc>
                <a:spcPct val="88000"/>
              </a:lnSpc>
              <a:spcBef>
                <a:spcPts val="7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400" dirty="0"/>
          </a:p>
          <a:p>
            <a:pPr lvl="1">
              <a:lnSpc>
                <a:spcPct val="88000"/>
              </a:lnSpc>
              <a:spcBef>
                <a:spcPts val="7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400" dirty="0"/>
          </a:p>
          <a:p>
            <a:pPr lvl="1">
              <a:lnSpc>
                <a:spcPct val="88000"/>
              </a:lnSpc>
              <a:spcBef>
                <a:spcPts val="750"/>
              </a:spcBef>
              <a:buFont typeface="Wingdings" pitchFamily="2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2400" dirty="0"/>
          </a:p>
          <a:p>
            <a:pPr lvl="1">
              <a:lnSpc>
                <a:spcPct val="88000"/>
              </a:lnSpc>
              <a:spcBef>
                <a:spcPts val="7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But how do we coalesce with </a:t>
            </a:r>
            <a:r>
              <a:rPr lang="en-GB" i="1" dirty="0"/>
              <a:t>previous</a:t>
            </a:r>
            <a:r>
              <a:rPr lang="en-GB" dirty="0"/>
              <a:t> block?</a:t>
            </a:r>
          </a:p>
        </p:txBody>
      </p:sp>
      <p:sp>
        <p:nvSpPr>
          <p:cNvPr id="25647" name="Rectangle 47"/>
          <p:cNvSpPr>
            <a:spLocks noChangeArrowheads="1"/>
          </p:cNvSpPr>
          <p:nvPr/>
        </p:nvSpPr>
        <p:spPr bwMode="auto">
          <a:xfrm>
            <a:off x="1981200" y="2597150"/>
            <a:ext cx="6477000" cy="16637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48" name="Rectangle 48"/>
          <p:cNvSpPr>
            <a:spLocks noChangeArrowheads="1"/>
          </p:cNvSpPr>
          <p:nvPr/>
        </p:nvSpPr>
        <p:spPr bwMode="auto">
          <a:xfrm>
            <a:off x="1074738" y="2597150"/>
            <a:ext cx="7535862" cy="3540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649" name="Text Box 49"/>
          <p:cNvSpPr txBox="1">
            <a:spLocks noChangeArrowheads="1"/>
          </p:cNvSpPr>
          <p:nvPr/>
        </p:nvSpPr>
        <p:spPr bwMode="auto">
          <a:xfrm>
            <a:off x="887027" y="3999389"/>
            <a:ext cx="6353319" cy="148701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buClr>
                <a:srgbClr val="005400"/>
              </a:buClr>
              <a:buSzPct val="90000"/>
              <a:buFont typeface="Wingdings" pitchFamily="2" charset="2"/>
              <a:buNone/>
              <a:tabLst>
                <a:tab pos="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 pitchFamily="49" charset="0"/>
              </a:rPr>
              <a:t>void free_block(ptr p) {</a:t>
            </a:r>
            <a:br>
              <a:rPr lang="en-GB" sz="1600" dirty="0">
                <a:latin typeface="Courier New" pitchFamily="49" charset="0"/>
              </a:rPr>
            </a:br>
            <a:r>
              <a:rPr lang="en-GB" sz="1600" dirty="0">
                <a:latin typeface="Courier New" pitchFamily="49" charset="0"/>
              </a:rPr>
              <a:t>    *p = *p &amp; -2;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clear allocated flag</a:t>
            </a:r>
            <a:br>
              <a:rPr lang="en-GB" sz="1600" dirty="0">
                <a:solidFill>
                  <a:srgbClr val="990000"/>
                </a:solidFill>
                <a:latin typeface="Courier New" pitchFamily="49" charset="0"/>
              </a:rPr>
            </a:br>
            <a:r>
              <a:rPr lang="en-GB" sz="1600" dirty="0">
                <a:latin typeface="Courier New" pitchFamily="49" charset="0"/>
              </a:rPr>
              <a:t>    next = p + *p;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find next block</a:t>
            </a:r>
            <a:r>
              <a:rPr lang="en-GB" sz="1600" dirty="0">
                <a:latin typeface="Courier New" pitchFamily="49" charset="0"/>
              </a:rPr>
              <a:t/>
            </a:r>
            <a:br>
              <a:rPr lang="en-GB" sz="1600" dirty="0">
                <a:latin typeface="Courier New" pitchFamily="49" charset="0"/>
              </a:rPr>
            </a:br>
            <a:r>
              <a:rPr lang="en-GB" sz="1600" dirty="0">
                <a:latin typeface="Courier New" pitchFamily="49" charset="0"/>
              </a:rPr>
              <a:t>    if ((*next &amp; 1) == 0)</a:t>
            </a:r>
            <a:br>
              <a:rPr lang="en-GB" sz="1600" dirty="0">
                <a:latin typeface="Courier New" pitchFamily="49" charset="0"/>
              </a:rPr>
            </a:br>
            <a:r>
              <a:rPr lang="en-GB" sz="1600" dirty="0">
                <a:latin typeface="Courier New" pitchFamily="49" charset="0"/>
              </a:rPr>
              <a:t>      *p = *p + *next;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add to this block if</a:t>
            </a:r>
            <a:br>
              <a:rPr lang="en-GB" sz="1600" dirty="0">
                <a:solidFill>
                  <a:srgbClr val="990000"/>
                </a:solidFill>
                <a:latin typeface="Courier New" pitchFamily="49" charset="0"/>
              </a:rPr>
            </a:br>
            <a:r>
              <a:rPr lang="en-GB" sz="1600" dirty="0">
                <a:latin typeface="Courier New" pitchFamily="49" charset="0"/>
              </a:rPr>
              <a:t>}          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</a:rPr>
              <a:t>//    not allocated</a:t>
            </a:r>
          </a:p>
        </p:txBody>
      </p:sp>
      <p:sp>
        <p:nvSpPr>
          <p:cNvPr id="54" name="Rectangle 3"/>
          <p:cNvSpPr>
            <a:spLocks noChangeArrowheads="1"/>
          </p:cNvSpPr>
          <p:nvPr/>
        </p:nvSpPr>
        <p:spPr bwMode="auto">
          <a:xfrm>
            <a:off x="3581400" y="2413751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55" name="Rectangle 4"/>
          <p:cNvSpPr>
            <a:spLocks noChangeArrowheads="1"/>
          </p:cNvSpPr>
          <p:nvPr/>
        </p:nvSpPr>
        <p:spPr bwMode="auto">
          <a:xfrm>
            <a:off x="3886200" y="2413751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Rectangle 5"/>
          <p:cNvSpPr>
            <a:spLocks noChangeArrowheads="1"/>
          </p:cNvSpPr>
          <p:nvPr/>
        </p:nvSpPr>
        <p:spPr bwMode="auto">
          <a:xfrm>
            <a:off x="4191000" y="2413751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Rectangle 6"/>
          <p:cNvSpPr>
            <a:spLocks noChangeArrowheads="1"/>
          </p:cNvSpPr>
          <p:nvPr/>
        </p:nvSpPr>
        <p:spPr bwMode="auto">
          <a:xfrm>
            <a:off x="4495800" y="2413751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Rectangle 7"/>
          <p:cNvSpPr>
            <a:spLocks noChangeArrowheads="1"/>
          </p:cNvSpPr>
          <p:nvPr/>
        </p:nvSpPr>
        <p:spPr bwMode="auto">
          <a:xfrm>
            <a:off x="5105400" y="2413751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Rectangle 8"/>
          <p:cNvSpPr>
            <a:spLocks noChangeArrowheads="1"/>
          </p:cNvSpPr>
          <p:nvPr/>
        </p:nvSpPr>
        <p:spPr bwMode="auto">
          <a:xfrm>
            <a:off x="5410200" y="2413751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Rectangle 9"/>
          <p:cNvSpPr>
            <a:spLocks noChangeArrowheads="1"/>
          </p:cNvSpPr>
          <p:nvPr/>
        </p:nvSpPr>
        <p:spPr bwMode="auto">
          <a:xfrm>
            <a:off x="5715000" y="2413751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Rectangle 10"/>
          <p:cNvSpPr>
            <a:spLocks noChangeArrowheads="1"/>
          </p:cNvSpPr>
          <p:nvPr/>
        </p:nvSpPr>
        <p:spPr bwMode="auto">
          <a:xfrm>
            <a:off x="6019800" y="24137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Rectangle 11"/>
          <p:cNvSpPr>
            <a:spLocks noChangeArrowheads="1"/>
          </p:cNvSpPr>
          <p:nvPr/>
        </p:nvSpPr>
        <p:spPr bwMode="auto">
          <a:xfrm>
            <a:off x="6324600" y="24137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Rectangle 12"/>
          <p:cNvSpPr>
            <a:spLocks noChangeArrowheads="1"/>
          </p:cNvSpPr>
          <p:nvPr/>
        </p:nvSpPr>
        <p:spPr bwMode="auto">
          <a:xfrm>
            <a:off x="6629400" y="241375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2</a:t>
            </a:r>
          </a:p>
        </p:txBody>
      </p:sp>
      <p:sp>
        <p:nvSpPr>
          <p:cNvPr id="64" name="Rectangle 13"/>
          <p:cNvSpPr>
            <a:spLocks noChangeArrowheads="1"/>
          </p:cNvSpPr>
          <p:nvPr/>
        </p:nvSpPr>
        <p:spPr bwMode="auto">
          <a:xfrm>
            <a:off x="6934200" y="241375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5" name="Rectangle 14"/>
          <p:cNvSpPr>
            <a:spLocks noChangeArrowheads="1"/>
          </p:cNvSpPr>
          <p:nvPr/>
        </p:nvSpPr>
        <p:spPr bwMode="auto">
          <a:xfrm>
            <a:off x="4800600" y="2413751"/>
            <a:ext cx="304800" cy="304800"/>
          </a:xfrm>
          <a:prstGeom prst="rect">
            <a:avLst/>
          </a:prstGeom>
          <a:solidFill>
            <a:srgbClr val="D5F1C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66" name="Freeform 15"/>
          <p:cNvSpPr>
            <a:spLocks/>
          </p:cNvSpPr>
          <p:nvPr/>
        </p:nvSpPr>
        <p:spPr bwMode="auto">
          <a:xfrm>
            <a:off x="3733800" y="2176913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Text Box 16"/>
          <p:cNvSpPr txBox="1">
            <a:spLocks noChangeArrowheads="1"/>
          </p:cNvSpPr>
          <p:nvPr/>
        </p:nvSpPr>
        <p:spPr bwMode="auto">
          <a:xfrm>
            <a:off x="6030227" y="2407401"/>
            <a:ext cx="285954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2</a:t>
            </a:r>
          </a:p>
        </p:txBody>
      </p:sp>
      <p:sp>
        <p:nvSpPr>
          <p:cNvPr id="68" name="Freeform 17"/>
          <p:cNvSpPr>
            <a:spLocks/>
          </p:cNvSpPr>
          <p:nvPr/>
        </p:nvSpPr>
        <p:spPr bwMode="auto">
          <a:xfrm>
            <a:off x="4876800" y="2176913"/>
            <a:ext cx="12954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432" y="0"/>
              </a:cxn>
              <a:cxn ang="0">
                <a:pos x="816" y="144"/>
              </a:cxn>
            </a:cxnLst>
            <a:rect l="0" t="0" r="r" b="b"/>
            <a:pathLst>
              <a:path w="816" h="144">
                <a:moveTo>
                  <a:pt x="0" y="144"/>
                </a:moveTo>
                <a:cubicBezTo>
                  <a:pt x="148" y="72"/>
                  <a:pt x="296" y="0"/>
                  <a:pt x="432" y="0"/>
                </a:cubicBezTo>
                <a:cubicBezTo>
                  <a:pt x="568" y="0"/>
                  <a:pt x="692" y="72"/>
                  <a:pt x="816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9" name="Freeform 18"/>
          <p:cNvSpPr>
            <a:spLocks/>
          </p:cNvSpPr>
          <p:nvPr/>
        </p:nvSpPr>
        <p:spPr bwMode="auto">
          <a:xfrm>
            <a:off x="6172200" y="2253113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0" name="Text Box 19"/>
          <p:cNvSpPr txBox="1">
            <a:spLocks noChangeArrowheads="1"/>
          </p:cNvSpPr>
          <p:nvPr/>
        </p:nvSpPr>
        <p:spPr bwMode="auto">
          <a:xfrm>
            <a:off x="1054100" y="2872539"/>
            <a:ext cx="1045777" cy="325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</a:rPr>
              <a:t>free(p)</a:t>
            </a:r>
          </a:p>
        </p:txBody>
      </p:sp>
      <p:sp>
        <p:nvSpPr>
          <p:cNvPr id="71" name="Text Box 20"/>
          <p:cNvSpPr txBox="1">
            <a:spLocks noChangeArrowheads="1"/>
          </p:cNvSpPr>
          <p:nvPr/>
        </p:nvSpPr>
        <p:spPr bwMode="auto">
          <a:xfrm>
            <a:off x="4802188" y="2794751"/>
            <a:ext cx="305190" cy="32964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</a:rPr>
              <a:t>p</a:t>
            </a:r>
          </a:p>
        </p:txBody>
      </p:sp>
      <p:sp>
        <p:nvSpPr>
          <p:cNvPr id="72" name="Line 21"/>
          <p:cNvSpPr>
            <a:spLocks noChangeShapeType="1"/>
          </p:cNvSpPr>
          <p:nvPr/>
        </p:nvSpPr>
        <p:spPr bwMode="auto">
          <a:xfrm flipV="1">
            <a:off x="4953000" y="2716964"/>
            <a:ext cx="1588" cy="155575"/>
          </a:xfrm>
          <a:prstGeom prst="line">
            <a:avLst/>
          </a:prstGeom>
          <a:noFill/>
          <a:ln w="2556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3" name="Rectangle 22"/>
          <p:cNvSpPr>
            <a:spLocks noChangeArrowheads="1"/>
          </p:cNvSpPr>
          <p:nvPr/>
        </p:nvSpPr>
        <p:spPr bwMode="auto">
          <a:xfrm>
            <a:off x="23622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74" name="Rectangle 23"/>
          <p:cNvSpPr>
            <a:spLocks noChangeArrowheads="1"/>
          </p:cNvSpPr>
          <p:nvPr/>
        </p:nvSpPr>
        <p:spPr bwMode="auto">
          <a:xfrm>
            <a:off x="26670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5" name="Rectangle 24"/>
          <p:cNvSpPr>
            <a:spLocks noChangeArrowheads="1"/>
          </p:cNvSpPr>
          <p:nvPr/>
        </p:nvSpPr>
        <p:spPr bwMode="auto">
          <a:xfrm>
            <a:off x="29718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Rectangle 25"/>
          <p:cNvSpPr>
            <a:spLocks noChangeArrowheads="1"/>
          </p:cNvSpPr>
          <p:nvPr/>
        </p:nvSpPr>
        <p:spPr bwMode="auto">
          <a:xfrm>
            <a:off x="32766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7" name="Rectangle 26"/>
          <p:cNvSpPr>
            <a:spLocks noChangeArrowheads="1"/>
          </p:cNvSpPr>
          <p:nvPr/>
        </p:nvSpPr>
        <p:spPr bwMode="auto">
          <a:xfrm>
            <a:off x="3581400" y="3404351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78" name="Rectangle 27"/>
          <p:cNvSpPr>
            <a:spLocks noChangeArrowheads="1"/>
          </p:cNvSpPr>
          <p:nvPr/>
        </p:nvSpPr>
        <p:spPr bwMode="auto">
          <a:xfrm>
            <a:off x="3886200" y="3404351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Rectangle 28"/>
          <p:cNvSpPr>
            <a:spLocks noChangeArrowheads="1"/>
          </p:cNvSpPr>
          <p:nvPr/>
        </p:nvSpPr>
        <p:spPr bwMode="auto">
          <a:xfrm>
            <a:off x="4191000" y="3404351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0" name="Rectangle 29"/>
          <p:cNvSpPr>
            <a:spLocks noChangeArrowheads="1"/>
          </p:cNvSpPr>
          <p:nvPr/>
        </p:nvSpPr>
        <p:spPr bwMode="auto">
          <a:xfrm>
            <a:off x="4495800" y="3404351"/>
            <a:ext cx="304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1" name="Rectangle 30"/>
          <p:cNvSpPr>
            <a:spLocks noChangeArrowheads="1"/>
          </p:cNvSpPr>
          <p:nvPr/>
        </p:nvSpPr>
        <p:spPr bwMode="auto">
          <a:xfrm>
            <a:off x="6629400" y="340435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2</a:t>
            </a:r>
          </a:p>
        </p:txBody>
      </p:sp>
      <p:sp>
        <p:nvSpPr>
          <p:cNvPr id="82" name="Rectangle 31"/>
          <p:cNvSpPr>
            <a:spLocks noChangeArrowheads="1"/>
          </p:cNvSpPr>
          <p:nvPr/>
        </p:nvSpPr>
        <p:spPr bwMode="auto">
          <a:xfrm>
            <a:off x="6934200" y="340435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3" name="Freeform 32"/>
          <p:cNvSpPr>
            <a:spLocks/>
          </p:cNvSpPr>
          <p:nvPr/>
        </p:nvSpPr>
        <p:spPr bwMode="auto">
          <a:xfrm>
            <a:off x="3733800" y="3167513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" name="Freeform 33"/>
          <p:cNvSpPr>
            <a:spLocks/>
          </p:cNvSpPr>
          <p:nvPr/>
        </p:nvSpPr>
        <p:spPr bwMode="auto">
          <a:xfrm>
            <a:off x="2514600" y="3167513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5" name="Rectangle 35"/>
          <p:cNvSpPr>
            <a:spLocks noChangeArrowheads="1"/>
          </p:cNvSpPr>
          <p:nvPr/>
        </p:nvSpPr>
        <p:spPr bwMode="auto">
          <a:xfrm>
            <a:off x="2362200" y="24137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86" name="Rectangle 36"/>
          <p:cNvSpPr>
            <a:spLocks noChangeArrowheads="1"/>
          </p:cNvSpPr>
          <p:nvPr/>
        </p:nvSpPr>
        <p:spPr bwMode="auto">
          <a:xfrm>
            <a:off x="2667000" y="24137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" name="Rectangle 37"/>
          <p:cNvSpPr>
            <a:spLocks noChangeArrowheads="1"/>
          </p:cNvSpPr>
          <p:nvPr/>
        </p:nvSpPr>
        <p:spPr bwMode="auto">
          <a:xfrm>
            <a:off x="2971800" y="24137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8" name="Rectangle 38"/>
          <p:cNvSpPr>
            <a:spLocks noChangeArrowheads="1"/>
          </p:cNvSpPr>
          <p:nvPr/>
        </p:nvSpPr>
        <p:spPr bwMode="auto">
          <a:xfrm>
            <a:off x="3276600" y="24137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9" name="Freeform 39"/>
          <p:cNvSpPr>
            <a:spLocks/>
          </p:cNvSpPr>
          <p:nvPr/>
        </p:nvSpPr>
        <p:spPr bwMode="auto">
          <a:xfrm>
            <a:off x="2514600" y="2176913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" name="Rectangle 40"/>
          <p:cNvSpPr>
            <a:spLocks noChangeArrowheads="1"/>
          </p:cNvSpPr>
          <p:nvPr/>
        </p:nvSpPr>
        <p:spPr bwMode="auto">
          <a:xfrm>
            <a:off x="51054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" name="Rectangle 41"/>
          <p:cNvSpPr>
            <a:spLocks noChangeArrowheads="1"/>
          </p:cNvSpPr>
          <p:nvPr/>
        </p:nvSpPr>
        <p:spPr bwMode="auto">
          <a:xfrm>
            <a:off x="54102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" name="Rectangle 42"/>
          <p:cNvSpPr>
            <a:spLocks noChangeArrowheads="1"/>
          </p:cNvSpPr>
          <p:nvPr/>
        </p:nvSpPr>
        <p:spPr bwMode="auto">
          <a:xfrm>
            <a:off x="57150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" name="Rectangle 43"/>
          <p:cNvSpPr>
            <a:spLocks noChangeArrowheads="1"/>
          </p:cNvSpPr>
          <p:nvPr/>
        </p:nvSpPr>
        <p:spPr bwMode="auto">
          <a:xfrm>
            <a:off x="60198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4" name="Rectangle 44"/>
          <p:cNvSpPr>
            <a:spLocks noChangeArrowheads="1"/>
          </p:cNvSpPr>
          <p:nvPr/>
        </p:nvSpPr>
        <p:spPr bwMode="auto">
          <a:xfrm>
            <a:off x="63246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5" name="Rectangle 45"/>
          <p:cNvSpPr>
            <a:spLocks noChangeArrowheads="1"/>
          </p:cNvSpPr>
          <p:nvPr/>
        </p:nvSpPr>
        <p:spPr bwMode="auto">
          <a:xfrm>
            <a:off x="4800600" y="3404351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6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96" name="Text Box 46"/>
          <p:cNvSpPr txBox="1">
            <a:spLocks noChangeArrowheads="1"/>
          </p:cNvSpPr>
          <p:nvPr/>
        </p:nvSpPr>
        <p:spPr bwMode="auto">
          <a:xfrm>
            <a:off x="6030227" y="3398001"/>
            <a:ext cx="285954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2</a:t>
            </a:r>
          </a:p>
        </p:txBody>
      </p:sp>
      <p:sp>
        <p:nvSpPr>
          <p:cNvPr id="97" name="Freeform 47"/>
          <p:cNvSpPr>
            <a:spLocks/>
          </p:cNvSpPr>
          <p:nvPr/>
        </p:nvSpPr>
        <p:spPr bwMode="auto">
          <a:xfrm>
            <a:off x="4876800" y="3167513"/>
            <a:ext cx="19050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432" y="0"/>
              </a:cxn>
              <a:cxn ang="0">
                <a:pos x="816" y="144"/>
              </a:cxn>
            </a:cxnLst>
            <a:rect l="0" t="0" r="r" b="b"/>
            <a:pathLst>
              <a:path w="816" h="144">
                <a:moveTo>
                  <a:pt x="0" y="144"/>
                </a:moveTo>
                <a:cubicBezTo>
                  <a:pt x="148" y="72"/>
                  <a:pt x="296" y="0"/>
                  <a:pt x="432" y="0"/>
                </a:cubicBezTo>
                <a:cubicBezTo>
                  <a:pt x="568" y="0"/>
                  <a:pt x="692" y="72"/>
                  <a:pt x="816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9" name="TextBox 98"/>
          <p:cNvSpPr txBox="1"/>
          <p:nvPr/>
        </p:nvSpPr>
        <p:spPr>
          <a:xfrm>
            <a:off x="7799195" y="2570831"/>
            <a:ext cx="10627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rgbClr val="C00000"/>
                </a:solidFill>
                <a:latin typeface="Calibri" pitchFamily="34" charset="0"/>
              </a:rPr>
              <a:t>logically</a:t>
            </a:r>
          </a:p>
          <a:p>
            <a:r>
              <a:rPr lang="en-US" sz="2000" i="1" dirty="0">
                <a:solidFill>
                  <a:srgbClr val="C00000"/>
                </a:solidFill>
                <a:latin typeface="Calibri" pitchFamily="34" charset="0"/>
              </a:rPr>
              <a:t>gone</a:t>
            </a:r>
          </a:p>
        </p:txBody>
      </p:sp>
      <p:cxnSp>
        <p:nvCxnSpPr>
          <p:cNvPr id="101" name="Straight Arrow Connector 100"/>
          <p:cNvCxnSpPr>
            <a:stCxn id="99" idx="1"/>
            <a:endCxn id="96" idx="0"/>
          </p:cNvCxnSpPr>
          <p:nvPr/>
        </p:nvCxnSpPr>
        <p:spPr bwMode="auto">
          <a:xfrm flipH="1">
            <a:off x="6173204" y="2924774"/>
            <a:ext cx="1625991" cy="473227"/>
          </a:xfrm>
          <a:prstGeom prst="straightConnector1">
            <a:avLst/>
          </a:prstGeom>
          <a:noFill/>
          <a:ln w="28575">
            <a:solidFill>
              <a:srgbClr val="C00000"/>
            </a:solidFill>
            <a:miter lim="800000"/>
            <a:headEnd type="none" w="med" len="med"/>
            <a:tailEnd type="arrow"/>
          </a:ln>
          <a:effectLst/>
        </p:spPr>
      </p:cxnSp>
      <p:sp>
        <p:nvSpPr>
          <p:cNvPr id="53" name="Rectangle 7"/>
          <p:cNvSpPr>
            <a:spLocks noChangeArrowheads="1"/>
          </p:cNvSpPr>
          <p:nvPr/>
        </p:nvSpPr>
        <p:spPr bwMode="auto">
          <a:xfrm>
            <a:off x="2048981" y="2407401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8" name="Rectangle 7"/>
          <p:cNvSpPr>
            <a:spLocks noChangeArrowheads="1"/>
          </p:cNvSpPr>
          <p:nvPr/>
        </p:nvSpPr>
        <p:spPr bwMode="auto">
          <a:xfrm>
            <a:off x="2057400" y="3398450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0" name="Rectangle 7"/>
          <p:cNvSpPr>
            <a:spLocks noChangeArrowheads="1"/>
          </p:cNvSpPr>
          <p:nvPr/>
        </p:nvSpPr>
        <p:spPr bwMode="auto">
          <a:xfrm>
            <a:off x="7247419" y="2411738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+mn-lt"/>
              </a:rPr>
              <a:t>0</a:t>
            </a:r>
          </a:p>
        </p:txBody>
      </p:sp>
      <p:sp>
        <p:nvSpPr>
          <p:cNvPr id="102" name="Rectangle 7"/>
          <p:cNvSpPr>
            <a:spLocks noChangeArrowheads="1"/>
          </p:cNvSpPr>
          <p:nvPr/>
        </p:nvSpPr>
        <p:spPr bwMode="auto">
          <a:xfrm>
            <a:off x="7247419" y="3404351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+mn-lt"/>
              </a:rPr>
              <a:t>0</a:t>
            </a:r>
          </a:p>
        </p:txBody>
      </p:sp>
      <p:sp>
        <p:nvSpPr>
          <p:cNvPr id="103" name="Freeform 18"/>
          <p:cNvSpPr>
            <a:spLocks/>
          </p:cNvSpPr>
          <p:nvPr/>
        </p:nvSpPr>
        <p:spPr bwMode="auto">
          <a:xfrm>
            <a:off x="6803685" y="2232299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" name="Freeform 18"/>
          <p:cNvSpPr>
            <a:spLocks/>
          </p:cNvSpPr>
          <p:nvPr/>
        </p:nvSpPr>
        <p:spPr bwMode="auto">
          <a:xfrm>
            <a:off x="6803685" y="3230187"/>
            <a:ext cx="609600" cy="152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92" y="0"/>
              </a:cxn>
              <a:cxn ang="0">
                <a:pos x="384" y="96"/>
              </a:cxn>
            </a:cxnLst>
            <a:rect l="0" t="0" r="r" b="b"/>
            <a:pathLst>
              <a:path w="384" h="96">
                <a:moveTo>
                  <a:pt x="0" y="96"/>
                </a:moveTo>
                <a:cubicBezTo>
                  <a:pt x="64" y="48"/>
                  <a:pt x="128" y="0"/>
                  <a:pt x="192" y="0"/>
                </a:cubicBezTo>
                <a:cubicBezTo>
                  <a:pt x="256" y="0"/>
                  <a:pt x="320" y="48"/>
                  <a:pt x="384" y="96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3321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type="title"/>
          </p:nvPr>
        </p:nvSpPr>
        <p:spPr>
          <a:xfrm>
            <a:off x="381000" y="493713"/>
            <a:ext cx="87630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Implicit List: Bidirectional Coalescing </a:t>
            </a: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04127" y="1220788"/>
            <a:ext cx="8307387" cy="1325562"/>
          </a:xfrm>
          <a:ln/>
        </p:spPr>
        <p:txBody>
          <a:bodyPr/>
          <a:lstStyle/>
          <a:p>
            <a:pPr>
              <a:lnSpc>
                <a:spcPct val="83000"/>
              </a:lnSpc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>
                <a:solidFill>
                  <a:srgbClr val="C00000"/>
                </a:solidFill>
              </a:rPr>
              <a:t>Boundary tags</a:t>
            </a:r>
            <a:r>
              <a:rPr lang="en-GB" dirty="0">
                <a:solidFill>
                  <a:srgbClr val="C00000"/>
                </a:solidFill>
              </a:rPr>
              <a:t> </a:t>
            </a:r>
            <a:r>
              <a:rPr lang="en-GB" sz="2000" b="0" dirty="0"/>
              <a:t>[Knuth73]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Replicate size/allocated word at “bottom” (end) of free blocks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Allows us to traverse the “list” backwards, but requires extra space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Important and general technique!</a:t>
            </a: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3111500" y="4275288"/>
            <a:ext cx="1370013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</a:t>
            </a:r>
            <a:r>
              <a:rPr lang="en-GB" sz="1600" b="1" dirty="0">
                <a:latin typeface="Calibri" pitchFamily="34" charset="0"/>
              </a:rPr>
              <a:t>ize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81000" y="4703913"/>
            <a:ext cx="1623435" cy="99937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Format of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allocated and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free blocks</a:t>
            </a: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3111500" y="4656288"/>
            <a:ext cx="1676400" cy="128587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</a:t>
            </a:r>
            <a:r>
              <a:rPr lang="en-GB" sz="1600" b="1" dirty="0">
                <a:latin typeface="Calibri" pitchFamily="34" charset="0"/>
              </a:rPr>
              <a:t>ayload and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padding</a:t>
            </a: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5083175" y="4222691"/>
            <a:ext cx="2353025" cy="202570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a = 1: Allocated block 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a = 0: Free block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b="1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</a:t>
            </a:r>
            <a:r>
              <a:rPr lang="en-GB" sz="1600" b="1" dirty="0">
                <a:latin typeface="Calibri" pitchFamily="34" charset="0"/>
              </a:rPr>
              <a:t>ize: Total block size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b="1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</a:t>
            </a:r>
            <a:r>
              <a:rPr lang="en-GB" sz="1600" b="1" dirty="0">
                <a:latin typeface="Calibri" pitchFamily="34" charset="0"/>
              </a:rPr>
              <a:t>ayload: Application data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(allocated blocks only)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b="1" dirty="0">
              <a:latin typeface="Calibri" pitchFamily="34" charset="0"/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4483100" y="4275288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a</a:t>
            </a:r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3109913" y="5936872"/>
            <a:ext cx="1370012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</a:t>
            </a:r>
            <a:r>
              <a:rPr lang="en-GB" sz="1600" b="1" dirty="0">
                <a:latin typeface="Calibri" pitchFamily="34" charset="0"/>
              </a:rPr>
              <a:t>ize</a:t>
            </a:r>
          </a:p>
        </p:txBody>
      </p:sp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4483100" y="5936872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a</a:t>
            </a:r>
          </a:p>
        </p:txBody>
      </p:sp>
      <p:sp>
        <p:nvSpPr>
          <p:cNvPr id="26635" name="Text Box 11"/>
          <p:cNvSpPr txBox="1">
            <a:spLocks noChangeArrowheads="1"/>
          </p:cNvSpPr>
          <p:nvPr/>
        </p:nvSpPr>
        <p:spPr bwMode="auto">
          <a:xfrm>
            <a:off x="1296937" y="5910498"/>
            <a:ext cx="1326815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Boundary tag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(footer)</a:t>
            </a:r>
          </a:p>
        </p:txBody>
      </p:sp>
      <p:sp>
        <p:nvSpPr>
          <p:cNvPr id="26636" name="Line 12"/>
          <p:cNvSpPr>
            <a:spLocks noChangeShapeType="1"/>
          </p:cNvSpPr>
          <p:nvPr/>
        </p:nvSpPr>
        <p:spPr bwMode="auto">
          <a:xfrm>
            <a:off x="2590800" y="6104088"/>
            <a:ext cx="533400" cy="1588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39" name="Group 38"/>
          <p:cNvGrpSpPr/>
          <p:nvPr/>
        </p:nvGrpSpPr>
        <p:grpSpPr>
          <a:xfrm>
            <a:off x="1524000" y="2895600"/>
            <a:ext cx="5486400" cy="785054"/>
            <a:chOff x="1524000" y="5706762"/>
            <a:chExt cx="5486400" cy="785054"/>
          </a:xfrm>
        </p:grpSpPr>
        <p:sp>
          <p:nvSpPr>
            <p:cNvPr id="26637" name="Rectangle 13"/>
            <p:cNvSpPr>
              <a:spLocks noChangeArrowheads="1"/>
            </p:cNvSpPr>
            <p:nvPr/>
          </p:nvSpPr>
          <p:spPr bwMode="auto">
            <a:xfrm>
              <a:off x="15240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4</a:t>
              </a:r>
            </a:p>
          </p:txBody>
        </p:sp>
        <p:sp>
          <p:nvSpPr>
            <p:cNvPr id="26638" name="Rectangle 14"/>
            <p:cNvSpPr>
              <a:spLocks noChangeArrowheads="1"/>
            </p:cNvSpPr>
            <p:nvPr/>
          </p:nvSpPr>
          <p:spPr bwMode="auto">
            <a:xfrm>
              <a:off x="18288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9" name="Rectangle 15"/>
            <p:cNvSpPr>
              <a:spLocks noChangeArrowheads="1"/>
            </p:cNvSpPr>
            <p:nvPr/>
          </p:nvSpPr>
          <p:spPr bwMode="auto">
            <a:xfrm>
              <a:off x="21336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0" name="Rectangle 16"/>
            <p:cNvSpPr>
              <a:spLocks noChangeArrowheads="1"/>
            </p:cNvSpPr>
            <p:nvPr/>
          </p:nvSpPr>
          <p:spPr bwMode="auto">
            <a:xfrm>
              <a:off x="24384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4</a:t>
              </a:r>
            </a:p>
          </p:txBody>
        </p:sp>
        <p:sp>
          <p:nvSpPr>
            <p:cNvPr id="26641" name="Rectangle 17"/>
            <p:cNvSpPr>
              <a:spLocks noChangeArrowheads="1"/>
            </p:cNvSpPr>
            <p:nvPr/>
          </p:nvSpPr>
          <p:spPr bwMode="auto">
            <a:xfrm>
              <a:off x="27432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4</a:t>
              </a:r>
            </a:p>
          </p:txBody>
        </p:sp>
        <p:sp>
          <p:nvSpPr>
            <p:cNvPr id="26642" name="Rectangle 18"/>
            <p:cNvSpPr>
              <a:spLocks noChangeArrowheads="1"/>
            </p:cNvSpPr>
            <p:nvPr/>
          </p:nvSpPr>
          <p:spPr bwMode="auto">
            <a:xfrm>
              <a:off x="30480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3" name="Rectangle 19"/>
            <p:cNvSpPr>
              <a:spLocks noChangeArrowheads="1"/>
            </p:cNvSpPr>
            <p:nvPr/>
          </p:nvSpPr>
          <p:spPr bwMode="auto">
            <a:xfrm>
              <a:off x="33528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4" name="Rectangle 20"/>
            <p:cNvSpPr>
              <a:spLocks noChangeArrowheads="1"/>
            </p:cNvSpPr>
            <p:nvPr/>
          </p:nvSpPr>
          <p:spPr bwMode="auto">
            <a:xfrm>
              <a:off x="36576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4</a:t>
              </a:r>
            </a:p>
          </p:txBody>
        </p:sp>
        <p:sp>
          <p:nvSpPr>
            <p:cNvPr id="26645" name="Rectangle 21"/>
            <p:cNvSpPr>
              <a:spLocks noChangeArrowheads="1"/>
            </p:cNvSpPr>
            <p:nvPr/>
          </p:nvSpPr>
          <p:spPr bwMode="auto">
            <a:xfrm>
              <a:off x="42672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6" name="Rectangle 22"/>
            <p:cNvSpPr>
              <a:spLocks noChangeArrowheads="1"/>
            </p:cNvSpPr>
            <p:nvPr/>
          </p:nvSpPr>
          <p:spPr bwMode="auto">
            <a:xfrm>
              <a:off x="45720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7" name="Rectangle 23"/>
            <p:cNvSpPr>
              <a:spLocks noChangeArrowheads="1"/>
            </p:cNvSpPr>
            <p:nvPr/>
          </p:nvSpPr>
          <p:spPr bwMode="auto">
            <a:xfrm>
              <a:off x="48768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8" name="Rectangle 24"/>
            <p:cNvSpPr>
              <a:spLocks noChangeArrowheads="1"/>
            </p:cNvSpPr>
            <p:nvPr/>
          </p:nvSpPr>
          <p:spPr bwMode="auto">
            <a:xfrm>
              <a:off x="51816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9" name="Rectangle 25"/>
            <p:cNvSpPr>
              <a:spLocks noChangeArrowheads="1"/>
            </p:cNvSpPr>
            <p:nvPr/>
          </p:nvSpPr>
          <p:spPr bwMode="auto">
            <a:xfrm>
              <a:off x="54864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6</a:t>
              </a:r>
            </a:p>
          </p:txBody>
        </p:sp>
        <p:sp>
          <p:nvSpPr>
            <p:cNvPr id="26650" name="Rectangle 26"/>
            <p:cNvSpPr>
              <a:spLocks noChangeArrowheads="1"/>
            </p:cNvSpPr>
            <p:nvPr/>
          </p:nvSpPr>
          <p:spPr bwMode="auto">
            <a:xfrm>
              <a:off x="57912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4</a:t>
              </a:r>
            </a:p>
          </p:txBody>
        </p:sp>
        <p:sp>
          <p:nvSpPr>
            <p:cNvPr id="26651" name="Rectangle 27"/>
            <p:cNvSpPr>
              <a:spLocks noChangeArrowheads="1"/>
            </p:cNvSpPr>
            <p:nvPr/>
          </p:nvSpPr>
          <p:spPr bwMode="auto">
            <a:xfrm>
              <a:off x="60960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2" name="Rectangle 28"/>
            <p:cNvSpPr>
              <a:spLocks noChangeArrowheads="1"/>
            </p:cNvSpPr>
            <p:nvPr/>
          </p:nvSpPr>
          <p:spPr bwMode="auto">
            <a:xfrm>
              <a:off x="3962400" y="59436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6</a:t>
              </a:r>
            </a:p>
          </p:txBody>
        </p:sp>
        <p:sp>
          <p:nvSpPr>
            <p:cNvPr id="26653" name="Freeform 29"/>
            <p:cNvSpPr>
              <a:spLocks/>
            </p:cNvSpPr>
            <p:nvPr/>
          </p:nvSpPr>
          <p:spPr bwMode="auto">
            <a:xfrm>
              <a:off x="2895600" y="5706762"/>
              <a:ext cx="1219200" cy="2286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384" y="0"/>
                </a:cxn>
                <a:cxn ang="0">
                  <a:pos x="768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4" name="Freeform 30"/>
            <p:cNvSpPr>
              <a:spLocks/>
            </p:cNvSpPr>
            <p:nvPr/>
          </p:nvSpPr>
          <p:spPr bwMode="auto">
            <a:xfrm>
              <a:off x="4114800" y="5706762"/>
              <a:ext cx="1828800" cy="2286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576" y="0"/>
                </a:cxn>
                <a:cxn ang="0">
                  <a:pos x="1152" y="144"/>
                </a:cxn>
              </a:cxnLst>
              <a:rect l="0" t="0" r="r" b="b"/>
              <a:pathLst>
                <a:path w="1152" h="144">
                  <a:moveTo>
                    <a:pt x="0" y="144"/>
                  </a:moveTo>
                  <a:cubicBezTo>
                    <a:pt x="192" y="72"/>
                    <a:pt x="384" y="0"/>
                    <a:pt x="576" y="0"/>
                  </a:cubicBezTo>
                  <a:cubicBezTo>
                    <a:pt x="768" y="0"/>
                    <a:pt x="960" y="72"/>
                    <a:pt x="1152" y="144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5" name="Freeform 31"/>
            <p:cNvSpPr>
              <a:spLocks/>
            </p:cNvSpPr>
            <p:nvPr/>
          </p:nvSpPr>
          <p:spPr bwMode="auto">
            <a:xfrm>
              <a:off x="1676400" y="5706762"/>
              <a:ext cx="1219200" cy="228600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384" y="0"/>
                </a:cxn>
                <a:cxn ang="0">
                  <a:pos x="768" y="144"/>
                </a:cxn>
              </a:cxnLst>
              <a:rect l="0" t="0" r="r" b="b"/>
              <a:pathLst>
                <a:path w="768" h="144">
                  <a:moveTo>
                    <a:pt x="0" y="144"/>
                  </a:moveTo>
                  <a:cubicBezTo>
                    <a:pt x="128" y="72"/>
                    <a:pt x="256" y="0"/>
                    <a:pt x="384" y="0"/>
                  </a:cubicBezTo>
                  <a:cubicBezTo>
                    <a:pt x="512" y="0"/>
                    <a:pt x="640" y="72"/>
                    <a:pt x="768" y="144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6" name="Rectangle 32"/>
            <p:cNvSpPr>
              <a:spLocks noChangeArrowheads="1"/>
            </p:cNvSpPr>
            <p:nvPr/>
          </p:nvSpPr>
          <p:spPr bwMode="auto">
            <a:xfrm>
              <a:off x="64008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7" name="Rectangle 33"/>
            <p:cNvSpPr>
              <a:spLocks noChangeArrowheads="1"/>
            </p:cNvSpPr>
            <p:nvPr/>
          </p:nvSpPr>
          <p:spPr bwMode="auto">
            <a:xfrm>
              <a:off x="6705600" y="5943600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4</a:t>
              </a:r>
            </a:p>
          </p:txBody>
        </p:sp>
        <p:sp>
          <p:nvSpPr>
            <p:cNvPr id="26658" name="Freeform 34"/>
            <p:cNvSpPr>
              <a:spLocks/>
            </p:cNvSpPr>
            <p:nvPr/>
          </p:nvSpPr>
          <p:spPr bwMode="auto">
            <a:xfrm>
              <a:off x="2590800" y="6263216"/>
              <a:ext cx="1219200" cy="228600"/>
            </a:xfrm>
            <a:custGeom>
              <a:avLst/>
              <a:gdLst/>
              <a:ahLst/>
              <a:cxnLst>
                <a:cxn ang="0">
                  <a:pos x="768" y="0"/>
                </a:cxn>
                <a:cxn ang="0">
                  <a:pos x="336" y="144"/>
                </a:cxn>
                <a:cxn ang="0">
                  <a:pos x="0" y="0"/>
                </a:cxn>
              </a:cxnLst>
              <a:rect l="0" t="0" r="r" b="b"/>
              <a:pathLst>
                <a:path w="768" h="144">
                  <a:moveTo>
                    <a:pt x="768" y="0"/>
                  </a:moveTo>
                  <a:cubicBezTo>
                    <a:pt x="616" y="72"/>
                    <a:pt x="464" y="144"/>
                    <a:pt x="336" y="144"/>
                  </a:cubicBezTo>
                  <a:cubicBezTo>
                    <a:pt x="208" y="144"/>
                    <a:pt x="104" y="72"/>
                    <a:pt x="0" y="0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9" name="Freeform 35"/>
            <p:cNvSpPr>
              <a:spLocks/>
            </p:cNvSpPr>
            <p:nvPr/>
          </p:nvSpPr>
          <p:spPr bwMode="auto">
            <a:xfrm>
              <a:off x="3810000" y="6263216"/>
              <a:ext cx="1828800" cy="228600"/>
            </a:xfrm>
            <a:custGeom>
              <a:avLst/>
              <a:gdLst/>
              <a:ahLst/>
              <a:cxnLst>
                <a:cxn ang="0">
                  <a:pos x="1152" y="0"/>
                </a:cxn>
                <a:cxn ang="0">
                  <a:pos x="576" y="144"/>
                </a:cxn>
                <a:cxn ang="0">
                  <a:pos x="0" y="0"/>
                </a:cxn>
              </a:cxnLst>
              <a:rect l="0" t="0" r="r" b="b"/>
              <a:pathLst>
                <a:path w="1152" h="144">
                  <a:moveTo>
                    <a:pt x="1152" y="0"/>
                  </a:moveTo>
                  <a:cubicBezTo>
                    <a:pt x="960" y="72"/>
                    <a:pt x="768" y="144"/>
                    <a:pt x="576" y="144"/>
                  </a:cubicBezTo>
                  <a:cubicBezTo>
                    <a:pt x="384" y="144"/>
                    <a:pt x="192" y="72"/>
                    <a:pt x="0" y="0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0" name="Freeform 36"/>
            <p:cNvSpPr>
              <a:spLocks/>
            </p:cNvSpPr>
            <p:nvPr/>
          </p:nvSpPr>
          <p:spPr bwMode="auto">
            <a:xfrm>
              <a:off x="5638800" y="6263216"/>
              <a:ext cx="1219200" cy="228600"/>
            </a:xfrm>
            <a:custGeom>
              <a:avLst/>
              <a:gdLst/>
              <a:ahLst/>
              <a:cxnLst>
                <a:cxn ang="0">
                  <a:pos x="768" y="0"/>
                </a:cxn>
                <a:cxn ang="0">
                  <a:pos x="384" y="144"/>
                </a:cxn>
                <a:cxn ang="0">
                  <a:pos x="0" y="0"/>
                </a:cxn>
              </a:cxnLst>
              <a:rect l="0" t="0" r="r" b="b"/>
              <a:pathLst>
                <a:path w="768" h="144">
                  <a:moveTo>
                    <a:pt x="768" y="0"/>
                  </a:moveTo>
                  <a:cubicBezTo>
                    <a:pt x="640" y="72"/>
                    <a:pt x="512" y="144"/>
                    <a:pt x="384" y="144"/>
                  </a:cubicBezTo>
                  <a:cubicBezTo>
                    <a:pt x="256" y="144"/>
                    <a:pt x="63" y="23"/>
                    <a:pt x="0" y="0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prstDash val="sys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61" name="Text Box 37"/>
          <p:cNvSpPr txBox="1">
            <a:spLocks noChangeArrowheads="1"/>
          </p:cNvSpPr>
          <p:nvPr/>
        </p:nvSpPr>
        <p:spPr bwMode="auto">
          <a:xfrm>
            <a:off x="1788680" y="4267200"/>
            <a:ext cx="80212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Header</a:t>
            </a:r>
          </a:p>
        </p:txBody>
      </p:sp>
      <p:sp>
        <p:nvSpPr>
          <p:cNvPr id="26662" name="Line 38"/>
          <p:cNvSpPr>
            <a:spLocks noChangeShapeType="1"/>
          </p:cNvSpPr>
          <p:nvPr/>
        </p:nvSpPr>
        <p:spPr bwMode="auto">
          <a:xfrm>
            <a:off x="2590800" y="4427688"/>
            <a:ext cx="533400" cy="1588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" name="Rectangle 7"/>
          <p:cNvSpPr>
            <a:spLocks noChangeArrowheads="1"/>
          </p:cNvSpPr>
          <p:nvPr/>
        </p:nvSpPr>
        <p:spPr bwMode="auto">
          <a:xfrm>
            <a:off x="1219200" y="3132438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+mn-lt"/>
              </a:rPr>
              <a:t>0</a:t>
            </a:r>
          </a:p>
        </p:txBody>
      </p:sp>
      <p:sp>
        <p:nvSpPr>
          <p:cNvPr id="41" name="Rectangle 7"/>
          <p:cNvSpPr>
            <a:spLocks noChangeArrowheads="1"/>
          </p:cNvSpPr>
          <p:nvPr/>
        </p:nvSpPr>
        <p:spPr bwMode="auto">
          <a:xfrm>
            <a:off x="7013028" y="3132438"/>
            <a:ext cx="304800" cy="304800"/>
          </a:xfrm>
          <a:prstGeom prst="rect">
            <a:avLst/>
          </a:prstGeom>
          <a:pattFill prst="wdUpDiag">
            <a:fgClr>
              <a:schemeClr val="bg2"/>
            </a:fgClr>
            <a:bgClr>
              <a:schemeClr val="bg1"/>
            </a:bgClr>
          </a:patt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sz="1600" dirty="0">
                <a:latin typeface="+mn-lt"/>
              </a:rPr>
              <a:t>0</a:t>
            </a:r>
          </a:p>
        </p:txBody>
      </p:sp>
      <p:sp>
        <p:nvSpPr>
          <p:cNvPr id="42" name="Freeform 31"/>
          <p:cNvSpPr>
            <a:spLocks/>
          </p:cNvSpPr>
          <p:nvPr/>
        </p:nvSpPr>
        <p:spPr bwMode="auto">
          <a:xfrm>
            <a:off x="5943600" y="2880784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Freeform 34"/>
          <p:cNvSpPr>
            <a:spLocks/>
          </p:cNvSpPr>
          <p:nvPr/>
        </p:nvSpPr>
        <p:spPr bwMode="auto">
          <a:xfrm>
            <a:off x="1368972" y="3473450"/>
            <a:ext cx="1219200" cy="228600"/>
          </a:xfrm>
          <a:custGeom>
            <a:avLst/>
            <a:gdLst/>
            <a:ahLst/>
            <a:cxnLst>
              <a:cxn ang="0">
                <a:pos x="768" y="0"/>
              </a:cxn>
              <a:cxn ang="0">
                <a:pos x="336" y="144"/>
              </a:cxn>
              <a:cxn ang="0">
                <a:pos x="0" y="0"/>
              </a:cxn>
            </a:cxnLst>
            <a:rect l="0" t="0" r="r" b="b"/>
            <a:pathLst>
              <a:path w="768" h="144">
                <a:moveTo>
                  <a:pt x="768" y="0"/>
                </a:moveTo>
                <a:cubicBezTo>
                  <a:pt x="616" y="72"/>
                  <a:pt x="464" y="144"/>
                  <a:pt x="336" y="144"/>
                </a:cubicBezTo>
                <a:cubicBezTo>
                  <a:pt x="208" y="144"/>
                  <a:pt x="104" y="72"/>
                  <a:pt x="0" y="0"/>
                </a:cubicBezTo>
              </a:path>
            </a:pathLst>
          </a:custGeom>
          <a:noFill/>
          <a:ln w="25560">
            <a:solidFill>
              <a:schemeClr val="tx1"/>
            </a:solidFill>
            <a:prstDash val="sys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270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nimBg="1"/>
      <p:bldP spid="26629" grpId="0"/>
      <p:bldP spid="26630" grpId="0" animBg="1"/>
      <p:bldP spid="26631" grpId="0"/>
      <p:bldP spid="26632" grpId="0" animBg="1"/>
      <p:bldP spid="26633" grpId="0" animBg="1"/>
      <p:bldP spid="26634" grpId="0" animBg="1"/>
      <p:bldP spid="26635" grpId="0"/>
      <p:bldP spid="26636" grpId="0" animBg="1"/>
      <p:bldP spid="26661" grpId="0"/>
      <p:bldP spid="2666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Grp="1" noChangeArrowheads="1"/>
          </p:cNvSpPr>
          <p:nvPr>
            <p:ph type="title"/>
          </p:nvPr>
        </p:nvSpPr>
        <p:spPr>
          <a:xfrm>
            <a:off x="444500" y="569913"/>
            <a:ext cx="70231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Constant Time Coalescing</a:t>
            </a:r>
          </a:p>
        </p:txBody>
      </p:sp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2438400" y="2895600"/>
            <a:ext cx="1143000" cy="3048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2438400" y="2590800"/>
            <a:ext cx="11430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</a:t>
            </a:r>
            <a:r>
              <a:rPr lang="en-GB" sz="1600" b="1" dirty="0">
                <a:latin typeface="Calibri" pitchFamily="34" charset="0"/>
              </a:rPr>
              <a:t>llocated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2438400" y="3200400"/>
            <a:ext cx="11430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</a:t>
            </a:r>
            <a:r>
              <a:rPr lang="en-GB" sz="1600" b="1" dirty="0">
                <a:latin typeface="Calibri" pitchFamily="34" charset="0"/>
              </a:rPr>
              <a:t>llocated</a:t>
            </a: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3962400" y="2895600"/>
            <a:ext cx="1143000" cy="3048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3962400" y="2590800"/>
            <a:ext cx="11430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</a:t>
            </a:r>
            <a:r>
              <a:rPr lang="en-GB" sz="1600" b="1" dirty="0">
                <a:latin typeface="Calibri" pitchFamily="34" charset="0"/>
              </a:rPr>
              <a:t>llocated</a:t>
            </a:r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3962400" y="3200400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F</a:t>
            </a:r>
            <a:r>
              <a:rPr lang="en-GB" sz="1600" b="1" dirty="0">
                <a:latin typeface="Calibri" pitchFamily="34" charset="0"/>
              </a:rPr>
              <a:t>ree</a:t>
            </a:r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5486400" y="2895600"/>
            <a:ext cx="1143000" cy="3048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5486400" y="2590800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F</a:t>
            </a:r>
            <a:r>
              <a:rPr lang="en-GB" sz="1600" b="1" dirty="0">
                <a:latin typeface="Calibri" pitchFamily="34" charset="0"/>
              </a:rPr>
              <a:t>ree</a:t>
            </a:r>
          </a:p>
        </p:txBody>
      </p:sp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5486400" y="3200400"/>
            <a:ext cx="11430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</a:t>
            </a:r>
            <a:r>
              <a:rPr lang="en-GB" sz="1600" b="1" dirty="0">
                <a:latin typeface="Calibri" pitchFamily="34" charset="0"/>
              </a:rPr>
              <a:t>llocated</a:t>
            </a:r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7010400" y="2895600"/>
            <a:ext cx="1143000" cy="3048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7010400" y="2590800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F</a:t>
            </a:r>
            <a:r>
              <a:rPr lang="en-GB" sz="1600" b="1" dirty="0">
                <a:latin typeface="Calibri" pitchFamily="34" charset="0"/>
              </a:rPr>
              <a:t>ree</a:t>
            </a:r>
          </a:p>
        </p:txBody>
      </p: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7010400" y="3200400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F</a:t>
            </a:r>
            <a:r>
              <a:rPr lang="en-GB" sz="1600" b="1" dirty="0">
                <a:latin typeface="Calibri" pitchFamily="34" charset="0"/>
              </a:rPr>
              <a:t>ree</a:t>
            </a:r>
          </a:p>
        </p:txBody>
      </p:sp>
      <p:sp>
        <p:nvSpPr>
          <p:cNvPr id="27662" name="Text Box 14"/>
          <p:cNvSpPr txBox="1">
            <a:spLocks noChangeArrowheads="1"/>
          </p:cNvSpPr>
          <p:nvPr/>
        </p:nvSpPr>
        <p:spPr bwMode="auto">
          <a:xfrm>
            <a:off x="368176" y="2749550"/>
            <a:ext cx="1284624" cy="6383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dirty="0">
                <a:latin typeface="Calibri" pitchFamily="34" charset="0"/>
              </a:rPr>
              <a:t>B</a:t>
            </a:r>
            <a:r>
              <a:rPr lang="en-GB" sz="1800" b="1" dirty="0">
                <a:latin typeface="Calibri" pitchFamily="34" charset="0"/>
              </a:rPr>
              <a:t>lock being</a:t>
            </a:r>
          </a:p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alibri" pitchFamily="34" charset="0"/>
              </a:rPr>
              <a:t>freed</a:t>
            </a:r>
          </a:p>
        </p:txBody>
      </p:sp>
      <p:sp>
        <p:nvSpPr>
          <p:cNvPr id="27663" name="Line 15"/>
          <p:cNvSpPr>
            <a:spLocks noChangeShapeType="1"/>
          </p:cNvSpPr>
          <p:nvPr/>
        </p:nvSpPr>
        <p:spPr bwMode="auto">
          <a:xfrm>
            <a:off x="1828800" y="3048000"/>
            <a:ext cx="457200" cy="1588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664" name="Text Box 16"/>
          <p:cNvSpPr txBox="1">
            <a:spLocks noChangeArrowheads="1"/>
          </p:cNvSpPr>
          <p:nvPr/>
        </p:nvSpPr>
        <p:spPr bwMode="auto">
          <a:xfrm>
            <a:off x="2590800" y="2057400"/>
            <a:ext cx="794105" cy="365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>
                <a:solidFill>
                  <a:srgbClr val="C00000"/>
                </a:solidFill>
                <a:latin typeface="Calibri" pitchFamily="34" charset="0"/>
              </a:rPr>
              <a:t>Case 1</a:t>
            </a:r>
          </a:p>
        </p:txBody>
      </p:sp>
      <p:sp>
        <p:nvSpPr>
          <p:cNvPr id="27665" name="Text Box 17"/>
          <p:cNvSpPr txBox="1">
            <a:spLocks noChangeArrowheads="1"/>
          </p:cNvSpPr>
          <p:nvPr/>
        </p:nvSpPr>
        <p:spPr bwMode="auto">
          <a:xfrm>
            <a:off x="4114800" y="2057400"/>
            <a:ext cx="794105" cy="365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>
                <a:solidFill>
                  <a:srgbClr val="C00000"/>
                </a:solidFill>
                <a:latin typeface="Calibri" pitchFamily="34" charset="0"/>
              </a:rPr>
              <a:t>Case 2</a:t>
            </a:r>
          </a:p>
        </p:txBody>
      </p:sp>
      <p:sp>
        <p:nvSpPr>
          <p:cNvPr id="27666" name="Text Box 18"/>
          <p:cNvSpPr txBox="1">
            <a:spLocks noChangeArrowheads="1"/>
          </p:cNvSpPr>
          <p:nvPr/>
        </p:nvSpPr>
        <p:spPr bwMode="auto">
          <a:xfrm>
            <a:off x="5638800" y="2057400"/>
            <a:ext cx="794105" cy="365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>
                <a:solidFill>
                  <a:srgbClr val="C00000"/>
                </a:solidFill>
                <a:latin typeface="Calibri" pitchFamily="34" charset="0"/>
              </a:rPr>
              <a:t>Case 3</a:t>
            </a:r>
          </a:p>
        </p:txBody>
      </p:sp>
      <p:sp>
        <p:nvSpPr>
          <p:cNvPr id="27667" name="Text Box 19"/>
          <p:cNvSpPr txBox="1">
            <a:spLocks noChangeArrowheads="1"/>
          </p:cNvSpPr>
          <p:nvPr/>
        </p:nvSpPr>
        <p:spPr bwMode="auto">
          <a:xfrm>
            <a:off x="7162800" y="2057400"/>
            <a:ext cx="794105" cy="365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>
                <a:solidFill>
                  <a:srgbClr val="C00000"/>
                </a:solidFill>
                <a:latin typeface="Calibri" pitchFamily="34" charset="0"/>
              </a:rPr>
              <a:t>Case 4</a:t>
            </a:r>
          </a:p>
        </p:txBody>
      </p:sp>
    </p:spTree>
    <p:extLst>
      <p:ext uri="{BB962C8B-B14F-4D97-AF65-F5344CB8AC3E}">
        <p14:creationId xmlns:p14="http://schemas.microsoft.com/office/powerpoint/2010/main" val="255118276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ChangeArrowheads="1"/>
          </p:cNvSpPr>
          <p:nvPr/>
        </p:nvSpPr>
        <p:spPr bwMode="auto">
          <a:xfrm>
            <a:off x="1752600" y="19050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m1</a:t>
            </a:r>
          </a:p>
        </p:txBody>
      </p:sp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3048000" y="19050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</a:t>
            </a: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1752600" y="2209800"/>
            <a:ext cx="1676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title"/>
          </p:nvPr>
        </p:nvSpPr>
        <p:spPr>
          <a:xfrm>
            <a:off x="419100" y="483417"/>
            <a:ext cx="83058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Constant Time Coalescing (Case 1)</a:t>
            </a: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1752600" y="25146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1752600" y="25146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m1</a:t>
            </a: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3048000" y="25146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</a:t>
            </a: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1752600" y="19050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>
            <a:off x="2590800" y="4191000"/>
            <a:ext cx="1588" cy="4572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1752600" y="2819400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n</a:t>
            </a:r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3048000" y="28194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</a:t>
            </a:r>
          </a:p>
        </p:txBody>
      </p:sp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1752600" y="3124200"/>
            <a:ext cx="1676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5" name="Rectangle 13"/>
          <p:cNvSpPr>
            <a:spLocks noChangeArrowheads="1"/>
          </p:cNvSpPr>
          <p:nvPr/>
        </p:nvSpPr>
        <p:spPr bwMode="auto">
          <a:xfrm>
            <a:off x="1752600" y="34290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6" name="Rectangle 14"/>
          <p:cNvSpPr>
            <a:spLocks noChangeArrowheads="1"/>
          </p:cNvSpPr>
          <p:nvPr/>
        </p:nvSpPr>
        <p:spPr bwMode="auto">
          <a:xfrm>
            <a:off x="1752600" y="3429000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n</a:t>
            </a:r>
          </a:p>
        </p:txBody>
      </p:sp>
      <p:sp>
        <p:nvSpPr>
          <p:cNvPr id="28687" name="Rectangle 15"/>
          <p:cNvSpPr>
            <a:spLocks noChangeArrowheads="1"/>
          </p:cNvSpPr>
          <p:nvPr/>
        </p:nvSpPr>
        <p:spPr bwMode="auto">
          <a:xfrm>
            <a:off x="3048000" y="34290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</a:t>
            </a:r>
          </a:p>
        </p:txBody>
      </p:sp>
      <p:sp>
        <p:nvSpPr>
          <p:cNvPr id="28688" name="Rectangle 16"/>
          <p:cNvSpPr>
            <a:spLocks noChangeArrowheads="1"/>
          </p:cNvSpPr>
          <p:nvPr/>
        </p:nvSpPr>
        <p:spPr bwMode="auto">
          <a:xfrm>
            <a:off x="1752600" y="28194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9" name="Rectangle 17"/>
          <p:cNvSpPr>
            <a:spLocks noChangeArrowheads="1"/>
          </p:cNvSpPr>
          <p:nvPr/>
        </p:nvSpPr>
        <p:spPr bwMode="auto">
          <a:xfrm>
            <a:off x="1752600" y="37338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m2</a:t>
            </a:r>
          </a:p>
        </p:txBody>
      </p:sp>
      <p:sp>
        <p:nvSpPr>
          <p:cNvPr id="28690" name="Rectangle 18"/>
          <p:cNvSpPr>
            <a:spLocks noChangeArrowheads="1"/>
          </p:cNvSpPr>
          <p:nvPr/>
        </p:nvSpPr>
        <p:spPr bwMode="auto">
          <a:xfrm>
            <a:off x="3048000" y="37338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</a:t>
            </a:r>
          </a:p>
        </p:txBody>
      </p:sp>
      <p:sp>
        <p:nvSpPr>
          <p:cNvPr id="28691" name="Rectangle 19"/>
          <p:cNvSpPr>
            <a:spLocks noChangeArrowheads="1"/>
          </p:cNvSpPr>
          <p:nvPr/>
        </p:nvSpPr>
        <p:spPr bwMode="auto">
          <a:xfrm>
            <a:off x="1752600" y="4038600"/>
            <a:ext cx="1676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92" name="Rectangle 20"/>
          <p:cNvSpPr>
            <a:spLocks noChangeArrowheads="1"/>
          </p:cNvSpPr>
          <p:nvPr/>
        </p:nvSpPr>
        <p:spPr bwMode="auto">
          <a:xfrm>
            <a:off x="1752600" y="43434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93" name="Rectangle 21"/>
          <p:cNvSpPr>
            <a:spLocks noChangeArrowheads="1"/>
          </p:cNvSpPr>
          <p:nvPr/>
        </p:nvSpPr>
        <p:spPr bwMode="auto">
          <a:xfrm>
            <a:off x="1752600" y="43434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m2</a:t>
            </a:r>
          </a:p>
        </p:txBody>
      </p:sp>
      <p:sp>
        <p:nvSpPr>
          <p:cNvPr id="28694" name="Rectangle 22"/>
          <p:cNvSpPr>
            <a:spLocks noChangeArrowheads="1"/>
          </p:cNvSpPr>
          <p:nvPr/>
        </p:nvSpPr>
        <p:spPr bwMode="auto">
          <a:xfrm>
            <a:off x="3048000" y="43434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</a:t>
            </a:r>
          </a:p>
        </p:txBody>
      </p:sp>
      <p:sp>
        <p:nvSpPr>
          <p:cNvPr id="28695" name="Rectangle 23"/>
          <p:cNvSpPr>
            <a:spLocks noChangeArrowheads="1"/>
          </p:cNvSpPr>
          <p:nvPr/>
        </p:nvSpPr>
        <p:spPr bwMode="auto">
          <a:xfrm>
            <a:off x="1752600" y="37338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3581400" y="1905000"/>
            <a:ext cx="2514600" cy="2743200"/>
            <a:chOff x="3581400" y="1905000"/>
            <a:chExt cx="2514600" cy="2743200"/>
          </a:xfrm>
        </p:grpSpPr>
        <p:sp>
          <p:nvSpPr>
            <p:cNvPr id="28696" name="Rectangle 24"/>
            <p:cNvSpPr>
              <a:spLocks noChangeArrowheads="1"/>
            </p:cNvSpPr>
            <p:nvPr/>
          </p:nvSpPr>
          <p:spPr bwMode="auto">
            <a:xfrm>
              <a:off x="4419600" y="19050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m1</a:t>
              </a:r>
            </a:p>
          </p:txBody>
        </p:sp>
        <p:sp>
          <p:nvSpPr>
            <p:cNvPr id="28697" name="Rectangle 25"/>
            <p:cNvSpPr>
              <a:spLocks noChangeArrowheads="1"/>
            </p:cNvSpPr>
            <p:nvPr/>
          </p:nvSpPr>
          <p:spPr bwMode="auto">
            <a:xfrm>
              <a:off x="5715000" y="19050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28698" name="Rectangle 26"/>
            <p:cNvSpPr>
              <a:spLocks noChangeArrowheads="1"/>
            </p:cNvSpPr>
            <p:nvPr/>
          </p:nvSpPr>
          <p:spPr bwMode="auto">
            <a:xfrm>
              <a:off x="4419600" y="2209800"/>
              <a:ext cx="1676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9" name="Rectangle 27"/>
            <p:cNvSpPr>
              <a:spLocks noChangeArrowheads="1"/>
            </p:cNvSpPr>
            <p:nvPr/>
          </p:nvSpPr>
          <p:spPr bwMode="auto">
            <a:xfrm>
              <a:off x="4419600" y="25146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0" name="Rectangle 28"/>
            <p:cNvSpPr>
              <a:spLocks noChangeArrowheads="1"/>
            </p:cNvSpPr>
            <p:nvPr/>
          </p:nvSpPr>
          <p:spPr bwMode="auto">
            <a:xfrm>
              <a:off x="4419600" y="25146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m1</a:t>
              </a:r>
            </a:p>
          </p:txBody>
        </p:sp>
        <p:sp>
          <p:nvSpPr>
            <p:cNvPr id="28701" name="Rectangle 29"/>
            <p:cNvSpPr>
              <a:spLocks noChangeArrowheads="1"/>
            </p:cNvSpPr>
            <p:nvPr/>
          </p:nvSpPr>
          <p:spPr bwMode="auto">
            <a:xfrm>
              <a:off x="5715000" y="25146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28702" name="Rectangle 30"/>
            <p:cNvSpPr>
              <a:spLocks noChangeArrowheads="1"/>
            </p:cNvSpPr>
            <p:nvPr/>
          </p:nvSpPr>
          <p:spPr bwMode="auto">
            <a:xfrm>
              <a:off x="4419600" y="1905000"/>
              <a:ext cx="1676400" cy="9144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3" name="Line 31"/>
            <p:cNvSpPr>
              <a:spLocks noChangeShapeType="1"/>
            </p:cNvSpPr>
            <p:nvPr/>
          </p:nvSpPr>
          <p:spPr bwMode="auto">
            <a:xfrm>
              <a:off x="5257800" y="4191000"/>
              <a:ext cx="1588" cy="457200"/>
            </a:xfrm>
            <a:prstGeom prst="line">
              <a:avLst/>
            </a:prstGeom>
            <a:noFill/>
            <a:ln w="2556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704" name="Rectangle 32"/>
            <p:cNvSpPr>
              <a:spLocks noChangeArrowheads="1"/>
            </p:cNvSpPr>
            <p:nvPr/>
          </p:nvSpPr>
          <p:spPr bwMode="auto">
            <a:xfrm>
              <a:off x="4419600" y="28194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n</a:t>
              </a:r>
            </a:p>
          </p:txBody>
        </p:sp>
        <p:sp>
          <p:nvSpPr>
            <p:cNvPr id="28705" name="Rectangle 33"/>
            <p:cNvSpPr>
              <a:spLocks noChangeArrowheads="1"/>
            </p:cNvSpPr>
            <p:nvPr/>
          </p:nvSpPr>
          <p:spPr bwMode="auto">
            <a:xfrm>
              <a:off x="5715000" y="28194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28706" name="Rectangle 34"/>
            <p:cNvSpPr>
              <a:spLocks noChangeArrowheads="1"/>
            </p:cNvSpPr>
            <p:nvPr/>
          </p:nvSpPr>
          <p:spPr bwMode="auto">
            <a:xfrm>
              <a:off x="4419600" y="3124200"/>
              <a:ext cx="1676400" cy="304800"/>
            </a:xfrm>
            <a:prstGeom prst="rect">
              <a:avLst/>
            </a:prstGeom>
            <a:solidFill>
              <a:schemeClr val="bg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7" name="Rectangle 35"/>
            <p:cNvSpPr>
              <a:spLocks noChangeArrowheads="1"/>
            </p:cNvSpPr>
            <p:nvPr/>
          </p:nvSpPr>
          <p:spPr bwMode="auto">
            <a:xfrm>
              <a:off x="4419600" y="34290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8" name="Rectangle 36"/>
            <p:cNvSpPr>
              <a:spLocks noChangeArrowheads="1"/>
            </p:cNvSpPr>
            <p:nvPr/>
          </p:nvSpPr>
          <p:spPr bwMode="auto">
            <a:xfrm>
              <a:off x="4419600" y="34290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n</a:t>
              </a:r>
            </a:p>
          </p:txBody>
        </p:sp>
        <p:sp>
          <p:nvSpPr>
            <p:cNvPr id="28709" name="Rectangle 37"/>
            <p:cNvSpPr>
              <a:spLocks noChangeArrowheads="1"/>
            </p:cNvSpPr>
            <p:nvPr/>
          </p:nvSpPr>
          <p:spPr bwMode="auto">
            <a:xfrm>
              <a:off x="5715000" y="34290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28710" name="Rectangle 38"/>
            <p:cNvSpPr>
              <a:spLocks noChangeArrowheads="1"/>
            </p:cNvSpPr>
            <p:nvPr/>
          </p:nvSpPr>
          <p:spPr bwMode="auto">
            <a:xfrm>
              <a:off x="4419600" y="2819400"/>
              <a:ext cx="1676400" cy="9144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1" name="Rectangle 39"/>
            <p:cNvSpPr>
              <a:spLocks noChangeArrowheads="1"/>
            </p:cNvSpPr>
            <p:nvPr/>
          </p:nvSpPr>
          <p:spPr bwMode="auto">
            <a:xfrm>
              <a:off x="4419600" y="37338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m2</a:t>
              </a:r>
            </a:p>
          </p:txBody>
        </p:sp>
        <p:sp>
          <p:nvSpPr>
            <p:cNvPr id="28712" name="Rectangle 40"/>
            <p:cNvSpPr>
              <a:spLocks noChangeArrowheads="1"/>
            </p:cNvSpPr>
            <p:nvPr/>
          </p:nvSpPr>
          <p:spPr bwMode="auto">
            <a:xfrm>
              <a:off x="5715000" y="37338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28713" name="Rectangle 41"/>
            <p:cNvSpPr>
              <a:spLocks noChangeArrowheads="1"/>
            </p:cNvSpPr>
            <p:nvPr/>
          </p:nvSpPr>
          <p:spPr bwMode="auto">
            <a:xfrm>
              <a:off x="4419600" y="4038600"/>
              <a:ext cx="1676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4" name="Rectangle 42"/>
            <p:cNvSpPr>
              <a:spLocks noChangeArrowheads="1"/>
            </p:cNvSpPr>
            <p:nvPr/>
          </p:nvSpPr>
          <p:spPr bwMode="auto">
            <a:xfrm>
              <a:off x="4419600" y="43434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5" name="Rectangle 43"/>
            <p:cNvSpPr>
              <a:spLocks noChangeArrowheads="1"/>
            </p:cNvSpPr>
            <p:nvPr/>
          </p:nvSpPr>
          <p:spPr bwMode="auto">
            <a:xfrm>
              <a:off x="4419600" y="43434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m2</a:t>
              </a:r>
            </a:p>
          </p:txBody>
        </p:sp>
        <p:sp>
          <p:nvSpPr>
            <p:cNvPr id="28716" name="Rectangle 44"/>
            <p:cNvSpPr>
              <a:spLocks noChangeArrowheads="1"/>
            </p:cNvSpPr>
            <p:nvPr/>
          </p:nvSpPr>
          <p:spPr bwMode="auto">
            <a:xfrm>
              <a:off x="5715000" y="43434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28717" name="Rectangle 45"/>
            <p:cNvSpPr>
              <a:spLocks noChangeArrowheads="1"/>
            </p:cNvSpPr>
            <p:nvPr/>
          </p:nvSpPr>
          <p:spPr bwMode="auto">
            <a:xfrm>
              <a:off x="4419600" y="3733800"/>
              <a:ext cx="1676400" cy="9144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8" name="Line 46"/>
            <p:cNvSpPr>
              <a:spLocks noChangeShapeType="1"/>
            </p:cNvSpPr>
            <p:nvPr/>
          </p:nvSpPr>
          <p:spPr bwMode="auto">
            <a:xfrm>
              <a:off x="3581400" y="3276600"/>
              <a:ext cx="609600" cy="1588"/>
            </a:xfrm>
            <a:prstGeom prst="line">
              <a:avLst/>
            </a:prstGeom>
            <a:noFill/>
            <a:ln w="2556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29908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>
          <a:xfrm>
            <a:off x="419100" y="533400"/>
            <a:ext cx="83058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Constant Time Coalescing (Case 2)</a:t>
            </a:r>
          </a:p>
        </p:txBody>
      </p:sp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1752600" y="19050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m1</a:t>
            </a:r>
          </a:p>
        </p:txBody>
      </p:sp>
      <p:sp>
        <p:nvSpPr>
          <p:cNvPr id="29711" name="Rectangle 15"/>
          <p:cNvSpPr>
            <a:spLocks noChangeArrowheads="1"/>
          </p:cNvSpPr>
          <p:nvPr/>
        </p:nvSpPr>
        <p:spPr bwMode="auto">
          <a:xfrm>
            <a:off x="3048000" y="19050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</a:t>
            </a:r>
          </a:p>
        </p:txBody>
      </p:sp>
      <p:sp>
        <p:nvSpPr>
          <p:cNvPr id="29712" name="Rectangle 16"/>
          <p:cNvSpPr>
            <a:spLocks noChangeArrowheads="1"/>
          </p:cNvSpPr>
          <p:nvPr/>
        </p:nvSpPr>
        <p:spPr bwMode="auto">
          <a:xfrm>
            <a:off x="1752600" y="2209800"/>
            <a:ext cx="1676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13" name="Rectangle 17"/>
          <p:cNvSpPr>
            <a:spLocks noChangeArrowheads="1"/>
          </p:cNvSpPr>
          <p:nvPr/>
        </p:nvSpPr>
        <p:spPr bwMode="auto">
          <a:xfrm>
            <a:off x="1752600" y="25146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14" name="Rectangle 18"/>
          <p:cNvSpPr>
            <a:spLocks noChangeArrowheads="1"/>
          </p:cNvSpPr>
          <p:nvPr/>
        </p:nvSpPr>
        <p:spPr bwMode="auto">
          <a:xfrm>
            <a:off x="1752600" y="25146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m1</a:t>
            </a:r>
          </a:p>
        </p:txBody>
      </p:sp>
      <p:sp>
        <p:nvSpPr>
          <p:cNvPr id="29715" name="Rectangle 19"/>
          <p:cNvSpPr>
            <a:spLocks noChangeArrowheads="1"/>
          </p:cNvSpPr>
          <p:nvPr/>
        </p:nvSpPr>
        <p:spPr bwMode="auto">
          <a:xfrm>
            <a:off x="3048000" y="25146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</a:t>
            </a:r>
          </a:p>
        </p:txBody>
      </p:sp>
      <p:sp>
        <p:nvSpPr>
          <p:cNvPr id="29716" name="Rectangle 20"/>
          <p:cNvSpPr>
            <a:spLocks noChangeArrowheads="1"/>
          </p:cNvSpPr>
          <p:nvPr/>
        </p:nvSpPr>
        <p:spPr bwMode="auto">
          <a:xfrm>
            <a:off x="1752600" y="19050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17" name="Line 21"/>
          <p:cNvSpPr>
            <a:spLocks noChangeShapeType="1"/>
          </p:cNvSpPr>
          <p:nvPr/>
        </p:nvSpPr>
        <p:spPr bwMode="auto">
          <a:xfrm>
            <a:off x="2590800" y="4191000"/>
            <a:ext cx="1588" cy="4572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18" name="Rectangle 22"/>
          <p:cNvSpPr>
            <a:spLocks noChangeArrowheads="1"/>
          </p:cNvSpPr>
          <p:nvPr/>
        </p:nvSpPr>
        <p:spPr bwMode="auto">
          <a:xfrm>
            <a:off x="1752600" y="2819400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n</a:t>
            </a:r>
          </a:p>
        </p:txBody>
      </p:sp>
      <p:sp>
        <p:nvSpPr>
          <p:cNvPr id="29719" name="Rectangle 23"/>
          <p:cNvSpPr>
            <a:spLocks noChangeArrowheads="1"/>
          </p:cNvSpPr>
          <p:nvPr/>
        </p:nvSpPr>
        <p:spPr bwMode="auto">
          <a:xfrm>
            <a:off x="3048000" y="28194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</a:t>
            </a:r>
          </a:p>
        </p:txBody>
      </p:sp>
      <p:sp>
        <p:nvSpPr>
          <p:cNvPr id="29720" name="Rectangle 24"/>
          <p:cNvSpPr>
            <a:spLocks noChangeArrowheads="1"/>
          </p:cNvSpPr>
          <p:nvPr/>
        </p:nvSpPr>
        <p:spPr bwMode="auto">
          <a:xfrm>
            <a:off x="1752600" y="3124200"/>
            <a:ext cx="1676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1" name="Rectangle 25"/>
          <p:cNvSpPr>
            <a:spLocks noChangeArrowheads="1"/>
          </p:cNvSpPr>
          <p:nvPr/>
        </p:nvSpPr>
        <p:spPr bwMode="auto">
          <a:xfrm>
            <a:off x="1752600" y="34290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2" name="Rectangle 26"/>
          <p:cNvSpPr>
            <a:spLocks noChangeArrowheads="1"/>
          </p:cNvSpPr>
          <p:nvPr/>
        </p:nvSpPr>
        <p:spPr bwMode="auto">
          <a:xfrm>
            <a:off x="1752600" y="3429000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n</a:t>
            </a:r>
          </a:p>
        </p:txBody>
      </p:sp>
      <p:sp>
        <p:nvSpPr>
          <p:cNvPr id="29723" name="Rectangle 27"/>
          <p:cNvSpPr>
            <a:spLocks noChangeArrowheads="1"/>
          </p:cNvSpPr>
          <p:nvPr/>
        </p:nvSpPr>
        <p:spPr bwMode="auto">
          <a:xfrm>
            <a:off x="3048000" y="34290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</a:t>
            </a:r>
          </a:p>
        </p:txBody>
      </p:sp>
      <p:sp>
        <p:nvSpPr>
          <p:cNvPr id="29724" name="Rectangle 28"/>
          <p:cNvSpPr>
            <a:spLocks noChangeArrowheads="1"/>
          </p:cNvSpPr>
          <p:nvPr/>
        </p:nvSpPr>
        <p:spPr bwMode="auto">
          <a:xfrm>
            <a:off x="1752600" y="28194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5" name="Rectangle 29"/>
          <p:cNvSpPr>
            <a:spLocks noChangeArrowheads="1"/>
          </p:cNvSpPr>
          <p:nvPr/>
        </p:nvSpPr>
        <p:spPr bwMode="auto">
          <a:xfrm>
            <a:off x="1752600" y="3733800"/>
            <a:ext cx="12954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m2</a:t>
            </a:r>
          </a:p>
        </p:txBody>
      </p:sp>
      <p:sp>
        <p:nvSpPr>
          <p:cNvPr id="29726" name="Rectangle 30"/>
          <p:cNvSpPr>
            <a:spLocks noChangeArrowheads="1"/>
          </p:cNvSpPr>
          <p:nvPr/>
        </p:nvSpPr>
        <p:spPr bwMode="auto">
          <a:xfrm>
            <a:off x="3048000" y="3733800"/>
            <a:ext cx="3810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0</a:t>
            </a:r>
          </a:p>
        </p:txBody>
      </p:sp>
      <p:sp>
        <p:nvSpPr>
          <p:cNvPr id="29727" name="Rectangle 31"/>
          <p:cNvSpPr>
            <a:spLocks noChangeArrowheads="1"/>
          </p:cNvSpPr>
          <p:nvPr/>
        </p:nvSpPr>
        <p:spPr bwMode="auto">
          <a:xfrm>
            <a:off x="1752600" y="4038600"/>
            <a:ext cx="16764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8" name="Rectangle 32"/>
          <p:cNvSpPr>
            <a:spLocks noChangeArrowheads="1"/>
          </p:cNvSpPr>
          <p:nvPr/>
        </p:nvSpPr>
        <p:spPr bwMode="auto">
          <a:xfrm>
            <a:off x="1752600" y="43434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9" name="Rectangle 33"/>
          <p:cNvSpPr>
            <a:spLocks noChangeArrowheads="1"/>
          </p:cNvSpPr>
          <p:nvPr/>
        </p:nvSpPr>
        <p:spPr bwMode="auto">
          <a:xfrm>
            <a:off x="1752600" y="4343400"/>
            <a:ext cx="12954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m2</a:t>
            </a:r>
          </a:p>
        </p:txBody>
      </p:sp>
      <p:sp>
        <p:nvSpPr>
          <p:cNvPr id="29730" name="Rectangle 34"/>
          <p:cNvSpPr>
            <a:spLocks noChangeArrowheads="1"/>
          </p:cNvSpPr>
          <p:nvPr/>
        </p:nvSpPr>
        <p:spPr bwMode="auto">
          <a:xfrm>
            <a:off x="3048000" y="4343400"/>
            <a:ext cx="3810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0</a:t>
            </a:r>
          </a:p>
        </p:txBody>
      </p:sp>
      <p:sp>
        <p:nvSpPr>
          <p:cNvPr id="29731" name="Rectangle 35"/>
          <p:cNvSpPr>
            <a:spLocks noChangeArrowheads="1"/>
          </p:cNvSpPr>
          <p:nvPr/>
        </p:nvSpPr>
        <p:spPr bwMode="auto">
          <a:xfrm>
            <a:off x="1752600" y="37338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3733800" y="1905000"/>
            <a:ext cx="2514600" cy="2743200"/>
            <a:chOff x="3733800" y="1905000"/>
            <a:chExt cx="2514600" cy="2743200"/>
          </a:xfrm>
        </p:grpSpPr>
        <p:sp>
          <p:nvSpPr>
            <p:cNvPr id="29697" name="Rectangle 1"/>
            <p:cNvSpPr>
              <a:spLocks noChangeArrowheads="1"/>
            </p:cNvSpPr>
            <p:nvPr/>
          </p:nvSpPr>
          <p:spPr bwMode="auto">
            <a:xfrm>
              <a:off x="4572000" y="19050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m1</a:t>
              </a:r>
            </a:p>
          </p:txBody>
        </p:sp>
        <p:sp>
          <p:nvSpPr>
            <p:cNvPr id="29698" name="Rectangle 2"/>
            <p:cNvSpPr>
              <a:spLocks noChangeArrowheads="1"/>
            </p:cNvSpPr>
            <p:nvPr/>
          </p:nvSpPr>
          <p:spPr bwMode="auto">
            <a:xfrm>
              <a:off x="5867400" y="19050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29699" name="Rectangle 3"/>
            <p:cNvSpPr>
              <a:spLocks noChangeArrowheads="1"/>
            </p:cNvSpPr>
            <p:nvPr/>
          </p:nvSpPr>
          <p:spPr bwMode="auto">
            <a:xfrm>
              <a:off x="4572000" y="2209800"/>
              <a:ext cx="1676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1" name="Rectangle 5"/>
            <p:cNvSpPr>
              <a:spLocks noChangeArrowheads="1"/>
            </p:cNvSpPr>
            <p:nvPr/>
          </p:nvSpPr>
          <p:spPr bwMode="auto">
            <a:xfrm>
              <a:off x="4572000" y="25146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2" name="Rectangle 6"/>
            <p:cNvSpPr>
              <a:spLocks noChangeArrowheads="1"/>
            </p:cNvSpPr>
            <p:nvPr/>
          </p:nvSpPr>
          <p:spPr bwMode="auto">
            <a:xfrm>
              <a:off x="4572000" y="25146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m1</a:t>
              </a:r>
            </a:p>
          </p:txBody>
        </p:sp>
        <p:sp>
          <p:nvSpPr>
            <p:cNvPr id="29703" name="Rectangle 7"/>
            <p:cNvSpPr>
              <a:spLocks noChangeArrowheads="1"/>
            </p:cNvSpPr>
            <p:nvPr/>
          </p:nvSpPr>
          <p:spPr bwMode="auto">
            <a:xfrm>
              <a:off x="5867400" y="25146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29704" name="Rectangle 8"/>
            <p:cNvSpPr>
              <a:spLocks noChangeArrowheads="1"/>
            </p:cNvSpPr>
            <p:nvPr/>
          </p:nvSpPr>
          <p:spPr bwMode="auto">
            <a:xfrm>
              <a:off x="4572000" y="1905000"/>
              <a:ext cx="1676400" cy="9144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5" name="Rectangle 9"/>
            <p:cNvSpPr>
              <a:spLocks noChangeArrowheads="1"/>
            </p:cNvSpPr>
            <p:nvPr/>
          </p:nvSpPr>
          <p:spPr bwMode="auto">
            <a:xfrm>
              <a:off x="4572000" y="28194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n+m2</a:t>
              </a:r>
            </a:p>
          </p:txBody>
        </p:sp>
        <p:sp>
          <p:nvSpPr>
            <p:cNvPr id="29706" name="Rectangle 10"/>
            <p:cNvSpPr>
              <a:spLocks noChangeArrowheads="1"/>
            </p:cNvSpPr>
            <p:nvPr/>
          </p:nvSpPr>
          <p:spPr bwMode="auto">
            <a:xfrm>
              <a:off x="5867400" y="28194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29707" name="Rectangle 11"/>
            <p:cNvSpPr>
              <a:spLocks noChangeArrowheads="1"/>
            </p:cNvSpPr>
            <p:nvPr/>
          </p:nvSpPr>
          <p:spPr bwMode="auto">
            <a:xfrm>
              <a:off x="4572000" y="43434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8" name="Rectangle 12"/>
            <p:cNvSpPr>
              <a:spLocks noChangeArrowheads="1"/>
            </p:cNvSpPr>
            <p:nvPr/>
          </p:nvSpPr>
          <p:spPr bwMode="auto">
            <a:xfrm>
              <a:off x="4572000" y="43434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n+m2</a:t>
              </a:r>
            </a:p>
          </p:txBody>
        </p:sp>
        <p:sp>
          <p:nvSpPr>
            <p:cNvPr id="29709" name="Rectangle 13"/>
            <p:cNvSpPr>
              <a:spLocks noChangeArrowheads="1"/>
            </p:cNvSpPr>
            <p:nvPr/>
          </p:nvSpPr>
          <p:spPr bwMode="auto">
            <a:xfrm>
              <a:off x="5867400" y="43434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29732" name="Line 36"/>
            <p:cNvSpPr>
              <a:spLocks noChangeShapeType="1"/>
            </p:cNvSpPr>
            <p:nvPr/>
          </p:nvSpPr>
          <p:spPr bwMode="auto">
            <a:xfrm>
              <a:off x="3733800" y="3276600"/>
              <a:ext cx="609600" cy="1588"/>
            </a:xfrm>
            <a:prstGeom prst="line">
              <a:avLst/>
            </a:prstGeom>
            <a:noFill/>
            <a:ln w="2556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733" name="Rectangle 37"/>
            <p:cNvSpPr>
              <a:spLocks noChangeArrowheads="1"/>
            </p:cNvSpPr>
            <p:nvPr/>
          </p:nvSpPr>
          <p:spPr bwMode="auto">
            <a:xfrm>
              <a:off x="4572000" y="3124200"/>
              <a:ext cx="1676400" cy="1219200"/>
            </a:xfrm>
            <a:prstGeom prst="rect">
              <a:avLst/>
            </a:prstGeom>
            <a:solidFill>
              <a:schemeClr val="bg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4" name="Rectangle 38"/>
            <p:cNvSpPr>
              <a:spLocks noChangeArrowheads="1"/>
            </p:cNvSpPr>
            <p:nvPr/>
          </p:nvSpPr>
          <p:spPr bwMode="auto">
            <a:xfrm>
              <a:off x="4572000" y="2819400"/>
              <a:ext cx="1676400" cy="18288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9681997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ChangeArrowheads="1"/>
          </p:cNvSpPr>
          <p:nvPr/>
        </p:nvSpPr>
        <p:spPr bwMode="auto">
          <a:xfrm>
            <a:off x="1752600" y="19050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m1</a:t>
            </a:r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3048000" y="19050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0</a:t>
            </a: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1752600" y="22098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569913"/>
            <a:ext cx="83820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Constant Time Coalescing (Case 3)</a:t>
            </a: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1752600" y="25146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1752600" y="25146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m1</a:t>
            </a:r>
          </a:p>
        </p:txBody>
      </p:sp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3048000" y="25146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0</a:t>
            </a:r>
          </a:p>
        </p:txBody>
      </p: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1752600" y="19050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29" name="Line 9"/>
          <p:cNvSpPr>
            <a:spLocks noChangeShapeType="1"/>
          </p:cNvSpPr>
          <p:nvPr/>
        </p:nvSpPr>
        <p:spPr bwMode="auto">
          <a:xfrm>
            <a:off x="2590800" y="4191000"/>
            <a:ext cx="1588" cy="4572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30" name="Rectangle 10"/>
          <p:cNvSpPr>
            <a:spLocks noChangeArrowheads="1"/>
          </p:cNvSpPr>
          <p:nvPr/>
        </p:nvSpPr>
        <p:spPr bwMode="auto">
          <a:xfrm>
            <a:off x="1752600" y="2819400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n</a:t>
            </a:r>
          </a:p>
        </p:txBody>
      </p:sp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3048000" y="28194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</a:t>
            </a:r>
          </a:p>
        </p:txBody>
      </p:sp>
      <p:sp>
        <p:nvSpPr>
          <p:cNvPr id="30732" name="Rectangle 12"/>
          <p:cNvSpPr>
            <a:spLocks noChangeArrowheads="1"/>
          </p:cNvSpPr>
          <p:nvPr/>
        </p:nvSpPr>
        <p:spPr bwMode="auto">
          <a:xfrm>
            <a:off x="1752600" y="3124200"/>
            <a:ext cx="1676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33" name="Rectangle 13"/>
          <p:cNvSpPr>
            <a:spLocks noChangeArrowheads="1"/>
          </p:cNvSpPr>
          <p:nvPr/>
        </p:nvSpPr>
        <p:spPr bwMode="auto">
          <a:xfrm>
            <a:off x="1752600" y="34290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34" name="Rectangle 14"/>
          <p:cNvSpPr>
            <a:spLocks noChangeArrowheads="1"/>
          </p:cNvSpPr>
          <p:nvPr/>
        </p:nvSpPr>
        <p:spPr bwMode="auto">
          <a:xfrm>
            <a:off x="1752600" y="3429000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n</a:t>
            </a:r>
          </a:p>
        </p:txBody>
      </p:sp>
      <p:sp>
        <p:nvSpPr>
          <p:cNvPr id="30735" name="Rectangle 15"/>
          <p:cNvSpPr>
            <a:spLocks noChangeArrowheads="1"/>
          </p:cNvSpPr>
          <p:nvPr/>
        </p:nvSpPr>
        <p:spPr bwMode="auto">
          <a:xfrm>
            <a:off x="3048000" y="34290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</a:t>
            </a:r>
          </a:p>
        </p:txBody>
      </p:sp>
      <p:sp>
        <p:nvSpPr>
          <p:cNvPr id="30736" name="Rectangle 16"/>
          <p:cNvSpPr>
            <a:spLocks noChangeArrowheads="1"/>
          </p:cNvSpPr>
          <p:nvPr/>
        </p:nvSpPr>
        <p:spPr bwMode="auto">
          <a:xfrm>
            <a:off x="1752600" y="28194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37" name="Rectangle 17"/>
          <p:cNvSpPr>
            <a:spLocks noChangeArrowheads="1"/>
          </p:cNvSpPr>
          <p:nvPr/>
        </p:nvSpPr>
        <p:spPr bwMode="auto">
          <a:xfrm>
            <a:off x="1752600" y="37338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m2</a:t>
            </a:r>
          </a:p>
        </p:txBody>
      </p:sp>
      <p:sp>
        <p:nvSpPr>
          <p:cNvPr id="30738" name="Rectangle 18"/>
          <p:cNvSpPr>
            <a:spLocks noChangeArrowheads="1"/>
          </p:cNvSpPr>
          <p:nvPr/>
        </p:nvSpPr>
        <p:spPr bwMode="auto">
          <a:xfrm>
            <a:off x="3048000" y="37338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</a:t>
            </a:r>
          </a:p>
        </p:txBody>
      </p:sp>
      <p:sp>
        <p:nvSpPr>
          <p:cNvPr id="30739" name="Rectangle 19"/>
          <p:cNvSpPr>
            <a:spLocks noChangeArrowheads="1"/>
          </p:cNvSpPr>
          <p:nvPr/>
        </p:nvSpPr>
        <p:spPr bwMode="auto">
          <a:xfrm>
            <a:off x="1752600" y="4038600"/>
            <a:ext cx="1676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40" name="Rectangle 20"/>
          <p:cNvSpPr>
            <a:spLocks noChangeArrowheads="1"/>
          </p:cNvSpPr>
          <p:nvPr/>
        </p:nvSpPr>
        <p:spPr bwMode="auto">
          <a:xfrm>
            <a:off x="1752600" y="43434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41" name="Rectangle 21"/>
          <p:cNvSpPr>
            <a:spLocks noChangeArrowheads="1"/>
          </p:cNvSpPr>
          <p:nvPr/>
        </p:nvSpPr>
        <p:spPr bwMode="auto">
          <a:xfrm>
            <a:off x="1752600" y="43434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m2</a:t>
            </a:r>
          </a:p>
        </p:txBody>
      </p:sp>
      <p:sp>
        <p:nvSpPr>
          <p:cNvPr id="30742" name="Rectangle 22"/>
          <p:cNvSpPr>
            <a:spLocks noChangeArrowheads="1"/>
          </p:cNvSpPr>
          <p:nvPr/>
        </p:nvSpPr>
        <p:spPr bwMode="auto">
          <a:xfrm>
            <a:off x="3048000" y="43434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</a:t>
            </a:r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1752600" y="37338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3581400" y="1905000"/>
            <a:ext cx="2514600" cy="2743200"/>
            <a:chOff x="3581400" y="1905000"/>
            <a:chExt cx="2514600" cy="2743200"/>
          </a:xfrm>
        </p:grpSpPr>
        <p:sp>
          <p:nvSpPr>
            <p:cNvPr id="30744" name="Rectangle 24"/>
            <p:cNvSpPr>
              <a:spLocks noChangeArrowheads="1"/>
            </p:cNvSpPr>
            <p:nvPr/>
          </p:nvSpPr>
          <p:spPr bwMode="auto">
            <a:xfrm>
              <a:off x="4419600" y="19050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n+m1</a:t>
              </a:r>
            </a:p>
          </p:txBody>
        </p:sp>
        <p:sp>
          <p:nvSpPr>
            <p:cNvPr id="30745" name="Rectangle 25"/>
            <p:cNvSpPr>
              <a:spLocks noChangeArrowheads="1"/>
            </p:cNvSpPr>
            <p:nvPr/>
          </p:nvSpPr>
          <p:spPr bwMode="auto">
            <a:xfrm>
              <a:off x="5715000" y="19050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30746" name="Rectangle 26"/>
            <p:cNvSpPr>
              <a:spLocks noChangeArrowheads="1"/>
            </p:cNvSpPr>
            <p:nvPr/>
          </p:nvSpPr>
          <p:spPr bwMode="auto">
            <a:xfrm>
              <a:off x="4419600" y="2209800"/>
              <a:ext cx="1676400" cy="1219200"/>
            </a:xfrm>
            <a:prstGeom prst="rect">
              <a:avLst/>
            </a:prstGeom>
            <a:solidFill>
              <a:schemeClr val="bg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7" name="Line 27"/>
            <p:cNvSpPr>
              <a:spLocks noChangeShapeType="1"/>
            </p:cNvSpPr>
            <p:nvPr/>
          </p:nvSpPr>
          <p:spPr bwMode="auto">
            <a:xfrm>
              <a:off x="5257800" y="4191000"/>
              <a:ext cx="1588" cy="457200"/>
            </a:xfrm>
            <a:prstGeom prst="line">
              <a:avLst/>
            </a:prstGeom>
            <a:noFill/>
            <a:ln w="2556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748" name="Rectangle 28"/>
            <p:cNvSpPr>
              <a:spLocks noChangeArrowheads="1"/>
            </p:cNvSpPr>
            <p:nvPr/>
          </p:nvSpPr>
          <p:spPr bwMode="auto">
            <a:xfrm>
              <a:off x="4419600" y="34290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49" name="Rectangle 29"/>
            <p:cNvSpPr>
              <a:spLocks noChangeArrowheads="1"/>
            </p:cNvSpPr>
            <p:nvPr/>
          </p:nvSpPr>
          <p:spPr bwMode="auto">
            <a:xfrm>
              <a:off x="4419600" y="34290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n+m1</a:t>
              </a:r>
            </a:p>
          </p:txBody>
        </p:sp>
        <p:sp>
          <p:nvSpPr>
            <p:cNvPr id="30750" name="Rectangle 30"/>
            <p:cNvSpPr>
              <a:spLocks noChangeArrowheads="1"/>
            </p:cNvSpPr>
            <p:nvPr/>
          </p:nvSpPr>
          <p:spPr bwMode="auto">
            <a:xfrm>
              <a:off x="5715000" y="34290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30751" name="Rectangle 31"/>
            <p:cNvSpPr>
              <a:spLocks noChangeArrowheads="1"/>
            </p:cNvSpPr>
            <p:nvPr/>
          </p:nvSpPr>
          <p:spPr bwMode="auto">
            <a:xfrm>
              <a:off x="4419600" y="37338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m2</a:t>
              </a:r>
            </a:p>
          </p:txBody>
        </p:sp>
        <p:sp>
          <p:nvSpPr>
            <p:cNvPr id="30752" name="Rectangle 32"/>
            <p:cNvSpPr>
              <a:spLocks noChangeArrowheads="1"/>
            </p:cNvSpPr>
            <p:nvPr/>
          </p:nvSpPr>
          <p:spPr bwMode="auto">
            <a:xfrm>
              <a:off x="5715000" y="37338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30753" name="Rectangle 33"/>
            <p:cNvSpPr>
              <a:spLocks noChangeArrowheads="1"/>
            </p:cNvSpPr>
            <p:nvPr/>
          </p:nvSpPr>
          <p:spPr bwMode="auto">
            <a:xfrm>
              <a:off x="4419600" y="4038600"/>
              <a:ext cx="1676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4" name="Rectangle 34"/>
            <p:cNvSpPr>
              <a:spLocks noChangeArrowheads="1"/>
            </p:cNvSpPr>
            <p:nvPr/>
          </p:nvSpPr>
          <p:spPr bwMode="auto">
            <a:xfrm>
              <a:off x="4419600" y="43434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5" name="Rectangle 35"/>
            <p:cNvSpPr>
              <a:spLocks noChangeArrowheads="1"/>
            </p:cNvSpPr>
            <p:nvPr/>
          </p:nvSpPr>
          <p:spPr bwMode="auto">
            <a:xfrm>
              <a:off x="4419600" y="4343400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m2</a:t>
              </a:r>
            </a:p>
          </p:txBody>
        </p:sp>
        <p:sp>
          <p:nvSpPr>
            <p:cNvPr id="30756" name="Rectangle 36"/>
            <p:cNvSpPr>
              <a:spLocks noChangeArrowheads="1"/>
            </p:cNvSpPr>
            <p:nvPr/>
          </p:nvSpPr>
          <p:spPr bwMode="auto">
            <a:xfrm>
              <a:off x="5715000" y="434340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30757" name="Rectangle 37"/>
            <p:cNvSpPr>
              <a:spLocks noChangeArrowheads="1"/>
            </p:cNvSpPr>
            <p:nvPr/>
          </p:nvSpPr>
          <p:spPr bwMode="auto">
            <a:xfrm>
              <a:off x="4419600" y="3733800"/>
              <a:ext cx="1676400" cy="9144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8" name="Line 38"/>
            <p:cNvSpPr>
              <a:spLocks noChangeShapeType="1"/>
            </p:cNvSpPr>
            <p:nvPr/>
          </p:nvSpPr>
          <p:spPr bwMode="auto">
            <a:xfrm>
              <a:off x="3581400" y="3276600"/>
              <a:ext cx="609600" cy="1588"/>
            </a:xfrm>
            <a:prstGeom prst="line">
              <a:avLst/>
            </a:prstGeom>
            <a:noFill/>
            <a:ln w="2556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759" name="Rectangle 39"/>
            <p:cNvSpPr>
              <a:spLocks noChangeArrowheads="1"/>
            </p:cNvSpPr>
            <p:nvPr/>
          </p:nvSpPr>
          <p:spPr bwMode="auto">
            <a:xfrm>
              <a:off x="4419600" y="1905000"/>
              <a:ext cx="1676400" cy="18288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57620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ChangeArrowheads="1"/>
          </p:cNvSpPr>
          <p:nvPr/>
        </p:nvSpPr>
        <p:spPr bwMode="auto">
          <a:xfrm>
            <a:off x="1752600" y="19050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m1</a:t>
            </a:r>
          </a:p>
        </p:txBody>
      </p:sp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3048000" y="19050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0</a:t>
            </a: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1752600" y="22098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569913"/>
            <a:ext cx="83820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Constant Time Coalescing (Case 4)</a:t>
            </a:r>
          </a:p>
        </p:txBody>
      </p:sp>
      <p:sp>
        <p:nvSpPr>
          <p:cNvPr id="31749" name="Rectangle 5"/>
          <p:cNvSpPr>
            <a:spLocks noChangeArrowheads="1"/>
          </p:cNvSpPr>
          <p:nvPr/>
        </p:nvSpPr>
        <p:spPr bwMode="auto">
          <a:xfrm>
            <a:off x="1752600" y="25146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1752600" y="25146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m1</a:t>
            </a:r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3048000" y="25146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0</a:t>
            </a:r>
          </a:p>
        </p:txBody>
      </p:sp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1752600" y="19050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>
            <a:off x="2590800" y="4191000"/>
            <a:ext cx="1588" cy="4572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1752600" y="2819400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n</a:t>
            </a:r>
          </a:p>
        </p:txBody>
      </p:sp>
      <p:sp>
        <p:nvSpPr>
          <p:cNvPr id="31755" name="Rectangle 11"/>
          <p:cNvSpPr>
            <a:spLocks noChangeArrowheads="1"/>
          </p:cNvSpPr>
          <p:nvPr/>
        </p:nvSpPr>
        <p:spPr bwMode="auto">
          <a:xfrm>
            <a:off x="3048000" y="28194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</a:t>
            </a:r>
          </a:p>
        </p:txBody>
      </p:sp>
      <p:sp>
        <p:nvSpPr>
          <p:cNvPr id="31756" name="Rectangle 12"/>
          <p:cNvSpPr>
            <a:spLocks noChangeArrowheads="1"/>
          </p:cNvSpPr>
          <p:nvPr/>
        </p:nvSpPr>
        <p:spPr bwMode="auto">
          <a:xfrm>
            <a:off x="1752600" y="3124200"/>
            <a:ext cx="1676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57" name="Rectangle 13"/>
          <p:cNvSpPr>
            <a:spLocks noChangeArrowheads="1"/>
          </p:cNvSpPr>
          <p:nvPr/>
        </p:nvSpPr>
        <p:spPr bwMode="auto">
          <a:xfrm>
            <a:off x="1752600" y="34290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58" name="Rectangle 14"/>
          <p:cNvSpPr>
            <a:spLocks noChangeArrowheads="1"/>
          </p:cNvSpPr>
          <p:nvPr/>
        </p:nvSpPr>
        <p:spPr bwMode="auto">
          <a:xfrm>
            <a:off x="1752600" y="3429000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n</a:t>
            </a:r>
          </a:p>
        </p:txBody>
      </p:sp>
      <p:sp>
        <p:nvSpPr>
          <p:cNvPr id="31759" name="Rectangle 15"/>
          <p:cNvSpPr>
            <a:spLocks noChangeArrowheads="1"/>
          </p:cNvSpPr>
          <p:nvPr/>
        </p:nvSpPr>
        <p:spPr bwMode="auto">
          <a:xfrm>
            <a:off x="3048000" y="34290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</a:t>
            </a:r>
          </a:p>
        </p:txBody>
      </p:sp>
      <p:sp>
        <p:nvSpPr>
          <p:cNvPr id="31760" name="Rectangle 16"/>
          <p:cNvSpPr>
            <a:spLocks noChangeArrowheads="1"/>
          </p:cNvSpPr>
          <p:nvPr/>
        </p:nvSpPr>
        <p:spPr bwMode="auto">
          <a:xfrm>
            <a:off x="1752600" y="28194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61" name="Rectangle 17"/>
          <p:cNvSpPr>
            <a:spLocks noChangeArrowheads="1"/>
          </p:cNvSpPr>
          <p:nvPr/>
        </p:nvSpPr>
        <p:spPr bwMode="auto">
          <a:xfrm>
            <a:off x="1752600" y="37338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m2</a:t>
            </a:r>
          </a:p>
        </p:txBody>
      </p:sp>
      <p:sp>
        <p:nvSpPr>
          <p:cNvPr id="31762" name="Rectangle 18"/>
          <p:cNvSpPr>
            <a:spLocks noChangeArrowheads="1"/>
          </p:cNvSpPr>
          <p:nvPr/>
        </p:nvSpPr>
        <p:spPr bwMode="auto">
          <a:xfrm>
            <a:off x="3048000" y="37338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0</a:t>
            </a:r>
          </a:p>
        </p:txBody>
      </p:sp>
      <p:sp>
        <p:nvSpPr>
          <p:cNvPr id="31763" name="Rectangle 19"/>
          <p:cNvSpPr>
            <a:spLocks noChangeArrowheads="1"/>
          </p:cNvSpPr>
          <p:nvPr/>
        </p:nvSpPr>
        <p:spPr bwMode="auto">
          <a:xfrm>
            <a:off x="1752600" y="40386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64" name="Rectangle 20"/>
          <p:cNvSpPr>
            <a:spLocks noChangeArrowheads="1"/>
          </p:cNvSpPr>
          <p:nvPr/>
        </p:nvSpPr>
        <p:spPr bwMode="auto">
          <a:xfrm>
            <a:off x="1752600" y="43434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765" name="Rectangle 21"/>
          <p:cNvSpPr>
            <a:spLocks noChangeArrowheads="1"/>
          </p:cNvSpPr>
          <p:nvPr/>
        </p:nvSpPr>
        <p:spPr bwMode="auto">
          <a:xfrm>
            <a:off x="1752600" y="43434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m2</a:t>
            </a:r>
          </a:p>
        </p:txBody>
      </p:sp>
      <p:sp>
        <p:nvSpPr>
          <p:cNvPr id="31766" name="Rectangle 22"/>
          <p:cNvSpPr>
            <a:spLocks noChangeArrowheads="1"/>
          </p:cNvSpPr>
          <p:nvPr/>
        </p:nvSpPr>
        <p:spPr bwMode="auto">
          <a:xfrm>
            <a:off x="3048000" y="43434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0</a:t>
            </a:r>
          </a:p>
        </p:txBody>
      </p:sp>
      <p:sp>
        <p:nvSpPr>
          <p:cNvPr id="31767" name="Rectangle 23"/>
          <p:cNvSpPr>
            <a:spLocks noChangeArrowheads="1"/>
          </p:cNvSpPr>
          <p:nvPr/>
        </p:nvSpPr>
        <p:spPr bwMode="auto">
          <a:xfrm>
            <a:off x="1752600" y="37338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3581400" y="1905000"/>
            <a:ext cx="2514600" cy="2743200"/>
            <a:chOff x="3581400" y="1905000"/>
            <a:chExt cx="2514600" cy="2743200"/>
          </a:xfrm>
        </p:grpSpPr>
        <p:sp>
          <p:nvSpPr>
            <p:cNvPr id="31768" name="Rectangle 24"/>
            <p:cNvSpPr>
              <a:spLocks noChangeArrowheads="1"/>
            </p:cNvSpPr>
            <p:nvPr/>
          </p:nvSpPr>
          <p:spPr bwMode="auto">
            <a:xfrm>
              <a:off x="4419600" y="19050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n+m1+m2</a:t>
              </a:r>
            </a:p>
          </p:txBody>
        </p:sp>
        <p:sp>
          <p:nvSpPr>
            <p:cNvPr id="31769" name="Rectangle 25"/>
            <p:cNvSpPr>
              <a:spLocks noChangeArrowheads="1"/>
            </p:cNvSpPr>
            <p:nvPr/>
          </p:nvSpPr>
          <p:spPr bwMode="auto">
            <a:xfrm>
              <a:off x="5715000" y="19050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31770" name="Rectangle 26"/>
            <p:cNvSpPr>
              <a:spLocks noChangeArrowheads="1"/>
            </p:cNvSpPr>
            <p:nvPr/>
          </p:nvSpPr>
          <p:spPr bwMode="auto">
            <a:xfrm>
              <a:off x="4419600" y="2209800"/>
              <a:ext cx="1676400" cy="2133600"/>
            </a:xfrm>
            <a:prstGeom prst="rect">
              <a:avLst/>
            </a:prstGeom>
            <a:solidFill>
              <a:schemeClr val="bg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1" name="Rectangle 27"/>
            <p:cNvSpPr>
              <a:spLocks noChangeArrowheads="1"/>
            </p:cNvSpPr>
            <p:nvPr/>
          </p:nvSpPr>
          <p:spPr bwMode="auto">
            <a:xfrm>
              <a:off x="4419600" y="43434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2" name="Rectangle 28"/>
            <p:cNvSpPr>
              <a:spLocks noChangeArrowheads="1"/>
            </p:cNvSpPr>
            <p:nvPr/>
          </p:nvSpPr>
          <p:spPr bwMode="auto">
            <a:xfrm>
              <a:off x="4419600" y="43434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n+m1+m2</a:t>
              </a:r>
            </a:p>
          </p:txBody>
        </p:sp>
        <p:sp>
          <p:nvSpPr>
            <p:cNvPr id="31773" name="Rectangle 29"/>
            <p:cNvSpPr>
              <a:spLocks noChangeArrowheads="1"/>
            </p:cNvSpPr>
            <p:nvPr/>
          </p:nvSpPr>
          <p:spPr bwMode="auto">
            <a:xfrm>
              <a:off x="5715000" y="43434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0</a:t>
              </a:r>
            </a:p>
          </p:txBody>
        </p:sp>
        <p:sp>
          <p:nvSpPr>
            <p:cNvPr id="31774" name="Line 30"/>
            <p:cNvSpPr>
              <a:spLocks noChangeShapeType="1"/>
            </p:cNvSpPr>
            <p:nvPr/>
          </p:nvSpPr>
          <p:spPr bwMode="auto">
            <a:xfrm>
              <a:off x="3581400" y="3276600"/>
              <a:ext cx="609600" cy="1588"/>
            </a:xfrm>
            <a:prstGeom prst="line">
              <a:avLst/>
            </a:prstGeom>
            <a:noFill/>
            <a:ln w="2556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775" name="Rectangle 31"/>
            <p:cNvSpPr>
              <a:spLocks noChangeArrowheads="1"/>
            </p:cNvSpPr>
            <p:nvPr/>
          </p:nvSpPr>
          <p:spPr bwMode="auto">
            <a:xfrm>
              <a:off x="4419600" y="1905000"/>
              <a:ext cx="1676400" cy="27432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536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Boundary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52550"/>
            <a:ext cx="7896225" cy="4972050"/>
          </a:xfrm>
        </p:spPr>
        <p:txBody>
          <a:bodyPr/>
          <a:lstStyle/>
          <a:p>
            <a:r>
              <a:rPr lang="en-US" dirty="0"/>
              <a:t>Internal fragmentation</a:t>
            </a:r>
          </a:p>
          <a:p>
            <a:endParaRPr lang="en-US" dirty="0"/>
          </a:p>
          <a:p>
            <a:r>
              <a:rPr lang="en-US" dirty="0"/>
              <a:t>Can it be optimized?</a:t>
            </a:r>
          </a:p>
          <a:p>
            <a:pPr lvl="1"/>
            <a:r>
              <a:rPr lang="en-US" dirty="0"/>
              <a:t>Which blocks need the footer tag?</a:t>
            </a:r>
          </a:p>
          <a:p>
            <a:pPr lvl="1"/>
            <a:r>
              <a:rPr lang="en-US" dirty="0"/>
              <a:t>What does that mean?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93F57139-4973-46EF-A295-D3149FB01D9D}"/>
              </a:ext>
            </a:extLst>
          </p:cNvPr>
          <p:cNvGrpSpPr/>
          <p:nvPr/>
        </p:nvGrpSpPr>
        <p:grpSpPr>
          <a:xfrm>
            <a:off x="6172200" y="1981200"/>
            <a:ext cx="1677987" cy="2042584"/>
            <a:chOff x="3109913" y="4275288"/>
            <a:chExt cx="1677987" cy="204258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247B472C-40D0-47BD-A8FD-125D39632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0" y="4275288"/>
              <a:ext cx="1370013" cy="3810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S</a:t>
              </a:r>
              <a:r>
                <a:rPr lang="en-GB" sz="1600" b="1" dirty="0">
                  <a:latin typeface="Calibri" pitchFamily="34" charset="0"/>
                </a:rPr>
                <a:t>ize</a:t>
              </a:r>
            </a:p>
          </p:txBody>
        </p:sp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xmlns="" id="{9C049783-DB1F-4D16-B893-899494DCE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0" y="4656288"/>
              <a:ext cx="1676400" cy="1285875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P</a:t>
              </a:r>
              <a:r>
                <a:rPr lang="en-GB" sz="1600" b="1" dirty="0">
                  <a:latin typeface="Calibri" pitchFamily="34" charset="0"/>
                </a:rPr>
                <a:t>ayload and</a:t>
              </a:r>
            </a:p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padding</a:t>
              </a:r>
            </a:p>
          </p:txBody>
        </p:sp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xmlns="" id="{C930DBF7-B355-470B-A8F1-628DEE31B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100" y="4275288"/>
              <a:ext cx="304800" cy="381000"/>
            </a:xfrm>
            <a:prstGeom prst="rect">
              <a:avLst/>
            </a:prstGeom>
            <a:solidFill>
              <a:srgbClr val="EBAFA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a</a:t>
              </a:r>
            </a:p>
          </p:txBody>
        </p: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xmlns="" id="{A8B5133E-3153-4C43-89E6-96984164B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9913" y="5936872"/>
              <a:ext cx="1370012" cy="3810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S</a:t>
              </a:r>
              <a:r>
                <a:rPr lang="en-GB" sz="1600" b="1" dirty="0">
                  <a:latin typeface="Calibri" pitchFamily="34" charset="0"/>
                </a:rPr>
                <a:t>ize</a:t>
              </a:r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xmlns="" id="{8E78BD71-016E-4E92-8921-292A900FF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100" y="5936872"/>
              <a:ext cx="304800" cy="381000"/>
            </a:xfrm>
            <a:prstGeom prst="rect">
              <a:avLst/>
            </a:prstGeom>
            <a:solidFill>
              <a:srgbClr val="EBAFA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29321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 Boundary Tag for Allocated Blocks</a:t>
            </a:r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990600" y="3340779"/>
            <a:ext cx="1370012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</a:t>
            </a:r>
            <a:r>
              <a:rPr lang="en-GB" sz="1600" b="1" dirty="0">
                <a:latin typeface="Calibri" pitchFamily="34" charset="0"/>
              </a:rPr>
              <a:t>ize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442404" y="2671004"/>
            <a:ext cx="775446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 word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990600" y="3721779"/>
            <a:ext cx="1676400" cy="1285875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</a:t>
            </a:r>
            <a:r>
              <a:rPr lang="en-GB" sz="1600" b="1" dirty="0">
                <a:latin typeface="Calibri" pitchFamily="34" charset="0"/>
              </a:rPr>
              <a:t>ayload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3025775" y="3363435"/>
            <a:ext cx="2931550" cy="202478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a = 1: Allocated block 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a = 0: Free block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b = 1: Previous block is allocated</a:t>
            </a:r>
            <a:endParaRPr lang="en-GB" sz="1600" b="1" dirty="0">
              <a:solidFill>
                <a:srgbClr val="C00000"/>
              </a:solidFill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b = 0: Previous block is free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b="1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</a:t>
            </a:r>
            <a:r>
              <a:rPr lang="en-GB" sz="1600" b="1" dirty="0">
                <a:latin typeface="Calibri" pitchFamily="34" charset="0"/>
              </a:rPr>
              <a:t>ize: block size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b="1" dirty="0">
              <a:latin typeface="Calibri" pitchFamily="34" charset="0"/>
            </a:endParaRP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</a:t>
            </a:r>
            <a:r>
              <a:rPr lang="en-GB" sz="1600" b="1" dirty="0">
                <a:latin typeface="Calibri" pitchFamily="34" charset="0"/>
              </a:rPr>
              <a:t>ayload: application data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362200" y="3340779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smtClean="0">
                <a:solidFill>
                  <a:srgbClr val="C00000"/>
                </a:solidFill>
                <a:latin typeface="Calibri" pitchFamily="34" charset="0"/>
              </a:rPr>
              <a:t>b</a:t>
            </a:r>
            <a:r>
              <a:rPr lang="en-GB" sz="1600" dirty="0" smtClean="0">
                <a:solidFill>
                  <a:srgbClr val="0070C0"/>
                </a:solidFill>
                <a:latin typeface="Calibri" pitchFamily="34" charset="0"/>
              </a:rPr>
              <a:t>1</a:t>
            </a:r>
            <a:endParaRPr lang="en-GB" sz="1600" b="1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990600" y="5004479"/>
            <a:ext cx="1676400" cy="6858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O</a:t>
            </a:r>
            <a:r>
              <a:rPr lang="en-GB" sz="1600" b="1" dirty="0">
                <a:latin typeface="Calibri" pitchFamily="34" charset="0"/>
              </a:rPr>
              <a:t>ptional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padding</a:t>
            </a:r>
          </a:p>
        </p:txBody>
      </p:sp>
      <p:sp>
        <p:nvSpPr>
          <p:cNvPr id="10" name="AutoShape 8"/>
          <p:cNvSpPr>
            <a:spLocks/>
          </p:cNvSpPr>
          <p:nvPr/>
        </p:nvSpPr>
        <p:spPr bwMode="auto">
          <a:xfrm rot="16200000">
            <a:off x="1714502" y="2282903"/>
            <a:ext cx="228600" cy="1676401"/>
          </a:xfrm>
          <a:prstGeom prst="rightBrace">
            <a:avLst>
              <a:gd name="adj1" fmla="val 118750"/>
              <a:gd name="adj2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6399213" y="3306385"/>
            <a:ext cx="1370013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</a:t>
            </a:r>
            <a:r>
              <a:rPr lang="en-GB" sz="1600" b="1" dirty="0">
                <a:latin typeface="Calibri" pitchFamily="34" charset="0"/>
              </a:rPr>
              <a:t>ize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6400801" y="3692603"/>
            <a:ext cx="1676400" cy="16166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Unallocated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7772401" y="3306385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b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6399214" y="5309279"/>
            <a:ext cx="1370012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</a:t>
            </a:r>
            <a:r>
              <a:rPr lang="en-GB" sz="1600" b="1" dirty="0">
                <a:latin typeface="Calibri" pitchFamily="34" charset="0"/>
              </a:rPr>
              <a:t>ize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7769226" y="5309279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b</a:t>
            </a:r>
            <a:r>
              <a:rPr lang="en-GB" sz="1600" dirty="0">
                <a:solidFill>
                  <a:srgbClr val="0070C0"/>
                </a:solidFill>
                <a:latin typeface="Calibri" pitchFamily="34" charset="0"/>
              </a:rPr>
              <a:t>0</a:t>
            </a:r>
            <a:endParaRPr lang="en-GB" sz="1600" b="1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6855231" y="2637644"/>
            <a:ext cx="775446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1 word</a:t>
            </a:r>
          </a:p>
        </p:txBody>
      </p:sp>
      <p:sp>
        <p:nvSpPr>
          <p:cNvPr id="17" name="AutoShape 8"/>
          <p:cNvSpPr>
            <a:spLocks/>
          </p:cNvSpPr>
          <p:nvPr/>
        </p:nvSpPr>
        <p:spPr bwMode="auto">
          <a:xfrm rot="16200000">
            <a:off x="7127329" y="2249543"/>
            <a:ext cx="228600" cy="1676401"/>
          </a:xfrm>
          <a:prstGeom prst="rightBrace">
            <a:avLst>
              <a:gd name="adj1" fmla="val 118750"/>
              <a:gd name="adj2" fmla="val 50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219201" y="5906869"/>
            <a:ext cx="1082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Allocated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Block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9844" y="5830669"/>
            <a:ext cx="700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Free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Block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396875" y="1352550"/>
            <a:ext cx="8442325" cy="897985"/>
          </a:xfrm>
        </p:spPr>
        <p:txBody>
          <a:bodyPr/>
          <a:lstStyle/>
          <a:p>
            <a:r>
              <a:rPr lang="en-US" dirty="0"/>
              <a:t>Boundary tag needed only for free blocks</a:t>
            </a:r>
          </a:p>
          <a:p>
            <a:r>
              <a:rPr lang="en-US" dirty="0"/>
              <a:t>When sizes are multiples of 4 or more, have 2+ spare bits</a:t>
            </a:r>
          </a:p>
        </p:txBody>
      </p:sp>
    </p:spTree>
    <p:extLst>
      <p:ext uri="{BB962C8B-B14F-4D97-AF65-F5344CB8AC3E}">
        <p14:creationId xmlns:p14="http://schemas.microsoft.com/office/powerpoint/2010/main" val="6107266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2743200" y="2209800"/>
            <a:ext cx="1676400" cy="6096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title"/>
          </p:nvPr>
        </p:nvSpPr>
        <p:spPr>
          <a:xfrm>
            <a:off x="537180" y="656693"/>
            <a:ext cx="85344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No Boundary Tag for Allocated Blocks</a:t>
            </a:r>
            <a:br>
              <a:rPr lang="en-GB" dirty="0"/>
            </a:br>
            <a:r>
              <a:rPr lang="en-GB" dirty="0"/>
              <a:t>(Case 1)</a:t>
            </a: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2743200" y="1918245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m1</a:t>
            </a: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4038600" y="19050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?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2743200" y="19050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2743200" y="3132123"/>
            <a:ext cx="1676400" cy="6096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86" name="Rectangle 14"/>
          <p:cNvSpPr>
            <a:spLocks noChangeArrowheads="1"/>
          </p:cNvSpPr>
          <p:nvPr/>
        </p:nvSpPr>
        <p:spPr bwMode="auto">
          <a:xfrm>
            <a:off x="2743200" y="2829964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n</a:t>
            </a:r>
          </a:p>
        </p:txBody>
      </p:sp>
      <p:sp>
        <p:nvSpPr>
          <p:cNvPr id="28687" name="Rectangle 15"/>
          <p:cNvSpPr>
            <a:spLocks noChangeArrowheads="1"/>
          </p:cNvSpPr>
          <p:nvPr/>
        </p:nvSpPr>
        <p:spPr bwMode="auto">
          <a:xfrm>
            <a:off x="4038600" y="28194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8688" name="Rectangle 16"/>
          <p:cNvSpPr>
            <a:spLocks noChangeArrowheads="1"/>
          </p:cNvSpPr>
          <p:nvPr/>
        </p:nvSpPr>
        <p:spPr bwMode="auto">
          <a:xfrm>
            <a:off x="2743200" y="28194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91" name="Rectangle 19"/>
          <p:cNvSpPr>
            <a:spLocks noChangeArrowheads="1"/>
          </p:cNvSpPr>
          <p:nvPr/>
        </p:nvSpPr>
        <p:spPr bwMode="auto">
          <a:xfrm>
            <a:off x="2745828" y="4054344"/>
            <a:ext cx="1676400" cy="6096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693" name="Rectangle 21"/>
          <p:cNvSpPr>
            <a:spLocks noChangeArrowheads="1"/>
          </p:cNvSpPr>
          <p:nvPr/>
        </p:nvSpPr>
        <p:spPr bwMode="auto">
          <a:xfrm>
            <a:off x="2735189" y="3752185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m2</a:t>
            </a:r>
          </a:p>
        </p:txBody>
      </p:sp>
      <p:sp>
        <p:nvSpPr>
          <p:cNvPr id="28694" name="Rectangle 22"/>
          <p:cNvSpPr>
            <a:spLocks noChangeArrowheads="1"/>
          </p:cNvSpPr>
          <p:nvPr/>
        </p:nvSpPr>
        <p:spPr bwMode="auto">
          <a:xfrm>
            <a:off x="4030589" y="3744262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8695" name="Rectangle 23"/>
          <p:cNvSpPr>
            <a:spLocks noChangeArrowheads="1"/>
          </p:cNvSpPr>
          <p:nvPr/>
        </p:nvSpPr>
        <p:spPr bwMode="auto">
          <a:xfrm>
            <a:off x="2743200" y="37338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572000" y="1905000"/>
            <a:ext cx="2514600" cy="2743885"/>
            <a:chOff x="4572000" y="1905000"/>
            <a:chExt cx="2514600" cy="2743885"/>
          </a:xfrm>
        </p:grpSpPr>
        <p:sp>
          <p:nvSpPr>
            <p:cNvPr id="28698" name="Rectangle 26"/>
            <p:cNvSpPr>
              <a:spLocks noChangeArrowheads="1"/>
            </p:cNvSpPr>
            <p:nvPr/>
          </p:nvSpPr>
          <p:spPr bwMode="auto">
            <a:xfrm>
              <a:off x="5410200" y="2205682"/>
              <a:ext cx="1676400" cy="6096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0" name="Rectangle 28"/>
            <p:cNvSpPr>
              <a:spLocks noChangeArrowheads="1"/>
            </p:cNvSpPr>
            <p:nvPr/>
          </p:nvSpPr>
          <p:spPr bwMode="auto">
            <a:xfrm>
              <a:off x="5410200" y="1912883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m1</a:t>
              </a:r>
            </a:p>
          </p:txBody>
        </p:sp>
        <p:sp>
          <p:nvSpPr>
            <p:cNvPr id="28701" name="Rectangle 29"/>
            <p:cNvSpPr>
              <a:spLocks noChangeArrowheads="1"/>
            </p:cNvSpPr>
            <p:nvPr/>
          </p:nvSpPr>
          <p:spPr bwMode="auto">
            <a:xfrm>
              <a:off x="6705600" y="1924530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C00000"/>
                  </a:solidFill>
                  <a:latin typeface="Calibri" pitchFamily="34" charset="0"/>
                </a:rPr>
                <a:t>?</a:t>
              </a:r>
              <a:r>
                <a:rPr lang="en-GB" sz="1600" b="1" dirty="0">
                  <a:solidFill>
                    <a:srgbClr val="0070C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8702" name="Rectangle 30"/>
            <p:cNvSpPr>
              <a:spLocks noChangeArrowheads="1"/>
            </p:cNvSpPr>
            <p:nvPr/>
          </p:nvSpPr>
          <p:spPr bwMode="auto">
            <a:xfrm>
              <a:off x="5410200" y="1905000"/>
              <a:ext cx="1676400" cy="9144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3" name="Line 31"/>
            <p:cNvSpPr>
              <a:spLocks noChangeShapeType="1"/>
            </p:cNvSpPr>
            <p:nvPr/>
          </p:nvSpPr>
          <p:spPr bwMode="auto">
            <a:xfrm>
              <a:off x="6248400" y="4191000"/>
              <a:ext cx="1588" cy="457200"/>
            </a:xfrm>
            <a:prstGeom prst="line">
              <a:avLst/>
            </a:prstGeom>
            <a:noFill/>
            <a:ln w="2556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704" name="Rectangle 32"/>
            <p:cNvSpPr>
              <a:spLocks noChangeArrowheads="1"/>
            </p:cNvSpPr>
            <p:nvPr/>
          </p:nvSpPr>
          <p:spPr bwMode="auto">
            <a:xfrm>
              <a:off x="5410200" y="28194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n</a:t>
              </a:r>
            </a:p>
          </p:txBody>
        </p:sp>
        <p:sp>
          <p:nvSpPr>
            <p:cNvPr id="28705" name="Rectangle 33"/>
            <p:cNvSpPr>
              <a:spLocks noChangeArrowheads="1"/>
            </p:cNvSpPr>
            <p:nvPr/>
          </p:nvSpPr>
          <p:spPr bwMode="auto">
            <a:xfrm>
              <a:off x="6705600" y="28194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  <a:r>
                <a:rPr lang="en-GB" sz="1600" b="1" dirty="0">
                  <a:solidFill>
                    <a:srgbClr val="0070C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28706" name="Rectangle 34"/>
            <p:cNvSpPr>
              <a:spLocks noChangeArrowheads="1"/>
            </p:cNvSpPr>
            <p:nvPr/>
          </p:nvSpPr>
          <p:spPr bwMode="auto">
            <a:xfrm>
              <a:off x="5410200" y="3124200"/>
              <a:ext cx="1676400" cy="304800"/>
            </a:xfrm>
            <a:prstGeom prst="rect">
              <a:avLst/>
            </a:prstGeom>
            <a:solidFill>
              <a:schemeClr val="bg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7" name="Rectangle 35"/>
            <p:cNvSpPr>
              <a:spLocks noChangeArrowheads="1"/>
            </p:cNvSpPr>
            <p:nvPr/>
          </p:nvSpPr>
          <p:spPr bwMode="auto">
            <a:xfrm>
              <a:off x="5410200" y="34290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08" name="Rectangle 36"/>
            <p:cNvSpPr>
              <a:spLocks noChangeArrowheads="1"/>
            </p:cNvSpPr>
            <p:nvPr/>
          </p:nvSpPr>
          <p:spPr bwMode="auto">
            <a:xfrm>
              <a:off x="5410200" y="34290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n</a:t>
              </a:r>
            </a:p>
          </p:txBody>
        </p:sp>
        <p:sp>
          <p:nvSpPr>
            <p:cNvPr id="28709" name="Rectangle 37"/>
            <p:cNvSpPr>
              <a:spLocks noChangeArrowheads="1"/>
            </p:cNvSpPr>
            <p:nvPr/>
          </p:nvSpPr>
          <p:spPr bwMode="auto">
            <a:xfrm>
              <a:off x="6705600" y="34290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  <a:r>
                <a:rPr lang="en-GB" sz="1600" b="1" dirty="0">
                  <a:solidFill>
                    <a:srgbClr val="0070C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28710" name="Rectangle 38"/>
            <p:cNvSpPr>
              <a:spLocks noChangeArrowheads="1"/>
            </p:cNvSpPr>
            <p:nvPr/>
          </p:nvSpPr>
          <p:spPr bwMode="auto">
            <a:xfrm>
              <a:off x="5410200" y="2819400"/>
              <a:ext cx="1676400" cy="9144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3" name="Rectangle 41"/>
            <p:cNvSpPr>
              <a:spLocks noChangeArrowheads="1"/>
            </p:cNvSpPr>
            <p:nvPr/>
          </p:nvSpPr>
          <p:spPr bwMode="auto">
            <a:xfrm>
              <a:off x="5410200" y="4039285"/>
              <a:ext cx="1676400" cy="6096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5" name="Rectangle 43"/>
            <p:cNvSpPr>
              <a:spLocks noChangeArrowheads="1"/>
            </p:cNvSpPr>
            <p:nvPr/>
          </p:nvSpPr>
          <p:spPr bwMode="auto">
            <a:xfrm>
              <a:off x="5410200" y="3753677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m2</a:t>
              </a:r>
            </a:p>
          </p:txBody>
        </p:sp>
        <p:sp>
          <p:nvSpPr>
            <p:cNvPr id="28716" name="Rectangle 44"/>
            <p:cNvSpPr>
              <a:spLocks noChangeArrowheads="1"/>
            </p:cNvSpPr>
            <p:nvPr/>
          </p:nvSpPr>
          <p:spPr bwMode="auto">
            <a:xfrm>
              <a:off x="6705600" y="3744351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C00000"/>
                  </a:solidFill>
                  <a:latin typeface="Calibri" pitchFamily="34" charset="0"/>
                </a:rPr>
                <a:t>0</a:t>
              </a:r>
              <a:r>
                <a:rPr lang="en-GB" sz="1600" b="1" dirty="0">
                  <a:solidFill>
                    <a:srgbClr val="0070C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8717" name="Rectangle 45"/>
            <p:cNvSpPr>
              <a:spLocks noChangeArrowheads="1"/>
            </p:cNvSpPr>
            <p:nvPr/>
          </p:nvSpPr>
          <p:spPr bwMode="auto">
            <a:xfrm>
              <a:off x="5410200" y="3733800"/>
              <a:ext cx="1676400" cy="9144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18" name="Line 46"/>
            <p:cNvSpPr>
              <a:spLocks noChangeShapeType="1"/>
            </p:cNvSpPr>
            <p:nvPr/>
          </p:nvSpPr>
          <p:spPr bwMode="auto">
            <a:xfrm>
              <a:off x="4572000" y="3276600"/>
              <a:ext cx="609600" cy="1588"/>
            </a:xfrm>
            <a:prstGeom prst="line">
              <a:avLst/>
            </a:prstGeom>
            <a:noFill/>
            <a:ln w="2556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762000" y="5334000"/>
            <a:ext cx="64522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Header: 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	</a:t>
            </a:r>
            <a:r>
              <a:rPr lang="en-US" sz="1800" dirty="0">
                <a:latin typeface="Calibri" pitchFamily="34" charset="0"/>
              </a:rPr>
              <a:t>Use 2 bits (address bits always zero due to alignment):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latin typeface="Calibri" pitchFamily="34" charset="0"/>
              </a:rPr>
              <a:t>	(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previous block allocated</a:t>
            </a:r>
            <a:r>
              <a:rPr lang="en-US" sz="1800" dirty="0">
                <a:latin typeface="Calibri" pitchFamily="34" charset="0"/>
              </a:rPr>
              <a:t>)&lt;&lt;1 | (</a:t>
            </a:r>
            <a:r>
              <a:rPr lang="en-US" sz="1800" dirty="0">
                <a:solidFill>
                  <a:srgbClr val="0070C0"/>
                </a:solidFill>
                <a:latin typeface="Calibri" pitchFamily="34" charset="0"/>
              </a:rPr>
              <a:t>current block allocated</a:t>
            </a:r>
            <a:r>
              <a:rPr lang="en-US" sz="1800" dirty="0">
                <a:latin typeface="Calibri" pitchFamily="34" charset="0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7800" y="2047104"/>
            <a:ext cx="1004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0" dirty="0">
                <a:latin typeface="Calibri" pitchFamily="34" charset="0"/>
              </a:rPr>
              <a:t>previous</a:t>
            </a:r>
            <a:br>
              <a:rPr lang="en-US" sz="1800" b="0" dirty="0">
                <a:latin typeface="Calibri" pitchFamily="34" charset="0"/>
              </a:rPr>
            </a:br>
            <a:r>
              <a:rPr lang="en-US" sz="1800" b="0" dirty="0">
                <a:latin typeface="Calibri" pitchFamily="34" charset="0"/>
              </a:rPr>
              <a:t>block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95369" y="2857412"/>
            <a:ext cx="7120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block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latin typeface="Calibri" pitchFamily="34" charset="0"/>
              </a:rPr>
              <a:t>being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latin typeface="Calibri" pitchFamily="34" charset="0"/>
              </a:rPr>
              <a:t>freed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93167" y="3944720"/>
            <a:ext cx="694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0" dirty="0">
                <a:latin typeface="Calibri" pitchFamily="34" charset="0"/>
              </a:rPr>
              <a:t>next</a:t>
            </a:r>
            <a:br>
              <a:rPr lang="en-US" sz="1800" b="0" dirty="0">
                <a:latin typeface="Calibri" pitchFamily="34" charset="0"/>
              </a:rPr>
            </a:br>
            <a:r>
              <a:rPr lang="en-US" sz="1800" b="0" dirty="0">
                <a:latin typeface="Calibri" pitchFamily="34" charset="0"/>
              </a:rPr>
              <a:t>block</a:t>
            </a:r>
          </a:p>
        </p:txBody>
      </p:sp>
    </p:spTree>
    <p:extLst>
      <p:ext uri="{BB962C8B-B14F-4D97-AF65-F5344CB8AC3E}">
        <p14:creationId xmlns:p14="http://schemas.microsoft.com/office/powerpoint/2010/main" val="237108241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>
          <a:xfrm>
            <a:off x="419100" y="685800"/>
            <a:ext cx="83058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No Boundary Tag for Allocated Blocks (Case 2)</a:t>
            </a:r>
          </a:p>
        </p:txBody>
      </p:sp>
      <p:sp>
        <p:nvSpPr>
          <p:cNvPr id="29712" name="Rectangle 16"/>
          <p:cNvSpPr>
            <a:spLocks noChangeArrowheads="1"/>
          </p:cNvSpPr>
          <p:nvPr/>
        </p:nvSpPr>
        <p:spPr bwMode="auto">
          <a:xfrm>
            <a:off x="2514600" y="2235036"/>
            <a:ext cx="1676400" cy="6096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14" name="Rectangle 18"/>
          <p:cNvSpPr>
            <a:spLocks noChangeArrowheads="1"/>
          </p:cNvSpPr>
          <p:nvPr/>
        </p:nvSpPr>
        <p:spPr bwMode="auto">
          <a:xfrm>
            <a:off x="2514600" y="1925501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m1</a:t>
            </a:r>
          </a:p>
        </p:txBody>
      </p:sp>
      <p:sp>
        <p:nvSpPr>
          <p:cNvPr id="29715" name="Rectangle 19"/>
          <p:cNvSpPr>
            <a:spLocks noChangeArrowheads="1"/>
          </p:cNvSpPr>
          <p:nvPr/>
        </p:nvSpPr>
        <p:spPr bwMode="auto">
          <a:xfrm>
            <a:off x="3810000" y="1925501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?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9716" name="Rectangle 20"/>
          <p:cNvSpPr>
            <a:spLocks noChangeArrowheads="1"/>
          </p:cNvSpPr>
          <p:nvPr/>
        </p:nvSpPr>
        <p:spPr bwMode="auto">
          <a:xfrm>
            <a:off x="2514600" y="19050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17" name="Line 21"/>
          <p:cNvSpPr>
            <a:spLocks noChangeShapeType="1"/>
          </p:cNvSpPr>
          <p:nvPr/>
        </p:nvSpPr>
        <p:spPr bwMode="auto">
          <a:xfrm>
            <a:off x="3352800" y="4191000"/>
            <a:ext cx="1588" cy="4572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720" name="Rectangle 24"/>
          <p:cNvSpPr>
            <a:spLocks noChangeArrowheads="1"/>
          </p:cNvSpPr>
          <p:nvPr/>
        </p:nvSpPr>
        <p:spPr bwMode="auto">
          <a:xfrm>
            <a:off x="2525110" y="3109214"/>
            <a:ext cx="1676400" cy="6096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2" name="Rectangle 26"/>
          <p:cNvSpPr>
            <a:spLocks noChangeArrowheads="1"/>
          </p:cNvSpPr>
          <p:nvPr/>
        </p:nvSpPr>
        <p:spPr bwMode="auto">
          <a:xfrm>
            <a:off x="2504090" y="2839901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n</a:t>
            </a:r>
          </a:p>
        </p:txBody>
      </p:sp>
      <p:sp>
        <p:nvSpPr>
          <p:cNvPr id="29723" name="Rectangle 27"/>
          <p:cNvSpPr>
            <a:spLocks noChangeArrowheads="1"/>
          </p:cNvSpPr>
          <p:nvPr/>
        </p:nvSpPr>
        <p:spPr bwMode="auto">
          <a:xfrm>
            <a:off x="3796862" y="2834386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29724" name="Rectangle 28"/>
          <p:cNvSpPr>
            <a:spLocks noChangeArrowheads="1"/>
          </p:cNvSpPr>
          <p:nvPr/>
        </p:nvSpPr>
        <p:spPr bwMode="auto">
          <a:xfrm>
            <a:off x="2514600" y="28194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5" name="Rectangle 29"/>
          <p:cNvSpPr>
            <a:spLocks noChangeArrowheads="1"/>
          </p:cNvSpPr>
          <p:nvPr/>
        </p:nvSpPr>
        <p:spPr bwMode="auto">
          <a:xfrm>
            <a:off x="2514600" y="3733800"/>
            <a:ext cx="12954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m2</a:t>
            </a:r>
          </a:p>
        </p:txBody>
      </p:sp>
      <p:sp>
        <p:nvSpPr>
          <p:cNvPr id="29726" name="Rectangle 30"/>
          <p:cNvSpPr>
            <a:spLocks noChangeArrowheads="1"/>
          </p:cNvSpPr>
          <p:nvPr/>
        </p:nvSpPr>
        <p:spPr bwMode="auto">
          <a:xfrm>
            <a:off x="3810000" y="3733800"/>
            <a:ext cx="3810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29727" name="Rectangle 31"/>
          <p:cNvSpPr>
            <a:spLocks noChangeArrowheads="1"/>
          </p:cNvSpPr>
          <p:nvPr/>
        </p:nvSpPr>
        <p:spPr bwMode="auto">
          <a:xfrm>
            <a:off x="2514600" y="4038600"/>
            <a:ext cx="16764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8" name="Rectangle 32"/>
          <p:cNvSpPr>
            <a:spLocks noChangeArrowheads="1"/>
          </p:cNvSpPr>
          <p:nvPr/>
        </p:nvSpPr>
        <p:spPr bwMode="auto">
          <a:xfrm>
            <a:off x="2514600" y="43434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729" name="Rectangle 33"/>
          <p:cNvSpPr>
            <a:spLocks noChangeArrowheads="1"/>
          </p:cNvSpPr>
          <p:nvPr/>
        </p:nvSpPr>
        <p:spPr bwMode="auto">
          <a:xfrm>
            <a:off x="2514600" y="4343400"/>
            <a:ext cx="12954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m2</a:t>
            </a:r>
          </a:p>
        </p:txBody>
      </p:sp>
      <p:sp>
        <p:nvSpPr>
          <p:cNvPr id="29730" name="Rectangle 34"/>
          <p:cNvSpPr>
            <a:spLocks noChangeArrowheads="1"/>
          </p:cNvSpPr>
          <p:nvPr/>
        </p:nvSpPr>
        <p:spPr bwMode="auto">
          <a:xfrm>
            <a:off x="3810000" y="4343400"/>
            <a:ext cx="3810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29731" name="Rectangle 35"/>
          <p:cNvSpPr>
            <a:spLocks noChangeArrowheads="1"/>
          </p:cNvSpPr>
          <p:nvPr/>
        </p:nvSpPr>
        <p:spPr bwMode="auto">
          <a:xfrm>
            <a:off x="2514600" y="37338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4495800" y="1905000"/>
            <a:ext cx="2514600" cy="2743200"/>
            <a:chOff x="4495800" y="1905000"/>
            <a:chExt cx="2514600" cy="2743200"/>
          </a:xfrm>
        </p:grpSpPr>
        <p:sp>
          <p:nvSpPr>
            <p:cNvPr id="29699" name="Rectangle 3"/>
            <p:cNvSpPr>
              <a:spLocks noChangeArrowheads="1"/>
            </p:cNvSpPr>
            <p:nvPr/>
          </p:nvSpPr>
          <p:spPr bwMode="auto">
            <a:xfrm>
              <a:off x="5334000" y="2219394"/>
              <a:ext cx="1676400" cy="6096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2" name="Rectangle 6"/>
            <p:cNvSpPr>
              <a:spLocks noChangeArrowheads="1"/>
            </p:cNvSpPr>
            <p:nvPr/>
          </p:nvSpPr>
          <p:spPr bwMode="auto">
            <a:xfrm>
              <a:off x="5334000" y="1924844"/>
              <a:ext cx="12954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m1</a:t>
              </a:r>
            </a:p>
          </p:txBody>
        </p:sp>
        <p:sp>
          <p:nvSpPr>
            <p:cNvPr id="29703" name="Rectangle 7"/>
            <p:cNvSpPr>
              <a:spLocks noChangeArrowheads="1"/>
            </p:cNvSpPr>
            <p:nvPr/>
          </p:nvSpPr>
          <p:spPr bwMode="auto">
            <a:xfrm>
              <a:off x="6629400" y="1925501"/>
              <a:ext cx="381000" cy="304800"/>
            </a:xfrm>
            <a:prstGeom prst="rect">
              <a:avLst/>
            </a:prstGeom>
            <a:solidFill>
              <a:srgbClr val="D5F1C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C00000"/>
                  </a:solidFill>
                  <a:latin typeface="Calibri" pitchFamily="34" charset="0"/>
                </a:rPr>
                <a:t>?</a:t>
              </a:r>
              <a:r>
                <a:rPr lang="en-GB" sz="1600" b="1" dirty="0">
                  <a:solidFill>
                    <a:srgbClr val="0070C0"/>
                  </a:solidFill>
                  <a:latin typeface="Calibri" pitchFamily="34" charset="0"/>
                </a:rPr>
                <a:t>1</a:t>
              </a:r>
            </a:p>
          </p:txBody>
        </p:sp>
        <p:sp>
          <p:nvSpPr>
            <p:cNvPr id="29704" name="Rectangle 8"/>
            <p:cNvSpPr>
              <a:spLocks noChangeArrowheads="1"/>
            </p:cNvSpPr>
            <p:nvPr/>
          </p:nvSpPr>
          <p:spPr bwMode="auto">
            <a:xfrm>
              <a:off x="5334000" y="1905000"/>
              <a:ext cx="1676400" cy="9144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5" name="Rectangle 9"/>
            <p:cNvSpPr>
              <a:spLocks noChangeArrowheads="1"/>
            </p:cNvSpPr>
            <p:nvPr/>
          </p:nvSpPr>
          <p:spPr bwMode="auto">
            <a:xfrm>
              <a:off x="5334000" y="28194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n+m2</a:t>
              </a:r>
            </a:p>
          </p:txBody>
        </p:sp>
        <p:sp>
          <p:nvSpPr>
            <p:cNvPr id="29706" name="Rectangle 10"/>
            <p:cNvSpPr>
              <a:spLocks noChangeArrowheads="1"/>
            </p:cNvSpPr>
            <p:nvPr/>
          </p:nvSpPr>
          <p:spPr bwMode="auto">
            <a:xfrm>
              <a:off x="6629400" y="28194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  <a:r>
                <a:rPr lang="en-GB" sz="1600" b="1" dirty="0">
                  <a:solidFill>
                    <a:srgbClr val="0070C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29707" name="Rectangle 11"/>
            <p:cNvSpPr>
              <a:spLocks noChangeArrowheads="1"/>
            </p:cNvSpPr>
            <p:nvPr/>
          </p:nvSpPr>
          <p:spPr bwMode="auto">
            <a:xfrm>
              <a:off x="5334000" y="4343400"/>
              <a:ext cx="1676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8" name="Rectangle 12"/>
            <p:cNvSpPr>
              <a:spLocks noChangeArrowheads="1"/>
            </p:cNvSpPr>
            <p:nvPr/>
          </p:nvSpPr>
          <p:spPr bwMode="auto">
            <a:xfrm>
              <a:off x="5334000" y="4343400"/>
              <a:ext cx="12954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</a:rPr>
                <a:t>n+m2</a:t>
              </a:r>
            </a:p>
          </p:txBody>
        </p:sp>
        <p:sp>
          <p:nvSpPr>
            <p:cNvPr id="29709" name="Rectangle 13"/>
            <p:cNvSpPr>
              <a:spLocks noChangeArrowheads="1"/>
            </p:cNvSpPr>
            <p:nvPr/>
          </p:nvSpPr>
          <p:spPr bwMode="auto">
            <a:xfrm>
              <a:off x="6629400" y="4343400"/>
              <a:ext cx="381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C00000"/>
                  </a:solidFill>
                  <a:latin typeface="Calibri" pitchFamily="34" charset="0"/>
                </a:rPr>
                <a:t>1</a:t>
              </a:r>
              <a:r>
                <a:rPr lang="en-GB" sz="1600" b="1" dirty="0">
                  <a:solidFill>
                    <a:srgbClr val="0070C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29732" name="Line 36"/>
            <p:cNvSpPr>
              <a:spLocks noChangeShapeType="1"/>
            </p:cNvSpPr>
            <p:nvPr/>
          </p:nvSpPr>
          <p:spPr bwMode="auto">
            <a:xfrm>
              <a:off x="4495800" y="3276600"/>
              <a:ext cx="609600" cy="1588"/>
            </a:xfrm>
            <a:prstGeom prst="line">
              <a:avLst/>
            </a:prstGeom>
            <a:noFill/>
            <a:ln w="2556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733" name="Rectangle 37"/>
            <p:cNvSpPr>
              <a:spLocks noChangeArrowheads="1"/>
            </p:cNvSpPr>
            <p:nvPr/>
          </p:nvSpPr>
          <p:spPr bwMode="auto">
            <a:xfrm>
              <a:off x="5334000" y="3124200"/>
              <a:ext cx="1676400" cy="1219200"/>
            </a:xfrm>
            <a:prstGeom prst="rect">
              <a:avLst/>
            </a:prstGeom>
            <a:solidFill>
              <a:schemeClr val="bg1"/>
            </a:solidFill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4" name="Rectangle 38"/>
            <p:cNvSpPr>
              <a:spLocks noChangeArrowheads="1"/>
            </p:cNvSpPr>
            <p:nvPr/>
          </p:nvSpPr>
          <p:spPr bwMode="auto">
            <a:xfrm>
              <a:off x="5334000" y="2819400"/>
              <a:ext cx="1676400" cy="18288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295400" y="2047104"/>
            <a:ext cx="1004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0" dirty="0">
                <a:latin typeface="Calibri" pitchFamily="34" charset="0"/>
              </a:rPr>
              <a:t>previous</a:t>
            </a:r>
            <a:br>
              <a:rPr lang="en-US" sz="1800" b="0" dirty="0">
                <a:latin typeface="Calibri" pitchFamily="34" charset="0"/>
              </a:rPr>
            </a:br>
            <a:r>
              <a:rPr lang="en-US" sz="1800" b="0" dirty="0">
                <a:latin typeface="Calibri" pitchFamily="34" charset="0"/>
              </a:rPr>
              <a:t>block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2969" y="2857412"/>
            <a:ext cx="7120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block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latin typeface="Calibri" pitchFamily="34" charset="0"/>
              </a:rPr>
              <a:t>being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latin typeface="Calibri" pitchFamily="34" charset="0"/>
              </a:rPr>
              <a:t>freed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40767" y="3944720"/>
            <a:ext cx="694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0" dirty="0">
                <a:latin typeface="Calibri" pitchFamily="34" charset="0"/>
              </a:rPr>
              <a:t>next</a:t>
            </a:r>
            <a:br>
              <a:rPr lang="en-US" sz="1800" b="0" dirty="0">
                <a:latin typeface="Calibri" pitchFamily="34" charset="0"/>
              </a:rPr>
            </a:br>
            <a:r>
              <a:rPr lang="en-US" sz="1800" b="0" dirty="0">
                <a:latin typeface="Calibri" pitchFamily="34" charset="0"/>
              </a:rPr>
              <a:t>block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2D6F408B-09D8-4F4F-8A1C-7B5D6C9A673D}"/>
              </a:ext>
            </a:extLst>
          </p:cNvPr>
          <p:cNvSpPr txBox="1"/>
          <p:nvPr/>
        </p:nvSpPr>
        <p:spPr>
          <a:xfrm>
            <a:off x="762000" y="5334000"/>
            <a:ext cx="64522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Header: 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	</a:t>
            </a:r>
            <a:r>
              <a:rPr lang="en-US" sz="1800" dirty="0">
                <a:latin typeface="Calibri" pitchFamily="34" charset="0"/>
              </a:rPr>
              <a:t>Use 2 bits (address bits always zero due to alignment):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latin typeface="Calibri" pitchFamily="34" charset="0"/>
              </a:rPr>
              <a:t>	(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previous block allocated</a:t>
            </a:r>
            <a:r>
              <a:rPr lang="en-US" sz="1800" dirty="0">
                <a:latin typeface="Calibri" pitchFamily="34" charset="0"/>
              </a:rPr>
              <a:t>)&lt;&lt;1 | (</a:t>
            </a:r>
            <a:r>
              <a:rPr lang="en-US" sz="1800" dirty="0">
                <a:solidFill>
                  <a:srgbClr val="0070C0"/>
                </a:solidFill>
                <a:latin typeface="Calibri" pitchFamily="34" charset="0"/>
              </a:rPr>
              <a:t>current block allocated</a:t>
            </a:r>
            <a:r>
              <a:rPr lang="en-US" sz="1800" dirty="0">
                <a:latin typeface="Calibri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9757453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ChangeArrowheads="1"/>
          </p:cNvSpPr>
          <p:nvPr/>
        </p:nvSpPr>
        <p:spPr bwMode="auto">
          <a:xfrm>
            <a:off x="2590800" y="19050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m1</a:t>
            </a:r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3886200" y="19050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?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2590800" y="22098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2590800" y="25146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2590800" y="25146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m1</a:t>
            </a:r>
          </a:p>
        </p:txBody>
      </p:sp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3886200" y="25146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?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2590800" y="19050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30" name="Rectangle 10"/>
          <p:cNvSpPr>
            <a:spLocks noChangeArrowheads="1"/>
          </p:cNvSpPr>
          <p:nvPr/>
        </p:nvSpPr>
        <p:spPr bwMode="auto">
          <a:xfrm>
            <a:off x="2590800" y="2819400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n</a:t>
            </a:r>
          </a:p>
        </p:txBody>
      </p:sp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3886200" y="2819400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0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0732" name="Rectangle 12"/>
          <p:cNvSpPr>
            <a:spLocks noChangeArrowheads="1"/>
          </p:cNvSpPr>
          <p:nvPr/>
        </p:nvSpPr>
        <p:spPr bwMode="auto">
          <a:xfrm>
            <a:off x="2590800" y="3124200"/>
            <a:ext cx="1676400" cy="588579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36" name="Rectangle 16"/>
          <p:cNvSpPr>
            <a:spLocks noChangeArrowheads="1"/>
          </p:cNvSpPr>
          <p:nvPr/>
        </p:nvSpPr>
        <p:spPr bwMode="auto">
          <a:xfrm>
            <a:off x="2590800" y="28194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37" name="Rectangle 17"/>
          <p:cNvSpPr>
            <a:spLocks noChangeArrowheads="1"/>
          </p:cNvSpPr>
          <p:nvPr/>
        </p:nvSpPr>
        <p:spPr bwMode="auto">
          <a:xfrm>
            <a:off x="2590800" y="37338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m2</a:t>
            </a:r>
          </a:p>
        </p:txBody>
      </p:sp>
      <p:sp>
        <p:nvSpPr>
          <p:cNvPr id="30738" name="Rectangle 18"/>
          <p:cNvSpPr>
            <a:spLocks noChangeArrowheads="1"/>
          </p:cNvSpPr>
          <p:nvPr/>
        </p:nvSpPr>
        <p:spPr bwMode="auto">
          <a:xfrm>
            <a:off x="3886200" y="37338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0739" name="Rectangle 19"/>
          <p:cNvSpPr>
            <a:spLocks noChangeArrowheads="1"/>
          </p:cNvSpPr>
          <p:nvPr/>
        </p:nvSpPr>
        <p:spPr bwMode="auto">
          <a:xfrm>
            <a:off x="2590800" y="4038600"/>
            <a:ext cx="1676400" cy="6096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2590800" y="37338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44" name="Rectangle 24"/>
          <p:cNvSpPr>
            <a:spLocks noChangeArrowheads="1"/>
          </p:cNvSpPr>
          <p:nvPr/>
        </p:nvSpPr>
        <p:spPr bwMode="auto">
          <a:xfrm>
            <a:off x="5257800" y="19050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n+m1</a:t>
            </a:r>
          </a:p>
        </p:txBody>
      </p:sp>
      <p:sp>
        <p:nvSpPr>
          <p:cNvPr id="30745" name="Rectangle 25"/>
          <p:cNvSpPr>
            <a:spLocks noChangeArrowheads="1"/>
          </p:cNvSpPr>
          <p:nvPr/>
        </p:nvSpPr>
        <p:spPr bwMode="auto">
          <a:xfrm>
            <a:off x="6553200" y="19050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?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0746" name="Rectangle 26"/>
          <p:cNvSpPr>
            <a:spLocks noChangeArrowheads="1"/>
          </p:cNvSpPr>
          <p:nvPr/>
        </p:nvSpPr>
        <p:spPr bwMode="auto">
          <a:xfrm>
            <a:off x="5257800" y="2209800"/>
            <a:ext cx="1676400" cy="12192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48" name="Rectangle 28"/>
          <p:cNvSpPr>
            <a:spLocks noChangeArrowheads="1"/>
          </p:cNvSpPr>
          <p:nvPr/>
        </p:nvSpPr>
        <p:spPr bwMode="auto">
          <a:xfrm>
            <a:off x="5257800" y="34290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49" name="Rectangle 29"/>
          <p:cNvSpPr>
            <a:spLocks noChangeArrowheads="1"/>
          </p:cNvSpPr>
          <p:nvPr/>
        </p:nvSpPr>
        <p:spPr bwMode="auto">
          <a:xfrm>
            <a:off x="5257800" y="3429000"/>
            <a:ext cx="1295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n+m1</a:t>
            </a:r>
          </a:p>
        </p:txBody>
      </p:sp>
      <p:sp>
        <p:nvSpPr>
          <p:cNvPr id="30750" name="Rectangle 30"/>
          <p:cNvSpPr>
            <a:spLocks noChangeArrowheads="1"/>
          </p:cNvSpPr>
          <p:nvPr/>
        </p:nvSpPr>
        <p:spPr bwMode="auto">
          <a:xfrm>
            <a:off x="6553200" y="34290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?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30751" name="Rectangle 31"/>
          <p:cNvSpPr>
            <a:spLocks noChangeArrowheads="1"/>
          </p:cNvSpPr>
          <p:nvPr/>
        </p:nvSpPr>
        <p:spPr bwMode="auto">
          <a:xfrm>
            <a:off x="5257800" y="3733800"/>
            <a:ext cx="12954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m2</a:t>
            </a:r>
          </a:p>
        </p:txBody>
      </p:sp>
      <p:sp>
        <p:nvSpPr>
          <p:cNvPr id="30752" name="Rectangle 32"/>
          <p:cNvSpPr>
            <a:spLocks noChangeArrowheads="1"/>
          </p:cNvSpPr>
          <p:nvPr/>
        </p:nvSpPr>
        <p:spPr bwMode="auto">
          <a:xfrm>
            <a:off x="6553200" y="3733800"/>
            <a:ext cx="381000" cy="3048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0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30757" name="Rectangle 37"/>
          <p:cNvSpPr>
            <a:spLocks noChangeArrowheads="1"/>
          </p:cNvSpPr>
          <p:nvPr/>
        </p:nvSpPr>
        <p:spPr bwMode="auto">
          <a:xfrm>
            <a:off x="5257800" y="37338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758" name="Line 38"/>
          <p:cNvSpPr>
            <a:spLocks noChangeShapeType="1"/>
          </p:cNvSpPr>
          <p:nvPr/>
        </p:nvSpPr>
        <p:spPr bwMode="auto">
          <a:xfrm>
            <a:off x="4419600" y="3276600"/>
            <a:ext cx="609600" cy="1588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759" name="Rectangle 39"/>
          <p:cNvSpPr>
            <a:spLocks noChangeArrowheads="1"/>
          </p:cNvSpPr>
          <p:nvPr/>
        </p:nvSpPr>
        <p:spPr bwMode="auto">
          <a:xfrm>
            <a:off x="5257800" y="1905000"/>
            <a:ext cx="1676400" cy="18288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Rectangle 4"/>
          <p:cNvSpPr>
            <a:spLocks noGrp="1" noChangeArrowheads="1"/>
          </p:cNvSpPr>
          <p:nvPr>
            <p:ph type="title"/>
          </p:nvPr>
        </p:nvSpPr>
        <p:spPr>
          <a:xfrm>
            <a:off x="419100" y="680348"/>
            <a:ext cx="83058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No Boundary Tag for Allocated Blocks (Case 3)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2047104"/>
            <a:ext cx="1004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0" dirty="0">
                <a:latin typeface="Calibri" pitchFamily="34" charset="0"/>
              </a:rPr>
              <a:t>previous</a:t>
            </a:r>
            <a:br>
              <a:rPr lang="en-US" sz="1800" b="0" dirty="0">
                <a:latin typeface="Calibri" pitchFamily="34" charset="0"/>
              </a:rPr>
            </a:br>
            <a:r>
              <a:rPr lang="en-US" sz="1800" b="0" dirty="0">
                <a:latin typeface="Calibri" pitchFamily="34" charset="0"/>
              </a:rPr>
              <a:t>block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19169" y="2857412"/>
            <a:ext cx="7120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block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latin typeface="Calibri" pitchFamily="34" charset="0"/>
              </a:rPr>
              <a:t>being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latin typeface="Calibri" pitchFamily="34" charset="0"/>
              </a:rPr>
              <a:t>freed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16967" y="3944720"/>
            <a:ext cx="694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0" dirty="0">
                <a:latin typeface="Calibri" pitchFamily="34" charset="0"/>
              </a:rPr>
              <a:t>next</a:t>
            </a:r>
            <a:br>
              <a:rPr lang="en-US" sz="1800" b="0" dirty="0">
                <a:latin typeface="Calibri" pitchFamily="34" charset="0"/>
              </a:rPr>
            </a:br>
            <a:r>
              <a:rPr lang="en-US" sz="1800" b="0" dirty="0">
                <a:latin typeface="Calibri" pitchFamily="34" charset="0"/>
              </a:rPr>
              <a:t>block</a:t>
            </a:r>
          </a:p>
        </p:txBody>
      </p:sp>
      <p:sp>
        <p:nvSpPr>
          <p:cNvPr id="48" name="Rectangle 19"/>
          <p:cNvSpPr>
            <a:spLocks noChangeArrowheads="1"/>
          </p:cNvSpPr>
          <p:nvPr/>
        </p:nvSpPr>
        <p:spPr bwMode="auto">
          <a:xfrm>
            <a:off x="5266997" y="4038600"/>
            <a:ext cx="1667203" cy="609600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EB192E3F-5DFB-4F1D-A433-3BBC743F2A14}"/>
              </a:ext>
            </a:extLst>
          </p:cNvPr>
          <p:cNvSpPr txBox="1"/>
          <p:nvPr/>
        </p:nvSpPr>
        <p:spPr>
          <a:xfrm>
            <a:off x="762000" y="5334000"/>
            <a:ext cx="64522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Header: 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	</a:t>
            </a:r>
            <a:r>
              <a:rPr lang="en-US" sz="1800" dirty="0">
                <a:latin typeface="Calibri" pitchFamily="34" charset="0"/>
              </a:rPr>
              <a:t>Use 2 bits (address bits always zero due to alignment):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latin typeface="Calibri" pitchFamily="34" charset="0"/>
              </a:rPr>
              <a:t>	(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previous block allocated</a:t>
            </a:r>
            <a:r>
              <a:rPr lang="en-US" sz="1800" dirty="0">
                <a:latin typeface="Calibri" pitchFamily="34" charset="0"/>
              </a:rPr>
              <a:t>)&lt;&lt;1 | (</a:t>
            </a:r>
            <a:r>
              <a:rPr lang="en-US" sz="1800" dirty="0">
                <a:solidFill>
                  <a:srgbClr val="0070C0"/>
                </a:solidFill>
                <a:latin typeface="Calibri" pitchFamily="34" charset="0"/>
              </a:rPr>
              <a:t>current block allocated</a:t>
            </a:r>
            <a:r>
              <a:rPr lang="en-US" sz="1800" dirty="0">
                <a:latin typeface="Calibri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9586945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4" grpId="0" animBg="1"/>
      <p:bldP spid="30745" grpId="0" animBg="1"/>
      <p:bldP spid="30746" grpId="0" animBg="1"/>
      <p:bldP spid="30748" grpId="0" animBg="1"/>
      <p:bldP spid="30749" grpId="0" animBg="1"/>
      <p:bldP spid="30750" grpId="0" animBg="1"/>
      <p:bldP spid="30751" grpId="0" animBg="1"/>
      <p:bldP spid="30752" grpId="0" animBg="1"/>
      <p:bldP spid="30757" grpId="0" animBg="1"/>
      <p:bldP spid="30758" grpId="0" animBg="1"/>
      <p:bldP spid="30759" grpId="0" animBg="1"/>
      <p:bldP spid="4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4"/>
          <p:cNvSpPr>
            <a:spLocks noGrp="1" noChangeArrowheads="1"/>
          </p:cNvSpPr>
          <p:nvPr>
            <p:ph type="title"/>
          </p:nvPr>
        </p:nvSpPr>
        <p:spPr>
          <a:xfrm>
            <a:off x="419100" y="680348"/>
            <a:ext cx="83058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No Boundary Tag for Allocated Blocks (Case 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5572" y="2021744"/>
            <a:ext cx="1004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0" dirty="0">
                <a:latin typeface="Calibri" pitchFamily="34" charset="0"/>
              </a:rPr>
              <a:t>previous</a:t>
            </a:r>
            <a:br>
              <a:rPr lang="en-US" sz="1800" b="0" dirty="0">
                <a:latin typeface="Calibri" pitchFamily="34" charset="0"/>
              </a:rPr>
            </a:br>
            <a:r>
              <a:rPr lang="en-US" sz="1800" b="0" dirty="0">
                <a:latin typeface="Calibri" pitchFamily="34" charset="0"/>
              </a:rPr>
              <a:t>block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03141" y="2832052"/>
            <a:ext cx="7120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block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latin typeface="Calibri" pitchFamily="34" charset="0"/>
              </a:rPr>
              <a:t>being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latin typeface="Calibri" pitchFamily="34" charset="0"/>
              </a:rPr>
              <a:t>freed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00939" y="3919360"/>
            <a:ext cx="694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b="0" dirty="0">
                <a:latin typeface="Calibri" pitchFamily="34" charset="0"/>
              </a:rPr>
              <a:t>next</a:t>
            </a:r>
            <a:br>
              <a:rPr lang="en-US" sz="1800" b="0" dirty="0">
                <a:latin typeface="Calibri" pitchFamily="34" charset="0"/>
              </a:rPr>
            </a:br>
            <a:r>
              <a:rPr lang="en-US" sz="1800" b="0" dirty="0">
                <a:latin typeface="Calibri" pitchFamily="34" charset="0"/>
              </a:rPr>
              <a:t>block</a:t>
            </a:r>
          </a:p>
        </p:txBody>
      </p:sp>
      <p:sp>
        <p:nvSpPr>
          <p:cNvPr id="41" name="Rectangle 18"/>
          <p:cNvSpPr>
            <a:spLocks noChangeArrowheads="1"/>
          </p:cNvSpPr>
          <p:nvPr/>
        </p:nvSpPr>
        <p:spPr bwMode="auto">
          <a:xfrm>
            <a:off x="2514600" y="1925501"/>
            <a:ext cx="1295400" cy="304800"/>
          </a:xfrm>
          <a:prstGeom prst="rect">
            <a:avLst/>
          </a:prstGeom>
          <a:noFill/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m1</a:t>
            </a:r>
          </a:p>
        </p:txBody>
      </p:sp>
      <p:sp>
        <p:nvSpPr>
          <p:cNvPr id="42" name="Rectangle 19"/>
          <p:cNvSpPr>
            <a:spLocks noChangeArrowheads="1"/>
          </p:cNvSpPr>
          <p:nvPr/>
        </p:nvSpPr>
        <p:spPr bwMode="auto">
          <a:xfrm>
            <a:off x="3810000" y="1925501"/>
            <a:ext cx="381000" cy="304800"/>
          </a:xfrm>
          <a:prstGeom prst="rect">
            <a:avLst/>
          </a:prstGeom>
          <a:noFill/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?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44" name="Line 21"/>
          <p:cNvSpPr>
            <a:spLocks noChangeShapeType="1"/>
          </p:cNvSpPr>
          <p:nvPr/>
        </p:nvSpPr>
        <p:spPr bwMode="auto">
          <a:xfrm>
            <a:off x="3352800" y="4191000"/>
            <a:ext cx="1588" cy="4572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" name="Rectangle 24"/>
          <p:cNvSpPr>
            <a:spLocks noChangeArrowheads="1"/>
          </p:cNvSpPr>
          <p:nvPr/>
        </p:nvSpPr>
        <p:spPr bwMode="auto">
          <a:xfrm>
            <a:off x="2525110" y="3109214"/>
            <a:ext cx="1676400" cy="6096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Rectangle 26"/>
          <p:cNvSpPr>
            <a:spLocks noChangeArrowheads="1"/>
          </p:cNvSpPr>
          <p:nvPr/>
        </p:nvSpPr>
        <p:spPr bwMode="auto">
          <a:xfrm>
            <a:off x="2504090" y="2839901"/>
            <a:ext cx="12954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n</a:t>
            </a:r>
          </a:p>
        </p:txBody>
      </p:sp>
      <p:sp>
        <p:nvSpPr>
          <p:cNvPr id="47" name="Rectangle 27"/>
          <p:cNvSpPr>
            <a:spLocks noChangeArrowheads="1"/>
          </p:cNvSpPr>
          <p:nvPr/>
        </p:nvSpPr>
        <p:spPr bwMode="auto">
          <a:xfrm>
            <a:off x="3796862" y="2834386"/>
            <a:ext cx="381000" cy="30480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0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48" name="Rectangle 28"/>
          <p:cNvSpPr>
            <a:spLocks noChangeArrowheads="1"/>
          </p:cNvSpPr>
          <p:nvPr/>
        </p:nvSpPr>
        <p:spPr bwMode="auto">
          <a:xfrm>
            <a:off x="2514600" y="28194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Rectangle 29"/>
          <p:cNvSpPr>
            <a:spLocks noChangeArrowheads="1"/>
          </p:cNvSpPr>
          <p:nvPr/>
        </p:nvSpPr>
        <p:spPr bwMode="auto">
          <a:xfrm>
            <a:off x="2514600" y="3733800"/>
            <a:ext cx="12954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m2</a:t>
            </a:r>
          </a:p>
        </p:txBody>
      </p:sp>
      <p:sp>
        <p:nvSpPr>
          <p:cNvPr id="50" name="Rectangle 30"/>
          <p:cNvSpPr>
            <a:spLocks noChangeArrowheads="1"/>
          </p:cNvSpPr>
          <p:nvPr/>
        </p:nvSpPr>
        <p:spPr bwMode="auto">
          <a:xfrm>
            <a:off x="3810000" y="3733800"/>
            <a:ext cx="3810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51" name="Rectangle 31"/>
          <p:cNvSpPr>
            <a:spLocks noChangeArrowheads="1"/>
          </p:cNvSpPr>
          <p:nvPr/>
        </p:nvSpPr>
        <p:spPr bwMode="auto">
          <a:xfrm>
            <a:off x="2514600" y="4038600"/>
            <a:ext cx="16764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Rectangle 32"/>
          <p:cNvSpPr>
            <a:spLocks noChangeArrowheads="1"/>
          </p:cNvSpPr>
          <p:nvPr/>
        </p:nvSpPr>
        <p:spPr bwMode="auto">
          <a:xfrm>
            <a:off x="2514600" y="4343400"/>
            <a:ext cx="16764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Rectangle 33"/>
          <p:cNvSpPr>
            <a:spLocks noChangeArrowheads="1"/>
          </p:cNvSpPr>
          <p:nvPr/>
        </p:nvSpPr>
        <p:spPr bwMode="auto">
          <a:xfrm>
            <a:off x="2514600" y="4343400"/>
            <a:ext cx="12954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m2</a:t>
            </a:r>
          </a:p>
        </p:txBody>
      </p:sp>
      <p:sp>
        <p:nvSpPr>
          <p:cNvPr id="54" name="Rectangle 34"/>
          <p:cNvSpPr>
            <a:spLocks noChangeArrowheads="1"/>
          </p:cNvSpPr>
          <p:nvPr/>
        </p:nvSpPr>
        <p:spPr bwMode="auto">
          <a:xfrm>
            <a:off x="3810000" y="4343400"/>
            <a:ext cx="381000" cy="304800"/>
          </a:xfrm>
          <a:prstGeom prst="rect">
            <a:avLst/>
          </a:prstGeom>
          <a:solidFill>
            <a:schemeClr val="bg1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solidFill>
                  <a:srgbClr val="C00000"/>
                </a:solidFill>
                <a:latin typeface="Calibri" pitchFamily="34" charset="0"/>
              </a:rPr>
              <a:t>1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55" name="Rectangle 35"/>
          <p:cNvSpPr>
            <a:spLocks noChangeArrowheads="1"/>
          </p:cNvSpPr>
          <p:nvPr/>
        </p:nvSpPr>
        <p:spPr bwMode="auto">
          <a:xfrm>
            <a:off x="2514600" y="37338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Rectangle 6"/>
          <p:cNvSpPr>
            <a:spLocks noChangeArrowheads="1"/>
          </p:cNvSpPr>
          <p:nvPr/>
        </p:nvSpPr>
        <p:spPr bwMode="auto">
          <a:xfrm>
            <a:off x="2525110" y="2514600"/>
            <a:ext cx="128489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m1</a:t>
            </a:r>
          </a:p>
        </p:txBody>
      </p:sp>
      <p:sp>
        <p:nvSpPr>
          <p:cNvPr id="57" name="Rectangle 7"/>
          <p:cNvSpPr>
            <a:spLocks noChangeArrowheads="1"/>
          </p:cNvSpPr>
          <p:nvPr/>
        </p:nvSpPr>
        <p:spPr bwMode="auto">
          <a:xfrm>
            <a:off x="3810000" y="2514600"/>
            <a:ext cx="3810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C00000"/>
                </a:solidFill>
                <a:latin typeface="Calibri" pitchFamily="34" charset="0"/>
              </a:rPr>
              <a:t>?</a:t>
            </a:r>
            <a:r>
              <a:rPr lang="en-GB" sz="1600" b="1" dirty="0">
                <a:solidFill>
                  <a:srgbClr val="0070C0"/>
                </a:solidFill>
                <a:latin typeface="Calibri" pitchFamily="34" charset="0"/>
              </a:rPr>
              <a:t>0</a:t>
            </a:r>
          </a:p>
        </p:txBody>
      </p:sp>
      <p:sp>
        <p:nvSpPr>
          <p:cNvPr id="43" name="Rectangle 20"/>
          <p:cNvSpPr>
            <a:spLocks noChangeArrowheads="1"/>
          </p:cNvSpPr>
          <p:nvPr/>
        </p:nvSpPr>
        <p:spPr bwMode="auto">
          <a:xfrm>
            <a:off x="2514600" y="1905000"/>
            <a:ext cx="1676400" cy="914400"/>
          </a:xfrm>
          <a:prstGeom prst="rect">
            <a:avLst/>
          </a:prstGeom>
          <a:noFill/>
          <a:ln w="381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4255516" y="1907108"/>
            <a:ext cx="2514600" cy="2743200"/>
            <a:chOff x="4255516" y="1907108"/>
            <a:chExt cx="2514600" cy="2743200"/>
          </a:xfrm>
        </p:grpSpPr>
        <p:grpSp>
          <p:nvGrpSpPr>
            <p:cNvPr id="2" name="Group 1"/>
            <p:cNvGrpSpPr/>
            <p:nvPr/>
          </p:nvGrpSpPr>
          <p:grpSpPr>
            <a:xfrm>
              <a:off x="4255516" y="1907108"/>
              <a:ext cx="2514600" cy="2743200"/>
              <a:chOff x="3581400" y="1905000"/>
              <a:chExt cx="2514600" cy="2743200"/>
            </a:xfrm>
          </p:grpSpPr>
          <p:sp>
            <p:nvSpPr>
              <p:cNvPr id="31768" name="Rectangle 24"/>
              <p:cNvSpPr>
                <a:spLocks noChangeArrowheads="1"/>
              </p:cNvSpPr>
              <p:nvPr/>
            </p:nvSpPr>
            <p:spPr bwMode="auto">
              <a:xfrm>
                <a:off x="4419600" y="1905000"/>
                <a:ext cx="1295400" cy="304800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 anchor="ctr"/>
              <a:lstStyle/>
              <a:p>
                <a:pPr algn="ctr">
                  <a:lnSpc>
                    <a:spcPct val="98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600" b="1" dirty="0">
                    <a:latin typeface="Calibri" pitchFamily="34" charset="0"/>
                  </a:rPr>
                  <a:t>n+m1+m2</a:t>
                </a:r>
              </a:p>
            </p:txBody>
          </p:sp>
          <p:sp>
            <p:nvSpPr>
              <p:cNvPr id="31770" name="Rectangle 26"/>
              <p:cNvSpPr>
                <a:spLocks noChangeArrowheads="1"/>
              </p:cNvSpPr>
              <p:nvPr/>
            </p:nvSpPr>
            <p:spPr bwMode="auto">
              <a:xfrm>
                <a:off x="4419600" y="2209800"/>
                <a:ext cx="1676400" cy="2133600"/>
              </a:xfrm>
              <a:prstGeom prst="rect">
                <a:avLst/>
              </a:prstGeom>
              <a:solidFill>
                <a:schemeClr val="bg1"/>
              </a:solidFill>
              <a:ln w="324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1" name="Rectangle 27"/>
              <p:cNvSpPr>
                <a:spLocks noChangeArrowheads="1"/>
              </p:cNvSpPr>
              <p:nvPr/>
            </p:nvSpPr>
            <p:spPr bwMode="auto">
              <a:xfrm>
                <a:off x="4419600" y="4343400"/>
                <a:ext cx="1676400" cy="304800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772" name="Rectangle 28"/>
              <p:cNvSpPr>
                <a:spLocks noChangeArrowheads="1"/>
              </p:cNvSpPr>
              <p:nvPr/>
            </p:nvSpPr>
            <p:spPr bwMode="auto">
              <a:xfrm>
                <a:off x="4419600" y="4343400"/>
                <a:ext cx="1295400" cy="304800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 anchor="ctr"/>
              <a:lstStyle/>
              <a:p>
                <a:pPr algn="ctr">
                  <a:lnSpc>
                    <a:spcPct val="98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600" b="1" dirty="0">
                    <a:latin typeface="Calibri" pitchFamily="34" charset="0"/>
                  </a:rPr>
                  <a:t>n+m1+m2</a:t>
                </a:r>
              </a:p>
            </p:txBody>
          </p:sp>
          <p:sp>
            <p:nvSpPr>
              <p:cNvPr id="31773" name="Rectangle 29"/>
              <p:cNvSpPr>
                <a:spLocks noChangeArrowheads="1"/>
              </p:cNvSpPr>
              <p:nvPr/>
            </p:nvSpPr>
            <p:spPr bwMode="auto">
              <a:xfrm>
                <a:off x="5715000" y="4343400"/>
                <a:ext cx="381000" cy="304800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 anchor="ctr"/>
              <a:lstStyle/>
              <a:p>
                <a:pPr algn="ctr">
                  <a:lnSpc>
                    <a:spcPct val="98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endParaRPr lang="en-GB" sz="1600" b="1" dirty="0">
                  <a:latin typeface="Calibri" pitchFamily="34" charset="0"/>
                </a:endParaRPr>
              </a:p>
            </p:txBody>
          </p:sp>
          <p:sp>
            <p:nvSpPr>
              <p:cNvPr id="31774" name="Line 30"/>
              <p:cNvSpPr>
                <a:spLocks noChangeShapeType="1"/>
              </p:cNvSpPr>
              <p:nvPr/>
            </p:nvSpPr>
            <p:spPr bwMode="auto">
              <a:xfrm>
                <a:off x="3581400" y="3276600"/>
                <a:ext cx="609600" cy="1588"/>
              </a:xfrm>
              <a:prstGeom prst="line">
                <a:avLst/>
              </a:prstGeom>
              <a:noFill/>
              <a:ln w="2556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5" name="Rectangle 31"/>
              <p:cNvSpPr>
                <a:spLocks noChangeArrowheads="1"/>
              </p:cNvSpPr>
              <p:nvPr/>
            </p:nvSpPr>
            <p:spPr bwMode="auto">
              <a:xfrm>
                <a:off x="4419600" y="1905000"/>
                <a:ext cx="1676400" cy="2743200"/>
              </a:xfrm>
              <a:prstGeom prst="rect">
                <a:avLst/>
              </a:prstGeom>
              <a:noFill/>
              <a:ln w="381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8" name="Rectangle 19"/>
            <p:cNvSpPr>
              <a:spLocks noChangeArrowheads="1"/>
            </p:cNvSpPr>
            <p:nvPr/>
          </p:nvSpPr>
          <p:spPr bwMode="auto">
            <a:xfrm>
              <a:off x="6385034" y="1907108"/>
              <a:ext cx="381000" cy="304800"/>
            </a:xfrm>
            <a:prstGeom prst="rect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C00000"/>
                  </a:solidFill>
                  <a:latin typeface="Calibri" pitchFamily="34" charset="0"/>
                </a:rPr>
                <a:t>?</a:t>
              </a:r>
              <a:r>
                <a:rPr lang="en-GB" sz="1600" b="1" dirty="0">
                  <a:solidFill>
                    <a:srgbClr val="0070C0"/>
                  </a:solidFill>
                  <a:latin typeface="Calibri" pitchFamily="34" charset="0"/>
                </a:rPr>
                <a:t>0</a:t>
              </a:r>
            </a:p>
          </p:txBody>
        </p:sp>
        <p:sp>
          <p:nvSpPr>
            <p:cNvPr id="59" name="Rectangle 19"/>
            <p:cNvSpPr>
              <a:spLocks noChangeArrowheads="1"/>
            </p:cNvSpPr>
            <p:nvPr/>
          </p:nvSpPr>
          <p:spPr bwMode="auto">
            <a:xfrm>
              <a:off x="6385034" y="4342880"/>
              <a:ext cx="381000" cy="304800"/>
            </a:xfrm>
            <a:prstGeom prst="rect">
              <a:avLst/>
            </a:prstGeom>
            <a:noFill/>
            <a:ln w="324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solidFill>
                    <a:srgbClr val="C00000"/>
                  </a:solidFill>
                  <a:latin typeface="Calibri" pitchFamily="34" charset="0"/>
                </a:rPr>
                <a:t>?</a:t>
              </a:r>
              <a:r>
                <a:rPr lang="en-GB" sz="1600" b="1" dirty="0">
                  <a:solidFill>
                    <a:srgbClr val="0070C0"/>
                  </a:solidFill>
                  <a:latin typeface="Calibri" pitchFamily="34" charset="0"/>
                </a:rPr>
                <a:t>0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5F9A8C06-F363-4FD3-8696-FBFF22FDB6C2}"/>
              </a:ext>
            </a:extLst>
          </p:cNvPr>
          <p:cNvSpPr txBox="1"/>
          <p:nvPr/>
        </p:nvSpPr>
        <p:spPr>
          <a:xfrm>
            <a:off x="762000" y="5334000"/>
            <a:ext cx="64522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Header: 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	</a:t>
            </a:r>
            <a:r>
              <a:rPr lang="en-US" sz="1800" dirty="0">
                <a:latin typeface="Calibri" pitchFamily="34" charset="0"/>
              </a:rPr>
              <a:t>Use 2 bits (address bits always zero due to alignment):</a:t>
            </a:r>
            <a:br>
              <a:rPr lang="en-US" sz="1800" dirty="0">
                <a:latin typeface="Calibri" pitchFamily="34" charset="0"/>
              </a:rPr>
            </a:br>
            <a:r>
              <a:rPr lang="en-US" sz="1800" dirty="0">
                <a:latin typeface="Calibri" pitchFamily="34" charset="0"/>
              </a:rPr>
              <a:t>	(</a:t>
            </a: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previous block allocated</a:t>
            </a:r>
            <a:r>
              <a:rPr lang="en-US" sz="1800" dirty="0">
                <a:latin typeface="Calibri" pitchFamily="34" charset="0"/>
              </a:rPr>
              <a:t>)&lt;&lt;1 | (</a:t>
            </a:r>
            <a:r>
              <a:rPr lang="en-US" sz="1800" dirty="0">
                <a:solidFill>
                  <a:srgbClr val="0070C0"/>
                </a:solidFill>
                <a:latin typeface="Calibri" pitchFamily="34" charset="0"/>
              </a:rPr>
              <a:t>current block allocated</a:t>
            </a:r>
            <a:r>
              <a:rPr lang="en-US" sz="1800" dirty="0">
                <a:latin typeface="Calibri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4854711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/>
          </p:nvPr>
        </p:nvSpPr>
        <p:spPr>
          <a:xfrm>
            <a:off x="349469" y="381000"/>
            <a:ext cx="83820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Summary of Key Allocator Policies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79413" y="1066800"/>
            <a:ext cx="8307387" cy="5497512"/>
          </a:xfrm>
          <a:ln/>
        </p:spPr>
        <p:txBody>
          <a:bodyPr/>
          <a:lstStyle/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Placement policy: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First-fit, next-fit, best-fit, etc.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Trades off lower throughput for less fragmentation	</a:t>
            </a:r>
          </a:p>
          <a:p>
            <a:pPr lvl="1"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 dirty="0">
                <a:solidFill>
                  <a:srgbClr val="C00000"/>
                </a:solidFill>
              </a:rPr>
              <a:t>Interesting observation</a:t>
            </a:r>
            <a:r>
              <a:rPr lang="en-GB" b="1" dirty="0">
                <a:solidFill>
                  <a:srgbClr val="C00000"/>
                </a:solidFill>
              </a:rPr>
              <a:t>: </a:t>
            </a:r>
            <a:r>
              <a:rPr lang="en-GB" dirty="0"/>
              <a:t>segregated free </a:t>
            </a:r>
            <a:r>
              <a:rPr lang="en-GB" dirty="0" smtClean="0"/>
              <a:t>lists </a:t>
            </a:r>
            <a:r>
              <a:rPr lang="en-GB" dirty="0"/>
              <a:t>approximate a best fit placement policy without having to search entire free list</a:t>
            </a:r>
          </a:p>
          <a:p>
            <a:pPr>
              <a:lnSpc>
                <a:spcPct val="83000"/>
              </a:lnSpc>
              <a:spcBef>
                <a:spcPts val="18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Splitting policy: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When do we go ahead and split free blocks?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How much internal fragmentation are we willing to tolerate?</a:t>
            </a:r>
          </a:p>
          <a:p>
            <a:pPr>
              <a:lnSpc>
                <a:spcPct val="83000"/>
              </a:lnSpc>
              <a:spcBef>
                <a:spcPts val="18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Coalescing policy: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 dirty="0">
                <a:solidFill>
                  <a:srgbClr val="C00000"/>
                </a:solidFill>
              </a:rPr>
              <a:t>Immediate coalescing: </a:t>
            </a:r>
            <a:r>
              <a:rPr lang="en-GB" dirty="0"/>
              <a:t>coalesce each time </a:t>
            </a:r>
            <a:r>
              <a:rPr lang="en-GB" b="1" dirty="0">
                <a:latin typeface="Courier New" pitchFamily="49" charset="0"/>
              </a:rPr>
              <a:t>free</a:t>
            </a:r>
            <a:r>
              <a:rPr lang="en-GB" b="1" dirty="0"/>
              <a:t> </a:t>
            </a:r>
            <a:r>
              <a:rPr lang="en-GB" dirty="0"/>
              <a:t>is called 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 dirty="0">
                <a:solidFill>
                  <a:srgbClr val="C00000"/>
                </a:solidFill>
              </a:rPr>
              <a:t>Deferred coalescing: </a:t>
            </a:r>
            <a:r>
              <a:rPr lang="en-GB" dirty="0"/>
              <a:t>i</a:t>
            </a:r>
            <a:r>
              <a:rPr lang="en-GB" dirty="0" smtClean="0"/>
              <a:t>mprove </a:t>
            </a:r>
            <a:r>
              <a:rPr lang="en-GB" dirty="0"/>
              <a:t>performance of </a:t>
            </a:r>
            <a:r>
              <a:rPr lang="en-GB" b="1" dirty="0">
                <a:latin typeface="Courier New" pitchFamily="49" charset="0"/>
              </a:rPr>
              <a:t>free</a:t>
            </a:r>
            <a:r>
              <a:rPr lang="en-GB" b="1" dirty="0"/>
              <a:t> </a:t>
            </a:r>
            <a:r>
              <a:rPr lang="en-GB" dirty="0"/>
              <a:t>by deferring coalescing until needed. Examples:</a:t>
            </a:r>
          </a:p>
          <a:p>
            <a:pPr lvl="2"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Coalesce as you scan the free list for </a:t>
            </a:r>
            <a:r>
              <a:rPr lang="en-GB" b="1" dirty="0" err="1">
                <a:latin typeface="Courier New" pitchFamily="49" charset="0"/>
              </a:rPr>
              <a:t>malloc</a:t>
            </a:r>
            <a:endParaRPr lang="en-GB" b="1" dirty="0"/>
          </a:p>
          <a:p>
            <a:pPr lvl="2"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Coalesce when the amount of external fragmentation reaches some threshold</a:t>
            </a:r>
          </a:p>
        </p:txBody>
      </p:sp>
    </p:spTree>
    <p:extLst>
      <p:ext uri="{BB962C8B-B14F-4D97-AF65-F5344CB8AC3E}">
        <p14:creationId xmlns:p14="http://schemas.microsoft.com/office/powerpoint/2010/main" val="21680890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Grp="1" noChangeArrowheads="1"/>
          </p:cNvSpPr>
          <p:nvPr>
            <p:ph type="title"/>
          </p:nvPr>
        </p:nvSpPr>
        <p:spPr>
          <a:xfrm>
            <a:off x="440724" y="458703"/>
            <a:ext cx="6756400" cy="573087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Implicit Lists: Summary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40266" y="1160463"/>
            <a:ext cx="8307387" cy="5392737"/>
          </a:xfrm>
          <a:ln/>
        </p:spPr>
        <p:txBody>
          <a:bodyPr/>
          <a:lstStyle/>
          <a:p>
            <a:pPr>
              <a:lnSpc>
                <a:spcPct val="83000"/>
              </a:lnSpc>
              <a:spcBef>
                <a:spcPts val="12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Implementation: very simple</a:t>
            </a:r>
          </a:p>
          <a:p>
            <a:pPr>
              <a:lnSpc>
                <a:spcPct val="83000"/>
              </a:lnSpc>
              <a:spcBef>
                <a:spcPts val="12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Allocate cost: </a:t>
            </a:r>
          </a:p>
          <a:p>
            <a:pPr lvl="1">
              <a:lnSpc>
                <a:spcPct val="83000"/>
              </a:lnSpc>
              <a:spcBef>
                <a:spcPts val="6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linear time worst case</a:t>
            </a:r>
          </a:p>
          <a:p>
            <a:pPr>
              <a:lnSpc>
                <a:spcPct val="83000"/>
              </a:lnSpc>
              <a:spcBef>
                <a:spcPts val="12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Free cost: </a:t>
            </a:r>
          </a:p>
          <a:p>
            <a:pPr lvl="1">
              <a:lnSpc>
                <a:spcPct val="83000"/>
              </a:lnSpc>
              <a:spcBef>
                <a:spcPts val="6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constant time worst case</a:t>
            </a:r>
          </a:p>
          <a:p>
            <a:pPr lvl="1">
              <a:lnSpc>
                <a:spcPct val="88000"/>
              </a:lnSpc>
              <a:spcBef>
                <a:spcPts val="600"/>
              </a:spcBef>
              <a:buSzTx/>
              <a:buFont typeface="Wingdings" pitchFamily="2" charset="2"/>
              <a:buChar char="§"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even with coalescing</a:t>
            </a:r>
          </a:p>
          <a:p>
            <a:pPr>
              <a:lnSpc>
                <a:spcPct val="83000"/>
              </a:lnSpc>
              <a:spcBef>
                <a:spcPts val="12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Memory usage: </a:t>
            </a:r>
          </a:p>
          <a:p>
            <a:pPr lvl="1">
              <a:lnSpc>
                <a:spcPct val="83000"/>
              </a:lnSpc>
              <a:spcBef>
                <a:spcPts val="6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will depend on placement policy</a:t>
            </a:r>
          </a:p>
          <a:p>
            <a:pPr lvl="1">
              <a:lnSpc>
                <a:spcPct val="88000"/>
              </a:lnSpc>
              <a:spcBef>
                <a:spcPts val="6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First-fit, next-fit or best-fit</a:t>
            </a:r>
          </a:p>
          <a:p>
            <a:pPr>
              <a:lnSpc>
                <a:spcPct val="83000"/>
              </a:lnSpc>
              <a:spcBef>
                <a:spcPts val="12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Not used in practice for  </a:t>
            </a:r>
            <a:r>
              <a:rPr lang="en-GB" dirty="0">
                <a:latin typeface="Courier New" pitchFamily="49" charset="0"/>
              </a:rPr>
              <a:t>malloc/free </a:t>
            </a:r>
            <a:r>
              <a:rPr lang="en-GB" dirty="0"/>
              <a:t>because of linear-time allocation</a:t>
            </a:r>
          </a:p>
          <a:p>
            <a:pPr lvl="1">
              <a:lnSpc>
                <a:spcPct val="88000"/>
              </a:lnSpc>
              <a:spcBef>
                <a:spcPts val="600"/>
              </a:spcBef>
              <a:buSzTx/>
              <a:buFont typeface="Wingdings" pitchFamily="2" charset="2"/>
              <a:buChar char="§"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used in many special purpose applications</a:t>
            </a:r>
          </a:p>
          <a:p>
            <a:pPr>
              <a:lnSpc>
                <a:spcPct val="83000"/>
              </a:lnSpc>
              <a:spcBef>
                <a:spcPts val="12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However, the concepts of splitting and boundary tag coalescing are general to </a:t>
            </a:r>
            <a:r>
              <a:rPr lang="en-GB" i="1" dirty="0">
                <a:solidFill>
                  <a:srgbClr val="C00000"/>
                </a:solidFill>
              </a:rPr>
              <a:t>all</a:t>
            </a:r>
            <a:r>
              <a:rPr lang="en-GB" dirty="0"/>
              <a:t> allocators</a:t>
            </a:r>
          </a:p>
        </p:txBody>
      </p:sp>
    </p:spTree>
    <p:extLst>
      <p:ext uri="{BB962C8B-B14F-4D97-AF65-F5344CB8AC3E}">
        <p14:creationId xmlns:p14="http://schemas.microsoft.com/office/powerpoint/2010/main" val="201682702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Homework </a:t>
            </a:r>
            <a:r>
              <a:rPr lang="mr-IN" dirty="0" smtClean="0"/>
              <a:t>–</a:t>
            </a:r>
            <a:r>
              <a:rPr lang="en-US" dirty="0" smtClean="0"/>
              <a:t> Week </a:t>
            </a:r>
            <a:r>
              <a:rPr lang="en-US" dirty="0"/>
              <a:t>7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800" dirty="0" smtClean="0"/>
              <a:t>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623659"/>
            <a:ext cx="7896225" cy="4710465"/>
          </a:xfrm>
        </p:spPr>
        <p:txBody>
          <a:bodyPr/>
          <a:lstStyle/>
          <a:p>
            <a:r>
              <a:rPr lang="en-US" dirty="0" smtClean="0"/>
              <a:t>Shell Lab </a:t>
            </a:r>
            <a:r>
              <a:rPr lang="mr-IN" dirty="0" smtClean="0"/>
              <a:t>–</a:t>
            </a:r>
            <a:r>
              <a:rPr lang="en-US" dirty="0" smtClean="0"/>
              <a:t> Due Friday, February 23</a:t>
            </a:r>
            <a:r>
              <a:rPr lang="en-US" baseline="30000" dirty="0" smtClean="0"/>
              <a:t>rd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Read</a:t>
            </a:r>
            <a:r>
              <a:rPr lang="en-US" dirty="0" smtClean="0"/>
              <a:t>: CS:APP</a:t>
            </a:r>
          </a:p>
          <a:p>
            <a:pPr lvl="1"/>
            <a:r>
              <a:rPr lang="en-US" dirty="0" smtClean="0"/>
              <a:t>Sections 9.9-9.12</a:t>
            </a:r>
          </a:p>
          <a:p>
            <a:pPr marL="0" indent="0">
              <a:buNone/>
            </a:pPr>
            <a:r>
              <a:rPr lang="en-US" dirty="0" smtClean="0"/>
              <a:t>	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22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 Slides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Explicit free lists	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Segregated free lists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Garbage collection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Memory-related perils and pitfalls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3528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 bwMode="auto">
          <a:xfrm>
            <a:off x="396875" y="2941520"/>
            <a:ext cx="8594725" cy="162172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Keeping Track of Free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254210"/>
            <a:ext cx="8594725" cy="5375190"/>
          </a:xfrm>
        </p:spPr>
        <p:txBody>
          <a:bodyPr/>
          <a:lstStyle/>
          <a:p>
            <a:r>
              <a:rPr lang="en-US" dirty="0"/>
              <a:t>Method 1: </a:t>
            </a:r>
            <a:r>
              <a:rPr lang="en-US" i="1" dirty="0">
                <a:solidFill>
                  <a:srgbClr val="C00000"/>
                </a:solidFill>
              </a:rPr>
              <a:t>Implicit free list </a:t>
            </a:r>
            <a:r>
              <a:rPr lang="en-US" dirty="0"/>
              <a:t>using length—links all blocks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Method 2: </a:t>
            </a:r>
            <a:r>
              <a:rPr lang="en-GB" i="1" dirty="0">
                <a:solidFill>
                  <a:srgbClr val="C00000"/>
                </a:solidFill>
              </a:rPr>
              <a:t>Explicit free list</a:t>
            </a:r>
            <a:r>
              <a:rPr lang="en-GB" dirty="0">
                <a:solidFill>
                  <a:srgbClr val="C00000"/>
                </a:solidFill>
              </a:rPr>
              <a:t> </a:t>
            </a:r>
            <a:r>
              <a:rPr lang="en-GB" dirty="0"/>
              <a:t>among the free blocks using pointers</a:t>
            </a:r>
          </a:p>
          <a:p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Method 3: </a:t>
            </a:r>
            <a:r>
              <a:rPr lang="en-GB" i="1" dirty="0">
                <a:solidFill>
                  <a:srgbClr val="C00000"/>
                </a:solidFill>
              </a:rPr>
              <a:t>Segregated free list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Different free lists for different size classes</a:t>
            </a:r>
            <a:endParaRPr lang="en-US" dirty="0"/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US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US" dirty="0"/>
              <a:t>Method 4: </a:t>
            </a:r>
            <a:r>
              <a:rPr lang="en-GB" i="1" dirty="0">
                <a:solidFill>
                  <a:srgbClr val="C00000"/>
                </a:solidFill>
              </a:rPr>
              <a:t>Blocks sorted by size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Can use a balanced tree (e.g. Red-Black tree) with pointers within each free block, and the length used as a key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600200" y="2209800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</a:rPr>
              <a:t>5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905000" y="2209800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209800" y="2209800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2514600" y="2209800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819400" y="2209800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31242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4290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37338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40386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4648200" y="2209800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4953000" y="2209800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5257800" y="2209800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5562600" y="2209800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5867400" y="2209800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61722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2</a:t>
            </a:r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6477000" y="2209800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4343400" y="2209800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6</a:t>
            </a:r>
          </a:p>
        </p:txBody>
      </p:sp>
      <p:sp>
        <p:nvSpPr>
          <p:cNvPr id="21" name="Freeform 39"/>
          <p:cNvSpPr>
            <a:spLocks/>
          </p:cNvSpPr>
          <p:nvPr/>
        </p:nvSpPr>
        <p:spPr bwMode="auto">
          <a:xfrm>
            <a:off x="1752600" y="1972962"/>
            <a:ext cx="15240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28" y="0"/>
              </a:cxn>
              <a:cxn ang="0">
                <a:pos x="960" y="144"/>
              </a:cxn>
            </a:cxnLst>
            <a:rect l="0" t="0" r="r" b="b"/>
            <a:pathLst>
              <a:path w="960" h="144">
                <a:moveTo>
                  <a:pt x="0" y="144"/>
                </a:moveTo>
                <a:cubicBezTo>
                  <a:pt x="184" y="72"/>
                  <a:pt x="368" y="0"/>
                  <a:pt x="528" y="0"/>
                </a:cubicBezTo>
                <a:cubicBezTo>
                  <a:pt x="688" y="0"/>
                  <a:pt x="824" y="72"/>
                  <a:pt x="960" y="144"/>
                </a:cubicBezTo>
              </a:path>
            </a:pathLst>
          </a:custGeom>
          <a:noFill/>
          <a:ln w="2556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Freeform 40"/>
          <p:cNvSpPr>
            <a:spLocks/>
          </p:cNvSpPr>
          <p:nvPr/>
        </p:nvSpPr>
        <p:spPr bwMode="auto">
          <a:xfrm>
            <a:off x="3276600" y="1972962"/>
            <a:ext cx="12192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384" y="0"/>
              </a:cxn>
              <a:cxn ang="0">
                <a:pos x="768" y="144"/>
              </a:cxn>
            </a:cxnLst>
            <a:rect l="0" t="0" r="r" b="b"/>
            <a:pathLst>
              <a:path w="768" h="144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w="2556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Freeform 41"/>
          <p:cNvSpPr>
            <a:spLocks/>
          </p:cNvSpPr>
          <p:nvPr/>
        </p:nvSpPr>
        <p:spPr bwMode="auto">
          <a:xfrm>
            <a:off x="4495800" y="1972962"/>
            <a:ext cx="1828800" cy="228600"/>
          </a:xfrm>
          <a:custGeom>
            <a:avLst/>
            <a:gdLst/>
            <a:ahLst/>
            <a:cxnLst>
              <a:cxn ang="0">
                <a:pos x="0" y="144"/>
              </a:cxn>
              <a:cxn ang="0">
                <a:pos x="576" y="0"/>
              </a:cxn>
              <a:cxn ang="0">
                <a:pos x="1152" y="144"/>
              </a:cxn>
            </a:cxnLst>
            <a:rect l="0" t="0" r="r" b="b"/>
            <a:pathLst>
              <a:path w="1152" h="144">
                <a:moveTo>
                  <a:pt x="0" y="144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</a:pathLst>
          </a:custGeom>
          <a:noFill/>
          <a:ln w="2556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21"/>
          <p:cNvSpPr>
            <a:spLocks noChangeArrowheads="1"/>
          </p:cNvSpPr>
          <p:nvPr/>
        </p:nvSpPr>
        <p:spPr bwMode="auto">
          <a:xfrm>
            <a:off x="1600200" y="3962400"/>
            <a:ext cx="324968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</a:rPr>
              <a:t>5</a:t>
            </a: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1905000" y="3962400"/>
            <a:ext cx="324968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2209800" y="3962400"/>
            <a:ext cx="324968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2514600" y="3962400"/>
            <a:ext cx="324968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2819400" y="3962400"/>
            <a:ext cx="324968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3124200" y="3962400"/>
            <a:ext cx="324968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4</a:t>
            </a: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3429000" y="3962400"/>
            <a:ext cx="324968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3733800" y="3962400"/>
            <a:ext cx="324968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4038600" y="3962400"/>
            <a:ext cx="324968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4648200" y="3962400"/>
            <a:ext cx="324968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4953000" y="3962400"/>
            <a:ext cx="324968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5257800" y="3962400"/>
            <a:ext cx="324968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33"/>
          <p:cNvSpPr>
            <a:spLocks noChangeArrowheads="1"/>
          </p:cNvSpPr>
          <p:nvPr/>
        </p:nvSpPr>
        <p:spPr bwMode="auto">
          <a:xfrm>
            <a:off x="5562600" y="3962400"/>
            <a:ext cx="324968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Rectangle 34"/>
          <p:cNvSpPr>
            <a:spLocks noChangeArrowheads="1"/>
          </p:cNvSpPr>
          <p:nvPr/>
        </p:nvSpPr>
        <p:spPr bwMode="auto">
          <a:xfrm>
            <a:off x="5867400" y="3962400"/>
            <a:ext cx="324968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Rectangle 35"/>
          <p:cNvSpPr>
            <a:spLocks noChangeArrowheads="1"/>
          </p:cNvSpPr>
          <p:nvPr/>
        </p:nvSpPr>
        <p:spPr bwMode="auto">
          <a:xfrm>
            <a:off x="6172200" y="3962400"/>
            <a:ext cx="324968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2</a:t>
            </a:r>
          </a:p>
        </p:txBody>
      </p:sp>
      <p:sp>
        <p:nvSpPr>
          <p:cNvPr id="39" name="Rectangle 36"/>
          <p:cNvSpPr>
            <a:spLocks noChangeArrowheads="1"/>
          </p:cNvSpPr>
          <p:nvPr/>
        </p:nvSpPr>
        <p:spPr bwMode="auto">
          <a:xfrm>
            <a:off x="6477000" y="3962400"/>
            <a:ext cx="324968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Rectangle 37"/>
          <p:cNvSpPr>
            <a:spLocks noChangeArrowheads="1"/>
          </p:cNvSpPr>
          <p:nvPr/>
        </p:nvSpPr>
        <p:spPr bwMode="auto">
          <a:xfrm>
            <a:off x="4343400" y="3962400"/>
            <a:ext cx="324968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6</a:t>
            </a:r>
          </a:p>
        </p:txBody>
      </p:sp>
      <p:sp>
        <p:nvSpPr>
          <p:cNvPr id="41" name="Freeform 38"/>
          <p:cNvSpPr>
            <a:spLocks/>
          </p:cNvSpPr>
          <p:nvPr/>
        </p:nvSpPr>
        <p:spPr bwMode="auto">
          <a:xfrm>
            <a:off x="2057400" y="3632200"/>
            <a:ext cx="2599744" cy="482600"/>
          </a:xfrm>
          <a:custGeom>
            <a:avLst/>
            <a:gdLst/>
            <a:ahLst/>
            <a:cxnLst>
              <a:cxn ang="0">
                <a:pos x="0" y="304"/>
              </a:cxn>
              <a:cxn ang="0">
                <a:pos x="912" y="16"/>
              </a:cxn>
              <a:cxn ang="0">
                <a:pos x="1536" y="208"/>
              </a:cxn>
            </a:cxnLst>
            <a:rect l="0" t="0" r="r" b="b"/>
            <a:pathLst>
              <a:path w="1536" h="304">
                <a:moveTo>
                  <a:pt x="0" y="304"/>
                </a:moveTo>
                <a:cubicBezTo>
                  <a:pt x="328" y="167"/>
                  <a:pt x="656" y="31"/>
                  <a:pt x="912" y="16"/>
                </a:cubicBezTo>
                <a:cubicBezTo>
                  <a:pt x="1167" y="0"/>
                  <a:pt x="1351" y="104"/>
                  <a:pt x="1536" y="208"/>
                </a:cubicBezTo>
              </a:path>
            </a:pathLst>
          </a:custGeom>
          <a:noFill/>
          <a:ln w="2556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3270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92688" y="481601"/>
            <a:ext cx="60706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Explicit Free Lists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90513" y="4710113"/>
            <a:ext cx="8307387" cy="1843087"/>
          </a:xfrm>
          <a:ln/>
        </p:spPr>
        <p:txBody>
          <a:bodyPr/>
          <a:lstStyle/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Maintain list(s) of </a:t>
            </a:r>
            <a:r>
              <a:rPr lang="en-GB" i="1" dirty="0">
                <a:solidFill>
                  <a:srgbClr val="C00000"/>
                </a:solidFill>
              </a:rPr>
              <a:t>free</a:t>
            </a:r>
            <a:r>
              <a:rPr lang="en-GB" dirty="0"/>
              <a:t> blocks, not </a:t>
            </a:r>
            <a:r>
              <a:rPr lang="en-GB" i="1" dirty="0">
                <a:solidFill>
                  <a:srgbClr val="C00000"/>
                </a:solidFill>
              </a:rPr>
              <a:t>all</a:t>
            </a:r>
            <a:r>
              <a:rPr lang="en-GB" dirty="0"/>
              <a:t> blocks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The “next” free block could be anywhere</a:t>
            </a:r>
          </a:p>
          <a:p>
            <a:pPr lvl="2">
              <a:lnSpc>
                <a:spcPct val="107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So we need to store forward/back pointers, not just sizes</a:t>
            </a:r>
          </a:p>
          <a:p>
            <a:pPr lvl="1">
              <a:lnSpc>
                <a:spcPct val="9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Still need boundary tags for coalescing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Luckily we track only free blocks, so we can use payload area</a:t>
            </a:r>
          </a:p>
        </p:txBody>
      </p:sp>
      <p:sp>
        <p:nvSpPr>
          <p:cNvPr id="48" name="Rectangle 3"/>
          <p:cNvSpPr>
            <a:spLocks noChangeArrowheads="1"/>
          </p:cNvSpPr>
          <p:nvPr/>
        </p:nvSpPr>
        <p:spPr bwMode="auto">
          <a:xfrm>
            <a:off x="1600200" y="1752600"/>
            <a:ext cx="1370013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</a:t>
            </a:r>
            <a:r>
              <a:rPr lang="en-GB" sz="1600" b="1" dirty="0">
                <a:latin typeface="Calibri" pitchFamily="34" charset="0"/>
              </a:rPr>
              <a:t>ize</a:t>
            </a:r>
          </a:p>
        </p:txBody>
      </p:sp>
      <p:sp>
        <p:nvSpPr>
          <p:cNvPr id="49" name="Rectangle 6"/>
          <p:cNvSpPr>
            <a:spLocks noChangeArrowheads="1"/>
          </p:cNvSpPr>
          <p:nvPr/>
        </p:nvSpPr>
        <p:spPr bwMode="auto">
          <a:xfrm>
            <a:off x="1600200" y="2133600"/>
            <a:ext cx="1676400" cy="1524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P</a:t>
            </a:r>
            <a:r>
              <a:rPr lang="en-GB" sz="1600" b="1" dirty="0">
                <a:latin typeface="Calibri" pitchFamily="34" charset="0"/>
              </a:rPr>
              <a:t>ayload and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padding</a:t>
            </a:r>
          </a:p>
        </p:txBody>
      </p:sp>
      <p:sp>
        <p:nvSpPr>
          <p:cNvPr id="51" name="Rectangle 8"/>
          <p:cNvSpPr>
            <a:spLocks noChangeArrowheads="1"/>
          </p:cNvSpPr>
          <p:nvPr/>
        </p:nvSpPr>
        <p:spPr bwMode="auto">
          <a:xfrm>
            <a:off x="2971800" y="1752600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a</a:t>
            </a:r>
          </a:p>
        </p:txBody>
      </p:sp>
      <p:sp>
        <p:nvSpPr>
          <p:cNvPr id="52" name="Rectangle 9"/>
          <p:cNvSpPr>
            <a:spLocks noChangeArrowheads="1"/>
          </p:cNvSpPr>
          <p:nvPr/>
        </p:nvSpPr>
        <p:spPr bwMode="auto">
          <a:xfrm>
            <a:off x="1598612" y="3657600"/>
            <a:ext cx="1373187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</a:t>
            </a:r>
            <a:r>
              <a:rPr lang="en-GB" sz="1600" b="1" dirty="0">
                <a:latin typeface="Calibri" pitchFamily="34" charset="0"/>
              </a:rPr>
              <a:t>ize</a:t>
            </a:r>
          </a:p>
        </p:txBody>
      </p:sp>
      <p:sp>
        <p:nvSpPr>
          <p:cNvPr id="53" name="Rectangle 10"/>
          <p:cNvSpPr>
            <a:spLocks noChangeArrowheads="1"/>
          </p:cNvSpPr>
          <p:nvPr/>
        </p:nvSpPr>
        <p:spPr bwMode="auto">
          <a:xfrm>
            <a:off x="2971800" y="3657600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a</a:t>
            </a:r>
          </a:p>
        </p:txBody>
      </p:sp>
      <p:sp>
        <p:nvSpPr>
          <p:cNvPr id="59" name="Rectangle 3"/>
          <p:cNvSpPr>
            <a:spLocks noChangeArrowheads="1"/>
          </p:cNvSpPr>
          <p:nvPr/>
        </p:nvSpPr>
        <p:spPr bwMode="auto">
          <a:xfrm>
            <a:off x="5105400" y="1752600"/>
            <a:ext cx="1370013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</a:t>
            </a:r>
            <a:r>
              <a:rPr lang="en-GB" sz="1600" b="1" dirty="0">
                <a:latin typeface="Calibri" pitchFamily="34" charset="0"/>
              </a:rPr>
              <a:t>ize</a:t>
            </a:r>
          </a:p>
        </p:txBody>
      </p:sp>
      <p:sp>
        <p:nvSpPr>
          <p:cNvPr id="60" name="Rectangle 6"/>
          <p:cNvSpPr>
            <a:spLocks noChangeArrowheads="1"/>
          </p:cNvSpPr>
          <p:nvPr/>
        </p:nvSpPr>
        <p:spPr bwMode="auto">
          <a:xfrm>
            <a:off x="5105400" y="2895600"/>
            <a:ext cx="1676400" cy="76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b="1" dirty="0">
              <a:latin typeface="Calibri" pitchFamily="34" charset="0"/>
            </a:endParaRPr>
          </a:p>
        </p:txBody>
      </p:sp>
      <p:sp>
        <p:nvSpPr>
          <p:cNvPr id="61" name="Rectangle 8"/>
          <p:cNvSpPr>
            <a:spLocks noChangeArrowheads="1"/>
          </p:cNvSpPr>
          <p:nvPr/>
        </p:nvSpPr>
        <p:spPr bwMode="auto">
          <a:xfrm>
            <a:off x="6477000" y="1752600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a</a:t>
            </a:r>
          </a:p>
        </p:txBody>
      </p:sp>
      <p:sp>
        <p:nvSpPr>
          <p:cNvPr id="62" name="Rectangle 9"/>
          <p:cNvSpPr>
            <a:spLocks noChangeArrowheads="1"/>
          </p:cNvSpPr>
          <p:nvPr/>
        </p:nvSpPr>
        <p:spPr bwMode="auto">
          <a:xfrm>
            <a:off x="5103812" y="3657600"/>
            <a:ext cx="1373187" cy="381000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S</a:t>
            </a:r>
            <a:r>
              <a:rPr lang="en-GB" sz="1600" b="1" dirty="0">
                <a:latin typeface="Calibri" pitchFamily="34" charset="0"/>
              </a:rPr>
              <a:t>ize</a:t>
            </a:r>
          </a:p>
        </p:txBody>
      </p:sp>
      <p:sp>
        <p:nvSpPr>
          <p:cNvPr id="63" name="Rectangle 10"/>
          <p:cNvSpPr>
            <a:spLocks noChangeArrowheads="1"/>
          </p:cNvSpPr>
          <p:nvPr/>
        </p:nvSpPr>
        <p:spPr bwMode="auto">
          <a:xfrm>
            <a:off x="6477000" y="3657600"/>
            <a:ext cx="304800" cy="381000"/>
          </a:xfrm>
          <a:prstGeom prst="rect">
            <a:avLst/>
          </a:prstGeom>
          <a:solidFill>
            <a:srgbClr val="EBAFA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</a:rPr>
              <a:t>a</a:t>
            </a:r>
          </a:p>
        </p:txBody>
      </p:sp>
      <p:sp>
        <p:nvSpPr>
          <p:cNvPr id="64" name="Rectangle 3"/>
          <p:cNvSpPr>
            <a:spLocks noChangeArrowheads="1"/>
          </p:cNvSpPr>
          <p:nvPr/>
        </p:nvSpPr>
        <p:spPr bwMode="auto">
          <a:xfrm>
            <a:off x="5105400" y="2133600"/>
            <a:ext cx="16764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N</a:t>
            </a:r>
            <a:r>
              <a:rPr lang="en-GB" sz="1600" b="1" dirty="0">
                <a:latin typeface="Calibri" pitchFamily="34" charset="0"/>
              </a:rPr>
              <a:t>ext</a:t>
            </a:r>
          </a:p>
        </p:txBody>
      </p:sp>
      <p:sp>
        <p:nvSpPr>
          <p:cNvPr id="65" name="Rectangle 3"/>
          <p:cNvSpPr>
            <a:spLocks noChangeArrowheads="1"/>
          </p:cNvSpPr>
          <p:nvPr/>
        </p:nvSpPr>
        <p:spPr bwMode="auto">
          <a:xfrm>
            <a:off x="5105400" y="2514600"/>
            <a:ext cx="16764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latin typeface="Calibri" pitchFamily="34" charset="0"/>
              </a:rPr>
              <a:t>P</a:t>
            </a:r>
            <a:r>
              <a:rPr lang="en-GB" sz="1600" b="1" dirty="0" err="1">
                <a:latin typeface="Calibri" pitchFamily="34" charset="0"/>
              </a:rPr>
              <a:t>rev</a:t>
            </a:r>
            <a:endParaRPr lang="en-GB" sz="1600" b="1" dirty="0">
              <a:latin typeface="Calibri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371600" y="1307068"/>
            <a:ext cx="2163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Allocated (as before)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38800" y="1295400"/>
            <a:ext cx="600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Free</a:t>
            </a:r>
          </a:p>
        </p:txBody>
      </p:sp>
    </p:spTree>
    <p:extLst>
      <p:ext uri="{BB962C8B-B14F-4D97-AF65-F5344CB8AC3E}">
        <p14:creationId xmlns:p14="http://schemas.microsoft.com/office/powerpoint/2010/main" val="657947069"/>
      </p:ext>
    </p:extLst>
  </p:cSld>
  <p:clrMapOvr>
    <a:masterClrMapping/>
  </p:clrMapOvr>
  <p:transition xmlns:p14="http://schemas.microsoft.com/office/powerpoint/2010/main"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Line 1"/>
          <p:cNvSpPr>
            <a:spLocks noChangeShapeType="1"/>
          </p:cNvSpPr>
          <p:nvPr/>
        </p:nvSpPr>
        <p:spPr bwMode="auto">
          <a:xfrm>
            <a:off x="3276600" y="2057399"/>
            <a:ext cx="457200" cy="0"/>
          </a:xfrm>
          <a:prstGeom prst="line">
            <a:avLst/>
          </a:prstGeom>
          <a:noFill/>
          <a:ln w="2556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46" name="Line 2"/>
          <p:cNvSpPr>
            <a:spLocks noChangeShapeType="1"/>
          </p:cNvSpPr>
          <p:nvPr/>
        </p:nvSpPr>
        <p:spPr bwMode="auto">
          <a:xfrm>
            <a:off x="4572000" y="2057399"/>
            <a:ext cx="381000" cy="0"/>
          </a:xfrm>
          <a:prstGeom prst="line">
            <a:avLst/>
          </a:prstGeom>
          <a:noFill/>
          <a:ln w="2556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47" name="Line 3"/>
          <p:cNvSpPr>
            <a:spLocks noChangeShapeType="1"/>
          </p:cNvSpPr>
          <p:nvPr/>
        </p:nvSpPr>
        <p:spPr bwMode="auto">
          <a:xfrm>
            <a:off x="6096000" y="2057399"/>
            <a:ext cx="381000" cy="0"/>
          </a:xfrm>
          <a:prstGeom prst="line">
            <a:avLst/>
          </a:prstGeom>
          <a:noFill/>
          <a:ln w="2556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92688" y="481601"/>
            <a:ext cx="60706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Explicit Free Lists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08681" y="1269236"/>
            <a:ext cx="8307387" cy="2436812"/>
          </a:xfrm>
          <a:ln/>
        </p:spPr>
        <p:txBody>
          <a:bodyPr/>
          <a:lstStyle/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Logically:</a:t>
            </a:r>
          </a:p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Physically: blocks can be in any order</a:t>
            </a: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2438400" y="1981200"/>
            <a:ext cx="8382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A</a:t>
            </a: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3733800" y="1981200"/>
            <a:ext cx="8382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B</a:t>
            </a: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4953000" y="1981200"/>
            <a:ext cx="11430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C</a:t>
            </a:r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 flipH="1">
            <a:off x="4570413" y="2209800"/>
            <a:ext cx="384175" cy="1587"/>
          </a:xfrm>
          <a:prstGeom prst="line">
            <a:avLst/>
          </a:prstGeom>
          <a:noFill/>
          <a:ln w="25560">
            <a:solidFill>
              <a:srgbClr val="C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54" name="Line 10"/>
          <p:cNvSpPr>
            <a:spLocks noChangeShapeType="1"/>
          </p:cNvSpPr>
          <p:nvPr/>
        </p:nvSpPr>
        <p:spPr bwMode="auto">
          <a:xfrm flipH="1">
            <a:off x="3275013" y="2209800"/>
            <a:ext cx="460375" cy="1587"/>
          </a:xfrm>
          <a:prstGeom prst="line">
            <a:avLst/>
          </a:prstGeom>
          <a:noFill/>
          <a:ln w="25560">
            <a:solidFill>
              <a:srgbClr val="C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155" name="Line 11"/>
          <p:cNvSpPr>
            <a:spLocks noChangeShapeType="1"/>
          </p:cNvSpPr>
          <p:nvPr/>
        </p:nvSpPr>
        <p:spPr bwMode="auto">
          <a:xfrm flipH="1">
            <a:off x="2132013" y="2209800"/>
            <a:ext cx="307975" cy="1587"/>
          </a:xfrm>
          <a:prstGeom prst="line">
            <a:avLst/>
          </a:prstGeom>
          <a:noFill/>
          <a:ln w="25560">
            <a:solidFill>
              <a:srgbClr val="C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051D6558-6B62-43C4-AB55-898AADAF9C4F}"/>
              </a:ext>
            </a:extLst>
          </p:cNvPr>
          <p:cNvGrpSpPr/>
          <p:nvPr/>
        </p:nvGrpSpPr>
        <p:grpSpPr>
          <a:xfrm>
            <a:off x="1186389" y="3986212"/>
            <a:ext cx="7516841" cy="1728788"/>
            <a:chOff x="1186389" y="3986212"/>
            <a:chExt cx="7516841" cy="1728788"/>
          </a:xfrm>
        </p:grpSpPr>
        <p:sp>
          <p:nvSpPr>
            <p:cNvPr id="6156" name="Rectangle 12"/>
            <p:cNvSpPr>
              <a:spLocks noChangeArrowheads="1"/>
            </p:cNvSpPr>
            <p:nvPr/>
          </p:nvSpPr>
          <p:spPr bwMode="auto">
            <a:xfrm>
              <a:off x="11863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4</a:t>
              </a:r>
            </a:p>
          </p:txBody>
        </p:sp>
        <p:sp>
          <p:nvSpPr>
            <p:cNvPr id="6157" name="Rectangle 13"/>
            <p:cNvSpPr>
              <a:spLocks noChangeArrowheads="1"/>
            </p:cNvSpPr>
            <p:nvPr/>
          </p:nvSpPr>
          <p:spPr bwMode="auto">
            <a:xfrm>
              <a:off x="14911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8" name="Rectangle 14"/>
            <p:cNvSpPr>
              <a:spLocks noChangeArrowheads="1"/>
            </p:cNvSpPr>
            <p:nvPr/>
          </p:nvSpPr>
          <p:spPr bwMode="auto">
            <a:xfrm>
              <a:off x="17959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9" name="Rectangle 15"/>
            <p:cNvSpPr>
              <a:spLocks noChangeArrowheads="1"/>
            </p:cNvSpPr>
            <p:nvPr/>
          </p:nvSpPr>
          <p:spPr bwMode="auto">
            <a:xfrm>
              <a:off x="21007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4</a:t>
              </a:r>
            </a:p>
          </p:txBody>
        </p:sp>
        <p:sp>
          <p:nvSpPr>
            <p:cNvPr id="6160" name="Rectangle 16"/>
            <p:cNvSpPr>
              <a:spLocks noChangeArrowheads="1"/>
            </p:cNvSpPr>
            <p:nvPr/>
          </p:nvSpPr>
          <p:spPr bwMode="auto">
            <a:xfrm>
              <a:off x="2405589" y="48910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4</a:t>
              </a:r>
            </a:p>
          </p:txBody>
        </p:sp>
        <p:sp>
          <p:nvSpPr>
            <p:cNvPr id="6161" name="Rectangle 17"/>
            <p:cNvSpPr>
              <a:spLocks noChangeArrowheads="1"/>
            </p:cNvSpPr>
            <p:nvPr/>
          </p:nvSpPr>
          <p:spPr bwMode="auto">
            <a:xfrm>
              <a:off x="2710389" y="48910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2" name="Rectangle 18"/>
            <p:cNvSpPr>
              <a:spLocks noChangeArrowheads="1"/>
            </p:cNvSpPr>
            <p:nvPr/>
          </p:nvSpPr>
          <p:spPr bwMode="auto">
            <a:xfrm>
              <a:off x="3015189" y="48910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3" name="Rectangle 19"/>
            <p:cNvSpPr>
              <a:spLocks noChangeArrowheads="1"/>
            </p:cNvSpPr>
            <p:nvPr/>
          </p:nvSpPr>
          <p:spPr bwMode="auto">
            <a:xfrm>
              <a:off x="3319989" y="48910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4</a:t>
              </a:r>
            </a:p>
          </p:txBody>
        </p:sp>
        <p:sp>
          <p:nvSpPr>
            <p:cNvPr id="6164" name="Rectangle 20"/>
            <p:cNvSpPr>
              <a:spLocks noChangeArrowheads="1"/>
            </p:cNvSpPr>
            <p:nvPr/>
          </p:nvSpPr>
          <p:spPr bwMode="auto">
            <a:xfrm>
              <a:off x="39295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5" name="Rectangle 21"/>
            <p:cNvSpPr>
              <a:spLocks noChangeArrowheads="1"/>
            </p:cNvSpPr>
            <p:nvPr/>
          </p:nvSpPr>
          <p:spPr bwMode="auto">
            <a:xfrm>
              <a:off x="42343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6" name="Rectangle 22"/>
            <p:cNvSpPr>
              <a:spLocks noChangeArrowheads="1"/>
            </p:cNvSpPr>
            <p:nvPr/>
          </p:nvSpPr>
          <p:spPr bwMode="auto">
            <a:xfrm>
              <a:off x="45391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7" name="Rectangle 23"/>
            <p:cNvSpPr>
              <a:spLocks noChangeArrowheads="1"/>
            </p:cNvSpPr>
            <p:nvPr/>
          </p:nvSpPr>
          <p:spPr bwMode="auto">
            <a:xfrm>
              <a:off x="48439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8" name="Rectangle 24"/>
            <p:cNvSpPr>
              <a:spLocks noChangeArrowheads="1"/>
            </p:cNvSpPr>
            <p:nvPr/>
          </p:nvSpPr>
          <p:spPr bwMode="auto">
            <a:xfrm>
              <a:off x="51487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6</a:t>
              </a:r>
            </a:p>
          </p:txBody>
        </p:sp>
        <p:sp>
          <p:nvSpPr>
            <p:cNvPr id="6169" name="Rectangle 25"/>
            <p:cNvSpPr>
              <a:spLocks noChangeArrowheads="1"/>
            </p:cNvSpPr>
            <p:nvPr/>
          </p:nvSpPr>
          <p:spPr bwMode="auto">
            <a:xfrm>
              <a:off x="5758389" y="48910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0" name="Rectangle 26"/>
            <p:cNvSpPr>
              <a:spLocks noChangeArrowheads="1"/>
            </p:cNvSpPr>
            <p:nvPr/>
          </p:nvSpPr>
          <p:spPr bwMode="auto">
            <a:xfrm>
              <a:off x="36247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6</a:t>
              </a:r>
            </a:p>
          </p:txBody>
        </p:sp>
        <p:sp>
          <p:nvSpPr>
            <p:cNvPr id="6171" name="Rectangle 27"/>
            <p:cNvSpPr>
              <a:spLocks noChangeArrowheads="1"/>
            </p:cNvSpPr>
            <p:nvPr/>
          </p:nvSpPr>
          <p:spPr bwMode="auto">
            <a:xfrm>
              <a:off x="66727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4</a:t>
              </a:r>
            </a:p>
          </p:txBody>
        </p:sp>
        <p:sp>
          <p:nvSpPr>
            <p:cNvPr id="6172" name="Rectangle 28"/>
            <p:cNvSpPr>
              <a:spLocks noChangeArrowheads="1"/>
            </p:cNvSpPr>
            <p:nvPr/>
          </p:nvSpPr>
          <p:spPr bwMode="auto">
            <a:xfrm>
              <a:off x="5453589" y="48910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4</a:t>
              </a:r>
            </a:p>
          </p:txBody>
        </p:sp>
        <p:sp>
          <p:nvSpPr>
            <p:cNvPr id="6173" name="Rectangle 29"/>
            <p:cNvSpPr>
              <a:spLocks noChangeArrowheads="1"/>
            </p:cNvSpPr>
            <p:nvPr/>
          </p:nvSpPr>
          <p:spPr bwMode="auto">
            <a:xfrm>
              <a:off x="6063189" y="48910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4" name="Rectangle 30"/>
            <p:cNvSpPr>
              <a:spLocks noChangeArrowheads="1"/>
            </p:cNvSpPr>
            <p:nvPr/>
          </p:nvSpPr>
          <p:spPr bwMode="auto">
            <a:xfrm>
              <a:off x="6367989" y="4891087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4</a:t>
              </a:r>
            </a:p>
          </p:txBody>
        </p:sp>
        <p:sp>
          <p:nvSpPr>
            <p:cNvPr id="6175" name="Rectangle 31"/>
            <p:cNvSpPr>
              <a:spLocks noChangeArrowheads="1"/>
            </p:cNvSpPr>
            <p:nvPr/>
          </p:nvSpPr>
          <p:spPr bwMode="auto">
            <a:xfrm>
              <a:off x="69775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6" name="Rectangle 32"/>
            <p:cNvSpPr>
              <a:spLocks noChangeArrowheads="1"/>
            </p:cNvSpPr>
            <p:nvPr/>
          </p:nvSpPr>
          <p:spPr bwMode="auto">
            <a:xfrm>
              <a:off x="72823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7" name="Rectangle 33"/>
            <p:cNvSpPr>
              <a:spLocks noChangeArrowheads="1"/>
            </p:cNvSpPr>
            <p:nvPr/>
          </p:nvSpPr>
          <p:spPr bwMode="auto">
            <a:xfrm>
              <a:off x="7587189" y="4891087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4</a:t>
              </a:r>
            </a:p>
          </p:txBody>
        </p:sp>
        <p:sp>
          <p:nvSpPr>
            <p:cNvPr id="6178" name="Freeform 34"/>
            <p:cNvSpPr>
              <a:spLocks/>
            </p:cNvSpPr>
            <p:nvPr/>
          </p:nvSpPr>
          <p:spPr bwMode="auto">
            <a:xfrm>
              <a:off x="1643589" y="4484687"/>
              <a:ext cx="5181600" cy="558800"/>
            </a:xfrm>
            <a:custGeom>
              <a:avLst/>
              <a:gdLst/>
              <a:ahLst/>
              <a:cxnLst>
                <a:cxn ang="0">
                  <a:pos x="0" y="352"/>
                </a:cxn>
                <a:cxn ang="0">
                  <a:pos x="1968" y="16"/>
                </a:cxn>
                <a:cxn ang="0">
                  <a:pos x="3264" y="256"/>
                </a:cxn>
              </a:cxnLst>
              <a:rect l="0" t="0" r="r" b="b"/>
              <a:pathLst>
                <a:path w="3264" h="352">
                  <a:moveTo>
                    <a:pt x="0" y="352"/>
                  </a:moveTo>
                  <a:cubicBezTo>
                    <a:pt x="712" y="191"/>
                    <a:pt x="1424" y="31"/>
                    <a:pt x="1968" y="16"/>
                  </a:cubicBezTo>
                  <a:cubicBezTo>
                    <a:pt x="2511" y="0"/>
                    <a:pt x="2887" y="128"/>
                    <a:pt x="3264" y="256"/>
                  </a:cubicBezTo>
                </a:path>
              </a:pathLst>
            </a:custGeom>
            <a:noFill/>
            <a:ln w="25560">
              <a:solidFill>
                <a:srgbClr val="00B05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9" name="Freeform 35"/>
            <p:cNvSpPr>
              <a:spLocks/>
            </p:cNvSpPr>
            <p:nvPr/>
          </p:nvSpPr>
          <p:spPr bwMode="auto">
            <a:xfrm>
              <a:off x="3777189" y="4408487"/>
              <a:ext cx="3352800" cy="635000"/>
            </a:xfrm>
            <a:custGeom>
              <a:avLst/>
              <a:gdLst/>
              <a:ahLst/>
              <a:cxnLst>
                <a:cxn ang="0">
                  <a:pos x="2112" y="400"/>
                </a:cxn>
                <a:cxn ang="0">
                  <a:pos x="1680" y="16"/>
                </a:cxn>
                <a:cxn ang="0">
                  <a:pos x="0" y="304"/>
                </a:cxn>
              </a:cxnLst>
              <a:rect l="0" t="0" r="r" b="b"/>
              <a:pathLst>
                <a:path w="2112" h="400">
                  <a:moveTo>
                    <a:pt x="2112" y="400"/>
                  </a:moveTo>
                  <a:cubicBezTo>
                    <a:pt x="2072" y="216"/>
                    <a:pt x="2032" y="32"/>
                    <a:pt x="1680" y="16"/>
                  </a:cubicBezTo>
                  <a:cubicBezTo>
                    <a:pt x="1328" y="0"/>
                    <a:pt x="280" y="256"/>
                    <a:pt x="0" y="304"/>
                  </a:cubicBezTo>
                </a:path>
              </a:pathLst>
            </a:custGeom>
            <a:noFill/>
            <a:ln w="25560">
              <a:solidFill>
                <a:srgbClr val="00B050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0" name="Freeform 36"/>
            <p:cNvSpPr>
              <a:spLocks/>
            </p:cNvSpPr>
            <p:nvPr/>
          </p:nvSpPr>
          <p:spPr bwMode="auto">
            <a:xfrm>
              <a:off x="1338789" y="5043487"/>
              <a:ext cx="6096000" cy="671513"/>
            </a:xfrm>
            <a:custGeom>
              <a:avLst/>
              <a:gdLst/>
              <a:ahLst/>
              <a:cxnLst>
                <a:cxn ang="0">
                  <a:pos x="3840" y="0"/>
                </a:cxn>
                <a:cxn ang="0">
                  <a:pos x="3072" y="336"/>
                </a:cxn>
                <a:cxn ang="0">
                  <a:pos x="672" y="384"/>
                </a:cxn>
                <a:cxn ang="0">
                  <a:pos x="0" y="96"/>
                </a:cxn>
              </a:cxnLst>
              <a:rect l="0" t="0" r="r" b="b"/>
              <a:pathLst>
                <a:path w="3840" h="423">
                  <a:moveTo>
                    <a:pt x="3840" y="0"/>
                  </a:moveTo>
                  <a:cubicBezTo>
                    <a:pt x="3719" y="136"/>
                    <a:pt x="3599" y="272"/>
                    <a:pt x="3072" y="336"/>
                  </a:cubicBezTo>
                  <a:cubicBezTo>
                    <a:pt x="2544" y="399"/>
                    <a:pt x="1183" y="423"/>
                    <a:pt x="672" y="384"/>
                  </a:cubicBezTo>
                  <a:cubicBezTo>
                    <a:pt x="160" y="344"/>
                    <a:pt x="80" y="220"/>
                    <a:pt x="0" y="96"/>
                  </a:cubicBezTo>
                </a:path>
              </a:pathLst>
            </a:custGeom>
            <a:noFill/>
            <a:ln w="25560">
              <a:solidFill>
                <a:srgbClr val="C00000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1" name="Freeform 37"/>
            <p:cNvSpPr>
              <a:spLocks/>
            </p:cNvSpPr>
            <p:nvPr/>
          </p:nvSpPr>
          <p:spPr bwMode="auto">
            <a:xfrm>
              <a:off x="4386789" y="5043487"/>
              <a:ext cx="2438400" cy="4810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16" y="288"/>
                </a:cxn>
                <a:cxn ang="0">
                  <a:pos x="1536" y="96"/>
                </a:cxn>
              </a:cxnLst>
              <a:rect l="0" t="0" r="r" b="b"/>
              <a:pathLst>
                <a:path w="1536" h="303">
                  <a:moveTo>
                    <a:pt x="0" y="0"/>
                  </a:moveTo>
                  <a:cubicBezTo>
                    <a:pt x="280" y="136"/>
                    <a:pt x="560" y="272"/>
                    <a:pt x="816" y="288"/>
                  </a:cubicBezTo>
                  <a:cubicBezTo>
                    <a:pt x="1071" y="303"/>
                    <a:pt x="1303" y="199"/>
                    <a:pt x="1536" y="96"/>
                  </a:cubicBezTo>
                </a:path>
              </a:pathLst>
            </a:custGeom>
            <a:noFill/>
            <a:ln w="25560">
              <a:solidFill>
                <a:srgbClr val="C00000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2" name="Text Box 38"/>
            <p:cNvSpPr txBox="1">
              <a:spLocks noChangeArrowheads="1"/>
            </p:cNvSpPr>
            <p:nvPr/>
          </p:nvSpPr>
          <p:spPr bwMode="auto">
            <a:xfrm>
              <a:off x="6826777" y="4205287"/>
              <a:ext cx="1876453" cy="34073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FF66"/>
                </a:buClr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solidFill>
                    <a:srgbClr val="00B050"/>
                  </a:solidFill>
                  <a:latin typeface="Calibri" pitchFamily="34" charset="0"/>
                  <a:ea typeface="msgothic" charset="0"/>
                  <a:cs typeface="msgothic" charset="0"/>
                </a:rPr>
                <a:t>Forward (next) links</a:t>
              </a:r>
            </a:p>
          </p:txBody>
        </p:sp>
        <p:sp>
          <p:nvSpPr>
            <p:cNvPr id="6183" name="Text Box 39"/>
            <p:cNvSpPr txBox="1">
              <a:spLocks noChangeArrowheads="1"/>
            </p:cNvSpPr>
            <p:nvPr/>
          </p:nvSpPr>
          <p:spPr bwMode="auto">
            <a:xfrm>
              <a:off x="7112527" y="5341937"/>
              <a:ext cx="1572908" cy="34073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Clr>
                  <a:srgbClr val="FF0066"/>
                </a:buClr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solidFill>
                    <a:srgbClr val="C00000"/>
                  </a:solidFill>
                  <a:latin typeface="Calibri" pitchFamily="34" charset="0"/>
                  <a:ea typeface="msgothic" charset="0"/>
                  <a:cs typeface="msgothic" charset="0"/>
                </a:rPr>
                <a:t>Back (</a:t>
              </a:r>
              <a:r>
                <a:rPr lang="en-GB" sz="1600" b="1" dirty="0" err="1">
                  <a:solidFill>
                    <a:srgbClr val="C00000"/>
                  </a:solidFill>
                  <a:latin typeface="Calibri" pitchFamily="34" charset="0"/>
                  <a:ea typeface="msgothic" charset="0"/>
                  <a:cs typeface="msgothic" charset="0"/>
                </a:rPr>
                <a:t>prev</a:t>
              </a:r>
              <a:r>
                <a:rPr lang="en-GB" sz="1600" b="1" dirty="0">
                  <a:solidFill>
                    <a:srgbClr val="C00000"/>
                  </a:solidFill>
                  <a:latin typeface="Calibri" pitchFamily="34" charset="0"/>
                  <a:ea typeface="msgothic" charset="0"/>
                  <a:cs typeface="msgothic" charset="0"/>
                </a:rPr>
                <a:t>) links</a:t>
              </a:r>
            </a:p>
          </p:txBody>
        </p:sp>
        <p:sp>
          <p:nvSpPr>
            <p:cNvPr id="6184" name="Text Box 40"/>
            <p:cNvSpPr txBox="1">
              <a:spLocks noChangeArrowheads="1"/>
            </p:cNvSpPr>
            <p:nvPr/>
          </p:nvSpPr>
          <p:spPr bwMode="auto">
            <a:xfrm>
              <a:off x="7647514" y="4960937"/>
              <a:ext cx="184150" cy="33655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5" name="Freeform 41"/>
            <p:cNvSpPr>
              <a:spLocks/>
            </p:cNvSpPr>
            <p:nvPr/>
          </p:nvSpPr>
          <p:spPr bwMode="auto">
            <a:xfrm>
              <a:off x="4081989" y="3986212"/>
              <a:ext cx="3495675" cy="1057275"/>
            </a:xfrm>
            <a:custGeom>
              <a:avLst/>
              <a:gdLst/>
              <a:ahLst/>
              <a:cxnLst>
                <a:cxn ang="0">
                  <a:pos x="0" y="666"/>
                </a:cxn>
                <a:cxn ang="0">
                  <a:pos x="422" y="178"/>
                </a:cxn>
                <a:cxn ang="0">
                  <a:pos x="2202" y="0"/>
                </a:cxn>
              </a:cxnLst>
              <a:rect l="0" t="0" r="r" b="b"/>
              <a:pathLst>
                <a:path w="2202" h="666">
                  <a:moveTo>
                    <a:pt x="0" y="666"/>
                  </a:moveTo>
                  <a:cubicBezTo>
                    <a:pt x="70" y="585"/>
                    <a:pt x="55" y="289"/>
                    <a:pt x="422" y="178"/>
                  </a:cubicBezTo>
                  <a:cubicBezTo>
                    <a:pt x="789" y="67"/>
                    <a:pt x="1831" y="37"/>
                    <a:pt x="2202" y="0"/>
                  </a:cubicBezTo>
                </a:path>
              </a:pathLst>
            </a:custGeom>
            <a:noFill/>
            <a:ln w="25560">
              <a:solidFill>
                <a:srgbClr val="00B050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6" name="Freeform 42"/>
            <p:cNvSpPr>
              <a:spLocks/>
            </p:cNvSpPr>
            <p:nvPr/>
          </p:nvSpPr>
          <p:spPr bwMode="auto">
            <a:xfrm>
              <a:off x="1186389" y="5043487"/>
              <a:ext cx="762000" cy="457200"/>
            </a:xfrm>
            <a:custGeom>
              <a:avLst/>
              <a:gdLst/>
              <a:ahLst/>
              <a:cxnLst>
                <a:cxn ang="0">
                  <a:pos x="480" y="0"/>
                </a:cxn>
                <a:cxn ang="0">
                  <a:pos x="336" y="240"/>
                </a:cxn>
                <a:cxn ang="0">
                  <a:pos x="0" y="288"/>
                </a:cxn>
              </a:cxnLst>
              <a:rect l="0" t="0" r="r" b="b"/>
              <a:pathLst>
                <a:path w="480" h="288">
                  <a:moveTo>
                    <a:pt x="480" y="0"/>
                  </a:moveTo>
                  <a:cubicBezTo>
                    <a:pt x="448" y="96"/>
                    <a:pt x="416" y="192"/>
                    <a:pt x="336" y="240"/>
                  </a:cubicBezTo>
                  <a:cubicBezTo>
                    <a:pt x="256" y="288"/>
                    <a:pt x="128" y="288"/>
                    <a:pt x="0" y="288"/>
                  </a:cubicBezTo>
                </a:path>
              </a:pathLst>
            </a:custGeom>
            <a:noFill/>
            <a:ln w="25560">
              <a:solidFill>
                <a:srgbClr val="C00000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87" name="Text Box 43"/>
            <p:cNvSpPr txBox="1">
              <a:spLocks noChangeArrowheads="1"/>
            </p:cNvSpPr>
            <p:nvPr/>
          </p:nvSpPr>
          <p:spPr bwMode="auto">
            <a:xfrm>
              <a:off x="1624539" y="4581525"/>
              <a:ext cx="306792" cy="34073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A</a:t>
              </a:r>
            </a:p>
          </p:txBody>
        </p:sp>
        <p:sp>
          <p:nvSpPr>
            <p:cNvPr id="6188" name="Text Box 44"/>
            <p:cNvSpPr txBox="1">
              <a:spLocks noChangeArrowheads="1"/>
            </p:cNvSpPr>
            <p:nvPr/>
          </p:nvSpPr>
          <p:spPr bwMode="auto">
            <a:xfrm>
              <a:off x="7207777" y="4586287"/>
              <a:ext cx="297174" cy="34073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B</a:t>
              </a:r>
            </a:p>
          </p:txBody>
        </p:sp>
        <p:sp>
          <p:nvSpPr>
            <p:cNvPr id="6189" name="Text Box 45"/>
            <p:cNvSpPr txBox="1">
              <a:spLocks noChangeArrowheads="1"/>
            </p:cNvSpPr>
            <p:nvPr/>
          </p:nvSpPr>
          <p:spPr bwMode="auto">
            <a:xfrm>
              <a:off x="4386789" y="5197475"/>
              <a:ext cx="290762" cy="34073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88074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0" name="Rectangle 72"/>
          <p:cNvSpPr>
            <a:spLocks noChangeArrowheads="1"/>
          </p:cNvSpPr>
          <p:nvPr/>
        </p:nvSpPr>
        <p:spPr bwMode="auto">
          <a:xfrm>
            <a:off x="487480" y="1377950"/>
            <a:ext cx="7607300" cy="20034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469312"/>
            <a:ext cx="80010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Allocating From Explicit Free Lists</a:t>
            </a:r>
          </a:p>
        </p:txBody>
      </p:sp>
      <p:sp>
        <p:nvSpPr>
          <p:cNvPr id="7186" name="Rectangle 18"/>
          <p:cNvSpPr>
            <a:spLocks noChangeArrowheads="1"/>
          </p:cNvSpPr>
          <p:nvPr/>
        </p:nvSpPr>
        <p:spPr bwMode="auto">
          <a:xfrm>
            <a:off x="2567105" y="2227263"/>
            <a:ext cx="36576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91" name="Rectangle 23"/>
          <p:cNvSpPr>
            <a:spLocks noChangeArrowheads="1"/>
          </p:cNvSpPr>
          <p:nvPr/>
        </p:nvSpPr>
        <p:spPr bwMode="auto">
          <a:xfrm>
            <a:off x="2567103" y="1541465"/>
            <a:ext cx="762001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96" name="Rectangle 28"/>
          <p:cNvSpPr>
            <a:spLocks noChangeArrowheads="1"/>
          </p:cNvSpPr>
          <p:nvPr/>
        </p:nvSpPr>
        <p:spPr bwMode="auto">
          <a:xfrm>
            <a:off x="2567105" y="2913063"/>
            <a:ext cx="7620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0" name="Oval 32"/>
          <p:cNvSpPr>
            <a:spLocks noChangeArrowheads="1"/>
          </p:cNvSpPr>
          <p:nvPr/>
        </p:nvSpPr>
        <p:spPr bwMode="auto">
          <a:xfrm>
            <a:off x="2643305" y="2303463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1" name="Line 33"/>
          <p:cNvSpPr>
            <a:spLocks noChangeShapeType="1"/>
          </p:cNvSpPr>
          <p:nvPr/>
        </p:nvSpPr>
        <p:spPr bwMode="auto">
          <a:xfrm>
            <a:off x="2719505" y="2379663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2" name="Oval 34"/>
          <p:cNvSpPr>
            <a:spLocks noChangeArrowheads="1"/>
          </p:cNvSpPr>
          <p:nvPr/>
        </p:nvSpPr>
        <p:spPr bwMode="auto">
          <a:xfrm>
            <a:off x="2643305" y="1617663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3" name="Line 35"/>
          <p:cNvSpPr>
            <a:spLocks noChangeShapeType="1"/>
          </p:cNvSpPr>
          <p:nvPr/>
        </p:nvSpPr>
        <p:spPr bwMode="auto">
          <a:xfrm>
            <a:off x="2719505" y="1693863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04" name="Oval 36"/>
          <p:cNvSpPr>
            <a:spLocks noChangeArrowheads="1"/>
          </p:cNvSpPr>
          <p:nvPr/>
        </p:nvSpPr>
        <p:spPr bwMode="auto">
          <a:xfrm flipV="1">
            <a:off x="2948105" y="2987675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5" name="Line 37"/>
          <p:cNvSpPr>
            <a:spLocks noChangeShapeType="1"/>
          </p:cNvSpPr>
          <p:nvPr/>
        </p:nvSpPr>
        <p:spPr bwMode="auto">
          <a:xfrm flipV="1">
            <a:off x="3024305" y="2528888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7206" name="Oval 38"/>
          <p:cNvSpPr>
            <a:spLocks noChangeArrowheads="1"/>
          </p:cNvSpPr>
          <p:nvPr/>
        </p:nvSpPr>
        <p:spPr bwMode="auto">
          <a:xfrm flipV="1">
            <a:off x="2948105" y="2301875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07" name="Line 39"/>
          <p:cNvSpPr>
            <a:spLocks noChangeShapeType="1"/>
          </p:cNvSpPr>
          <p:nvPr/>
        </p:nvSpPr>
        <p:spPr bwMode="auto">
          <a:xfrm flipV="1">
            <a:off x="3024305" y="1843088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7227" name="Oval 59"/>
          <p:cNvSpPr>
            <a:spLocks noChangeArrowheads="1"/>
          </p:cNvSpPr>
          <p:nvPr/>
        </p:nvSpPr>
        <p:spPr bwMode="auto">
          <a:xfrm>
            <a:off x="2643305" y="2989263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30" name="Oval 62"/>
          <p:cNvSpPr>
            <a:spLocks noChangeArrowheads="1"/>
          </p:cNvSpPr>
          <p:nvPr/>
        </p:nvSpPr>
        <p:spPr bwMode="auto">
          <a:xfrm flipV="1">
            <a:off x="2948105" y="1616075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231" name="Text Box 63"/>
          <p:cNvSpPr txBox="1">
            <a:spLocks noChangeArrowheads="1"/>
          </p:cNvSpPr>
          <p:nvPr/>
        </p:nvSpPr>
        <p:spPr bwMode="auto">
          <a:xfrm>
            <a:off x="552097" y="1371600"/>
            <a:ext cx="932498" cy="426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Before</a:t>
            </a:r>
          </a:p>
        </p:txBody>
      </p:sp>
      <p:sp>
        <p:nvSpPr>
          <p:cNvPr id="7194" name="Rectangle 26"/>
          <p:cNvSpPr>
            <a:spLocks noChangeArrowheads="1"/>
          </p:cNvSpPr>
          <p:nvPr/>
        </p:nvSpPr>
        <p:spPr bwMode="auto">
          <a:xfrm>
            <a:off x="3329104" y="1465265"/>
            <a:ext cx="304800" cy="4572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199" name="Rectangle 31"/>
          <p:cNvSpPr>
            <a:spLocks noChangeArrowheads="1"/>
          </p:cNvSpPr>
          <p:nvPr/>
        </p:nvSpPr>
        <p:spPr bwMode="auto">
          <a:xfrm>
            <a:off x="3329105" y="2836863"/>
            <a:ext cx="304800" cy="4571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487480" y="3649663"/>
            <a:ext cx="7607300" cy="2828925"/>
            <a:chOff x="487480" y="3649663"/>
            <a:chExt cx="7607300" cy="2828925"/>
          </a:xfrm>
        </p:grpSpPr>
        <p:sp>
          <p:nvSpPr>
            <p:cNvPr id="7241" name="Rectangle 73"/>
            <p:cNvSpPr>
              <a:spLocks noChangeArrowheads="1"/>
            </p:cNvSpPr>
            <p:nvPr/>
          </p:nvSpPr>
          <p:spPr bwMode="auto">
            <a:xfrm>
              <a:off x="487480" y="3649663"/>
              <a:ext cx="7607300" cy="282892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1" name="Rectangle 3"/>
            <p:cNvSpPr>
              <a:spLocks noChangeArrowheads="1"/>
            </p:cNvSpPr>
            <p:nvPr/>
          </p:nvSpPr>
          <p:spPr bwMode="auto">
            <a:xfrm>
              <a:off x="2567105" y="5181600"/>
              <a:ext cx="7620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76" name="Rectangle 8"/>
            <p:cNvSpPr>
              <a:spLocks noChangeArrowheads="1"/>
            </p:cNvSpPr>
            <p:nvPr/>
          </p:nvSpPr>
          <p:spPr bwMode="auto">
            <a:xfrm>
              <a:off x="2567104" y="3810000"/>
              <a:ext cx="761999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0" name="Oval 42"/>
            <p:cNvSpPr>
              <a:spLocks noChangeArrowheads="1"/>
            </p:cNvSpPr>
            <p:nvPr/>
          </p:nvSpPr>
          <p:spPr bwMode="auto">
            <a:xfrm>
              <a:off x="1576505" y="6096000"/>
              <a:ext cx="152400" cy="152400"/>
            </a:xfrm>
            <a:prstGeom prst="ellipse">
              <a:avLst/>
            </a:prstGeom>
            <a:solidFill>
              <a:schemeClr val="tx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1" name="Line 43"/>
            <p:cNvSpPr>
              <a:spLocks noChangeShapeType="1"/>
            </p:cNvSpPr>
            <p:nvPr/>
          </p:nvSpPr>
          <p:spPr bwMode="auto">
            <a:xfrm flipV="1">
              <a:off x="1652705" y="4799013"/>
              <a:ext cx="914400" cy="1374775"/>
            </a:xfrm>
            <a:prstGeom prst="line">
              <a:avLst/>
            </a:prstGeom>
            <a:noFill/>
            <a:ln w="5724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214" name="Rectangle 46"/>
            <p:cNvSpPr>
              <a:spLocks noChangeArrowheads="1"/>
            </p:cNvSpPr>
            <p:nvPr/>
          </p:nvSpPr>
          <p:spPr bwMode="auto">
            <a:xfrm>
              <a:off x="4395905" y="4495800"/>
              <a:ext cx="1828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8" name="Rectangle 50"/>
            <p:cNvSpPr>
              <a:spLocks noChangeArrowheads="1"/>
            </p:cNvSpPr>
            <p:nvPr/>
          </p:nvSpPr>
          <p:spPr bwMode="auto">
            <a:xfrm>
              <a:off x="2567105" y="4495800"/>
              <a:ext cx="1828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2" name="Oval 54"/>
            <p:cNvSpPr>
              <a:spLocks noChangeArrowheads="1"/>
            </p:cNvSpPr>
            <p:nvPr/>
          </p:nvSpPr>
          <p:spPr bwMode="auto">
            <a:xfrm>
              <a:off x="4472105" y="4572000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3" name="Oval 55"/>
            <p:cNvSpPr>
              <a:spLocks noChangeArrowheads="1"/>
            </p:cNvSpPr>
            <p:nvPr/>
          </p:nvSpPr>
          <p:spPr bwMode="auto">
            <a:xfrm>
              <a:off x="2643305" y="3886200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4" name="Oval 56"/>
            <p:cNvSpPr>
              <a:spLocks noChangeArrowheads="1"/>
            </p:cNvSpPr>
            <p:nvPr/>
          </p:nvSpPr>
          <p:spPr bwMode="auto">
            <a:xfrm flipV="1">
              <a:off x="2948105" y="5257800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8" name="Oval 60"/>
            <p:cNvSpPr>
              <a:spLocks noChangeArrowheads="1"/>
            </p:cNvSpPr>
            <p:nvPr/>
          </p:nvSpPr>
          <p:spPr bwMode="auto">
            <a:xfrm>
              <a:off x="2643305" y="5257800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9" name="Oval 61"/>
            <p:cNvSpPr>
              <a:spLocks noChangeArrowheads="1"/>
            </p:cNvSpPr>
            <p:nvPr/>
          </p:nvSpPr>
          <p:spPr bwMode="auto">
            <a:xfrm flipV="1">
              <a:off x="2948105" y="3886200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2" name="Text Box 64"/>
            <p:cNvSpPr txBox="1">
              <a:spLocks noChangeArrowheads="1"/>
            </p:cNvSpPr>
            <p:nvPr/>
          </p:nvSpPr>
          <p:spPr bwMode="auto">
            <a:xfrm>
              <a:off x="552097" y="3657600"/>
              <a:ext cx="740459" cy="4269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9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b="1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msgothic" charset="0"/>
                  <a:cs typeface="msgothic" charset="0"/>
                </a:rPr>
                <a:t>After</a:t>
              </a:r>
            </a:p>
          </p:txBody>
        </p:sp>
        <p:sp>
          <p:nvSpPr>
            <p:cNvPr id="7233" name="Oval 65"/>
            <p:cNvSpPr>
              <a:spLocks noChangeArrowheads="1"/>
            </p:cNvSpPr>
            <p:nvPr/>
          </p:nvSpPr>
          <p:spPr bwMode="auto">
            <a:xfrm flipV="1">
              <a:off x="4776905" y="4572000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4" name="Freeform 66"/>
            <p:cNvSpPr>
              <a:spLocks/>
            </p:cNvSpPr>
            <p:nvPr/>
          </p:nvSpPr>
          <p:spPr bwMode="auto">
            <a:xfrm>
              <a:off x="2719505" y="3962400"/>
              <a:ext cx="1828800" cy="5334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3" y="197"/>
                </a:cxn>
                <a:cxn ang="0">
                  <a:pos x="965" y="207"/>
                </a:cxn>
                <a:cxn ang="0">
                  <a:pos x="1152" y="336"/>
                </a:cxn>
              </a:cxnLst>
              <a:rect l="0" t="0" r="r" b="b"/>
              <a:pathLst>
                <a:path w="1152" h="336">
                  <a:moveTo>
                    <a:pt x="0" y="0"/>
                  </a:moveTo>
                  <a:cubicBezTo>
                    <a:pt x="50" y="33"/>
                    <a:pt x="142" y="163"/>
                    <a:pt x="303" y="197"/>
                  </a:cubicBezTo>
                  <a:cubicBezTo>
                    <a:pt x="464" y="231"/>
                    <a:pt x="824" y="184"/>
                    <a:pt x="965" y="207"/>
                  </a:cubicBezTo>
                  <a:cubicBezTo>
                    <a:pt x="1106" y="230"/>
                    <a:pt x="1113" y="309"/>
                    <a:pt x="1152" y="336"/>
                  </a:cubicBezTo>
                </a:path>
              </a:pathLst>
            </a:custGeom>
            <a:noFill/>
            <a:ln w="57240">
              <a:solidFill>
                <a:srgbClr val="00B05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5" name="Freeform 67"/>
            <p:cNvSpPr>
              <a:spLocks/>
            </p:cNvSpPr>
            <p:nvPr/>
          </p:nvSpPr>
          <p:spPr bwMode="auto">
            <a:xfrm flipH="1">
              <a:off x="2719505" y="4648200"/>
              <a:ext cx="1828800" cy="5334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3" y="197"/>
                </a:cxn>
                <a:cxn ang="0">
                  <a:pos x="965" y="207"/>
                </a:cxn>
                <a:cxn ang="0">
                  <a:pos x="1152" y="336"/>
                </a:cxn>
              </a:cxnLst>
              <a:rect l="0" t="0" r="r" b="b"/>
              <a:pathLst>
                <a:path w="1152" h="336">
                  <a:moveTo>
                    <a:pt x="0" y="0"/>
                  </a:moveTo>
                  <a:cubicBezTo>
                    <a:pt x="50" y="33"/>
                    <a:pt x="142" y="163"/>
                    <a:pt x="303" y="197"/>
                  </a:cubicBezTo>
                  <a:cubicBezTo>
                    <a:pt x="464" y="231"/>
                    <a:pt x="824" y="184"/>
                    <a:pt x="965" y="207"/>
                  </a:cubicBezTo>
                  <a:cubicBezTo>
                    <a:pt x="1106" y="230"/>
                    <a:pt x="1113" y="309"/>
                    <a:pt x="1152" y="336"/>
                  </a:cubicBezTo>
                </a:path>
              </a:pathLst>
            </a:custGeom>
            <a:noFill/>
            <a:ln w="57240">
              <a:solidFill>
                <a:srgbClr val="00B05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8" name="Text Box 70"/>
            <p:cNvSpPr txBox="1">
              <a:spLocks noChangeArrowheads="1"/>
            </p:cNvSpPr>
            <p:nvPr/>
          </p:nvSpPr>
          <p:spPr bwMode="auto">
            <a:xfrm>
              <a:off x="1762243" y="5972175"/>
              <a:ext cx="2120132" cy="4269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90000"/>
                </a:lnSpc>
                <a:buFont typeface="Courier New" pitchFamily="49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b="1">
                  <a:latin typeface="Courier New" pitchFamily="49" charset="0"/>
                  <a:ea typeface="msgothic" charset="0"/>
                  <a:cs typeface="msgothic" charset="0"/>
                </a:rPr>
                <a:t>= malloc(…)</a:t>
              </a:r>
            </a:p>
          </p:txBody>
        </p:sp>
        <p:sp>
          <p:nvSpPr>
            <p:cNvPr id="7239" name="Text Box 71"/>
            <p:cNvSpPr txBox="1">
              <a:spLocks noChangeArrowheads="1"/>
            </p:cNvSpPr>
            <p:nvPr/>
          </p:nvSpPr>
          <p:spPr bwMode="auto">
            <a:xfrm>
              <a:off x="6086043" y="3657600"/>
              <a:ext cx="1967462" cy="4269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9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b="1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msgothic" charset="0"/>
                  <a:cs typeface="msgothic" charset="0"/>
                </a:rPr>
                <a:t>(with splitting)</a:t>
              </a:r>
            </a:p>
          </p:txBody>
        </p:sp>
        <p:sp>
          <p:nvSpPr>
            <p:cNvPr id="7179" name="Rectangle 11"/>
            <p:cNvSpPr>
              <a:spLocks noChangeArrowheads="1"/>
            </p:cNvSpPr>
            <p:nvPr/>
          </p:nvSpPr>
          <p:spPr bwMode="auto">
            <a:xfrm>
              <a:off x="3329105" y="3733800"/>
              <a:ext cx="304800" cy="45720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7" name="Freeform 69"/>
            <p:cNvSpPr>
              <a:spLocks/>
            </p:cNvSpPr>
            <p:nvPr/>
          </p:nvSpPr>
          <p:spPr bwMode="auto">
            <a:xfrm>
              <a:off x="3176704" y="4038600"/>
              <a:ext cx="1684339" cy="596900"/>
            </a:xfrm>
            <a:custGeom>
              <a:avLst/>
              <a:gdLst/>
              <a:ahLst/>
              <a:cxnLst>
                <a:cxn ang="0">
                  <a:pos x="965" y="424"/>
                </a:cxn>
                <a:cxn ang="0">
                  <a:pos x="758" y="126"/>
                </a:cxn>
                <a:cxn ang="0">
                  <a:pos x="263" y="76"/>
                </a:cxn>
                <a:cxn ang="0">
                  <a:pos x="0" y="0"/>
                </a:cxn>
              </a:cxnLst>
              <a:rect l="0" t="0" r="r" b="b"/>
              <a:pathLst>
                <a:path w="965" h="424">
                  <a:moveTo>
                    <a:pt x="965" y="424"/>
                  </a:moveTo>
                  <a:cubicBezTo>
                    <a:pt x="930" y="374"/>
                    <a:pt x="875" y="184"/>
                    <a:pt x="758" y="126"/>
                  </a:cubicBezTo>
                  <a:cubicBezTo>
                    <a:pt x="641" y="68"/>
                    <a:pt x="389" y="97"/>
                    <a:pt x="263" y="76"/>
                  </a:cubicBezTo>
                  <a:cubicBezTo>
                    <a:pt x="137" y="55"/>
                    <a:pt x="55" y="16"/>
                    <a:pt x="0" y="0"/>
                  </a:cubicBezTo>
                </a:path>
              </a:pathLst>
            </a:custGeom>
            <a:noFill/>
            <a:ln w="57240">
              <a:solidFill>
                <a:srgbClr val="C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7174" name="Rectangle 6"/>
            <p:cNvSpPr>
              <a:spLocks noChangeArrowheads="1"/>
            </p:cNvSpPr>
            <p:nvPr/>
          </p:nvSpPr>
          <p:spPr bwMode="auto">
            <a:xfrm>
              <a:off x="3329105" y="5105400"/>
              <a:ext cx="304800" cy="45720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6" name="Freeform 68"/>
            <p:cNvSpPr>
              <a:spLocks/>
            </p:cNvSpPr>
            <p:nvPr/>
          </p:nvSpPr>
          <p:spPr bwMode="auto">
            <a:xfrm>
              <a:off x="3024305" y="4800600"/>
              <a:ext cx="1828800" cy="533400"/>
            </a:xfrm>
            <a:custGeom>
              <a:avLst/>
              <a:gdLst/>
              <a:ahLst/>
              <a:cxnLst>
                <a:cxn ang="0">
                  <a:pos x="0" y="336"/>
                </a:cxn>
                <a:cxn ang="0">
                  <a:pos x="318" y="184"/>
                </a:cxn>
                <a:cxn ang="0">
                  <a:pos x="955" y="154"/>
                </a:cxn>
                <a:cxn ang="0">
                  <a:pos x="1152" y="0"/>
                </a:cxn>
              </a:cxnLst>
              <a:rect l="0" t="0" r="r" b="b"/>
              <a:pathLst>
                <a:path w="1152" h="336">
                  <a:moveTo>
                    <a:pt x="0" y="336"/>
                  </a:moveTo>
                  <a:cubicBezTo>
                    <a:pt x="53" y="311"/>
                    <a:pt x="159" y="214"/>
                    <a:pt x="318" y="184"/>
                  </a:cubicBezTo>
                  <a:cubicBezTo>
                    <a:pt x="477" y="154"/>
                    <a:pt x="816" y="185"/>
                    <a:pt x="955" y="154"/>
                  </a:cubicBezTo>
                  <a:cubicBezTo>
                    <a:pt x="1094" y="123"/>
                    <a:pt x="1111" y="32"/>
                    <a:pt x="1152" y="0"/>
                  </a:cubicBezTo>
                </a:path>
              </a:pathLst>
            </a:custGeom>
            <a:noFill/>
            <a:ln w="57240">
              <a:solidFill>
                <a:srgbClr val="C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C00000"/>
                </a:solidFill>
              </a:endParaRP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6243864" y="1066800"/>
            <a:ext cx="1985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conceptual graphic</a:t>
            </a:r>
          </a:p>
        </p:txBody>
      </p:sp>
    </p:spTree>
    <p:extLst>
      <p:ext uri="{BB962C8B-B14F-4D97-AF65-F5344CB8AC3E}">
        <p14:creationId xmlns:p14="http://schemas.microsoft.com/office/powerpoint/2010/main" val="190035644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493713"/>
            <a:ext cx="74549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Freeing With Explicit Free Lists</a:t>
            </a: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29024" y="1220788"/>
            <a:ext cx="8307387" cy="5224462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>
                <a:solidFill>
                  <a:srgbClr val="C00000"/>
                </a:solidFill>
              </a:rPr>
              <a:t>Insertion policy</a:t>
            </a:r>
            <a:r>
              <a:rPr lang="en-GB" dirty="0">
                <a:solidFill>
                  <a:srgbClr val="C00000"/>
                </a:solidFill>
              </a:rPr>
              <a:t>: </a:t>
            </a:r>
            <a:r>
              <a:rPr lang="en-GB" dirty="0"/>
              <a:t>Where in the free list do you put a newly freed block?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dirty="0"/>
              <a:t>Unordered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LIFO (last-in-first-out) policy</a:t>
            </a:r>
          </a:p>
          <a:p>
            <a:pPr lvl="2">
              <a:lnSpc>
                <a:spcPct val="107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Insert freed block at the beginning of the free list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FIFO (first-in-first-out) policy</a:t>
            </a:r>
          </a:p>
          <a:p>
            <a:pPr lvl="2">
              <a:lnSpc>
                <a:spcPct val="107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Insert freed block at the end of the free list</a:t>
            </a:r>
          </a:p>
          <a:p>
            <a:pPr lvl="1">
              <a:lnSpc>
                <a:spcPct val="107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 dirty="0">
                <a:solidFill>
                  <a:srgbClr val="C00000"/>
                </a:solidFill>
              </a:rPr>
              <a:t>Pro:</a:t>
            </a:r>
            <a:r>
              <a:rPr lang="en-GB" dirty="0"/>
              <a:t> simple and constant time</a:t>
            </a:r>
          </a:p>
          <a:p>
            <a:pPr lvl="1">
              <a:lnSpc>
                <a:spcPct val="107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 dirty="0">
                <a:solidFill>
                  <a:srgbClr val="C00000"/>
                </a:solidFill>
              </a:rPr>
              <a:t>Con:</a:t>
            </a:r>
            <a:r>
              <a:rPr lang="en-GB" dirty="0"/>
              <a:t> studies suggest fragmentation is worse than address ordered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dirty="0"/>
              <a:t>Address-ordered policy</a:t>
            </a:r>
          </a:p>
          <a:p>
            <a:pPr lvl="1">
              <a:lnSpc>
                <a:spcPct val="107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Insert freed blocks so that free list blocks are always in address order: </a:t>
            </a:r>
            <a:br>
              <a:rPr lang="en-GB" dirty="0"/>
            </a:br>
            <a:r>
              <a:rPr lang="en-GB" dirty="0"/>
              <a:t>	         </a:t>
            </a:r>
            <a:r>
              <a:rPr lang="en-GB" i="1" dirty="0" err="1"/>
              <a:t>addr</a:t>
            </a:r>
            <a:r>
              <a:rPr lang="en-GB" i="1" dirty="0"/>
              <a:t>(</a:t>
            </a:r>
            <a:r>
              <a:rPr lang="en-GB" i="1" dirty="0" err="1"/>
              <a:t>prev</a:t>
            </a:r>
            <a:r>
              <a:rPr lang="en-GB" i="1" dirty="0"/>
              <a:t>) &lt; </a:t>
            </a:r>
            <a:r>
              <a:rPr lang="en-GB" i="1" dirty="0" err="1"/>
              <a:t>addr</a:t>
            </a:r>
            <a:r>
              <a:rPr lang="en-GB" i="1" dirty="0"/>
              <a:t>(</a:t>
            </a:r>
            <a:r>
              <a:rPr lang="en-GB" i="1" dirty="0" err="1"/>
              <a:t>curr</a:t>
            </a:r>
            <a:r>
              <a:rPr lang="en-GB" i="1" dirty="0"/>
              <a:t>) &lt; </a:t>
            </a:r>
            <a:r>
              <a:rPr lang="en-GB" i="1" dirty="0" err="1"/>
              <a:t>addr</a:t>
            </a:r>
            <a:r>
              <a:rPr lang="en-GB" i="1" dirty="0"/>
              <a:t>(next)</a:t>
            </a:r>
          </a:p>
          <a:p>
            <a:pPr lvl="1">
              <a:lnSpc>
                <a:spcPct val="107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 </a:t>
            </a:r>
            <a:r>
              <a:rPr lang="en-GB" b="1" i="1" dirty="0">
                <a:solidFill>
                  <a:srgbClr val="C00000"/>
                </a:solidFill>
              </a:rPr>
              <a:t>Con:</a:t>
            </a:r>
            <a:r>
              <a:rPr lang="en-GB" dirty="0"/>
              <a:t> requires search</a:t>
            </a:r>
          </a:p>
          <a:p>
            <a:pPr lvl="1">
              <a:lnSpc>
                <a:spcPct val="107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 </a:t>
            </a:r>
            <a:r>
              <a:rPr lang="en-GB" b="1" i="1" dirty="0">
                <a:solidFill>
                  <a:srgbClr val="C00000"/>
                </a:solidFill>
              </a:rPr>
              <a:t>Pro:</a:t>
            </a:r>
            <a:r>
              <a:rPr lang="en-GB" dirty="0"/>
              <a:t> studies suggest fragmentation is lower than LIFO/FIFO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5200" y="1744365"/>
            <a:ext cx="5562600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libri" pitchFamily="34" charset="0"/>
              </a:rPr>
              <a:t>Aside: Premature Optimization!</a:t>
            </a:r>
          </a:p>
        </p:txBody>
      </p:sp>
    </p:spTree>
    <p:extLst>
      <p:ext uri="{BB962C8B-B14F-4D97-AF65-F5344CB8AC3E}">
        <p14:creationId xmlns:p14="http://schemas.microsoft.com/office/powerpoint/2010/main" val="595636696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6" name="Rectangle 60"/>
          <p:cNvSpPr>
            <a:spLocks noChangeArrowheads="1"/>
          </p:cNvSpPr>
          <p:nvPr/>
        </p:nvSpPr>
        <p:spPr bwMode="auto">
          <a:xfrm>
            <a:off x="382588" y="4652963"/>
            <a:ext cx="8151812" cy="17478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75" name="Rectangle 59"/>
          <p:cNvSpPr>
            <a:spLocks noChangeArrowheads="1"/>
          </p:cNvSpPr>
          <p:nvPr/>
        </p:nvSpPr>
        <p:spPr bwMode="auto">
          <a:xfrm>
            <a:off x="382588" y="1681163"/>
            <a:ext cx="8151812" cy="20351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7" name="Rectangle 1"/>
          <p:cNvSpPr>
            <a:spLocks noChangeArrowheads="1"/>
          </p:cNvSpPr>
          <p:nvPr/>
        </p:nvSpPr>
        <p:spPr bwMode="auto">
          <a:xfrm>
            <a:off x="3997325" y="2844801"/>
            <a:ext cx="1219200" cy="457200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8" name="Freeform 2"/>
          <p:cNvSpPr>
            <a:spLocks/>
          </p:cNvSpPr>
          <p:nvPr/>
        </p:nvSpPr>
        <p:spPr bwMode="auto">
          <a:xfrm>
            <a:off x="1474788" y="2684463"/>
            <a:ext cx="5862637" cy="388938"/>
          </a:xfrm>
          <a:custGeom>
            <a:avLst/>
            <a:gdLst/>
            <a:ahLst/>
            <a:cxnLst>
              <a:cxn ang="0">
                <a:pos x="0" y="245"/>
              </a:cxn>
              <a:cxn ang="0">
                <a:pos x="677" y="33"/>
              </a:cxn>
              <a:cxn ang="0">
                <a:pos x="3057" y="48"/>
              </a:cxn>
              <a:cxn ang="0">
                <a:pos x="3693" y="245"/>
              </a:cxn>
            </a:cxnLst>
            <a:rect l="0" t="0" r="r" b="b"/>
            <a:pathLst>
              <a:path w="3693" h="245">
                <a:moveTo>
                  <a:pt x="0" y="245"/>
                </a:moveTo>
                <a:cubicBezTo>
                  <a:pt x="113" y="210"/>
                  <a:pt x="168" y="66"/>
                  <a:pt x="677" y="33"/>
                </a:cubicBezTo>
                <a:cubicBezTo>
                  <a:pt x="1186" y="0"/>
                  <a:pt x="2554" y="13"/>
                  <a:pt x="3057" y="48"/>
                </a:cubicBezTo>
                <a:cubicBezTo>
                  <a:pt x="3560" y="83"/>
                  <a:pt x="3560" y="204"/>
                  <a:pt x="3693" y="245"/>
                </a:cubicBezTo>
              </a:path>
            </a:pathLst>
          </a:custGeom>
          <a:noFill/>
          <a:ln w="57240">
            <a:solidFill>
              <a:srgbClr val="00B05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74638" y="457200"/>
            <a:ext cx="8716962" cy="782638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Freeing With a LIFO Policy (Case 1)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90513" y="4022725"/>
            <a:ext cx="8307387" cy="554038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Insert the freed block at the root of the list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39973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43021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46069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49117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5" name="Rectangle 9"/>
          <p:cNvSpPr>
            <a:spLocks noChangeArrowheads="1"/>
          </p:cNvSpPr>
          <p:nvPr/>
        </p:nvSpPr>
        <p:spPr bwMode="auto">
          <a:xfrm>
            <a:off x="58261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61309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7" name="Rectangle 11"/>
          <p:cNvSpPr>
            <a:spLocks noChangeArrowheads="1"/>
          </p:cNvSpPr>
          <p:nvPr/>
        </p:nvSpPr>
        <p:spPr bwMode="auto">
          <a:xfrm>
            <a:off x="27781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30829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29" name="Rectangle 13"/>
          <p:cNvSpPr>
            <a:spLocks noChangeArrowheads="1"/>
          </p:cNvSpPr>
          <p:nvPr/>
        </p:nvSpPr>
        <p:spPr bwMode="auto">
          <a:xfrm>
            <a:off x="33877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Rectangle 14"/>
          <p:cNvSpPr>
            <a:spLocks noChangeArrowheads="1"/>
          </p:cNvSpPr>
          <p:nvPr/>
        </p:nvSpPr>
        <p:spPr bwMode="auto">
          <a:xfrm>
            <a:off x="36925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52165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5521325" y="2921001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1177925" y="2921001"/>
            <a:ext cx="304800" cy="304800"/>
          </a:xfrm>
          <a:prstGeom prst="rect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7350125" y="2844801"/>
            <a:ext cx="1065213" cy="455612"/>
            <a:chOff x="4560" y="1399"/>
            <a:chExt cx="671" cy="287"/>
          </a:xfrm>
        </p:grpSpPr>
        <p:sp>
          <p:nvSpPr>
            <p:cNvPr id="9235" name="Rectangle 19"/>
            <p:cNvSpPr>
              <a:spLocks noChangeArrowheads="1"/>
            </p:cNvSpPr>
            <p:nvPr/>
          </p:nvSpPr>
          <p:spPr bwMode="auto">
            <a:xfrm>
              <a:off x="4560" y="1447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6" name="Rectangle 20"/>
            <p:cNvSpPr>
              <a:spLocks noChangeArrowheads="1"/>
            </p:cNvSpPr>
            <p:nvPr/>
          </p:nvSpPr>
          <p:spPr bwMode="auto">
            <a:xfrm>
              <a:off x="4752" y="1447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7" name="Rectangle 21"/>
            <p:cNvSpPr>
              <a:spLocks noChangeArrowheads="1"/>
            </p:cNvSpPr>
            <p:nvPr/>
          </p:nvSpPr>
          <p:spPr bwMode="auto">
            <a:xfrm>
              <a:off x="4944" y="1447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38" name="Rectangle 22"/>
            <p:cNvSpPr>
              <a:spLocks noChangeArrowheads="1"/>
            </p:cNvSpPr>
            <p:nvPr/>
          </p:nvSpPr>
          <p:spPr bwMode="auto">
            <a:xfrm>
              <a:off x="5040" y="1399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7426325" y="2997201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0" name="Line 24"/>
          <p:cNvSpPr>
            <a:spLocks noChangeShapeType="1"/>
          </p:cNvSpPr>
          <p:nvPr/>
        </p:nvSpPr>
        <p:spPr bwMode="auto">
          <a:xfrm>
            <a:off x="7502525" y="3073401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7731125" y="2997201"/>
            <a:ext cx="152400" cy="152400"/>
          </a:xfrm>
          <a:prstGeom prst="ellipse">
            <a:avLst/>
          </a:prstGeom>
          <a:noFill/>
          <a:ln w="2844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2" name="Text Box 26"/>
          <p:cNvSpPr txBox="1">
            <a:spLocks noChangeArrowheads="1"/>
          </p:cNvSpPr>
          <p:nvPr/>
        </p:nvSpPr>
        <p:spPr bwMode="auto">
          <a:xfrm>
            <a:off x="3625850" y="2006601"/>
            <a:ext cx="1382751" cy="426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latin typeface="Courier New" pitchFamily="49" charset="0"/>
                <a:ea typeface="msgothic" charset="0"/>
                <a:cs typeface="msgothic" charset="0"/>
              </a:rPr>
              <a:t>free( )</a:t>
            </a: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4606925" y="2159001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4" name="Line 28"/>
          <p:cNvSpPr>
            <a:spLocks noChangeShapeType="1"/>
          </p:cNvSpPr>
          <p:nvPr/>
        </p:nvSpPr>
        <p:spPr bwMode="auto">
          <a:xfrm flipH="1">
            <a:off x="4148138" y="2235201"/>
            <a:ext cx="536575" cy="685800"/>
          </a:xfrm>
          <a:prstGeom prst="line">
            <a:avLst/>
          </a:prstGeom>
          <a:noFill/>
          <a:ln w="5724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45" name="Rectangle 29"/>
          <p:cNvSpPr>
            <a:spLocks noChangeArrowheads="1"/>
          </p:cNvSpPr>
          <p:nvPr/>
        </p:nvSpPr>
        <p:spPr bwMode="auto">
          <a:xfrm>
            <a:off x="3997325" y="5532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6" name="Rectangle 30"/>
          <p:cNvSpPr>
            <a:spLocks noChangeArrowheads="1"/>
          </p:cNvSpPr>
          <p:nvPr/>
        </p:nvSpPr>
        <p:spPr bwMode="auto">
          <a:xfrm>
            <a:off x="4302125" y="5532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7" name="Rectangle 31"/>
          <p:cNvSpPr>
            <a:spLocks noChangeArrowheads="1"/>
          </p:cNvSpPr>
          <p:nvPr/>
        </p:nvSpPr>
        <p:spPr bwMode="auto">
          <a:xfrm>
            <a:off x="4606925" y="5532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8" name="Rectangle 32"/>
          <p:cNvSpPr>
            <a:spLocks noChangeArrowheads="1"/>
          </p:cNvSpPr>
          <p:nvPr/>
        </p:nvSpPr>
        <p:spPr bwMode="auto">
          <a:xfrm>
            <a:off x="4911725" y="5532438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49" name="Rectangle 33"/>
          <p:cNvSpPr>
            <a:spLocks noChangeArrowheads="1"/>
          </p:cNvSpPr>
          <p:nvPr/>
        </p:nvSpPr>
        <p:spPr bwMode="auto">
          <a:xfrm>
            <a:off x="5826125" y="5532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0" name="Rectangle 34"/>
          <p:cNvSpPr>
            <a:spLocks noChangeArrowheads="1"/>
          </p:cNvSpPr>
          <p:nvPr/>
        </p:nvSpPr>
        <p:spPr bwMode="auto">
          <a:xfrm>
            <a:off x="6130925" y="5532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1" name="Rectangle 35"/>
          <p:cNvSpPr>
            <a:spLocks noChangeArrowheads="1"/>
          </p:cNvSpPr>
          <p:nvPr/>
        </p:nvSpPr>
        <p:spPr bwMode="auto">
          <a:xfrm>
            <a:off x="2778125" y="5532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2" name="Rectangle 36"/>
          <p:cNvSpPr>
            <a:spLocks noChangeArrowheads="1"/>
          </p:cNvSpPr>
          <p:nvPr/>
        </p:nvSpPr>
        <p:spPr bwMode="auto">
          <a:xfrm>
            <a:off x="3082925" y="5532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3" name="Rectangle 37"/>
          <p:cNvSpPr>
            <a:spLocks noChangeArrowheads="1"/>
          </p:cNvSpPr>
          <p:nvPr/>
        </p:nvSpPr>
        <p:spPr bwMode="auto">
          <a:xfrm>
            <a:off x="3387725" y="5532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4" name="Rectangle 38"/>
          <p:cNvSpPr>
            <a:spLocks noChangeArrowheads="1"/>
          </p:cNvSpPr>
          <p:nvPr/>
        </p:nvSpPr>
        <p:spPr bwMode="auto">
          <a:xfrm>
            <a:off x="3692525" y="5532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5" name="Oval 39"/>
          <p:cNvSpPr>
            <a:spLocks noChangeArrowheads="1"/>
          </p:cNvSpPr>
          <p:nvPr/>
        </p:nvSpPr>
        <p:spPr bwMode="auto">
          <a:xfrm>
            <a:off x="4073525" y="5608638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6" name="Rectangle 40"/>
          <p:cNvSpPr>
            <a:spLocks noChangeArrowheads="1"/>
          </p:cNvSpPr>
          <p:nvPr/>
        </p:nvSpPr>
        <p:spPr bwMode="auto">
          <a:xfrm>
            <a:off x="5521325" y="5532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57" name="Rectangle 41"/>
          <p:cNvSpPr>
            <a:spLocks noChangeArrowheads="1"/>
          </p:cNvSpPr>
          <p:nvPr/>
        </p:nvSpPr>
        <p:spPr bwMode="auto">
          <a:xfrm>
            <a:off x="1202639" y="5532438"/>
            <a:ext cx="304800" cy="304800"/>
          </a:xfrm>
          <a:prstGeom prst="rect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7350125" y="5456238"/>
            <a:ext cx="1065213" cy="455612"/>
            <a:chOff x="4560" y="3395"/>
            <a:chExt cx="671" cy="287"/>
          </a:xfrm>
        </p:grpSpPr>
        <p:sp>
          <p:nvSpPr>
            <p:cNvPr id="9259" name="Rectangle 43"/>
            <p:cNvSpPr>
              <a:spLocks noChangeArrowheads="1"/>
            </p:cNvSpPr>
            <p:nvPr/>
          </p:nvSpPr>
          <p:spPr bwMode="auto">
            <a:xfrm>
              <a:off x="4560" y="3443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0" name="Rectangle 44"/>
            <p:cNvSpPr>
              <a:spLocks noChangeArrowheads="1"/>
            </p:cNvSpPr>
            <p:nvPr/>
          </p:nvSpPr>
          <p:spPr bwMode="auto">
            <a:xfrm>
              <a:off x="4752" y="3443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1" name="Rectangle 45"/>
            <p:cNvSpPr>
              <a:spLocks noChangeArrowheads="1"/>
            </p:cNvSpPr>
            <p:nvPr/>
          </p:nvSpPr>
          <p:spPr bwMode="auto">
            <a:xfrm>
              <a:off x="4944" y="3443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62" name="Rectangle 46"/>
            <p:cNvSpPr>
              <a:spLocks noChangeArrowheads="1"/>
            </p:cNvSpPr>
            <p:nvPr/>
          </p:nvSpPr>
          <p:spPr bwMode="auto">
            <a:xfrm>
              <a:off x="5040" y="3395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63" name="Oval 47"/>
          <p:cNvSpPr>
            <a:spLocks noChangeArrowheads="1"/>
          </p:cNvSpPr>
          <p:nvPr/>
        </p:nvSpPr>
        <p:spPr bwMode="auto">
          <a:xfrm>
            <a:off x="7426325" y="5608638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64" name="Line 48"/>
          <p:cNvSpPr>
            <a:spLocks noChangeShapeType="1"/>
          </p:cNvSpPr>
          <p:nvPr/>
        </p:nvSpPr>
        <p:spPr bwMode="auto">
          <a:xfrm>
            <a:off x="7502525" y="5684838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65" name="Oval 49"/>
          <p:cNvSpPr>
            <a:spLocks noChangeArrowheads="1"/>
          </p:cNvSpPr>
          <p:nvPr/>
        </p:nvSpPr>
        <p:spPr bwMode="auto">
          <a:xfrm>
            <a:off x="7731125" y="5608638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66" name="Rectangle 50"/>
          <p:cNvSpPr>
            <a:spLocks noChangeArrowheads="1"/>
          </p:cNvSpPr>
          <p:nvPr/>
        </p:nvSpPr>
        <p:spPr bwMode="auto">
          <a:xfrm>
            <a:off x="5216525" y="5532438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67" name="Freeform 51"/>
          <p:cNvSpPr>
            <a:spLocks/>
          </p:cNvSpPr>
          <p:nvPr/>
        </p:nvSpPr>
        <p:spPr bwMode="auto">
          <a:xfrm>
            <a:off x="4149725" y="5380038"/>
            <a:ext cx="3200400" cy="304800"/>
          </a:xfrm>
          <a:custGeom>
            <a:avLst/>
            <a:gdLst/>
            <a:ahLst/>
            <a:cxnLst>
              <a:cxn ang="0">
                <a:pos x="0" y="218"/>
              </a:cxn>
              <a:cxn ang="0">
                <a:pos x="472" y="31"/>
              </a:cxn>
              <a:cxn ang="0">
                <a:pos x="2109" y="31"/>
              </a:cxn>
              <a:cxn ang="0">
                <a:pos x="2784" y="218"/>
              </a:cxn>
            </a:cxnLst>
            <a:rect l="0" t="0" r="r" b="b"/>
            <a:pathLst>
              <a:path w="2784" h="218">
                <a:moveTo>
                  <a:pt x="0" y="218"/>
                </a:moveTo>
                <a:cubicBezTo>
                  <a:pt x="79" y="187"/>
                  <a:pt x="121" y="62"/>
                  <a:pt x="472" y="31"/>
                </a:cubicBezTo>
                <a:cubicBezTo>
                  <a:pt x="823" y="0"/>
                  <a:pt x="1724" y="0"/>
                  <a:pt x="2109" y="31"/>
                </a:cubicBezTo>
                <a:cubicBezTo>
                  <a:pt x="2494" y="62"/>
                  <a:pt x="2644" y="179"/>
                  <a:pt x="2784" y="218"/>
                </a:cubicBezTo>
              </a:path>
            </a:pathLst>
          </a:custGeom>
          <a:noFill/>
          <a:ln w="57240">
            <a:solidFill>
              <a:srgbClr val="00B05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68" name="Freeform 52"/>
          <p:cNvSpPr>
            <a:spLocks/>
          </p:cNvSpPr>
          <p:nvPr/>
        </p:nvSpPr>
        <p:spPr bwMode="auto">
          <a:xfrm>
            <a:off x="5059363" y="5692775"/>
            <a:ext cx="2752725" cy="371475"/>
          </a:xfrm>
          <a:custGeom>
            <a:avLst/>
            <a:gdLst/>
            <a:ahLst/>
            <a:cxnLst>
              <a:cxn ang="0">
                <a:pos x="1734" y="0"/>
              </a:cxn>
              <a:cxn ang="0">
                <a:pos x="1481" y="192"/>
              </a:cxn>
              <a:cxn ang="0">
                <a:pos x="304" y="217"/>
              </a:cxn>
              <a:cxn ang="0">
                <a:pos x="0" y="91"/>
              </a:cxn>
            </a:cxnLst>
            <a:rect l="0" t="0" r="r" b="b"/>
            <a:pathLst>
              <a:path w="1734" h="234">
                <a:moveTo>
                  <a:pt x="1734" y="0"/>
                </a:moveTo>
                <a:cubicBezTo>
                  <a:pt x="1692" y="32"/>
                  <a:pt x="1719" y="156"/>
                  <a:pt x="1481" y="192"/>
                </a:cubicBezTo>
                <a:cubicBezTo>
                  <a:pt x="1243" y="228"/>
                  <a:pt x="551" y="234"/>
                  <a:pt x="304" y="217"/>
                </a:cubicBezTo>
                <a:cubicBezTo>
                  <a:pt x="57" y="200"/>
                  <a:pt x="63" y="117"/>
                  <a:pt x="0" y="91"/>
                </a:cubicBezTo>
              </a:path>
            </a:pathLst>
          </a:custGeom>
          <a:noFill/>
          <a:ln w="57240">
            <a:solidFill>
              <a:srgbClr val="C0000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69" name="Text Box 53"/>
          <p:cNvSpPr txBox="1">
            <a:spLocks noChangeArrowheads="1"/>
          </p:cNvSpPr>
          <p:nvPr/>
        </p:nvSpPr>
        <p:spPr bwMode="auto">
          <a:xfrm>
            <a:off x="400050" y="2868613"/>
            <a:ext cx="697692" cy="426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latin typeface="Calibri" pitchFamily="34" charset="0"/>
                <a:ea typeface="msgothic" charset="0"/>
                <a:cs typeface="msgothic" charset="0"/>
              </a:rPr>
              <a:t>Root</a:t>
            </a:r>
          </a:p>
        </p:txBody>
      </p:sp>
      <p:sp>
        <p:nvSpPr>
          <p:cNvPr id="9270" name="Text Box 54"/>
          <p:cNvSpPr txBox="1">
            <a:spLocks noChangeArrowheads="1"/>
          </p:cNvSpPr>
          <p:nvPr/>
        </p:nvSpPr>
        <p:spPr bwMode="auto">
          <a:xfrm>
            <a:off x="415925" y="5481638"/>
            <a:ext cx="697692" cy="426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latin typeface="Calibri" pitchFamily="34" charset="0"/>
                <a:ea typeface="msgothic" charset="0"/>
                <a:cs typeface="msgothic" charset="0"/>
              </a:rPr>
              <a:t>Root</a:t>
            </a:r>
          </a:p>
        </p:txBody>
      </p:sp>
      <p:sp>
        <p:nvSpPr>
          <p:cNvPr id="9271" name="Text Box 55"/>
          <p:cNvSpPr txBox="1">
            <a:spLocks noChangeArrowheads="1"/>
          </p:cNvSpPr>
          <p:nvPr/>
        </p:nvSpPr>
        <p:spPr bwMode="auto">
          <a:xfrm>
            <a:off x="435624" y="1690688"/>
            <a:ext cx="937949" cy="426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Before</a:t>
            </a:r>
          </a:p>
        </p:txBody>
      </p:sp>
      <p:sp>
        <p:nvSpPr>
          <p:cNvPr id="9272" name="Text Box 56"/>
          <p:cNvSpPr txBox="1">
            <a:spLocks noChangeArrowheads="1"/>
          </p:cNvSpPr>
          <p:nvPr/>
        </p:nvSpPr>
        <p:spPr bwMode="auto">
          <a:xfrm>
            <a:off x="420688" y="4652963"/>
            <a:ext cx="744178" cy="426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After</a:t>
            </a:r>
          </a:p>
        </p:txBody>
      </p:sp>
      <p:sp>
        <p:nvSpPr>
          <p:cNvPr id="9273" name="Oval 57"/>
          <p:cNvSpPr>
            <a:spLocks noChangeArrowheads="1"/>
          </p:cNvSpPr>
          <p:nvPr/>
        </p:nvSpPr>
        <p:spPr bwMode="auto">
          <a:xfrm>
            <a:off x="4378325" y="5608638"/>
            <a:ext cx="152400" cy="152400"/>
          </a:xfrm>
          <a:prstGeom prst="ellipse">
            <a:avLst/>
          </a:prstGeom>
          <a:noFill/>
          <a:ln w="2844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74" name="Freeform 58"/>
          <p:cNvSpPr>
            <a:spLocks/>
          </p:cNvSpPr>
          <p:nvPr/>
        </p:nvSpPr>
        <p:spPr bwMode="auto">
          <a:xfrm>
            <a:off x="1482725" y="5243513"/>
            <a:ext cx="2671763" cy="441325"/>
          </a:xfrm>
          <a:custGeom>
            <a:avLst/>
            <a:gdLst/>
            <a:ahLst/>
            <a:cxnLst>
              <a:cxn ang="0">
                <a:pos x="0" y="278"/>
              </a:cxn>
              <a:cxn ang="0">
                <a:pos x="480" y="41"/>
              </a:cxn>
              <a:cxn ang="0">
                <a:pos x="1445" y="30"/>
              </a:cxn>
              <a:cxn ang="0">
                <a:pos x="1683" y="182"/>
              </a:cxn>
            </a:cxnLst>
            <a:rect l="0" t="0" r="r" b="b"/>
            <a:pathLst>
              <a:path w="1683" h="278">
                <a:moveTo>
                  <a:pt x="0" y="278"/>
                </a:moveTo>
                <a:cubicBezTo>
                  <a:pt x="80" y="238"/>
                  <a:pt x="239" y="82"/>
                  <a:pt x="480" y="41"/>
                </a:cubicBezTo>
                <a:cubicBezTo>
                  <a:pt x="721" y="0"/>
                  <a:pt x="1245" y="7"/>
                  <a:pt x="1445" y="30"/>
                </a:cubicBezTo>
                <a:cubicBezTo>
                  <a:pt x="1645" y="53"/>
                  <a:pt x="1634" y="150"/>
                  <a:pt x="1683" y="182"/>
                </a:cubicBezTo>
              </a:path>
            </a:pathLst>
          </a:custGeom>
          <a:noFill/>
          <a:ln w="57240">
            <a:solidFill>
              <a:srgbClr val="00B05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TextBox 61"/>
          <p:cNvSpPr txBox="1"/>
          <p:nvPr/>
        </p:nvSpPr>
        <p:spPr>
          <a:xfrm>
            <a:off x="6676350" y="1333115"/>
            <a:ext cx="1985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conceptual graphic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4A7A164-567B-4B64-8415-8650C2578D81}"/>
              </a:ext>
            </a:extLst>
          </p:cNvPr>
          <p:cNvGrpSpPr/>
          <p:nvPr/>
        </p:nvGrpSpPr>
        <p:grpSpPr>
          <a:xfrm>
            <a:off x="2920589" y="1162790"/>
            <a:ext cx="3425059" cy="305622"/>
            <a:chOff x="2820166" y="1307690"/>
            <a:chExt cx="3425059" cy="305622"/>
          </a:xfrm>
        </p:grpSpPr>
        <p:sp>
          <p:nvSpPr>
            <p:cNvPr id="63" name="Rectangle 2">
              <a:extLst>
                <a:ext uri="{FF2B5EF4-FFF2-40B4-BE49-F238E27FC236}">
                  <a16:creationId xmlns:a16="http://schemas.microsoft.com/office/drawing/2014/main" xmlns="" id="{759DD9D2-8476-4FF6-A3FA-E73FEFE61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1606" y="1308101"/>
              <a:ext cx="1143000" cy="3048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Rectangle 3">
              <a:extLst>
                <a:ext uri="{FF2B5EF4-FFF2-40B4-BE49-F238E27FC236}">
                  <a16:creationId xmlns:a16="http://schemas.microsoft.com/office/drawing/2014/main" xmlns="" id="{67E21CC7-9B7B-402C-B3A5-E1613CFD8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0166" y="1308512"/>
              <a:ext cx="1143000" cy="3048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A</a:t>
              </a:r>
              <a:r>
                <a:rPr lang="en-GB" sz="1600" b="1" dirty="0">
                  <a:latin typeface="Calibri" pitchFamily="34" charset="0"/>
                </a:rPr>
                <a:t>llocated</a:t>
              </a:r>
            </a:p>
          </p:txBody>
        </p:sp>
        <p:sp>
          <p:nvSpPr>
            <p:cNvPr id="65" name="Rectangle 4">
              <a:extLst>
                <a:ext uri="{FF2B5EF4-FFF2-40B4-BE49-F238E27FC236}">
                  <a16:creationId xmlns:a16="http://schemas.microsoft.com/office/drawing/2014/main" xmlns="" id="{1ADF3B39-6E20-4B41-9999-8744EF201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2225" y="1307690"/>
              <a:ext cx="1143000" cy="3048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dirty="0">
                  <a:latin typeface="Calibri" pitchFamily="34" charset="0"/>
                </a:rPr>
                <a:t>A</a:t>
              </a:r>
              <a:r>
                <a:rPr lang="en-GB" sz="1600" b="1" dirty="0">
                  <a:latin typeface="Calibri" pitchFamily="34" charset="0"/>
                </a:rPr>
                <a:t>llocated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619281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6" grpId="0" animBg="1"/>
      <p:bldP spid="9245" grpId="0" animBg="1"/>
      <p:bldP spid="9246" grpId="0" animBg="1"/>
      <p:bldP spid="9247" grpId="0" animBg="1"/>
      <p:bldP spid="9248" grpId="0" animBg="1"/>
      <p:bldP spid="9249" grpId="0" animBg="1"/>
      <p:bldP spid="9250" grpId="0" animBg="1"/>
      <p:bldP spid="9251" grpId="0" animBg="1"/>
      <p:bldP spid="9252" grpId="0" animBg="1"/>
      <p:bldP spid="9253" grpId="0" animBg="1"/>
      <p:bldP spid="9254" grpId="0" animBg="1"/>
      <p:bldP spid="9255" grpId="0" animBg="1"/>
      <p:bldP spid="9256" grpId="0" animBg="1"/>
      <p:bldP spid="9257" grpId="0" animBg="1"/>
      <p:bldP spid="9263" grpId="0" animBg="1"/>
      <p:bldP spid="9264" grpId="0" animBg="1"/>
      <p:bldP spid="9265" grpId="0" animBg="1"/>
      <p:bldP spid="9266" grpId="0" animBg="1"/>
      <p:bldP spid="9267" grpId="0" animBg="1"/>
      <p:bldP spid="9268" grpId="0" animBg="1"/>
      <p:bldP spid="9270" grpId="0"/>
      <p:bldP spid="9272" grpId="0"/>
      <p:bldP spid="9273" grpId="0" animBg="1"/>
      <p:bldP spid="927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9" name="Rectangle 95"/>
          <p:cNvSpPr>
            <a:spLocks noChangeArrowheads="1"/>
          </p:cNvSpPr>
          <p:nvPr/>
        </p:nvSpPr>
        <p:spPr bwMode="auto">
          <a:xfrm>
            <a:off x="397476" y="1450974"/>
            <a:ext cx="8151812" cy="21304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65" name="Rectangle 1"/>
          <p:cNvSpPr>
            <a:spLocks noChangeArrowheads="1"/>
          </p:cNvSpPr>
          <p:nvPr/>
        </p:nvSpPr>
        <p:spPr bwMode="auto">
          <a:xfrm>
            <a:off x="4012213" y="2397124"/>
            <a:ext cx="1219200" cy="457200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Freeform 8"/>
          <p:cNvSpPr>
            <a:spLocks/>
          </p:cNvSpPr>
          <p:nvPr/>
        </p:nvSpPr>
        <p:spPr bwMode="auto">
          <a:xfrm>
            <a:off x="1489676" y="2236787"/>
            <a:ext cx="5862637" cy="388937"/>
          </a:xfrm>
          <a:custGeom>
            <a:avLst/>
            <a:gdLst/>
            <a:ahLst/>
            <a:cxnLst>
              <a:cxn ang="0">
                <a:pos x="0" y="245"/>
              </a:cxn>
              <a:cxn ang="0">
                <a:pos x="677" y="33"/>
              </a:cxn>
              <a:cxn ang="0">
                <a:pos x="3057" y="48"/>
              </a:cxn>
              <a:cxn ang="0">
                <a:pos x="3693" y="245"/>
              </a:cxn>
            </a:cxnLst>
            <a:rect l="0" t="0" r="r" b="b"/>
            <a:pathLst>
              <a:path w="3693" h="245">
                <a:moveTo>
                  <a:pt x="0" y="245"/>
                </a:moveTo>
                <a:cubicBezTo>
                  <a:pt x="113" y="210"/>
                  <a:pt x="168" y="66"/>
                  <a:pt x="677" y="33"/>
                </a:cubicBezTo>
                <a:cubicBezTo>
                  <a:pt x="1186" y="0"/>
                  <a:pt x="2554" y="13"/>
                  <a:pt x="3057" y="48"/>
                </a:cubicBezTo>
                <a:cubicBezTo>
                  <a:pt x="3560" y="83"/>
                  <a:pt x="3560" y="204"/>
                  <a:pt x="3693" y="245"/>
                </a:cubicBezTo>
              </a:path>
            </a:pathLst>
          </a:custGeom>
          <a:noFill/>
          <a:ln w="57240">
            <a:solidFill>
              <a:srgbClr val="00B05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274638" y="360362"/>
            <a:ext cx="8716962" cy="782638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Freeing With a LIFO Policy (Case 2)</a:t>
            </a:r>
          </a:p>
        </p:txBody>
      </p:sp>
      <p:sp>
        <p:nvSpPr>
          <p:cNvPr id="11274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288324" y="3879849"/>
            <a:ext cx="8307387" cy="784225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Splice out adjacent successor block, coalesce both memory blocks, and insert the new block at the root of the list</a:t>
            </a:r>
          </a:p>
        </p:txBody>
      </p:sp>
      <p:sp>
        <p:nvSpPr>
          <p:cNvPr id="11275" name="Rectangle 11"/>
          <p:cNvSpPr>
            <a:spLocks noChangeArrowheads="1"/>
          </p:cNvSpPr>
          <p:nvPr/>
        </p:nvSpPr>
        <p:spPr bwMode="auto">
          <a:xfrm>
            <a:off x="4012213" y="2473324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4317013" y="2473324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77" name="Rectangle 13"/>
          <p:cNvSpPr>
            <a:spLocks noChangeArrowheads="1"/>
          </p:cNvSpPr>
          <p:nvPr/>
        </p:nvSpPr>
        <p:spPr bwMode="auto">
          <a:xfrm>
            <a:off x="4621813" y="2473324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78" name="Rectangle 14"/>
          <p:cNvSpPr>
            <a:spLocks noChangeArrowheads="1"/>
          </p:cNvSpPr>
          <p:nvPr/>
        </p:nvSpPr>
        <p:spPr bwMode="auto">
          <a:xfrm>
            <a:off x="4926613" y="2473324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79" name="Rectangle 15"/>
          <p:cNvSpPr>
            <a:spLocks noChangeArrowheads="1"/>
          </p:cNvSpPr>
          <p:nvPr/>
        </p:nvSpPr>
        <p:spPr bwMode="auto">
          <a:xfrm>
            <a:off x="5841013" y="2473324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80" name="Rectangle 16"/>
          <p:cNvSpPr>
            <a:spLocks noChangeArrowheads="1"/>
          </p:cNvSpPr>
          <p:nvPr/>
        </p:nvSpPr>
        <p:spPr bwMode="auto">
          <a:xfrm>
            <a:off x="6145813" y="2473324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81" name="Rectangle 17"/>
          <p:cNvSpPr>
            <a:spLocks noChangeArrowheads="1"/>
          </p:cNvSpPr>
          <p:nvPr/>
        </p:nvSpPr>
        <p:spPr bwMode="auto">
          <a:xfrm>
            <a:off x="2793013" y="2473324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82" name="Rectangle 18"/>
          <p:cNvSpPr>
            <a:spLocks noChangeArrowheads="1"/>
          </p:cNvSpPr>
          <p:nvPr/>
        </p:nvSpPr>
        <p:spPr bwMode="auto">
          <a:xfrm>
            <a:off x="3097813" y="2473324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83" name="Rectangle 19"/>
          <p:cNvSpPr>
            <a:spLocks noChangeArrowheads="1"/>
          </p:cNvSpPr>
          <p:nvPr/>
        </p:nvSpPr>
        <p:spPr bwMode="auto">
          <a:xfrm>
            <a:off x="3402613" y="2473324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84" name="Rectangle 20"/>
          <p:cNvSpPr>
            <a:spLocks noChangeArrowheads="1"/>
          </p:cNvSpPr>
          <p:nvPr/>
        </p:nvSpPr>
        <p:spPr bwMode="auto">
          <a:xfrm>
            <a:off x="3707413" y="2473324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85" name="Rectangle 21"/>
          <p:cNvSpPr>
            <a:spLocks noChangeArrowheads="1"/>
          </p:cNvSpPr>
          <p:nvPr/>
        </p:nvSpPr>
        <p:spPr bwMode="auto">
          <a:xfrm>
            <a:off x="5231413" y="2473324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86" name="Rectangle 22"/>
          <p:cNvSpPr>
            <a:spLocks noChangeArrowheads="1"/>
          </p:cNvSpPr>
          <p:nvPr/>
        </p:nvSpPr>
        <p:spPr bwMode="auto">
          <a:xfrm>
            <a:off x="5536213" y="2473324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5231413" y="1711324"/>
            <a:ext cx="1065213" cy="455613"/>
            <a:chOff x="3216" y="876"/>
            <a:chExt cx="671" cy="287"/>
          </a:xfrm>
        </p:grpSpPr>
        <p:sp>
          <p:nvSpPr>
            <p:cNvPr id="11288" name="Rectangle 24"/>
            <p:cNvSpPr>
              <a:spLocks noChangeArrowheads="1"/>
            </p:cNvSpPr>
            <p:nvPr/>
          </p:nvSpPr>
          <p:spPr bwMode="auto">
            <a:xfrm>
              <a:off x="3216" y="924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89" name="Rectangle 25"/>
            <p:cNvSpPr>
              <a:spLocks noChangeArrowheads="1"/>
            </p:cNvSpPr>
            <p:nvPr/>
          </p:nvSpPr>
          <p:spPr bwMode="auto">
            <a:xfrm>
              <a:off x="3408" y="924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0" name="Rectangle 26"/>
            <p:cNvSpPr>
              <a:spLocks noChangeArrowheads="1"/>
            </p:cNvSpPr>
            <p:nvPr/>
          </p:nvSpPr>
          <p:spPr bwMode="auto">
            <a:xfrm>
              <a:off x="3600" y="924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1" name="Rectangle 27"/>
            <p:cNvSpPr>
              <a:spLocks noChangeArrowheads="1"/>
            </p:cNvSpPr>
            <p:nvPr/>
          </p:nvSpPr>
          <p:spPr bwMode="auto">
            <a:xfrm>
              <a:off x="3696" y="876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5231413" y="3082924"/>
            <a:ext cx="1065213" cy="455613"/>
            <a:chOff x="3216" y="1740"/>
            <a:chExt cx="671" cy="287"/>
          </a:xfrm>
        </p:grpSpPr>
        <p:sp>
          <p:nvSpPr>
            <p:cNvPr id="11293" name="Rectangle 29"/>
            <p:cNvSpPr>
              <a:spLocks noChangeArrowheads="1"/>
            </p:cNvSpPr>
            <p:nvPr/>
          </p:nvSpPr>
          <p:spPr bwMode="auto">
            <a:xfrm>
              <a:off x="3216" y="1788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4" name="Rectangle 30"/>
            <p:cNvSpPr>
              <a:spLocks noChangeArrowheads="1"/>
            </p:cNvSpPr>
            <p:nvPr/>
          </p:nvSpPr>
          <p:spPr bwMode="auto">
            <a:xfrm>
              <a:off x="3408" y="1788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5" name="Rectangle 31"/>
            <p:cNvSpPr>
              <a:spLocks noChangeArrowheads="1"/>
            </p:cNvSpPr>
            <p:nvPr/>
          </p:nvSpPr>
          <p:spPr bwMode="auto">
            <a:xfrm>
              <a:off x="3600" y="1788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96" name="Rectangle 32"/>
            <p:cNvSpPr>
              <a:spLocks noChangeArrowheads="1"/>
            </p:cNvSpPr>
            <p:nvPr/>
          </p:nvSpPr>
          <p:spPr bwMode="auto">
            <a:xfrm>
              <a:off x="3696" y="1740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97" name="Oval 33"/>
          <p:cNvSpPr>
            <a:spLocks noChangeArrowheads="1"/>
          </p:cNvSpPr>
          <p:nvPr/>
        </p:nvSpPr>
        <p:spPr bwMode="auto">
          <a:xfrm>
            <a:off x="5307613" y="2549524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98" name="Line 34"/>
          <p:cNvSpPr>
            <a:spLocks noChangeShapeType="1"/>
          </p:cNvSpPr>
          <p:nvPr/>
        </p:nvSpPr>
        <p:spPr bwMode="auto">
          <a:xfrm>
            <a:off x="5383813" y="2625724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299" name="Oval 35"/>
          <p:cNvSpPr>
            <a:spLocks noChangeArrowheads="1"/>
          </p:cNvSpPr>
          <p:nvPr/>
        </p:nvSpPr>
        <p:spPr bwMode="auto">
          <a:xfrm>
            <a:off x="5307613" y="1863724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00" name="Line 36"/>
          <p:cNvSpPr>
            <a:spLocks noChangeShapeType="1"/>
          </p:cNvSpPr>
          <p:nvPr/>
        </p:nvSpPr>
        <p:spPr bwMode="auto">
          <a:xfrm>
            <a:off x="5383813" y="1939924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01" name="Oval 37"/>
          <p:cNvSpPr>
            <a:spLocks noChangeArrowheads="1"/>
          </p:cNvSpPr>
          <p:nvPr/>
        </p:nvSpPr>
        <p:spPr bwMode="auto">
          <a:xfrm flipV="1">
            <a:off x="5612413" y="3235324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02" name="Line 38"/>
          <p:cNvSpPr>
            <a:spLocks noChangeShapeType="1"/>
          </p:cNvSpPr>
          <p:nvPr/>
        </p:nvSpPr>
        <p:spPr bwMode="auto">
          <a:xfrm flipV="1">
            <a:off x="5688613" y="2776537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03" name="Oval 39"/>
          <p:cNvSpPr>
            <a:spLocks noChangeArrowheads="1"/>
          </p:cNvSpPr>
          <p:nvPr/>
        </p:nvSpPr>
        <p:spPr bwMode="auto">
          <a:xfrm flipV="1">
            <a:off x="5612413" y="2549524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04" name="Line 40"/>
          <p:cNvSpPr>
            <a:spLocks noChangeShapeType="1"/>
          </p:cNvSpPr>
          <p:nvPr/>
        </p:nvSpPr>
        <p:spPr bwMode="auto">
          <a:xfrm flipV="1">
            <a:off x="5688613" y="2090737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05" name="Rectangle 41"/>
          <p:cNvSpPr>
            <a:spLocks noChangeArrowheads="1"/>
          </p:cNvSpPr>
          <p:nvPr/>
        </p:nvSpPr>
        <p:spPr bwMode="auto">
          <a:xfrm>
            <a:off x="1192813" y="2473324"/>
            <a:ext cx="304800" cy="304800"/>
          </a:xfrm>
          <a:prstGeom prst="rect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7365013" y="2397124"/>
            <a:ext cx="1065213" cy="455613"/>
            <a:chOff x="4560" y="1308"/>
            <a:chExt cx="671" cy="287"/>
          </a:xfrm>
        </p:grpSpPr>
        <p:sp>
          <p:nvSpPr>
            <p:cNvPr id="11307" name="Rectangle 43"/>
            <p:cNvSpPr>
              <a:spLocks noChangeArrowheads="1"/>
            </p:cNvSpPr>
            <p:nvPr/>
          </p:nvSpPr>
          <p:spPr bwMode="auto">
            <a:xfrm>
              <a:off x="4560" y="1356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8" name="Rectangle 44"/>
            <p:cNvSpPr>
              <a:spLocks noChangeArrowheads="1"/>
            </p:cNvSpPr>
            <p:nvPr/>
          </p:nvSpPr>
          <p:spPr bwMode="auto">
            <a:xfrm>
              <a:off x="4752" y="1356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09" name="Rectangle 45"/>
            <p:cNvSpPr>
              <a:spLocks noChangeArrowheads="1"/>
            </p:cNvSpPr>
            <p:nvPr/>
          </p:nvSpPr>
          <p:spPr bwMode="auto">
            <a:xfrm>
              <a:off x="4944" y="1356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0" name="Rectangle 46"/>
            <p:cNvSpPr>
              <a:spLocks noChangeArrowheads="1"/>
            </p:cNvSpPr>
            <p:nvPr/>
          </p:nvSpPr>
          <p:spPr bwMode="auto">
            <a:xfrm>
              <a:off x="5040" y="1308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311" name="Oval 47"/>
          <p:cNvSpPr>
            <a:spLocks noChangeArrowheads="1"/>
          </p:cNvSpPr>
          <p:nvPr/>
        </p:nvSpPr>
        <p:spPr bwMode="auto">
          <a:xfrm>
            <a:off x="7441213" y="2549524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12" name="Line 48"/>
          <p:cNvSpPr>
            <a:spLocks noChangeShapeType="1"/>
          </p:cNvSpPr>
          <p:nvPr/>
        </p:nvSpPr>
        <p:spPr bwMode="auto">
          <a:xfrm>
            <a:off x="7517413" y="2625724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13" name="Oval 49"/>
          <p:cNvSpPr>
            <a:spLocks noChangeArrowheads="1"/>
          </p:cNvSpPr>
          <p:nvPr/>
        </p:nvSpPr>
        <p:spPr bwMode="auto">
          <a:xfrm>
            <a:off x="7746013" y="2549524"/>
            <a:ext cx="152400" cy="152400"/>
          </a:xfrm>
          <a:prstGeom prst="ellipse">
            <a:avLst/>
          </a:prstGeom>
          <a:noFill/>
          <a:ln w="2844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14" name="Text Box 50"/>
          <p:cNvSpPr txBox="1">
            <a:spLocks noChangeArrowheads="1"/>
          </p:cNvSpPr>
          <p:nvPr/>
        </p:nvSpPr>
        <p:spPr bwMode="auto">
          <a:xfrm>
            <a:off x="3640738" y="1558924"/>
            <a:ext cx="1382751" cy="426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>
                <a:latin typeface="Courier New" pitchFamily="49" charset="0"/>
                <a:ea typeface="msgothic" charset="0"/>
                <a:cs typeface="msgothic" charset="0"/>
              </a:rPr>
              <a:t>free( )</a:t>
            </a:r>
          </a:p>
        </p:txBody>
      </p:sp>
      <p:sp>
        <p:nvSpPr>
          <p:cNvPr id="11315" name="Oval 51"/>
          <p:cNvSpPr>
            <a:spLocks noChangeArrowheads="1"/>
          </p:cNvSpPr>
          <p:nvPr/>
        </p:nvSpPr>
        <p:spPr bwMode="auto">
          <a:xfrm>
            <a:off x="4621813" y="1711324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16" name="Line 52"/>
          <p:cNvSpPr>
            <a:spLocks noChangeShapeType="1"/>
          </p:cNvSpPr>
          <p:nvPr/>
        </p:nvSpPr>
        <p:spPr bwMode="auto">
          <a:xfrm flipH="1">
            <a:off x="4163026" y="1787524"/>
            <a:ext cx="536575" cy="685800"/>
          </a:xfrm>
          <a:prstGeom prst="line">
            <a:avLst/>
          </a:prstGeom>
          <a:noFill/>
          <a:ln w="5724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350" name="Oval 86"/>
          <p:cNvSpPr>
            <a:spLocks noChangeArrowheads="1"/>
          </p:cNvSpPr>
          <p:nvPr/>
        </p:nvSpPr>
        <p:spPr bwMode="auto">
          <a:xfrm>
            <a:off x="5307613" y="3235324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53" name="Oval 89"/>
          <p:cNvSpPr>
            <a:spLocks noChangeArrowheads="1"/>
          </p:cNvSpPr>
          <p:nvPr/>
        </p:nvSpPr>
        <p:spPr bwMode="auto">
          <a:xfrm flipV="1">
            <a:off x="5612413" y="1863724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54" name="Text Box 90"/>
          <p:cNvSpPr txBox="1">
            <a:spLocks noChangeArrowheads="1"/>
          </p:cNvSpPr>
          <p:nvPr/>
        </p:nvSpPr>
        <p:spPr bwMode="auto">
          <a:xfrm>
            <a:off x="414938" y="2420937"/>
            <a:ext cx="697692" cy="426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latin typeface="Calibri" pitchFamily="34" charset="0"/>
                <a:ea typeface="msgothic" charset="0"/>
                <a:cs typeface="msgothic" charset="0"/>
              </a:rPr>
              <a:t>Root</a:t>
            </a:r>
          </a:p>
        </p:txBody>
      </p:sp>
      <p:sp>
        <p:nvSpPr>
          <p:cNvPr id="11356" name="Text Box 92"/>
          <p:cNvSpPr txBox="1">
            <a:spLocks noChangeArrowheads="1"/>
          </p:cNvSpPr>
          <p:nvPr/>
        </p:nvSpPr>
        <p:spPr bwMode="auto">
          <a:xfrm>
            <a:off x="430813" y="1463674"/>
            <a:ext cx="937949" cy="426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Before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BD5C7AB1-70D5-47DD-B1ED-1D095A7A7DD9}"/>
              </a:ext>
            </a:extLst>
          </p:cNvPr>
          <p:cNvGrpSpPr/>
          <p:nvPr/>
        </p:nvGrpSpPr>
        <p:grpSpPr>
          <a:xfrm>
            <a:off x="397476" y="4762499"/>
            <a:ext cx="8151812" cy="1943101"/>
            <a:chOff x="397476" y="4762499"/>
            <a:chExt cx="8151812" cy="1943101"/>
          </a:xfrm>
        </p:grpSpPr>
        <p:sp>
          <p:nvSpPr>
            <p:cNvPr id="11360" name="Rectangle 96"/>
            <p:cNvSpPr>
              <a:spLocks noChangeArrowheads="1"/>
            </p:cNvSpPr>
            <p:nvPr/>
          </p:nvSpPr>
          <p:spPr bwMode="auto">
            <a:xfrm>
              <a:off x="397476" y="4762499"/>
              <a:ext cx="8151812" cy="1943101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" name="Group 2"/>
            <p:cNvGrpSpPr>
              <a:grpSpLocks/>
            </p:cNvGrpSpPr>
            <p:nvPr/>
          </p:nvGrpSpPr>
          <p:grpSpPr bwMode="auto">
            <a:xfrm>
              <a:off x="5231413" y="6243119"/>
              <a:ext cx="1065213" cy="431848"/>
              <a:chOff x="3216" y="3782"/>
              <a:chExt cx="671" cy="287"/>
            </a:xfrm>
          </p:grpSpPr>
          <p:sp>
            <p:nvSpPr>
              <p:cNvPr id="11267" name="Rectangle 3"/>
              <p:cNvSpPr>
                <a:spLocks noChangeArrowheads="1"/>
              </p:cNvSpPr>
              <p:nvPr/>
            </p:nvSpPr>
            <p:spPr bwMode="auto">
              <a:xfrm>
                <a:off x="3216" y="3830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68" name="Rectangle 4"/>
              <p:cNvSpPr>
                <a:spLocks noChangeArrowheads="1"/>
              </p:cNvSpPr>
              <p:nvPr/>
            </p:nvSpPr>
            <p:spPr bwMode="auto">
              <a:xfrm>
                <a:off x="3408" y="3830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69" name="Rectangle 5"/>
              <p:cNvSpPr>
                <a:spLocks noChangeArrowheads="1"/>
              </p:cNvSpPr>
              <p:nvPr/>
            </p:nvSpPr>
            <p:spPr bwMode="auto">
              <a:xfrm>
                <a:off x="3600" y="3830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70" name="Rectangle 6"/>
              <p:cNvSpPr>
                <a:spLocks noChangeArrowheads="1"/>
              </p:cNvSpPr>
              <p:nvPr/>
            </p:nvSpPr>
            <p:spPr bwMode="auto">
              <a:xfrm>
                <a:off x="3696" y="3782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271" name="Line 7"/>
            <p:cNvSpPr>
              <a:spLocks noChangeShapeType="1"/>
            </p:cNvSpPr>
            <p:nvPr/>
          </p:nvSpPr>
          <p:spPr bwMode="auto">
            <a:xfrm flipV="1">
              <a:off x="5688613" y="5302685"/>
              <a:ext cx="1588" cy="1158615"/>
            </a:xfrm>
            <a:prstGeom prst="line">
              <a:avLst/>
            </a:prstGeom>
            <a:noFill/>
            <a:ln w="57240">
              <a:solidFill>
                <a:srgbClr val="C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317" name="Rectangle 53"/>
            <p:cNvSpPr>
              <a:spLocks noChangeArrowheads="1"/>
            </p:cNvSpPr>
            <p:nvPr/>
          </p:nvSpPr>
          <p:spPr bwMode="auto">
            <a:xfrm>
              <a:off x="4012213" y="5665316"/>
              <a:ext cx="304800" cy="288901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8" name="Rectangle 54"/>
            <p:cNvSpPr>
              <a:spLocks noChangeArrowheads="1"/>
            </p:cNvSpPr>
            <p:nvPr/>
          </p:nvSpPr>
          <p:spPr bwMode="auto">
            <a:xfrm>
              <a:off x="4317013" y="5665316"/>
              <a:ext cx="304800" cy="288901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9" name="Rectangle 55"/>
            <p:cNvSpPr>
              <a:spLocks noChangeArrowheads="1"/>
            </p:cNvSpPr>
            <p:nvPr/>
          </p:nvSpPr>
          <p:spPr bwMode="auto">
            <a:xfrm>
              <a:off x="4621813" y="5665316"/>
              <a:ext cx="304800" cy="288901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0" name="Rectangle 56"/>
            <p:cNvSpPr>
              <a:spLocks noChangeArrowheads="1"/>
            </p:cNvSpPr>
            <p:nvPr/>
          </p:nvSpPr>
          <p:spPr bwMode="auto">
            <a:xfrm>
              <a:off x="4926613" y="5665316"/>
              <a:ext cx="304800" cy="288901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1" name="Rectangle 57"/>
            <p:cNvSpPr>
              <a:spLocks noChangeArrowheads="1"/>
            </p:cNvSpPr>
            <p:nvPr/>
          </p:nvSpPr>
          <p:spPr bwMode="auto">
            <a:xfrm>
              <a:off x="5841013" y="5665316"/>
              <a:ext cx="304800" cy="288901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2" name="Rectangle 58"/>
            <p:cNvSpPr>
              <a:spLocks noChangeArrowheads="1"/>
            </p:cNvSpPr>
            <p:nvPr/>
          </p:nvSpPr>
          <p:spPr bwMode="auto">
            <a:xfrm>
              <a:off x="6145813" y="5665316"/>
              <a:ext cx="304800" cy="288901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3" name="Rectangle 59"/>
            <p:cNvSpPr>
              <a:spLocks noChangeArrowheads="1"/>
            </p:cNvSpPr>
            <p:nvPr/>
          </p:nvSpPr>
          <p:spPr bwMode="auto">
            <a:xfrm>
              <a:off x="2793013" y="5665316"/>
              <a:ext cx="304800" cy="288901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4" name="Rectangle 60"/>
            <p:cNvSpPr>
              <a:spLocks noChangeArrowheads="1"/>
            </p:cNvSpPr>
            <p:nvPr/>
          </p:nvSpPr>
          <p:spPr bwMode="auto">
            <a:xfrm>
              <a:off x="3097813" y="5665316"/>
              <a:ext cx="304800" cy="288901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5" name="Rectangle 61"/>
            <p:cNvSpPr>
              <a:spLocks noChangeArrowheads="1"/>
            </p:cNvSpPr>
            <p:nvPr/>
          </p:nvSpPr>
          <p:spPr bwMode="auto">
            <a:xfrm>
              <a:off x="3402613" y="5665316"/>
              <a:ext cx="304800" cy="288901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6" name="Rectangle 62"/>
            <p:cNvSpPr>
              <a:spLocks noChangeArrowheads="1"/>
            </p:cNvSpPr>
            <p:nvPr/>
          </p:nvSpPr>
          <p:spPr bwMode="auto">
            <a:xfrm>
              <a:off x="3707413" y="5665316"/>
              <a:ext cx="304800" cy="288901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7" name="Oval 63"/>
            <p:cNvSpPr>
              <a:spLocks noChangeArrowheads="1"/>
            </p:cNvSpPr>
            <p:nvPr/>
          </p:nvSpPr>
          <p:spPr bwMode="auto">
            <a:xfrm>
              <a:off x="4088413" y="5737542"/>
              <a:ext cx="152400" cy="144451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8" name="Rectangle 64"/>
            <p:cNvSpPr>
              <a:spLocks noChangeArrowheads="1"/>
            </p:cNvSpPr>
            <p:nvPr/>
          </p:nvSpPr>
          <p:spPr bwMode="auto">
            <a:xfrm>
              <a:off x="5536213" y="5665316"/>
              <a:ext cx="304800" cy="288901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" name="Group 65"/>
            <p:cNvGrpSpPr>
              <a:grpSpLocks/>
            </p:cNvGrpSpPr>
            <p:nvPr/>
          </p:nvGrpSpPr>
          <p:grpSpPr bwMode="auto">
            <a:xfrm>
              <a:off x="5231413" y="4943062"/>
              <a:ext cx="1065213" cy="431848"/>
              <a:chOff x="3216" y="2918"/>
              <a:chExt cx="671" cy="287"/>
            </a:xfrm>
          </p:grpSpPr>
          <p:sp>
            <p:nvSpPr>
              <p:cNvPr id="11330" name="Rectangle 66"/>
              <p:cNvSpPr>
                <a:spLocks noChangeArrowheads="1"/>
              </p:cNvSpPr>
              <p:nvPr/>
            </p:nvSpPr>
            <p:spPr bwMode="auto">
              <a:xfrm>
                <a:off x="3216" y="2966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31" name="Rectangle 67"/>
              <p:cNvSpPr>
                <a:spLocks noChangeArrowheads="1"/>
              </p:cNvSpPr>
              <p:nvPr/>
            </p:nvSpPr>
            <p:spPr bwMode="auto">
              <a:xfrm>
                <a:off x="3408" y="2966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32" name="Rectangle 68"/>
              <p:cNvSpPr>
                <a:spLocks noChangeArrowheads="1"/>
              </p:cNvSpPr>
              <p:nvPr/>
            </p:nvSpPr>
            <p:spPr bwMode="auto">
              <a:xfrm>
                <a:off x="3600" y="2966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33" name="Rectangle 69"/>
              <p:cNvSpPr>
                <a:spLocks noChangeArrowheads="1"/>
              </p:cNvSpPr>
              <p:nvPr/>
            </p:nvSpPr>
            <p:spPr bwMode="auto">
              <a:xfrm>
                <a:off x="3696" y="2918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334" name="Oval 70"/>
            <p:cNvSpPr>
              <a:spLocks noChangeArrowheads="1"/>
            </p:cNvSpPr>
            <p:nvPr/>
          </p:nvSpPr>
          <p:spPr bwMode="auto">
            <a:xfrm>
              <a:off x="5307613" y="5087513"/>
              <a:ext cx="152400" cy="144451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5" name="Line 71"/>
            <p:cNvSpPr>
              <a:spLocks noChangeShapeType="1"/>
            </p:cNvSpPr>
            <p:nvPr/>
          </p:nvSpPr>
          <p:spPr bwMode="auto">
            <a:xfrm>
              <a:off x="5383813" y="5159739"/>
              <a:ext cx="1588" cy="1155606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336" name="Oval 72"/>
            <p:cNvSpPr>
              <a:spLocks noChangeArrowheads="1"/>
            </p:cNvSpPr>
            <p:nvPr/>
          </p:nvSpPr>
          <p:spPr bwMode="auto">
            <a:xfrm flipV="1">
              <a:off x="5612413" y="6386066"/>
              <a:ext cx="152400" cy="144451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7" name="Rectangle 73"/>
            <p:cNvSpPr>
              <a:spLocks noChangeArrowheads="1"/>
            </p:cNvSpPr>
            <p:nvPr/>
          </p:nvSpPr>
          <p:spPr bwMode="auto">
            <a:xfrm>
              <a:off x="1192813" y="5665316"/>
              <a:ext cx="304800" cy="288901"/>
            </a:xfrm>
            <a:prstGeom prst="rect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" name="Group 74"/>
            <p:cNvGrpSpPr>
              <a:grpSpLocks/>
            </p:cNvGrpSpPr>
            <p:nvPr/>
          </p:nvGrpSpPr>
          <p:grpSpPr bwMode="auto">
            <a:xfrm>
              <a:off x="7365013" y="5593091"/>
              <a:ext cx="1065213" cy="431848"/>
              <a:chOff x="4560" y="3350"/>
              <a:chExt cx="671" cy="287"/>
            </a:xfrm>
          </p:grpSpPr>
          <p:sp>
            <p:nvSpPr>
              <p:cNvPr id="11339" name="Rectangle 75"/>
              <p:cNvSpPr>
                <a:spLocks noChangeArrowheads="1"/>
              </p:cNvSpPr>
              <p:nvPr/>
            </p:nvSpPr>
            <p:spPr bwMode="auto">
              <a:xfrm>
                <a:off x="4560" y="3398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40" name="Rectangle 76"/>
              <p:cNvSpPr>
                <a:spLocks noChangeArrowheads="1"/>
              </p:cNvSpPr>
              <p:nvPr/>
            </p:nvSpPr>
            <p:spPr bwMode="auto">
              <a:xfrm>
                <a:off x="4752" y="3398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41" name="Rectangle 77"/>
              <p:cNvSpPr>
                <a:spLocks noChangeArrowheads="1"/>
              </p:cNvSpPr>
              <p:nvPr/>
            </p:nvSpPr>
            <p:spPr bwMode="auto">
              <a:xfrm>
                <a:off x="4944" y="3398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42" name="Rectangle 78"/>
              <p:cNvSpPr>
                <a:spLocks noChangeArrowheads="1"/>
              </p:cNvSpPr>
              <p:nvPr/>
            </p:nvSpPr>
            <p:spPr bwMode="auto">
              <a:xfrm>
                <a:off x="5040" y="3350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343" name="Oval 79"/>
            <p:cNvSpPr>
              <a:spLocks noChangeArrowheads="1"/>
            </p:cNvSpPr>
            <p:nvPr/>
          </p:nvSpPr>
          <p:spPr bwMode="auto">
            <a:xfrm>
              <a:off x="7441213" y="5737542"/>
              <a:ext cx="152400" cy="144451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4" name="Line 80"/>
            <p:cNvSpPr>
              <a:spLocks noChangeShapeType="1"/>
            </p:cNvSpPr>
            <p:nvPr/>
          </p:nvSpPr>
          <p:spPr bwMode="auto">
            <a:xfrm>
              <a:off x="7517413" y="5809767"/>
              <a:ext cx="1588" cy="505578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345" name="Oval 81"/>
            <p:cNvSpPr>
              <a:spLocks noChangeArrowheads="1"/>
            </p:cNvSpPr>
            <p:nvPr/>
          </p:nvSpPr>
          <p:spPr bwMode="auto">
            <a:xfrm>
              <a:off x="7746013" y="5737542"/>
              <a:ext cx="152400" cy="144451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6" name="Rectangle 82"/>
            <p:cNvSpPr>
              <a:spLocks noChangeArrowheads="1"/>
            </p:cNvSpPr>
            <p:nvPr/>
          </p:nvSpPr>
          <p:spPr bwMode="auto">
            <a:xfrm>
              <a:off x="5231413" y="5665316"/>
              <a:ext cx="304800" cy="288901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7" name="Oval 83"/>
            <p:cNvSpPr>
              <a:spLocks noChangeArrowheads="1"/>
            </p:cNvSpPr>
            <p:nvPr/>
          </p:nvSpPr>
          <p:spPr bwMode="auto">
            <a:xfrm>
              <a:off x="4393213" y="5737542"/>
              <a:ext cx="152400" cy="144451"/>
            </a:xfrm>
            <a:prstGeom prst="ellipse">
              <a:avLst/>
            </a:prstGeom>
            <a:noFill/>
            <a:ln w="28440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8" name="Freeform 84"/>
            <p:cNvSpPr>
              <a:spLocks/>
            </p:cNvSpPr>
            <p:nvPr/>
          </p:nvSpPr>
          <p:spPr bwMode="auto">
            <a:xfrm>
              <a:off x="4151913" y="5474220"/>
              <a:ext cx="3213100" cy="335547"/>
            </a:xfrm>
            <a:custGeom>
              <a:avLst/>
              <a:gdLst/>
              <a:ahLst/>
              <a:cxnLst>
                <a:cxn ang="0">
                  <a:pos x="0" y="223"/>
                </a:cxn>
                <a:cxn ang="0">
                  <a:pos x="288" y="31"/>
                </a:cxn>
                <a:cxn ang="0">
                  <a:pos x="1349" y="36"/>
                </a:cxn>
                <a:cxn ang="0">
                  <a:pos x="2024" y="223"/>
                </a:cxn>
              </a:cxnLst>
              <a:rect l="0" t="0" r="r" b="b"/>
              <a:pathLst>
                <a:path w="2024" h="223">
                  <a:moveTo>
                    <a:pt x="0" y="223"/>
                  </a:moveTo>
                  <a:cubicBezTo>
                    <a:pt x="48" y="191"/>
                    <a:pt x="63" y="62"/>
                    <a:pt x="288" y="31"/>
                  </a:cubicBezTo>
                  <a:cubicBezTo>
                    <a:pt x="513" y="0"/>
                    <a:pt x="1060" y="4"/>
                    <a:pt x="1349" y="36"/>
                  </a:cubicBezTo>
                  <a:cubicBezTo>
                    <a:pt x="1638" y="68"/>
                    <a:pt x="1884" y="184"/>
                    <a:pt x="2024" y="223"/>
                  </a:cubicBezTo>
                </a:path>
              </a:pathLst>
            </a:custGeom>
            <a:noFill/>
            <a:ln w="57240">
              <a:solidFill>
                <a:srgbClr val="00B05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9" name="Freeform 85"/>
            <p:cNvSpPr>
              <a:spLocks/>
            </p:cNvSpPr>
            <p:nvPr/>
          </p:nvSpPr>
          <p:spPr bwMode="auto">
            <a:xfrm>
              <a:off x="6450613" y="5787197"/>
              <a:ext cx="1371600" cy="346080"/>
            </a:xfrm>
            <a:custGeom>
              <a:avLst/>
              <a:gdLst/>
              <a:ahLst/>
              <a:cxnLst>
                <a:cxn ang="0">
                  <a:pos x="864" y="15"/>
                </a:cxn>
                <a:cxn ang="0">
                  <a:pos x="745" y="227"/>
                </a:cxn>
                <a:cxn ang="0">
                  <a:pos x="210" y="35"/>
                </a:cxn>
                <a:cxn ang="0">
                  <a:pos x="0" y="15"/>
                </a:cxn>
              </a:cxnLst>
              <a:rect l="0" t="0" r="r" b="b"/>
              <a:pathLst>
                <a:path w="864" h="230">
                  <a:moveTo>
                    <a:pt x="864" y="15"/>
                  </a:moveTo>
                  <a:cubicBezTo>
                    <a:pt x="844" y="50"/>
                    <a:pt x="854" y="224"/>
                    <a:pt x="745" y="227"/>
                  </a:cubicBezTo>
                  <a:cubicBezTo>
                    <a:pt x="636" y="230"/>
                    <a:pt x="334" y="70"/>
                    <a:pt x="210" y="35"/>
                  </a:cubicBezTo>
                  <a:cubicBezTo>
                    <a:pt x="86" y="0"/>
                    <a:pt x="44" y="19"/>
                    <a:pt x="0" y="15"/>
                  </a:cubicBezTo>
                </a:path>
              </a:pathLst>
            </a:custGeom>
            <a:noFill/>
            <a:ln w="57240">
              <a:solidFill>
                <a:srgbClr val="C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1" name="Oval 87"/>
            <p:cNvSpPr>
              <a:spLocks noChangeArrowheads="1"/>
            </p:cNvSpPr>
            <p:nvPr/>
          </p:nvSpPr>
          <p:spPr bwMode="auto">
            <a:xfrm>
              <a:off x="5307613" y="6387570"/>
              <a:ext cx="152400" cy="144451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2" name="Oval 88"/>
            <p:cNvSpPr>
              <a:spLocks noChangeArrowheads="1"/>
            </p:cNvSpPr>
            <p:nvPr/>
          </p:nvSpPr>
          <p:spPr bwMode="auto">
            <a:xfrm flipV="1">
              <a:off x="5612413" y="5086009"/>
              <a:ext cx="152400" cy="144451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5" name="Text Box 91"/>
            <p:cNvSpPr txBox="1">
              <a:spLocks noChangeArrowheads="1"/>
            </p:cNvSpPr>
            <p:nvPr/>
          </p:nvSpPr>
          <p:spPr bwMode="auto">
            <a:xfrm>
              <a:off x="430813" y="5617166"/>
              <a:ext cx="697692" cy="40464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9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b="1" dirty="0">
                  <a:latin typeface="Calibri" pitchFamily="34" charset="0"/>
                  <a:ea typeface="msgothic" charset="0"/>
                  <a:cs typeface="msgothic" charset="0"/>
                </a:rPr>
                <a:t>Root</a:t>
              </a:r>
            </a:p>
          </p:txBody>
        </p:sp>
        <p:sp>
          <p:nvSpPr>
            <p:cNvPr id="11357" name="Text Box 93"/>
            <p:cNvSpPr txBox="1">
              <a:spLocks noChangeArrowheads="1"/>
            </p:cNvSpPr>
            <p:nvPr/>
          </p:nvSpPr>
          <p:spPr bwMode="auto">
            <a:xfrm>
              <a:off x="448635" y="4770140"/>
              <a:ext cx="744178" cy="40464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9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b="1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msgothic" charset="0"/>
                  <a:cs typeface="msgothic" charset="0"/>
                </a:rPr>
                <a:t>After</a:t>
              </a:r>
            </a:p>
          </p:txBody>
        </p:sp>
        <p:sp>
          <p:nvSpPr>
            <p:cNvPr id="11358" name="Freeform 94"/>
            <p:cNvSpPr>
              <a:spLocks/>
            </p:cNvSpPr>
            <p:nvPr/>
          </p:nvSpPr>
          <p:spPr bwMode="auto">
            <a:xfrm>
              <a:off x="1481738" y="5388452"/>
              <a:ext cx="2662238" cy="413792"/>
            </a:xfrm>
            <a:custGeom>
              <a:avLst/>
              <a:gdLst/>
              <a:ahLst/>
              <a:cxnLst>
                <a:cxn ang="0">
                  <a:pos x="0" y="275"/>
                </a:cxn>
                <a:cxn ang="0">
                  <a:pos x="515" y="43"/>
                </a:cxn>
                <a:cxn ang="0">
                  <a:pos x="1389" y="22"/>
                </a:cxn>
                <a:cxn ang="0">
                  <a:pos x="1677" y="174"/>
                </a:cxn>
              </a:cxnLst>
              <a:rect l="0" t="0" r="r" b="b"/>
              <a:pathLst>
                <a:path w="1677" h="275">
                  <a:moveTo>
                    <a:pt x="0" y="275"/>
                  </a:moveTo>
                  <a:cubicBezTo>
                    <a:pt x="86" y="236"/>
                    <a:pt x="284" y="85"/>
                    <a:pt x="515" y="43"/>
                  </a:cubicBezTo>
                  <a:cubicBezTo>
                    <a:pt x="746" y="1"/>
                    <a:pt x="1195" y="0"/>
                    <a:pt x="1389" y="22"/>
                  </a:cubicBezTo>
                  <a:cubicBezTo>
                    <a:pt x="1583" y="44"/>
                    <a:pt x="1617" y="142"/>
                    <a:pt x="1677" y="174"/>
                  </a:cubicBezTo>
                </a:path>
              </a:pathLst>
            </a:custGeom>
            <a:noFill/>
            <a:ln w="57240">
              <a:solidFill>
                <a:srgbClr val="00B05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8" name="TextBox 97"/>
          <p:cNvSpPr txBox="1"/>
          <p:nvPr/>
        </p:nvSpPr>
        <p:spPr>
          <a:xfrm>
            <a:off x="6676350" y="1078468"/>
            <a:ext cx="1985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conceptual graphic</a:t>
            </a:r>
          </a:p>
        </p:txBody>
      </p:sp>
      <p:sp>
        <p:nvSpPr>
          <p:cNvPr id="100" name="Rectangle 5">
            <a:extLst>
              <a:ext uri="{FF2B5EF4-FFF2-40B4-BE49-F238E27FC236}">
                <a16:creationId xmlns:a16="http://schemas.microsoft.com/office/drawing/2014/main" xmlns="" id="{ED51D5B9-AC8F-48F0-BCB7-8041521C7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0313" y="1026712"/>
            <a:ext cx="1143000" cy="3048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1" name="Rectangle 6">
            <a:extLst>
              <a:ext uri="{FF2B5EF4-FFF2-40B4-BE49-F238E27FC236}">
                <a16:creationId xmlns:a16="http://schemas.microsoft.com/office/drawing/2014/main" xmlns="" id="{AEA1D0A6-F6CD-438E-B638-126B3600F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7313" y="1030762"/>
            <a:ext cx="11430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</a:t>
            </a:r>
            <a:r>
              <a:rPr lang="en-GB" sz="1600" b="1" dirty="0">
                <a:latin typeface="Calibri" pitchFamily="34" charset="0"/>
              </a:rPr>
              <a:t>llocated</a:t>
            </a:r>
          </a:p>
        </p:txBody>
      </p:sp>
      <p:sp>
        <p:nvSpPr>
          <p:cNvPr id="102" name="Rectangle 7">
            <a:extLst>
              <a:ext uri="{FF2B5EF4-FFF2-40B4-BE49-F238E27FC236}">
                <a16:creationId xmlns:a16="http://schemas.microsoft.com/office/drawing/2014/main" xmlns="" id="{FBC8F91D-C318-4712-80E2-A381C0001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3313" y="1030762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F</a:t>
            </a:r>
            <a:r>
              <a:rPr lang="en-GB" sz="1600" b="1" dirty="0">
                <a:latin typeface="Calibri" pitchFamily="34" charset="0"/>
              </a:rPr>
              <a:t>ree</a:t>
            </a:r>
          </a:p>
        </p:txBody>
      </p:sp>
    </p:spTree>
    <p:extLst>
      <p:ext uri="{BB962C8B-B14F-4D97-AF65-F5344CB8AC3E}">
        <p14:creationId xmlns:p14="http://schemas.microsoft.com/office/powerpoint/2010/main" val="250594773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5" name="Rectangle 95"/>
          <p:cNvSpPr>
            <a:spLocks noChangeArrowheads="1"/>
          </p:cNvSpPr>
          <p:nvPr/>
        </p:nvSpPr>
        <p:spPr bwMode="auto">
          <a:xfrm>
            <a:off x="397476" y="1522412"/>
            <a:ext cx="8151812" cy="21304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1" name="Rectangle 1"/>
          <p:cNvSpPr>
            <a:spLocks noChangeArrowheads="1"/>
          </p:cNvSpPr>
          <p:nvPr/>
        </p:nvSpPr>
        <p:spPr bwMode="auto">
          <a:xfrm>
            <a:off x="4012213" y="2433637"/>
            <a:ext cx="1219200" cy="457200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Freeform 14"/>
          <p:cNvSpPr>
            <a:spLocks/>
          </p:cNvSpPr>
          <p:nvPr/>
        </p:nvSpPr>
        <p:spPr bwMode="auto">
          <a:xfrm>
            <a:off x="1489676" y="2273299"/>
            <a:ext cx="5862637" cy="388938"/>
          </a:xfrm>
          <a:custGeom>
            <a:avLst/>
            <a:gdLst/>
            <a:ahLst/>
            <a:cxnLst>
              <a:cxn ang="0">
                <a:pos x="0" y="245"/>
              </a:cxn>
              <a:cxn ang="0">
                <a:pos x="677" y="33"/>
              </a:cxn>
              <a:cxn ang="0">
                <a:pos x="3057" y="48"/>
              </a:cxn>
              <a:cxn ang="0">
                <a:pos x="3693" y="245"/>
              </a:cxn>
            </a:cxnLst>
            <a:rect l="0" t="0" r="r" b="b"/>
            <a:pathLst>
              <a:path w="3693" h="245">
                <a:moveTo>
                  <a:pt x="0" y="245"/>
                </a:moveTo>
                <a:cubicBezTo>
                  <a:pt x="113" y="210"/>
                  <a:pt x="168" y="66"/>
                  <a:pt x="677" y="33"/>
                </a:cubicBezTo>
                <a:cubicBezTo>
                  <a:pt x="1186" y="0"/>
                  <a:pt x="2554" y="13"/>
                  <a:pt x="3057" y="48"/>
                </a:cubicBezTo>
                <a:cubicBezTo>
                  <a:pt x="3560" y="83"/>
                  <a:pt x="3560" y="204"/>
                  <a:pt x="3693" y="245"/>
                </a:cubicBezTo>
              </a:path>
            </a:pathLst>
          </a:custGeom>
          <a:noFill/>
          <a:ln w="57240">
            <a:solidFill>
              <a:srgbClr val="00B05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5" name="Rectangle 15"/>
          <p:cNvSpPr>
            <a:spLocks noGrp="1" noChangeArrowheads="1"/>
          </p:cNvSpPr>
          <p:nvPr>
            <p:ph type="title" idx="4294967295"/>
          </p:nvPr>
        </p:nvSpPr>
        <p:spPr>
          <a:xfrm>
            <a:off x="274638" y="360362"/>
            <a:ext cx="8716962" cy="782638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Freeing With a LIFO Policy (Case 3)</a:t>
            </a:r>
          </a:p>
        </p:txBody>
      </p:sp>
      <p:sp>
        <p:nvSpPr>
          <p:cNvPr id="10256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267300" y="3774503"/>
            <a:ext cx="8307387" cy="784225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Splice out adjacent predecessor block, coalesce both memory blocks, and insert the new block at the root of the list</a:t>
            </a:r>
          </a:p>
        </p:txBody>
      </p:sp>
      <p:sp>
        <p:nvSpPr>
          <p:cNvPr id="10257" name="Rectangle 17"/>
          <p:cNvSpPr>
            <a:spLocks noChangeArrowheads="1"/>
          </p:cNvSpPr>
          <p:nvPr/>
        </p:nvSpPr>
        <p:spPr bwMode="auto">
          <a:xfrm>
            <a:off x="4012213" y="2509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Rectangle 18"/>
          <p:cNvSpPr>
            <a:spLocks noChangeArrowheads="1"/>
          </p:cNvSpPr>
          <p:nvPr/>
        </p:nvSpPr>
        <p:spPr bwMode="auto">
          <a:xfrm>
            <a:off x="4317013" y="2509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59" name="Rectangle 19"/>
          <p:cNvSpPr>
            <a:spLocks noChangeArrowheads="1"/>
          </p:cNvSpPr>
          <p:nvPr/>
        </p:nvSpPr>
        <p:spPr bwMode="auto">
          <a:xfrm>
            <a:off x="4621813" y="2509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0" name="Rectangle 20"/>
          <p:cNvSpPr>
            <a:spLocks noChangeArrowheads="1"/>
          </p:cNvSpPr>
          <p:nvPr/>
        </p:nvSpPr>
        <p:spPr bwMode="auto">
          <a:xfrm>
            <a:off x="4926613" y="2509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1" name="Rectangle 21"/>
          <p:cNvSpPr>
            <a:spLocks noChangeArrowheads="1"/>
          </p:cNvSpPr>
          <p:nvPr/>
        </p:nvSpPr>
        <p:spPr bwMode="auto">
          <a:xfrm>
            <a:off x="5841013" y="2509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6145813" y="2509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3" name="Rectangle 23"/>
          <p:cNvSpPr>
            <a:spLocks noChangeArrowheads="1"/>
          </p:cNvSpPr>
          <p:nvPr/>
        </p:nvSpPr>
        <p:spPr bwMode="auto">
          <a:xfrm>
            <a:off x="2793013" y="2509837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4" name="Rectangle 24"/>
          <p:cNvSpPr>
            <a:spLocks noChangeArrowheads="1"/>
          </p:cNvSpPr>
          <p:nvPr/>
        </p:nvSpPr>
        <p:spPr bwMode="auto">
          <a:xfrm>
            <a:off x="3097813" y="2509837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5" name="Rectangle 25"/>
          <p:cNvSpPr>
            <a:spLocks noChangeArrowheads="1"/>
          </p:cNvSpPr>
          <p:nvPr/>
        </p:nvSpPr>
        <p:spPr bwMode="auto">
          <a:xfrm>
            <a:off x="3402613" y="2509837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66" name="Rectangle 26"/>
          <p:cNvSpPr>
            <a:spLocks noChangeArrowheads="1"/>
          </p:cNvSpPr>
          <p:nvPr/>
        </p:nvSpPr>
        <p:spPr bwMode="auto">
          <a:xfrm>
            <a:off x="3707413" y="2509837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2793013" y="1747837"/>
            <a:ext cx="1065213" cy="455612"/>
            <a:chOff x="1680" y="831"/>
            <a:chExt cx="671" cy="287"/>
          </a:xfrm>
        </p:grpSpPr>
        <p:sp>
          <p:nvSpPr>
            <p:cNvPr id="10268" name="Rectangle 28"/>
            <p:cNvSpPr>
              <a:spLocks noChangeArrowheads="1"/>
            </p:cNvSpPr>
            <p:nvPr/>
          </p:nvSpPr>
          <p:spPr bwMode="auto">
            <a:xfrm>
              <a:off x="1680" y="879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69" name="Rectangle 29"/>
            <p:cNvSpPr>
              <a:spLocks noChangeArrowheads="1"/>
            </p:cNvSpPr>
            <p:nvPr/>
          </p:nvSpPr>
          <p:spPr bwMode="auto">
            <a:xfrm>
              <a:off x="1872" y="879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0" name="Rectangle 30"/>
            <p:cNvSpPr>
              <a:spLocks noChangeArrowheads="1"/>
            </p:cNvSpPr>
            <p:nvPr/>
          </p:nvSpPr>
          <p:spPr bwMode="auto">
            <a:xfrm>
              <a:off x="2064" y="879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1" name="Rectangle 31"/>
            <p:cNvSpPr>
              <a:spLocks noChangeArrowheads="1"/>
            </p:cNvSpPr>
            <p:nvPr/>
          </p:nvSpPr>
          <p:spPr bwMode="auto">
            <a:xfrm>
              <a:off x="2160" y="831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2793013" y="3119437"/>
            <a:ext cx="1065213" cy="455612"/>
            <a:chOff x="1680" y="1695"/>
            <a:chExt cx="671" cy="287"/>
          </a:xfrm>
        </p:grpSpPr>
        <p:sp>
          <p:nvSpPr>
            <p:cNvPr id="10273" name="Rectangle 33"/>
            <p:cNvSpPr>
              <a:spLocks noChangeArrowheads="1"/>
            </p:cNvSpPr>
            <p:nvPr/>
          </p:nvSpPr>
          <p:spPr bwMode="auto">
            <a:xfrm>
              <a:off x="1680" y="1743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4" name="Rectangle 34"/>
            <p:cNvSpPr>
              <a:spLocks noChangeArrowheads="1"/>
            </p:cNvSpPr>
            <p:nvPr/>
          </p:nvSpPr>
          <p:spPr bwMode="auto">
            <a:xfrm>
              <a:off x="1872" y="1743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5" name="Rectangle 35"/>
            <p:cNvSpPr>
              <a:spLocks noChangeArrowheads="1"/>
            </p:cNvSpPr>
            <p:nvPr/>
          </p:nvSpPr>
          <p:spPr bwMode="auto">
            <a:xfrm>
              <a:off x="2064" y="1743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76" name="Rectangle 36"/>
            <p:cNvSpPr>
              <a:spLocks noChangeArrowheads="1"/>
            </p:cNvSpPr>
            <p:nvPr/>
          </p:nvSpPr>
          <p:spPr bwMode="auto">
            <a:xfrm>
              <a:off x="2160" y="1695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77" name="Oval 37"/>
          <p:cNvSpPr>
            <a:spLocks noChangeArrowheads="1"/>
          </p:cNvSpPr>
          <p:nvPr/>
        </p:nvSpPr>
        <p:spPr bwMode="auto">
          <a:xfrm>
            <a:off x="2869213" y="2586037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78" name="Line 38"/>
          <p:cNvSpPr>
            <a:spLocks noChangeShapeType="1"/>
          </p:cNvSpPr>
          <p:nvPr/>
        </p:nvSpPr>
        <p:spPr bwMode="auto">
          <a:xfrm>
            <a:off x="2945413" y="2662237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79" name="Oval 39"/>
          <p:cNvSpPr>
            <a:spLocks noChangeArrowheads="1"/>
          </p:cNvSpPr>
          <p:nvPr/>
        </p:nvSpPr>
        <p:spPr bwMode="auto">
          <a:xfrm>
            <a:off x="2869213" y="1900237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80" name="Line 40"/>
          <p:cNvSpPr>
            <a:spLocks noChangeShapeType="1"/>
          </p:cNvSpPr>
          <p:nvPr/>
        </p:nvSpPr>
        <p:spPr bwMode="auto">
          <a:xfrm>
            <a:off x="2945413" y="1976437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81" name="Oval 41"/>
          <p:cNvSpPr>
            <a:spLocks noChangeArrowheads="1"/>
          </p:cNvSpPr>
          <p:nvPr/>
        </p:nvSpPr>
        <p:spPr bwMode="auto">
          <a:xfrm flipV="1">
            <a:off x="3174013" y="3270249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82" name="Line 42"/>
          <p:cNvSpPr>
            <a:spLocks noChangeShapeType="1"/>
          </p:cNvSpPr>
          <p:nvPr/>
        </p:nvSpPr>
        <p:spPr bwMode="auto">
          <a:xfrm flipV="1">
            <a:off x="3250213" y="2811462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83" name="Oval 43"/>
          <p:cNvSpPr>
            <a:spLocks noChangeArrowheads="1"/>
          </p:cNvSpPr>
          <p:nvPr/>
        </p:nvSpPr>
        <p:spPr bwMode="auto">
          <a:xfrm flipV="1">
            <a:off x="3174013" y="2584449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84" name="Line 44"/>
          <p:cNvSpPr>
            <a:spLocks noChangeShapeType="1"/>
          </p:cNvSpPr>
          <p:nvPr/>
        </p:nvSpPr>
        <p:spPr bwMode="auto">
          <a:xfrm flipV="1">
            <a:off x="3250213" y="2125662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85" name="Rectangle 45"/>
          <p:cNvSpPr>
            <a:spLocks noChangeArrowheads="1"/>
          </p:cNvSpPr>
          <p:nvPr/>
        </p:nvSpPr>
        <p:spPr bwMode="auto">
          <a:xfrm>
            <a:off x="5231413" y="2509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86" name="Rectangle 46"/>
          <p:cNvSpPr>
            <a:spLocks noChangeArrowheads="1"/>
          </p:cNvSpPr>
          <p:nvPr/>
        </p:nvSpPr>
        <p:spPr bwMode="auto">
          <a:xfrm>
            <a:off x="5536213" y="2509837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87" name="Rectangle 47"/>
          <p:cNvSpPr>
            <a:spLocks noChangeArrowheads="1"/>
          </p:cNvSpPr>
          <p:nvPr/>
        </p:nvSpPr>
        <p:spPr bwMode="auto">
          <a:xfrm>
            <a:off x="1192813" y="2509837"/>
            <a:ext cx="304800" cy="304800"/>
          </a:xfrm>
          <a:prstGeom prst="rect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48"/>
          <p:cNvGrpSpPr>
            <a:grpSpLocks/>
          </p:cNvGrpSpPr>
          <p:nvPr/>
        </p:nvGrpSpPr>
        <p:grpSpPr bwMode="auto">
          <a:xfrm>
            <a:off x="7365013" y="2433637"/>
            <a:ext cx="1065213" cy="455612"/>
            <a:chOff x="4560" y="1263"/>
            <a:chExt cx="671" cy="287"/>
          </a:xfrm>
        </p:grpSpPr>
        <p:sp>
          <p:nvSpPr>
            <p:cNvPr id="10289" name="Rectangle 49"/>
            <p:cNvSpPr>
              <a:spLocks noChangeArrowheads="1"/>
            </p:cNvSpPr>
            <p:nvPr/>
          </p:nvSpPr>
          <p:spPr bwMode="auto">
            <a:xfrm>
              <a:off x="4560" y="1311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0" name="Rectangle 50"/>
            <p:cNvSpPr>
              <a:spLocks noChangeArrowheads="1"/>
            </p:cNvSpPr>
            <p:nvPr/>
          </p:nvSpPr>
          <p:spPr bwMode="auto">
            <a:xfrm>
              <a:off x="4752" y="1311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1" name="Rectangle 51"/>
            <p:cNvSpPr>
              <a:spLocks noChangeArrowheads="1"/>
            </p:cNvSpPr>
            <p:nvPr/>
          </p:nvSpPr>
          <p:spPr bwMode="auto">
            <a:xfrm>
              <a:off x="4944" y="1311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92" name="Rectangle 52"/>
            <p:cNvSpPr>
              <a:spLocks noChangeArrowheads="1"/>
            </p:cNvSpPr>
            <p:nvPr/>
          </p:nvSpPr>
          <p:spPr bwMode="auto">
            <a:xfrm>
              <a:off x="5040" y="1263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93" name="Oval 53"/>
          <p:cNvSpPr>
            <a:spLocks noChangeArrowheads="1"/>
          </p:cNvSpPr>
          <p:nvPr/>
        </p:nvSpPr>
        <p:spPr bwMode="auto">
          <a:xfrm>
            <a:off x="7441213" y="2586037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94" name="Line 54"/>
          <p:cNvSpPr>
            <a:spLocks noChangeShapeType="1"/>
          </p:cNvSpPr>
          <p:nvPr/>
        </p:nvSpPr>
        <p:spPr bwMode="auto">
          <a:xfrm>
            <a:off x="7517413" y="2662237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95" name="Oval 55"/>
          <p:cNvSpPr>
            <a:spLocks noChangeArrowheads="1"/>
          </p:cNvSpPr>
          <p:nvPr/>
        </p:nvSpPr>
        <p:spPr bwMode="auto">
          <a:xfrm>
            <a:off x="7746013" y="2586037"/>
            <a:ext cx="152400" cy="152400"/>
          </a:xfrm>
          <a:prstGeom prst="ellipse">
            <a:avLst/>
          </a:prstGeom>
          <a:noFill/>
          <a:ln w="2844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96" name="Text Box 56"/>
          <p:cNvSpPr txBox="1">
            <a:spLocks noChangeArrowheads="1"/>
          </p:cNvSpPr>
          <p:nvPr/>
        </p:nvSpPr>
        <p:spPr bwMode="auto">
          <a:xfrm>
            <a:off x="3640738" y="1595437"/>
            <a:ext cx="1382751" cy="426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>
                <a:latin typeface="Courier New" pitchFamily="49" charset="0"/>
                <a:ea typeface="msgothic" charset="0"/>
                <a:cs typeface="msgothic" charset="0"/>
              </a:rPr>
              <a:t>free( )</a:t>
            </a:r>
          </a:p>
        </p:txBody>
      </p:sp>
      <p:sp>
        <p:nvSpPr>
          <p:cNvPr id="10297" name="Oval 57"/>
          <p:cNvSpPr>
            <a:spLocks noChangeArrowheads="1"/>
          </p:cNvSpPr>
          <p:nvPr/>
        </p:nvSpPr>
        <p:spPr bwMode="auto">
          <a:xfrm>
            <a:off x="4621813" y="1747837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98" name="Line 58"/>
          <p:cNvSpPr>
            <a:spLocks noChangeShapeType="1"/>
          </p:cNvSpPr>
          <p:nvPr/>
        </p:nvSpPr>
        <p:spPr bwMode="auto">
          <a:xfrm flipH="1">
            <a:off x="4163026" y="1824037"/>
            <a:ext cx="536575" cy="685800"/>
          </a:xfrm>
          <a:prstGeom prst="line">
            <a:avLst/>
          </a:prstGeom>
          <a:noFill/>
          <a:ln w="5724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27" name="Oval 87"/>
          <p:cNvSpPr>
            <a:spLocks noChangeArrowheads="1"/>
          </p:cNvSpPr>
          <p:nvPr/>
        </p:nvSpPr>
        <p:spPr bwMode="auto">
          <a:xfrm>
            <a:off x="2869213" y="3271837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30" name="Oval 90"/>
          <p:cNvSpPr>
            <a:spLocks noChangeArrowheads="1"/>
          </p:cNvSpPr>
          <p:nvPr/>
        </p:nvSpPr>
        <p:spPr bwMode="auto">
          <a:xfrm flipV="1">
            <a:off x="3174013" y="1898649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31" name="Text Box 91"/>
          <p:cNvSpPr txBox="1">
            <a:spLocks noChangeArrowheads="1"/>
          </p:cNvSpPr>
          <p:nvPr/>
        </p:nvSpPr>
        <p:spPr bwMode="auto">
          <a:xfrm>
            <a:off x="414938" y="2457449"/>
            <a:ext cx="697692" cy="426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latin typeface="Calibri" pitchFamily="34" charset="0"/>
                <a:ea typeface="msgothic" charset="0"/>
                <a:cs typeface="msgothic" charset="0"/>
              </a:rPr>
              <a:t>Root</a:t>
            </a:r>
          </a:p>
        </p:txBody>
      </p:sp>
      <p:sp>
        <p:nvSpPr>
          <p:cNvPr id="10333" name="Text Box 93"/>
          <p:cNvSpPr txBox="1">
            <a:spLocks noChangeArrowheads="1"/>
          </p:cNvSpPr>
          <p:nvPr/>
        </p:nvSpPr>
        <p:spPr bwMode="auto">
          <a:xfrm>
            <a:off x="430813" y="1525711"/>
            <a:ext cx="937949" cy="426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Before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2D533954-12F9-49EF-9CB9-3F3634CB577C}"/>
              </a:ext>
            </a:extLst>
          </p:cNvPr>
          <p:cNvGrpSpPr/>
          <p:nvPr/>
        </p:nvGrpSpPr>
        <p:grpSpPr>
          <a:xfrm>
            <a:off x="378424" y="4712244"/>
            <a:ext cx="8151812" cy="1933105"/>
            <a:chOff x="397476" y="4848695"/>
            <a:chExt cx="8151812" cy="1933105"/>
          </a:xfrm>
        </p:grpSpPr>
        <p:sp>
          <p:nvSpPr>
            <p:cNvPr id="10336" name="Rectangle 96"/>
            <p:cNvSpPr>
              <a:spLocks noChangeArrowheads="1"/>
            </p:cNvSpPr>
            <p:nvPr/>
          </p:nvSpPr>
          <p:spPr bwMode="auto">
            <a:xfrm>
              <a:off x="397476" y="4848695"/>
              <a:ext cx="8151812" cy="193310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" name="Group 2"/>
            <p:cNvGrpSpPr>
              <a:grpSpLocks/>
            </p:cNvGrpSpPr>
            <p:nvPr/>
          </p:nvGrpSpPr>
          <p:grpSpPr bwMode="auto">
            <a:xfrm>
              <a:off x="2793013" y="6324599"/>
              <a:ext cx="1065213" cy="455613"/>
              <a:chOff x="1680" y="3714"/>
              <a:chExt cx="671" cy="287"/>
            </a:xfrm>
          </p:grpSpPr>
          <p:sp>
            <p:nvSpPr>
              <p:cNvPr id="10243" name="Rectangle 3"/>
              <p:cNvSpPr>
                <a:spLocks noChangeArrowheads="1"/>
              </p:cNvSpPr>
              <p:nvPr/>
            </p:nvSpPr>
            <p:spPr bwMode="auto">
              <a:xfrm>
                <a:off x="1680" y="3762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44" name="Rectangle 4"/>
              <p:cNvSpPr>
                <a:spLocks noChangeArrowheads="1"/>
              </p:cNvSpPr>
              <p:nvPr/>
            </p:nvSpPr>
            <p:spPr bwMode="auto">
              <a:xfrm>
                <a:off x="1872" y="3762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45" name="Rectangle 5"/>
              <p:cNvSpPr>
                <a:spLocks noChangeArrowheads="1"/>
              </p:cNvSpPr>
              <p:nvPr/>
            </p:nvSpPr>
            <p:spPr bwMode="auto">
              <a:xfrm>
                <a:off x="2064" y="3762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46" name="Rectangle 6"/>
              <p:cNvSpPr>
                <a:spLocks noChangeArrowheads="1"/>
              </p:cNvSpPr>
              <p:nvPr/>
            </p:nvSpPr>
            <p:spPr bwMode="auto">
              <a:xfrm>
                <a:off x="2160" y="3714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247" name="Line 7"/>
            <p:cNvSpPr>
              <a:spLocks noChangeShapeType="1"/>
            </p:cNvSpPr>
            <p:nvPr/>
          </p:nvSpPr>
          <p:spPr bwMode="auto">
            <a:xfrm flipV="1">
              <a:off x="3250213" y="5332412"/>
              <a:ext cx="1588" cy="1222375"/>
            </a:xfrm>
            <a:prstGeom prst="line">
              <a:avLst/>
            </a:prstGeom>
            <a:noFill/>
            <a:ln w="57240">
              <a:solidFill>
                <a:srgbClr val="C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2793013" y="4952999"/>
              <a:ext cx="1065213" cy="455613"/>
              <a:chOff x="1680" y="2850"/>
              <a:chExt cx="671" cy="287"/>
            </a:xfrm>
          </p:grpSpPr>
          <p:sp>
            <p:nvSpPr>
              <p:cNvPr id="10249" name="Rectangle 9"/>
              <p:cNvSpPr>
                <a:spLocks noChangeArrowheads="1"/>
              </p:cNvSpPr>
              <p:nvPr/>
            </p:nvSpPr>
            <p:spPr bwMode="auto">
              <a:xfrm>
                <a:off x="1680" y="2898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0" name="Rectangle 10"/>
              <p:cNvSpPr>
                <a:spLocks noChangeArrowheads="1"/>
              </p:cNvSpPr>
              <p:nvPr/>
            </p:nvSpPr>
            <p:spPr bwMode="auto">
              <a:xfrm>
                <a:off x="1872" y="2898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1" name="Rectangle 11"/>
              <p:cNvSpPr>
                <a:spLocks noChangeArrowheads="1"/>
              </p:cNvSpPr>
              <p:nvPr/>
            </p:nvSpPr>
            <p:spPr bwMode="auto">
              <a:xfrm>
                <a:off x="2064" y="2898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2" name="Rectangle 12"/>
              <p:cNvSpPr>
                <a:spLocks noChangeArrowheads="1"/>
              </p:cNvSpPr>
              <p:nvPr/>
            </p:nvSpPr>
            <p:spPr bwMode="auto">
              <a:xfrm>
                <a:off x="2160" y="2850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253" name="Line 13"/>
            <p:cNvSpPr>
              <a:spLocks noChangeShapeType="1"/>
            </p:cNvSpPr>
            <p:nvPr/>
          </p:nvSpPr>
          <p:spPr bwMode="auto">
            <a:xfrm>
              <a:off x="2945413" y="5181599"/>
              <a:ext cx="1588" cy="1219200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99" name="Rectangle 59"/>
            <p:cNvSpPr>
              <a:spLocks noChangeArrowheads="1"/>
            </p:cNvSpPr>
            <p:nvPr/>
          </p:nvSpPr>
          <p:spPr bwMode="auto">
            <a:xfrm>
              <a:off x="4012213" y="5714999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0" name="Rectangle 60"/>
            <p:cNvSpPr>
              <a:spLocks noChangeArrowheads="1"/>
            </p:cNvSpPr>
            <p:nvPr/>
          </p:nvSpPr>
          <p:spPr bwMode="auto">
            <a:xfrm>
              <a:off x="4317013" y="5714999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1" name="Rectangle 61"/>
            <p:cNvSpPr>
              <a:spLocks noChangeArrowheads="1"/>
            </p:cNvSpPr>
            <p:nvPr/>
          </p:nvSpPr>
          <p:spPr bwMode="auto">
            <a:xfrm>
              <a:off x="4621813" y="5714999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2" name="Rectangle 62"/>
            <p:cNvSpPr>
              <a:spLocks noChangeArrowheads="1"/>
            </p:cNvSpPr>
            <p:nvPr/>
          </p:nvSpPr>
          <p:spPr bwMode="auto">
            <a:xfrm>
              <a:off x="4926613" y="5714999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3" name="Rectangle 63"/>
            <p:cNvSpPr>
              <a:spLocks noChangeArrowheads="1"/>
            </p:cNvSpPr>
            <p:nvPr/>
          </p:nvSpPr>
          <p:spPr bwMode="auto">
            <a:xfrm>
              <a:off x="5841013" y="5714999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4" name="Rectangle 64"/>
            <p:cNvSpPr>
              <a:spLocks noChangeArrowheads="1"/>
            </p:cNvSpPr>
            <p:nvPr/>
          </p:nvSpPr>
          <p:spPr bwMode="auto">
            <a:xfrm>
              <a:off x="6145813" y="5714999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5" name="Rectangle 65"/>
            <p:cNvSpPr>
              <a:spLocks noChangeArrowheads="1"/>
            </p:cNvSpPr>
            <p:nvPr/>
          </p:nvSpPr>
          <p:spPr bwMode="auto">
            <a:xfrm>
              <a:off x="2793013" y="5714999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6" name="Rectangle 66"/>
            <p:cNvSpPr>
              <a:spLocks noChangeArrowheads="1"/>
            </p:cNvSpPr>
            <p:nvPr/>
          </p:nvSpPr>
          <p:spPr bwMode="auto">
            <a:xfrm>
              <a:off x="3097813" y="5714999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7" name="Rectangle 67"/>
            <p:cNvSpPr>
              <a:spLocks noChangeArrowheads="1"/>
            </p:cNvSpPr>
            <p:nvPr/>
          </p:nvSpPr>
          <p:spPr bwMode="auto">
            <a:xfrm>
              <a:off x="3402613" y="5714999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8" name="Rectangle 68"/>
            <p:cNvSpPr>
              <a:spLocks noChangeArrowheads="1"/>
            </p:cNvSpPr>
            <p:nvPr/>
          </p:nvSpPr>
          <p:spPr bwMode="auto">
            <a:xfrm>
              <a:off x="3707413" y="5714999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09" name="Oval 69"/>
            <p:cNvSpPr>
              <a:spLocks noChangeArrowheads="1"/>
            </p:cNvSpPr>
            <p:nvPr/>
          </p:nvSpPr>
          <p:spPr bwMode="auto">
            <a:xfrm>
              <a:off x="2869213" y="5791199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0" name="Oval 70"/>
            <p:cNvSpPr>
              <a:spLocks noChangeArrowheads="1"/>
            </p:cNvSpPr>
            <p:nvPr/>
          </p:nvSpPr>
          <p:spPr bwMode="auto">
            <a:xfrm>
              <a:off x="2869213" y="5105399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1" name="Oval 71"/>
            <p:cNvSpPr>
              <a:spLocks noChangeArrowheads="1"/>
            </p:cNvSpPr>
            <p:nvPr/>
          </p:nvSpPr>
          <p:spPr bwMode="auto">
            <a:xfrm flipV="1">
              <a:off x="3174013" y="6475412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2" name="Rectangle 72"/>
            <p:cNvSpPr>
              <a:spLocks noChangeArrowheads="1"/>
            </p:cNvSpPr>
            <p:nvPr/>
          </p:nvSpPr>
          <p:spPr bwMode="auto">
            <a:xfrm>
              <a:off x="5536213" y="5714999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3" name="Rectangle 73"/>
            <p:cNvSpPr>
              <a:spLocks noChangeArrowheads="1"/>
            </p:cNvSpPr>
            <p:nvPr/>
          </p:nvSpPr>
          <p:spPr bwMode="auto">
            <a:xfrm>
              <a:off x="1192813" y="5714999"/>
              <a:ext cx="304800" cy="304800"/>
            </a:xfrm>
            <a:prstGeom prst="rect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" name="Group 74"/>
            <p:cNvGrpSpPr>
              <a:grpSpLocks/>
            </p:cNvGrpSpPr>
            <p:nvPr/>
          </p:nvGrpSpPr>
          <p:grpSpPr bwMode="auto">
            <a:xfrm>
              <a:off x="7365013" y="5638799"/>
              <a:ext cx="1065213" cy="455613"/>
              <a:chOff x="4560" y="3282"/>
              <a:chExt cx="671" cy="287"/>
            </a:xfrm>
          </p:grpSpPr>
          <p:sp>
            <p:nvSpPr>
              <p:cNvPr id="10315" name="Rectangle 75"/>
              <p:cNvSpPr>
                <a:spLocks noChangeArrowheads="1"/>
              </p:cNvSpPr>
              <p:nvPr/>
            </p:nvSpPr>
            <p:spPr bwMode="auto">
              <a:xfrm>
                <a:off x="4560" y="3330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6" name="Rectangle 76"/>
              <p:cNvSpPr>
                <a:spLocks noChangeArrowheads="1"/>
              </p:cNvSpPr>
              <p:nvPr/>
            </p:nvSpPr>
            <p:spPr bwMode="auto">
              <a:xfrm>
                <a:off x="4752" y="3330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7" name="Rectangle 77"/>
              <p:cNvSpPr>
                <a:spLocks noChangeArrowheads="1"/>
              </p:cNvSpPr>
              <p:nvPr/>
            </p:nvSpPr>
            <p:spPr bwMode="auto">
              <a:xfrm>
                <a:off x="4944" y="3330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18" name="Rectangle 78"/>
              <p:cNvSpPr>
                <a:spLocks noChangeArrowheads="1"/>
              </p:cNvSpPr>
              <p:nvPr/>
            </p:nvSpPr>
            <p:spPr bwMode="auto">
              <a:xfrm>
                <a:off x="5040" y="3282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319" name="Oval 79"/>
            <p:cNvSpPr>
              <a:spLocks noChangeArrowheads="1"/>
            </p:cNvSpPr>
            <p:nvPr/>
          </p:nvSpPr>
          <p:spPr bwMode="auto">
            <a:xfrm>
              <a:off x="7441213" y="5791199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0" name="Line 80"/>
            <p:cNvSpPr>
              <a:spLocks noChangeShapeType="1"/>
            </p:cNvSpPr>
            <p:nvPr/>
          </p:nvSpPr>
          <p:spPr bwMode="auto">
            <a:xfrm>
              <a:off x="7517413" y="5867399"/>
              <a:ext cx="1588" cy="533400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321" name="Oval 81"/>
            <p:cNvSpPr>
              <a:spLocks noChangeArrowheads="1"/>
            </p:cNvSpPr>
            <p:nvPr/>
          </p:nvSpPr>
          <p:spPr bwMode="auto">
            <a:xfrm>
              <a:off x="7746013" y="5791199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2" name="Line 82"/>
            <p:cNvSpPr>
              <a:spLocks noChangeShapeType="1"/>
            </p:cNvSpPr>
            <p:nvPr/>
          </p:nvSpPr>
          <p:spPr bwMode="auto">
            <a:xfrm>
              <a:off x="1421413" y="5867399"/>
              <a:ext cx="1371600" cy="1588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323" name="Rectangle 83"/>
            <p:cNvSpPr>
              <a:spLocks noChangeArrowheads="1"/>
            </p:cNvSpPr>
            <p:nvPr/>
          </p:nvSpPr>
          <p:spPr bwMode="auto">
            <a:xfrm>
              <a:off x="5231413" y="5714999"/>
              <a:ext cx="304800" cy="304800"/>
            </a:xfrm>
            <a:prstGeom prst="rect">
              <a:avLst/>
            </a:prstGeom>
            <a:solidFill>
              <a:srgbClr val="C0C0C0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4" name="Oval 84"/>
            <p:cNvSpPr>
              <a:spLocks noChangeArrowheads="1"/>
            </p:cNvSpPr>
            <p:nvPr/>
          </p:nvSpPr>
          <p:spPr bwMode="auto">
            <a:xfrm>
              <a:off x="3174013" y="5791199"/>
              <a:ext cx="152400" cy="152400"/>
            </a:xfrm>
            <a:prstGeom prst="ellipse">
              <a:avLst/>
            </a:prstGeom>
            <a:noFill/>
            <a:ln w="28440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5" name="Freeform 85"/>
            <p:cNvSpPr>
              <a:spLocks/>
            </p:cNvSpPr>
            <p:nvPr/>
          </p:nvSpPr>
          <p:spPr bwMode="auto">
            <a:xfrm>
              <a:off x="2945413" y="5521324"/>
              <a:ext cx="4419600" cy="346075"/>
            </a:xfrm>
            <a:custGeom>
              <a:avLst/>
              <a:gdLst/>
              <a:ahLst/>
              <a:cxnLst>
                <a:cxn ang="0">
                  <a:pos x="0" y="218"/>
                </a:cxn>
                <a:cxn ang="0">
                  <a:pos x="472" y="31"/>
                </a:cxn>
                <a:cxn ang="0">
                  <a:pos x="2109" y="31"/>
                </a:cxn>
                <a:cxn ang="0">
                  <a:pos x="2784" y="218"/>
                </a:cxn>
              </a:cxnLst>
              <a:rect l="0" t="0" r="r" b="b"/>
              <a:pathLst>
                <a:path w="2784" h="218">
                  <a:moveTo>
                    <a:pt x="0" y="218"/>
                  </a:moveTo>
                  <a:cubicBezTo>
                    <a:pt x="79" y="187"/>
                    <a:pt x="121" y="62"/>
                    <a:pt x="472" y="31"/>
                  </a:cubicBezTo>
                  <a:cubicBezTo>
                    <a:pt x="823" y="0"/>
                    <a:pt x="1724" y="0"/>
                    <a:pt x="2109" y="31"/>
                  </a:cubicBezTo>
                  <a:cubicBezTo>
                    <a:pt x="2494" y="62"/>
                    <a:pt x="2644" y="179"/>
                    <a:pt x="2784" y="218"/>
                  </a:cubicBezTo>
                </a:path>
              </a:pathLst>
            </a:custGeom>
            <a:noFill/>
            <a:ln w="57240">
              <a:solidFill>
                <a:srgbClr val="00B05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6" name="Freeform 86"/>
            <p:cNvSpPr>
              <a:spLocks/>
            </p:cNvSpPr>
            <p:nvPr/>
          </p:nvSpPr>
          <p:spPr bwMode="auto">
            <a:xfrm>
              <a:off x="5091713" y="5867399"/>
              <a:ext cx="2730500" cy="395288"/>
            </a:xfrm>
            <a:custGeom>
              <a:avLst/>
              <a:gdLst/>
              <a:ahLst/>
              <a:cxnLst>
                <a:cxn ang="0">
                  <a:pos x="1720" y="0"/>
                </a:cxn>
                <a:cxn ang="0">
                  <a:pos x="1389" y="212"/>
                </a:cxn>
                <a:cxn ang="0">
                  <a:pos x="262" y="222"/>
                </a:cxn>
                <a:cxn ang="0">
                  <a:pos x="0" y="101"/>
                </a:cxn>
              </a:cxnLst>
              <a:rect l="0" t="0" r="r" b="b"/>
              <a:pathLst>
                <a:path w="1720" h="249">
                  <a:moveTo>
                    <a:pt x="1720" y="0"/>
                  </a:moveTo>
                  <a:cubicBezTo>
                    <a:pt x="1665" y="35"/>
                    <a:pt x="1632" y="175"/>
                    <a:pt x="1389" y="212"/>
                  </a:cubicBezTo>
                  <a:cubicBezTo>
                    <a:pt x="1146" y="249"/>
                    <a:pt x="493" y="240"/>
                    <a:pt x="262" y="222"/>
                  </a:cubicBezTo>
                  <a:cubicBezTo>
                    <a:pt x="31" y="204"/>
                    <a:pt x="55" y="126"/>
                    <a:pt x="0" y="101"/>
                  </a:cubicBezTo>
                </a:path>
              </a:pathLst>
            </a:custGeom>
            <a:noFill/>
            <a:ln w="57240">
              <a:solidFill>
                <a:srgbClr val="C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8" name="Oval 88"/>
            <p:cNvSpPr>
              <a:spLocks noChangeArrowheads="1"/>
            </p:cNvSpPr>
            <p:nvPr/>
          </p:nvSpPr>
          <p:spPr bwMode="auto">
            <a:xfrm>
              <a:off x="2869213" y="6476999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9" name="Oval 89"/>
            <p:cNvSpPr>
              <a:spLocks noChangeArrowheads="1"/>
            </p:cNvSpPr>
            <p:nvPr/>
          </p:nvSpPr>
          <p:spPr bwMode="auto">
            <a:xfrm flipV="1">
              <a:off x="3174013" y="5103812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32" name="Text Box 92"/>
            <p:cNvSpPr txBox="1">
              <a:spLocks noChangeArrowheads="1"/>
            </p:cNvSpPr>
            <p:nvPr/>
          </p:nvSpPr>
          <p:spPr bwMode="auto">
            <a:xfrm>
              <a:off x="430813" y="5664199"/>
              <a:ext cx="697692" cy="4269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9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b="1" dirty="0">
                  <a:latin typeface="Calibri" pitchFamily="34" charset="0"/>
                  <a:ea typeface="msgothic" charset="0"/>
                  <a:cs typeface="msgothic" charset="0"/>
                </a:rPr>
                <a:t>Root</a:t>
              </a:r>
            </a:p>
          </p:txBody>
        </p:sp>
        <p:sp>
          <p:nvSpPr>
            <p:cNvPr id="10334" name="Text Box 94"/>
            <p:cNvSpPr txBox="1">
              <a:spLocks noChangeArrowheads="1"/>
            </p:cNvSpPr>
            <p:nvPr/>
          </p:nvSpPr>
          <p:spPr bwMode="auto">
            <a:xfrm>
              <a:off x="439564" y="4890355"/>
              <a:ext cx="744178" cy="4269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9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b="1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msgothic" charset="0"/>
                  <a:cs typeface="msgothic" charset="0"/>
                </a:rPr>
                <a:t>After</a:t>
              </a:r>
            </a:p>
          </p:txBody>
        </p:sp>
      </p:grpSp>
      <p:sp>
        <p:nvSpPr>
          <p:cNvPr id="98" name="TextBox 97"/>
          <p:cNvSpPr txBox="1"/>
          <p:nvPr/>
        </p:nvSpPr>
        <p:spPr>
          <a:xfrm>
            <a:off x="6676350" y="1176422"/>
            <a:ext cx="1985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conceptual graphic</a:t>
            </a:r>
          </a:p>
        </p:txBody>
      </p:sp>
      <p:sp>
        <p:nvSpPr>
          <p:cNvPr id="99" name="Rectangle 5">
            <a:extLst>
              <a:ext uri="{FF2B5EF4-FFF2-40B4-BE49-F238E27FC236}">
                <a16:creationId xmlns:a16="http://schemas.microsoft.com/office/drawing/2014/main" xmlns="" id="{0A99BDE4-0F59-4624-9510-1ED753A49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0313" y="1026712"/>
            <a:ext cx="1143000" cy="3048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0" name="Rectangle 6">
            <a:extLst>
              <a:ext uri="{FF2B5EF4-FFF2-40B4-BE49-F238E27FC236}">
                <a16:creationId xmlns:a16="http://schemas.microsoft.com/office/drawing/2014/main" xmlns="" id="{4CAFA6EA-303D-42A9-88E2-3538DF3D0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027347"/>
            <a:ext cx="1143000" cy="3048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A</a:t>
            </a:r>
            <a:r>
              <a:rPr lang="en-GB" sz="1600" b="1" dirty="0">
                <a:latin typeface="Calibri" pitchFamily="34" charset="0"/>
              </a:rPr>
              <a:t>llocated</a:t>
            </a:r>
          </a:p>
        </p:txBody>
      </p:sp>
      <p:sp>
        <p:nvSpPr>
          <p:cNvPr id="101" name="Rectangle 7">
            <a:extLst>
              <a:ext uri="{FF2B5EF4-FFF2-40B4-BE49-F238E27FC236}">
                <a16:creationId xmlns:a16="http://schemas.microsoft.com/office/drawing/2014/main" xmlns="" id="{7CF85211-538E-42C7-A3ED-0BC9CCF54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025525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F</a:t>
            </a:r>
            <a:r>
              <a:rPr lang="en-GB" sz="1600" b="1" dirty="0">
                <a:latin typeface="Calibri" pitchFamily="34" charset="0"/>
              </a:rPr>
              <a:t>ree</a:t>
            </a:r>
          </a:p>
        </p:txBody>
      </p:sp>
    </p:spTree>
    <p:extLst>
      <p:ext uri="{BB962C8B-B14F-4D97-AF65-F5344CB8AC3E}">
        <p14:creationId xmlns:p14="http://schemas.microsoft.com/office/powerpoint/2010/main" val="318152927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9" name="Rectangle 131"/>
          <p:cNvSpPr>
            <a:spLocks noChangeArrowheads="1"/>
          </p:cNvSpPr>
          <p:nvPr/>
        </p:nvSpPr>
        <p:spPr bwMode="auto">
          <a:xfrm>
            <a:off x="405329" y="1527175"/>
            <a:ext cx="8151812" cy="21304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289" name="Rectangle 1"/>
          <p:cNvSpPr>
            <a:spLocks noChangeArrowheads="1"/>
          </p:cNvSpPr>
          <p:nvPr/>
        </p:nvSpPr>
        <p:spPr bwMode="auto">
          <a:xfrm>
            <a:off x="4020066" y="2473325"/>
            <a:ext cx="1219200" cy="457200"/>
          </a:xfrm>
          <a:prstGeom prst="rect">
            <a:avLst/>
          </a:prstGeom>
          <a:solidFill>
            <a:srgbClr val="F6F5B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08" name="Freeform 20"/>
          <p:cNvSpPr>
            <a:spLocks/>
          </p:cNvSpPr>
          <p:nvPr/>
        </p:nvSpPr>
        <p:spPr bwMode="auto">
          <a:xfrm>
            <a:off x="1497529" y="2312987"/>
            <a:ext cx="5862637" cy="388938"/>
          </a:xfrm>
          <a:custGeom>
            <a:avLst/>
            <a:gdLst/>
            <a:ahLst/>
            <a:cxnLst>
              <a:cxn ang="0">
                <a:pos x="0" y="245"/>
              </a:cxn>
              <a:cxn ang="0">
                <a:pos x="677" y="33"/>
              </a:cxn>
              <a:cxn ang="0">
                <a:pos x="3057" y="48"/>
              </a:cxn>
              <a:cxn ang="0">
                <a:pos x="3693" y="245"/>
              </a:cxn>
            </a:cxnLst>
            <a:rect l="0" t="0" r="r" b="b"/>
            <a:pathLst>
              <a:path w="3693" h="245">
                <a:moveTo>
                  <a:pt x="0" y="245"/>
                </a:moveTo>
                <a:cubicBezTo>
                  <a:pt x="113" y="210"/>
                  <a:pt x="168" y="66"/>
                  <a:pt x="677" y="33"/>
                </a:cubicBezTo>
                <a:cubicBezTo>
                  <a:pt x="1186" y="0"/>
                  <a:pt x="2554" y="13"/>
                  <a:pt x="3057" y="48"/>
                </a:cubicBezTo>
                <a:cubicBezTo>
                  <a:pt x="3560" y="83"/>
                  <a:pt x="3560" y="204"/>
                  <a:pt x="3693" y="245"/>
                </a:cubicBezTo>
              </a:path>
            </a:pathLst>
          </a:custGeom>
          <a:noFill/>
          <a:ln w="57240">
            <a:solidFill>
              <a:srgbClr val="00B050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360362"/>
            <a:ext cx="8716962" cy="782638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Freeing With a LIFO Policy (Case 4)</a:t>
            </a:r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>
          <a:xfrm>
            <a:off x="304800" y="3777617"/>
            <a:ext cx="8472487" cy="1131888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Splice out adjacent predecessor and successor blocks, coalesce all 3 blocks, and insert the new block at the root of the list</a:t>
            </a:r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4020066" y="2549525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2" name="Rectangle 24"/>
          <p:cNvSpPr>
            <a:spLocks noChangeArrowheads="1"/>
          </p:cNvSpPr>
          <p:nvPr/>
        </p:nvSpPr>
        <p:spPr bwMode="auto">
          <a:xfrm>
            <a:off x="4324866" y="2549525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3" name="Rectangle 25"/>
          <p:cNvSpPr>
            <a:spLocks noChangeArrowheads="1"/>
          </p:cNvSpPr>
          <p:nvPr/>
        </p:nvSpPr>
        <p:spPr bwMode="auto">
          <a:xfrm>
            <a:off x="4629666" y="2549525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4" name="Rectangle 26"/>
          <p:cNvSpPr>
            <a:spLocks noChangeArrowheads="1"/>
          </p:cNvSpPr>
          <p:nvPr/>
        </p:nvSpPr>
        <p:spPr bwMode="auto">
          <a:xfrm>
            <a:off x="4934466" y="2549525"/>
            <a:ext cx="304800" cy="304800"/>
          </a:xfrm>
          <a:prstGeom prst="rect">
            <a:avLst/>
          </a:prstGeom>
          <a:solidFill>
            <a:srgbClr val="C0C0C0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5" name="Rectangle 27"/>
          <p:cNvSpPr>
            <a:spLocks noChangeArrowheads="1"/>
          </p:cNvSpPr>
          <p:nvPr/>
        </p:nvSpPr>
        <p:spPr bwMode="auto">
          <a:xfrm>
            <a:off x="5848866" y="2549525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6" name="Rectangle 28"/>
          <p:cNvSpPr>
            <a:spLocks noChangeArrowheads="1"/>
          </p:cNvSpPr>
          <p:nvPr/>
        </p:nvSpPr>
        <p:spPr bwMode="auto">
          <a:xfrm>
            <a:off x="6153666" y="2549525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7" name="Rectangle 29"/>
          <p:cNvSpPr>
            <a:spLocks noChangeArrowheads="1"/>
          </p:cNvSpPr>
          <p:nvPr/>
        </p:nvSpPr>
        <p:spPr bwMode="auto">
          <a:xfrm>
            <a:off x="2800866" y="2549525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8" name="Rectangle 30"/>
          <p:cNvSpPr>
            <a:spLocks noChangeArrowheads="1"/>
          </p:cNvSpPr>
          <p:nvPr/>
        </p:nvSpPr>
        <p:spPr bwMode="auto">
          <a:xfrm>
            <a:off x="3105666" y="2549525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19" name="Rectangle 31"/>
          <p:cNvSpPr>
            <a:spLocks noChangeArrowheads="1"/>
          </p:cNvSpPr>
          <p:nvPr/>
        </p:nvSpPr>
        <p:spPr bwMode="auto">
          <a:xfrm>
            <a:off x="3410466" y="2549525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20" name="Rectangle 32"/>
          <p:cNvSpPr>
            <a:spLocks noChangeArrowheads="1"/>
          </p:cNvSpPr>
          <p:nvPr/>
        </p:nvSpPr>
        <p:spPr bwMode="auto">
          <a:xfrm>
            <a:off x="3715266" y="2549525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2800866" y="1787525"/>
            <a:ext cx="1065213" cy="455612"/>
            <a:chOff x="1680" y="853"/>
            <a:chExt cx="671" cy="287"/>
          </a:xfrm>
        </p:grpSpPr>
        <p:sp>
          <p:nvSpPr>
            <p:cNvPr id="12322" name="Rectangle 34"/>
            <p:cNvSpPr>
              <a:spLocks noChangeArrowheads="1"/>
            </p:cNvSpPr>
            <p:nvPr/>
          </p:nvSpPr>
          <p:spPr bwMode="auto">
            <a:xfrm>
              <a:off x="1680" y="901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3" name="Rectangle 35"/>
            <p:cNvSpPr>
              <a:spLocks noChangeArrowheads="1"/>
            </p:cNvSpPr>
            <p:nvPr/>
          </p:nvSpPr>
          <p:spPr bwMode="auto">
            <a:xfrm>
              <a:off x="1872" y="901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4" name="Rectangle 36"/>
            <p:cNvSpPr>
              <a:spLocks noChangeArrowheads="1"/>
            </p:cNvSpPr>
            <p:nvPr/>
          </p:nvSpPr>
          <p:spPr bwMode="auto">
            <a:xfrm>
              <a:off x="2064" y="901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5" name="Rectangle 37"/>
            <p:cNvSpPr>
              <a:spLocks noChangeArrowheads="1"/>
            </p:cNvSpPr>
            <p:nvPr/>
          </p:nvSpPr>
          <p:spPr bwMode="auto">
            <a:xfrm>
              <a:off x="2160" y="853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38"/>
          <p:cNvGrpSpPr>
            <a:grpSpLocks/>
          </p:cNvGrpSpPr>
          <p:nvPr/>
        </p:nvGrpSpPr>
        <p:grpSpPr bwMode="auto">
          <a:xfrm>
            <a:off x="2800866" y="3159125"/>
            <a:ext cx="1065213" cy="455612"/>
            <a:chOff x="1680" y="1717"/>
            <a:chExt cx="671" cy="287"/>
          </a:xfrm>
        </p:grpSpPr>
        <p:sp>
          <p:nvSpPr>
            <p:cNvPr id="12327" name="Rectangle 39"/>
            <p:cNvSpPr>
              <a:spLocks noChangeArrowheads="1"/>
            </p:cNvSpPr>
            <p:nvPr/>
          </p:nvSpPr>
          <p:spPr bwMode="auto">
            <a:xfrm>
              <a:off x="1680" y="1765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8" name="Rectangle 40"/>
            <p:cNvSpPr>
              <a:spLocks noChangeArrowheads="1"/>
            </p:cNvSpPr>
            <p:nvPr/>
          </p:nvSpPr>
          <p:spPr bwMode="auto">
            <a:xfrm>
              <a:off x="1872" y="1765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9" name="Rectangle 41"/>
            <p:cNvSpPr>
              <a:spLocks noChangeArrowheads="1"/>
            </p:cNvSpPr>
            <p:nvPr/>
          </p:nvSpPr>
          <p:spPr bwMode="auto">
            <a:xfrm>
              <a:off x="2064" y="1765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30" name="Rectangle 42"/>
            <p:cNvSpPr>
              <a:spLocks noChangeArrowheads="1"/>
            </p:cNvSpPr>
            <p:nvPr/>
          </p:nvSpPr>
          <p:spPr bwMode="auto">
            <a:xfrm>
              <a:off x="2160" y="1717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331" name="Oval 43"/>
          <p:cNvSpPr>
            <a:spLocks noChangeArrowheads="1"/>
          </p:cNvSpPr>
          <p:nvPr/>
        </p:nvSpPr>
        <p:spPr bwMode="auto">
          <a:xfrm>
            <a:off x="2877066" y="2625725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32" name="Line 44"/>
          <p:cNvSpPr>
            <a:spLocks noChangeShapeType="1"/>
          </p:cNvSpPr>
          <p:nvPr/>
        </p:nvSpPr>
        <p:spPr bwMode="auto">
          <a:xfrm>
            <a:off x="2953266" y="2701925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33" name="Oval 45"/>
          <p:cNvSpPr>
            <a:spLocks noChangeArrowheads="1"/>
          </p:cNvSpPr>
          <p:nvPr/>
        </p:nvSpPr>
        <p:spPr bwMode="auto">
          <a:xfrm>
            <a:off x="2877066" y="1939925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34" name="Line 46"/>
          <p:cNvSpPr>
            <a:spLocks noChangeShapeType="1"/>
          </p:cNvSpPr>
          <p:nvPr/>
        </p:nvSpPr>
        <p:spPr bwMode="auto">
          <a:xfrm>
            <a:off x="2953266" y="2016125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35" name="Oval 47"/>
          <p:cNvSpPr>
            <a:spLocks noChangeArrowheads="1"/>
          </p:cNvSpPr>
          <p:nvPr/>
        </p:nvSpPr>
        <p:spPr bwMode="auto">
          <a:xfrm flipV="1">
            <a:off x="3181866" y="3311525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36" name="Line 48"/>
          <p:cNvSpPr>
            <a:spLocks noChangeShapeType="1"/>
          </p:cNvSpPr>
          <p:nvPr/>
        </p:nvSpPr>
        <p:spPr bwMode="auto">
          <a:xfrm flipV="1">
            <a:off x="3258066" y="2852737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37" name="Oval 49"/>
          <p:cNvSpPr>
            <a:spLocks noChangeArrowheads="1"/>
          </p:cNvSpPr>
          <p:nvPr/>
        </p:nvSpPr>
        <p:spPr bwMode="auto">
          <a:xfrm flipV="1">
            <a:off x="3181866" y="2625725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38" name="Line 50"/>
          <p:cNvSpPr>
            <a:spLocks noChangeShapeType="1"/>
          </p:cNvSpPr>
          <p:nvPr/>
        </p:nvSpPr>
        <p:spPr bwMode="auto">
          <a:xfrm flipV="1">
            <a:off x="3258066" y="2166937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39" name="Rectangle 51"/>
          <p:cNvSpPr>
            <a:spLocks noChangeArrowheads="1"/>
          </p:cNvSpPr>
          <p:nvPr/>
        </p:nvSpPr>
        <p:spPr bwMode="auto">
          <a:xfrm>
            <a:off x="5239266" y="2549525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40" name="Rectangle 52"/>
          <p:cNvSpPr>
            <a:spLocks noChangeArrowheads="1"/>
          </p:cNvSpPr>
          <p:nvPr/>
        </p:nvSpPr>
        <p:spPr bwMode="auto">
          <a:xfrm>
            <a:off x="5544066" y="2549525"/>
            <a:ext cx="304800" cy="304800"/>
          </a:xfrm>
          <a:prstGeom prst="rect">
            <a:avLst/>
          </a:prstGeom>
          <a:solidFill>
            <a:srgbClr val="FFFFF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53"/>
          <p:cNvGrpSpPr>
            <a:grpSpLocks/>
          </p:cNvGrpSpPr>
          <p:nvPr/>
        </p:nvGrpSpPr>
        <p:grpSpPr bwMode="auto">
          <a:xfrm>
            <a:off x="5239266" y="1787525"/>
            <a:ext cx="1065213" cy="455612"/>
            <a:chOff x="3216" y="853"/>
            <a:chExt cx="671" cy="287"/>
          </a:xfrm>
        </p:grpSpPr>
        <p:sp>
          <p:nvSpPr>
            <p:cNvPr id="12342" name="Rectangle 54"/>
            <p:cNvSpPr>
              <a:spLocks noChangeArrowheads="1"/>
            </p:cNvSpPr>
            <p:nvPr/>
          </p:nvSpPr>
          <p:spPr bwMode="auto">
            <a:xfrm>
              <a:off x="3216" y="901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3" name="Rectangle 55"/>
            <p:cNvSpPr>
              <a:spLocks noChangeArrowheads="1"/>
            </p:cNvSpPr>
            <p:nvPr/>
          </p:nvSpPr>
          <p:spPr bwMode="auto">
            <a:xfrm>
              <a:off x="3408" y="901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4" name="Rectangle 56"/>
            <p:cNvSpPr>
              <a:spLocks noChangeArrowheads="1"/>
            </p:cNvSpPr>
            <p:nvPr/>
          </p:nvSpPr>
          <p:spPr bwMode="auto">
            <a:xfrm>
              <a:off x="3600" y="901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5" name="Rectangle 57"/>
            <p:cNvSpPr>
              <a:spLocks noChangeArrowheads="1"/>
            </p:cNvSpPr>
            <p:nvPr/>
          </p:nvSpPr>
          <p:spPr bwMode="auto">
            <a:xfrm>
              <a:off x="3696" y="853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5239266" y="3159125"/>
            <a:ext cx="1065213" cy="455612"/>
            <a:chOff x="3216" y="1717"/>
            <a:chExt cx="671" cy="287"/>
          </a:xfrm>
        </p:grpSpPr>
        <p:sp>
          <p:nvSpPr>
            <p:cNvPr id="12347" name="Rectangle 59"/>
            <p:cNvSpPr>
              <a:spLocks noChangeArrowheads="1"/>
            </p:cNvSpPr>
            <p:nvPr/>
          </p:nvSpPr>
          <p:spPr bwMode="auto">
            <a:xfrm>
              <a:off x="3216" y="1765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8" name="Rectangle 60"/>
            <p:cNvSpPr>
              <a:spLocks noChangeArrowheads="1"/>
            </p:cNvSpPr>
            <p:nvPr/>
          </p:nvSpPr>
          <p:spPr bwMode="auto">
            <a:xfrm>
              <a:off x="3408" y="1765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49" name="Rectangle 61"/>
            <p:cNvSpPr>
              <a:spLocks noChangeArrowheads="1"/>
            </p:cNvSpPr>
            <p:nvPr/>
          </p:nvSpPr>
          <p:spPr bwMode="auto">
            <a:xfrm>
              <a:off x="3600" y="1765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50" name="Rectangle 62"/>
            <p:cNvSpPr>
              <a:spLocks noChangeArrowheads="1"/>
            </p:cNvSpPr>
            <p:nvPr/>
          </p:nvSpPr>
          <p:spPr bwMode="auto">
            <a:xfrm>
              <a:off x="3696" y="1717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351" name="Oval 63"/>
          <p:cNvSpPr>
            <a:spLocks noChangeArrowheads="1"/>
          </p:cNvSpPr>
          <p:nvPr/>
        </p:nvSpPr>
        <p:spPr bwMode="auto">
          <a:xfrm>
            <a:off x="5315466" y="2625725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52" name="Line 64"/>
          <p:cNvSpPr>
            <a:spLocks noChangeShapeType="1"/>
          </p:cNvSpPr>
          <p:nvPr/>
        </p:nvSpPr>
        <p:spPr bwMode="auto">
          <a:xfrm>
            <a:off x="5391666" y="2701925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53" name="Oval 65"/>
          <p:cNvSpPr>
            <a:spLocks noChangeArrowheads="1"/>
          </p:cNvSpPr>
          <p:nvPr/>
        </p:nvSpPr>
        <p:spPr bwMode="auto">
          <a:xfrm>
            <a:off x="5315466" y="1939925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54" name="Line 66"/>
          <p:cNvSpPr>
            <a:spLocks noChangeShapeType="1"/>
          </p:cNvSpPr>
          <p:nvPr/>
        </p:nvSpPr>
        <p:spPr bwMode="auto">
          <a:xfrm>
            <a:off x="5391666" y="2016125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55" name="Oval 67"/>
          <p:cNvSpPr>
            <a:spLocks noChangeArrowheads="1"/>
          </p:cNvSpPr>
          <p:nvPr/>
        </p:nvSpPr>
        <p:spPr bwMode="auto">
          <a:xfrm flipV="1">
            <a:off x="5620266" y="3311525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56" name="Line 68"/>
          <p:cNvSpPr>
            <a:spLocks noChangeShapeType="1"/>
          </p:cNvSpPr>
          <p:nvPr/>
        </p:nvSpPr>
        <p:spPr bwMode="auto">
          <a:xfrm flipV="1">
            <a:off x="5696466" y="2852737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57" name="Oval 69"/>
          <p:cNvSpPr>
            <a:spLocks noChangeArrowheads="1"/>
          </p:cNvSpPr>
          <p:nvPr/>
        </p:nvSpPr>
        <p:spPr bwMode="auto">
          <a:xfrm flipV="1">
            <a:off x="5620266" y="2625725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58" name="Line 70"/>
          <p:cNvSpPr>
            <a:spLocks noChangeShapeType="1"/>
          </p:cNvSpPr>
          <p:nvPr/>
        </p:nvSpPr>
        <p:spPr bwMode="auto">
          <a:xfrm flipV="1">
            <a:off x="5696466" y="2166937"/>
            <a:ext cx="1588" cy="536575"/>
          </a:xfrm>
          <a:prstGeom prst="line">
            <a:avLst/>
          </a:prstGeom>
          <a:noFill/>
          <a:ln w="57240">
            <a:solidFill>
              <a:srgbClr val="C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59" name="Rectangle 71"/>
          <p:cNvSpPr>
            <a:spLocks noChangeArrowheads="1"/>
          </p:cNvSpPr>
          <p:nvPr/>
        </p:nvSpPr>
        <p:spPr bwMode="auto">
          <a:xfrm>
            <a:off x="1200666" y="2549525"/>
            <a:ext cx="304800" cy="304800"/>
          </a:xfrm>
          <a:prstGeom prst="rect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72"/>
          <p:cNvGrpSpPr>
            <a:grpSpLocks/>
          </p:cNvGrpSpPr>
          <p:nvPr/>
        </p:nvGrpSpPr>
        <p:grpSpPr bwMode="auto">
          <a:xfrm>
            <a:off x="7372866" y="2473325"/>
            <a:ext cx="1065213" cy="455612"/>
            <a:chOff x="4560" y="1285"/>
            <a:chExt cx="671" cy="287"/>
          </a:xfrm>
        </p:grpSpPr>
        <p:sp>
          <p:nvSpPr>
            <p:cNvPr id="12361" name="Rectangle 73"/>
            <p:cNvSpPr>
              <a:spLocks noChangeArrowheads="1"/>
            </p:cNvSpPr>
            <p:nvPr/>
          </p:nvSpPr>
          <p:spPr bwMode="auto">
            <a:xfrm>
              <a:off x="4560" y="1333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62" name="Rectangle 74"/>
            <p:cNvSpPr>
              <a:spLocks noChangeArrowheads="1"/>
            </p:cNvSpPr>
            <p:nvPr/>
          </p:nvSpPr>
          <p:spPr bwMode="auto">
            <a:xfrm>
              <a:off x="4752" y="1333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63" name="Rectangle 75"/>
            <p:cNvSpPr>
              <a:spLocks noChangeArrowheads="1"/>
            </p:cNvSpPr>
            <p:nvPr/>
          </p:nvSpPr>
          <p:spPr bwMode="auto">
            <a:xfrm>
              <a:off x="4944" y="1333"/>
              <a:ext cx="192" cy="192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64" name="Rectangle 76"/>
            <p:cNvSpPr>
              <a:spLocks noChangeArrowheads="1"/>
            </p:cNvSpPr>
            <p:nvPr/>
          </p:nvSpPr>
          <p:spPr bwMode="auto">
            <a:xfrm>
              <a:off x="5040" y="1285"/>
              <a:ext cx="192" cy="28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365" name="Oval 77"/>
          <p:cNvSpPr>
            <a:spLocks noChangeArrowheads="1"/>
          </p:cNvSpPr>
          <p:nvPr/>
        </p:nvSpPr>
        <p:spPr bwMode="auto">
          <a:xfrm>
            <a:off x="7449066" y="2625725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66" name="Line 78"/>
          <p:cNvSpPr>
            <a:spLocks noChangeShapeType="1"/>
          </p:cNvSpPr>
          <p:nvPr/>
        </p:nvSpPr>
        <p:spPr bwMode="auto">
          <a:xfrm>
            <a:off x="7525266" y="2701925"/>
            <a:ext cx="1588" cy="533400"/>
          </a:xfrm>
          <a:prstGeom prst="line">
            <a:avLst/>
          </a:prstGeom>
          <a:noFill/>
          <a:ln w="5724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367" name="Oval 79"/>
          <p:cNvSpPr>
            <a:spLocks noChangeArrowheads="1"/>
          </p:cNvSpPr>
          <p:nvPr/>
        </p:nvSpPr>
        <p:spPr bwMode="auto">
          <a:xfrm>
            <a:off x="7753866" y="2625725"/>
            <a:ext cx="152400" cy="152400"/>
          </a:xfrm>
          <a:prstGeom prst="ellipse">
            <a:avLst/>
          </a:prstGeom>
          <a:noFill/>
          <a:ln w="2844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68" name="Text Box 80"/>
          <p:cNvSpPr txBox="1">
            <a:spLocks noChangeArrowheads="1"/>
          </p:cNvSpPr>
          <p:nvPr/>
        </p:nvSpPr>
        <p:spPr bwMode="auto">
          <a:xfrm>
            <a:off x="3648591" y="1635125"/>
            <a:ext cx="1382751" cy="426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>
                <a:latin typeface="Courier New" pitchFamily="49" charset="0"/>
                <a:ea typeface="msgothic" charset="0"/>
                <a:cs typeface="msgothic" charset="0"/>
              </a:rPr>
              <a:t>free( )</a:t>
            </a:r>
          </a:p>
        </p:txBody>
      </p:sp>
      <p:sp>
        <p:nvSpPr>
          <p:cNvPr id="12369" name="Oval 81"/>
          <p:cNvSpPr>
            <a:spLocks noChangeArrowheads="1"/>
          </p:cNvSpPr>
          <p:nvPr/>
        </p:nvSpPr>
        <p:spPr bwMode="auto">
          <a:xfrm>
            <a:off x="4629666" y="1787525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370" name="Line 82"/>
          <p:cNvSpPr>
            <a:spLocks noChangeShapeType="1"/>
          </p:cNvSpPr>
          <p:nvPr/>
        </p:nvSpPr>
        <p:spPr bwMode="auto">
          <a:xfrm flipH="1">
            <a:off x="4170879" y="1863725"/>
            <a:ext cx="536575" cy="685800"/>
          </a:xfrm>
          <a:prstGeom prst="line">
            <a:avLst/>
          </a:prstGeom>
          <a:noFill/>
          <a:ln w="5724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407" name="Oval 119"/>
          <p:cNvSpPr>
            <a:spLocks noChangeArrowheads="1"/>
          </p:cNvSpPr>
          <p:nvPr/>
        </p:nvSpPr>
        <p:spPr bwMode="auto">
          <a:xfrm>
            <a:off x="5315466" y="3311525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408" name="Oval 120"/>
          <p:cNvSpPr>
            <a:spLocks noChangeArrowheads="1"/>
          </p:cNvSpPr>
          <p:nvPr/>
        </p:nvSpPr>
        <p:spPr bwMode="auto">
          <a:xfrm>
            <a:off x="2877066" y="3311525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412" name="Oval 124"/>
          <p:cNvSpPr>
            <a:spLocks noChangeArrowheads="1"/>
          </p:cNvSpPr>
          <p:nvPr/>
        </p:nvSpPr>
        <p:spPr bwMode="auto">
          <a:xfrm flipV="1">
            <a:off x="5620266" y="1939925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414" name="Oval 126"/>
          <p:cNvSpPr>
            <a:spLocks noChangeArrowheads="1"/>
          </p:cNvSpPr>
          <p:nvPr/>
        </p:nvSpPr>
        <p:spPr bwMode="auto">
          <a:xfrm flipV="1">
            <a:off x="3181866" y="1939925"/>
            <a:ext cx="152400" cy="152400"/>
          </a:xfrm>
          <a:prstGeom prst="ellipse">
            <a:avLst/>
          </a:prstGeom>
          <a:solidFill>
            <a:srgbClr val="C00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415" name="Text Box 127"/>
          <p:cNvSpPr txBox="1">
            <a:spLocks noChangeArrowheads="1"/>
          </p:cNvSpPr>
          <p:nvPr/>
        </p:nvSpPr>
        <p:spPr bwMode="auto">
          <a:xfrm>
            <a:off x="422791" y="2497137"/>
            <a:ext cx="697692" cy="426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latin typeface="Calibri" pitchFamily="34" charset="0"/>
                <a:ea typeface="msgothic" charset="0"/>
                <a:cs typeface="msgothic" charset="0"/>
              </a:rPr>
              <a:t>Root</a:t>
            </a:r>
          </a:p>
        </p:txBody>
      </p:sp>
      <p:sp>
        <p:nvSpPr>
          <p:cNvPr id="12417" name="Text Box 129"/>
          <p:cNvSpPr txBox="1">
            <a:spLocks noChangeArrowheads="1"/>
          </p:cNvSpPr>
          <p:nvPr/>
        </p:nvSpPr>
        <p:spPr bwMode="auto">
          <a:xfrm>
            <a:off x="438666" y="1539875"/>
            <a:ext cx="937949" cy="426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45720" tIns="46800" rIns="45720" bIns="46800">
            <a:spAutoFit/>
          </a:bodyPr>
          <a:lstStyle/>
          <a:p>
            <a:pPr algn="ctr">
              <a:lnSpc>
                <a:spcPct val="9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Before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05329" y="4648200"/>
            <a:ext cx="8151812" cy="1981200"/>
            <a:chOff x="405329" y="4498975"/>
            <a:chExt cx="8151812" cy="2130425"/>
          </a:xfrm>
        </p:grpSpPr>
        <p:sp>
          <p:nvSpPr>
            <p:cNvPr id="12420" name="Rectangle 132"/>
            <p:cNvSpPr>
              <a:spLocks noChangeArrowheads="1"/>
            </p:cNvSpPr>
            <p:nvPr/>
          </p:nvSpPr>
          <p:spPr bwMode="auto">
            <a:xfrm>
              <a:off x="405329" y="4498975"/>
              <a:ext cx="8151812" cy="213042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" name="Group 2"/>
            <p:cNvGrpSpPr>
              <a:grpSpLocks/>
            </p:cNvGrpSpPr>
            <p:nvPr/>
          </p:nvGrpSpPr>
          <p:grpSpPr bwMode="auto">
            <a:xfrm>
              <a:off x="2800866" y="6096000"/>
              <a:ext cx="1065213" cy="455612"/>
              <a:chOff x="1680" y="3827"/>
              <a:chExt cx="671" cy="287"/>
            </a:xfrm>
          </p:grpSpPr>
          <p:sp>
            <p:nvSpPr>
              <p:cNvPr id="12291" name="Rectangle 3"/>
              <p:cNvSpPr>
                <a:spLocks noChangeArrowheads="1"/>
              </p:cNvSpPr>
              <p:nvPr/>
            </p:nvSpPr>
            <p:spPr bwMode="auto">
              <a:xfrm>
                <a:off x="1680" y="3875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92" name="Rectangle 4"/>
              <p:cNvSpPr>
                <a:spLocks noChangeArrowheads="1"/>
              </p:cNvSpPr>
              <p:nvPr/>
            </p:nvSpPr>
            <p:spPr bwMode="auto">
              <a:xfrm>
                <a:off x="1872" y="3875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93" name="Rectangle 5"/>
              <p:cNvSpPr>
                <a:spLocks noChangeArrowheads="1"/>
              </p:cNvSpPr>
              <p:nvPr/>
            </p:nvSpPr>
            <p:spPr bwMode="auto">
              <a:xfrm>
                <a:off x="2064" y="3875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94" name="Rectangle 6"/>
              <p:cNvSpPr>
                <a:spLocks noChangeArrowheads="1"/>
              </p:cNvSpPr>
              <p:nvPr/>
            </p:nvSpPr>
            <p:spPr bwMode="auto">
              <a:xfrm>
                <a:off x="2160" y="3827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295" name="Line 7"/>
            <p:cNvSpPr>
              <a:spLocks noChangeShapeType="1"/>
            </p:cNvSpPr>
            <p:nvPr/>
          </p:nvSpPr>
          <p:spPr bwMode="auto">
            <a:xfrm flipV="1">
              <a:off x="3258066" y="5103812"/>
              <a:ext cx="1588" cy="1222375"/>
            </a:xfrm>
            <a:prstGeom prst="line">
              <a:avLst/>
            </a:prstGeom>
            <a:noFill/>
            <a:ln w="57240">
              <a:solidFill>
                <a:srgbClr val="C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2800866" y="4724400"/>
              <a:ext cx="1065213" cy="455612"/>
              <a:chOff x="1680" y="2963"/>
              <a:chExt cx="671" cy="287"/>
            </a:xfrm>
          </p:grpSpPr>
          <p:sp>
            <p:nvSpPr>
              <p:cNvPr id="12297" name="Rectangle 9"/>
              <p:cNvSpPr>
                <a:spLocks noChangeArrowheads="1"/>
              </p:cNvSpPr>
              <p:nvPr/>
            </p:nvSpPr>
            <p:spPr bwMode="auto">
              <a:xfrm>
                <a:off x="1680" y="3011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98" name="Rectangle 10"/>
              <p:cNvSpPr>
                <a:spLocks noChangeArrowheads="1"/>
              </p:cNvSpPr>
              <p:nvPr/>
            </p:nvSpPr>
            <p:spPr bwMode="auto">
              <a:xfrm>
                <a:off x="1872" y="3011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299" name="Rectangle 11"/>
              <p:cNvSpPr>
                <a:spLocks noChangeArrowheads="1"/>
              </p:cNvSpPr>
              <p:nvPr/>
            </p:nvSpPr>
            <p:spPr bwMode="auto">
              <a:xfrm>
                <a:off x="2064" y="3011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0" name="Rectangle 12"/>
              <p:cNvSpPr>
                <a:spLocks noChangeArrowheads="1"/>
              </p:cNvSpPr>
              <p:nvPr/>
            </p:nvSpPr>
            <p:spPr bwMode="auto">
              <a:xfrm>
                <a:off x="2160" y="2963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01" name="Line 13"/>
            <p:cNvSpPr>
              <a:spLocks noChangeShapeType="1"/>
            </p:cNvSpPr>
            <p:nvPr/>
          </p:nvSpPr>
          <p:spPr bwMode="auto">
            <a:xfrm>
              <a:off x="2953266" y="4953000"/>
              <a:ext cx="1588" cy="1219200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grpSp>
          <p:nvGrpSpPr>
            <p:cNvPr id="4" name="Group 14"/>
            <p:cNvGrpSpPr>
              <a:grpSpLocks/>
            </p:cNvGrpSpPr>
            <p:nvPr/>
          </p:nvGrpSpPr>
          <p:grpSpPr bwMode="auto">
            <a:xfrm>
              <a:off x="5239266" y="6096000"/>
              <a:ext cx="1065213" cy="455612"/>
              <a:chOff x="3216" y="3827"/>
              <a:chExt cx="671" cy="287"/>
            </a:xfrm>
          </p:grpSpPr>
          <p:sp>
            <p:nvSpPr>
              <p:cNvPr id="12303" name="Rectangle 15"/>
              <p:cNvSpPr>
                <a:spLocks noChangeArrowheads="1"/>
              </p:cNvSpPr>
              <p:nvPr/>
            </p:nvSpPr>
            <p:spPr bwMode="auto">
              <a:xfrm>
                <a:off x="3216" y="3875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4" name="Rectangle 16"/>
              <p:cNvSpPr>
                <a:spLocks noChangeArrowheads="1"/>
              </p:cNvSpPr>
              <p:nvPr/>
            </p:nvSpPr>
            <p:spPr bwMode="auto">
              <a:xfrm>
                <a:off x="3408" y="3875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5" name="Rectangle 17"/>
              <p:cNvSpPr>
                <a:spLocks noChangeArrowheads="1"/>
              </p:cNvSpPr>
              <p:nvPr/>
            </p:nvSpPr>
            <p:spPr bwMode="auto">
              <a:xfrm>
                <a:off x="3600" y="3875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06" name="Rectangle 18"/>
              <p:cNvSpPr>
                <a:spLocks noChangeArrowheads="1"/>
              </p:cNvSpPr>
              <p:nvPr/>
            </p:nvSpPr>
            <p:spPr bwMode="auto">
              <a:xfrm>
                <a:off x="3696" y="3827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07" name="Line 19"/>
            <p:cNvSpPr>
              <a:spLocks noChangeShapeType="1"/>
            </p:cNvSpPr>
            <p:nvPr/>
          </p:nvSpPr>
          <p:spPr bwMode="auto">
            <a:xfrm flipV="1">
              <a:off x="5696466" y="5103812"/>
              <a:ext cx="1588" cy="1222375"/>
            </a:xfrm>
            <a:prstGeom prst="line">
              <a:avLst/>
            </a:prstGeom>
            <a:noFill/>
            <a:ln w="57240">
              <a:solidFill>
                <a:srgbClr val="C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71" name="Rectangle 83"/>
            <p:cNvSpPr>
              <a:spLocks noChangeArrowheads="1"/>
            </p:cNvSpPr>
            <p:nvPr/>
          </p:nvSpPr>
          <p:spPr bwMode="auto">
            <a:xfrm>
              <a:off x="40200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72" name="Rectangle 84"/>
            <p:cNvSpPr>
              <a:spLocks noChangeArrowheads="1"/>
            </p:cNvSpPr>
            <p:nvPr/>
          </p:nvSpPr>
          <p:spPr bwMode="auto">
            <a:xfrm>
              <a:off x="43248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73" name="Rectangle 85"/>
            <p:cNvSpPr>
              <a:spLocks noChangeArrowheads="1"/>
            </p:cNvSpPr>
            <p:nvPr/>
          </p:nvSpPr>
          <p:spPr bwMode="auto">
            <a:xfrm>
              <a:off x="46296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74" name="Rectangle 86"/>
            <p:cNvSpPr>
              <a:spLocks noChangeArrowheads="1"/>
            </p:cNvSpPr>
            <p:nvPr/>
          </p:nvSpPr>
          <p:spPr bwMode="auto">
            <a:xfrm>
              <a:off x="49344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75" name="Rectangle 87"/>
            <p:cNvSpPr>
              <a:spLocks noChangeArrowheads="1"/>
            </p:cNvSpPr>
            <p:nvPr/>
          </p:nvSpPr>
          <p:spPr bwMode="auto">
            <a:xfrm>
              <a:off x="58488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76" name="Rectangle 88"/>
            <p:cNvSpPr>
              <a:spLocks noChangeArrowheads="1"/>
            </p:cNvSpPr>
            <p:nvPr/>
          </p:nvSpPr>
          <p:spPr bwMode="auto">
            <a:xfrm>
              <a:off x="61536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77" name="Rectangle 89"/>
            <p:cNvSpPr>
              <a:spLocks noChangeArrowheads="1"/>
            </p:cNvSpPr>
            <p:nvPr/>
          </p:nvSpPr>
          <p:spPr bwMode="auto">
            <a:xfrm>
              <a:off x="28008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78" name="Rectangle 90"/>
            <p:cNvSpPr>
              <a:spLocks noChangeArrowheads="1"/>
            </p:cNvSpPr>
            <p:nvPr/>
          </p:nvSpPr>
          <p:spPr bwMode="auto">
            <a:xfrm>
              <a:off x="31056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79" name="Rectangle 91"/>
            <p:cNvSpPr>
              <a:spLocks noChangeArrowheads="1"/>
            </p:cNvSpPr>
            <p:nvPr/>
          </p:nvSpPr>
          <p:spPr bwMode="auto">
            <a:xfrm>
              <a:off x="34104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80" name="Rectangle 92"/>
            <p:cNvSpPr>
              <a:spLocks noChangeArrowheads="1"/>
            </p:cNvSpPr>
            <p:nvPr/>
          </p:nvSpPr>
          <p:spPr bwMode="auto">
            <a:xfrm>
              <a:off x="37152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81" name="Oval 93"/>
            <p:cNvSpPr>
              <a:spLocks noChangeArrowheads="1"/>
            </p:cNvSpPr>
            <p:nvPr/>
          </p:nvSpPr>
          <p:spPr bwMode="auto">
            <a:xfrm>
              <a:off x="2877066" y="5562600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82" name="Oval 94"/>
            <p:cNvSpPr>
              <a:spLocks noChangeArrowheads="1"/>
            </p:cNvSpPr>
            <p:nvPr/>
          </p:nvSpPr>
          <p:spPr bwMode="auto">
            <a:xfrm>
              <a:off x="2877066" y="4876800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83" name="Oval 95"/>
            <p:cNvSpPr>
              <a:spLocks noChangeArrowheads="1"/>
            </p:cNvSpPr>
            <p:nvPr/>
          </p:nvSpPr>
          <p:spPr bwMode="auto">
            <a:xfrm flipV="1">
              <a:off x="3181866" y="6248400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84" name="Rectangle 96"/>
            <p:cNvSpPr>
              <a:spLocks noChangeArrowheads="1"/>
            </p:cNvSpPr>
            <p:nvPr/>
          </p:nvSpPr>
          <p:spPr bwMode="auto">
            <a:xfrm>
              <a:off x="55440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" name="Group 97"/>
            <p:cNvGrpSpPr>
              <a:grpSpLocks/>
            </p:cNvGrpSpPr>
            <p:nvPr/>
          </p:nvGrpSpPr>
          <p:grpSpPr bwMode="auto">
            <a:xfrm>
              <a:off x="5239266" y="4724400"/>
              <a:ext cx="1065213" cy="455612"/>
              <a:chOff x="3216" y="2963"/>
              <a:chExt cx="671" cy="287"/>
            </a:xfrm>
          </p:grpSpPr>
          <p:sp>
            <p:nvSpPr>
              <p:cNvPr id="12386" name="Rectangle 98"/>
              <p:cNvSpPr>
                <a:spLocks noChangeArrowheads="1"/>
              </p:cNvSpPr>
              <p:nvPr/>
            </p:nvSpPr>
            <p:spPr bwMode="auto">
              <a:xfrm>
                <a:off x="3216" y="3011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87" name="Rectangle 99"/>
              <p:cNvSpPr>
                <a:spLocks noChangeArrowheads="1"/>
              </p:cNvSpPr>
              <p:nvPr/>
            </p:nvSpPr>
            <p:spPr bwMode="auto">
              <a:xfrm>
                <a:off x="3408" y="3011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88" name="Rectangle 100"/>
              <p:cNvSpPr>
                <a:spLocks noChangeArrowheads="1"/>
              </p:cNvSpPr>
              <p:nvPr/>
            </p:nvSpPr>
            <p:spPr bwMode="auto">
              <a:xfrm>
                <a:off x="3600" y="3011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89" name="Rectangle 101"/>
              <p:cNvSpPr>
                <a:spLocks noChangeArrowheads="1"/>
              </p:cNvSpPr>
              <p:nvPr/>
            </p:nvSpPr>
            <p:spPr bwMode="auto">
              <a:xfrm>
                <a:off x="3696" y="2963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90" name="Oval 102"/>
            <p:cNvSpPr>
              <a:spLocks noChangeArrowheads="1"/>
            </p:cNvSpPr>
            <p:nvPr/>
          </p:nvSpPr>
          <p:spPr bwMode="auto">
            <a:xfrm>
              <a:off x="5315466" y="4876800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1" name="Line 103"/>
            <p:cNvSpPr>
              <a:spLocks noChangeShapeType="1"/>
            </p:cNvSpPr>
            <p:nvPr/>
          </p:nvSpPr>
          <p:spPr bwMode="auto">
            <a:xfrm>
              <a:off x="5391666" y="4953000"/>
              <a:ext cx="1588" cy="1219200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392" name="Oval 104"/>
            <p:cNvSpPr>
              <a:spLocks noChangeArrowheads="1"/>
            </p:cNvSpPr>
            <p:nvPr/>
          </p:nvSpPr>
          <p:spPr bwMode="auto">
            <a:xfrm flipV="1">
              <a:off x="5620266" y="6248400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3" name="Rectangle 105"/>
            <p:cNvSpPr>
              <a:spLocks noChangeArrowheads="1"/>
            </p:cNvSpPr>
            <p:nvPr/>
          </p:nvSpPr>
          <p:spPr bwMode="auto">
            <a:xfrm>
              <a:off x="1200666" y="5486400"/>
              <a:ext cx="304800" cy="304800"/>
            </a:xfrm>
            <a:prstGeom prst="rect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" name="Group 106"/>
            <p:cNvGrpSpPr>
              <a:grpSpLocks/>
            </p:cNvGrpSpPr>
            <p:nvPr/>
          </p:nvGrpSpPr>
          <p:grpSpPr bwMode="auto">
            <a:xfrm>
              <a:off x="7372866" y="5410200"/>
              <a:ext cx="1065213" cy="455612"/>
              <a:chOff x="4560" y="3395"/>
              <a:chExt cx="671" cy="287"/>
            </a:xfrm>
          </p:grpSpPr>
          <p:sp>
            <p:nvSpPr>
              <p:cNvPr id="12395" name="Rectangle 107"/>
              <p:cNvSpPr>
                <a:spLocks noChangeArrowheads="1"/>
              </p:cNvSpPr>
              <p:nvPr/>
            </p:nvSpPr>
            <p:spPr bwMode="auto">
              <a:xfrm>
                <a:off x="4560" y="3443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6" name="Rectangle 108"/>
              <p:cNvSpPr>
                <a:spLocks noChangeArrowheads="1"/>
              </p:cNvSpPr>
              <p:nvPr/>
            </p:nvSpPr>
            <p:spPr bwMode="auto">
              <a:xfrm>
                <a:off x="4752" y="3443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7" name="Rectangle 109"/>
              <p:cNvSpPr>
                <a:spLocks noChangeArrowheads="1"/>
              </p:cNvSpPr>
              <p:nvPr/>
            </p:nvSpPr>
            <p:spPr bwMode="auto">
              <a:xfrm>
                <a:off x="4944" y="3443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w="3240">
                <a:solidFill>
                  <a:srgbClr val="000066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398" name="Rectangle 110"/>
              <p:cNvSpPr>
                <a:spLocks noChangeArrowheads="1"/>
              </p:cNvSpPr>
              <p:nvPr/>
            </p:nvSpPr>
            <p:spPr bwMode="auto">
              <a:xfrm>
                <a:off x="5040" y="3395"/>
                <a:ext cx="192" cy="288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399" name="Oval 111"/>
            <p:cNvSpPr>
              <a:spLocks noChangeArrowheads="1"/>
            </p:cNvSpPr>
            <p:nvPr/>
          </p:nvSpPr>
          <p:spPr bwMode="auto">
            <a:xfrm>
              <a:off x="7449066" y="5562600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00" name="Line 112"/>
            <p:cNvSpPr>
              <a:spLocks noChangeShapeType="1"/>
            </p:cNvSpPr>
            <p:nvPr/>
          </p:nvSpPr>
          <p:spPr bwMode="auto">
            <a:xfrm>
              <a:off x="7525266" y="5638800"/>
              <a:ext cx="1588" cy="533400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401" name="Oval 113"/>
            <p:cNvSpPr>
              <a:spLocks noChangeArrowheads="1"/>
            </p:cNvSpPr>
            <p:nvPr/>
          </p:nvSpPr>
          <p:spPr bwMode="auto">
            <a:xfrm>
              <a:off x="7753866" y="5562600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02" name="Line 114"/>
            <p:cNvSpPr>
              <a:spLocks noChangeShapeType="1"/>
            </p:cNvSpPr>
            <p:nvPr/>
          </p:nvSpPr>
          <p:spPr bwMode="auto">
            <a:xfrm>
              <a:off x="1429266" y="5638800"/>
              <a:ext cx="1371600" cy="1587"/>
            </a:xfrm>
            <a:prstGeom prst="line">
              <a:avLst/>
            </a:prstGeom>
            <a:noFill/>
            <a:ln w="57240">
              <a:solidFill>
                <a:srgbClr val="00B05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403" name="Rectangle 115"/>
            <p:cNvSpPr>
              <a:spLocks noChangeArrowheads="1"/>
            </p:cNvSpPr>
            <p:nvPr/>
          </p:nvSpPr>
          <p:spPr bwMode="auto">
            <a:xfrm>
              <a:off x="52392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w="3240">
              <a:solidFill>
                <a:srgbClr val="00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04" name="Oval 116"/>
            <p:cNvSpPr>
              <a:spLocks noChangeArrowheads="1"/>
            </p:cNvSpPr>
            <p:nvPr/>
          </p:nvSpPr>
          <p:spPr bwMode="auto">
            <a:xfrm>
              <a:off x="3181866" y="5562600"/>
              <a:ext cx="152400" cy="152400"/>
            </a:xfrm>
            <a:prstGeom prst="ellipse">
              <a:avLst/>
            </a:prstGeom>
            <a:noFill/>
            <a:ln w="28440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05" name="Freeform 117"/>
            <p:cNvSpPr>
              <a:spLocks/>
            </p:cNvSpPr>
            <p:nvPr/>
          </p:nvSpPr>
          <p:spPr bwMode="auto">
            <a:xfrm>
              <a:off x="2953266" y="5292725"/>
              <a:ext cx="4419600" cy="346075"/>
            </a:xfrm>
            <a:custGeom>
              <a:avLst/>
              <a:gdLst/>
              <a:ahLst/>
              <a:cxnLst>
                <a:cxn ang="0">
                  <a:pos x="0" y="218"/>
                </a:cxn>
                <a:cxn ang="0">
                  <a:pos x="472" y="31"/>
                </a:cxn>
                <a:cxn ang="0">
                  <a:pos x="2109" y="31"/>
                </a:cxn>
                <a:cxn ang="0">
                  <a:pos x="2784" y="218"/>
                </a:cxn>
              </a:cxnLst>
              <a:rect l="0" t="0" r="r" b="b"/>
              <a:pathLst>
                <a:path w="2784" h="218">
                  <a:moveTo>
                    <a:pt x="0" y="218"/>
                  </a:moveTo>
                  <a:cubicBezTo>
                    <a:pt x="79" y="187"/>
                    <a:pt x="121" y="62"/>
                    <a:pt x="472" y="31"/>
                  </a:cubicBezTo>
                  <a:cubicBezTo>
                    <a:pt x="823" y="0"/>
                    <a:pt x="1724" y="0"/>
                    <a:pt x="2109" y="31"/>
                  </a:cubicBezTo>
                  <a:cubicBezTo>
                    <a:pt x="2494" y="62"/>
                    <a:pt x="2644" y="179"/>
                    <a:pt x="2784" y="218"/>
                  </a:cubicBezTo>
                </a:path>
              </a:pathLst>
            </a:custGeom>
            <a:noFill/>
            <a:ln w="57240">
              <a:solidFill>
                <a:srgbClr val="00B05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06" name="Freeform 118"/>
            <p:cNvSpPr>
              <a:spLocks/>
            </p:cNvSpPr>
            <p:nvPr/>
          </p:nvSpPr>
          <p:spPr bwMode="auto">
            <a:xfrm>
              <a:off x="6458466" y="5614987"/>
              <a:ext cx="1371600" cy="365125"/>
            </a:xfrm>
            <a:custGeom>
              <a:avLst/>
              <a:gdLst/>
              <a:ahLst/>
              <a:cxnLst>
                <a:cxn ang="0">
                  <a:pos x="864" y="15"/>
                </a:cxn>
                <a:cxn ang="0">
                  <a:pos x="745" y="227"/>
                </a:cxn>
                <a:cxn ang="0">
                  <a:pos x="210" y="35"/>
                </a:cxn>
                <a:cxn ang="0">
                  <a:pos x="0" y="15"/>
                </a:cxn>
              </a:cxnLst>
              <a:rect l="0" t="0" r="r" b="b"/>
              <a:pathLst>
                <a:path w="864" h="230">
                  <a:moveTo>
                    <a:pt x="864" y="15"/>
                  </a:moveTo>
                  <a:cubicBezTo>
                    <a:pt x="844" y="50"/>
                    <a:pt x="854" y="224"/>
                    <a:pt x="745" y="227"/>
                  </a:cubicBezTo>
                  <a:cubicBezTo>
                    <a:pt x="636" y="230"/>
                    <a:pt x="334" y="70"/>
                    <a:pt x="210" y="35"/>
                  </a:cubicBezTo>
                  <a:cubicBezTo>
                    <a:pt x="86" y="0"/>
                    <a:pt x="44" y="19"/>
                    <a:pt x="0" y="15"/>
                  </a:cubicBezTo>
                </a:path>
              </a:pathLst>
            </a:custGeom>
            <a:noFill/>
            <a:ln w="57240">
              <a:solidFill>
                <a:srgbClr val="C000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09" name="Oval 121"/>
            <p:cNvSpPr>
              <a:spLocks noChangeArrowheads="1"/>
            </p:cNvSpPr>
            <p:nvPr/>
          </p:nvSpPr>
          <p:spPr bwMode="auto">
            <a:xfrm>
              <a:off x="2877066" y="6248400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10" name="Oval 122"/>
            <p:cNvSpPr>
              <a:spLocks noChangeArrowheads="1"/>
            </p:cNvSpPr>
            <p:nvPr/>
          </p:nvSpPr>
          <p:spPr bwMode="auto">
            <a:xfrm>
              <a:off x="5315466" y="6248400"/>
              <a:ext cx="152400" cy="152400"/>
            </a:xfrm>
            <a:prstGeom prst="ellipse">
              <a:avLst/>
            </a:prstGeom>
            <a:solidFill>
              <a:srgbClr val="00B05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11" name="Oval 123"/>
            <p:cNvSpPr>
              <a:spLocks noChangeArrowheads="1"/>
            </p:cNvSpPr>
            <p:nvPr/>
          </p:nvSpPr>
          <p:spPr bwMode="auto">
            <a:xfrm flipV="1">
              <a:off x="5620266" y="4876800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13" name="Oval 125"/>
            <p:cNvSpPr>
              <a:spLocks noChangeArrowheads="1"/>
            </p:cNvSpPr>
            <p:nvPr/>
          </p:nvSpPr>
          <p:spPr bwMode="auto">
            <a:xfrm flipV="1">
              <a:off x="3181866" y="4876800"/>
              <a:ext cx="152400" cy="152400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16" name="Text Box 128"/>
            <p:cNvSpPr txBox="1">
              <a:spLocks noChangeArrowheads="1"/>
            </p:cNvSpPr>
            <p:nvPr/>
          </p:nvSpPr>
          <p:spPr bwMode="auto">
            <a:xfrm>
              <a:off x="438666" y="5435600"/>
              <a:ext cx="697692" cy="4269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9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b="1" dirty="0">
                  <a:latin typeface="Calibri" pitchFamily="34" charset="0"/>
                  <a:ea typeface="msgothic" charset="0"/>
                  <a:cs typeface="msgothic" charset="0"/>
                </a:rPr>
                <a:t>Root</a:t>
              </a:r>
            </a:p>
          </p:txBody>
        </p:sp>
        <p:sp>
          <p:nvSpPr>
            <p:cNvPr id="12418" name="Text Box 130"/>
            <p:cNvSpPr txBox="1">
              <a:spLocks noChangeArrowheads="1"/>
            </p:cNvSpPr>
            <p:nvPr/>
          </p:nvSpPr>
          <p:spPr bwMode="auto">
            <a:xfrm>
              <a:off x="443429" y="4516437"/>
              <a:ext cx="744178" cy="4269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45720" tIns="46800" rIns="45720" bIns="46800">
              <a:spAutoFit/>
            </a:bodyPr>
            <a:lstStyle/>
            <a:p>
              <a:pPr algn="ctr">
                <a:lnSpc>
                  <a:spcPct val="9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b="1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msgothic" charset="0"/>
                  <a:cs typeface="msgothic" charset="0"/>
                </a:rPr>
                <a:t>After</a:t>
              </a:r>
            </a:p>
          </p:txBody>
        </p:sp>
      </p:grpSp>
      <p:sp>
        <p:nvSpPr>
          <p:cNvPr id="134" name="TextBox 133"/>
          <p:cNvSpPr txBox="1"/>
          <p:nvPr/>
        </p:nvSpPr>
        <p:spPr>
          <a:xfrm>
            <a:off x="6701064" y="1188352"/>
            <a:ext cx="1985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conceptual graphic</a:t>
            </a:r>
          </a:p>
        </p:txBody>
      </p:sp>
      <p:sp>
        <p:nvSpPr>
          <p:cNvPr id="136" name="Rectangle 5">
            <a:extLst>
              <a:ext uri="{FF2B5EF4-FFF2-40B4-BE49-F238E27FC236}">
                <a16:creationId xmlns:a16="http://schemas.microsoft.com/office/drawing/2014/main" xmlns="" id="{332EBAFD-0367-43B4-8B34-E8B4780B1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0313" y="1026712"/>
            <a:ext cx="1143000" cy="30480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8" name="Rectangle 7">
            <a:extLst>
              <a:ext uri="{FF2B5EF4-FFF2-40B4-BE49-F238E27FC236}">
                <a16:creationId xmlns:a16="http://schemas.microsoft.com/office/drawing/2014/main" xmlns="" id="{11189CD8-1611-403C-A2F6-6AAC40406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025525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F</a:t>
            </a:r>
            <a:r>
              <a:rPr lang="en-GB" sz="1600" b="1" dirty="0">
                <a:latin typeface="Calibri" pitchFamily="34" charset="0"/>
              </a:rPr>
              <a:t>ree</a:t>
            </a:r>
          </a:p>
        </p:txBody>
      </p:sp>
      <p:sp>
        <p:nvSpPr>
          <p:cNvPr id="139" name="Rectangle 7">
            <a:extLst>
              <a:ext uri="{FF2B5EF4-FFF2-40B4-BE49-F238E27FC236}">
                <a16:creationId xmlns:a16="http://schemas.microsoft.com/office/drawing/2014/main" xmlns="" id="{FF53B84F-9AF6-416C-A914-C8FFD6D38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3313" y="1025525"/>
            <a:ext cx="1143000" cy="304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</a:rPr>
              <a:t>F</a:t>
            </a:r>
            <a:r>
              <a:rPr lang="en-GB" sz="1600" b="1" dirty="0">
                <a:latin typeface="Calibri" pitchFamily="34" charset="0"/>
              </a:rPr>
              <a:t>ree</a:t>
            </a:r>
          </a:p>
        </p:txBody>
      </p:sp>
    </p:spTree>
    <p:extLst>
      <p:ext uri="{BB962C8B-B14F-4D97-AF65-F5344CB8AC3E}">
        <p14:creationId xmlns:p14="http://schemas.microsoft.com/office/powerpoint/2010/main" val="92454423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Advice: An Implementation Trick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3581401"/>
            <a:ext cx="7896225" cy="2752724"/>
          </a:xfrm>
        </p:spPr>
        <p:txBody>
          <a:bodyPr/>
          <a:lstStyle/>
          <a:p>
            <a:r>
              <a:rPr lang="en-US" dirty="0"/>
              <a:t>Use circular, doubly-linked list</a:t>
            </a:r>
          </a:p>
          <a:p>
            <a:r>
              <a:rPr lang="en-US" dirty="0"/>
              <a:t>Support multiple approaches with single data structure</a:t>
            </a:r>
          </a:p>
          <a:p>
            <a:r>
              <a:rPr lang="en-US" dirty="0"/>
              <a:t>First-fit vs. next-fit</a:t>
            </a:r>
          </a:p>
          <a:p>
            <a:pPr lvl="1"/>
            <a:r>
              <a:rPr lang="en-US" dirty="0"/>
              <a:t>Either keep free pointer fixed or move as search list</a:t>
            </a:r>
          </a:p>
          <a:p>
            <a:r>
              <a:rPr lang="en-US" dirty="0"/>
              <a:t>LIFO vs. FIFO</a:t>
            </a:r>
          </a:p>
          <a:p>
            <a:pPr lvl="1"/>
            <a:r>
              <a:rPr lang="en-US" dirty="0"/>
              <a:t>Insert as next block (LIFO), or previous block (FIFO)</a:t>
            </a:r>
          </a:p>
          <a:p>
            <a:pPr lvl="1"/>
            <a:endParaRPr lang="en-US" dirty="0"/>
          </a:p>
        </p:txBody>
      </p:sp>
      <p:sp>
        <p:nvSpPr>
          <p:cNvPr id="4" name="Line 1"/>
          <p:cNvSpPr>
            <a:spLocks noChangeShapeType="1"/>
          </p:cNvSpPr>
          <p:nvPr/>
        </p:nvSpPr>
        <p:spPr bwMode="auto">
          <a:xfrm>
            <a:off x="3276600" y="2057399"/>
            <a:ext cx="457200" cy="0"/>
          </a:xfrm>
          <a:prstGeom prst="line">
            <a:avLst/>
          </a:prstGeom>
          <a:noFill/>
          <a:ln w="2556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4572000" y="2057399"/>
            <a:ext cx="381000" cy="0"/>
          </a:xfrm>
          <a:prstGeom prst="line">
            <a:avLst/>
          </a:prstGeom>
          <a:noFill/>
          <a:ln w="2556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 flipH="1">
            <a:off x="4570413" y="2209800"/>
            <a:ext cx="384175" cy="1587"/>
          </a:xfrm>
          <a:prstGeom prst="line">
            <a:avLst/>
          </a:prstGeom>
          <a:noFill/>
          <a:ln w="25560">
            <a:solidFill>
              <a:srgbClr val="C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 flipH="1">
            <a:off x="3275013" y="2209800"/>
            <a:ext cx="460375" cy="1587"/>
          </a:xfrm>
          <a:prstGeom prst="line">
            <a:avLst/>
          </a:prstGeom>
          <a:noFill/>
          <a:ln w="25560">
            <a:solidFill>
              <a:srgbClr val="C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Line 2"/>
          <p:cNvSpPr>
            <a:spLocks noChangeShapeType="1"/>
          </p:cNvSpPr>
          <p:nvPr/>
        </p:nvSpPr>
        <p:spPr bwMode="auto">
          <a:xfrm>
            <a:off x="5792788" y="2057399"/>
            <a:ext cx="381000" cy="0"/>
          </a:xfrm>
          <a:prstGeom prst="line">
            <a:avLst/>
          </a:prstGeom>
          <a:noFill/>
          <a:ln w="25560">
            <a:solidFill>
              <a:srgbClr val="00B05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Line 9"/>
          <p:cNvSpPr>
            <a:spLocks noChangeShapeType="1"/>
          </p:cNvSpPr>
          <p:nvPr/>
        </p:nvSpPr>
        <p:spPr bwMode="auto">
          <a:xfrm flipH="1">
            <a:off x="5791201" y="2209800"/>
            <a:ext cx="384175" cy="1587"/>
          </a:xfrm>
          <a:prstGeom prst="line">
            <a:avLst/>
          </a:prstGeom>
          <a:noFill/>
          <a:ln w="25560">
            <a:solidFill>
              <a:srgbClr val="C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Line 9"/>
          <p:cNvSpPr>
            <a:spLocks noChangeShapeType="1"/>
          </p:cNvSpPr>
          <p:nvPr/>
        </p:nvSpPr>
        <p:spPr bwMode="auto">
          <a:xfrm flipH="1">
            <a:off x="7011989" y="2209800"/>
            <a:ext cx="384175" cy="1587"/>
          </a:xfrm>
          <a:prstGeom prst="line">
            <a:avLst/>
          </a:prstGeom>
          <a:noFill/>
          <a:ln w="25560">
            <a:solidFill>
              <a:srgbClr val="C0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Rounded Rectangle 23"/>
          <p:cNvSpPr/>
          <p:nvPr/>
        </p:nvSpPr>
        <p:spPr bwMode="auto">
          <a:xfrm>
            <a:off x="1905000" y="1600200"/>
            <a:ext cx="5638800" cy="457200"/>
          </a:xfrm>
          <a:prstGeom prst="roundRect">
            <a:avLst/>
          </a:prstGeom>
          <a:noFill/>
          <a:ln w="25400" cap="flat" cmpd="sng" algn="ctr">
            <a:solidFill>
              <a:srgbClr val="00AC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5" name="Rounded Rectangle 24"/>
          <p:cNvSpPr/>
          <p:nvPr/>
        </p:nvSpPr>
        <p:spPr bwMode="auto">
          <a:xfrm>
            <a:off x="1905000" y="2209800"/>
            <a:ext cx="5638800" cy="457200"/>
          </a:xfrm>
          <a:prstGeom prst="roundRect">
            <a:avLst/>
          </a:prstGeom>
          <a:noFill/>
          <a:ln w="25400" cap="flat" cmpd="sng" algn="ctr">
            <a:solidFill>
              <a:srgbClr val="AC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438400" y="1981200"/>
            <a:ext cx="8382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A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33800" y="1981200"/>
            <a:ext cx="8382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B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4954588" y="1981200"/>
            <a:ext cx="8382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C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6175376" y="1981200"/>
            <a:ext cx="8382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D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 flipV="1">
            <a:off x="4041774" y="2286001"/>
            <a:ext cx="0" cy="533399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 flipV="1">
            <a:off x="1219200" y="2819400"/>
            <a:ext cx="2822574" cy="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 type="none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404727" y="2527012"/>
            <a:ext cx="81204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latin typeface="Calibri" pitchFamily="34" charset="0"/>
              </a:rPr>
              <a:t>Free</a:t>
            </a:r>
          </a:p>
          <a:p>
            <a:pPr algn="r"/>
            <a:r>
              <a:rPr lang="en-US" sz="1600" dirty="0">
                <a:latin typeface="Calibri" pitchFamily="34" charset="0"/>
              </a:rPr>
              <a:t>Pointer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76200" y="1219200"/>
            <a:ext cx="3545555" cy="1143000"/>
            <a:chOff x="76200" y="1219200"/>
            <a:chExt cx="3545555" cy="1143000"/>
          </a:xfrm>
        </p:grpSpPr>
        <p:sp>
          <p:nvSpPr>
            <p:cNvPr id="30" name="Oval 29"/>
            <p:cNvSpPr/>
            <p:nvPr/>
          </p:nvSpPr>
          <p:spPr bwMode="auto">
            <a:xfrm>
              <a:off x="3469355" y="1905000"/>
              <a:ext cx="152400" cy="457200"/>
            </a:xfrm>
            <a:prstGeom prst="ellipse">
              <a:avLst/>
            </a:prstGeom>
            <a:noFill/>
            <a:ln w="28575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solidFill>
                  <a:schemeClr val="bg2">
                    <a:lumMod val="75000"/>
                  </a:schemeClr>
                </a:solidFill>
                <a:latin typeface="+mn-lt"/>
              </a:endParaRPr>
            </a:p>
          </p:txBody>
        </p:sp>
        <p:sp>
          <p:nvSpPr>
            <p:cNvPr id="31" name="Line 10"/>
            <p:cNvSpPr>
              <a:spLocks noChangeShapeType="1"/>
            </p:cNvSpPr>
            <p:nvPr/>
          </p:nvSpPr>
          <p:spPr bwMode="auto">
            <a:xfrm>
              <a:off x="1676400" y="1523999"/>
              <a:ext cx="1792955" cy="457201"/>
            </a:xfrm>
            <a:prstGeom prst="line">
              <a:avLst/>
            </a:prstGeom>
            <a:noFill/>
            <a:ln w="25560">
              <a:solidFill>
                <a:schemeClr val="bg2">
                  <a:lumMod val="75000"/>
                </a:schemeClr>
              </a:solidFill>
              <a:miter lim="800000"/>
              <a:headEnd type="none"/>
              <a:tailEnd type="none" w="med" len="med"/>
            </a:ln>
            <a:effectLst/>
          </p:spPr>
          <p:txBody>
            <a:bodyPr/>
            <a:lstStyle/>
            <a:p>
              <a:endParaRPr lang="en-US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6200" y="1219200"/>
              <a:ext cx="16002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800" dirty="0">
                  <a:solidFill>
                    <a:schemeClr val="bg2">
                      <a:lumMod val="75000"/>
                    </a:schemeClr>
                  </a:solidFill>
                  <a:latin typeface="Calibri" pitchFamily="34" charset="0"/>
                </a:rPr>
                <a:t>FIFO Insertion</a:t>
              </a:r>
            </a:p>
            <a:p>
              <a:pPr algn="r"/>
              <a:r>
                <a:rPr lang="en-US" sz="1800" dirty="0">
                  <a:solidFill>
                    <a:schemeClr val="bg2">
                      <a:lumMod val="75000"/>
                    </a:schemeClr>
                  </a:solidFill>
                  <a:latin typeface="Calibri" pitchFamily="34" charset="0"/>
                </a:rPr>
                <a:t>Point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648200" y="972235"/>
            <a:ext cx="3200399" cy="1389965"/>
            <a:chOff x="4648200" y="972235"/>
            <a:chExt cx="3200399" cy="1389965"/>
          </a:xfrm>
        </p:grpSpPr>
        <p:sp>
          <p:nvSpPr>
            <p:cNvPr id="6" name="Oval 5"/>
            <p:cNvSpPr/>
            <p:nvPr/>
          </p:nvSpPr>
          <p:spPr bwMode="auto">
            <a:xfrm>
              <a:off x="4648200" y="1905000"/>
              <a:ext cx="152400" cy="457200"/>
            </a:xfrm>
            <a:prstGeom prst="ellipse">
              <a:avLst/>
            </a:prstGeom>
            <a:noFill/>
            <a:ln w="28575" cap="flat" cmpd="sng" algn="ctr">
              <a:solidFill>
                <a:schemeClr val="bg2">
                  <a:lumMod val="75000"/>
                </a:schemeClr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32" name="Line 10"/>
            <p:cNvSpPr>
              <a:spLocks noChangeShapeType="1"/>
            </p:cNvSpPr>
            <p:nvPr/>
          </p:nvSpPr>
          <p:spPr bwMode="auto">
            <a:xfrm flipH="1">
              <a:off x="4800599" y="1295401"/>
              <a:ext cx="1447800" cy="685799"/>
            </a:xfrm>
            <a:prstGeom prst="line">
              <a:avLst/>
            </a:prstGeom>
            <a:noFill/>
            <a:ln w="25560">
              <a:solidFill>
                <a:schemeClr val="bg2">
                  <a:lumMod val="75000"/>
                </a:schemeClr>
              </a:solidFill>
              <a:miter lim="800000"/>
              <a:headEnd type="none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248399" y="972235"/>
              <a:ext cx="1600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606060"/>
                  </a:solidFill>
                  <a:latin typeface="Calibri" pitchFamily="34" charset="0"/>
                </a:rPr>
                <a:t>LIFO Insertion</a:t>
              </a:r>
            </a:p>
            <a:p>
              <a:r>
                <a:rPr lang="en-US" sz="1800" dirty="0">
                  <a:solidFill>
                    <a:srgbClr val="606060"/>
                  </a:solidFill>
                  <a:latin typeface="Calibri" pitchFamily="34" charset="0"/>
                </a:rPr>
                <a:t>Point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3654426" y="2286000"/>
            <a:ext cx="3697085" cy="825788"/>
            <a:chOff x="3654426" y="2286000"/>
            <a:chExt cx="3697085" cy="825788"/>
          </a:xfrm>
        </p:grpSpPr>
        <p:grpSp>
          <p:nvGrpSpPr>
            <p:cNvPr id="16" name="Group 15"/>
            <p:cNvGrpSpPr/>
            <p:nvPr/>
          </p:nvGrpSpPr>
          <p:grpSpPr>
            <a:xfrm>
              <a:off x="3654426" y="2286000"/>
              <a:ext cx="2822574" cy="533399"/>
              <a:chOff x="3654426" y="2286000"/>
              <a:chExt cx="2822574" cy="533399"/>
            </a:xfrm>
          </p:grpSpPr>
          <p:sp>
            <p:nvSpPr>
              <p:cNvPr id="21" name="Line 10"/>
              <p:cNvSpPr>
                <a:spLocks noChangeShapeType="1"/>
              </p:cNvSpPr>
              <p:nvPr/>
            </p:nvSpPr>
            <p:spPr bwMode="auto">
              <a:xfrm flipH="1" flipV="1">
                <a:off x="6477000" y="2286000"/>
                <a:ext cx="0" cy="533399"/>
              </a:xfrm>
              <a:prstGeom prst="line">
                <a:avLst/>
              </a:prstGeom>
              <a:noFill/>
              <a:ln w="25560">
                <a:solidFill>
                  <a:schemeClr val="bg2">
                    <a:lumMod val="75000"/>
                  </a:schemeClr>
                </a:solidFill>
                <a:prstDash val="sysDash"/>
                <a:miter lim="800000"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Line 10"/>
              <p:cNvSpPr>
                <a:spLocks noChangeShapeType="1"/>
              </p:cNvSpPr>
              <p:nvPr/>
            </p:nvSpPr>
            <p:spPr bwMode="auto">
              <a:xfrm flipV="1">
                <a:off x="3654426" y="2819399"/>
                <a:ext cx="2822574" cy="0"/>
              </a:xfrm>
              <a:prstGeom prst="line">
                <a:avLst/>
              </a:prstGeom>
              <a:noFill/>
              <a:ln w="25560">
                <a:solidFill>
                  <a:schemeClr val="bg2">
                    <a:lumMod val="75000"/>
                  </a:schemeClr>
                </a:solidFill>
                <a:prstDash val="sysDash"/>
                <a:miter lim="800000"/>
                <a:headEnd type="none"/>
                <a:tailEnd type="non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6452369" y="2742456"/>
              <a:ext cx="899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606060"/>
                  </a:solidFill>
                  <a:latin typeface="Calibri" pitchFamily="34" charset="0"/>
                </a:rPr>
                <a:t>Next fit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88950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17500" y="493713"/>
            <a:ext cx="65405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Explicit List Summary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5080" y="1220788"/>
            <a:ext cx="8307387" cy="5475287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Comparison to implicit list: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Allocate is linear time in number of </a:t>
            </a:r>
            <a:r>
              <a:rPr lang="en-GB" b="1" i="1" dirty="0">
                <a:solidFill>
                  <a:srgbClr val="C00000"/>
                </a:solidFill>
              </a:rPr>
              <a:t>free</a:t>
            </a:r>
            <a:r>
              <a:rPr lang="en-GB" dirty="0"/>
              <a:t> blocks instead of </a:t>
            </a:r>
            <a:r>
              <a:rPr lang="en-GB" b="1" i="1" dirty="0">
                <a:solidFill>
                  <a:srgbClr val="C00000"/>
                </a:solidFill>
              </a:rPr>
              <a:t>all</a:t>
            </a:r>
            <a:r>
              <a:rPr lang="en-GB" dirty="0"/>
              <a:t> blocks</a:t>
            </a:r>
          </a:p>
          <a:p>
            <a:pPr lvl="2">
              <a:lnSpc>
                <a:spcPct val="107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 dirty="0">
                <a:solidFill>
                  <a:srgbClr val="C00000"/>
                </a:solidFill>
              </a:rPr>
              <a:t>Much faster </a:t>
            </a:r>
            <a:r>
              <a:rPr lang="en-GB" dirty="0"/>
              <a:t>when most of the memory is full 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Slightly more complicated allocate and free because need to splice blocks in and out of the list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Some extra space for the links (2 extra words needed for each block)</a:t>
            </a:r>
          </a:p>
          <a:p>
            <a:pPr lvl="2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Does this increase internal fragmentation?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Most common use of linked list approach is in conjunction with </a:t>
            </a:r>
            <a:r>
              <a:rPr lang="en-GB" dirty="0">
                <a:solidFill>
                  <a:srgbClr val="C00000"/>
                </a:solidFill>
              </a:rPr>
              <a:t>segregated free lists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Keep multiple linked lists of different size classes, or possibly for different types of objects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195565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Explicit free lists</a:t>
            </a:r>
            <a:r>
              <a:rPr lang="en-US" dirty="0"/>
              <a:t>	</a:t>
            </a:r>
          </a:p>
          <a:p>
            <a:r>
              <a:rPr lang="en-US" dirty="0"/>
              <a:t>Segregated free lists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Garbage collection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Memory-related perils and pitfalls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33343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493713"/>
            <a:ext cx="82296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Segregated List (Seglist) Allocators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2" name="Rectangle 2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2625" y="1220788"/>
                <a:ext cx="8307387" cy="5256212"/>
              </a:xfrm>
              <a:ln/>
            </p:spPr>
            <p:txBody>
              <a:bodyPr/>
              <a:lstStyle/>
              <a:p>
                <a:pPr>
                  <a:lnSpc>
                    <a:spcPct val="95000"/>
                  </a:lnSpc>
                  <a:tabLst>
                    <a:tab pos="319088" algn="l"/>
                    <a:tab pos="846138" algn="l"/>
                    <a:tab pos="1760538" algn="l"/>
                    <a:tab pos="2674938" algn="l"/>
                    <a:tab pos="3589338" algn="l"/>
                    <a:tab pos="4503738" algn="l"/>
                    <a:tab pos="5418138" algn="l"/>
                    <a:tab pos="6332538" algn="l"/>
                    <a:tab pos="7246938" algn="l"/>
                    <a:tab pos="8161338" algn="l"/>
                    <a:tab pos="9075738" algn="l"/>
                    <a:tab pos="9990138" algn="l"/>
                  </a:tabLst>
                </a:pPr>
                <a:r>
                  <a:rPr lang="en-GB" dirty="0"/>
                  <a:t>Each </a:t>
                </a:r>
                <a:r>
                  <a:rPr lang="en-GB" i="1" dirty="0">
                    <a:solidFill>
                      <a:srgbClr val="C00000"/>
                    </a:solidFill>
                  </a:rPr>
                  <a:t>size class</a:t>
                </a:r>
                <a:r>
                  <a:rPr lang="en-GB" dirty="0">
                    <a:solidFill>
                      <a:srgbClr val="C00000"/>
                    </a:solidFill>
                  </a:rPr>
                  <a:t> </a:t>
                </a:r>
                <a:r>
                  <a:rPr lang="en-GB" dirty="0"/>
                  <a:t>of blocks has its own free list</a:t>
                </a:r>
              </a:p>
              <a:p>
                <a:pPr>
                  <a:lnSpc>
                    <a:spcPct val="95000"/>
                  </a:lnSpc>
                  <a:tabLst>
                    <a:tab pos="319088" algn="l"/>
                    <a:tab pos="846138" algn="l"/>
                    <a:tab pos="1760538" algn="l"/>
                    <a:tab pos="2674938" algn="l"/>
                    <a:tab pos="3589338" algn="l"/>
                    <a:tab pos="4503738" algn="l"/>
                    <a:tab pos="5418138" algn="l"/>
                    <a:tab pos="6332538" algn="l"/>
                    <a:tab pos="7246938" algn="l"/>
                    <a:tab pos="8161338" algn="l"/>
                    <a:tab pos="9075738" algn="l"/>
                    <a:tab pos="9990138" algn="l"/>
                  </a:tabLst>
                </a:pPr>
                <a:endParaRPr lang="en-GB" dirty="0"/>
              </a:p>
              <a:p>
                <a:pPr>
                  <a:lnSpc>
                    <a:spcPct val="95000"/>
                  </a:lnSpc>
                  <a:tabLst>
                    <a:tab pos="319088" algn="l"/>
                    <a:tab pos="846138" algn="l"/>
                    <a:tab pos="1760538" algn="l"/>
                    <a:tab pos="2674938" algn="l"/>
                    <a:tab pos="3589338" algn="l"/>
                    <a:tab pos="4503738" algn="l"/>
                    <a:tab pos="5418138" algn="l"/>
                    <a:tab pos="6332538" algn="l"/>
                    <a:tab pos="7246938" algn="l"/>
                    <a:tab pos="8161338" algn="l"/>
                    <a:tab pos="9075738" algn="l"/>
                    <a:tab pos="9990138" algn="l"/>
                  </a:tabLst>
                </a:pPr>
                <a:endParaRPr lang="en-GB" dirty="0"/>
              </a:p>
              <a:p>
                <a:pPr>
                  <a:lnSpc>
                    <a:spcPct val="95000"/>
                  </a:lnSpc>
                  <a:tabLst>
                    <a:tab pos="319088" algn="l"/>
                    <a:tab pos="846138" algn="l"/>
                    <a:tab pos="1760538" algn="l"/>
                    <a:tab pos="2674938" algn="l"/>
                    <a:tab pos="3589338" algn="l"/>
                    <a:tab pos="4503738" algn="l"/>
                    <a:tab pos="5418138" algn="l"/>
                    <a:tab pos="6332538" algn="l"/>
                    <a:tab pos="7246938" algn="l"/>
                    <a:tab pos="8161338" algn="l"/>
                    <a:tab pos="9075738" algn="l"/>
                    <a:tab pos="9990138" algn="l"/>
                  </a:tabLst>
                </a:pPr>
                <a:endParaRPr lang="en-GB" dirty="0"/>
              </a:p>
              <a:p>
                <a:pPr>
                  <a:lnSpc>
                    <a:spcPct val="95000"/>
                  </a:lnSpc>
                  <a:tabLst>
                    <a:tab pos="319088" algn="l"/>
                    <a:tab pos="846138" algn="l"/>
                    <a:tab pos="1760538" algn="l"/>
                    <a:tab pos="2674938" algn="l"/>
                    <a:tab pos="3589338" algn="l"/>
                    <a:tab pos="4503738" algn="l"/>
                    <a:tab pos="5418138" algn="l"/>
                    <a:tab pos="6332538" algn="l"/>
                    <a:tab pos="7246938" algn="l"/>
                    <a:tab pos="8161338" algn="l"/>
                    <a:tab pos="9075738" algn="l"/>
                    <a:tab pos="9990138" algn="l"/>
                  </a:tabLst>
                </a:pPr>
                <a:endParaRPr lang="en-GB" dirty="0"/>
              </a:p>
              <a:p>
                <a:pPr>
                  <a:lnSpc>
                    <a:spcPct val="95000"/>
                  </a:lnSpc>
                  <a:tabLst>
                    <a:tab pos="319088" algn="l"/>
                    <a:tab pos="846138" algn="l"/>
                    <a:tab pos="1760538" algn="l"/>
                    <a:tab pos="2674938" algn="l"/>
                    <a:tab pos="3589338" algn="l"/>
                    <a:tab pos="4503738" algn="l"/>
                    <a:tab pos="5418138" algn="l"/>
                    <a:tab pos="6332538" algn="l"/>
                    <a:tab pos="7246938" algn="l"/>
                    <a:tab pos="8161338" algn="l"/>
                    <a:tab pos="9075738" algn="l"/>
                    <a:tab pos="9990138" algn="l"/>
                  </a:tabLst>
                </a:pPr>
                <a:endParaRPr lang="en-GB" dirty="0"/>
              </a:p>
              <a:p>
                <a:pPr>
                  <a:lnSpc>
                    <a:spcPct val="95000"/>
                  </a:lnSpc>
                  <a:tabLst>
                    <a:tab pos="319088" algn="l"/>
                    <a:tab pos="846138" algn="l"/>
                    <a:tab pos="1760538" algn="l"/>
                    <a:tab pos="2674938" algn="l"/>
                    <a:tab pos="3589338" algn="l"/>
                    <a:tab pos="4503738" algn="l"/>
                    <a:tab pos="5418138" algn="l"/>
                    <a:tab pos="6332538" algn="l"/>
                    <a:tab pos="7246938" algn="l"/>
                    <a:tab pos="8161338" algn="l"/>
                    <a:tab pos="9075738" algn="l"/>
                    <a:tab pos="9990138" algn="l"/>
                  </a:tabLst>
                </a:pPr>
                <a:endParaRPr lang="en-GB" dirty="0"/>
              </a:p>
              <a:p>
                <a:pPr>
                  <a:lnSpc>
                    <a:spcPct val="95000"/>
                  </a:lnSpc>
                  <a:tabLst>
                    <a:tab pos="319088" algn="l"/>
                    <a:tab pos="846138" algn="l"/>
                    <a:tab pos="1760538" algn="l"/>
                    <a:tab pos="2674938" algn="l"/>
                    <a:tab pos="3589338" algn="l"/>
                    <a:tab pos="4503738" algn="l"/>
                    <a:tab pos="5418138" algn="l"/>
                    <a:tab pos="6332538" algn="l"/>
                    <a:tab pos="7246938" algn="l"/>
                    <a:tab pos="8161338" algn="l"/>
                    <a:tab pos="9075738" algn="l"/>
                    <a:tab pos="9990138" algn="l"/>
                  </a:tabLst>
                </a:pPr>
                <a:endParaRPr lang="en-GB" dirty="0"/>
              </a:p>
              <a:p>
                <a:pPr>
                  <a:lnSpc>
                    <a:spcPct val="95000"/>
                  </a:lnSpc>
                  <a:tabLst>
                    <a:tab pos="319088" algn="l"/>
                    <a:tab pos="846138" algn="l"/>
                    <a:tab pos="1760538" algn="l"/>
                    <a:tab pos="2674938" algn="l"/>
                    <a:tab pos="3589338" algn="l"/>
                    <a:tab pos="4503738" algn="l"/>
                    <a:tab pos="5418138" algn="l"/>
                    <a:tab pos="6332538" algn="l"/>
                    <a:tab pos="7246938" algn="l"/>
                    <a:tab pos="8161338" algn="l"/>
                    <a:tab pos="9075738" algn="l"/>
                    <a:tab pos="9990138" algn="l"/>
                  </a:tabLst>
                </a:pPr>
                <a:endParaRPr lang="en-GB" dirty="0"/>
              </a:p>
              <a:p>
                <a:pPr>
                  <a:lnSpc>
                    <a:spcPct val="95000"/>
                  </a:lnSpc>
                  <a:tabLst>
                    <a:tab pos="319088" algn="l"/>
                    <a:tab pos="846138" algn="l"/>
                    <a:tab pos="1760538" algn="l"/>
                    <a:tab pos="2674938" algn="l"/>
                    <a:tab pos="3589338" algn="l"/>
                    <a:tab pos="4503738" algn="l"/>
                    <a:tab pos="5418138" algn="l"/>
                    <a:tab pos="6332538" algn="l"/>
                    <a:tab pos="7246938" algn="l"/>
                    <a:tab pos="8161338" algn="l"/>
                    <a:tab pos="9075738" algn="l"/>
                    <a:tab pos="9990138" algn="l"/>
                  </a:tabLst>
                </a:pPr>
                <a:endParaRPr lang="en-GB" dirty="0"/>
              </a:p>
              <a:p>
                <a:pPr>
                  <a:lnSpc>
                    <a:spcPct val="95000"/>
                  </a:lnSpc>
                  <a:tabLst>
                    <a:tab pos="319088" algn="l"/>
                    <a:tab pos="846138" algn="l"/>
                    <a:tab pos="1760538" algn="l"/>
                    <a:tab pos="2674938" algn="l"/>
                    <a:tab pos="3589338" algn="l"/>
                    <a:tab pos="4503738" algn="l"/>
                    <a:tab pos="5418138" algn="l"/>
                    <a:tab pos="6332538" algn="l"/>
                    <a:tab pos="7246938" algn="l"/>
                    <a:tab pos="8161338" algn="l"/>
                    <a:tab pos="9075738" algn="l"/>
                    <a:tab pos="9990138" algn="l"/>
                  </a:tabLst>
                </a:pPr>
                <a:r>
                  <a:rPr lang="en-GB" dirty="0"/>
                  <a:t>Often have separate classes for each small size</a:t>
                </a:r>
              </a:p>
              <a:p>
                <a:pPr>
                  <a:lnSpc>
                    <a:spcPct val="95000"/>
                  </a:lnSpc>
                  <a:tabLst>
                    <a:tab pos="319088" algn="l"/>
                    <a:tab pos="846138" algn="l"/>
                    <a:tab pos="1760538" algn="l"/>
                    <a:tab pos="2674938" algn="l"/>
                    <a:tab pos="3589338" algn="l"/>
                    <a:tab pos="4503738" algn="l"/>
                    <a:tab pos="5418138" algn="l"/>
                    <a:tab pos="6332538" algn="l"/>
                    <a:tab pos="7246938" algn="l"/>
                    <a:tab pos="8161338" algn="l"/>
                    <a:tab pos="9075738" algn="l"/>
                    <a:tab pos="9990138" algn="l"/>
                  </a:tabLst>
                </a:pPr>
                <a:r>
                  <a:rPr lang="en-GB" dirty="0"/>
                  <a:t>For larger sizes: One class for each size [</a:t>
                </a:r>
                <a14:m>
                  <m:oMath xmlns:m="http://schemas.openxmlformats.org/officeDocument/2006/math" xmlns="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GB" dirty="0"/>
                  <a:t>]</a:t>
                </a:r>
              </a:p>
            </p:txBody>
          </p:sp>
        </mc:Choice>
        <mc:Fallback xmlns="">
          <p:sp>
            <p:nvSpPr>
              <p:cNvPr id="15362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2625" y="1220788"/>
                <a:ext cx="8307387" cy="5256212"/>
              </a:xfrm>
              <a:blipFill>
                <a:blip r:embed="rId3"/>
                <a:stretch>
                  <a:fillRect l="-73" t="-127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447800" y="19494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752600" y="19494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2362200" y="19494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2667000" y="19494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3276600" y="19494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3581400" y="19494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4191000" y="19494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4495800" y="19494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71" name="Rectangle 11"/>
          <p:cNvSpPr>
            <a:spLocks noChangeArrowheads="1"/>
          </p:cNvSpPr>
          <p:nvPr/>
        </p:nvSpPr>
        <p:spPr bwMode="auto">
          <a:xfrm>
            <a:off x="1447800" y="26352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72" name="Rectangle 12"/>
          <p:cNvSpPr>
            <a:spLocks noChangeArrowheads="1"/>
          </p:cNvSpPr>
          <p:nvPr/>
        </p:nvSpPr>
        <p:spPr bwMode="auto">
          <a:xfrm>
            <a:off x="1752600" y="26352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73" name="Rectangle 13"/>
          <p:cNvSpPr>
            <a:spLocks noChangeArrowheads="1"/>
          </p:cNvSpPr>
          <p:nvPr/>
        </p:nvSpPr>
        <p:spPr bwMode="auto">
          <a:xfrm>
            <a:off x="2057400" y="26352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74" name="Rectangle 14"/>
          <p:cNvSpPr>
            <a:spLocks noChangeArrowheads="1"/>
          </p:cNvSpPr>
          <p:nvPr/>
        </p:nvSpPr>
        <p:spPr bwMode="auto">
          <a:xfrm>
            <a:off x="2667000" y="26352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75" name="Rectangle 15"/>
          <p:cNvSpPr>
            <a:spLocks noChangeArrowheads="1"/>
          </p:cNvSpPr>
          <p:nvPr/>
        </p:nvSpPr>
        <p:spPr bwMode="auto">
          <a:xfrm>
            <a:off x="2971800" y="26352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76" name="Rectangle 16"/>
          <p:cNvSpPr>
            <a:spLocks noChangeArrowheads="1"/>
          </p:cNvSpPr>
          <p:nvPr/>
        </p:nvSpPr>
        <p:spPr bwMode="auto">
          <a:xfrm>
            <a:off x="3276600" y="26352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77" name="Rectangle 17"/>
          <p:cNvSpPr>
            <a:spLocks noChangeArrowheads="1"/>
          </p:cNvSpPr>
          <p:nvPr/>
        </p:nvSpPr>
        <p:spPr bwMode="auto">
          <a:xfrm>
            <a:off x="3886200" y="26352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78" name="Rectangle 18"/>
          <p:cNvSpPr>
            <a:spLocks noChangeArrowheads="1"/>
          </p:cNvSpPr>
          <p:nvPr/>
        </p:nvSpPr>
        <p:spPr bwMode="auto">
          <a:xfrm>
            <a:off x="4191000" y="26352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79" name="Rectangle 19"/>
          <p:cNvSpPr>
            <a:spLocks noChangeArrowheads="1"/>
          </p:cNvSpPr>
          <p:nvPr/>
        </p:nvSpPr>
        <p:spPr bwMode="auto">
          <a:xfrm>
            <a:off x="4495800" y="26352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0" name="Rectangle 20"/>
          <p:cNvSpPr>
            <a:spLocks noChangeArrowheads="1"/>
          </p:cNvSpPr>
          <p:nvPr/>
        </p:nvSpPr>
        <p:spPr bwMode="auto">
          <a:xfrm>
            <a:off x="5105400" y="26352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1" name="Rectangle 21"/>
          <p:cNvSpPr>
            <a:spLocks noChangeArrowheads="1"/>
          </p:cNvSpPr>
          <p:nvPr/>
        </p:nvSpPr>
        <p:spPr bwMode="auto">
          <a:xfrm>
            <a:off x="5410200" y="26352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2" name="Rectangle 22"/>
          <p:cNvSpPr>
            <a:spLocks noChangeArrowheads="1"/>
          </p:cNvSpPr>
          <p:nvPr/>
        </p:nvSpPr>
        <p:spPr bwMode="auto">
          <a:xfrm>
            <a:off x="5715000" y="26352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3" name="Rectangle 23"/>
          <p:cNvSpPr>
            <a:spLocks noChangeArrowheads="1"/>
          </p:cNvSpPr>
          <p:nvPr/>
        </p:nvSpPr>
        <p:spPr bwMode="auto">
          <a:xfrm>
            <a:off x="1447800" y="33210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4" name="Rectangle 24"/>
          <p:cNvSpPr>
            <a:spLocks noChangeArrowheads="1"/>
          </p:cNvSpPr>
          <p:nvPr/>
        </p:nvSpPr>
        <p:spPr bwMode="auto">
          <a:xfrm>
            <a:off x="1752600" y="33210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5" name="Rectangle 25"/>
          <p:cNvSpPr>
            <a:spLocks noChangeArrowheads="1"/>
          </p:cNvSpPr>
          <p:nvPr/>
        </p:nvSpPr>
        <p:spPr bwMode="auto">
          <a:xfrm>
            <a:off x="2057400" y="33210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6" name="Rectangle 26"/>
          <p:cNvSpPr>
            <a:spLocks noChangeArrowheads="1"/>
          </p:cNvSpPr>
          <p:nvPr/>
        </p:nvSpPr>
        <p:spPr bwMode="auto">
          <a:xfrm>
            <a:off x="2362200" y="33210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7" name="Rectangle 27"/>
          <p:cNvSpPr>
            <a:spLocks noChangeArrowheads="1"/>
          </p:cNvSpPr>
          <p:nvPr/>
        </p:nvSpPr>
        <p:spPr bwMode="auto">
          <a:xfrm>
            <a:off x="2971800" y="33210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8" name="Rectangle 28"/>
          <p:cNvSpPr>
            <a:spLocks noChangeArrowheads="1"/>
          </p:cNvSpPr>
          <p:nvPr/>
        </p:nvSpPr>
        <p:spPr bwMode="auto">
          <a:xfrm>
            <a:off x="3276600" y="33210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89" name="Rectangle 29"/>
          <p:cNvSpPr>
            <a:spLocks noChangeArrowheads="1"/>
          </p:cNvSpPr>
          <p:nvPr/>
        </p:nvSpPr>
        <p:spPr bwMode="auto">
          <a:xfrm>
            <a:off x="3581400" y="33210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0" name="Rectangle 30"/>
          <p:cNvSpPr>
            <a:spLocks noChangeArrowheads="1"/>
          </p:cNvSpPr>
          <p:nvPr/>
        </p:nvSpPr>
        <p:spPr bwMode="auto">
          <a:xfrm>
            <a:off x="3886200" y="33210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1" name="Rectangle 31"/>
          <p:cNvSpPr>
            <a:spLocks noChangeArrowheads="1"/>
          </p:cNvSpPr>
          <p:nvPr/>
        </p:nvSpPr>
        <p:spPr bwMode="auto">
          <a:xfrm>
            <a:off x="4495800" y="33210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2" name="Rectangle 32"/>
          <p:cNvSpPr>
            <a:spLocks noChangeArrowheads="1"/>
          </p:cNvSpPr>
          <p:nvPr/>
        </p:nvSpPr>
        <p:spPr bwMode="auto">
          <a:xfrm>
            <a:off x="4800600" y="33210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3" name="Rectangle 33"/>
          <p:cNvSpPr>
            <a:spLocks noChangeArrowheads="1"/>
          </p:cNvSpPr>
          <p:nvPr/>
        </p:nvSpPr>
        <p:spPr bwMode="auto">
          <a:xfrm>
            <a:off x="5105400" y="33210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4" name="Rectangle 34"/>
          <p:cNvSpPr>
            <a:spLocks noChangeArrowheads="1"/>
          </p:cNvSpPr>
          <p:nvPr/>
        </p:nvSpPr>
        <p:spPr bwMode="auto">
          <a:xfrm>
            <a:off x="5410200" y="33210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5" name="Rectangle 35"/>
          <p:cNvSpPr>
            <a:spLocks noChangeArrowheads="1"/>
          </p:cNvSpPr>
          <p:nvPr/>
        </p:nvSpPr>
        <p:spPr bwMode="auto">
          <a:xfrm>
            <a:off x="1447800" y="40068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6" name="Rectangle 36"/>
          <p:cNvSpPr>
            <a:spLocks noChangeArrowheads="1"/>
          </p:cNvSpPr>
          <p:nvPr/>
        </p:nvSpPr>
        <p:spPr bwMode="auto">
          <a:xfrm>
            <a:off x="1752600" y="40068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7" name="Rectangle 37"/>
          <p:cNvSpPr>
            <a:spLocks noChangeArrowheads="1"/>
          </p:cNvSpPr>
          <p:nvPr/>
        </p:nvSpPr>
        <p:spPr bwMode="auto">
          <a:xfrm>
            <a:off x="2057400" y="40068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8" name="Rectangle 38"/>
          <p:cNvSpPr>
            <a:spLocks noChangeArrowheads="1"/>
          </p:cNvSpPr>
          <p:nvPr/>
        </p:nvSpPr>
        <p:spPr bwMode="auto">
          <a:xfrm>
            <a:off x="2362200" y="40068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99" name="Rectangle 39"/>
          <p:cNvSpPr>
            <a:spLocks noChangeArrowheads="1"/>
          </p:cNvSpPr>
          <p:nvPr/>
        </p:nvSpPr>
        <p:spPr bwMode="auto">
          <a:xfrm>
            <a:off x="2667000" y="40068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00" name="Rectangle 40"/>
          <p:cNvSpPr>
            <a:spLocks noChangeArrowheads="1"/>
          </p:cNvSpPr>
          <p:nvPr/>
        </p:nvSpPr>
        <p:spPr bwMode="auto">
          <a:xfrm>
            <a:off x="2971800" y="40068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01" name="Rectangle 41"/>
          <p:cNvSpPr>
            <a:spLocks noChangeArrowheads="1"/>
          </p:cNvSpPr>
          <p:nvPr/>
        </p:nvSpPr>
        <p:spPr bwMode="auto">
          <a:xfrm>
            <a:off x="3276600" y="40068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02" name="Rectangle 42"/>
          <p:cNvSpPr>
            <a:spLocks noChangeArrowheads="1"/>
          </p:cNvSpPr>
          <p:nvPr/>
        </p:nvSpPr>
        <p:spPr bwMode="auto">
          <a:xfrm>
            <a:off x="3581400" y="40068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03" name="Rectangle 43"/>
          <p:cNvSpPr>
            <a:spLocks noChangeArrowheads="1"/>
          </p:cNvSpPr>
          <p:nvPr/>
        </p:nvSpPr>
        <p:spPr bwMode="auto">
          <a:xfrm>
            <a:off x="4191000" y="40068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04" name="Rectangle 44"/>
          <p:cNvSpPr>
            <a:spLocks noChangeArrowheads="1"/>
          </p:cNvSpPr>
          <p:nvPr/>
        </p:nvSpPr>
        <p:spPr bwMode="auto">
          <a:xfrm>
            <a:off x="4495800" y="40068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05" name="Rectangle 45"/>
          <p:cNvSpPr>
            <a:spLocks noChangeArrowheads="1"/>
          </p:cNvSpPr>
          <p:nvPr/>
        </p:nvSpPr>
        <p:spPr bwMode="auto">
          <a:xfrm>
            <a:off x="4800600" y="40068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06" name="Rectangle 46"/>
          <p:cNvSpPr>
            <a:spLocks noChangeArrowheads="1"/>
          </p:cNvSpPr>
          <p:nvPr/>
        </p:nvSpPr>
        <p:spPr bwMode="auto">
          <a:xfrm>
            <a:off x="5105400" y="40068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07" name="Rectangle 47"/>
          <p:cNvSpPr>
            <a:spLocks noChangeArrowheads="1"/>
          </p:cNvSpPr>
          <p:nvPr/>
        </p:nvSpPr>
        <p:spPr bwMode="auto">
          <a:xfrm>
            <a:off x="5410200" y="40068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08" name="Rectangle 48"/>
          <p:cNvSpPr>
            <a:spLocks noChangeArrowheads="1"/>
          </p:cNvSpPr>
          <p:nvPr/>
        </p:nvSpPr>
        <p:spPr bwMode="auto">
          <a:xfrm>
            <a:off x="5715000" y="40068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09" name="Rectangle 49"/>
          <p:cNvSpPr>
            <a:spLocks noChangeArrowheads="1"/>
          </p:cNvSpPr>
          <p:nvPr/>
        </p:nvSpPr>
        <p:spPr bwMode="auto">
          <a:xfrm>
            <a:off x="6324600" y="26352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0" name="Rectangle 50"/>
          <p:cNvSpPr>
            <a:spLocks noChangeArrowheads="1"/>
          </p:cNvSpPr>
          <p:nvPr/>
        </p:nvSpPr>
        <p:spPr bwMode="auto">
          <a:xfrm>
            <a:off x="6629400" y="26352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1" name="Rectangle 51"/>
          <p:cNvSpPr>
            <a:spLocks noChangeArrowheads="1"/>
          </p:cNvSpPr>
          <p:nvPr/>
        </p:nvSpPr>
        <p:spPr bwMode="auto">
          <a:xfrm>
            <a:off x="6934200" y="26352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2" name="Rectangle 52"/>
          <p:cNvSpPr>
            <a:spLocks noChangeArrowheads="1"/>
          </p:cNvSpPr>
          <p:nvPr/>
        </p:nvSpPr>
        <p:spPr bwMode="auto">
          <a:xfrm>
            <a:off x="1447800" y="46926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3" name="Rectangle 53"/>
          <p:cNvSpPr>
            <a:spLocks noChangeArrowheads="1"/>
          </p:cNvSpPr>
          <p:nvPr/>
        </p:nvSpPr>
        <p:spPr bwMode="auto">
          <a:xfrm>
            <a:off x="1752600" y="46926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4" name="Rectangle 54"/>
          <p:cNvSpPr>
            <a:spLocks noChangeArrowheads="1"/>
          </p:cNvSpPr>
          <p:nvPr/>
        </p:nvSpPr>
        <p:spPr bwMode="auto">
          <a:xfrm>
            <a:off x="2057400" y="46926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5" name="Rectangle 55"/>
          <p:cNvSpPr>
            <a:spLocks noChangeArrowheads="1"/>
          </p:cNvSpPr>
          <p:nvPr/>
        </p:nvSpPr>
        <p:spPr bwMode="auto">
          <a:xfrm>
            <a:off x="2362200" y="46926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6" name="Rectangle 56"/>
          <p:cNvSpPr>
            <a:spLocks noChangeArrowheads="1"/>
          </p:cNvSpPr>
          <p:nvPr/>
        </p:nvSpPr>
        <p:spPr bwMode="auto">
          <a:xfrm>
            <a:off x="2667000" y="46926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7" name="Rectangle 57"/>
          <p:cNvSpPr>
            <a:spLocks noChangeArrowheads="1"/>
          </p:cNvSpPr>
          <p:nvPr/>
        </p:nvSpPr>
        <p:spPr bwMode="auto">
          <a:xfrm>
            <a:off x="2971800" y="46926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8" name="Rectangle 58"/>
          <p:cNvSpPr>
            <a:spLocks noChangeArrowheads="1"/>
          </p:cNvSpPr>
          <p:nvPr/>
        </p:nvSpPr>
        <p:spPr bwMode="auto">
          <a:xfrm>
            <a:off x="3276600" y="46926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19" name="Rectangle 59"/>
          <p:cNvSpPr>
            <a:spLocks noChangeArrowheads="1"/>
          </p:cNvSpPr>
          <p:nvPr/>
        </p:nvSpPr>
        <p:spPr bwMode="auto">
          <a:xfrm>
            <a:off x="3581400" y="46926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20" name="Rectangle 60"/>
          <p:cNvSpPr>
            <a:spLocks noChangeArrowheads="1"/>
          </p:cNvSpPr>
          <p:nvPr/>
        </p:nvSpPr>
        <p:spPr bwMode="auto">
          <a:xfrm>
            <a:off x="3886200" y="46926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21" name="Rectangle 61"/>
          <p:cNvSpPr>
            <a:spLocks noChangeArrowheads="1"/>
          </p:cNvSpPr>
          <p:nvPr/>
        </p:nvSpPr>
        <p:spPr bwMode="auto">
          <a:xfrm>
            <a:off x="4191000" y="46926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22" name="Rectangle 62"/>
          <p:cNvSpPr>
            <a:spLocks noChangeArrowheads="1"/>
          </p:cNvSpPr>
          <p:nvPr/>
        </p:nvSpPr>
        <p:spPr bwMode="auto">
          <a:xfrm>
            <a:off x="4495800" y="46926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23" name="Rectangle 63"/>
          <p:cNvSpPr>
            <a:spLocks noChangeArrowheads="1"/>
          </p:cNvSpPr>
          <p:nvPr/>
        </p:nvSpPr>
        <p:spPr bwMode="auto">
          <a:xfrm>
            <a:off x="4800600" y="46926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24" name="Rectangle 64"/>
          <p:cNvSpPr>
            <a:spLocks noChangeArrowheads="1"/>
          </p:cNvSpPr>
          <p:nvPr/>
        </p:nvSpPr>
        <p:spPr bwMode="auto">
          <a:xfrm>
            <a:off x="5105400" y="46926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25" name="Rectangle 65"/>
          <p:cNvSpPr>
            <a:spLocks noChangeArrowheads="1"/>
          </p:cNvSpPr>
          <p:nvPr/>
        </p:nvSpPr>
        <p:spPr bwMode="auto">
          <a:xfrm>
            <a:off x="5410200" y="46926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26" name="Rectangle 66"/>
          <p:cNvSpPr>
            <a:spLocks noChangeArrowheads="1"/>
          </p:cNvSpPr>
          <p:nvPr/>
        </p:nvSpPr>
        <p:spPr bwMode="auto">
          <a:xfrm>
            <a:off x="5715000" y="46926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27" name="Rectangle 67"/>
          <p:cNvSpPr>
            <a:spLocks noChangeArrowheads="1"/>
          </p:cNvSpPr>
          <p:nvPr/>
        </p:nvSpPr>
        <p:spPr bwMode="auto">
          <a:xfrm>
            <a:off x="6019800" y="4692650"/>
            <a:ext cx="3048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28" name="Text Box 68"/>
          <p:cNvSpPr txBox="1">
            <a:spLocks noChangeArrowheads="1"/>
          </p:cNvSpPr>
          <p:nvPr/>
        </p:nvSpPr>
        <p:spPr bwMode="auto">
          <a:xfrm>
            <a:off x="915988" y="1949450"/>
            <a:ext cx="452666" cy="3407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1-2</a:t>
            </a:r>
          </a:p>
        </p:txBody>
      </p:sp>
      <p:sp>
        <p:nvSpPr>
          <p:cNvPr id="15429" name="Text Box 69"/>
          <p:cNvSpPr txBox="1">
            <a:spLocks noChangeArrowheads="1"/>
          </p:cNvSpPr>
          <p:nvPr/>
        </p:nvSpPr>
        <p:spPr bwMode="auto">
          <a:xfrm>
            <a:off x="1068388" y="2635250"/>
            <a:ext cx="293687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3</a:t>
            </a:r>
          </a:p>
        </p:txBody>
      </p:sp>
      <p:sp>
        <p:nvSpPr>
          <p:cNvPr id="15430" name="Text Box 70"/>
          <p:cNvSpPr txBox="1">
            <a:spLocks noChangeArrowheads="1"/>
          </p:cNvSpPr>
          <p:nvPr/>
        </p:nvSpPr>
        <p:spPr bwMode="auto">
          <a:xfrm>
            <a:off x="1050925" y="3305175"/>
            <a:ext cx="295275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4</a:t>
            </a:r>
          </a:p>
        </p:txBody>
      </p:sp>
      <p:sp>
        <p:nvSpPr>
          <p:cNvPr id="15431" name="Text Box 71"/>
          <p:cNvSpPr txBox="1">
            <a:spLocks noChangeArrowheads="1"/>
          </p:cNvSpPr>
          <p:nvPr/>
        </p:nvSpPr>
        <p:spPr bwMode="auto">
          <a:xfrm>
            <a:off x="915988" y="4006850"/>
            <a:ext cx="452666" cy="3407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5-8</a:t>
            </a:r>
          </a:p>
        </p:txBody>
      </p:sp>
      <p:sp>
        <p:nvSpPr>
          <p:cNvPr id="15432" name="Text Box 72"/>
          <p:cNvSpPr txBox="1">
            <a:spLocks noChangeArrowheads="1"/>
          </p:cNvSpPr>
          <p:nvPr/>
        </p:nvSpPr>
        <p:spPr bwMode="auto">
          <a:xfrm>
            <a:off x="763588" y="4692650"/>
            <a:ext cx="573403" cy="3407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9-inf</a:t>
            </a:r>
          </a:p>
        </p:txBody>
      </p:sp>
      <p:sp>
        <p:nvSpPr>
          <p:cNvPr id="15433" name="Line 73"/>
          <p:cNvSpPr>
            <a:spLocks noChangeShapeType="1"/>
          </p:cNvSpPr>
          <p:nvPr/>
        </p:nvSpPr>
        <p:spPr bwMode="auto">
          <a:xfrm>
            <a:off x="2057400" y="2101850"/>
            <a:ext cx="304800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434" name="Line 74"/>
          <p:cNvSpPr>
            <a:spLocks noChangeShapeType="1"/>
          </p:cNvSpPr>
          <p:nvPr/>
        </p:nvSpPr>
        <p:spPr bwMode="auto">
          <a:xfrm>
            <a:off x="2971800" y="2101850"/>
            <a:ext cx="304800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435" name="Line 75"/>
          <p:cNvSpPr>
            <a:spLocks noChangeShapeType="1"/>
          </p:cNvSpPr>
          <p:nvPr/>
        </p:nvSpPr>
        <p:spPr bwMode="auto">
          <a:xfrm>
            <a:off x="3886200" y="4159250"/>
            <a:ext cx="304800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436" name="Line 76"/>
          <p:cNvSpPr>
            <a:spLocks noChangeShapeType="1"/>
          </p:cNvSpPr>
          <p:nvPr/>
        </p:nvSpPr>
        <p:spPr bwMode="auto">
          <a:xfrm>
            <a:off x="3886200" y="2101850"/>
            <a:ext cx="304800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437" name="Line 77"/>
          <p:cNvSpPr>
            <a:spLocks noChangeShapeType="1"/>
          </p:cNvSpPr>
          <p:nvPr/>
        </p:nvSpPr>
        <p:spPr bwMode="auto">
          <a:xfrm>
            <a:off x="2362200" y="2787650"/>
            <a:ext cx="304800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438" name="Line 78"/>
          <p:cNvSpPr>
            <a:spLocks noChangeShapeType="1"/>
          </p:cNvSpPr>
          <p:nvPr/>
        </p:nvSpPr>
        <p:spPr bwMode="auto">
          <a:xfrm>
            <a:off x="4800600" y="2787650"/>
            <a:ext cx="304800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439" name="Line 79"/>
          <p:cNvSpPr>
            <a:spLocks noChangeShapeType="1"/>
          </p:cNvSpPr>
          <p:nvPr/>
        </p:nvSpPr>
        <p:spPr bwMode="auto">
          <a:xfrm>
            <a:off x="3581400" y="2787650"/>
            <a:ext cx="304800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440" name="Line 80"/>
          <p:cNvSpPr>
            <a:spLocks noChangeShapeType="1"/>
          </p:cNvSpPr>
          <p:nvPr/>
        </p:nvSpPr>
        <p:spPr bwMode="auto">
          <a:xfrm>
            <a:off x="2667000" y="3473450"/>
            <a:ext cx="304800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441" name="Line 81"/>
          <p:cNvSpPr>
            <a:spLocks noChangeShapeType="1"/>
          </p:cNvSpPr>
          <p:nvPr/>
        </p:nvSpPr>
        <p:spPr bwMode="auto">
          <a:xfrm>
            <a:off x="6019800" y="2787650"/>
            <a:ext cx="304800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442" name="Line 82"/>
          <p:cNvSpPr>
            <a:spLocks noChangeShapeType="1"/>
          </p:cNvSpPr>
          <p:nvPr/>
        </p:nvSpPr>
        <p:spPr bwMode="auto">
          <a:xfrm>
            <a:off x="4191000" y="3473450"/>
            <a:ext cx="304800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443" name="Line 83"/>
          <p:cNvSpPr>
            <a:spLocks noChangeShapeType="1"/>
          </p:cNvSpPr>
          <p:nvPr/>
        </p:nvSpPr>
        <p:spPr bwMode="auto">
          <a:xfrm>
            <a:off x="4800600" y="2101850"/>
            <a:ext cx="304800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444" name="Line 84"/>
          <p:cNvSpPr>
            <a:spLocks noChangeShapeType="1"/>
          </p:cNvSpPr>
          <p:nvPr/>
        </p:nvSpPr>
        <p:spPr bwMode="auto">
          <a:xfrm>
            <a:off x="7239000" y="2787650"/>
            <a:ext cx="304800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445" name="Line 85"/>
          <p:cNvSpPr>
            <a:spLocks noChangeShapeType="1"/>
          </p:cNvSpPr>
          <p:nvPr/>
        </p:nvSpPr>
        <p:spPr bwMode="auto">
          <a:xfrm>
            <a:off x="6019800" y="4159250"/>
            <a:ext cx="304800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446" name="Line 86"/>
          <p:cNvSpPr>
            <a:spLocks noChangeShapeType="1"/>
          </p:cNvSpPr>
          <p:nvPr/>
        </p:nvSpPr>
        <p:spPr bwMode="auto">
          <a:xfrm>
            <a:off x="5715000" y="3473450"/>
            <a:ext cx="304800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447" name="Line 87"/>
          <p:cNvSpPr>
            <a:spLocks noChangeShapeType="1"/>
          </p:cNvSpPr>
          <p:nvPr/>
        </p:nvSpPr>
        <p:spPr bwMode="auto">
          <a:xfrm>
            <a:off x="6324600" y="4845050"/>
            <a:ext cx="304800" cy="1588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448" name="Rectangle 88"/>
          <p:cNvSpPr>
            <a:spLocks noChangeArrowheads="1"/>
          </p:cNvSpPr>
          <p:nvPr/>
        </p:nvSpPr>
        <p:spPr bwMode="auto">
          <a:xfrm>
            <a:off x="457200" y="5410200"/>
            <a:ext cx="85344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marL="742950" lvl="1" indent="-246063" eaLnBrk="1" hangingPunct="1">
              <a:lnSpc>
                <a:spcPct val="100000"/>
              </a:lnSpc>
              <a:spcBef>
                <a:spcPts val="625"/>
              </a:spcBef>
              <a:buClr>
                <a:srgbClr val="660033"/>
              </a:buClr>
              <a:buSzPct val="75000"/>
              <a:buFont typeface="Wingdings" charset="2"/>
              <a:buNone/>
              <a:tabLst>
                <a:tab pos="742950" algn="l"/>
                <a:tab pos="1657350" algn="l"/>
                <a:tab pos="2571750" algn="l"/>
                <a:tab pos="3486150" algn="l"/>
                <a:tab pos="4400550" algn="l"/>
                <a:tab pos="5314950" algn="l"/>
                <a:tab pos="6229350" algn="l"/>
                <a:tab pos="7143750" algn="l"/>
                <a:tab pos="8058150" algn="l"/>
                <a:tab pos="8972550" algn="l"/>
                <a:tab pos="9886950" algn="l"/>
                <a:tab pos="10801350" algn="l"/>
              </a:tabLst>
            </a:pPr>
            <a:endParaRPr lang="en-GB" sz="2000" dirty="0">
              <a:solidFill>
                <a:srgbClr val="000066"/>
              </a:solidFill>
              <a:latin typeface="Calibri" pitchFamily="34" charset="0"/>
              <a:ea typeface="msgothic" charset="0"/>
              <a:cs typeface="ms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78315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50838" y="381000"/>
            <a:ext cx="8716962" cy="782638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Seglist Allocator</a:t>
            </a: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37021" y="1220788"/>
            <a:ext cx="8307387" cy="5224462"/>
          </a:xfrm>
          <a:ln/>
        </p:spPr>
        <p:txBody>
          <a:bodyPr/>
          <a:lstStyle/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Given an array of free lists, each one for some size class</a:t>
            </a:r>
          </a:p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To allocate a block of size </a:t>
            </a:r>
            <a:r>
              <a:rPr lang="en-GB" i="1" dirty="0"/>
              <a:t>n</a:t>
            </a:r>
            <a:r>
              <a:rPr lang="en-GB" dirty="0"/>
              <a:t>:</a:t>
            </a:r>
          </a:p>
          <a:p>
            <a:pPr lvl="1">
              <a:lnSpc>
                <a:spcPct val="9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Search appropriate free list for block of size </a:t>
            </a:r>
            <a:r>
              <a:rPr lang="en-GB" i="1" dirty="0"/>
              <a:t>m &gt; n</a:t>
            </a:r>
          </a:p>
          <a:p>
            <a:pPr lvl="1">
              <a:lnSpc>
                <a:spcPct val="9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If an appropriate block is found:</a:t>
            </a:r>
          </a:p>
          <a:p>
            <a:pPr lvl="2">
              <a:lnSpc>
                <a:spcPct val="97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Split block and place fragment on appropriate list (optional)</a:t>
            </a:r>
          </a:p>
          <a:p>
            <a:pPr lvl="1">
              <a:lnSpc>
                <a:spcPct val="9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If no block is found, try next larger class</a:t>
            </a:r>
          </a:p>
          <a:p>
            <a:pPr lvl="1">
              <a:lnSpc>
                <a:spcPct val="9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Repeat until block is found</a:t>
            </a:r>
          </a:p>
          <a:p>
            <a:pPr lvl="1">
              <a:lnSpc>
                <a:spcPct val="90000"/>
              </a:lnSpc>
              <a:buFont typeface="Wingdings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If no block is found:</a:t>
            </a:r>
          </a:p>
          <a:p>
            <a:pPr lvl="1">
              <a:lnSpc>
                <a:spcPct val="9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Request additional heap memory from OS (using </a:t>
            </a:r>
            <a:r>
              <a:rPr lang="en-GB" b="1" dirty="0" err="1">
                <a:latin typeface="Courier New" pitchFamily="49" charset="0"/>
              </a:rPr>
              <a:t>sbrk</a:t>
            </a:r>
            <a:r>
              <a:rPr lang="en-GB" b="1" dirty="0">
                <a:latin typeface="Courier New" pitchFamily="49" charset="0"/>
              </a:rPr>
              <a:t>()</a:t>
            </a:r>
            <a:r>
              <a:rPr lang="en-GB" dirty="0"/>
              <a:t>)</a:t>
            </a:r>
          </a:p>
          <a:p>
            <a:pPr lvl="1">
              <a:lnSpc>
                <a:spcPct val="9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Allocate block of </a:t>
            </a:r>
            <a:r>
              <a:rPr lang="en-GB" i="1" dirty="0"/>
              <a:t>n</a:t>
            </a:r>
            <a:r>
              <a:rPr lang="en-GB" dirty="0"/>
              <a:t> bytes from this new memory</a:t>
            </a:r>
          </a:p>
          <a:p>
            <a:pPr lvl="1">
              <a:lnSpc>
                <a:spcPct val="9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Place remainder as a single free block in largest size class.</a:t>
            </a:r>
          </a:p>
        </p:txBody>
      </p:sp>
    </p:spTree>
    <p:extLst>
      <p:ext uri="{BB962C8B-B14F-4D97-AF65-F5344CB8AC3E}">
        <p14:creationId xmlns:p14="http://schemas.microsoft.com/office/powerpoint/2010/main" val="289498674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50838" y="381000"/>
            <a:ext cx="8716962" cy="782638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 err="1"/>
              <a:t>Seglist</a:t>
            </a:r>
            <a:r>
              <a:rPr lang="en-GB" dirty="0"/>
              <a:t> Allocator (cont.)</a:t>
            </a: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5189" y="1220788"/>
            <a:ext cx="8307387" cy="5224462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To free a block: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Coalesce and place on appropriate list </a:t>
            </a:r>
          </a:p>
          <a:p>
            <a:pPr lvl="1">
              <a:lnSpc>
                <a:spcPct val="100000"/>
              </a:lnSpc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Advantages of </a:t>
            </a:r>
            <a:r>
              <a:rPr lang="en-GB" dirty="0" err="1"/>
              <a:t>seglist</a:t>
            </a:r>
            <a:r>
              <a:rPr lang="en-GB" dirty="0"/>
              <a:t> allocators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Higher throughput</a:t>
            </a:r>
          </a:p>
          <a:p>
            <a:pPr lvl="2">
              <a:lnSpc>
                <a:spcPct val="107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 log time for power-of-two size classes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Better memory utilization</a:t>
            </a:r>
          </a:p>
          <a:p>
            <a:pPr lvl="2">
              <a:lnSpc>
                <a:spcPct val="107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First-fit search of segregated free list approximates a best-fit search of entire heap.</a:t>
            </a:r>
          </a:p>
          <a:p>
            <a:pPr lvl="2">
              <a:lnSpc>
                <a:spcPct val="107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Extreme case: Giving each block its own size class is equivalent to best-fit.</a:t>
            </a:r>
          </a:p>
          <a:p>
            <a:pPr lvl="1">
              <a:lnSpc>
                <a:spcPct val="100000"/>
              </a:lnSpc>
              <a:buFont typeface="Wingdings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833615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30200" y="304800"/>
            <a:ext cx="7899400" cy="1096963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More Info on Allocators</a:t>
            </a: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47192" y="1447800"/>
            <a:ext cx="8535987" cy="4876800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D. Knuth, “</a:t>
            </a:r>
            <a:r>
              <a:rPr lang="en-GB" i="1" dirty="0"/>
              <a:t>The Art of Computer Programming</a:t>
            </a:r>
            <a:r>
              <a:rPr lang="en-GB" dirty="0"/>
              <a:t>”, 2</a:t>
            </a:r>
            <a:r>
              <a:rPr lang="en-GB" baseline="30000" dirty="0"/>
              <a:t>nd</a:t>
            </a:r>
            <a:r>
              <a:rPr lang="en-GB" dirty="0"/>
              <a:t> edition, Addison Wesley, 1973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The classic reference on dynamic storage allocation</a:t>
            </a:r>
          </a:p>
          <a:p>
            <a:pPr lvl="1">
              <a:lnSpc>
                <a:spcPct val="100000"/>
              </a:lnSpc>
              <a:buFont typeface="Wingdings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Wilson et al, “</a:t>
            </a:r>
            <a:r>
              <a:rPr lang="en-GB" i="1" dirty="0"/>
              <a:t>Dynamic Storage Allocation: A Survey and Critical Review</a:t>
            </a:r>
            <a:r>
              <a:rPr lang="en-GB" dirty="0"/>
              <a:t>”, Proc. 1995 Int’l Workshop on Memory Management, Kinross, Scotland, Sept, 1995.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Comprehensive survey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Available from CS:APP student site (csapp.cs.cmu.edu)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757826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Quiz Time!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/>
              <a:t>Check out:</a:t>
            </a:r>
          </a:p>
          <a:p>
            <a:endParaRPr lang="en-US" sz="2800" dirty="0"/>
          </a:p>
          <a:p>
            <a:r>
              <a:rPr lang="en-US" sz="2800" dirty="0">
                <a:hlinkClick r:id="rId3"/>
              </a:rPr>
              <a:t>https://canvas.cmu.edu/courses/1221</a:t>
            </a: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4362794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Explicit free lists</a:t>
            </a:r>
            <a:r>
              <a:rPr lang="en-US" dirty="0"/>
              <a:t>	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Segregated free lists</a:t>
            </a:r>
          </a:p>
          <a:p>
            <a:r>
              <a:rPr lang="en-US" dirty="0"/>
              <a:t>Garbage collection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Memory-related perils and pitfalls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48965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457200"/>
            <a:ext cx="7302500" cy="1096963"/>
          </a:xfrm>
          <a:ln/>
        </p:spPr>
        <p:txBody>
          <a:bodyPr/>
          <a:lstStyle/>
          <a:p>
            <a:pPr marL="0" indent="0"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Implicit Memory Management:</a:t>
            </a:r>
            <a:br>
              <a:rPr lang="en-GB" dirty="0"/>
            </a:br>
            <a:r>
              <a:rPr lang="en-GB" dirty="0"/>
              <a:t>Garbage Collection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534400" cy="4876800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i="1" dirty="0">
                <a:solidFill>
                  <a:srgbClr val="C00000"/>
                </a:solidFill>
              </a:rPr>
              <a:t>Garbage collection: </a:t>
            </a:r>
            <a:r>
              <a:rPr lang="en-GB" dirty="0"/>
              <a:t>automatic reclamation of heap-allocated storage—application never has to free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a typeface="msgothic" charset="0"/>
                <a:cs typeface="msgothic" charset="0"/>
              </a:rPr>
              <a:t>Common in many dynamic languages:</a:t>
            </a:r>
          </a:p>
          <a:p>
            <a:pPr lvl="1"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a typeface="msgothic" charset="0"/>
                <a:cs typeface="msgothic" charset="0"/>
              </a:rPr>
              <a:t>Python, Ruby, Java, Perl, ML, Lisp, </a:t>
            </a:r>
            <a:r>
              <a:rPr lang="en-GB" dirty="0" err="1">
                <a:ea typeface="msgothic" charset="0"/>
                <a:cs typeface="msgothic" charset="0"/>
              </a:rPr>
              <a:t>Mathematica</a:t>
            </a:r>
            <a:endParaRPr lang="en-GB" dirty="0">
              <a:ea typeface="msgothic" charset="0"/>
              <a:cs typeface="msgothic" charset="0"/>
            </a:endParaRP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>
              <a:ea typeface="msgothic" charset="0"/>
              <a:cs typeface="msgothic" charset="0"/>
            </a:endParaRP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a typeface="msgothic" charset="0"/>
                <a:cs typeface="msgothic" charset="0"/>
              </a:rPr>
              <a:t>Variants (“conservative” garbage collectors) exist for C and C++</a:t>
            </a:r>
          </a:p>
          <a:p>
            <a:pPr lvl="1"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>
                <a:ea typeface="msgothic" charset="0"/>
                <a:cs typeface="msgothic" charset="0"/>
              </a:rPr>
              <a:t>However, cannot necessarily collect all garbage</a:t>
            </a:r>
          </a:p>
          <a:p>
            <a:pPr>
              <a:lnSpc>
                <a:spcPct val="95000"/>
              </a:lnSpc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>
              <a:solidFill>
                <a:srgbClr val="003300"/>
              </a:solidFill>
              <a:ea typeface="msgothic" charset="0"/>
              <a:cs typeface="msgothic" charset="0"/>
            </a:endParaRP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>
              <a:solidFill>
                <a:srgbClr val="003300"/>
              </a:solidFill>
              <a:ea typeface="msgothic" charset="0"/>
              <a:cs typeface="msgothic" charset="0"/>
            </a:endParaRP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838200" y="2667000"/>
            <a:ext cx="4995576" cy="1079399"/>
          </a:xfrm>
          <a:prstGeom prst="rect">
            <a:avLst/>
          </a:prstGeom>
          <a:solidFill>
            <a:srgbClr val="F6F5BD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void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foo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() {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*p =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malloc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(128);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return;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/* p block is now garbage */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77397695"/>
      </p:ext>
    </p:extLst>
  </p:cSld>
  <p:clrMapOvr>
    <a:masterClrMapping/>
  </p:clrMapOvr>
  <p:transition xmlns:p14="http://schemas.microsoft.com/office/powerpoint/2010/main"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49544" y="533400"/>
            <a:ext cx="63500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Garbage Collection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5600" y="1371600"/>
            <a:ext cx="8483600" cy="4953000"/>
          </a:xfrm>
          <a:ln/>
        </p:spPr>
        <p:txBody>
          <a:bodyPr/>
          <a:lstStyle/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How does the memory manager know when memory can be freed?</a:t>
            </a:r>
          </a:p>
          <a:p>
            <a:pPr lvl="1">
              <a:lnSpc>
                <a:spcPct val="9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In general we cannot know what is going to be used in the future since it depends on conditionals</a:t>
            </a:r>
          </a:p>
          <a:p>
            <a:pPr lvl="1">
              <a:lnSpc>
                <a:spcPct val="9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But we can tell that certain blocks cannot be used if there are no pointers to them</a:t>
            </a:r>
          </a:p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Must make certain assumptions about pointers</a:t>
            </a:r>
          </a:p>
          <a:p>
            <a:pPr lvl="1">
              <a:lnSpc>
                <a:spcPct val="90000"/>
              </a:lnSpc>
              <a:buSzPct val="100000"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Memory manager can distinguish pointers from non-pointers</a:t>
            </a:r>
          </a:p>
          <a:p>
            <a:pPr lvl="1">
              <a:lnSpc>
                <a:spcPct val="90000"/>
              </a:lnSpc>
              <a:buSzPct val="100000"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All pointers point to the start of a block </a:t>
            </a:r>
          </a:p>
          <a:p>
            <a:pPr lvl="1">
              <a:lnSpc>
                <a:spcPct val="90000"/>
              </a:lnSpc>
              <a:buSzPct val="100000"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Cannot hide pointers </a:t>
            </a:r>
            <a:br>
              <a:rPr lang="en-GB" dirty="0"/>
            </a:br>
            <a:r>
              <a:rPr lang="en-GB" dirty="0"/>
              <a:t>(e.g., by coercing them to an </a:t>
            </a:r>
            <a:r>
              <a:rPr lang="en-GB" b="1" dirty="0" err="1">
                <a:latin typeface="Courier New" pitchFamily="49" charset="0"/>
              </a:rPr>
              <a:t>int</a:t>
            </a:r>
            <a:r>
              <a:rPr lang="en-GB" dirty="0"/>
              <a:t>, and then back again)</a:t>
            </a:r>
          </a:p>
        </p:txBody>
      </p:sp>
    </p:spTree>
    <p:extLst>
      <p:ext uri="{BB962C8B-B14F-4D97-AF65-F5344CB8AC3E}">
        <p14:creationId xmlns:p14="http://schemas.microsoft.com/office/powerpoint/2010/main" val="276647150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457200"/>
            <a:ext cx="68834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Classical GC Algorithms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166812"/>
            <a:ext cx="8318500" cy="5462588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Mark-and-sweep collection (McCarthy, 1960)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Does not move blocks (unless you also “compact”)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Reference counting (Collins, 1960)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Does not move blocks (not discussed)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Copying collection (</a:t>
            </a:r>
            <a:r>
              <a:rPr lang="en-GB" dirty="0" err="1"/>
              <a:t>Minsky</a:t>
            </a:r>
            <a:r>
              <a:rPr lang="en-GB" dirty="0"/>
              <a:t>, 1963)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Moves blocks (not discussed)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Generational Collectors (Lieberman and Hewitt, 1983)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Collection based on lifetimes</a:t>
            </a:r>
          </a:p>
          <a:p>
            <a:pPr lvl="2">
              <a:lnSpc>
                <a:spcPct val="107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Most allocations become garbage very soon</a:t>
            </a:r>
          </a:p>
          <a:p>
            <a:pPr lvl="2">
              <a:lnSpc>
                <a:spcPct val="107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So focus reclamation work on zones of memory recently allocated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For more information: </a:t>
            </a:r>
            <a:br>
              <a:rPr lang="en-GB" dirty="0"/>
            </a:br>
            <a:r>
              <a:rPr lang="en-GB" dirty="0"/>
              <a:t>Jones and Lin, “</a:t>
            </a:r>
            <a:r>
              <a:rPr lang="en-GB" i="1" dirty="0"/>
              <a:t>Garbage Collection: Algorithms for Automatic Dynamic Memory</a:t>
            </a:r>
            <a:r>
              <a:rPr lang="en-GB" dirty="0"/>
              <a:t>”, John Wiley &amp; Sons, 1996.</a:t>
            </a:r>
          </a:p>
        </p:txBody>
      </p:sp>
    </p:spTree>
    <p:extLst>
      <p:ext uri="{BB962C8B-B14F-4D97-AF65-F5344CB8AC3E}">
        <p14:creationId xmlns:p14="http://schemas.microsoft.com/office/powerpoint/2010/main" val="186207028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ChangeArrowheads="1"/>
          </p:cNvSpPr>
          <p:nvPr/>
        </p:nvSpPr>
        <p:spPr bwMode="auto">
          <a:xfrm>
            <a:off x="932851" y="3803944"/>
            <a:ext cx="5984875" cy="2057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68300" y="457200"/>
            <a:ext cx="63373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Memory as a Graph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470900" cy="1547813"/>
          </a:xfrm>
          <a:ln/>
        </p:spPr>
        <p:txBody>
          <a:bodyPr/>
          <a:lstStyle/>
          <a:p>
            <a:pPr>
              <a:lnSpc>
                <a:spcPct val="85000"/>
              </a:lnSpc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We view memory as a directed graph</a:t>
            </a:r>
          </a:p>
          <a:p>
            <a:pPr lvl="1">
              <a:lnSpc>
                <a:spcPct val="90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Each block is a node in the graph </a:t>
            </a:r>
          </a:p>
          <a:p>
            <a:pPr lvl="1">
              <a:lnSpc>
                <a:spcPct val="90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Each pointer is an edge in the graph</a:t>
            </a:r>
          </a:p>
          <a:p>
            <a:pPr lvl="1">
              <a:lnSpc>
                <a:spcPct val="90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Locations not in the heap that contain pointers into the heap are called </a:t>
            </a:r>
            <a:r>
              <a:rPr lang="en-GB" b="1" i="1" dirty="0">
                <a:solidFill>
                  <a:srgbClr val="C00000"/>
                </a:solidFill>
              </a:rPr>
              <a:t>root</a:t>
            </a:r>
            <a:r>
              <a:rPr lang="en-GB" dirty="0"/>
              <a:t>  nodes  (e.g. registers, locations on the stack, global variables)</a:t>
            </a:r>
          </a:p>
        </p:txBody>
      </p:sp>
      <p:sp>
        <p:nvSpPr>
          <p:cNvPr id="22532" name="Oval 4"/>
          <p:cNvSpPr>
            <a:spLocks noChangeArrowheads="1"/>
          </p:cNvSpPr>
          <p:nvPr/>
        </p:nvSpPr>
        <p:spPr bwMode="auto">
          <a:xfrm>
            <a:off x="2644176" y="3118144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33" name="Oval 5"/>
          <p:cNvSpPr>
            <a:spLocks noChangeArrowheads="1"/>
          </p:cNvSpPr>
          <p:nvPr/>
        </p:nvSpPr>
        <p:spPr bwMode="auto">
          <a:xfrm>
            <a:off x="3710976" y="3118144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34" name="Oval 6"/>
          <p:cNvSpPr>
            <a:spLocks noChangeArrowheads="1"/>
          </p:cNvSpPr>
          <p:nvPr/>
        </p:nvSpPr>
        <p:spPr bwMode="auto">
          <a:xfrm>
            <a:off x="4853976" y="3118144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35" name="Line 7"/>
          <p:cNvSpPr>
            <a:spLocks noChangeShapeType="1"/>
          </p:cNvSpPr>
          <p:nvPr/>
        </p:nvSpPr>
        <p:spPr bwMode="auto">
          <a:xfrm flipH="1">
            <a:off x="2337789" y="3422944"/>
            <a:ext cx="384175" cy="9144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932851" y="3082209"/>
            <a:ext cx="1147984" cy="3407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Root nodes</a:t>
            </a:r>
          </a:p>
        </p:txBody>
      </p: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939383" y="3803944"/>
            <a:ext cx="1188444" cy="3407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Heap nodes</a:t>
            </a:r>
          </a:p>
        </p:txBody>
      </p:sp>
      <p:sp>
        <p:nvSpPr>
          <p:cNvPr id="22538" name="Line 10"/>
          <p:cNvSpPr>
            <a:spLocks noChangeShapeType="1"/>
          </p:cNvSpPr>
          <p:nvPr/>
        </p:nvSpPr>
        <p:spPr bwMode="auto">
          <a:xfrm>
            <a:off x="3863376" y="3422944"/>
            <a:ext cx="1588" cy="9144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>
            <a:off x="5082576" y="3422944"/>
            <a:ext cx="533400" cy="9652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40" name="Oval 12"/>
          <p:cNvSpPr>
            <a:spLocks noChangeArrowheads="1"/>
          </p:cNvSpPr>
          <p:nvPr/>
        </p:nvSpPr>
        <p:spPr bwMode="auto">
          <a:xfrm>
            <a:off x="2186976" y="4337344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1" name="Oval 13"/>
          <p:cNvSpPr>
            <a:spLocks noChangeArrowheads="1"/>
          </p:cNvSpPr>
          <p:nvPr/>
        </p:nvSpPr>
        <p:spPr bwMode="auto">
          <a:xfrm>
            <a:off x="3710976" y="4337344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2" name="Oval 14"/>
          <p:cNvSpPr>
            <a:spLocks noChangeArrowheads="1"/>
          </p:cNvSpPr>
          <p:nvPr/>
        </p:nvSpPr>
        <p:spPr bwMode="auto">
          <a:xfrm>
            <a:off x="5539776" y="4337344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 flipH="1">
            <a:off x="1651989" y="4565944"/>
            <a:ext cx="536575" cy="6858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44" name="Oval 16"/>
          <p:cNvSpPr>
            <a:spLocks noChangeArrowheads="1"/>
          </p:cNvSpPr>
          <p:nvPr/>
        </p:nvSpPr>
        <p:spPr bwMode="auto">
          <a:xfrm>
            <a:off x="1501176" y="5251744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5" name="Line 17"/>
          <p:cNvSpPr>
            <a:spLocks noChangeShapeType="1"/>
          </p:cNvSpPr>
          <p:nvPr/>
        </p:nvSpPr>
        <p:spPr bwMode="auto">
          <a:xfrm>
            <a:off x="2491776" y="4565944"/>
            <a:ext cx="533400" cy="6858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46" name="Oval 18"/>
          <p:cNvSpPr>
            <a:spLocks noChangeArrowheads="1"/>
          </p:cNvSpPr>
          <p:nvPr/>
        </p:nvSpPr>
        <p:spPr bwMode="auto">
          <a:xfrm>
            <a:off x="2872776" y="5251744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7" name="Line 19"/>
          <p:cNvSpPr>
            <a:spLocks noChangeShapeType="1"/>
          </p:cNvSpPr>
          <p:nvPr/>
        </p:nvSpPr>
        <p:spPr bwMode="auto">
          <a:xfrm>
            <a:off x="5692176" y="4642144"/>
            <a:ext cx="1588" cy="6096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48" name="Oval 20"/>
          <p:cNvSpPr>
            <a:spLocks noChangeArrowheads="1"/>
          </p:cNvSpPr>
          <p:nvPr/>
        </p:nvSpPr>
        <p:spPr bwMode="auto">
          <a:xfrm>
            <a:off x="5539776" y="5251744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49" name="Oval 21"/>
          <p:cNvSpPr>
            <a:spLocks noChangeArrowheads="1"/>
          </p:cNvSpPr>
          <p:nvPr/>
        </p:nvSpPr>
        <p:spPr bwMode="auto">
          <a:xfrm>
            <a:off x="4590451" y="4642144"/>
            <a:ext cx="304800" cy="304800"/>
          </a:xfrm>
          <a:prstGeom prst="ellipse">
            <a:avLst/>
          </a:prstGeom>
          <a:solidFill>
            <a:srgbClr val="EBAFA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50" name="Oval 22"/>
          <p:cNvSpPr>
            <a:spLocks noChangeArrowheads="1"/>
          </p:cNvSpPr>
          <p:nvPr/>
        </p:nvSpPr>
        <p:spPr bwMode="auto">
          <a:xfrm>
            <a:off x="4590451" y="5404144"/>
            <a:ext cx="304800" cy="304800"/>
          </a:xfrm>
          <a:prstGeom prst="ellipse">
            <a:avLst/>
          </a:prstGeom>
          <a:solidFill>
            <a:srgbClr val="EBAFA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51" name="Line 23"/>
          <p:cNvSpPr>
            <a:spLocks noChangeShapeType="1"/>
          </p:cNvSpPr>
          <p:nvPr/>
        </p:nvSpPr>
        <p:spPr bwMode="auto">
          <a:xfrm>
            <a:off x="4742851" y="4946944"/>
            <a:ext cx="1588" cy="4572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52" name="Oval 24"/>
          <p:cNvSpPr>
            <a:spLocks noChangeArrowheads="1"/>
          </p:cNvSpPr>
          <p:nvPr/>
        </p:nvSpPr>
        <p:spPr bwMode="auto">
          <a:xfrm>
            <a:off x="3828451" y="5099344"/>
            <a:ext cx="304800" cy="304800"/>
          </a:xfrm>
          <a:prstGeom prst="ellipse">
            <a:avLst/>
          </a:prstGeom>
          <a:solidFill>
            <a:srgbClr val="EBAFA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53" name="Line 25"/>
          <p:cNvSpPr>
            <a:spLocks noChangeShapeType="1"/>
          </p:cNvSpPr>
          <p:nvPr/>
        </p:nvSpPr>
        <p:spPr bwMode="auto">
          <a:xfrm flipH="1" flipV="1">
            <a:off x="4131664" y="5326357"/>
            <a:ext cx="460375" cy="155575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54" name="Line 26"/>
          <p:cNvSpPr>
            <a:spLocks noChangeShapeType="1"/>
          </p:cNvSpPr>
          <p:nvPr/>
        </p:nvSpPr>
        <p:spPr bwMode="auto">
          <a:xfrm flipV="1">
            <a:off x="4145432" y="4901024"/>
            <a:ext cx="460376" cy="254418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55" name="Oval 27"/>
          <p:cNvSpPr>
            <a:spLocks noChangeArrowheads="1"/>
          </p:cNvSpPr>
          <p:nvPr/>
        </p:nvSpPr>
        <p:spPr bwMode="auto">
          <a:xfrm>
            <a:off x="6266851" y="4794544"/>
            <a:ext cx="304800" cy="304800"/>
          </a:xfrm>
          <a:prstGeom prst="ellipse">
            <a:avLst/>
          </a:prstGeom>
          <a:solidFill>
            <a:srgbClr val="EBAFA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56" name="Oval 28"/>
          <p:cNvSpPr>
            <a:spLocks noChangeArrowheads="1"/>
          </p:cNvSpPr>
          <p:nvPr/>
        </p:nvSpPr>
        <p:spPr bwMode="auto">
          <a:xfrm>
            <a:off x="7170139" y="3930944"/>
            <a:ext cx="304800" cy="304800"/>
          </a:xfrm>
          <a:prstGeom prst="ellipse">
            <a:avLst/>
          </a:prstGeom>
          <a:solidFill>
            <a:srgbClr val="ACE3A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57" name="Oval 29"/>
          <p:cNvSpPr>
            <a:spLocks noChangeArrowheads="1"/>
          </p:cNvSpPr>
          <p:nvPr/>
        </p:nvSpPr>
        <p:spPr bwMode="auto">
          <a:xfrm>
            <a:off x="7170139" y="4388144"/>
            <a:ext cx="304800" cy="304800"/>
          </a:xfrm>
          <a:prstGeom prst="ellipse">
            <a:avLst/>
          </a:prstGeom>
          <a:solidFill>
            <a:srgbClr val="EBAFA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58" name="Text Box 30"/>
          <p:cNvSpPr txBox="1">
            <a:spLocks noChangeArrowheads="1"/>
          </p:cNvSpPr>
          <p:nvPr/>
        </p:nvSpPr>
        <p:spPr bwMode="auto">
          <a:xfrm>
            <a:off x="7549551" y="4337344"/>
            <a:ext cx="1396129" cy="58695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Not-reachable</a:t>
            </a:r>
            <a:b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</a:b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(garbage)</a:t>
            </a:r>
          </a:p>
        </p:txBody>
      </p:sp>
      <p:sp>
        <p:nvSpPr>
          <p:cNvPr id="22559" name="Text Box 31"/>
          <p:cNvSpPr txBox="1">
            <a:spLocks noChangeArrowheads="1"/>
          </p:cNvSpPr>
          <p:nvPr/>
        </p:nvSpPr>
        <p:spPr bwMode="auto">
          <a:xfrm>
            <a:off x="7560664" y="3880144"/>
            <a:ext cx="1017821" cy="3407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reachable</a:t>
            </a:r>
          </a:p>
        </p:txBody>
      </p:sp>
      <p:sp>
        <p:nvSpPr>
          <p:cNvPr id="22560" name="Rectangle 32"/>
          <p:cNvSpPr>
            <a:spLocks noChangeArrowheads="1"/>
          </p:cNvSpPr>
          <p:nvPr/>
        </p:nvSpPr>
        <p:spPr bwMode="auto">
          <a:xfrm>
            <a:off x="843951" y="5943600"/>
            <a:ext cx="7404100" cy="838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360" tIns="44280" rIns="90360" bIns="44280"/>
          <a:lstStyle/>
          <a:p>
            <a:pPr marL="384175" indent="-384175" eaLnBrk="1" hangingPunct="1">
              <a:lnSpc>
                <a:spcPct val="95000"/>
              </a:lnSpc>
              <a:spcBef>
                <a:spcPts val="1125"/>
              </a:spcBef>
              <a:buClr>
                <a:srgbClr val="660033"/>
              </a:buClr>
              <a:buFont typeface="Wingdings" charset="2"/>
              <a:buNone/>
              <a:tabLst>
                <a:tab pos="384175" algn="l"/>
                <a:tab pos="1298575" algn="l"/>
                <a:tab pos="2212975" algn="l"/>
                <a:tab pos="3127375" algn="l"/>
                <a:tab pos="4041775" algn="l"/>
                <a:tab pos="4956175" algn="l"/>
                <a:tab pos="5870575" algn="l"/>
                <a:tab pos="6784975" algn="l"/>
                <a:tab pos="7699375" algn="l"/>
                <a:tab pos="8613775" algn="l"/>
                <a:tab pos="9528175" algn="l"/>
                <a:tab pos="10442575" algn="l"/>
              </a:tabLst>
            </a:pPr>
            <a:r>
              <a:rPr lang="en-GB" sz="1800" dirty="0">
                <a:latin typeface="Calibri" pitchFamily="34" charset="0"/>
                <a:ea typeface="msgothic" charset="0"/>
                <a:cs typeface="msgothic" charset="0"/>
              </a:rPr>
              <a:t>A node (block) is </a:t>
            </a:r>
            <a:r>
              <a:rPr lang="en-GB" sz="1800" i="1" dirty="0">
                <a:solidFill>
                  <a:srgbClr val="C00000"/>
                </a:solidFill>
                <a:latin typeface="Calibri" pitchFamily="34" charset="0"/>
                <a:ea typeface="msgothic" charset="0"/>
                <a:cs typeface="msgothic" charset="0"/>
              </a:rPr>
              <a:t>reachable</a:t>
            </a:r>
            <a:r>
              <a:rPr lang="en-GB" sz="1800" dirty="0">
                <a:latin typeface="Calibri" pitchFamily="34" charset="0"/>
                <a:ea typeface="msgothic" charset="0"/>
                <a:cs typeface="msgothic" charset="0"/>
              </a:rPr>
              <a:t>  if there is a path from any root to that node.</a:t>
            </a:r>
          </a:p>
          <a:p>
            <a:pPr marL="384175" indent="-384175" eaLnBrk="1" hangingPunct="1">
              <a:lnSpc>
                <a:spcPct val="95000"/>
              </a:lnSpc>
              <a:spcBef>
                <a:spcPts val="1125"/>
              </a:spcBef>
              <a:buClr>
                <a:srgbClr val="660033"/>
              </a:buClr>
              <a:buFont typeface="Wingdings" charset="2"/>
              <a:buNone/>
              <a:tabLst>
                <a:tab pos="384175" algn="l"/>
                <a:tab pos="1298575" algn="l"/>
                <a:tab pos="2212975" algn="l"/>
                <a:tab pos="3127375" algn="l"/>
                <a:tab pos="4041775" algn="l"/>
                <a:tab pos="4956175" algn="l"/>
                <a:tab pos="5870575" algn="l"/>
                <a:tab pos="6784975" algn="l"/>
                <a:tab pos="7699375" algn="l"/>
                <a:tab pos="8613775" algn="l"/>
                <a:tab pos="9528175" algn="l"/>
                <a:tab pos="10442575" algn="l"/>
              </a:tabLst>
            </a:pPr>
            <a:r>
              <a:rPr lang="en-GB" sz="1800" dirty="0">
                <a:latin typeface="Calibri" pitchFamily="34" charset="0"/>
                <a:ea typeface="msgothic" charset="0"/>
                <a:cs typeface="msgothic" charset="0"/>
              </a:rPr>
              <a:t>Non-reachable nodes are </a:t>
            </a:r>
            <a:r>
              <a:rPr lang="en-GB" sz="1800" i="1" dirty="0">
                <a:solidFill>
                  <a:srgbClr val="C00000"/>
                </a:solidFill>
                <a:latin typeface="Calibri" pitchFamily="34" charset="0"/>
                <a:ea typeface="msgothic" charset="0"/>
                <a:cs typeface="msgothic" charset="0"/>
              </a:rPr>
              <a:t>garbage</a:t>
            </a:r>
            <a:r>
              <a:rPr lang="en-GB" sz="1800" i="1" dirty="0">
                <a:latin typeface="Calibri" pitchFamily="34" charset="0"/>
                <a:ea typeface="msgothic" charset="0"/>
                <a:cs typeface="msgothic" charset="0"/>
              </a:rPr>
              <a:t> </a:t>
            </a:r>
            <a:r>
              <a:rPr lang="en-GB" sz="1800" dirty="0">
                <a:latin typeface="Calibri" pitchFamily="34" charset="0"/>
                <a:ea typeface="msgothic" charset="0"/>
                <a:cs typeface="msgothic" charset="0"/>
              </a:rPr>
              <a:t>(cannot be needed by the application)</a:t>
            </a:r>
          </a:p>
        </p:txBody>
      </p:sp>
    </p:spTree>
    <p:extLst>
      <p:ext uri="{BB962C8B-B14F-4D97-AF65-F5344CB8AC3E}">
        <p14:creationId xmlns:p14="http://schemas.microsoft.com/office/powerpoint/2010/main" val="301588383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457200"/>
            <a:ext cx="71501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Mark and Sweep Collecting</a:t>
            </a:r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79413" y="1174750"/>
            <a:ext cx="8307387" cy="2406650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Can build on top of </a:t>
            </a:r>
            <a:r>
              <a:rPr lang="en-GB" dirty="0" err="1"/>
              <a:t>malloc</a:t>
            </a:r>
            <a:r>
              <a:rPr lang="en-GB" dirty="0"/>
              <a:t>/free package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0" dirty="0"/>
              <a:t>Allocate using </a:t>
            </a:r>
            <a:r>
              <a:rPr lang="en-GB" b="1" dirty="0" err="1">
                <a:latin typeface="Courier New"/>
                <a:cs typeface="Courier New"/>
              </a:rPr>
              <a:t>malloc</a:t>
            </a:r>
            <a:r>
              <a:rPr lang="en-GB" b="0" dirty="0"/>
              <a:t> until you “run out of space”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When out of space: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0" dirty="0"/>
              <a:t>Use extra </a:t>
            </a:r>
            <a:r>
              <a:rPr lang="en-GB" b="1" i="1" dirty="0">
                <a:solidFill>
                  <a:srgbClr val="C00000"/>
                </a:solidFill>
              </a:rPr>
              <a:t>mark bit</a:t>
            </a:r>
            <a:r>
              <a:rPr lang="en-GB" b="1" dirty="0">
                <a:solidFill>
                  <a:srgbClr val="C00000"/>
                </a:solidFill>
              </a:rPr>
              <a:t> </a:t>
            </a:r>
            <a:r>
              <a:rPr lang="en-GB" b="0" dirty="0"/>
              <a:t>in the head of each block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 dirty="0">
                <a:solidFill>
                  <a:srgbClr val="C00000"/>
                </a:solidFill>
              </a:rPr>
              <a:t>Mark:</a:t>
            </a:r>
            <a:r>
              <a:rPr lang="en-GB" dirty="0"/>
              <a:t> </a:t>
            </a:r>
            <a:r>
              <a:rPr lang="en-GB" b="0" dirty="0"/>
              <a:t>Start at roots and set </a:t>
            </a:r>
            <a:r>
              <a:rPr lang="en-GB" dirty="0"/>
              <a:t>mark bit</a:t>
            </a:r>
            <a:r>
              <a:rPr lang="en-GB" b="0" dirty="0"/>
              <a:t> on each reachable block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 dirty="0">
                <a:solidFill>
                  <a:srgbClr val="C00000"/>
                </a:solidFill>
              </a:rPr>
              <a:t>Sweep:</a:t>
            </a:r>
            <a:r>
              <a:rPr lang="en-GB" dirty="0"/>
              <a:t> </a:t>
            </a:r>
            <a:r>
              <a:rPr lang="en-GB" b="0" dirty="0"/>
              <a:t>Scan all blocks and </a:t>
            </a:r>
            <a:r>
              <a:rPr lang="en-GB" dirty="0"/>
              <a:t>free</a:t>
            </a:r>
            <a:r>
              <a:rPr lang="en-GB" b="0" dirty="0"/>
              <a:t> blocks that are </a:t>
            </a:r>
            <a:r>
              <a:rPr lang="en-GB" dirty="0"/>
              <a:t>not marked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</p:txBody>
      </p:sp>
      <p:grpSp>
        <p:nvGrpSpPr>
          <p:cNvPr id="78" name="Group 77"/>
          <p:cNvGrpSpPr/>
          <p:nvPr/>
        </p:nvGrpSpPr>
        <p:grpSpPr>
          <a:xfrm>
            <a:off x="377825" y="4724400"/>
            <a:ext cx="8551679" cy="939800"/>
            <a:chOff x="377825" y="4724400"/>
            <a:chExt cx="8551679" cy="939800"/>
          </a:xfrm>
        </p:grpSpPr>
        <p:sp>
          <p:nvSpPr>
            <p:cNvPr id="24577" name="Rectangle 1"/>
            <p:cNvSpPr>
              <a:spLocks noChangeArrowheads="1"/>
            </p:cNvSpPr>
            <p:nvPr/>
          </p:nvSpPr>
          <p:spPr bwMode="auto">
            <a:xfrm>
              <a:off x="6019800" y="5130800"/>
              <a:ext cx="304800" cy="304800"/>
            </a:xfrm>
            <a:prstGeom prst="rect">
              <a:avLst/>
            </a:prstGeom>
            <a:solidFill>
              <a:srgbClr val="EBAFA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78" name="Rectangle 2"/>
            <p:cNvSpPr>
              <a:spLocks noChangeArrowheads="1"/>
            </p:cNvSpPr>
            <p:nvPr/>
          </p:nvSpPr>
          <p:spPr bwMode="auto">
            <a:xfrm>
              <a:off x="3886200" y="5130800"/>
              <a:ext cx="304800" cy="304800"/>
            </a:xfrm>
            <a:prstGeom prst="rect">
              <a:avLst/>
            </a:prstGeom>
            <a:solidFill>
              <a:srgbClr val="EBAFA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79" name="Rectangle 3"/>
            <p:cNvSpPr>
              <a:spLocks noChangeArrowheads="1"/>
            </p:cNvSpPr>
            <p:nvPr/>
          </p:nvSpPr>
          <p:spPr bwMode="auto">
            <a:xfrm>
              <a:off x="3276600" y="5130800"/>
              <a:ext cx="304800" cy="304800"/>
            </a:xfrm>
            <a:prstGeom prst="rect">
              <a:avLst/>
            </a:prstGeom>
            <a:solidFill>
              <a:srgbClr val="EBAFA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4" name="Freeform 28"/>
            <p:cNvSpPr>
              <a:spLocks/>
            </p:cNvSpPr>
            <p:nvPr/>
          </p:nvSpPr>
          <p:spPr bwMode="auto">
            <a:xfrm>
              <a:off x="3657600" y="4749800"/>
              <a:ext cx="685800" cy="482600"/>
            </a:xfrm>
            <a:custGeom>
              <a:avLst/>
              <a:gdLst/>
              <a:ahLst/>
              <a:cxnLst>
                <a:cxn ang="0">
                  <a:pos x="768" y="304"/>
                </a:cxn>
                <a:cxn ang="0">
                  <a:pos x="384" y="16"/>
                </a:cxn>
                <a:cxn ang="0">
                  <a:pos x="0" y="208"/>
                </a:cxn>
              </a:cxnLst>
              <a:rect l="0" t="0" r="r" b="b"/>
              <a:pathLst>
                <a:path w="768" h="304">
                  <a:moveTo>
                    <a:pt x="768" y="304"/>
                  </a:moveTo>
                  <a:cubicBezTo>
                    <a:pt x="640" y="168"/>
                    <a:pt x="512" y="32"/>
                    <a:pt x="384" y="16"/>
                  </a:cubicBezTo>
                  <a:cubicBezTo>
                    <a:pt x="256" y="0"/>
                    <a:pt x="128" y="104"/>
                    <a:pt x="0" y="208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5" name="Freeform 29"/>
            <p:cNvSpPr>
              <a:spLocks/>
            </p:cNvSpPr>
            <p:nvPr/>
          </p:nvSpPr>
          <p:spPr bwMode="auto">
            <a:xfrm>
              <a:off x="4648200" y="4724400"/>
              <a:ext cx="1752600" cy="558800"/>
            </a:xfrm>
            <a:custGeom>
              <a:avLst/>
              <a:gdLst/>
              <a:ahLst/>
              <a:cxnLst>
                <a:cxn ang="0">
                  <a:pos x="0" y="352"/>
                </a:cxn>
                <a:cxn ang="0">
                  <a:pos x="432" y="16"/>
                </a:cxn>
                <a:cxn ang="0">
                  <a:pos x="960" y="256"/>
                </a:cxn>
              </a:cxnLst>
              <a:rect l="0" t="0" r="r" b="b"/>
              <a:pathLst>
                <a:path w="960" h="352">
                  <a:moveTo>
                    <a:pt x="0" y="352"/>
                  </a:moveTo>
                  <a:cubicBezTo>
                    <a:pt x="136" y="192"/>
                    <a:pt x="272" y="32"/>
                    <a:pt x="432" y="16"/>
                  </a:cubicBezTo>
                  <a:cubicBezTo>
                    <a:pt x="592" y="0"/>
                    <a:pt x="776" y="128"/>
                    <a:pt x="960" y="256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6" name="Freeform 30"/>
            <p:cNvSpPr>
              <a:spLocks/>
            </p:cNvSpPr>
            <p:nvPr/>
          </p:nvSpPr>
          <p:spPr bwMode="auto">
            <a:xfrm>
              <a:off x="2514600" y="5283200"/>
              <a:ext cx="1219200" cy="381000"/>
            </a:xfrm>
            <a:custGeom>
              <a:avLst/>
              <a:gdLst/>
              <a:ahLst/>
              <a:cxnLst>
                <a:cxn ang="0">
                  <a:pos x="768" y="0"/>
                </a:cxn>
                <a:cxn ang="0">
                  <a:pos x="384" y="240"/>
                </a:cxn>
                <a:cxn ang="0">
                  <a:pos x="0" y="96"/>
                </a:cxn>
              </a:cxnLst>
              <a:rect l="0" t="0" r="r" b="b"/>
              <a:pathLst>
                <a:path w="768" h="256">
                  <a:moveTo>
                    <a:pt x="768" y="0"/>
                  </a:moveTo>
                  <a:cubicBezTo>
                    <a:pt x="640" y="112"/>
                    <a:pt x="512" y="224"/>
                    <a:pt x="384" y="240"/>
                  </a:cubicBezTo>
                  <a:cubicBezTo>
                    <a:pt x="256" y="256"/>
                    <a:pt x="128" y="176"/>
                    <a:pt x="0" y="96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7" name="Text Box 31"/>
            <p:cNvSpPr txBox="1">
              <a:spLocks noChangeArrowheads="1"/>
            </p:cNvSpPr>
            <p:nvPr/>
          </p:nvSpPr>
          <p:spPr bwMode="auto">
            <a:xfrm>
              <a:off x="377825" y="5086866"/>
              <a:ext cx="1332779" cy="402291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itchFamily="34" charset="0"/>
                  <a:ea typeface="msgothic" charset="0"/>
                  <a:cs typeface="msgothic" charset="0"/>
                </a:rPr>
                <a:t>After mark</a:t>
              </a:r>
            </a:p>
          </p:txBody>
        </p:sp>
        <p:sp>
          <p:nvSpPr>
            <p:cNvPr id="24608" name="Line 32"/>
            <p:cNvSpPr>
              <a:spLocks noChangeShapeType="1"/>
            </p:cNvSpPr>
            <p:nvPr/>
          </p:nvSpPr>
          <p:spPr bwMode="auto">
            <a:xfrm>
              <a:off x="4343400" y="4876800"/>
              <a:ext cx="1588" cy="228600"/>
            </a:xfrm>
            <a:prstGeom prst="line">
              <a:avLst/>
            </a:prstGeom>
            <a:noFill/>
            <a:ln w="57150">
              <a:solidFill>
                <a:srgbClr val="C00000"/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09" name="Rectangle 33"/>
            <p:cNvSpPr>
              <a:spLocks noChangeArrowheads="1"/>
            </p:cNvSpPr>
            <p:nvPr/>
          </p:nvSpPr>
          <p:spPr bwMode="auto">
            <a:xfrm>
              <a:off x="2057400" y="5130800"/>
              <a:ext cx="609600" cy="3048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0" name="Rectangle 34"/>
            <p:cNvSpPr>
              <a:spLocks noChangeArrowheads="1"/>
            </p:cNvSpPr>
            <p:nvPr/>
          </p:nvSpPr>
          <p:spPr bwMode="auto">
            <a:xfrm>
              <a:off x="2667000" y="5130800"/>
              <a:ext cx="609600" cy="3048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1" name="Rectangle 35"/>
            <p:cNvSpPr>
              <a:spLocks noChangeArrowheads="1"/>
            </p:cNvSpPr>
            <p:nvPr/>
          </p:nvSpPr>
          <p:spPr bwMode="auto">
            <a:xfrm>
              <a:off x="3276600" y="5130800"/>
              <a:ext cx="609600" cy="3048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2" name="Rectangle 36"/>
            <p:cNvSpPr>
              <a:spLocks noChangeArrowheads="1"/>
            </p:cNvSpPr>
            <p:nvPr/>
          </p:nvSpPr>
          <p:spPr bwMode="auto">
            <a:xfrm>
              <a:off x="3886200" y="5130800"/>
              <a:ext cx="914400" cy="3048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3" name="Rectangle 37"/>
            <p:cNvSpPr>
              <a:spLocks noChangeArrowheads="1"/>
            </p:cNvSpPr>
            <p:nvPr/>
          </p:nvSpPr>
          <p:spPr bwMode="auto">
            <a:xfrm>
              <a:off x="4800600" y="5130800"/>
              <a:ext cx="1219200" cy="3048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4" name="Rectangle 38"/>
            <p:cNvSpPr>
              <a:spLocks noChangeArrowheads="1"/>
            </p:cNvSpPr>
            <p:nvPr/>
          </p:nvSpPr>
          <p:spPr bwMode="auto">
            <a:xfrm>
              <a:off x="6019800" y="5130800"/>
              <a:ext cx="914400" cy="304800"/>
            </a:xfrm>
            <a:prstGeom prst="rect">
              <a:avLst/>
            </a:prstGeom>
            <a:noFill/>
            <a:ln w="381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5" name="Line 39"/>
            <p:cNvSpPr>
              <a:spLocks noChangeShapeType="1"/>
            </p:cNvSpPr>
            <p:nvPr/>
          </p:nvSpPr>
          <p:spPr bwMode="auto">
            <a:xfrm>
              <a:off x="2971800" y="5130800"/>
              <a:ext cx="1588" cy="3048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16" name="Line 40"/>
            <p:cNvSpPr>
              <a:spLocks noChangeShapeType="1"/>
            </p:cNvSpPr>
            <p:nvPr/>
          </p:nvSpPr>
          <p:spPr bwMode="auto">
            <a:xfrm>
              <a:off x="2362200" y="5130800"/>
              <a:ext cx="1588" cy="304800"/>
            </a:xfrm>
            <a:prstGeom prst="line">
              <a:avLst/>
            </a:prstGeom>
            <a:noFill/>
            <a:ln w="126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17" name="Line 41"/>
            <p:cNvSpPr>
              <a:spLocks noChangeShapeType="1"/>
            </p:cNvSpPr>
            <p:nvPr/>
          </p:nvSpPr>
          <p:spPr bwMode="auto">
            <a:xfrm>
              <a:off x="3581400" y="5130800"/>
              <a:ext cx="1588" cy="304800"/>
            </a:xfrm>
            <a:prstGeom prst="line">
              <a:avLst/>
            </a:prstGeom>
            <a:noFill/>
            <a:ln w="126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18" name="Line 42"/>
            <p:cNvSpPr>
              <a:spLocks noChangeShapeType="1"/>
            </p:cNvSpPr>
            <p:nvPr/>
          </p:nvSpPr>
          <p:spPr bwMode="auto">
            <a:xfrm>
              <a:off x="4191000" y="5130800"/>
              <a:ext cx="1588" cy="304800"/>
            </a:xfrm>
            <a:prstGeom prst="line">
              <a:avLst/>
            </a:prstGeom>
            <a:noFill/>
            <a:ln w="126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19" name="Line 43"/>
            <p:cNvSpPr>
              <a:spLocks noChangeShapeType="1"/>
            </p:cNvSpPr>
            <p:nvPr/>
          </p:nvSpPr>
          <p:spPr bwMode="auto">
            <a:xfrm>
              <a:off x="4495800" y="5130800"/>
              <a:ext cx="1588" cy="3048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20" name="Line 44"/>
            <p:cNvSpPr>
              <a:spLocks noChangeShapeType="1"/>
            </p:cNvSpPr>
            <p:nvPr/>
          </p:nvSpPr>
          <p:spPr bwMode="auto">
            <a:xfrm>
              <a:off x="5105400" y="5130800"/>
              <a:ext cx="1588" cy="3048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21" name="Line 45"/>
            <p:cNvSpPr>
              <a:spLocks noChangeShapeType="1"/>
            </p:cNvSpPr>
            <p:nvPr/>
          </p:nvSpPr>
          <p:spPr bwMode="auto">
            <a:xfrm>
              <a:off x="5410200" y="5130800"/>
              <a:ext cx="1588" cy="3048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22" name="Line 46"/>
            <p:cNvSpPr>
              <a:spLocks noChangeShapeType="1"/>
            </p:cNvSpPr>
            <p:nvPr/>
          </p:nvSpPr>
          <p:spPr bwMode="auto">
            <a:xfrm>
              <a:off x="5715000" y="5130800"/>
              <a:ext cx="1588" cy="3048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23" name="Line 47"/>
            <p:cNvSpPr>
              <a:spLocks noChangeShapeType="1"/>
            </p:cNvSpPr>
            <p:nvPr/>
          </p:nvSpPr>
          <p:spPr bwMode="auto">
            <a:xfrm>
              <a:off x="6324600" y="5130800"/>
              <a:ext cx="1588" cy="304800"/>
            </a:xfrm>
            <a:prstGeom prst="line">
              <a:avLst/>
            </a:prstGeom>
            <a:noFill/>
            <a:ln w="126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24" name="Line 48"/>
            <p:cNvSpPr>
              <a:spLocks noChangeShapeType="1"/>
            </p:cNvSpPr>
            <p:nvPr/>
          </p:nvSpPr>
          <p:spPr bwMode="auto">
            <a:xfrm>
              <a:off x="6629400" y="5130800"/>
              <a:ext cx="1588" cy="30480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625" name="Rectangle 49"/>
            <p:cNvSpPr>
              <a:spLocks noChangeArrowheads="1"/>
            </p:cNvSpPr>
            <p:nvPr/>
          </p:nvSpPr>
          <p:spPr bwMode="auto">
            <a:xfrm>
              <a:off x="2057400" y="5130800"/>
              <a:ext cx="304800" cy="304800"/>
            </a:xfrm>
            <a:prstGeom prst="rect">
              <a:avLst/>
            </a:prstGeom>
            <a:solidFill>
              <a:srgbClr val="EBAFA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8" name="Rectangle 72"/>
            <p:cNvSpPr>
              <a:spLocks noChangeArrowheads="1"/>
            </p:cNvSpPr>
            <p:nvPr/>
          </p:nvSpPr>
          <p:spPr bwMode="auto">
            <a:xfrm>
              <a:off x="7391400" y="5111341"/>
              <a:ext cx="304800" cy="304800"/>
            </a:xfrm>
            <a:prstGeom prst="rect">
              <a:avLst/>
            </a:prstGeom>
            <a:solidFill>
              <a:srgbClr val="EBAFAF"/>
            </a:solidFill>
            <a:ln w="255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49" name="Text Box 73"/>
            <p:cNvSpPr txBox="1">
              <a:spLocks noChangeArrowheads="1"/>
            </p:cNvSpPr>
            <p:nvPr/>
          </p:nvSpPr>
          <p:spPr bwMode="auto">
            <a:xfrm>
              <a:off x="7718425" y="5111341"/>
              <a:ext cx="1211079" cy="34073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 algn="ctr">
                <a:lnSpc>
                  <a:spcPct val="10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Mark bit set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382588" y="5842000"/>
            <a:ext cx="6551612" cy="939800"/>
            <a:chOff x="382588" y="5842000"/>
            <a:chExt cx="6551612" cy="939800"/>
          </a:xfrm>
        </p:grpSpPr>
        <p:sp>
          <p:nvSpPr>
            <p:cNvPr id="24628" name="Freeform 52"/>
            <p:cNvSpPr>
              <a:spLocks/>
            </p:cNvSpPr>
            <p:nvPr/>
          </p:nvSpPr>
          <p:spPr bwMode="auto">
            <a:xfrm>
              <a:off x="2514600" y="6400800"/>
              <a:ext cx="1219200" cy="381000"/>
            </a:xfrm>
            <a:custGeom>
              <a:avLst/>
              <a:gdLst/>
              <a:ahLst/>
              <a:cxnLst>
                <a:cxn ang="0">
                  <a:pos x="768" y="0"/>
                </a:cxn>
                <a:cxn ang="0">
                  <a:pos x="384" y="240"/>
                </a:cxn>
                <a:cxn ang="0">
                  <a:pos x="0" y="96"/>
                </a:cxn>
              </a:cxnLst>
              <a:rect l="0" t="0" r="r" b="b"/>
              <a:pathLst>
                <a:path w="768" h="256">
                  <a:moveTo>
                    <a:pt x="768" y="0"/>
                  </a:moveTo>
                  <a:cubicBezTo>
                    <a:pt x="640" y="112"/>
                    <a:pt x="512" y="224"/>
                    <a:pt x="384" y="240"/>
                  </a:cubicBezTo>
                  <a:cubicBezTo>
                    <a:pt x="256" y="256"/>
                    <a:pt x="128" y="176"/>
                    <a:pt x="0" y="96"/>
                  </a:cubicBezTo>
                </a:path>
              </a:pathLst>
            </a:custGeom>
            <a:noFill/>
            <a:ln w="2556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9" name="Group 78"/>
            <p:cNvGrpSpPr/>
            <p:nvPr/>
          </p:nvGrpSpPr>
          <p:grpSpPr>
            <a:xfrm>
              <a:off x="382588" y="5842000"/>
              <a:ext cx="6551612" cy="762686"/>
              <a:chOff x="382588" y="5842000"/>
              <a:chExt cx="6551612" cy="762686"/>
            </a:xfrm>
          </p:grpSpPr>
          <p:sp>
            <p:nvSpPr>
              <p:cNvPr id="24626" name="Freeform 50"/>
              <p:cNvSpPr>
                <a:spLocks/>
              </p:cNvSpPr>
              <p:nvPr/>
            </p:nvSpPr>
            <p:spPr bwMode="auto">
              <a:xfrm>
                <a:off x="3657600" y="5867400"/>
                <a:ext cx="685800" cy="482600"/>
              </a:xfrm>
              <a:custGeom>
                <a:avLst/>
                <a:gdLst/>
                <a:ahLst/>
                <a:cxnLst>
                  <a:cxn ang="0">
                    <a:pos x="768" y="304"/>
                  </a:cxn>
                  <a:cxn ang="0">
                    <a:pos x="384" y="16"/>
                  </a:cxn>
                  <a:cxn ang="0">
                    <a:pos x="0" y="208"/>
                  </a:cxn>
                </a:cxnLst>
                <a:rect l="0" t="0" r="r" b="b"/>
                <a:pathLst>
                  <a:path w="768" h="304">
                    <a:moveTo>
                      <a:pt x="768" y="304"/>
                    </a:moveTo>
                    <a:cubicBezTo>
                      <a:pt x="640" y="168"/>
                      <a:pt x="512" y="32"/>
                      <a:pt x="384" y="16"/>
                    </a:cubicBezTo>
                    <a:cubicBezTo>
                      <a:pt x="256" y="0"/>
                      <a:pt x="128" y="104"/>
                      <a:pt x="0" y="208"/>
                    </a:cubicBezTo>
                  </a:path>
                </a:pathLst>
              </a:custGeom>
              <a:noFill/>
              <a:ln w="25560">
                <a:solidFill>
                  <a:schemeClr val="tx1"/>
                </a:solidFill>
                <a:round/>
                <a:headEnd type="oval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27" name="Freeform 51"/>
              <p:cNvSpPr>
                <a:spLocks/>
              </p:cNvSpPr>
              <p:nvPr/>
            </p:nvSpPr>
            <p:spPr bwMode="auto">
              <a:xfrm>
                <a:off x="4648200" y="5842000"/>
                <a:ext cx="1752600" cy="558800"/>
              </a:xfrm>
              <a:custGeom>
                <a:avLst/>
                <a:gdLst/>
                <a:ahLst/>
                <a:cxnLst>
                  <a:cxn ang="0">
                    <a:pos x="0" y="352"/>
                  </a:cxn>
                  <a:cxn ang="0">
                    <a:pos x="432" y="16"/>
                  </a:cxn>
                  <a:cxn ang="0">
                    <a:pos x="960" y="256"/>
                  </a:cxn>
                </a:cxnLst>
                <a:rect l="0" t="0" r="r" b="b"/>
                <a:pathLst>
                  <a:path w="960" h="352">
                    <a:moveTo>
                      <a:pt x="0" y="352"/>
                    </a:moveTo>
                    <a:cubicBezTo>
                      <a:pt x="136" y="192"/>
                      <a:pt x="272" y="32"/>
                      <a:pt x="432" y="16"/>
                    </a:cubicBezTo>
                    <a:cubicBezTo>
                      <a:pt x="592" y="0"/>
                      <a:pt x="776" y="128"/>
                      <a:pt x="960" y="256"/>
                    </a:cubicBezTo>
                  </a:path>
                </a:pathLst>
              </a:custGeom>
              <a:noFill/>
              <a:ln w="25560">
                <a:solidFill>
                  <a:schemeClr val="tx1"/>
                </a:solidFill>
                <a:round/>
                <a:headEnd type="oval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29" name="Text Box 53"/>
              <p:cNvSpPr txBox="1">
                <a:spLocks noChangeArrowheads="1"/>
              </p:cNvSpPr>
              <p:nvPr/>
            </p:nvSpPr>
            <p:spPr bwMode="auto">
              <a:xfrm>
                <a:off x="382588" y="6202395"/>
                <a:ext cx="1470572" cy="402291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buFont typeface="Helvetica" pitchFamily="32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2000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itchFamily="34" charset="0"/>
                    <a:ea typeface="msgothic" charset="0"/>
                    <a:cs typeface="msgothic" charset="0"/>
                  </a:rPr>
                  <a:t>After sweep</a:t>
                </a:r>
              </a:p>
            </p:txBody>
          </p:sp>
          <p:sp>
            <p:nvSpPr>
              <p:cNvPr id="24630" name="Line 54"/>
              <p:cNvSpPr>
                <a:spLocks noChangeShapeType="1"/>
              </p:cNvSpPr>
              <p:nvPr/>
            </p:nvSpPr>
            <p:spPr bwMode="auto">
              <a:xfrm>
                <a:off x="4343400" y="5994400"/>
                <a:ext cx="1588" cy="228600"/>
              </a:xfrm>
              <a:prstGeom prst="line">
                <a:avLst/>
              </a:prstGeom>
              <a:noFill/>
              <a:ln w="57150">
                <a:solidFill>
                  <a:srgbClr val="C00000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31" name="Rectangle 55"/>
              <p:cNvSpPr>
                <a:spLocks noChangeArrowheads="1"/>
              </p:cNvSpPr>
              <p:nvPr/>
            </p:nvSpPr>
            <p:spPr bwMode="auto">
              <a:xfrm>
                <a:off x="2057400" y="6248400"/>
                <a:ext cx="609600" cy="304800"/>
              </a:xfrm>
              <a:prstGeom prst="rect">
                <a:avLst/>
              </a:prstGeom>
              <a:noFill/>
              <a:ln w="381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2" name="Rectangle 56"/>
              <p:cNvSpPr>
                <a:spLocks noChangeArrowheads="1"/>
              </p:cNvSpPr>
              <p:nvPr/>
            </p:nvSpPr>
            <p:spPr bwMode="auto">
              <a:xfrm>
                <a:off x="2667000" y="6248400"/>
                <a:ext cx="609600" cy="304800"/>
              </a:xfrm>
              <a:prstGeom prst="rect">
                <a:avLst/>
              </a:prstGeom>
              <a:noFill/>
              <a:ln w="381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3" name="Rectangle 57"/>
              <p:cNvSpPr>
                <a:spLocks noChangeArrowheads="1"/>
              </p:cNvSpPr>
              <p:nvPr/>
            </p:nvSpPr>
            <p:spPr bwMode="auto">
              <a:xfrm>
                <a:off x="3276600" y="6248400"/>
                <a:ext cx="609600" cy="304800"/>
              </a:xfrm>
              <a:prstGeom prst="rect">
                <a:avLst/>
              </a:prstGeom>
              <a:noFill/>
              <a:ln w="381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4" name="Rectangle 58"/>
              <p:cNvSpPr>
                <a:spLocks noChangeArrowheads="1"/>
              </p:cNvSpPr>
              <p:nvPr/>
            </p:nvSpPr>
            <p:spPr bwMode="auto">
              <a:xfrm>
                <a:off x="3886200" y="6248400"/>
                <a:ext cx="914400" cy="304800"/>
              </a:xfrm>
              <a:prstGeom prst="rect">
                <a:avLst/>
              </a:prstGeom>
              <a:noFill/>
              <a:ln w="381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5" name="Rectangle 59"/>
              <p:cNvSpPr>
                <a:spLocks noChangeArrowheads="1"/>
              </p:cNvSpPr>
              <p:nvPr/>
            </p:nvSpPr>
            <p:spPr bwMode="auto">
              <a:xfrm>
                <a:off x="4800600" y="6248400"/>
                <a:ext cx="1219200" cy="304800"/>
              </a:xfrm>
              <a:prstGeom prst="rect">
                <a:avLst/>
              </a:prstGeom>
              <a:noFill/>
              <a:ln w="381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6" name="Rectangle 60"/>
              <p:cNvSpPr>
                <a:spLocks noChangeArrowheads="1"/>
              </p:cNvSpPr>
              <p:nvPr/>
            </p:nvSpPr>
            <p:spPr bwMode="auto">
              <a:xfrm>
                <a:off x="6019800" y="6248400"/>
                <a:ext cx="914400" cy="304800"/>
              </a:xfrm>
              <a:prstGeom prst="rect">
                <a:avLst/>
              </a:prstGeom>
              <a:noFill/>
              <a:ln w="381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7" name="Line 61"/>
              <p:cNvSpPr>
                <a:spLocks noChangeShapeType="1"/>
              </p:cNvSpPr>
              <p:nvPr/>
            </p:nvSpPr>
            <p:spPr bwMode="auto">
              <a:xfrm>
                <a:off x="2971800" y="6248400"/>
                <a:ext cx="1588" cy="304800"/>
              </a:xfrm>
              <a:prstGeom prst="line">
                <a:avLst/>
              </a:prstGeom>
              <a:noFill/>
              <a:ln w="255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38" name="Line 62"/>
              <p:cNvSpPr>
                <a:spLocks noChangeShapeType="1"/>
              </p:cNvSpPr>
              <p:nvPr/>
            </p:nvSpPr>
            <p:spPr bwMode="auto">
              <a:xfrm>
                <a:off x="2362200" y="624840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39" name="Line 63"/>
              <p:cNvSpPr>
                <a:spLocks noChangeShapeType="1"/>
              </p:cNvSpPr>
              <p:nvPr/>
            </p:nvSpPr>
            <p:spPr bwMode="auto">
              <a:xfrm>
                <a:off x="3581400" y="624840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0" name="Line 64"/>
              <p:cNvSpPr>
                <a:spLocks noChangeShapeType="1"/>
              </p:cNvSpPr>
              <p:nvPr/>
            </p:nvSpPr>
            <p:spPr bwMode="auto">
              <a:xfrm>
                <a:off x="4191000" y="624840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1" name="Line 65"/>
              <p:cNvSpPr>
                <a:spLocks noChangeShapeType="1"/>
              </p:cNvSpPr>
              <p:nvPr/>
            </p:nvSpPr>
            <p:spPr bwMode="auto">
              <a:xfrm>
                <a:off x="4495800" y="624840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2" name="Line 66"/>
              <p:cNvSpPr>
                <a:spLocks noChangeShapeType="1"/>
              </p:cNvSpPr>
              <p:nvPr/>
            </p:nvSpPr>
            <p:spPr bwMode="auto">
              <a:xfrm>
                <a:off x="5105400" y="6248400"/>
                <a:ext cx="1588" cy="304800"/>
              </a:xfrm>
              <a:prstGeom prst="line">
                <a:avLst/>
              </a:prstGeom>
              <a:noFill/>
              <a:ln w="255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3" name="Line 67"/>
              <p:cNvSpPr>
                <a:spLocks noChangeShapeType="1"/>
              </p:cNvSpPr>
              <p:nvPr/>
            </p:nvSpPr>
            <p:spPr bwMode="auto">
              <a:xfrm>
                <a:off x="5410200" y="6248400"/>
                <a:ext cx="1588" cy="304800"/>
              </a:xfrm>
              <a:prstGeom prst="line">
                <a:avLst/>
              </a:prstGeom>
              <a:noFill/>
              <a:ln w="255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4" name="Line 68"/>
              <p:cNvSpPr>
                <a:spLocks noChangeShapeType="1"/>
              </p:cNvSpPr>
              <p:nvPr/>
            </p:nvSpPr>
            <p:spPr bwMode="auto">
              <a:xfrm>
                <a:off x="5715000" y="6248400"/>
                <a:ext cx="1588" cy="304800"/>
              </a:xfrm>
              <a:prstGeom prst="line">
                <a:avLst/>
              </a:prstGeom>
              <a:noFill/>
              <a:ln w="255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5" name="Line 69"/>
              <p:cNvSpPr>
                <a:spLocks noChangeShapeType="1"/>
              </p:cNvSpPr>
              <p:nvPr/>
            </p:nvSpPr>
            <p:spPr bwMode="auto">
              <a:xfrm>
                <a:off x="6324600" y="624840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6" name="Line 70"/>
              <p:cNvSpPr>
                <a:spLocks noChangeShapeType="1"/>
              </p:cNvSpPr>
              <p:nvPr/>
            </p:nvSpPr>
            <p:spPr bwMode="auto">
              <a:xfrm>
                <a:off x="6629400" y="624840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7" name="Rectangle 71"/>
              <p:cNvSpPr>
                <a:spLocks noChangeArrowheads="1"/>
              </p:cNvSpPr>
              <p:nvPr/>
            </p:nvSpPr>
            <p:spPr bwMode="auto">
              <a:xfrm>
                <a:off x="4800600" y="6248400"/>
                <a:ext cx="1219200" cy="304800"/>
              </a:xfrm>
              <a:prstGeom prst="rect">
                <a:avLst/>
              </a:prstGeom>
              <a:solidFill>
                <a:srgbClr val="F6F5BD"/>
              </a:solidFill>
              <a:ln w="255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 anchor="ctr"/>
              <a:lstStyle/>
              <a:p>
                <a:pPr algn="ctr">
                  <a:lnSpc>
                    <a:spcPct val="100000"/>
                  </a:lnSpc>
                  <a:buFont typeface="Helvetica" pitchFamily="32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600" b="1" dirty="0">
                    <a:latin typeface="Calibri" pitchFamily="34" charset="0"/>
                    <a:ea typeface="msgothic" charset="0"/>
                    <a:cs typeface="msgothic" charset="0"/>
                  </a:rPr>
                  <a:t>free</a:t>
                </a:r>
              </a:p>
            </p:txBody>
          </p:sp>
          <p:sp>
            <p:nvSpPr>
              <p:cNvPr id="24650" name="Rectangle 74"/>
              <p:cNvSpPr>
                <a:spLocks noChangeArrowheads="1"/>
              </p:cNvSpPr>
              <p:nvPr/>
            </p:nvSpPr>
            <p:spPr bwMode="auto">
              <a:xfrm>
                <a:off x="2667000" y="6248400"/>
                <a:ext cx="609600" cy="304800"/>
              </a:xfrm>
              <a:prstGeom prst="rect">
                <a:avLst/>
              </a:prstGeom>
              <a:solidFill>
                <a:srgbClr val="F6F5BD"/>
              </a:solidFill>
              <a:ln w="255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000" tIns="46800" rIns="90000" bIns="46800" anchor="ctr"/>
              <a:lstStyle/>
              <a:p>
                <a:pPr algn="ctr">
                  <a:lnSpc>
                    <a:spcPct val="100000"/>
                  </a:lnSpc>
                  <a:buFont typeface="Helvetica" pitchFamily="32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1600" b="1" dirty="0">
                    <a:latin typeface="Calibri" pitchFamily="34" charset="0"/>
                    <a:ea typeface="msgothic" charset="0"/>
                    <a:cs typeface="msgothic" charset="0"/>
                  </a:rPr>
                  <a:t>free</a:t>
                </a:r>
              </a:p>
            </p:txBody>
          </p:sp>
        </p:grpSp>
      </p:grpSp>
      <p:grpSp>
        <p:nvGrpSpPr>
          <p:cNvPr id="81" name="Group 80"/>
          <p:cNvGrpSpPr/>
          <p:nvPr/>
        </p:nvGrpSpPr>
        <p:grpSpPr>
          <a:xfrm>
            <a:off x="379413" y="3461952"/>
            <a:ext cx="8764587" cy="1141798"/>
            <a:chOff x="379413" y="3461952"/>
            <a:chExt cx="8764587" cy="1141798"/>
          </a:xfrm>
        </p:grpSpPr>
        <p:sp>
          <p:nvSpPr>
            <p:cNvPr id="24587" name="Text Box 11"/>
            <p:cNvSpPr txBox="1">
              <a:spLocks noChangeArrowheads="1"/>
            </p:cNvSpPr>
            <p:nvPr/>
          </p:nvSpPr>
          <p:spPr bwMode="auto">
            <a:xfrm>
              <a:off x="4030807" y="3461952"/>
              <a:ext cx="633869" cy="402291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buFont typeface="Helvetica" pitchFamily="32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 b="1" dirty="0">
                  <a:solidFill>
                    <a:srgbClr val="C00000"/>
                  </a:solidFill>
                  <a:latin typeface="Calibri" pitchFamily="34" charset="0"/>
                  <a:ea typeface="msgothic" charset="0"/>
                  <a:cs typeface="msgothic" charset="0"/>
                </a:rPr>
                <a:t>root</a:t>
              </a:r>
            </a:p>
          </p:txBody>
        </p:sp>
        <p:grpSp>
          <p:nvGrpSpPr>
            <p:cNvPr id="77" name="Group 76"/>
            <p:cNvGrpSpPr/>
            <p:nvPr/>
          </p:nvGrpSpPr>
          <p:grpSpPr>
            <a:xfrm>
              <a:off x="379413" y="3617893"/>
              <a:ext cx="8764587" cy="985857"/>
              <a:chOff x="379413" y="3617893"/>
              <a:chExt cx="8764587" cy="985857"/>
            </a:xfrm>
          </p:grpSpPr>
          <p:sp>
            <p:nvSpPr>
              <p:cNvPr id="24582" name="Freeform 6"/>
              <p:cNvSpPr>
                <a:spLocks/>
              </p:cNvSpPr>
              <p:nvPr/>
            </p:nvSpPr>
            <p:spPr bwMode="auto">
              <a:xfrm>
                <a:off x="3657600" y="3689350"/>
                <a:ext cx="685800" cy="482600"/>
              </a:xfrm>
              <a:custGeom>
                <a:avLst/>
                <a:gdLst/>
                <a:ahLst/>
                <a:cxnLst>
                  <a:cxn ang="0">
                    <a:pos x="768" y="304"/>
                  </a:cxn>
                  <a:cxn ang="0">
                    <a:pos x="384" y="16"/>
                  </a:cxn>
                  <a:cxn ang="0">
                    <a:pos x="0" y="208"/>
                  </a:cxn>
                </a:cxnLst>
                <a:rect l="0" t="0" r="r" b="b"/>
                <a:pathLst>
                  <a:path w="768" h="304">
                    <a:moveTo>
                      <a:pt x="768" y="304"/>
                    </a:moveTo>
                    <a:cubicBezTo>
                      <a:pt x="640" y="168"/>
                      <a:pt x="512" y="32"/>
                      <a:pt x="384" y="16"/>
                    </a:cubicBezTo>
                    <a:cubicBezTo>
                      <a:pt x="256" y="0"/>
                      <a:pt x="128" y="104"/>
                      <a:pt x="0" y="208"/>
                    </a:cubicBezTo>
                  </a:path>
                </a:pathLst>
              </a:custGeom>
              <a:noFill/>
              <a:ln w="25560">
                <a:solidFill>
                  <a:schemeClr val="tx1"/>
                </a:solidFill>
                <a:round/>
                <a:headEnd type="oval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83" name="Freeform 7"/>
              <p:cNvSpPr>
                <a:spLocks/>
              </p:cNvSpPr>
              <p:nvPr/>
            </p:nvSpPr>
            <p:spPr bwMode="auto">
              <a:xfrm>
                <a:off x="4648200" y="3663950"/>
                <a:ext cx="1752600" cy="558800"/>
              </a:xfrm>
              <a:custGeom>
                <a:avLst/>
                <a:gdLst/>
                <a:ahLst/>
                <a:cxnLst>
                  <a:cxn ang="0">
                    <a:pos x="0" y="352"/>
                  </a:cxn>
                  <a:cxn ang="0">
                    <a:pos x="432" y="16"/>
                  </a:cxn>
                  <a:cxn ang="0">
                    <a:pos x="960" y="256"/>
                  </a:cxn>
                </a:cxnLst>
                <a:rect l="0" t="0" r="r" b="b"/>
                <a:pathLst>
                  <a:path w="960" h="352">
                    <a:moveTo>
                      <a:pt x="0" y="352"/>
                    </a:moveTo>
                    <a:cubicBezTo>
                      <a:pt x="136" y="192"/>
                      <a:pt x="272" y="32"/>
                      <a:pt x="432" y="16"/>
                    </a:cubicBezTo>
                    <a:cubicBezTo>
                      <a:pt x="592" y="0"/>
                      <a:pt x="776" y="128"/>
                      <a:pt x="960" y="256"/>
                    </a:cubicBezTo>
                  </a:path>
                </a:pathLst>
              </a:custGeom>
              <a:noFill/>
              <a:ln w="25560">
                <a:solidFill>
                  <a:schemeClr val="tx1"/>
                </a:solidFill>
                <a:round/>
                <a:headEnd type="oval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84" name="Freeform 8"/>
              <p:cNvSpPr>
                <a:spLocks/>
              </p:cNvSpPr>
              <p:nvPr/>
            </p:nvSpPr>
            <p:spPr bwMode="auto">
              <a:xfrm>
                <a:off x="2362200" y="4222750"/>
                <a:ext cx="1371600" cy="381000"/>
              </a:xfrm>
              <a:custGeom>
                <a:avLst/>
                <a:gdLst/>
                <a:ahLst/>
                <a:cxnLst>
                  <a:cxn ang="0">
                    <a:pos x="768" y="0"/>
                  </a:cxn>
                  <a:cxn ang="0">
                    <a:pos x="384" y="240"/>
                  </a:cxn>
                  <a:cxn ang="0">
                    <a:pos x="0" y="96"/>
                  </a:cxn>
                </a:cxnLst>
                <a:rect l="0" t="0" r="r" b="b"/>
                <a:pathLst>
                  <a:path w="768" h="256">
                    <a:moveTo>
                      <a:pt x="768" y="0"/>
                    </a:moveTo>
                    <a:cubicBezTo>
                      <a:pt x="640" y="112"/>
                      <a:pt x="512" y="224"/>
                      <a:pt x="384" y="240"/>
                    </a:cubicBezTo>
                    <a:cubicBezTo>
                      <a:pt x="256" y="256"/>
                      <a:pt x="128" y="176"/>
                      <a:pt x="0" y="96"/>
                    </a:cubicBezTo>
                  </a:path>
                </a:pathLst>
              </a:custGeom>
              <a:noFill/>
              <a:ln w="25560">
                <a:solidFill>
                  <a:schemeClr val="tx1"/>
                </a:solidFill>
                <a:round/>
                <a:headEnd type="oval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85" name="Text Box 9"/>
              <p:cNvSpPr txBox="1">
                <a:spLocks noChangeArrowheads="1"/>
              </p:cNvSpPr>
              <p:nvPr/>
            </p:nvSpPr>
            <p:spPr bwMode="auto">
              <a:xfrm>
                <a:off x="379413" y="4035340"/>
                <a:ext cx="1495579" cy="402291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buFont typeface="Helvetica" pitchFamily="32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sz="2000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" pitchFamily="34" charset="0"/>
                    <a:ea typeface="msgothic" charset="0"/>
                    <a:cs typeface="msgothic" charset="0"/>
                  </a:rPr>
                  <a:t>Before mark</a:t>
                </a:r>
              </a:p>
            </p:txBody>
          </p:sp>
          <p:sp>
            <p:nvSpPr>
              <p:cNvPr id="24586" name="Line 10"/>
              <p:cNvSpPr>
                <a:spLocks noChangeShapeType="1"/>
              </p:cNvSpPr>
              <p:nvPr/>
            </p:nvSpPr>
            <p:spPr bwMode="auto">
              <a:xfrm>
                <a:off x="4343400" y="3816350"/>
                <a:ext cx="1588" cy="228600"/>
              </a:xfrm>
              <a:prstGeom prst="line">
                <a:avLst/>
              </a:prstGeom>
              <a:noFill/>
              <a:ln w="57150">
                <a:solidFill>
                  <a:srgbClr val="C00000"/>
                </a:solidFill>
                <a:miter lim="800000"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88" name="Rectangle 12"/>
              <p:cNvSpPr>
                <a:spLocks noChangeArrowheads="1"/>
              </p:cNvSpPr>
              <p:nvPr/>
            </p:nvSpPr>
            <p:spPr bwMode="auto">
              <a:xfrm>
                <a:off x="2057400" y="4070350"/>
                <a:ext cx="609600" cy="304800"/>
              </a:xfrm>
              <a:prstGeom prst="rect">
                <a:avLst/>
              </a:prstGeom>
              <a:noFill/>
              <a:ln w="381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89" name="Rectangle 13"/>
              <p:cNvSpPr>
                <a:spLocks noChangeArrowheads="1"/>
              </p:cNvSpPr>
              <p:nvPr/>
            </p:nvSpPr>
            <p:spPr bwMode="auto">
              <a:xfrm>
                <a:off x="2667000" y="4070350"/>
                <a:ext cx="609600" cy="304800"/>
              </a:xfrm>
              <a:prstGeom prst="rect">
                <a:avLst/>
              </a:prstGeom>
              <a:noFill/>
              <a:ln w="381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0" name="Rectangle 14"/>
              <p:cNvSpPr>
                <a:spLocks noChangeArrowheads="1"/>
              </p:cNvSpPr>
              <p:nvPr/>
            </p:nvSpPr>
            <p:spPr bwMode="auto">
              <a:xfrm>
                <a:off x="3276600" y="4070350"/>
                <a:ext cx="609600" cy="304800"/>
              </a:xfrm>
              <a:prstGeom prst="rect">
                <a:avLst/>
              </a:prstGeom>
              <a:noFill/>
              <a:ln w="381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1" name="Rectangle 15"/>
              <p:cNvSpPr>
                <a:spLocks noChangeArrowheads="1"/>
              </p:cNvSpPr>
              <p:nvPr/>
            </p:nvSpPr>
            <p:spPr bwMode="auto">
              <a:xfrm>
                <a:off x="3886200" y="4070350"/>
                <a:ext cx="914400" cy="304800"/>
              </a:xfrm>
              <a:prstGeom prst="rect">
                <a:avLst/>
              </a:prstGeom>
              <a:noFill/>
              <a:ln w="381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2" name="Rectangle 16"/>
              <p:cNvSpPr>
                <a:spLocks noChangeArrowheads="1"/>
              </p:cNvSpPr>
              <p:nvPr/>
            </p:nvSpPr>
            <p:spPr bwMode="auto">
              <a:xfrm>
                <a:off x="4800600" y="4070350"/>
                <a:ext cx="1219200" cy="304800"/>
              </a:xfrm>
              <a:prstGeom prst="rect">
                <a:avLst/>
              </a:prstGeom>
              <a:noFill/>
              <a:ln w="381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3" name="Rectangle 17"/>
              <p:cNvSpPr>
                <a:spLocks noChangeArrowheads="1"/>
              </p:cNvSpPr>
              <p:nvPr/>
            </p:nvSpPr>
            <p:spPr bwMode="auto">
              <a:xfrm>
                <a:off x="6019800" y="4070350"/>
                <a:ext cx="914400" cy="304800"/>
              </a:xfrm>
              <a:prstGeom prst="rect">
                <a:avLst/>
              </a:prstGeom>
              <a:noFill/>
              <a:ln w="3816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4" name="Line 18"/>
              <p:cNvSpPr>
                <a:spLocks noChangeShapeType="1"/>
              </p:cNvSpPr>
              <p:nvPr/>
            </p:nvSpPr>
            <p:spPr bwMode="auto">
              <a:xfrm>
                <a:off x="29718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95" name="Line 19"/>
              <p:cNvSpPr>
                <a:spLocks noChangeShapeType="1"/>
              </p:cNvSpPr>
              <p:nvPr/>
            </p:nvSpPr>
            <p:spPr bwMode="auto">
              <a:xfrm>
                <a:off x="23622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96" name="Line 20"/>
              <p:cNvSpPr>
                <a:spLocks noChangeShapeType="1"/>
              </p:cNvSpPr>
              <p:nvPr/>
            </p:nvSpPr>
            <p:spPr bwMode="auto">
              <a:xfrm>
                <a:off x="35814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97" name="Line 21"/>
              <p:cNvSpPr>
                <a:spLocks noChangeShapeType="1"/>
              </p:cNvSpPr>
              <p:nvPr/>
            </p:nvSpPr>
            <p:spPr bwMode="auto">
              <a:xfrm>
                <a:off x="41910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98" name="Line 22"/>
              <p:cNvSpPr>
                <a:spLocks noChangeShapeType="1"/>
              </p:cNvSpPr>
              <p:nvPr/>
            </p:nvSpPr>
            <p:spPr bwMode="auto">
              <a:xfrm>
                <a:off x="44958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99" name="Line 23"/>
              <p:cNvSpPr>
                <a:spLocks noChangeShapeType="1"/>
              </p:cNvSpPr>
              <p:nvPr/>
            </p:nvSpPr>
            <p:spPr bwMode="auto">
              <a:xfrm>
                <a:off x="51054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00" name="Line 24"/>
              <p:cNvSpPr>
                <a:spLocks noChangeShapeType="1"/>
              </p:cNvSpPr>
              <p:nvPr/>
            </p:nvSpPr>
            <p:spPr bwMode="auto">
              <a:xfrm>
                <a:off x="54102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01" name="Line 25"/>
              <p:cNvSpPr>
                <a:spLocks noChangeShapeType="1"/>
              </p:cNvSpPr>
              <p:nvPr/>
            </p:nvSpPr>
            <p:spPr bwMode="auto">
              <a:xfrm>
                <a:off x="57150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02" name="Line 26"/>
              <p:cNvSpPr>
                <a:spLocks noChangeShapeType="1"/>
              </p:cNvSpPr>
              <p:nvPr/>
            </p:nvSpPr>
            <p:spPr bwMode="auto">
              <a:xfrm>
                <a:off x="63246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03" name="Line 27"/>
              <p:cNvSpPr>
                <a:spLocks noChangeShapeType="1"/>
              </p:cNvSpPr>
              <p:nvPr/>
            </p:nvSpPr>
            <p:spPr bwMode="auto">
              <a:xfrm>
                <a:off x="6629400" y="4070350"/>
                <a:ext cx="1588" cy="30480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7696200" y="3617893"/>
                <a:ext cx="14478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0" i="1" dirty="0">
                    <a:latin typeface="Calibri" pitchFamily="34" charset="0"/>
                  </a:rPr>
                  <a:t>Note: arrows here denote memory refs, not free list </a:t>
                </a:r>
                <a:r>
                  <a:rPr lang="en-US" sz="1400" b="0" i="1" dirty="0" err="1">
                    <a:latin typeface="Calibri" pitchFamily="34" charset="0"/>
                  </a:rPr>
                  <a:t>ptrs</a:t>
                </a:r>
                <a:r>
                  <a:rPr lang="en-US" sz="1400" b="0" i="1" dirty="0">
                    <a:latin typeface="Calibri" pitchFamily="34" charset="0"/>
                  </a:rPr>
                  <a:t>.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1158946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493713"/>
            <a:ext cx="84582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Assumptions For a Simple Implementation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174750"/>
            <a:ext cx="8701087" cy="5378450"/>
          </a:xfrm>
          <a:ln/>
        </p:spPr>
        <p:txBody>
          <a:bodyPr/>
          <a:lstStyle/>
          <a:p>
            <a:pPr marL="288925" indent="-288925">
              <a:lnSpc>
                <a:spcPct val="95000"/>
              </a:lnSpc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dirty="0"/>
              <a:t>Application</a:t>
            </a:r>
          </a:p>
          <a:p>
            <a:pPr marL="568325" lvl="1" indent="-279400">
              <a:lnSpc>
                <a:spcPct val="100000"/>
              </a:lnSpc>
              <a:buClr>
                <a:srgbClr val="000000"/>
              </a:buClr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b="1" dirty="0">
                <a:latin typeface="Courier New" pitchFamily="49" charset="0"/>
              </a:rPr>
              <a:t>new(n)</a:t>
            </a:r>
            <a:r>
              <a:rPr lang="en-GB" b="1" dirty="0"/>
              <a:t>:  </a:t>
            </a:r>
            <a:r>
              <a:rPr lang="en-GB" dirty="0"/>
              <a:t>returns pointer to new block with all locations cleared</a:t>
            </a:r>
          </a:p>
          <a:p>
            <a:pPr marL="568325" lvl="1" indent="-279400">
              <a:lnSpc>
                <a:spcPct val="100000"/>
              </a:lnSpc>
              <a:buClr>
                <a:srgbClr val="000000"/>
              </a:buClr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b="1" dirty="0">
                <a:latin typeface="Courier New" pitchFamily="49" charset="0"/>
              </a:rPr>
              <a:t>read(</a:t>
            </a:r>
            <a:r>
              <a:rPr lang="en-GB" b="1" dirty="0" err="1">
                <a:latin typeface="Courier New" pitchFamily="49" charset="0"/>
              </a:rPr>
              <a:t>b,i</a:t>
            </a:r>
            <a:r>
              <a:rPr lang="en-GB" b="1" dirty="0">
                <a:latin typeface="Courier New" pitchFamily="49" charset="0"/>
              </a:rPr>
              <a:t>):</a:t>
            </a:r>
            <a:r>
              <a:rPr lang="en-GB" b="1" dirty="0"/>
              <a:t> </a:t>
            </a:r>
            <a:r>
              <a:rPr lang="en-GB" dirty="0"/>
              <a:t>read location </a:t>
            </a:r>
            <a:r>
              <a:rPr lang="en-GB" b="1" dirty="0" err="1">
                <a:latin typeface="Courier New" pitchFamily="49" charset="0"/>
              </a:rPr>
              <a:t>i</a:t>
            </a:r>
            <a:r>
              <a:rPr lang="en-GB" dirty="0"/>
              <a:t> of block </a:t>
            </a:r>
            <a:r>
              <a:rPr lang="en-GB" b="1" dirty="0">
                <a:latin typeface="Courier New" pitchFamily="49" charset="0"/>
              </a:rPr>
              <a:t>b</a:t>
            </a:r>
            <a:r>
              <a:rPr lang="en-GB" dirty="0"/>
              <a:t> into register</a:t>
            </a:r>
          </a:p>
          <a:p>
            <a:pPr marL="568325" lvl="1" indent="-279400">
              <a:lnSpc>
                <a:spcPct val="100000"/>
              </a:lnSpc>
              <a:buClr>
                <a:srgbClr val="000000"/>
              </a:buClr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b="1" dirty="0">
                <a:latin typeface="Courier New" pitchFamily="49" charset="0"/>
              </a:rPr>
              <a:t>write(</a:t>
            </a:r>
            <a:r>
              <a:rPr lang="en-GB" b="1" dirty="0" err="1">
                <a:latin typeface="Courier New" pitchFamily="49" charset="0"/>
              </a:rPr>
              <a:t>b,i,v</a:t>
            </a:r>
            <a:r>
              <a:rPr lang="en-GB" b="1" dirty="0">
                <a:latin typeface="Courier New" pitchFamily="49" charset="0"/>
              </a:rPr>
              <a:t>): </a:t>
            </a:r>
            <a:r>
              <a:rPr lang="en-GB" dirty="0"/>
              <a:t>write </a:t>
            </a:r>
            <a:r>
              <a:rPr lang="en-GB" b="1" dirty="0">
                <a:latin typeface="Courier New" pitchFamily="49" charset="0"/>
              </a:rPr>
              <a:t>v</a:t>
            </a:r>
            <a:r>
              <a:rPr lang="en-GB" dirty="0"/>
              <a:t> into location </a:t>
            </a:r>
            <a:r>
              <a:rPr lang="en-GB" b="1" dirty="0" err="1">
                <a:latin typeface="Courier New" pitchFamily="49" charset="0"/>
              </a:rPr>
              <a:t>i</a:t>
            </a:r>
            <a:r>
              <a:rPr lang="en-GB" dirty="0"/>
              <a:t> of block </a:t>
            </a:r>
            <a:r>
              <a:rPr lang="en-GB" b="1" dirty="0">
                <a:latin typeface="Courier New" pitchFamily="49" charset="0"/>
              </a:rPr>
              <a:t>b</a:t>
            </a:r>
          </a:p>
          <a:p>
            <a:pPr marL="0" indent="0">
              <a:lnSpc>
                <a:spcPct val="95000"/>
              </a:lnSpc>
              <a:spcBef>
                <a:spcPts val="1125"/>
              </a:spcBef>
              <a:buSzPct val="100000"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endParaRPr lang="en-GB" sz="1800" dirty="0">
              <a:solidFill>
                <a:srgbClr val="000066"/>
              </a:solidFill>
            </a:endParaRPr>
          </a:p>
          <a:p>
            <a:pPr marL="288925" indent="-288925">
              <a:lnSpc>
                <a:spcPct val="95000"/>
              </a:lnSpc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dirty="0"/>
              <a:t>Each block will have a header word</a:t>
            </a:r>
          </a:p>
          <a:p>
            <a:pPr marL="568325" lvl="1" indent="-279400">
              <a:lnSpc>
                <a:spcPct val="100000"/>
              </a:lnSpc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dirty="0"/>
              <a:t>addressed as </a:t>
            </a:r>
            <a:r>
              <a:rPr lang="en-GB" b="1" dirty="0">
                <a:latin typeface="Courier New" pitchFamily="49" charset="0"/>
              </a:rPr>
              <a:t>b[-1]</a:t>
            </a:r>
            <a:r>
              <a:rPr lang="en-GB" dirty="0"/>
              <a:t>, for a block </a:t>
            </a:r>
            <a:r>
              <a:rPr lang="en-GB" b="1" dirty="0">
                <a:latin typeface="Courier New" pitchFamily="49" charset="0"/>
              </a:rPr>
              <a:t>b</a:t>
            </a:r>
          </a:p>
          <a:p>
            <a:pPr marL="568325" lvl="1" indent="-279400">
              <a:lnSpc>
                <a:spcPct val="100000"/>
              </a:lnSpc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dirty="0"/>
              <a:t>Used for different purposes in different collectors</a:t>
            </a:r>
          </a:p>
          <a:p>
            <a:pPr marL="431800" lvl="1" indent="-215900">
              <a:lnSpc>
                <a:spcPct val="100000"/>
              </a:lnSpc>
              <a:buSzPct val="75000"/>
              <a:buFont typeface="Wingdings" charset="2"/>
              <a:buNone/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endParaRPr lang="en-GB" dirty="0"/>
          </a:p>
          <a:p>
            <a:pPr marL="288925" indent="-288925">
              <a:lnSpc>
                <a:spcPct val="95000"/>
              </a:lnSpc>
              <a:tabLst>
                <a:tab pos="288925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dirty="0"/>
              <a:t>Instructions used by the Garbage Collector</a:t>
            </a:r>
          </a:p>
          <a:p>
            <a:pPr marL="568325" lvl="1" indent="-279400">
              <a:lnSpc>
                <a:spcPct val="100000"/>
              </a:lnSpc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b="1" dirty="0" err="1">
                <a:solidFill>
                  <a:srgbClr val="990000"/>
                </a:solidFill>
                <a:latin typeface="Courier New" pitchFamily="49" charset="0"/>
              </a:rPr>
              <a:t>is_ptr</a:t>
            </a:r>
            <a:r>
              <a:rPr lang="en-GB" b="1" dirty="0">
                <a:solidFill>
                  <a:srgbClr val="990000"/>
                </a:solidFill>
                <a:latin typeface="Courier New" pitchFamily="49" charset="0"/>
              </a:rPr>
              <a:t>(p):</a:t>
            </a:r>
            <a:r>
              <a:rPr lang="en-GB" dirty="0">
                <a:solidFill>
                  <a:srgbClr val="990000"/>
                </a:solidFill>
              </a:rPr>
              <a:t> determines whether </a:t>
            </a:r>
            <a:r>
              <a:rPr lang="en-GB" b="1" dirty="0">
                <a:solidFill>
                  <a:srgbClr val="990000"/>
                </a:solidFill>
                <a:latin typeface="Courier New" pitchFamily="49" charset="0"/>
              </a:rPr>
              <a:t>p</a:t>
            </a:r>
            <a:r>
              <a:rPr lang="en-GB" dirty="0">
                <a:solidFill>
                  <a:srgbClr val="990000"/>
                </a:solidFill>
              </a:rPr>
              <a:t> is a pointer</a:t>
            </a:r>
          </a:p>
          <a:p>
            <a:pPr marL="568325" lvl="1" indent="-279400">
              <a:lnSpc>
                <a:spcPct val="100000"/>
              </a:lnSpc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b="1" dirty="0">
                <a:solidFill>
                  <a:srgbClr val="990000"/>
                </a:solidFill>
                <a:latin typeface="Courier New" pitchFamily="49" charset="0"/>
              </a:rPr>
              <a:t>length(b</a:t>
            </a:r>
            <a:r>
              <a:rPr lang="en-GB" b="1" dirty="0">
                <a:solidFill>
                  <a:srgbClr val="990000"/>
                </a:solidFill>
              </a:rPr>
              <a:t>):  </a:t>
            </a:r>
            <a:r>
              <a:rPr lang="en-GB" dirty="0">
                <a:solidFill>
                  <a:srgbClr val="990000"/>
                </a:solidFill>
              </a:rPr>
              <a:t>returns the length of block </a:t>
            </a:r>
            <a:r>
              <a:rPr lang="en-GB" b="1" dirty="0">
                <a:solidFill>
                  <a:srgbClr val="990000"/>
                </a:solidFill>
                <a:latin typeface="Courier New" pitchFamily="49" charset="0"/>
              </a:rPr>
              <a:t>b</a:t>
            </a:r>
            <a:r>
              <a:rPr lang="en-GB" dirty="0">
                <a:solidFill>
                  <a:srgbClr val="990000"/>
                </a:solidFill>
              </a:rPr>
              <a:t>, not including the header</a:t>
            </a:r>
          </a:p>
          <a:p>
            <a:pPr marL="568325" lvl="1" indent="-279400">
              <a:lnSpc>
                <a:spcPct val="100000"/>
              </a:lnSpc>
              <a:tabLst>
                <a:tab pos="0" algn="l"/>
                <a:tab pos="527050" algn="l"/>
                <a:tab pos="1441450" algn="l"/>
                <a:tab pos="2355850" algn="l"/>
                <a:tab pos="3270250" algn="l"/>
                <a:tab pos="4184650" algn="l"/>
                <a:tab pos="5099050" algn="l"/>
                <a:tab pos="6013450" algn="l"/>
                <a:tab pos="6927850" algn="l"/>
                <a:tab pos="7842250" algn="l"/>
                <a:tab pos="8756650" algn="l"/>
                <a:tab pos="9671050" algn="l"/>
              </a:tabLst>
            </a:pPr>
            <a:r>
              <a:rPr lang="en-GB" b="1" dirty="0" err="1">
                <a:latin typeface="Courier New" pitchFamily="49" charset="0"/>
              </a:rPr>
              <a:t>get_roots</a:t>
            </a:r>
            <a:r>
              <a:rPr lang="en-GB" b="1" dirty="0">
                <a:latin typeface="Courier New" pitchFamily="49" charset="0"/>
              </a:rPr>
              <a:t>()</a:t>
            </a:r>
            <a:r>
              <a:rPr lang="en-GB" b="1" dirty="0"/>
              <a:t>:  </a:t>
            </a:r>
            <a:r>
              <a:rPr lang="en-GB" dirty="0"/>
              <a:t>returns all the roots</a:t>
            </a:r>
          </a:p>
        </p:txBody>
      </p:sp>
    </p:spTree>
    <p:extLst>
      <p:ext uri="{BB962C8B-B14F-4D97-AF65-F5344CB8AC3E}">
        <p14:creationId xmlns:p14="http://schemas.microsoft.com/office/powerpoint/2010/main" val="394782778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48048" y="490152"/>
            <a:ext cx="67818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Mark and Sweep (cont.)</a:t>
            </a:r>
          </a:p>
        </p:txBody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98625" y="1593316"/>
            <a:ext cx="8945375" cy="2064284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mark(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p) {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(!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is_ptr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not pointer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markBitSet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already marked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setMarkBit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(p);         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set the mark bit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for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=0;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&lt; length(p);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++)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recursively call mark on all words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mark(p[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]); 	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  in the block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return;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      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62154" y="1212316"/>
            <a:ext cx="76962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Mark using depth-first traversal of the memory graph 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4419600" y="1828800"/>
            <a:ext cx="4572000" cy="1524000"/>
          </a:xfrm>
          <a:prstGeom prst="rect">
            <a:avLst/>
          </a:prstGeom>
          <a:solidFill>
            <a:srgbClr val="F6F5BD"/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09453638"/>
      </p:ext>
    </p:extLst>
  </p:cSld>
  <p:clrMapOvr>
    <a:masterClrMapping/>
  </p:clrMapOvr>
  <p:transition xmlns:p14="http://schemas.microsoft.com/office/powerpoint/2010/main" spd="med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48048" y="490152"/>
            <a:ext cx="67818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Mark and Sweep (cont.)</a:t>
            </a:r>
          </a:p>
        </p:txBody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98625" y="1593316"/>
            <a:ext cx="8945375" cy="2064284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mark(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p) {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(!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is_ptr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not pointer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markBitSet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already marked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setMarkBit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(p);         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set the mark bit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for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=0;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&lt; length(p);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++)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recursively call mark on all words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mark(p[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]); 	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  in the block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return;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      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62154" y="1212316"/>
            <a:ext cx="76962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Mark using depth-first traversal of the memory graph 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4419600" y="2133600"/>
            <a:ext cx="4572000" cy="1371600"/>
          </a:xfrm>
          <a:prstGeom prst="rect">
            <a:avLst/>
          </a:prstGeom>
          <a:solidFill>
            <a:srgbClr val="F6F5BD"/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785218"/>
      </p:ext>
    </p:extLst>
  </p:cSld>
  <p:clrMapOvr>
    <a:masterClrMapping/>
  </p:clrMapOvr>
  <p:transition xmlns:p14="http://schemas.microsoft.com/office/powerpoint/2010/main"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48048" y="490152"/>
            <a:ext cx="67818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Mark and Sweep (cont.)</a:t>
            </a:r>
          </a:p>
        </p:txBody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98625" y="1593316"/>
            <a:ext cx="8945375" cy="2064284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mark(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p) {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(!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is_ptr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not pointer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markBitSet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already marked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setMarkBit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(p);         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set the mark bit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for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=0;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&lt; length(p);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++)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recursively call mark on all words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mark(p[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]); 	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  in the block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return;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      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62154" y="1212316"/>
            <a:ext cx="76962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Mark using depth-first traversal of the memory graph 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4419600" y="2362200"/>
            <a:ext cx="4572000" cy="1143000"/>
          </a:xfrm>
          <a:prstGeom prst="rect">
            <a:avLst/>
          </a:prstGeom>
          <a:solidFill>
            <a:srgbClr val="F6F5BD"/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1863633"/>
      </p:ext>
    </p:extLst>
  </p:cSld>
  <p:clrMapOvr>
    <a:masterClrMapping/>
  </p:clrMapOvr>
  <p:transition xmlns:p14="http://schemas.microsoft.com/office/powerpoint/2010/main" spd="med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48048" y="490152"/>
            <a:ext cx="67818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Mark and Sweep (cont.)</a:t>
            </a:r>
          </a:p>
        </p:txBody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98625" y="1593316"/>
            <a:ext cx="8945375" cy="2064284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mark(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p) {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(!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is_ptr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not pointer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markBitSet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already marked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setMarkBit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(p);         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set the mark bit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for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=0;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&lt; length(p);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++)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recursively call mark on all words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mark(p[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]); 	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  in the block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return;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      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62154" y="1212316"/>
            <a:ext cx="76962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Mark using depth-first traversal of the memory graph 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4419600" y="2625458"/>
            <a:ext cx="4572000" cy="879742"/>
          </a:xfrm>
          <a:prstGeom prst="rect">
            <a:avLst/>
          </a:prstGeom>
          <a:solidFill>
            <a:srgbClr val="F6F5BD"/>
          </a:solidFill>
          <a:ln w="127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9893125"/>
      </p:ext>
    </p:extLst>
  </p:cSld>
  <p:clrMapOvr>
    <a:masterClrMapping/>
  </p:clrMapOvr>
  <p:transition xmlns:p14="http://schemas.microsoft.com/office/powerpoint/2010/main" spd="med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48048" y="490152"/>
            <a:ext cx="67818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Mark and Sweep (cont.)</a:t>
            </a:r>
          </a:p>
        </p:txBody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98625" y="1593316"/>
            <a:ext cx="8575081" cy="2064284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mark(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p) {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(!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is_ptr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not pointer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markBitSet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already marked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setMarkBit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(p);         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set the mark bit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for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=0;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&lt; length(p);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++)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for each word in p’s block</a:t>
            </a:r>
            <a:endParaRPr lang="en-GB" sz="1600" b="1" dirty="0">
              <a:solidFill>
                <a:srgbClr val="990000"/>
              </a:solidFill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mark(p[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]); 		</a:t>
            </a:r>
            <a:endParaRPr lang="en-GB" sz="1600" dirty="0">
              <a:solidFill>
                <a:srgbClr val="990000"/>
              </a:solidFill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return;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      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62154" y="1212316"/>
            <a:ext cx="76962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Mark using depth-first traversal of the memory graph </a:t>
            </a:r>
          </a:p>
        </p:txBody>
      </p:sp>
    </p:spTree>
    <p:extLst>
      <p:ext uri="{BB962C8B-B14F-4D97-AF65-F5344CB8AC3E}">
        <p14:creationId xmlns:p14="http://schemas.microsoft.com/office/powerpoint/2010/main" val="359479935"/>
      </p:ext>
    </p:extLst>
  </p:cSld>
  <p:clrMapOvr>
    <a:masterClrMapping/>
  </p:clrMapOvr>
  <p:transition xmlns:p14="http://schemas.microsoft.com/office/powerpoint/2010/main" spd="med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48048" y="490152"/>
            <a:ext cx="67818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Mark and Sweep (cont.)</a:t>
            </a:r>
          </a:p>
        </p:txBody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98625" y="1593316"/>
            <a:ext cx="8575081" cy="2064284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mark(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p) {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(!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is_ptr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not pointer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markBitSet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already marked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setMarkBit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(p);         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set the mark bit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for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=0;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&lt; length(p);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++)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for each word in p’s block</a:t>
            </a:r>
            <a:endParaRPr lang="en-GB" sz="1600" b="1" dirty="0">
              <a:solidFill>
                <a:srgbClr val="990000"/>
              </a:solidFill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mark(p[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]);  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 make recursive call 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		</a:t>
            </a:r>
            <a:endParaRPr lang="en-GB" sz="1600" dirty="0">
              <a:solidFill>
                <a:srgbClr val="990000"/>
              </a:solidFill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return;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      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62154" y="1212316"/>
            <a:ext cx="76962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Mark using depth-first traversal of the memory graph </a:t>
            </a:r>
          </a:p>
        </p:txBody>
      </p:sp>
    </p:spTree>
    <p:extLst>
      <p:ext uri="{BB962C8B-B14F-4D97-AF65-F5344CB8AC3E}">
        <p14:creationId xmlns:p14="http://schemas.microsoft.com/office/powerpoint/2010/main" val="2795934284"/>
      </p:ext>
    </p:extLst>
  </p:cSld>
  <p:clrMapOvr>
    <a:masterClrMapping/>
  </p:clrMapOvr>
  <p:transition xmlns:p14="http://schemas.microsoft.com/office/powerpoint/2010/main" spd="med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48048" y="490152"/>
            <a:ext cx="67818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Mark and Sweep (cont.)</a:t>
            </a:r>
          </a:p>
        </p:txBody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98625" y="1593316"/>
            <a:ext cx="8575081" cy="2064284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mark(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p) {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(!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is_ptr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not pointer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markBitSet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already marked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setMarkBit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(p);         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set the mark bit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for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=0;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&lt; length(p);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++)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for each word in p’s block</a:t>
            </a:r>
            <a:endParaRPr lang="en-GB" sz="1600" b="1" dirty="0">
              <a:solidFill>
                <a:srgbClr val="990000"/>
              </a:solidFill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mark(p[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]);  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 make recursive call 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		</a:t>
            </a:r>
            <a:endParaRPr lang="en-GB" sz="1600" dirty="0">
              <a:solidFill>
                <a:srgbClr val="990000"/>
              </a:solidFill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return;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      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62154" y="1212316"/>
            <a:ext cx="76962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Mark using depth-first traversal of the memory graph 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81000" y="3946525"/>
            <a:ext cx="76962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Sweep using lengths to find next block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98626" y="4337050"/>
            <a:ext cx="8575080" cy="2064284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sweep(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p,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end) {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while (p &lt; end) {	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for entire heap</a:t>
            </a:r>
            <a:endParaRPr lang="en-GB" sz="1600" b="1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if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markBitSet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</a:t>
            </a:r>
            <a:b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</a:b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clearMarkBit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else if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allocateBitSet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   free(p);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p += length(p);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     </a:t>
            </a:r>
          </a:p>
        </p:txBody>
      </p:sp>
    </p:spTree>
    <p:extLst>
      <p:ext uri="{BB962C8B-B14F-4D97-AF65-F5344CB8AC3E}">
        <p14:creationId xmlns:p14="http://schemas.microsoft.com/office/powerpoint/2010/main" val="3846577164"/>
      </p:ext>
    </p:extLst>
  </p:cSld>
  <p:clrMapOvr>
    <a:masterClrMapping/>
  </p:clrMapOvr>
  <p:transition xmlns:p14="http://schemas.microsoft.com/office/powerpoint/2010/main" spd="med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48048" y="490152"/>
            <a:ext cx="67818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Mark and Sweep (cont.)</a:t>
            </a:r>
          </a:p>
        </p:txBody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98625" y="1593316"/>
            <a:ext cx="8575081" cy="2064284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mark(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p) {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(!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is_ptr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not pointer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markBitSet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already marked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setMarkBit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(p);         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set the mark bit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for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=0;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&lt; length(p);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++)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for each word in p’s block</a:t>
            </a:r>
            <a:endParaRPr lang="en-GB" sz="1600" b="1" dirty="0">
              <a:solidFill>
                <a:srgbClr val="990000"/>
              </a:solidFill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mark(p[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]);  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 make recursive call 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		</a:t>
            </a:r>
            <a:endParaRPr lang="en-GB" sz="1600" dirty="0">
              <a:solidFill>
                <a:srgbClr val="990000"/>
              </a:solidFill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return;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      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62154" y="1212316"/>
            <a:ext cx="76962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Mark using depth-first traversal of the memory graph 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81000" y="3946525"/>
            <a:ext cx="76962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Sweep using lengths to find next block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98626" y="4337050"/>
            <a:ext cx="8575080" cy="2064284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sweep(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p,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end) {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while (p &lt; end) {	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for entire heap</a:t>
            </a:r>
            <a:endParaRPr lang="en-GB" sz="1600" b="1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if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markBitSet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	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did we reach this block?</a:t>
            </a:r>
            <a:b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</a:b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clearMarkBit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else if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allocateBitSet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   free(p);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p += length(p);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     </a:t>
            </a:r>
          </a:p>
        </p:txBody>
      </p:sp>
    </p:spTree>
    <p:extLst>
      <p:ext uri="{BB962C8B-B14F-4D97-AF65-F5344CB8AC3E}">
        <p14:creationId xmlns:p14="http://schemas.microsoft.com/office/powerpoint/2010/main" val="571188846"/>
      </p:ext>
    </p:extLst>
  </p:cSld>
  <p:clrMapOvr>
    <a:masterClrMapping/>
  </p:clrMapOvr>
  <p:transition xmlns:p14="http://schemas.microsoft.com/office/powerpoint/2010/main" spd="med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48048" y="490152"/>
            <a:ext cx="67818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Mark and Sweep (cont.)</a:t>
            </a:r>
          </a:p>
        </p:txBody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98625" y="1593316"/>
            <a:ext cx="8575081" cy="2064284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mark(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p) {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(!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is_ptr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not pointer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markBitSet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already marked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setMarkBit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(p);         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set the mark bit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for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=0;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&lt; length(p);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++)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for each word in p’s block</a:t>
            </a:r>
            <a:endParaRPr lang="en-GB" sz="1600" b="1" dirty="0">
              <a:solidFill>
                <a:srgbClr val="990000"/>
              </a:solidFill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mark(p[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]);  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 make recursive call 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		</a:t>
            </a:r>
            <a:endParaRPr lang="en-GB" sz="1600" dirty="0">
              <a:solidFill>
                <a:srgbClr val="990000"/>
              </a:solidFill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return;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      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62154" y="1212316"/>
            <a:ext cx="76962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Mark using depth-first traversal of the memory graph 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81000" y="3946525"/>
            <a:ext cx="76962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Sweep using lengths to find next block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98626" y="4337050"/>
            <a:ext cx="8575080" cy="2064284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sweep(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p,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end) {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while (p &lt; end) {	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for entire heap</a:t>
            </a:r>
            <a:endParaRPr lang="en-GB" sz="1600" b="1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if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markBitSet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	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did we reach this block?</a:t>
            </a:r>
            <a:b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</a:b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clearMarkBit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();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 yes -&gt; so just clear mark bit 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else if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allocateBitSet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   free(p);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p += length(p);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     </a:t>
            </a:r>
          </a:p>
        </p:txBody>
      </p:sp>
    </p:spTree>
    <p:extLst>
      <p:ext uri="{BB962C8B-B14F-4D97-AF65-F5344CB8AC3E}">
        <p14:creationId xmlns:p14="http://schemas.microsoft.com/office/powerpoint/2010/main" val="3865730112"/>
      </p:ext>
    </p:extLst>
  </p:cSld>
  <p:clrMapOvr>
    <a:masterClrMapping/>
  </p:clrMapOvr>
  <p:transition xmlns:p14="http://schemas.microsoft.com/office/powerpoint/2010/main" spd="med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48048" y="490152"/>
            <a:ext cx="67818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Mark and Sweep (cont.)</a:t>
            </a:r>
          </a:p>
        </p:txBody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98625" y="1593316"/>
            <a:ext cx="8575081" cy="2064284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mark(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p) {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(!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is_ptr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not pointer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markBitSet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already marked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setMarkBit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(p);         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set the mark bit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for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=0;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&lt; length(p);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++)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for each word in p’s block</a:t>
            </a:r>
            <a:endParaRPr lang="en-GB" sz="1600" b="1" dirty="0">
              <a:solidFill>
                <a:srgbClr val="990000"/>
              </a:solidFill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mark(p[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]);  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 make recursive call 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		</a:t>
            </a:r>
            <a:endParaRPr lang="en-GB" sz="1600" dirty="0">
              <a:solidFill>
                <a:srgbClr val="990000"/>
              </a:solidFill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return;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      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62154" y="1212316"/>
            <a:ext cx="76962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Mark using depth-first traversal of the memory graph 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81000" y="3946525"/>
            <a:ext cx="76962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Sweep using lengths to find next block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98626" y="4337050"/>
            <a:ext cx="8575080" cy="2064284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sweep(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p,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end) {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while (p &lt; end) {	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for entire heap</a:t>
            </a:r>
            <a:endParaRPr lang="en-GB" sz="1600" b="1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if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markBitSet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	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did we reach this block?</a:t>
            </a:r>
            <a:b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</a:b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clearMarkBit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();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 yes -&gt; so just clear mark bit 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else if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allocateBitSet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never reached: is it allocated?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   free(p);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p += length(p);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     </a:t>
            </a:r>
          </a:p>
        </p:txBody>
      </p:sp>
    </p:spTree>
    <p:extLst>
      <p:ext uri="{BB962C8B-B14F-4D97-AF65-F5344CB8AC3E}">
        <p14:creationId xmlns:p14="http://schemas.microsoft.com/office/powerpoint/2010/main" val="3564215911"/>
      </p:ext>
    </p:extLst>
  </p:cSld>
  <p:clrMapOvr>
    <a:masterClrMapping/>
  </p:clrMapOvr>
  <p:transition xmlns:p14="http://schemas.microsoft.com/office/powerpoint/2010/main" spd="med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48048" y="490152"/>
            <a:ext cx="67818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Mark and Sweep (cont.)</a:t>
            </a:r>
          </a:p>
        </p:txBody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98625" y="1593316"/>
            <a:ext cx="8575081" cy="2064284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mark(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p) {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(!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is_ptr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not pointer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markBitSet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already marked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setMarkBit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(p);         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set the mark bit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for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=0;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&lt; length(p);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++)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for each word in p’s block</a:t>
            </a:r>
            <a:endParaRPr lang="en-GB" sz="1600" b="1" dirty="0">
              <a:solidFill>
                <a:srgbClr val="990000"/>
              </a:solidFill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mark(p[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]);  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 make recursive call 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		</a:t>
            </a:r>
            <a:endParaRPr lang="en-GB" sz="1600" dirty="0">
              <a:solidFill>
                <a:srgbClr val="990000"/>
              </a:solidFill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return;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      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62154" y="1212316"/>
            <a:ext cx="76962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Mark using depth-first traversal of the memory graph 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81000" y="3946525"/>
            <a:ext cx="76962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Sweep using lengths to find next block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98626" y="4337050"/>
            <a:ext cx="8575080" cy="2064284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sweep(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p,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end) {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while (p &lt; end) {	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for entire heap</a:t>
            </a:r>
            <a:endParaRPr lang="en-GB" sz="1600" b="1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if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markBitSet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	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did we reach this block?</a:t>
            </a:r>
            <a:b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</a:b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clearMarkBit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();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 yes -&gt; so just clear mark bit 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else if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allocateBitSet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never reached: is it allocated?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   free(p);		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 yes -&gt; its garbage, free it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p += length(p);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     </a:t>
            </a:r>
          </a:p>
        </p:txBody>
      </p:sp>
    </p:spTree>
    <p:extLst>
      <p:ext uri="{BB962C8B-B14F-4D97-AF65-F5344CB8AC3E}">
        <p14:creationId xmlns:p14="http://schemas.microsoft.com/office/powerpoint/2010/main" val="3652149633"/>
      </p:ext>
    </p:extLst>
  </p:cSld>
  <p:clrMapOvr>
    <a:masterClrMapping/>
  </p:clrMapOvr>
  <p:transition xmlns:p14="http://schemas.microsoft.com/office/powerpoint/2010/main" spd="med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48048" y="490152"/>
            <a:ext cx="67818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Mark and Sweep (cont.)</a:t>
            </a:r>
          </a:p>
        </p:txBody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98625" y="1593316"/>
            <a:ext cx="8575081" cy="2064284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mark(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p) {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(!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is_ptr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not pointer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if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markBitSet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return;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if already marked -&gt; do nothing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setMarkBit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(p);         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set the mark bit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for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=0;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&lt; length(p);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++)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for each word in p’s block</a:t>
            </a:r>
            <a:endParaRPr lang="en-GB" sz="1600" b="1" dirty="0">
              <a:solidFill>
                <a:srgbClr val="990000"/>
              </a:solidFill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mark(p[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]);              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 make recursive call 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		</a:t>
            </a:r>
            <a:endParaRPr lang="en-GB" sz="1600" dirty="0">
              <a:solidFill>
                <a:srgbClr val="990000"/>
              </a:solidFill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return;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      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362154" y="1212316"/>
            <a:ext cx="76962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Mark using depth-first traversal of the memory graph 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81000" y="3946525"/>
            <a:ext cx="7696200" cy="3984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alibri" pitchFamily="34" charset="0"/>
                <a:ea typeface="msgothic" charset="0"/>
                <a:cs typeface="msgothic" charset="0"/>
              </a:rPr>
              <a:t>Sweep using lengths to find next block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98626" y="4337050"/>
            <a:ext cx="8575080" cy="2064284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sweep(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p,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ptr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end) {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while (p &lt; end) {	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for entire heap</a:t>
            </a:r>
            <a:endParaRPr lang="en-GB" sz="1600" b="1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if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markBitSet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	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did we reach this block?</a:t>
            </a:r>
            <a:b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</a:b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  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clearMarkBit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();	   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 yes -&gt; so just clear mark bit 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else if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allocateBitSet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(p)) </a:t>
            </a:r>
            <a:r>
              <a:rPr lang="en-GB" sz="16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never reached: is it allocated?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   free(p);		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 yes -&gt; its garbage, free it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     p += length(p);             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// </a:t>
            </a:r>
            <a:r>
              <a:rPr lang="en-GB" sz="1600" b="1" dirty="0" err="1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goto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 next block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}     </a:t>
            </a:r>
          </a:p>
        </p:txBody>
      </p:sp>
    </p:spTree>
    <p:extLst>
      <p:ext uri="{BB962C8B-B14F-4D97-AF65-F5344CB8AC3E}">
        <p14:creationId xmlns:p14="http://schemas.microsoft.com/office/powerpoint/2010/main" val="2910320606"/>
      </p:ext>
    </p:extLst>
  </p:cSld>
  <p:clrMapOvr>
    <a:masterClrMapping/>
  </p:clrMapOvr>
  <p:transition xmlns:p14="http://schemas.microsoft.com/office/powerpoint/2010/main" spd="med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373063"/>
            <a:ext cx="8001000" cy="76993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Conservative Mark &amp; Sweep in C</a:t>
            </a: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79413" y="1220788"/>
            <a:ext cx="8307387" cy="4498975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 “conservative garbage collector” for C programs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dirty="0" err="1">
                <a:latin typeface="Courier New" pitchFamily="49" charset="0"/>
              </a:rPr>
              <a:t>is_ptr</a:t>
            </a:r>
            <a:r>
              <a:rPr lang="en-GB" b="1" dirty="0">
                <a:latin typeface="Courier New" pitchFamily="49" charset="0"/>
              </a:rPr>
              <a:t>()</a:t>
            </a:r>
            <a:r>
              <a:rPr lang="en-GB" b="1" dirty="0"/>
              <a:t> </a:t>
            </a:r>
            <a:r>
              <a:rPr lang="en-GB" dirty="0"/>
              <a:t>determines if a word is a pointer by checking if it points to an allocated block of memory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But, in C pointers can point to the middle of a block</a:t>
            </a:r>
            <a:br>
              <a:rPr lang="en-GB" dirty="0"/>
            </a:br>
            <a:endParaRPr lang="en-GB" dirty="0"/>
          </a:p>
          <a:p>
            <a:pPr lvl="1">
              <a:lnSpc>
                <a:spcPct val="100000"/>
              </a:lnSpc>
              <a:buFont typeface="Wingdings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 lvl="1">
              <a:lnSpc>
                <a:spcPct val="100000"/>
              </a:lnSpc>
              <a:buFont typeface="Wingdings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spcBef>
                <a:spcPts val="18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To mark header, need to find the beginning of the block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Can use a balanced binary tree to keep track of all allocated blocks (key is start-of-block)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Balanced-tree pointers can be stored in header (use two additional words)</a:t>
            </a: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2607276" y="3216275"/>
            <a:ext cx="32004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2607276" y="3216275"/>
            <a:ext cx="304800" cy="304800"/>
          </a:xfrm>
          <a:prstGeom prst="rect">
            <a:avLst/>
          </a:prstGeom>
          <a:solidFill>
            <a:srgbClr val="F1C7C7"/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360820" y="2886761"/>
            <a:ext cx="802120" cy="3407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Header</a:t>
            </a: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3829651" y="2590800"/>
            <a:ext cx="452438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alibri" pitchFamily="34" charset="0"/>
                <a:ea typeface="msgothic" charset="0"/>
                <a:cs typeface="msgothic" charset="0"/>
              </a:rPr>
              <a:t>ptr</a:t>
            </a:r>
            <a:endParaRPr lang="en-GB" sz="16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6631" name="Line 7"/>
          <p:cNvSpPr>
            <a:spLocks noChangeShapeType="1"/>
          </p:cNvSpPr>
          <p:nvPr/>
        </p:nvSpPr>
        <p:spPr bwMode="auto">
          <a:xfrm>
            <a:off x="4055076" y="2911475"/>
            <a:ext cx="1588" cy="3048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1235676" y="3216275"/>
            <a:ext cx="1371600" cy="3048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1235676" y="3216275"/>
            <a:ext cx="304800" cy="304800"/>
          </a:xfrm>
          <a:prstGeom prst="rect">
            <a:avLst/>
          </a:prstGeom>
          <a:solidFill>
            <a:srgbClr val="F1C7C7"/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4969476" y="3216275"/>
            <a:ext cx="304800" cy="304800"/>
          </a:xfrm>
          <a:prstGeom prst="rect">
            <a:avLst/>
          </a:prstGeom>
          <a:solidFill>
            <a:srgbClr val="F1C7C7"/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2879725" y="5759450"/>
            <a:ext cx="1097280" cy="335358"/>
          </a:xfrm>
          <a:prstGeom prst="rect">
            <a:avLst/>
          </a:prstGeom>
          <a:solidFill>
            <a:srgbClr val="F1C7C7"/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38" name="Rectangle 14"/>
          <p:cNvSpPr>
            <a:spLocks noChangeArrowheads="1"/>
          </p:cNvSpPr>
          <p:nvPr/>
        </p:nvSpPr>
        <p:spPr bwMode="auto">
          <a:xfrm>
            <a:off x="3962400" y="5759450"/>
            <a:ext cx="1828800" cy="335358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39" name="Text Box 15"/>
          <p:cNvSpPr txBox="1">
            <a:spLocks noChangeArrowheads="1"/>
          </p:cNvSpPr>
          <p:nvPr/>
        </p:nvSpPr>
        <p:spPr bwMode="auto">
          <a:xfrm>
            <a:off x="3074845" y="5438775"/>
            <a:ext cx="625890" cy="3407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Head</a:t>
            </a:r>
          </a:p>
        </p:txBody>
      </p:sp>
      <p:sp>
        <p:nvSpPr>
          <p:cNvPr id="26640" name="Text Box 16"/>
          <p:cNvSpPr txBox="1">
            <a:spLocks noChangeArrowheads="1"/>
          </p:cNvSpPr>
          <p:nvPr/>
        </p:nvSpPr>
        <p:spPr bwMode="auto">
          <a:xfrm>
            <a:off x="4400104" y="5438775"/>
            <a:ext cx="580906" cy="3407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D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ata</a:t>
            </a:r>
          </a:p>
        </p:txBody>
      </p:sp>
      <p:sp>
        <p:nvSpPr>
          <p:cNvPr id="26642" name="Line 18"/>
          <p:cNvSpPr>
            <a:spLocks noChangeShapeType="1"/>
          </p:cNvSpPr>
          <p:nvPr/>
        </p:nvSpPr>
        <p:spPr bwMode="auto">
          <a:xfrm>
            <a:off x="3794125" y="5988050"/>
            <a:ext cx="228600" cy="4572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643" name="Text Box 19"/>
          <p:cNvSpPr txBox="1">
            <a:spLocks noChangeArrowheads="1"/>
          </p:cNvSpPr>
          <p:nvPr/>
        </p:nvSpPr>
        <p:spPr bwMode="auto">
          <a:xfrm>
            <a:off x="2888110" y="6369050"/>
            <a:ext cx="500755" cy="3407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L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eft</a:t>
            </a:r>
          </a:p>
        </p:txBody>
      </p:sp>
      <p:sp>
        <p:nvSpPr>
          <p:cNvPr id="26644" name="Text Box 20"/>
          <p:cNvSpPr txBox="1">
            <a:spLocks noChangeArrowheads="1"/>
          </p:cNvSpPr>
          <p:nvPr/>
        </p:nvSpPr>
        <p:spPr bwMode="auto">
          <a:xfrm>
            <a:off x="3698464" y="6369050"/>
            <a:ext cx="624287" cy="3407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R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ight</a:t>
            </a:r>
          </a:p>
        </p:txBody>
      </p:sp>
      <p:sp>
        <p:nvSpPr>
          <p:cNvPr id="26645" name="Text Box 21"/>
          <p:cNvSpPr txBox="1">
            <a:spLocks noChangeArrowheads="1"/>
          </p:cNvSpPr>
          <p:nvPr/>
        </p:nvSpPr>
        <p:spPr bwMode="auto">
          <a:xfrm>
            <a:off x="2838227" y="5784850"/>
            <a:ext cx="469121" cy="30995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10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400" dirty="0">
                <a:latin typeface="Calibri" pitchFamily="34" charset="0"/>
                <a:ea typeface="msgothic" charset="0"/>
                <a:cs typeface="msgothic" charset="0"/>
              </a:rPr>
              <a:t>S</a:t>
            </a:r>
            <a:r>
              <a:rPr lang="en-GB" sz="1400" b="1" dirty="0">
                <a:latin typeface="Calibri" pitchFamily="34" charset="0"/>
                <a:ea typeface="msgothic" charset="0"/>
                <a:cs typeface="msgothic" charset="0"/>
              </a:rPr>
              <a:t>ize</a:t>
            </a: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3276600" y="5756190"/>
            <a:ext cx="338618" cy="338618"/>
          </a:xfrm>
          <a:prstGeom prst="rect">
            <a:avLst/>
          </a:prstGeom>
          <a:solidFill>
            <a:srgbClr val="F1C7C7"/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6641" name="Line 17"/>
          <p:cNvSpPr>
            <a:spLocks noChangeShapeType="1"/>
          </p:cNvSpPr>
          <p:nvPr/>
        </p:nvSpPr>
        <p:spPr bwMode="auto">
          <a:xfrm flipH="1">
            <a:off x="3106738" y="5988050"/>
            <a:ext cx="307975" cy="4572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400800" y="5943600"/>
            <a:ext cx="2366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Left:</a:t>
            </a:r>
            <a:r>
              <a:rPr lang="en-US" sz="1800" b="0" dirty="0">
                <a:latin typeface="Calibri" pitchFamily="34" charset="0"/>
              </a:rPr>
              <a:t> smaller addresses</a:t>
            </a:r>
          </a:p>
          <a:p>
            <a:r>
              <a:rPr lang="en-US" sz="1800" dirty="0">
                <a:latin typeface="Calibri" pitchFamily="34" charset="0"/>
              </a:rPr>
              <a:t>Right:</a:t>
            </a:r>
            <a:r>
              <a:rPr lang="en-US" sz="1800" b="0" dirty="0">
                <a:latin typeface="Calibri" pitchFamily="34" charset="0"/>
              </a:rPr>
              <a:t> larger addresses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212B81B0-2CCE-45AA-8957-642236833C70}"/>
              </a:ext>
            </a:extLst>
          </p:cNvPr>
          <p:cNvSpPr txBox="1"/>
          <p:nvPr/>
        </p:nvSpPr>
        <p:spPr>
          <a:xfrm>
            <a:off x="6115519" y="2819400"/>
            <a:ext cx="297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dirty="0">
                <a:latin typeface="Calibri" pitchFamily="34" charset="0"/>
              </a:rPr>
              <a:t>Assumes </a:t>
            </a:r>
            <a:r>
              <a:rPr lang="en-US" sz="1800" b="0" dirty="0" err="1">
                <a:latin typeface="Calibri" pitchFamily="34" charset="0"/>
              </a:rPr>
              <a:t>ptr</a:t>
            </a:r>
            <a:r>
              <a:rPr lang="en-US" sz="1800" b="0" dirty="0">
                <a:latin typeface="Calibri" pitchFamily="34" charset="0"/>
              </a:rPr>
              <a:t> in middle can be</a:t>
            </a:r>
          </a:p>
          <a:p>
            <a:pPr algn="ctr"/>
            <a:r>
              <a:rPr lang="en-US" sz="1800" b="0" dirty="0">
                <a:latin typeface="Calibri" pitchFamily="34" charset="0"/>
              </a:rPr>
              <a:t>used to reach anywhere in</a:t>
            </a:r>
            <a:br>
              <a:rPr lang="en-US" sz="1800" b="0" dirty="0">
                <a:latin typeface="Calibri" pitchFamily="34" charset="0"/>
              </a:rPr>
            </a:br>
            <a:r>
              <a:rPr lang="en-US" sz="1800" b="0" dirty="0">
                <a:latin typeface="Calibri" pitchFamily="34" charset="0"/>
              </a:rPr>
              <a:t>the block, but no other block</a:t>
            </a:r>
          </a:p>
        </p:txBody>
      </p:sp>
    </p:spTree>
    <p:extLst>
      <p:ext uri="{BB962C8B-B14F-4D97-AF65-F5344CB8AC3E}">
        <p14:creationId xmlns:p14="http://schemas.microsoft.com/office/powerpoint/2010/main" val="147289976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5" grpId="0" animBg="1"/>
      <p:bldP spid="26638" grpId="0" animBg="1"/>
      <p:bldP spid="26639" grpId="0"/>
      <p:bldP spid="26640" grpId="0"/>
      <p:bldP spid="26642" grpId="0" animBg="1"/>
      <p:bldP spid="26643" grpId="0"/>
      <p:bldP spid="26644" grpId="0"/>
      <p:bldP spid="26645" grpId="0"/>
      <p:bldP spid="23" grpId="0" animBg="1"/>
      <p:bldP spid="26641" grpId="0" animBg="1"/>
      <p:bldP spid="22" grpId="0"/>
      <p:bldP spid="25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7F7F7F"/>
                </a:solidFill>
              </a:rPr>
              <a:t>Explicit free lists</a:t>
            </a:r>
            <a:r>
              <a:rPr lang="en-US" dirty="0"/>
              <a:t>	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Segregated free lists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Garbage collection</a:t>
            </a:r>
          </a:p>
          <a:p>
            <a:r>
              <a:rPr lang="en-US" dirty="0">
                <a:solidFill>
                  <a:srgbClr val="000000"/>
                </a:solidFill>
              </a:rPr>
              <a:t>Memory-related perils and pitfalls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31509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56286" y="493713"/>
            <a:ext cx="8001000" cy="573087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Memory-Related Perils and Pitfalls</a:t>
            </a: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252538"/>
            <a:ext cx="8307387" cy="5224462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/>
              <a:t>Dereferencing bad pointers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/>
              <a:t>Reading uninitialized memory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/>
              <a:t>Overwriting memory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/>
              <a:t>Referencing nonexistent variables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/>
              <a:t>Freeing blocks multiple times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/>
              <a:t>Referencing freed blocks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/>
              <a:t>Failing to free blocks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14762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533400" y="1295400"/>
            <a:ext cx="6705600" cy="41148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431799" y="341312"/>
            <a:ext cx="5080000" cy="573088"/>
          </a:xfrm>
        </p:spPr>
        <p:txBody>
          <a:bodyPr/>
          <a:lstStyle/>
          <a:p>
            <a:r>
              <a:rPr lang="en-US" dirty="0"/>
              <a:t>C operators</a:t>
            </a:r>
          </a:p>
        </p:txBody>
      </p:sp>
      <p:sp>
        <p:nvSpPr>
          <p:cNvPr id="354307" name="Text Box 3"/>
          <p:cNvSpPr txBox="1">
            <a:spLocks noChangeArrowheads="1"/>
          </p:cNvSpPr>
          <p:nvPr/>
        </p:nvSpPr>
        <p:spPr bwMode="auto">
          <a:xfrm>
            <a:off x="466619" y="962085"/>
            <a:ext cx="6924781" cy="452431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Operators					Associativity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()  []  </a:t>
            </a:r>
            <a:r>
              <a:rPr lang="en-US" sz="1800" dirty="0">
                <a:latin typeface="Courier New" pitchFamily="49" charset="0"/>
              </a:rPr>
              <a:t>-&gt;  . ++ --				</a:t>
            </a:r>
            <a:r>
              <a:rPr lang="en-US" sz="1800" b="0" dirty="0">
                <a:latin typeface="Calibri" pitchFamily="34" charset="0"/>
              </a:rPr>
              <a:t>left to right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!  ~  ++ --  +  - 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*  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&amp;</a:t>
            </a:r>
            <a:r>
              <a:rPr lang="en-US" sz="1800" dirty="0">
                <a:latin typeface="Courier New" pitchFamily="49" charset="0"/>
              </a:rPr>
              <a:t> (type) </a:t>
            </a:r>
            <a:r>
              <a:rPr lang="en-US" sz="1800" dirty="0" err="1">
                <a:latin typeface="Courier New" pitchFamily="49" charset="0"/>
              </a:rPr>
              <a:t>sizeof</a:t>
            </a: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b="0" dirty="0">
                <a:solidFill>
                  <a:srgbClr val="0070C0"/>
                </a:solidFill>
                <a:latin typeface="Calibri" pitchFamily="34" charset="0"/>
              </a:rPr>
              <a:t>right to left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*  /  %					</a:t>
            </a:r>
            <a:r>
              <a:rPr lang="en-US" sz="1800" b="0" dirty="0">
                <a:latin typeface="Calibri" pitchFamily="34" charset="0"/>
              </a:rPr>
              <a:t>left to right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+  -						</a:t>
            </a:r>
            <a:r>
              <a:rPr lang="en-US" sz="1800" b="0" dirty="0">
                <a:latin typeface="Calibri" pitchFamily="34" charset="0"/>
              </a:rPr>
              <a:t>left to right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&lt;&lt;  &gt;&gt;						</a:t>
            </a:r>
            <a:r>
              <a:rPr lang="en-US" sz="1800" b="0" dirty="0">
                <a:latin typeface="Calibri" pitchFamily="34" charset="0"/>
              </a:rPr>
              <a:t>left to right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&lt;  &lt;=  &gt;  &gt;=					</a:t>
            </a:r>
            <a:r>
              <a:rPr lang="en-US" sz="1800" b="0" dirty="0">
                <a:latin typeface="Calibri" pitchFamily="34" charset="0"/>
              </a:rPr>
              <a:t>left to right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==  !=						</a:t>
            </a:r>
            <a:r>
              <a:rPr lang="en-US" sz="1800" b="0" dirty="0">
                <a:latin typeface="Calibri" pitchFamily="34" charset="0"/>
              </a:rPr>
              <a:t>left to right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&amp;						</a:t>
            </a:r>
            <a:r>
              <a:rPr lang="en-US" sz="1800" b="0" dirty="0">
                <a:latin typeface="Calibri" pitchFamily="34" charset="0"/>
              </a:rPr>
              <a:t>left to right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^						</a:t>
            </a:r>
            <a:r>
              <a:rPr lang="en-US" sz="1800" b="0" dirty="0">
                <a:latin typeface="Calibri" pitchFamily="34" charset="0"/>
              </a:rPr>
              <a:t>left to right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|						</a:t>
            </a:r>
            <a:r>
              <a:rPr lang="en-US" sz="1800" b="0" dirty="0">
                <a:latin typeface="Calibri" pitchFamily="34" charset="0"/>
              </a:rPr>
              <a:t>left to right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&amp;&amp;						</a:t>
            </a:r>
            <a:r>
              <a:rPr lang="en-US" sz="1800" b="0" dirty="0">
                <a:latin typeface="Calibri" pitchFamily="34" charset="0"/>
              </a:rPr>
              <a:t>left to right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||						</a:t>
            </a:r>
            <a:r>
              <a:rPr lang="en-US" sz="1800" b="0" dirty="0">
                <a:latin typeface="Calibri" pitchFamily="34" charset="0"/>
              </a:rPr>
              <a:t>left to right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?:						</a:t>
            </a:r>
            <a:r>
              <a:rPr lang="en-US" sz="1800" b="0" dirty="0">
                <a:solidFill>
                  <a:srgbClr val="0070C0"/>
                </a:solidFill>
                <a:latin typeface="Calibri" pitchFamily="34" charset="0"/>
              </a:rPr>
              <a:t>right to left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= += -= *= /= %= &amp;= ^= != &lt;&lt;= &gt;&gt;=		</a:t>
            </a:r>
            <a:r>
              <a:rPr lang="en-US" sz="1800" b="0" dirty="0">
                <a:solidFill>
                  <a:srgbClr val="0070C0"/>
                </a:solidFill>
                <a:latin typeface="Calibri" pitchFamily="34" charset="0"/>
              </a:rPr>
              <a:t>right to left</a:t>
            </a:r>
          </a:p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,						</a:t>
            </a:r>
            <a:r>
              <a:rPr lang="en-US" sz="1800" b="0" dirty="0">
                <a:latin typeface="Calibri" pitchFamily="34" charset="0"/>
              </a:rPr>
              <a:t>left to right</a:t>
            </a:r>
          </a:p>
        </p:txBody>
      </p:sp>
      <p:sp>
        <p:nvSpPr>
          <p:cNvPr id="3543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5638800"/>
            <a:ext cx="7162800" cy="1143000"/>
          </a:xfrm>
          <a:noFill/>
          <a:ln/>
        </p:spPr>
        <p:txBody>
          <a:bodyPr/>
          <a:lstStyle/>
          <a:p>
            <a:pPr marL="63500" indent="-238125"/>
            <a:r>
              <a:rPr lang="en-US" sz="2000" dirty="0"/>
              <a:t> </a:t>
            </a:r>
            <a:r>
              <a:rPr lang="en-US" sz="2000" dirty="0">
                <a:latin typeface="Courier New" pitchFamily="49" charset="0"/>
              </a:rPr>
              <a:t>-&gt;</a:t>
            </a:r>
            <a:r>
              <a:rPr lang="en-US" sz="2000" dirty="0"/>
              <a:t>, </a:t>
            </a:r>
            <a:r>
              <a:rPr lang="en-US" sz="2000" dirty="0">
                <a:latin typeface="Courier New"/>
                <a:cs typeface="Courier New"/>
              </a:rPr>
              <a:t>()</a:t>
            </a:r>
            <a:r>
              <a:rPr lang="en-US" sz="2000" dirty="0"/>
              <a:t>, and </a:t>
            </a:r>
            <a:r>
              <a:rPr lang="en-US" sz="2000" dirty="0">
                <a:latin typeface="Courier New"/>
                <a:cs typeface="Courier New"/>
              </a:rPr>
              <a:t>[]</a:t>
            </a:r>
            <a:r>
              <a:rPr lang="en-US" sz="2000" dirty="0"/>
              <a:t> have high precedence, with </a:t>
            </a:r>
            <a:r>
              <a:rPr lang="en-US" sz="2000" dirty="0">
                <a:latin typeface="Courier New"/>
                <a:cs typeface="Courier New"/>
              </a:rPr>
              <a:t>*</a:t>
            </a:r>
            <a:r>
              <a:rPr lang="en-US" sz="2000" dirty="0"/>
              <a:t> and </a:t>
            </a:r>
            <a:r>
              <a:rPr lang="en-US" sz="2000" dirty="0">
                <a:latin typeface="Courier New"/>
                <a:cs typeface="Courier New"/>
              </a:rPr>
              <a:t>&amp;</a:t>
            </a:r>
            <a:r>
              <a:rPr lang="en-US" sz="2000" dirty="0"/>
              <a:t> just below</a:t>
            </a:r>
          </a:p>
          <a:p>
            <a:pPr marL="63500" indent="-238125"/>
            <a:r>
              <a:rPr lang="en-US" sz="2000" dirty="0"/>
              <a:t>Unary </a:t>
            </a:r>
            <a:r>
              <a:rPr lang="en-US" sz="2000" dirty="0">
                <a:latin typeface="Courier New"/>
                <a:cs typeface="Courier New"/>
              </a:rPr>
              <a:t>+</a:t>
            </a:r>
            <a:r>
              <a:rPr lang="en-US" sz="2000" dirty="0">
                <a:latin typeface="+mn-lt"/>
                <a:cs typeface="Courier New"/>
              </a:rPr>
              <a:t>,</a:t>
            </a:r>
            <a:r>
              <a:rPr lang="en-US" sz="2000" dirty="0">
                <a:latin typeface="Courier New"/>
                <a:cs typeface="Courier New"/>
              </a:rPr>
              <a:t> -</a:t>
            </a:r>
            <a:r>
              <a:rPr lang="en-US" sz="2000" dirty="0"/>
              <a:t>, and </a:t>
            </a:r>
            <a:r>
              <a:rPr lang="en-US" sz="2000" dirty="0">
                <a:latin typeface="Courier New"/>
                <a:cs typeface="Courier New"/>
              </a:rPr>
              <a:t>*</a:t>
            </a:r>
            <a:r>
              <a:rPr lang="en-US" sz="2000" dirty="0"/>
              <a:t> have higher precedence than binary 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1200" y="6473551"/>
            <a:ext cx="3090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Source: K&amp;R page 53, updated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457200" y="808196"/>
            <a:ext cx="3742486" cy="1784092"/>
            <a:chOff x="457200" y="808196"/>
            <a:chExt cx="3742486" cy="1784092"/>
          </a:xfrm>
        </p:grpSpPr>
        <p:sp>
          <p:nvSpPr>
            <p:cNvPr id="2" name="Oval 1"/>
            <p:cNvSpPr/>
            <p:nvPr/>
          </p:nvSpPr>
          <p:spPr bwMode="auto">
            <a:xfrm>
              <a:off x="2362200" y="1219200"/>
              <a:ext cx="914400" cy="381000"/>
            </a:xfrm>
            <a:prstGeom prst="ellipse">
              <a:avLst/>
            </a:prstGeom>
            <a:noFill/>
            <a:ln w="28575" cap="flat" cmpd="sng" algn="ctr">
              <a:solidFill>
                <a:srgbClr val="3366FF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1295400" y="1524000"/>
              <a:ext cx="914400" cy="381000"/>
            </a:xfrm>
            <a:prstGeom prst="ellipse">
              <a:avLst/>
            </a:prstGeom>
            <a:noFill/>
            <a:ln w="28575" cap="flat" cmpd="sng" algn="ctr">
              <a:solidFill>
                <a:srgbClr val="3366FF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2209800" y="1546083"/>
              <a:ext cx="914400" cy="381000"/>
            </a:xfrm>
            <a:prstGeom prst="ellipse">
              <a:avLst/>
            </a:prstGeom>
            <a:noFill/>
            <a:ln w="28575" cap="flat" cmpd="sng" algn="ctr">
              <a:solidFill>
                <a:srgbClr val="3366FF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457200" y="2057400"/>
              <a:ext cx="914400" cy="381000"/>
            </a:xfrm>
            <a:prstGeom prst="ellipse">
              <a:avLst/>
            </a:prstGeom>
            <a:noFill/>
            <a:ln w="28575" cap="flat" cmpd="sng" algn="ctr">
              <a:solidFill>
                <a:srgbClr val="3366FF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cxnSp>
          <p:nvCxnSpPr>
            <p:cNvPr id="4" name="Straight Arrow Connector 3"/>
            <p:cNvCxnSpPr/>
            <p:nvPr/>
          </p:nvCxnSpPr>
          <p:spPr bwMode="auto">
            <a:xfrm flipH="1">
              <a:off x="3124200" y="962085"/>
              <a:ext cx="381000" cy="333315"/>
            </a:xfrm>
            <a:prstGeom prst="straightConnector1">
              <a:avLst/>
            </a:prstGeom>
            <a:noFill/>
            <a:ln w="28575" cmpd="sng">
              <a:solidFill>
                <a:srgbClr val="3366FF"/>
              </a:solidFill>
              <a:miter lim="800000"/>
              <a:headEnd type="none" w="med" len="med"/>
              <a:tailEnd type="arrow"/>
            </a:ln>
            <a:effectLst/>
          </p:spPr>
        </p:cxnSp>
        <p:sp>
          <p:nvSpPr>
            <p:cNvPr id="7" name="TextBox 6"/>
            <p:cNvSpPr txBox="1"/>
            <p:nvPr/>
          </p:nvSpPr>
          <p:spPr>
            <a:xfrm>
              <a:off x="3429000" y="1927083"/>
              <a:ext cx="6463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alibri" pitchFamily="34" charset="0"/>
                </a:rPr>
                <a:t>Unary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 bwMode="auto">
            <a:xfrm flipH="1" flipV="1">
              <a:off x="2905521" y="1897797"/>
              <a:ext cx="599679" cy="159603"/>
            </a:xfrm>
            <a:prstGeom prst="straightConnector1">
              <a:avLst/>
            </a:prstGeom>
            <a:noFill/>
            <a:ln w="28575" cmpd="sng">
              <a:solidFill>
                <a:srgbClr val="3366FF"/>
              </a:solidFill>
              <a:miter lim="800000"/>
              <a:headEnd type="none" w="med" len="med"/>
              <a:tailEnd type="arrow"/>
            </a:ln>
            <a:effectLst/>
          </p:spPr>
        </p:cxnSp>
        <p:sp>
          <p:nvSpPr>
            <p:cNvPr id="16" name="TextBox 15"/>
            <p:cNvSpPr txBox="1"/>
            <p:nvPr/>
          </p:nvSpPr>
          <p:spPr>
            <a:xfrm>
              <a:off x="3502059" y="808196"/>
              <a:ext cx="6976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alibri" pitchFamily="34" charset="0"/>
                </a:rPr>
                <a:t>Postfix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86634" y="2284511"/>
              <a:ext cx="6719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alibri" pitchFamily="34" charset="0"/>
                </a:rPr>
                <a:t>Binary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 bwMode="auto">
            <a:xfrm flipH="1" flipV="1">
              <a:off x="1363155" y="2255225"/>
              <a:ext cx="599679" cy="159603"/>
            </a:xfrm>
            <a:prstGeom prst="straightConnector1">
              <a:avLst/>
            </a:prstGeom>
            <a:noFill/>
            <a:ln w="28575" cmpd="sng">
              <a:solidFill>
                <a:srgbClr val="3366FF"/>
              </a:solidFill>
              <a:miter lim="800000"/>
              <a:headEnd type="none" w="med" len="med"/>
              <a:tailEnd type="arrow"/>
            </a:ln>
            <a:effectLst/>
          </p:spPr>
        </p:cxnSp>
        <p:sp>
          <p:nvSpPr>
            <p:cNvPr id="19" name="TextBox 18"/>
            <p:cNvSpPr txBox="1"/>
            <p:nvPr/>
          </p:nvSpPr>
          <p:spPr>
            <a:xfrm>
              <a:off x="2585839" y="2159284"/>
              <a:ext cx="6206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alibri" pitchFamily="34" charset="0"/>
                </a:rPr>
                <a:t>Prefix</a:t>
              </a:r>
            </a:p>
          </p:txBody>
        </p:sp>
        <p:cxnSp>
          <p:nvCxnSpPr>
            <p:cNvPr id="20" name="Straight Arrow Connector 19"/>
            <p:cNvCxnSpPr>
              <a:endCxn id="8" idx="5"/>
            </p:cNvCxnSpPr>
            <p:nvPr/>
          </p:nvCxnSpPr>
          <p:spPr bwMode="auto">
            <a:xfrm flipH="1" flipV="1">
              <a:off x="2075889" y="1849204"/>
              <a:ext cx="586151" cy="440398"/>
            </a:xfrm>
            <a:prstGeom prst="straightConnector1">
              <a:avLst/>
            </a:prstGeom>
            <a:noFill/>
            <a:ln w="28575" cmpd="sng">
              <a:solidFill>
                <a:srgbClr val="3366FF"/>
              </a:solidFill>
              <a:miter lim="800000"/>
              <a:headEnd type="none" w="med" len="med"/>
              <a:tailEnd type="arrow"/>
            </a:ln>
            <a:effectLst/>
          </p:spPr>
        </p:cxn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xmlns="" id="{34F679E7-8C1C-456F-802C-04B4868872D4}"/>
              </a:ext>
            </a:extLst>
          </p:cNvPr>
          <p:cNvSpPr/>
          <p:nvPr/>
        </p:nvSpPr>
        <p:spPr bwMode="auto">
          <a:xfrm>
            <a:off x="3409784" y="1579235"/>
            <a:ext cx="418621" cy="334054"/>
          </a:xfrm>
          <a:prstGeom prst="ellipse">
            <a:avLst/>
          </a:prstGeom>
          <a:noFill/>
          <a:ln w="28575" cap="flat" cmpd="sng" algn="ctr">
            <a:solidFill>
              <a:srgbClr val="3366FF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B0FA1B2E-7CDB-461B-86B4-188D87817FE5}"/>
              </a:ext>
            </a:extLst>
          </p:cNvPr>
          <p:cNvSpPr txBox="1"/>
          <p:nvPr/>
        </p:nvSpPr>
        <p:spPr>
          <a:xfrm>
            <a:off x="4506740" y="1942599"/>
            <a:ext cx="748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libri" pitchFamily="34" charset="0"/>
              </a:rPr>
              <a:t>Unary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A0542ECF-2679-4AF9-BF45-F24F412218C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828405" y="1828802"/>
            <a:ext cx="728688" cy="214809"/>
          </a:xfrm>
          <a:prstGeom prst="straightConnector1">
            <a:avLst/>
          </a:prstGeom>
          <a:noFill/>
          <a:ln w="28575" cmpd="sng">
            <a:solidFill>
              <a:srgbClr val="3366FF"/>
            </a:solidFill>
            <a:miter lim="800000"/>
            <a:headEnd type="none" w="med" len="med"/>
            <a:tailEnd type="arrow"/>
          </a:ln>
          <a:effectLst/>
        </p:spPr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xmlns="" id="{1E8F5FDC-4ED8-448A-AD46-78A5AE07E715}"/>
              </a:ext>
            </a:extLst>
          </p:cNvPr>
          <p:cNvSpPr/>
          <p:nvPr/>
        </p:nvSpPr>
        <p:spPr bwMode="auto">
          <a:xfrm>
            <a:off x="425669" y="3170351"/>
            <a:ext cx="418621" cy="334054"/>
          </a:xfrm>
          <a:prstGeom prst="ellipse">
            <a:avLst/>
          </a:prstGeom>
          <a:noFill/>
          <a:ln w="28575" cap="flat" cmpd="sng" algn="ctr">
            <a:solidFill>
              <a:srgbClr val="3366FF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 sz="1600" dirty="0">
              <a:latin typeface="+mn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3A0FCD8E-6153-431F-ABF8-89607534F394}"/>
              </a:ext>
            </a:extLst>
          </p:cNvPr>
          <p:cNvSpPr txBox="1"/>
          <p:nvPr/>
        </p:nvSpPr>
        <p:spPr>
          <a:xfrm>
            <a:off x="1522625" y="3533715"/>
            <a:ext cx="748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libri" pitchFamily="34" charset="0"/>
              </a:rPr>
              <a:t>Binary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xmlns="" id="{159195A5-6225-4E49-ADDD-60731C05935C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844290" y="3419918"/>
            <a:ext cx="728688" cy="214809"/>
          </a:xfrm>
          <a:prstGeom prst="straightConnector1">
            <a:avLst/>
          </a:prstGeom>
          <a:noFill/>
          <a:ln w="28575" cmpd="sng">
            <a:solidFill>
              <a:srgbClr val="3366FF"/>
            </a:solidFill>
            <a:miter lim="800000"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77523175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30" grpId="0" animBg="1"/>
      <p:bldP spid="31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17513"/>
            <a:ext cx="7924800" cy="573087"/>
          </a:xfrm>
        </p:spPr>
        <p:txBody>
          <a:bodyPr/>
          <a:lstStyle/>
          <a:p>
            <a:pPr eaLnBrk="1" hangingPunct="1"/>
            <a:r>
              <a:rPr lang="en-US" dirty="0"/>
              <a:t>C Pointer Declarations: Test Yourself!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381000" y="1143000"/>
            <a:ext cx="2971800" cy="480131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*</a:t>
            </a:r>
            <a:r>
              <a:rPr lang="en-US" sz="1800" dirty="0" err="1">
                <a:latin typeface="Courier New" charset="0"/>
              </a:rPr>
              <a:t>p</a:t>
            </a:r>
            <a:r>
              <a:rPr lang="en-US" sz="1800" dirty="0">
                <a:latin typeface="Courier New" charset="0"/>
              </a:rPr>
              <a:t>	</a:t>
            </a:r>
          </a:p>
          <a:p>
            <a:pPr algn="l">
              <a:lnSpc>
                <a:spcPct val="100000"/>
              </a:lnSpc>
            </a:pPr>
            <a:endParaRPr lang="en-US" sz="1800" dirty="0">
              <a:latin typeface="Courier New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*p[13]	</a:t>
            </a:r>
          </a:p>
          <a:p>
            <a:pPr algn="l">
              <a:lnSpc>
                <a:spcPct val="100000"/>
              </a:lnSpc>
            </a:pPr>
            <a:endParaRPr lang="en-US" sz="1800" dirty="0">
              <a:latin typeface="Courier New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*(p[13])	</a:t>
            </a:r>
          </a:p>
          <a:p>
            <a:pPr algn="l">
              <a:lnSpc>
                <a:spcPct val="100000"/>
              </a:lnSpc>
            </a:pPr>
            <a:endParaRPr lang="en-US" sz="1800" dirty="0">
              <a:latin typeface="Courier New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**</a:t>
            </a:r>
            <a:r>
              <a:rPr lang="en-US" sz="1800" dirty="0" err="1">
                <a:latin typeface="Courier New" charset="0"/>
              </a:rPr>
              <a:t>p</a:t>
            </a:r>
            <a:r>
              <a:rPr lang="en-US" sz="1800" dirty="0">
                <a:latin typeface="Courier New" charset="0"/>
              </a:rPr>
              <a:t>	</a:t>
            </a:r>
          </a:p>
          <a:p>
            <a:pPr algn="l">
              <a:lnSpc>
                <a:spcPct val="100000"/>
              </a:lnSpc>
            </a:pPr>
            <a:endParaRPr lang="en-US" sz="1800" dirty="0"/>
          </a:p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(*p)[13]		</a:t>
            </a:r>
            <a:endParaRPr lang="en-US" sz="1800" dirty="0"/>
          </a:p>
          <a:p>
            <a:pPr algn="l">
              <a:lnSpc>
                <a:spcPct val="100000"/>
              </a:lnSpc>
            </a:pPr>
            <a:endParaRPr lang="en-US" sz="1800" dirty="0"/>
          </a:p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*</a:t>
            </a:r>
            <a:r>
              <a:rPr lang="en-US" sz="1800" dirty="0" err="1">
                <a:latin typeface="Courier New" charset="0"/>
              </a:rPr>
              <a:t>f</a:t>
            </a:r>
            <a:r>
              <a:rPr lang="en-US" sz="1800" dirty="0">
                <a:latin typeface="Courier New" charset="0"/>
              </a:rPr>
              <a:t>()		</a:t>
            </a:r>
          </a:p>
          <a:p>
            <a:pPr algn="l">
              <a:lnSpc>
                <a:spcPct val="100000"/>
              </a:lnSpc>
            </a:pPr>
            <a:endParaRPr lang="en-US" sz="1800" dirty="0"/>
          </a:p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(*</a:t>
            </a:r>
            <a:r>
              <a:rPr lang="en-US" sz="1800" dirty="0" err="1">
                <a:latin typeface="Courier New" charset="0"/>
              </a:rPr>
              <a:t>f</a:t>
            </a:r>
            <a:r>
              <a:rPr lang="en-US" sz="1800" dirty="0">
                <a:latin typeface="Courier New" charset="0"/>
              </a:rPr>
              <a:t>)()		</a:t>
            </a:r>
          </a:p>
          <a:p>
            <a:pPr algn="l">
              <a:lnSpc>
                <a:spcPct val="100000"/>
              </a:lnSpc>
            </a:pPr>
            <a:endParaRPr lang="en-US" sz="1800" dirty="0">
              <a:latin typeface="Courier New" charset="0"/>
            </a:endParaRPr>
          </a:p>
          <a:p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(*(*x[3])())[5]</a:t>
            </a:r>
          </a:p>
          <a:p>
            <a:pPr algn="l">
              <a:lnSpc>
                <a:spcPct val="100000"/>
              </a:lnSpc>
            </a:pPr>
            <a:endParaRPr lang="en-US" sz="1800" dirty="0">
              <a:latin typeface="Courier New" charset="0"/>
            </a:endParaRPr>
          </a:p>
          <a:p>
            <a:pPr algn="l">
              <a:lnSpc>
                <a:spcPct val="100000"/>
              </a:lnSpc>
            </a:pPr>
            <a:endParaRPr lang="en-US" sz="1800" dirty="0">
              <a:latin typeface="Courier New" charset="0"/>
            </a:endParaRPr>
          </a:p>
        </p:txBody>
      </p:sp>
      <p:sp>
        <p:nvSpPr>
          <p:cNvPr id="681988" name="Text Box 4"/>
          <p:cNvSpPr txBox="1">
            <a:spLocks noChangeArrowheads="1"/>
          </p:cNvSpPr>
          <p:nvPr/>
        </p:nvSpPr>
        <p:spPr bwMode="auto">
          <a:xfrm>
            <a:off x="3733800" y="1143000"/>
            <a:ext cx="1902023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0" dirty="0" err="1">
                <a:latin typeface="+mn-lt"/>
              </a:rPr>
              <a:t>p</a:t>
            </a:r>
            <a:r>
              <a:rPr lang="en-US" sz="1800" b="0" dirty="0">
                <a:latin typeface="+mn-lt"/>
              </a:rPr>
              <a:t> is a pointer to </a:t>
            </a:r>
            <a:r>
              <a:rPr lang="en-US" sz="1800" b="0" dirty="0" err="1">
                <a:latin typeface="+mn-lt"/>
              </a:rPr>
              <a:t>int</a:t>
            </a:r>
            <a:endParaRPr lang="en-US" sz="1800" b="0" dirty="0">
              <a:latin typeface="+mn-lt"/>
            </a:endParaRPr>
          </a:p>
        </p:txBody>
      </p:sp>
      <p:sp>
        <p:nvSpPr>
          <p:cNvPr id="681989" name="Text Box 5"/>
          <p:cNvSpPr txBox="1">
            <a:spLocks noChangeArrowheads="1"/>
          </p:cNvSpPr>
          <p:nvPr/>
        </p:nvSpPr>
        <p:spPr bwMode="auto">
          <a:xfrm>
            <a:off x="3733800" y="1676400"/>
            <a:ext cx="3203386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dirty="0" err="1">
                <a:solidFill>
                  <a:srgbClr val="0070C0"/>
                </a:solidFill>
                <a:latin typeface="+mn-lt"/>
              </a:rPr>
              <a:t>p</a:t>
            </a:r>
            <a:r>
              <a:rPr lang="en-US" sz="1800" b="0" dirty="0">
                <a:solidFill>
                  <a:srgbClr val="0070C0"/>
                </a:solidFill>
                <a:latin typeface="+mn-lt"/>
              </a:rPr>
              <a:t> is an array[13] of pointer to </a:t>
            </a:r>
            <a:r>
              <a:rPr lang="en-US" sz="1800" b="0" dirty="0" err="1">
                <a:solidFill>
                  <a:srgbClr val="0070C0"/>
                </a:solidFill>
                <a:latin typeface="+mn-lt"/>
              </a:rPr>
              <a:t>int</a:t>
            </a:r>
            <a:endParaRPr lang="en-US" sz="1800" b="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681990" name="Text Box 6"/>
          <p:cNvSpPr txBox="1">
            <a:spLocks noChangeArrowheads="1"/>
          </p:cNvSpPr>
          <p:nvPr/>
        </p:nvSpPr>
        <p:spPr bwMode="auto">
          <a:xfrm>
            <a:off x="3733800" y="2224088"/>
            <a:ext cx="3203386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dirty="0">
                <a:solidFill>
                  <a:srgbClr val="0070C0"/>
                </a:solidFill>
                <a:latin typeface="+mn-lt"/>
              </a:rPr>
              <a:t>p is an array[13] of pointer to </a:t>
            </a:r>
            <a:r>
              <a:rPr lang="en-US" sz="1800" b="0" dirty="0" err="1">
                <a:solidFill>
                  <a:srgbClr val="0070C0"/>
                </a:solidFill>
                <a:latin typeface="+mn-lt"/>
              </a:rPr>
              <a:t>int</a:t>
            </a:r>
            <a:endParaRPr lang="en-US" sz="1800" b="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681991" name="Text Box 7"/>
          <p:cNvSpPr txBox="1">
            <a:spLocks noChangeArrowheads="1"/>
          </p:cNvSpPr>
          <p:nvPr/>
        </p:nvSpPr>
        <p:spPr bwMode="auto">
          <a:xfrm>
            <a:off x="3733800" y="2757488"/>
            <a:ext cx="3366254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>
                <a:latin typeface="+mn-lt"/>
              </a:rPr>
              <a:t>p is a pointer to a pointer to an int</a:t>
            </a:r>
          </a:p>
        </p:txBody>
      </p:sp>
      <p:sp>
        <p:nvSpPr>
          <p:cNvPr id="681992" name="Text Box 8"/>
          <p:cNvSpPr txBox="1">
            <a:spLocks noChangeArrowheads="1"/>
          </p:cNvSpPr>
          <p:nvPr/>
        </p:nvSpPr>
        <p:spPr bwMode="auto">
          <a:xfrm>
            <a:off x="3733800" y="3352800"/>
            <a:ext cx="3369522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0" dirty="0" err="1">
                <a:solidFill>
                  <a:srgbClr val="0070C0"/>
                </a:solidFill>
                <a:latin typeface="+mn-lt"/>
              </a:rPr>
              <a:t>p</a:t>
            </a:r>
            <a:r>
              <a:rPr lang="en-US" sz="1800" b="0" dirty="0">
                <a:solidFill>
                  <a:srgbClr val="0070C0"/>
                </a:solidFill>
                <a:latin typeface="+mn-lt"/>
              </a:rPr>
              <a:t> is a pointer to an array[13] of </a:t>
            </a:r>
            <a:r>
              <a:rPr lang="en-US" sz="1800" b="0" dirty="0" err="1">
                <a:solidFill>
                  <a:srgbClr val="0070C0"/>
                </a:solidFill>
                <a:latin typeface="+mn-lt"/>
              </a:rPr>
              <a:t>int</a:t>
            </a:r>
            <a:endParaRPr lang="en-US" sz="1800" b="0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681993" name="Text Box 9"/>
          <p:cNvSpPr txBox="1">
            <a:spLocks noChangeArrowheads="1"/>
          </p:cNvSpPr>
          <p:nvPr/>
        </p:nvSpPr>
        <p:spPr bwMode="auto">
          <a:xfrm>
            <a:off x="3733800" y="3844925"/>
            <a:ext cx="3816084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dirty="0" err="1">
                <a:solidFill>
                  <a:srgbClr val="C00000"/>
                </a:solidFill>
                <a:latin typeface="+mn-lt"/>
              </a:rPr>
              <a:t>f</a:t>
            </a:r>
            <a:r>
              <a:rPr lang="en-US" sz="1800" b="0" dirty="0">
                <a:solidFill>
                  <a:srgbClr val="C00000"/>
                </a:solidFill>
                <a:latin typeface="+mn-lt"/>
              </a:rPr>
              <a:t> is a function returning a pointer to </a:t>
            </a:r>
            <a:r>
              <a:rPr lang="en-US" sz="1800" b="0" dirty="0" err="1">
                <a:solidFill>
                  <a:srgbClr val="C00000"/>
                </a:solidFill>
                <a:latin typeface="+mn-lt"/>
              </a:rPr>
              <a:t>int</a:t>
            </a:r>
            <a:endParaRPr lang="en-US" sz="1800" b="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681994" name="Text Box 10"/>
          <p:cNvSpPr txBox="1">
            <a:spLocks noChangeArrowheads="1"/>
          </p:cNvSpPr>
          <p:nvPr/>
        </p:nvSpPr>
        <p:spPr bwMode="auto">
          <a:xfrm>
            <a:off x="3733800" y="4419600"/>
            <a:ext cx="3816084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0" dirty="0" err="1">
                <a:solidFill>
                  <a:srgbClr val="C00000"/>
                </a:solidFill>
                <a:latin typeface="+mn-lt"/>
              </a:rPr>
              <a:t>f</a:t>
            </a:r>
            <a:r>
              <a:rPr lang="en-US" sz="1800" b="0" dirty="0">
                <a:solidFill>
                  <a:srgbClr val="C00000"/>
                </a:solidFill>
                <a:latin typeface="+mn-lt"/>
              </a:rPr>
              <a:t> is a pointer to a function returning </a:t>
            </a:r>
            <a:r>
              <a:rPr lang="en-US" sz="1800" b="0" dirty="0" err="1">
                <a:solidFill>
                  <a:srgbClr val="C00000"/>
                </a:solidFill>
                <a:latin typeface="+mn-lt"/>
              </a:rPr>
              <a:t>int</a:t>
            </a:r>
            <a:endParaRPr lang="en-US" sz="1800" b="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681996" name="Text Box 12"/>
          <p:cNvSpPr txBox="1">
            <a:spLocks noChangeArrowheads="1"/>
          </p:cNvSpPr>
          <p:nvPr/>
        </p:nvSpPr>
        <p:spPr bwMode="auto">
          <a:xfrm>
            <a:off x="3733800" y="4970501"/>
            <a:ext cx="3844149" cy="646331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dirty="0">
                <a:latin typeface="+mn-lt"/>
              </a:rPr>
              <a:t>x is an array[3] of pointers  to functions </a:t>
            </a:r>
          </a:p>
          <a:p>
            <a:pPr algn="l">
              <a:lnSpc>
                <a:spcPct val="100000"/>
              </a:lnSpc>
            </a:pPr>
            <a:r>
              <a:rPr lang="en-US" sz="1800" b="0" dirty="0">
                <a:latin typeface="+mn-lt"/>
              </a:rPr>
              <a:t>returning pointers to array[5] of </a:t>
            </a:r>
            <a:r>
              <a:rPr lang="en-US" sz="1800" b="0" dirty="0" err="1">
                <a:latin typeface="+mn-lt"/>
              </a:rPr>
              <a:t>ints</a:t>
            </a:r>
            <a:endParaRPr lang="en-US" sz="1800" b="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6444734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Source: K&amp;R Sec 5.12</a:t>
            </a:r>
          </a:p>
        </p:txBody>
      </p:sp>
    </p:spTree>
    <p:extLst>
      <p:ext uri="{BB962C8B-B14F-4D97-AF65-F5344CB8AC3E}">
        <p14:creationId xmlns:p14="http://schemas.microsoft.com/office/powerpoint/2010/main" val="35748595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988" grpId="0" autoUpdateAnimBg="0"/>
      <p:bldP spid="681989" grpId="0" autoUpdateAnimBg="0"/>
      <p:bldP spid="681990" grpId="0" autoUpdateAnimBg="0"/>
      <p:bldP spid="681991" grpId="0" autoUpdateAnimBg="0"/>
      <p:bldP spid="681992" grpId="0" autoUpdateAnimBg="0"/>
      <p:bldP spid="681993" grpId="0" autoUpdateAnimBg="0"/>
      <p:bldP spid="681994" grpId="0" autoUpdateAnimBg="0"/>
      <p:bldP spid="681996" grpId="0" autoUpdateAnimBg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274638" y="436562"/>
            <a:ext cx="8716962" cy="782638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Dereferencing Bad Pointers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307387" cy="5224462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The classic </a:t>
            </a:r>
            <a:r>
              <a:rPr lang="en-GB" dirty="0" err="1">
                <a:latin typeface="Courier New" pitchFamily="49" charset="0"/>
              </a:rPr>
              <a:t>scanf</a:t>
            </a:r>
            <a:r>
              <a:rPr lang="en-GB" dirty="0"/>
              <a:t> bug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762000" y="1948003"/>
            <a:ext cx="2764146" cy="1694952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b="1" dirty="0">
                <a:latin typeface="Courier New" pitchFamily="49" charset="0"/>
                <a:ea typeface="msgothic" charset="0"/>
                <a:cs typeface="msgothic" charset="0"/>
              </a:rPr>
              <a:t> </a:t>
            </a:r>
            <a:r>
              <a:rPr lang="en-GB" sz="2000" b="1" dirty="0" err="1">
                <a:latin typeface="Courier New" pitchFamily="49" charset="0"/>
                <a:ea typeface="msgothic" charset="0"/>
                <a:cs typeface="msgothic" charset="0"/>
              </a:rPr>
              <a:t>val</a:t>
            </a:r>
            <a:r>
              <a:rPr lang="en-GB" sz="2000" b="1" dirty="0">
                <a:latin typeface="Courier New" pitchFamily="49" charset="0"/>
                <a:ea typeface="msgothic" charset="0"/>
                <a:cs typeface="msgothic" charset="0"/>
              </a:rPr>
              <a:t>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b="1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>
                <a:latin typeface="Courier New" pitchFamily="49" charset="0"/>
                <a:ea typeface="msgothic" charset="0"/>
                <a:cs typeface="msgothic" charset="0"/>
              </a:rPr>
              <a:t>...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b="1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b="1" dirty="0" err="1">
                <a:latin typeface="Courier New" pitchFamily="49" charset="0"/>
                <a:ea typeface="msgothic" charset="0"/>
                <a:cs typeface="msgothic" charset="0"/>
              </a:rPr>
              <a:t>scanf</a:t>
            </a:r>
            <a:r>
              <a:rPr lang="en-GB" sz="2000" b="1" dirty="0">
                <a:latin typeface="Courier New" pitchFamily="49" charset="0"/>
                <a:ea typeface="msgothic" charset="0"/>
                <a:cs typeface="msgothic" charset="0"/>
              </a:rPr>
              <a:t>(</a:t>
            </a:r>
            <a:r>
              <a:rPr lang="ru-RU" sz="2000" dirty="0"/>
              <a:t>"</a:t>
            </a:r>
            <a:r>
              <a:rPr lang="en-GB" sz="2000" b="1" dirty="0">
                <a:latin typeface="Courier New" pitchFamily="49" charset="0"/>
                <a:ea typeface="msgothic" charset="0"/>
                <a:cs typeface="msgothic" charset="0"/>
              </a:rPr>
              <a:t>%d</a:t>
            </a:r>
            <a:r>
              <a:rPr lang="ru-RU" sz="2000" dirty="0"/>
              <a:t>"</a:t>
            </a:r>
            <a:r>
              <a:rPr lang="en-GB" sz="2000" b="1" dirty="0">
                <a:latin typeface="Courier New" pitchFamily="49" charset="0"/>
                <a:ea typeface="msgothic" charset="0"/>
                <a:cs typeface="msgothic" charset="0"/>
              </a:rPr>
              <a:t>, </a:t>
            </a:r>
            <a:r>
              <a:rPr lang="en-GB" sz="2000" b="1" dirty="0" err="1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val</a:t>
            </a:r>
            <a:r>
              <a:rPr lang="en-GB" sz="2000" b="1" dirty="0">
                <a:latin typeface="Courier New" pitchFamily="49" charset="0"/>
                <a:ea typeface="msgothic" charset="0"/>
                <a:cs typeface="msgothic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534067963"/>
      </p:ext>
    </p:extLst>
  </p:cSld>
  <p:clrMapOvr>
    <a:masterClrMapping/>
  </p:clrMapOvr>
  <p:transition xmlns:p14="http://schemas.microsoft.com/office/powerpoint/2010/main" spd="med"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50838" y="381000"/>
            <a:ext cx="8716962" cy="782638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Reading Uninitialized Memory</a:t>
            </a: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79413" y="1220788"/>
            <a:ext cx="8307387" cy="5224462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Assuming that heap data is initialized to zero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Can avoid by using </a:t>
            </a:r>
            <a:r>
              <a:rPr lang="en-GB" dirty="0" err="1">
                <a:latin typeface="Courier New"/>
                <a:cs typeface="Courier New"/>
              </a:rPr>
              <a:t>calloc</a:t>
            </a:r>
            <a:endParaRPr lang="en-GB" dirty="0">
              <a:latin typeface="Courier New"/>
              <a:cs typeface="Courier New"/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809727" y="1930144"/>
            <a:ext cx="5413959" cy="3480056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/* return y = </a:t>
            </a:r>
            <a:r>
              <a:rPr lang="en-GB" sz="2000" dirty="0" err="1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Ax</a:t>
            </a:r>
            <a:r>
              <a:rPr lang="en-GB" sz="20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 */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*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matvec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**A,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*x) { 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 *y = </a:t>
            </a:r>
            <a:r>
              <a:rPr lang="en-GB" sz="2000" dirty="0" err="1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(N*</a:t>
            </a:r>
            <a:r>
              <a:rPr lang="en-GB" sz="2000" dirty="0" err="1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));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, j;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for (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=0;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&lt;N;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++)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   for (j=0; j&lt;N; j++)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      y[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] </a:t>
            </a:r>
            <a:r>
              <a:rPr lang="en-GB" sz="2000" dirty="0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+=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A[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][j]*x[j];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return y;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}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246155"/>
      </p:ext>
    </p:extLst>
  </p:cSld>
  <p:clrMapOvr>
    <a:masterClrMapping/>
  </p:clrMapOvr>
  <p:transition xmlns:p14="http://schemas.microsoft.com/office/powerpoint/2010/main" spd="med"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50838" y="436562"/>
            <a:ext cx="8716962" cy="782638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Overwriting Memory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79413" y="1295400"/>
            <a:ext cx="8307387" cy="5224462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Allocating the (possibly) wrong sized object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Can you spot the bug?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812703" y="2133600"/>
            <a:ext cx="5106183" cy="224895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**p;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p =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(N*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));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for (i=0; i&lt;N; i++) {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p[i] =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(M*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));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4441652"/>
      </p:ext>
    </p:extLst>
  </p:cSld>
  <p:clrMapOvr>
    <a:masterClrMapping/>
  </p:clrMapOvr>
  <p:transition xmlns:p14="http://schemas.microsoft.com/office/powerpoint/2010/main" spd="med"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50838" y="457200"/>
            <a:ext cx="8716962" cy="782638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Overwriting Memory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79413" y="1252538"/>
            <a:ext cx="8307387" cy="5224462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Off-by-</a:t>
            </a:r>
            <a:r>
              <a:rPr lang="en-GB"/>
              <a:t>one errors</a:t>
            </a:r>
            <a:endParaRPr lang="en-GB" dirty="0"/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838200" y="1981200"/>
            <a:ext cx="5106183" cy="224895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>
                <a:latin typeface="Courier New" pitchFamily="49" charset="0"/>
                <a:ea typeface="msgothic" charset="0"/>
                <a:cs typeface="msgothic" charset="0"/>
              </a:rPr>
              <a:t>char **p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p =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(N*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*));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for (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=0;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&lt;=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N;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++) {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p[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] =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(M*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));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}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838200" y="4572000"/>
            <a:ext cx="3567851" cy="1633397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char *p;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p =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strlen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(s));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strcpy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p,s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093627"/>
      </p:ext>
    </p:extLst>
  </p:cSld>
  <p:clrMapOvr>
    <a:masterClrMapping/>
  </p:clrMapOvr>
  <p:transition xmlns:p14="http://schemas.microsoft.com/office/powerpoint/2010/main" spd="med"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50838" y="436562"/>
            <a:ext cx="8716962" cy="782638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Overwriting Memory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71175" y="1220788"/>
            <a:ext cx="8307387" cy="4494212"/>
          </a:xfrm>
          <a:ln/>
        </p:spPr>
        <p:txBody>
          <a:bodyPr/>
          <a:lstStyle/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Not checking the max string size</a:t>
            </a:r>
          </a:p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Basis for classic buffer overflow attacks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821724" y="1871803"/>
            <a:ext cx="7106730" cy="1633397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char s[</a:t>
            </a:r>
            <a:r>
              <a:rPr lang="en-GB" sz="2000" dirty="0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8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];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gets(s);  </a:t>
            </a:r>
            <a:r>
              <a:rPr lang="en-GB" sz="20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/* reads “123456789” from </a:t>
            </a:r>
            <a:r>
              <a:rPr lang="en-GB" sz="2000" dirty="0" err="1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stdin</a:t>
            </a:r>
            <a:r>
              <a:rPr lang="en-GB" sz="20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 */ 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90574"/>
      </p:ext>
    </p:extLst>
  </p:cSld>
  <p:clrMapOvr>
    <a:masterClrMapping/>
  </p:clrMapOvr>
  <p:transition xmlns:p14="http://schemas.microsoft.com/office/powerpoint/2010/main" spd="med"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50838" y="457200"/>
            <a:ext cx="8716962" cy="782638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Overwriting Memory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71175" y="1252538"/>
            <a:ext cx="8307387" cy="5224462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Misunderstanding pointer arithmetic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823918" y="2018250"/>
            <a:ext cx="4798406" cy="224895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*search(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*p,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val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) {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while (p &amp;&amp; *p !=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val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)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   p += </a:t>
            </a:r>
            <a:r>
              <a:rPr lang="en-GB" sz="2000" dirty="0" err="1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)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return p;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5791924"/>
      </p:ext>
    </p:extLst>
  </p:cSld>
  <p:clrMapOvr>
    <a:masterClrMapping/>
  </p:clrMapOvr>
  <p:transition xmlns:p14="http://schemas.microsoft.com/office/powerpoint/2010/main" spd="med"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50838" y="436562"/>
            <a:ext cx="8716962" cy="782638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Overwriting Memory</a:t>
            </a: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79413" y="1252538"/>
            <a:ext cx="8307387" cy="5224462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Referencing a pointer instead of the object it points to</a:t>
            </a:r>
          </a:p>
        </p:txBody>
      </p:sp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838200" y="1752600"/>
            <a:ext cx="7260619" cy="2556727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*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BinheapDelete(int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**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binheap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,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*size) {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*packet;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packet = binheap[0];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binheap[0] =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binheap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[*size - 1];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*size--;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Heapify(binheap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, *size, 0);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return(packet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}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572000" y="3810000"/>
            <a:ext cx="4305300" cy="2815004"/>
            <a:chOff x="4572000" y="3810000"/>
            <a:chExt cx="4305300" cy="2815004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2000" y="3810000"/>
              <a:ext cx="4305300" cy="2815004"/>
            </a:xfrm>
            <a:prstGeom prst="rect">
              <a:avLst/>
            </a:prstGeom>
          </p:spPr>
        </p:pic>
        <p:sp>
          <p:nvSpPr>
            <p:cNvPr id="8" name="Oval 7"/>
            <p:cNvSpPr/>
            <p:nvPr/>
          </p:nvSpPr>
          <p:spPr bwMode="auto">
            <a:xfrm>
              <a:off x="6096000" y="4180409"/>
              <a:ext cx="304800" cy="228600"/>
            </a:xfrm>
            <a:prstGeom prst="ellipse">
              <a:avLst/>
            </a:prstGeom>
            <a:noFill/>
            <a:ln w="349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  <p:sp>
          <p:nvSpPr>
            <p:cNvPr id="3" name="Oval 2"/>
            <p:cNvSpPr/>
            <p:nvPr/>
          </p:nvSpPr>
          <p:spPr bwMode="auto">
            <a:xfrm>
              <a:off x="6019800" y="3993936"/>
              <a:ext cx="304800" cy="228600"/>
            </a:xfrm>
            <a:prstGeom prst="ellipse">
              <a:avLst/>
            </a:prstGeom>
            <a:noFill/>
            <a:ln w="349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 sz="1600" dirty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1135880"/>
      </p:ext>
    </p:extLst>
  </p:cSld>
  <p:clrMapOvr>
    <a:masterClrMapping/>
  </p:clrMapOvr>
  <p:transition xmlns:p14="http://schemas.microsoft.com/office/powerpoint/2010/main" spd="med"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27038" y="436562"/>
            <a:ext cx="8716962" cy="782638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Referencing Nonexistent Variables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47375" y="1252538"/>
            <a:ext cx="8307387" cy="5224462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/>
              <a:t>Forgetting that local variables disappear when a function returns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914400" y="2310714"/>
            <a:ext cx="2490082" cy="1633397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*foo () {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val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return </a:t>
            </a:r>
            <a:r>
              <a:rPr lang="en-GB" sz="2000" dirty="0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&amp;</a:t>
            </a:r>
            <a:r>
              <a:rPr lang="en-GB" sz="2000" dirty="0" err="1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val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}  </a:t>
            </a:r>
          </a:p>
        </p:txBody>
      </p:sp>
    </p:spTree>
    <p:extLst>
      <p:ext uri="{BB962C8B-B14F-4D97-AF65-F5344CB8AC3E}">
        <p14:creationId xmlns:p14="http://schemas.microsoft.com/office/powerpoint/2010/main" val="4129865095"/>
      </p:ext>
    </p:extLst>
  </p:cSld>
  <p:clrMapOvr>
    <a:masterClrMapping/>
  </p:clrMapOvr>
  <p:transition xmlns:p14="http://schemas.microsoft.com/office/powerpoint/2010/main" spd="med"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50838" y="436562"/>
            <a:ext cx="8716962" cy="782638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Freeing Blocks Multiple Times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2937" y="1252538"/>
            <a:ext cx="8307387" cy="5224462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/>
              <a:t>Nasty!</a:t>
            </a: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805248" y="1981200"/>
            <a:ext cx="4343400" cy="222885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x =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(N*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));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     </a:t>
            </a:r>
            <a:r>
              <a:rPr lang="en-GB" sz="20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&lt;manipulate x&gt;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free(x);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y =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(M*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));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     </a:t>
            </a:r>
            <a:r>
              <a:rPr lang="en-GB" sz="20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&lt;manipulate y&gt;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free(x);</a:t>
            </a:r>
          </a:p>
        </p:txBody>
      </p:sp>
    </p:spTree>
    <p:extLst>
      <p:ext uri="{BB962C8B-B14F-4D97-AF65-F5344CB8AC3E}">
        <p14:creationId xmlns:p14="http://schemas.microsoft.com/office/powerpoint/2010/main" val="3151353393"/>
      </p:ext>
    </p:extLst>
  </p:cSld>
  <p:clrMapOvr>
    <a:masterClrMapping/>
  </p:clrMapOvr>
  <p:transition xmlns:p14="http://schemas.microsoft.com/office/powerpoint/2010/main" spd="med"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457200"/>
            <a:ext cx="8716962" cy="782638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Referencing Freed Blocks</a:t>
            </a: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7651" y="1252538"/>
            <a:ext cx="8307387" cy="5224462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Evil! 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838200" y="1905000"/>
            <a:ext cx="4343400" cy="222885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x =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(N*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));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</a:t>
            </a:r>
            <a:r>
              <a:rPr lang="en-GB" sz="20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&lt;manipulate x&gt;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free(x);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...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y =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(M*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));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for (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=0;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&lt;M;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++)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y[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] = </a:t>
            </a:r>
            <a:r>
              <a:rPr lang="en-GB" sz="2000" dirty="0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x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[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]++;</a:t>
            </a:r>
          </a:p>
        </p:txBody>
      </p:sp>
    </p:spTree>
    <p:extLst>
      <p:ext uri="{BB962C8B-B14F-4D97-AF65-F5344CB8AC3E}">
        <p14:creationId xmlns:p14="http://schemas.microsoft.com/office/powerpoint/2010/main" val="2683580833"/>
      </p:ext>
    </p:extLst>
  </p:cSld>
  <p:clrMapOvr>
    <a:masterClrMapping/>
  </p:clrMapOvr>
  <p:transition xmlns:p14="http://schemas.microsoft.com/office/powerpoint/2010/main" spd="med"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50838" y="287338"/>
            <a:ext cx="8716962" cy="1008062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Failing to Free Blocks (Memory Leaks)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50838" y="1252538"/>
            <a:ext cx="8307387" cy="5224462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Slow, long-term killer! 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786714" y="2009775"/>
            <a:ext cx="5486400" cy="161925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foo() {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*x =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(N*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));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...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return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;</a:t>
            </a:r>
          </a:p>
          <a:p>
            <a:pPr>
              <a:lnSpc>
                <a:spcPct val="100000"/>
              </a:lnSpc>
              <a:buFont typeface="Courier New" pitchFamily="49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9530092"/>
      </p:ext>
    </p:extLst>
  </p:cSld>
  <p:clrMapOvr>
    <a:masterClrMapping/>
  </p:clrMapOvr>
  <p:transition xmlns:p14="http://schemas.microsoft.com/office/powerpoint/2010/main" spd="med"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50838" y="287338"/>
            <a:ext cx="8716962" cy="1008062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Failing to Free Blocks (Memory Leaks)</a:t>
            </a: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2937" y="1220788"/>
            <a:ext cx="8307387" cy="5224462"/>
          </a:xfrm>
          <a:ln/>
        </p:spPr>
        <p:txBody>
          <a:bodyPr/>
          <a:lstStyle/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Freeing only part of a data structure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457200" y="1885950"/>
            <a:ext cx="8077200" cy="4362450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struct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list {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val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struct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list *next;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};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2000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foo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() {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struct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list *head = 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malloc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sizeof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(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struct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list));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head-&gt;</a:t>
            </a:r>
            <a:r>
              <a:rPr lang="en-GB" sz="2000" dirty="0" err="1">
                <a:latin typeface="Courier New" pitchFamily="49" charset="0"/>
                <a:ea typeface="msgothic" charset="0"/>
                <a:cs typeface="msgothic" charset="0"/>
              </a:rPr>
              <a:t>val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= 0;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head-&gt;next = NULL;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&lt;create and manipulate the rest of the list&gt;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 ...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</a:t>
            </a:r>
            <a:r>
              <a:rPr lang="en-GB" sz="2000" dirty="0">
                <a:solidFill>
                  <a:srgbClr val="C00000"/>
                </a:solidFill>
                <a:latin typeface="Courier New" pitchFamily="49" charset="0"/>
                <a:ea typeface="msgothic" charset="0"/>
                <a:cs typeface="msgothic" charset="0"/>
              </a:rPr>
              <a:t>free(head)</a:t>
            </a: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   return;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000" dirty="0">
                <a:latin typeface="Courier New" pitchFamily="49" charset="0"/>
                <a:ea typeface="msgothic" charset="0"/>
                <a:cs typeface="msgothic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220949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436562"/>
            <a:ext cx="8716962" cy="782638"/>
          </a:xfrm>
          <a:ln/>
        </p:spPr>
        <p:txBody>
          <a:bodyPr/>
          <a:lstStyle/>
          <a:p>
            <a:pPr>
              <a:lnSpc>
                <a:spcPct val="87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Dealing With Memory Bugs</a:t>
            </a:r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79413" y="1220788"/>
            <a:ext cx="8307387" cy="5224462"/>
          </a:xfrm>
          <a:ln/>
        </p:spPr>
        <p:txBody>
          <a:bodyPr/>
          <a:lstStyle/>
          <a:p>
            <a:pPr>
              <a:lnSpc>
                <a:spcPct val="8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Debugger: </a:t>
            </a:r>
            <a:r>
              <a:rPr lang="en-GB" dirty="0" err="1">
                <a:latin typeface="Courier New"/>
                <a:cs typeface="Courier New"/>
              </a:rPr>
              <a:t>gdb</a:t>
            </a:r>
            <a:endParaRPr lang="en-GB" dirty="0">
              <a:latin typeface="Courier New"/>
              <a:cs typeface="Courier New"/>
            </a:endParaRPr>
          </a:p>
          <a:p>
            <a:pPr lvl="1">
              <a:lnSpc>
                <a:spcPct val="9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Good for finding  bad pointer dereferences</a:t>
            </a:r>
          </a:p>
          <a:p>
            <a:pPr lvl="1">
              <a:lnSpc>
                <a:spcPct val="9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Hard to detect the other memory bugs</a:t>
            </a:r>
          </a:p>
          <a:p>
            <a:pPr>
              <a:lnSpc>
                <a:spcPct val="9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Data structure consistency checker</a:t>
            </a:r>
          </a:p>
          <a:p>
            <a:pPr lvl="1">
              <a:lnSpc>
                <a:spcPct val="9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Runs silently, prints message only on error</a:t>
            </a:r>
          </a:p>
          <a:p>
            <a:pPr lvl="1">
              <a:lnSpc>
                <a:spcPct val="9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Use as a probe to zero in on error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Binary translator:  </a:t>
            </a:r>
            <a:r>
              <a:rPr lang="en-GB" dirty="0" err="1">
                <a:latin typeface="Courier New"/>
                <a:cs typeface="Courier New"/>
              </a:rPr>
              <a:t>valgrind</a:t>
            </a:r>
            <a:r>
              <a:rPr lang="en-GB" dirty="0"/>
              <a:t> </a:t>
            </a:r>
          </a:p>
          <a:p>
            <a:pPr lvl="1"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Powerful debugging and analysis technique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Rewrites text section of executable object file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Checks each individual reference at runtime</a:t>
            </a:r>
          </a:p>
          <a:p>
            <a:pPr lvl="2">
              <a:lnSpc>
                <a:spcPct val="107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Bad pointers, overwrites, refs outside of allocated block</a:t>
            </a:r>
          </a:p>
          <a:p>
            <a:pPr>
              <a:lnSpc>
                <a:spcPct val="95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 err="1"/>
              <a:t>glibc</a:t>
            </a:r>
            <a:r>
              <a:rPr lang="en-GB" dirty="0"/>
              <a:t> </a:t>
            </a:r>
            <a:r>
              <a:rPr lang="en-GB" dirty="0" err="1"/>
              <a:t>malloc</a:t>
            </a:r>
            <a:r>
              <a:rPr lang="en-GB" dirty="0"/>
              <a:t> contains checking code</a:t>
            </a:r>
          </a:p>
          <a:p>
            <a:pPr lvl="1">
              <a:lnSpc>
                <a:spcPct val="100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dirty="0" err="1">
                <a:latin typeface="Courier New"/>
                <a:cs typeface="Courier New"/>
              </a:rPr>
              <a:t>setenv</a:t>
            </a:r>
            <a:r>
              <a:rPr lang="en-GB" b="1" dirty="0">
                <a:latin typeface="Courier New"/>
                <a:cs typeface="Courier New"/>
              </a:rPr>
              <a:t> MALLOC_CHECK_ 3 </a:t>
            </a:r>
          </a:p>
          <a:p>
            <a:pPr lvl="2">
              <a:lnSpc>
                <a:spcPct val="107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672265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Supplemental slides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7447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17513"/>
            <a:ext cx="7924800" cy="573087"/>
          </a:xfrm>
        </p:spPr>
        <p:txBody>
          <a:bodyPr/>
          <a:lstStyle/>
          <a:p>
            <a:pPr eaLnBrk="1" hangingPunct="1"/>
            <a:r>
              <a:rPr lang="en-US" dirty="0"/>
              <a:t>C Pointer Declarations: Test Yourself!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381000" y="1143000"/>
            <a:ext cx="2971800" cy="53553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*</a:t>
            </a:r>
            <a:r>
              <a:rPr lang="en-US" sz="1800" dirty="0" err="1">
                <a:latin typeface="Courier New" charset="0"/>
              </a:rPr>
              <a:t>p</a:t>
            </a:r>
            <a:r>
              <a:rPr lang="en-US" sz="1800" dirty="0">
                <a:latin typeface="Courier New" charset="0"/>
              </a:rPr>
              <a:t>	</a:t>
            </a:r>
          </a:p>
          <a:p>
            <a:pPr algn="l">
              <a:lnSpc>
                <a:spcPct val="100000"/>
              </a:lnSpc>
            </a:pPr>
            <a:endParaRPr lang="en-US" sz="1800" dirty="0">
              <a:latin typeface="Courier New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*p[13]	</a:t>
            </a:r>
          </a:p>
          <a:p>
            <a:pPr algn="l">
              <a:lnSpc>
                <a:spcPct val="100000"/>
              </a:lnSpc>
            </a:pPr>
            <a:endParaRPr lang="en-US" sz="1800" dirty="0">
              <a:latin typeface="Courier New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*(p[13])	</a:t>
            </a:r>
          </a:p>
          <a:p>
            <a:pPr algn="l">
              <a:lnSpc>
                <a:spcPct val="100000"/>
              </a:lnSpc>
            </a:pPr>
            <a:endParaRPr lang="en-US" sz="1800" dirty="0">
              <a:latin typeface="Courier New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**</a:t>
            </a:r>
            <a:r>
              <a:rPr lang="en-US" sz="1800" dirty="0" err="1">
                <a:latin typeface="Courier New" charset="0"/>
              </a:rPr>
              <a:t>p</a:t>
            </a:r>
            <a:r>
              <a:rPr lang="en-US" sz="1800" dirty="0">
                <a:latin typeface="Courier New" charset="0"/>
              </a:rPr>
              <a:t>	</a:t>
            </a:r>
          </a:p>
          <a:p>
            <a:pPr algn="l">
              <a:lnSpc>
                <a:spcPct val="100000"/>
              </a:lnSpc>
            </a:pPr>
            <a:endParaRPr lang="en-US" sz="1800" dirty="0"/>
          </a:p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(*p)[13]		</a:t>
            </a:r>
            <a:endParaRPr lang="en-US" sz="1800" dirty="0"/>
          </a:p>
          <a:p>
            <a:pPr algn="l">
              <a:lnSpc>
                <a:spcPct val="100000"/>
              </a:lnSpc>
            </a:pPr>
            <a:endParaRPr lang="en-US" sz="1800" dirty="0"/>
          </a:p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*</a:t>
            </a:r>
            <a:r>
              <a:rPr lang="en-US" sz="1800" dirty="0" err="1">
                <a:latin typeface="Courier New" charset="0"/>
              </a:rPr>
              <a:t>f</a:t>
            </a:r>
            <a:r>
              <a:rPr lang="en-US" sz="1800" dirty="0">
                <a:latin typeface="Courier New" charset="0"/>
              </a:rPr>
              <a:t>()		</a:t>
            </a:r>
          </a:p>
          <a:p>
            <a:pPr algn="l">
              <a:lnSpc>
                <a:spcPct val="100000"/>
              </a:lnSpc>
            </a:pPr>
            <a:endParaRPr lang="en-US" sz="1800" dirty="0"/>
          </a:p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(*</a:t>
            </a:r>
            <a:r>
              <a:rPr lang="en-US" sz="1800" dirty="0" err="1">
                <a:latin typeface="Courier New" charset="0"/>
              </a:rPr>
              <a:t>f</a:t>
            </a:r>
            <a:r>
              <a:rPr lang="en-US" sz="1800" dirty="0">
                <a:latin typeface="Courier New" charset="0"/>
              </a:rPr>
              <a:t>)()		</a:t>
            </a:r>
          </a:p>
          <a:p>
            <a:pPr algn="l">
              <a:lnSpc>
                <a:spcPct val="100000"/>
              </a:lnSpc>
            </a:pPr>
            <a:endParaRPr lang="en-US" sz="1800" dirty="0">
              <a:latin typeface="Courier New" charset="0"/>
            </a:endParaRPr>
          </a:p>
          <a:p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(*(*x[3])())[5]</a:t>
            </a:r>
          </a:p>
          <a:p>
            <a:pPr algn="l">
              <a:lnSpc>
                <a:spcPct val="100000"/>
              </a:lnSpc>
            </a:pPr>
            <a:endParaRPr lang="en-US" sz="1800" dirty="0">
              <a:latin typeface="Courier New" charset="0"/>
            </a:endParaRPr>
          </a:p>
          <a:p>
            <a:pPr algn="l">
              <a:lnSpc>
                <a:spcPct val="100000"/>
              </a:lnSpc>
            </a:pPr>
            <a:endParaRPr lang="en-US" sz="1800" dirty="0">
              <a:latin typeface="Courier New" charset="0"/>
            </a:endParaRPr>
          </a:p>
          <a:p>
            <a:pPr algn="l">
              <a:lnSpc>
                <a:spcPct val="100000"/>
              </a:lnSpc>
            </a:pPr>
            <a:r>
              <a:rPr lang="en-US" sz="1800" dirty="0" err="1">
                <a:latin typeface="Courier New" charset="0"/>
              </a:rPr>
              <a:t>int</a:t>
            </a:r>
            <a:r>
              <a:rPr lang="en-US" sz="1800" dirty="0">
                <a:latin typeface="Courier New" charset="0"/>
              </a:rPr>
              <a:t> (*(*f())[13])()	</a:t>
            </a:r>
          </a:p>
          <a:p>
            <a:pPr algn="l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681988" name="Text Box 4"/>
          <p:cNvSpPr txBox="1">
            <a:spLocks noChangeArrowheads="1"/>
          </p:cNvSpPr>
          <p:nvPr/>
        </p:nvSpPr>
        <p:spPr bwMode="auto">
          <a:xfrm>
            <a:off x="3733800" y="1143000"/>
            <a:ext cx="1902023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0" dirty="0" err="1">
                <a:latin typeface="+mn-lt"/>
              </a:rPr>
              <a:t>p</a:t>
            </a:r>
            <a:r>
              <a:rPr lang="en-US" sz="1800" b="0" dirty="0">
                <a:latin typeface="+mn-lt"/>
              </a:rPr>
              <a:t> is a pointer to </a:t>
            </a:r>
            <a:r>
              <a:rPr lang="en-US" sz="1800" b="0" dirty="0" err="1">
                <a:latin typeface="+mn-lt"/>
              </a:rPr>
              <a:t>int</a:t>
            </a:r>
            <a:endParaRPr lang="en-US" sz="1800" b="0" dirty="0">
              <a:latin typeface="+mn-lt"/>
            </a:endParaRPr>
          </a:p>
        </p:txBody>
      </p:sp>
      <p:sp>
        <p:nvSpPr>
          <p:cNvPr id="681989" name="Text Box 5"/>
          <p:cNvSpPr txBox="1">
            <a:spLocks noChangeArrowheads="1"/>
          </p:cNvSpPr>
          <p:nvPr/>
        </p:nvSpPr>
        <p:spPr bwMode="auto">
          <a:xfrm>
            <a:off x="3733800" y="1676400"/>
            <a:ext cx="3203386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dirty="0" err="1">
                <a:latin typeface="+mn-lt"/>
              </a:rPr>
              <a:t>p</a:t>
            </a:r>
            <a:r>
              <a:rPr lang="en-US" sz="1800" b="0" dirty="0">
                <a:latin typeface="+mn-lt"/>
              </a:rPr>
              <a:t> is an array[13] of pointer to </a:t>
            </a:r>
            <a:r>
              <a:rPr lang="en-US" sz="1800" b="0" dirty="0" err="1">
                <a:latin typeface="+mn-lt"/>
              </a:rPr>
              <a:t>int</a:t>
            </a:r>
            <a:endParaRPr lang="en-US" sz="1800" b="0" dirty="0">
              <a:latin typeface="+mn-lt"/>
            </a:endParaRPr>
          </a:p>
        </p:txBody>
      </p:sp>
      <p:sp>
        <p:nvSpPr>
          <p:cNvPr id="681990" name="Text Box 6"/>
          <p:cNvSpPr txBox="1">
            <a:spLocks noChangeArrowheads="1"/>
          </p:cNvSpPr>
          <p:nvPr/>
        </p:nvSpPr>
        <p:spPr bwMode="auto">
          <a:xfrm>
            <a:off x="3733800" y="2224088"/>
            <a:ext cx="3203386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>
                <a:latin typeface="+mn-lt"/>
              </a:rPr>
              <a:t>p is an array[13] of pointer to int</a:t>
            </a:r>
          </a:p>
        </p:txBody>
      </p:sp>
      <p:sp>
        <p:nvSpPr>
          <p:cNvPr id="681991" name="Text Box 7"/>
          <p:cNvSpPr txBox="1">
            <a:spLocks noChangeArrowheads="1"/>
          </p:cNvSpPr>
          <p:nvPr/>
        </p:nvSpPr>
        <p:spPr bwMode="auto">
          <a:xfrm>
            <a:off x="3733800" y="2757488"/>
            <a:ext cx="3366254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>
                <a:latin typeface="+mn-lt"/>
              </a:rPr>
              <a:t>p is a pointer to a pointer to an int</a:t>
            </a:r>
          </a:p>
        </p:txBody>
      </p:sp>
      <p:sp>
        <p:nvSpPr>
          <p:cNvPr id="681992" name="Text Box 8"/>
          <p:cNvSpPr txBox="1">
            <a:spLocks noChangeArrowheads="1"/>
          </p:cNvSpPr>
          <p:nvPr/>
        </p:nvSpPr>
        <p:spPr bwMode="auto">
          <a:xfrm>
            <a:off x="3733800" y="3352800"/>
            <a:ext cx="3369522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0" dirty="0" err="1">
                <a:latin typeface="+mn-lt"/>
              </a:rPr>
              <a:t>p</a:t>
            </a:r>
            <a:r>
              <a:rPr lang="en-US" sz="1800" b="0" dirty="0">
                <a:latin typeface="+mn-lt"/>
              </a:rPr>
              <a:t> is a pointer to an array[13] of </a:t>
            </a:r>
            <a:r>
              <a:rPr lang="en-US" sz="1800" b="0" dirty="0" err="1">
                <a:latin typeface="+mn-lt"/>
              </a:rPr>
              <a:t>int</a:t>
            </a:r>
            <a:endParaRPr lang="en-US" sz="1800" b="0" dirty="0">
              <a:latin typeface="+mn-lt"/>
            </a:endParaRPr>
          </a:p>
        </p:txBody>
      </p:sp>
      <p:sp>
        <p:nvSpPr>
          <p:cNvPr id="681993" name="Text Box 9"/>
          <p:cNvSpPr txBox="1">
            <a:spLocks noChangeArrowheads="1"/>
          </p:cNvSpPr>
          <p:nvPr/>
        </p:nvSpPr>
        <p:spPr bwMode="auto">
          <a:xfrm>
            <a:off x="3733800" y="3844925"/>
            <a:ext cx="3816084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dirty="0" err="1">
                <a:latin typeface="+mn-lt"/>
              </a:rPr>
              <a:t>f</a:t>
            </a:r>
            <a:r>
              <a:rPr lang="en-US" sz="1800" b="0" dirty="0">
                <a:latin typeface="+mn-lt"/>
              </a:rPr>
              <a:t> is a function returning a pointer to </a:t>
            </a:r>
            <a:r>
              <a:rPr lang="en-US" sz="1800" b="0" dirty="0" err="1">
                <a:latin typeface="+mn-lt"/>
              </a:rPr>
              <a:t>int</a:t>
            </a:r>
            <a:endParaRPr lang="en-US" sz="1800" b="0" dirty="0">
              <a:latin typeface="+mn-lt"/>
            </a:endParaRPr>
          </a:p>
        </p:txBody>
      </p:sp>
      <p:sp>
        <p:nvSpPr>
          <p:cNvPr id="681994" name="Text Box 10"/>
          <p:cNvSpPr txBox="1">
            <a:spLocks noChangeArrowheads="1"/>
          </p:cNvSpPr>
          <p:nvPr/>
        </p:nvSpPr>
        <p:spPr bwMode="auto">
          <a:xfrm>
            <a:off x="3733800" y="4419600"/>
            <a:ext cx="3816084" cy="36933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0" dirty="0" err="1">
                <a:latin typeface="+mn-lt"/>
              </a:rPr>
              <a:t>f</a:t>
            </a:r>
            <a:r>
              <a:rPr lang="en-US" sz="1800" b="0" dirty="0">
                <a:latin typeface="+mn-lt"/>
              </a:rPr>
              <a:t> is a pointer to a function returning </a:t>
            </a:r>
            <a:r>
              <a:rPr lang="en-US" sz="1800" b="0" dirty="0" err="1">
                <a:latin typeface="+mn-lt"/>
              </a:rPr>
              <a:t>int</a:t>
            </a:r>
            <a:endParaRPr lang="en-US" sz="1800" b="0" dirty="0">
              <a:latin typeface="+mn-lt"/>
            </a:endParaRPr>
          </a:p>
        </p:txBody>
      </p:sp>
      <p:sp>
        <p:nvSpPr>
          <p:cNvPr id="681995" name="Text Box 11"/>
          <p:cNvSpPr txBox="1">
            <a:spLocks noChangeArrowheads="1"/>
          </p:cNvSpPr>
          <p:nvPr/>
        </p:nvSpPr>
        <p:spPr bwMode="auto">
          <a:xfrm>
            <a:off x="3733800" y="5761166"/>
            <a:ext cx="4140692" cy="646331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dirty="0">
                <a:latin typeface="+mn-lt"/>
              </a:rPr>
              <a:t>f is a function returning </a:t>
            </a:r>
            <a:r>
              <a:rPr lang="en-US" sz="1800" b="0" dirty="0" err="1">
                <a:latin typeface="+mn-lt"/>
              </a:rPr>
              <a:t>ptr</a:t>
            </a:r>
            <a:r>
              <a:rPr lang="en-US" sz="1800" b="0" dirty="0">
                <a:latin typeface="+mn-lt"/>
              </a:rPr>
              <a:t> to an array[13]</a:t>
            </a:r>
          </a:p>
          <a:p>
            <a:pPr algn="l">
              <a:lnSpc>
                <a:spcPct val="100000"/>
              </a:lnSpc>
            </a:pPr>
            <a:r>
              <a:rPr lang="en-US" sz="1800" b="0" dirty="0">
                <a:latin typeface="+mn-lt"/>
              </a:rPr>
              <a:t>of pointers to functions returning </a:t>
            </a:r>
            <a:r>
              <a:rPr lang="en-US" sz="1800" b="0" dirty="0" err="1">
                <a:latin typeface="+mn-lt"/>
              </a:rPr>
              <a:t>int</a:t>
            </a:r>
            <a:endParaRPr lang="en-US" sz="1800" b="0" dirty="0">
              <a:latin typeface="+mn-lt"/>
            </a:endParaRPr>
          </a:p>
        </p:txBody>
      </p:sp>
      <p:sp>
        <p:nvSpPr>
          <p:cNvPr id="681996" name="Text Box 12"/>
          <p:cNvSpPr txBox="1">
            <a:spLocks noChangeArrowheads="1"/>
          </p:cNvSpPr>
          <p:nvPr/>
        </p:nvSpPr>
        <p:spPr bwMode="auto">
          <a:xfrm>
            <a:off x="3733800" y="4932362"/>
            <a:ext cx="3844149" cy="646331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</p:spPr>
        <p:txBody>
          <a:bodyPr wrap="none" lIns="45720" rIns="45720">
            <a:prstTxWarp prst="textNoShape">
              <a:avLst/>
            </a:prstTxWarp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dirty="0">
                <a:latin typeface="+mn-lt"/>
              </a:rPr>
              <a:t>x is an array[3] of pointers  to functions </a:t>
            </a:r>
          </a:p>
          <a:p>
            <a:pPr algn="l">
              <a:lnSpc>
                <a:spcPct val="100000"/>
              </a:lnSpc>
            </a:pPr>
            <a:r>
              <a:rPr lang="en-US" sz="1800" b="0" dirty="0">
                <a:latin typeface="+mn-lt"/>
              </a:rPr>
              <a:t>returning pointers to array[5] of </a:t>
            </a:r>
            <a:r>
              <a:rPr lang="en-US" sz="1800" b="0" dirty="0" err="1">
                <a:latin typeface="+mn-lt"/>
              </a:rPr>
              <a:t>ints</a:t>
            </a:r>
            <a:endParaRPr lang="en-US" sz="1800" b="0" dirty="0"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0" y="6444734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</a:rPr>
              <a:t>Source: K&amp;R Sec 5.12</a:t>
            </a:r>
          </a:p>
        </p:txBody>
      </p:sp>
    </p:spTree>
    <p:extLst>
      <p:ext uri="{BB962C8B-B14F-4D97-AF65-F5344CB8AC3E}">
        <p14:creationId xmlns:p14="http://schemas.microsoft.com/office/powerpoint/2010/main" val="287921869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Parsing: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(*(*f())[13])()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62000" y="1143000"/>
            <a:ext cx="3928646" cy="400110"/>
            <a:chOff x="1176754" y="1143000"/>
            <a:chExt cx="3928646" cy="400110"/>
          </a:xfrm>
        </p:grpSpPr>
        <p:sp>
          <p:nvSpPr>
            <p:cNvPr id="4" name="TextBox 3"/>
            <p:cNvSpPr txBox="1"/>
            <p:nvPr/>
          </p:nvSpPr>
          <p:spPr>
            <a:xfrm>
              <a:off x="1176754" y="1143000"/>
              <a:ext cx="31085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(*(*</a:t>
              </a:r>
              <a:r>
                <a:rPr lang="en-US" sz="2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())[13])()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766846" y="1143000"/>
              <a:ext cx="3385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79585" y="2260096"/>
            <a:ext cx="6544747" cy="707886"/>
            <a:chOff x="1176754" y="2807622"/>
            <a:chExt cx="6544747" cy="707886"/>
          </a:xfrm>
        </p:grpSpPr>
        <p:sp>
          <p:nvSpPr>
            <p:cNvPr id="8" name="TextBox 7"/>
            <p:cNvSpPr txBox="1"/>
            <p:nvPr/>
          </p:nvSpPr>
          <p:spPr>
            <a:xfrm>
              <a:off x="1176754" y="2807622"/>
              <a:ext cx="31085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(*</a:t>
              </a:r>
              <a:r>
                <a:rPr lang="en-US" sz="2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(*</a:t>
              </a:r>
              <a:r>
                <a:rPr lang="en-US" sz="2000" dirty="0">
                  <a:solidFill>
                    <a:schemeClr val="bg1">
                      <a:lumMod val="6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f()</a:t>
              </a:r>
              <a:r>
                <a:rPr lang="en-US" sz="2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[13])()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766846" y="2807622"/>
              <a:ext cx="29546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f is a function</a:t>
              </a:r>
            </a:p>
            <a:p>
              <a:r>
                <a:rPr lang="en-US" sz="2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that returns a </a:t>
              </a:r>
              <a:r>
                <a:rPr lang="en-US" sz="20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ptr</a:t>
              </a:r>
              <a:endPara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91308" y="4300521"/>
            <a:ext cx="8083630" cy="707886"/>
            <a:chOff x="1176754" y="3569622"/>
            <a:chExt cx="8083630" cy="707886"/>
          </a:xfrm>
        </p:grpSpPr>
        <p:sp>
          <p:nvSpPr>
            <p:cNvPr id="10" name="TextBox 9"/>
            <p:cNvSpPr txBox="1"/>
            <p:nvPr/>
          </p:nvSpPr>
          <p:spPr>
            <a:xfrm>
              <a:off x="1176754" y="3569622"/>
              <a:ext cx="31085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(*</a:t>
              </a:r>
              <a:r>
                <a:rPr lang="en-US" sz="2000" dirty="0">
                  <a:solidFill>
                    <a:schemeClr val="bg1">
                      <a:lumMod val="6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(*f())</a:t>
              </a:r>
              <a:r>
                <a:rPr lang="en-US" sz="2000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[13]</a:t>
              </a:r>
              <a:r>
                <a:rPr lang="en-US" sz="2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766846" y="3569622"/>
              <a:ext cx="449353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f is a function that returns</a:t>
              </a:r>
            </a:p>
            <a:p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 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ptr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to an array of 13 </a:t>
              </a:r>
              <a:r>
                <a:rPr lang="en-US" sz="20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ptrs</a:t>
              </a:r>
              <a:endPara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73723" y="3126420"/>
            <a:ext cx="7621965" cy="1015663"/>
            <a:chOff x="1176754" y="4407822"/>
            <a:chExt cx="7621965" cy="1015663"/>
          </a:xfrm>
        </p:grpSpPr>
        <p:sp>
          <p:nvSpPr>
            <p:cNvPr id="12" name="TextBox 11"/>
            <p:cNvSpPr txBox="1"/>
            <p:nvPr/>
          </p:nvSpPr>
          <p:spPr>
            <a:xfrm>
              <a:off x="1176754" y="4407822"/>
              <a:ext cx="31085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(</a:t>
              </a:r>
              <a:r>
                <a:rPr lang="en-US" sz="2000" dirty="0">
                  <a:solidFill>
                    <a:schemeClr val="bg1">
                      <a:lumMod val="6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*(*f())</a:t>
              </a:r>
              <a:r>
                <a:rPr lang="en-US" sz="2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[13]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)()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766846" y="4407822"/>
              <a:ext cx="403187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f is a function</a:t>
              </a:r>
            </a:p>
            <a:p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that returns a 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ptr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to an </a:t>
              </a:r>
              <a:br>
                <a:rPr lang="en-US" sz="2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2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array of 13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62000" y="5474622"/>
            <a:ext cx="8237518" cy="1015663"/>
            <a:chOff x="1176754" y="5474622"/>
            <a:chExt cx="8237518" cy="1015663"/>
          </a:xfrm>
        </p:grpSpPr>
        <p:sp>
          <p:nvSpPr>
            <p:cNvPr id="14" name="TextBox 13"/>
            <p:cNvSpPr txBox="1"/>
            <p:nvPr/>
          </p:nvSpPr>
          <p:spPr>
            <a:xfrm>
              <a:off x="1176754" y="5474622"/>
              <a:ext cx="31085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2000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(*(*f())[13])</a:t>
              </a:r>
              <a:r>
                <a:rPr lang="en-US" sz="2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()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766846" y="5474622"/>
              <a:ext cx="4647426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f is a function that returns</a:t>
              </a:r>
              <a:b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 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ptr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to an array of 13 </a:t>
              </a:r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ptrs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/>
              </a:r>
              <a:b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to </a:t>
              </a:r>
              <a:r>
                <a:rPr lang="en-US" sz="2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functions returning an </a:t>
              </a:r>
              <a:r>
                <a:rPr lang="en-US" sz="2000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endPara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62000" y="1701548"/>
            <a:ext cx="6083082" cy="400110"/>
            <a:chOff x="1176754" y="1143000"/>
            <a:chExt cx="6083082" cy="400110"/>
          </a:xfrm>
        </p:grpSpPr>
        <p:sp>
          <p:nvSpPr>
            <p:cNvPr id="22" name="TextBox 21"/>
            <p:cNvSpPr txBox="1"/>
            <p:nvPr/>
          </p:nvSpPr>
          <p:spPr>
            <a:xfrm>
              <a:off x="1176754" y="1143000"/>
              <a:ext cx="31085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int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(*(*</a:t>
              </a:r>
              <a:r>
                <a:rPr lang="en-US" sz="2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f()</a:t>
              </a:r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)[13])()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66846" y="1143000"/>
              <a:ext cx="2492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  <a:r>
                <a:rPr lang="en-US" sz="20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is a function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69816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20000"/>
            <a:lumOff val="80000"/>
          </a:schemeClr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atin typeface="Calibri" pitchFamily="34" charset="0"/>
          </a:defRPr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66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66"/>
          </a:buClr>
          <a:buSzPct val="100000"/>
          <a:buFont typeface="Times New Roman" charset="0"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35952</TotalTime>
  <Words>9235</Words>
  <Application>Microsoft Macintosh PowerPoint</Application>
  <PresentationFormat>On-screen Show (4:3)</PresentationFormat>
  <Paragraphs>1949</Paragraphs>
  <Slides>130</Slides>
  <Notes>107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130</vt:i4>
      </vt:variant>
    </vt:vector>
  </HeadingPairs>
  <TitlesOfParts>
    <vt:vector size="132" baseType="lpstr">
      <vt:lpstr>template2007</vt:lpstr>
      <vt:lpstr>Default Design</vt:lpstr>
      <vt:lpstr>Midterm Review Shell Lab Dynamic Storage Allocation  CSC 374: Computer Systems II 7th Lecture, February 13, 2018</vt:lpstr>
      <vt:lpstr>Today</vt:lpstr>
      <vt:lpstr>Today</vt:lpstr>
      <vt:lpstr>Shell Lab </vt:lpstr>
      <vt:lpstr>Processes</vt:lpstr>
      <vt:lpstr>Processes</vt:lpstr>
      <vt:lpstr>Processes</vt:lpstr>
      <vt:lpstr>Processes</vt:lpstr>
      <vt:lpstr>Processes</vt:lpstr>
      <vt:lpstr>Processes</vt:lpstr>
      <vt:lpstr>Process Examples</vt:lpstr>
      <vt:lpstr>Process Examples</vt:lpstr>
      <vt:lpstr>Process Examples</vt:lpstr>
      <vt:lpstr>Simple Shell eval Function</vt:lpstr>
      <vt:lpstr>Problem with Simple Shell Example</vt:lpstr>
      <vt:lpstr>Sending Signals: Process Groups</vt:lpstr>
      <vt:lpstr>Signals and Handling</vt:lpstr>
      <vt:lpstr>If you get stuck</vt:lpstr>
      <vt:lpstr>Today</vt:lpstr>
      <vt:lpstr>Sharing Revisited: Shared Objects</vt:lpstr>
      <vt:lpstr>Sharing Revisited: Shared Objects</vt:lpstr>
      <vt:lpstr>Sharing Revisited:  Private Copy-on-write (COW) Objects</vt:lpstr>
      <vt:lpstr>Sharing Revisited:  Private Copy-on-write (COW) Objects</vt:lpstr>
      <vt:lpstr>The fork Function Revisited</vt:lpstr>
      <vt:lpstr>The execve Function Revisited</vt:lpstr>
      <vt:lpstr>User-Level Memory Mapping</vt:lpstr>
      <vt:lpstr>User-Level Memory Mapping</vt:lpstr>
      <vt:lpstr>Example: Using mmap to Copy Files</vt:lpstr>
      <vt:lpstr>Some Uses of mmap</vt:lpstr>
      <vt:lpstr>Summary</vt:lpstr>
      <vt:lpstr>15 Minute Break</vt:lpstr>
      <vt:lpstr>Today</vt:lpstr>
      <vt:lpstr>Dynamic Memory Allocation </vt:lpstr>
      <vt:lpstr>Dynamic Memory Allocation</vt:lpstr>
      <vt:lpstr>The malloc Package</vt:lpstr>
      <vt:lpstr>malloc Example</vt:lpstr>
      <vt:lpstr>Simplifying Assumptions Made in This Lecture</vt:lpstr>
      <vt:lpstr>Allocation Example</vt:lpstr>
      <vt:lpstr>Constraints</vt:lpstr>
      <vt:lpstr>Performance Goal: Throughput</vt:lpstr>
      <vt:lpstr>Performance Goal: Peak Memory Utilization</vt:lpstr>
      <vt:lpstr>Fragmentation</vt:lpstr>
      <vt:lpstr>Internal Fragmentation</vt:lpstr>
      <vt:lpstr>External Fragmentation</vt:lpstr>
      <vt:lpstr>Implementation Issues</vt:lpstr>
      <vt:lpstr>Knowing How Much to Free</vt:lpstr>
      <vt:lpstr>Keeping Track of Free Blocks</vt:lpstr>
      <vt:lpstr>Today</vt:lpstr>
      <vt:lpstr>Method 1: Implicit Free List</vt:lpstr>
      <vt:lpstr>Detailed Implicit Free List Example</vt:lpstr>
      <vt:lpstr>Implicit List: Finding a Free Block</vt:lpstr>
      <vt:lpstr>Implicit List: Allocating in Free Block</vt:lpstr>
      <vt:lpstr>Implicit List: Allocating in Free Block</vt:lpstr>
      <vt:lpstr>Implicit List: Allocating in Free Block</vt:lpstr>
      <vt:lpstr>Implicit List: Allocating in Free Block</vt:lpstr>
      <vt:lpstr>Implicit List: Freeing a Block</vt:lpstr>
      <vt:lpstr>Implicit List: Coalescing</vt:lpstr>
      <vt:lpstr>Implicit List: Bidirectional Coalescing </vt:lpstr>
      <vt:lpstr>Constant Time Coalescing</vt:lpstr>
      <vt:lpstr>Constant Time Coalescing (Case 1)</vt:lpstr>
      <vt:lpstr>Constant Time Coalescing (Case 2)</vt:lpstr>
      <vt:lpstr>Constant Time Coalescing (Case 3)</vt:lpstr>
      <vt:lpstr>Constant Time Coalescing (Case 4)</vt:lpstr>
      <vt:lpstr>Disadvantages of Boundary Tags</vt:lpstr>
      <vt:lpstr>No Boundary Tag for Allocated Blocks</vt:lpstr>
      <vt:lpstr>No Boundary Tag for Allocated Blocks (Case 1)</vt:lpstr>
      <vt:lpstr>No Boundary Tag for Allocated Blocks (Case 2)</vt:lpstr>
      <vt:lpstr>No Boundary Tag for Allocated Blocks (Case 3)</vt:lpstr>
      <vt:lpstr>No Boundary Tag for Allocated Blocks (Case 4)</vt:lpstr>
      <vt:lpstr>Summary of Key Allocator Policies</vt:lpstr>
      <vt:lpstr>Implicit Lists: Summary</vt:lpstr>
      <vt:lpstr> Homework – Week 7  </vt:lpstr>
      <vt:lpstr>Extra Slides</vt:lpstr>
      <vt:lpstr>Keeping Track of Free Blocks</vt:lpstr>
      <vt:lpstr>Explicit Free Lists</vt:lpstr>
      <vt:lpstr>Explicit Free Lists</vt:lpstr>
      <vt:lpstr>Allocating From Explicit Free Lists</vt:lpstr>
      <vt:lpstr>Freeing With Explicit Free Lists</vt:lpstr>
      <vt:lpstr>Freeing With a LIFO Policy (Case 1)</vt:lpstr>
      <vt:lpstr>Freeing With a LIFO Policy (Case 2)</vt:lpstr>
      <vt:lpstr>Freeing With a LIFO Policy (Case 3)</vt:lpstr>
      <vt:lpstr>Freeing With a LIFO Policy (Case 4)</vt:lpstr>
      <vt:lpstr>Some Advice: An Implementation Trick</vt:lpstr>
      <vt:lpstr>Explicit List Summary</vt:lpstr>
      <vt:lpstr>Today</vt:lpstr>
      <vt:lpstr>Segregated List (Seglist) Allocators</vt:lpstr>
      <vt:lpstr>Seglist Allocator</vt:lpstr>
      <vt:lpstr>Seglist Allocator (cont.)</vt:lpstr>
      <vt:lpstr>More Info on Allocators</vt:lpstr>
      <vt:lpstr>Quiz Time!</vt:lpstr>
      <vt:lpstr>Today</vt:lpstr>
      <vt:lpstr>Implicit Memory Management: Garbage Collection</vt:lpstr>
      <vt:lpstr>Garbage Collection</vt:lpstr>
      <vt:lpstr>Classical GC Algorithms</vt:lpstr>
      <vt:lpstr>Memory as a Graph</vt:lpstr>
      <vt:lpstr>Mark and Sweep Collecting</vt:lpstr>
      <vt:lpstr>Assumptions For a Simple Implementation</vt:lpstr>
      <vt:lpstr>Mark and Sweep (cont.)</vt:lpstr>
      <vt:lpstr>Mark and Sweep (cont.)</vt:lpstr>
      <vt:lpstr>Mark and Sweep (cont.)</vt:lpstr>
      <vt:lpstr>Mark and Sweep (cont.)</vt:lpstr>
      <vt:lpstr>Mark and Sweep (cont.)</vt:lpstr>
      <vt:lpstr>Mark and Sweep (cont.)</vt:lpstr>
      <vt:lpstr>Mark and Sweep (cont.)</vt:lpstr>
      <vt:lpstr>Mark and Sweep (cont.)</vt:lpstr>
      <vt:lpstr>Mark and Sweep (cont.)</vt:lpstr>
      <vt:lpstr>Mark and Sweep (cont.)</vt:lpstr>
      <vt:lpstr>Mark and Sweep (cont.)</vt:lpstr>
      <vt:lpstr>Mark and Sweep (cont.)</vt:lpstr>
      <vt:lpstr>Conservative Mark &amp; Sweep in C</vt:lpstr>
      <vt:lpstr>Today</vt:lpstr>
      <vt:lpstr>Memory-Related Perils and Pitfalls</vt:lpstr>
      <vt:lpstr>C operators</vt:lpstr>
      <vt:lpstr>C Pointer Declarations: Test Yourself!</vt:lpstr>
      <vt:lpstr>Dereferencing Bad Pointers</vt:lpstr>
      <vt:lpstr>Reading Uninitialized Memory</vt:lpstr>
      <vt:lpstr>Overwriting Memory</vt:lpstr>
      <vt:lpstr>Overwriting Memory</vt:lpstr>
      <vt:lpstr>Overwriting Memory</vt:lpstr>
      <vt:lpstr>Overwriting Memory</vt:lpstr>
      <vt:lpstr>Overwriting Memory</vt:lpstr>
      <vt:lpstr>Referencing Nonexistent Variables</vt:lpstr>
      <vt:lpstr>Freeing Blocks Multiple Times</vt:lpstr>
      <vt:lpstr>Referencing Freed Blocks</vt:lpstr>
      <vt:lpstr>Failing to Free Blocks (Memory Leaks)</vt:lpstr>
      <vt:lpstr>Failing to Free Blocks (Memory Leaks)</vt:lpstr>
      <vt:lpstr>Dealing With Memory Bugs</vt:lpstr>
      <vt:lpstr>Supplemental slides</vt:lpstr>
      <vt:lpstr>C Pointer Declarations: Test Yourself!</vt:lpstr>
      <vt:lpstr>Parsing:  int (*(*f())[13])()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Walter Martens</cp:lastModifiedBy>
  <cp:revision>684</cp:revision>
  <cp:lastPrinted>1999-09-20T15:19:18Z</cp:lastPrinted>
  <dcterms:created xsi:type="dcterms:W3CDTF">2011-09-29T14:59:56Z</dcterms:created>
  <dcterms:modified xsi:type="dcterms:W3CDTF">2018-02-13T23:23:11Z</dcterms:modified>
</cp:coreProperties>
</file>