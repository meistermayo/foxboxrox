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0"/>
  </p:notesMasterIdLst>
  <p:sldIdLst>
    <p:sldId id="259" r:id="rId2"/>
    <p:sldId id="311" r:id="rId3"/>
    <p:sldId id="267" r:id="rId4"/>
    <p:sldId id="268" r:id="rId5"/>
    <p:sldId id="269" r:id="rId6"/>
    <p:sldId id="281" r:id="rId7"/>
    <p:sldId id="282" r:id="rId8"/>
    <p:sldId id="270" r:id="rId9"/>
    <p:sldId id="312" r:id="rId10"/>
    <p:sldId id="272" r:id="rId11"/>
    <p:sldId id="273" r:id="rId12"/>
    <p:sldId id="274" r:id="rId13"/>
    <p:sldId id="275" r:id="rId14"/>
    <p:sldId id="313" r:id="rId15"/>
    <p:sldId id="277" r:id="rId16"/>
    <p:sldId id="278" r:id="rId17"/>
    <p:sldId id="279" r:id="rId18"/>
    <p:sldId id="314" r:id="rId19"/>
    <p:sldId id="322" r:id="rId20"/>
    <p:sldId id="323" r:id="rId21"/>
    <p:sldId id="325" r:id="rId22"/>
    <p:sldId id="310" r:id="rId23"/>
    <p:sldId id="321" r:id="rId24"/>
    <p:sldId id="280" r:id="rId25"/>
    <p:sldId id="283" r:id="rId26"/>
    <p:sldId id="284" r:id="rId27"/>
    <p:sldId id="285" r:id="rId28"/>
    <p:sldId id="286" r:id="rId29"/>
    <p:sldId id="297" r:id="rId30"/>
    <p:sldId id="287" r:id="rId31"/>
    <p:sldId id="289" r:id="rId32"/>
    <p:sldId id="288" r:id="rId33"/>
    <p:sldId id="290" r:id="rId34"/>
    <p:sldId id="291" r:id="rId35"/>
    <p:sldId id="293" r:id="rId36"/>
    <p:sldId id="327" r:id="rId37"/>
    <p:sldId id="292" r:id="rId38"/>
    <p:sldId id="294" r:id="rId39"/>
    <p:sldId id="295" r:id="rId40"/>
    <p:sldId id="307" r:id="rId41"/>
    <p:sldId id="296" r:id="rId42"/>
    <p:sldId id="302" r:id="rId43"/>
    <p:sldId id="315" r:id="rId44"/>
    <p:sldId id="298" r:id="rId45"/>
    <p:sldId id="300" r:id="rId46"/>
    <p:sldId id="303" r:id="rId47"/>
    <p:sldId id="304" r:id="rId48"/>
    <p:sldId id="305" r:id="rId49"/>
    <p:sldId id="306" r:id="rId50"/>
    <p:sldId id="308" r:id="rId51"/>
    <p:sldId id="301" r:id="rId52"/>
    <p:sldId id="316" r:id="rId53"/>
    <p:sldId id="317" r:id="rId54"/>
    <p:sldId id="318" r:id="rId55"/>
    <p:sldId id="319" r:id="rId56"/>
    <p:sldId id="320" r:id="rId57"/>
    <p:sldId id="328" r:id="rId58"/>
    <p:sldId id="266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9FF"/>
    <a:srgbClr val="DE38A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881" autoAdjust="0"/>
    <p:restoredTop sz="94660"/>
  </p:normalViewPr>
  <p:slideViewPr>
    <p:cSldViewPr>
      <p:cViewPr>
        <p:scale>
          <a:sx n="100" d="100"/>
          <a:sy n="100" d="100"/>
        </p:scale>
        <p:origin x="-1062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1/3/2018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F42D-BF06-49B9-B552-461889774E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15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1/3/2018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1/3/2018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1/3/2018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OpenG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hronos_Group" TargetMode="External"/><Relationship Id="rId2" Type="http://schemas.openxmlformats.org/officeDocument/2006/relationships/hyperlink" Target="https://en.wikipedia.org/wiki/Vulkan_(API)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irect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icrosoft.com/en-us/download/details.aspx?id=681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walbourn/directx-sdk-sampl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70/syllabu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98/syllabu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dm.depaul.edu/Current%20Students/Pages/MSDNAA.aspx" TargetMode="External"/><Relationship Id="rId2" Type="http://schemas.openxmlformats.org/officeDocument/2006/relationships/hyperlink" Target="https://e5.onthehub.com/WebStore/OfferingDetails.aspx?o=fb6fbe6d-5403-e711-9427-b8ca3a5db7a1&amp;pmv=00000000-0000-0000-0000-000000000000&amp;ws=0c08c3d0-f86f-e011-971f-0030487d8897&amp;vsro=8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dm.depaul.edu/Current%20Students/Pages/MSDNAA.aspx" TargetMode="External"/><Relationship Id="rId2" Type="http://schemas.openxmlformats.org/officeDocument/2006/relationships/hyperlink" Target="https://e5.onthehub.com/WebStore/OfferingDetails.aspx?o=fb6fbe6d-5403-e711-9427-b8ca3a5db7a1&amp;pmv=00000000-0000-0000-0000-000000000000&amp;ws=0c08c3d0-f86f-e011-971f-0030487d8897&amp;vsro=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erforce.com/downloads/Perforce/Customer" TargetMode="External"/><Relationship Id="rId4" Type="http://schemas.openxmlformats.org/officeDocument/2006/relationships/hyperlink" Target="https://www.microsoft.com/en-us/download/details.aspx?id=6812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facweb.cs.depaul.edu/andre/GAM370/perforcelogi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msdn.microsoft.com/en-us/library/windows/desktop/bb173059(v=vs.85).aspx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kKtY2G3FbU" TargetMode="External"/><Relationship Id="rId2" Type="http://schemas.openxmlformats.org/officeDocument/2006/relationships/hyperlink" Target="https://www.youtube.com/watch?v=xXoDqS7Q8e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opengl.org/wiki/Rendering_Pipeline_Overview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7" Type="http://schemas.openxmlformats.org/officeDocument/2006/relationships/image" Target="../media/image300.png"/><Relationship Id="rId2" Type="http://schemas.openxmlformats.org/officeDocument/2006/relationships/hyperlink" Target="http://facweb.cs.depaul.edu/andre/GAM325/linearAlgebraSafetyRul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70/assignment1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GAM 398: Topics in Rendering and Graphics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1:</a:t>
            </a:r>
          </a:p>
          <a:p>
            <a:r>
              <a:rPr lang="en-US" dirty="0" smtClean="0"/>
              <a:t>Syllabus</a:t>
            </a:r>
            <a:r>
              <a:rPr lang="en-US" dirty="0"/>
              <a:t>,</a:t>
            </a:r>
            <a:r>
              <a:rPr lang="en-US" dirty="0" smtClean="0"/>
              <a:t> Introduction and Software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936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1:</a:t>
            </a:r>
          </a:p>
          <a:p>
            <a:r>
              <a:rPr lang="en-US" dirty="0" smtClean="0"/>
              <a:t>Graphics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3204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Games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8" name="Picture 4" descr="Image result for space invader fl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515" y="4432088"/>
            <a:ext cx="278780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56995"/>
            <a:ext cx="2209800" cy="2361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571500" y="2350749"/>
            <a:ext cx="2438400" cy="1609388"/>
            <a:chOff x="533400" y="2438400"/>
            <a:chExt cx="2438400" cy="1609388"/>
          </a:xfrm>
        </p:grpSpPr>
        <p:sp>
          <p:nvSpPr>
            <p:cNvPr id="6" name="Oval 5"/>
            <p:cNvSpPr/>
            <p:nvPr/>
          </p:nvSpPr>
          <p:spPr>
            <a:xfrm>
              <a:off x="533400" y="2438400"/>
              <a:ext cx="2438400" cy="1609388"/>
            </a:xfrm>
            <a:prstGeom prst="ellipse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04900" y="2743200"/>
              <a:ext cx="990600" cy="228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Centipede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47700" y="3089275"/>
              <a:ext cx="990600" cy="228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Mushroom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38200" y="3438525"/>
              <a:ext cx="762000" cy="228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Spider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05000" y="3055769"/>
              <a:ext cx="914400" cy="228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Levels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90700" y="3438525"/>
              <a:ext cx="914400" cy="228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Managers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400800" y="2430780"/>
            <a:ext cx="2438400" cy="1609388"/>
            <a:chOff x="6502323" y="2430780"/>
            <a:chExt cx="2438400" cy="1609388"/>
          </a:xfrm>
        </p:grpSpPr>
        <p:grpSp>
          <p:nvGrpSpPr>
            <p:cNvPr id="17" name="Group 16"/>
            <p:cNvGrpSpPr/>
            <p:nvPr/>
          </p:nvGrpSpPr>
          <p:grpSpPr>
            <a:xfrm>
              <a:off x="6502323" y="2430780"/>
              <a:ext cx="2438400" cy="1609388"/>
              <a:chOff x="533400" y="2438400"/>
              <a:chExt cx="2438400" cy="1609388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533400" y="2438400"/>
                <a:ext cx="2438400" cy="1609388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1104900" y="2743200"/>
                <a:ext cx="647700" cy="2286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Ship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647700" y="3089275"/>
                <a:ext cx="698577" cy="2286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Aliens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838200" y="3438525"/>
                <a:ext cx="762000" cy="2286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Saucer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1879677" y="2979569"/>
                <a:ext cx="914400" cy="2286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Levels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1803477" y="3324225"/>
                <a:ext cx="914400" cy="2286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Managers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Rounded Rectangle 23"/>
            <p:cNvSpPr/>
            <p:nvPr/>
          </p:nvSpPr>
          <p:spPr>
            <a:xfrm>
              <a:off x="7467600" y="3733800"/>
              <a:ext cx="647700" cy="228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Shield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Up Arrow 10"/>
          <p:cNvSpPr/>
          <p:nvPr/>
        </p:nvSpPr>
        <p:spPr>
          <a:xfrm>
            <a:off x="1638300" y="3980506"/>
            <a:ext cx="419100" cy="316827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Up Arrow 26"/>
          <p:cNvSpPr/>
          <p:nvPr/>
        </p:nvSpPr>
        <p:spPr>
          <a:xfrm>
            <a:off x="7511973" y="4084306"/>
            <a:ext cx="419100" cy="316827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Up Arrow 34"/>
          <p:cNvSpPr/>
          <p:nvPr/>
        </p:nvSpPr>
        <p:spPr>
          <a:xfrm rot="3561190">
            <a:off x="2647950" y="2122037"/>
            <a:ext cx="419100" cy="316827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Up Arrow 35"/>
          <p:cNvSpPr/>
          <p:nvPr/>
        </p:nvSpPr>
        <p:spPr>
          <a:xfrm rot="18092474">
            <a:off x="6283479" y="2132941"/>
            <a:ext cx="419100" cy="316827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3263900" y="1295400"/>
            <a:ext cx="2819400" cy="1595755"/>
            <a:chOff x="3352800" y="1295400"/>
            <a:chExt cx="2819400" cy="1595755"/>
          </a:xfrm>
        </p:grpSpPr>
        <p:sp>
          <p:nvSpPr>
            <p:cNvPr id="29" name="Rounded Rectangle 28"/>
            <p:cNvSpPr/>
            <p:nvPr/>
          </p:nvSpPr>
          <p:spPr>
            <a:xfrm>
              <a:off x="3352800" y="1295400"/>
              <a:ext cx="2819400" cy="15957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t" anchorCtr="0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Game Engine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781550" y="2101174"/>
              <a:ext cx="1190625" cy="2286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Game Object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454400" y="2189635"/>
              <a:ext cx="1066800" cy="2286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Game Loop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595687" y="1648895"/>
              <a:ext cx="1143000" cy="44892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Asset Management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095973" y="1619054"/>
              <a:ext cx="990600" cy="429695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Level</a:t>
              </a:r>
            </a:p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Control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595687" y="2539979"/>
              <a:ext cx="1185863" cy="2286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Input System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953000" y="2400301"/>
              <a:ext cx="966788" cy="419099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Rendering System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7" name="Down Arrow 46"/>
          <p:cNvSpPr/>
          <p:nvPr/>
        </p:nvSpPr>
        <p:spPr>
          <a:xfrm>
            <a:off x="4432300" y="3034047"/>
            <a:ext cx="419100" cy="31682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3506787" y="3499455"/>
            <a:ext cx="2324102" cy="2215545"/>
            <a:chOff x="3506787" y="3499455"/>
            <a:chExt cx="2324102" cy="2215545"/>
          </a:xfrm>
        </p:grpSpPr>
        <p:grpSp>
          <p:nvGrpSpPr>
            <p:cNvPr id="39" name="Group 38"/>
            <p:cNvGrpSpPr/>
            <p:nvPr/>
          </p:nvGrpSpPr>
          <p:grpSpPr>
            <a:xfrm>
              <a:off x="3506787" y="3499455"/>
              <a:ext cx="2324102" cy="2215545"/>
              <a:chOff x="3595687" y="984855"/>
              <a:chExt cx="2324102" cy="2215545"/>
            </a:xfrm>
          </p:grpSpPr>
          <p:sp>
            <p:nvSpPr>
              <p:cNvPr id="40" name="Rounded Rectangle 39"/>
              <p:cNvSpPr/>
              <p:nvPr/>
            </p:nvSpPr>
            <p:spPr>
              <a:xfrm>
                <a:off x="3595687" y="984855"/>
                <a:ext cx="2324102" cy="2215545"/>
              </a:xfrm>
              <a:prstGeom prst="roundRect">
                <a:avLst>
                  <a:gd name="adj" fmla="val 957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tlCol="0" anchor="t" anchorCtr="0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Systems Layer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3892550" y="1345244"/>
                <a:ext cx="1676400" cy="448924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Window and Inputs</a:t>
                </a:r>
              </a:p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(OS API)</a:t>
                </a:r>
              </a:p>
            </p:txBody>
          </p:sp>
        </p:grpSp>
        <p:sp>
          <p:nvSpPr>
            <p:cNvPr id="48" name="Rounded Rectangle 47"/>
            <p:cNvSpPr/>
            <p:nvPr/>
          </p:nvSpPr>
          <p:spPr>
            <a:xfrm>
              <a:off x="3917950" y="4400921"/>
              <a:ext cx="1447800" cy="44892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Vector &amp; Matrix</a:t>
              </a:r>
            </a:p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(optimized)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724275" y="4938533"/>
              <a:ext cx="1898650" cy="63655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Graphic Support</a:t>
              </a:r>
            </a:p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(Graphic objects, </a:t>
              </a:r>
              <a:r>
                <a:rPr lang="en-US" sz="1200" dirty="0" err="1" smtClean="0">
                  <a:solidFill>
                    <a:schemeClr val="tx1"/>
                  </a:solidFill>
                </a:rPr>
                <a:t>Shaders</a:t>
              </a:r>
              <a:r>
                <a:rPr lang="en-US" sz="1200" dirty="0" smtClean="0">
                  <a:solidFill>
                    <a:schemeClr val="tx1"/>
                  </a:solidFill>
                </a:rPr>
                <a:t>, Rendering Control)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77248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35" grpId="0" animBg="1"/>
      <p:bldP spid="36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and Graphics P</a:t>
            </a:r>
            <a:r>
              <a:rPr lang="en-US" dirty="0" smtClean="0"/>
              <a:t>rogramming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Our focus will be on the </a:t>
            </a:r>
            <a:r>
              <a:rPr lang="en-US" sz="2000" u="sng" dirty="0" smtClean="0"/>
              <a:t>Graphic Support</a:t>
            </a:r>
          </a:p>
          <a:p>
            <a:pPr marL="515938" lvl="1" indent="-242888"/>
            <a:r>
              <a:rPr lang="en-US" sz="1800" dirty="0" smtClean="0"/>
              <a:t>Understanding the basics of computer graphics programming</a:t>
            </a:r>
          </a:p>
          <a:p>
            <a:pPr marL="515938" lvl="1" indent="-242888"/>
            <a:r>
              <a:rPr lang="en-US" sz="1800" dirty="0" smtClean="0"/>
              <a:t>Creating an API to provide graphic support for an eventual game engine.</a:t>
            </a:r>
          </a:p>
          <a:p>
            <a:pPr marL="515938" lvl="1" indent="-242888"/>
            <a:r>
              <a:rPr lang="en-US" sz="1800" dirty="0" smtClean="0"/>
              <a:t>For reasons that will become clear soon, we </a:t>
            </a:r>
            <a:r>
              <a:rPr lang="en-US" sz="1800" dirty="0" smtClean="0"/>
              <a:t>also have </a:t>
            </a:r>
            <a:r>
              <a:rPr lang="en-US" sz="1800" dirty="0" smtClean="0"/>
              <a:t>to deal with the other components:  Windows &amp; Input and Vector &amp; Matrix package</a:t>
            </a:r>
            <a:endParaRPr lang="en-US" sz="1800" dirty="0"/>
          </a:p>
        </p:txBody>
      </p:sp>
      <p:grpSp>
        <p:nvGrpSpPr>
          <p:cNvPr id="5" name="Group 4"/>
          <p:cNvGrpSpPr/>
          <p:nvPr/>
        </p:nvGrpSpPr>
        <p:grpSpPr>
          <a:xfrm>
            <a:off x="3506787" y="3499455"/>
            <a:ext cx="2324102" cy="2215545"/>
            <a:chOff x="3506787" y="3499455"/>
            <a:chExt cx="2324102" cy="2215545"/>
          </a:xfrm>
        </p:grpSpPr>
        <p:grpSp>
          <p:nvGrpSpPr>
            <p:cNvPr id="6" name="Group 5"/>
            <p:cNvGrpSpPr/>
            <p:nvPr/>
          </p:nvGrpSpPr>
          <p:grpSpPr>
            <a:xfrm>
              <a:off x="3506787" y="3499455"/>
              <a:ext cx="2324102" cy="2215545"/>
              <a:chOff x="3595687" y="984855"/>
              <a:chExt cx="2324102" cy="2215545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3595687" y="984855"/>
                <a:ext cx="2324102" cy="2215545"/>
              </a:xfrm>
              <a:prstGeom prst="roundRect">
                <a:avLst>
                  <a:gd name="adj" fmla="val 957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tlCol="0" anchor="t" anchorCtr="0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Systems Layer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892550" y="1345244"/>
                <a:ext cx="1676400" cy="448924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Window and Inputs</a:t>
                </a:r>
              </a:p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(OS API)</a:t>
                </a:r>
              </a:p>
            </p:txBody>
          </p:sp>
        </p:grpSp>
        <p:sp>
          <p:nvSpPr>
            <p:cNvPr id="7" name="Rounded Rectangle 6"/>
            <p:cNvSpPr/>
            <p:nvPr/>
          </p:nvSpPr>
          <p:spPr>
            <a:xfrm>
              <a:off x="3917950" y="4400921"/>
              <a:ext cx="1447800" cy="44892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Vector &amp; Matrix</a:t>
              </a:r>
            </a:p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(optimized)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24275" y="4938533"/>
              <a:ext cx="1898650" cy="63655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>
              <a:glow rad="1270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Graphic Support</a:t>
              </a:r>
            </a:p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(Graphic objects, </a:t>
              </a:r>
              <a:r>
                <a:rPr lang="en-US" sz="1200" dirty="0" err="1" smtClean="0">
                  <a:solidFill>
                    <a:schemeClr val="tx1"/>
                  </a:solidFill>
                </a:rPr>
                <a:t>Shaders</a:t>
              </a:r>
              <a:r>
                <a:rPr lang="en-US" sz="1200" dirty="0" smtClean="0">
                  <a:solidFill>
                    <a:schemeClr val="tx1"/>
                  </a:solidFill>
                </a:rPr>
                <a:t>, Rendering Control)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0042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 Preparation: </a:t>
            </a:r>
            <a:br>
              <a:rPr lang="en-US" dirty="0" smtClean="0"/>
            </a:br>
            <a:r>
              <a:rPr lang="en-US" dirty="0" smtClean="0"/>
              <a:t>Differences Between Grad and UG.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71450" indent="-171450"/>
            <a:r>
              <a:rPr lang="en-US" sz="2000" dirty="0" smtClean="0"/>
              <a:t>Prerequisite: </a:t>
            </a:r>
            <a:r>
              <a:rPr lang="en-US" sz="2000" dirty="0"/>
              <a:t>GAM 325/425 and CSC 361/461 </a:t>
            </a:r>
            <a:endParaRPr lang="en-US" sz="2000" dirty="0" smtClean="0"/>
          </a:p>
          <a:p>
            <a:pPr marL="461963" lvl="1" indent="-188913"/>
            <a:r>
              <a:rPr lang="en-US" sz="1800" dirty="0" smtClean="0"/>
              <a:t>Everyone should have done those classes already.</a:t>
            </a:r>
            <a:endParaRPr lang="en-US" sz="1800" dirty="0"/>
          </a:p>
          <a:p>
            <a:pPr marL="171450" indent="-171450"/>
            <a:r>
              <a:rPr lang="en-US" sz="2000" dirty="0" smtClean="0"/>
              <a:t>Experience with Game Programming &amp; Design Patterns</a:t>
            </a:r>
          </a:p>
          <a:p>
            <a:pPr marL="461963" lvl="1" indent="-188913"/>
            <a:r>
              <a:rPr lang="en-US" sz="1600" dirty="0" smtClean="0"/>
              <a:t>UG: GAM 372 </a:t>
            </a:r>
            <a:r>
              <a:rPr lang="en-US" sz="1600" i="1" dirty="0" smtClean="0"/>
              <a:t>OO for Game Dev		</a:t>
            </a:r>
            <a:r>
              <a:rPr lang="en-US" sz="1600" b="1" u="sng" dirty="0" smtClean="0">
                <a:solidFill>
                  <a:srgbClr val="00B0F0"/>
                </a:solidFill>
              </a:rPr>
              <a:t>Taken last quarter</a:t>
            </a:r>
          </a:p>
          <a:p>
            <a:pPr marL="461963" lvl="1" indent="-188913"/>
            <a:r>
              <a:rPr lang="en-US" sz="1600" dirty="0" smtClean="0"/>
              <a:t>Grad: SE 456 </a:t>
            </a:r>
            <a:r>
              <a:rPr lang="en-US" sz="1600" i="1" dirty="0" smtClean="0"/>
              <a:t>Architecture of Real-Time Systems</a:t>
            </a:r>
            <a:r>
              <a:rPr lang="en-US" sz="1600" dirty="0" smtClean="0"/>
              <a:t> 	</a:t>
            </a:r>
            <a:r>
              <a:rPr lang="en-US" sz="1600" b="1" u="sng" dirty="0" smtClean="0">
                <a:solidFill>
                  <a:srgbClr val="00B050"/>
                </a:solidFill>
              </a:rPr>
              <a:t>Taken this quarter</a:t>
            </a:r>
          </a:p>
          <a:p>
            <a:pPr marL="171450" indent="-171450"/>
            <a:r>
              <a:rPr lang="en-US" sz="2000" dirty="0" smtClean="0"/>
              <a:t>Experience with Game Engine programming</a:t>
            </a:r>
          </a:p>
          <a:p>
            <a:pPr marL="461963" lvl="1" indent="-177800"/>
            <a:r>
              <a:rPr lang="en-US" sz="1600" dirty="0" smtClean="0"/>
              <a:t>UG: GAM 374 </a:t>
            </a:r>
            <a:r>
              <a:rPr lang="en-US" sz="1600" i="1" dirty="0" smtClean="0"/>
              <a:t>Game Engine </a:t>
            </a:r>
            <a:r>
              <a:rPr lang="en-US" sz="1600" i="1" dirty="0" err="1" smtClean="0"/>
              <a:t>Prog</a:t>
            </a:r>
            <a:r>
              <a:rPr lang="en-US" sz="1600" i="1" dirty="0" smtClean="0"/>
              <a:t>. I</a:t>
            </a:r>
            <a:r>
              <a:rPr lang="en-US" sz="1600" dirty="0" smtClean="0"/>
              <a:t>	</a:t>
            </a:r>
            <a:r>
              <a:rPr lang="en-US" sz="1600" b="1" u="sng" dirty="0">
                <a:solidFill>
                  <a:srgbClr val="00B050"/>
                </a:solidFill>
              </a:rPr>
              <a:t>Taken this quarter</a:t>
            </a:r>
          </a:p>
          <a:p>
            <a:pPr marL="461963" lvl="1" indent="-177800"/>
            <a:r>
              <a:rPr lang="en-US" sz="1600" dirty="0" smtClean="0"/>
              <a:t>Grad: GAM 475 </a:t>
            </a:r>
            <a:r>
              <a:rPr lang="en-US" sz="1600" i="1" dirty="0"/>
              <a:t>Game Engine </a:t>
            </a:r>
            <a:r>
              <a:rPr lang="en-US" sz="1600" i="1" dirty="0" err="1"/>
              <a:t>Prog</a:t>
            </a:r>
            <a:r>
              <a:rPr lang="en-US" sz="1600" i="1" dirty="0"/>
              <a:t>. </a:t>
            </a:r>
            <a:r>
              <a:rPr lang="en-US" sz="1600" i="1" dirty="0" smtClean="0"/>
              <a:t>I	</a:t>
            </a:r>
            <a:r>
              <a:rPr lang="en-US" sz="1600" b="1" u="sng" dirty="0" smtClean="0">
                <a:solidFill>
                  <a:srgbClr val="FF0000"/>
                </a:solidFill>
              </a:rPr>
              <a:t>Taken next Fall</a:t>
            </a:r>
            <a:endParaRPr lang="en-US" sz="1600" dirty="0" smtClean="0">
              <a:solidFill>
                <a:srgbClr val="FF0000"/>
              </a:solidFill>
            </a:endParaRPr>
          </a:p>
          <a:p>
            <a:pPr marL="284163" lvl="1" indent="0">
              <a:buNone/>
            </a:pPr>
            <a:endParaRPr lang="en-US" sz="800" i="1" dirty="0"/>
          </a:p>
          <a:p>
            <a:pPr marL="0" indent="-173037">
              <a:buNone/>
            </a:pPr>
            <a:r>
              <a:rPr lang="en-US" sz="2000" dirty="0" smtClean="0"/>
              <a:t>There is a clear asymmetry between Grad and UG students…</a:t>
            </a:r>
            <a:endParaRPr lang="en-US"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1066798" y="4800600"/>
            <a:ext cx="6934201" cy="12192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Grad Students: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This asymmetry should </a:t>
            </a:r>
            <a:r>
              <a:rPr lang="en-US" u="sng" dirty="0" smtClean="0">
                <a:solidFill>
                  <a:schemeClr val="tx1"/>
                </a:solidFill>
              </a:rPr>
              <a:t>NOT</a:t>
            </a:r>
            <a:r>
              <a:rPr lang="en-US" dirty="0" smtClean="0">
                <a:solidFill>
                  <a:schemeClr val="tx1"/>
                </a:solidFill>
              </a:rPr>
              <a:t> affect your ability to succeed in this class.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However, it does mean that some of the requirements may not make intuitive sense until </a:t>
            </a:r>
            <a:r>
              <a:rPr lang="en-US" dirty="0">
                <a:solidFill>
                  <a:schemeClr val="tx1"/>
                </a:solidFill>
              </a:rPr>
              <a:t>GAM 475 </a:t>
            </a: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062" y="1205227"/>
            <a:ext cx="2136964" cy="333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857516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Product:</a:t>
            </a:r>
            <a:br>
              <a:rPr lang="en-US" dirty="0" smtClean="0"/>
            </a:br>
            <a:r>
              <a:rPr lang="en-US" dirty="0" smtClean="0"/>
              <a:t>Expected API Example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10 weeks from now, we want our users to have this type of Graphics API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1600200"/>
            <a:ext cx="6340197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Game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::Initialize() 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 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Game Window Device setup 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8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Game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LoadContent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 // Load external assets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 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Model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*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pModelSpaceFrigate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Model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1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100" dirty="0" err="1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space_frigate.azul</a:t>
            </a:r>
            <a:r>
              <a:rPr lang="en-US" sz="11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*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pTexSpaceFrigate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1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100" dirty="0" err="1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space_frigate.tga</a:t>
            </a:r>
            <a:r>
              <a:rPr lang="en-US" sz="11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ShaderObject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*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pShaderObject_texture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ShaderObject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1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100" dirty="0" err="1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textureFlatRender</a:t>
            </a:r>
            <a:r>
              <a:rPr lang="en-US" sz="11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endParaRPr lang="en-US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Create graphic object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pGObj_SpaceshipWithTexture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GraphicsObject_TextureFlat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                      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pModelSpaceFrigate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                      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pShaderObject_texture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                      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pTexSpaceFrigate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endParaRPr lang="en-US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Setup the current 3D perspective Camera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pCam3D = </a:t>
            </a:r>
            <a:r>
              <a:rPr lang="en-US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Camera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Camera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en-US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en-US" sz="1100" dirty="0" smtClean="0">
                <a:solidFill>
                  <a:srgbClr val="2F4F4F"/>
                </a:solidFill>
                <a:highlight>
                  <a:srgbClr val="FFFFFF"/>
                </a:highlight>
                <a:latin typeface="Consolas"/>
              </a:rPr>
              <a:t>PERSPECTIVE_3D 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&lt; </a:t>
            </a:r>
            <a:r>
              <a:rPr lang="en-US" sz="1100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details omitted </a:t>
            </a:r>
            <a:r>
              <a:rPr lang="en-US" sz="11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Game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::Update()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pGObj_SpaceshipWithTexture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SetWorld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&lt; </a:t>
            </a:r>
            <a:r>
              <a:rPr lang="en-US" sz="1100" i="1" dirty="0" smtClean="0">
                <a:solidFill>
                  <a:srgbClr val="008000"/>
                </a:solidFill>
                <a:latin typeface="Consolas"/>
              </a:rPr>
              <a:t>details omitted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&gt; 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Game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::Draw()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pGObj_SpaceshipWithTexture</a:t>
            </a:r>
            <a:r>
              <a:rPr lang="en-US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-&gt;Render(pCam3D);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600200"/>
            <a:ext cx="3076575" cy="1488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5410200" y="3352800"/>
            <a:ext cx="3581400" cy="2209800"/>
          </a:xfrm>
          <a:prstGeom prst="roundRect">
            <a:avLst>
              <a:gd name="adj" fmla="val 9293"/>
            </a:avLst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indent="-184150"/>
            <a:r>
              <a:rPr 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Specifically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You’ll need to provide</a:t>
            </a:r>
          </a:p>
          <a:p>
            <a:pPr indent="-184150"/>
            <a:endParaRPr lang="en-US" sz="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loop calling these 4 methods.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load external assets for Model, Textures and </a:t>
            </a:r>
            <a:r>
              <a:rPr 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 objects (GPU connection)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functionality and matrices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the rendering pipeline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6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many more hidden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0201" y="5715000"/>
            <a:ext cx="3581398" cy="838200"/>
          </a:xfrm>
          <a:prstGeom prst="roundRect">
            <a:avLst>
              <a:gd name="adj" fmla="val 9293"/>
            </a:avLst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indent="-184150"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represent the minimal set of functionalities needed for the next layer up (the game engine) to be built.</a:t>
            </a:r>
          </a:p>
        </p:txBody>
      </p:sp>
    </p:spTree>
    <p:extLst>
      <p:ext uri="{BB962C8B-B14F-4D97-AF65-F5344CB8AC3E}">
        <p14:creationId xmlns:p14="http://schemas.microsoft.com/office/powerpoint/2010/main" val="48740493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uiExpand="1" build="p" bldLvl="2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Product:</a:t>
            </a:r>
            <a:br>
              <a:rPr lang="en-US" dirty="0" smtClean="0"/>
            </a:br>
            <a:r>
              <a:rPr lang="en-US" dirty="0" smtClean="0"/>
              <a:t>Things You May Not Know…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Model:</a:t>
            </a:r>
            <a:endParaRPr lang="en-US" sz="1800" b="1" dirty="0"/>
          </a:p>
          <a:p>
            <a:pPr marL="461963" lvl="1" indent="-188913"/>
            <a:r>
              <a:rPr lang="en-US" sz="1600" dirty="0"/>
              <a:t>More complex than just points and triangles: </a:t>
            </a:r>
            <a:r>
              <a:rPr lang="en-US" sz="1600" dirty="0" err="1"/>
              <a:t>Normals</a:t>
            </a:r>
            <a:r>
              <a:rPr lang="en-US" sz="1600" dirty="0"/>
              <a:t>, UV maps, Color, </a:t>
            </a:r>
            <a:r>
              <a:rPr lang="en-US" sz="1600" dirty="0" smtClean="0"/>
              <a:t>etc.</a:t>
            </a:r>
            <a:endParaRPr lang="en-US" sz="1600" dirty="0"/>
          </a:p>
          <a:p>
            <a:pPr marL="461963" lvl="1" indent="-188913"/>
            <a:r>
              <a:rPr lang="en-US" sz="1600" dirty="0"/>
              <a:t>Must be stored on the GPU </a:t>
            </a:r>
            <a:r>
              <a:rPr lang="en-US" sz="1600" dirty="0" smtClean="0"/>
              <a:t>but its access </a:t>
            </a:r>
            <a:r>
              <a:rPr lang="en-US" sz="1600" dirty="0"/>
              <a:t>controlled by the game engine</a:t>
            </a:r>
          </a:p>
          <a:p>
            <a:pPr marL="0" indent="0">
              <a:buNone/>
            </a:pPr>
            <a:r>
              <a:rPr lang="en-US" sz="1800" b="1" dirty="0"/>
              <a:t>Texture:</a:t>
            </a:r>
          </a:p>
          <a:p>
            <a:pPr marL="461963" lvl="1" indent="-188913"/>
            <a:r>
              <a:rPr lang="en-US" sz="1600" dirty="0"/>
              <a:t>More complex than an just an array of pixels: Sampling, LOD, </a:t>
            </a:r>
            <a:r>
              <a:rPr lang="en-US" sz="1600" dirty="0" err="1"/>
              <a:t>etc</a:t>
            </a:r>
            <a:endParaRPr lang="en-US" sz="1600" dirty="0"/>
          </a:p>
          <a:p>
            <a:pPr marL="461963" lvl="1" indent="-188913"/>
            <a:r>
              <a:rPr lang="en-US" sz="1600" dirty="0"/>
              <a:t>Must be stored on the GPU </a:t>
            </a:r>
            <a:r>
              <a:rPr lang="en-US" sz="1600" dirty="0"/>
              <a:t>but its access </a:t>
            </a:r>
            <a:r>
              <a:rPr lang="en-US" sz="1600" dirty="0"/>
              <a:t>controlled by the game engine</a:t>
            </a:r>
          </a:p>
          <a:p>
            <a:pPr marL="0" indent="0">
              <a:buNone/>
            </a:pPr>
            <a:r>
              <a:rPr lang="en-US" sz="1800" b="1" dirty="0" err="1"/>
              <a:t>Shader</a:t>
            </a:r>
            <a:r>
              <a:rPr lang="en-US" sz="1800" b="1" dirty="0"/>
              <a:t>:</a:t>
            </a:r>
          </a:p>
          <a:p>
            <a:pPr marL="461963" lvl="1" indent="-188913"/>
            <a:r>
              <a:rPr lang="en-US" sz="1600" dirty="0" smtClean="0"/>
              <a:t>Code </a:t>
            </a:r>
            <a:r>
              <a:rPr lang="en-US" sz="1600" dirty="0" smtClean="0"/>
              <a:t>c</a:t>
            </a:r>
            <a:r>
              <a:rPr lang="en-US" sz="1600" dirty="0" smtClean="0"/>
              <a:t>ontrolling </a:t>
            </a:r>
            <a:r>
              <a:rPr lang="en-US" sz="1600" dirty="0"/>
              <a:t>how objects </a:t>
            </a:r>
            <a:r>
              <a:rPr lang="en-US" sz="1600" dirty="0" smtClean="0"/>
              <a:t>actually appears (color, light, texture, etc.)</a:t>
            </a:r>
            <a:endParaRPr lang="en-US" sz="1600" dirty="0"/>
          </a:p>
          <a:p>
            <a:pPr marL="461963" lvl="1" indent="-188913"/>
            <a:r>
              <a:rPr lang="en-US" sz="1600" dirty="0"/>
              <a:t>Must be stored on the GPU </a:t>
            </a:r>
            <a:r>
              <a:rPr lang="en-US" sz="1600" dirty="0"/>
              <a:t>but its access </a:t>
            </a:r>
            <a:r>
              <a:rPr lang="en-US" sz="1600" dirty="0"/>
              <a:t>controlled by the game engine</a:t>
            </a:r>
          </a:p>
          <a:p>
            <a:pPr marL="0" indent="0">
              <a:buNone/>
            </a:pPr>
            <a:r>
              <a:rPr lang="en-US" sz="1800" b="1" dirty="0" smtClean="0"/>
              <a:t>Camera: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At minimum, you need to create the view and projection matrices </a:t>
            </a:r>
          </a:p>
          <a:p>
            <a:pPr marL="0" indent="0">
              <a:buNone/>
            </a:pPr>
            <a:r>
              <a:rPr lang="en-US" sz="1800" b="1" dirty="0" smtClean="0"/>
              <a:t>Graphic Object:</a:t>
            </a:r>
          </a:p>
          <a:p>
            <a:pPr marL="461963" lvl="1" indent="-188913"/>
            <a:r>
              <a:rPr lang="en-US" sz="1600" dirty="0" smtClean="0"/>
              <a:t>Lives </a:t>
            </a:r>
            <a:r>
              <a:rPr lang="en-US" sz="1600" dirty="0"/>
              <a:t>on the CPU and orchestrates Model + </a:t>
            </a:r>
            <a:r>
              <a:rPr lang="en-US" sz="1600" dirty="0" err="1"/>
              <a:t>Shader</a:t>
            </a:r>
            <a:r>
              <a:rPr lang="en-US" sz="1600" dirty="0"/>
              <a:t> (and associated data) on the GPU</a:t>
            </a:r>
          </a:p>
          <a:p>
            <a:pPr marL="0" indent="0">
              <a:buNone/>
            </a:pPr>
            <a:r>
              <a:rPr lang="en-US" sz="1800" b="1" dirty="0" smtClean="0"/>
              <a:t>Draw/Rendering stage:</a:t>
            </a:r>
          </a:p>
          <a:p>
            <a:pPr marL="461963" lvl="1" indent="-188913"/>
            <a:r>
              <a:rPr lang="en-US" sz="1600" dirty="0" smtClean="0"/>
              <a:t>Controlled from the CPU but working on the GPU. There is a LOT going on behind the scenes! </a:t>
            </a:r>
          </a:p>
          <a:p>
            <a:pPr marL="461963" lvl="1" indent="-188913"/>
            <a:r>
              <a:rPr lang="en-US" sz="1600" dirty="0" smtClean="0"/>
              <a:t>Particularly complicated when you have multiple game objects, </a:t>
            </a:r>
            <a:r>
              <a:rPr lang="en-US" sz="1600" dirty="0" err="1" smtClean="0"/>
              <a:t>shaders</a:t>
            </a:r>
            <a:r>
              <a:rPr lang="en-US" sz="1600" dirty="0" smtClean="0"/>
              <a:t>, etc.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962775" y="1905000"/>
            <a:ext cx="2124664" cy="3657600"/>
            <a:chOff x="6962775" y="1905000"/>
            <a:chExt cx="2124664" cy="3657600"/>
          </a:xfrm>
        </p:grpSpPr>
        <p:sp>
          <p:nvSpPr>
            <p:cNvPr id="5" name="Rounded Rectangle 4"/>
            <p:cNvSpPr/>
            <p:nvPr/>
          </p:nvSpPr>
          <p:spPr>
            <a:xfrm>
              <a:off x="6962775" y="1905000"/>
              <a:ext cx="2124664" cy="3657600"/>
            </a:xfrm>
            <a:prstGeom prst="roundRect">
              <a:avLst>
                <a:gd name="adj" fmla="val 9293"/>
              </a:avLst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 anchorCtr="0"/>
            <a:lstStyle/>
            <a:p>
              <a:pPr indent="-184150" algn="ctr"/>
              <a:r>
                <a:rPr lang="en-US" sz="16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Our Job: </a:t>
              </a:r>
            </a:p>
            <a:p>
              <a:pPr indent="-184150" algn="ctr"/>
              <a:r>
                <a:rPr 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 the low level controls offered by a graphics environment and create a framework on top of which a game engine could be built.</a:t>
              </a: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1546" y="4095946"/>
              <a:ext cx="2057400" cy="1304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2847736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 Support:</a:t>
            </a:r>
            <a:br>
              <a:rPr lang="en-US" dirty="0" smtClean="0"/>
            </a:br>
            <a:r>
              <a:rPr lang="en-US" dirty="0" smtClean="0"/>
              <a:t>A Very Different Kind of Programming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Understanding the </a:t>
            </a:r>
            <a:r>
              <a:rPr lang="en-US" sz="2000" u="sng" dirty="0" smtClean="0"/>
              <a:t>Rendering Pipeline</a:t>
            </a:r>
          </a:p>
          <a:p>
            <a:pPr marL="274320" lvl="1" indent="0">
              <a:buNone/>
            </a:pPr>
            <a:r>
              <a:rPr lang="en-US" sz="1800" i="1" dirty="0" smtClean="0"/>
              <a:t>How the GPU combines models, textures and matrices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i="1" dirty="0" smtClean="0"/>
              <a:t>into a 3D scene projected onto a 2D image on screen</a:t>
            </a:r>
          </a:p>
          <a:p>
            <a:pPr lvl="2"/>
            <a:r>
              <a:rPr lang="en-US" i="1" dirty="0" smtClean="0"/>
              <a:t>The camera matrices (GAM 325/425) are only the start:</a:t>
            </a:r>
          </a:p>
          <a:p>
            <a:pPr marL="594360" lvl="2" indent="0">
              <a:buNone/>
            </a:pPr>
            <a:r>
              <a:rPr lang="en-US" i="1" dirty="0" smtClean="0"/>
              <a:t>Illumination and other visual effects are also </a:t>
            </a:r>
            <a:r>
              <a:rPr lang="en-US" i="1" dirty="0" smtClean="0"/>
              <a:t>needed.</a:t>
            </a:r>
            <a:endParaRPr lang="en-US" i="1" dirty="0"/>
          </a:p>
          <a:p>
            <a:pPr lvl="2"/>
            <a:r>
              <a:rPr lang="en-US" i="1" dirty="0" smtClean="0"/>
              <a:t>Many pipeline </a:t>
            </a:r>
            <a:r>
              <a:rPr lang="en-US" i="1" dirty="0" smtClean="0"/>
              <a:t>stages to review and understand</a:t>
            </a:r>
          </a:p>
          <a:p>
            <a:pPr marL="594360" lvl="2" indent="0">
              <a:buNone/>
            </a:pPr>
            <a:endParaRPr lang="en-US" sz="800" i="1" dirty="0" smtClean="0"/>
          </a:p>
          <a:p>
            <a:pPr marL="0" indent="0">
              <a:buNone/>
            </a:pPr>
            <a:r>
              <a:rPr lang="en-US" sz="2000" dirty="0" smtClean="0"/>
              <a:t>The GPU is a </a:t>
            </a:r>
            <a:r>
              <a:rPr lang="en-US" sz="2000" i="1" dirty="0" smtClean="0"/>
              <a:t>different computer</a:t>
            </a:r>
            <a:r>
              <a:rPr lang="en-US" sz="2000" dirty="0" smtClean="0"/>
              <a:t>, with its own memory and I/O.</a:t>
            </a:r>
          </a:p>
          <a:p>
            <a:pPr marL="274320" lvl="1" indent="0">
              <a:buNone/>
            </a:pPr>
            <a:r>
              <a:rPr lang="en-US" sz="1800" i="1" dirty="0" smtClean="0"/>
              <a:t>This is a new mindset: All the data (models, textures, matrices) and programs (</a:t>
            </a:r>
            <a:r>
              <a:rPr lang="en-US" sz="1800" i="1" dirty="0" err="1" smtClean="0"/>
              <a:t>shaders</a:t>
            </a:r>
            <a:r>
              <a:rPr lang="en-US" sz="1800" i="1" dirty="0" smtClean="0"/>
              <a:t>) need to be sent to the GPU. There is no ‘shared’ memory and no access to CPU data.</a:t>
            </a:r>
          </a:p>
          <a:p>
            <a:pPr lvl="2"/>
            <a:r>
              <a:rPr lang="en-US" i="1" dirty="0" smtClean="0"/>
              <a:t>Every frame is like sending off a new computing job to a remote computer!</a:t>
            </a:r>
          </a:p>
          <a:p>
            <a:pPr marL="594360" lvl="2" indent="0">
              <a:buNone/>
            </a:pPr>
            <a:endParaRPr lang="en-US" sz="800" i="1" dirty="0" smtClean="0"/>
          </a:p>
          <a:p>
            <a:pPr marL="0" indent="0">
              <a:buNone/>
            </a:pPr>
            <a:r>
              <a:rPr lang="en-US" sz="2000" dirty="0" smtClean="0"/>
              <a:t>The operating system must mediate our work:</a:t>
            </a:r>
          </a:p>
          <a:p>
            <a:pPr lvl="2"/>
            <a:r>
              <a:rPr lang="en-US" dirty="0" smtClean="0"/>
              <a:t>User input (keyboard, controllers, etc.) are devices managed by the OS</a:t>
            </a:r>
          </a:p>
          <a:p>
            <a:pPr lvl="2"/>
            <a:r>
              <a:rPr lang="en-US" dirty="0" smtClean="0"/>
              <a:t>The GPU’s output </a:t>
            </a:r>
            <a:r>
              <a:rPr lang="en-US" dirty="0"/>
              <a:t>(</a:t>
            </a:r>
            <a:r>
              <a:rPr lang="en-US" dirty="0" smtClean="0"/>
              <a:t>Window/Full screen display) is also managed by the OS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705600" y="1219200"/>
            <a:ext cx="2324102" cy="2215545"/>
            <a:chOff x="3506787" y="3499455"/>
            <a:chExt cx="2324102" cy="2215545"/>
          </a:xfrm>
        </p:grpSpPr>
        <p:grpSp>
          <p:nvGrpSpPr>
            <p:cNvPr id="6" name="Group 5"/>
            <p:cNvGrpSpPr/>
            <p:nvPr/>
          </p:nvGrpSpPr>
          <p:grpSpPr>
            <a:xfrm>
              <a:off x="3506787" y="3499455"/>
              <a:ext cx="2324102" cy="2215545"/>
              <a:chOff x="3595687" y="984855"/>
              <a:chExt cx="2324102" cy="2215545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3595687" y="984855"/>
                <a:ext cx="2324102" cy="2215545"/>
              </a:xfrm>
              <a:prstGeom prst="roundRect">
                <a:avLst>
                  <a:gd name="adj" fmla="val 957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tlCol="0" anchor="t" anchorCtr="0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Systems Layer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892550" y="1345244"/>
                <a:ext cx="1676400" cy="448924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Window and Inputs</a:t>
                </a:r>
              </a:p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(OS API)</a:t>
                </a:r>
              </a:p>
            </p:txBody>
          </p:sp>
        </p:grpSp>
        <p:sp>
          <p:nvSpPr>
            <p:cNvPr id="7" name="Rounded Rectangle 6"/>
            <p:cNvSpPr/>
            <p:nvPr/>
          </p:nvSpPr>
          <p:spPr>
            <a:xfrm>
              <a:off x="3917950" y="4400921"/>
              <a:ext cx="1447800" cy="44892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Vector &amp; Matrix</a:t>
              </a:r>
            </a:p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(optimized)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24275" y="4938533"/>
              <a:ext cx="1898650" cy="63655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>
              <a:glow rad="1270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Graphic Support</a:t>
              </a:r>
            </a:p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(Graphic objects, </a:t>
              </a:r>
              <a:r>
                <a:rPr lang="en-US" sz="1200" dirty="0" err="1" smtClean="0">
                  <a:solidFill>
                    <a:schemeClr val="tx1"/>
                  </a:solidFill>
                </a:rPr>
                <a:t>Shaders</a:t>
              </a:r>
              <a:r>
                <a:rPr lang="en-US" sz="1200" dirty="0" smtClean="0">
                  <a:solidFill>
                    <a:schemeClr val="tx1"/>
                  </a:solidFill>
                </a:rPr>
                <a:t>, Rendering Control)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1828801" y="6019800"/>
            <a:ext cx="5638799" cy="6858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The goal of the graphic support layer is to abstract away all these complexities behind a (hopefully) simple API</a:t>
            </a:r>
          </a:p>
        </p:txBody>
      </p:sp>
    </p:spTree>
    <p:extLst>
      <p:ext uri="{BB962C8B-B14F-4D97-AF65-F5344CB8AC3E}">
        <p14:creationId xmlns:p14="http://schemas.microsoft.com/office/powerpoint/2010/main" val="12809573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2:</a:t>
            </a:r>
          </a:p>
          <a:p>
            <a:r>
              <a:rPr lang="en-US" dirty="0" smtClean="0"/>
              <a:t>Graphic Environment Options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0853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 Environments Options:</a:t>
            </a:r>
            <a:br>
              <a:rPr lang="en-US" dirty="0" smtClean="0"/>
            </a:br>
            <a:r>
              <a:rPr lang="en-US" dirty="0" smtClean="0"/>
              <a:t>OpenGL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>
                <a:hlinkClick r:id="rId2"/>
              </a:rPr>
              <a:t>OpenGL</a:t>
            </a:r>
            <a:r>
              <a:rPr lang="en-US" sz="2000" dirty="0" smtClean="0"/>
              <a:t> is the most commonly used graphics environment</a:t>
            </a:r>
          </a:p>
          <a:p>
            <a:pPr marL="457200" lvl="1" indent="-184150"/>
            <a:r>
              <a:rPr lang="en-US" sz="1800" dirty="0" smtClean="0"/>
              <a:t>Cross-platform, open source with LOTS of documentation…</a:t>
            </a:r>
          </a:p>
          <a:p>
            <a:pPr marL="457200" lvl="1" indent="-184150"/>
            <a:r>
              <a:rPr lang="en-US" sz="1800" dirty="0" smtClean="0"/>
              <a:t>Started in 1991, multiple versions since</a:t>
            </a:r>
            <a:r>
              <a:rPr lang="en-US" sz="1800" dirty="0"/>
              <a:t> </a:t>
            </a:r>
            <a:r>
              <a:rPr lang="en-US" sz="1800" dirty="0" smtClean="0"/>
              <a:t>(</a:t>
            </a:r>
            <a:r>
              <a:rPr lang="en-US" sz="1800" dirty="0" err="1" smtClean="0"/>
              <a:t>Latests</a:t>
            </a:r>
            <a:r>
              <a:rPr lang="en-US" sz="1800" dirty="0" smtClean="0"/>
              <a:t>: OpenGL </a:t>
            </a:r>
            <a:r>
              <a:rPr lang="en-US" sz="1800" dirty="0" smtClean="0"/>
              <a:t>v4.5 in </a:t>
            </a:r>
            <a:r>
              <a:rPr lang="en-US" sz="1800" dirty="0" smtClean="0"/>
              <a:t>2014, v4.6 in 2017)</a:t>
            </a:r>
          </a:p>
          <a:p>
            <a:pPr marL="457200" lvl="1" indent="-184150"/>
            <a:r>
              <a:rPr lang="en-US" sz="1800" dirty="0" smtClean="0"/>
              <a:t>Showing its age: OpenGL 4 series (c. 2010) was designed for single core CPU!</a:t>
            </a:r>
          </a:p>
          <a:p>
            <a:pPr marL="457200" lvl="1" indent="-184150"/>
            <a:r>
              <a:rPr lang="en-US" sz="1800" dirty="0" smtClean="0"/>
              <a:t>Associated Packages:</a:t>
            </a:r>
          </a:p>
          <a:p>
            <a:pPr marL="795338" lvl="2" indent="-184150"/>
            <a:r>
              <a:rPr lang="en-US" sz="1600" b="1" dirty="0" smtClean="0"/>
              <a:t>Windowing: </a:t>
            </a:r>
            <a:r>
              <a:rPr lang="en-US" sz="1600" dirty="0" smtClean="0"/>
              <a:t>Your choice: GLEW, GL3W, glad, </a:t>
            </a:r>
            <a:r>
              <a:rPr lang="en-US" sz="1600" dirty="0" err="1" smtClean="0"/>
              <a:t>GLee</a:t>
            </a:r>
            <a:r>
              <a:rPr lang="en-US" sz="1600" dirty="0" smtClean="0"/>
              <a:t>, etc. Each of these have their own pros and cons, and some compatibility issues with older versions of OpenGL.</a:t>
            </a:r>
          </a:p>
          <a:p>
            <a:pPr marL="1069658" lvl="3" indent="-184150"/>
            <a:r>
              <a:rPr lang="en-US" i="1" dirty="0" smtClean="0"/>
              <a:t>Why so many options? Being multi-platform means you have to abstract away the OS layer from the windowing operations needed by OpenGL. Each package above represents a different approach to accomplish more or less the same thing.</a:t>
            </a:r>
          </a:p>
          <a:p>
            <a:pPr marL="795338" lvl="2" indent="-184150"/>
            <a:r>
              <a:rPr lang="en-US" sz="1600" b="1" dirty="0" smtClean="0"/>
              <a:t>Math: </a:t>
            </a:r>
            <a:r>
              <a:rPr lang="en-US" sz="1600" dirty="0" smtClean="0"/>
              <a:t>GLM, though not strictly required to use </a:t>
            </a:r>
            <a:r>
              <a:rPr lang="en-US" sz="1600" dirty="0" smtClean="0"/>
              <a:t>OpenGL</a:t>
            </a:r>
            <a:endParaRPr lang="en-US" sz="1600" dirty="0" smtClean="0"/>
          </a:p>
          <a:p>
            <a:pPr marL="795338" lvl="2" indent="-184150"/>
            <a:r>
              <a:rPr lang="en-US" sz="1600" b="1" dirty="0" smtClean="0"/>
              <a:t>Graphics Support: </a:t>
            </a:r>
            <a:r>
              <a:rPr lang="en-US" sz="1600" dirty="0" smtClean="0"/>
              <a:t>Worked well for years, but the insistence on backwards compatibility  for newer versions has prevented it from taking full advantage of the new features offered by modern GPUs. Game </a:t>
            </a:r>
            <a:r>
              <a:rPr lang="en-US" sz="1600" dirty="0" err="1"/>
              <a:t>d</a:t>
            </a:r>
            <a:r>
              <a:rPr lang="en-US" sz="1600" dirty="0" err="1" smtClean="0"/>
              <a:t>evs</a:t>
            </a:r>
            <a:r>
              <a:rPr lang="en-US" sz="1600" dirty="0" smtClean="0"/>
              <a:t> are slowly looking for other alternatives</a:t>
            </a:r>
            <a:endParaRPr lang="en-US" sz="1600" b="1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685800" y="5486400"/>
            <a:ext cx="8058150" cy="9906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184150"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IMHO: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OpenGL is not particularly easy to work with as a ‘first’ graphics environment. But you once you’ve had experience on other graphics environments, OpenGL should be more approachable and its quirks won’t throw you off too badly.</a:t>
            </a:r>
          </a:p>
        </p:txBody>
      </p:sp>
    </p:spTree>
    <p:extLst>
      <p:ext uri="{BB962C8B-B14F-4D97-AF65-F5344CB8AC3E}">
        <p14:creationId xmlns:p14="http://schemas.microsoft.com/office/powerpoint/2010/main" val="299597096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 Environments Options :</a:t>
            </a:r>
            <a:br>
              <a:rPr lang="en-US" dirty="0"/>
            </a:br>
            <a:r>
              <a:rPr lang="en-US" dirty="0" err="1" smtClean="0"/>
              <a:t>Vulkan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 smtClean="0">
                <a:hlinkClick r:id="rId2"/>
              </a:rPr>
              <a:t>Vulkan</a:t>
            </a:r>
            <a:r>
              <a:rPr lang="en-US" sz="2000" dirty="0" smtClean="0"/>
              <a:t> (headed by the </a:t>
            </a:r>
            <a:r>
              <a:rPr lang="en-US" sz="2000" dirty="0" err="1" smtClean="0">
                <a:hlinkClick r:id="rId3"/>
              </a:rPr>
              <a:t>Khronos</a:t>
            </a:r>
            <a:r>
              <a:rPr lang="en-US" sz="2000" dirty="0" smtClean="0">
                <a:hlinkClick r:id="rId3"/>
              </a:rPr>
              <a:t> group</a:t>
            </a:r>
            <a:r>
              <a:rPr lang="en-US" sz="2000" dirty="0" smtClean="0"/>
              <a:t>) is a complete redesign of OpenGL from scratch, targeted at modern, high-performance </a:t>
            </a:r>
            <a:r>
              <a:rPr lang="en-US" sz="2000" dirty="0"/>
              <a:t>G</a:t>
            </a:r>
            <a:r>
              <a:rPr lang="en-US" sz="2000" dirty="0" smtClean="0"/>
              <a:t>PU and multi-core </a:t>
            </a:r>
            <a:r>
              <a:rPr lang="en-US" sz="2000" dirty="0"/>
              <a:t>C</a:t>
            </a:r>
            <a:r>
              <a:rPr lang="en-US" sz="2000" dirty="0" smtClean="0"/>
              <a:t>PU</a:t>
            </a:r>
          </a:p>
          <a:p>
            <a:pPr marL="457200" lvl="1" indent="-184150"/>
            <a:r>
              <a:rPr lang="en-US" sz="1800" dirty="0" smtClean="0"/>
              <a:t>Cross-Platform, open source, still relatively new (released Feb 2016)</a:t>
            </a:r>
          </a:p>
          <a:p>
            <a:pPr marL="457200" lvl="1" indent="-184150"/>
            <a:r>
              <a:rPr lang="en-US" sz="1800" dirty="0" smtClean="0"/>
              <a:t>Looks extremely promising and may eventually be a new industry standard.</a:t>
            </a:r>
          </a:p>
          <a:p>
            <a:pPr marL="457200" lvl="1" indent="-184150"/>
            <a:r>
              <a:rPr lang="en-US" sz="1800" dirty="0" smtClean="0"/>
              <a:t>As of late 2017, a kerfuffle between </a:t>
            </a:r>
            <a:r>
              <a:rPr lang="en-US" sz="1800" dirty="0" err="1" smtClean="0"/>
              <a:t>Khronos</a:t>
            </a:r>
            <a:r>
              <a:rPr lang="en-US" sz="1800" dirty="0" smtClean="0"/>
              <a:t> and Apple is causing some compatibility issues, even when using </a:t>
            </a:r>
            <a:r>
              <a:rPr lang="en-US" sz="1800" dirty="0" err="1" smtClean="0"/>
              <a:t>BootCamp</a:t>
            </a:r>
            <a:r>
              <a:rPr lang="en-US" sz="1800" dirty="0" smtClean="0"/>
              <a:t> to run Windows on a Mac machine…</a:t>
            </a:r>
          </a:p>
          <a:p>
            <a:pPr marL="901700" lvl="2" indent="0">
              <a:buNone/>
            </a:pPr>
            <a:r>
              <a:rPr lang="en-US" sz="1600" i="1" dirty="0" smtClean="0"/>
              <a:t>Breaking News: As of Jan 2018, this seems to have been resolved…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810000"/>
            <a:ext cx="6677024" cy="20574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indent="-184150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IMHO: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bit too new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teaching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graphics environment: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few demos available (more appearing every day though)</a:t>
            </a:r>
          </a:p>
          <a:p>
            <a:pPr marL="55880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books (only 6 as of in Dec 2017, up from 2 in 2016)</a:t>
            </a:r>
          </a:p>
          <a:p>
            <a:pPr marL="273050" lvl="1"/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4150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say: let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adopters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iron out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bugs and issues!</a:t>
            </a:r>
          </a:p>
          <a:p>
            <a:pPr indent="-184150"/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4150" algn="ctr"/>
            <a:r>
              <a:rPr lang="en-US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 note: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likely convert Azul to </a:t>
            </a:r>
            <a:r>
              <a:rPr lang="en-US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Vulkan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soon, so expect more 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 to </a:t>
            </a:r>
            <a:r>
              <a:rPr lang="en-US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Vulkan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future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6194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 Environments </a:t>
            </a:r>
            <a:r>
              <a:rPr lang="en-US" dirty="0" smtClean="0"/>
              <a:t>Options: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DirectX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>
                <a:hlinkClick r:id="rId2"/>
              </a:rPr>
              <a:t>DirectX</a:t>
            </a:r>
            <a:r>
              <a:rPr lang="en-US" sz="2000" dirty="0" smtClean="0"/>
              <a:t> is Microsoft’s version of graphics environment for Windows.</a:t>
            </a:r>
          </a:p>
          <a:p>
            <a:pPr marL="457200" lvl="1" indent="-184150"/>
            <a:r>
              <a:rPr lang="en-US" sz="1800" dirty="0" smtClean="0"/>
              <a:t>Very much </a:t>
            </a:r>
            <a:r>
              <a:rPr lang="en-US" sz="1800" i="1" u="sng" dirty="0" smtClean="0"/>
              <a:t>not</a:t>
            </a:r>
            <a:r>
              <a:rPr lang="en-US" sz="1800" i="1" dirty="0" smtClean="0"/>
              <a:t> </a:t>
            </a:r>
            <a:r>
              <a:rPr lang="en-US" sz="1800" dirty="0" smtClean="0"/>
              <a:t>cross-platform or open source: Only good for Microsoft hardware (still a substantial market though…)</a:t>
            </a:r>
          </a:p>
          <a:p>
            <a:pPr marL="457200" lvl="1" indent="-184150"/>
            <a:r>
              <a:rPr lang="en-US" sz="1800" dirty="0"/>
              <a:t>Many versions but very little concern for backwards compatibility</a:t>
            </a:r>
          </a:p>
          <a:p>
            <a:pPr marL="852488" lvl="2" indent="-184150"/>
            <a:r>
              <a:rPr lang="en-US" sz="1600" dirty="0"/>
              <a:t>DX 11 (released in </a:t>
            </a:r>
            <a:r>
              <a:rPr lang="en-US" sz="1600" dirty="0" smtClean="0"/>
              <a:t>2009) </a:t>
            </a:r>
            <a:r>
              <a:rPr lang="en-US" sz="1600" dirty="0"/>
              <a:t>was already trying to deal with multi-core CPU</a:t>
            </a:r>
          </a:p>
          <a:p>
            <a:pPr marL="852488" lvl="2" indent="-184150"/>
            <a:r>
              <a:rPr lang="en-US" sz="1600" dirty="0"/>
              <a:t>DX 12 (released in 2015) </a:t>
            </a:r>
            <a:r>
              <a:rPr lang="en-US" sz="1600" dirty="0" smtClean="0"/>
              <a:t>can handle multiple GPUs and has better high-performance tools</a:t>
            </a:r>
            <a:endParaRPr lang="en-US" sz="1600" dirty="0"/>
          </a:p>
          <a:p>
            <a:pPr marL="457200" lvl="1" indent="-184150"/>
            <a:r>
              <a:rPr lang="en-US" sz="1800" dirty="0"/>
              <a:t>Packages:</a:t>
            </a:r>
          </a:p>
          <a:p>
            <a:pPr marL="795338" lvl="2" indent="-184150"/>
            <a:r>
              <a:rPr lang="en-US" sz="1600" b="1" dirty="0"/>
              <a:t>Windowing: </a:t>
            </a:r>
            <a:r>
              <a:rPr lang="en-US" sz="1600" dirty="0" smtClean="0"/>
              <a:t>This is a Windows-only environment, so </a:t>
            </a:r>
            <a:r>
              <a:rPr lang="en-US" sz="1600" dirty="0" err="1" smtClean="0"/>
              <a:t>WinAPI</a:t>
            </a:r>
            <a:r>
              <a:rPr lang="en-US" sz="1600" dirty="0" smtClean="0"/>
              <a:t> it is (for better or worse)</a:t>
            </a:r>
          </a:p>
          <a:p>
            <a:pPr marL="795338" lvl="2" indent="-184150"/>
            <a:r>
              <a:rPr lang="en-US" sz="1600" b="1" dirty="0"/>
              <a:t>Math: </a:t>
            </a:r>
            <a:r>
              <a:rPr lang="en-US" sz="1600" dirty="0" err="1" smtClean="0"/>
              <a:t>DirectXMath</a:t>
            </a:r>
            <a:r>
              <a:rPr lang="en-US" sz="1600" dirty="0" smtClean="0"/>
              <a:t> (Previously: </a:t>
            </a:r>
            <a:r>
              <a:rPr lang="en-US" sz="1600" dirty="0" err="1" smtClean="0"/>
              <a:t>XNAMath</a:t>
            </a:r>
            <a:r>
              <a:rPr lang="en-US" sz="1600" dirty="0" smtClean="0"/>
              <a:t>), </a:t>
            </a:r>
            <a:r>
              <a:rPr lang="en-US" sz="1600" dirty="0"/>
              <a:t>though not strictly required to use </a:t>
            </a:r>
            <a:r>
              <a:rPr lang="en-US" sz="1600" dirty="0" smtClean="0"/>
              <a:t>DirectX</a:t>
            </a:r>
            <a:endParaRPr lang="en-US" sz="1600" dirty="0"/>
          </a:p>
          <a:p>
            <a:pPr marL="795338" lvl="2" indent="-184150"/>
            <a:r>
              <a:rPr lang="en-US" sz="1600" b="1" dirty="0" smtClean="0"/>
              <a:t>Graphics </a:t>
            </a:r>
            <a:r>
              <a:rPr lang="en-US" sz="1600" b="1" dirty="0"/>
              <a:t>Support: </a:t>
            </a:r>
            <a:r>
              <a:rPr lang="en-US" sz="1600" dirty="0" smtClean="0"/>
              <a:t>DX 11 and DX12 offer a more modern and cohesive environment compared to OpenGL. Obviously, being Microsoft-only environment is a problem for general game development.</a:t>
            </a:r>
            <a:endParaRPr lang="en-US" sz="1600" b="1" dirty="0"/>
          </a:p>
          <a:p>
            <a:pPr marL="273050" lvl="1" indent="0">
              <a:buNone/>
            </a:pPr>
            <a:endParaRPr lang="en-US" sz="1800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762000" y="5029200"/>
            <a:ext cx="7924800" cy="12192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IMHO: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DirectX is the most approachable option as a ‘first’ graphics environment.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4963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stable &amp;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 documented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4963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 more intuitive API than OpenGL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604963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 more approachable API than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Vulkan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68418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DirectX:</a:t>
            </a:r>
            <a:br>
              <a:rPr lang="en-US" dirty="0" smtClean="0"/>
            </a:br>
            <a:r>
              <a:rPr lang="en-US" dirty="0" smtClean="0"/>
              <a:t>But Which Versions: DX 11 or DX 12?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-184150">
              <a:buNone/>
            </a:pPr>
            <a:r>
              <a:rPr lang="en-US" sz="2000" dirty="0" smtClean="0"/>
              <a:t>Test your version of DirectX:  </a:t>
            </a:r>
            <a:r>
              <a:rPr lang="en-US" sz="1800" dirty="0" smtClean="0"/>
              <a:t>Run ‘</a:t>
            </a:r>
            <a:r>
              <a:rPr lang="en-US" sz="1800" dirty="0" err="1" smtClean="0"/>
              <a:t>DXDiag</a:t>
            </a:r>
            <a:endParaRPr lang="en-US" sz="2000" dirty="0" smtClean="0"/>
          </a:p>
          <a:p>
            <a:pPr marL="0" indent="-184150">
              <a:buNone/>
            </a:pPr>
            <a:endParaRPr lang="en-US" sz="800" dirty="0"/>
          </a:p>
          <a:p>
            <a:pPr marL="0" indent="-184150">
              <a:buNone/>
            </a:pPr>
            <a:r>
              <a:rPr lang="en-US" sz="2000" dirty="0" smtClean="0"/>
              <a:t>As of my last class survey:</a:t>
            </a:r>
          </a:p>
          <a:p>
            <a:pPr marL="558800" lvl="1" indent="-285750"/>
            <a:r>
              <a:rPr lang="en-US" sz="1800" dirty="0" smtClean="0"/>
              <a:t>Still 1/3 </a:t>
            </a:r>
            <a:r>
              <a:rPr lang="en-US" sz="1800" dirty="0" smtClean="0"/>
              <a:t>students have no DX 12 hardware</a:t>
            </a:r>
            <a:endParaRPr lang="en-US" sz="1800" dirty="0" smtClean="0"/>
          </a:p>
          <a:p>
            <a:pPr marL="0" indent="-184150">
              <a:buNone/>
            </a:pPr>
            <a:endParaRPr lang="en-US" sz="800" dirty="0" smtClean="0"/>
          </a:p>
          <a:p>
            <a:pPr marL="0" indent="-184150">
              <a:buNone/>
            </a:pPr>
            <a:endParaRPr lang="en-US" sz="800" dirty="0"/>
          </a:p>
          <a:p>
            <a:pPr marL="0" indent="-184150">
              <a:buNone/>
            </a:pPr>
            <a:endParaRPr lang="en-US" sz="800" dirty="0" smtClean="0"/>
          </a:p>
          <a:p>
            <a:pPr marL="0" indent="-184150">
              <a:buNone/>
            </a:pPr>
            <a:endParaRPr lang="en-US" sz="800" dirty="0" smtClean="0"/>
          </a:p>
          <a:p>
            <a:pPr marL="0" indent="-184150">
              <a:buNone/>
            </a:pPr>
            <a:r>
              <a:rPr lang="en-US" sz="2000" b="1" dirty="0" smtClean="0"/>
              <a:t>Therefore: </a:t>
            </a:r>
            <a:r>
              <a:rPr lang="en-US" sz="2000" dirty="0" smtClean="0"/>
              <a:t>all our code will be targeted for DX 11</a:t>
            </a:r>
          </a:p>
          <a:p>
            <a:pPr marL="571500" lvl="1" indent="-298450"/>
            <a:r>
              <a:rPr lang="en-US" sz="1800" dirty="0" smtClean="0"/>
              <a:t>Nothing we do here would require the performance benefit of DX 12 anyway</a:t>
            </a:r>
          </a:p>
          <a:p>
            <a:pPr marL="571500" lvl="1" indent="-298450"/>
            <a:r>
              <a:rPr lang="en-US" sz="1800" dirty="0" smtClean="0"/>
              <a:t>The syntactic differences between DX 11 and DX 12 are very minor</a:t>
            </a:r>
          </a:p>
          <a:p>
            <a:pPr marL="0" indent="-184150">
              <a:buNone/>
            </a:pPr>
            <a:endParaRPr lang="en-US" sz="800" dirty="0"/>
          </a:p>
          <a:p>
            <a:pPr marL="0" indent="-184150">
              <a:buNone/>
            </a:pPr>
            <a:r>
              <a:rPr lang="en-US" sz="2000" b="1" dirty="0" smtClean="0"/>
              <a:t>Problem</a:t>
            </a:r>
            <a:r>
              <a:rPr lang="en-US" sz="2200" b="1" dirty="0" smtClean="0"/>
              <a:t>: </a:t>
            </a:r>
            <a:r>
              <a:rPr lang="en-US" sz="2200" dirty="0" smtClean="0"/>
              <a:t>Availability of DirectX SDK for DX 11</a:t>
            </a:r>
          </a:p>
          <a:p>
            <a:pPr marL="615950" lvl="1" indent="-342900"/>
            <a:r>
              <a:rPr lang="en-US" sz="1800" dirty="0" smtClean="0"/>
              <a:t>Win 7: requires </a:t>
            </a:r>
            <a:r>
              <a:rPr lang="en-US" sz="1800" dirty="0" smtClean="0">
                <a:hlinkClick r:id="rId2"/>
              </a:rPr>
              <a:t>special download (dated from June 2010)</a:t>
            </a:r>
            <a:r>
              <a:rPr lang="en-US" sz="1800" dirty="0" smtClean="0"/>
              <a:t>. </a:t>
            </a:r>
          </a:p>
          <a:p>
            <a:pPr marL="615950" lvl="1" indent="-342900"/>
            <a:r>
              <a:rPr lang="en-US" sz="1800" dirty="0" smtClean="0"/>
              <a:t>Win 8 and later: already integrated ( </a:t>
            </a:r>
            <a:r>
              <a:rPr lang="en-US" sz="1800" b="1" u="sng" dirty="0" smtClean="0"/>
              <a:t>NO DOWNLOAD REQUIRED</a:t>
            </a:r>
            <a:r>
              <a:rPr lang="en-US" sz="1800" b="1" dirty="0" smtClean="0"/>
              <a:t> </a:t>
            </a:r>
            <a:r>
              <a:rPr lang="en-US" sz="1800" dirty="0" smtClean="0"/>
              <a:t>)</a:t>
            </a:r>
          </a:p>
          <a:p>
            <a:pPr marL="558800" lvl="1" indent="-285750"/>
            <a:endParaRPr lang="en-US" sz="1800" dirty="0" smtClean="0"/>
          </a:p>
          <a:p>
            <a:pPr marL="457200" lvl="1" indent="-184150"/>
            <a:endParaRPr lang="en-US" sz="1800" dirty="0" smtClean="0"/>
          </a:p>
          <a:p>
            <a:pPr marL="0" indent="-184150">
              <a:buNone/>
            </a:pPr>
            <a:endParaRPr lang="en-US" sz="20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1234119"/>
            <a:ext cx="3124200" cy="20211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1202936"/>
            <a:ext cx="1905000" cy="20667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Arrow 6"/>
          <p:cNvSpPr/>
          <p:nvPr/>
        </p:nvSpPr>
        <p:spPr>
          <a:xfrm rot="291387">
            <a:off x="6099257" y="2798531"/>
            <a:ext cx="1226918" cy="31682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0992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3:</a:t>
            </a:r>
          </a:p>
          <a:p>
            <a:r>
              <a:rPr lang="en-US" dirty="0" smtClean="0"/>
              <a:t>Learning Graphics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8190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about </a:t>
            </a:r>
            <a:br>
              <a:rPr lang="en-US" dirty="0" smtClean="0"/>
            </a:br>
            <a:r>
              <a:rPr lang="en-US" dirty="0" smtClean="0"/>
              <a:t>Graphics Environments (GE)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You can find plenty of tutorials to learn about any GE</a:t>
            </a:r>
          </a:p>
          <a:p>
            <a:pPr marL="685800" lvl="1" indent="-228600"/>
            <a:r>
              <a:rPr lang="en-US" sz="1800" b="1" dirty="0" smtClean="0"/>
              <a:t>Ex:</a:t>
            </a:r>
            <a:r>
              <a:rPr lang="en-US" sz="1800" dirty="0" smtClean="0"/>
              <a:t> Somebody kindly upgraded the </a:t>
            </a:r>
            <a:r>
              <a:rPr lang="en-US" sz="1800" dirty="0" smtClean="0">
                <a:hlinkClick r:id="rId2"/>
              </a:rPr>
              <a:t>old DX 11 tutorials</a:t>
            </a:r>
            <a:r>
              <a:rPr lang="en-US" sz="1800" dirty="0" smtClean="0"/>
              <a:t> for VS 2017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Unfortunately, IMHO most of these tutorials (for </a:t>
            </a:r>
            <a:r>
              <a:rPr lang="en-US" sz="2000" u="sng" dirty="0" smtClean="0"/>
              <a:t>any</a:t>
            </a:r>
            <a:r>
              <a:rPr lang="en-US" sz="2000" dirty="0" smtClean="0"/>
              <a:t> GE) are terrible.</a:t>
            </a:r>
          </a:p>
          <a:p>
            <a:pPr marL="685800" lvl="1" indent="-228600"/>
            <a:r>
              <a:rPr lang="en-US" sz="1600" dirty="0" smtClean="0"/>
              <a:t>If you already know how to work in with a GE, these tutorials help you quickly translate your prior knowledge to the new GE. </a:t>
            </a:r>
            <a:r>
              <a:rPr lang="en-US" sz="1600" i="1" dirty="0" smtClean="0"/>
              <a:t>Useless for us since this is our first GE.</a:t>
            </a:r>
            <a:endParaRPr lang="en-US" sz="1600" dirty="0" smtClean="0"/>
          </a:p>
          <a:p>
            <a:pPr marL="685800" lvl="1" indent="-228600"/>
            <a:r>
              <a:rPr lang="en-US" sz="1600" dirty="0"/>
              <a:t>If you’ve never worked with a GE, these tutorials can be very </a:t>
            </a:r>
            <a:r>
              <a:rPr lang="en-US" sz="1600" dirty="0" smtClean="0"/>
              <a:t>confusing, Worse: they </a:t>
            </a:r>
            <a:r>
              <a:rPr lang="en-US" sz="1600" dirty="0"/>
              <a:t>gloss over </a:t>
            </a:r>
            <a:r>
              <a:rPr lang="en-US" sz="1600" dirty="0" smtClean="0"/>
              <a:t>many important aspects while </a:t>
            </a:r>
            <a:r>
              <a:rPr lang="en-US" sz="1600" dirty="0" smtClean="0"/>
              <a:t>obfuscating other </a:t>
            </a:r>
            <a:r>
              <a:rPr lang="en-US" sz="1600" dirty="0" smtClean="0"/>
              <a:t>things with too many details</a:t>
            </a:r>
            <a:endParaRPr lang="en-US" sz="1600" dirty="0"/>
          </a:p>
          <a:p>
            <a:pPr marL="852488" lvl="2" indent="0">
              <a:buNone/>
            </a:pPr>
            <a:r>
              <a:rPr lang="en-US" sz="1600" i="1" dirty="0"/>
              <a:t>By analogy: A seasoned C++ programmer can learn Java from a few code snippets. But a novice programmer viewing those same snippets of Java won’t </a:t>
            </a:r>
            <a:r>
              <a:rPr lang="en-US" sz="1600" i="1" dirty="0" smtClean="0"/>
              <a:t>turn into a </a:t>
            </a:r>
            <a:r>
              <a:rPr lang="en-US" sz="1600" i="1" dirty="0" smtClean="0"/>
              <a:t>Java </a:t>
            </a:r>
            <a:r>
              <a:rPr lang="en-US" sz="1600" i="1" dirty="0" smtClean="0"/>
              <a:t>programmer.</a:t>
            </a:r>
            <a:endParaRPr lang="en-US" sz="1600" i="1" dirty="0"/>
          </a:p>
          <a:p>
            <a:pPr marL="685800" lvl="1" indent="-228600"/>
            <a:r>
              <a:rPr lang="en-US" sz="1600" dirty="0" smtClean="0"/>
              <a:t>By the way: most books on GE have the same problematic approach…</a:t>
            </a:r>
            <a:endParaRPr lang="en-US" sz="1600" i="1" dirty="0" smtClean="0"/>
          </a:p>
          <a:p>
            <a:pPr marL="852488" lvl="2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6" name="Group 5"/>
          <p:cNvGrpSpPr/>
          <p:nvPr/>
        </p:nvGrpSpPr>
        <p:grpSpPr>
          <a:xfrm>
            <a:off x="1219200" y="1981200"/>
            <a:ext cx="2062724" cy="1600653"/>
            <a:chOff x="1219200" y="1981200"/>
            <a:chExt cx="2062724" cy="160065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1981200"/>
              <a:ext cx="2062724" cy="1600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698968" y="3262865"/>
              <a:ext cx="11031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First Triangle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733800" y="1971675"/>
            <a:ext cx="2073439" cy="1608968"/>
            <a:chOff x="3733800" y="1971675"/>
            <a:chExt cx="2073439" cy="1608968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1971675"/>
              <a:ext cx="2073439" cy="1608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012170" y="3262865"/>
              <a:ext cx="15166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Color and Texture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248400" y="1981200"/>
            <a:ext cx="2062140" cy="1600200"/>
            <a:chOff x="6248400" y="1981200"/>
            <a:chExt cx="2062140" cy="1600200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1981200"/>
              <a:ext cx="2062140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6444946" y="3262865"/>
              <a:ext cx="16690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</a:rPr>
                <a:t>Shaders</a:t>
              </a:r>
              <a:r>
                <a:rPr lang="en-US" sz="1400" dirty="0" smtClean="0">
                  <a:solidFill>
                    <a:schemeClr val="bg1"/>
                  </a:solidFill>
                </a:rPr>
                <a:t> and Lighting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092572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about </a:t>
            </a:r>
            <a:br>
              <a:rPr lang="en-US" dirty="0" smtClean="0"/>
            </a:br>
            <a:r>
              <a:rPr lang="en-US" dirty="0" smtClean="0"/>
              <a:t>Graphics Environments (GE)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These tutorial </a:t>
            </a:r>
            <a:r>
              <a:rPr lang="en-US" sz="2000" i="1" dirty="0" smtClean="0"/>
              <a:t>do</a:t>
            </a:r>
            <a:r>
              <a:rPr lang="en-US" sz="2000" dirty="0" smtClean="0"/>
              <a:t> provide good information, if you know how to ‘read’ them</a:t>
            </a:r>
          </a:p>
          <a:p>
            <a:pPr marL="274320" lvl="1" indent="0">
              <a:buNone/>
            </a:pPr>
            <a:r>
              <a:rPr lang="en-US" sz="1800" i="1" dirty="0" smtClean="0"/>
              <a:t>Indeed, </a:t>
            </a:r>
            <a:r>
              <a:rPr lang="en-US" sz="1800" i="1" u="sng" dirty="0" smtClean="0"/>
              <a:t>I fully expect you’ll study many of these online tutorials for DX 11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-184150">
              <a:buNone/>
            </a:pPr>
            <a:r>
              <a:rPr lang="en-US" sz="2000" dirty="0" smtClean="0"/>
              <a:t>But this class is about more than just learning about DirectX. (</a:t>
            </a:r>
            <a:r>
              <a:rPr lang="en-US" sz="2000" dirty="0" smtClean="0">
                <a:hlinkClick r:id="rId2"/>
              </a:rPr>
              <a:t>Syllabus</a:t>
            </a:r>
            <a:r>
              <a:rPr lang="en-US" sz="2000" dirty="0" smtClean="0"/>
              <a:t>) </a:t>
            </a:r>
          </a:p>
          <a:p>
            <a:pPr marL="457200" lvl="1" indent="-184150">
              <a:buNone/>
            </a:pPr>
            <a:r>
              <a:rPr lang="en-US" sz="1800" dirty="0" smtClean="0"/>
              <a:t>By </a:t>
            </a:r>
            <a:r>
              <a:rPr lang="en-US" sz="1800" dirty="0"/>
              <a:t>the end of the course, you will be able to:</a:t>
            </a:r>
          </a:p>
          <a:p>
            <a:pPr marL="605790" lvl="2" indent="-241300"/>
            <a:r>
              <a:rPr lang="en-US" dirty="0"/>
              <a:t>Describe and explain the various stages of a rendering pipeline.</a:t>
            </a:r>
          </a:p>
          <a:p>
            <a:pPr marL="605790" lvl="2" indent="-241300"/>
            <a:r>
              <a:rPr lang="en-US" dirty="0"/>
              <a:t>Write simple </a:t>
            </a:r>
            <a:r>
              <a:rPr lang="en-US" dirty="0" err="1"/>
              <a:t>shaders</a:t>
            </a:r>
            <a:r>
              <a:rPr lang="en-US" dirty="0"/>
              <a:t> to render a basic 3D scene.</a:t>
            </a:r>
          </a:p>
          <a:p>
            <a:pPr marL="605790" lvl="2" indent="-241300"/>
            <a:r>
              <a:rPr lang="en-US" dirty="0"/>
              <a:t>Implement the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smtClean="0"/>
              <a:t>Illumination model</a:t>
            </a:r>
            <a:endParaRPr lang="en-US" dirty="0"/>
          </a:p>
          <a:p>
            <a:pPr marL="605790" lvl="2" indent="-241300"/>
            <a:r>
              <a:rPr lang="en-US" dirty="0"/>
              <a:t>Implement </a:t>
            </a:r>
            <a:r>
              <a:rPr lang="en-US" dirty="0" err="1"/>
              <a:t>Gouraud</a:t>
            </a:r>
            <a:r>
              <a:rPr lang="en-US" dirty="0"/>
              <a:t> and </a:t>
            </a:r>
            <a:r>
              <a:rPr lang="en-US" dirty="0" err="1"/>
              <a:t>Phong</a:t>
            </a:r>
            <a:r>
              <a:rPr lang="en-US" dirty="0"/>
              <a:t> lighting </a:t>
            </a:r>
            <a:r>
              <a:rPr lang="en-US" dirty="0" err="1"/>
              <a:t>shaders</a:t>
            </a:r>
            <a:endParaRPr lang="en-US" dirty="0"/>
          </a:p>
          <a:p>
            <a:pPr marL="605790" lvl="2" indent="-241300"/>
            <a:r>
              <a:rPr lang="en-US" dirty="0"/>
              <a:t>Build simple models, place them in 3D space and render the scene correctly.</a:t>
            </a:r>
          </a:p>
          <a:p>
            <a:pPr marL="605790" lvl="2" indent="-241300"/>
            <a:r>
              <a:rPr lang="en-US" dirty="0"/>
              <a:t>Apply textures to their models as well as control how this texture is applied using UV mapping, repeats/clamp, texture sampling, etc. </a:t>
            </a:r>
          </a:p>
          <a:p>
            <a:pPr marL="514350" lvl="1" indent="-241300"/>
            <a:endParaRPr lang="en-US" sz="800" dirty="0"/>
          </a:p>
          <a:p>
            <a:pPr marL="273050" lvl="1" indent="0">
              <a:buNone/>
            </a:pPr>
            <a:r>
              <a:rPr lang="en-US" sz="1800" dirty="0"/>
              <a:t>Optionally (if we have time)</a:t>
            </a:r>
          </a:p>
          <a:p>
            <a:pPr marL="514350" lvl="1" indent="-241300"/>
            <a:r>
              <a:rPr lang="en-US" sz="1800" dirty="0"/>
              <a:t>Implement texture </a:t>
            </a:r>
            <a:r>
              <a:rPr lang="en-US" sz="1800" dirty="0" err="1"/>
              <a:t>mipmaps</a:t>
            </a:r>
            <a:r>
              <a:rPr lang="en-US" sz="1800" dirty="0"/>
              <a:t> to improve rendering performance.</a:t>
            </a:r>
          </a:p>
          <a:p>
            <a:pPr marL="514350" lvl="1" indent="-241300"/>
            <a:r>
              <a:rPr lang="en-US" sz="1800" dirty="0"/>
              <a:t>Implement environment maps, multi-texturing and reflections</a:t>
            </a:r>
          </a:p>
          <a:p>
            <a:pPr marL="571500" lvl="1" indent="-298450"/>
            <a:endParaRPr lang="en-US" sz="1800" dirty="0" smtClean="0"/>
          </a:p>
          <a:p>
            <a:pPr marL="571500" lvl="1" indent="-29845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00319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about </a:t>
            </a:r>
            <a:br>
              <a:rPr lang="en-US" dirty="0" smtClean="0"/>
            </a:br>
            <a:r>
              <a:rPr lang="en-US" dirty="0" smtClean="0"/>
              <a:t>Graphics Environments (GE)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 smtClean="0"/>
          </a:p>
          <a:p>
            <a:pPr marL="274320" lvl="1" indent="0">
              <a:buNone/>
            </a:pPr>
            <a:endParaRPr lang="en-US" sz="1800" i="1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-184150">
              <a:buNone/>
            </a:pPr>
            <a:r>
              <a:rPr lang="en-US" sz="2000" dirty="0" smtClean="0"/>
              <a:t>But this class is about more than just learning about DirectX. </a:t>
            </a:r>
            <a:r>
              <a:rPr lang="en-US" sz="2000" dirty="0"/>
              <a:t>(</a:t>
            </a:r>
            <a:r>
              <a:rPr lang="en-US" sz="2000" dirty="0">
                <a:hlinkClick r:id="rId2"/>
              </a:rPr>
              <a:t>Syllabus</a:t>
            </a:r>
            <a:r>
              <a:rPr lang="en-US" sz="2000" dirty="0"/>
              <a:t>) </a:t>
            </a:r>
            <a:endParaRPr lang="en-US" sz="2000" dirty="0" smtClean="0"/>
          </a:p>
          <a:p>
            <a:pPr marL="457200" lvl="1" indent="-184150">
              <a:buNone/>
            </a:pPr>
            <a:r>
              <a:rPr lang="en-US" sz="1800" dirty="0" smtClean="0"/>
              <a:t>By </a:t>
            </a:r>
            <a:r>
              <a:rPr lang="en-US" sz="1800" dirty="0"/>
              <a:t>the end of the course, you will be able to:</a:t>
            </a:r>
          </a:p>
          <a:p>
            <a:pPr marL="605790" lvl="2" indent="-241300"/>
            <a:r>
              <a:rPr lang="en-US" dirty="0"/>
              <a:t>Describe and explain the various stages of a rendering pipeline.</a:t>
            </a:r>
          </a:p>
          <a:p>
            <a:pPr marL="605790" lvl="2" indent="-241300"/>
            <a:r>
              <a:rPr lang="en-US" dirty="0"/>
              <a:t>Write simple </a:t>
            </a:r>
            <a:r>
              <a:rPr lang="en-US" dirty="0" err="1"/>
              <a:t>shaders</a:t>
            </a:r>
            <a:r>
              <a:rPr lang="en-US" dirty="0"/>
              <a:t> to render a basic 3D scene.</a:t>
            </a:r>
          </a:p>
          <a:p>
            <a:pPr marL="605790" lvl="2" indent="-241300"/>
            <a:r>
              <a:rPr lang="en-US" dirty="0"/>
              <a:t>Implement the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smtClean="0"/>
              <a:t>Illumination model</a:t>
            </a:r>
            <a:endParaRPr lang="en-US" dirty="0"/>
          </a:p>
          <a:p>
            <a:pPr marL="605790" lvl="2" indent="-241300"/>
            <a:r>
              <a:rPr lang="en-US" dirty="0"/>
              <a:t>Implement </a:t>
            </a:r>
            <a:r>
              <a:rPr lang="en-US" dirty="0" err="1"/>
              <a:t>Gouraud</a:t>
            </a:r>
            <a:r>
              <a:rPr lang="en-US" dirty="0"/>
              <a:t> and </a:t>
            </a:r>
            <a:r>
              <a:rPr lang="en-US" dirty="0" err="1"/>
              <a:t>Phong</a:t>
            </a:r>
            <a:r>
              <a:rPr lang="en-US" dirty="0"/>
              <a:t> lighting </a:t>
            </a:r>
            <a:r>
              <a:rPr lang="en-US" dirty="0" err="1"/>
              <a:t>shaders</a:t>
            </a:r>
            <a:endParaRPr lang="en-US" dirty="0"/>
          </a:p>
          <a:p>
            <a:pPr marL="605790" lvl="2" indent="-241300"/>
            <a:r>
              <a:rPr lang="en-US" dirty="0"/>
              <a:t>Build simple models, place them in 3D space and render the scene correctly.</a:t>
            </a:r>
          </a:p>
          <a:p>
            <a:pPr marL="605790" lvl="2" indent="-241300"/>
            <a:r>
              <a:rPr lang="en-US" dirty="0"/>
              <a:t>Apply textures to their models as well as control how this texture is applied using UV mapping, repeats/clamp, texture sampling, etc. </a:t>
            </a:r>
          </a:p>
          <a:p>
            <a:pPr marL="514350" lvl="1" indent="-241300"/>
            <a:endParaRPr lang="en-US" sz="800" dirty="0"/>
          </a:p>
          <a:p>
            <a:pPr marL="273050" lvl="1" indent="0">
              <a:buNone/>
            </a:pPr>
            <a:r>
              <a:rPr lang="en-US" sz="1800" dirty="0"/>
              <a:t>Optionally (if we have time)</a:t>
            </a:r>
          </a:p>
          <a:p>
            <a:pPr marL="514350" lvl="1" indent="-241300"/>
            <a:r>
              <a:rPr lang="en-US" sz="1800" dirty="0"/>
              <a:t>Implement texture </a:t>
            </a:r>
            <a:r>
              <a:rPr lang="en-US" sz="1800" dirty="0" err="1"/>
              <a:t>mipmaps</a:t>
            </a:r>
            <a:r>
              <a:rPr lang="en-US" sz="1800" dirty="0"/>
              <a:t> to improve rendering performance.</a:t>
            </a:r>
          </a:p>
          <a:p>
            <a:pPr marL="514350" lvl="1" indent="-241300"/>
            <a:r>
              <a:rPr lang="en-US" sz="1800" dirty="0"/>
              <a:t>Implement environment maps, multi-texturing and reflections</a:t>
            </a:r>
          </a:p>
          <a:p>
            <a:pPr marL="571500" lvl="1" indent="-298450"/>
            <a:endParaRPr lang="en-US" sz="1800" dirty="0" smtClean="0"/>
          </a:p>
          <a:p>
            <a:pPr marL="571500" lvl="1" indent="-298450"/>
            <a:endParaRPr lang="en-US" sz="1800"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1295400"/>
            <a:ext cx="7162800" cy="6858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goals will give you a basic understanding of graphics programming.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classes will cover advanced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high-performance rendering</a:t>
            </a:r>
          </a:p>
        </p:txBody>
      </p:sp>
    </p:spTree>
    <p:extLst>
      <p:ext uri="{BB962C8B-B14F-4D97-AF65-F5344CB8AC3E}">
        <p14:creationId xmlns:p14="http://schemas.microsoft.com/office/powerpoint/2010/main" val="408519154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4:</a:t>
            </a:r>
          </a:p>
          <a:p>
            <a:r>
              <a:rPr lang="en-US" dirty="0" smtClean="0"/>
              <a:t>Simple Projects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35757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Software: Visual Studio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610600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We’ll </a:t>
            </a:r>
            <a:r>
              <a:rPr lang="en-US" dirty="0"/>
              <a:t>be using </a:t>
            </a:r>
            <a:r>
              <a:rPr lang="en-US" dirty="0">
                <a:hlinkClick r:id="rId2"/>
              </a:rPr>
              <a:t>Visual Studio Enterprise 2017 </a:t>
            </a:r>
            <a:endParaRPr lang="en-US" dirty="0"/>
          </a:p>
          <a:p>
            <a:pPr lvl="2"/>
            <a:r>
              <a:rPr lang="en-US" i="1" dirty="0"/>
              <a:t>You must have </a:t>
            </a:r>
            <a:r>
              <a:rPr lang="en-US" i="1" dirty="0">
                <a:hlinkClick r:id="rId3"/>
              </a:rPr>
              <a:t>activated your MSDNAA </a:t>
            </a:r>
            <a:r>
              <a:rPr lang="en-US" i="1" dirty="0" smtClean="0">
                <a:hlinkClick r:id="rId3"/>
              </a:rPr>
              <a:t>account</a:t>
            </a:r>
            <a:endParaRPr lang="en-US" i="1" dirty="0" smtClean="0"/>
          </a:p>
          <a:p>
            <a:pPr lvl="2"/>
            <a:r>
              <a:rPr lang="en-US" i="1" dirty="0" smtClean="0"/>
              <a:t>Use the </a:t>
            </a:r>
            <a:r>
              <a:rPr lang="en-US" i="1" u="sng" dirty="0" smtClean="0"/>
              <a:t>enterprise</a:t>
            </a:r>
            <a:r>
              <a:rPr lang="en-US" dirty="0" smtClean="0"/>
              <a:t> version, </a:t>
            </a:r>
            <a:r>
              <a:rPr lang="en-US" b="1" dirty="0" smtClean="0"/>
              <a:t>not</a:t>
            </a:r>
            <a:r>
              <a:rPr lang="en-US" dirty="0" smtClean="0"/>
              <a:t> ‘community’, ‘express’ or anything else…</a:t>
            </a:r>
            <a:endParaRPr lang="en-US" i="1" dirty="0"/>
          </a:p>
          <a:p>
            <a:pPr marL="0" indent="0">
              <a:buNone/>
            </a:pPr>
            <a:endParaRPr lang="en-US" sz="800" dirty="0" smtClean="0"/>
          </a:p>
          <a:p>
            <a:pPr marL="457200" lvl="1" indent="-184150"/>
            <a:r>
              <a:rPr lang="en-US" dirty="0" smtClean="0"/>
              <a:t>Installation has </a:t>
            </a:r>
            <a:r>
              <a:rPr lang="en-US" u="sng" dirty="0" smtClean="0"/>
              <a:t>many</a:t>
            </a:r>
            <a:r>
              <a:rPr lang="en-US" dirty="0" smtClean="0"/>
              <a:t> options!</a:t>
            </a:r>
          </a:p>
          <a:p>
            <a:pPr marL="457200" lvl="1" indent="-184150"/>
            <a:r>
              <a:rPr lang="en-US" dirty="0" smtClean="0"/>
              <a:t>Get to the Visual Studio Installer </a:t>
            </a:r>
          </a:p>
          <a:p>
            <a:pPr marL="795338" lvl="2" indent="-184150"/>
            <a:r>
              <a:rPr lang="en-US" dirty="0" smtClean="0"/>
              <a:t>Either during initial install OR</a:t>
            </a:r>
          </a:p>
          <a:p>
            <a:pPr marL="795338" lvl="2" indent="-184150"/>
            <a:r>
              <a:rPr lang="en-US" dirty="0" smtClean="0"/>
              <a:t>From Visual Studio top menu: Tools/Get tools and Features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5" name="Notched Right Arrow 4"/>
          <p:cNvSpPr/>
          <p:nvPr/>
        </p:nvSpPr>
        <p:spPr>
          <a:xfrm>
            <a:off x="6629400" y="3886200"/>
            <a:ext cx="1905000" cy="838200"/>
          </a:xfrm>
          <a:prstGeom prst="notched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9016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 2017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6106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Workloads Tab:</a:t>
            </a:r>
            <a:endParaRPr lang="en-US" sz="1800" dirty="0" smtClean="0"/>
          </a:p>
          <a:p>
            <a:pPr marL="0" indent="0">
              <a:buNone/>
            </a:pPr>
            <a:r>
              <a:rPr lang="en-US" sz="1600" dirty="0" smtClean="0"/>
              <a:t>Add these options</a:t>
            </a:r>
            <a:r>
              <a:rPr lang="en-US" sz="1800" dirty="0" smtClean="0"/>
              <a:t>:</a:t>
            </a:r>
          </a:p>
          <a:p>
            <a:pPr marL="342900" lvl="1" indent="-69850"/>
            <a:r>
              <a:rPr lang="en-US" sz="1400" dirty="0" err="1" smtClean="0"/>
              <a:t>.Net</a:t>
            </a:r>
            <a:r>
              <a:rPr lang="en-US" sz="1400" dirty="0" smtClean="0"/>
              <a:t> Desktop Development</a:t>
            </a:r>
          </a:p>
          <a:p>
            <a:pPr marL="342900" lvl="1" indent="-69850"/>
            <a:r>
              <a:rPr lang="en-US" sz="1400" dirty="0" smtClean="0"/>
              <a:t>Desktop Dev with C++</a:t>
            </a:r>
          </a:p>
          <a:p>
            <a:pPr marL="517525" lvl="2" indent="-69850"/>
            <a:r>
              <a:rPr lang="en-US" sz="1200" b="1" dirty="0" smtClean="0"/>
              <a:t>Extra: </a:t>
            </a:r>
            <a:r>
              <a:rPr lang="en-US" sz="1200" dirty="0" smtClean="0"/>
              <a:t>Windows 8.1 SDK</a:t>
            </a:r>
          </a:p>
          <a:p>
            <a:pPr marL="342900" lvl="1" indent="-69850"/>
            <a:r>
              <a:rPr lang="en-US" sz="1400" dirty="0" smtClean="0"/>
              <a:t>Python Development</a:t>
            </a:r>
          </a:p>
          <a:p>
            <a:pPr marL="342900" lvl="1" indent="-69850"/>
            <a:r>
              <a:rPr lang="en-US" sz="1400" dirty="0" smtClean="0"/>
              <a:t>Game Dev with C++</a:t>
            </a:r>
          </a:p>
          <a:p>
            <a:pPr marL="342900" lvl="1" indent="-69850"/>
            <a:r>
              <a:rPr lang="en-US" sz="1400" dirty="0" smtClean="0"/>
              <a:t>VS extension Dev.</a:t>
            </a:r>
            <a:endParaRPr 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323" y="257175"/>
            <a:ext cx="6356102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2880360" y="502920"/>
            <a:ext cx="457200" cy="2286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41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823460" y="769620"/>
            <a:ext cx="1958340" cy="50292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41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842260" y="1211580"/>
            <a:ext cx="1958340" cy="50292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41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80360" y="2247900"/>
            <a:ext cx="1958340" cy="50292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41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800600" y="1463040"/>
            <a:ext cx="3736975" cy="480060"/>
            <a:chOff x="4800600" y="1463040"/>
            <a:chExt cx="3736975" cy="480060"/>
          </a:xfrm>
        </p:grpSpPr>
        <p:sp>
          <p:nvSpPr>
            <p:cNvPr id="10" name="Rounded Rectangle 9"/>
            <p:cNvSpPr/>
            <p:nvPr/>
          </p:nvSpPr>
          <p:spPr>
            <a:xfrm>
              <a:off x="7394575" y="1790700"/>
              <a:ext cx="1143000" cy="1524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8" idx="3"/>
              <a:endCxn id="10" idx="1"/>
            </p:cNvCxnSpPr>
            <p:nvPr/>
          </p:nvCxnSpPr>
          <p:spPr>
            <a:xfrm>
              <a:off x="4800600" y="1463040"/>
              <a:ext cx="2593975" cy="4038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ounded Rectangle 13"/>
          <p:cNvSpPr/>
          <p:nvPr/>
        </p:nvSpPr>
        <p:spPr>
          <a:xfrm>
            <a:off x="2880360" y="4648200"/>
            <a:ext cx="1958340" cy="50292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41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880360" y="5219700"/>
            <a:ext cx="1958340" cy="50292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41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462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7" grpId="0" animBg="1"/>
      <p:bldP spid="8" grpId="0" animBg="1"/>
      <p:bldP spid="9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Software</a:t>
            </a:r>
            <a:r>
              <a:rPr lang="en-US" dirty="0"/>
              <a:t> </a:t>
            </a:r>
            <a:r>
              <a:rPr lang="en-US" dirty="0" smtClean="0"/>
              <a:t>and Environment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610600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We’ll </a:t>
            </a:r>
            <a:r>
              <a:rPr lang="en-US" dirty="0"/>
              <a:t>be using </a:t>
            </a:r>
            <a:r>
              <a:rPr lang="en-US" dirty="0">
                <a:hlinkClick r:id="rId2"/>
              </a:rPr>
              <a:t>Visual Studio Enterprise 2017 </a:t>
            </a:r>
            <a:endParaRPr lang="en-US" dirty="0"/>
          </a:p>
          <a:p>
            <a:pPr lvl="2"/>
            <a:r>
              <a:rPr lang="en-US" i="1" dirty="0"/>
              <a:t>You must have </a:t>
            </a:r>
            <a:r>
              <a:rPr lang="en-US" i="1" dirty="0">
                <a:hlinkClick r:id="rId3"/>
              </a:rPr>
              <a:t>activated your MSDNAA </a:t>
            </a:r>
            <a:r>
              <a:rPr lang="en-US" i="1" dirty="0" smtClean="0">
                <a:hlinkClick r:id="rId3"/>
              </a:rPr>
              <a:t>account</a:t>
            </a:r>
            <a:endParaRPr lang="en-US" i="1" dirty="0" smtClean="0"/>
          </a:p>
          <a:p>
            <a:pPr lvl="2"/>
            <a:r>
              <a:rPr lang="en-US" i="1" dirty="0" smtClean="0"/>
              <a:t>Use the </a:t>
            </a:r>
            <a:r>
              <a:rPr lang="en-US" i="1" u="sng" dirty="0" smtClean="0"/>
              <a:t>enterprise</a:t>
            </a:r>
            <a:r>
              <a:rPr lang="en-US" dirty="0" smtClean="0"/>
              <a:t> version, </a:t>
            </a:r>
            <a:r>
              <a:rPr lang="en-US" b="1" dirty="0" smtClean="0"/>
              <a:t>not</a:t>
            </a:r>
            <a:r>
              <a:rPr lang="en-US" dirty="0" smtClean="0"/>
              <a:t> ‘community’, ‘express’ or anything else…</a:t>
            </a:r>
          </a:p>
          <a:p>
            <a:pPr marL="0" indent="-182880">
              <a:buNone/>
            </a:pPr>
            <a:endParaRPr lang="en-US" sz="800" i="1" dirty="0"/>
          </a:p>
          <a:p>
            <a:pPr marL="0" indent="-182880">
              <a:buNone/>
            </a:pPr>
            <a:r>
              <a:rPr lang="en-US" sz="2000" dirty="0" smtClean="0"/>
              <a:t>Libraries</a:t>
            </a:r>
            <a:r>
              <a:rPr lang="en-US" sz="2000" dirty="0"/>
              <a:t>: DirectX SDK for DX 11 </a:t>
            </a:r>
          </a:p>
          <a:p>
            <a:pPr marL="858838" lvl="2" indent="-227013"/>
            <a:r>
              <a:rPr lang="en-US" dirty="0"/>
              <a:t>Win 7: requires </a:t>
            </a:r>
            <a:r>
              <a:rPr lang="en-US" dirty="0">
                <a:hlinkClick r:id="rId4"/>
              </a:rPr>
              <a:t>special download (dated from June 2010)</a:t>
            </a:r>
            <a:r>
              <a:rPr lang="en-US" dirty="0"/>
              <a:t>. </a:t>
            </a:r>
          </a:p>
          <a:p>
            <a:pPr marL="858838" lvl="2" indent="-227013"/>
            <a:r>
              <a:rPr lang="en-US" dirty="0"/>
              <a:t>Win 8 and later: already integrated ( </a:t>
            </a:r>
            <a:r>
              <a:rPr lang="en-US" b="1" u="sng" dirty="0"/>
              <a:t>NO DOWNLOAD REQUIRED </a:t>
            </a:r>
            <a:r>
              <a:rPr lang="en-US" dirty="0" smtClean="0"/>
              <a:t>)</a:t>
            </a:r>
          </a:p>
          <a:p>
            <a:pPr marL="858838" lvl="2" indent="-227013"/>
            <a:endParaRPr lang="en-US" sz="800" i="1" dirty="0" smtClean="0"/>
          </a:p>
          <a:p>
            <a:pPr marL="0" indent="0">
              <a:buNone/>
            </a:pPr>
            <a:r>
              <a:rPr lang="en-US" dirty="0"/>
              <a:t>Version Control:</a:t>
            </a:r>
          </a:p>
          <a:p>
            <a:pPr marL="800100" lvl="1" indent="-342900"/>
            <a:r>
              <a:rPr lang="en-US" dirty="0"/>
              <a:t>Perforce: Specifically, the </a:t>
            </a:r>
            <a:r>
              <a:rPr lang="en-US" dirty="0">
                <a:hlinkClick r:id="rId5"/>
              </a:rPr>
              <a:t>Helix P4V client</a:t>
            </a:r>
            <a:r>
              <a:rPr lang="en-US" dirty="0"/>
              <a:t> (scroll down a bit to find it)</a:t>
            </a:r>
            <a:endParaRPr lang="en-US" i="1" dirty="0"/>
          </a:p>
          <a:p>
            <a:pPr marL="0" indent="0">
              <a:buNone/>
            </a:pPr>
            <a:endParaRPr lang="en-US" sz="800" dirty="0" smtClean="0"/>
          </a:p>
        </p:txBody>
      </p:sp>
    </p:spTree>
    <p:extLst>
      <p:ext uri="{BB962C8B-B14F-4D97-AF65-F5344CB8AC3E}">
        <p14:creationId xmlns:p14="http://schemas.microsoft.com/office/powerpoint/2010/main" val="93064804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Perforce: </a:t>
            </a:r>
          </a:p>
          <a:p>
            <a:pPr marL="457200" lvl="1" indent="0">
              <a:buNone/>
            </a:pPr>
            <a:r>
              <a:rPr lang="en-US" dirty="0" smtClean="0"/>
              <a:t>Follow the instructions for </a:t>
            </a:r>
            <a:r>
              <a:rPr lang="en-US" dirty="0" smtClean="0">
                <a:hlinkClick r:id="rId2"/>
              </a:rPr>
              <a:t>Perforce Client </a:t>
            </a:r>
            <a:r>
              <a:rPr lang="en-US" dirty="0" smtClean="0">
                <a:hlinkClick r:id="rId2"/>
              </a:rPr>
              <a:t>Setup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i="1" dirty="0" smtClean="0"/>
              <a:t>Many documents to read and tutorials to watch!</a:t>
            </a:r>
          </a:p>
          <a:p>
            <a:pPr marL="800100" lvl="1" indent="-342900"/>
            <a:r>
              <a:rPr lang="en-US" i="1" dirty="0" smtClean="0"/>
              <a:t>Read them and watch them!</a:t>
            </a:r>
          </a:p>
          <a:p>
            <a:pPr marL="891540" lvl="2" indent="-342900"/>
            <a:endParaRPr lang="en-US" dirty="0" smtClean="0"/>
          </a:p>
          <a:p>
            <a:pPr marL="0" indent="0">
              <a:buNone/>
            </a:pPr>
            <a:r>
              <a:rPr lang="en-US" dirty="0"/>
              <a:t>Once you setup your local workspace you should see the following folders: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4109063"/>
            <a:ext cx="241935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38600" y="3814567"/>
            <a:ext cx="3696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Public exchange folder: </a:t>
            </a:r>
          </a:p>
          <a:p>
            <a:pPr lvl="1"/>
            <a:r>
              <a:rPr lang="en-US" dirty="0" smtClean="0"/>
              <a:t>Everyone has Read/Write access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61600" y="4713901"/>
            <a:ext cx="2749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Lectures, Libraries, etc.:</a:t>
            </a:r>
          </a:p>
          <a:p>
            <a:pPr lvl="1"/>
            <a:r>
              <a:rPr lang="en-US" dirty="0" smtClean="0"/>
              <a:t>Read only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32008" y="5830669"/>
            <a:ext cx="4965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Student folders:</a:t>
            </a:r>
          </a:p>
          <a:p>
            <a:pPr lvl="1"/>
            <a:r>
              <a:rPr lang="en-US" dirty="0" smtClean="0"/>
              <a:t>You only see yours and have read/write access</a:t>
            </a:r>
            <a:endParaRPr lang="en-US" dirty="0"/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 flipV="1">
            <a:off x="1926454" y="4137733"/>
            <a:ext cx="2112146" cy="2975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1"/>
          </p:cNvCxnSpPr>
          <p:nvPr/>
        </p:nvCxnSpPr>
        <p:spPr>
          <a:xfrm>
            <a:off x="2068497" y="4648328"/>
            <a:ext cx="1993103" cy="38873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8" idx="1"/>
          </p:cNvCxnSpPr>
          <p:nvPr/>
        </p:nvCxnSpPr>
        <p:spPr>
          <a:xfrm>
            <a:off x="2441359" y="5118845"/>
            <a:ext cx="1590649" cy="10349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719819"/>
            <a:ext cx="13049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570858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Project:</a:t>
            </a:r>
            <a:br>
              <a:rPr lang="en-US" dirty="0" smtClean="0"/>
            </a:br>
            <a:r>
              <a:rPr lang="en-US" dirty="0" smtClean="0"/>
              <a:t>Copying from existing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Copy any project into your own folder.</a:t>
            </a:r>
          </a:p>
          <a:p>
            <a:pPr marL="457200" lvl="1" indent="0">
              <a:buNone/>
            </a:pPr>
            <a:r>
              <a:rPr lang="en-US" i="1" dirty="0" smtClean="0"/>
              <a:t>The originals will be in ‘Reference/…’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Right-click the new folder and select ‘properties’</a:t>
            </a:r>
          </a:p>
          <a:p>
            <a:pPr marL="457200" lvl="1" indent="0">
              <a:buNone/>
            </a:pPr>
            <a:r>
              <a:rPr lang="en-US" i="1" dirty="0"/>
              <a:t>Make sure to </a:t>
            </a:r>
            <a:r>
              <a:rPr lang="en-US" i="1" u="sng" dirty="0"/>
              <a:t>un</a:t>
            </a:r>
            <a:r>
              <a:rPr lang="en-US" i="1" dirty="0"/>
              <a:t>check ‘Read Only</a:t>
            </a:r>
            <a:r>
              <a:rPr lang="en-US" i="1" dirty="0" smtClean="0"/>
              <a:t>’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(Optional) Rename the .</a:t>
            </a:r>
            <a:r>
              <a:rPr lang="en-US" dirty="0" err="1" smtClean="0"/>
              <a:t>sln</a:t>
            </a:r>
            <a:r>
              <a:rPr lang="en-US" dirty="0" smtClean="0"/>
              <a:t> file to fit the project</a:t>
            </a:r>
          </a:p>
          <a:p>
            <a:pPr marL="457200" lvl="1" indent="0">
              <a:buNone/>
            </a:pPr>
            <a:r>
              <a:rPr lang="en-US" i="1" dirty="0" smtClean="0"/>
              <a:t>The associated .exe will have the same name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Open the solution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Build, run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Let’s look at some examples…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76565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Started: </a:t>
            </a:r>
            <a:br>
              <a:rPr lang="en-US" dirty="0" smtClean="0"/>
            </a:br>
            <a:r>
              <a:rPr lang="en-US" dirty="0" smtClean="0"/>
              <a:t>Project: Initial Window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err="1" smtClean="0"/>
              <a:t>MainWindow</a:t>
            </a:r>
            <a:r>
              <a:rPr lang="en-US" sz="2000" dirty="0" smtClean="0"/>
              <a:t> Class</a:t>
            </a:r>
          </a:p>
          <a:p>
            <a:pPr marL="457200" lvl="1" indent="0">
              <a:buSzPct val="100000"/>
              <a:buNone/>
            </a:pPr>
            <a:r>
              <a:rPr lang="en-US" sz="1600" dirty="0" smtClean="0"/>
              <a:t>Standard code for a window application (</a:t>
            </a:r>
            <a:r>
              <a:rPr lang="en-US" sz="1600" dirty="0" err="1" smtClean="0"/>
              <a:t>WinAPI</a:t>
            </a:r>
            <a:r>
              <a:rPr lang="en-US" sz="1600" dirty="0" smtClean="0"/>
              <a:t>). Details unimportant.</a:t>
            </a:r>
          </a:p>
          <a:p>
            <a:pPr marL="742950" lvl="1" indent="-285750">
              <a:buSzPct val="100000"/>
            </a:pPr>
            <a:r>
              <a:rPr lang="en-US" sz="1600" dirty="0" err="1" smtClean="0"/>
              <a:t>InitWindow</a:t>
            </a:r>
            <a:r>
              <a:rPr lang="en-US" sz="1600" dirty="0" smtClean="0"/>
              <a:t>: Various settings, including </a:t>
            </a:r>
            <a:r>
              <a:rPr lang="en-US" sz="1600" u="sng" dirty="0" smtClean="0"/>
              <a:t>Title</a:t>
            </a:r>
            <a:r>
              <a:rPr lang="en-US" sz="1600" dirty="0" smtClean="0"/>
              <a:t> and </a:t>
            </a:r>
            <a:r>
              <a:rPr lang="en-US" sz="1600" u="sng" dirty="0" smtClean="0"/>
              <a:t>Size</a:t>
            </a:r>
            <a:r>
              <a:rPr lang="en-US" sz="1600" dirty="0" smtClean="0"/>
              <a:t>.</a:t>
            </a:r>
          </a:p>
          <a:p>
            <a:pPr marL="742950" lvl="1" indent="-285750">
              <a:buSzPct val="100000"/>
            </a:pPr>
            <a:r>
              <a:rPr lang="en-US" sz="1600" dirty="0" err="1" smtClean="0"/>
              <a:t>wWinMain</a:t>
            </a:r>
            <a:r>
              <a:rPr lang="en-US" sz="1600" dirty="0" smtClean="0"/>
              <a:t>: Windows app entry point: sets up the event loop</a:t>
            </a:r>
          </a:p>
          <a:p>
            <a:pPr marL="742950" lvl="1" indent="-285750">
              <a:buSzPct val="100000"/>
            </a:pPr>
            <a:r>
              <a:rPr lang="en-US" sz="1600" dirty="0" err="1" smtClean="0"/>
              <a:t>WndProc</a:t>
            </a:r>
            <a:r>
              <a:rPr lang="en-US" sz="1600" dirty="0" smtClean="0"/>
              <a:t>: Event dispatcher. Useful for a full game engine design.</a:t>
            </a:r>
          </a:p>
          <a:p>
            <a:pPr marL="457200" lvl="1" indent="0">
              <a:buSzPct val="100000"/>
              <a:buNone/>
            </a:pPr>
            <a:r>
              <a:rPr lang="en-US" sz="1600" i="1" dirty="0" smtClean="0"/>
              <a:t>Any graphics </a:t>
            </a:r>
            <a:r>
              <a:rPr lang="en-US" sz="1600" i="1" dirty="0" err="1" smtClean="0"/>
              <a:t>env</a:t>
            </a:r>
            <a:r>
              <a:rPr lang="en-US" sz="1600" i="1" dirty="0" smtClean="0"/>
              <a:t>. needs to go through the OS to access to display and create the event loop</a:t>
            </a:r>
          </a:p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err="1" smtClean="0"/>
              <a:t>GameTimer</a:t>
            </a:r>
            <a:r>
              <a:rPr lang="en-US" sz="2000" dirty="0" smtClean="0"/>
              <a:t> Class</a:t>
            </a:r>
          </a:p>
          <a:p>
            <a:pPr marL="457200" lvl="1" indent="0">
              <a:buSzPct val="100000"/>
              <a:buNone/>
            </a:pPr>
            <a:r>
              <a:rPr lang="en-US" sz="1600" dirty="0" smtClean="0"/>
              <a:t>Creates a time system. Details are unimportant</a:t>
            </a:r>
          </a:p>
          <a:p>
            <a:pPr marL="742950" lvl="1" indent="-285750">
              <a:buSzPct val="100000"/>
            </a:pPr>
            <a:r>
              <a:rPr lang="en-US" sz="1600" dirty="0" smtClean="0"/>
              <a:t>Stop-watch mechanism based off the OS time.</a:t>
            </a:r>
          </a:p>
          <a:p>
            <a:pPr marL="742950" lvl="1" indent="-285750">
              <a:buSzPct val="100000"/>
            </a:pPr>
            <a:r>
              <a:rPr lang="en-US" sz="1600" dirty="0" smtClean="0"/>
              <a:t>Tracks frame time and total time. Useful </a:t>
            </a:r>
            <a:r>
              <a:rPr lang="en-US" sz="1600" dirty="0"/>
              <a:t>for a full game engine </a:t>
            </a:r>
            <a:r>
              <a:rPr lang="en-US" sz="1600" dirty="0" smtClean="0"/>
              <a:t>design.</a:t>
            </a:r>
          </a:p>
          <a:p>
            <a:pPr marL="457200" lvl="1" indent="0">
              <a:buSzPct val="100000"/>
              <a:buNone/>
            </a:pPr>
            <a:r>
              <a:rPr lang="en-US" sz="1600" i="1" dirty="0" smtClean="0"/>
              <a:t>Typically offered by graphics environment because of their interfacing with the OS, but time has very little relevance to any graphics work </a:t>
            </a:r>
            <a:r>
              <a:rPr lang="en-US" sz="1600" i="1" u="sng" dirty="0" smtClean="0"/>
              <a:t>we</a:t>
            </a:r>
            <a:r>
              <a:rPr lang="en-US" sz="1600" i="1" dirty="0" smtClean="0"/>
              <a:t> will do in this class.</a:t>
            </a:r>
          </a:p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smtClean="0"/>
              <a:t>d3dUtil Class</a:t>
            </a:r>
          </a:p>
          <a:p>
            <a:pPr marL="457200" lvl="1" indent="0">
              <a:buSzPct val="100000"/>
              <a:buNone/>
            </a:pPr>
            <a:r>
              <a:rPr lang="en-US" sz="1600" dirty="0" smtClean="0"/>
              <a:t>Utilities to be discussed later. (Significantly modified from the original…)</a:t>
            </a:r>
          </a:p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err="1" smtClean="0"/>
              <a:t>DXApp</a:t>
            </a:r>
            <a:r>
              <a:rPr lang="en-US" sz="2000" dirty="0" smtClean="0"/>
              <a:t> Class</a:t>
            </a:r>
          </a:p>
          <a:p>
            <a:pPr marL="457200" lvl="1" indent="0">
              <a:buSzPct val="100000"/>
              <a:buNone/>
            </a:pPr>
            <a:r>
              <a:rPr lang="en-US" sz="1600" dirty="0" smtClean="0"/>
              <a:t>This is the real DirectX application. </a:t>
            </a:r>
          </a:p>
          <a:p>
            <a:pPr marL="457200" lvl="1" indent="0">
              <a:buSzPct val="100000"/>
              <a:buNone/>
            </a:pPr>
            <a:r>
              <a:rPr lang="en-US" sz="1600" i="1" dirty="0" smtClean="0"/>
              <a:t>All demos will take place here. Your job will be the improve on this mess…</a:t>
            </a:r>
            <a:endParaRPr lang="en-US" sz="1600" i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76200"/>
            <a:ext cx="2057400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7010400" y="2543175"/>
            <a:ext cx="1828800" cy="22145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010400" y="2209800"/>
            <a:ext cx="1828800" cy="3333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10400" y="1543050"/>
            <a:ext cx="1828800" cy="3333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10400" y="1871662"/>
            <a:ext cx="1828800" cy="3333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33613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7" grpId="0" animBg="1"/>
      <p:bldP spid="9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Preliminaries: </a:t>
            </a:r>
            <a:br>
              <a:rPr lang="en-US" dirty="0" smtClean="0"/>
            </a:br>
            <a:r>
              <a:rPr lang="en-US" sz="2000" dirty="0" smtClean="0"/>
              <a:t>(</a:t>
            </a:r>
            <a:r>
              <a:rPr lang="en-US" sz="2000" i="1" dirty="0" smtClean="0"/>
              <a:t>Book Chap 4.1: Please read it! Seriously…</a:t>
            </a:r>
            <a:r>
              <a:rPr lang="en-US" sz="2000" dirty="0" smtClean="0"/>
              <a:t>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Component Object Model (COM): </a:t>
            </a:r>
            <a:r>
              <a:rPr lang="en-US" sz="2000" i="1" dirty="0" smtClean="0"/>
              <a:t>It’s a Windows thing…</a:t>
            </a:r>
            <a:endParaRPr lang="en-US" sz="2000" b="1" dirty="0" smtClean="0"/>
          </a:p>
          <a:p>
            <a:pPr marL="461963" lvl="1" indent="-188913"/>
            <a:r>
              <a:rPr lang="en-US" sz="1600" dirty="0" smtClean="0"/>
              <a:t>Objects that ‘live’ on the GPU (well, for </a:t>
            </a:r>
            <a:r>
              <a:rPr lang="en-US" sz="1600" u="sng" dirty="0" smtClean="0"/>
              <a:t>our</a:t>
            </a:r>
            <a:r>
              <a:rPr lang="en-US" sz="1600" dirty="0" smtClean="0"/>
              <a:t> applications anyway). </a:t>
            </a:r>
          </a:p>
          <a:p>
            <a:pPr marL="461963" lvl="1" indent="-188913"/>
            <a:r>
              <a:rPr lang="en-US" sz="1600" dirty="0" smtClean="0"/>
              <a:t>We only have access to them through ‘interface’ objects ( ID3D11&lt;type</a:t>
            </a:r>
            <a:r>
              <a:rPr lang="en-US" sz="1600" dirty="0"/>
              <a:t>&gt;</a:t>
            </a:r>
            <a:r>
              <a:rPr lang="en-US" sz="1600" dirty="0" smtClean="0"/>
              <a:t> or  IDXGI&lt;type&gt;)</a:t>
            </a:r>
          </a:p>
          <a:p>
            <a:pPr marL="461963" lvl="1" indent="-188913"/>
            <a:r>
              <a:rPr lang="en-US" sz="1600" dirty="0" smtClean="0"/>
              <a:t>Managed pointers: We don’t create these directly and we </a:t>
            </a:r>
            <a:r>
              <a:rPr lang="en-US" sz="1600" u="sng" dirty="0" smtClean="0"/>
              <a:t>must</a:t>
            </a:r>
            <a:r>
              <a:rPr lang="en-US" sz="1600" dirty="0" smtClean="0"/>
              <a:t> ‘release’ them when done.</a:t>
            </a:r>
            <a:endParaRPr lang="en-US" sz="1600" dirty="0"/>
          </a:p>
        </p:txBody>
      </p:sp>
      <p:grpSp>
        <p:nvGrpSpPr>
          <p:cNvPr id="9" name="Group 8"/>
          <p:cNvGrpSpPr/>
          <p:nvPr/>
        </p:nvGrpSpPr>
        <p:grpSpPr>
          <a:xfrm>
            <a:off x="457200" y="4343400"/>
            <a:ext cx="8305800" cy="2133600"/>
            <a:chOff x="457200" y="4343400"/>
            <a:chExt cx="8305800" cy="2133600"/>
          </a:xfrm>
        </p:grpSpPr>
        <p:sp>
          <p:nvSpPr>
            <p:cNvPr id="5" name="Rectangle 4"/>
            <p:cNvSpPr/>
            <p:nvPr/>
          </p:nvSpPr>
          <p:spPr>
            <a:xfrm>
              <a:off x="6477000" y="4343400"/>
              <a:ext cx="2286000" cy="2133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7200" y="4343400"/>
              <a:ext cx="3263774" cy="2133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590450" y="2819400"/>
            <a:ext cx="3752950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// DX application elements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md3dDevice;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md3dImmediateContext;</a:t>
            </a:r>
          </a:p>
          <a:p>
            <a:r>
              <a:rPr lang="en-US" sz="1200" dirty="0" err="1">
                <a:solidFill>
                  <a:srgbClr val="2B91AF"/>
                </a:solidFill>
                <a:latin typeface="Consolas"/>
              </a:rPr>
              <a:t>IDXGISwapChain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ID3D11RenderTargetView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4567735" y="2680900"/>
            <a:ext cx="375295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::InitDirect3D()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D3D11CreateDevice(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… , </a:t>
            </a:r>
            <a:r>
              <a:rPr lang="en-US" sz="1200" dirty="0" smtClean="0">
                <a:latin typeface="Consolas"/>
              </a:rPr>
              <a:t>&amp;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md3dDevice, …);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4567735" y="3429000"/>
            <a:ext cx="375295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::~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(md3dDevice);</a:t>
            </a:r>
            <a:endParaRPr lang="en-US" sz="12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609600" y="4793557"/>
            <a:ext cx="2743200" cy="1378643"/>
            <a:chOff x="609600" y="4793557"/>
            <a:chExt cx="2743200" cy="1378643"/>
          </a:xfrm>
        </p:grpSpPr>
        <p:sp>
          <p:nvSpPr>
            <p:cNvPr id="43" name="Rectangle 42"/>
            <p:cNvSpPr/>
            <p:nvPr/>
          </p:nvSpPr>
          <p:spPr>
            <a:xfrm>
              <a:off x="624840" y="4793557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45" name="Straight Arrow Connector 44"/>
            <p:cNvCxnSpPr>
              <a:stCxn id="43" idx="3"/>
              <a:endCxn id="8" idx="1"/>
            </p:cNvCxnSpPr>
            <p:nvPr/>
          </p:nvCxnSpPr>
          <p:spPr>
            <a:xfrm>
              <a:off x="1844040" y="4912353"/>
              <a:ext cx="15087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609600" y="5154276"/>
              <a:ext cx="199644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md3dImmediateContext</a:t>
              </a:r>
            </a:p>
          </p:txBody>
        </p:sp>
        <p:cxnSp>
          <p:nvCxnSpPr>
            <p:cNvPr id="47" name="Straight Arrow Connector 46"/>
            <p:cNvCxnSpPr>
              <a:stCxn id="46" idx="3"/>
              <a:endCxn id="12" idx="1"/>
            </p:cNvCxnSpPr>
            <p:nvPr/>
          </p:nvCxnSpPr>
          <p:spPr>
            <a:xfrm>
              <a:off x="2606041" y="5273072"/>
              <a:ext cx="746759" cy="11574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609601" y="5544618"/>
              <a:ext cx="11430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53" name="Straight Arrow Connector 52"/>
            <p:cNvCxnSpPr>
              <a:stCxn id="52" idx="3"/>
              <a:endCxn id="31" idx="1"/>
            </p:cNvCxnSpPr>
            <p:nvPr/>
          </p:nvCxnSpPr>
          <p:spPr>
            <a:xfrm flipV="1">
              <a:off x="1752601" y="5632073"/>
              <a:ext cx="1600199" cy="3134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609601" y="5934609"/>
              <a:ext cx="17526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mRenderTargetView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57" name="Straight Arrow Connector 56"/>
            <p:cNvCxnSpPr>
              <a:stCxn id="56" idx="3"/>
              <a:endCxn id="36" idx="1"/>
            </p:cNvCxnSpPr>
            <p:nvPr/>
          </p:nvCxnSpPr>
          <p:spPr>
            <a:xfrm flipV="1">
              <a:off x="2362201" y="6008546"/>
              <a:ext cx="990599" cy="448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352800" y="4807075"/>
            <a:ext cx="5334000" cy="1313507"/>
            <a:chOff x="3352800" y="4807075"/>
            <a:chExt cx="5334000" cy="1313507"/>
          </a:xfrm>
        </p:grpSpPr>
        <p:sp>
          <p:nvSpPr>
            <p:cNvPr id="7" name="Rectangle 6"/>
            <p:cNvSpPr/>
            <p:nvPr/>
          </p:nvSpPr>
          <p:spPr>
            <a:xfrm>
              <a:off x="6682740" y="4807075"/>
              <a:ext cx="12192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Main Controls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8" name="Pentagon 7"/>
            <p:cNvSpPr/>
            <p:nvPr/>
          </p:nvSpPr>
          <p:spPr>
            <a:xfrm>
              <a:off x="3352800" y="4807075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0" name="Straight Connector 9"/>
            <p:cNvCxnSpPr>
              <a:stCxn id="8" idx="3"/>
              <a:endCxn id="7" idx="1"/>
            </p:cNvCxnSpPr>
            <p:nvPr/>
          </p:nvCxnSpPr>
          <p:spPr>
            <a:xfrm>
              <a:off x="4682905" y="4919112"/>
              <a:ext cx="1999835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352800" y="5172609"/>
              <a:ext cx="1905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ID3D11DeviceContext</a:t>
              </a:r>
            </a:p>
          </p:txBody>
        </p:sp>
        <p:cxnSp>
          <p:nvCxnSpPr>
            <p:cNvPr id="13" name="Straight Connector 12"/>
            <p:cNvCxnSpPr>
              <a:stCxn id="12" idx="3"/>
              <a:endCxn id="7" idx="1"/>
            </p:cNvCxnSpPr>
            <p:nvPr/>
          </p:nvCxnSpPr>
          <p:spPr>
            <a:xfrm flipV="1">
              <a:off x="5257800" y="4919112"/>
              <a:ext cx="1424940" cy="36553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6705600" y="5486400"/>
              <a:ext cx="1066800" cy="2286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 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1" name="Pentagon 30"/>
            <p:cNvSpPr/>
            <p:nvPr/>
          </p:nvSpPr>
          <p:spPr>
            <a:xfrm>
              <a:off x="3352800" y="5520036"/>
              <a:ext cx="1524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IDXGISwapChain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2" name="Straight Connector 31"/>
            <p:cNvCxnSpPr>
              <a:stCxn id="31" idx="3"/>
              <a:endCxn id="28" idx="1"/>
            </p:cNvCxnSpPr>
            <p:nvPr/>
          </p:nvCxnSpPr>
          <p:spPr>
            <a:xfrm flipV="1">
              <a:off x="4876800" y="5600700"/>
              <a:ext cx="1828800" cy="3137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Pentagon 35"/>
            <p:cNvSpPr/>
            <p:nvPr/>
          </p:nvSpPr>
          <p:spPr>
            <a:xfrm>
              <a:off x="3352800" y="5896509"/>
              <a:ext cx="2209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ID3D11RenderTargetView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705600" y="5867400"/>
              <a:ext cx="1676400" cy="2286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Target 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8" name="Straight Connector 37"/>
            <p:cNvCxnSpPr>
              <a:stCxn id="36" idx="3"/>
              <a:endCxn id="37" idx="1"/>
            </p:cNvCxnSpPr>
            <p:nvPr/>
          </p:nvCxnSpPr>
          <p:spPr>
            <a:xfrm flipV="1">
              <a:off x="5562600" y="5981700"/>
              <a:ext cx="1143000" cy="26846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loud 73"/>
            <p:cNvSpPr/>
            <p:nvPr/>
          </p:nvSpPr>
          <p:spPr>
            <a:xfrm>
              <a:off x="7620000" y="5062381"/>
              <a:ext cx="1066800" cy="421379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Pipeline</a:t>
              </a:r>
              <a:endParaRPr lang="en-US" sz="1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75" name="Straight Arrow Connector 74"/>
            <p:cNvCxnSpPr>
              <a:stCxn id="7" idx="2"/>
              <a:endCxn id="74" idx="2"/>
            </p:cNvCxnSpPr>
            <p:nvPr/>
          </p:nvCxnSpPr>
          <p:spPr>
            <a:xfrm>
              <a:off x="7292340" y="5031148"/>
              <a:ext cx="330969" cy="241923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964335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9" grpId="0" animBg="1"/>
      <p:bldP spid="70" grpId="0" animBg="1"/>
      <p:bldP spid="7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Preliminaries:</a:t>
            </a:r>
            <a:br>
              <a:rPr lang="en-US" dirty="0" smtClean="0"/>
            </a:br>
            <a:r>
              <a:rPr lang="en-US" dirty="0" smtClean="0"/>
              <a:t>Device </a:t>
            </a:r>
            <a:r>
              <a:rPr lang="en-US" dirty="0" smtClean="0"/>
              <a:t>&amp; </a:t>
            </a:r>
            <a:r>
              <a:rPr lang="en-US" dirty="0" err="1" smtClean="0"/>
              <a:t>DeviceContext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These two ‘handles’ give us our primary access to the GPU</a:t>
            </a:r>
          </a:p>
          <a:p>
            <a:pPr marL="273050" lvl="1" indent="0">
              <a:buNone/>
            </a:pPr>
            <a:r>
              <a:rPr lang="en-US" sz="1600" dirty="0" smtClean="0"/>
              <a:t>The details for how they work aren’t too important, but roughly speaking:</a:t>
            </a:r>
          </a:p>
          <a:p>
            <a:pPr marL="457200" lvl="1" indent="-184150"/>
            <a:r>
              <a:rPr lang="en-US" sz="1600" i="1" dirty="0" smtClean="0"/>
              <a:t>Device</a:t>
            </a:r>
            <a:r>
              <a:rPr lang="en-US" sz="1600" dirty="0" smtClean="0"/>
              <a:t> deals with creation and initialization of various DirectX entities</a:t>
            </a:r>
          </a:p>
          <a:p>
            <a:pPr marL="457200" lvl="1" indent="-184150"/>
            <a:r>
              <a:rPr lang="en-US" sz="1600" i="1" dirty="0" err="1" smtClean="0"/>
              <a:t>DeviceContext</a:t>
            </a:r>
            <a:r>
              <a:rPr lang="en-US" sz="1600" dirty="0" smtClean="0"/>
              <a:t> deals more closely with the render pipeline control and operations.</a:t>
            </a:r>
          </a:p>
          <a:p>
            <a:pPr marL="558800" lvl="1" indent="-285750"/>
            <a:endParaRPr lang="en-US" sz="1600" dirty="0"/>
          </a:p>
          <a:p>
            <a:pPr marL="273050" lvl="1" indent="0">
              <a:buNone/>
            </a:pPr>
            <a:r>
              <a:rPr lang="en-US" sz="1600" i="1" dirty="0" smtClean="0"/>
              <a:t>Note: We will only work with a single device context, called ‘</a:t>
            </a:r>
            <a:r>
              <a:rPr lang="en-US" sz="1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md3dImmediateContext</a:t>
            </a:r>
            <a:r>
              <a:rPr lang="en-US" sz="1600" i="1" dirty="0" smtClean="0"/>
              <a:t>’. The term ‘immediate’ is in contrast with multiple ‘deferred contexts’ used when working with DX in a multithreaded application. This is outside the scope of this class.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0" y="4343400"/>
            <a:ext cx="2286000" cy="213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4343400"/>
            <a:ext cx="3263774" cy="213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2740" y="4807075"/>
            <a:ext cx="12192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Main Controls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3352800" y="4807075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9" name="Straight Connector 8"/>
          <p:cNvCxnSpPr>
            <a:stCxn id="8" idx="3"/>
            <a:endCxn id="7" idx="1"/>
          </p:cNvCxnSpPr>
          <p:nvPr/>
        </p:nvCxnSpPr>
        <p:spPr>
          <a:xfrm>
            <a:off x="4682905" y="4919112"/>
            <a:ext cx="1999835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entagon 9"/>
          <p:cNvSpPr/>
          <p:nvPr/>
        </p:nvSpPr>
        <p:spPr>
          <a:xfrm>
            <a:off x="3352800" y="5172609"/>
            <a:ext cx="1905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ID3D11DeviceContext</a:t>
            </a:r>
          </a:p>
        </p:txBody>
      </p:sp>
      <p:cxnSp>
        <p:nvCxnSpPr>
          <p:cNvPr id="11" name="Straight Connector 10"/>
          <p:cNvCxnSpPr>
            <a:stCxn id="10" idx="3"/>
            <a:endCxn id="7" idx="1"/>
          </p:cNvCxnSpPr>
          <p:nvPr/>
        </p:nvCxnSpPr>
        <p:spPr>
          <a:xfrm flipV="1">
            <a:off x="5257800" y="4919112"/>
            <a:ext cx="1424940" cy="365534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entagon 12"/>
          <p:cNvSpPr/>
          <p:nvPr/>
        </p:nvSpPr>
        <p:spPr>
          <a:xfrm>
            <a:off x="3352800" y="5520036"/>
            <a:ext cx="1524000" cy="224073"/>
          </a:xfrm>
          <a:prstGeom prst="homePlat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IDXGISwapChain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4" name="Straight Connector 13"/>
          <p:cNvCxnSpPr>
            <a:stCxn id="13" idx="3"/>
            <a:endCxn id="28" idx="1"/>
          </p:cNvCxnSpPr>
          <p:nvPr/>
        </p:nvCxnSpPr>
        <p:spPr>
          <a:xfrm flipV="1">
            <a:off x="4876800" y="5600700"/>
            <a:ext cx="1828800" cy="3137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14"/>
          <p:cNvSpPr/>
          <p:nvPr/>
        </p:nvSpPr>
        <p:spPr>
          <a:xfrm>
            <a:off x="3352800" y="5896509"/>
            <a:ext cx="2209800" cy="224073"/>
          </a:xfrm>
          <a:prstGeom prst="homePlat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ID3D11RenderTargetView</a:t>
            </a:r>
          </a:p>
        </p:txBody>
      </p:sp>
      <p:cxnSp>
        <p:nvCxnSpPr>
          <p:cNvPr id="17" name="Straight Connector 16"/>
          <p:cNvCxnSpPr>
            <a:stCxn id="15" idx="3"/>
            <a:endCxn id="29" idx="1"/>
          </p:cNvCxnSpPr>
          <p:nvPr/>
        </p:nvCxnSpPr>
        <p:spPr>
          <a:xfrm flipV="1">
            <a:off x="5562600" y="5981700"/>
            <a:ext cx="1143000" cy="26846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4840" y="4793557"/>
            <a:ext cx="12192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9" name="Straight Arrow Connector 18"/>
          <p:cNvCxnSpPr>
            <a:stCxn id="18" idx="3"/>
            <a:endCxn id="8" idx="1"/>
          </p:cNvCxnSpPr>
          <p:nvPr/>
        </p:nvCxnSpPr>
        <p:spPr>
          <a:xfrm>
            <a:off x="1844040" y="4912353"/>
            <a:ext cx="150876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9600" y="5154276"/>
            <a:ext cx="1996441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md3dImmediateContext</a:t>
            </a:r>
          </a:p>
        </p:txBody>
      </p:sp>
      <p:cxnSp>
        <p:nvCxnSpPr>
          <p:cNvPr id="21" name="Straight Arrow Connector 20"/>
          <p:cNvCxnSpPr>
            <a:stCxn id="20" idx="3"/>
            <a:endCxn id="10" idx="1"/>
          </p:cNvCxnSpPr>
          <p:nvPr/>
        </p:nvCxnSpPr>
        <p:spPr>
          <a:xfrm>
            <a:off x="2606041" y="5273072"/>
            <a:ext cx="746759" cy="1157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9601" y="5544618"/>
            <a:ext cx="1143000" cy="2375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mSwapChain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3" name="Straight Arrow Connector 22"/>
          <p:cNvCxnSpPr>
            <a:stCxn id="22" idx="3"/>
            <a:endCxn id="13" idx="1"/>
          </p:cNvCxnSpPr>
          <p:nvPr/>
        </p:nvCxnSpPr>
        <p:spPr>
          <a:xfrm flipV="1">
            <a:off x="1752601" y="5632073"/>
            <a:ext cx="1600199" cy="3134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9601" y="5934609"/>
            <a:ext cx="1752600" cy="2375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mRenderTargetView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5" name="Straight Arrow Connector 24"/>
          <p:cNvCxnSpPr>
            <a:stCxn id="24" idx="3"/>
            <a:endCxn id="15" idx="1"/>
          </p:cNvCxnSpPr>
          <p:nvPr/>
        </p:nvCxnSpPr>
        <p:spPr>
          <a:xfrm flipV="1">
            <a:off x="2362201" y="6008546"/>
            <a:ext cx="990599" cy="448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1000" y="4751559"/>
            <a:ext cx="4953000" cy="6858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705600" y="5486400"/>
            <a:ext cx="10668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 Chain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705600" y="5867400"/>
            <a:ext cx="16764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Target View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0" name="Cloud 29"/>
          <p:cNvSpPr/>
          <p:nvPr/>
        </p:nvSpPr>
        <p:spPr>
          <a:xfrm>
            <a:off x="7620000" y="5062381"/>
            <a:ext cx="1066800" cy="4213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Pipeline</a:t>
            </a:r>
            <a:endParaRPr lang="en-US" sz="10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7292340" y="5031148"/>
            <a:ext cx="330969" cy="24192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4732" y="166554"/>
            <a:ext cx="3281668" cy="9002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8000"/>
                </a:solidFill>
                <a:latin typeface="Consolas"/>
              </a:rPr>
              <a:t>// DX application elements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md3dDevice;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md3dImmediateContext;</a:t>
            </a:r>
          </a:p>
          <a:p>
            <a:r>
              <a:rPr lang="en-US" sz="1050" dirty="0" err="1">
                <a:solidFill>
                  <a:srgbClr val="2B91AF"/>
                </a:solidFill>
                <a:latin typeface="Consolas"/>
              </a:rPr>
              <a:t>IDXGISwapChain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  <a:endParaRPr lang="en-US" sz="1050" dirty="0"/>
          </a:p>
        </p:txBody>
      </p:sp>
      <p:sp>
        <p:nvSpPr>
          <p:cNvPr id="12" name="Rounded Rectangle 11"/>
          <p:cNvSpPr/>
          <p:nvPr/>
        </p:nvSpPr>
        <p:spPr>
          <a:xfrm>
            <a:off x="6064250" y="377824"/>
            <a:ext cx="3162300" cy="32702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5566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Preliminaries: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Swap </a:t>
            </a:r>
            <a:r>
              <a:rPr lang="en-US" dirty="0" smtClean="0"/>
              <a:t>Chains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Standard rendering procedure requires (at least) two rendering ‘buffers’</a:t>
            </a:r>
          </a:p>
          <a:p>
            <a:pPr marL="461963" lvl="1" indent="-188913"/>
            <a:r>
              <a:rPr lang="en-US" sz="1800" dirty="0"/>
              <a:t>When buffer #1 is being </a:t>
            </a:r>
            <a:r>
              <a:rPr lang="en-US" sz="1800" dirty="0" smtClean="0"/>
              <a:t>displayed (front buffer), </a:t>
            </a:r>
            <a:r>
              <a:rPr lang="en-US" sz="1800" dirty="0"/>
              <a:t>buffer #</a:t>
            </a:r>
            <a:r>
              <a:rPr lang="en-US" sz="1800" dirty="0" smtClean="0"/>
              <a:t>2 (back buffer) </a:t>
            </a:r>
            <a:r>
              <a:rPr lang="en-US" sz="1800" dirty="0"/>
              <a:t>is used to draw </a:t>
            </a:r>
            <a:r>
              <a:rPr lang="en-US" sz="1800" dirty="0" smtClean="0"/>
              <a:t>(out of sight) </a:t>
            </a:r>
            <a:r>
              <a:rPr lang="en-US" sz="1800" dirty="0"/>
              <a:t>the next animation </a:t>
            </a:r>
            <a:r>
              <a:rPr lang="en-US" sz="1800" dirty="0" smtClean="0"/>
              <a:t>frame.</a:t>
            </a:r>
            <a:endParaRPr lang="en-US" sz="1800" dirty="0"/>
          </a:p>
          <a:p>
            <a:pPr marL="461963" lvl="1" indent="-188913"/>
            <a:r>
              <a:rPr lang="en-US" sz="1800" dirty="0"/>
              <a:t>Once the drawing is complete, buffer #2 is switched into </a:t>
            </a:r>
            <a:r>
              <a:rPr lang="en-US" sz="1800" dirty="0" smtClean="0"/>
              <a:t>view, freeing up buffer #1.</a:t>
            </a:r>
            <a:endParaRPr lang="en-US" sz="1800" dirty="0"/>
          </a:p>
          <a:p>
            <a:pPr marL="461963" lvl="1" indent="-188913"/>
            <a:endParaRPr lang="en-US" sz="1800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78089" y="5161240"/>
            <a:ext cx="1717201" cy="369332"/>
          </a:xfrm>
          <a:prstGeom prst="rect">
            <a:avLst/>
          </a:prstGeom>
          <a:solidFill>
            <a:srgbClr val="C0C0C0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dirty="0">
                <a:latin typeface="Times New Roman" pitchFamily="18" charset="0"/>
              </a:rPr>
              <a:t>DX Application</a:t>
            </a:r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038600" y="4343400"/>
            <a:ext cx="1066800" cy="838200"/>
          </a:xfrm>
          <a:prstGeom prst="foldedCorner">
            <a:avLst>
              <a:gd name="adj" fmla="val 12500"/>
            </a:avLst>
          </a:prstGeom>
          <a:solidFill>
            <a:srgbClr val="3366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4038600" y="5486400"/>
            <a:ext cx="1066800" cy="838200"/>
          </a:xfrm>
          <a:prstGeom prst="foldedCorner">
            <a:avLst>
              <a:gd name="adj" fmla="val 12500"/>
            </a:avLst>
          </a:prstGeom>
          <a:solidFill>
            <a:srgbClr val="3366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4114800" y="4038600"/>
            <a:ext cx="900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400" b="1" dirty="0">
                <a:latin typeface="Times New Roman" pitchFamily="18" charset="0"/>
              </a:rPr>
              <a:t>Buffer #1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114800" y="6324600"/>
            <a:ext cx="900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400" b="1">
                <a:latin typeface="Times New Roman" pitchFamily="18" charset="0"/>
              </a:rPr>
              <a:t>Buffer #2</a:t>
            </a:r>
          </a:p>
        </p:txBody>
      </p:sp>
      <p:pic>
        <p:nvPicPr>
          <p:cNvPr id="10" name="Picture 24" descr="MCj039685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86600" y="4402138"/>
            <a:ext cx="121920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26"/>
          <p:cNvSpPr>
            <a:spLocks noChangeArrowheads="1"/>
          </p:cNvSpPr>
          <p:nvPr/>
        </p:nvSpPr>
        <p:spPr bwMode="auto">
          <a:xfrm>
            <a:off x="4343400" y="4495800"/>
            <a:ext cx="457200" cy="45720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2" name="AutoShape 27"/>
          <p:cNvSpPr>
            <a:spLocks noChangeArrowheads="1"/>
          </p:cNvSpPr>
          <p:nvPr/>
        </p:nvSpPr>
        <p:spPr bwMode="auto">
          <a:xfrm rot="629754">
            <a:off x="5517628" y="4639777"/>
            <a:ext cx="1309151" cy="550247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FFFF00"/>
              </a:gs>
              <a:gs pos="100000">
                <a:srgbClr val="CC0000"/>
              </a:gs>
            </a:gsLst>
            <a:lin ang="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dirty="0" smtClean="0"/>
              <a:t>Front Buffer</a:t>
            </a:r>
            <a:endParaRPr lang="en-US" sz="1200" dirty="0"/>
          </a:p>
        </p:txBody>
      </p:sp>
      <p:sp>
        <p:nvSpPr>
          <p:cNvPr id="13" name="AutoShape 28"/>
          <p:cNvSpPr>
            <a:spLocks noChangeArrowheads="1"/>
          </p:cNvSpPr>
          <p:nvPr/>
        </p:nvSpPr>
        <p:spPr bwMode="auto">
          <a:xfrm>
            <a:off x="7543800" y="4800600"/>
            <a:ext cx="457200" cy="45720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4" name="AutoShape 29"/>
          <p:cNvSpPr>
            <a:spLocks noChangeArrowheads="1"/>
          </p:cNvSpPr>
          <p:nvPr/>
        </p:nvSpPr>
        <p:spPr bwMode="auto">
          <a:xfrm rot="629754">
            <a:off x="2510311" y="5401777"/>
            <a:ext cx="1227785" cy="550247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0D19FF"/>
              </a:gs>
            </a:gsLst>
            <a:lin ang="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Back buffer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AutoShape 30"/>
          <p:cNvSpPr>
            <a:spLocks noChangeArrowheads="1"/>
          </p:cNvSpPr>
          <p:nvPr/>
        </p:nvSpPr>
        <p:spPr bwMode="auto">
          <a:xfrm>
            <a:off x="4267200" y="5715000"/>
            <a:ext cx="609600" cy="457200"/>
          </a:xfrm>
          <a:prstGeom prst="lightningBol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4732" y="166554"/>
            <a:ext cx="3281668" cy="9002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8000"/>
                </a:solidFill>
                <a:latin typeface="Consolas"/>
              </a:rPr>
              <a:t>// DX application elements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md3dDevice;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md3dImmediateContext;</a:t>
            </a:r>
          </a:p>
          <a:p>
            <a:r>
              <a:rPr lang="en-US" sz="1050" dirty="0" err="1">
                <a:solidFill>
                  <a:srgbClr val="2B91AF"/>
                </a:solidFill>
                <a:latin typeface="Consolas"/>
              </a:rPr>
              <a:t>IDXGISwapChain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  <a:endParaRPr lang="en-US" sz="1050" dirty="0"/>
          </a:p>
        </p:txBody>
      </p:sp>
      <p:sp>
        <p:nvSpPr>
          <p:cNvPr id="17" name="Rounded Rectangle 16"/>
          <p:cNvSpPr/>
          <p:nvPr/>
        </p:nvSpPr>
        <p:spPr>
          <a:xfrm>
            <a:off x="6064250" y="681038"/>
            <a:ext cx="2112963" cy="17938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8251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Preliminaries:</a:t>
            </a:r>
            <a:br>
              <a:rPr lang="en-US" dirty="0"/>
            </a:br>
            <a:r>
              <a:rPr lang="en-US" dirty="0"/>
              <a:t>Swap </a:t>
            </a:r>
            <a:r>
              <a:rPr lang="en-US" dirty="0" smtClean="0"/>
              <a:t>Chains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Standard rendering procedure requires (at least) two rendering ‘buffers’</a:t>
            </a:r>
          </a:p>
          <a:p>
            <a:pPr marL="461963" lvl="1" indent="-188913"/>
            <a:r>
              <a:rPr lang="en-US" sz="1800" dirty="0"/>
              <a:t>When buffer #1 is being displayed (front buffer), buffer #2 (back buffer) is used to draw (out of sight) the next animation </a:t>
            </a:r>
            <a:r>
              <a:rPr lang="en-US" sz="1800" dirty="0" smtClean="0"/>
              <a:t>frame.</a:t>
            </a:r>
            <a:endParaRPr lang="en-US" sz="1800" dirty="0"/>
          </a:p>
          <a:p>
            <a:pPr marL="461963" lvl="1" indent="-188913"/>
            <a:r>
              <a:rPr lang="en-US" sz="1800" dirty="0"/>
              <a:t>Once the drawing is complete, buffer #2 is switched into </a:t>
            </a:r>
            <a:r>
              <a:rPr lang="en-US" sz="1800" dirty="0" smtClean="0"/>
              <a:t>view, freeing up buffer #1.</a:t>
            </a:r>
            <a:endParaRPr lang="en-US" sz="1800" dirty="0"/>
          </a:p>
          <a:p>
            <a:pPr marL="461963" lvl="1" indent="-188913"/>
            <a:r>
              <a:rPr lang="en-US" sz="1800" dirty="0" smtClean="0"/>
              <a:t>‘Front buffer’ always refers to the one being displayed, ‘back buffer’, the other one.</a:t>
            </a:r>
          </a:p>
          <a:p>
            <a:pPr marL="461963" lvl="1" indent="-188913"/>
            <a:r>
              <a:rPr lang="en-US" sz="1800" dirty="0" smtClean="0"/>
              <a:t>These </a:t>
            </a:r>
            <a:r>
              <a:rPr lang="en-US" sz="1800" dirty="0"/>
              <a:t>two buffers </a:t>
            </a:r>
            <a:r>
              <a:rPr lang="en-US" sz="1800" dirty="0" smtClean="0"/>
              <a:t>together form </a:t>
            </a:r>
            <a:r>
              <a:rPr lang="en-US" sz="1800" dirty="0"/>
              <a:t>the </a:t>
            </a:r>
            <a:r>
              <a:rPr lang="en-US" sz="1800" u="sng" dirty="0"/>
              <a:t>Swap Chain</a:t>
            </a:r>
            <a:endParaRPr lang="en-US" sz="1800" dirty="0"/>
          </a:p>
          <a:p>
            <a:pPr marL="517525" lvl="2" indent="0">
              <a:buNone/>
            </a:pPr>
            <a:r>
              <a:rPr lang="en-US" sz="1600" i="1" dirty="0"/>
              <a:t>Swap chains can use more than two buffers for more </a:t>
            </a:r>
            <a:r>
              <a:rPr lang="en-US" sz="1600" i="1" dirty="0" smtClean="0"/>
              <a:t>advanced </a:t>
            </a:r>
            <a:r>
              <a:rPr lang="en-US" sz="1600" i="1" dirty="0"/>
              <a:t>applications, but 2 is sufficient for most cases</a:t>
            </a:r>
          </a:p>
          <a:p>
            <a:pPr marL="461963" lvl="1" indent="-188913"/>
            <a:endParaRPr lang="en-US" sz="1800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038600" y="4343400"/>
            <a:ext cx="1066800" cy="838200"/>
          </a:xfrm>
          <a:prstGeom prst="foldedCorner">
            <a:avLst>
              <a:gd name="adj" fmla="val 12500"/>
            </a:avLst>
          </a:prstGeom>
          <a:solidFill>
            <a:srgbClr val="3366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4038600" y="5486400"/>
            <a:ext cx="1066800" cy="838200"/>
          </a:xfrm>
          <a:prstGeom prst="foldedCorner">
            <a:avLst>
              <a:gd name="adj" fmla="val 12500"/>
            </a:avLst>
          </a:prstGeom>
          <a:solidFill>
            <a:srgbClr val="3366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4114800" y="4038600"/>
            <a:ext cx="900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400" b="1" dirty="0">
                <a:latin typeface="Times New Roman" pitchFamily="18" charset="0"/>
              </a:rPr>
              <a:t>Buffer #1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114800" y="6324600"/>
            <a:ext cx="900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400" b="1">
                <a:latin typeface="Times New Roman" pitchFamily="18" charset="0"/>
              </a:rPr>
              <a:t>Buffer #2</a:t>
            </a:r>
          </a:p>
        </p:txBody>
      </p:sp>
      <p:pic>
        <p:nvPicPr>
          <p:cNvPr id="10" name="Picture 24" descr="MCj039685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86600" y="4402138"/>
            <a:ext cx="121920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30"/>
          <p:cNvSpPr>
            <a:spLocks noChangeArrowheads="1"/>
          </p:cNvSpPr>
          <p:nvPr/>
        </p:nvSpPr>
        <p:spPr bwMode="auto">
          <a:xfrm>
            <a:off x="4267200" y="5715000"/>
            <a:ext cx="609600" cy="457200"/>
          </a:xfrm>
          <a:prstGeom prst="lightningBol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6" name="AutoShape 27"/>
          <p:cNvSpPr>
            <a:spLocks noChangeArrowheads="1"/>
          </p:cNvSpPr>
          <p:nvPr/>
        </p:nvSpPr>
        <p:spPr bwMode="auto">
          <a:xfrm rot="20532946">
            <a:off x="5539152" y="5358971"/>
            <a:ext cx="1309151" cy="550247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FFFF00"/>
              </a:gs>
              <a:gs pos="100000">
                <a:srgbClr val="CC0000"/>
              </a:gs>
            </a:gsLst>
            <a:lin ang="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dirty="0" smtClean="0"/>
              <a:t>Front Buffer</a:t>
            </a:r>
            <a:endParaRPr lang="en-US" sz="1200" dirty="0"/>
          </a:p>
        </p:txBody>
      </p:sp>
      <p:sp>
        <p:nvSpPr>
          <p:cNvPr id="17" name="AutoShape 29"/>
          <p:cNvSpPr>
            <a:spLocks noChangeArrowheads="1"/>
          </p:cNvSpPr>
          <p:nvPr/>
        </p:nvSpPr>
        <p:spPr bwMode="auto">
          <a:xfrm rot="20528355">
            <a:off x="2537331" y="4650168"/>
            <a:ext cx="1227785" cy="550247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0D19FF"/>
              </a:gs>
            </a:gsLst>
            <a:lin ang="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Back buffer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auto">
          <a:xfrm>
            <a:off x="4343400" y="4495800"/>
            <a:ext cx="457200" cy="457200"/>
          </a:xfrm>
          <a:prstGeom prst="sun">
            <a:avLst>
              <a:gd name="adj" fmla="val 25000"/>
            </a:avLst>
          </a:prstGeom>
          <a:solidFill>
            <a:srgbClr val="FF6600"/>
          </a:solidFill>
          <a:ln w="25400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578089" y="5161240"/>
            <a:ext cx="1717201" cy="369332"/>
          </a:xfrm>
          <a:prstGeom prst="rect">
            <a:avLst/>
          </a:prstGeom>
          <a:solidFill>
            <a:srgbClr val="C0C0C0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dirty="0">
                <a:latin typeface="Times New Roman" pitchFamily="18" charset="0"/>
              </a:rPr>
              <a:t>DX 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7942" y="3581400"/>
            <a:ext cx="1632257" cy="3048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Swap Chain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7467600" y="4868069"/>
            <a:ext cx="609600" cy="457200"/>
          </a:xfrm>
          <a:prstGeom prst="lightningBol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14732" y="166554"/>
            <a:ext cx="3281668" cy="9002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8000"/>
                </a:solidFill>
                <a:latin typeface="Consolas"/>
              </a:rPr>
              <a:t>// DX application elements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md3dDevice;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md3dImmediateContext;</a:t>
            </a:r>
          </a:p>
          <a:p>
            <a:r>
              <a:rPr lang="en-US" sz="1050" dirty="0" err="1">
                <a:solidFill>
                  <a:srgbClr val="2B91AF"/>
                </a:solidFill>
                <a:latin typeface="Consolas"/>
              </a:rPr>
              <a:t>IDXGISwapChain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  <a:endParaRPr lang="en-US" sz="1050" dirty="0"/>
          </a:p>
        </p:txBody>
      </p:sp>
      <p:sp>
        <p:nvSpPr>
          <p:cNvPr id="23" name="Rounded Rectangle 22"/>
          <p:cNvSpPr/>
          <p:nvPr/>
        </p:nvSpPr>
        <p:spPr>
          <a:xfrm>
            <a:off x="6064250" y="681038"/>
            <a:ext cx="2112963" cy="17938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9719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Preliminaries: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RenderTargetView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 smtClean="0"/>
              <a:t>RenderTargetView</a:t>
            </a:r>
            <a:r>
              <a:rPr lang="en-US" sz="2000" dirty="0" smtClean="0"/>
              <a:t> is a GPU resource that controls where the output of the render pipeline will be ‘written’.</a:t>
            </a:r>
          </a:p>
          <a:p>
            <a:pPr marL="461963" lvl="1" indent="-188913"/>
            <a:r>
              <a:rPr lang="en-US" sz="1600" dirty="0" smtClean="0"/>
              <a:t>Normally, the pipeline is set to write its output to the back buffer (To prepare for the next frame)</a:t>
            </a:r>
          </a:p>
          <a:p>
            <a:pPr marL="461963" lvl="1" indent="-188913"/>
            <a:endParaRPr lang="en-US" sz="1600" dirty="0"/>
          </a:p>
          <a:p>
            <a:pPr marL="554037" lvl="2" indent="0">
              <a:buNone/>
            </a:pPr>
            <a:r>
              <a:rPr lang="en-US" sz="1600" i="1" dirty="0" smtClean="0"/>
              <a:t>Note: in this case the render target isn’t a fixed location: it’s wherever the back buffer points to</a:t>
            </a:r>
          </a:p>
          <a:p>
            <a:pPr marL="461963" lvl="1" indent="-188913"/>
            <a:r>
              <a:rPr lang="en-US" sz="1600" dirty="0" smtClean="0"/>
              <a:t>Another common render target option would be to render to a separate texture buffer used to ‘take a picture’ of your game scene.</a:t>
            </a:r>
            <a:r>
              <a:rPr lang="en-US" sz="1600" i="1" dirty="0" smtClean="0"/>
              <a:t> </a:t>
            </a:r>
          </a:p>
          <a:p>
            <a:pPr marL="273050" lvl="1" indent="0">
              <a:buNone/>
            </a:pPr>
            <a:endParaRPr lang="en-US" sz="1800" dirty="0"/>
          </a:p>
          <a:p>
            <a:pPr marL="461963" lvl="1" indent="-188913"/>
            <a:endParaRPr lang="en-US" sz="1800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038600" y="4343400"/>
            <a:ext cx="1066800" cy="838200"/>
          </a:xfrm>
          <a:prstGeom prst="foldedCorner">
            <a:avLst>
              <a:gd name="adj" fmla="val 12500"/>
            </a:avLst>
          </a:prstGeom>
          <a:solidFill>
            <a:srgbClr val="3366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4038600" y="5486400"/>
            <a:ext cx="1066800" cy="838200"/>
          </a:xfrm>
          <a:prstGeom prst="foldedCorner">
            <a:avLst>
              <a:gd name="adj" fmla="val 12500"/>
            </a:avLst>
          </a:prstGeom>
          <a:solidFill>
            <a:srgbClr val="3366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4114800" y="4038600"/>
            <a:ext cx="900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400" b="1" dirty="0">
                <a:latin typeface="Times New Roman" pitchFamily="18" charset="0"/>
              </a:rPr>
              <a:t>Buffer #1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114800" y="6324600"/>
            <a:ext cx="900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400" b="1">
                <a:latin typeface="Times New Roman" pitchFamily="18" charset="0"/>
              </a:rPr>
              <a:t>Buffer #2</a:t>
            </a:r>
          </a:p>
        </p:txBody>
      </p:sp>
      <p:pic>
        <p:nvPicPr>
          <p:cNvPr id="10" name="Picture 24" descr="MCj039685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86600" y="4402138"/>
            <a:ext cx="121920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30"/>
          <p:cNvSpPr>
            <a:spLocks noChangeArrowheads="1"/>
          </p:cNvSpPr>
          <p:nvPr/>
        </p:nvSpPr>
        <p:spPr bwMode="auto">
          <a:xfrm>
            <a:off x="4267200" y="5715000"/>
            <a:ext cx="609600" cy="457200"/>
          </a:xfrm>
          <a:prstGeom prst="lightningBol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6" name="AutoShape 27"/>
          <p:cNvSpPr>
            <a:spLocks noChangeArrowheads="1"/>
          </p:cNvSpPr>
          <p:nvPr/>
        </p:nvSpPr>
        <p:spPr bwMode="auto">
          <a:xfrm rot="20532946">
            <a:off x="5539152" y="5358971"/>
            <a:ext cx="1309151" cy="550247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FFFF00"/>
              </a:gs>
              <a:gs pos="100000">
                <a:srgbClr val="CC0000"/>
              </a:gs>
            </a:gsLst>
            <a:lin ang="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dirty="0" smtClean="0"/>
              <a:t>Front Buffer</a:t>
            </a:r>
            <a:endParaRPr lang="en-US" sz="1200" dirty="0"/>
          </a:p>
        </p:txBody>
      </p:sp>
      <p:sp>
        <p:nvSpPr>
          <p:cNvPr id="17" name="AutoShape 29"/>
          <p:cNvSpPr>
            <a:spLocks noChangeArrowheads="1"/>
          </p:cNvSpPr>
          <p:nvPr/>
        </p:nvSpPr>
        <p:spPr bwMode="auto">
          <a:xfrm rot="20528355">
            <a:off x="2537331" y="4650168"/>
            <a:ext cx="1227785" cy="550247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0D19FF"/>
              </a:gs>
            </a:gsLst>
            <a:lin ang="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Back buffer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auto">
          <a:xfrm>
            <a:off x="4343400" y="4495800"/>
            <a:ext cx="457200" cy="457200"/>
          </a:xfrm>
          <a:prstGeom prst="sun">
            <a:avLst>
              <a:gd name="adj" fmla="val 25000"/>
            </a:avLst>
          </a:prstGeom>
          <a:solidFill>
            <a:srgbClr val="FF6600"/>
          </a:solidFill>
          <a:ln w="25400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578089" y="5161240"/>
            <a:ext cx="1717201" cy="369332"/>
          </a:xfrm>
          <a:prstGeom prst="rect">
            <a:avLst/>
          </a:prstGeom>
          <a:solidFill>
            <a:srgbClr val="C0C0C0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dirty="0">
                <a:latin typeface="Times New Roman" pitchFamily="18" charset="0"/>
              </a:rPr>
              <a:t>DX 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7942" y="3581400"/>
            <a:ext cx="1632257" cy="3048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Swap Chain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0344" y="2205736"/>
            <a:ext cx="68114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md3dDevice-&gt;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CreateRenderTargetView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pBackBuffer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/>
          </a:p>
        </p:txBody>
      </p:sp>
      <p:grpSp>
        <p:nvGrpSpPr>
          <p:cNvPr id="5" name="Group 4"/>
          <p:cNvGrpSpPr/>
          <p:nvPr/>
        </p:nvGrpSpPr>
        <p:grpSpPr>
          <a:xfrm>
            <a:off x="624840" y="5067300"/>
            <a:ext cx="2526383" cy="1131368"/>
            <a:chOff x="624840" y="5067300"/>
            <a:chExt cx="2526383" cy="1131368"/>
          </a:xfrm>
        </p:grpSpPr>
        <p:sp>
          <p:nvSpPr>
            <p:cNvPr id="22" name="Rectangle 21"/>
            <p:cNvSpPr/>
            <p:nvPr/>
          </p:nvSpPr>
          <p:spPr>
            <a:xfrm>
              <a:off x="624840" y="5961077"/>
              <a:ext cx="158496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RenderTargetView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3" name="Straight Arrow Connector 22"/>
            <p:cNvCxnSpPr>
              <a:stCxn id="22" idx="3"/>
            </p:cNvCxnSpPr>
            <p:nvPr/>
          </p:nvCxnSpPr>
          <p:spPr>
            <a:xfrm flipV="1">
              <a:off x="2209800" y="5067300"/>
              <a:ext cx="941423" cy="1012573"/>
            </a:xfrm>
            <a:prstGeom prst="bentConnector2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AutoShape 30"/>
          <p:cNvSpPr>
            <a:spLocks noChangeArrowheads="1"/>
          </p:cNvSpPr>
          <p:nvPr/>
        </p:nvSpPr>
        <p:spPr bwMode="auto">
          <a:xfrm>
            <a:off x="7467600" y="4868069"/>
            <a:ext cx="609600" cy="457200"/>
          </a:xfrm>
          <a:prstGeom prst="lightningBol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14732" y="166554"/>
            <a:ext cx="3281668" cy="9002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8000"/>
                </a:solidFill>
                <a:latin typeface="Consolas"/>
              </a:rPr>
              <a:t>// DX application elements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md3dDevice;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md3dImmediateContext;</a:t>
            </a:r>
          </a:p>
          <a:p>
            <a:r>
              <a:rPr lang="en-US" sz="1050" dirty="0" err="1">
                <a:solidFill>
                  <a:srgbClr val="2B91AF"/>
                </a:solidFill>
                <a:latin typeface="Consolas"/>
              </a:rPr>
              <a:t>IDXGISwapChain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50" dirty="0">
                <a:solidFill>
                  <a:srgbClr val="2B91AF"/>
                </a:solidFill>
                <a:latin typeface="Consolas"/>
              </a:rPr>
              <a:t>ID3D11RenderTargetView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  <a:endParaRPr lang="en-US" sz="1050" dirty="0"/>
          </a:p>
        </p:txBody>
      </p:sp>
      <p:sp>
        <p:nvSpPr>
          <p:cNvPr id="26" name="Rounded Rectangle 25"/>
          <p:cNvSpPr/>
          <p:nvPr/>
        </p:nvSpPr>
        <p:spPr>
          <a:xfrm>
            <a:off x="6064250" y="845343"/>
            <a:ext cx="3122613" cy="17938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8285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Recap: A New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3962400"/>
            <a:ext cx="8610600" cy="25146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This diagram only ‘names’ things without giving too much details…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But before we look at the actual code, we need to look more closely at these ‘buffers’…</a:t>
            </a:r>
            <a:endParaRPr lang="en-US" sz="20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457200" y="1295400"/>
            <a:ext cx="8229600" cy="2514600"/>
            <a:chOff x="457200" y="1295400"/>
            <a:chExt cx="8229600" cy="2514600"/>
          </a:xfrm>
        </p:grpSpPr>
        <p:sp>
          <p:nvSpPr>
            <p:cNvPr id="5" name="Rectangle 4"/>
            <p:cNvSpPr/>
            <p:nvPr/>
          </p:nvSpPr>
          <p:spPr>
            <a:xfrm>
              <a:off x="5257800" y="1295400"/>
              <a:ext cx="3429000" cy="2514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7200" y="1295400"/>
              <a:ext cx="2522220" cy="2133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09601" y="3039009"/>
            <a:ext cx="7619999" cy="614096"/>
            <a:chOff x="609601" y="3039009"/>
            <a:chExt cx="7619999" cy="614096"/>
          </a:xfrm>
        </p:grpSpPr>
        <p:sp>
          <p:nvSpPr>
            <p:cNvPr id="15" name="Pentagon 14"/>
            <p:cNvSpPr/>
            <p:nvPr/>
          </p:nvSpPr>
          <p:spPr>
            <a:xfrm>
              <a:off x="2819400" y="3052527"/>
              <a:ext cx="2209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ID3D11RenderTargetView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09260" y="3263114"/>
              <a:ext cx="2720340" cy="3899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Target View</a:t>
              </a:r>
            </a:p>
            <a:p>
              <a:pPr algn="r"/>
              <a:r>
                <a:rPr lang="en-US" sz="1100" i="1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Send to  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SwapChain</a:t>
              </a:r>
              <a:r>
                <a:rPr lang="en-US" sz="11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-&gt;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7" name="Straight Connector 16"/>
            <p:cNvCxnSpPr>
              <a:stCxn id="15" idx="3"/>
              <a:endCxn id="16" idx="1"/>
            </p:cNvCxnSpPr>
            <p:nvPr/>
          </p:nvCxnSpPr>
          <p:spPr>
            <a:xfrm>
              <a:off x="5029200" y="3164564"/>
              <a:ext cx="480060" cy="293546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609601" y="3039009"/>
              <a:ext cx="17526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mRenderTargetView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5" name="Straight Arrow Connector 24"/>
            <p:cNvCxnSpPr>
              <a:stCxn id="24" idx="3"/>
              <a:endCxn id="15" idx="1"/>
            </p:cNvCxnSpPr>
            <p:nvPr/>
          </p:nvCxnSpPr>
          <p:spPr>
            <a:xfrm>
              <a:off x="2362201" y="3157805"/>
              <a:ext cx="457199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09601" y="2514600"/>
            <a:ext cx="7924799" cy="634214"/>
            <a:chOff x="609601" y="2514600"/>
            <a:chExt cx="7924799" cy="634214"/>
          </a:xfrm>
        </p:grpSpPr>
        <p:sp>
          <p:nvSpPr>
            <p:cNvPr id="12" name="Rectangle 11"/>
            <p:cNvSpPr/>
            <p:nvPr/>
          </p:nvSpPr>
          <p:spPr>
            <a:xfrm>
              <a:off x="5509260" y="2516548"/>
              <a:ext cx="1577340" cy="6322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 Chain</a:t>
              </a: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FrontBuffer</a:t>
              </a:r>
              <a:endPara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3" name="Pentagon 12"/>
            <p:cNvSpPr/>
            <p:nvPr/>
          </p:nvSpPr>
          <p:spPr>
            <a:xfrm>
              <a:off x="2819400" y="2585802"/>
              <a:ext cx="1524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IDXGISwapChain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4" name="Straight Connector 13"/>
            <p:cNvCxnSpPr>
              <a:stCxn id="13" idx="3"/>
              <a:endCxn id="12" idx="1"/>
            </p:cNvCxnSpPr>
            <p:nvPr/>
          </p:nvCxnSpPr>
          <p:spPr>
            <a:xfrm>
              <a:off x="4343400" y="2697839"/>
              <a:ext cx="1165860" cy="134842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609601" y="2581809"/>
              <a:ext cx="11430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3" name="Straight Arrow Connector 22"/>
            <p:cNvCxnSpPr>
              <a:stCxn id="22" idx="3"/>
              <a:endCxn id="13" idx="1"/>
            </p:cNvCxnSpPr>
            <p:nvPr/>
          </p:nvCxnSpPr>
          <p:spPr>
            <a:xfrm flipV="1">
              <a:off x="1752601" y="2697839"/>
              <a:ext cx="1066799" cy="276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AutoShape 9"/>
            <p:cNvSpPr>
              <a:spLocks noChangeArrowheads="1"/>
            </p:cNvSpPr>
            <p:nvPr/>
          </p:nvSpPr>
          <p:spPr bwMode="auto">
            <a:xfrm>
              <a:off x="7757777" y="2514600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#1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7757776" y="2866484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#2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09600" y="1600200"/>
            <a:ext cx="7176752" cy="823740"/>
            <a:chOff x="609600" y="1600200"/>
            <a:chExt cx="7176752" cy="823740"/>
          </a:xfrm>
        </p:grpSpPr>
        <p:sp>
          <p:nvSpPr>
            <p:cNvPr id="7" name="Rectangle 6"/>
            <p:cNvSpPr/>
            <p:nvPr/>
          </p:nvSpPr>
          <p:spPr>
            <a:xfrm>
              <a:off x="5509260" y="1600200"/>
              <a:ext cx="12192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Main Controls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8" name="Pentagon 7"/>
            <p:cNvSpPr/>
            <p:nvPr/>
          </p:nvSpPr>
          <p:spPr>
            <a:xfrm>
              <a:off x="2819400" y="1689918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9" name="Straight Connector 8"/>
            <p:cNvCxnSpPr>
              <a:stCxn id="8" idx="3"/>
              <a:endCxn id="7" idx="1"/>
            </p:cNvCxnSpPr>
            <p:nvPr/>
          </p:nvCxnSpPr>
          <p:spPr>
            <a:xfrm flipV="1">
              <a:off x="4149505" y="1712237"/>
              <a:ext cx="1359755" cy="89718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Pentagon 9"/>
            <p:cNvSpPr/>
            <p:nvPr/>
          </p:nvSpPr>
          <p:spPr>
            <a:xfrm>
              <a:off x="2819400" y="2124609"/>
              <a:ext cx="1905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ID3D11DeviceContext</a:t>
              </a:r>
            </a:p>
          </p:txBody>
        </p:sp>
        <p:cxnSp>
          <p:nvCxnSpPr>
            <p:cNvPr id="11" name="Straight Connector 10"/>
            <p:cNvCxnSpPr>
              <a:stCxn id="10" idx="3"/>
              <a:endCxn id="7" idx="1"/>
            </p:cNvCxnSpPr>
            <p:nvPr/>
          </p:nvCxnSpPr>
          <p:spPr>
            <a:xfrm flipV="1">
              <a:off x="4724400" y="1712237"/>
              <a:ext cx="784860" cy="524409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24840" y="1676400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9" name="Straight Arrow Connector 18"/>
            <p:cNvCxnSpPr>
              <a:stCxn id="18" idx="3"/>
              <a:endCxn id="8" idx="1"/>
            </p:cNvCxnSpPr>
            <p:nvPr/>
          </p:nvCxnSpPr>
          <p:spPr>
            <a:xfrm>
              <a:off x="1844040" y="1795196"/>
              <a:ext cx="9753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609600" y="2118181"/>
              <a:ext cx="199644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md3dImmediateContext</a:t>
              </a:r>
            </a:p>
          </p:txBody>
        </p:sp>
        <p:cxnSp>
          <p:nvCxnSpPr>
            <p:cNvPr id="21" name="Straight Arrow Connector 20"/>
            <p:cNvCxnSpPr>
              <a:stCxn id="20" idx="3"/>
              <a:endCxn id="10" idx="1"/>
            </p:cNvCxnSpPr>
            <p:nvPr/>
          </p:nvCxnSpPr>
          <p:spPr>
            <a:xfrm flipV="1">
              <a:off x="2606041" y="2236646"/>
              <a:ext cx="213359" cy="33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loud 33"/>
            <p:cNvSpPr/>
            <p:nvPr/>
          </p:nvSpPr>
          <p:spPr>
            <a:xfrm>
              <a:off x="6540482" y="1791674"/>
              <a:ext cx="1245870" cy="632266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Pipeline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47" name="Straight Arrow Connector 46"/>
            <p:cNvCxnSpPr>
              <a:stCxn id="7" idx="2"/>
              <a:endCxn id="34" idx="2"/>
            </p:cNvCxnSpPr>
            <p:nvPr/>
          </p:nvCxnSpPr>
          <p:spPr>
            <a:xfrm>
              <a:off x="6118860" y="1824273"/>
              <a:ext cx="425487" cy="283534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257460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Buffers, Textures and Multisampling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Buffer:</a:t>
            </a:r>
          </a:p>
          <a:p>
            <a:pPr marL="628650" lvl="1" indent="-171450"/>
            <a:r>
              <a:rPr lang="en-US" sz="1800" dirty="0" smtClean="0"/>
              <a:t>Generic term for a byte array (1D, 2D, 3D, etc.) that exists on the GPU</a:t>
            </a:r>
          </a:p>
          <a:p>
            <a:pPr marL="628650" lvl="1" indent="-171450"/>
            <a:r>
              <a:rPr lang="en-US" sz="1800" dirty="0" smtClean="0"/>
              <a:t>When requesting a buffer on the GPU, you must specify the data format</a:t>
            </a:r>
          </a:p>
          <a:p>
            <a:pPr marL="623888" lvl="2" indent="0">
              <a:buNone/>
            </a:pPr>
            <a:r>
              <a:rPr lang="en-US" i="1" dirty="0" smtClean="0"/>
              <a:t>What is it you are storing and in what order?</a:t>
            </a:r>
          </a:p>
          <a:p>
            <a:pPr marL="0" indent="0">
              <a:buNone/>
            </a:pPr>
            <a:endParaRPr lang="en-US" sz="800" i="1" dirty="0" smtClean="0"/>
          </a:p>
          <a:p>
            <a:pPr marL="0" indent="0">
              <a:buNone/>
            </a:pPr>
            <a:r>
              <a:rPr lang="en-US" sz="2000" dirty="0" smtClean="0"/>
              <a:t>Texture Buffer:</a:t>
            </a:r>
          </a:p>
          <a:p>
            <a:pPr marL="742950" lvl="1" indent="-285750"/>
            <a:r>
              <a:rPr lang="en-US" sz="1800" dirty="0" smtClean="0"/>
              <a:t>DX can store texture information in </a:t>
            </a:r>
            <a:r>
              <a:rPr lang="en-US" sz="1800" dirty="0" smtClean="0">
                <a:hlinkClick r:id="rId2"/>
              </a:rPr>
              <a:t>many formats</a:t>
            </a:r>
            <a:endParaRPr lang="en-US" sz="1800" dirty="0"/>
          </a:p>
          <a:p>
            <a:pPr marL="742950" lvl="1" indent="-285750"/>
            <a:endParaRPr lang="en-US" sz="800" i="1" dirty="0" smtClean="0"/>
          </a:p>
          <a:p>
            <a:pPr marL="0" indent="0">
              <a:buNone/>
            </a:pPr>
            <a:r>
              <a:rPr lang="en-US" sz="2000" dirty="0" smtClean="0"/>
              <a:t>Multisampling:</a:t>
            </a:r>
          </a:p>
          <a:p>
            <a:pPr marL="742950" lvl="1" indent="-285750"/>
            <a:r>
              <a:rPr lang="en-US" sz="1800" i="1" dirty="0" smtClean="0"/>
              <a:t>Aliasing</a:t>
            </a:r>
            <a:r>
              <a:rPr lang="en-US" sz="1800" dirty="0" smtClean="0"/>
              <a:t> is the stair-step effect when rendering a line</a:t>
            </a:r>
          </a:p>
          <a:p>
            <a:pPr marL="742950" lvl="1" indent="-285750"/>
            <a:r>
              <a:rPr lang="en-US" sz="1800" dirty="0" smtClean="0"/>
              <a:t>Many algorithms exist to fix it, at a cost.</a:t>
            </a:r>
          </a:p>
          <a:p>
            <a:pPr marL="742950" lvl="1" indent="-285750"/>
            <a:r>
              <a:rPr lang="en-US" sz="1800" dirty="0" smtClean="0"/>
              <a:t>‘Multisampling’ is DX’s solution/compromise (</a:t>
            </a:r>
            <a:r>
              <a:rPr lang="en-US" sz="1800" dirty="0" err="1" smtClean="0"/>
              <a:t>Ch</a:t>
            </a:r>
            <a:r>
              <a:rPr lang="en-US" sz="1800" dirty="0" smtClean="0"/>
              <a:t> 4.1.8)</a:t>
            </a:r>
          </a:p>
          <a:p>
            <a:pPr marL="742950" lvl="1" indent="-285750"/>
            <a:r>
              <a:rPr lang="en-US" sz="1800" dirty="0" smtClean="0"/>
              <a:t>Details are not important for now</a:t>
            </a:r>
          </a:p>
        </p:txBody>
      </p:sp>
      <p:pic>
        <p:nvPicPr>
          <p:cNvPr id="5122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962400"/>
            <a:ext cx="2400300" cy="189897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31110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DXApp</a:t>
            </a:r>
            <a:r>
              <a:rPr lang="en-US" dirty="0" smtClean="0"/>
              <a:t>::</a:t>
            </a:r>
            <a:r>
              <a:rPr lang="en-US" dirty="0"/>
              <a:t>InitDirect3D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3556896"/>
            <a:ext cx="8610600" cy="292010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Some notes:</a:t>
            </a:r>
          </a:p>
          <a:p>
            <a:pPr marL="228600" indent="-228600"/>
            <a:r>
              <a:rPr lang="en-US" sz="1800" dirty="0" smtClean="0"/>
              <a:t>Simplification of </a:t>
            </a:r>
            <a:r>
              <a:rPr lang="en-US" sz="1800" dirty="0" err="1" smtClean="0"/>
              <a:t>Ch</a:t>
            </a:r>
            <a:r>
              <a:rPr lang="en-US" sz="1800" dirty="0" smtClean="0"/>
              <a:t> 4.2: we force DX11 regardless of your GPU’s DX capabilities </a:t>
            </a:r>
          </a:p>
          <a:p>
            <a:pPr marL="228600" indent="-228600"/>
            <a:r>
              <a:rPr lang="en-US" sz="1800" u="sng" dirty="0" smtClean="0"/>
              <a:t>Swap-Chain creation</a:t>
            </a:r>
            <a:r>
              <a:rPr lang="en-US" sz="1800" dirty="0" smtClean="0"/>
              <a:t>: The contortions with </a:t>
            </a:r>
            <a:r>
              <a:rPr lang="en-US" sz="1800" dirty="0" err="1" smtClean="0"/>
              <a:t>IDXGIDevice</a:t>
            </a:r>
            <a:r>
              <a:rPr lang="en-US" sz="1800" dirty="0" smtClean="0"/>
              <a:t>, </a:t>
            </a:r>
            <a:r>
              <a:rPr lang="en-US" sz="1800" dirty="0" err="1" smtClean="0"/>
              <a:t>IDXGIAdapter</a:t>
            </a:r>
            <a:r>
              <a:rPr lang="en-US" sz="1800" dirty="0"/>
              <a:t> </a:t>
            </a:r>
            <a:r>
              <a:rPr lang="en-US" sz="1800" dirty="0" smtClean="0"/>
              <a:t>and IDXGIFactory1 are ridiculous </a:t>
            </a:r>
            <a:r>
              <a:rPr lang="en-US" sz="1800" u="sng" dirty="0" smtClean="0"/>
              <a:t>and</a:t>
            </a:r>
            <a:r>
              <a:rPr lang="en-US" sz="1800" i="1" dirty="0"/>
              <a:t> </a:t>
            </a:r>
            <a:r>
              <a:rPr lang="en-US" sz="1800" dirty="0" smtClean="0"/>
              <a:t>vary based on DX version 10, 11, 11.1, 11.2 and 12.</a:t>
            </a:r>
          </a:p>
          <a:p>
            <a:pPr marL="457200" lvl="1" indent="-184150"/>
            <a:r>
              <a:rPr lang="en-US" sz="1600" dirty="0" smtClean="0"/>
              <a:t>The bottom line: we need ‘the right factory’ to produce the swap-chain for us.</a:t>
            </a:r>
          </a:p>
          <a:p>
            <a:pPr marL="457200" lvl="1" indent="-171450"/>
            <a:r>
              <a:rPr lang="en-US" sz="1600" dirty="0" smtClean="0"/>
              <a:t>‘DXGI_&lt;item&gt;_DESC’ groups all the relevant properties of &lt;item&gt;. Google them!</a:t>
            </a:r>
          </a:p>
          <a:p>
            <a:pPr marL="457200" lvl="1" indent="-171450"/>
            <a:r>
              <a:rPr lang="en-US" sz="1600" dirty="0" smtClean="0"/>
              <a:t>The swap chain is set to use two texture buffers with basic multisampling</a:t>
            </a:r>
          </a:p>
          <a:p>
            <a:pPr marL="228600" indent="-228600"/>
            <a:r>
              <a:rPr lang="en-US" sz="1800" dirty="0" smtClean="0"/>
              <a:t>The </a:t>
            </a:r>
            <a:r>
              <a:rPr lang="en-US" sz="1800" dirty="0" err="1" smtClean="0"/>
              <a:t>RenderTargetView</a:t>
            </a:r>
            <a:r>
              <a:rPr lang="en-US" sz="1800" dirty="0" smtClean="0"/>
              <a:t> is directed to the Swap-chain’s back buffer</a:t>
            </a:r>
          </a:p>
          <a:p>
            <a:pPr marL="228600" indent="-228600"/>
            <a:r>
              <a:rPr lang="en-US" sz="1800" dirty="0" smtClean="0"/>
              <a:t>The viewport is set to use the entire display area of the window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5257800" y="1295400"/>
            <a:ext cx="38100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522220" cy="213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9260" y="1600200"/>
            <a:ext cx="12192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Main Controls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819400" y="1689918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9" name="Straight Connector 8"/>
          <p:cNvCxnSpPr>
            <a:stCxn id="8" idx="3"/>
            <a:endCxn id="7" idx="1"/>
          </p:cNvCxnSpPr>
          <p:nvPr/>
        </p:nvCxnSpPr>
        <p:spPr>
          <a:xfrm flipV="1">
            <a:off x="4149505" y="1712237"/>
            <a:ext cx="1359755" cy="8971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entagon 9"/>
          <p:cNvSpPr/>
          <p:nvPr/>
        </p:nvSpPr>
        <p:spPr>
          <a:xfrm>
            <a:off x="2819400" y="2124609"/>
            <a:ext cx="1905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ID3D11DeviceContext</a:t>
            </a:r>
          </a:p>
        </p:txBody>
      </p:sp>
      <p:cxnSp>
        <p:nvCxnSpPr>
          <p:cNvPr id="11" name="Straight Connector 10"/>
          <p:cNvCxnSpPr>
            <a:stCxn id="10" idx="3"/>
            <a:endCxn id="7" idx="1"/>
          </p:cNvCxnSpPr>
          <p:nvPr/>
        </p:nvCxnSpPr>
        <p:spPr>
          <a:xfrm flipV="1">
            <a:off x="4724400" y="1712237"/>
            <a:ext cx="784860" cy="52440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509260" y="2516548"/>
            <a:ext cx="1577340" cy="632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 Chain</a:t>
            </a: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FrontBuffer</a:t>
            </a:r>
            <a:endParaRPr lang="en-US" sz="1100" dirty="0" smtClean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Pentagon 12"/>
          <p:cNvSpPr/>
          <p:nvPr/>
        </p:nvSpPr>
        <p:spPr>
          <a:xfrm>
            <a:off x="2819400" y="2585802"/>
            <a:ext cx="1524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IDXGISwapChain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4" name="Straight Connector 13"/>
          <p:cNvCxnSpPr>
            <a:stCxn id="13" idx="3"/>
            <a:endCxn id="12" idx="1"/>
          </p:cNvCxnSpPr>
          <p:nvPr/>
        </p:nvCxnSpPr>
        <p:spPr>
          <a:xfrm>
            <a:off x="4343400" y="2697839"/>
            <a:ext cx="1165860" cy="13484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14"/>
          <p:cNvSpPr/>
          <p:nvPr/>
        </p:nvSpPr>
        <p:spPr>
          <a:xfrm>
            <a:off x="2819400" y="3052527"/>
            <a:ext cx="22098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ID3D11RenderTargetView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9260" y="3263114"/>
            <a:ext cx="2720340" cy="3899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Target View</a:t>
            </a:r>
          </a:p>
          <a:p>
            <a:pPr algn="r"/>
            <a:r>
              <a:rPr lang="en-US" sz="1100" i="1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Send to  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SwapChain</a:t>
            </a:r>
            <a:r>
              <a: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-&gt;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7" name="Straight Connector 16"/>
          <p:cNvCxnSpPr>
            <a:stCxn id="15" idx="3"/>
            <a:endCxn id="16" idx="1"/>
          </p:cNvCxnSpPr>
          <p:nvPr/>
        </p:nvCxnSpPr>
        <p:spPr>
          <a:xfrm>
            <a:off x="5029200" y="3164564"/>
            <a:ext cx="480060" cy="293546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4840" y="1676400"/>
            <a:ext cx="12192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9" name="Straight Arrow Connector 18"/>
          <p:cNvCxnSpPr>
            <a:stCxn id="18" idx="3"/>
            <a:endCxn id="8" idx="1"/>
          </p:cNvCxnSpPr>
          <p:nvPr/>
        </p:nvCxnSpPr>
        <p:spPr>
          <a:xfrm>
            <a:off x="1844040" y="1795196"/>
            <a:ext cx="97536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9600" y="2118181"/>
            <a:ext cx="1996441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md3dImmediateContext</a:t>
            </a:r>
          </a:p>
        </p:txBody>
      </p:sp>
      <p:cxnSp>
        <p:nvCxnSpPr>
          <p:cNvPr id="21" name="Straight Arrow Connector 20"/>
          <p:cNvCxnSpPr>
            <a:stCxn id="20" idx="3"/>
            <a:endCxn id="10" idx="1"/>
          </p:cNvCxnSpPr>
          <p:nvPr/>
        </p:nvCxnSpPr>
        <p:spPr>
          <a:xfrm flipV="1">
            <a:off x="2606041" y="2236646"/>
            <a:ext cx="213359" cy="33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9601" y="2581809"/>
            <a:ext cx="11430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3" name="Straight Arrow Connector 22"/>
          <p:cNvCxnSpPr>
            <a:stCxn id="22" idx="3"/>
            <a:endCxn id="13" idx="1"/>
          </p:cNvCxnSpPr>
          <p:nvPr/>
        </p:nvCxnSpPr>
        <p:spPr>
          <a:xfrm flipV="1">
            <a:off x="1752601" y="2697839"/>
            <a:ext cx="1066799" cy="276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9601" y="3039009"/>
            <a:ext cx="1752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mRenderTargetView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5" name="Straight Arrow Connector 24"/>
          <p:cNvCxnSpPr>
            <a:stCxn id="24" idx="3"/>
            <a:endCxn id="15" idx="1"/>
          </p:cNvCxnSpPr>
          <p:nvPr/>
        </p:nvCxnSpPr>
        <p:spPr>
          <a:xfrm>
            <a:off x="2362201" y="3157805"/>
            <a:ext cx="457199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7757777" y="2514600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#1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7757776" y="2866484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#2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4" name="Cloud 33"/>
          <p:cNvSpPr/>
          <p:nvPr/>
        </p:nvSpPr>
        <p:spPr>
          <a:xfrm>
            <a:off x="6540482" y="1791674"/>
            <a:ext cx="1245870" cy="632266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Pipeline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077200" y="1985727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7" name="Straight Arrow Connector 36"/>
          <p:cNvCxnSpPr>
            <a:stCxn id="34" idx="0"/>
            <a:endCxn id="36" idx="1"/>
          </p:cNvCxnSpPr>
          <p:nvPr/>
        </p:nvCxnSpPr>
        <p:spPr>
          <a:xfrm flipV="1">
            <a:off x="7785314" y="2097764"/>
            <a:ext cx="291886" cy="1004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7" idx="2"/>
            <a:endCxn id="34" idx="2"/>
          </p:cNvCxnSpPr>
          <p:nvPr/>
        </p:nvCxnSpPr>
        <p:spPr>
          <a:xfrm>
            <a:off x="6118860" y="1824273"/>
            <a:ext cx="425487" cy="28353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78199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Loop:</a:t>
            </a:r>
            <a:br>
              <a:rPr lang="en-US" dirty="0" smtClean="0"/>
            </a:br>
            <a:r>
              <a:rPr lang="en-US" dirty="0" smtClean="0"/>
              <a:t>Seen from the CPU Side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5343" y="1264146"/>
            <a:ext cx="5197257" cy="323165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WINAPI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wWinMain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…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…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while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WM_QUIT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msg.message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err="1">
                <a:solidFill>
                  <a:srgbClr val="6F008A"/>
                </a:solidFill>
                <a:latin typeface="Consolas"/>
              </a:rPr>
              <a:t>PeekMessage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msg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0, 0,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PM_REMOVE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TranslateMessage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msg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200" dirty="0" err="1">
                <a:solidFill>
                  <a:srgbClr val="6F008A"/>
                </a:solidFill>
                <a:latin typeface="Consolas"/>
              </a:rPr>
              <a:t>DispatchMessage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msg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else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g_dxapp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FrameTick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  // …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3276600" y="2796570"/>
            <a:ext cx="3003204" cy="1569660"/>
            <a:chOff x="3276600" y="2796570"/>
            <a:chExt cx="3003204" cy="1569660"/>
          </a:xfrm>
        </p:grpSpPr>
        <p:sp>
          <p:nvSpPr>
            <p:cNvPr id="7" name="TextBox 6"/>
            <p:cNvSpPr txBox="1"/>
            <p:nvPr/>
          </p:nvSpPr>
          <p:spPr>
            <a:xfrm>
              <a:off x="3886200" y="2796570"/>
              <a:ext cx="2393604" cy="15696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200" dirty="0" err="1">
                  <a:solidFill>
                    <a:srgbClr val="2B91AF"/>
                  </a:solidFill>
                  <a:latin typeface="Consolas"/>
                </a:rPr>
                <a:t>DXApp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FrameTick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    </a:t>
              </a:r>
              <a:r>
                <a:rPr lang="en-US" sz="1200" dirty="0" err="1" smtClean="0">
                  <a:solidFill>
                    <a:srgbClr val="000000"/>
                  </a:solidFill>
                  <a:latin typeface="Consolas"/>
                </a:rPr>
                <a:t>mTimer.Tick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();</a:t>
              </a:r>
            </a:p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    </a:t>
              </a:r>
              <a:r>
                <a:rPr lang="en-US" sz="1200" dirty="0" err="1" smtClean="0">
                  <a:solidFill>
                    <a:srgbClr val="000000"/>
                  </a:solidFill>
                  <a:latin typeface="Consolas"/>
                </a:rPr>
                <a:t>CalculateFrameStats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();</a:t>
              </a:r>
            </a:p>
            <a:p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    </a:t>
              </a:r>
              <a:r>
                <a:rPr lang="en-US" sz="1200" dirty="0" err="1" smtClean="0">
                  <a:solidFill>
                    <a:srgbClr val="000000"/>
                  </a:solidFill>
                  <a:latin typeface="Consolas"/>
                </a:rPr>
                <a:t>UpdateScene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();</a:t>
              </a:r>
            </a:p>
            <a:p>
              <a:r>
                <a:rPr lang="en-US" sz="1200" dirty="0" smtClean="0">
                  <a:solidFill>
                    <a:srgbClr val="0000FF"/>
                  </a:solidFill>
                  <a:latin typeface="Consolas"/>
                </a:rPr>
                <a:t>    </a:t>
              </a:r>
              <a:r>
                <a:rPr lang="en-US" sz="1200" dirty="0" err="1" smtClean="0">
                  <a:solidFill>
                    <a:srgbClr val="000000"/>
                  </a:solidFill>
                  <a:latin typeface="Consolas"/>
                </a:rPr>
                <a:t>DrawScene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}</a:t>
              </a:r>
              <a:endParaRPr lang="en-US" sz="1200" dirty="0"/>
            </a:p>
          </p:txBody>
        </p:sp>
        <p:cxnSp>
          <p:nvCxnSpPr>
            <p:cNvPr id="9" name="Straight Arrow Connector 8"/>
            <p:cNvCxnSpPr>
              <a:endCxn id="7" idx="1"/>
            </p:cNvCxnSpPr>
            <p:nvPr/>
          </p:nvCxnSpPr>
          <p:spPr>
            <a:xfrm>
              <a:off x="3276600" y="3581400"/>
              <a:ext cx="60960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5562600" y="3535233"/>
            <a:ext cx="3230772" cy="830997"/>
            <a:chOff x="5638800" y="2965965"/>
            <a:chExt cx="3230772" cy="830997"/>
          </a:xfrm>
        </p:grpSpPr>
        <p:sp>
          <p:nvSpPr>
            <p:cNvPr id="11" name="TextBox 10"/>
            <p:cNvSpPr txBox="1"/>
            <p:nvPr/>
          </p:nvSpPr>
          <p:spPr>
            <a:xfrm>
              <a:off x="6560927" y="2965965"/>
              <a:ext cx="2308645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200" dirty="0" err="1">
                  <a:solidFill>
                    <a:srgbClr val="2B91AF"/>
                  </a:solidFill>
                  <a:latin typeface="Consolas"/>
                </a:rPr>
                <a:t>DXApp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UpdateScene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200" dirty="0" smtClean="0">
                  <a:solidFill>
                    <a:srgbClr val="008000"/>
                  </a:solidFill>
                  <a:latin typeface="Consolas"/>
                </a:rPr>
                <a:t>    // </a:t>
              </a:r>
              <a:r>
                <a:rPr lang="en-US" sz="1200" dirty="0">
                  <a:solidFill>
                    <a:srgbClr val="008000"/>
                  </a:solidFill>
                  <a:latin typeface="Consolas"/>
                </a:rPr>
                <a:t>nothing for now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}</a:t>
              </a:r>
              <a:endParaRPr lang="en-US" sz="1200" dirty="0"/>
            </a:p>
          </p:txBody>
        </p:sp>
        <p:cxnSp>
          <p:nvCxnSpPr>
            <p:cNvPr id="13" name="Straight Arrow Connector 12"/>
            <p:cNvCxnSpPr>
              <a:endCxn id="11" idx="1"/>
            </p:cNvCxnSpPr>
            <p:nvPr/>
          </p:nvCxnSpPr>
          <p:spPr>
            <a:xfrm>
              <a:off x="5638800" y="3284413"/>
              <a:ext cx="922127" cy="9705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762000" y="4191001"/>
            <a:ext cx="7915950" cy="2548591"/>
            <a:chOff x="762000" y="4191001"/>
            <a:chExt cx="7915950" cy="2548591"/>
          </a:xfrm>
        </p:grpSpPr>
        <p:sp>
          <p:nvSpPr>
            <p:cNvPr id="17" name="TextBox 16"/>
            <p:cNvSpPr txBox="1"/>
            <p:nvPr/>
          </p:nvSpPr>
          <p:spPr>
            <a:xfrm>
              <a:off x="762000" y="4800600"/>
              <a:ext cx="7915950" cy="1938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200" dirty="0" err="1">
                  <a:solidFill>
                    <a:srgbClr val="2B91AF"/>
                  </a:solidFill>
                  <a:latin typeface="Consolas"/>
                </a:rPr>
                <a:t>DXApp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::</a:t>
              </a:r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DrawScene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200" dirty="0" smtClean="0">
                  <a:solidFill>
                    <a:srgbClr val="008000"/>
                  </a:solidFill>
                  <a:latin typeface="Consolas"/>
                </a:rPr>
                <a:t>    // </a:t>
              </a:r>
              <a:r>
                <a:rPr lang="en-US" sz="1200" dirty="0">
                  <a:solidFill>
                    <a:srgbClr val="008000"/>
                  </a:solidFill>
                  <a:latin typeface="Consolas"/>
                </a:rPr>
                <a:t>Clear the back buffer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    md3dImmediateContext-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ClearRenderTargetView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mRenderTargetView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200" dirty="0" err="1">
                  <a:solidFill>
                    <a:srgbClr val="6F008A"/>
                  </a:solidFill>
                  <a:latin typeface="Consolas"/>
                </a:rPr>
                <a:t>VasA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(</a:t>
              </a:r>
              <a:r>
                <a:rPr lang="en-US" sz="1200" dirty="0" err="1">
                  <a:solidFill>
                    <a:srgbClr val="000000"/>
                  </a:solidFill>
                  <a:latin typeface="Consolas"/>
                </a:rPr>
                <a:t>BackgroundColor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) );</a:t>
              </a:r>
            </a:p>
            <a:p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200" dirty="0" smtClean="0">
                  <a:solidFill>
                    <a:srgbClr val="008000"/>
                  </a:solidFill>
                  <a:latin typeface="Consolas"/>
                </a:rPr>
                <a:t>    // </a:t>
              </a:r>
              <a:r>
                <a:rPr lang="en-US" sz="1200" dirty="0">
                  <a:solidFill>
                    <a:srgbClr val="008000"/>
                  </a:solidFill>
                  <a:latin typeface="Consolas"/>
                </a:rPr>
                <a:t>nothing </a:t>
              </a:r>
              <a:r>
                <a:rPr lang="en-US" sz="1200" dirty="0" smtClean="0">
                  <a:solidFill>
                    <a:srgbClr val="008000"/>
                  </a:solidFill>
                  <a:latin typeface="Consolas"/>
                </a:rPr>
                <a:t>else to </a:t>
              </a:r>
              <a:r>
                <a:rPr lang="en-US" sz="1200" dirty="0">
                  <a:solidFill>
                    <a:srgbClr val="008000"/>
                  </a:solidFill>
                  <a:latin typeface="Consolas"/>
                </a:rPr>
                <a:t>do for now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200" dirty="0" smtClean="0">
                  <a:solidFill>
                    <a:srgbClr val="008000"/>
                  </a:solidFill>
                  <a:latin typeface="Consolas"/>
                </a:rPr>
                <a:t>    // </a:t>
              </a:r>
              <a:r>
                <a:rPr lang="en-US" sz="1200" dirty="0">
                  <a:solidFill>
                    <a:srgbClr val="008000"/>
                  </a:solidFill>
                  <a:latin typeface="Consolas"/>
                </a:rPr>
                <a:t>Switches the display to show the now-finished back-buffer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     </a:t>
              </a:r>
              <a:r>
                <a:rPr lang="en-US" sz="1200" dirty="0" err="1" smtClean="0">
                  <a:solidFill>
                    <a:srgbClr val="000000"/>
                  </a:solidFill>
                  <a:latin typeface="Consolas"/>
                </a:rPr>
                <a:t>mSwapChain</a:t>
              </a:r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&gt;Present(0, 0);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}</a:t>
              </a:r>
              <a:endParaRPr lang="en-US" sz="1200" dirty="0"/>
            </a:p>
          </p:txBody>
        </p:sp>
        <p:cxnSp>
          <p:nvCxnSpPr>
            <p:cNvPr id="19" name="Straight Arrow Connector 18"/>
            <p:cNvCxnSpPr>
              <a:endCxn id="17" idx="0"/>
            </p:cNvCxnSpPr>
            <p:nvPr/>
          </p:nvCxnSpPr>
          <p:spPr>
            <a:xfrm>
              <a:off x="4719975" y="4191001"/>
              <a:ext cx="0" cy="60959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ounded Rectangle 24"/>
          <p:cNvSpPr/>
          <p:nvPr/>
        </p:nvSpPr>
        <p:spPr>
          <a:xfrm>
            <a:off x="3200400" y="1066800"/>
            <a:ext cx="3238500" cy="6096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window event loop drives the calls to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DXApp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FrameTick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19800" y="2516565"/>
            <a:ext cx="3048000" cy="6096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FrameTick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forms the basis for the Game Loop Update/Draw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3000" y="4724400"/>
            <a:ext cx="4114800" cy="6096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Draw step of the game loop is where we deal with rendering operations</a:t>
            </a:r>
          </a:p>
        </p:txBody>
      </p:sp>
    </p:spTree>
    <p:extLst>
      <p:ext uri="{BB962C8B-B14F-4D97-AF65-F5344CB8AC3E}">
        <p14:creationId xmlns:p14="http://schemas.microsoft.com/office/powerpoint/2010/main" val="215878020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26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Loop:</a:t>
            </a:r>
            <a:br>
              <a:rPr lang="en-US" dirty="0" smtClean="0"/>
            </a:br>
            <a:r>
              <a:rPr lang="en-US" dirty="0" smtClean="0"/>
              <a:t>Seen from the GPU side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3886200"/>
            <a:ext cx="8610600" cy="2590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All this just for an empty window…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762000" y="4800600"/>
            <a:ext cx="7915950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   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Clear the back buffer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md3dImmediateContext-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   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nothing to do for now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   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Switches the display to show the now-finished back-buffer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&gt;Present(0, 0);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5257800" y="1295400"/>
            <a:ext cx="38100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295400"/>
            <a:ext cx="2522220" cy="213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9260" y="1600200"/>
            <a:ext cx="12192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Main Controls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6" name="Pentagon 15"/>
          <p:cNvSpPr/>
          <p:nvPr/>
        </p:nvSpPr>
        <p:spPr>
          <a:xfrm>
            <a:off x="2819400" y="1689918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8" name="Straight Connector 17"/>
          <p:cNvCxnSpPr>
            <a:stCxn id="16" idx="3"/>
            <a:endCxn id="15" idx="1"/>
          </p:cNvCxnSpPr>
          <p:nvPr/>
        </p:nvCxnSpPr>
        <p:spPr>
          <a:xfrm flipV="1">
            <a:off x="4149505" y="1712237"/>
            <a:ext cx="1359755" cy="8971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entagon 19"/>
          <p:cNvSpPr/>
          <p:nvPr/>
        </p:nvSpPr>
        <p:spPr>
          <a:xfrm>
            <a:off x="2819400" y="2124609"/>
            <a:ext cx="1905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ID3D11DeviceContext</a:t>
            </a:r>
          </a:p>
        </p:txBody>
      </p:sp>
      <p:cxnSp>
        <p:nvCxnSpPr>
          <p:cNvPr id="21" name="Straight Connector 20"/>
          <p:cNvCxnSpPr>
            <a:stCxn id="20" idx="3"/>
            <a:endCxn id="15" idx="1"/>
          </p:cNvCxnSpPr>
          <p:nvPr/>
        </p:nvCxnSpPr>
        <p:spPr>
          <a:xfrm flipV="1">
            <a:off x="4724400" y="1712237"/>
            <a:ext cx="784860" cy="52440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509260" y="2516548"/>
            <a:ext cx="1577340" cy="632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 Chain</a:t>
            </a: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FrontBuffer</a:t>
            </a:r>
            <a:endParaRPr lang="en-US" sz="1100" dirty="0" smtClean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3" name="Pentagon 22"/>
          <p:cNvSpPr/>
          <p:nvPr/>
        </p:nvSpPr>
        <p:spPr>
          <a:xfrm>
            <a:off x="2819400" y="2585802"/>
            <a:ext cx="1524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IDXGISwapChain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4" name="Straight Connector 23"/>
          <p:cNvCxnSpPr>
            <a:stCxn id="23" idx="3"/>
            <a:endCxn id="22" idx="1"/>
          </p:cNvCxnSpPr>
          <p:nvPr/>
        </p:nvCxnSpPr>
        <p:spPr>
          <a:xfrm>
            <a:off x="4343400" y="2697839"/>
            <a:ext cx="1165860" cy="13484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entagon 24"/>
          <p:cNvSpPr/>
          <p:nvPr/>
        </p:nvSpPr>
        <p:spPr>
          <a:xfrm>
            <a:off x="2819400" y="3052527"/>
            <a:ext cx="22098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ID3D11RenderTargetView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9260" y="3263114"/>
            <a:ext cx="2720340" cy="3899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Target View</a:t>
            </a:r>
          </a:p>
          <a:p>
            <a:pPr algn="r"/>
            <a:r>
              <a:rPr lang="en-US" sz="1100" i="1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Send to  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SwapChain</a:t>
            </a:r>
            <a:r>
              <a: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-&gt;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7" name="Straight Connector 26"/>
          <p:cNvCxnSpPr>
            <a:stCxn id="25" idx="3"/>
            <a:endCxn id="26" idx="1"/>
          </p:cNvCxnSpPr>
          <p:nvPr/>
        </p:nvCxnSpPr>
        <p:spPr>
          <a:xfrm>
            <a:off x="5029200" y="3164564"/>
            <a:ext cx="480060" cy="293546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24840" y="1676400"/>
            <a:ext cx="12192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9" name="Straight Arrow Connector 28"/>
          <p:cNvCxnSpPr>
            <a:stCxn id="28" idx="3"/>
            <a:endCxn id="16" idx="1"/>
          </p:cNvCxnSpPr>
          <p:nvPr/>
        </p:nvCxnSpPr>
        <p:spPr>
          <a:xfrm>
            <a:off x="1844040" y="1795196"/>
            <a:ext cx="97536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9600" y="2118181"/>
            <a:ext cx="1996441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md3dImmediateContext</a:t>
            </a:r>
          </a:p>
        </p:txBody>
      </p:sp>
      <p:cxnSp>
        <p:nvCxnSpPr>
          <p:cNvPr id="31" name="Straight Arrow Connector 30"/>
          <p:cNvCxnSpPr>
            <a:stCxn id="30" idx="3"/>
            <a:endCxn id="20" idx="1"/>
          </p:cNvCxnSpPr>
          <p:nvPr/>
        </p:nvCxnSpPr>
        <p:spPr>
          <a:xfrm flipV="1">
            <a:off x="2606041" y="2236646"/>
            <a:ext cx="213359" cy="33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09601" y="2581809"/>
            <a:ext cx="11430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3" name="Straight Arrow Connector 32"/>
          <p:cNvCxnSpPr>
            <a:stCxn id="32" idx="3"/>
            <a:endCxn id="23" idx="1"/>
          </p:cNvCxnSpPr>
          <p:nvPr/>
        </p:nvCxnSpPr>
        <p:spPr>
          <a:xfrm flipV="1">
            <a:off x="1752601" y="2697839"/>
            <a:ext cx="1066799" cy="276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09601" y="3039009"/>
            <a:ext cx="1752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mRenderTargetView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5" name="Straight Arrow Connector 34"/>
          <p:cNvCxnSpPr>
            <a:stCxn id="34" idx="3"/>
            <a:endCxn id="25" idx="1"/>
          </p:cNvCxnSpPr>
          <p:nvPr/>
        </p:nvCxnSpPr>
        <p:spPr>
          <a:xfrm>
            <a:off x="2362201" y="3157805"/>
            <a:ext cx="457199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7757777" y="2514600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#1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7757776" y="2866484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#2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8" name="Cloud 37"/>
          <p:cNvSpPr/>
          <p:nvPr/>
        </p:nvSpPr>
        <p:spPr>
          <a:xfrm>
            <a:off x="6540482" y="1791674"/>
            <a:ext cx="1245870" cy="632266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Pipeline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077200" y="1985727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40" name="Straight Arrow Connector 39"/>
          <p:cNvCxnSpPr>
            <a:stCxn id="38" idx="0"/>
            <a:endCxn id="39" idx="1"/>
          </p:cNvCxnSpPr>
          <p:nvPr/>
        </p:nvCxnSpPr>
        <p:spPr>
          <a:xfrm flipV="1">
            <a:off x="7785314" y="2097764"/>
            <a:ext cx="291886" cy="1004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5" idx="2"/>
            <a:endCxn id="38" idx="2"/>
          </p:cNvCxnSpPr>
          <p:nvPr/>
        </p:nvCxnSpPr>
        <p:spPr>
          <a:xfrm>
            <a:off x="6118860" y="1824273"/>
            <a:ext cx="425487" cy="28353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3886200"/>
            <a:ext cx="1954530" cy="151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46516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About </a:t>
            </a:r>
            <a:br>
              <a:rPr lang="en-US" dirty="0" smtClean="0"/>
            </a:br>
            <a:r>
              <a:rPr lang="en-US" dirty="0" smtClean="0"/>
              <a:t>Actually Rendering Something?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 single triangle: the “Hello World” of Graphics </a:t>
            </a:r>
            <a:r>
              <a:rPr lang="en-US" sz="2000" dirty="0" err="1" smtClean="0"/>
              <a:t>Prog</a:t>
            </a:r>
            <a:r>
              <a:rPr lang="en-US" sz="2000" dirty="0" smtClean="0"/>
              <a:t>. Simple enough, right?</a:t>
            </a:r>
          </a:p>
          <a:p>
            <a:pPr marL="0" indent="0">
              <a:buNone/>
            </a:pPr>
            <a:r>
              <a:rPr lang="en-US" sz="2000" dirty="0" smtClean="0"/>
              <a:t> Yet it requires:</a:t>
            </a:r>
          </a:p>
          <a:p>
            <a:pPr marL="457200" lvl="1" indent="-184150"/>
            <a:r>
              <a:rPr lang="en-US" sz="1800" dirty="0"/>
              <a:t>Model representation as vertices and triangles</a:t>
            </a:r>
          </a:p>
          <a:p>
            <a:pPr marL="457200" lvl="1" indent="-184150"/>
            <a:r>
              <a:rPr lang="en-US" sz="1800" dirty="0" smtClean="0"/>
              <a:t>How </a:t>
            </a:r>
            <a:r>
              <a:rPr lang="en-US" sz="1800" dirty="0"/>
              <a:t>to send inputs </a:t>
            </a:r>
            <a:r>
              <a:rPr lang="en-US" sz="1800" dirty="0" smtClean="0"/>
              <a:t>(verts and </a:t>
            </a:r>
            <a:r>
              <a:rPr lang="en-US" sz="1800" dirty="0" err="1" smtClean="0"/>
              <a:t>tris</a:t>
            </a:r>
            <a:r>
              <a:rPr lang="en-US" sz="1800" dirty="0" smtClean="0"/>
              <a:t>) </a:t>
            </a:r>
            <a:r>
              <a:rPr lang="en-US" sz="1800" dirty="0"/>
              <a:t>to the GPU</a:t>
            </a:r>
          </a:p>
          <a:p>
            <a:pPr marL="457200" lvl="1" indent="-184150"/>
            <a:r>
              <a:rPr lang="en-US" sz="1800" dirty="0" smtClean="0"/>
              <a:t>Basic functionality of the rendering pipeline</a:t>
            </a:r>
          </a:p>
          <a:p>
            <a:pPr marL="457200" lvl="1" indent="-184150"/>
            <a:r>
              <a:rPr lang="en-US" sz="1800" dirty="0" smtClean="0"/>
              <a:t>Creating simple vertex and pixel </a:t>
            </a:r>
            <a:r>
              <a:rPr lang="en-US" sz="1800" dirty="0" err="1" smtClean="0"/>
              <a:t>shaders</a:t>
            </a:r>
            <a:endParaRPr lang="en-US" sz="1800" dirty="0" smtClean="0"/>
          </a:p>
          <a:p>
            <a:pPr marL="457200" lvl="1" indent="-184150"/>
            <a:r>
              <a:rPr lang="en-US" sz="1800" dirty="0" smtClean="0"/>
              <a:t>How data is passed in and out of </a:t>
            </a:r>
            <a:r>
              <a:rPr lang="en-US" sz="1800" dirty="0" err="1" smtClean="0"/>
              <a:t>shaders</a:t>
            </a:r>
            <a:endParaRPr lang="en-US" sz="1800" dirty="0" smtClean="0"/>
          </a:p>
          <a:p>
            <a:pPr marL="273050" lvl="1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How About 3D? Even a simple pyramid, requires</a:t>
            </a:r>
          </a:p>
          <a:p>
            <a:pPr marL="457200" lvl="1" indent="-184150"/>
            <a:r>
              <a:rPr lang="en-US" sz="1800" dirty="0" smtClean="0"/>
              <a:t>Setting up the camera matrices </a:t>
            </a:r>
          </a:p>
          <a:p>
            <a:pPr marL="457200" lvl="1" indent="-184150"/>
            <a:r>
              <a:rPr lang="en-US" sz="1800" dirty="0" smtClean="0"/>
              <a:t>Multiple source of data for the rendering pipeline</a:t>
            </a:r>
          </a:p>
          <a:p>
            <a:pPr marL="457200" lvl="1" indent="-184150"/>
            <a:r>
              <a:rPr lang="en-US" sz="1800" dirty="0" smtClean="0"/>
              <a:t>Setting DX to work in Right-Hand space</a:t>
            </a:r>
          </a:p>
          <a:p>
            <a:pPr marL="457200" lvl="1" indent="-184150"/>
            <a:r>
              <a:rPr lang="en-US" sz="1800" dirty="0" smtClean="0"/>
              <a:t>Far more complicated ‘draw’ stage in DX App.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And more complex scenes with multiple objects and visual effects require even more technical elements…</a:t>
            </a:r>
            <a:endParaRPr lang="en-US" sz="2200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799" y="1752600"/>
            <a:ext cx="2133601" cy="165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962400"/>
            <a:ext cx="2133600" cy="165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82929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Warning!!! </a:t>
            </a:r>
            <a:br>
              <a:rPr lang="en-US" dirty="0" smtClean="0"/>
            </a:br>
            <a:r>
              <a:rPr lang="en-US" dirty="0"/>
              <a:t>Imminent </a:t>
            </a:r>
            <a:r>
              <a:rPr lang="en-US" dirty="0" smtClean="0"/>
              <a:t>Information Overload!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554718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examples I provide are my attempt at a </a:t>
            </a:r>
            <a:r>
              <a:rPr lang="en-US" sz="2000" i="1" u="sng" dirty="0" smtClean="0"/>
              <a:t>simple</a:t>
            </a:r>
            <a:r>
              <a:rPr lang="en-US" sz="2000" dirty="0" smtClean="0"/>
              <a:t> intro to graphics programming. 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Sadly, the nature of the topic requires:</a:t>
            </a:r>
          </a:p>
          <a:p>
            <a:pPr marL="519113" indent="-273050"/>
            <a:r>
              <a:rPr lang="en-US" sz="2000" dirty="0" smtClean="0"/>
              <a:t>Mental shift in how we code</a:t>
            </a:r>
          </a:p>
          <a:p>
            <a:pPr marL="519113" indent="-273050"/>
            <a:r>
              <a:rPr lang="en-US" sz="2000" dirty="0" smtClean="0"/>
              <a:t>Needs </a:t>
            </a:r>
            <a:r>
              <a:rPr lang="en-US" sz="2000" i="1" u="sng" dirty="0" smtClean="0"/>
              <a:t>a lot</a:t>
            </a:r>
            <a:r>
              <a:rPr lang="en-US" sz="2000" dirty="0" smtClean="0"/>
              <a:t> of domain related jargon. 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For Context:</a:t>
            </a:r>
          </a:p>
          <a:p>
            <a:pPr marL="461963" lvl="1" indent="-188913"/>
            <a:r>
              <a:rPr lang="en-US" sz="1800" dirty="0" smtClean="0"/>
              <a:t>300+ lines just to draw our first triangle!</a:t>
            </a:r>
          </a:p>
          <a:p>
            <a:pPr marL="461963" lvl="1" indent="-188913"/>
            <a:r>
              <a:rPr lang="en-US" sz="1800" dirty="0" smtClean="0"/>
              <a:t>We won’t even get to 3D until week 3!</a:t>
            </a:r>
            <a:endParaRPr lang="en-US" sz="1800" dirty="0"/>
          </a:p>
        </p:txBody>
      </p:sp>
      <p:pic>
        <p:nvPicPr>
          <p:cNvPr id="2052" name="Picture 4" descr="Image result for firehos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47775"/>
            <a:ext cx="4114800" cy="31718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714375" y="4724400"/>
            <a:ext cx="3324225" cy="8382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 deep breath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Read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book!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notes.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with the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090448"/>
            <a:ext cx="1981200" cy="119211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some time and practice, this will all become natural soon enough.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679623"/>
            <a:ext cx="2013767" cy="20137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714375" y="5791200"/>
            <a:ext cx="3324225" cy="90219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you’re not constantly Googling something in the code, you’re doing it wrong!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7836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5:</a:t>
            </a:r>
          </a:p>
          <a:p>
            <a:r>
              <a:rPr lang="en-US" dirty="0" smtClean="0"/>
              <a:t>Rendering Pipeline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0777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loud 9"/>
          <p:cNvSpPr/>
          <p:nvPr/>
        </p:nvSpPr>
        <p:spPr>
          <a:xfrm>
            <a:off x="5777865" y="304800"/>
            <a:ext cx="1765935" cy="762000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Pipeline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Pipeline: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Here is the full DirectX rendering pipeline: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(</a:t>
            </a:r>
            <a:r>
              <a:rPr lang="en-US" sz="1600" i="1" dirty="0" smtClean="0"/>
              <a:t>That cute little cloud from before…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We can ignore the Tessellation Stage:</a:t>
            </a:r>
          </a:p>
          <a:p>
            <a:pPr marL="273050" lvl="1" indent="0">
              <a:buNone/>
            </a:pPr>
            <a:r>
              <a:rPr lang="en-US" sz="1600" dirty="0" smtClean="0"/>
              <a:t>What is it? See this video</a:t>
            </a:r>
          </a:p>
          <a:p>
            <a:pPr marL="461963" lvl="1" indent="-188913"/>
            <a:r>
              <a:rPr lang="en-US" sz="1600" dirty="0" smtClean="0">
                <a:hlinkClick r:id="rId2"/>
              </a:rPr>
              <a:t>Terrain </a:t>
            </a:r>
            <a:r>
              <a:rPr lang="en-US" sz="1600" dirty="0">
                <a:hlinkClick r:id="rId2"/>
              </a:rPr>
              <a:t>t</a:t>
            </a:r>
            <a:r>
              <a:rPr lang="en-US" sz="1600" dirty="0" smtClean="0">
                <a:hlinkClick r:id="rId2"/>
              </a:rPr>
              <a:t>essellation</a:t>
            </a:r>
            <a:endParaRPr lang="en-US" sz="1600" dirty="0" smtClean="0"/>
          </a:p>
          <a:p>
            <a:pPr marL="461963" lvl="1" indent="-188913"/>
            <a:r>
              <a:rPr lang="en-US" sz="1600" dirty="0" smtClean="0">
                <a:hlinkClick r:id="rId3"/>
              </a:rPr>
              <a:t>Scene tessellation</a:t>
            </a:r>
            <a:endParaRPr lang="en-US" sz="1600" dirty="0" smtClean="0"/>
          </a:p>
          <a:p>
            <a:pPr marL="273050" lvl="1" indent="0">
              <a:buNone/>
            </a:pPr>
            <a:r>
              <a:rPr lang="en-US" sz="1600" dirty="0" smtClean="0"/>
              <a:t>Much too advanced for us right now.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We can ignore the Geometry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and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Stream Output Stage:</a:t>
            </a:r>
          </a:p>
          <a:p>
            <a:pPr marL="457200" lvl="1" indent="0">
              <a:buNone/>
            </a:pPr>
            <a:r>
              <a:rPr lang="en-US" sz="1600" dirty="0" smtClean="0"/>
              <a:t>Used for advanced </a:t>
            </a:r>
            <a:r>
              <a:rPr lang="en-US" sz="1600" dirty="0" err="1" smtClean="0"/>
              <a:t>shader</a:t>
            </a:r>
            <a:r>
              <a:rPr lang="en-US" sz="1600" dirty="0" smtClean="0"/>
              <a:t> operations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Let’s look at a simplified version…</a:t>
            </a:r>
            <a:endParaRPr lang="en-US" sz="2000" dirty="0"/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00" y="76200"/>
            <a:ext cx="41783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5010150" y="1752600"/>
            <a:ext cx="2133600" cy="19050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10150" y="3733800"/>
            <a:ext cx="3048000" cy="1219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29199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Pipeline: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10257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Here’s a rough breakdown: 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How </a:t>
            </a:r>
            <a:r>
              <a:rPr lang="en-US" sz="2000" b="1" dirty="0"/>
              <a:t>is it controlled?</a:t>
            </a:r>
            <a:endParaRPr lang="en-US" sz="2000" dirty="0"/>
          </a:p>
          <a:p>
            <a:pPr marL="273050" lvl="1" indent="0">
              <a:buNone/>
            </a:pPr>
            <a:r>
              <a:rPr lang="en-US" sz="1800" dirty="0"/>
              <a:t>Lives on the GPU but triggered from the CPU during the </a:t>
            </a:r>
            <a:r>
              <a:rPr lang="en-US" sz="1800" u="sng" dirty="0"/>
              <a:t>draw stage</a:t>
            </a:r>
            <a:r>
              <a:rPr lang="en-US" sz="1800" dirty="0"/>
              <a:t> of the game </a:t>
            </a:r>
            <a:r>
              <a:rPr lang="en-US" sz="1800" dirty="0" smtClean="0"/>
              <a:t>loop</a:t>
            </a:r>
          </a:p>
          <a:p>
            <a:pPr marL="273050" lvl="1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How often is it called?</a:t>
            </a:r>
            <a:endParaRPr lang="en-US" sz="2000" dirty="0" smtClean="0"/>
          </a:p>
          <a:p>
            <a:pPr marL="457200" lvl="1" indent="-184150"/>
            <a:r>
              <a:rPr lang="en-US" sz="1800" dirty="0" smtClean="0"/>
              <a:t>Triggered </a:t>
            </a:r>
            <a:r>
              <a:rPr lang="en-US" sz="1800" u="sng" dirty="0" smtClean="0"/>
              <a:t>once per model</a:t>
            </a:r>
            <a:r>
              <a:rPr lang="en-US" sz="1800" dirty="0" smtClean="0"/>
              <a:t> </a:t>
            </a:r>
          </a:p>
          <a:p>
            <a:pPr marL="461963" lvl="1" indent="0">
              <a:spcBef>
                <a:spcPts val="0"/>
              </a:spcBef>
              <a:buNone/>
            </a:pPr>
            <a:r>
              <a:rPr lang="en-US" sz="1800" dirty="0" smtClean="0"/>
              <a:t>(</a:t>
            </a:r>
            <a:r>
              <a:rPr lang="en-US" sz="1800" i="1" dirty="0" smtClean="0"/>
              <a:t>mostly… Sort of… It’s complicated</a:t>
            </a:r>
            <a:r>
              <a:rPr lang="en-US" sz="1800" dirty="0" smtClean="0"/>
              <a:t>)</a:t>
            </a:r>
          </a:p>
          <a:p>
            <a:pPr marL="273050" lvl="1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What does it do?</a:t>
            </a:r>
            <a:endParaRPr lang="en-US" sz="2000" dirty="0"/>
          </a:p>
          <a:p>
            <a:pPr marL="273050" lvl="1" indent="0">
              <a:buNone/>
            </a:pPr>
            <a:r>
              <a:rPr lang="en-US" sz="1800" dirty="0" smtClean="0"/>
              <a:t>Given a model, a color, texture information and  transform matrices, the pipeline computes the pixels to place on the screen</a:t>
            </a:r>
          </a:p>
          <a:p>
            <a:pPr marL="273050" lvl="1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What input does it need?</a:t>
            </a:r>
            <a:endParaRPr lang="en-US" sz="2000" dirty="0"/>
          </a:p>
          <a:p>
            <a:pPr marL="273050" lvl="1" indent="0">
              <a:buNone/>
            </a:pPr>
            <a:r>
              <a:rPr lang="en-US" sz="1800" dirty="0" smtClean="0"/>
              <a:t>Lots of things! Every stage has its own collection of options and input mechanisms</a:t>
            </a:r>
            <a:endParaRPr lang="en-US" sz="1800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70" y="533400"/>
            <a:ext cx="3524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579586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Pipeline: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Input Assembler Stage (IA)</a:t>
            </a:r>
          </a:p>
          <a:p>
            <a:pPr marL="461963" lvl="1" indent="-188913"/>
            <a:r>
              <a:rPr lang="en-US" sz="1600" dirty="0" smtClean="0"/>
              <a:t>Makes the inputs available to start the pipeline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600" dirty="0" smtClean="0"/>
              <a:t>Typically: includes collections of verts and </a:t>
            </a:r>
            <a:r>
              <a:rPr lang="en-US" sz="1600" dirty="0" err="1" smtClean="0"/>
              <a:t>tris</a:t>
            </a:r>
            <a:endParaRPr lang="en-US" sz="1600" dirty="0" smtClean="0"/>
          </a:p>
          <a:p>
            <a:pPr marL="0" indent="0">
              <a:buNone/>
            </a:pPr>
            <a:r>
              <a:rPr lang="en-US" sz="1800" b="1" dirty="0" smtClean="0"/>
              <a:t>Vertex </a:t>
            </a:r>
            <a:r>
              <a:rPr lang="en-US" sz="1800" b="1" dirty="0" err="1" smtClean="0"/>
              <a:t>Shader</a:t>
            </a:r>
            <a:r>
              <a:rPr lang="en-US" sz="1800" b="1" dirty="0" smtClean="0"/>
              <a:t> Stage (VS)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Operates on </a:t>
            </a:r>
            <a:r>
              <a:rPr lang="en-US" sz="1600" u="sng" dirty="0" smtClean="0"/>
              <a:t>each </a:t>
            </a:r>
            <a:r>
              <a:rPr lang="en-US" sz="1600" u="sng" dirty="0" smtClean="0"/>
              <a:t>vertex</a:t>
            </a:r>
            <a:endParaRPr lang="en-US" sz="1600" u="sng" dirty="0" smtClean="0"/>
          </a:p>
          <a:p>
            <a:pPr marL="461963" lvl="1" indent="-188913">
              <a:spcBef>
                <a:spcPts val="0"/>
              </a:spcBef>
            </a:pPr>
            <a:r>
              <a:rPr lang="en-US" sz="1600" dirty="0" smtClean="0"/>
              <a:t>Typically: Apply </a:t>
            </a:r>
            <a:r>
              <a:rPr lang="en-US" sz="1600" dirty="0" err="1" smtClean="0"/>
              <a:t>WordMat</a:t>
            </a:r>
            <a:r>
              <a:rPr lang="en-US" sz="1600" dirty="0" smtClean="0"/>
              <a:t> &amp; Camera Matrices</a:t>
            </a:r>
          </a:p>
          <a:p>
            <a:pPr marL="0" indent="0">
              <a:buNone/>
            </a:pPr>
            <a:r>
              <a:rPr lang="en-US" sz="1800" b="1" dirty="0" smtClean="0"/>
              <a:t>Clipping: </a:t>
            </a:r>
            <a:r>
              <a:rPr lang="en-US" sz="1800" b="1" i="1" u="sng" dirty="0" smtClean="0"/>
              <a:t>not shown</a:t>
            </a:r>
          </a:p>
          <a:p>
            <a:pPr marL="457200" lvl="1" indent="-184150"/>
            <a:r>
              <a:rPr lang="en-US" sz="1600" dirty="0" smtClean="0"/>
              <a:t>Trim triangles/lines outside the view frustum.  </a:t>
            </a:r>
          </a:p>
          <a:p>
            <a:pPr marL="457200" lvl="1" indent="-184150">
              <a:spcBef>
                <a:spcPts val="0"/>
              </a:spcBef>
            </a:pPr>
            <a:r>
              <a:rPr lang="en-US" sz="1600" dirty="0" smtClean="0"/>
              <a:t>Performs </a:t>
            </a:r>
            <a:r>
              <a:rPr lang="en-US" sz="1600" dirty="0" err="1" smtClean="0"/>
              <a:t>homog</a:t>
            </a:r>
            <a:r>
              <a:rPr lang="en-US" sz="1600" dirty="0" smtClean="0"/>
              <a:t>. </a:t>
            </a:r>
            <a:r>
              <a:rPr lang="en-US" sz="1600" dirty="0" err="1" smtClean="0"/>
              <a:t>coord</a:t>
            </a:r>
            <a:r>
              <a:rPr lang="en-US" sz="1600" dirty="0" smtClean="0"/>
              <a:t> division to place verts in NDC.</a:t>
            </a:r>
          </a:p>
          <a:p>
            <a:pPr marL="0" indent="0">
              <a:buNone/>
            </a:pPr>
            <a:r>
              <a:rPr lang="en-US" sz="1800" b="1" dirty="0" smtClean="0"/>
              <a:t>Rasterizer Stage (RS)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Adjust NDC to Viewport &amp; performs </a:t>
            </a:r>
            <a:r>
              <a:rPr lang="en-US" sz="1600" dirty="0" err="1" smtClean="0"/>
              <a:t>backface</a:t>
            </a:r>
            <a:r>
              <a:rPr lang="en-US" sz="1600" dirty="0" smtClean="0"/>
              <a:t> culling 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600" dirty="0" smtClean="0"/>
              <a:t>Interpolates vertex attributes (can be color, texture, normal, etc.) across pixels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 smtClean="0"/>
              <a:t>Pixel </a:t>
            </a:r>
            <a:r>
              <a:rPr lang="en-US" sz="1800" b="1" dirty="0" err="1" smtClean="0"/>
              <a:t>Shader</a:t>
            </a:r>
            <a:r>
              <a:rPr lang="en-US" sz="1800" b="1" dirty="0" smtClean="0"/>
              <a:t> Stage (PS)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Applied to </a:t>
            </a:r>
            <a:r>
              <a:rPr lang="en-US" sz="1600" u="sng" dirty="0" smtClean="0"/>
              <a:t>each pixels</a:t>
            </a:r>
            <a:r>
              <a:rPr lang="en-US" sz="1600" dirty="0" smtClean="0"/>
              <a:t>. Lighting effects (if any) are computed here.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 smtClean="0"/>
              <a:t>Output Merger Stage (OM)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Some depth, blending &amp; transparency processing before sending it to the screen</a:t>
            </a:r>
            <a:endParaRPr lang="en-US" sz="1600" dirty="0"/>
          </a:p>
          <a:p>
            <a:pPr marL="273050" lvl="1" indent="0">
              <a:buNone/>
            </a:pPr>
            <a:endParaRPr lang="en-US" sz="1600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70" y="533400"/>
            <a:ext cx="3524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5562599" y="1266830"/>
            <a:ext cx="1762125" cy="457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88819" y="1932159"/>
            <a:ext cx="1297781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62599" y="2562230"/>
            <a:ext cx="1762125" cy="457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556646" y="3886200"/>
            <a:ext cx="1762125" cy="457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79292" y="3209925"/>
            <a:ext cx="1297781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390" name="Picture 6" descr="Rasteriz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724400"/>
            <a:ext cx="18288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892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0" animBg="1"/>
      <p:bldP spid="13" grpId="0" animBg="1"/>
      <p:bldP spid="1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This is the DirectX rendering pipeline, but</a:t>
            </a:r>
          </a:p>
          <a:p>
            <a:pPr marL="0" indent="0">
              <a:buNone/>
            </a:pPr>
            <a:r>
              <a:rPr lang="en-US" sz="2000" dirty="0" smtClean="0">
                <a:hlinkClick r:id="rId2"/>
              </a:rPr>
              <a:t>OpenGL’s Pipeline</a:t>
            </a:r>
            <a:r>
              <a:rPr lang="en-US" sz="2000" dirty="0" smtClean="0"/>
              <a:t> is similar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70" y="533400"/>
            <a:ext cx="3524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 descr="Image result for opengl render pipel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1989554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4038600" y="5181600"/>
            <a:ext cx="4953000" cy="98107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we focus on DirectX for convenience, the broad lines of how we control a rendering pipeline apply to all modern Graphics Environment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494379" y="1524000"/>
            <a:ext cx="3296821" cy="4495800"/>
            <a:chOff x="2494379" y="1524000"/>
            <a:chExt cx="3296821" cy="44958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2522954" y="1524000"/>
              <a:ext cx="3268246" cy="76200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2522954" y="2209800"/>
              <a:ext cx="3268246" cy="57150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2494379" y="2895600"/>
              <a:ext cx="3268246" cy="222885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2494379" y="3505200"/>
              <a:ext cx="3268246" cy="213360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2494379" y="4010026"/>
              <a:ext cx="3296821" cy="2009774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858545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New-New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4419600"/>
            <a:ext cx="8610600" cy="2057400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 smtClean="0"/>
              <a:t>It’s getting rather busy…. How long can we keep it up?</a:t>
            </a:r>
            <a:endParaRPr lang="en-US" sz="2000" i="1" dirty="0"/>
          </a:p>
        </p:txBody>
      </p:sp>
      <p:sp>
        <p:nvSpPr>
          <p:cNvPr id="5" name="Rectangle 4"/>
          <p:cNvSpPr/>
          <p:nvPr/>
        </p:nvSpPr>
        <p:spPr>
          <a:xfrm>
            <a:off x="4996348" y="1295400"/>
            <a:ext cx="4071452" cy="2971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676400"/>
            <a:ext cx="2522220" cy="213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200" y="1707709"/>
            <a:ext cx="12192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Main Controls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590800" y="2077346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9" name="Straight Connector 8"/>
          <p:cNvCxnSpPr>
            <a:stCxn id="8" idx="3"/>
            <a:endCxn id="7" idx="1"/>
          </p:cNvCxnSpPr>
          <p:nvPr/>
        </p:nvCxnSpPr>
        <p:spPr>
          <a:xfrm flipV="1">
            <a:off x="3920905" y="1819746"/>
            <a:ext cx="1489295" cy="36963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entagon 9"/>
          <p:cNvSpPr/>
          <p:nvPr/>
        </p:nvSpPr>
        <p:spPr>
          <a:xfrm>
            <a:off x="2590800" y="2505609"/>
            <a:ext cx="1905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ID3D11DeviceContext</a:t>
            </a:r>
          </a:p>
        </p:txBody>
      </p:sp>
      <p:cxnSp>
        <p:nvCxnSpPr>
          <p:cNvPr id="11" name="Straight Connector 10"/>
          <p:cNvCxnSpPr>
            <a:stCxn id="10" idx="3"/>
            <a:endCxn id="7" idx="1"/>
          </p:cNvCxnSpPr>
          <p:nvPr/>
        </p:nvCxnSpPr>
        <p:spPr>
          <a:xfrm flipV="1">
            <a:off x="4495800" y="1819746"/>
            <a:ext cx="914400" cy="79790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8260" y="2978449"/>
            <a:ext cx="1577340" cy="632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 Chain</a:t>
            </a: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FrontBuffer</a:t>
            </a:r>
            <a:endParaRPr lang="en-US" sz="1100" dirty="0" smtClean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Pentagon 12"/>
          <p:cNvSpPr/>
          <p:nvPr/>
        </p:nvSpPr>
        <p:spPr>
          <a:xfrm>
            <a:off x="2588678" y="2976327"/>
            <a:ext cx="1524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IDXGISwapChain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4" name="Straight Connector 13"/>
          <p:cNvCxnSpPr>
            <a:stCxn id="13" idx="3"/>
            <a:endCxn id="12" idx="1"/>
          </p:cNvCxnSpPr>
          <p:nvPr/>
        </p:nvCxnSpPr>
        <p:spPr>
          <a:xfrm>
            <a:off x="4112678" y="3088364"/>
            <a:ext cx="1015582" cy="20621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14"/>
          <p:cNvSpPr/>
          <p:nvPr/>
        </p:nvSpPr>
        <p:spPr>
          <a:xfrm>
            <a:off x="2590800" y="3429000"/>
            <a:ext cx="22098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ID3D11RenderTargetView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8260" y="3767404"/>
            <a:ext cx="2720340" cy="3899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Target View</a:t>
            </a:r>
          </a:p>
          <a:p>
            <a:pPr algn="r"/>
            <a:r>
              <a:rPr lang="en-US" sz="1100" i="1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Send to  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SwapChain</a:t>
            </a:r>
            <a:r>
              <a: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-&gt;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7" name="Straight Connector 16"/>
          <p:cNvCxnSpPr>
            <a:stCxn id="15" idx="3"/>
            <a:endCxn id="16" idx="1"/>
          </p:cNvCxnSpPr>
          <p:nvPr/>
        </p:nvCxnSpPr>
        <p:spPr>
          <a:xfrm>
            <a:off x="4800600" y="3541037"/>
            <a:ext cx="327660" cy="42136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6240" y="2057400"/>
            <a:ext cx="12192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9" name="Straight Arrow Connector 18"/>
          <p:cNvCxnSpPr>
            <a:stCxn id="18" idx="3"/>
          </p:cNvCxnSpPr>
          <p:nvPr/>
        </p:nvCxnSpPr>
        <p:spPr>
          <a:xfrm>
            <a:off x="1615440" y="2176196"/>
            <a:ext cx="97536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81000" y="2499181"/>
            <a:ext cx="1996441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md3dImmediateContext</a:t>
            </a:r>
          </a:p>
        </p:txBody>
      </p:sp>
      <p:cxnSp>
        <p:nvCxnSpPr>
          <p:cNvPr id="21" name="Straight Arrow Connector 20"/>
          <p:cNvCxnSpPr>
            <a:stCxn id="20" idx="3"/>
            <a:endCxn id="10" idx="1"/>
          </p:cNvCxnSpPr>
          <p:nvPr/>
        </p:nvCxnSpPr>
        <p:spPr>
          <a:xfrm flipV="1">
            <a:off x="2377441" y="2617646"/>
            <a:ext cx="213359" cy="33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81001" y="2962809"/>
            <a:ext cx="11430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3" name="Straight Arrow Connector 22"/>
          <p:cNvCxnSpPr>
            <a:stCxn id="22" idx="3"/>
            <a:endCxn id="13" idx="1"/>
          </p:cNvCxnSpPr>
          <p:nvPr/>
        </p:nvCxnSpPr>
        <p:spPr>
          <a:xfrm>
            <a:off x="1524001" y="3081605"/>
            <a:ext cx="1064677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81001" y="3420009"/>
            <a:ext cx="1752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mRenderTargetView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5" name="Straight Arrow Connector 24"/>
          <p:cNvCxnSpPr>
            <a:stCxn id="24" idx="3"/>
            <a:endCxn id="15" idx="1"/>
          </p:cNvCxnSpPr>
          <p:nvPr/>
        </p:nvCxnSpPr>
        <p:spPr>
          <a:xfrm>
            <a:off x="2133601" y="3538805"/>
            <a:ext cx="457199" cy="223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8153401" y="3333517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#1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8153400" y="3685401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#2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53400" y="2519127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0" name="Straight Arrow Connector 29"/>
          <p:cNvCxnSpPr>
            <a:stCxn id="2050" idx="3"/>
            <a:endCxn id="29" idx="1"/>
          </p:cNvCxnSpPr>
          <p:nvPr/>
        </p:nvCxnSpPr>
        <p:spPr>
          <a:xfrm flipV="1">
            <a:off x="7955379" y="2631164"/>
            <a:ext cx="198021" cy="6727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0"/>
            <a:endCxn id="2050" idx="0"/>
          </p:cNvCxnSpPr>
          <p:nvPr/>
        </p:nvCxnSpPr>
        <p:spPr>
          <a:xfrm rot="5400000" flipH="1" flipV="1">
            <a:off x="6640441" y="979560"/>
            <a:ext cx="107509" cy="1348790"/>
          </a:xfrm>
          <a:prstGeom prst="bentConnector3">
            <a:avLst>
              <a:gd name="adj1" fmla="val 312633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600200"/>
            <a:ext cx="1173579" cy="2075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5523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6:</a:t>
            </a:r>
          </a:p>
          <a:p>
            <a:r>
              <a:rPr lang="en-US" dirty="0" smtClean="0"/>
              <a:t>Rendering a Single Triangle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15249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344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To render something, we need ‘build’ the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missing pieces into the render pipeline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Input Assembler Stage:</a:t>
            </a:r>
          </a:p>
          <a:p>
            <a:pPr marL="457200" lvl="1" indent="-184150"/>
            <a:r>
              <a:rPr lang="en-US" sz="1800" dirty="0" smtClean="0"/>
              <a:t>Needs the vertices and how they are connected</a:t>
            </a:r>
          </a:p>
          <a:p>
            <a:pPr marL="457200" lvl="1" indent="-184150"/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Vertex </a:t>
            </a:r>
            <a:r>
              <a:rPr lang="en-US" sz="2000" b="1" dirty="0" err="1" smtClean="0"/>
              <a:t>Shader</a:t>
            </a:r>
            <a:r>
              <a:rPr lang="en-US" sz="2000" b="1" dirty="0" smtClean="0"/>
              <a:t> </a:t>
            </a:r>
            <a:r>
              <a:rPr lang="en-US" sz="2000" b="1" dirty="0" smtClean="0"/>
              <a:t>Stage</a:t>
            </a:r>
            <a:r>
              <a:rPr lang="en-US" sz="2000" b="1" dirty="0" smtClean="0"/>
              <a:t>:</a:t>
            </a:r>
          </a:p>
          <a:p>
            <a:pPr marL="457200" lvl="1" indent="-184150"/>
            <a:r>
              <a:rPr lang="en-US" sz="1800" dirty="0" smtClean="0"/>
              <a:t>Needs to know what to do with each vertex</a:t>
            </a:r>
          </a:p>
          <a:p>
            <a:pPr marL="457200" lvl="1" indent="-184150"/>
            <a:r>
              <a:rPr lang="en-US" sz="1800" dirty="0" smtClean="0"/>
              <a:t>Given as separate </a:t>
            </a:r>
            <a:r>
              <a:rPr lang="en-US" sz="1800" dirty="0"/>
              <a:t>HLSL</a:t>
            </a:r>
            <a:r>
              <a:rPr lang="en-US" sz="1800" dirty="0" smtClean="0"/>
              <a:t> code and </a:t>
            </a:r>
            <a:r>
              <a:rPr lang="en-US" sz="1800" u="sng" dirty="0" smtClean="0"/>
              <a:t>must be </a:t>
            </a:r>
          </a:p>
          <a:p>
            <a:pPr marL="273050" lvl="1" indent="0">
              <a:spcBef>
                <a:spcPts val="0"/>
              </a:spcBef>
              <a:buNone/>
            </a:pPr>
            <a:r>
              <a:rPr lang="en-US" sz="1800" u="sng" dirty="0" smtClean="0"/>
              <a:t>compiled on the GPU</a:t>
            </a:r>
          </a:p>
          <a:p>
            <a:pPr marL="457200" lvl="1" indent="-184150"/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Pixel </a:t>
            </a:r>
            <a:r>
              <a:rPr lang="en-US" sz="2000" b="1" dirty="0" err="1" smtClean="0"/>
              <a:t>Shader</a:t>
            </a:r>
            <a:r>
              <a:rPr lang="en-US" sz="2000" b="1" dirty="0" smtClean="0"/>
              <a:t> </a:t>
            </a:r>
            <a:r>
              <a:rPr lang="en-US" sz="2000" b="1" dirty="0" smtClean="0"/>
              <a:t>Stage</a:t>
            </a:r>
            <a:r>
              <a:rPr lang="en-US" sz="2000" b="1" dirty="0"/>
              <a:t>:</a:t>
            </a:r>
          </a:p>
          <a:p>
            <a:pPr marL="457200" lvl="1" indent="-184150"/>
            <a:r>
              <a:rPr lang="en-US" sz="1800" dirty="0" smtClean="0"/>
              <a:t>Needs </a:t>
            </a:r>
            <a:r>
              <a:rPr lang="en-US" sz="1800" dirty="0"/>
              <a:t>to know what to do with each </a:t>
            </a:r>
            <a:r>
              <a:rPr lang="en-US" sz="1800" dirty="0" smtClean="0"/>
              <a:t>pixels associated with each triangle</a:t>
            </a:r>
            <a:endParaRPr lang="en-US" sz="1800" dirty="0"/>
          </a:p>
          <a:p>
            <a:pPr marL="457200" lvl="1" indent="-184150"/>
            <a:r>
              <a:rPr lang="en-US" sz="1800" dirty="0"/>
              <a:t>Given as separate HLSL </a:t>
            </a:r>
            <a:r>
              <a:rPr lang="en-US" sz="1800" dirty="0" smtClean="0"/>
              <a:t>code </a:t>
            </a:r>
            <a:r>
              <a:rPr lang="en-US" sz="1800" u="sng" dirty="0" smtClean="0"/>
              <a:t>and </a:t>
            </a:r>
            <a:r>
              <a:rPr lang="en-US" sz="1800" u="sng" dirty="0"/>
              <a:t>must be </a:t>
            </a:r>
            <a:r>
              <a:rPr lang="en-US" sz="1800" u="sng" dirty="0" smtClean="0"/>
              <a:t>compiled </a:t>
            </a:r>
            <a:r>
              <a:rPr lang="en-US" sz="1800" u="sng" dirty="0"/>
              <a:t>on </a:t>
            </a:r>
            <a:r>
              <a:rPr lang="en-US" sz="1800" u="sng" dirty="0" smtClean="0"/>
              <a:t>the GPU</a:t>
            </a:r>
            <a:endParaRPr lang="en-US" sz="1800" u="sng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70" y="533400"/>
            <a:ext cx="3524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76200"/>
            <a:ext cx="12765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305800" y="1371600"/>
            <a:ext cx="444352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???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???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sz="1600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423331172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Constructing the Triangle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Recall (GAM 3/425</a:t>
            </a:r>
            <a:r>
              <a:rPr lang="en-US" sz="2000" dirty="0" smtClean="0"/>
              <a:t>): </a:t>
            </a:r>
            <a:r>
              <a:rPr lang="en-US" sz="2000" dirty="0" smtClean="0"/>
              <a:t>what appears on the 2D screen is coming from the 3D NDC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Important: </a:t>
            </a:r>
          </a:p>
          <a:p>
            <a:pPr marL="457200" lvl="1" indent="-184150"/>
            <a:r>
              <a:rPr lang="en-US" sz="1800" dirty="0"/>
              <a:t>T</a:t>
            </a:r>
            <a:r>
              <a:rPr lang="en-US" sz="1800" dirty="0" smtClean="0"/>
              <a:t>he NDC is </a:t>
            </a:r>
            <a:r>
              <a:rPr lang="en-US" sz="1800" u="sng" dirty="0" smtClean="0"/>
              <a:t>left-handed</a:t>
            </a:r>
            <a:r>
              <a:rPr lang="en-US" sz="1800" dirty="0" smtClean="0"/>
              <a:t> (regardless of the world space handedness)</a:t>
            </a:r>
          </a:p>
          <a:p>
            <a:pPr marL="457200" lvl="1" indent="-184150"/>
            <a:r>
              <a:rPr lang="en-US" sz="1800" dirty="0" smtClean="0"/>
              <a:t>Note however that that DX’s NDC range from [0,1] on the z </a:t>
            </a:r>
          </a:p>
          <a:p>
            <a:pPr marL="457200" lvl="1" indent="-184150"/>
            <a:endParaRPr lang="en-US" sz="800" b="1" dirty="0"/>
          </a:p>
          <a:p>
            <a:pPr marL="0" indent="-184150">
              <a:buNone/>
            </a:pPr>
            <a:r>
              <a:rPr lang="en-US" sz="2000" dirty="0" smtClean="0"/>
              <a:t>For simplicity, let’s assume that the NDC coordinates for the triangle vertices are</a:t>
            </a:r>
          </a:p>
          <a:p>
            <a:pPr marL="0" indent="-184150">
              <a:buNone/>
            </a:pPr>
            <a:endParaRPr lang="en-US" sz="2000" dirty="0"/>
          </a:p>
          <a:p>
            <a:pPr marL="0" indent="-184150">
              <a:buNone/>
            </a:pPr>
            <a:endParaRPr lang="en-US" sz="2000" dirty="0" smtClean="0"/>
          </a:p>
          <a:p>
            <a:pPr marL="0" indent="-184150">
              <a:buNone/>
            </a:pPr>
            <a:endParaRPr lang="en-US" sz="800" dirty="0"/>
          </a:p>
          <a:p>
            <a:pPr marL="0" indent="-184150">
              <a:buNone/>
            </a:pPr>
            <a:r>
              <a:rPr lang="en-US" sz="2000" dirty="0" smtClean="0"/>
              <a:t>We must somehow send this data </a:t>
            </a:r>
            <a:r>
              <a:rPr lang="en-US" sz="2000" dirty="0" smtClean="0"/>
              <a:t>(3 vertices forming 1 triangle) </a:t>
            </a:r>
            <a:r>
              <a:rPr lang="en-US" sz="2000" dirty="0" smtClean="0"/>
              <a:t>to the GPU</a:t>
            </a:r>
            <a:endParaRPr lang="en-US" sz="20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2133600" y="1600200"/>
            <a:ext cx="5049362" cy="1683710"/>
            <a:chOff x="2133600" y="1600200"/>
            <a:chExt cx="5049362" cy="168371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1736185"/>
              <a:ext cx="1819275" cy="1411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Left Arrow 4"/>
            <p:cNvSpPr/>
            <p:nvPr/>
          </p:nvSpPr>
          <p:spPr>
            <a:xfrm>
              <a:off x="4343400" y="2262684"/>
              <a:ext cx="533400" cy="35874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392009" y="1600200"/>
              <a:ext cx="1790953" cy="1683710"/>
              <a:chOff x="5392009" y="1745290"/>
              <a:chExt cx="1790953" cy="168371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92009" y="1745290"/>
                <a:ext cx="1790953" cy="16837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" name="Isosceles Triangle 6"/>
              <p:cNvSpPr/>
              <p:nvPr/>
            </p:nvSpPr>
            <p:spPr>
              <a:xfrm>
                <a:off x="5907881" y="2433638"/>
                <a:ext cx="526257" cy="478631"/>
              </a:xfrm>
              <a:custGeom>
                <a:avLst/>
                <a:gdLst>
                  <a:gd name="connsiteX0" fmla="*/ 0 w 685800"/>
                  <a:gd name="connsiteY0" fmla="*/ 533400 h 533400"/>
                  <a:gd name="connsiteX1" fmla="*/ 342900 w 685800"/>
                  <a:gd name="connsiteY1" fmla="*/ 0 h 533400"/>
                  <a:gd name="connsiteX2" fmla="*/ 685800 w 685800"/>
                  <a:gd name="connsiteY2" fmla="*/ 533400 h 533400"/>
                  <a:gd name="connsiteX3" fmla="*/ 0 w 685800"/>
                  <a:gd name="connsiteY3" fmla="*/ 533400 h 533400"/>
                  <a:gd name="connsiteX0" fmla="*/ 0 w 628650"/>
                  <a:gd name="connsiteY0" fmla="*/ 533400 h 695325"/>
                  <a:gd name="connsiteX1" fmla="*/ 342900 w 628650"/>
                  <a:gd name="connsiteY1" fmla="*/ 0 h 695325"/>
                  <a:gd name="connsiteX2" fmla="*/ 628650 w 628650"/>
                  <a:gd name="connsiteY2" fmla="*/ 695325 h 695325"/>
                  <a:gd name="connsiteX3" fmla="*/ 0 w 628650"/>
                  <a:gd name="connsiteY3" fmla="*/ 533400 h 695325"/>
                  <a:gd name="connsiteX0" fmla="*/ 0 w 657225"/>
                  <a:gd name="connsiteY0" fmla="*/ 619125 h 695325"/>
                  <a:gd name="connsiteX1" fmla="*/ 371475 w 657225"/>
                  <a:gd name="connsiteY1" fmla="*/ 0 h 695325"/>
                  <a:gd name="connsiteX2" fmla="*/ 657225 w 657225"/>
                  <a:gd name="connsiteY2" fmla="*/ 695325 h 695325"/>
                  <a:gd name="connsiteX3" fmla="*/ 0 w 657225"/>
                  <a:gd name="connsiteY3" fmla="*/ 619125 h 695325"/>
                  <a:gd name="connsiteX0" fmla="*/ 0 w 657225"/>
                  <a:gd name="connsiteY0" fmla="*/ 519113 h 595313"/>
                  <a:gd name="connsiteX1" fmla="*/ 328612 w 657225"/>
                  <a:gd name="connsiteY1" fmla="*/ 0 h 595313"/>
                  <a:gd name="connsiteX2" fmla="*/ 657225 w 657225"/>
                  <a:gd name="connsiteY2" fmla="*/ 595313 h 595313"/>
                  <a:gd name="connsiteX3" fmla="*/ 0 w 657225"/>
                  <a:gd name="connsiteY3" fmla="*/ 519113 h 595313"/>
                  <a:gd name="connsiteX0" fmla="*/ 0 w 657225"/>
                  <a:gd name="connsiteY0" fmla="*/ 447675 h 523875"/>
                  <a:gd name="connsiteX1" fmla="*/ 309562 w 657225"/>
                  <a:gd name="connsiteY1" fmla="*/ 0 h 523875"/>
                  <a:gd name="connsiteX2" fmla="*/ 657225 w 657225"/>
                  <a:gd name="connsiteY2" fmla="*/ 523875 h 523875"/>
                  <a:gd name="connsiteX3" fmla="*/ 0 w 657225"/>
                  <a:gd name="connsiteY3" fmla="*/ 447675 h 523875"/>
                  <a:gd name="connsiteX0" fmla="*/ 0 w 566738"/>
                  <a:gd name="connsiteY0" fmla="*/ 447675 h 478631"/>
                  <a:gd name="connsiteX1" fmla="*/ 309562 w 566738"/>
                  <a:gd name="connsiteY1" fmla="*/ 0 h 478631"/>
                  <a:gd name="connsiteX2" fmla="*/ 566738 w 566738"/>
                  <a:gd name="connsiteY2" fmla="*/ 478631 h 478631"/>
                  <a:gd name="connsiteX3" fmla="*/ 0 w 566738"/>
                  <a:gd name="connsiteY3" fmla="*/ 447675 h 478631"/>
                  <a:gd name="connsiteX0" fmla="*/ 0 w 526257"/>
                  <a:gd name="connsiteY0" fmla="*/ 411956 h 478631"/>
                  <a:gd name="connsiteX1" fmla="*/ 269081 w 526257"/>
                  <a:gd name="connsiteY1" fmla="*/ 0 h 478631"/>
                  <a:gd name="connsiteX2" fmla="*/ 526257 w 526257"/>
                  <a:gd name="connsiteY2" fmla="*/ 478631 h 478631"/>
                  <a:gd name="connsiteX3" fmla="*/ 0 w 526257"/>
                  <a:gd name="connsiteY3" fmla="*/ 411956 h 478631"/>
                  <a:gd name="connsiteX0" fmla="*/ 0 w 526257"/>
                  <a:gd name="connsiteY0" fmla="*/ 423862 h 478631"/>
                  <a:gd name="connsiteX1" fmla="*/ 269081 w 526257"/>
                  <a:gd name="connsiteY1" fmla="*/ 0 h 478631"/>
                  <a:gd name="connsiteX2" fmla="*/ 526257 w 526257"/>
                  <a:gd name="connsiteY2" fmla="*/ 478631 h 478631"/>
                  <a:gd name="connsiteX3" fmla="*/ 0 w 526257"/>
                  <a:gd name="connsiteY3" fmla="*/ 423862 h 478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6257" h="478631">
                    <a:moveTo>
                      <a:pt x="0" y="423862"/>
                    </a:moveTo>
                    <a:lnTo>
                      <a:pt x="269081" y="0"/>
                    </a:lnTo>
                    <a:lnTo>
                      <a:pt x="526257" y="478631"/>
                    </a:lnTo>
                    <a:lnTo>
                      <a:pt x="0" y="423862"/>
                    </a:lnTo>
                    <a:close/>
                  </a:path>
                </a:pathLst>
              </a:custGeom>
              <a:solidFill>
                <a:srgbClr val="FFFF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28777" y="4828881"/>
                <a:ext cx="315342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(0, 0.5, 0)	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 vertex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0,5, -0.5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0)	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Right vertex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(-0.5, -0.5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0)	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vertex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777" y="4828881"/>
                <a:ext cx="3153427" cy="923330"/>
              </a:xfrm>
              <a:prstGeom prst="rect">
                <a:avLst/>
              </a:prstGeom>
              <a:blipFill rotWithShape="1">
                <a:blip r:embed="rId4"/>
                <a:stretch>
                  <a:fillRect t="-3289" r="-772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48737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Triangle Lists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Triangles form the basis for 3D graphic rendering.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To represent a square (or more complex shapes), we use:</a:t>
                </a:r>
              </a:p>
              <a:p>
                <a:pPr marL="461963" lvl="1" indent="-188913"/>
                <a:r>
                  <a:rPr lang="en-US" sz="1800" dirty="0" smtClean="0"/>
                  <a:t>4 Vertices,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sz="1800" dirty="0" smtClean="0"/>
              </a:p>
              <a:p>
                <a:pPr marL="461963" lvl="1" indent="-188913"/>
                <a:r>
                  <a:rPr lang="en-US" sz="1800" dirty="0" smtClean="0"/>
                  <a:t>2 triangles, defined by index numbers</a:t>
                </a:r>
              </a:p>
              <a:p>
                <a:pPr marL="722312" lvl="2" indent="0">
                  <a:buNone/>
                </a:pPr>
                <a:r>
                  <a:rPr lang="en-US" sz="1600" dirty="0" smtClean="0"/>
                  <a:t>Triangle #1:  0, 1, 2</a:t>
                </a:r>
              </a:p>
              <a:p>
                <a:pPr marL="722312" lvl="2" indent="0">
                  <a:buNone/>
                </a:pPr>
                <a:r>
                  <a:rPr lang="en-US" sz="1600" dirty="0" smtClean="0"/>
                  <a:t>Triangle #2:  3, 0, 2</a:t>
                </a:r>
              </a:p>
              <a:p>
                <a:pPr marL="0" indent="0">
                  <a:buNone/>
                </a:pPr>
                <a:endParaRPr lang="en-US" sz="800" dirty="0" smtClean="0"/>
              </a:p>
              <a:p>
                <a:pPr marL="0" indent="0">
                  <a:buNone/>
                </a:pPr>
                <a:r>
                  <a:rPr lang="en-US" sz="2000" b="1" dirty="0" smtClean="0"/>
                  <a:t>Important: </a:t>
                </a:r>
                <a:r>
                  <a:rPr lang="en-US" sz="2000" dirty="0" smtClean="0"/>
                  <a:t>The ordering of vertices in a triangle (called </a:t>
                </a:r>
                <a:r>
                  <a:rPr lang="en-US" sz="2000" i="1" dirty="0" smtClean="0"/>
                  <a:t>winding</a:t>
                </a:r>
                <a:r>
                  <a:rPr lang="en-US" sz="2000" dirty="0" smtClean="0"/>
                  <a:t>) is important!</a:t>
                </a:r>
              </a:p>
              <a:p>
                <a:pPr marL="457200" lvl="1" indent="0">
                  <a:buNone/>
                </a:pPr>
                <a:r>
                  <a:rPr lang="en-US" sz="1600" i="1" dirty="0" smtClean="0"/>
                  <a:t>Remember your </a:t>
                </a:r>
                <a:r>
                  <a:rPr lang="en-US" sz="1600" i="1" dirty="0" smtClean="0">
                    <a:hlinkClick r:id="rId2"/>
                  </a:rPr>
                  <a:t>Linear Algebra Safety Rules</a:t>
                </a:r>
                <a:r>
                  <a:rPr lang="en-US" sz="1600" i="1" dirty="0" smtClean="0"/>
                  <a:t>…</a:t>
                </a:r>
              </a:p>
              <a:p>
                <a:pPr marL="457200" lvl="1" indent="0">
                  <a:buNone/>
                </a:pPr>
                <a:endParaRPr lang="en-US" sz="800" i="1" dirty="0"/>
              </a:p>
              <a:p>
                <a:pPr marL="457200" lvl="1" indent="0">
                  <a:buNone/>
                </a:pPr>
                <a:r>
                  <a:rPr lang="en-US" sz="1600" dirty="0" smtClean="0"/>
                  <a:t>Sadly, DirectX defaults to front-facing triangles as Clockwise and </a:t>
                </a:r>
                <a:r>
                  <a:rPr lang="en-US" sz="1600" u="sng" dirty="0" smtClean="0"/>
                  <a:t>we need Counter-clockwise</a:t>
                </a:r>
                <a:r>
                  <a:rPr lang="en-US" sz="1600" dirty="0" smtClean="0"/>
                  <a:t>.</a:t>
                </a:r>
              </a:p>
              <a:p>
                <a:pPr marL="457200" lvl="1" indent="0">
                  <a:buNone/>
                </a:pPr>
                <a:r>
                  <a:rPr lang="en-US" sz="1600" dirty="0" smtClean="0"/>
                  <a:t>We’ll have to tweak the Rasterizing Stage to fix this…More on this in a moment.</a:t>
                </a:r>
              </a:p>
              <a:p>
                <a:pPr marL="457200" lvl="1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 smtClean="0"/>
                  <a:t>There are other alternatives to Triangle Lists, but we’ll cover those later.</a:t>
                </a: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014084" y="1450181"/>
            <a:ext cx="1371600" cy="1295400"/>
          </a:xfrm>
          <a:prstGeom prst="rect">
            <a:avLst/>
          </a:prstGeom>
          <a:solidFill>
            <a:srgbClr val="DE38A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6527550" y="1250434"/>
            <a:ext cx="2387850" cy="1674811"/>
            <a:chOff x="6371466" y="1250434"/>
            <a:chExt cx="2387850" cy="1674811"/>
          </a:xfrm>
        </p:grpSpPr>
        <p:grpSp>
          <p:nvGrpSpPr>
            <p:cNvPr id="9" name="Group 8"/>
            <p:cNvGrpSpPr/>
            <p:nvPr/>
          </p:nvGrpSpPr>
          <p:grpSpPr>
            <a:xfrm>
              <a:off x="6371466" y="1250434"/>
              <a:ext cx="537334" cy="369332"/>
              <a:chOff x="4618866" y="2012434"/>
              <a:chExt cx="537334" cy="369332"/>
            </a:xfrm>
          </p:grpSpPr>
          <p:cxnSp>
            <p:nvCxnSpPr>
              <p:cNvPr id="7" name="Straight Connector 6"/>
              <p:cNvCxnSpPr/>
              <p:nvPr/>
            </p:nvCxnSpPr>
            <p:spPr>
              <a:xfrm flipV="1">
                <a:off x="5105400" y="2197100"/>
                <a:ext cx="50800" cy="127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18866" y="2012434"/>
                    <a:ext cx="4789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8866" y="2012434"/>
                    <a:ext cx="478914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6411155" y="2555913"/>
              <a:ext cx="504314" cy="369332"/>
              <a:chOff x="4651886" y="2032039"/>
              <a:chExt cx="504314" cy="369332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 flipV="1">
                <a:off x="5105400" y="2197100"/>
                <a:ext cx="50800" cy="127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4651886" y="2032039"/>
                    <a:ext cx="4735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1886" y="2032039"/>
                    <a:ext cx="473591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/>
            <p:cNvGrpSpPr/>
            <p:nvPr/>
          </p:nvGrpSpPr>
          <p:grpSpPr>
            <a:xfrm>
              <a:off x="8226422" y="2552182"/>
              <a:ext cx="529716" cy="369332"/>
              <a:chOff x="5105400" y="2025134"/>
              <a:chExt cx="529716" cy="369332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5105400" y="2197100"/>
                <a:ext cx="50800" cy="127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5156203" y="2025134"/>
                    <a:ext cx="478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6203" y="2025134"/>
                    <a:ext cx="47891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/>
            <p:cNvGrpSpPr/>
            <p:nvPr/>
          </p:nvGrpSpPr>
          <p:grpSpPr>
            <a:xfrm>
              <a:off x="8229600" y="1263134"/>
              <a:ext cx="529716" cy="369332"/>
              <a:chOff x="5105400" y="2025134"/>
              <a:chExt cx="529716" cy="369332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V="1">
                <a:off x="5105400" y="2197100"/>
                <a:ext cx="50800" cy="127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156203" y="2025134"/>
                    <a:ext cx="478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6203" y="2025134"/>
                    <a:ext cx="478913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3" name="Group 22"/>
          <p:cNvGrpSpPr/>
          <p:nvPr/>
        </p:nvGrpSpPr>
        <p:grpSpPr>
          <a:xfrm>
            <a:off x="7020753" y="1441450"/>
            <a:ext cx="1364608" cy="1302384"/>
            <a:chOff x="6864669" y="1441450"/>
            <a:chExt cx="1364608" cy="1302384"/>
          </a:xfrm>
        </p:grpSpPr>
        <p:sp>
          <p:nvSpPr>
            <p:cNvPr id="12" name="Right Triangle 11"/>
            <p:cNvSpPr/>
            <p:nvPr/>
          </p:nvSpPr>
          <p:spPr>
            <a:xfrm>
              <a:off x="6864669" y="1441450"/>
              <a:ext cx="1361753" cy="1301750"/>
            </a:xfrm>
            <a:prstGeom prst="rtTriangle">
              <a:avLst/>
            </a:prstGeom>
            <a:noFill/>
            <a:ln>
              <a:solidFill>
                <a:srgbClr val="0D19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Triangle 23"/>
            <p:cNvSpPr/>
            <p:nvPr/>
          </p:nvSpPr>
          <p:spPr>
            <a:xfrm rot="10800000">
              <a:off x="6867524" y="1442084"/>
              <a:ext cx="1361753" cy="1301750"/>
            </a:xfrm>
            <a:prstGeom prst="rtTriangle">
              <a:avLst/>
            </a:prstGeom>
            <a:noFill/>
            <a:ln>
              <a:solidFill>
                <a:srgbClr val="0D19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086600" y="2133600"/>
              <a:ext cx="351988" cy="331326"/>
            </a:xfrm>
            <a:custGeom>
              <a:avLst/>
              <a:gdLst>
                <a:gd name="connsiteX0" fmla="*/ 0 w 609600"/>
                <a:gd name="connsiteY0" fmla="*/ 266700 h 533400"/>
                <a:gd name="connsiteX1" fmla="*/ 304800 w 609600"/>
                <a:gd name="connsiteY1" fmla="*/ 0 h 533400"/>
                <a:gd name="connsiteX2" fmla="*/ 609600 w 609600"/>
                <a:gd name="connsiteY2" fmla="*/ 266700 h 533400"/>
                <a:gd name="connsiteX3" fmla="*/ 304800 w 609600"/>
                <a:gd name="connsiteY3" fmla="*/ 533400 h 533400"/>
                <a:gd name="connsiteX4" fmla="*/ 0 w 609600"/>
                <a:gd name="connsiteY4" fmla="*/ 266700 h 533400"/>
                <a:gd name="connsiteX0" fmla="*/ 304800 w 609600"/>
                <a:gd name="connsiteY0" fmla="*/ 533400 h 624840"/>
                <a:gd name="connsiteX1" fmla="*/ 0 w 609600"/>
                <a:gd name="connsiteY1" fmla="*/ 266700 h 624840"/>
                <a:gd name="connsiteX2" fmla="*/ 304800 w 609600"/>
                <a:gd name="connsiteY2" fmla="*/ 0 h 624840"/>
                <a:gd name="connsiteX3" fmla="*/ 609600 w 609600"/>
                <a:gd name="connsiteY3" fmla="*/ 266700 h 624840"/>
                <a:gd name="connsiteX4" fmla="*/ 396240 w 609600"/>
                <a:gd name="connsiteY4" fmla="*/ 624840 h 624840"/>
                <a:gd name="connsiteX0" fmla="*/ 304800 w 610166"/>
                <a:gd name="connsiteY0" fmla="*/ 533400 h 533400"/>
                <a:gd name="connsiteX1" fmla="*/ 0 w 610166"/>
                <a:gd name="connsiteY1" fmla="*/ 266700 h 533400"/>
                <a:gd name="connsiteX2" fmla="*/ 304800 w 610166"/>
                <a:gd name="connsiteY2" fmla="*/ 0 h 533400"/>
                <a:gd name="connsiteX3" fmla="*/ 609600 w 610166"/>
                <a:gd name="connsiteY3" fmla="*/ 266700 h 533400"/>
                <a:gd name="connsiteX4" fmla="*/ 543878 w 610166"/>
                <a:gd name="connsiteY4" fmla="*/ 510540 h 533400"/>
                <a:gd name="connsiteX0" fmla="*/ 188494 w 615304"/>
                <a:gd name="connsiteY0" fmla="*/ 500063 h 510540"/>
                <a:gd name="connsiteX1" fmla="*/ 5138 w 615304"/>
                <a:gd name="connsiteY1" fmla="*/ 266700 h 510540"/>
                <a:gd name="connsiteX2" fmla="*/ 309938 w 615304"/>
                <a:gd name="connsiteY2" fmla="*/ 0 h 510540"/>
                <a:gd name="connsiteX3" fmla="*/ 614738 w 615304"/>
                <a:gd name="connsiteY3" fmla="*/ 266700 h 510540"/>
                <a:gd name="connsiteX4" fmla="*/ 549016 w 615304"/>
                <a:gd name="connsiteY4" fmla="*/ 510540 h 510540"/>
                <a:gd name="connsiteX0" fmla="*/ 186611 w 613421"/>
                <a:gd name="connsiteY0" fmla="*/ 500063 h 510540"/>
                <a:gd name="connsiteX1" fmla="*/ 3255 w 613421"/>
                <a:gd name="connsiteY1" fmla="*/ 266700 h 510540"/>
                <a:gd name="connsiteX2" fmla="*/ 308055 w 613421"/>
                <a:gd name="connsiteY2" fmla="*/ 0 h 510540"/>
                <a:gd name="connsiteX3" fmla="*/ 612855 w 613421"/>
                <a:gd name="connsiteY3" fmla="*/ 266700 h 510540"/>
                <a:gd name="connsiteX4" fmla="*/ 547133 w 613421"/>
                <a:gd name="connsiteY4" fmla="*/ 510540 h 510540"/>
                <a:gd name="connsiteX0" fmla="*/ 163791 w 590601"/>
                <a:gd name="connsiteY0" fmla="*/ 500742 h 511219"/>
                <a:gd name="connsiteX1" fmla="*/ 4248 w 590601"/>
                <a:gd name="connsiteY1" fmla="*/ 200704 h 511219"/>
                <a:gd name="connsiteX2" fmla="*/ 285235 w 590601"/>
                <a:gd name="connsiteY2" fmla="*/ 679 h 511219"/>
                <a:gd name="connsiteX3" fmla="*/ 590035 w 590601"/>
                <a:gd name="connsiteY3" fmla="*/ 267379 h 511219"/>
                <a:gd name="connsiteX4" fmla="*/ 524313 w 590601"/>
                <a:gd name="connsiteY4" fmla="*/ 511219 h 511219"/>
                <a:gd name="connsiteX0" fmla="*/ 166049 w 592859"/>
                <a:gd name="connsiteY0" fmla="*/ 500314 h 510791"/>
                <a:gd name="connsiteX1" fmla="*/ 4124 w 592859"/>
                <a:gd name="connsiteY1" fmla="*/ 224088 h 510791"/>
                <a:gd name="connsiteX2" fmla="*/ 287493 w 592859"/>
                <a:gd name="connsiteY2" fmla="*/ 251 h 510791"/>
                <a:gd name="connsiteX3" fmla="*/ 592293 w 592859"/>
                <a:gd name="connsiteY3" fmla="*/ 266951 h 510791"/>
                <a:gd name="connsiteX4" fmla="*/ 526571 w 592859"/>
                <a:gd name="connsiteY4" fmla="*/ 510791 h 510791"/>
                <a:gd name="connsiteX0" fmla="*/ 166292 w 593102"/>
                <a:gd name="connsiteY0" fmla="*/ 471784 h 482261"/>
                <a:gd name="connsiteX1" fmla="*/ 4367 w 593102"/>
                <a:gd name="connsiteY1" fmla="*/ 195558 h 482261"/>
                <a:gd name="connsiteX2" fmla="*/ 292498 w 593102"/>
                <a:gd name="connsiteY2" fmla="*/ 296 h 482261"/>
                <a:gd name="connsiteX3" fmla="*/ 592536 w 593102"/>
                <a:gd name="connsiteY3" fmla="*/ 238421 h 482261"/>
                <a:gd name="connsiteX4" fmla="*/ 526814 w 593102"/>
                <a:gd name="connsiteY4" fmla="*/ 482261 h 482261"/>
                <a:gd name="connsiteX0" fmla="*/ 166292 w 593102"/>
                <a:gd name="connsiteY0" fmla="*/ 471659 h 482136"/>
                <a:gd name="connsiteX1" fmla="*/ 4367 w 593102"/>
                <a:gd name="connsiteY1" fmla="*/ 195433 h 482136"/>
                <a:gd name="connsiteX2" fmla="*/ 292498 w 593102"/>
                <a:gd name="connsiteY2" fmla="*/ 171 h 482136"/>
                <a:gd name="connsiteX3" fmla="*/ 592536 w 593102"/>
                <a:gd name="connsiteY3" fmla="*/ 238296 h 482136"/>
                <a:gd name="connsiteX4" fmla="*/ 526814 w 593102"/>
                <a:gd name="connsiteY4" fmla="*/ 482136 h 482136"/>
                <a:gd name="connsiteX0" fmla="*/ 166292 w 592536"/>
                <a:gd name="connsiteY0" fmla="*/ 471659 h 471659"/>
                <a:gd name="connsiteX1" fmla="*/ 4367 w 592536"/>
                <a:gd name="connsiteY1" fmla="*/ 195433 h 471659"/>
                <a:gd name="connsiteX2" fmla="*/ 292498 w 592536"/>
                <a:gd name="connsiteY2" fmla="*/ 171 h 471659"/>
                <a:gd name="connsiteX3" fmla="*/ 592536 w 592536"/>
                <a:gd name="connsiteY3" fmla="*/ 238296 h 471659"/>
                <a:gd name="connsiteX4" fmla="*/ 467282 w 592536"/>
                <a:gd name="connsiteY4" fmla="*/ 453561 h 471659"/>
                <a:gd name="connsiteX0" fmla="*/ 164667 w 590911"/>
                <a:gd name="connsiteY0" fmla="*/ 476413 h 476413"/>
                <a:gd name="connsiteX1" fmla="*/ 2742 w 590911"/>
                <a:gd name="connsiteY1" fmla="*/ 200187 h 476413"/>
                <a:gd name="connsiteX2" fmla="*/ 257535 w 590911"/>
                <a:gd name="connsiteY2" fmla="*/ 162 h 476413"/>
                <a:gd name="connsiteX3" fmla="*/ 590911 w 590911"/>
                <a:gd name="connsiteY3" fmla="*/ 243050 h 476413"/>
                <a:gd name="connsiteX4" fmla="*/ 465657 w 590911"/>
                <a:gd name="connsiteY4" fmla="*/ 458315 h 476413"/>
                <a:gd name="connsiteX0" fmla="*/ 164667 w 590911"/>
                <a:gd name="connsiteY0" fmla="*/ 476413 h 476413"/>
                <a:gd name="connsiteX1" fmla="*/ 2742 w 590911"/>
                <a:gd name="connsiteY1" fmla="*/ 200187 h 476413"/>
                <a:gd name="connsiteX2" fmla="*/ 257535 w 590911"/>
                <a:gd name="connsiteY2" fmla="*/ 162 h 476413"/>
                <a:gd name="connsiteX3" fmla="*/ 590911 w 590911"/>
                <a:gd name="connsiteY3" fmla="*/ 243050 h 476413"/>
                <a:gd name="connsiteX4" fmla="*/ 465657 w 590911"/>
                <a:gd name="connsiteY4" fmla="*/ 458315 h 476413"/>
                <a:gd name="connsiteX0" fmla="*/ 163988 w 590232"/>
                <a:gd name="connsiteY0" fmla="*/ 476413 h 476413"/>
                <a:gd name="connsiteX1" fmla="*/ 2063 w 590232"/>
                <a:gd name="connsiteY1" fmla="*/ 200187 h 476413"/>
                <a:gd name="connsiteX2" fmla="*/ 256856 w 590232"/>
                <a:gd name="connsiteY2" fmla="*/ 162 h 476413"/>
                <a:gd name="connsiteX3" fmla="*/ 590232 w 590232"/>
                <a:gd name="connsiteY3" fmla="*/ 243050 h 476413"/>
                <a:gd name="connsiteX4" fmla="*/ 464978 w 590232"/>
                <a:gd name="connsiteY4" fmla="*/ 458315 h 476413"/>
                <a:gd name="connsiteX0" fmla="*/ 163209 w 589453"/>
                <a:gd name="connsiteY0" fmla="*/ 476413 h 476413"/>
                <a:gd name="connsiteX1" fmla="*/ 1284 w 589453"/>
                <a:gd name="connsiteY1" fmla="*/ 200187 h 476413"/>
                <a:gd name="connsiteX2" fmla="*/ 256077 w 589453"/>
                <a:gd name="connsiteY2" fmla="*/ 162 h 476413"/>
                <a:gd name="connsiteX3" fmla="*/ 589453 w 589453"/>
                <a:gd name="connsiteY3" fmla="*/ 243050 h 476413"/>
                <a:gd name="connsiteX4" fmla="*/ 464199 w 589453"/>
                <a:gd name="connsiteY4" fmla="*/ 458315 h 476413"/>
                <a:gd name="connsiteX0" fmla="*/ 115910 w 542154"/>
                <a:gd name="connsiteY0" fmla="*/ 476775 h 476775"/>
                <a:gd name="connsiteX1" fmla="*/ 1941 w 542154"/>
                <a:gd name="connsiteY1" fmla="*/ 187496 h 476775"/>
                <a:gd name="connsiteX2" fmla="*/ 208778 w 542154"/>
                <a:gd name="connsiteY2" fmla="*/ 524 h 476775"/>
                <a:gd name="connsiteX3" fmla="*/ 542154 w 542154"/>
                <a:gd name="connsiteY3" fmla="*/ 243412 h 476775"/>
                <a:gd name="connsiteX4" fmla="*/ 416900 w 542154"/>
                <a:gd name="connsiteY4" fmla="*/ 458677 h 476775"/>
                <a:gd name="connsiteX0" fmla="*/ 119042 w 545286"/>
                <a:gd name="connsiteY0" fmla="*/ 454027 h 454027"/>
                <a:gd name="connsiteX1" fmla="*/ 5073 w 545286"/>
                <a:gd name="connsiteY1" fmla="*/ 164748 h 454027"/>
                <a:gd name="connsiteX2" fmla="*/ 285688 w 545286"/>
                <a:gd name="connsiteY2" fmla="*/ 618 h 454027"/>
                <a:gd name="connsiteX3" fmla="*/ 545286 w 545286"/>
                <a:gd name="connsiteY3" fmla="*/ 220664 h 454027"/>
                <a:gd name="connsiteX4" fmla="*/ 420032 w 545286"/>
                <a:gd name="connsiteY4" fmla="*/ 435929 h 45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86" h="454027">
                  <a:moveTo>
                    <a:pt x="119042" y="454027"/>
                  </a:moveTo>
                  <a:cubicBezTo>
                    <a:pt x="70335" y="365128"/>
                    <a:pt x="-22701" y="240316"/>
                    <a:pt x="5073" y="164748"/>
                  </a:cubicBezTo>
                  <a:cubicBezTo>
                    <a:pt x="32847" y="89180"/>
                    <a:pt x="195653" y="-8701"/>
                    <a:pt x="285688" y="618"/>
                  </a:cubicBezTo>
                  <a:cubicBezTo>
                    <a:pt x="375723" y="9937"/>
                    <a:pt x="545286" y="73370"/>
                    <a:pt x="545286" y="220664"/>
                  </a:cubicBezTo>
                  <a:cubicBezTo>
                    <a:pt x="545286" y="367958"/>
                    <a:pt x="506453" y="387351"/>
                    <a:pt x="420032" y="435929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1"/>
            <p:cNvSpPr/>
            <p:nvPr/>
          </p:nvSpPr>
          <p:spPr>
            <a:xfrm>
              <a:off x="7696200" y="1619766"/>
              <a:ext cx="351988" cy="331326"/>
            </a:xfrm>
            <a:custGeom>
              <a:avLst/>
              <a:gdLst>
                <a:gd name="connsiteX0" fmla="*/ 0 w 609600"/>
                <a:gd name="connsiteY0" fmla="*/ 266700 h 533400"/>
                <a:gd name="connsiteX1" fmla="*/ 304800 w 609600"/>
                <a:gd name="connsiteY1" fmla="*/ 0 h 533400"/>
                <a:gd name="connsiteX2" fmla="*/ 609600 w 609600"/>
                <a:gd name="connsiteY2" fmla="*/ 266700 h 533400"/>
                <a:gd name="connsiteX3" fmla="*/ 304800 w 609600"/>
                <a:gd name="connsiteY3" fmla="*/ 533400 h 533400"/>
                <a:gd name="connsiteX4" fmla="*/ 0 w 609600"/>
                <a:gd name="connsiteY4" fmla="*/ 266700 h 533400"/>
                <a:gd name="connsiteX0" fmla="*/ 304800 w 609600"/>
                <a:gd name="connsiteY0" fmla="*/ 533400 h 624840"/>
                <a:gd name="connsiteX1" fmla="*/ 0 w 609600"/>
                <a:gd name="connsiteY1" fmla="*/ 266700 h 624840"/>
                <a:gd name="connsiteX2" fmla="*/ 304800 w 609600"/>
                <a:gd name="connsiteY2" fmla="*/ 0 h 624840"/>
                <a:gd name="connsiteX3" fmla="*/ 609600 w 609600"/>
                <a:gd name="connsiteY3" fmla="*/ 266700 h 624840"/>
                <a:gd name="connsiteX4" fmla="*/ 396240 w 609600"/>
                <a:gd name="connsiteY4" fmla="*/ 624840 h 624840"/>
                <a:gd name="connsiteX0" fmla="*/ 304800 w 610166"/>
                <a:gd name="connsiteY0" fmla="*/ 533400 h 533400"/>
                <a:gd name="connsiteX1" fmla="*/ 0 w 610166"/>
                <a:gd name="connsiteY1" fmla="*/ 266700 h 533400"/>
                <a:gd name="connsiteX2" fmla="*/ 304800 w 610166"/>
                <a:gd name="connsiteY2" fmla="*/ 0 h 533400"/>
                <a:gd name="connsiteX3" fmla="*/ 609600 w 610166"/>
                <a:gd name="connsiteY3" fmla="*/ 266700 h 533400"/>
                <a:gd name="connsiteX4" fmla="*/ 543878 w 610166"/>
                <a:gd name="connsiteY4" fmla="*/ 510540 h 533400"/>
                <a:gd name="connsiteX0" fmla="*/ 188494 w 615304"/>
                <a:gd name="connsiteY0" fmla="*/ 500063 h 510540"/>
                <a:gd name="connsiteX1" fmla="*/ 5138 w 615304"/>
                <a:gd name="connsiteY1" fmla="*/ 266700 h 510540"/>
                <a:gd name="connsiteX2" fmla="*/ 309938 w 615304"/>
                <a:gd name="connsiteY2" fmla="*/ 0 h 510540"/>
                <a:gd name="connsiteX3" fmla="*/ 614738 w 615304"/>
                <a:gd name="connsiteY3" fmla="*/ 266700 h 510540"/>
                <a:gd name="connsiteX4" fmla="*/ 549016 w 615304"/>
                <a:gd name="connsiteY4" fmla="*/ 510540 h 510540"/>
                <a:gd name="connsiteX0" fmla="*/ 186611 w 613421"/>
                <a:gd name="connsiteY0" fmla="*/ 500063 h 510540"/>
                <a:gd name="connsiteX1" fmla="*/ 3255 w 613421"/>
                <a:gd name="connsiteY1" fmla="*/ 266700 h 510540"/>
                <a:gd name="connsiteX2" fmla="*/ 308055 w 613421"/>
                <a:gd name="connsiteY2" fmla="*/ 0 h 510540"/>
                <a:gd name="connsiteX3" fmla="*/ 612855 w 613421"/>
                <a:gd name="connsiteY3" fmla="*/ 266700 h 510540"/>
                <a:gd name="connsiteX4" fmla="*/ 547133 w 613421"/>
                <a:gd name="connsiteY4" fmla="*/ 510540 h 510540"/>
                <a:gd name="connsiteX0" fmla="*/ 163791 w 590601"/>
                <a:gd name="connsiteY0" fmla="*/ 500742 h 511219"/>
                <a:gd name="connsiteX1" fmla="*/ 4248 w 590601"/>
                <a:gd name="connsiteY1" fmla="*/ 200704 h 511219"/>
                <a:gd name="connsiteX2" fmla="*/ 285235 w 590601"/>
                <a:gd name="connsiteY2" fmla="*/ 679 h 511219"/>
                <a:gd name="connsiteX3" fmla="*/ 590035 w 590601"/>
                <a:gd name="connsiteY3" fmla="*/ 267379 h 511219"/>
                <a:gd name="connsiteX4" fmla="*/ 524313 w 590601"/>
                <a:gd name="connsiteY4" fmla="*/ 511219 h 511219"/>
                <a:gd name="connsiteX0" fmla="*/ 166049 w 592859"/>
                <a:gd name="connsiteY0" fmla="*/ 500314 h 510791"/>
                <a:gd name="connsiteX1" fmla="*/ 4124 w 592859"/>
                <a:gd name="connsiteY1" fmla="*/ 224088 h 510791"/>
                <a:gd name="connsiteX2" fmla="*/ 287493 w 592859"/>
                <a:gd name="connsiteY2" fmla="*/ 251 h 510791"/>
                <a:gd name="connsiteX3" fmla="*/ 592293 w 592859"/>
                <a:gd name="connsiteY3" fmla="*/ 266951 h 510791"/>
                <a:gd name="connsiteX4" fmla="*/ 526571 w 592859"/>
                <a:gd name="connsiteY4" fmla="*/ 510791 h 510791"/>
                <a:gd name="connsiteX0" fmla="*/ 166292 w 593102"/>
                <a:gd name="connsiteY0" fmla="*/ 471784 h 482261"/>
                <a:gd name="connsiteX1" fmla="*/ 4367 w 593102"/>
                <a:gd name="connsiteY1" fmla="*/ 195558 h 482261"/>
                <a:gd name="connsiteX2" fmla="*/ 292498 w 593102"/>
                <a:gd name="connsiteY2" fmla="*/ 296 h 482261"/>
                <a:gd name="connsiteX3" fmla="*/ 592536 w 593102"/>
                <a:gd name="connsiteY3" fmla="*/ 238421 h 482261"/>
                <a:gd name="connsiteX4" fmla="*/ 526814 w 593102"/>
                <a:gd name="connsiteY4" fmla="*/ 482261 h 482261"/>
                <a:gd name="connsiteX0" fmla="*/ 166292 w 593102"/>
                <a:gd name="connsiteY0" fmla="*/ 471659 h 482136"/>
                <a:gd name="connsiteX1" fmla="*/ 4367 w 593102"/>
                <a:gd name="connsiteY1" fmla="*/ 195433 h 482136"/>
                <a:gd name="connsiteX2" fmla="*/ 292498 w 593102"/>
                <a:gd name="connsiteY2" fmla="*/ 171 h 482136"/>
                <a:gd name="connsiteX3" fmla="*/ 592536 w 593102"/>
                <a:gd name="connsiteY3" fmla="*/ 238296 h 482136"/>
                <a:gd name="connsiteX4" fmla="*/ 526814 w 593102"/>
                <a:gd name="connsiteY4" fmla="*/ 482136 h 482136"/>
                <a:gd name="connsiteX0" fmla="*/ 166292 w 592536"/>
                <a:gd name="connsiteY0" fmla="*/ 471659 h 471659"/>
                <a:gd name="connsiteX1" fmla="*/ 4367 w 592536"/>
                <a:gd name="connsiteY1" fmla="*/ 195433 h 471659"/>
                <a:gd name="connsiteX2" fmla="*/ 292498 w 592536"/>
                <a:gd name="connsiteY2" fmla="*/ 171 h 471659"/>
                <a:gd name="connsiteX3" fmla="*/ 592536 w 592536"/>
                <a:gd name="connsiteY3" fmla="*/ 238296 h 471659"/>
                <a:gd name="connsiteX4" fmla="*/ 467282 w 592536"/>
                <a:gd name="connsiteY4" fmla="*/ 453561 h 471659"/>
                <a:gd name="connsiteX0" fmla="*/ 164667 w 590911"/>
                <a:gd name="connsiteY0" fmla="*/ 476413 h 476413"/>
                <a:gd name="connsiteX1" fmla="*/ 2742 w 590911"/>
                <a:gd name="connsiteY1" fmla="*/ 200187 h 476413"/>
                <a:gd name="connsiteX2" fmla="*/ 257535 w 590911"/>
                <a:gd name="connsiteY2" fmla="*/ 162 h 476413"/>
                <a:gd name="connsiteX3" fmla="*/ 590911 w 590911"/>
                <a:gd name="connsiteY3" fmla="*/ 243050 h 476413"/>
                <a:gd name="connsiteX4" fmla="*/ 465657 w 590911"/>
                <a:gd name="connsiteY4" fmla="*/ 458315 h 476413"/>
                <a:gd name="connsiteX0" fmla="*/ 164667 w 590911"/>
                <a:gd name="connsiteY0" fmla="*/ 476413 h 476413"/>
                <a:gd name="connsiteX1" fmla="*/ 2742 w 590911"/>
                <a:gd name="connsiteY1" fmla="*/ 200187 h 476413"/>
                <a:gd name="connsiteX2" fmla="*/ 257535 w 590911"/>
                <a:gd name="connsiteY2" fmla="*/ 162 h 476413"/>
                <a:gd name="connsiteX3" fmla="*/ 590911 w 590911"/>
                <a:gd name="connsiteY3" fmla="*/ 243050 h 476413"/>
                <a:gd name="connsiteX4" fmla="*/ 465657 w 590911"/>
                <a:gd name="connsiteY4" fmla="*/ 458315 h 476413"/>
                <a:gd name="connsiteX0" fmla="*/ 163988 w 590232"/>
                <a:gd name="connsiteY0" fmla="*/ 476413 h 476413"/>
                <a:gd name="connsiteX1" fmla="*/ 2063 w 590232"/>
                <a:gd name="connsiteY1" fmla="*/ 200187 h 476413"/>
                <a:gd name="connsiteX2" fmla="*/ 256856 w 590232"/>
                <a:gd name="connsiteY2" fmla="*/ 162 h 476413"/>
                <a:gd name="connsiteX3" fmla="*/ 590232 w 590232"/>
                <a:gd name="connsiteY3" fmla="*/ 243050 h 476413"/>
                <a:gd name="connsiteX4" fmla="*/ 464978 w 590232"/>
                <a:gd name="connsiteY4" fmla="*/ 458315 h 476413"/>
                <a:gd name="connsiteX0" fmla="*/ 163209 w 589453"/>
                <a:gd name="connsiteY0" fmla="*/ 476413 h 476413"/>
                <a:gd name="connsiteX1" fmla="*/ 1284 w 589453"/>
                <a:gd name="connsiteY1" fmla="*/ 200187 h 476413"/>
                <a:gd name="connsiteX2" fmla="*/ 256077 w 589453"/>
                <a:gd name="connsiteY2" fmla="*/ 162 h 476413"/>
                <a:gd name="connsiteX3" fmla="*/ 589453 w 589453"/>
                <a:gd name="connsiteY3" fmla="*/ 243050 h 476413"/>
                <a:gd name="connsiteX4" fmla="*/ 464199 w 589453"/>
                <a:gd name="connsiteY4" fmla="*/ 458315 h 476413"/>
                <a:gd name="connsiteX0" fmla="*/ 115910 w 542154"/>
                <a:gd name="connsiteY0" fmla="*/ 476775 h 476775"/>
                <a:gd name="connsiteX1" fmla="*/ 1941 w 542154"/>
                <a:gd name="connsiteY1" fmla="*/ 187496 h 476775"/>
                <a:gd name="connsiteX2" fmla="*/ 208778 w 542154"/>
                <a:gd name="connsiteY2" fmla="*/ 524 h 476775"/>
                <a:gd name="connsiteX3" fmla="*/ 542154 w 542154"/>
                <a:gd name="connsiteY3" fmla="*/ 243412 h 476775"/>
                <a:gd name="connsiteX4" fmla="*/ 416900 w 542154"/>
                <a:gd name="connsiteY4" fmla="*/ 458677 h 476775"/>
                <a:gd name="connsiteX0" fmla="*/ 119042 w 545286"/>
                <a:gd name="connsiteY0" fmla="*/ 454027 h 454027"/>
                <a:gd name="connsiteX1" fmla="*/ 5073 w 545286"/>
                <a:gd name="connsiteY1" fmla="*/ 164748 h 454027"/>
                <a:gd name="connsiteX2" fmla="*/ 285688 w 545286"/>
                <a:gd name="connsiteY2" fmla="*/ 618 h 454027"/>
                <a:gd name="connsiteX3" fmla="*/ 545286 w 545286"/>
                <a:gd name="connsiteY3" fmla="*/ 220664 h 454027"/>
                <a:gd name="connsiteX4" fmla="*/ 420032 w 545286"/>
                <a:gd name="connsiteY4" fmla="*/ 435929 h 45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86" h="454027">
                  <a:moveTo>
                    <a:pt x="119042" y="454027"/>
                  </a:moveTo>
                  <a:cubicBezTo>
                    <a:pt x="70335" y="365128"/>
                    <a:pt x="-22701" y="240316"/>
                    <a:pt x="5073" y="164748"/>
                  </a:cubicBezTo>
                  <a:cubicBezTo>
                    <a:pt x="32847" y="89180"/>
                    <a:pt x="195653" y="-8701"/>
                    <a:pt x="285688" y="618"/>
                  </a:cubicBezTo>
                  <a:cubicBezTo>
                    <a:pt x="375723" y="9937"/>
                    <a:pt x="545286" y="73370"/>
                    <a:pt x="545286" y="220664"/>
                  </a:cubicBezTo>
                  <a:cubicBezTo>
                    <a:pt x="545286" y="367958"/>
                    <a:pt x="506453" y="387351"/>
                    <a:pt x="420032" y="435929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40731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Triangle Data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For our demo, we have only 3 vertices and a single triangle: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But now we must send this information to the GPU.</a:t>
            </a:r>
          </a:p>
          <a:p>
            <a:pPr marL="0" indent="0">
              <a:buNone/>
            </a:pPr>
            <a:r>
              <a:rPr lang="en-US" sz="2000" b="1" dirty="0" smtClean="0"/>
              <a:t>Problems:</a:t>
            </a:r>
          </a:p>
          <a:p>
            <a:pPr marL="461963" lvl="1" indent="-188913"/>
            <a:r>
              <a:rPr lang="en-US" sz="1800" dirty="0" smtClean="0"/>
              <a:t>We can only send raw bytes to the GPU. This means we </a:t>
            </a:r>
            <a:r>
              <a:rPr lang="en-US" sz="1800" dirty="0" smtClean="0"/>
              <a:t>must also include </a:t>
            </a:r>
            <a:r>
              <a:rPr lang="en-US" sz="1800" dirty="0"/>
              <a:t>the right </a:t>
            </a:r>
            <a:r>
              <a:rPr lang="en-US" sz="1800" u="sng" dirty="0"/>
              <a:t>data </a:t>
            </a:r>
            <a:r>
              <a:rPr lang="en-US" sz="1800" u="sng" dirty="0" smtClean="0"/>
              <a:t>format information</a:t>
            </a:r>
            <a:r>
              <a:rPr lang="en-US" sz="1800" dirty="0" smtClean="0"/>
              <a:t> to allow the GPU to parse the raw bytes into the right values.</a:t>
            </a:r>
          </a:p>
          <a:p>
            <a:pPr marL="461963" lvl="1" indent="-188913"/>
            <a:r>
              <a:rPr lang="en-US" sz="1800" dirty="0" smtClean="0"/>
              <a:t>We will also need to keep a handle pointing to the remote data.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114228" y="1600200"/>
            <a:ext cx="349807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2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(0.0f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 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Top 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2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(0.5f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-0.5f, 0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Bottom right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2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(-0.5f, -0.5f, 0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Bottom left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4924228" y="1615621"/>
            <a:ext cx="162897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1, 2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200" dirty="0"/>
          </a:p>
        </p:txBody>
      </p:sp>
      <p:grpSp>
        <p:nvGrpSpPr>
          <p:cNvPr id="9" name="Group 8"/>
          <p:cNvGrpSpPr/>
          <p:nvPr/>
        </p:nvGrpSpPr>
        <p:grpSpPr>
          <a:xfrm>
            <a:off x="6745642" y="1295400"/>
            <a:ext cx="2169758" cy="1683710"/>
            <a:chOff x="6858000" y="1295400"/>
            <a:chExt cx="2169758" cy="168371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1295400"/>
              <a:ext cx="2169758" cy="1683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Oval 21"/>
            <p:cNvSpPr/>
            <p:nvPr/>
          </p:nvSpPr>
          <p:spPr>
            <a:xfrm>
              <a:off x="7766885" y="2137255"/>
              <a:ext cx="351988" cy="331326"/>
            </a:xfrm>
            <a:custGeom>
              <a:avLst/>
              <a:gdLst>
                <a:gd name="connsiteX0" fmla="*/ 0 w 609600"/>
                <a:gd name="connsiteY0" fmla="*/ 266700 h 533400"/>
                <a:gd name="connsiteX1" fmla="*/ 304800 w 609600"/>
                <a:gd name="connsiteY1" fmla="*/ 0 h 533400"/>
                <a:gd name="connsiteX2" fmla="*/ 609600 w 609600"/>
                <a:gd name="connsiteY2" fmla="*/ 266700 h 533400"/>
                <a:gd name="connsiteX3" fmla="*/ 304800 w 609600"/>
                <a:gd name="connsiteY3" fmla="*/ 533400 h 533400"/>
                <a:gd name="connsiteX4" fmla="*/ 0 w 609600"/>
                <a:gd name="connsiteY4" fmla="*/ 266700 h 533400"/>
                <a:gd name="connsiteX0" fmla="*/ 304800 w 609600"/>
                <a:gd name="connsiteY0" fmla="*/ 533400 h 624840"/>
                <a:gd name="connsiteX1" fmla="*/ 0 w 609600"/>
                <a:gd name="connsiteY1" fmla="*/ 266700 h 624840"/>
                <a:gd name="connsiteX2" fmla="*/ 304800 w 609600"/>
                <a:gd name="connsiteY2" fmla="*/ 0 h 624840"/>
                <a:gd name="connsiteX3" fmla="*/ 609600 w 609600"/>
                <a:gd name="connsiteY3" fmla="*/ 266700 h 624840"/>
                <a:gd name="connsiteX4" fmla="*/ 396240 w 609600"/>
                <a:gd name="connsiteY4" fmla="*/ 624840 h 624840"/>
                <a:gd name="connsiteX0" fmla="*/ 304800 w 610166"/>
                <a:gd name="connsiteY0" fmla="*/ 533400 h 533400"/>
                <a:gd name="connsiteX1" fmla="*/ 0 w 610166"/>
                <a:gd name="connsiteY1" fmla="*/ 266700 h 533400"/>
                <a:gd name="connsiteX2" fmla="*/ 304800 w 610166"/>
                <a:gd name="connsiteY2" fmla="*/ 0 h 533400"/>
                <a:gd name="connsiteX3" fmla="*/ 609600 w 610166"/>
                <a:gd name="connsiteY3" fmla="*/ 266700 h 533400"/>
                <a:gd name="connsiteX4" fmla="*/ 543878 w 610166"/>
                <a:gd name="connsiteY4" fmla="*/ 510540 h 533400"/>
                <a:gd name="connsiteX0" fmla="*/ 188494 w 615304"/>
                <a:gd name="connsiteY0" fmla="*/ 500063 h 510540"/>
                <a:gd name="connsiteX1" fmla="*/ 5138 w 615304"/>
                <a:gd name="connsiteY1" fmla="*/ 266700 h 510540"/>
                <a:gd name="connsiteX2" fmla="*/ 309938 w 615304"/>
                <a:gd name="connsiteY2" fmla="*/ 0 h 510540"/>
                <a:gd name="connsiteX3" fmla="*/ 614738 w 615304"/>
                <a:gd name="connsiteY3" fmla="*/ 266700 h 510540"/>
                <a:gd name="connsiteX4" fmla="*/ 549016 w 615304"/>
                <a:gd name="connsiteY4" fmla="*/ 510540 h 510540"/>
                <a:gd name="connsiteX0" fmla="*/ 186611 w 613421"/>
                <a:gd name="connsiteY0" fmla="*/ 500063 h 510540"/>
                <a:gd name="connsiteX1" fmla="*/ 3255 w 613421"/>
                <a:gd name="connsiteY1" fmla="*/ 266700 h 510540"/>
                <a:gd name="connsiteX2" fmla="*/ 308055 w 613421"/>
                <a:gd name="connsiteY2" fmla="*/ 0 h 510540"/>
                <a:gd name="connsiteX3" fmla="*/ 612855 w 613421"/>
                <a:gd name="connsiteY3" fmla="*/ 266700 h 510540"/>
                <a:gd name="connsiteX4" fmla="*/ 547133 w 613421"/>
                <a:gd name="connsiteY4" fmla="*/ 510540 h 510540"/>
                <a:gd name="connsiteX0" fmla="*/ 163791 w 590601"/>
                <a:gd name="connsiteY0" fmla="*/ 500742 h 511219"/>
                <a:gd name="connsiteX1" fmla="*/ 4248 w 590601"/>
                <a:gd name="connsiteY1" fmla="*/ 200704 h 511219"/>
                <a:gd name="connsiteX2" fmla="*/ 285235 w 590601"/>
                <a:gd name="connsiteY2" fmla="*/ 679 h 511219"/>
                <a:gd name="connsiteX3" fmla="*/ 590035 w 590601"/>
                <a:gd name="connsiteY3" fmla="*/ 267379 h 511219"/>
                <a:gd name="connsiteX4" fmla="*/ 524313 w 590601"/>
                <a:gd name="connsiteY4" fmla="*/ 511219 h 511219"/>
                <a:gd name="connsiteX0" fmla="*/ 166049 w 592859"/>
                <a:gd name="connsiteY0" fmla="*/ 500314 h 510791"/>
                <a:gd name="connsiteX1" fmla="*/ 4124 w 592859"/>
                <a:gd name="connsiteY1" fmla="*/ 224088 h 510791"/>
                <a:gd name="connsiteX2" fmla="*/ 287493 w 592859"/>
                <a:gd name="connsiteY2" fmla="*/ 251 h 510791"/>
                <a:gd name="connsiteX3" fmla="*/ 592293 w 592859"/>
                <a:gd name="connsiteY3" fmla="*/ 266951 h 510791"/>
                <a:gd name="connsiteX4" fmla="*/ 526571 w 592859"/>
                <a:gd name="connsiteY4" fmla="*/ 510791 h 510791"/>
                <a:gd name="connsiteX0" fmla="*/ 166292 w 593102"/>
                <a:gd name="connsiteY0" fmla="*/ 471784 h 482261"/>
                <a:gd name="connsiteX1" fmla="*/ 4367 w 593102"/>
                <a:gd name="connsiteY1" fmla="*/ 195558 h 482261"/>
                <a:gd name="connsiteX2" fmla="*/ 292498 w 593102"/>
                <a:gd name="connsiteY2" fmla="*/ 296 h 482261"/>
                <a:gd name="connsiteX3" fmla="*/ 592536 w 593102"/>
                <a:gd name="connsiteY3" fmla="*/ 238421 h 482261"/>
                <a:gd name="connsiteX4" fmla="*/ 526814 w 593102"/>
                <a:gd name="connsiteY4" fmla="*/ 482261 h 482261"/>
                <a:gd name="connsiteX0" fmla="*/ 166292 w 593102"/>
                <a:gd name="connsiteY0" fmla="*/ 471659 h 482136"/>
                <a:gd name="connsiteX1" fmla="*/ 4367 w 593102"/>
                <a:gd name="connsiteY1" fmla="*/ 195433 h 482136"/>
                <a:gd name="connsiteX2" fmla="*/ 292498 w 593102"/>
                <a:gd name="connsiteY2" fmla="*/ 171 h 482136"/>
                <a:gd name="connsiteX3" fmla="*/ 592536 w 593102"/>
                <a:gd name="connsiteY3" fmla="*/ 238296 h 482136"/>
                <a:gd name="connsiteX4" fmla="*/ 526814 w 593102"/>
                <a:gd name="connsiteY4" fmla="*/ 482136 h 482136"/>
                <a:gd name="connsiteX0" fmla="*/ 166292 w 592536"/>
                <a:gd name="connsiteY0" fmla="*/ 471659 h 471659"/>
                <a:gd name="connsiteX1" fmla="*/ 4367 w 592536"/>
                <a:gd name="connsiteY1" fmla="*/ 195433 h 471659"/>
                <a:gd name="connsiteX2" fmla="*/ 292498 w 592536"/>
                <a:gd name="connsiteY2" fmla="*/ 171 h 471659"/>
                <a:gd name="connsiteX3" fmla="*/ 592536 w 592536"/>
                <a:gd name="connsiteY3" fmla="*/ 238296 h 471659"/>
                <a:gd name="connsiteX4" fmla="*/ 467282 w 592536"/>
                <a:gd name="connsiteY4" fmla="*/ 453561 h 471659"/>
                <a:gd name="connsiteX0" fmla="*/ 164667 w 590911"/>
                <a:gd name="connsiteY0" fmla="*/ 476413 h 476413"/>
                <a:gd name="connsiteX1" fmla="*/ 2742 w 590911"/>
                <a:gd name="connsiteY1" fmla="*/ 200187 h 476413"/>
                <a:gd name="connsiteX2" fmla="*/ 257535 w 590911"/>
                <a:gd name="connsiteY2" fmla="*/ 162 h 476413"/>
                <a:gd name="connsiteX3" fmla="*/ 590911 w 590911"/>
                <a:gd name="connsiteY3" fmla="*/ 243050 h 476413"/>
                <a:gd name="connsiteX4" fmla="*/ 465657 w 590911"/>
                <a:gd name="connsiteY4" fmla="*/ 458315 h 476413"/>
                <a:gd name="connsiteX0" fmla="*/ 164667 w 590911"/>
                <a:gd name="connsiteY0" fmla="*/ 476413 h 476413"/>
                <a:gd name="connsiteX1" fmla="*/ 2742 w 590911"/>
                <a:gd name="connsiteY1" fmla="*/ 200187 h 476413"/>
                <a:gd name="connsiteX2" fmla="*/ 257535 w 590911"/>
                <a:gd name="connsiteY2" fmla="*/ 162 h 476413"/>
                <a:gd name="connsiteX3" fmla="*/ 590911 w 590911"/>
                <a:gd name="connsiteY3" fmla="*/ 243050 h 476413"/>
                <a:gd name="connsiteX4" fmla="*/ 465657 w 590911"/>
                <a:gd name="connsiteY4" fmla="*/ 458315 h 476413"/>
                <a:gd name="connsiteX0" fmla="*/ 163988 w 590232"/>
                <a:gd name="connsiteY0" fmla="*/ 476413 h 476413"/>
                <a:gd name="connsiteX1" fmla="*/ 2063 w 590232"/>
                <a:gd name="connsiteY1" fmla="*/ 200187 h 476413"/>
                <a:gd name="connsiteX2" fmla="*/ 256856 w 590232"/>
                <a:gd name="connsiteY2" fmla="*/ 162 h 476413"/>
                <a:gd name="connsiteX3" fmla="*/ 590232 w 590232"/>
                <a:gd name="connsiteY3" fmla="*/ 243050 h 476413"/>
                <a:gd name="connsiteX4" fmla="*/ 464978 w 590232"/>
                <a:gd name="connsiteY4" fmla="*/ 458315 h 476413"/>
                <a:gd name="connsiteX0" fmla="*/ 163209 w 589453"/>
                <a:gd name="connsiteY0" fmla="*/ 476413 h 476413"/>
                <a:gd name="connsiteX1" fmla="*/ 1284 w 589453"/>
                <a:gd name="connsiteY1" fmla="*/ 200187 h 476413"/>
                <a:gd name="connsiteX2" fmla="*/ 256077 w 589453"/>
                <a:gd name="connsiteY2" fmla="*/ 162 h 476413"/>
                <a:gd name="connsiteX3" fmla="*/ 589453 w 589453"/>
                <a:gd name="connsiteY3" fmla="*/ 243050 h 476413"/>
                <a:gd name="connsiteX4" fmla="*/ 464199 w 589453"/>
                <a:gd name="connsiteY4" fmla="*/ 458315 h 476413"/>
                <a:gd name="connsiteX0" fmla="*/ 115910 w 542154"/>
                <a:gd name="connsiteY0" fmla="*/ 476775 h 476775"/>
                <a:gd name="connsiteX1" fmla="*/ 1941 w 542154"/>
                <a:gd name="connsiteY1" fmla="*/ 187496 h 476775"/>
                <a:gd name="connsiteX2" fmla="*/ 208778 w 542154"/>
                <a:gd name="connsiteY2" fmla="*/ 524 h 476775"/>
                <a:gd name="connsiteX3" fmla="*/ 542154 w 542154"/>
                <a:gd name="connsiteY3" fmla="*/ 243412 h 476775"/>
                <a:gd name="connsiteX4" fmla="*/ 416900 w 542154"/>
                <a:gd name="connsiteY4" fmla="*/ 458677 h 476775"/>
                <a:gd name="connsiteX0" fmla="*/ 119042 w 545286"/>
                <a:gd name="connsiteY0" fmla="*/ 454027 h 454027"/>
                <a:gd name="connsiteX1" fmla="*/ 5073 w 545286"/>
                <a:gd name="connsiteY1" fmla="*/ 164748 h 454027"/>
                <a:gd name="connsiteX2" fmla="*/ 285688 w 545286"/>
                <a:gd name="connsiteY2" fmla="*/ 618 h 454027"/>
                <a:gd name="connsiteX3" fmla="*/ 545286 w 545286"/>
                <a:gd name="connsiteY3" fmla="*/ 220664 h 454027"/>
                <a:gd name="connsiteX4" fmla="*/ 420032 w 545286"/>
                <a:gd name="connsiteY4" fmla="*/ 435929 h 45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86" h="454027">
                  <a:moveTo>
                    <a:pt x="119042" y="454027"/>
                  </a:moveTo>
                  <a:cubicBezTo>
                    <a:pt x="70335" y="365128"/>
                    <a:pt x="-22701" y="240316"/>
                    <a:pt x="5073" y="164748"/>
                  </a:cubicBezTo>
                  <a:cubicBezTo>
                    <a:pt x="32847" y="89180"/>
                    <a:pt x="195653" y="-8701"/>
                    <a:pt x="285688" y="618"/>
                  </a:cubicBezTo>
                  <a:cubicBezTo>
                    <a:pt x="375723" y="9937"/>
                    <a:pt x="545286" y="73370"/>
                    <a:pt x="545286" y="220664"/>
                  </a:cubicBezTo>
                  <a:cubicBezTo>
                    <a:pt x="545286" y="367958"/>
                    <a:pt x="506453" y="387351"/>
                    <a:pt x="420032" y="435929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104900" y="4724400"/>
            <a:ext cx="5410200" cy="1169667"/>
            <a:chOff x="1104900" y="4724400"/>
            <a:chExt cx="5410200" cy="1169667"/>
          </a:xfrm>
        </p:grpSpPr>
        <p:sp>
          <p:nvSpPr>
            <p:cNvPr id="10" name="Rectangle 9"/>
            <p:cNvSpPr/>
            <p:nvPr/>
          </p:nvSpPr>
          <p:spPr>
            <a:xfrm>
              <a:off x="5181600" y="4724400"/>
              <a:ext cx="1333500" cy="116966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4900" y="4724400"/>
              <a:ext cx="2522220" cy="116966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12" name="AutoShape 9"/>
            <p:cNvSpPr>
              <a:spLocks noChangeArrowheads="1"/>
            </p:cNvSpPr>
            <p:nvPr/>
          </p:nvSpPr>
          <p:spPr bwMode="auto">
            <a:xfrm>
              <a:off x="5410200" y="5098493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3" name="Pentagon 12"/>
            <p:cNvSpPr/>
            <p:nvPr/>
          </p:nvSpPr>
          <p:spPr>
            <a:xfrm>
              <a:off x="3390900" y="5134010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14" name="Straight Connector 13"/>
            <p:cNvCxnSpPr>
              <a:stCxn id="13" idx="3"/>
              <a:endCxn id="12" idx="1"/>
            </p:cNvCxnSpPr>
            <p:nvPr/>
          </p:nvCxnSpPr>
          <p:spPr>
            <a:xfrm flipV="1">
              <a:off x="4721005" y="5236993"/>
              <a:ext cx="689195" cy="905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1196340" y="5114064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mpVertexBuffer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6" name="Straight Arrow Connector 15"/>
            <p:cNvCxnSpPr>
              <a:stCxn id="15" idx="3"/>
            </p:cNvCxnSpPr>
            <p:nvPr/>
          </p:nvCxnSpPr>
          <p:spPr>
            <a:xfrm>
              <a:off x="2415540" y="5232860"/>
              <a:ext cx="9753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utoShape 9"/>
            <p:cNvSpPr>
              <a:spLocks noChangeArrowheads="1"/>
            </p:cNvSpPr>
            <p:nvPr/>
          </p:nvSpPr>
          <p:spPr bwMode="auto">
            <a:xfrm>
              <a:off x="5399849" y="5514201"/>
              <a:ext cx="63030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0" name="Pentagon 19"/>
            <p:cNvSpPr/>
            <p:nvPr/>
          </p:nvSpPr>
          <p:spPr>
            <a:xfrm>
              <a:off x="3390900" y="5551324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21" name="Straight Connector 20"/>
            <p:cNvCxnSpPr>
              <a:stCxn id="20" idx="3"/>
              <a:endCxn id="19" idx="1"/>
            </p:cNvCxnSpPr>
            <p:nvPr/>
          </p:nvCxnSpPr>
          <p:spPr>
            <a:xfrm flipV="1">
              <a:off x="4721005" y="5652701"/>
              <a:ext cx="678844" cy="1066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1196340" y="5531378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mpIndexBuffer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3" name="Straight Arrow Connector 22"/>
            <p:cNvCxnSpPr>
              <a:stCxn id="22" idx="3"/>
            </p:cNvCxnSpPr>
            <p:nvPr/>
          </p:nvCxnSpPr>
          <p:spPr>
            <a:xfrm>
              <a:off x="2415540" y="5650174"/>
              <a:ext cx="9753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ounded Rectangle 26"/>
          <p:cNvSpPr/>
          <p:nvPr/>
        </p:nvSpPr>
        <p:spPr>
          <a:xfrm>
            <a:off x="6774217" y="4953000"/>
            <a:ext cx="2222626" cy="70366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for more DirectX esoterica…</a:t>
            </a:r>
          </a:p>
        </p:txBody>
      </p:sp>
    </p:spTree>
    <p:extLst>
      <p:ext uri="{BB962C8B-B14F-4D97-AF65-F5344CB8AC3E}">
        <p14:creationId xmlns:p14="http://schemas.microsoft.com/office/powerpoint/2010/main" val="15447725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</a:t>
            </a:r>
            <a:r>
              <a:rPr lang="en-US" dirty="0"/>
              <a:t>U</a:t>
            </a:r>
            <a:r>
              <a:rPr lang="en-US" dirty="0" smtClean="0"/>
              <a:t>p a Vertex 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To create a vertex buffer on the GPU and keep a handle ‘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2000" dirty="0" smtClean="0"/>
              <a:t>’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We also tell the Input Assembler stage that it should </a:t>
            </a:r>
            <a:r>
              <a:rPr lang="en-US" sz="2000" dirty="0" smtClean="0"/>
              <a:t>use this </a:t>
            </a:r>
            <a:r>
              <a:rPr lang="en-US" sz="2000" dirty="0" smtClean="0"/>
              <a:t>buffer next time we call the rendering pipeline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62402" y="1580614"/>
            <a:ext cx="6417141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(0.0f, 0.5f, 0),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Top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(0.5f, -0.5f, 0),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Bottom right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(-0.5f, -0.5f, 0)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Bottom left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 smtClean="0">
              <a:solidFill>
                <a:srgbClr val="2B91A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D3D11_BUFFER_DESC</a:t>
            </a:r>
            <a:r>
              <a:rPr lang="en-US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* 3</a:t>
            </a:r>
            <a:r>
              <a:rPr lang="en-US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100" dirty="0" smtClean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 of verts *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of verts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D3D11_BIND_VERTEX_BUFFER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  <a:r>
              <a:rPr lang="en-US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100" dirty="0" smtClean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zero means the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shall not have read nor write </a:t>
            </a:r>
            <a:r>
              <a:rPr lang="en-US" sz="1100" dirty="0" smtClean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access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D3D11_SUBRESOURCE_DATA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vertices;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mpVertexBuffer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</a:t>
            </a:r>
            <a:r>
              <a:rPr lang="en-US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402" y="5754469"/>
            <a:ext cx="715131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stride =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offset = 0;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IASetVertexBuffers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&amp;stride, &amp;offset);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41473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an Index 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To create an index buffer on the GPU and keep a handle ‘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2000" dirty="0" smtClean="0"/>
              <a:t>’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/>
              <a:t>We also tell the Input Assembler stage that </a:t>
            </a:r>
            <a:r>
              <a:rPr lang="en-US" sz="2000" dirty="0" smtClean="0"/>
              <a:t>how to use the index buffer next time we </a:t>
            </a:r>
            <a:r>
              <a:rPr lang="en-US" sz="2000" dirty="0"/>
              <a:t>use the rendering pipeline</a:t>
            </a:r>
          </a:p>
          <a:p>
            <a:pPr marL="0" indent="0">
              <a:buNone/>
            </a:pPr>
            <a:endParaRPr lang="en-US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62402" y="1580614"/>
            <a:ext cx="7648248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1, 2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3;   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3 vertices needed for each triangles in a triangle list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D3D11_BIND_INDEX_BUFFER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indices;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4857" y="4846652"/>
            <a:ext cx="749115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IASetIndexBuffer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2F4F4F"/>
                </a:solidFill>
                <a:latin typeface="Consolas"/>
              </a:rPr>
              <a:t>DXGI_FORMAT_R16_UINT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IASetPrimitiveTopology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smtClean="0">
                <a:solidFill>
                  <a:srgbClr val="2F4F4F"/>
                </a:solidFill>
                <a:latin typeface="Consolas"/>
              </a:rPr>
              <a:t>D3D11_PRIMITIVE_TOPOLOGY_TRIANGLELIST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116485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Rasterizer Stage Tweak: </a:t>
            </a:r>
            <a:br>
              <a:rPr lang="en-US" dirty="0" smtClean="0"/>
            </a:br>
            <a:r>
              <a:rPr lang="en-US" dirty="0" smtClean="0"/>
              <a:t>Front Face Windings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During </a:t>
            </a:r>
            <a:r>
              <a:rPr lang="en-US" sz="2000" dirty="0" err="1" smtClean="0"/>
              <a:t>backface</a:t>
            </a:r>
            <a:r>
              <a:rPr lang="en-US" sz="2000" dirty="0" smtClean="0"/>
              <a:t> culling, DX’s default settings are to eliminate all triangle faces with a clockwise (CW) winding. Our standard calls for counter-clockwise.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Adding the following code to </a:t>
            </a:r>
            <a:r>
              <a:rPr lang="en-US" sz="2000" dirty="0" err="1" smtClean="0"/>
              <a:t>DXApp</a:t>
            </a:r>
            <a:r>
              <a:rPr lang="en-US" sz="2000" dirty="0" smtClean="0"/>
              <a:t>::</a:t>
            </a:r>
            <a:r>
              <a:rPr lang="en-US" sz="2000" dirty="0"/>
              <a:t>InitDirect3D</a:t>
            </a:r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33400" y="2733675"/>
            <a:ext cx="5955476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D3D11_RASTERIZER_DESC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rd.FillMode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D3D11_FILL_SOLID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Also: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D3D11_FILL_WIREFRAME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rd.CullMode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D3D11_CULL_BACK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rd.FrontCounterClockwise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true for RH forward facing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rd.DepthBias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rd.SlopeScaledDepthBias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rd.DepthBiasClamp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rd.DepthClipEnable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rd.ScissorEnable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false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rd.MultisampleEnable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Does not in fact turn on/off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multisample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rd.AntialiasedLineEnable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false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ID3D11RasterizerState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CreateRasterizerState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RSSetState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10200" y="3505200"/>
            <a:ext cx="2286000" cy="4572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settings we want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0200" y="4800600"/>
            <a:ext cx="3352800" cy="3048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the new Rasterizer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0200" y="5398919"/>
            <a:ext cx="3352800" cy="3048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 it into the Render Pipeline</a:t>
            </a:r>
          </a:p>
        </p:txBody>
      </p:sp>
    </p:spTree>
    <p:extLst>
      <p:ext uri="{BB962C8B-B14F-4D97-AF65-F5344CB8AC3E}">
        <p14:creationId xmlns:p14="http://schemas.microsoft.com/office/powerpoint/2010/main" val="287527000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Updated New-New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4800600"/>
            <a:ext cx="8610600" cy="16764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We can the activate the render pipeline in the draw step of the game loop: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4934963" y="1219200"/>
            <a:ext cx="4147652" cy="342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" y="1219200"/>
            <a:ext cx="2522220" cy="342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58933" y="1551159"/>
            <a:ext cx="12192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Main Controls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5" name="Pentagon 14"/>
          <p:cNvSpPr/>
          <p:nvPr/>
        </p:nvSpPr>
        <p:spPr>
          <a:xfrm>
            <a:off x="2590800" y="1658246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6" name="Straight Connector 15"/>
          <p:cNvCxnSpPr>
            <a:stCxn id="15" idx="3"/>
            <a:endCxn id="14" idx="1"/>
          </p:cNvCxnSpPr>
          <p:nvPr/>
        </p:nvCxnSpPr>
        <p:spPr>
          <a:xfrm flipV="1">
            <a:off x="3920905" y="1663196"/>
            <a:ext cx="1538028" cy="10708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entagon 16"/>
          <p:cNvSpPr/>
          <p:nvPr/>
        </p:nvSpPr>
        <p:spPr>
          <a:xfrm>
            <a:off x="2590800" y="2086509"/>
            <a:ext cx="1905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ID3D11DeviceContext</a:t>
            </a:r>
          </a:p>
        </p:txBody>
      </p:sp>
      <p:cxnSp>
        <p:nvCxnSpPr>
          <p:cNvPr id="18" name="Straight Connector 17"/>
          <p:cNvCxnSpPr>
            <a:stCxn id="17" idx="3"/>
            <a:endCxn id="14" idx="1"/>
          </p:cNvCxnSpPr>
          <p:nvPr/>
        </p:nvCxnSpPr>
        <p:spPr>
          <a:xfrm flipV="1">
            <a:off x="4495800" y="1663196"/>
            <a:ext cx="963133" cy="53535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70685" y="3352800"/>
            <a:ext cx="1577340" cy="632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 Chain</a:t>
            </a: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FrontBuffer</a:t>
            </a:r>
            <a:endParaRPr lang="en-US" sz="1100" dirty="0" smtClean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r"/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2588678" y="3563979"/>
            <a:ext cx="15240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IDXGISwapChain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1" name="Straight Connector 20"/>
          <p:cNvCxnSpPr>
            <a:stCxn id="20" idx="3"/>
            <a:endCxn id="19" idx="1"/>
          </p:cNvCxnSpPr>
          <p:nvPr/>
        </p:nvCxnSpPr>
        <p:spPr>
          <a:xfrm flipV="1">
            <a:off x="4112678" y="3668933"/>
            <a:ext cx="958007" cy="708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entagon 21"/>
          <p:cNvSpPr/>
          <p:nvPr/>
        </p:nvSpPr>
        <p:spPr>
          <a:xfrm>
            <a:off x="2590800" y="4016652"/>
            <a:ext cx="2209800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ID3D11RenderTargetView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4015" y="4141955"/>
            <a:ext cx="2720340" cy="3899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Render Target View</a:t>
            </a:r>
          </a:p>
          <a:p>
            <a:pPr algn="r"/>
            <a:r>
              <a:rPr lang="en-US" sz="1100" i="1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Send to  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SwapChain</a:t>
            </a:r>
            <a:r>
              <a: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-&gt;</a:t>
            </a:r>
            <a:r>
              <a:rPr lang="en-US" sz="11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BackBuffer</a:t>
            </a:r>
            <a:endParaRPr lang="en-US" sz="11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4" name="Straight Connector 23"/>
          <p:cNvCxnSpPr>
            <a:stCxn id="22" idx="3"/>
            <a:endCxn id="23" idx="1"/>
          </p:cNvCxnSpPr>
          <p:nvPr/>
        </p:nvCxnSpPr>
        <p:spPr>
          <a:xfrm>
            <a:off x="4800600" y="4128689"/>
            <a:ext cx="243415" cy="20826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96240" y="1638300"/>
            <a:ext cx="12192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md3dDevice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6" name="Straight Arrow Connector 25"/>
          <p:cNvCxnSpPr>
            <a:stCxn id="25" idx="3"/>
          </p:cNvCxnSpPr>
          <p:nvPr/>
        </p:nvCxnSpPr>
        <p:spPr>
          <a:xfrm>
            <a:off x="1615440" y="1757096"/>
            <a:ext cx="97536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81000" y="2080081"/>
            <a:ext cx="1996441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md3dImmediateContext</a:t>
            </a:r>
          </a:p>
        </p:txBody>
      </p:sp>
      <p:cxnSp>
        <p:nvCxnSpPr>
          <p:cNvPr id="28" name="Straight Arrow Connector 27"/>
          <p:cNvCxnSpPr>
            <a:stCxn id="27" idx="3"/>
            <a:endCxn id="17" idx="1"/>
          </p:cNvCxnSpPr>
          <p:nvPr/>
        </p:nvCxnSpPr>
        <p:spPr>
          <a:xfrm flipV="1">
            <a:off x="2377441" y="2198546"/>
            <a:ext cx="213359" cy="33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81001" y="3550461"/>
            <a:ext cx="11430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mSwapChain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20" idx="1"/>
          </p:cNvCxnSpPr>
          <p:nvPr/>
        </p:nvCxnSpPr>
        <p:spPr>
          <a:xfrm>
            <a:off x="1524001" y="3669257"/>
            <a:ext cx="1064677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81001" y="4007661"/>
            <a:ext cx="1752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mRenderTargetView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2" name="Straight Arrow Connector 31"/>
          <p:cNvCxnSpPr>
            <a:stCxn id="31" idx="3"/>
            <a:endCxn id="22" idx="1"/>
          </p:cNvCxnSpPr>
          <p:nvPr/>
        </p:nvCxnSpPr>
        <p:spPr>
          <a:xfrm>
            <a:off x="2133601" y="4126457"/>
            <a:ext cx="457199" cy="223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9"/>
          <p:cNvSpPr>
            <a:spLocks noChangeArrowheads="1"/>
          </p:cNvSpPr>
          <p:nvPr/>
        </p:nvSpPr>
        <p:spPr bwMode="auto">
          <a:xfrm>
            <a:off x="8092015" y="3657600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#1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4" name="AutoShape 9"/>
          <p:cNvSpPr>
            <a:spLocks noChangeArrowheads="1"/>
          </p:cNvSpPr>
          <p:nvPr/>
        </p:nvSpPr>
        <p:spPr bwMode="auto">
          <a:xfrm>
            <a:off x="8092014" y="4009484"/>
            <a:ext cx="776623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Buffer #2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96542" y="2824293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36" name="Straight Arrow Connector 35"/>
          <p:cNvCxnSpPr>
            <a:stCxn id="38" idx="3"/>
            <a:endCxn id="35" idx="1"/>
          </p:cNvCxnSpPr>
          <p:nvPr/>
        </p:nvCxnSpPr>
        <p:spPr>
          <a:xfrm flipV="1">
            <a:off x="7893994" y="2936330"/>
            <a:ext cx="202548" cy="4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0"/>
          <p:cNvCxnSpPr>
            <a:stCxn id="14" idx="3"/>
            <a:endCxn id="38" idx="0"/>
          </p:cNvCxnSpPr>
          <p:nvPr/>
        </p:nvCxnSpPr>
        <p:spPr>
          <a:xfrm>
            <a:off x="6678133" y="1663196"/>
            <a:ext cx="629072" cy="23588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415" y="1899084"/>
            <a:ext cx="1173579" cy="2075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AutoShape 9"/>
          <p:cNvSpPr>
            <a:spLocks noChangeArrowheads="1"/>
          </p:cNvSpPr>
          <p:nvPr/>
        </p:nvSpPr>
        <p:spPr bwMode="auto">
          <a:xfrm>
            <a:off x="5395627" y="1961049"/>
            <a:ext cx="501035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glow rad="63500">
              <a:srgbClr val="FFFF00">
                <a:alpha val="50000"/>
              </a:srgbClr>
            </a:glow>
          </a:effec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Verts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7" name="Pentagon 46"/>
          <p:cNvSpPr/>
          <p:nvPr/>
        </p:nvSpPr>
        <p:spPr>
          <a:xfrm>
            <a:off x="2590800" y="2559013"/>
            <a:ext cx="1330105" cy="224073"/>
          </a:xfrm>
          <a:prstGeom prst="homePlate">
            <a:avLst/>
          </a:prstGeom>
          <a:solidFill>
            <a:schemeClr val="accent3"/>
          </a:solidFill>
          <a:effectLst>
            <a:glow rad="63500">
              <a:srgbClr val="FFFF00">
                <a:alpha val="5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ID3D11Buffer</a:t>
            </a:r>
          </a:p>
        </p:txBody>
      </p:sp>
      <p:cxnSp>
        <p:nvCxnSpPr>
          <p:cNvPr id="48" name="Straight Connector 47"/>
          <p:cNvCxnSpPr>
            <a:stCxn id="47" idx="3"/>
            <a:endCxn id="46" idx="1"/>
          </p:cNvCxnSpPr>
          <p:nvPr/>
        </p:nvCxnSpPr>
        <p:spPr>
          <a:xfrm flipV="1">
            <a:off x="3920905" y="2099549"/>
            <a:ext cx="1474722" cy="571501"/>
          </a:xfrm>
          <a:prstGeom prst="line">
            <a:avLst/>
          </a:prstGeom>
          <a:ln w="25400">
            <a:solidFill>
              <a:srgbClr val="0070C0"/>
            </a:solidFill>
          </a:ln>
          <a:effectLst>
            <a:glow rad="63500">
              <a:srgbClr val="FFFF0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96240" y="2539067"/>
            <a:ext cx="1219200" cy="237591"/>
          </a:xfrm>
          <a:prstGeom prst="rect">
            <a:avLst/>
          </a:prstGeom>
          <a:solidFill>
            <a:schemeClr val="bg1"/>
          </a:solidFill>
          <a:effectLst>
            <a:glow rad="63500">
              <a:srgbClr val="FFFF00">
                <a:alpha val="5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</a:rPr>
              <a:t>mpVertexBuffer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1615440" y="2657863"/>
            <a:ext cx="975360" cy="6759"/>
          </a:xfrm>
          <a:prstGeom prst="straightConnector1">
            <a:avLst/>
          </a:prstGeom>
          <a:ln w="25400">
            <a:tailEnd type="triangle" w="lg" len="lg"/>
          </a:ln>
          <a:effectLst>
            <a:glow rad="63500">
              <a:srgbClr val="FFFF0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9"/>
          <p:cNvSpPr>
            <a:spLocks noChangeArrowheads="1"/>
          </p:cNvSpPr>
          <p:nvPr/>
        </p:nvSpPr>
        <p:spPr bwMode="auto">
          <a:xfrm>
            <a:off x="5395627" y="2368556"/>
            <a:ext cx="630301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glow rad="63500">
              <a:srgbClr val="FFFF00">
                <a:alpha val="50000"/>
              </a:srgbClr>
            </a:glow>
          </a:effec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Indices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52" name="Pentagon 51"/>
          <p:cNvSpPr/>
          <p:nvPr/>
        </p:nvSpPr>
        <p:spPr>
          <a:xfrm>
            <a:off x="2590800" y="2976327"/>
            <a:ext cx="1330105" cy="224073"/>
          </a:xfrm>
          <a:prstGeom prst="homePlate">
            <a:avLst/>
          </a:prstGeom>
          <a:solidFill>
            <a:schemeClr val="accent3"/>
          </a:solidFill>
          <a:effectLst>
            <a:glow rad="63500">
              <a:srgbClr val="FFFF00">
                <a:alpha val="5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ID3D11Buffer</a:t>
            </a:r>
          </a:p>
        </p:txBody>
      </p:sp>
      <p:cxnSp>
        <p:nvCxnSpPr>
          <p:cNvPr id="53" name="Straight Connector 52"/>
          <p:cNvCxnSpPr>
            <a:stCxn id="52" idx="3"/>
            <a:endCxn id="51" idx="1"/>
          </p:cNvCxnSpPr>
          <p:nvPr/>
        </p:nvCxnSpPr>
        <p:spPr>
          <a:xfrm flipV="1">
            <a:off x="3920905" y="2507056"/>
            <a:ext cx="1474722" cy="581308"/>
          </a:xfrm>
          <a:prstGeom prst="line">
            <a:avLst/>
          </a:prstGeom>
          <a:ln w="25400">
            <a:solidFill>
              <a:srgbClr val="0070C0"/>
            </a:solidFill>
          </a:ln>
          <a:effectLst>
            <a:glow rad="63500">
              <a:srgbClr val="FFFF0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96240" y="2956381"/>
            <a:ext cx="1219200" cy="237591"/>
          </a:xfrm>
          <a:prstGeom prst="rect">
            <a:avLst/>
          </a:prstGeom>
          <a:solidFill>
            <a:schemeClr val="bg1"/>
          </a:solidFill>
          <a:effectLst>
            <a:glow rad="63500">
              <a:srgbClr val="FFFF00">
                <a:alpha val="5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</a:rPr>
              <a:t>mpIndexBuffer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55" name="Straight Arrow Connector 54"/>
          <p:cNvCxnSpPr>
            <a:stCxn id="54" idx="3"/>
          </p:cNvCxnSpPr>
          <p:nvPr/>
        </p:nvCxnSpPr>
        <p:spPr>
          <a:xfrm>
            <a:off x="1615440" y="3075177"/>
            <a:ext cx="975360" cy="6759"/>
          </a:xfrm>
          <a:prstGeom prst="straightConnector1">
            <a:avLst/>
          </a:prstGeom>
          <a:ln w="25400">
            <a:tailEnd type="triangle" w="lg" len="lg"/>
          </a:ln>
          <a:effectLst>
            <a:glow rad="63500">
              <a:srgbClr val="FFFF0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30"/>
          <p:cNvCxnSpPr>
            <a:stCxn id="46" idx="3"/>
          </p:cNvCxnSpPr>
          <p:nvPr/>
        </p:nvCxnSpPr>
        <p:spPr>
          <a:xfrm flipV="1">
            <a:off x="5896662" y="2086363"/>
            <a:ext cx="781471" cy="13186"/>
          </a:xfrm>
          <a:prstGeom prst="straightConnector1">
            <a:avLst/>
          </a:prstGeom>
          <a:ln w="25400">
            <a:tailEnd type="triangle" w="lg" len="lg"/>
          </a:ln>
          <a:effectLst>
            <a:glow rad="63500">
              <a:srgbClr val="FFFF0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30"/>
          <p:cNvCxnSpPr>
            <a:stCxn id="51" idx="3"/>
          </p:cNvCxnSpPr>
          <p:nvPr/>
        </p:nvCxnSpPr>
        <p:spPr>
          <a:xfrm flipV="1">
            <a:off x="6025928" y="2209800"/>
            <a:ext cx="652205" cy="297256"/>
          </a:xfrm>
          <a:prstGeom prst="straightConnector1">
            <a:avLst/>
          </a:prstGeom>
          <a:ln w="25400">
            <a:tailEnd type="triangle" w="lg" len="lg"/>
          </a:ln>
          <a:effectLst>
            <a:glow rad="63500">
              <a:srgbClr val="FFFF00">
                <a:alpha val="5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12838" y="5135940"/>
            <a:ext cx="808586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md3dImmediateContext-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md3dImmediateContext-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(3 * 1, 0, 0); 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// 3 indices for each triangle in a list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-&gt;Present(0, 0);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grpSp>
        <p:nvGrpSpPr>
          <p:cNvPr id="97" name="Group 96"/>
          <p:cNvGrpSpPr/>
          <p:nvPr/>
        </p:nvGrpSpPr>
        <p:grpSpPr>
          <a:xfrm>
            <a:off x="7696200" y="2346325"/>
            <a:ext cx="1188553" cy="1200322"/>
            <a:chOff x="7696200" y="2346325"/>
            <a:chExt cx="1188553" cy="1200322"/>
          </a:xfrm>
        </p:grpSpPr>
        <p:sp>
          <p:nvSpPr>
            <p:cNvPr id="88" name="Cloud 87"/>
            <p:cNvSpPr/>
            <p:nvPr/>
          </p:nvSpPr>
          <p:spPr>
            <a:xfrm>
              <a:off x="8096542" y="2346325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???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89" name="Straight Arrow Connector 88"/>
            <p:cNvCxnSpPr>
              <a:endCxn id="88" idx="2"/>
            </p:cNvCxnSpPr>
            <p:nvPr/>
          </p:nvCxnSpPr>
          <p:spPr>
            <a:xfrm>
              <a:off x="7696200" y="2526559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Cloud 93"/>
            <p:cNvSpPr/>
            <p:nvPr/>
          </p:nvSpPr>
          <p:spPr>
            <a:xfrm>
              <a:off x="8112658" y="3186179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???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95" name="Straight Arrow Connector 94"/>
            <p:cNvCxnSpPr>
              <a:endCxn id="94" idx="2"/>
            </p:cNvCxnSpPr>
            <p:nvPr/>
          </p:nvCxnSpPr>
          <p:spPr>
            <a:xfrm>
              <a:off x="7712316" y="3366413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ounded Rectangle 95"/>
          <p:cNvSpPr/>
          <p:nvPr/>
        </p:nvSpPr>
        <p:spPr>
          <a:xfrm>
            <a:off x="7573529" y="910946"/>
            <a:ext cx="1541896" cy="61650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missing:</a:t>
            </a:r>
          </a:p>
          <a:p>
            <a:pPr algn="ctr"/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8857" y="2887504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>
                <a:solidFill>
                  <a:srgbClr val="FF0000"/>
                </a:solidFill>
              </a:rPr>
              <a:t>CCW</a:t>
            </a:r>
            <a:endParaRPr lang="en-US" sz="1000" b="1" dirty="0">
              <a:solidFill>
                <a:srgbClr val="FF0000"/>
              </a:solidFill>
            </a:endParaRPr>
          </a:p>
        </p:txBody>
      </p:sp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355" y="6153150"/>
            <a:ext cx="883774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913909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6" grpId="0" animBg="1"/>
      <p:bldP spid="9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7:</a:t>
            </a:r>
          </a:p>
          <a:p>
            <a:r>
              <a:rPr lang="en-US" dirty="0" smtClean="0"/>
              <a:t>More complex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0390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WireFrame</a:t>
            </a:r>
            <a:r>
              <a:rPr lang="en-US" dirty="0" smtClean="0"/>
              <a:t> Rendering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When we tweaked the RS, you may have noticed the </a:t>
            </a:r>
            <a:r>
              <a:rPr lang="en-US" sz="2000" dirty="0" err="1" smtClean="0"/>
              <a:t>FillMode</a:t>
            </a:r>
            <a:r>
              <a:rPr lang="en-US" sz="2000" dirty="0" smtClean="0"/>
              <a:t> option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Switching the </a:t>
            </a:r>
            <a:r>
              <a:rPr lang="en-US" sz="2000" dirty="0" err="1" smtClean="0"/>
              <a:t>FillMode</a:t>
            </a:r>
            <a:r>
              <a:rPr lang="en-US" sz="2000" dirty="0" smtClean="0"/>
              <a:t> to Wireframe can sometimes be a useful debugging tool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676400"/>
            <a:ext cx="5955476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D3D11_RASTERIZER_DESC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rd.FillMode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D3D11_FILL_SOLID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Also: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D3D11_FILL_WIREFRAME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rd.CullMode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D3D11_CULL_BACK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rd.FrontCounterClockwise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true for RH forward facing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rd.DepthBias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rd.SlopeScaledDepthBias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rd.DepthBiasClamp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rd.DepthClipEnable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rd.ScissorEnable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false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rd.MultisampleEnable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Does not in fact turn on/off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multisample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rd.AntialiasedLineEnable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false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3400" y="1879600"/>
            <a:ext cx="2514600" cy="1778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600200" y="4495799"/>
            <a:ext cx="5448300" cy="1566958"/>
            <a:chOff x="1600200" y="4495799"/>
            <a:chExt cx="5448300" cy="156695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4495800"/>
              <a:ext cx="2019300" cy="1566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4495799"/>
              <a:ext cx="2019300" cy="1566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ight Arrow 7"/>
            <p:cNvSpPr/>
            <p:nvPr/>
          </p:nvSpPr>
          <p:spPr>
            <a:xfrm>
              <a:off x="3962400" y="5105400"/>
              <a:ext cx="762000" cy="38100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988499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a Square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Q: </a:t>
            </a:r>
            <a:r>
              <a:rPr lang="en-US" sz="2000" dirty="0" smtClean="0"/>
              <a:t>How do we modify the previous triangle demo to show a square instead?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smtClean="0"/>
              <a:t>A: </a:t>
            </a:r>
            <a:r>
              <a:rPr lang="en-US" sz="2000" dirty="0" smtClean="0"/>
              <a:t> We make the following modifications:</a:t>
            </a:r>
          </a:p>
          <a:p>
            <a:pPr marL="687388" lvl="1" indent="-230188">
              <a:buFont typeface="+mj-lt"/>
              <a:buAutoNum type="arabicPeriod"/>
            </a:pPr>
            <a:r>
              <a:rPr lang="en-US" sz="1800" dirty="0" smtClean="0"/>
              <a:t>Create the 4 vertices needed (stay within the NDC values for now)</a:t>
            </a:r>
          </a:p>
          <a:p>
            <a:pPr marL="687388" lvl="1" indent="-230188">
              <a:buFont typeface="+mj-lt"/>
              <a:buAutoNum type="arabicPeriod"/>
            </a:pPr>
            <a:r>
              <a:rPr lang="en-US" sz="1800" dirty="0"/>
              <a:t>Adjust the size of the </a:t>
            </a:r>
            <a:r>
              <a:rPr lang="en-US" sz="1800" dirty="0" smtClean="0"/>
              <a:t>vertex buffer on GPU</a:t>
            </a:r>
            <a:endParaRPr lang="en-US" sz="1800" dirty="0"/>
          </a:p>
          <a:p>
            <a:pPr marL="687388" lvl="1" indent="-230188">
              <a:buFont typeface="+mj-lt"/>
              <a:buAutoNum type="arabicPeriod"/>
            </a:pPr>
            <a:r>
              <a:rPr lang="en-US" sz="1800" dirty="0" smtClean="0"/>
              <a:t>Create the new index array (</a:t>
            </a:r>
            <a:r>
              <a:rPr lang="en-US" sz="1800" u="sng" dirty="0" smtClean="0"/>
              <a:t>two</a:t>
            </a:r>
            <a:r>
              <a:rPr lang="en-US" sz="1800" dirty="0" smtClean="0"/>
              <a:t> triangles now)</a:t>
            </a:r>
          </a:p>
          <a:p>
            <a:pPr marL="687388" lvl="1" indent="-230188">
              <a:buFont typeface="+mj-lt"/>
              <a:buAutoNum type="arabicPeriod"/>
            </a:pPr>
            <a:r>
              <a:rPr lang="en-US" sz="1800" dirty="0" smtClean="0"/>
              <a:t>Adjust the size of the index buffer on GPU</a:t>
            </a:r>
          </a:p>
          <a:p>
            <a:pPr marL="687388" lvl="1" indent="-230188">
              <a:buFont typeface="+mj-lt"/>
              <a:buAutoNum type="arabicPeriod"/>
            </a:pPr>
            <a:r>
              <a:rPr lang="en-US" sz="1800" dirty="0" smtClean="0"/>
              <a:t>Adjust the number of indexed triangles drawn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322" y="1676400"/>
            <a:ext cx="1828800" cy="141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013322" y="1666591"/>
            <a:ext cx="3073278" cy="1438747"/>
            <a:chOff x="4013322" y="1666591"/>
            <a:chExt cx="3073278" cy="1438747"/>
          </a:xfrm>
        </p:grpSpPr>
        <p:sp>
          <p:nvSpPr>
            <p:cNvPr id="6" name="Right Arrow 5"/>
            <p:cNvSpPr/>
            <p:nvPr/>
          </p:nvSpPr>
          <p:spPr>
            <a:xfrm>
              <a:off x="4013322" y="2195465"/>
              <a:ext cx="762000" cy="38100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2522" y="1666591"/>
              <a:ext cx="1854078" cy="1438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894846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>
                <a:hlinkClick r:id="rId2"/>
              </a:rPr>
              <a:t>Assignment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866080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Week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Shaders</a:t>
            </a:r>
            <a:r>
              <a:rPr lang="en-US" dirty="0" smtClean="0"/>
              <a:t> and HLSL</a:t>
            </a:r>
          </a:p>
          <a:p>
            <a:r>
              <a:rPr lang="en-US" dirty="0" smtClean="0"/>
              <a:t>Controlling </a:t>
            </a:r>
            <a:r>
              <a:rPr lang="en-US" dirty="0" err="1" smtClean="0"/>
              <a:t>shaders</a:t>
            </a:r>
            <a:r>
              <a:rPr lang="en-US" dirty="0"/>
              <a:t> </a:t>
            </a:r>
            <a:r>
              <a:rPr lang="en-US" dirty="0" smtClean="0"/>
              <a:t>(sending data to the rendering pipeline)</a:t>
            </a:r>
          </a:p>
          <a:p>
            <a:r>
              <a:rPr lang="en-US" dirty="0" smtClean="0"/>
              <a:t>Camera and 3D scenes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4966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Information </a:t>
            </a:r>
            <a:r>
              <a:rPr lang="en-US" dirty="0" smtClean="0"/>
              <a:t>Overload!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554718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examples I provide are my attempt at a </a:t>
            </a:r>
            <a:r>
              <a:rPr lang="en-US" sz="2000" i="1" u="sng" dirty="0" smtClean="0"/>
              <a:t>simple</a:t>
            </a:r>
            <a:r>
              <a:rPr lang="en-US" sz="2000" dirty="0" smtClean="0"/>
              <a:t> intro to graphics programming. 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Sadly, the nature of the topic requires:</a:t>
            </a:r>
          </a:p>
          <a:p>
            <a:pPr marL="519113" indent="-273050"/>
            <a:r>
              <a:rPr lang="en-US" sz="2000" dirty="0" smtClean="0"/>
              <a:t>Mental shift in how we code</a:t>
            </a:r>
          </a:p>
          <a:p>
            <a:pPr marL="519113" indent="-273050"/>
            <a:r>
              <a:rPr lang="en-US" sz="2000" dirty="0" smtClean="0"/>
              <a:t>Needs </a:t>
            </a:r>
            <a:r>
              <a:rPr lang="en-US" sz="2000" i="1" u="sng" dirty="0" smtClean="0"/>
              <a:t>a lot</a:t>
            </a:r>
            <a:r>
              <a:rPr lang="en-US" sz="2000" dirty="0" smtClean="0"/>
              <a:t> of domain related jargon. 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For Context:</a:t>
            </a:r>
          </a:p>
          <a:p>
            <a:pPr marL="461963" lvl="1" indent="-188913"/>
            <a:r>
              <a:rPr lang="en-US" sz="1800" dirty="0" smtClean="0"/>
              <a:t>300+ lines just to draw our first triangle!</a:t>
            </a:r>
          </a:p>
          <a:p>
            <a:pPr marL="461963" lvl="1" indent="-188913"/>
            <a:r>
              <a:rPr lang="en-US" sz="1800" dirty="0" smtClean="0"/>
              <a:t>We won’t even get to 3D until week 3!</a:t>
            </a:r>
            <a:endParaRPr lang="en-US" sz="1800" dirty="0"/>
          </a:p>
        </p:txBody>
      </p:sp>
      <p:pic>
        <p:nvPicPr>
          <p:cNvPr id="2052" name="Picture 4" descr="Image result for firehos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47775"/>
            <a:ext cx="4114800" cy="31718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714375" y="4724400"/>
            <a:ext cx="3324225" cy="8382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 deep breath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Read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book!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notes.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with the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090448"/>
            <a:ext cx="1981200" cy="119211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some time and practice, this will all become natural soon enough.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679623"/>
            <a:ext cx="2013767" cy="20137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714375" y="5791200"/>
            <a:ext cx="3324225" cy="90219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you’re not constantly Googling something in the code, you’re doing it wrong!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23770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animBg="1"/>
      <p:bldP spid="9" grpId="0" animBg="1"/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43811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21983</TotalTime>
  <Words>5762</Words>
  <Application>Microsoft Office PowerPoint</Application>
  <PresentationFormat>On-screen Show (4:3)</PresentationFormat>
  <Paragraphs>1010</Paragraphs>
  <Slides>58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Origin</vt:lpstr>
      <vt:lpstr>GAM 398: Topics in Rendering and Graphics Programming</vt:lpstr>
      <vt:lpstr>PowerPoint Presentation</vt:lpstr>
      <vt:lpstr>Programming Games</vt:lpstr>
      <vt:lpstr>Rendering and Graphics Programming</vt:lpstr>
      <vt:lpstr>Student Preparation:  Differences Between Grad and UG.</vt:lpstr>
      <vt:lpstr>Final Product: Expected API Example</vt:lpstr>
      <vt:lpstr>Final Product: Things You May Not Know…</vt:lpstr>
      <vt:lpstr>Graphic Support: A Very Different Kind of Programming</vt:lpstr>
      <vt:lpstr>PowerPoint Presentation</vt:lpstr>
      <vt:lpstr>Graphic Environments Options: OpenGL</vt:lpstr>
      <vt:lpstr>Graphic Environments Options : Vulkan</vt:lpstr>
      <vt:lpstr>Graphic Environments Options: DirectX</vt:lpstr>
      <vt:lpstr>DirectX: But Which Versions: DX 11 or DX 12? </vt:lpstr>
      <vt:lpstr>PowerPoint Presentation</vt:lpstr>
      <vt:lpstr>Learning about  Graphics Environments (GE)</vt:lpstr>
      <vt:lpstr>Learning about  Graphics Environments (GE)</vt:lpstr>
      <vt:lpstr>Learning about  Graphics Environments (GE)</vt:lpstr>
      <vt:lpstr>PowerPoint Presentation</vt:lpstr>
      <vt:lpstr> Software: Visual Studio</vt:lpstr>
      <vt:lpstr>VS 2017</vt:lpstr>
      <vt:lpstr> Software and Environment</vt:lpstr>
      <vt:lpstr>Perforce</vt:lpstr>
      <vt:lpstr>Creating a Project: Copying from existing</vt:lpstr>
      <vt:lpstr>Getting Started:  Project: Initial Window</vt:lpstr>
      <vt:lpstr>Preliminaries:  (Book Chap 4.1: Please read it! Seriously…) </vt:lpstr>
      <vt:lpstr>Preliminaries: Device &amp; DeviceContext</vt:lpstr>
      <vt:lpstr>Preliminaries: Swap Chains</vt:lpstr>
      <vt:lpstr>Preliminaries: Swap Chains</vt:lpstr>
      <vt:lpstr>Preliminaries: RenderTargetView</vt:lpstr>
      <vt:lpstr>To Recap: A New Diagram</vt:lpstr>
      <vt:lpstr>Preliminaries: Buffers, Textures and Multisampling</vt:lpstr>
      <vt:lpstr>DXApp::InitDirect3D</vt:lpstr>
      <vt:lpstr>Main Loop: Seen from the CPU Side</vt:lpstr>
      <vt:lpstr>Main Loop: Seen from the GPU side</vt:lpstr>
      <vt:lpstr>How About  Actually Rendering Something?</vt:lpstr>
      <vt:lpstr>Warning!!!  Imminent Information Overload!</vt:lpstr>
      <vt:lpstr>PowerPoint Presentation</vt:lpstr>
      <vt:lpstr>Rendering Pipeline:</vt:lpstr>
      <vt:lpstr>Rendering Pipeline:</vt:lpstr>
      <vt:lpstr>Rendering Pipeline:</vt:lpstr>
      <vt:lpstr>Rendering Pipeline:</vt:lpstr>
      <vt:lpstr>New-New Diagram</vt:lpstr>
      <vt:lpstr>PowerPoint Presentation</vt:lpstr>
      <vt:lpstr>Rendering</vt:lpstr>
      <vt:lpstr>Constructing the Triangle</vt:lpstr>
      <vt:lpstr>Triangle Lists</vt:lpstr>
      <vt:lpstr>Triangle Data</vt:lpstr>
      <vt:lpstr>Setting Up a Vertex Buffer</vt:lpstr>
      <vt:lpstr>Setting Up an Index Buffer</vt:lpstr>
      <vt:lpstr>Rasterizer Stage Tweak:  Front Face Windings</vt:lpstr>
      <vt:lpstr>Updated New-New Diagram</vt:lpstr>
      <vt:lpstr>PowerPoint Presentation</vt:lpstr>
      <vt:lpstr>WireFrame Rendering</vt:lpstr>
      <vt:lpstr>Rendering a Square</vt:lpstr>
      <vt:lpstr>Homework</vt:lpstr>
      <vt:lpstr>Next Week</vt:lpstr>
      <vt:lpstr>Information Overload!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</cp:lastModifiedBy>
  <cp:revision>704</cp:revision>
  <dcterms:created xsi:type="dcterms:W3CDTF">2013-03-17T23:02:21Z</dcterms:created>
  <dcterms:modified xsi:type="dcterms:W3CDTF">2018-01-03T23:51:27Z</dcterms:modified>
</cp:coreProperties>
</file>