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1"/>
  </p:notesMasterIdLst>
  <p:sldIdLst>
    <p:sldId id="259" r:id="rId2"/>
    <p:sldId id="348" r:id="rId3"/>
    <p:sldId id="301" r:id="rId4"/>
    <p:sldId id="307" r:id="rId5"/>
    <p:sldId id="298" r:id="rId6"/>
    <p:sldId id="349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50" r:id="rId20"/>
    <p:sldId id="321" r:id="rId21"/>
    <p:sldId id="322" r:id="rId22"/>
    <p:sldId id="323" r:id="rId23"/>
    <p:sldId id="326" r:id="rId24"/>
    <p:sldId id="324" r:id="rId25"/>
    <p:sldId id="325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47" r:id="rId34"/>
    <p:sldId id="351" r:id="rId35"/>
    <p:sldId id="334" r:id="rId36"/>
    <p:sldId id="335" r:id="rId37"/>
    <p:sldId id="337" r:id="rId38"/>
    <p:sldId id="336" r:id="rId39"/>
    <p:sldId id="338" r:id="rId40"/>
    <p:sldId id="308" r:id="rId41"/>
    <p:sldId id="356" r:id="rId42"/>
    <p:sldId id="352" r:id="rId43"/>
    <p:sldId id="353" r:id="rId44"/>
    <p:sldId id="354" r:id="rId45"/>
    <p:sldId id="355" r:id="rId46"/>
    <p:sldId id="357" r:id="rId47"/>
    <p:sldId id="340" r:id="rId48"/>
    <p:sldId id="341" r:id="rId49"/>
    <p:sldId id="359" r:id="rId50"/>
    <p:sldId id="358" r:id="rId51"/>
    <p:sldId id="362" r:id="rId52"/>
    <p:sldId id="361" r:id="rId53"/>
    <p:sldId id="363" r:id="rId54"/>
    <p:sldId id="360" r:id="rId55"/>
    <p:sldId id="364" r:id="rId56"/>
    <p:sldId id="365" r:id="rId57"/>
    <p:sldId id="367" r:id="rId58"/>
    <p:sldId id="366" r:id="rId59"/>
    <p:sldId id="368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66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2881" autoAdjust="0"/>
    <p:restoredTop sz="95111" autoAdjust="0"/>
  </p:normalViewPr>
  <p:slideViewPr>
    <p:cSldViewPr>
      <p:cViewPr>
        <p:scale>
          <a:sx n="100" d="100"/>
          <a:sy n="100" d="100"/>
        </p:scale>
        <p:origin x="-1062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1/10/2018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1/10/2018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1/10/2018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sdn.microsoft.com/en-us/library/windows/desktop/bb509647(v=vs.85).aspx" TargetMode="External"/><Relationship Id="rId3" Type="http://schemas.openxmlformats.org/officeDocument/2006/relationships/hyperlink" Target="https://msdn.microsoft.com/en-us/library/windows/desktop/bb509707(v=vs.85).aspx" TargetMode="External"/><Relationship Id="rId7" Type="http://schemas.openxmlformats.org/officeDocument/2006/relationships/slide" Target="slide53.xml"/><Relationship Id="rId2" Type="http://schemas.openxmlformats.org/officeDocument/2006/relationships/hyperlink" Target="https://msdn.microsoft.com/en-us/library/windows/desktop/bb509561(v=vs.85)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acweb.cs.depaul.edu/andre/GAM325/linearAlgebraSafetyRules.html" TargetMode="External"/><Relationship Id="rId5" Type="http://schemas.openxmlformats.org/officeDocument/2006/relationships/hyperlink" Target="https://msdn.microsoft.com/en-us/library/windows/desktop/bb509646(v=vs.85).aspx" TargetMode="External"/><Relationship Id="rId4" Type="http://schemas.openxmlformats.org/officeDocument/2006/relationships/hyperlink" Target="https://msdn.microsoft.com/en-us/library/windows/desktop/bb509623(v=vs.85).asp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bb509647(v=vs.85).aspx#System_Value" TargetMode="External"/><Relationship Id="rId2" Type="http://schemas.openxmlformats.org/officeDocument/2006/relationships/hyperlink" Target="https://msdn.microsoft.com/en-us/library/windows/desktop/bb509647(v=vs.85).aspx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sdn.microsoft.com/en-us/library/windows/desktop/bb509647(v=vs.85).aspx#PS" TargetMode="External"/><Relationship Id="rId4" Type="http://schemas.openxmlformats.org/officeDocument/2006/relationships/hyperlink" Target="https://msdn.microsoft.com/en-us/library/windows/desktop/bb509647(v=vs.85).aspx#V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windows/desktop/bb509626(v=vs.85)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sdn.microsoft.com/en-us/library/windows/desktop/ff476180(v=vs.85).aspx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msdn.microsoft.com/en-us/library/windows/desktop/ff476180(v=vs.85).aspx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windows/desktop/ff476180(v=vs.85).aspx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18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16.png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15" Type="http://schemas.openxmlformats.org/officeDocument/2006/relationships/image" Target="../media/image140.png"/><Relationship Id="rId10" Type="http://schemas.openxmlformats.org/officeDocument/2006/relationships/image" Target="../media/image141.png"/><Relationship Id="rId19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en-us/library/windows/desktop/bb509581(v=vs.85).aspx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sdn.microsoft.com/en-us/library/windows/desktop/ff476092(v=vs.85).aspx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masterkenth.com/directx-leak-debugging/" TargetMode="External"/><Relationship Id="rId2" Type="http://schemas.openxmlformats.org/officeDocument/2006/relationships/hyperlink" Target="https://msdn.microsoft.com/en-us/library/windows/desktop/hh780352(v=vs.85).aspx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masterkenth.com/directx-leak-debugging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hyperlink" Target="https://www.youtube.com/watch?v=LPQTMvN1M8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7.gi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25/lecturenotes.htm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facweb.cs.depaul.edu/andre/GAM325/linearAlgebraSafetyRules.html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ff471376(v=vs.85).aspx" TargetMode="Externa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sdn.microsoft.com/en-us/library/windows/desktop/ff729728(v=vs.85).aspx" TargetMode="External"/><Relationship Id="rId5" Type="http://schemas.openxmlformats.org/officeDocument/2006/relationships/hyperlink" Target="http://xboxforums.create.msdn.com/forums/t/112276.aspx" TargetMode="External"/><Relationship Id="rId4" Type="http://schemas.openxmlformats.org/officeDocument/2006/relationships/hyperlink" Target="https://msdn.microsoft.com/en-us/library/windows/desktop/bb509628(v=vs.85).aspx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facweb.cs.depaul.edu/andre/GAM325/lecturenotes.html" TargetMode="External"/><Relationship Id="rId2" Type="http://schemas.openxmlformats.org/officeDocument/2006/relationships/hyperlink" Target="https://anteru.net/blog/2011/12/27/183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facweb.cs.depaul.edu/andre/GAM325/lecturenotes.html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763000" cy="1295400"/>
          </a:xfrm>
        </p:spPr>
        <p:txBody>
          <a:bodyPr/>
          <a:lstStyle/>
          <a:p>
            <a:r>
              <a:rPr lang="en-US" dirty="0" smtClean="0"/>
              <a:t>GAM </a:t>
            </a:r>
            <a:r>
              <a:rPr lang="en-US" dirty="0" smtClean="0"/>
              <a:t>370/470: </a:t>
            </a:r>
            <a:br>
              <a:rPr lang="en-US" dirty="0" smtClean="0"/>
            </a:br>
            <a:r>
              <a:rPr lang="en-US" dirty="0" smtClean="0"/>
              <a:t>Rendering </a:t>
            </a:r>
            <a:r>
              <a:rPr lang="en-US" dirty="0" smtClean="0"/>
              <a:t>and </a:t>
            </a:r>
            <a:r>
              <a:rPr lang="en-US" dirty="0" smtClean="0"/>
              <a:t>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2:</a:t>
            </a:r>
          </a:p>
          <a:p>
            <a:r>
              <a:rPr lang="en-US" dirty="0" smtClean="0"/>
              <a:t>Introduction to </a:t>
            </a:r>
            <a:r>
              <a:rPr lang="en-US" dirty="0" err="1" smtClean="0"/>
              <a:t>Shaders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1: </a:t>
            </a:r>
          </a:p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54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Updated New-New Diagram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4800600"/>
            <a:ext cx="8610600" cy="16764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We can the activate the render pipeline in the draw step of the game loop:</a:t>
            </a:r>
            <a:endParaRPr lang="en-US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412838" y="5135940"/>
            <a:ext cx="808586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ClearRenderTargetView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6F008A"/>
                </a:solidFill>
                <a:latin typeface="Consolas"/>
              </a:rPr>
              <a:t>VasA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BackgroundColor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(3 * 1, 0, 0); 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// 3 indices for each triangle in a list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-&gt;Present(0, 0);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grpSp>
        <p:nvGrpSpPr>
          <p:cNvPr id="6" name="Group 5"/>
          <p:cNvGrpSpPr/>
          <p:nvPr/>
        </p:nvGrpSpPr>
        <p:grpSpPr>
          <a:xfrm>
            <a:off x="228600" y="1219200"/>
            <a:ext cx="8854015" cy="3429000"/>
            <a:chOff x="228600" y="1219200"/>
            <a:chExt cx="8854015" cy="3429000"/>
          </a:xfrm>
        </p:grpSpPr>
        <p:sp>
          <p:nvSpPr>
            <p:cNvPr id="12" name="Rectangle 11"/>
            <p:cNvSpPr/>
            <p:nvPr/>
          </p:nvSpPr>
          <p:spPr>
            <a:xfrm>
              <a:off x="4934963" y="1219200"/>
              <a:ext cx="4147652" cy="3429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8600" y="1219200"/>
              <a:ext cx="2522220" cy="3429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58933" y="1551159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5" name="Pentagon 14"/>
            <p:cNvSpPr/>
            <p:nvPr/>
          </p:nvSpPr>
          <p:spPr>
            <a:xfrm>
              <a:off x="2590800" y="1658246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6" name="Straight Connector 15"/>
            <p:cNvCxnSpPr>
              <a:stCxn id="15" idx="3"/>
              <a:endCxn id="14" idx="1"/>
            </p:cNvCxnSpPr>
            <p:nvPr/>
          </p:nvCxnSpPr>
          <p:spPr>
            <a:xfrm flipV="1">
              <a:off x="3920905" y="1663196"/>
              <a:ext cx="1538028" cy="107087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Pentagon 16"/>
            <p:cNvSpPr/>
            <p:nvPr/>
          </p:nvSpPr>
          <p:spPr>
            <a:xfrm>
              <a:off x="2590800" y="2086509"/>
              <a:ext cx="1905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ID3D11DeviceContext</a:t>
              </a:r>
            </a:p>
          </p:txBody>
        </p:sp>
        <p:cxnSp>
          <p:nvCxnSpPr>
            <p:cNvPr id="18" name="Straight Connector 17"/>
            <p:cNvCxnSpPr>
              <a:stCxn id="17" idx="3"/>
              <a:endCxn id="14" idx="1"/>
            </p:cNvCxnSpPr>
            <p:nvPr/>
          </p:nvCxnSpPr>
          <p:spPr>
            <a:xfrm flipV="1">
              <a:off x="4495800" y="1663196"/>
              <a:ext cx="963133" cy="53535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070685" y="3352800"/>
              <a:ext cx="1577340" cy="6322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FrontBuffer</a:t>
              </a:r>
              <a:endPara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0" name="Pentagon 19"/>
            <p:cNvSpPr/>
            <p:nvPr/>
          </p:nvSpPr>
          <p:spPr>
            <a:xfrm>
              <a:off x="2588678" y="3563979"/>
              <a:ext cx="1524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IDXGISwapChain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1" name="Straight Connector 20"/>
            <p:cNvCxnSpPr>
              <a:stCxn id="20" idx="3"/>
              <a:endCxn id="19" idx="1"/>
            </p:cNvCxnSpPr>
            <p:nvPr/>
          </p:nvCxnSpPr>
          <p:spPr>
            <a:xfrm flipV="1">
              <a:off x="4112678" y="3668933"/>
              <a:ext cx="958007" cy="708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Pentagon 21"/>
            <p:cNvSpPr/>
            <p:nvPr/>
          </p:nvSpPr>
          <p:spPr>
            <a:xfrm>
              <a:off x="2590800" y="4016652"/>
              <a:ext cx="2209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ID3D11RenderTargetView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044015" y="4141955"/>
              <a:ext cx="2720340" cy="3899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</a:p>
            <a:p>
              <a:pPr algn="r"/>
              <a:r>
                <a:rPr lang="en-US" sz="1100" i="1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Send to  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SwapChain</a:t>
              </a:r>
              <a:r>
                <a:rPr lang="en-US" sz="11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-&gt;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4" name="Straight Connector 23"/>
            <p:cNvCxnSpPr>
              <a:stCxn id="22" idx="3"/>
              <a:endCxn id="23" idx="1"/>
            </p:cNvCxnSpPr>
            <p:nvPr/>
          </p:nvCxnSpPr>
          <p:spPr>
            <a:xfrm>
              <a:off x="4800600" y="4128689"/>
              <a:ext cx="243415" cy="208262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96240" y="1638300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6" name="Straight Arrow Connector 25"/>
            <p:cNvCxnSpPr>
              <a:stCxn id="25" idx="3"/>
            </p:cNvCxnSpPr>
            <p:nvPr/>
          </p:nvCxnSpPr>
          <p:spPr>
            <a:xfrm>
              <a:off x="1615440" y="1757096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381000" y="2080081"/>
              <a:ext cx="199644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md3dImmediateContext</a:t>
              </a:r>
            </a:p>
          </p:txBody>
        </p:sp>
        <p:cxnSp>
          <p:nvCxnSpPr>
            <p:cNvPr id="28" name="Straight Arrow Connector 27"/>
            <p:cNvCxnSpPr>
              <a:stCxn id="27" idx="3"/>
              <a:endCxn id="17" idx="1"/>
            </p:cNvCxnSpPr>
            <p:nvPr/>
          </p:nvCxnSpPr>
          <p:spPr>
            <a:xfrm flipV="1">
              <a:off x="2377441" y="2198546"/>
              <a:ext cx="213359" cy="33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81001" y="3550461"/>
              <a:ext cx="11430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0" name="Straight Arrow Connector 29"/>
            <p:cNvCxnSpPr>
              <a:stCxn id="29" idx="3"/>
              <a:endCxn id="20" idx="1"/>
            </p:cNvCxnSpPr>
            <p:nvPr/>
          </p:nvCxnSpPr>
          <p:spPr>
            <a:xfrm>
              <a:off x="1524001" y="3669257"/>
              <a:ext cx="1064677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81001" y="4007661"/>
              <a:ext cx="1752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2" name="Straight Arrow Connector 31"/>
            <p:cNvCxnSpPr>
              <a:stCxn id="31" idx="3"/>
              <a:endCxn id="22" idx="1"/>
            </p:cNvCxnSpPr>
            <p:nvPr/>
          </p:nvCxnSpPr>
          <p:spPr>
            <a:xfrm>
              <a:off x="2133601" y="4126457"/>
              <a:ext cx="457199" cy="223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8092015" y="3657600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#1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4" name="AutoShape 9"/>
            <p:cNvSpPr>
              <a:spLocks noChangeArrowheads="1"/>
            </p:cNvSpPr>
            <p:nvPr/>
          </p:nvSpPr>
          <p:spPr bwMode="auto">
            <a:xfrm>
              <a:off x="8092014" y="4009484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#2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096542" y="2824293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6" name="Straight Arrow Connector 35"/>
            <p:cNvCxnSpPr>
              <a:stCxn id="38" idx="3"/>
              <a:endCxn id="35" idx="1"/>
            </p:cNvCxnSpPr>
            <p:nvPr/>
          </p:nvCxnSpPr>
          <p:spPr>
            <a:xfrm flipV="1">
              <a:off x="7893994" y="2936330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0"/>
            <p:cNvCxnSpPr>
              <a:stCxn id="14" idx="3"/>
              <a:endCxn id="38" idx="0"/>
            </p:cNvCxnSpPr>
            <p:nvPr/>
          </p:nvCxnSpPr>
          <p:spPr>
            <a:xfrm>
              <a:off x="6678133" y="1663196"/>
              <a:ext cx="629072" cy="235888"/>
            </a:xfrm>
            <a:prstGeom prst="bentConnector2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0415" y="1899084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" name="AutoShape 9"/>
            <p:cNvSpPr>
              <a:spLocks noChangeArrowheads="1"/>
            </p:cNvSpPr>
            <p:nvPr/>
          </p:nvSpPr>
          <p:spPr bwMode="auto">
            <a:xfrm>
              <a:off x="5395627" y="1961049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7" name="Pentagon 46"/>
            <p:cNvSpPr/>
            <p:nvPr/>
          </p:nvSpPr>
          <p:spPr>
            <a:xfrm>
              <a:off x="2590800" y="2559013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48" name="Straight Connector 47"/>
            <p:cNvCxnSpPr>
              <a:stCxn id="47" idx="3"/>
              <a:endCxn id="46" idx="1"/>
            </p:cNvCxnSpPr>
            <p:nvPr/>
          </p:nvCxnSpPr>
          <p:spPr>
            <a:xfrm flipV="1">
              <a:off x="3920905" y="2099549"/>
              <a:ext cx="1474722" cy="571501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396240" y="2539067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mpVertexBuffer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0" name="Straight Arrow Connector 49"/>
            <p:cNvCxnSpPr>
              <a:stCxn id="49" idx="3"/>
            </p:cNvCxnSpPr>
            <p:nvPr/>
          </p:nvCxnSpPr>
          <p:spPr>
            <a:xfrm>
              <a:off x="1615440" y="2657863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>
              <a:off x="5395627" y="2368556"/>
              <a:ext cx="63030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2" name="Pentagon 51"/>
            <p:cNvSpPr/>
            <p:nvPr/>
          </p:nvSpPr>
          <p:spPr>
            <a:xfrm>
              <a:off x="2590800" y="2976327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53" name="Straight Connector 52"/>
            <p:cNvCxnSpPr>
              <a:stCxn id="52" idx="3"/>
              <a:endCxn id="51" idx="1"/>
            </p:cNvCxnSpPr>
            <p:nvPr/>
          </p:nvCxnSpPr>
          <p:spPr>
            <a:xfrm flipV="1">
              <a:off x="3920905" y="2507056"/>
              <a:ext cx="1474722" cy="581308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396240" y="2956381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mpIndexBuffer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55" name="Straight Arrow Connector 54"/>
            <p:cNvCxnSpPr>
              <a:stCxn id="54" idx="3"/>
            </p:cNvCxnSpPr>
            <p:nvPr/>
          </p:nvCxnSpPr>
          <p:spPr>
            <a:xfrm>
              <a:off x="1615440" y="3075177"/>
              <a:ext cx="97536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30"/>
            <p:cNvCxnSpPr>
              <a:stCxn id="46" idx="3"/>
            </p:cNvCxnSpPr>
            <p:nvPr/>
          </p:nvCxnSpPr>
          <p:spPr>
            <a:xfrm flipV="1">
              <a:off x="5896662" y="2086363"/>
              <a:ext cx="781471" cy="1318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0"/>
            <p:cNvCxnSpPr>
              <a:stCxn id="51" idx="3"/>
            </p:cNvCxnSpPr>
            <p:nvPr/>
          </p:nvCxnSpPr>
          <p:spPr>
            <a:xfrm flipV="1">
              <a:off x="6025928" y="2209800"/>
              <a:ext cx="652205" cy="29725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6658857" y="288750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7696200" y="2346325"/>
            <a:ext cx="1188553" cy="1200322"/>
            <a:chOff x="7696200" y="2346325"/>
            <a:chExt cx="1188553" cy="1200322"/>
          </a:xfrm>
        </p:grpSpPr>
        <p:sp>
          <p:nvSpPr>
            <p:cNvPr id="88" name="Cloud 87"/>
            <p:cNvSpPr/>
            <p:nvPr/>
          </p:nvSpPr>
          <p:spPr>
            <a:xfrm>
              <a:off x="8096542" y="2346325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???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Straight Arrow Connector 88"/>
            <p:cNvCxnSpPr>
              <a:endCxn id="88" idx="2"/>
            </p:cNvCxnSpPr>
            <p:nvPr/>
          </p:nvCxnSpPr>
          <p:spPr>
            <a:xfrm>
              <a:off x="7696200" y="2526559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loud 93"/>
            <p:cNvSpPr/>
            <p:nvPr/>
          </p:nvSpPr>
          <p:spPr>
            <a:xfrm>
              <a:off x="8112658" y="3186179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???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95" name="Straight Arrow Connector 94"/>
            <p:cNvCxnSpPr>
              <a:endCxn id="94" idx="2"/>
            </p:cNvCxnSpPr>
            <p:nvPr/>
          </p:nvCxnSpPr>
          <p:spPr>
            <a:xfrm>
              <a:off x="7712316" y="3366413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ounded Rectangle 95"/>
          <p:cNvSpPr/>
          <p:nvPr/>
        </p:nvSpPr>
        <p:spPr>
          <a:xfrm>
            <a:off x="7913685" y="1880466"/>
            <a:ext cx="1168930" cy="405534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missing:</a:t>
            </a:r>
          </a:p>
          <a:p>
            <a:pPr algn="ctr"/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pic>
        <p:nvPicPr>
          <p:cNvPr id="56" name="Picture 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461" y="0"/>
            <a:ext cx="1411539" cy="109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913909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6" grpId="0" animBg="1"/>
      <p:bldP spid="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Recap:</a:t>
            </a:r>
            <a:br>
              <a:rPr lang="en-US" dirty="0" smtClean="0"/>
            </a:br>
            <a:r>
              <a:rPr lang="en-US" dirty="0" smtClean="0"/>
              <a:t>Rendering Pipeline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Input Assembler Stage (IA)</a:t>
            </a:r>
          </a:p>
          <a:p>
            <a:pPr marL="461963" lvl="1" indent="-188913"/>
            <a:r>
              <a:rPr lang="en-US" sz="1600" dirty="0" smtClean="0"/>
              <a:t>Makes the inputs available to start the pipeline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Typically: these inputs include a collection of vertices</a:t>
            </a:r>
          </a:p>
          <a:p>
            <a:pPr marL="0" indent="0">
              <a:buNone/>
            </a:pPr>
            <a:r>
              <a:rPr lang="en-US" sz="1800" b="1" dirty="0" smtClean="0"/>
              <a:t>Vertex </a:t>
            </a:r>
            <a:r>
              <a:rPr lang="en-US" sz="1800" b="1" dirty="0" err="1" smtClean="0"/>
              <a:t>Shader</a:t>
            </a:r>
            <a:r>
              <a:rPr lang="en-US" sz="1800" b="1" dirty="0" smtClean="0"/>
              <a:t> Stage (VS)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Operates on each the vertices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Typically: Apply </a:t>
            </a:r>
            <a:r>
              <a:rPr lang="en-US" sz="1600" dirty="0" err="1" smtClean="0"/>
              <a:t>WordMat</a:t>
            </a:r>
            <a:r>
              <a:rPr lang="en-US" sz="1600" dirty="0" smtClean="0"/>
              <a:t> &amp; Camera Matrices</a:t>
            </a:r>
          </a:p>
          <a:p>
            <a:pPr marL="0" indent="0">
              <a:buNone/>
            </a:pPr>
            <a:r>
              <a:rPr lang="en-US" sz="1800" b="1" dirty="0" smtClean="0"/>
              <a:t>Clipping: </a:t>
            </a:r>
            <a:r>
              <a:rPr lang="en-US" sz="1800" b="1" i="1" u="sng" dirty="0" smtClean="0"/>
              <a:t>not shown</a:t>
            </a:r>
          </a:p>
          <a:p>
            <a:pPr marL="457200" lvl="1" indent="-184150"/>
            <a:r>
              <a:rPr lang="en-US" sz="1600" dirty="0" smtClean="0"/>
              <a:t>Trim triangles/lines outside the view frustum.  </a:t>
            </a:r>
          </a:p>
          <a:p>
            <a:pPr marL="457200" lvl="1" indent="-184150">
              <a:spcBef>
                <a:spcPts val="0"/>
              </a:spcBef>
            </a:pPr>
            <a:r>
              <a:rPr lang="en-US" sz="1600" dirty="0" smtClean="0"/>
              <a:t>Performs </a:t>
            </a:r>
            <a:r>
              <a:rPr lang="en-US" sz="1600" dirty="0" err="1" smtClean="0"/>
              <a:t>homog</a:t>
            </a:r>
            <a:r>
              <a:rPr lang="en-US" sz="1600" dirty="0" smtClean="0"/>
              <a:t>. </a:t>
            </a:r>
            <a:r>
              <a:rPr lang="en-US" sz="1600" dirty="0" err="1" smtClean="0"/>
              <a:t>coord</a:t>
            </a:r>
            <a:r>
              <a:rPr lang="en-US" sz="1600" dirty="0" smtClean="0"/>
              <a:t> division to place verts in NDC.</a:t>
            </a:r>
          </a:p>
          <a:p>
            <a:pPr marL="0" indent="0">
              <a:buNone/>
            </a:pPr>
            <a:r>
              <a:rPr lang="en-US" sz="1800" b="1" dirty="0" smtClean="0"/>
              <a:t>Rasterizer Stage (RS)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Adjust NDC to Viewport &amp; performs </a:t>
            </a:r>
            <a:r>
              <a:rPr lang="en-US" sz="1600" dirty="0" err="1" smtClean="0"/>
              <a:t>backface</a:t>
            </a:r>
            <a:r>
              <a:rPr lang="en-US" sz="1600" dirty="0" smtClean="0"/>
              <a:t> culling 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600" dirty="0" smtClean="0"/>
              <a:t>Interpolates vertex attributes (color, texture, normal, etc.) across pixels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 smtClean="0"/>
              <a:t>Pixel </a:t>
            </a:r>
            <a:r>
              <a:rPr lang="en-US" sz="1800" b="1" dirty="0" err="1" smtClean="0"/>
              <a:t>Shader</a:t>
            </a:r>
            <a:r>
              <a:rPr lang="en-US" sz="1800" b="1" dirty="0" smtClean="0"/>
              <a:t> Stage (PS)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Applied to each pixels. Lighting effects (if any) are computed here.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 smtClean="0"/>
              <a:t>Output Merger Stage (OM)</a:t>
            </a:r>
            <a:endParaRPr lang="en-US" sz="1800" b="1" dirty="0"/>
          </a:p>
          <a:p>
            <a:pPr marL="461963" lvl="1" indent="-188913"/>
            <a:r>
              <a:rPr lang="en-US" sz="1600" dirty="0" smtClean="0"/>
              <a:t>Some depth, blending &amp; transparency processing before sending it to the screen</a:t>
            </a:r>
            <a:endParaRPr lang="en-US" sz="1600" dirty="0"/>
          </a:p>
          <a:p>
            <a:pPr marL="273050" lvl="1" indent="0">
              <a:buNone/>
            </a:pPr>
            <a:endParaRPr lang="en-US" sz="1600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5562599" y="126683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88819" y="1932159"/>
            <a:ext cx="1297781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62599" y="256223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556646" y="3886200"/>
            <a:ext cx="1762125" cy="457200"/>
          </a:xfrm>
          <a:prstGeom prst="roundRect">
            <a:avLst>
              <a:gd name="adj" fmla="val 6687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79292" y="3209925"/>
            <a:ext cx="1297781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0000"/>
            </a:solidFill>
          </a:ln>
          <a:effectLst>
            <a:glow rad="127000">
              <a:srgbClr val="FFFF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390" name="Picture 6" descr="Rasteriz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724400"/>
            <a:ext cx="18288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892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 animBg="1"/>
      <p:bldP spid="13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Recap:</a:t>
            </a:r>
            <a:br>
              <a:rPr lang="en-US" dirty="0" smtClean="0"/>
            </a:br>
            <a:r>
              <a:rPr lang="en-US" dirty="0" smtClean="0"/>
              <a:t>Rendering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344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To render something, we need ‘build’ the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missing pieces into the render pipeline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Input Assembler Stage:</a:t>
            </a:r>
          </a:p>
          <a:p>
            <a:pPr marL="457200" lvl="1" indent="-184150"/>
            <a:r>
              <a:rPr lang="en-US" sz="1800" dirty="0" smtClean="0"/>
              <a:t>Needs the vertices and how they are connected</a:t>
            </a:r>
          </a:p>
          <a:p>
            <a:pPr marL="457200" lvl="1" indent="-184150"/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Vertex </a:t>
            </a:r>
            <a:r>
              <a:rPr lang="en-US" sz="2000" b="1" dirty="0" err="1" smtClean="0"/>
              <a:t>Shader</a:t>
            </a:r>
            <a:r>
              <a:rPr lang="en-US" sz="2000" b="1" dirty="0" smtClean="0"/>
              <a:t>  Stage:</a:t>
            </a:r>
          </a:p>
          <a:p>
            <a:pPr marL="457200" lvl="1" indent="-184150"/>
            <a:r>
              <a:rPr lang="en-US" sz="1800" dirty="0" smtClean="0"/>
              <a:t>Needs to know what to do with each vertex</a:t>
            </a:r>
          </a:p>
          <a:p>
            <a:pPr marL="457200" lvl="1" indent="-184150"/>
            <a:r>
              <a:rPr lang="en-US" sz="1800" dirty="0" smtClean="0"/>
              <a:t>Given as separate </a:t>
            </a:r>
            <a:r>
              <a:rPr lang="en-US" sz="1800" dirty="0"/>
              <a:t>HLSL</a:t>
            </a:r>
            <a:r>
              <a:rPr lang="en-US" sz="1800" dirty="0" smtClean="0"/>
              <a:t> code and must be </a:t>
            </a:r>
          </a:p>
          <a:p>
            <a:pPr marL="273050" lvl="1" indent="0">
              <a:spcBef>
                <a:spcPts val="0"/>
              </a:spcBef>
              <a:buNone/>
            </a:pPr>
            <a:r>
              <a:rPr lang="en-US" sz="1800" dirty="0" smtClean="0"/>
              <a:t>compiled on the GPU</a:t>
            </a:r>
          </a:p>
          <a:p>
            <a:pPr marL="457200" lvl="1" indent="-184150"/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Pixel </a:t>
            </a:r>
            <a:r>
              <a:rPr lang="en-US" sz="2000" b="1" dirty="0" err="1" smtClean="0"/>
              <a:t>Shader</a:t>
            </a:r>
            <a:r>
              <a:rPr lang="en-US" sz="2000" b="1" dirty="0" smtClean="0"/>
              <a:t>  </a:t>
            </a:r>
            <a:r>
              <a:rPr lang="en-US" sz="2000" b="1" dirty="0"/>
              <a:t>Stage:</a:t>
            </a:r>
          </a:p>
          <a:p>
            <a:pPr marL="457200" lvl="1" indent="-184150"/>
            <a:r>
              <a:rPr lang="en-US" sz="1800" dirty="0" smtClean="0"/>
              <a:t>Needs </a:t>
            </a:r>
            <a:r>
              <a:rPr lang="en-US" sz="1800" dirty="0"/>
              <a:t>to know what to do with each </a:t>
            </a:r>
            <a:r>
              <a:rPr lang="en-US" sz="1800" dirty="0" smtClean="0"/>
              <a:t>pixels associated with each triangle</a:t>
            </a:r>
            <a:endParaRPr lang="en-US" sz="1800" dirty="0"/>
          </a:p>
          <a:p>
            <a:pPr marL="457200" lvl="1" indent="-184150"/>
            <a:r>
              <a:rPr lang="en-US" sz="1800" dirty="0"/>
              <a:t>Given as separate HLSL </a:t>
            </a:r>
            <a:r>
              <a:rPr lang="en-US" sz="1800" dirty="0" smtClean="0"/>
              <a:t>code and </a:t>
            </a:r>
            <a:r>
              <a:rPr lang="en-US" sz="1800" dirty="0"/>
              <a:t>must be </a:t>
            </a:r>
            <a:r>
              <a:rPr lang="en-US" sz="1800" dirty="0" smtClean="0"/>
              <a:t>compiled </a:t>
            </a:r>
            <a:r>
              <a:rPr lang="en-US" sz="1800" dirty="0"/>
              <a:t>on </a:t>
            </a:r>
            <a:r>
              <a:rPr lang="en-US" sz="1800" dirty="0" smtClean="0"/>
              <a:t>the GPU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70" y="533400"/>
            <a:ext cx="3524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76200"/>
            <a:ext cx="12765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305800" y="1371600"/>
            <a:ext cx="444352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23331172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</a:t>
            </a:r>
          </a:p>
          <a:p>
            <a:r>
              <a:rPr lang="en-US" dirty="0" err="1" smtClean="0"/>
              <a:t>Shaders</a:t>
            </a:r>
            <a:r>
              <a:rPr lang="en-US" dirty="0" smtClean="0"/>
              <a:t> and HLSL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572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Level Shading Language </a:t>
            </a:r>
            <a:br>
              <a:rPr lang="en-US" dirty="0" smtClean="0"/>
            </a:br>
            <a:r>
              <a:rPr lang="en-US" dirty="0" smtClean="0"/>
              <a:t>(HLSL 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 smtClean="0"/>
              <a:t>Shaders</a:t>
            </a:r>
            <a:r>
              <a:rPr lang="en-US" sz="2000" dirty="0" smtClean="0"/>
              <a:t> for DirectX are written in HLSL</a:t>
            </a:r>
          </a:p>
          <a:p>
            <a:pPr marL="457200" lvl="1" indent="-184150"/>
            <a:r>
              <a:rPr lang="en-US" sz="1800" dirty="0" smtClean="0"/>
              <a:t>Similar to C++ but not the same. We’ll learn about it as we go.</a:t>
            </a:r>
          </a:p>
          <a:p>
            <a:pPr marL="554038" lvl="2" indent="0">
              <a:buNone/>
            </a:pPr>
            <a:r>
              <a:rPr lang="en-US" sz="1600" i="1" dirty="0" smtClean="0"/>
              <a:t>See also book Appendix B, p813 and/or </a:t>
            </a:r>
            <a:r>
              <a:rPr lang="en-US" sz="1600" i="1" dirty="0" smtClean="0">
                <a:hlinkClick r:id="rId2"/>
              </a:rPr>
              <a:t>MS HLSL Reference and Guide</a:t>
            </a:r>
            <a:endParaRPr lang="en-US" i="1" dirty="0" smtClean="0"/>
          </a:p>
          <a:p>
            <a:pPr marL="457200" lvl="1" indent="-184150"/>
            <a:r>
              <a:rPr lang="en-US" sz="1800" dirty="0" err="1" smtClean="0"/>
              <a:t>Shader</a:t>
            </a:r>
            <a:r>
              <a:rPr lang="en-US" sz="1800" dirty="0" smtClean="0"/>
              <a:t> code must be </a:t>
            </a:r>
            <a:r>
              <a:rPr lang="en-US" sz="1800" u="sng" dirty="0" smtClean="0"/>
              <a:t>sent to</a:t>
            </a:r>
            <a:r>
              <a:rPr lang="en-US" sz="1800" dirty="0" smtClean="0"/>
              <a:t> and </a:t>
            </a:r>
            <a:r>
              <a:rPr lang="en-US" sz="1800" u="sng" dirty="0" smtClean="0"/>
              <a:t>compiled</a:t>
            </a:r>
            <a:r>
              <a:rPr lang="en-US" sz="1800" dirty="0" smtClean="0"/>
              <a:t> on the </a:t>
            </a:r>
            <a:r>
              <a:rPr lang="en-US" sz="1800" u="sng" dirty="0" smtClean="0"/>
              <a:t>GPU</a:t>
            </a:r>
          </a:p>
          <a:p>
            <a:pPr marL="457200" lvl="1" indent="-184150"/>
            <a:r>
              <a:rPr lang="en-US" sz="1800" dirty="0" smtClean="0"/>
              <a:t>In general, multiple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can be switched in and out of the rendering pipeline</a:t>
            </a:r>
          </a:p>
          <a:p>
            <a:pPr marL="573088" lvl="2" indent="0">
              <a:buNone/>
            </a:pPr>
            <a:r>
              <a:rPr lang="en-US" sz="1600" i="1" dirty="0" smtClean="0"/>
              <a:t>We’ll have examples of that later this quarter</a:t>
            </a:r>
          </a:p>
          <a:p>
            <a:pPr marL="457200" lvl="1" indent="-184150"/>
            <a:endParaRPr lang="en-US" sz="1800" dirty="0" smtClean="0"/>
          </a:p>
          <a:p>
            <a:pPr marL="273050" lvl="1" indent="0">
              <a:buNone/>
            </a:pPr>
            <a:endParaRPr lang="en-US" sz="1800" dirty="0"/>
          </a:p>
          <a:p>
            <a:pPr marL="273050" lvl="1" indent="0">
              <a:buNone/>
            </a:pPr>
            <a:endParaRPr lang="en-US" sz="1100" dirty="0"/>
          </a:p>
          <a:p>
            <a:pPr marL="273050" lvl="1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2000" dirty="0" smtClean="0"/>
              <a:t>HLSL peculiarities:</a:t>
            </a:r>
          </a:p>
          <a:p>
            <a:pPr marL="457200" lvl="1" indent="-184150"/>
            <a:r>
              <a:rPr lang="en-US" sz="1800" dirty="0" smtClean="0"/>
              <a:t>Easy </a:t>
            </a:r>
            <a:r>
              <a:rPr lang="en-US" sz="1800" dirty="0" smtClean="0">
                <a:hlinkClick r:id="rId3"/>
              </a:rPr>
              <a:t>vectors</a:t>
            </a:r>
            <a:r>
              <a:rPr lang="en-US" sz="1800" dirty="0" smtClean="0"/>
              <a:t> / </a:t>
            </a:r>
            <a:r>
              <a:rPr lang="en-US" sz="1800" dirty="0" smtClean="0">
                <a:hlinkClick r:id="rId4"/>
              </a:rPr>
              <a:t>matrices</a:t>
            </a:r>
            <a:r>
              <a:rPr lang="en-US" sz="1800" dirty="0" smtClean="0"/>
              <a:t> from base </a:t>
            </a:r>
            <a:r>
              <a:rPr lang="en-US" sz="1800" dirty="0" smtClean="0">
                <a:hlinkClick r:id="rId5"/>
              </a:rPr>
              <a:t>data types</a:t>
            </a:r>
            <a:endParaRPr lang="en-US" sz="1800" dirty="0" smtClean="0"/>
          </a:p>
          <a:p>
            <a:pPr marL="458788" lvl="2" indent="0">
              <a:buNone/>
            </a:pPr>
            <a:r>
              <a:rPr lang="en-US" sz="1600" dirty="0" smtClean="0"/>
              <a:t>IMPORTANT: </a:t>
            </a:r>
            <a:r>
              <a:rPr lang="en-US" sz="1600" dirty="0" smtClean="0">
                <a:hlinkClick r:id="rId6"/>
              </a:rPr>
              <a:t>LASR</a:t>
            </a:r>
            <a:r>
              <a:rPr lang="en-US" sz="1600" dirty="0" smtClean="0"/>
              <a:t>. What do we need to know?</a:t>
            </a:r>
          </a:p>
          <a:p>
            <a:pPr marL="914400" lvl="3" indent="-182563"/>
            <a:r>
              <a:rPr lang="en-US" dirty="0" smtClean="0"/>
              <a:t>HLSL defaults to  </a:t>
            </a:r>
            <a:r>
              <a:rPr lang="en-US" u="sng" dirty="0" smtClean="0">
                <a:hlinkClick r:id="rId7" action="ppaction://hlinksldjump"/>
              </a:rPr>
              <a:t>column-major</a:t>
            </a:r>
            <a:r>
              <a:rPr lang="en-US" dirty="0" smtClean="0">
                <a:hlinkClick r:id="rId7" action="ppaction://hlinksldjump"/>
              </a:rPr>
              <a:t> </a:t>
            </a:r>
            <a:r>
              <a:rPr lang="en-US" dirty="0" smtClean="0">
                <a:hlinkClick r:id="rId7" action="ppaction://hlinksldjump"/>
              </a:rPr>
              <a:t>matrices</a:t>
            </a:r>
            <a:r>
              <a:rPr lang="en-US" dirty="0" smtClean="0"/>
              <a:t>!</a:t>
            </a:r>
            <a:endParaRPr lang="en-US" dirty="0" smtClean="0"/>
          </a:p>
          <a:p>
            <a:pPr marL="457200" lvl="1" indent="-184150"/>
            <a:r>
              <a:rPr lang="en-US" sz="1800" dirty="0" smtClean="0"/>
              <a:t>Unique to HLSL: </a:t>
            </a:r>
            <a:r>
              <a:rPr lang="en-US" sz="1800" dirty="0" smtClean="0">
                <a:hlinkClick r:id="rId8"/>
              </a:rPr>
              <a:t>Semantics</a:t>
            </a:r>
            <a:endParaRPr lang="en-US" sz="1800" dirty="0" smtClean="0"/>
          </a:p>
          <a:p>
            <a:pPr marL="273050" lvl="1" indent="0">
              <a:buNone/>
            </a:pPr>
            <a:endParaRPr lang="en-US" sz="1800" dirty="0" smtClean="0"/>
          </a:p>
          <a:p>
            <a:pPr marL="273050" lvl="1" indent="0">
              <a:buNone/>
            </a:pPr>
            <a:endParaRPr lang="en-US" sz="1800" dirty="0"/>
          </a:p>
        </p:txBody>
      </p:sp>
      <p:sp>
        <p:nvSpPr>
          <p:cNvPr id="17" name="TextBox 16"/>
          <p:cNvSpPr txBox="1"/>
          <p:nvPr/>
        </p:nvSpPr>
        <p:spPr>
          <a:xfrm>
            <a:off x="5210176" y="3257014"/>
            <a:ext cx="393382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grpSp>
        <p:nvGrpSpPr>
          <p:cNvPr id="5" name="Group 4"/>
          <p:cNvGrpSpPr/>
          <p:nvPr/>
        </p:nvGrpSpPr>
        <p:grpSpPr>
          <a:xfrm>
            <a:off x="3810000" y="3657600"/>
            <a:ext cx="5124921" cy="2590800"/>
            <a:chOff x="3810000" y="3657600"/>
            <a:chExt cx="5124921" cy="2590800"/>
          </a:xfrm>
        </p:grpSpPr>
        <p:sp>
          <p:nvSpPr>
            <p:cNvPr id="18" name="Rounded Rectangle 17"/>
            <p:cNvSpPr/>
            <p:nvPr/>
          </p:nvSpPr>
          <p:spPr>
            <a:xfrm>
              <a:off x="6526038" y="3657600"/>
              <a:ext cx="1247775" cy="2286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26042" y="4572000"/>
              <a:ext cx="1247775" cy="2286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Elbow Connector 10"/>
            <p:cNvCxnSpPr>
              <a:endCxn id="19" idx="2"/>
            </p:cNvCxnSpPr>
            <p:nvPr/>
          </p:nvCxnSpPr>
          <p:spPr>
            <a:xfrm flipV="1">
              <a:off x="3810000" y="4800600"/>
              <a:ext cx="3339930" cy="1093961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bow Connector 11"/>
            <p:cNvCxnSpPr>
              <a:stCxn id="19" idx="0"/>
              <a:endCxn id="18" idx="2"/>
            </p:cNvCxnSpPr>
            <p:nvPr/>
          </p:nvCxnSpPr>
          <p:spPr>
            <a:xfrm rot="16200000" flipV="1">
              <a:off x="6807028" y="4229098"/>
              <a:ext cx="685800" cy="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7687146" y="6019800"/>
              <a:ext cx="1247775" cy="2286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Elbow Connector 26"/>
            <p:cNvCxnSpPr>
              <a:endCxn id="26" idx="0"/>
            </p:cNvCxnSpPr>
            <p:nvPr/>
          </p:nvCxnSpPr>
          <p:spPr>
            <a:xfrm>
              <a:off x="3810000" y="5894561"/>
              <a:ext cx="4501034" cy="125239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570955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HLSL Semantics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181976" y="6501968"/>
            <a:ext cx="609600" cy="365760"/>
          </a:xfrm>
        </p:spPr>
        <p:txBody>
          <a:bodyPr/>
          <a:lstStyle/>
          <a:p>
            <a:fld id="{2DD2A927-C669-46EB-947E-64BB8CE605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dirty="0" smtClean="0">
                <a:hlinkClick r:id="rId2"/>
              </a:rPr>
              <a:t>semantic</a:t>
            </a:r>
            <a:r>
              <a:rPr lang="en-US" sz="2000" dirty="0" smtClean="0"/>
              <a:t> is </a:t>
            </a:r>
            <a:r>
              <a:rPr lang="en-US" sz="2000" dirty="0"/>
              <a:t>a string attached to a </a:t>
            </a:r>
            <a:r>
              <a:rPr lang="en-US" sz="2000" dirty="0" err="1"/>
              <a:t>shader</a:t>
            </a:r>
            <a:r>
              <a:rPr lang="en-US" sz="2000" dirty="0"/>
              <a:t> </a:t>
            </a:r>
            <a:r>
              <a:rPr lang="en-US" sz="2000" dirty="0" smtClean="0"/>
              <a:t>resource (input or output) that </a:t>
            </a:r>
            <a:r>
              <a:rPr lang="en-US" sz="2000" dirty="0"/>
              <a:t>conveys </a:t>
            </a:r>
            <a:r>
              <a:rPr lang="en-US" sz="2000" dirty="0" smtClean="0"/>
              <a:t>information to the compiler </a:t>
            </a:r>
            <a:r>
              <a:rPr lang="en-US" sz="2000" dirty="0"/>
              <a:t>about the intended use of </a:t>
            </a:r>
            <a:r>
              <a:rPr lang="en-US" sz="2000" dirty="0" smtClean="0"/>
              <a:t>data. </a:t>
            </a:r>
          </a:p>
          <a:p>
            <a:r>
              <a:rPr lang="en-US" sz="2000" dirty="0" smtClean="0"/>
              <a:t>Used by the rendering pipeline to resolve data ambiguities</a:t>
            </a:r>
          </a:p>
          <a:p>
            <a:pPr marL="687388" lvl="1" indent="-188913"/>
            <a:r>
              <a:rPr lang="en-US" sz="1800" b="1" dirty="0" smtClean="0"/>
              <a:t>Ex: </a:t>
            </a:r>
            <a:r>
              <a:rPr lang="en-US" sz="1800" dirty="0" smtClean="0"/>
              <a:t> float4 can be a position in space, pixel on screens or a color</a:t>
            </a:r>
            <a:endParaRPr lang="en-US" sz="1800" b="1" dirty="0" smtClean="0"/>
          </a:p>
          <a:p>
            <a:r>
              <a:rPr lang="en-US" sz="2000" dirty="0" smtClean="0"/>
              <a:t>Semantics </a:t>
            </a:r>
            <a:r>
              <a:rPr lang="en-US" sz="2000" dirty="0"/>
              <a:t>are required on all variables passed </a:t>
            </a:r>
            <a:r>
              <a:rPr lang="en-US" sz="2000" dirty="0" smtClean="0"/>
              <a:t>to and from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</a:t>
            </a:r>
            <a:r>
              <a:rPr lang="en-US" sz="2000" dirty="0"/>
              <a:t>stages. </a:t>
            </a:r>
            <a:endParaRPr lang="en-US" sz="2000" dirty="0" smtClean="0"/>
          </a:p>
          <a:p>
            <a:endParaRPr lang="en-US" sz="2000" dirty="0" smtClean="0">
              <a:hlinkClick r:id="rId3"/>
            </a:endParaRPr>
          </a:p>
          <a:p>
            <a:r>
              <a:rPr lang="en-US" sz="2000" dirty="0" smtClean="0"/>
              <a:t>Common Semantics:</a:t>
            </a:r>
          </a:p>
          <a:p>
            <a:pPr marL="687388" lvl="1" indent="-188913"/>
            <a:r>
              <a:rPr lang="en-US" sz="1800" dirty="0" smtClean="0">
                <a:hlinkClick r:id="rId4"/>
              </a:rPr>
              <a:t>Vertex </a:t>
            </a:r>
            <a:r>
              <a:rPr lang="en-US" sz="1800" dirty="0" err="1" smtClean="0">
                <a:hlinkClick r:id="rId4"/>
              </a:rPr>
              <a:t>Shader</a:t>
            </a:r>
            <a:r>
              <a:rPr lang="en-US" sz="1800" dirty="0" smtClean="0">
                <a:hlinkClick r:id="rId4"/>
              </a:rPr>
              <a:t> Semantics</a:t>
            </a:r>
            <a:endParaRPr lang="en-US" sz="1800" dirty="0" smtClean="0"/>
          </a:p>
          <a:p>
            <a:pPr marL="687388" lvl="1" indent="-188913"/>
            <a:r>
              <a:rPr lang="en-US" sz="1800" dirty="0" smtClean="0">
                <a:hlinkClick r:id="rId5"/>
              </a:rPr>
              <a:t>Pixel </a:t>
            </a:r>
            <a:r>
              <a:rPr lang="en-US" sz="1800" dirty="0" err="1" smtClean="0">
                <a:hlinkClick r:id="rId5"/>
              </a:rPr>
              <a:t>Shader</a:t>
            </a:r>
            <a:r>
              <a:rPr lang="en-US" sz="1800" dirty="0" smtClean="0">
                <a:hlinkClick r:id="rId5"/>
              </a:rPr>
              <a:t> </a:t>
            </a:r>
            <a:r>
              <a:rPr lang="en-US" sz="1800" dirty="0" err="1" smtClean="0">
                <a:hlinkClick r:id="rId5"/>
              </a:rPr>
              <a:t>Sematics</a:t>
            </a:r>
            <a:endParaRPr lang="en-US" sz="1800" dirty="0" smtClean="0"/>
          </a:p>
          <a:p>
            <a:pPr marL="687388" lvl="1" indent="-188913"/>
            <a:r>
              <a:rPr lang="en-US" sz="2000" dirty="0" smtClean="0">
                <a:hlinkClick r:id="rId3"/>
              </a:rPr>
              <a:t>System Value semantics</a:t>
            </a:r>
            <a:endParaRPr lang="en-US" sz="2000" dirty="0" smtClean="0"/>
          </a:p>
          <a:p>
            <a:pPr marL="839787" lvl="2" indent="0">
              <a:buNone/>
            </a:pPr>
            <a:r>
              <a:rPr lang="en-US" i="1" dirty="0" smtClean="0"/>
              <a:t>Read up on all these…</a:t>
            </a:r>
            <a:endParaRPr lang="en-US" sz="1800" i="1" dirty="0" smtClean="0"/>
          </a:p>
          <a:p>
            <a:pPr marL="498475" lvl="1" indent="0">
              <a:buNone/>
            </a:pPr>
            <a:endParaRPr lang="en-US" dirty="0"/>
          </a:p>
          <a:p>
            <a:pPr marL="498475" lvl="1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10176" y="3257014"/>
            <a:ext cx="393382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6526038" y="36576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526042" y="45720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687146" y="60198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1971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Value Semantics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System Value Semantic are a bit different than the others: </a:t>
            </a:r>
          </a:p>
          <a:p>
            <a:pPr marL="461963" lvl="1" indent="-188913"/>
            <a:r>
              <a:rPr lang="en-US" sz="1800" dirty="0" smtClean="0"/>
              <a:t>Identified by the ‘SV_’ prefix</a:t>
            </a:r>
          </a:p>
          <a:p>
            <a:pPr marL="461963" lvl="1" indent="-188913"/>
            <a:r>
              <a:rPr lang="en-US" sz="1800" dirty="0" smtClean="0"/>
              <a:t>They represent data that the render pipeline </a:t>
            </a:r>
            <a:r>
              <a:rPr lang="en-US" sz="1800" i="1" u="sng" dirty="0" smtClean="0"/>
              <a:t>must</a:t>
            </a:r>
            <a:r>
              <a:rPr lang="en-US" sz="1800" dirty="0" smtClean="0"/>
              <a:t> have in order to perform its job</a:t>
            </a:r>
          </a:p>
          <a:p>
            <a:pPr marL="461963" lvl="1" indent="-188913"/>
            <a:r>
              <a:rPr lang="en-US" sz="1800" dirty="0" smtClean="0"/>
              <a:t>In other words: it’s a requirement on </a:t>
            </a:r>
            <a:r>
              <a:rPr lang="en-US" sz="1800" i="1" u="sng" dirty="0" smtClean="0"/>
              <a:t>you</a:t>
            </a:r>
            <a:r>
              <a:rPr lang="en-US" sz="1800" dirty="0" smtClean="0"/>
              <a:t> to point out what the pipeline needs</a:t>
            </a:r>
            <a:endParaRPr lang="en-US" sz="1800" dirty="0"/>
          </a:p>
          <a:p>
            <a:pPr marL="461963" lvl="1" indent="-188913"/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Examples:</a:t>
            </a:r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10176" y="3257014"/>
            <a:ext cx="393382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6526038" y="36576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526042" y="45720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09600" y="3230795"/>
            <a:ext cx="6540326" cy="578882"/>
            <a:chOff x="609600" y="3230795"/>
            <a:chExt cx="6540326" cy="578882"/>
          </a:xfrm>
        </p:grpSpPr>
        <p:sp>
          <p:nvSpPr>
            <p:cNvPr id="11" name="TextBox 10"/>
            <p:cNvSpPr txBox="1"/>
            <p:nvPr/>
          </p:nvSpPr>
          <p:spPr>
            <a:xfrm>
              <a:off x="609600" y="3230795"/>
              <a:ext cx="4267200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 a System value: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It’s typical for a vertex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receive the position of vertices, but it doesn’t </a:t>
              </a:r>
              <a:r>
                <a:rPr lang="en-US" sz="1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have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to.</a:t>
              </a:r>
            </a:p>
          </p:txBody>
        </p:sp>
        <p:cxnSp>
          <p:nvCxnSpPr>
            <p:cNvPr id="12" name="Elbow Connector 11"/>
            <p:cNvCxnSpPr>
              <a:stCxn id="11" idx="3"/>
              <a:endCxn id="7" idx="0"/>
            </p:cNvCxnSpPr>
            <p:nvPr/>
          </p:nvCxnSpPr>
          <p:spPr>
            <a:xfrm>
              <a:off x="4876800" y="3520236"/>
              <a:ext cx="2273126" cy="137364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09600" y="3892034"/>
            <a:ext cx="6540330" cy="1055608"/>
            <a:chOff x="609600" y="3892034"/>
            <a:chExt cx="6540330" cy="1055608"/>
          </a:xfrm>
        </p:grpSpPr>
        <p:sp>
          <p:nvSpPr>
            <p:cNvPr id="23" name="TextBox 22"/>
            <p:cNvSpPr txBox="1"/>
            <p:nvPr/>
          </p:nvSpPr>
          <p:spPr>
            <a:xfrm>
              <a:off x="609600" y="3892034"/>
              <a:ext cx="4267200" cy="1055608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value: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SV_POSITION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Represents an expected value which is subject to clipping, etc. When presented to a Pixel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these value will hold the screen pixel coordinates.</a:t>
              </a:r>
            </a:p>
          </p:txBody>
        </p:sp>
        <p:cxnSp>
          <p:nvCxnSpPr>
            <p:cNvPr id="24" name="Elbow Connector 23"/>
            <p:cNvCxnSpPr>
              <a:stCxn id="23" idx="3"/>
              <a:endCxn id="8" idx="0"/>
            </p:cNvCxnSpPr>
            <p:nvPr/>
          </p:nvCxnSpPr>
          <p:spPr>
            <a:xfrm>
              <a:off x="4876800" y="4419838"/>
              <a:ext cx="2273130" cy="152162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609600" y="5431155"/>
            <a:ext cx="7701434" cy="817245"/>
            <a:chOff x="609600" y="5431155"/>
            <a:chExt cx="7701434" cy="817245"/>
          </a:xfrm>
        </p:grpSpPr>
        <p:sp>
          <p:nvSpPr>
            <p:cNvPr id="26" name="TextBox 25"/>
            <p:cNvSpPr txBox="1"/>
            <p:nvPr/>
          </p:nvSpPr>
          <p:spPr>
            <a:xfrm>
              <a:off x="609600" y="5431155"/>
              <a:ext cx="4267200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value: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SV_TARGET as the output of the PS must be sent to the render target, therefore the compiler must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nsure the data formats match.</a:t>
              </a:r>
            </a:p>
          </p:txBody>
        </p:sp>
        <p:cxnSp>
          <p:nvCxnSpPr>
            <p:cNvPr id="27" name="Elbow Connector 26"/>
            <p:cNvCxnSpPr>
              <a:stCxn id="26" idx="3"/>
              <a:endCxn id="19" idx="0"/>
            </p:cNvCxnSpPr>
            <p:nvPr/>
          </p:nvCxnSpPr>
          <p:spPr>
            <a:xfrm>
              <a:off x="4876800" y="5839778"/>
              <a:ext cx="3434234" cy="180022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ounded Rectangle 18"/>
          <p:cNvSpPr/>
          <p:nvPr/>
        </p:nvSpPr>
        <p:spPr>
          <a:xfrm>
            <a:off x="7687146" y="6019800"/>
            <a:ext cx="1247775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520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Shaders</a:t>
            </a:r>
            <a:r>
              <a:rPr lang="en-US" dirty="0" smtClean="0"/>
              <a:t> Input and Output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Just like with normal programming, there are many ways to code the same thing.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 smtClean="0"/>
              <a:t>following are all </a:t>
            </a:r>
            <a:r>
              <a:rPr lang="en-US" sz="2000" dirty="0" smtClean="0"/>
              <a:t>equivalent: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3195429"/>
            <a:ext cx="29718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546" y="3960674"/>
            <a:ext cx="429436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VS(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 ) : SV_POSITION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1301" y="1674674"/>
            <a:ext cx="4294360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VS(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 )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pd.Pos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0546" y="4951274"/>
            <a:ext cx="4294360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POSITION,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pd.Pos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914400" y="5620852"/>
            <a:ext cx="3124199" cy="1008548"/>
            <a:chOff x="914400" y="4706452"/>
            <a:chExt cx="3124199" cy="1008548"/>
          </a:xfrm>
        </p:grpSpPr>
        <p:sp>
          <p:nvSpPr>
            <p:cNvPr id="9" name="TextBox 8"/>
            <p:cNvSpPr txBox="1"/>
            <p:nvPr/>
          </p:nvSpPr>
          <p:spPr>
            <a:xfrm>
              <a:off x="914400" y="5136118"/>
              <a:ext cx="3124199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Note the auto casting of </a:t>
              </a:r>
              <a:r>
                <a:rPr lang="en-US" sz="1400" dirty="0" err="1">
                  <a:solidFill>
                    <a:srgbClr val="000000"/>
                  </a:solidFill>
                  <a:latin typeface="Consolas"/>
                </a:rPr>
                <a:t>inVert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 </a:t>
              </a:r>
              <a:r>
                <a:rPr lang="en-US" sz="1400" dirty="0" err="1">
                  <a:solidFill>
                    <a:srgbClr val="000000"/>
                  </a:solidFill>
                  <a:latin typeface="Consolas"/>
                </a:rPr>
                <a:t>VertexData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Consolas"/>
                </a:rPr>
                <a:t>PixelData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0" name="Elbow Connector 9"/>
            <p:cNvCxnSpPr>
              <a:stCxn id="9" idx="0"/>
            </p:cNvCxnSpPr>
            <p:nvPr/>
          </p:nvCxnSpPr>
          <p:spPr>
            <a:xfrm rot="16200000" flipV="1">
              <a:off x="2174038" y="4833656"/>
              <a:ext cx="429666" cy="17525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647699" y="2057400"/>
            <a:ext cx="36576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general: use standard coding practices to write clear and efficient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code.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78601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</a:t>
            </a:r>
            <a:r>
              <a:rPr lang="en-US" dirty="0" err="1" smtClean="0"/>
              <a:t>SimpleColor</a:t>
            </a:r>
            <a:r>
              <a:rPr lang="en-US" dirty="0" smtClean="0"/>
              <a:t>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1219200"/>
            <a:ext cx="4038600" cy="1828800"/>
          </a:xfrm>
        </p:spPr>
        <p:txBody>
          <a:bodyPr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IA has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verts and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tris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verts, the VS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simply passes through the vert.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RS clips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tri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indices) creates the pixels for each triangles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sz="quarter" idx="4"/>
          </p:nvPr>
        </p:nvSpPr>
        <p:spPr>
          <a:xfrm>
            <a:off x="4648200" y="1219200"/>
            <a:ext cx="4038600" cy="1981200"/>
          </a:xfrm>
        </p:spPr>
        <p:txBody>
          <a:bodyPr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pixel, the PS is called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PS simply returns the color Yellow (RGBA)</a:t>
            </a:r>
          </a:p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 sends the pixels to render target.</a:t>
            </a:r>
          </a:p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swap chain switches the buffers.</a:t>
            </a:r>
            <a:endParaRPr lang="en-US" sz="18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10176" y="3257014"/>
            <a:ext cx="393382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381000" y="3343007"/>
            <a:ext cx="4147652" cy="3429000"/>
            <a:chOff x="381000" y="3343007"/>
            <a:chExt cx="4147652" cy="3429000"/>
          </a:xfrm>
        </p:grpSpPr>
        <p:sp>
          <p:nvSpPr>
            <p:cNvPr id="7" name="Rectangle 6"/>
            <p:cNvSpPr/>
            <p:nvPr/>
          </p:nvSpPr>
          <p:spPr>
            <a:xfrm>
              <a:off x="381000" y="3343007"/>
              <a:ext cx="4147652" cy="3429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904970" y="3674966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6722" y="5476607"/>
              <a:ext cx="1577340" cy="6322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FrontBuffer</a:t>
              </a:r>
              <a:endPara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0052" y="6265762"/>
              <a:ext cx="2720340" cy="3899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</a:p>
            <a:p>
              <a:pPr algn="r"/>
              <a:r>
                <a:rPr lang="en-US" sz="1100" i="1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Send to  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SwapChain</a:t>
              </a:r>
              <a:r>
                <a:rPr lang="en-US" sz="11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-&gt;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3" name="AutoShape 9"/>
            <p:cNvSpPr>
              <a:spLocks noChangeArrowheads="1"/>
            </p:cNvSpPr>
            <p:nvPr/>
          </p:nvSpPr>
          <p:spPr bwMode="auto">
            <a:xfrm>
              <a:off x="3538052" y="5781407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#1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3538051" y="6133291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#2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542579" y="4948100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6" name="Straight Arrow Connector 15"/>
            <p:cNvCxnSpPr>
              <a:stCxn id="18" idx="3"/>
              <a:endCxn id="15" idx="1"/>
            </p:cNvCxnSpPr>
            <p:nvPr/>
          </p:nvCxnSpPr>
          <p:spPr>
            <a:xfrm flipV="1">
              <a:off x="3340031" y="5060137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30"/>
            <p:cNvCxnSpPr>
              <a:stCxn id="8" idx="3"/>
              <a:endCxn id="18" idx="0"/>
            </p:cNvCxnSpPr>
            <p:nvPr/>
          </p:nvCxnSpPr>
          <p:spPr>
            <a:xfrm>
              <a:off x="2124170" y="3787003"/>
              <a:ext cx="629072" cy="235888"/>
            </a:xfrm>
            <a:prstGeom prst="bentConnector2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6452" y="4022891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AutoShape 9"/>
            <p:cNvSpPr>
              <a:spLocks noChangeArrowheads="1"/>
            </p:cNvSpPr>
            <p:nvPr/>
          </p:nvSpPr>
          <p:spPr bwMode="auto">
            <a:xfrm>
              <a:off x="841664" y="4084856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0" name="AutoShape 9"/>
            <p:cNvSpPr>
              <a:spLocks noChangeArrowheads="1"/>
            </p:cNvSpPr>
            <p:nvPr/>
          </p:nvSpPr>
          <p:spPr bwMode="auto">
            <a:xfrm>
              <a:off x="841664" y="4492363"/>
              <a:ext cx="63030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21" name="Straight Arrow Connector 30"/>
            <p:cNvCxnSpPr>
              <a:stCxn id="19" idx="3"/>
            </p:cNvCxnSpPr>
            <p:nvPr/>
          </p:nvCxnSpPr>
          <p:spPr>
            <a:xfrm flipV="1">
              <a:off x="1342699" y="4210170"/>
              <a:ext cx="781471" cy="1318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30"/>
            <p:cNvCxnSpPr>
              <a:stCxn id="20" idx="3"/>
            </p:cNvCxnSpPr>
            <p:nvPr/>
          </p:nvCxnSpPr>
          <p:spPr>
            <a:xfrm flipV="1">
              <a:off x="1471965" y="4333607"/>
              <a:ext cx="652205" cy="29725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142237" y="4470132"/>
              <a:ext cx="1188553" cy="1200322"/>
              <a:chOff x="7696200" y="2346325"/>
              <a:chExt cx="1188553" cy="1200322"/>
            </a:xfrm>
          </p:grpSpPr>
          <p:sp>
            <p:nvSpPr>
              <p:cNvPr id="24" name="Cloud 23"/>
              <p:cNvSpPr/>
              <p:nvPr/>
            </p:nvSpPr>
            <p:spPr>
              <a:xfrm>
                <a:off x="8096542" y="2346325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VS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5" name="Straight Arrow Connector 24"/>
              <p:cNvCxnSpPr>
                <a:endCxn id="24" idx="2"/>
              </p:cNvCxnSpPr>
              <p:nvPr/>
            </p:nvCxnSpPr>
            <p:spPr>
              <a:xfrm>
                <a:off x="7696200" y="2526559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Cloud 25"/>
              <p:cNvSpPr/>
              <p:nvPr/>
            </p:nvSpPr>
            <p:spPr>
              <a:xfrm>
                <a:off x="8112658" y="3186179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PS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7" name="Straight Arrow Connector 26"/>
              <p:cNvCxnSpPr>
                <a:endCxn id="26" idx="2"/>
              </p:cNvCxnSpPr>
              <p:nvPr/>
            </p:nvCxnSpPr>
            <p:spPr>
              <a:xfrm>
                <a:off x="7712316" y="3366413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2104894" y="5011311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314031" y="4650366"/>
            <a:ext cx="1019969" cy="1408040"/>
            <a:chOff x="4314031" y="4650366"/>
            <a:chExt cx="1019969" cy="1408040"/>
          </a:xfrm>
        </p:grpSpPr>
        <p:cxnSp>
          <p:nvCxnSpPr>
            <p:cNvPr id="29" name="Elbow Connector 38"/>
            <p:cNvCxnSpPr>
              <a:stCxn id="24" idx="0"/>
            </p:cNvCxnSpPr>
            <p:nvPr/>
          </p:nvCxnSpPr>
          <p:spPr>
            <a:xfrm>
              <a:off x="4314031" y="4650366"/>
              <a:ext cx="1019969" cy="48405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38"/>
            <p:cNvCxnSpPr>
              <a:stCxn id="26" idx="0"/>
            </p:cNvCxnSpPr>
            <p:nvPr/>
          </p:nvCxnSpPr>
          <p:spPr>
            <a:xfrm>
              <a:off x="4330147" y="5490220"/>
              <a:ext cx="1003853" cy="56818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727" y="2914347"/>
            <a:ext cx="12765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65618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and Compiling </a:t>
            </a:r>
            <a:r>
              <a:rPr lang="en-US" dirty="0" err="1" smtClean="0"/>
              <a:t>Shaders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3048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This is another situation where we need to send data to the GPU while still keeping a handle to it.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Reading &amp; compiling from file:</a:t>
            </a:r>
          </a:p>
          <a:p>
            <a:pPr marL="457200" lvl="1" indent="0">
              <a:buNone/>
            </a:pPr>
            <a:r>
              <a:rPr lang="en-US" sz="1800" dirty="0" smtClean="0"/>
              <a:t>This is hidden away in the 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800" dirty="0" smtClean="0"/>
              <a:t>:</a:t>
            </a:r>
            <a:endParaRPr lang="en-US" sz="18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57200" y="5105400"/>
            <a:ext cx="8305800" cy="1600200"/>
            <a:chOff x="457200" y="5105400"/>
            <a:chExt cx="8305800" cy="1600200"/>
          </a:xfrm>
        </p:grpSpPr>
        <p:sp>
          <p:nvSpPr>
            <p:cNvPr id="5" name="Rectangle 4"/>
            <p:cNvSpPr/>
            <p:nvPr/>
          </p:nvSpPr>
          <p:spPr>
            <a:xfrm>
              <a:off x="6477000" y="5105400"/>
              <a:ext cx="2286000" cy="1600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7200" y="5105400"/>
              <a:ext cx="3263774" cy="1600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682740" y="5569075"/>
              <a:ext cx="1089660" cy="22212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Vert Layout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3337561" y="5569075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ID3D11InputLayout</a:t>
              </a:r>
            </a:p>
          </p:txBody>
        </p:sp>
        <p:cxnSp>
          <p:nvCxnSpPr>
            <p:cNvPr id="9" name="Straight Connector 8"/>
            <p:cNvCxnSpPr>
              <a:stCxn id="8" idx="3"/>
              <a:endCxn id="7" idx="1"/>
            </p:cNvCxnSpPr>
            <p:nvPr/>
          </p:nvCxnSpPr>
          <p:spPr>
            <a:xfrm flipV="1">
              <a:off x="5166361" y="5680138"/>
              <a:ext cx="1516379" cy="97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24839" y="5555557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mpVertexLayout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1" name="Straight Arrow Connector 10"/>
            <p:cNvCxnSpPr>
              <a:stCxn id="10" idx="3"/>
              <a:endCxn id="8" idx="1"/>
            </p:cNvCxnSpPr>
            <p:nvPr/>
          </p:nvCxnSpPr>
          <p:spPr>
            <a:xfrm>
              <a:off x="2089086" y="5674353"/>
              <a:ext cx="1248475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6667501" y="5948127"/>
              <a:ext cx="419099" cy="22212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4" name="Pentagon 23"/>
            <p:cNvSpPr/>
            <p:nvPr/>
          </p:nvSpPr>
          <p:spPr>
            <a:xfrm>
              <a:off x="3337561" y="5948127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ID3D11VertexShader</a:t>
              </a:r>
            </a:p>
          </p:txBody>
        </p:sp>
        <p:cxnSp>
          <p:nvCxnSpPr>
            <p:cNvPr id="25" name="Straight Connector 24"/>
            <p:cNvCxnSpPr>
              <a:stCxn id="24" idx="3"/>
              <a:endCxn id="23" idx="1"/>
            </p:cNvCxnSpPr>
            <p:nvPr/>
          </p:nvCxnSpPr>
          <p:spPr>
            <a:xfrm flipV="1">
              <a:off x="5166361" y="6059190"/>
              <a:ext cx="1501140" cy="97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609600" y="5934609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7" name="Straight Arrow Connector 26"/>
            <p:cNvCxnSpPr>
              <a:stCxn id="26" idx="3"/>
              <a:endCxn id="24" idx="1"/>
            </p:cNvCxnSpPr>
            <p:nvPr/>
          </p:nvCxnSpPr>
          <p:spPr>
            <a:xfrm>
              <a:off x="2073847" y="6053405"/>
              <a:ext cx="1263714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6667501" y="6329127"/>
              <a:ext cx="419099" cy="22212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PS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29" name="Pentagon 28"/>
            <p:cNvSpPr/>
            <p:nvPr/>
          </p:nvSpPr>
          <p:spPr>
            <a:xfrm>
              <a:off x="3337561" y="6329127"/>
              <a:ext cx="1828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ID3D11PixelShader</a:t>
              </a:r>
            </a:p>
          </p:txBody>
        </p:sp>
        <p:cxnSp>
          <p:nvCxnSpPr>
            <p:cNvPr id="30" name="Straight Connector 29"/>
            <p:cNvCxnSpPr>
              <a:stCxn id="29" idx="3"/>
              <a:endCxn id="28" idx="1"/>
            </p:cNvCxnSpPr>
            <p:nvPr/>
          </p:nvCxnSpPr>
          <p:spPr>
            <a:xfrm flipV="1">
              <a:off x="5166361" y="6440190"/>
              <a:ext cx="1501140" cy="97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609600" y="6315609"/>
              <a:ext cx="1464247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mpPixelShader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2" name="Straight Arrow Connector 31"/>
            <p:cNvCxnSpPr>
              <a:stCxn id="31" idx="3"/>
              <a:endCxn id="29" idx="1"/>
            </p:cNvCxnSpPr>
            <p:nvPr/>
          </p:nvCxnSpPr>
          <p:spPr>
            <a:xfrm>
              <a:off x="2073847" y="6434405"/>
              <a:ext cx="1263714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36536" y="2847200"/>
            <a:ext cx="883126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L"../Assets/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Shaders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/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SimpleColor.hlsl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"VS"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"vs_4_0"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219200" y="3114392"/>
            <a:ext cx="2067208" cy="783890"/>
            <a:chOff x="1219200" y="3114392"/>
            <a:chExt cx="2067208" cy="783890"/>
          </a:xfrm>
        </p:grpSpPr>
        <p:sp>
          <p:nvSpPr>
            <p:cNvPr id="38" name="TextBox 37"/>
            <p:cNvSpPr txBox="1"/>
            <p:nvPr/>
          </p:nvSpPr>
          <p:spPr>
            <a:xfrm>
              <a:off x="1219200" y="3557763"/>
              <a:ext cx="955143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File name</a:t>
              </a:r>
            </a:p>
          </p:txBody>
        </p:sp>
        <p:cxnSp>
          <p:nvCxnSpPr>
            <p:cNvPr id="39" name="Elbow Connector 38"/>
            <p:cNvCxnSpPr>
              <a:stCxn id="38" idx="0"/>
            </p:cNvCxnSpPr>
            <p:nvPr/>
          </p:nvCxnSpPr>
          <p:spPr>
            <a:xfrm flipV="1">
              <a:off x="1696772" y="3114392"/>
              <a:ext cx="1589636" cy="44337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2438400" y="3074194"/>
            <a:ext cx="3924300" cy="1062451"/>
            <a:chOff x="2438400" y="3074194"/>
            <a:chExt cx="3924300" cy="1062451"/>
          </a:xfrm>
        </p:grpSpPr>
        <p:sp>
          <p:nvSpPr>
            <p:cNvPr id="44" name="TextBox 43"/>
            <p:cNvSpPr txBox="1"/>
            <p:nvPr/>
          </p:nvSpPr>
          <p:spPr>
            <a:xfrm>
              <a:off x="2438400" y="3557763"/>
              <a:ext cx="2133600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Which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compile.</a:t>
              </a: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“VS” or “PS” </a:t>
              </a:r>
            </a:p>
          </p:txBody>
        </p:sp>
        <p:cxnSp>
          <p:nvCxnSpPr>
            <p:cNvPr id="45" name="Elbow Connector 38"/>
            <p:cNvCxnSpPr>
              <a:stCxn id="44" idx="0"/>
            </p:cNvCxnSpPr>
            <p:nvPr/>
          </p:nvCxnSpPr>
          <p:spPr>
            <a:xfrm flipV="1">
              <a:off x="3505200" y="3074194"/>
              <a:ext cx="2857500" cy="48356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825534" y="3079750"/>
            <a:ext cx="2197566" cy="1253929"/>
            <a:chOff x="4825534" y="3079750"/>
            <a:chExt cx="2197566" cy="1253929"/>
          </a:xfrm>
        </p:grpSpPr>
        <p:sp>
          <p:nvSpPr>
            <p:cNvPr id="51" name="TextBox 50"/>
            <p:cNvSpPr txBox="1"/>
            <p:nvPr/>
          </p:nvSpPr>
          <p:spPr>
            <a:xfrm>
              <a:off x="4825534" y="3516434"/>
              <a:ext cx="2161478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rId2"/>
                </a:rPr>
                <a:t>Shader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  <a:hlinkClick r:id="rId2"/>
                </a:rPr>
                <a:t> Model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aka feature levels. Stick to “vs_4_0” or “ps_4_0”</a:t>
              </a:r>
            </a:p>
          </p:txBody>
        </p:sp>
        <p:cxnSp>
          <p:nvCxnSpPr>
            <p:cNvPr id="52" name="Elbow Connector 38"/>
            <p:cNvCxnSpPr>
              <a:stCxn id="51" idx="0"/>
            </p:cNvCxnSpPr>
            <p:nvPr/>
          </p:nvCxnSpPr>
          <p:spPr>
            <a:xfrm flipV="1">
              <a:off x="5906273" y="3079750"/>
              <a:ext cx="1116827" cy="43668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190186" y="3130550"/>
            <a:ext cx="1877614" cy="993280"/>
            <a:chOff x="7190186" y="3130550"/>
            <a:chExt cx="1877614" cy="993280"/>
          </a:xfrm>
        </p:grpSpPr>
        <p:sp>
          <p:nvSpPr>
            <p:cNvPr id="60" name="TextBox 59"/>
            <p:cNvSpPr txBox="1"/>
            <p:nvPr/>
          </p:nvSpPr>
          <p:spPr>
            <a:xfrm>
              <a:off x="7190186" y="3544948"/>
              <a:ext cx="1877614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(temporary) Handle to resulting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 code</a:t>
              </a:r>
            </a:p>
          </p:txBody>
        </p:sp>
        <p:cxnSp>
          <p:nvCxnSpPr>
            <p:cNvPr id="61" name="Elbow Connector 38"/>
            <p:cNvCxnSpPr>
              <a:stCxn id="60" idx="0"/>
            </p:cNvCxnSpPr>
            <p:nvPr/>
          </p:nvCxnSpPr>
          <p:spPr>
            <a:xfrm flipV="1">
              <a:off x="8128993" y="3130550"/>
              <a:ext cx="62507" cy="41439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131558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and Compiling </a:t>
            </a:r>
            <a:r>
              <a:rPr lang="en-US" dirty="0" err="1"/>
              <a:t>Shaders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Step 1: </a:t>
            </a:r>
            <a:r>
              <a:rPr lang="en-US" sz="2000" dirty="0" smtClean="0"/>
              <a:t>Compiling VS and sending it to the GPU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Step 2: </a:t>
            </a:r>
            <a:r>
              <a:rPr lang="en-US" sz="2000" dirty="0" smtClean="0"/>
              <a:t>(Only for VS) we need to define the input layout for the IA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1847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ID3DBlob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 &lt;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…&gt;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"VS"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"vs_4_0"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FAILED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// Create the vertex </a:t>
            </a:r>
            <a:r>
              <a:rPr lang="en-US" sz="1200" dirty="0" err="1" smtClean="0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on GPU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CreateVertexShader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FAILED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200" dirty="0" err="1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814838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D3D11_INPUT_ELEMENT_DESC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layout[]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= 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20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0, 0, </a:t>
            </a:r>
            <a:r>
              <a:rPr lang="en-US" sz="120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ARRAYSIZE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(layout);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// Create the input layout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CreateInputLayout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(layout,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numElements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FAILED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200" dirty="0"/>
          </a:p>
          <a:p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pVSBlob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md3dImmediateContext-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IASetInputLayout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// Set the input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layout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0" y="4883229"/>
            <a:ext cx="4038600" cy="5269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important, but we’ll ignore it for now. We’ll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what this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shortly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029200" y="3200400"/>
            <a:ext cx="3048000" cy="340519"/>
            <a:chOff x="5029200" y="3165818"/>
            <a:chExt cx="3048000" cy="340519"/>
          </a:xfrm>
        </p:grpSpPr>
        <p:sp>
          <p:nvSpPr>
            <p:cNvPr id="9" name="TextBox 8"/>
            <p:cNvSpPr txBox="1"/>
            <p:nvPr/>
          </p:nvSpPr>
          <p:spPr>
            <a:xfrm>
              <a:off x="5567616" y="3165818"/>
              <a:ext cx="2509584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Our handle to the vertex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Elbow Connector 38"/>
            <p:cNvCxnSpPr>
              <a:stCxn id="9" idx="1"/>
            </p:cNvCxnSpPr>
            <p:nvPr/>
          </p:nvCxnSpPr>
          <p:spPr>
            <a:xfrm flipH="1" flipV="1">
              <a:off x="5029200" y="3336077"/>
              <a:ext cx="538416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10000" y="3581400"/>
            <a:ext cx="3276600" cy="340519"/>
            <a:chOff x="5029200" y="3165818"/>
            <a:chExt cx="3276600" cy="340519"/>
          </a:xfrm>
        </p:grpSpPr>
        <p:sp>
          <p:nvSpPr>
            <p:cNvPr id="18" name="TextBox 17"/>
            <p:cNvSpPr txBox="1"/>
            <p:nvPr/>
          </p:nvSpPr>
          <p:spPr>
            <a:xfrm>
              <a:off x="5334000" y="3165818"/>
              <a:ext cx="29718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don’t need the VS blob anymore.</a:t>
              </a:r>
            </a:p>
          </p:txBody>
        </p:sp>
        <p:cxnSp>
          <p:nvCxnSpPr>
            <p:cNvPr id="19" name="Elbow Connector 38"/>
            <p:cNvCxnSpPr>
              <a:stCxn id="18" idx="1"/>
            </p:cNvCxnSpPr>
            <p:nvPr/>
          </p:nvCxnSpPr>
          <p:spPr>
            <a:xfrm flipH="1">
              <a:off x="5029200" y="3336078"/>
              <a:ext cx="304800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03617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and Compiling </a:t>
            </a:r>
            <a:r>
              <a:rPr lang="en-US" dirty="0" err="1"/>
              <a:t>Shaders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Step 3: </a:t>
            </a:r>
            <a:r>
              <a:rPr lang="en-US" sz="2000" dirty="0"/>
              <a:t>Compiling </a:t>
            </a:r>
            <a:r>
              <a:rPr lang="en-US" sz="2000" dirty="0" smtClean="0"/>
              <a:t>PS </a:t>
            </a:r>
            <a:r>
              <a:rPr lang="en-US" sz="2000" dirty="0"/>
              <a:t>and sending it to the </a:t>
            </a:r>
            <a:r>
              <a:rPr lang="en-US" sz="2000" dirty="0" smtClean="0"/>
              <a:t>GPU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Step 4: </a:t>
            </a:r>
            <a:r>
              <a:rPr lang="en-US" sz="2000" dirty="0" smtClean="0"/>
              <a:t>Set rendering pipeline to use those </a:t>
            </a:r>
            <a:r>
              <a:rPr lang="en-US" sz="2000" dirty="0" err="1" smtClean="0"/>
              <a:t>shaders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1847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ID3DBlob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CompileShaderFromFile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&lt;…&gt;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"PS"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"ps_4_0"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FAILED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// Create the pixel </a:t>
            </a:r>
            <a:r>
              <a:rPr lang="en-US" sz="1200" dirty="0" err="1">
                <a:solidFill>
                  <a:srgbClr val="008000"/>
                </a:solidFill>
                <a:latin typeface="Consolas"/>
              </a:rPr>
              <a:t>shader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CreatePixelShader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GetBufferPointer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GetBufferSize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		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FAILED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pPSBlob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4719935"/>
            <a:ext cx="545213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VSSetShader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PSSetShader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0);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914900" y="3200400"/>
            <a:ext cx="3086100" cy="340519"/>
            <a:chOff x="5676900" y="3165818"/>
            <a:chExt cx="3086100" cy="340519"/>
          </a:xfrm>
        </p:grpSpPr>
        <p:sp>
          <p:nvSpPr>
            <p:cNvPr id="8" name="TextBox 7"/>
            <p:cNvSpPr txBox="1"/>
            <p:nvPr/>
          </p:nvSpPr>
          <p:spPr>
            <a:xfrm>
              <a:off x="6324600" y="3165818"/>
              <a:ext cx="24384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Our handle to the pixel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shader</a:t>
              </a: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Elbow Connector 38"/>
            <p:cNvCxnSpPr>
              <a:stCxn id="8" idx="1"/>
            </p:cNvCxnSpPr>
            <p:nvPr/>
          </p:nvCxnSpPr>
          <p:spPr>
            <a:xfrm flipH="1" flipV="1">
              <a:off x="5676900" y="3336077"/>
              <a:ext cx="647700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810000" y="3581400"/>
            <a:ext cx="3276600" cy="340519"/>
            <a:chOff x="5029200" y="3165818"/>
            <a:chExt cx="3276600" cy="340519"/>
          </a:xfrm>
        </p:grpSpPr>
        <p:sp>
          <p:nvSpPr>
            <p:cNvPr id="21" name="TextBox 20"/>
            <p:cNvSpPr txBox="1"/>
            <p:nvPr/>
          </p:nvSpPr>
          <p:spPr>
            <a:xfrm>
              <a:off x="5334000" y="3165818"/>
              <a:ext cx="29718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don’t need the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PS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blob anymore.</a:t>
              </a:r>
            </a:p>
          </p:txBody>
        </p:sp>
        <p:cxnSp>
          <p:nvCxnSpPr>
            <p:cNvPr id="22" name="Elbow Connector 38"/>
            <p:cNvCxnSpPr>
              <a:stCxn id="21" idx="1"/>
            </p:cNvCxnSpPr>
            <p:nvPr/>
          </p:nvCxnSpPr>
          <p:spPr>
            <a:xfrm flipH="1">
              <a:off x="5029200" y="3336078"/>
              <a:ext cx="304800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419600"/>
            <a:ext cx="2324100" cy="227647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09405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Diagram Yet Again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5562600"/>
            <a:ext cx="8610600" cy="762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Still missing: </a:t>
            </a:r>
            <a:endParaRPr lang="en-US" sz="2000" dirty="0" smtClean="0"/>
          </a:p>
          <a:p>
            <a:pPr marL="625475" indent="-273050">
              <a:spcBef>
                <a:spcPts val="0"/>
              </a:spcBef>
            </a:pPr>
            <a:r>
              <a:rPr lang="en-US" sz="1800" dirty="0" smtClean="0"/>
              <a:t>Specifying</a:t>
            </a:r>
            <a:r>
              <a:rPr lang="en-US" sz="1800" dirty="0" smtClean="0"/>
              <a:t> input layout (whatever that is…)</a:t>
            </a:r>
          </a:p>
          <a:p>
            <a:pPr marL="625475" indent="-273050">
              <a:spcBef>
                <a:spcPts val="0"/>
              </a:spcBef>
            </a:pPr>
            <a:r>
              <a:rPr lang="en-US" sz="1800" dirty="0" smtClean="0"/>
              <a:t>Having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that </a:t>
            </a:r>
            <a:r>
              <a:rPr lang="en-US" sz="1800" i="1" dirty="0" smtClean="0"/>
              <a:t>actually do something</a:t>
            </a:r>
            <a:r>
              <a:rPr lang="en-US" sz="1800" dirty="0" smtClean="0"/>
              <a:t>…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28600" y="1219200"/>
            <a:ext cx="8854015" cy="4343400"/>
            <a:chOff x="228600" y="1219200"/>
            <a:chExt cx="8854015" cy="4343400"/>
          </a:xfrm>
        </p:grpSpPr>
        <p:sp>
          <p:nvSpPr>
            <p:cNvPr id="5" name="Rectangle 4"/>
            <p:cNvSpPr/>
            <p:nvPr/>
          </p:nvSpPr>
          <p:spPr>
            <a:xfrm>
              <a:off x="4934963" y="1219200"/>
              <a:ext cx="4147652" cy="434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28600" y="1219200"/>
              <a:ext cx="2522220" cy="434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458933" y="1551159"/>
              <a:ext cx="12192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Main Controls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2588678" y="1658246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9" name="Straight Connector 8"/>
            <p:cNvCxnSpPr>
              <a:stCxn id="8" idx="3"/>
              <a:endCxn id="7" idx="1"/>
            </p:cNvCxnSpPr>
            <p:nvPr/>
          </p:nvCxnSpPr>
          <p:spPr>
            <a:xfrm flipV="1">
              <a:off x="3918783" y="1663196"/>
              <a:ext cx="1540150" cy="107087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entagon 9"/>
            <p:cNvSpPr/>
            <p:nvPr/>
          </p:nvSpPr>
          <p:spPr>
            <a:xfrm>
              <a:off x="2588678" y="2086509"/>
              <a:ext cx="1905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ID3D11DeviceContext</a:t>
              </a:r>
            </a:p>
          </p:txBody>
        </p:sp>
        <p:cxnSp>
          <p:nvCxnSpPr>
            <p:cNvPr id="11" name="Straight Connector 10"/>
            <p:cNvCxnSpPr>
              <a:stCxn id="10" idx="3"/>
              <a:endCxn id="7" idx="1"/>
            </p:cNvCxnSpPr>
            <p:nvPr/>
          </p:nvCxnSpPr>
          <p:spPr>
            <a:xfrm flipV="1">
              <a:off x="4493678" y="1663196"/>
              <a:ext cx="965255" cy="53535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5070685" y="4383454"/>
              <a:ext cx="1577340" cy="6322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 Chain</a:t>
              </a: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FrontBuffer</a:t>
              </a:r>
              <a:endParaRPr lang="en-US" sz="11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pPr algn="r"/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3" name="Pentagon 12"/>
            <p:cNvSpPr/>
            <p:nvPr/>
          </p:nvSpPr>
          <p:spPr>
            <a:xfrm>
              <a:off x="2588678" y="4594633"/>
              <a:ext cx="15240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IDXGISwapChain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4" name="Straight Connector 13"/>
            <p:cNvCxnSpPr>
              <a:stCxn id="13" idx="3"/>
              <a:endCxn id="12" idx="1"/>
            </p:cNvCxnSpPr>
            <p:nvPr/>
          </p:nvCxnSpPr>
          <p:spPr>
            <a:xfrm flipV="1">
              <a:off x="4112678" y="4699587"/>
              <a:ext cx="958007" cy="708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entagon 14"/>
            <p:cNvSpPr/>
            <p:nvPr/>
          </p:nvSpPr>
          <p:spPr>
            <a:xfrm>
              <a:off x="2588678" y="5047306"/>
              <a:ext cx="2209800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ID3D11RenderTargetView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087294" y="5105400"/>
              <a:ext cx="2720340" cy="3899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Render Target View</a:t>
              </a:r>
            </a:p>
            <a:p>
              <a:pPr algn="r"/>
              <a:r>
                <a:rPr lang="en-US" sz="1100" i="1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Send to  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SwapChain</a:t>
              </a:r>
              <a:r>
                <a:rPr lang="en-US" sz="11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-&gt;</a:t>
              </a:r>
              <a:r>
                <a:rPr lang="en-US" sz="11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BackBuffer</a:t>
              </a:r>
              <a:endParaRPr lang="en-US" sz="11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7" name="Straight Connector 16"/>
            <p:cNvCxnSpPr>
              <a:stCxn id="15" idx="3"/>
              <a:endCxn id="16" idx="1"/>
            </p:cNvCxnSpPr>
            <p:nvPr/>
          </p:nvCxnSpPr>
          <p:spPr>
            <a:xfrm>
              <a:off x="4798478" y="5159343"/>
              <a:ext cx="288816" cy="141053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81000" y="1638300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md3dDevice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9" name="Straight Arrow Connector 18"/>
            <p:cNvCxnSpPr>
              <a:stCxn id="18" idx="3"/>
            </p:cNvCxnSpPr>
            <p:nvPr/>
          </p:nvCxnSpPr>
          <p:spPr>
            <a:xfrm>
              <a:off x="1600200" y="1757096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81000" y="2080081"/>
              <a:ext cx="1996441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md3dImmediateContext</a:t>
              </a:r>
            </a:p>
          </p:txBody>
        </p:sp>
        <p:cxnSp>
          <p:nvCxnSpPr>
            <p:cNvPr id="21" name="Straight Arrow Connector 20"/>
            <p:cNvCxnSpPr>
              <a:stCxn id="20" idx="3"/>
              <a:endCxn id="10" idx="1"/>
            </p:cNvCxnSpPr>
            <p:nvPr/>
          </p:nvCxnSpPr>
          <p:spPr>
            <a:xfrm flipV="1">
              <a:off x="2377441" y="2198546"/>
              <a:ext cx="211237" cy="33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381000" y="4581115"/>
              <a:ext cx="11430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mSwapChain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3" name="Straight Arrow Connector 22"/>
            <p:cNvCxnSpPr>
              <a:stCxn id="22" idx="3"/>
              <a:endCxn id="13" idx="1"/>
            </p:cNvCxnSpPr>
            <p:nvPr/>
          </p:nvCxnSpPr>
          <p:spPr>
            <a:xfrm>
              <a:off x="1524000" y="4699911"/>
              <a:ext cx="1064678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381000" y="5038315"/>
              <a:ext cx="1752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mRenderTargetView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5" name="Straight Arrow Connector 24"/>
            <p:cNvCxnSpPr>
              <a:stCxn id="24" idx="3"/>
              <a:endCxn id="15" idx="1"/>
            </p:cNvCxnSpPr>
            <p:nvPr/>
          </p:nvCxnSpPr>
          <p:spPr>
            <a:xfrm>
              <a:off x="2133600" y="5157111"/>
              <a:ext cx="455078" cy="223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utoShape 9"/>
            <p:cNvSpPr>
              <a:spLocks noChangeArrowheads="1"/>
            </p:cNvSpPr>
            <p:nvPr/>
          </p:nvSpPr>
          <p:spPr bwMode="auto">
            <a:xfrm>
              <a:off x="8092015" y="4419600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#1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8092014" y="4771484"/>
              <a:ext cx="776623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Buffer #2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096542" y="3345627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29" name="Straight Arrow Connector 28"/>
            <p:cNvCxnSpPr>
              <a:stCxn id="31" idx="3"/>
              <a:endCxn id="28" idx="1"/>
            </p:cNvCxnSpPr>
            <p:nvPr/>
          </p:nvCxnSpPr>
          <p:spPr>
            <a:xfrm flipV="1">
              <a:off x="7893994" y="3457664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30"/>
            <p:cNvCxnSpPr>
              <a:stCxn id="7" idx="3"/>
              <a:endCxn id="31" idx="0"/>
            </p:cNvCxnSpPr>
            <p:nvPr/>
          </p:nvCxnSpPr>
          <p:spPr>
            <a:xfrm>
              <a:off x="6678133" y="1663196"/>
              <a:ext cx="629072" cy="757222"/>
            </a:xfrm>
            <a:prstGeom prst="bentConnector2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0415" y="2420418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AutoShape 9"/>
            <p:cNvSpPr>
              <a:spLocks noChangeArrowheads="1"/>
            </p:cNvSpPr>
            <p:nvPr/>
          </p:nvSpPr>
          <p:spPr bwMode="auto">
            <a:xfrm>
              <a:off x="5395627" y="1961049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3" name="Pentagon 32"/>
            <p:cNvSpPr/>
            <p:nvPr/>
          </p:nvSpPr>
          <p:spPr>
            <a:xfrm>
              <a:off x="2588678" y="2559013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34" name="Straight Connector 33"/>
            <p:cNvCxnSpPr>
              <a:stCxn id="33" idx="3"/>
              <a:endCxn id="32" idx="1"/>
            </p:cNvCxnSpPr>
            <p:nvPr/>
          </p:nvCxnSpPr>
          <p:spPr>
            <a:xfrm flipV="1">
              <a:off x="3918783" y="2099549"/>
              <a:ext cx="1476844" cy="571501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381000" y="2539067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mpVertexBuffer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6" name="Straight Arrow Connector 35"/>
            <p:cNvCxnSpPr>
              <a:stCxn id="35" idx="3"/>
            </p:cNvCxnSpPr>
            <p:nvPr/>
          </p:nvCxnSpPr>
          <p:spPr>
            <a:xfrm>
              <a:off x="1600200" y="2657863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5399090" y="2275670"/>
              <a:ext cx="65805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8" name="Pentagon 37"/>
            <p:cNvSpPr/>
            <p:nvPr/>
          </p:nvSpPr>
          <p:spPr>
            <a:xfrm>
              <a:off x="2588678" y="2976327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39" name="Straight Connector 38"/>
            <p:cNvCxnSpPr>
              <a:stCxn id="38" idx="3"/>
              <a:endCxn id="37" idx="1"/>
            </p:cNvCxnSpPr>
            <p:nvPr/>
          </p:nvCxnSpPr>
          <p:spPr>
            <a:xfrm flipV="1">
              <a:off x="3918783" y="2414170"/>
              <a:ext cx="1480307" cy="674194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381000" y="2956381"/>
              <a:ext cx="12192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mpIndexBuffer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41" name="Straight Arrow Connector 40"/>
            <p:cNvCxnSpPr>
              <a:stCxn id="40" idx="3"/>
            </p:cNvCxnSpPr>
            <p:nvPr/>
          </p:nvCxnSpPr>
          <p:spPr>
            <a:xfrm>
              <a:off x="1600200" y="3075177"/>
              <a:ext cx="9906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30"/>
            <p:cNvCxnSpPr>
              <a:stCxn id="32" idx="3"/>
            </p:cNvCxnSpPr>
            <p:nvPr/>
          </p:nvCxnSpPr>
          <p:spPr>
            <a:xfrm>
              <a:off x="5896662" y="2099549"/>
              <a:ext cx="781471" cy="26265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30"/>
            <p:cNvCxnSpPr>
              <a:stCxn id="37" idx="3"/>
            </p:cNvCxnSpPr>
            <p:nvPr/>
          </p:nvCxnSpPr>
          <p:spPr>
            <a:xfrm>
              <a:off x="6057141" y="2414170"/>
              <a:ext cx="605179" cy="5195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6658857" y="3408838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867400" y="2933700"/>
              <a:ext cx="395573" cy="224073"/>
            </a:xfrm>
            <a:prstGeom prst="rect">
              <a:avLst/>
            </a:prstGeom>
            <a:solidFill>
              <a:srgbClr val="00B0F0"/>
            </a:solidFill>
            <a:effectLst>
              <a:glow rad="127000">
                <a:srgbClr val="FFFF00">
                  <a:alpha val="51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Straight Arrow Connector 50"/>
            <p:cNvCxnSpPr>
              <a:endCxn id="50" idx="3"/>
            </p:cNvCxnSpPr>
            <p:nvPr/>
          </p:nvCxnSpPr>
          <p:spPr>
            <a:xfrm flipH="1">
              <a:off x="6262973" y="30457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5859355" y="3771900"/>
              <a:ext cx="395573" cy="224073"/>
            </a:xfrm>
            <a:prstGeom prst="rect">
              <a:avLst/>
            </a:prstGeom>
            <a:solidFill>
              <a:srgbClr val="00B0F0"/>
            </a:solidFill>
            <a:effectLst>
              <a:glow rad="127000">
                <a:srgbClr val="FFFF00">
                  <a:alpha val="51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Arrow Connector 61"/>
            <p:cNvCxnSpPr>
              <a:endCxn id="61" idx="3"/>
            </p:cNvCxnSpPr>
            <p:nvPr/>
          </p:nvCxnSpPr>
          <p:spPr>
            <a:xfrm flipH="1">
              <a:off x="6254928" y="38839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5867301" y="2651977"/>
              <a:ext cx="685799" cy="224073"/>
            </a:xfrm>
            <a:prstGeom prst="rect">
              <a:avLst/>
            </a:prstGeom>
            <a:solidFill>
              <a:srgbClr val="00B0F0"/>
            </a:solidFill>
            <a:effectLst>
              <a:glow rad="127000">
                <a:srgbClr val="FFC000">
                  <a:alpha val="93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Layout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Arrow Connector 63"/>
            <p:cNvCxnSpPr>
              <a:stCxn id="63" idx="3"/>
            </p:cNvCxnSpPr>
            <p:nvPr/>
          </p:nvCxnSpPr>
          <p:spPr>
            <a:xfrm flipV="1">
              <a:off x="6553100" y="2683780"/>
              <a:ext cx="167315" cy="8023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Pentagon 84"/>
            <p:cNvSpPr/>
            <p:nvPr/>
          </p:nvSpPr>
          <p:spPr>
            <a:xfrm>
              <a:off x="2588678" y="3408838"/>
              <a:ext cx="1828800" cy="224073"/>
            </a:xfrm>
            <a:prstGeom prst="homePlate">
              <a:avLst/>
            </a:prstGeom>
            <a:solidFill>
              <a:schemeClr val="accent3"/>
            </a:solidFill>
            <a:effectLst>
              <a:glow rad="127000">
                <a:srgbClr val="FFC000">
                  <a:alpha val="93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ID3D11InputLayout</a:t>
              </a:r>
            </a:p>
          </p:txBody>
        </p:sp>
        <p:cxnSp>
          <p:nvCxnSpPr>
            <p:cNvPr id="86" name="Straight Connector 85"/>
            <p:cNvCxnSpPr>
              <a:stCxn id="85" idx="3"/>
              <a:endCxn id="63" idx="1"/>
            </p:cNvCxnSpPr>
            <p:nvPr/>
          </p:nvCxnSpPr>
          <p:spPr>
            <a:xfrm flipV="1">
              <a:off x="4417478" y="2764014"/>
              <a:ext cx="1449823" cy="756861"/>
            </a:xfrm>
            <a:prstGeom prst="line">
              <a:avLst/>
            </a:prstGeom>
            <a:ln w="25400">
              <a:solidFill>
                <a:srgbClr val="0070C0"/>
              </a:solidFill>
            </a:ln>
            <a:effectLst>
              <a:glow rad="127000">
                <a:srgbClr val="FFC000">
                  <a:alpha val="93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/>
            <p:cNvSpPr/>
            <p:nvPr/>
          </p:nvSpPr>
          <p:spPr>
            <a:xfrm>
              <a:off x="381000" y="3395320"/>
              <a:ext cx="1464247" cy="237591"/>
            </a:xfrm>
            <a:prstGeom prst="rect">
              <a:avLst/>
            </a:prstGeom>
            <a:solidFill>
              <a:schemeClr val="bg1"/>
            </a:solidFill>
            <a:effectLst>
              <a:glow rad="127000">
                <a:srgbClr val="FFC000">
                  <a:alpha val="93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mpVertexLayout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88" name="Straight Arrow Connector 87"/>
            <p:cNvCxnSpPr>
              <a:stCxn id="87" idx="3"/>
              <a:endCxn id="85" idx="1"/>
            </p:cNvCxnSpPr>
            <p:nvPr/>
          </p:nvCxnSpPr>
          <p:spPr>
            <a:xfrm>
              <a:off x="1845247" y="3514116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  <a:effectLst>
              <a:glow rad="127000">
                <a:srgbClr val="FFC000">
                  <a:alpha val="93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Pentagon 89"/>
            <p:cNvSpPr/>
            <p:nvPr/>
          </p:nvSpPr>
          <p:spPr>
            <a:xfrm>
              <a:off x="2588678" y="3787890"/>
              <a:ext cx="1828800" cy="224073"/>
            </a:xfrm>
            <a:prstGeom prst="homePlate">
              <a:avLst/>
            </a:prstGeom>
            <a:solidFill>
              <a:schemeClr val="accent3"/>
            </a:solidFill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ID3D11VertexShader</a:t>
              </a:r>
            </a:p>
          </p:txBody>
        </p:sp>
        <p:cxnSp>
          <p:nvCxnSpPr>
            <p:cNvPr id="91" name="Straight Connector 90"/>
            <p:cNvCxnSpPr>
              <a:stCxn id="90" idx="3"/>
              <a:endCxn id="50" idx="1"/>
            </p:cNvCxnSpPr>
            <p:nvPr/>
          </p:nvCxnSpPr>
          <p:spPr>
            <a:xfrm flipV="1">
              <a:off x="4417478" y="3045737"/>
              <a:ext cx="1449922" cy="854190"/>
            </a:xfrm>
            <a:prstGeom prst="line">
              <a:avLst/>
            </a:prstGeom>
            <a:ln w="25400">
              <a:solidFill>
                <a:srgbClr val="0070C0"/>
              </a:solidFill>
            </a:ln>
            <a:effectLst>
              <a:glow rad="127000">
                <a:srgbClr val="FFFF00">
                  <a:alpha val="51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/>
            <p:cNvSpPr/>
            <p:nvPr/>
          </p:nvSpPr>
          <p:spPr>
            <a:xfrm>
              <a:off x="381000" y="3774372"/>
              <a:ext cx="1464247" cy="237591"/>
            </a:xfrm>
            <a:prstGeom prst="rect">
              <a:avLst/>
            </a:prstGeom>
            <a:solidFill>
              <a:schemeClr val="bg1"/>
            </a:solidFill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mpVertexShader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93" name="Straight Arrow Connector 92"/>
            <p:cNvCxnSpPr>
              <a:stCxn id="92" idx="3"/>
              <a:endCxn id="90" idx="1"/>
            </p:cNvCxnSpPr>
            <p:nvPr/>
          </p:nvCxnSpPr>
          <p:spPr>
            <a:xfrm>
              <a:off x="1845247" y="3893168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Pentagon 94"/>
            <p:cNvSpPr/>
            <p:nvPr/>
          </p:nvSpPr>
          <p:spPr>
            <a:xfrm>
              <a:off x="2588678" y="4168890"/>
              <a:ext cx="1828800" cy="224073"/>
            </a:xfrm>
            <a:prstGeom prst="homePlate">
              <a:avLst/>
            </a:prstGeom>
            <a:solidFill>
              <a:schemeClr val="accent3"/>
            </a:solidFill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ID3D11PixelShader</a:t>
              </a:r>
            </a:p>
          </p:txBody>
        </p:sp>
        <p:cxnSp>
          <p:nvCxnSpPr>
            <p:cNvPr id="96" name="Straight Connector 95"/>
            <p:cNvCxnSpPr>
              <a:stCxn id="95" idx="3"/>
              <a:endCxn id="61" idx="1"/>
            </p:cNvCxnSpPr>
            <p:nvPr/>
          </p:nvCxnSpPr>
          <p:spPr>
            <a:xfrm flipV="1">
              <a:off x="4417478" y="3883937"/>
              <a:ext cx="1441877" cy="396990"/>
            </a:xfrm>
            <a:prstGeom prst="line">
              <a:avLst/>
            </a:prstGeom>
            <a:ln w="25400">
              <a:solidFill>
                <a:srgbClr val="0070C0"/>
              </a:solidFill>
            </a:ln>
            <a:effectLst>
              <a:glow rad="127000">
                <a:srgbClr val="FFFF00">
                  <a:alpha val="51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/>
            <p:cNvSpPr/>
            <p:nvPr/>
          </p:nvSpPr>
          <p:spPr>
            <a:xfrm>
              <a:off x="381000" y="4155372"/>
              <a:ext cx="1464247" cy="237591"/>
            </a:xfrm>
            <a:prstGeom prst="rect">
              <a:avLst/>
            </a:prstGeom>
            <a:solidFill>
              <a:schemeClr val="bg1"/>
            </a:solidFill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mpPixelShader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98" name="Straight Arrow Connector 97"/>
            <p:cNvCxnSpPr>
              <a:stCxn id="97" idx="3"/>
              <a:endCxn id="95" idx="1"/>
            </p:cNvCxnSpPr>
            <p:nvPr/>
          </p:nvCxnSpPr>
          <p:spPr>
            <a:xfrm>
              <a:off x="1845247" y="4274168"/>
              <a:ext cx="743431" cy="6759"/>
            </a:xfrm>
            <a:prstGeom prst="straightConnector1">
              <a:avLst/>
            </a:prstGeom>
            <a:ln w="25400">
              <a:tailEnd type="triangle" w="lg" len="lg"/>
            </a:ln>
            <a:effectLst>
              <a:glow rad="127000">
                <a:srgbClr val="FFFF00">
                  <a:alpha val="54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220225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Visualizing the Rendering Pipeline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4267200"/>
            <a:ext cx="8610600" cy="2209800"/>
          </a:xfrm>
        </p:spPr>
        <p:txBody>
          <a:bodyPr/>
          <a:lstStyle/>
          <a:p>
            <a:pPr marL="227013" indent="-227013">
              <a:buSzPct val="100000"/>
              <a:buFont typeface="+mj-lt"/>
              <a:buAutoNum type="arabicPeriod"/>
            </a:pPr>
            <a:r>
              <a:rPr lang="en-US" sz="1800" dirty="0" smtClean="0"/>
              <a:t>IA sends all </a:t>
            </a:r>
            <a:r>
              <a:rPr lang="en-US" sz="1800" dirty="0" smtClean="0"/>
              <a:t>verts </a:t>
            </a:r>
            <a:r>
              <a:rPr lang="en-US" sz="1800" dirty="0" smtClean="0"/>
              <a:t>to </a:t>
            </a:r>
            <a:r>
              <a:rPr lang="en-US" sz="1800" dirty="0" smtClean="0"/>
              <a:t>VS: Our simple VS simply returns them back out</a:t>
            </a:r>
          </a:p>
          <a:p>
            <a:pPr marL="227013" indent="-227013">
              <a:buSzPct val="100000"/>
              <a:buFont typeface="+mj-lt"/>
              <a:buAutoNum type="arabicPeriod"/>
            </a:pPr>
            <a:r>
              <a:rPr lang="en-US" sz="1800" dirty="0" smtClean="0"/>
              <a:t>The rasterizers </a:t>
            </a:r>
            <a:r>
              <a:rPr lang="en-US" sz="1800" dirty="0" smtClean="0"/>
              <a:t>expects values </a:t>
            </a:r>
            <a:r>
              <a:rPr lang="en-US" sz="1800" dirty="0" smtClean="0"/>
              <a:t>in the NDC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Converts every vertex to screen pixels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Uses indices to map out every pixels of triangles</a:t>
            </a:r>
          </a:p>
          <a:p>
            <a:pPr marL="227013" indent="-227013">
              <a:buSzPct val="100000"/>
              <a:buFont typeface="+mj-lt"/>
              <a:buAutoNum type="arabicPeriod"/>
            </a:pPr>
            <a:r>
              <a:rPr lang="en-US" sz="1800" dirty="0" smtClean="0"/>
              <a:t>For each pixel, PS is called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Our input is SV_POSITION, screen pixels from the RS</a:t>
            </a:r>
          </a:p>
          <a:p>
            <a:pPr marL="742950" lvl="1" indent="-285750">
              <a:buSzPct val="100000"/>
            </a:pPr>
            <a:r>
              <a:rPr lang="en-US" sz="1600" dirty="0" smtClean="0"/>
              <a:t>PS outputs a </a:t>
            </a:r>
            <a:r>
              <a:rPr lang="en-US" sz="1600" dirty="0" smtClean="0"/>
              <a:t>color (always yellow </a:t>
            </a:r>
            <a:r>
              <a:rPr lang="en-US" sz="1600" dirty="0" smtClean="0"/>
              <a:t>in our </a:t>
            </a:r>
            <a:r>
              <a:rPr lang="en-US" sz="1600" dirty="0" smtClean="0"/>
              <a:t>demo)</a:t>
            </a:r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3276600" y="1219200"/>
            <a:ext cx="3275699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242327" y="1209392"/>
            <a:ext cx="2653273" cy="2753008"/>
            <a:chOff x="242327" y="1209392"/>
            <a:chExt cx="2653273" cy="2753008"/>
          </a:xfrm>
        </p:grpSpPr>
        <p:sp>
          <p:nvSpPr>
            <p:cNvPr id="15" name="Rectangle 14"/>
            <p:cNvSpPr/>
            <p:nvPr/>
          </p:nvSpPr>
          <p:spPr>
            <a:xfrm>
              <a:off x="242327" y="1209392"/>
              <a:ext cx="2653273" cy="275300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2865" y="1680864"/>
              <a:ext cx="2073705" cy="20928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 vertices[] =</a:t>
              </a:r>
            </a:p>
            <a:p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000" dirty="0">
                  <a:solidFill>
                    <a:srgbClr val="008000"/>
                  </a:solidFill>
                  <a:latin typeface="Consolas"/>
                </a:rPr>
                <a:t> </a:t>
              </a:r>
              <a:r>
                <a:rPr lang="en-US" sz="1000" dirty="0" smtClean="0">
                  <a:solidFill>
                    <a:srgbClr val="008000"/>
                  </a:solidFill>
                  <a:latin typeface="Consolas"/>
                </a:rPr>
                <a:t>   </a:t>
              </a:r>
              <a:r>
                <a:rPr lang="en-US" sz="10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0),</a:t>
              </a:r>
            </a:p>
            <a:p>
              <a:r>
                <a:rPr lang="en-US" sz="1000" dirty="0" smtClean="0">
                  <a:solidFill>
                    <a:srgbClr val="2B91AF"/>
                  </a:solidFill>
                  <a:latin typeface="Consolas"/>
                </a:rPr>
                <a:t>    </a:t>
              </a:r>
              <a:r>
                <a:rPr lang="en-US" sz="10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(-0.5f, 0.5f, 0),</a:t>
              </a:r>
            </a:p>
            <a:p>
              <a:r>
                <a:rPr lang="en-US" sz="1000" dirty="0" smtClean="0">
                  <a:solidFill>
                    <a:srgbClr val="2B91AF"/>
                  </a:solidFill>
                  <a:latin typeface="Consolas"/>
                </a:rPr>
                <a:t>    </a:t>
              </a:r>
              <a:r>
                <a:rPr lang="en-US" sz="10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(-0.5f, -0.5f, 0),</a:t>
              </a:r>
            </a:p>
            <a:p>
              <a:r>
                <a:rPr lang="en-US" sz="1000" dirty="0" smtClean="0">
                  <a:solidFill>
                    <a:srgbClr val="2B91AF"/>
                  </a:solidFill>
                  <a:latin typeface="Consolas"/>
                </a:rPr>
                <a:t>    </a:t>
              </a:r>
              <a:r>
                <a:rPr lang="en-US" sz="10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-0.5f,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};</a:t>
              </a:r>
            </a:p>
            <a:p>
              <a:endParaRPr lang="en-US" sz="10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000" dirty="0">
                  <a:solidFill>
                    <a:srgbClr val="2B91AF"/>
                  </a:solidFill>
                  <a:latin typeface="Consolas"/>
                </a:rPr>
                <a:t>WORD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 indices[] = </a:t>
              </a:r>
            </a:p>
            <a:p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    0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1, 2,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    0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2,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3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};</a:t>
              </a:r>
              <a:endParaRPr lang="en-US" sz="1000" b="1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705600" y="1219200"/>
            <a:ext cx="2377014" cy="2895600"/>
            <a:chOff x="6705600" y="1219200"/>
            <a:chExt cx="2377014" cy="2895600"/>
          </a:xfrm>
        </p:grpSpPr>
        <p:sp>
          <p:nvSpPr>
            <p:cNvPr id="5" name="Rectangle 4"/>
            <p:cNvSpPr/>
            <p:nvPr/>
          </p:nvSpPr>
          <p:spPr>
            <a:xfrm>
              <a:off x="6705600" y="1219200"/>
              <a:ext cx="2377014" cy="2895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5033" y="1887018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6882018" y="2400300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/>
            <p:cNvCxnSpPr>
              <a:endCxn id="7" idx="3"/>
            </p:cNvCxnSpPr>
            <p:nvPr/>
          </p:nvCxnSpPr>
          <p:spPr>
            <a:xfrm flipH="1">
              <a:off x="7277591" y="25123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873973" y="3238500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/>
            <p:cNvCxnSpPr>
              <a:endCxn id="9" idx="3"/>
            </p:cNvCxnSpPr>
            <p:nvPr/>
          </p:nvCxnSpPr>
          <p:spPr>
            <a:xfrm flipH="1">
              <a:off x="7269546" y="3350536"/>
              <a:ext cx="60772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6881919" y="2156677"/>
              <a:ext cx="685799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Layout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 flipV="1">
              <a:off x="7567718" y="2188480"/>
              <a:ext cx="167315" cy="8023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6821241" y="1403865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>
              <a:off x="6824704" y="1718486"/>
              <a:ext cx="65805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29" name="Straight Arrow Connector 30"/>
            <p:cNvCxnSpPr>
              <a:stCxn id="27" idx="3"/>
            </p:cNvCxnSpPr>
            <p:nvPr/>
          </p:nvCxnSpPr>
          <p:spPr>
            <a:xfrm>
              <a:off x="7322276" y="1542365"/>
              <a:ext cx="526324" cy="376728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30"/>
            <p:cNvCxnSpPr>
              <a:stCxn id="28" idx="3"/>
            </p:cNvCxnSpPr>
            <p:nvPr/>
          </p:nvCxnSpPr>
          <p:spPr>
            <a:xfrm>
              <a:off x="7482755" y="1856986"/>
              <a:ext cx="252278" cy="124214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Elbow Connector 38"/>
          <p:cNvCxnSpPr>
            <a:stCxn id="28" idx="1"/>
            <a:endCxn id="6" idx="1"/>
          </p:cNvCxnSpPr>
          <p:nvPr/>
        </p:nvCxnSpPr>
        <p:spPr>
          <a:xfrm rot="10800000" flipH="1" flipV="1">
            <a:off x="6824703" y="1856985"/>
            <a:ext cx="910329" cy="1067723"/>
          </a:xfrm>
          <a:prstGeom prst="bentConnector3">
            <a:avLst>
              <a:gd name="adj1" fmla="val -60687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6" descr="Rasteriz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699503"/>
            <a:ext cx="18288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112" y="5585328"/>
            <a:ext cx="1407920" cy="109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" name="Group 35"/>
          <p:cNvGrpSpPr/>
          <p:nvPr/>
        </p:nvGrpSpPr>
        <p:grpSpPr>
          <a:xfrm>
            <a:off x="2286000" y="1542365"/>
            <a:ext cx="4535242" cy="1277034"/>
            <a:chOff x="2286000" y="1542365"/>
            <a:chExt cx="4535242" cy="1277034"/>
          </a:xfrm>
        </p:grpSpPr>
        <p:sp>
          <p:nvSpPr>
            <p:cNvPr id="20" name="Right Brace 19"/>
            <p:cNvSpPr/>
            <p:nvPr/>
          </p:nvSpPr>
          <p:spPr>
            <a:xfrm>
              <a:off x="2286000" y="2057400"/>
              <a:ext cx="152400" cy="562509"/>
            </a:xfrm>
            <a:prstGeom prst="rightBrace">
              <a:avLst>
                <a:gd name="adj1" fmla="val 3333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Elbow Connector 38"/>
            <p:cNvCxnSpPr>
              <a:stCxn id="27" idx="1"/>
            </p:cNvCxnSpPr>
            <p:nvPr/>
          </p:nvCxnSpPr>
          <p:spPr>
            <a:xfrm rot="10800000" flipV="1">
              <a:off x="5257801" y="1542365"/>
              <a:ext cx="1563441" cy="1277034"/>
            </a:xfrm>
            <a:prstGeom prst="bentConnector3">
              <a:avLst>
                <a:gd name="adj1" fmla="val 99957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Elbow Connector 38"/>
          <p:cNvCxnSpPr/>
          <p:nvPr/>
        </p:nvCxnSpPr>
        <p:spPr>
          <a:xfrm flipV="1">
            <a:off x="4724400" y="3024285"/>
            <a:ext cx="2926975" cy="1484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38"/>
          <p:cNvCxnSpPr/>
          <p:nvPr/>
        </p:nvCxnSpPr>
        <p:spPr>
          <a:xfrm flipV="1">
            <a:off x="6477001" y="3771334"/>
            <a:ext cx="1174374" cy="955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7787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Warning! </a:t>
            </a:r>
            <a:br>
              <a:rPr lang="en-US" dirty="0" smtClean="0"/>
            </a:br>
            <a:r>
              <a:rPr lang="en-US" dirty="0" smtClean="0"/>
              <a:t>Be Careful Reading </a:t>
            </a:r>
            <a:r>
              <a:rPr lang="en-US" dirty="0" err="1" smtClean="0"/>
              <a:t>Shader</a:t>
            </a:r>
            <a:r>
              <a:rPr lang="en-US" dirty="0" smtClean="0"/>
              <a:t> Code!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Reading our ‘</a:t>
            </a:r>
            <a:r>
              <a:rPr lang="en-US" sz="2000" dirty="0" err="1" smtClean="0"/>
              <a:t>SimpleColor</a:t>
            </a:r>
            <a:r>
              <a:rPr lang="en-US" sz="2000" dirty="0" smtClean="0"/>
              <a:t>’ </a:t>
            </a:r>
            <a:r>
              <a:rPr lang="en-US" sz="2000" dirty="0" err="1" smtClean="0"/>
              <a:t>shader</a:t>
            </a:r>
            <a:r>
              <a:rPr lang="en-US" sz="2000" dirty="0" smtClean="0"/>
              <a:t>, it easy to think that: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u="sng" dirty="0" smtClean="0">
                <a:solidFill>
                  <a:srgbClr val="FF0000"/>
                </a:solidFill>
              </a:rPr>
              <a:t>But that is incorrect</a:t>
            </a:r>
            <a:r>
              <a:rPr lang="en-US" sz="2000" dirty="0" smtClean="0"/>
              <a:t>: the RS converts POSITION into SV_POSITION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You can see this by replacing the PS with</a:t>
            </a:r>
          </a:p>
          <a:p>
            <a:pPr marL="274320" lvl="1" indent="0">
              <a:buNone/>
            </a:pPr>
            <a:r>
              <a:rPr lang="en-US" sz="1600" i="1" dirty="0"/>
              <a:t>Converts x, y screen position in [0,1] </a:t>
            </a:r>
            <a:r>
              <a:rPr lang="en-US" sz="1600" i="1" dirty="0" smtClean="0"/>
              <a:t>red/green </a:t>
            </a:r>
            <a:r>
              <a:rPr lang="en-US" sz="1600" i="1" dirty="0"/>
              <a:t>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1776" y="3841790"/>
            <a:ext cx="3275699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/>
          </a:p>
        </p:txBody>
      </p:sp>
      <p:grpSp>
        <p:nvGrpSpPr>
          <p:cNvPr id="9" name="Group 8"/>
          <p:cNvGrpSpPr/>
          <p:nvPr/>
        </p:nvGrpSpPr>
        <p:grpSpPr>
          <a:xfrm>
            <a:off x="563570" y="1676400"/>
            <a:ext cx="6523030" cy="246221"/>
            <a:chOff x="563570" y="1676400"/>
            <a:chExt cx="6523030" cy="246221"/>
          </a:xfrm>
        </p:grpSpPr>
        <p:sp>
          <p:nvSpPr>
            <p:cNvPr id="6" name="TextBox 5"/>
            <p:cNvSpPr txBox="1"/>
            <p:nvPr/>
          </p:nvSpPr>
          <p:spPr>
            <a:xfrm>
              <a:off x="563570" y="1676400"/>
              <a:ext cx="1269002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20703" y="1687474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30"/>
            <p:cNvCxnSpPr>
              <a:stCxn id="6" idx="3"/>
              <a:endCxn id="7" idx="1"/>
            </p:cNvCxnSpPr>
            <p:nvPr/>
          </p:nvCxnSpPr>
          <p:spPr>
            <a:xfrm>
              <a:off x="1832572" y="1799511"/>
              <a:ext cx="288131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30"/>
            <p:cNvCxnSpPr>
              <a:stCxn id="7" idx="3"/>
              <a:endCxn id="15" idx="1"/>
            </p:cNvCxnSpPr>
            <p:nvPr/>
          </p:nvCxnSpPr>
          <p:spPr>
            <a:xfrm>
              <a:off x="2516276" y="1799511"/>
              <a:ext cx="306896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23172" y="1676400"/>
              <a:ext cx="1269002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47172" y="1687474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30"/>
            <p:cNvCxnSpPr>
              <a:stCxn id="15" idx="3"/>
              <a:endCxn id="18" idx="1"/>
            </p:cNvCxnSpPr>
            <p:nvPr/>
          </p:nvCxnSpPr>
          <p:spPr>
            <a:xfrm>
              <a:off x="4092174" y="1799511"/>
              <a:ext cx="254998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30"/>
            <p:cNvCxnSpPr>
              <a:stCxn id="18" idx="3"/>
              <a:endCxn id="21" idx="1"/>
            </p:cNvCxnSpPr>
            <p:nvPr/>
          </p:nvCxnSpPr>
          <p:spPr>
            <a:xfrm>
              <a:off x="4742745" y="1799511"/>
              <a:ext cx="29022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032972" y="1676400"/>
              <a:ext cx="2053628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1.0f, 1.0f, 0.0f, 1.0f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70707"/>
            <a:ext cx="3554653" cy="275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04800" y="3669268"/>
            <a:ext cx="3429000" cy="2641431"/>
            <a:chOff x="304800" y="3669268"/>
            <a:chExt cx="3429000" cy="2641431"/>
          </a:xfrm>
        </p:grpSpPr>
        <p:sp>
          <p:nvSpPr>
            <p:cNvPr id="27" name="TextBox 26"/>
            <p:cNvSpPr txBox="1"/>
            <p:nvPr/>
          </p:nvSpPr>
          <p:spPr>
            <a:xfrm>
              <a:off x="304800" y="3669268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800x600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55009" y="4509701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(200,150)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18794" y="4523601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(600,150)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90634" y="6019800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(200,450)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54419" y="6033700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(600,450)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22599" y="2371011"/>
            <a:ext cx="8621401" cy="381000"/>
            <a:chOff x="522599" y="2371011"/>
            <a:chExt cx="8621401" cy="381000"/>
          </a:xfrm>
        </p:grpSpPr>
        <p:sp>
          <p:nvSpPr>
            <p:cNvPr id="33" name="TextBox 32"/>
            <p:cNvSpPr txBox="1"/>
            <p:nvPr/>
          </p:nvSpPr>
          <p:spPr>
            <a:xfrm>
              <a:off x="522599" y="2438401"/>
              <a:ext cx="1269002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033831" y="2449475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0"/>
            <p:cNvCxnSpPr>
              <a:stCxn id="33" idx="3"/>
              <a:endCxn id="34" idx="1"/>
            </p:cNvCxnSpPr>
            <p:nvPr/>
          </p:nvCxnSpPr>
          <p:spPr>
            <a:xfrm>
              <a:off x="1791601" y="2561512"/>
              <a:ext cx="24223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0"/>
            <p:cNvCxnSpPr>
              <a:stCxn id="34" idx="3"/>
              <a:endCxn id="37" idx="1"/>
            </p:cNvCxnSpPr>
            <p:nvPr/>
          </p:nvCxnSpPr>
          <p:spPr>
            <a:xfrm>
              <a:off x="2429404" y="2561512"/>
              <a:ext cx="27659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2706001" y="2438401"/>
              <a:ext cx="1269002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66199" y="2449475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Straight Arrow Connector 30"/>
            <p:cNvCxnSpPr>
              <a:stCxn id="37" idx="3"/>
              <a:endCxn id="42" idx="1"/>
            </p:cNvCxnSpPr>
            <p:nvPr/>
          </p:nvCxnSpPr>
          <p:spPr>
            <a:xfrm flipV="1">
              <a:off x="3975003" y="2561511"/>
              <a:ext cx="254998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0"/>
            <p:cNvCxnSpPr>
              <a:stCxn id="38" idx="3"/>
              <a:endCxn id="41" idx="1"/>
            </p:cNvCxnSpPr>
            <p:nvPr/>
          </p:nvCxnSpPr>
          <p:spPr>
            <a:xfrm>
              <a:off x="6861772" y="2561512"/>
              <a:ext cx="22860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7090372" y="2438401"/>
              <a:ext cx="2053628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1.0f, 1.0f, 0.0f, 1.0f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30001" y="2371011"/>
              <a:ext cx="488851" cy="3810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Arrow Connector 30"/>
            <p:cNvCxnSpPr>
              <a:stCxn id="42" idx="3"/>
              <a:endCxn id="48" idx="1"/>
            </p:cNvCxnSpPr>
            <p:nvPr/>
          </p:nvCxnSpPr>
          <p:spPr>
            <a:xfrm>
              <a:off x="4718852" y="2561511"/>
              <a:ext cx="299547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5018399" y="2438401"/>
              <a:ext cx="1143000" cy="246221"/>
            </a:xfrm>
            <a:prstGeom prst="rect">
              <a:avLst/>
            </a:prstGeom>
            <a:solidFill>
              <a:srgbClr val="FF00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(600, 150,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cxnSp>
          <p:nvCxnSpPr>
            <p:cNvPr id="50" name="Straight Arrow Connector 30"/>
            <p:cNvCxnSpPr>
              <a:stCxn id="48" idx="3"/>
              <a:endCxn id="38" idx="1"/>
            </p:cNvCxnSpPr>
            <p:nvPr/>
          </p:nvCxnSpPr>
          <p:spPr>
            <a:xfrm>
              <a:off x="6161399" y="2561512"/>
              <a:ext cx="30480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&quot;No&quot; Symbol 61"/>
          <p:cNvSpPr/>
          <p:nvPr/>
        </p:nvSpPr>
        <p:spPr>
          <a:xfrm>
            <a:off x="3954497" y="1532811"/>
            <a:ext cx="530352" cy="533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86400" y="2824442"/>
            <a:ext cx="3288080" cy="8617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PS(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SV_Target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{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red = 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inPix.Pos.x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- 200) / 400;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green = 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inPix.Pos.y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- 150) / 300;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(red, green, 0, 1);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313752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2" grpId="0" animBg="1"/>
      <p:bldP spid="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Warning! </a:t>
            </a:r>
            <a:br>
              <a:rPr lang="en-US" dirty="0"/>
            </a:br>
            <a:r>
              <a:rPr lang="en-US" dirty="0"/>
              <a:t>Be Careful Reading </a:t>
            </a:r>
            <a:r>
              <a:rPr lang="en-US" dirty="0" err="1"/>
              <a:t>Shader</a:t>
            </a:r>
            <a:r>
              <a:rPr lang="en-US" dirty="0"/>
              <a:t> Code!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Reading our ‘</a:t>
            </a:r>
            <a:r>
              <a:rPr lang="en-US" sz="2000" dirty="0" err="1" smtClean="0"/>
              <a:t>SimpleColor</a:t>
            </a:r>
            <a:r>
              <a:rPr lang="en-US" sz="2000" dirty="0" smtClean="0"/>
              <a:t>’ </a:t>
            </a:r>
            <a:r>
              <a:rPr lang="en-US" sz="2000" dirty="0" err="1" smtClean="0"/>
              <a:t>shader</a:t>
            </a:r>
            <a:r>
              <a:rPr lang="en-US" sz="2000" dirty="0" smtClean="0"/>
              <a:t>, it easy to think that: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u="sng" dirty="0" smtClean="0">
                <a:solidFill>
                  <a:srgbClr val="FF0000"/>
                </a:solidFill>
              </a:rPr>
              <a:t>But that is incorrect</a:t>
            </a:r>
            <a:r>
              <a:rPr lang="en-US" sz="2000" dirty="0" smtClean="0"/>
              <a:t>: the RS converts POSITION into SV_POSITION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You can see this by replacing the PS with</a:t>
            </a:r>
          </a:p>
          <a:p>
            <a:pPr marL="274320" lvl="1" indent="0">
              <a:buNone/>
            </a:pPr>
            <a:r>
              <a:rPr lang="en-US" sz="1600" i="1" dirty="0"/>
              <a:t>Converts </a:t>
            </a:r>
            <a:r>
              <a:rPr lang="en-US" sz="1600" i="1" dirty="0" smtClean="0"/>
              <a:t>x, y screen </a:t>
            </a:r>
            <a:r>
              <a:rPr lang="en-US" sz="1600" i="1" dirty="0"/>
              <a:t>position in [0,1] </a:t>
            </a:r>
            <a:r>
              <a:rPr lang="en-US" sz="1600" i="1" dirty="0" smtClean="0"/>
              <a:t>red/green values</a:t>
            </a:r>
            <a:endParaRPr lang="en-US" sz="16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563570" y="1676400"/>
            <a:ext cx="126900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0703" y="1687474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30"/>
          <p:cNvCxnSpPr>
            <a:stCxn id="6" idx="3"/>
            <a:endCxn id="7" idx="1"/>
          </p:cNvCxnSpPr>
          <p:nvPr/>
        </p:nvCxnSpPr>
        <p:spPr>
          <a:xfrm>
            <a:off x="1832572" y="1799511"/>
            <a:ext cx="288131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30"/>
          <p:cNvCxnSpPr>
            <a:stCxn id="7" idx="3"/>
            <a:endCxn id="15" idx="1"/>
          </p:cNvCxnSpPr>
          <p:nvPr/>
        </p:nvCxnSpPr>
        <p:spPr>
          <a:xfrm>
            <a:off x="2516276" y="1799511"/>
            <a:ext cx="306896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23172" y="1676400"/>
            <a:ext cx="126900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47172" y="1687474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30"/>
          <p:cNvCxnSpPr>
            <a:stCxn id="15" idx="3"/>
            <a:endCxn id="18" idx="1"/>
          </p:cNvCxnSpPr>
          <p:nvPr/>
        </p:nvCxnSpPr>
        <p:spPr>
          <a:xfrm>
            <a:off x="4092174" y="1799511"/>
            <a:ext cx="25499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30"/>
          <p:cNvCxnSpPr>
            <a:stCxn id="18" idx="3"/>
            <a:endCxn id="21" idx="1"/>
          </p:cNvCxnSpPr>
          <p:nvPr/>
        </p:nvCxnSpPr>
        <p:spPr>
          <a:xfrm>
            <a:off x="4742745" y="1799511"/>
            <a:ext cx="29022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32972" y="1676400"/>
            <a:ext cx="2053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1.0f, 1.0f,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4800" y="366926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800x600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599" y="2438401"/>
            <a:ext cx="126900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033831" y="2449475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0"/>
          <p:cNvCxnSpPr>
            <a:stCxn id="33" idx="3"/>
            <a:endCxn id="34" idx="1"/>
          </p:cNvCxnSpPr>
          <p:nvPr/>
        </p:nvCxnSpPr>
        <p:spPr>
          <a:xfrm>
            <a:off x="1791601" y="2561512"/>
            <a:ext cx="24223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0"/>
          <p:cNvCxnSpPr>
            <a:stCxn id="34" idx="3"/>
            <a:endCxn id="37" idx="1"/>
          </p:cNvCxnSpPr>
          <p:nvPr/>
        </p:nvCxnSpPr>
        <p:spPr>
          <a:xfrm>
            <a:off x="2429404" y="2561512"/>
            <a:ext cx="27659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06001" y="2438401"/>
            <a:ext cx="126900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66199" y="2449475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0"/>
          <p:cNvCxnSpPr>
            <a:stCxn id="37" idx="3"/>
            <a:endCxn id="42" idx="1"/>
          </p:cNvCxnSpPr>
          <p:nvPr/>
        </p:nvCxnSpPr>
        <p:spPr>
          <a:xfrm flipV="1">
            <a:off x="3975003" y="2561511"/>
            <a:ext cx="254998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0"/>
          <p:cNvCxnSpPr>
            <a:stCxn id="38" idx="3"/>
            <a:endCxn id="41" idx="1"/>
          </p:cNvCxnSpPr>
          <p:nvPr/>
        </p:nvCxnSpPr>
        <p:spPr>
          <a:xfrm>
            <a:off x="6861772" y="2561512"/>
            <a:ext cx="228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90372" y="2438401"/>
            <a:ext cx="2053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1.0f, 1.0f,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230001" y="2371011"/>
            <a:ext cx="488851" cy="3810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30"/>
          <p:cNvCxnSpPr>
            <a:stCxn id="42" idx="3"/>
            <a:endCxn id="48" idx="1"/>
          </p:cNvCxnSpPr>
          <p:nvPr/>
        </p:nvCxnSpPr>
        <p:spPr>
          <a:xfrm>
            <a:off x="4718852" y="2561511"/>
            <a:ext cx="299547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18399" y="2438401"/>
            <a:ext cx="1143000" cy="246221"/>
          </a:xfrm>
          <a:prstGeom prst="rect">
            <a:avLst/>
          </a:prstGeom>
          <a:solidFill>
            <a:srgbClr val="FF00FF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(600, 150,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cxnSp>
        <p:nvCxnSpPr>
          <p:cNvPr id="50" name="Straight Arrow Connector 30"/>
          <p:cNvCxnSpPr>
            <a:stCxn id="48" idx="3"/>
            <a:endCxn id="38" idx="1"/>
          </p:cNvCxnSpPr>
          <p:nvPr/>
        </p:nvCxnSpPr>
        <p:spPr>
          <a:xfrm>
            <a:off x="6161399" y="2561512"/>
            <a:ext cx="3048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&quot;No&quot; Symbol 61"/>
          <p:cNvSpPr/>
          <p:nvPr/>
        </p:nvSpPr>
        <p:spPr>
          <a:xfrm>
            <a:off x="3954497" y="1532811"/>
            <a:ext cx="530352" cy="533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43" y="3975980"/>
            <a:ext cx="3554652" cy="275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55009" y="4509701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(200,150)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18794" y="4523601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(600,150)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0634" y="6019800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(200,450)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4419" y="6033700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(600,450)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61776" y="3841790"/>
            <a:ext cx="3275699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PS(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( 1.0f, 1.0f,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5486400" y="2824442"/>
            <a:ext cx="3288080" cy="8617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PS(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 :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SV_Target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{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red = 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inPix.Pos.x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- 200) / 400;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green = 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inPix.Pos.y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- 150) / 300;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(red, green, 0, 1);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1447800" y="3686216"/>
            <a:ext cx="37959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Cleary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inPix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in PS is </a:t>
            </a:r>
            <a:r>
              <a:rPr lang="en-US" sz="1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same set of values that came out of VS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6600" y="5029200"/>
            <a:ext cx="2029465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 also Piazza post for Visual Studio graphics debug tool.</a:t>
            </a:r>
          </a:p>
        </p:txBody>
      </p:sp>
    </p:spTree>
    <p:extLst>
      <p:ext uri="{BB962C8B-B14F-4D97-AF65-F5344CB8AC3E}">
        <p14:creationId xmlns:p14="http://schemas.microsoft.com/office/powerpoint/2010/main" val="29247245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3:</a:t>
            </a:r>
          </a:p>
          <a:p>
            <a:r>
              <a:rPr lang="en-US" dirty="0" smtClean="0"/>
              <a:t>Color Control With Vertex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87142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Some Color Control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How do we change this: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To this?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162300" y="1314449"/>
            <a:ext cx="232410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(0.0f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(0.5f, -0.5f, 0),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),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2, 1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295399"/>
            <a:ext cx="2767931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819400" y="3886200"/>
            <a:ext cx="344805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(0.0f, 0.5f, 0), Colors::Red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Colors::Blue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2, 1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3886200"/>
            <a:ext cx="2071735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423" y="3886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42973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Color Control:</a:t>
            </a:r>
            <a:br>
              <a:rPr lang="en-US" dirty="0" smtClean="0"/>
            </a:br>
            <a:r>
              <a:rPr lang="en-US" dirty="0" smtClean="0"/>
              <a:t>To Do List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smtClean="0"/>
              <a:t>Clearly the </a:t>
            </a:r>
            <a:r>
              <a:rPr lang="en-US" sz="2000" dirty="0" err="1" smtClean="0"/>
              <a:t>vertexbuffer</a:t>
            </a:r>
            <a:r>
              <a:rPr lang="en-US" sz="2000" dirty="0" smtClean="0"/>
              <a:t> on the GPU needs a different size and format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smtClean="0"/>
              <a:t>Clearly the PS needs to be changed: it must receive our selected color as input and use that in its output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smtClean="0"/>
              <a:t>Surprisingly: the VS needs to be changed too: it has to pass through the vertices’ color data so that the PS eventually gets it.</a:t>
            </a:r>
          </a:p>
          <a:p>
            <a:pPr marL="285750" indent="-285750">
              <a:buSzPct val="100000"/>
              <a:buFont typeface="+mj-lt"/>
              <a:buAutoNum type="arabicPeriod"/>
            </a:pPr>
            <a:r>
              <a:rPr lang="en-US" sz="2000" dirty="0" smtClean="0"/>
              <a:t>That means we also need to change the VS’s input layout to account for the extra </a:t>
            </a:r>
            <a:r>
              <a:rPr lang="en-US" sz="2000" dirty="0" smtClean="0"/>
              <a:t>parameters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3886200"/>
            <a:ext cx="344805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(0.0f, 0.5f, 0), Colors::Red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Colors::Blue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2, 1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3886200"/>
            <a:ext cx="2071735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423" y="3886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873142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Buffer Changes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only change is that the buffer size and stride must now be relative to the size of ‘</a:t>
            </a:r>
            <a:r>
              <a:rPr lang="en-US" sz="20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2000" dirty="0" smtClean="0"/>
              <a:t>’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2057399"/>
            <a:ext cx="6781800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3;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D3D11_BIND_VERTEX_BUFFER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0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D3D11_SUBRESOURCE_DATA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vertices;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stride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offset = 0;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IASetVertexBuffers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&amp;stride, &amp;offset);</a:t>
            </a:r>
            <a:endParaRPr lang="en-US" sz="11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2514600" y="2590800"/>
            <a:ext cx="1600200" cy="1905000"/>
            <a:chOff x="2514600" y="2590800"/>
            <a:chExt cx="1600200" cy="1905000"/>
          </a:xfrm>
        </p:grpSpPr>
        <p:sp>
          <p:nvSpPr>
            <p:cNvPr id="6" name="Rounded Rectangle 5"/>
            <p:cNvSpPr/>
            <p:nvPr/>
          </p:nvSpPr>
          <p:spPr>
            <a:xfrm>
              <a:off x="2590800" y="2590800"/>
              <a:ext cx="1524000" cy="2286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14600" y="4267200"/>
              <a:ext cx="1524000" cy="2286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88624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Shader</a:t>
            </a:r>
            <a:r>
              <a:rPr lang="en-US" dirty="0" smtClean="0"/>
              <a:t> Code:</a:t>
            </a:r>
            <a:br>
              <a:rPr lang="en-US" dirty="0" smtClean="0"/>
            </a:br>
            <a:r>
              <a:rPr lang="en-US" dirty="0" err="1" smtClean="0"/>
              <a:t>SimpleColorPlus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revised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code:</a:t>
            </a:r>
          </a:p>
          <a:p>
            <a:pPr marL="457200" lvl="1" indent="-184150"/>
            <a:r>
              <a:rPr lang="en-US" sz="1800" dirty="0" smtClean="0"/>
              <a:t>Very similar to before</a:t>
            </a:r>
          </a:p>
          <a:p>
            <a:pPr marL="457200" lvl="1" indent="-184150"/>
            <a:r>
              <a:rPr lang="en-US" sz="1800" dirty="0" smtClean="0"/>
              <a:t>New semantic: ‘COLOR’</a:t>
            </a:r>
          </a:p>
          <a:p>
            <a:pPr marL="457200" lvl="1" indent="-184150"/>
            <a:r>
              <a:rPr lang="en-US" sz="1800" dirty="0" smtClean="0"/>
              <a:t>Note that VS receives color data to pass along</a:t>
            </a:r>
          </a:p>
          <a:p>
            <a:pPr marL="457200" lvl="1" indent="-184150"/>
            <a:r>
              <a:rPr lang="en-US" sz="1800" dirty="0" smtClean="0"/>
              <a:t>PS outputs the received color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5867400" y="1143000"/>
            <a:ext cx="3124200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3355818"/>
            <a:ext cx="3593697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Again, don’t forget the RS that works in between the VS and 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599" y="4267200"/>
            <a:ext cx="344805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(0.0f, 0.5f, 0), Colors::Red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Colors::Blue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2, 1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602" y="4248361"/>
            <a:ext cx="2056598" cy="1595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056938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Back to Input Layout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Some facts about the Input Assembly stage:</a:t>
            </a:r>
          </a:p>
          <a:p>
            <a:r>
              <a:rPr lang="en-US" sz="1600" dirty="0" smtClean="0"/>
              <a:t>The IA has access to the vertex buffer but only as </a:t>
            </a:r>
            <a:r>
              <a:rPr lang="en-US" sz="1600" dirty="0" smtClean="0"/>
              <a:t>a byte array. </a:t>
            </a:r>
          </a:p>
          <a:p>
            <a:pPr marL="568325" lvl="1" indent="0">
              <a:buNone/>
            </a:pPr>
            <a:r>
              <a:rPr lang="en-US" sz="1600" i="1" dirty="0" smtClean="0"/>
              <a:t>By itself, there is no way to know how </a:t>
            </a:r>
            <a:r>
              <a:rPr lang="en-US" sz="1600" i="1" dirty="0" smtClean="0"/>
              <a:t>to extract data from </a:t>
            </a:r>
            <a:r>
              <a:rPr lang="en-US" sz="1600" i="1" dirty="0" smtClean="0"/>
              <a:t>it.</a:t>
            </a:r>
            <a:endParaRPr lang="en-US" sz="1600" i="1" dirty="0" smtClean="0"/>
          </a:p>
          <a:p>
            <a:r>
              <a:rPr lang="en-US" sz="1600" dirty="0" smtClean="0"/>
              <a:t>The IA </a:t>
            </a:r>
            <a:r>
              <a:rPr lang="en-US" sz="1600" dirty="0" smtClean="0"/>
              <a:t>also knows </a:t>
            </a:r>
            <a:r>
              <a:rPr lang="en-US" sz="1600" dirty="0" smtClean="0"/>
              <a:t>the input format for the VS</a:t>
            </a:r>
          </a:p>
          <a:p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Question:</a:t>
            </a:r>
            <a:r>
              <a:rPr lang="en-US" sz="2000" dirty="0" smtClean="0"/>
              <a:t> Why can’t the IA use the VS input format to parse the vertex buffer?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Problem</a:t>
            </a:r>
            <a:r>
              <a:rPr lang="en-US" sz="2000" b="1" dirty="0" smtClean="0"/>
              <a:t>: </a:t>
            </a:r>
            <a:r>
              <a:rPr lang="en-US" sz="2000" dirty="0" smtClean="0"/>
              <a:t>In general:</a:t>
            </a:r>
          </a:p>
          <a:p>
            <a:pPr marL="685800" lvl="1" indent="-228600"/>
            <a:r>
              <a:rPr lang="en-US" sz="1600" dirty="0"/>
              <a:t>E</a:t>
            </a:r>
            <a:r>
              <a:rPr lang="en-US" sz="1600" dirty="0" smtClean="0"/>
              <a:t>ach </a:t>
            </a:r>
            <a:r>
              <a:rPr lang="en-US" sz="1600" dirty="0" smtClean="0"/>
              <a:t>vertex in the vertex buffer may contain a lot of information: </a:t>
            </a:r>
            <a:endParaRPr lang="en-US" sz="1600" dirty="0" smtClean="0"/>
          </a:p>
          <a:p>
            <a:pPr marL="1195388" lvl="2" indent="0">
              <a:buNone/>
            </a:pPr>
            <a:r>
              <a:rPr lang="en-US" sz="1600" i="1" dirty="0" smtClean="0"/>
              <a:t>Ex: color</a:t>
            </a:r>
            <a:r>
              <a:rPr lang="en-US" sz="1600" i="1" dirty="0" smtClean="0"/>
              <a:t>, </a:t>
            </a:r>
            <a:r>
              <a:rPr lang="en-US" sz="1600" i="1" dirty="0" err="1" smtClean="0"/>
              <a:t>normals</a:t>
            </a:r>
            <a:r>
              <a:rPr lang="en-US" sz="1600" i="1" dirty="0" smtClean="0"/>
              <a:t>, texture data, etc.</a:t>
            </a:r>
          </a:p>
          <a:p>
            <a:pPr marL="685800" lvl="1" indent="-228600"/>
            <a:r>
              <a:rPr lang="en-US" sz="1600" dirty="0"/>
              <a:t>There </a:t>
            </a:r>
            <a:r>
              <a:rPr lang="en-US" sz="1600" dirty="0" smtClean="0"/>
              <a:t>can be </a:t>
            </a:r>
            <a:r>
              <a:rPr lang="en-US" sz="1600" dirty="0"/>
              <a:t>multiple VS </a:t>
            </a:r>
            <a:r>
              <a:rPr lang="en-US" sz="1600" dirty="0" smtClean="0"/>
              <a:t>available, </a:t>
            </a:r>
            <a:r>
              <a:rPr lang="en-US" sz="1600" dirty="0"/>
              <a:t>each with their own particular input </a:t>
            </a:r>
            <a:r>
              <a:rPr lang="en-US" sz="1600" dirty="0" smtClean="0"/>
              <a:t>parameters</a:t>
            </a:r>
            <a:r>
              <a:rPr lang="en-US" sz="1600" dirty="0" smtClean="0"/>
              <a:t>.</a:t>
            </a:r>
          </a:p>
          <a:p>
            <a:pPr marL="1195388" lvl="2" indent="0">
              <a:buNone/>
            </a:pPr>
            <a:r>
              <a:rPr lang="en-US" sz="1600" i="1" dirty="0" smtClean="0"/>
              <a:t>Ex: rendering with texture, or color only. </a:t>
            </a:r>
            <a:r>
              <a:rPr lang="en-US" sz="1600" i="1" dirty="0" smtClean="0"/>
              <a:t>Light (using </a:t>
            </a:r>
            <a:r>
              <a:rPr lang="en-US" sz="1600" i="1" dirty="0" err="1" smtClean="0"/>
              <a:t>normals</a:t>
            </a:r>
            <a:r>
              <a:rPr lang="en-US" sz="1600" i="1" dirty="0" smtClean="0"/>
              <a:t>) or not, etc.</a:t>
            </a:r>
            <a:endParaRPr lang="en-US" sz="1600" i="1" dirty="0"/>
          </a:p>
          <a:p>
            <a:pPr marL="228600" indent="-228600"/>
            <a:endParaRPr lang="en-US" sz="800" dirty="0" smtClean="0"/>
          </a:p>
          <a:p>
            <a:pPr marL="0" indent="0">
              <a:buNone/>
            </a:pPr>
            <a:r>
              <a:rPr lang="en-US" sz="2000" b="1" dirty="0" smtClean="0"/>
              <a:t>Question: </a:t>
            </a:r>
            <a:r>
              <a:rPr lang="en-US" sz="2000" dirty="0" smtClean="0"/>
              <a:t>How can the IA know which elements of a vertex buffer entry to extract and direct to the current VS’s parameter?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smtClean="0"/>
              <a:t>Answer:  </a:t>
            </a:r>
            <a:r>
              <a:rPr lang="en-US" sz="2000" dirty="0" smtClean="0"/>
              <a:t>An input layout: Specify which bytes goes towards which VS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600200"/>
            <a:ext cx="2514600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pPr lvl="0"/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lvl="0"/>
            <a:r>
              <a:rPr lang="en-US" sz="1000" dirty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pPr lvl="0"/>
            <a:r>
              <a:rPr lang="en-US" sz="1000" dirty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Color : COLOR;</a:t>
            </a:r>
          </a:p>
          <a:p>
            <a:pPr lvl="0"/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lvl="0"/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1921440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Layout:</a:t>
            </a:r>
            <a:br>
              <a:rPr lang="en-US" dirty="0" smtClean="0"/>
            </a:br>
            <a:r>
              <a:rPr lang="en-US" dirty="0" smtClean="0"/>
              <a:t>Before (Yellow Triangle)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58750" indent="-342900">
              <a:buFont typeface="+mj-lt"/>
              <a:buAutoNum type="arabicPeriod"/>
            </a:pPr>
            <a:r>
              <a:rPr lang="en-US" sz="2000" dirty="0" smtClean="0"/>
              <a:t>Each vertex is a ‘</a:t>
            </a:r>
            <a:r>
              <a:rPr lang="en-US" sz="2000" dirty="0" err="1" smtClean="0"/>
              <a:t>Vect</a:t>
            </a:r>
            <a:r>
              <a:rPr lang="en-US" sz="2000" dirty="0" smtClean="0"/>
              <a:t>’ i.e.: 4 floats</a:t>
            </a:r>
          </a:p>
          <a:p>
            <a:pPr marL="158750" indent="-342900">
              <a:buFont typeface="+mj-lt"/>
              <a:buAutoNum type="arabicPeriod"/>
            </a:pPr>
            <a:r>
              <a:rPr lang="en-US" sz="2000" dirty="0" smtClean="0"/>
              <a:t>The VS expects  4 float as POSITION</a:t>
            </a:r>
          </a:p>
          <a:p>
            <a:pPr marL="158750" indent="-342900">
              <a:buFont typeface="+mj-lt"/>
              <a:buAutoNum type="arabicPeriod"/>
            </a:pPr>
            <a:endParaRPr lang="en-US" sz="2000" dirty="0" smtClean="0"/>
          </a:p>
          <a:p>
            <a:pPr marL="158750" indent="-342900">
              <a:buFont typeface="+mj-lt"/>
              <a:buAutoNum type="arabicPeriod"/>
            </a:pPr>
            <a:endParaRPr lang="en-US" sz="2000" dirty="0"/>
          </a:p>
          <a:p>
            <a:pPr marL="158750" indent="-342900">
              <a:buFont typeface="+mj-lt"/>
              <a:buAutoNum type="arabicPeriod"/>
            </a:pPr>
            <a:endParaRPr lang="en-US" sz="2000" dirty="0" smtClean="0"/>
          </a:p>
          <a:p>
            <a:pPr marL="158750" indent="-342900">
              <a:buFont typeface="+mj-lt"/>
              <a:buAutoNum type="arabicPeriod"/>
            </a:pPr>
            <a:r>
              <a:rPr lang="en-US" sz="2000" dirty="0" smtClean="0"/>
              <a:t>Input Layout sent to the IA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274320" lvl="1" indent="0">
              <a:buNone/>
            </a:pPr>
            <a:r>
              <a:rPr lang="en-US" sz="1800" dirty="0" smtClean="0"/>
              <a:t>Note: For each of the VS’s input parameters, the input layout must</a:t>
            </a:r>
          </a:p>
          <a:p>
            <a:pPr marL="685800" lvl="1" indent="-184150"/>
            <a:r>
              <a:rPr lang="en-US" sz="1800" dirty="0" smtClean="0"/>
              <a:t>Have matching semantic (1</a:t>
            </a:r>
            <a:r>
              <a:rPr lang="en-US" sz="1800" baseline="30000" dirty="0" smtClean="0"/>
              <a:t>st</a:t>
            </a:r>
            <a:r>
              <a:rPr lang="en-US" sz="1800" dirty="0" smtClean="0"/>
              <a:t> and 2</a:t>
            </a:r>
            <a:r>
              <a:rPr lang="en-US" sz="1800" baseline="30000" dirty="0" smtClean="0"/>
              <a:t>nd</a:t>
            </a:r>
            <a:r>
              <a:rPr lang="en-US" sz="1800" dirty="0" smtClean="0"/>
              <a:t> element)</a:t>
            </a:r>
          </a:p>
          <a:p>
            <a:pPr marL="685800" lvl="1" indent="-184150"/>
            <a:r>
              <a:rPr lang="en-US" sz="1800" dirty="0" smtClean="0"/>
              <a:t>Matching format (3</a:t>
            </a:r>
            <a:r>
              <a:rPr lang="en-US" sz="1800" baseline="30000" dirty="0" smtClean="0"/>
              <a:t>rd</a:t>
            </a:r>
            <a:r>
              <a:rPr lang="en-US" sz="1800" dirty="0"/>
              <a:t> </a:t>
            </a:r>
            <a:r>
              <a:rPr lang="en-US" sz="1800" dirty="0" smtClean="0"/>
              <a:t>element)</a:t>
            </a:r>
          </a:p>
          <a:p>
            <a:pPr marL="685800" lvl="1" indent="-184150"/>
            <a:r>
              <a:rPr lang="en-US" sz="1800" dirty="0" smtClean="0"/>
              <a:t>What is Aligned Byte Offset (5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element)? </a:t>
            </a:r>
            <a:r>
              <a:rPr lang="en-US" sz="1800" dirty="0"/>
              <a:t>S</a:t>
            </a:r>
            <a:r>
              <a:rPr lang="en-US" sz="1800" dirty="0" smtClean="0"/>
              <a:t>ee next slides…</a:t>
            </a:r>
          </a:p>
          <a:p>
            <a:pPr marL="685800" lvl="1" indent="-184150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53001" y="1676400"/>
            <a:ext cx="25146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81400"/>
            <a:ext cx="717232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B91AF"/>
                </a:solidFill>
                <a:latin typeface="Consolas"/>
                <a:hlinkClick r:id="rId2"/>
              </a:rPr>
              <a:t>D3D11_INPUT_ELEMENT_DESC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layout[] =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05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311" y="76201"/>
            <a:ext cx="1374289" cy="10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43027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Layout:</a:t>
            </a:r>
            <a:br>
              <a:rPr lang="en-US" dirty="0"/>
            </a:br>
            <a:r>
              <a:rPr lang="en-US" dirty="0" smtClean="0"/>
              <a:t>Now (Color-per-vertex Triangle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58750" indent="-342900">
              <a:buFont typeface="+mj-lt"/>
              <a:buAutoNum type="arabicPeriod"/>
            </a:pPr>
            <a:r>
              <a:rPr lang="en-US" sz="2000" dirty="0"/>
              <a:t>Each vertex is a </a:t>
            </a:r>
            <a:r>
              <a:rPr lang="en-US" sz="2000" dirty="0" smtClean="0"/>
              <a:t>pair of position and color, both </a:t>
            </a:r>
            <a:r>
              <a:rPr lang="en-US" sz="2000" dirty="0" err="1" smtClean="0"/>
              <a:t>Vect</a:t>
            </a:r>
            <a:r>
              <a:rPr lang="en-US" sz="2000" dirty="0" smtClean="0"/>
              <a:t>:</a:t>
            </a:r>
            <a:endParaRPr lang="en-US" sz="2000" dirty="0"/>
          </a:p>
          <a:p>
            <a:pPr marL="158750" indent="-342900">
              <a:buFont typeface="+mj-lt"/>
              <a:buAutoNum type="arabicPeriod"/>
            </a:pPr>
            <a:endParaRPr lang="en-US" sz="2000" dirty="0" smtClean="0"/>
          </a:p>
          <a:p>
            <a:pPr marL="158750" indent="-34290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VS expect  </a:t>
            </a:r>
            <a:r>
              <a:rPr lang="en-US" sz="2000" dirty="0" smtClean="0"/>
              <a:t>a POSITION and a COLOR</a:t>
            </a:r>
            <a:endParaRPr lang="en-US" sz="2000" dirty="0"/>
          </a:p>
          <a:p>
            <a:pPr marL="158750" indent="-342900">
              <a:buFont typeface="+mj-lt"/>
              <a:buAutoNum type="arabicPeriod"/>
            </a:pPr>
            <a:endParaRPr lang="en-US" sz="2000" dirty="0"/>
          </a:p>
          <a:p>
            <a:pPr marL="158750" indent="-342900">
              <a:buFont typeface="+mj-lt"/>
              <a:buAutoNum type="arabicPeriod"/>
            </a:pPr>
            <a:endParaRPr lang="en-US" sz="2000" dirty="0"/>
          </a:p>
          <a:p>
            <a:pPr marL="158750" indent="-342900">
              <a:buFont typeface="+mj-lt"/>
              <a:buAutoNum type="arabicPeriod"/>
            </a:pPr>
            <a:endParaRPr lang="en-US" sz="2000" dirty="0"/>
          </a:p>
          <a:p>
            <a:pPr marL="158750" indent="-342900">
              <a:buFont typeface="+mj-lt"/>
              <a:buAutoNum type="arabicPeriod"/>
            </a:pPr>
            <a:r>
              <a:rPr lang="en-US" sz="2000" dirty="0"/>
              <a:t>Input Layout sent to the </a:t>
            </a:r>
            <a:r>
              <a:rPr lang="en-US" sz="2000" dirty="0" smtClean="0"/>
              <a:t>IA</a:t>
            </a:r>
          </a:p>
          <a:p>
            <a:pPr marL="158750" indent="-3429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pPr marL="274320" lvl="1" indent="0">
              <a:buNone/>
            </a:pPr>
            <a:r>
              <a:rPr lang="en-US" sz="1800" dirty="0"/>
              <a:t>Note: For each of the VS’s input parameters, the input layout must</a:t>
            </a:r>
          </a:p>
          <a:p>
            <a:pPr marL="685800" lvl="1" indent="-184150"/>
            <a:r>
              <a:rPr lang="en-US" sz="1800" dirty="0"/>
              <a:t>Have matching semantic (1</a:t>
            </a:r>
            <a:r>
              <a:rPr lang="en-US" sz="1800" baseline="30000" dirty="0"/>
              <a:t>st</a:t>
            </a:r>
            <a:r>
              <a:rPr lang="en-US" sz="1800" dirty="0"/>
              <a:t> and 2</a:t>
            </a:r>
            <a:r>
              <a:rPr lang="en-US" sz="1800" baseline="30000" dirty="0"/>
              <a:t>nd</a:t>
            </a:r>
            <a:r>
              <a:rPr lang="en-US" sz="1800" dirty="0"/>
              <a:t> element)</a:t>
            </a:r>
          </a:p>
          <a:p>
            <a:pPr marL="685800" lvl="1" indent="-184150"/>
            <a:r>
              <a:rPr lang="en-US" sz="1800" dirty="0"/>
              <a:t>Matching format (3</a:t>
            </a:r>
            <a:r>
              <a:rPr lang="en-US" sz="1800" baseline="30000" dirty="0"/>
              <a:t>rd</a:t>
            </a:r>
            <a:r>
              <a:rPr lang="en-US" sz="1800" dirty="0"/>
              <a:t> element</a:t>
            </a:r>
            <a:r>
              <a:rPr lang="en-US" sz="1800" dirty="0" smtClean="0"/>
              <a:t>)</a:t>
            </a:r>
          </a:p>
          <a:p>
            <a:pPr marL="685800" lvl="1" indent="-184150"/>
            <a:r>
              <a:rPr lang="en-US" sz="1800" dirty="0"/>
              <a:t>Byte Offset (5</a:t>
            </a:r>
            <a:r>
              <a:rPr lang="en-US" sz="1800" baseline="30000" dirty="0"/>
              <a:t>th </a:t>
            </a:r>
            <a:r>
              <a:rPr lang="en-US" sz="1800" dirty="0"/>
              <a:t>element): indicates where to start in the vertex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826" y="1219200"/>
            <a:ext cx="1637849" cy="8617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SimpleVertex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800" y="2133600"/>
            <a:ext cx="2438400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886200"/>
            <a:ext cx="8763000" cy="90024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B91AF"/>
                </a:solidFill>
                <a:latin typeface="Consolas"/>
                <a:hlinkClick r:id="rId2"/>
              </a:rPr>
              <a:t>D3D11_INPUT_ELEMENT_DESC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layout[] =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05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 smtClean="0">
                <a:latin typeface="Consolas"/>
              </a:rPr>
              <a:t>0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050" dirty="0">
                <a:solidFill>
                  <a:srgbClr val="A31515"/>
                </a:solidFill>
                <a:latin typeface="Consolas"/>
              </a:rPr>
              <a:t>"COLOR"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6F008A"/>
                </a:solidFill>
                <a:latin typeface="Consolas"/>
              </a:rPr>
              <a:t>D3D11_APPEND_ALIGNED_ELEMENT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311" y="76200"/>
            <a:ext cx="1374289" cy="10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69904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Layout:</a:t>
            </a:r>
            <a:br>
              <a:rPr lang="en-US" dirty="0"/>
            </a:br>
            <a:r>
              <a:rPr lang="en-US" dirty="0" smtClean="0"/>
              <a:t>Aligned Byte Offset (</a:t>
            </a:r>
            <a:r>
              <a:rPr lang="en-US" i="1" dirty="0" smtClean="0"/>
              <a:t>future example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Here is an example to illustrate why we need the byte offset value:</a:t>
            </a: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A vertex buffer may have a lot of data. For example:</a:t>
            </a:r>
          </a:p>
          <a:p>
            <a:pPr marL="0" indent="0">
              <a:buNone/>
            </a:pPr>
            <a:r>
              <a:rPr lang="en-US" sz="2000" dirty="0" smtClean="0"/>
              <a:t>In order to use out current </a:t>
            </a:r>
            <a:r>
              <a:rPr lang="en-US" sz="2000" dirty="0" err="1" smtClean="0"/>
              <a:t>shader</a:t>
            </a:r>
            <a:endParaRPr lang="en-US" sz="20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We would need to following layout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1645384"/>
            <a:ext cx="254317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VertexStride_VUN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nl-NL" sz="1000" dirty="0" smtClean="0">
                <a:solidFill>
                  <a:srgbClr val="0000FF"/>
                </a:solidFill>
                <a:latin typeface="Consolas"/>
              </a:rPr>
              <a:t>   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Normal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s-ES" sz="1000" dirty="0" smtClean="0">
                <a:solidFill>
                  <a:srgbClr val="0000FF"/>
                </a:solidFill>
                <a:latin typeface="Consolas"/>
              </a:rPr>
              <a:t>    </a:t>
            </a:r>
            <a:r>
              <a:rPr lang="es-ES" sz="1000" dirty="0" err="1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s-E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000" dirty="0">
                <a:solidFill>
                  <a:srgbClr val="000000"/>
                </a:solidFill>
                <a:latin typeface="Consolas"/>
              </a:rPr>
              <a:t>u;    </a:t>
            </a:r>
            <a:r>
              <a:rPr lang="es-ES" sz="1000" dirty="0">
                <a:solidFill>
                  <a:srgbClr val="008000"/>
                </a:solidFill>
                <a:latin typeface="Consolas"/>
              </a:rPr>
              <a:t>// UV tex </a:t>
            </a:r>
            <a:r>
              <a:rPr lang="es-ES" sz="1000" dirty="0" err="1" smtClean="0">
                <a:solidFill>
                  <a:srgbClr val="008000"/>
                </a:solidFill>
                <a:latin typeface="Consolas"/>
              </a:rPr>
              <a:t>coord</a:t>
            </a:r>
            <a:endParaRPr lang="es-E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362200"/>
            <a:ext cx="2438400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26677"/>
            <a:ext cx="7636819" cy="90024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2B91AF"/>
                </a:solidFill>
                <a:latin typeface="Consolas"/>
                <a:hlinkClick r:id="rId2"/>
              </a:rPr>
              <a:t>D3D11_INPUT_ELEMENT_DESC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layout[] =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050" dirty="0">
                <a:solidFill>
                  <a:srgbClr val="A31515"/>
                </a:solidFill>
                <a:latin typeface="Consolas"/>
              </a:rPr>
              <a:t>"POSITION"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 smtClean="0">
                <a:latin typeface="Consolas"/>
              </a:rPr>
              <a:t>0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 },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050" dirty="0">
                <a:solidFill>
                  <a:srgbClr val="A31515"/>
                </a:solidFill>
                <a:latin typeface="Consolas"/>
              </a:rPr>
              <a:t>"COLOR"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DXGI_FORMAT_R32G32B32A32_FLOAT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40, 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D3D11_INPUT_PER_VERTEX_DATA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0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00800" y="1972409"/>
            <a:ext cx="838200" cy="965927"/>
            <a:chOff x="6400800" y="2232025"/>
            <a:chExt cx="838200" cy="965927"/>
          </a:xfrm>
        </p:grpSpPr>
        <p:sp>
          <p:nvSpPr>
            <p:cNvPr id="9" name="Rounded Rectangle 8"/>
            <p:cNvSpPr/>
            <p:nvPr/>
          </p:nvSpPr>
          <p:spPr>
            <a:xfrm>
              <a:off x="6400800" y="2232025"/>
              <a:ext cx="762000" cy="1975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400800" y="3000375"/>
              <a:ext cx="838200" cy="1975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381500" y="2071198"/>
            <a:ext cx="2019301" cy="3082917"/>
            <a:chOff x="4381500" y="2071198"/>
            <a:chExt cx="2019301" cy="3082917"/>
          </a:xfrm>
        </p:grpSpPr>
        <p:sp>
          <p:nvSpPr>
            <p:cNvPr id="8" name="Rounded Rectangle 7"/>
            <p:cNvSpPr/>
            <p:nvPr/>
          </p:nvSpPr>
          <p:spPr>
            <a:xfrm>
              <a:off x="4572000" y="4778011"/>
              <a:ext cx="228600" cy="1975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Elbow Connector 38"/>
            <p:cNvCxnSpPr>
              <a:endCxn id="9" idx="1"/>
            </p:cNvCxnSpPr>
            <p:nvPr/>
          </p:nvCxnSpPr>
          <p:spPr>
            <a:xfrm rot="5400000" flipH="1" flipV="1">
              <a:off x="4190144" y="2567355"/>
              <a:ext cx="2706813" cy="1714500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4381500" y="4956538"/>
              <a:ext cx="228600" cy="19757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Elbow Connector 38"/>
            <p:cNvCxnSpPr>
              <a:stCxn id="13" idx="0"/>
              <a:endCxn id="14" idx="1"/>
            </p:cNvCxnSpPr>
            <p:nvPr/>
          </p:nvCxnSpPr>
          <p:spPr>
            <a:xfrm rot="5400000" flipH="1" flipV="1">
              <a:off x="4389805" y="2945543"/>
              <a:ext cx="2116990" cy="1905000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5943600" y="3274098"/>
            <a:ext cx="3039862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one vertex entry: </a:t>
            </a:r>
          </a:p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is found at byte 0 </a:t>
            </a:r>
          </a:p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at byte 40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524000" y="5440144"/>
            <a:ext cx="6785832" cy="960656"/>
            <a:chOff x="1237306" y="5440144"/>
            <a:chExt cx="6785832" cy="960656"/>
          </a:xfrm>
        </p:grpSpPr>
        <p:sp>
          <p:nvSpPr>
            <p:cNvPr id="16" name="Rectangle 15"/>
            <p:cNvSpPr/>
            <p:nvPr/>
          </p:nvSpPr>
          <p:spPr>
            <a:xfrm>
              <a:off x="1371600" y="6019800"/>
              <a:ext cx="1828800" cy="381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1200" dirty="0" smtClean="0">
                  <a:latin typeface="Lucida Console" panose="020B0609040504020204" pitchFamily="49" charset="0"/>
                </a:rPr>
                <a:t>4B | 4B | 4B | 4B</a:t>
              </a:r>
            </a:p>
            <a:p>
              <a:pPr algn="ctr"/>
              <a:r>
                <a:rPr lang="en-US" sz="1200" dirty="0" err="1">
                  <a:latin typeface="Lucida Console" panose="020B0609040504020204" pitchFamily="49" charset="0"/>
                </a:rPr>
                <a:t>Vect</a:t>
              </a:r>
              <a:r>
                <a:rPr lang="en-US" sz="1200" dirty="0">
                  <a:latin typeface="Lucida Console" panose="020B0609040504020204" pitchFamily="49" charset="0"/>
                </a:rPr>
                <a:t> </a:t>
              </a:r>
              <a:r>
                <a:rPr lang="en-US" sz="1200" dirty="0" err="1">
                  <a:latin typeface="Lucida Console" panose="020B0609040504020204" pitchFamily="49" charset="0"/>
                </a:rPr>
                <a:t>Pos</a:t>
              </a:r>
              <a:r>
                <a:rPr lang="en-US" sz="1200" dirty="0">
                  <a:latin typeface="Lucida Console" panose="020B0609040504020204" pitchFamily="49" charset="0"/>
                </a:rPr>
                <a:t> </a:t>
              </a:r>
              <a:r>
                <a:rPr lang="en-US" sz="1200" dirty="0" smtClean="0">
                  <a:latin typeface="Lucida Console" panose="020B0609040504020204" pitchFamily="49" charset="0"/>
                </a:rPr>
                <a:t> </a:t>
              </a:r>
              <a:endParaRPr lang="en-US" sz="1200" dirty="0">
                <a:latin typeface="Lucida Console" panose="020B0609040504020204" pitchFamily="49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00399" y="6019800"/>
              <a:ext cx="1870075" cy="381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1200" dirty="0" smtClean="0">
                  <a:latin typeface="Lucida Console" panose="020B0609040504020204" pitchFamily="49" charset="0"/>
                </a:rPr>
                <a:t>4B | 4B | 4B | 4B </a:t>
              </a:r>
              <a:r>
                <a:rPr lang="en-US" sz="1200" dirty="0" err="1">
                  <a:latin typeface="Lucida Console" panose="020B0609040504020204" pitchFamily="49" charset="0"/>
                </a:rPr>
                <a:t>Vect</a:t>
              </a:r>
              <a:r>
                <a:rPr lang="en-US" sz="1200" dirty="0">
                  <a:latin typeface="Lucida Console" panose="020B0609040504020204" pitchFamily="49" charset="0"/>
                </a:rPr>
                <a:t> </a:t>
              </a:r>
              <a:r>
                <a:rPr lang="en-US" sz="1200" dirty="0" smtClean="0">
                  <a:latin typeface="Lucida Console" panose="020B0609040504020204" pitchFamily="49" charset="0"/>
                </a:rPr>
                <a:t>Normal</a:t>
              </a:r>
              <a:endParaRPr lang="en-US" sz="1200" dirty="0">
                <a:latin typeface="Lucida Console" panose="020B0609040504020204" pitchFamily="49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064125" y="6019800"/>
              <a:ext cx="476250" cy="381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1200" dirty="0" smtClean="0">
                  <a:latin typeface="Lucida Console" panose="020B0609040504020204" pitchFamily="49" charset="0"/>
                </a:rPr>
                <a:t>4B</a:t>
              </a:r>
            </a:p>
            <a:p>
              <a:pPr algn="ctr"/>
              <a:r>
                <a:rPr lang="en-US" sz="1200" dirty="0">
                  <a:latin typeface="Lucida Console" panose="020B0609040504020204" pitchFamily="49" charset="0"/>
                </a:rPr>
                <a:t>u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518150" y="6019800"/>
              <a:ext cx="501650" cy="381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1200" dirty="0" smtClean="0">
                  <a:latin typeface="Lucida Console" panose="020B0609040504020204" pitchFamily="49" charset="0"/>
                </a:rPr>
                <a:t>4B</a:t>
              </a:r>
            </a:p>
            <a:p>
              <a:pPr algn="ctr"/>
              <a:r>
                <a:rPr lang="en-US" sz="1200" dirty="0">
                  <a:latin typeface="Lucida Console" panose="020B0609040504020204" pitchFamily="49" charset="0"/>
                </a:rPr>
                <a:t>v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78525" y="6019800"/>
              <a:ext cx="1828800" cy="381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1200" dirty="0" smtClean="0">
                  <a:latin typeface="Lucida Console" panose="020B0609040504020204" pitchFamily="49" charset="0"/>
                </a:rPr>
                <a:t>4B | 4B | 4B | 4B</a:t>
              </a:r>
            </a:p>
            <a:p>
              <a:pPr algn="ctr"/>
              <a:r>
                <a:rPr lang="en-US" sz="1200" dirty="0" err="1">
                  <a:latin typeface="Lucida Console" panose="020B0609040504020204" pitchFamily="49" charset="0"/>
                </a:rPr>
                <a:t>Vect</a:t>
              </a:r>
              <a:r>
                <a:rPr lang="en-US" sz="1200" dirty="0">
                  <a:latin typeface="Lucida Console" panose="020B0609040504020204" pitchFamily="49" charset="0"/>
                </a:rPr>
                <a:t> </a:t>
              </a:r>
              <a:r>
                <a:rPr lang="en-US" sz="1200" dirty="0" smtClean="0">
                  <a:latin typeface="Lucida Console" panose="020B0609040504020204" pitchFamily="49" charset="0"/>
                </a:rPr>
                <a:t>Color</a:t>
              </a:r>
              <a:endParaRPr lang="en-US" sz="1200" dirty="0">
                <a:latin typeface="Lucida Console" panose="020B0609040504020204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37306" y="5440144"/>
              <a:ext cx="67858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Lucida Console" panose="020B0609040504020204" pitchFamily="49" charset="0"/>
                </a:rPr>
                <a:t>                     1                   3    3    4</a:t>
              </a:r>
            </a:p>
            <a:p>
              <a:r>
                <a:rPr lang="en-US" sz="1200" dirty="0">
                  <a:latin typeface="Lucida Console" panose="020B0609040504020204" pitchFamily="49" charset="0"/>
                </a:rPr>
                <a:t> </a:t>
              </a:r>
              <a:r>
                <a:rPr lang="en-US" sz="1200" dirty="0" smtClean="0">
                  <a:latin typeface="Lucida Console" panose="020B0609040504020204" pitchFamily="49" charset="0"/>
                </a:rPr>
                <a:t>0                   6                   2    6    0  </a:t>
              </a:r>
            </a:p>
            <a:p>
              <a:r>
                <a:rPr lang="en-US" sz="1200" dirty="0" smtClean="0">
                  <a:latin typeface="Lucida Console" panose="020B0609040504020204" pitchFamily="49" charset="0"/>
                </a:rPr>
                <a:t>|----|----|----|----|----|----|----|----|----|----|----|----|----|----|</a:t>
              </a:r>
              <a:endParaRPr lang="en-US" sz="1200" dirty="0">
                <a:latin typeface="Lucida Console" panose="020B06090405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55877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</a:t>
            </a:r>
            <a:r>
              <a:rPr lang="en-US" dirty="0" err="1" smtClean="0"/>
              <a:t>SimpleColorPlus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have now modified our code so that the we can encode a color per vertex.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3379" y="1600199"/>
            <a:ext cx="344805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(0.0f, 0.5f, 0), Colors::Red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Colors::Blue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2, 1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648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94903" y="3210848"/>
            <a:ext cx="3124200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9734061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</a:t>
            </a:r>
            <a:r>
              <a:rPr lang="en-US" dirty="0" err="1"/>
              <a:t>SimpleColorPlus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Rasterizing Stage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have now modified our code so that the we can encode a color per vertex.</a:t>
            </a:r>
          </a:p>
          <a:p>
            <a:pPr marL="0" indent="0">
              <a:buNone/>
            </a:pPr>
            <a:r>
              <a:rPr lang="en-US" sz="2000" dirty="0" smtClean="0"/>
              <a:t>It’s worth revisiting the RS.  Let’s consider only the vertices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648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94903" y="3210848"/>
            <a:ext cx="3124200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 : 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VertexData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inVert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PixelData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inPix.Color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grpSp>
        <p:nvGrpSpPr>
          <p:cNvPr id="39" name="Group 38"/>
          <p:cNvGrpSpPr/>
          <p:nvPr/>
        </p:nvGrpSpPr>
        <p:grpSpPr>
          <a:xfrm>
            <a:off x="152400" y="4282352"/>
            <a:ext cx="2599490" cy="2266642"/>
            <a:chOff x="152400" y="4282352"/>
            <a:chExt cx="2599490" cy="2266642"/>
          </a:xfrm>
        </p:grpSpPr>
        <p:sp>
          <p:nvSpPr>
            <p:cNvPr id="9" name="TextBox 8"/>
            <p:cNvSpPr txBox="1"/>
            <p:nvPr/>
          </p:nvSpPr>
          <p:spPr>
            <a:xfrm>
              <a:off x="152400" y="4282352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800x600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25619" y="4980801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(400,150)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598" y="6271995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(200,450)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72509" y="6263583"/>
              <a:ext cx="7793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bg1"/>
                  </a:solidFill>
                </a:rPr>
                <a:t>(600,450)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4800" y="2014895"/>
            <a:ext cx="8621401" cy="400110"/>
            <a:chOff x="304800" y="2014895"/>
            <a:chExt cx="8621401" cy="400110"/>
          </a:xfrm>
        </p:grpSpPr>
        <p:sp>
          <p:nvSpPr>
            <p:cNvPr id="13" name="TextBox 12"/>
            <p:cNvSpPr txBox="1"/>
            <p:nvPr/>
          </p:nvSpPr>
          <p:spPr>
            <a:xfrm>
              <a:off x="304800" y="2014895"/>
              <a:ext cx="126900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(0.0f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Color::Red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16032" y="2102914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30"/>
            <p:cNvCxnSpPr>
              <a:stCxn id="13" idx="3"/>
              <a:endCxn id="14" idx="1"/>
            </p:cNvCxnSpPr>
            <p:nvPr/>
          </p:nvCxnSpPr>
          <p:spPr>
            <a:xfrm>
              <a:off x="1573802" y="2214950"/>
              <a:ext cx="242230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30"/>
            <p:cNvCxnSpPr>
              <a:stCxn id="14" idx="3"/>
              <a:endCxn id="17" idx="1"/>
            </p:cNvCxnSpPr>
            <p:nvPr/>
          </p:nvCxnSpPr>
          <p:spPr>
            <a:xfrm flipV="1">
              <a:off x="2211605" y="2214950"/>
              <a:ext cx="276597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488202" y="2014895"/>
              <a:ext cx="126900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(0.0f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0.5f,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Color::Red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48400" y="2102914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30"/>
            <p:cNvCxnSpPr>
              <a:stCxn id="17" idx="3"/>
              <a:endCxn id="22" idx="1"/>
            </p:cNvCxnSpPr>
            <p:nvPr/>
          </p:nvCxnSpPr>
          <p:spPr>
            <a:xfrm>
              <a:off x="3757204" y="2214950"/>
              <a:ext cx="254998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30"/>
            <p:cNvCxnSpPr>
              <a:stCxn id="18" idx="3"/>
              <a:endCxn id="21" idx="1"/>
            </p:cNvCxnSpPr>
            <p:nvPr/>
          </p:nvCxnSpPr>
          <p:spPr>
            <a:xfrm>
              <a:off x="6643973" y="2214951"/>
              <a:ext cx="22860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872573" y="2091840"/>
              <a:ext cx="2053628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1.0f,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0.0f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0.0f, 1.0f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012202" y="2024450"/>
              <a:ext cx="488851" cy="3810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30"/>
            <p:cNvCxnSpPr>
              <a:stCxn id="22" idx="3"/>
              <a:endCxn id="24" idx="1"/>
            </p:cNvCxnSpPr>
            <p:nvPr/>
          </p:nvCxnSpPr>
          <p:spPr>
            <a:xfrm>
              <a:off x="4501053" y="2214950"/>
              <a:ext cx="29954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800600" y="2014895"/>
              <a:ext cx="1143000" cy="400110"/>
            </a:xfrm>
            <a:prstGeom prst="rect">
              <a:avLst/>
            </a:prstGeom>
            <a:solidFill>
              <a:srgbClr val="FF00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(400, 150,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Color::Red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cxnSp>
          <p:nvCxnSpPr>
            <p:cNvPr id="25" name="Straight Arrow Connector 30"/>
            <p:cNvCxnSpPr>
              <a:stCxn id="24" idx="3"/>
              <a:endCxn id="18" idx="1"/>
            </p:cNvCxnSpPr>
            <p:nvPr/>
          </p:nvCxnSpPr>
          <p:spPr>
            <a:xfrm>
              <a:off x="5943600" y="2214950"/>
              <a:ext cx="304800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304800" y="2571690"/>
            <a:ext cx="8621401" cy="400110"/>
            <a:chOff x="304800" y="2571690"/>
            <a:chExt cx="8621401" cy="400110"/>
          </a:xfrm>
        </p:grpSpPr>
        <p:sp>
          <p:nvSpPr>
            <p:cNvPr id="26" name="TextBox 25"/>
            <p:cNvSpPr txBox="1"/>
            <p:nvPr/>
          </p:nvSpPr>
          <p:spPr>
            <a:xfrm>
              <a:off x="304800" y="2571690"/>
              <a:ext cx="126900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(0.5f,-0.5f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Color::Lime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16032" y="2659709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Straight Arrow Connector 30"/>
            <p:cNvCxnSpPr>
              <a:stCxn id="26" idx="3"/>
              <a:endCxn id="27" idx="1"/>
            </p:cNvCxnSpPr>
            <p:nvPr/>
          </p:nvCxnSpPr>
          <p:spPr>
            <a:xfrm>
              <a:off x="1573802" y="2771745"/>
              <a:ext cx="242230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30"/>
            <p:cNvCxnSpPr>
              <a:stCxn id="27" idx="3"/>
              <a:endCxn id="30" idx="1"/>
            </p:cNvCxnSpPr>
            <p:nvPr/>
          </p:nvCxnSpPr>
          <p:spPr>
            <a:xfrm flipV="1">
              <a:off x="2211605" y="2771745"/>
              <a:ext cx="276597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488202" y="2571690"/>
              <a:ext cx="126900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(0.5f,-0.5f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Color::Lime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8400" y="2659709"/>
              <a:ext cx="395573" cy="22407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Straight Arrow Connector 30"/>
            <p:cNvCxnSpPr>
              <a:stCxn id="30" idx="3"/>
              <a:endCxn id="35" idx="1"/>
            </p:cNvCxnSpPr>
            <p:nvPr/>
          </p:nvCxnSpPr>
          <p:spPr>
            <a:xfrm>
              <a:off x="3757204" y="2771745"/>
              <a:ext cx="254998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0"/>
            <p:cNvCxnSpPr>
              <a:stCxn id="31" idx="3"/>
              <a:endCxn id="34" idx="1"/>
            </p:cNvCxnSpPr>
            <p:nvPr/>
          </p:nvCxnSpPr>
          <p:spPr>
            <a:xfrm>
              <a:off x="6643973" y="2771746"/>
              <a:ext cx="22860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872573" y="2648635"/>
              <a:ext cx="2053628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( 0.0f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1.0f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, 0.0f, 1.0f 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12202" y="2581245"/>
              <a:ext cx="488851" cy="3810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Arrow Connector 30"/>
            <p:cNvCxnSpPr>
              <a:stCxn id="35" idx="3"/>
              <a:endCxn id="37" idx="1"/>
            </p:cNvCxnSpPr>
            <p:nvPr/>
          </p:nvCxnSpPr>
          <p:spPr>
            <a:xfrm>
              <a:off x="4501053" y="2771745"/>
              <a:ext cx="29954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800600" y="2571690"/>
              <a:ext cx="1143000" cy="400110"/>
            </a:xfrm>
            <a:prstGeom prst="rect">
              <a:avLst/>
            </a:prstGeom>
            <a:solidFill>
              <a:srgbClr val="FF00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(600, 450, </a:t>
              </a:r>
              <a:r>
                <a:rPr lang="en-US" sz="1000" dirty="0">
                  <a:solidFill>
                    <a:srgbClr val="000000"/>
                  </a:solidFill>
                  <a:latin typeface="Consolas"/>
                </a:rPr>
                <a:t>0</a:t>
              </a:r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)</a:t>
              </a:r>
            </a:p>
            <a:p>
              <a:r>
                <a:rPr lang="en-US" sz="1000" dirty="0" smtClean="0">
                  <a:solidFill>
                    <a:srgbClr val="000000"/>
                  </a:solidFill>
                  <a:latin typeface="Consolas"/>
                </a:rPr>
                <a:t>Color::Lime</a:t>
              </a:r>
              <a:endParaRPr lang="en-US" sz="1000" dirty="0">
                <a:solidFill>
                  <a:srgbClr val="000000"/>
                </a:solidFill>
                <a:latin typeface="Consolas"/>
              </a:endParaRPr>
            </a:p>
          </p:txBody>
        </p:sp>
        <p:cxnSp>
          <p:nvCxnSpPr>
            <p:cNvPr id="38" name="Straight Arrow Connector 30"/>
            <p:cNvCxnSpPr>
              <a:stCxn id="37" idx="3"/>
              <a:endCxn id="31" idx="1"/>
            </p:cNvCxnSpPr>
            <p:nvPr/>
          </p:nvCxnSpPr>
          <p:spPr>
            <a:xfrm>
              <a:off x="5943600" y="2771745"/>
              <a:ext cx="304800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1569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</a:t>
            </a:r>
            <a:r>
              <a:rPr lang="en-US" dirty="0" err="1" smtClean="0"/>
              <a:t>SimpleColorPlus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Rasterizing Stage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have now modified our code so that the we can encode a color per vertex.</a:t>
            </a:r>
          </a:p>
          <a:p>
            <a:pPr marL="0" indent="0">
              <a:buNone/>
            </a:pPr>
            <a:r>
              <a:rPr lang="en-US" sz="2000" dirty="0" smtClean="0"/>
              <a:t>It worth revisiting the RS.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We know the color and position of three pixels… What about the rest of the Tri?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This is where </a:t>
            </a:r>
            <a:r>
              <a:rPr lang="en-US" sz="2000" u="sng" dirty="0" smtClean="0"/>
              <a:t>Vertex Attribute Interpolation</a:t>
            </a:r>
            <a:r>
              <a:rPr lang="en-US" sz="2000" dirty="0" smtClean="0"/>
              <a:t> comes in.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648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" y="428235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800x600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25619" y="4980801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(400,150)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98" y="6271995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(200,450)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72509" y="6263583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(600,450)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800" y="2014895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Color::Red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16032" y="2102914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30"/>
          <p:cNvCxnSpPr>
            <a:stCxn id="13" idx="3"/>
            <a:endCxn id="14" idx="1"/>
          </p:cNvCxnSpPr>
          <p:nvPr/>
        </p:nvCxnSpPr>
        <p:spPr>
          <a:xfrm>
            <a:off x="1573802" y="2214950"/>
            <a:ext cx="24223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30"/>
          <p:cNvCxnSpPr>
            <a:stCxn id="14" idx="3"/>
            <a:endCxn id="17" idx="1"/>
          </p:cNvCxnSpPr>
          <p:nvPr/>
        </p:nvCxnSpPr>
        <p:spPr>
          <a:xfrm flipV="1">
            <a:off x="2211605" y="2214950"/>
            <a:ext cx="276597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88202" y="2014895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0.5f,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Color::Red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48400" y="2102914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30"/>
          <p:cNvCxnSpPr>
            <a:stCxn id="17" idx="3"/>
            <a:endCxn id="22" idx="1"/>
          </p:cNvCxnSpPr>
          <p:nvPr/>
        </p:nvCxnSpPr>
        <p:spPr>
          <a:xfrm>
            <a:off x="3757204" y="2214950"/>
            <a:ext cx="25499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30"/>
          <p:cNvCxnSpPr>
            <a:stCxn id="18" idx="3"/>
            <a:endCxn id="21" idx="1"/>
          </p:cNvCxnSpPr>
          <p:nvPr/>
        </p:nvCxnSpPr>
        <p:spPr>
          <a:xfrm>
            <a:off x="6643973" y="2214951"/>
            <a:ext cx="228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72573" y="2091840"/>
            <a:ext cx="2053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1.0f,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012202" y="2024450"/>
            <a:ext cx="488851" cy="3810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30"/>
          <p:cNvCxnSpPr>
            <a:stCxn id="22" idx="3"/>
            <a:endCxn id="24" idx="1"/>
          </p:cNvCxnSpPr>
          <p:nvPr/>
        </p:nvCxnSpPr>
        <p:spPr>
          <a:xfrm>
            <a:off x="4501053" y="2214950"/>
            <a:ext cx="29954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00600" y="2014895"/>
            <a:ext cx="1143000" cy="400110"/>
          </a:xfrm>
          <a:prstGeom prst="rect">
            <a:avLst/>
          </a:prstGeom>
          <a:solidFill>
            <a:srgbClr val="FF00FF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(400, 150,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Color::Red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cxnSp>
        <p:nvCxnSpPr>
          <p:cNvPr id="25" name="Straight Arrow Connector 30"/>
          <p:cNvCxnSpPr>
            <a:stCxn id="24" idx="3"/>
            <a:endCxn id="18" idx="1"/>
          </p:cNvCxnSpPr>
          <p:nvPr/>
        </p:nvCxnSpPr>
        <p:spPr>
          <a:xfrm>
            <a:off x="5943600" y="2214950"/>
            <a:ext cx="30480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4800" y="2571690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(0.5f,-0.5f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Color::Lime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16032" y="2659709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30"/>
          <p:cNvCxnSpPr>
            <a:stCxn id="26" idx="3"/>
            <a:endCxn id="27" idx="1"/>
          </p:cNvCxnSpPr>
          <p:nvPr/>
        </p:nvCxnSpPr>
        <p:spPr>
          <a:xfrm>
            <a:off x="1573802" y="2771745"/>
            <a:ext cx="24223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30"/>
          <p:cNvCxnSpPr>
            <a:stCxn id="27" idx="3"/>
            <a:endCxn id="30" idx="1"/>
          </p:cNvCxnSpPr>
          <p:nvPr/>
        </p:nvCxnSpPr>
        <p:spPr>
          <a:xfrm flipV="1">
            <a:off x="2211605" y="2771745"/>
            <a:ext cx="276597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88202" y="2571690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(0.5f,-0.5f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Color::Lime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48400" y="2659709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0"/>
          <p:cNvCxnSpPr>
            <a:stCxn id="30" idx="3"/>
            <a:endCxn id="35" idx="1"/>
          </p:cNvCxnSpPr>
          <p:nvPr/>
        </p:nvCxnSpPr>
        <p:spPr>
          <a:xfrm>
            <a:off x="3757204" y="2771745"/>
            <a:ext cx="25499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0"/>
          <p:cNvCxnSpPr>
            <a:stCxn id="31" idx="3"/>
            <a:endCxn id="34" idx="1"/>
          </p:cNvCxnSpPr>
          <p:nvPr/>
        </p:nvCxnSpPr>
        <p:spPr>
          <a:xfrm>
            <a:off x="6643973" y="2771746"/>
            <a:ext cx="228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72573" y="2648635"/>
            <a:ext cx="2053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1.0f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0.0f,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012202" y="2581245"/>
            <a:ext cx="488851" cy="3810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0"/>
          <p:cNvCxnSpPr>
            <a:stCxn id="35" idx="3"/>
            <a:endCxn id="37" idx="1"/>
          </p:cNvCxnSpPr>
          <p:nvPr/>
        </p:nvCxnSpPr>
        <p:spPr>
          <a:xfrm>
            <a:off x="4501053" y="2771745"/>
            <a:ext cx="29954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00600" y="2571690"/>
            <a:ext cx="1143000" cy="400110"/>
          </a:xfrm>
          <a:prstGeom prst="rect">
            <a:avLst/>
          </a:prstGeom>
          <a:solidFill>
            <a:srgbClr val="FF00FF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(600, 450,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Color::Lime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cxnSp>
        <p:nvCxnSpPr>
          <p:cNvPr id="38" name="Straight Arrow Connector 30"/>
          <p:cNvCxnSpPr>
            <a:stCxn id="37" idx="3"/>
            <a:endCxn id="31" idx="1"/>
          </p:cNvCxnSpPr>
          <p:nvPr/>
        </p:nvCxnSpPr>
        <p:spPr>
          <a:xfrm>
            <a:off x="5943600" y="2771745"/>
            <a:ext cx="30480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18380" y="3200400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(-0.5f,-0.5f,0)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Color::Blue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29612" y="3288419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30"/>
          <p:cNvCxnSpPr>
            <a:stCxn id="40" idx="3"/>
            <a:endCxn id="41" idx="1"/>
          </p:cNvCxnSpPr>
          <p:nvPr/>
        </p:nvCxnSpPr>
        <p:spPr>
          <a:xfrm>
            <a:off x="1587382" y="3400455"/>
            <a:ext cx="24223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30"/>
          <p:cNvCxnSpPr>
            <a:stCxn id="41" idx="3"/>
            <a:endCxn id="44" idx="1"/>
          </p:cNvCxnSpPr>
          <p:nvPr/>
        </p:nvCxnSpPr>
        <p:spPr>
          <a:xfrm flipV="1">
            <a:off x="2225185" y="3400455"/>
            <a:ext cx="276597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501782" y="3200400"/>
            <a:ext cx="12690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(-0.5f,-0.5f,0)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Color::Blue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61980" y="3288419"/>
            <a:ext cx="395573" cy="2240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30"/>
          <p:cNvCxnSpPr>
            <a:stCxn id="44" idx="3"/>
            <a:endCxn id="49" idx="1"/>
          </p:cNvCxnSpPr>
          <p:nvPr/>
        </p:nvCxnSpPr>
        <p:spPr>
          <a:xfrm>
            <a:off x="3770784" y="3400455"/>
            <a:ext cx="254998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30"/>
          <p:cNvCxnSpPr>
            <a:stCxn id="45" idx="3"/>
            <a:endCxn id="48" idx="1"/>
          </p:cNvCxnSpPr>
          <p:nvPr/>
        </p:nvCxnSpPr>
        <p:spPr>
          <a:xfrm>
            <a:off x="6657553" y="3400456"/>
            <a:ext cx="22860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86153" y="3277345"/>
            <a:ext cx="2053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0.0f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1.0f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1.0f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025782" y="3209955"/>
            <a:ext cx="488851" cy="3810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Arrow Connector 30"/>
          <p:cNvCxnSpPr>
            <a:stCxn id="49" idx="3"/>
            <a:endCxn id="51" idx="1"/>
          </p:cNvCxnSpPr>
          <p:nvPr/>
        </p:nvCxnSpPr>
        <p:spPr>
          <a:xfrm>
            <a:off x="4514633" y="3400455"/>
            <a:ext cx="29954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814180" y="3200400"/>
            <a:ext cx="1143000" cy="400110"/>
          </a:xfrm>
          <a:prstGeom prst="rect">
            <a:avLst/>
          </a:prstGeom>
          <a:solidFill>
            <a:srgbClr val="FF00FF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(200, 450,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0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Color::Blue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cxnSp>
        <p:nvCxnSpPr>
          <p:cNvPr id="52" name="Straight Arrow Connector 30"/>
          <p:cNvCxnSpPr>
            <a:stCxn id="51" idx="3"/>
            <a:endCxn id="45" idx="1"/>
          </p:cNvCxnSpPr>
          <p:nvPr/>
        </p:nvCxnSpPr>
        <p:spPr>
          <a:xfrm>
            <a:off x="5957180" y="3400455"/>
            <a:ext cx="304800" cy="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31206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Attribute Interpolation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Once you know a value at each three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/>
                          </a:rPr>
                          <m:t>𝐯</m:t>
                        </m:r>
                      </m:e>
                      <m:sub>
                        <m:r>
                          <a:rPr lang="en-US" sz="2000" b="0" i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/>
                          </a:rPr>
                          <m:t>𝐯</m:t>
                        </m:r>
                      </m:e>
                      <m:sub>
                        <m:r>
                          <a:rPr lang="en-US" sz="2000" b="0" i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/>
                          </a:rPr>
                          <m:t>𝐯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 smtClean="0"/>
                  <a:t>, you can interpolate anywhere inside the triangle using the formula: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 smtClean="0"/>
              </a:p>
              <a:p>
                <a:pPr marL="0" indent="0">
                  <a:buNone/>
                </a:pPr>
                <a:endParaRPr lang="en-US" sz="800" b="1" dirty="0"/>
              </a:p>
              <a:p>
                <a:pPr marL="0" indent="0">
                  <a:buNone/>
                </a:pPr>
                <a:r>
                  <a:rPr lang="en-US" sz="2000" b="1" dirty="0" smtClean="0"/>
                  <a:t>Example:</a:t>
                </a:r>
                <a:r>
                  <a:rPr lang="en-US" sz="2000" dirty="0" smtClean="0"/>
                  <a:t> From the three pixels, we can interpolate the color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7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57400"/>
            <a:ext cx="35052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648200"/>
            <a:ext cx="2748577" cy="213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52400" y="428235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800x600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25619" y="4980801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(400,150)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598" y="6271995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(200,450)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72509" y="6263583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(600,450)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39638" y="5431114"/>
            <a:ext cx="1997824" cy="293044"/>
            <a:chOff x="539638" y="5431114"/>
            <a:chExt cx="1997824" cy="293044"/>
          </a:xfrm>
        </p:grpSpPr>
        <p:grpSp>
          <p:nvGrpSpPr>
            <p:cNvPr id="23" name="Group 22"/>
            <p:cNvGrpSpPr/>
            <p:nvPr/>
          </p:nvGrpSpPr>
          <p:grpSpPr>
            <a:xfrm>
              <a:off x="539638" y="5431114"/>
              <a:ext cx="679562" cy="293044"/>
              <a:chOff x="539638" y="5431114"/>
              <a:chExt cx="679562" cy="293044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539638" y="5431114"/>
                <a:ext cx="622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p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(0, .5)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 flipV="1">
                <a:off x="1200153" y="5692068"/>
                <a:ext cx="19047" cy="32090"/>
              </a:xfrm>
              <a:prstGeom prst="line">
                <a:avLst/>
              </a:prstGeom>
              <a:ln w="12700">
                <a:solidFill>
                  <a:schemeClr val="bg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1837590" y="5442969"/>
              <a:ext cx="699872" cy="277542"/>
              <a:chOff x="812009" y="5437091"/>
              <a:chExt cx="699872" cy="277542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812009" y="5437091"/>
                <a:ext cx="6998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p</a:t>
                </a:r>
                <a:r>
                  <a:rPr lang="en-US" sz="1200" dirty="0" smtClean="0">
                    <a:solidFill>
                      <a:schemeClr val="bg1"/>
                    </a:solidFill>
                  </a:rPr>
                  <a:t>(0.5, 0)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 flipV="1">
                <a:off x="816772" y="5682543"/>
                <a:ext cx="19047" cy="32090"/>
              </a:xfrm>
              <a:prstGeom prst="line">
                <a:avLst/>
              </a:prstGeom>
              <a:ln w="12700">
                <a:solidFill>
                  <a:schemeClr val="bg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035862" y="4408325"/>
                <a:ext cx="4938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0.5, 0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1,0,0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+ .5 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−1, 1,0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+0∗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−1, 0,1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a:rPr lang="en-US" sz="1600" b="0" i="1" smtClean="0">
                          <a:latin typeface="Cambria Math"/>
                        </a:rPr>
                        <m:t>(.5, .5, 0)</m:t>
                      </m:r>
                    </m:oMath>
                  </m:oMathPara>
                </a14:m>
                <a:endParaRPr lang="en-US" sz="1600" b="0" dirty="0" smtClean="0"/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0, 0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.5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1,0,0</m:t>
                          </m:r>
                        </m:e>
                      </m:d>
                      <m:r>
                        <a:rPr lang="en-US" sz="1600" i="1">
                          <a:latin typeface="Cambria Math"/>
                        </a:rPr>
                        <m:t>+</m:t>
                      </m:r>
                      <m:r>
                        <a:rPr lang="en-US" sz="1600" b="0" i="1" smtClean="0">
                          <a:latin typeface="Cambria Math"/>
                        </a:rPr>
                        <m:t>0</m:t>
                      </m:r>
                      <m:r>
                        <a:rPr lang="en-US" sz="1600" i="1">
                          <a:latin typeface="Cambria Math"/>
                        </a:rPr>
                        <m:t> ∗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−1, 1,0</m:t>
                          </m:r>
                        </m:e>
                      </m:d>
                      <m:r>
                        <a:rPr lang="en-US" sz="1600" i="1">
                          <a:latin typeface="Cambria Math"/>
                        </a:rPr>
                        <m:t>+0</m:t>
                      </m:r>
                      <m:r>
                        <a:rPr lang="en-US" sz="1600" b="0" i="1" smtClean="0">
                          <a:latin typeface="Cambria Math"/>
                        </a:rPr>
                        <m:t>.5</m:t>
                      </m:r>
                      <m:r>
                        <a:rPr lang="en-US" sz="1600" i="1">
                          <a:latin typeface="Cambria Math"/>
                        </a:rPr>
                        <m:t>∗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−1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</a:rPr>
                            <m:t>0,1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(.5, </m:t>
                      </m:r>
                      <m:r>
                        <a:rPr lang="en-US" sz="1600" b="0" i="1" smtClean="0">
                          <a:latin typeface="Cambria Math"/>
                        </a:rPr>
                        <m:t>0</m:t>
                      </m:r>
                      <m:r>
                        <a:rPr lang="en-US" sz="1600" i="1">
                          <a:latin typeface="Cambria Math"/>
                        </a:rPr>
                        <m:t>, 0</m:t>
                      </m:r>
                      <m:r>
                        <a:rPr lang="en-US" sz="1600" b="0" i="1" smtClean="0">
                          <a:latin typeface="Cambria Math"/>
                        </a:rPr>
                        <m:t>.5</m:t>
                      </m:r>
                      <m:r>
                        <a:rPr lang="en-US" sz="16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862" y="4408325"/>
                <a:ext cx="4938468" cy="1200329"/>
              </a:xfrm>
              <a:prstGeom prst="rect">
                <a:avLst/>
              </a:prstGeom>
              <a:blipFill rotWithShape="1">
                <a:blip r:embed="rId10"/>
                <a:stretch>
                  <a:fillRect b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3295649" y="5707746"/>
            <a:ext cx="5619751" cy="1055608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RS will </a:t>
            </a:r>
            <a:r>
              <a:rPr lang="en-US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interpolate all vertex attributes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 for </a:t>
            </a:r>
            <a:r>
              <a:rPr lang="en-US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see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5.10.3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subtleties computing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and t values per pixel.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3763" y="3236503"/>
            <a:ext cx="6035593" cy="338554"/>
            <a:chOff x="613763" y="3236503"/>
            <a:chExt cx="6035593" cy="338554"/>
          </a:xfrm>
        </p:grpSpPr>
        <p:sp>
          <p:nvSpPr>
            <p:cNvPr id="8" name="TextBox 7"/>
            <p:cNvSpPr txBox="1"/>
            <p:nvPr/>
          </p:nvSpPr>
          <p:spPr>
            <a:xfrm>
              <a:off x="613763" y="3267281"/>
              <a:ext cx="2138127" cy="276999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(400, 150, 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0</a:t>
              </a:r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) (1, 0, 0)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164941" y="3236503"/>
                  <a:ext cx="348441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/>
                            </a:rPr>
                            <m:t>𝐯</m:t>
                          </m:r>
                        </m:e>
                        <m:sub>
                          <m:r>
                            <a:rPr lang="en-US" sz="16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400,150</m:t>
                          </m:r>
                        </m:e>
                      </m:d>
                    </m:oMath>
                  </a14:m>
                  <a:r>
                    <a:rPr lang="en-US" sz="1600" dirty="0" smtClean="0"/>
                    <a:t>	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0, 0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1,0,0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941" y="3236503"/>
                  <a:ext cx="3484415" cy="338554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609236" y="3552296"/>
            <a:ext cx="6040120" cy="338554"/>
            <a:chOff x="609236" y="3552296"/>
            <a:chExt cx="6040120" cy="338554"/>
          </a:xfrm>
        </p:grpSpPr>
        <p:sp>
          <p:nvSpPr>
            <p:cNvPr id="9" name="TextBox 8"/>
            <p:cNvSpPr txBox="1"/>
            <p:nvPr/>
          </p:nvSpPr>
          <p:spPr>
            <a:xfrm>
              <a:off x="609236" y="3583074"/>
              <a:ext cx="2138127" cy="276999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(600, 450, 0) (0, 1, 0)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3164941" y="3552296"/>
                  <a:ext cx="348441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/>
                            </a:rPr>
                            <m:t>𝐯</m:t>
                          </m:r>
                        </m:e>
                        <m:sub>
                          <m:r>
                            <a:rPr lang="en-US" sz="1600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600,450</m:t>
                          </m:r>
                        </m:e>
                      </m:d>
                    </m:oMath>
                  </a14:m>
                  <a:r>
                    <a:rPr lang="en-US" sz="1600" dirty="0" smtClean="0"/>
                    <a:t>	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1600" i="1">
                              <a:latin typeface="Cambria Math"/>
                            </a:rPr>
                            <m:t>, 0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1600" i="1">
                              <a:latin typeface="Cambria Math"/>
                            </a:rPr>
                            <m:t>,0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941" y="3552296"/>
                  <a:ext cx="3484415" cy="338554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613998" y="3871004"/>
            <a:ext cx="6035357" cy="338554"/>
            <a:chOff x="613998" y="3871004"/>
            <a:chExt cx="6035357" cy="338554"/>
          </a:xfrm>
        </p:grpSpPr>
        <p:sp>
          <p:nvSpPr>
            <p:cNvPr id="10" name="TextBox 9"/>
            <p:cNvSpPr txBox="1"/>
            <p:nvPr/>
          </p:nvSpPr>
          <p:spPr>
            <a:xfrm>
              <a:off x="613998" y="3901782"/>
              <a:ext cx="2138127" cy="276999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(200, 450, </a:t>
              </a:r>
              <a:r>
                <a:rPr lang="en-US" sz="1200" dirty="0">
                  <a:solidFill>
                    <a:srgbClr val="000000"/>
                  </a:solidFill>
                  <a:latin typeface="Consolas"/>
                </a:rPr>
                <a:t>0</a:t>
              </a:r>
              <a:r>
                <a:rPr lang="en-US" sz="1200" dirty="0" smtClean="0">
                  <a:solidFill>
                    <a:srgbClr val="000000"/>
                  </a:solidFill>
                  <a:latin typeface="Consolas"/>
                </a:rPr>
                <a:t>) (0, 0, 1)</a:t>
              </a:r>
              <a:endParaRPr lang="en-US" sz="1200" dirty="0">
                <a:solidFill>
                  <a:srgbClr val="000000"/>
                </a:solidFill>
                <a:latin typeface="Consola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3164940" y="3871004"/>
                  <a:ext cx="348441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/>
                            </a:rPr>
                            <m:t>𝐯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200,450</m:t>
                          </m:r>
                        </m:e>
                      </m:d>
                    </m:oMath>
                  </a14:m>
                  <a:r>
                    <a:rPr lang="en-US" sz="1600" dirty="0" smtClean="0"/>
                    <a:t>	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sz="1600" i="1">
                              <a:latin typeface="Cambria Math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aln/>
                        </m:rPr>
                        <a:rPr lang="en-US" sz="16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940" y="3871004"/>
                  <a:ext cx="3484415" cy="338554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/>
          <p:cNvGrpSpPr/>
          <p:nvPr/>
        </p:nvGrpSpPr>
        <p:grpSpPr>
          <a:xfrm>
            <a:off x="6668406" y="1524000"/>
            <a:ext cx="2418503" cy="2415776"/>
            <a:chOff x="6668406" y="1701450"/>
            <a:chExt cx="2418503" cy="2415776"/>
          </a:xfrm>
        </p:grpSpPr>
        <p:sp>
          <p:nvSpPr>
            <p:cNvPr id="19" name="Isosceles Triangle 18"/>
            <p:cNvSpPr/>
            <p:nvPr/>
          </p:nvSpPr>
          <p:spPr>
            <a:xfrm>
              <a:off x="6781800" y="1852253"/>
              <a:ext cx="2286000" cy="1957748"/>
            </a:xfrm>
            <a:prstGeom prst="triangl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7543800" y="1701450"/>
                  <a:ext cx="40613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1701450"/>
                  <a:ext cx="406137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8597928" y="3809449"/>
                  <a:ext cx="40197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 b="0" i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928" y="3809449"/>
                  <a:ext cx="401970" cy="307777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6668406" y="3809449"/>
                  <a:ext cx="40613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406" y="3809449"/>
                  <a:ext cx="406137" cy="307777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/>
            <p:cNvCxnSpPr>
              <a:stCxn id="19" idx="0"/>
            </p:cNvCxnSpPr>
            <p:nvPr/>
          </p:nvCxnSpPr>
          <p:spPr>
            <a:xfrm>
              <a:off x="7924800" y="1852253"/>
              <a:ext cx="471488" cy="8123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8064257" y="1990752"/>
                  <a:ext cx="102265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1400" b="1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400" b="1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4257" y="1990752"/>
                  <a:ext cx="1022652" cy="30777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/>
            <p:cNvCxnSpPr/>
            <p:nvPr/>
          </p:nvCxnSpPr>
          <p:spPr>
            <a:xfrm flipH="1">
              <a:off x="7975600" y="2664619"/>
              <a:ext cx="420689" cy="7199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7306147" y="2743200"/>
                  <a:ext cx="101470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/>
                          </a:rPr>
                          <m:t>𝑡</m:t>
                        </m:r>
                        <m:r>
                          <a:rPr lang="en-US" sz="1400" b="1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latin typeface="Cambria Math"/>
                              </a:rPr>
                              <m:t>𝐯</m:t>
                            </m:r>
                          </m:e>
                          <m:sub>
                            <m:r>
                              <a:rPr lang="en-US" sz="14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400" b="1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6147" y="2743200"/>
                  <a:ext cx="1014701" cy="307777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7264115" y="3225450"/>
                  <a:ext cx="72115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0" smtClean="0">
                            <a:latin typeface="Cambria Math"/>
                          </a:rPr>
                          <m:t>𝐩</m:t>
                        </m:r>
                        <m:r>
                          <a:rPr lang="en-US" sz="1400" b="0" i="1" smtClean="0">
                            <a:latin typeface="Cambria Math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115" y="3225450"/>
                  <a:ext cx="721159" cy="307777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/>
            <p:cNvCxnSpPr/>
            <p:nvPr/>
          </p:nvCxnSpPr>
          <p:spPr>
            <a:xfrm flipH="1">
              <a:off x="7962105" y="3391900"/>
              <a:ext cx="24604" cy="209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6777038" y="3784136"/>
              <a:ext cx="38893" cy="2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>
              <a:off x="9028907" y="3768897"/>
              <a:ext cx="38893" cy="2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7924800" y="1839950"/>
              <a:ext cx="38893" cy="2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342305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4" grpId="0" build="p"/>
      <p:bldP spid="3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Control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It should be easy to render our previous square example in color: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But what if we want one each triangle to be a solid color?</a:t>
            </a:r>
          </a:p>
          <a:p>
            <a:pPr marL="457200" lvl="1" indent="0">
              <a:buNone/>
            </a:pPr>
            <a:r>
              <a:rPr lang="en-US" sz="1800" i="1" dirty="0" smtClean="0"/>
              <a:t>What is the color for the vertices in NE and SW corners?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46987"/>
            <a:ext cx="229104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3400" y="1646987"/>
            <a:ext cx="4343400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0.5f, 0), Colors::Red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Colors::Blue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Colors::Magenta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b="1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1, 2,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2, 3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5105400" y="1721642"/>
            <a:ext cx="2133600" cy="1602582"/>
            <a:chOff x="5257800" y="1721642"/>
            <a:chExt cx="2133600" cy="1602582"/>
          </a:xfrm>
        </p:grpSpPr>
        <p:sp>
          <p:nvSpPr>
            <p:cNvPr id="5" name="Isosceles Triangle 4"/>
            <p:cNvSpPr/>
            <p:nvPr/>
          </p:nvSpPr>
          <p:spPr>
            <a:xfrm>
              <a:off x="5257800" y="1721642"/>
              <a:ext cx="2133600" cy="1602582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5257800" y="1721642"/>
              <a:ext cx="2133600" cy="1602582"/>
            </a:xfrm>
            <a:prstGeom prst="line">
              <a:avLst/>
            </a:prstGeom>
            <a:ln w="254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114800"/>
            <a:ext cx="22910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533400" y="4214813"/>
            <a:ext cx="8201025" cy="1566862"/>
            <a:chOff x="533400" y="4214813"/>
            <a:chExt cx="8201025" cy="1566862"/>
          </a:xfrm>
        </p:grpSpPr>
        <p:sp>
          <p:nvSpPr>
            <p:cNvPr id="13" name="TextBox 12"/>
            <p:cNvSpPr txBox="1"/>
            <p:nvPr/>
          </p:nvSpPr>
          <p:spPr>
            <a:xfrm>
              <a:off x="533400" y="4925058"/>
              <a:ext cx="5105687" cy="64698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Problem: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now have some vertices that appear to need different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colors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 on which triangle they are part of.</a:t>
              </a:r>
            </a:p>
          </p:txBody>
        </p:sp>
        <p:cxnSp>
          <p:nvCxnSpPr>
            <p:cNvPr id="16" name="Elbow Connector 38"/>
            <p:cNvCxnSpPr>
              <a:stCxn id="13" idx="3"/>
            </p:cNvCxnSpPr>
            <p:nvPr/>
          </p:nvCxnSpPr>
          <p:spPr>
            <a:xfrm>
              <a:off x="5639087" y="5248551"/>
              <a:ext cx="1018888" cy="5331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38"/>
            <p:cNvCxnSpPr>
              <a:stCxn id="13" idx="3"/>
            </p:cNvCxnSpPr>
            <p:nvPr/>
          </p:nvCxnSpPr>
          <p:spPr>
            <a:xfrm flipV="1">
              <a:off x="5639087" y="4214813"/>
              <a:ext cx="3095338" cy="103373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33399" y="5743412"/>
            <a:ext cx="5562601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vertex attribute changes based on the triangles it’s in, we need a new vertex. </a:t>
            </a:r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square like this needs 6 vertices</a:t>
            </a:r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6547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Control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646987"/>
            <a:ext cx="43434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Upper triangle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0.5f, 0), Colors::Lime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Colors::Lime },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Lower triangle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0.5f, 0), Colors::Magenta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(-0.5f, -0.5f, 0), Colors::Magenta },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(0.5f, -0.5f, 0), Colors::Magenta }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b="1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1, 2,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3, 4,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5</a:t>
            </a:r>
            <a:endParaRPr lang="en-US" sz="1100" dirty="0" smtClean="0"/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752600"/>
            <a:ext cx="2743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990600" y="5181600"/>
            <a:ext cx="7006466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Homework: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last week’s star-shape homework, make it so that: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a color gradient from the center to the points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one solid color for the center and one color for all the points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334000" y="1365250"/>
            <a:ext cx="3149600" cy="2406650"/>
            <a:chOff x="5334000" y="1365250"/>
            <a:chExt cx="3149600" cy="2406650"/>
          </a:xfrm>
        </p:grpSpPr>
        <p:grpSp>
          <p:nvGrpSpPr>
            <p:cNvPr id="8" name="Group 7"/>
            <p:cNvGrpSpPr/>
            <p:nvPr/>
          </p:nvGrpSpPr>
          <p:grpSpPr>
            <a:xfrm>
              <a:off x="5832991" y="1365250"/>
              <a:ext cx="2650609" cy="2400300"/>
              <a:chOff x="2454791" y="1816100"/>
              <a:chExt cx="2650609" cy="240030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>
                <a:off x="2454791" y="2209800"/>
                <a:ext cx="2650609" cy="20066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618866" y="1816100"/>
                    <a:ext cx="4789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8866" y="1816100"/>
                    <a:ext cx="478914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/>
            <p:cNvGrpSpPr/>
            <p:nvPr/>
          </p:nvGrpSpPr>
          <p:grpSpPr>
            <a:xfrm>
              <a:off x="5359400" y="1371600"/>
              <a:ext cx="3116580" cy="393700"/>
              <a:chOff x="4618866" y="1816100"/>
              <a:chExt cx="3116580" cy="39370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V="1">
                <a:off x="5105400" y="2197100"/>
                <a:ext cx="2630046" cy="127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618866" y="1816100"/>
                    <a:ext cx="4735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8866" y="1816100"/>
                    <a:ext cx="473591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/>
            <p:cNvGrpSpPr/>
            <p:nvPr/>
          </p:nvGrpSpPr>
          <p:grpSpPr>
            <a:xfrm>
              <a:off x="5334000" y="1790700"/>
              <a:ext cx="486534" cy="1981200"/>
              <a:chOff x="4618866" y="228600"/>
              <a:chExt cx="486534" cy="19812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V="1">
                <a:off x="5105400" y="228600"/>
                <a:ext cx="0" cy="198120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618866" y="1816100"/>
                    <a:ext cx="478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8866" y="1816100"/>
                    <a:ext cx="478913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1" name="Group 20"/>
          <p:cNvGrpSpPr/>
          <p:nvPr/>
        </p:nvGrpSpPr>
        <p:grpSpPr>
          <a:xfrm>
            <a:off x="5791200" y="1797050"/>
            <a:ext cx="3239893" cy="2317750"/>
            <a:chOff x="5791200" y="1797050"/>
            <a:chExt cx="3239893" cy="2317750"/>
          </a:xfrm>
        </p:grpSpPr>
        <p:grpSp>
          <p:nvGrpSpPr>
            <p:cNvPr id="28" name="Group 27"/>
            <p:cNvGrpSpPr/>
            <p:nvPr/>
          </p:nvGrpSpPr>
          <p:grpSpPr>
            <a:xfrm>
              <a:off x="5791200" y="3741420"/>
              <a:ext cx="2786380" cy="369332"/>
              <a:chOff x="5029200" y="2137966"/>
              <a:chExt cx="2786380" cy="369332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5105400" y="2209800"/>
                <a:ext cx="27101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5029200" y="2137966"/>
                    <a:ext cx="4690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9200" y="2137966"/>
                    <a:ext cx="46903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5867400" y="1797050"/>
              <a:ext cx="3163693" cy="2009854"/>
              <a:chOff x="2432050" y="2209800"/>
              <a:chExt cx="3163693" cy="2009854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 flipH="1">
                <a:off x="2432050" y="2209800"/>
                <a:ext cx="2673350" cy="2009854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5116830" y="2388116"/>
                    <a:ext cx="478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6830" y="2388116"/>
                    <a:ext cx="478913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8512687" y="1797050"/>
              <a:ext cx="478913" cy="2317750"/>
              <a:chOff x="5065907" y="199946"/>
              <a:chExt cx="478913" cy="231775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flipV="1">
                <a:off x="5105400" y="199946"/>
                <a:ext cx="0" cy="2009854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5065907" y="2148364"/>
                    <a:ext cx="4789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5907" y="2148364"/>
                    <a:ext cx="478913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06643313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4:</a:t>
            </a:r>
          </a:p>
          <a:p>
            <a:r>
              <a:rPr lang="en-US" dirty="0" smtClean="0"/>
              <a:t>Constant Buffers for Color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6898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Color Control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are now able to change the color of a ‘model’ by changing the data within the vertex buffer.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Problem: </a:t>
            </a:r>
            <a:r>
              <a:rPr lang="en-US" sz="2000" dirty="0" smtClean="0"/>
              <a:t>What happens if we want the color to change at runtime?</a:t>
            </a:r>
          </a:p>
          <a:p>
            <a:pPr marL="457200" lvl="1" indent="0">
              <a:buNone/>
            </a:pPr>
            <a:r>
              <a:rPr lang="en-US" sz="1800" i="1" dirty="0" smtClean="0"/>
              <a:t>Re-uploading a new vertex buffer isn’t recommend. Typical models have many thousands of vertices and the upload time would affect the frame rate.</a:t>
            </a:r>
          </a:p>
          <a:p>
            <a:pPr marL="457200" lvl="1" indent="0">
              <a:buNone/>
            </a:pPr>
            <a:endParaRPr lang="en-US" sz="800" i="1" dirty="0"/>
          </a:p>
          <a:p>
            <a:pPr marL="457200" lvl="1" indent="0">
              <a:buNone/>
            </a:pPr>
            <a:r>
              <a:rPr lang="en-US" sz="1800" i="1" dirty="0" smtClean="0"/>
              <a:t>Anticipating all possible color changes and uploading them all upfront would waste a lot of memory on the GPU (and may not always be feasible anyway)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Solution: </a:t>
            </a:r>
            <a:r>
              <a:rPr lang="en-US" sz="2000" dirty="0" smtClean="0"/>
              <a:t>we need another way to send data to the pipeline at runtime.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9838022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Buffers and </a:t>
            </a:r>
            <a:br>
              <a:rPr lang="en-US" dirty="0" smtClean="0"/>
            </a:br>
            <a:r>
              <a:rPr lang="en-US" dirty="0" err="1" smtClean="0"/>
              <a:t>Shader</a:t>
            </a:r>
            <a:r>
              <a:rPr lang="en-US" dirty="0" smtClean="0"/>
              <a:t> Constants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i="1" dirty="0"/>
              <a:t>Constant </a:t>
            </a:r>
            <a:r>
              <a:rPr lang="en-US" sz="2000" i="1" dirty="0" smtClean="0"/>
              <a:t>buffers</a:t>
            </a:r>
            <a:r>
              <a:rPr lang="en-US" sz="2000" dirty="0" smtClean="0"/>
              <a:t> are data buffers for DX to hold data that </a:t>
            </a:r>
          </a:p>
          <a:p>
            <a:pPr marL="457200" lvl="1" indent="-184150"/>
            <a:r>
              <a:rPr lang="en-US" sz="1800" dirty="0" smtClean="0"/>
              <a:t>Typically is much, much </a:t>
            </a:r>
            <a:r>
              <a:rPr lang="en-US" sz="1800" dirty="0"/>
              <a:t>smaller than vertex buffers</a:t>
            </a:r>
          </a:p>
          <a:p>
            <a:pPr marL="457200" lvl="1" indent="-184150"/>
            <a:r>
              <a:rPr lang="en-US" sz="1800" dirty="0" smtClean="0"/>
              <a:t>Can be </a:t>
            </a:r>
            <a:r>
              <a:rPr lang="en-US" sz="1800" u="sng" dirty="0" smtClean="0"/>
              <a:t>changed at runtime</a:t>
            </a:r>
            <a:r>
              <a:rPr lang="en-US" sz="1800" dirty="0" smtClean="0"/>
              <a:t> by the CPU </a:t>
            </a:r>
          </a:p>
          <a:p>
            <a:pPr marL="457200" lvl="1" indent="-184150"/>
            <a:r>
              <a:rPr lang="en-US" sz="1800" u="sng" dirty="0" smtClean="0"/>
              <a:t>Have </a:t>
            </a:r>
            <a:r>
              <a:rPr lang="en-US" sz="1800" i="1" u="sng" dirty="0" smtClean="0"/>
              <a:t>constants</a:t>
            </a:r>
            <a:r>
              <a:rPr lang="en-US" sz="1800" u="sng" dirty="0" smtClean="0"/>
              <a:t> value during </a:t>
            </a:r>
            <a:r>
              <a:rPr lang="en-US" sz="1800" i="1" u="sng" dirty="0" smtClean="0"/>
              <a:t>one execution </a:t>
            </a:r>
            <a:r>
              <a:rPr lang="en-US" sz="1800" dirty="0" smtClean="0"/>
              <a:t>of the </a:t>
            </a:r>
            <a:r>
              <a:rPr lang="en-US" sz="1800" u="sng" dirty="0" smtClean="0"/>
              <a:t>render pipeline</a:t>
            </a:r>
            <a:r>
              <a:rPr lang="en-US" sz="1800" dirty="0" smtClean="0"/>
              <a:t> (</a:t>
            </a:r>
            <a:r>
              <a:rPr lang="en-US" sz="1800" dirty="0" err="1">
                <a:hlinkClick r:id="rId2"/>
              </a:rPr>
              <a:t>shader</a:t>
            </a:r>
            <a:r>
              <a:rPr lang="en-US" sz="1800" dirty="0">
                <a:hlinkClick r:id="rId2"/>
              </a:rPr>
              <a:t> </a:t>
            </a:r>
            <a:r>
              <a:rPr lang="en-US" sz="1800" dirty="0" smtClean="0">
                <a:hlinkClick r:id="rId2"/>
              </a:rPr>
              <a:t>constants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r>
              <a:rPr lang="en-US" sz="2200" dirty="0" smtClean="0"/>
              <a:t> As with other GPU resource, we must:</a:t>
            </a:r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 smtClean="0"/>
              <a:t>Create them and keep a handle on the CPU</a:t>
            </a:r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 smtClean="0"/>
              <a:t>Connect them to the pipeline, specifically to a </a:t>
            </a:r>
            <a:r>
              <a:rPr lang="en-US" sz="1800" dirty="0" err="1">
                <a:hlinkClick r:id="rId2"/>
              </a:rPr>
              <a:t>shader</a:t>
            </a:r>
            <a:r>
              <a:rPr lang="en-US" sz="1800" dirty="0">
                <a:hlinkClick r:id="rId2"/>
              </a:rPr>
              <a:t> constants</a:t>
            </a:r>
            <a:r>
              <a:rPr lang="en-US" sz="1800" dirty="0"/>
              <a:t> </a:t>
            </a:r>
            <a:endParaRPr lang="en-US" sz="1800" dirty="0" smtClean="0"/>
          </a:p>
          <a:p>
            <a:pPr marL="685800" lvl="1" indent="-228600">
              <a:buSzPct val="100000"/>
              <a:buFont typeface="+mj-lt"/>
              <a:buAutoNum type="arabicPeriod"/>
            </a:pPr>
            <a:r>
              <a:rPr lang="en-US" sz="1800" dirty="0" smtClean="0"/>
              <a:t>Update the data as needed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48417" y="4286250"/>
            <a:ext cx="8725503" cy="2514600"/>
            <a:chOff x="348417" y="4286250"/>
            <a:chExt cx="8725503" cy="2514600"/>
          </a:xfrm>
        </p:grpSpPr>
        <p:sp>
          <p:nvSpPr>
            <p:cNvPr id="5" name="Rectangle 4"/>
            <p:cNvSpPr/>
            <p:nvPr/>
          </p:nvSpPr>
          <p:spPr>
            <a:xfrm>
              <a:off x="5257800" y="4286250"/>
              <a:ext cx="3816120" cy="2514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GPU</a:t>
              </a:r>
              <a:endPara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087847" y="5500550"/>
              <a:ext cx="914400" cy="2240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Viewport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12" name="Straight Arrow Connector 11"/>
            <p:cNvCxnSpPr>
              <a:stCxn id="14" idx="3"/>
              <a:endCxn id="11" idx="1"/>
            </p:cNvCxnSpPr>
            <p:nvPr/>
          </p:nvCxnSpPr>
          <p:spPr>
            <a:xfrm flipV="1">
              <a:off x="7885299" y="5612587"/>
              <a:ext cx="202548" cy="44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1720" y="4575341"/>
              <a:ext cx="1173579" cy="2075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AutoShape 9"/>
            <p:cNvSpPr>
              <a:spLocks noChangeArrowheads="1"/>
            </p:cNvSpPr>
            <p:nvPr/>
          </p:nvSpPr>
          <p:spPr bwMode="auto">
            <a:xfrm>
              <a:off x="5465699" y="4637306"/>
              <a:ext cx="501035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Verts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6" name="AutoShape 9"/>
            <p:cNvSpPr>
              <a:spLocks noChangeArrowheads="1"/>
            </p:cNvSpPr>
            <p:nvPr/>
          </p:nvSpPr>
          <p:spPr bwMode="auto">
            <a:xfrm>
              <a:off x="5465699" y="5044813"/>
              <a:ext cx="630301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Indices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cxnSp>
          <p:nvCxnSpPr>
            <p:cNvPr id="17" name="Straight Arrow Connector 30"/>
            <p:cNvCxnSpPr>
              <a:stCxn id="15" idx="3"/>
            </p:cNvCxnSpPr>
            <p:nvPr/>
          </p:nvCxnSpPr>
          <p:spPr>
            <a:xfrm flipV="1">
              <a:off x="5966734" y="4762620"/>
              <a:ext cx="781471" cy="1318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30"/>
            <p:cNvCxnSpPr>
              <a:stCxn id="16" idx="3"/>
            </p:cNvCxnSpPr>
            <p:nvPr/>
          </p:nvCxnSpPr>
          <p:spPr>
            <a:xfrm flipV="1">
              <a:off x="6096000" y="4886057"/>
              <a:ext cx="652205" cy="297256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7687505" y="5022582"/>
              <a:ext cx="1188553" cy="1200322"/>
              <a:chOff x="7696200" y="2346325"/>
              <a:chExt cx="1188553" cy="1200322"/>
            </a:xfrm>
          </p:grpSpPr>
          <p:sp>
            <p:nvSpPr>
              <p:cNvPr id="20" name="Cloud 19"/>
              <p:cNvSpPr/>
              <p:nvPr/>
            </p:nvSpPr>
            <p:spPr>
              <a:xfrm>
                <a:off x="8096542" y="2346325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VS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1" name="Straight Arrow Connector 20"/>
              <p:cNvCxnSpPr>
                <a:endCxn id="20" idx="2"/>
              </p:cNvCxnSpPr>
              <p:nvPr/>
            </p:nvCxnSpPr>
            <p:spPr>
              <a:xfrm>
                <a:off x="7696200" y="2526559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Cloud 21"/>
              <p:cNvSpPr/>
              <p:nvPr/>
            </p:nvSpPr>
            <p:spPr>
              <a:xfrm>
                <a:off x="8112658" y="3186179"/>
                <a:ext cx="772095" cy="360468"/>
              </a:xfrm>
              <a:prstGeom prst="cloud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smtClean="0">
                    <a:solidFill>
                      <a:srgbClr val="FF0000"/>
                    </a:solidFill>
                  </a:rPr>
                  <a:t>PS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Straight Arrow Connector 22"/>
              <p:cNvCxnSpPr>
                <a:endCxn id="22" idx="2"/>
              </p:cNvCxnSpPr>
              <p:nvPr/>
            </p:nvCxnSpPr>
            <p:spPr>
              <a:xfrm>
                <a:off x="7712316" y="3366413"/>
                <a:ext cx="402737" cy="0"/>
              </a:xfrm>
              <a:prstGeom prst="straightConnector1">
                <a:avLst/>
              </a:prstGeom>
              <a:ln w="254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6650162" y="5563761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 smtClean="0">
                  <a:solidFill>
                    <a:srgbClr val="FF0000"/>
                  </a:solidFill>
                </a:rPr>
                <a:t>CCW</a:t>
              </a:r>
              <a:endParaRPr 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AutoShape 9"/>
            <p:cNvSpPr>
              <a:spLocks noChangeArrowheads="1"/>
            </p:cNvSpPr>
            <p:nvPr/>
          </p:nvSpPr>
          <p:spPr bwMode="auto">
            <a:xfrm>
              <a:off x="5465699" y="5486400"/>
              <a:ext cx="535724" cy="27699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1200" dirty="0" smtClean="0">
                  <a:solidFill>
                    <a:schemeClr val="bg1"/>
                  </a:solidFill>
                  <a:latin typeface="Times New Roman" pitchFamily="18" charset="0"/>
                </a:rPr>
                <a:t>Color</a:t>
              </a:r>
              <a:endParaRPr kumimoji="0" lang="en-US" altLang="en-US" sz="12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48417" y="5048250"/>
              <a:ext cx="2522220" cy="914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u="sng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DirectX App</a:t>
              </a:r>
            </a:p>
          </p:txBody>
        </p:sp>
        <p:sp>
          <p:nvSpPr>
            <p:cNvPr id="27" name="Pentagon 26"/>
            <p:cNvSpPr/>
            <p:nvPr/>
          </p:nvSpPr>
          <p:spPr>
            <a:xfrm>
              <a:off x="2708495" y="5509976"/>
              <a:ext cx="1330105" cy="224073"/>
            </a:xfrm>
            <a:prstGeom prst="homePlat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ID3D11Buffer</a:t>
              </a:r>
            </a:p>
          </p:txBody>
        </p:sp>
        <p:cxnSp>
          <p:nvCxnSpPr>
            <p:cNvPr id="28" name="Straight Connector 27"/>
            <p:cNvCxnSpPr>
              <a:stCxn id="27" idx="3"/>
              <a:endCxn id="25" idx="1"/>
            </p:cNvCxnSpPr>
            <p:nvPr/>
          </p:nvCxnSpPr>
          <p:spPr>
            <a:xfrm>
              <a:off x="4038600" y="5622013"/>
              <a:ext cx="1427099" cy="2887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00817" y="5490030"/>
              <a:ext cx="990600" cy="2375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mpcbColor</a:t>
              </a:r>
              <a:endPara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  <p:cxnSp>
          <p:nvCxnSpPr>
            <p:cNvPr id="30" name="Straight Arrow Connector 29"/>
            <p:cNvCxnSpPr>
              <a:stCxn id="29" idx="3"/>
            </p:cNvCxnSpPr>
            <p:nvPr/>
          </p:nvCxnSpPr>
          <p:spPr>
            <a:xfrm>
              <a:off x="1491417" y="5608826"/>
              <a:ext cx="1219200" cy="6759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336788" y="4267319"/>
            <a:ext cx="4414078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Bored with color and 2D? We’ll need constant buffers to pass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orldMat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camera matrices…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9760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Constant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Step 1:</a:t>
            </a:r>
            <a:r>
              <a:rPr lang="en-US" sz="2000" dirty="0" smtClean="0"/>
              <a:t> Buffer handle and structure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646987"/>
            <a:ext cx="2743200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mpcbColor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Not strictly necessary since we only have one data member, but it's common to do it this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way</a:t>
            </a: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CBColor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1646986"/>
            <a:ext cx="47244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DXApp.cpp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  <a:hlinkClick r:id="rId2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CBColor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D3D11_BIND_CONSTANT_BUFFER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mpcbColor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6F008A"/>
                </a:solidFill>
                <a:latin typeface="Consolas"/>
              </a:rPr>
              <a:t>assert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6F008A"/>
                </a:solidFill>
                <a:latin typeface="Consolas"/>
              </a:rPr>
              <a:t>SUCCEEDED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100" b="1" dirty="0"/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2A927-C669-46EB-947E-64BB8CE6050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57800" y="4286250"/>
            <a:ext cx="381612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87847" y="5500550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0" name="Straight Arrow Connector 9"/>
          <p:cNvCxnSpPr>
            <a:stCxn id="11" idx="3"/>
            <a:endCxn id="9" idx="1"/>
          </p:cNvCxnSpPr>
          <p:nvPr/>
        </p:nvCxnSpPr>
        <p:spPr>
          <a:xfrm flipV="1">
            <a:off x="7885299" y="5612587"/>
            <a:ext cx="202548" cy="4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720" y="4575341"/>
            <a:ext cx="1173579" cy="207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465699" y="4637306"/>
            <a:ext cx="501035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Verts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465699" y="5044813"/>
            <a:ext cx="630301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Indices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cxnSp>
        <p:nvCxnSpPr>
          <p:cNvPr id="14" name="Straight Arrow Connector 30"/>
          <p:cNvCxnSpPr>
            <a:stCxn id="12" idx="3"/>
          </p:cNvCxnSpPr>
          <p:nvPr/>
        </p:nvCxnSpPr>
        <p:spPr>
          <a:xfrm flipV="1">
            <a:off x="5966734" y="4762620"/>
            <a:ext cx="781471" cy="1318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30"/>
          <p:cNvCxnSpPr>
            <a:stCxn id="13" idx="3"/>
          </p:cNvCxnSpPr>
          <p:nvPr/>
        </p:nvCxnSpPr>
        <p:spPr>
          <a:xfrm flipV="1">
            <a:off x="6096000" y="4886057"/>
            <a:ext cx="652205" cy="29725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687505" y="5022582"/>
            <a:ext cx="1188553" cy="1200322"/>
            <a:chOff x="7696200" y="2346325"/>
            <a:chExt cx="1188553" cy="1200322"/>
          </a:xfrm>
        </p:grpSpPr>
        <p:sp>
          <p:nvSpPr>
            <p:cNvPr id="17" name="Cloud 16"/>
            <p:cNvSpPr/>
            <p:nvPr/>
          </p:nvSpPr>
          <p:spPr>
            <a:xfrm>
              <a:off x="8096542" y="2346325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VS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/>
            <p:cNvCxnSpPr>
              <a:endCxn id="17" idx="2"/>
            </p:cNvCxnSpPr>
            <p:nvPr/>
          </p:nvCxnSpPr>
          <p:spPr>
            <a:xfrm>
              <a:off x="7696200" y="2526559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loud 18"/>
            <p:cNvSpPr/>
            <p:nvPr/>
          </p:nvSpPr>
          <p:spPr>
            <a:xfrm>
              <a:off x="8112658" y="3186179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PS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/>
            <p:cNvCxnSpPr>
              <a:endCxn id="19" idx="2"/>
            </p:cNvCxnSpPr>
            <p:nvPr/>
          </p:nvCxnSpPr>
          <p:spPr>
            <a:xfrm>
              <a:off x="7712316" y="3366413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650162" y="556376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CCW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5465699" y="5486400"/>
            <a:ext cx="535724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Color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8417" y="5048250"/>
            <a:ext cx="252222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24" name="Pentagon 23"/>
          <p:cNvSpPr/>
          <p:nvPr/>
        </p:nvSpPr>
        <p:spPr>
          <a:xfrm>
            <a:off x="2708495" y="5509976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ID3D11Buffer</a:t>
            </a:r>
          </a:p>
        </p:txBody>
      </p:sp>
      <p:cxnSp>
        <p:nvCxnSpPr>
          <p:cNvPr id="25" name="Straight Connector 24"/>
          <p:cNvCxnSpPr>
            <a:stCxn id="24" idx="3"/>
            <a:endCxn id="22" idx="1"/>
          </p:cNvCxnSpPr>
          <p:nvPr/>
        </p:nvCxnSpPr>
        <p:spPr>
          <a:xfrm>
            <a:off x="4038600" y="5622013"/>
            <a:ext cx="1427099" cy="288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0817" y="5490030"/>
            <a:ext cx="990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</a:rPr>
              <a:t>mpcbColor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7" name="Straight Arrow Connector 26"/>
          <p:cNvCxnSpPr>
            <a:stCxn id="26" idx="3"/>
          </p:cNvCxnSpPr>
          <p:nvPr/>
        </p:nvCxnSpPr>
        <p:spPr>
          <a:xfrm>
            <a:off x="1491417" y="5608826"/>
            <a:ext cx="121920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8905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Constant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Step 2:</a:t>
            </a:r>
            <a:r>
              <a:rPr lang="en-US" sz="2000" dirty="0" smtClean="0"/>
              <a:t> Setting up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constants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and connecting it with the constant buffer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194886" y="1170159"/>
            <a:ext cx="3869509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bufColor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ActiveCol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POSITION) : SV_POSITION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PS(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pix : SV_POSITION)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ActiveCol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b="1" dirty="0"/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2A927-C669-46EB-947E-64BB8CE605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57800" y="4286250"/>
            <a:ext cx="381612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87847" y="5500550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0" name="Straight Arrow Connector 9"/>
          <p:cNvCxnSpPr>
            <a:stCxn id="11" idx="3"/>
            <a:endCxn id="9" idx="1"/>
          </p:cNvCxnSpPr>
          <p:nvPr/>
        </p:nvCxnSpPr>
        <p:spPr>
          <a:xfrm flipV="1">
            <a:off x="7885299" y="5612587"/>
            <a:ext cx="202548" cy="4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720" y="4575341"/>
            <a:ext cx="1173579" cy="207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465699" y="4637306"/>
            <a:ext cx="501035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Verts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465699" y="5044813"/>
            <a:ext cx="630301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Indices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cxnSp>
        <p:nvCxnSpPr>
          <p:cNvPr id="14" name="Straight Arrow Connector 30"/>
          <p:cNvCxnSpPr>
            <a:stCxn id="12" idx="3"/>
          </p:cNvCxnSpPr>
          <p:nvPr/>
        </p:nvCxnSpPr>
        <p:spPr>
          <a:xfrm flipV="1">
            <a:off x="5966734" y="4762620"/>
            <a:ext cx="781471" cy="1318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30"/>
          <p:cNvCxnSpPr>
            <a:stCxn id="13" idx="3"/>
          </p:cNvCxnSpPr>
          <p:nvPr/>
        </p:nvCxnSpPr>
        <p:spPr>
          <a:xfrm flipV="1">
            <a:off x="6096000" y="4886057"/>
            <a:ext cx="652205" cy="29725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687505" y="5022582"/>
            <a:ext cx="1188553" cy="1200322"/>
            <a:chOff x="7696200" y="2346325"/>
            <a:chExt cx="1188553" cy="1200322"/>
          </a:xfrm>
        </p:grpSpPr>
        <p:sp>
          <p:nvSpPr>
            <p:cNvPr id="17" name="Cloud 16"/>
            <p:cNvSpPr/>
            <p:nvPr/>
          </p:nvSpPr>
          <p:spPr>
            <a:xfrm>
              <a:off x="8096542" y="2346325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VS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/>
            <p:cNvCxnSpPr>
              <a:endCxn id="17" idx="2"/>
            </p:cNvCxnSpPr>
            <p:nvPr/>
          </p:nvCxnSpPr>
          <p:spPr>
            <a:xfrm>
              <a:off x="7696200" y="2526559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loud 18"/>
            <p:cNvSpPr/>
            <p:nvPr/>
          </p:nvSpPr>
          <p:spPr>
            <a:xfrm>
              <a:off x="8112658" y="3186179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PS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/>
            <p:cNvCxnSpPr>
              <a:endCxn id="19" idx="2"/>
            </p:cNvCxnSpPr>
            <p:nvPr/>
          </p:nvCxnSpPr>
          <p:spPr>
            <a:xfrm>
              <a:off x="7712316" y="3366413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650162" y="556376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CCW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5465699" y="5486400"/>
            <a:ext cx="535724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Color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8417" y="5048250"/>
            <a:ext cx="252222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24" name="Pentagon 23"/>
          <p:cNvSpPr/>
          <p:nvPr/>
        </p:nvSpPr>
        <p:spPr>
          <a:xfrm>
            <a:off x="2708495" y="5509976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ID3D11Buffer</a:t>
            </a:r>
          </a:p>
        </p:txBody>
      </p:sp>
      <p:cxnSp>
        <p:nvCxnSpPr>
          <p:cNvPr id="25" name="Straight Connector 24"/>
          <p:cNvCxnSpPr>
            <a:stCxn id="24" idx="3"/>
            <a:endCxn id="22" idx="1"/>
          </p:cNvCxnSpPr>
          <p:nvPr/>
        </p:nvCxnSpPr>
        <p:spPr>
          <a:xfrm>
            <a:off x="4038600" y="5622013"/>
            <a:ext cx="1427099" cy="288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0817" y="5490030"/>
            <a:ext cx="990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</a:rPr>
              <a:t>mpcbColor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7" name="Straight Arrow Connector 26"/>
          <p:cNvCxnSpPr>
            <a:stCxn id="26" idx="3"/>
          </p:cNvCxnSpPr>
          <p:nvPr/>
        </p:nvCxnSpPr>
        <p:spPr>
          <a:xfrm>
            <a:off x="1491417" y="5608826"/>
            <a:ext cx="121920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78306" y="1446870"/>
            <a:ext cx="1450629" cy="34051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05000" y="2777489"/>
            <a:ext cx="3124200" cy="34051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need for ‘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bufColor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::’ reference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2625" y="3730823"/>
            <a:ext cx="633537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PSSetConstantBuffers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(0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1, &amp;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mpcbColor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4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348417" y="2819400"/>
            <a:ext cx="8653829" cy="1988165"/>
            <a:chOff x="348417" y="2819400"/>
            <a:chExt cx="8653829" cy="1988165"/>
          </a:xfrm>
        </p:grpSpPr>
        <p:sp>
          <p:nvSpPr>
            <p:cNvPr id="32" name="Rounded Rectangle 31"/>
            <p:cNvSpPr/>
            <p:nvPr/>
          </p:nvSpPr>
          <p:spPr>
            <a:xfrm>
              <a:off x="2752725" y="3748981"/>
              <a:ext cx="254794" cy="26818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63500">
                <a:srgbClr val="FFFF00">
                  <a:alpha val="6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194885" y="2819400"/>
              <a:ext cx="3807361" cy="78581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27000">
                <a:srgbClr val="FFFF00">
                  <a:alpha val="6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348417" y="3605214"/>
              <a:ext cx="6750149" cy="1202351"/>
              <a:chOff x="348417" y="3605214"/>
              <a:chExt cx="6750149" cy="1202351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348417" y="4467046"/>
                <a:ext cx="4223583" cy="340519"/>
              </a:xfrm>
              <a:prstGeom prst="roundRect">
                <a:avLst/>
              </a:prstGeom>
              <a:solidFill>
                <a:srgbClr val="FFFF66"/>
              </a:solidFill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the PS needs knowledge of the color buffer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Elbow Connector 32"/>
              <p:cNvCxnSpPr>
                <a:stCxn id="31" idx="0"/>
                <a:endCxn id="32" idx="2"/>
              </p:cNvCxnSpPr>
              <p:nvPr/>
            </p:nvCxnSpPr>
            <p:spPr>
              <a:xfrm rot="5400000" flipH="1" flipV="1">
                <a:off x="2445227" y="4032152"/>
                <a:ext cx="449876" cy="419913"/>
              </a:xfrm>
              <a:prstGeom prst="bentConnector3">
                <a:avLst>
                  <a:gd name="adj1" fmla="val 63663"/>
                </a:avLst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Elbow Connector 42"/>
              <p:cNvCxnSpPr>
                <a:stCxn id="31" idx="0"/>
                <a:endCxn id="42" idx="2"/>
              </p:cNvCxnSpPr>
              <p:nvPr/>
            </p:nvCxnSpPr>
            <p:spPr>
              <a:xfrm rot="5400000" flipH="1" flipV="1">
                <a:off x="4348471" y="1716952"/>
                <a:ext cx="861833" cy="4638357"/>
              </a:xfrm>
              <a:prstGeom prst="bentConnector3">
                <a:avLst>
                  <a:gd name="adj1" fmla="val 33192"/>
                </a:avLst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Straight Arrow Connector 30"/>
          <p:cNvCxnSpPr>
            <a:stCxn id="22" idx="3"/>
          </p:cNvCxnSpPr>
          <p:nvPr/>
        </p:nvCxnSpPr>
        <p:spPr>
          <a:xfrm>
            <a:off x="6001423" y="5624900"/>
            <a:ext cx="856577" cy="337750"/>
          </a:xfrm>
          <a:prstGeom prst="straightConnector1">
            <a:avLst/>
          </a:prstGeom>
          <a:ln w="25400">
            <a:tailEnd type="triangle" w="lg" len="lg"/>
          </a:ln>
          <a:effectLst>
            <a:glow rad="127000">
              <a:srgbClr val="FFFF00">
                <a:alpha val="5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89124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Constant Buffer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Step 3:</a:t>
            </a:r>
            <a:r>
              <a:rPr lang="en-US" sz="2000" dirty="0" smtClean="0"/>
              <a:t> Updating the value from the CPU to the buffer on the GPU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At this point, the data is stored in the </a:t>
            </a:r>
            <a:r>
              <a:rPr lang="en-US" sz="2000" u="sng" dirty="0" smtClean="0"/>
              <a:t>buffer on the GPU</a:t>
            </a:r>
          </a:p>
          <a:p>
            <a:pPr marL="457200" lvl="1" indent="-184150"/>
            <a:r>
              <a:rPr lang="en-US" sz="1800" dirty="0" smtClean="0"/>
              <a:t>We only need to update once: all future execution of the pipeline will see this value</a:t>
            </a:r>
          </a:p>
          <a:p>
            <a:pPr marL="457200" lvl="1" indent="-184150"/>
            <a:r>
              <a:rPr lang="en-US" sz="1800" dirty="0" smtClean="0"/>
              <a:t>The CPU can re-update this value at any time, changing </a:t>
            </a:r>
            <a:r>
              <a:rPr lang="en-US" sz="1800" dirty="0" smtClean="0"/>
              <a:t>what </a:t>
            </a:r>
            <a:r>
              <a:rPr lang="en-US" sz="1800" dirty="0" smtClean="0"/>
              <a:t>the color will be.</a:t>
            </a:r>
          </a:p>
          <a:p>
            <a:pPr marL="458788" lvl="2" indent="0">
              <a:buNone/>
            </a:pPr>
            <a:r>
              <a:rPr lang="en-US" b="1" i="1" dirty="0" smtClean="0"/>
              <a:t>Example:</a:t>
            </a:r>
            <a:r>
              <a:rPr lang="en-US" i="1" dirty="0" smtClean="0"/>
              <a:t> Copy the above code into ‘</a:t>
            </a:r>
            <a:r>
              <a:rPr lang="en-US" dirty="0" err="1"/>
              <a:t>OnMouseDown</a:t>
            </a:r>
            <a:r>
              <a:rPr lang="en-US" i="1" dirty="0" smtClean="0"/>
              <a:t>’ but with a different color</a:t>
            </a:r>
            <a:endParaRPr lang="en-US" b="1" i="1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2A927-C669-46EB-947E-64BB8CE6050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57800" y="4286250"/>
            <a:ext cx="381612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GPU</a:t>
            </a:r>
            <a:endParaRPr lang="en-US" u="sng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87847" y="5500550"/>
            <a:ext cx="914400" cy="224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Viewport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10" name="Straight Arrow Connector 9"/>
          <p:cNvCxnSpPr>
            <a:stCxn id="11" idx="3"/>
            <a:endCxn id="9" idx="1"/>
          </p:cNvCxnSpPr>
          <p:nvPr/>
        </p:nvCxnSpPr>
        <p:spPr>
          <a:xfrm flipV="1">
            <a:off x="7885299" y="5612587"/>
            <a:ext cx="202548" cy="4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720" y="4575341"/>
            <a:ext cx="1173579" cy="207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465699" y="4637306"/>
            <a:ext cx="501035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Verts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465699" y="5044813"/>
            <a:ext cx="630301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Indices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cxnSp>
        <p:nvCxnSpPr>
          <p:cNvPr id="14" name="Straight Arrow Connector 30"/>
          <p:cNvCxnSpPr>
            <a:stCxn id="12" idx="3"/>
          </p:cNvCxnSpPr>
          <p:nvPr/>
        </p:nvCxnSpPr>
        <p:spPr>
          <a:xfrm flipV="1">
            <a:off x="5966734" y="4762620"/>
            <a:ext cx="781471" cy="1318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30"/>
          <p:cNvCxnSpPr>
            <a:stCxn id="13" idx="3"/>
          </p:cNvCxnSpPr>
          <p:nvPr/>
        </p:nvCxnSpPr>
        <p:spPr>
          <a:xfrm flipV="1">
            <a:off x="6096000" y="4886057"/>
            <a:ext cx="652205" cy="29725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687505" y="5022582"/>
            <a:ext cx="1188553" cy="1200322"/>
            <a:chOff x="7696200" y="2346325"/>
            <a:chExt cx="1188553" cy="1200322"/>
          </a:xfrm>
        </p:grpSpPr>
        <p:sp>
          <p:nvSpPr>
            <p:cNvPr id="17" name="Cloud 16"/>
            <p:cNvSpPr/>
            <p:nvPr/>
          </p:nvSpPr>
          <p:spPr>
            <a:xfrm>
              <a:off x="8096542" y="2346325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VS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/>
            <p:cNvCxnSpPr>
              <a:endCxn id="17" idx="2"/>
            </p:cNvCxnSpPr>
            <p:nvPr/>
          </p:nvCxnSpPr>
          <p:spPr>
            <a:xfrm>
              <a:off x="7696200" y="2526559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loud 18"/>
            <p:cNvSpPr/>
            <p:nvPr/>
          </p:nvSpPr>
          <p:spPr>
            <a:xfrm>
              <a:off x="8112658" y="3186179"/>
              <a:ext cx="772095" cy="360468"/>
            </a:xfrm>
            <a:prstGeom prst="clou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PS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/>
            <p:cNvCxnSpPr>
              <a:endCxn id="19" idx="2"/>
            </p:cNvCxnSpPr>
            <p:nvPr/>
          </p:nvCxnSpPr>
          <p:spPr>
            <a:xfrm>
              <a:off x="7712316" y="3366413"/>
              <a:ext cx="402737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650162" y="556376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CCW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5465699" y="5486400"/>
            <a:ext cx="535724" cy="276999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1200" dirty="0" smtClean="0">
                <a:solidFill>
                  <a:schemeClr val="bg1"/>
                </a:solidFill>
                <a:latin typeface="Times New Roman" pitchFamily="18" charset="0"/>
              </a:rPr>
              <a:t>Color</a:t>
            </a:r>
            <a:endParaRPr kumimoji="0" lang="en-US" altLang="en-US" sz="12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8417" y="5048250"/>
            <a:ext cx="252222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DirectX App</a:t>
            </a:r>
          </a:p>
        </p:txBody>
      </p:sp>
      <p:sp>
        <p:nvSpPr>
          <p:cNvPr id="24" name="Pentagon 23"/>
          <p:cNvSpPr/>
          <p:nvPr/>
        </p:nvSpPr>
        <p:spPr>
          <a:xfrm>
            <a:off x="2708495" y="5509976"/>
            <a:ext cx="1330105" cy="224073"/>
          </a:xfrm>
          <a:prstGeom prst="homePlat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ID3D11Buffer</a:t>
            </a:r>
          </a:p>
        </p:txBody>
      </p:sp>
      <p:cxnSp>
        <p:nvCxnSpPr>
          <p:cNvPr id="25" name="Straight Connector 24"/>
          <p:cNvCxnSpPr>
            <a:stCxn id="24" idx="3"/>
            <a:endCxn id="22" idx="1"/>
          </p:cNvCxnSpPr>
          <p:nvPr/>
        </p:nvCxnSpPr>
        <p:spPr>
          <a:xfrm>
            <a:off x="4038600" y="5622013"/>
            <a:ext cx="1427099" cy="288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0817" y="5490030"/>
            <a:ext cx="990600" cy="237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dirty="0" err="1">
                <a:solidFill>
                  <a:schemeClr val="tx1"/>
                </a:solidFill>
              </a:rPr>
              <a:t>mpcbColor</a:t>
            </a:r>
            <a:endParaRPr lang="en-US" sz="1200" dirty="0">
              <a:solidFill>
                <a:schemeClr val="tx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cxnSp>
        <p:nvCxnSpPr>
          <p:cNvPr id="27" name="Straight Arrow Connector 26"/>
          <p:cNvCxnSpPr>
            <a:stCxn id="26" idx="3"/>
          </p:cNvCxnSpPr>
          <p:nvPr/>
        </p:nvCxnSpPr>
        <p:spPr>
          <a:xfrm>
            <a:off x="1491417" y="5608826"/>
            <a:ext cx="1219200" cy="675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30"/>
          <p:cNvCxnSpPr>
            <a:stCxn id="22" idx="3"/>
          </p:cNvCxnSpPr>
          <p:nvPr/>
        </p:nvCxnSpPr>
        <p:spPr>
          <a:xfrm>
            <a:off x="6001423" y="5624900"/>
            <a:ext cx="856577" cy="33775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8102" y="1676400"/>
            <a:ext cx="851319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2B91AF"/>
                </a:solidFill>
                <a:latin typeface="Consolas"/>
              </a:rPr>
              <a:t>CBColor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cbMyColor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nsolas"/>
              </a:rPr>
              <a:t>cbMyColor.col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Colors::Lime;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/>
              </a:rPr>
              <a:t>md3dImmediateContext-&gt;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UpdateSubresource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mpcbColor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0,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nullptr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cbMyColor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0, 0);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795307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Something Went Wrong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Did you notice the output window on exit?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08101" y="1657350"/>
            <a:ext cx="8513195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Process is terminating. Using simple reporting. Please call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ReportLiveObjects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 at runtime for standard reporting.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Producer at 0x00565208,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2.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0x01F40078,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0x047AC100,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0x0201E7C4,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0x0201EA6C,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0x0201EBA4,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0x0201ED74,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0x004B55AC,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0x0201EE88,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0x047B200C,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0x047B28E4,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0x047B2B1C,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0x047B2E6C,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0x047B46F4,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0x047BDD74,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0x047B802C,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0x047B869C,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0.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Object at 0x047E8BDC,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1.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D3D11 WARNING: Live                         Object :     17 [ STATE_CREATION WARNING #0: UNKNOWN]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DXGI WARNING: Live Producer at 0x004BD038,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4. [ STATE_CREATION WARNING #0: 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DXGI WARNING: Live Object at 0x004D1878,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 2. [ STATE_CREATION WARNING #0: 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DXGI WARNING: Live                         Object :      1 [ STATE_CREATION WARNING #0: ]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51332672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5:</a:t>
            </a:r>
          </a:p>
          <a:p>
            <a:r>
              <a:rPr lang="en-US" dirty="0" smtClean="0"/>
              <a:t>Memory Leak and DirectX Debugging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2908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Went Wrong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Remember </a:t>
            </a:r>
            <a:r>
              <a:rPr lang="en-US" sz="2000" dirty="0" smtClean="0"/>
              <a:t>that COM </a:t>
            </a:r>
            <a:r>
              <a:rPr lang="en-US" sz="2000" dirty="0"/>
              <a:t>objects are </a:t>
            </a:r>
            <a:r>
              <a:rPr lang="en-US" sz="2000" dirty="0" smtClean="0"/>
              <a:t>managed pointers: </a:t>
            </a:r>
            <a:r>
              <a:rPr lang="en-US" sz="2000" dirty="0"/>
              <a:t>They need a lot of TLC…</a:t>
            </a:r>
          </a:p>
          <a:p>
            <a:r>
              <a:rPr lang="en-US" sz="2000" dirty="0"/>
              <a:t>We did not </a:t>
            </a:r>
            <a:r>
              <a:rPr lang="en-US" sz="2000" dirty="0" smtClean="0"/>
              <a:t>release our constant buffer on exit, leaving the GPU dangling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wall of warnings on exit is DX telling us we missed something. </a:t>
            </a:r>
          </a:p>
          <a:p>
            <a:pPr marL="0" indent="0">
              <a:buNone/>
            </a:pPr>
            <a:r>
              <a:rPr lang="en-US" sz="2000" dirty="0" smtClean="0"/>
              <a:t>However it’s not very informative: </a:t>
            </a:r>
            <a:r>
              <a:rPr lang="en-US" sz="2000" dirty="0" smtClean="0"/>
              <a:t>Fortunately there </a:t>
            </a:r>
            <a:r>
              <a:rPr lang="en-US" sz="2000" dirty="0" smtClean="0"/>
              <a:t>is an alternative…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4521099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::~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mpPixelShader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mpVertexLayout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mRenderTargetView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mSwapChain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(md3dDevice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876800" y="3346371"/>
            <a:ext cx="3505200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Nothing about releasing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mpcbColor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861197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Leakage and </a:t>
            </a:r>
            <a:br>
              <a:rPr lang="en-US" dirty="0"/>
            </a:br>
            <a:r>
              <a:rPr lang="en-US" dirty="0"/>
              <a:t>DirectX Debugging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At the start of InitDirect3D, we turned on the debug flag on our device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This allows us to use </a:t>
            </a:r>
            <a:r>
              <a:rPr lang="en-US" sz="2000" dirty="0" smtClean="0">
                <a:hlinkClick r:id="rId2"/>
              </a:rPr>
              <a:t>IDXGI’s ‘</a:t>
            </a:r>
            <a:r>
              <a:rPr lang="en-US" sz="2000" dirty="0" err="1" smtClean="0">
                <a:hlinkClick r:id="rId2"/>
              </a:rPr>
              <a:t>ReportLiveObjects</a:t>
            </a:r>
            <a:r>
              <a:rPr lang="en-US" sz="2000" dirty="0" smtClean="0">
                <a:hlinkClick r:id="rId2"/>
              </a:rPr>
              <a:t>’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It can be a bit unwieldly to use, so I wrapped it in a method for you: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676400"/>
            <a:ext cx="77724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B91AF"/>
                </a:solidFill>
                <a:latin typeface="Consolas"/>
              </a:rPr>
              <a:t>UINT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createDeviceFlags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r>
              <a:rPr lang="en-US" sz="1200" dirty="0">
                <a:solidFill>
                  <a:srgbClr val="808080"/>
                </a:solidFill>
                <a:latin typeface="Consolas"/>
              </a:rPr>
              <a:t>#</a:t>
            </a:r>
            <a:r>
              <a:rPr lang="en-US" sz="1200" dirty="0" err="1">
                <a:solidFill>
                  <a:srgbClr val="808080"/>
                </a:solidFill>
                <a:latin typeface="Consolas"/>
              </a:rPr>
              <a:t>ifdef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_DEBUG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createDeviceFlags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|= </a:t>
            </a:r>
            <a:r>
              <a:rPr lang="en-US" sz="1200" dirty="0">
                <a:solidFill>
                  <a:srgbClr val="2F4F4F"/>
                </a:solidFill>
                <a:latin typeface="Consolas"/>
              </a:rPr>
              <a:t>D3D11_CREATE_DEVICE_DEBUG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>
                <a:solidFill>
                  <a:srgbClr val="808080"/>
                </a:solidFill>
                <a:latin typeface="Consolas"/>
              </a:rPr>
              <a:t>#</a:t>
            </a:r>
            <a:r>
              <a:rPr lang="en-US" sz="1200" dirty="0" err="1" smtClean="0">
                <a:solidFill>
                  <a:srgbClr val="808080"/>
                </a:solidFill>
                <a:latin typeface="Consolas"/>
              </a:rPr>
              <a:t>endif</a:t>
            </a:r>
            <a:endParaRPr lang="en-US" sz="1200" dirty="0" smtClean="0">
              <a:solidFill>
                <a:srgbClr val="808080"/>
              </a:solidFill>
              <a:latin typeface="Consolas"/>
            </a:endParaRP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= D3D11CreateDevice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…,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createDeviceFlags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…,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&amp;md3dDevice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…, &amp;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md3dImmediateContext);</a:t>
            </a:r>
            <a:endParaRPr lang="en-US" sz="1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3886200"/>
            <a:ext cx="6705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// See </a:t>
            </a:r>
            <a:r>
              <a:rPr lang="en-US" sz="1200" dirty="0">
                <a:solidFill>
                  <a:srgbClr val="008000"/>
                </a:solidFill>
                <a:latin typeface="Consolas"/>
                <a:hlinkClick r:id="rId3"/>
              </a:rPr>
              <a:t>http://masterkenth.com/directx-leak-debugging</a:t>
            </a:r>
            <a:r>
              <a:rPr lang="en-US" sz="1200" dirty="0" smtClean="0">
                <a:solidFill>
                  <a:srgbClr val="008000"/>
                </a:solidFill>
                <a:latin typeface="Consolas"/>
                <a:hlinkClick r:id="rId3"/>
              </a:rPr>
              <a:t>/</a:t>
            </a:r>
            <a:endParaRPr lang="en-US" sz="12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ReportLiveDXObjects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>
                <a:solidFill>
                  <a:srgbClr val="808080"/>
                </a:solidFill>
                <a:latin typeface="Consolas"/>
              </a:rPr>
              <a:t>#</a:t>
            </a:r>
            <a:r>
              <a:rPr lang="en-US" sz="1200" dirty="0" err="1">
                <a:solidFill>
                  <a:srgbClr val="808080"/>
                </a:solidFill>
                <a:latin typeface="Consolas"/>
              </a:rPr>
              <a:t>ifdef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_DEBUG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   HRESULT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>
                <a:solidFill>
                  <a:srgbClr val="6F008A"/>
                </a:solidFill>
                <a:latin typeface="Consolas"/>
              </a:rPr>
              <a:t>S_OK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   ID3D11Debug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debugDev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= md3dDevice-&gt;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QueryInterface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__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uuidof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ID3D11Debug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                           </a:t>
            </a: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reinterpret_cast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**&gt;(&amp;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debugDev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debugDev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ReportLiveDeviceObjects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2F4F4F"/>
                </a:solidFill>
                <a:latin typeface="Consolas"/>
              </a:rPr>
              <a:t>D3D11_RLDO_DETAIL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debugDev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808080"/>
                </a:solidFill>
                <a:latin typeface="Consolas"/>
              </a:rPr>
              <a:t>#</a:t>
            </a:r>
            <a:r>
              <a:rPr lang="en-US" sz="1200" dirty="0" err="1">
                <a:solidFill>
                  <a:srgbClr val="808080"/>
                </a:solidFill>
                <a:latin typeface="Consolas"/>
              </a:rPr>
              <a:t>endif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6997003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Leakage and </a:t>
            </a:r>
            <a:br>
              <a:rPr lang="en-US" dirty="0"/>
            </a:br>
            <a:r>
              <a:rPr lang="en-US" dirty="0"/>
              <a:t>DirectX Debugging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Simply call this method just before releasing the device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On exit the output window will show details about the remaining references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Run the project again and look at the output window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61975" y="1600200"/>
            <a:ext cx="7029450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::~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DXApp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mpVertexShader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// &lt; other release calls… &gt;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Must be done BEFORE the device is released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ReportLiveDXObjects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200" dirty="0">
                <a:solidFill>
                  <a:srgbClr val="008000"/>
                </a:solidFill>
                <a:latin typeface="Consolas"/>
              </a:rPr>
              <a:t>// See </a:t>
            </a:r>
            <a:r>
              <a:rPr lang="en-US" sz="1200" dirty="0">
                <a:solidFill>
                  <a:srgbClr val="008000"/>
                </a:solidFill>
                <a:latin typeface="Consolas"/>
                <a:hlinkClick r:id="rId2"/>
              </a:rPr>
              <a:t>http://masterkenth.com/directx-leak-debugging</a:t>
            </a:r>
            <a:r>
              <a:rPr lang="en-US" sz="1200" dirty="0" smtClean="0">
                <a:solidFill>
                  <a:srgbClr val="008000"/>
                </a:solidFill>
                <a:latin typeface="Consolas"/>
                <a:hlinkClick r:id="rId2"/>
              </a:rPr>
              <a:t>/</a:t>
            </a:r>
            <a:endParaRPr lang="en-US" sz="1200" dirty="0" smtClean="0">
              <a:solidFill>
                <a:srgbClr val="008000"/>
              </a:solidFill>
              <a:latin typeface="Consolas"/>
            </a:endParaRPr>
          </a:p>
          <a:p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6F008A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6F008A"/>
                </a:solidFill>
                <a:latin typeface="Consolas"/>
              </a:rPr>
              <a:t>ReleaseAndDeleteCOMobject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(md3dDevice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0865992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Leakage and </a:t>
            </a:r>
            <a:br>
              <a:rPr lang="en-US" dirty="0"/>
            </a:br>
            <a:r>
              <a:rPr lang="en-US" dirty="0"/>
              <a:t>DirectX Debugging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219200"/>
            <a:ext cx="1005840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ID3D11Device at 0x005F0D8C,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4 [ STATE_CREATION WARNING #441: LIVE_DEVICE]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ID3D11Context at 0x03580078,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#2097226: LIVE_CONTEXT]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ID3DDeviceContextState at 0x04736528,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#3145742: LIVE_DEVICECONTEXTSTATE]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ID3D11BlendState at 0x0473D834,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#435: LIVE_BLENDSTATE]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ID3D11DepthStencilState at 0x0473DC3C,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#436: LIVE_DEPTHSTENCILSTATE]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ID3D11RasterizerState at 0x0473DD74,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#437: LIVE_RASTERIZERSTATE]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ID3D11Sampler at 0x0473DF44,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#434: LIVE_SAMPLER]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ID3D11Query at 0x0473E07C,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#438: LIVE_QUERY]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IDXGISwapChain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at 0x0473E1B8,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#442: LIVE_SWAPCHAIN]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ID3D11Texture2D at 0x0473E70C,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 [ STATE_CREATION WARNING #425: LIVE_TEXTURE2D]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ID3D11RenderTargetView at 0x0473EFE4,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#428: LIVE_RENDERTARGETVIEW]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ID3D11RasterizerState at 0x0473F21C,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#437: LIVE_RASTERIZERSTATE]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ID3D11VertexShader at 0x0473F604,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#430: LIVE_VERTEXSHADER]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ID3D11InputLayout at 0x04740E6C,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#433: LIVE_INPUTLAYOUT]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ID3D11PixelShader at 0x04743D6C,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#432: LIVE_PIXELSHADER]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ID3D11Buffer at 0x04746C44,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#423: LIVE_BUFFER]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ID3D11Buffer at 0x0474F214,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#423: LIVE_BUFFER]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D3D11 WARNING: Live ID3D11Buffer at 0x0474F8A4,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Refcount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1,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IntRef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 0 [ STATE_CREATION WARNING #423: LIVE_BUFFER]</a:t>
            </a:r>
            <a:endParaRPr lang="en-US" sz="10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1409700" y="4057708"/>
            <a:ext cx="1600200" cy="872520"/>
            <a:chOff x="1409700" y="4057708"/>
            <a:chExt cx="1600200" cy="872520"/>
          </a:xfrm>
        </p:grpSpPr>
        <p:sp>
          <p:nvSpPr>
            <p:cNvPr id="6" name="TextBox 5"/>
            <p:cNvSpPr txBox="1"/>
            <p:nvPr/>
          </p:nvSpPr>
          <p:spPr>
            <a:xfrm>
              <a:off x="1409700" y="4589709"/>
              <a:ext cx="16002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Type of DX object</a:t>
              </a:r>
            </a:p>
          </p:txBody>
        </p:sp>
        <p:cxnSp>
          <p:nvCxnSpPr>
            <p:cNvPr id="7" name="Elbow Connector 6"/>
            <p:cNvCxnSpPr>
              <a:stCxn id="6" idx="0"/>
              <a:endCxn id="16" idx="1"/>
            </p:cNvCxnSpPr>
            <p:nvPr/>
          </p:nvCxnSpPr>
          <p:spPr>
            <a:xfrm flipV="1">
              <a:off x="2209800" y="4257734"/>
              <a:ext cx="0" cy="33197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ight Brace 15"/>
            <p:cNvSpPr/>
            <p:nvPr/>
          </p:nvSpPr>
          <p:spPr>
            <a:xfrm rot="5400000">
              <a:off x="2109787" y="3700521"/>
              <a:ext cx="200025" cy="914400"/>
            </a:xfrm>
            <a:prstGeom prst="rightBrace">
              <a:avLst>
                <a:gd name="adj1" fmla="val 3333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733800" y="4057709"/>
            <a:ext cx="5257800" cy="1110883"/>
            <a:chOff x="3733800" y="4057709"/>
            <a:chExt cx="5257800" cy="1110883"/>
          </a:xfrm>
        </p:grpSpPr>
        <p:sp>
          <p:nvSpPr>
            <p:cNvPr id="15" name="TextBox 14"/>
            <p:cNvSpPr txBox="1"/>
            <p:nvPr/>
          </p:nvSpPr>
          <p:spPr>
            <a:xfrm>
              <a:off x="4724400" y="4351347"/>
              <a:ext cx="4267200" cy="817245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Remaining references to DX objects: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u="sng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RefCount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external links (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from </a:t>
              </a:r>
              <a:r>
                <a:rPr lang="en-US" sz="1400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your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application)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u="sng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IntRef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internal links (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internal to the GPU)</a:t>
              </a:r>
            </a:p>
          </p:txBody>
        </p:sp>
        <p:sp>
          <p:nvSpPr>
            <p:cNvPr id="19" name="Right Brace 18"/>
            <p:cNvSpPr/>
            <p:nvPr/>
          </p:nvSpPr>
          <p:spPr>
            <a:xfrm rot="5400000">
              <a:off x="4395787" y="3395722"/>
              <a:ext cx="200025" cy="1523999"/>
            </a:xfrm>
            <a:prstGeom prst="rightBrace">
              <a:avLst>
                <a:gd name="adj1" fmla="val 3333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Elbow Connector 6"/>
            <p:cNvCxnSpPr>
              <a:stCxn id="15" idx="1"/>
              <a:endCxn id="19" idx="1"/>
            </p:cNvCxnSpPr>
            <p:nvPr/>
          </p:nvCxnSpPr>
          <p:spPr>
            <a:xfrm rot="10800000">
              <a:off x="4495800" y="4257734"/>
              <a:ext cx="228601" cy="502236"/>
            </a:xfrm>
            <a:prstGeom prst="bentConnector4">
              <a:avLst>
                <a:gd name="adj1" fmla="val 28125"/>
                <a:gd name="adj2" fmla="val 116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24401" y="5257800"/>
            <a:ext cx="4038599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ignore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IntRef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all </a:t>
            </a:r>
            <a:r>
              <a:rPr lang="en-US" sz="14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RefCount</a:t>
            </a:r>
            <a:r>
              <a:rPr 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0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(except for Device since it hasn’t been released yet)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57200" y="3848099"/>
            <a:ext cx="7924800" cy="1973343"/>
            <a:chOff x="457200" y="3848099"/>
            <a:chExt cx="7924800" cy="1973343"/>
          </a:xfrm>
        </p:grpSpPr>
        <p:sp>
          <p:nvSpPr>
            <p:cNvPr id="35" name="Rounded Rectangle 34"/>
            <p:cNvSpPr/>
            <p:nvPr/>
          </p:nvSpPr>
          <p:spPr>
            <a:xfrm>
              <a:off x="1409700" y="3848099"/>
              <a:ext cx="6972300" cy="173831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  <a:effectLst>
              <a:glow rad="88900">
                <a:srgbClr val="FFFF00">
                  <a:alpha val="6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7200" y="5242560"/>
              <a:ext cx="3695700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line show we have a dangling ID311Buffer somewhere in our application</a:t>
              </a:r>
              <a:endParaRPr lang="en-US" sz="1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Elbow Connector 6"/>
            <p:cNvCxnSpPr>
              <a:stCxn id="36" idx="1"/>
              <a:endCxn id="35" idx="1"/>
            </p:cNvCxnSpPr>
            <p:nvPr/>
          </p:nvCxnSpPr>
          <p:spPr>
            <a:xfrm rot="10800000" flipH="1">
              <a:off x="457200" y="3935015"/>
              <a:ext cx="952500" cy="1596986"/>
            </a:xfrm>
            <a:prstGeom prst="bentConnector3">
              <a:avLst>
                <a:gd name="adj1" fmla="val -24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61625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6:</a:t>
            </a:r>
          </a:p>
          <a:p>
            <a:r>
              <a:rPr lang="en-US" dirty="0" smtClean="0"/>
              <a:t>Can we do 3D already?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93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3D </a:t>
            </a:r>
            <a:r>
              <a:rPr lang="en-US" dirty="0" smtClean="0"/>
              <a:t>Finally?</a:t>
            </a:r>
            <a:br>
              <a:rPr lang="en-US" dirty="0" smtClean="0"/>
            </a:br>
            <a:r>
              <a:rPr lang="en-US" dirty="0" smtClean="0"/>
              <a:t>Almost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What do we need extra to get a 3D shape?</a:t>
            </a:r>
          </a:p>
          <a:p>
            <a:pPr marL="457200" lvl="1" indent="0">
              <a:buNone/>
            </a:pPr>
            <a:r>
              <a:rPr lang="en-US" sz="1600" b="1" dirty="0" smtClean="0"/>
              <a:t>Ex: </a:t>
            </a:r>
            <a:r>
              <a:rPr lang="en-US" sz="1600" i="1" dirty="0" smtClean="0"/>
              <a:t>rotating pyramid or </a:t>
            </a:r>
            <a:r>
              <a:rPr lang="en-US" sz="1600" i="1" dirty="0" smtClean="0">
                <a:hlinkClick r:id="rId2"/>
              </a:rPr>
              <a:t>spinning cube</a:t>
            </a:r>
            <a:r>
              <a:rPr lang="en-US" sz="1600" i="1" dirty="0" smtClean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A 3D model </a:t>
            </a:r>
          </a:p>
          <a:p>
            <a:pPr marL="1089025" lvl="2" indent="0">
              <a:spcBef>
                <a:spcPts val="0"/>
              </a:spcBef>
              <a:buNone/>
            </a:pPr>
            <a:r>
              <a:rPr lang="en-US" b="1" i="1" dirty="0" smtClean="0"/>
              <a:t>Ex: </a:t>
            </a:r>
            <a:r>
              <a:rPr lang="en-US" i="1" dirty="0" smtClean="0"/>
              <a:t>4-sided pyramid. how many verts? </a:t>
            </a:r>
            <a:r>
              <a:rPr lang="en-US" i="1" dirty="0" err="1" smtClean="0"/>
              <a:t>Tris</a:t>
            </a:r>
            <a:r>
              <a:rPr lang="en-US" i="1" dirty="0" smtClean="0"/>
              <a:t>?</a:t>
            </a:r>
            <a:endParaRPr lang="en-US" sz="1600" i="1" dirty="0" smtClean="0"/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World matrix to place the cube in world space</a:t>
            </a:r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Camera matrices to convert from World to NDC (view and perspective)</a:t>
            </a:r>
          </a:p>
          <a:p>
            <a:pPr marL="684213" lvl="1" indent="-227013">
              <a:spcBef>
                <a:spcPts val="0"/>
              </a:spcBef>
              <a:buFont typeface="+mj-lt"/>
              <a:buAutoNum type="arabicPeriod"/>
            </a:pPr>
            <a:r>
              <a:rPr lang="en-US" sz="1800" dirty="0" smtClean="0"/>
              <a:t>Passing those matrices to the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 (more constant buffers)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Creating a 3D model isn’t too difficult (next slide)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Matrices: Those will require need some explanations: In particular</a:t>
            </a:r>
          </a:p>
          <a:p>
            <a:pPr marL="461963" lvl="1" indent="-188913"/>
            <a:r>
              <a:rPr lang="en-US" sz="1800" dirty="0" smtClean="0"/>
              <a:t>Available methods</a:t>
            </a:r>
          </a:p>
          <a:p>
            <a:pPr marL="461963" lvl="1" indent="-188913"/>
            <a:r>
              <a:rPr lang="en-US" sz="1800" dirty="0" smtClean="0"/>
              <a:t>Row vs column major</a:t>
            </a:r>
            <a:endParaRPr lang="en-US" sz="1800" dirty="0"/>
          </a:p>
        </p:txBody>
      </p:sp>
      <p:pic>
        <p:nvPicPr>
          <p:cNvPr id="1026" name="Picture 2" descr="Image result for rotating cube animated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222029"/>
            <a:ext cx="13335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otating pyramid animated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26556"/>
            <a:ext cx="1783250" cy="125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155" y="4343400"/>
            <a:ext cx="1306286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27329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3D Colored Pyramid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Let’s create a simple colored, 4-sided pyramid</a:t>
            </a:r>
            <a:endParaRPr 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1"/>
            <a:ext cx="217714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0123" y="2971800"/>
            <a:ext cx="51054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vertices[]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( 0.0f,  1.0f,  0.0f), Colors::Lime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(-1.0f, -1.0f, -1.0f), Colors::Black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(+1.0f, -1.0f, -1.0f), Colors::Red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(+1.0f, -1.0f, +1.0f), Colors::Magenta },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(-1.0f, -1.0f, +1.0f), Colors::Blue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D3D11_BUFFER_DESC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5;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   &lt;=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adjust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!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D3D11_BIND_VERTEX_BUFFER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D3D11_SUBRESOURCE_DATA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6F008A"/>
                </a:solidFill>
                <a:latin typeface="Consolas"/>
              </a:rPr>
              <a:t>ZeroMemory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vertices;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mpVertexBuffer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4300" y="3124200"/>
            <a:ext cx="5105400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indices[] =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2, 1,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back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4, 3, </a:t>
            </a:r>
            <a:r>
              <a:rPr lang="fr-FR" sz="1100" dirty="0">
                <a:solidFill>
                  <a:srgbClr val="008000"/>
                </a:solidFill>
                <a:latin typeface="Consolas"/>
              </a:rPr>
              <a:t>// front </a:t>
            </a:r>
            <a:r>
              <a:rPr lang="fr-FR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3, 2,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left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0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1, 4,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right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2, 3,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bottom faces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1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3, 4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bd.Usage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D3D11_USAGE_DEFAULT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bd.ByteWidth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WORD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3 * 6;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3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indices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for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6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tris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bd.BindFlags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D3D11_BIND_INDEX_BUFFER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bd.CPUAccessFlags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0;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InitData.pSysMem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indices;</a:t>
            </a: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hr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md3dDevice-&gt;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CreateBuffer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bd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mpIndexBuffer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1704654"/>
            <a:ext cx="28956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now, we’ll be using vertices in format: position + color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6832" y="1704653"/>
            <a:ext cx="2071735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SimpleVertex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b="1" dirty="0"/>
          </a:p>
        </p:txBody>
      </p:sp>
      <p:grpSp>
        <p:nvGrpSpPr>
          <p:cNvPr id="2052" name="Group 2051"/>
          <p:cNvGrpSpPr/>
          <p:nvPr/>
        </p:nvGrpSpPr>
        <p:grpSpPr>
          <a:xfrm>
            <a:off x="6680200" y="1447800"/>
            <a:ext cx="1854202" cy="1273969"/>
            <a:chOff x="6680200" y="1447800"/>
            <a:chExt cx="1854202" cy="1273969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705600" y="1447800"/>
              <a:ext cx="859971" cy="11430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 flipV="1">
              <a:off x="7565571" y="1447800"/>
              <a:ext cx="968830" cy="11430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7416800" y="2387600"/>
              <a:ext cx="1117601" cy="2032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680200" y="2387600"/>
              <a:ext cx="736600" cy="225425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6705600" y="2613027"/>
              <a:ext cx="931069" cy="108742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7636669" y="2590800"/>
              <a:ext cx="897733" cy="128588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6705601" y="2590800"/>
              <a:ext cx="1828799" cy="22226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7416800" y="1447800"/>
              <a:ext cx="148771" cy="939800"/>
            </a:xfrm>
            <a:prstGeom prst="line">
              <a:avLst/>
            </a:prstGeom>
            <a:ln w="254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87971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  <p:bldP spid="8" grpId="0" animBg="1"/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7:</a:t>
            </a:r>
          </a:p>
          <a:p>
            <a:r>
              <a:rPr lang="en-US" dirty="0" smtClean="0"/>
              <a:t>Matrix and </a:t>
            </a:r>
            <a:r>
              <a:rPr lang="en-US" dirty="0" err="1" smtClean="0"/>
              <a:t>Vect</a:t>
            </a:r>
            <a:r>
              <a:rPr lang="en-US" dirty="0" smtClean="0"/>
              <a:t> classes and HSLS matrices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781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and Vector Classes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Our applications will be using the </a:t>
            </a:r>
            <a:r>
              <a:rPr lang="en-US" sz="2000" dirty="0" smtClean="0">
                <a:latin typeface="Lucida Sans" panose="020B0602030504020204" pitchFamily="34" charset="0"/>
              </a:rPr>
              <a:t>Matrix</a:t>
            </a:r>
            <a:r>
              <a:rPr lang="en-US" sz="2000" dirty="0" smtClean="0"/>
              <a:t> and </a:t>
            </a:r>
            <a:r>
              <a:rPr lang="en-US" sz="2000" dirty="0" err="1" smtClean="0">
                <a:latin typeface="Lucida Sans" panose="020B0602030504020204" pitchFamily="34" charset="0"/>
              </a:rPr>
              <a:t>Vect</a:t>
            </a:r>
            <a:r>
              <a:rPr lang="en-US" sz="2000" dirty="0" smtClean="0"/>
              <a:t> classes taken from the same AZUL package you’ll use in other courses</a:t>
            </a:r>
          </a:p>
          <a:p>
            <a:pPr marL="0" indent="0">
              <a:buNone/>
            </a:pPr>
            <a:r>
              <a:rPr lang="en-US" sz="2000" dirty="0" smtClean="0"/>
              <a:t>Why?</a:t>
            </a:r>
          </a:p>
          <a:p>
            <a:pPr marL="461963" lvl="1" indent="-188913"/>
            <a:r>
              <a:rPr lang="en-US" sz="1800" dirty="0" smtClean="0"/>
              <a:t>You’ll be using those classes in other courses anyway</a:t>
            </a:r>
          </a:p>
          <a:p>
            <a:pPr marL="461963" lvl="1" indent="-188913"/>
            <a:r>
              <a:rPr lang="en-US" sz="1800" dirty="0" smtClean="0"/>
              <a:t>They offer all the functionality we’d want for linear algebra operations</a:t>
            </a:r>
          </a:p>
          <a:p>
            <a:pPr marL="461963" lvl="1" indent="-188913"/>
            <a:r>
              <a:rPr lang="en-US" sz="1800" dirty="0" smtClean="0"/>
              <a:t>Already optimized for SIMD (though we don’t really </a:t>
            </a:r>
            <a:r>
              <a:rPr lang="en-US" sz="1800" dirty="0" smtClean="0"/>
              <a:t>use it</a:t>
            </a:r>
            <a:r>
              <a:rPr lang="en-US" sz="1800" dirty="0" smtClean="0"/>
              <a:t>, it’s nice to have)</a:t>
            </a:r>
          </a:p>
          <a:p>
            <a:pPr marL="461963" lvl="1" indent="-188913"/>
            <a:r>
              <a:rPr lang="en-US" sz="1800" dirty="0" smtClean="0"/>
              <a:t>I want to make it clear that you do NOT need </a:t>
            </a:r>
            <a:r>
              <a:rPr lang="en-US" sz="1800" dirty="0" err="1" smtClean="0"/>
              <a:t>DirectXMath</a:t>
            </a:r>
            <a:r>
              <a:rPr lang="en-US" sz="1800" dirty="0" smtClean="0"/>
              <a:t> to work with DirectX</a:t>
            </a:r>
          </a:p>
          <a:p>
            <a:pPr marL="627063" lvl="2" indent="0">
              <a:buNone/>
            </a:pPr>
            <a:r>
              <a:rPr lang="en-US" i="1" dirty="0" smtClean="0"/>
              <a:t>Yet another aspect not clearly stated in most DX demos (or OpenGL demos for that matter)</a:t>
            </a:r>
          </a:p>
          <a:p>
            <a:pPr marL="627063" lvl="2" indent="0">
              <a:buNone/>
            </a:pPr>
            <a:endParaRPr lang="en-US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4648200"/>
            <a:ext cx="6629400" cy="102155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everyone is familiar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linear algebra (covered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GAM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324/425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 here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merely a review of the syntax of the most common operations we’ll need.</a:t>
            </a:r>
          </a:p>
        </p:txBody>
      </p:sp>
    </p:spTree>
    <p:extLst>
      <p:ext uri="{BB962C8B-B14F-4D97-AF65-F5344CB8AC3E}">
        <p14:creationId xmlns:p14="http://schemas.microsoft.com/office/powerpoint/2010/main" val="277278188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Vect</a:t>
            </a:r>
            <a:r>
              <a:rPr lang="en-US" dirty="0" smtClean="0"/>
              <a:t> Common Functions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Using Visual Studio, I definitely recommend you explore </a:t>
            </a:r>
            <a:r>
              <a:rPr lang="en-US" sz="2000" dirty="0" err="1" smtClean="0"/>
              <a:t>Vect.h</a:t>
            </a:r>
            <a:r>
              <a:rPr lang="en-US" sz="2000" dirty="0" smtClean="0"/>
              <a:t>, but here are some of the more common functions and operations: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Constructors: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Common Methods: Given a vector v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4346" y="2467824"/>
            <a:ext cx="7734678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x, y, z, w</a:t>
            </a:r>
            <a:r>
              <a:rPr lang="en-US" sz="1100" dirty="0" smtClean="0">
                <a:latin typeface="Consolas"/>
              </a:rPr>
              <a:t>);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 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a 4-dim vector with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coords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x,y,z,w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)</a:t>
            </a:r>
          </a:p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x, y, 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z);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As above, but w=0: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x, y, z, 1) 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a point)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346" y="3650676"/>
            <a:ext cx="773467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the x component (similarly with Y(), Z() and W().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[x];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x component (similarly with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[y], [z]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[w]. )</a:t>
            </a: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v.norm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normalize (length 1) v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changes v)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v.getNorm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a normalize version of v (v is left unchanged)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v.mag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the magnitude (length) of v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v.magSqr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returns the square magnitude (length) of v</a:t>
            </a:r>
          </a:p>
          <a:p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v.dot(u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dot product of u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v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v.cross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	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cross product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u and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v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v.getAngle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(u);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angle (in radians) between u and v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3597737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Common Functions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Using Visual Studio, I definitely recommend you explore </a:t>
            </a:r>
            <a:r>
              <a:rPr lang="en-US" sz="2000" dirty="0" err="1" smtClean="0"/>
              <a:t>Matrix.h</a:t>
            </a:r>
            <a:r>
              <a:rPr lang="en-US" sz="2000" dirty="0" smtClean="0"/>
              <a:t>, but here are some of the more common functions and operations: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Constructors: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Common Methods: Given a Matrix 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24346" y="2467824"/>
            <a:ext cx="7734678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	 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Returns a 4x4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identify matrix</a:t>
            </a: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Scale matrix using these scaling factors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tx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ty,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tz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Translation matrix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using these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offset values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Rotation about world axis by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in radians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2F4F4F"/>
                </a:solidFill>
                <a:latin typeface="Consolas"/>
              </a:rPr>
              <a:t>ROT_Z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ROT_AXIS_ANGLE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axis,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ang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Rotation about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arbitrary axis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by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ang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in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radian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ROT_ORIENT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fwd_axis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up_axis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Rotation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aligned with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fwd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(z) and up (y)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346" y="4437211"/>
            <a:ext cx="7734678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M.T();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Transpose M (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: changes M)</a:t>
            </a: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M.getT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a Transpose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 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M itself is left unchanged)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Inverts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M 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change M)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M.getInv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the inverse of M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ie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: M itself is left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unchanged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)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5410200"/>
            <a:ext cx="7772400" cy="1157764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matrix class is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 major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LASR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the opposite of what we covered in GAM 325/425. Makes sure to properly transpose your operations!</a:t>
            </a:r>
          </a:p>
          <a:p>
            <a:pPr marL="78423" indent="0" algn="ctr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indent="0" algn="ctr">
              <a:buNone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way: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DirectXMath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row major</a:t>
            </a:r>
          </a:p>
        </p:txBody>
      </p:sp>
    </p:spTree>
    <p:extLst>
      <p:ext uri="{BB962C8B-B14F-4D97-AF65-F5344CB8AC3E}">
        <p14:creationId xmlns:p14="http://schemas.microsoft.com/office/powerpoint/2010/main" val="180254581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HLSL Vectors and Matrices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As </a:t>
            </a:r>
            <a:r>
              <a:rPr lang="en-US" sz="2000" dirty="0" smtClean="0">
                <a:hlinkClick r:id="rId2" action="ppaction://hlinksldjump"/>
              </a:rPr>
              <a:t>we saw earlier</a:t>
            </a:r>
            <a:r>
              <a:rPr lang="en-US" sz="2000" dirty="0" smtClean="0"/>
              <a:t>, HLSL vectors and matrices are declared as follow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Common Operations: (many, many more… see </a:t>
            </a:r>
            <a:r>
              <a:rPr lang="en-US" sz="2000" dirty="0" smtClean="0">
                <a:hlinkClick r:id="rId3"/>
              </a:rPr>
              <a:t>full list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96431" y="1676400"/>
            <a:ext cx="460896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A 4 dim vector of floats</a:t>
            </a:r>
          </a:p>
          <a:p>
            <a:pPr lvl="0"/>
            <a:r>
              <a:rPr lang="en-US" sz="1100" dirty="0">
                <a:solidFill>
                  <a:srgbClr val="0000FF"/>
                </a:solidFill>
                <a:latin typeface="Consolas"/>
              </a:rPr>
              <a:t>float4x4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A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4x4 matrix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floats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6431" y="2532706"/>
            <a:ext cx="6361569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/>
              <a:t>mul</a:t>
            </a:r>
            <a:r>
              <a:rPr lang="en-US" sz="1100" dirty="0"/>
              <a:t>( </a:t>
            </a:r>
            <a:r>
              <a:rPr lang="en-US" sz="1100" dirty="0" smtClean="0"/>
              <a:t>x,  y )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multiplies x, y whatever they are, in that order. See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  <a:hlinkClick r:id="rId4"/>
              </a:rPr>
              <a:t>HLSL/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  <a:hlinkClick r:id="rId4"/>
              </a:rPr>
              <a:t>mul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/>
              <a:t>dot( u,  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returns the dot product of u and v </a:t>
            </a:r>
          </a:p>
          <a:p>
            <a:r>
              <a:rPr lang="en-US" sz="1100" dirty="0" smtClean="0"/>
              <a:t>cross( </a:t>
            </a:r>
            <a:r>
              <a:rPr lang="en-US" sz="1100" dirty="0"/>
              <a:t>u,  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cross product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of u and v </a:t>
            </a:r>
          </a:p>
          <a:p>
            <a:r>
              <a:rPr lang="en-US" sz="1100" dirty="0" smtClean="0"/>
              <a:t>length(  </a:t>
            </a:r>
            <a:r>
              <a:rPr lang="en-US" sz="1100" dirty="0"/>
              <a:t>v )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length of v 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/>
              <a:t>transpose( M )</a:t>
            </a:r>
            <a:r>
              <a:rPr lang="en-US" sz="1100" dirty="0"/>
              <a:t>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returns the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transpose of M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6431" y="3657600"/>
            <a:ext cx="7772400" cy="238363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8423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HLSL defaults to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column-major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78423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our row-major matrices to HLSL will require some changes.</a:t>
            </a:r>
          </a:p>
          <a:p>
            <a:pPr marL="78423" indent="0" algn="ctr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this: HLSL and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DirectXMath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were created more or less together yet they chose different matrix standards…</a:t>
            </a:r>
          </a:p>
          <a:p>
            <a:pPr marL="78423" algn="ctr"/>
            <a:endParaRPr lang="en-US" sz="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links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xboxforums.create.msdn.com/forums/t/112276.aspx</a:t>
            </a:r>
            <a:endParaRPr lang="en-US" sz="1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3"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https://msdn.microsoft.com/en-us/library/windows/desktop/ff729728(v=vs.85).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aspx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01313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8:</a:t>
            </a:r>
          </a:p>
          <a:p>
            <a:r>
              <a:rPr lang="en-US" dirty="0" smtClean="0"/>
              <a:t>Camera Matrices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1304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Camera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Camera class: holder/constructor for the View and Projection matrices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458200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privUpdateProjectionMatrix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float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d = 1 /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tanf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fovy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/2);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d /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aspectRatio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d;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m6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m7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m8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m9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 / 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-1.0f; 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(-2.0f *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 / 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nearDist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Converting from OpenGL-style NDC of [-1,1] to DX's [0,1].  See note: </a:t>
            </a:r>
            <a:r>
              <a:rPr lang="en-US" sz="1000" dirty="0">
                <a:solidFill>
                  <a:srgbClr val="008000"/>
                </a:solidFill>
                <a:latin typeface="Consolas"/>
                <a:hlinkClick r:id="rId2"/>
              </a:rPr>
              <a:t>https://anteru.net/blog/2011/12/27/1830</a:t>
            </a:r>
            <a:r>
              <a:rPr lang="en-US" sz="1000" dirty="0" smtClean="0">
                <a:solidFill>
                  <a:srgbClr val="008000"/>
                </a:solidFill>
                <a:latin typeface="Consolas"/>
                <a:hlinkClick r:id="rId2"/>
              </a:rPr>
              <a:t>/</a:t>
            </a:r>
            <a:endParaRPr lang="en-US" sz="10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(Note: 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NDCConvert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 should be precomputed once and stored for reuse)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fr-FR" sz="10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fr-FR" sz="10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 B(</a:t>
            </a:r>
            <a:r>
              <a:rPr lang="fr-FR" sz="10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, 0, 0, 1.0f);</a:t>
            </a:r>
          </a:p>
          <a:p>
            <a:r>
              <a:rPr lang="fr-FR" sz="10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fr-FR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S(</a:t>
            </a:r>
            <a:r>
              <a:rPr lang="fr-FR" sz="10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fr-FR" sz="1000" dirty="0">
                <a:solidFill>
                  <a:srgbClr val="000000"/>
                </a:solidFill>
                <a:latin typeface="Consolas"/>
              </a:rPr>
              <a:t>, 1, 1, 0.5f);</a:t>
            </a: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 Matrix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NDCConvert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B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S;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projMatrix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NDCConvert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25002" y="76200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(See also </a:t>
            </a:r>
            <a:r>
              <a:rPr lang="en-US" i="1" dirty="0">
                <a:hlinkClick r:id="rId3"/>
              </a:rPr>
              <a:t>GAM 324/425</a:t>
            </a:r>
            <a:r>
              <a:rPr lang="en-US" i="1" dirty="0"/>
              <a:t>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2200"/>
            <a:ext cx="3781425" cy="1400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56156" y="2043820"/>
            <a:ext cx="3429000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Transposing,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we are row-major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754" y="5638800"/>
                <a:ext cx="3429000" cy="318380"/>
              </a:xfrm>
              <a:prstGeom prst="roundRect">
                <a:avLst/>
              </a:prstGeom>
              <a:solidFill>
                <a:srgbClr val="FFFF66"/>
              </a:solidFill>
              <a:ln w="25400">
                <a:solidFill>
                  <a:srgbClr val="FF0000"/>
                </a:solidFill>
              </a:ln>
            </p:spPr>
            <p:txBody>
              <a:bodyPr wrap="square" tIns="0" rIns="91440" bIns="0" rtlCol="0">
                <a:noAutofit/>
              </a:bodyPr>
              <a:lstStyle/>
              <a:p>
                <a:r>
                  <a:rPr 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Needed to rescale the NDC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/>
                          </a:rPr>
                          <m:t>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/>
                          </a:rPr>
                          <m:t>persp</m:t>
                        </m:r>
                      </m:sub>
                    </m:sSub>
                  </m:oMath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754" y="5638800"/>
                <a:ext cx="3429000" cy="318380"/>
              </a:xfrm>
              <a:prstGeom prst="roundRect">
                <a:avLst/>
              </a:prstGeom>
              <a:blipFill rotWithShape="1">
                <a:blip r:embed="rId5"/>
                <a:stretch>
                  <a:fillRect l="-176" t="-10714" b="-16071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21997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Camera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Camera class: holder/constructor for the View and Projection matrices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458200" cy="363176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privUpdateViewMatrix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m6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m7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m8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m9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m10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z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0.0f;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Apply 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R^t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( -</a:t>
            </a:r>
            <a:r>
              <a:rPr lang="en-US" sz="1000" dirty="0" err="1">
                <a:solidFill>
                  <a:srgbClr val="008000"/>
                </a:solidFill>
                <a:latin typeface="Consolas"/>
              </a:rPr>
              <a:t>Pos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 ). Use dot-product with the basis vectors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m12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vRight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vUp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m14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-vPos.dot(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vDir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/>
              </a:rPr>
              <a:t>   this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viewMatrix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m15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= 1.0f;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5002" y="76200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(See also </a:t>
            </a:r>
            <a:r>
              <a:rPr lang="en-US" i="1" dirty="0">
                <a:hlinkClick r:id="rId2"/>
              </a:rPr>
              <a:t>GAM 324/425</a:t>
            </a:r>
            <a:r>
              <a:rPr lang="en-US" i="1" dirty="0"/>
              <a:t>)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599"/>
            <a:ext cx="5075562" cy="11807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34000" y="2958220"/>
            <a:ext cx="3429000" cy="31838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rIns="91440" bIns="0" rtlCol="0"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Transposing,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we are row-major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2820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DXApp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Putting all this knowledge about matrices and camera together in the </a:t>
            </a:r>
            <a:r>
              <a:rPr lang="en-US" sz="2000" dirty="0" err="1" smtClean="0"/>
              <a:t>DXApp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But how do we send all this to the GPU to be used by the render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646987"/>
            <a:ext cx="16002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DXApp.h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file</a:t>
            </a:r>
            <a:endParaRPr lang="en-US" sz="1100" dirty="0" smtClean="0">
              <a:solidFill>
                <a:srgbClr val="2B91AF"/>
              </a:solidFill>
              <a:latin typeface="Consolas"/>
            </a:endParaRPr>
          </a:p>
          <a:p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057400" y="1667357"/>
            <a:ext cx="6553200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DXApp.cpp file</a:t>
            </a:r>
          </a:p>
          <a:p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 … &gt;</a:t>
            </a:r>
            <a:endParaRPr lang="en-US" sz="1100" dirty="0">
              <a:solidFill>
                <a:srgbClr val="2B91AF"/>
              </a:solidFill>
              <a:latin typeface="Consolas"/>
            </a:endParaRPr>
          </a:p>
          <a:p>
            <a:r>
              <a:rPr lang="en-US" sz="1100" dirty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endParaRPr lang="en-US" sz="1100" dirty="0">
              <a:solidFill>
                <a:srgbClr val="008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Initialize the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worldmat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Initialize the projection matrix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mCam.setPerspective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(45,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mClientWidth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/ (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mClientHeight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1.0f, 1000.0f);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87578" y="3597389"/>
            <a:ext cx="6553200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mWorld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.0001f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Simple slow rotation about y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axis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Build the view matrix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. (using gimmicky click drag trick)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target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up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1, 0, 0);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-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mRadius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mTheta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ROT_X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mPhi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mCam.setOrientAndPosition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(up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target,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mCam.updateCamera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2350274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9:</a:t>
            </a:r>
          </a:p>
          <a:p>
            <a:r>
              <a:rPr lang="en-US" dirty="0" smtClean="0"/>
              <a:t>Yes, </a:t>
            </a:r>
            <a:r>
              <a:rPr lang="en-US" u="sng" dirty="0" smtClean="0"/>
              <a:t>Now</a:t>
            </a:r>
            <a:r>
              <a:rPr lang="en-US" dirty="0" smtClean="0"/>
              <a:t> we can do 3D…</a:t>
            </a:r>
          </a:p>
          <a:p>
            <a:endParaRPr lang="en-US" dirty="0"/>
          </a:p>
          <a:p>
            <a:r>
              <a:rPr lang="en-US" i="1" dirty="0" smtClean="0"/>
              <a:t>But it’ll have to wait next week…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027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5932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33132</TotalTime>
  <Words>7757</Words>
  <Application>Microsoft Office PowerPoint</Application>
  <PresentationFormat>On-screen Show (4:3)</PresentationFormat>
  <Paragraphs>1567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Origin</vt:lpstr>
      <vt:lpstr>GAM 370/470:  Rendering and Graphics Programming</vt:lpstr>
      <vt:lpstr>PowerPoint Presentation</vt:lpstr>
      <vt:lpstr>Updated New-New Diagram</vt:lpstr>
      <vt:lpstr>Recap: Rendering Pipeline</vt:lpstr>
      <vt:lpstr>Recap: Rendering</vt:lpstr>
      <vt:lpstr>PowerPoint Presentation</vt:lpstr>
      <vt:lpstr>High Level Shading Language  (HLSL )</vt:lpstr>
      <vt:lpstr>HLSL Semantics</vt:lpstr>
      <vt:lpstr>System Value Semantics</vt:lpstr>
      <vt:lpstr>Shaders Input and Output</vt:lpstr>
      <vt:lpstr>Understanding SimpleColor Shader</vt:lpstr>
      <vt:lpstr>Loading and Compiling Shaders</vt:lpstr>
      <vt:lpstr>Loading and Compiling Shaders</vt:lpstr>
      <vt:lpstr>Loading and Compiling Shaders</vt:lpstr>
      <vt:lpstr>New Diagram Yet Again</vt:lpstr>
      <vt:lpstr>Visualizing the Rendering Pipeline</vt:lpstr>
      <vt:lpstr>Warning!  Be Careful Reading Shader Code!</vt:lpstr>
      <vt:lpstr>Warning!  Be Careful Reading Shader Code!</vt:lpstr>
      <vt:lpstr>PowerPoint Presentation</vt:lpstr>
      <vt:lpstr>Adding Some Color Control</vt:lpstr>
      <vt:lpstr>Adding Color Control: To Do List</vt:lpstr>
      <vt:lpstr>Vertex Buffer Changes</vt:lpstr>
      <vt:lpstr>New Shader Code: SimpleColorPlus</vt:lpstr>
      <vt:lpstr>Coming Back to Input Layout</vt:lpstr>
      <vt:lpstr>Input Layout: Before (Yellow Triangle)</vt:lpstr>
      <vt:lpstr>Input Layout: Now (Color-per-vertex Triangle)</vt:lpstr>
      <vt:lpstr>Input Layout: Aligned Byte Offset (future example)</vt:lpstr>
      <vt:lpstr>Back to SimpleColorPlus</vt:lpstr>
      <vt:lpstr>Back to SimpleColorPlus:  Rasterizing Stage</vt:lpstr>
      <vt:lpstr>Back to SimpleColorPlus:  Rasterizing Stage</vt:lpstr>
      <vt:lpstr>Vertex Attribute Interpolation</vt:lpstr>
      <vt:lpstr>Color Control</vt:lpstr>
      <vt:lpstr>Color Control</vt:lpstr>
      <vt:lpstr>PowerPoint Presentation</vt:lpstr>
      <vt:lpstr>Dynamic Color Control</vt:lpstr>
      <vt:lpstr>Constant Buffers and  Shader Constants</vt:lpstr>
      <vt:lpstr>Creating a Constant Buffer</vt:lpstr>
      <vt:lpstr>Creating a Constant Buffer</vt:lpstr>
      <vt:lpstr>Creating a Constant Buffer</vt:lpstr>
      <vt:lpstr>Something Went Wrong</vt:lpstr>
      <vt:lpstr>PowerPoint Presentation</vt:lpstr>
      <vt:lpstr>Something Went Wrong</vt:lpstr>
      <vt:lpstr>Memory Leakage and  DirectX Debugging</vt:lpstr>
      <vt:lpstr>Memory Leakage and  DirectX Debugging</vt:lpstr>
      <vt:lpstr>Memory Leakage and  DirectX Debugging</vt:lpstr>
      <vt:lpstr>PowerPoint Presentation</vt:lpstr>
      <vt:lpstr>Moving to 3D Finally? Almost</vt:lpstr>
      <vt:lpstr>A 3D Colored Pyramid</vt:lpstr>
      <vt:lpstr>PowerPoint Presentation</vt:lpstr>
      <vt:lpstr>Matrix and Vector Classes</vt:lpstr>
      <vt:lpstr>Vect Common Functions</vt:lpstr>
      <vt:lpstr>Matrix Common Functions</vt:lpstr>
      <vt:lpstr>HLSL Vectors and Matrices</vt:lpstr>
      <vt:lpstr>PowerPoint Presentation</vt:lpstr>
      <vt:lpstr>Camera Class</vt:lpstr>
      <vt:lpstr>Camera Class</vt:lpstr>
      <vt:lpstr>DXApp Demo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941</cp:revision>
  <dcterms:created xsi:type="dcterms:W3CDTF">2013-03-17T23:02:21Z</dcterms:created>
  <dcterms:modified xsi:type="dcterms:W3CDTF">2018-01-10T23:30:50Z</dcterms:modified>
</cp:coreProperties>
</file>