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123"/>
  </p:notesMasterIdLst>
  <p:handoutMasterIdLst>
    <p:handoutMasterId r:id="rId124"/>
  </p:handoutMasterIdLst>
  <p:sldIdLst>
    <p:sldId id="542" r:id="rId3"/>
    <p:sldId id="1988" r:id="rId4"/>
    <p:sldId id="2120" r:id="rId5"/>
    <p:sldId id="2121" r:id="rId6"/>
    <p:sldId id="2058" r:id="rId7"/>
    <p:sldId id="2059" r:id="rId8"/>
    <p:sldId id="2060" r:id="rId9"/>
    <p:sldId id="2061" r:id="rId10"/>
    <p:sldId id="2062" r:id="rId11"/>
    <p:sldId id="2063" r:id="rId12"/>
    <p:sldId id="2064" r:id="rId13"/>
    <p:sldId id="2065" r:id="rId14"/>
    <p:sldId id="2066" r:id="rId15"/>
    <p:sldId id="2067" r:id="rId16"/>
    <p:sldId id="2068" r:id="rId17"/>
    <p:sldId id="2069" r:id="rId18"/>
    <p:sldId id="2070" r:id="rId19"/>
    <p:sldId id="2071" r:id="rId20"/>
    <p:sldId id="2072" r:id="rId21"/>
    <p:sldId id="2073" r:id="rId22"/>
    <p:sldId id="2074" r:id="rId23"/>
    <p:sldId id="2075" r:id="rId24"/>
    <p:sldId id="2076" r:id="rId25"/>
    <p:sldId id="2077" r:id="rId26"/>
    <p:sldId id="2078" r:id="rId27"/>
    <p:sldId id="2079" r:id="rId28"/>
    <p:sldId id="2080" r:id="rId29"/>
    <p:sldId id="2081" r:id="rId30"/>
    <p:sldId id="2082" r:id="rId31"/>
    <p:sldId id="2083" r:id="rId32"/>
    <p:sldId id="2084" r:id="rId33"/>
    <p:sldId id="2175" r:id="rId34"/>
    <p:sldId id="2085" r:id="rId35"/>
    <p:sldId id="2086" r:id="rId36"/>
    <p:sldId id="2087" r:id="rId37"/>
    <p:sldId id="2088" r:id="rId38"/>
    <p:sldId id="2089" r:id="rId39"/>
    <p:sldId id="2090" r:id="rId40"/>
    <p:sldId id="2091" r:id="rId41"/>
    <p:sldId id="2092" r:id="rId42"/>
    <p:sldId id="2094" r:id="rId43"/>
    <p:sldId id="2095" r:id="rId44"/>
    <p:sldId id="2096" r:id="rId45"/>
    <p:sldId id="2097" r:id="rId46"/>
    <p:sldId id="2098" r:id="rId47"/>
    <p:sldId id="2099" r:id="rId48"/>
    <p:sldId id="2100" r:id="rId49"/>
    <p:sldId id="2101" r:id="rId50"/>
    <p:sldId id="2102" r:id="rId51"/>
    <p:sldId id="2103" r:id="rId52"/>
    <p:sldId id="2104" r:id="rId53"/>
    <p:sldId id="2105" r:id="rId54"/>
    <p:sldId id="2106" r:id="rId55"/>
    <p:sldId id="2107" r:id="rId56"/>
    <p:sldId id="2108" r:id="rId57"/>
    <p:sldId id="2118" r:id="rId58"/>
    <p:sldId id="2119" r:id="rId59"/>
    <p:sldId id="2122" r:id="rId60"/>
    <p:sldId id="2176" r:id="rId61"/>
    <p:sldId id="2177" r:id="rId62"/>
    <p:sldId id="2123" r:id="rId63"/>
    <p:sldId id="2124" r:id="rId64"/>
    <p:sldId id="2125" r:id="rId65"/>
    <p:sldId id="2126" r:id="rId66"/>
    <p:sldId id="2127" r:id="rId67"/>
    <p:sldId id="2128" r:id="rId68"/>
    <p:sldId id="2129" r:id="rId69"/>
    <p:sldId id="2130" r:id="rId70"/>
    <p:sldId id="2131" r:id="rId71"/>
    <p:sldId id="2132" r:id="rId72"/>
    <p:sldId id="2133" r:id="rId73"/>
    <p:sldId id="2134" r:id="rId74"/>
    <p:sldId id="2135" r:id="rId75"/>
    <p:sldId id="2136" r:id="rId76"/>
    <p:sldId id="2137" r:id="rId77"/>
    <p:sldId id="2138" r:id="rId78"/>
    <p:sldId id="2139" r:id="rId79"/>
    <p:sldId id="2140" r:id="rId80"/>
    <p:sldId id="2141" r:id="rId81"/>
    <p:sldId id="2142" r:id="rId82"/>
    <p:sldId id="2143" r:id="rId83"/>
    <p:sldId id="2144" r:id="rId84"/>
    <p:sldId id="2145" r:id="rId85"/>
    <p:sldId id="2146" r:id="rId86"/>
    <p:sldId id="2147" r:id="rId87"/>
    <p:sldId id="2148" r:id="rId88"/>
    <p:sldId id="2149" r:id="rId89"/>
    <p:sldId id="2150" r:id="rId90"/>
    <p:sldId id="2151" r:id="rId91"/>
    <p:sldId id="2152" r:id="rId92"/>
    <p:sldId id="2154" r:id="rId93"/>
    <p:sldId id="2155" r:id="rId94"/>
    <p:sldId id="2156" r:id="rId95"/>
    <p:sldId id="2157" r:id="rId96"/>
    <p:sldId id="2158" r:id="rId97"/>
    <p:sldId id="2159" r:id="rId98"/>
    <p:sldId id="2160" r:id="rId99"/>
    <p:sldId id="2161" r:id="rId100"/>
    <p:sldId id="2162" r:id="rId101"/>
    <p:sldId id="2163" r:id="rId102"/>
    <p:sldId id="2164" r:id="rId103"/>
    <p:sldId id="2165" r:id="rId104"/>
    <p:sldId id="2166" r:id="rId105"/>
    <p:sldId id="2167" r:id="rId106"/>
    <p:sldId id="2168" r:id="rId107"/>
    <p:sldId id="2169" r:id="rId108"/>
    <p:sldId id="2170" r:id="rId109"/>
    <p:sldId id="2171" r:id="rId110"/>
    <p:sldId id="2172" r:id="rId111"/>
    <p:sldId id="2173" r:id="rId112"/>
    <p:sldId id="2174" r:id="rId113"/>
    <p:sldId id="1627" r:id="rId114"/>
    <p:sldId id="2110" r:id="rId115"/>
    <p:sldId id="2111" r:id="rId116"/>
    <p:sldId id="2112" r:id="rId117"/>
    <p:sldId id="2113" r:id="rId118"/>
    <p:sldId id="2114" r:id="rId119"/>
    <p:sldId id="2115" r:id="rId120"/>
    <p:sldId id="2116" r:id="rId121"/>
    <p:sldId id="2117" r:id="rId122"/>
  </p:sldIdLst>
  <p:sldSz cx="9144000" cy="6858000" type="screen4x3"/>
  <p:notesSz cx="7302500" cy="9586913"/>
  <p:custDataLst>
    <p:tags r:id="rId12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9">
          <p15:clr>
            <a:srgbClr val="A4A3A4"/>
          </p15:clr>
        </p15:guide>
        <p15:guide id="2" pos="23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FF5"/>
    <a:srgbClr val="E0E0E0"/>
    <a:srgbClr val="FFFFFF"/>
    <a:srgbClr val="FCFCFC"/>
    <a:srgbClr val="DF9F98"/>
    <a:srgbClr val="D6CDEE"/>
    <a:srgbClr val="F7F5CD"/>
    <a:srgbClr val="FFABAA"/>
    <a:srgbClr val="000000"/>
    <a:srgbClr val="B2E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1" autoAdjust="0"/>
    <p:restoredTop sz="94649" autoAdjust="0"/>
  </p:normalViewPr>
  <p:slideViewPr>
    <p:cSldViewPr snapToGrid="0" snapToObjects="1">
      <p:cViewPr varScale="1">
        <p:scale>
          <a:sx n="73" d="100"/>
          <a:sy n="73" d="100"/>
        </p:scale>
        <p:origin x="426" y="66"/>
      </p:cViewPr>
      <p:guideLst>
        <p:guide orient="horz" pos="17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5585"/>
    </p:cViewPr>
  </p:sorterViewPr>
  <p:notesViewPr>
    <p:cSldViewPr snapToObjects="1">
      <p:cViewPr varScale="1">
        <p:scale>
          <a:sx n="64" d="100"/>
          <a:sy n="64" d="100"/>
        </p:scale>
        <p:origin x="-3544" y="-120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notesMaster" Target="notesMasters/notesMaster1.xml"/><Relationship Id="rId128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2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handoutMaster" Target="handoutMasters/handoutMaster1.xml"/><Relationship Id="rId12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9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2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ags" Target="tags/tag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hared%20Files\Classes\CS%20213%20F'10\code\22-concurrent-programming\race-gw-2.txt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hared%20Files\Classes\CS%20213%20F'10\code\22-concurrent-programming\race-gw-2.txt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hared%20Files\Classes\CS%20213%20F'10\code\22-concurrent-programming\race-gw-2.txt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numRef>
              <c:f>norace!$A$2:$A$101</c:f>
              <c:numCache>
                <c:formatCode>General</c:formatCode>
                <c:ptCount val="1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</c:numCache>
            </c:numRef>
          </c:cat>
          <c:val>
            <c:numRef>
              <c:f>norace!$B$2:$B$101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BA-4491-858A-2D8E6FE690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7693592"/>
        <c:axId val="-2059558600"/>
      </c:barChart>
      <c:catAx>
        <c:axId val="-2067693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059558600"/>
        <c:crosses val="autoZero"/>
        <c:auto val="1"/>
        <c:lblAlgn val="ctr"/>
        <c:lblOffset val="100"/>
        <c:noMultiLvlLbl val="0"/>
      </c:catAx>
      <c:valAx>
        <c:axId val="-2059558600"/>
        <c:scaling>
          <c:orientation val="minMax"/>
          <c:max val="2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7693592"/>
        <c:crosses val="autoZero"/>
        <c:crossBetween val="between"/>
        <c:majorUnit val="1"/>
        <c:minorUnit val="0.04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numRef>
              <c:f>'race-gw-2'!$A$2:$A$101</c:f>
              <c:numCache>
                <c:formatCode>General</c:formatCode>
                <c:ptCount val="1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</c:numCache>
            </c:numRef>
          </c:cat>
          <c:val>
            <c:numRef>
              <c:f>'race-gw-2'!$B$2:$B$101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6</c:v>
                </c:pt>
                <c:pt idx="11">
                  <c:v>0</c:v>
                </c:pt>
                <c:pt idx="12">
                  <c:v>0</c:v>
                </c:pt>
                <c:pt idx="13">
                  <c:v>4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7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</c:v>
                </c:pt>
                <c:pt idx="25">
                  <c:v>3</c:v>
                </c:pt>
                <c:pt idx="26">
                  <c:v>0</c:v>
                </c:pt>
                <c:pt idx="27">
                  <c:v>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7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7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7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7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7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6</c:v>
                </c:pt>
                <c:pt idx="70">
                  <c:v>1</c:v>
                </c:pt>
                <c:pt idx="71">
                  <c:v>0</c:v>
                </c:pt>
                <c:pt idx="72">
                  <c:v>0</c:v>
                </c:pt>
                <c:pt idx="73">
                  <c:v>1</c:v>
                </c:pt>
                <c:pt idx="74">
                  <c:v>0</c:v>
                </c:pt>
                <c:pt idx="75">
                  <c:v>0</c:v>
                </c:pt>
                <c:pt idx="76">
                  <c:v>1</c:v>
                </c:pt>
                <c:pt idx="77">
                  <c:v>0</c:v>
                </c:pt>
                <c:pt idx="78">
                  <c:v>1</c:v>
                </c:pt>
                <c:pt idx="79">
                  <c:v>6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12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7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F-4EFD-9004-F89CCA54DB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58445608"/>
        <c:axId val="-2058442632"/>
      </c:barChart>
      <c:catAx>
        <c:axId val="-2058445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058442632"/>
        <c:crosses val="autoZero"/>
        <c:auto val="1"/>
        <c:lblAlgn val="ctr"/>
        <c:lblOffset val="100"/>
        <c:noMultiLvlLbl val="0"/>
      </c:catAx>
      <c:valAx>
        <c:axId val="-20584426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5844560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numRef>
              <c:f>'race-laptop-1'!$A$2:$A$101</c:f>
              <c:numCache>
                <c:formatCode>General</c:formatCode>
                <c:ptCount val="1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</c:numCache>
            </c:numRef>
          </c:cat>
          <c:val>
            <c:numRef>
              <c:f>'race-laptop-1'!$B$2:$B$101</c:f>
              <c:numCache>
                <c:formatCode>General</c:formatCode>
                <c:ptCount val="100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0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2</c:v>
                </c:pt>
                <c:pt idx="25">
                  <c:v>0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2</c:v>
                </c:pt>
                <c:pt idx="43">
                  <c:v>0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2</c:v>
                </c:pt>
                <c:pt idx="51">
                  <c:v>1</c:v>
                </c:pt>
                <c:pt idx="52">
                  <c:v>0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2</c:v>
                </c:pt>
                <c:pt idx="86">
                  <c:v>0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80-4E74-8A7B-071434545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138970744"/>
        <c:axId val="2138947144"/>
      </c:barChart>
      <c:catAx>
        <c:axId val="21389707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38947144"/>
        <c:crosses val="autoZero"/>
        <c:auto val="1"/>
        <c:lblAlgn val="ctr"/>
        <c:lblOffset val="100"/>
        <c:noMultiLvlLbl val="0"/>
      </c:catAx>
      <c:valAx>
        <c:axId val="2138947144"/>
        <c:scaling>
          <c:orientation val="minMax"/>
          <c:max val="3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38970744"/>
        <c:crosses val="autoZero"/>
        <c:crossBetween val="between"/>
        <c:majorUnit val="1"/>
      </c:valAx>
    </c:plotArea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3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2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7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45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 here </a:t>
            </a:r>
            <a:r>
              <a:rPr lang="en-US"/>
              <a:t>on Tuesday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472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3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Cons How do you handle receiving requests?</a:t>
            </a:r>
            <a:r>
              <a:rPr lang="en-US" baseline="0" dirty="0" smtClean="0"/>
              <a:t>  How much to read from a request?  What if the client never finishes sending its request?</a:t>
            </a:r>
            <a:endParaRPr 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4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8409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20788"/>
            <a:ext cx="8305800" cy="5222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15375" cy="781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42913" y="6345238"/>
            <a:ext cx="447675" cy="395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rIns="45720" anchor="ctr">
            <a:prstTxWarp prst="textNoShape">
              <a:avLst/>
            </a:prstTxWarp>
            <a:spAutoFit/>
          </a:bodyPr>
          <a:lstStyle/>
          <a:p>
            <a:pPr algn="ctr" defTabSz="457200">
              <a:lnSpc>
                <a:spcPct val="83000"/>
              </a:lnSpc>
              <a:buClr>
                <a:srgbClr val="000066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BC07E77-5360-6D43-8AEB-E24B08212AFE}" type="slidenum">
              <a:rPr lang="en-GB" b="0">
                <a:solidFill>
                  <a:srgbClr val="000066"/>
                </a:solidFill>
                <a:latin typeface="Times New Roman" charset="0"/>
              </a:rPr>
              <a:pPr algn="ctr" defTabSz="457200">
                <a:lnSpc>
                  <a:spcPct val="83000"/>
                </a:lnSpc>
                <a:buClr>
                  <a:srgbClr val="000066"/>
                </a:buClr>
                <a:buSzPct val="100000"/>
                <a:buFont typeface="Times New Roman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‹#›</a:t>
            </a:fld>
            <a:endParaRPr lang="en-GB" b="0">
              <a:solidFill>
                <a:srgbClr val="000066"/>
              </a:solidFill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+mj-lt"/>
          <a:ea typeface="ＭＳ Ｐゴシック" charset="-128"/>
          <a:cs typeface="ＭＳ Ｐゴシック" charset="-128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5pPr>
      <a:lvl6pPr marL="15367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6pPr>
      <a:lvl7pPr marL="19939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7pPr>
      <a:lvl8pPr marL="24511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8pPr>
      <a:lvl9pPr marL="29083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9pPr>
    </p:titleStyle>
    <p:bodyStyle>
      <a:lvl1pPr marL="384175" indent="-384175" algn="l" defTabSz="457200" rtl="0" eaLnBrk="0" fontAlgn="base" hangingPunct="0">
        <a:lnSpc>
          <a:spcPct val="93000"/>
        </a:lnSpc>
        <a:spcBef>
          <a:spcPts val="1500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400" b="1">
          <a:solidFill>
            <a:srgbClr val="0033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ＭＳ Ｐゴシック" charset="-128"/>
          <a:cs typeface="ＭＳ Ｐゴシック" charset="-128"/>
        </a:defRPr>
      </a:lvl1pPr>
      <a:lvl2pPr marL="742950" indent="-246063" algn="l" defTabSz="457200" rtl="0" eaLnBrk="0" fontAlgn="base" hangingPunct="0">
        <a:lnSpc>
          <a:spcPct val="98000"/>
        </a:lnSpc>
        <a:spcBef>
          <a:spcPts val="625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000" b="1">
          <a:solidFill>
            <a:srgbClr val="000066"/>
          </a:solidFill>
          <a:latin typeface="+mn-lt"/>
          <a:ea typeface="ＭＳ Ｐゴシック" charset="-128"/>
        </a:defRPr>
      </a:lvl2pPr>
      <a:lvl3pPr marL="1144588" indent="-236538" algn="l" defTabSz="457200" rtl="0" eaLnBrk="0" fontAlgn="base" hangingPunct="0">
        <a:lnSpc>
          <a:spcPct val="104000"/>
        </a:lnSpc>
        <a:spcBef>
          <a:spcPts val="225"/>
        </a:spcBef>
        <a:spcAft>
          <a:spcPct val="0"/>
        </a:spcAft>
        <a:buClr>
          <a:srgbClr val="005400"/>
        </a:buClr>
        <a:buSzPct val="45000"/>
        <a:buFont typeface="Wingdings" charset="2"/>
        <a:buChar char=""/>
        <a:defRPr b="1">
          <a:solidFill>
            <a:srgbClr val="000099"/>
          </a:solidFill>
          <a:latin typeface="+mn-lt"/>
          <a:ea typeface="ＭＳ Ｐゴシック" charset="-128"/>
        </a:defRPr>
      </a:lvl3pPr>
      <a:lvl4pPr marL="1600200" indent="-228600" algn="l" defTabSz="457200" rtl="0" eaLnBrk="0" fontAlgn="base" hangingPunct="0">
        <a:lnSpc>
          <a:spcPct val="98000"/>
        </a:lnSpc>
        <a:spcBef>
          <a:spcPts val="45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b="1">
          <a:solidFill>
            <a:srgbClr val="000066"/>
          </a:solidFill>
          <a:latin typeface="+mn-lt"/>
          <a:ea typeface="ＭＳ Ｐゴシック" charset="-128"/>
        </a:defRPr>
      </a:lvl4pPr>
      <a:lvl5pPr marL="2449513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5pPr>
      <a:lvl6pPr marL="29067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6pPr>
      <a:lvl7pPr marL="33639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7pPr>
      <a:lvl8pPr marL="38211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8pPr>
      <a:lvl9pPr marL="42783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etf.org/rfc/rfc2396.tx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631950"/>
            <a:ext cx="7772400" cy="1644650"/>
          </a:xfrm>
        </p:spPr>
        <p:txBody>
          <a:bodyPr/>
          <a:lstStyle/>
          <a:p>
            <a:pPr marL="0" lvl="0" indent="0"/>
            <a:r>
              <a:rPr lang="en-US" dirty="0" smtClean="0"/>
              <a:t>Network Programming: Part II</a:t>
            </a:r>
            <a:br>
              <a:rPr lang="en-US" dirty="0" smtClean="0"/>
            </a:br>
            <a:r>
              <a:rPr lang="en-US" dirty="0" smtClean="0"/>
              <a:t>Concurrent Programming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000" b="0" dirty="0"/>
              <a:t>CSC 374: Computer Systems II</a:t>
            </a:r>
            <a:br>
              <a:rPr lang="en-US" sz="2000" b="0" dirty="0"/>
            </a:br>
            <a:r>
              <a:rPr lang="en-US" sz="2000" b="0" dirty="0"/>
              <a:t>9</a:t>
            </a:r>
            <a:r>
              <a:rPr lang="en-US" sz="2000" b="0" baseline="30000" dirty="0" smtClean="0"/>
              <a:t>th</a:t>
            </a:r>
            <a:r>
              <a:rPr lang="en-US" sz="2000" b="0" dirty="0" smtClean="0"/>
              <a:t> Lecture</a:t>
            </a:r>
            <a:r>
              <a:rPr lang="en-US" sz="2000" b="0" dirty="0"/>
              <a:t>, </a:t>
            </a:r>
            <a:r>
              <a:rPr lang="en-US" sz="2000" b="0" dirty="0" smtClean="0"/>
              <a:t>February 27, </a:t>
            </a:r>
            <a:r>
              <a:rPr lang="en-US" sz="2000" b="0" dirty="0"/>
              <a:t>2018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4037364"/>
            <a:ext cx="7678738" cy="1752600"/>
          </a:xfrm>
        </p:spPr>
        <p:txBody>
          <a:bodyPr/>
          <a:lstStyle/>
          <a:p>
            <a:r>
              <a:rPr lang="en-US" b="1" dirty="0" smtClean="0"/>
              <a:t>Instructor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r>
              <a:rPr lang="en-US" dirty="0" smtClean="0"/>
              <a:t>Walter Martens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000000"/>
                </a:solidFill>
              </a:rPr>
              <a:t>Network Programming</a:t>
            </a:r>
          </a:p>
          <a:p>
            <a:pPr lvl="0"/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Concurrent </a:t>
            </a:r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Programming</a:t>
            </a: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2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</a:t>
            </a:r>
          </a:p>
        </p:txBody>
      </p:sp>
      <p:sp>
        <p:nvSpPr>
          <p:cNvPr id="7198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39431" y="1362075"/>
            <a:ext cx="7896225" cy="4972050"/>
          </a:xfrm>
        </p:spPr>
        <p:txBody>
          <a:bodyPr/>
          <a:lstStyle/>
          <a:p>
            <a:r>
              <a:rPr lang="en-US" dirty="0"/>
              <a:t>Set of system-level functions used in conjunction with Unix I/O to build network applications. </a:t>
            </a:r>
          </a:p>
          <a:p>
            <a:endParaRPr lang="en-US" dirty="0"/>
          </a:p>
          <a:p>
            <a:r>
              <a:rPr lang="en-US" dirty="0"/>
              <a:t>Created in the early 80’s as part of the original Berkeley distribution of Unix that contained an early version of the Internet protocols.</a:t>
            </a:r>
          </a:p>
          <a:p>
            <a:endParaRPr lang="en-US" dirty="0"/>
          </a:p>
          <a:p>
            <a:r>
              <a:rPr lang="en-US" dirty="0"/>
              <a:t>Available on all modern systems	</a:t>
            </a:r>
          </a:p>
          <a:p>
            <a:pPr lvl="1"/>
            <a:r>
              <a:rPr lang="en-US" dirty="0"/>
              <a:t>Unix variants, Windows, OS X, IOS, Android, ARM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4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3"/>
          <p:cNvSpPr>
            <a:spLocks noChangeArrowheads="1"/>
          </p:cNvSpPr>
          <p:nvPr/>
        </p:nvSpPr>
        <p:spPr bwMode="auto">
          <a:xfrm>
            <a:off x="2251442" y="4553140"/>
            <a:ext cx="948958" cy="476060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13" name="Oval 3"/>
          <p:cNvSpPr>
            <a:spLocks noChangeArrowheads="1"/>
          </p:cNvSpPr>
          <p:nvPr/>
        </p:nvSpPr>
        <p:spPr bwMode="auto">
          <a:xfrm>
            <a:off x="5014997" y="4553140"/>
            <a:ext cx="1028163" cy="476060"/>
          </a:xfrm>
          <a:prstGeom prst="ellipse">
            <a:avLst/>
          </a:prstGeom>
          <a:solidFill>
            <a:srgbClr val="D5F1C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209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Sockets</a:t>
            </a:r>
          </a:p>
        </p:txBody>
      </p:sp>
      <p:sp>
        <p:nvSpPr>
          <p:cNvPr id="7209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33375" y="1219200"/>
            <a:ext cx="7896225" cy="1524000"/>
          </a:xfrm>
        </p:spPr>
        <p:txBody>
          <a:bodyPr/>
          <a:lstStyle/>
          <a:p>
            <a:r>
              <a:rPr lang="en-US" dirty="0"/>
              <a:t>What is a socket?</a:t>
            </a:r>
          </a:p>
          <a:p>
            <a:pPr lvl="1"/>
            <a:r>
              <a:rPr lang="en-US" dirty="0"/>
              <a:t>To the kernel, a socket is an endpoint of communication</a:t>
            </a:r>
          </a:p>
          <a:p>
            <a:pPr lvl="1"/>
            <a:r>
              <a:rPr lang="en-US" dirty="0"/>
              <a:t>To an application, a socket is a file descriptor that lets the application read/write from/to the network</a:t>
            </a:r>
          </a:p>
          <a:p>
            <a:pPr lvl="2"/>
            <a:r>
              <a:rPr lang="en-US" b="1" i="1" dirty="0">
                <a:solidFill>
                  <a:srgbClr val="C00000"/>
                </a:solidFill>
              </a:rPr>
              <a:t>Remember:</a:t>
            </a:r>
            <a:r>
              <a:rPr lang="en-US" dirty="0"/>
              <a:t> All Unix I/O devices, including networks, are modeled as files</a:t>
            </a:r>
          </a:p>
          <a:p>
            <a:r>
              <a:rPr lang="en-US" dirty="0"/>
              <a:t>Clients and servers communicate with each other by reading from and writing to socket descriptors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The main distinction between regular file I/O and socket I/O is how the application “opens” the socket descriptors</a:t>
            </a:r>
          </a:p>
        </p:txBody>
      </p:sp>
      <p:sp>
        <p:nvSpPr>
          <p:cNvPr id="6" name="Text Box 22"/>
          <p:cNvSpPr txBox="1">
            <a:spLocks noChangeArrowheads="1"/>
          </p:cNvSpPr>
          <p:nvPr/>
        </p:nvSpPr>
        <p:spPr bwMode="auto">
          <a:xfrm>
            <a:off x="2692401" y="5043070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8" name="Oval 26"/>
          <p:cNvSpPr>
            <a:spLocks noChangeAspect="1" noChangeArrowheads="1"/>
          </p:cNvSpPr>
          <p:nvPr/>
        </p:nvSpPr>
        <p:spPr bwMode="auto">
          <a:xfrm>
            <a:off x="4953000" y="4726876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4619083" y="5055770"/>
            <a:ext cx="11721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serverfd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10" name="Line 28"/>
          <p:cNvSpPr>
            <a:spLocks noChangeShapeType="1"/>
          </p:cNvSpPr>
          <p:nvPr/>
        </p:nvSpPr>
        <p:spPr bwMode="auto">
          <a:xfrm>
            <a:off x="3276600" y="4791170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Oval 20"/>
          <p:cNvSpPr>
            <a:spLocks noChangeAspect="1" noChangeArrowheads="1"/>
          </p:cNvSpPr>
          <p:nvPr/>
        </p:nvSpPr>
        <p:spPr bwMode="auto">
          <a:xfrm>
            <a:off x="3124200" y="4726876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2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ounded Rectangle 65"/>
          <p:cNvSpPr/>
          <p:nvPr/>
        </p:nvSpPr>
        <p:spPr bwMode="auto">
          <a:xfrm>
            <a:off x="4761308" y="5678952"/>
            <a:ext cx="4001692" cy="1179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ctr" anchorCtr="0"/>
          <a:lstStyle/>
          <a:p>
            <a:pPr algn="r"/>
            <a:r>
              <a:rPr lang="en-US" sz="1800" dirty="0"/>
              <a:t>5</a:t>
            </a:r>
            <a:r>
              <a:rPr lang="en-US" sz="1800" i="1" dirty="0"/>
              <a:t>. Drop client</a:t>
            </a:r>
          </a:p>
        </p:txBody>
      </p:sp>
      <p:sp>
        <p:nvSpPr>
          <p:cNvPr id="65" name="Rounded Rectangle 64"/>
          <p:cNvSpPr/>
          <p:nvPr/>
        </p:nvSpPr>
        <p:spPr bwMode="auto">
          <a:xfrm>
            <a:off x="1676400" y="5662094"/>
            <a:ext cx="2308256" cy="95143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b" anchorCtr="0"/>
          <a:lstStyle/>
          <a:p>
            <a:pPr algn="ctr"/>
            <a:r>
              <a:rPr lang="en-US" sz="1800" dirty="0"/>
              <a:t>4</a:t>
            </a:r>
            <a:r>
              <a:rPr lang="en-US" sz="1800" i="1" dirty="0"/>
              <a:t>. Disconnect client</a:t>
            </a:r>
          </a:p>
        </p:txBody>
      </p:sp>
      <p:sp>
        <p:nvSpPr>
          <p:cNvPr id="64" name="Rounded Rectangle 63"/>
          <p:cNvSpPr/>
          <p:nvPr/>
        </p:nvSpPr>
        <p:spPr bwMode="auto">
          <a:xfrm>
            <a:off x="1249104" y="4068494"/>
            <a:ext cx="7153533" cy="158618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r"/>
            <a:r>
              <a:rPr lang="en-US" sz="1800" dirty="0"/>
              <a:t>3</a:t>
            </a:r>
            <a:r>
              <a:rPr lang="en-US" sz="1800" i="1" dirty="0"/>
              <a:t>. Exchange</a:t>
            </a:r>
          </a:p>
          <a:p>
            <a:pPr algn="r"/>
            <a:r>
              <a:rPr lang="en-US" sz="1800" i="1" dirty="0"/>
              <a:t>data</a:t>
            </a:r>
          </a:p>
        </p:txBody>
      </p:sp>
      <p:sp>
        <p:nvSpPr>
          <p:cNvPr id="63" name="Rounded Rectangle 62"/>
          <p:cNvSpPr/>
          <p:nvPr/>
        </p:nvSpPr>
        <p:spPr bwMode="auto">
          <a:xfrm>
            <a:off x="1752600" y="228600"/>
            <a:ext cx="2057400" cy="39517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1800" dirty="0"/>
              <a:t>2</a:t>
            </a:r>
            <a:r>
              <a:rPr lang="en-US" sz="1800" i="1" dirty="0"/>
              <a:t>. Start client</a:t>
            </a:r>
          </a:p>
        </p:txBody>
      </p:sp>
      <p:sp>
        <p:nvSpPr>
          <p:cNvPr id="2" name="Rounded Rectangle 1"/>
          <p:cNvSpPr/>
          <p:nvPr/>
        </p:nvSpPr>
        <p:spPr bwMode="auto">
          <a:xfrm>
            <a:off x="4572000" y="228600"/>
            <a:ext cx="2057400" cy="39517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1800" dirty="0"/>
              <a:t>1</a:t>
            </a:r>
            <a:r>
              <a:rPr lang="en-US" sz="1800" i="1" dirty="0"/>
              <a:t>. Start server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 flipV="1">
                <a:off x="3984" y="3688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848366" y="1129723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Review:</a:t>
            </a:r>
            <a:br>
              <a:rPr lang="en-US" dirty="0"/>
            </a:br>
            <a:r>
              <a:rPr lang="en-US" dirty="0"/>
              <a:t>Echo</a:t>
            </a:r>
            <a:br>
              <a:rPr lang="en-US" dirty="0"/>
            </a:br>
            <a:r>
              <a:rPr lang="en-US" dirty="0"/>
              <a:t>Server</a:t>
            </a:r>
            <a:br>
              <a:rPr lang="en-US" dirty="0"/>
            </a:br>
            <a:r>
              <a:rPr lang="en-US" dirty="0"/>
              <a:t>+ Client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rio_readlineb</a:t>
              </a:r>
              <a:endParaRPr lang="en-US" sz="1400" dirty="0">
                <a:latin typeface="Courier New" pitchFamily="49" charset="0"/>
              </a:endParaRP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rio_readlineb</a:t>
              </a:r>
              <a:endParaRPr lang="en-US" sz="1400" dirty="0">
                <a:latin typeface="Courier New" pitchFamily="49" charset="0"/>
              </a:endParaRPr>
            </a:p>
            <a:p>
              <a:pPr algn="ctr"/>
              <a:r>
                <a:rPr lang="en-US" sz="1400" dirty="0" err="1">
                  <a:latin typeface="Courier New" pitchFamily="49" charset="0"/>
                </a:rPr>
                <a:t>fputs</a:t>
              </a:r>
              <a:endParaRPr lang="en-US" sz="1400" dirty="0">
                <a:latin typeface="Courier New" pitchFamily="49" charset="0"/>
              </a:endParaRP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fgets</a:t>
              </a:r>
              <a:endParaRPr lang="en-US" sz="1400" dirty="0">
                <a:latin typeface="Courier New" pitchFamily="49" charset="0"/>
              </a:endParaRPr>
            </a:p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rio_readlineb</a:t>
              </a:r>
              <a:endParaRPr lang="en-US" sz="1400" dirty="0">
                <a:latin typeface="Courier New" pitchFamily="49" charset="0"/>
              </a:endParaRP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6705600" y="3247754"/>
            <a:ext cx="1829247" cy="5847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 client</a:t>
            </a: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499"/>
            <a:ext cx="1447800" cy="2387331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open_listenfd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07313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open_clientfd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9351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149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404" y="302567"/>
            <a:ext cx="8716962" cy="781050"/>
          </a:xfrm>
        </p:spPr>
        <p:txBody>
          <a:bodyPr/>
          <a:lstStyle/>
          <a:p>
            <a:r>
              <a:rPr lang="en-US" dirty="0"/>
              <a:t>Socket Address Structures &amp;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getaddrinfo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83617"/>
            <a:ext cx="8716962" cy="2286000"/>
          </a:xfrm>
        </p:spPr>
        <p:txBody>
          <a:bodyPr/>
          <a:lstStyle/>
          <a:p>
            <a:r>
              <a:rPr lang="en-US" dirty="0"/>
              <a:t>Generic socket address:</a:t>
            </a:r>
          </a:p>
          <a:p>
            <a:pPr lvl="1"/>
            <a:r>
              <a:rPr lang="en-US" dirty="0"/>
              <a:t>For address arguments to </a:t>
            </a:r>
            <a:r>
              <a:rPr lang="en-US" b="1" dirty="0">
                <a:latin typeface="Courier New" pitchFamily="49" charset="0"/>
              </a:rPr>
              <a:t>connect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</a:rPr>
              <a:t>bind</a:t>
            </a:r>
            <a:r>
              <a:rPr lang="en-US" dirty="0"/>
              <a:t>, and </a:t>
            </a:r>
            <a:r>
              <a:rPr lang="en-US" b="1" dirty="0">
                <a:latin typeface="Courier New" pitchFamily="49" charset="0"/>
              </a:rPr>
              <a:t>accept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/>
              <a:t>Necessary only because C did not have generic (</a:t>
            </a:r>
            <a:r>
              <a:rPr lang="en-US" b="1" dirty="0">
                <a:latin typeface="Courier New" pitchFamily="49" charset="0"/>
              </a:rPr>
              <a:t>void *</a:t>
            </a:r>
            <a:r>
              <a:rPr lang="en-US" dirty="0"/>
              <a:t>) pointers when the sockets interface was designed</a:t>
            </a:r>
          </a:p>
          <a:p>
            <a:pPr lvl="1"/>
            <a:r>
              <a:rPr lang="en-US" dirty="0">
                <a:latin typeface="+mn-lt"/>
              </a:rPr>
              <a:t>For casting convenience, we adopt the Stevens convention: </a:t>
            </a:r>
          </a:p>
          <a:p>
            <a:pPr marL="457200" lvl="1" indent="0">
              <a:buNone/>
            </a:pPr>
            <a:r>
              <a:rPr lang="en-US" b="1" dirty="0">
                <a:latin typeface="+mn-lt"/>
              </a:rPr>
              <a:t>     </a:t>
            </a:r>
            <a:r>
              <a:rPr lang="en-US" b="1" dirty="0">
                <a:latin typeface="Courier New" pitchFamily="49" charset="0"/>
              </a:rPr>
              <a:t>typedef struct </a:t>
            </a:r>
            <a:r>
              <a:rPr lang="en-US" b="1" dirty="0" err="1">
                <a:latin typeface="Courier New" pitchFamily="49" charset="0"/>
              </a:rPr>
              <a:t>sockaddr</a:t>
            </a:r>
            <a:r>
              <a:rPr lang="en-US" b="1" dirty="0">
                <a:latin typeface="Courier New" pitchFamily="49" charset="0"/>
              </a:rPr>
              <a:t> SA;</a:t>
            </a:r>
          </a:p>
          <a:p>
            <a:pPr marL="457200" lvl="1" indent="0">
              <a:buNone/>
            </a:pPr>
            <a:endParaRPr lang="en-US" b="1" dirty="0">
              <a:latin typeface="Courier New" pitchFamily="49" charset="0"/>
            </a:endParaRPr>
          </a:p>
          <a:p>
            <a:pPr marL="457200" lvl="1" indent="0">
              <a:buNone/>
            </a:pPr>
            <a:endParaRPr lang="en-US" b="1" dirty="0">
              <a:latin typeface="Courier New" pitchFamily="49" charset="0"/>
            </a:endParaRPr>
          </a:p>
          <a:p>
            <a:pPr marL="457200" lvl="1" indent="0">
              <a:buNone/>
            </a:pPr>
            <a:endParaRPr lang="en-US" b="1" dirty="0">
              <a:latin typeface="Courier New" pitchFamily="49" charset="0"/>
            </a:endParaRPr>
          </a:p>
          <a:p>
            <a:pPr marL="457200" lvl="1" indent="0">
              <a:buNone/>
            </a:pPr>
            <a:endParaRPr lang="en-US" b="1" dirty="0">
              <a:latin typeface="Courier New" pitchFamily="49" charset="0"/>
            </a:endParaRPr>
          </a:p>
          <a:p>
            <a:pPr marL="457200" lvl="1" indent="0">
              <a:buNone/>
            </a:pPr>
            <a:endParaRPr lang="en-US" b="1" dirty="0">
              <a:latin typeface="Courier New" pitchFamily="49" charset="0"/>
            </a:endParaRPr>
          </a:p>
          <a:p>
            <a:pPr marL="457200" lvl="1" indent="0">
              <a:buNone/>
            </a:pPr>
            <a:endParaRPr lang="en-US" b="1" dirty="0">
              <a:latin typeface="Courier New" pitchFamily="49" charset="0"/>
            </a:endParaRPr>
          </a:p>
          <a:p>
            <a:pPr marL="457200" lvl="1" indent="0">
              <a:buNone/>
            </a:pPr>
            <a:endParaRPr lang="en-US" sz="1600" b="1" dirty="0">
              <a:latin typeface="Courier New" pitchFamily="49" charset="0"/>
            </a:endParaRPr>
          </a:p>
          <a:p>
            <a:pPr marL="400050"/>
            <a:r>
              <a:rPr lang="en-US" sz="2000" dirty="0" err="1">
                <a:latin typeface="Courier New"/>
                <a:cs typeface="Courier New"/>
              </a:rPr>
              <a:t>getaddrinfo</a:t>
            </a:r>
            <a:r>
              <a:rPr lang="en-US" sz="2000" dirty="0">
                <a:latin typeface="Courier New"/>
                <a:cs typeface="Courier New"/>
              </a:rPr>
              <a:t> </a:t>
            </a:r>
            <a:r>
              <a:rPr lang="en-US" b="0" dirty="0">
                <a:cs typeface="Calibri" panose="020F0502020204030204" pitchFamily="34" charset="0"/>
              </a:rPr>
              <a:t>converts string representations of hostnames, host addresses, ports, service names to socket address structures</a:t>
            </a:r>
            <a:endParaRPr lang="en-US" sz="2000" b="0" dirty="0">
              <a:cs typeface="Calibri" panose="020F0502020204030204" pitchFamily="34" charset="0"/>
            </a:endParaRPr>
          </a:p>
          <a:p>
            <a:pPr marL="400050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52646" name="Rectangle 6"/>
          <p:cNvSpPr>
            <a:spLocks noChangeArrowheads="1"/>
          </p:cNvSpPr>
          <p:nvPr/>
        </p:nvSpPr>
        <p:spPr bwMode="auto">
          <a:xfrm>
            <a:off x="836936" y="3366126"/>
            <a:ext cx="5971807" cy="107721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sockaddr</a:t>
            </a:r>
            <a:r>
              <a:rPr lang="en-US" sz="1600" dirty="0">
                <a:latin typeface="Courier New" pitchFamily="49" charset="0"/>
              </a:rPr>
              <a:t> { </a:t>
            </a:r>
          </a:p>
          <a:p>
            <a:r>
              <a:rPr lang="en-US" sz="1600" dirty="0">
                <a:latin typeface="Courier New" pitchFamily="49" charset="0"/>
              </a:rPr>
              <a:t>  uint16_t  </a:t>
            </a:r>
            <a:r>
              <a:rPr lang="en-US" sz="1600" dirty="0" err="1">
                <a:latin typeface="Courier New" pitchFamily="49" charset="0"/>
              </a:rPr>
              <a:t>sa_family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Protocol family */ </a:t>
            </a:r>
          </a:p>
          <a:p>
            <a:r>
              <a:rPr lang="en-US" sz="1600" dirty="0">
                <a:latin typeface="Courier New" pitchFamily="49" charset="0"/>
              </a:rPr>
              <a:t>  char      </a:t>
            </a:r>
            <a:r>
              <a:rPr lang="en-US" sz="1600" dirty="0" err="1">
                <a:latin typeface="Courier New" pitchFamily="49" charset="0"/>
              </a:rPr>
              <a:t>sa_data</a:t>
            </a:r>
            <a:r>
              <a:rPr lang="en-US" sz="1600" dirty="0">
                <a:latin typeface="Courier New" pitchFamily="49" charset="0"/>
              </a:rPr>
              <a:t>[14];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Address data.  */ </a:t>
            </a:r>
          </a:p>
          <a:p>
            <a:r>
              <a:rPr lang="en-US" sz="1600" dirty="0">
                <a:latin typeface="Courier New" pitchFamily="49" charset="0"/>
              </a:rPr>
              <a:t>};       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304800" y="4654074"/>
            <a:ext cx="8534400" cy="457200"/>
            <a:chOff x="960" y="2784"/>
            <a:chExt cx="5376" cy="288"/>
          </a:xfrm>
        </p:grpSpPr>
        <p:sp>
          <p:nvSpPr>
            <p:cNvPr id="752648" name="Rectangle 8"/>
            <p:cNvSpPr>
              <a:spLocks noChangeArrowheads="1"/>
            </p:cNvSpPr>
            <p:nvPr/>
          </p:nvSpPr>
          <p:spPr bwMode="auto">
            <a:xfrm>
              <a:off x="960" y="2784"/>
              <a:ext cx="336" cy="288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49" name="Rectangle 9"/>
            <p:cNvSpPr>
              <a:spLocks noChangeArrowheads="1"/>
            </p:cNvSpPr>
            <p:nvPr/>
          </p:nvSpPr>
          <p:spPr bwMode="auto">
            <a:xfrm>
              <a:off x="1296" y="2784"/>
              <a:ext cx="336" cy="288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0" name="Rectangle 10"/>
            <p:cNvSpPr>
              <a:spLocks noChangeArrowheads="1"/>
            </p:cNvSpPr>
            <p:nvPr/>
          </p:nvSpPr>
          <p:spPr bwMode="auto">
            <a:xfrm>
              <a:off x="1632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1" name="Rectangle 11"/>
            <p:cNvSpPr>
              <a:spLocks noChangeArrowheads="1"/>
            </p:cNvSpPr>
            <p:nvPr/>
          </p:nvSpPr>
          <p:spPr bwMode="auto">
            <a:xfrm>
              <a:off x="1968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2" name="Rectangle 12"/>
            <p:cNvSpPr>
              <a:spLocks noChangeArrowheads="1"/>
            </p:cNvSpPr>
            <p:nvPr/>
          </p:nvSpPr>
          <p:spPr bwMode="auto">
            <a:xfrm>
              <a:off x="2304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3" name="Rectangle 13"/>
            <p:cNvSpPr>
              <a:spLocks noChangeArrowheads="1"/>
            </p:cNvSpPr>
            <p:nvPr/>
          </p:nvSpPr>
          <p:spPr bwMode="auto">
            <a:xfrm>
              <a:off x="2640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4" name="Rectangle 14"/>
            <p:cNvSpPr>
              <a:spLocks noChangeArrowheads="1"/>
            </p:cNvSpPr>
            <p:nvPr/>
          </p:nvSpPr>
          <p:spPr bwMode="auto">
            <a:xfrm>
              <a:off x="2976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5" name="Rectangle 15"/>
            <p:cNvSpPr>
              <a:spLocks noChangeArrowheads="1"/>
            </p:cNvSpPr>
            <p:nvPr/>
          </p:nvSpPr>
          <p:spPr bwMode="auto">
            <a:xfrm>
              <a:off x="3312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6" name="Rectangle 16"/>
            <p:cNvSpPr>
              <a:spLocks noChangeArrowheads="1"/>
            </p:cNvSpPr>
            <p:nvPr/>
          </p:nvSpPr>
          <p:spPr bwMode="auto">
            <a:xfrm>
              <a:off x="3648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7" name="Rectangle 17"/>
            <p:cNvSpPr>
              <a:spLocks noChangeArrowheads="1"/>
            </p:cNvSpPr>
            <p:nvPr/>
          </p:nvSpPr>
          <p:spPr bwMode="auto">
            <a:xfrm>
              <a:off x="3984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8" name="Rectangle 18"/>
            <p:cNvSpPr>
              <a:spLocks noChangeArrowheads="1"/>
            </p:cNvSpPr>
            <p:nvPr/>
          </p:nvSpPr>
          <p:spPr bwMode="auto">
            <a:xfrm>
              <a:off x="4320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59" name="Rectangle 19"/>
            <p:cNvSpPr>
              <a:spLocks noChangeArrowheads="1"/>
            </p:cNvSpPr>
            <p:nvPr/>
          </p:nvSpPr>
          <p:spPr bwMode="auto">
            <a:xfrm>
              <a:off x="4656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0" name="Rectangle 20"/>
            <p:cNvSpPr>
              <a:spLocks noChangeArrowheads="1"/>
            </p:cNvSpPr>
            <p:nvPr/>
          </p:nvSpPr>
          <p:spPr bwMode="auto">
            <a:xfrm>
              <a:off x="4992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1" name="Rectangle 21"/>
            <p:cNvSpPr>
              <a:spLocks noChangeArrowheads="1"/>
            </p:cNvSpPr>
            <p:nvPr/>
          </p:nvSpPr>
          <p:spPr bwMode="auto">
            <a:xfrm>
              <a:off x="5328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2" name="Rectangle 22"/>
            <p:cNvSpPr>
              <a:spLocks noChangeArrowheads="1"/>
            </p:cNvSpPr>
            <p:nvPr/>
          </p:nvSpPr>
          <p:spPr bwMode="auto">
            <a:xfrm>
              <a:off x="5664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2663" name="Rectangle 23"/>
            <p:cNvSpPr>
              <a:spLocks noChangeArrowheads="1"/>
            </p:cNvSpPr>
            <p:nvPr/>
          </p:nvSpPr>
          <p:spPr bwMode="auto">
            <a:xfrm>
              <a:off x="6000" y="2784"/>
              <a:ext cx="336" cy="2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2666" name="Text Box 26"/>
          <p:cNvSpPr txBox="1">
            <a:spLocks noChangeArrowheads="1"/>
          </p:cNvSpPr>
          <p:nvPr/>
        </p:nvSpPr>
        <p:spPr bwMode="auto">
          <a:xfrm>
            <a:off x="179156" y="5091993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sa_family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2670" name="Text Box 30"/>
          <p:cNvSpPr txBox="1">
            <a:spLocks noChangeArrowheads="1"/>
          </p:cNvSpPr>
          <p:nvPr/>
        </p:nvSpPr>
        <p:spPr bwMode="auto">
          <a:xfrm>
            <a:off x="4388313" y="5376446"/>
            <a:ext cx="143417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Family Specific</a:t>
            </a:r>
          </a:p>
        </p:txBody>
      </p:sp>
      <p:sp>
        <p:nvSpPr>
          <p:cNvPr id="27" name="AutoShape 50"/>
          <p:cNvSpPr>
            <a:spLocks/>
          </p:cNvSpPr>
          <p:nvPr/>
        </p:nvSpPr>
        <p:spPr bwMode="auto">
          <a:xfrm rot="5400000">
            <a:off x="4953000" y="1498124"/>
            <a:ext cx="304800" cy="7467600"/>
          </a:xfrm>
          <a:prstGeom prst="rightBrace">
            <a:avLst>
              <a:gd name="adj1" fmla="val 9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61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61950"/>
            <a:ext cx="8716962" cy="781050"/>
          </a:xfrm>
        </p:spPr>
        <p:txBody>
          <a:bodyPr/>
          <a:lstStyle/>
          <a:p>
            <a:r>
              <a:rPr lang="en-US" dirty="0"/>
              <a:t>Socket Address Structures</a:t>
            </a:r>
          </a:p>
        </p:txBody>
      </p:sp>
      <p:sp>
        <p:nvSpPr>
          <p:cNvPr id="75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307387" cy="1676400"/>
          </a:xfrm>
        </p:spPr>
        <p:txBody>
          <a:bodyPr/>
          <a:lstStyle/>
          <a:p>
            <a:r>
              <a:rPr lang="en-US" dirty="0"/>
              <a:t>Internet (IPv4) specific socket address:</a:t>
            </a:r>
          </a:p>
          <a:p>
            <a:pPr lvl="1"/>
            <a:r>
              <a:rPr lang="en-US" dirty="0"/>
              <a:t>Must cast (</a:t>
            </a:r>
            <a:r>
              <a:rPr lang="en-US" b="1" dirty="0" err="1">
                <a:latin typeface="Courier New"/>
                <a:cs typeface="Courier New"/>
              </a:rPr>
              <a:t>struct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 pitchFamily="49" charset="0"/>
              </a:rPr>
              <a:t>sockaddr_in</a:t>
            </a:r>
            <a:r>
              <a:rPr lang="en-US" b="1" dirty="0">
                <a:latin typeface="Courier New" pitchFamily="49" charset="0"/>
              </a:rPr>
              <a:t> *</a:t>
            </a:r>
            <a:r>
              <a:rPr lang="en-US" dirty="0"/>
              <a:t>) to (</a:t>
            </a:r>
            <a:r>
              <a:rPr lang="en-US" b="1" dirty="0" err="1">
                <a:latin typeface="Courier New" pitchFamily="49" charset="0"/>
              </a:rPr>
              <a:t>struct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</a:rPr>
              <a:t>sockaddr</a:t>
            </a:r>
            <a:r>
              <a:rPr lang="en-US" b="1" dirty="0">
                <a:latin typeface="Courier New" pitchFamily="49" charset="0"/>
              </a:rPr>
              <a:t> *</a:t>
            </a:r>
            <a:r>
              <a:rPr lang="en-US" dirty="0"/>
              <a:t>) for functions that take socket address arguments. </a:t>
            </a:r>
          </a:p>
        </p:txBody>
      </p:sp>
      <p:sp>
        <p:nvSpPr>
          <p:cNvPr id="752648" name="Rectangle 8"/>
          <p:cNvSpPr>
            <a:spLocks noChangeArrowheads="1"/>
          </p:cNvSpPr>
          <p:nvPr/>
        </p:nvSpPr>
        <p:spPr bwMode="auto">
          <a:xfrm>
            <a:off x="304800" y="5151060"/>
            <a:ext cx="533400" cy="4572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49" name="Rectangle 9"/>
          <p:cNvSpPr>
            <a:spLocks noChangeArrowheads="1"/>
          </p:cNvSpPr>
          <p:nvPr/>
        </p:nvSpPr>
        <p:spPr bwMode="auto">
          <a:xfrm>
            <a:off x="838200" y="5151060"/>
            <a:ext cx="533400" cy="4572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0" name="Rectangle 10"/>
          <p:cNvSpPr>
            <a:spLocks noChangeArrowheads="1"/>
          </p:cNvSpPr>
          <p:nvPr/>
        </p:nvSpPr>
        <p:spPr bwMode="auto">
          <a:xfrm>
            <a:off x="1371600" y="5151060"/>
            <a:ext cx="5334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1" name="Rectangle 11"/>
          <p:cNvSpPr>
            <a:spLocks noChangeArrowheads="1"/>
          </p:cNvSpPr>
          <p:nvPr/>
        </p:nvSpPr>
        <p:spPr bwMode="auto">
          <a:xfrm>
            <a:off x="1905000" y="5151060"/>
            <a:ext cx="5334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2" name="Rectangle 12"/>
          <p:cNvSpPr>
            <a:spLocks noChangeArrowheads="1"/>
          </p:cNvSpPr>
          <p:nvPr/>
        </p:nvSpPr>
        <p:spPr bwMode="auto">
          <a:xfrm>
            <a:off x="2438400" y="5151060"/>
            <a:ext cx="533400" cy="457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3" name="Rectangle 13"/>
          <p:cNvSpPr>
            <a:spLocks noChangeArrowheads="1"/>
          </p:cNvSpPr>
          <p:nvPr/>
        </p:nvSpPr>
        <p:spPr bwMode="auto">
          <a:xfrm>
            <a:off x="2971800" y="5151060"/>
            <a:ext cx="533400" cy="457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4" name="Rectangle 14"/>
          <p:cNvSpPr>
            <a:spLocks noChangeArrowheads="1"/>
          </p:cNvSpPr>
          <p:nvPr/>
        </p:nvSpPr>
        <p:spPr bwMode="auto">
          <a:xfrm>
            <a:off x="3505200" y="5151060"/>
            <a:ext cx="533400" cy="457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5" name="Rectangle 15"/>
          <p:cNvSpPr>
            <a:spLocks noChangeArrowheads="1"/>
          </p:cNvSpPr>
          <p:nvPr/>
        </p:nvSpPr>
        <p:spPr bwMode="auto">
          <a:xfrm>
            <a:off x="4038600" y="5151060"/>
            <a:ext cx="533400" cy="457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2656" name="Rectangle 16"/>
          <p:cNvSpPr>
            <a:spLocks noChangeArrowheads="1"/>
          </p:cNvSpPr>
          <p:nvPr/>
        </p:nvSpPr>
        <p:spPr bwMode="auto">
          <a:xfrm>
            <a:off x="45720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57" name="Rectangle 17"/>
          <p:cNvSpPr>
            <a:spLocks noChangeArrowheads="1"/>
          </p:cNvSpPr>
          <p:nvPr/>
        </p:nvSpPr>
        <p:spPr bwMode="auto">
          <a:xfrm>
            <a:off x="51054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58" name="Rectangle 18"/>
          <p:cNvSpPr>
            <a:spLocks noChangeArrowheads="1"/>
          </p:cNvSpPr>
          <p:nvPr/>
        </p:nvSpPr>
        <p:spPr bwMode="auto">
          <a:xfrm>
            <a:off x="56388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59" name="Rectangle 19"/>
          <p:cNvSpPr>
            <a:spLocks noChangeArrowheads="1"/>
          </p:cNvSpPr>
          <p:nvPr/>
        </p:nvSpPr>
        <p:spPr bwMode="auto">
          <a:xfrm>
            <a:off x="61722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0" name="Rectangle 20"/>
          <p:cNvSpPr>
            <a:spLocks noChangeArrowheads="1"/>
          </p:cNvSpPr>
          <p:nvPr/>
        </p:nvSpPr>
        <p:spPr bwMode="auto">
          <a:xfrm>
            <a:off x="67056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1" name="Rectangle 21"/>
          <p:cNvSpPr>
            <a:spLocks noChangeArrowheads="1"/>
          </p:cNvSpPr>
          <p:nvPr/>
        </p:nvSpPr>
        <p:spPr bwMode="auto">
          <a:xfrm>
            <a:off x="72390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2" name="Rectangle 22"/>
          <p:cNvSpPr>
            <a:spLocks noChangeArrowheads="1"/>
          </p:cNvSpPr>
          <p:nvPr/>
        </p:nvSpPr>
        <p:spPr bwMode="auto">
          <a:xfrm>
            <a:off x="77724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3" name="Rectangle 23"/>
          <p:cNvSpPr>
            <a:spLocks noChangeArrowheads="1"/>
          </p:cNvSpPr>
          <p:nvPr/>
        </p:nvSpPr>
        <p:spPr bwMode="auto">
          <a:xfrm>
            <a:off x="8305800" y="5151060"/>
            <a:ext cx="533400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</a:p>
        </p:txBody>
      </p:sp>
      <p:sp>
        <p:nvSpPr>
          <p:cNvPr id="752666" name="Text Box 26"/>
          <p:cNvSpPr txBox="1">
            <a:spLocks noChangeArrowheads="1"/>
          </p:cNvSpPr>
          <p:nvPr/>
        </p:nvSpPr>
        <p:spPr bwMode="auto">
          <a:xfrm>
            <a:off x="87312" y="5608260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sa_family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2670" name="Text Box 30"/>
          <p:cNvSpPr txBox="1">
            <a:spLocks noChangeArrowheads="1"/>
          </p:cNvSpPr>
          <p:nvPr/>
        </p:nvSpPr>
        <p:spPr bwMode="auto">
          <a:xfrm>
            <a:off x="4396890" y="6124198"/>
            <a:ext cx="1434174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Family Specific</a:t>
            </a:r>
          </a:p>
        </p:txBody>
      </p:sp>
      <p:sp>
        <p:nvSpPr>
          <p:cNvPr id="27" name="AutoShape 50"/>
          <p:cNvSpPr>
            <a:spLocks/>
          </p:cNvSpPr>
          <p:nvPr/>
        </p:nvSpPr>
        <p:spPr bwMode="auto">
          <a:xfrm rot="5400000">
            <a:off x="4953000" y="2179259"/>
            <a:ext cx="304800" cy="7467600"/>
          </a:xfrm>
          <a:prstGeom prst="rightBrace">
            <a:avLst>
              <a:gd name="adj1" fmla="val 95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228600" y="2819400"/>
            <a:ext cx="8803812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struct sockaddr_in  { </a:t>
            </a:r>
          </a:p>
          <a:p>
            <a:r>
              <a:rPr lang="en-US" sz="1600" dirty="0">
                <a:latin typeface="Courier New" pitchFamily="49" charset="0"/>
              </a:rPr>
              <a:t>  uint16_t        </a:t>
            </a:r>
            <a:r>
              <a:rPr lang="en-US" sz="1600" dirty="0" err="1">
                <a:latin typeface="Courier New" pitchFamily="49" charset="0"/>
              </a:rPr>
              <a:t>sin_family</a:t>
            </a:r>
            <a:r>
              <a:rPr lang="en-US" sz="1600" dirty="0">
                <a:latin typeface="Courier New" pitchFamily="49" charset="0"/>
              </a:rPr>
              <a:t>;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Protocol family (always AF_INET) */ </a:t>
            </a:r>
          </a:p>
          <a:p>
            <a:r>
              <a:rPr lang="en-US" sz="1600" dirty="0">
                <a:latin typeface="Courier New" pitchFamily="49" charset="0"/>
              </a:rPr>
              <a:t>  uint16_t        </a:t>
            </a:r>
            <a:r>
              <a:rPr lang="en-US" sz="1600" dirty="0" err="1">
                <a:latin typeface="Courier New" pitchFamily="49" charset="0"/>
              </a:rPr>
              <a:t>sin_port</a:t>
            </a:r>
            <a:r>
              <a:rPr lang="en-US" sz="1600" dirty="0">
                <a:latin typeface="Courier New" pitchFamily="49" charset="0"/>
              </a:rPr>
              <a:t>;   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Port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num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in network byte order */ </a:t>
            </a:r>
          </a:p>
          <a:p>
            <a:r>
              <a:rPr lang="en-US" sz="1600" dirty="0" err="1">
                <a:latin typeface="Courier New" pitchFamily="49" charset="0"/>
              </a:rPr>
              <a:t>  struct in_addr  sin_addr;   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/* IP addr in network byte order */ </a:t>
            </a:r>
          </a:p>
          <a:p>
            <a:r>
              <a:rPr lang="en-US" sz="1600" dirty="0">
                <a:latin typeface="Courier New" pitchFamily="49" charset="0"/>
              </a:rPr>
              <a:t>  unsigned char   </a:t>
            </a:r>
            <a:r>
              <a:rPr lang="en-US" sz="1600" dirty="0" err="1">
                <a:latin typeface="Courier New" pitchFamily="49" charset="0"/>
              </a:rPr>
              <a:t>sin_zero</a:t>
            </a:r>
            <a:r>
              <a:rPr lang="en-US" sz="1600" dirty="0">
                <a:latin typeface="Courier New" pitchFamily="49" charset="0"/>
              </a:rPr>
              <a:t>[8]; 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/* Pad to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sizeof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(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struct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 </a:t>
            </a:r>
            <a:r>
              <a:rPr lang="en-US" sz="1600" dirty="0" err="1">
                <a:solidFill>
                  <a:srgbClr val="990000"/>
                </a:solidFill>
                <a:latin typeface="Courier New" pitchFamily="49" charset="0"/>
              </a:rPr>
              <a:t>sockaddr</a:t>
            </a:r>
            <a:r>
              <a:rPr lang="en-US" sz="1600" dirty="0">
                <a:solidFill>
                  <a:srgbClr val="990000"/>
                </a:solidFill>
                <a:latin typeface="Courier New" pitchFamily="49" charset="0"/>
              </a:rPr>
              <a:t>) */ </a:t>
            </a:r>
          </a:p>
          <a:p>
            <a:r>
              <a:rPr lang="en-US" sz="1600" dirty="0" err="1">
                <a:latin typeface="Courier New" pitchFamily="49" charset="0"/>
              </a:rPr>
              <a:t>}; 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1330371" y="4814510"/>
            <a:ext cx="11721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sin_port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313857" y="5215202"/>
            <a:ext cx="1048685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Courier New" pitchFamily="49" charset="0"/>
              </a:rPr>
              <a:t>AF_INET</a:t>
            </a: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2918459" y="4812506"/>
            <a:ext cx="1172117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sin_addr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76200" y="5957510"/>
            <a:ext cx="1418979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sin_family</a:t>
            </a:r>
            <a:endParaRPr lang="en-US" sz="16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172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8D1CE-A1A1-4868-9D04-1CF8EE627A4B}"/>
              </a:ext>
            </a:extLst>
          </p:cNvPr>
          <p:cNvSpPr txBox="1"/>
          <p:nvPr/>
        </p:nvSpPr>
        <p:spPr>
          <a:xfrm>
            <a:off x="4496158" y="1287135"/>
            <a:ext cx="76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6D8D91-374B-48E5-9D80-B9CDAF8B4B61}"/>
              </a:ext>
            </a:extLst>
          </p:cNvPr>
          <p:cNvSpPr txBox="1"/>
          <p:nvPr/>
        </p:nvSpPr>
        <p:spPr>
          <a:xfrm>
            <a:off x="3271492" y="1274501"/>
            <a:ext cx="76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</p:spTree>
    <p:extLst>
      <p:ext uri="{BB962C8B-B14F-4D97-AF65-F5344CB8AC3E}">
        <p14:creationId xmlns:p14="http://schemas.microsoft.com/office/powerpoint/2010/main" val="2867015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socket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771525"/>
          </a:xfrm>
        </p:spPr>
        <p:txBody>
          <a:bodyPr/>
          <a:lstStyle/>
          <a:p>
            <a:r>
              <a:rPr lang="en-US" dirty="0"/>
              <a:t>Clients and servers use the </a:t>
            </a:r>
            <a:r>
              <a:rPr lang="en-US" dirty="0">
                <a:latin typeface="Courier New"/>
                <a:cs typeface="Courier New"/>
              </a:rPr>
              <a:t>socket</a:t>
            </a:r>
            <a:r>
              <a:rPr lang="en-US" dirty="0"/>
              <a:t> function to create a </a:t>
            </a:r>
            <a:r>
              <a:rPr lang="en-US" i="1" dirty="0"/>
              <a:t>socket descriptor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Protocol specific! Best practice is to use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/>
              <a:t> to generate the parameters automatically, so that code is protocol independent.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28323" y="2209800"/>
            <a:ext cx="5848677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socket(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domain,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type,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protocol)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8323" y="3124200"/>
            <a:ext cx="5971807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clientfd</a:t>
            </a:r>
            <a:r>
              <a:rPr lang="en-US" sz="1600" dirty="0">
                <a:latin typeface="Courier New" pitchFamily="49" charset="0"/>
              </a:rPr>
              <a:t> = socket(AF_INET, SOCK_STREAM, 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1" y="3886200"/>
            <a:ext cx="2819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Indicates that we are using 32-bit IPV4 addresses</a:t>
            </a:r>
          </a:p>
        </p:txBody>
      </p:sp>
      <p:cxnSp>
        <p:nvCxnSpPr>
          <p:cNvPr id="10" name="Straight Arrow Connector 9"/>
          <p:cNvCxnSpPr>
            <a:stCxn id="8" idx="0"/>
            <a:endCxn id="7" idx="2"/>
          </p:cNvCxnSpPr>
          <p:nvPr/>
        </p:nvCxnSpPr>
        <p:spPr bwMode="auto">
          <a:xfrm flipV="1">
            <a:off x="2400301" y="3462754"/>
            <a:ext cx="1213926" cy="423446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724400" y="3886200"/>
            <a:ext cx="2819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Indicates that the socket will be the end point of a connection</a:t>
            </a:r>
          </a:p>
        </p:txBody>
      </p:sp>
      <p:cxnSp>
        <p:nvCxnSpPr>
          <p:cNvPr id="17" name="Straight Arrow Connector 16"/>
          <p:cNvCxnSpPr>
            <a:stCxn id="15" idx="0"/>
          </p:cNvCxnSpPr>
          <p:nvPr/>
        </p:nvCxnSpPr>
        <p:spPr bwMode="auto">
          <a:xfrm flipH="1" flipV="1">
            <a:off x="5257800" y="3462754"/>
            <a:ext cx="876300" cy="423446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59162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8585E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829FDF-FA01-4A00-8E6F-70300793A766}"/>
              </a:ext>
            </a:extLst>
          </p:cNvPr>
          <p:cNvSpPr txBox="1"/>
          <p:nvPr/>
        </p:nvSpPr>
        <p:spPr>
          <a:xfrm>
            <a:off x="4402853" y="1966300"/>
            <a:ext cx="89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531E52-A675-4E20-87E6-1287B78241B2}"/>
              </a:ext>
            </a:extLst>
          </p:cNvPr>
          <p:cNvSpPr txBox="1"/>
          <p:nvPr/>
        </p:nvSpPr>
        <p:spPr>
          <a:xfrm>
            <a:off x="3174239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20DB4F-39CD-4117-A979-B03818B83DA9}"/>
              </a:ext>
            </a:extLst>
          </p:cNvPr>
          <p:cNvSpPr txBox="1"/>
          <p:nvPr/>
        </p:nvSpPr>
        <p:spPr>
          <a:xfrm>
            <a:off x="3325703" y="1269316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0D58F0-1EA6-4CA5-B9F1-88775A92F96D}"/>
              </a:ext>
            </a:extLst>
          </p:cNvPr>
          <p:cNvSpPr txBox="1"/>
          <p:nvPr/>
        </p:nvSpPr>
        <p:spPr>
          <a:xfrm>
            <a:off x="4481317" y="1290846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</p:spTree>
    <p:extLst>
      <p:ext uri="{BB962C8B-B14F-4D97-AF65-F5344CB8AC3E}">
        <p14:creationId xmlns:p14="http://schemas.microsoft.com/office/powerpoint/2010/main" val="11313093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bind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13725" cy="771525"/>
          </a:xfrm>
        </p:spPr>
        <p:txBody>
          <a:bodyPr/>
          <a:lstStyle/>
          <a:p>
            <a:r>
              <a:rPr lang="en-US" dirty="0"/>
              <a:t>A server uses  </a:t>
            </a:r>
            <a:r>
              <a:rPr lang="en-US" dirty="0">
                <a:latin typeface="Courier New"/>
                <a:cs typeface="Courier New"/>
              </a:rPr>
              <a:t>bind</a:t>
            </a:r>
            <a:r>
              <a:rPr lang="en-US" dirty="0"/>
              <a:t> to ask the kernel to associate the server’s socket address with a socket descriptor: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itchFamily="49" charset="0"/>
              </a:rPr>
              <a:t>      </a:t>
            </a:r>
            <a:r>
              <a:rPr lang="en-US" sz="2000" dirty="0">
                <a:cs typeface="Calibri" panose="020F0502020204030204" pitchFamily="34" charset="0"/>
              </a:rPr>
              <a:t>Recall: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sz="1600" dirty="0">
                <a:latin typeface="Courier New" pitchFamily="49" charset="0"/>
              </a:rPr>
              <a:t>typedef struct </a:t>
            </a:r>
            <a:r>
              <a:rPr lang="en-US" sz="1600" dirty="0" err="1">
                <a:latin typeface="Courier New" pitchFamily="49" charset="0"/>
              </a:rPr>
              <a:t>sockaddr</a:t>
            </a:r>
            <a:r>
              <a:rPr lang="en-US" sz="1600" dirty="0">
                <a:latin typeface="Courier New" pitchFamily="49" charset="0"/>
              </a:rPr>
              <a:t> SA;</a:t>
            </a:r>
            <a:endParaRPr lang="en-US" dirty="0"/>
          </a:p>
          <a:p>
            <a:r>
              <a:rPr lang="en-US" dirty="0"/>
              <a:t>Process can read bytes that arrive on the connection whose endpoint is 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/>
              <a:t>by reading from descriptor </a:t>
            </a:r>
            <a:r>
              <a:rPr lang="en-US" dirty="0" err="1">
                <a:latin typeface="Courier New"/>
                <a:cs typeface="Courier New"/>
              </a:rPr>
              <a:t>sockfd</a:t>
            </a:r>
            <a:endParaRPr lang="en-US" dirty="0"/>
          </a:p>
          <a:p>
            <a:r>
              <a:rPr lang="en-US" dirty="0"/>
              <a:t>Similarly, writes to </a:t>
            </a:r>
            <a:r>
              <a:rPr lang="en-US" dirty="0" err="1">
                <a:latin typeface="Courier New"/>
                <a:cs typeface="Courier New"/>
              </a:rPr>
              <a:t>sockfd</a:t>
            </a:r>
            <a:r>
              <a:rPr lang="en-US" dirty="0"/>
              <a:t> are transferred along connection whose endpoint is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+mn-lt"/>
                <a:cs typeface="Courier New"/>
              </a:rPr>
              <a:t>Best practice is to use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>
                <a:latin typeface="+mn-lt"/>
                <a:cs typeface="Courier New"/>
              </a:rPr>
              <a:t> to supply the arguments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r>
              <a:rPr lang="en-US" dirty="0">
                <a:latin typeface="+mn-lt"/>
                <a:cs typeface="Courier New"/>
              </a:rPr>
              <a:t> and </a:t>
            </a:r>
            <a:r>
              <a:rPr lang="en-US" dirty="0" err="1">
                <a:latin typeface="Courier New"/>
                <a:cs typeface="Courier New"/>
              </a:rPr>
              <a:t>addrlen</a:t>
            </a:r>
            <a:r>
              <a:rPr lang="en-US" dirty="0">
                <a:latin typeface="+mn-lt"/>
                <a:cs typeface="Courier New"/>
              </a:rPr>
              <a:t>. 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143000" y="2248972"/>
            <a:ext cx="6341199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bind(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sockfd</a:t>
            </a:r>
            <a:r>
              <a:rPr lang="en-US" sz="1600" dirty="0">
                <a:latin typeface="Courier New" pitchFamily="49" charset="0"/>
              </a:rPr>
              <a:t>, SA *</a:t>
            </a:r>
            <a:r>
              <a:rPr lang="en-US" sz="1600" dirty="0" err="1">
                <a:latin typeface="Courier New" pitchFamily="49" charset="0"/>
              </a:rPr>
              <a:t>addr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socklen_t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addrlen</a:t>
            </a:r>
            <a:r>
              <a:rPr lang="en-US" sz="1600" dirty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8481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8585E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1B7502-79D7-473E-B60E-F03C706E6664}"/>
              </a:ext>
            </a:extLst>
          </p:cNvPr>
          <p:cNvSpPr txBox="1"/>
          <p:nvPr/>
        </p:nvSpPr>
        <p:spPr>
          <a:xfrm>
            <a:off x="4460147" y="1298215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DE22D8-D0F5-4C7A-A275-9E7DC29C114E}"/>
              </a:ext>
            </a:extLst>
          </p:cNvPr>
          <p:cNvSpPr txBox="1"/>
          <p:nvPr/>
        </p:nvSpPr>
        <p:spPr>
          <a:xfrm>
            <a:off x="4402853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EC9257-6CC8-4F3E-AC34-4A1EEF2AAC69}"/>
              </a:ext>
            </a:extLst>
          </p:cNvPr>
          <p:cNvSpPr txBox="1"/>
          <p:nvPr/>
        </p:nvSpPr>
        <p:spPr>
          <a:xfrm>
            <a:off x="3998367" y="2639652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&lt;-&gt; SA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B6828D-518C-4A69-B891-1C673125AB3F}"/>
              </a:ext>
            </a:extLst>
          </p:cNvPr>
          <p:cNvSpPr txBox="1"/>
          <p:nvPr/>
        </p:nvSpPr>
        <p:spPr>
          <a:xfrm>
            <a:off x="3253362" y="1291127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E760A8-A3B3-4E14-969C-811AB2330F73}"/>
              </a:ext>
            </a:extLst>
          </p:cNvPr>
          <p:cNvSpPr txBox="1"/>
          <p:nvPr/>
        </p:nvSpPr>
        <p:spPr>
          <a:xfrm>
            <a:off x="3174239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91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listen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5267325"/>
          </a:xfrm>
        </p:spPr>
        <p:txBody>
          <a:bodyPr/>
          <a:lstStyle/>
          <a:p>
            <a:r>
              <a:rPr lang="en-US" dirty="0"/>
              <a:t>By default, kernel assumes that descriptor from socket function is an </a:t>
            </a:r>
            <a:r>
              <a:rPr lang="en-US" i="1" dirty="0">
                <a:solidFill>
                  <a:srgbClr val="FF0000"/>
                </a:solidFill>
              </a:rPr>
              <a:t>active socket </a:t>
            </a:r>
            <a:r>
              <a:rPr lang="en-US" dirty="0"/>
              <a:t>that will be on the client end of a connection.</a:t>
            </a:r>
          </a:p>
          <a:p>
            <a:r>
              <a:rPr lang="en-US" dirty="0"/>
              <a:t>A server calls the listen function to tell the kernel that a descriptor will be used by a server rather than a client: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Converts </a:t>
            </a:r>
            <a:r>
              <a:rPr lang="en-US" dirty="0" err="1">
                <a:latin typeface="Courier New"/>
                <a:cs typeface="Courier New"/>
              </a:rPr>
              <a:t>sockfd</a:t>
            </a:r>
            <a:r>
              <a:rPr lang="en-US" dirty="0"/>
              <a:t> from an active socket to a </a:t>
            </a:r>
            <a:r>
              <a:rPr lang="en-US" i="1" dirty="0">
                <a:solidFill>
                  <a:srgbClr val="FF0000"/>
                </a:solidFill>
              </a:rPr>
              <a:t>listening socket</a:t>
            </a:r>
            <a:r>
              <a:rPr lang="en-US" dirty="0"/>
              <a:t> that can accept connection requests from clients. </a:t>
            </a:r>
          </a:p>
          <a:p>
            <a:pPr lvl="1"/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backlog </a:t>
            </a:r>
            <a:r>
              <a:rPr lang="en-US" dirty="0">
                <a:latin typeface="+mn-lt"/>
                <a:cs typeface="Courier New"/>
              </a:rPr>
              <a:t>is a hint about the number of outstanding connection requests that the kernel should queue up before starting to refuse requests.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905000" y="3505200"/>
            <a:ext cx="4617370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listen(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sockfd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backlog);</a:t>
            </a:r>
          </a:p>
        </p:txBody>
      </p:sp>
    </p:spTree>
    <p:extLst>
      <p:ext uri="{BB962C8B-B14F-4D97-AF65-F5344CB8AC3E}">
        <p14:creationId xmlns:p14="http://schemas.microsoft.com/office/powerpoint/2010/main" val="112595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8585E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9A24AF-089D-40D3-879F-BA334380BCBA}"/>
              </a:ext>
            </a:extLst>
          </p:cNvPr>
          <p:cNvSpPr txBox="1"/>
          <p:nvPr/>
        </p:nvSpPr>
        <p:spPr>
          <a:xfrm>
            <a:off x="3159894" y="1287135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69183C-E367-420F-B022-6CF7DF735CB1}"/>
              </a:ext>
            </a:extLst>
          </p:cNvPr>
          <p:cNvSpPr txBox="1"/>
          <p:nvPr/>
        </p:nvSpPr>
        <p:spPr>
          <a:xfrm>
            <a:off x="3174239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798754-7918-4205-8102-650AE86D983E}"/>
              </a:ext>
            </a:extLst>
          </p:cNvPr>
          <p:cNvSpPr txBox="1"/>
          <p:nvPr/>
        </p:nvSpPr>
        <p:spPr>
          <a:xfrm>
            <a:off x="4435475" y="1287135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114D17-B209-4772-94B1-A64BF5A69909}"/>
              </a:ext>
            </a:extLst>
          </p:cNvPr>
          <p:cNvSpPr txBox="1"/>
          <p:nvPr/>
        </p:nvSpPr>
        <p:spPr>
          <a:xfrm>
            <a:off x="4402853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01BA6D-FB28-4AA5-B7C5-5CD1C8E2488D}"/>
              </a:ext>
            </a:extLst>
          </p:cNvPr>
          <p:cNvSpPr txBox="1"/>
          <p:nvPr/>
        </p:nvSpPr>
        <p:spPr>
          <a:xfrm>
            <a:off x="3998367" y="2639652"/>
            <a:ext cx="151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 &lt;-&gt; SA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828761-455A-402B-905C-C00320E7B7FE}"/>
              </a:ext>
            </a:extLst>
          </p:cNvPr>
          <p:cNvSpPr txBox="1"/>
          <p:nvPr/>
        </p:nvSpPr>
        <p:spPr>
          <a:xfrm>
            <a:off x="5789068" y="3300452"/>
            <a:ext cx="17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listening </a:t>
            </a:r>
            <a:r>
              <a:rPr lang="en-US" sz="180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6437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accept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5267325"/>
          </a:xfrm>
        </p:spPr>
        <p:txBody>
          <a:bodyPr/>
          <a:lstStyle/>
          <a:p>
            <a:r>
              <a:rPr lang="en-US" dirty="0"/>
              <a:t>Servers wait for connection requests from clients by calling </a:t>
            </a:r>
            <a:r>
              <a:rPr lang="en-US" dirty="0">
                <a:latin typeface="Courier New"/>
                <a:cs typeface="Courier New"/>
              </a:rPr>
              <a:t>accept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Waits for connection request to arrive on the connection bound to </a:t>
            </a:r>
            <a:r>
              <a:rPr lang="en-US" dirty="0" err="1">
                <a:latin typeface="Courier New"/>
                <a:cs typeface="Courier New"/>
              </a:rPr>
              <a:t>listenfd</a:t>
            </a:r>
            <a:r>
              <a:rPr lang="en-US" dirty="0"/>
              <a:t>, then fills in client’s socket address in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r>
              <a:rPr lang="en-US" dirty="0"/>
              <a:t> and size of the socket address in </a:t>
            </a:r>
            <a:r>
              <a:rPr lang="en-US" dirty="0" err="1">
                <a:latin typeface="Courier New"/>
                <a:cs typeface="Courier New"/>
              </a:rPr>
              <a:t>addrlen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Returns a </a:t>
            </a:r>
            <a:r>
              <a:rPr lang="en-US" i="1" dirty="0">
                <a:solidFill>
                  <a:srgbClr val="FF0000"/>
                </a:solidFill>
              </a:rPr>
              <a:t>connected descriptor </a:t>
            </a:r>
            <a:r>
              <a:rPr lang="en-US" dirty="0"/>
              <a:t>that can be used to communicate with the client via Unix I/O routines. </a:t>
            </a:r>
            <a:endParaRPr lang="en-US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143000" y="2266604"/>
            <a:ext cx="6218069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accept(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listenfd</a:t>
            </a:r>
            <a:r>
              <a:rPr lang="en-US" sz="1600" dirty="0">
                <a:latin typeface="Courier New" pitchFamily="49" charset="0"/>
              </a:rPr>
              <a:t>, SA *</a:t>
            </a:r>
            <a:r>
              <a:rPr lang="en-US" sz="1600" dirty="0" err="1">
                <a:latin typeface="Courier New" pitchFamily="49" charset="0"/>
              </a:rPr>
              <a:t>addr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*</a:t>
            </a:r>
            <a:r>
              <a:rPr lang="en-US" sz="1600" dirty="0" err="1">
                <a:latin typeface="Courier New" pitchFamily="49" charset="0"/>
              </a:rPr>
              <a:t>addrlen</a:t>
            </a:r>
            <a:r>
              <a:rPr lang="en-US" sz="1600" dirty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0443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268787"/>
            <a:ext cx="6400800" cy="1283136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8585E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CD9B02-6C3E-4CA9-8657-D84D796BDEED}"/>
              </a:ext>
            </a:extLst>
          </p:cNvPr>
          <p:cNvSpPr txBox="1"/>
          <p:nvPr/>
        </p:nvSpPr>
        <p:spPr>
          <a:xfrm>
            <a:off x="5789068" y="3300452"/>
            <a:ext cx="17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listening </a:t>
            </a:r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FA895E-FAA6-495C-8610-1ADD6904498F}"/>
              </a:ext>
            </a:extLst>
          </p:cNvPr>
          <p:cNvSpPr txBox="1"/>
          <p:nvPr/>
        </p:nvSpPr>
        <p:spPr>
          <a:xfrm>
            <a:off x="3198747" y="1270858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E19494-E2E2-4155-B76C-7E37C79303E7}"/>
              </a:ext>
            </a:extLst>
          </p:cNvPr>
          <p:cNvSpPr txBox="1"/>
          <p:nvPr/>
        </p:nvSpPr>
        <p:spPr>
          <a:xfrm>
            <a:off x="4435475" y="1292810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3EF733-DA29-4B07-9856-A35CBAF0656B}"/>
              </a:ext>
            </a:extLst>
          </p:cNvPr>
          <p:cNvSpPr txBox="1"/>
          <p:nvPr/>
        </p:nvSpPr>
        <p:spPr>
          <a:xfrm>
            <a:off x="3174239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66432F-8D31-4E0E-818D-B56FF61DD59D}"/>
              </a:ext>
            </a:extLst>
          </p:cNvPr>
          <p:cNvSpPr txBox="1"/>
          <p:nvPr/>
        </p:nvSpPr>
        <p:spPr>
          <a:xfrm>
            <a:off x="4402853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EE6385-EE1B-4A6F-9D17-2A97C6F7996D}"/>
              </a:ext>
            </a:extLst>
          </p:cNvPr>
          <p:cNvSpPr txBox="1"/>
          <p:nvPr/>
        </p:nvSpPr>
        <p:spPr>
          <a:xfrm>
            <a:off x="3998367" y="2639652"/>
            <a:ext cx="151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 &lt;-&gt; SA</a:t>
            </a:r>
          </a:p>
        </p:txBody>
      </p:sp>
    </p:spTree>
    <p:extLst>
      <p:ext uri="{BB962C8B-B14F-4D97-AF65-F5344CB8AC3E}">
        <p14:creationId xmlns:p14="http://schemas.microsoft.com/office/powerpoint/2010/main" val="23450660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Interface: </a:t>
            </a:r>
            <a:r>
              <a:rPr lang="en-US" dirty="0">
                <a:latin typeface="Courier New"/>
                <a:cs typeface="Courier New"/>
              </a:rPr>
              <a:t>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061325" cy="771525"/>
          </a:xfrm>
        </p:spPr>
        <p:txBody>
          <a:bodyPr/>
          <a:lstStyle/>
          <a:p>
            <a:r>
              <a:rPr lang="en-US" dirty="0"/>
              <a:t>A client establishes a connection with a server by calling connect:</a:t>
            </a:r>
          </a:p>
          <a:p>
            <a:endParaRPr lang="en-US" dirty="0"/>
          </a:p>
          <a:p>
            <a:r>
              <a:rPr lang="en-US" dirty="0"/>
              <a:t>Attempts to establish a connection with server at socket address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endParaRPr lang="en-US" dirty="0">
              <a:latin typeface="Courier New"/>
              <a:cs typeface="Courier New"/>
            </a:endParaRPr>
          </a:p>
          <a:p>
            <a:pPr lvl="1"/>
            <a:r>
              <a:rPr lang="en-US" dirty="0">
                <a:latin typeface="+mn-lt"/>
                <a:cs typeface="Courier New"/>
              </a:rPr>
              <a:t>If successful, then </a:t>
            </a:r>
            <a:r>
              <a:rPr lang="en-US" b="1" dirty="0" err="1">
                <a:latin typeface="Courier New"/>
                <a:cs typeface="Courier New"/>
              </a:rPr>
              <a:t>clientfd</a:t>
            </a:r>
            <a:r>
              <a:rPr lang="en-US" dirty="0">
                <a:latin typeface="+mn-lt"/>
                <a:cs typeface="Courier New"/>
              </a:rPr>
              <a:t> is now ready for reading and writing. </a:t>
            </a:r>
          </a:p>
          <a:p>
            <a:pPr lvl="1"/>
            <a:r>
              <a:rPr lang="en-US" dirty="0">
                <a:latin typeface="+mn-lt"/>
                <a:cs typeface="Courier New"/>
              </a:rPr>
              <a:t>Resulting connection is  characterized by socket pair</a:t>
            </a:r>
          </a:p>
          <a:p>
            <a:pPr marL="457200" lvl="1" indent="0">
              <a:buNone/>
            </a:pPr>
            <a:r>
              <a:rPr lang="en-US" dirty="0">
                <a:latin typeface="+mn-lt"/>
                <a:cs typeface="Courier New"/>
              </a:rPr>
              <a:t>	</a:t>
            </a:r>
            <a:r>
              <a:rPr lang="en-US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x:y</a:t>
            </a:r>
            <a:r>
              <a:rPr lang="en-US" dirty="0">
                <a:latin typeface="Courier New"/>
                <a:cs typeface="Courier New"/>
              </a:rPr>
              <a:t>, </a:t>
            </a:r>
            <a:r>
              <a:rPr lang="en-US" b="1" dirty="0" err="1">
                <a:latin typeface="Courier New"/>
                <a:cs typeface="Courier New"/>
              </a:rPr>
              <a:t>addr.sin_addr:addr.sin_port</a:t>
            </a:r>
            <a:r>
              <a:rPr lang="en-US" dirty="0">
                <a:latin typeface="Courier New"/>
                <a:cs typeface="Courier New"/>
              </a:rPr>
              <a:t>)</a:t>
            </a:r>
          </a:p>
          <a:p>
            <a:pPr lvl="2"/>
            <a:r>
              <a:rPr lang="en-US" b="1" dirty="0">
                <a:latin typeface="Courier New"/>
                <a:cs typeface="Courier New"/>
              </a:rPr>
              <a:t>x</a:t>
            </a:r>
            <a:r>
              <a:rPr lang="en-US" dirty="0">
                <a:latin typeface="+mn-lt"/>
                <a:cs typeface="Courier New"/>
              </a:rPr>
              <a:t> is client address</a:t>
            </a:r>
          </a:p>
          <a:p>
            <a:pPr lvl="2"/>
            <a:r>
              <a:rPr lang="en-US" b="1" dirty="0">
                <a:latin typeface="Courier New"/>
                <a:cs typeface="Courier New"/>
              </a:rPr>
              <a:t>y</a:t>
            </a:r>
            <a:r>
              <a:rPr lang="en-US" dirty="0">
                <a:latin typeface="+mn-lt"/>
                <a:cs typeface="Courier New"/>
              </a:rPr>
              <a:t> is ephemeral port that uniquely identifies client process on client host</a:t>
            </a:r>
          </a:p>
          <a:p>
            <a:pPr marL="0" indent="0">
              <a:buNone/>
            </a:pPr>
            <a:r>
              <a:rPr lang="en-US" dirty="0">
                <a:latin typeface="+mn-lt"/>
                <a:cs typeface="Courier New"/>
              </a:rPr>
              <a:t>Best practice is to use 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>
                <a:latin typeface="+mn-lt"/>
                <a:cs typeface="Courier New"/>
              </a:rPr>
              <a:t>  to supply the arguments </a:t>
            </a:r>
            <a:r>
              <a:rPr lang="en-US" dirty="0" err="1">
                <a:latin typeface="Courier New"/>
                <a:cs typeface="Courier New"/>
              </a:rPr>
              <a:t>addr</a:t>
            </a:r>
            <a:r>
              <a:rPr lang="en-US" dirty="0">
                <a:latin typeface="+mn-lt"/>
                <a:cs typeface="Courier New"/>
              </a:rPr>
              <a:t> and </a:t>
            </a:r>
            <a:r>
              <a:rPr lang="en-US" dirty="0" err="1">
                <a:latin typeface="Courier New"/>
                <a:cs typeface="Courier New"/>
              </a:rPr>
              <a:t>addrlen</a:t>
            </a:r>
            <a:r>
              <a:rPr lang="en-US" dirty="0">
                <a:latin typeface="+mn-lt"/>
                <a:cs typeface="Courier New"/>
              </a:rPr>
              <a:t>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66800" y="2209800"/>
            <a:ext cx="6956852" cy="33855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connect(</a:t>
            </a: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clientfd</a:t>
            </a:r>
            <a:r>
              <a:rPr lang="en-US" sz="1600" dirty="0">
                <a:latin typeface="Courier New" pitchFamily="49" charset="0"/>
              </a:rPr>
              <a:t>, SA *</a:t>
            </a:r>
            <a:r>
              <a:rPr lang="en-US" sz="1600" dirty="0" err="1">
                <a:latin typeface="Courier New" pitchFamily="49" charset="0"/>
              </a:rPr>
              <a:t>addr</a:t>
            </a:r>
            <a:r>
              <a:rPr lang="en-US" sz="1600" dirty="0">
                <a:latin typeface="Courier New" pitchFamily="49" charset="0"/>
              </a:rPr>
              <a:t>, </a:t>
            </a:r>
            <a:r>
              <a:rPr lang="en-US" sz="1600" dirty="0" err="1">
                <a:latin typeface="Courier New" pitchFamily="49" charset="0"/>
              </a:rPr>
              <a:t>socklen_t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addrlen</a:t>
            </a:r>
            <a:r>
              <a:rPr lang="en-US" sz="1600" dirty="0">
                <a:latin typeface="Courier New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9135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9120" y="476655"/>
            <a:ext cx="8382000" cy="573087"/>
          </a:xfrm>
        </p:spPr>
        <p:txBody>
          <a:bodyPr/>
          <a:lstStyle/>
          <a:p>
            <a:r>
              <a:rPr lang="en-US" dirty="0">
                <a:latin typeface="Courier New" pitchFamily="49" charset="0"/>
              </a:rPr>
              <a:t>connect/accept</a:t>
            </a:r>
            <a:r>
              <a:rPr lang="en-US" dirty="0"/>
              <a:t> Illustrated</a:t>
            </a:r>
          </a:p>
        </p:txBody>
      </p:sp>
      <p:sp>
        <p:nvSpPr>
          <p:cNvPr id="740356" name="Text Box 4"/>
          <p:cNvSpPr txBox="1">
            <a:spLocks noChangeArrowheads="1"/>
          </p:cNvSpPr>
          <p:nvPr/>
        </p:nvSpPr>
        <p:spPr bwMode="auto">
          <a:xfrm>
            <a:off x="2967038" y="1239838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58" name="Rectangle 6"/>
          <p:cNvSpPr>
            <a:spLocks noChangeArrowheads="1"/>
          </p:cNvSpPr>
          <p:nvPr/>
        </p:nvSpPr>
        <p:spPr bwMode="auto">
          <a:xfrm>
            <a:off x="469900" y="1576388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59" name="Text Box 7"/>
          <p:cNvSpPr txBox="1">
            <a:spLocks noChangeArrowheads="1"/>
          </p:cNvSpPr>
          <p:nvPr/>
        </p:nvSpPr>
        <p:spPr bwMode="auto">
          <a:xfrm>
            <a:off x="5011738" y="1456920"/>
            <a:ext cx="3294062" cy="1190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1800" i="1" dirty="0">
                <a:latin typeface="Calibri" pitchFamily="34" charset="0"/>
              </a:rPr>
              <a:t>1. Server blocks in </a:t>
            </a:r>
            <a:r>
              <a:rPr lang="en-US" sz="1800" i="1" dirty="0">
                <a:latin typeface="Courier New" pitchFamily="49" charset="0"/>
              </a:rPr>
              <a:t>accept</a:t>
            </a:r>
            <a:r>
              <a:rPr lang="en-US" sz="1800" i="1" dirty="0">
                <a:latin typeface="Calibri" pitchFamily="34" charset="0"/>
              </a:rPr>
              <a:t>, waiting for connection request on listening descriptor </a:t>
            </a:r>
            <a:r>
              <a:rPr lang="en-US" sz="1800" i="1" dirty="0" err="1">
                <a:latin typeface="Courier New" pitchFamily="49" charset="0"/>
              </a:rPr>
              <a:t>listenfd</a:t>
            </a:r>
            <a:endParaRPr lang="en-US" sz="1800" i="1" dirty="0">
              <a:latin typeface="Calibri" pitchFamily="34" charset="0"/>
            </a:endParaRPr>
          </a:p>
        </p:txBody>
      </p:sp>
      <p:sp>
        <p:nvSpPr>
          <p:cNvPr id="740360" name="Text Box 8"/>
          <p:cNvSpPr txBox="1">
            <a:spLocks noChangeArrowheads="1"/>
          </p:cNvSpPr>
          <p:nvPr/>
        </p:nvSpPr>
        <p:spPr bwMode="auto">
          <a:xfrm>
            <a:off x="1003300" y="2106613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61" name="Rectangle 9"/>
          <p:cNvSpPr>
            <a:spLocks noChangeArrowheads="1"/>
          </p:cNvSpPr>
          <p:nvPr/>
        </p:nvSpPr>
        <p:spPr bwMode="auto">
          <a:xfrm>
            <a:off x="3449638" y="1576388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63" name="Text Box 11"/>
          <p:cNvSpPr txBox="1">
            <a:spLocks noChangeArrowheads="1"/>
          </p:cNvSpPr>
          <p:nvPr/>
        </p:nvSpPr>
        <p:spPr bwMode="auto">
          <a:xfrm>
            <a:off x="2967038" y="3108325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65" name="Rectangle 13"/>
          <p:cNvSpPr>
            <a:spLocks noChangeArrowheads="1"/>
          </p:cNvSpPr>
          <p:nvPr/>
        </p:nvSpPr>
        <p:spPr bwMode="auto">
          <a:xfrm>
            <a:off x="469900" y="3444875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66" name="Text Box 14"/>
          <p:cNvSpPr txBox="1">
            <a:spLocks noChangeArrowheads="1"/>
          </p:cNvSpPr>
          <p:nvPr/>
        </p:nvSpPr>
        <p:spPr bwMode="auto">
          <a:xfrm>
            <a:off x="1003300" y="3975100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67" name="Rectangle 15"/>
          <p:cNvSpPr>
            <a:spLocks noChangeArrowheads="1"/>
          </p:cNvSpPr>
          <p:nvPr/>
        </p:nvSpPr>
        <p:spPr bwMode="auto">
          <a:xfrm>
            <a:off x="3449638" y="3444875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68" name="Line 16"/>
          <p:cNvSpPr>
            <a:spLocks noChangeShapeType="1"/>
          </p:cNvSpPr>
          <p:nvPr/>
        </p:nvSpPr>
        <p:spPr bwMode="auto">
          <a:xfrm>
            <a:off x="1536700" y="357505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69" name="Text Box 17"/>
          <p:cNvSpPr txBox="1">
            <a:spLocks noChangeArrowheads="1"/>
          </p:cNvSpPr>
          <p:nvPr/>
        </p:nvSpPr>
        <p:spPr bwMode="auto">
          <a:xfrm>
            <a:off x="5048250" y="3308350"/>
            <a:ext cx="386715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1800" i="1" dirty="0">
                <a:latin typeface="Calibri" pitchFamily="34" charset="0"/>
              </a:rPr>
              <a:t>2. Client makes connection request by calling and blocking in </a:t>
            </a:r>
            <a:r>
              <a:rPr lang="en-US" sz="1800" i="1" dirty="0">
                <a:latin typeface="Courier New" pitchFamily="49" charset="0"/>
              </a:rPr>
              <a:t>connect</a:t>
            </a:r>
          </a:p>
        </p:txBody>
      </p:sp>
      <p:sp>
        <p:nvSpPr>
          <p:cNvPr id="740377" name="Text Box 25"/>
          <p:cNvSpPr txBox="1">
            <a:spLocks noChangeArrowheads="1"/>
          </p:cNvSpPr>
          <p:nvPr/>
        </p:nvSpPr>
        <p:spPr bwMode="auto">
          <a:xfrm>
            <a:off x="1358514" y="2990850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sp>
        <p:nvSpPr>
          <p:cNvPr id="740371" name="Text Box 19"/>
          <p:cNvSpPr txBox="1">
            <a:spLocks noChangeArrowheads="1"/>
          </p:cNvSpPr>
          <p:nvPr/>
        </p:nvSpPr>
        <p:spPr bwMode="auto">
          <a:xfrm>
            <a:off x="2954338" y="4938713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73" name="Rectangle 21"/>
          <p:cNvSpPr>
            <a:spLocks noChangeArrowheads="1"/>
          </p:cNvSpPr>
          <p:nvPr/>
        </p:nvSpPr>
        <p:spPr bwMode="auto">
          <a:xfrm>
            <a:off x="457200" y="5275263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74" name="Text Box 22"/>
          <p:cNvSpPr txBox="1">
            <a:spLocks noChangeArrowheads="1"/>
          </p:cNvSpPr>
          <p:nvPr/>
        </p:nvSpPr>
        <p:spPr bwMode="auto">
          <a:xfrm>
            <a:off x="990600" y="5805488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75" name="Rectangle 23"/>
          <p:cNvSpPr>
            <a:spLocks noChangeArrowheads="1"/>
          </p:cNvSpPr>
          <p:nvPr/>
        </p:nvSpPr>
        <p:spPr bwMode="auto">
          <a:xfrm>
            <a:off x="3436938" y="5275263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76" name="Text Box 24"/>
          <p:cNvSpPr txBox="1">
            <a:spLocks noChangeArrowheads="1"/>
          </p:cNvSpPr>
          <p:nvPr/>
        </p:nvSpPr>
        <p:spPr bwMode="auto">
          <a:xfrm>
            <a:off x="5057775" y="5137241"/>
            <a:ext cx="4010025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1800" i="1" dirty="0">
                <a:latin typeface="Calibri" pitchFamily="34" charset="0"/>
              </a:rPr>
              <a:t>3. Server returns </a:t>
            </a:r>
            <a:r>
              <a:rPr lang="en-US" sz="1800" i="1" dirty="0" err="1">
                <a:latin typeface="Courier New" pitchFamily="49" charset="0"/>
              </a:rPr>
              <a:t>connfd</a:t>
            </a:r>
            <a:r>
              <a:rPr lang="en-US" sz="1800" i="1" dirty="0">
                <a:latin typeface="Calibri" pitchFamily="34" charset="0"/>
              </a:rPr>
              <a:t> from </a:t>
            </a:r>
            <a:r>
              <a:rPr lang="en-US" sz="1800" i="1" dirty="0">
                <a:latin typeface="Courier New" pitchFamily="49" charset="0"/>
              </a:rPr>
              <a:t>accept</a:t>
            </a:r>
            <a:r>
              <a:rPr lang="en-US" sz="1800" i="1" dirty="0">
                <a:latin typeface="Calibri" pitchFamily="34" charset="0"/>
              </a:rPr>
              <a:t>. Client returns from </a:t>
            </a:r>
            <a:r>
              <a:rPr lang="en-US" sz="1800" i="1" dirty="0">
                <a:latin typeface="Courier New" pitchFamily="49" charset="0"/>
              </a:rPr>
              <a:t>connect</a:t>
            </a:r>
            <a:r>
              <a:rPr lang="en-US" sz="1800" i="1" dirty="0">
                <a:latin typeface="Calibri" pitchFamily="34" charset="0"/>
              </a:rPr>
              <a:t>. Connection is now established between </a:t>
            </a:r>
            <a:r>
              <a:rPr lang="en-US" sz="1800" i="1" dirty="0" err="1">
                <a:latin typeface="Courier New" pitchFamily="49" charset="0"/>
              </a:rPr>
              <a:t>clientfd</a:t>
            </a:r>
            <a:r>
              <a:rPr lang="en-US" sz="1800" i="1" dirty="0">
                <a:latin typeface="Calibri" pitchFamily="34" charset="0"/>
              </a:rPr>
              <a:t>  and  </a:t>
            </a:r>
            <a:r>
              <a:rPr lang="en-US" sz="1800" i="1" dirty="0" err="1">
                <a:latin typeface="Courier New" pitchFamily="49" charset="0"/>
              </a:rPr>
              <a:t>connfd</a:t>
            </a:r>
            <a:endParaRPr lang="en-US" sz="1800" i="1" dirty="0">
              <a:latin typeface="Calibri" pitchFamily="34" charset="0"/>
            </a:endParaRPr>
          </a:p>
        </p:txBody>
      </p:sp>
      <p:sp>
        <p:nvSpPr>
          <p:cNvPr id="740378" name="Oval 26"/>
          <p:cNvSpPr>
            <a:spLocks noChangeAspect="1" noChangeArrowheads="1"/>
          </p:cNvSpPr>
          <p:nvPr/>
        </p:nvSpPr>
        <p:spPr bwMode="auto">
          <a:xfrm>
            <a:off x="3388804" y="5664200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79" name="Text Box 27"/>
          <p:cNvSpPr txBox="1">
            <a:spLocks noChangeArrowheads="1"/>
          </p:cNvSpPr>
          <p:nvPr/>
        </p:nvSpPr>
        <p:spPr bwMode="auto">
          <a:xfrm>
            <a:off x="3067050" y="5818188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connfd(4)</a:t>
            </a:r>
          </a:p>
        </p:txBody>
      </p:sp>
      <p:sp>
        <p:nvSpPr>
          <p:cNvPr id="740380" name="Line 28"/>
          <p:cNvSpPr>
            <a:spLocks noChangeShapeType="1"/>
          </p:cNvSpPr>
          <p:nvPr/>
        </p:nvSpPr>
        <p:spPr bwMode="auto">
          <a:xfrm>
            <a:off x="1651000" y="5722938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57" name="Oval 5"/>
          <p:cNvSpPr>
            <a:spLocks noChangeAspect="1" noChangeArrowheads="1"/>
          </p:cNvSpPr>
          <p:nvPr/>
        </p:nvSpPr>
        <p:spPr bwMode="auto">
          <a:xfrm>
            <a:off x="1459285" y="1952625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64" name="Oval 12"/>
          <p:cNvSpPr>
            <a:spLocks noChangeAspect="1" noChangeArrowheads="1"/>
          </p:cNvSpPr>
          <p:nvPr/>
        </p:nvSpPr>
        <p:spPr bwMode="auto">
          <a:xfrm>
            <a:off x="1459285" y="3821113"/>
            <a:ext cx="128588" cy="128587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72" name="Oval 20"/>
          <p:cNvSpPr>
            <a:spLocks noChangeAspect="1" noChangeArrowheads="1"/>
          </p:cNvSpPr>
          <p:nvPr/>
        </p:nvSpPr>
        <p:spPr bwMode="auto">
          <a:xfrm>
            <a:off x="1459285" y="5651500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55" name="Oval 3"/>
          <p:cNvSpPr>
            <a:spLocks noChangeAspect="1" noChangeArrowheads="1"/>
          </p:cNvSpPr>
          <p:nvPr/>
        </p:nvSpPr>
        <p:spPr bwMode="auto">
          <a:xfrm>
            <a:off x="3388805" y="1635125"/>
            <a:ext cx="128587" cy="128588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62" name="Oval 10"/>
          <p:cNvSpPr>
            <a:spLocks noChangeAspect="1" noChangeArrowheads="1"/>
          </p:cNvSpPr>
          <p:nvPr/>
        </p:nvSpPr>
        <p:spPr bwMode="auto">
          <a:xfrm>
            <a:off x="3388805" y="3503613"/>
            <a:ext cx="128587" cy="128587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70" name="Oval 18"/>
          <p:cNvSpPr>
            <a:spLocks noChangeAspect="1" noChangeArrowheads="1"/>
          </p:cNvSpPr>
          <p:nvPr/>
        </p:nvSpPr>
        <p:spPr bwMode="auto">
          <a:xfrm>
            <a:off x="3388805" y="5334000"/>
            <a:ext cx="128587" cy="128588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3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3" grpId="0"/>
      <p:bldP spid="740365" grpId="0" animBg="1"/>
      <p:bldP spid="740366" grpId="0"/>
      <p:bldP spid="740367" grpId="0" animBg="1"/>
      <p:bldP spid="740368" grpId="0" animBg="1"/>
      <p:bldP spid="740369" grpId="0"/>
      <p:bldP spid="740377" grpId="0"/>
      <p:bldP spid="740371" grpId="0"/>
      <p:bldP spid="740373" grpId="0" animBg="1"/>
      <p:bldP spid="740374" grpId="0"/>
      <p:bldP spid="740375" grpId="0" animBg="1"/>
      <p:bldP spid="740376" grpId="0"/>
      <p:bldP spid="740378" grpId="0" animBg="1"/>
      <p:bldP spid="740379" grpId="0"/>
      <p:bldP spid="740380" grpId="0" animBg="1"/>
      <p:bldP spid="740364" grpId="0" animBg="1"/>
      <p:bldP spid="740372" grpId="0" animBg="1"/>
      <p:bldP spid="740362" grpId="0" animBg="1"/>
      <p:bldP spid="74037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Connected vs. Listening Descriptors</a:t>
            </a:r>
          </a:p>
        </p:txBody>
      </p:sp>
      <p:sp>
        <p:nvSpPr>
          <p:cNvPr id="7536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64450" y="1362074"/>
            <a:ext cx="7896225" cy="5191125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Listening descriptor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End point for client connection </a:t>
            </a:r>
            <a:r>
              <a:rPr lang="en-US" u="sng" dirty="0"/>
              <a:t>requests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Created once and exists for lifetime of the server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Connected descriptor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End point of the </a:t>
            </a:r>
            <a:r>
              <a:rPr lang="en-US" u="sng" dirty="0"/>
              <a:t>connection</a:t>
            </a:r>
            <a:r>
              <a:rPr lang="en-US" dirty="0"/>
              <a:t> between client and server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new descriptor is created each time the server accepts a connection request from a client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Exists only as long as it takes to service client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Why the distinction?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Allows for concurrent servers that can communicate over many client connections simultaneously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E.g., Each time we receive a new request, we fork a child to handle the request</a:t>
            </a:r>
          </a:p>
          <a:p>
            <a:pPr>
              <a:lnSpc>
                <a:spcPct val="8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794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268787"/>
            <a:ext cx="6400800" cy="1283136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CD9B02-6C3E-4CA9-8657-D84D796BDEED}"/>
              </a:ext>
            </a:extLst>
          </p:cNvPr>
          <p:cNvSpPr txBox="1"/>
          <p:nvPr/>
        </p:nvSpPr>
        <p:spPr>
          <a:xfrm>
            <a:off x="5789068" y="3300452"/>
            <a:ext cx="17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listening </a:t>
            </a:r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B8C37F7-3721-4CC0-9720-EDE45DAFC591}"/>
              </a:ext>
            </a:extLst>
          </p:cNvPr>
          <p:cNvSpPr txBox="1"/>
          <p:nvPr/>
        </p:nvSpPr>
        <p:spPr>
          <a:xfrm>
            <a:off x="6052653" y="3970303"/>
            <a:ext cx="195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connected </a:t>
            </a:r>
            <a:r>
              <a:rPr lang="en-US" sz="1800" dirty="0" err="1">
                <a:solidFill>
                  <a:srgbClr val="C00000"/>
                </a:solidFill>
                <a:latin typeface="Calibri" pitchFamily="34" charset="0"/>
              </a:rPr>
              <a:t>connfd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C974AF-B15D-46DA-9D4A-9632368BD0E9}"/>
              </a:ext>
            </a:extLst>
          </p:cNvPr>
          <p:cNvSpPr txBox="1"/>
          <p:nvPr/>
        </p:nvSpPr>
        <p:spPr>
          <a:xfrm>
            <a:off x="2770111" y="3970303"/>
            <a:ext cx="266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connected (to SA) </a:t>
            </a:r>
            <a:r>
              <a:rPr lang="en-US" sz="1800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FA895E-FAA6-495C-8610-1ADD6904498F}"/>
              </a:ext>
            </a:extLst>
          </p:cNvPr>
          <p:cNvSpPr txBox="1"/>
          <p:nvPr/>
        </p:nvSpPr>
        <p:spPr>
          <a:xfrm>
            <a:off x="3266503" y="1296384"/>
            <a:ext cx="74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E19494-E2E2-4155-B76C-7E37C79303E7}"/>
              </a:ext>
            </a:extLst>
          </p:cNvPr>
          <p:cNvSpPr txBox="1"/>
          <p:nvPr/>
        </p:nvSpPr>
        <p:spPr>
          <a:xfrm>
            <a:off x="4485141" y="1302276"/>
            <a:ext cx="794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SA list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3EF733-DA29-4B07-9856-A35CBAF0656B}"/>
              </a:ext>
            </a:extLst>
          </p:cNvPr>
          <p:cNvSpPr txBox="1"/>
          <p:nvPr/>
        </p:nvSpPr>
        <p:spPr>
          <a:xfrm>
            <a:off x="3174239" y="1968230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clientfd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66432F-8D31-4E0E-818D-B56FF61DD59D}"/>
              </a:ext>
            </a:extLst>
          </p:cNvPr>
          <p:cNvSpPr txBox="1"/>
          <p:nvPr/>
        </p:nvSpPr>
        <p:spPr>
          <a:xfrm>
            <a:off x="4402853" y="1966300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endParaRPr lang="en-US" sz="1800" b="0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EE6385-EE1B-4A6F-9D17-2A97C6F7996D}"/>
              </a:ext>
            </a:extLst>
          </p:cNvPr>
          <p:cNvSpPr txBox="1"/>
          <p:nvPr/>
        </p:nvSpPr>
        <p:spPr>
          <a:xfrm>
            <a:off x="3998367" y="2639652"/>
            <a:ext cx="1518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>
                <a:solidFill>
                  <a:srgbClr val="C00000"/>
                </a:solidFill>
                <a:latin typeface="Calibri" pitchFamily="34" charset="0"/>
              </a:rPr>
              <a:t>listenfd</a:t>
            </a:r>
            <a:r>
              <a:rPr lang="en-US" sz="1800" b="0" dirty="0">
                <a:solidFill>
                  <a:srgbClr val="C00000"/>
                </a:solidFill>
                <a:latin typeface="Calibri" pitchFamily="34" charset="0"/>
              </a:rPr>
              <a:t> &lt;-&gt; SA</a:t>
            </a:r>
          </a:p>
        </p:txBody>
      </p:sp>
    </p:spTree>
    <p:extLst>
      <p:ext uri="{BB962C8B-B14F-4D97-AF65-F5344CB8AC3E}">
        <p14:creationId xmlns:p14="http://schemas.microsoft.com/office/powerpoint/2010/main" val="39871384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A5A6E4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A5A6E4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8630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open_clientfd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2400" y="1981200"/>
            <a:ext cx="8831865" cy="280076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open_clientfd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hostname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port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hints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Get a list of potential server addresses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memset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(&amp;hints, 0,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hints.ai_socktype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SOCK_STREAM;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Open a connection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AI_NUMERICSERV;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…using numeric port arg.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|= AI_ADDRCONFIG;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Recommended for connections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Getaddrinfo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(hostname, port, &amp;hints,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77200" y="44312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466725"/>
          </a:xfrm>
        </p:spPr>
        <p:txBody>
          <a:bodyPr/>
          <a:lstStyle/>
          <a:p>
            <a:r>
              <a:rPr lang="en-US" dirty="0"/>
              <a:t>Establish a connection with a server</a:t>
            </a:r>
          </a:p>
        </p:txBody>
      </p:sp>
    </p:spTree>
    <p:extLst>
      <p:ext uri="{BB962C8B-B14F-4D97-AF65-F5344CB8AC3E}">
        <p14:creationId xmlns:p14="http://schemas.microsoft.com/office/powerpoint/2010/main" val="247228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35678"/>
            <a:ext cx="8839200" cy="762000"/>
          </a:xfrm>
        </p:spPr>
        <p:txBody>
          <a:bodyPr/>
          <a:lstStyle/>
          <a:p>
            <a:r>
              <a:rPr lang="en-US" dirty="0"/>
              <a:t>Review: </a:t>
            </a:r>
            <a:r>
              <a:rPr lang="en-US" dirty="0" err="1">
                <a:latin typeface="Courier New"/>
                <a:cs typeface="Courier New"/>
              </a:rPr>
              <a:t>getaddrinfo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/>
              <a:t>Linked List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472274" y="1868157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ai_canonname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5" name="Rectangle 379"/>
          <p:cNvSpPr>
            <a:spLocks noChangeArrowheads="1"/>
          </p:cNvSpPr>
          <p:nvPr/>
        </p:nvSpPr>
        <p:spPr bwMode="auto">
          <a:xfrm>
            <a:off x="381016" y="136118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result</a:t>
            </a:r>
          </a:p>
        </p:txBody>
      </p:sp>
      <p:sp>
        <p:nvSpPr>
          <p:cNvPr id="6" name="Rectangle 379"/>
          <p:cNvSpPr>
            <a:spLocks noChangeArrowheads="1"/>
          </p:cNvSpPr>
          <p:nvPr/>
        </p:nvSpPr>
        <p:spPr bwMode="auto">
          <a:xfrm>
            <a:off x="2472274" y="2121643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7" name="Rectangle 379"/>
          <p:cNvSpPr>
            <a:spLocks noChangeArrowheads="1"/>
          </p:cNvSpPr>
          <p:nvPr/>
        </p:nvSpPr>
        <p:spPr bwMode="auto">
          <a:xfrm>
            <a:off x="2472274" y="2375129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ai_next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8" name="Rectangle 379"/>
          <p:cNvSpPr>
            <a:spLocks noChangeArrowheads="1"/>
          </p:cNvSpPr>
          <p:nvPr/>
        </p:nvSpPr>
        <p:spPr bwMode="auto">
          <a:xfrm>
            <a:off x="2472274" y="1487929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9" name="Straight Arrow Connector 8"/>
          <p:cNvCxnSpPr>
            <a:stCxn id="6" idx="3"/>
          </p:cNvCxnSpPr>
          <p:nvPr/>
        </p:nvCxnSpPr>
        <p:spPr bwMode="auto">
          <a:xfrm>
            <a:off x="3803074" y="2248386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379"/>
          <p:cNvSpPr>
            <a:spLocks noChangeArrowheads="1"/>
          </p:cNvSpPr>
          <p:nvPr/>
        </p:nvSpPr>
        <p:spPr bwMode="auto">
          <a:xfrm>
            <a:off x="4563532" y="1994900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1711816" y="1487929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2343743" y="1143000"/>
            <a:ext cx="1536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+mn-lt"/>
                <a:cs typeface="Courier New"/>
              </a:rPr>
              <a:t>addrinfo</a:t>
            </a:r>
            <a:r>
              <a:rPr lang="en-US" sz="1600" dirty="0">
                <a:latin typeface="+mn-lt"/>
                <a:cs typeface="Courier New"/>
              </a:rPr>
              <a:t> </a:t>
            </a:r>
            <a:r>
              <a:rPr lang="en-US" sz="1600" dirty="0" err="1">
                <a:latin typeface="+mn-lt"/>
                <a:cs typeface="Courier New"/>
              </a:rPr>
              <a:t>structs</a:t>
            </a:r>
            <a:endParaRPr lang="en-US" sz="1600" dirty="0">
              <a:latin typeface="+mn-lt"/>
              <a:cs typeface="Courier New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46674" y="1678043"/>
            <a:ext cx="2079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n-lt"/>
                <a:cs typeface="Courier New"/>
              </a:rPr>
              <a:t>Socket address </a:t>
            </a:r>
            <a:r>
              <a:rPr lang="en-US" sz="1600" dirty="0" err="1">
                <a:latin typeface="+mn-lt"/>
                <a:cs typeface="Courier New"/>
              </a:rPr>
              <a:t>structs</a:t>
            </a:r>
            <a:endParaRPr lang="en-US" sz="1600" dirty="0">
              <a:latin typeface="+mn-lt"/>
              <a:cs typeface="Courier New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1711816" y="1994900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379"/>
          <p:cNvSpPr>
            <a:spLocks noChangeArrowheads="1"/>
          </p:cNvSpPr>
          <p:nvPr/>
        </p:nvSpPr>
        <p:spPr bwMode="auto">
          <a:xfrm>
            <a:off x="381016" y="1868157"/>
            <a:ext cx="1330800" cy="253486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16" name="Straight Connector 15"/>
          <p:cNvCxnSpPr>
            <a:stCxn id="7" idx="1"/>
          </p:cNvCxnSpPr>
          <p:nvPr/>
        </p:nvCxnSpPr>
        <p:spPr bwMode="auto">
          <a:xfrm flipH="1">
            <a:off x="2092045" y="2501872"/>
            <a:ext cx="38022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Connector 16"/>
          <p:cNvCxnSpPr/>
          <p:nvPr/>
        </p:nvCxnSpPr>
        <p:spPr bwMode="auto">
          <a:xfrm>
            <a:off x="2092045" y="2501872"/>
            <a:ext cx="0" cy="2534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Rectangle 379"/>
          <p:cNvSpPr>
            <a:spLocks noChangeArrowheads="1"/>
          </p:cNvSpPr>
          <p:nvPr/>
        </p:nvSpPr>
        <p:spPr bwMode="auto">
          <a:xfrm>
            <a:off x="2472274" y="313558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NULL</a:t>
            </a:r>
          </a:p>
        </p:txBody>
      </p:sp>
      <p:sp>
        <p:nvSpPr>
          <p:cNvPr id="19" name="Rectangle 379"/>
          <p:cNvSpPr>
            <a:spLocks noChangeArrowheads="1"/>
          </p:cNvSpPr>
          <p:nvPr/>
        </p:nvSpPr>
        <p:spPr bwMode="auto">
          <a:xfrm>
            <a:off x="2472274" y="3389072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0" name="Rectangle 379"/>
          <p:cNvSpPr>
            <a:spLocks noChangeArrowheads="1"/>
          </p:cNvSpPr>
          <p:nvPr/>
        </p:nvSpPr>
        <p:spPr bwMode="auto">
          <a:xfrm>
            <a:off x="2472274" y="3642558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ai_next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1" name="Rectangle 379"/>
          <p:cNvSpPr>
            <a:spLocks noChangeArrowheads="1"/>
          </p:cNvSpPr>
          <p:nvPr/>
        </p:nvSpPr>
        <p:spPr bwMode="auto">
          <a:xfrm>
            <a:off x="2472274" y="2755358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22" name="Straight Arrow Connector 21"/>
          <p:cNvCxnSpPr>
            <a:stCxn id="19" idx="3"/>
          </p:cNvCxnSpPr>
          <p:nvPr/>
        </p:nvCxnSpPr>
        <p:spPr bwMode="auto">
          <a:xfrm>
            <a:off x="3803074" y="3515815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Rectangle 379"/>
          <p:cNvSpPr>
            <a:spLocks noChangeArrowheads="1"/>
          </p:cNvSpPr>
          <p:nvPr/>
        </p:nvSpPr>
        <p:spPr bwMode="auto">
          <a:xfrm>
            <a:off x="4563532" y="3262329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2092045" y="2755358"/>
            <a:ext cx="38022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2092045" y="3769301"/>
            <a:ext cx="38022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2092045" y="3769301"/>
            <a:ext cx="0" cy="25348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2092045" y="4022787"/>
            <a:ext cx="380229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Rectangle 379"/>
          <p:cNvSpPr>
            <a:spLocks noChangeArrowheads="1"/>
          </p:cNvSpPr>
          <p:nvPr/>
        </p:nvSpPr>
        <p:spPr bwMode="auto">
          <a:xfrm>
            <a:off x="2472274" y="4403016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>
                <a:latin typeface="Courier New"/>
                <a:cs typeface="Courier New"/>
              </a:rPr>
              <a:t>NULL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29" name="Rectangle 379"/>
          <p:cNvSpPr>
            <a:spLocks noChangeArrowheads="1"/>
          </p:cNvSpPr>
          <p:nvPr/>
        </p:nvSpPr>
        <p:spPr bwMode="auto">
          <a:xfrm>
            <a:off x="2472274" y="4656501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 err="1">
                <a:latin typeface="Courier New"/>
                <a:cs typeface="Courier New"/>
              </a:rPr>
              <a:t>ai_addr</a:t>
            </a:r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30" name="Rectangle 379"/>
          <p:cNvSpPr>
            <a:spLocks noChangeArrowheads="1"/>
          </p:cNvSpPr>
          <p:nvPr/>
        </p:nvSpPr>
        <p:spPr bwMode="auto">
          <a:xfrm>
            <a:off x="2472274" y="4909987"/>
            <a:ext cx="1330800" cy="25348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sz="1400" dirty="0">
                <a:latin typeface="Courier New"/>
                <a:cs typeface="Courier New"/>
              </a:rPr>
              <a:t>NULL</a:t>
            </a:r>
          </a:p>
        </p:txBody>
      </p:sp>
      <p:sp>
        <p:nvSpPr>
          <p:cNvPr id="31" name="Rectangle 379"/>
          <p:cNvSpPr>
            <a:spLocks noChangeArrowheads="1"/>
          </p:cNvSpPr>
          <p:nvPr/>
        </p:nvSpPr>
        <p:spPr bwMode="auto">
          <a:xfrm>
            <a:off x="2472274" y="4022787"/>
            <a:ext cx="1330800" cy="380229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3803074" y="4783244"/>
            <a:ext cx="760457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Rectangle 379"/>
          <p:cNvSpPr>
            <a:spLocks noChangeArrowheads="1"/>
          </p:cNvSpPr>
          <p:nvPr/>
        </p:nvSpPr>
        <p:spPr bwMode="auto">
          <a:xfrm>
            <a:off x="4563532" y="4529758"/>
            <a:ext cx="1330800" cy="443600"/>
          </a:xfrm>
          <a:prstGeom prst="rect">
            <a:avLst/>
          </a:prstGeom>
          <a:solidFill>
            <a:srgbClr val="D5F2D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sz="1400" dirty="0">
              <a:latin typeface="Courier New"/>
              <a:cs typeface="Courier New"/>
            </a:endParaRP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188328" y="5413528"/>
            <a:ext cx="8442325" cy="1485615"/>
          </a:xfrm>
        </p:spPr>
        <p:txBody>
          <a:bodyPr/>
          <a:lstStyle/>
          <a:p>
            <a:r>
              <a:rPr lang="en-US" dirty="0"/>
              <a:t>Clients: walk this list, trying each socket address in turn, until the calls to </a:t>
            </a:r>
            <a:r>
              <a:rPr lang="en-US" dirty="0">
                <a:latin typeface="Courier New"/>
                <a:cs typeface="Courier New"/>
              </a:rPr>
              <a:t>socket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connect</a:t>
            </a:r>
            <a:r>
              <a:rPr lang="en-US" dirty="0"/>
              <a:t> succeed.</a:t>
            </a:r>
          </a:p>
          <a:p>
            <a:r>
              <a:rPr lang="en-US" dirty="0"/>
              <a:t>Servers: walk the list until calls to </a:t>
            </a:r>
            <a:r>
              <a:rPr lang="en-US" dirty="0">
                <a:latin typeface="Courier New"/>
                <a:cs typeface="Courier New"/>
              </a:rPr>
              <a:t>socket</a:t>
            </a:r>
            <a:r>
              <a:rPr lang="en-US" dirty="0"/>
              <a:t> and </a:t>
            </a:r>
            <a:r>
              <a:rPr lang="en-US" dirty="0">
                <a:latin typeface="Courier New"/>
                <a:cs typeface="Courier New"/>
              </a:rPr>
              <a:t>bind</a:t>
            </a:r>
            <a:r>
              <a:rPr lang="en-US" dirty="0"/>
              <a:t> succeed.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6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634582" cy="762000"/>
          </a:xfrm>
        </p:spPr>
        <p:txBody>
          <a:bodyPr/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open_clientfd</a:t>
            </a:r>
            <a:r>
              <a:rPr lang="en-US" dirty="0">
                <a:latin typeface="+mn-lt"/>
                <a:cs typeface="Courier New"/>
              </a:rPr>
              <a:t> (</a:t>
            </a:r>
            <a:r>
              <a:rPr lang="en-US" dirty="0" err="1">
                <a:latin typeface="+mn-lt"/>
                <a:cs typeface="Courier New"/>
              </a:rPr>
              <a:t>cont</a:t>
            </a:r>
            <a:r>
              <a:rPr lang="en-US" dirty="0">
                <a:latin typeface="+mn-lt"/>
                <a:cs typeface="Courier New"/>
              </a:rPr>
              <a:t>)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" y="1524000"/>
            <a:ext cx="8461270" cy="501675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Walk the list for one that we can successfully connect to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(p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p; p =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ai_next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Create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a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descriptor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ai_family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ai_socktype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       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ai_protocol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)) &lt; 0)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continue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failed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,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try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the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next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Connect to the server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(connect(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 != -1)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Success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Connect failed, try another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Clean up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Freeaddrinfo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(!p)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All connects failed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-1;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The last connect succeeded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2789" y="6171427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8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457200" y="4180323"/>
            <a:ext cx="6400800" cy="1371600"/>
            <a:chOff x="457200" y="4132968"/>
            <a:chExt cx="6400800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6934200" y="228600"/>
            <a:ext cx="2133600" cy="1194820"/>
          </a:xfrm>
        </p:spPr>
        <p:txBody>
          <a:bodyPr/>
          <a:lstStyle/>
          <a:p>
            <a:pPr algn="ctr"/>
            <a:r>
              <a:rPr lang="en-US" dirty="0"/>
              <a:t>Sockets Interface</a:t>
            </a:r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452735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452735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2028555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682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540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33983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57355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630093"/>
            <a:ext cx="15240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630093"/>
            <a:ext cx="1447800" cy="381000"/>
          </a:xfrm>
          <a:prstGeom prst="rect">
            <a:avLst/>
          </a:prstGeom>
          <a:solidFill>
            <a:srgbClr val="A5A6D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304780"/>
            <a:ext cx="1447800" cy="381000"/>
          </a:xfrm>
          <a:prstGeom prst="rect">
            <a:avLst/>
          </a:prstGeom>
          <a:solidFill>
            <a:srgbClr val="A5A6D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79468"/>
            <a:ext cx="1447800" cy="381000"/>
          </a:xfrm>
          <a:prstGeom prst="rect">
            <a:avLst/>
          </a:prstGeom>
          <a:solidFill>
            <a:srgbClr val="A5A6D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4025630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47755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70325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847955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952500"/>
            <a:ext cx="152400" cy="2447655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19494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open_listenfd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952500"/>
            <a:ext cx="152400" cy="3133455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open_clientfd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8749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87493"/>
            <a:ext cx="15240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58" name="Line 17"/>
          <p:cNvSpPr>
            <a:spLocks noChangeShapeType="1"/>
          </p:cNvSpPr>
          <p:nvPr/>
        </p:nvSpPr>
        <p:spPr bwMode="auto">
          <a:xfrm>
            <a:off x="5638800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9" name="Rectangle 22"/>
          <p:cNvSpPr>
            <a:spLocks noChangeArrowheads="1"/>
          </p:cNvSpPr>
          <p:nvPr/>
        </p:nvSpPr>
        <p:spPr bwMode="auto">
          <a:xfrm>
            <a:off x="4876800" y="952500"/>
            <a:ext cx="1447800" cy="381000"/>
          </a:xfrm>
          <a:prstGeom prst="rect">
            <a:avLst/>
          </a:prstGeom>
          <a:solidFill>
            <a:srgbClr val="A5A6D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19401" y="1290637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Rectangle 22"/>
          <p:cNvSpPr>
            <a:spLocks noChangeArrowheads="1"/>
          </p:cNvSpPr>
          <p:nvPr/>
        </p:nvSpPr>
        <p:spPr bwMode="auto">
          <a:xfrm>
            <a:off x="2057401" y="952500"/>
            <a:ext cx="1447800" cy="381000"/>
          </a:xfrm>
          <a:prstGeom prst="rect">
            <a:avLst/>
          </a:prstGeom>
          <a:solidFill>
            <a:srgbClr val="D5F1D2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618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35678"/>
            <a:ext cx="8915400" cy="762000"/>
          </a:xfrm>
        </p:spPr>
        <p:txBody>
          <a:bodyPr/>
          <a:lstStyle/>
          <a:p>
            <a:r>
              <a:rPr lang="en-US" dirty="0"/>
              <a:t>Sockets </a:t>
            </a:r>
            <a:r>
              <a:rPr lang="en-US" dirty="0">
                <a:latin typeface="+mn-lt"/>
              </a:rPr>
              <a:t>Helper</a:t>
            </a:r>
            <a:r>
              <a:rPr lang="en-US" dirty="0">
                <a:latin typeface="+mn-lt"/>
                <a:cs typeface="Courier New"/>
              </a:rPr>
              <a:t>: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endParaRPr lang="en-US" dirty="0">
              <a:latin typeface="Courier New"/>
              <a:cs typeface="Courier New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9735" y="2362200"/>
            <a:ext cx="8831865" cy="329320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open_listenfd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port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hints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optval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=1;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Get a list of potential server addresses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memset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(&amp;hints, 0,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hints.ai_socktype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SOCK_STREAM;     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Accept connect.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AI_PASSIVE | AI_ADDRCONFIG;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…on any IP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addr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hints.ai_flags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|= AI_NUMERICSERV;    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…using port no.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Getaddrinfo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port, &amp;hints,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98319" y="53456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4972050"/>
          </a:xfrm>
        </p:spPr>
        <p:txBody>
          <a:bodyPr/>
          <a:lstStyle/>
          <a:p>
            <a:r>
              <a:rPr lang="en-US" dirty="0"/>
              <a:t>Create a listening descriptor that can be used to accept connection requests from clients.</a:t>
            </a:r>
          </a:p>
        </p:txBody>
      </p:sp>
    </p:spTree>
    <p:extLst>
      <p:ext uri="{BB962C8B-B14F-4D97-AF65-F5344CB8AC3E}">
        <p14:creationId xmlns:p14="http://schemas.microsoft.com/office/powerpoint/2010/main" val="2868122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177382" cy="762000"/>
          </a:xfrm>
        </p:spPr>
        <p:txBody>
          <a:bodyPr/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9735" y="1524000"/>
            <a:ext cx="8214208" cy="403187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Walk the list for one that we can bind to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(p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p; p =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ai_next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Create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a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descriptor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ai_family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ai_socktype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        p-&gt;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ai_protocol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)) &lt; 0)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continue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Socket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failed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,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try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the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next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Eliminates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"Address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already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in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use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" </a:t>
            </a:r>
            <a:r>
              <a:rPr lang="da-DK" sz="1600" dirty="0" err="1">
                <a:solidFill>
                  <a:srgbClr val="CB2418"/>
                </a:solidFill>
                <a:latin typeface="Courier New"/>
                <a:cs typeface="Courier New"/>
              </a:rPr>
              <a:t>error</a:t>
            </a:r>
            <a:r>
              <a:rPr lang="da-DK" sz="1600" dirty="0">
                <a:solidFill>
                  <a:srgbClr val="CB2418"/>
                </a:solidFill>
                <a:latin typeface="Courier New"/>
                <a:cs typeface="Courier New"/>
              </a:rPr>
              <a:t> from bind */</a:t>
            </a:r>
            <a:endParaRPr lang="da-DK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Setsockopt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SOL_SOCKET, SO_REUSEADDR, 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(</a:t>
            </a:r>
            <a:r>
              <a:rPr lang="fi-FI" sz="1600" dirty="0" err="1">
                <a:solidFill>
                  <a:srgbClr val="C200FF"/>
                </a:solidFill>
                <a:latin typeface="Courier New"/>
                <a:cs typeface="Courier New"/>
              </a:rPr>
              <a:t>const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*)&amp;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optval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, </a:t>
            </a:r>
            <a:r>
              <a:rPr lang="fi-FI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Bind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the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descriptor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to the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address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fi-FI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bind(listenfd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p-&gt;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ai_addrlen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 == 0)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Success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Bind failed, try the next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51932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116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8177382" cy="762000"/>
          </a:xfrm>
        </p:spPr>
        <p:txBody>
          <a:bodyPr/>
          <a:lstStyle/>
          <a:p>
            <a:r>
              <a:rPr lang="en-US" dirty="0"/>
              <a:t>Sockets Helper: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r>
              <a:rPr lang="en-US" dirty="0"/>
              <a:t>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59735" y="1524000"/>
            <a:ext cx="8461270" cy="30469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Clean up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Freeaddrinfo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(!p)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No address worked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-1;</a:t>
            </a:r>
          </a:p>
          <a:p>
            <a:endParaRPr lang="is-I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Make it a listening socket ready to accept conn. requests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(listen(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LISTENQ) &lt;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-1;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7319" y="4202668"/>
            <a:ext cx="89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csapp.c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329153" y="5684972"/>
            <a:ext cx="8307387" cy="86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Key point: </a:t>
            </a:r>
            <a:r>
              <a:rPr lang="en-US" dirty="0" err="1">
                <a:latin typeface="Courier New"/>
                <a:cs typeface="Courier New"/>
              </a:rPr>
              <a:t>open_clientfd</a:t>
            </a:r>
            <a:r>
              <a:rPr lang="en-US" dirty="0">
                <a:latin typeface="Courier New"/>
                <a:cs typeface="Courier New"/>
              </a:rPr>
              <a:t> </a:t>
            </a:r>
            <a:r>
              <a:rPr lang="en-US" dirty="0"/>
              <a:t>and </a:t>
            </a:r>
            <a:r>
              <a:rPr lang="en-US" dirty="0" err="1">
                <a:latin typeface="Courier New"/>
                <a:cs typeface="Courier New"/>
              </a:rPr>
              <a:t>open_listenfd</a:t>
            </a:r>
            <a:r>
              <a:rPr lang="en-US" dirty="0"/>
              <a:t> are both independent of any particular version of IP.</a:t>
            </a:r>
            <a:endParaRPr lang="en-US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77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7524750" cy="573087"/>
          </a:xfrm>
        </p:spPr>
        <p:txBody>
          <a:bodyPr/>
          <a:lstStyle/>
          <a:p>
            <a:r>
              <a:rPr lang="en-US"/>
              <a:t>Testing Servers Using </a:t>
            </a:r>
            <a:r>
              <a:rPr lang="en-US">
                <a:latin typeface="Courier New" pitchFamily="49" charset="0"/>
              </a:rPr>
              <a:t>telnet</a:t>
            </a:r>
            <a:endParaRPr lang="en-US"/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itchFamily="49" charset="0"/>
              </a:rPr>
              <a:t>telnet </a:t>
            </a:r>
            <a:r>
              <a:rPr lang="en-US" dirty="0"/>
              <a:t>program is invaluable for testing servers that transmit ASCII strings over Internet connections</a:t>
            </a:r>
          </a:p>
          <a:p>
            <a:pPr lvl="1"/>
            <a:r>
              <a:rPr lang="en-US" dirty="0"/>
              <a:t>Our simple echo server</a:t>
            </a:r>
          </a:p>
          <a:p>
            <a:pPr lvl="1"/>
            <a:r>
              <a:rPr lang="en-US" dirty="0"/>
              <a:t>Web servers</a:t>
            </a:r>
          </a:p>
          <a:p>
            <a:pPr lvl="1"/>
            <a:r>
              <a:rPr lang="en-US" dirty="0"/>
              <a:t>Mail servers</a:t>
            </a:r>
          </a:p>
          <a:p>
            <a:endParaRPr lang="en-US" dirty="0"/>
          </a:p>
          <a:p>
            <a:r>
              <a:rPr lang="en-US" dirty="0"/>
              <a:t>Usage: 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linux</a:t>
            </a:r>
            <a:r>
              <a:rPr lang="en-US" b="1" dirty="0">
                <a:latin typeface="Courier New" pitchFamily="49" charset="0"/>
              </a:rPr>
              <a:t>&gt; </a:t>
            </a:r>
            <a:r>
              <a:rPr lang="en-US" b="1" i="1" dirty="0">
                <a:latin typeface="Courier New" pitchFamily="49" charset="0"/>
              </a:rPr>
              <a:t>telnet &lt;host&gt; &lt;</a:t>
            </a:r>
            <a:r>
              <a:rPr lang="en-US" b="1" i="1" dirty="0" err="1">
                <a:latin typeface="Courier New" pitchFamily="49" charset="0"/>
              </a:rPr>
              <a:t>portnumber</a:t>
            </a:r>
            <a:r>
              <a:rPr lang="en-US" b="1" i="1" dirty="0">
                <a:latin typeface="Courier New" pitchFamily="49" charset="0"/>
              </a:rPr>
              <a:t>&gt;</a:t>
            </a:r>
          </a:p>
          <a:p>
            <a:pPr lvl="1"/>
            <a:r>
              <a:rPr lang="en-US" dirty="0"/>
              <a:t>Creates a connection with a server running on </a:t>
            </a:r>
            <a:r>
              <a:rPr lang="en-US" b="1" i="1" dirty="0">
                <a:latin typeface="Courier New" pitchFamily="49" charset="0"/>
              </a:rPr>
              <a:t>&lt;host&gt;</a:t>
            </a:r>
            <a:r>
              <a:rPr lang="en-US" b="1" dirty="0"/>
              <a:t> </a:t>
            </a:r>
            <a:r>
              <a:rPr lang="en-US" dirty="0"/>
              <a:t>and  listening on port </a:t>
            </a:r>
            <a:r>
              <a:rPr lang="en-US" b="1" i="1" dirty="0">
                <a:latin typeface="Courier New" pitchFamily="49" charset="0"/>
              </a:rPr>
              <a:t>&lt;</a:t>
            </a:r>
            <a:r>
              <a:rPr lang="en-US" b="1" i="1" dirty="0" err="1">
                <a:latin typeface="Courier New" pitchFamily="49" charset="0"/>
              </a:rPr>
              <a:t>portnumber</a:t>
            </a:r>
            <a:r>
              <a:rPr lang="en-US" b="1" i="1" dirty="0">
                <a:latin typeface="Courier New" pitchFamily="49" charset="0"/>
              </a:rPr>
              <a:t>&gt;</a:t>
            </a:r>
            <a:endParaRPr lang="en-US" b="1" dirty="0">
              <a:latin typeface="Courier New" pitchFamily="49" charset="0"/>
            </a:endParaRPr>
          </a:p>
          <a:p>
            <a:endParaRPr lang="en-US" dirty="0">
              <a:latin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246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48575" y="436967"/>
            <a:ext cx="8588375" cy="573088"/>
          </a:xfrm>
        </p:spPr>
        <p:txBody>
          <a:bodyPr/>
          <a:lstStyle/>
          <a:p>
            <a:r>
              <a:rPr lang="en-US"/>
              <a:t>Testing the Echo Server With </a:t>
            </a:r>
            <a:r>
              <a:rPr lang="en-US">
                <a:latin typeface="Courier New" pitchFamily="49" charset="0"/>
              </a:rPr>
              <a:t>telnet</a:t>
            </a:r>
            <a:endParaRPr lang="en-US"/>
          </a:p>
        </p:txBody>
      </p:sp>
      <p:sp>
        <p:nvSpPr>
          <p:cNvPr id="744451" name="Text Box 3"/>
          <p:cNvSpPr txBox="1">
            <a:spLocks noChangeArrowheads="1"/>
          </p:cNvSpPr>
          <p:nvPr/>
        </p:nvSpPr>
        <p:spPr bwMode="auto">
          <a:xfrm>
            <a:off x="475882" y="1219200"/>
            <a:ext cx="6991718" cy="4770537"/>
          </a:xfrm>
          <a:prstGeom prst="rect">
            <a:avLst/>
          </a:prstGeom>
          <a:solidFill>
            <a:srgbClr val="D9D9D9"/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 ./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echoserveri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15213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Connected to (MAKOSHARK.ICS.CS.CMU.EDU, 50280)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server received 11 bytes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server received 8 bytes</a:t>
            </a:r>
            <a:endParaRPr lang="en-US" sz="1600" dirty="0">
              <a:latin typeface="Courier New"/>
              <a:cs typeface="Courier New"/>
            </a:endParaRPr>
          </a:p>
          <a:p>
            <a:endParaRPr lang="en-US" sz="1600" dirty="0">
              <a:latin typeface="Courier New"/>
              <a:cs typeface="Courier New"/>
            </a:endParaRP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makoshark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 telnet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15213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Trying 128.2.210.175...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Connected to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(128.2.210.175).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Hi there!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Hi there!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Howdy!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Howdy!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^]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telnet&gt; quit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Connection closed.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makoshark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</a:t>
            </a:r>
            <a:endParaRPr lang="en-US" sz="1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2584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000000"/>
                </a:solidFill>
              </a:rPr>
              <a:t>Network Programming</a:t>
            </a:r>
          </a:p>
          <a:p>
            <a:pPr lvl="1"/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Unix Socket Interface</a:t>
            </a:r>
          </a:p>
          <a:p>
            <a:pPr lvl="1"/>
            <a:r>
              <a:rPr lang="en-US" dirty="0" smtClean="0"/>
              <a:t>Web Servers</a:t>
            </a:r>
          </a:p>
          <a:p>
            <a:pPr lvl="0"/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Concurrent Programming</a:t>
            </a: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5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3733800" cy="573087"/>
          </a:xfrm>
        </p:spPr>
        <p:txBody>
          <a:bodyPr lIns="91294" tIns="45647" rIns="91294" bIns="45647" anchor="t"/>
          <a:lstStyle/>
          <a:p>
            <a:r>
              <a:rPr lang="en-US" dirty="0"/>
              <a:t>Web Server Basics</a:t>
            </a:r>
          </a:p>
        </p:txBody>
      </p:sp>
      <p:sp>
        <p:nvSpPr>
          <p:cNvPr id="758787" name="Oval 3"/>
          <p:cNvSpPr>
            <a:spLocks noChangeArrowheads="1"/>
          </p:cNvSpPr>
          <p:nvPr/>
        </p:nvSpPr>
        <p:spPr bwMode="auto">
          <a:xfrm>
            <a:off x="7546975" y="1676400"/>
            <a:ext cx="1368425" cy="1287463"/>
          </a:xfrm>
          <a:prstGeom prst="ellipse">
            <a:avLst/>
          </a:prstGeom>
          <a:solidFill>
            <a:srgbClr val="F1C7C7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+mn-lt"/>
              </a:rPr>
              <a:t>Web</a:t>
            </a:r>
          </a:p>
          <a:p>
            <a:pPr algn="ctr" defTabSz="912813"/>
            <a:r>
              <a:rPr lang="en-US" sz="1800">
                <a:latin typeface="+mn-lt"/>
              </a:rPr>
              <a:t>server</a:t>
            </a:r>
          </a:p>
        </p:txBody>
      </p:sp>
      <p:sp>
        <p:nvSpPr>
          <p:cNvPr id="758788" name="Line 4"/>
          <p:cNvSpPr>
            <a:spLocks noChangeShapeType="1"/>
          </p:cNvSpPr>
          <p:nvPr/>
        </p:nvSpPr>
        <p:spPr bwMode="auto">
          <a:xfrm>
            <a:off x="5859463" y="1976438"/>
            <a:ext cx="1749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58789" name="Text Box 5"/>
          <p:cNvSpPr txBox="1">
            <a:spLocks noChangeArrowheads="1"/>
          </p:cNvSpPr>
          <p:nvPr/>
        </p:nvSpPr>
        <p:spPr bwMode="auto">
          <a:xfrm>
            <a:off x="5781675" y="1594132"/>
            <a:ext cx="1611569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 dirty="0">
                <a:latin typeface="Courier New" pitchFamily="49" charset="0"/>
              </a:rPr>
              <a:t>HTTP </a:t>
            </a:r>
            <a:r>
              <a:rPr lang="en-US" sz="1800" dirty="0">
                <a:latin typeface="+mn-lt"/>
              </a:rPr>
              <a:t>request</a:t>
            </a:r>
          </a:p>
        </p:txBody>
      </p:sp>
      <p:sp>
        <p:nvSpPr>
          <p:cNvPr id="758790" name="Line 6"/>
          <p:cNvSpPr>
            <a:spLocks noChangeShapeType="1"/>
          </p:cNvSpPr>
          <p:nvPr/>
        </p:nvSpPr>
        <p:spPr bwMode="auto">
          <a:xfrm>
            <a:off x="6011863" y="2584450"/>
            <a:ext cx="1446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58791" name="Text Box 7"/>
          <p:cNvSpPr txBox="1">
            <a:spLocks noChangeArrowheads="1"/>
          </p:cNvSpPr>
          <p:nvPr/>
        </p:nvSpPr>
        <p:spPr bwMode="auto">
          <a:xfrm>
            <a:off x="5789613" y="2708964"/>
            <a:ext cx="1749177" cy="6463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 dirty="0">
                <a:latin typeface="Courier New" pitchFamily="49" charset="0"/>
              </a:rPr>
              <a:t>HTTP </a:t>
            </a:r>
            <a:r>
              <a:rPr lang="en-US" sz="1800" dirty="0">
                <a:latin typeface="+mn-lt"/>
              </a:rPr>
              <a:t>response</a:t>
            </a:r>
          </a:p>
          <a:p>
            <a:pPr defTabSz="912813"/>
            <a:r>
              <a:rPr lang="en-US" sz="1800" dirty="0">
                <a:latin typeface="+mn-lt"/>
              </a:rPr>
              <a:t>(content)</a:t>
            </a:r>
          </a:p>
        </p:txBody>
      </p:sp>
      <p:sp>
        <p:nvSpPr>
          <p:cNvPr id="75879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3212" y="1598613"/>
            <a:ext cx="4186238" cy="4687887"/>
          </a:xfrm>
          <a:noFill/>
          <a:ln/>
        </p:spPr>
        <p:txBody>
          <a:bodyPr lIns="90343" tIns="44379" rIns="90343" bIns="44379"/>
          <a:lstStyle/>
          <a:p>
            <a:r>
              <a:rPr lang="en-US" sz="2000" dirty="0"/>
              <a:t>Clients and servers communicate using  the </a:t>
            </a:r>
            <a:r>
              <a:rPr lang="en-US" sz="2000" dirty="0" err="1"/>
              <a:t>HyperText</a:t>
            </a:r>
            <a:r>
              <a:rPr lang="en-US" sz="2000" dirty="0"/>
              <a:t> Transfer Protocol (HTTP)</a:t>
            </a:r>
          </a:p>
          <a:p>
            <a:pPr lvl="1"/>
            <a:r>
              <a:rPr lang="en-US" sz="1800" dirty="0"/>
              <a:t>Client and server establish TCP connection</a:t>
            </a:r>
          </a:p>
          <a:p>
            <a:pPr lvl="1"/>
            <a:r>
              <a:rPr lang="en-US" sz="1800" dirty="0"/>
              <a:t>Client requests content</a:t>
            </a:r>
          </a:p>
          <a:p>
            <a:pPr lvl="1"/>
            <a:r>
              <a:rPr lang="en-US" sz="1800" dirty="0"/>
              <a:t>Server responds with requested content</a:t>
            </a:r>
          </a:p>
          <a:p>
            <a:pPr lvl="1"/>
            <a:r>
              <a:rPr lang="en-US" sz="1800" dirty="0"/>
              <a:t>Client and server close connection (eventually)</a:t>
            </a:r>
          </a:p>
          <a:p>
            <a:r>
              <a:rPr lang="en-US" sz="2000" dirty="0"/>
              <a:t>Current version is HTTP/1.1</a:t>
            </a:r>
          </a:p>
          <a:p>
            <a:pPr lvl="1"/>
            <a:r>
              <a:rPr lang="en-US" sz="1800" dirty="0"/>
              <a:t>RFC 2616, June, 1999. </a:t>
            </a:r>
          </a:p>
        </p:txBody>
      </p:sp>
      <p:sp>
        <p:nvSpPr>
          <p:cNvPr id="758793" name="Oval 9"/>
          <p:cNvSpPr>
            <a:spLocks noChangeArrowheads="1"/>
          </p:cNvSpPr>
          <p:nvPr/>
        </p:nvSpPr>
        <p:spPr bwMode="auto">
          <a:xfrm>
            <a:off x="4641850" y="1676400"/>
            <a:ext cx="1370013" cy="1287463"/>
          </a:xfrm>
          <a:prstGeom prst="ellipse">
            <a:avLst/>
          </a:prstGeom>
          <a:solidFill>
            <a:srgbClr val="F1C7C7"/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 dirty="0">
                <a:latin typeface="+mn-lt"/>
              </a:rPr>
              <a:t>Web</a:t>
            </a:r>
          </a:p>
          <a:p>
            <a:pPr algn="ctr" defTabSz="912813"/>
            <a:r>
              <a:rPr lang="en-US" sz="1800" dirty="0">
                <a:latin typeface="+mn-lt"/>
              </a:rPr>
              <a:t>client</a:t>
            </a:r>
          </a:p>
          <a:p>
            <a:pPr algn="ctr" defTabSz="912813"/>
            <a:r>
              <a:rPr lang="en-US" sz="1800" dirty="0">
                <a:latin typeface="+mn-lt"/>
              </a:rPr>
              <a:t>(browser) </a:t>
            </a:r>
          </a:p>
        </p:txBody>
      </p:sp>
      <p:sp>
        <p:nvSpPr>
          <p:cNvPr id="763908" name="Text Box 1028"/>
          <p:cNvSpPr txBox="1">
            <a:spLocks noChangeArrowheads="1"/>
          </p:cNvSpPr>
          <p:nvPr/>
        </p:nvSpPr>
        <p:spPr bwMode="auto">
          <a:xfrm>
            <a:off x="303213" y="5949950"/>
            <a:ext cx="757130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Courier New" pitchFamily="49" charset="0"/>
              </a:rPr>
              <a:t>http://www.w3.org/Protocols/rfc2616/rfc2616.html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4572000" y="4953000"/>
            <a:ext cx="1828800" cy="609600"/>
          </a:xfrm>
          <a:prstGeom prst="rect">
            <a:avLst/>
          </a:prstGeom>
          <a:solidFill>
            <a:srgbClr val="D5F1CF"/>
          </a:solidFill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IP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4572000" y="4343400"/>
            <a:ext cx="1828800" cy="609600"/>
          </a:xfrm>
          <a:prstGeom prst="rect">
            <a:avLst/>
          </a:prstGeom>
          <a:solidFill>
            <a:srgbClr val="F6F5BD"/>
          </a:solidFill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TCP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572000" y="3733800"/>
            <a:ext cx="1828800" cy="609600"/>
          </a:xfrm>
          <a:prstGeom prst="rect">
            <a:avLst/>
          </a:prstGeom>
          <a:solidFill>
            <a:srgbClr val="F1C7C7"/>
          </a:solidFill>
          <a:ln w="28575">
            <a:solidFill>
              <a:srgbClr val="C0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US" dirty="0">
                <a:latin typeface="+mn-lt"/>
              </a:rPr>
              <a:t>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49334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alibri" pitchFamily="34" charset="0"/>
              </a:rPr>
              <a:t>Datagrams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4507468"/>
            <a:ext cx="96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65602"/>
            <a:ext cx="141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Web content</a:t>
            </a:r>
          </a:p>
        </p:txBody>
      </p:sp>
    </p:spTree>
    <p:extLst>
      <p:ext uri="{BB962C8B-B14F-4D97-AF65-F5344CB8AC3E}">
        <p14:creationId xmlns:p14="http://schemas.microsoft.com/office/powerpoint/2010/main" val="1450056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5646738" cy="573087"/>
          </a:xfrm>
        </p:spPr>
        <p:txBody>
          <a:bodyPr/>
          <a:lstStyle/>
          <a:p>
            <a:r>
              <a:rPr lang="en-US"/>
              <a:t>Web Content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853487" cy="5224462"/>
          </a:xfrm>
        </p:spPr>
        <p:txBody>
          <a:bodyPr/>
          <a:lstStyle/>
          <a:p>
            <a:pPr>
              <a:tabLst>
                <a:tab pos="4403725" algn="l"/>
              </a:tabLst>
            </a:pPr>
            <a:r>
              <a:rPr lang="en-US" dirty="0"/>
              <a:t>Web servers return </a:t>
            </a:r>
            <a:r>
              <a:rPr lang="en-US" i="1" dirty="0">
                <a:solidFill>
                  <a:srgbClr val="FF0000"/>
                </a:solidFill>
              </a:rPr>
              <a:t>content</a:t>
            </a:r>
            <a:r>
              <a:rPr lang="en-US" dirty="0"/>
              <a:t> to clients</a:t>
            </a:r>
          </a:p>
          <a:p>
            <a:pPr lvl="1">
              <a:tabLst>
                <a:tab pos="4403725" algn="l"/>
              </a:tabLst>
            </a:pPr>
            <a:r>
              <a:rPr lang="en-US" i="1" dirty="0"/>
              <a:t>content: </a:t>
            </a:r>
            <a:r>
              <a:rPr lang="en-US" dirty="0"/>
              <a:t>a sequence of bytes with an associated MIME (Multipurpose Internet Mail Extensions) type</a:t>
            </a:r>
          </a:p>
          <a:p>
            <a:pPr>
              <a:tabLst>
                <a:tab pos="4403725" algn="l"/>
              </a:tabLst>
            </a:pPr>
            <a:endParaRPr lang="en-US" dirty="0"/>
          </a:p>
          <a:p>
            <a:pPr>
              <a:tabLst>
                <a:tab pos="4403725" algn="l"/>
              </a:tabLst>
            </a:pPr>
            <a:r>
              <a:rPr lang="en-US" dirty="0"/>
              <a:t>Example MIME types</a:t>
            </a:r>
          </a:p>
          <a:p>
            <a:pPr lvl="1">
              <a:tabLst>
                <a:tab pos="4403725" algn="l"/>
              </a:tabLst>
            </a:pPr>
            <a:r>
              <a:rPr lang="en-US" b="1" dirty="0">
                <a:latin typeface="Courier New" pitchFamily="49" charset="0"/>
              </a:rPr>
              <a:t>text/html</a:t>
            </a:r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/>
              <a:t>HTML</a:t>
            </a:r>
            <a:r>
              <a:rPr lang="en-US" dirty="0"/>
              <a:t> document</a:t>
            </a:r>
          </a:p>
          <a:p>
            <a:pPr lvl="1">
              <a:tabLst>
                <a:tab pos="4403725" algn="l"/>
              </a:tabLst>
            </a:pPr>
            <a:r>
              <a:rPr lang="en-US" b="1" dirty="0">
                <a:latin typeface="Courier New" pitchFamily="49" charset="0"/>
              </a:rPr>
              <a:t>text/plain</a:t>
            </a:r>
            <a:r>
              <a:rPr lang="en-US" dirty="0">
                <a:latin typeface="Courier New" pitchFamily="49" charset="0"/>
              </a:rPr>
              <a:t>	</a:t>
            </a:r>
            <a:r>
              <a:rPr lang="en-US" dirty="0"/>
              <a:t>Unformatted text</a:t>
            </a:r>
          </a:p>
          <a:p>
            <a:pPr lvl="1">
              <a:tabLst>
                <a:tab pos="4403725" algn="l"/>
              </a:tabLst>
            </a:pPr>
            <a:r>
              <a:rPr lang="en-US" b="1" dirty="0">
                <a:latin typeface="Courier New" pitchFamily="49" charset="0"/>
              </a:rPr>
              <a:t>image/gif</a:t>
            </a:r>
            <a:r>
              <a:rPr lang="en-US" dirty="0">
                <a:latin typeface="Courier New" pitchFamily="49" charset="0"/>
              </a:rPr>
              <a:t>	</a:t>
            </a:r>
            <a:r>
              <a:rPr lang="en-US" dirty="0"/>
              <a:t>Binary image encoded in GIF format</a:t>
            </a:r>
          </a:p>
          <a:p>
            <a:pPr lvl="1">
              <a:tabLst>
                <a:tab pos="4403725" algn="l"/>
              </a:tabLst>
            </a:pPr>
            <a:r>
              <a:rPr lang="en-US" b="1" dirty="0">
                <a:latin typeface="Courier New"/>
                <a:cs typeface="Courier New"/>
              </a:rPr>
              <a:t>image/</a:t>
            </a:r>
            <a:r>
              <a:rPr lang="en-US" b="1" dirty="0" err="1">
                <a:latin typeface="Courier New"/>
                <a:cs typeface="Courier New"/>
              </a:rPr>
              <a:t>png</a:t>
            </a:r>
            <a:r>
              <a:rPr lang="en-US" dirty="0"/>
              <a:t>	</a:t>
            </a:r>
            <a:r>
              <a:rPr lang="en-US" dirty="0" err="1"/>
              <a:t>Binar</a:t>
            </a:r>
            <a:r>
              <a:rPr lang="en-US" dirty="0"/>
              <a:t> image encoded in PNG format</a:t>
            </a:r>
          </a:p>
          <a:p>
            <a:pPr lvl="1">
              <a:tabLst>
                <a:tab pos="4403725" algn="l"/>
              </a:tabLst>
            </a:pPr>
            <a:r>
              <a:rPr lang="en-US" b="1" dirty="0">
                <a:latin typeface="Courier New" pitchFamily="49" charset="0"/>
              </a:rPr>
              <a:t>image/jpeg</a:t>
            </a:r>
            <a:r>
              <a:rPr lang="en-US" dirty="0"/>
              <a:t>	Binary image encoded in JPEG format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81000" y="5832939"/>
            <a:ext cx="8634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latin typeface="+mn-lt"/>
                <a:cs typeface="Courier New"/>
              </a:rPr>
              <a:t>You can find the complete list of MIME types at:</a:t>
            </a:r>
          </a:p>
          <a:p>
            <a:r>
              <a:rPr lang="en-US" sz="1800" dirty="0">
                <a:latin typeface="Courier New"/>
                <a:cs typeface="Courier New"/>
              </a:rPr>
              <a:t>http://</a:t>
            </a:r>
            <a:r>
              <a:rPr lang="en-US" sz="1800" dirty="0" err="1">
                <a:latin typeface="Courier New"/>
                <a:cs typeface="Courier New"/>
              </a:rPr>
              <a:t>www.iana.org</a:t>
            </a:r>
            <a:r>
              <a:rPr lang="en-US" sz="1800" dirty="0">
                <a:latin typeface="Courier New"/>
                <a:cs typeface="Courier New"/>
              </a:rPr>
              <a:t>/assignments/media-types/media-</a:t>
            </a:r>
            <a:r>
              <a:rPr lang="en-US" sz="1800" dirty="0" err="1">
                <a:latin typeface="Courier New"/>
                <a:cs typeface="Courier New"/>
              </a:rPr>
              <a:t>types.xhtml</a:t>
            </a:r>
            <a:endParaRPr lang="en-US" sz="1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0590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8077200" cy="573087"/>
          </a:xfrm>
        </p:spPr>
        <p:txBody>
          <a:bodyPr lIns="91294" tIns="45647" rIns="91294" bIns="45647" anchor="t"/>
          <a:lstStyle/>
          <a:p>
            <a:r>
              <a:rPr lang="en-US"/>
              <a:t>Static and Dynamic Content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294" tIns="45647" rIns="91294" bIns="45647"/>
          <a:lstStyle/>
          <a:p>
            <a:r>
              <a:rPr lang="en-US" dirty="0"/>
              <a:t>The content returned in HTTP responses can be either </a:t>
            </a:r>
            <a:r>
              <a:rPr lang="en-US" i="1" dirty="0">
                <a:solidFill>
                  <a:srgbClr val="FF0000"/>
                </a:solidFill>
              </a:rPr>
              <a:t>static</a:t>
            </a:r>
            <a:r>
              <a:rPr lang="en-US" dirty="0"/>
              <a:t> or </a:t>
            </a:r>
            <a:r>
              <a:rPr lang="en-US" i="1" dirty="0">
                <a:solidFill>
                  <a:srgbClr val="FF0000"/>
                </a:solidFill>
              </a:rPr>
              <a:t>dynamic</a:t>
            </a:r>
            <a:endParaRPr lang="en-US" dirty="0"/>
          </a:p>
          <a:p>
            <a:pPr lvl="1"/>
            <a:r>
              <a:rPr lang="en-US" i="1" dirty="0"/>
              <a:t>Static content</a:t>
            </a:r>
            <a:r>
              <a:rPr lang="en-US" dirty="0"/>
              <a:t>: content stored in files and retrieved in response to an HTTP request</a:t>
            </a:r>
          </a:p>
          <a:p>
            <a:pPr lvl="2"/>
            <a:r>
              <a:rPr lang="en-US" dirty="0"/>
              <a:t>Examples: HTML files, images, audio clips</a:t>
            </a:r>
          </a:p>
          <a:p>
            <a:pPr lvl="2"/>
            <a:r>
              <a:rPr lang="en-US" dirty="0"/>
              <a:t>Request identifies which content file</a:t>
            </a:r>
          </a:p>
          <a:p>
            <a:pPr lvl="1"/>
            <a:r>
              <a:rPr lang="en-US" i="1" dirty="0"/>
              <a:t>Dynamic content</a:t>
            </a:r>
            <a:r>
              <a:rPr lang="en-US" dirty="0"/>
              <a:t>: content produced on-the-fly in response to an HTTP request</a:t>
            </a:r>
          </a:p>
          <a:p>
            <a:pPr lvl="2"/>
            <a:r>
              <a:rPr lang="en-US" dirty="0"/>
              <a:t>Example: content produced by a program executed by the server on behalf of the client</a:t>
            </a:r>
          </a:p>
          <a:p>
            <a:pPr lvl="2"/>
            <a:r>
              <a:rPr lang="en-US" dirty="0"/>
              <a:t>Request identifies file containing executable code</a:t>
            </a:r>
          </a:p>
          <a:p>
            <a:r>
              <a:rPr lang="en-US" dirty="0"/>
              <a:t>Bottom line: </a:t>
            </a:r>
            <a:r>
              <a:rPr lang="en-US" i="1" dirty="0"/>
              <a:t>Web content is associated with a file that is managed by the server</a:t>
            </a:r>
          </a:p>
        </p:txBody>
      </p:sp>
    </p:spTree>
    <p:extLst>
      <p:ext uri="{BB962C8B-B14F-4D97-AF65-F5344CB8AC3E}">
        <p14:creationId xmlns:p14="http://schemas.microsoft.com/office/powerpoint/2010/main" val="2050905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8382000" cy="573087"/>
          </a:xfrm>
        </p:spPr>
        <p:txBody>
          <a:bodyPr/>
          <a:lstStyle/>
          <a:p>
            <a:r>
              <a:rPr lang="en-US" dirty="0"/>
              <a:t>URLs and how clients and servers use them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408612"/>
          </a:xfrm>
        </p:spPr>
        <p:txBody>
          <a:bodyPr/>
          <a:lstStyle/>
          <a:p>
            <a:r>
              <a:rPr lang="en-US" dirty="0"/>
              <a:t>Unique name for a file: URL (Universal Resource Locator)</a:t>
            </a:r>
          </a:p>
          <a:p>
            <a:r>
              <a:rPr lang="en-US" dirty="0"/>
              <a:t>Example URL: 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http://www.cmu.edu:80</a:t>
            </a:r>
            <a:r>
              <a:rPr lang="en-US" dirty="0">
                <a:solidFill>
                  <a:srgbClr val="00CC66"/>
                </a:solidFill>
                <a:latin typeface="Courier New" pitchFamily="49" charset="0"/>
              </a:rPr>
              <a:t>/index.html</a:t>
            </a:r>
          </a:p>
          <a:p>
            <a:r>
              <a:rPr lang="en-US" dirty="0"/>
              <a:t>Clients use </a:t>
            </a:r>
            <a:r>
              <a:rPr lang="en-US" i="1" dirty="0">
                <a:solidFill>
                  <a:srgbClr val="000000"/>
                </a:solidFill>
              </a:rPr>
              <a:t>prefix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http://www.cmu.edu:80</a:t>
            </a:r>
            <a:r>
              <a:rPr lang="en-US" dirty="0"/>
              <a:t>) to infer:</a:t>
            </a:r>
          </a:p>
          <a:p>
            <a:pPr lvl="1"/>
            <a:r>
              <a:rPr lang="en-US" dirty="0"/>
              <a:t>What kind (protocol) of server to contact (HTTP)</a:t>
            </a:r>
          </a:p>
          <a:p>
            <a:pPr lvl="1"/>
            <a:r>
              <a:rPr lang="en-US" dirty="0"/>
              <a:t>Where the server is (</a:t>
            </a:r>
            <a:r>
              <a:rPr lang="en-US" b="1" dirty="0">
                <a:latin typeface="Courier New" pitchFamily="49" charset="0"/>
              </a:rPr>
              <a:t>www.cmu.edu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What port it is listening on (80)</a:t>
            </a:r>
          </a:p>
          <a:p>
            <a:r>
              <a:rPr lang="en-US" dirty="0"/>
              <a:t>Servers use </a:t>
            </a:r>
            <a:r>
              <a:rPr lang="en-US" i="1" dirty="0">
                <a:solidFill>
                  <a:srgbClr val="000000"/>
                </a:solidFill>
              </a:rPr>
              <a:t>suffix</a:t>
            </a:r>
            <a:r>
              <a:rPr lang="en-US" dirty="0"/>
              <a:t> (</a:t>
            </a:r>
            <a:r>
              <a:rPr lang="en-US" dirty="0">
                <a:solidFill>
                  <a:srgbClr val="00CC66"/>
                </a:solidFill>
                <a:latin typeface="Courier New" pitchFamily="49" charset="0"/>
              </a:rPr>
              <a:t>/index.html</a:t>
            </a:r>
            <a:r>
              <a:rPr lang="en-US" dirty="0"/>
              <a:t>) to:</a:t>
            </a:r>
          </a:p>
          <a:p>
            <a:pPr lvl="1"/>
            <a:r>
              <a:rPr lang="en-US" dirty="0"/>
              <a:t>Determine if request is for static or dynamic content.</a:t>
            </a:r>
          </a:p>
          <a:p>
            <a:pPr lvl="2"/>
            <a:r>
              <a:rPr lang="en-US" dirty="0"/>
              <a:t>No hard and fast rules for this</a:t>
            </a:r>
          </a:p>
          <a:p>
            <a:pPr lvl="2"/>
            <a:r>
              <a:rPr lang="en-US" dirty="0"/>
              <a:t>One convention: executables reside in </a:t>
            </a:r>
            <a:r>
              <a:rPr lang="en-US" b="1" dirty="0" err="1">
                <a:latin typeface="Courier New" pitchFamily="49" charset="0"/>
              </a:rPr>
              <a:t>cgi</a:t>
            </a:r>
            <a:r>
              <a:rPr lang="en-US" b="1" dirty="0">
                <a:latin typeface="Courier New" pitchFamily="49" charset="0"/>
              </a:rPr>
              <a:t>-bin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directory</a:t>
            </a:r>
          </a:p>
          <a:p>
            <a:pPr lvl="1"/>
            <a:r>
              <a:rPr lang="en-US" dirty="0"/>
              <a:t>Find file on file system</a:t>
            </a:r>
          </a:p>
          <a:p>
            <a:pPr lvl="2"/>
            <a:r>
              <a:rPr lang="en-US" dirty="0"/>
              <a:t>Initial “</a:t>
            </a:r>
            <a:r>
              <a:rPr lang="en-US" b="1" dirty="0">
                <a:latin typeface="Courier New" pitchFamily="49" charset="0"/>
              </a:rPr>
              <a:t>/</a:t>
            </a:r>
            <a:r>
              <a:rPr lang="en-US" dirty="0"/>
              <a:t>” in suffix denotes home directory for requested content.</a:t>
            </a:r>
          </a:p>
          <a:p>
            <a:pPr lvl="2"/>
            <a:r>
              <a:rPr lang="en-US" dirty="0"/>
              <a:t>Minimal suffix is “</a:t>
            </a:r>
            <a:r>
              <a:rPr lang="en-US" b="1" dirty="0">
                <a:latin typeface="Courier New" pitchFamily="49" charset="0"/>
              </a:rPr>
              <a:t>/</a:t>
            </a:r>
            <a:r>
              <a:rPr lang="en-US" dirty="0"/>
              <a:t>”, which server expands to configured default filename (usually, </a:t>
            </a:r>
            <a:r>
              <a:rPr lang="en-US" b="1" dirty="0" err="1">
                <a:latin typeface="Courier New" pitchFamily="49" charset="0"/>
              </a:rPr>
              <a:t>index.html</a:t>
            </a:r>
            <a:r>
              <a:rPr lang="en-US" dirty="0"/>
              <a:t>)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949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5888038" cy="573088"/>
          </a:xfrm>
        </p:spPr>
        <p:txBody>
          <a:bodyPr/>
          <a:lstStyle/>
          <a:p>
            <a:r>
              <a:rPr lang="en-US"/>
              <a:t>HTTP Requests</a:t>
            </a:r>
          </a:p>
        </p:txBody>
      </p:sp>
      <p:sp>
        <p:nvSpPr>
          <p:cNvPr id="76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4"/>
            <a:ext cx="8289925" cy="5191125"/>
          </a:xfrm>
          <a:ln/>
        </p:spPr>
        <p:txBody>
          <a:bodyPr/>
          <a:lstStyle/>
          <a:p>
            <a:r>
              <a:rPr lang="en-US" dirty="0"/>
              <a:t>HTTP request is a </a:t>
            </a:r>
            <a:r>
              <a:rPr lang="en-US" i="1" dirty="0">
                <a:solidFill>
                  <a:srgbClr val="FF0000"/>
                </a:solidFill>
              </a:rPr>
              <a:t>request line</a:t>
            </a:r>
            <a:r>
              <a:rPr lang="en-US" dirty="0"/>
              <a:t>, followed by zero or more </a:t>
            </a:r>
            <a:r>
              <a:rPr lang="en-US" i="1" dirty="0">
                <a:solidFill>
                  <a:srgbClr val="FF0000"/>
                </a:solidFill>
              </a:rPr>
              <a:t>request headers</a:t>
            </a:r>
          </a:p>
          <a:p>
            <a:endParaRPr lang="en-US" dirty="0"/>
          </a:p>
          <a:p>
            <a:r>
              <a:rPr lang="en-US" dirty="0"/>
              <a:t>Request line: </a:t>
            </a:r>
            <a:r>
              <a:rPr lang="en-US" dirty="0">
                <a:latin typeface="Courier New" pitchFamily="49" charset="0"/>
              </a:rPr>
              <a:t>&lt;method&gt; &lt;</a:t>
            </a:r>
            <a:r>
              <a:rPr lang="en-US" dirty="0" err="1">
                <a:latin typeface="Courier New" pitchFamily="49" charset="0"/>
              </a:rPr>
              <a:t>uri</a:t>
            </a:r>
            <a:r>
              <a:rPr lang="en-US" dirty="0">
                <a:latin typeface="Courier New" pitchFamily="49" charset="0"/>
              </a:rPr>
              <a:t>&gt; &lt;version&gt;</a:t>
            </a:r>
          </a:p>
          <a:p>
            <a:pPr lvl="1"/>
            <a:r>
              <a:rPr lang="en-US" b="1" dirty="0">
                <a:latin typeface="Courier New" pitchFamily="49" charset="0"/>
              </a:rPr>
              <a:t>&lt;method&gt; </a:t>
            </a:r>
            <a:r>
              <a:rPr lang="en-US" dirty="0"/>
              <a:t>is one of  </a:t>
            </a:r>
            <a:r>
              <a:rPr lang="en-US" b="1" dirty="0">
                <a:latin typeface="Courier New" pitchFamily="49" charset="0"/>
              </a:rPr>
              <a:t>GET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POST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OPTIONS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HEAD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PUT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b="1" dirty="0">
                <a:latin typeface="Courier New" pitchFamily="49" charset="0"/>
              </a:rPr>
              <a:t>DELETE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dirty="0"/>
              <a:t>or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TRACE</a:t>
            </a:r>
          </a:p>
          <a:p>
            <a:pPr lvl="1"/>
            <a:r>
              <a:rPr lang="en-US" b="1" dirty="0">
                <a:latin typeface="Courier New" pitchFamily="49" charset="0"/>
              </a:rPr>
              <a:t>&lt;</a:t>
            </a:r>
            <a:r>
              <a:rPr lang="en-US" b="1" dirty="0" err="1">
                <a:latin typeface="Courier New" pitchFamily="49" charset="0"/>
              </a:rPr>
              <a:t>uri</a:t>
            </a:r>
            <a:r>
              <a:rPr lang="en-US" b="1" dirty="0">
                <a:latin typeface="Courier New" pitchFamily="49" charset="0"/>
              </a:rPr>
              <a:t>&gt;</a:t>
            </a:r>
            <a:r>
              <a:rPr lang="en-US" b="1" dirty="0"/>
              <a:t> </a:t>
            </a:r>
            <a:r>
              <a:rPr lang="en-US" dirty="0"/>
              <a:t>is typically URL for proxies, URL suffix for servers</a:t>
            </a:r>
          </a:p>
          <a:p>
            <a:pPr lvl="2"/>
            <a:r>
              <a:rPr lang="en-US" dirty="0"/>
              <a:t>A URL is a type of URI (Uniform Resource Identifier)</a:t>
            </a:r>
          </a:p>
          <a:p>
            <a:pPr lvl="2"/>
            <a:r>
              <a:rPr lang="en-US" dirty="0"/>
              <a:t>See </a:t>
            </a:r>
            <a:r>
              <a:rPr lang="en-US" dirty="0">
                <a:hlinkClick r:id="rId3"/>
              </a:rPr>
              <a:t>http://www.ietf.org/rfc/rfc2396.txt</a:t>
            </a:r>
            <a:endParaRPr lang="en-US" dirty="0"/>
          </a:p>
          <a:p>
            <a:pPr lvl="1"/>
            <a:r>
              <a:rPr lang="en-US" b="1" dirty="0">
                <a:latin typeface="Courier New" pitchFamily="49" charset="0"/>
              </a:rPr>
              <a:t>&lt;version&gt;</a:t>
            </a:r>
            <a:r>
              <a:rPr lang="en-US" b="1" dirty="0"/>
              <a:t> </a:t>
            </a:r>
            <a:r>
              <a:rPr lang="en-US" dirty="0"/>
              <a:t>is HTTP version of request (</a:t>
            </a:r>
            <a:r>
              <a:rPr lang="en-US" b="1" dirty="0">
                <a:latin typeface="Courier New" pitchFamily="49" charset="0"/>
              </a:rPr>
              <a:t>HTTP/1.0</a:t>
            </a:r>
            <a:r>
              <a:rPr lang="en-US" dirty="0"/>
              <a:t> or </a:t>
            </a:r>
            <a:r>
              <a:rPr lang="en-US" b="1" dirty="0">
                <a:latin typeface="Courier New" pitchFamily="49" charset="0"/>
              </a:rPr>
              <a:t>HTTP/1.1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Request headers: </a:t>
            </a:r>
            <a:r>
              <a:rPr lang="en-US" dirty="0">
                <a:latin typeface="Courier New" pitchFamily="49" charset="0"/>
              </a:rPr>
              <a:t>&lt;header name&gt;: &lt;header data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Provide additional information to the server</a:t>
            </a:r>
          </a:p>
          <a:p>
            <a:pPr lvl="1"/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83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6154738" cy="573087"/>
          </a:xfrm>
        </p:spPr>
        <p:txBody>
          <a:bodyPr/>
          <a:lstStyle/>
          <a:p>
            <a:r>
              <a:rPr lang="en-US"/>
              <a:t>HTTP Responses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066800"/>
            <a:ext cx="8699500" cy="557033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/>
              <a:t>HTTP response is a </a:t>
            </a:r>
            <a:r>
              <a:rPr lang="en-US" i="1" dirty="0">
                <a:solidFill>
                  <a:srgbClr val="FF0000"/>
                </a:solidFill>
              </a:rPr>
              <a:t>response line</a:t>
            </a:r>
            <a:r>
              <a:rPr lang="en-US" dirty="0"/>
              <a:t> followed by zero or more </a:t>
            </a:r>
            <a:r>
              <a:rPr lang="en-US" i="1" dirty="0">
                <a:solidFill>
                  <a:srgbClr val="FF0000"/>
                </a:solidFill>
              </a:rPr>
              <a:t>response headers</a:t>
            </a:r>
            <a:r>
              <a:rPr lang="en-US" dirty="0"/>
              <a:t>, possibly followed by </a:t>
            </a:r>
            <a:r>
              <a:rPr lang="en-US" i="1" dirty="0">
                <a:solidFill>
                  <a:srgbClr val="FF0000"/>
                </a:solidFill>
              </a:rPr>
              <a:t>content</a:t>
            </a:r>
            <a:r>
              <a:rPr lang="en-US" dirty="0"/>
              <a:t>, with blank line (“</a:t>
            </a:r>
            <a:r>
              <a:rPr lang="en-US" dirty="0">
                <a:latin typeface="Courier New"/>
                <a:cs typeface="Courier New"/>
              </a:rPr>
              <a:t>\r\n</a:t>
            </a:r>
            <a:r>
              <a:rPr lang="en-US" dirty="0"/>
              <a:t>”) separating headers from content. </a:t>
            </a:r>
          </a:p>
          <a:p>
            <a:pPr>
              <a:lnSpc>
                <a:spcPct val="85000"/>
              </a:lnSpc>
            </a:pPr>
            <a:endParaRPr lang="en-US" dirty="0"/>
          </a:p>
          <a:p>
            <a:pPr>
              <a:lnSpc>
                <a:spcPct val="85000"/>
              </a:lnSpc>
            </a:pPr>
            <a:r>
              <a:rPr lang="en-US" dirty="0"/>
              <a:t>Response line: </a:t>
            </a:r>
          </a:p>
          <a:p>
            <a:pPr>
              <a:lnSpc>
                <a:spcPct val="85000"/>
              </a:lnSpc>
              <a:buNone/>
            </a:pPr>
            <a:r>
              <a:rPr lang="en-US" dirty="0"/>
              <a:t>		</a:t>
            </a:r>
            <a:r>
              <a:rPr lang="en-US" dirty="0">
                <a:latin typeface="Courier New" pitchFamily="49" charset="0"/>
              </a:rPr>
              <a:t>&lt;version&gt; &lt;status code&gt; &lt;status </a:t>
            </a:r>
            <a:r>
              <a:rPr lang="en-US" dirty="0" err="1">
                <a:latin typeface="Courier New" pitchFamily="49" charset="0"/>
              </a:rPr>
              <a:t>msg</a:t>
            </a:r>
            <a:r>
              <a:rPr lang="en-US" dirty="0">
                <a:latin typeface="Courier New" pitchFamily="49" charset="0"/>
              </a:rPr>
              <a:t>&gt;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&lt;version&gt; is HTTP version of the response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&lt;status code&gt; is numeric status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&lt;status </a:t>
            </a:r>
            <a:r>
              <a:rPr lang="en-US" dirty="0" err="1"/>
              <a:t>msg</a:t>
            </a:r>
            <a:r>
              <a:rPr lang="en-US" dirty="0"/>
              <a:t>&gt; is corresponding English text</a:t>
            </a:r>
          </a:p>
          <a:p>
            <a:pPr lvl="2">
              <a:lnSpc>
                <a:spcPct val="97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200 	OK</a:t>
            </a:r>
            <a:r>
              <a:rPr lang="en-US" dirty="0"/>
              <a:t>		Request was handled without error</a:t>
            </a:r>
          </a:p>
          <a:p>
            <a:pPr lvl="2">
              <a:lnSpc>
                <a:spcPct val="97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301	Moved</a:t>
            </a:r>
            <a:r>
              <a:rPr lang="en-US" dirty="0"/>
              <a:t>		Provide alternate URL</a:t>
            </a:r>
          </a:p>
          <a:p>
            <a:pPr lvl="2">
              <a:lnSpc>
                <a:spcPct val="97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404	Not found</a:t>
            </a:r>
            <a:r>
              <a:rPr lang="en-US" dirty="0"/>
              <a:t>	Server couldn’t find the file</a:t>
            </a:r>
          </a:p>
          <a:p>
            <a:pPr>
              <a:lnSpc>
                <a:spcPct val="85000"/>
              </a:lnSpc>
            </a:pPr>
            <a:r>
              <a:rPr lang="en-US" dirty="0"/>
              <a:t>Response headers: </a:t>
            </a:r>
            <a:r>
              <a:rPr lang="en-US" dirty="0">
                <a:latin typeface="Courier New" pitchFamily="49" charset="0"/>
              </a:rPr>
              <a:t>&lt;header name&gt;: &lt;header data&gt;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Provide additional information about response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latin typeface="Courier New" pitchFamily="49" charset="0"/>
              </a:rPr>
              <a:t>Content-Type</a:t>
            </a:r>
            <a:r>
              <a:rPr lang="en-US" dirty="0">
                <a:latin typeface="Courier New" pitchFamily="49" charset="0"/>
              </a:rPr>
              <a:t>: </a:t>
            </a:r>
            <a:r>
              <a:rPr lang="en-US" dirty="0"/>
              <a:t>MIME type of content in response body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latin typeface="Courier New" pitchFamily="49" charset="0"/>
              </a:rPr>
              <a:t>Content-Length</a:t>
            </a:r>
            <a:r>
              <a:rPr lang="en-US" dirty="0">
                <a:latin typeface="Courier New" pitchFamily="49" charset="0"/>
              </a:rPr>
              <a:t>: </a:t>
            </a:r>
            <a:r>
              <a:rPr lang="en-US" dirty="0"/>
              <a:t>Length of content in response body</a:t>
            </a:r>
          </a:p>
          <a:p>
            <a:pPr>
              <a:lnSpc>
                <a:spcPct val="8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585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747501" cy="914401"/>
          </a:xfrm>
        </p:spPr>
        <p:txBody>
          <a:bodyPr/>
          <a:lstStyle/>
          <a:p>
            <a:r>
              <a:rPr lang="en-US" dirty="0"/>
              <a:t>Example HTTP Transaction</a:t>
            </a:r>
          </a:p>
        </p:txBody>
      </p:sp>
      <p:sp>
        <p:nvSpPr>
          <p:cNvPr id="763907" name="Rectangle 3"/>
          <p:cNvSpPr>
            <a:spLocks noChangeArrowheads="1"/>
          </p:cNvSpPr>
          <p:nvPr/>
        </p:nvSpPr>
        <p:spPr bwMode="auto">
          <a:xfrm>
            <a:off x="-1" y="806708"/>
            <a:ext cx="9144001" cy="4708981"/>
          </a:xfrm>
          <a:prstGeom prst="rect">
            <a:avLst/>
          </a:prstGeom>
          <a:solidFill>
            <a:srgbClr val="D9D9D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whaleshark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&gt; telnet 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www.cmu.edu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80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open connection to server 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Trying 128.2.42.52...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Telnet prints 3 lines to terminal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Connected to WWW-CMU-PROD-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VIP.ANDREW.cmu.edu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.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GET /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HTTP/1.1       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request line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Host: 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www.cmu.edu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required HTTP/1.1 header</a:t>
            </a:r>
          </a:p>
          <a:p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                                        Client: empty line terminates headers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HTTP/1.1 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301 Moved Permanently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response line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Date: Wed, 05 Nov 2014 17:05:11 GMT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followed by 5 response headers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Server: Apache/1.3.42 (Unix)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this is an Apache server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Location: </a:t>
            </a:r>
            <a:r>
              <a:rPr lang="sk-SK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http://www.cmu.edu/index.shtml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page has moved here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Transfer-Encoding: chunked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response body will be chunked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Content-Type: text/html; charset=...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expect HTML in response body</a:t>
            </a:r>
          </a:p>
          <a:p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                                        Server: empty line terminates headers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15c      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first line in response body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&lt;HTML&gt;&lt;HEAD&gt;   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start of HTML content</a:t>
            </a:r>
          </a:p>
          <a:p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…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&lt;/BODY&gt;&lt;/HTML&gt; 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end of HTML content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0              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last line in response body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Connection closed by foreign host.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closes connection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5867400"/>
            <a:ext cx="8839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HTTP standard requires that each text line end with </a:t>
            </a:r>
            <a:r>
              <a:rPr lang="en-US" dirty="0">
                <a:latin typeface="Courier New"/>
                <a:cs typeface="Courier New"/>
              </a:rPr>
              <a:t>“\r\n”</a:t>
            </a:r>
          </a:p>
          <a:p>
            <a:r>
              <a:rPr lang="en-US" dirty="0"/>
              <a:t>Blank line (</a:t>
            </a:r>
            <a:r>
              <a:rPr lang="en-US" dirty="0">
                <a:latin typeface="Courier New"/>
                <a:cs typeface="Courier New"/>
              </a:rPr>
              <a:t>“\r\n”</a:t>
            </a:r>
            <a:r>
              <a:rPr lang="en-US" dirty="0"/>
              <a:t>) terminates request and response headers</a:t>
            </a:r>
          </a:p>
        </p:txBody>
      </p:sp>
    </p:spTree>
    <p:extLst>
      <p:ext uri="{BB962C8B-B14F-4D97-AF65-F5344CB8AC3E}">
        <p14:creationId xmlns:p14="http://schemas.microsoft.com/office/powerpoint/2010/main" val="1932838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8477630" cy="573087"/>
          </a:xfrm>
        </p:spPr>
        <p:txBody>
          <a:bodyPr/>
          <a:lstStyle/>
          <a:p>
            <a:r>
              <a:rPr lang="en-US" dirty="0"/>
              <a:t>Example HTTP Transaction, Take 2</a:t>
            </a:r>
          </a:p>
        </p:txBody>
      </p:sp>
      <p:sp>
        <p:nvSpPr>
          <p:cNvPr id="763907" name="Rectangle 3"/>
          <p:cNvSpPr>
            <a:spLocks noChangeArrowheads="1"/>
          </p:cNvSpPr>
          <p:nvPr/>
        </p:nvSpPr>
        <p:spPr bwMode="auto">
          <a:xfrm>
            <a:off x="0" y="1206500"/>
            <a:ext cx="9144000" cy="4478149"/>
          </a:xfrm>
          <a:prstGeom prst="rect">
            <a:avLst/>
          </a:prstGeom>
          <a:solidFill>
            <a:srgbClr val="D9D9D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whaleshark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&gt; telnet 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www.cmu.edu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80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open connection to server 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Trying 128.2.42.52...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                   Telnet prints 3 lines to terminal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Connected to WWW-CMU-PROD-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VIP.ANDREW.cmu.edu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.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GET /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index.shtml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HTTP/1.1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request line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Host: www.cmu.edu                       </a:t>
            </a:r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Client: required HTTP/1.1 header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FF0000"/>
                </a:solidFill>
                <a:latin typeface="Courier New"/>
                <a:cs typeface="Courier New"/>
              </a:rPr>
              <a:t>                                        Client: empty line terminates headers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HTTP/1.1 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200 OK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           </a:t>
            </a:r>
            <a:r>
              <a:rPr lang="en-US" sz="1500" dirty="0">
                <a:solidFill>
                  <a:srgbClr val="0000FF"/>
                </a:solidFill>
                <a:latin typeface="Courier New"/>
                <a:cs typeface="Courier New"/>
              </a:rPr>
              <a:t>Server: response line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Date: Wed, 05 Nov 2014 17:37:26 GMT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followed by 4 response headers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Server: Apache/1.3.42 (Unix)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Transfer-Encoding: chunked</a:t>
            </a: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Content-Type: text/html; charset=... </a:t>
            </a:r>
          </a:p>
          <a:p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                                        Server: empty line terminates headers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1000     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begin response body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&lt;html ..&gt;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first line of HTML content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sk-SK" sz="1500" dirty="0">
                <a:solidFill>
                  <a:srgbClr val="000000"/>
                </a:solidFill>
                <a:latin typeface="Courier New"/>
                <a:cs typeface="Courier New"/>
              </a:rPr>
              <a:t>…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&lt;/html&gt;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0                                 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end response body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Connection closed by foreign host.      </a:t>
            </a:r>
            <a:r>
              <a:rPr lang="sk-SK" sz="1500" dirty="0">
                <a:solidFill>
                  <a:srgbClr val="0000FF"/>
                </a:solidFill>
                <a:latin typeface="Courier New"/>
                <a:cs typeface="Courier New"/>
              </a:rPr>
              <a:t>Server: close connection</a:t>
            </a:r>
            <a:endParaRPr lang="sk-SK" sz="15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9004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Tiny Web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Tiny Web server described in text</a:t>
            </a:r>
          </a:p>
          <a:p>
            <a:pPr lvl="1"/>
            <a:r>
              <a:rPr lang="en-US" sz="2200" dirty="0"/>
              <a:t>Tiny is a sequential Web server</a:t>
            </a:r>
          </a:p>
          <a:p>
            <a:pPr lvl="1"/>
            <a:r>
              <a:rPr lang="en-US" sz="2200" dirty="0"/>
              <a:t>Serves static and dynamic content to real browsers</a:t>
            </a:r>
          </a:p>
          <a:p>
            <a:pPr lvl="2"/>
            <a:r>
              <a:rPr lang="en-US" dirty="0"/>
              <a:t>text files, HTML files, GIF, PNG, and JPEG images</a:t>
            </a:r>
          </a:p>
          <a:p>
            <a:pPr lvl="1"/>
            <a:r>
              <a:rPr lang="en-US" sz="2200" dirty="0"/>
              <a:t>239 lines of commented C code</a:t>
            </a:r>
          </a:p>
          <a:p>
            <a:pPr lvl="1"/>
            <a:r>
              <a:rPr lang="en-US" sz="2200" dirty="0"/>
              <a:t>Not as complete or robust as a real Web server</a:t>
            </a:r>
          </a:p>
          <a:p>
            <a:pPr lvl="2"/>
            <a:r>
              <a:rPr lang="en-US" sz="2200" dirty="0"/>
              <a:t>You can break it with poorly-formed HTTP requests (e.g., terminate lines with “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sz="2200" dirty="0"/>
              <a:t>” instead of “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\r\n</a:t>
            </a:r>
            <a:r>
              <a:rPr lang="en-US" sz="22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1155564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1294" tIns="45647" rIns="91294" bIns="45647" anchor="t"/>
          <a:lstStyle/>
          <a:p>
            <a:r>
              <a:rPr lang="en-US" dirty="0"/>
              <a:t>Tiny Operation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 connection from client</a:t>
            </a:r>
          </a:p>
          <a:p>
            <a:r>
              <a:rPr lang="en-US" dirty="0"/>
              <a:t>Read request from client (via connected socket)</a:t>
            </a:r>
          </a:p>
          <a:p>
            <a:r>
              <a:rPr lang="en-US" dirty="0"/>
              <a:t>Split into &lt;method&gt;  &lt;</a:t>
            </a:r>
            <a:r>
              <a:rPr lang="en-US" dirty="0" err="1"/>
              <a:t>uri</a:t>
            </a:r>
            <a:r>
              <a:rPr lang="en-US" dirty="0"/>
              <a:t>&gt; &lt;version&gt;</a:t>
            </a:r>
          </a:p>
          <a:p>
            <a:pPr lvl="1"/>
            <a:r>
              <a:rPr lang="en-US" dirty="0"/>
              <a:t>If method not GET, then return error</a:t>
            </a:r>
          </a:p>
          <a:p>
            <a:r>
              <a:rPr lang="en-US" dirty="0"/>
              <a:t>If URI contains “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cgi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-bin</a:t>
            </a:r>
            <a:r>
              <a:rPr lang="en-US" dirty="0"/>
              <a:t>” then serve dynamic content</a:t>
            </a:r>
          </a:p>
          <a:p>
            <a:pPr lvl="1"/>
            <a:r>
              <a:rPr lang="en-US" dirty="0"/>
              <a:t>(Would do wrong thing if had file “</a:t>
            </a:r>
            <a:r>
              <a:rPr lang="en-US" b="1" dirty="0">
                <a:latin typeface="Courier New" panose="02070309020205020404" pitchFamily="49" charset="0"/>
                <a:cs typeface="Courier New" pitchFamily="49" charset="0"/>
              </a:rPr>
              <a:t>abcgi-bingo.html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Fork process to execute program</a:t>
            </a:r>
          </a:p>
          <a:p>
            <a:r>
              <a:rPr lang="en-US" dirty="0"/>
              <a:t>Otherwise serve static content</a:t>
            </a:r>
          </a:p>
          <a:p>
            <a:pPr lvl="1"/>
            <a:r>
              <a:rPr lang="en-US" dirty="0"/>
              <a:t>Copy file to output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715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 lIns="91294" tIns="45647" rIns="91294" bIns="45647" anchor="t"/>
          <a:lstStyle/>
          <a:p>
            <a:r>
              <a:rPr lang="en-US" dirty="0"/>
              <a:t>Tiny Serving Static Content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1137820"/>
            <a:ext cx="8305800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serve_static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filename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filesize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srcfd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srcp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filetype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[MAXLINE],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[MAXBUF];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Send response headers to client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get_filetype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filename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filetype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);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"HTTP/1.0 200 OK\r\n"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sServer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Tiny Web Server\r\n"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sConnection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close\r\n"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sContent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-length: %d\r\n"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filesize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sContent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-type: %s\r\n\r\n"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filetype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Rio_writen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strlen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));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</a:t>
            </a:r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ro-RO" sz="1600" dirty="0">
                <a:solidFill>
                  <a:srgbClr val="CB2418"/>
                </a:solidFill>
                <a:latin typeface="Courier New"/>
                <a:cs typeface="Courier New"/>
              </a:rPr>
              <a:t>/* Send response body to client */</a:t>
            </a:r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srcfd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= Open(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filename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O_RDONLY, 0);    </a:t>
            </a: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srcp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Mmap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(0,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filesize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PROT_READ, MAP_PRIVATE,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srcfd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0);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srcfd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Rio_writen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srcp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filesize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Munmap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tr-TR" sz="1600" dirty="0" err="1">
                <a:solidFill>
                  <a:srgbClr val="000000"/>
                </a:solidFill>
                <a:latin typeface="Courier New"/>
                <a:cs typeface="Courier New"/>
              </a:rPr>
              <a:t>srcp</a:t>
            </a:r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, filesize);                 </a:t>
            </a:r>
          </a:p>
          <a:p>
            <a:r>
              <a:rPr lang="tr-TR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1090" y="6031468"/>
            <a:ext cx="71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tiny.c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3373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6096000" cy="573087"/>
          </a:xfrm>
        </p:spPr>
        <p:txBody>
          <a:bodyPr lIns="91294" tIns="45647" rIns="91294" bIns="45647" anchor="t"/>
          <a:lstStyle/>
          <a:p>
            <a:r>
              <a:rPr lang="en-US"/>
              <a:t>Serving Dynamic Content</a:t>
            </a:r>
          </a:p>
        </p:txBody>
      </p:sp>
      <p:sp>
        <p:nvSpPr>
          <p:cNvPr id="771075" name="Oval 3"/>
          <p:cNvSpPr>
            <a:spLocks noChangeArrowheads="1"/>
          </p:cNvSpPr>
          <p:nvPr/>
        </p:nvSpPr>
        <p:spPr bwMode="auto">
          <a:xfrm>
            <a:off x="5548313" y="2662238"/>
            <a:ext cx="1065212" cy="989012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 dirty="0">
                <a:latin typeface="+mn-lt"/>
              </a:rPr>
              <a:t>Client</a:t>
            </a:r>
          </a:p>
        </p:txBody>
      </p:sp>
      <p:sp>
        <p:nvSpPr>
          <p:cNvPr id="771076" name="Oval 4"/>
          <p:cNvSpPr>
            <a:spLocks noChangeArrowheads="1"/>
          </p:cNvSpPr>
          <p:nvPr/>
        </p:nvSpPr>
        <p:spPr bwMode="auto">
          <a:xfrm>
            <a:off x="7526338" y="2662238"/>
            <a:ext cx="1065212" cy="989012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Server</a:t>
            </a:r>
          </a:p>
        </p:txBody>
      </p:sp>
      <p:sp>
        <p:nvSpPr>
          <p:cNvPr id="7710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3213" y="1970088"/>
            <a:ext cx="4421187" cy="4456112"/>
          </a:xfrm>
          <a:noFill/>
          <a:ln/>
        </p:spPr>
        <p:txBody>
          <a:bodyPr lIns="90343" tIns="44379" rIns="90343" bIns="44379"/>
          <a:lstStyle/>
          <a:p>
            <a:r>
              <a:rPr lang="en-US" dirty="0"/>
              <a:t>Client sends request to server</a:t>
            </a:r>
          </a:p>
          <a:p>
            <a:endParaRPr lang="en-US" dirty="0"/>
          </a:p>
          <a:p>
            <a:r>
              <a:rPr lang="en-US" dirty="0"/>
              <a:t>If request URI contains the string “</a:t>
            </a:r>
            <a:r>
              <a:rPr lang="en-US" dirty="0">
                <a:latin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</a:rPr>
              <a:t>cgi</a:t>
            </a:r>
            <a:r>
              <a:rPr lang="en-US" dirty="0">
                <a:latin typeface="Courier New" pitchFamily="49" charset="0"/>
              </a:rPr>
              <a:t>-bin</a:t>
            </a:r>
            <a:r>
              <a:rPr lang="en-US" dirty="0"/>
              <a:t>”, the Tiny server assumes that the request is for dynamic content </a:t>
            </a:r>
          </a:p>
        </p:txBody>
      </p:sp>
      <p:sp>
        <p:nvSpPr>
          <p:cNvPr id="771078" name="Line 6"/>
          <p:cNvSpPr>
            <a:spLocks noChangeShapeType="1"/>
          </p:cNvSpPr>
          <p:nvPr/>
        </p:nvSpPr>
        <p:spPr bwMode="auto">
          <a:xfrm>
            <a:off x="6613525" y="3117850"/>
            <a:ext cx="912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1079" name="Text Box 7"/>
          <p:cNvSpPr txBox="1">
            <a:spLocks noChangeArrowheads="1"/>
          </p:cNvSpPr>
          <p:nvPr/>
        </p:nvSpPr>
        <p:spPr bwMode="auto">
          <a:xfrm>
            <a:off x="5000625" y="2130425"/>
            <a:ext cx="40068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 dirty="0">
                <a:latin typeface="Courier New" pitchFamily="49" charset="0"/>
              </a:rPr>
              <a:t>GET /</a:t>
            </a:r>
            <a:r>
              <a:rPr lang="en-US" sz="1800" dirty="0" err="1">
                <a:latin typeface="Courier New" pitchFamily="49" charset="0"/>
              </a:rPr>
              <a:t>cgi</a:t>
            </a:r>
            <a:r>
              <a:rPr lang="en-US" sz="1800" dirty="0">
                <a:latin typeface="Courier New" pitchFamily="49" charset="0"/>
              </a:rPr>
              <a:t>-bin/env.pl HTTP/1.1</a:t>
            </a:r>
          </a:p>
        </p:txBody>
      </p:sp>
    </p:spTree>
    <p:extLst>
      <p:ext uri="{BB962C8B-B14F-4D97-AF65-F5344CB8AC3E}">
        <p14:creationId xmlns:p14="http://schemas.microsoft.com/office/powerpoint/2010/main" val="3036853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41313"/>
            <a:ext cx="7772400" cy="573087"/>
          </a:xfrm>
        </p:spPr>
        <p:txBody>
          <a:bodyPr lIns="91294" tIns="45647" rIns="91294" bIns="45647" anchor="t"/>
          <a:lstStyle/>
          <a:p>
            <a:r>
              <a:rPr lang="en-US"/>
              <a:t>Serving Dynamic Content (cont)</a:t>
            </a:r>
          </a:p>
        </p:txBody>
      </p:sp>
      <p:sp>
        <p:nvSpPr>
          <p:cNvPr id="772099" name="Oval 3"/>
          <p:cNvSpPr>
            <a:spLocks noChangeArrowheads="1"/>
          </p:cNvSpPr>
          <p:nvPr/>
        </p:nvSpPr>
        <p:spPr bwMode="auto">
          <a:xfrm>
            <a:off x="5173663" y="1901825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Client</a:t>
            </a:r>
          </a:p>
        </p:txBody>
      </p:sp>
      <p:sp>
        <p:nvSpPr>
          <p:cNvPr id="772100" name="Oval 4"/>
          <p:cNvSpPr>
            <a:spLocks noChangeArrowheads="1"/>
          </p:cNvSpPr>
          <p:nvPr/>
        </p:nvSpPr>
        <p:spPr bwMode="auto">
          <a:xfrm>
            <a:off x="7153275" y="1901825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Server</a:t>
            </a:r>
          </a:p>
        </p:txBody>
      </p:sp>
      <p:sp>
        <p:nvSpPr>
          <p:cNvPr id="7721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3213" y="1970088"/>
            <a:ext cx="4287837" cy="1890712"/>
          </a:xfrm>
          <a:noFill/>
          <a:ln/>
        </p:spPr>
        <p:txBody>
          <a:bodyPr lIns="90343" tIns="44379" rIns="90343" bIns="44379"/>
          <a:lstStyle/>
          <a:p>
            <a:r>
              <a:rPr lang="en-US" dirty="0"/>
              <a:t>The server creates a child process and runs the program identified by the URI in that process</a:t>
            </a:r>
          </a:p>
        </p:txBody>
      </p:sp>
      <p:sp>
        <p:nvSpPr>
          <p:cNvPr id="772102" name="Oval 6"/>
          <p:cNvSpPr>
            <a:spLocks noChangeArrowheads="1"/>
          </p:cNvSpPr>
          <p:nvPr/>
        </p:nvSpPr>
        <p:spPr bwMode="auto">
          <a:xfrm>
            <a:off x="7159625" y="3498850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Courier New" pitchFamily="49" charset="0"/>
              </a:rPr>
              <a:t>env.pl</a:t>
            </a:r>
          </a:p>
        </p:txBody>
      </p:sp>
      <p:sp>
        <p:nvSpPr>
          <p:cNvPr id="772103" name="Line 7"/>
          <p:cNvSpPr>
            <a:spLocks noChangeShapeType="1"/>
          </p:cNvSpPr>
          <p:nvPr/>
        </p:nvSpPr>
        <p:spPr bwMode="auto">
          <a:xfrm flipV="1">
            <a:off x="7685088" y="2890838"/>
            <a:ext cx="0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2104" name="Text Box 8"/>
          <p:cNvSpPr txBox="1">
            <a:spLocks noChangeArrowheads="1"/>
          </p:cNvSpPr>
          <p:nvPr/>
        </p:nvSpPr>
        <p:spPr bwMode="auto">
          <a:xfrm>
            <a:off x="7654925" y="3011488"/>
            <a:ext cx="14128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>
                <a:latin typeface="Courier New" pitchFamily="49" charset="0"/>
              </a:rPr>
              <a:t>fork/exec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00146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8229600" cy="573087"/>
          </a:xfrm>
        </p:spPr>
        <p:txBody>
          <a:bodyPr lIns="91294" tIns="45647" rIns="91294" bIns="45647" anchor="t"/>
          <a:lstStyle/>
          <a:p>
            <a:r>
              <a:rPr lang="en-US"/>
              <a:t>Serving Dynamic Content (cont)</a:t>
            </a:r>
          </a:p>
        </p:txBody>
      </p:sp>
      <p:sp>
        <p:nvSpPr>
          <p:cNvPr id="773123" name="Oval 3"/>
          <p:cNvSpPr>
            <a:spLocks noChangeArrowheads="1"/>
          </p:cNvSpPr>
          <p:nvPr/>
        </p:nvSpPr>
        <p:spPr bwMode="auto">
          <a:xfrm>
            <a:off x="5173663" y="1825625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Client</a:t>
            </a:r>
          </a:p>
        </p:txBody>
      </p:sp>
      <p:sp>
        <p:nvSpPr>
          <p:cNvPr id="773124" name="Oval 4"/>
          <p:cNvSpPr>
            <a:spLocks noChangeArrowheads="1"/>
          </p:cNvSpPr>
          <p:nvPr/>
        </p:nvSpPr>
        <p:spPr bwMode="auto">
          <a:xfrm>
            <a:off x="7153275" y="1825625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Server</a:t>
            </a:r>
          </a:p>
        </p:txBody>
      </p:sp>
      <p:sp>
        <p:nvSpPr>
          <p:cNvPr id="7731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3213" y="1970088"/>
            <a:ext cx="4287837" cy="4456112"/>
          </a:xfrm>
          <a:noFill/>
          <a:ln/>
        </p:spPr>
        <p:txBody>
          <a:bodyPr lIns="90343" tIns="44379" rIns="90343" bIns="44379"/>
          <a:lstStyle/>
          <a:p>
            <a:r>
              <a:rPr lang="en-US" dirty="0"/>
              <a:t>The child runs and generates the dynamic content</a:t>
            </a:r>
          </a:p>
          <a:p>
            <a:endParaRPr lang="en-US" dirty="0"/>
          </a:p>
          <a:p>
            <a:r>
              <a:rPr lang="en-US" dirty="0"/>
              <a:t>The server captures the content of the child and forwards it without modification to the client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73126" name="Oval 6"/>
          <p:cNvSpPr>
            <a:spLocks noChangeArrowheads="1"/>
          </p:cNvSpPr>
          <p:nvPr/>
        </p:nvSpPr>
        <p:spPr bwMode="auto">
          <a:xfrm>
            <a:off x="7159625" y="3422650"/>
            <a:ext cx="1065213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Courier New" pitchFamily="49" charset="0"/>
              </a:rPr>
              <a:t>env.pl</a:t>
            </a:r>
          </a:p>
        </p:txBody>
      </p:sp>
      <p:sp>
        <p:nvSpPr>
          <p:cNvPr id="773127" name="Line 7"/>
          <p:cNvSpPr>
            <a:spLocks noChangeShapeType="1"/>
          </p:cNvSpPr>
          <p:nvPr/>
        </p:nvSpPr>
        <p:spPr bwMode="auto">
          <a:xfrm flipV="1">
            <a:off x="7685088" y="2814638"/>
            <a:ext cx="0" cy="608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/>
          </a:p>
        </p:txBody>
      </p:sp>
      <p:sp>
        <p:nvSpPr>
          <p:cNvPr id="773128" name="Text Box 8"/>
          <p:cNvSpPr txBox="1">
            <a:spLocks noChangeArrowheads="1"/>
          </p:cNvSpPr>
          <p:nvPr/>
        </p:nvSpPr>
        <p:spPr bwMode="auto">
          <a:xfrm>
            <a:off x="7616825" y="2967038"/>
            <a:ext cx="10477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/>
              <a:t>Content</a:t>
            </a:r>
          </a:p>
        </p:txBody>
      </p:sp>
      <p:sp>
        <p:nvSpPr>
          <p:cNvPr id="773129" name="Text Box 9"/>
          <p:cNvSpPr txBox="1">
            <a:spLocks noChangeArrowheads="1"/>
          </p:cNvSpPr>
          <p:nvPr/>
        </p:nvSpPr>
        <p:spPr bwMode="auto">
          <a:xfrm>
            <a:off x="6202363" y="2265645"/>
            <a:ext cx="95491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>
                <a:latin typeface="+mn-lt"/>
              </a:rPr>
              <a:t>Content</a:t>
            </a:r>
          </a:p>
        </p:txBody>
      </p:sp>
      <p:sp>
        <p:nvSpPr>
          <p:cNvPr id="773130" name="Line 10"/>
          <p:cNvSpPr>
            <a:spLocks noChangeShapeType="1"/>
          </p:cNvSpPr>
          <p:nvPr/>
        </p:nvSpPr>
        <p:spPr bwMode="auto">
          <a:xfrm flipH="1">
            <a:off x="6240463" y="2281238"/>
            <a:ext cx="9128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94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41313"/>
            <a:ext cx="8305800" cy="573087"/>
          </a:xfrm>
        </p:spPr>
        <p:txBody>
          <a:bodyPr lIns="91294" tIns="45647" rIns="91294" bIns="45647" anchor="t"/>
          <a:lstStyle/>
          <a:p>
            <a:r>
              <a:rPr lang="en-US"/>
              <a:t>Issues in Serving Dynamic Content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9413" y="1595438"/>
            <a:ext cx="5360987" cy="4830762"/>
          </a:xfrm>
        </p:spPr>
        <p:txBody>
          <a:bodyPr lIns="91294" tIns="45647" rIns="91294" bIns="45647"/>
          <a:lstStyle/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client pass program arguments to the server?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server pass these arguments to the child?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server pass other info relevant to the request to the child?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How does the server capture the content produced by the child?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dirty="0"/>
              <a:t>These issues are addressed by the </a:t>
            </a:r>
            <a:r>
              <a:rPr lang="en-US" dirty="0">
                <a:solidFill>
                  <a:srgbClr val="FF0000"/>
                </a:solidFill>
              </a:rPr>
              <a:t>Common Gateway Interface (CGI) </a:t>
            </a:r>
            <a:r>
              <a:rPr lang="en-US" dirty="0"/>
              <a:t>specification.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endParaRPr lang="en-US" dirty="0"/>
          </a:p>
        </p:txBody>
      </p:sp>
      <p:sp>
        <p:nvSpPr>
          <p:cNvPr id="775172" name="Oval 4"/>
          <p:cNvSpPr>
            <a:spLocks noChangeArrowheads="1"/>
          </p:cNvSpPr>
          <p:nvPr/>
        </p:nvSpPr>
        <p:spPr bwMode="auto">
          <a:xfrm>
            <a:off x="5459413" y="1825625"/>
            <a:ext cx="1065212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Client</a:t>
            </a:r>
          </a:p>
        </p:txBody>
      </p:sp>
      <p:sp>
        <p:nvSpPr>
          <p:cNvPr id="775173" name="Oval 5"/>
          <p:cNvSpPr>
            <a:spLocks noChangeArrowheads="1"/>
          </p:cNvSpPr>
          <p:nvPr/>
        </p:nvSpPr>
        <p:spPr bwMode="auto">
          <a:xfrm>
            <a:off x="7437438" y="1825625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Server</a:t>
            </a:r>
          </a:p>
        </p:txBody>
      </p:sp>
      <p:sp>
        <p:nvSpPr>
          <p:cNvPr id="775174" name="Line 6"/>
          <p:cNvSpPr>
            <a:spLocks noChangeShapeType="1"/>
          </p:cNvSpPr>
          <p:nvPr/>
        </p:nvSpPr>
        <p:spPr bwMode="auto">
          <a:xfrm flipH="1" flipV="1">
            <a:off x="7761288" y="2814638"/>
            <a:ext cx="0" cy="684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>
              <a:latin typeface="+mn-lt"/>
            </a:endParaRPr>
          </a:p>
        </p:txBody>
      </p:sp>
      <p:sp>
        <p:nvSpPr>
          <p:cNvPr id="775175" name="Text Box 7"/>
          <p:cNvSpPr txBox="1">
            <a:spLocks noChangeArrowheads="1"/>
          </p:cNvSpPr>
          <p:nvPr/>
        </p:nvSpPr>
        <p:spPr bwMode="auto">
          <a:xfrm>
            <a:off x="6715125" y="2965732"/>
            <a:ext cx="95491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>
                <a:latin typeface="+mn-lt"/>
              </a:rPr>
              <a:t>Content</a:t>
            </a:r>
          </a:p>
        </p:txBody>
      </p:sp>
      <p:sp>
        <p:nvSpPr>
          <p:cNvPr id="775176" name="Text Box 8"/>
          <p:cNvSpPr txBox="1">
            <a:spLocks noChangeArrowheads="1"/>
          </p:cNvSpPr>
          <p:nvPr/>
        </p:nvSpPr>
        <p:spPr bwMode="auto">
          <a:xfrm>
            <a:off x="6486525" y="2129120"/>
            <a:ext cx="954914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>
                <a:latin typeface="+mn-lt"/>
              </a:rPr>
              <a:t>Content</a:t>
            </a:r>
          </a:p>
        </p:txBody>
      </p:sp>
      <p:sp>
        <p:nvSpPr>
          <p:cNvPr id="775177" name="Line 9"/>
          <p:cNvSpPr>
            <a:spLocks noChangeShapeType="1"/>
          </p:cNvSpPr>
          <p:nvPr/>
        </p:nvSpPr>
        <p:spPr bwMode="auto">
          <a:xfrm flipH="1">
            <a:off x="6524625" y="2462213"/>
            <a:ext cx="912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75178" name="Text Box 10"/>
          <p:cNvSpPr txBox="1">
            <a:spLocks noChangeArrowheads="1"/>
          </p:cNvSpPr>
          <p:nvPr/>
        </p:nvSpPr>
        <p:spPr bwMode="auto">
          <a:xfrm>
            <a:off x="6410325" y="1671920"/>
            <a:ext cx="966861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>
                <a:latin typeface="+mn-lt"/>
              </a:rPr>
              <a:t>Request</a:t>
            </a:r>
          </a:p>
        </p:txBody>
      </p:sp>
      <p:sp>
        <p:nvSpPr>
          <p:cNvPr id="775179" name="Line 11"/>
          <p:cNvSpPr>
            <a:spLocks noChangeShapeType="1"/>
          </p:cNvSpPr>
          <p:nvPr/>
        </p:nvSpPr>
        <p:spPr bwMode="auto">
          <a:xfrm flipH="1" flipV="1">
            <a:off x="6448425" y="2054225"/>
            <a:ext cx="1065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lIns="91577" tIns="45789" rIns="91577" bIns="45789"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75180" name="Line 12"/>
          <p:cNvSpPr>
            <a:spLocks noChangeShapeType="1"/>
          </p:cNvSpPr>
          <p:nvPr/>
        </p:nvSpPr>
        <p:spPr bwMode="auto">
          <a:xfrm flipH="1" flipV="1">
            <a:off x="8218488" y="2738438"/>
            <a:ext cx="0" cy="684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>
              <a:latin typeface="+mn-lt"/>
            </a:endParaRPr>
          </a:p>
        </p:txBody>
      </p:sp>
      <p:sp>
        <p:nvSpPr>
          <p:cNvPr id="775181" name="Text Box 13"/>
          <p:cNvSpPr txBox="1">
            <a:spLocks noChangeArrowheads="1"/>
          </p:cNvSpPr>
          <p:nvPr/>
        </p:nvSpPr>
        <p:spPr bwMode="auto">
          <a:xfrm>
            <a:off x="8180388" y="2965732"/>
            <a:ext cx="815265" cy="369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30" tIns="45716" rIns="91430" bIns="45716" anchor="ctr">
            <a:spAutoFit/>
          </a:bodyPr>
          <a:lstStyle/>
          <a:p>
            <a:pPr defTabSz="912813"/>
            <a:r>
              <a:rPr lang="en-US" sz="1800">
                <a:latin typeface="+mn-lt"/>
              </a:rPr>
              <a:t>Create</a:t>
            </a:r>
          </a:p>
        </p:txBody>
      </p:sp>
      <p:sp>
        <p:nvSpPr>
          <p:cNvPr id="775182" name="Oval 14"/>
          <p:cNvSpPr>
            <a:spLocks noChangeArrowheads="1"/>
          </p:cNvSpPr>
          <p:nvPr/>
        </p:nvSpPr>
        <p:spPr bwMode="auto">
          <a:xfrm>
            <a:off x="7443788" y="3422650"/>
            <a:ext cx="1066800" cy="9890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Courier New" pitchFamily="49" charset="0"/>
              </a:rPr>
              <a:t>env.pl</a:t>
            </a:r>
          </a:p>
        </p:txBody>
      </p:sp>
    </p:spTree>
    <p:extLst>
      <p:ext uri="{BB962C8B-B14F-4D97-AF65-F5344CB8AC3E}">
        <p14:creationId xmlns:p14="http://schemas.microsoft.com/office/powerpoint/2010/main" val="8928435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16962" cy="666750"/>
          </a:xfrm>
        </p:spPr>
        <p:txBody>
          <a:bodyPr lIns="91294" tIns="45647" rIns="91294" bIns="45647" anchor="t"/>
          <a:lstStyle/>
          <a:p>
            <a:r>
              <a:rPr lang="en-US" dirty="0"/>
              <a:t>CGI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294" tIns="45647" rIns="91294" bIns="45647"/>
          <a:lstStyle/>
          <a:p>
            <a:r>
              <a:rPr lang="en-US" dirty="0"/>
              <a:t>Because the children are written according to the CGI spec, they are often called </a:t>
            </a:r>
            <a:r>
              <a:rPr lang="en-US" i="1" dirty="0">
                <a:solidFill>
                  <a:srgbClr val="FF0000"/>
                </a:solidFill>
              </a:rPr>
              <a:t>CGI programs.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However, CGI really defines a simple standard for transferring information between the client (browser), the server, and the child process.</a:t>
            </a:r>
          </a:p>
          <a:p>
            <a:endParaRPr lang="en-US" dirty="0"/>
          </a:p>
          <a:p>
            <a:r>
              <a:rPr lang="en-US" dirty="0"/>
              <a:t>CGI is the original standard for generating dynamic content. Has been largely replaced by other, faster techniques: 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fastCGI</a:t>
            </a:r>
            <a:r>
              <a:rPr lang="en-US" dirty="0"/>
              <a:t>, Apache modules, Java servlets, Rails controllers</a:t>
            </a:r>
          </a:p>
          <a:p>
            <a:pPr lvl="1"/>
            <a:r>
              <a:rPr lang="en-US" dirty="0"/>
              <a:t>Avoid having to create process on the fly (expensive and slow). </a:t>
            </a:r>
          </a:p>
        </p:txBody>
      </p:sp>
    </p:spTree>
    <p:extLst>
      <p:ext uri="{BB962C8B-B14F-4D97-AF65-F5344CB8AC3E}">
        <p14:creationId xmlns:p14="http://schemas.microsoft.com/office/powerpoint/2010/main" val="2050698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1-05 at 3.08.5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360" y="1869008"/>
            <a:ext cx="9144000" cy="3849056"/>
          </a:xfrm>
          <a:prstGeom prst="rect">
            <a:avLst/>
          </a:prstGeom>
        </p:spPr>
      </p:pic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6942138" cy="57308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add.com</a:t>
            </a:r>
            <a:r>
              <a:rPr lang="en-US" dirty="0"/>
              <a:t> Experience</a:t>
            </a:r>
          </a:p>
        </p:txBody>
      </p:sp>
      <p:sp>
        <p:nvSpPr>
          <p:cNvPr id="778246" name="Text Box 6"/>
          <p:cNvSpPr txBox="1">
            <a:spLocks noChangeArrowheads="1"/>
          </p:cNvSpPr>
          <p:nvPr/>
        </p:nvSpPr>
        <p:spPr bwMode="auto">
          <a:xfrm>
            <a:off x="6658440" y="5718064"/>
            <a:ext cx="139012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Output page</a:t>
            </a:r>
          </a:p>
        </p:txBody>
      </p:sp>
      <p:sp>
        <p:nvSpPr>
          <p:cNvPr id="778247" name="Line 7"/>
          <p:cNvSpPr>
            <a:spLocks noChangeShapeType="1"/>
          </p:cNvSpPr>
          <p:nvPr/>
        </p:nvSpPr>
        <p:spPr bwMode="auto">
          <a:xfrm flipH="1" flipV="1">
            <a:off x="4601039" y="4301220"/>
            <a:ext cx="2057400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48" name="Text Box 8"/>
          <p:cNvSpPr txBox="1">
            <a:spLocks noChangeArrowheads="1"/>
          </p:cNvSpPr>
          <p:nvPr/>
        </p:nvSpPr>
        <p:spPr bwMode="auto">
          <a:xfrm>
            <a:off x="2302005" y="1284176"/>
            <a:ext cx="60474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host</a:t>
            </a:r>
          </a:p>
        </p:txBody>
      </p:sp>
      <p:sp>
        <p:nvSpPr>
          <p:cNvPr id="778249" name="Text Box 9"/>
          <p:cNvSpPr txBox="1">
            <a:spLocks noChangeArrowheads="1"/>
          </p:cNvSpPr>
          <p:nvPr/>
        </p:nvSpPr>
        <p:spPr bwMode="auto">
          <a:xfrm>
            <a:off x="3755221" y="1284176"/>
            <a:ext cx="59470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port</a:t>
            </a:r>
          </a:p>
        </p:txBody>
      </p:sp>
      <p:sp>
        <p:nvSpPr>
          <p:cNvPr id="778250" name="Text Box 10"/>
          <p:cNvSpPr txBox="1">
            <a:spLocks noChangeArrowheads="1"/>
          </p:cNvSpPr>
          <p:nvPr/>
        </p:nvSpPr>
        <p:spPr bwMode="auto">
          <a:xfrm>
            <a:off x="4601040" y="1298463"/>
            <a:ext cx="139090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CGI program</a:t>
            </a:r>
          </a:p>
        </p:txBody>
      </p:sp>
      <p:sp>
        <p:nvSpPr>
          <p:cNvPr id="778251" name="Text Box 11"/>
          <p:cNvSpPr txBox="1">
            <a:spLocks noChangeArrowheads="1"/>
          </p:cNvSpPr>
          <p:nvPr/>
        </p:nvSpPr>
        <p:spPr bwMode="auto">
          <a:xfrm>
            <a:off x="6616580" y="1717313"/>
            <a:ext cx="121394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arguments</a:t>
            </a:r>
          </a:p>
        </p:txBody>
      </p:sp>
      <p:sp>
        <p:nvSpPr>
          <p:cNvPr id="778252" name="Line 12"/>
          <p:cNvSpPr>
            <a:spLocks noChangeShapeType="1"/>
          </p:cNvSpPr>
          <p:nvPr/>
        </p:nvSpPr>
        <p:spPr bwMode="auto">
          <a:xfrm flipH="1">
            <a:off x="2635380" y="1717314"/>
            <a:ext cx="0" cy="943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53" name="Line 13"/>
          <p:cNvSpPr>
            <a:spLocks noChangeShapeType="1"/>
          </p:cNvSpPr>
          <p:nvPr/>
        </p:nvSpPr>
        <p:spPr bwMode="auto">
          <a:xfrm flipH="1">
            <a:off x="4069546" y="1665176"/>
            <a:ext cx="0" cy="98345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54" name="Line 14"/>
          <p:cNvSpPr>
            <a:spLocks noChangeShapeType="1"/>
          </p:cNvSpPr>
          <p:nvPr/>
        </p:nvSpPr>
        <p:spPr bwMode="auto">
          <a:xfrm flipH="1">
            <a:off x="5058240" y="1717314"/>
            <a:ext cx="152400" cy="9763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8255" name="Line 15"/>
          <p:cNvSpPr>
            <a:spLocks noChangeShapeType="1"/>
          </p:cNvSpPr>
          <p:nvPr/>
        </p:nvSpPr>
        <p:spPr bwMode="auto">
          <a:xfrm flipH="1">
            <a:off x="5805952" y="2077133"/>
            <a:ext cx="790575" cy="571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9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46" grpId="0"/>
      <p:bldP spid="778247" grpId="0" animBg="1"/>
      <p:bldP spid="778248" grpId="0"/>
      <p:bldP spid="778249" grpId="0"/>
      <p:bldP spid="778250" grpId="0"/>
      <p:bldP spid="778251" grpId="0"/>
      <p:bldP spid="778252" grpId="0" animBg="1"/>
      <p:bldP spid="778253" grpId="0" animBg="1"/>
      <p:bldP spid="778254" grpId="0" animBg="1"/>
      <p:bldP spid="77825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609600"/>
          </a:xfrm>
        </p:spPr>
        <p:txBody>
          <a:bodyPr lIns="91294" tIns="45647" rIns="91294" bIns="45647" anchor="t"/>
          <a:lstStyle/>
          <a:p>
            <a:r>
              <a:rPr lang="en-US"/>
              <a:t>Serving Dynamic Content With GET</a:t>
            </a:r>
          </a:p>
        </p:txBody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5363"/>
            <a:ext cx="8305800" cy="5253037"/>
          </a:xfrm>
        </p:spPr>
        <p:txBody>
          <a:bodyPr lIns="91294" tIns="45647" rIns="91294" bIns="45647"/>
          <a:lstStyle/>
          <a:p>
            <a:r>
              <a:rPr lang="en-US" u="sng" dirty="0">
                <a:solidFill>
                  <a:schemeClr val="tx1"/>
                </a:solidFill>
              </a:rPr>
              <a:t>Question:</a:t>
            </a:r>
            <a:r>
              <a:rPr lang="en-US" dirty="0">
                <a:solidFill>
                  <a:schemeClr val="tx1"/>
                </a:solidFill>
              </a:rPr>
              <a:t> How does the client pass arguments to the server?</a:t>
            </a:r>
          </a:p>
          <a:p>
            <a:r>
              <a:rPr lang="en-US" u="sng" dirty="0">
                <a:solidFill>
                  <a:schemeClr val="tx1"/>
                </a:solidFill>
              </a:rPr>
              <a:t>Answer:</a:t>
            </a:r>
            <a:r>
              <a:rPr lang="en-US" dirty="0">
                <a:solidFill>
                  <a:schemeClr val="tx1"/>
                </a:solidFill>
              </a:rPr>
              <a:t> The arguments are appended to the URI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Can be encoded directly in a URL typed to a browser or a URL in an HTML link  </a:t>
            </a:r>
          </a:p>
          <a:p>
            <a:pPr lvl="1"/>
            <a:r>
              <a:rPr lang="en-US" b="1" dirty="0">
                <a:latin typeface="Courier New" pitchFamily="49" charset="0"/>
              </a:rPr>
              <a:t>http://add.com/cgi-bin/</a:t>
            </a:r>
            <a:r>
              <a:rPr lang="en-US" b="1" dirty="0">
                <a:highlight>
                  <a:srgbClr val="FFFF00"/>
                </a:highlight>
                <a:latin typeface="Courier New" pitchFamily="49" charset="0"/>
              </a:rPr>
              <a:t>adder?15213&amp;18213</a:t>
            </a:r>
          </a:p>
          <a:p>
            <a:pPr lvl="1"/>
            <a:r>
              <a:rPr lang="en-US" b="1" dirty="0">
                <a:latin typeface="Courier New" pitchFamily="49" charset="0"/>
              </a:rPr>
              <a:t>adder</a:t>
            </a:r>
            <a:r>
              <a:rPr lang="en-US" dirty="0"/>
              <a:t> is the CGI program on the server that will do the addition.</a:t>
            </a:r>
          </a:p>
          <a:p>
            <a:pPr lvl="1"/>
            <a:r>
              <a:rPr lang="en-US" dirty="0"/>
              <a:t>argument list starts with </a:t>
            </a:r>
            <a:r>
              <a:rPr lang="en-US" dirty="0">
                <a:latin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</a:rPr>
              <a:t>?</a:t>
            </a:r>
            <a:r>
              <a:rPr lang="en-US" dirty="0">
                <a:latin typeface="Courier New" pitchFamily="49" charset="0"/>
              </a:rPr>
              <a:t>”</a:t>
            </a:r>
            <a:endParaRPr lang="en-US" dirty="0"/>
          </a:p>
          <a:p>
            <a:pPr lvl="1"/>
            <a:r>
              <a:rPr lang="en-US" dirty="0"/>
              <a:t>arguments separated by </a:t>
            </a:r>
            <a:r>
              <a:rPr lang="en-US" dirty="0">
                <a:latin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</a:rPr>
              <a:t>&amp;</a:t>
            </a:r>
            <a:r>
              <a:rPr lang="en-US" dirty="0">
                <a:latin typeface="Courier New" pitchFamily="49" charset="0"/>
              </a:rPr>
              <a:t>”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spaces represented by  </a:t>
            </a:r>
            <a:r>
              <a:rPr lang="en-US" dirty="0">
                <a:latin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</a:rPr>
              <a:t>+</a:t>
            </a:r>
            <a:r>
              <a:rPr lang="en-US" dirty="0">
                <a:latin typeface="Courier New" pitchFamily="49" charset="0"/>
              </a:rPr>
              <a:t>” or “</a:t>
            </a:r>
            <a:r>
              <a:rPr lang="en-US" b="1" dirty="0">
                <a:latin typeface="Courier New" pitchFamily="49" charset="0"/>
              </a:rPr>
              <a:t>%20</a:t>
            </a:r>
            <a:r>
              <a:rPr lang="en-US" dirty="0">
                <a:latin typeface="Courier New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702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34400" cy="685800"/>
          </a:xfrm>
        </p:spPr>
        <p:txBody>
          <a:bodyPr lIns="91294" tIns="45647" rIns="91294" bIns="45647" anchor="t"/>
          <a:lstStyle/>
          <a:p>
            <a:r>
              <a:rPr lang="en-US"/>
              <a:t>Serving Dynamic Content With GET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294" tIns="45647" rIns="91294" bIns="45647"/>
          <a:lstStyle/>
          <a:p>
            <a:r>
              <a:rPr lang="en-US" dirty="0"/>
              <a:t>URL suffix: </a:t>
            </a:r>
          </a:p>
          <a:p>
            <a:pPr lvl="1"/>
            <a:r>
              <a:rPr lang="en-US" b="1" dirty="0" err="1">
                <a:latin typeface="Courier New" pitchFamily="49" charset="0"/>
              </a:rPr>
              <a:t>cgi</a:t>
            </a:r>
            <a:r>
              <a:rPr lang="en-US" b="1" dirty="0">
                <a:latin typeface="Courier New" pitchFamily="49" charset="0"/>
              </a:rPr>
              <a:t>-bin/adder?15213&amp;18213</a:t>
            </a:r>
          </a:p>
          <a:p>
            <a:endParaRPr lang="en-US" dirty="0"/>
          </a:p>
          <a:p>
            <a:r>
              <a:rPr lang="en-US" dirty="0"/>
              <a:t>Result displayed on browser: </a:t>
            </a:r>
          </a:p>
        </p:txBody>
      </p:sp>
      <p:sp>
        <p:nvSpPr>
          <p:cNvPr id="780292" name="Rectangle 4"/>
          <p:cNvSpPr>
            <a:spLocks noChangeArrowheads="1"/>
          </p:cNvSpPr>
          <p:nvPr/>
        </p:nvSpPr>
        <p:spPr bwMode="auto">
          <a:xfrm>
            <a:off x="1143000" y="3057950"/>
            <a:ext cx="7150100" cy="2308316"/>
          </a:xfrm>
          <a:prstGeom prst="rect">
            <a:avLst/>
          </a:prstGeom>
          <a:solidFill>
            <a:srgbClr val="D5F1C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1430" tIns="45716" rIns="91430" bIns="45716" anchor="ctr">
            <a:spAutoFit/>
          </a:bodyPr>
          <a:lstStyle/>
          <a:p>
            <a:r>
              <a:rPr lang="en-US" dirty="0">
                <a:latin typeface="Courier New"/>
                <a:cs typeface="Courier New"/>
              </a:rPr>
              <a:t>Welcome to add.com: THE Internet addition portal. 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The answer is: 15213 + 18213 = 33426</a:t>
            </a:r>
          </a:p>
          <a:p>
            <a:endParaRPr lang="en-US" dirty="0">
              <a:latin typeface="Courier New"/>
              <a:cs typeface="Courier New"/>
            </a:endParaRPr>
          </a:p>
          <a:p>
            <a:r>
              <a:rPr lang="en-US" dirty="0">
                <a:latin typeface="Courier New"/>
                <a:cs typeface="Courier New"/>
              </a:rPr>
              <a:t>Thanks for visiting! </a:t>
            </a:r>
          </a:p>
        </p:txBody>
      </p:sp>
    </p:spTree>
    <p:extLst>
      <p:ext uri="{BB962C8B-B14F-4D97-AF65-F5344CB8AC3E}">
        <p14:creationId xmlns:p14="http://schemas.microsoft.com/office/powerpoint/2010/main" val="6069654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82000" cy="685800"/>
          </a:xfrm>
        </p:spPr>
        <p:txBody>
          <a:bodyPr lIns="91294" tIns="45647" rIns="91294" bIns="45647" anchor="t"/>
          <a:lstStyle/>
          <a:p>
            <a:r>
              <a:rPr lang="en-US"/>
              <a:t>Serving Dynamic Content With GET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20788"/>
            <a:ext cx="7804150" cy="2284412"/>
          </a:xfrm>
        </p:spPr>
        <p:txBody>
          <a:bodyPr lIns="91294" tIns="45647" rIns="91294" bIns="45647"/>
          <a:lstStyle/>
          <a:p>
            <a:r>
              <a:rPr lang="en-US" u="sng" dirty="0"/>
              <a:t>Question</a:t>
            </a:r>
            <a:r>
              <a:rPr lang="en-US" dirty="0"/>
              <a:t>: How does the server pass these arguments to the child?</a:t>
            </a:r>
          </a:p>
          <a:p>
            <a:r>
              <a:rPr lang="en-US" u="sng" dirty="0"/>
              <a:t>Answer:</a:t>
            </a:r>
            <a:r>
              <a:rPr lang="en-US" dirty="0"/>
              <a:t> In environment variable QUERY_STRING</a:t>
            </a:r>
            <a:endParaRPr lang="en-US" dirty="0">
              <a:latin typeface="Courier New" pitchFamily="49" charset="0"/>
            </a:endParaRPr>
          </a:p>
          <a:p>
            <a:pPr lvl="1"/>
            <a:r>
              <a:rPr lang="en-US" dirty="0"/>
              <a:t>A single string containing everything after the “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For add: </a:t>
            </a:r>
            <a:r>
              <a:rPr lang="en-US" b="1" dirty="0">
                <a:latin typeface="Courier New" pitchFamily="49" charset="0"/>
              </a:rPr>
              <a:t>QUERY_STRING</a:t>
            </a:r>
            <a:r>
              <a:rPr lang="en-US" b="1" dirty="0"/>
              <a:t> = </a:t>
            </a:r>
            <a:r>
              <a:rPr lang="en-US" b="1" dirty="0">
                <a:latin typeface="+mn-lt"/>
                <a:cs typeface="Courier New" pitchFamily="49" charset="0"/>
              </a:rPr>
              <a:t>“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15213&amp;18213</a:t>
            </a:r>
            <a:r>
              <a:rPr lang="en-US" b="1" dirty="0"/>
              <a:t>”</a:t>
            </a:r>
          </a:p>
        </p:txBody>
      </p:sp>
      <p:sp>
        <p:nvSpPr>
          <p:cNvPr id="781316" name="Text Box 4"/>
          <p:cNvSpPr txBox="1">
            <a:spLocks noChangeArrowheads="1"/>
          </p:cNvSpPr>
          <p:nvPr/>
        </p:nvSpPr>
        <p:spPr bwMode="auto">
          <a:xfrm>
            <a:off x="778065" y="3586877"/>
            <a:ext cx="6994335" cy="258532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>
                <a:solidFill>
                  <a:srgbClr val="CB2418"/>
                </a:solidFill>
                <a:latin typeface="Courier New"/>
                <a:cs typeface="Courier New"/>
              </a:rPr>
              <a:t>/* Extract the two arguments */</a:t>
            </a:r>
            <a:endParaRPr lang="en-US" sz="18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getenv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Courier New"/>
                <a:cs typeface="Courier New"/>
              </a:rPr>
              <a:t>"QUERY_STRING"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)) != </a:t>
            </a:r>
            <a:r>
              <a:rPr lang="en-US" sz="18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 {</a:t>
            </a:r>
          </a:p>
          <a:p>
            <a:r>
              <a:rPr lang="fr-FR" sz="1800" dirty="0">
                <a:solidFill>
                  <a:srgbClr val="000000"/>
                </a:solidFill>
                <a:latin typeface="Courier New"/>
                <a:cs typeface="Courier New"/>
              </a:rPr>
              <a:t>        p = </a:t>
            </a:r>
            <a:r>
              <a:rPr lang="fr-FR" sz="1800" dirty="0" err="1">
                <a:solidFill>
                  <a:srgbClr val="000000"/>
                </a:solidFill>
                <a:latin typeface="Courier New"/>
                <a:cs typeface="Courier New"/>
              </a:rPr>
              <a:t>strchr</a:t>
            </a:r>
            <a:r>
              <a:rPr lang="fr-FR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fr-FR" sz="18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r-FR" sz="1800" dirty="0">
                <a:solidFill>
                  <a:srgbClr val="9D206F"/>
                </a:solidFill>
                <a:latin typeface="Courier New"/>
                <a:cs typeface="Courier New"/>
              </a:rPr>
              <a:t>'&amp;'</a:t>
            </a:r>
            <a:r>
              <a:rPr lang="fr-FR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tr-TR" sz="1800" dirty="0">
                <a:solidFill>
                  <a:srgbClr val="000000"/>
                </a:solidFill>
                <a:latin typeface="Courier New"/>
                <a:cs typeface="Courier New"/>
              </a:rPr>
              <a:t>	 *p = </a:t>
            </a:r>
            <a:r>
              <a:rPr lang="tr-TR" sz="1800" dirty="0">
                <a:solidFill>
                  <a:srgbClr val="9D206F"/>
                </a:solidFill>
                <a:latin typeface="Courier New"/>
                <a:cs typeface="Courier New"/>
              </a:rPr>
              <a:t>'\0'</a:t>
            </a:r>
            <a:r>
              <a:rPr lang="tr-TR" sz="18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de-DE" sz="18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e-DE" sz="1800" dirty="0" err="1">
                <a:solidFill>
                  <a:srgbClr val="000000"/>
                </a:solidFill>
                <a:latin typeface="Courier New"/>
                <a:cs typeface="Courier New"/>
              </a:rPr>
              <a:t>strcpy</a:t>
            </a:r>
            <a:r>
              <a:rPr lang="de-DE" sz="1800" dirty="0">
                <a:solidFill>
                  <a:srgbClr val="000000"/>
                </a:solidFill>
                <a:latin typeface="Courier New"/>
                <a:cs typeface="Courier New"/>
              </a:rPr>
              <a:t>(arg1, </a:t>
            </a:r>
            <a:r>
              <a:rPr lang="de-DE" sz="1800" dirty="0" err="1">
                <a:solidFill>
                  <a:srgbClr val="000000"/>
                </a:solidFill>
                <a:latin typeface="Courier New"/>
                <a:cs typeface="Courier New"/>
              </a:rPr>
              <a:t>buf</a:t>
            </a:r>
            <a:r>
              <a:rPr lang="de-DE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e-DE" sz="18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e-DE" sz="1800" dirty="0" err="1">
                <a:solidFill>
                  <a:srgbClr val="000000"/>
                </a:solidFill>
                <a:latin typeface="Courier New"/>
                <a:cs typeface="Courier New"/>
              </a:rPr>
              <a:t>strcpy</a:t>
            </a:r>
            <a:r>
              <a:rPr lang="de-DE" sz="1800" dirty="0">
                <a:solidFill>
                  <a:srgbClr val="000000"/>
                </a:solidFill>
                <a:latin typeface="Courier New"/>
                <a:cs typeface="Courier New"/>
              </a:rPr>
              <a:t>(arg2, p+1);</a:t>
            </a:r>
          </a:p>
          <a:p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       n1 = atoi(arg1);</a:t>
            </a:r>
          </a:p>
          <a:p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       n2 = atoi(arg2);</a:t>
            </a:r>
          </a:p>
          <a:p>
            <a:r>
              <a:rPr lang="fi-FI" sz="18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9539" y="5802868"/>
            <a:ext cx="902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adder.c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968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6200" y="2307559"/>
            <a:ext cx="8991600" cy="452431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serve_dynamic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/>
                <a:cs typeface="Courier New"/>
              </a:rPr>
              <a:t>filename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cgiargs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[MAXLINE],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emptylist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[] = {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};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Return first part of HTTP response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sprintf(buf, </a:t>
            </a:r>
            <a:r>
              <a:rPr lang="ro-RO" sz="1600" dirty="0">
                <a:solidFill>
                  <a:srgbClr val="9D206F"/>
                </a:solidFill>
                <a:latin typeface="Courier New"/>
                <a:cs typeface="Courier New"/>
              </a:rPr>
              <a:t>"HTTP/1.0 200 OK\r\n"</a:t>
            </a:r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Rio_writen(fd, buf, strlen(buf));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sprintf(buf, </a:t>
            </a:r>
            <a:r>
              <a:rPr lang="ro-RO" sz="1600" dirty="0">
                <a:solidFill>
                  <a:srgbClr val="9D206F"/>
                </a:solidFill>
                <a:latin typeface="Courier New"/>
                <a:cs typeface="Courier New"/>
              </a:rPr>
              <a:t>"Server: Tiny Web Server\r\n"</a:t>
            </a:r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Rio_writen(fd, buf, strlen(buf));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(Fork() == 0) {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Real server would set all CGI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vars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here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setenv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pl-PL" sz="1600" dirty="0">
                <a:solidFill>
                  <a:srgbClr val="9D206F"/>
                </a:solidFill>
                <a:latin typeface="Courier New"/>
                <a:cs typeface="Courier New"/>
              </a:rPr>
              <a:t>"QUERY_STRING"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cgiargs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1); 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Dup2(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fd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STDOUT_FILENO);         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Redirect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stdout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to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  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Execve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filename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emptylist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environ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/* Run CGI program */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Wait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pl-PL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Parent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waits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for and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reaps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pl-PL" sz="1600" dirty="0" err="1">
                <a:solidFill>
                  <a:srgbClr val="CB2418"/>
                </a:solidFill>
                <a:latin typeface="Courier New"/>
                <a:cs typeface="Courier New"/>
              </a:rPr>
              <a:t>child</a:t>
            </a:r>
            <a:r>
              <a:rPr lang="pl-PL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8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2620"/>
            <a:ext cx="8382000" cy="685800"/>
          </a:xfrm>
        </p:spPr>
        <p:txBody>
          <a:bodyPr lIns="91294" tIns="45647" rIns="91294" bIns="45647" anchor="t"/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78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123500"/>
            <a:ext cx="8699500" cy="2209800"/>
          </a:xfrm>
        </p:spPr>
        <p:txBody>
          <a:bodyPr lIns="91294" tIns="45647" rIns="91294" bIns="45647"/>
          <a:lstStyle/>
          <a:p>
            <a:r>
              <a:rPr lang="en-US" sz="2000" u="sng" dirty="0"/>
              <a:t>Question:</a:t>
            </a:r>
            <a:r>
              <a:rPr lang="en-US" sz="2000" dirty="0"/>
              <a:t> How does the server capture the content produced by the child?</a:t>
            </a:r>
          </a:p>
          <a:p>
            <a:r>
              <a:rPr lang="en-US" sz="2000" u="sng" dirty="0"/>
              <a:t>Answer:</a:t>
            </a:r>
            <a:r>
              <a:rPr lang="en-US" sz="2000" dirty="0"/>
              <a:t> The child generates its output on </a:t>
            </a:r>
            <a:r>
              <a:rPr lang="en-US" sz="2000" dirty="0" err="1">
                <a:latin typeface="Courier New" pitchFamily="49" charset="0"/>
              </a:rPr>
              <a:t>stdout</a:t>
            </a:r>
            <a:r>
              <a:rPr lang="en-US" sz="2000" dirty="0"/>
              <a:t>.  Server uses </a:t>
            </a:r>
            <a:r>
              <a:rPr lang="en-US" sz="2000" dirty="0">
                <a:latin typeface="Courier New" pitchFamily="49" charset="0"/>
              </a:rPr>
              <a:t>dup2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to redirect </a:t>
            </a:r>
            <a:r>
              <a:rPr lang="en-US" sz="2000" dirty="0" err="1">
                <a:latin typeface="Courier New" pitchFamily="49" charset="0"/>
              </a:rPr>
              <a:t>stdout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to its connected socket.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1519" y="6483360"/>
            <a:ext cx="71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tiny.c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2051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1294" tIns="45647" rIns="91294" bIns="45647" anchor="t"/>
          <a:lstStyle/>
          <a:p>
            <a:r>
              <a:rPr lang="en-US" dirty="0"/>
              <a:t>Serving Dynamic Content with GET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76200" y="2489028"/>
            <a:ext cx="8991600" cy="353943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Make the response body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"Welcome to 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add.com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sTHE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Internet addition portal.\r\n&lt;p&gt;"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content);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sThe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answer is: %d + %d = %d\r\n&lt;p&gt;"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content, n1, n2, n1 + n2);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(content,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sThanks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for visiting!\r\n"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content);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Generate the HTTP response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"Content-length: %d\r\n"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strlen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(content));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"Content-type: text/html\r\n\r\n"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"%s"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content);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fflush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stdout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exit(0);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02139" y="5673730"/>
            <a:ext cx="902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7F7F7F"/>
                </a:solidFill>
                <a:latin typeface="Calibri" pitchFamily="34" charset="0"/>
              </a:rPr>
              <a:t>adder.c</a:t>
            </a:r>
            <a:endParaRPr lang="en-US" sz="1800" dirty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609600" y="1220788"/>
            <a:ext cx="7804150" cy="1035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94" tIns="45647" rIns="91294" bIns="45647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/>
              <a:t>Notice that only the CGI child process knows the content type and length, so it must generate those headers.</a:t>
            </a:r>
          </a:p>
        </p:txBody>
      </p:sp>
    </p:spTree>
    <p:extLst>
      <p:ext uri="{BB962C8B-B14F-4D97-AF65-F5344CB8AC3E}">
        <p14:creationId xmlns:p14="http://schemas.microsoft.com/office/powerpoint/2010/main" val="33770187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304800" y="1206500"/>
            <a:ext cx="7315200" cy="4278094"/>
          </a:xfrm>
          <a:prstGeom prst="rect">
            <a:avLst/>
          </a:prstGeom>
          <a:solidFill>
            <a:srgbClr val="D9D9D9"/>
          </a:solidFill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bash:makoshark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 telnet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15213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Trying 128.2.210.175...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Connected to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whaleshark.ics.cs.cmu.edu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(128.2.210.175).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Escape character is '^]'.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GET /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cgi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-bin/adder?15213&amp;18213 HTTP/1.0</a:t>
            </a:r>
          </a:p>
          <a:p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HTTP/1.0 200 OK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Server: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Tiny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Web Server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Connection: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close</a:t>
            </a:r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Content-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length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: 117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Content-type: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text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/html</a:t>
            </a:r>
          </a:p>
          <a:p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Welcome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to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add.com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: THE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Internet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addition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portal.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&lt;p&gt;The answer is: 15213 + 18213 = 33426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&lt;p&gt;Thanks for visiting!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Connection closed by foreign host.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bash:makoshark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&gt; </a:t>
            </a:r>
          </a:p>
        </p:txBody>
      </p:sp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8382000" cy="573087"/>
          </a:xfrm>
        </p:spPr>
        <p:txBody>
          <a:bodyPr/>
          <a:lstStyle/>
          <a:p>
            <a:r>
              <a:rPr lang="en-US" dirty="0"/>
              <a:t>Serving Dynamic Content With GET </a:t>
            </a:r>
          </a:p>
        </p:txBody>
      </p:sp>
      <p:sp>
        <p:nvSpPr>
          <p:cNvPr id="786437" name="Text Box 5"/>
          <p:cNvSpPr txBox="1">
            <a:spLocks noChangeArrowheads="1"/>
          </p:cNvSpPr>
          <p:nvPr/>
        </p:nvSpPr>
        <p:spPr bwMode="auto">
          <a:xfrm>
            <a:off x="6452920" y="2277840"/>
            <a:ext cx="2677271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i="1" dirty="0">
                <a:solidFill>
                  <a:schemeClr val="accent6">
                    <a:lumMod val="75000"/>
                  </a:schemeClr>
                </a:solidFill>
              </a:rPr>
              <a:t>HTTP request sent by client</a:t>
            </a:r>
          </a:p>
        </p:txBody>
      </p:sp>
      <p:sp>
        <p:nvSpPr>
          <p:cNvPr id="786438" name="Text Box 6"/>
          <p:cNvSpPr txBox="1">
            <a:spLocks noChangeArrowheads="1"/>
          </p:cNvSpPr>
          <p:nvPr/>
        </p:nvSpPr>
        <p:spPr bwMode="auto">
          <a:xfrm>
            <a:off x="6452920" y="2781290"/>
            <a:ext cx="2743200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800" i="1" dirty="0">
                <a:solidFill>
                  <a:schemeClr val="accent6">
                    <a:lumMod val="75000"/>
                  </a:schemeClr>
                </a:solidFill>
              </a:rPr>
              <a:t>HTTP response generated </a:t>
            </a:r>
          </a:p>
          <a:p>
            <a:pPr algn="l"/>
            <a:r>
              <a:rPr lang="en-US" sz="1800" i="1" dirty="0">
                <a:solidFill>
                  <a:schemeClr val="accent6">
                    <a:lumMod val="75000"/>
                  </a:schemeClr>
                </a:solidFill>
              </a:rPr>
              <a:t>by the server</a:t>
            </a:r>
          </a:p>
        </p:txBody>
      </p:sp>
      <p:sp>
        <p:nvSpPr>
          <p:cNvPr id="786442" name="Text Box 10"/>
          <p:cNvSpPr txBox="1">
            <a:spLocks noChangeArrowheads="1"/>
          </p:cNvSpPr>
          <p:nvPr/>
        </p:nvSpPr>
        <p:spPr bwMode="auto">
          <a:xfrm>
            <a:off x="6452920" y="3873015"/>
            <a:ext cx="2572162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1800" i="1" dirty="0">
                <a:solidFill>
                  <a:schemeClr val="accent6">
                    <a:lumMod val="75000"/>
                  </a:schemeClr>
                </a:solidFill>
              </a:rPr>
              <a:t>HTTP response generated </a:t>
            </a:r>
          </a:p>
          <a:p>
            <a:pPr algn="l"/>
            <a:r>
              <a:rPr lang="en-US" sz="1800" i="1" dirty="0">
                <a:solidFill>
                  <a:schemeClr val="accent6">
                    <a:lumMod val="75000"/>
                  </a:schemeClr>
                </a:solidFill>
              </a:rPr>
              <a:t>by the CGI program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304800" y="2232480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>
            <a:off x="304800" y="2736420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304800" y="3444491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304800" y="4935038"/>
            <a:ext cx="8458200" cy="0"/>
          </a:xfrm>
          <a:prstGeom prst="line">
            <a:avLst/>
          </a:prstGeom>
          <a:noFill/>
          <a:ln w="28575" cmpd="sng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540474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Proxies</a:t>
            </a: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701087" cy="396081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>
                <a:solidFill>
                  <a:srgbClr val="FF0000"/>
                </a:solidFill>
              </a:rPr>
              <a:t>proxy </a:t>
            </a:r>
            <a:r>
              <a:rPr lang="en-US" dirty="0">
                <a:solidFill>
                  <a:srgbClr val="000000"/>
                </a:solidFill>
              </a:rPr>
              <a:t>is an intermediary between a client and an </a:t>
            </a:r>
            <a:r>
              <a:rPr lang="en-US" i="1" dirty="0">
                <a:solidFill>
                  <a:srgbClr val="FF0000"/>
                </a:solidFill>
              </a:rPr>
              <a:t>origin server</a:t>
            </a:r>
            <a:endParaRPr lang="en-US" i="1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To the client, the proxy acts like a server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To the server, the proxy acts like a client</a:t>
            </a:r>
          </a:p>
        </p:txBody>
      </p:sp>
      <p:sp>
        <p:nvSpPr>
          <p:cNvPr id="788484" name="Oval 4"/>
          <p:cNvSpPr>
            <a:spLocks noChangeArrowheads="1"/>
          </p:cNvSpPr>
          <p:nvPr/>
        </p:nvSpPr>
        <p:spPr bwMode="auto">
          <a:xfrm>
            <a:off x="533400" y="3324225"/>
            <a:ext cx="1065213" cy="989013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 dirty="0">
                <a:latin typeface="+mn-lt"/>
              </a:rPr>
              <a:t>Client</a:t>
            </a:r>
          </a:p>
        </p:txBody>
      </p:sp>
      <p:sp>
        <p:nvSpPr>
          <p:cNvPr id="788485" name="Oval 5"/>
          <p:cNvSpPr>
            <a:spLocks noChangeArrowheads="1"/>
          </p:cNvSpPr>
          <p:nvPr/>
        </p:nvSpPr>
        <p:spPr bwMode="auto">
          <a:xfrm>
            <a:off x="3581400" y="3324225"/>
            <a:ext cx="1065213" cy="989013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Proxy</a:t>
            </a:r>
          </a:p>
        </p:txBody>
      </p:sp>
      <p:sp>
        <p:nvSpPr>
          <p:cNvPr id="788487" name="Oval 7"/>
          <p:cNvSpPr>
            <a:spLocks noChangeArrowheads="1"/>
          </p:cNvSpPr>
          <p:nvPr/>
        </p:nvSpPr>
        <p:spPr bwMode="auto">
          <a:xfrm>
            <a:off x="6630988" y="3322638"/>
            <a:ext cx="1065212" cy="989012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defTabSz="912813"/>
            <a:r>
              <a:rPr lang="en-US" sz="1800">
                <a:latin typeface="+mn-lt"/>
              </a:rPr>
              <a:t>Origin</a:t>
            </a:r>
          </a:p>
          <a:p>
            <a:pPr defTabSz="912813"/>
            <a:r>
              <a:rPr lang="en-US" sz="1800">
                <a:latin typeface="+mn-lt"/>
              </a:rPr>
              <a:t>Server</a:t>
            </a:r>
          </a:p>
        </p:txBody>
      </p:sp>
      <p:sp>
        <p:nvSpPr>
          <p:cNvPr id="788486" name="Line 6"/>
          <p:cNvSpPr>
            <a:spLocks noChangeShapeType="1"/>
          </p:cNvSpPr>
          <p:nvPr/>
        </p:nvSpPr>
        <p:spPr bwMode="auto">
          <a:xfrm>
            <a:off x="1600200" y="35512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>
              <a:latin typeface="+mn-lt"/>
            </a:endParaRPr>
          </a:p>
        </p:txBody>
      </p:sp>
      <p:sp>
        <p:nvSpPr>
          <p:cNvPr id="788496" name="Text Box 16"/>
          <p:cNvSpPr txBox="1">
            <a:spLocks noChangeArrowheads="1"/>
          </p:cNvSpPr>
          <p:nvPr/>
        </p:nvSpPr>
        <p:spPr bwMode="auto">
          <a:xfrm>
            <a:off x="1660525" y="3124200"/>
            <a:ext cx="193244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>
                <a:latin typeface="+mn-lt"/>
              </a:rPr>
              <a:t>1. Client request</a:t>
            </a:r>
          </a:p>
        </p:txBody>
      </p:sp>
      <p:sp>
        <p:nvSpPr>
          <p:cNvPr id="788493" name="Line 13"/>
          <p:cNvSpPr>
            <a:spLocks noChangeShapeType="1"/>
          </p:cNvSpPr>
          <p:nvPr/>
        </p:nvSpPr>
        <p:spPr bwMode="auto">
          <a:xfrm>
            <a:off x="4648200" y="35512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1577" tIns="45789" rIns="91577" bIns="45789" anchor="ctr"/>
          <a:lstStyle/>
          <a:p>
            <a:endParaRPr lang="en-US">
              <a:latin typeface="+mn-lt"/>
            </a:endParaRPr>
          </a:p>
        </p:txBody>
      </p:sp>
      <p:sp>
        <p:nvSpPr>
          <p:cNvPr id="788497" name="Text Box 17"/>
          <p:cNvSpPr txBox="1">
            <a:spLocks noChangeArrowheads="1"/>
          </p:cNvSpPr>
          <p:nvPr/>
        </p:nvSpPr>
        <p:spPr bwMode="auto">
          <a:xfrm>
            <a:off x="4668838" y="3138488"/>
            <a:ext cx="191991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>
                <a:latin typeface="+mn-lt"/>
              </a:rPr>
              <a:t>2. Proxy request</a:t>
            </a:r>
          </a:p>
        </p:txBody>
      </p:sp>
      <p:sp>
        <p:nvSpPr>
          <p:cNvPr id="788494" name="Line 14"/>
          <p:cNvSpPr>
            <a:spLocks noChangeShapeType="1"/>
          </p:cNvSpPr>
          <p:nvPr/>
        </p:nvSpPr>
        <p:spPr bwMode="auto">
          <a:xfrm>
            <a:off x="4572000" y="40084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>
              <a:latin typeface="+mn-lt"/>
            </a:endParaRPr>
          </a:p>
        </p:txBody>
      </p:sp>
      <p:sp>
        <p:nvSpPr>
          <p:cNvPr id="788498" name="Text Box 18"/>
          <p:cNvSpPr txBox="1">
            <a:spLocks noChangeArrowheads="1"/>
          </p:cNvSpPr>
          <p:nvPr/>
        </p:nvSpPr>
        <p:spPr bwMode="auto">
          <a:xfrm>
            <a:off x="4724400" y="4084638"/>
            <a:ext cx="214947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>
                <a:latin typeface="+mn-lt"/>
              </a:rPr>
              <a:t>3. Server response</a:t>
            </a:r>
          </a:p>
        </p:txBody>
      </p:sp>
      <p:sp>
        <p:nvSpPr>
          <p:cNvPr id="788495" name="Line 15"/>
          <p:cNvSpPr>
            <a:spLocks noChangeShapeType="1"/>
          </p:cNvSpPr>
          <p:nvPr/>
        </p:nvSpPr>
        <p:spPr bwMode="auto">
          <a:xfrm>
            <a:off x="1524000" y="4008438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91577" tIns="45789" rIns="91577" bIns="45789" anchor="ctr"/>
          <a:lstStyle/>
          <a:p>
            <a:endParaRPr lang="en-US">
              <a:latin typeface="+mn-lt"/>
            </a:endParaRPr>
          </a:p>
        </p:txBody>
      </p:sp>
      <p:sp>
        <p:nvSpPr>
          <p:cNvPr id="788499" name="Text Box 19"/>
          <p:cNvSpPr txBox="1">
            <a:spLocks noChangeArrowheads="1"/>
          </p:cNvSpPr>
          <p:nvPr/>
        </p:nvSpPr>
        <p:spPr bwMode="auto">
          <a:xfrm>
            <a:off x="1651000" y="4084638"/>
            <a:ext cx="207120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dirty="0">
                <a:latin typeface="+mn-lt"/>
              </a:rPr>
              <a:t>4. Proxy response</a:t>
            </a:r>
          </a:p>
        </p:txBody>
      </p:sp>
    </p:spTree>
    <p:extLst>
      <p:ext uri="{BB962C8B-B14F-4D97-AF65-F5344CB8AC3E}">
        <p14:creationId xmlns:p14="http://schemas.microsoft.com/office/powerpoint/2010/main" val="78388265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Proxies?</a:t>
            </a:r>
          </a:p>
        </p:txBody>
      </p:sp>
      <p:sp>
        <p:nvSpPr>
          <p:cNvPr id="7895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620125" cy="1652587"/>
          </a:xfrm>
        </p:spPr>
        <p:txBody>
          <a:bodyPr/>
          <a:lstStyle/>
          <a:p>
            <a:r>
              <a:rPr lang="en-US" dirty="0"/>
              <a:t>Can perform useful functions as requests and responses pass by</a:t>
            </a:r>
          </a:p>
          <a:p>
            <a:pPr lvl="1"/>
            <a:r>
              <a:rPr lang="en-US" dirty="0"/>
              <a:t>Examples: Caching, logging, </a:t>
            </a:r>
            <a:r>
              <a:rPr lang="en-US" dirty="0" err="1"/>
              <a:t>anonymization</a:t>
            </a:r>
            <a:r>
              <a:rPr lang="en-US" dirty="0"/>
              <a:t>, filtering, </a:t>
            </a:r>
            <a:r>
              <a:rPr lang="en-US" dirty="0" err="1"/>
              <a:t>transcoding</a:t>
            </a:r>
            <a:endParaRPr lang="en-US" dirty="0"/>
          </a:p>
        </p:txBody>
      </p:sp>
      <p:sp>
        <p:nvSpPr>
          <p:cNvPr id="789508" name="Oval 1028"/>
          <p:cNvSpPr>
            <a:spLocks noChangeArrowheads="1"/>
          </p:cNvSpPr>
          <p:nvPr/>
        </p:nvSpPr>
        <p:spPr bwMode="auto">
          <a:xfrm>
            <a:off x="628650" y="3000375"/>
            <a:ext cx="1065213" cy="989013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 dirty="0">
                <a:latin typeface="+mn-lt"/>
              </a:rPr>
              <a:t>Client</a:t>
            </a:r>
          </a:p>
          <a:p>
            <a:pPr algn="ctr" defTabSz="912813"/>
            <a:r>
              <a:rPr lang="en-US" sz="1800" dirty="0">
                <a:latin typeface="+mn-lt"/>
              </a:rPr>
              <a:t>A</a:t>
            </a:r>
          </a:p>
        </p:txBody>
      </p:sp>
      <p:sp>
        <p:nvSpPr>
          <p:cNvPr id="789509" name="Oval 1029"/>
          <p:cNvSpPr>
            <a:spLocks noChangeArrowheads="1"/>
          </p:cNvSpPr>
          <p:nvPr/>
        </p:nvSpPr>
        <p:spPr bwMode="auto">
          <a:xfrm>
            <a:off x="3676650" y="3808413"/>
            <a:ext cx="1065213" cy="989012"/>
          </a:xfrm>
          <a:prstGeom prst="ellipse">
            <a:avLst/>
          </a:prstGeom>
          <a:solidFill>
            <a:srgbClr val="CCFFFF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+mn-lt"/>
              </a:rPr>
              <a:t>Proxy</a:t>
            </a:r>
          </a:p>
          <a:p>
            <a:pPr algn="ctr" defTabSz="912813"/>
            <a:r>
              <a:rPr lang="en-US" sz="1800">
                <a:latin typeface="+mn-lt"/>
              </a:rPr>
              <a:t>cache</a:t>
            </a:r>
          </a:p>
        </p:txBody>
      </p:sp>
      <p:sp>
        <p:nvSpPr>
          <p:cNvPr id="789510" name="Oval 1030"/>
          <p:cNvSpPr>
            <a:spLocks noChangeArrowheads="1"/>
          </p:cNvSpPr>
          <p:nvPr/>
        </p:nvSpPr>
        <p:spPr bwMode="auto">
          <a:xfrm>
            <a:off x="7845425" y="3716338"/>
            <a:ext cx="1065213" cy="989012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+mn-lt"/>
              </a:rPr>
              <a:t>Origin</a:t>
            </a:r>
          </a:p>
          <a:p>
            <a:pPr algn="ctr" defTabSz="912813"/>
            <a:r>
              <a:rPr lang="en-US" sz="1800">
                <a:latin typeface="+mn-lt"/>
              </a:rPr>
              <a:t>Server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724025" y="3170238"/>
            <a:ext cx="2316163" cy="738187"/>
            <a:chOff x="1724025" y="3170238"/>
            <a:chExt cx="2316163" cy="738187"/>
          </a:xfrm>
        </p:grpSpPr>
        <p:sp>
          <p:nvSpPr>
            <p:cNvPr id="789512" name="Line 1032"/>
            <p:cNvSpPr>
              <a:spLocks noChangeShapeType="1"/>
            </p:cNvSpPr>
            <p:nvPr/>
          </p:nvSpPr>
          <p:spPr bwMode="auto">
            <a:xfrm>
              <a:off x="1724025" y="3419475"/>
              <a:ext cx="2157413" cy="4889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1577" tIns="45789" rIns="91577" bIns="45789" anchor="ctr"/>
            <a:lstStyle/>
            <a:p>
              <a:endParaRPr lang="en-US" sz="1800"/>
            </a:p>
          </p:txBody>
        </p:sp>
        <p:sp>
          <p:nvSpPr>
            <p:cNvPr id="789513" name="Text Box 1033"/>
            <p:cNvSpPr txBox="1">
              <a:spLocks noChangeArrowheads="1"/>
            </p:cNvSpPr>
            <p:nvPr/>
          </p:nvSpPr>
          <p:spPr bwMode="auto">
            <a:xfrm>
              <a:off x="1952625" y="3170238"/>
              <a:ext cx="2087563" cy="3698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/>
                <a:t>Request </a:t>
              </a:r>
              <a:r>
                <a:rPr lang="en-US" sz="1800" dirty="0" err="1">
                  <a:latin typeface="Courier New" pitchFamily="49" charset="0"/>
                </a:rPr>
                <a:t>foo.html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06938" y="3657600"/>
            <a:ext cx="3187700" cy="377831"/>
            <a:chOff x="4706938" y="3657600"/>
            <a:chExt cx="3187700" cy="377831"/>
          </a:xfrm>
        </p:grpSpPr>
        <p:sp>
          <p:nvSpPr>
            <p:cNvPr id="789515" name="Line 1035"/>
            <p:cNvSpPr>
              <a:spLocks noChangeShapeType="1"/>
            </p:cNvSpPr>
            <p:nvPr/>
          </p:nvSpPr>
          <p:spPr bwMode="auto">
            <a:xfrm>
              <a:off x="4706938" y="4035431"/>
              <a:ext cx="3187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1577" tIns="45789" rIns="91577" bIns="45789" anchor="ctr"/>
            <a:lstStyle/>
            <a:p>
              <a:endParaRPr lang="en-US" sz="1800"/>
            </a:p>
          </p:txBody>
        </p:sp>
        <p:sp>
          <p:nvSpPr>
            <p:cNvPr id="789516" name="Text Box 1036"/>
            <p:cNvSpPr txBox="1">
              <a:spLocks noChangeArrowheads="1"/>
            </p:cNvSpPr>
            <p:nvPr/>
          </p:nvSpPr>
          <p:spPr bwMode="auto">
            <a:xfrm>
              <a:off x="5505451" y="3657600"/>
              <a:ext cx="20875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/>
                <a:t>Request </a:t>
              </a:r>
              <a:r>
                <a:rPr lang="en-US" sz="1800" dirty="0" err="1">
                  <a:latin typeface="Courier New" pitchFamily="49" charset="0"/>
                </a:rPr>
                <a:t>foo.html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67250" y="4114800"/>
            <a:ext cx="3221038" cy="396881"/>
            <a:chOff x="4667250" y="4114800"/>
            <a:chExt cx="3221038" cy="396881"/>
          </a:xfrm>
        </p:grpSpPr>
        <p:sp>
          <p:nvSpPr>
            <p:cNvPr id="789518" name="Line 1038"/>
            <p:cNvSpPr>
              <a:spLocks noChangeShapeType="1"/>
            </p:cNvSpPr>
            <p:nvPr/>
          </p:nvSpPr>
          <p:spPr bwMode="auto">
            <a:xfrm>
              <a:off x="4667250" y="4492631"/>
              <a:ext cx="3221038" cy="190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lIns="91577" tIns="45789" rIns="91577" bIns="45789" anchor="ctr"/>
            <a:lstStyle/>
            <a:p>
              <a:endParaRPr lang="en-US" sz="1800"/>
            </a:p>
          </p:txBody>
        </p:sp>
        <p:sp>
          <p:nvSpPr>
            <p:cNvPr id="789519" name="Text Box 1039"/>
            <p:cNvSpPr txBox="1">
              <a:spLocks noChangeArrowheads="1"/>
            </p:cNvSpPr>
            <p:nvPr/>
          </p:nvSpPr>
          <p:spPr bwMode="auto">
            <a:xfrm>
              <a:off x="5715000" y="4114800"/>
              <a:ext cx="12874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 err="1">
                  <a:latin typeface="Courier New" pitchFamily="49" charset="0"/>
                </a:rPr>
                <a:t>foo.html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579563" y="3667125"/>
            <a:ext cx="2097087" cy="615951"/>
            <a:chOff x="1579563" y="3667125"/>
            <a:chExt cx="2097087" cy="615951"/>
          </a:xfrm>
        </p:grpSpPr>
        <p:sp>
          <p:nvSpPr>
            <p:cNvPr id="789521" name="Line 1041"/>
            <p:cNvSpPr>
              <a:spLocks noChangeShapeType="1"/>
            </p:cNvSpPr>
            <p:nvPr/>
          </p:nvSpPr>
          <p:spPr bwMode="auto">
            <a:xfrm>
              <a:off x="1579563" y="3817938"/>
              <a:ext cx="2097087" cy="4651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lIns="91577" tIns="45789" rIns="91577" bIns="45789" anchor="ctr"/>
            <a:lstStyle/>
            <a:p>
              <a:endParaRPr lang="en-US" sz="1800"/>
            </a:p>
          </p:txBody>
        </p:sp>
        <p:sp>
          <p:nvSpPr>
            <p:cNvPr id="789522" name="Text Box 1042"/>
            <p:cNvSpPr txBox="1">
              <a:spLocks noChangeArrowheads="1"/>
            </p:cNvSpPr>
            <p:nvPr/>
          </p:nvSpPr>
          <p:spPr bwMode="auto">
            <a:xfrm>
              <a:off x="2293938" y="3667125"/>
              <a:ext cx="1287462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 err="1">
                  <a:latin typeface="Courier New" pitchFamily="49" charset="0"/>
                </a:rPr>
                <a:t>foo.html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sp>
        <p:nvSpPr>
          <p:cNvPr id="789523" name="Oval 1043"/>
          <p:cNvSpPr>
            <a:spLocks noChangeArrowheads="1"/>
          </p:cNvSpPr>
          <p:nvPr/>
        </p:nvSpPr>
        <p:spPr bwMode="auto">
          <a:xfrm>
            <a:off x="628650" y="4983163"/>
            <a:ext cx="1065213" cy="989012"/>
          </a:xfrm>
          <a:prstGeom prst="ellipse">
            <a:avLst/>
          </a:prstGeom>
          <a:solidFill>
            <a:srgbClr val="FF99CC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800">
                <a:latin typeface="+mn-lt"/>
              </a:rPr>
              <a:t>Client</a:t>
            </a:r>
          </a:p>
          <a:p>
            <a:pPr algn="ctr" defTabSz="912813"/>
            <a:r>
              <a:rPr lang="en-US" sz="1800">
                <a:latin typeface="+mn-lt"/>
              </a:rPr>
              <a:t>B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33400" y="4443413"/>
            <a:ext cx="3130550" cy="685800"/>
            <a:chOff x="533400" y="4443413"/>
            <a:chExt cx="3130550" cy="685800"/>
          </a:xfrm>
        </p:grpSpPr>
        <p:sp>
          <p:nvSpPr>
            <p:cNvPr id="789535" name="Line 1055"/>
            <p:cNvSpPr>
              <a:spLocks noChangeShapeType="1"/>
            </p:cNvSpPr>
            <p:nvPr/>
          </p:nvSpPr>
          <p:spPr bwMode="auto">
            <a:xfrm flipV="1">
              <a:off x="1552575" y="4443413"/>
              <a:ext cx="2111375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lIns="91577" tIns="45789" rIns="91577" bIns="45789" anchor="ctr"/>
            <a:lstStyle/>
            <a:p>
              <a:endParaRPr lang="en-US" sz="1800"/>
            </a:p>
          </p:txBody>
        </p:sp>
        <p:sp>
          <p:nvSpPr>
            <p:cNvPr id="789536" name="Text Box 1056"/>
            <p:cNvSpPr txBox="1">
              <a:spLocks noChangeArrowheads="1"/>
            </p:cNvSpPr>
            <p:nvPr/>
          </p:nvSpPr>
          <p:spPr bwMode="auto">
            <a:xfrm>
              <a:off x="533400" y="4489451"/>
              <a:ext cx="20875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/>
                <a:t>Request </a:t>
              </a:r>
              <a:r>
                <a:rPr lang="en-US" sz="1800" dirty="0" err="1">
                  <a:latin typeface="Courier New" pitchFamily="49" charset="0"/>
                </a:rPr>
                <a:t>foo.html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693863" y="4705350"/>
            <a:ext cx="2063751" cy="704850"/>
            <a:chOff x="1693863" y="4705350"/>
            <a:chExt cx="2063751" cy="704850"/>
          </a:xfrm>
        </p:grpSpPr>
        <p:sp>
          <p:nvSpPr>
            <p:cNvPr id="789537" name="Line 1057"/>
            <p:cNvSpPr>
              <a:spLocks noChangeShapeType="1"/>
            </p:cNvSpPr>
            <p:nvPr/>
          </p:nvSpPr>
          <p:spPr bwMode="auto">
            <a:xfrm flipV="1">
              <a:off x="1693863" y="4705350"/>
              <a:ext cx="2063751" cy="7048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lIns="91577" tIns="45789" rIns="91577" bIns="45789" anchor="ctr"/>
            <a:lstStyle/>
            <a:p>
              <a:endParaRPr lang="en-US" sz="1800"/>
            </a:p>
          </p:txBody>
        </p:sp>
        <p:sp>
          <p:nvSpPr>
            <p:cNvPr id="789538" name="Text Box 1058"/>
            <p:cNvSpPr txBox="1">
              <a:spLocks noChangeArrowheads="1"/>
            </p:cNvSpPr>
            <p:nvPr/>
          </p:nvSpPr>
          <p:spPr bwMode="auto">
            <a:xfrm>
              <a:off x="2470151" y="5029200"/>
              <a:ext cx="1287463" cy="3698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sz="1800" dirty="0" err="1">
                  <a:latin typeface="Courier New" pitchFamily="49" charset="0"/>
                </a:rPr>
                <a:t>foo.html</a:t>
              </a:r>
              <a:endParaRPr lang="en-US" sz="1800" dirty="0">
                <a:latin typeface="Courier New" pitchFamily="49" charset="0"/>
              </a:endParaRPr>
            </a:p>
          </p:txBody>
        </p:sp>
      </p:grpSp>
      <p:sp>
        <p:nvSpPr>
          <p:cNvPr id="789541" name="Text Box 1061"/>
          <p:cNvSpPr txBox="1">
            <a:spLocks noChangeArrowheads="1"/>
          </p:cNvSpPr>
          <p:nvPr/>
        </p:nvSpPr>
        <p:spPr bwMode="auto">
          <a:xfrm>
            <a:off x="1236663" y="6183313"/>
            <a:ext cx="297870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Fast inexpensive local network</a:t>
            </a:r>
          </a:p>
        </p:txBody>
      </p:sp>
      <p:sp>
        <p:nvSpPr>
          <p:cNvPr id="789543" name="Text Box 1063"/>
          <p:cNvSpPr txBox="1">
            <a:spLocks noChangeArrowheads="1"/>
          </p:cNvSpPr>
          <p:nvPr/>
        </p:nvSpPr>
        <p:spPr bwMode="auto">
          <a:xfrm>
            <a:off x="5643563" y="4792663"/>
            <a:ext cx="1692275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Slower more </a:t>
            </a:r>
          </a:p>
          <a:p>
            <a:r>
              <a:rPr lang="en-US" sz="1800"/>
              <a:t>expensive</a:t>
            </a:r>
          </a:p>
          <a:p>
            <a:r>
              <a:rPr lang="en-US" sz="1800"/>
              <a:t>global network</a:t>
            </a:r>
          </a:p>
        </p:txBody>
      </p:sp>
    </p:spTree>
    <p:extLst>
      <p:ext uri="{BB962C8B-B14F-4D97-AF65-F5344CB8AC3E}">
        <p14:creationId xmlns:p14="http://schemas.microsoft.com/office/powerpoint/2010/main" val="34565358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6586538" cy="573087"/>
          </a:xfrm>
        </p:spPr>
        <p:txBody>
          <a:bodyPr/>
          <a:lstStyle/>
          <a:p>
            <a:r>
              <a:rPr lang="en-US"/>
              <a:t>For More Information</a:t>
            </a:r>
          </a:p>
        </p:txBody>
      </p:sp>
      <p:sp>
        <p:nvSpPr>
          <p:cNvPr id="7874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4341812"/>
          </a:xfrm>
        </p:spPr>
        <p:txBody>
          <a:bodyPr/>
          <a:lstStyle/>
          <a:p>
            <a:r>
              <a:rPr lang="en-US" dirty="0"/>
              <a:t>Study the Tiny Web server described in your text</a:t>
            </a:r>
          </a:p>
          <a:p>
            <a:pPr lvl="1"/>
            <a:r>
              <a:rPr lang="en-US" dirty="0"/>
              <a:t>Tiny is a sequential Web server.</a:t>
            </a:r>
          </a:p>
          <a:p>
            <a:pPr lvl="1"/>
            <a:r>
              <a:rPr lang="en-US" dirty="0"/>
              <a:t>Serves static and dynamic content to real browsers.</a:t>
            </a:r>
          </a:p>
          <a:p>
            <a:pPr lvl="2"/>
            <a:r>
              <a:rPr lang="en-US" dirty="0"/>
              <a:t>text files, HTML files, GIF and JPEG images.</a:t>
            </a:r>
          </a:p>
          <a:p>
            <a:pPr lvl="1"/>
            <a:r>
              <a:rPr lang="en-US" dirty="0"/>
              <a:t>220 lines of commented C code.</a:t>
            </a:r>
          </a:p>
          <a:p>
            <a:pPr lvl="1"/>
            <a:r>
              <a:rPr lang="en-US" dirty="0"/>
              <a:t>Also comes with an implementation of the CGI script for the add.com addition portal.</a:t>
            </a:r>
          </a:p>
          <a:p>
            <a:pPr lvl="1"/>
            <a:endParaRPr lang="en-US" dirty="0"/>
          </a:p>
          <a:p>
            <a:r>
              <a:rPr lang="en-US" dirty="0"/>
              <a:t>See the HTTP/1.1 standard:</a:t>
            </a:r>
          </a:p>
          <a:p>
            <a:pPr lvl="1"/>
            <a:r>
              <a:rPr lang="en-US" dirty="0">
                <a:latin typeface="Courier New" pitchFamily="49" charset="0"/>
              </a:rPr>
              <a:t>http://www.w3.org/Protocols/rfc2616/rfc2616.html</a:t>
            </a:r>
          </a:p>
        </p:txBody>
      </p:sp>
    </p:spTree>
    <p:extLst>
      <p:ext uri="{BB962C8B-B14F-4D97-AF65-F5344CB8AC3E}">
        <p14:creationId xmlns:p14="http://schemas.microsoft.com/office/powerpoint/2010/main" val="333177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15 Minute Break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29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Network Programming</a:t>
            </a:r>
          </a:p>
          <a:p>
            <a:pPr lvl="0"/>
            <a:r>
              <a:rPr lang="en-US" sz="2800" dirty="0" smtClean="0">
                <a:solidFill>
                  <a:srgbClr val="000000"/>
                </a:solidFill>
              </a:rPr>
              <a:t>Concurrent Programming</a:t>
            </a:r>
            <a:endParaRPr lang="en-US" sz="2800" dirty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  <a:p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29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Concurrent Programming is Hard!</a:t>
            </a:r>
            <a:endParaRPr lang="en-US"/>
          </a:p>
        </p:txBody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 smtClean="0"/>
              <a:t>The human mind tends to be sequential</a:t>
            </a:r>
          </a:p>
          <a:p>
            <a:endParaRPr lang="en-US" sz="2600" dirty="0" smtClean="0"/>
          </a:p>
          <a:p>
            <a:r>
              <a:rPr lang="en-US" sz="2600" dirty="0" smtClean="0"/>
              <a:t>The notion of time is often misleading</a:t>
            </a:r>
          </a:p>
          <a:p>
            <a:endParaRPr lang="en-US" sz="2600" dirty="0" smtClean="0"/>
          </a:p>
          <a:p>
            <a:r>
              <a:rPr lang="en-US" sz="2600" dirty="0" smtClean="0"/>
              <a:t>Thinking about all possible sequences of events in a computer system is at least error prone and frequently impossible</a:t>
            </a:r>
          </a:p>
        </p:txBody>
      </p:sp>
    </p:spTree>
    <p:extLst>
      <p:ext uri="{BB962C8B-B14F-4D97-AF65-F5344CB8AC3E}">
        <p14:creationId xmlns:p14="http://schemas.microsoft.com/office/powerpoint/2010/main" val="6479651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Race</a:t>
            </a:r>
            <a:endParaRPr lang="en-US" dirty="0"/>
          </a:p>
        </p:txBody>
      </p:sp>
      <p:pic>
        <p:nvPicPr>
          <p:cNvPr id="3074" name="Picture 2" descr="http://www.rottenbeef.com/wordpress/wp-content/uploads/2011/11/small-parking-spa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0"/>
            <a:ext cx="3238500" cy="245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 bwMode="auto">
          <a:xfrm>
            <a:off x="5257800" y="3276600"/>
            <a:ext cx="3048000" cy="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6039917" y="2667000"/>
            <a:ext cx="0" cy="129540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6517234" y="2667000"/>
            <a:ext cx="0" cy="129540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6994551" y="2667000"/>
            <a:ext cx="0" cy="129540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>
            <a:off x="7949187" y="2667000"/>
            <a:ext cx="0" cy="129540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7471868" y="2667000"/>
            <a:ext cx="0" cy="129540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/>
          <p:nvPr/>
        </p:nvCxnSpPr>
        <p:spPr bwMode="auto">
          <a:xfrm>
            <a:off x="5562600" y="2667000"/>
            <a:ext cx="0" cy="129540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3076" name="Picture 4" descr="http://1.bp.blogspot.com/-0sKaQHSaSRQ/UbcV6Nn3vXI/AAAAAAAAAFE/7jeKz9eAsHM/s1600/car+damaged+sprite+red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2" t="24056" r="42261" b="33811"/>
          <a:stretch/>
        </p:blipFill>
        <p:spPr bwMode="auto">
          <a:xfrm>
            <a:off x="6096000" y="2513624"/>
            <a:ext cx="345031" cy="67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http://1.bp.blogspot.com/-0sKaQHSaSRQ/UbcV6Nn3vXI/AAAAAAAAAFE/7jeKz9eAsHM/s1600/car+damaged+sprite+red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2" t="24056" r="42261" b="33811"/>
          <a:stretch/>
        </p:blipFill>
        <p:spPr bwMode="auto">
          <a:xfrm>
            <a:off x="7046369" y="2558221"/>
            <a:ext cx="345031" cy="67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http://1.bp.blogspot.com/-0sKaQHSaSRQ/UbcV6Nn3vXI/AAAAAAAAAFE/7jeKz9eAsHM/s1600/car+damaged+sprite+red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2" t="24056" r="42261" b="33811"/>
          <a:stretch/>
        </p:blipFill>
        <p:spPr bwMode="auto">
          <a:xfrm rot="10537499">
            <a:off x="5669823" y="3336897"/>
            <a:ext cx="345031" cy="67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http://1.bp.blogspot.com/-0sKaQHSaSRQ/UbcV6Nn3vXI/AAAAAAAAAFE/7jeKz9eAsHM/s1600/car+damaged+sprite+red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72" t="24056" r="42261" b="33811"/>
          <a:stretch/>
        </p:blipFill>
        <p:spPr bwMode="auto">
          <a:xfrm rot="10800000">
            <a:off x="7579093" y="3347057"/>
            <a:ext cx="345031" cy="67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encrypted-tbn1.gstatic.com/images?q=tbn:ANd9GcQSk4CPcd-A5be11z8WNLeFl-dikoN2gjYQyr658ZBHRdzcp7Ud-7ttdVt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303929" y="1020583"/>
            <a:ext cx="872474" cy="65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web.vw.com/why-vw/safety/media/images/slides/car-top-view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73948" y="4178800"/>
            <a:ext cx="988820" cy="556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98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66667E-6 1.73472E-18 C -0.00433 -0.01829 -0.00555 -0.06111 -0.00659 -0.08009 C -0.00694 -0.08519 -0.00798 -0.10695 -0.00885 -0.11412 C -0.00937 -0.11945 -0.0111 -0.13033 -0.0111 -0.13033 C -0.01006 -0.17546 -0.00555 -0.21736 -0.00555 -0.26227 L -0.00433 -0.27847 " pathEditMode="relative" ptsTypes="ffffAA">
                                      <p:cBhvr>
                                        <p:cTn id="8" dur="2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</a:t>
            </a:r>
            <a:endParaRPr lang="en-US" dirty="0"/>
          </a:p>
        </p:txBody>
      </p:sp>
      <p:pic>
        <p:nvPicPr>
          <p:cNvPr id="1026" name="Picture 2" descr="http://people.sc.fsu.edu/~jburkardt/latex/monte_carlo_simulation/traffic_j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55" y="2043112"/>
            <a:ext cx="4762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ttps://lh3.googleusercontent.com/-q66TROhVilE/TXE1Fotn7OI/AAAAAAAAAIw/B3jfPvTZfCs/s1600/Deadlocking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s://lh3.googleusercontent.com/-q66TROhVilE/TXE1Fotn7OI/AAAAAAAAAIw/B3jfPvTZfCs/s1600/Deadlocking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362200"/>
            <a:ext cx="25336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43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Deadlock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 from signal handlers.</a:t>
            </a:r>
          </a:p>
          <a:p>
            <a:r>
              <a:rPr lang="en-US" dirty="0" smtClean="0"/>
              <a:t>Why don’t we use </a:t>
            </a:r>
            <a:r>
              <a:rPr lang="en-US" dirty="0" err="1" smtClean="0"/>
              <a:t>printf</a:t>
            </a:r>
            <a:r>
              <a:rPr lang="en-US" dirty="0" smtClean="0"/>
              <a:t> in handlers?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Printf</a:t>
            </a:r>
            <a:r>
              <a:rPr lang="en-US" dirty="0" smtClean="0"/>
              <a:t> code:</a:t>
            </a:r>
          </a:p>
          <a:p>
            <a:pPr lvl="1"/>
            <a:r>
              <a:rPr lang="en-US" dirty="0" smtClean="0"/>
              <a:t>Acquire lock</a:t>
            </a:r>
          </a:p>
          <a:p>
            <a:pPr lvl="1"/>
            <a:r>
              <a:rPr lang="en-US" dirty="0" smtClean="0"/>
              <a:t>Do something</a:t>
            </a:r>
          </a:p>
          <a:p>
            <a:pPr lvl="1"/>
            <a:r>
              <a:rPr lang="en-US" dirty="0" smtClean="0"/>
              <a:t>Release lock</a:t>
            </a:r>
          </a:p>
          <a:p>
            <a:r>
              <a:rPr lang="en-US" dirty="0" smtClean="0"/>
              <a:t>What if signal handler interrupts call to </a:t>
            </a:r>
            <a:r>
              <a:rPr lang="en-US" dirty="0" err="1" smtClean="0"/>
              <a:t>printf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1026" name="Picture 2" descr="http://people.sc.fsu.edu/~jburkardt/latex/monte_carlo_simulation/traffic_j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581025"/>
            <a:ext cx="2208592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https://lh3.googleusercontent.com/-q66TROhVilE/TXE1Fotn7OI/AAAAAAAAAIw/B3jfPvTZfCs/s1600/Deadlocking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2374436"/>
            <a:ext cx="89122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catch_child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signo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("Child exited!\n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 </a:t>
            </a:r>
            <a:r>
              <a:rPr lang="en-US" sz="1600" dirty="0">
                <a:latin typeface="+mn-lt"/>
                <a:cs typeface="Courier New" panose="02070309020205020404" pitchFamily="49" charset="0"/>
              </a:rPr>
              <a:t>// this call may reenter </a:t>
            </a:r>
            <a:r>
              <a:rPr lang="en-US" sz="1600" dirty="0" err="1">
                <a:latin typeface="+mn-lt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+mn-lt"/>
                <a:cs typeface="Courier New" panose="02070309020205020404" pitchFamily="49" charset="0"/>
              </a:rPr>
              <a:t>/puts! BAD!  DEADLOCK!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while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(-1, NULL, WNOHANG) &gt; 0) continue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dirty="0">
                <a:latin typeface="+mn-lt"/>
                <a:cs typeface="Courier New" panose="02070309020205020404" pitchFamily="49" charset="0"/>
              </a:rPr>
              <a:t>// reap all children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581400" y="3276600"/>
            <a:ext cx="3843586" cy="1663918"/>
            <a:chOff x="5124214" y="3549860"/>
            <a:chExt cx="3843586" cy="1663918"/>
          </a:xfrm>
        </p:grpSpPr>
        <p:sp>
          <p:nvSpPr>
            <p:cNvPr id="7" name="Line 93"/>
            <p:cNvSpPr>
              <a:spLocks noChangeShapeType="1"/>
            </p:cNvSpPr>
            <p:nvPr/>
          </p:nvSpPr>
          <p:spPr bwMode="auto">
            <a:xfrm>
              <a:off x="5627452" y="3597703"/>
              <a:ext cx="0" cy="598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8" name="Line 94"/>
            <p:cNvSpPr>
              <a:spLocks noChangeShapeType="1"/>
            </p:cNvSpPr>
            <p:nvPr/>
          </p:nvSpPr>
          <p:spPr bwMode="auto">
            <a:xfrm>
              <a:off x="5633802" y="4202541"/>
              <a:ext cx="2400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9" name="Line 95"/>
            <p:cNvSpPr>
              <a:spLocks noChangeShapeType="1"/>
            </p:cNvSpPr>
            <p:nvPr/>
          </p:nvSpPr>
          <p:spPr bwMode="auto">
            <a:xfrm flipH="1">
              <a:off x="8032514" y="4208891"/>
              <a:ext cx="0" cy="2464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" name="Line 96"/>
            <p:cNvSpPr>
              <a:spLocks noChangeShapeType="1"/>
            </p:cNvSpPr>
            <p:nvPr/>
          </p:nvSpPr>
          <p:spPr bwMode="auto">
            <a:xfrm flipH="1" flipV="1">
              <a:off x="5630627" y="4329541"/>
              <a:ext cx="2352675" cy="387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1" name="Line 97"/>
            <p:cNvSpPr>
              <a:spLocks noChangeShapeType="1"/>
            </p:cNvSpPr>
            <p:nvPr/>
          </p:nvSpPr>
          <p:spPr bwMode="auto">
            <a:xfrm>
              <a:off x="5629039" y="4337478"/>
              <a:ext cx="3175" cy="876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5" name="Text Box 101"/>
            <p:cNvSpPr txBox="1">
              <a:spLocks noChangeArrowheads="1"/>
            </p:cNvSpPr>
            <p:nvPr/>
          </p:nvSpPr>
          <p:spPr bwMode="auto">
            <a:xfrm>
              <a:off x="5124214" y="3919966"/>
              <a:ext cx="54725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 i="1">
                  <a:latin typeface="Helvetica" charset="0"/>
                </a:rPr>
                <a:t>I</a:t>
              </a:r>
              <a:r>
                <a:rPr lang="en-US" sz="1600" i="1" baseline="-25000">
                  <a:latin typeface="Helvetica" charset="0"/>
                </a:rPr>
                <a:t>curr</a:t>
              </a:r>
              <a:endParaRPr lang="en-US" sz="1600" i="1">
                <a:latin typeface="Helvetica" charset="0"/>
              </a:endParaRPr>
            </a:p>
          </p:txBody>
        </p:sp>
        <p:sp>
          <p:nvSpPr>
            <p:cNvPr id="16" name="Text Box 102"/>
            <p:cNvSpPr txBox="1">
              <a:spLocks noChangeArrowheads="1"/>
            </p:cNvSpPr>
            <p:nvPr/>
          </p:nvSpPr>
          <p:spPr bwMode="auto">
            <a:xfrm>
              <a:off x="5124214" y="4116816"/>
              <a:ext cx="56106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1600" i="1">
                  <a:latin typeface="Helvetica" charset="0"/>
                </a:rPr>
                <a:t>I</a:t>
              </a:r>
              <a:r>
                <a:rPr lang="en-US" sz="1600" i="1" baseline="-25000">
                  <a:latin typeface="Helvetica" charset="0"/>
                </a:rPr>
                <a:t>next</a:t>
              </a:r>
              <a:endParaRPr lang="en-US" sz="1600" i="1">
                <a:latin typeface="Helvetica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24003" y="3549860"/>
              <a:ext cx="9709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 smtClean="0">
                  <a:solidFill>
                    <a:srgbClr val="800000"/>
                  </a:solidFill>
                  <a:latin typeface="Calibri" pitchFamily="34" charset="0"/>
                </a:rPr>
                <a:t>Acquire</a:t>
              </a:r>
            </a:p>
            <a:p>
              <a:r>
                <a:rPr lang="en-US" sz="1800" i="1" dirty="0" smtClean="0">
                  <a:solidFill>
                    <a:srgbClr val="800000"/>
                  </a:solidFill>
                  <a:latin typeface="Calibri" pitchFamily="34" charset="0"/>
                </a:rPr>
                <a:t>lock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55371" y="3962400"/>
              <a:ext cx="91242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>
                  <a:solidFill>
                    <a:srgbClr val="800000"/>
                  </a:solidFill>
                  <a:latin typeface="Calibri" pitchFamily="34" charset="0"/>
                </a:rPr>
                <a:t>(Try to)</a:t>
              </a:r>
            </a:p>
            <a:p>
              <a:r>
                <a:rPr lang="en-US" sz="1800" i="1" dirty="0">
                  <a:solidFill>
                    <a:srgbClr val="800000"/>
                  </a:solidFill>
                  <a:latin typeface="Calibri" pitchFamily="34" charset="0"/>
                </a:rPr>
                <a:t>a</a:t>
              </a:r>
              <a:r>
                <a:rPr lang="en-US" sz="1800" i="1" dirty="0" smtClean="0">
                  <a:solidFill>
                    <a:srgbClr val="800000"/>
                  </a:solidFill>
                  <a:latin typeface="Calibri" pitchFamily="34" charset="0"/>
                </a:rPr>
                <a:t>cquire</a:t>
              </a:r>
            </a:p>
            <a:p>
              <a:r>
                <a:rPr lang="en-US" sz="1800" i="1" dirty="0" smtClean="0">
                  <a:solidFill>
                    <a:srgbClr val="800000"/>
                  </a:solidFill>
                  <a:latin typeface="Calibri" pitchFamily="34" charset="0"/>
                </a:rPr>
                <a:t>lock</a:t>
              </a:r>
            </a:p>
          </p:txBody>
        </p:sp>
        <p:sp>
          <p:nvSpPr>
            <p:cNvPr id="19" name="Line 95"/>
            <p:cNvSpPr>
              <a:spLocks noChangeShapeType="1"/>
            </p:cNvSpPr>
            <p:nvPr/>
          </p:nvSpPr>
          <p:spPr bwMode="auto">
            <a:xfrm flipH="1">
              <a:off x="8032514" y="4455370"/>
              <a:ext cx="0" cy="2615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22092" y="3562560"/>
              <a:ext cx="9712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i="1" dirty="0" smtClean="0">
                  <a:latin typeface="Calibri" pitchFamily="34" charset="0"/>
                </a:rPr>
                <a:t>Receive</a:t>
              </a:r>
            </a:p>
            <a:p>
              <a:pPr algn="ctr"/>
              <a:r>
                <a:rPr lang="en-US" sz="1800" i="1" dirty="0" smtClean="0">
                  <a:latin typeface="Calibri" pitchFamily="34" charset="0"/>
                </a:rPr>
                <a:t>signal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490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</a:t>
            </a:r>
            <a:r>
              <a:rPr lang="en-US" dirty="0" err="1" smtClean="0"/>
              <a:t>Printf</a:t>
            </a:r>
            <a:r>
              <a:rPr lang="en-US" dirty="0" smtClean="0"/>
              <a:t> Deadlock</a:t>
            </a:r>
            <a:endParaRPr lang="en-US" dirty="0"/>
          </a:p>
        </p:txBody>
      </p:sp>
      <p:sp>
        <p:nvSpPr>
          <p:cNvPr id="4" name="AutoShape 4" descr="https://lh3.googleusercontent.com/-q66TROhVilE/TXE1Fotn7OI/AAAAAAAAAIw/B3jfPvTZfCs/s1600/Deadlocking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1166842"/>
            <a:ext cx="8912225" cy="4524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catch_child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signo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("Child exited!\n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 </a:t>
            </a:r>
            <a:r>
              <a:rPr lang="en-US" sz="1600" dirty="0">
                <a:latin typeface="+mn-lt"/>
                <a:cs typeface="Courier New" panose="02070309020205020404" pitchFamily="49" charset="0"/>
              </a:rPr>
              <a:t>// this call may reenter </a:t>
            </a:r>
            <a:r>
              <a:rPr lang="en-US" sz="1600" dirty="0" err="1">
                <a:latin typeface="+mn-lt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+mn-lt"/>
                <a:cs typeface="Courier New" panose="02070309020205020404" pitchFamily="49" charset="0"/>
              </a:rPr>
              <a:t>/puts! BAD!  DEADLOCK!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while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waitpid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(-1, NULL, WNOHANG) &gt; 0) continue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600" dirty="0">
                <a:latin typeface="+mn-lt"/>
                <a:cs typeface="Courier New" panose="02070309020205020404" pitchFamily="49" charset="0"/>
              </a:rPr>
              <a:t>// reap all children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char**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1000000;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(fork() == 0)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// in child, exit immediately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exit(0);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in parent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"Child #%d started\n",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43200"/>
            <a:ext cx="2590800" cy="3293209"/>
          </a:xfrm>
          <a:prstGeom prst="rect">
            <a:avLst/>
          </a:prstGeom>
          <a:solidFill>
            <a:srgbClr val="D5F1CF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#0 started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#1 started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#2 started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#3 started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exited!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#4 started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exited!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#5 started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#5888 started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Child #5889 started</a:t>
            </a:r>
          </a:p>
        </p:txBody>
      </p:sp>
    </p:spTree>
    <p:extLst>
      <p:ext uri="{BB962C8B-B14F-4D97-AF65-F5344CB8AC3E}">
        <p14:creationId xmlns:p14="http://schemas.microsoft.com/office/powerpoint/2010/main" val="105078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Starvation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181600" y="1362075"/>
            <a:ext cx="3111500" cy="4972050"/>
          </a:xfrm>
        </p:spPr>
        <p:txBody>
          <a:bodyPr/>
          <a:lstStyle/>
          <a:p>
            <a:r>
              <a:rPr lang="en-US" dirty="0" smtClean="0"/>
              <a:t>Yellow must yield to green</a:t>
            </a:r>
          </a:p>
          <a:p>
            <a:r>
              <a:rPr lang="en-US" dirty="0" smtClean="0"/>
              <a:t>Continuous stream of green cars</a:t>
            </a:r>
          </a:p>
          <a:p>
            <a:r>
              <a:rPr lang="en-US" dirty="0" smtClean="0"/>
              <a:t>Overall system makes progress, but some individuals wait indefinitely</a:t>
            </a:r>
          </a:p>
        </p:txBody>
      </p:sp>
      <p:pic>
        <p:nvPicPr>
          <p:cNvPr id="1026" name="Picture 2" descr="raffic example of starv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5019675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75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Concurrent Programming is Hard!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362074"/>
            <a:ext cx="8534400" cy="5114925"/>
          </a:xfrm>
        </p:spPr>
        <p:txBody>
          <a:bodyPr/>
          <a:lstStyle/>
          <a:p>
            <a:r>
              <a:rPr lang="en-US" sz="2600" dirty="0" smtClean="0"/>
              <a:t>Classical problem classes of concurrent programs:</a:t>
            </a:r>
          </a:p>
          <a:p>
            <a:pPr lvl="1"/>
            <a:r>
              <a:rPr lang="en-US" sz="2200" b="1" i="1" dirty="0" smtClean="0"/>
              <a:t>Races:</a:t>
            </a:r>
            <a:r>
              <a:rPr lang="en-US" sz="2200" dirty="0" smtClean="0"/>
              <a:t> outcome depends on arbitrary scheduling decisions elsewhere in the system</a:t>
            </a:r>
          </a:p>
          <a:p>
            <a:pPr lvl="2"/>
            <a:r>
              <a:rPr lang="en-US" dirty="0" smtClean="0"/>
              <a:t>Example: who gets the last seat on the airplane?</a:t>
            </a:r>
          </a:p>
          <a:p>
            <a:pPr lvl="1"/>
            <a:r>
              <a:rPr lang="en-US" sz="2200" b="1" i="1" dirty="0" smtClean="0"/>
              <a:t>Deadlock:</a:t>
            </a:r>
            <a:r>
              <a:rPr lang="en-US" sz="2200" dirty="0" smtClean="0"/>
              <a:t> improper resource allocation prevents forward progress</a:t>
            </a:r>
          </a:p>
          <a:p>
            <a:pPr lvl="2"/>
            <a:r>
              <a:rPr lang="en-US" dirty="0" smtClean="0"/>
              <a:t>Example: traffic gridlock</a:t>
            </a:r>
          </a:p>
          <a:p>
            <a:pPr lvl="1"/>
            <a:r>
              <a:rPr lang="en-US" sz="2200" b="1" i="1" dirty="0" smtClean="0"/>
              <a:t>Starvation / Fairness</a:t>
            </a:r>
            <a:r>
              <a:rPr lang="en-US" sz="2200" dirty="0" smtClean="0"/>
              <a:t>: external events and/or system scheduling decisions can prevent sub-task progress</a:t>
            </a:r>
          </a:p>
          <a:p>
            <a:pPr lvl="2"/>
            <a:r>
              <a:rPr lang="en-US" dirty="0" smtClean="0"/>
              <a:t>Example: people always jump in front of you in line</a:t>
            </a:r>
          </a:p>
          <a:p>
            <a:r>
              <a:rPr lang="en-US" sz="2600" dirty="0" smtClean="0"/>
              <a:t>Many aspects of concurrent programming are beyond the scope of our course..</a:t>
            </a:r>
          </a:p>
          <a:p>
            <a:pPr lvl="1"/>
            <a:r>
              <a:rPr lang="en-US" sz="2200" dirty="0" smtClean="0"/>
              <a:t>but, not all </a:t>
            </a:r>
            <a:r>
              <a:rPr lang="en-US" sz="2200" dirty="0" smtClean="0">
                <a:sym typeface="Wingdings"/>
              </a:rPr>
              <a:t></a:t>
            </a:r>
          </a:p>
          <a:p>
            <a:pPr lvl="1"/>
            <a:r>
              <a:rPr lang="en-US" sz="2200" dirty="0" smtClean="0">
                <a:sym typeface="Wingdings"/>
              </a:rPr>
              <a:t>We’ll cover some of these aspects today and next week. </a:t>
            </a:r>
            <a:endParaRPr lang="en-US" sz="2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2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Concurrent Programming is Hard!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539" y="2209800"/>
            <a:ext cx="8763001" cy="365759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/>
              <a:t>It may be hard, but …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	it can be useful and sometimes necessary!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8273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6"/>
          <p:cNvGrpSpPr/>
          <p:nvPr/>
        </p:nvGrpSpPr>
        <p:grpSpPr>
          <a:xfrm>
            <a:off x="357018" y="4132968"/>
            <a:ext cx="6500982" cy="1371600"/>
            <a:chOff x="357018" y="4132968"/>
            <a:chExt cx="6500982" cy="1371600"/>
          </a:xfrm>
        </p:grpSpPr>
        <p:sp>
          <p:nvSpPr>
            <p:cNvPr id="56" name="Rectangle 55"/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759813" name="Line 5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4" name="Line 6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5" name="Line 7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4" name="Group 8"/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759817" name="Line 9"/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8" name="Line 10"/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759819" name="Line 11"/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759820" name="Text Box 12"/>
            <p:cNvSpPr txBox="1">
              <a:spLocks noChangeArrowheads="1"/>
            </p:cNvSpPr>
            <p:nvPr/>
          </p:nvSpPr>
          <p:spPr bwMode="auto">
            <a:xfrm>
              <a:off x="357018" y="4352517"/>
              <a:ext cx="938382" cy="92333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8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>
          <a:xfrm>
            <a:off x="357018" y="381000"/>
            <a:ext cx="7592093" cy="762000"/>
          </a:xfrm>
        </p:spPr>
        <p:txBody>
          <a:bodyPr/>
          <a:lstStyle/>
          <a:p>
            <a:r>
              <a:rPr lang="en-US" dirty="0" smtClean="0"/>
              <a:t>Reminder: Iterative Echo Server</a:t>
            </a:r>
            <a:endParaRPr lang="en-US" dirty="0"/>
          </a:p>
        </p:txBody>
      </p:sp>
      <p:sp>
        <p:nvSpPr>
          <p:cNvPr id="759822" name="Text Box 14"/>
          <p:cNvSpPr txBox="1">
            <a:spLocks noChangeArrowheads="1"/>
          </p:cNvSpPr>
          <p:nvPr/>
        </p:nvSpPr>
        <p:spPr bwMode="auto">
          <a:xfrm>
            <a:off x="2362200" y="1066800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59823" name="Text Box 15"/>
          <p:cNvSpPr txBox="1">
            <a:spLocks noChangeArrowheads="1"/>
          </p:cNvSpPr>
          <p:nvPr/>
        </p:nvSpPr>
        <p:spPr bwMode="auto">
          <a:xfrm>
            <a:off x="5136138" y="1066800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759824" name="Line 16"/>
          <p:cNvSpPr>
            <a:spLocks noChangeShapeType="1"/>
          </p:cNvSpPr>
          <p:nvPr/>
        </p:nvSpPr>
        <p:spPr bwMode="auto">
          <a:xfrm>
            <a:off x="2819400" y="1981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5" name="Line 17"/>
          <p:cNvSpPr>
            <a:spLocks noChangeShapeType="1"/>
          </p:cNvSpPr>
          <p:nvPr/>
        </p:nvSpPr>
        <p:spPr bwMode="auto">
          <a:xfrm>
            <a:off x="5638800" y="192087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6" name="Line 18"/>
          <p:cNvSpPr>
            <a:spLocks noChangeShapeType="1"/>
          </p:cNvSpPr>
          <p:nvPr/>
        </p:nvSpPr>
        <p:spPr bwMode="auto">
          <a:xfrm>
            <a:off x="5638800" y="260667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7" name="Line 19"/>
          <p:cNvSpPr>
            <a:spLocks noChangeShapeType="1"/>
          </p:cNvSpPr>
          <p:nvPr/>
        </p:nvSpPr>
        <p:spPr bwMode="auto">
          <a:xfrm>
            <a:off x="5638800" y="3292475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8" name="Line 20"/>
          <p:cNvSpPr>
            <a:spLocks noChangeShapeType="1"/>
          </p:cNvSpPr>
          <p:nvPr/>
        </p:nvSpPr>
        <p:spPr bwMode="auto">
          <a:xfrm>
            <a:off x="3048000" y="38100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29" name="Rectangle 21"/>
          <p:cNvSpPr>
            <a:spLocks noChangeArrowheads="1"/>
          </p:cNvSpPr>
          <p:nvPr/>
        </p:nvSpPr>
        <p:spPr bwMode="auto">
          <a:xfrm>
            <a:off x="2057400" y="1582738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0" name="Rectangle 22"/>
          <p:cNvSpPr>
            <a:spLocks noChangeArrowheads="1"/>
          </p:cNvSpPr>
          <p:nvPr/>
        </p:nvSpPr>
        <p:spPr bwMode="auto">
          <a:xfrm>
            <a:off x="4876800" y="158273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759831" name="Rectangle 23"/>
          <p:cNvSpPr>
            <a:spLocks noChangeArrowheads="1"/>
          </p:cNvSpPr>
          <p:nvPr/>
        </p:nvSpPr>
        <p:spPr bwMode="auto">
          <a:xfrm>
            <a:off x="4876800" y="2257425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759832" name="Rectangle 24"/>
          <p:cNvSpPr>
            <a:spLocks noChangeArrowheads="1"/>
          </p:cNvSpPr>
          <p:nvPr/>
        </p:nvSpPr>
        <p:spPr bwMode="auto">
          <a:xfrm>
            <a:off x="4876800" y="2932113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057400" y="3978275"/>
            <a:ext cx="4267200" cy="1392238"/>
            <a:chOff x="1296" y="2506"/>
            <a:chExt cx="2688" cy="877"/>
          </a:xfrm>
        </p:grpSpPr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6" name="Line 28"/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7" name="Line 29"/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0" name="Rectangle 32"/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1" name="Rectangle 33"/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rio_writen</a:t>
              </a: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</p:grpSp>
      <p:sp>
        <p:nvSpPr>
          <p:cNvPr id="759844" name="Text Box 36"/>
          <p:cNvSpPr txBox="1">
            <a:spLocks noChangeArrowheads="1"/>
          </p:cNvSpPr>
          <p:nvPr/>
        </p:nvSpPr>
        <p:spPr bwMode="auto">
          <a:xfrm>
            <a:off x="3632402" y="3200400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057400" y="3822970"/>
            <a:ext cx="5105400" cy="2911475"/>
            <a:chOff x="1296" y="2400"/>
            <a:chExt cx="3216" cy="1834"/>
          </a:xfrm>
        </p:grpSpPr>
        <p:sp>
          <p:nvSpPr>
            <p:cNvPr id="759846" name="Line 38"/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7" name="Line 39"/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8" name="Line 40"/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9" name="Line 41"/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0" name="Rectangle 42"/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51" name="Rectangle 43"/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2" name="Rectangle 44"/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759853" name="Text Box 45"/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759854" name="Line 46"/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5" name="Line 47"/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56" name="Line 48"/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759857" name="Text Box 49"/>
          <p:cNvSpPr txBox="1">
            <a:spLocks noChangeArrowheads="1"/>
          </p:cNvSpPr>
          <p:nvPr/>
        </p:nvSpPr>
        <p:spPr bwMode="auto">
          <a:xfrm>
            <a:off x="7239941" y="4754434"/>
            <a:ext cx="1860117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Await connection</a:t>
            </a:r>
          </a:p>
          <a:p>
            <a:r>
              <a:rPr lang="en-US" sz="1800" dirty="0">
                <a:latin typeface="Calibri" pitchFamily="34" charset="0"/>
              </a:rPr>
              <a:t>request from</a:t>
            </a:r>
          </a:p>
          <a:p>
            <a:r>
              <a:rPr lang="en-US" sz="1800" dirty="0">
                <a:latin typeface="Calibri" pitchFamily="34" charset="0"/>
              </a:rPr>
              <a:t>next client</a:t>
            </a:r>
          </a:p>
        </p:txBody>
      </p:sp>
      <p:sp>
        <p:nvSpPr>
          <p:cNvPr id="759858" name="AutoShape 50"/>
          <p:cNvSpPr>
            <a:spLocks/>
          </p:cNvSpPr>
          <p:nvPr/>
        </p:nvSpPr>
        <p:spPr bwMode="auto">
          <a:xfrm>
            <a:off x="6477000" y="1600200"/>
            <a:ext cx="152400" cy="1752600"/>
          </a:xfrm>
          <a:prstGeom prst="rightBrace">
            <a:avLst>
              <a:gd name="adj1" fmla="val 95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59" name="Text Box 51"/>
          <p:cNvSpPr txBox="1">
            <a:spLocks noChangeArrowheads="1"/>
          </p:cNvSpPr>
          <p:nvPr/>
        </p:nvSpPr>
        <p:spPr bwMode="auto">
          <a:xfrm>
            <a:off x="6629400" y="228600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open_listenfd</a:t>
            </a:r>
          </a:p>
        </p:txBody>
      </p:sp>
      <p:sp>
        <p:nvSpPr>
          <p:cNvPr id="759860" name="AutoShape 52"/>
          <p:cNvSpPr>
            <a:spLocks/>
          </p:cNvSpPr>
          <p:nvPr/>
        </p:nvSpPr>
        <p:spPr bwMode="auto">
          <a:xfrm>
            <a:off x="1752600" y="1600200"/>
            <a:ext cx="152400" cy="2438400"/>
          </a:xfrm>
          <a:prstGeom prst="leftBrace">
            <a:avLst>
              <a:gd name="adj1" fmla="val 1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9861" name="Text Box 53"/>
          <p:cNvSpPr txBox="1">
            <a:spLocks noChangeArrowheads="1"/>
          </p:cNvSpPr>
          <p:nvPr/>
        </p:nvSpPr>
        <p:spPr bwMode="auto">
          <a:xfrm>
            <a:off x="0" y="2635250"/>
            <a:ext cx="17732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open_clientfd</a:t>
            </a:r>
          </a:p>
        </p:txBody>
      </p:sp>
      <p:sp>
        <p:nvSpPr>
          <p:cNvPr id="759862" name="Rectangle 54"/>
          <p:cNvSpPr>
            <a:spLocks noChangeArrowheads="1"/>
          </p:cNvSpPr>
          <p:nvPr/>
        </p:nvSpPr>
        <p:spPr bwMode="auto">
          <a:xfrm>
            <a:off x="4876800" y="3640138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759863" name="Rectangle 55"/>
          <p:cNvSpPr>
            <a:spLocks noChangeArrowheads="1"/>
          </p:cNvSpPr>
          <p:nvPr/>
        </p:nvSpPr>
        <p:spPr bwMode="auto">
          <a:xfrm>
            <a:off x="2057400" y="3640138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7708573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Iterative Servers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Iterative servers process one </a:t>
            </a:r>
            <a:r>
              <a:rPr lang="en-US" sz="2600" dirty="0" smtClean="0"/>
              <a:t>connection </a:t>
            </a:r>
            <a:r>
              <a:rPr lang="en-US" sz="2600" dirty="0"/>
              <a:t>at a time</a:t>
            </a:r>
          </a:p>
        </p:txBody>
      </p:sp>
      <p:sp>
        <p:nvSpPr>
          <p:cNvPr id="901125" name="Text Box 5"/>
          <p:cNvSpPr txBox="1">
            <a:spLocks noChangeArrowheads="1"/>
          </p:cNvSpPr>
          <p:nvPr/>
        </p:nvSpPr>
        <p:spPr bwMode="auto">
          <a:xfrm>
            <a:off x="1758950" y="2047875"/>
            <a:ext cx="97424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</a:t>
            </a:r>
            <a:r>
              <a:rPr lang="en-US" sz="2000" b="0" dirty="0" smtClean="0">
                <a:latin typeface="+mn-lt"/>
              </a:rPr>
              <a:t>lient </a:t>
            </a:r>
            <a:r>
              <a:rPr lang="en-US" sz="2000" b="0" dirty="0">
                <a:latin typeface="+mn-lt"/>
              </a:rPr>
              <a:t>1</a:t>
            </a:r>
          </a:p>
        </p:txBody>
      </p:sp>
      <p:sp>
        <p:nvSpPr>
          <p:cNvPr id="901127" name="Text Box 7"/>
          <p:cNvSpPr txBox="1">
            <a:spLocks noChangeArrowheads="1"/>
          </p:cNvSpPr>
          <p:nvPr/>
        </p:nvSpPr>
        <p:spPr bwMode="auto">
          <a:xfrm>
            <a:off x="3968750" y="2047875"/>
            <a:ext cx="85472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S</a:t>
            </a:r>
            <a:r>
              <a:rPr lang="en-US" sz="2000" b="0" dirty="0" smtClean="0">
                <a:latin typeface="+mn-lt"/>
              </a:rPr>
              <a:t>erver</a:t>
            </a:r>
            <a:endParaRPr lang="en-US" sz="2000" b="0" dirty="0">
              <a:latin typeface="+mn-lt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209800" y="2643188"/>
            <a:ext cx="4419600" cy="3910012"/>
            <a:chOff x="2209800" y="2643188"/>
            <a:chExt cx="4419600" cy="3519487"/>
          </a:xfrm>
        </p:grpSpPr>
        <p:sp>
          <p:nvSpPr>
            <p:cNvPr id="901124" name="Line 4"/>
            <p:cNvSpPr>
              <a:spLocks noChangeShapeType="1"/>
            </p:cNvSpPr>
            <p:nvPr/>
          </p:nvSpPr>
          <p:spPr bwMode="auto">
            <a:xfrm>
              <a:off x="22098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01126" name="Line 6"/>
            <p:cNvSpPr>
              <a:spLocks noChangeShapeType="1"/>
            </p:cNvSpPr>
            <p:nvPr/>
          </p:nvSpPr>
          <p:spPr bwMode="auto">
            <a:xfrm>
              <a:off x="44196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01128" name="Line 8"/>
            <p:cNvSpPr>
              <a:spLocks noChangeShapeType="1"/>
            </p:cNvSpPr>
            <p:nvPr/>
          </p:nvSpPr>
          <p:spPr bwMode="auto">
            <a:xfrm>
              <a:off x="66294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901130" name="Line 10"/>
          <p:cNvSpPr>
            <a:spLocks noChangeShapeType="1"/>
          </p:cNvSpPr>
          <p:nvPr/>
        </p:nvSpPr>
        <p:spPr bwMode="auto">
          <a:xfrm>
            <a:off x="2209800" y="2655888"/>
            <a:ext cx="2133600" cy="16668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01131" name="Text Box 11"/>
          <p:cNvSpPr txBox="1">
            <a:spLocks noChangeArrowheads="1"/>
          </p:cNvSpPr>
          <p:nvPr/>
        </p:nvSpPr>
        <p:spPr bwMode="auto">
          <a:xfrm>
            <a:off x="1060130" y="2505075"/>
            <a:ext cx="114967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connect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32" name="Text Box 12"/>
          <p:cNvSpPr txBox="1">
            <a:spLocks noChangeArrowheads="1"/>
          </p:cNvSpPr>
          <p:nvPr/>
        </p:nvSpPr>
        <p:spPr bwMode="auto">
          <a:xfrm>
            <a:off x="3443542" y="2907268"/>
            <a:ext cx="101181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accept</a:t>
            </a:r>
            <a:endParaRPr lang="en-US" sz="1800" dirty="0"/>
          </a:p>
        </p:txBody>
      </p:sp>
      <p:sp>
        <p:nvSpPr>
          <p:cNvPr id="901139" name="Text Box 19"/>
          <p:cNvSpPr txBox="1">
            <a:spLocks noChangeArrowheads="1"/>
          </p:cNvSpPr>
          <p:nvPr/>
        </p:nvSpPr>
        <p:spPr bwMode="auto">
          <a:xfrm>
            <a:off x="1335847" y="3342243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40" name="Text Box 20"/>
          <p:cNvSpPr txBox="1">
            <a:spLocks noChangeArrowheads="1"/>
          </p:cNvSpPr>
          <p:nvPr/>
        </p:nvSpPr>
        <p:spPr bwMode="auto">
          <a:xfrm>
            <a:off x="3719258" y="3311764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read</a:t>
            </a:r>
          </a:p>
        </p:txBody>
      </p:sp>
      <p:sp>
        <p:nvSpPr>
          <p:cNvPr id="901142" name="Text Box 22"/>
          <p:cNvSpPr txBox="1">
            <a:spLocks noChangeArrowheads="1"/>
          </p:cNvSpPr>
          <p:nvPr/>
        </p:nvSpPr>
        <p:spPr bwMode="auto">
          <a:xfrm>
            <a:off x="784414" y="3657600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44" name="Text Box 24"/>
          <p:cNvSpPr txBox="1">
            <a:spLocks noChangeArrowheads="1"/>
          </p:cNvSpPr>
          <p:nvPr/>
        </p:nvSpPr>
        <p:spPr bwMode="auto">
          <a:xfrm>
            <a:off x="1335847" y="4583668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Courier New" pitchFamily="49" charset="0"/>
              </a:rPr>
              <a:t>close</a:t>
            </a:r>
          </a:p>
        </p:txBody>
      </p:sp>
      <p:sp>
        <p:nvSpPr>
          <p:cNvPr id="901155" name="Text Box 35"/>
          <p:cNvSpPr txBox="1">
            <a:spLocks noChangeArrowheads="1"/>
          </p:cNvSpPr>
          <p:nvPr/>
        </p:nvSpPr>
        <p:spPr bwMode="auto">
          <a:xfrm>
            <a:off x="3581400" y="4659868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>
                <a:latin typeface="Courier New" pitchFamily="49" charset="0"/>
              </a:rPr>
              <a:t>close</a:t>
            </a:r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>
            <a:off x="2209800" y="3562350"/>
            <a:ext cx="2133600" cy="16668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1" name="Line 10"/>
          <p:cNvSpPr>
            <a:spLocks noChangeShapeType="1"/>
          </p:cNvSpPr>
          <p:nvPr/>
        </p:nvSpPr>
        <p:spPr bwMode="auto">
          <a:xfrm>
            <a:off x="2286000" y="4786313"/>
            <a:ext cx="2125663" cy="27201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6" name="Line 27"/>
          <p:cNvSpPr>
            <a:spLocks noChangeShapeType="1"/>
          </p:cNvSpPr>
          <p:nvPr/>
        </p:nvSpPr>
        <p:spPr bwMode="auto">
          <a:xfrm flipH="1">
            <a:off x="2209800" y="3948112"/>
            <a:ext cx="2133600" cy="1666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7" name="Text Box 30"/>
          <p:cNvSpPr txBox="1">
            <a:spLocks noChangeArrowheads="1"/>
          </p:cNvSpPr>
          <p:nvPr/>
        </p:nvSpPr>
        <p:spPr bwMode="auto">
          <a:xfrm>
            <a:off x="3581400" y="3966924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922272" y="3974068"/>
            <a:ext cx="128753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ret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3719258" y="4290536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read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5867400" y="2047875"/>
            <a:ext cx="1295400" cy="465772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6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Iterative Servers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Iterative servers process one request at a time</a:t>
            </a:r>
          </a:p>
        </p:txBody>
      </p:sp>
      <p:sp>
        <p:nvSpPr>
          <p:cNvPr id="901125" name="Text Box 5"/>
          <p:cNvSpPr txBox="1">
            <a:spLocks noChangeArrowheads="1"/>
          </p:cNvSpPr>
          <p:nvPr/>
        </p:nvSpPr>
        <p:spPr bwMode="auto">
          <a:xfrm>
            <a:off x="1758950" y="2047875"/>
            <a:ext cx="97424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</a:t>
            </a:r>
            <a:r>
              <a:rPr lang="en-US" sz="2000" b="0" dirty="0" smtClean="0">
                <a:latin typeface="+mn-lt"/>
              </a:rPr>
              <a:t>lient </a:t>
            </a:r>
            <a:r>
              <a:rPr lang="en-US" sz="2000" b="0" dirty="0">
                <a:latin typeface="+mn-lt"/>
              </a:rPr>
              <a:t>1</a:t>
            </a:r>
          </a:p>
        </p:txBody>
      </p:sp>
      <p:sp>
        <p:nvSpPr>
          <p:cNvPr id="901127" name="Text Box 7"/>
          <p:cNvSpPr txBox="1">
            <a:spLocks noChangeArrowheads="1"/>
          </p:cNvSpPr>
          <p:nvPr/>
        </p:nvSpPr>
        <p:spPr bwMode="auto">
          <a:xfrm>
            <a:off x="3968750" y="2047875"/>
            <a:ext cx="85472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S</a:t>
            </a:r>
            <a:r>
              <a:rPr lang="en-US" sz="2000" b="0" dirty="0" smtClean="0">
                <a:latin typeface="+mn-lt"/>
              </a:rPr>
              <a:t>erver</a:t>
            </a:r>
            <a:endParaRPr lang="en-US" sz="2000" b="0" dirty="0">
              <a:latin typeface="+mn-lt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209800" y="2643188"/>
            <a:ext cx="4419600" cy="3910012"/>
            <a:chOff x="2209800" y="2643188"/>
            <a:chExt cx="4419600" cy="3519487"/>
          </a:xfrm>
        </p:grpSpPr>
        <p:sp>
          <p:nvSpPr>
            <p:cNvPr id="901124" name="Line 4"/>
            <p:cNvSpPr>
              <a:spLocks noChangeShapeType="1"/>
            </p:cNvSpPr>
            <p:nvPr/>
          </p:nvSpPr>
          <p:spPr bwMode="auto">
            <a:xfrm>
              <a:off x="22098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01126" name="Line 6"/>
            <p:cNvSpPr>
              <a:spLocks noChangeShapeType="1"/>
            </p:cNvSpPr>
            <p:nvPr/>
          </p:nvSpPr>
          <p:spPr bwMode="auto">
            <a:xfrm>
              <a:off x="44196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01128" name="Line 8"/>
            <p:cNvSpPr>
              <a:spLocks noChangeShapeType="1"/>
            </p:cNvSpPr>
            <p:nvPr/>
          </p:nvSpPr>
          <p:spPr bwMode="auto">
            <a:xfrm>
              <a:off x="66294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901129" name="Text Box 9"/>
          <p:cNvSpPr txBox="1">
            <a:spLocks noChangeArrowheads="1"/>
          </p:cNvSpPr>
          <p:nvPr/>
        </p:nvSpPr>
        <p:spPr bwMode="auto">
          <a:xfrm>
            <a:off x="6178550" y="2047875"/>
            <a:ext cx="97424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</a:t>
            </a:r>
            <a:r>
              <a:rPr lang="en-US" sz="2000" b="0" dirty="0" smtClean="0">
                <a:latin typeface="+mn-lt"/>
              </a:rPr>
              <a:t>lient </a:t>
            </a:r>
            <a:r>
              <a:rPr lang="en-US" sz="2000" b="0" dirty="0">
                <a:latin typeface="+mn-lt"/>
              </a:rPr>
              <a:t>2</a:t>
            </a:r>
          </a:p>
        </p:txBody>
      </p:sp>
      <p:sp>
        <p:nvSpPr>
          <p:cNvPr id="901130" name="Line 10"/>
          <p:cNvSpPr>
            <a:spLocks noChangeShapeType="1"/>
          </p:cNvSpPr>
          <p:nvPr/>
        </p:nvSpPr>
        <p:spPr bwMode="auto">
          <a:xfrm>
            <a:off x="2209800" y="2655888"/>
            <a:ext cx="2133600" cy="16668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01131" name="Text Box 11"/>
          <p:cNvSpPr txBox="1">
            <a:spLocks noChangeArrowheads="1"/>
          </p:cNvSpPr>
          <p:nvPr/>
        </p:nvSpPr>
        <p:spPr bwMode="auto">
          <a:xfrm>
            <a:off x="1060130" y="2505075"/>
            <a:ext cx="114967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connect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32" name="Text Box 12"/>
          <p:cNvSpPr txBox="1">
            <a:spLocks noChangeArrowheads="1"/>
          </p:cNvSpPr>
          <p:nvPr/>
        </p:nvSpPr>
        <p:spPr bwMode="auto">
          <a:xfrm>
            <a:off x="3443542" y="2907268"/>
            <a:ext cx="101181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accept</a:t>
            </a:r>
            <a:endParaRPr lang="en-US" sz="1800" dirty="0"/>
          </a:p>
        </p:txBody>
      </p:sp>
      <p:sp>
        <p:nvSpPr>
          <p:cNvPr id="901137" name="Text Box 17"/>
          <p:cNvSpPr txBox="1">
            <a:spLocks noChangeArrowheads="1"/>
          </p:cNvSpPr>
          <p:nvPr/>
        </p:nvSpPr>
        <p:spPr bwMode="auto">
          <a:xfrm>
            <a:off x="6629400" y="2895600"/>
            <a:ext cx="114967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connect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38" name="Line 18"/>
          <p:cNvSpPr>
            <a:spLocks noChangeShapeType="1"/>
          </p:cNvSpPr>
          <p:nvPr/>
        </p:nvSpPr>
        <p:spPr bwMode="auto">
          <a:xfrm flipH="1">
            <a:off x="4419600" y="3124200"/>
            <a:ext cx="2133599" cy="218043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901139" name="Text Box 19"/>
          <p:cNvSpPr txBox="1">
            <a:spLocks noChangeArrowheads="1"/>
          </p:cNvSpPr>
          <p:nvPr/>
        </p:nvSpPr>
        <p:spPr bwMode="auto">
          <a:xfrm>
            <a:off x="1335847" y="3342243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40" name="Text Box 20"/>
          <p:cNvSpPr txBox="1">
            <a:spLocks noChangeArrowheads="1"/>
          </p:cNvSpPr>
          <p:nvPr/>
        </p:nvSpPr>
        <p:spPr bwMode="auto">
          <a:xfrm>
            <a:off x="3719258" y="3311764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read</a:t>
            </a:r>
          </a:p>
        </p:txBody>
      </p:sp>
      <p:sp>
        <p:nvSpPr>
          <p:cNvPr id="901142" name="Text Box 22"/>
          <p:cNvSpPr txBox="1">
            <a:spLocks noChangeArrowheads="1"/>
          </p:cNvSpPr>
          <p:nvPr/>
        </p:nvSpPr>
        <p:spPr bwMode="auto">
          <a:xfrm>
            <a:off x="784414" y="3657600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44" name="Text Box 24"/>
          <p:cNvSpPr txBox="1">
            <a:spLocks noChangeArrowheads="1"/>
          </p:cNvSpPr>
          <p:nvPr/>
        </p:nvSpPr>
        <p:spPr bwMode="auto">
          <a:xfrm>
            <a:off x="1335847" y="4583668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Courier New" pitchFamily="49" charset="0"/>
              </a:rPr>
              <a:t>close</a:t>
            </a:r>
          </a:p>
        </p:txBody>
      </p:sp>
      <p:sp>
        <p:nvSpPr>
          <p:cNvPr id="901145" name="Text Box 25"/>
          <p:cNvSpPr txBox="1">
            <a:spLocks noChangeArrowheads="1"/>
          </p:cNvSpPr>
          <p:nvPr/>
        </p:nvSpPr>
        <p:spPr bwMode="auto">
          <a:xfrm>
            <a:off x="4411663" y="5058330"/>
            <a:ext cx="101181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accept</a:t>
            </a:r>
            <a:endParaRPr lang="en-US" sz="1800" dirty="0"/>
          </a:p>
        </p:txBody>
      </p:sp>
      <p:sp>
        <p:nvSpPr>
          <p:cNvPr id="901149" name="Text Box 29"/>
          <p:cNvSpPr txBox="1">
            <a:spLocks noChangeArrowheads="1"/>
          </p:cNvSpPr>
          <p:nvPr/>
        </p:nvSpPr>
        <p:spPr bwMode="auto">
          <a:xfrm>
            <a:off x="6629400" y="3429000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901152" name="Text Box 32"/>
          <p:cNvSpPr txBox="1">
            <a:spLocks noChangeArrowheads="1"/>
          </p:cNvSpPr>
          <p:nvPr/>
        </p:nvSpPr>
        <p:spPr bwMode="auto">
          <a:xfrm>
            <a:off x="4419601" y="5427662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read</a:t>
            </a:r>
          </a:p>
        </p:txBody>
      </p:sp>
      <p:sp>
        <p:nvSpPr>
          <p:cNvPr id="901155" name="Text Box 35"/>
          <p:cNvSpPr txBox="1">
            <a:spLocks noChangeArrowheads="1"/>
          </p:cNvSpPr>
          <p:nvPr/>
        </p:nvSpPr>
        <p:spPr bwMode="auto">
          <a:xfrm>
            <a:off x="3581400" y="4659868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>
                <a:latin typeface="Courier New" pitchFamily="49" charset="0"/>
              </a:rPr>
              <a:t>close</a:t>
            </a:r>
          </a:p>
        </p:txBody>
      </p:sp>
      <p:sp>
        <p:nvSpPr>
          <p:cNvPr id="36" name="Right Brace 35"/>
          <p:cNvSpPr/>
          <p:nvPr/>
        </p:nvSpPr>
        <p:spPr bwMode="auto">
          <a:xfrm>
            <a:off x="6705600" y="4202668"/>
            <a:ext cx="457200" cy="1981200"/>
          </a:xfrm>
          <a:prstGeom prst="rightBrace">
            <a:avLst>
              <a:gd name="adj1" fmla="val 31710"/>
              <a:gd name="adj2" fmla="val 50000"/>
            </a:avLst>
          </a:prstGeom>
          <a:noFill/>
          <a:ln w="25400">
            <a:solidFill>
              <a:srgbClr val="FF0000"/>
            </a:solidFill>
            <a:miter lim="800000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232349" y="4648200"/>
            <a:ext cx="19116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rgbClr val="FF0000"/>
                </a:solidFill>
                <a:latin typeface="Calibri" pitchFamily="34" charset="0"/>
              </a:rPr>
              <a:t>Wait for server to finish with  Client 1</a:t>
            </a:r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>
            <a:off x="2209800" y="3562350"/>
            <a:ext cx="2133600" cy="16668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9" name="Line 27"/>
          <p:cNvSpPr>
            <a:spLocks noChangeShapeType="1"/>
          </p:cNvSpPr>
          <p:nvPr/>
        </p:nvSpPr>
        <p:spPr bwMode="auto">
          <a:xfrm flipH="1">
            <a:off x="4419600" y="3684587"/>
            <a:ext cx="2133600" cy="1666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0" name="Text Box 30"/>
          <p:cNvSpPr txBox="1">
            <a:spLocks noChangeArrowheads="1"/>
          </p:cNvSpPr>
          <p:nvPr/>
        </p:nvSpPr>
        <p:spPr bwMode="auto">
          <a:xfrm>
            <a:off x="6629400" y="3810000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1" name="Line 10"/>
          <p:cNvSpPr>
            <a:spLocks noChangeShapeType="1"/>
          </p:cNvSpPr>
          <p:nvPr/>
        </p:nvSpPr>
        <p:spPr bwMode="auto">
          <a:xfrm>
            <a:off x="2286000" y="4786313"/>
            <a:ext cx="2125663" cy="27201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2" name="Text Box 30"/>
          <p:cNvSpPr txBox="1">
            <a:spLocks noChangeArrowheads="1"/>
          </p:cNvSpPr>
          <p:nvPr/>
        </p:nvSpPr>
        <p:spPr bwMode="auto">
          <a:xfrm>
            <a:off x="4411663" y="5788580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4" name="Text Box 30"/>
          <p:cNvSpPr txBox="1">
            <a:spLocks noChangeArrowheads="1"/>
          </p:cNvSpPr>
          <p:nvPr/>
        </p:nvSpPr>
        <p:spPr bwMode="auto">
          <a:xfrm>
            <a:off x="6629400" y="6183868"/>
            <a:ext cx="128753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ret </a:t>
            </a:r>
            <a:r>
              <a:rPr lang="en-US" sz="1800" dirty="0" smtClean="0">
                <a:latin typeface="Courier New" pitchFamily="49" charset="0"/>
              </a:rPr>
              <a:t>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6" name="Line 27"/>
          <p:cNvSpPr>
            <a:spLocks noChangeShapeType="1"/>
          </p:cNvSpPr>
          <p:nvPr/>
        </p:nvSpPr>
        <p:spPr bwMode="auto">
          <a:xfrm flipH="1">
            <a:off x="2209800" y="3948112"/>
            <a:ext cx="2133600" cy="1666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7" name="Text Box 30"/>
          <p:cNvSpPr txBox="1">
            <a:spLocks noChangeArrowheads="1"/>
          </p:cNvSpPr>
          <p:nvPr/>
        </p:nvSpPr>
        <p:spPr bwMode="auto">
          <a:xfrm>
            <a:off x="3581400" y="3966924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922272" y="3974068"/>
            <a:ext cx="128753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ret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9" name="Text Box 20"/>
          <p:cNvSpPr txBox="1">
            <a:spLocks noChangeArrowheads="1"/>
          </p:cNvSpPr>
          <p:nvPr/>
        </p:nvSpPr>
        <p:spPr bwMode="auto">
          <a:xfrm>
            <a:off x="3719258" y="4290536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read</a:t>
            </a:r>
          </a:p>
        </p:txBody>
      </p:sp>
      <p:sp>
        <p:nvSpPr>
          <p:cNvPr id="50" name="Line 10"/>
          <p:cNvSpPr>
            <a:spLocks noChangeShapeType="1"/>
          </p:cNvSpPr>
          <p:nvPr/>
        </p:nvSpPr>
        <p:spPr bwMode="auto">
          <a:xfrm>
            <a:off x="4411663" y="6069833"/>
            <a:ext cx="2217737" cy="27201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2167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2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Does Second Client Block?</a:t>
            </a:r>
            <a:endParaRPr lang="en-US" dirty="0"/>
          </a:p>
        </p:txBody>
      </p:sp>
      <p:sp>
        <p:nvSpPr>
          <p:cNvPr id="57" name="Content Placeholder 56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1076325"/>
          </a:xfrm>
        </p:spPr>
        <p:txBody>
          <a:bodyPr/>
          <a:lstStyle/>
          <a:p>
            <a:r>
              <a:rPr lang="en-US" sz="2400" dirty="0" smtClean="0"/>
              <a:t>Second client attempts to connect to iterative server</a:t>
            </a:r>
            <a:endParaRPr lang="en-US" sz="2400" dirty="0"/>
          </a:p>
        </p:txBody>
      </p:sp>
      <p:sp>
        <p:nvSpPr>
          <p:cNvPr id="58" name="Content Placeholder 5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Call to connect returns</a:t>
            </a:r>
          </a:p>
          <a:p>
            <a:pPr lvl="1"/>
            <a:r>
              <a:rPr lang="en-US" sz="2000" dirty="0" smtClean="0"/>
              <a:t>Even though connection not yet accepted</a:t>
            </a:r>
          </a:p>
          <a:p>
            <a:pPr lvl="1"/>
            <a:r>
              <a:rPr lang="en-US" sz="2000" dirty="0" smtClean="0"/>
              <a:t>Server side TCP manager queues request</a:t>
            </a:r>
          </a:p>
          <a:p>
            <a:pPr lvl="1"/>
            <a:r>
              <a:rPr lang="en-US" sz="2000" dirty="0" smtClean="0"/>
              <a:t>Feature known as “TCP listen backlog”</a:t>
            </a:r>
          </a:p>
          <a:p>
            <a:r>
              <a:rPr lang="en-US" sz="2400" dirty="0" smtClean="0"/>
              <a:t>Call to </a:t>
            </a:r>
            <a:r>
              <a:rPr lang="en-US" sz="2400" dirty="0" err="1" smtClean="0"/>
              <a:t>rio_writen</a:t>
            </a:r>
            <a:r>
              <a:rPr lang="en-US" sz="2400" dirty="0" smtClean="0"/>
              <a:t> returns</a:t>
            </a:r>
          </a:p>
          <a:p>
            <a:pPr lvl="1"/>
            <a:r>
              <a:rPr lang="en-US" sz="2000" dirty="0" smtClean="0"/>
              <a:t>Server side TCP manager buffers input data</a:t>
            </a:r>
          </a:p>
          <a:p>
            <a:r>
              <a:rPr lang="en-US" sz="2400" dirty="0" smtClean="0"/>
              <a:t>Call to </a:t>
            </a:r>
            <a:r>
              <a:rPr lang="en-US" sz="2400" dirty="0" err="1" smtClean="0"/>
              <a:t>rio_readlineb</a:t>
            </a:r>
            <a:r>
              <a:rPr lang="en-US" sz="2400" dirty="0" smtClean="0"/>
              <a:t> blocks</a:t>
            </a:r>
          </a:p>
          <a:p>
            <a:pPr lvl="1"/>
            <a:r>
              <a:rPr lang="en-US" sz="2000" dirty="0" smtClean="0"/>
              <a:t>Server hasn’t written anything for it to read yet.</a:t>
            </a:r>
          </a:p>
          <a:p>
            <a:endParaRPr lang="en-US" sz="2400" dirty="0"/>
          </a:p>
        </p:txBody>
      </p:sp>
      <p:grpSp>
        <p:nvGrpSpPr>
          <p:cNvPr id="59" name="Group 58"/>
          <p:cNvGrpSpPr/>
          <p:nvPr/>
        </p:nvGrpSpPr>
        <p:grpSpPr>
          <a:xfrm>
            <a:off x="-76200" y="2209800"/>
            <a:ext cx="4876800" cy="4303713"/>
            <a:chOff x="0" y="2478087"/>
            <a:chExt cx="4876800" cy="4303713"/>
          </a:xfrm>
        </p:grpSpPr>
        <p:sp>
          <p:nvSpPr>
            <p:cNvPr id="759822" name="Text Box 14"/>
            <p:cNvSpPr txBox="1">
              <a:spLocks noChangeArrowheads="1"/>
            </p:cNvSpPr>
            <p:nvPr/>
          </p:nvSpPr>
          <p:spPr bwMode="auto">
            <a:xfrm>
              <a:off x="2362200" y="2478087"/>
              <a:ext cx="912750" cy="4616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i="1" dirty="0">
                  <a:solidFill>
                    <a:srgbClr val="C00000"/>
                  </a:solidFill>
                  <a:latin typeface="Calibri" pitchFamily="34" charset="0"/>
                </a:rPr>
                <a:t>Client</a:t>
              </a:r>
            </a:p>
          </p:txBody>
        </p:sp>
        <p:sp>
          <p:nvSpPr>
            <p:cNvPr id="759824" name="Line 16"/>
            <p:cNvSpPr>
              <a:spLocks noChangeShapeType="1"/>
            </p:cNvSpPr>
            <p:nvPr/>
          </p:nvSpPr>
          <p:spPr bwMode="auto">
            <a:xfrm>
              <a:off x="2819400" y="3392487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28" name="Line 20"/>
            <p:cNvSpPr>
              <a:spLocks noChangeShapeType="1"/>
            </p:cNvSpPr>
            <p:nvPr/>
          </p:nvSpPr>
          <p:spPr bwMode="auto">
            <a:xfrm>
              <a:off x="3048000" y="5221287"/>
              <a:ext cx="1828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29" name="Rectangle 21"/>
            <p:cNvSpPr>
              <a:spLocks noChangeArrowheads="1"/>
            </p:cNvSpPr>
            <p:nvPr/>
          </p:nvSpPr>
          <p:spPr bwMode="auto">
            <a:xfrm>
              <a:off x="2057400" y="2994025"/>
              <a:ext cx="1524000" cy="3810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socket</a:t>
              </a:r>
            </a:p>
          </p:txBody>
        </p:sp>
        <p:sp>
          <p:nvSpPr>
            <p:cNvPr id="759834" name="Line 26"/>
            <p:cNvSpPr>
              <a:spLocks noChangeShapeType="1"/>
            </p:cNvSpPr>
            <p:nvPr/>
          </p:nvSpPr>
          <p:spPr bwMode="auto">
            <a:xfrm>
              <a:off x="2819400" y="5389562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5" name="Line 27"/>
            <p:cNvSpPr>
              <a:spLocks noChangeShapeType="1"/>
            </p:cNvSpPr>
            <p:nvPr/>
          </p:nvSpPr>
          <p:spPr bwMode="auto">
            <a:xfrm>
              <a:off x="2819400" y="6075362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8" name="Line 30"/>
            <p:cNvSpPr>
              <a:spLocks noChangeShapeType="1"/>
            </p:cNvSpPr>
            <p:nvPr/>
          </p:nvSpPr>
          <p:spPr bwMode="auto">
            <a:xfrm flipV="1">
              <a:off x="3581400" y="5907087"/>
              <a:ext cx="1295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39" name="Line 31"/>
            <p:cNvSpPr>
              <a:spLocks noChangeShapeType="1"/>
            </p:cNvSpPr>
            <p:nvPr/>
          </p:nvSpPr>
          <p:spPr bwMode="auto">
            <a:xfrm flipH="1">
              <a:off x="3581400" y="6592887"/>
              <a:ext cx="1295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42" name="Rectangle 34"/>
            <p:cNvSpPr>
              <a:spLocks noChangeArrowheads="1"/>
            </p:cNvSpPr>
            <p:nvPr/>
          </p:nvSpPr>
          <p:spPr bwMode="auto">
            <a:xfrm>
              <a:off x="2057400" y="6400800"/>
              <a:ext cx="1524000" cy="3810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rio_readlineb</a:t>
              </a:r>
            </a:p>
          </p:txBody>
        </p:sp>
        <p:sp>
          <p:nvSpPr>
            <p:cNvPr id="759843" name="Rectangle 35"/>
            <p:cNvSpPr>
              <a:spLocks noChangeArrowheads="1"/>
            </p:cNvSpPr>
            <p:nvPr/>
          </p:nvSpPr>
          <p:spPr bwMode="auto">
            <a:xfrm>
              <a:off x="2057400" y="5726112"/>
              <a:ext cx="1524000" cy="3810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 err="1">
                  <a:latin typeface="Courier New" pitchFamily="49" charset="0"/>
                </a:rPr>
                <a:t>rio_writen</a:t>
              </a:r>
              <a:endParaRPr lang="en-US" sz="1400" dirty="0">
                <a:latin typeface="Courier New" pitchFamily="49" charset="0"/>
              </a:endParaRPr>
            </a:p>
          </p:txBody>
        </p:sp>
        <p:sp>
          <p:nvSpPr>
            <p:cNvPr id="759844" name="Text Box 36"/>
            <p:cNvSpPr txBox="1">
              <a:spLocks noChangeArrowheads="1"/>
            </p:cNvSpPr>
            <p:nvPr/>
          </p:nvSpPr>
          <p:spPr bwMode="auto">
            <a:xfrm>
              <a:off x="3632402" y="4611687"/>
              <a:ext cx="1156086" cy="5847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Connection</a:t>
              </a:r>
            </a:p>
            <a:p>
              <a:pPr algn="ctr"/>
              <a:r>
                <a:rPr lang="en-US" sz="1600" dirty="0">
                  <a:latin typeface="Calibri" pitchFamily="34" charset="0"/>
                </a:rPr>
                <a:t>request</a:t>
              </a:r>
            </a:p>
          </p:txBody>
        </p:sp>
        <p:sp>
          <p:nvSpPr>
            <p:cNvPr id="759860" name="AutoShape 52"/>
            <p:cNvSpPr>
              <a:spLocks/>
            </p:cNvSpPr>
            <p:nvPr/>
          </p:nvSpPr>
          <p:spPr bwMode="auto">
            <a:xfrm>
              <a:off x="1752600" y="3011487"/>
              <a:ext cx="152400" cy="2438400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759861" name="Text Box 53"/>
            <p:cNvSpPr txBox="1">
              <a:spLocks noChangeArrowheads="1"/>
            </p:cNvSpPr>
            <p:nvPr/>
          </p:nvSpPr>
          <p:spPr bwMode="auto">
            <a:xfrm>
              <a:off x="0" y="4046537"/>
              <a:ext cx="1773238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>
                  <a:latin typeface="Courier New" pitchFamily="49" charset="0"/>
                </a:rPr>
                <a:t>open_clientfd</a:t>
              </a:r>
            </a:p>
          </p:txBody>
        </p:sp>
        <p:sp>
          <p:nvSpPr>
            <p:cNvPr id="759863" name="Rectangle 55"/>
            <p:cNvSpPr>
              <a:spLocks noChangeArrowheads="1"/>
            </p:cNvSpPr>
            <p:nvPr/>
          </p:nvSpPr>
          <p:spPr bwMode="auto">
            <a:xfrm>
              <a:off x="2057400" y="5051425"/>
              <a:ext cx="1524000" cy="3810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connect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1693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6838" y="334963"/>
            <a:ext cx="8991600" cy="573087"/>
          </a:xfrm>
        </p:spPr>
        <p:txBody>
          <a:bodyPr/>
          <a:lstStyle/>
          <a:p>
            <a:r>
              <a:rPr lang="en-US" dirty="0"/>
              <a:t>Fundamental Flaw of Iterative Servers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5366147"/>
            <a:ext cx="8470900" cy="1150937"/>
          </a:xfrm>
        </p:spPr>
        <p:txBody>
          <a:bodyPr/>
          <a:lstStyle/>
          <a:p>
            <a:r>
              <a:rPr lang="en-US" sz="2600" dirty="0"/>
              <a:t>Solution: use </a:t>
            </a:r>
            <a:r>
              <a:rPr lang="en-US" sz="2600" i="1" dirty="0">
                <a:solidFill>
                  <a:srgbClr val="FF0000"/>
                </a:solidFill>
              </a:rPr>
              <a:t>concurrent servers </a:t>
            </a:r>
            <a:r>
              <a:rPr lang="en-US" sz="2600" dirty="0"/>
              <a:t>instead</a:t>
            </a:r>
          </a:p>
          <a:p>
            <a:pPr lvl="1"/>
            <a:r>
              <a:rPr lang="en-US" dirty="0"/>
              <a:t>Concurrent servers use multiple concurrent flows to serve multiple clients at the same time</a:t>
            </a:r>
          </a:p>
        </p:txBody>
      </p:sp>
      <p:sp>
        <p:nvSpPr>
          <p:cNvPr id="793621" name="Text Box 21"/>
          <p:cNvSpPr txBox="1">
            <a:spLocks noChangeArrowheads="1"/>
          </p:cNvSpPr>
          <p:nvPr/>
        </p:nvSpPr>
        <p:spPr bwMode="auto">
          <a:xfrm>
            <a:off x="317490" y="3519488"/>
            <a:ext cx="1860931" cy="181588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User goes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out to lunch</a:t>
            </a:r>
          </a:p>
          <a:p>
            <a:pPr algn="r"/>
            <a:endParaRPr lang="en-US" sz="1200" b="0" dirty="0">
              <a:solidFill>
                <a:srgbClr val="FF0000"/>
              </a:solidFill>
              <a:latin typeface="+mn-lt"/>
            </a:endParaRP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Client 1 blocks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waiting for user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to type in data</a:t>
            </a:r>
          </a:p>
        </p:txBody>
      </p:sp>
      <p:sp>
        <p:nvSpPr>
          <p:cNvPr id="793622" name="Text Box 22"/>
          <p:cNvSpPr txBox="1">
            <a:spLocks noChangeArrowheads="1"/>
          </p:cNvSpPr>
          <p:nvPr/>
        </p:nvSpPr>
        <p:spPr bwMode="auto">
          <a:xfrm>
            <a:off x="6629400" y="3403937"/>
            <a:ext cx="1759867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solidFill>
                  <a:srgbClr val="FF0000"/>
                </a:solidFill>
                <a:latin typeface="+mn-lt"/>
              </a:rPr>
              <a:t>Client 2 blocks</a:t>
            </a:r>
          </a:p>
          <a:p>
            <a:r>
              <a:rPr lang="en-US" sz="2000" b="0" dirty="0">
                <a:solidFill>
                  <a:srgbClr val="FF0000"/>
                </a:solidFill>
                <a:latin typeface="+mn-lt"/>
              </a:rPr>
              <a:t>waiting to </a:t>
            </a:r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read </a:t>
            </a:r>
          </a:p>
          <a:p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from server</a:t>
            </a:r>
            <a:endParaRPr lang="en-US" sz="2000" b="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93623" name="Text Box 23"/>
          <p:cNvSpPr txBox="1">
            <a:spLocks noChangeArrowheads="1"/>
          </p:cNvSpPr>
          <p:nvPr/>
        </p:nvSpPr>
        <p:spPr bwMode="auto">
          <a:xfrm>
            <a:off x="2854974" y="3705761"/>
            <a:ext cx="1564626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Server blocks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waiting for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data from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Client 1</a:t>
            </a:r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1758950" y="1133475"/>
            <a:ext cx="97424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</a:t>
            </a:r>
            <a:r>
              <a:rPr lang="en-US" sz="2000" b="0" dirty="0" smtClean="0">
                <a:latin typeface="+mn-lt"/>
              </a:rPr>
              <a:t>lient </a:t>
            </a:r>
            <a:r>
              <a:rPr lang="en-US" sz="2000" b="0" dirty="0">
                <a:latin typeface="+mn-lt"/>
              </a:rPr>
              <a:t>1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3968750" y="1133475"/>
            <a:ext cx="85472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S</a:t>
            </a:r>
            <a:r>
              <a:rPr lang="en-US" sz="2000" b="0" dirty="0" smtClean="0">
                <a:latin typeface="+mn-lt"/>
              </a:rPr>
              <a:t>erver</a:t>
            </a:r>
            <a:endParaRPr lang="en-US" sz="2000" b="0" dirty="0">
              <a:latin typeface="+mn-l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209800" y="1728788"/>
            <a:ext cx="4419600" cy="3224212"/>
            <a:chOff x="2209800" y="2643188"/>
            <a:chExt cx="4419600" cy="3519487"/>
          </a:xfrm>
        </p:grpSpPr>
        <p:sp>
          <p:nvSpPr>
            <p:cNvPr id="27" name="Line 4"/>
            <p:cNvSpPr>
              <a:spLocks noChangeShapeType="1"/>
            </p:cNvSpPr>
            <p:nvPr/>
          </p:nvSpPr>
          <p:spPr bwMode="auto">
            <a:xfrm>
              <a:off x="22098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8" name="Line 6"/>
            <p:cNvSpPr>
              <a:spLocks noChangeShapeType="1"/>
            </p:cNvSpPr>
            <p:nvPr/>
          </p:nvSpPr>
          <p:spPr bwMode="auto">
            <a:xfrm>
              <a:off x="44196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6629400" y="2643188"/>
              <a:ext cx="0" cy="3519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6178550" y="1133475"/>
            <a:ext cx="97424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</a:t>
            </a:r>
            <a:r>
              <a:rPr lang="en-US" sz="2000" b="0" dirty="0" smtClean="0">
                <a:latin typeface="+mn-lt"/>
              </a:rPr>
              <a:t>lient </a:t>
            </a:r>
            <a:r>
              <a:rPr lang="en-US" sz="2000" b="0" dirty="0">
                <a:latin typeface="+mn-lt"/>
              </a:rPr>
              <a:t>2</a:t>
            </a:r>
          </a:p>
        </p:txBody>
      </p:sp>
      <p:sp>
        <p:nvSpPr>
          <p:cNvPr id="31" name="Line 10"/>
          <p:cNvSpPr>
            <a:spLocks noChangeShapeType="1"/>
          </p:cNvSpPr>
          <p:nvPr/>
        </p:nvSpPr>
        <p:spPr bwMode="auto">
          <a:xfrm>
            <a:off x="2209800" y="1741488"/>
            <a:ext cx="2133600" cy="16668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1034730" y="1590675"/>
            <a:ext cx="114967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connect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3407785" y="1992868"/>
            <a:ext cx="101181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accept</a:t>
            </a:r>
            <a:endParaRPr lang="en-US" sz="1800" dirty="0"/>
          </a:p>
        </p:txBody>
      </p:sp>
      <p:sp>
        <p:nvSpPr>
          <p:cNvPr id="34" name="Text Box 17"/>
          <p:cNvSpPr txBox="1">
            <a:spLocks noChangeArrowheads="1"/>
          </p:cNvSpPr>
          <p:nvPr/>
        </p:nvSpPr>
        <p:spPr bwMode="auto">
          <a:xfrm>
            <a:off x="6629400" y="1981200"/>
            <a:ext cx="114967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connect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5" name="Line 18"/>
          <p:cNvSpPr>
            <a:spLocks noChangeShapeType="1"/>
          </p:cNvSpPr>
          <p:nvPr/>
        </p:nvSpPr>
        <p:spPr bwMode="auto">
          <a:xfrm flipH="1">
            <a:off x="4419600" y="2209800"/>
            <a:ext cx="213360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1324734" y="2427843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7" name="Text Box 20"/>
          <p:cNvSpPr txBox="1">
            <a:spLocks noChangeArrowheads="1"/>
          </p:cNvSpPr>
          <p:nvPr/>
        </p:nvSpPr>
        <p:spPr bwMode="auto">
          <a:xfrm>
            <a:off x="2971800" y="2397364"/>
            <a:ext cx="143136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8" name="Text Box 22"/>
          <p:cNvSpPr txBox="1">
            <a:spLocks noChangeArrowheads="1"/>
          </p:cNvSpPr>
          <p:nvPr/>
        </p:nvSpPr>
        <p:spPr bwMode="auto">
          <a:xfrm>
            <a:off x="784414" y="2743200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1" name="Text Box 29"/>
          <p:cNvSpPr txBox="1">
            <a:spLocks noChangeArrowheads="1"/>
          </p:cNvSpPr>
          <p:nvPr/>
        </p:nvSpPr>
        <p:spPr bwMode="auto">
          <a:xfrm>
            <a:off x="6629400" y="2514600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46" name="Line 10"/>
          <p:cNvSpPr>
            <a:spLocks noChangeShapeType="1"/>
          </p:cNvSpPr>
          <p:nvPr/>
        </p:nvSpPr>
        <p:spPr bwMode="auto">
          <a:xfrm>
            <a:off x="2209800" y="2647950"/>
            <a:ext cx="2133600" cy="166687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7" name="Line 27"/>
          <p:cNvSpPr>
            <a:spLocks noChangeShapeType="1"/>
          </p:cNvSpPr>
          <p:nvPr/>
        </p:nvSpPr>
        <p:spPr bwMode="auto">
          <a:xfrm flipH="1">
            <a:off x="4419600" y="2770187"/>
            <a:ext cx="2133600" cy="1666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6629400" y="2895600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H="1">
            <a:off x="2209800" y="3033712"/>
            <a:ext cx="2133600" cy="16668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4" name="Text Box 30"/>
          <p:cNvSpPr txBox="1">
            <a:spLocks noChangeArrowheads="1"/>
          </p:cNvSpPr>
          <p:nvPr/>
        </p:nvSpPr>
        <p:spPr bwMode="auto">
          <a:xfrm>
            <a:off x="3469443" y="3052524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write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922270" y="3059668"/>
            <a:ext cx="128753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smtClean="0">
                <a:latin typeface="Courier New" pitchFamily="49" charset="0"/>
              </a:rPr>
              <a:t>ret read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39" name="Text Box 30"/>
          <p:cNvSpPr txBox="1">
            <a:spLocks noChangeArrowheads="1"/>
          </p:cNvSpPr>
          <p:nvPr/>
        </p:nvSpPr>
        <p:spPr bwMode="auto">
          <a:xfrm>
            <a:off x="2971800" y="3334822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call read</a:t>
            </a:r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0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34963"/>
            <a:ext cx="8610600" cy="1095375"/>
          </a:xfrm>
        </p:spPr>
        <p:txBody>
          <a:bodyPr/>
          <a:lstStyle/>
          <a:p>
            <a:r>
              <a:rPr lang="en-US" dirty="0" smtClean="0"/>
              <a:t>Approaches for Writing Concurrent Servers</a:t>
            </a:r>
            <a:endParaRPr lang="en-US" dirty="0"/>
          </a:p>
        </p:txBody>
      </p:sp>
      <p:sp>
        <p:nvSpPr>
          <p:cNvPr id="79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439863"/>
            <a:ext cx="8255000" cy="5265737"/>
          </a:xfrm>
        </p:spPr>
        <p:txBody>
          <a:bodyPr>
            <a:normAutofit lnSpcReduction="10000"/>
          </a:bodyPr>
          <a:lstStyle/>
          <a:p>
            <a:pPr marL="0" lvl="1" indent="0">
              <a:buSzPct val="60000"/>
              <a:buNone/>
            </a:pPr>
            <a:r>
              <a:rPr lang="en-US" dirty="0" smtClean="0"/>
              <a:t>Allow </a:t>
            </a:r>
            <a:r>
              <a:rPr lang="en-US" dirty="0"/>
              <a:t>server to handle multiple clients </a:t>
            </a:r>
            <a:r>
              <a:rPr lang="en-US" dirty="0" smtClean="0"/>
              <a:t>concurrently</a:t>
            </a:r>
          </a:p>
          <a:p>
            <a:pPr marL="0" lvl="1" indent="0">
              <a:buSzPct val="60000"/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dirty="0" smtClean="0"/>
              <a:t>1. Process-based</a:t>
            </a:r>
            <a:endParaRPr lang="en-US" sz="2600" dirty="0"/>
          </a:p>
          <a:p>
            <a:pPr lvl="1"/>
            <a:r>
              <a:rPr lang="en-US" sz="2200" dirty="0"/>
              <a:t>Kernel automatically interleaves multiple logical flows</a:t>
            </a:r>
          </a:p>
          <a:p>
            <a:pPr lvl="1"/>
            <a:r>
              <a:rPr lang="en-US" sz="2200" dirty="0"/>
              <a:t>Each flow has its own private address space</a:t>
            </a:r>
          </a:p>
          <a:p>
            <a:pPr marL="0" indent="0">
              <a:buNone/>
            </a:pPr>
            <a:r>
              <a:rPr lang="en-US" sz="2600" dirty="0" smtClean="0"/>
              <a:t>2. Event-based</a:t>
            </a:r>
            <a:endParaRPr lang="en-US" sz="2600" dirty="0">
              <a:latin typeface="Courier New" pitchFamily="49" charset="0"/>
            </a:endParaRPr>
          </a:p>
          <a:p>
            <a:pPr lvl="1"/>
            <a:r>
              <a:rPr lang="en-US" sz="2200" dirty="0"/>
              <a:t>Programmer manually interleaves multiple logical </a:t>
            </a:r>
            <a:r>
              <a:rPr lang="en-US" sz="2200" dirty="0" smtClean="0"/>
              <a:t>flows</a:t>
            </a:r>
          </a:p>
          <a:p>
            <a:pPr lvl="1"/>
            <a:r>
              <a:rPr lang="en-US" sz="2200" dirty="0" smtClean="0"/>
              <a:t>All </a:t>
            </a:r>
            <a:r>
              <a:rPr lang="en-US" sz="2200" dirty="0"/>
              <a:t>flows share the same address </a:t>
            </a:r>
            <a:r>
              <a:rPr lang="en-US" sz="2200" dirty="0" smtClean="0"/>
              <a:t>space</a:t>
            </a:r>
          </a:p>
          <a:p>
            <a:pPr lvl="1"/>
            <a:r>
              <a:rPr lang="en-US" sz="2200" dirty="0" smtClean="0"/>
              <a:t>Uses technique called </a:t>
            </a:r>
            <a:r>
              <a:rPr lang="en-US" sz="2200" i="1" dirty="0" smtClean="0"/>
              <a:t>I/O multiplexing</a:t>
            </a:r>
            <a:r>
              <a:rPr lang="en-US" sz="2200" i="1" dirty="0" smtClean="0">
                <a:solidFill>
                  <a:srgbClr val="FF0000"/>
                </a:solidFill>
              </a:rPr>
              <a:t>. </a:t>
            </a:r>
            <a:endParaRPr lang="en-US" sz="2200" dirty="0"/>
          </a:p>
          <a:p>
            <a:pPr marL="0" indent="0">
              <a:buNone/>
            </a:pPr>
            <a:r>
              <a:rPr lang="en-US" sz="2600" dirty="0" smtClean="0"/>
              <a:t>3. Thread-based</a:t>
            </a:r>
            <a:endParaRPr lang="en-US" sz="2600" dirty="0"/>
          </a:p>
          <a:p>
            <a:pPr lvl="1"/>
            <a:r>
              <a:rPr lang="en-US" sz="2200" dirty="0"/>
              <a:t>Kernel automatically interleaves multiple logical flows</a:t>
            </a:r>
          </a:p>
          <a:p>
            <a:pPr lvl="1"/>
            <a:r>
              <a:rPr lang="en-US" sz="2200" dirty="0"/>
              <a:t>Each flow shares the same address </a:t>
            </a:r>
            <a:r>
              <a:rPr lang="en-US" sz="2200" dirty="0" smtClean="0"/>
              <a:t>space</a:t>
            </a:r>
          </a:p>
          <a:p>
            <a:pPr lvl="1"/>
            <a:r>
              <a:rPr lang="en-US" sz="2200" dirty="0" smtClean="0"/>
              <a:t>Hybrid of of process-based and event-based.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4969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70" name="Rectangle 46"/>
          <p:cNvSpPr>
            <a:spLocks noGrp="1" noChangeArrowheads="1"/>
          </p:cNvSpPr>
          <p:nvPr>
            <p:ph type="title"/>
          </p:nvPr>
        </p:nvSpPr>
        <p:spPr>
          <a:xfrm>
            <a:off x="400050" y="247650"/>
            <a:ext cx="8721725" cy="781050"/>
          </a:xfrm>
        </p:spPr>
        <p:txBody>
          <a:bodyPr/>
          <a:lstStyle/>
          <a:p>
            <a:r>
              <a:rPr lang="en-US" dirty="0" smtClean="0"/>
              <a:t>Approach #1: Process-based Servers</a:t>
            </a:r>
            <a:endParaRPr lang="en-US" dirty="0"/>
          </a:p>
        </p:txBody>
      </p:sp>
      <p:sp>
        <p:nvSpPr>
          <p:cNvPr id="794671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290513" y="1028700"/>
            <a:ext cx="8853487" cy="5416550"/>
          </a:xfrm>
        </p:spPr>
        <p:txBody>
          <a:bodyPr/>
          <a:lstStyle/>
          <a:p>
            <a:r>
              <a:rPr lang="en-US" sz="2600" dirty="0" smtClean="0"/>
              <a:t>Spawn separate process for each client</a:t>
            </a:r>
            <a:endParaRPr lang="en-US" sz="2600" dirty="0"/>
          </a:p>
        </p:txBody>
      </p:sp>
      <p:sp>
        <p:nvSpPr>
          <p:cNvPr id="794627" name="Line 3"/>
          <p:cNvSpPr>
            <a:spLocks noChangeShapeType="1"/>
          </p:cNvSpPr>
          <p:nvPr/>
        </p:nvSpPr>
        <p:spPr bwMode="auto">
          <a:xfrm>
            <a:off x="1676400" y="2043113"/>
            <a:ext cx="0" cy="44656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28" name="Text Box 4"/>
          <p:cNvSpPr txBox="1">
            <a:spLocks noChangeArrowheads="1"/>
          </p:cNvSpPr>
          <p:nvPr/>
        </p:nvSpPr>
        <p:spPr bwMode="auto">
          <a:xfrm>
            <a:off x="1225550" y="1628775"/>
            <a:ext cx="94699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client 1</a:t>
            </a:r>
          </a:p>
        </p:txBody>
      </p:sp>
      <p:sp>
        <p:nvSpPr>
          <p:cNvPr id="794629" name="Line 5"/>
          <p:cNvSpPr>
            <a:spLocks noChangeShapeType="1"/>
          </p:cNvSpPr>
          <p:nvPr/>
        </p:nvSpPr>
        <p:spPr bwMode="auto">
          <a:xfrm>
            <a:off x="4419600" y="2071688"/>
            <a:ext cx="0" cy="3170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30" name="Text Box 6"/>
          <p:cNvSpPr txBox="1">
            <a:spLocks noChangeArrowheads="1"/>
          </p:cNvSpPr>
          <p:nvPr/>
        </p:nvSpPr>
        <p:spPr bwMode="auto">
          <a:xfrm>
            <a:off x="3968750" y="1628775"/>
            <a:ext cx="83708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n-lt"/>
              </a:rPr>
              <a:t>server</a:t>
            </a:r>
          </a:p>
        </p:txBody>
      </p:sp>
      <p:sp>
        <p:nvSpPr>
          <p:cNvPr id="794633" name="Line 9"/>
          <p:cNvSpPr>
            <a:spLocks noChangeShapeType="1"/>
          </p:cNvSpPr>
          <p:nvPr/>
        </p:nvSpPr>
        <p:spPr bwMode="auto">
          <a:xfrm>
            <a:off x="1676400" y="2373867"/>
            <a:ext cx="2728634" cy="14493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34" name="Text Box 10"/>
          <p:cNvSpPr txBox="1">
            <a:spLocks noChangeArrowheads="1"/>
          </p:cNvSpPr>
          <p:nvPr/>
        </p:nvSpPr>
        <p:spPr bwMode="auto">
          <a:xfrm>
            <a:off x="-76200" y="2149475"/>
            <a:ext cx="183896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connect</a:t>
            </a:r>
          </a:p>
        </p:txBody>
      </p:sp>
      <p:sp>
        <p:nvSpPr>
          <p:cNvPr id="794635" name="Text Box 11"/>
          <p:cNvSpPr txBox="1">
            <a:spLocks noChangeArrowheads="1"/>
          </p:cNvSpPr>
          <p:nvPr/>
        </p:nvSpPr>
        <p:spPr bwMode="auto">
          <a:xfrm>
            <a:off x="4411663" y="2009775"/>
            <a:ext cx="17011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accept</a:t>
            </a:r>
            <a:endParaRPr lang="en-US" sz="1800" dirty="0"/>
          </a:p>
        </p:txBody>
      </p:sp>
      <p:sp>
        <p:nvSpPr>
          <p:cNvPr id="794636" name="Text Box 12"/>
          <p:cNvSpPr txBox="1">
            <a:spLocks noChangeArrowheads="1"/>
          </p:cNvSpPr>
          <p:nvPr/>
        </p:nvSpPr>
        <p:spPr bwMode="auto">
          <a:xfrm>
            <a:off x="2133600" y="3565525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read</a:t>
            </a:r>
          </a:p>
        </p:txBody>
      </p:sp>
      <p:sp>
        <p:nvSpPr>
          <p:cNvPr id="794640" name="Text Box 16"/>
          <p:cNvSpPr txBox="1">
            <a:spLocks noChangeArrowheads="1"/>
          </p:cNvSpPr>
          <p:nvPr/>
        </p:nvSpPr>
        <p:spPr bwMode="auto">
          <a:xfrm>
            <a:off x="4419600" y="2362200"/>
            <a:ext cx="15632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ret accept</a:t>
            </a:r>
            <a:endParaRPr lang="en-US" sz="1800" dirty="0"/>
          </a:p>
        </p:txBody>
      </p:sp>
      <p:sp>
        <p:nvSpPr>
          <p:cNvPr id="794643" name="Text Box 19"/>
          <p:cNvSpPr txBox="1">
            <a:spLocks noChangeArrowheads="1"/>
          </p:cNvSpPr>
          <p:nvPr/>
        </p:nvSpPr>
        <p:spPr bwMode="auto">
          <a:xfrm>
            <a:off x="193675" y="2968625"/>
            <a:ext cx="15632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fgets</a:t>
            </a:r>
          </a:p>
        </p:txBody>
      </p:sp>
      <p:sp>
        <p:nvSpPr>
          <p:cNvPr id="794644" name="Line 20"/>
          <p:cNvSpPr>
            <a:spLocks noChangeShapeType="1"/>
          </p:cNvSpPr>
          <p:nvPr/>
        </p:nvSpPr>
        <p:spPr bwMode="auto">
          <a:xfrm flipH="1">
            <a:off x="3505200" y="3260725"/>
            <a:ext cx="914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45" name="Line 21"/>
          <p:cNvSpPr>
            <a:spLocks noChangeShapeType="1"/>
          </p:cNvSpPr>
          <p:nvPr/>
        </p:nvSpPr>
        <p:spPr bwMode="auto">
          <a:xfrm>
            <a:off x="3505200" y="3536950"/>
            <a:ext cx="0" cy="297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46" name="Text Box 22"/>
          <p:cNvSpPr txBox="1">
            <a:spLocks noChangeArrowheads="1"/>
          </p:cNvSpPr>
          <p:nvPr/>
        </p:nvSpPr>
        <p:spPr bwMode="auto">
          <a:xfrm>
            <a:off x="4419600" y="3108325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fork</a:t>
            </a:r>
          </a:p>
        </p:txBody>
      </p:sp>
      <p:sp>
        <p:nvSpPr>
          <p:cNvPr id="794647" name="Text Box 23"/>
          <p:cNvSpPr txBox="1">
            <a:spLocks noChangeArrowheads="1"/>
          </p:cNvSpPr>
          <p:nvPr/>
        </p:nvSpPr>
        <p:spPr bwMode="auto">
          <a:xfrm>
            <a:off x="3124200" y="3122613"/>
            <a:ext cx="80182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>
                <a:latin typeface="+mn-lt"/>
              </a:rPr>
              <a:t>child 1</a:t>
            </a:r>
          </a:p>
        </p:txBody>
      </p:sp>
      <p:sp>
        <p:nvSpPr>
          <p:cNvPr id="794648" name="Text Box 24"/>
          <p:cNvSpPr txBox="1">
            <a:spLocks noChangeArrowheads="1"/>
          </p:cNvSpPr>
          <p:nvPr/>
        </p:nvSpPr>
        <p:spPr bwMode="auto">
          <a:xfrm>
            <a:off x="152400" y="3429000"/>
            <a:ext cx="1524000" cy="2554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User </a:t>
            </a:r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goes out to lunch</a:t>
            </a:r>
            <a:endParaRPr lang="en-US" sz="2000" b="0" dirty="0">
              <a:solidFill>
                <a:srgbClr val="FF0000"/>
              </a:solidFill>
              <a:latin typeface="+mn-lt"/>
            </a:endParaRPr>
          </a:p>
          <a:p>
            <a:pPr algn="r"/>
            <a:endParaRPr lang="en-US" sz="2000" b="0" dirty="0">
              <a:latin typeface="+mn-lt"/>
            </a:endParaRP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Client 1 blocks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waiting for user to type in data</a:t>
            </a:r>
          </a:p>
        </p:txBody>
      </p:sp>
      <p:sp>
        <p:nvSpPr>
          <p:cNvPr id="794649" name="Text Box 25"/>
          <p:cNvSpPr txBox="1">
            <a:spLocks noChangeArrowheads="1"/>
          </p:cNvSpPr>
          <p:nvPr/>
        </p:nvSpPr>
        <p:spPr bwMode="auto">
          <a:xfrm>
            <a:off x="4419600" y="3457575"/>
            <a:ext cx="17011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accept</a:t>
            </a:r>
            <a:endParaRPr lang="en-US" sz="1800"/>
          </a:p>
        </p:txBody>
      </p:sp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1965993" y="3951981"/>
            <a:ext cx="1524000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Child blocks waiting for data from Client 1</a:t>
            </a:r>
            <a:endParaRPr lang="en-US" sz="2000" b="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327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70" name="Rectangle 46"/>
          <p:cNvSpPr>
            <a:spLocks noGrp="1" noChangeArrowheads="1"/>
          </p:cNvSpPr>
          <p:nvPr>
            <p:ph type="title"/>
          </p:nvPr>
        </p:nvSpPr>
        <p:spPr>
          <a:xfrm>
            <a:off x="400050" y="247650"/>
            <a:ext cx="8721725" cy="781050"/>
          </a:xfrm>
        </p:spPr>
        <p:txBody>
          <a:bodyPr/>
          <a:lstStyle/>
          <a:p>
            <a:r>
              <a:rPr lang="en-US" dirty="0" smtClean="0"/>
              <a:t>Approach #1: Process-based Servers</a:t>
            </a:r>
            <a:endParaRPr lang="en-US" dirty="0"/>
          </a:p>
        </p:txBody>
      </p:sp>
      <p:sp>
        <p:nvSpPr>
          <p:cNvPr id="794671" name="Rectangle 47"/>
          <p:cNvSpPr>
            <a:spLocks noGrp="1" noChangeArrowheads="1"/>
          </p:cNvSpPr>
          <p:nvPr>
            <p:ph type="body" idx="1"/>
          </p:nvPr>
        </p:nvSpPr>
        <p:spPr>
          <a:xfrm>
            <a:off x="290513" y="1028700"/>
            <a:ext cx="8853487" cy="5416550"/>
          </a:xfrm>
        </p:spPr>
        <p:txBody>
          <a:bodyPr/>
          <a:lstStyle/>
          <a:p>
            <a:r>
              <a:rPr lang="en-US" sz="2600" dirty="0" smtClean="0"/>
              <a:t>Spawn separate process for each client</a:t>
            </a:r>
            <a:endParaRPr lang="en-US" sz="2600" dirty="0"/>
          </a:p>
        </p:txBody>
      </p:sp>
      <p:sp>
        <p:nvSpPr>
          <p:cNvPr id="794627" name="Line 3"/>
          <p:cNvSpPr>
            <a:spLocks noChangeShapeType="1"/>
          </p:cNvSpPr>
          <p:nvPr/>
        </p:nvSpPr>
        <p:spPr bwMode="auto">
          <a:xfrm>
            <a:off x="1676400" y="2043113"/>
            <a:ext cx="0" cy="44656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28" name="Text Box 4"/>
          <p:cNvSpPr txBox="1">
            <a:spLocks noChangeArrowheads="1"/>
          </p:cNvSpPr>
          <p:nvPr/>
        </p:nvSpPr>
        <p:spPr bwMode="auto">
          <a:xfrm>
            <a:off x="1225550" y="1628775"/>
            <a:ext cx="94699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 dirty="0">
                <a:latin typeface="+mn-lt"/>
              </a:rPr>
              <a:t>client 1</a:t>
            </a:r>
          </a:p>
        </p:txBody>
      </p:sp>
      <p:sp>
        <p:nvSpPr>
          <p:cNvPr id="794629" name="Line 5"/>
          <p:cNvSpPr>
            <a:spLocks noChangeShapeType="1"/>
          </p:cNvSpPr>
          <p:nvPr/>
        </p:nvSpPr>
        <p:spPr bwMode="auto">
          <a:xfrm>
            <a:off x="4419600" y="2071688"/>
            <a:ext cx="0" cy="3170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30" name="Text Box 6"/>
          <p:cNvSpPr txBox="1">
            <a:spLocks noChangeArrowheads="1"/>
          </p:cNvSpPr>
          <p:nvPr/>
        </p:nvSpPr>
        <p:spPr bwMode="auto">
          <a:xfrm>
            <a:off x="3968750" y="1628775"/>
            <a:ext cx="83708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n-lt"/>
              </a:rPr>
              <a:t>server</a:t>
            </a:r>
          </a:p>
        </p:txBody>
      </p:sp>
      <p:sp>
        <p:nvSpPr>
          <p:cNvPr id="794631" name="Line 7"/>
          <p:cNvSpPr>
            <a:spLocks noChangeShapeType="1"/>
          </p:cNvSpPr>
          <p:nvPr/>
        </p:nvSpPr>
        <p:spPr bwMode="auto">
          <a:xfrm flipH="1">
            <a:off x="7391400" y="208915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794632" name="Text Box 8"/>
          <p:cNvSpPr txBox="1">
            <a:spLocks noChangeArrowheads="1"/>
          </p:cNvSpPr>
          <p:nvPr/>
        </p:nvSpPr>
        <p:spPr bwMode="auto">
          <a:xfrm>
            <a:off x="6965950" y="1628775"/>
            <a:ext cx="94699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0">
                <a:latin typeface="+mn-lt"/>
              </a:rPr>
              <a:t>client 2</a:t>
            </a:r>
          </a:p>
        </p:txBody>
      </p:sp>
      <p:sp>
        <p:nvSpPr>
          <p:cNvPr id="794633" name="Line 9"/>
          <p:cNvSpPr>
            <a:spLocks noChangeShapeType="1"/>
          </p:cNvSpPr>
          <p:nvPr/>
        </p:nvSpPr>
        <p:spPr bwMode="auto">
          <a:xfrm>
            <a:off x="1676400" y="2373867"/>
            <a:ext cx="2728634" cy="14493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34" name="Text Box 10"/>
          <p:cNvSpPr txBox="1">
            <a:spLocks noChangeArrowheads="1"/>
          </p:cNvSpPr>
          <p:nvPr/>
        </p:nvSpPr>
        <p:spPr bwMode="auto">
          <a:xfrm>
            <a:off x="-76200" y="2149475"/>
            <a:ext cx="183896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connect</a:t>
            </a:r>
          </a:p>
        </p:txBody>
      </p:sp>
      <p:sp>
        <p:nvSpPr>
          <p:cNvPr id="794635" name="Text Box 11"/>
          <p:cNvSpPr txBox="1">
            <a:spLocks noChangeArrowheads="1"/>
          </p:cNvSpPr>
          <p:nvPr/>
        </p:nvSpPr>
        <p:spPr bwMode="auto">
          <a:xfrm>
            <a:off x="4411663" y="2009775"/>
            <a:ext cx="17011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accept</a:t>
            </a:r>
            <a:endParaRPr lang="en-US" sz="1800" dirty="0"/>
          </a:p>
        </p:txBody>
      </p:sp>
      <p:sp>
        <p:nvSpPr>
          <p:cNvPr id="794636" name="Text Box 12"/>
          <p:cNvSpPr txBox="1">
            <a:spLocks noChangeArrowheads="1"/>
          </p:cNvSpPr>
          <p:nvPr/>
        </p:nvSpPr>
        <p:spPr bwMode="auto">
          <a:xfrm>
            <a:off x="2133600" y="3565525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read</a:t>
            </a:r>
          </a:p>
        </p:txBody>
      </p:sp>
      <p:sp>
        <p:nvSpPr>
          <p:cNvPr id="794640" name="Text Box 16"/>
          <p:cNvSpPr txBox="1">
            <a:spLocks noChangeArrowheads="1"/>
          </p:cNvSpPr>
          <p:nvPr/>
        </p:nvSpPr>
        <p:spPr bwMode="auto">
          <a:xfrm>
            <a:off x="4419600" y="2362200"/>
            <a:ext cx="15632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ret accept</a:t>
            </a:r>
            <a:endParaRPr lang="en-US" sz="1800" dirty="0"/>
          </a:p>
        </p:txBody>
      </p:sp>
      <p:sp>
        <p:nvSpPr>
          <p:cNvPr id="794641" name="Text Box 17"/>
          <p:cNvSpPr txBox="1">
            <a:spLocks noChangeArrowheads="1"/>
          </p:cNvSpPr>
          <p:nvPr/>
        </p:nvSpPr>
        <p:spPr bwMode="auto">
          <a:xfrm>
            <a:off x="7416800" y="2373868"/>
            <a:ext cx="183896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call connect</a:t>
            </a:r>
          </a:p>
        </p:txBody>
      </p:sp>
      <p:sp>
        <p:nvSpPr>
          <p:cNvPr id="794642" name="Line 18"/>
          <p:cNvSpPr>
            <a:spLocks noChangeShapeType="1"/>
          </p:cNvSpPr>
          <p:nvPr/>
        </p:nvSpPr>
        <p:spPr bwMode="auto">
          <a:xfrm flipH="1">
            <a:off x="4405034" y="2666999"/>
            <a:ext cx="2971800" cy="2571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43" name="Text Box 19"/>
          <p:cNvSpPr txBox="1">
            <a:spLocks noChangeArrowheads="1"/>
          </p:cNvSpPr>
          <p:nvPr/>
        </p:nvSpPr>
        <p:spPr bwMode="auto">
          <a:xfrm>
            <a:off x="193675" y="2968625"/>
            <a:ext cx="15632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fgets</a:t>
            </a:r>
          </a:p>
        </p:txBody>
      </p:sp>
      <p:sp>
        <p:nvSpPr>
          <p:cNvPr id="794644" name="Line 20"/>
          <p:cNvSpPr>
            <a:spLocks noChangeShapeType="1"/>
          </p:cNvSpPr>
          <p:nvPr/>
        </p:nvSpPr>
        <p:spPr bwMode="auto">
          <a:xfrm flipH="1">
            <a:off x="3505200" y="3260725"/>
            <a:ext cx="914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45" name="Line 21"/>
          <p:cNvSpPr>
            <a:spLocks noChangeShapeType="1"/>
          </p:cNvSpPr>
          <p:nvPr/>
        </p:nvSpPr>
        <p:spPr bwMode="auto">
          <a:xfrm>
            <a:off x="3505200" y="3536950"/>
            <a:ext cx="0" cy="297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46" name="Text Box 22"/>
          <p:cNvSpPr txBox="1">
            <a:spLocks noChangeArrowheads="1"/>
          </p:cNvSpPr>
          <p:nvPr/>
        </p:nvSpPr>
        <p:spPr bwMode="auto">
          <a:xfrm>
            <a:off x="4419600" y="3108325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fork</a:t>
            </a:r>
          </a:p>
        </p:txBody>
      </p:sp>
      <p:sp>
        <p:nvSpPr>
          <p:cNvPr id="794647" name="Text Box 23"/>
          <p:cNvSpPr txBox="1">
            <a:spLocks noChangeArrowheads="1"/>
          </p:cNvSpPr>
          <p:nvPr/>
        </p:nvSpPr>
        <p:spPr bwMode="auto">
          <a:xfrm>
            <a:off x="3124200" y="3122613"/>
            <a:ext cx="80182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>
                <a:latin typeface="+mn-lt"/>
              </a:rPr>
              <a:t>child 1</a:t>
            </a:r>
          </a:p>
        </p:txBody>
      </p:sp>
      <p:sp>
        <p:nvSpPr>
          <p:cNvPr id="794648" name="Text Box 24"/>
          <p:cNvSpPr txBox="1">
            <a:spLocks noChangeArrowheads="1"/>
          </p:cNvSpPr>
          <p:nvPr/>
        </p:nvSpPr>
        <p:spPr bwMode="auto">
          <a:xfrm>
            <a:off x="152400" y="3429000"/>
            <a:ext cx="1524000" cy="2554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User </a:t>
            </a:r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goes out to lunch</a:t>
            </a:r>
            <a:endParaRPr lang="en-US" sz="2000" b="0" dirty="0">
              <a:solidFill>
                <a:srgbClr val="FF0000"/>
              </a:solidFill>
              <a:latin typeface="+mn-lt"/>
            </a:endParaRPr>
          </a:p>
          <a:p>
            <a:pPr algn="r"/>
            <a:endParaRPr lang="en-US" sz="2000" b="0" dirty="0">
              <a:latin typeface="+mn-lt"/>
            </a:endParaRP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Client 1 blocks</a:t>
            </a:r>
          </a:p>
          <a:p>
            <a:pPr algn="r"/>
            <a:r>
              <a:rPr lang="en-US" sz="2000" b="0" dirty="0">
                <a:solidFill>
                  <a:srgbClr val="FF0000"/>
                </a:solidFill>
                <a:latin typeface="+mn-lt"/>
              </a:rPr>
              <a:t>waiting for user to type in data</a:t>
            </a:r>
          </a:p>
        </p:txBody>
      </p:sp>
      <p:sp>
        <p:nvSpPr>
          <p:cNvPr id="794649" name="Text Box 25"/>
          <p:cNvSpPr txBox="1">
            <a:spLocks noChangeArrowheads="1"/>
          </p:cNvSpPr>
          <p:nvPr/>
        </p:nvSpPr>
        <p:spPr bwMode="auto">
          <a:xfrm>
            <a:off x="4419600" y="3457575"/>
            <a:ext cx="17011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accept</a:t>
            </a:r>
            <a:endParaRPr lang="en-US" sz="1800"/>
          </a:p>
        </p:txBody>
      </p:sp>
      <p:sp>
        <p:nvSpPr>
          <p:cNvPr id="794653" name="Text Box 29"/>
          <p:cNvSpPr txBox="1">
            <a:spLocks noChangeArrowheads="1"/>
          </p:cNvSpPr>
          <p:nvPr/>
        </p:nvSpPr>
        <p:spPr bwMode="auto">
          <a:xfrm>
            <a:off x="4419600" y="3733800"/>
            <a:ext cx="15632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ret accept</a:t>
            </a:r>
            <a:endParaRPr lang="en-US" sz="1800" dirty="0"/>
          </a:p>
        </p:txBody>
      </p:sp>
      <p:sp>
        <p:nvSpPr>
          <p:cNvPr id="794654" name="Text Box 30"/>
          <p:cNvSpPr txBox="1">
            <a:spLocks noChangeArrowheads="1"/>
          </p:cNvSpPr>
          <p:nvPr/>
        </p:nvSpPr>
        <p:spPr bwMode="auto">
          <a:xfrm>
            <a:off x="7391400" y="4022725"/>
            <a:ext cx="156324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fgets</a:t>
            </a:r>
          </a:p>
        </p:txBody>
      </p:sp>
      <p:sp>
        <p:nvSpPr>
          <p:cNvPr id="794655" name="Text Box 31"/>
          <p:cNvSpPr txBox="1">
            <a:spLocks noChangeArrowheads="1"/>
          </p:cNvSpPr>
          <p:nvPr/>
        </p:nvSpPr>
        <p:spPr bwMode="auto">
          <a:xfrm>
            <a:off x="7391400" y="4448175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write</a:t>
            </a:r>
          </a:p>
        </p:txBody>
      </p:sp>
      <p:sp>
        <p:nvSpPr>
          <p:cNvPr id="794656" name="Line 32"/>
          <p:cNvSpPr>
            <a:spLocks noChangeShapeType="1"/>
          </p:cNvSpPr>
          <p:nvPr/>
        </p:nvSpPr>
        <p:spPr bwMode="auto">
          <a:xfrm>
            <a:off x="4419600" y="4632325"/>
            <a:ext cx="914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57" name="Text Box 33"/>
          <p:cNvSpPr txBox="1">
            <a:spLocks noChangeArrowheads="1"/>
          </p:cNvSpPr>
          <p:nvPr/>
        </p:nvSpPr>
        <p:spPr bwMode="auto">
          <a:xfrm>
            <a:off x="3670802" y="4448175"/>
            <a:ext cx="73609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>
                <a:latin typeface="Courier New" pitchFamily="49" charset="0"/>
              </a:rPr>
              <a:t>fork</a:t>
            </a:r>
          </a:p>
        </p:txBody>
      </p:sp>
      <p:sp>
        <p:nvSpPr>
          <p:cNvPr id="794658" name="Line 34"/>
          <p:cNvSpPr>
            <a:spLocks noChangeShapeType="1"/>
          </p:cNvSpPr>
          <p:nvPr/>
        </p:nvSpPr>
        <p:spPr bwMode="auto">
          <a:xfrm>
            <a:off x="5334000" y="4908550"/>
            <a:ext cx="0" cy="160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59" name="Text Box 35"/>
          <p:cNvSpPr txBox="1">
            <a:spLocks noChangeArrowheads="1"/>
          </p:cNvSpPr>
          <p:nvPr/>
        </p:nvSpPr>
        <p:spPr bwMode="auto">
          <a:xfrm>
            <a:off x="4614863" y="4965700"/>
            <a:ext cx="873957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</a:t>
            </a:r>
          </a:p>
          <a:p>
            <a:r>
              <a:rPr lang="en-US" sz="1800">
                <a:latin typeface="Courier New" pitchFamily="49" charset="0"/>
              </a:rPr>
              <a:t>read</a:t>
            </a:r>
          </a:p>
        </p:txBody>
      </p:sp>
      <p:sp>
        <p:nvSpPr>
          <p:cNvPr id="794660" name="Text Box 36"/>
          <p:cNvSpPr txBox="1">
            <a:spLocks noChangeArrowheads="1"/>
          </p:cNvSpPr>
          <p:nvPr/>
        </p:nvSpPr>
        <p:spPr bwMode="auto">
          <a:xfrm>
            <a:off x="4800600" y="4479925"/>
            <a:ext cx="80182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>
                <a:latin typeface="+mn-lt"/>
              </a:rPr>
              <a:t>child 2</a:t>
            </a:r>
          </a:p>
        </p:txBody>
      </p:sp>
      <p:sp>
        <p:nvSpPr>
          <p:cNvPr id="794661" name="Line 37"/>
          <p:cNvSpPr>
            <a:spLocks noChangeShapeType="1"/>
          </p:cNvSpPr>
          <p:nvPr/>
        </p:nvSpPr>
        <p:spPr bwMode="auto">
          <a:xfrm flipH="1">
            <a:off x="5334000" y="4632325"/>
            <a:ext cx="20574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62" name="Text Box 38"/>
          <p:cNvSpPr txBox="1">
            <a:spLocks noChangeArrowheads="1"/>
          </p:cNvSpPr>
          <p:nvPr/>
        </p:nvSpPr>
        <p:spPr bwMode="auto">
          <a:xfrm>
            <a:off x="4495800" y="5622925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write</a:t>
            </a:r>
          </a:p>
        </p:txBody>
      </p:sp>
      <p:sp>
        <p:nvSpPr>
          <p:cNvPr id="794663" name="Line 39"/>
          <p:cNvSpPr>
            <a:spLocks noChangeShapeType="1"/>
          </p:cNvSpPr>
          <p:nvPr/>
        </p:nvSpPr>
        <p:spPr bwMode="auto">
          <a:xfrm>
            <a:off x="5334000" y="5775325"/>
            <a:ext cx="2057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4664" name="Text Box 40"/>
          <p:cNvSpPr txBox="1">
            <a:spLocks noChangeArrowheads="1"/>
          </p:cNvSpPr>
          <p:nvPr/>
        </p:nvSpPr>
        <p:spPr bwMode="auto">
          <a:xfrm>
            <a:off x="7391400" y="4829175"/>
            <a:ext cx="142539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call read</a:t>
            </a:r>
          </a:p>
        </p:txBody>
      </p:sp>
      <p:sp>
        <p:nvSpPr>
          <p:cNvPr id="794665" name="Text Box 41"/>
          <p:cNvSpPr txBox="1">
            <a:spLocks noChangeArrowheads="1"/>
          </p:cNvSpPr>
          <p:nvPr/>
        </p:nvSpPr>
        <p:spPr bwMode="auto">
          <a:xfrm>
            <a:off x="7391400" y="5895975"/>
            <a:ext cx="130035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ret </a:t>
            </a:r>
            <a:r>
              <a:rPr lang="en-US" sz="1800" dirty="0">
                <a:latin typeface="Courier New" pitchFamily="49" charset="0"/>
              </a:rPr>
              <a:t>read</a:t>
            </a:r>
          </a:p>
        </p:txBody>
      </p:sp>
      <p:sp>
        <p:nvSpPr>
          <p:cNvPr id="794666" name="Text Box 42"/>
          <p:cNvSpPr txBox="1">
            <a:spLocks noChangeArrowheads="1"/>
          </p:cNvSpPr>
          <p:nvPr/>
        </p:nvSpPr>
        <p:spPr bwMode="auto">
          <a:xfrm>
            <a:off x="7391400" y="6172200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close</a:t>
            </a:r>
          </a:p>
        </p:txBody>
      </p:sp>
      <p:sp>
        <p:nvSpPr>
          <p:cNvPr id="794667" name="Text Box 43"/>
          <p:cNvSpPr txBox="1">
            <a:spLocks noChangeArrowheads="1"/>
          </p:cNvSpPr>
          <p:nvPr/>
        </p:nvSpPr>
        <p:spPr bwMode="auto">
          <a:xfrm>
            <a:off x="4495800" y="5972175"/>
            <a:ext cx="87395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ourier New" pitchFamily="49" charset="0"/>
              </a:rPr>
              <a:t>close</a:t>
            </a:r>
          </a:p>
        </p:txBody>
      </p:sp>
      <p:sp>
        <p:nvSpPr>
          <p:cNvPr id="794668" name="Text Box 44"/>
          <p:cNvSpPr txBox="1">
            <a:spLocks noChangeArrowheads="1"/>
          </p:cNvSpPr>
          <p:nvPr/>
        </p:nvSpPr>
        <p:spPr bwMode="auto">
          <a:xfrm>
            <a:off x="4197350" y="5165725"/>
            <a:ext cx="374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0"/>
              <a:t>...</a:t>
            </a:r>
          </a:p>
        </p:txBody>
      </p:sp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1981200" y="3962400"/>
            <a:ext cx="1524000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2000" b="0" dirty="0" smtClean="0">
                <a:solidFill>
                  <a:srgbClr val="FF0000"/>
                </a:solidFill>
                <a:latin typeface="+mn-lt"/>
              </a:rPr>
              <a:t>Child blocks waiting for data from Client 1</a:t>
            </a:r>
            <a:endParaRPr lang="en-US" sz="2000" b="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133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65072" y="1219200"/>
            <a:ext cx="9078928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rm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endParaRPr lang="ro-RO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listenfd = Open_listenfd(argv[1]);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Accept(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*)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 echo(connfd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endParaRPr lang="nl-NL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endParaRPr lang="en-US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smtClean="0">
                <a:latin typeface="Courier New"/>
                <a:cs typeface="Courier New"/>
              </a:rPr>
              <a:t>exit(0</a:t>
            </a:r>
            <a:r>
              <a:rPr lang="en-US" sz="1600" dirty="0">
                <a:latin typeface="Courier New"/>
                <a:cs typeface="Courier New"/>
              </a:rPr>
              <a:t>);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8" y="582613"/>
            <a:ext cx="8788400" cy="573087"/>
          </a:xfrm>
        </p:spPr>
        <p:txBody>
          <a:bodyPr/>
          <a:lstStyle/>
          <a:p>
            <a:r>
              <a:rPr lang="en-US" dirty="0" smtClean="0"/>
              <a:t>Iterative Echo Server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85811" y="6107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2038042" y="5012293"/>
            <a:ext cx="6440931" cy="109537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65100" lvl="1" indent="-165100"/>
            <a:r>
              <a:rPr lang="en-US" sz="2400" b="0" kern="0" dirty="0" smtClean="0"/>
              <a:t>Accept a connection request</a:t>
            </a:r>
          </a:p>
          <a:p>
            <a:pPr marL="165100" lvl="1" indent="-165100"/>
            <a:r>
              <a:rPr lang="en-US" sz="2400" b="0" kern="0" dirty="0" smtClean="0"/>
              <a:t>Handle echo requests until client terminates</a:t>
            </a:r>
            <a:endParaRPr lang="en-US" sz="2400" b="0" kern="0" dirty="0"/>
          </a:p>
        </p:txBody>
      </p:sp>
    </p:spTree>
    <p:extLst>
      <p:ext uri="{BB962C8B-B14F-4D97-AF65-F5344CB8AC3E}">
        <p14:creationId xmlns:p14="http://schemas.microsoft.com/office/powerpoint/2010/main" val="309922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65072" y="1219200"/>
            <a:ext cx="9078928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rm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endParaRPr lang="ro-RO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listenfd = Open_listenfd(argv[1]);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Accept(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*)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echo(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/* Child services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*</a:t>
            </a:r>
            <a:r>
              <a:rPr lang="nl-NL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smtClean="0">
                <a:solidFill>
                  <a:srgbClr val="C00000"/>
                </a:solidFill>
                <a:latin typeface="Courier New"/>
                <a:cs typeface="Courier New"/>
              </a:rPr>
              <a:t>/* child closes connection with client */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     </a:t>
            </a:r>
            <a:r>
              <a:rPr lang="en-US" sz="1600" dirty="0" smtClean="0">
                <a:latin typeface="Courier New"/>
                <a:cs typeface="Courier New"/>
              </a:rPr>
              <a:t>exit(0</a:t>
            </a:r>
            <a:r>
              <a:rPr lang="en-US" sz="1600" dirty="0">
                <a:latin typeface="Courier New"/>
                <a:cs typeface="Courier New"/>
              </a:rPr>
              <a:t>);</a:t>
            </a:r>
            <a:endParaRPr lang="en-US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   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8" y="582613"/>
            <a:ext cx="8788400" cy="573087"/>
          </a:xfrm>
        </p:spPr>
        <p:txBody>
          <a:bodyPr/>
          <a:lstStyle/>
          <a:p>
            <a:r>
              <a:rPr lang="en-US" dirty="0" smtClean="0"/>
              <a:t>Making a Concurrent Echo Server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85811" y="6107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07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65072" y="1219200"/>
            <a:ext cx="9078928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rm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ro-RO" sz="1600" dirty="0">
                <a:solidFill>
                  <a:srgbClr val="F6F5BD"/>
                </a:solidFill>
                <a:latin typeface="Courier New"/>
                <a:cs typeface="Courier New"/>
              </a:rPr>
              <a:t>Signal(SIGCHLD, sigchld_handler);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listenfd = Open_listenfd(argv[1]);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Accept(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*)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        if (Fork() ==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>
                <a:solidFill>
                  <a:srgbClr val="F6F5BD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); /* Child closes its listening socket */</a:t>
            </a: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echo(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/* Child services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*</a:t>
            </a:r>
            <a:r>
              <a:rPr lang="nl-NL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nl-NL" sz="1600" dirty="0">
                <a:latin typeface="Courier New"/>
                <a:cs typeface="Courier New"/>
              </a:rPr>
              <a:t>Close(</a:t>
            </a:r>
            <a:r>
              <a:rPr lang="nl-NL" sz="1600" dirty="0" err="1">
                <a:latin typeface="Courier New"/>
                <a:cs typeface="Courier New"/>
              </a:rPr>
              <a:t>connfd</a:t>
            </a:r>
            <a:r>
              <a:rPr lang="nl-NL" sz="1600" dirty="0">
                <a:latin typeface="Courier New"/>
                <a:cs typeface="Courier New"/>
              </a:rPr>
              <a:t>);   /* Child </a:t>
            </a:r>
            <a:r>
              <a:rPr lang="nl-NL" sz="1600" dirty="0" err="1">
                <a:latin typeface="Courier New"/>
                <a:cs typeface="Courier New"/>
              </a:rPr>
              <a:t>closes</a:t>
            </a:r>
            <a:r>
              <a:rPr lang="nl-NL" sz="1600" dirty="0">
                <a:latin typeface="Courier New"/>
                <a:cs typeface="Courier New"/>
              </a:rPr>
              <a:t> </a:t>
            </a:r>
            <a:r>
              <a:rPr lang="nl-NL" sz="1600" dirty="0" err="1">
                <a:latin typeface="Courier New"/>
                <a:cs typeface="Courier New"/>
              </a:rPr>
              <a:t>connection</a:t>
            </a:r>
            <a:r>
              <a:rPr lang="nl-NL" sz="1600" dirty="0">
                <a:latin typeface="Courier New"/>
                <a:cs typeface="Courier New"/>
              </a:rPr>
              <a:t> </a:t>
            </a:r>
            <a:r>
              <a:rPr lang="nl-NL" sz="1600" dirty="0" err="1">
                <a:latin typeface="Courier New"/>
                <a:cs typeface="Courier New"/>
              </a:rPr>
              <a:t>with</a:t>
            </a:r>
            <a:r>
              <a:rPr lang="nl-NL" sz="1600" dirty="0">
                <a:latin typeface="Courier New"/>
                <a:cs typeface="Courier New"/>
              </a:rPr>
              <a:t> </a:t>
            </a:r>
            <a:r>
              <a:rPr lang="nl-NL" sz="1600" dirty="0" err="1">
                <a:latin typeface="Courier New"/>
                <a:cs typeface="Courier New"/>
              </a:rPr>
              <a:t>client</a:t>
            </a:r>
            <a:r>
              <a:rPr lang="nl-NL" sz="1600" dirty="0">
                <a:latin typeface="Courier New"/>
                <a:cs typeface="Courier New"/>
              </a:rPr>
              <a:t> *</a:t>
            </a:r>
            <a:r>
              <a:rPr lang="nl-NL" sz="1600" dirty="0" smtClean="0">
                <a:latin typeface="Courier New"/>
                <a:cs typeface="Courier New"/>
              </a:rPr>
              <a:t>/</a:t>
            </a:r>
            <a:endParaRPr lang="nl-NL" sz="1600" dirty="0"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latin typeface="Courier New"/>
                <a:cs typeface="Courier New"/>
              </a:rPr>
              <a:t>exit(0);        </a:t>
            </a:r>
            <a:r>
              <a:rPr lang="en-US" sz="1600" dirty="0" smtClean="0"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urier New"/>
                <a:cs typeface="Courier New"/>
              </a:rPr>
              <a:t>/* Child exits */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>
                <a:solidFill>
                  <a:srgbClr val="F6F5BD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); /* Parent closes connected socket (important!) *</a:t>
            </a:r>
            <a:r>
              <a:rPr lang="en-US" sz="1600" dirty="0" smtClean="0">
                <a:solidFill>
                  <a:srgbClr val="F6F5BD"/>
                </a:solidFill>
                <a:latin typeface="Courier New"/>
                <a:cs typeface="Courier New"/>
              </a:rPr>
              <a:t>/</a:t>
            </a:r>
            <a:endParaRPr lang="en-US" sz="1600" dirty="0">
              <a:solidFill>
                <a:srgbClr val="F6F5BD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8" y="582613"/>
            <a:ext cx="8788400" cy="573087"/>
          </a:xfrm>
        </p:spPr>
        <p:txBody>
          <a:bodyPr/>
          <a:lstStyle/>
          <a:p>
            <a:r>
              <a:rPr lang="en-US" dirty="0"/>
              <a:t>Making a Concurrent Echo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5811" y="6107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75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65072" y="1219200"/>
            <a:ext cx="9078928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rm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ro-RO" sz="1600" dirty="0">
                <a:solidFill>
                  <a:srgbClr val="F6F5BD"/>
                </a:solidFill>
                <a:latin typeface="Courier New"/>
                <a:cs typeface="Courier New"/>
              </a:rPr>
              <a:t>Signal(SIGCHLD, sigchld_handler);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listenfd = Open_listenfd(argv[1]);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Accept(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*)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>
                <a:solidFill>
                  <a:srgbClr val="F6F5BD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); /* Child closes its listening socket */</a:t>
            </a: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echo(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/* Child services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*</a:t>
            </a:r>
            <a:r>
              <a:rPr lang="nl-NL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nl-NL" sz="1600" dirty="0">
                <a:latin typeface="Courier New"/>
                <a:cs typeface="Courier New"/>
              </a:rPr>
              <a:t>Close(</a:t>
            </a:r>
            <a:r>
              <a:rPr lang="nl-NL" sz="1600" dirty="0" err="1">
                <a:latin typeface="Courier New"/>
                <a:cs typeface="Courier New"/>
              </a:rPr>
              <a:t>connfd</a:t>
            </a:r>
            <a:r>
              <a:rPr lang="nl-NL" sz="1600" dirty="0">
                <a:latin typeface="Courier New"/>
                <a:cs typeface="Courier New"/>
              </a:rPr>
              <a:t>);   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/* Child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closes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connection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with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*/</a:t>
            </a:r>
          </a:p>
          <a:p>
            <a:r>
              <a:rPr lang="en-US" sz="1600" dirty="0" smtClean="0">
                <a:solidFill>
                  <a:srgbClr val="F6F5BD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latin typeface="Courier New"/>
                <a:cs typeface="Courier New"/>
              </a:rPr>
              <a:t>exit(0);         </a:t>
            </a:r>
            <a:r>
              <a:rPr lang="en-US" sz="1600" dirty="0" smtClean="0">
                <a:solidFill>
                  <a:srgbClr val="C00000"/>
                </a:solidFill>
                <a:latin typeface="Courier New"/>
                <a:cs typeface="Courier New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Courier New"/>
                <a:cs typeface="Courier New"/>
              </a:rPr>
              <a:t>* Child exits </a:t>
            </a:r>
            <a:r>
              <a:rPr lang="en-US" sz="1600" dirty="0" smtClean="0">
                <a:solidFill>
                  <a:srgbClr val="C00000"/>
                </a:solidFill>
                <a:latin typeface="Courier New"/>
                <a:cs typeface="Courier New"/>
              </a:rPr>
              <a:t>*/</a:t>
            </a:r>
            <a:endParaRPr lang="en-US" sz="1600" dirty="0" smtClean="0">
              <a:solidFill>
                <a:srgbClr val="F6F5BD"/>
              </a:solidFill>
              <a:latin typeface="Courier New"/>
              <a:cs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>
                <a:solidFill>
                  <a:srgbClr val="FF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); /* Parent closes connected socket (important!) *</a:t>
            </a:r>
            <a:r>
              <a:rPr lang="en-US" sz="1600" dirty="0" smtClean="0">
                <a:solidFill>
                  <a:srgbClr val="FF0000"/>
                </a:solidFill>
                <a:latin typeface="Courier New"/>
                <a:cs typeface="Courier New"/>
              </a:rPr>
              <a:t>/</a:t>
            </a:r>
            <a:endParaRPr lang="en-US" sz="16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8" y="582613"/>
            <a:ext cx="8788400" cy="573087"/>
          </a:xfrm>
        </p:spPr>
        <p:txBody>
          <a:bodyPr/>
          <a:lstStyle/>
          <a:p>
            <a:r>
              <a:rPr lang="en-US" dirty="0"/>
              <a:t>Making a Concurrent Echo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5811" y="6107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62200" y="6292334"/>
            <a:ext cx="734020" cy="369332"/>
          </a:xfrm>
          <a:prstGeom prst="rect">
            <a:avLst/>
          </a:prstGeom>
          <a:solidFill>
            <a:srgbClr val="CCFFCC"/>
          </a:solidFill>
          <a:ln>
            <a:solidFill>
              <a:srgbClr val="00CC99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Why?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 flipV="1">
            <a:off x="1676400" y="5715000"/>
            <a:ext cx="685800" cy="577334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6614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65072" y="1219200"/>
            <a:ext cx="9078928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rm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ro-RO" sz="1600" dirty="0">
                <a:solidFill>
                  <a:srgbClr val="F6F5BD"/>
                </a:solidFill>
                <a:latin typeface="Courier New"/>
                <a:cs typeface="Courier New"/>
              </a:rPr>
              <a:t>Signal(SIGCHLD, sigchld_handler);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listenfd = Open_listenfd(argv[1]);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Accept(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*)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Close(</a:t>
            </a:r>
            <a:r>
              <a:rPr lang="en-US" sz="1600" dirty="0" err="1">
                <a:solidFill>
                  <a:srgbClr val="FF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); /* Child closes its listening socket */</a:t>
            </a: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echo(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/* Child services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*</a:t>
            </a:r>
            <a:r>
              <a:rPr lang="nl-NL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nl-NL" sz="1600" dirty="0">
                <a:latin typeface="Courier New"/>
                <a:cs typeface="Courier New"/>
              </a:rPr>
              <a:t>Close(</a:t>
            </a:r>
            <a:r>
              <a:rPr lang="nl-NL" sz="1600" dirty="0" err="1">
                <a:latin typeface="Courier New"/>
                <a:cs typeface="Courier New"/>
              </a:rPr>
              <a:t>connfd</a:t>
            </a:r>
            <a:r>
              <a:rPr lang="nl-NL" sz="1600" dirty="0">
                <a:latin typeface="Courier New"/>
                <a:cs typeface="Courier New"/>
              </a:rPr>
              <a:t>);   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/* Child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closes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connection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with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00000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00000"/>
                </a:solidFill>
                <a:latin typeface="Courier New"/>
                <a:cs typeface="Courier New"/>
              </a:rPr>
              <a:t> */</a:t>
            </a:r>
          </a:p>
          <a:p>
            <a:r>
              <a:rPr lang="en-US" sz="1600" dirty="0">
                <a:solidFill>
                  <a:srgbClr val="F6F5BD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latin typeface="Courier New"/>
                <a:cs typeface="Courier New"/>
              </a:rPr>
              <a:t>exit(0);       </a:t>
            </a:r>
            <a:r>
              <a:rPr lang="en-US" sz="1600" dirty="0" smtClean="0">
                <a:latin typeface="Courier New"/>
                <a:cs typeface="Courier New"/>
              </a:rPr>
              <a:t>  </a:t>
            </a:r>
            <a:r>
              <a:rPr lang="en-US" sz="1600" dirty="0" smtClean="0">
                <a:solidFill>
                  <a:srgbClr val="C00000"/>
                </a:solidFill>
                <a:latin typeface="Courier New"/>
                <a:cs typeface="Courier New"/>
              </a:rPr>
              <a:t>/</a:t>
            </a:r>
            <a:r>
              <a:rPr lang="en-US" sz="1600" dirty="0">
                <a:solidFill>
                  <a:srgbClr val="C00000"/>
                </a:solidFill>
                <a:latin typeface="Courier New"/>
                <a:cs typeface="Courier New"/>
              </a:rPr>
              <a:t>* Child exits */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latin typeface="Courier New"/>
                <a:cs typeface="Courier New"/>
              </a:rPr>
              <a:t>Close(</a:t>
            </a:r>
            <a:r>
              <a:rPr lang="en-US" sz="1600" dirty="0" err="1">
                <a:latin typeface="Courier New"/>
                <a:cs typeface="Courier New"/>
              </a:rPr>
              <a:t>connfd</a:t>
            </a:r>
            <a:r>
              <a:rPr lang="en-US" sz="1600" dirty="0"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00000"/>
                </a:solidFill>
                <a:latin typeface="Courier New"/>
                <a:cs typeface="Courier New"/>
              </a:rPr>
              <a:t>/* Parent closes connected socket (important!) *</a:t>
            </a:r>
            <a:r>
              <a:rPr lang="en-US" sz="1600" dirty="0" smtClean="0">
                <a:solidFill>
                  <a:srgbClr val="C00000"/>
                </a:solidFill>
                <a:latin typeface="Courier New"/>
                <a:cs typeface="Courier New"/>
              </a:rPr>
              <a:t>/</a:t>
            </a:r>
            <a:endParaRPr lang="en-US" sz="1600" dirty="0">
              <a:solidFill>
                <a:srgbClr val="C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8" y="582613"/>
            <a:ext cx="8788400" cy="573087"/>
          </a:xfrm>
        </p:spPr>
        <p:txBody>
          <a:bodyPr/>
          <a:lstStyle/>
          <a:p>
            <a:r>
              <a:rPr lang="en-US" dirty="0"/>
              <a:t>Making a Concurrent Echo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5811" y="6107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63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65072" y="1219200"/>
            <a:ext cx="9078928" cy="526298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rm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ro-RO" sz="1600" dirty="0">
                <a:solidFill>
                  <a:srgbClr val="FF0000"/>
                </a:solidFill>
                <a:latin typeface="Courier New"/>
                <a:cs typeface="Courier New"/>
              </a:rPr>
              <a:t>Signal(SIGCHLD, sigchld_handler);</a:t>
            </a:r>
          </a:p>
          <a:p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    listenfd = Open_listenfd(argv[1]);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Accept(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*)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closes its listening socket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echo(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   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/* Child services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*</a:t>
            </a:r>
            <a:r>
              <a:rPr lang="nl-NL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Close(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   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/* Child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closes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connection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with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</a:t>
            </a:r>
            <a:r>
              <a:rPr lang="nl-NL" sz="1600" dirty="0" err="1">
                <a:solidFill>
                  <a:srgbClr val="CB2418"/>
                </a:solidFill>
                <a:latin typeface="Courier New"/>
                <a:cs typeface="Courier New"/>
              </a:rPr>
              <a:t>client</a:t>
            </a:r>
            <a:r>
              <a:rPr lang="nl-NL" sz="1600" dirty="0">
                <a:solidFill>
                  <a:srgbClr val="CB2418"/>
                </a:solidFill>
                <a:latin typeface="Courier New"/>
                <a:cs typeface="Courier New"/>
              </a:rPr>
              <a:t> *</a:t>
            </a:r>
            <a:r>
              <a:rPr lang="nl-NL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exit(0);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Child exits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Parent closes connected socket (important!) *</a:t>
            </a:r>
            <a:r>
              <a:rPr lang="en-US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438" y="582613"/>
            <a:ext cx="8788400" cy="573087"/>
          </a:xfrm>
        </p:spPr>
        <p:txBody>
          <a:bodyPr/>
          <a:lstStyle/>
          <a:p>
            <a:r>
              <a:rPr lang="en-US" dirty="0"/>
              <a:t>Process-Based Concurrent</a:t>
            </a:r>
            <a:r>
              <a:rPr lang="en-US" dirty="0" smtClean="0"/>
              <a:t> Echo Server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85811" y="6107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34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6" name="Rectangle 6"/>
          <p:cNvSpPr>
            <a:spLocks noGrp="1" noChangeArrowheads="1"/>
          </p:cNvSpPr>
          <p:nvPr>
            <p:ph type="title"/>
          </p:nvPr>
        </p:nvSpPr>
        <p:spPr>
          <a:xfrm>
            <a:off x="404813" y="485775"/>
            <a:ext cx="8716962" cy="781050"/>
          </a:xfrm>
        </p:spPr>
        <p:txBody>
          <a:bodyPr/>
          <a:lstStyle/>
          <a:p>
            <a:r>
              <a:rPr lang="en-US" dirty="0"/>
              <a:t>Process-Based Concurrent</a:t>
            </a:r>
            <a:r>
              <a:rPr lang="en-US" dirty="0" smtClean="0"/>
              <a:t> Echo Server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(cont)</a:t>
            </a:r>
          </a:p>
        </p:txBody>
      </p:sp>
      <p:sp>
        <p:nvSpPr>
          <p:cNvPr id="798723" name="Rectangle 3"/>
          <p:cNvSpPr>
            <a:spLocks noChangeArrowheads="1"/>
          </p:cNvSpPr>
          <p:nvPr/>
        </p:nvSpPr>
        <p:spPr bwMode="auto">
          <a:xfrm>
            <a:off x="1262062" y="2063750"/>
            <a:ext cx="6053137" cy="175432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 err="1">
                <a:solidFill>
                  <a:srgbClr val="4A00FF"/>
                </a:solidFill>
                <a:latin typeface="Courier New"/>
                <a:cs typeface="Courier New"/>
              </a:rPr>
              <a:t>sigchld_handler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Courier New"/>
                <a:cs typeface="Courier New"/>
              </a:rPr>
              <a:t>sig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</a:p>
          <a:p>
            <a:r>
              <a:rPr lang="en-US" sz="1800" dirty="0" smtClean="0">
                <a:solidFill>
                  <a:srgbClr val="C200FF"/>
                </a:solidFill>
                <a:latin typeface="Courier New"/>
                <a:cs typeface="Courier New"/>
              </a:rPr>
              <a:t>    while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waitpid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(-1, 0, WNOHANG) &gt; 0)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    ;</a:t>
            </a:r>
          </a:p>
          <a:p>
            <a:r>
              <a:rPr lang="is-I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s-IS" sz="18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8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800" dirty="0" smtClean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79872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3213" y="4518025"/>
            <a:ext cx="8307387" cy="1927225"/>
          </a:xfrm>
        </p:spPr>
        <p:txBody>
          <a:bodyPr/>
          <a:lstStyle/>
          <a:p>
            <a:pPr lvl="1"/>
            <a:r>
              <a:rPr lang="en-US" sz="2600" dirty="0"/>
              <a:t>Reap all zombie children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7010" y="3440668"/>
            <a:ext cx="1525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echoserverp.c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263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9120" y="476655"/>
            <a:ext cx="8382000" cy="573087"/>
          </a:xfrm>
        </p:spPr>
        <p:txBody>
          <a:bodyPr/>
          <a:lstStyle/>
          <a:p>
            <a:r>
              <a:rPr lang="en-US" dirty="0" smtClean="0"/>
              <a:t>Concurrent </a:t>
            </a:r>
            <a:r>
              <a:rPr lang="en-US" dirty="0"/>
              <a:t>Server: </a:t>
            </a:r>
            <a:r>
              <a:rPr lang="en-US" dirty="0">
                <a:latin typeface="Courier New" pitchFamily="49" charset="0"/>
              </a:rPr>
              <a:t>accept</a:t>
            </a:r>
            <a:r>
              <a:rPr lang="en-US" dirty="0"/>
              <a:t> Illustrated</a:t>
            </a:r>
          </a:p>
        </p:txBody>
      </p:sp>
      <p:sp>
        <p:nvSpPr>
          <p:cNvPr id="740356" name="Text Box 4"/>
          <p:cNvSpPr txBox="1">
            <a:spLocks noChangeArrowheads="1"/>
          </p:cNvSpPr>
          <p:nvPr/>
        </p:nvSpPr>
        <p:spPr bwMode="auto">
          <a:xfrm>
            <a:off x="2967038" y="1239838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58" name="Rectangle 6"/>
          <p:cNvSpPr>
            <a:spLocks noChangeArrowheads="1"/>
          </p:cNvSpPr>
          <p:nvPr/>
        </p:nvSpPr>
        <p:spPr bwMode="auto">
          <a:xfrm>
            <a:off x="469900" y="1576388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59" name="Text Box 7"/>
          <p:cNvSpPr txBox="1">
            <a:spLocks noChangeArrowheads="1"/>
          </p:cNvSpPr>
          <p:nvPr/>
        </p:nvSpPr>
        <p:spPr bwMode="auto">
          <a:xfrm>
            <a:off x="5011738" y="1390513"/>
            <a:ext cx="3294062" cy="13234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000" i="1" dirty="0">
                <a:latin typeface="Calibri" pitchFamily="34" charset="0"/>
              </a:rPr>
              <a:t>1. Server blocks in </a:t>
            </a:r>
            <a:r>
              <a:rPr lang="en-US" sz="2000" i="1" dirty="0">
                <a:latin typeface="Courier New" pitchFamily="49" charset="0"/>
              </a:rPr>
              <a:t>accept</a:t>
            </a:r>
            <a:r>
              <a:rPr lang="en-US" sz="2000" i="1" dirty="0">
                <a:latin typeface="Calibri" pitchFamily="34" charset="0"/>
              </a:rPr>
              <a:t>, waiting for connection request on listening descriptor </a:t>
            </a:r>
            <a:r>
              <a:rPr lang="en-US" sz="2000" i="1" dirty="0" err="1" smtClean="0">
                <a:latin typeface="Courier New" pitchFamily="49" charset="0"/>
              </a:rPr>
              <a:t>listenfd</a:t>
            </a:r>
            <a:endParaRPr lang="en-US" sz="2000" i="1" dirty="0">
              <a:latin typeface="Calibri" pitchFamily="34" charset="0"/>
            </a:endParaRPr>
          </a:p>
        </p:txBody>
      </p:sp>
      <p:sp>
        <p:nvSpPr>
          <p:cNvPr id="740360" name="Text Box 8"/>
          <p:cNvSpPr txBox="1">
            <a:spLocks noChangeArrowheads="1"/>
          </p:cNvSpPr>
          <p:nvPr/>
        </p:nvSpPr>
        <p:spPr bwMode="auto">
          <a:xfrm>
            <a:off x="1003300" y="2106613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61" name="Rectangle 9"/>
          <p:cNvSpPr>
            <a:spLocks noChangeArrowheads="1"/>
          </p:cNvSpPr>
          <p:nvPr/>
        </p:nvSpPr>
        <p:spPr bwMode="auto">
          <a:xfrm>
            <a:off x="3449638" y="1576388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63" name="Text Box 11"/>
          <p:cNvSpPr txBox="1">
            <a:spLocks noChangeArrowheads="1"/>
          </p:cNvSpPr>
          <p:nvPr/>
        </p:nvSpPr>
        <p:spPr bwMode="auto">
          <a:xfrm>
            <a:off x="2967038" y="3108325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listenfd(3)</a:t>
            </a:r>
          </a:p>
        </p:txBody>
      </p:sp>
      <p:sp>
        <p:nvSpPr>
          <p:cNvPr id="740365" name="Rectangle 13"/>
          <p:cNvSpPr>
            <a:spLocks noChangeArrowheads="1"/>
          </p:cNvSpPr>
          <p:nvPr/>
        </p:nvSpPr>
        <p:spPr bwMode="auto">
          <a:xfrm>
            <a:off x="469900" y="3444875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66" name="Text Box 14"/>
          <p:cNvSpPr txBox="1">
            <a:spLocks noChangeArrowheads="1"/>
          </p:cNvSpPr>
          <p:nvPr/>
        </p:nvSpPr>
        <p:spPr bwMode="auto">
          <a:xfrm>
            <a:off x="1003300" y="3975100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67" name="Rectangle 15"/>
          <p:cNvSpPr>
            <a:spLocks noChangeArrowheads="1"/>
          </p:cNvSpPr>
          <p:nvPr/>
        </p:nvSpPr>
        <p:spPr bwMode="auto">
          <a:xfrm>
            <a:off x="3449638" y="3444875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68" name="Line 16"/>
          <p:cNvSpPr>
            <a:spLocks noChangeShapeType="1"/>
          </p:cNvSpPr>
          <p:nvPr/>
        </p:nvSpPr>
        <p:spPr bwMode="auto">
          <a:xfrm>
            <a:off x="1536700" y="357505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69" name="Text Box 17"/>
          <p:cNvSpPr txBox="1">
            <a:spLocks noChangeArrowheads="1"/>
          </p:cNvSpPr>
          <p:nvPr/>
        </p:nvSpPr>
        <p:spPr bwMode="auto">
          <a:xfrm>
            <a:off x="5048250" y="3277572"/>
            <a:ext cx="3662870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2000" i="1" dirty="0">
                <a:latin typeface="Calibri" pitchFamily="34" charset="0"/>
              </a:rPr>
              <a:t>2. Client makes connection request by calling</a:t>
            </a:r>
            <a:r>
              <a:rPr lang="en-US" sz="2000" i="1" dirty="0" smtClean="0">
                <a:latin typeface="Calibri" pitchFamily="34" charset="0"/>
              </a:rPr>
              <a:t> </a:t>
            </a:r>
            <a:r>
              <a:rPr lang="en-US" sz="2000" i="1" dirty="0" smtClean="0">
                <a:latin typeface="Courier New" pitchFamily="49" charset="0"/>
              </a:rPr>
              <a:t>connect</a:t>
            </a:r>
            <a:endParaRPr lang="en-US" sz="2000" i="1" dirty="0">
              <a:latin typeface="Courier New" pitchFamily="49" charset="0"/>
            </a:endParaRPr>
          </a:p>
        </p:txBody>
      </p:sp>
      <p:sp>
        <p:nvSpPr>
          <p:cNvPr id="740377" name="Text Box 25"/>
          <p:cNvSpPr txBox="1">
            <a:spLocks noChangeArrowheads="1"/>
          </p:cNvSpPr>
          <p:nvPr/>
        </p:nvSpPr>
        <p:spPr bwMode="auto">
          <a:xfrm>
            <a:off x="1358514" y="2990850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sp>
        <p:nvSpPr>
          <p:cNvPr id="740371" name="Text Box 19"/>
          <p:cNvSpPr txBox="1">
            <a:spLocks noChangeArrowheads="1"/>
          </p:cNvSpPr>
          <p:nvPr/>
        </p:nvSpPr>
        <p:spPr bwMode="auto">
          <a:xfrm>
            <a:off x="2954338" y="4572000"/>
            <a:ext cx="15287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ourier New" pitchFamily="49" charset="0"/>
              </a:rPr>
              <a:t>listenfd</a:t>
            </a:r>
            <a:r>
              <a:rPr lang="en-US" sz="1600" dirty="0">
                <a:latin typeface="Courier New" pitchFamily="49" charset="0"/>
              </a:rPr>
              <a:t>(3)</a:t>
            </a:r>
          </a:p>
        </p:txBody>
      </p:sp>
      <p:sp>
        <p:nvSpPr>
          <p:cNvPr id="740373" name="Rectangle 21"/>
          <p:cNvSpPr>
            <a:spLocks noChangeArrowheads="1"/>
          </p:cNvSpPr>
          <p:nvPr/>
        </p:nvSpPr>
        <p:spPr bwMode="auto">
          <a:xfrm>
            <a:off x="457200" y="5762625"/>
            <a:ext cx="1058863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Client</a:t>
            </a:r>
          </a:p>
        </p:txBody>
      </p:sp>
      <p:sp>
        <p:nvSpPr>
          <p:cNvPr id="740374" name="Text Box 22"/>
          <p:cNvSpPr txBox="1">
            <a:spLocks noChangeArrowheads="1"/>
          </p:cNvSpPr>
          <p:nvPr/>
        </p:nvSpPr>
        <p:spPr bwMode="auto">
          <a:xfrm>
            <a:off x="990600" y="6292850"/>
            <a:ext cx="11620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clientfd</a:t>
            </a:r>
          </a:p>
        </p:txBody>
      </p:sp>
      <p:sp>
        <p:nvSpPr>
          <p:cNvPr id="740375" name="Rectangle 23"/>
          <p:cNvSpPr>
            <a:spLocks noChangeArrowheads="1"/>
          </p:cNvSpPr>
          <p:nvPr/>
        </p:nvSpPr>
        <p:spPr bwMode="auto">
          <a:xfrm>
            <a:off x="3436938" y="4908550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>
                <a:latin typeface="Calibri" pitchFamily="34" charset="0"/>
              </a:rPr>
              <a:t>Server</a:t>
            </a:r>
          </a:p>
        </p:txBody>
      </p:sp>
      <p:sp>
        <p:nvSpPr>
          <p:cNvPr id="740376" name="Text Box 24"/>
          <p:cNvSpPr txBox="1">
            <a:spLocks noChangeArrowheads="1"/>
          </p:cNvSpPr>
          <p:nvPr/>
        </p:nvSpPr>
        <p:spPr bwMode="auto">
          <a:xfrm>
            <a:off x="5057775" y="4693584"/>
            <a:ext cx="4010025" cy="163121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000" i="1" dirty="0">
                <a:latin typeface="Calibri" pitchFamily="34" charset="0"/>
              </a:rPr>
              <a:t>3. Server returns </a:t>
            </a:r>
            <a:r>
              <a:rPr lang="en-US" sz="2000" i="1" dirty="0" err="1">
                <a:latin typeface="Courier New" pitchFamily="49" charset="0"/>
              </a:rPr>
              <a:t>connfd</a:t>
            </a:r>
            <a:r>
              <a:rPr lang="en-US" sz="2000" i="1" dirty="0">
                <a:latin typeface="Calibri" pitchFamily="34" charset="0"/>
              </a:rPr>
              <a:t> </a:t>
            </a:r>
            <a:r>
              <a:rPr lang="en-US" sz="2000" i="1" dirty="0" smtClean="0">
                <a:latin typeface="Calibri" pitchFamily="34" charset="0"/>
              </a:rPr>
              <a:t> from </a:t>
            </a:r>
            <a:r>
              <a:rPr lang="en-US" sz="2000" i="1" dirty="0">
                <a:latin typeface="Courier New" pitchFamily="49" charset="0"/>
              </a:rPr>
              <a:t>accept</a:t>
            </a:r>
            <a:r>
              <a:rPr lang="en-US" sz="2000" i="1" dirty="0">
                <a:latin typeface="Calibri" pitchFamily="34" charset="0"/>
              </a:rPr>
              <a:t>. </a:t>
            </a:r>
            <a:r>
              <a:rPr lang="en-US" sz="2000" i="1" dirty="0" smtClean="0">
                <a:latin typeface="Calibri" pitchFamily="34" charset="0"/>
              </a:rPr>
              <a:t>Forks child to handle client.  Connection </a:t>
            </a:r>
            <a:r>
              <a:rPr lang="en-US" sz="2000" i="1" dirty="0">
                <a:latin typeface="Calibri" pitchFamily="34" charset="0"/>
              </a:rPr>
              <a:t>is now established between </a:t>
            </a:r>
            <a:r>
              <a:rPr lang="en-US" sz="2000" i="1" dirty="0" err="1">
                <a:latin typeface="Courier New" pitchFamily="49" charset="0"/>
              </a:rPr>
              <a:t>clientfd</a:t>
            </a:r>
            <a:r>
              <a:rPr lang="en-US" sz="2000" i="1" dirty="0">
                <a:latin typeface="Calibri" pitchFamily="34" charset="0"/>
              </a:rPr>
              <a:t> and </a:t>
            </a:r>
            <a:r>
              <a:rPr lang="en-US" sz="2000" i="1" dirty="0" err="1" smtClean="0">
                <a:latin typeface="Courier New" pitchFamily="49" charset="0"/>
              </a:rPr>
              <a:t>connfd</a:t>
            </a:r>
            <a:endParaRPr lang="en-US" sz="2000" i="1" dirty="0">
              <a:latin typeface="Calibri" pitchFamily="34" charset="0"/>
            </a:endParaRPr>
          </a:p>
        </p:txBody>
      </p:sp>
      <p:sp>
        <p:nvSpPr>
          <p:cNvPr id="740380" name="Line 28"/>
          <p:cNvSpPr>
            <a:spLocks noChangeShapeType="1"/>
          </p:cNvSpPr>
          <p:nvPr/>
        </p:nvSpPr>
        <p:spPr bwMode="auto">
          <a:xfrm>
            <a:off x="1651000" y="6210299"/>
            <a:ext cx="109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57" name="Oval 5"/>
          <p:cNvSpPr>
            <a:spLocks noChangeAspect="1" noChangeArrowheads="1"/>
          </p:cNvSpPr>
          <p:nvPr/>
        </p:nvSpPr>
        <p:spPr bwMode="auto">
          <a:xfrm>
            <a:off x="1459285" y="1952625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64" name="Oval 12"/>
          <p:cNvSpPr>
            <a:spLocks noChangeAspect="1" noChangeArrowheads="1"/>
          </p:cNvSpPr>
          <p:nvPr/>
        </p:nvSpPr>
        <p:spPr bwMode="auto">
          <a:xfrm>
            <a:off x="1459285" y="3821113"/>
            <a:ext cx="128588" cy="128587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72" name="Oval 20"/>
          <p:cNvSpPr>
            <a:spLocks noChangeAspect="1" noChangeArrowheads="1"/>
          </p:cNvSpPr>
          <p:nvPr/>
        </p:nvSpPr>
        <p:spPr bwMode="auto">
          <a:xfrm>
            <a:off x="1459285" y="6138862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740355" name="Oval 3"/>
          <p:cNvSpPr>
            <a:spLocks noChangeAspect="1" noChangeArrowheads="1"/>
          </p:cNvSpPr>
          <p:nvPr/>
        </p:nvSpPr>
        <p:spPr bwMode="auto">
          <a:xfrm>
            <a:off x="3388805" y="1635125"/>
            <a:ext cx="128587" cy="128588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62" name="Oval 10"/>
          <p:cNvSpPr>
            <a:spLocks noChangeAspect="1" noChangeArrowheads="1"/>
          </p:cNvSpPr>
          <p:nvPr/>
        </p:nvSpPr>
        <p:spPr bwMode="auto">
          <a:xfrm>
            <a:off x="3388805" y="3503613"/>
            <a:ext cx="128587" cy="128587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0370" name="Oval 18"/>
          <p:cNvSpPr>
            <a:spLocks noChangeAspect="1" noChangeArrowheads="1"/>
          </p:cNvSpPr>
          <p:nvPr/>
        </p:nvSpPr>
        <p:spPr bwMode="auto">
          <a:xfrm>
            <a:off x="3388805" y="4967287"/>
            <a:ext cx="128587" cy="128588"/>
          </a:xfrm>
          <a:prstGeom prst="ellipse">
            <a:avLst/>
          </a:prstGeom>
          <a:solidFill>
            <a:schemeClr val="tx1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2960688" y="5749925"/>
            <a:ext cx="1058862" cy="58102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6" rIns="91430" bIns="45716" anchor="ctr"/>
          <a:lstStyle/>
          <a:p>
            <a:pPr algn="ctr" defTabSz="912813"/>
            <a:r>
              <a:rPr lang="en-US" sz="1600" dirty="0" smtClean="0">
                <a:latin typeface="Calibri" pitchFamily="34" charset="0"/>
              </a:rPr>
              <a:t>Server</a:t>
            </a:r>
          </a:p>
          <a:p>
            <a:pPr algn="ctr" defTabSz="912813"/>
            <a:r>
              <a:rPr lang="en-US" sz="1600" dirty="0" smtClean="0">
                <a:latin typeface="Calibri" pitchFamily="34" charset="0"/>
              </a:rPr>
              <a:t>Child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30" name="Oval 26"/>
          <p:cNvSpPr>
            <a:spLocks noChangeAspect="1" noChangeArrowheads="1"/>
          </p:cNvSpPr>
          <p:nvPr/>
        </p:nvSpPr>
        <p:spPr bwMode="auto">
          <a:xfrm>
            <a:off x="2912554" y="6138862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Calibri" pitchFamily="34" charset="0"/>
            </a:endParaRP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2590800" y="6292850"/>
            <a:ext cx="128428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Courier New" pitchFamily="49" charset="0"/>
              </a:rPr>
              <a:t>connfd(4)</a:t>
            </a:r>
          </a:p>
        </p:txBody>
      </p:sp>
    </p:spTree>
    <p:extLst>
      <p:ext uri="{BB962C8B-B14F-4D97-AF65-F5344CB8AC3E}">
        <p14:creationId xmlns:p14="http://schemas.microsoft.com/office/powerpoint/2010/main" val="293375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56" grpId="0"/>
      <p:bldP spid="740358" grpId="0" animBg="1"/>
      <p:bldP spid="740359" grpId="0"/>
      <p:bldP spid="740360" grpId="0"/>
      <p:bldP spid="740361" grpId="0" animBg="1"/>
      <p:bldP spid="740363" grpId="0"/>
      <p:bldP spid="740365" grpId="0" animBg="1"/>
      <p:bldP spid="740366" grpId="0"/>
      <p:bldP spid="740367" grpId="0" animBg="1"/>
      <p:bldP spid="740368" grpId="0" animBg="1"/>
      <p:bldP spid="740369" grpId="0"/>
      <p:bldP spid="740377" grpId="0"/>
      <p:bldP spid="740371" grpId="0"/>
      <p:bldP spid="740373" grpId="0" animBg="1"/>
      <p:bldP spid="740374" grpId="0"/>
      <p:bldP spid="740375" grpId="0" animBg="1"/>
      <p:bldP spid="740376" grpId="0"/>
      <p:bldP spid="740380" grpId="0" animBg="1"/>
      <p:bldP spid="740357" grpId="0" animBg="1"/>
      <p:bldP spid="740364" grpId="0" animBg="1"/>
      <p:bldP spid="740372" grpId="0" animBg="1"/>
      <p:bldP spid="740355" grpId="0" animBg="1"/>
      <p:bldP spid="740362" grpId="0" animBg="1"/>
      <p:bldP spid="740370" grpId="0" animBg="1"/>
      <p:bldP spid="29" grpId="0" animBg="1"/>
      <p:bldP spid="30" grpId="0" animBg="1"/>
      <p:bldP spid="3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81" name="Text Box 13"/>
          <p:cNvSpPr txBox="1">
            <a:spLocks noChangeArrowheads="1"/>
          </p:cNvSpPr>
          <p:nvPr/>
        </p:nvSpPr>
        <p:spPr bwMode="auto">
          <a:xfrm flipH="1">
            <a:off x="5787393" y="2933700"/>
            <a:ext cx="15278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dirty="0">
                <a:latin typeface="+mn-lt"/>
              </a:rPr>
              <a:t>Client 2 data</a:t>
            </a:r>
          </a:p>
        </p:txBody>
      </p:sp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Process-based Server Execution </a:t>
            </a:r>
            <a:r>
              <a:rPr lang="en-US" dirty="0"/>
              <a:t>Model</a:t>
            </a:r>
          </a:p>
        </p:txBody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267200"/>
            <a:ext cx="8307387" cy="2025650"/>
          </a:xfrm>
        </p:spPr>
        <p:txBody>
          <a:bodyPr/>
          <a:lstStyle/>
          <a:p>
            <a:pPr lvl="1"/>
            <a:r>
              <a:rPr lang="en-US" sz="2600" dirty="0"/>
              <a:t>Each client handled by independent </a:t>
            </a:r>
            <a:r>
              <a:rPr lang="en-US" sz="2600" dirty="0" smtClean="0"/>
              <a:t>child process</a:t>
            </a:r>
            <a:endParaRPr lang="en-US" sz="2600" dirty="0"/>
          </a:p>
          <a:p>
            <a:pPr lvl="1"/>
            <a:r>
              <a:rPr lang="en-US" sz="2600" dirty="0"/>
              <a:t>No shared state between them</a:t>
            </a:r>
          </a:p>
          <a:p>
            <a:pPr lvl="1"/>
            <a:r>
              <a:rPr lang="en-US" sz="2600" dirty="0" smtClean="0"/>
              <a:t>Both parent &amp; child </a:t>
            </a:r>
            <a:r>
              <a:rPr lang="en-US" sz="2600" dirty="0"/>
              <a:t>have copies of </a:t>
            </a:r>
            <a:r>
              <a:rPr lang="en-US" sz="2600" dirty="0" err="1"/>
              <a:t>listenfd</a:t>
            </a:r>
            <a:r>
              <a:rPr lang="en-US" sz="2600" dirty="0"/>
              <a:t> and </a:t>
            </a:r>
            <a:r>
              <a:rPr lang="en-US" sz="2600" dirty="0" err="1"/>
              <a:t>connfd</a:t>
            </a:r>
            <a:endParaRPr lang="en-US" sz="2600" dirty="0"/>
          </a:p>
          <a:p>
            <a:pPr lvl="2"/>
            <a:r>
              <a:rPr lang="en-US" sz="2200" dirty="0"/>
              <a:t>Parent must close </a:t>
            </a:r>
            <a:r>
              <a:rPr lang="en-US" sz="2200" dirty="0" err="1" smtClean="0">
                <a:latin typeface="Courier New"/>
                <a:cs typeface="Courier New"/>
              </a:rPr>
              <a:t>connfd</a:t>
            </a:r>
            <a:endParaRPr lang="en-US" sz="2200" dirty="0" smtClean="0">
              <a:latin typeface="Courier New"/>
              <a:cs typeface="Courier New"/>
            </a:endParaRPr>
          </a:p>
          <a:p>
            <a:pPr lvl="2"/>
            <a:r>
              <a:rPr lang="en-US" sz="2200" dirty="0" smtClean="0"/>
              <a:t>Child should </a:t>
            </a:r>
            <a:r>
              <a:rPr lang="en-US" sz="2200" dirty="0"/>
              <a:t>close </a:t>
            </a:r>
            <a:r>
              <a:rPr lang="en-US" sz="2200" dirty="0" err="1" smtClean="0">
                <a:latin typeface="Courier New"/>
                <a:cs typeface="Courier New"/>
              </a:rPr>
              <a:t>listenfd</a:t>
            </a:r>
            <a:r>
              <a:rPr lang="en-US" sz="2200" dirty="0" smtClean="0">
                <a:latin typeface="Courier New"/>
                <a:cs typeface="Courier New"/>
              </a:rPr>
              <a:t> </a:t>
            </a:r>
            <a:endParaRPr lang="en-US" sz="2200" dirty="0">
              <a:latin typeface="Courier New"/>
              <a:cs typeface="Courier New"/>
            </a:endParaRPr>
          </a:p>
        </p:txBody>
      </p:sp>
      <p:sp>
        <p:nvSpPr>
          <p:cNvPr id="903172" name="Rectangle 4"/>
          <p:cNvSpPr>
            <a:spLocks noChangeArrowheads="1"/>
          </p:cNvSpPr>
          <p:nvPr/>
        </p:nvSpPr>
        <p:spPr bwMode="auto">
          <a:xfrm>
            <a:off x="1828800" y="2705100"/>
            <a:ext cx="1114425" cy="1249363"/>
          </a:xfrm>
          <a:prstGeom prst="rect">
            <a:avLst/>
          </a:prstGeom>
          <a:solidFill>
            <a:srgbClr val="D5F1CF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Client 1</a:t>
            </a:r>
          </a:p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erver</a:t>
            </a:r>
            <a:endParaRPr lang="en-US" sz="1800" dirty="0">
              <a:latin typeface="+mn-lt"/>
            </a:endParaRPr>
          </a:p>
          <a:p>
            <a:pPr algn="ctr"/>
            <a:r>
              <a:rPr lang="en-US" sz="1800" dirty="0">
                <a:latin typeface="+mn-lt"/>
              </a:rPr>
              <a:t>p</a:t>
            </a:r>
            <a:r>
              <a:rPr lang="en-US" sz="1800" dirty="0" smtClean="0">
                <a:latin typeface="+mn-lt"/>
              </a:rPr>
              <a:t>rocess</a:t>
            </a:r>
            <a:endParaRPr lang="en-US" sz="1800" dirty="0">
              <a:latin typeface="+mn-lt"/>
            </a:endParaRPr>
          </a:p>
        </p:txBody>
      </p:sp>
      <p:sp>
        <p:nvSpPr>
          <p:cNvPr id="903173" name="Rectangle 5"/>
          <p:cNvSpPr>
            <a:spLocks noChangeArrowheads="1"/>
          </p:cNvSpPr>
          <p:nvPr/>
        </p:nvSpPr>
        <p:spPr bwMode="auto">
          <a:xfrm>
            <a:off x="4648200" y="2705100"/>
            <a:ext cx="1114425" cy="1249363"/>
          </a:xfrm>
          <a:prstGeom prst="rect">
            <a:avLst/>
          </a:prstGeom>
          <a:solidFill>
            <a:srgbClr val="D5F1CF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Client 2</a:t>
            </a:r>
          </a:p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erver</a:t>
            </a:r>
            <a:endParaRPr lang="en-US" sz="1800" dirty="0">
              <a:latin typeface="+mn-lt"/>
            </a:endParaRPr>
          </a:p>
          <a:p>
            <a:pPr algn="ctr"/>
            <a:r>
              <a:rPr lang="en-US" sz="1800" dirty="0">
                <a:latin typeface="+mn-lt"/>
              </a:rPr>
              <a:t>p</a:t>
            </a:r>
            <a:r>
              <a:rPr lang="en-US" sz="1800" dirty="0" smtClean="0">
                <a:latin typeface="+mn-lt"/>
              </a:rPr>
              <a:t>rocess</a:t>
            </a:r>
            <a:endParaRPr lang="en-US" sz="1800" dirty="0">
              <a:latin typeface="+mn-lt"/>
            </a:endParaRPr>
          </a:p>
        </p:txBody>
      </p:sp>
      <p:sp>
        <p:nvSpPr>
          <p:cNvPr id="903174" name="Rectangle 6"/>
          <p:cNvSpPr>
            <a:spLocks noChangeArrowheads="1"/>
          </p:cNvSpPr>
          <p:nvPr/>
        </p:nvSpPr>
        <p:spPr bwMode="auto">
          <a:xfrm>
            <a:off x="3124200" y="1828800"/>
            <a:ext cx="1295400" cy="1249363"/>
          </a:xfrm>
          <a:prstGeom prst="rect">
            <a:avLst/>
          </a:prstGeom>
          <a:solidFill>
            <a:srgbClr val="F1C7C7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Listening</a:t>
            </a:r>
          </a:p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erver</a:t>
            </a:r>
            <a:endParaRPr lang="en-US" sz="1800" dirty="0">
              <a:latin typeface="+mn-lt"/>
            </a:endParaRPr>
          </a:p>
          <a:p>
            <a:pPr algn="ctr"/>
            <a:r>
              <a:rPr lang="en-US" sz="1800" dirty="0">
                <a:latin typeface="+mn-lt"/>
              </a:rPr>
              <a:t>p</a:t>
            </a:r>
            <a:r>
              <a:rPr lang="en-US" sz="1800" dirty="0" smtClean="0">
                <a:latin typeface="+mn-lt"/>
              </a:rPr>
              <a:t>rocess</a:t>
            </a:r>
            <a:endParaRPr lang="en-US" sz="1800" dirty="0">
              <a:latin typeface="+mn-lt"/>
            </a:endParaRPr>
          </a:p>
        </p:txBody>
      </p:sp>
      <p:sp>
        <p:nvSpPr>
          <p:cNvPr id="903175" name="Line 7"/>
          <p:cNvSpPr>
            <a:spLocks noChangeShapeType="1"/>
          </p:cNvSpPr>
          <p:nvPr/>
        </p:nvSpPr>
        <p:spPr bwMode="auto">
          <a:xfrm>
            <a:off x="914400" y="1981200"/>
            <a:ext cx="2209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903177" name="Text Box 9"/>
          <p:cNvSpPr txBox="1">
            <a:spLocks noChangeArrowheads="1"/>
          </p:cNvSpPr>
          <p:nvPr/>
        </p:nvSpPr>
        <p:spPr bwMode="auto">
          <a:xfrm>
            <a:off x="730752" y="1600200"/>
            <a:ext cx="237757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dirty="0">
                <a:latin typeface="+mn-lt"/>
              </a:rPr>
              <a:t>Connection </a:t>
            </a:r>
            <a:r>
              <a:rPr lang="en-US" sz="2000" dirty="0" smtClean="0">
                <a:latin typeface="+mn-lt"/>
              </a:rPr>
              <a:t>requests</a:t>
            </a:r>
            <a:endParaRPr lang="en-US" sz="2000" dirty="0">
              <a:latin typeface="+mn-lt"/>
            </a:endParaRPr>
          </a:p>
        </p:txBody>
      </p:sp>
      <p:sp>
        <p:nvSpPr>
          <p:cNvPr id="903178" name="Line 10"/>
          <p:cNvSpPr>
            <a:spLocks noChangeShapeType="1"/>
          </p:cNvSpPr>
          <p:nvPr/>
        </p:nvSpPr>
        <p:spPr bwMode="auto">
          <a:xfrm>
            <a:off x="419100" y="3352800"/>
            <a:ext cx="1371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lg" len="med"/>
            <a:tailEnd type="triangle" w="lg" len="med"/>
          </a:ln>
          <a:effectLst/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903179" name="Text Box 11"/>
          <p:cNvSpPr txBox="1">
            <a:spLocks noChangeArrowheads="1"/>
          </p:cNvSpPr>
          <p:nvPr/>
        </p:nvSpPr>
        <p:spPr bwMode="auto">
          <a:xfrm>
            <a:off x="247019" y="2933700"/>
            <a:ext cx="15278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dirty="0">
                <a:latin typeface="+mn-lt"/>
              </a:rPr>
              <a:t>Client 1 data</a:t>
            </a:r>
          </a:p>
        </p:txBody>
      </p:sp>
      <p:sp>
        <p:nvSpPr>
          <p:cNvPr id="903180" name="Line 12"/>
          <p:cNvSpPr>
            <a:spLocks noChangeShapeType="1"/>
          </p:cNvSpPr>
          <p:nvPr/>
        </p:nvSpPr>
        <p:spPr bwMode="auto">
          <a:xfrm flipH="1">
            <a:off x="5753100" y="3352800"/>
            <a:ext cx="1371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lg" len="med"/>
            <a:tailEnd type="triangle" w="lg" len="med"/>
          </a:ln>
          <a:effectLst/>
        </p:spPr>
        <p:txBody>
          <a:bodyPr anchor="ctr">
            <a:spAutoFit/>
          </a:bodyPr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11266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7323138" cy="1095375"/>
          </a:xfrm>
        </p:spPr>
        <p:txBody>
          <a:bodyPr/>
          <a:lstStyle/>
          <a:p>
            <a:r>
              <a:rPr lang="en-US" dirty="0" smtClean="0"/>
              <a:t>Issues with Process-based Servers</a:t>
            </a:r>
            <a:endParaRPr lang="en-US" dirty="0"/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2667000"/>
          </a:xfrm>
        </p:spPr>
        <p:txBody>
          <a:bodyPr/>
          <a:lstStyle/>
          <a:p>
            <a:r>
              <a:rPr lang="en-US" sz="2600" dirty="0"/>
              <a:t>Listening server process must reap zombie children</a:t>
            </a:r>
          </a:p>
          <a:p>
            <a:pPr lvl="1"/>
            <a:r>
              <a:rPr lang="en-US" sz="2200" dirty="0"/>
              <a:t>to avoid fatal memory leak</a:t>
            </a:r>
          </a:p>
          <a:p>
            <a:r>
              <a:rPr lang="en-US" sz="2600" dirty="0" smtClean="0"/>
              <a:t>Parent process </a:t>
            </a:r>
            <a:r>
              <a:rPr lang="en-US" sz="2600" dirty="0"/>
              <a:t>must </a:t>
            </a:r>
            <a:r>
              <a:rPr lang="en-US" sz="2600" dirty="0">
                <a:latin typeface="Courier New" pitchFamily="49" charset="0"/>
              </a:rPr>
              <a:t>close</a:t>
            </a:r>
            <a:r>
              <a:rPr lang="en-US" sz="2600" dirty="0"/>
              <a:t> its copy of </a:t>
            </a:r>
            <a:r>
              <a:rPr lang="en-US" sz="2600" dirty="0" err="1">
                <a:latin typeface="Courier New" pitchFamily="49" charset="0"/>
              </a:rPr>
              <a:t>connfd</a:t>
            </a:r>
            <a:endParaRPr lang="en-US" sz="2600" dirty="0"/>
          </a:p>
          <a:p>
            <a:pPr lvl="1"/>
            <a:r>
              <a:rPr lang="en-US" sz="2200" dirty="0"/>
              <a:t>Kernel keeps </a:t>
            </a:r>
            <a:r>
              <a:rPr lang="en-US" sz="2200" dirty="0" smtClean="0"/>
              <a:t>reference count </a:t>
            </a:r>
            <a:r>
              <a:rPr lang="en-US" sz="2200" dirty="0"/>
              <a:t>for each socket/open file</a:t>
            </a:r>
          </a:p>
          <a:p>
            <a:pPr lvl="1"/>
            <a:r>
              <a:rPr lang="en-US" sz="2200" dirty="0"/>
              <a:t>After fork, </a:t>
            </a:r>
            <a:r>
              <a:rPr lang="en-US" sz="2200" dirty="0" err="1">
                <a:latin typeface="Courier New" pitchFamily="49" charset="0"/>
              </a:rPr>
              <a:t>refcnt(connfd</a:t>
            </a:r>
            <a:r>
              <a:rPr lang="en-US" sz="2200" dirty="0">
                <a:latin typeface="Courier New" pitchFamily="49" charset="0"/>
              </a:rPr>
              <a:t>) = 2</a:t>
            </a:r>
            <a:endParaRPr lang="en-US" sz="2200" dirty="0"/>
          </a:p>
          <a:p>
            <a:pPr lvl="1"/>
            <a:r>
              <a:rPr lang="en-US" sz="2200" dirty="0"/>
              <a:t>Connection will not be closed until </a:t>
            </a:r>
            <a:r>
              <a:rPr lang="en-US" sz="2200" dirty="0" err="1">
                <a:latin typeface="Courier New" pitchFamily="49" charset="0"/>
              </a:rPr>
              <a:t>refcnt</a:t>
            </a:r>
            <a:r>
              <a:rPr lang="en-US" sz="2200" dirty="0">
                <a:latin typeface="Courier New" pitchFamily="49" charset="0"/>
              </a:rPr>
              <a:t>(</a:t>
            </a:r>
            <a:r>
              <a:rPr lang="en-US" sz="2200" dirty="0" err="1">
                <a:latin typeface="Courier New" pitchFamily="49" charset="0"/>
              </a:rPr>
              <a:t>connfd</a:t>
            </a:r>
            <a:r>
              <a:rPr lang="en-US" sz="2200" dirty="0">
                <a:latin typeface="Courier New" pitchFamily="49" charset="0"/>
              </a:rPr>
              <a:t>) </a:t>
            </a:r>
            <a:r>
              <a:rPr lang="en-US" sz="2200" dirty="0" smtClean="0">
                <a:latin typeface="Courier New" pitchFamily="49" charset="0"/>
              </a:rPr>
              <a:t>= </a:t>
            </a:r>
            <a:r>
              <a:rPr lang="en-US" sz="2200" dirty="0">
                <a:latin typeface="Courier New" pitchFamily="49" charset="0"/>
              </a:rPr>
              <a:t>0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9293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71488" y="357188"/>
            <a:ext cx="8629650" cy="1041400"/>
          </a:xfrm>
        </p:spPr>
        <p:txBody>
          <a:bodyPr/>
          <a:lstStyle/>
          <a:p>
            <a:r>
              <a:rPr lang="en-US" dirty="0"/>
              <a:t>Pros and Cons of Process</a:t>
            </a:r>
            <a:r>
              <a:rPr lang="en-US" dirty="0" smtClean="0"/>
              <a:t>-based Servers</a:t>
            </a:r>
            <a:endParaRPr lang="en-US" dirty="0"/>
          </a:p>
        </p:txBody>
      </p:sp>
      <p:sp>
        <p:nvSpPr>
          <p:cNvPr id="80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752599"/>
            <a:ext cx="8737600" cy="4908551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sz="2600" dirty="0"/>
              <a:t>+ Handle multiple connections concurrently</a:t>
            </a:r>
          </a:p>
          <a:p>
            <a:pPr>
              <a:lnSpc>
                <a:spcPct val="85000"/>
              </a:lnSpc>
            </a:pPr>
            <a:r>
              <a:rPr lang="en-US" sz="2600" dirty="0"/>
              <a:t>+ Clean sharing model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descriptors (no)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file tables (yes)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global variables (no)</a:t>
            </a:r>
          </a:p>
          <a:p>
            <a:pPr>
              <a:lnSpc>
                <a:spcPct val="85000"/>
              </a:lnSpc>
            </a:pPr>
            <a:r>
              <a:rPr lang="en-US" sz="2600" dirty="0"/>
              <a:t>+ Simple and straightforward</a:t>
            </a:r>
          </a:p>
          <a:p>
            <a:pPr>
              <a:lnSpc>
                <a:spcPct val="85000"/>
              </a:lnSpc>
            </a:pPr>
            <a:r>
              <a:rPr lang="en-US" sz="2600" dirty="0" smtClean="0">
                <a:latin typeface="Arial Black"/>
              </a:rPr>
              <a:t>–</a:t>
            </a:r>
            <a:r>
              <a:rPr lang="en-US" sz="2600" dirty="0" smtClean="0"/>
              <a:t> </a:t>
            </a:r>
            <a:r>
              <a:rPr lang="en-US" sz="2600" dirty="0"/>
              <a:t>Additional overhead for process control</a:t>
            </a:r>
          </a:p>
          <a:p>
            <a:pPr>
              <a:lnSpc>
                <a:spcPct val="85000"/>
              </a:lnSpc>
            </a:pPr>
            <a:r>
              <a:rPr lang="en-US" sz="2600" dirty="0" smtClean="0">
                <a:latin typeface="Arial Black"/>
              </a:rPr>
              <a:t>–</a:t>
            </a:r>
            <a:r>
              <a:rPr lang="en-US" sz="2600" dirty="0" smtClean="0"/>
              <a:t> </a:t>
            </a:r>
            <a:r>
              <a:rPr lang="en-US" sz="2600" dirty="0"/>
              <a:t>Nontrivial to share data between </a:t>
            </a:r>
            <a:r>
              <a:rPr lang="en-US" sz="2600" dirty="0" smtClean="0"/>
              <a:t>processes</a:t>
            </a:r>
          </a:p>
          <a:p>
            <a:pPr lvl="1">
              <a:lnSpc>
                <a:spcPct val="85000"/>
              </a:lnSpc>
            </a:pPr>
            <a:r>
              <a:rPr lang="en-US" sz="2200" dirty="0" smtClean="0"/>
              <a:t>(This example too simple to demonstrate)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7470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7767638" cy="573087"/>
          </a:xfrm>
        </p:spPr>
        <p:txBody>
          <a:bodyPr/>
          <a:lstStyle/>
          <a:p>
            <a:r>
              <a:rPr lang="en-US" dirty="0" smtClean="0"/>
              <a:t>Approach #2: Event-based Servers</a:t>
            </a:r>
            <a:endParaRPr lang="en-US" dirty="0"/>
          </a:p>
        </p:txBody>
      </p:sp>
      <p:sp>
        <p:nvSpPr>
          <p:cNvPr id="82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554163"/>
            <a:ext cx="8307387" cy="4686300"/>
          </a:xfrm>
        </p:spPr>
        <p:txBody>
          <a:bodyPr/>
          <a:lstStyle/>
          <a:p>
            <a:r>
              <a:rPr lang="en-US" dirty="0" smtClean="0"/>
              <a:t>Server maintains set of active connections</a:t>
            </a:r>
          </a:p>
          <a:p>
            <a:pPr lvl="1"/>
            <a:r>
              <a:rPr lang="en-US" dirty="0" smtClean="0"/>
              <a:t>Array of </a:t>
            </a:r>
            <a:r>
              <a:rPr lang="en-US" dirty="0" err="1" smtClean="0"/>
              <a:t>connfd’s</a:t>
            </a:r>
            <a:endParaRPr lang="en-US" dirty="0" smtClean="0"/>
          </a:p>
          <a:p>
            <a:r>
              <a:rPr lang="en-US" dirty="0" smtClean="0"/>
              <a:t>Repeat:</a:t>
            </a:r>
          </a:p>
          <a:p>
            <a:pPr lvl="1"/>
            <a:r>
              <a:rPr lang="en-US" dirty="0" smtClean="0"/>
              <a:t>Determine which descriptors (</a:t>
            </a:r>
            <a:r>
              <a:rPr lang="en-US" dirty="0" err="1" smtClean="0"/>
              <a:t>connfd’s</a:t>
            </a:r>
            <a:r>
              <a:rPr lang="en-US" dirty="0" smtClean="0"/>
              <a:t> or </a:t>
            </a:r>
            <a:r>
              <a:rPr lang="en-US" dirty="0" err="1" smtClean="0"/>
              <a:t>listenfd</a:t>
            </a:r>
            <a:r>
              <a:rPr lang="en-US" dirty="0" smtClean="0"/>
              <a:t>) have pending inputs</a:t>
            </a:r>
          </a:p>
          <a:p>
            <a:pPr lvl="2"/>
            <a:r>
              <a:rPr lang="en-US" dirty="0" smtClean="0"/>
              <a:t>e.g., using </a:t>
            </a:r>
            <a:r>
              <a:rPr lang="en-US" dirty="0" smtClean="0">
                <a:latin typeface="Courier New"/>
                <a:cs typeface="Courier New"/>
              </a:rPr>
              <a:t>select</a:t>
            </a:r>
            <a:r>
              <a:rPr lang="en-US" dirty="0" smtClean="0"/>
              <a:t> function</a:t>
            </a:r>
          </a:p>
          <a:p>
            <a:pPr lvl="2"/>
            <a:r>
              <a:rPr lang="en-US" dirty="0" smtClean="0"/>
              <a:t>arrival of pending input is an </a:t>
            </a:r>
            <a:r>
              <a:rPr lang="en-US" i="1" dirty="0" smtClean="0"/>
              <a:t>event</a:t>
            </a:r>
          </a:p>
          <a:p>
            <a:pPr lvl="1"/>
            <a:r>
              <a:rPr lang="en-US" dirty="0" smtClean="0"/>
              <a:t>If  </a:t>
            </a:r>
            <a:r>
              <a:rPr lang="en-US" dirty="0" err="1" smtClean="0"/>
              <a:t>listenfd</a:t>
            </a:r>
            <a:r>
              <a:rPr lang="en-US" dirty="0" smtClean="0"/>
              <a:t> has input, then </a:t>
            </a:r>
            <a:r>
              <a:rPr lang="en-US" dirty="0" smtClean="0">
                <a:latin typeface="Courier New"/>
                <a:cs typeface="Courier New"/>
              </a:rPr>
              <a:t>accept</a:t>
            </a:r>
            <a:r>
              <a:rPr lang="en-US" dirty="0" smtClean="0"/>
              <a:t> connection</a:t>
            </a:r>
          </a:p>
          <a:p>
            <a:pPr lvl="2"/>
            <a:r>
              <a:rPr lang="en-US" dirty="0" smtClean="0"/>
              <a:t>and add new </a:t>
            </a:r>
            <a:r>
              <a:rPr lang="en-US" dirty="0" err="1" smtClean="0"/>
              <a:t>connfd</a:t>
            </a:r>
            <a:r>
              <a:rPr lang="en-US" dirty="0" smtClean="0"/>
              <a:t> to array</a:t>
            </a:r>
          </a:p>
          <a:p>
            <a:pPr lvl="1"/>
            <a:r>
              <a:rPr lang="en-US" dirty="0" smtClean="0"/>
              <a:t>Service all </a:t>
            </a:r>
            <a:r>
              <a:rPr lang="en-US" dirty="0" err="1" smtClean="0"/>
              <a:t>connfd’s</a:t>
            </a:r>
            <a:r>
              <a:rPr lang="en-US" dirty="0" smtClean="0"/>
              <a:t> with pending inputs</a:t>
            </a:r>
          </a:p>
          <a:p>
            <a:endParaRPr lang="en-US" dirty="0" smtClean="0"/>
          </a:p>
          <a:p>
            <a:r>
              <a:rPr lang="en-US" dirty="0" smtClean="0"/>
              <a:t>Details for select-based server in book</a:t>
            </a:r>
          </a:p>
        </p:txBody>
      </p:sp>
    </p:spTree>
    <p:extLst>
      <p:ext uri="{BB962C8B-B14F-4D97-AF65-F5344CB8AC3E}">
        <p14:creationId xmlns:p14="http://schemas.microsoft.com/office/powerpoint/2010/main" val="362065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I/O Multiplexed Event Processing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43000" y="2878693"/>
            <a:ext cx="990600" cy="369332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10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221663" y="2459593"/>
            <a:ext cx="100540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dirty="0" err="1" smtClean="0">
                <a:latin typeface="+mn-lt"/>
              </a:rPr>
              <a:t>connfd’s</a:t>
            </a:r>
            <a:endParaRPr lang="en-US" sz="1800" dirty="0">
              <a:latin typeface="+mn-lt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143000" y="3237468"/>
            <a:ext cx="990600" cy="369332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7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143000" y="3596243"/>
            <a:ext cx="990600" cy="369332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4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143000" y="3955018"/>
            <a:ext cx="99060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-1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143000" y="4313793"/>
            <a:ext cx="99060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-1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143000" y="4672568"/>
            <a:ext cx="990600" cy="369332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12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143000" y="5031343"/>
            <a:ext cx="990600" cy="369332"/>
          </a:xfrm>
          <a:prstGeom prst="rect">
            <a:avLst/>
          </a:prstGeom>
          <a:solidFill>
            <a:srgbClr val="F1C7C7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5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143000" y="5390118"/>
            <a:ext cx="99060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-1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143000" y="5748893"/>
            <a:ext cx="99060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-1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143000" y="6107668"/>
            <a:ext cx="99060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-1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76200" y="2870756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0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76200" y="3221593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1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76200" y="3572431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2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76200" y="3923268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3</a:t>
            </a: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76200" y="4274106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4</a:t>
            </a: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76200" y="4624943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5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76200" y="4975781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6</a:t>
            </a: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76200" y="5326618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7</a:t>
            </a: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76200" y="5677456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8</a:t>
            </a: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76200" y="6028293"/>
            <a:ext cx="9906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/>
            <a:r>
              <a:rPr lang="en-US" sz="1800">
                <a:latin typeface="+mn-lt"/>
              </a:rPr>
              <a:t>9</a:t>
            </a:r>
          </a:p>
        </p:txBody>
      </p:sp>
      <p:sp>
        <p:nvSpPr>
          <p:cNvPr id="27" name="AutoShape 27"/>
          <p:cNvSpPr>
            <a:spLocks/>
          </p:cNvSpPr>
          <p:nvPr/>
        </p:nvSpPr>
        <p:spPr bwMode="auto">
          <a:xfrm>
            <a:off x="2286000" y="2916791"/>
            <a:ext cx="228600" cy="990601"/>
          </a:xfrm>
          <a:prstGeom prst="rightBrace">
            <a:avLst>
              <a:gd name="adj1" fmla="val 54167"/>
              <a:gd name="adj2" fmla="val 50000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 sz="1800">
              <a:latin typeface="+mn-lt"/>
            </a:endParaRPr>
          </a:p>
        </p:txBody>
      </p:sp>
      <p:sp>
        <p:nvSpPr>
          <p:cNvPr id="28" name="AutoShape 28"/>
          <p:cNvSpPr>
            <a:spLocks/>
          </p:cNvSpPr>
          <p:nvPr/>
        </p:nvSpPr>
        <p:spPr bwMode="auto">
          <a:xfrm>
            <a:off x="2286000" y="3907393"/>
            <a:ext cx="228600" cy="762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 sz="1800">
              <a:latin typeface="+mn-lt"/>
            </a:endParaRPr>
          </a:p>
        </p:txBody>
      </p:sp>
      <p:sp>
        <p:nvSpPr>
          <p:cNvPr id="29" name="AutoShape 29"/>
          <p:cNvSpPr>
            <a:spLocks/>
          </p:cNvSpPr>
          <p:nvPr/>
        </p:nvSpPr>
        <p:spPr bwMode="auto">
          <a:xfrm>
            <a:off x="2286000" y="4669393"/>
            <a:ext cx="228600" cy="720725"/>
          </a:xfrm>
          <a:prstGeom prst="rightBrace">
            <a:avLst>
              <a:gd name="adj1" fmla="val 37500"/>
              <a:gd name="adj2" fmla="val 50000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 sz="1800">
              <a:latin typeface="+mn-lt"/>
            </a:endParaRPr>
          </a:p>
        </p:txBody>
      </p:sp>
      <p:sp>
        <p:nvSpPr>
          <p:cNvPr id="30" name="AutoShape 30"/>
          <p:cNvSpPr>
            <a:spLocks/>
          </p:cNvSpPr>
          <p:nvPr/>
        </p:nvSpPr>
        <p:spPr bwMode="auto">
          <a:xfrm>
            <a:off x="2286000" y="5431393"/>
            <a:ext cx="228600" cy="1023382"/>
          </a:xfrm>
          <a:prstGeom prst="righ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</p:spPr>
        <p:txBody>
          <a:bodyPr anchor="ctr">
            <a:noAutofit/>
          </a:bodyPr>
          <a:lstStyle/>
          <a:p>
            <a:endParaRPr lang="en-US" sz="1800">
              <a:latin typeface="+mn-lt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2514600" y="3221593"/>
            <a:ext cx="7816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Active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514600" y="4135993"/>
            <a:ext cx="94128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Inactive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2514600" y="4866243"/>
            <a:ext cx="7816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Active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2514600" y="6085443"/>
            <a:ext cx="1295434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Never Used</a:t>
            </a:r>
          </a:p>
        </p:txBody>
      </p:sp>
      <p:sp>
        <p:nvSpPr>
          <p:cNvPr id="35" name="Rectangle 38"/>
          <p:cNvSpPr>
            <a:spLocks noChangeArrowheads="1"/>
          </p:cNvSpPr>
          <p:nvPr/>
        </p:nvSpPr>
        <p:spPr bwMode="auto">
          <a:xfrm>
            <a:off x="1066800" y="1849993"/>
            <a:ext cx="1233030" cy="369332"/>
          </a:xfrm>
          <a:prstGeom prst="rect">
            <a:avLst/>
          </a:prstGeom>
          <a:solidFill>
            <a:srgbClr val="F1C7C7"/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+mn-lt"/>
              </a:rPr>
              <a:t>listenfd = 3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1489645"/>
            <a:ext cx="1912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latin typeface="+mn-lt"/>
              </a:rPr>
              <a:t>Active Descriptors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486400" y="1132443"/>
            <a:ext cx="3429000" cy="5322332"/>
            <a:chOff x="3581400" y="1132443"/>
            <a:chExt cx="3429000" cy="5322332"/>
          </a:xfrm>
        </p:grpSpPr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4029579" y="2856468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10</a:t>
              </a:r>
            </a:p>
          </p:txBody>
        </p:sp>
        <p:sp>
          <p:nvSpPr>
            <p:cNvPr id="37" name="Rectangle 6"/>
            <p:cNvSpPr>
              <a:spLocks noChangeArrowheads="1"/>
            </p:cNvSpPr>
            <p:nvPr/>
          </p:nvSpPr>
          <p:spPr bwMode="auto">
            <a:xfrm>
              <a:off x="4108242" y="2437368"/>
              <a:ext cx="1005403" cy="3693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 err="1" smtClean="0">
                  <a:latin typeface="+mn-lt"/>
                </a:rPr>
                <a:t>connfd’s</a:t>
              </a:r>
              <a:endParaRPr lang="en-US" sz="1800" dirty="0">
                <a:latin typeface="+mn-lt"/>
              </a:endParaRPr>
            </a:p>
          </p:txBody>
        </p:sp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4029579" y="3215243"/>
              <a:ext cx="990600" cy="369332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7</a:t>
              </a:r>
            </a:p>
          </p:txBody>
        </p:sp>
        <p:sp>
          <p:nvSpPr>
            <p:cNvPr id="39" name="Rectangle 8"/>
            <p:cNvSpPr>
              <a:spLocks noChangeArrowheads="1"/>
            </p:cNvSpPr>
            <p:nvPr/>
          </p:nvSpPr>
          <p:spPr bwMode="auto">
            <a:xfrm>
              <a:off x="4029579" y="3574018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4</a:t>
              </a:r>
            </a:p>
          </p:txBody>
        </p:sp>
        <p:sp>
          <p:nvSpPr>
            <p:cNvPr id="40" name="Rectangle 9"/>
            <p:cNvSpPr>
              <a:spLocks noChangeArrowheads="1"/>
            </p:cNvSpPr>
            <p:nvPr/>
          </p:nvSpPr>
          <p:spPr bwMode="auto">
            <a:xfrm>
              <a:off x="4029579" y="3932793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-1</a:t>
              </a:r>
            </a:p>
          </p:txBody>
        </p:sp>
        <p:sp>
          <p:nvSpPr>
            <p:cNvPr id="41" name="Rectangle 10"/>
            <p:cNvSpPr>
              <a:spLocks noChangeArrowheads="1"/>
            </p:cNvSpPr>
            <p:nvPr/>
          </p:nvSpPr>
          <p:spPr bwMode="auto">
            <a:xfrm>
              <a:off x="4029579" y="4291568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-1</a:t>
              </a: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4029579" y="4650343"/>
              <a:ext cx="990600" cy="369332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12</a:t>
              </a:r>
            </a:p>
          </p:txBody>
        </p:sp>
        <p:sp>
          <p:nvSpPr>
            <p:cNvPr id="43" name="Rectangle 12"/>
            <p:cNvSpPr>
              <a:spLocks noChangeArrowheads="1"/>
            </p:cNvSpPr>
            <p:nvPr/>
          </p:nvSpPr>
          <p:spPr bwMode="auto">
            <a:xfrm>
              <a:off x="4029579" y="5009118"/>
              <a:ext cx="990600" cy="369332"/>
            </a:xfrm>
            <a:prstGeom prst="rect">
              <a:avLst/>
            </a:prstGeom>
            <a:solidFill>
              <a:srgbClr val="D5F1C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5</a:t>
              </a:r>
            </a:p>
          </p:txBody>
        </p:sp>
        <p:sp>
          <p:nvSpPr>
            <p:cNvPr id="44" name="Rectangle 13"/>
            <p:cNvSpPr>
              <a:spLocks noChangeArrowheads="1"/>
            </p:cNvSpPr>
            <p:nvPr/>
          </p:nvSpPr>
          <p:spPr bwMode="auto">
            <a:xfrm>
              <a:off x="4029579" y="5367893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-1</a:t>
              </a:r>
            </a:p>
          </p:txBody>
        </p:sp>
        <p:sp>
          <p:nvSpPr>
            <p:cNvPr id="45" name="Rectangle 14"/>
            <p:cNvSpPr>
              <a:spLocks noChangeArrowheads="1"/>
            </p:cNvSpPr>
            <p:nvPr/>
          </p:nvSpPr>
          <p:spPr bwMode="auto">
            <a:xfrm>
              <a:off x="4029579" y="5726668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-1</a:t>
              </a:r>
            </a:p>
          </p:txBody>
        </p:sp>
        <p:sp>
          <p:nvSpPr>
            <p:cNvPr id="46" name="Rectangle 15"/>
            <p:cNvSpPr>
              <a:spLocks noChangeArrowheads="1"/>
            </p:cNvSpPr>
            <p:nvPr/>
          </p:nvSpPr>
          <p:spPr bwMode="auto">
            <a:xfrm>
              <a:off x="4029579" y="6085443"/>
              <a:ext cx="990600" cy="369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-1</a:t>
              </a:r>
            </a:p>
          </p:txBody>
        </p:sp>
        <p:sp>
          <p:nvSpPr>
            <p:cNvPr id="55" name="Rectangle 38"/>
            <p:cNvSpPr>
              <a:spLocks noChangeArrowheads="1"/>
            </p:cNvSpPr>
            <p:nvPr/>
          </p:nvSpPr>
          <p:spPr bwMode="auto">
            <a:xfrm>
              <a:off x="3953379" y="1827768"/>
              <a:ext cx="1233030" cy="369332"/>
            </a:xfrm>
            <a:prstGeom prst="rect">
              <a:avLst/>
            </a:prstGeom>
            <a:solidFill>
              <a:srgbClr val="D5F1C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listenfd = 3 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581400" y="1501775"/>
              <a:ext cx="1988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>
                  <a:latin typeface="+mn-lt"/>
                </a:rPr>
                <a:t>Pending Inputs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 bwMode="auto">
            <a:xfrm rot="10800000">
              <a:off x="5186410" y="1958976"/>
              <a:ext cx="833391" cy="158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miter lim="800000"/>
              <a:headEnd type="none" w="med" len="med"/>
              <a:tailEnd type="triangle" w="lg" len="med"/>
            </a:ln>
            <a:effectLst/>
          </p:spPr>
        </p:cxnSp>
        <p:cxnSp>
          <p:nvCxnSpPr>
            <p:cNvPr id="60" name="Straight Arrow Connector 59"/>
            <p:cNvCxnSpPr>
              <a:endCxn id="38" idx="3"/>
            </p:cNvCxnSpPr>
            <p:nvPr/>
          </p:nvCxnSpPr>
          <p:spPr bwMode="auto">
            <a:xfrm rot="10800000">
              <a:off x="5020180" y="3399910"/>
              <a:ext cx="994813" cy="686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miter lim="800000"/>
              <a:headEnd type="none" w="med" len="med"/>
              <a:tailEnd type="triangle" w="lg" len="med"/>
            </a:ln>
            <a:effectLst/>
          </p:spPr>
        </p:cxnSp>
        <p:cxnSp>
          <p:nvCxnSpPr>
            <p:cNvPr id="62" name="Straight Arrow Connector 61"/>
            <p:cNvCxnSpPr/>
            <p:nvPr/>
          </p:nvCxnSpPr>
          <p:spPr bwMode="auto">
            <a:xfrm rot="10800000">
              <a:off x="5029201" y="4840844"/>
              <a:ext cx="994813" cy="686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miter lim="800000"/>
              <a:headEnd type="none" w="med" len="med"/>
              <a:tailEnd type="triangle" w="lg" len="med"/>
            </a:ln>
            <a:effectLst/>
          </p:spPr>
        </p:cxnSp>
        <p:cxnSp>
          <p:nvCxnSpPr>
            <p:cNvPr id="63" name="Straight Arrow Connector 62"/>
            <p:cNvCxnSpPr/>
            <p:nvPr/>
          </p:nvCxnSpPr>
          <p:spPr bwMode="auto">
            <a:xfrm rot="10800000">
              <a:off x="5029201" y="5228709"/>
              <a:ext cx="994813" cy="686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miter lim="800000"/>
              <a:headEnd type="none" w="med" len="med"/>
              <a:tailEnd type="triangle" w="lg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 rot="5400000" flipH="1" flipV="1">
              <a:off x="4152603" y="3364165"/>
              <a:ext cx="3733800" cy="90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6" name="TextBox 65"/>
            <p:cNvSpPr txBox="1"/>
            <p:nvPr/>
          </p:nvSpPr>
          <p:spPr>
            <a:xfrm>
              <a:off x="5021561" y="1132443"/>
              <a:ext cx="1988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>
                  <a:latin typeface="+mn-lt"/>
                </a:rPr>
                <a:t>Read and service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33008" y="3185577"/>
            <a:ext cx="1853392" cy="95410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Anything</a:t>
            </a:r>
          </a:p>
          <a:p>
            <a:r>
              <a:rPr lang="en-US" sz="2800" dirty="0" smtClean="0">
                <a:latin typeface="+mn-lt"/>
              </a:rPr>
              <a:t>happened?</a:t>
            </a:r>
          </a:p>
        </p:txBody>
      </p:sp>
    </p:spTree>
    <p:extLst>
      <p:ext uri="{BB962C8B-B14F-4D97-AF65-F5344CB8AC3E}">
        <p14:creationId xmlns:p14="http://schemas.microsoft.com/office/powerpoint/2010/main" val="274274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</a:t>
            </a:r>
            <a:r>
              <a:rPr lang="en-US" dirty="0" smtClean="0"/>
              <a:t>Event-based Servers</a:t>
            </a:r>
            <a:endParaRPr lang="en-US" dirty="0"/>
          </a:p>
        </p:txBody>
      </p:sp>
      <p:sp>
        <p:nvSpPr>
          <p:cNvPr id="8140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0513" y="1497013"/>
            <a:ext cx="8624887" cy="522446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dirty="0" smtClean="0"/>
              <a:t>+ One logical control flow and address space.</a:t>
            </a:r>
          </a:p>
          <a:p>
            <a:pPr>
              <a:lnSpc>
                <a:spcPct val="85000"/>
              </a:lnSpc>
            </a:pPr>
            <a:r>
              <a:rPr lang="en-US" dirty="0" smtClean="0"/>
              <a:t>+ Can single-step with a debugger.</a:t>
            </a:r>
          </a:p>
          <a:p>
            <a:pPr>
              <a:lnSpc>
                <a:spcPct val="85000"/>
              </a:lnSpc>
            </a:pPr>
            <a:r>
              <a:rPr lang="en-US" dirty="0" smtClean="0"/>
              <a:t>+ No process or thread control overhead.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Design of choice for high-performance Web servers and search engines. </a:t>
            </a:r>
            <a:r>
              <a:rPr lang="en-US" dirty="0"/>
              <a:t>e</a:t>
            </a:r>
            <a:r>
              <a:rPr lang="en-US" dirty="0" smtClean="0"/>
              <a:t>.g</a:t>
            </a:r>
            <a:r>
              <a:rPr lang="en-US" dirty="0"/>
              <a:t>., </a:t>
            </a:r>
            <a:r>
              <a:rPr lang="en-US" dirty="0" err="1"/>
              <a:t>Node.js</a:t>
            </a:r>
            <a:r>
              <a:rPr lang="en-US" dirty="0"/>
              <a:t>, </a:t>
            </a:r>
            <a:r>
              <a:rPr lang="en-US" dirty="0" err="1"/>
              <a:t>nginx</a:t>
            </a:r>
            <a:r>
              <a:rPr lang="en-US" dirty="0"/>
              <a:t>, </a:t>
            </a:r>
            <a:r>
              <a:rPr lang="en-US" dirty="0" smtClean="0"/>
              <a:t>Tornado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85000"/>
              </a:lnSpc>
            </a:pPr>
            <a:r>
              <a:rPr lang="en-US" dirty="0" smtClean="0">
                <a:latin typeface="Arial Black"/>
              </a:rPr>
              <a:t>–</a:t>
            </a:r>
            <a:r>
              <a:rPr lang="en-US" dirty="0" smtClean="0"/>
              <a:t> Significantly more complex to code than process- or thread-based designs.</a:t>
            </a:r>
          </a:p>
          <a:p>
            <a:pPr>
              <a:lnSpc>
                <a:spcPct val="85000"/>
              </a:lnSpc>
            </a:pPr>
            <a:r>
              <a:rPr lang="en-US" dirty="0" smtClean="0">
                <a:latin typeface="Arial Black"/>
              </a:rPr>
              <a:t>–</a:t>
            </a:r>
            <a:r>
              <a:rPr lang="en-US" dirty="0" smtClean="0"/>
              <a:t> Hard to provide fine-grained concurrency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E.g., how to deal with partial HTTP request headers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Arial Black"/>
              </a:rPr>
              <a:t>– </a:t>
            </a:r>
            <a:r>
              <a:rPr lang="en-US" dirty="0" smtClean="0"/>
              <a:t>Cannot take advantage of multi-core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Single thread of control</a:t>
            </a:r>
          </a:p>
        </p:txBody>
      </p:sp>
    </p:spTree>
    <p:extLst>
      <p:ext uri="{BB962C8B-B14F-4D97-AF65-F5344CB8AC3E}">
        <p14:creationId xmlns:p14="http://schemas.microsoft.com/office/powerpoint/2010/main" val="242914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247650"/>
            <a:ext cx="8721725" cy="781050"/>
          </a:xfrm>
        </p:spPr>
        <p:txBody>
          <a:bodyPr/>
          <a:lstStyle/>
          <a:p>
            <a:r>
              <a:rPr lang="en-US" dirty="0"/>
              <a:t>Approach </a:t>
            </a:r>
            <a:r>
              <a:rPr lang="en-US" dirty="0" smtClean="0"/>
              <a:t>#3: Thread-based Servers</a:t>
            </a:r>
            <a:endParaRPr lang="en-US" dirty="0"/>
          </a:p>
        </p:txBody>
      </p:sp>
      <p:sp>
        <p:nvSpPr>
          <p:cNvPr id="91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95400"/>
            <a:ext cx="8853487" cy="5149850"/>
          </a:xfrm>
        </p:spPr>
        <p:txBody>
          <a:bodyPr/>
          <a:lstStyle/>
          <a:p>
            <a:r>
              <a:rPr lang="en-US" sz="2600" dirty="0"/>
              <a:t>Very similar to approach #1 </a:t>
            </a:r>
            <a:r>
              <a:rPr lang="en-US" sz="2600" dirty="0" smtClean="0"/>
              <a:t>(process-based)</a:t>
            </a:r>
            <a:endParaRPr lang="en-US" sz="2600" dirty="0"/>
          </a:p>
          <a:p>
            <a:pPr lvl="1"/>
            <a:r>
              <a:rPr lang="en-US" dirty="0"/>
              <a:t>	</a:t>
            </a:r>
            <a:r>
              <a:rPr lang="en-US" dirty="0" smtClean="0"/>
              <a:t>…</a:t>
            </a:r>
            <a:r>
              <a:rPr lang="en-US" sz="2200" dirty="0" smtClean="0"/>
              <a:t>but using threads </a:t>
            </a:r>
            <a:r>
              <a:rPr lang="en-US" sz="2200" dirty="0"/>
              <a:t>instead of processes</a:t>
            </a:r>
          </a:p>
        </p:txBody>
      </p:sp>
    </p:spTree>
    <p:extLst>
      <p:ext uri="{BB962C8B-B14F-4D97-AF65-F5344CB8AC3E}">
        <p14:creationId xmlns:p14="http://schemas.microsoft.com/office/powerpoint/2010/main" val="245056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814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Traditional View of a Process</a:t>
            </a:r>
          </a:p>
        </p:txBody>
      </p:sp>
      <p:sp>
        <p:nvSpPr>
          <p:cNvPr id="801815" name="Rectangle 23"/>
          <p:cNvSpPr>
            <a:spLocks noGrp="1" noChangeArrowheads="1"/>
          </p:cNvSpPr>
          <p:nvPr>
            <p:ph type="body" idx="1"/>
          </p:nvPr>
        </p:nvSpPr>
        <p:spPr>
          <a:xfrm>
            <a:off x="396875" y="1371600"/>
            <a:ext cx="7896225" cy="4972050"/>
          </a:xfrm>
        </p:spPr>
        <p:txBody>
          <a:bodyPr/>
          <a:lstStyle/>
          <a:p>
            <a:r>
              <a:rPr lang="en-US" sz="2600" dirty="0"/>
              <a:t>Process = process context + code, data, and stack</a:t>
            </a:r>
          </a:p>
        </p:txBody>
      </p:sp>
      <p:sp>
        <p:nvSpPr>
          <p:cNvPr id="801801" name="Text Box 9"/>
          <p:cNvSpPr txBox="1">
            <a:spLocks noChangeArrowheads="1"/>
          </p:cNvSpPr>
          <p:nvPr/>
        </p:nvSpPr>
        <p:spPr bwMode="auto">
          <a:xfrm>
            <a:off x="1209675" y="2667000"/>
            <a:ext cx="2455570" cy="1477328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+mn-lt"/>
              </a:rPr>
              <a:t>Program context:</a:t>
            </a:r>
          </a:p>
          <a:p>
            <a:r>
              <a:rPr lang="en-US" sz="1800" dirty="0">
                <a:latin typeface="+mn-lt"/>
              </a:rPr>
              <a:t>    Data registers</a:t>
            </a:r>
          </a:p>
          <a:p>
            <a:r>
              <a:rPr lang="en-US" sz="1800" dirty="0">
                <a:latin typeface="+mn-lt"/>
              </a:rPr>
              <a:t>    Condition codes</a:t>
            </a:r>
          </a:p>
          <a:p>
            <a:r>
              <a:rPr lang="en-US" sz="1800" dirty="0">
                <a:latin typeface="+mn-lt"/>
              </a:rPr>
              <a:t>    Stack pointer (SP)</a:t>
            </a:r>
          </a:p>
          <a:p>
            <a:r>
              <a:rPr lang="en-US" sz="1800" dirty="0">
                <a:latin typeface="+mn-lt"/>
              </a:rPr>
              <a:t>    Program counter (PC</a:t>
            </a:r>
            <a:r>
              <a:rPr lang="en-US" sz="1800" dirty="0" smtClean="0">
                <a:latin typeface="+mn-lt"/>
              </a:rPr>
              <a:t>)</a:t>
            </a:r>
            <a:endParaRPr lang="en-US" sz="1800" dirty="0">
              <a:latin typeface="+mn-lt"/>
            </a:endParaRPr>
          </a:p>
        </p:txBody>
      </p:sp>
      <p:sp>
        <p:nvSpPr>
          <p:cNvPr id="801802" name="Text Box 10"/>
          <p:cNvSpPr txBox="1">
            <a:spLocks noChangeArrowheads="1"/>
          </p:cNvSpPr>
          <p:nvPr/>
        </p:nvSpPr>
        <p:spPr bwMode="auto">
          <a:xfrm>
            <a:off x="4898373" y="2179022"/>
            <a:ext cx="2461181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+mn-lt"/>
              </a:rPr>
              <a:t>Code, data, and stack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306432" y="2667000"/>
            <a:ext cx="3019881" cy="505857"/>
            <a:chOff x="4306432" y="2667000"/>
            <a:chExt cx="3019881" cy="505857"/>
          </a:xfrm>
        </p:grpSpPr>
        <p:sp>
          <p:nvSpPr>
            <p:cNvPr id="801806" name="Rectangle 14"/>
            <p:cNvSpPr>
              <a:spLocks noChangeAspect="1" noChangeArrowheads="1"/>
            </p:cNvSpPr>
            <p:nvPr/>
          </p:nvSpPr>
          <p:spPr bwMode="auto">
            <a:xfrm>
              <a:off x="5095875" y="2667000"/>
              <a:ext cx="2230438" cy="319087"/>
            </a:xfrm>
            <a:prstGeom prst="rect">
              <a:avLst/>
            </a:prstGeom>
            <a:solidFill>
              <a:srgbClr val="F6F5BD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 smtClean="0">
                  <a:latin typeface="+mn-lt"/>
                </a:rPr>
                <a:t>Stack</a:t>
              </a:r>
              <a:endParaRPr lang="en-US" sz="1800" dirty="0">
                <a:latin typeface="+mn-lt"/>
              </a:endParaRPr>
            </a:p>
          </p:txBody>
        </p:sp>
        <p:sp>
          <p:nvSpPr>
            <p:cNvPr id="801807" name="Text Box 15"/>
            <p:cNvSpPr txBox="1">
              <a:spLocks noChangeArrowheads="1"/>
            </p:cNvSpPr>
            <p:nvPr/>
          </p:nvSpPr>
          <p:spPr bwMode="auto">
            <a:xfrm>
              <a:off x="4306432" y="2803525"/>
              <a:ext cx="416625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SP</a:t>
              </a:r>
            </a:p>
          </p:txBody>
        </p:sp>
        <p:sp>
          <p:nvSpPr>
            <p:cNvPr id="801808" name="Line 16"/>
            <p:cNvSpPr>
              <a:spLocks noChangeShapeType="1"/>
            </p:cNvSpPr>
            <p:nvPr/>
          </p:nvSpPr>
          <p:spPr bwMode="auto">
            <a:xfrm>
              <a:off x="4737100" y="2984500"/>
              <a:ext cx="355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248380" y="2973388"/>
            <a:ext cx="3079520" cy="2215822"/>
            <a:chOff x="4248380" y="2973388"/>
            <a:chExt cx="3079520" cy="2215822"/>
          </a:xfrm>
        </p:grpSpPr>
        <p:sp>
          <p:nvSpPr>
            <p:cNvPr id="801795" name="Rectangle 3"/>
            <p:cNvSpPr>
              <a:spLocks noChangeAspect="1" noChangeArrowheads="1"/>
            </p:cNvSpPr>
            <p:nvPr/>
          </p:nvSpPr>
          <p:spPr bwMode="auto">
            <a:xfrm>
              <a:off x="5095875" y="3287713"/>
              <a:ext cx="2230438" cy="31908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 smtClean="0">
                  <a:latin typeface="+mn-lt"/>
                </a:rPr>
                <a:t>Shared </a:t>
              </a:r>
              <a:r>
                <a:rPr lang="en-US" sz="1800" dirty="0">
                  <a:latin typeface="+mn-lt"/>
                </a:rPr>
                <a:t>libraries</a:t>
              </a:r>
            </a:p>
          </p:txBody>
        </p:sp>
        <p:sp>
          <p:nvSpPr>
            <p:cNvPr id="801796" name="Rectangle 4"/>
            <p:cNvSpPr>
              <a:spLocks noChangeAspect="1" noChangeArrowheads="1"/>
            </p:cNvSpPr>
            <p:nvPr/>
          </p:nvSpPr>
          <p:spPr bwMode="auto">
            <a:xfrm>
              <a:off x="5095875" y="3606800"/>
              <a:ext cx="2230438" cy="254000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+mn-lt"/>
              </a:endParaRPr>
            </a:p>
          </p:txBody>
        </p:sp>
        <p:sp>
          <p:nvSpPr>
            <p:cNvPr id="801797" name="Rectangle 5"/>
            <p:cNvSpPr>
              <a:spLocks noChangeAspect="1" noChangeArrowheads="1"/>
            </p:cNvSpPr>
            <p:nvPr/>
          </p:nvSpPr>
          <p:spPr bwMode="auto">
            <a:xfrm>
              <a:off x="5095875" y="3860800"/>
              <a:ext cx="2230438" cy="28892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 smtClean="0">
                  <a:latin typeface="+mn-lt"/>
                </a:rPr>
                <a:t>Run</a:t>
              </a:r>
              <a:r>
                <a:rPr lang="en-US" sz="1800" dirty="0">
                  <a:latin typeface="+mn-lt"/>
                </a:rPr>
                <a:t>-time heap</a:t>
              </a:r>
            </a:p>
          </p:txBody>
        </p:sp>
        <p:sp>
          <p:nvSpPr>
            <p:cNvPr id="801798" name="Text Box 6"/>
            <p:cNvSpPr txBox="1">
              <a:spLocks noChangeAspect="1" noChangeArrowheads="1"/>
            </p:cNvSpPr>
            <p:nvPr/>
          </p:nvSpPr>
          <p:spPr bwMode="auto">
            <a:xfrm>
              <a:off x="4867275" y="4927600"/>
              <a:ext cx="256162" cy="2616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100">
                  <a:latin typeface="+mn-lt"/>
                </a:rPr>
                <a:t>0</a:t>
              </a:r>
              <a:endParaRPr lang="en-US" sz="1200">
                <a:latin typeface="+mn-lt"/>
              </a:endParaRPr>
            </a:p>
          </p:txBody>
        </p:sp>
        <p:sp>
          <p:nvSpPr>
            <p:cNvPr id="801799" name="Rectangle 7"/>
            <p:cNvSpPr>
              <a:spLocks noChangeAspect="1" noChangeArrowheads="1"/>
            </p:cNvSpPr>
            <p:nvPr/>
          </p:nvSpPr>
          <p:spPr bwMode="auto">
            <a:xfrm>
              <a:off x="5095875" y="4149725"/>
              <a:ext cx="2232025" cy="3206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 smtClean="0">
                  <a:latin typeface="+mn-lt"/>
                </a:rPr>
                <a:t>Read</a:t>
              </a:r>
              <a:r>
                <a:rPr lang="en-US" sz="1800" dirty="0">
                  <a:latin typeface="+mn-lt"/>
                </a:rPr>
                <a:t>/write data</a:t>
              </a:r>
            </a:p>
          </p:txBody>
        </p:sp>
        <p:sp>
          <p:nvSpPr>
            <p:cNvPr id="801803" name="Rectangle 11"/>
            <p:cNvSpPr>
              <a:spLocks noChangeAspect="1" noChangeArrowheads="1"/>
            </p:cNvSpPr>
            <p:nvPr/>
          </p:nvSpPr>
          <p:spPr bwMode="auto">
            <a:xfrm>
              <a:off x="5095875" y="4470400"/>
              <a:ext cx="2232025" cy="3206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latin typeface="+mn-lt"/>
                </a:rPr>
                <a:t>R</a:t>
              </a:r>
              <a:r>
                <a:rPr lang="en-US" sz="1800" dirty="0" smtClean="0">
                  <a:latin typeface="+mn-lt"/>
                </a:rPr>
                <a:t>ead</a:t>
              </a:r>
              <a:r>
                <a:rPr lang="en-US" sz="1800" dirty="0">
                  <a:latin typeface="+mn-lt"/>
                </a:rPr>
                <a:t>-only code/data</a:t>
              </a:r>
            </a:p>
          </p:txBody>
        </p:sp>
        <p:sp>
          <p:nvSpPr>
            <p:cNvPr id="801804" name="Rectangle 12"/>
            <p:cNvSpPr>
              <a:spLocks noChangeAspect="1" noChangeArrowheads="1"/>
            </p:cNvSpPr>
            <p:nvPr/>
          </p:nvSpPr>
          <p:spPr bwMode="auto">
            <a:xfrm>
              <a:off x="5095875" y="4775200"/>
              <a:ext cx="2232025" cy="320675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+mn-lt"/>
              </a:endParaRPr>
            </a:p>
          </p:txBody>
        </p:sp>
        <p:sp>
          <p:nvSpPr>
            <p:cNvPr id="801805" name="Rectangle 13"/>
            <p:cNvSpPr>
              <a:spLocks noChangeAspect="1" noChangeArrowheads="1"/>
            </p:cNvSpPr>
            <p:nvPr/>
          </p:nvSpPr>
          <p:spPr bwMode="auto">
            <a:xfrm>
              <a:off x="5095875" y="2973388"/>
              <a:ext cx="2230438" cy="319087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+mn-lt"/>
              </a:endParaRPr>
            </a:p>
          </p:txBody>
        </p:sp>
        <p:sp>
          <p:nvSpPr>
            <p:cNvPr id="801809" name="Text Box 17"/>
            <p:cNvSpPr txBox="1">
              <a:spLocks noChangeArrowheads="1"/>
            </p:cNvSpPr>
            <p:nvPr/>
          </p:nvSpPr>
          <p:spPr bwMode="auto">
            <a:xfrm>
              <a:off x="4285654" y="4441825"/>
              <a:ext cx="429700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PC</a:t>
              </a:r>
            </a:p>
          </p:txBody>
        </p:sp>
        <p:sp>
          <p:nvSpPr>
            <p:cNvPr id="801810" name="Line 18"/>
            <p:cNvSpPr>
              <a:spLocks noChangeShapeType="1"/>
            </p:cNvSpPr>
            <p:nvPr/>
          </p:nvSpPr>
          <p:spPr bwMode="auto">
            <a:xfrm>
              <a:off x="4724400" y="4622800"/>
              <a:ext cx="355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1811" name="Text Box 19"/>
            <p:cNvSpPr txBox="1">
              <a:spLocks noChangeArrowheads="1"/>
            </p:cNvSpPr>
            <p:nvPr/>
          </p:nvSpPr>
          <p:spPr bwMode="auto">
            <a:xfrm>
              <a:off x="4248380" y="3692525"/>
              <a:ext cx="501384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800">
                  <a:latin typeface="+mn-lt"/>
                </a:rPr>
                <a:t>brk</a:t>
              </a:r>
            </a:p>
          </p:txBody>
        </p:sp>
        <p:sp>
          <p:nvSpPr>
            <p:cNvPr id="801812" name="Line 20"/>
            <p:cNvSpPr>
              <a:spLocks noChangeShapeType="1"/>
            </p:cNvSpPr>
            <p:nvPr/>
          </p:nvSpPr>
          <p:spPr bwMode="auto">
            <a:xfrm>
              <a:off x="4737100" y="3860800"/>
              <a:ext cx="355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</p:grpSp>
      <p:sp>
        <p:nvSpPr>
          <p:cNvPr id="801813" name="Text Box 21"/>
          <p:cNvSpPr txBox="1">
            <a:spLocks noChangeArrowheads="1"/>
          </p:cNvSpPr>
          <p:nvPr/>
        </p:nvSpPr>
        <p:spPr bwMode="auto">
          <a:xfrm>
            <a:off x="1308497" y="2038290"/>
            <a:ext cx="1856924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Process context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1209675" y="4126259"/>
            <a:ext cx="2361682" cy="1200329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sz="1800" dirty="0">
                <a:latin typeface="+mn-lt"/>
              </a:rPr>
              <a:t>Kernel context:</a:t>
            </a:r>
          </a:p>
          <a:p>
            <a:r>
              <a:rPr lang="en-US" sz="1600" dirty="0">
                <a:latin typeface="+mn-lt"/>
              </a:rPr>
              <a:t>    </a:t>
            </a:r>
            <a:r>
              <a:rPr lang="en-US" sz="1800" dirty="0">
                <a:latin typeface="+mn-lt"/>
              </a:rPr>
              <a:t>VM structures</a:t>
            </a:r>
          </a:p>
          <a:p>
            <a:r>
              <a:rPr lang="en-US" sz="1800" dirty="0">
                <a:latin typeface="+mn-lt"/>
              </a:rPr>
              <a:t>    Descriptor table</a:t>
            </a:r>
          </a:p>
          <a:p>
            <a:r>
              <a:rPr lang="en-US" sz="1800" dirty="0">
                <a:latin typeface="+mn-lt"/>
              </a:rPr>
              <a:t>    </a:t>
            </a:r>
            <a:r>
              <a:rPr lang="en-US" sz="1800" dirty="0" err="1">
                <a:latin typeface="+mn-lt"/>
              </a:rPr>
              <a:t>brk</a:t>
            </a:r>
            <a:r>
              <a:rPr lang="en-US" sz="1800" dirty="0">
                <a:latin typeface="+mn-lt"/>
              </a:rPr>
              <a:t> pointer</a:t>
            </a: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357018" y="2438400"/>
            <a:ext cx="3902245" cy="390525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958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7.40741E-7 L 0.20538 -0.058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018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-2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9.71548E-7 L -0.41042 9.71548E-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2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3354 L 1.66667E-6 0.1924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018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9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14666E-6 L 0.40521 0.1663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60" y="830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0.05066 L 3.05556E-6 3.3796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801" grpId="0" animBg="1"/>
      <p:bldP spid="801813" grpId="0"/>
      <p:bldP spid="24" grpId="0" animBg="1"/>
      <p:bldP spid="2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39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Alternate View of a Process</a:t>
            </a:r>
          </a:p>
        </p:txBody>
      </p:sp>
      <p:sp>
        <p:nvSpPr>
          <p:cNvPr id="802840" name="Rectangle 2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Process = thread + code, data, and kernel context</a:t>
            </a:r>
          </a:p>
        </p:txBody>
      </p:sp>
      <p:sp>
        <p:nvSpPr>
          <p:cNvPr id="802819" name="Rectangle 3"/>
          <p:cNvSpPr>
            <a:spLocks noChangeAspect="1" noChangeArrowheads="1"/>
          </p:cNvSpPr>
          <p:nvPr/>
        </p:nvSpPr>
        <p:spPr bwMode="auto">
          <a:xfrm>
            <a:off x="5540375" y="2667000"/>
            <a:ext cx="2230438" cy="319088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hared </a:t>
            </a:r>
            <a:r>
              <a:rPr lang="en-US" sz="1800" dirty="0">
                <a:latin typeface="+mn-lt"/>
              </a:rPr>
              <a:t>libraries</a:t>
            </a:r>
          </a:p>
        </p:txBody>
      </p:sp>
      <p:sp>
        <p:nvSpPr>
          <p:cNvPr id="802820" name="Rectangle 4"/>
          <p:cNvSpPr>
            <a:spLocks noChangeAspect="1" noChangeArrowheads="1"/>
          </p:cNvSpPr>
          <p:nvPr/>
        </p:nvSpPr>
        <p:spPr bwMode="auto">
          <a:xfrm>
            <a:off x="5540375" y="2986088"/>
            <a:ext cx="2230438" cy="254000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802821" name="Rectangle 5"/>
          <p:cNvSpPr>
            <a:spLocks noChangeAspect="1" noChangeArrowheads="1"/>
          </p:cNvSpPr>
          <p:nvPr/>
        </p:nvSpPr>
        <p:spPr bwMode="auto">
          <a:xfrm>
            <a:off x="5540375" y="3240088"/>
            <a:ext cx="2230438" cy="288925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R</a:t>
            </a:r>
            <a:r>
              <a:rPr lang="en-US" sz="1800" dirty="0" smtClean="0">
                <a:latin typeface="+mn-lt"/>
              </a:rPr>
              <a:t>un</a:t>
            </a:r>
            <a:r>
              <a:rPr lang="en-US" sz="1800" dirty="0">
                <a:latin typeface="+mn-lt"/>
              </a:rPr>
              <a:t>-time heap</a:t>
            </a:r>
          </a:p>
        </p:txBody>
      </p:sp>
      <p:sp>
        <p:nvSpPr>
          <p:cNvPr id="802822" name="Text Box 6"/>
          <p:cNvSpPr txBox="1">
            <a:spLocks noChangeAspect="1" noChangeArrowheads="1"/>
          </p:cNvSpPr>
          <p:nvPr/>
        </p:nvSpPr>
        <p:spPr bwMode="auto">
          <a:xfrm>
            <a:off x="5311775" y="4306888"/>
            <a:ext cx="256162" cy="2616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100">
                <a:latin typeface="+mn-lt"/>
              </a:rPr>
              <a:t>0</a:t>
            </a:r>
            <a:endParaRPr lang="en-US" sz="1200">
              <a:latin typeface="+mn-lt"/>
            </a:endParaRPr>
          </a:p>
        </p:txBody>
      </p:sp>
      <p:sp>
        <p:nvSpPr>
          <p:cNvPr id="802823" name="Rectangle 7"/>
          <p:cNvSpPr>
            <a:spLocks noChangeAspect="1" noChangeArrowheads="1"/>
          </p:cNvSpPr>
          <p:nvPr/>
        </p:nvSpPr>
        <p:spPr bwMode="auto">
          <a:xfrm>
            <a:off x="5540375" y="3529013"/>
            <a:ext cx="2232025" cy="320675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R</a:t>
            </a:r>
            <a:r>
              <a:rPr lang="en-US" sz="1800" dirty="0" smtClean="0">
                <a:latin typeface="+mn-lt"/>
              </a:rPr>
              <a:t>ead</a:t>
            </a:r>
            <a:r>
              <a:rPr lang="en-US" sz="1800" dirty="0">
                <a:latin typeface="+mn-lt"/>
              </a:rPr>
              <a:t>/write data</a:t>
            </a:r>
          </a:p>
        </p:txBody>
      </p:sp>
      <p:sp>
        <p:nvSpPr>
          <p:cNvPr id="802825" name="Text Box 9"/>
          <p:cNvSpPr txBox="1">
            <a:spLocks noChangeArrowheads="1"/>
          </p:cNvSpPr>
          <p:nvPr/>
        </p:nvSpPr>
        <p:spPr bwMode="auto">
          <a:xfrm>
            <a:off x="1628775" y="3567600"/>
            <a:ext cx="2455570" cy="1508105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+mn-lt"/>
              </a:rPr>
              <a:t>Thread context:</a:t>
            </a:r>
          </a:p>
          <a:p>
            <a:r>
              <a:rPr lang="en-US" sz="2000" dirty="0">
                <a:latin typeface="+mn-lt"/>
              </a:rPr>
              <a:t>    </a:t>
            </a:r>
            <a:r>
              <a:rPr lang="en-US" sz="1800" dirty="0">
                <a:latin typeface="+mn-lt"/>
              </a:rPr>
              <a:t>Data registers</a:t>
            </a:r>
          </a:p>
          <a:p>
            <a:r>
              <a:rPr lang="en-US" sz="1800" dirty="0">
                <a:latin typeface="+mn-lt"/>
              </a:rPr>
              <a:t>    Condition codes</a:t>
            </a:r>
          </a:p>
          <a:p>
            <a:r>
              <a:rPr lang="en-US" sz="1800" dirty="0">
                <a:latin typeface="+mn-lt"/>
              </a:rPr>
              <a:t>    Stack pointer (SP)</a:t>
            </a:r>
          </a:p>
          <a:p>
            <a:r>
              <a:rPr lang="en-US" sz="1800" dirty="0">
                <a:latin typeface="+mn-lt"/>
              </a:rPr>
              <a:t>    Program counter (PC)</a:t>
            </a:r>
            <a:endParaRPr lang="en-US" sz="2000" dirty="0">
              <a:latin typeface="+mn-lt"/>
            </a:endParaRPr>
          </a:p>
        </p:txBody>
      </p:sp>
      <p:sp>
        <p:nvSpPr>
          <p:cNvPr id="802826" name="Text Box 10"/>
          <p:cNvSpPr txBox="1">
            <a:spLocks noChangeArrowheads="1"/>
          </p:cNvSpPr>
          <p:nvPr/>
        </p:nvSpPr>
        <p:spPr bwMode="auto">
          <a:xfrm>
            <a:off x="4879540" y="2116902"/>
            <a:ext cx="3506088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Code, data, and kernel context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02827" name="Rectangle 11"/>
          <p:cNvSpPr>
            <a:spLocks noChangeAspect="1" noChangeArrowheads="1"/>
          </p:cNvSpPr>
          <p:nvPr/>
        </p:nvSpPr>
        <p:spPr bwMode="auto">
          <a:xfrm>
            <a:off x="5540375" y="3849688"/>
            <a:ext cx="2232025" cy="320675"/>
          </a:xfrm>
          <a:prstGeom prst="rect">
            <a:avLst/>
          </a:prstGeom>
          <a:solidFill>
            <a:srgbClr val="D2D2F4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R</a:t>
            </a:r>
            <a:r>
              <a:rPr lang="en-US" sz="1800" dirty="0" smtClean="0">
                <a:latin typeface="+mn-lt"/>
              </a:rPr>
              <a:t>ead</a:t>
            </a:r>
            <a:r>
              <a:rPr lang="en-US" sz="1800" dirty="0">
                <a:latin typeface="+mn-lt"/>
              </a:rPr>
              <a:t>-only code/data</a:t>
            </a:r>
          </a:p>
        </p:txBody>
      </p:sp>
      <p:sp>
        <p:nvSpPr>
          <p:cNvPr id="802828" name="Rectangle 12"/>
          <p:cNvSpPr>
            <a:spLocks noChangeAspect="1" noChangeArrowheads="1"/>
          </p:cNvSpPr>
          <p:nvPr/>
        </p:nvSpPr>
        <p:spPr bwMode="auto">
          <a:xfrm>
            <a:off x="5540375" y="4154488"/>
            <a:ext cx="2232025" cy="320675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802829" name="Rectangle 13"/>
          <p:cNvSpPr>
            <a:spLocks noChangeAspect="1" noChangeArrowheads="1"/>
          </p:cNvSpPr>
          <p:nvPr/>
        </p:nvSpPr>
        <p:spPr bwMode="auto">
          <a:xfrm>
            <a:off x="1655763" y="2971800"/>
            <a:ext cx="2230437" cy="319088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tack</a:t>
            </a:r>
            <a:endParaRPr lang="en-US" sz="1800" dirty="0">
              <a:latin typeface="+mn-lt"/>
            </a:endParaRPr>
          </a:p>
        </p:txBody>
      </p:sp>
      <p:sp>
        <p:nvSpPr>
          <p:cNvPr id="802830" name="Text Box 14"/>
          <p:cNvSpPr txBox="1">
            <a:spLocks noChangeArrowheads="1"/>
          </p:cNvSpPr>
          <p:nvPr/>
        </p:nvSpPr>
        <p:spPr bwMode="auto">
          <a:xfrm>
            <a:off x="1006020" y="3092450"/>
            <a:ext cx="41662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SP</a:t>
            </a:r>
          </a:p>
        </p:txBody>
      </p:sp>
      <p:sp>
        <p:nvSpPr>
          <p:cNvPr id="802831" name="Line 15"/>
          <p:cNvSpPr>
            <a:spLocks noChangeShapeType="1"/>
          </p:cNvSpPr>
          <p:nvPr/>
        </p:nvSpPr>
        <p:spPr bwMode="auto">
          <a:xfrm>
            <a:off x="1436688" y="3276600"/>
            <a:ext cx="17145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2832" name="Text Box 16"/>
          <p:cNvSpPr txBox="1">
            <a:spLocks noChangeArrowheads="1"/>
          </p:cNvSpPr>
          <p:nvPr/>
        </p:nvSpPr>
        <p:spPr bwMode="auto">
          <a:xfrm>
            <a:off x="4730154" y="3821113"/>
            <a:ext cx="4297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PC</a:t>
            </a:r>
          </a:p>
        </p:txBody>
      </p:sp>
      <p:sp>
        <p:nvSpPr>
          <p:cNvPr id="802833" name="Line 17"/>
          <p:cNvSpPr>
            <a:spLocks noChangeShapeType="1"/>
          </p:cNvSpPr>
          <p:nvPr/>
        </p:nvSpPr>
        <p:spPr bwMode="auto">
          <a:xfrm>
            <a:off x="5168900" y="4002088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2834" name="Text Box 18"/>
          <p:cNvSpPr txBox="1">
            <a:spLocks noChangeArrowheads="1"/>
          </p:cNvSpPr>
          <p:nvPr/>
        </p:nvSpPr>
        <p:spPr bwMode="auto">
          <a:xfrm>
            <a:off x="4692880" y="3071813"/>
            <a:ext cx="50138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brk</a:t>
            </a:r>
          </a:p>
        </p:txBody>
      </p:sp>
      <p:sp>
        <p:nvSpPr>
          <p:cNvPr id="802835" name="Line 19"/>
          <p:cNvSpPr>
            <a:spLocks noChangeShapeType="1"/>
          </p:cNvSpPr>
          <p:nvPr/>
        </p:nvSpPr>
        <p:spPr bwMode="auto">
          <a:xfrm>
            <a:off x="5181600" y="3240088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2836" name="Text Box 20"/>
          <p:cNvSpPr txBox="1">
            <a:spLocks noChangeArrowheads="1"/>
          </p:cNvSpPr>
          <p:nvPr/>
        </p:nvSpPr>
        <p:spPr bwMode="auto">
          <a:xfrm>
            <a:off x="1518102" y="2116901"/>
            <a:ext cx="245654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+mn-lt"/>
              </a:rPr>
              <a:t>Thread (main thread)</a:t>
            </a:r>
          </a:p>
        </p:txBody>
      </p:sp>
      <p:sp>
        <p:nvSpPr>
          <p:cNvPr id="802838" name="Rectangle 22"/>
          <p:cNvSpPr>
            <a:spLocks noChangeArrowheads="1"/>
          </p:cNvSpPr>
          <p:nvPr/>
        </p:nvSpPr>
        <p:spPr bwMode="auto">
          <a:xfrm>
            <a:off x="977900" y="2667000"/>
            <a:ext cx="3581400" cy="274320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>
              <a:latin typeface="+mn-lt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5540375" y="4726423"/>
            <a:ext cx="2361682" cy="1200329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sz="1800" dirty="0">
                <a:latin typeface="+mn-lt"/>
              </a:rPr>
              <a:t>Kernel context:</a:t>
            </a:r>
          </a:p>
          <a:p>
            <a:r>
              <a:rPr lang="en-US" sz="1600" dirty="0">
                <a:latin typeface="+mn-lt"/>
              </a:rPr>
              <a:t>    </a:t>
            </a:r>
            <a:r>
              <a:rPr lang="en-US" sz="1800" dirty="0">
                <a:latin typeface="+mn-lt"/>
              </a:rPr>
              <a:t>VM structures</a:t>
            </a:r>
          </a:p>
          <a:p>
            <a:r>
              <a:rPr lang="en-US" sz="1800" dirty="0">
                <a:latin typeface="+mn-lt"/>
              </a:rPr>
              <a:t>    Descriptor table</a:t>
            </a:r>
          </a:p>
          <a:p>
            <a:r>
              <a:rPr lang="en-US" sz="1800" dirty="0">
                <a:latin typeface="+mn-lt"/>
              </a:rPr>
              <a:t>    </a:t>
            </a:r>
            <a:r>
              <a:rPr lang="en-US" sz="1800" dirty="0" err="1">
                <a:latin typeface="+mn-lt"/>
              </a:rPr>
              <a:t>brk</a:t>
            </a:r>
            <a:r>
              <a:rPr lang="en-US" sz="1800" dirty="0">
                <a:latin typeface="+mn-lt"/>
              </a:rPr>
              <a:t> pointer</a:t>
            </a:r>
          </a:p>
        </p:txBody>
      </p:sp>
    </p:spTree>
    <p:extLst>
      <p:ext uri="{BB962C8B-B14F-4D97-AF65-F5344CB8AC3E}">
        <p14:creationId xmlns:p14="http://schemas.microsoft.com/office/powerpoint/2010/main" val="242804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859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Process With Multiple Threads</a:t>
            </a:r>
          </a:p>
        </p:txBody>
      </p:sp>
      <p:sp>
        <p:nvSpPr>
          <p:cNvPr id="803860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275818" y="1116013"/>
            <a:ext cx="8307387" cy="18557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Multiple threads can be associated with a process</a:t>
            </a:r>
          </a:p>
          <a:p>
            <a:pPr lvl="1"/>
            <a:r>
              <a:rPr lang="en-US" dirty="0"/>
              <a:t>Each thread has its own logical control flow </a:t>
            </a:r>
          </a:p>
          <a:p>
            <a:pPr lvl="1"/>
            <a:r>
              <a:rPr lang="en-US" dirty="0"/>
              <a:t>Each thread shares the same code, data, and kernel </a:t>
            </a:r>
            <a:r>
              <a:rPr lang="en-US" dirty="0" smtClean="0"/>
              <a:t>context</a:t>
            </a:r>
          </a:p>
          <a:p>
            <a:pPr lvl="1"/>
            <a:r>
              <a:rPr lang="en-US" dirty="0" smtClean="0"/>
              <a:t>Each thread has its own stack for local variables </a:t>
            </a:r>
          </a:p>
          <a:p>
            <a:pPr lvl="2"/>
            <a:r>
              <a:rPr lang="en-US" dirty="0" smtClean="0"/>
              <a:t>but not protected from other threads</a:t>
            </a:r>
            <a:endParaRPr lang="en-US" dirty="0"/>
          </a:p>
          <a:p>
            <a:pPr lvl="1"/>
            <a:r>
              <a:rPr lang="en-US" dirty="0" smtClean="0"/>
              <a:t>Each </a:t>
            </a:r>
            <a:r>
              <a:rPr lang="en-US" dirty="0"/>
              <a:t>thread has its own thread id (TID)</a:t>
            </a:r>
          </a:p>
        </p:txBody>
      </p:sp>
      <p:sp>
        <p:nvSpPr>
          <p:cNvPr id="803848" name="Text Box 8"/>
          <p:cNvSpPr txBox="1">
            <a:spLocks noChangeArrowheads="1"/>
          </p:cNvSpPr>
          <p:nvPr/>
        </p:nvSpPr>
        <p:spPr bwMode="auto">
          <a:xfrm>
            <a:off x="384175" y="4542274"/>
            <a:ext cx="1932252" cy="144655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+mn-lt"/>
              </a:rPr>
              <a:t>Thread 1 context:</a:t>
            </a:r>
          </a:p>
          <a:p>
            <a:r>
              <a:rPr lang="en-US" sz="1800" dirty="0">
                <a:latin typeface="+mn-lt"/>
              </a:rPr>
              <a:t>    Data registers</a:t>
            </a:r>
          </a:p>
          <a:p>
            <a:r>
              <a:rPr lang="en-US" sz="1800" dirty="0">
                <a:latin typeface="+mn-lt"/>
              </a:rPr>
              <a:t>    Condition codes</a:t>
            </a:r>
          </a:p>
          <a:p>
            <a:r>
              <a:rPr lang="en-US" sz="1800" dirty="0">
                <a:latin typeface="+mn-lt"/>
              </a:rPr>
              <a:t>    SP</a:t>
            </a:r>
            <a:r>
              <a:rPr lang="en-US" sz="1800" baseline="-25000" dirty="0">
                <a:latin typeface="+mn-lt"/>
              </a:rPr>
              <a:t>1</a:t>
            </a:r>
          </a:p>
          <a:p>
            <a:r>
              <a:rPr lang="en-US" sz="1800" dirty="0">
                <a:latin typeface="+mn-lt"/>
              </a:rPr>
              <a:t>    PC</a:t>
            </a:r>
            <a:r>
              <a:rPr lang="en-US" sz="1800" baseline="-25000" dirty="0">
                <a:latin typeface="+mn-lt"/>
              </a:rPr>
              <a:t>1</a:t>
            </a:r>
          </a:p>
        </p:txBody>
      </p:sp>
      <p:sp>
        <p:nvSpPr>
          <p:cNvPr id="803852" name="Rectangle 12"/>
          <p:cNvSpPr>
            <a:spLocks noChangeAspect="1" noChangeArrowheads="1"/>
          </p:cNvSpPr>
          <p:nvPr/>
        </p:nvSpPr>
        <p:spPr bwMode="auto">
          <a:xfrm>
            <a:off x="381000" y="3931087"/>
            <a:ext cx="1885950" cy="31908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stack 1</a:t>
            </a:r>
          </a:p>
        </p:txBody>
      </p:sp>
      <p:sp>
        <p:nvSpPr>
          <p:cNvPr id="803853" name="Text Box 13"/>
          <p:cNvSpPr txBox="1">
            <a:spLocks noChangeArrowheads="1"/>
          </p:cNvSpPr>
          <p:nvPr/>
        </p:nvSpPr>
        <p:spPr bwMode="auto">
          <a:xfrm>
            <a:off x="178336" y="3181290"/>
            <a:ext cx="2646878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+mn-lt"/>
              </a:rPr>
              <a:t>Thread 1 (main thread)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715000" y="3181290"/>
            <a:ext cx="2600777" cy="3524310"/>
            <a:chOff x="3200400" y="3181290"/>
            <a:chExt cx="2600777" cy="3524310"/>
          </a:xfrm>
        </p:grpSpPr>
        <p:sp>
          <p:nvSpPr>
            <p:cNvPr id="803843" name="Rectangle 3"/>
            <p:cNvSpPr>
              <a:spLocks noChangeAspect="1" noChangeArrowheads="1"/>
            </p:cNvSpPr>
            <p:nvPr/>
          </p:nvSpPr>
          <p:spPr bwMode="auto">
            <a:xfrm>
              <a:off x="3432175" y="3748088"/>
              <a:ext cx="2230438" cy="319087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latin typeface="+mn-lt"/>
                </a:rPr>
                <a:t>shared libraries</a:t>
              </a:r>
            </a:p>
          </p:txBody>
        </p:sp>
        <p:sp>
          <p:nvSpPr>
            <p:cNvPr id="803844" name="Rectangle 4"/>
            <p:cNvSpPr>
              <a:spLocks noChangeAspect="1" noChangeArrowheads="1"/>
            </p:cNvSpPr>
            <p:nvPr/>
          </p:nvSpPr>
          <p:spPr bwMode="auto">
            <a:xfrm>
              <a:off x="3432175" y="4013200"/>
              <a:ext cx="2230438" cy="254000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+mn-lt"/>
              </a:endParaRPr>
            </a:p>
          </p:txBody>
        </p:sp>
        <p:sp>
          <p:nvSpPr>
            <p:cNvPr id="803845" name="Rectangle 5"/>
            <p:cNvSpPr>
              <a:spLocks noChangeAspect="1" noChangeArrowheads="1"/>
            </p:cNvSpPr>
            <p:nvPr/>
          </p:nvSpPr>
          <p:spPr bwMode="auto">
            <a:xfrm>
              <a:off x="3432175" y="4253349"/>
              <a:ext cx="2230438" cy="288925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>
                  <a:latin typeface="+mn-lt"/>
                </a:rPr>
                <a:t>run-time heap</a:t>
              </a:r>
            </a:p>
          </p:txBody>
        </p:sp>
        <p:sp>
          <p:nvSpPr>
            <p:cNvPr id="803846" name="Text Box 6"/>
            <p:cNvSpPr txBox="1">
              <a:spLocks noChangeAspect="1" noChangeArrowheads="1"/>
            </p:cNvSpPr>
            <p:nvPr/>
          </p:nvSpPr>
          <p:spPr bwMode="auto">
            <a:xfrm>
              <a:off x="3200400" y="5266174"/>
              <a:ext cx="252913" cy="25391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050">
                  <a:latin typeface="+mn-lt"/>
                </a:rPr>
                <a:t>0</a:t>
              </a:r>
              <a:endParaRPr lang="en-US" sz="1100">
                <a:latin typeface="+mn-lt"/>
              </a:endParaRPr>
            </a:p>
          </p:txBody>
        </p:sp>
        <p:sp>
          <p:nvSpPr>
            <p:cNvPr id="803847" name="Rectangle 7"/>
            <p:cNvSpPr>
              <a:spLocks noChangeAspect="1" noChangeArrowheads="1"/>
            </p:cNvSpPr>
            <p:nvPr/>
          </p:nvSpPr>
          <p:spPr bwMode="auto">
            <a:xfrm>
              <a:off x="3432175" y="4488299"/>
              <a:ext cx="2232025" cy="320675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 dirty="0">
                  <a:latin typeface="+mn-lt"/>
                </a:rPr>
                <a:t>read/write data</a:t>
              </a:r>
            </a:p>
          </p:txBody>
        </p:sp>
        <p:sp>
          <p:nvSpPr>
            <p:cNvPr id="803849" name="Text Box 9"/>
            <p:cNvSpPr txBox="1">
              <a:spLocks noChangeArrowheads="1"/>
            </p:cNvSpPr>
            <p:nvPr/>
          </p:nvSpPr>
          <p:spPr bwMode="auto">
            <a:xfrm>
              <a:off x="3247573" y="3181290"/>
              <a:ext cx="2553604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 Shared code and data</a:t>
              </a:r>
            </a:p>
          </p:txBody>
        </p:sp>
        <p:sp>
          <p:nvSpPr>
            <p:cNvPr id="803850" name="Rectangle 10"/>
            <p:cNvSpPr>
              <a:spLocks noChangeAspect="1" noChangeArrowheads="1"/>
            </p:cNvSpPr>
            <p:nvPr/>
          </p:nvSpPr>
          <p:spPr bwMode="auto">
            <a:xfrm>
              <a:off x="3432175" y="4808974"/>
              <a:ext cx="2232025" cy="320675"/>
            </a:xfrm>
            <a:prstGeom prst="rect">
              <a:avLst/>
            </a:prstGeom>
            <a:solidFill>
              <a:srgbClr val="D2D2F4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>
                  <a:latin typeface="+mn-lt"/>
                </a:rPr>
                <a:t>read-only code/data</a:t>
              </a:r>
            </a:p>
          </p:txBody>
        </p:sp>
        <p:sp>
          <p:nvSpPr>
            <p:cNvPr id="803851" name="Rectangle 11"/>
            <p:cNvSpPr>
              <a:spLocks noChangeAspect="1" noChangeArrowheads="1"/>
            </p:cNvSpPr>
            <p:nvPr/>
          </p:nvSpPr>
          <p:spPr bwMode="auto">
            <a:xfrm>
              <a:off x="3432175" y="5113774"/>
              <a:ext cx="2232025" cy="320675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+mn-lt"/>
              </a:endParaRPr>
            </a:p>
          </p:txBody>
        </p:sp>
        <p:sp>
          <p:nvSpPr>
            <p:cNvPr id="803854" name="Text Box 14"/>
            <p:cNvSpPr txBox="1">
              <a:spLocks noChangeArrowheads="1"/>
            </p:cNvSpPr>
            <p:nvPr/>
          </p:nvSpPr>
          <p:spPr bwMode="auto">
            <a:xfrm>
              <a:off x="3594100" y="5536049"/>
              <a:ext cx="1883336" cy="1169551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600" dirty="0">
                  <a:latin typeface="+mn-lt"/>
                </a:rPr>
                <a:t>Kernel context:</a:t>
              </a:r>
            </a:p>
            <a:p>
              <a:r>
                <a:rPr lang="en-US" sz="1400" dirty="0">
                  <a:latin typeface="+mn-lt"/>
                </a:rPr>
                <a:t>   </a:t>
              </a:r>
              <a:r>
                <a:rPr lang="en-US" sz="1800" dirty="0">
                  <a:latin typeface="+mn-lt"/>
                </a:rPr>
                <a:t>VM structures</a:t>
              </a:r>
            </a:p>
            <a:p>
              <a:r>
                <a:rPr lang="en-US" sz="1800" dirty="0">
                  <a:latin typeface="+mn-lt"/>
                </a:rPr>
                <a:t>   Descriptor table</a:t>
              </a:r>
            </a:p>
            <a:p>
              <a:r>
                <a:rPr lang="en-US" sz="1800" dirty="0">
                  <a:latin typeface="+mn-lt"/>
                </a:rPr>
                <a:t>   </a:t>
              </a:r>
              <a:r>
                <a:rPr lang="en-US" sz="1800" dirty="0" err="1">
                  <a:latin typeface="+mn-lt"/>
                </a:rPr>
                <a:t>brk</a:t>
              </a:r>
              <a:r>
                <a:rPr lang="en-US" sz="1800" dirty="0">
                  <a:latin typeface="+mn-lt"/>
                </a:rPr>
                <a:t> </a:t>
              </a:r>
              <a:r>
                <a:rPr lang="en-US" sz="1800" dirty="0" smtClean="0">
                  <a:latin typeface="+mn-lt"/>
                </a:rPr>
                <a:t>pointer</a:t>
              </a:r>
              <a:endParaRPr lang="en-US" sz="1800" dirty="0"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724159" y="3200400"/>
            <a:ext cx="2595683" cy="2807534"/>
            <a:chOff x="6153159" y="3181290"/>
            <a:chExt cx="2595683" cy="2807534"/>
          </a:xfrm>
        </p:grpSpPr>
        <p:sp>
          <p:nvSpPr>
            <p:cNvPr id="803856" name="Text Box 16"/>
            <p:cNvSpPr txBox="1">
              <a:spLocks noChangeArrowheads="1"/>
            </p:cNvSpPr>
            <p:nvPr/>
          </p:nvSpPr>
          <p:spPr bwMode="auto">
            <a:xfrm>
              <a:off x="6575425" y="4542274"/>
              <a:ext cx="1932252" cy="144655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1600" dirty="0">
                  <a:latin typeface="+mn-lt"/>
                </a:rPr>
                <a:t>Thread 2 context:</a:t>
              </a:r>
            </a:p>
            <a:p>
              <a:r>
                <a:rPr lang="en-US" sz="1800" dirty="0">
                  <a:latin typeface="+mn-lt"/>
                </a:rPr>
                <a:t>    Data registers</a:t>
              </a:r>
            </a:p>
            <a:p>
              <a:r>
                <a:rPr lang="en-US" sz="1800" dirty="0">
                  <a:latin typeface="+mn-lt"/>
                </a:rPr>
                <a:t>    Condition codes</a:t>
              </a:r>
            </a:p>
            <a:p>
              <a:r>
                <a:rPr lang="en-US" sz="1800" dirty="0">
                  <a:latin typeface="+mn-lt"/>
                </a:rPr>
                <a:t>    SP</a:t>
              </a:r>
              <a:r>
                <a:rPr lang="en-US" sz="1800" baseline="-25000" dirty="0">
                  <a:latin typeface="+mn-lt"/>
                </a:rPr>
                <a:t>2</a:t>
              </a:r>
            </a:p>
            <a:p>
              <a:r>
                <a:rPr lang="en-US" sz="1800" dirty="0">
                  <a:latin typeface="+mn-lt"/>
                </a:rPr>
                <a:t>    PC</a:t>
              </a:r>
              <a:r>
                <a:rPr lang="en-US" sz="1800" baseline="-25000" dirty="0">
                  <a:latin typeface="+mn-lt"/>
                </a:rPr>
                <a:t>2</a:t>
              </a:r>
            </a:p>
          </p:txBody>
        </p:sp>
        <p:sp>
          <p:nvSpPr>
            <p:cNvPr id="803857" name="Rectangle 17"/>
            <p:cNvSpPr>
              <a:spLocks noChangeAspect="1" noChangeArrowheads="1"/>
            </p:cNvSpPr>
            <p:nvPr/>
          </p:nvSpPr>
          <p:spPr bwMode="auto">
            <a:xfrm>
              <a:off x="6553200" y="3926324"/>
              <a:ext cx="1885950" cy="319087"/>
            </a:xfrm>
            <a:prstGeom prst="rect">
              <a:avLst/>
            </a:prstGeom>
            <a:solidFill>
              <a:srgbClr val="F6F5BD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800">
                  <a:latin typeface="+mn-lt"/>
                </a:rPr>
                <a:t>stack 2</a:t>
              </a:r>
            </a:p>
          </p:txBody>
        </p:sp>
        <p:sp>
          <p:nvSpPr>
            <p:cNvPr id="803858" name="Text Box 18"/>
            <p:cNvSpPr txBox="1">
              <a:spLocks noChangeArrowheads="1"/>
            </p:cNvSpPr>
            <p:nvPr/>
          </p:nvSpPr>
          <p:spPr bwMode="auto">
            <a:xfrm>
              <a:off x="6153159" y="3181290"/>
              <a:ext cx="259568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Thread 2 (peer thread)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01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95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View of Threads</a:t>
            </a:r>
          </a:p>
        </p:txBody>
      </p:sp>
      <p:sp>
        <p:nvSpPr>
          <p:cNvPr id="804896" name="Rectangle 3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Threads associated with process form a pool of peers</a:t>
            </a:r>
          </a:p>
          <a:p>
            <a:pPr lvl="1"/>
            <a:r>
              <a:rPr lang="en-US" sz="2200" dirty="0"/>
              <a:t>Unlike processes which form a tree hierarchy</a:t>
            </a:r>
          </a:p>
        </p:txBody>
      </p:sp>
      <p:sp>
        <p:nvSpPr>
          <p:cNvPr id="804868" name="Oval 4"/>
          <p:cNvSpPr>
            <a:spLocks noChangeArrowheads="1"/>
          </p:cNvSpPr>
          <p:nvPr/>
        </p:nvSpPr>
        <p:spPr bwMode="auto">
          <a:xfrm>
            <a:off x="6400800" y="30337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P0</a:t>
            </a:r>
          </a:p>
        </p:txBody>
      </p:sp>
      <p:sp>
        <p:nvSpPr>
          <p:cNvPr id="804869" name="Oval 5"/>
          <p:cNvSpPr>
            <a:spLocks noChangeArrowheads="1"/>
          </p:cNvSpPr>
          <p:nvPr/>
        </p:nvSpPr>
        <p:spPr bwMode="auto">
          <a:xfrm>
            <a:off x="6400800" y="3871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P1</a:t>
            </a:r>
          </a:p>
        </p:txBody>
      </p:sp>
      <p:sp>
        <p:nvSpPr>
          <p:cNvPr id="804870" name="Oval 6"/>
          <p:cNvSpPr>
            <a:spLocks noChangeArrowheads="1"/>
          </p:cNvSpPr>
          <p:nvPr/>
        </p:nvSpPr>
        <p:spPr bwMode="auto">
          <a:xfrm>
            <a:off x="5715000" y="4633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sh</a:t>
            </a:r>
          </a:p>
        </p:txBody>
      </p:sp>
      <p:sp>
        <p:nvSpPr>
          <p:cNvPr id="804871" name="Line 7"/>
          <p:cNvSpPr>
            <a:spLocks noChangeShapeType="1"/>
          </p:cNvSpPr>
          <p:nvPr/>
        </p:nvSpPr>
        <p:spPr bwMode="auto">
          <a:xfrm>
            <a:off x="6629400" y="3490913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72" name="Line 8"/>
          <p:cNvSpPr>
            <a:spLocks noChangeShapeType="1"/>
          </p:cNvSpPr>
          <p:nvPr/>
        </p:nvSpPr>
        <p:spPr bwMode="auto">
          <a:xfrm flipH="1">
            <a:off x="6096000" y="4252913"/>
            <a:ext cx="381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73" name="Oval 9"/>
          <p:cNvSpPr>
            <a:spLocks noChangeArrowheads="1"/>
          </p:cNvSpPr>
          <p:nvPr/>
        </p:nvSpPr>
        <p:spPr bwMode="auto">
          <a:xfrm>
            <a:off x="6400800" y="4633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sh</a:t>
            </a:r>
          </a:p>
        </p:txBody>
      </p:sp>
      <p:sp>
        <p:nvSpPr>
          <p:cNvPr id="804874" name="Oval 10"/>
          <p:cNvSpPr>
            <a:spLocks noChangeArrowheads="1"/>
          </p:cNvSpPr>
          <p:nvPr/>
        </p:nvSpPr>
        <p:spPr bwMode="auto">
          <a:xfrm>
            <a:off x="7086600" y="4633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sh</a:t>
            </a:r>
          </a:p>
        </p:txBody>
      </p:sp>
      <p:sp>
        <p:nvSpPr>
          <p:cNvPr id="804875" name="Line 11"/>
          <p:cNvSpPr>
            <a:spLocks noChangeShapeType="1"/>
          </p:cNvSpPr>
          <p:nvPr/>
        </p:nvSpPr>
        <p:spPr bwMode="auto">
          <a:xfrm>
            <a:off x="6629400" y="432911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76" name="Line 12"/>
          <p:cNvSpPr>
            <a:spLocks noChangeShapeType="1"/>
          </p:cNvSpPr>
          <p:nvPr/>
        </p:nvSpPr>
        <p:spPr bwMode="auto">
          <a:xfrm>
            <a:off x="6781800" y="4252913"/>
            <a:ext cx="3810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77" name="Oval 13"/>
          <p:cNvSpPr>
            <a:spLocks noChangeArrowheads="1"/>
          </p:cNvSpPr>
          <p:nvPr/>
        </p:nvSpPr>
        <p:spPr bwMode="auto">
          <a:xfrm>
            <a:off x="6400800" y="5395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foo</a:t>
            </a:r>
          </a:p>
        </p:txBody>
      </p:sp>
      <p:sp>
        <p:nvSpPr>
          <p:cNvPr id="804878" name="Line 14"/>
          <p:cNvSpPr>
            <a:spLocks noChangeShapeType="1"/>
          </p:cNvSpPr>
          <p:nvPr/>
        </p:nvSpPr>
        <p:spPr bwMode="auto">
          <a:xfrm>
            <a:off x="6629400" y="509111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79" name="Oval 15"/>
          <p:cNvSpPr>
            <a:spLocks noChangeArrowheads="1"/>
          </p:cNvSpPr>
          <p:nvPr/>
        </p:nvSpPr>
        <p:spPr bwMode="auto">
          <a:xfrm>
            <a:off x="6400800" y="6157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bar</a:t>
            </a:r>
          </a:p>
        </p:txBody>
      </p:sp>
      <p:sp>
        <p:nvSpPr>
          <p:cNvPr id="804880" name="Line 16"/>
          <p:cNvSpPr>
            <a:spLocks noChangeShapeType="1"/>
          </p:cNvSpPr>
          <p:nvPr/>
        </p:nvSpPr>
        <p:spPr bwMode="auto">
          <a:xfrm>
            <a:off x="6629400" y="585311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81" name="Oval 17"/>
          <p:cNvSpPr>
            <a:spLocks noChangeArrowheads="1"/>
          </p:cNvSpPr>
          <p:nvPr/>
        </p:nvSpPr>
        <p:spPr bwMode="auto">
          <a:xfrm>
            <a:off x="1066800" y="36433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T1</a:t>
            </a:r>
          </a:p>
        </p:txBody>
      </p:sp>
      <p:sp>
        <p:nvSpPr>
          <p:cNvPr id="804882" name="Text Box 18"/>
          <p:cNvSpPr txBox="1">
            <a:spLocks noChangeArrowheads="1"/>
          </p:cNvSpPr>
          <p:nvPr/>
        </p:nvSpPr>
        <p:spPr bwMode="auto">
          <a:xfrm>
            <a:off x="5684331" y="2605366"/>
            <a:ext cx="187743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hierarchy</a:t>
            </a:r>
          </a:p>
        </p:txBody>
      </p:sp>
      <p:sp>
        <p:nvSpPr>
          <p:cNvPr id="804883" name="Rectangle 19"/>
          <p:cNvSpPr>
            <a:spLocks noChangeArrowheads="1"/>
          </p:cNvSpPr>
          <p:nvPr/>
        </p:nvSpPr>
        <p:spPr bwMode="auto">
          <a:xfrm>
            <a:off x="914400" y="3033713"/>
            <a:ext cx="3810000" cy="2819400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84" name="Text Box 20"/>
          <p:cNvSpPr txBox="1">
            <a:spLocks noChangeArrowheads="1"/>
          </p:cNvSpPr>
          <p:nvPr/>
        </p:nvSpPr>
        <p:spPr bwMode="auto">
          <a:xfrm>
            <a:off x="966577" y="2560916"/>
            <a:ext cx="365008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Threads associated with process foo</a:t>
            </a:r>
          </a:p>
        </p:txBody>
      </p:sp>
      <p:sp>
        <p:nvSpPr>
          <p:cNvPr id="804885" name="Oval 21"/>
          <p:cNvSpPr>
            <a:spLocks noChangeArrowheads="1"/>
          </p:cNvSpPr>
          <p:nvPr/>
        </p:nvSpPr>
        <p:spPr bwMode="auto">
          <a:xfrm>
            <a:off x="2209800" y="31099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T2</a:t>
            </a:r>
          </a:p>
        </p:txBody>
      </p:sp>
      <p:sp>
        <p:nvSpPr>
          <p:cNvPr id="804886" name="Oval 22"/>
          <p:cNvSpPr>
            <a:spLocks noChangeArrowheads="1"/>
          </p:cNvSpPr>
          <p:nvPr/>
        </p:nvSpPr>
        <p:spPr bwMode="auto">
          <a:xfrm>
            <a:off x="4038600" y="33385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+mn-lt"/>
              </a:rPr>
              <a:t>T4</a:t>
            </a:r>
          </a:p>
        </p:txBody>
      </p:sp>
      <p:sp>
        <p:nvSpPr>
          <p:cNvPr id="804887" name="Oval 23"/>
          <p:cNvSpPr>
            <a:spLocks noChangeArrowheads="1"/>
          </p:cNvSpPr>
          <p:nvPr/>
        </p:nvSpPr>
        <p:spPr bwMode="auto">
          <a:xfrm>
            <a:off x="1600200" y="52435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T5</a:t>
            </a:r>
          </a:p>
        </p:txBody>
      </p:sp>
      <p:sp>
        <p:nvSpPr>
          <p:cNvPr id="804888" name="Oval 24"/>
          <p:cNvSpPr>
            <a:spLocks noChangeArrowheads="1"/>
          </p:cNvSpPr>
          <p:nvPr/>
        </p:nvSpPr>
        <p:spPr bwMode="auto">
          <a:xfrm>
            <a:off x="3429000" y="5167313"/>
            <a:ext cx="457200" cy="457200"/>
          </a:xfrm>
          <a:prstGeom prst="ellipse">
            <a:avLst/>
          </a:prstGeom>
          <a:solidFill>
            <a:srgbClr val="F1C7C7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T3</a:t>
            </a:r>
          </a:p>
        </p:txBody>
      </p:sp>
      <p:sp>
        <p:nvSpPr>
          <p:cNvPr id="804889" name="Rectangle 25"/>
          <p:cNvSpPr>
            <a:spLocks noChangeArrowheads="1"/>
          </p:cNvSpPr>
          <p:nvPr/>
        </p:nvSpPr>
        <p:spPr bwMode="auto">
          <a:xfrm>
            <a:off x="1981200" y="4100513"/>
            <a:ext cx="1905000" cy="6096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shared code, data</a:t>
            </a:r>
          </a:p>
          <a:p>
            <a:pPr algn="ctr"/>
            <a:r>
              <a:rPr lang="en-US" sz="1800" dirty="0">
                <a:latin typeface="+mn-lt"/>
              </a:rPr>
              <a:t>and kernel context</a:t>
            </a:r>
          </a:p>
        </p:txBody>
      </p:sp>
      <p:sp>
        <p:nvSpPr>
          <p:cNvPr id="804890" name="Line 26"/>
          <p:cNvSpPr>
            <a:spLocks noChangeShapeType="1"/>
          </p:cNvSpPr>
          <p:nvPr/>
        </p:nvSpPr>
        <p:spPr bwMode="auto">
          <a:xfrm flipV="1">
            <a:off x="1905000" y="4710113"/>
            <a:ext cx="304800" cy="53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91" name="Line 27"/>
          <p:cNvSpPr>
            <a:spLocks noChangeShapeType="1"/>
          </p:cNvSpPr>
          <p:nvPr/>
        </p:nvSpPr>
        <p:spPr bwMode="auto">
          <a:xfrm flipH="1" flipV="1">
            <a:off x="3352800" y="4710113"/>
            <a:ext cx="22860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92" name="Line 28"/>
          <p:cNvSpPr>
            <a:spLocks noChangeShapeType="1"/>
          </p:cNvSpPr>
          <p:nvPr/>
        </p:nvSpPr>
        <p:spPr bwMode="auto">
          <a:xfrm flipH="1" flipV="1">
            <a:off x="1524000" y="4024313"/>
            <a:ext cx="381000" cy="3048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93" name="Line 29"/>
          <p:cNvSpPr>
            <a:spLocks noChangeShapeType="1"/>
          </p:cNvSpPr>
          <p:nvPr/>
        </p:nvSpPr>
        <p:spPr bwMode="auto">
          <a:xfrm flipH="1" flipV="1">
            <a:off x="2438400" y="3567113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4894" name="Line 30"/>
          <p:cNvSpPr>
            <a:spLocks noChangeShapeType="1"/>
          </p:cNvSpPr>
          <p:nvPr/>
        </p:nvSpPr>
        <p:spPr bwMode="auto">
          <a:xfrm flipV="1">
            <a:off x="3657600" y="3719513"/>
            <a:ext cx="457200" cy="381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61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90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Concurrent Threads</a:t>
            </a:r>
            <a:endParaRPr lang="en-US" dirty="0"/>
          </a:p>
        </p:txBody>
      </p:sp>
      <p:sp>
        <p:nvSpPr>
          <p:cNvPr id="805909" name="Rectangle 2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600" dirty="0"/>
              <a:t>Two threads </a:t>
            </a:r>
            <a:r>
              <a:rPr lang="en-US" sz="2600" dirty="0" smtClean="0"/>
              <a:t>are </a:t>
            </a:r>
            <a:r>
              <a:rPr lang="en-US" sz="2600" i="1" dirty="0" smtClean="0"/>
              <a:t>concurrent</a:t>
            </a:r>
            <a:r>
              <a:rPr lang="en-US" sz="2600" dirty="0" smtClean="0"/>
              <a:t> if </a:t>
            </a:r>
            <a:r>
              <a:rPr lang="en-US" sz="2600" dirty="0"/>
              <a:t>their </a:t>
            </a:r>
            <a:r>
              <a:rPr lang="en-US" sz="2600" dirty="0" smtClean="0"/>
              <a:t>flows </a:t>
            </a:r>
            <a:r>
              <a:rPr lang="en-US" sz="2600" dirty="0"/>
              <a:t>overlap in time</a:t>
            </a:r>
          </a:p>
          <a:p>
            <a:r>
              <a:rPr lang="en-US" sz="2600" dirty="0"/>
              <a:t>Otherwise, they are sequential</a:t>
            </a:r>
          </a:p>
          <a:p>
            <a:endParaRPr lang="en-US" sz="2200" dirty="0"/>
          </a:p>
          <a:p>
            <a:r>
              <a:rPr lang="en-US" sz="2600" dirty="0"/>
              <a:t>Examples:</a:t>
            </a:r>
          </a:p>
          <a:p>
            <a:pPr lvl="1"/>
            <a:r>
              <a:rPr lang="en-US" sz="2200" dirty="0"/>
              <a:t>Concurrent: A &amp; B, A&amp;C</a:t>
            </a:r>
          </a:p>
          <a:p>
            <a:pPr lvl="1"/>
            <a:r>
              <a:rPr lang="en-US" sz="2200" dirty="0"/>
              <a:t>Sequential: B &amp; 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05892" name="Line 4"/>
          <p:cNvSpPr>
            <a:spLocks noChangeShapeType="1"/>
          </p:cNvSpPr>
          <p:nvPr/>
        </p:nvSpPr>
        <p:spPr bwMode="auto">
          <a:xfrm flipH="1">
            <a:off x="4194175" y="3448050"/>
            <a:ext cx="0" cy="274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893" name="Text Box 5"/>
          <p:cNvSpPr txBox="1">
            <a:spLocks noChangeArrowheads="1"/>
          </p:cNvSpPr>
          <p:nvPr/>
        </p:nvSpPr>
        <p:spPr bwMode="auto">
          <a:xfrm>
            <a:off x="3432175" y="4513263"/>
            <a:ext cx="6596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Time</a:t>
            </a:r>
          </a:p>
        </p:txBody>
      </p:sp>
      <p:sp>
        <p:nvSpPr>
          <p:cNvPr id="805894" name="Line 6"/>
          <p:cNvSpPr>
            <a:spLocks noChangeShapeType="1"/>
          </p:cNvSpPr>
          <p:nvPr/>
        </p:nvSpPr>
        <p:spPr bwMode="auto">
          <a:xfrm>
            <a:off x="5200650" y="3598863"/>
            <a:ext cx="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895" name="Text Box 7"/>
          <p:cNvSpPr txBox="1">
            <a:spLocks noChangeArrowheads="1"/>
          </p:cNvSpPr>
          <p:nvPr/>
        </p:nvSpPr>
        <p:spPr bwMode="auto">
          <a:xfrm>
            <a:off x="4633913" y="3065463"/>
            <a:ext cx="10567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+mn-lt"/>
              </a:rPr>
              <a:t>Thread A</a:t>
            </a:r>
          </a:p>
        </p:txBody>
      </p:sp>
      <p:sp>
        <p:nvSpPr>
          <p:cNvPr id="805896" name="Text Box 8"/>
          <p:cNvSpPr txBox="1">
            <a:spLocks noChangeArrowheads="1"/>
          </p:cNvSpPr>
          <p:nvPr/>
        </p:nvSpPr>
        <p:spPr bwMode="auto">
          <a:xfrm>
            <a:off x="6157913" y="3065463"/>
            <a:ext cx="104048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Thread B</a:t>
            </a:r>
          </a:p>
        </p:txBody>
      </p:sp>
      <p:sp>
        <p:nvSpPr>
          <p:cNvPr id="805897" name="Text Box 9"/>
          <p:cNvSpPr txBox="1">
            <a:spLocks noChangeArrowheads="1"/>
          </p:cNvSpPr>
          <p:nvPr/>
        </p:nvSpPr>
        <p:spPr bwMode="auto">
          <a:xfrm>
            <a:off x="7681913" y="3065463"/>
            <a:ext cx="103326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Thread C</a:t>
            </a:r>
          </a:p>
        </p:txBody>
      </p:sp>
      <p:sp>
        <p:nvSpPr>
          <p:cNvPr id="805898" name="Line 10"/>
          <p:cNvSpPr>
            <a:spLocks noChangeShapeType="1"/>
          </p:cNvSpPr>
          <p:nvPr/>
        </p:nvSpPr>
        <p:spPr bwMode="auto">
          <a:xfrm flipH="1">
            <a:off x="6708775" y="390525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899" name="Line 11"/>
          <p:cNvSpPr>
            <a:spLocks noChangeShapeType="1"/>
          </p:cNvSpPr>
          <p:nvPr/>
        </p:nvSpPr>
        <p:spPr bwMode="auto">
          <a:xfrm flipH="1">
            <a:off x="8232775" y="4514850"/>
            <a:ext cx="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0" name="Line 12"/>
          <p:cNvSpPr>
            <a:spLocks noChangeShapeType="1"/>
          </p:cNvSpPr>
          <p:nvPr/>
        </p:nvSpPr>
        <p:spPr bwMode="auto">
          <a:xfrm>
            <a:off x="5184775" y="489585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1" name="Line 13"/>
          <p:cNvSpPr>
            <a:spLocks noChangeShapeType="1"/>
          </p:cNvSpPr>
          <p:nvPr/>
        </p:nvSpPr>
        <p:spPr bwMode="auto">
          <a:xfrm flipH="1">
            <a:off x="8232775" y="5505450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2" name="Line 14"/>
          <p:cNvSpPr>
            <a:spLocks noChangeShapeType="1"/>
          </p:cNvSpPr>
          <p:nvPr/>
        </p:nvSpPr>
        <p:spPr bwMode="auto">
          <a:xfrm>
            <a:off x="4743450" y="3903663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3" name="Line 15"/>
          <p:cNvSpPr>
            <a:spLocks noChangeShapeType="1"/>
          </p:cNvSpPr>
          <p:nvPr/>
        </p:nvSpPr>
        <p:spPr bwMode="auto">
          <a:xfrm>
            <a:off x="4727575" y="48958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4" name="Line 16"/>
          <p:cNvSpPr>
            <a:spLocks noChangeShapeType="1"/>
          </p:cNvSpPr>
          <p:nvPr/>
        </p:nvSpPr>
        <p:spPr bwMode="auto">
          <a:xfrm>
            <a:off x="4727575" y="55054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5" name="Line 17"/>
          <p:cNvSpPr>
            <a:spLocks noChangeShapeType="1"/>
          </p:cNvSpPr>
          <p:nvPr/>
        </p:nvSpPr>
        <p:spPr bwMode="auto">
          <a:xfrm>
            <a:off x="4727575" y="61150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6" name="Line 18"/>
          <p:cNvSpPr>
            <a:spLocks noChangeShapeType="1"/>
          </p:cNvSpPr>
          <p:nvPr/>
        </p:nvSpPr>
        <p:spPr bwMode="auto">
          <a:xfrm>
            <a:off x="4727575" y="45148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805907" name="Line 19"/>
          <p:cNvSpPr>
            <a:spLocks noChangeShapeType="1"/>
          </p:cNvSpPr>
          <p:nvPr/>
        </p:nvSpPr>
        <p:spPr bwMode="auto">
          <a:xfrm>
            <a:off x="4727575" y="3600450"/>
            <a:ext cx="4038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225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90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Concurrent Thread </a:t>
            </a:r>
            <a:r>
              <a:rPr lang="en-US" dirty="0"/>
              <a:t>Execution</a:t>
            </a:r>
          </a:p>
        </p:txBody>
      </p:sp>
      <p:sp>
        <p:nvSpPr>
          <p:cNvPr id="805909" name="Rectangle 21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Single Core Processor</a:t>
            </a:r>
          </a:p>
          <a:p>
            <a:pPr lvl="1"/>
            <a:r>
              <a:rPr lang="en-US" dirty="0" smtClean="0"/>
              <a:t>Simulate parallelism by time slicing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Multi-Core Processor</a:t>
            </a:r>
          </a:p>
          <a:p>
            <a:pPr lvl="1"/>
            <a:r>
              <a:rPr lang="en-US" dirty="0" smtClean="0"/>
              <a:t>Can have true parallelism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4235072" y="3429000"/>
            <a:ext cx="659631" cy="2743200"/>
            <a:chOff x="5530472" y="3429000"/>
            <a:chExt cx="659631" cy="2743200"/>
          </a:xfrm>
        </p:grpSpPr>
        <p:sp>
          <p:nvSpPr>
            <p:cNvPr id="805892" name="Line 4"/>
            <p:cNvSpPr>
              <a:spLocks noChangeShapeType="1"/>
            </p:cNvSpPr>
            <p:nvPr/>
          </p:nvSpPr>
          <p:spPr bwMode="auto">
            <a:xfrm flipH="1">
              <a:off x="5867400" y="3429000"/>
              <a:ext cx="0" cy="274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893" name="Text Box 5"/>
            <p:cNvSpPr txBox="1">
              <a:spLocks noChangeArrowheads="1"/>
            </p:cNvSpPr>
            <p:nvPr/>
          </p:nvSpPr>
          <p:spPr bwMode="auto">
            <a:xfrm>
              <a:off x="5530472" y="4494213"/>
              <a:ext cx="659631" cy="3693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1800" dirty="0">
                  <a:latin typeface="+mn-lt"/>
                </a:rPr>
                <a:t>Time</a:t>
              </a:r>
            </a:p>
          </p:txBody>
        </p:sp>
      </p:grpSp>
      <p:sp>
        <p:nvSpPr>
          <p:cNvPr id="805895" name="Text Box 7"/>
          <p:cNvSpPr txBox="1">
            <a:spLocks noChangeArrowheads="1"/>
          </p:cNvSpPr>
          <p:nvPr/>
        </p:nvSpPr>
        <p:spPr bwMode="auto">
          <a:xfrm>
            <a:off x="228600" y="3065463"/>
            <a:ext cx="10567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Thread A</a:t>
            </a:r>
          </a:p>
        </p:txBody>
      </p:sp>
      <p:sp>
        <p:nvSpPr>
          <p:cNvPr id="805896" name="Text Box 8"/>
          <p:cNvSpPr txBox="1">
            <a:spLocks noChangeArrowheads="1"/>
          </p:cNvSpPr>
          <p:nvPr/>
        </p:nvSpPr>
        <p:spPr bwMode="auto">
          <a:xfrm>
            <a:off x="1524000" y="3065463"/>
            <a:ext cx="104048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Thread B</a:t>
            </a:r>
          </a:p>
        </p:txBody>
      </p:sp>
      <p:sp>
        <p:nvSpPr>
          <p:cNvPr id="805897" name="Text Box 9"/>
          <p:cNvSpPr txBox="1">
            <a:spLocks noChangeArrowheads="1"/>
          </p:cNvSpPr>
          <p:nvPr/>
        </p:nvSpPr>
        <p:spPr bwMode="auto">
          <a:xfrm>
            <a:off x="2895600" y="3065463"/>
            <a:ext cx="103326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+mn-lt"/>
              </a:rPr>
              <a:t>Thread C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22263" y="3598863"/>
            <a:ext cx="3505200" cy="2516187"/>
            <a:chOff x="322262" y="3598863"/>
            <a:chExt cx="4054475" cy="2516187"/>
          </a:xfrm>
        </p:grpSpPr>
        <p:sp>
          <p:nvSpPr>
            <p:cNvPr id="805894" name="Line 6"/>
            <p:cNvSpPr>
              <a:spLocks noChangeShapeType="1"/>
            </p:cNvSpPr>
            <p:nvPr/>
          </p:nvSpPr>
          <p:spPr bwMode="auto">
            <a:xfrm>
              <a:off x="795337" y="3598863"/>
              <a:ext cx="0" cy="3048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898" name="Line 10"/>
            <p:cNvSpPr>
              <a:spLocks noChangeShapeType="1"/>
            </p:cNvSpPr>
            <p:nvPr/>
          </p:nvSpPr>
          <p:spPr bwMode="auto">
            <a:xfrm flipH="1">
              <a:off x="2303462" y="3905250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899" name="Line 11"/>
            <p:cNvSpPr>
              <a:spLocks noChangeShapeType="1"/>
            </p:cNvSpPr>
            <p:nvPr/>
          </p:nvSpPr>
          <p:spPr bwMode="auto">
            <a:xfrm flipH="1">
              <a:off x="3827462" y="4514850"/>
              <a:ext cx="0" cy="3810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0" name="Line 12"/>
            <p:cNvSpPr>
              <a:spLocks noChangeShapeType="1"/>
            </p:cNvSpPr>
            <p:nvPr/>
          </p:nvSpPr>
          <p:spPr bwMode="auto">
            <a:xfrm>
              <a:off x="779462" y="4895850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1" name="Line 13"/>
            <p:cNvSpPr>
              <a:spLocks noChangeShapeType="1"/>
            </p:cNvSpPr>
            <p:nvPr/>
          </p:nvSpPr>
          <p:spPr bwMode="auto">
            <a:xfrm flipH="1">
              <a:off x="3827462" y="5505450"/>
              <a:ext cx="0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2" name="Line 14"/>
            <p:cNvSpPr>
              <a:spLocks noChangeShapeType="1"/>
            </p:cNvSpPr>
            <p:nvPr/>
          </p:nvSpPr>
          <p:spPr bwMode="auto">
            <a:xfrm>
              <a:off x="338137" y="3903663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3" name="Line 15"/>
            <p:cNvSpPr>
              <a:spLocks noChangeShapeType="1"/>
            </p:cNvSpPr>
            <p:nvPr/>
          </p:nvSpPr>
          <p:spPr bwMode="auto">
            <a:xfrm>
              <a:off x="322262" y="48958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4" name="Line 16"/>
            <p:cNvSpPr>
              <a:spLocks noChangeShapeType="1"/>
            </p:cNvSpPr>
            <p:nvPr/>
          </p:nvSpPr>
          <p:spPr bwMode="auto">
            <a:xfrm>
              <a:off x="322262" y="55054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5" name="Line 17"/>
            <p:cNvSpPr>
              <a:spLocks noChangeShapeType="1"/>
            </p:cNvSpPr>
            <p:nvPr/>
          </p:nvSpPr>
          <p:spPr bwMode="auto">
            <a:xfrm>
              <a:off x="322262" y="61150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6" name="Line 18"/>
            <p:cNvSpPr>
              <a:spLocks noChangeShapeType="1"/>
            </p:cNvSpPr>
            <p:nvPr/>
          </p:nvSpPr>
          <p:spPr bwMode="auto">
            <a:xfrm>
              <a:off x="322262" y="45148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  <p:sp>
          <p:nvSpPr>
            <p:cNvPr id="805907" name="Line 19"/>
            <p:cNvSpPr>
              <a:spLocks noChangeShapeType="1"/>
            </p:cNvSpPr>
            <p:nvPr/>
          </p:nvSpPr>
          <p:spPr bwMode="auto">
            <a:xfrm>
              <a:off x="322262" y="3600450"/>
              <a:ext cx="4038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800">
                <a:latin typeface="+mn-lt"/>
              </a:endParaRPr>
            </a:p>
          </p:txBody>
        </p:sp>
      </p:grp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5014397" y="3048000"/>
            <a:ext cx="105670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Thread A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6309797" y="3048000"/>
            <a:ext cx="104048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+mn-lt"/>
              </a:rPr>
              <a:t>Thread B</a:t>
            </a: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7681397" y="3048000"/>
            <a:ext cx="103326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+mn-lt"/>
              </a:rPr>
              <a:t>Thread C</a:t>
            </a:r>
          </a:p>
        </p:txBody>
      </p:sp>
      <p:sp>
        <p:nvSpPr>
          <p:cNvPr id="27" name="Line 6"/>
          <p:cNvSpPr>
            <a:spLocks noChangeShapeType="1"/>
          </p:cNvSpPr>
          <p:nvPr/>
        </p:nvSpPr>
        <p:spPr bwMode="auto">
          <a:xfrm>
            <a:off x="5517045" y="3581399"/>
            <a:ext cx="0" cy="91281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 flipH="1">
            <a:off x="6858000" y="3887787"/>
            <a:ext cx="0" cy="97575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 flipH="1">
            <a:off x="8153400" y="4497387"/>
            <a:ext cx="0" cy="1600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0" name="Line 12"/>
          <p:cNvSpPr>
            <a:spLocks noChangeShapeType="1"/>
          </p:cNvSpPr>
          <p:nvPr/>
        </p:nvSpPr>
        <p:spPr bwMode="auto">
          <a:xfrm>
            <a:off x="5503321" y="4878387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 flipH="1">
            <a:off x="6858000" y="5487987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5121784" y="3886200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3" name="Line 15"/>
          <p:cNvSpPr>
            <a:spLocks noChangeShapeType="1"/>
          </p:cNvSpPr>
          <p:nvPr/>
        </p:nvSpPr>
        <p:spPr bwMode="auto">
          <a:xfrm>
            <a:off x="5108060" y="48783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4" name="Line 16"/>
          <p:cNvSpPr>
            <a:spLocks noChangeShapeType="1"/>
          </p:cNvSpPr>
          <p:nvPr/>
        </p:nvSpPr>
        <p:spPr bwMode="auto">
          <a:xfrm>
            <a:off x="5108060" y="54879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5108060" y="60975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>
            <a:off x="5108060" y="44973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>
            <a:off x="5108060" y="3582987"/>
            <a:ext cx="349147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88999" y="618386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Run 3 threads on 2 cores</a:t>
            </a:r>
          </a:p>
        </p:txBody>
      </p:sp>
    </p:spTree>
    <p:extLst>
      <p:ext uri="{BB962C8B-B14F-4D97-AF65-F5344CB8AC3E}">
        <p14:creationId xmlns:p14="http://schemas.microsoft.com/office/powerpoint/2010/main" val="344360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 vs. Processes</a:t>
            </a:r>
          </a:p>
        </p:txBody>
      </p:sp>
      <p:sp>
        <p:nvSpPr>
          <p:cNvPr id="8069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624887" cy="5351462"/>
          </a:xfrm>
        </p:spPr>
        <p:txBody>
          <a:bodyPr/>
          <a:lstStyle/>
          <a:p>
            <a:r>
              <a:rPr lang="en-US" sz="2600" dirty="0"/>
              <a:t>How threads and processes are similar</a:t>
            </a:r>
          </a:p>
          <a:p>
            <a:pPr lvl="1"/>
            <a:r>
              <a:rPr lang="en-US" sz="2200" dirty="0"/>
              <a:t>Each has its own logical control flow</a:t>
            </a:r>
          </a:p>
          <a:p>
            <a:pPr lvl="1"/>
            <a:r>
              <a:rPr lang="en-US" sz="2200" dirty="0"/>
              <a:t>Each can run concurrently with </a:t>
            </a:r>
            <a:r>
              <a:rPr lang="en-US" sz="2200" dirty="0" smtClean="0"/>
              <a:t>others (possibly on different cores)</a:t>
            </a:r>
            <a:endParaRPr lang="en-US" sz="2200" dirty="0"/>
          </a:p>
          <a:p>
            <a:pPr lvl="1"/>
            <a:r>
              <a:rPr lang="en-US" sz="2200" dirty="0"/>
              <a:t>Each is context switched</a:t>
            </a:r>
          </a:p>
          <a:p>
            <a:r>
              <a:rPr lang="en-US" sz="2600" dirty="0"/>
              <a:t>How threads and processes are different</a:t>
            </a:r>
          </a:p>
          <a:p>
            <a:pPr lvl="1"/>
            <a:r>
              <a:rPr lang="en-US" sz="2200" dirty="0"/>
              <a:t>Threads share </a:t>
            </a:r>
            <a:r>
              <a:rPr lang="en-US" sz="2200" dirty="0" smtClean="0"/>
              <a:t>all code and data (except local stacks)</a:t>
            </a:r>
          </a:p>
          <a:p>
            <a:pPr lvl="2"/>
            <a:r>
              <a:rPr lang="en-US" dirty="0" smtClean="0"/>
              <a:t>Processes </a:t>
            </a:r>
            <a:r>
              <a:rPr lang="en-US" dirty="0"/>
              <a:t>(typically) do not</a:t>
            </a:r>
          </a:p>
          <a:p>
            <a:pPr lvl="1"/>
            <a:r>
              <a:rPr lang="en-US" sz="2200" dirty="0"/>
              <a:t>Threads are somewhat less expensive than processes</a:t>
            </a:r>
          </a:p>
          <a:p>
            <a:pPr lvl="2"/>
            <a:r>
              <a:rPr lang="en-US" dirty="0"/>
              <a:t>Process control (creating and reaping</a:t>
            </a:r>
            <a:r>
              <a:rPr lang="en-US" dirty="0" smtClean="0"/>
              <a:t>) </a:t>
            </a:r>
            <a:r>
              <a:rPr lang="en-US" dirty="0"/>
              <a:t>twice as expensive as thread control</a:t>
            </a:r>
          </a:p>
          <a:p>
            <a:pPr lvl="2"/>
            <a:r>
              <a:rPr lang="en-US" dirty="0" smtClean="0"/>
              <a:t>Linux </a:t>
            </a:r>
            <a:r>
              <a:rPr lang="en-US" dirty="0"/>
              <a:t>numbers:</a:t>
            </a:r>
          </a:p>
          <a:p>
            <a:pPr lvl="3"/>
            <a:r>
              <a:rPr lang="en-US" dirty="0"/>
              <a:t>~20K cycles to create and reap a process</a:t>
            </a:r>
          </a:p>
          <a:p>
            <a:pPr lvl="3"/>
            <a:r>
              <a:rPr lang="en-US" dirty="0"/>
              <a:t>~10K cycles (or less) to create and reap a thread</a:t>
            </a:r>
          </a:p>
        </p:txBody>
      </p:sp>
    </p:spTree>
    <p:extLst>
      <p:ext uri="{BB962C8B-B14F-4D97-AF65-F5344CB8AC3E}">
        <p14:creationId xmlns:p14="http://schemas.microsoft.com/office/powerpoint/2010/main" val="44024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3375"/>
            <a:ext cx="7962900" cy="573088"/>
          </a:xfrm>
        </p:spPr>
        <p:txBody>
          <a:bodyPr/>
          <a:lstStyle/>
          <a:p>
            <a:r>
              <a:rPr lang="en-US"/>
              <a:t>Posix Threads (Pthreads) Interface</a:t>
            </a:r>
          </a:p>
        </p:txBody>
      </p:sp>
      <p:sp>
        <p:nvSpPr>
          <p:cNvPr id="807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914400"/>
            <a:ext cx="8394700" cy="5562600"/>
          </a:xfrm>
        </p:spPr>
        <p:txBody>
          <a:bodyPr/>
          <a:lstStyle/>
          <a:p>
            <a:r>
              <a:rPr lang="en-US" i="1" dirty="0" err="1"/>
              <a:t>Pthreads</a:t>
            </a:r>
            <a:r>
              <a:rPr lang="en-US" i="1" dirty="0"/>
              <a:t>:</a:t>
            </a:r>
            <a:r>
              <a:rPr lang="en-US" dirty="0"/>
              <a:t> Standard interface for ~60 functions that manipulate threads from C programs</a:t>
            </a:r>
          </a:p>
          <a:p>
            <a:pPr lvl="1"/>
            <a:r>
              <a:rPr lang="en-US" dirty="0"/>
              <a:t>Creating and reaping threads</a:t>
            </a:r>
          </a:p>
          <a:p>
            <a:pPr lvl="2"/>
            <a:r>
              <a:rPr lang="en-US" dirty="0" err="1">
                <a:latin typeface="Courier New" pitchFamily="49" charset="0"/>
              </a:rPr>
              <a:t>pthread_create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pPr lvl="2"/>
            <a:r>
              <a:rPr lang="en-US" dirty="0" err="1">
                <a:latin typeface="Courier New" pitchFamily="49" charset="0"/>
              </a:rPr>
              <a:t>pthread_join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pPr lvl="1"/>
            <a:r>
              <a:rPr lang="en-US" dirty="0"/>
              <a:t>Determining your thread ID</a:t>
            </a:r>
          </a:p>
          <a:p>
            <a:pPr lvl="2"/>
            <a:r>
              <a:rPr lang="en-US" dirty="0" err="1">
                <a:latin typeface="Courier New" pitchFamily="49" charset="0"/>
              </a:rPr>
              <a:t>pthread_self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Terminating threads</a:t>
            </a:r>
          </a:p>
          <a:p>
            <a:pPr lvl="2"/>
            <a:r>
              <a:rPr lang="en-US" dirty="0" err="1">
                <a:latin typeface="Courier New" pitchFamily="49" charset="0"/>
              </a:rPr>
              <a:t>pthread_cancel</a:t>
            </a:r>
            <a:r>
              <a:rPr lang="en-US" dirty="0">
                <a:latin typeface="Courier New" pitchFamily="49" charset="0"/>
              </a:rPr>
              <a:t>()</a:t>
            </a:r>
          </a:p>
          <a:p>
            <a:pPr lvl="2"/>
            <a:r>
              <a:rPr lang="en-US" dirty="0" err="1">
                <a:latin typeface="Courier New" pitchFamily="49" charset="0"/>
              </a:rPr>
              <a:t>pthread_exit</a:t>
            </a:r>
            <a:r>
              <a:rPr lang="en-US" dirty="0">
                <a:latin typeface="Courier New" pitchFamily="49" charset="0"/>
              </a:rPr>
              <a:t>()</a:t>
            </a:r>
            <a:endParaRPr lang="en-US" dirty="0"/>
          </a:p>
          <a:p>
            <a:pPr lvl="2"/>
            <a:r>
              <a:rPr lang="en-US" dirty="0">
                <a:latin typeface="Courier New" pitchFamily="49" charset="0"/>
              </a:rPr>
              <a:t>exit()</a:t>
            </a:r>
            <a:r>
              <a:rPr lang="en-US" dirty="0"/>
              <a:t> [terminates all threads] </a:t>
            </a:r>
          </a:p>
          <a:p>
            <a:pPr lvl="2"/>
            <a:r>
              <a:rPr lang="en-US" dirty="0" smtClean="0">
                <a:latin typeface="Courier New" pitchFamily="49" charset="0"/>
              </a:rPr>
              <a:t>return </a:t>
            </a:r>
            <a:r>
              <a:rPr lang="en-US" dirty="0"/>
              <a:t>[terminates current thread]</a:t>
            </a:r>
          </a:p>
          <a:p>
            <a:pPr lvl="1"/>
            <a:r>
              <a:rPr lang="en-US" dirty="0"/>
              <a:t>Synchronizing access to shared variables</a:t>
            </a:r>
          </a:p>
          <a:p>
            <a:pPr lvl="2"/>
            <a:r>
              <a:rPr lang="en-US" dirty="0" err="1">
                <a:latin typeface="Courier New" pitchFamily="49" charset="0"/>
              </a:rPr>
              <a:t>pthread_mutex_init</a:t>
            </a:r>
            <a:endParaRPr lang="en-US" dirty="0">
              <a:latin typeface="Courier New" pitchFamily="49" charset="0"/>
            </a:endParaRPr>
          </a:p>
          <a:p>
            <a:pPr lvl="2"/>
            <a:r>
              <a:rPr lang="en-US" dirty="0" err="1">
                <a:latin typeface="Courier New" pitchFamily="49" charset="0"/>
              </a:rPr>
              <a:t>pthread_mutex</a:t>
            </a:r>
            <a:r>
              <a:rPr lang="en-US" dirty="0">
                <a:latin typeface="Courier New" pitchFamily="49" charset="0"/>
              </a:rPr>
              <a:t>_[un]</a:t>
            </a:r>
            <a:r>
              <a:rPr lang="en-US" dirty="0" smtClean="0">
                <a:latin typeface="Courier New" pitchFamily="49" charset="0"/>
              </a:rPr>
              <a:t>lock</a:t>
            </a:r>
            <a:endParaRPr 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91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98376" y="5228272"/>
            <a:ext cx="6388287" cy="1477328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thread routine *</a:t>
            </a:r>
            <a:r>
              <a:rPr lang="en-US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"Hello, world!\n"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s-I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;                 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} 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80897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Pthreads "hello, world" Program</a:t>
            </a:r>
          </a:p>
        </p:txBody>
      </p:sp>
      <p:sp>
        <p:nvSpPr>
          <p:cNvPr id="808963" name="Rectangle 3"/>
          <p:cNvSpPr>
            <a:spLocks noChangeArrowheads="1"/>
          </p:cNvSpPr>
          <p:nvPr/>
        </p:nvSpPr>
        <p:spPr bwMode="auto">
          <a:xfrm>
            <a:off x="76200" y="1397436"/>
            <a:ext cx="6410464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                                                                                                              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*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hello.c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-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Pthreads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"hello, world" program                                                                     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 smtClean="0">
                <a:solidFill>
                  <a:srgbClr val="926492"/>
                </a:solidFill>
                <a:latin typeface="Courier New"/>
                <a:cs typeface="Courier New"/>
              </a:rPr>
              <a:t>#</a:t>
            </a:r>
            <a:r>
              <a:rPr lang="en-US" sz="1600" dirty="0">
                <a:solidFill>
                  <a:srgbClr val="926492"/>
                </a:solidFill>
                <a:latin typeface="Courier New"/>
                <a:cs typeface="Courier New"/>
              </a:rPr>
              <a:t>include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csapp.h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           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 smtClean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fr-FR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r-FR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fr-FR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argc</a:t>
            </a:r>
            <a:r>
              <a:rPr lang="fr-FR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, char** </a:t>
            </a:r>
            <a:r>
              <a:rPr lang="fr-FR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fr-FR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pthread_t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       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Pthread_create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thread,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Pthread_join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         </a:t>
            </a:r>
          </a:p>
          <a:p>
            <a:r>
              <a:rPr lang="it-IT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t-IT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return 0;                                  </a:t>
            </a:r>
            <a:endParaRPr lang="it-IT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52800" y="1905000"/>
            <a:ext cx="5021969" cy="1752600"/>
            <a:chOff x="4114798" y="1905000"/>
            <a:chExt cx="5021969" cy="1752600"/>
          </a:xfrm>
        </p:grpSpPr>
        <p:sp>
          <p:nvSpPr>
            <p:cNvPr id="808964" name="Text Box 4"/>
            <p:cNvSpPr txBox="1">
              <a:spLocks noChangeArrowheads="1"/>
            </p:cNvSpPr>
            <p:nvPr/>
          </p:nvSpPr>
          <p:spPr bwMode="auto">
            <a:xfrm>
              <a:off x="7039643" y="1905000"/>
              <a:ext cx="2097124" cy="70788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>
                  <a:latin typeface="+mn-lt"/>
                </a:rPr>
                <a:t>Thread attributes </a:t>
              </a:r>
            </a:p>
            <a:p>
              <a:pPr algn="ctr"/>
              <a:r>
                <a:rPr lang="en-US" sz="2000" i="1">
                  <a:latin typeface="+mn-lt"/>
                </a:rPr>
                <a:t>(usually NULL)</a:t>
              </a:r>
            </a:p>
          </p:txBody>
        </p:sp>
        <p:sp>
          <p:nvSpPr>
            <p:cNvPr id="808967" name="Line 7"/>
            <p:cNvSpPr>
              <a:spLocks noChangeShapeType="1"/>
            </p:cNvSpPr>
            <p:nvPr/>
          </p:nvSpPr>
          <p:spPr bwMode="auto">
            <a:xfrm flipH="1">
              <a:off x="4114798" y="2286000"/>
              <a:ext cx="2993809" cy="1371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257800" y="3870557"/>
            <a:ext cx="3539887" cy="707887"/>
            <a:chOff x="6019799" y="3191013"/>
            <a:chExt cx="3539887" cy="707887"/>
          </a:xfrm>
        </p:grpSpPr>
        <p:sp>
          <p:nvSpPr>
            <p:cNvPr id="808965" name="Text Box 5"/>
            <p:cNvSpPr txBox="1">
              <a:spLocks noChangeArrowheads="1"/>
            </p:cNvSpPr>
            <p:nvPr/>
          </p:nvSpPr>
          <p:spPr bwMode="auto">
            <a:xfrm>
              <a:off x="7352481" y="3191014"/>
              <a:ext cx="2207205" cy="70788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>
                  <a:latin typeface="+mn-lt"/>
                </a:rPr>
                <a:t>Thread arguments</a:t>
              </a:r>
            </a:p>
            <a:p>
              <a:pPr algn="ctr"/>
              <a:r>
                <a:rPr lang="en-US" sz="2000" i="1">
                  <a:latin typeface="+mn-lt"/>
                </a:rPr>
                <a:t>(void *p) </a:t>
              </a:r>
            </a:p>
          </p:txBody>
        </p:sp>
        <p:sp>
          <p:nvSpPr>
            <p:cNvPr id="808968" name="Line 8"/>
            <p:cNvSpPr>
              <a:spLocks noChangeShapeType="1"/>
            </p:cNvSpPr>
            <p:nvPr/>
          </p:nvSpPr>
          <p:spPr bwMode="auto">
            <a:xfrm flipH="1" flipV="1">
              <a:off x="6019799" y="3191013"/>
              <a:ext cx="1427034" cy="3539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200400" y="4114800"/>
            <a:ext cx="4695877" cy="1552714"/>
            <a:chOff x="3810000" y="3857486"/>
            <a:chExt cx="4695877" cy="1552714"/>
          </a:xfrm>
        </p:grpSpPr>
        <p:sp>
          <p:nvSpPr>
            <p:cNvPr id="808966" name="Text Box 6"/>
            <p:cNvSpPr txBox="1">
              <a:spLocks noChangeArrowheads="1"/>
            </p:cNvSpPr>
            <p:nvPr/>
          </p:nvSpPr>
          <p:spPr bwMode="auto">
            <a:xfrm>
              <a:off x="6901552" y="4702314"/>
              <a:ext cx="1604325" cy="707886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 dirty="0">
                  <a:latin typeface="+mn-lt"/>
                </a:rPr>
                <a:t>R</a:t>
              </a:r>
              <a:r>
                <a:rPr lang="en-US" sz="2000" i="1" dirty="0" smtClean="0">
                  <a:latin typeface="+mn-lt"/>
                </a:rPr>
                <a:t>eturn </a:t>
              </a:r>
              <a:r>
                <a:rPr lang="en-US" sz="2000" i="1" dirty="0">
                  <a:latin typeface="+mn-lt"/>
                </a:rPr>
                <a:t>value</a:t>
              </a:r>
            </a:p>
            <a:p>
              <a:pPr algn="ctr"/>
              <a:r>
                <a:rPr lang="en-US" sz="2000" i="1" dirty="0">
                  <a:latin typeface="+mn-lt"/>
                </a:rPr>
                <a:t>(void **p)</a:t>
              </a:r>
            </a:p>
          </p:txBody>
        </p:sp>
        <p:sp>
          <p:nvSpPr>
            <p:cNvPr id="808969" name="Line 9"/>
            <p:cNvSpPr>
              <a:spLocks noChangeShapeType="1"/>
            </p:cNvSpPr>
            <p:nvPr/>
          </p:nvSpPr>
          <p:spPr bwMode="auto">
            <a:xfrm flipH="1" flipV="1">
              <a:off x="3810000" y="3857486"/>
              <a:ext cx="3163098" cy="11623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400800" y="6336268"/>
            <a:ext cx="82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hello.c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743200" y="2058888"/>
            <a:ext cx="2842459" cy="1598712"/>
            <a:chOff x="4114798" y="2058888"/>
            <a:chExt cx="5132216" cy="1598712"/>
          </a:xfrm>
        </p:grpSpPr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6929404" y="2058888"/>
              <a:ext cx="2317610" cy="400110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 dirty="0" smtClean="0">
                  <a:latin typeface="+mn-lt"/>
                </a:rPr>
                <a:t>Thread ID</a:t>
              </a:r>
              <a:endParaRPr lang="en-US" sz="2000" i="1" dirty="0">
                <a:latin typeface="+mn-lt"/>
              </a:endParaRPr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H="1">
              <a:off x="4114798" y="2286000"/>
              <a:ext cx="2885539" cy="1371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191000" y="3087588"/>
            <a:ext cx="4048080" cy="570012"/>
            <a:chOff x="4952998" y="2058888"/>
            <a:chExt cx="4048080" cy="570012"/>
          </a:xfrm>
        </p:grpSpPr>
        <p:sp>
          <p:nvSpPr>
            <p:cNvPr id="19" name="Text Box 4"/>
            <p:cNvSpPr txBox="1">
              <a:spLocks noChangeArrowheads="1"/>
            </p:cNvSpPr>
            <p:nvPr/>
          </p:nvSpPr>
          <p:spPr bwMode="auto">
            <a:xfrm>
              <a:off x="7175338" y="2058888"/>
              <a:ext cx="1825740" cy="400110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000" i="1" dirty="0" smtClean="0">
                  <a:latin typeface="+mn-lt"/>
                </a:rPr>
                <a:t>Thread routine</a:t>
              </a:r>
              <a:endParaRPr lang="en-US" sz="2000" i="1" dirty="0">
                <a:latin typeface="+mn-lt"/>
              </a:endParaRPr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 flipH="1">
              <a:off x="4952998" y="2286000"/>
              <a:ext cx="2268270" cy="342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665695" y="4321313"/>
            <a:ext cx="82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+mn-lt"/>
              </a:rPr>
              <a:t>hello.c</a:t>
            </a:r>
            <a:endParaRPr lang="en-US" sz="1800" dirty="0" smtClean="0">
              <a:solidFill>
                <a:srgbClr val="7F7F7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173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002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of </a:t>
            </a:r>
            <a:r>
              <a:rPr lang="en-US" dirty="0" smtClean="0"/>
              <a:t>Threaded “</a:t>
            </a:r>
            <a:r>
              <a:rPr lang="en-US" dirty="0"/>
              <a:t>hello, world”</a:t>
            </a:r>
          </a:p>
        </p:txBody>
      </p:sp>
      <p:sp>
        <p:nvSpPr>
          <p:cNvPr id="809987" name="Text Box 3"/>
          <p:cNvSpPr txBox="1">
            <a:spLocks noChangeArrowheads="1"/>
          </p:cNvSpPr>
          <p:nvPr/>
        </p:nvSpPr>
        <p:spPr bwMode="auto">
          <a:xfrm>
            <a:off x="2228104" y="1370290"/>
            <a:ext cx="1373092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M</a:t>
            </a:r>
            <a:r>
              <a:rPr lang="en-US" sz="1800" dirty="0" smtClean="0">
                <a:latin typeface="+mn-lt"/>
              </a:rPr>
              <a:t>ain </a:t>
            </a:r>
            <a:r>
              <a:rPr lang="en-US" sz="1800" dirty="0">
                <a:latin typeface="+mn-lt"/>
              </a:rPr>
              <a:t>thread</a:t>
            </a:r>
          </a:p>
        </p:txBody>
      </p:sp>
      <p:sp>
        <p:nvSpPr>
          <p:cNvPr id="809988" name="Text Box 4"/>
          <p:cNvSpPr txBox="1">
            <a:spLocks noChangeArrowheads="1"/>
          </p:cNvSpPr>
          <p:nvPr/>
        </p:nvSpPr>
        <p:spPr bwMode="auto">
          <a:xfrm>
            <a:off x="6242204" y="2602190"/>
            <a:ext cx="1314144" cy="3693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</a:t>
            </a:r>
            <a:r>
              <a:rPr lang="en-US" sz="1800" dirty="0" smtClean="0">
                <a:latin typeface="+mn-lt"/>
              </a:rPr>
              <a:t>eer </a:t>
            </a:r>
            <a:r>
              <a:rPr lang="en-US" sz="1800" dirty="0">
                <a:latin typeface="+mn-lt"/>
              </a:rPr>
              <a:t>thread</a:t>
            </a:r>
          </a:p>
        </p:txBody>
      </p:sp>
      <p:sp>
        <p:nvSpPr>
          <p:cNvPr id="809989" name="Line 5"/>
          <p:cNvSpPr>
            <a:spLocks noChangeShapeType="1"/>
          </p:cNvSpPr>
          <p:nvPr/>
        </p:nvSpPr>
        <p:spPr bwMode="auto">
          <a:xfrm>
            <a:off x="2895600" y="2057400"/>
            <a:ext cx="19050" cy="3413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809990" name="Line 6"/>
          <p:cNvSpPr>
            <a:spLocks noChangeShapeType="1"/>
          </p:cNvSpPr>
          <p:nvPr/>
        </p:nvSpPr>
        <p:spPr bwMode="auto">
          <a:xfrm>
            <a:off x="6724650" y="326072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809991" name="Text Box 7"/>
          <p:cNvSpPr txBox="1">
            <a:spLocks noChangeArrowheads="1"/>
          </p:cNvSpPr>
          <p:nvPr/>
        </p:nvSpPr>
        <p:spPr bwMode="auto">
          <a:xfrm>
            <a:off x="6800850" y="3549928"/>
            <a:ext cx="190133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>
                <a:latin typeface="Courier New"/>
                <a:cs typeface="Courier New"/>
              </a:rPr>
              <a:t>return NULL;</a:t>
            </a:r>
          </a:p>
        </p:txBody>
      </p:sp>
      <p:sp>
        <p:nvSpPr>
          <p:cNvPr id="809992" name="Line 8"/>
          <p:cNvSpPr>
            <a:spLocks noChangeShapeType="1"/>
          </p:cNvSpPr>
          <p:nvPr/>
        </p:nvSpPr>
        <p:spPr bwMode="auto">
          <a:xfrm>
            <a:off x="2895600" y="2438400"/>
            <a:ext cx="3829050" cy="8223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809993" name="Text Box 9"/>
          <p:cNvSpPr txBox="1">
            <a:spLocks noChangeArrowheads="1"/>
          </p:cNvSpPr>
          <p:nvPr/>
        </p:nvSpPr>
        <p:spPr bwMode="auto">
          <a:xfrm>
            <a:off x="229796" y="3502710"/>
            <a:ext cx="2634054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M</a:t>
            </a:r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ain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thread waits for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peer  thread to terminate</a:t>
            </a:r>
          </a:p>
        </p:txBody>
      </p:sp>
      <p:sp>
        <p:nvSpPr>
          <p:cNvPr id="809994" name="Line 10"/>
          <p:cNvSpPr>
            <a:spLocks noChangeShapeType="1"/>
          </p:cNvSpPr>
          <p:nvPr/>
        </p:nvSpPr>
        <p:spPr bwMode="auto">
          <a:xfrm flipH="1">
            <a:off x="2914650" y="3870325"/>
            <a:ext cx="3810000" cy="762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809995" name="Text Box 11"/>
          <p:cNvSpPr txBox="1">
            <a:spLocks noChangeArrowheads="1"/>
          </p:cNvSpPr>
          <p:nvPr/>
        </p:nvSpPr>
        <p:spPr bwMode="auto">
          <a:xfrm>
            <a:off x="1044571" y="5024348"/>
            <a:ext cx="1806579" cy="120032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/>
            <a:r>
              <a:rPr lang="en-US" sz="1800" dirty="0">
                <a:latin typeface="Courier New"/>
                <a:cs typeface="Courier New"/>
              </a:rPr>
              <a:t>exit()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T</a:t>
            </a:r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erminates </a:t>
            </a:r>
            <a:endParaRPr lang="en-US" sz="1800" dirty="0">
              <a:solidFill>
                <a:srgbClr val="FF0000"/>
              </a:solidFill>
              <a:latin typeface="+mn-lt"/>
            </a:endParaRPr>
          </a:p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main thread and </a:t>
            </a:r>
          </a:p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any peer threads</a:t>
            </a:r>
          </a:p>
        </p:txBody>
      </p:sp>
      <p:sp>
        <p:nvSpPr>
          <p:cNvPr id="809996" name="Text Box 12"/>
          <p:cNvSpPr txBox="1">
            <a:spLocks noChangeArrowheads="1"/>
          </p:cNvSpPr>
          <p:nvPr/>
        </p:nvSpPr>
        <p:spPr bwMode="auto">
          <a:xfrm>
            <a:off x="5827" y="2209800"/>
            <a:ext cx="281357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b="0" dirty="0">
                <a:latin typeface="+mn-lt"/>
              </a:rPr>
              <a:t>call </a:t>
            </a:r>
            <a:r>
              <a:rPr lang="en-US" sz="1800" dirty="0" err="1">
                <a:latin typeface="Courier New"/>
                <a:cs typeface="Courier New"/>
              </a:rPr>
              <a:t>Pthread_create</a:t>
            </a:r>
            <a:r>
              <a:rPr lang="en-US" sz="1800" dirty="0">
                <a:latin typeface="Courier New"/>
                <a:cs typeface="Courier New"/>
              </a:rPr>
              <a:t>()</a:t>
            </a:r>
          </a:p>
        </p:txBody>
      </p:sp>
      <p:sp>
        <p:nvSpPr>
          <p:cNvPr id="809997" name="Text Box 13"/>
          <p:cNvSpPr txBox="1">
            <a:spLocks noChangeArrowheads="1"/>
          </p:cNvSpPr>
          <p:nvPr/>
        </p:nvSpPr>
        <p:spPr bwMode="auto">
          <a:xfrm>
            <a:off x="282871" y="3059668"/>
            <a:ext cx="2536529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b="0" dirty="0">
                <a:latin typeface="+mn-lt"/>
              </a:rPr>
              <a:t>call </a:t>
            </a:r>
            <a:r>
              <a:rPr lang="en-US" sz="1800" dirty="0" err="1">
                <a:latin typeface="Courier New"/>
                <a:cs typeface="Courier New"/>
              </a:rPr>
              <a:t>Pthread_join</a:t>
            </a:r>
            <a:r>
              <a:rPr lang="en-US" sz="1800" dirty="0">
                <a:latin typeface="Courier New"/>
                <a:cs typeface="Courier New"/>
              </a:rPr>
              <a:t>()</a:t>
            </a:r>
          </a:p>
        </p:txBody>
      </p:sp>
      <p:sp>
        <p:nvSpPr>
          <p:cNvPr id="809998" name="Text Box 14"/>
          <p:cNvSpPr txBox="1">
            <a:spLocks noChangeArrowheads="1"/>
          </p:cNvSpPr>
          <p:nvPr/>
        </p:nvSpPr>
        <p:spPr bwMode="auto">
          <a:xfrm>
            <a:off x="304800" y="4419600"/>
            <a:ext cx="2514600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sz="1800" dirty="0" err="1">
                <a:latin typeface="Courier New"/>
                <a:cs typeface="Courier New"/>
              </a:rPr>
              <a:t>Pthread_join</a:t>
            </a:r>
            <a:r>
              <a:rPr lang="en-US" sz="1800" dirty="0">
                <a:latin typeface="Courier New"/>
                <a:cs typeface="Courier New"/>
              </a:rPr>
              <a:t>() </a:t>
            </a:r>
            <a:r>
              <a:rPr lang="en-US" sz="1800" b="0" dirty="0">
                <a:latin typeface="+mn-lt"/>
              </a:rPr>
              <a:t>returns</a:t>
            </a:r>
          </a:p>
        </p:txBody>
      </p:sp>
      <p:sp>
        <p:nvSpPr>
          <p:cNvPr id="809999" name="Text Box 15"/>
          <p:cNvSpPr txBox="1">
            <a:spLocks noChangeArrowheads="1"/>
          </p:cNvSpPr>
          <p:nvPr/>
        </p:nvSpPr>
        <p:spPr bwMode="auto">
          <a:xfrm>
            <a:off x="6781800" y="3199091"/>
            <a:ext cx="129284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printf</a:t>
            </a:r>
            <a:r>
              <a:rPr lang="en-US" sz="1800" dirty="0">
                <a:latin typeface="Courier New"/>
                <a:cs typeface="Courier New"/>
              </a:rPr>
              <a:t>()</a:t>
            </a:r>
          </a:p>
        </p:txBody>
      </p:sp>
      <p:sp>
        <p:nvSpPr>
          <p:cNvPr id="810000" name="Text Box 16"/>
          <p:cNvSpPr txBox="1">
            <a:spLocks noChangeArrowheads="1"/>
          </p:cNvSpPr>
          <p:nvPr/>
        </p:nvSpPr>
        <p:spPr bwMode="auto">
          <a:xfrm>
            <a:off x="6800850" y="3810000"/>
            <a:ext cx="1314144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Peer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thread</a:t>
            </a:r>
          </a:p>
          <a:p>
            <a:r>
              <a:rPr lang="en-US" sz="1800" dirty="0" smtClean="0">
                <a:solidFill>
                  <a:srgbClr val="FF0000"/>
                </a:solidFill>
                <a:latin typeface="+mn-lt"/>
              </a:rPr>
              <a:t>terminates</a:t>
            </a:r>
            <a:endParaRPr lang="en-US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10001" name="Text Box 17"/>
          <p:cNvSpPr txBox="1">
            <a:spLocks noChangeArrowheads="1"/>
          </p:cNvSpPr>
          <p:nvPr/>
        </p:nvSpPr>
        <p:spPr bwMode="auto">
          <a:xfrm>
            <a:off x="418382" y="2514600"/>
            <a:ext cx="2401018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800" dirty="0" err="1">
                <a:latin typeface="Courier New"/>
                <a:cs typeface="Courier New"/>
              </a:rPr>
              <a:t>Pthread_create</a:t>
            </a:r>
            <a:r>
              <a:rPr lang="en-US" sz="1800" dirty="0">
                <a:latin typeface="Courier New"/>
                <a:cs typeface="Courier New"/>
              </a:rPr>
              <a:t>(</a:t>
            </a:r>
            <a:r>
              <a:rPr lang="en-US" sz="1800" dirty="0" smtClean="0">
                <a:latin typeface="Courier New"/>
                <a:cs typeface="Courier New"/>
              </a:rPr>
              <a:t>)</a:t>
            </a:r>
          </a:p>
          <a:p>
            <a:pPr algn="r"/>
            <a:r>
              <a:rPr lang="en-US" sz="1800" b="0" dirty="0" smtClean="0">
                <a:latin typeface="+mn-lt"/>
              </a:rPr>
              <a:t>returns</a:t>
            </a:r>
            <a:endParaRPr lang="en-US" sz="18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223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988" grpId="0" animBg="1"/>
      <p:bldP spid="809990" grpId="0" animBg="1"/>
      <p:bldP spid="809991" grpId="0"/>
      <p:bldP spid="809992" grpId="0" animBg="1"/>
      <p:bldP spid="809993" grpId="0"/>
      <p:bldP spid="809994" grpId="0" animBg="1"/>
      <p:bldP spid="809998" grpId="0"/>
      <p:bldP spid="809999" grpId="0"/>
      <p:bldP spid="810000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2" name="Rectangle 4"/>
          <p:cNvSpPr>
            <a:spLocks noGrp="1" noChangeArrowheads="1"/>
          </p:cNvSpPr>
          <p:nvPr>
            <p:ph type="title"/>
          </p:nvPr>
        </p:nvSpPr>
        <p:spPr>
          <a:xfrm>
            <a:off x="357018" y="228600"/>
            <a:ext cx="7592093" cy="762000"/>
          </a:xfrm>
        </p:spPr>
        <p:txBody>
          <a:bodyPr/>
          <a:lstStyle/>
          <a:p>
            <a:r>
              <a:rPr lang="en-US"/>
              <a:t>Thread-Based Concurrent Echo Server</a:t>
            </a:r>
          </a:p>
        </p:txBody>
      </p:sp>
      <p:sp>
        <p:nvSpPr>
          <p:cNvPr id="811011" name="Rectangle 3"/>
          <p:cNvSpPr>
            <a:spLocks noChangeArrowheads="1"/>
          </p:cNvSpPr>
          <p:nvPr/>
        </p:nvSpPr>
        <p:spPr bwMode="auto">
          <a:xfrm>
            <a:off x="381000" y="998589"/>
            <a:ext cx="8495835" cy="442172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listenfd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socklen_t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clientaddr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pthread_t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tid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pPr>
              <a:lnSpc>
                <a:spcPct val="110000"/>
              </a:lnSpc>
            </a:pP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ro-RO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listenfd </a:t>
            </a:r>
            <a:r>
              <a:rPr lang="ro-RO" sz="1600" dirty="0">
                <a:solidFill>
                  <a:srgbClr val="000000"/>
                </a:solidFill>
                <a:latin typeface="Courier New"/>
                <a:cs typeface="Courier New"/>
              </a:rPr>
              <a:t>= Open_listenfd(argv[1])</a:t>
            </a:r>
            <a:r>
              <a:rPr lang="ro-RO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 lang="ro-R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(1) {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clientlen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=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C200FF"/>
                </a:solidFill>
                <a:latin typeface="Courier New"/>
                <a:cs typeface="Courier New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sockaddr_storage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connfdp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Malloc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l-NL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l-NL" sz="1600" dirty="0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)); 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*connfdp = Accept(listenfd, 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l-NL" sz="1600" dirty="0">
                <a:solidFill>
                  <a:srgbClr val="2D961E"/>
                </a:solidFill>
                <a:latin typeface="Courier New"/>
                <a:cs typeface="Courier New"/>
              </a:rPr>
              <a:t>SA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*) &amp;clientaddr, &amp;clientlen); 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Pthread_create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(&amp;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tid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nl-NL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thread,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connfdp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return 0;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4361" y="4737330"/>
            <a:ext cx="148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echoservert.c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357018" y="5334000"/>
            <a:ext cx="8307387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/>
            <a:r>
              <a:rPr lang="en-US" b="0" kern="0" dirty="0" smtClean="0"/>
              <a:t>Spawn new thread for each client</a:t>
            </a:r>
          </a:p>
          <a:p>
            <a:pPr lvl="1"/>
            <a:r>
              <a:rPr lang="en-US" b="0" kern="0" dirty="0" smtClean="0"/>
              <a:t>Pass it copy of connection file descriptor</a:t>
            </a:r>
          </a:p>
          <a:p>
            <a:pPr lvl="1"/>
            <a:r>
              <a:rPr lang="en-US" b="0" kern="0" dirty="0" smtClean="0"/>
              <a:t>Note use of </a:t>
            </a:r>
            <a:r>
              <a:rPr lang="en-US" kern="0" dirty="0" err="1" smtClean="0">
                <a:latin typeface="Courier New"/>
                <a:cs typeface="Courier New"/>
              </a:rPr>
              <a:t>Malloc</a:t>
            </a:r>
            <a:r>
              <a:rPr lang="en-US" kern="0" dirty="0" smtClean="0">
                <a:latin typeface="Courier New"/>
                <a:cs typeface="Courier New"/>
              </a:rPr>
              <a:t>()</a:t>
            </a:r>
            <a:r>
              <a:rPr lang="en-US" b="0" kern="0" dirty="0" smtClean="0"/>
              <a:t>! </a:t>
            </a:r>
            <a:r>
              <a:rPr lang="en-US" b="0" kern="0" dirty="0"/>
              <a:t>[but not </a:t>
            </a:r>
            <a:r>
              <a:rPr lang="en-US" kern="0" dirty="0">
                <a:latin typeface="Courier New"/>
                <a:cs typeface="Courier New"/>
              </a:rPr>
              <a:t>Free()</a:t>
            </a:r>
            <a:r>
              <a:rPr lang="en-US" b="0" kern="0" dirty="0"/>
              <a:t>]</a:t>
            </a:r>
          </a:p>
          <a:p>
            <a:pPr lvl="1"/>
            <a:endParaRPr lang="en-US" b="0" kern="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4150757" y="625310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2000" b="0" kern="0" dirty="0" smtClean="0">
                <a:latin typeface="+mn-lt"/>
              </a:rPr>
              <a:t>   </a:t>
            </a:r>
            <a:endParaRPr lang="en-US" sz="2000" b="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837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5438" y="334963"/>
            <a:ext cx="8534400" cy="573087"/>
          </a:xfrm>
        </p:spPr>
        <p:txBody>
          <a:bodyPr/>
          <a:lstStyle/>
          <a:p>
            <a:r>
              <a:rPr lang="en-US"/>
              <a:t>Thread-Based Concurrent Server (cont)</a:t>
            </a:r>
          </a:p>
        </p:txBody>
      </p:sp>
      <p:sp>
        <p:nvSpPr>
          <p:cNvPr id="812035" name="Rectangle 3"/>
          <p:cNvSpPr>
            <a:spLocks noChangeArrowheads="1"/>
          </p:cNvSpPr>
          <p:nvPr/>
        </p:nvSpPr>
        <p:spPr bwMode="auto">
          <a:xfrm>
            <a:off x="838200" y="1407855"/>
            <a:ext cx="4508265" cy="2554545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Thread routine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= *((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*)</a:t>
            </a:r>
            <a:r>
              <a:rPr lang="fr-FR" sz="1600" dirty="0" err="1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Pthread_detach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pthread_self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());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Free(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   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echo(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Close(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812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4267200"/>
            <a:ext cx="8307387" cy="2255837"/>
          </a:xfrm>
        </p:spPr>
        <p:txBody>
          <a:bodyPr/>
          <a:lstStyle/>
          <a:p>
            <a:pPr lvl="1"/>
            <a:r>
              <a:rPr lang="en-US" sz="2600" dirty="0"/>
              <a:t>Run thread in “detached” </a:t>
            </a:r>
            <a:r>
              <a:rPr lang="en-US" sz="2600" dirty="0" smtClean="0"/>
              <a:t>mode.</a:t>
            </a:r>
            <a:endParaRPr lang="en-US" sz="2600" dirty="0"/>
          </a:p>
          <a:p>
            <a:pPr lvl="2"/>
            <a:r>
              <a:rPr lang="en-US" sz="2200" dirty="0"/>
              <a:t>Runs independently of other threads</a:t>
            </a:r>
          </a:p>
          <a:p>
            <a:pPr lvl="2"/>
            <a:r>
              <a:rPr lang="en-US" sz="2200" dirty="0"/>
              <a:t>Reaped</a:t>
            </a:r>
            <a:r>
              <a:rPr lang="en-US" sz="2200" dirty="0" smtClean="0"/>
              <a:t> automatically (by kernel) when </a:t>
            </a:r>
            <a:r>
              <a:rPr lang="en-US" sz="2200" dirty="0"/>
              <a:t>it terminates</a:t>
            </a:r>
          </a:p>
          <a:p>
            <a:pPr lvl="1"/>
            <a:r>
              <a:rPr lang="en-US" sz="2600" dirty="0"/>
              <a:t>Free storage allocated to hold </a:t>
            </a:r>
            <a:r>
              <a:rPr lang="en-US" sz="2600" dirty="0" err="1" smtClean="0">
                <a:latin typeface="Courier New"/>
                <a:cs typeface="Courier New"/>
              </a:rPr>
              <a:t>connfd</a:t>
            </a:r>
            <a:r>
              <a:rPr lang="en-US" sz="2600" dirty="0" smtClean="0">
                <a:latin typeface="+mn-lt"/>
                <a:cs typeface="Courier New"/>
              </a:rPr>
              <a:t>.</a:t>
            </a:r>
          </a:p>
          <a:p>
            <a:pPr lvl="1"/>
            <a:r>
              <a:rPr lang="en-US" sz="2600" dirty="0" smtClean="0">
                <a:latin typeface="+mn-lt"/>
                <a:cs typeface="Courier New"/>
              </a:rPr>
              <a:t>Close </a:t>
            </a:r>
            <a:r>
              <a:rPr lang="en-US" sz="2600" dirty="0" err="1" smtClean="0">
                <a:latin typeface="Courier New"/>
                <a:cs typeface="Courier New"/>
              </a:rPr>
              <a:t>connfd</a:t>
            </a:r>
            <a:r>
              <a:rPr lang="en-US" sz="2600" dirty="0" smtClean="0">
                <a:latin typeface="+mn-lt"/>
                <a:cs typeface="Courier New"/>
              </a:rPr>
              <a:t> (important!)</a:t>
            </a:r>
            <a:endParaRPr lang="en-US" sz="2600" dirty="0">
              <a:latin typeface="Courier New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7112" y="3593068"/>
            <a:ext cx="1481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solidFill>
                  <a:srgbClr val="7F7F7F"/>
                </a:solidFill>
                <a:latin typeface="Calibri" pitchFamily="34" charset="0"/>
              </a:rPr>
              <a:t>echoservert.c</a:t>
            </a:r>
            <a:endParaRPr lang="en-US" sz="1800" dirty="0" smtClean="0">
              <a:solidFill>
                <a:srgbClr val="7F7F7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Thread-based Server </a:t>
            </a:r>
            <a:r>
              <a:rPr lang="en-US" dirty="0"/>
              <a:t>Execution Model</a:t>
            </a:r>
          </a:p>
        </p:txBody>
      </p:sp>
      <p:sp>
        <p:nvSpPr>
          <p:cNvPr id="91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386043"/>
            <a:ext cx="8307387" cy="2025650"/>
          </a:xfrm>
        </p:spPr>
        <p:txBody>
          <a:bodyPr/>
          <a:lstStyle/>
          <a:p>
            <a:pPr lvl="1"/>
            <a:r>
              <a:rPr lang="en-US" sz="2600" dirty="0" smtClean="0"/>
              <a:t>Each client handled by individual peer thread</a:t>
            </a:r>
            <a:endParaRPr lang="en-US" sz="2600" dirty="0"/>
          </a:p>
          <a:p>
            <a:pPr lvl="1"/>
            <a:r>
              <a:rPr lang="en-US" sz="2600" dirty="0" smtClean="0"/>
              <a:t>Threads share all process state except TID</a:t>
            </a:r>
          </a:p>
          <a:p>
            <a:pPr lvl="1"/>
            <a:r>
              <a:rPr lang="en-US" sz="2600" dirty="0" smtClean="0"/>
              <a:t>Each thread has a separate stack for local variables</a:t>
            </a:r>
          </a:p>
        </p:txBody>
      </p:sp>
      <p:sp>
        <p:nvSpPr>
          <p:cNvPr id="910340" name="Rectangle 4"/>
          <p:cNvSpPr>
            <a:spLocks noChangeArrowheads="1"/>
          </p:cNvSpPr>
          <p:nvPr/>
        </p:nvSpPr>
        <p:spPr bwMode="auto">
          <a:xfrm>
            <a:off x="1828800" y="2667000"/>
            <a:ext cx="1114425" cy="1249363"/>
          </a:xfrm>
          <a:prstGeom prst="rect">
            <a:avLst/>
          </a:prstGeom>
          <a:solidFill>
            <a:srgbClr val="F6F5BD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Client 1</a:t>
            </a:r>
          </a:p>
          <a:p>
            <a:pPr algn="ctr"/>
            <a:r>
              <a:rPr lang="en-US" sz="1800" dirty="0" smtClean="0">
                <a:latin typeface="+mn-lt"/>
              </a:rPr>
              <a:t>server </a:t>
            </a:r>
          </a:p>
          <a:p>
            <a:pPr algn="ctr"/>
            <a:r>
              <a:rPr lang="en-US" sz="1800" dirty="0" smtClean="0">
                <a:latin typeface="+mn-lt"/>
              </a:rPr>
              <a:t>peer</a:t>
            </a:r>
          </a:p>
          <a:p>
            <a:pPr algn="ctr"/>
            <a:r>
              <a:rPr lang="en-US" sz="1800" dirty="0" smtClean="0">
                <a:latin typeface="+mn-lt"/>
              </a:rPr>
              <a:t>thread</a:t>
            </a:r>
            <a:endParaRPr lang="en-US" sz="1800" dirty="0">
              <a:latin typeface="+mn-lt"/>
            </a:endParaRPr>
          </a:p>
        </p:txBody>
      </p:sp>
      <p:sp>
        <p:nvSpPr>
          <p:cNvPr id="910341" name="Rectangle 5"/>
          <p:cNvSpPr>
            <a:spLocks noChangeArrowheads="1"/>
          </p:cNvSpPr>
          <p:nvPr/>
        </p:nvSpPr>
        <p:spPr bwMode="auto">
          <a:xfrm>
            <a:off x="4648200" y="2667000"/>
            <a:ext cx="1114425" cy="1249363"/>
          </a:xfrm>
          <a:prstGeom prst="rect">
            <a:avLst/>
          </a:prstGeom>
          <a:solidFill>
            <a:srgbClr val="F6F5BD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Client 2</a:t>
            </a:r>
          </a:p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erver</a:t>
            </a:r>
          </a:p>
          <a:p>
            <a:pPr algn="ctr"/>
            <a:r>
              <a:rPr lang="en-US" sz="1800" dirty="0" smtClean="0">
                <a:latin typeface="+mn-lt"/>
              </a:rPr>
              <a:t>peer</a:t>
            </a:r>
          </a:p>
          <a:p>
            <a:pPr algn="ctr"/>
            <a:r>
              <a:rPr lang="en-US" sz="1800" dirty="0" smtClean="0">
                <a:latin typeface="+mn-lt"/>
              </a:rPr>
              <a:t>thread</a:t>
            </a:r>
            <a:endParaRPr lang="en-US" sz="1800" dirty="0">
              <a:latin typeface="+mn-lt"/>
            </a:endParaRPr>
          </a:p>
        </p:txBody>
      </p:sp>
      <p:sp>
        <p:nvSpPr>
          <p:cNvPr id="910342" name="Rectangle 6"/>
          <p:cNvSpPr>
            <a:spLocks noChangeArrowheads="1"/>
          </p:cNvSpPr>
          <p:nvPr/>
        </p:nvSpPr>
        <p:spPr bwMode="auto">
          <a:xfrm>
            <a:off x="3200400" y="1828800"/>
            <a:ext cx="1295400" cy="1249363"/>
          </a:xfrm>
          <a:prstGeom prst="rect">
            <a:avLst/>
          </a:prstGeom>
          <a:solidFill>
            <a:srgbClr val="F6F5BD"/>
          </a:solidFill>
          <a:ln w="2857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+mn-lt"/>
              </a:rPr>
              <a:t>Listening</a:t>
            </a:r>
          </a:p>
          <a:p>
            <a:pPr algn="ctr"/>
            <a:r>
              <a:rPr lang="en-US" sz="1800" dirty="0">
                <a:latin typeface="+mn-lt"/>
              </a:rPr>
              <a:t>s</a:t>
            </a:r>
            <a:r>
              <a:rPr lang="en-US" sz="1800" dirty="0" smtClean="0">
                <a:latin typeface="+mn-lt"/>
              </a:rPr>
              <a:t>erver</a:t>
            </a:r>
          </a:p>
          <a:p>
            <a:pPr algn="ctr"/>
            <a:r>
              <a:rPr lang="en-US" sz="1800" dirty="0" smtClean="0">
                <a:latin typeface="+mn-lt"/>
              </a:rPr>
              <a:t>main thread</a:t>
            </a:r>
            <a:endParaRPr lang="en-US" sz="1800" dirty="0">
              <a:latin typeface="+mn-lt"/>
            </a:endParaRPr>
          </a:p>
        </p:txBody>
      </p:sp>
      <p:sp>
        <p:nvSpPr>
          <p:cNvPr id="910343" name="Line 7"/>
          <p:cNvSpPr>
            <a:spLocks noChangeShapeType="1"/>
          </p:cNvSpPr>
          <p:nvPr/>
        </p:nvSpPr>
        <p:spPr bwMode="auto">
          <a:xfrm>
            <a:off x="990600" y="1981200"/>
            <a:ext cx="22098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 sz="2000">
              <a:latin typeface="+mn-lt"/>
            </a:endParaRPr>
          </a:p>
        </p:txBody>
      </p:sp>
      <p:sp>
        <p:nvSpPr>
          <p:cNvPr id="910344" name="Text Box 8"/>
          <p:cNvSpPr txBox="1">
            <a:spLocks noChangeArrowheads="1"/>
          </p:cNvSpPr>
          <p:nvPr/>
        </p:nvSpPr>
        <p:spPr bwMode="auto">
          <a:xfrm>
            <a:off x="730752" y="1600200"/>
            <a:ext cx="237757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dirty="0">
                <a:latin typeface="+mn-lt"/>
              </a:rPr>
              <a:t>Connection </a:t>
            </a:r>
            <a:r>
              <a:rPr lang="en-US" sz="2000" dirty="0" smtClean="0">
                <a:latin typeface="+mn-lt"/>
              </a:rPr>
              <a:t>requests</a:t>
            </a:r>
            <a:endParaRPr lang="en-US" sz="2000" dirty="0">
              <a:latin typeface="+mn-lt"/>
            </a:endParaRPr>
          </a:p>
        </p:txBody>
      </p:sp>
      <p:sp>
        <p:nvSpPr>
          <p:cNvPr id="910345" name="Line 9"/>
          <p:cNvSpPr>
            <a:spLocks noChangeShapeType="1"/>
          </p:cNvSpPr>
          <p:nvPr/>
        </p:nvSpPr>
        <p:spPr bwMode="auto">
          <a:xfrm>
            <a:off x="419100" y="3276600"/>
            <a:ext cx="1371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sz="2000">
              <a:ln>
                <a:solidFill>
                  <a:srgbClr val="000000"/>
                </a:solidFill>
              </a:ln>
              <a:latin typeface="+mn-lt"/>
            </a:endParaRPr>
          </a:p>
        </p:txBody>
      </p:sp>
      <p:sp>
        <p:nvSpPr>
          <p:cNvPr id="910346" name="Text Box 10"/>
          <p:cNvSpPr txBox="1">
            <a:spLocks noChangeArrowheads="1"/>
          </p:cNvSpPr>
          <p:nvPr/>
        </p:nvSpPr>
        <p:spPr bwMode="auto">
          <a:xfrm>
            <a:off x="134199" y="2876490"/>
            <a:ext cx="15278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dirty="0">
                <a:latin typeface="+mn-lt"/>
              </a:rPr>
              <a:t>Client 1 data</a:t>
            </a:r>
          </a:p>
        </p:txBody>
      </p:sp>
      <p:sp>
        <p:nvSpPr>
          <p:cNvPr id="910347" name="Line 11"/>
          <p:cNvSpPr>
            <a:spLocks noChangeShapeType="1"/>
          </p:cNvSpPr>
          <p:nvPr/>
        </p:nvSpPr>
        <p:spPr bwMode="auto">
          <a:xfrm flipH="1">
            <a:off x="5753100" y="3276600"/>
            <a:ext cx="13716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 sz="2000">
              <a:latin typeface="+mn-lt"/>
            </a:endParaRPr>
          </a:p>
        </p:txBody>
      </p:sp>
      <p:sp>
        <p:nvSpPr>
          <p:cNvPr id="910348" name="Text Box 12"/>
          <p:cNvSpPr txBox="1">
            <a:spLocks noChangeArrowheads="1"/>
          </p:cNvSpPr>
          <p:nvPr/>
        </p:nvSpPr>
        <p:spPr bwMode="auto">
          <a:xfrm flipH="1">
            <a:off x="5787393" y="2876490"/>
            <a:ext cx="15278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000" dirty="0">
                <a:latin typeface="+mn-lt"/>
              </a:rPr>
              <a:t>Client 2 data</a:t>
            </a:r>
          </a:p>
        </p:txBody>
      </p:sp>
    </p:spTree>
    <p:extLst>
      <p:ext uri="{BB962C8B-B14F-4D97-AF65-F5344CB8AC3E}">
        <p14:creationId xmlns:p14="http://schemas.microsoft.com/office/powerpoint/2010/main" val="23039877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8348663" cy="573087"/>
          </a:xfrm>
        </p:spPr>
        <p:txBody>
          <a:bodyPr/>
          <a:lstStyle/>
          <a:p>
            <a:r>
              <a:rPr lang="en-US"/>
              <a:t>Issues With Thread-Based Servers</a:t>
            </a:r>
          </a:p>
        </p:txBody>
      </p:sp>
      <p:sp>
        <p:nvSpPr>
          <p:cNvPr id="813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2" y="1311275"/>
            <a:ext cx="8624887" cy="5546725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sz="2600" dirty="0"/>
              <a:t>Must run “detached” to avoid memory </a:t>
            </a:r>
            <a:r>
              <a:rPr lang="en-US" sz="2600" dirty="0" smtClean="0"/>
              <a:t>leak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At any point in time, a thread is either </a:t>
            </a:r>
            <a:r>
              <a:rPr lang="en-US" sz="2200" i="1" dirty="0"/>
              <a:t>joinable</a:t>
            </a:r>
            <a:r>
              <a:rPr lang="en-US" sz="2200" dirty="0"/>
              <a:t> or </a:t>
            </a:r>
            <a:r>
              <a:rPr lang="en-US" sz="2200" i="1" dirty="0" smtClean="0"/>
              <a:t>detached</a:t>
            </a:r>
            <a:endParaRPr lang="en-US" sz="2200" dirty="0" smtClean="0"/>
          </a:p>
          <a:p>
            <a:pPr lvl="1">
              <a:lnSpc>
                <a:spcPct val="90000"/>
              </a:lnSpc>
            </a:pPr>
            <a:r>
              <a:rPr lang="en-US" sz="2200" i="1" dirty="0"/>
              <a:t>Joinable</a:t>
            </a:r>
            <a:r>
              <a:rPr lang="en-US" sz="2200" dirty="0"/>
              <a:t> thread can be reaped and killed by other </a:t>
            </a:r>
            <a:r>
              <a:rPr lang="en-US" sz="2200" dirty="0" smtClean="0"/>
              <a:t>threads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must be reaped (with </a:t>
            </a:r>
            <a:r>
              <a:rPr lang="en-US" dirty="0" err="1">
                <a:latin typeface="Courier New" pitchFamily="49" charset="0"/>
              </a:rPr>
              <a:t>pthread_join</a:t>
            </a:r>
            <a:r>
              <a:rPr lang="en-US" dirty="0"/>
              <a:t>) to free memory </a:t>
            </a:r>
            <a:r>
              <a:rPr lang="en-US" dirty="0" smtClean="0"/>
              <a:t>resources</a:t>
            </a:r>
          </a:p>
          <a:p>
            <a:pPr lvl="1">
              <a:lnSpc>
                <a:spcPct val="90000"/>
              </a:lnSpc>
            </a:pPr>
            <a:r>
              <a:rPr lang="en-US" sz="2200" i="1" dirty="0"/>
              <a:t>Detached </a:t>
            </a:r>
            <a:r>
              <a:rPr lang="en-US" sz="2200" dirty="0"/>
              <a:t>thread cannot be reaped or killed by other </a:t>
            </a:r>
            <a:r>
              <a:rPr lang="en-US" sz="2200" dirty="0" smtClean="0"/>
              <a:t>threads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resources are automatically reaped on </a:t>
            </a:r>
            <a:r>
              <a:rPr lang="en-US" dirty="0" smtClean="0"/>
              <a:t>termination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Default state is </a:t>
            </a:r>
            <a:r>
              <a:rPr lang="en-US" sz="2200" dirty="0" smtClean="0"/>
              <a:t>joinable</a:t>
            </a:r>
          </a:p>
          <a:p>
            <a:pPr lvl="2">
              <a:lnSpc>
                <a:spcPct val="97000"/>
              </a:lnSpc>
            </a:pPr>
            <a:r>
              <a:rPr lang="en-US" dirty="0"/>
              <a:t>use </a:t>
            </a:r>
            <a:r>
              <a:rPr lang="en-US" dirty="0" err="1">
                <a:latin typeface="Courier New" pitchFamily="49" charset="0"/>
              </a:rPr>
              <a:t>pthread_detach(pthread_self</a:t>
            </a:r>
            <a:r>
              <a:rPr lang="en-US" dirty="0">
                <a:latin typeface="Courier New" pitchFamily="49" charset="0"/>
              </a:rPr>
              <a:t>())</a:t>
            </a:r>
            <a:r>
              <a:rPr lang="en-US" dirty="0"/>
              <a:t> to make </a:t>
            </a:r>
            <a:r>
              <a:rPr lang="en-US" dirty="0" smtClean="0"/>
              <a:t>detached</a:t>
            </a:r>
          </a:p>
          <a:p>
            <a:pPr>
              <a:lnSpc>
                <a:spcPct val="85000"/>
              </a:lnSpc>
            </a:pPr>
            <a:r>
              <a:rPr lang="en-US" sz="2600" dirty="0"/>
              <a:t>Must be careful to avoid unintended </a:t>
            </a:r>
            <a:r>
              <a:rPr lang="en-US" sz="2600" dirty="0" smtClean="0"/>
              <a:t>sharing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For example, </a:t>
            </a:r>
            <a:r>
              <a:rPr lang="en-US" sz="2200" dirty="0" smtClean="0"/>
              <a:t>passing pointer to main thread’s stack</a:t>
            </a:r>
          </a:p>
          <a:p>
            <a:pPr lvl="2">
              <a:lnSpc>
                <a:spcPct val="90000"/>
              </a:lnSpc>
            </a:pPr>
            <a:r>
              <a:rPr lang="en-US" sz="1800" dirty="0" err="1" smtClean="0">
                <a:latin typeface="Courier New" pitchFamily="49" charset="0"/>
              </a:rPr>
              <a:t>Pthread_create</a:t>
            </a:r>
            <a:r>
              <a:rPr lang="en-US" sz="1800" dirty="0" err="1">
                <a:latin typeface="Courier New" pitchFamily="49" charset="0"/>
              </a:rPr>
              <a:t>(&amp;tid</a:t>
            </a:r>
            <a:r>
              <a:rPr lang="en-US" sz="1800" dirty="0">
                <a:latin typeface="Courier New" pitchFamily="49" charset="0"/>
              </a:rPr>
              <a:t>, NULL, thread, (void *)&amp;</a:t>
            </a:r>
            <a:r>
              <a:rPr lang="en-US" sz="1800" dirty="0" err="1">
                <a:latin typeface="Courier New" pitchFamily="49" charset="0"/>
              </a:rPr>
              <a:t>connfd</a:t>
            </a:r>
            <a:r>
              <a:rPr lang="en-US" sz="1800" dirty="0">
                <a:latin typeface="Courier New" pitchFamily="49" charset="0"/>
              </a:rPr>
              <a:t>);</a:t>
            </a:r>
            <a:endParaRPr lang="en-US" dirty="0">
              <a:latin typeface="Courier New" pitchFamily="49" charset="0"/>
            </a:endParaRPr>
          </a:p>
          <a:p>
            <a:pPr>
              <a:lnSpc>
                <a:spcPct val="85000"/>
              </a:lnSpc>
            </a:pPr>
            <a:r>
              <a:rPr lang="en-US" sz="2600" dirty="0"/>
              <a:t>All functions called by a thread must be </a:t>
            </a:r>
            <a:r>
              <a:rPr lang="en-US" sz="2600" i="1" dirty="0"/>
              <a:t>thread-safe</a:t>
            </a:r>
            <a:endParaRPr lang="en-US" sz="2600" i="1" dirty="0" smtClean="0"/>
          </a:p>
          <a:p>
            <a:pPr lvl="1">
              <a:lnSpc>
                <a:spcPct val="90000"/>
              </a:lnSpc>
            </a:pPr>
            <a:r>
              <a:rPr lang="en-US" sz="2200" dirty="0" smtClean="0"/>
              <a:t>(next lecture)</a:t>
            </a:r>
          </a:p>
          <a:p>
            <a:pPr lvl="1">
              <a:lnSpc>
                <a:spcPct val="90000"/>
              </a:lnSpc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114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Potential Form of Unintended Sharing</a:t>
            </a:r>
          </a:p>
        </p:txBody>
      </p:sp>
      <p:sp>
        <p:nvSpPr>
          <p:cNvPr id="851971" name="Text Box 3"/>
          <p:cNvSpPr txBox="1">
            <a:spLocks noChangeArrowheads="1"/>
          </p:cNvSpPr>
          <p:nvPr/>
        </p:nvSpPr>
        <p:spPr bwMode="auto">
          <a:xfrm>
            <a:off x="987317" y="2525990"/>
            <a:ext cx="1359116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>
                <a:latin typeface="+mn-lt"/>
              </a:rPr>
              <a:t>main thread</a:t>
            </a:r>
          </a:p>
        </p:txBody>
      </p:sp>
      <p:sp>
        <p:nvSpPr>
          <p:cNvPr id="851972" name="Text Box 4"/>
          <p:cNvSpPr txBox="1">
            <a:spLocks noChangeArrowheads="1"/>
          </p:cNvSpPr>
          <p:nvPr/>
        </p:nvSpPr>
        <p:spPr bwMode="auto">
          <a:xfrm>
            <a:off x="5131936" y="3879850"/>
            <a:ext cx="643626" cy="338554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latin typeface="+mn-lt"/>
              </a:rPr>
              <a:t>peer</a:t>
            </a:r>
            <a:r>
              <a:rPr lang="en-US" sz="1600" baseline="-25000">
                <a:latin typeface="+mn-lt"/>
              </a:rPr>
              <a:t>1</a:t>
            </a:r>
          </a:p>
        </p:txBody>
      </p:sp>
      <p:sp>
        <p:nvSpPr>
          <p:cNvPr id="851973" name="Line 5"/>
          <p:cNvSpPr>
            <a:spLocks noChangeShapeType="1"/>
          </p:cNvSpPr>
          <p:nvPr/>
        </p:nvSpPr>
        <p:spPr bwMode="auto">
          <a:xfrm>
            <a:off x="1647825" y="3213100"/>
            <a:ext cx="19050" cy="3413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latin typeface="+mn-lt"/>
            </a:endParaRPr>
          </a:p>
        </p:txBody>
      </p:sp>
      <p:sp>
        <p:nvSpPr>
          <p:cNvPr id="851974" name="Line 6"/>
          <p:cNvSpPr>
            <a:spLocks noChangeShapeType="1"/>
          </p:cNvSpPr>
          <p:nvPr/>
        </p:nvSpPr>
        <p:spPr bwMode="auto">
          <a:xfrm>
            <a:off x="5476875" y="4416425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latin typeface="+mn-lt"/>
            </a:endParaRPr>
          </a:p>
        </p:txBody>
      </p:sp>
      <p:sp>
        <p:nvSpPr>
          <p:cNvPr id="851976" name="Line 8"/>
          <p:cNvSpPr>
            <a:spLocks noChangeShapeType="1"/>
          </p:cNvSpPr>
          <p:nvPr/>
        </p:nvSpPr>
        <p:spPr bwMode="auto">
          <a:xfrm>
            <a:off x="1647825" y="3594100"/>
            <a:ext cx="3829050" cy="8223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sz="2000">
              <a:latin typeface="+mn-lt"/>
            </a:endParaRPr>
          </a:p>
        </p:txBody>
      </p:sp>
      <p:sp>
        <p:nvSpPr>
          <p:cNvPr id="851986" name="Rectangle 18"/>
          <p:cNvSpPr>
            <a:spLocks noChangeArrowheads="1"/>
          </p:cNvSpPr>
          <p:nvPr/>
        </p:nvSpPr>
        <p:spPr bwMode="auto">
          <a:xfrm>
            <a:off x="325438" y="1159538"/>
            <a:ext cx="8742096" cy="11264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latin typeface="Courier New" pitchFamily="49" charset="0"/>
              </a:rPr>
              <a:t>    while (1) {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solidFill>
                  <a:srgbClr val="FF0000"/>
                </a:solidFill>
                <a:latin typeface="Courier New" pitchFamily="49" charset="0"/>
              </a:rPr>
              <a:t>int</a:t>
            </a:r>
            <a:r>
              <a:rPr lang="en-US" sz="1600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nl-NL" sz="1600" dirty="0">
                <a:solidFill>
                  <a:srgbClr val="FF0000"/>
                </a:solidFill>
                <a:latin typeface="Courier New" pitchFamily="49" charset="0"/>
              </a:rPr>
              <a:t>connfd </a:t>
            </a:r>
            <a:r>
              <a:rPr lang="nl-NL" sz="1600" dirty="0">
                <a:latin typeface="Courier New" pitchFamily="49" charset="0"/>
              </a:rPr>
              <a:t>= Accept(listenfd, (SA *) &amp;clientaddr, &amp;clientlen); 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latin typeface="Courier New" pitchFamily="49" charset="0"/>
              </a:rPr>
              <a:t>	Pthread_create(&amp;tid, NULL, thread, </a:t>
            </a:r>
            <a:r>
              <a:rPr lang="nl-NL" sz="1600" dirty="0">
                <a:solidFill>
                  <a:srgbClr val="FF0000"/>
                </a:solidFill>
                <a:latin typeface="Courier New" pitchFamily="49" charset="0"/>
              </a:rPr>
              <a:t>&amp;connfd</a:t>
            </a:r>
            <a:r>
              <a:rPr lang="nl-NL" sz="1600" dirty="0">
                <a:latin typeface="Courier New" pitchFamily="49" charset="0"/>
              </a:rPr>
              <a:t>);</a:t>
            </a:r>
          </a:p>
          <a:p>
            <a:r>
              <a:rPr lang="en-US" sz="1600" dirty="0">
                <a:latin typeface="Courier New" pitchFamily="49" charset="0"/>
              </a:rPr>
              <a:t>    </a:t>
            </a:r>
            <a:r>
              <a:rPr lang="en-US" sz="1600" dirty="0" smtClean="0">
                <a:latin typeface="Courier New" pitchFamily="49" charset="0"/>
              </a:rPr>
              <a:t>}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851987" name="Text Box 19"/>
          <p:cNvSpPr txBox="1">
            <a:spLocks noChangeArrowheads="1"/>
          </p:cNvSpPr>
          <p:nvPr/>
        </p:nvSpPr>
        <p:spPr bwMode="auto">
          <a:xfrm>
            <a:off x="6219825" y="3132138"/>
            <a:ext cx="1055688" cy="39211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connfd</a:t>
            </a:r>
            <a:endParaRPr lang="en-US" sz="1600" baseline="-25000">
              <a:latin typeface="+mn-lt"/>
            </a:endParaRPr>
          </a:p>
        </p:txBody>
      </p:sp>
      <p:sp>
        <p:nvSpPr>
          <p:cNvPr id="851989" name="Text Box 21"/>
          <p:cNvSpPr txBox="1">
            <a:spLocks noChangeArrowheads="1"/>
          </p:cNvSpPr>
          <p:nvPr/>
        </p:nvSpPr>
        <p:spPr bwMode="auto">
          <a:xfrm>
            <a:off x="5686521" y="2717740"/>
            <a:ext cx="211140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+mn-lt"/>
              </a:rPr>
              <a:t>Main thread stack</a:t>
            </a:r>
          </a:p>
        </p:txBody>
      </p:sp>
      <p:sp>
        <p:nvSpPr>
          <p:cNvPr id="851990" name="Text Box 22"/>
          <p:cNvSpPr txBox="1">
            <a:spLocks noChangeArrowheads="1"/>
          </p:cNvSpPr>
          <p:nvPr/>
        </p:nvSpPr>
        <p:spPr bwMode="auto">
          <a:xfrm>
            <a:off x="7391400" y="4343400"/>
            <a:ext cx="1066800" cy="315913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>
                <a:latin typeface="+mn-lt"/>
              </a:rPr>
              <a:t>vargp</a:t>
            </a:r>
          </a:p>
        </p:txBody>
      </p:sp>
      <p:sp>
        <p:nvSpPr>
          <p:cNvPr id="851991" name="Text Box 23"/>
          <p:cNvSpPr txBox="1">
            <a:spLocks noChangeArrowheads="1"/>
          </p:cNvSpPr>
          <p:nvPr/>
        </p:nvSpPr>
        <p:spPr bwMode="auto">
          <a:xfrm>
            <a:off x="7461507" y="3936940"/>
            <a:ext cx="1363499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latin typeface="+mn-lt"/>
              </a:rPr>
              <a:t>Peer</a:t>
            </a:r>
            <a:r>
              <a:rPr lang="en-US" sz="2000" baseline="-25000">
                <a:latin typeface="+mn-lt"/>
              </a:rPr>
              <a:t>1</a:t>
            </a:r>
            <a:r>
              <a:rPr lang="en-US" sz="2000">
                <a:latin typeface="+mn-lt"/>
              </a:rPr>
              <a:t> stack</a:t>
            </a:r>
          </a:p>
        </p:txBody>
      </p:sp>
      <p:sp>
        <p:nvSpPr>
          <p:cNvPr id="851994" name="Line 26"/>
          <p:cNvSpPr>
            <a:spLocks noChangeShapeType="1"/>
          </p:cNvSpPr>
          <p:nvPr/>
        </p:nvSpPr>
        <p:spPr bwMode="auto">
          <a:xfrm flipH="1" flipV="1">
            <a:off x="7162799" y="3505200"/>
            <a:ext cx="386557" cy="91122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wrap="square" anchor="ctr">
            <a:spAutoFit/>
          </a:bodyPr>
          <a:lstStyle/>
          <a:p>
            <a:endParaRPr lang="en-US" sz="2000">
              <a:latin typeface="+mn-lt"/>
            </a:endParaRPr>
          </a:p>
        </p:txBody>
      </p:sp>
      <p:sp>
        <p:nvSpPr>
          <p:cNvPr id="851998" name="Text Box 30"/>
          <p:cNvSpPr txBox="1">
            <a:spLocks noChangeArrowheads="1"/>
          </p:cNvSpPr>
          <p:nvPr/>
        </p:nvSpPr>
        <p:spPr bwMode="auto">
          <a:xfrm>
            <a:off x="1676400" y="3200400"/>
            <a:ext cx="199355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</a:rPr>
              <a:t>connfd = connfd</a:t>
            </a:r>
            <a:r>
              <a:rPr lang="en-US" sz="2000" baseline="-25000">
                <a:latin typeface="+mn-lt"/>
              </a:rPr>
              <a:t>1</a:t>
            </a:r>
          </a:p>
        </p:txBody>
      </p:sp>
      <p:sp>
        <p:nvSpPr>
          <p:cNvPr id="851999" name="Text Box 31"/>
          <p:cNvSpPr txBox="1">
            <a:spLocks noChangeArrowheads="1"/>
          </p:cNvSpPr>
          <p:nvPr/>
        </p:nvSpPr>
        <p:spPr bwMode="auto">
          <a:xfrm>
            <a:off x="5410200" y="4495800"/>
            <a:ext cx="1951726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+mn-lt"/>
              </a:rPr>
              <a:t> connfd = *vargp</a:t>
            </a:r>
            <a:endParaRPr lang="en-US" sz="2000" baseline="-25000">
              <a:latin typeface="+mn-l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666875" y="4572000"/>
            <a:ext cx="5695051" cy="1752600"/>
            <a:chOff x="1666875" y="4572000"/>
            <a:chExt cx="5695051" cy="1752600"/>
          </a:xfrm>
        </p:grpSpPr>
        <p:sp>
          <p:nvSpPr>
            <p:cNvPr id="851997" name="Line 29"/>
            <p:cNvSpPr>
              <a:spLocks noChangeShapeType="1"/>
            </p:cNvSpPr>
            <p:nvPr/>
          </p:nvSpPr>
          <p:spPr bwMode="auto">
            <a:xfrm>
              <a:off x="5491163" y="5715000"/>
              <a:ext cx="0" cy="609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666875" y="4572000"/>
              <a:ext cx="5695051" cy="1511360"/>
              <a:chOff x="1666875" y="4572000"/>
              <a:chExt cx="5695051" cy="1511360"/>
            </a:xfrm>
          </p:grpSpPr>
          <p:sp>
            <p:nvSpPr>
              <p:cNvPr id="851978" name="Line 10"/>
              <p:cNvSpPr>
                <a:spLocks noChangeShapeType="1"/>
              </p:cNvSpPr>
              <p:nvPr/>
            </p:nvSpPr>
            <p:spPr bwMode="auto">
              <a:xfrm>
                <a:off x="1666875" y="5026025"/>
                <a:ext cx="3810000" cy="762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sz="2000">
                  <a:latin typeface="+mn-lt"/>
                </a:endParaRPr>
              </a:p>
            </p:txBody>
          </p:sp>
          <p:sp>
            <p:nvSpPr>
              <p:cNvPr id="851996" name="Text Box 28"/>
              <p:cNvSpPr txBox="1">
                <a:spLocks noChangeArrowheads="1"/>
              </p:cNvSpPr>
              <p:nvPr/>
            </p:nvSpPr>
            <p:spPr bwMode="auto">
              <a:xfrm>
                <a:off x="5146224" y="5178425"/>
                <a:ext cx="643626" cy="338554"/>
              </a:xfrm>
              <a:prstGeom prst="rect">
                <a:avLst/>
              </a:prstGeom>
              <a:solidFill>
                <a:srgbClr val="E6E6E6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latin typeface="+mn-lt"/>
                  </a:rPr>
                  <a:t>peer</a:t>
                </a:r>
                <a:r>
                  <a:rPr lang="en-US" sz="1600" baseline="-25000">
                    <a:latin typeface="+mn-lt"/>
                  </a:rPr>
                  <a:t>2</a:t>
                </a:r>
              </a:p>
            </p:txBody>
          </p:sp>
          <p:sp>
            <p:nvSpPr>
              <p:cNvPr id="852002" name="Text Box 34"/>
              <p:cNvSpPr txBox="1">
                <a:spLocks noChangeArrowheads="1"/>
              </p:cNvSpPr>
              <p:nvPr/>
            </p:nvSpPr>
            <p:spPr bwMode="auto">
              <a:xfrm>
                <a:off x="1676400" y="4572000"/>
                <a:ext cx="1993554" cy="4001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 dirty="0" err="1">
                    <a:latin typeface="+mn-lt"/>
                  </a:rPr>
                  <a:t>connfd</a:t>
                </a:r>
                <a:r>
                  <a:rPr lang="en-US" sz="2000" dirty="0">
                    <a:latin typeface="+mn-lt"/>
                  </a:rPr>
                  <a:t> = connfd</a:t>
                </a:r>
                <a:r>
                  <a:rPr lang="en-US" sz="2000" baseline="-25000" dirty="0">
                    <a:latin typeface="+mn-lt"/>
                  </a:rPr>
                  <a:t>2</a:t>
                </a:r>
              </a:p>
            </p:txBody>
          </p:sp>
          <p:sp>
            <p:nvSpPr>
              <p:cNvPr id="852003" name="Text Box 35"/>
              <p:cNvSpPr txBox="1">
                <a:spLocks noChangeArrowheads="1"/>
              </p:cNvSpPr>
              <p:nvPr/>
            </p:nvSpPr>
            <p:spPr bwMode="auto">
              <a:xfrm>
                <a:off x="5410200" y="5683250"/>
                <a:ext cx="1951726" cy="4001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latin typeface="+mn-lt"/>
                  </a:rPr>
                  <a:t> connfd = *vargp</a:t>
                </a:r>
                <a:endParaRPr lang="en-US" sz="2000" baseline="-25000">
                  <a:latin typeface="+mn-lt"/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657600" y="4648200"/>
            <a:ext cx="1600200" cy="552510"/>
            <a:chOff x="3657600" y="4648200"/>
            <a:chExt cx="1600200" cy="552510"/>
          </a:xfrm>
        </p:grpSpPr>
        <p:sp>
          <p:nvSpPr>
            <p:cNvPr id="852004" name="Line 36"/>
            <p:cNvSpPr>
              <a:spLocks noChangeShapeType="1"/>
            </p:cNvSpPr>
            <p:nvPr/>
          </p:nvSpPr>
          <p:spPr bwMode="auto">
            <a:xfrm>
              <a:off x="3657600" y="4648200"/>
              <a:ext cx="1600200" cy="0"/>
            </a:xfrm>
            <a:prstGeom prst="line">
              <a:avLst/>
            </a:prstGeom>
            <a:noFill/>
            <a:ln w="76200" cmpd="tri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852005" name="Text Box 37"/>
            <p:cNvSpPr txBox="1">
              <a:spLocks noChangeArrowheads="1"/>
            </p:cNvSpPr>
            <p:nvPr/>
          </p:nvSpPr>
          <p:spPr bwMode="auto">
            <a:xfrm>
              <a:off x="4182447" y="4800600"/>
              <a:ext cx="775648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+mn-lt"/>
                </a:rPr>
                <a:t>Race!</a:t>
              </a:r>
            </a:p>
          </p:txBody>
        </p:sp>
      </p:grpSp>
      <p:sp>
        <p:nvSpPr>
          <p:cNvPr id="852006" name="Text Box 38"/>
          <p:cNvSpPr txBox="1">
            <a:spLocks noChangeArrowheads="1"/>
          </p:cNvSpPr>
          <p:nvPr/>
        </p:nvSpPr>
        <p:spPr bwMode="auto">
          <a:xfrm>
            <a:off x="1828800" y="6324600"/>
            <a:ext cx="6847084" cy="430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200" b="0" i="1" dirty="0">
                <a:solidFill>
                  <a:srgbClr val="FF0000"/>
                </a:solidFill>
                <a:latin typeface="+mn-lt"/>
              </a:rPr>
              <a:t>Why would both copies of </a:t>
            </a:r>
            <a:r>
              <a:rPr lang="en-US" sz="2200" b="0" i="1" dirty="0" err="1">
                <a:solidFill>
                  <a:srgbClr val="FF0000"/>
                </a:solidFill>
                <a:latin typeface="+mn-lt"/>
              </a:rPr>
              <a:t>vargp</a:t>
            </a:r>
            <a:r>
              <a:rPr lang="en-US" sz="2200" b="0" i="1" dirty="0">
                <a:solidFill>
                  <a:srgbClr val="FF0000"/>
                </a:solidFill>
                <a:latin typeface="+mn-lt"/>
              </a:rPr>
              <a:t> point to same location?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086599" y="3505200"/>
            <a:ext cx="1738407" cy="2678113"/>
            <a:chOff x="7086599" y="3505200"/>
            <a:chExt cx="1738407" cy="2678113"/>
          </a:xfrm>
        </p:grpSpPr>
        <p:sp>
          <p:nvSpPr>
            <p:cNvPr id="851993" name="Text Box 25"/>
            <p:cNvSpPr txBox="1">
              <a:spLocks noChangeArrowheads="1"/>
            </p:cNvSpPr>
            <p:nvPr/>
          </p:nvSpPr>
          <p:spPr bwMode="auto">
            <a:xfrm>
              <a:off x="7461507" y="5391090"/>
              <a:ext cx="1363499" cy="4001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+mn-lt"/>
                </a:rPr>
                <a:t>Peer</a:t>
              </a:r>
              <a:r>
                <a:rPr lang="en-US" sz="2000" baseline="-25000" dirty="0">
                  <a:latin typeface="+mn-lt"/>
                </a:rPr>
                <a:t>2</a:t>
              </a:r>
              <a:r>
                <a:rPr lang="en-US" sz="2000" dirty="0">
                  <a:latin typeface="+mn-lt"/>
                </a:rPr>
                <a:t> stack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086599" y="3505200"/>
              <a:ext cx="1295401" cy="2678113"/>
              <a:chOff x="7086599" y="3505200"/>
              <a:chExt cx="1295401" cy="2678113"/>
            </a:xfrm>
          </p:grpSpPr>
          <p:sp>
            <p:nvSpPr>
              <p:cNvPr id="851992" name="Text Box 24"/>
              <p:cNvSpPr txBox="1">
                <a:spLocks noChangeArrowheads="1"/>
              </p:cNvSpPr>
              <p:nvPr/>
            </p:nvSpPr>
            <p:spPr bwMode="auto">
              <a:xfrm>
                <a:off x="7315200" y="5867400"/>
                <a:ext cx="1066800" cy="315913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600">
                    <a:latin typeface="+mn-lt"/>
                  </a:rPr>
                  <a:t>vargp</a:t>
                </a:r>
              </a:p>
            </p:txBody>
          </p:sp>
          <p:sp>
            <p:nvSpPr>
              <p:cNvPr id="852000" name="Line 32"/>
              <p:cNvSpPr>
                <a:spLocks noChangeShapeType="1"/>
              </p:cNvSpPr>
              <p:nvPr/>
            </p:nvSpPr>
            <p:spPr bwMode="auto">
              <a:xfrm flipH="1" flipV="1">
                <a:off x="7086599" y="3505200"/>
                <a:ext cx="398463" cy="2450306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square" anchor="ctr">
                <a:spAutoFit/>
              </a:bodyPr>
              <a:lstStyle/>
              <a:p>
                <a:endParaRPr lang="en-US" sz="2000">
                  <a:latin typeface="+mn-lt"/>
                </a:endParaRPr>
              </a:p>
            </p:txBody>
          </p:sp>
          <p:sp>
            <p:nvSpPr>
              <p:cNvPr id="29" name="Oval 26"/>
              <p:cNvSpPr>
                <a:spLocks noChangeAspect="1" noChangeArrowheads="1"/>
              </p:cNvSpPr>
              <p:nvPr/>
            </p:nvSpPr>
            <p:spPr bwMode="auto">
              <a:xfrm>
                <a:off x="7420769" y="5955506"/>
                <a:ext cx="128588" cy="128588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solidFill>
                    <a:srgbClr val="990000"/>
                  </a:solidFill>
                  <a:latin typeface="+mn-lt"/>
                </a:endParaRPr>
              </a:p>
            </p:txBody>
          </p:sp>
        </p:grpSp>
      </p:grpSp>
      <p:sp>
        <p:nvSpPr>
          <p:cNvPr id="30" name="Oval 26"/>
          <p:cNvSpPr>
            <a:spLocks noChangeAspect="1" noChangeArrowheads="1"/>
          </p:cNvSpPr>
          <p:nvPr/>
        </p:nvSpPr>
        <p:spPr bwMode="auto">
          <a:xfrm>
            <a:off x="7529052" y="4416425"/>
            <a:ext cx="128588" cy="128588"/>
          </a:xfrm>
          <a:prstGeom prst="ellipse">
            <a:avLst/>
          </a:prstGeom>
          <a:solidFill>
            <a:srgbClr val="C00000"/>
          </a:solidFill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99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978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00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Could this race occur?</a:t>
            </a:r>
            <a:endParaRPr lang="en-US" dirty="0"/>
          </a:p>
        </p:txBody>
      </p:sp>
      <p:sp>
        <p:nvSpPr>
          <p:cNvPr id="811011" name="Rectangle 3"/>
          <p:cNvSpPr>
            <a:spLocks noChangeArrowheads="1"/>
          </p:cNvSpPr>
          <p:nvPr/>
        </p:nvSpPr>
        <p:spPr bwMode="auto">
          <a:xfrm>
            <a:off x="76200" y="1604665"/>
            <a:ext cx="4182555" cy="147732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err="1" smtClean="0">
                <a:latin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;</a:t>
            </a:r>
          </a:p>
          <a:p>
            <a:r>
              <a:rPr lang="en-US" sz="1800" dirty="0" smtClean="0">
                <a:latin typeface="Courier New" pitchFamily="49" charset="0"/>
              </a:rPr>
              <a:t>for (</a:t>
            </a:r>
            <a:r>
              <a:rPr lang="en-US" sz="1800" dirty="0" err="1" smtClean="0"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 = 0; </a:t>
            </a:r>
            <a:r>
              <a:rPr lang="en-US" sz="1800" dirty="0" err="1" smtClean="0"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 &lt; 100; </a:t>
            </a:r>
            <a:r>
              <a:rPr lang="en-US" sz="1800" dirty="0" err="1" smtClean="0"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++) {</a:t>
            </a:r>
          </a:p>
          <a:p>
            <a:r>
              <a:rPr lang="en-US" sz="1800" dirty="0" smtClean="0">
                <a:latin typeface="Courier New" pitchFamily="49" charset="0"/>
              </a:rPr>
              <a:t>  </a:t>
            </a:r>
            <a:r>
              <a:rPr lang="en-US" sz="1800" dirty="0" err="1" smtClean="0">
                <a:latin typeface="Courier New" pitchFamily="49" charset="0"/>
              </a:rPr>
              <a:t>Pthread_create</a:t>
            </a:r>
            <a:r>
              <a:rPr lang="en-US" sz="1800" dirty="0" smtClean="0">
                <a:latin typeface="Courier New" pitchFamily="49" charset="0"/>
              </a:rPr>
              <a:t>(&amp;</a:t>
            </a:r>
            <a:r>
              <a:rPr lang="en-US" sz="1800" dirty="0" err="1" smtClean="0">
                <a:latin typeface="Courier New" pitchFamily="49" charset="0"/>
              </a:rPr>
              <a:t>tid</a:t>
            </a:r>
            <a:r>
              <a:rPr lang="en-US" sz="1800" dirty="0" smtClean="0">
                <a:latin typeface="Courier New" pitchFamily="49" charset="0"/>
              </a:rPr>
              <a:t>, NULL,</a:t>
            </a:r>
          </a:p>
          <a:p>
            <a:r>
              <a:rPr lang="en-US" sz="1800" dirty="0" smtClean="0">
                <a:latin typeface="Courier New" pitchFamily="49" charset="0"/>
              </a:rPr>
              <a:t>                 thread, </a:t>
            </a:r>
            <a:r>
              <a:rPr lang="en-US" sz="1800" dirty="0" smtClean="0">
                <a:solidFill>
                  <a:srgbClr val="FF0000"/>
                </a:solidFill>
                <a:latin typeface="Courier New" pitchFamily="49" charset="0"/>
              </a:rPr>
              <a:t>&amp;</a:t>
            </a:r>
            <a:r>
              <a:rPr lang="en-US" sz="1800" dirty="0" err="1" smtClean="0">
                <a:solidFill>
                  <a:srgbClr val="FF0000"/>
                </a:solidFill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);</a:t>
            </a:r>
          </a:p>
          <a:p>
            <a:r>
              <a:rPr lang="en-US" sz="1800" dirty="0" smtClean="0">
                <a:latin typeface="Courier New" pitchFamily="49" charset="0"/>
              </a:rPr>
              <a:t>}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81101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90513" y="3806826"/>
            <a:ext cx="8548687" cy="1319212"/>
          </a:xfrm>
        </p:spPr>
        <p:txBody>
          <a:bodyPr/>
          <a:lstStyle/>
          <a:p>
            <a:r>
              <a:rPr lang="en-US" sz="2600" dirty="0" smtClean="0"/>
              <a:t>Race Test</a:t>
            </a:r>
            <a:endParaRPr lang="en-US" sz="2600" dirty="0"/>
          </a:p>
          <a:p>
            <a:pPr lvl="1"/>
            <a:r>
              <a:rPr lang="en-US" sz="2200" dirty="0" smtClean="0"/>
              <a:t>If no race, then each thread would get different value of </a:t>
            </a:r>
            <a:r>
              <a:rPr lang="en-US" sz="2200" b="1" dirty="0" err="1" smtClean="0">
                <a:latin typeface="Courier New"/>
                <a:cs typeface="Courier New"/>
              </a:rPr>
              <a:t>i</a:t>
            </a:r>
            <a:endParaRPr lang="en-US" sz="2200" b="1" dirty="0" smtClean="0">
              <a:latin typeface="Courier New"/>
              <a:cs typeface="Courier New"/>
            </a:endParaRPr>
          </a:p>
          <a:p>
            <a:pPr lvl="1"/>
            <a:r>
              <a:rPr lang="en-US" sz="2200" dirty="0" smtClean="0"/>
              <a:t>Set of saved values would consist of one copy each of 0 through 99</a:t>
            </a: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1235333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Main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343400" y="1604665"/>
            <a:ext cx="4733988" cy="20313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Courier New" pitchFamily="49" charset="0"/>
              </a:rPr>
              <a:t>void *thread(void *</a:t>
            </a:r>
            <a:r>
              <a:rPr lang="en-US" sz="1800" dirty="0" err="1" smtClean="0">
                <a:latin typeface="Courier New" pitchFamily="49" charset="0"/>
              </a:rPr>
              <a:t>vargp</a:t>
            </a:r>
            <a:r>
              <a:rPr lang="en-US" sz="1800" dirty="0" smtClean="0">
                <a:latin typeface="Courier New" pitchFamily="49" charset="0"/>
              </a:rPr>
              <a:t>) </a:t>
            </a:r>
          </a:p>
          <a:p>
            <a:r>
              <a:rPr lang="en-US" sz="1800" dirty="0" smtClean="0">
                <a:latin typeface="Courier New" pitchFamily="49" charset="0"/>
              </a:rPr>
              <a:t>{  </a:t>
            </a:r>
          </a:p>
          <a:p>
            <a:r>
              <a:rPr lang="en-US" sz="1800" dirty="0" smtClean="0">
                <a:latin typeface="Courier New" pitchFamily="49" charset="0"/>
              </a:rPr>
              <a:t>  </a:t>
            </a:r>
            <a:r>
              <a:rPr lang="en-US" sz="1800" dirty="0" err="1" smtClean="0">
                <a:latin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</a:rPr>
              <a:t> </a:t>
            </a:r>
            <a:r>
              <a:rPr lang="en-US" sz="1800" dirty="0" err="1" smtClean="0"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 = *((</a:t>
            </a:r>
            <a:r>
              <a:rPr lang="en-US" sz="1800" dirty="0" err="1" smtClean="0">
                <a:latin typeface="Courier New" pitchFamily="49" charset="0"/>
              </a:rPr>
              <a:t>int</a:t>
            </a:r>
            <a:r>
              <a:rPr lang="en-US" sz="1800" dirty="0" smtClean="0">
                <a:latin typeface="Courier New" pitchFamily="49" charset="0"/>
              </a:rPr>
              <a:t> *)</a:t>
            </a:r>
            <a:r>
              <a:rPr lang="en-US" sz="1800" dirty="0" err="1" smtClean="0">
                <a:latin typeface="Courier New" pitchFamily="49" charset="0"/>
              </a:rPr>
              <a:t>vargp</a:t>
            </a:r>
            <a:r>
              <a:rPr lang="en-US" sz="1800" dirty="0" smtClean="0">
                <a:latin typeface="Courier New" pitchFamily="49" charset="0"/>
              </a:rPr>
              <a:t>);</a:t>
            </a:r>
          </a:p>
          <a:p>
            <a:r>
              <a:rPr lang="en-US" sz="1800" dirty="0" smtClean="0">
                <a:latin typeface="Courier New" pitchFamily="49" charset="0"/>
              </a:rPr>
              <a:t>  </a:t>
            </a:r>
            <a:r>
              <a:rPr lang="en-US" sz="1800" dirty="0" err="1" smtClean="0">
                <a:latin typeface="Courier New" pitchFamily="49" charset="0"/>
              </a:rPr>
              <a:t>Pthread_detach</a:t>
            </a:r>
            <a:r>
              <a:rPr lang="en-US" sz="1800" dirty="0" smtClean="0">
                <a:latin typeface="Courier New" pitchFamily="49" charset="0"/>
              </a:rPr>
              <a:t>(</a:t>
            </a:r>
            <a:r>
              <a:rPr lang="en-US" sz="1800" dirty="0" err="1" smtClean="0">
                <a:latin typeface="Courier New" pitchFamily="49" charset="0"/>
              </a:rPr>
              <a:t>pthread_self</a:t>
            </a:r>
            <a:r>
              <a:rPr lang="en-US" sz="1800" dirty="0" smtClean="0">
                <a:latin typeface="Courier New" pitchFamily="49" charset="0"/>
              </a:rPr>
              <a:t>());</a:t>
            </a:r>
          </a:p>
          <a:p>
            <a:r>
              <a:rPr lang="en-US" sz="1800" dirty="0" smtClean="0">
                <a:latin typeface="Courier New" pitchFamily="49" charset="0"/>
              </a:rPr>
              <a:t>  </a:t>
            </a:r>
            <a:r>
              <a:rPr lang="en-US" sz="1800" dirty="0" err="1" smtClean="0">
                <a:latin typeface="Courier New" pitchFamily="49" charset="0"/>
              </a:rPr>
              <a:t>save_value</a:t>
            </a:r>
            <a:r>
              <a:rPr lang="en-US" sz="1800" dirty="0" smtClean="0">
                <a:latin typeface="Courier New" pitchFamily="49" charset="0"/>
              </a:rPr>
              <a:t>(</a:t>
            </a:r>
            <a:r>
              <a:rPr lang="en-US" sz="1800" dirty="0" err="1" smtClean="0">
                <a:latin typeface="Courier New" pitchFamily="49" charset="0"/>
              </a:rPr>
              <a:t>i</a:t>
            </a:r>
            <a:r>
              <a:rPr lang="en-US" sz="1800" dirty="0" smtClean="0">
                <a:latin typeface="Courier New" pitchFamily="49" charset="0"/>
              </a:rPr>
              <a:t>);</a:t>
            </a:r>
          </a:p>
          <a:p>
            <a:r>
              <a:rPr lang="en-US" sz="1800" dirty="0" smtClean="0">
                <a:latin typeface="Courier New" pitchFamily="49" charset="0"/>
              </a:rPr>
              <a:t>  return NULL;</a:t>
            </a:r>
          </a:p>
          <a:p>
            <a:r>
              <a:rPr lang="en-US" sz="1800" dirty="0" smtClean="0">
                <a:latin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235333"/>
            <a:ext cx="85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Thread</a:t>
            </a:r>
          </a:p>
        </p:txBody>
      </p:sp>
    </p:spTree>
    <p:extLst>
      <p:ext uri="{BB962C8B-B14F-4D97-AF65-F5344CB8AC3E}">
        <p14:creationId xmlns:p14="http://schemas.microsoft.com/office/powerpoint/2010/main" val="88629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/>
          <a:lstStyle/>
          <a:p>
            <a:r>
              <a:rPr lang="en-US" dirty="0" smtClean="0"/>
              <a:t>Experimental Results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96875" y="6238875"/>
            <a:ext cx="7896225" cy="542925"/>
          </a:xfrm>
        </p:spPr>
        <p:txBody>
          <a:bodyPr/>
          <a:lstStyle/>
          <a:p>
            <a:r>
              <a:rPr lang="en-US" sz="2600" dirty="0" smtClean="0"/>
              <a:t>The race can really happen!</a:t>
            </a:r>
            <a:endParaRPr lang="en-US" sz="2600" dirty="0"/>
          </a:p>
        </p:txBody>
      </p:sp>
      <p:sp>
        <p:nvSpPr>
          <p:cNvPr id="9" name="TextBox 8"/>
          <p:cNvSpPr txBox="1"/>
          <p:nvPr/>
        </p:nvSpPr>
        <p:spPr>
          <a:xfrm>
            <a:off x="495300" y="990600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No 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300" y="3364468"/>
            <a:ext cx="1763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Calibri" pitchFamily="34" charset="0"/>
              </a:rPr>
              <a:t>Multicore</a:t>
            </a:r>
            <a:r>
              <a:rPr lang="en-US" sz="1800" dirty="0" smtClean="0">
                <a:latin typeface="Calibri" pitchFamily="34" charset="0"/>
              </a:rPr>
              <a:t> server</a:t>
            </a:r>
          </a:p>
        </p:txBody>
      </p:sp>
      <p:graphicFrame>
        <p:nvGraphicFramePr>
          <p:cNvPr id="12" name="Chart 11"/>
          <p:cNvGraphicFramePr/>
          <p:nvPr/>
        </p:nvGraphicFramePr>
        <p:xfrm>
          <a:off x="381000" y="1283732"/>
          <a:ext cx="8153399" cy="895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/>
        </p:nvGraphicFramePr>
        <p:xfrm>
          <a:off x="457200" y="3657600"/>
          <a:ext cx="815339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95300" y="2088119"/>
            <a:ext cx="1889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alibri" pitchFamily="34" charset="0"/>
              </a:rPr>
              <a:t>Single core laptop</a:t>
            </a:r>
          </a:p>
        </p:txBody>
      </p:sp>
      <p:graphicFrame>
        <p:nvGraphicFramePr>
          <p:cNvPr id="17" name="Chart 16"/>
          <p:cNvGraphicFramePr/>
          <p:nvPr/>
        </p:nvGraphicFramePr>
        <p:xfrm>
          <a:off x="495300" y="2381251"/>
          <a:ext cx="8153399" cy="106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2752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012" name="Rectangle 4"/>
          <p:cNvSpPr>
            <a:spLocks noGrp="1" noChangeArrowheads="1"/>
          </p:cNvSpPr>
          <p:nvPr>
            <p:ph type="title"/>
          </p:nvPr>
        </p:nvSpPr>
        <p:spPr>
          <a:xfrm>
            <a:off x="357018" y="228600"/>
            <a:ext cx="7592093" cy="762000"/>
          </a:xfrm>
        </p:spPr>
        <p:txBody>
          <a:bodyPr/>
          <a:lstStyle/>
          <a:p>
            <a:r>
              <a:rPr lang="en-US" dirty="0" smtClean="0"/>
              <a:t>Correct passing of thread arguments</a:t>
            </a:r>
            <a:endParaRPr lang="en-US" dirty="0"/>
          </a:p>
        </p:txBody>
      </p:sp>
      <p:sp>
        <p:nvSpPr>
          <p:cNvPr id="811011" name="Rectangle 3"/>
          <p:cNvSpPr>
            <a:spLocks noChangeArrowheads="1"/>
          </p:cNvSpPr>
          <p:nvPr/>
        </p:nvSpPr>
        <p:spPr bwMode="auto">
          <a:xfrm>
            <a:off x="253349" y="1219200"/>
            <a:ext cx="6538970" cy="14465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en-US" sz="1600" dirty="0" smtClean="0">
                <a:solidFill>
                  <a:srgbClr val="CB2418"/>
                </a:solidFill>
                <a:latin typeface="Courier New"/>
                <a:cs typeface="Courier New"/>
              </a:rPr>
              <a:t>Main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routine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*</a:t>
            </a:r>
            <a:r>
              <a:rPr lang="en-US" sz="1600" dirty="0" err="1" smtClean="0">
                <a:solidFill>
                  <a:srgbClr val="C1651C"/>
                </a:solidFill>
                <a:latin typeface="Courier New"/>
                <a:cs typeface="Courier New"/>
              </a:rPr>
              <a:t>connfdp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 lang="nl-NL" sz="1600" dirty="0" smtClean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nl-NL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connfdp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=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Malloc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l-NL" sz="1600" dirty="0" err="1">
                <a:solidFill>
                  <a:srgbClr val="C200FF"/>
                </a:solidFill>
                <a:latin typeface="Courier New"/>
                <a:cs typeface="Courier New"/>
              </a:rPr>
              <a:t>sizeof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nl-NL" sz="1600" dirty="0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)); </a:t>
            </a: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*connfdp = Accept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( . . . ); 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Pthread_create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(&amp;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tid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nl-NL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nl-NL" sz="1600" dirty="0">
                <a:solidFill>
                  <a:srgbClr val="000000"/>
                </a:solidFill>
                <a:latin typeface="Courier New"/>
                <a:cs typeface="Courier New"/>
              </a:rPr>
              <a:t>, thread, </a:t>
            </a:r>
            <a:r>
              <a:rPr lang="nl-NL" sz="1600" dirty="0" err="1">
                <a:solidFill>
                  <a:srgbClr val="000000"/>
                </a:solidFill>
                <a:latin typeface="Courier New"/>
                <a:cs typeface="Courier New"/>
              </a:rPr>
              <a:t>connfdp</a:t>
            </a:r>
            <a:r>
              <a:rPr lang="nl-NL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 lang="nl-NL" sz="16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357018" y="5334000"/>
            <a:ext cx="8307387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b="0" kern="0" dirty="0" smtClean="0"/>
              <a:t>Producer-Consumer Model</a:t>
            </a:r>
          </a:p>
          <a:p>
            <a:pPr lvl="1"/>
            <a:r>
              <a:rPr lang="en-US" b="0" kern="0" dirty="0" smtClean="0"/>
              <a:t>Allocate in main</a:t>
            </a:r>
          </a:p>
          <a:p>
            <a:pPr lvl="1"/>
            <a:r>
              <a:rPr lang="en-US" b="0" kern="0" dirty="0" smtClean="0"/>
              <a:t>Free in thread routine</a:t>
            </a:r>
            <a:endParaRPr lang="en-US" b="0" kern="0" dirty="0"/>
          </a:p>
          <a:p>
            <a:pPr lvl="1"/>
            <a:endParaRPr lang="en-US" b="0" kern="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4150757" y="6253102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en-US" sz="2000" b="0" kern="0" dirty="0" smtClean="0">
                <a:latin typeface="+mn-lt"/>
              </a:rPr>
              <a:t>   </a:t>
            </a:r>
            <a:endParaRPr lang="en-US" sz="2000" b="0" kern="0" dirty="0">
              <a:latin typeface="+mn-lt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8600" y="2743200"/>
            <a:ext cx="4628190" cy="2308324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Thread routine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thread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 err="1">
                <a:solidFill>
                  <a:srgbClr val="C1651C"/>
                </a:solidFill>
                <a:latin typeface="Courier New"/>
                <a:cs typeface="Courier New"/>
              </a:rPr>
              <a:t>connfd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= *((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*)</a:t>
            </a:r>
            <a:r>
              <a:rPr lang="fr-FR" sz="1600" dirty="0" err="1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	. . .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Free(</a:t>
            </a:r>
            <a:r>
              <a:rPr lang="en-US" sz="1600" dirty="0" err="1" smtClean="0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                    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. . .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en-US" sz="1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5908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084" name="Rectangle 4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7872582" cy="762000"/>
          </a:xfrm>
        </p:spPr>
        <p:txBody>
          <a:bodyPr/>
          <a:lstStyle/>
          <a:p>
            <a:r>
              <a:rPr lang="en-US" dirty="0"/>
              <a:t>Pros and Cons of Thread-Based Designs</a:t>
            </a:r>
          </a:p>
        </p:txBody>
      </p:sp>
      <p:sp>
        <p:nvSpPr>
          <p:cNvPr id="81408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0513" y="1371600"/>
            <a:ext cx="8307387" cy="5224462"/>
          </a:xfrm>
        </p:spPr>
        <p:txBody>
          <a:bodyPr/>
          <a:lstStyle/>
          <a:p>
            <a:r>
              <a:rPr lang="en-US" sz="2600" dirty="0"/>
              <a:t>+ Easy to share data structures between threads</a:t>
            </a:r>
          </a:p>
          <a:p>
            <a:pPr lvl="1"/>
            <a:r>
              <a:rPr lang="en-US" sz="2200" dirty="0"/>
              <a:t>e.g., logging information, file </a:t>
            </a:r>
            <a:r>
              <a:rPr lang="en-US" sz="2200" dirty="0" smtClean="0"/>
              <a:t>cache</a:t>
            </a:r>
          </a:p>
          <a:p>
            <a:r>
              <a:rPr lang="en-US" sz="2600" dirty="0"/>
              <a:t>+ Threads are more efficient than </a:t>
            </a:r>
            <a:r>
              <a:rPr lang="en-US" sz="2600" dirty="0" smtClean="0"/>
              <a:t>processes</a:t>
            </a:r>
          </a:p>
          <a:p>
            <a:endParaRPr lang="en-US" sz="1400" dirty="0"/>
          </a:p>
          <a:p>
            <a:r>
              <a:rPr lang="en-US" sz="2600" dirty="0" smtClean="0">
                <a:latin typeface="Arial Black"/>
              </a:rPr>
              <a:t>–</a:t>
            </a:r>
            <a:r>
              <a:rPr lang="en-US" sz="2600" dirty="0" smtClean="0"/>
              <a:t> </a:t>
            </a:r>
            <a:r>
              <a:rPr lang="en-US" sz="2600" dirty="0"/>
              <a:t>Unintentional sharing can introduce subtle and hard-to-reproduce errors!</a:t>
            </a:r>
          </a:p>
          <a:p>
            <a:pPr lvl="1"/>
            <a:r>
              <a:rPr lang="en-US" sz="2200" dirty="0"/>
              <a:t>The ease with which data can be shared is both the greatest strength and the greatest weakness of </a:t>
            </a:r>
            <a:r>
              <a:rPr lang="en-US" sz="2200" dirty="0" smtClean="0"/>
              <a:t>threads</a:t>
            </a:r>
          </a:p>
          <a:p>
            <a:pPr lvl="1"/>
            <a:r>
              <a:rPr lang="en-US" sz="2200" dirty="0" smtClean="0"/>
              <a:t>Hard to know which data shared &amp; which private</a:t>
            </a:r>
          </a:p>
          <a:p>
            <a:pPr lvl="1"/>
            <a:r>
              <a:rPr lang="en-US" sz="2200" dirty="0" smtClean="0"/>
              <a:t>Hard to detect by testing</a:t>
            </a:r>
          </a:p>
          <a:p>
            <a:pPr lvl="2"/>
            <a:r>
              <a:rPr lang="en-US" dirty="0" smtClean="0"/>
              <a:t>Probability of bad race outcome very low</a:t>
            </a:r>
          </a:p>
          <a:p>
            <a:pPr lvl="2"/>
            <a:r>
              <a:rPr lang="en-US" dirty="0" smtClean="0"/>
              <a:t>But nonzero!</a:t>
            </a:r>
          </a:p>
          <a:p>
            <a:pPr lvl="1"/>
            <a:r>
              <a:rPr lang="en-US" sz="2200" dirty="0" smtClean="0"/>
              <a:t>Future lectures</a:t>
            </a:r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39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8" y="247650"/>
            <a:ext cx="9093200" cy="781050"/>
          </a:xfrm>
        </p:spPr>
        <p:txBody>
          <a:bodyPr/>
          <a:lstStyle/>
          <a:p>
            <a:r>
              <a:rPr lang="en-US" dirty="0" smtClean="0"/>
              <a:t>Summary: Approaches </a:t>
            </a:r>
            <a:r>
              <a:rPr lang="en-US" dirty="0"/>
              <a:t>to Concurrency</a:t>
            </a:r>
          </a:p>
        </p:txBody>
      </p:sp>
      <p:sp>
        <p:nvSpPr>
          <p:cNvPr id="85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19200"/>
            <a:ext cx="7896225" cy="54864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sz="2600" dirty="0" smtClean="0"/>
              <a:t>Process-based</a:t>
            </a:r>
            <a:endParaRPr lang="en-US" sz="2600" dirty="0"/>
          </a:p>
          <a:p>
            <a:pPr lvl="1">
              <a:lnSpc>
                <a:spcPct val="85000"/>
              </a:lnSpc>
            </a:pPr>
            <a:r>
              <a:rPr lang="en-US" sz="2200" dirty="0"/>
              <a:t>Hard to share resources: Easy to avoid unintended sharing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High overhead in adding/removing clients</a:t>
            </a:r>
          </a:p>
          <a:p>
            <a:pPr>
              <a:lnSpc>
                <a:spcPct val="85000"/>
              </a:lnSpc>
            </a:pPr>
            <a:r>
              <a:rPr lang="en-US" sz="2600" dirty="0"/>
              <a:t>Event-based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Tedious and low level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Total control over scheduling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Very low overhead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Cannot create as fine grained a level of concurrency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Does not make use of multi-</a:t>
            </a:r>
            <a:r>
              <a:rPr lang="en-US" sz="2200" dirty="0" smtClean="0"/>
              <a:t>core</a:t>
            </a:r>
            <a:endParaRPr lang="en-US" sz="2600" b="0" dirty="0" smtClean="0"/>
          </a:p>
          <a:p>
            <a:pPr>
              <a:lnSpc>
                <a:spcPct val="85000"/>
              </a:lnSpc>
            </a:pPr>
            <a:r>
              <a:rPr lang="en-US" sz="2600" dirty="0" smtClean="0"/>
              <a:t>Thread-based</a:t>
            </a:r>
            <a:endParaRPr lang="en-US" sz="2600" dirty="0"/>
          </a:p>
          <a:p>
            <a:pPr lvl="1">
              <a:lnSpc>
                <a:spcPct val="85000"/>
              </a:lnSpc>
            </a:pPr>
            <a:r>
              <a:rPr lang="en-US" sz="2200" dirty="0"/>
              <a:t>Easy to share resources: Perhaps too easy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Medium overhead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Not much control over scheduling policies</a:t>
            </a:r>
          </a:p>
          <a:p>
            <a:pPr lvl="1">
              <a:lnSpc>
                <a:spcPct val="85000"/>
              </a:lnSpc>
            </a:pPr>
            <a:r>
              <a:rPr lang="en-US" sz="2200" dirty="0"/>
              <a:t>Difficult to debug</a:t>
            </a:r>
            <a:endParaRPr lang="en-US" sz="2200" dirty="0" smtClean="0"/>
          </a:p>
          <a:p>
            <a:pPr lvl="2">
              <a:lnSpc>
                <a:spcPct val="85000"/>
              </a:lnSpc>
            </a:pPr>
            <a:r>
              <a:rPr lang="en-US" dirty="0" smtClean="0"/>
              <a:t>Event orderings not repeatable</a:t>
            </a:r>
          </a:p>
        </p:txBody>
      </p:sp>
    </p:spTree>
    <p:extLst>
      <p:ext uri="{BB962C8B-B14F-4D97-AF65-F5344CB8AC3E}">
        <p14:creationId xmlns:p14="http://schemas.microsoft.com/office/powerpoint/2010/main" val="266367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Homework </a:t>
            </a:r>
            <a:r>
              <a:rPr lang="mr-IN" dirty="0" smtClean="0"/>
              <a:t>–</a:t>
            </a:r>
            <a:r>
              <a:rPr lang="en-US" dirty="0" smtClean="0"/>
              <a:t> Week </a:t>
            </a:r>
            <a:r>
              <a:rPr lang="en-US" dirty="0"/>
              <a:t>9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623659"/>
            <a:ext cx="7896225" cy="4710465"/>
          </a:xfrm>
        </p:spPr>
        <p:txBody>
          <a:bodyPr/>
          <a:lstStyle/>
          <a:p>
            <a:r>
              <a:rPr lang="en-US" dirty="0" smtClean="0"/>
              <a:t>Read: CS:APP</a:t>
            </a:r>
          </a:p>
          <a:p>
            <a:pPr lvl="1"/>
            <a:r>
              <a:rPr lang="en-US" dirty="0" smtClean="0"/>
              <a:t>Chapter 12</a:t>
            </a:r>
          </a:p>
          <a:p>
            <a:r>
              <a:rPr lang="en-US" dirty="0" smtClean="0"/>
              <a:t>Review Code Tiny Server</a:t>
            </a:r>
            <a:endParaRPr lang="en-US" dirty="0"/>
          </a:p>
          <a:p>
            <a:pPr lvl="1"/>
            <a:r>
              <a:rPr lang="en-US" dirty="0" smtClean="0"/>
              <a:t>/home/</a:t>
            </a:r>
            <a:r>
              <a:rPr lang="en-US" dirty="0" err="1" smtClean="0"/>
              <a:t>wmartens</a:t>
            </a:r>
            <a:r>
              <a:rPr lang="en-US" dirty="0" smtClean="0"/>
              <a:t>/public/lecture8</a:t>
            </a:r>
          </a:p>
          <a:p>
            <a:pPr lvl="2"/>
            <a:r>
              <a:rPr lang="en-US" dirty="0" err="1" smtClean="0"/>
              <a:t>conc</a:t>
            </a:r>
            <a:endParaRPr lang="en-US" dirty="0" smtClean="0"/>
          </a:p>
          <a:p>
            <a:pPr lvl="2"/>
            <a:endParaRPr lang="en-US" dirty="0"/>
          </a:p>
          <a:p>
            <a:r>
              <a:rPr lang="en-US" dirty="0" smtClean="0"/>
              <a:t>Proxy Lab </a:t>
            </a:r>
            <a:r>
              <a:rPr lang="mr-IN" dirty="0" smtClean="0"/>
              <a:t>–</a:t>
            </a:r>
            <a:r>
              <a:rPr lang="en-US" dirty="0" smtClean="0"/>
              <a:t> Will go out Tomorrow </a:t>
            </a:r>
            <a:r>
              <a:rPr lang="mr-IN" dirty="0" smtClean="0"/>
              <a:t>–</a:t>
            </a:r>
            <a:r>
              <a:rPr lang="en-US" dirty="0" smtClean="0"/>
              <a:t> Due March 13th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930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6934200" cy="573087"/>
          </a:xfrm>
        </p:spPr>
        <p:txBody>
          <a:bodyPr lIns="91294" tIns="45647" rIns="91294" bIns="45647" anchor="t"/>
          <a:lstStyle/>
          <a:p>
            <a:r>
              <a:rPr lang="en-US" dirty="0"/>
              <a:t>Web History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294" tIns="45647" rIns="91294" bIns="45647"/>
          <a:lstStyle/>
          <a:p>
            <a:r>
              <a:rPr lang="en-US" dirty="0"/>
              <a:t>1989:</a:t>
            </a:r>
          </a:p>
          <a:p>
            <a:pPr lvl="1"/>
            <a:r>
              <a:rPr lang="en-US" sz="2200" dirty="0"/>
              <a:t>Tim Berners-Lee (CERN) writes internal proposal to develop a distributed hypertext system</a:t>
            </a:r>
          </a:p>
          <a:p>
            <a:pPr lvl="2"/>
            <a:r>
              <a:rPr lang="en-US" dirty="0"/>
              <a:t>Connects “a web of notes with links”</a:t>
            </a:r>
          </a:p>
          <a:p>
            <a:pPr lvl="2"/>
            <a:r>
              <a:rPr lang="en-US" dirty="0"/>
              <a:t>Intended to help CERN physicists in large projects share and manage information </a:t>
            </a:r>
          </a:p>
          <a:p>
            <a:r>
              <a:rPr lang="en-US" dirty="0"/>
              <a:t>1990:</a:t>
            </a:r>
          </a:p>
          <a:p>
            <a:pPr lvl="1"/>
            <a:r>
              <a:rPr lang="en-US" sz="2200" dirty="0"/>
              <a:t>Tim BL writes a graphical browser for Next machines</a:t>
            </a:r>
          </a:p>
        </p:txBody>
      </p:sp>
    </p:spTree>
    <p:extLst>
      <p:ext uri="{BB962C8B-B14F-4D97-AF65-F5344CB8AC3E}">
        <p14:creationId xmlns:p14="http://schemas.microsoft.com/office/powerpoint/2010/main" val="381342742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5943600" cy="573087"/>
          </a:xfrm>
        </p:spPr>
        <p:txBody>
          <a:bodyPr lIns="91294" tIns="45647" rIns="91294" bIns="45647" anchor="t"/>
          <a:lstStyle/>
          <a:p>
            <a:r>
              <a:rPr lang="en-US"/>
              <a:t>Web History (cont)</a:t>
            </a:r>
          </a:p>
        </p:txBody>
      </p:sp>
      <p:sp>
        <p:nvSpPr>
          <p:cNvPr id="75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472487" cy="5224462"/>
          </a:xfrm>
        </p:spPr>
        <p:txBody>
          <a:bodyPr lIns="91294" tIns="45647" rIns="91294" bIns="45647"/>
          <a:lstStyle/>
          <a:p>
            <a:r>
              <a:rPr lang="en-US" dirty="0"/>
              <a:t>1992</a:t>
            </a:r>
          </a:p>
          <a:p>
            <a:pPr lvl="1"/>
            <a:r>
              <a:rPr lang="en-US" sz="2200" dirty="0"/>
              <a:t>NCSA server released</a:t>
            </a:r>
          </a:p>
          <a:p>
            <a:pPr lvl="1"/>
            <a:r>
              <a:rPr lang="en-US" sz="2200" dirty="0"/>
              <a:t>26 WWW servers worldwide</a:t>
            </a:r>
          </a:p>
          <a:p>
            <a:r>
              <a:rPr lang="en-US" dirty="0"/>
              <a:t>1993</a:t>
            </a:r>
          </a:p>
          <a:p>
            <a:pPr lvl="1"/>
            <a:r>
              <a:rPr lang="en-US" sz="2200" dirty="0"/>
              <a:t>Marc Andreessen releases first version of NCSA Mosaic browser</a:t>
            </a:r>
          </a:p>
          <a:p>
            <a:pPr lvl="1"/>
            <a:r>
              <a:rPr lang="en-US" sz="2200" dirty="0"/>
              <a:t>Mosaic version released for (Windows, Mac, Unix)</a:t>
            </a:r>
          </a:p>
          <a:p>
            <a:pPr lvl="1"/>
            <a:r>
              <a:rPr lang="en-US" sz="2200" dirty="0"/>
              <a:t>Web (port 80) traffic at 1% of NSFNET backbone traffic</a:t>
            </a:r>
          </a:p>
          <a:p>
            <a:pPr lvl="1"/>
            <a:r>
              <a:rPr lang="en-US" sz="2200" dirty="0"/>
              <a:t>Over 200 WWW servers worldwide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dirty="0"/>
              <a:t>1994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2200" dirty="0"/>
              <a:t>Andreessen and colleagues leave NCSA to form “Mosaic Communications Corp” (predecessor to Netscape)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483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3"/>
            <a:ext cx="6586538" cy="573087"/>
          </a:xfrm>
        </p:spPr>
        <p:txBody>
          <a:bodyPr/>
          <a:lstStyle/>
          <a:p>
            <a:r>
              <a:rPr lang="en-US"/>
              <a:t>HTTP Versions</a:t>
            </a:r>
          </a:p>
        </p:txBody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213725" cy="4972050"/>
          </a:xfrm>
        </p:spPr>
        <p:txBody>
          <a:bodyPr/>
          <a:lstStyle/>
          <a:p>
            <a:r>
              <a:rPr lang="en-US" dirty="0"/>
              <a:t>Major differences between HTTP/1.1 and HTTP/1.0</a:t>
            </a:r>
          </a:p>
          <a:p>
            <a:pPr lvl="1"/>
            <a:r>
              <a:rPr lang="en-US" dirty="0"/>
              <a:t>HTTP/1.0 uses a new connection for each transaction</a:t>
            </a:r>
          </a:p>
          <a:p>
            <a:pPr lvl="1"/>
            <a:r>
              <a:rPr lang="en-US" dirty="0"/>
              <a:t>HTTP/1.1 also supports </a:t>
            </a:r>
            <a:r>
              <a:rPr lang="en-US" i="1" dirty="0"/>
              <a:t>persistent connections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multiple transactions over the same connection</a:t>
            </a:r>
          </a:p>
          <a:p>
            <a:pPr lvl="2"/>
            <a:r>
              <a:rPr lang="en-US" dirty="0">
                <a:latin typeface="Courier New" pitchFamily="49" charset="0"/>
              </a:rPr>
              <a:t>Connection: Keep-Alive</a:t>
            </a:r>
          </a:p>
          <a:p>
            <a:pPr lvl="1"/>
            <a:r>
              <a:rPr lang="en-US" dirty="0"/>
              <a:t>HTTP/1.1 requires </a:t>
            </a:r>
            <a:r>
              <a:rPr lang="en-US" dirty="0">
                <a:latin typeface="Courier New" pitchFamily="49" charset="0"/>
              </a:rPr>
              <a:t>HOST</a:t>
            </a:r>
            <a:r>
              <a:rPr lang="en-US" dirty="0"/>
              <a:t> header</a:t>
            </a:r>
          </a:p>
          <a:p>
            <a:pPr lvl="2"/>
            <a:r>
              <a:rPr lang="en-US" dirty="0">
                <a:latin typeface="Courier New" pitchFamily="49" charset="0"/>
              </a:rPr>
              <a:t>Host: www.cmu.edu</a:t>
            </a:r>
          </a:p>
          <a:p>
            <a:pPr lvl="2"/>
            <a:r>
              <a:rPr lang="en-US" dirty="0"/>
              <a:t>Makes it possible to host multiple websites at single Internet host</a:t>
            </a:r>
          </a:p>
          <a:p>
            <a:pPr lvl="1"/>
            <a:r>
              <a:rPr lang="en-US" dirty="0"/>
              <a:t>HTTP/1.1 supports </a:t>
            </a:r>
            <a:r>
              <a:rPr lang="en-US" i="1" dirty="0"/>
              <a:t>chunked encoding</a:t>
            </a:r>
            <a:endParaRPr lang="en-US" dirty="0"/>
          </a:p>
          <a:p>
            <a:pPr lvl="2"/>
            <a:r>
              <a:rPr lang="en-US" dirty="0">
                <a:latin typeface="Courier New"/>
                <a:cs typeface="Courier New"/>
              </a:rPr>
              <a:t>Transfer-Encoding: chunked</a:t>
            </a:r>
          </a:p>
          <a:p>
            <a:pPr lvl="1"/>
            <a:r>
              <a:rPr lang="en-US" dirty="0"/>
              <a:t>HTTP/1.1 adds additional support for caching</a:t>
            </a:r>
          </a:p>
        </p:txBody>
      </p:sp>
    </p:spTree>
    <p:extLst>
      <p:ext uri="{BB962C8B-B14F-4D97-AF65-F5344CB8AC3E}">
        <p14:creationId xmlns:p14="http://schemas.microsoft.com/office/powerpoint/2010/main" val="4835779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34963"/>
            <a:ext cx="8382000" cy="1112837"/>
          </a:xfrm>
        </p:spPr>
        <p:txBody>
          <a:bodyPr lIns="91294" tIns="45647" rIns="91294" bIns="45647" anchor="t"/>
          <a:lstStyle/>
          <a:p>
            <a:r>
              <a:rPr lang="en-US" dirty="0">
                <a:latin typeface="Courier New" pitchFamily="49" charset="0"/>
              </a:rPr>
              <a:t>GET</a:t>
            </a:r>
            <a:r>
              <a:rPr lang="en-US" dirty="0"/>
              <a:t> Request to Apache Server</a:t>
            </a:r>
            <a:br>
              <a:rPr lang="en-US" dirty="0"/>
            </a:br>
            <a:r>
              <a:rPr lang="en-US" dirty="0"/>
              <a:t>From Firefox Browser</a:t>
            </a:r>
          </a:p>
        </p:txBody>
      </p:sp>
      <p:sp>
        <p:nvSpPr>
          <p:cNvPr id="769027" name="Rectangle 3"/>
          <p:cNvSpPr>
            <a:spLocks noChangeArrowheads="1"/>
          </p:cNvSpPr>
          <p:nvPr/>
        </p:nvSpPr>
        <p:spPr bwMode="auto">
          <a:xfrm>
            <a:off x="152400" y="2209800"/>
            <a:ext cx="8839200" cy="3416312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1430" tIns="45716" rIns="91430" bIns="45716" anchor="ctr">
            <a:spAutoFit/>
          </a:bodyPr>
          <a:lstStyle/>
          <a:p>
            <a:pPr defTabSz="912813"/>
            <a:r>
              <a:rPr lang="en-US" sz="1800" i="1" dirty="0">
                <a:latin typeface="Courier New" pitchFamily="49" charset="0"/>
              </a:rPr>
              <a:t>GET /~</a:t>
            </a:r>
            <a:r>
              <a:rPr lang="en-US" sz="1800" i="1" dirty="0" err="1">
                <a:latin typeface="Courier New" pitchFamily="49" charset="0"/>
              </a:rPr>
              <a:t>bryant</a:t>
            </a:r>
            <a:r>
              <a:rPr lang="en-US" sz="1800" i="1" dirty="0">
                <a:latin typeface="Courier New" pitchFamily="49" charset="0"/>
              </a:rPr>
              <a:t>/test.html HTTP/1.1</a:t>
            </a:r>
          </a:p>
          <a:p>
            <a:pPr defTabSz="912813"/>
            <a:r>
              <a:rPr lang="en-US" sz="1800" i="1" dirty="0">
                <a:latin typeface="Courier New" pitchFamily="49" charset="0"/>
              </a:rPr>
              <a:t>Host: www.cs.cmu.edu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User-Agent: Mozilla/5.0 (Windows; U; Windows NT 6.0; en-US; rv:1.9.2.11) Gecko/20101012 Firefox/3.6.11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Accept: text/</a:t>
            </a:r>
            <a:r>
              <a:rPr lang="en-US" sz="1800" dirty="0" err="1">
                <a:latin typeface="Courier New" pitchFamily="49" charset="0"/>
              </a:rPr>
              <a:t>html,application</a:t>
            </a:r>
            <a:r>
              <a:rPr lang="en-US" sz="1800" dirty="0">
                <a:latin typeface="Courier New" pitchFamily="49" charset="0"/>
              </a:rPr>
              <a:t>/</a:t>
            </a:r>
            <a:r>
              <a:rPr lang="en-US" sz="1800" dirty="0" err="1">
                <a:latin typeface="Courier New" pitchFamily="49" charset="0"/>
              </a:rPr>
              <a:t>xhtml+xml,application</a:t>
            </a:r>
            <a:r>
              <a:rPr lang="en-US" sz="1800" dirty="0">
                <a:latin typeface="Courier New" pitchFamily="49" charset="0"/>
              </a:rPr>
              <a:t>/</a:t>
            </a:r>
            <a:r>
              <a:rPr lang="en-US" sz="1800" dirty="0" err="1">
                <a:latin typeface="Courier New" pitchFamily="49" charset="0"/>
              </a:rPr>
              <a:t>xml;q</a:t>
            </a:r>
            <a:r>
              <a:rPr lang="en-US" sz="1800" dirty="0">
                <a:latin typeface="Courier New" pitchFamily="49" charset="0"/>
              </a:rPr>
              <a:t>=0.9,*/*;q=0.8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Accept-Language: en-</a:t>
            </a:r>
            <a:r>
              <a:rPr lang="en-US" sz="1800" dirty="0" err="1">
                <a:latin typeface="Courier New" pitchFamily="49" charset="0"/>
              </a:rPr>
              <a:t>us,en;q</a:t>
            </a:r>
            <a:r>
              <a:rPr lang="en-US" sz="1800" dirty="0">
                <a:latin typeface="Courier New" pitchFamily="49" charset="0"/>
              </a:rPr>
              <a:t>=0.5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Accept-Encoding: </a:t>
            </a:r>
            <a:r>
              <a:rPr lang="en-US" sz="1800" dirty="0" err="1">
                <a:latin typeface="Courier New" pitchFamily="49" charset="0"/>
              </a:rPr>
              <a:t>gzip,deflate</a:t>
            </a:r>
            <a:endParaRPr lang="en-US" sz="1800" dirty="0">
              <a:latin typeface="Courier New" pitchFamily="49" charset="0"/>
            </a:endParaRPr>
          </a:p>
          <a:p>
            <a:pPr defTabSz="912813"/>
            <a:r>
              <a:rPr lang="en-US" sz="1800" dirty="0">
                <a:latin typeface="Courier New" pitchFamily="49" charset="0"/>
              </a:rPr>
              <a:t>Accept-</a:t>
            </a:r>
            <a:r>
              <a:rPr lang="en-US" sz="1800" dirty="0" err="1">
                <a:latin typeface="Courier New" pitchFamily="49" charset="0"/>
              </a:rPr>
              <a:t>Charset</a:t>
            </a:r>
            <a:r>
              <a:rPr lang="en-US" sz="1800" dirty="0">
                <a:latin typeface="Courier New" pitchFamily="49" charset="0"/>
              </a:rPr>
              <a:t>: ISO-8859-1,utf-8;q=0.7,*;q=0.7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Keep-Alive: 115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Connection: keep-alive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CRLF (\r\n)</a:t>
            </a:r>
          </a:p>
        </p:txBody>
      </p:sp>
      <p:sp>
        <p:nvSpPr>
          <p:cNvPr id="775183" name="Rectangle 15"/>
          <p:cNvSpPr>
            <a:spLocks noChangeArrowheads="1"/>
          </p:cNvSpPr>
          <p:nvPr/>
        </p:nvSpPr>
        <p:spPr bwMode="auto">
          <a:xfrm>
            <a:off x="762000" y="2209801"/>
            <a:ext cx="2590800" cy="36327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775184" name="Text Box 16"/>
          <p:cNvSpPr txBox="1">
            <a:spLocks noChangeArrowheads="1"/>
          </p:cNvSpPr>
          <p:nvPr/>
        </p:nvSpPr>
        <p:spPr bwMode="auto">
          <a:xfrm>
            <a:off x="1203325" y="1676400"/>
            <a:ext cx="40179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/>
              <a:t>URI is just the suffix, not the entire URL</a:t>
            </a:r>
          </a:p>
        </p:txBody>
      </p:sp>
    </p:spTree>
    <p:extLst>
      <p:ext uri="{BB962C8B-B14F-4D97-AF65-F5344CB8AC3E}">
        <p14:creationId xmlns:p14="http://schemas.microsoft.com/office/powerpoint/2010/main" val="315586952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4963"/>
            <a:ext cx="8534400" cy="573087"/>
          </a:xfrm>
        </p:spPr>
        <p:txBody>
          <a:bodyPr lIns="91294" tIns="45647" rIns="91294" bIns="45647" anchor="t"/>
          <a:lstStyle/>
          <a:p>
            <a:r>
              <a:rPr lang="en-US">
                <a:latin typeface="Courier New" pitchFamily="49" charset="0"/>
              </a:rPr>
              <a:t>GET</a:t>
            </a:r>
            <a:r>
              <a:rPr lang="en-US"/>
              <a:t> Response From Apache Server</a:t>
            </a:r>
          </a:p>
        </p:txBody>
      </p:sp>
      <p:sp>
        <p:nvSpPr>
          <p:cNvPr id="770051" name="Rectangle 3"/>
          <p:cNvSpPr>
            <a:spLocks noChangeArrowheads="1"/>
          </p:cNvSpPr>
          <p:nvPr/>
        </p:nvSpPr>
        <p:spPr bwMode="auto">
          <a:xfrm>
            <a:off x="304800" y="1371600"/>
            <a:ext cx="8534400" cy="5078305"/>
          </a:xfrm>
          <a:prstGeom prst="rect">
            <a:avLst/>
          </a:prstGeom>
          <a:solidFill>
            <a:srgbClr val="E6E6E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1430" tIns="45716" rIns="91430" bIns="45716" anchor="ctr">
            <a:spAutoFit/>
          </a:bodyPr>
          <a:lstStyle/>
          <a:p>
            <a:pPr defTabSz="912813"/>
            <a:r>
              <a:rPr lang="en-US" sz="1800" dirty="0">
                <a:latin typeface="Courier New" pitchFamily="49" charset="0"/>
              </a:rPr>
              <a:t>HTTP/1.1 200 OK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Date: Fri, 29 Oct 2010 19:48:32 GMT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Server: Apache/2.2.14 (Unix) </a:t>
            </a:r>
            <a:r>
              <a:rPr lang="en-US" sz="1800" dirty="0" err="1">
                <a:latin typeface="Courier New" pitchFamily="49" charset="0"/>
              </a:rPr>
              <a:t>mod_ssl</a:t>
            </a:r>
            <a:r>
              <a:rPr lang="en-US" sz="1800" dirty="0">
                <a:latin typeface="Courier New" pitchFamily="49" charset="0"/>
              </a:rPr>
              <a:t>/2.2.14 </a:t>
            </a:r>
            <a:r>
              <a:rPr lang="en-US" sz="1800" dirty="0" err="1">
                <a:latin typeface="Courier New" pitchFamily="49" charset="0"/>
              </a:rPr>
              <a:t>OpenSSL</a:t>
            </a:r>
            <a:r>
              <a:rPr lang="en-US" sz="1800" dirty="0">
                <a:latin typeface="Courier New" pitchFamily="49" charset="0"/>
              </a:rPr>
              <a:t>/0.9.7m </a:t>
            </a:r>
            <a:r>
              <a:rPr lang="en-US" sz="1800" dirty="0" err="1">
                <a:latin typeface="Courier New" pitchFamily="49" charset="0"/>
              </a:rPr>
              <a:t>mod_pubcookie</a:t>
            </a:r>
            <a:r>
              <a:rPr lang="en-US" sz="1800" dirty="0">
                <a:latin typeface="Courier New" pitchFamily="49" charset="0"/>
              </a:rPr>
              <a:t>/3.3.2b PHP/5.3.1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Accept-Ranges: bytes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Content-Length: 479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Keep-Alive: timeout=15, max=100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Connection: Keep-Alive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Content-Type: text/html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&lt;html&gt;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&lt;head&gt;&lt;title&gt;Some Tests&lt;/title&gt;&lt;/head&gt;</a:t>
            </a:r>
          </a:p>
          <a:p>
            <a:pPr defTabSz="912813"/>
            <a:endParaRPr lang="en-US" sz="1800" dirty="0">
              <a:latin typeface="Courier New" pitchFamily="49" charset="0"/>
            </a:endParaRPr>
          </a:p>
          <a:p>
            <a:pPr defTabSz="912813"/>
            <a:r>
              <a:rPr lang="en-US" sz="1800" dirty="0">
                <a:latin typeface="Courier New" pitchFamily="49" charset="0"/>
              </a:rPr>
              <a:t>&lt;body&gt;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&lt;h1&gt;Some Tests&lt;/h1&gt;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 . . .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&lt;/body&gt;</a:t>
            </a:r>
          </a:p>
          <a:p>
            <a:pPr defTabSz="912813"/>
            <a:r>
              <a:rPr lang="en-US" sz="1800" dirty="0">
                <a:latin typeface="Courier New" pitchFamily="49" charset="0"/>
              </a:rPr>
              <a:t>&lt;/html&gt;</a:t>
            </a:r>
          </a:p>
          <a:p>
            <a:pPr algn="l" defTabSz="912813"/>
            <a:endParaRPr lang="en-US" sz="18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50688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Transfer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</a:t>
            </a:r>
          </a:p>
          <a:p>
            <a:pPr lvl="1"/>
            <a:r>
              <a:rPr lang="en-US" dirty="0"/>
              <a:t>Specify total length with content-length</a:t>
            </a:r>
          </a:p>
          <a:p>
            <a:pPr lvl="1"/>
            <a:r>
              <a:rPr lang="en-US" dirty="0"/>
              <a:t>Requires that program buffer entire message</a:t>
            </a:r>
          </a:p>
          <a:p>
            <a:r>
              <a:rPr lang="en-US" dirty="0"/>
              <a:t>Chunked</a:t>
            </a:r>
          </a:p>
          <a:p>
            <a:pPr lvl="1"/>
            <a:r>
              <a:rPr lang="en-US" dirty="0"/>
              <a:t>Break into blocks</a:t>
            </a:r>
          </a:p>
          <a:p>
            <a:pPr lvl="1"/>
            <a:r>
              <a:rPr lang="en-US" dirty="0"/>
              <a:t>Prefix each block with number of bytes (Hex coded)</a:t>
            </a:r>
          </a:p>
        </p:txBody>
      </p:sp>
    </p:spTree>
    <p:extLst>
      <p:ext uri="{BB962C8B-B14F-4D97-AF65-F5344CB8AC3E}">
        <p14:creationId xmlns:p14="http://schemas.microsoft.com/office/powerpoint/2010/main" val="142935167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762" y="304800"/>
            <a:ext cx="7591425" cy="762000"/>
          </a:xfrm>
        </p:spPr>
        <p:txBody>
          <a:bodyPr/>
          <a:lstStyle/>
          <a:p>
            <a:r>
              <a:rPr lang="en-US" dirty="0"/>
              <a:t>Chunked Encoding Example</a:t>
            </a:r>
          </a:p>
        </p:txBody>
      </p:sp>
      <p:sp>
        <p:nvSpPr>
          <p:cNvPr id="865283" name="Rectangle 3"/>
          <p:cNvSpPr>
            <a:spLocks noChangeArrowheads="1"/>
          </p:cNvSpPr>
          <p:nvPr/>
        </p:nvSpPr>
        <p:spPr bwMode="auto">
          <a:xfrm>
            <a:off x="685800" y="990600"/>
            <a:ext cx="8382000" cy="547841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1430" tIns="45716" rIns="91430" bIns="45716" anchor="ctr">
            <a:spAutoFit/>
          </a:bodyPr>
          <a:lstStyle/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HTTP/1.1 200 OK\n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Date: Sun, 31 Oct 2010 20:47:48 GMT\n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Server: Apache/1.3.41 (Unix)\n 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Keep-Alive: timeout=15, max=100\n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Connection: Keep-Alive\n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Transfer-Encoding: chunked\n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Content-Type: text/html\n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\r\n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d75\r\n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&lt;html&gt;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&lt;head&gt;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.&lt;link </a:t>
            </a:r>
            <a:r>
              <a:rPr lang="en-US" sz="1400" dirty="0" err="1">
                <a:latin typeface="Courier New" pitchFamily="49" charset="0"/>
              </a:rPr>
              <a:t>href</a:t>
            </a:r>
            <a:r>
              <a:rPr lang="en-US" sz="1400" dirty="0">
                <a:latin typeface="Courier New" pitchFamily="49" charset="0"/>
              </a:rPr>
              <a:t>="http://www.cs.cmu.edu/style/calendar.css" </a:t>
            </a:r>
            <a:r>
              <a:rPr lang="en-US" sz="1400" dirty="0" err="1">
                <a:latin typeface="Courier New" pitchFamily="49" charset="0"/>
              </a:rPr>
              <a:t>rel</a:t>
            </a:r>
            <a:r>
              <a:rPr lang="en-US" sz="1400" dirty="0">
                <a:latin typeface="Courier New" pitchFamily="49" charset="0"/>
              </a:rPr>
              <a:t>="</a:t>
            </a:r>
            <a:r>
              <a:rPr lang="en-US" sz="1400" dirty="0" err="1">
                <a:latin typeface="Courier New" pitchFamily="49" charset="0"/>
              </a:rPr>
              <a:t>stylesheet</a:t>
            </a:r>
            <a:r>
              <a:rPr lang="en-US" sz="1400" dirty="0">
                <a:latin typeface="Courier New" pitchFamily="49" charset="0"/>
              </a:rPr>
              <a:t>" type="text/</a:t>
            </a:r>
            <a:r>
              <a:rPr lang="en-US" sz="1400" dirty="0" err="1">
                <a:latin typeface="Courier New" pitchFamily="49" charset="0"/>
              </a:rPr>
              <a:t>css</a:t>
            </a:r>
            <a:r>
              <a:rPr lang="en-US" sz="1400" dirty="0">
                <a:latin typeface="Courier New" pitchFamily="49" charset="0"/>
              </a:rPr>
              <a:t>"&gt;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&lt;/head&gt;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&lt;body id="</a:t>
            </a:r>
            <a:r>
              <a:rPr lang="en-US" sz="1400" dirty="0" err="1">
                <a:latin typeface="Courier New" pitchFamily="49" charset="0"/>
              </a:rPr>
              <a:t>calendar_body</a:t>
            </a:r>
            <a:r>
              <a:rPr lang="en-US" sz="1400" dirty="0">
                <a:latin typeface="Courier New" pitchFamily="49" charset="0"/>
              </a:rPr>
              <a:t>"&gt;</a:t>
            </a:r>
          </a:p>
          <a:p>
            <a:pPr defTabSz="912813">
              <a:tabLst>
                <a:tab pos="228600" algn="l"/>
              </a:tabLst>
            </a:pPr>
            <a:endParaRPr lang="en-US" sz="1400" dirty="0">
              <a:latin typeface="Courier New" pitchFamily="49" charset="0"/>
            </a:endParaRP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&lt;div id='calendar'&gt;&lt;table width='100%'  border='0' </a:t>
            </a:r>
            <a:r>
              <a:rPr lang="en-US" sz="1400" dirty="0" err="1">
                <a:latin typeface="Courier New" pitchFamily="49" charset="0"/>
              </a:rPr>
              <a:t>cellpadding</a:t>
            </a:r>
            <a:r>
              <a:rPr lang="en-US" sz="1400" dirty="0">
                <a:latin typeface="Courier New" pitchFamily="49" charset="0"/>
              </a:rPr>
              <a:t>='0' </a:t>
            </a:r>
            <a:r>
              <a:rPr lang="en-US" sz="1400" dirty="0" err="1">
                <a:latin typeface="Courier New" pitchFamily="49" charset="0"/>
              </a:rPr>
              <a:t>cellspacing</a:t>
            </a:r>
            <a:r>
              <a:rPr lang="en-US" sz="1400" dirty="0">
                <a:latin typeface="Courier New" pitchFamily="49" charset="0"/>
              </a:rPr>
              <a:t>='1' id='cal'&gt;</a:t>
            </a:r>
          </a:p>
          <a:p>
            <a:pPr defTabSz="912813">
              <a:tabLst>
                <a:tab pos="228600" algn="l"/>
              </a:tabLst>
            </a:pPr>
            <a:endParaRPr lang="en-US" sz="1400" dirty="0">
              <a:latin typeface="Courier New" pitchFamily="49" charset="0"/>
            </a:endParaRP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 . . .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&lt;/body&gt;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&lt;/html&gt;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\r\n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0\r\n</a:t>
            </a:r>
          </a:p>
          <a:p>
            <a:pPr defTabSz="912813">
              <a:tabLst>
                <a:tab pos="228600" algn="l"/>
              </a:tabLst>
            </a:pPr>
            <a:r>
              <a:rPr lang="en-US" sz="1400" dirty="0">
                <a:latin typeface="Courier New" pitchFamily="49" charset="0"/>
              </a:rPr>
              <a:t>\r\n</a:t>
            </a:r>
          </a:p>
        </p:txBody>
      </p:sp>
      <p:sp>
        <p:nvSpPr>
          <p:cNvPr id="865284" name="Rectangle 4"/>
          <p:cNvSpPr>
            <a:spLocks noChangeArrowheads="1"/>
          </p:cNvSpPr>
          <p:nvPr/>
        </p:nvSpPr>
        <p:spPr bwMode="auto">
          <a:xfrm>
            <a:off x="685800" y="2743200"/>
            <a:ext cx="9906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5285" name="AutoShape 5"/>
          <p:cNvSpPr>
            <a:spLocks/>
          </p:cNvSpPr>
          <p:nvPr/>
        </p:nvSpPr>
        <p:spPr bwMode="auto">
          <a:xfrm>
            <a:off x="304800" y="3048000"/>
            <a:ext cx="304800" cy="2891135"/>
          </a:xfrm>
          <a:prstGeom prst="leftBrace">
            <a:avLst>
              <a:gd name="adj1" fmla="val 139583"/>
              <a:gd name="adj2" fmla="val 50000"/>
            </a:avLst>
          </a:prstGeom>
          <a:noFill/>
          <a:ln w="28575">
            <a:solidFill>
              <a:srgbClr val="00CC66"/>
            </a:solidFill>
            <a:round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endParaRPr lang="en-US"/>
          </a:p>
        </p:txBody>
      </p:sp>
      <p:sp>
        <p:nvSpPr>
          <p:cNvPr id="865286" name="AutoShape 6"/>
          <p:cNvSpPr>
            <a:spLocks/>
          </p:cNvSpPr>
          <p:nvPr/>
        </p:nvSpPr>
        <p:spPr bwMode="auto">
          <a:xfrm>
            <a:off x="304800" y="5939135"/>
            <a:ext cx="304800" cy="381000"/>
          </a:xfrm>
          <a:prstGeom prst="leftBrace">
            <a:avLst>
              <a:gd name="adj1" fmla="val 10417"/>
              <a:gd name="adj2" fmla="val 50000"/>
            </a:avLst>
          </a:prstGeom>
          <a:noFill/>
          <a:ln w="28575">
            <a:solidFill>
              <a:srgbClr val="00CC66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5287" name="Rectangle 7"/>
          <p:cNvSpPr>
            <a:spLocks noChangeArrowheads="1"/>
          </p:cNvSpPr>
          <p:nvPr/>
        </p:nvSpPr>
        <p:spPr bwMode="auto">
          <a:xfrm>
            <a:off x="685800" y="5939135"/>
            <a:ext cx="990600" cy="304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65288" name="Text Box 8"/>
          <p:cNvSpPr txBox="1">
            <a:spLocks noChangeArrowheads="1"/>
          </p:cNvSpPr>
          <p:nvPr/>
        </p:nvSpPr>
        <p:spPr bwMode="auto">
          <a:xfrm>
            <a:off x="1752600" y="2711450"/>
            <a:ext cx="4043094" cy="461665"/>
          </a:xfrm>
          <a:prstGeom prst="rect">
            <a:avLst/>
          </a:prstGeom>
          <a:solidFill>
            <a:schemeClr val="hlink"/>
          </a:solidFill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First Chunk: 0xd75 = 3445 bytes</a:t>
            </a:r>
          </a:p>
        </p:txBody>
      </p:sp>
      <p:sp>
        <p:nvSpPr>
          <p:cNvPr id="865289" name="Text Box 9"/>
          <p:cNvSpPr txBox="1">
            <a:spLocks noChangeArrowheads="1"/>
          </p:cNvSpPr>
          <p:nvPr/>
        </p:nvSpPr>
        <p:spPr bwMode="auto">
          <a:xfrm>
            <a:off x="1752600" y="5862935"/>
            <a:ext cx="6400800" cy="461665"/>
          </a:xfrm>
          <a:prstGeom prst="rect">
            <a:avLst/>
          </a:prstGeom>
          <a:solidFill>
            <a:schemeClr val="hlink"/>
          </a:solidFill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Second Chunk: 0 bytes (indicates last chunk)</a:t>
            </a:r>
          </a:p>
        </p:txBody>
      </p:sp>
    </p:spTree>
    <p:extLst>
      <p:ext uri="{BB962C8B-B14F-4D97-AF65-F5344CB8AC3E}">
        <p14:creationId xmlns:p14="http://schemas.microsoft.com/office/powerpoint/2010/main" val="72137377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38807</TotalTime>
  <Words>8257</Words>
  <Application>Microsoft Office PowerPoint</Application>
  <PresentationFormat>On-screen Show (4:3)</PresentationFormat>
  <Paragraphs>2009</Paragraphs>
  <Slides>120</Slides>
  <Notes>97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120</vt:i4>
      </vt:variant>
    </vt:vector>
  </HeadingPairs>
  <TitlesOfParts>
    <vt:vector size="133" baseType="lpstr">
      <vt:lpstr>ＭＳ Ｐゴシック</vt:lpstr>
      <vt:lpstr>Arial</vt:lpstr>
      <vt:lpstr>Arial Black</vt:lpstr>
      <vt:lpstr>Arial Narrow</vt:lpstr>
      <vt:lpstr>Calibri</vt:lpstr>
      <vt:lpstr>Courier New</vt:lpstr>
      <vt:lpstr>Helvetica</vt:lpstr>
      <vt:lpstr>StarSymbol</vt:lpstr>
      <vt:lpstr>Times New Roman</vt:lpstr>
      <vt:lpstr>Wingdings</vt:lpstr>
      <vt:lpstr>Wingdings 2</vt:lpstr>
      <vt:lpstr>template2007</vt:lpstr>
      <vt:lpstr>Default Design</vt:lpstr>
      <vt:lpstr>Network Programming: Part II Concurrent Programming  CSC 374: Computer Systems II 9th Lecture, February 27, 2018</vt:lpstr>
      <vt:lpstr>Today</vt:lpstr>
      <vt:lpstr>Sockets Interface</vt:lpstr>
      <vt:lpstr>Sockets</vt:lpstr>
      <vt:lpstr>Review: Echo Server + Client Structure</vt:lpstr>
      <vt:lpstr>Sockets Interface</vt:lpstr>
      <vt:lpstr>Socket Address Structures &amp; getaddrinfo</vt:lpstr>
      <vt:lpstr>Socket Address Structures</vt:lpstr>
      <vt:lpstr>Sockets Interface</vt:lpstr>
      <vt:lpstr>Sockets Interface: socket</vt:lpstr>
      <vt:lpstr>Sockets Interface</vt:lpstr>
      <vt:lpstr>Sockets Interface: bind</vt:lpstr>
      <vt:lpstr>Sockets Interface</vt:lpstr>
      <vt:lpstr>Sockets Interface: listen</vt:lpstr>
      <vt:lpstr>Sockets Interface</vt:lpstr>
      <vt:lpstr>Sockets Interface: accept</vt:lpstr>
      <vt:lpstr>Sockets Interface</vt:lpstr>
      <vt:lpstr>Sockets Interface: connect</vt:lpstr>
      <vt:lpstr>connect/accept Illustrated</vt:lpstr>
      <vt:lpstr>Connected vs. Listening Descriptors</vt:lpstr>
      <vt:lpstr>Sockets Interface</vt:lpstr>
      <vt:lpstr>Sockets Interface</vt:lpstr>
      <vt:lpstr>Sockets Helper: open_clientfd</vt:lpstr>
      <vt:lpstr>Review: getaddrinfo Linked List</vt:lpstr>
      <vt:lpstr>Sockets Helper: open_clientfd (cont)</vt:lpstr>
      <vt:lpstr>Sockets Interface</vt:lpstr>
      <vt:lpstr>Sockets Helper: open_listenfd</vt:lpstr>
      <vt:lpstr>Sockets Helper: open_listenfd (cont)</vt:lpstr>
      <vt:lpstr>Sockets Helper: open_listenfd (cont)</vt:lpstr>
      <vt:lpstr>Testing Servers Using telnet</vt:lpstr>
      <vt:lpstr>Testing the Echo Server With telnet</vt:lpstr>
      <vt:lpstr>Today</vt:lpstr>
      <vt:lpstr>Web Server Basics</vt:lpstr>
      <vt:lpstr>Web Content</vt:lpstr>
      <vt:lpstr>Static and Dynamic Content</vt:lpstr>
      <vt:lpstr>URLs and how clients and servers use them</vt:lpstr>
      <vt:lpstr>HTTP Requests</vt:lpstr>
      <vt:lpstr>HTTP Responses</vt:lpstr>
      <vt:lpstr>Example HTTP Transaction</vt:lpstr>
      <vt:lpstr>Example HTTP Transaction, Take 2</vt:lpstr>
      <vt:lpstr>Tiny Web Server</vt:lpstr>
      <vt:lpstr>Tiny Operation</vt:lpstr>
      <vt:lpstr>Tiny Serving Static Content</vt:lpstr>
      <vt:lpstr>Serving Dynamic Content</vt:lpstr>
      <vt:lpstr>Serving Dynamic Content (cont)</vt:lpstr>
      <vt:lpstr>Serving Dynamic Content (cont)</vt:lpstr>
      <vt:lpstr>Issues in Serving Dynamic Content</vt:lpstr>
      <vt:lpstr>CGI</vt:lpstr>
      <vt:lpstr>The add.com Experience</vt:lpstr>
      <vt:lpstr>Serving Dynamic Content With GET</vt:lpstr>
      <vt:lpstr>Serving Dynamic Content With GET</vt:lpstr>
      <vt:lpstr>Serving Dynamic Content With GET</vt:lpstr>
      <vt:lpstr>Serving Dynamic Content with GET</vt:lpstr>
      <vt:lpstr>Serving Dynamic Content with GET</vt:lpstr>
      <vt:lpstr>Serving Dynamic Content With GET </vt:lpstr>
      <vt:lpstr>Proxies</vt:lpstr>
      <vt:lpstr>Why Proxies?</vt:lpstr>
      <vt:lpstr>For More Information</vt:lpstr>
      <vt:lpstr>15 Minute Break</vt:lpstr>
      <vt:lpstr>Today</vt:lpstr>
      <vt:lpstr>Concurrent Programming is Hard!</vt:lpstr>
      <vt:lpstr>Data Race</vt:lpstr>
      <vt:lpstr>Deadlock</vt:lpstr>
      <vt:lpstr>Deadlock</vt:lpstr>
      <vt:lpstr>Testing Printf Deadlock</vt:lpstr>
      <vt:lpstr>Starvation</vt:lpstr>
      <vt:lpstr>Concurrent Programming is Hard!</vt:lpstr>
      <vt:lpstr>Concurrent Programming is Hard!</vt:lpstr>
      <vt:lpstr>Reminder: Iterative Echo Server</vt:lpstr>
      <vt:lpstr>Iterative Servers</vt:lpstr>
      <vt:lpstr>Iterative Servers</vt:lpstr>
      <vt:lpstr>Where Does Second Client Block?</vt:lpstr>
      <vt:lpstr>Fundamental Flaw of Iterative Servers</vt:lpstr>
      <vt:lpstr>Approaches for Writing Concurrent Servers</vt:lpstr>
      <vt:lpstr>Approach #1: Process-based Servers</vt:lpstr>
      <vt:lpstr>Approach #1: Process-based Servers</vt:lpstr>
      <vt:lpstr>Iterative Echo Server</vt:lpstr>
      <vt:lpstr>Making a Concurrent Echo Server</vt:lpstr>
      <vt:lpstr>Making a Concurrent Echo Server</vt:lpstr>
      <vt:lpstr>Making a Concurrent Echo Server</vt:lpstr>
      <vt:lpstr>Making a Concurrent Echo Server</vt:lpstr>
      <vt:lpstr>Process-Based Concurrent Echo Server</vt:lpstr>
      <vt:lpstr>Process-Based Concurrent Echo Server (cont)</vt:lpstr>
      <vt:lpstr>Concurrent Server: accept Illustrated</vt:lpstr>
      <vt:lpstr>Process-based Server Execution Model</vt:lpstr>
      <vt:lpstr>Issues with Process-based Servers</vt:lpstr>
      <vt:lpstr>Pros and Cons of Process-based Servers</vt:lpstr>
      <vt:lpstr>Approach #2: Event-based Servers</vt:lpstr>
      <vt:lpstr>I/O Multiplexed Event Processing</vt:lpstr>
      <vt:lpstr>Pros and Cons of Event-based Servers</vt:lpstr>
      <vt:lpstr>Approach #3: Thread-based Servers</vt:lpstr>
      <vt:lpstr>Traditional View of a Process</vt:lpstr>
      <vt:lpstr>Alternate View of a Process</vt:lpstr>
      <vt:lpstr>A Process With Multiple Threads</vt:lpstr>
      <vt:lpstr>Logical View of Threads</vt:lpstr>
      <vt:lpstr>Concurrent Threads</vt:lpstr>
      <vt:lpstr>Concurrent Thread Execution</vt:lpstr>
      <vt:lpstr>Threads vs. Processes</vt:lpstr>
      <vt:lpstr>Posix Threads (Pthreads) Interface</vt:lpstr>
      <vt:lpstr>The Pthreads "hello, world" Program</vt:lpstr>
      <vt:lpstr>Execution of Threaded “hello, world”</vt:lpstr>
      <vt:lpstr>Thread-Based Concurrent Echo Server</vt:lpstr>
      <vt:lpstr>Thread-Based Concurrent Server (cont)</vt:lpstr>
      <vt:lpstr>Thread-based Server Execution Model</vt:lpstr>
      <vt:lpstr>Issues With Thread-Based Servers</vt:lpstr>
      <vt:lpstr>Potential Form of Unintended Sharing</vt:lpstr>
      <vt:lpstr>Could this race occur?</vt:lpstr>
      <vt:lpstr>Experimental Results</vt:lpstr>
      <vt:lpstr>Correct passing of thread arguments</vt:lpstr>
      <vt:lpstr>Pros and Cons of Thread-Based Designs</vt:lpstr>
      <vt:lpstr>Summary: Approaches to Concurrency</vt:lpstr>
      <vt:lpstr> Homework – Week 9  </vt:lpstr>
      <vt:lpstr>Additional slides</vt:lpstr>
      <vt:lpstr>Web History</vt:lpstr>
      <vt:lpstr>Web History (cont)</vt:lpstr>
      <vt:lpstr>HTTP Versions</vt:lpstr>
      <vt:lpstr>GET Request to Apache Server From Firefox Browser</vt:lpstr>
      <vt:lpstr>GET Response From Apache Server</vt:lpstr>
      <vt:lpstr>Data Transfer Mechanisms</vt:lpstr>
      <vt:lpstr>Chunked Encoding Example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cdminstructor</cp:lastModifiedBy>
  <cp:revision>732</cp:revision>
  <cp:lastPrinted>1999-09-20T15:19:18Z</cp:lastPrinted>
  <dcterms:created xsi:type="dcterms:W3CDTF">2011-09-29T14:59:56Z</dcterms:created>
  <dcterms:modified xsi:type="dcterms:W3CDTF">2018-02-27T23:03:35Z</dcterms:modified>
</cp:coreProperties>
</file>