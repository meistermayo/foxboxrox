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1"/>
  </p:notesMasterIdLst>
  <p:sldIdLst>
    <p:sldId id="259" r:id="rId2"/>
    <p:sldId id="468" r:id="rId3"/>
    <p:sldId id="467" r:id="rId4"/>
    <p:sldId id="446" r:id="rId5"/>
    <p:sldId id="469" r:id="rId6"/>
    <p:sldId id="470" r:id="rId7"/>
    <p:sldId id="471" r:id="rId8"/>
    <p:sldId id="474" r:id="rId9"/>
    <p:sldId id="475" r:id="rId10"/>
    <p:sldId id="476" r:id="rId11"/>
    <p:sldId id="477" r:id="rId12"/>
    <p:sldId id="478" r:id="rId13"/>
    <p:sldId id="479" r:id="rId14"/>
    <p:sldId id="480" r:id="rId15"/>
    <p:sldId id="481" r:id="rId16"/>
    <p:sldId id="482" r:id="rId17"/>
    <p:sldId id="483" r:id="rId18"/>
    <p:sldId id="484" r:id="rId19"/>
    <p:sldId id="486" r:id="rId20"/>
    <p:sldId id="485" r:id="rId21"/>
    <p:sldId id="487" r:id="rId22"/>
    <p:sldId id="488" r:id="rId23"/>
    <p:sldId id="489" r:id="rId24"/>
    <p:sldId id="490" r:id="rId25"/>
    <p:sldId id="491" r:id="rId26"/>
    <p:sldId id="492" r:id="rId27"/>
    <p:sldId id="493" r:id="rId28"/>
    <p:sldId id="494" r:id="rId29"/>
    <p:sldId id="415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  <a:srgbClr val="FF00FF"/>
    <a:srgbClr val="0D19FF"/>
    <a:srgbClr val="DE38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2881" autoAdjust="0"/>
    <p:restoredTop sz="94994" autoAdjust="0"/>
  </p:normalViewPr>
  <p:slideViewPr>
    <p:cSldViewPr>
      <p:cViewPr varScale="1">
        <p:scale>
          <a:sx n="101" d="100"/>
          <a:sy n="101" d="100"/>
        </p:scale>
        <p:origin x="-1032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484DBB-6228-42E2-8BE2-B5B89DE36B0A}" type="datetimeFigureOut">
              <a:rPr lang="en-US" smtClean="0"/>
              <a:t>2/21/2018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36F42D-BF06-49B9-B552-461889774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855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04800" y="304800"/>
            <a:ext cx="8610600" cy="1295400"/>
          </a:xfrm>
        </p:spPr>
        <p:txBody>
          <a:bodyPr anchor="t" anchorCtr="0">
            <a:noAutofit/>
          </a:bodyPr>
          <a:lstStyle>
            <a:lvl1pPr algn="l">
              <a:defRPr sz="3200">
                <a:solidFill>
                  <a:srgbClr val="0070C0"/>
                </a:solidFill>
              </a:defRPr>
            </a:lvl1pPr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3790950"/>
            <a:ext cx="5715000" cy="1847850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  <a:latin typeface="Arial Black" pitchFamily="34" charset="0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dirty="0" smtClean="0"/>
              <a:t>Click to edit Master subtitle style</a:t>
            </a:r>
            <a:endParaRPr kumimoji="0" lang="en-US" dirty="0"/>
          </a:p>
        </p:txBody>
      </p:sp>
      <p:sp>
        <p:nvSpPr>
          <p:cNvPr id="14" name="Date Placeholder 3"/>
          <p:cNvSpPr>
            <a:spLocks noGrp="1"/>
          </p:cNvSpPr>
          <p:nvPr>
            <p:ph type="dt" sz="half" idx="10"/>
          </p:nvPr>
        </p:nvSpPr>
        <p:spPr>
          <a:xfrm>
            <a:off x="533400" y="6492240"/>
            <a:ext cx="2289048" cy="365760"/>
          </a:xfrm>
          <a:prstGeom prst="rect">
            <a:avLst/>
          </a:prstGeom>
        </p:spPr>
        <p:txBody>
          <a:bodyPr/>
          <a:lstStyle/>
          <a:p>
            <a:fld id="{9793815C-EA6D-40C7-9E91-479112874C2D}" type="datetime1">
              <a:rPr lang="en-US" smtClean="0"/>
              <a:t>2/21/2018</a:t>
            </a:fld>
            <a:endParaRPr lang="en-US"/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486702"/>
            <a:ext cx="4797552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492240"/>
            <a:ext cx="609600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randomBa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6106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3400" y="6501968"/>
            <a:ext cx="2289048" cy="36576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9793815C-EA6D-40C7-9E91-479112874C2D}" type="datetime1">
              <a:rPr lang="en-US" smtClean="0"/>
              <a:pPr/>
              <a:t>2/21/2018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496430"/>
            <a:ext cx="4797552" cy="36576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501968"/>
            <a:ext cx="609600" cy="36576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2DD2A927-C669-46EB-947E-64BB8CE605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610600" cy="5257800"/>
          </a:xfrm>
        </p:spPr>
        <p:txBody>
          <a:bodyPr/>
          <a:lstStyle>
            <a:lvl1pPr>
              <a:defRPr>
                <a:latin typeface="Times New Roman" pitchFamily="18" charset="0"/>
                <a:cs typeface="Times New Roman" pitchFamily="18" charset="0"/>
              </a:defRPr>
            </a:lvl1pPr>
            <a:lvl2pPr>
              <a:defRPr>
                <a:latin typeface="Times New Roman" pitchFamily="18" charset="0"/>
                <a:cs typeface="Times New Roman" pitchFamily="18" charset="0"/>
              </a:defRPr>
            </a:lvl2pPr>
            <a:lvl3pPr>
              <a:defRPr>
                <a:latin typeface="Times New Roman" pitchFamily="18" charset="0"/>
                <a:cs typeface="Times New Roman" pitchFamily="18" charset="0"/>
              </a:defRPr>
            </a:lvl3pPr>
            <a:lvl4pPr>
              <a:defRPr>
                <a:latin typeface="Times New Roman" pitchFamily="18" charset="0"/>
                <a:cs typeface="Times New Roman" pitchFamily="18" charset="0"/>
              </a:defRPr>
            </a:lvl4pPr>
            <a:lvl5pPr>
              <a:defRPr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 eaLnBrk="1" latinLnBrk="0" hangingPunct="1"/>
            <a:r>
              <a:rPr lang="en-US" dirty="0" smtClean="0"/>
              <a:t>Click to edit Master text styles</a:t>
            </a:r>
          </a:p>
          <a:p>
            <a:pPr lvl="1" eaLnBrk="1" latinLnBrk="0" hangingPunct="1"/>
            <a:r>
              <a:rPr lang="en-US" dirty="0" smtClean="0"/>
              <a:t>Second level</a:t>
            </a:r>
          </a:p>
          <a:p>
            <a:pPr lvl="2" eaLnBrk="1" latinLnBrk="0" hangingPunct="1"/>
            <a:r>
              <a:rPr lang="en-US" dirty="0" smtClean="0"/>
              <a:t>Third level</a:t>
            </a:r>
          </a:p>
          <a:p>
            <a:pPr lvl="3" eaLnBrk="1" latinLnBrk="0" hangingPunct="1"/>
            <a:r>
              <a:rPr lang="en-US" dirty="0" smtClean="0"/>
              <a:t>Fourth level</a:t>
            </a:r>
          </a:p>
          <a:p>
            <a:pPr lvl="4" eaLnBrk="1" latinLnBrk="0" hangingPunct="1"/>
            <a:r>
              <a:rPr lang="en-US" dirty="0" smtClean="0"/>
              <a:t>Fifth level</a:t>
            </a:r>
            <a:endParaRPr kumimoji="0" lang="en-US" dirty="0"/>
          </a:p>
        </p:txBody>
      </p:sp>
    </p:spTree>
  </p:cSld>
  <p:clrMapOvr>
    <a:masterClrMapping/>
  </p:clrMapOvr>
  <p:transition spd="slow">
    <p:randomBa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</p:spPr>
        <p:txBody>
          <a:bodyPr/>
          <a:lstStyle/>
          <a:p>
            <a:fld id="{6DF0B6F7-A95D-415F-AB9C-947ED3F9C7B2}" type="datetime1">
              <a:rPr lang="en-US" smtClean="0"/>
              <a:t>2/21/2018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randomBa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5257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52608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533400" y="6492240"/>
            <a:ext cx="2289048" cy="365760"/>
          </a:xfrm>
          <a:prstGeom prst="rect">
            <a:avLst/>
          </a:prstGeom>
        </p:spPr>
        <p:txBody>
          <a:bodyPr/>
          <a:lstStyle/>
          <a:p>
            <a:fld id="{9793815C-EA6D-40C7-9E91-479112874C2D}" type="datetime1">
              <a:rPr lang="en-US" smtClean="0"/>
              <a:t>2/21/2018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486702"/>
            <a:ext cx="4797552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492240"/>
            <a:ext cx="609600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randomBa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343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343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533400" y="6492240"/>
            <a:ext cx="2289048" cy="365760"/>
          </a:xfrm>
          <a:prstGeom prst="rect">
            <a:avLst/>
          </a:prstGeom>
        </p:spPr>
        <p:txBody>
          <a:bodyPr/>
          <a:lstStyle/>
          <a:p>
            <a:fld id="{9793815C-EA6D-40C7-9E91-479112874C2D}" type="datetime1">
              <a:rPr lang="en-US" smtClean="0"/>
              <a:t>2/21/2018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486702"/>
            <a:ext cx="4797552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492240"/>
            <a:ext cx="609600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randomBa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533400" y="6492240"/>
            <a:ext cx="2289048" cy="365760"/>
          </a:xfrm>
          <a:prstGeom prst="rect">
            <a:avLst/>
          </a:prstGeom>
        </p:spPr>
        <p:txBody>
          <a:bodyPr/>
          <a:lstStyle/>
          <a:p>
            <a:fld id="{9793815C-EA6D-40C7-9E91-479112874C2D}" type="datetime1">
              <a:rPr lang="en-US" smtClean="0"/>
              <a:t>2/21/2018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486702"/>
            <a:ext cx="4797552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492240"/>
            <a:ext cx="609600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randomBa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533400" y="6492240"/>
            <a:ext cx="2289048" cy="365760"/>
          </a:xfrm>
          <a:prstGeom prst="rect">
            <a:avLst/>
          </a:prstGeom>
        </p:spPr>
        <p:txBody>
          <a:bodyPr/>
          <a:lstStyle/>
          <a:p>
            <a:fld id="{9793815C-EA6D-40C7-9E91-479112874C2D}" type="datetime1">
              <a:rPr lang="en-US" smtClean="0"/>
              <a:t>2/21/2018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486702"/>
            <a:ext cx="4797552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492240"/>
            <a:ext cx="609600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randomBa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5257800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477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6172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533400" y="6492240"/>
            <a:ext cx="2289048" cy="365760"/>
          </a:xfrm>
          <a:prstGeom prst="rect">
            <a:avLst/>
          </a:prstGeom>
        </p:spPr>
        <p:txBody>
          <a:bodyPr/>
          <a:lstStyle/>
          <a:p>
            <a:fld id="{9793815C-EA6D-40C7-9E91-479112874C2D}" type="datetime1">
              <a:rPr lang="en-US" smtClean="0"/>
              <a:t>2/21/2018</a:t>
            </a:fld>
            <a:endParaRPr lang="en-US" dirty="0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486702"/>
            <a:ext cx="4797552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492240"/>
            <a:ext cx="609600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randomBa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/>
          <a:lstStyle/>
          <a:p>
            <a:fld id="{DBA0D2F6-DF7A-40A9-B654-D40E4E483C8E}" type="datetime1">
              <a:rPr lang="en-US" smtClean="0"/>
              <a:t>2/21/2018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randomBa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533400" y="6492240"/>
            <a:ext cx="2289048" cy="365760"/>
          </a:xfrm>
          <a:prstGeom prst="rect">
            <a:avLst/>
          </a:prstGeom>
        </p:spPr>
        <p:txBody>
          <a:bodyPr/>
          <a:lstStyle/>
          <a:p>
            <a:fld id="{9793815C-EA6D-40C7-9E91-479112874C2D}" type="datetime1">
              <a:rPr lang="en-US" smtClean="0"/>
              <a:t>2/21/2018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486702"/>
            <a:ext cx="4797552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492240"/>
            <a:ext cx="609600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randomBa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533400" y="6492240"/>
            <a:ext cx="2289048" cy="365760"/>
          </a:xfrm>
          <a:prstGeom prst="rect">
            <a:avLst/>
          </a:prstGeom>
        </p:spPr>
        <p:txBody>
          <a:bodyPr/>
          <a:lstStyle/>
          <a:p>
            <a:fld id="{9793815C-EA6D-40C7-9E91-479112874C2D}" type="datetime1">
              <a:rPr lang="en-US" smtClean="0"/>
              <a:t>2/21/2018</a:t>
            </a:fld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486702"/>
            <a:ext cx="4797552" cy="3657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492240"/>
            <a:ext cx="609600" cy="365760"/>
          </a:xfrm>
          <a:prstGeom prst="rect">
            <a:avLst/>
          </a:prstGeom>
        </p:spPr>
        <p:txBody>
          <a:bodyPr/>
          <a:lstStyle/>
          <a:p>
            <a:fld id="{2DD2A927-C669-46EB-947E-64BB8CE6050D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randomBa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Autofit/>
          </a:bodyPr>
          <a:lstStyle/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5257800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lvl="0" eaLnBrk="1" latinLnBrk="0" hangingPunct="1"/>
            <a:r>
              <a:rPr kumimoji="0" lang="en-US" dirty="0" smtClean="0"/>
              <a:t>Click to edit Master text styles</a:t>
            </a:r>
          </a:p>
          <a:p>
            <a:pPr lvl="1" eaLnBrk="1" latinLnBrk="0" hangingPunct="1"/>
            <a:r>
              <a:rPr kumimoji="0" lang="en-US" dirty="0" smtClean="0"/>
              <a:t>Second level</a:t>
            </a:r>
          </a:p>
          <a:p>
            <a:pPr lvl="2" eaLnBrk="1" latinLnBrk="0" hangingPunct="1"/>
            <a:r>
              <a:rPr kumimoji="0" lang="en-US" dirty="0" smtClean="0"/>
              <a:t>Third level</a:t>
            </a:r>
          </a:p>
          <a:p>
            <a:pPr lvl="3" eaLnBrk="1" latinLnBrk="0" hangingPunct="1"/>
            <a:r>
              <a:rPr kumimoji="0" lang="en-US" dirty="0" smtClean="0"/>
              <a:t>Fourth level</a:t>
            </a:r>
          </a:p>
          <a:p>
            <a:pPr lvl="4" eaLnBrk="1" latinLnBrk="0" hangingPunct="1"/>
            <a:r>
              <a:rPr kumimoji="0" lang="en-US" dirty="0" smtClean="0"/>
              <a:t>Fifth level</a:t>
            </a:r>
            <a:endParaRPr kumimoji="0" lang="en-US" dirty="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254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Date Placeholder 3"/>
          <p:cNvSpPr>
            <a:spLocks noGrp="1"/>
          </p:cNvSpPr>
          <p:nvPr>
            <p:ph type="dt" sz="half" idx="2"/>
          </p:nvPr>
        </p:nvSpPr>
        <p:spPr>
          <a:xfrm>
            <a:off x="533400" y="6501968"/>
            <a:ext cx="2289048" cy="36576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9793815C-EA6D-40C7-9E91-479112874C2D}" type="datetime1">
              <a:rPr lang="en-US" smtClean="0"/>
              <a:pPr/>
              <a:t>2/21/2018</a:t>
            </a:fld>
            <a:endParaRPr lang="en-US"/>
          </a:p>
        </p:txBody>
      </p:sp>
      <p:sp>
        <p:nvSpPr>
          <p:cNvPr id="2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8648" y="6496430"/>
            <a:ext cx="4797552" cy="36576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2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501968"/>
            <a:ext cx="609600" cy="36576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2DD2A927-C669-46EB-947E-64BB8CE6050D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slow">
    <p:randomBar/>
  </p:transition>
  <p:hf hdr="0" ftr="0" dt="0"/>
  <p:txStyles>
    <p:titleStyle>
      <a:lvl1pPr algn="l" rtl="0" eaLnBrk="1" latinLnBrk="0" hangingPunct="1">
        <a:spcBef>
          <a:spcPct val="0"/>
        </a:spcBef>
        <a:buNone/>
        <a:defRPr kumimoji="0" sz="3200" b="1" kern="1200">
          <a:solidFill>
            <a:srgbClr val="0070C0"/>
          </a:solidFill>
          <a:latin typeface="Arial Black" pitchFamily="34" charset="0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tx1"/>
        </a:buClr>
        <a:buSzPct val="76000"/>
        <a:buFont typeface="Arial" pitchFamily="34" charset="0"/>
        <a:buChar char="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457200" algn="l" rtl="0" eaLnBrk="1" latinLnBrk="0" hangingPunct="1">
        <a:spcBef>
          <a:spcPts val="500"/>
        </a:spcBef>
        <a:buClr>
          <a:schemeClr val="tx1"/>
        </a:buClr>
        <a:buSzPct val="76000"/>
        <a:buFont typeface="Arial" pitchFamily="34" charset="0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tx1"/>
        </a:buClr>
        <a:buSzPct val="76000"/>
        <a:buFont typeface="Arial" pitchFamily="34" charset="0"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tx1"/>
        </a:buClr>
        <a:buSzPct val="70000"/>
        <a:buFont typeface="Arial" pitchFamily="34" charset="0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tx1"/>
        </a:buClr>
        <a:buSzPct val="70000"/>
        <a:buFont typeface="Wingdings"/>
        <a:buChar char="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3dexport.com/free-3dmodel-free-zelda-pack-128324.htm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msdn.microsoft.com/en-us/library/windows/desktop/ff476409(v=vs.85).aspx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304800" y="304800"/>
            <a:ext cx="8839200" cy="1295400"/>
          </a:xfrm>
        </p:spPr>
        <p:txBody>
          <a:bodyPr/>
          <a:lstStyle/>
          <a:p>
            <a:r>
              <a:rPr lang="en-US" dirty="0" smtClean="0"/>
              <a:t>GAM 370/470: </a:t>
            </a:r>
            <a:br>
              <a:rPr lang="en-US" dirty="0" smtClean="0"/>
            </a:br>
            <a:r>
              <a:rPr lang="en-US" dirty="0" smtClean="0"/>
              <a:t>Rendering and Graphics Programming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Lecture 8:</a:t>
            </a:r>
          </a:p>
          <a:p>
            <a:r>
              <a:rPr lang="en-US" dirty="0" smtClean="0"/>
              <a:t>Graphic Objects and </a:t>
            </a:r>
            <a:endParaRPr lang="en-US" dirty="0" smtClean="0"/>
          </a:p>
          <a:p>
            <a:r>
              <a:rPr lang="en-US" dirty="0" smtClean="0"/>
              <a:t>Model Meshes</a:t>
            </a:r>
            <a:endParaRPr lang="en-US" dirty="0" smtClean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5093673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Part </a:t>
            </a:r>
            <a:r>
              <a:rPr lang="en-US" dirty="0" smtClean="0"/>
              <a:t>I:</a:t>
            </a:r>
            <a:endParaRPr lang="en-US" dirty="0" smtClean="0"/>
          </a:p>
          <a:p>
            <a:r>
              <a:rPr lang="en-US" dirty="0" smtClean="0"/>
              <a:t>Discussion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322958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Light and Scale	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Light and scaling are tricky to juggled together:</a:t>
            </a:r>
          </a:p>
          <a:p>
            <a:pPr marL="0" indent="0">
              <a:buNone/>
            </a:pPr>
            <a:endParaRPr lang="en-US" sz="800" dirty="0"/>
          </a:p>
          <a:p>
            <a:pPr marL="169863" indent="-169863"/>
            <a:r>
              <a:rPr lang="en-US" sz="2000" dirty="0" smtClean="0"/>
              <a:t>Our light </a:t>
            </a:r>
            <a:r>
              <a:rPr lang="en-US" sz="2000" dirty="0" err="1" smtClean="0"/>
              <a:t>shader</a:t>
            </a:r>
            <a:r>
              <a:rPr lang="en-US" sz="2000" dirty="0" smtClean="0"/>
              <a:t> works in Model space:</a:t>
            </a:r>
          </a:p>
          <a:p>
            <a:pPr marL="687388" lvl="1" indent="-188913"/>
            <a:r>
              <a:rPr lang="en-US" sz="1800" dirty="0" smtClean="0"/>
              <a:t>The positions and directions of light </a:t>
            </a:r>
            <a:r>
              <a:rPr lang="en-US" sz="1800" dirty="0" smtClean="0"/>
              <a:t>are converted to model space </a:t>
            </a:r>
          </a:p>
          <a:p>
            <a:pPr marL="687388" lvl="1" indent="-188913"/>
            <a:r>
              <a:rPr lang="en-US" sz="1800" dirty="0" smtClean="0"/>
              <a:t>If a model’s </a:t>
            </a:r>
            <a:r>
              <a:rPr lang="en-US" sz="1800" dirty="0" err="1" smtClean="0"/>
              <a:t>worldmat</a:t>
            </a:r>
            <a:r>
              <a:rPr lang="en-US" sz="1800" dirty="0" smtClean="0"/>
              <a:t> includes scaling, this means that in local space:</a:t>
            </a:r>
          </a:p>
          <a:p>
            <a:pPr marL="1192213" lvl="2" indent="-188913"/>
            <a:r>
              <a:rPr lang="en-US" dirty="0" smtClean="0"/>
              <a:t>Distances get distorted</a:t>
            </a:r>
          </a:p>
          <a:p>
            <a:pPr marL="1192213" lvl="2" indent="-188913"/>
            <a:r>
              <a:rPr lang="en-US" dirty="0" smtClean="0"/>
              <a:t>Vector length change (in particular, </a:t>
            </a:r>
            <a:r>
              <a:rPr lang="en-US" dirty="0" err="1" smtClean="0"/>
              <a:t>normals</a:t>
            </a:r>
            <a:r>
              <a:rPr lang="en-US" dirty="0" smtClean="0"/>
              <a:t> aren’t unit length)</a:t>
            </a:r>
          </a:p>
          <a:p>
            <a:pPr marL="454660" indent="0">
              <a:buNone/>
            </a:pPr>
            <a:r>
              <a:rPr lang="en-US" sz="2000" dirty="0" smtClean="0"/>
              <a:t>This means lighting computation will give unexpected results</a:t>
            </a:r>
          </a:p>
          <a:p>
            <a:pPr marL="454660" indent="0">
              <a:buNone/>
            </a:pPr>
            <a:endParaRPr lang="en-US" sz="800" dirty="0"/>
          </a:p>
          <a:p>
            <a:pPr marL="169863" indent="-168275"/>
            <a:r>
              <a:rPr lang="en-US" sz="2000" dirty="0" smtClean="0"/>
              <a:t>Converting the light </a:t>
            </a:r>
            <a:r>
              <a:rPr lang="en-US" sz="2000" dirty="0" err="1" smtClean="0"/>
              <a:t>shader</a:t>
            </a:r>
            <a:r>
              <a:rPr lang="en-US" sz="2000" dirty="0" smtClean="0"/>
              <a:t> to work in World space is not ideal:</a:t>
            </a:r>
          </a:p>
          <a:p>
            <a:pPr marL="627063" lvl="1" indent="-168275"/>
            <a:r>
              <a:rPr lang="en-US" sz="1800" dirty="0" smtClean="0"/>
              <a:t>Requires constantly moving the </a:t>
            </a:r>
            <a:r>
              <a:rPr lang="en-US" sz="1800" dirty="0" err="1" smtClean="0"/>
              <a:t>normals</a:t>
            </a:r>
            <a:r>
              <a:rPr lang="en-US" sz="1800" dirty="0" smtClean="0"/>
              <a:t> to world space (and renormalizing)</a:t>
            </a:r>
          </a:p>
          <a:p>
            <a:pPr marL="627063" lvl="1" indent="-168275"/>
            <a:r>
              <a:rPr lang="en-US" sz="1800" dirty="0" smtClean="0"/>
              <a:t>Overall more costly</a:t>
            </a:r>
          </a:p>
          <a:p>
            <a:pPr marL="458788" lvl="1" indent="0">
              <a:buNone/>
            </a:pPr>
            <a:endParaRPr lang="en-US" sz="1800" dirty="0"/>
          </a:p>
        </p:txBody>
      </p:sp>
      <p:sp>
        <p:nvSpPr>
          <p:cNvPr id="5" name="TextBox 4"/>
          <p:cNvSpPr txBox="1"/>
          <p:nvPr/>
        </p:nvSpPr>
        <p:spPr>
          <a:xfrm>
            <a:off x="2057400" y="5391136"/>
            <a:ext cx="4572000" cy="646986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lvl="0" algn="ctr">
              <a:buClr>
                <a:prstClr val="black"/>
              </a:buClr>
              <a:buSzPct val="76000"/>
            </a:pPr>
            <a:r>
              <a:rPr lang="en-US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As a rule: models should always be presented to the engine at the proper scale already.</a:t>
            </a:r>
            <a:endParaRPr lang="en-US" sz="16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1223000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Part </a:t>
            </a:r>
            <a:r>
              <a:rPr lang="en-US" dirty="0" smtClean="0"/>
              <a:t>II: </a:t>
            </a:r>
            <a:endParaRPr lang="en-US" dirty="0" smtClean="0"/>
          </a:p>
          <a:p>
            <a:r>
              <a:rPr lang="en-US" dirty="0" smtClean="0"/>
              <a:t>Graphic Object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621625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Models and </a:t>
            </a:r>
            <a:r>
              <a:rPr lang="en-US" dirty="0" err="1" smtClean="0"/>
              <a:t>Shaders</a:t>
            </a:r>
            <a:r>
              <a:rPr lang="en-US" dirty="0" smtClean="0"/>
              <a:t> are Linked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8519547" y="6501968"/>
            <a:ext cx="609600" cy="365760"/>
          </a:xfrm>
        </p:spPr>
        <p:txBody>
          <a:bodyPr/>
          <a:lstStyle/>
          <a:p>
            <a:fld id="{2DD2A927-C669-46EB-947E-64BB8CE6050D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To render a model requires a set ordered operations which depend greatly on the </a:t>
            </a:r>
            <a:r>
              <a:rPr lang="en-US" sz="2000" dirty="0" err="1" smtClean="0"/>
              <a:t>shader</a:t>
            </a:r>
            <a:r>
              <a:rPr lang="en-US" sz="2000" dirty="0" smtClean="0"/>
              <a:t> being used.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5090547" y="1806833"/>
            <a:ext cx="6263253" cy="48320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DXApp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DrawScene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&lt;…&gt;</a:t>
            </a: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// Set the </a:t>
            </a:r>
            <a:r>
              <a:rPr lang="en-US" sz="1100" dirty="0" err="1" smtClean="0">
                <a:solidFill>
                  <a:srgbClr val="008000"/>
                </a:solidFill>
                <a:latin typeface="Consolas"/>
              </a:rPr>
              <a:t>shader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and send common data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pShaderColLight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SetToContext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(md3dImmediateContext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pShaderColLight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SendCamMatrices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mCam.getViewMatrix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mCam.getProjMatrix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());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pShaderColLight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SendLightParameters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eyepos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  <a:endParaRPr lang="nl-NL" sz="1100" dirty="0">
              <a:solidFill>
                <a:srgbClr val="000000"/>
              </a:solidFill>
              <a:latin typeface="Consolas"/>
            </a:endParaRP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// Render Objects main object;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pShaderColLight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SendWorldAndMaterial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 &lt;…&gt; );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pModel1-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&gt;Render(md3dImmediateContext);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// Planes/box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with light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pShaderColLight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SendWorldAndMaterial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 &lt;…&gt; );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pPlane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&gt;Render(md3dImmediateContext);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pShaderColLight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SendWorldAndMaterial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 &lt;…&gt; );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pPlane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&gt;Render(md3dImmediateContext);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//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--- Render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orbiting object 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pShaderCol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SetToContext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(md3dImmediateContext);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pShaderCol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SendCamMatrices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mCam.getViewMatrix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mCam.getProjMatrix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pShaderCol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SendWorldColor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(mWorld2, Colors::Yellow);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pModel2-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&gt;Render(md3dImmediateContext);</a:t>
            </a:r>
          </a:p>
          <a:p>
            <a:endParaRPr lang="en-US" sz="11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&lt;…&gt;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}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263729" y="3351615"/>
            <a:ext cx="3560618" cy="360218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5275773" y="4024298"/>
            <a:ext cx="3560618" cy="360218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5275773" y="4536916"/>
            <a:ext cx="3560618" cy="360218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5263729" y="5693033"/>
            <a:ext cx="4094018" cy="360218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47675" y="3102424"/>
            <a:ext cx="4572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 we use more complex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shaders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soon more complex models, rendering a model will require more careful operations:</a:t>
            </a:r>
          </a:p>
          <a:p>
            <a:pPr marL="628650" lvl="1" indent="-22860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Multi-mesh models</a:t>
            </a:r>
          </a:p>
          <a:p>
            <a:pPr marL="628650" lvl="1" indent="-22860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properties per mesh: Texture, material, etc.</a:t>
            </a:r>
          </a:p>
          <a:p>
            <a:pPr marL="400050" lvl="1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1981200"/>
            <a:ext cx="457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both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shader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here:</a:t>
            </a:r>
          </a:p>
          <a:p>
            <a:pPr lvl="1" indent="-1714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Send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shader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specific data</a:t>
            </a:r>
          </a:p>
          <a:p>
            <a:pPr lvl="1" indent="-1714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Call render on the model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750" y="4906045"/>
            <a:ext cx="1676400" cy="17304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5000" contrast="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" y="5178914"/>
            <a:ext cx="3195745" cy="14471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15368615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Graphic Objects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A graphic object is a </a:t>
            </a:r>
            <a:r>
              <a:rPr lang="en-US" sz="2000" dirty="0" smtClean="0"/>
              <a:t>way to package </a:t>
            </a:r>
            <a:r>
              <a:rPr lang="en-US" sz="2000" dirty="0" smtClean="0"/>
              <a:t>a </a:t>
            </a:r>
            <a:r>
              <a:rPr lang="en-US" sz="2000" dirty="0" smtClean="0"/>
              <a:t>model, its associated </a:t>
            </a:r>
            <a:r>
              <a:rPr lang="en-US" sz="2000" dirty="0" err="1" smtClean="0"/>
              <a:t>shader</a:t>
            </a:r>
            <a:r>
              <a:rPr lang="en-US" sz="2000" dirty="0" smtClean="0"/>
              <a:t> and how to </a:t>
            </a:r>
            <a:r>
              <a:rPr lang="en-US" sz="2000" dirty="0" smtClean="0"/>
              <a:t>properly send the relevant data to </a:t>
            </a:r>
            <a:r>
              <a:rPr lang="en-US" sz="2000" dirty="0" smtClean="0"/>
              <a:t>that </a:t>
            </a:r>
            <a:r>
              <a:rPr lang="en-US" sz="2000" dirty="0" err="1" smtClean="0"/>
              <a:t>shader</a:t>
            </a:r>
            <a:endParaRPr lang="en-US" sz="2000" dirty="0" smtClean="0"/>
          </a:p>
          <a:p>
            <a:pPr marL="457200" lvl="1" indent="-184150"/>
            <a:r>
              <a:rPr lang="en-US" sz="1800" dirty="0" smtClean="0"/>
              <a:t>The base class contains a pointer to a Model and an abstract ‘Render()’ method</a:t>
            </a:r>
          </a:p>
          <a:p>
            <a:pPr marL="457200" lvl="1" indent="-184150"/>
            <a:r>
              <a:rPr lang="en-US" sz="1800" dirty="0" smtClean="0"/>
              <a:t>The derived classes has </a:t>
            </a:r>
            <a:r>
              <a:rPr lang="en-US" sz="1800" dirty="0" err="1" smtClean="0"/>
              <a:t>shader</a:t>
            </a:r>
            <a:r>
              <a:rPr lang="en-US" sz="1800" dirty="0" smtClean="0"/>
              <a:t> specific data and related operations</a:t>
            </a:r>
          </a:p>
          <a:p>
            <a:pPr marL="457200" lvl="1" indent="-184150"/>
            <a:r>
              <a:rPr lang="en-US" sz="1800" dirty="0" smtClean="0"/>
              <a:t>The derived class also properly defines the </a:t>
            </a:r>
            <a:r>
              <a:rPr lang="en-US" sz="1800" dirty="0"/>
              <a:t>R</a:t>
            </a:r>
            <a:r>
              <a:rPr lang="en-US" sz="1800" dirty="0" smtClean="0"/>
              <a:t>ender 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1" y="3133725"/>
            <a:ext cx="5257801" cy="33085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 err="1">
                <a:solidFill>
                  <a:srgbClr val="2B91AF"/>
                </a:solidFill>
                <a:latin typeface="Consolas"/>
              </a:rPr>
              <a:t>GraphicObject_Color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GraphicObject_Color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	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	</a:t>
            </a:r>
            <a:r>
              <a:rPr lang="en-US" sz="1100" dirty="0" err="1" smtClean="0">
                <a:solidFill>
                  <a:srgbClr val="2B91AF"/>
                </a:solidFill>
                <a:latin typeface="Consolas"/>
              </a:rPr>
              <a:t>ShaderColor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100" dirty="0" err="1">
                <a:solidFill>
                  <a:srgbClr val="808080"/>
                </a:solidFill>
                <a:latin typeface="Consolas"/>
              </a:rPr>
              <a:t>shader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 </a:t>
            </a:r>
            <a:endParaRPr lang="en-US" sz="11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	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	</a:t>
            </a:r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Model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mod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SetModel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smtClean="0">
                <a:solidFill>
                  <a:srgbClr val="808080"/>
                </a:solidFill>
                <a:latin typeface="Consolas"/>
              </a:rPr>
              <a:t>mod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pShader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en-US" sz="1100" dirty="0" err="1">
                <a:solidFill>
                  <a:srgbClr val="808080"/>
                </a:solidFill>
                <a:latin typeface="Consolas"/>
              </a:rPr>
              <a:t>shader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Color </a:t>
            </a:r>
            <a:r>
              <a:rPr lang="en-US" sz="1100" dirty="0">
                <a:solidFill>
                  <a:srgbClr val="008080"/>
                </a:solidFill>
                <a:latin typeface="Consolas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(1, 1, 1);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World </a:t>
            </a:r>
            <a:r>
              <a:rPr lang="en-US" sz="1100" dirty="0">
                <a:solidFill>
                  <a:srgbClr val="008080"/>
                </a:solidFill>
                <a:latin typeface="Consolas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IDENTITY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GraphicObject_Color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SetColor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&amp;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col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){ Color </a:t>
            </a:r>
            <a:r>
              <a:rPr lang="en-US" sz="1100" dirty="0">
                <a:solidFill>
                  <a:srgbClr val="008080"/>
                </a:solidFill>
                <a:latin typeface="Consolas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col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;}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GraphicObject_Color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SetWorld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&amp;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m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){ World </a:t>
            </a:r>
            <a:r>
              <a:rPr lang="en-US" sz="1100" dirty="0">
                <a:solidFill>
                  <a:srgbClr val="008080"/>
                </a:solidFill>
                <a:latin typeface="Consolas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m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;}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GraphicObject_Color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::Render()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pShader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SendWorldColor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(World, Color);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pModel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&gt;Render(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pShader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-&gt;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GetContext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</a:t>
            </a:r>
            <a:endParaRPr lang="en-US" sz="1100" dirty="0"/>
          </a:p>
        </p:txBody>
      </p:sp>
      <p:grpSp>
        <p:nvGrpSpPr>
          <p:cNvPr id="9" name="Group 8"/>
          <p:cNvGrpSpPr/>
          <p:nvPr/>
        </p:nvGrpSpPr>
        <p:grpSpPr>
          <a:xfrm>
            <a:off x="2514602" y="3470523"/>
            <a:ext cx="2590798" cy="807482"/>
            <a:chOff x="2514602" y="3733800"/>
            <a:chExt cx="2590798" cy="807482"/>
          </a:xfrm>
        </p:grpSpPr>
        <p:sp>
          <p:nvSpPr>
            <p:cNvPr id="7" name="TextBox 6"/>
            <p:cNvSpPr txBox="1"/>
            <p:nvPr/>
          </p:nvSpPr>
          <p:spPr>
            <a:xfrm>
              <a:off x="2514602" y="3962400"/>
              <a:ext cx="2590798" cy="578882"/>
            </a:xfrm>
            <a:prstGeom prst="roundRect">
              <a:avLst/>
            </a:prstGeom>
            <a:solidFill>
              <a:srgbClr val="FFFF66"/>
            </a:solidFill>
            <a:ln w="25400">
              <a:solidFill>
                <a:srgbClr val="FF0000"/>
              </a:solidFill>
            </a:ln>
          </p:spPr>
          <p:txBody>
            <a:bodyPr wrap="square" tIns="45720" bIns="45720" rtlCol="0">
              <a:spAutoFit/>
            </a:bodyPr>
            <a:lstStyle/>
            <a:p>
              <a:pPr lvl="0" algn="ctr">
                <a:buClr>
                  <a:prstClr val="black"/>
                </a:buClr>
                <a:buSzPct val="76000"/>
              </a:pPr>
              <a:r>
                <a:rPr lang="en-US" sz="1400" b="1" dirty="0" smtClean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Note: </a:t>
              </a:r>
              <a:r>
                <a:rPr lang="en-US" sz="1400" dirty="0" err="1" smtClean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Shader</a:t>
              </a:r>
              <a:r>
                <a:rPr lang="en-US" sz="1400" dirty="0" smtClean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 and model passed </a:t>
              </a:r>
            </a:p>
            <a:p>
              <a:pPr lvl="0" algn="ctr">
                <a:buClr>
                  <a:prstClr val="black"/>
                </a:buClr>
                <a:buSzPct val="76000"/>
              </a:pPr>
              <a:r>
                <a:rPr lang="en-US" sz="1400" dirty="0" smtClean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in as pointers. </a:t>
              </a:r>
              <a:r>
                <a:rPr lang="en-US" sz="1400" u="sng" dirty="0" smtClean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Not</a:t>
              </a:r>
              <a:r>
                <a:rPr lang="en-US" sz="1400" dirty="0" smtClean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 created!</a:t>
              </a:r>
              <a:endParaRPr lang="en-US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8" name="Elbow Connector 7"/>
            <p:cNvCxnSpPr>
              <a:stCxn id="7" idx="0"/>
            </p:cNvCxnSpPr>
            <p:nvPr/>
          </p:nvCxnSpPr>
          <p:spPr>
            <a:xfrm rot="16200000" flipV="1">
              <a:off x="3543301" y="3695700"/>
              <a:ext cx="228600" cy="304800"/>
            </a:xfrm>
            <a:prstGeom prst="bentConnector2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3124200"/>
            <a:ext cx="3962400" cy="3742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7215171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</a:t>
            </a:r>
            <a:r>
              <a:rPr lang="en-US" dirty="0" err="1" smtClean="0"/>
              <a:t>GraphicObject_Color</a:t>
            </a:r>
            <a:r>
              <a:rPr lang="en-US" dirty="0" smtClean="0"/>
              <a:t>:</a:t>
            </a:r>
            <a:br>
              <a:rPr lang="en-US" dirty="0" smtClean="0"/>
            </a:br>
            <a:r>
              <a:rPr lang="en-US" dirty="0" smtClean="0"/>
              <a:t>(Code Example)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2400" y="1295400"/>
            <a:ext cx="5262979" cy="36471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DXApp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InitDemo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pShaderCol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new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ShaderColor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(md3dDevice);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pModel1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new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Model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(md3dDevice,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Model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100" dirty="0" err="1">
                <a:solidFill>
                  <a:srgbClr val="2F4F4F"/>
                </a:solidFill>
                <a:latin typeface="Consolas"/>
              </a:rPr>
              <a:t>UnitBoxSixFacesTexture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pModel2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new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Model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(md3dDevice,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Model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100" dirty="0" err="1">
                <a:solidFill>
                  <a:srgbClr val="2F4F4F"/>
                </a:solidFill>
                <a:latin typeface="Consolas"/>
              </a:rPr>
              <a:t>UnitBoxSixFacesTexture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GraphObj1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new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GraphicObject_Color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pShaderCol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pModel1);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GraphObj1-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SetColor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(Colors::Red);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GraphObj2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new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GraphicObject_Color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pShaderCol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pModel2);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GraphObj2-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SetColor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(Colors::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MediumPurple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//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Initialize the world matrix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mWorld1 </a:t>
            </a:r>
            <a:r>
              <a:rPr lang="en-US" sz="1100" dirty="0">
                <a:solidFill>
                  <a:srgbClr val="008080"/>
                </a:solidFill>
                <a:latin typeface="Consolas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IDENTITY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fr-FR" sz="1100" dirty="0" smtClean="0">
                <a:solidFill>
                  <a:srgbClr val="000000"/>
                </a:solidFill>
                <a:latin typeface="Consolas"/>
              </a:rPr>
              <a:t>  mWorld2 </a:t>
            </a:r>
            <a:r>
              <a:rPr lang="fr-FR" sz="1100" dirty="0">
                <a:solidFill>
                  <a:srgbClr val="008080"/>
                </a:solidFill>
                <a:latin typeface="Consolas"/>
              </a:rPr>
              <a:t>=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fr-FR" sz="1100" dirty="0">
                <a:solidFill>
                  <a:srgbClr val="2B91AF"/>
                </a:solidFill>
                <a:latin typeface="Consolas"/>
              </a:rPr>
              <a:t>Matrix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fr-FR" sz="1100" dirty="0">
                <a:solidFill>
                  <a:srgbClr val="2F4F4F"/>
                </a:solidFill>
                <a:latin typeface="Consolas"/>
              </a:rPr>
              <a:t>SCALE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, .5f, .5f, .5f) </a:t>
            </a:r>
            <a:r>
              <a:rPr lang="fr-FR" sz="1100" dirty="0">
                <a:solidFill>
                  <a:srgbClr val="008080"/>
                </a:solidFill>
                <a:latin typeface="Consolas"/>
              </a:rPr>
              <a:t>*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fr-FR" sz="1100" dirty="0">
                <a:solidFill>
                  <a:srgbClr val="2B91AF"/>
                </a:solidFill>
                <a:latin typeface="Consolas"/>
              </a:rPr>
              <a:t>Matrix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fr-FR" sz="1100" dirty="0">
                <a:solidFill>
                  <a:srgbClr val="2F4F4F"/>
                </a:solidFill>
                <a:latin typeface="Consolas"/>
              </a:rPr>
              <a:t>TRANS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, 2, 1, 3);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GraphObj1-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SetWorld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(mWorld1);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GraphObj2-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SetWorld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(mWorld2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&lt;…&gt;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5789" y="4114800"/>
            <a:ext cx="5878532" cy="246221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DXApp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DrawScene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&lt;…&gt;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// </a:t>
            </a:r>
            <a:r>
              <a:rPr lang="en-US" sz="1100" dirty="0" err="1" smtClean="0">
                <a:solidFill>
                  <a:srgbClr val="008000"/>
                </a:solidFill>
                <a:latin typeface="Consolas"/>
              </a:rPr>
              <a:t>Shader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set up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pShaderCol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SetToContext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(md3dImmediateContext);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pShaderCol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SendCamMatrices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mCam.getViewMatrix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mCam.getProjMatrix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());</a:t>
            </a:r>
          </a:p>
          <a:p>
            <a:endParaRPr lang="en-US" sz="11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Rendering objects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GraphObj1-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&gt;Render();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GraphObj2-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&gt;Render();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&lt;…&gt;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8271" y="1295400"/>
            <a:ext cx="2686050" cy="242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2" name="Group 11"/>
          <p:cNvGrpSpPr/>
          <p:nvPr/>
        </p:nvGrpSpPr>
        <p:grpSpPr>
          <a:xfrm>
            <a:off x="4572000" y="5638800"/>
            <a:ext cx="4196180" cy="938719"/>
            <a:chOff x="4572000" y="5638800"/>
            <a:chExt cx="4196180" cy="938719"/>
          </a:xfrm>
        </p:grpSpPr>
        <p:sp>
          <p:nvSpPr>
            <p:cNvPr id="7" name="TextBox 6"/>
            <p:cNvSpPr txBox="1"/>
            <p:nvPr/>
          </p:nvSpPr>
          <p:spPr>
            <a:xfrm>
              <a:off x="5415379" y="5638800"/>
              <a:ext cx="3352801" cy="938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 smtClean="0">
                  <a:solidFill>
                    <a:srgbClr val="0000FF"/>
                  </a:solidFill>
                  <a:latin typeface="Consolas"/>
                </a:rPr>
                <a:t>void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</a:t>
              </a:r>
              <a:r>
                <a:rPr lang="en-US" sz="1100" dirty="0" err="1">
                  <a:solidFill>
                    <a:srgbClr val="2B91AF"/>
                  </a:solidFill>
                  <a:latin typeface="Consolas"/>
                </a:rPr>
                <a:t>GraphicObject_Color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::Render()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{</a:t>
              </a:r>
            </a:p>
            <a:p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 </a:t>
              </a:r>
              <a:r>
                <a:rPr lang="en-US" sz="1100" dirty="0" err="1" smtClean="0">
                  <a:solidFill>
                    <a:srgbClr val="000000"/>
                  </a:solidFill>
                  <a:latin typeface="Consolas"/>
                </a:rPr>
                <a:t>pShader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-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&gt;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SendWorldColor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(World, Color);</a:t>
              </a:r>
            </a:p>
            <a:p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  </a:t>
              </a:r>
              <a:r>
                <a:rPr lang="en-US" sz="1100" dirty="0" err="1" smtClean="0">
                  <a:solidFill>
                    <a:srgbClr val="000000"/>
                  </a:solidFill>
                  <a:latin typeface="Consolas"/>
                </a:rPr>
                <a:t>pModel</a:t>
              </a:r>
              <a:r>
                <a:rPr lang="en-US" sz="1100" dirty="0" smtClean="0">
                  <a:solidFill>
                    <a:srgbClr val="000000"/>
                  </a:solidFill>
                  <a:latin typeface="Consolas"/>
                </a:rPr>
                <a:t>-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&gt;Render(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pShader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-&gt;</a:t>
              </a:r>
              <a:r>
                <a:rPr lang="en-US" sz="1100" dirty="0" err="1">
                  <a:solidFill>
                    <a:srgbClr val="000000"/>
                  </a:solidFill>
                  <a:latin typeface="Consolas"/>
                </a:rPr>
                <a:t>GetContext</a:t>
              </a:r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());</a:t>
              </a:r>
            </a:p>
            <a:p>
              <a:r>
                <a:rPr lang="en-US" sz="1100" dirty="0">
                  <a:solidFill>
                    <a:srgbClr val="000000"/>
                  </a:solidFill>
                  <a:latin typeface="Consolas"/>
                </a:rPr>
                <a:t>}</a:t>
              </a:r>
              <a:endParaRPr lang="en-US" sz="1100" dirty="0"/>
            </a:p>
          </p:txBody>
        </p:sp>
        <p:sp>
          <p:nvSpPr>
            <p:cNvPr id="8" name="Right Brace 7"/>
            <p:cNvSpPr/>
            <p:nvPr/>
          </p:nvSpPr>
          <p:spPr>
            <a:xfrm>
              <a:off x="4572000" y="5714999"/>
              <a:ext cx="152400" cy="304801"/>
            </a:xfrm>
            <a:prstGeom prst="rightBrace">
              <a:avLst>
                <a:gd name="adj1" fmla="val 33333"/>
                <a:gd name="adj2" fmla="val 50000"/>
              </a:avLst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Elbow Connector 9"/>
            <p:cNvCxnSpPr>
              <a:stCxn id="8" idx="1"/>
              <a:endCxn id="7" idx="1"/>
            </p:cNvCxnSpPr>
            <p:nvPr/>
          </p:nvCxnSpPr>
          <p:spPr>
            <a:xfrm rot="10800000" flipH="1" flipV="1">
              <a:off x="4724399" y="5867400"/>
              <a:ext cx="690979" cy="240760"/>
            </a:xfrm>
            <a:prstGeom prst="bentConnector3">
              <a:avLst>
                <a:gd name="adj1" fmla="val 44111"/>
              </a:avLst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57979341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 smtClean="0"/>
              <a:t>GraphicObject_Texture</a:t>
            </a:r>
            <a:r>
              <a:rPr lang="en-US" dirty="0" smtClean="0"/>
              <a:t>: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(part of homework)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2400" y="1295400"/>
            <a:ext cx="5647700" cy="41549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DXApp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InitDemo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pShaderTex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new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ShaderTexture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(md3dDevice);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pTex1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new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Texture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(md3dDevice, </a:t>
            </a:r>
            <a:r>
              <a:rPr lang="en-US" sz="1100" dirty="0">
                <a:solidFill>
                  <a:srgbClr val="A31515"/>
                </a:solidFill>
                <a:latin typeface="Consolas"/>
              </a:rPr>
              <a:t>L"../Assets/Textures/</a:t>
            </a:r>
            <a:r>
              <a:rPr lang="en-US" sz="1100" dirty="0" err="1">
                <a:solidFill>
                  <a:srgbClr val="A31515"/>
                </a:solidFill>
                <a:latin typeface="Consolas"/>
              </a:rPr>
              <a:t>CubeFaces.tga</a:t>
            </a:r>
            <a:r>
              <a:rPr lang="en-US" sz="11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fr-FR" sz="1100" dirty="0" smtClean="0">
                <a:solidFill>
                  <a:srgbClr val="000000"/>
                </a:solidFill>
                <a:latin typeface="Consolas"/>
              </a:rPr>
              <a:t>  pTex2 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fr-FR" sz="1100" dirty="0">
                <a:solidFill>
                  <a:srgbClr val="0000FF"/>
                </a:solidFill>
                <a:latin typeface="Consolas"/>
              </a:rPr>
              <a:t>new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fr-FR" sz="1100" dirty="0">
                <a:solidFill>
                  <a:srgbClr val="2B91AF"/>
                </a:solidFill>
                <a:latin typeface="Consolas"/>
              </a:rPr>
              <a:t>Texture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(md3dDevice, </a:t>
            </a:r>
            <a:r>
              <a:rPr lang="fr-FR" sz="1100" dirty="0">
                <a:solidFill>
                  <a:srgbClr val="A31515"/>
                </a:solidFill>
                <a:latin typeface="Consolas"/>
              </a:rPr>
              <a:t>L"../</a:t>
            </a:r>
            <a:r>
              <a:rPr lang="fr-FR" sz="1100" dirty="0" err="1">
                <a:solidFill>
                  <a:srgbClr val="A31515"/>
                </a:solidFill>
                <a:latin typeface="Consolas"/>
              </a:rPr>
              <a:t>Assets</a:t>
            </a:r>
            <a:r>
              <a:rPr lang="fr-FR" sz="1100" dirty="0">
                <a:solidFill>
                  <a:srgbClr val="A31515"/>
                </a:solidFill>
                <a:latin typeface="Consolas"/>
              </a:rPr>
              <a:t>/Textures/</a:t>
            </a:r>
            <a:r>
              <a:rPr lang="fr-FR" sz="1100" dirty="0" err="1">
                <a:solidFill>
                  <a:srgbClr val="A31515"/>
                </a:solidFill>
                <a:latin typeface="Consolas"/>
              </a:rPr>
              <a:t>Dice.tga</a:t>
            </a:r>
            <a:r>
              <a:rPr lang="fr-FR" sz="11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pModel1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new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Model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(md3dDevice,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Model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100" dirty="0" err="1">
                <a:solidFill>
                  <a:srgbClr val="2F4F4F"/>
                </a:solidFill>
                <a:latin typeface="Consolas"/>
              </a:rPr>
              <a:t>UnitBoxSixFacesTexture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pModel2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new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Model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(md3dDevice,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Model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100" dirty="0" err="1">
                <a:solidFill>
                  <a:srgbClr val="2F4F4F"/>
                </a:solidFill>
                <a:latin typeface="Consolas"/>
              </a:rPr>
              <a:t>UnitBoxSixFacesTexture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GraphObj1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new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GraphicObject_Texture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pShaderTex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pModel1);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GraphObj1-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SetTexture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(pTex1);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GraphObj2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new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GraphicObject_Texture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pShaderTex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pModel2);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GraphObj2-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SetTexture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(pTex2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//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Initialize the world matrix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mWorld1 </a:t>
            </a:r>
            <a:r>
              <a:rPr lang="en-US" sz="1100" dirty="0">
                <a:solidFill>
                  <a:srgbClr val="008080"/>
                </a:solidFill>
                <a:latin typeface="Consolas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IDENTITY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fr-FR" sz="1100" dirty="0" smtClean="0">
                <a:solidFill>
                  <a:srgbClr val="000000"/>
                </a:solidFill>
                <a:latin typeface="Consolas"/>
              </a:rPr>
              <a:t>  mWorld2 </a:t>
            </a:r>
            <a:r>
              <a:rPr lang="fr-FR" sz="1100" dirty="0">
                <a:solidFill>
                  <a:srgbClr val="008080"/>
                </a:solidFill>
                <a:latin typeface="Consolas"/>
              </a:rPr>
              <a:t>=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fr-FR" sz="1100" dirty="0">
                <a:solidFill>
                  <a:srgbClr val="2B91AF"/>
                </a:solidFill>
                <a:latin typeface="Consolas"/>
              </a:rPr>
              <a:t>Matrix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fr-FR" sz="1100" dirty="0">
                <a:solidFill>
                  <a:srgbClr val="2F4F4F"/>
                </a:solidFill>
                <a:latin typeface="Consolas"/>
              </a:rPr>
              <a:t>SCALE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, .5f, .5f, .5f) </a:t>
            </a:r>
            <a:r>
              <a:rPr lang="fr-FR" sz="1100" dirty="0">
                <a:solidFill>
                  <a:srgbClr val="008080"/>
                </a:solidFill>
                <a:latin typeface="Consolas"/>
              </a:rPr>
              <a:t>*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fr-FR" sz="1100" dirty="0">
                <a:solidFill>
                  <a:srgbClr val="2B91AF"/>
                </a:solidFill>
                <a:latin typeface="Consolas"/>
              </a:rPr>
              <a:t>Matrix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fr-FR" sz="1100" dirty="0">
                <a:solidFill>
                  <a:srgbClr val="2F4F4F"/>
                </a:solidFill>
                <a:latin typeface="Consolas"/>
              </a:rPr>
              <a:t>TRANS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, 2, 1, 3);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GraphObj1-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SetWorld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(mWorld1);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GraphObj2-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SetWorld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(mWorld2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&lt;…&gt;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6250" y="4590288"/>
            <a:ext cx="5878532" cy="212365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DXApp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DrawScene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&lt;…&gt;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// </a:t>
            </a:r>
            <a:r>
              <a:rPr lang="en-US" sz="1100" dirty="0" err="1" smtClean="0">
                <a:solidFill>
                  <a:srgbClr val="008000"/>
                </a:solidFill>
                <a:latin typeface="Consolas"/>
              </a:rPr>
              <a:t>Shader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set up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pShaderTex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SetToContext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(md3dImmediateContext);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pShaderTex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SendCamMatrices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mCam.getViewMatrix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mCam.getProjMatrix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GraphObj1-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&gt;Render();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GraphObj2-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&gt;Render();</a:t>
            </a:r>
            <a:endParaRPr lang="en-US" sz="11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&lt;…&gt;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1324823"/>
            <a:ext cx="2409825" cy="25216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65287909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Graphics Object	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5486400" cy="5257800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 smtClean="0"/>
              <a:t>The point of graphic object (GO) is to hide the minutia associated with the </a:t>
            </a:r>
            <a:r>
              <a:rPr lang="en-US" sz="2000" dirty="0" err="1" smtClean="0"/>
              <a:t>shader</a:t>
            </a:r>
            <a:r>
              <a:rPr lang="en-US" sz="2000" dirty="0" smtClean="0"/>
              <a:t> data transfer:</a:t>
            </a:r>
          </a:p>
          <a:p>
            <a:pPr marL="0" indent="0">
              <a:buNone/>
            </a:pPr>
            <a:endParaRPr lang="en-US" sz="800" dirty="0"/>
          </a:p>
          <a:p>
            <a:pPr marL="176213" indent="-176213"/>
            <a:r>
              <a:rPr lang="en-US" sz="1800" dirty="0" smtClean="0"/>
              <a:t>Users create the models, </a:t>
            </a:r>
            <a:r>
              <a:rPr lang="en-US" sz="1800" dirty="0" err="1" smtClean="0"/>
              <a:t>shaders</a:t>
            </a:r>
            <a:r>
              <a:rPr lang="en-US" sz="1800" dirty="0" smtClean="0"/>
              <a:t>, textures, etc.</a:t>
            </a:r>
          </a:p>
          <a:p>
            <a:pPr marL="176213" indent="-176213"/>
            <a:r>
              <a:rPr lang="en-US" sz="1800" dirty="0" smtClean="0"/>
              <a:t>Users interact with GO to adjust the relevant data</a:t>
            </a:r>
          </a:p>
          <a:p>
            <a:pPr marL="176213" indent="-176213"/>
            <a:r>
              <a:rPr lang="en-US" sz="1800" dirty="0" smtClean="0"/>
              <a:t>At the draw stage:</a:t>
            </a:r>
          </a:p>
          <a:p>
            <a:pPr marL="633413" lvl="1" indent="-176213"/>
            <a:r>
              <a:rPr lang="en-US" sz="1600" dirty="0" smtClean="0"/>
              <a:t>Set the </a:t>
            </a:r>
            <a:r>
              <a:rPr lang="en-US" sz="1600" dirty="0" err="1" smtClean="0"/>
              <a:t>shader</a:t>
            </a:r>
            <a:r>
              <a:rPr lang="en-US" sz="1600" dirty="0" smtClean="0"/>
              <a:t> to context and pass the common data</a:t>
            </a:r>
          </a:p>
          <a:p>
            <a:pPr marL="633413" lvl="1" indent="-176213"/>
            <a:r>
              <a:rPr lang="en-US" sz="1600" dirty="0" smtClean="0"/>
              <a:t>Render each graphic object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143000"/>
            <a:ext cx="5262979" cy="36471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DXApp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InitDemo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pShaderCol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new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ShaderColor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(md3dDevice);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pModel1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new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Model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(md3dDevice,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Model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100" dirty="0" err="1">
                <a:solidFill>
                  <a:srgbClr val="2F4F4F"/>
                </a:solidFill>
                <a:latin typeface="Consolas"/>
              </a:rPr>
              <a:t>UnitBoxSixFacesTexture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pModel2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new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Model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(md3dDevice,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Model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100" dirty="0" err="1">
                <a:solidFill>
                  <a:srgbClr val="2F4F4F"/>
                </a:solidFill>
                <a:latin typeface="Consolas"/>
              </a:rPr>
              <a:t>UnitBoxSixFacesTexture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GraphObj1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new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GraphicObject_Color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pShaderCol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pModel1);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GraphObj1-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SetColor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(Colors::Red);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GraphObj2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new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GraphicObject_Color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pShaderCol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pModel2);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GraphObj2-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SetColor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(Colors::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MediumPurple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//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Initialize the world matrix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mWorld1 </a:t>
            </a:r>
            <a:r>
              <a:rPr lang="en-US" sz="1100" dirty="0">
                <a:solidFill>
                  <a:srgbClr val="008080"/>
                </a:solidFill>
                <a:latin typeface="Consolas"/>
              </a:rPr>
              <a:t>=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IDENTITY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fr-FR" sz="1100" dirty="0" smtClean="0">
                <a:solidFill>
                  <a:srgbClr val="000000"/>
                </a:solidFill>
                <a:latin typeface="Consolas"/>
              </a:rPr>
              <a:t>  mWorld2 </a:t>
            </a:r>
            <a:r>
              <a:rPr lang="fr-FR" sz="1100" dirty="0">
                <a:solidFill>
                  <a:srgbClr val="008080"/>
                </a:solidFill>
                <a:latin typeface="Consolas"/>
              </a:rPr>
              <a:t>=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fr-FR" sz="1100" dirty="0">
                <a:solidFill>
                  <a:srgbClr val="2B91AF"/>
                </a:solidFill>
                <a:latin typeface="Consolas"/>
              </a:rPr>
              <a:t>Matrix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fr-FR" sz="1100" dirty="0">
                <a:solidFill>
                  <a:srgbClr val="2F4F4F"/>
                </a:solidFill>
                <a:latin typeface="Consolas"/>
              </a:rPr>
              <a:t>SCALE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, .5f, .5f, .5f) </a:t>
            </a:r>
            <a:r>
              <a:rPr lang="fr-FR" sz="1100" dirty="0">
                <a:solidFill>
                  <a:srgbClr val="008080"/>
                </a:solidFill>
                <a:latin typeface="Consolas"/>
              </a:rPr>
              <a:t>*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fr-FR" sz="1100" dirty="0">
                <a:solidFill>
                  <a:srgbClr val="2B91AF"/>
                </a:solidFill>
                <a:latin typeface="Consolas"/>
              </a:rPr>
              <a:t>Matrix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fr-FR" sz="1100" dirty="0">
                <a:solidFill>
                  <a:srgbClr val="2F4F4F"/>
                </a:solidFill>
                <a:latin typeface="Consolas"/>
              </a:rPr>
              <a:t>TRANS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, 2, 1, 3);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GraphObj1-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SetWorld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(mWorld1);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GraphObj2-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SetWorld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(mWorld2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&lt;…&gt;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4648200"/>
            <a:ext cx="5878532" cy="22929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DXApp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DrawScene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&lt;…&gt;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// </a:t>
            </a:r>
            <a:r>
              <a:rPr lang="en-US" sz="1100" dirty="0" err="1" smtClean="0">
                <a:solidFill>
                  <a:srgbClr val="008000"/>
                </a:solidFill>
                <a:latin typeface="Consolas"/>
              </a:rPr>
              <a:t>Shader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set up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pShaderCol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SetToContext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(md3dImmediateContext);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pShaderCol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SendCamMatrices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mCam.getViewMatrix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mCam.getProjMatrix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GraphObj1-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&gt;Render();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GraphObj2-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&gt;Render();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&lt;…&gt;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38800" y="1524000"/>
            <a:ext cx="5029200" cy="68580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5627255" y="2362200"/>
            <a:ext cx="5029200" cy="1905000"/>
          </a:xfrm>
          <a:prstGeom prst="roundRect">
            <a:avLst>
              <a:gd name="adj" fmla="val 7455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5638800" y="5334000"/>
            <a:ext cx="5029200" cy="1143000"/>
          </a:xfrm>
          <a:prstGeom prst="roundRect">
            <a:avLst>
              <a:gd name="adj" fmla="val 7455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13282" y="3891794"/>
            <a:ext cx="4311802" cy="919401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lvl="0" algn="ctr">
              <a:buClr>
                <a:prstClr val="black"/>
              </a:buClr>
              <a:buSzPct val="76000"/>
            </a:pPr>
            <a:r>
              <a:rPr lang="en-US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The benefits of using graphics object are even more apparent when using complex </a:t>
            </a:r>
            <a:r>
              <a:rPr lang="en-US" sz="16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shaders</a:t>
            </a:r>
            <a:r>
              <a:rPr lang="en-US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pPr lvl="0" algn="ctr">
              <a:buClr>
                <a:prstClr val="black"/>
              </a:buClr>
              <a:buSzPct val="76000"/>
            </a:pPr>
            <a:r>
              <a:rPr lang="en-US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lighting, multiple meshes, etc.</a:t>
            </a:r>
            <a:endParaRPr lang="en-US" sz="16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54583" y="5013791"/>
            <a:ext cx="5029200" cy="919401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lvl="0" algn="ctr">
              <a:buClr>
                <a:prstClr val="black"/>
              </a:buClr>
              <a:buSzPct val="76000"/>
            </a:pPr>
            <a:r>
              <a:rPr lang="en-US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In principle, we could even have a game engine manage all the </a:t>
            </a:r>
            <a:r>
              <a:rPr lang="en-US" sz="16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shaders</a:t>
            </a:r>
            <a:r>
              <a:rPr lang="en-US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at render time and make sure each graphic object is rendered when the correct </a:t>
            </a:r>
            <a:r>
              <a:rPr lang="en-US" sz="16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shader</a:t>
            </a:r>
            <a:r>
              <a:rPr lang="en-US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is active</a:t>
            </a:r>
            <a:endParaRPr lang="en-US" sz="16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4057675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Part </a:t>
            </a:r>
            <a:r>
              <a:rPr lang="en-US" dirty="0" smtClean="0"/>
              <a:t>III:</a:t>
            </a:r>
            <a:endParaRPr lang="en-US" dirty="0" smtClean="0"/>
          </a:p>
          <a:p>
            <a:r>
              <a:rPr lang="en-US" dirty="0" smtClean="0"/>
              <a:t>Loading Models From Files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584843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Models from Files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Using default geometric models was fine for testing </a:t>
            </a:r>
            <a:r>
              <a:rPr lang="en-US" sz="2000" dirty="0" err="1" smtClean="0"/>
              <a:t>shaders</a:t>
            </a:r>
            <a:r>
              <a:rPr lang="en-US" sz="2000" dirty="0" smtClean="0"/>
              <a:t>, </a:t>
            </a:r>
            <a:r>
              <a:rPr lang="en-US" sz="2000" dirty="0" smtClean="0"/>
              <a:t>but </a:t>
            </a:r>
            <a:r>
              <a:rPr lang="en-US" sz="2000" dirty="0" smtClean="0"/>
              <a:t>it’s getting old. How about some models created by actual artists?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2000" b="1" dirty="0" smtClean="0"/>
              <a:t>Problems:</a:t>
            </a:r>
          </a:p>
          <a:p>
            <a:pPr marL="461963" lvl="1" indent="-188913"/>
            <a:r>
              <a:rPr lang="en-US" sz="1800" dirty="0" smtClean="0"/>
              <a:t>Artists work with modeling software (Maya, 3DS Max, Blender, etc.) that have their own proprietary file format (.ma//</a:t>
            </a:r>
            <a:r>
              <a:rPr lang="en-US" sz="1800" dirty="0" err="1" smtClean="0"/>
              <a:t>mb</a:t>
            </a:r>
            <a:r>
              <a:rPr lang="en-US" sz="1800" dirty="0" smtClean="0"/>
              <a:t>, .3ds, .blend, </a:t>
            </a:r>
            <a:r>
              <a:rPr lang="en-US" sz="1800" dirty="0" err="1" smtClean="0"/>
              <a:t>etc</a:t>
            </a:r>
            <a:r>
              <a:rPr lang="en-US" sz="1800" dirty="0" smtClean="0"/>
              <a:t>)</a:t>
            </a:r>
          </a:p>
          <a:p>
            <a:pPr marL="461963" lvl="1" indent="-188913"/>
            <a:r>
              <a:rPr lang="en-US" sz="1800" dirty="0" smtClean="0"/>
              <a:t>The modelling software can export to more common exchange formats (.</a:t>
            </a:r>
            <a:r>
              <a:rPr lang="en-US" sz="1800" dirty="0" err="1" smtClean="0"/>
              <a:t>fbx</a:t>
            </a:r>
            <a:r>
              <a:rPr lang="en-US" sz="1800" dirty="0" smtClean="0"/>
              <a:t> for example)</a:t>
            </a:r>
          </a:p>
          <a:p>
            <a:pPr marL="461963" lvl="1" indent="-188913"/>
            <a:r>
              <a:rPr lang="en-US" sz="1800" dirty="0" smtClean="0"/>
              <a:t>All these formats are great for data exchange, but game engines typically have their own internal data format designed with performance and data packing in mind</a:t>
            </a:r>
          </a:p>
          <a:p>
            <a:pPr marL="461963" lvl="1" indent="-188913"/>
            <a:r>
              <a:rPr lang="en-US" sz="1800" dirty="0" smtClean="0"/>
              <a:t>This means we need to convert the model files to the engine’s file format…</a:t>
            </a:r>
          </a:p>
          <a:p>
            <a:pPr marL="461963" lvl="1" indent="-188913"/>
            <a:endParaRPr lang="en-US" sz="1800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2556096" y="4800600"/>
            <a:ext cx="4301904" cy="919401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lvl="0" algn="ctr">
              <a:buClr>
                <a:prstClr val="black"/>
              </a:buClr>
              <a:buSzPct val="76000"/>
            </a:pPr>
            <a:r>
              <a:rPr lang="en-US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Creating such converters is no small feat. Engine tool makers are typically given the task.</a:t>
            </a:r>
          </a:p>
          <a:p>
            <a:pPr lvl="0" algn="ctr">
              <a:buClr>
                <a:prstClr val="black"/>
              </a:buClr>
              <a:buSzPct val="76000"/>
            </a:pPr>
            <a:r>
              <a:rPr lang="en-US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But this is outside our scope for now.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7164" y="5867400"/>
            <a:ext cx="2885036" cy="374571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lvl="0" algn="ctr">
              <a:buClr>
                <a:prstClr val="black"/>
              </a:buClr>
              <a:buSzPct val="76000"/>
            </a:pPr>
            <a:r>
              <a:rPr lang="en-US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Let’s look at how Azul does this</a:t>
            </a:r>
          </a:p>
        </p:txBody>
      </p:sp>
    </p:spTree>
    <p:extLst>
      <p:ext uri="{BB962C8B-B14F-4D97-AF65-F5344CB8AC3E}">
        <p14:creationId xmlns:p14="http://schemas.microsoft.com/office/powerpoint/2010/main" val="2578877533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Loading Model: Azul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227013" indent="-227013"/>
            <a:r>
              <a:rPr lang="en-US" sz="1800" dirty="0" smtClean="0"/>
              <a:t>Using its own .</a:t>
            </a:r>
            <a:r>
              <a:rPr lang="en-US" sz="1800" dirty="0" err="1" smtClean="0"/>
              <a:t>azul</a:t>
            </a:r>
            <a:r>
              <a:rPr lang="en-US" sz="1800" dirty="0" smtClean="0"/>
              <a:t> file format</a:t>
            </a:r>
          </a:p>
          <a:p>
            <a:pPr marL="227013" indent="-227013"/>
            <a:r>
              <a:rPr lang="en-US" sz="1800" dirty="0" smtClean="0"/>
              <a:t>Packs all the vertex data needed for models</a:t>
            </a:r>
          </a:p>
          <a:p>
            <a:pPr marL="227013" indent="-227013"/>
            <a:r>
              <a:rPr lang="en-US" sz="1800" dirty="0" smtClean="0"/>
              <a:t>Indices are set up as triangle list</a:t>
            </a:r>
          </a:p>
          <a:p>
            <a:pPr marL="227013" indent="-227013"/>
            <a:r>
              <a:rPr lang="en-US" sz="1800" dirty="0" smtClean="0"/>
              <a:t>Rendering is done the same way as our previous models</a:t>
            </a:r>
            <a:endParaRPr lang="en-US" sz="1800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17007"/>
            <a:ext cx="4014261" cy="2440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762000" y="2667000"/>
            <a:ext cx="5647700" cy="9387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100" dirty="0" err="1">
                <a:solidFill>
                  <a:srgbClr val="000000"/>
                </a:solidFill>
                <a:latin typeface="Consolas"/>
              </a:rPr>
              <a:t>pShaderCol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new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ShaderColor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(md3dDevice);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pModel1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new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Model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(md3dDevice, </a:t>
            </a:r>
            <a:r>
              <a:rPr lang="en-US" sz="1100" dirty="0">
                <a:solidFill>
                  <a:srgbClr val="A31515"/>
                </a:solidFill>
                <a:latin typeface="Consolas"/>
              </a:rPr>
              <a:t>"../Assets/Models/</a:t>
            </a:r>
            <a:r>
              <a:rPr lang="en-US" sz="1100" dirty="0" err="1">
                <a:solidFill>
                  <a:srgbClr val="A31515"/>
                </a:solidFill>
                <a:latin typeface="Consolas"/>
              </a:rPr>
              <a:t>space_frigate.azul</a:t>
            </a:r>
            <a:r>
              <a:rPr lang="en-US" sz="11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GraphObj1 =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new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GraphicObject_Color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pShaderCol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pModel1);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GraphObj1-&gt;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SetColor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(Colors::White);</a:t>
            </a:r>
            <a:endParaRPr lang="en-US" sz="11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1200150"/>
            <a:ext cx="2914650" cy="11811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4417007"/>
            <a:ext cx="3810000" cy="2440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3007" y="4417007"/>
            <a:ext cx="2440993" cy="2440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4876800" y="3848814"/>
            <a:ext cx="3288718" cy="646986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lvl="0" algn="ctr">
              <a:buClr>
                <a:prstClr val="black"/>
              </a:buClr>
              <a:buSzPct val="76000"/>
            </a:pPr>
            <a:r>
              <a:rPr lang="en-US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And should work just as readily with your own texture/light </a:t>
            </a:r>
            <a:r>
              <a:rPr lang="en-US" sz="16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shaders</a:t>
            </a:r>
            <a:endParaRPr lang="en-US" sz="16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1546371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8" grpId="0" animBg="1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Changes:</a:t>
            </a:r>
            <a:br>
              <a:rPr lang="en-US" dirty="0" smtClean="0"/>
            </a:br>
            <a:r>
              <a:rPr lang="en-US" dirty="0" smtClean="0"/>
              <a:t>Model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Not too much needs to change (I’m giving you the file reading code)</a:t>
            </a: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533400" y="1617551"/>
            <a:ext cx="7725192" cy="33085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0000FF"/>
                </a:solidFill>
                <a:latin typeface="Consolas"/>
              </a:rPr>
              <a:t>class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Model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>
                <a:solidFill>
                  <a:srgbClr val="0000FF"/>
                </a:solidFill>
                <a:latin typeface="Consolas"/>
              </a:rPr>
              <a:t>private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</a:t>
            </a: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// &lt;data members&gt;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void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privLoadDataToGPU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void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privLoadDataFromFile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char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*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_</a:t>
            </a:r>
            <a:r>
              <a:rPr lang="en-US" sz="1100" dirty="0" err="1">
                <a:solidFill>
                  <a:srgbClr val="808080"/>
                </a:solidFill>
                <a:latin typeface="Consolas"/>
              </a:rPr>
              <a:t>modelName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endParaRPr lang="en-US" sz="11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                       </a:t>
            </a:r>
            <a:r>
              <a:rPr lang="en-US" sz="1100" dirty="0" err="1" smtClean="0">
                <a:solidFill>
                  <a:srgbClr val="2B91AF"/>
                </a:solidFill>
                <a:latin typeface="Consolas"/>
              </a:rPr>
              <a:t>StandardVertex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*&amp; </a:t>
            </a:r>
            <a:r>
              <a:rPr lang="en-US" sz="1100" dirty="0" err="1">
                <a:solidFill>
                  <a:srgbClr val="808080"/>
                </a:solidFill>
                <a:latin typeface="Consolas"/>
              </a:rPr>
              <a:t>pVerts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&amp; </a:t>
            </a:r>
            <a:r>
              <a:rPr lang="en-US" sz="1100" dirty="0" err="1">
                <a:solidFill>
                  <a:srgbClr val="808080"/>
                </a:solidFill>
                <a:latin typeface="Consolas"/>
              </a:rPr>
              <a:t>nverts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endParaRPr lang="en-US" sz="11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                       </a:t>
            </a:r>
            <a:r>
              <a:rPr lang="en-US" sz="1100" dirty="0" err="1" smtClean="0">
                <a:solidFill>
                  <a:srgbClr val="2B91AF"/>
                </a:solidFill>
                <a:latin typeface="Consolas"/>
              </a:rPr>
              <a:t>TriangleByIndex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*&amp; </a:t>
            </a:r>
            <a:r>
              <a:rPr lang="en-US" sz="1100" dirty="0" err="1">
                <a:solidFill>
                  <a:srgbClr val="808080"/>
                </a:solidFill>
                <a:latin typeface="Consolas"/>
              </a:rPr>
              <a:t>ptlist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&amp; </a:t>
            </a:r>
            <a:r>
              <a:rPr lang="en-US" sz="1100" dirty="0" err="1">
                <a:solidFill>
                  <a:srgbClr val="808080"/>
                </a:solidFill>
                <a:latin typeface="Consolas"/>
              </a:rPr>
              <a:t>ntri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FF"/>
                </a:solidFill>
                <a:latin typeface="Consolas"/>
              </a:rPr>
              <a:t>public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&lt;…&gt;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Model(</a:t>
            </a:r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ID3D11Device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dev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StandardVertex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*</a:t>
            </a:r>
            <a:r>
              <a:rPr lang="en-US" sz="1100" dirty="0" err="1">
                <a:solidFill>
                  <a:srgbClr val="808080"/>
                </a:solidFill>
                <a:latin typeface="Consolas"/>
              </a:rPr>
              <a:t>pVerts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808080"/>
                </a:solidFill>
                <a:latin typeface="Consolas"/>
              </a:rPr>
              <a:t>nverts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TriangleByIndex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*</a:t>
            </a:r>
            <a:r>
              <a:rPr lang="en-US" sz="1100" dirty="0" err="1">
                <a:solidFill>
                  <a:srgbClr val="808080"/>
                </a:solidFill>
                <a:latin typeface="Consolas"/>
              </a:rPr>
              <a:t>ptlist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808080"/>
                </a:solidFill>
                <a:latin typeface="Consolas"/>
              </a:rPr>
              <a:t>ntri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Model(</a:t>
            </a:r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ID3D11Device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dev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PreMadedeModels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pm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Model(</a:t>
            </a:r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ID3D11Device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dev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char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*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_</a:t>
            </a:r>
            <a:r>
              <a:rPr lang="en-US" sz="1100" dirty="0" err="1">
                <a:solidFill>
                  <a:srgbClr val="808080"/>
                </a:solidFill>
                <a:latin typeface="Consolas"/>
              </a:rPr>
              <a:t>modelName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void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Render(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ID3D11DeviceContext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context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};</a:t>
            </a:r>
            <a:endParaRPr lang="en-US" sz="1100" dirty="0"/>
          </a:p>
        </p:txBody>
      </p:sp>
      <p:grpSp>
        <p:nvGrpSpPr>
          <p:cNvPr id="12" name="Group 11"/>
          <p:cNvGrpSpPr/>
          <p:nvPr/>
        </p:nvGrpSpPr>
        <p:grpSpPr>
          <a:xfrm>
            <a:off x="685800" y="4079081"/>
            <a:ext cx="7054992" cy="340519"/>
            <a:chOff x="685800" y="4079081"/>
            <a:chExt cx="7054992" cy="340519"/>
          </a:xfrm>
        </p:grpSpPr>
        <p:sp>
          <p:nvSpPr>
            <p:cNvPr id="6" name="Rounded Rectangle 5"/>
            <p:cNvSpPr/>
            <p:nvPr/>
          </p:nvSpPr>
          <p:spPr>
            <a:xfrm>
              <a:off x="685800" y="4173648"/>
              <a:ext cx="4412055" cy="190125"/>
            </a:xfrm>
            <a:prstGeom prst="roundRect">
              <a:avLst>
                <a:gd name="adj" fmla="val 7455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181600" y="4079081"/>
              <a:ext cx="2559192" cy="340519"/>
            </a:xfrm>
            <a:prstGeom prst="roundRect">
              <a:avLst/>
            </a:prstGeom>
            <a:solidFill>
              <a:srgbClr val="FFFF66"/>
            </a:solidFill>
            <a:ln w="25400">
              <a:solidFill>
                <a:srgbClr val="FF0000"/>
              </a:solidFill>
            </a:ln>
          </p:spPr>
          <p:txBody>
            <a:bodyPr wrap="square" tIns="45720" bIns="45720" rtlCol="0">
              <a:spAutoFit/>
            </a:bodyPr>
            <a:lstStyle/>
            <a:p>
              <a:pPr lvl="0" algn="ctr">
                <a:buClr>
                  <a:prstClr val="black"/>
                </a:buClr>
                <a:buSzPct val="76000"/>
              </a:pPr>
              <a:r>
                <a:rPr lang="en-US" sz="1400" dirty="0" smtClean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New constructor with file name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685799" y="2667000"/>
            <a:ext cx="7696201" cy="604850"/>
            <a:chOff x="685799" y="2667000"/>
            <a:chExt cx="7696201" cy="604850"/>
          </a:xfrm>
        </p:grpSpPr>
        <p:sp>
          <p:nvSpPr>
            <p:cNvPr id="8" name="Rounded Rectangle 7"/>
            <p:cNvSpPr/>
            <p:nvPr/>
          </p:nvSpPr>
          <p:spPr>
            <a:xfrm>
              <a:off x="685799" y="2667000"/>
              <a:ext cx="4953001" cy="604850"/>
            </a:xfrm>
            <a:prstGeom prst="roundRect">
              <a:avLst>
                <a:gd name="adj" fmla="val 7455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700154" y="2667000"/>
              <a:ext cx="2681846" cy="578882"/>
            </a:xfrm>
            <a:prstGeom prst="roundRect">
              <a:avLst/>
            </a:prstGeom>
            <a:solidFill>
              <a:srgbClr val="FFFF66"/>
            </a:solidFill>
            <a:ln w="25400">
              <a:solidFill>
                <a:srgbClr val="FF0000"/>
              </a:solidFill>
            </a:ln>
          </p:spPr>
          <p:txBody>
            <a:bodyPr wrap="square" tIns="45720" bIns="45720" rtlCol="0">
              <a:spAutoFit/>
            </a:bodyPr>
            <a:lstStyle/>
            <a:p>
              <a:pPr lvl="0" algn="ctr">
                <a:buClr>
                  <a:prstClr val="black"/>
                </a:buClr>
                <a:buSzPct val="76000"/>
              </a:pPr>
              <a:r>
                <a:rPr lang="en-US" sz="1400" dirty="0" smtClean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Reads the data from file and fills up the vertex and index arrays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2300496" y="5105400"/>
            <a:ext cx="4191000" cy="646986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lvl="0" algn="ctr">
              <a:buClr>
                <a:prstClr val="black"/>
              </a:buClr>
              <a:buSzPct val="76000"/>
            </a:pPr>
            <a:r>
              <a:rPr lang="en-US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Let’s look at the code for loading from file:</a:t>
            </a:r>
          </a:p>
          <a:p>
            <a:pPr lvl="0" algn="ctr">
              <a:buClr>
                <a:prstClr val="black"/>
              </a:buClr>
              <a:buSzPct val="76000"/>
            </a:pPr>
            <a:r>
              <a:rPr lang="en-US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(Warning: Another Mea Culpa!)</a:t>
            </a:r>
          </a:p>
        </p:txBody>
      </p:sp>
    </p:spTree>
    <p:extLst>
      <p:ext uri="{BB962C8B-B14F-4D97-AF65-F5344CB8AC3E}">
        <p14:creationId xmlns:p14="http://schemas.microsoft.com/office/powerpoint/2010/main" val="3993750417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Loading .Azul Data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Loading the data from the file isn’t particularly difficult:</a:t>
            </a:r>
          </a:p>
          <a:p>
            <a:pPr marL="461963" lvl="1" indent="-188913"/>
            <a:r>
              <a:rPr lang="en-US" sz="1800" dirty="0" smtClean="0"/>
              <a:t>The class </a:t>
            </a:r>
            <a:r>
              <a:rPr lang="en-US" sz="1800" dirty="0" err="1" smtClean="0"/>
              <a:t>axulFileHdr</a:t>
            </a:r>
            <a:r>
              <a:rPr lang="en-US" sz="1800" dirty="0" smtClean="0"/>
              <a:t> has the file format details and accessors</a:t>
            </a:r>
          </a:p>
          <a:p>
            <a:pPr marL="461963" lvl="1" indent="-188913"/>
            <a:r>
              <a:rPr lang="en-US" sz="1800" dirty="0" smtClean="0"/>
              <a:t>For vertices:</a:t>
            </a:r>
          </a:p>
          <a:p>
            <a:pPr marL="796925" lvl="2" indent="-188913"/>
            <a:r>
              <a:rPr lang="en-US" sz="1600" dirty="0" smtClean="0"/>
              <a:t>Read in the number</a:t>
            </a:r>
          </a:p>
          <a:p>
            <a:pPr marL="796925" lvl="2" indent="-188913"/>
            <a:r>
              <a:rPr lang="en-US" sz="1600" dirty="0" smtClean="0"/>
              <a:t>Set the arrays size and format</a:t>
            </a:r>
          </a:p>
          <a:p>
            <a:pPr marL="796925" lvl="2" indent="-188913"/>
            <a:r>
              <a:rPr lang="en-US" sz="1600" dirty="0" smtClean="0"/>
              <a:t>Dump the raw bytes into the array</a:t>
            </a:r>
          </a:p>
          <a:p>
            <a:pPr marL="461963" lvl="1" indent="-188913"/>
            <a:r>
              <a:rPr lang="en-US" sz="1800" dirty="0" smtClean="0"/>
              <a:t>For indices: same process</a:t>
            </a:r>
          </a:p>
          <a:p>
            <a:pPr marL="461963" lvl="1" indent="-188913"/>
            <a:r>
              <a:rPr lang="en-US" sz="1800" dirty="0" smtClean="0"/>
              <a:t>Close files and return</a:t>
            </a:r>
            <a:endParaRPr lang="en-US" sz="1800" dirty="0"/>
          </a:p>
        </p:txBody>
      </p:sp>
      <p:sp>
        <p:nvSpPr>
          <p:cNvPr id="5" name="TextBox 4"/>
          <p:cNvSpPr txBox="1"/>
          <p:nvPr/>
        </p:nvSpPr>
        <p:spPr>
          <a:xfrm>
            <a:off x="4208443" y="2057400"/>
            <a:ext cx="10802957" cy="466281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Model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privLoadDataFromFile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char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*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_</a:t>
            </a:r>
            <a:r>
              <a:rPr lang="en-US" sz="1100" dirty="0" err="1">
                <a:solidFill>
                  <a:srgbClr val="808080"/>
                </a:solidFill>
                <a:latin typeface="Consolas"/>
              </a:rPr>
              <a:t>modelName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StandardVertex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*&amp; </a:t>
            </a:r>
            <a:r>
              <a:rPr lang="en-US" sz="1100" dirty="0" err="1">
                <a:solidFill>
                  <a:srgbClr val="808080"/>
                </a:solidFill>
                <a:latin typeface="Consolas"/>
              </a:rPr>
              <a:t>pVerts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&amp; </a:t>
            </a:r>
            <a:r>
              <a:rPr lang="en-US" sz="1100" dirty="0" err="1">
                <a:solidFill>
                  <a:srgbClr val="808080"/>
                </a:solidFill>
                <a:latin typeface="Consolas"/>
              </a:rPr>
              <a:t>nverts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TriangleByIndex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*&amp; </a:t>
            </a:r>
            <a:r>
              <a:rPr lang="en-US" sz="1100" dirty="0" err="1">
                <a:solidFill>
                  <a:srgbClr val="808080"/>
                </a:solidFill>
                <a:latin typeface="Consolas"/>
              </a:rPr>
              <a:t>ptlist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&amp; </a:t>
            </a:r>
            <a:r>
              <a:rPr lang="en-US" sz="1100" dirty="0" err="1">
                <a:solidFill>
                  <a:srgbClr val="808080"/>
                </a:solidFill>
                <a:latin typeface="Consolas"/>
              </a:rPr>
              <a:t>ntri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&lt;…&gt;</a:t>
            </a:r>
            <a:endParaRPr lang="en-US" sz="1100" dirty="0" smtClean="0">
              <a:solidFill>
                <a:srgbClr val="000000"/>
              </a:solidFill>
              <a:latin typeface="Consolas"/>
            </a:endParaRPr>
          </a:p>
          <a:p>
            <a:endParaRPr lang="en-US" sz="11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// Get the file format for the data</a:t>
            </a:r>
            <a:endParaRPr lang="en-US" sz="11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</a:t>
            </a:r>
            <a:r>
              <a:rPr lang="en-US" sz="1100" dirty="0" err="1" smtClean="0">
                <a:solidFill>
                  <a:srgbClr val="2B91AF"/>
                </a:solidFill>
                <a:latin typeface="Consolas"/>
              </a:rPr>
              <a:t>AzulFileHdr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azulFileHdr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;</a:t>
            </a:r>
          </a:p>
          <a:p>
            <a:endParaRPr lang="en-US" sz="11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&lt;…&gt;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//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create the vertex buffer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808080"/>
                </a:solidFill>
                <a:latin typeface="Consolas"/>
              </a:rPr>
              <a:t>  </a:t>
            </a:r>
            <a:r>
              <a:rPr lang="en-US" sz="1100" dirty="0" err="1" smtClean="0">
                <a:solidFill>
                  <a:srgbClr val="808080"/>
                </a:solidFill>
                <a:latin typeface="Consolas"/>
              </a:rPr>
              <a:t>nverts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azulFileHdr.numVerts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</a:t>
            </a:r>
            <a:r>
              <a:rPr lang="en-US" sz="1100" dirty="0" err="1" smtClean="0">
                <a:solidFill>
                  <a:srgbClr val="2B91AF"/>
                </a:solidFill>
                <a:latin typeface="Consolas"/>
              </a:rPr>
              <a:t>VertexStride_VUN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pTmpVerts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new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VertexStride_VUN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100" dirty="0" err="1">
                <a:solidFill>
                  <a:srgbClr val="808080"/>
                </a:solidFill>
                <a:latin typeface="Consolas"/>
              </a:rPr>
              <a:t>nverts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];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//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load the verts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ferror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File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::seek(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fh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FILE_SEEK_BEGIN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azulFileHdr.vertBufferOffset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100" dirty="0" smtClean="0">
                <a:solidFill>
                  <a:srgbClr val="6F008A"/>
                </a:solidFill>
                <a:latin typeface="Consolas"/>
              </a:rPr>
              <a:t>  &lt;…&gt;</a:t>
            </a:r>
            <a:endParaRPr lang="en-US" sz="11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ferror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File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::read(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fh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pTmpVerts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808080"/>
                </a:solidFill>
                <a:latin typeface="Consolas"/>
              </a:rPr>
              <a:t>nverts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*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sizeof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VertexStride_VUN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));</a:t>
            </a:r>
          </a:p>
          <a:p>
            <a:r>
              <a:rPr lang="en-US" sz="1100" dirty="0" smtClean="0">
                <a:solidFill>
                  <a:srgbClr val="6F008A"/>
                </a:solidFill>
                <a:latin typeface="Consolas"/>
              </a:rPr>
              <a:t>  assert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ferror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== 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FILE_SUCCESS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 //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create the 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triLists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 buffer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&lt;similar process as vertices…&gt;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 //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close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ferror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File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::close(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fh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100" dirty="0" smtClean="0">
                <a:solidFill>
                  <a:srgbClr val="6F008A"/>
                </a:solidFill>
                <a:latin typeface="Consolas"/>
              </a:rPr>
              <a:t>   assert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ferror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== </a:t>
            </a:r>
            <a:r>
              <a:rPr lang="en-US" sz="1100" dirty="0">
                <a:solidFill>
                  <a:srgbClr val="2F4F4F"/>
                </a:solidFill>
                <a:latin typeface="Consolas"/>
              </a:rPr>
              <a:t>FILE_SUCCESS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);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}</a:t>
            </a:r>
            <a:endParaRPr lang="en-US" sz="1100" dirty="0"/>
          </a:p>
        </p:txBody>
      </p:sp>
      <p:sp>
        <p:nvSpPr>
          <p:cNvPr id="6" name="TextBox 5"/>
          <p:cNvSpPr txBox="1"/>
          <p:nvPr/>
        </p:nvSpPr>
        <p:spPr>
          <a:xfrm>
            <a:off x="914400" y="4267200"/>
            <a:ext cx="3124200" cy="914400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lvl="0" algn="ctr">
              <a:buClr>
                <a:prstClr val="black"/>
              </a:buClr>
              <a:buSzPct val="76000"/>
            </a:pPr>
            <a:r>
              <a:rPr lang="en-US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Or that </a:t>
            </a:r>
            <a:r>
              <a:rPr lang="en-US" sz="1600" i="1" u="sng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would</a:t>
            </a:r>
            <a:r>
              <a:rPr lang="en-US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be the end of it if we (*I*) had been more careful about data packing…</a:t>
            </a:r>
          </a:p>
        </p:txBody>
      </p:sp>
    </p:spTree>
    <p:extLst>
      <p:ext uri="{BB962C8B-B14F-4D97-AF65-F5344CB8AC3E}">
        <p14:creationId xmlns:p14="http://schemas.microsoft.com/office/powerpoint/2010/main" val="1906064709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Structure Packing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(</a:t>
            </a:r>
            <a:r>
              <a:rPr lang="en-US" sz="2000" i="1" dirty="0" smtClean="0"/>
              <a:t>The gist of this is covered in the book, Sect 7.12.2, p293</a:t>
            </a:r>
            <a:r>
              <a:rPr lang="en-US" sz="2000" dirty="0" smtClean="0"/>
              <a:t>)</a:t>
            </a:r>
          </a:p>
          <a:p>
            <a:pPr marL="0" indent="0">
              <a:buNone/>
            </a:pPr>
            <a:r>
              <a:rPr lang="en-US" sz="2000" dirty="0" smtClean="0"/>
              <a:t>The short version is that if our data </a:t>
            </a:r>
            <a:r>
              <a:rPr lang="en-US" sz="2000" dirty="0" smtClean="0"/>
              <a:t>is </a:t>
            </a:r>
            <a:r>
              <a:rPr lang="en-US" sz="2000" dirty="0" smtClean="0"/>
              <a:t>16-byte </a:t>
            </a:r>
            <a:r>
              <a:rPr lang="en-US" sz="2000" dirty="0" smtClean="0"/>
              <a:t>aligned (using packing), </a:t>
            </a:r>
            <a:r>
              <a:rPr lang="en-US" sz="2000" dirty="0" smtClean="0"/>
              <a:t>both the CPU and GPU can use internal performance optimization.</a:t>
            </a:r>
          </a:p>
          <a:p>
            <a:pPr marL="461963" lvl="1" indent="-188913"/>
            <a:r>
              <a:rPr lang="en-US" sz="1800" dirty="0" smtClean="0"/>
              <a:t>But we </a:t>
            </a:r>
            <a:r>
              <a:rPr lang="en-US" sz="1800" i="1" u="sng" dirty="0" smtClean="0"/>
              <a:t>also</a:t>
            </a:r>
            <a:r>
              <a:rPr lang="en-US" sz="1800" dirty="0" smtClean="0"/>
              <a:t> want to keep this 16-byte alignment with minimal padding. This is where we have been sloppy.</a:t>
            </a:r>
            <a:endParaRPr lang="en-US" sz="1800" dirty="0"/>
          </a:p>
        </p:txBody>
      </p:sp>
      <p:sp>
        <p:nvSpPr>
          <p:cNvPr id="5" name="TextBox 4"/>
          <p:cNvSpPr txBox="1"/>
          <p:nvPr/>
        </p:nvSpPr>
        <p:spPr>
          <a:xfrm>
            <a:off x="838200" y="3276600"/>
            <a:ext cx="1877437" cy="14465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100" dirty="0" err="1" smtClean="0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StandardVertex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</a:t>
            </a:r>
            <a:r>
              <a:rPr lang="en-US" sz="1100" dirty="0" err="1" smtClean="0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Pos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u;    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v;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</a:t>
            </a:r>
            <a:r>
              <a:rPr lang="en-US" sz="1100" dirty="0" err="1" smtClean="0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normal;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 smtClean="0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Color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</a:t>
            </a:r>
            <a:endParaRPr lang="en-US" sz="1100" dirty="0"/>
          </a:p>
        </p:txBody>
      </p:sp>
      <p:sp>
        <p:nvSpPr>
          <p:cNvPr id="6" name="TextBox 5"/>
          <p:cNvSpPr txBox="1"/>
          <p:nvPr/>
        </p:nvSpPr>
        <p:spPr>
          <a:xfrm>
            <a:off x="228600" y="4953000"/>
            <a:ext cx="3124200" cy="1191816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lvl="0" algn="ctr">
              <a:buClr>
                <a:prstClr val="black"/>
              </a:buClr>
              <a:buSzPct val="76000"/>
            </a:pPr>
            <a:r>
              <a:rPr lang="en-US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Alignment requires hidden 8 bytes of padding. Also, we could argue that we don’t need the 4</a:t>
            </a:r>
            <a:r>
              <a:rPr lang="en-US" sz="1600" baseline="30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value for </a:t>
            </a:r>
            <a:r>
              <a:rPr lang="en-US" sz="16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Pos</a:t>
            </a:r>
            <a:r>
              <a:rPr lang="en-US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, Normal and Color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74901"/>
            <a:ext cx="1954381" cy="33085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100" dirty="0" err="1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VertexStride_VUN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x; </a:t>
            </a:r>
            <a:endParaRPr lang="en-US" sz="11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float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y;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z;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s-ES" sz="1100" dirty="0" smtClean="0">
                <a:solidFill>
                  <a:srgbClr val="0000FF"/>
                </a:solidFill>
                <a:latin typeface="Consolas"/>
              </a:rPr>
              <a:t>  </a:t>
            </a:r>
            <a:r>
              <a:rPr lang="es-ES" sz="1100" dirty="0" err="1" smtClean="0">
                <a:solidFill>
                  <a:srgbClr val="0000FF"/>
                </a:solidFill>
                <a:latin typeface="Consolas"/>
              </a:rPr>
              <a:t>float</a:t>
            </a:r>
            <a:r>
              <a:rPr lang="es-E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s-ES" sz="1100" dirty="0">
                <a:solidFill>
                  <a:srgbClr val="000000"/>
                </a:solidFill>
                <a:latin typeface="Consolas"/>
              </a:rPr>
              <a:t>u; </a:t>
            </a:r>
            <a:endParaRPr lang="es-ES" sz="1100" dirty="0" smtClean="0">
              <a:solidFill>
                <a:srgbClr val="000000"/>
              </a:solidFill>
              <a:latin typeface="Consolas"/>
            </a:endParaRPr>
          </a:p>
          <a:p>
            <a:r>
              <a:rPr lang="es-E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s-E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float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v;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meshnum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;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nl-NL" sz="1100" dirty="0" smtClean="0">
                <a:solidFill>
                  <a:srgbClr val="0000FF"/>
                </a:solidFill>
                <a:latin typeface="Consolas"/>
              </a:rPr>
              <a:t>  float</a:t>
            </a:r>
            <a:r>
              <a:rPr lang="nl-NL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nl-NL" sz="1100" dirty="0">
                <a:solidFill>
                  <a:srgbClr val="000000"/>
                </a:solidFill>
                <a:latin typeface="Consolas"/>
              </a:rPr>
              <a:t>nx; 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ny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nz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r;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g;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b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</a:t>
            </a:r>
            <a:endParaRPr lang="en-US" sz="1100" dirty="0"/>
          </a:p>
        </p:txBody>
      </p:sp>
      <p:sp>
        <p:nvSpPr>
          <p:cNvPr id="8" name="TextBox 7"/>
          <p:cNvSpPr txBox="1"/>
          <p:nvPr/>
        </p:nvSpPr>
        <p:spPr>
          <a:xfrm>
            <a:off x="6422472" y="2727915"/>
            <a:ext cx="2368236" cy="646986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lvl="0" algn="ctr">
              <a:buClr>
                <a:prstClr val="black"/>
              </a:buClr>
              <a:buSzPct val="76000"/>
            </a:pPr>
            <a:r>
              <a:rPr lang="en-US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Azul’s vertex format is more efficient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2580239" y="3422210"/>
            <a:ext cx="4049161" cy="1037365"/>
            <a:chOff x="2580239" y="3422210"/>
            <a:chExt cx="4049161" cy="1037365"/>
          </a:xfrm>
        </p:grpSpPr>
        <p:sp>
          <p:nvSpPr>
            <p:cNvPr id="9" name="TextBox 8"/>
            <p:cNvSpPr txBox="1"/>
            <p:nvPr/>
          </p:nvSpPr>
          <p:spPr>
            <a:xfrm>
              <a:off x="3919019" y="3540174"/>
              <a:ext cx="2016082" cy="919401"/>
            </a:xfrm>
            <a:prstGeom prst="roundRect">
              <a:avLst/>
            </a:prstGeom>
            <a:solidFill>
              <a:srgbClr val="FFFF66"/>
            </a:solidFill>
            <a:ln w="25400">
              <a:solidFill>
                <a:srgbClr val="FF0000"/>
              </a:solidFill>
            </a:ln>
          </p:spPr>
          <p:txBody>
            <a:bodyPr wrap="square" tIns="45720" bIns="45720" rtlCol="0">
              <a:spAutoFit/>
            </a:bodyPr>
            <a:lstStyle/>
            <a:p>
              <a:pPr lvl="0" algn="ctr">
                <a:buClr>
                  <a:prstClr val="black"/>
                </a:buClr>
                <a:buSzPct val="76000"/>
              </a:pPr>
              <a:r>
                <a:rPr lang="en-US" sz="1600" dirty="0" smtClean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We need to convert an array of  these</a:t>
              </a:r>
              <a:r>
                <a:rPr lang="en-US" sz="1600" dirty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1600" dirty="0" smtClean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into an </a:t>
              </a:r>
              <a:r>
                <a:rPr lang="en-US" sz="1600" dirty="0" err="1" smtClean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aray</a:t>
              </a:r>
              <a:r>
                <a:rPr lang="en-US" sz="1600" dirty="0" smtClean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 of these</a:t>
              </a:r>
            </a:p>
          </p:txBody>
        </p:sp>
        <p:cxnSp>
          <p:nvCxnSpPr>
            <p:cNvPr id="10" name="Elbow Connector 9"/>
            <p:cNvCxnSpPr/>
            <p:nvPr/>
          </p:nvCxnSpPr>
          <p:spPr>
            <a:xfrm flipV="1">
              <a:off x="5685576" y="3540175"/>
              <a:ext cx="943824" cy="479564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Elbow Connector 13"/>
            <p:cNvCxnSpPr/>
            <p:nvPr/>
          </p:nvCxnSpPr>
          <p:spPr>
            <a:xfrm rot="10800000">
              <a:off x="2580239" y="3422210"/>
              <a:ext cx="3106187" cy="921190"/>
            </a:xfrm>
            <a:prstGeom prst="bentConnector3">
              <a:avLst>
                <a:gd name="adj1" fmla="val 71772"/>
              </a:avLst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/>
          <p:cNvSpPr txBox="1"/>
          <p:nvPr/>
        </p:nvSpPr>
        <p:spPr>
          <a:xfrm>
            <a:off x="8077200" y="4737228"/>
            <a:ext cx="964607" cy="578882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lvl="0" algn="ctr">
              <a:buClr>
                <a:prstClr val="black"/>
              </a:buClr>
              <a:buSzPct val="76000"/>
            </a:pPr>
            <a:r>
              <a:rPr lang="en-US" sz="1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Not used for now</a:t>
            </a:r>
          </a:p>
        </p:txBody>
      </p:sp>
    </p:spTree>
    <p:extLst>
      <p:ext uri="{BB962C8B-B14F-4D97-AF65-F5344CB8AC3E}">
        <p14:creationId xmlns:p14="http://schemas.microsoft.com/office/powerpoint/2010/main" val="2500449651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  <p:bldP spid="6" grpId="0" animBg="1"/>
      <p:bldP spid="7" grpId="0" animBg="1"/>
      <p:bldP spid="8" grpId="0" animBg="1"/>
      <p:bldP spid="2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Fixing This On-The-Fly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We should probably change our Standard Vertex to be better packed (and next year I will definitely do so) but in the mean time, we’ll cheat our way out:</a:t>
            </a:r>
          </a:p>
          <a:p>
            <a:pPr marL="0" indent="0">
              <a:buNone/>
            </a:pPr>
            <a:endParaRPr lang="en-US" sz="2000" dirty="0"/>
          </a:p>
          <a:p>
            <a:pPr marL="230188" indent="-230188"/>
            <a:r>
              <a:rPr lang="en-US" sz="1800" dirty="0" smtClean="0"/>
              <a:t>Load data into a temp array of the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 </a:t>
            </a:r>
            <a:r>
              <a:rPr lang="en-US" sz="1800" dirty="0" smtClean="0"/>
              <a:t>   proper </a:t>
            </a:r>
            <a:r>
              <a:rPr lang="en-US" sz="1800" dirty="0" smtClean="0"/>
              <a:t>type for AZUL</a:t>
            </a:r>
            <a:endParaRPr lang="en-US" sz="1800" dirty="0" smtClean="0"/>
          </a:p>
          <a:p>
            <a:pPr marL="230188" indent="-230188"/>
            <a:r>
              <a:rPr lang="en-US" sz="1800" dirty="0" smtClean="0"/>
              <a:t>Loop through the array and copy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 </a:t>
            </a:r>
            <a:r>
              <a:rPr lang="en-US" sz="1800" dirty="0" smtClean="0"/>
              <a:t>   the data into a new array of the right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/>
              <a:t> </a:t>
            </a:r>
            <a:r>
              <a:rPr lang="en-US" sz="1800" dirty="0" smtClean="0"/>
              <a:t>   </a:t>
            </a:r>
            <a:r>
              <a:rPr lang="en-US" sz="1800" dirty="0" smtClean="0"/>
              <a:t>format for us.</a:t>
            </a:r>
            <a:endParaRPr lang="en-US" sz="1800" dirty="0" smtClean="0"/>
          </a:p>
          <a:p>
            <a:endParaRPr lang="en-US" sz="1600" dirty="0"/>
          </a:p>
        </p:txBody>
      </p:sp>
      <p:sp>
        <p:nvSpPr>
          <p:cNvPr id="5" name="TextBox 4"/>
          <p:cNvSpPr txBox="1"/>
          <p:nvPr/>
        </p:nvSpPr>
        <p:spPr>
          <a:xfrm>
            <a:off x="4208443" y="1905000"/>
            <a:ext cx="10802957" cy="500136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Model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privLoadDataFromFile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char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*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_</a:t>
            </a:r>
            <a:r>
              <a:rPr lang="en-US" sz="1100" dirty="0" err="1">
                <a:solidFill>
                  <a:srgbClr val="808080"/>
                </a:solidFill>
                <a:latin typeface="Consolas"/>
              </a:rPr>
              <a:t>modelName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StandardVertex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*&amp; </a:t>
            </a:r>
            <a:r>
              <a:rPr lang="en-US" sz="1100" dirty="0" err="1">
                <a:solidFill>
                  <a:srgbClr val="808080"/>
                </a:solidFill>
                <a:latin typeface="Consolas"/>
              </a:rPr>
              <a:t>pVerts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&amp; </a:t>
            </a:r>
            <a:r>
              <a:rPr lang="en-US" sz="1100" dirty="0" err="1">
                <a:solidFill>
                  <a:srgbClr val="808080"/>
                </a:solidFill>
                <a:latin typeface="Consolas"/>
              </a:rPr>
              <a:t>nverts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TriangleByIndex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*&amp; </a:t>
            </a:r>
            <a:r>
              <a:rPr lang="en-US" sz="1100" dirty="0" err="1">
                <a:solidFill>
                  <a:srgbClr val="808080"/>
                </a:solidFill>
                <a:latin typeface="Consolas"/>
              </a:rPr>
              <a:t>ptlist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&amp; </a:t>
            </a:r>
            <a:r>
              <a:rPr lang="en-US" sz="1100" dirty="0" err="1">
                <a:solidFill>
                  <a:srgbClr val="808080"/>
                </a:solidFill>
                <a:latin typeface="Consolas"/>
              </a:rPr>
              <a:t>ntri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// Get the file format for the data</a:t>
            </a:r>
            <a:endParaRPr lang="en-US" sz="11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</a:t>
            </a:r>
            <a:r>
              <a:rPr lang="en-US" sz="1100" dirty="0" err="1" smtClean="0">
                <a:solidFill>
                  <a:srgbClr val="2B91AF"/>
                </a:solidFill>
                <a:latin typeface="Consolas"/>
              </a:rPr>
              <a:t>AzulFileHdr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azulFileHdr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;</a:t>
            </a:r>
          </a:p>
          <a:p>
            <a:endParaRPr lang="en-US" sz="11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&lt;…&gt;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 smtClean="0">
                <a:solidFill>
                  <a:srgbClr val="2B91AF"/>
                </a:solidFill>
                <a:latin typeface="Consolas"/>
              </a:rPr>
              <a:t>VertexStride_VUN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{…}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//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create the vertex buffer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808080"/>
                </a:solidFill>
                <a:latin typeface="Consolas"/>
              </a:rPr>
              <a:t>  </a:t>
            </a:r>
            <a:r>
              <a:rPr lang="en-US" sz="1100" dirty="0" err="1" smtClean="0">
                <a:solidFill>
                  <a:srgbClr val="808080"/>
                </a:solidFill>
                <a:latin typeface="Consolas"/>
              </a:rPr>
              <a:t>nverts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azulFileHdr.numVerts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</a:t>
            </a:r>
            <a:r>
              <a:rPr lang="en-US" sz="1100" dirty="0" err="1" smtClean="0">
                <a:solidFill>
                  <a:srgbClr val="2B91AF"/>
                </a:solidFill>
                <a:latin typeface="Consolas"/>
              </a:rPr>
              <a:t>VertexStride_VUN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pTmpVerts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new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VertexStride_VUN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100" dirty="0" err="1">
                <a:solidFill>
                  <a:srgbClr val="808080"/>
                </a:solidFill>
                <a:latin typeface="Consolas"/>
              </a:rPr>
              <a:t>nverts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];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//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load the verts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&lt;…&gt;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 //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**** Overly complicated detour Part 2: now we copy the vertex data into our </a:t>
            </a:r>
            <a:r>
              <a:rPr lang="en-US" sz="1100" dirty="0" err="1">
                <a:solidFill>
                  <a:srgbClr val="008000"/>
                </a:solidFill>
                <a:latin typeface="Consolas"/>
              </a:rPr>
              <a:t>StandardVertex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808080"/>
                </a:solidFill>
                <a:latin typeface="Consolas"/>
              </a:rPr>
              <a:t>  </a:t>
            </a:r>
            <a:r>
              <a:rPr lang="en-US" sz="1100" dirty="0" err="1" smtClean="0">
                <a:solidFill>
                  <a:srgbClr val="808080"/>
                </a:solidFill>
                <a:latin typeface="Consolas"/>
              </a:rPr>
              <a:t>pVerts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new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StandardVertex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100" dirty="0" err="1">
                <a:solidFill>
                  <a:srgbClr val="808080"/>
                </a:solidFill>
                <a:latin typeface="Consolas"/>
              </a:rPr>
              <a:t>nverts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];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</a:t>
            </a:r>
            <a:r>
              <a:rPr lang="en-US" sz="1100" dirty="0" err="1" smtClean="0">
                <a:solidFill>
                  <a:srgbClr val="2B91AF"/>
                </a:solidFill>
                <a:latin typeface="Consolas"/>
              </a:rPr>
              <a:t>StandardVertex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v;</a:t>
            </a:r>
          </a:p>
          <a:p>
            <a:r>
              <a:rPr lang="en-US" sz="1100" dirty="0" smtClean="0">
                <a:solidFill>
                  <a:srgbClr val="2B91AF"/>
                </a:solidFill>
                <a:latin typeface="Consolas"/>
              </a:rPr>
              <a:t>  </a:t>
            </a:r>
            <a:r>
              <a:rPr lang="en-US" sz="1100" dirty="0" err="1" smtClean="0">
                <a:solidFill>
                  <a:srgbClr val="2B91AF"/>
                </a:solidFill>
                <a:latin typeface="Consolas"/>
              </a:rPr>
              <a:t>VertexStride_VUN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tmp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nn-NO" sz="1100" dirty="0" smtClean="0">
                <a:solidFill>
                  <a:srgbClr val="0000FF"/>
                </a:solidFill>
                <a:latin typeface="Consolas"/>
              </a:rPr>
              <a:t>  for</a:t>
            </a:r>
            <a:r>
              <a:rPr lang="nn-NO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nn-NO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nn-NO" sz="1100" dirty="0">
                <a:solidFill>
                  <a:srgbClr val="0000FF"/>
                </a:solidFill>
                <a:latin typeface="Consolas"/>
              </a:rPr>
              <a:t>int</a:t>
            </a:r>
            <a:r>
              <a:rPr lang="nn-NO" sz="1100" dirty="0">
                <a:solidFill>
                  <a:srgbClr val="000000"/>
                </a:solidFill>
                <a:latin typeface="Consolas"/>
              </a:rPr>
              <a:t> i = 0; i &lt; </a:t>
            </a:r>
            <a:r>
              <a:rPr lang="nn-NO" sz="1100" dirty="0">
                <a:solidFill>
                  <a:srgbClr val="808080"/>
                </a:solidFill>
                <a:latin typeface="Consolas"/>
              </a:rPr>
              <a:t>nverts</a:t>
            </a:r>
            <a:r>
              <a:rPr lang="nn-NO" sz="1100" dirty="0">
                <a:solidFill>
                  <a:srgbClr val="000000"/>
                </a:solidFill>
                <a:latin typeface="Consolas"/>
              </a:rPr>
              <a:t>; i++)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{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tmp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 &amp;(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pTmpVerts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]);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v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= &amp;(</a:t>
            </a:r>
            <a:r>
              <a:rPr lang="en-US" sz="1100" dirty="0" err="1">
                <a:solidFill>
                  <a:srgbClr val="808080"/>
                </a:solidFill>
                <a:latin typeface="Consolas"/>
              </a:rPr>
              <a:t>pVerts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i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]);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  v-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&gt;set(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tmp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-&gt;x,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tmp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-&gt;y,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tmp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-&gt;z,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tmp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-&gt;u,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tmp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-&gt;v,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tmp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-&gt;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nx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tmp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-&gt;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ny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tmp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-&gt;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nz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tmp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-&gt;r,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tmp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-&gt;g,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tmp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-&gt;b);</a:t>
            </a: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 }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delete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[]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pTmpVerts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  <a:endParaRPr lang="en-US" sz="11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}</a:t>
            </a:r>
            <a:endParaRPr lang="en-US" sz="1100" dirty="0"/>
          </a:p>
        </p:txBody>
      </p:sp>
      <p:sp>
        <p:nvSpPr>
          <p:cNvPr id="6" name="TextBox 5"/>
          <p:cNvSpPr txBox="1"/>
          <p:nvPr/>
        </p:nvSpPr>
        <p:spPr>
          <a:xfrm>
            <a:off x="685800" y="4267200"/>
            <a:ext cx="3124200" cy="2009061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lvl="0" algn="ctr">
              <a:buClr>
                <a:prstClr val="black"/>
              </a:buClr>
              <a:buSzPct val="76000"/>
            </a:pPr>
            <a:r>
              <a:rPr lang="en-US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Sloppy? Absolutely.</a:t>
            </a:r>
          </a:p>
          <a:p>
            <a:pPr lvl="0" algn="ctr">
              <a:buClr>
                <a:prstClr val="black"/>
              </a:buClr>
              <a:buSzPct val="76000"/>
            </a:pPr>
            <a:endParaRPr lang="en-US" sz="16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ctr">
              <a:buClr>
                <a:prstClr val="black"/>
              </a:buClr>
              <a:buSzPct val="76000"/>
            </a:pPr>
            <a:r>
              <a:rPr lang="en-US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I’ll toss in a few bonus points to anyone who converts </a:t>
            </a:r>
            <a:r>
              <a:rPr lang="en-US" sz="16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StandardVertex</a:t>
            </a:r>
            <a:r>
              <a:rPr lang="en-US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to be correctly packed (and update all associated </a:t>
            </a:r>
            <a:r>
              <a:rPr lang="en-US" sz="16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shader</a:t>
            </a:r>
            <a:r>
              <a:rPr lang="en-US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6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shader</a:t>
            </a:r>
            <a:r>
              <a:rPr lang="en-US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classes, etc.)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895600"/>
            <a:ext cx="4648200" cy="1600200"/>
          </a:xfrm>
          <a:prstGeom prst="roundRect">
            <a:avLst>
              <a:gd name="adj" fmla="val 7455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4343400" y="4591050"/>
            <a:ext cx="7848600" cy="2114549"/>
          </a:xfrm>
          <a:prstGeom prst="roundRect">
            <a:avLst>
              <a:gd name="adj" fmla="val 7455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217847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  <p:bldP spid="6" grpId="0" animBg="1"/>
      <p:bldP spid="7" grpId="0" animBg="1"/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Converting from FBX to Azul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Where to get FBX models?</a:t>
            </a:r>
          </a:p>
          <a:p>
            <a:pPr marL="461963" lvl="1" indent="-188913"/>
            <a:r>
              <a:rPr lang="en-US" sz="1800" dirty="0" smtClean="0"/>
              <a:t>Make them yourself or search online (</a:t>
            </a:r>
            <a:r>
              <a:rPr lang="en-US" sz="1800" b="1" dirty="0" smtClean="0"/>
              <a:t>ex: </a:t>
            </a:r>
            <a:r>
              <a:rPr lang="en-US" sz="1800" dirty="0" smtClean="0">
                <a:hlinkClick r:id="rId2"/>
              </a:rPr>
              <a:t>3DExport Free Zelda Pack</a:t>
            </a:r>
            <a:r>
              <a:rPr lang="en-US" sz="1800" dirty="0" smtClean="0"/>
              <a:t>)</a:t>
            </a:r>
          </a:p>
          <a:p>
            <a:pPr marL="461963" lvl="1" indent="-188913"/>
            <a:endParaRPr lang="en-US" sz="1800" dirty="0"/>
          </a:p>
          <a:p>
            <a:pPr marL="0" indent="-184150">
              <a:buNone/>
            </a:pPr>
            <a:r>
              <a:rPr lang="en-US" sz="2000" dirty="0" smtClean="0"/>
              <a:t>In “Reference/FBX Converter”, you will find the executable</a:t>
            </a:r>
          </a:p>
          <a:p>
            <a:pPr marL="461963" lvl="1" indent="-188913"/>
            <a:r>
              <a:rPr lang="en-US" sz="1800" b="1" u="sng" dirty="0" smtClean="0">
                <a:solidFill>
                  <a:srgbClr val="C00000"/>
                </a:solidFill>
              </a:rPr>
              <a:t>DO NOT COPY IT!</a:t>
            </a:r>
            <a:r>
              <a:rPr lang="en-US" sz="1800" b="1" dirty="0" smtClean="0">
                <a:solidFill>
                  <a:srgbClr val="C00000"/>
                </a:solidFill>
              </a:rPr>
              <a:t> </a:t>
            </a:r>
            <a:r>
              <a:rPr lang="en-US" sz="1800" dirty="0" smtClean="0"/>
              <a:t>Work in that folder only!</a:t>
            </a:r>
          </a:p>
          <a:p>
            <a:pPr marL="461963" lvl="1" indent="-188913"/>
            <a:r>
              <a:rPr lang="en-US" sz="1800" dirty="0" smtClean="0"/>
              <a:t>Copy your </a:t>
            </a:r>
            <a:r>
              <a:rPr lang="en-US" sz="1800" dirty="0" err="1" smtClean="0"/>
              <a:t>fbx</a:t>
            </a:r>
            <a:r>
              <a:rPr lang="en-US" sz="1800" dirty="0" smtClean="0"/>
              <a:t> files in this folder and open a command window there.</a:t>
            </a:r>
          </a:p>
          <a:p>
            <a:pPr marL="461963" lvl="1" indent="-188913"/>
            <a:r>
              <a:rPr lang="en-US" sz="1800" dirty="0" smtClean="0"/>
              <a:t>Type: (piping the output to a log file </a:t>
            </a:r>
            <a:r>
              <a:rPr lang="en-US" sz="1800" i="1" dirty="0" smtClean="0"/>
              <a:t>greatly</a:t>
            </a:r>
            <a:r>
              <a:rPr lang="en-US" sz="1800" dirty="0" smtClean="0"/>
              <a:t> speeds up the conversion process)</a:t>
            </a:r>
          </a:p>
          <a:p>
            <a:pPr marL="461963" lvl="1" indent="-188913"/>
            <a:endParaRPr lang="en-US" sz="1800" dirty="0"/>
          </a:p>
          <a:p>
            <a:pPr marL="461963" lvl="1" indent="-188913"/>
            <a:endParaRPr lang="en-US" sz="800" dirty="0" smtClean="0"/>
          </a:p>
          <a:p>
            <a:pPr marL="461963" lvl="1" indent="-188913"/>
            <a:endParaRPr lang="en-US" sz="800" dirty="0" smtClean="0"/>
          </a:p>
          <a:p>
            <a:pPr marL="461963" lvl="1" indent="-188913"/>
            <a:r>
              <a:rPr lang="en-US" sz="1800" dirty="0" smtClean="0"/>
              <a:t>You now have a file </a:t>
            </a:r>
            <a:r>
              <a:rPr lang="en-US" sz="1800" dirty="0" err="1" smtClean="0"/>
              <a:t>chair.azul</a:t>
            </a:r>
            <a:r>
              <a:rPr lang="en-US" sz="1800" dirty="0" smtClean="0"/>
              <a:t> ready to be used.</a:t>
            </a:r>
          </a:p>
          <a:p>
            <a:pPr marL="461963" lvl="1" indent="-188913"/>
            <a:r>
              <a:rPr lang="en-US" sz="1800" dirty="0" smtClean="0"/>
              <a:t>Copy this .</a:t>
            </a:r>
            <a:r>
              <a:rPr lang="en-US" sz="1800" dirty="0" err="1" smtClean="0"/>
              <a:t>azul</a:t>
            </a:r>
            <a:r>
              <a:rPr lang="en-US" sz="1800" dirty="0" smtClean="0"/>
              <a:t> file into you’re the asset folder of your project.</a:t>
            </a:r>
            <a:endParaRPr lang="en-US" sz="18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669505"/>
            <a:ext cx="7086943" cy="6365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371600" y="5148977"/>
            <a:ext cx="6248400" cy="1328023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lvl="0" algn="ctr">
              <a:buClr>
                <a:prstClr val="black"/>
              </a:buClr>
              <a:buSzPct val="76000"/>
            </a:pPr>
            <a:r>
              <a:rPr lang="en-US" sz="16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DO </a:t>
            </a:r>
            <a:r>
              <a:rPr lang="en-US" sz="1600" b="1" i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NOT</a:t>
            </a:r>
            <a:r>
              <a:rPr lang="en-US" sz="1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SAVE YOUR EXPERIMENTS  ON PERFORCE!</a:t>
            </a:r>
          </a:p>
          <a:p>
            <a:pPr lvl="0" algn="ctr">
              <a:buClr>
                <a:prstClr val="black"/>
              </a:buClr>
              <a:buSzPct val="76000"/>
            </a:pPr>
            <a:endParaRPr lang="en-US" sz="800" b="1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ctr">
              <a:buClr>
                <a:prstClr val="black"/>
              </a:buClr>
              <a:buSzPct val="76000"/>
            </a:pPr>
            <a:r>
              <a:rPr lang="en-US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We have enough space problems without </a:t>
            </a:r>
            <a:r>
              <a:rPr lang="en-US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you </a:t>
            </a:r>
            <a:r>
              <a:rPr lang="en-US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guys </a:t>
            </a:r>
            <a:r>
              <a:rPr lang="en-US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dumping </a:t>
            </a:r>
            <a:r>
              <a:rPr lang="en-US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100s of MB of model/texture searches. </a:t>
            </a:r>
          </a:p>
          <a:p>
            <a:pPr lvl="0" algn="ctr">
              <a:buClr>
                <a:prstClr val="black"/>
              </a:buClr>
              <a:buSzPct val="76000"/>
            </a:pPr>
            <a:r>
              <a:rPr lang="en-US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Just keep the final .</a:t>
            </a:r>
            <a:r>
              <a:rPr lang="en-US" sz="16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azul</a:t>
            </a:r>
            <a:r>
              <a:rPr lang="en-US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files you’ve selected for </a:t>
            </a:r>
            <a:r>
              <a:rPr lang="en-US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your </a:t>
            </a:r>
            <a:r>
              <a:rPr lang="en-US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project</a:t>
            </a:r>
          </a:p>
        </p:txBody>
      </p:sp>
    </p:spTree>
    <p:extLst>
      <p:ext uri="{BB962C8B-B14F-4D97-AF65-F5344CB8AC3E}">
        <p14:creationId xmlns:p14="http://schemas.microsoft.com/office/powerpoint/2010/main" val="3803596567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Converter Limitations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This is an in-house converter with some serious limitation. YMMV…</a:t>
            </a:r>
          </a:p>
          <a:p>
            <a:pPr marL="457200" lvl="1" indent="-228600"/>
            <a:r>
              <a:rPr lang="en-US" sz="1800" dirty="0" smtClean="0"/>
              <a:t>It should work for simple models </a:t>
            </a:r>
            <a:r>
              <a:rPr lang="en-US" sz="1800" i="1" u="sng" dirty="0" smtClean="0"/>
              <a:t>without</a:t>
            </a:r>
            <a:r>
              <a:rPr lang="en-US" sz="1800" dirty="0" smtClean="0"/>
              <a:t> skin, animation, bones, etc.</a:t>
            </a:r>
          </a:p>
          <a:p>
            <a:pPr marL="457200" lvl="1" indent="-228600"/>
            <a:r>
              <a:rPr lang="en-US" sz="1800" dirty="0" smtClean="0"/>
              <a:t>Many details are up to the artist: </a:t>
            </a:r>
          </a:p>
          <a:p>
            <a:pPr marL="681038" lvl="2" indent="0">
              <a:buNone/>
            </a:pPr>
            <a:r>
              <a:rPr lang="en-US" sz="1600" b="1" dirty="0" smtClean="0"/>
              <a:t>Ex:</a:t>
            </a:r>
            <a:r>
              <a:rPr lang="en-US" sz="1600" dirty="0" smtClean="0"/>
              <a:t> </a:t>
            </a:r>
            <a:r>
              <a:rPr lang="en-US" sz="1600" dirty="0" err="1" smtClean="0"/>
              <a:t>chest.azul</a:t>
            </a:r>
            <a:r>
              <a:rPr lang="en-US" sz="1600" dirty="0" smtClean="0"/>
              <a:t> points upwards, </a:t>
            </a:r>
            <a:r>
              <a:rPr lang="en-US" sz="1600" dirty="0" err="1" smtClean="0"/>
              <a:t>chair.azul</a:t>
            </a:r>
            <a:r>
              <a:rPr lang="en-US" sz="1600" dirty="0" smtClean="0"/>
              <a:t> is… not right…</a:t>
            </a:r>
          </a:p>
          <a:p>
            <a:pPr marL="685800" lvl="2" indent="0">
              <a:buNone/>
            </a:pPr>
            <a:r>
              <a:rPr lang="en-US" sz="1600" i="1" dirty="0" smtClean="0"/>
              <a:t>In a real game setting, these models would need to be realigned and rescaled properly to match our engine’s standards for ‘forward’ and scale</a:t>
            </a:r>
            <a:r>
              <a:rPr lang="en-US" i="1" dirty="0" smtClean="0"/>
              <a:t>.</a:t>
            </a:r>
          </a:p>
          <a:p>
            <a:pPr marL="457200" lvl="1" indent="-228600"/>
            <a:r>
              <a:rPr lang="en-US" sz="1800" dirty="0" smtClean="0"/>
              <a:t>Texture </a:t>
            </a:r>
            <a:r>
              <a:rPr lang="en-US" sz="1800" dirty="0" err="1" smtClean="0"/>
              <a:t>uv</a:t>
            </a:r>
            <a:r>
              <a:rPr lang="en-US" sz="1800" dirty="0" smtClean="0"/>
              <a:t> vary for different environments. DX has </a:t>
            </a:r>
            <a:r>
              <a:rPr lang="en-US" sz="1800" dirty="0" err="1" smtClean="0"/>
              <a:t>uv’s</a:t>
            </a:r>
            <a:r>
              <a:rPr lang="en-US" sz="1800" dirty="0" smtClean="0"/>
              <a:t> 0,0 in the upper left but other environments has it in lower left. </a:t>
            </a:r>
          </a:p>
          <a:p>
            <a:pPr marL="685800" lvl="2" indent="0">
              <a:buNone/>
            </a:pPr>
            <a:r>
              <a:rPr lang="en-US" sz="1600" i="1" dirty="0" smtClean="0"/>
              <a:t>You may need to flip the textures vertically to have the </a:t>
            </a:r>
            <a:r>
              <a:rPr lang="en-US" sz="1600" i="1" dirty="0" err="1" smtClean="0"/>
              <a:t>uv</a:t>
            </a:r>
            <a:r>
              <a:rPr lang="en-US" sz="1600" i="1" dirty="0" smtClean="0"/>
              <a:t> line-up correctly (I had to do it for </a:t>
            </a:r>
            <a:r>
              <a:rPr lang="en-US" sz="1600" i="1" dirty="0" err="1" smtClean="0"/>
              <a:t>chest.tga</a:t>
            </a:r>
            <a:r>
              <a:rPr lang="en-US" sz="1600" i="1" dirty="0" smtClean="0"/>
              <a:t>)</a:t>
            </a:r>
          </a:p>
          <a:p>
            <a:pPr marL="457200" lvl="1" indent="-228600"/>
            <a:r>
              <a:rPr lang="en-US" sz="1800" b="1" u="sng" dirty="0" smtClean="0"/>
              <a:t>BEWARE OF TEXTURE SIZE!</a:t>
            </a:r>
            <a:r>
              <a:rPr lang="en-US" sz="1800" b="1" dirty="0" smtClean="0"/>
              <a:t> </a:t>
            </a:r>
            <a:r>
              <a:rPr lang="en-US" sz="1800" dirty="0" smtClean="0"/>
              <a:t>The original chest texture was 2048x2048 (5MB)! That is insane for our purpose! Please resize those textures to no more than 512x512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5176599"/>
            <a:ext cx="4572000" cy="919401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lvl="0" algn="ctr">
              <a:buClr>
                <a:prstClr val="black"/>
              </a:buClr>
              <a:buSzPct val="76000"/>
            </a:pPr>
            <a:r>
              <a:rPr lang="en-US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Beggars can’t be choosers. The converter is all we have right now to get models in </a:t>
            </a:r>
            <a:r>
              <a:rPr lang="en-US" sz="16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azul</a:t>
            </a:r>
            <a:r>
              <a:rPr lang="en-US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format. </a:t>
            </a:r>
            <a:endParaRPr lang="en-US" sz="1600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ctr">
              <a:buClr>
                <a:prstClr val="black"/>
              </a:buClr>
              <a:buSzPct val="76000"/>
            </a:pPr>
            <a:r>
              <a:rPr lang="en-US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Work </a:t>
            </a:r>
            <a:r>
              <a:rPr lang="en-US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within its limitations </a:t>
            </a:r>
          </a:p>
        </p:txBody>
      </p:sp>
    </p:spTree>
    <p:extLst>
      <p:ext uri="{BB962C8B-B14F-4D97-AF65-F5344CB8AC3E}">
        <p14:creationId xmlns:p14="http://schemas.microsoft.com/office/powerpoint/2010/main" val="3852965033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Part </a:t>
            </a:r>
            <a:r>
              <a:rPr lang="en-US" dirty="0" smtClean="0"/>
              <a:t>IV:</a:t>
            </a:r>
            <a:endParaRPr lang="en-US" dirty="0" smtClean="0"/>
          </a:p>
          <a:p>
            <a:r>
              <a:rPr lang="en-US" dirty="0" smtClean="0"/>
              <a:t>Models in Multiple Meshes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761462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Models In Parts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Performance-wise, it is best to have each model as a single mesh, using a single texture and having a single set of light properties:</a:t>
            </a:r>
          </a:p>
          <a:p>
            <a:pPr marL="457200" lvl="1" indent="0">
              <a:buNone/>
            </a:pPr>
            <a:r>
              <a:rPr lang="en-US" sz="1800" i="1" dirty="0" smtClean="0"/>
              <a:t>Old-school game engines had it easy…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2000" dirty="0" smtClean="0"/>
              <a:t>However, as soon as we introduce more complex </a:t>
            </a:r>
            <a:r>
              <a:rPr lang="en-US" sz="2000" dirty="0" err="1" smtClean="0"/>
              <a:t>shader</a:t>
            </a:r>
            <a:r>
              <a:rPr lang="en-US" sz="2000" dirty="0" smtClean="0"/>
              <a:t> effects, things get more complicated:</a:t>
            </a:r>
          </a:p>
          <a:p>
            <a:pPr marL="457200" lvl="1" indent="0">
              <a:buNone/>
            </a:pPr>
            <a:r>
              <a:rPr lang="en-US" sz="1800" b="1" i="1" dirty="0" smtClean="0"/>
              <a:t>Ex: </a:t>
            </a:r>
            <a:r>
              <a:rPr lang="en-US" sz="1800" i="1" dirty="0" smtClean="0"/>
              <a:t>Different parts have different material 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800" i="1" dirty="0" smtClean="0"/>
              <a:t>values for light. </a:t>
            </a:r>
          </a:p>
          <a:p>
            <a:pPr marL="0" indent="0">
              <a:buNone/>
            </a:pPr>
            <a:endParaRPr lang="en-US" sz="2200" i="1" dirty="0" smtClean="0"/>
          </a:p>
          <a:p>
            <a:pPr marL="0" indent="0">
              <a:buNone/>
            </a:pPr>
            <a:endParaRPr lang="en-US" sz="800" i="1" dirty="0" smtClean="0"/>
          </a:p>
          <a:p>
            <a:pPr marL="0" indent="0">
              <a:buNone/>
            </a:pPr>
            <a:r>
              <a:rPr lang="en-US" sz="2000" dirty="0" smtClean="0"/>
              <a:t>We need a way to manage models composed of multiple parts.</a:t>
            </a:r>
          </a:p>
          <a:p>
            <a:pPr marL="0" indent="0">
              <a:buNone/>
            </a:pPr>
            <a:r>
              <a:rPr lang="en-US" sz="2000" dirty="0" smtClean="0"/>
              <a:t>This is where </a:t>
            </a:r>
            <a:r>
              <a:rPr lang="en-US" sz="2000" i="1" u="sng" dirty="0" smtClean="0"/>
              <a:t>Meshes</a:t>
            </a:r>
            <a:r>
              <a:rPr lang="en-US" sz="2000" dirty="0" smtClean="0"/>
              <a:t> come in.</a:t>
            </a:r>
            <a:endParaRPr lang="en-US" sz="20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094" y="1600200"/>
            <a:ext cx="1915940" cy="1227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0294" y="1600200"/>
            <a:ext cx="1227506" cy="1227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0294" y="3223193"/>
            <a:ext cx="1227506" cy="1267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45000" contrast="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6850" y="3223193"/>
            <a:ext cx="2798184" cy="1267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7" name="Group 16"/>
          <p:cNvGrpSpPr/>
          <p:nvPr/>
        </p:nvGrpSpPr>
        <p:grpSpPr>
          <a:xfrm>
            <a:off x="6592519" y="4029075"/>
            <a:ext cx="2009775" cy="470030"/>
            <a:chOff x="6448425" y="4029075"/>
            <a:chExt cx="2009775" cy="470030"/>
          </a:xfrm>
        </p:grpSpPr>
        <p:sp>
          <p:nvSpPr>
            <p:cNvPr id="9" name="TextBox 8"/>
            <p:cNvSpPr txBox="1"/>
            <p:nvPr/>
          </p:nvSpPr>
          <p:spPr>
            <a:xfrm>
              <a:off x="7084450" y="4260742"/>
              <a:ext cx="554110" cy="238363"/>
            </a:xfrm>
            <a:prstGeom prst="roundRect">
              <a:avLst/>
            </a:prstGeom>
            <a:solidFill>
              <a:srgbClr val="FFFF66"/>
            </a:solidFill>
            <a:ln w="25400">
              <a:solidFill>
                <a:srgbClr val="FF0000"/>
              </a:solidFill>
            </a:ln>
          </p:spPr>
          <p:txBody>
            <a:bodyPr wrap="square" lIns="0" tIns="0" rIns="0" bIns="0" rtlCol="0">
              <a:spAutoFit/>
            </a:bodyPr>
            <a:lstStyle/>
            <a:p>
              <a:pPr lvl="0" algn="ctr">
                <a:buClr>
                  <a:prstClr val="black"/>
                </a:buClr>
                <a:buSzPct val="76000"/>
              </a:pPr>
              <a:r>
                <a:rPr lang="en-US" sz="1400" dirty="0" smtClean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Shiny</a:t>
              </a:r>
            </a:p>
          </p:txBody>
        </p:sp>
        <p:cxnSp>
          <p:nvCxnSpPr>
            <p:cNvPr id="11" name="Elbow Connector 10"/>
            <p:cNvCxnSpPr>
              <a:stCxn id="9" idx="1"/>
            </p:cNvCxnSpPr>
            <p:nvPr/>
          </p:nvCxnSpPr>
          <p:spPr>
            <a:xfrm flipH="1" flipV="1">
              <a:off x="6448425" y="4029075"/>
              <a:ext cx="636025" cy="350849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Elbow Connector 10"/>
            <p:cNvCxnSpPr>
              <a:stCxn id="9" idx="3"/>
            </p:cNvCxnSpPr>
            <p:nvPr/>
          </p:nvCxnSpPr>
          <p:spPr>
            <a:xfrm flipV="1">
              <a:off x="7638560" y="4135444"/>
              <a:ext cx="819640" cy="244480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>
            <a:off x="5749557" y="3241275"/>
            <a:ext cx="2538412" cy="454425"/>
            <a:chOff x="5638801" y="4260742"/>
            <a:chExt cx="2538412" cy="454425"/>
          </a:xfrm>
        </p:grpSpPr>
        <p:sp>
          <p:nvSpPr>
            <p:cNvPr id="19" name="TextBox 18"/>
            <p:cNvSpPr txBox="1"/>
            <p:nvPr/>
          </p:nvSpPr>
          <p:spPr>
            <a:xfrm>
              <a:off x="7015163" y="4260742"/>
              <a:ext cx="761999" cy="238363"/>
            </a:xfrm>
            <a:prstGeom prst="roundRect">
              <a:avLst/>
            </a:prstGeom>
            <a:solidFill>
              <a:srgbClr val="FFFF66"/>
            </a:solidFill>
            <a:ln w="25400">
              <a:solidFill>
                <a:srgbClr val="FF0000"/>
              </a:solidFill>
            </a:ln>
          </p:spPr>
          <p:txBody>
            <a:bodyPr wrap="square" lIns="0" tIns="0" rIns="0" bIns="0" rtlCol="0">
              <a:spAutoFit/>
            </a:bodyPr>
            <a:lstStyle/>
            <a:p>
              <a:pPr lvl="0" algn="ctr">
                <a:buClr>
                  <a:prstClr val="black"/>
                </a:buClr>
                <a:buSzPct val="76000"/>
              </a:pPr>
              <a:r>
                <a:rPr lang="en-US" sz="1400" dirty="0" smtClean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Not shiny</a:t>
              </a:r>
            </a:p>
          </p:txBody>
        </p:sp>
        <p:cxnSp>
          <p:nvCxnSpPr>
            <p:cNvPr id="20" name="Elbow Connector 10"/>
            <p:cNvCxnSpPr>
              <a:stCxn id="19" idx="1"/>
            </p:cNvCxnSpPr>
            <p:nvPr/>
          </p:nvCxnSpPr>
          <p:spPr>
            <a:xfrm flipH="1">
              <a:off x="5638801" y="4379924"/>
              <a:ext cx="1376362" cy="320956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Elbow Connector 10"/>
            <p:cNvCxnSpPr>
              <a:stCxn id="19" idx="3"/>
            </p:cNvCxnSpPr>
            <p:nvPr/>
          </p:nvCxnSpPr>
          <p:spPr>
            <a:xfrm>
              <a:off x="7777162" y="4379924"/>
              <a:ext cx="400051" cy="335243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6119068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Meshes and </a:t>
            </a:r>
            <a:br>
              <a:rPr lang="en-US" dirty="0" smtClean="0"/>
            </a:br>
            <a:r>
              <a:rPr lang="en-US" dirty="0" smtClean="0"/>
              <a:t>AZUL Format for Vertices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The converter identifies meshes based on textures:</a:t>
            </a:r>
          </a:p>
          <a:p>
            <a:pPr marL="457200" lvl="1" indent="-184150"/>
            <a:r>
              <a:rPr lang="en-US" sz="1800" dirty="0" smtClean="0"/>
              <a:t>All vertices assigned to a specific texture are considered part of the same mesh</a:t>
            </a:r>
          </a:p>
          <a:p>
            <a:pPr marL="457200" lvl="1" indent="-184150"/>
            <a:r>
              <a:rPr lang="en-US" sz="1800" dirty="0"/>
              <a:t>The converter assumes </a:t>
            </a:r>
            <a:r>
              <a:rPr lang="en-US" sz="1800" dirty="0" smtClean="0"/>
              <a:t>that no vertex will ever be used for two distinct textures</a:t>
            </a:r>
          </a:p>
          <a:p>
            <a:pPr marL="457200" lvl="1" indent="-184150"/>
            <a:r>
              <a:rPr lang="en-US" sz="1800" dirty="0" smtClean="0"/>
              <a:t>For technical reasons, the converter can only manage up to 4 meshes per model</a:t>
            </a:r>
          </a:p>
          <a:p>
            <a:pPr marL="273050" lvl="1" indent="0">
              <a:buNone/>
            </a:pPr>
            <a:r>
              <a:rPr lang="en-US" sz="1800" i="1" dirty="0" smtClean="0"/>
              <a:t>This isn’t a perfect system, but it’ll serve us for now</a:t>
            </a:r>
          </a:p>
          <a:p>
            <a:pPr marL="0" indent="0">
              <a:buNone/>
            </a:pPr>
            <a:endParaRPr lang="en-US" sz="1800" dirty="0" smtClean="0"/>
          </a:p>
          <a:p>
            <a:pPr marL="0" indent="0">
              <a:buNone/>
            </a:pPr>
            <a:r>
              <a:rPr lang="en-US" sz="2000" dirty="0" smtClean="0"/>
              <a:t>Recall the vertex format used in AZUL files:</a:t>
            </a:r>
          </a:p>
          <a:p>
            <a:pPr marL="457200" lvl="1" indent="-184150"/>
            <a:r>
              <a:rPr lang="en-US" sz="1800" dirty="0" smtClean="0"/>
              <a:t>The ‘</a:t>
            </a:r>
            <a:r>
              <a:rPr lang="en-US" sz="1800" dirty="0" err="1" smtClean="0"/>
              <a:t>meshnum</a:t>
            </a:r>
            <a:r>
              <a:rPr lang="en-US" sz="1800" dirty="0" smtClean="0"/>
              <a:t>’ value encodes the mesh for this vertex</a:t>
            </a:r>
          </a:p>
          <a:p>
            <a:pPr marL="457200" lvl="1" indent="-184150"/>
            <a:r>
              <a:rPr lang="en-US" sz="1800" dirty="0" smtClean="0"/>
              <a:t>(it’s a float only for </a:t>
            </a:r>
            <a:r>
              <a:rPr lang="en-US" sz="1800" dirty="0" smtClean="0"/>
              <a:t>technical reasons in the converter)</a:t>
            </a:r>
            <a:endParaRPr lang="en-US" sz="1800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6858000" y="3133725"/>
            <a:ext cx="1954381" cy="33085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100" dirty="0" err="1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VertexStride_VUN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x; </a:t>
            </a:r>
            <a:endParaRPr lang="en-US" sz="1100" dirty="0" smtClean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float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y;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z;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s-ES" sz="1100" dirty="0" smtClean="0">
                <a:solidFill>
                  <a:srgbClr val="0000FF"/>
                </a:solidFill>
                <a:latin typeface="Consolas"/>
              </a:rPr>
              <a:t>  </a:t>
            </a:r>
            <a:r>
              <a:rPr lang="es-ES" sz="1100" dirty="0" err="1" smtClean="0">
                <a:solidFill>
                  <a:srgbClr val="0000FF"/>
                </a:solidFill>
                <a:latin typeface="Consolas"/>
              </a:rPr>
              <a:t>float</a:t>
            </a:r>
            <a:r>
              <a:rPr lang="es-E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s-ES" sz="1100" dirty="0">
                <a:solidFill>
                  <a:srgbClr val="000000"/>
                </a:solidFill>
                <a:latin typeface="Consolas"/>
              </a:rPr>
              <a:t>u; </a:t>
            </a:r>
            <a:endParaRPr lang="es-ES" sz="1100" dirty="0" smtClean="0">
              <a:solidFill>
                <a:srgbClr val="000000"/>
              </a:solidFill>
              <a:latin typeface="Consolas"/>
            </a:endParaRPr>
          </a:p>
          <a:p>
            <a:r>
              <a:rPr lang="es-E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s-E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float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v;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meshnum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;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 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nl-NL" sz="1100" dirty="0" smtClean="0">
                <a:solidFill>
                  <a:srgbClr val="0000FF"/>
                </a:solidFill>
                <a:latin typeface="Consolas"/>
              </a:rPr>
              <a:t>  float</a:t>
            </a:r>
            <a:r>
              <a:rPr lang="nl-NL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nl-NL" sz="1100" dirty="0">
                <a:solidFill>
                  <a:srgbClr val="000000"/>
                </a:solidFill>
                <a:latin typeface="Consolas"/>
              </a:rPr>
              <a:t>nx; 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ny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nz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r;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g;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float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b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</a:t>
            </a:r>
            <a:endParaRPr lang="en-US" sz="1100" dirty="0"/>
          </a:p>
        </p:txBody>
      </p:sp>
      <p:sp>
        <p:nvSpPr>
          <p:cNvPr id="6" name="Rounded Rectangle 5"/>
          <p:cNvSpPr/>
          <p:nvPr/>
        </p:nvSpPr>
        <p:spPr>
          <a:xfrm>
            <a:off x="6972300" y="4692961"/>
            <a:ext cx="1287855" cy="190125"/>
          </a:xfrm>
          <a:prstGeom prst="roundRect">
            <a:avLst>
              <a:gd name="adj" fmla="val 7455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38200" y="4495800"/>
            <a:ext cx="4724400" cy="919401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lvl="0" algn="ctr">
              <a:buClr>
                <a:prstClr val="black"/>
              </a:buClr>
              <a:buSzPct val="76000"/>
            </a:pPr>
            <a:r>
              <a:rPr lang="en-US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Ok, we can separate the vertices by meshes.</a:t>
            </a:r>
          </a:p>
          <a:p>
            <a:pPr lvl="0" algn="ctr">
              <a:buClr>
                <a:prstClr val="black"/>
              </a:buClr>
              <a:buSzPct val="76000"/>
            </a:pPr>
            <a:r>
              <a:rPr lang="en-US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Does it mean we’ll need to create (up to) four pairs of vertex </a:t>
            </a:r>
            <a:r>
              <a:rPr lang="en-US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index buffers for each model?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5638800"/>
            <a:ext cx="4724400" cy="374571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lvl="0" algn="ctr">
              <a:buClr>
                <a:prstClr val="black"/>
              </a:buClr>
              <a:buSzPct val="76000"/>
            </a:pPr>
            <a:r>
              <a:rPr lang="en-US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Nope: fortunately for us, the </a:t>
            </a:r>
            <a:r>
              <a:rPr lang="en-US" sz="16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DrawIndexed</a:t>
            </a:r>
            <a:r>
              <a:rPr lang="en-US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can help! </a:t>
            </a:r>
          </a:p>
        </p:txBody>
      </p:sp>
    </p:spTree>
    <p:extLst>
      <p:ext uri="{BB962C8B-B14F-4D97-AF65-F5344CB8AC3E}">
        <p14:creationId xmlns:p14="http://schemas.microsoft.com/office/powerpoint/2010/main" val="134311213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  <p:bldP spid="6" grpId="0" animBg="1"/>
      <p:bldP spid="8" grpId="0" animBg="1"/>
      <p:bldP spid="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Reordering the Triangle Array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22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dirty="0" smtClean="0"/>
                  <a:t>Recall that </a:t>
                </a:r>
              </a:p>
              <a:p>
                <a:pPr marL="457200" lvl="1" indent="-184150"/>
                <a:r>
                  <a:rPr lang="en-US" sz="1800" dirty="0" smtClean="0"/>
                  <a:t>A model is an array of ‘</a:t>
                </a:r>
                <a:r>
                  <a:rPr lang="en-US" sz="1800" dirty="0" err="1" smtClean="0"/>
                  <a:t>StandardVertex</a:t>
                </a:r>
                <a:r>
                  <a:rPr lang="en-US" sz="1800" dirty="0" smtClean="0"/>
                  <a:t>’ </a:t>
                </a:r>
                <a:r>
                  <a:rPr lang="en-US" sz="1800" i="1" u="sng" dirty="0" smtClean="0"/>
                  <a:t>and</a:t>
                </a:r>
                <a:r>
                  <a:rPr lang="en-US" sz="1800" dirty="0" smtClean="0"/>
                  <a:t> an array of ‘</a:t>
                </a:r>
                <a:r>
                  <a:rPr lang="en-US" sz="1800" dirty="0" err="1" smtClean="0"/>
                  <a:t>TriangleByIndex</a:t>
                </a:r>
                <a:r>
                  <a:rPr lang="en-US" sz="1800" dirty="0" smtClean="0"/>
                  <a:t>’</a:t>
                </a:r>
              </a:p>
              <a:p>
                <a:pPr marL="457200" lvl="1" indent="-184150"/>
                <a:r>
                  <a:rPr lang="en-US" sz="1800" dirty="0" smtClean="0"/>
                  <a:t>Each </a:t>
                </a:r>
                <a:r>
                  <a:rPr lang="en-US" sz="1800" dirty="0" err="1" smtClean="0"/>
                  <a:t>TriangleByIndex</a:t>
                </a:r>
                <a:r>
                  <a:rPr lang="en-US" sz="1800" dirty="0" smtClean="0"/>
                  <a:t> is a triplet of indices into the vertex array.</a:t>
                </a:r>
              </a:p>
              <a:p>
                <a:pPr marL="273050" lvl="1" indent="0">
                  <a:buNone/>
                </a:pPr>
                <a:endParaRPr lang="en-US" sz="1800" dirty="0" smtClean="0"/>
              </a:p>
              <a:p>
                <a:pPr marL="273050" lvl="1" indent="0">
                  <a:buNone/>
                </a:pPr>
                <a:endParaRPr lang="en-US" sz="800" dirty="0" smtClean="0"/>
              </a:p>
              <a:p>
                <a:pPr marL="0" indent="-184150">
                  <a:buNone/>
                </a:pPr>
                <a:r>
                  <a:rPr lang="en-US" sz="2000" dirty="0" smtClean="0"/>
                  <a:t>A key property to note:</a:t>
                </a:r>
              </a:p>
              <a:p>
                <a:pPr marL="457200" lvl="1" indent="-184150"/>
                <a:r>
                  <a:rPr lang="en-US" sz="1800" dirty="0" smtClean="0"/>
                  <a:t>Given two </a:t>
                </a:r>
                <a:r>
                  <a:rPr lang="en-US" sz="1800" dirty="0" err="1" smtClean="0"/>
                  <a:t>TriangleByIndex</a:t>
                </a:r>
                <a:r>
                  <a:rPr lang="en-US" sz="18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sz="1800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dirty="0" smtClean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sz="1800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800" dirty="0" smtClean="0"/>
                  <a:t>: whether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sz="18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dirty="0" smtClean="0"/>
                  <a:t> is drawn/processed before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sz="1800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800" dirty="0" smtClean="0"/>
                  <a:t> or the other way around makes no difference: the resulting image will be the same.</a:t>
                </a:r>
              </a:p>
              <a:p>
                <a:pPr marL="457200" lvl="1" indent="-184150"/>
                <a:endParaRPr lang="en-US" sz="800" dirty="0"/>
              </a:p>
              <a:p>
                <a:pPr marL="273050" lvl="1" indent="0">
                  <a:buNone/>
                </a:pPr>
                <a:r>
                  <a:rPr lang="en-US" sz="1800" dirty="0" smtClean="0"/>
                  <a:t>This means that we can re-order the array of triangles, and </a:t>
                </a:r>
                <a:r>
                  <a:rPr lang="en-US" sz="1800" i="1" u="sng" dirty="0" smtClean="0"/>
                  <a:t>not</a:t>
                </a:r>
                <a:r>
                  <a:rPr lang="en-US" sz="1800" dirty="0" smtClean="0"/>
                  <a:t> affect the appearance of the model.</a:t>
                </a:r>
              </a:p>
              <a:p>
                <a:pPr marL="273050" lvl="1" indent="0">
                  <a:buNone/>
                </a:pPr>
                <a:endParaRPr lang="en-US" sz="800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2"/>
                <a:stretch>
                  <a:fillRect l="-708" t="-579" r="-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7114163" y="1990725"/>
            <a:ext cx="1877437" cy="11079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100" dirty="0" err="1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2B91AF"/>
                </a:solidFill>
                <a:latin typeface="Consolas"/>
              </a:rPr>
              <a:t>TriangleByIndex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unsigned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v0;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unsigned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v1;</a:t>
            </a:r>
          </a:p>
          <a:p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unsigned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v2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Consolas"/>
              </a:rPr>
              <a:t>}</a:t>
            </a:r>
            <a:endParaRPr lang="en-US" sz="1100" dirty="0"/>
          </a:p>
        </p:txBody>
      </p:sp>
      <p:sp>
        <p:nvSpPr>
          <p:cNvPr id="6" name="TextBox 5"/>
          <p:cNvSpPr txBox="1"/>
          <p:nvPr/>
        </p:nvSpPr>
        <p:spPr>
          <a:xfrm>
            <a:off x="2209800" y="4800600"/>
            <a:ext cx="4343400" cy="646986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lvl="0" algn="ctr">
              <a:buClr>
                <a:prstClr val="black"/>
              </a:buClr>
              <a:buSzPct val="76000"/>
            </a:pPr>
            <a:r>
              <a:rPr lang="en-US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Why does that matter? It all hinges on how the </a:t>
            </a:r>
            <a:r>
              <a:rPr lang="en-US" sz="1600" dirty="0" err="1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  <a:hlinkClick r:id="rId3"/>
              </a:rPr>
              <a:t>DrawIndexed</a:t>
            </a:r>
            <a:r>
              <a:rPr lang="en-US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function works </a:t>
            </a:r>
          </a:p>
        </p:txBody>
      </p:sp>
    </p:spTree>
    <p:extLst>
      <p:ext uri="{BB962C8B-B14F-4D97-AF65-F5344CB8AC3E}">
        <p14:creationId xmlns:p14="http://schemas.microsoft.com/office/powerpoint/2010/main" val="529475282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DrawIndexed</a:t>
            </a:r>
            <a:r>
              <a:rPr lang="en-US" dirty="0" smtClean="0"/>
              <a:t>: Partial Drawing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Consider this simple 4-part cottage.</a:t>
            </a:r>
          </a:p>
          <a:p>
            <a:pPr marL="274320" lvl="1" indent="0">
              <a:buNone/>
            </a:pPr>
            <a:r>
              <a:rPr lang="en-US" sz="1600" i="1" dirty="0" smtClean="0"/>
              <a:t>A single model where each part (mesh) was rendered using a diff. color.</a:t>
            </a:r>
            <a:endParaRPr lang="en-US" sz="1600" i="1" dirty="0"/>
          </a:p>
          <a:p>
            <a:pPr marL="0" indent="-182880">
              <a:buNone/>
            </a:pPr>
            <a:r>
              <a:rPr lang="en-US" sz="2000" dirty="0" smtClean="0"/>
              <a:t>We will leave the vertex buffer untouched.</a:t>
            </a:r>
          </a:p>
          <a:p>
            <a:pPr marL="0" indent="-182880">
              <a:buNone/>
            </a:pPr>
            <a:r>
              <a:rPr lang="en-US" sz="2000" dirty="0" smtClean="0"/>
              <a:t>But consider the index buffer. </a:t>
            </a:r>
          </a:p>
          <a:p>
            <a:pPr marL="273050" lvl="1" indent="0">
              <a:buNone/>
            </a:pPr>
            <a:r>
              <a:rPr lang="en-US" sz="1800" dirty="0" smtClean="0"/>
              <a:t>For clearer visualization:</a:t>
            </a:r>
          </a:p>
          <a:p>
            <a:pPr marL="571500" lvl="2" indent="-207963"/>
            <a:r>
              <a:rPr lang="en-US" sz="1600" dirty="0" smtClean="0"/>
              <a:t>      will represent </a:t>
            </a:r>
            <a:r>
              <a:rPr lang="en-US" sz="1600" i="1" dirty="0" smtClean="0"/>
              <a:t>one</a:t>
            </a:r>
            <a:r>
              <a:rPr lang="en-US" sz="1600" dirty="0" smtClean="0"/>
              <a:t> entry of type </a:t>
            </a:r>
            <a:r>
              <a:rPr lang="en-US" sz="1600" dirty="0" err="1" smtClean="0"/>
              <a:t>TriangleByIndex</a:t>
            </a:r>
            <a:endParaRPr lang="en-US" sz="1600" dirty="0" smtClean="0"/>
          </a:p>
          <a:p>
            <a:pPr marL="571500" lvl="2" indent="-207963"/>
            <a:r>
              <a:rPr lang="en-US" sz="1600" dirty="0" smtClean="0"/>
              <a:t>                         will represent the entries with the corresponding mesh numbers</a:t>
            </a:r>
          </a:p>
          <a:p>
            <a:pPr marL="571500" lvl="2" indent="-207963"/>
            <a:endParaRPr lang="en-US" sz="800" dirty="0"/>
          </a:p>
          <a:p>
            <a:pPr marL="363537" lvl="2" indent="0">
              <a:buNone/>
            </a:pPr>
            <a:r>
              <a:rPr lang="en-US" sz="1600" dirty="0" smtClean="0"/>
              <a:t>Initially, the vertex buffer might look like this: </a:t>
            </a:r>
            <a:r>
              <a:rPr lang="en-US" sz="1600" i="1" dirty="0" smtClean="0"/>
              <a:t>Random ordering of mesh numbers</a:t>
            </a:r>
          </a:p>
          <a:p>
            <a:pPr marL="363537" lvl="2" indent="0">
              <a:buNone/>
            </a:pPr>
            <a:endParaRPr lang="en-US" sz="1600" i="1" dirty="0"/>
          </a:p>
          <a:p>
            <a:pPr marL="363537" lvl="2" indent="0">
              <a:buNone/>
            </a:pPr>
            <a:endParaRPr lang="en-US" sz="800" dirty="0" smtClean="0"/>
          </a:p>
          <a:p>
            <a:pPr marL="363537" lvl="2" indent="0">
              <a:buNone/>
            </a:pPr>
            <a:r>
              <a:rPr lang="en-US" sz="1600" dirty="0" smtClean="0"/>
              <a:t>But we just argued that the following ordering would work just as well</a:t>
            </a:r>
            <a:endParaRPr lang="en-US" sz="1600" dirty="0"/>
          </a:p>
        </p:txBody>
      </p:sp>
      <p:sp>
        <p:nvSpPr>
          <p:cNvPr id="5" name="Isosceles Triangle 4"/>
          <p:cNvSpPr/>
          <p:nvPr/>
        </p:nvSpPr>
        <p:spPr>
          <a:xfrm>
            <a:off x="1117600" y="3028950"/>
            <a:ext cx="228600" cy="228600"/>
          </a:xfrm>
          <a:prstGeom prst="triangl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1117600" y="3352800"/>
            <a:ext cx="1168400" cy="228600"/>
            <a:chOff x="1117600" y="3352800"/>
            <a:chExt cx="1168400" cy="228600"/>
          </a:xfrm>
        </p:grpSpPr>
        <p:sp>
          <p:nvSpPr>
            <p:cNvPr id="8" name="Isosceles Triangle 7"/>
            <p:cNvSpPr/>
            <p:nvPr/>
          </p:nvSpPr>
          <p:spPr>
            <a:xfrm>
              <a:off x="1117600" y="3352800"/>
              <a:ext cx="228600" cy="228600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rIns="182880" bIns="45720" rtlCol="0" anchor="ctr"/>
            <a:lstStyle/>
            <a:p>
              <a:pPr algn="ctr"/>
              <a:r>
                <a:rPr lang="en-US" sz="1200" dirty="0" smtClean="0"/>
                <a:t>0</a:t>
              </a:r>
              <a:endParaRPr lang="en-US" sz="1200" dirty="0"/>
            </a:p>
          </p:txBody>
        </p:sp>
        <p:sp>
          <p:nvSpPr>
            <p:cNvPr id="9" name="Isosceles Triangle 8"/>
            <p:cNvSpPr/>
            <p:nvPr/>
          </p:nvSpPr>
          <p:spPr>
            <a:xfrm>
              <a:off x="1430867" y="3352800"/>
              <a:ext cx="228600" cy="228600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rIns="182880" bIns="45720" rtlCol="0" anchor="ctr"/>
            <a:lstStyle/>
            <a:p>
              <a:pPr algn="ctr"/>
              <a:r>
                <a:rPr lang="en-US" sz="1200" dirty="0" smtClean="0"/>
                <a:t>1</a:t>
              </a:r>
              <a:endParaRPr lang="en-US" sz="1200" dirty="0"/>
            </a:p>
          </p:txBody>
        </p:sp>
        <p:sp>
          <p:nvSpPr>
            <p:cNvPr id="10" name="Isosceles Triangle 9"/>
            <p:cNvSpPr/>
            <p:nvPr/>
          </p:nvSpPr>
          <p:spPr>
            <a:xfrm>
              <a:off x="1744134" y="3352800"/>
              <a:ext cx="228600" cy="228600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rIns="182880" bIns="45720" rtlCol="0" anchor="ctr"/>
            <a:lstStyle/>
            <a:p>
              <a:pPr algn="ctr"/>
              <a:r>
                <a:rPr lang="en-US" sz="1200" dirty="0" smtClean="0"/>
                <a:t>2</a:t>
              </a:r>
              <a:endParaRPr lang="en-US" sz="1200" dirty="0"/>
            </a:p>
          </p:txBody>
        </p:sp>
        <p:sp>
          <p:nvSpPr>
            <p:cNvPr id="11" name="Isosceles Triangle 10"/>
            <p:cNvSpPr/>
            <p:nvPr/>
          </p:nvSpPr>
          <p:spPr>
            <a:xfrm>
              <a:off x="2057400" y="3352800"/>
              <a:ext cx="228600" cy="228600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rIns="182880" bIns="45720" rtlCol="0" anchor="ctr"/>
            <a:lstStyle/>
            <a:p>
              <a:pPr algn="ctr"/>
              <a:r>
                <a:rPr lang="en-US" sz="1200" dirty="0" smtClean="0"/>
                <a:t>3</a:t>
              </a:r>
              <a:endParaRPr lang="en-US" sz="1200" dirty="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1676400" y="4038600"/>
            <a:ext cx="5596466" cy="369332"/>
            <a:chOff x="1032934" y="4652032"/>
            <a:chExt cx="5596466" cy="369332"/>
          </a:xfrm>
        </p:grpSpPr>
        <p:sp>
          <p:nvSpPr>
            <p:cNvPr id="17" name="Isosceles Triangle 16"/>
            <p:cNvSpPr/>
            <p:nvPr/>
          </p:nvSpPr>
          <p:spPr>
            <a:xfrm>
              <a:off x="1032934" y="4726781"/>
              <a:ext cx="228600" cy="228600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rIns="182880" bIns="45720" rtlCol="0" anchor="ctr"/>
            <a:lstStyle/>
            <a:p>
              <a:pPr algn="ctr"/>
              <a:r>
                <a:rPr lang="en-US" sz="1200" dirty="0"/>
                <a:t>3</a:t>
              </a:r>
            </a:p>
          </p:txBody>
        </p:sp>
        <p:sp>
          <p:nvSpPr>
            <p:cNvPr id="18" name="Isosceles Triangle 17"/>
            <p:cNvSpPr/>
            <p:nvPr/>
          </p:nvSpPr>
          <p:spPr>
            <a:xfrm>
              <a:off x="1346369" y="4726781"/>
              <a:ext cx="228600" cy="228600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rIns="182880" bIns="45720" rtlCol="0" anchor="ctr"/>
            <a:lstStyle/>
            <a:p>
              <a:pPr algn="ctr"/>
              <a:r>
                <a:rPr lang="en-US" sz="1200" dirty="0" smtClean="0"/>
                <a:t>2</a:t>
              </a:r>
              <a:endParaRPr lang="en-US" sz="1200" dirty="0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1659804" y="4726781"/>
              <a:ext cx="228600" cy="228600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rIns="182880" bIns="45720" rtlCol="0" anchor="ctr"/>
            <a:lstStyle/>
            <a:p>
              <a:pPr algn="ctr"/>
              <a:r>
                <a:rPr lang="en-US" sz="1200" dirty="0" smtClean="0"/>
                <a:t>2</a:t>
              </a:r>
              <a:endParaRPr lang="en-US" sz="1200" dirty="0"/>
            </a:p>
          </p:txBody>
        </p:sp>
        <p:sp>
          <p:nvSpPr>
            <p:cNvPr id="20" name="Isosceles Triangle 19"/>
            <p:cNvSpPr/>
            <p:nvPr/>
          </p:nvSpPr>
          <p:spPr>
            <a:xfrm>
              <a:off x="1973239" y="4726781"/>
              <a:ext cx="228600" cy="228600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rIns="182880" bIns="45720" rtlCol="0" anchor="ctr"/>
            <a:lstStyle/>
            <a:p>
              <a:pPr algn="ctr"/>
              <a:r>
                <a:rPr lang="en-US" sz="1200" dirty="0" smtClean="0"/>
                <a:t>3</a:t>
              </a:r>
              <a:endParaRPr lang="en-US" sz="1200" dirty="0"/>
            </a:p>
          </p:txBody>
        </p:sp>
        <p:sp>
          <p:nvSpPr>
            <p:cNvPr id="21" name="Isosceles Triangle 20"/>
            <p:cNvSpPr/>
            <p:nvPr/>
          </p:nvSpPr>
          <p:spPr>
            <a:xfrm>
              <a:off x="2286674" y="4726781"/>
              <a:ext cx="228600" cy="228600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rIns="182880" bIns="45720" rtlCol="0" anchor="ctr"/>
            <a:lstStyle/>
            <a:p>
              <a:pPr algn="ctr"/>
              <a:r>
                <a:rPr lang="en-US" sz="1200" dirty="0" smtClean="0"/>
                <a:t>0</a:t>
              </a:r>
              <a:endParaRPr lang="en-US" sz="1200" dirty="0"/>
            </a:p>
          </p:txBody>
        </p:sp>
        <p:sp>
          <p:nvSpPr>
            <p:cNvPr id="22" name="Isosceles Triangle 21"/>
            <p:cNvSpPr/>
            <p:nvPr/>
          </p:nvSpPr>
          <p:spPr>
            <a:xfrm>
              <a:off x="2600109" y="4726781"/>
              <a:ext cx="228600" cy="228600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rIns="182880" bIns="45720" rtlCol="0" anchor="ctr"/>
            <a:lstStyle/>
            <a:p>
              <a:pPr algn="ctr"/>
              <a:r>
                <a:rPr lang="en-US" sz="1200" dirty="0"/>
                <a:t>0</a:t>
              </a:r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2913544" y="4726781"/>
              <a:ext cx="228600" cy="228600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rIns="182880" bIns="45720" rtlCol="0" anchor="ctr"/>
            <a:lstStyle/>
            <a:p>
              <a:pPr algn="ctr"/>
              <a:r>
                <a:rPr lang="en-US" sz="1200" dirty="0" smtClean="0"/>
                <a:t>2</a:t>
              </a:r>
              <a:endParaRPr lang="en-US" sz="1200" dirty="0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3226979" y="4726781"/>
              <a:ext cx="228600" cy="228600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rIns="182880" bIns="45720" rtlCol="0" anchor="ctr"/>
            <a:lstStyle/>
            <a:p>
              <a:pPr algn="ctr"/>
              <a:r>
                <a:rPr lang="en-US" sz="1200" dirty="0" smtClean="0"/>
                <a:t>1</a:t>
              </a:r>
              <a:endParaRPr lang="en-US" sz="1200" dirty="0"/>
            </a:p>
          </p:txBody>
        </p:sp>
        <p:sp>
          <p:nvSpPr>
            <p:cNvPr id="25" name="Isosceles Triangle 24"/>
            <p:cNvSpPr/>
            <p:nvPr/>
          </p:nvSpPr>
          <p:spPr>
            <a:xfrm>
              <a:off x="3540414" y="4726781"/>
              <a:ext cx="228600" cy="228600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rIns="182880" bIns="45720" rtlCol="0" anchor="ctr"/>
            <a:lstStyle/>
            <a:p>
              <a:pPr algn="ctr"/>
              <a:r>
                <a:rPr lang="en-US" sz="1200" dirty="0" smtClean="0"/>
                <a:t>0</a:t>
              </a:r>
              <a:endParaRPr lang="en-US" sz="1200" dirty="0"/>
            </a:p>
          </p:txBody>
        </p:sp>
        <p:sp>
          <p:nvSpPr>
            <p:cNvPr id="26" name="Isosceles Triangle 25"/>
            <p:cNvSpPr/>
            <p:nvPr/>
          </p:nvSpPr>
          <p:spPr>
            <a:xfrm>
              <a:off x="3853849" y="4726781"/>
              <a:ext cx="228600" cy="228600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rIns="182880" bIns="45720" rtlCol="0" anchor="ctr"/>
            <a:lstStyle/>
            <a:p>
              <a:pPr algn="ctr"/>
              <a:r>
                <a:rPr lang="en-US" sz="1200" dirty="0" smtClean="0"/>
                <a:t>1</a:t>
              </a:r>
              <a:endParaRPr lang="en-US" sz="1200" dirty="0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4167284" y="4726781"/>
              <a:ext cx="228600" cy="228600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rIns="182880" bIns="45720" rtlCol="0" anchor="ctr"/>
            <a:lstStyle/>
            <a:p>
              <a:pPr algn="ctr"/>
              <a:r>
                <a:rPr lang="en-US" sz="1200" dirty="0" smtClean="0"/>
                <a:t>1</a:t>
              </a:r>
              <a:endParaRPr lang="en-US" sz="1200" dirty="0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4480719" y="4726781"/>
              <a:ext cx="228600" cy="228600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rIns="182880" bIns="45720" rtlCol="0" anchor="ctr"/>
            <a:lstStyle/>
            <a:p>
              <a:pPr algn="ctr"/>
              <a:r>
                <a:rPr lang="en-US" sz="1200" dirty="0" smtClean="0"/>
                <a:t>3</a:t>
              </a:r>
              <a:endParaRPr lang="en-US" sz="1200" dirty="0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5461000" y="4726781"/>
              <a:ext cx="228600" cy="228600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rIns="182880" bIns="45720" rtlCol="0" anchor="ctr"/>
            <a:lstStyle/>
            <a:p>
              <a:pPr algn="ctr"/>
              <a:r>
                <a:rPr lang="en-US" sz="1200" dirty="0"/>
                <a:t>3</a:t>
              </a:r>
            </a:p>
          </p:txBody>
        </p:sp>
        <p:sp>
          <p:nvSpPr>
            <p:cNvPr id="30" name="Isosceles Triangle 29"/>
            <p:cNvSpPr/>
            <p:nvPr/>
          </p:nvSpPr>
          <p:spPr>
            <a:xfrm>
              <a:off x="5774267" y="4726781"/>
              <a:ext cx="228600" cy="228600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rIns="182880" bIns="45720" rtlCol="0" anchor="ctr"/>
            <a:lstStyle/>
            <a:p>
              <a:pPr algn="ctr"/>
              <a:r>
                <a:rPr lang="en-US" sz="1200" dirty="0" smtClean="0"/>
                <a:t>1</a:t>
              </a:r>
              <a:endParaRPr lang="en-US" sz="1200" dirty="0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6087534" y="4726781"/>
              <a:ext cx="228600" cy="228600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rIns="182880" bIns="45720" rtlCol="0" anchor="ctr"/>
            <a:lstStyle/>
            <a:p>
              <a:pPr algn="ctr"/>
              <a:r>
                <a:rPr lang="en-US" sz="1200" dirty="0" smtClean="0"/>
                <a:t>2</a:t>
              </a:r>
              <a:endParaRPr lang="en-US" sz="1200" dirty="0"/>
            </a:p>
          </p:txBody>
        </p:sp>
        <p:sp>
          <p:nvSpPr>
            <p:cNvPr id="32" name="Isosceles Triangle 31"/>
            <p:cNvSpPr/>
            <p:nvPr/>
          </p:nvSpPr>
          <p:spPr>
            <a:xfrm>
              <a:off x="6400800" y="4726781"/>
              <a:ext cx="228600" cy="228600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rIns="182880" bIns="45720" rtlCol="0" anchor="ctr"/>
            <a:lstStyle/>
            <a:p>
              <a:pPr algn="ctr"/>
              <a:r>
                <a:rPr lang="en-US" sz="1200" dirty="0" smtClean="0"/>
                <a:t>2</a:t>
              </a:r>
              <a:endParaRPr lang="en-US" sz="1200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876800" y="4652032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…</a:t>
              </a:r>
              <a:endParaRPr lang="en-US" dirty="0"/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1523567" y="4865965"/>
            <a:ext cx="5918193" cy="394732"/>
            <a:chOff x="1316567" y="4958834"/>
            <a:chExt cx="5918193" cy="394732"/>
          </a:xfrm>
        </p:grpSpPr>
        <p:sp>
          <p:nvSpPr>
            <p:cNvPr id="35" name="Isosceles Triangle 34"/>
            <p:cNvSpPr/>
            <p:nvPr/>
          </p:nvSpPr>
          <p:spPr>
            <a:xfrm>
              <a:off x="1629834" y="5067300"/>
              <a:ext cx="228600" cy="228600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rIns="182880" bIns="45720" rtlCol="0" anchor="ctr"/>
            <a:lstStyle/>
            <a:p>
              <a:pPr algn="ctr"/>
              <a:r>
                <a:rPr lang="en-US" sz="1200" dirty="0"/>
                <a:t>3</a:t>
              </a:r>
            </a:p>
          </p:txBody>
        </p:sp>
        <p:sp>
          <p:nvSpPr>
            <p:cNvPr id="36" name="Isosceles Triangle 35"/>
            <p:cNvSpPr/>
            <p:nvPr/>
          </p:nvSpPr>
          <p:spPr>
            <a:xfrm>
              <a:off x="1943100" y="5067300"/>
              <a:ext cx="228600" cy="228600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rIns="182880" bIns="45720" rtlCol="0" anchor="ctr"/>
            <a:lstStyle/>
            <a:p>
              <a:pPr algn="ctr"/>
              <a:r>
                <a:rPr lang="en-US" sz="1200" dirty="0"/>
                <a:t>3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133600" y="4958834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…</a:t>
              </a:r>
              <a:endParaRPr lang="en-US" dirty="0"/>
            </a:p>
          </p:txBody>
        </p:sp>
        <p:sp>
          <p:nvSpPr>
            <p:cNvPr id="38" name="Isosceles Triangle 37"/>
            <p:cNvSpPr/>
            <p:nvPr/>
          </p:nvSpPr>
          <p:spPr>
            <a:xfrm>
              <a:off x="2502405" y="5067300"/>
              <a:ext cx="228600" cy="228600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rIns="182880" bIns="45720" rtlCol="0" anchor="ctr"/>
            <a:lstStyle/>
            <a:p>
              <a:pPr algn="ctr"/>
              <a:r>
                <a:rPr lang="en-US" sz="1200" dirty="0"/>
                <a:t>3</a:t>
              </a:r>
            </a:p>
          </p:txBody>
        </p:sp>
        <p:sp>
          <p:nvSpPr>
            <p:cNvPr id="39" name="Isosceles Triangle 38"/>
            <p:cNvSpPr/>
            <p:nvPr/>
          </p:nvSpPr>
          <p:spPr>
            <a:xfrm>
              <a:off x="1316567" y="5067300"/>
              <a:ext cx="228600" cy="228600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rIns="182880" bIns="45720" rtlCol="0" anchor="ctr"/>
            <a:lstStyle/>
            <a:p>
              <a:pPr algn="ctr"/>
              <a:r>
                <a:rPr lang="en-US" sz="1200" dirty="0"/>
                <a:t>3</a:t>
              </a:r>
            </a:p>
          </p:txBody>
        </p:sp>
        <p:sp>
          <p:nvSpPr>
            <p:cNvPr id="40" name="Isosceles Triangle 39"/>
            <p:cNvSpPr/>
            <p:nvPr/>
          </p:nvSpPr>
          <p:spPr>
            <a:xfrm>
              <a:off x="3132667" y="5067300"/>
              <a:ext cx="228600" cy="228600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rIns="182880" bIns="45720" rtlCol="0" anchor="ctr"/>
            <a:lstStyle/>
            <a:p>
              <a:pPr algn="ctr"/>
              <a:r>
                <a:rPr lang="en-US" sz="1200" dirty="0" smtClean="0"/>
                <a:t>0</a:t>
              </a:r>
              <a:endParaRPr lang="en-US" sz="1200" dirty="0"/>
            </a:p>
          </p:txBody>
        </p:sp>
        <p:sp>
          <p:nvSpPr>
            <p:cNvPr id="41" name="Isosceles Triangle 40"/>
            <p:cNvSpPr/>
            <p:nvPr/>
          </p:nvSpPr>
          <p:spPr>
            <a:xfrm>
              <a:off x="3445933" y="5067300"/>
              <a:ext cx="228600" cy="228600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rIns="182880" bIns="45720" rtlCol="0" anchor="ctr"/>
            <a:lstStyle/>
            <a:p>
              <a:pPr algn="ctr"/>
              <a:r>
                <a:rPr lang="en-US" sz="1200" dirty="0" smtClean="0"/>
                <a:t>0</a:t>
              </a:r>
              <a:endParaRPr lang="en-US" sz="1200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3636433" y="4971534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…</a:t>
              </a:r>
              <a:endParaRPr lang="en-US" dirty="0"/>
            </a:p>
          </p:txBody>
        </p:sp>
        <p:sp>
          <p:nvSpPr>
            <p:cNvPr id="43" name="Isosceles Triangle 42"/>
            <p:cNvSpPr/>
            <p:nvPr/>
          </p:nvSpPr>
          <p:spPr>
            <a:xfrm>
              <a:off x="4005238" y="5067300"/>
              <a:ext cx="228600" cy="228600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rIns="182880" bIns="45720" rtlCol="0" anchor="ctr"/>
            <a:lstStyle/>
            <a:p>
              <a:pPr algn="ctr"/>
              <a:r>
                <a:rPr lang="en-US" sz="1200" dirty="0" smtClean="0"/>
                <a:t>0</a:t>
              </a:r>
              <a:endParaRPr lang="en-US" sz="1200" dirty="0"/>
            </a:p>
          </p:txBody>
        </p:sp>
        <p:sp>
          <p:nvSpPr>
            <p:cNvPr id="44" name="Isosceles Triangle 43"/>
            <p:cNvSpPr/>
            <p:nvPr/>
          </p:nvSpPr>
          <p:spPr>
            <a:xfrm>
              <a:off x="2819400" y="5067300"/>
              <a:ext cx="228600" cy="228600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rIns="182880" bIns="45720" rtlCol="0" anchor="ctr"/>
            <a:lstStyle/>
            <a:p>
              <a:pPr algn="ctr"/>
              <a:r>
                <a:rPr lang="en-US" sz="1200" dirty="0" smtClean="0"/>
                <a:t>0</a:t>
              </a:r>
              <a:endParaRPr lang="en-US" sz="1200" dirty="0"/>
            </a:p>
          </p:txBody>
        </p:sp>
        <p:sp>
          <p:nvSpPr>
            <p:cNvPr id="45" name="Isosceles Triangle 44"/>
            <p:cNvSpPr/>
            <p:nvPr/>
          </p:nvSpPr>
          <p:spPr>
            <a:xfrm>
              <a:off x="4641270" y="5067300"/>
              <a:ext cx="228600" cy="228600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rIns="182880" bIns="45720" rtlCol="0" anchor="ctr"/>
            <a:lstStyle/>
            <a:p>
              <a:pPr algn="ctr"/>
              <a:r>
                <a:rPr lang="en-US" sz="1200" dirty="0" smtClean="0"/>
                <a:t>2</a:t>
              </a:r>
              <a:endParaRPr lang="en-US" sz="1200" dirty="0"/>
            </a:p>
          </p:txBody>
        </p:sp>
        <p:sp>
          <p:nvSpPr>
            <p:cNvPr id="46" name="Isosceles Triangle 45"/>
            <p:cNvSpPr/>
            <p:nvPr/>
          </p:nvSpPr>
          <p:spPr>
            <a:xfrm>
              <a:off x="4954536" y="5067300"/>
              <a:ext cx="228600" cy="228600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rIns="182880" bIns="45720" rtlCol="0" anchor="ctr"/>
            <a:lstStyle/>
            <a:p>
              <a:pPr algn="ctr"/>
              <a:r>
                <a:rPr lang="en-US" sz="1200" dirty="0" smtClean="0"/>
                <a:t>2</a:t>
              </a:r>
              <a:endParaRPr lang="en-US" sz="1200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145036" y="4972050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…</a:t>
              </a:r>
              <a:endParaRPr lang="en-US" dirty="0"/>
            </a:p>
          </p:txBody>
        </p:sp>
        <p:sp>
          <p:nvSpPr>
            <p:cNvPr id="48" name="Isosceles Triangle 47"/>
            <p:cNvSpPr/>
            <p:nvPr/>
          </p:nvSpPr>
          <p:spPr>
            <a:xfrm>
              <a:off x="5513841" y="5067300"/>
              <a:ext cx="228600" cy="228600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rIns="182880" bIns="45720" rtlCol="0" anchor="ctr"/>
            <a:lstStyle/>
            <a:p>
              <a:pPr algn="ctr"/>
              <a:r>
                <a:rPr lang="en-US" sz="1200" dirty="0" smtClean="0"/>
                <a:t>2</a:t>
              </a:r>
              <a:endParaRPr lang="en-US" sz="1200" dirty="0"/>
            </a:p>
          </p:txBody>
        </p:sp>
        <p:sp>
          <p:nvSpPr>
            <p:cNvPr id="49" name="Isosceles Triangle 48"/>
            <p:cNvSpPr/>
            <p:nvPr/>
          </p:nvSpPr>
          <p:spPr>
            <a:xfrm>
              <a:off x="4328003" y="5067300"/>
              <a:ext cx="228600" cy="228600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rIns="182880" bIns="45720" rtlCol="0" anchor="ctr"/>
            <a:lstStyle/>
            <a:p>
              <a:pPr algn="ctr"/>
              <a:r>
                <a:rPr lang="en-US" sz="1200" dirty="0" smtClean="0"/>
                <a:t>2</a:t>
              </a:r>
              <a:endParaRPr lang="en-US" sz="1200" dirty="0"/>
            </a:p>
          </p:txBody>
        </p:sp>
        <p:sp>
          <p:nvSpPr>
            <p:cNvPr id="50" name="Isosceles Triangle 49"/>
            <p:cNvSpPr/>
            <p:nvPr/>
          </p:nvSpPr>
          <p:spPr>
            <a:xfrm>
              <a:off x="6133589" y="5067300"/>
              <a:ext cx="228600" cy="228600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rIns="182880" bIns="45720" rtlCol="0" anchor="ctr"/>
            <a:lstStyle/>
            <a:p>
              <a:pPr algn="ctr"/>
              <a:r>
                <a:rPr lang="en-US" sz="1200" dirty="0" smtClean="0"/>
                <a:t>1</a:t>
              </a:r>
              <a:endParaRPr lang="en-US" sz="1200" dirty="0"/>
            </a:p>
          </p:txBody>
        </p:sp>
        <p:sp>
          <p:nvSpPr>
            <p:cNvPr id="51" name="Isosceles Triangle 50"/>
            <p:cNvSpPr/>
            <p:nvPr/>
          </p:nvSpPr>
          <p:spPr>
            <a:xfrm>
              <a:off x="6446855" y="5067300"/>
              <a:ext cx="228600" cy="228600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rIns="182880" bIns="45720" rtlCol="0" anchor="ctr"/>
            <a:lstStyle/>
            <a:p>
              <a:pPr algn="ctr"/>
              <a:r>
                <a:rPr lang="en-US" sz="1200" dirty="0" smtClean="0"/>
                <a:t>1</a:t>
              </a:r>
              <a:endParaRPr lang="en-US" sz="1200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6637355" y="4984234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…</a:t>
              </a:r>
              <a:endParaRPr lang="en-US" dirty="0"/>
            </a:p>
          </p:txBody>
        </p:sp>
        <p:sp>
          <p:nvSpPr>
            <p:cNvPr id="53" name="Isosceles Triangle 52"/>
            <p:cNvSpPr/>
            <p:nvPr/>
          </p:nvSpPr>
          <p:spPr>
            <a:xfrm>
              <a:off x="7006160" y="5067300"/>
              <a:ext cx="228600" cy="228600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rIns="182880" bIns="45720" rtlCol="0" anchor="ctr"/>
            <a:lstStyle/>
            <a:p>
              <a:pPr algn="ctr"/>
              <a:r>
                <a:rPr lang="en-US" sz="1200" dirty="0" smtClean="0"/>
                <a:t>1</a:t>
              </a:r>
              <a:endParaRPr lang="en-US" sz="1200" dirty="0"/>
            </a:p>
          </p:txBody>
        </p:sp>
        <p:sp>
          <p:nvSpPr>
            <p:cNvPr id="54" name="Isosceles Triangle 53"/>
            <p:cNvSpPr/>
            <p:nvPr/>
          </p:nvSpPr>
          <p:spPr>
            <a:xfrm>
              <a:off x="5820322" y="5067300"/>
              <a:ext cx="228600" cy="228600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rIns="182880" bIns="45720" rtlCol="0" anchor="ctr"/>
            <a:lstStyle/>
            <a:p>
              <a:pPr algn="ctr"/>
              <a:r>
                <a:rPr lang="en-US" sz="1200" dirty="0" smtClean="0"/>
                <a:t>1</a:t>
              </a:r>
              <a:endParaRPr lang="en-US" sz="1200" dirty="0"/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1498600" y="4946650"/>
            <a:ext cx="5970171" cy="727869"/>
            <a:chOff x="1498600" y="4946650"/>
            <a:chExt cx="5970171" cy="727869"/>
          </a:xfrm>
        </p:grpSpPr>
        <p:sp>
          <p:nvSpPr>
            <p:cNvPr id="57" name="TextBox 56"/>
            <p:cNvSpPr txBox="1"/>
            <p:nvPr/>
          </p:nvSpPr>
          <p:spPr>
            <a:xfrm>
              <a:off x="3361410" y="5334000"/>
              <a:ext cx="2158856" cy="340519"/>
            </a:xfrm>
            <a:prstGeom prst="roundRect">
              <a:avLst/>
            </a:prstGeom>
            <a:solidFill>
              <a:srgbClr val="FFFF66"/>
            </a:solidFill>
            <a:ln w="25400">
              <a:solidFill>
                <a:srgbClr val="FF0000"/>
              </a:solidFill>
            </a:ln>
          </p:spPr>
          <p:txBody>
            <a:bodyPr wrap="square" tIns="45720" bIns="45720" rtlCol="0">
              <a:spAutoFit/>
            </a:bodyPr>
            <a:lstStyle/>
            <a:p>
              <a:pPr lvl="0" algn="ctr">
                <a:buClr>
                  <a:prstClr val="black"/>
                </a:buClr>
                <a:buSzPct val="76000"/>
              </a:pPr>
              <a:r>
                <a:rPr lang="en-US" sz="1400" dirty="0" smtClean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Grouped by mesh number</a:t>
              </a:r>
            </a:p>
          </p:txBody>
        </p:sp>
        <p:sp>
          <p:nvSpPr>
            <p:cNvPr id="64" name="Rounded Rectangle 63"/>
            <p:cNvSpPr/>
            <p:nvPr/>
          </p:nvSpPr>
          <p:spPr>
            <a:xfrm>
              <a:off x="1498600" y="4946650"/>
              <a:ext cx="1463675" cy="295513"/>
            </a:xfrm>
            <a:prstGeom prst="roundRect">
              <a:avLst>
                <a:gd name="adj" fmla="val 7455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ounded Rectangle 65"/>
            <p:cNvSpPr/>
            <p:nvPr/>
          </p:nvSpPr>
          <p:spPr>
            <a:xfrm>
              <a:off x="3001505" y="4946650"/>
              <a:ext cx="1463675" cy="295513"/>
            </a:xfrm>
            <a:prstGeom prst="roundRect">
              <a:avLst>
                <a:gd name="adj" fmla="val 7455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ounded Rectangle 66"/>
            <p:cNvSpPr/>
            <p:nvPr/>
          </p:nvSpPr>
          <p:spPr>
            <a:xfrm>
              <a:off x="4507155" y="4946650"/>
              <a:ext cx="1463675" cy="295513"/>
            </a:xfrm>
            <a:prstGeom prst="roundRect">
              <a:avLst>
                <a:gd name="adj" fmla="val 7455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ounded Rectangle 67"/>
            <p:cNvSpPr/>
            <p:nvPr/>
          </p:nvSpPr>
          <p:spPr>
            <a:xfrm>
              <a:off x="6005096" y="4946650"/>
              <a:ext cx="1463675" cy="295513"/>
            </a:xfrm>
            <a:prstGeom prst="roundRect">
              <a:avLst>
                <a:gd name="adj" fmla="val 7455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2455" y="1219200"/>
            <a:ext cx="2133600" cy="171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45573553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DrawIndexed</a:t>
            </a:r>
            <a:r>
              <a:rPr lang="en-US" dirty="0"/>
              <a:t>: Partial Drawing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Therefore, we reorder the triangles and keep track of following data: </a:t>
            </a:r>
          </a:p>
          <a:p>
            <a:pPr marL="457200" lvl="1" indent="0">
              <a:buNone/>
            </a:pPr>
            <a:r>
              <a:rPr lang="en-US" sz="1800" dirty="0" smtClean="0"/>
              <a:t>for each ‘sub array’:</a:t>
            </a:r>
          </a:p>
          <a:p>
            <a:pPr marL="662940" lvl="2" indent="-114300"/>
            <a:r>
              <a:rPr lang="en-US" sz="1600" dirty="0" smtClean="0"/>
              <a:t>Index of the first entry: ‘</a:t>
            </a:r>
            <a:r>
              <a:rPr lang="en-US" sz="1600" dirty="0" err="1" smtClean="0"/>
              <a:t>trioffset</a:t>
            </a:r>
            <a:r>
              <a:rPr lang="en-US" sz="1600" dirty="0" smtClean="0"/>
              <a:t>’</a:t>
            </a:r>
          </a:p>
          <a:p>
            <a:pPr marL="662940" lvl="2" indent="-114300"/>
            <a:r>
              <a:rPr lang="en-US" sz="1600" dirty="0" smtClean="0"/>
              <a:t>Number of triangles in the sub array: ‘</a:t>
            </a:r>
            <a:r>
              <a:rPr lang="en-US" sz="1600" dirty="0" err="1" smtClean="0"/>
              <a:t>tricount</a:t>
            </a:r>
            <a:r>
              <a:rPr lang="en-US" sz="1600" dirty="0" smtClean="0"/>
              <a:t>’</a:t>
            </a:r>
          </a:p>
          <a:p>
            <a:pPr marL="662940" lvl="2" indent="-114300"/>
            <a:endParaRPr lang="en-US" sz="1600" dirty="0"/>
          </a:p>
          <a:p>
            <a:pPr marL="662940" lvl="2" indent="-114300"/>
            <a:endParaRPr lang="en-US" sz="1600" dirty="0" smtClean="0"/>
          </a:p>
          <a:p>
            <a:pPr marL="548640" lvl="2" indent="0">
              <a:buNone/>
            </a:pPr>
            <a:endParaRPr lang="en-US" sz="1600" dirty="0" smtClean="0"/>
          </a:p>
          <a:p>
            <a:pPr marL="548640" lvl="2" indent="0">
              <a:buNone/>
            </a:pPr>
            <a:endParaRPr lang="en-US" sz="1600" dirty="0"/>
          </a:p>
          <a:p>
            <a:pPr marL="548640" lvl="2" indent="0">
              <a:buNone/>
            </a:pPr>
            <a:endParaRPr lang="en-US" sz="1600" dirty="0" smtClean="0"/>
          </a:p>
          <a:p>
            <a:pPr marL="548640" lvl="2" indent="0">
              <a:buNone/>
            </a:pPr>
            <a:endParaRPr lang="en-US" sz="1600" dirty="0"/>
          </a:p>
          <a:p>
            <a:pPr marL="548640" lvl="2" indent="0">
              <a:buNone/>
            </a:pPr>
            <a:endParaRPr lang="en-US" sz="1600" dirty="0" smtClean="0"/>
          </a:p>
          <a:p>
            <a:pPr marL="548640" lvl="2" indent="0">
              <a:buNone/>
            </a:pPr>
            <a:endParaRPr lang="en-US" sz="1600" dirty="0" smtClean="0"/>
          </a:p>
          <a:p>
            <a:pPr marL="548640" lvl="2" indent="0">
              <a:buNone/>
            </a:pPr>
            <a:endParaRPr lang="en-US" sz="800" dirty="0" smtClean="0"/>
          </a:p>
          <a:p>
            <a:pPr marL="548640" lvl="2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2000" dirty="0" smtClean="0"/>
              <a:t>We can render any </a:t>
            </a:r>
            <a:r>
              <a:rPr lang="en-US" sz="2000" i="1" dirty="0" smtClean="0"/>
              <a:t>one</a:t>
            </a:r>
            <a:r>
              <a:rPr lang="en-US" sz="2000" dirty="0" smtClean="0"/>
              <a:t> mesh by calling </a:t>
            </a:r>
            <a:r>
              <a:rPr lang="en-US" sz="2000" dirty="0" err="1" smtClean="0"/>
              <a:t>DrawIndexed</a:t>
            </a:r>
            <a:r>
              <a:rPr lang="en-US" sz="2000" dirty="0" smtClean="0"/>
              <a:t> on a partial index array</a:t>
            </a:r>
            <a:endParaRPr lang="en-US" sz="2000" dirty="0"/>
          </a:p>
        </p:txBody>
      </p:sp>
      <p:grpSp>
        <p:nvGrpSpPr>
          <p:cNvPr id="5" name="Group 4"/>
          <p:cNvGrpSpPr/>
          <p:nvPr/>
        </p:nvGrpSpPr>
        <p:grpSpPr>
          <a:xfrm>
            <a:off x="1369996" y="2590800"/>
            <a:ext cx="5918193" cy="394732"/>
            <a:chOff x="1316567" y="4958834"/>
            <a:chExt cx="5918193" cy="394732"/>
          </a:xfrm>
        </p:grpSpPr>
        <p:sp>
          <p:nvSpPr>
            <p:cNvPr id="6" name="Isosceles Triangle 5"/>
            <p:cNvSpPr/>
            <p:nvPr/>
          </p:nvSpPr>
          <p:spPr>
            <a:xfrm>
              <a:off x="1629834" y="5067300"/>
              <a:ext cx="228600" cy="228600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rIns="182880" bIns="45720" rtlCol="0" anchor="ctr"/>
            <a:lstStyle/>
            <a:p>
              <a:pPr algn="ctr"/>
              <a:r>
                <a:rPr lang="en-US" sz="1200" dirty="0"/>
                <a:t>3</a:t>
              </a:r>
            </a:p>
          </p:txBody>
        </p:sp>
        <p:sp>
          <p:nvSpPr>
            <p:cNvPr id="7" name="Isosceles Triangle 6"/>
            <p:cNvSpPr/>
            <p:nvPr/>
          </p:nvSpPr>
          <p:spPr>
            <a:xfrm>
              <a:off x="1943100" y="5067300"/>
              <a:ext cx="228600" cy="228600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rIns="182880" bIns="45720" rtlCol="0" anchor="ctr"/>
            <a:lstStyle/>
            <a:p>
              <a:pPr algn="ctr"/>
              <a:r>
                <a:rPr lang="en-US" sz="1200" dirty="0"/>
                <a:t>3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133600" y="4958834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…</a:t>
              </a:r>
              <a:endParaRPr lang="en-US" dirty="0"/>
            </a:p>
          </p:txBody>
        </p:sp>
        <p:sp>
          <p:nvSpPr>
            <p:cNvPr id="9" name="Isosceles Triangle 8"/>
            <p:cNvSpPr/>
            <p:nvPr/>
          </p:nvSpPr>
          <p:spPr>
            <a:xfrm>
              <a:off x="2502405" y="5067300"/>
              <a:ext cx="228600" cy="228600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rIns="182880" bIns="45720" rtlCol="0" anchor="ctr"/>
            <a:lstStyle/>
            <a:p>
              <a:pPr algn="ctr"/>
              <a:r>
                <a:rPr lang="en-US" sz="1200" dirty="0"/>
                <a:t>3</a:t>
              </a:r>
            </a:p>
          </p:txBody>
        </p:sp>
        <p:sp>
          <p:nvSpPr>
            <p:cNvPr id="10" name="Isosceles Triangle 9"/>
            <p:cNvSpPr/>
            <p:nvPr/>
          </p:nvSpPr>
          <p:spPr>
            <a:xfrm>
              <a:off x="1316567" y="5067300"/>
              <a:ext cx="228600" cy="228600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rIns="182880" bIns="45720" rtlCol="0" anchor="ctr"/>
            <a:lstStyle/>
            <a:p>
              <a:pPr algn="ctr"/>
              <a:r>
                <a:rPr lang="en-US" sz="1200" dirty="0"/>
                <a:t>3</a:t>
              </a:r>
            </a:p>
          </p:txBody>
        </p:sp>
        <p:sp>
          <p:nvSpPr>
            <p:cNvPr id="11" name="Isosceles Triangle 10"/>
            <p:cNvSpPr/>
            <p:nvPr/>
          </p:nvSpPr>
          <p:spPr>
            <a:xfrm>
              <a:off x="3132667" y="5067300"/>
              <a:ext cx="228600" cy="228600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rIns="182880" bIns="45720" rtlCol="0" anchor="ctr"/>
            <a:lstStyle/>
            <a:p>
              <a:pPr algn="ctr"/>
              <a:r>
                <a:rPr lang="en-US" sz="1200" dirty="0" smtClean="0"/>
                <a:t>0</a:t>
              </a:r>
              <a:endParaRPr lang="en-US" sz="1200" dirty="0"/>
            </a:p>
          </p:txBody>
        </p:sp>
        <p:sp>
          <p:nvSpPr>
            <p:cNvPr id="12" name="Isosceles Triangle 11"/>
            <p:cNvSpPr/>
            <p:nvPr/>
          </p:nvSpPr>
          <p:spPr>
            <a:xfrm>
              <a:off x="3445933" y="5067300"/>
              <a:ext cx="228600" cy="228600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rIns="182880" bIns="45720" rtlCol="0" anchor="ctr"/>
            <a:lstStyle/>
            <a:p>
              <a:pPr algn="ctr"/>
              <a:r>
                <a:rPr lang="en-US" sz="1200" dirty="0" smtClean="0"/>
                <a:t>0</a:t>
              </a:r>
              <a:endParaRPr lang="en-US" sz="1200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636433" y="4971534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…</a:t>
              </a:r>
              <a:endParaRPr lang="en-US" dirty="0"/>
            </a:p>
          </p:txBody>
        </p:sp>
        <p:sp>
          <p:nvSpPr>
            <p:cNvPr id="14" name="Isosceles Triangle 13"/>
            <p:cNvSpPr/>
            <p:nvPr/>
          </p:nvSpPr>
          <p:spPr>
            <a:xfrm>
              <a:off x="4005238" y="5067300"/>
              <a:ext cx="228600" cy="228600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rIns="182880" bIns="45720" rtlCol="0" anchor="ctr"/>
            <a:lstStyle/>
            <a:p>
              <a:pPr algn="ctr"/>
              <a:r>
                <a:rPr lang="en-US" sz="1200" dirty="0" smtClean="0"/>
                <a:t>0</a:t>
              </a:r>
              <a:endParaRPr lang="en-US" sz="1200" dirty="0"/>
            </a:p>
          </p:txBody>
        </p:sp>
        <p:sp>
          <p:nvSpPr>
            <p:cNvPr id="15" name="Isosceles Triangle 14"/>
            <p:cNvSpPr/>
            <p:nvPr/>
          </p:nvSpPr>
          <p:spPr>
            <a:xfrm>
              <a:off x="2819400" y="5067300"/>
              <a:ext cx="228600" cy="228600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rIns="182880" bIns="45720" rtlCol="0" anchor="ctr"/>
            <a:lstStyle/>
            <a:p>
              <a:pPr algn="ctr"/>
              <a:r>
                <a:rPr lang="en-US" sz="1200" dirty="0" smtClean="0"/>
                <a:t>0</a:t>
              </a:r>
              <a:endParaRPr lang="en-US" sz="1200" dirty="0"/>
            </a:p>
          </p:txBody>
        </p:sp>
        <p:sp>
          <p:nvSpPr>
            <p:cNvPr id="16" name="Isosceles Triangle 15"/>
            <p:cNvSpPr/>
            <p:nvPr/>
          </p:nvSpPr>
          <p:spPr>
            <a:xfrm>
              <a:off x="4641270" y="5067300"/>
              <a:ext cx="228600" cy="228600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rIns="182880" bIns="45720" rtlCol="0" anchor="ctr"/>
            <a:lstStyle/>
            <a:p>
              <a:pPr algn="ctr"/>
              <a:r>
                <a:rPr lang="en-US" sz="1200" dirty="0" smtClean="0"/>
                <a:t>2</a:t>
              </a:r>
              <a:endParaRPr lang="en-US" sz="1200" dirty="0"/>
            </a:p>
          </p:txBody>
        </p:sp>
        <p:sp>
          <p:nvSpPr>
            <p:cNvPr id="17" name="Isosceles Triangle 16"/>
            <p:cNvSpPr/>
            <p:nvPr/>
          </p:nvSpPr>
          <p:spPr>
            <a:xfrm>
              <a:off x="4954536" y="5067300"/>
              <a:ext cx="228600" cy="228600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rIns="182880" bIns="45720" rtlCol="0" anchor="ctr"/>
            <a:lstStyle/>
            <a:p>
              <a:pPr algn="ctr"/>
              <a:r>
                <a:rPr lang="en-US" sz="1200" dirty="0" smtClean="0"/>
                <a:t>2</a:t>
              </a:r>
              <a:endParaRPr lang="en-US" sz="1200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145036" y="4972050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…</a:t>
              </a:r>
              <a:endParaRPr lang="en-US" dirty="0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5513841" y="5067300"/>
              <a:ext cx="228600" cy="228600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rIns="182880" bIns="45720" rtlCol="0" anchor="ctr"/>
            <a:lstStyle/>
            <a:p>
              <a:pPr algn="ctr"/>
              <a:r>
                <a:rPr lang="en-US" sz="1200" dirty="0" smtClean="0"/>
                <a:t>2</a:t>
              </a:r>
              <a:endParaRPr lang="en-US" sz="1200" dirty="0"/>
            </a:p>
          </p:txBody>
        </p:sp>
        <p:sp>
          <p:nvSpPr>
            <p:cNvPr id="20" name="Isosceles Triangle 19"/>
            <p:cNvSpPr/>
            <p:nvPr/>
          </p:nvSpPr>
          <p:spPr>
            <a:xfrm>
              <a:off x="4328003" y="5067300"/>
              <a:ext cx="228600" cy="228600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rIns="182880" bIns="45720" rtlCol="0" anchor="ctr"/>
            <a:lstStyle/>
            <a:p>
              <a:pPr algn="ctr"/>
              <a:r>
                <a:rPr lang="en-US" sz="1200" dirty="0" smtClean="0"/>
                <a:t>2</a:t>
              </a:r>
              <a:endParaRPr lang="en-US" sz="1200" dirty="0"/>
            </a:p>
          </p:txBody>
        </p:sp>
        <p:sp>
          <p:nvSpPr>
            <p:cNvPr id="21" name="Isosceles Triangle 20"/>
            <p:cNvSpPr/>
            <p:nvPr/>
          </p:nvSpPr>
          <p:spPr>
            <a:xfrm>
              <a:off x="6133589" y="5067300"/>
              <a:ext cx="228600" cy="228600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rIns="182880" bIns="45720" rtlCol="0" anchor="ctr"/>
            <a:lstStyle/>
            <a:p>
              <a:pPr algn="ctr"/>
              <a:r>
                <a:rPr lang="en-US" sz="1200" dirty="0" smtClean="0"/>
                <a:t>1</a:t>
              </a:r>
              <a:endParaRPr lang="en-US" sz="1200" dirty="0"/>
            </a:p>
          </p:txBody>
        </p:sp>
        <p:sp>
          <p:nvSpPr>
            <p:cNvPr id="22" name="Isosceles Triangle 21"/>
            <p:cNvSpPr/>
            <p:nvPr/>
          </p:nvSpPr>
          <p:spPr>
            <a:xfrm>
              <a:off x="6446855" y="5067300"/>
              <a:ext cx="228600" cy="228600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rIns="182880" bIns="45720" rtlCol="0" anchor="ctr"/>
            <a:lstStyle/>
            <a:p>
              <a:pPr algn="ctr"/>
              <a:r>
                <a:rPr lang="en-US" sz="1200" dirty="0" smtClean="0"/>
                <a:t>1</a:t>
              </a:r>
              <a:endParaRPr lang="en-US" sz="1200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637355" y="4984234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…</a:t>
              </a:r>
              <a:endParaRPr lang="en-US" dirty="0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7006160" y="5067300"/>
              <a:ext cx="228600" cy="228600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rIns="182880" bIns="45720" rtlCol="0" anchor="ctr"/>
            <a:lstStyle/>
            <a:p>
              <a:pPr algn="ctr"/>
              <a:r>
                <a:rPr lang="en-US" sz="1200" dirty="0" smtClean="0"/>
                <a:t>1</a:t>
              </a:r>
              <a:endParaRPr lang="en-US" sz="1200" dirty="0"/>
            </a:p>
          </p:txBody>
        </p:sp>
        <p:sp>
          <p:nvSpPr>
            <p:cNvPr id="25" name="Isosceles Triangle 24"/>
            <p:cNvSpPr/>
            <p:nvPr/>
          </p:nvSpPr>
          <p:spPr>
            <a:xfrm>
              <a:off x="5820322" y="5067300"/>
              <a:ext cx="228600" cy="228600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2880" tIns="0" rIns="182880" bIns="45720" rtlCol="0" anchor="ctr"/>
            <a:lstStyle/>
            <a:p>
              <a:pPr algn="ctr"/>
              <a:r>
                <a:rPr lang="en-US" sz="1200" dirty="0" smtClean="0"/>
                <a:t>1</a:t>
              </a:r>
              <a:endParaRPr lang="en-US" sz="1200" dirty="0"/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1345029" y="2671485"/>
            <a:ext cx="5979224" cy="790952"/>
            <a:chOff x="1345029" y="2671485"/>
            <a:chExt cx="5979224" cy="790952"/>
          </a:xfrm>
        </p:grpSpPr>
        <p:sp>
          <p:nvSpPr>
            <p:cNvPr id="26" name="Rounded Rectangle 25"/>
            <p:cNvSpPr/>
            <p:nvPr/>
          </p:nvSpPr>
          <p:spPr>
            <a:xfrm>
              <a:off x="1345029" y="2671485"/>
              <a:ext cx="1463675" cy="295513"/>
            </a:xfrm>
            <a:prstGeom prst="roundRect">
              <a:avLst>
                <a:gd name="adj" fmla="val 7455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2847934" y="2671485"/>
              <a:ext cx="1463675" cy="295513"/>
            </a:xfrm>
            <a:prstGeom prst="roundRect">
              <a:avLst>
                <a:gd name="adj" fmla="val 7455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4353584" y="2671485"/>
              <a:ext cx="1463675" cy="295513"/>
            </a:xfrm>
            <a:prstGeom prst="roundRect">
              <a:avLst>
                <a:gd name="adj" fmla="val 7455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5860578" y="2671485"/>
              <a:ext cx="1463675" cy="295513"/>
            </a:xfrm>
            <a:prstGeom prst="roundRect">
              <a:avLst>
                <a:gd name="adj" fmla="val 7455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600400" y="3000772"/>
              <a:ext cx="1020857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2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Tricount</a:t>
              </a:r>
              <a:r>
                <a:rPr lang="en-US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c0</a:t>
              </a:r>
            </a:p>
            <a:p>
              <a:r>
                <a:rPr lang="en-US" sz="12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Trioffet</a:t>
              </a:r>
              <a:r>
                <a:rPr lang="en-US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0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103233" y="3000771"/>
              <a:ext cx="1020857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2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Tricount</a:t>
              </a:r>
              <a:r>
                <a:rPr lang="en-US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c1</a:t>
              </a:r>
            </a:p>
            <a:p>
              <a:r>
                <a:rPr lang="en-US" sz="12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Trioffet</a:t>
              </a:r>
              <a:r>
                <a:rPr lang="en-US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c0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611836" y="3000772"/>
              <a:ext cx="1020857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2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Tricount</a:t>
              </a:r>
              <a:r>
                <a:rPr lang="en-US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c2</a:t>
              </a:r>
            </a:p>
            <a:p>
              <a:r>
                <a:rPr lang="en-US" sz="12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Trioffet</a:t>
              </a:r>
              <a:r>
                <a:rPr lang="en-US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c1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104155" y="3000772"/>
              <a:ext cx="1020857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2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Tricount</a:t>
              </a:r>
              <a:r>
                <a:rPr lang="en-US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c3</a:t>
              </a:r>
            </a:p>
            <a:p>
              <a:r>
                <a:rPr lang="en-US" sz="12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Trioffet</a:t>
              </a:r>
              <a:r>
                <a:rPr lang="en-US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c2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1635235" y="5864423"/>
            <a:ext cx="5352747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rgbClr val="808080"/>
                </a:solidFill>
                <a:latin typeface="Consolas"/>
              </a:rPr>
              <a:t>devcon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-&gt;</a:t>
            </a:r>
            <a:r>
              <a:rPr lang="en-US" sz="1400" dirty="0" err="1">
                <a:solidFill>
                  <a:srgbClr val="000000"/>
                </a:solidFill>
                <a:latin typeface="Consolas"/>
              </a:rPr>
              <a:t>DrawIndexed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/>
              </a:rPr>
              <a:t>tricount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 * 3, </a:t>
            </a:r>
            <a:r>
              <a:rPr lang="en-US" sz="1400" dirty="0" err="1">
                <a:solidFill>
                  <a:srgbClr val="000000"/>
                </a:solidFill>
                <a:latin typeface="Consolas"/>
              </a:rPr>
              <a:t>trioffset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 * 3, 0);</a:t>
            </a:r>
            <a:endParaRPr lang="en-US" sz="1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122" y="3552825"/>
            <a:ext cx="2133600" cy="169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8550" y="3552825"/>
            <a:ext cx="2124075" cy="169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3981" y="3543300"/>
            <a:ext cx="2152650" cy="171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4675" y="3543300"/>
            <a:ext cx="2143125" cy="1704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35459701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3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Reordering the Index Buffer:</a:t>
            </a:r>
            <a:br>
              <a:rPr lang="en-US" dirty="0" smtClean="0"/>
            </a:br>
            <a:r>
              <a:rPr lang="en-US" dirty="0" err="1" smtClean="0"/>
              <a:t>MeshSeperator</a:t>
            </a:r>
            <a:r>
              <a:rPr lang="en-US" dirty="0" smtClean="0"/>
              <a:t> Class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Each Model now has an instance of </a:t>
            </a:r>
            <a:r>
              <a:rPr lang="en-US" sz="2000" dirty="0" err="1" smtClean="0"/>
              <a:t>MeshSeparator</a:t>
            </a:r>
            <a:endParaRPr lang="en-US" sz="2000" dirty="0" smtClean="0"/>
          </a:p>
          <a:p>
            <a:pPr marL="684213" lvl="1" indent="-227013"/>
            <a:r>
              <a:rPr lang="en-US" sz="1800" dirty="0" smtClean="0"/>
              <a:t>It reorders the index buffers</a:t>
            </a:r>
          </a:p>
          <a:p>
            <a:pPr marL="684213" lvl="1" indent="-227013"/>
            <a:r>
              <a:rPr lang="en-US" sz="1800" dirty="0" smtClean="0"/>
              <a:t>Keeps track of the </a:t>
            </a:r>
            <a:r>
              <a:rPr lang="en-US" sz="1800" dirty="0" err="1" smtClean="0"/>
              <a:t>meshes’s</a:t>
            </a:r>
            <a:r>
              <a:rPr lang="en-US" sz="1800" dirty="0" smtClean="0"/>
              <a:t> start and size</a:t>
            </a:r>
            <a:endParaRPr lang="en-US" sz="18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200400"/>
            <a:ext cx="9220200" cy="3886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271203" y="2286000"/>
            <a:ext cx="5272597" cy="7386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050" dirty="0">
                <a:solidFill>
                  <a:srgbClr val="2B91AF"/>
                </a:solidFill>
                <a:latin typeface="Consolas"/>
              </a:rPr>
              <a:t>Model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050" dirty="0" err="1">
                <a:solidFill>
                  <a:srgbClr val="000000"/>
                </a:solidFill>
                <a:latin typeface="Consolas"/>
              </a:rPr>
              <a:t>privLoadDataToGPU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050" dirty="0" smtClean="0">
                <a:solidFill>
                  <a:srgbClr val="008000"/>
                </a:solidFill>
                <a:latin typeface="Consolas"/>
              </a:rPr>
              <a:t>  // </a:t>
            </a:r>
            <a:r>
              <a:rPr lang="en-US" sz="1050" dirty="0">
                <a:solidFill>
                  <a:srgbClr val="008000"/>
                </a:solidFill>
                <a:latin typeface="Consolas"/>
              </a:rPr>
              <a:t>Extract mesh information</a:t>
            </a:r>
            <a:endParaRPr lang="en-US" sz="1050" dirty="0">
              <a:solidFill>
                <a:srgbClr val="000000"/>
              </a:solidFill>
              <a:latin typeface="Consolas"/>
            </a:endParaRPr>
          </a:p>
          <a:p>
            <a:r>
              <a:rPr lang="en-US" sz="1050" dirty="0" smtClean="0">
                <a:solidFill>
                  <a:srgbClr val="000000"/>
                </a:solidFill>
                <a:latin typeface="Consolas"/>
              </a:rPr>
              <a:t>  meshes 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en-US" sz="1050" dirty="0">
                <a:solidFill>
                  <a:srgbClr val="0000FF"/>
                </a:solidFill>
                <a:latin typeface="Consolas"/>
              </a:rPr>
              <a:t>new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50" dirty="0" err="1">
                <a:solidFill>
                  <a:srgbClr val="2B91AF"/>
                </a:solidFill>
                <a:latin typeface="Consolas"/>
              </a:rPr>
              <a:t>MeshSeparator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50" dirty="0" err="1">
                <a:solidFill>
                  <a:srgbClr val="000000"/>
                </a:solidFill>
                <a:latin typeface="Consolas"/>
              </a:rPr>
              <a:t>pStdVerts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050" dirty="0" err="1">
                <a:solidFill>
                  <a:srgbClr val="000000"/>
                </a:solidFill>
                <a:latin typeface="Consolas"/>
              </a:rPr>
              <a:t>numVerts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050" dirty="0" err="1">
                <a:solidFill>
                  <a:srgbClr val="000000"/>
                </a:solidFill>
                <a:latin typeface="Consolas"/>
              </a:rPr>
              <a:t>pTriList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050" dirty="0" err="1">
                <a:solidFill>
                  <a:srgbClr val="000000"/>
                </a:solidFill>
                <a:latin typeface="Consolas"/>
              </a:rPr>
              <a:t>numTris</a:t>
            </a:r>
            <a:r>
              <a:rPr lang="en-US" sz="1050" dirty="0" smtClean="0">
                <a:solidFill>
                  <a:srgbClr val="000000"/>
                </a:solidFill>
                <a:latin typeface="Consolas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707819837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Changes To:</a:t>
            </a:r>
            <a:br>
              <a:rPr lang="en-US" dirty="0" smtClean="0"/>
            </a:br>
            <a:r>
              <a:rPr lang="en-US" dirty="0" smtClean="0"/>
              <a:t>Model Class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The Model class also needs to add some other mesh functionalities</a:t>
            </a:r>
          </a:p>
          <a:p>
            <a:pPr marL="461963" lvl="1" indent="-188913"/>
            <a:r>
              <a:rPr lang="en-US" sz="1800" dirty="0" smtClean="0"/>
              <a:t>The Render changed a bit:</a:t>
            </a:r>
          </a:p>
          <a:p>
            <a:pPr marL="796925" lvl="2" indent="-188913"/>
            <a:r>
              <a:rPr lang="en-US" sz="1600" dirty="0" smtClean="0"/>
              <a:t>We separate the IA context setting from the rendering</a:t>
            </a:r>
          </a:p>
          <a:p>
            <a:pPr marL="796925" lvl="2" indent="-188913"/>
            <a:r>
              <a:rPr lang="en-US" sz="1600" dirty="0" smtClean="0"/>
              <a:t>We still allow the old Render of all meshes at once</a:t>
            </a:r>
          </a:p>
          <a:p>
            <a:pPr marL="461963" lvl="1" indent="-188913"/>
            <a:r>
              <a:rPr lang="en-US" sz="1800" dirty="0" err="1" smtClean="0"/>
              <a:t>RenderMesh</a:t>
            </a:r>
            <a:r>
              <a:rPr lang="en-US" sz="1800" dirty="0" smtClean="0"/>
              <a:t>: to render a specific mesh only</a:t>
            </a:r>
          </a:p>
          <a:p>
            <a:pPr marL="461963" lvl="1" indent="-188913"/>
            <a:r>
              <a:rPr lang="en-US" sz="1800" dirty="0" err="1" smtClean="0"/>
              <a:t>GetMeshCount</a:t>
            </a:r>
            <a:r>
              <a:rPr lang="en-US" sz="1800" dirty="0" smtClean="0"/>
              <a:t>: Returns the # of meshes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825" y="3352800"/>
            <a:ext cx="4067175" cy="341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914400" y="3962399"/>
            <a:ext cx="3657600" cy="919401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lvl="0" algn="ctr">
              <a:buClr>
                <a:prstClr val="black"/>
              </a:buClr>
              <a:buSzPct val="76000"/>
            </a:pPr>
            <a:r>
              <a:rPr lang="en-US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Note that </a:t>
            </a:r>
            <a:r>
              <a:rPr lang="en-US" sz="1600" i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which</a:t>
            </a:r>
            <a:r>
              <a:rPr lang="en-US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mesh to render is not decided here. </a:t>
            </a:r>
            <a:r>
              <a:rPr lang="en-US" sz="1600" u="sng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That</a:t>
            </a:r>
            <a:r>
              <a:rPr lang="en-US" sz="16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decision must be made up the chain, in the graphic object</a:t>
            </a:r>
          </a:p>
        </p:txBody>
      </p:sp>
    </p:spTree>
    <p:extLst>
      <p:ext uri="{BB962C8B-B14F-4D97-AF65-F5344CB8AC3E}">
        <p14:creationId xmlns:p14="http://schemas.microsoft.com/office/powerpoint/2010/main" val="3620088682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Changes To:</a:t>
            </a:r>
            <a:br>
              <a:rPr lang="en-US" dirty="0" smtClean="0"/>
            </a:br>
            <a:r>
              <a:rPr lang="en-US" dirty="0" err="1" smtClean="0"/>
              <a:t>GraphicObject_Color</a:t>
            </a:r>
            <a:r>
              <a:rPr lang="en-US" dirty="0" smtClean="0"/>
              <a:t> Class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Instead of a single color, we need to store an array of colors, one for each mesh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800" dirty="0" smtClean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endParaRPr lang="en-US" sz="800" dirty="0" smtClean="0"/>
          </a:p>
          <a:p>
            <a:pPr marL="0" indent="0">
              <a:buNone/>
            </a:pPr>
            <a:endParaRPr lang="en-US" sz="800" dirty="0" smtClean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2000" dirty="0" smtClean="0"/>
              <a:t>The only new method needed here is the option to set the color per mesh</a:t>
            </a:r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533400" y="4953000"/>
            <a:ext cx="4903907" cy="9002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50" dirty="0" smtClean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05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50" dirty="0" err="1">
                <a:solidFill>
                  <a:srgbClr val="2B91AF"/>
                </a:solidFill>
                <a:latin typeface="Consolas"/>
              </a:rPr>
              <a:t>GraphicObject_Color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050" dirty="0" err="1">
                <a:solidFill>
                  <a:srgbClr val="000000"/>
                </a:solidFill>
                <a:latin typeface="Consolas"/>
              </a:rPr>
              <a:t>SetColor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50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5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&amp; </a:t>
            </a:r>
            <a:r>
              <a:rPr lang="en-US" sz="1050" dirty="0">
                <a:solidFill>
                  <a:srgbClr val="808080"/>
                </a:solidFill>
                <a:latin typeface="Consolas"/>
              </a:rPr>
              <a:t>col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05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50" dirty="0" err="1">
                <a:solidFill>
                  <a:srgbClr val="808080"/>
                </a:solidFill>
                <a:latin typeface="Consolas"/>
              </a:rPr>
              <a:t>meshnum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050" dirty="0" smtClean="0">
                <a:solidFill>
                  <a:srgbClr val="6F008A"/>
                </a:solidFill>
                <a:latin typeface="Consolas"/>
              </a:rPr>
              <a:t>  assert</a:t>
            </a:r>
            <a:r>
              <a:rPr lang="en-US" sz="105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50" dirty="0" err="1" smtClean="0">
                <a:solidFill>
                  <a:srgbClr val="000000"/>
                </a:solidFill>
                <a:latin typeface="Consolas"/>
              </a:rPr>
              <a:t>pModel</a:t>
            </a:r>
            <a:r>
              <a:rPr lang="en-US" sz="105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50" dirty="0" err="1">
                <a:solidFill>
                  <a:srgbClr val="000000"/>
                </a:solidFill>
                <a:latin typeface="Consolas"/>
              </a:rPr>
              <a:t>ValidMeshNum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50" dirty="0" err="1">
                <a:solidFill>
                  <a:srgbClr val="808080"/>
                </a:solidFill>
                <a:latin typeface="Consolas"/>
              </a:rPr>
              <a:t>meshnum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));</a:t>
            </a:r>
          </a:p>
          <a:p>
            <a:r>
              <a:rPr lang="en-US" sz="105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050" dirty="0" err="1" smtClean="0">
                <a:solidFill>
                  <a:srgbClr val="000000"/>
                </a:solidFill>
                <a:latin typeface="Consolas"/>
              </a:rPr>
              <a:t>MeshColors</a:t>
            </a:r>
            <a:r>
              <a:rPr lang="en-US" sz="1050" dirty="0" smtClean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050" dirty="0" err="1" smtClean="0">
                <a:solidFill>
                  <a:srgbClr val="808080"/>
                </a:solidFill>
                <a:latin typeface="Consolas"/>
              </a:rPr>
              <a:t>meshnum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] </a:t>
            </a:r>
            <a:r>
              <a:rPr lang="en-US" sz="1050" dirty="0">
                <a:solidFill>
                  <a:srgbClr val="008080"/>
                </a:solidFill>
                <a:latin typeface="Consolas"/>
              </a:rPr>
              <a:t>=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50" dirty="0">
                <a:solidFill>
                  <a:srgbClr val="808080"/>
                </a:solidFill>
                <a:latin typeface="Consolas"/>
              </a:rPr>
              <a:t>col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/>
              </a:rPr>
              <a:t>}</a:t>
            </a:r>
            <a:endParaRPr lang="en-US" sz="1050" dirty="0" smtClean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33400" y="1599728"/>
            <a:ext cx="5641288" cy="20313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50" dirty="0" err="1">
                <a:solidFill>
                  <a:srgbClr val="2B91AF"/>
                </a:solidFill>
                <a:latin typeface="Consolas"/>
              </a:rPr>
              <a:t>GraphicObject_Color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050" dirty="0" err="1">
                <a:solidFill>
                  <a:srgbClr val="000000"/>
                </a:solidFill>
                <a:latin typeface="Consolas"/>
              </a:rPr>
              <a:t>GraphicObject_Color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50" dirty="0" err="1">
                <a:solidFill>
                  <a:srgbClr val="2B91AF"/>
                </a:solidFill>
                <a:latin typeface="Consolas"/>
              </a:rPr>
              <a:t>ShaderColor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050" dirty="0" err="1">
                <a:solidFill>
                  <a:srgbClr val="808080"/>
                </a:solidFill>
                <a:latin typeface="Consolas"/>
              </a:rPr>
              <a:t>shader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,  </a:t>
            </a:r>
            <a:r>
              <a:rPr lang="en-US" sz="1050" dirty="0">
                <a:solidFill>
                  <a:srgbClr val="2B91AF"/>
                </a:solidFill>
                <a:latin typeface="Consolas"/>
              </a:rPr>
              <a:t>Model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050" dirty="0">
                <a:solidFill>
                  <a:srgbClr val="808080"/>
                </a:solidFill>
                <a:latin typeface="Consolas"/>
              </a:rPr>
              <a:t>mod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05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050" dirty="0" err="1" smtClean="0">
                <a:solidFill>
                  <a:srgbClr val="000000"/>
                </a:solidFill>
                <a:latin typeface="Consolas"/>
              </a:rPr>
              <a:t>SetModel</a:t>
            </a:r>
            <a:r>
              <a:rPr lang="en-US" sz="105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50" dirty="0" smtClean="0">
                <a:solidFill>
                  <a:srgbClr val="808080"/>
                </a:solidFill>
                <a:latin typeface="Consolas"/>
              </a:rPr>
              <a:t>mod</a:t>
            </a:r>
            <a:r>
              <a:rPr lang="en-US" sz="105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05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050" dirty="0" err="1" smtClean="0">
                <a:solidFill>
                  <a:srgbClr val="000000"/>
                </a:solidFill>
                <a:latin typeface="Consolas"/>
              </a:rPr>
              <a:t>pShader</a:t>
            </a:r>
            <a:r>
              <a:rPr lang="en-US" sz="105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en-US" sz="1050" dirty="0" err="1">
                <a:solidFill>
                  <a:srgbClr val="808080"/>
                </a:solidFill>
                <a:latin typeface="Consolas"/>
              </a:rPr>
              <a:t>shader</a:t>
            </a:r>
            <a:r>
              <a:rPr lang="en-US" sz="1050" dirty="0" smtClean="0">
                <a:solidFill>
                  <a:srgbClr val="000000"/>
                </a:solidFill>
                <a:latin typeface="Consolas"/>
              </a:rPr>
              <a:t>;</a:t>
            </a:r>
            <a:endParaRPr lang="en-US" sz="1050" dirty="0">
              <a:solidFill>
                <a:srgbClr val="000000"/>
              </a:solidFill>
              <a:latin typeface="Consolas"/>
            </a:endParaRPr>
          </a:p>
          <a:p>
            <a:r>
              <a:rPr lang="en-US" sz="1050" dirty="0" smtClean="0">
                <a:solidFill>
                  <a:srgbClr val="008000"/>
                </a:solidFill>
                <a:latin typeface="Consolas"/>
              </a:rPr>
              <a:t>  //</a:t>
            </a:r>
            <a:r>
              <a:rPr lang="en-US" sz="1050" dirty="0">
                <a:solidFill>
                  <a:srgbClr val="008000"/>
                </a:solidFill>
                <a:latin typeface="Consolas"/>
              </a:rPr>
              <a:t>Color = </a:t>
            </a:r>
            <a:r>
              <a:rPr lang="en-US" sz="1050" dirty="0" err="1">
                <a:solidFill>
                  <a:srgbClr val="008000"/>
                </a:solidFill>
                <a:latin typeface="Consolas"/>
              </a:rPr>
              <a:t>Vect</a:t>
            </a:r>
            <a:r>
              <a:rPr lang="en-US" sz="1050" dirty="0">
                <a:solidFill>
                  <a:srgbClr val="008000"/>
                </a:solidFill>
                <a:latin typeface="Consolas"/>
              </a:rPr>
              <a:t>(1, 1, 1);</a:t>
            </a:r>
            <a:endParaRPr lang="en-US" sz="1050" dirty="0">
              <a:solidFill>
                <a:srgbClr val="000000"/>
              </a:solidFill>
              <a:latin typeface="Consolas"/>
            </a:endParaRPr>
          </a:p>
          <a:p>
            <a:r>
              <a:rPr lang="en-US" sz="1050" dirty="0" smtClean="0">
                <a:solidFill>
                  <a:srgbClr val="000000"/>
                </a:solidFill>
                <a:latin typeface="Consolas"/>
              </a:rPr>
              <a:t>  World </a:t>
            </a:r>
            <a:r>
              <a:rPr lang="en-US" sz="1050" dirty="0">
                <a:solidFill>
                  <a:srgbClr val="008080"/>
                </a:solidFill>
                <a:latin typeface="Consolas"/>
              </a:rPr>
              <a:t>=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50" dirty="0">
                <a:solidFill>
                  <a:srgbClr val="2B91AF"/>
                </a:solidFill>
                <a:latin typeface="Consolas"/>
              </a:rPr>
              <a:t>Matrix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50" dirty="0">
                <a:solidFill>
                  <a:srgbClr val="2F4F4F"/>
                </a:solidFill>
                <a:latin typeface="Consolas"/>
              </a:rPr>
              <a:t>IDENTITY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endParaRPr lang="en-US" sz="1050" dirty="0">
              <a:solidFill>
                <a:srgbClr val="000000"/>
              </a:solidFill>
              <a:latin typeface="Consolas"/>
            </a:endParaRPr>
          </a:p>
          <a:p>
            <a:r>
              <a:rPr lang="en-US" sz="1050" dirty="0" smtClean="0">
                <a:solidFill>
                  <a:srgbClr val="0000FF"/>
                </a:solidFill>
                <a:latin typeface="Consolas"/>
              </a:rPr>
              <a:t>  </a:t>
            </a:r>
            <a:r>
              <a:rPr lang="en-US" sz="1050" dirty="0" err="1" smtClean="0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105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n = </a:t>
            </a:r>
            <a:r>
              <a:rPr lang="en-US" sz="1050" dirty="0">
                <a:solidFill>
                  <a:srgbClr val="808080"/>
                </a:solidFill>
                <a:latin typeface="Consolas"/>
              </a:rPr>
              <a:t>mod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-&gt;</a:t>
            </a:r>
            <a:r>
              <a:rPr lang="en-US" sz="1050" dirty="0" err="1">
                <a:solidFill>
                  <a:srgbClr val="000000"/>
                </a:solidFill>
                <a:latin typeface="Consolas"/>
              </a:rPr>
              <a:t>GetMeshCount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r>
              <a:rPr lang="en-US" sz="105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050" dirty="0" err="1" smtClean="0">
                <a:solidFill>
                  <a:srgbClr val="000000"/>
                </a:solidFill>
                <a:latin typeface="Consolas"/>
              </a:rPr>
              <a:t>MeshColors</a:t>
            </a:r>
            <a:r>
              <a:rPr lang="en-US" sz="105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en-US" sz="1050" dirty="0">
                <a:solidFill>
                  <a:srgbClr val="0000FF"/>
                </a:solidFill>
                <a:latin typeface="Consolas"/>
              </a:rPr>
              <a:t>new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5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[n];</a:t>
            </a:r>
          </a:p>
          <a:p>
            <a:r>
              <a:rPr lang="nn-NO" sz="1050" dirty="0" smtClean="0">
                <a:solidFill>
                  <a:srgbClr val="0000FF"/>
                </a:solidFill>
                <a:latin typeface="Consolas"/>
              </a:rPr>
              <a:t>  for</a:t>
            </a:r>
            <a:r>
              <a:rPr lang="nn-NO" sz="105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nn-NO" sz="105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nn-NO" sz="1050" dirty="0">
                <a:solidFill>
                  <a:srgbClr val="0000FF"/>
                </a:solidFill>
                <a:latin typeface="Consolas"/>
              </a:rPr>
              <a:t>int</a:t>
            </a:r>
            <a:r>
              <a:rPr lang="nn-NO" sz="1050" dirty="0">
                <a:solidFill>
                  <a:srgbClr val="000000"/>
                </a:solidFill>
                <a:latin typeface="Consolas"/>
              </a:rPr>
              <a:t> i = 0; i &lt; n; i++)</a:t>
            </a:r>
          </a:p>
          <a:p>
            <a:r>
              <a:rPr lang="en-US" sz="1050" dirty="0" smtClean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050" dirty="0" err="1" smtClean="0">
                <a:solidFill>
                  <a:srgbClr val="000000"/>
                </a:solidFill>
                <a:latin typeface="Consolas"/>
              </a:rPr>
              <a:t>MeshColors</a:t>
            </a:r>
            <a:r>
              <a:rPr lang="en-US" sz="1050" dirty="0" smtClean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050" dirty="0" err="1" smtClean="0">
                <a:solidFill>
                  <a:srgbClr val="000000"/>
                </a:solidFill>
                <a:latin typeface="Consolas"/>
              </a:rPr>
              <a:t>i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] </a:t>
            </a:r>
            <a:r>
              <a:rPr lang="en-US" sz="1050" dirty="0">
                <a:solidFill>
                  <a:srgbClr val="008080"/>
                </a:solidFill>
                <a:latin typeface="Consolas"/>
              </a:rPr>
              <a:t>=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50" dirty="0" err="1">
                <a:solidFill>
                  <a:srgbClr val="2B91AF"/>
                </a:solidFill>
                <a:latin typeface="Consolas"/>
              </a:rPr>
              <a:t>Vect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(0, 0, 0);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/>
              </a:rPr>
              <a:t>}</a:t>
            </a:r>
            <a:endParaRPr lang="en-US" sz="1050" dirty="0" smtClean="0">
              <a:solidFill>
                <a:srgbClr val="000000"/>
              </a:solidFill>
              <a:latin typeface="Consolas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1515" y="1828800"/>
            <a:ext cx="3609975" cy="260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3200400" y="2027455"/>
            <a:ext cx="2019300" cy="578882"/>
          </a:xfrm>
          <a:prstGeom prst="roundRect">
            <a:avLst/>
          </a:prstGeom>
          <a:solidFill>
            <a:srgbClr val="FFFF66"/>
          </a:solidFill>
          <a:ln w="25400">
            <a:solidFill>
              <a:srgbClr val="FF0000"/>
            </a:solidFill>
          </a:ln>
        </p:spPr>
        <p:txBody>
          <a:bodyPr wrap="square" tIns="45720" bIns="45720" rtlCol="0">
            <a:spAutoFit/>
          </a:bodyPr>
          <a:lstStyle/>
          <a:p>
            <a:pPr lvl="0" algn="ctr">
              <a:buClr>
                <a:prstClr val="black"/>
              </a:buClr>
              <a:buSzPct val="76000"/>
            </a:pPr>
            <a:r>
              <a:rPr lang="en-US" sz="1400" b="1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Note: </a:t>
            </a:r>
            <a:r>
              <a:rPr lang="en-US" sz="14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Each mesh uses the same World matrix!</a:t>
            </a:r>
            <a:endParaRPr lang="en-US" sz="1400" b="1" dirty="0" smtClean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83230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 animBg="1"/>
      <p:bldP spid="7" grpId="0" animBg="1"/>
      <p:bldP spid="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Changes To:</a:t>
            </a:r>
            <a:br>
              <a:rPr lang="en-US" dirty="0"/>
            </a:br>
            <a:r>
              <a:rPr lang="en-US" dirty="0" err="1"/>
              <a:t>GraphicObject_Color</a:t>
            </a:r>
            <a:r>
              <a:rPr lang="en-US" dirty="0"/>
              <a:t> Class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 smtClean="0"/>
              <a:t>The ‘Render’ method however needs to change:</a:t>
            </a:r>
          </a:p>
          <a:p>
            <a:pPr marL="461963" lvl="1" indent="-188913"/>
            <a:r>
              <a:rPr lang="en-US" sz="1800" dirty="0" smtClean="0"/>
              <a:t>We set the buffers to context </a:t>
            </a:r>
            <a:r>
              <a:rPr lang="en-US" sz="1800" i="1" u="sng" dirty="0" smtClean="0"/>
              <a:t>once</a:t>
            </a:r>
            <a:endParaRPr lang="en-US" sz="1800" i="1" dirty="0" smtClean="0"/>
          </a:p>
          <a:p>
            <a:pPr marL="461963" lvl="1" indent="-188913"/>
            <a:r>
              <a:rPr lang="en-US" sz="1800" dirty="0" smtClean="0"/>
              <a:t>Then we render each mesh in turn</a:t>
            </a:r>
            <a:endParaRPr lang="en-US" sz="1800" dirty="0"/>
          </a:p>
        </p:txBody>
      </p:sp>
      <p:sp>
        <p:nvSpPr>
          <p:cNvPr id="5" name="TextBox 4"/>
          <p:cNvSpPr txBox="1"/>
          <p:nvPr/>
        </p:nvSpPr>
        <p:spPr>
          <a:xfrm>
            <a:off x="4419600" y="1631206"/>
            <a:ext cx="4387740" cy="17081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50" dirty="0" err="1">
                <a:solidFill>
                  <a:srgbClr val="2B91AF"/>
                </a:solidFill>
                <a:latin typeface="Consolas"/>
              </a:rPr>
              <a:t>GraphicObject_Color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::Render()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05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050" dirty="0" err="1" smtClean="0">
                <a:solidFill>
                  <a:srgbClr val="000000"/>
                </a:solidFill>
                <a:latin typeface="Consolas"/>
              </a:rPr>
              <a:t>pModel</a:t>
            </a:r>
            <a:r>
              <a:rPr lang="en-US" sz="105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50" dirty="0" err="1" smtClean="0">
                <a:solidFill>
                  <a:srgbClr val="000000"/>
                </a:solidFill>
                <a:latin typeface="Consolas"/>
              </a:rPr>
              <a:t>BindVertexIndexBuffers</a:t>
            </a:r>
            <a:r>
              <a:rPr lang="en-US" sz="105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50" dirty="0" err="1" smtClean="0">
                <a:solidFill>
                  <a:srgbClr val="000000"/>
                </a:solidFill>
                <a:latin typeface="Consolas"/>
              </a:rPr>
              <a:t>pShader</a:t>
            </a:r>
            <a:r>
              <a:rPr lang="en-US" sz="105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50" dirty="0" err="1">
                <a:solidFill>
                  <a:srgbClr val="000000"/>
                </a:solidFill>
                <a:latin typeface="Consolas"/>
              </a:rPr>
              <a:t>GetContext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());</a:t>
            </a:r>
          </a:p>
          <a:p>
            <a:r>
              <a:rPr lang="en-US" sz="1050" dirty="0" smtClean="0">
                <a:solidFill>
                  <a:srgbClr val="000000"/>
                </a:solidFill>
                <a:latin typeface="Consolas"/>
              </a:rPr>
              <a:t>  </a:t>
            </a:r>
            <a:endParaRPr lang="en-US" sz="1050" dirty="0">
              <a:solidFill>
                <a:srgbClr val="000000"/>
              </a:solidFill>
              <a:latin typeface="Consolas"/>
            </a:endParaRPr>
          </a:p>
          <a:p>
            <a:r>
              <a:rPr lang="en-US" sz="1050" dirty="0" smtClean="0">
                <a:solidFill>
                  <a:srgbClr val="0000FF"/>
                </a:solidFill>
                <a:latin typeface="Consolas"/>
              </a:rPr>
              <a:t>  for</a:t>
            </a:r>
            <a:r>
              <a:rPr lang="en-US" sz="105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5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50" dirty="0" err="1">
                <a:solidFill>
                  <a:srgbClr val="000000"/>
                </a:solidFill>
                <a:latin typeface="Consolas"/>
              </a:rPr>
              <a:t>i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 = 0; </a:t>
            </a:r>
            <a:r>
              <a:rPr lang="en-US" sz="1050" dirty="0" err="1">
                <a:solidFill>
                  <a:srgbClr val="000000"/>
                </a:solidFill>
                <a:latin typeface="Consolas"/>
              </a:rPr>
              <a:t>i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 &lt; </a:t>
            </a:r>
            <a:r>
              <a:rPr lang="en-US" sz="1050" dirty="0" err="1">
                <a:solidFill>
                  <a:srgbClr val="000000"/>
                </a:solidFill>
                <a:latin typeface="Consolas"/>
              </a:rPr>
              <a:t>pModel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-&gt;</a:t>
            </a:r>
            <a:r>
              <a:rPr lang="en-US" sz="1050" dirty="0" err="1">
                <a:solidFill>
                  <a:srgbClr val="000000"/>
                </a:solidFill>
                <a:latin typeface="Consolas"/>
              </a:rPr>
              <a:t>GetMeshCount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(); </a:t>
            </a:r>
            <a:r>
              <a:rPr lang="en-US" sz="1050" dirty="0" err="1">
                <a:solidFill>
                  <a:srgbClr val="000000"/>
                </a:solidFill>
                <a:latin typeface="Consolas"/>
              </a:rPr>
              <a:t>i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++)</a:t>
            </a:r>
          </a:p>
          <a:p>
            <a:r>
              <a:rPr lang="en-US" sz="1050" dirty="0" smtClean="0">
                <a:solidFill>
                  <a:srgbClr val="000000"/>
                </a:solidFill>
                <a:latin typeface="Consolas"/>
              </a:rPr>
              <a:t>  {</a:t>
            </a:r>
            <a:endParaRPr lang="en-US" sz="1050" dirty="0">
              <a:solidFill>
                <a:srgbClr val="000000"/>
              </a:solidFill>
              <a:latin typeface="Consolas"/>
            </a:endParaRPr>
          </a:p>
          <a:p>
            <a:r>
              <a:rPr lang="en-US" sz="1050" dirty="0" smtClean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050" dirty="0" err="1" smtClean="0">
                <a:solidFill>
                  <a:srgbClr val="000000"/>
                </a:solidFill>
                <a:latin typeface="Consolas"/>
              </a:rPr>
              <a:t>pShader</a:t>
            </a:r>
            <a:r>
              <a:rPr lang="en-US" sz="105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50" dirty="0" err="1">
                <a:solidFill>
                  <a:srgbClr val="000000"/>
                </a:solidFill>
                <a:latin typeface="Consolas"/>
              </a:rPr>
              <a:t>SendWorldColor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(World, </a:t>
            </a:r>
            <a:r>
              <a:rPr lang="en-US" sz="1050" dirty="0" err="1">
                <a:solidFill>
                  <a:srgbClr val="000000"/>
                </a:solidFill>
                <a:latin typeface="Consolas"/>
              </a:rPr>
              <a:t>MeshColors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050" dirty="0" err="1">
                <a:solidFill>
                  <a:srgbClr val="000000"/>
                </a:solidFill>
                <a:latin typeface="Consolas"/>
              </a:rPr>
              <a:t>i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]);</a:t>
            </a:r>
          </a:p>
          <a:p>
            <a:r>
              <a:rPr lang="en-US" sz="1050" dirty="0" smtClean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050" dirty="0" err="1" smtClean="0">
                <a:solidFill>
                  <a:srgbClr val="000000"/>
                </a:solidFill>
                <a:latin typeface="Consolas"/>
              </a:rPr>
              <a:t>pModel</a:t>
            </a:r>
            <a:r>
              <a:rPr lang="en-US" sz="1050" dirty="0" smtClean="0">
                <a:solidFill>
                  <a:srgbClr val="000000"/>
                </a:solidFill>
                <a:latin typeface="Consolas"/>
              </a:rPr>
              <a:t>-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en-US" sz="1050" dirty="0" err="1">
                <a:solidFill>
                  <a:srgbClr val="000000"/>
                </a:solidFill>
                <a:latin typeface="Consolas"/>
              </a:rPr>
              <a:t>RenderMesh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050" dirty="0" err="1">
                <a:solidFill>
                  <a:srgbClr val="000000"/>
                </a:solidFill>
                <a:latin typeface="Consolas"/>
              </a:rPr>
              <a:t>pShader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-&gt;</a:t>
            </a:r>
            <a:r>
              <a:rPr lang="en-US" sz="1050" dirty="0" err="1">
                <a:solidFill>
                  <a:srgbClr val="000000"/>
                </a:solidFill>
                <a:latin typeface="Consolas"/>
              </a:rPr>
              <a:t>GetContext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(), </a:t>
            </a:r>
            <a:r>
              <a:rPr lang="en-US" sz="1050" dirty="0" err="1">
                <a:solidFill>
                  <a:srgbClr val="000000"/>
                </a:solidFill>
                <a:latin typeface="Consolas"/>
              </a:rPr>
              <a:t>i</a:t>
            </a:r>
            <a:r>
              <a:rPr lang="en-US" sz="105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en-US" sz="1050" dirty="0" smtClean="0">
                <a:solidFill>
                  <a:srgbClr val="000000"/>
                </a:solidFill>
                <a:latin typeface="Consolas"/>
              </a:rPr>
              <a:t>  }</a:t>
            </a:r>
            <a:endParaRPr lang="en-US" sz="1050" dirty="0">
              <a:solidFill>
                <a:srgbClr val="000000"/>
              </a:solidFill>
              <a:latin typeface="Consolas"/>
            </a:endParaRPr>
          </a:p>
          <a:p>
            <a:r>
              <a:rPr lang="en-US" sz="1050" dirty="0">
                <a:solidFill>
                  <a:srgbClr val="000000"/>
                </a:solidFill>
                <a:latin typeface="Consolas"/>
              </a:rPr>
              <a:t>}</a:t>
            </a:r>
            <a:endParaRPr lang="en-US" sz="1050" dirty="0" smtClean="0">
              <a:solidFill>
                <a:srgbClr val="000000"/>
              </a:solidFill>
              <a:latin typeface="Consolas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3430588"/>
            <a:ext cx="2495550" cy="203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5690603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A927-C669-46EB-947E-64BB8CE6050D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280758"/>
      </p:ext>
    </p:extLst>
  </p:cSld>
  <p:clrMapOvr>
    <a:masterClrMapping/>
  </p:clrMapOvr>
  <p:transition spd="slow">
    <p:randomBar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Custom 1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0070C0"/>
      </a:hlink>
      <a:folHlink>
        <a:srgbClr val="638BAD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39574</TotalTime>
  <Words>3433</Words>
  <Application>Microsoft Office PowerPoint</Application>
  <PresentationFormat>On-screen Show (4:3)</PresentationFormat>
  <Paragraphs>652</Paragraphs>
  <Slides>29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Origin</vt:lpstr>
      <vt:lpstr>GAM 370/470:  Rendering and Graphics Programming</vt:lpstr>
      <vt:lpstr>PowerPoint Presentation</vt:lpstr>
      <vt:lpstr>Light and Scale </vt:lpstr>
      <vt:lpstr>PowerPoint Presentation</vt:lpstr>
      <vt:lpstr>Models and Shaders are Linked</vt:lpstr>
      <vt:lpstr>Graphic Objects</vt:lpstr>
      <vt:lpstr>Using GraphicObject_Color: (Code Example)</vt:lpstr>
      <vt:lpstr>Using GraphicObject_Texture: (part of homework)</vt:lpstr>
      <vt:lpstr>Graphics Object </vt:lpstr>
      <vt:lpstr>PowerPoint Presentation</vt:lpstr>
      <vt:lpstr>Models from Files</vt:lpstr>
      <vt:lpstr>Loading Model: Azul Style</vt:lpstr>
      <vt:lpstr>Class Changes: Model</vt:lpstr>
      <vt:lpstr>Loading .Azul Data</vt:lpstr>
      <vt:lpstr>Structure Packing</vt:lpstr>
      <vt:lpstr>Fixing This On-The-Fly</vt:lpstr>
      <vt:lpstr>Converting from FBX to Azul</vt:lpstr>
      <vt:lpstr>Converter Limitations</vt:lpstr>
      <vt:lpstr>PowerPoint Presentation</vt:lpstr>
      <vt:lpstr>Models In Parts</vt:lpstr>
      <vt:lpstr>Meshes and  AZUL Format for Vertices</vt:lpstr>
      <vt:lpstr>Reordering the Triangle Array</vt:lpstr>
      <vt:lpstr>DrawIndexed: Partial Drawing</vt:lpstr>
      <vt:lpstr>DrawIndexed: Partial Drawing</vt:lpstr>
      <vt:lpstr>Reordering the Index Buffer: MeshSeperator Class</vt:lpstr>
      <vt:lpstr> Changes To: Model Class</vt:lpstr>
      <vt:lpstr>Changes To: GraphicObject_Color Class</vt:lpstr>
      <vt:lpstr>Changes To: GraphicObject_Color Class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</dc:creator>
  <cp:lastModifiedBy>andre</cp:lastModifiedBy>
  <cp:revision>1902</cp:revision>
  <dcterms:created xsi:type="dcterms:W3CDTF">2013-03-17T23:02:21Z</dcterms:created>
  <dcterms:modified xsi:type="dcterms:W3CDTF">2018-02-21T23:22:22Z</dcterms:modified>
</cp:coreProperties>
</file>