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3"/>
  </p:notesMasterIdLst>
  <p:sldIdLst>
    <p:sldId id="259" r:id="rId2"/>
    <p:sldId id="396" r:id="rId3"/>
    <p:sldId id="395" r:id="rId4"/>
    <p:sldId id="383" r:id="rId5"/>
    <p:sldId id="382" r:id="rId6"/>
    <p:sldId id="384" r:id="rId7"/>
    <p:sldId id="385" r:id="rId8"/>
    <p:sldId id="386" r:id="rId9"/>
    <p:sldId id="387" r:id="rId10"/>
    <p:sldId id="388" r:id="rId11"/>
    <p:sldId id="389" r:id="rId12"/>
    <p:sldId id="406" r:id="rId13"/>
    <p:sldId id="391" r:id="rId14"/>
    <p:sldId id="390" r:id="rId15"/>
    <p:sldId id="392" r:id="rId16"/>
    <p:sldId id="393" r:id="rId17"/>
    <p:sldId id="394" r:id="rId18"/>
    <p:sldId id="397" r:id="rId19"/>
    <p:sldId id="398" r:id="rId20"/>
    <p:sldId id="399" r:id="rId21"/>
    <p:sldId id="400" r:id="rId22"/>
    <p:sldId id="401" r:id="rId23"/>
    <p:sldId id="402" r:id="rId24"/>
    <p:sldId id="403" r:id="rId25"/>
    <p:sldId id="404" r:id="rId26"/>
    <p:sldId id="407" r:id="rId27"/>
    <p:sldId id="405" r:id="rId28"/>
    <p:sldId id="409" r:id="rId29"/>
    <p:sldId id="410" r:id="rId30"/>
    <p:sldId id="412" r:id="rId31"/>
    <p:sldId id="413" r:id="rId32"/>
    <p:sldId id="414" r:id="rId33"/>
    <p:sldId id="411" r:id="rId34"/>
    <p:sldId id="416" r:id="rId35"/>
    <p:sldId id="427" r:id="rId36"/>
    <p:sldId id="417" r:id="rId37"/>
    <p:sldId id="418" r:id="rId38"/>
    <p:sldId id="431" r:id="rId39"/>
    <p:sldId id="420" r:id="rId40"/>
    <p:sldId id="419" r:id="rId41"/>
    <p:sldId id="421" r:id="rId42"/>
    <p:sldId id="422" r:id="rId43"/>
    <p:sldId id="423" r:id="rId44"/>
    <p:sldId id="424" r:id="rId45"/>
    <p:sldId id="425" r:id="rId46"/>
    <p:sldId id="426" r:id="rId47"/>
    <p:sldId id="428" r:id="rId48"/>
    <p:sldId id="429" r:id="rId49"/>
    <p:sldId id="432" r:id="rId50"/>
    <p:sldId id="430" r:id="rId51"/>
    <p:sldId id="415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FF66"/>
    <a:srgbClr val="0D19FF"/>
    <a:srgbClr val="DE38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2881" autoAdjust="0"/>
    <p:restoredTop sz="94471" autoAdjust="0"/>
  </p:normalViewPr>
  <p:slideViewPr>
    <p:cSldViewPr>
      <p:cViewPr varScale="1">
        <p:scale>
          <a:sx n="101" d="100"/>
          <a:sy n="101" d="100"/>
        </p:scale>
        <p:origin x="-103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84DBB-6228-42E2-8BE2-B5B89DE36B0A}" type="datetimeFigureOut">
              <a:rPr lang="en-US" smtClean="0"/>
              <a:t>1/24/2018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6F42D-BF06-49B9-B552-461889774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5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6F42D-BF06-49B9-B552-461889774ED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42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4800" y="304800"/>
            <a:ext cx="8610600" cy="1295400"/>
          </a:xfrm>
        </p:spPr>
        <p:txBody>
          <a:bodyPr anchor="t" anchorCtr="0">
            <a:noAutofit/>
          </a:bodyPr>
          <a:lstStyle>
            <a:lvl1pPr algn="l">
              <a:defRPr sz="3200">
                <a:solidFill>
                  <a:srgbClr val="0070C0"/>
                </a:solidFill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3790950"/>
            <a:ext cx="5715000" cy="184785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  <a:latin typeface="Arial Black" pitchFamily="34" charset="0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dirty="0" smtClean="0"/>
              <a:t>Click to edit Master subtitle style</a:t>
            </a:r>
            <a:endParaRPr kumimoji="0" lang="en-US" dirty="0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1/24/2018</a:t>
            </a:fld>
            <a:endParaRPr 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6106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501968"/>
            <a:ext cx="2289048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9793815C-EA6D-40C7-9E91-479112874C2D}" type="datetime1">
              <a:rPr lang="en-US" smtClean="0"/>
              <a:pPr/>
              <a:t>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96430"/>
            <a:ext cx="4797552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501968"/>
            <a:ext cx="609600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2DD2A927-C669-46EB-947E-64BB8CE605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10600" cy="5257800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</p:spPr>
        <p:txBody>
          <a:bodyPr/>
          <a:lstStyle/>
          <a:p>
            <a:fld id="{6DF0B6F7-A95D-415F-AB9C-947ED3F9C7B2}" type="datetime1">
              <a:rPr lang="en-US" smtClean="0"/>
              <a:t>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5257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52608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1/24/2018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343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343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1/24/2018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1/24/2018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1/24/2018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5257800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477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6172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1/24/2018</a:t>
            </a:fld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fld id="{DBA0D2F6-DF7A-40A9-B654-D40E4E483C8E}" type="datetime1">
              <a:rPr lang="en-US" smtClean="0"/>
              <a:t>1/24/2018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1/24/2018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1/24/2018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52578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2"/>
          </p:nvPr>
        </p:nvSpPr>
        <p:spPr>
          <a:xfrm>
            <a:off x="533400" y="6501968"/>
            <a:ext cx="2289048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9793815C-EA6D-40C7-9E91-479112874C2D}" type="datetime1">
              <a:rPr lang="en-US" smtClean="0"/>
              <a:pPr/>
              <a:t>1/24/2018</a:t>
            </a:fld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8648" y="6496430"/>
            <a:ext cx="4797552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501968"/>
            <a:ext cx="609600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2DD2A927-C669-46EB-947E-64BB8CE6050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randomBar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3200" b="1" kern="1200">
          <a:solidFill>
            <a:srgbClr val="0070C0"/>
          </a:solidFill>
          <a:latin typeface="Arial Black" pitchFamily="34" charset="0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tx1"/>
        </a:buClr>
        <a:buSzPct val="76000"/>
        <a:buFont typeface="Arial" pitchFamily="34" charset="0"/>
        <a:buChar char="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457200" algn="l" rtl="0" eaLnBrk="1" latinLnBrk="0" hangingPunct="1">
        <a:spcBef>
          <a:spcPts val="500"/>
        </a:spcBef>
        <a:buClr>
          <a:schemeClr val="tx1"/>
        </a:buClr>
        <a:buSzPct val="76000"/>
        <a:buFont typeface="Arial" pitchFamily="34" charset="0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tx1"/>
        </a:buClr>
        <a:buSzPct val="76000"/>
        <a:buFont typeface="Arial" pitchFamily="34" charset="0"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tx1"/>
        </a:buClr>
        <a:buSzPct val="70000"/>
        <a:buFont typeface="Arial" pitchFamily="34" charset="0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tx1"/>
        </a:buClr>
        <a:buSzPct val="70000"/>
        <a:buFont typeface="Wingdings"/>
        <a:buChar char="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Mea_culpa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msdn.microsoft.com/en-us/library/windows/desktop/ff476900(v=vs.85).aspx#Views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msdn.microsoft.com/en-us/library/windows/desktop/ff476900(v=vs.85).aspx#Views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msdn.microsoft.com/en-us/library/windows/desktop/ff476132(v=vs.85).aspx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5.jpeg"/><Relationship Id="rId7" Type="http://schemas.openxmlformats.org/officeDocument/2006/relationships/image" Target="../media/image39.png"/><Relationship Id="rId12" Type="http://schemas.openxmlformats.org/officeDocument/2006/relationships/image" Target="../media/image42.png"/><Relationship Id="rId2" Type="http://schemas.openxmlformats.org/officeDocument/2006/relationships/hyperlink" Target="https://msdn.microsoft.com/en-us/library/windows/desktop/ff476256(v=vs.85).aspx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1.png"/><Relationship Id="rId5" Type="http://schemas.openxmlformats.org/officeDocument/2006/relationships/image" Target="../media/image37.png"/><Relationship Id="rId10" Type="http://schemas.microsoft.com/office/2007/relationships/hdphoto" Target="../media/hdphoto1.wdp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5.png"/><Relationship Id="rId7" Type="http://schemas.openxmlformats.org/officeDocument/2006/relationships/image" Target="../media/image4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openxmlformats.org/officeDocument/2006/relationships/image" Target="../media/image47.png"/><Relationship Id="rId5" Type="http://schemas.openxmlformats.org/officeDocument/2006/relationships/image" Target="../media/image40.png"/><Relationship Id="rId10" Type="http://schemas.openxmlformats.org/officeDocument/2006/relationships/image" Target="../media/image46.png"/><Relationship Id="rId4" Type="http://schemas.openxmlformats.org/officeDocument/2006/relationships/image" Target="../media/image44.png"/><Relationship Id="rId9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04800" y="304800"/>
            <a:ext cx="8763000" cy="1295400"/>
          </a:xfrm>
        </p:spPr>
        <p:txBody>
          <a:bodyPr/>
          <a:lstStyle/>
          <a:p>
            <a:r>
              <a:rPr lang="en-US" dirty="0" smtClean="0"/>
              <a:t>GAM 370/470:</a:t>
            </a:r>
            <a:br>
              <a:rPr lang="en-US" dirty="0" smtClean="0"/>
            </a:br>
            <a:r>
              <a:rPr lang="en-US" dirty="0" smtClean="0"/>
              <a:t>Rendering and Graphics Programming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4:</a:t>
            </a:r>
          </a:p>
          <a:p>
            <a:r>
              <a:rPr lang="en-US" dirty="0" err="1" smtClean="0"/>
              <a:t>Shader</a:t>
            </a:r>
            <a:r>
              <a:rPr lang="en-US" dirty="0" smtClean="0"/>
              <a:t> Class and</a:t>
            </a:r>
          </a:p>
          <a:p>
            <a:r>
              <a:rPr lang="en-US" dirty="0" smtClean="0"/>
              <a:t>Texture shading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09367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1:</a:t>
            </a:r>
          </a:p>
          <a:p>
            <a:r>
              <a:rPr lang="en-US" dirty="0" smtClean="0"/>
              <a:t>Minor Changes to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44252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Upgrading Model Class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hlinkClick r:id="rId2"/>
              </a:rPr>
              <a:t>Mea </a:t>
            </a:r>
            <a:r>
              <a:rPr lang="en-US" sz="2000" dirty="0" smtClean="0">
                <a:hlinkClick r:id="rId2"/>
              </a:rPr>
              <a:t>Culpa</a:t>
            </a:r>
            <a:r>
              <a:rPr lang="en-US" sz="2000" dirty="0" smtClean="0"/>
              <a:t>: I should have caught this last week, but didn’t.</a:t>
            </a:r>
          </a:p>
          <a:p>
            <a:pPr marL="0" indent="0">
              <a:buNone/>
            </a:pPr>
            <a:r>
              <a:rPr lang="en-US" sz="2000" dirty="0" smtClean="0"/>
              <a:t>Before: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 smtClean="0"/>
              <a:t>Now: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1447800" y="1676400"/>
            <a:ext cx="5867400" cy="178510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::Render(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ID3D11DeviceContext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UINT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stride =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StandardVertex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UINT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offset = 0;</a:t>
            </a:r>
          </a:p>
          <a:p>
            <a:r>
              <a:rPr lang="en-US" sz="1100" dirty="0" smtClean="0">
                <a:solidFill>
                  <a:srgbClr val="808080"/>
                </a:solidFill>
                <a:latin typeface="Consolas"/>
              </a:rPr>
              <a:t>   context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IASetVertexBuffers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1,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mpVertexBuffer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&amp;stride, &amp;offset);</a:t>
            </a:r>
          </a:p>
          <a:p>
            <a:r>
              <a:rPr lang="en-US" sz="1100" dirty="0" smtClean="0">
                <a:solidFill>
                  <a:srgbClr val="808080"/>
                </a:solidFill>
                <a:latin typeface="Consolas"/>
              </a:rPr>
              <a:t>   context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IASetIndexBuffer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mpIndexBuffer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DXGI_FORMAT_R32_UINT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0);</a:t>
            </a:r>
          </a:p>
          <a:p>
            <a:r>
              <a:rPr lang="en-US" sz="1100" dirty="0" smtClean="0">
                <a:solidFill>
                  <a:srgbClr val="808080"/>
                </a:solidFill>
                <a:latin typeface="Consolas"/>
              </a:rPr>
              <a:t>   context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IASetPrimitiveTopology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D3D11_PRIMITIVE_TOPOLOGY_TRIANGLELIST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808080"/>
                </a:solidFill>
                <a:latin typeface="Consolas"/>
              </a:rPr>
              <a:t>   context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DrawIndexed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numTris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* 3, 0, 0); 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dirty="0">
              <a:solidFill>
                <a:srgbClr val="2B91AF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32711" y="3657600"/>
            <a:ext cx="5867400" cy="229293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SetToContext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ID3D11DeviceContext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UINT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stride =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StandardVertex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UINT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offset = 0;</a:t>
            </a:r>
          </a:p>
          <a:p>
            <a:r>
              <a:rPr lang="en-US" sz="1100" dirty="0" smtClean="0">
                <a:solidFill>
                  <a:srgbClr val="808080"/>
                </a:solidFill>
                <a:latin typeface="Consolas"/>
              </a:rPr>
              <a:t>   context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IASetVertexBuffers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1,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mpVertexBuffer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&amp;stride, &amp;offset);</a:t>
            </a:r>
          </a:p>
          <a:p>
            <a:r>
              <a:rPr lang="en-US" sz="1100" dirty="0" smtClean="0">
                <a:solidFill>
                  <a:srgbClr val="808080"/>
                </a:solidFill>
                <a:latin typeface="Consolas"/>
              </a:rPr>
              <a:t>   context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IASetIndexBuffer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mpIndexBuffer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DXGI_FORMAT_R32_UINT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0);</a:t>
            </a:r>
          </a:p>
          <a:p>
            <a:r>
              <a:rPr lang="en-US" sz="1100" dirty="0" smtClean="0">
                <a:solidFill>
                  <a:srgbClr val="808080"/>
                </a:solidFill>
                <a:latin typeface="Consolas"/>
              </a:rPr>
              <a:t>   context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IASetPrimitiveTopology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D3D11_PRIMITIVE_TOPOLOGY_TRIANGLELIST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::Render(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ID3D11DeviceContext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808080"/>
                </a:solidFill>
                <a:latin typeface="Consolas"/>
              </a:rPr>
              <a:t>   context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DrawIndexed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numTris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* 3, 0, 0);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dirty="0">
              <a:solidFill>
                <a:srgbClr val="2B91AF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00454" y="4915614"/>
            <a:ext cx="2057400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Same work, but split across two functions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62200" y="6038223"/>
            <a:ext cx="4343400" cy="40862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Why? More on this later (performance)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42690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2:</a:t>
            </a:r>
          </a:p>
          <a:p>
            <a:r>
              <a:rPr lang="en-US" dirty="0" smtClean="0"/>
              <a:t>More Clean-up with </a:t>
            </a:r>
            <a:r>
              <a:rPr lang="en-US" dirty="0" err="1" smtClean="0"/>
              <a:t>Shader</a:t>
            </a:r>
            <a:r>
              <a:rPr lang="en-US" dirty="0" smtClean="0"/>
              <a:t> Class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87625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Clean-up of </a:t>
            </a:r>
            <a:r>
              <a:rPr lang="en-US" dirty="0" err="1" smtClean="0"/>
              <a:t>DXApp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err="1" smtClean="0"/>
              <a:t>Shader</a:t>
            </a:r>
            <a:r>
              <a:rPr lang="en-US" dirty="0" smtClean="0"/>
              <a:t> Class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We definitely want to encapsulate the </a:t>
            </a:r>
            <a:r>
              <a:rPr lang="en-US" sz="2000" dirty="0" err="1" smtClean="0"/>
              <a:t>shaders</a:t>
            </a:r>
            <a:r>
              <a:rPr lang="en-US" sz="2000" dirty="0" smtClean="0"/>
              <a:t> stuff. But…</a:t>
            </a:r>
          </a:p>
          <a:p>
            <a:pPr marL="457200" lvl="1" indent="0">
              <a:buNone/>
            </a:pPr>
            <a:r>
              <a:rPr lang="en-US" sz="1800" b="1" dirty="0" smtClean="0"/>
              <a:t>Problem:</a:t>
            </a:r>
            <a:r>
              <a:rPr lang="en-US" sz="1800" dirty="0" smtClean="0"/>
              <a:t> Unlike for the Model class, we should have</a:t>
            </a:r>
          </a:p>
          <a:p>
            <a:pPr marL="1203325" lvl="2" indent="-177800"/>
            <a:r>
              <a:rPr lang="en-US" dirty="0" smtClean="0"/>
              <a:t>A </a:t>
            </a:r>
            <a:r>
              <a:rPr lang="en-US" u="sng" dirty="0" err="1" smtClean="0"/>
              <a:t>shader</a:t>
            </a:r>
            <a:r>
              <a:rPr lang="en-US" u="sng" dirty="0" smtClean="0"/>
              <a:t> base class</a:t>
            </a:r>
            <a:r>
              <a:rPr lang="en-US" dirty="0" smtClean="0"/>
              <a:t>:</a:t>
            </a:r>
          </a:p>
          <a:p>
            <a:pPr marL="1487488" lvl="3" indent="0">
              <a:buNone/>
            </a:pPr>
            <a:r>
              <a:rPr lang="en-US" i="1" dirty="0" smtClean="0"/>
              <a:t>Holds/manages data and operations that are common to all </a:t>
            </a:r>
            <a:r>
              <a:rPr lang="en-US" i="1" dirty="0" err="1" smtClean="0"/>
              <a:t>shaders</a:t>
            </a:r>
            <a:r>
              <a:rPr lang="en-US" i="1" dirty="0" smtClean="0"/>
              <a:t>.</a:t>
            </a:r>
          </a:p>
          <a:p>
            <a:pPr marL="1203325" lvl="2" indent="-177800"/>
            <a:r>
              <a:rPr lang="en-US" dirty="0" smtClean="0"/>
              <a:t>Various </a:t>
            </a:r>
            <a:r>
              <a:rPr lang="en-US" u="sng" dirty="0" smtClean="0"/>
              <a:t>derived </a:t>
            </a:r>
            <a:r>
              <a:rPr lang="en-US" u="sng" dirty="0" err="1" smtClean="0"/>
              <a:t>shader</a:t>
            </a:r>
            <a:r>
              <a:rPr lang="en-US" u="sng" dirty="0" smtClean="0"/>
              <a:t> classes</a:t>
            </a:r>
            <a:r>
              <a:rPr lang="en-US" dirty="0" smtClean="0"/>
              <a:t>: one for each of our HLSL </a:t>
            </a:r>
            <a:r>
              <a:rPr lang="en-US" dirty="0" err="1" smtClean="0"/>
              <a:t>shaders</a:t>
            </a:r>
            <a:endParaRPr lang="en-US" dirty="0" smtClean="0"/>
          </a:p>
          <a:p>
            <a:pPr marL="1487488" lvl="3" indent="0">
              <a:buNone/>
            </a:pPr>
            <a:r>
              <a:rPr lang="en-US" i="1" dirty="0" smtClean="0"/>
              <a:t>Holds/manages what is specific to that </a:t>
            </a:r>
            <a:r>
              <a:rPr lang="en-US" i="1" dirty="0" err="1" smtClean="0"/>
              <a:t>shader</a:t>
            </a:r>
            <a:r>
              <a:rPr lang="en-US" i="1" dirty="0" smtClean="0"/>
              <a:t>.</a:t>
            </a:r>
          </a:p>
          <a:p>
            <a:pPr marL="1487488" lvl="3" indent="0">
              <a:buNone/>
            </a:pPr>
            <a:endParaRPr lang="en-US" sz="800" i="1" dirty="0"/>
          </a:p>
          <a:p>
            <a:pPr marL="3175" indent="0">
              <a:buNone/>
            </a:pPr>
            <a:r>
              <a:rPr lang="en-US" sz="2000" b="1" dirty="0" smtClean="0"/>
              <a:t>Q: </a:t>
            </a:r>
            <a:r>
              <a:rPr lang="en-US" sz="2000" dirty="0" smtClean="0"/>
              <a:t>How would you design these classes? (what data members and what services?)</a:t>
            </a:r>
          </a:p>
          <a:p>
            <a:pPr marL="3175" indent="0">
              <a:buNone/>
            </a:pPr>
            <a:r>
              <a:rPr lang="en-US" sz="2000" b="1" dirty="0" smtClean="0"/>
              <a:t>A: </a:t>
            </a:r>
            <a:r>
              <a:rPr lang="en-US" sz="2000" dirty="0" smtClean="0"/>
              <a:t>One possibility: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4137898"/>
            <a:ext cx="3458319" cy="23391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</a:t>
            </a: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Base Class: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Members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4488" indent="-117475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Handles for vertex &amp; pixel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4488" indent="-117475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Handle for input layout</a:t>
            </a:r>
          </a:p>
          <a:p>
            <a:pPr marL="344488" indent="-117475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Operation/Services: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4488" indent="-117475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Compile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send to GPU</a:t>
            </a:r>
          </a:p>
          <a:p>
            <a:pPr marL="344488" indent="-117475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 the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DX context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7013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48200" y="4137898"/>
            <a:ext cx="3111557" cy="23391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</a:t>
            </a: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Derived Class: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Members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4488" indent="-117475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Handles for resource buffers</a:t>
            </a:r>
          </a:p>
          <a:p>
            <a:pPr marL="227013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Operation/Services: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4488" indent="-117475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 detail for input layout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4488" indent="-117475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buffers to context</a:t>
            </a:r>
          </a:p>
          <a:p>
            <a:pPr marL="344488" indent="-117475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Update data to resource buffers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7013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46618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ShaderBase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2400" y="1066800"/>
            <a:ext cx="8763000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ShaderBase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Align16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private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: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ID3D11Device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*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mDevice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ID3D11DeviceContext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*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mContext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ID3D11VertexShader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mpVertexShader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   ID3D11PixelShader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mpPixelShader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   ID3D11InputLayout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mpVertexLayout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ID3DBlob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pVSBlob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ID3DBlob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pPSBlob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/>
            </a:r>
            <a:br>
              <a:rPr lang="en-US" sz="1100" dirty="0" smtClean="0">
                <a:solidFill>
                  <a:srgbClr val="000000"/>
                </a:solidFill>
                <a:latin typeface="Consolas"/>
              </a:rPr>
            </a:b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privBuildShaders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WCHAR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filename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LPCSTR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vsModel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LPCSTR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psModel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HRESULT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CompileShaderFromFile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&lt;…&gt;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protected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: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ID3D11Device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GetDevice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 {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mDevice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 }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ID3D11DeviceContext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GetContext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 {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 }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ShaderBase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ID3D11Device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device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WCHAR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filename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LPCSTR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vsModel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A31515"/>
                </a:solidFill>
                <a:latin typeface="Consolas"/>
              </a:rPr>
              <a:t>"vs_4_0"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LPCSTR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psModel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A31515"/>
                </a:solidFill>
                <a:latin typeface="Consolas"/>
              </a:rPr>
              <a:t>"ps_4_0"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void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CreateInputLayout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D3D11_INPUT_ELEMENT_DESC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layoutdesc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UINT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size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void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ID3D11DeviceContext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devcon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void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SetToContext_VS_PS_InputLayout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virtual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~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ShaderBase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virtual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SetToContext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ID3D11DeviceContext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devcon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= 0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};</a:t>
            </a:r>
            <a:endParaRPr lang="en-US" sz="1100" dirty="0">
              <a:solidFill>
                <a:srgbClr val="2B91AF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0" y="1676400"/>
            <a:ext cx="4129136" cy="23836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Stored pointers to avoid passing them in every method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76600" y="2133600"/>
            <a:ext cx="2895600" cy="47672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Actual objects managed by this class</a:t>
            </a:r>
          </a:p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(create, release, etc.)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57400" y="2819140"/>
            <a:ext cx="4281536" cy="23836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need these to build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shaders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create input layout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03615" y="3276600"/>
            <a:ext cx="3011786" cy="23836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 and send the VS and PS to GPU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62400" y="5126572"/>
            <a:ext cx="3048000" cy="23836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Saves the pointer to current DX context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79961" y="5449478"/>
            <a:ext cx="4392439" cy="23836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 the DX context to use these VS, PS and input layout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1" y="6096000"/>
            <a:ext cx="3352800" cy="23836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the </a:t>
            </a:r>
            <a:r>
              <a:rPr lang="en-US" sz="1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derived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class is set to DX Context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19800" y="4756841"/>
            <a:ext cx="3047999" cy="23836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Layout (with input from </a:t>
            </a:r>
            <a:r>
              <a:rPr lang="en-US" sz="1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derived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class)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74882" y="4243059"/>
            <a:ext cx="3078933" cy="23836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Ctor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get device pointer and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39633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Shader</a:t>
            </a:r>
            <a:r>
              <a:rPr lang="en-US" dirty="0" smtClean="0"/>
              <a:t> Derived Class:</a:t>
            </a:r>
            <a:br>
              <a:rPr lang="en-US" dirty="0" smtClean="0"/>
            </a:br>
            <a:r>
              <a:rPr lang="en-US" dirty="0" err="1" smtClean="0"/>
              <a:t>ShaderColor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1143000"/>
            <a:ext cx="5486400" cy="500136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ShaderColor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ShaderBase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{</a:t>
            </a:r>
            <a:br>
              <a:rPr lang="en-US" sz="1100" dirty="0" smtClean="0">
                <a:solidFill>
                  <a:srgbClr val="000000"/>
                </a:solidFill>
                <a:latin typeface="Consolas"/>
              </a:rPr>
            </a:br>
            <a:r>
              <a:rPr lang="en-US" sz="1100" dirty="0">
                <a:solidFill>
                  <a:srgbClr val="0000FF"/>
                </a:solidFill>
                <a:latin typeface="Consolas"/>
              </a:rPr>
              <a:t>private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CamMatrices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View;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Projection;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};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ID3D11Buffer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mpBufferCamMatrices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Data_WorldColor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World;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Color;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};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ID3D11Buffer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mpBuffWordColor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~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ShaderColor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           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ShaderColor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ID3D11Device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device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virtual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SetToContext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ID3D11DeviceContext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devcon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override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fr-FR" sz="1100" dirty="0" smtClean="0">
                <a:solidFill>
                  <a:srgbClr val="0000FF"/>
                </a:solidFill>
                <a:latin typeface="Consolas"/>
              </a:rPr>
              <a:t>   </a:t>
            </a:r>
            <a:r>
              <a:rPr lang="fr-FR" sz="1100" dirty="0" err="1" smtClean="0">
                <a:solidFill>
                  <a:srgbClr val="0000FF"/>
                </a:solidFill>
                <a:latin typeface="Consolas"/>
              </a:rPr>
              <a:t>void</a:t>
            </a:r>
            <a:r>
              <a:rPr lang="fr-FR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100" dirty="0" err="1">
                <a:solidFill>
                  <a:srgbClr val="000000"/>
                </a:solidFill>
                <a:latin typeface="Consolas"/>
              </a:rPr>
              <a:t>SendCamMatrices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fr-FR" sz="11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fr-FR" sz="1100" dirty="0" err="1">
                <a:solidFill>
                  <a:srgbClr val="808080"/>
                </a:solidFill>
                <a:latin typeface="Consolas"/>
              </a:rPr>
              <a:t>view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fr-FR" sz="11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fr-FR" sz="1100" dirty="0" err="1">
                <a:solidFill>
                  <a:srgbClr val="808080"/>
                </a:solidFill>
                <a:latin typeface="Consolas"/>
              </a:rPr>
              <a:t>proj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void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SendWorldColor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col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99846" y="5002749"/>
            <a:ext cx="3963154" cy="23836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to do to set </a:t>
            </a:r>
            <a:r>
              <a:rPr lang="en-US" sz="1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14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DX context (How?)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5715000"/>
            <a:ext cx="3733800" cy="23836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Sending to the GPU the data this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needs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76600" y="4638437"/>
            <a:ext cx="5016374" cy="23836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constructed looking specifically for “ColorSelected3D”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38600" y="2202865"/>
            <a:ext cx="5140859" cy="229293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2B91AF"/>
                </a:solidFill>
                <a:latin typeface="Consolas"/>
              </a:rPr>
              <a:t>ShaderColor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ShaderColor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ID3D11Device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device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ShaderBase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device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A31515"/>
                </a:solidFill>
                <a:latin typeface="Consolas"/>
              </a:rPr>
              <a:t>L"../Assets/</a:t>
            </a:r>
            <a:r>
              <a:rPr lang="en-US" sz="1100" dirty="0" err="1">
                <a:solidFill>
                  <a:srgbClr val="A31515"/>
                </a:solidFill>
                <a:latin typeface="Consolas"/>
              </a:rPr>
              <a:t>Shaders</a:t>
            </a:r>
            <a:r>
              <a:rPr lang="en-US" sz="1100" dirty="0">
                <a:solidFill>
                  <a:srgbClr val="A31515"/>
                </a:solidFill>
                <a:latin typeface="Consolas"/>
              </a:rPr>
              <a:t>/ColorSelected3D.hlsl"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Define the input layout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D3D11_INPUT_ELEMENT_DESC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layout[] =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{ </a:t>
            </a:r>
            <a:r>
              <a:rPr lang="en-US" sz="1100" dirty="0">
                <a:solidFill>
                  <a:srgbClr val="A31515"/>
                </a:solidFill>
                <a:latin typeface="Consolas"/>
              </a:rPr>
              <a:t>"POSITION"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100" dirty="0" smtClean="0">
                <a:solidFill>
                  <a:srgbClr val="2F4F4F"/>
                </a:solidFill>
                <a:latin typeface="Consolas"/>
              </a:rPr>
              <a:t>…&gt;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};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UINT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numElements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6F008A"/>
                </a:solidFill>
                <a:latin typeface="Consolas"/>
              </a:rPr>
              <a:t>ARRAYSIZE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(layout);  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CreateInputLayout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(layout,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numElements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&lt; set up the buffer handles&gt;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8503" y="3739081"/>
            <a:ext cx="3458424" cy="226338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57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800600" y="5335250"/>
            <a:ext cx="4876800" cy="144655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ShaderColor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SetToContext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ID3D11DeviceContext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devcon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ShaderBase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devcon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ShaderBase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SetToContext_VS_PS_InputLayout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80808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808080"/>
                </a:solidFill>
                <a:latin typeface="Consolas"/>
              </a:rPr>
              <a:t>devcon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VSSetConstantBuffers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1,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mpBufferCamMatrices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80808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808080"/>
                </a:solidFill>
                <a:latin typeface="Consolas"/>
              </a:rPr>
              <a:t>devcon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VSSetConstantBuffers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(1, 1,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mpBuffWordColor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1981200" y="2895600"/>
            <a:ext cx="1752600" cy="1143000"/>
            <a:chOff x="1981200" y="2895600"/>
            <a:chExt cx="1752600" cy="1143000"/>
          </a:xfrm>
        </p:grpSpPr>
        <p:sp>
          <p:nvSpPr>
            <p:cNvPr id="6" name="TextBox 5"/>
            <p:cNvSpPr txBox="1"/>
            <p:nvPr/>
          </p:nvSpPr>
          <p:spPr>
            <a:xfrm>
              <a:off x="1981200" y="3257074"/>
              <a:ext cx="1752600" cy="476726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Managed handles</a:t>
              </a:r>
            </a:p>
            <a:p>
              <a:pPr algn="ctr"/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(create, release, etc.)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" name="Straight Arrow Connector 12"/>
            <p:cNvCxnSpPr>
              <a:stCxn id="6" idx="0"/>
            </p:cNvCxnSpPr>
            <p:nvPr/>
          </p:nvCxnSpPr>
          <p:spPr>
            <a:xfrm flipH="1" flipV="1">
              <a:off x="2667000" y="2895600"/>
              <a:ext cx="190500" cy="36147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6" idx="2"/>
            </p:cNvCxnSpPr>
            <p:nvPr/>
          </p:nvCxnSpPr>
          <p:spPr>
            <a:xfrm flipH="1">
              <a:off x="2552700" y="3733800"/>
              <a:ext cx="304800" cy="3048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7173011" y="2600674"/>
            <a:ext cx="1894789" cy="23836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Hard-coded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40876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Shader</a:t>
            </a:r>
            <a:r>
              <a:rPr lang="en-US" dirty="0" smtClean="0"/>
              <a:t> Class Demo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04800" y="1219200"/>
            <a:ext cx="3048000" cy="398570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DXApp.h</a:t>
            </a:r>
            <a:endParaRPr lang="en-US" sz="1100" dirty="0" smtClean="0">
              <a:solidFill>
                <a:srgbClr val="008000"/>
              </a:solidFill>
              <a:latin typeface="Consolas"/>
            </a:endParaRPr>
          </a:p>
          <a:p>
            <a:endParaRPr lang="en-US" sz="1100" dirty="0" smtClean="0">
              <a:solidFill>
                <a:srgbClr val="0000FF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2B91AF"/>
                </a:solidFill>
                <a:latin typeface="Consolas"/>
              </a:rPr>
              <a:t>ShaderColor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pShColor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//ID3D11VertexShader*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mpVertexShader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//ID3D11PixelShader* 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mpPixelShader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//ID3D11InputLayout* 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mpVertexLayout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//ID3D11Buffer*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mpcbViewProj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ViewProjData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  Matrix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mView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  Matrix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mProjection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//};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//ID3D11Buffer*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mpcbWorldColor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WorldColorData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  Matrix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World;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 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Color;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//};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0" y="1219200"/>
            <a:ext cx="5486400" cy="144655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DXApp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::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InitDemo</a:t>
            </a:r>
            <a:endParaRPr lang="en-US" sz="1100" dirty="0" smtClean="0">
              <a:solidFill>
                <a:srgbClr val="008000"/>
              </a:solidFill>
              <a:latin typeface="Consolas"/>
            </a:endParaRPr>
          </a:p>
          <a:p>
            <a:endParaRPr lang="en-US" sz="1100" dirty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LOTS of code removed!!!</a:t>
            </a:r>
          </a:p>
          <a:p>
            <a:endParaRPr lang="en-US" sz="1100" dirty="0" smtClean="0">
              <a:solidFill>
                <a:srgbClr val="0000FF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pShColor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ShaderColor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(md3dDevice);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pShColor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SetToContext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(md3dImmediateContext);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pModel1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 md3dDevice,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PreMadedeModels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2F4F4F"/>
                </a:solidFill>
                <a:latin typeface="Consolas"/>
              </a:rPr>
              <a:t>UnitBox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8719" y="2819400"/>
            <a:ext cx="7549081" cy="381642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DrawScene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ClearRenderTargetView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mRenderTargetView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6F008A"/>
                </a:solidFill>
                <a:latin typeface="Consolas"/>
              </a:rPr>
              <a:t>VasA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BackgroundColor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ClearDepthStencilView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mpDepthStencilView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D3D11_CLEAR_DEPTH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1.0f, 0);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ViewProjData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vpdata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vpdata.mView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mCam.getViewMatrix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();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vpdata.mProjection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mCam.getProjMatrix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();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md3dImmediateContext-&gt;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UpdateSubresource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mpcbViewProj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, 0,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vpdata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, 0, 0);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WorldColorData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wcdata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wcdata.World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mWorld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wcdata.Color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= Colors::Yellow;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md3dImmediateContext-&gt;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UpdateSubresource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mpcbWorldColor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, 0,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wcdata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, 0, 0);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pShColor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SendCamMatrices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mCam.getViewMatrix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mCam.getProjMatrix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pShColor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SendWorldColor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Colors::White 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pModel1-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&gt;Render(md3dImmediateContext);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mSwapChain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&gt;Present(0, 0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483474"/>
            <a:ext cx="2552126" cy="2251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062374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Unpacking the Sequence:</a:t>
            </a:r>
            <a:br>
              <a:rPr lang="en-US" dirty="0" smtClean="0"/>
            </a:br>
            <a:r>
              <a:rPr lang="en-US" dirty="0" smtClean="0"/>
              <a:t>Constructor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3580" y="1219199"/>
            <a:ext cx="3733800" cy="76944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DXApp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::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InitDemo</a:t>
            </a:r>
            <a:endParaRPr lang="en-US" sz="1100" dirty="0" smtClean="0">
              <a:solidFill>
                <a:srgbClr val="008000"/>
              </a:solidFill>
              <a:latin typeface="Consolas"/>
            </a:endParaRPr>
          </a:p>
          <a:p>
            <a:endParaRPr lang="en-US" sz="1100" dirty="0" smtClean="0">
              <a:solidFill>
                <a:srgbClr val="0000FF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pShColor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ShaderColor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(md3dDevice);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pShColor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SetToContext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(md3dImmediateContext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880480" y="1228012"/>
            <a:ext cx="8339556" cy="5678478"/>
            <a:chOff x="2480844" y="1228012"/>
            <a:chExt cx="8339556" cy="5678478"/>
          </a:xfrm>
        </p:grpSpPr>
        <p:sp>
          <p:nvSpPr>
            <p:cNvPr id="6" name="TextBox 5"/>
            <p:cNvSpPr txBox="1"/>
            <p:nvPr/>
          </p:nvSpPr>
          <p:spPr>
            <a:xfrm>
              <a:off x="3581400" y="1228012"/>
              <a:ext cx="7239000" cy="56784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rgbClr val="2B91AF"/>
                  </a:solidFill>
                  <a:latin typeface="Consolas"/>
                </a:rPr>
                <a:t>ShaderColor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::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ShaderColor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>
                  <a:solidFill>
                    <a:srgbClr val="2B91AF"/>
                  </a:solidFill>
                  <a:latin typeface="Consolas"/>
                </a:rPr>
                <a:t>ID3D11Device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* </a:t>
              </a:r>
              <a:r>
                <a:rPr lang="en-US" sz="1100" dirty="0">
                  <a:solidFill>
                    <a:srgbClr val="808080"/>
                  </a:solidFill>
                  <a:latin typeface="Consolas"/>
                </a:rPr>
                <a:t>device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: </a:t>
              </a:r>
              <a:r>
                <a:rPr lang="en-US" sz="1100" dirty="0" err="1">
                  <a:solidFill>
                    <a:srgbClr val="2B91AF"/>
                  </a:solidFill>
                  <a:latin typeface="Consolas"/>
                </a:rPr>
                <a:t>ShaderBase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>
                  <a:solidFill>
                    <a:srgbClr val="808080"/>
                  </a:solidFill>
                  <a:latin typeface="Consolas"/>
                </a:rPr>
                <a:t>device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100" dirty="0">
                  <a:solidFill>
                    <a:srgbClr val="A31515"/>
                  </a:solidFill>
                  <a:latin typeface="Consolas"/>
                </a:rPr>
                <a:t>L"../Assets/</a:t>
              </a:r>
              <a:r>
                <a:rPr lang="en-US" sz="1100" dirty="0" err="1">
                  <a:solidFill>
                    <a:srgbClr val="A31515"/>
                  </a:solidFill>
                  <a:latin typeface="Consolas"/>
                </a:rPr>
                <a:t>Shaders</a:t>
              </a:r>
              <a:r>
                <a:rPr lang="en-US" sz="1100" dirty="0">
                  <a:solidFill>
                    <a:srgbClr val="A31515"/>
                  </a:solidFill>
                  <a:latin typeface="Consolas"/>
                </a:rPr>
                <a:t>/ColorSelected3D.hlsl"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{</a:t>
              </a:r>
            </a:p>
            <a:p>
              <a:r>
                <a:rPr lang="en-US" sz="1100" dirty="0" smtClean="0">
                  <a:solidFill>
                    <a:srgbClr val="2B91AF"/>
                  </a:solidFill>
                  <a:latin typeface="Consolas"/>
                </a:rPr>
                <a:t>   D3D11_INPUT_ELEMENT_DESC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layout[] =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{</a:t>
              </a:r>
              <a:endParaRPr lang="en-US" sz="11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   { </a:t>
              </a:r>
              <a:r>
                <a:rPr lang="en-US" sz="1100" dirty="0">
                  <a:solidFill>
                    <a:srgbClr val="A31515"/>
                  </a:solidFill>
                  <a:latin typeface="Consolas"/>
                </a:rPr>
                <a:t>"POSITION"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0, </a:t>
              </a:r>
              <a:r>
                <a:rPr lang="en-US" sz="1100" dirty="0">
                  <a:solidFill>
                    <a:srgbClr val="2F4F4F"/>
                  </a:solidFill>
                  <a:latin typeface="Consolas"/>
                </a:rPr>
                <a:t>DXGI_FORMAT_R32G32B32_FLOAT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0, 0, </a:t>
              </a:r>
              <a:r>
                <a:rPr lang="en-US" sz="1100" dirty="0">
                  <a:solidFill>
                    <a:srgbClr val="2F4F4F"/>
                  </a:solidFill>
                  <a:latin typeface="Consolas"/>
                </a:rPr>
                <a:t>D3D11_INPUT_PER_VERTEX_DATA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0 }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};</a:t>
              </a:r>
              <a:endParaRPr lang="en-US" sz="11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100" dirty="0" smtClean="0">
                  <a:solidFill>
                    <a:srgbClr val="2B91AF"/>
                  </a:solidFill>
                  <a:latin typeface="Consolas"/>
                </a:rPr>
                <a:t>   UINT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numElements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= </a:t>
              </a:r>
              <a:r>
                <a:rPr lang="en-US" sz="1100" dirty="0">
                  <a:solidFill>
                    <a:srgbClr val="6F008A"/>
                  </a:solidFill>
                  <a:latin typeface="Consolas"/>
                </a:rPr>
                <a:t>ARRAYSIZE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(layout);  </a:t>
              </a:r>
            </a:p>
            <a:p>
              <a:r>
                <a:rPr lang="en-US" sz="1100" dirty="0" smtClean="0">
                  <a:solidFill>
                    <a:srgbClr val="0000FF"/>
                  </a:solidFill>
                  <a:latin typeface="Consolas"/>
                </a:rPr>
                <a:t>   this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-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&gt;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CreateInputLayout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(layout,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numElements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);</a:t>
              </a:r>
            </a:p>
            <a:p>
              <a:endParaRPr lang="en-US" sz="11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100" dirty="0" smtClean="0">
                  <a:solidFill>
                    <a:srgbClr val="2B91AF"/>
                  </a:solidFill>
                  <a:latin typeface="Consolas"/>
                </a:rPr>
                <a:t>   HRESULT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hr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  </a:t>
              </a:r>
            </a:p>
            <a:p>
              <a:endParaRPr lang="en-US" sz="11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100" dirty="0" smtClean="0">
                  <a:solidFill>
                    <a:srgbClr val="008000"/>
                  </a:solidFill>
                  <a:latin typeface="Consolas"/>
                </a:rPr>
                <a:t>   // </a:t>
              </a:r>
              <a:r>
                <a:rPr lang="en-US" sz="1100" dirty="0">
                  <a:solidFill>
                    <a:srgbClr val="008000"/>
                  </a:solidFill>
                  <a:latin typeface="Consolas"/>
                </a:rPr>
                <a:t>View Projection buffer</a:t>
              </a:r>
              <a:endParaRPr lang="en-US" sz="11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100" dirty="0" smtClean="0">
                  <a:solidFill>
                    <a:srgbClr val="2B91AF"/>
                  </a:solidFill>
                  <a:latin typeface="Consolas"/>
                </a:rPr>
                <a:t>   D3D11_BUFFER_DESC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bd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bd.Usage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= </a:t>
              </a:r>
              <a:r>
                <a:rPr lang="en-US" sz="1100" dirty="0" smtClean="0">
                  <a:solidFill>
                    <a:srgbClr val="2F4F4F"/>
                  </a:solidFill>
                  <a:latin typeface="Consolas"/>
                </a:rPr>
                <a:t>D3D11_USAGE_DEFAULT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bd.ByteWidth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= </a:t>
              </a:r>
              <a:r>
                <a:rPr lang="en-US" sz="1100" dirty="0" err="1" smtClean="0">
                  <a:solidFill>
                    <a:srgbClr val="0000FF"/>
                  </a:solidFill>
                  <a:latin typeface="Consolas"/>
                </a:rPr>
                <a:t>sizeof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err="1" smtClean="0">
                  <a:solidFill>
                    <a:srgbClr val="2B91AF"/>
                  </a:solidFill>
                  <a:latin typeface="Consolas"/>
                </a:rPr>
                <a:t>CamMatrices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);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bd.BindFlags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= </a:t>
              </a:r>
              <a:r>
                <a:rPr lang="en-US" sz="1100" dirty="0" smtClean="0">
                  <a:solidFill>
                    <a:srgbClr val="2F4F4F"/>
                  </a:solidFill>
                  <a:latin typeface="Consolas"/>
                </a:rPr>
                <a:t>D3D11_BIND_CONSTANT_BUFFER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bd.CPUAccessFlags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= 0;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bd.MiscFlags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= 0;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bd.StructureByteStride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= 0;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hr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= </a:t>
              </a:r>
              <a:r>
                <a:rPr lang="en-US" sz="1100" dirty="0">
                  <a:solidFill>
                    <a:srgbClr val="0000FF"/>
                  </a:solidFill>
                  <a:latin typeface="Consolas"/>
                </a:rPr>
                <a:t>this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-&gt;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GetDevice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()-&gt;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CreateBuffer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(&amp;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bd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100" dirty="0" err="1">
                  <a:solidFill>
                    <a:srgbClr val="0000FF"/>
                  </a:solidFill>
                  <a:latin typeface="Consolas"/>
                </a:rPr>
                <a:t>nullptr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&amp;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mpBufferCamMatrices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);</a:t>
              </a:r>
            </a:p>
            <a:p>
              <a:r>
                <a:rPr lang="en-US" sz="1100" dirty="0" smtClean="0">
                  <a:solidFill>
                    <a:srgbClr val="6F008A"/>
                  </a:solidFill>
                  <a:latin typeface="Consolas"/>
                </a:rPr>
                <a:t>   assert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smtClean="0">
                  <a:solidFill>
                    <a:srgbClr val="6F008A"/>
                  </a:solidFill>
                  <a:latin typeface="Consolas"/>
                </a:rPr>
                <a:t>SUCCEEDED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hr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));</a:t>
              </a:r>
            </a:p>
            <a:p>
              <a:endParaRPr lang="en-US" sz="11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100" dirty="0" smtClean="0">
                  <a:solidFill>
                    <a:srgbClr val="008000"/>
                  </a:solidFill>
                  <a:latin typeface="Consolas"/>
                </a:rPr>
                <a:t>   // </a:t>
              </a:r>
              <a:r>
                <a:rPr lang="en-US" sz="1100" dirty="0">
                  <a:solidFill>
                    <a:srgbClr val="008000"/>
                  </a:solidFill>
                  <a:latin typeface="Consolas"/>
                </a:rPr>
                <a:t>Color buffer</a:t>
              </a:r>
              <a:endParaRPr lang="en-US" sz="11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bd.Usage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= </a:t>
              </a:r>
              <a:r>
                <a:rPr lang="en-US" sz="1100" dirty="0">
                  <a:solidFill>
                    <a:srgbClr val="2F4F4F"/>
                  </a:solidFill>
                  <a:latin typeface="Consolas"/>
                </a:rPr>
                <a:t>D3D11_USAGE_DEFAULT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bd.ByteWidth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= </a:t>
              </a:r>
              <a:r>
                <a:rPr lang="en-US" sz="1100" dirty="0" err="1">
                  <a:solidFill>
                    <a:srgbClr val="0000FF"/>
                  </a:solidFill>
                  <a:latin typeface="Consolas"/>
                </a:rPr>
                <a:t>sizeof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err="1">
                  <a:solidFill>
                    <a:srgbClr val="2B91AF"/>
                  </a:solidFill>
                  <a:latin typeface="Consolas"/>
                </a:rPr>
                <a:t>Data_WorldColor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bd.BindFlags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= </a:t>
              </a:r>
              <a:r>
                <a:rPr lang="en-US" sz="1100" dirty="0">
                  <a:solidFill>
                    <a:srgbClr val="2F4F4F"/>
                  </a:solidFill>
                  <a:latin typeface="Consolas"/>
                </a:rPr>
                <a:t>D3D11_BIND_CONSTANT_BUFFER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bd.CPUAccessFlags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= 0;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bd.MiscFlags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= 0;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bd.StructureByteStride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= 0;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hr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= </a:t>
              </a:r>
              <a:r>
                <a:rPr lang="en-US" sz="1100" dirty="0">
                  <a:solidFill>
                    <a:srgbClr val="0000FF"/>
                  </a:solidFill>
                  <a:latin typeface="Consolas"/>
                </a:rPr>
                <a:t>this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-&gt;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GetDevice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()-&gt;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CreateBuffer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(&amp;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bd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100" dirty="0" err="1">
                  <a:solidFill>
                    <a:srgbClr val="0000FF"/>
                  </a:solidFill>
                  <a:latin typeface="Consolas"/>
                </a:rPr>
                <a:t>nullptr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&amp;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mpBuffWordColor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);</a:t>
              </a:r>
            </a:p>
            <a:p>
              <a:r>
                <a:rPr lang="en-US" sz="1100" dirty="0" smtClean="0">
                  <a:solidFill>
                    <a:srgbClr val="6F008A"/>
                  </a:solidFill>
                  <a:latin typeface="Consolas"/>
                </a:rPr>
                <a:t>   assert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smtClean="0">
                  <a:solidFill>
                    <a:srgbClr val="6F008A"/>
                  </a:solidFill>
                  <a:latin typeface="Consolas"/>
                </a:rPr>
                <a:t>SUCCEEDED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hr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));</a:t>
              </a:r>
              <a:endParaRPr lang="en-US" sz="11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}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V="1">
              <a:off x="2480844" y="1371601"/>
              <a:ext cx="1176756" cy="23231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5410200" y="1603919"/>
            <a:ext cx="3962400" cy="1747631"/>
            <a:chOff x="6010564" y="1603919"/>
            <a:chExt cx="3962400" cy="1747631"/>
          </a:xfrm>
        </p:grpSpPr>
        <p:sp>
          <p:nvSpPr>
            <p:cNvPr id="11" name="TextBox 10"/>
            <p:cNvSpPr txBox="1"/>
            <p:nvPr/>
          </p:nvSpPr>
          <p:spPr>
            <a:xfrm>
              <a:off x="6010564" y="1905000"/>
              <a:ext cx="3962400" cy="14465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rgbClr val="2B91AF"/>
                  </a:solidFill>
                  <a:latin typeface="Consolas"/>
                </a:rPr>
                <a:t>ShaderBase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::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ShaderBase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>
                  <a:solidFill>
                    <a:srgbClr val="2B91AF"/>
                  </a:solidFill>
                  <a:latin typeface="Consolas"/>
                </a:rPr>
                <a:t>ID3D11Device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* </a:t>
              </a:r>
              <a:r>
                <a:rPr lang="en-US" sz="1100" dirty="0">
                  <a:solidFill>
                    <a:srgbClr val="808080"/>
                  </a:solidFill>
                  <a:latin typeface="Consolas"/>
                </a:rPr>
                <a:t>device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,  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                   </a:t>
              </a:r>
              <a:r>
                <a:rPr lang="en-US" sz="1100" dirty="0" smtClean="0">
                  <a:solidFill>
                    <a:srgbClr val="2B91AF"/>
                  </a:solidFill>
                  <a:latin typeface="Consolas"/>
                </a:rPr>
                <a:t>WCHAR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* </a:t>
              </a:r>
              <a:r>
                <a:rPr lang="en-US" sz="1100" dirty="0">
                  <a:solidFill>
                    <a:srgbClr val="808080"/>
                  </a:solidFill>
                  <a:latin typeface="Consolas"/>
                </a:rPr>
                <a:t>filename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endParaRPr lang="en-US" sz="1100" dirty="0" smtClean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                   </a:t>
              </a:r>
              <a:r>
                <a:rPr lang="en-US" sz="1100" dirty="0" smtClean="0">
                  <a:solidFill>
                    <a:srgbClr val="2B91AF"/>
                  </a:solidFill>
                  <a:latin typeface="Consolas"/>
                </a:rPr>
                <a:t>LPCSTR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808080"/>
                  </a:solidFill>
                  <a:latin typeface="Consolas"/>
                </a:rPr>
                <a:t>vsModel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endParaRPr lang="en-US" sz="1100" dirty="0" smtClean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                   </a:t>
              </a:r>
              <a:r>
                <a:rPr lang="en-US" sz="1100" dirty="0" smtClean="0">
                  <a:solidFill>
                    <a:srgbClr val="2B91AF"/>
                  </a:solidFill>
                  <a:latin typeface="Consolas"/>
                </a:rPr>
                <a:t>LPCSTR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808080"/>
                  </a:solidFill>
                  <a:latin typeface="Consolas"/>
                </a:rPr>
                <a:t>psModel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: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mDevice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>
                  <a:solidFill>
                    <a:srgbClr val="808080"/>
                  </a:solidFill>
                  <a:latin typeface="Consolas"/>
                </a:rPr>
                <a:t>device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{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privBuildShaders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smtClean="0">
                  <a:solidFill>
                    <a:srgbClr val="808080"/>
                  </a:solidFill>
                  <a:latin typeface="Consolas"/>
                </a:rPr>
                <a:t>filename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100" dirty="0" err="1">
                  <a:solidFill>
                    <a:srgbClr val="808080"/>
                  </a:solidFill>
                  <a:latin typeface="Consolas"/>
                </a:rPr>
                <a:t>vsModel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100" dirty="0" err="1">
                  <a:solidFill>
                    <a:srgbClr val="808080"/>
                  </a:solidFill>
                  <a:latin typeface="Consolas"/>
                </a:rPr>
                <a:t>psModel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}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7086600" y="1603919"/>
              <a:ext cx="114300" cy="38472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4495800" y="2781183"/>
            <a:ext cx="10668000" cy="1755427"/>
            <a:chOff x="5477164" y="2781183"/>
            <a:chExt cx="10668000" cy="1755427"/>
          </a:xfrm>
        </p:grpSpPr>
        <p:sp>
          <p:nvSpPr>
            <p:cNvPr id="18" name="TextBox 17"/>
            <p:cNvSpPr txBox="1"/>
            <p:nvPr/>
          </p:nvSpPr>
          <p:spPr>
            <a:xfrm>
              <a:off x="5477164" y="3597891"/>
              <a:ext cx="10668000" cy="9387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FF"/>
                  </a:solidFill>
                  <a:latin typeface="Consolas"/>
                </a:rPr>
                <a:t>void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2B91AF"/>
                  </a:solidFill>
                  <a:latin typeface="Consolas"/>
                </a:rPr>
                <a:t>ShaderBase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::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CreateInputLayout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>
                  <a:solidFill>
                    <a:srgbClr val="2B91AF"/>
                  </a:solidFill>
                  <a:latin typeface="Consolas"/>
                </a:rPr>
                <a:t>D3D11_INPUT_ELEMENT_DESC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* </a:t>
              </a:r>
              <a:r>
                <a:rPr lang="en-US" sz="1100" dirty="0" err="1">
                  <a:solidFill>
                    <a:srgbClr val="808080"/>
                  </a:solidFill>
                  <a:latin typeface="Consolas"/>
                </a:rPr>
                <a:t>layoutdesc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100" dirty="0">
                  <a:solidFill>
                    <a:srgbClr val="2B91AF"/>
                  </a:solidFill>
                  <a:latin typeface="Consolas"/>
                </a:rPr>
                <a:t>UINT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808080"/>
                  </a:solidFill>
                  <a:latin typeface="Consolas"/>
                </a:rPr>
                <a:t>size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{</a:t>
              </a:r>
            </a:p>
            <a:p>
              <a:r>
                <a:rPr lang="en-US" sz="1100" dirty="0" smtClean="0">
                  <a:solidFill>
                    <a:srgbClr val="2B91AF"/>
                  </a:solidFill>
                  <a:latin typeface="Consolas"/>
                </a:rPr>
                <a:t>   HRESULT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hr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=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mDevice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-&gt;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CreateInputLayout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err="1">
                  <a:solidFill>
                    <a:srgbClr val="808080"/>
                  </a:solidFill>
                  <a:latin typeface="Consolas"/>
                </a:rPr>
                <a:t>layoutdesc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100" dirty="0">
                  <a:solidFill>
                    <a:srgbClr val="808080"/>
                  </a:solidFill>
                  <a:latin typeface="Consolas"/>
                </a:rPr>
                <a:t>size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pVSBlob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-&gt;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GetBufferPointer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(),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pVSBlob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-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&gt;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GetBufferSize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(), &amp;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mpVertexLayout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);</a:t>
              </a:r>
            </a:p>
            <a:p>
              <a:r>
                <a:rPr lang="en-US" sz="1100" dirty="0" smtClean="0">
                  <a:solidFill>
                    <a:srgbClr val="6F008A"/>
                  </a:solidFill>
                  <a:latin typeface="Consolas"/>
                </a:rPr>
                <a:t>   assert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smtClean="0">
                  <a:solidFill>
                    <a:srgbClr val="6F008A"/>
                  </a:solidFill>
                  <a:latin typeface="Consolas"/>
                </a:rPr>
                <a:t>SUCCEEDED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hr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}</a:t>
              </a: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>
              <a:off x="5486400" y="2781183"/>
              <a:ext cx="1676400" cy="81670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6181436" y="1108420"/>
            <a:ext cx="1943100" cy="272415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19200" y="2045970"/>
            <a:ext cx="1990436" cy="54483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Layout defined and passed to base class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851780" y="3271809"/>
            <a:ext cx="2458150" cy="3385300"/>
            <a:chOff x="851780" y="3271809"/>
            <a:chExt cx="2458150" cy="3385300"/>
          </a:xfrm>
        </p:grpSpPr>
        <p:sp>
          <p:nvSpPr>
            <p:cNvPr id="23" name="TextBox 22"/>
            <p:cNvSpPr txBox="1"/>
            <p:nvPr/>
          </p:nvSpPr>
          <p:spPr>
            <a:xfrm>
              <a:off x="851780" y="4555836"/>
              <a:ext cx="2057400" cy="817245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Creating the resource buffers needed for </a:t>
              </a:r>
              <a:r>
                <a:rPr lang="en-US" sz="1600" u="sng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this specific</a:t>
              </a:r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shader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Left Brace 19"/>
            <p:cNvSpPr/>
            <p:nvPr/>
          </p:nvSpPr>
          <p:spPr>
            <a:xfrm>
              <a:off x="2981036" y="3271809"/>
              <a:ext cx="328894" cy="3385300"/>
            </a:xfrm>
            <a:prstGeom prst="leftBrace">
              <a:avLst>
                <a:gd name="adj1" fmla="val 82016"/>
                <a:gd name="adj2" fmla="val 50000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086765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Unpacking the </a:t>
            </a:r>
            <a:r>
              <a:rPr lang="en-US" dirty="0" smtClean="0"/>
              <a:t>Sequence:</a:t>
            </a:r>
            <a:br>
              <a:rPr lang="en-US" dirty="0" smtClean="0"/>
            </a:br>
            <a:r>
              <a:rPr lang="en-US" dirty="0" err="1" smtClean="0"/>
              <a:t>SetToContext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3580" y="1219199"/>
            <a:ext cx="3733800" cy="76944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DXApp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::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InitDemo</a:t>
            </a:r>
            <a:endParaRPr lang="en-US" sz="1100" dirty="0" smtClean="0">
              <a:solidFill>
                <a:srgbClr val="008000"/>
              </a:solidFill>
              <a:latin typeface="Consolas"/>
            </a:endParaRPr>
          </a:p>
          <a:p>
            <a:endParaRPr lang="en-US" sz="1100" dirty="0" smtClean="0">
              <a:solidFill>
                <a:srgbClr val="0000FF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pShColor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ShaderColor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(md3dDevice);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pShColor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SetToContext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(md3dImmediateContext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57200" y="1931194"/>
            <a:ext cx="5105400" cy="1801356"/>
            <a:chOff x="457200" y="1931194"/>
            <a:chExt cx="5105400" cy="1801356"/>
          </a:xfrm>
        </p:grpSpPr>
        <p:sp>
          <p:nvSpPr>
            <p:cNvPr id="6" name="TextBox 5"/>
            <p:cNvSpPr txBox="1"/>
            <p:nvPr/>
          </p:nvSpPr>
          <p:spPr>
            <a:xfrm>
              <a:off x="457200" y="2286000"/>
              <a:ext cx="5105400" cy="14465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FF"/>
                  </a:solidFill>
                  <a:latin typeface="Consolas"/>
                </a:rPr>
                <a:t>void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2B91AF"/>
                  </a:solidFill>
                  <a:latin typeface="Consolas"/>
                </a:rPr>
                <a:t>ShaderColor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::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SetToContext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>
                  <a:solidFill>
                    <a:srgbClr val="2B91AF"/>
                  </a:solidFill>
                  <a:latin typeface="Consolas"/>
                </a:rPr>
                <a:t>ID3D11DeviceContext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* </a:t>
              </a:r>
              <a:r>
                <a:rPr lang="en-US" sz="1100" dirty="0" err="1">
                  <a:solidFill>
                    <a:srgbClr val="808080"/>
                  </a:solidFill>
                  <a:latin typeface="Consolas"/>
                </a:rPr>
                <a:t>devcon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{</a:t>
              </a:r>
            </a:p>
            <a:p>
              <a:r>
                <a:rPr lang="en-US" sz="1100" dirty="0" smtClean="0">
                  <a:solidFill>
                    <a:srgbClr val="2B91AF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2B91AF"/>
                  </a:solidFill>
                  <a:latin typeface="Consolas"/>
                </a:rPr>
                <a:t>ShaderBase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::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SetContext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err="1">
                  <a:solidFill>
                    <a:srgbClr val="808080"/>
                  </a:solidFill>
                  <a:latin typeface="Consolas"/>
                </a:rPr>
                <a:t>devcon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);</a:t>
              </a:r>
            </a:p>
            <a:p>
              <a:r>
                <a:rPr lang="en-US" sz="1100" dirty="0" smtClean="0">
                  <a:solidFill>
                    <a:srgbClr val="2B91AF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2B91AF"/>
                  </a:solidFill>
                  <a:latin typeface="Consolas"/>
                </a:rPr>
                <a:t>ShaderBase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::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SetToContext_VS_PS_InputLayout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();</a:t>
              </a:r>
            </a:p>
            <a:p>
              <a:endParaRPr lang="en-US" sz="11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100" dirty="0" smtClean="0">
                  <a:solidFill>
                    <a:srgbClr val="80808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808080"/>
                  </a:solidFill>
                  <a:latin typeface="Consolas"/>
                </a:rPr>
                <a:t>devcon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-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&gt;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VSSetConstantBuffers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(0, 1, &amp;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mpBufferCamMatrices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);</a:t>
              </a:r>
            </a:p>
            <a:p>
              <a:r>
                <a:rPr lang="en-US" sz="1100" dirty="0" smtClean="0">
                  <a:solidFill>
                    <a:srgbClr val="80808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808080"/>
                  </a:solidFill>
                  <a:latin typeface="Consolas"/>
                </a:rPr>
                <a:t>devcon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-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&gt;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VSSetConstantBuffers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(1, 1, &amp;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mpBuffWordColor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}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1331119" y="1931194"/>
              <a:ext cx="549361" cy="35480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3482340" y="1528896"/>
            <a:ext cx="5643553" cy="1343844"/>
            <a:chOff x="3482340" y="1528896"/>
            <a:chExt cx="5643553" cy="1343844"/>
          </a:xfrm>
        </p:grpSpPr>
        <p:sp>
          <p:nvSpPr>
            <p:cNvPr id="12" name="TextBox 11"/>
            <p:cNvSpPr txBox="1"/>
            <p:nvPr/>
          </p:nvSpPr>
          <p:spPr>
            <a:xfrm>
              <a:off x="4872273" y="1528896"/>
              <a:ext cx="4253620" cy="11079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FF"/>
                  </a:solidFill>
                  <a:latin typeface="Consolas"/>
                </a:rPr>
                <a:t>void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2B91AF"/>
                  </a:solidFill>
                  <a:latin typeface="Consolas"/>
                </a:rPr>
                <a:t>ShaderBase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::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SetToContext_VS_PS_InputLayout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{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mContext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-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&gt;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VSSetShader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mpVertexShader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100" dirty="0" err="1">
                  <a:solidFill>
                    <a:srgbClr val="0000FF"/>
                  </a:solidFill>
                  <a:latin typeface="Consolas"/>
                </a:rPr>
                <a:t>nullptr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0);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mContext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-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&gt;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PSSetShader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mpPixelShader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100" dirty="0" err="1">
                  <a:solidFill>
                    <a:srgbClr val="0000FF"/>
                  </a:solidFill>
                  <a:latin typeface="Consolas"/>
                </a:rPr>
                <a:t>nullptr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0);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mContext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-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&gt;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IASetInputLayout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mpVertexLayout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}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flipV="1">
              <a:off x="3482340" y="1676401"/>
              <a:ext cx="1482731" cy="1196339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5067677" y="2971800"/>
            <a:ext cx="4076323" cy="817245"/>
            <a:chOff x="5067677" y="2971800"/>
            <a:chExt cx="4076323" cy="817245"/>
          </a:xfrm>
        </p:grpSpPr>
        <p:sp>
          <p:nvSpPr>
            <p:cNvPr id="11" name="TextBox 10"/>
            <p:cNvSpPr txBox="1"/>
            <p:nvPr/>
          </p:nvSpPr>
          <p:spPr>
            <a:xfrm>
              <a:off x="5334000" y="2971800"/>
              <a:ext cx="3810000" cy="817245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Obviously the data format of the constant buffers must be compatible with the </a:t>
              </a:r>
              <a:r>
                <a:rPr lang="en-US" sz="1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shader</a:t>
              </a:r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constants found in the file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ight Brace 17"/>
            <p:cNvSpPr/>
            <p:nvPr/>
          </p:nvSpPr>
          <p:spPr>
            <a:xfrm>
              <a:off x="5067677" y="3132500"/>
              <a:ext cx="190123" cy="461726"/>
            </a:xfrm>
            <a:prstGeom prst="rightBrace">
              <a:avLst>
                <a:gd name="adj1" fmla="val 28193"/>
                <a:gd name="adj2" fmla="val 50000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478411" y="3789045"/>
            <a:ext cx="2874389" cy="54483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method in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ShaderBase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Must be defined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ShaderColor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4495800" y="3789045"/>
            <a:ext cx="5105400" cy="3032625"/>
            <a:chOff x="4495800" y="3789045"/>
            <a:chExt cx="5105400" cy="3032625"/>
          </a:xfrm>
        </p:grpSpPr>
        <p:grpSp>
          <p:nvGrpSpPr>
            <p:cNvPr id="15" name="Group 14"/>
            <p:cNvGrpSpPr/>
            <p:nvPr/>
          </p:nvGrpSpPr>
          <p:grpSpPr>
            <a:xfrm>
              <a:off x="4495800" y="3959348"/>
              <a:ext cx="5105400" cy="2862322"/>
              <a:chOff x="794818" y="3718680"/>
              <a:chExt cx="5105400" cy="2862322"/>
            </a:xfrm>
          </p:grpSpPr>
          <p:sp>
            <p:nvSpPr>
              <p:cNvPr id="20" name="TextBox 19"/>
              <p:cNvSpPr txBox="1"/>
              <p:nvPr/>
            </p:nvSpPr>
            <p:spPr>
              <a:xfrm>
                <a:off x="794818" y="3718680"/>
                <a:ext cx="3200400" cy="2862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solidFill>
                      <a:srgbClr val="0000FF"/>
                    </a:solidFill>
                    <a:latin typeface="Consolas"/>
                  </a:rPr>
                  <a:t>class</a:t>
                </a:r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 </a:t>
                </a:r>
                <a:r>
                  <a:rPr lang="en-US" sz="1000" dirty="0" err="1">
                    <a:solidFill>
                      <a:srgbClr val="2B91AF"/>
                    </a:solidFill>
                    <a:latin typeface="Consolas"/>
                  </a:rPr>
                  <a:t>ShaderColor</a:t>
                </a:r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 : </a:t>
                </a:r>
                <a:r>
                  <a:rPr lang="en-US" sz="1000" dirty="0">
                    <a:solidFill>
                      <a:srgbClr val="0000FF"/>
                    </a:solidFill>
                    <a:latin typeface="Consolas"/>
                  </a:rPr>
                  <a:t>public</a:t>
                </a:r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 </a:t>
                </a:r>
                <a:r>
                  <a:rPr lang="en-US" sz="1000" dirty="0" err="1">
                    <a:solidFill>
                      <a:srgbClr val="2B91AF"/>
                    </a:solidFill>
                    <a:latin typeface="Consolas"/>
                  </a:rPr>
                  <a:t>ShaderBase</a:t>
                </a:r>
                <a:endParaRPr lang="en-US" sz="1000" dirty="0">
                  <a:solidFill>
                    <a:srgbClr val="000000"/>
                  </a:solidFill>
                  <a:latin typeface="Consolas"/>
                </a:endParaRPr>
              </a:p>
              <a:p>
                <a:r>
                  <a:rPr lang="en-US" sz="1000" dirty="0" smtClean="0">
                    <a:solidFill>
                      <a:srgbClr val="000000"/>
                    </a:solidFill>
                    <a:latin typeface="Consolas"/>
                  </a:rPr>
                  <a:t>{</a:t>
                </a:r>
                <a:br>
                  <a:rPr lang="en-US" sz="1000" dirty="0" smtClean="0">
                    <a:solidFill>
                      <a:srgbClr val="000000"/>
                    </a:solidFill>
                    <a:latin typeface="Consolas"/>
                  </a:rPr>
                </a:br>
                <a:r>
                  <a:rPr lang="en-US" sz="1000" dirty="0">
                    <a:solidFill>
                      <a:srgbClr val="0000FF"/>
                    </a:solidFill>
                    <a:latin typeface="Consolas"/>
                  </a:rPr>
                  <a:t>private</a:t>
                </a:r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:</a:t>
                </a:r>
              </a:p>
              <a:p>
                <a:r>
                  <a:rPr lang="en-US" sz="1000" dirty="0" smtClean="0">
                    <a:solidFill>
                      <a:srgbClr val="0000FF"/>
                    </a:solidFill>
                    <a:latin typeface="Consolas"/>
                  </a:rPr>
                  <a:t>   </a:t>
                </a:r>
                <a:r>
                  <a:rPr lang="en-US" sz="1000" dirty="0" err="1" smtClean="0">
                    <a:solidFill>
                      <a:srgbClr val="0000FF"/>
                    </a:solidFill>
                    <a:latin typeface="Consolas"/>
                  </a:rPr>
                  <a:t>struct</a:t>
                </a:r>
                <a:r>
                  <a:rPr lang="en-US" sz="1000" dirty="0" smtClean="0">
                    <a:solidFill>
                      <a:srgbClr val="000000"/>
                    </a:solidFill>
                    <a:latin typeface="Consolas"/>
                  </a:rPr>
                  <a:t> </a:t>
                </a:r>
                <a:r>
                  <a:rPr lang="en-US" sz="1000" dirty="0" err="1" smtClean="0">
                    <a:solidFill>
                      <a:srgbClr val="2B91AF"/>
                    </a:solidFill>
                    <a:latin typeface="Consolas"/>
                  </a:rPr>
                  <a:t>CamMatrices</a:t>
                </a:r>
                <a:endParaRPr lang="en-US" sz="1000" dirty="0" smtClean="0">
                  <a:solidFill>
                    <a:srgbClr val="000000"/>
                  </a:solidFill>
                  <a:latin typeface="Consolas"/>
                </a:endParaRPr>
              </a:p>
              <a:p>
                <a:r>
                  <a:rPr lang="en-US" sz="1000" dirty="0" smtClean="0">
                    <a:solidFill>
                      <a:srgbClr val="000000"/>
                    </a:solidFill>
                    <a:latin typeface="Consolas"/>
                  </a:rPr>
                  <a:t>   {</a:t>
                </a:r>
              </a:p>
              <a:p>
                <a:r>
                  <a:rPr lang="en-US" sz="1000" dirty="0" smtClean="0">
                    <a:solidFill>
                      <a:srgbClr val="2B91AF"/>
                    </a:solidFill>
                    <a:latin typeface="Consolas"/>
                  </a:rPr>
                  <a:t>      Matrix</a:t>
                </a:r>
                <a:r>
                  <a:rPr lang="en-US" sz="1000" dirty="0" smtClean="0">
                    <a:solidFill>
                      <a:srgbClr val="000000"/>
                    </a:solidFill>
                    <a:latin typeface="Consolas"/>
                  </a:rPr>
                  <a:t> </a:t>
                </a:r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View;</a:t>
                </a:r>
              </a:p>
              <a:p>
                <a:r>
                  <a:rPr lang="en-US" sz="1000" dirty="0" smtClean="0">
                    <a:solidFill>
                      <a:srgbClr val="2B91AF"/>
                    </a:solidFill>
                    <a:latin typeface="Consolas"/>
                  </a:rPr>
                  <a:t>      Matrix</a:t>
                </a:r>
                <a:r>
                  <a:rPr lang="en-US" sz="1000" dirty="0" smtClean="0">
                    <a:solidFill>
                      <a:srgbClr val="000000"/>
                    </a:solidFill>
                    <a:latin typeface="Consolas"/>
                  </a:rPr>
                  <a:t> </a:t>
                </a:r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Projection;</a:t>
                </a:r>
              </a:p>
              <a:p>
                <a:r>
                  <a:rPr lang="en-US" sz="1000" dirty="0" smtClean="0">
                    <a:solidFill>
                      <a:srgbClr val="000000"/>
                    </a:solidFill>
                    <a:latin typeface="Consolas"/>
                  </a:rPr>
                  <a:t>   };</a:t>
                </a:r>
                <a:endParaRPr lang="en-US" sz="1000" dirty="0">
                  <a:solidFill>
                    <a:srgbClr val="000000"/>
                  </a:solidFill>
                  <a:latin typeface="Consolas"/>
                </a:endParaRPr>
              </a:p>
              <a:p>
                <a:endParaRPr lang="en-US" sz="1000" dirty="0">
                  <a:solidFill>
                    <a:srgbClr val="000000"/>
                  </a:solidFill>
                  <a:latin typeface="Consolas"/>
                </a:endParaRPr>
              </a:p>
              <a:p>
                <a:r>
                  <a:rPr lang="en-US" sz="1000" dirty="0" smtClean="0">
                    <a:solidFill>
                      <a:srgbClr val="2B91AF"/>
                    </a:solidFill>
                    <a:latin typeface="Consolas"/>
                  </a:rPr>
                  <a:t>   ID3D11Buffer</a:t>
                </a:r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* </a:t>
                </a:r>
                <a:r>
                  <a:rPr lang="en-US" sz="1000" dirty="0" err="1" smtClean="0">
                    <a:solidFill>
                      <a:srgbClr val="000000"/>
                    </a:solidFill>
                    <a:latin typeface="Consolas"/>
                  </a:rPr>
                  <a:t>mpBufferCamMatrices</a:t>
                </a:r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;</a:t>
                </a:r>
              </a:p>
              <a:p>
                <a:endParaRPr lang="en-US" sz="1000" dirty="0">
                  <a:solidFill>
                    <a:srgbClr val="000000"/>
                  </a:solidFill>
                  <a:latin typeface="Consolas"/>
                </a:endParaRPr>
              </a:p>
              <a:p>
                <a:r>
                  <a:rPr lang="en-US" sz="1000" dirty="0" smtClean="0">
                    <a:solidFill>
                      <a:srgbClr val="0000FF"/>
                    </a:solidFill>
                    <a:latin typeface="Consolas"/>
                  </a:rPr>
                  <a:t>   </a:t>
                </a:r>
                <a:r>
                  <a:rPr lang="en-US" sz="1000" dirty="0" err="1" smtClean="0">
                    <a:solidFill>
                      <a:srgbClr val="0000FF"/>
                    </a:solidFill>
                    <a:latin typeface="Consolas"/>
                  </a:rPr>
                  <a:t>struct</a:t>
                </a:r>
                <a:r>
                  <a:rPr lang="en-US" sz="1000" dirty="0" smtClean="0">
                    <a:solidFill>
                      <a:srgbClr val="000000"/>
                    </a:solidFill>
                    <a:latin typeface="Consolas"/>
                  </a:rPr>
                  <a:t> </a:t>
                </a:r>
                <a:r>
                  <a:rPr lang="en-US" sz="1000" dirty="0" err="1" smtClean="0">
                    <a:solidFill>
                      <a:srgbClr val="2B91AF"/>
                    </a:solidFill>
                    <a:latin typeface="Consolas"/>
                  </a:rPr>
                  <a:t>Data_WorldColor</a:t>
                </a:r>
                <a:endParaRPr lang="en-US" sz="1000" dirty="0" smtClean="0">
                  <a:solidFill>
                    <a:srgbClr val="000000"/>
                  </a:solidFill>
                  <a:latin typeface="Consolas"/>
                </a:endParaRPr>
              </a:p>
              <a:p>
                <a:r>
                  <a:rPr lang="en-US" sz="1000" dirty="0" smtClean="0">
                    <a:solidFill>
                      <a:srgbClr val="000000"/>
                    </a:solidFill>
                    <a:latin typeface="Consolas"/>
                  </a:rPr>
                  <a:t>   {</a:t>
                </a:r>
              </a:p>
              <a:p>
                <a:r>
                  <a:rPr lang="en-US" sz="1000" dirty="0" smtClean="0">
                    <a:solidFill>
                      <a:srgbClr val="2B91AF"/>
                    </a:solidFill>
                    <a:latin typeface="Consolas"/>
                  </a:rPr>
                  <a:t>      Matrix</a:t>
                </a:r>
                <a:r>
                  <a:rPr lang="en-US" sz="1000" dirty="0" smtClean="0">
                    <a:solidFill>
                      <a:srgbClr val="000000"/>
                    </a:solidFill>
                    <a:latin typeface="Consolas"/>
                  </a:rPr>
                  <a:t> </a:t>
                </a:r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World;</a:t>
                </a:r>
              </a:p>
              <a:p>
                <a:r>
                  <a:rPr lang="en-US" sz="1000" dirty="0" smtClean="0">
                    <a:solidFill>
                      <a:srgbClr val="2B91AF"/>
                    </a:solidFill>
                    <a:latin typeface="Consolas"/>
                  </a:rPr>
                  <a:t>      </a:t>
                </a:r>
                <a:r>
                  <a:rPr lang="en-US" sz="1000" dirty="0" err="1" smtClean="0">
                    <a:solidFill>
                      <a:srgbClr val="2B91AF"/>
                    </a:solidFill>
                    <a:latin typeface="Consolas"/>
                  </a:rPr>
                  <a:t>Vect</a:t>
                </a:r>
                <a:r>
                  <a:rPr lang="en-US" sz="1000" dirty="0" smtClean="0">
                    <a:solidFill>
                      <a:srgbClr val="000000"/>
                    </a:solidFill>
                    <a:latin typeface="Consolas"/>
                  </a:rPr>
                  <a:t> </a:t>
                </a:r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Color;</a:t>
                </a:r>
              </a:p>
              <a:p>
                <a:r>
                  <a:rPr lang="en-US" sz="1000" dirty="0" smtClean="0">
                    <a:solidFill>
                      <a:srgbClr val="000000"/>
                    </a:solidFill>
                    <a:latin typeface="Consolas"/>
                  </a:rPr>
                  <a:t>   };</a:t>
                </a:r>
                <a:endParaRPr lang="en-US" sz="1000" dirty="0">
                  <a:solidFill>
                    <a:srgbClr val="000000"/>
                  </a:solidFill>
                  <a:latin typeface="Consolas"/>
                </a:endParaRPr>
              </a:p>
              <a:p>
                <a:endParaRPr lang="en-US" sz="1000" dirty="0">
                  <a:solidFill>
                    <a:srgbClr val="000000"/>
                  </a:solidFill>
                  <a:latin typeface="Consolas"/>
                </a:endParaRPr>
              </a:p>
              <a:p>
                <a:r>
                  <a:rPr lang="en-US" sz="1000" dirty="0" smtClean="0">
                    <a:solidFill>
                      <a:srgbClr val="2B91AF"/>
                    </a:solidFill>
                    <a:latin typeface="Consolas"/>
                  </a:rPr>
                  <a:t>   ID3D11Buffer</a:t>
                </a:r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* </a:t>
                </a:r>
                <a:r>
                  <a:rPr lang="en-US" sz="1000" dirty="0" err="1" smtClean="0">
                    <a:solidFill>
                      <a:srgbClr val="000000"/>
                    </a:solidFill>
                    <a:latin typeface="Consolas"/>
                  </a:rPr>
                  <a:t>mpBuffWordColor</a:t>
                </a:r>
                <a:r>
                  <a:rPr lang="en-US" sz="1000" dirty="0" smtClean="0">
                    <a:solidFill>
                      <a:srgbClr val="000000"/>
                    </a:solidFill>
                    <a:latin typeface="Consolas"/>
                  </a:rPr>
                  <a:t>;</a:t>
                </a:r>
                <a:endParaRPr lang="en-US" sz="1000" dirty="0">
                  <a:solidFill>
                    <a:srgbClr val="000000"/>
                  </a:solidFill>
                  <a:latin typeface="Consolas"/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2928418" y="4328281"/>
                <a:ext cx="2971800" cy="17851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 err="1">
                    <a:solidFill>
                      <a:srgbClr val="0000FF"/>
                    </a:solidFill>
                    <a:latin typeface="Consolas"/>
                  </a:rPr>
                  <a:t>cbuffer</a:t>
                </a:r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 </a:t>
                </a:r>
                <a:r>
                  <a:rPr lang="en-US" sz="1000" dirty="0" err="1">
                    <a:solidFill>
                      <a:srgbClr val="000000"/>
                    </a:solidFill>
                    <a:latin typeface="Consolas"/>
                  </a:rPr>
                  <a:t>CamData</a:t>
                </a:r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 : </a:t>
                </a:r>
                <a:r>
                  <a:rPr lang="en-US" sz="1000" dirty="0">
                    <a:solidFill>
                      <a:srgbClr val="0000FF"/>
                    </a:solidFill>
                    <a:latin typeface="Consolas"/>
                  </a:rPr>
                  <a:t>register</a:t>
                </a:r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(b0)</a:t>
                </a:r>
              </a:p>
              <a:p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{</a:t>
                </a:r>
              </a:p>
              <a:p>
                <a:r>
                  <a:rPr lang="en-US" sz="1000" dirty="0" smtClean="0">
                    <a:solidFill>
                      <a:srgbClr val="0000FF"/>
                    </a:solidFill>
                    <a:latin typeface="Consolas"/>
                  </a:rPr>
                  <a:t>   float4x4 </a:t>
                </a:r>
                <a:r>
                  <a:rPr lang="en-US" sz="1000" dirty="0" smtClean="0">
                    <a:solidFill>
                      <a:srgbClr val="000000"/>
                    </a:solidFill>
                    <a:latin typeface="Consolas"/>
                  </a:rPr>
                  <a:t>View</a:t>
                </a:r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;</a:t>
                </a:r>
              </a:p>
              <a:p>
                <a:r>
                  <a:rPr lang="en-US" sz="1000" dirty="0" smtClean="0">
                    <a:solidFill>
                      <a:srgbClr val="0000FF"/>
                    </a:solidFill>
                    <a:latin typeface="Consolas"/>
                  </a:rPr>
                  <a:t>   float4x4 </a:t>
                </a:r>
                <a:r>
                  <a:rPr lang="en-US" sz="1000" dirty="0" smtClean="0">
                    <a:solidFill>
                      <a:srgbClr val="000000"/>
                    </a:solidFill>
                    <a:latin typeface="Consolas"/>
                  </a:rPr>
                  <a:t>Projection</a:t>
                </a:r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;</a:t>
                </a:r>
              </a:p>
              <a:p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}</a:t>
                </a:r>
              </a:p>
              <a:p>
                <a:endParaRPr lang="en-US" sz="1000" dirty="0">
                  <a:solidFill>
                    <a:srgbClr val="000000"/>
                  </a:solidFill>
                  <a:latin typeface="Consolas"/>
                </a:endParaRPr>
              </a:p>
              <a:p>
                <a:r>
                  <a:rPr lang="en-US" sz="1000" dirty="0" err="1">
                    <a:solidFill>
                      <a:srgbClr val="0000FF"/>
                    </a:solidFill>
                    <a:latin typeface="Consolas"/>
                  </a:rPr>
                  <a:t>cbuffer</a:t>
                </a:r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 </a:t>
                </a:r>
                <a:r>
                  <a:rPr lang="en-US" sz="1000" dirty="0" err="1">
                    <a:solidFill>
                      <a:srgbClr val="000000"/>
                    </a:solidFill>
                    <a:latin typeface="Consolas"/>
                  </a:rPr>
                  <a:t>InstanceData</a:t>
                </a:r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 : </a:t>
                </a:r>
                <a:r>
                  <a:rPr lang="en-US" sz="1000" dirty="0">
                    <a:solidFill>
                      <a:srgbClr val="0000FF"/>
                    </a:solidFill>
                    <a:latin typeface="Consolas"/>
                  </a:rPr>
                  <a:t>register</a:t>
                </a:r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(b1)</a:t>
                </a:r>
              </a:p>
              <a:p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{</a:t>
                </a:r>
              </a:p>
              <a:p>
                <a:r>
                  <a:rPr lang="en-US" sz="1000" dirty="0" smtClean="0">
                    <a:solidFill>
                      <a:srgbClr val="0000FF"/>
                    </a:solidFill>
                    <a:latin typeface="Consolas"/>
                  </a:rPr>
                  <a:t>   float4x4 </a:t>
                </a:r>
                <a:r>
                  <a:rPr lang="en-US" sz="1000" dirty="0" smtClean="0">
                    <a:solidFill>
                      <a:srgbClr val="000000"/>
                    </a:solidFill>
                    <a:latin typeface="Consolas"/>
                  </a:rPr>
                  <a:t>World</a:t>
                </a:r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;</a:t>
                </a:r>
              </a:p>
              <a:p>
                <a:r>
                  <a:rPr lang="en-US" sz="1000" dirty="0" smtClean="0">
                    <a:solidFill>
                      <a:srgbClr val="0000FF"/>
                    </a:solidFill>
                    <a:latin typeface="Consolas"/>
                  </a:rPr>
                  <a:t>   float4</a:t>
                </a:r>
                <a:r>
                  <a:rPr lang="en-US" sz="1000" dirty="0" smtClean="0">
                    <a:solidFill>
                      <a:srgbClr val="000000"/>
                    </a:solidFill>
                    <a:latin typeface="Consolas"/>
                  </a:rPr>
                  <a:t> </a:t>
                </a:r>
                <a:r>
                  <a:rPr lang="en-US" sz="1000" dirty="0" err="1">
                    <a:solidFill>
                      <a:srgbClr val="000000"/>
                    </a:solidFill>
                    <a:latin typeface="Consolas"/>
                  </a:rPr>
                  <a:t>SelectedColor</a:t>
                </a:r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;</a:t>
                </a:r>
              </a:p>
              <a:p>
                <a:r>
                  <a:rPr lang="en-US" sz="1000" dirty="0">
                    <a:solidFill>
                      <a:srgbClr val="000000"/>
                    </a:solidFill>
                    <a:latin typeface="Consolas"/>
                  </a:rPr>
                  <a:t>};</a:t>
                </a:r>
              </a:p>
            </p:txBody>
          </p:sp>
        </p:grpSp>
        <p:cxnSp>
          <p:nvCxnSpPr>
            <p:cNvPr id="21" name="Straight Arrow Connector 20"/>
            <p:cNvCxnSpPr>
              <a:stCxn id="11" idx="2"/>
            </p:cNvCxnSpPr>
            <p:nvPr/>
          </p:nvCxnSpPr>
          <p:spPr>
            <a:xfrm flipH="1">
              <a:off x="6248400" y="3789045"/>
              <a:ext cx="990600" cy="77990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7239000" y="3789045"/>
              <a:ext cx="457200" cy="77990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486226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Unpacking the </a:t>
            </a:r>
            <a:r>
              <a:rPr lang="en-US" dirty="0" smtClean="0"/>
              <a:t>Sequence:</a:t>
            </a:r>
            <a:br>
              <a:rPr lang="en-US" dirty="0" smtClean="0"/>
            </a:br>
            <a:r>
              <a:rPr lang="en-US" dirty="0" err="1" smtClean="0"/>
              <a:t>DrawScene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3580" y="1219199"/>
            <a:ext cx="3733800" cy="76944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DXApp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::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InitDemo</a:t>
            </a:r>
            <a:endParaRPr lang="en-US" sz="1100" dirty="0" smtClean="0">
              <a:solidFill>
                <a:srgbClr val="008000"/>
              </a:solidFill>
              <a:latin typeface="Consolas"/>
            </a:endParaRPr>
          </a:p>
          <a:p>
            <a:endParaRPr lang="en-US" sz="1100" dirty="0" smtClean="0">
              <a:solidFill>
                <a:srgbClr val="0000FF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pShColor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ShaderColor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(md3dDevice);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pShColor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SetToContext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(md3dImmediateContext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580" y="2790617"/>
            <a:ext cx="7549081" cy="381642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DrawScene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ClearRenderTargetView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mRenderTargetView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6F008A"/>
                </a:solidFill>
                <a:latin typeface="Consolas"/>
              </a:rPr>
              <a:t>VasA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BackgroundColor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ClearDepthStencilView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mpDepthStencilView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D3D11_CLEAR_DEPTH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1.0f, 0);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pShColor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SendCamMatrices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mCam.getViewMatrix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mCam.getProjMatrix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pShColor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SendWorldColor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Colors::White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pModel1-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&gt;Render(md3dImmediateContext);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mSwapChain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&gt;Present(0, 0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1874982" y="2057400"/>
            <a:ext cx="9044709" cy="1627909"/>
            <a:chOff x="1874982" y="2057400"/>
            <a:chExt cx="9044709" cy="1627909"/>
          </a:xfrm>
        </p:grpSpPr>
        <p:sp>
          <p:nvSpPr>
            <p:cNvPr id="7" name="TextBox 6"/>
            <p:cNvSpPr txBox="1"/>
            <p:nvPr/>
          </p:nvSpPr>
          <p:spPr>
            <a:xfrm>
              <a:off x="3223491" y="2057400"/>
              <a:ext cx="7696200" cy="14465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FF"/>
                  </a:solidFill>
                  <a:latin typeface="Consolas"/>
                </a:rPr>
                <a:t>void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2B91AF"/>
                  </a:solidFill>
                  <a:latin typeface="Consolas"/>
                </a:rPr>
                <a:t>ShaderColor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::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SendCamMatrices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 </a:t>
              </a:r>
              <a:r>
                <a:rPr lang="en-US" sz="1100" dirty="0" err="1">
                  <a:solidFill>
                    <a:srgbClr val="0000FF"/>
                  </a:solidFill>
                  <a:latin typeface="Consolas"/>
                </a:rPr>
                <a:t>const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2B91AF"/>
                  </a:solidFill>
                  <a:latin typeface="Consolas"/>
                </a:rPr>
                <a:t>Matrix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&amp; </a:t>
              </a:r>
              <a:r>
                <a:rPr lang="en-US" sz="1100" dirty="0">
                  <a:solidFill>
                    <a:srgbClr val="808080"/>
                  </a:solidFill>
                  <a:latin typeface="Consolas"/>
                </a:rPr>
                <a:t>view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100" dirty="0" err="1">
                  <a:solidFill>
                    <a:srgbClr val="0000FF"/>
                  </a:solidFill>
                  <a:latin typeface="Consolas"/>
                </a:rPr>
                <a:t>const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2B91AF"/>
                  </a:solidFill>
                  <a:latin typeface="Consolas"/>
                </a:rPr>
                <a:t>Matrix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&amp; </a:t>
              </a:r>
              <a:r>
                <a:rPr lang="en-US" sz="1100" dirty="0" err="1">
                  <a:solidFill>
                    <a:srgbClr val="808080"/>
                  </a:solidFill>
                  <a:latin typeface="Consolas"/>
                </a:rPr>
                <a:t>proj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{</a:t>
              </a:r>
            </a:p>
            <a:p>
              <a:r>
                <a:rPr lang="en-US" sz="1100" dirty="0" smtClean="0">
                  <a:solidFill>
                    <a:srgbClr val="2B91AF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2B91AF"/>
                  </a:solidFill>
                  <a:latin typeface="Consolas"/>
                </a:rPr>
                <a:t>CamMatrices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mCamMatrices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mCamMatrices.View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8080"/>
                  </a:solidFill>
                  <a:latin typeface="Consolas"/>
                </a:rPr>
                <a:t>=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808080"/>
                  </a:solidFill>
                  <a:latin typeface="Consolas"/>
                </a:rPr>
                <a:t>view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  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mCamMatrices.Projection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8080"/>
                  </a:solidFill>
                  <a:latin typeface="Consolas"/>
                </a:rPr>
                <a:t>=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808080"/>
                  </a:solidFill>
                  <a:latin typeface="Consolas"/>
                </a:rPr>
                <a:t>proj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endParaRPr lang="en-US" sz="11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100" dirty="0" smtClean="0">
                  <a:solidFill>
                    <a:srgbClr val="0000FF"/>
                  </a:solidFill>
                  <a:latin typeface="Consolas"/>
                </a:rPr>
                <a:t>   this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-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&gt;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GetContext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()-&gt;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UpdateSubresource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mpBufferCamMatrices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0, </a:t>
              </a:r>
              <a:r>
                <a:rPr lang="en-US" sz="1100" dirty="0" err="1">
                  <a:solidFill>
                    <a:srgbClr val="0000FF"/>
                  </a:solidFill>
                  <a:latin typeface="Consolas"/>
                </a:rPr>
                <a:t>nullptr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&amp;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mCamMatrices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0, 0);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}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V="1">
              <a:off x="1874982" y="2273910"/>
              <a:ext cx="1706418" cy="1411399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2032880" y="4038600"/>
            <a:ext cx="8886811" cy="1524000"/>
            <a:chOff x="2032880" y="4038600"/>
            <a:chExt cx="8886811" cy="1524000"/>
          </a:xfrm>
        </p:grpSpPr>
        <p:sp>
          <p:nvSpPr>
            <p:cNvPr id="10" name="TextBox 9"/>
            <p:cNvSpPr txBox="1"/>
            <p:nvPr/>
          </p:nvSpPr>
          <p:spPr>
            <a:xfrm>
              <a:off x="3223491" y="4116050"/>
              <a:ext cx="7696200" cy="14465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FF"/>
                  </a:solidFill>
                  <a:latin typeface="Consolas"/>
                </a:rPr>
                <a:t>void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2B91AF"/>
                  </a:solidFill>
                  <a:latin typeface="Consolas"/>
                </a:rPr>
                <a:t>ShaderColor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::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SendWorldColor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err="1">
                  <a:solidFill>
                    <a:srgbClr val="0000FF"/>
                  </a:solidFill>
                  <a:latin typeface="Consolas"/>
                </a:rPr>
                <a:t>const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2B91AF"/>
                  </a:solidFill>
                  <a:latin typeface="Consolas"/>
                </a:rPr>
                <a:t>Matrix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&amp; </a:t>
              </a:r>
              <a:r>
                <a:rPr lang="en-US" sz="1100" dirty="0">
                  <a:solidFill>
                    <a:srgbClr val="808080"/>
                  </a:solidFill>
                  <a:latin typeface="Consolas"/>
                </a:rPr>
                <a:t>world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100" dirty="0" err="1">
                  <a:solidFill>
                    <a:srgbClr val="0000FF"/>
                  </a:solidFill>
                  <a:latin typeface="Consolas"/>
                </a:rPr>
                <a:t>const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2B91AF"/>
                  </a:solidFill>
                  <a:latin typeface="Consolas"/>
                </a:rPr>
                <a:t>Vect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&amp; </a:t>
              </a:r>
              <a:r>
                <a:rPr lang="en-US" sz="1100" dirty="0">
                  <a:solidFill>
                    <a:srgbClr val="808080"/>
                  </a:solidFill>
                  <a:latin typeface="Consolas"/>
                </a:rPr>
                <a:t>col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{</a:t>
              </a:r>
            </a:p>
            <a:p>
              <a:r>
                <a:rPr lang="en-US" sz="1100" dirty="0" smtClean="0">
                  <a:solidFill>
                    <a:srgbClr val="2B91AF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2B91AF"/>
                  </a:solidFill>
                  <a:latin typeface="Consolas"/>
                </a:rPr>
                <a:t>Data_WorldColor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wc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wc.World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8080"/>
                  </a:solidFill>
                  <a:latin typeface="Consolas"/>
                </a:rPr>
                <a:t>=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808080"/>
                  </a:solidFill>
                  <a:latin typeface="Consolas"/>
                </a:rPr>
                <a:t>world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wc.Color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8080"/>
                  </a:solidFill>
                  <a:latin typeface="Consolas"/>
                </a:rPr>
                <a:t>=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808080"/>
                  </a:solidFill>
                  <a:latin typeface="Consolas"/>
                </a:rPr>
                <a:t>col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endParaRPr lang="en-US" sz="11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100" dirty="0" smtClean="0">
                  <a:solidFill>
                    <a:srgbClr val="0000FF"/>
                  </a:solidFill>
                  <a:latin typeface="Consolas"/>
                </a:rPr>
                <a:t>   this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-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&gt;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GetContext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()-&gt;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UpdateSubresource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mpBuffWordColor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0, </a:t>
              </a:r>
              <a:r>
                <a:rPr lang="en-US" sz="1100" dirty="0" err="1">
                  <a:solidFill>
                    <a:srgbClr val="0000FF"/>
                  </a:solidFill>
                  <a:latin typeface="Consolas"/>
                </a:rPr>
                <a:t>nullptr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&amp;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wc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0, 0);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}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>
              <a:off x="2032880" y="4038600"/>
              <a:ext cx="1287836" cy="16764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228601" y="4836497"/>
            <a:ext cx="2768160" cy="95345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Shaders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Constant buffers set to context (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InitDemo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buffers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updated (above).</a:t>
            </a:r>
          </a:p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are ready to render!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1" y="5517190"/>
            <a:ext cx="1519584" cy="1340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4867526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Next ?</a:t>
            </a:r>
            <a:br>
              <a:rPr lang="en-US" dirty="0" smtClean="0"/>
            </a:br>
            <a:r>
              <a:rPr lang="en-US" dirty="0" smtClean="0"/>
              <a:t>More API work …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With the Model and </a:t>
            </a:r>
            <a:r>
              <a:rPr lang="en-US" sz="2000" dirty="0" err="1" smtClean="0"/>
              <a:t>Shader</a:t>
            </a:r>
            <a:r>
              <a:rPr lang="en-US" sz="2000" dirty="0" smtClean="0"/>
              <a:t> classes, we’ve done a lot of clean-up in </a:t>
            </a:r>
            <a:r>
              <a:rPr lang="en-US" sz="2000" dirty="0" err="1" smtClean="0"/>
              <a:t>DXApp</a:t>
            </a:r>
            <a:r>
              <a:rPr lang="en-US" sz="2000" dirty="0" smtClean="0"/>
              <a:t>. 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2000" dirty="0" smtClean="0"/>
              <a:t>Future demos will focus on specific rendering topics but it will be </a:t>
            </a:r>
            <a:r>
              <a:rPr lang="en-US" sz="2000" u="sng" dirty="0" smtClean="0"/>
              <a:t>your</a:t>
            </a:r>
            <a:r>
              <a:rPr lang="en-US" sz="2000" dirty="0" smtClean="0"/>
              <a:t> job to incorporate these new elements in new </a:t>
            </a:r>
            <a:r>
              <a:rPr lang="en-US" sz="2000" dirty="0" err="1" smtClean="0"/>
              <a:t>shaders</a:t>
            </a:r>
            <a:r>
              <a:rPr lang="en-US" sz="2000" dirty="0" smtClean="0"/>
              <a:t> and models.</a:t>
            </a:r>
          </a:p>
          <a:p>
            <a:pPr marL="457200" lvl="1" indent="0">
              <a:buNone/>
            </a:pPr>
            <a:r>
              <a:rPr lang="en-US" sz="1800" i="1" dirty="0" smtClean="0"/>
              <a:t>This means </a:t>
            </a:r>
            <a:r>
              <a:rPr lang="en-US" sz="1800" i="1" u="sng" dirty="0" smtClean="0"/>
              <a:t>some of my future demos may not be available to you</a:t>
            </a:r>
            <a:r>
              <a:rPr lang="en-US" sz="1800" i="1" dirty="0" smtClean="0"/>
              <a:t> on perforce. </a:t>
            </a:r>
          </a:p>
          <a:p>
            <a:pPr marL="457200" lvl="1" indent="0">
              <a:buNone/>
            </a:pPr>
            <a:r>
              <a:rPr lang="en-US" sz="1800" i="1" u="sng" dirty="0" smtClean="0"/>
              <a:t>You will need to rely on your own work</a:t>
            </a:r>
            <a:r>
              <a:rPr lang="en-US" sz="1800" i="1" dirty="0" smtClean="0"/>
              <a:t> as we proceed.</a:t>
            </a:r>
          </a:p>
          <a:p>
            <a:pPr marL="0" indent="0">
              <a:buNone/>
            </a:pPr>
            <a:endParaRPr lang="en-US" sz="800" dirty="0"/>
          </a:p>
        </p:txBody>
      </p:sp>
      <p:sp>
        <p:nvSpPr>
          <p:cNvPr id="5" name="TextBox 4"/>
          <p:cNvSpPr txBox="1"/>
          <p:nvPr/>
        </p:nvSpPr>
        <p:spPr>
          <a:xfrm>
            <a:off x="1905000" y="3810000"/>
            <a:ext cx="5029200" cy="681038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This will make you slowly build your own graphics API to use in the final project</a:t>
            </a:r>
          </a:p>
        </p:txBody>
      </p:sp>
    </p:spTree>
    <p:extLst>
      <p:ext uri="{BB962C8B-B14F-4D97-AF65-F5344CB8AC3E}">
        <p14:creationId xmlns:p14="http://schemas.microsoft.com/office/powerpoint/2010/main" val="357731513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3:</a:t>
            </a:r>
          </a:p>
          <a:p>
            <a:r>
              <a:rPr lang="en-US" dirty="0" smtClean="0"/>
              <a:t>Performance Consideration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05761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Looking at ColorSelected3D, we see a potential problem: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Q: How can we fix this?</a:t>
            </a:r>
          </a:p>
          <a:p>
            <a:pPr marL="0" indent="0">
              <a:buNone/>
            </a:pPr>
            <a:r>
              <a:rPr lang="en-US" sz="2000" dirty="0" smtClean="0"/>
              <a:t>A: Compute the product on the CPU an pass it along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</a:t>
            </a:r>
            <a:r>
              <a:rPr lang="en-US" sz="2000" i="1" dirty="0" smtClean="0"/>
              <a:t>This is part of your assignment</a:t>
            </a: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257800" y="1660773"/>
            <a:ext cx="3796419" cy="161582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rgbClr val="000000"/>
                </a:solidFill>
                <a:latin typeface="Consolas"/>
              </a:rPr>
              <a:t>VS_OUTPUT VS( </a:t>
            </a:r>
            <a:r>
              <a:rPr lang="fr-FR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 Pos : POSITION 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VS_OUTPUT output;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mul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World 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mul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View 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mul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Projection 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SelectedColor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output;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3040" y="1724025"/>
            <a:ext cx="3276599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Every vertex will compute the same product World*View*Projection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1" y="2468686"/>
            <a:ext cx="3593878" cy="37457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 many vertices, this can add up…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19800" y="3567153"/>
            <a:ext cx="2514600" cy="93871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cbuffer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CamData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register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(b0)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float4x4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WVP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SelectedColor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62200" y="4800600"/>
            <a:ext cx="3505200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can we test (at least informally) whether this is an improvement or not?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122546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(Simplistic?) </a:t>
            </a:r>
            <a:br>
              <a:rPr lang="en-US" dirty="0" smtClean="0"/>
            </a:br>
            <a:r>
              <a:rPr lang="en-US" dirty="0" smtClean="0"/>
              <a:t>Stress Test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Let’s render a lot of these and see how it goes.</a:t>
            </a:r>
          </a:p>
          <a:p>
            <a:pPr marL="457200" lvl="1" indent="0">
              <a:buNone/>
            </a:pPr>
            <a:r>
              <a:rPr lang="en-US" sz="1600" i="1" dirty="0" smtClean="0"/>
              <a:t>That’s a lot of models and matrices…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800" b="1" dirty="0" smtClean="0"/>
              <a:t>Step 1: </a:t>
            </a:r>
            <a:r>
              <a:rPr lang="en-US" sz="1800" dirty="0" smtClean="0"/>
              <a:t>Step up the model and a lot of World matrices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800" b="1" dirty="0" smtClean="0"/>
              <a:t>Step 2: </a:t>
            </a:r>
            <a:r>
              <a:rPr lang="en-US" sz="1800" dirty="0" err="1" smtClean="0"/>
              <a:t>Init</a:t>
            </a:r>
            <a:r>
              <a:rPr lang="en-US" sz="1800" dirty="0" smtClean="0"/>
              <a:t> the matrices</a:t>
            </a:r>
            <a:endParaRPr lang="en-US" sz="1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957407" y="2438400"/>
            <a:ext cx="4681393" cy="144655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2B91AF"/>
                </a:solidFill>
                <a:latin typeface="Consolas"/>
              </a:rPr>
              <a:t>ShaderColor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pShColor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2B91AF"/>
                </a:solidFill>
                <a:latin typeface="Consolas"/>
              </a:rPr>
              <a:t>ShaderColorOpt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pShColOpt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static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SIDE_COUNT =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10;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count per side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static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SEPERATION = 2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 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distance between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units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pModel1;</a:t>
            </a: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arrWorld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[SIDE_COUNT][SIDE_COUNT][SIDE_COUNT];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98585" y="3927944"/>
            <a:ext cx="6145415" cy="297004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(0,0,0);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x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-SIDE_COUNT * SEPERATION / 2;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0;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&lt; SIDE_COUNT;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++)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 smtClean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100" dirty="0" smtClean="0">
                <a:solidFill>
                  <a:srgbClr val="2F4F4F"/>
                </a:solidFill>
                <a:latin typeface="Consolas"/>
              </a:rPr>
              <a:t>y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-SIDE_COUNT * SEPERATION / 2;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for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j = 0; j &lt; SIDE_COUNT;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j++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 smtClean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100" dirty="0" smtClean="0">
                <a:solidFill>
                  <a:srgbClr val="2F4F4F"/>
                </a:solidFill>
                <a:latin typeface="Consolas"/>
              </a:rPr>
              <a:t>z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-SIDE_COUNT * SEPERATION / 2;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  for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k = 0; k &lt; SIDE_COUNT; k++)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{ 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arrWorld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][j][k]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SCALE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.5f,.5f, .5f)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smtClean="0">
                <a:solidFill>
                  <a:srgbClr val="2F4F4F"/>
                </a:solidFill>
                <a:latin typeface="Consolas"/>
              </a:rPr>
              <a:t>TRANS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 smtClean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100" dirty="0" smtClean="0">
                <a:solidFill>
                  <a:srgbClr val="2F4F4F"/>
                </a:solidFill>
                <a:latin typeface="Consolas"/>
              </a:rPr>
              <a:t>z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+= SEPERATION;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 smtClean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100" dirty="0" smtClean="0">
                <a:solidFill>
                  <a:srgbClr val="2F4F4F"/>
                </a:solidFill>
                <a:latin typeface="Consolas"/>
              </a:rPr>
              <a:t>y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+= SEPERATION;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 smtClean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100" dirty="0" smtClean="0">
                <a:solidFill>
                  <a:srgbClr val="2F4F4F"/>
                </a:solidFill>
                <a:latin typeface="Consolas"/>
              </a:rPr>
              <a:t>x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+= SEPERATION;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55117" y="4306014"/>
            <a:ext cx="2362200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cluster will be centered at the origin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6844" y="4953000"/>
            <a:ext cx="2498755" cy="91940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Now we can compare different arrangements of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1" y="0"/>
            <a:ext cx="3429000" cy="3604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024401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 animBg="1"/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1: </a:t>
            </a:r>
            <a:r>
              <a:rPr lang="en-US" dirty="0" err="1" smtClean="0"/>
              <a:t>ShaderColor</a:t>
            </a:r>
            <a:r>
              <a:rPr lang="en-US" dirty="0" smtClean="0"/>
              <a:t>, Silly User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 smtClean="0"/>
              <a:t>Original </a:t>
            </a:r>
            <a:r>
              <a:rPr lang="en-US" sz="2000" b="1" dirty="0" err="1" smtClean="0"/>
              <a:t>ShaderColor</a:t>
            </a:r>
            <a:r>
              <a:rPr lang="en-US" sz="2000" b="1" dirty="0" smtClean="0"/>
              <a:t>:</a:t>
            </a:r>
          </a:p>
          <a:p>
            <a:pPr marL="457200" lvl="1" indent="-184150"/>
            <a:r>
              <a:rPr lang="en-US" sz="1800" dirty="0" smtClean="0"/>
              <a:t>Separate constant buffers for camera and instance data</a:t>
            </a:r>
          </a:p>
          <a:p>
            <a:pPr marL="457200" lvl="1" indent="-184150"/>
            <a:r>
              <a:rPr lang="en-US" sz="1800" dirty="0" smtClean="0"/>
              <a:t>Silly user updates camera every instance</a:t>
            </a:r>
          </a:p>
          <a:p>
            <a:pPr marL="457200" lvl="1" indent="-184150"/>
            <a:endParaRPr lang="en-US" sz="1800" dirty="0"/>
          </a:p>
          <a:p>
            <a:pPr marL="457200" lvl="1" indent="-184150"/>
            <a:endParaRPr lang="en-US" sz="1800" dirty="0" smtClean="0"/>
          </a:p>
          <a:p>
            <a:pPr marL="457200" lvl="1" indent="-184150"/>
            <a:endParaRPr lang="en-US" sz="1800" dirty="0"/>
          </a:p>
          <a:p>
            <a:pPr marL="457200" lvl="1" indent="-184150"/>
            <a:endParaRPr lang="en-US" sz="1800" dirty="0" smtClean="0"/>
          </a:p>
          <a:p>
            <a:pPr marL="457200" lvl="1" indent="-184150"/>
            <a:endParaRPr lang="en-US" sz="1800" dirty="0"/>
          </a:p>
          <a:p>
            <a:pPr marL="457200" lvl="1" indent="-184150"/>
            <a:endParaRPr lang="en-US" sz="1800" dirty="0" smtClean="0"/>
          </a:p>
          <a:p>
            <a:pPr marL="457200" lvl="1" indent="-184150"/>
            <a:endParaRPr lang="en-US" sz="1800" dirty="0"/>
          </a:p>
          <a:p>
            <a:pPr marL="457200" lvl="1" indent="-184150"/>
            <a:endParaRPr lang="en-US" sz="1800" dirty="0" smtClean="0"/>
          </a:p>
          <a:p>
            <a:pPr marL="457200" lvl="1" indent="-184150"/>
            <a:endParaRPr lang="en-US" sz="1800" dirty="0"/>
          </a:p>
          <a:p>
            <a:pPr marL="457200" lvl="1" indent="-184150"/>
            <a:endParaRPr lang="en-US" sz="1800" dirty="0" smtClean="0"/>
          </a:p>
          <a:p>
            <a:pPr marL="0" indent="0">
              <a:buNone/>
            </a:pPr>
            <a:r>
              <a:rPr lang="en-US" sz="2000" b="1" dirty="0" smtClean="0"/>
              <a:t>Results: </a:t>
            </a:r>
            <a:r>
              <a:rPr lang="en-US" sz="2000" dirty="0" smtClean="0"/>
              <a:t>32 fps and </a:t>
            </a:r>
            <a:endParaRPr lang="en-US" sz="2000" b="1" dirty="0" smtClean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6705600" cy="330859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DrawScene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&lt;…&gt;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for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0;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&lt; SIDE_COUNT;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++)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  for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j = 0; j &lt; SIDE_COUNT;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j++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     for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k = 0; k &lt; SIDE_COUNT; k++)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pShColor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SendWorldColor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arrWorld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][j][k], Colors::Lime);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pShColor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SendCamMatrices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mCam.getViewMatrix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mCam.getProjMatrix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());</a:t>
            </a: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   pModel1-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SetToContext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(md3dImmediateContext);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   pModel1-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&gt;Render(md3dImmediateContext);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&lt;…&gt;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3250" y="4000500"/>
            <a:ext cx="5441950" cy="23812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57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5029200" y="2514600"/>
            <a:ext cx="3940175" cy="2057400"/>
            <a:chOff x="5029200" y="2514600"/>
            <a:chExt cx="3940175" cy="2057400"/>
          </a:xfrm>
        </p:grpSpPr>
        <p:sp>
          <p:nvSpPr>
            <p:cNvPr id="9" name="TextBox 8"/>
            <p:cNvSpPr txBox="1"/>
            <p:nvPr/>
          </p:nvSpPr>
          <p:spPr>
            <a:xfrm>
              <a:off x="5029200" y="2514600"/>
              <a:ext cx="3940175" cy="646986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45720" bIns="45720" rtlCol="0">
              <a:spAutoFit/>
            </a:bodyPr>
            <a:lstStyle/>
            <a:p>
              <a:pPr algn="ctr"/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 well keep setting to context and updating matrices to simulate a more </a:t>
              </a:r>
              <a:r>
                <a:rPr lang="en-US" sz="1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dymanic</a:t>
              </a:r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scene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ight Brace 6"/>
            <p:cNvSpPr/>
            <p:nvPr/>
          </p:nvSpPr>
          <p:spPr>
            <a:xfrm>
              <a:off x="5181600" y="4343400"/>
              <a:ext cx="172878" cy="228600"/>
            </a:xfrm>
            <a:prstGeom prst="rightBrace">
              <a:avLst>
                <a:gd name="adj1" fmla="val 28193"/>
                <a:gd name="adj2" fmla="val 50000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>
              <a:stCxn id="7" idx="1"/>
              <a:endCxn id="9" idx="2"/>
            </p:cNvCxnSpPr>
            <p:nvPr/>
          </p:nvCxnSpPr>
          <p:spPr>
            <a:xfrm rot="10800000" flipH="1">
              <a:off x="5354478" y="3161586"/>
              <a:ext cx="1644810" cy="1296114"/>
            </a:xfrm>
            <a:prstGeom prst="bentConnector4">
              <a:avLst>
                <a:gd name="adj1" fmla="val 130644"/>
                <a:gd name="adj2" fmla="val 54409"/>
              </a:avLst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5376780"/>
            <a:ext cx="5598444" cy="1252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342901" y="6003089"/>
            <a:ext cx="2171699" cy="715089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Visual Studio: Analyze/Performance Profiler. Expand the largest percentage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33882" y="5583555"/>
            <a:ext cx="2433718" cy="817245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SetToContext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biggest drain, but the total of sending matrices is more…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67775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20" grpId="0" animBg="1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2: </a:t>
            </a:r>
            <a:r>
              <a:rPr lang="en-US" dirty="0" err="1" smtClean="0"/>
              <a:t>ShaderColor</a:t>
            </a:r>
            <a:r>
              <a:rPr lang="en-US" dirty="0" smtClean="0"/>
              <a:t>, Normal User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 smtClean="0"/>
              <a:t>Original </a:t>
            </a:r>
            <a:r>
              <a:rPr lang="en-US" sz="2000" b="1" dirty="0" err="1" smtClean="0"/>
              <a:t>ShaderColor</a:t>
            </a:r>
            <a:r>
              <a:rPr lang="en-US" sz="2000" b="1" dirty="0" smtClean="0"/>
              <a:t>:</a:t>
            </a:r>
          </a:p>
          <a:p>
            <a:pPr marL="457200" lvl="1" indent="-184150"/>
            <a:r>
              <a:rPr lang="en-US" sz="1800" dirty="0" smtClean="0"/>
              <a:t>Separate constant buffers for </a:t>
            </a:r>
            <a:r>
              <a:rPr lang="en-US" sz="1800" dirty="0" smtClean="0"/>
              <a:t>camera </a:t>
            </a:r>
            <a:r>
              <a:rPr lang="en-US" sz="1800" dirty="0" smtClean="0"/>
              <a:t>and instance data</a:t>
            </a:r>
          </a:p>
          <a:p>
            <a:pPr marL="457200" lvl="1" indent="-184150"/>
            <a:r>
              <a:rPr lang="en-US" sz="1800" dirty="0" smtClean="0"/>
              <a:t>Normal user updates camera only once per frame</a:t>
            </a:r>
          </a:p>
          <a:p>
            <a:pPr marL="457200" lvl="1" indent="-184150"/>
            <a:endParaRPr lang="en-US" sz="1800" dirty="0"/>
          </a:p>
          <a:p>
            <a:pPr marL="457200" lvl="1" indent="-184150"/>
            <a:endParaRPr lang="en-US" sz="1800" dirty="0" smtClean="0"/>
          </a:p>
          <a:p>
            <a:pPr marL="457200" lvl="1" indent="-184150"/>
            <a:endParaRPr lang="en-US" sz="1800" dirty="0"/>
          </a:p>
          <a:p>
            <a:pPr marL="457200" lvl="1" indent="-184150"/>
            <a:endParaRPr lang="en-US" sz="1800" dirty="0" smtClean="0"/>
          </a:p>
          <a:p>
            <a:pPr marL="457200" lvl="1" indent="-184150"/>
            <a:endParaRPr lang="en-US" sz="1800" dirty="0"/>
          </a:p>
          <a:p>
            <a:pPr marL="457200" lvl="1" indent="-184150"/>
            <a:endParaRPr lang="en-US" sz="1800" dirty="0" smtClean="0"/>
          </a:p>
          <a:p>
            <a:pPr marL="457200" lvl="1" indent="-184150"/>
            <a:endParaRPr lang="en-US" sz="1800" dirty="0"/>
          </a:p>
          <a:p>
            <a:pPr marL="457200" lvl="1" indent="-184150"/>
            <a:endParaRPr lang="en-US" sz="1800" dirty="0" smtClean="0"/>
          </a:p>
          <a:p>
            <a:pPr marL="457200" lvl="1" indent="-184150"/>
            <a:endParaRPr lang="en-US" sz="1800" dirty="0"/>
          </a:p>
          <a:p>
            <a:pPr marL="457200" lvl="1" indent="-184150"/>
            <a:endParaRPr lang="en-US" sz="1800" dirty="0" smtClean="0"/>
          </a:p>
          <a:p>
            <a:pPr marL="0" indent="0">
              <a:buNone/>
            </a:pPr>
            <a:r>
              <a:rPr lang="en-US" sz="2000" b="1" dirty="0" smtClean="0"/>
              <a:t>Results: </a:t>
            </a:r>
            <a:r>
              <a:rPr lang="en-US" sz="2000" dirty="0" smtClean="0"/>
              <a:t>43 fps and </a:t>
            </a:r>
            <a:endParaRPr lang="en-US" sz="2000" b="1" dirty="0" smtClean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6705600" cy="330859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DrawScene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&lt;…&gt;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pShColor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SendCamMatrices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mCam.getViewMatrix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mCam.getProjMatrix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0;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&lt; SIDE_COUNT;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++)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  for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j = 0; j &lt; SIDE_COUNT;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j++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     for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k = 0; k &lt; SIDE_COUNT; k++)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pShColor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SendWorldColor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arrWorld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][j][k], Colors::Lime);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   pModel1-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SetToContext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(md3dImmediateContext);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   pModel1-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&gt;Render(md3dImmediateContext);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&lt;…&gt;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6975" y="2809873"/>
            <a:ext cx="5441950" cy="238128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57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5671592"/>
            <a:ext cx="5257800" cy="976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047999" y="5068014"/>
            <a:ext cx="4495802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Better FPS and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SendCamMatrices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barely registers.</a:t>
            </a:r>
          </a:p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SetToContext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looking like the bottleneck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41121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3: </a:t>
            </a:r>
            <a:r>
              <a:rPr lang="en-US" dirty="0" err="1" smtClean="0"/>
              <a:t>ShaderColorOpt</a:t>
            </a:r>
            <a:r>
              <a:rPr lang="en-US" dirty="0" smtClean="0"/>
              <a:t> V1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 err="1" smtClean="0"/>
              <a:t>ShaderColorOpt</a:t>
            </a:r>
            <a:r>
              <a:rPr lang="en-US" sz="2000" b="1" dirty="0" smtClean="0"/>
              <a:t>:</a:t>
            </a:r>
          </a:p>
          <a:p>
            <a:pPr marL="457200" lvl="1" indent="-184150"/>
            <a:r>
              <a:rPr lang="en-US" sz="1800" dirty="0" smtClean="0"/>
              <a:t>CPU computes product for WVP, sent as a single matrix to GPU</a:t>
            </a:r>
          </a:p>
          <a:p>
            <a:pPr marL="457200" lvl="1" indent="-184150"/>
            <a:endParaRPr lang="en-US" sz="1800" dirty="0"/>
          </a:p>
          <a:p>
            <a:pPr marL="457200" lvl="1" indent="-184150"/>
            <a:endParaRPr lang="en-US" sz="1800" dirty="0" smtClean="0"/>
          </a:p>
          <a:p>
            <a:pPr marL="457200" lvl="1" indent="-184150"/>
            <a:endParaRPr lang="en-US" sz="1800" dirty="0"/>
          </a:p>
          <a:p>
            <a:pPr marL="457200" lvl="1" indent="-184150"/>
            <a:endParaRPr lang="en-US" sz="1800" dirty="0" smtClean="0"/>
          </a:p>
          <a:p>
            <a:pPr marL="457200" lvl="1" indent="-184150"/>
            <a:endParaRPr lang="en-US" sz="1800" dirty="0"/>
          </a:p>
          <a:p>
            <a:pPr marL="457200" lvl="1" indent="-184150"/>
            <a:endParaRPr lang="en-US" sz="1800" dirty="0" smtClean="0"/>
          </a:p>
          <a:p>
            <a:pPr marL="457200" lvl="1" indent="-184150"/>
            <a:endParaRPr lang="en-US" sz="1800" dirty="0"/>
          </a:p>
          <a:p>
            <a:pPr marL="273050" lvl="1" indent="0">
              <a:buNone/>
            </a:pPr>
            <a:endParaRPr lang="en-US" sz="1800" dirty="0"/>
          </a:p>
          <a:p>
            <a:pPr marL="457200" lvl="1" indent="-184150"/>
            <a:endParaRPr lang="en-US" sz="1800" dirty="0" smtClean="0"/>
          </a:p>
          <a:p>
            <a:pPr marL="0" indent="0">
              <a:buNone/>
            </a:pPr>
            <a:r>
              <a:rPr lang="en-US" sz="2000" b="1" dirty="0" smtClean="0"/>
              <a:t>Results: </a:t>
            </a:r>
            <a:r>
              <a:rPr lang="en-US" sz="2000" dirty="0" smtClean="0"/>
              <a:t>41 fps and </a:t>
            </a:r>
            <a:endParaRPr lang="en-US" sz="2000" b="1" dirty="0" smtClean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381000" y="1981200"/>
            <a:ext cx="8763000" cy="297004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DrawScene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&lt;…&gt;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for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0;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&lt; SIDE_COUNT;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++)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  for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j = 0; j &lt; SIDE_COUNT;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j++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     for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k = 0; k &lt; SIDE_COUNT; k++)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pShColOpt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SendWVPCol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arrWorld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][j][k],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mCam.getViewMatrix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mCam.getProjMatrix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(), Colors::Lime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   pModel1-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SetToContext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(md3dImmediateContext);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   pModel1-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&gt;Render(md3dImmediateContext);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&lt;…&gt;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999" y="5075976"/>
            <a:ext cx="5410202" cy="1025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495800" y="4763958"/>
            <a:ext cx="2362199" cy="37457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significant differences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34200" y="966281"/>
            <a:ext cx="2286001" cy="93871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cbuffer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Data :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register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(b0)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float4x4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WVP;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SelectedColor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42499" y="533400"/>
            <a:ext cx="2082297" cy="37457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Homework problem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51766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9" grpId="0" animBg="1"/>
      <p:bldP spid="8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4: </a:t>
            </a:r>
            <a:r>
              <a:rPr lang="en-US" dirty="0" err="1" smtClean="0"/>
              <a:t>ShaderColorOpt</a:t>
            </a:r>
            <a:r>
              <a:rPr lang="en-US" dirty="0" smtClean="0"/>
              <a:t> V2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 err="1" smtClean="0"/>
              <a:t>ShaderColorOpt</a:t>
            </a:r>
            <a:r>
              <a:rPr lang="en-US" sz="2000" b="1" dirty="0" smtClean="0"/>
              <a:t>:</a:t>
            </a:r>
          </a:p>
          <a:p>
            <a:pPr marL="457200" lvl="1" indent="-184150"/>
            <a:r>
              <a:rPr lang="en-US" sz="1800" dirty="0"/>
              <a:t>CPU computes product for WVP, sent as a single matrix to GPU</a:t>
            </a:r>
          </a:p>
          <a:p>
            <a:pPr marL="457200" lvl="1" indent="-184150"/>
            <a:r>
              <a:rPr lang="en-US" sz="1800" dirty="0" smtClean="0"/>
              <a:t>Also precompute the VP product once only;</a:t>
            </a:r>
          </a:p>
          <a:p>
            <a:pPr marL="457200" lvl="1" indent="-184150"/>
            <a:endParaRPr lang="en-US" sz="1800" dirty="0"/>
          </a:p>
          <a:p>
            <a:pPr marL="457200" lvl="1" indent="-184150"/>
            <a:endParaRPr lang="en-US" sz="1800" dirty="0" smtClean="0"/>
          </a:p>
          <a:p>
            <a:pPr marL="457200" lvl="1" indent="-184150"/>
            <a:endParaRPr lang="en-US" sz="1800" dirty="0"/>
          </a:p>
          <a:p>
            <a:pPr marL="457200" lvl="1" indent="-184150"/>
            <a:endParaRPr lang="en-US" sz="1800" dirty="0" smtClean="0"/>
          </a:p>
          <a:p>
            <a:pPr marL="457200" lvl="1" indent="-184150"/>
            <a:endParaRPr lang="en-US" sz="1800" dirty="0"/>
          </a:p>
          <a:p>
            <a:pPr marL="457200" lvl="1" indent="-184150"/>
            <a:endParaRPr lang="en-US" sz="1800" dirty="0" smtClean="0"/>
          </a:p>
          <a:p>
            <a:pPr marL="457200" lvl="1" indent="-184150"/>
            <a:endParaRPr lang="en-US" sz="1800" dirty="0"/>
          </a:p>
          <a:p>
            <a:pPr marL="273050" lvl="1" indent="0">
              <a:buNone/>
            </a:pPr>
            <a:endParaRPr lang="en-US" sz="800" dirty="0" smtClean="0"/>
          </a:p>
          <a:p>
            <a:pPr marL="273050" lvl="1" indent="0">
              <a:buNone/>
            </a:pPr>
            <a:endParaRPr lang="en-US" sz="1800" dirty="0"/>
          </a:p>
          <a:p>
            <a:pPr marL="457200" lvl="1" indent="-184150"/>
            <a:endParaRPr lang="en-US" sz="1800" dirty="0" smtClean="0"/>
          </a:p>
          <a:p>
            <a:pPr marL="0" indent="0">
              <a:buNone/>
            </a:pPr>
            <a:r>
              <a:rPr lang="en-US" sz="2000" b="1" dirty="0" smtClean="0"/>
              <a:t>Results: </a:t>
            </a:r>
            <a:r>
              <a:rPr lang="en-US" sz="2000" dirty="0" smtClean="0"/>
              <a:t>42 fps and </a:t>
            </a:r>
            <a:endParaRPr lang="en-US" sz="2000" b="1" dirty="0" smtClean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2286000"/>
            <a:ext cx="579120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DrawScene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&lt;…&gt;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VP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mCam.getViewMatrix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mCam.getProjMatrix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for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0;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&lt; SIDE_COUNT;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++)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  for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j = 0; j &lt; SIDE_COUNT;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j++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     for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k = 0; k &lt; SIDE_COUNT; k++)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pShColOpt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SendWVPCol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arrWorld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][j][k],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VP,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Colors::Lime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   pModel1-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SetToContext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(md3dImmediateContext);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   pModel1-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&gt;Render(md3dImmediateContext);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&lt;…&gt;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302" y="5632493"/>
            <a:ext cx="5788583" cy="1149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048000" y="5002107"/>
            <a:ext cx="4724400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Again…No appreciable difference</a:t>
            </a:r>
          </a:p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(but time spent in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SendWVPCol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did go down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slightly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120775" y="2813048"/>
            <a:ext cx="4394200" cy="1387479"/>
            <a:chOff x="1120775" y="2813048"/>
            <a:chExt cx="4394200" cy="1387479"/>
          </a:xfrm>
        </p:grpSpPr>
        <p:sp>
          <p:nvSpPr>
            <p:cNvPr id="8" name="Rounded Rectangle 7"/>
            <p:cNvSpPr/>
            <p:nvPr/>
          </p:nvSpPr>
          <p:spPr>
            <a:xfrm>
              <a:off x="1120775" y="2813048"/>
              <a:ext cx="4394200" cy="214315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  <a:effectLst>
              <a:glow rad="127000">
                <a:srgbClr val="FFFF00">
                  <a:alpha val="57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876800" y="3962400"/>
              <a:ext cx="355600" cy="238127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  <a:effectLst>
              <a:glow rad="127000">
                <a:srgbClr val="FFFF00">
                  <a:alpha val="57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Elbow Connector 6"/>
            <p:cNvCxnSpPr>
              <a:stCxn id="8" idx="3"/>
              <a:endCxn id="10" idx="0"/>
            </p:cNvCxnSpPr>
            <p:nvPr/>
          </p:nvCxnSpPr>
          <p:spPr>
            <a:xfrm flipH="1">
              <a:off x="5054600" y="2920206"/>
              <a:ext cx="460375" cy="1042194"/>
            </a:xfrm>
            <a:prstGeom prst="bentConnector4">
              <a:avLst>
                <a:gd name="adj1" fmla="val -49655"/>
                <a:gd name="adj2" fmla="val 55141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5122753" y="1958567"/>
            <a:ext cx="1887647" cy="28457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45720" rtlCol="0">
            <a:no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Homework problem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560886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9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5: </a:t>
            </a:r>
            <a:r>
              <a:rPr lang="en-US" dirty="0" err="1" smtClean="0"/>
              <a:t>ShaderColorOpt</a:t>
            </a:r>
            <a:r>
              <a:rPr lang="en-US" dirty="0" smtClean="0"/>
              <a:t>, Unrealistic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 err="1" smtClean="0"/>
              <a:t>ShaderColorOpt</a:t>
            </a:r>
            <a:r>
              <a:rPr lang="en-US" sz="2000" b="1" dirty="0" smtClean="0"/>
              <a:t>:</a:t>
            </a:r>
          </a:p>
          <a:p>
            <a:pPr marL="457200" lvl="1" indent="-184150"/>
            <a:r>
              <a:rPr lang="en-US" sz="1800" dirty="0" smtClean="0"/>
              <a:t>Same as before, but </a:t>
            </a:r>
            <a:r>
              <a:rPr lang="en-US" sz="1800" dirty="0" err="1" smtClean="0"/>
              <a:t>SetToContext</a:t>
            </a:r>
            <a:r>
              <a:rPr lang="en-US" sz="1800" dirty="0" smtClean="0"/>
              <a:t> once per frame;</a:t>
            </a:r>
          </a:p>
          <a:p>
            <a:pPr marL="457200" lvl="1" indent="-184150"/>
            <a:endParaRPr lang="en-US" sz="1800" dirty="0"/>
          </a:p>
          <a:p>
            <a:pPr marL="457200" lvl="1" indent="-184150"/>
            <a:endParaRPr lang="en-US" sz="1800" dirty="0" smtClean="0"/>
          </a:p>
          <a:p>
            <a:pPr marL="457200" lvl="1" indent="-184150"/>
            <a:endParaRPr lang="en-US" sz="1800" dirty="0"/>
          </a:p>
          <a:p>
            <a:pPr marL="457200" lvl="1" indent="-184150"/>
            <a:endParaRPr lang="en-US" sz="1800" dirty="0" smtClean="0"/>
          </a:p>
          <a:p>
            <a:pPr marL="457200" lvl="1" indent="-184150"/>
            <a:endParaRPr lang="en-US" sz="1800" dirty="0"/>
          </a:p>
          <a:p>
            <a:pPr marL="457200" lvl="1" indent="-184150"/>
            <a:endParaRPr lang="en-US" sz="1800" dirty="0" smtClean="0"/>
          </a:p>
          <a:p>
            <a:pPr marL="457200" lvl="1" indent="-184150"/>
            <a:endParaRPr lang="en-US" sz="1800" dirty="0"/>
          </a:p>
          <a:p>
            <a:pPr marL="273050" lvl="1" indent="0">
              <a:buNone/>
            </a:pPr>
            <a:endParaRPr lang="en-US" sz="1800" dirty="0" smtClean="0"/>
          </a:p>
          <a:p>
            <a:pPr marL="273050" lvl="1" indent="0">
              <a:buNone/>
            </a:pPr>
            <a:endParaRPr lang="en-US" sz="1800" dirty="0"/>
          </a:p>
          <a:p>
            <a:pPr marL="457200" lvl="1" indent="-184150"/>
            <a:endParaRPr lang="en-US" sz="1800" dirty="0" smtClean="0"/>
          </a:p>
          <a:p>
            <a:pPr marL="0" indent="0">
              <a:buNone/>
            </a:pPr>
            <a:r>
              <a:rPr lang="en-US" sz="2000" b="1" dirty="0" smtClean="0"/>
              <a:t>Results: </a:t>
            </a:r>
            <a:r>
              <a:rPr lang="en-US" sz="2000" dirty="0" smtClean="0"/>
              <a:t>85 fps and </a:t>
            </a:r>
            <a:endParaRPr lang="en-US" sz="2000" b="1" dirty="0" smtClean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1943478"/>
            <a:ext cx="5791200" cy="330859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DrawScene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&lt;…&gt;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VP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mCam.getViewMatrix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mCam.getProjMatrix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pModel1-&gt;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SetToContext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(md3dImmediateContext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for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0;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&lt; SIDE_COUNT;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++)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  for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j = 0; j &lt; SIDE_COUNT;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j++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     for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k = 0; k &lt; SIDE_COUNT; k++)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pShColOpt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SendWVPCol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arrWorld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][j][k],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VP,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Colors::Lime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   pModel1-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&gt;Render(md3dImmediateContext);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&lt;…&gt;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199" y="5314774"/>
            <a:ext cx="6030563" cy="85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2819400" y="4655611"/>
            <a:ext cx="1607545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Major boost in performance!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8800" y="1912521"/>
            <a:ext cx="3429000" cy="119181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‘real’ scene would have multiple models and there would need to be a quite a few number of calls to Model::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SetToContext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model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111722" y="2654126"/>
            <a:ext cx="3451225" cy="206769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57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562946" y="4655611"/>
            <a:ext cx="4210815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Good argument for ordering the draws based on model instance.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See also: geometry instancing </a:t>
            </a: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96004" y="5943600"/>
            <a:ext cx="2286000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Missing from this test: swapping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4605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9" grpId="0" animBg="1"/>
      <p:bldP spid="11" grpId="0" animBg="1"/>
      <p:bldP spid="10" grpId="0" animBg="1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Performance: Conclusion	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The take away is that improving rendering performance is not as straightforward are one might think. </a:t>
            </a:r>
          </a:p>
          <a:p>
            <a:pPr marL="461963" lvl="1" indent="-188913"/>
            <a:r>
              <a:rPr lang="en-US" sz="1800" dirty="0" smtClean="0"/>
              <a:t>The FPS and/or </a:t>
            </a:r>
            <a:r>
              <a:rPr lang="en-US" sz="1800" dirty="0" err="1" smtClean="0"/>
              <a:t>frametime</a:t>
            </a:r>
            <a:r>
              <a:rPr lang="en-US" sz="1800" dirty="0" smtClean="0"/>
              <a:t> is a good start, but won’t give you a clear indication of what the bottlenecks are</a:t>
            </a:r>
          </a:p>
          <a:p>
            <a:pPr marL="461963" lvl="1" indent="-188913"/>
            <a:r>
              <a:rPr lang="en-US" sz="1800" dirty="0" smtClean="0"/>
              <a:t>Performance analysis tools </a:t>
            </a:r>
            <a:r>
              <a:rPr lang="en-US" sz="1800" dirty="0" smtClean="0"/>
              <a:t>help</a:t>
            </a:r>
            <a:r>
              <a:rPr lang="en-US" sz="1800" dirty="0" smtClean="0"/>
              <a:t>, but replicating a ‘representative’ scene is not simple.</a:t>
            </a:r>
          </a:p>
          <a:p>
            <a:pPr marL="461963" lvl="1" indent="-188913"/>
            <a:r>
              <a:rPr lang="en-US" sz="1800" dirty="0" smtClean="0"/>
              <a:t>Performance will also very greatly depending on hardware and settings</a:t>
            </a:r>
          </a:p>
          <a:p>
            <a:pPr marL="461963" lvl="1" indent="-188913"/>
            <a:r>
              <a:rPr lang="en-US" sz="1800" dirty="0" smtClean="0"/>
              <a:t>Also important: we haven’t look at GPU performance either. That’s a whole other can of worms!</a:t>
            </a:r>
            <a:endParaRPr 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4191000"/>
            <a:ext cx="7543800" cy="163449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Bottom line: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the performance tools during development to spot egregious problems. However, finding *the* best solution may not be possible: too many variables. The best solution will always depend on the specifics of the final scene/game/product.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32969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4:</a:t>
            </a:r>
          </a:p>
          <a:p>
            <a:r>
              <a:rPr lang="en-US" dirty="0" smtClean="0"/>
              <a:t>Texture Mapping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68857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Texture Mapping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Texture mapping is the process by which you map each triangle of a model to a specific area of a texture.</a:t>
            </a:r>
          </a:p>
          <a:p>
            <a:pPr marL="461963" lvl="1" indent="-188913"/>
            <a:r>
              <a:rPr lang="en-US" sz="1800" dirty="0" smtClean="0"/>
              <a:t>The mapping is usually imbedded as part of the vertex data</a:t>
            </a:r>
          </a:p>
          <a:p>
            <a:pPr marL="461963" lvl="1" indent="-188913"/>
            <a:r>
              <a:rPr lang="en-US" sz="1800" dirty="0" smtClean="0"/>
              <a:t>Every vertex needs a pair (u, v) of value indicating their position on the texture</a:t>
            </a:r>
          </a:p>
          <a:p>
            <a:pPr marL="461963" lvl="1" indent="-188913"/>
            <a:r>
              <a:rPr lang="en-US" sz="1800" dirty="0" smtClean="0"/>
              <a:t>Duplicate verts: The cube below requires 24 vertices to accommodate the </a:t>
            </a:r>
            <a:r>
              <a:rPr lang="en-US" sz="1800" dirty="0" err="1" smtClean="0"/>
              <a:t>uv</a:t>
            </a:r>
            <a:r>
              <a:rPr lang="en-US" sz="1800" dirty="0" smtClean="0"/>
              <a:t> mapping</a:t>
            </a:r>
          </a:p>
          <a:p>
            <a:pPr marL="273050" lvl="1" indent="0">
              <a:buNone/>
            </a:pPr>
            <a:endParaRPr lang="en-US" sz="1800" dirty="0"/>
          </a:p>
        </p:txBody>
      </p:sp>
      <p:pic>
        <p:nvPicPr>
          <p:cNvPr id="7" name="Picture 6" descr="http://upload.wikimedia.org/wikipedia/commons/thumb/f/fe/Cube_Representative_UV_Unwrapping.png/1280px-Cube_Representative_UV_Unwrappin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819525"/>
            <a:ext cx="3416048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599425"/>
            <a:ext cx="2593071" cy="227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524250"/>
            <a:ext cx="2739606" cy="196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999395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Texture Mapping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Texture mapping is the process by which you map each triangle of a model to a specific area of a texture.</a:t>
            </a:r>
          </a:p>
          <a:p>
            <a:pPr marL="461963" lvl="1" indent="-188913"/>
            <a:r>
              <a:rPr lang="en-US" sz="1800" dirty="0" smtClean="0"/>
              <a:t>The mapping is usually imbedded as part of the vertex data</a:t>
            </a:r>
          </a:p>
          <a:p>
            <a:pPr marL="461963" lvl="1" indent="-188913"/>
            <a:r>
              <a:rPr lang="en-US" sz="1800" dirty="0" smtClean="0"/>
              <a:t>Every vertex needs a pair (u, v) of value indicating their position on the texture</a:t>
            </a:r>
          </a:p>
          <a:p>
            <a:pPr marL="461963" lvl="1" indent="-188913"/>
            <a:r>
              <a:rPr lang="en-US" sz="1800" dirty="0"/>
              <a:t>Duplicate verts: The cube below requires 24 vertices </a:t>
            </a:r>
            <a:r>
              <a:rPr lang="en-US" sz="1800" dirty="0" smtClean="0"/>
              <a:t>to </a:t>
            </a:r>
            <a:r>
              <a:rPr lang="en-US" sz="1800" dirty="0"/>
              <a:t>accommodate the </a:t>
            </a:r>
            <a:r>
              <a:rPr lang="en-US" sz="1800" dirty="0" err="1"/>
              <a:t>uv</a:t>
            </a:r>
            <a:r>
              <a:rPr lang="en-US" sz="1800" dirty="0"/>
              <a:t> </a:t>
            </a:r>
            <a:r>
              <a:rPr lang="en-US" sz="1800" dirty="0" smtClean="0"/>
              <a:t>mapping</a:t>
            </a:r>
          </a:p>
          <a:p>
            <a:pPr marL="461963" lvl="1" indent="-188913"/>
            <a:r>
              <a:rPr lang="en-US" sz="1800" dirty="0" smtClean="0"/>
              <a:t>Both u and v range  is  [0,1] and (in DX) start at the upper-left corner</a:t>
            </a:r>
          </a:p>
          <a:p>
            <a:pPr marL="461963" lvl="1" indent="-188913"/>
            <a:endParaRPr lang="en-US" sz="1800" dirty="0"/>
          </a:p>
          <a:p>
            <a:pPr marL="273050" lvl="1" indent="0">
              <a:buNone/>
            </a:pPr>
            <a:r>
              <a:rPr lang="en-US" sz="1800" b="1" dirty="0" smtClean="0"/>
              <a:t>Ex:</a:t>
            </a:r>
            <a:r>
              <a:rPr lang="en-US" sz="1800" dirty="0" smtClean="0"/>
              <a:t> To render the green T on the top of a cube:</a:t>
            </a:r>
          </a:p>
          <a:p>
            <a:pPr marL="687388" lvl="2" indent="0">
              <a:buNone/>
            </a:pPr>
            <a:r>
              <a:rPr lang="en-US" dirty="0" smtClean="0"/>
              <a:t>The top 4 vertices would need the following</a:t>
            </a:r>
          </a:p>
          <a:p>
            <a:pPr marL="687388" lvl="2" indent="0">
              <a:buNone/>
            </a:pPr>
            <a:r>
              <a:rPr lang="en-US" dirty="0" smtClean="0"/>
              <a:t>UV </a:t>
            </a:r>
            <a:r>
              <a:rPr lang="en-US" dirty="0" err="1" smtClean="0"/>
              <a:t>coord</a:t>
            </a:r>
            <a:r>
              <a:rPr lang="en-US" dirty="0"/>
              <a:t> </a:t>
            </a:r>
            <a:endParaRPr lang="en-US" dirty="0" smtClean="0"/>
          </a:p>
          <a:p>
            <a:pPr marL="461963" lvl="1" indent="-188913"/>
            <a:endParaRPr lang="en-US" sz="1800" dirty="0"/>
          </a:p>
        </p:txBody>
      </p:sp>
      <p:pic>
        <p:nvPicPr>
          <p:cNvPr id="9218" name="Picture 2" descr="https://i-msdn.sec.s-msft.com/dynimg/IC28222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959" y="3439500"/>
            <a:ext cx="3810000" cy="3293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301" y="4377095"/>
            <a:ext cx="2016899" cy="2016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5989245" y="4090483"/>
            <a:ext cx="1736565" cy="1711155"/>
            <a:chOff x="5989245" y="4063324"/>
            <a:chExt cx="1736565" cy="1711155"/>
          </a:xfrm>
        </p:grpSpPr>
        <p:sp>
          <p:nvSpPr>
            <p:cNvPr id="5" name="TextBox 4"/>
            <p:cNvSpPr txBox="1"/>
            <p:nvPr/>
          </p:nvSpPr>
          <p:spPr>
            <a:xfrm rot="19418643">
              <a:off x="6795938" y="4077612"/>
              <a:ext cx="4539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0.25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 rot="19418643">
              <a:off x="7271840" y="4063324"/>
              <a:ext cx="4539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0.50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 rot="20216241">
              <a:off x="5989245" y="4969721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0.375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 rot="20216241">
              <a:off x="5989245" y="5497480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0.625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2286000" y="4320306"/>
            <a:ext cx="137730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  u ,    v   )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(0.25, 0.375)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(0.50, 0.375)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(0.25, 0.625)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(0.50, 0.625)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74806" y="5943600"/>
            <a:ext cx="3581399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texture mapping is </a:t>
            </a:r>
            <a:r>
              <a:rPr lang="en-US" sz="1600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cube on the preceding page</a:t>
            </a:r>
            <a:endParaRPr lang="en-US" sz="16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7250" y="4365183"/>
            <a:ext cx="1447800" cy="1441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078787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Augmenting our Standard Vertices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To accommodate Texture mapping,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/>
              <a:t>we need to augment our Standard Vertices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/>
              <a:t>W</a:t>
            </a:r>
            <a:r>
              <a:rPr lang="en-US" sz="2000" dirty="0" smtClean="0"/>
              <a:t>e also modify the Set function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/>
              <a:t>to have default u, v values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334000" y="1219200"/>
            <a:ext cx="3200400" cy="1277273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StandardVertex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Align16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u;   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UV texture coordinate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v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Color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4197" y="2590800"/>
            <a:ext cx="4340382" cy="161582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set(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_z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   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_u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0,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0,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   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1,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_g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1,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1)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s-ES" sz="1100" dirty="0" smtClean="0">
                <a:solidFill>
                  <a:srgbClr val="000000"/>
                </a:solidFill>
                <a:latin typeface="Consolas"/>
              </a:rPr>
              <a:t>   Pos </a:t>
            </a:r>
            <a:r>
              <a:rPr lang="es-E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s-E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s-E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s-E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s-ES" sz="1100" dirty="0">
                <a:solidFill>
                  <a:srgbClr val="808080"/>
                </a:solidFill>
                <a:latin typeface="Consolas"/>
              </a:rPr>
              <a:t>_x</a:t>
            </a:r>
            <a:r>
              <a:rPr lang="es-E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s-ES" sz="1100" dirty="0">
                <a:solidFill>
                  <a:srgbClr val="808080"/>
                </a:solidFill>
                <a:latin typeface="Consolas"/>
              </a:rPr>
              <a:t>_y</a:t>
            </a:r>
            <a:r>
              <a:rPr lang="es-E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s-ES" sz="1100" dirty="0">
                <a:solidFill>
                  <a:srgbClr val="808080"/>
                </a:solidFill>
                <a:latin typeface="Consolas"/>
              </a:rPr>
              <a:t>_z</a:t>
            </a:r>
            <a:r>
              <a:rPr lang="es-E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u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_u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v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Color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_g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60864" y="4343400"/>
            <a:ext cx="5225736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existing pre-made models to still work correctly (though they will not have useful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u,v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values)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7875" y="5105400"/>
            <a:ext cx="1558778" cy="1438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09600" y="5317250"/>
            <a:ext cx="5486400" cy="26161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pModel1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 md3dDevice,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PreMadedeModels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2F4F4F"/>
                </a:solidFill>
                <a:latin typeface="Consolas"/>
              </a:rPr>
              <a:t>UnitBox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);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38799860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Step: </a:t>
            </a:r>
            <a:br>
              <a:rPr lang="en-US" dirty="0" smtClean="0"/>
            </a:br>
            <a:r>
              <a:rPr lang="en-US" dirty="0" smtClean="0"/>
              <a:t>A Simpler Textured Cube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We want a cube model that can be textured as:</a:t>
            </a:r>
          </a:p>
          <a:p>
            <a:pPr marL="687388" lvl="1" indent="-188913"/>
            <a:r>
              <a:rPr lang="en-US" sz="1800" i="1" dirty="0" smtClean="0"/>
              <a:t>One texture wrapped on all 6 faces</a:t>
            </a:r>
          </a:p>
          <a:p>
            <a:pPr marL="41275" indent="0">
              <a:buNone/>
            </a:pPr>
            <a:endParaRPr lang="en-US" dirty="0"/>
          </a:p>
          <a:p>
            <a:pPr marL="41275" indent="0">
              <a:buNone/>
            </a:pPr>
            <a:endParaRPr lang="en-US" dirty="0" smtClean="0"/>
          </a:p>
          <a:p>
            <a:pPr marL="41275" indent="0">
              <a:buNone/>
            </a:pPr>
            <a:endParaRPr lang="en-US" sz="800" dirty="0" smtClean="0"/>
          </a:p>
          <a:p>
            <a:pPr marL="41275" indent="0">
              <a:buNone/>
            </a:pPr>
            <a:r>
              <a:rPr lang="en-US" sz="2000" dirty="0" smtClean="0"/>
              <a:t>But a good starting point is create a simpler cube:</a:t>
            </a:r>
          </a:p>
          <a:p>
            <a:pPr marL="687388" lvl="1" indent="-188913"/>
            <a:r>
              <a:rPr lang="en-US" sz="1800" i="1" dirty="0" smtClean="0"/>
              <a:t>Same texture on every face</a:t>
            </a:r>
            <a:endParaRPr lang="en-US" sz="1800" dirty="0" smtClean="0"/>
          </a:p>
          <a:p>
            <a:pPr marL="687388" lvl="1" indent="-188913"/>
            <a:endParaRPr lang="en-US" sz="1800" i="1" dirty="0"/>
          </a:p>
          <a:p>
            <a:pPr marL="687388" lvl="1" indent="-188913"/>
            <a:endParaRPr lang="en-US" sz="1800" i="1" dirty="0" smtClean="0"/>
          </a:p>
          <a:p>
            <a:pPr marL="498475" lvl="1" indent="0">
              <a:buNone/>
            </a:pPr>
            <a:endParaRPr lang="en-US" sz="1800" i="1" dirty="0"/>
          </a:p>
          <a:p>
            <a:pPr marL="41275" indent="0">
              <a:buNone/>
            </a:pPr>
            <a:r>
              <a:rPr lang="en-US" sz="2000" dirty="0" smtClean="0"/>
              <a:t>Before we get into textures in DX, we must first create a cube model that has the </a:t>
            </a:r>
            <a:r>
              <a:rPr lang="en-US" sz="2000" dirty="0" err="1" smtClean="0"/>
              <a:t>u,v</a:t>
            </a:r>
            <a:r>
              <a:rPr lang="en-US" sz="2000" dirty="0" smtClean="0"/>
              <a:t> coordinates to apply one texture on every face.</a:t>
            </a:r>
            <a:endParaRPr lang="en-US" sz="2000" dirty="0"/>
          </a:p>
          <a:p>
            <a:pPr marL="41275" indent="0">
              <a:buNone/>
            </a:pPr>
            <a:endParaRPr lang="en-US" sz="20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297" y="1277166"/>
            <a:ext cx="1447800" cy="1441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897" y="1277166"/>
            <a:ext cx="1466034" cy="1466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828800" y="1998111"/>
            <a:ext cx="2590800" cy="37457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will be your homework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897" y="3124200"/>
            <a:ext cx="15240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297" y="3124200"/>
            <a:ext cx="1502103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270623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</a:t>
            </a:r>
            <a:r>
              <a:rPr lang="en-US" dirty="0" err="1" smtClean="0"/>
              <a:t>PreMadeModel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 err="1"/>
              <a:t>UnitBoxRepeatedTexture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we need the new unit cube model with proper </a:t>
            </a:r>
            <a:r>
              <a:rPr lang="en-US" sz="2000" dirty="0" err="1" smtClean="0"/>
              <a:t>uv</a:t>
            </a:r>
            <a:r>
              <a:rPr lang="en-US" sz="2000" dirty="0" smtClean="0"/>
              <a:t>-coordinates on each face:</a:t>
            </a:r>
          </a:p>
          <a:p>
            <a:pPr marL="461963" lvl="1" indent="-188913"/>
            <a:r>
              <a:rPr lang="en-US" sz="1800" dirty="0" smtClean="0"/>
              <a:t>For each of the 6 faces we need:</a:t>
            </a:r>
          </a:p>
          <a:p>
            <a:pPr marL="914400" lvl="2" indent="-188913"/>
            <a:r>
              <a:rPr lang="en-US" dirty="0" smtClean="0"/>
              <a:t>4 vertices and 2 triangles</a:t>
            </a:r>
          </a:p>
          <a:p>
            <a:pPr marL="914400" lvl="2" indent="-188913"/>
            <a:r>
              <a:rPr lang="en-US" dirty="0" smtClean="0"/>
              <a:t>The (</a:t>
            </a:r>
            <a:r>
              <a:rPr lang="en-US" dirty="0" err="1" smtClean="0"/>
              <a:t>u,v</a:t>
            </a:r>
            <a:r>
              <a:rPr lang="en-US" dirty="0" smtClean="0"/>
              <a:t>) for the 4 vertices should correspond to this diagram </a:t>
            </a:r>
            <a:endParaRPr lang="en-US" sz="1800" dirty="0" smtClean="0"/>
          </a:p>
          <a:p>
            <a:pPr marL="273050" lvl="1" indent="0">
              <a:buNone/>
            </a:pPr>
            <a:endParaRPr lang="en-US" sz="1800" dirty="0" smtClean="0"/>
          </a:p>
          <a:p>
            <a:pPr marL="0" indent="-184150">
              <a:buNone/>
            </a:pPr>
            <a:endParaRPr lang="en-US" sz="800" dirty="0" smtClean="0"/>
          </a:p>
          <a:p>
            <a:pPr marL="0" indent="-184150">
              <a:buNone/>
            </a:pPr>
            <a:r>
              <a:rPr lang="en-US" sz="2000" dirty="0" smtClean="0"/>
              <a:t>The full code can be found in </a:t>
            </a:r>
            <a:r>
              <a:rPr lang="en-US" sz="2000" dirty="0" err="1" smtClean="0"/>
              <a:t>ModelTools</a:t>
            </a:r>
            <a:r>
              <a:rPr lang="en-US" sz="2000" dirty="0" smtClean="0"/>
              <a:t>::</a:t>
            </a:r>
            <a:r>
              <a:rPr lang="en-US" sz="2000" dirty="0" err="1"/>
              <a:t>CreateUnitBoxRepTexture</a:t>
            </a:r>
            <a:endParaRPr lang="en-US" sz="22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7113" y="1600200"/>
            <a:ext cx="1514475" cy="153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897078" y="5397374"/>
            <a:ext cx="4427522" cy="37457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Now we tackle using a texture as a GPU resource.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1" y="-1"/>
            <a:ext cx="1219200" cy="123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533400" y="3511629"/>
            <a:ext cx="1676400" cy="272415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You’re welcome!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3400" y="4130359"/>
            <a:ext cx="640079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pModel1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 md3dDevice,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PreMadedeModels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2F4F4F"/>
                </a:solidFill>
                <a:latin typeface="Consolas"/>
              </a:rPr>
              <a:t>UnitBoxRepeatedTexture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5670" y="4124026"/>
            <a:ext cx="1558778" cy="1438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744678" y="4519820"/>
            <a:ext cx="4732322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Looks the same, of course. </a:t>
            </a:r>
          </a:p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this model should have the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u,v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apply a texture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0681" y="1636412"/>
            <a:ext cx="1927872" cy="70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05483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 animBg="1"/>
      <p:bldP spid="11" grpId="0" animBg="1"/>
      <p:bldP spid="12" grpId="0" animBg="1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5:</a:t>
            </a:r>
          </a:p>
          <a:p>
            <a:r>
              <a:rPr lang="en-US" dirty="0" smtClean="0"/>
              <a:t>Loading Textures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250916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Texture Loading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</p:spPr>
        <p:txBody>
          <a:bodyPr/>
          <a:lstStyle/>
          <a:p>
            <a:fld id="{2DD2A927-C669-46EB-947E-64BB8CE6050D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There are a number of steps required to use a texture in a </a:t>
            </a:r>
            <a:r>
              <a:rPr lang="en-US" sz="2000" dirty="0" err="1" smtClean="0"/>
              <a:t>shader</a:t>
            </a:r>
            <a:r>
              <a:rPr lang="en-US" sz="2000" dirty="0" smtClean="0"/>
              <a:t>:</a:t>
            </a:r>
          </a:p>
          <a:p>
            <a:pPr marL="0" indent="0">
              <a:buNone/>
            </a:pPr>
            <a:endParaRPr lang="en-US" sz="800" dirty="0" smtClean="0"/>
          </a:p>
          <a:p>
            <a:pPr marL="687388" lvl="1" indent="-230188">
              <a:buFont typeface="+mj-lt"/>
              <a:buAutoNum type="arabicPeriod"/>
            </a:pPr>
            <a:r>
              <a:rPr lang="en-US" sz="1800" u="sng" dirty="0" smtClean="0"/>
              <a:t>Loading </a:t>
            </a:r>
            <a:r>
              <a:rPr lang="en-US" sz="1800" u="sng" dirty="0" smtClean="0"/>
              <a:t>texture </a:t>
            </a:r>
            <a:r>
              <a:rPr lang="en-US" sz="1800" u="sng" dirty="0" smtClean="0"/>
              <a:t>from file</a:t>
            </a:r>
            <a:r>
              <a:rPr lang="en-US" sz="1800" dirty="0" smtClean="0"/>
              <a:t>:</a:t>
            </a:r>
          </a:p>
          <a:p>
            <a:pPr marL="1082675" lvl="2" indent="0">
              <a:buNone/>
            </a:pPr>
            <a:r>
              <a:rPr lang="en-US" sz="1600" b="1" dirty="0" smtClean="0"/>
              <a:t>Problem: </a:t>
            </a:r>
            <a:r>
              <a:rPr lang="en-US" sz="1600" dirty="0" smtClean="0"/>
              <a:t>DX11 can handle BMP, PNG, JPG, GIFF and TIFF, but not TGA</a:t>
            </a:r>
          </a:p>
          <a:p>
            <a:pPr marL="1082675" lvl="2" indent="0">
              <a:buNone/>
            </a:pPr>
            <a:r>
              <a:rPr lang="en-US" sz="1600" b="1" dirty="0"/>
              <a:t>	</a:t>
            </a:r>
            <a:r>
              <a:rPr lang="en-US" sz="1600" dirty="0" smtClean="0"/>
              <a:t>We </a:t>
            </a:r>
            <a:r>
              <a:rPr lang="en-US" sz="1600" i="1" u="sng" dirty="0" smtClean="0"/>
              <a:t>do</a:t>
            </a:r>
            <a:r>
              <a:rPr lang="en-US" sz="1600" dirty="0" smtClean="0"/>
              <a:t> want TGA as it’s quite common nowadays</a:t>
            </a:r>
          </a:p>
          <a:p>
            <a:pPr marL="1082675" lvl="2" indent="0">
              <a:buNone/>
            </a:pPr>
            <a:r>
              <a:rPr lang="en-US" sz="1600" b="1" dirty="0" smtClean="0"/>
              <a:t>Solution:</a:t>
            </a:r>
            <a:r>
              <a:rPr lang="en-US" sz="1600" dirty="0" smtClean="0"/>
              <a:t> The ‘</a:t>
            </a:r>
            <a:r>
              <a:rPr lang="en-US" sz="1600" dirty="0" err="1" smtClean="0"/>
              <a:t>DirectXTex</a:t>
            </a:r>
            <a:r>
              <a:rPr lang="en-US" sz="1600" dirty="0" smtClean="0"/>
              <a:t>’ library will allow us to load TGAs</a:t>
            </a:r>
            <a:endParaRPr lang="en-US" sz="1600" b="1" dirty="0" smtClean="0"/>
          </a:p>
          <a:p>
            <a:pPr marL="687388" lvl="1" indent="-230188">
              <a:buFont typeface="+mj-lt"/>
              <a:buAutoNum type="arabicPeriod"/>
            </a:pPr>
            <a:r>
              <a:rPr lang="en-US" sz="1800" u="sng" dirty="0" smtClean="0"/>
              <a:t>Loading a </a:t>
            </a:r>
            <a:r>
              <a:rPr lang="en-US" sz="1800" u="sng" dirty="0" smtClean="0"/>
              <a:t>texture </a:t>
            </a:r>
            <a:r>
              <a:rPr lang="en-US" sz="1800" u="sng" dirty="0" smtClean="0"/>
              <a:t>on the GPU</a:t>
            </a:r>
            <a:r>
              <a:rPr lang="en-US" sz="1800" dirty="0" smtClean="0"/>
              <a:t>:</a:t>
            </a:r>
          </a:p>
          <a:p>
            <a:pPr marL="1089025" lvl="2" indent="0">
              <a:buNone/>
            </a:pPr>
            <a:r>
              <a:rPr lang="en-US" sz="1600" dirty="0" smtClean="0"/>
              <a:t>Needs to be stored in a special ‘texture’ buffer using a ‘resource view’.</a:t>
            </a:r>
          </a:p>
          <a:p>
            <a:pPr marL="1089025" lvl="2" indent="0">
              <a:buNone/>
            </a:pPr>
            <a:r>
              <a:rPr lang="en-US" sz="1600" dirty="0" smtClean="0"/>
              <a:t>As usual: we’ll also need to </a:t>
            </a:r>
          </a:p>
          <a:p>
            <a:pPr marL="1657350" lvl="2" indent="-169863"/>
            <a:r>
              <a:rPr lang="en-US" sz="1400" dirty="0" smtClean="0"/>
              <a:t>Keep a handle for it on the CPU</a:t>
            </a:r>
          </a:p>
          <a:p>
            <a:pPr marL="1657350" lvl="2" indent="-169863"/>
            <a:r>
              <a:rPr lang="en-US" sz="1400" dirty="0" smtClean="0"/>
              <a:t>Set it to context at the right time</a:t>
            </a:r>
          </a:p>
          <a:p>
            <a:pPr marL="687388" lvl="1" indent="-230188">
              <a:buFont typeface="+mj-lt"/>
              <a:buAutoNum type="arabicPeriod"/>
            </a:pPr>
            <a:r>
              <a:rPr lang="en-US" sz="1800" u="sng" dirty="0" smtClean="0"/>
              <a:t>Setting up a </a:t>
            </a:r>
            <a:r>
              <a:rPr lang="en-US" sz="1800" i="1" u="sng" dirty="0" smtClean="0"/>
              <a:t>texture sampler</a:t>
            </a:r>
            <a:r>
              <a:rPr lang="en-US" sz="1800" dirty="0" smtClean="0"/>
              <a:t>:</a:t>
            </a:r>
          </a:p>
          <a:p>
            <a:pPr marL="1089025" lvl="2" indent="0">
              <a:buNone/>
            </a:pPr>
            <a:r>
              <a:rPr lang="en-US" sz="1600" dirty="0" smtClean="0"/>
              <a:t>The number </a:t>
            </a:r>
            <a:r>
              <a:rPr lang="en-US" sz="1600" u="sng" dirty="0" smtClean="0"/>
              <a:t>screen</a:t>
            </a:r>
            <a:r>
              <a:rPr lang="en-US" sz="1600" dirty="0" smtClean="0"/>
              <a:t> pixels usually won’t match the texture size: </a:t>
            </a:r>
            <a:r>
              <a:rPr lang="en-US" sz="1600" dirty="0" smtClean="0"/>
              <a:t>The </a:t>
            </a:r>
            <a:r>
              <a:rPr lang="en-US" sz="1600" dirty="0" smtClean="0"/>
              <a:t>sampler dictates how to best </a:t>
            </a:r>
            <a:r>
              <a:rPr lang="en-US" sz="1600" dirty="0" smtClean="0"/>
              <a:t>compute the </a:t>
            </a:r>
            <a:r>
              <a:rPr lang="en-US" sz="1600" dirty="0" smtClean="0"/>
              <a:t>texture element to send on the screen</a:t>
            </a:r>
          </a:p>
          <a:p>
            <a:pPr marL="1089025" lvl="2" indent="0">
              <a:buNone/>
            </a:pPr>
            <a:r>
              <a:rPr lang="en-US" sz="1600" dirty="0"/>
              <a:t>As usual: we’ll also need to </a:t>
            </a:r>
          </a:p>
          <a:p>
            <a:pPr marL="1657350" lvl="2" indent="-169863"/>
            <a:r>
              <a:rPr lang="en-US" sz="1400" dirty="0"/>
              <a:t>Keep a handle for it on the CPU</a:t>
            </a:r>
          </a:p>
          <a:p>
            <a:pPr marL="1657350" lvl="2" indent="-169863"/>
            <a:r>
              <a:rPr lang="en-US" sz="1400" dirty="0"/>
              <a:t>Set it to context at the right </a:t>
            </a:r>
            <a:r>
              <a:rPr lang="en-US" sz="1400" dirty="0" smtClean="0"/>
              <a:t>time</a:t>
            </a:r>
            <a:endParaRPr lang="en-US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5631244" y="3879130"/>
            <a:ext cx="3055556" cy="715089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We’ll review all three steps in the next few slides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5257800" y="5557770"/>
            <a:ext cx="2617913" cy="1376430"/>
            <a:chOff x="6297487" y="5469902"/>
            <a:chExt cx="2617913" cy="137643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7487" y="5469902"/>
              <a:ext cx="1093913" cy="1093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05701" y="5469903"/>
              <a:ext cx="1409699" cy="1093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6348153" y="6477000"/>
              <a:ext cx="992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256x256</a:t>
              </a:r>
              <a:endParaRPr lang="en-US" dirty="0"/>
            </a:p>
          </p:txBody>
        </p:sp>
        <p:sp>
          <p:nvSpPr>
            <p:cNvPr id="9" name="Flowchart: Process 8"/>
            <p:cNvSpPr/>
            <p:nvPr/>
          </p:nvSpPr>
          <p:spPr>
            <a:xfrm>
              <a:off x="8055487" y="5924553"/>
              <a:ext cx="202688" cy="278608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0" fmla="*/ 0 w 10625"/>
                <a:gd name="connsiteY0" fmla="*/ 0 h 15395"/>
                <a:gd name="connsiteX1" fmla="*/ 10000 w 10625"/>
                <a:gd name="connsiteY1" fmla="*/ 0 h 15395"/>
                <a:gd name="connsiteX2" fmla="*/ 10625 w 10625"/>
                <a:gd name="connsiteY2" fmla="*/ 15395 h 15395"/>
                <a:gd name="connsiteX3" fmla="*/ 0 w 10625"/>
                <a:gd name="connsiteY3" fmla="*/ 10000 h 15395"/>
                <a:gd name="connsiteX4" fmla="*/ 0 w 10625"/>
                <a:gd name="connsiteY4" fmla="*/ 0 h 15395"/>
                <a:gd name="connsiteX0" fmla="*/ 250 w 10875"/>
                <a:gd name="connsiteY0" fmla="*/ 0 h 15395"/>
                <a:gd name="connsiteX1" fmla="*/ 10250 w 10875"/>
                <a:gd name="connsiteY1" fmla="*/ 0 h 15395"/>
                <a:gd name="connsiteX2" fmla="*/ 10875 w 10875"/>
                <a:gd name="connsiteY2" fmla="*/ 15395 h 15395"/>
                <a:gd name="connsiteX3" fmla="*/ 0 w 10875"/>
                <a:gd name="connsiteY3" fmla="*/ 11974 h 15395"/>
                <a:gd name="connsiteX4" fmla="*/ 250 w 10875"/>
                <a:gd name="connsiteY4" fmla="*/ 0 h 15395"/>
                <a:gd name="connsiteX0" fmla="*/ 250 w 10875"/>
                <a:gd name="connsiteY0" fmla="*/ 0 h 15395"/>
                <a:gd name="connsiteX1" fmla="*/ 10750 w 10875"/>
                <a:gd name="connsiteY1" fmla="*/ 2105 h 15395"/>
                <a:gd name="connsiteX2" fmla="*/ 10875 w 10875"/>
                <a:gd name="connsiteY2" fmla="*/ 15395 h 15395"/>
                <a:gd name="connsiteX3" fmla="*/ 0 w 10875"/>
                <a:gd name="connsiteY3" fmla="*/ 11974 h 15395"/>
                <a:gd name="connsiteX4" fmla="*/ 250 w 10875"/>
                <a:gd name="connsiteY4" fmla="*/ 0 h 15395"/>
                <a:gd name="connsiteX0" fmla="*/ 8 w 10633"/>
                <a:gd name="connsiteY0" fmla="*/ 0 h 15395"/>
                <a:gd name="connsiteX1" fmla="*/ 10508 w 10633"/>
                <a:gd name="connsiteY1" fmla="*/ 2105 h 15395"/>
                <a:gd name="connsiteX2" fmla="*/ 10633 w 10633"/>
                <a:gd name="connsiteY2" fmla="*/ 15395 h 15395"/>
                <a:gd name="connsiteX3" fmla="*/ 508 w 10633"/>
                <a:gd name="connsiteY3" fmla="*/ 12106 h 15395"/>
                <a:gd name="connsiteX4" fmla="*/ 8 w 10633"/>
                <a:gd name="connsiteY4" fmla="*/ 0 h 15395"/>
                <a:gd name="connsiteX0" fmla="*/ 125 w 10750"/>
                <a:gd name="connsiteY0" fmla="*/ 0 h 15395"/>
                <a:gd name="connsiteX1" fmla="*/ 10625 w 10750"/>
                <a:gd name="connsiteY1" fmla="*/ 2105 h 15395"/>
                <a:gd name="connsiteX2" fmla="*/ 10750 w 10750"/>
                <a:gd name="connsiteY2" fmla="*/ 15395 h 15395"/>
                <a:gd name="connsiteX3" fmla="*/ 0 w 10750"/>
                <a:gd name="connsiteY3" fmla="*/ 12764 h 15395"/>
                <a:gd name="connsiteX4" fmla="*/ 125 w 10750"/>
                <a:gd name="connsiteY4" fmla="*/ 0 h 15395"/>
                <a:gd name="connsiteX0" fmla="*/ 12 w 10637"/>
                <a:gd name="connsiteY0" fmla="*/ 0 h 15395"/>
                <a:gd name="connsiteX1" fmla="*/ 10512 w 10637"/>
                <a:gd name="connsiteY1" fmla="*/ 2105 h 15395"/>
                <a:gd name="connsiteX2" fmla="*/ 10637 w 10637"/>
                <a:gd name="connsiteY2" fmla="*/ 15395 h 15395"/>
                <a:gd name="connsiteX3" fmla="*/ 262 w 10637"/>
                <a:gd name="connsiteY3" fmla="*/ 12106 h 15395"/>
                <a:gd name="connsiteX4" fmla="*/ 12 w 10637"/>
                <a:gd name="connsiteY4" fmla="*/ 0 h 15395"/>
                <a:gd name="connsiteX0" fmla="*/ 23 w 10648"/>
                <a:gd name="connsiteY0" fmla="*/ 0 h 15395"/>
                <a:gd name="connsiteX1" fmla="*/ 10523 w 10648"/>
                <a:gd name="connsiteY1" fmla="*/ 2105 h 15395"/>
                <a:gd name="connsiteX2" fmla="*/ 10648 w 10648"/>
                <a:gd name="connsiteY2" fmla="*/ 15395 h 15395"/>
                <a:gd name="connsiteX3" fmla="*/ 23 w 10648"/>
                <a:gd name="connsiteY3" fmla="*/ 12632 h 15395"/>
                <a:gd name="connsiteX4" fmla="*/ 23 w 10648"/>
                <a:gd name="connsiteY4" fmla="*/ 0 h 15395"/>
                <a:gd name="connsiteX0" fmla="*/ 9 w 10634"/>
                <a:gd name="connsiteY0" fmla="*/ 0 h 15395"/>
                <a:gd name="connsiteX1" fmla="*/ 10509 w 10634"/>
                <a:gd name="connsiteY1" fmla="*/ 2105 h 15395"/>
                <a:gd name="connsiteX2" fmla="*/ 10634 w 10634"/>
                <a:gd name="connsiteY2" fmla="*/ 15395 h 15395"/>
                <a:gd name="connsiteX3" fmla="*/ 384 w 10634"/>
                <a:gd name="connsiteY3" fmla="*/ 13158 h 15395"/>
                <a:gd name="connsiteX4" fmla="*/ 9 w 10634"/>
                <a:gd name="connsiteY4" fmla="*/ 0 h 15395"/>
                <a:gd name="connsiteX0" fmla="*/ 15 w 10640"/>
                <a:gd name="connsiteY0" fmla="*/ 0 h 15395"/>
                <a:gd name="connsiteX1" fmla="*/ 10515 w 10640"/>
                <a:gd name="connsiteY1" fmla="*/ 2105 h 15395"/>
                <a:gd name="connsiteX2" fmla="*/ 10640 w 10640"/>
                <a:gd name="connsiteY2" fmla="*/ 15395 h 15395"/>
                <a:gd name="connsiteX3" fmla="*/ 140 w 10640"/>
                <a:gd name="connsiteY3" fmla="*/ 12632 h 15395"/>
                <a:gd name="connsiteX4" fmla="*/ 15 w 10640"/>
                <a:gd name="connsiteY4" fmla="*/ 0 h 15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0" h="15395">
                  <a:moveTo>
                    <a:pt x="15" y="0"/>
                  </a:moveTo>
                  <a:lnTo>
                    <a:pt x="10515" y="2105"/>
                  </a:lnTo>
                  <a:cubicBezTo>
                    <a:pt x="10723" y="7237"/>
                    <a:pt x="10432" y="10263"/>
                    <a:pt x="10640" y="15395"/>
                  </a:cubicBezTo>
                  <a:lnTo>
                    <a:pt x="140" y="12632"/>
                  </a:lnTo>
                  <a:cubicBezTo>
                    <a:pt x="223" y="8641"/>
                    <a:pt x="-68" y="3991"/>
                    <a:pt x="15" y="0"/>
                  </a:cubicBez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768473" y="6172200"/>
              <a:ext cx="5373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solidFill>
                    <a:schemeClr val="bg1"/>
                  </a:solidFill>
                </a:rPr>
                <a:t>70x70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620549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Texture:</a:t>
            </a:r>
            <a:br>
              <a:rPr lang="en-US" dirty="0" smtClean="0"/>
            </a:br>
            <a:r>
              <a:rPr lang="en-US" dirty="0" smtClean="0"/>
              <a:t>Com Objects </a:t>
            </a:r>
            <a:r>
              <a:rPr lang="en-US" dirty="0" smtClean="0"/>
              <a:t>(The “Handles</a:t>
            </a:r>
            <a:r>
              <a:rPr lang="en-US" dirty="0" smtClean="0"/>
              <a:t>”)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We’ll need two handles:</a:t>
            </a:r>
          </a:p>
          <a:p>
            <a:pPr marL="461963" lvl="1" indent="-188913"/>
            <a:r>
              <a:rPr lang="en-US" sz="1800" dirty="0" smtClean="0"/>
              <a:t>One for the </a:t>
            </a:r>
            <a:r>
              <a:rPr lang="en-US" sz="1800" dirty="0" smtClean="0">
                <a:hlinkClick r:id="rId2"/>
              </a:rPr>
              <a:t>resource view</a:t>
            </a:r>
            <a:r>
              <a:rPr lang="en-US" sz="1800" dirty="0" smtClean="0"/>
              <a:t> holding the image data (using </a:t>
            </a:r>
            <a:r>
              <a:rPr lang="en-US" sz="1800" dirty="0" err="1" smtClean="0"/>
              <a:t>DirectXTex</a:t>
            </a:r>
            <a:r>
              <a:rPr lang="en-US" sz="1800" dirty="0" smtClean="0"/>
              <a:t> lib)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000" y="4357306"/>
            <a:ext cx="3200400" cy="60016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DXApp.h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ID3D11ShaderResourceView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mpTextureRV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ID3D11SamplerState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mpSampler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418497" y="4267200"/>
            <a:ext cx="8725503" cy="2514600"/>
            <a:chOff x="418497" y="4186530"/>
            <a:chExt cx="8725503" cy="2514600"/>
          </a:xfrm>
        </p:grpSpPr>
        <p:sp>
          <p:nvSpPr>
            <p:cNvPr id="11" name="Rectangle 10"/>
            <p:cNvSpPr/>
            <p:nvPr/>
          </p:nvSpPr>
          <p:spPr>
            <a:xfrm>
              <a:off x="5327880" y="4186530"/>
              <a:ext cx="3816120" cy="2514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u="sng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GPU</a:t>
              </a:r>
              <a:endParaRPr lang="en-US" u="sng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157927" y="5400830"/>
              <a:ext cx="914400" cy="2240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Viewport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13" name="Straight Arrow Connector 12"/>
            <p:cNvCxnSpPr>
              <a:stCxn id="14" idx="3"/>
              <a:endCxn id="12" idx="1"/>
            </p:cNvCxnSpPr>
            <p:nvPr/>
          </p:nvCxnSpPr>
          <p:spPr>
            <a:xfrm flipV="1">
              <a:off x="7955379" y="5512867"/>
              <a:ext cx="202548" cy="445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1800" y="4475621"/>
              <a:ext cx="1173579" cy="20753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9" name="Group 18"/>
            <p:cNvGrpSpPr/>
            <p:nvPr/>
          </p:nvGrpSpPr>
          <p:grpSpPr>
            <a:xfrm>
              <a:off x="7757585" y="4922862"/>
              <a:ext cx="1188553" cy="1200322"/>
              <a:chOff x="7696200" y="2346325"/>
              <a:chExt cx="1188553" cy="1200322"/>
            </a:xfrm>
          </p:grpSpPr>
          <p:sp>
            <p:nvSpPr>
              <p:cNvPr id="27" name="Cloud 26"/>
              <p:cNvSpPr/>
              <p:nvPr/>
            </p:nvSpPr>
            <p:spPr>
              <a:xfrm>
                <a:off x="8096542" y="2346325"/>
                <a:ext cx="772095" cy="360468"/>
              </a:xfrm>
              <a:prstGeom prst="cloud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200" b="1" dirty="0" smtClean="0">
                    <a:solidFill>
                      <a:srgbClr val="FF0000"/>
                    </a:solidFill>
                  </a:rPr>
                  <a:t>VS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8" name="Straight Arrow Connector 27"/>
              <p:cNvCxnSpPr>
                <a:endCxn id="27" idx="2"/>
              </p:cNvCxnSpPr>
              <p:nvPr/>
            </p:nvCxnSpPr>
            <p:spPr>
              <a:xfrm>
                <a:off x="7696200" y="2526559"/>
                <a:ext cx="402737" cy="0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Cloud 28"/>
              <p:cNvSpPr/>
              <p:nvPr/>
            </p:nvSpPr>
            <p:spPr>
              <a:xfrm>
                <a:off x="8112658" y="3186179"/>
                <a:ext cx="772095" cy="360468"/>
              </a:xfrm>
              <a:prstGeom prst="cloud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200" b="1" dirty="0" smtClean="0">
                    <a:solidFill>
                      <a:srgbClr val="FF0000"/>
                    </a:solidFill>
                  </a:rPr>
                  <a:t>PS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30" name="Straight Arrow Connector 29"/>
              <p:cNvCxnSpPr>
                <a:endCxn id="29" idx="2"/>
              </p:cNvCxnSpPr>
              <p:nvPr/>
            </p:nvCxnSpPr>
            <p:spPr>
              <a:xfrm>
                <a:off x="7712316" y="3366413"/>
                <a:ext cx="402737" cy="0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36"/>
            <p:cNvSpPr txBox="1"/>
            <p:nvPr/>
          </p:nvSpPr>
          <p:spPr>
            <a:xfrm>
              <a:off x="6720242" y="5464041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b="1" dirty="0" smtClean="0">
                  <a:solidFill>
                    <a:srgbClr val="FF0000"/>
                  </a:solidFill>
                </a:rPr>
                <a:t>CCW</a:t>
              </a:r>
              <a:endParaRPr 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21" name="AutoShape 9"/>
            <p:cNvSpPr>
              <a:spLocks noChangeArrowheads="1"/>
            </p:cNvSpPr>
            <p:nvPr/>
          </p:nvSpPr>
          <p:spPr bwMode="auto">
            <a:xfrm>
              <a:off x="5535779" y="5371440"/>
              <a:ext cx="867545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Image data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18497" y="4948530"/>
              <a:ext cx="2522220" cy="1143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u="sng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DirectX App</a:t>
              </a:r>
            </a:p>
          </p:txBody>
        </p:sp>
        <p:sp>
          <p:nvSpPr>
            <p:cNvPr id="23" name="Pentagon 22"/>
            <p:cNvSpPr/>
            <p:nvPr/>
          </p:nvSpPr>
          <p:spPr>
            <a:xfrm>
              <a:off x="2209800" y="5398351"/>
              <a:ext cx="2438401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ID3D11ShaderResourceView</a:t>
              </a:r>
            </a:p>
          </p:txBody>
        </p:sp>
        <p:cxnSp>
          <p:nvCxnSpPr>
            <p:cNvPr id="24" name="Straight Connector 23"/>
            <p:cNvCxnSpPr>
              <a:stCxn id="23" idx="3"/>
              <a:endCxn id="21" idx="1"/>
            </p:cNvCxnSpPr>
            <p:nvPr/>
          </p:nvCxnSpPr>
          <p:spPr>
            <a:xfrm flipV="1">
              <a:off x="4648201" y="5509940"/>
              <a:ext cx="887578" cy="448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570896" y="5390310"/>
              <a:ext cx="1108711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 err="1">
                  <a:solidFill>
                    <a:srgbClr val="000000"/>
                  </a:solidFill>
                  <a:latin typeface="Consolas"/>
                </a:rPr>
                <a:t>mpTextureRV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26" name="Straight Arrow Connector 25"/>
            <p:cNvCxnSpPr>
              <a:stCxn id="25" idx="3"/>
              <a:endCxn id="23" idx="1"/>
            </p:cNvCxnSpPr>
            <p:nvPr/>
          </p:nvCxnSpPr>
          <p:spPr>
            <a:xfrm>
              <a:off x="1679607" y="5509106"/>
              <a:ext cx="530193" cy="1282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AutoShape 9"/>
            <p:cNvSpPr>
              <a:spLocks noChangeArrowheads="1"/>
            </p:cNvSpPr>
            <p:nvPr/>
          </p:nvSpPr>
          <p:spPr bwMode="auto">
            <a:xfrm>
              <a:off x="5535778" y="5699521"/>
              <a:ext cx="699230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Sampler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37" name="Pentagon 36"/>
            <p:cNvSpPr/>
            <p:nvPr/>
          </p:nvSpPr>
          <p:spPr>
            <a:xfrm>
              <a:off x="2209799" y="5723041"/>
              <a:ext cx="1828801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ID3D11SamplerState</a:t>
              </a:r>
            </a:p>
          </p:txBody>
        </p:sp>
        <p:cxnSp>
          <p:nvCxnSpPr>
            <p:cNvPr id="38" name="Straight Connector 37"/>
            <p:cNvCxnSpPr>
              <a:stCxn id="37" idx="3"/>
              <a:endCxn id="8" idx="1"/>
            </p:cNvCxnSpPr>
            <p:nvPr/>
          </p:nvCxnSpPr>
          <p:spPr>
            <a:xfrm>
              <a:off x="4038600" y="5835078"/>
              <a:ext cx="1497178" cy="2943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/>
            <p:cNvSpPr/>
            <p:nvPr/>
          </p:nvSpPr>
          <p:spPr>
            <a:xfrm>
              <a:off x="570895" y="5715000"/>
              <a:ext cx="953105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 err="1">
                  <a:solidFill>
                    <a:srgbClr val="000000"/>
                  </a:solidFill>
                  <a:latin typeface="Consolas"/>
                </a:rPr>
                <a:t>mpSampler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40" name="Straight Arrow Connector 39"/>
            <p:cNvCxnSpPr>
              <a:stCxn id="39" idx="3"/>
              <a:endCxn id="37" idx="1"/>
            </p:cNvCxnSpPr>
            <p:nvPr/>
          </p:nvCxnSpPr>
          <p:spPr>
            <a:xfrm>
              <a:off x="1524000" y="5833796"/>
              <a:ext cx="685799" cy="1282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/>
          <p:cNvGrpSpPr/>
          <p:nvPr/>
        </p:nvGrpSpPr>
        <p:grpSpPr>
          <a:xfrm>
            <a:off x="570897" y="1981200"/>
            <a:ext cx="8420703" cy="3608575"/>
            <a:chOff x="570897" y="1981200"/>
            <a:chExt cx="8420703" cy="3608575"/>
          </a:xfrm>
        </p:grpSpPr>
        <p:sp>
          <p:nvSpPr>
            <p:cNvPr id="48" name="TextBox 47"/>
            <p:cNvSpPr txBox="1"/>
            <p:nvPr/>
          </p:nvSpPr>
          <p:spPr>
            <a:xfrm>
              <a:off x="685799" y="1981200"/>
              <a:ext cx="8305801" cy="12772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DirectX::</a:t>
              </a:r>
              <a:r>
                <a:rPr lang="en-US" sz="1100" dirty="0" err="1">
                  <a:solidFill>
                    <a:srgbClr val="2B91AF"/>
                  </a:solidFill>
                  <a:latin typeface="Consolas"/>
                </a:rPr>
                <a:t>ScratchImage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myTexture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hr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=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LoadFromTGAFile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>
                  <a:solidFill>
                    <a:srgbClr val="A31515"/>
                  </a:solidFill>
                  <a:latin typeface="Consolas"/>
                </a:rPr>
                <a:t>L"../</a:t>
              </a:r>
              <a:r>
                <a:rPr lang="en-US" sz="1100" dirty="0" smtClean="0">
                  <a:solidFill>
                    <a:srgbClr val="A31515"/>
                  </a:solidFill>
                  <a:latin typeface="Consolas"/>
                </a:rPr>
                <a:t>Assets/Textures/</a:t>
              </a:r>
              <a:r>
                <a:rPr lang="en-US" sz="1100" dirty="0" err="1">
                  <a:solidFill>
                    <a:srgbClr val="A31515"/>
                  </a:solidFill>
                  <a:latin typeface="Consolas"/>
                </a:rPr>
                <a:t>CrateFace</a:t>
              </a:r>
              <a:r>
                <a:rPr lang="en-US" sz="1100" dirty="0" err="1" smtClean="0">
                  <a:solidFill>
                    <a:srgbClr val="A31515"/>
                  </a:solidFill>
                  <a:latin typeface="Consolas"/>
                </a:rPr>
                <a:t>.tga</a:t>
              </a:r>
              <a:r>
                <a:rPr lang="en-US" sz="1100" dirty="0">
                  <a:solidFill>
                    <a:srgbClr val="A31515"/>
                  </a:solidFill>
                  <a:latin typeface="Consolas"/>
                </a:rPr>
                <a:t>"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100" dirty="0" err="1">
                  <a:solidFill>
                    <a:srgbClr val="0000FF"/>
                  </a:solidFill>
                  <a:latin typeface="Consolas"/>
                </a:rPr>
                <a:t>nullptr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myTexture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);</a:t>
              </a:r>
            </a:p>
            <a:p>
              <a:r>
                <a:rPr lang="en-US" sz="1100" dirty="0">
                  <a:solidFill>
                    <a:srgbClr val="6F008A"/>
                  </a:solidFill>
                  <a:latin typeface="Consolas"/>
                </a:rPr>
                <a:t>assert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>
                  <a:solidFill>
                    <a:srgbClr val="6F008A"/>
                  </a:solidFill>
                  <a:latin typeface="Consolas"/>
                </a:rPr>
                <a:t>SUCCEEDED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hr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));</a:t>
              </a:r>
            </a:p>
            <a:p>
              <a:endParaRPr lang="en-US" sz="11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CreateShaderResourceView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( md3dDevice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endParaRPr lang="en-US" sz="1100" dirty="0" smtClean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	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	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myTexture.GetImage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(0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0, 0),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myTexture.GetImageCount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(),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myTexture.GetMetadata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(),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	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	  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&amp;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mpTextureRV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);</a:t>
              </a:r>
              <a:endParaRPr lang="en-US" sz="1100" dirty="0">
                <a:solidFill>
                  <a:srgbClr val="000000"/>
                </a:solidFill>
                <a:latin typeface="Consolas"/>
              </a:endParaRPr>
            </a:p>
          </p:txBody>
        </p:sp>
        <p:cxnSp>
          <p:nvCxnSpPr>
            <p:cNvPr id="50" name="Elbow Connector 49"/>
            <p:cNvCxnSpPr>
              <a:stCxn id="48" idx="1"/>
              <a:endCxn id="25" idx="1"/>
            </p:cNvCxnSpPr>
            <p:nvPr/>
          </p:nvCxnSpPr>
          <p:spPr>
            <a:xfrm rot="10800000" flipV="1">
              <a:off x="570897" y="2619836"/>
              <a:ext cx="114903" cy="2969939"/>
            </a:xfrm>
            <a:prstGeom prst="bentConnector3">
              <a:avLst>
                <a:gd name="adj1" fmla="val 425018"/>
              </a:avLst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5457280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Texture:</a:t>
            </a:r>
            <a:br>
              <a:rPr lang="en-US" dirty="0" smtClean="0"/>
            </a:br>
            <a:r>
              <a:rPr lang="en-US" dirty="0" smtClean="0"/>
              <a:t>Com Objects (“handles”)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We’ll need two handles:</a:t>
            </a:r>
          </a:p>
          <a:p>
            <a:pPr marL="461963" lvl="1" indent="-188913"/>
            <a:r>
              <a:rPr lang="en-US" sz="1800" dirty="0" smtClean="0"/>
              <a:t>One for the </a:t>
            </a:r>
            <a:r>
              <a:rPr lang="en-US" sz="1800" dirty="0">
                <a:hlinkClick r:id="rId2"/>
              </a:rPr>
              <a:t>resource view</a:t>
            </a:r>
            <a:r>
              <a:rPr lang="en-US" sz="1800" dirty="0" smtClean="0"/>
              <a:t> holding the image data</a:t>
            </a:r>
          </a:p>
          <a:p>
            <a:pPr marL="461963" lvl="1" indent="-188913"/>
            <a:r>
              <a:rPr lang="en-US" sz="1800" dirty="0" smtClean="0"/>
              <a:t>One for the sampler state to correctly ‘sample’ the image</a:t>
            </a:r>
            <a:endParaRPr lang="en-US" sz="1800" dirty="0"/>
          </a:p>
        </p:txBody>
      </p:sp>
      <p:sp>
        <p:nvSpPr>
          <p:cNvPr id="31" name="TextBox 30"/>
          <p:cNvSpPr txBox="1"/>
          <p:nvPr/>
        </p:nvSpPr>
        <p:spPr>
          <a:xfrm>
            <a:off x="381000" y="4357306"/>
            <a:ext cx="3200400" cy="60016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DXApp.h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ID3D11ShaderResourceView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mpTextureRV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ID3D11SamplerState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mpSampler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418497" y="4267200"/>
            <a:ext cx="8725503" cy="2514600"/>
            <a:chOff x="418497" y="4186530"/>
            <a:chExt cx="8725503" cy="2514600"/>
          </a:xfrm>
        </p:grpSpPr>
        <p:sp>
          <p:nvSpPr>
            <p:cNvPr id="11" name="Rectangle 10"/>
            <p:cNvSpPr/>
            <p:nvPr/>
          </p:nvSpPr>
          <p:spPr>
            <a:xfrm>
              <a:off x="5327880" y="4186530"/>
              <a:ext cx="3816120" cy="2514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u="sng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GPU</a:t>
              </a:r>
              <a:endParaRPr lang="en-US" u="sng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157927" y="5400830"/>
              <a:ext cx="914400" cy="2240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Viewport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13" name="Straight Arrow Connector 12"/>
            <p:cNvCxnSpPr>
              <a:stCxn id="14" idx="3"/>
              <a:endCxn id="12" idx="1"/>
            </p:cNvCxnSpPr>
            <p:nvPr/>
          </p:nvCxnSpPr>
          <p:spPr>
            <a:xfrm flipV="1">
              <a:off x="7955379" y="5512867"/>
              <a:ext cx="202548" cy="445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1800" y="4475621"/>
              <a:ext cx="1173579" cy="20753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9" name="Group 18"/>
            <p:cNvGrpSpPr/>
            <p:nvPr/>
          </p:nvGrpSpPr>
          <p:grpSpPr>
            <a:xfrm>
              <a:off x="7757585" y="4922862"/>
              <a:ext cx="1188553" cy="1200322"/>
              <a:chOff x="7696200" y="2346325"/>
              <a:chExt cx="1188553" cy="1200322"/>
            </a:xfrm>
          </p:grpSpPr>
          <p:sp>
            <p:nvSpPr>
              <p:cNvPr id="27" name="Cloud 26"/>
              <p:cNvSpPr/>
              <p:nvPr/>
            </p:nvSpPr>
            <p:spPr>
              <a:xfrm>
                <a:off x="8096542" y="2346325"/>
                <a:ext cx="772095" cy="360468"/>
              </a:xfrm>
              <a:prstGeom prst="cloud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200" b="1" dirty="0" smtClean="0">
                    <a:solidFill>
                      <a:srgbClr val="FF0000"/>
                    </a:solidFill>
                  </a:rPr>
                  <a:t>VS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8" name="Straight Arrow Connector 27"/>
              <p:cNvCxnSpPr>
                <a:endCxn id="27" idx="2"/>
              </p:cNvCxnSpPr>
              <p:nvPr/>
            </p:nvCxnSpPr>
            <p:spPr>
              <a:xfrm>
                <a:off x="7696200" y="2526559"/>
                <a:ext cx="402737" cy="0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Cloud 28"/>
              <p:cNvSpPr/>
              <p:nvPr/>
            </p:nvSpPr>
            <p:spPr>
              <a:xfrm>
                <a:off x="8112658" y="3186179"/>
                <a:ext cx="772095" cy="360468"/>
              </a:xfrm>
              <a:prstGeom prst="cloud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200" b="1" dirty="0" smtClean="0">
                    <a:solidFill>
                      <a:srgbClr val="FF0000"/>
                    </a:solidFill>
                  </a:rPr>
                  <a:t>PS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30" name="Straight Arrow Connector 29"/>
              <p:cNvCxnSpPr>
                <a:endCxn id="29" idx="2"/>
              </p:cNvCxnSpPr>
              <p:nvPr/>
            </p:nvCxnSpPr>
            <p:spPr>
              <a:xfrm>
                <a:off x="7712316" y="3366413"/>
                <a:ext cx="402737" cy="0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36"/>
            <p:cNvSpPr txBox="1"/>
            <p:nvPr/>
          </p:nvSpPr>
          <p:spPr>
            <a:xfrm>
              <a:off x="6720242" y="5464041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b="1" dirty="0" smtClean="0">
                  <a:solidFill>
                    <a:srgbClr val="FF0000"/>
                  </a:solidFill>
                </a:rPr>
                <a:t>CCW</a:t>
              </a:r>
              <a:endParaRPr 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21" name="AutoShape 9"/>
            <p:cNvSpPr>
              <a:spLocks noChangeArrowheads="1"/>
            </p:cNvSpPr>
            <p:nvPr/>
          </p:nvSpPr>
          <p:spPr bwMode="auto">
            <a:xfrm>
              <a:off x="5535779" y="5371440"/>
              <a:ext cx="867545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Image data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18497" y="4948530"/>
              <a:ext cx="2522220" cy="1143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u="sng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DirectX App</a:t>
              </a:r>
            </a:p>
          </p:txBody>
        </p:sp>
        <p:sp>
          <p:nvSpPr>
            <p:cNvPr id="23" name="Pentagon 22"/>
            <p:cNvSpPr/>
            <p:nvPr/>
          </p:nvSpPr>
          <p:spPr>
            <a:xfrm>
              <a:off x="2209800" y="5398351"/>
              <a:ext cx="2438401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ID3D11ShaderResourceView</a:t>
              </a:r>
            </a:p>
          </p:txBody>
        </p:sp>
        <p:cxnSp>
          <p:nvCxnSpPr>
            <p:cNvPr id="24" name="Straight Connector 23"/>
            <p:cNvCxnSpPr>
              <a:stCxn id="23" idx="3"/>
              <a:endCxn id="21" idx="1"/>
            </p:cNvCxnSpPr>
            <p:nvPr/>
          </p:nvCxnSpPr>
          <p:spPr>
            <a:xfrm flipV="1">
              <a:off x="4648201" y="5509940"/>
              <a:ext cx="887578" cy="448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570896" y="5390310"/>
              <a:ext cx="1108711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 err="1">
                  <a:solidFill>
                    <a:srgbClr val="000000"/>
                  </a:solidFill>
                  <a:latin typeface="Consolas"/>
                </a:rPr>
                <a:t>mpTextureRV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26" name="Straight Arrow Connector 25"/>
            <p:cNvCxnSpPr>
              <a:stCxn id="25" idx="3"/>
              <a:endCxn id="23" idx="1"/>
            </p:cNvCxnSpPr>
            <p:nvPr/>
          </p:nvCxnSpPr>
          <p:spPr>
            <a:xfrm>
              <a:off x="1679607" y="5509106"/>
              <a:ext cx="530193" cy="1282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AutoShape 9"/>
            <p:cNvSpPr>
              <a:spLocks noChangeArrowheads="1"/>
            </p:cNvSpPr>
            <p:nvPr/>
          </p:nvSpPr>
          <p:spPr bwMode="auto">
            <a:xfrm>
              <a:off x="5535778" y="5699521"/>
              <a:ext cx="699230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Sampler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37" name="Pentagon 36"/>
            <p:cNvSpPr/>
            <p:nvPr/>
          </p:nvSpPr>
          <p:spPr>
            <a:xfrm>
              <a:off x="2209799" y="5723041"/>
              <a:ext cx="1828801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ID3D11SamplerState</a:t>
              </a:r>
            </a:p>
          </p:txBody>
        </p:sp>
        <p:cxnSp>
          <p:nvCxnSpPr>
            <p:cNvPr id="38" name="Straight Connector 37"/>
            <p:cNvCxnSpPr>
              <a:stCxn id="37" idx="3"/>
              <a:endCxn id="8" idx="1"/>
            </p:cNvCxnSpPr>
            <p:nvPr/>
          </p:nvCxnSpPr>
          <p:spPr>
            <a:xfrm>
              <a:off x="4038600" y="5835078"/>
              <a:ext cx="1497178" cy="2943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/>
            <p:cNvSpPr/>
            <p:nvPr/>
          </p:nvSpPr>
          <p:spPr>
            <a:xfrm>
              <a:off x="570895" y="5715000"/>
              <a:ext cx="953105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 err="1">
                  <a:solidFill>
                    <a:srgbClr val="000000"/>
                  </a:solidFill>
                  <a:latin typeface="Consolas"/>
                </a:rPr>
                <a:t>mpSampler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40" name="Straight Arrow Connector 39"/>
            <p:cNvCxnSpPr>
              <a:stCxn id="39" idx="3"/>
              <a:endCxn id="37" idx="1"/>
            </p:cNvCxnSpPr>
            <p:nvPr/>
          </p:nvCxnSpPr>
          <p:spPr>
            <a:xfrm>
              <a:off x="1524000" y="5833796"/>
              <a:ext cx="685799" cy="1282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570895" y="2235167"/>
            <a:ext cx="5200953" cy="3679299"/>
            <a:chOff x="570895" y="2235167"/>
            <a:chExt cx="5200953" cy="3679299"/>
          </a:xfrm>
        </p:grpSpPr>
        <p:sp>
          <p:nvSpPr>
            <p:cNvPr id="32" name="TextBox 31"/>
            <p:cNvSpPr txBox="1"/>
            <p:nvPr/>
          </p:nvSpPr>
          <p:spPr>
            <a:xfrm>
              <a:off x="1047447" y="2235167"/>
              <a:ext cx="4724401" cy="19543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2B91AF"/>
                  </a:solidFill>
                  <a:latin typeface="Consolas"/>
                </a:rPr>
                <a:t>D3D11_SAMPLER_DESC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sampDesc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err="1">
                  <a:solidFill>
                    <a:srgbClr val="6F008A"/>
                  </a:solidFill>
                  <a:latin typeface="Consolas"/>
                </a:rPr>
                <a:t>ZeroMemory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(&amp;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sampDesc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100" dirty="0" err="1">
                  <a:solidFill>
                    <a:srgbClr val="0000FF"/>
                  </a:solidFill>
                  <a:latin typeface="Consolas"/>
                </a:rPr>
                <a:t>sizeof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sampDesc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));</a:t>
              </a:r>
            </a:p>
            <a:p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sampDesc.Filter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= </a:t>
              </a:r>
              <a:r>
                <a:rPr lang="en-US" sz="1100" dirty="0">
                  <a:solidFill>
                    <a:srgbClr val="2F4F4F"/>
                  </a:solidFill>
                  <a:latin typeface="Consolas"/>
                </a:rPr>
                <a:t>D3D11_FILTER_MIN_MAG_MIP_POINT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sampDesc.AddressU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= </a:t>
              </a:r>
              <a:r>
                <a:rPr lang="en-US" sz="1100" dirty="0">
                  <a:solidFill>
                    <a:srgbClr val="2F4F4F"/>
                  </a:solidFill>
                  <a:latin typeface="Consolas"/>
                </a:rPr>
                <a:t>D3D11_TEXTURE_ADDRESS_WRAP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sampDesc.AddressV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= </a:t>
              </a:r>
              <a:r>
                <a:rPr lang="en-US" sz="1100" dirty="0">
                  <a:solidFill>
                    <a:srgbClr val="2F4F4F"/>
                  </a:solidFill>
                  <a:latin typeface="Consolas"/>
                </a:rPr>
                <a:t>D3D11_TEXTURE_ADDRESS_WRAP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sampDesc.AddressW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= </a:t>
              </a:r>
              <a:r>
                <a:rPr lang="en-US" sz="1100" dirty="0">
                  <a:solidFill>
                    <a:srgbClr val="2F4F4F"/>
                  </a:solidFill>
                  <a:latin typeface="Consolas"/>
                </a:rPr>
                <a:t>D3D11_TEXTURE_ADDRESS_WRAP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sampDesc.ComparisonFunc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= </a:t>
              </a:r>
              <a:r>
                <a:rPr lang="en-US" sz="1100" dirty="0">
                  <a:solidFill>
                    <a:srgbClr val="2F4F4F"/>
                  </a:solidFill>
                  <a:latin typeface="Consolas"/>
                </a:rPr>
                <a:t>D3D11_COMPARISON_NEVER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sampDesc.MinLOD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= 0;</a:t>
              </a:r>
            </a:p>
            <a:p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sampDesc.MaxLOD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= </a:t>
              </a:r>
              <a:r>
                <a:rPr lang="en-US" sz="1100" dirty="0">
                  <a:solidFill>
                    <a:srgbClr val="6F008A"/>
                  </a:solidFill>
                  <a:latin typeface="Consolas"/>
                </a:rPr>
                <a:t>D3D11_FLOAT32_MAX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endParaRPr lang="en-US" sz="11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hr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= md3dDevice-&gt;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CreateSamplerState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(&amp;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sampDesc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&amp;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mpSampler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);</a:t>
              </a:r>
            </a:p>
          </p:txBody>
        </p:sp>
        <p:cxnSp>
          <p:nvCxnSpPr>
            <p:cNvPr id="33" name="Elbow Connector 32"/>
            <p:cNvCxnSpPr>
              <a:stCxn id="32" idx="1"/>
              <a:endCxn id="39" idx="1"/>
            </p:cNvCxnSpPr>
            <p:nvPr/>
          </p:nvCxnSpPr>
          <p:spPr>
            <a:xfrm rot="10800000" flipV="1">
              <a:off x="570895" y="3212358"/>
              <a:ext cx="476552" cy="2702108"/>
            </a:xfrm>
            <a:prstGeom prst="bentConnector3">
              <a:avLst>
                <a:gd name="adj1" fmla="val 178366"/>
              </a:avLst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/>
          <p:cNvSpPr txBox="1"/>
          <p:nvPr/>
        </p:nvSpPr>
        <p:spPr>
          <a:xfrm>
            <a:off x="5969551" y="2819400"/>
            <a:ext cx="2849041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what is sampling anyway?</a:t>
            </a:r>
          </a:p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all these options?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04224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Texture Sampling:</a:t>
            </a:r>
            <a:br>
              <a:rPr lang="en-US" dirty="0" smtClean="0"/>
            </a:br>
            <a:r>
              <a:rPr lang="en-US" dirty="0" smtClean="0"/>
              <a:t>Filter Modes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Definitions:</a:t>
            </a:r>
          </a:p>
          <a:p>
            <a:pPr marL="461963" lvl="1" indent="-188913"/>
            <a:r>
              <a:rPr lang="en-US" sz="1600" dirty="0" smtClean="0"/>
              <a:t>Pixel: screen (picture) element</a:t>
            </a:r>
          </a:p>
          <a:p>
            <a:pPr marL="461963" lvl="1" indent="-188913"/>
            <a:r>
              <a:rPr lang="en-US" sz="1600" dirty="0" smtClean="0"/>
              <a:t>Texel: texture element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 smtClean="0"/>
              <a:t>Texture sampling happens in three different form:</a:t>
            </a:r>
          </a:p>
          <a:p>
            <a:pPr marL="461963" lvl="1" indent="-188913"/>
            <a:r>
              <a:rPr lang="en-US" sz="1800" u="sng" dirty="0" err="1" smtClean="0"/>
              <a:t>Minification</a:t>
            </a:r>
            <a:r>
              <a:rPr lang="en-US" sz="1800" dirty="0" smtClean="0"/>
              <a:t>: many </a:t>
            </a:r>
            <a:r>
              <a:rPr lang="en-US" sz="1800" dirty="0" err="1" smtClean="0"/>
              <a:t>texels</a:t>
            </a:r>
            <a:r>
              <a:rPr lang="en-US" sz="1800" dirty="0" smtClean="0"/>
              <a:t> sent to a single pixel </a:t>
            </a:r>
          </a:p>
          <a:p>
            <a:pPr marL="461963" lvl="1" indent="-188913"/>
            <a:r>
              <a:rPr lang="en-US" sz="1800" u="sng" dirty="0" smtClean="0"/>
              <a:t>Magnification</a:t>
            </a:r>
            <a:r>
              <a:rPr lang="en-US" sz="1800" dirty="0" smtClean="0"/>
              <a:t>: one </a:t>
            </a:r>
            <a:r>
              <a:rPr lang="en-US" sz="1800" dirty="0" err="1" smtClean="0"/>
              <a:t>texel</a:t>
            </a:r>
            <a:r>
              <a:rPr lang="en-US" sz="1800" dirty="0" smtClean="0"/>
              <a:t> sent to many pixels</a:t>
            </a:r>
          </a:p>
          <a:p>
            <a:pPr marL="461963" lvl="1" indent="-188913"/>
            <a:r>
              <a:rPr lang="en-US" sz="1800" u="sng" dirty="0" smtClean="0"/>
              <a:t>MIP mapping</a:t>
            </a:r>
            <a:r>
              <a:rPr lang="en-US" sz="1800" dirty="0" smtClean="0"/>
              <a:t>: </a:t>
            </a:r>
            <a:r>
              <a:rPr lang="en-US" sz="1800" i="1" dirty="0" smtClean="0"/>
              <a:t>Skipping for now.</a:t>
            </a:r>
          </a:p>
          <a:p>
            <a:pPr marL="461963" lvl="1" indent="-188913"/>
            <a:endParaRPr lang="en-US" sz="1800" i="1" dirty="0"/>
          </a:p>
          <a:p>
            <a:pPr marL="0" indent="-184150">
              <a:buNone/>
            </a:pPr>
            <a:endParaRPr lang="en-US" sz="2200" i="1" dirty="0" smtClean="0"/>
          </a:p>
          <a:p>
            <a:pPr marL="0" indent="-184150">
              <a:buNone/>
            </a:pPr>
            <a:endParaRPr lang="en-US" sz="2200" i="1" dirty="0" smtClean="0"/>
          </a:p>
          <a:p>
            <a:pPr marL="0" indent="-184150">
              <a:buNone/>
            </a:pPr>
            <a:r>
              <a:rPr lang="en-US" sz="2000" dirty="0" smtClean="0"/>
              <a:t>For each of these, we have can apply </a:t>
            </a:r>
            <a:r>
              <a:rPr lang="en-US" sz="2000" dirty="0" smtClean="0">
                <a:hlinkClick r:id="rId2"/>
              </a:rPr>
              <a:t>different filters</a:t>
            </a:r>
            <a:endParaRPr lang="en-US" sz="20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094" y="2819400"/>
            <a:ext cx="3709298" cy="176844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058133" y="5029200"/>
            <a:ext cx="2377220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Let’s see some examples to make sense of these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3848814"/>
            <a:ext cx="4876800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situations require some computation of the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texels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pixels to determine what should be on screen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15550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 animBg="1"/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Magnification: Point vs Linear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Texture: 2x2 </a:t>
            </a:r>
            <a:r>
              <a:rPr lang="en-US" sz="2000" dirty="0" err="1" smtClean="0"/>
              <a:t>texels</a:t>
            </a:r>
            <a:r>
              <a:rPr lang="en-US" sz="2000" dirty="0" smtClean="0"/>
              <a:t>, red and black (test2.tga):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Applied to Cube (requires magnification):</a:t>
            </a:r>
          </a:p>
          <a:p>
            <a:pPr marL="457200" lvl="1" indent="-184150"/>
            <a:r>
              <a:rPr lang="en-US" sz="1800" dirty="0" smtClean="0"/>
              <a:t>Using Mag-Point filter		          Using Mag-Linear filter</a:t>
            </a:r>
            <a:endParaRPr lang="en-US" sz="1800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1983" y="1235390"/>
            <a:ext cx="600075" cy="600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770" y="2743200"/>
            <a:ext cx="2296030" cy="214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447800" y="5257800"/>
            <a:ext cx="5334000" cy="715089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definition, linear filter will blur-out sharp contrasts.</a:t>
            </a: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Rarely good in extreme magnification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251" y="2743199"/>
            <a:ext cx="2314349" cy="214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0164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Minification</a:t>
            </a:r>
            <a:r>
              <a:rPr lang="en-US" dirty="0"/>
              <a:t>: Point vs Linear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Texture: </a:t>
            </a:r>
            <a:r>
              <a:rPr lang="en-US" sz="2000" dirty="0" smtClean="0"/>
              <a:t>512x512 </a:t>
            </a:r>
            <a:r>
              <a:rPr lang="en-US" sz="2000" dirty="0" err="1"/>
              <a:t>texels</a:t>
            </a:r>
            <a:r>
              <a:rPr lang="en-US" sz="2000" dirty="0"/>
              <a:t>, </a:t>
            </a:r>
            <a:r>
              <a:rPr lang="en-US" sz="2000" dirty="0" smtClean="0"/>
              <a:t>fine pattern with red border (Test512.tga)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Applied to Cube (requires </a:t>
            </a:r>
            <a:r>
              <a:rPr lang="en-US" sz="2000" dirty="0" err="1" smtClean="0"/>
              <a:t>minification</a:t>
            </a:r>
            <a:r>
              <a:rPr lang="en-US" sz="2000" dirty="0" smtClean="0"/>
              <a:t>):</a:t>
            </a:r>
            <a:endParaRPr lang="en-US" sz="2000" dirty="0"/>
          </a:p>
          <a:p>
            <a:pPr marL="457200" lvl="1" indent="-184150"/>
            <a:r>
              <a:rPr lang="en-US" sz="1800" dirty="0"/>
              <a:t>Using </a:t>
            </a:r>
            <a:r>
              <a:rPr lang="en-US" sz="1800" dirty="0" smtClean="0"/>
              <a:t>Min-Point </a:t>
            </a:r>
            <a:r>
              <a:rPr lang="en-US" sz="1800" dirty="0"/>
              <a:t>filter		     </a:t>
            </a:r>
            <a:r>
              <a:rPr lang="en-US" sz="1800" dirty="0" smtClean="0"/>
              <a:t>Using Min-Linear </a:t>
            </a:r>
            <a:r>
              <a:rPr lang="en-US" sz="1800" dirty="0"/>
              <a:t>filter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1295400"/>
            <a:ext cx="1295400" cy="1295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3505201"/>
            <a:ext cx="3248025" cy="3091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1" y="3505200"/>
            <a:ext cx="3186802" cy="3091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5" name="Group 14"/>
          <p:cNvGrpSpPr/>
          <p:nvPr/>
        </p:nvGrpSpPr>
        <p:grpSpPr>
          <a:xfrm>
            <a:off x="6248400" y="3505200"/>
            <a:ext cx="2834867" cy="2209801"/>
            <a:chOff x="6248400" y="3505200"/>
            <a:chExt cx="2834867" cy="2209801"/>
          </a:xfrm>
        </p:grpSpPr>
        <p:pic>
          <p:nvPicPr>
            <p:cNvPr id="10245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4467" y="3505200"/>
              <a:ext cx="1828800" cy="1600200"/>
            </a:xfrm>
            <a:prstGeom prst="rect">
              <a:avLst/>
            </a:prstGeom>
            <a:noFill/>
            <a:ln w="25400">
              <a:solidFill>
                <a:srgbClr val="00B0F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Rectangle 4"/>
            <p:cNvSpPr/>
            <p:nvPr/>
          </p:nvSpPr>
          <p:spPr>
            <a:xfrm>
              <a:off x="6248400" y="5050843"/>
              <a:ext cx="762000" cy="664157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 flipV="1">
              <a:off x="6248400" y="3505200"/>
              <a:ext cx="990600" cy="1545643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7010400" y="5105400"/>
              <a:ext cx="2072867" cy="609601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0" y="3473450"/>
            <a:ext cx="3459480" cy="2264410"/>
            <a:chOff x="0" y="3473450"/>
            <a:chExt cx="3459480" cy="2264410"/>
          </a:xfrm>
        </p:grpSpPr>
        <p:pic>
          <p:nvPicPr>
            <p:cNvPr id="10246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474111"/>
              <a:ext cx="1889189" cy="1607820"/>
            </a:xfrm>
            <a:prstGeom prst="rect">
              <a:avLst/>
            </a:prstGeom>
            <a:noFill/>
            <a:ln w="25400">
              <a:solidFill>
                <a:srgbClr val="00B0F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" name="Rectangle 15"/>
            <p:cNvSpPr/>
            <p:nvPr/>
          </p:nvSpPr>
          <p:spPr>
            <a:xfrm>
              <a:off x="2697480" y="5073703"/>
              <a:ext cx="762000" cy="664157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/>
            <p:cNvCxnSpPr/>
            <p:nvPr/>
          </p:nvCxnSpPr>
          <p:spPr>
            <a:xfrm flipH="1" flipV="1">
              <a:off x="0" y="5105400"/>
              <a:ext cx="2705100" cy="631825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 flipV="1">
              <a:off x="1892300" y="3473450"/>
              <a:ext cx="1562100" cy="1606550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378011" y="2028111"/>
            <a:ext cx="3717989" cy="715089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Very subtle but noticeable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a real scene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82774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Minification</a:t>
            </a:r>
            <a:r>
              <a:rPr lang="en-US" dirty="0"/>
              <a:t>: Point vs Linear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Texture: 512x512 </a:t>
            </a:r>
            <a:r>
              <a:rPr lang="en-US" sz="2000" dirty="0" err="1"/>
              <a:t>texels</a:t>
            </a:r>
            <a:r>
              <a:rPr lang="en-US" sz="2000" dirty="0"/>
              <a:t>, fine pattern with red border (Test512.tga)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Applied to Cube (requires </a:t>
            </a:r>
            <a:r>
              <a:rPr lang="en-US" sz="2000" dirty="0" err="1" smtClean="0"/>
              <a:t>minification</a:t>
            </a:r>
            <a:r>
              <a:rPr lang="en-US" sz="2000" dirty="0" smtClean="0"/>
              <a:t>):</a:t>
            </a:r>
            <a:endParaRPr lang="en-US" sz="2000" dirty="0"/>
          </a:p>
          <a:p>
            <a:pPr marL="457200" lvl="1" indent="-184150"/>
            <a:r>
              <a:rPr lang="en-US" sz="1800" dirty="0"/>
              <a:t>Using </a:t>
            </a:r>
            <a:r>
              <a:rPr lang="en-US" sz="1800" dirty="0" smtClean="0"/>
              <a:t>Min-Point </a:t>
            </a:r>
            <a:r>
              <a:rPr lang="en-US" sz="1800" dirty="0"/>
              <a:t>filter		     </a:t>
            </a:r>
            <a:r>
              <a:rPr lang="en-US" sz="1800" dirty="0" smtClean="0"/>
              <a:t>Using Min-Linear </a:t>
            </a:r>
            <a:r>
              <a:rPr lang="en-US" sz="1800" dirty="0"/>
              <a:t>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8011" y="2028111"/>
            <a:ext cx="3717989" cy="715089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Very subtle but noticeable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a real scene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927" y="3505200"/>
            <a:ext cx="3284482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77" y="3505200"/>
            <a:ext cx="3169572" cy="304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Oval 5"/>
          <p:cNvSpPr/>
          <p:nvPr/>
        </p:nvSpPr>
        <p:spPr>
          <a:xfrm>
            <a:off x="1390650" y="4305300"/>
            <a:ext cx="742950" cy="762000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glow rad="25400">
              <a:srgbClr val="FFFF00">
                <a:alpha val="24000"/>
              </a:srgb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895850" y="4305300"/>
            <a:ext cx="742950" cy="762000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glow rad="25400">
              <a:srgbClr val="FFFF00">
                <a:alpha val="24000"/>
              </a:srgb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1295400"/>
            <a:ext cx="1295400" cy="1295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Rounded Rectangle 24"/>
          <p:cNvSpPr/>
          <p:nvPr/>
        </p:nvSpPr>
        <p:spPr>
          <a:xfrm rot="343617">
            <a:off x="5483373" y="4006275"/>
            <a:ext cx="1175314" cy="488588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25400">
              <a:srgbClr val="FFFF00">
                <a:alpha val="24000"/>
              </a:srgb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 rot="343617">
            <a:off x="2003641" y="4006274"/>
            <a:ext cx="1175314" cy="488588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25400">
              <a:srgbClr val="FFFF00">
                <a:alpha val="24000"/>
              </a:srgb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9144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2" grpId="0" animBg="1"/>
      <p:bldP spid="25" grpId="0" animBg="1"/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Which Filter to Chose?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Which filter to use depends a lot on the texture details and preference of the artist.</a:t>
            </a:r>
          </a:p>
          <a:p>
            <a:pPr marL="461963" lvl="1" indent="-188913"/>
            <a:r>
              <a:rPr lang="en-US" sz="1800" dirty="0" smtClean="0"/>
              <a:t>The all-linear D3D11_FILTER_MIN_MAG_MIP_LINEAR is safe for most applications, though gets blurry in extreme magnification</a:t>
            </a:r>
          </a:p>
          <a:p>
            <a:pPr marL="461963" lvl="1" indent="-188913"/>
            <a:r>
              <a:rPr lang="en-US" sz="1800" dirty="0" smtClean="0"/>
              <a:t>D3D11_FILTER_MIN_POINT_MAG_MIP_LINEAR</a:t>
            </a:r>
            <a:r>
              <a:rPr lang="en-US" sz="1800" dirty="0"/>
              <a:t> </a:t>
            </a:r>
            <a:r>
              <a:rPr lang="en-US" sz="1800" dirty="0" smtClean="0"/>
              <a:t>has good detail in magnification, but can create strange artifacts with busy textures</a:t>
            </a:r>
            <a:endParaRPr 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2286000" y="3352800"/>
            <a:ext cx="4191000" cy="715089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Either way: these are matters of aesthetics, not programming…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37253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Texture Address Modes</a:t>
            </a:r>
            <a:br>
              <a:rPr lang="en-US" dirty="0" smtClean="0"/>
            </a:br>
            <a:r>
              <a:rPr lang="en-US" dirty="0" smtClean="0"/>
              <a:t>(aka ‘Repeats’)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>
                <a:hlinkClick r:id="rId2"/>
              </a:rPr>
              <a:t>Texture address modes</a:t>
            </a:r>
            <a:r>
              <a:rPr lang="en-US" sz="2000" dirty="0" smtClean="0"/>
              <a:t> are useful if you need the texture to ‘repeat’ on mapping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Test these by changing the cube’s back-face </a:t>
            </a:r>
            <a:r>
              <a:rPr lang="en-US" sz="2000" dirty="0" err="1" smtClean="0"/>
              <a:t>uv’s</a:t>
            </a:r>
            <a:r>
              <a:rPr lang="en-US" sz="2000" dirty="0" smtClean="0"/>
              <a:t> to range [-3,3] instead of [01]</a:t>
            </a:r>
          </a:p>
          <a:p>
            <a:pPr marL="457200" lvl="1" indent="0">
              <a:buNone/>
            </a:pPr>
            <a:r>
              <a:rPr lang="en-US" sz="1600" dirty="0" smtClean="0"/>
              <a:t>WRAP	          MIRROR (U only)          Border (U only)                CLAMP (U only)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3757" y="1627361"/>
            <a:ext cx="4038600" cy="161582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D3D11_SAMPLER_DESC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sampDesc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6F008A"/>
                </a:solidFill>
                <a:latin typeface="Consolas"/>
              </a:rPr>
              <a:t>ZeroMemory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sampDesc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sampDesc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sampDesc.Filter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D3D11_FILTER_MIN_MAG_MIP_POINT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sampDesc.AddressU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D3D11_TEXTURE_ADDRESS_WRAP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sampDesc.AddressV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D3D11_TEXTURE_ADDRESS_WRAP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sampDesc.AddressW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D3D11_TEXTURE_ADDRESS_WRAP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sampDesc.ComparisonFunc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D3D11_COMPARISON_NEVER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sampDesc.MinLOD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sampDesc.MaxLOD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6F008A"/>
                </a:solidFill>
                <a:latin typeface="Consolas"/>
              </a:rPr>
              <a:t>D3D11_FLOAT32_MAX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</p:txBody>
      </p:sp>
      <p:pic>
        <p:nvPicPr>
          <p:cNvPr id="11266" name="Picture 2" descr="http://www.the-orange-box.com/wp-content/uploads/2015/09/stg2_example_tile_00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599447"/>
            <a:ext cx="4286250" cy="2230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6"/>
          <p:cNvSpPr/>
          <p:nvPr/>
        </p:nvSpPr>
        <p:spPr>
          <a:xfrm>
            <a:off x="609600" y="2133600"/>
            <a:ext cx="3780576" cy="582439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57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256" y="4572000"/>
            <a:ext cx="1587378" cy="1614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520" y="4572001"/>
            <a:ext cx="1655020" cy="161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1088" y="4572001"/>
            <a:ext cx="1655712" cy="161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1" y="4572000"/>
            <a:ext cx="1671738" cy="1625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4" name="Group 13"/>
          <p:cNvGrpSpPr/>
          <p:nvPr/>
        </p:nvGrpSpPr>
        <p:grpSpPr>
          <a:xfrm>
            <a:off x="894467" y="5955506"/>
            <a:ext cx="1359695" cy="452438"/>
            <a:chOff x="2288381" y="2667000"/>
            <a:chExt cx="1359695" cy="452438"/>
          </a:xfrm>
        </p:grpSpPr>
        <p:pic>
          <p:nvPicPr>
            <p:cNvPr id="15" name="Picture 3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8381" y="2667000"/>
              <a:ext cx="452438" cy="4524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3200" y="2667000"/>
              <a:ext cx="452438" cy="4524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" name="Picture 3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5638" y="2667000"/>
              <a:ext cx="452438" cy="4524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8" name="Group 17"/>
          <p:cNvGrpSpPr/>
          <p:nvPr/>
        </p:nvGrpSpPr>
        <p:grpSpPr>
          <a:xfrm>
            <a:off x="2825731" y="5955506"/>
            <a:ext cx="1359695" cy="452438"/>
            <a:chOff x="2288381" y="2667000"/>
            <a:chExt cx="1359695" cy="452438"/>
          </a:xfrm>
        </p:grpSpPr>
        <p:pic>
          <p:nvPicPr>
            <p:cNvPr id="19" name="Picture 3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8381" y="2667000"/>
              <a:ext cx="452438" cy="4524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" name="Picture 3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43200" y="2667000"/>
              <a:ext cx="452438" cy="4524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1" name="Picture 3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5638" y="2667000"/>
              <a:ext cx="452438" cy="4524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2" name="Group 21"/>
          <p:cNvGrpSpPr/>
          <p:nvPr/>
        </p:nvGrpSpPr>
        <p:grpSpPr>
          <a:xfrm>
            <a:off x="4894212" y="5955506"/>
            <a:ext cx="1359695" cy="452438"/>
            <a:chOff x="2288381" y="2667000"/>
            <a:chExt cx="1359695" cy="452438"/>
          </a:xfrm>
        </p:grpSpPr>
        <p:pic>
          <p:nvPicPr>
            <p:cNvPr id="23" name="Picture 3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8381" y="2667000"/>
              <a:ext cx="452438" cy="4524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4" name="Picture 3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43200" y="2667000"/>
              <a:ext cx="452438" cy="4524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5" name="Picture 3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5638" y="2667000"/>
              <a:ext cx="452438" cy="4524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26" name="Picture 7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300" y="5943600"/>
            <a:ext cx="8763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631304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 &amp; Address Mode Interplay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In actuality, you must consider the effects of Filters and Address Modes </a:t>
            </a:r>
            <a:r>
              <a:rPr lang="en-US" sz="2000" i="1" u="sng" dirty="0" smtClean="0"/>
              <a:t>together</a:t>
            </a:r>
            <a:r>
              <a:rPr lang="en-US" sz="2000" dirty="0" smtClean="0"/>
              <a:t>. </a:t>
            </a:r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sz="2000" b="1" dirty="0" smtClean="0"/>
              <a:t>Example: </a:t>
            </a:r>
            <a:r>
              <a:rPr lang="en-US" sz="2000" dirty="0" smtClean="0"/>
              <a:t>Using Test2.tga and focusing on magnification only:</a:t>
            </a:r>
          </a:p>
          <a:p>
            <a:pPr marL="0" indent="0" algn="ctr">
              <a:buNone/>
            </a:pPr>
            <a:endParaRPr lang="en-US" sz="2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895170"/>
              </p:ext>
            </p:extLst>
          </p:nvPr>
        </p:nvGraphicFramePr>
        <p:xfrm>
          <a:off x="533400" y="2286000"/>
          <a:ext cx="8382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  <a:gridCol w="1676400"/>
                <a:gridCol w="1676400"/>
              </a:tblGrid>
              <a:tr h="688006"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WRAP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MIRROR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BORDER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CLAMP</a:t>
                      </a:r>
                      <a:endParaRPr lang="en-US" dirty="0"/>
                    </a:p>
                  </a:txBody>
                  <a:tcPr/>
                </a:tc>
              </a:tr>
              <a:tr h="1295400"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LINEAR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1447800"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POINT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599" y="3352800"/>
            <a:ext cx="1038225" cy="1006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2353864" y="2667000"/>
            <a:ext cx="1359695" cy="452438"/>
            <a:chOff x="2288381" y="2667000"/>
            <a:chExt cx="1359695" cy="452438"/>
          </a:xfrm>
        </p:grpSpPr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8381" y="2667000"/>
              <a:ext cx="452438" cy="4524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3200" y="2667000"/>
              <a:ext cx="452438" cy="4524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5638" y="2667000"/>
              <a:ext cx="452438" cy="4524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2" name="Group 11"/>
          <p:cNvGrpSpPr/>
          <p:nvPr/>
        </p:nvGrpSpPr>
        <p:grpSpPr>
          <a:xfrm>
            <a:off x="4038600" y="2667000"/>
            <a:ext cx="1359695" cy="452438"/>
            <a:chOff x="2288381" y="2667000"/>
            <a:chExt cx="1359695" cy="452438"/>
          </a:xfrm>
        </p:grpSpPr>
        <p:pic>
          <p:nvPicPr>
            <p:cNvPr id="13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8381" y="2667000"/>
              <a:ext cx="452438" cy="4524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43200" y="2667000"/>
              <a:ext cx="452438" cy="4524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5638" y="2667000"/>
              <a:ext cx="452438" cy="4524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352800"/>
            <a:ext cx="1050319" cy="1006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" name="Group 16"/>
          <p:cNvGrpSpPr/>
          <p:nvPr/>
        </p:nvGrpSpPr>
        <p:grpSpPr>
          <a:xfrm>
            <a:off x="5726905" y="2667000"/>
            <a:ext cx="1359695" cy="452438"/>
            <a:chOff x="2288381" y="2667000"/>
            <a:chExt cx="1359695" cy="452438"/>
          </a:xfrm>
        </p:grpSpPr>
        <p:pic>
          <p:nvPicPr>
            <p:cNvPr id="18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8381" y="2667000"/>
              <a:ext cx="452438" cy="4524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43200" y="2667000"/>
              <a:ext cx="452438" cy="4524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" name="Picture 3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5638" y="2667000"/>
              <a:ext cx="452438" cy="4524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352801"/>
            <a:ext cx="1075902" cy="1006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2655094"/>
            <a:ext cx="8763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8146" y="3352799"/>
            <a:ext cx="1072454" cy="1006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8146" y="4724401"/>
            <a:ext cx="1072454" cy="1016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10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724401"/>
            <a:ext cx="1072454" cy="1016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10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9932" y="4724401"/>
            <a:ext cx="1072454" cy="1016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10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599" y="4724401"/>
            <a:ext cx="1072454" cy="1016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806420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6:</a:t>
            </a:r>
          </a:p>
          <a:p>
            <a:r>
              <a:rPr lang="en-US" dirty="0" smtClean="0"/>
              <a:t>Texture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816126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HLSL Texture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N</a:t>
            </a:r>
            <a:r>
              <a:rPr lang="en-US" sz="2000" dirty="0" smtClean="0"/>
              <a:t>ow that we loaded texture and sampler on the GPU: How can a </a:t>
            </a:r>
            <a:r>
              <a:rPr lang="en-US" sz="2000" dirty="0" err="1" smtClean="0"/>
              <a:t>shader</a:t>
            </a:r>
            <a:r>
              <a:rPr lang="en-US" sz="2000" dirty="0" smtClean="0"/>
              <a:t> use them?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All we need now is to do the standard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err="1" smtClean="0"/>
              <a:t>shader</a:t>
            </a:r>
            <a:r>
              <a:rPr lang="en-US" sz="2000" dirty="0" smtClean="0"/>
              <a:t> work to connect it to the pipeline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419100" y="1661785"/>
            <a:ext cx="438150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Texture2D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mainTexture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register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(t0);</a:t>
            </a: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SamplerState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aSampler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register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(s0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cbuffer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CamData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register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(b0)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float4x4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View;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float4x4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Projection;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cbuffer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InstanceData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register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(b1)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World;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53000" y="1661785"/>
            <a:ext cx="4114800" cy="466281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 smtClean="0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VS_INPUT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POSITION;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float2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TEXCOORD;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VS_OUTPUT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SV_POSITION;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float2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TEXCOORD;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VS_OUTPUT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VS( VS_INPUT input)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VS_OUTPUT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output;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mul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input.Pos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World);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mul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View);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mul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Projection);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output.Tex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input.Tex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return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output;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PS(VS_OUTPUT input) :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SV_Target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return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mainTexture.Sample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aSampler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input.Tex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690836"/>
            <a:ext cx="1143000" cy="47672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Texture and</a:t>
            </a:r>
          </a:p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52800" y="2286000"/>
            <a:ext cx="1295400" cy="47672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Sampler State and register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76600" y="3581400"/>
            <a:ext cx="1447800" cy="47672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constant buffers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39000" y="1975036"/>
            <a:ext cx="1143000" cy="47672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Vertex: </a:t>
            </a:r>
          </a:p>
          <a:p>
            <a:pPr algn="ctr"/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uv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0" y="2957185"/>
            <a:ext cx="1066800" cy="47672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Send 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uv’s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PS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67400" y="5957560"/>
            <a:ext cx="2286000" cy="23836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Extract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texel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using sampler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8825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Setting-Up </a:t>
            </a:r>
            <a:r>
              <a:rPr lang="en-US" dirty="0" err="1" smtClean="0"/>
              <a:t>Texture.hlsl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Standard Steps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00" y="1219200"/>
            <a:ext cx="3467100" cy="432426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DXApp.h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 smtClean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Old friends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ID3D11VertexShader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mpVertexShader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ID3D11PixelShader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 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mpPixelShader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ID3D11InputLayout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 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mpVertexLayout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New texture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shader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stuff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ID3D11ShaderResourceView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mpTextureRV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ID3D11SamplerState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mpSampler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ID3D11Buffer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mpcbViewProj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ViewProjData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mProjection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ID3D11Buffer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mpcbWorld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WorldData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World;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09800" y="3381330"/>
            <a:ext cx="914400" cy="715089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Pretty standard stuff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81400" y="1219199"/>
            <a:ext cx="10439400" cy="466281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DXApp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::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InitDemo</a:t>
            </a:r>
            <a:endParaRPr lang="en-US" sz="1100" dirty="0" smtClean="0">
              <a:solidFill>
                <a:srgbClr val="008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ID3DBlob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pVSBlob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CompileShaderFromFile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onsolas"/>
              </a:rPr>
              <a:t>L"../Assets/</a:t>
            </a:r>
            <a:r>
              <a:rPr lang="en-US" sz="1100" dirty="0" err="1">
                <a:solidFill>
                  <a:srgbClr val="A31515"/>
                </a:solidFill>
                <a:latin typeface="Consolas"/>
              </a:rPr>
              <a:t>Shaders</a:t>
            </a:r>
            <a:r>
              <a:rPr lang="en-US" sz="1100" dirty="0">
                <a:solidFill>
                  <a:srgbClr val="A31515"/>
                </a:solidFill>
                <a:latin typeface="Consolas"/>
              </a:rPr>
              <a:t>/</a:t>
            </a:r>
            <a:r>
              <a:rPr lang="en-US" sz="1100" dirty="0" err="1">
                <a:solidFill>
                  <a:srgbClr val="A31515"/>
                </a:solidFill>
                <a:latin typeface="Consolas"/>
              </a:rPr>
              <a:t>Texture.hlsl</a:t>
            </a:r>
            <a:r>
              <a:rPr lang="en-US" sz="11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A31515"/>
                </a:solidFill>
                <a:latin typeface="Consolas"/>
              </a:rPr>
              <a:t>"VS"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A31515"/>
                </a:solidFill>
                <a:latin typeface="Consolas"/>
              </a:rPr>
              <a:t>"vs_4_0"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pVSBlob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md3dDevice-&gt;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CreateVertexShader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pVSBlob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GetBufferPointer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pVSBlob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GetBufferSize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mpVertexShader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Define the input layout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D3D11_INPUT_ELEMENT_DESC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layout[] =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 </a:t>
            </a:r>
            <a:r>
              <a:rPr lang="en-US" sz="1100" dirty="0">
                <a:solidFill>
                  <a:srgbClr val="A31515"/>
                </a:solidFill>
                <a:latin typeface="Consolas"/>
              </a:rPr>
              <a:t>"POSITION"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DXGI_FORMAT_R32G32B32A32_FLOAT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0, 0,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D3D11_INPUT_PER_VERTEX_DATA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 },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 </a:t>
            </a:r>
            <a:r>
              <a:rPr lang="en-US" sz="1100" dirty="0">
                <a:solidFill>
                  <a:srgbClr val="A31515"/>
                </a:solidFill>
                <a:latin typeface="Consolas"/>
              </a:rPr>
              <a:t>"TEXCOORD"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DXGI_FORMAT_R32G32_FLOAT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100" dirty="0">
                <a:solidFill>
                  <a:srgbClr val="6F008A"/>
                </a:solidFill>
                <a:latin typeface="Consolas"/>
              </a:rPr>
              <a:t>D3D11_APPEND_ALIGNED_ELEMENT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,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D3D11_INPUT_PER_VERTEX_DATA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 },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UINT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numElements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6F008A"/>
                </a:solidFill>
                <a:latin typeface="Consolas"/>
              </a:rPr>
              <a:t>ARRAYSIZE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(layout);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Create the input layout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md3dDevice-&gt;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CreateInputLayout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(layout,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numElements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pVSBlob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GetBufferPointer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pVSBlob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GetBufferSize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mpVertexLayout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Compile the pixel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shader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ID3DBlob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pPSBlob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CompileShaderFromFile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onsolas"/>
              </a:rPr>
              <a:t>L"../Assets/</a:t>
            </a:r>
            <a:r>
              <a:rPr lang="en-US" sz="1100" dirty="0" err="1">
                <a:solidFill>
                  <a:srgbClr val="A31515"/>
                </a:solidFill>
                <a:latin typeface="Consolas"/>
              </a:rPr>
              <a:t>Shaders</a:t>
            </a:r>
            <a:r>
              <a:rPr lang="en-US" sz="1100" dirty="0">
                <a:solidFill>
                  <a:srgbClr val="A31515"/>
                </a:solidFill>
                <a:latin typeface="Consolas"/>
              </a:rPr>
              <a:t>/</a:t>
            </a:r>
            <a:r>
              <a:rPr lang="en-US" sz="1100" dirty="0" err="1">
                <a:solidFill>
                  <a:srgbClr val="A31515"/>
                </a:solidFill>
                <a:latin typeface="Consolas"/>
              </a:rPr>
              <a:t>Texture.hlsl</a:t>
            </a:r>
            <a:r>
              <a:rPr lang="en-US" sz="11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A31515"/>
                </a:solidFill>
                <a:latin typeface="Consolas"/>
              </a:rPr>
              <a:t>"PS"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A31515"/>
                </a:solidFill>
                <a:latin typeface="Consolas"/>
              </a:rPr>
              <a:t>"ps_4_0"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pPSBlob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Create the pixel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shader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md3dDevice-&gt;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CreatePixelShader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pPSBlob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GetBufferPointer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pPSBlob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GetBufferSize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mpPixelShader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VSSetShader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mpVertexShader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PSSetShader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mpPixelShader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IASetInputLayout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mpVertexLayout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0" y="1355069"/>
            <a:ext cx="2133600" cy="23836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Also pretty standard stuff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53200" y="2266474"/>
            <a:ext cx="2133600" cy="47672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 the semantic and format for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uv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coord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038600" y="2928938"/>
            <a:ext cx="3124200" cy="195262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1112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Setting-Up </a:t>
            </a:r>
            <a:r>
              <a:rPr lang="en-US" dirty="0" err="1" smtClean="0"/>
              <a:t>Texture.hlsl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/>
              <a:t>Standard Steps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581400" y="1219199"/>
            <a:ext cx="5334000" cy="381642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DXApp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::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InitDemo</a:t>
            </a:r>
            <a:endParaRPr lang="en-US" sz="1100" dirty="0" smtClean="0">
              <a:solidFill>
                <a:srgbClr val="008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Create the constant buffer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D3D11_BUFFER_DESC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6F008A"/>
                </a:solidFill>
                <a:latin typeface="Consolas"/>
              </a:rPr>
              <a:t>ZeroMemory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bd.Usage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D3D11_USAGE_DEFAULT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bd.ByteWidth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ViewProjData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bd.BindFlags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D3D11_BIND_CONSTANT_BUFFER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bd.CPUAccessFlags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md3dDevice-&gt;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CreateBuffer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mpcbViewProj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>
                <a:solidFill>
                  <a:srgbClr val="6F008A"/>
                </a:solidFill>
                <a:latin typeface="Consolas"/>
              </a:rPr>
              <a:t>assert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6F008A"/>
                </a:solidFill>
                <a:latin typeface="Consolas"/>
              </a:rPr>
              <a:t>SUCCEEDED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Create the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perFrameData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buffer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bd.Usage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D3D11_USAGE_DEFAULT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bd.ByteWidth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WorldData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bd.BindFlags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D3D11_BIND_CONSTANT_BUFFER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bd.CPUAccessFlags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md3dDevice-&gt;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CreateBuffer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mpcbWorld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>
                <a:solidFill>
                  <a:srgbClr val="6F008A"/>
                </a:solidFill>
                <a:latin typeface="Consolas"/>
              </a:rPr>
              <a:t>assert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6F008A"/>
                </a:solidFill>
                <a:latin typeface="Consolas"/>
              </a:rPr>
              <a:t>SUCCEEDED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VSSetConstantBuffers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1,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mpcbViewProj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VSSetConstantBuffers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(1, 1,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mpcbWorld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" y="1219200"/>
            <a:ext cx="3467100" cy="432426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DXApp.h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 smtClean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Old friends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ID3D11VertexShader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mpVertexShader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ID3D11PixelShader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 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mpPixelShader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ID3D11InputLayout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 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mpVertexLayout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New texture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shader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stuff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ID3D11ShaderResourceView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mpTextureRV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ID3D11SamplerState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mpSampler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ID3D11Buffer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mpcbViewProj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ViewProjData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mProjection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ID3D11Buffer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mpcbWorld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WorldData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World;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09800" y="3381330"/>
            <a:ext cx="914400" cy="715089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Pretty standard stuff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0" y="1355069"/>
            <a:ext cx="2133600" cy="23836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Also pretty standard stuff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371906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Setting-Up </a:t>
            </a:r>
            <a:r>
              <a:rPr lang="en-US" dirty="0" err="1"/>
              <a:t>Texture.hlsl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smtClean="0"/>
              <a:t>New Steps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We also need to connect the pixel </a:t>
            </a:r>
            <a:r>
              <a:rPr lang="en-US" sz="2000" dirty="0" err="1" smtClean="0"/>
              <a:t>shader</a:t>
            </a:r>
            <a:r>
              <a:rPr lang="en-US" sz="2000" dirty="0" smtClean="0"/>
              <a:t> with our chose texture and sampler: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 smtClean="0"/>
              <a:t>As with the constant buffers, we need to pay attention to the register numbers: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2514600" y="1600200"/>
            <a:ext cx="4114800" cy="195438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Texture2D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mainTexture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register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(t0);</a:t>
            </a: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 smtClean="0">
                <a:solidFill>
                  <a:srgbClr val="0000FF"/>
                </a:solidFill>
                <a:latin typeface="Consolas"/>
              </a:rPr>
              <a:t>SamplerState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aSampler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register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(s0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&lt;…&gt;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PS(VS_OUTPUT input) :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SV_Target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   return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mainTexture.Sample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aSampler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input.Tex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0" y="4191000"/>
            <a:ext cx="5029200" cy="76944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InitDemo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PSSetShaderResources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1,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mpTextureRV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PSSetSamplers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1,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mpSampler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68800" y="1622423"/>
            <a:ext cx="1492250" cy="3168654"/>
            <a:chOff x="4368800" y="1622423"/>
            <a:chExt cx="1492250" cy="3168654"/>
          </a:xfrm>
        </p:grpSpPr>
        <p:sp>
          <p:nvSpPr>
            <p:cNvPr id="8" name="Rounded Rectangle 7"/>
            <p:cNvSpPr/>
            <p:nvPr/>
          </p:nvSpPr>
          <p:spPr>
            <a:xfrm>
              <a:off x="4368800" y="1622423"/>
              <a:ext cx="1108075" cy="244477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  <a:effectLst>
              <a:glow rad="127000">
                <a:srgbClr val="FFFF00">
                  <a:alpha val="57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505450" y="4552950"/>
              <a:ext cx="355600" cy="238127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  <a:effectLst>
              <a:glow rad="127000">
                <a:srgbClr val="FFFF00">
                  <a:alpha val="57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Elbow Connector 9"/>
            <p:cNvCxnSpPr>
              <a:stCxn id="8" idx="3"/>
              <a:endCxn id="9" idx="0"/>
            </p:cNvCxnSpPr>
            <p:nvPr/>
          </p:nvCxnSpPr>
          <p:spPr>
            <a:xfrm>
              <a:off x="5476875" y="1744662"/>
              <a:ext cx="206375" cy="2808288"/>
            </a:xfrm>
            <a:prstGeom prst="bentConnector2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4283075" y="1955798"/>
            <a:ext cx="1108075" cy="2978154"/>
            <a:chOff x="4340225" y="1650998"/>
            <a:chExt cx="1108075" cy="2978154"/>
          </a:xfrm>
        </p:grpSpPr>
        <p:sp>
          <p:nvSpPr>
            <p:cNvPr id="16" name="Rounded Rectangle 15"/>
            <p:cNvSpPr/>
            <p:nvPr/>
          </p:nvSpPr>
          <p:spPr>
            <a:xfrm>
              <a:off x="4340225" y="1650998"/>
              <a:ext cx="1108075" cy="244477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  <a:effectLst>
              <a:glow rad="127000">
                <a:srgbClr val="FFFF00">
                  <a:alpha val="57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067300" y="4391025"/>
              <a:ext cx="355600" cy="238127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  <a:effectLst>
              <a:glow rad="127000">
                <a:srgbClr val="FFFF00">
                  <a:alpha val="57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Elbow Connector 17"/>
            <p:cNvCxnSpPr>
              <a:stCxn id="16" idx="2"/>
              <a:endCxn id="17" idx="0"/>
            </p:cNvCxnSpPr>
            <p:nvPr/>
          </p:nvCxnSpPr>
          <p:spPr>
            <a:xfrm rot="16200000" flipH="1">
              <a:off x="3821906" y="2967831"/>
              <a:ext cx="2495550" cy="350837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938352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Rendering with </a:t>
            </a:r>
            <a:r>
              <a:rPr lang="en-US" dirty="0" err="1" smtClean="0"/>
              <a:t>Texture.hlsl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The rendering code should not be too surprising either: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1676400"/>
            <a:ext cx="7543800" cy="364715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DrawScene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ClearRenderTargetView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mRenderTargetView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6F008A"/>
                </a:solidFill>
                <a:latin typeface="Consolas"/>
              </a:rPr>
              <a:t>VasA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BackgroundColor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ClearDepthStencilView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mpDepthStencilView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D3D11_CLEAR_DEPTH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1.0f, 0);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------- Camera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data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ViewProjData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vpdata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vpdata.mView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mCam.getViewMatrix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vpdata.mProjection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mCam.getProjMatrix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UpdateSubresource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mpcbViewProj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vpdata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0, 0);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--- Object #1's data needs to be sent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WorldData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wcdata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wcdata.World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UpdateSubresource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mpcbWorld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wcdata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0, 0);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--- Render Object #1;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pModel1-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&gt;Render(md3dImmediateContext);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mSwapChain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-&gt;Present(0, 0);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19550" y="4572000"/>
            <a:ext cx="4514850" cy="91940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the texture doesn’t need updating </a:t>
            </a:r>
          </a:p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(and it already has been set to context, just like the constant buffers)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62088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7:</a:t>
            </a:r>
          </a:p>
          <a:p>
            <a:r>
              <a:rPr lang="en-US" dirty="0" smtClean="0"/>
              <a:t>Code Clean 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51094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Texture Class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Creating the Texture class is straightforward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1600200"/>
            <a:ext cx="8686800" cy="195438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Texture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Texture(</a:t>
            </a:r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ID3D11Device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d3dDev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LPCWSTR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filepath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D3D11_FILTER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filter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D3D11_FILTER_MIN_MAG_MIP_LINEAR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void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SetToContext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ID3D11DeviceContext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devcon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texResSlot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sampSlot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private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ID3D11ShaderResourceView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mpTextureRV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ID3D11SamplerState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mpSampler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533400" y="2105025"/>
            <a:ext cx="14859000" cy="4361527"/>
            <a:chOff x="533400" y="2105025"/>
            <a:chExt cx="14859000" cy="4361527"/>
          </a:xfrm>
        </p:grpSpPr>
        <p:sp>
          <p:nvSpPr>
            <p:cNvPr id="6" name="TextBox 5"/>
            <p:cNvSpPr txBox="1"/>
            <p:nvPr/>
          </p:nvSpPr>
          <p:spPr>
            <a:xfrm>
              <a:off x="4191000" y="2819400"/>
              <a:ext cx="11201400" cy="36471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2B91AF"/>
                  </a:solidFill>
                  <a:latin typeface="Consolas"/>
                </a:rPr>
                <a:t>Texture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::Texture(</a:t>
              </a:r>
              <a:r>
                <a:rPr lang="en-US" sz="1100" dirty="0">
                  <a:solidFill>
                    <a:srgbClr val="2B91AF"/>
                  </a:solidFill>
                  <a:latin typeface="Consolas"/>
                </a:rPr>
                <a:t>ID3D11Device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* </a:t>
              </a:r>
              <a:r>
                <a:rPr lang="en-US" sz="1100" dirty="0">
                  <a:solidFill>
                    <a:srgbClr val="808080"/>
                  </a:solidFill>
                  <a:latin typeface="Consolas"/>
                </a:rPr>
                <a:t>d3dDev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100" dirty="0">
                  <a:solidFill>
                    <a:srgbClr val="2B91AF"/>
                  </a:solidFill>
                  <a:latin typeface="Consolas"/>
                </a:rPr>
                <a:t>LPCWSTR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808080"/>
                  </a:solidFill>
                  <a:latin typeface="Consolas"/>
                </a:rPr>
                <a:t>filepath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100" dirty="0">
                  <a:solidFill>
                    <a:srgbClr val="2B91AF"/>
                  </a:solidFill>
                  <a:latin typeface="Consolas"/>
                </a:rPr>
                <a:t>D3D11_FILTER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808080"/>
                  </a:solidFill>
                  <a:latin typeface="Consolas"/>
                </a:rPr>
                <a:t>filter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{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DirectX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::</a:t>
              </a:r>
              <a:r>
                <a:rPr lang="en-US" sz="1100" dirty="0" err="1">
                  <a:solidFill>
                    <a:srgbClr val="2B91AF"/>
                  </a:solidFill>
                  <a:latin typeface="Consolas"/>
                </a:rPr>
                <a:t>ScratchImage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testTexture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smtClean="0">
                  <a:solidFill>
                    <a:srgbClr val="2B91AF"/>
                  </a:solidFill>
                  <a:latin typeface="Consolas"/>
                </a:rPr>
                <a:t>   HRESULT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hr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=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LoadFromTGAFile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err="1">
                  <a:solidFill>
                    <a:srgbClr val="808080"/>
                  </a:solidFill>
                  <a:latin typeface="Consolas"/>
                </a:rPr>
                <a:t>filepath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100" dirty="0" err="1">
                  <a:solidFill>
                    <a:srgbClr val="0000FF"/>
                  </a:solidFill>
                  <a:latin typeface="Consolas"/>
                </a:rPr>
                <a:t>nullptr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testTexture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);</a:t>
              </a:r>
            </a:p>
            <a:p>
              <a:r>
                <a:rPr lang="en-US" sz="1100" dirty="0" smtClean="0">
                  <a:solidFill>
                    <a:srgbClr val="6F008A"/>
                  </a:solidFill>
                  <a:latin typeface="Consolas"/>
                </a:rPr>
                <a:t>   assert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smtClean="0">
                  <a:solidFill>
                    <a:srgbClr val="6F008A"/>
                  </a:solidFill>
                  <a:latin typeface="Consolas"/>
                </a:rPr>
                <a:t>SUCCEEDED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hr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));</a:t>
              </a:r>
            </a:p>
            <a:p>
              <a:endParaRPr lang="en-US" sz="11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CreateShaderResourceView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>
                  <a:solidFill>
                    <a:srgbClr val="808080"/>
                  </a:solidFill>
                  <a:latin typeface="Consolas"/>
                </a:rPr>
                <a:t>d3dDev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testTexture.GetImage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(0, 0, 0),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testTexture.GetImageCount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(),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testTexture.GetMetadata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(), &amp;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mpTextureRV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);</a:t>
              </a:r>
            </a:p>
            <a:p>
              <a:endParaRPr lang="en-US" sz="11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100" dirty="0" smtClean="0">
                  <a:solidFill>
                    <a:srgbClr val="008000"/>
                  </a:solidFill>
                  <a:latin typeface="Consolas"/>
                </a:rPr>
                <a:t>   // </a:t>
              </a:r>
              <a:r>
                <a:rPr lang="en-US" sz="1100" dirty="0">
                  <a:solidFill>
                    <a:srgbClr val="008000"/>
                  </a:solidFill>
                  <a:latin typeface="Consolas"/>
                </a:rPr>
                <a:t>Create the sample state</a:t>
              </a:r>
              <a:endParaRPr lang="en-US" sz="11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100" dirty="0" smtClean="0">
                  <a:solidFill>
                    <a:srgbClr val="2B91AF"/>
                  </a:solidFill>
                  <a:latin typeface="Consolas"/>
                </a:rPr>
                <a:t>   D3D11_SAMPLER_DESC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sampDesc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smtClean="0">
                  <a:solidFill>
                    <a:srgbClr val="6F008A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6F008A"/>
                  </a:solidFill>
                  <a:latin typeface="Consolas"/>
                </a:rPr>
                <a:t>ZeroMemory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(&amp;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sampDesc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100" dirty="0" err="1">
                  <a:solidFill>
                    <a:srgbClr val="0000FF"/>
                  </a:solidFill>
                  <a:latin typeface="Consolas"/>
                </a:rPr>
                <a:t>sizeof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sampDesc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));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sampDesc.Filter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= </a:t>
              </a:r>
              <a:r>
                <a:rPr lang="en-US" sz="1100" dirty="0">
                  <a:solidFill>
                    <a:srgbClr val="808080"/>
                  </a:solidFill>
                  <a:latin typeface="Consolas"/>
                </a:rPr>
                <a:t>filter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sampDesc.AddressU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= </a:t>
              </a:r>
              <a:r>
                <a:rPr lang="en-US" sz="1100" dirty="0">
                  <a:solidFill>
                    <a:srgbClr val="2F4F4F"/>
                  </a:solidFill>
                  <a:latin typeface="Consolas"/>
                </a:rPr>
                <a:t>D3D11_TEXTURE_ADDRESS_WRAP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sampDesc.AddressV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= </a:t>
              </a:r>
              <a:r>
                <a:rPr lang="en-US" sz="1100" dirty="0">
                  <a:solidFill>
                    <a:srgbClr val="2F4F4F"/>
                  </a:solidFill>
                  <a:latin typeface="Consolas"/>
                </a:rPr>
                <a:t>D3D11_TEXTURE_ADDRESS_WRAP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sampDesc.AddressW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= </a:t>
              </a:r>
              <a:r>
                <a:rPr lang="en-US" sz="1100" dirty="0">
                  <a:solidFill>
                    <a:srgbClr val="2F4F4F"/>
                  </a:solidFill>
                  <a:latin typeface="Consolas"/>
                </a:rPr>
                <a:t>D3D11_TEXTURE_ADDRESS_WRAP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sampDesc.ComparisonFunc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= </a:t>
              </a:r>
              <a:r>
                <a:rPr lang="en-US" sz="1100" dirty="0">
                  <a:solidFill>
                    <a:srgbClr val="2F4F4F"/>
                  </a:solidFill>
                  <a:latin typeface="Consolas"/>
                </a:rPr>
                <a:t>D3D11_COMPARISON_NEVER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sampDesc.MinLOD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= 0;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sampDesc.MaxLOD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= </a:t>
              </a:r>
              <a:r>
                <a:rPr lang="en-US" sz="1100" dirty="0">
                  <a:solidFill>
                    <a:srgbClr val="6F008A"/>
                  </a:solidFill>
                  <a:latin typeface="Consolas"/>
                </a:rPr>
                <a:t>D3D11_FLOAT32_MAX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hr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= </a:t>
              </a:r>
              <a:r>
                <a:rPr lang="en-US" sz="1100" dirty="0">
                  <a:solidFill>
                    <a:srgbClr val="808080"/>
                  </a:solidFill>
                  <a:latin typeface="Consolas"/>
                </a:rPr>
                <a:t>d3dDev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-&gt;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CreateSamplerState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(&amp;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sampDesc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&amp;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mpSampler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);</a:t>
              </a:r>
            </a:p>
            <a:p>
              <a:r>
                <a:rPr lang="en-US" sz="1100" dirty="0" smtClean="0">
                  <a:solidFill>
                    <a:srgbClr val="6F008A"/>
                  </a:solidFill>
                  <a:latin typeface="Consolas"/>
                </a:rPr>
                <a:t>   assert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smtClean="0">
                  <a:solidFill>
                    <a:srgbClr val="6F008A"/>
                  </a:solidFill>
                  <a:latin typeface="Consolas"/>
                </a:rPr>
                <a:t>SUCCEEDED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hr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));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}</a:t>
              </a:r>
              <a:endParaRPr lang="en-US" sz="1100" dirty="0">
                <a:solidFill>
                  <a:srgbClr val="000000"/>
                </a:solidFill>
                <a:latin typeface="Consolas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33400" y="2105025"/>
              <a:ext cx="8077200" cy="266700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  <a:effectLst>
              <a:glow rad="127000">
                <a:srgbClr val="FFFF00">
                  <a:alpha val="57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Elbow Connector 8"/>
            <p:cNvCxnSpPr/>
            <p:nvPr/>
          </p:nvCxnSpPr>
          <p:spPr>
            <a:xfrm>
              <a:off x="2307431" y="2369344"/>
              <a:ext cx="1969294" cy="592931"/>
            </a:xfrm>
            <a:prstGeom prst="straightConnector1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152400" y="4495800"/>
            <a:ext cx="3962400" cy="91940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Same code that was in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DXApp:InitDemo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we also include a parameter for the filter </a:t>
            </a:r>
          </a:p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(with a default value)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35926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Texture Class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Creating the Texture class is straightforward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1600200"/>
            <a:ext cx="8686800" cy="195438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Texture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Texture(</a:t>
            </a:r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ID3D11Device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d3dDev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LPCWSTR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filepath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D3D11_FILTER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filter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D3D11_FILTER_MIN_MAG_MIP_LINEAR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void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SetToContext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ID3D11DeviceContext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devcon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texResSlot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sampSlot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private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ID3D11ShaderResourceView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mpTextureRV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ID3D11SamplerState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mpSampler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33400" y="2447925"/>
            <a:ext cx="8305800" cy="2605594"/>
            <a:chOff x="533400" y="2447925"/>
            <a:chExt cx="8305800" cy="2605594"/>
          </a:xfrm>
        </p:grpSpPr>
        <p:sp>
          <p:nvSpPr>
            <p:cNvPr id="8" name="TextBox 7"/>
            <p:cNvSpPr txBox="1"/>
            <p:nvPr/>
          </p:nvSpPr>
          <p:spPr>
            <a:xfrm>
              <a:off x="1981200" y="4114800"/>
              <a:ext cx="6858000" cy="938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 smtClean="0">
                  <a:solidFill>
                    <a:srgbClr val="0000FF"/>
                  </a:solidFill>
                  <a:latin typeface="Consolas"/>
                </a:rPr>
                <a:t>void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2B91AF"/>
                  </a:solidFill>
                  <a:latin typeface="Consolas"/>
                </a:rPr>
                <a:t>Texture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::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SetToContext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>
                  <a:solidFill>
                    <a:srgbClr val="2B91AF"/>
                  </a:solidFill>
                  <a:latin typeface="Consolas"/>
                </a:rPr>
                <a:t>ID3D11DeviceContext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* </a:t>
              </a:r>
              <a:r>
                <a:rPr lang="en-US" sz="1100" dirty="0" err="1">
                  <a:solidFill>
                    <a:srgbClr val="808080"/>
                  </a:solidFill>
                  <a:latin typeface="Consolas"/>
                </a:rPr>
                <a:t>devcon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100" dirty="0" err="1">
                  <a:solidFill>
                    <a:srgbClr val="0000FF"/>
                  </a:solidFill>
                  <a:latin typeface="Consolas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808080"/>
                  </a:solidFill>
                  <a:latin typeface="Consolas"/>
                </a:rPr>
                <a:t>texResSlot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 </a:t>
              </a:r>
              <a:r>
                <a:rPr lang="en-US" sz="1100" dirty="0" err="1">
                  <a:solidFill>
                    <a:srgbClr val="0000FF"/>
                  </a:solidFill>
                  <a:latin typeface="Consolas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808080"/>
                  </a:solidFill>
                  <a:latin typeface="Consolas"/>
                </a:rPr>
                <a:t>sampSlot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{</a:t>
              </a:r>
            </a:p>
            <a:p>
              <a:r>
                <a:rPr lang="en-US" sz="1100" dirty="0" smtClean="0">
                  <a:solidFill>
                    <a:srgbClr val="80808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808080"/>
                  </a:solidFill>
                  <a:latin typeface="Consolas"/>
                </a:rPr>
                <a:t>devcon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-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&gt;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PSSetShaderResources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err="1">
                  <a:solidFill>
                    <a:srgbClr val="808080"/>
                  </a:solidFill>
                  <a:latin typeface="Consolas"/>
                </a:rPr>
                <a:t>texResSlot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1, &amp;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mpTextureRV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);</a:t>
              </a:r>
            </a:p>
            <a:p>
              <a:r>
                <a:rPr lang="en-US" sz="1100" dirty="0" smtClean="0">
                  <a:solidFill>
                    <a:srgbClr val="808080"/>
                  </a:solidFill>
                  <a:latin typeface="Consolas"/>
                </a:rPr>
                <a:t>   </a:t>
              </a:r>
              <a:r>
                <a:rPr lang="en-US" sz="1100" dirty="0" err="1" smtClean="0">
                  <a:solidFill>
                    <a:srgbClr val="808080"/>
                  </a:solidFill>
                  <a:latin typeface="Consolas"/>
                </a:rPr>
                <a:t>devcon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-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&gt;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PSSetSamplers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100" dirty="0" err="1">
                  <a:solidFill>
                    <a:srgbClr val="808080"/>
                  </a:solidFill>
                  <a:latin typeface="Consolas"/>
                </a:rPr>
                <a:t>sampSlot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, 1, &amp;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mpSampler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}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3400" y="2447925"/>
              <a:ext cx="6629400" cy="266700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  <a:effectLst>
              <a:glow rad="127000">
                <a:srgbClr val="FFFF00">
                  <a:alpha val="57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Elbow Connector 8"/>
            <p:cNvCxnSpPr>
              <a:stCxn id="9" idx="2"/>
              <a:endCxn id="8" idx="0"/>
            </p:cNvCxnSpPr>
            <p:nvPr/>
          </p:nvCxnSpPr>
          <p:spPr>
            <a:xfrm rot="16200000" flipH="1">
              <a:off x="3929063" y="2633662"/>
              <a:ext cx="1400175" cy="1562100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3048000" y="5219700"/>
            <a:ext cx="4724400" cy="91940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to be called by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their ‘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SetToContext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’. Only the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will know which slot to use for the resource view and sampler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65826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Texture Class in Action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1219200"/>
            <a:ext cx="3429000" cy="1277273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DXApp.h</a:t>
            </a:r>
            <a:endParaRPr lang="en-US" sz="1100" dirty="0" smtClean="0">
              <a:solidFill>
                <a:srgbClr val="008000"/>
              </a:solidFill>
              <a:latin typeface="Consolas"/>
            </a:endParaRPr>
          </a:p>
          <a:p>
            <a:endParaRPr lang="en-US" sz="1100" dirty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New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texture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shader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stuff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//ID3D11ShaderResourceView*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mpTextureRV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//ID3D11SamplerState*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mpSampler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Texture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mTex1;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81400" y="1219200"/>
            <a:ext cx="6324600" cy="432426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DXApp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::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InitDemo</a:t>
            </a:r>
            <a:endParaRPr lang="en-US" sz="1100" dirty="0" smtClean="0">
              <a:solidFill>
                <a:srgbClr val="008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Load texture and send to GPU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//DirectX::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ScratchImage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myTexture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LoadFromTGAFile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(L"../Assets/Textures/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CrateFace.tga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",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myTexture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//assert(SUCCEEDED(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));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CreateShaderResourceView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(md3dDevice,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myTexture.GetImage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(0, 0, 0),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myTexture.GetImageCount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(),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myTexture.GetMetadata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(), &amp;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mpTextureRV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//// Create the sample state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//D3D11_SAMPLER_DESC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sampDesc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ZeroMemory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sampDesc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sampDesc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));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sampDesc.Filter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= D3D11_FILTER_MIN_MAG_MIP_LINEAR;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sampDesc.AddressU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= D3D11_TEXTURE_ADDRESS_WRAP;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sampDesc.AddressV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= D3D11_TEXTURE_ADDRESS_WRAP;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sampDesc.AddressW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= D3D11_TEXTURE_ADDRESS_WRAP;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sampDesc.ComparisonFunc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= D3D11_COMPARISON_NEVER;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sampDesc.MinLOD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= 0;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sampDesc.MaxLOD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= D3D11_FLOAT32_MAX;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= md3dDevice-&gt;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CreateSamplerState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sampDesc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mpSampler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//assert(SUCCEEDED(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));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fr-FR" sz="1100" dirty="0">
                <a:solidFill>
                  <a:srgbClr val="000000"/>
                </a:solidFill>
                <a:latin typeface="Consolas"/>
              </a:rPr>
              <a:t>mTex1 = </a:t>
            </a:r>
            <a:r>
              <a:rPr lang="fr-FR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100" dirty="0">
                <a:solidFill>
                  <a:srgbClr val="2B91AF"/>
                </a:solidFill>
                <a:latin typeface="Consolas"/>
              </a:rPr>
              <a:t>Texture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(md3dDevice, </a:t>
            </a:r>
            <a:r>
              <a:rPr lang="fr-FR" sz="1100" dirty="0">
                <a:solidFill>
                  <a:srgbClr val="A31515"/>
                </a:solidFill>
                <a:latin typeface="Consolas"/>
              </a:rPr>
              <a:t>L"../</a:t>
            </a:r>
            <a:r>
              <a:rPr lang="fr-FR" sz="1100" dirty="0" err="1">
                <a:solidFill>
                  <a:srgbClr val="A31515"/>
                </a:solidFill>
                <a:latin typeface="Consolas"/>
              </a:rPr>
              <a:t>Assets</a:t>
            </a:r>
            <a:r>
              <a:rPr lang="fr-FR" sz="1100" dirty="0">
                <a:solidFill>
                  <a:srgbClr val="A31515"/>
                </a:solidFill>
                <a:latin typeface="Consolas"/>
              </a:rPr>
              <a:t>/Textures/</a:t>
            </a:r>
            <a:r>
              <a:rPr lang="fr-FR" sz="1100" dirty="0" err="1">
                <a:solidFill>
                  <a:srgbClr val="A31515"/>
                </a:solidFill>
                <a:latin typeface="Consolas"/>
              </a:rPr>
              <a:t>CrateFace.tga</a:t>
            </a:r>
            <a:r>
              <a:rPr lang="fr-FR" sz="1100" dirty="0" smtClean="0">
                <a:solidFill>
                  <a:srgbClr val="A31515"/>
                </a:solidFill>
                <a:latin typeface="Consolas"/>
              </a:rPr>
              <a:t>"</a:t>
            </a:r>
            <a:r>
              <a:rPr lang="fr-FR" sz="1100" dirty="0" smtClean="0">
                <a:solidFill>
                  <a:srgbClr val="000000"/>
                </a:solidFill>
                <a:latin typeface="Consolas"/>
              </a:rPr>
              <a:t>);00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81400" y="5553547"/>
            <a:ext cx="6324600" cy="93871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Setting to Context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//md3dImmediateContext-&gt;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PSSetShaderResources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(0, 1, &amp;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mpTextureRV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//md3dImmediateContext-&gt;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PSSetSamplers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(0, 1, &amp;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mpSampler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mTex1-&gt;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SetToContext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(md3dImmediateContext);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6745" y="2893306"/>
            <a:ext cx="2205109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DrawScene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does not change in this demo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641" y="3733800"/>
            <a:ext cx="2543318" cy="2388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278225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Texture Class and Samplers:</a:t>
            </a:r>
            <a:br>
              <a:rPr lang="en-US" dirty="0" smtClean="0"/>
            </a:br>
            <a:r>
              <a:rPr lang="en-US" dirty="0" smtClean="0"/>
              <a:t>Possible Improvements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The current design for the Texture class creates one sampler per texture. </a:t>
            </a:r>
          </a:p>
          <a:p>
            <a:pPr marL="0" indent="0">
              <a:buNone/>
            </a:pPr>
            <a:r>
              <a:rPr lang="en-US" sz="2000" dirty="0" smtClean="0"/>
              <a:t>While this is an easier design to present, it’s a bit wasteful.</a:t>
            </a:r>
          </a:p>
          <a:p>
            <a:pPr marL="461963" lvl="1" indent="-188913"/>
            <a:r>
              <a:rPr lang="en-US" sz="1800" dirty="0" smtClean="0"/>
              <a:t>Typically, the vast majority of texture in a scene use the same sampler settings</a:t>
            </a:r>
          </a:p>
          <a:p>
            <a:pPr marL="690563" lvl="2" indent="0">
              <a:buNone/>
            </a:pPr>
            <a:r>
              <a:rPr lang="en-US" sz="1600" i="1" dirty="0" smtClean="0"/>
              <a:t>The GPU will be filled with identically working samplers….</a:t>
            </a:r>
          </a:p>
          <a:p>
            <a:pPr marL="461963" lvl="1" indent="-188913"/>
            <a:r>
              <a:rPr lang="en-US" sz="1800" dirty="0" smtClean="0"/>
              <a:t>Only specific cases may require special sampler setting</a:t>
            </a:r>
          </a:p>
          <a:p>
            <a:pPr marL="690563" lvl="2" indent="0">
              <a:buNone/>
            </a:pPr>
            <a:r>
              <a:rPr lang="en-US" sz="1600" i="1" dirty="0" smtClean="0"/>
              <a:t>Ex: terrain textures. See also Anisotropic filtering next week…</a:t>
            </a:r>
            <a:endParaRPr lang="en-US" sz="1600" i="1" dirty="0"/>
          </a:p>
          <a:p>
            <a:pPr marL="273050" lvl="1" indent="0">
              <a:buNone/>
            </a:pPr>
            <a:endParaRPr lang="en-US" sz="1800" dirty="0" smtClean="0"/>
          </a:p>
          <a:p>
            <a:pPr marL="273050" lvl="1" indent="0">
              <a:buNone/>
            </a:pPr>
            <a:r>
              <a:rPr lang="en-US" sz="1800" dirty="0" smtClean="0"/>
              <a:t>Therefore, a better design might be to create a </a:t>
            </a:r>
            <a:r>
              <a:rPr lang="en-US" sz="1800" u="sng" dirty="0" smtClean="0"/>
              <a:t>Sampler Manager</a:t>
            </a:r>
            <a:r>
              <a:rPr lang="en-US" sz="1800" dirty="0" smtClean="0"/>
              <a:t>:</a:t>
            </a:r>
          </a:p>
          <a:p>
            <a:pPr marL="558800" lvl="1" indent="-285750"/>
            <a:r>
              <a:rPr lang="en-US" sz="1800" dirty="0" smtClean="0"/>
              <a:t>Holds unique instances of samplers needed for the scene </a:t>
            </a:r>
            <a:endParaRPr lang="en-US" sz="1800" dirty="0"/>
          </a:p>
          <a:p>
            <a:pPr marL="558800" lvl="1" indent="-285750"/>
            <a:r>
              <a:rPr lang="en-US" sz="1800" dirty="0" smtClean="0"/>
              <a:t>Provides access services to those samplers</a:t>
            </a:r>
          </a:p>
          <a:p>
            <a:pPr marL="558800" lvl="1" indent="-285750"/>
            <a:r>
              <a:rPr lang="en-US" sz="1800" dirty="0" smtClean="0"/>
              <a:t>Textures would refer to the Sampler Manager to get the needed sampler</a:t>
            </a:r>
          </a:p>
          <a:p>
            <a:pPr marL="273050" lvl="1" indent="0">
              <a:buNone/>
            </a:pPr>
            <a:endParaRPr lang="en-US" sz="1800" dirty="0"/>
          </a:p>
          <a:p>
            <a:pPr marL="273050" lvl="1" indent="0">
              <a:buNone/>
            </a:pPr>
            <a:r>
              <a:rPr lang="en-US" sz="1800" dirty="0" smtClean="0"/>
              <a:t>I leave it up to you to explore how to set up this option.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6153101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Clean Up:</a:t>
            </a:r>
            <a:br>
              <a:rPr lang="en-US" dirty="0" smtClean="0"/>
            </a:br>
            <a:r>
              <a:rPr lang="en-US" dirty="0" smtClean="0"/>
              <a:t>Creating </a:t>
            </a:r>
            <a:r>
              <a:rPr lang="en-US" dirty="0" err="1" smtClean="0"/>
              <a:t>ShaderTexture</a:t>
            </a:r>
            <a:r>
              <a:rPr lang="en-US" dirty="0" smtClean="0"/>
              <a:t> Class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581400" y="1471255"/>
            <a:ext cx="1828800" cy="715089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That’s your homework!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88051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28075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Custom 1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0070C0"/>
      </a:hlink>
      <a:folHlink>
        <a:srgbClr val="638BAD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36290</TotalTime>
  <Words>5516</Words>
  <Application>Microsoft Office PowerPoint</Application>
  <PresentationFormat>On-screen Show (4:3)</PresentationFormat>
  <Paragraphs>1257</Paragraphs>
  <Slides>51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Origin</vt:lpstr>
      <vt:lpstr>GAM 370/470: Rendering and Graphics Programming</vt:lpstr>
      <vt:lpstr>PowerPoint Presentation</vt:lpstr>
      <vt:lpstr>Upgrading Model Class</vt:lpstr>
      <vt:lpstr>PowerPoint Presentation</vt:lpstr>
      <vt:lpstr>More Clean-up of DXApp: Shader Class</vt:lpstr>
      <vt:lpstr>ShaderBase</vt:lpstr>
      <vt:lpstr>Shader Derived Class: ShaderColor</vt:lpstr>
      <vt:lpstr>Shader Class Demo</vt:lpstr>
      <vt:lpstr>Unpacking the Sequence: Constructor</vt:lpstr>
      <vt:lpstr>Unpacking the Sequence: SetToContext</vt:lpstr>
      <vt:lpstr>Unpacking the Sequence: DrawScene</vt:lpstr>
      <vt:lpstr>What Next ? More API work …</vt:lpstr>
      <vt:lpstr>PowerPoint Presentation</vt:lpstr>
      <vt:lpstr>Performance</vt:lpstr>
      <vt:lpstr>Simple (Simplistic?)  Stress Test</vt:lpstr>
      <vt:lpstr>Case 1: ShaderColor, Silly User</vt:lpstr>
      <vt:lpstr>Case 2: ShaderColor, Normal User</vt:lpstr>
      <vt:lpstr>Case 3: ShaderColorOpt V1</vt:lpstr>
      <vt:lpstr>Case 4: ShaderColorOpt V2</vt:lpstr>
      <vt:lpstr>Case 5: ShaderColorOpt, Unrealistic</vt:lpstr>
      <vt:lpstr>Performance: Conclusion </vt:lpstr>
      <vt:lpstr>PowerPoint Presentation</vt:lpstr>
      <vt:lpstr>Texture Mapping</vt:lpstr>
      <vt:lpstr>Texture Mapping</vt:lpstr>
      <vt:lpstr>Augmenting our Standard Vertices</vt:lpstr>
      <vt:lpstr>First Step:  A Simpler Textured Cube</vt:lpstr>
      <vt:lpstr>New PreMadeModel:  UnitBoxRepeatedTexture</vt:lpstr>
      <vt:lpstr>PowerPoint Presentation</vt:lpstr>
      <vt:lpstr>Texture Loading</vt:lpstr>
      <vt:lpstr>Texture: Com Objects (The “Handles”)</vt:lpstr>
      <vt:lpstr>Texture: Com Objects (“handles”)</vt:lpstr>
      <vt:lpstr>Texture Sampling: Filter Modes</vt:lpstr>
      <vt:lpstr> Magnification: Point vs Linear</vt:lpstr>
      <vt:lpstr>Minification: Point vs Linear</vt:lpstr>
      <vt:lpstr>Minification: Point vs Linear</vt:lpstr>
      <vt:lpstr>Which Filter to Chose?</vt:lpstr>
      <vt:lpstr>Texture Address Modes (aka ‘Repeats’)</vt:lpstr>
      <vt:lpstr>Filter &amp; Address Mode Interplay</vt:lpstr>
      <vt:lpstr>PowerPoint Presentation</vt:lpstr>
      <vt:lpstr>HLSL Texture Shader</vt:lpstr>
      <vt:lpstr>Setting-Up Texture.hlsl: Standard Steps</vt:lpstr>
      <vt:lpstr>Setting-Up Texture.hlsl: Standard Steps</vt:lpstr>
      <vt:lpstr>Setting-Up Texture.hlsl: New Steps</vt:lpstr>
      <vt:lpstr>Rendering with Texture.hlsl</vt:lpstr>
      <vt:lpstr>PowerPoint Presentation</vt:lpstr>
      <vt:lpstr>Texture Class</vt:lpstr>
      <vt:lpstr>Texture Class</vt:lpstr>
      <vt:lpstr>Texture Class in Action</vt:lpstr>
      <vt:lpstr>Texture Class and Samplers: Possible Improvements</vt:lpstr>
      <vt:lpstr>More Clean Up: Creating ShaderTexture Class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</dc:creator>
  <cp:lastModifiedBy>andre</cp:lastModifiedBy>
  <cp:revision>1273</cp:revision>
  <dcterms:created xsi:type="dcterms:W3CDTF">2013-03-17T23:02:21Z</dcterms:created>
  <dcterms:modified xsi:type="dcterms:W3CDTF">2018-01-24T15:58:09Z</dcterms:modified>
</cp:coreProperties>
</file>